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f548904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f548904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f548904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f548904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f5489048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0f5489048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f548904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0f548904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f548904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f548904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f5489048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f5489048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f5489048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f548904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f5489048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f5489048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f5489048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f5489048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f5489048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f5489048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f5489048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f5489048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f5489048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f5489048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f5489048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f5489048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f5489048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f5489048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f5489048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f5489048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f5489048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f5489048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5489048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5489048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5489048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5489048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f5489048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0f5489048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f5489048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f5489048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f5489048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f5489048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f5489048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f5489048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f5489048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0f5489048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0f5489048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0f5489048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f5489048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f5489048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0f5489048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0f5489048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f5489048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f5489048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0f5489048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0f5489048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f5489048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0f5489048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f54890489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f54890489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0f54890489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0f54890489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f5489048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0f5489048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tatic.googleusercontent.com/media/research.google.com/en//archive/gfs-sosp2003.pdf" TargetMode="External"/><Relationship Id="rId4" Type="http://schemas.openxmlformats.org/officeDocument/2006/relationships/hyperlink" Target="https://static.googleusercontent.com/media/research.google.com/en//archive/mapreduce-osdi04.pdf" TargetMode="External"/><Relationship Id="rId5" Type="http://schemas.openxmlformats.org/officeDocument/2006/relationships/hyperlink" Target="https://static.googleusercontent.com/media/research.google.com/en//archive/bigtable-osdi06.pdf" TargetMode="External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i.stanford.edu/~olston/publications/sigmod08.pdf" TargetMode="External"/><Relationship Id="rId4" Type="http://schemas.openxmlformats.org/officeDocument/2006/relationships/hyperlink" Target="https://www.vldb.org/pvldb/vol2/vldb09-938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eeexplore.ieee.org/document/5767933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77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实用数据库开发 (6)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HDFS列存储的设计与优化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67525"/>
            <a:ext cx="8520600" cy="12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中国人民大学信息学院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教师：卞昊穹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助教：王浩哲，耿东杨，尹佳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2024-10-29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Hadoop Distributed File System (HDFS)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是Apache Hadoop项目中的分布式文件系统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150" y="2639649"/>
            <a:ext cx="2685650" cy="126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HDFS架构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488" y="1017725"/>
            <a:ext cx="552902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Hadoop</a:t>
            </a:r>
            <a:r>
              <a:rPr lang="en-GB"/>
              <a:t>生态系统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375" y="1057475"/>
            <a:ext cx="689524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Hadoop的</a:t>
            </a:r>
            <a:r>
              <a:rPr lang="en-GB"/>
              <a:t>前身 - Google的大数据三驾马车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SOSP’03, </a:t>
            </a:r>
            <a:r>
              <a:rPr lang="en-GB"/>
              <a:t>Google File System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https://static.googleusercontent.com/media/research.google.com/en//archive/gfs-sosp2003.pdf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OSDI’04, MapReduce: Simplified Data Processing on Large Clusters (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https://static.googleusercontent.com/media/research.google.com/en//archive/mapreduce-osdi04.pdf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OSDI’06, Bigtable: A Distributed Storage System for Structured Data (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https://static.googleusercontent.com/media/research.google.com/en//archive/bigtable-osdi06.pdf</a:t>
            </a:r>
            <a:r>
              <a:rPr lang="en-GB"/>
              <a:t>)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5925" y="2985925"/>
            <a:ext cx="1101875" cy="7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MapReduce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13" y="1017725"/>
            <a:ext cx="8321174" cy="38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Hadoop的前身 - Apache Lucene和Nutch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Doug Cutting 2001年开源了自己的搜索引擎项目Lucene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Doug Cutting和Mike Cafarella在Lucene中开发了搜索引擎内核Nutch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Nutch中对GFS和MapReduce进行了开源实现，并于2006年形成了新的开源项目Hadoop，后成为Apache顶级开源项目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Hadoop得到了Yahoo!的支持并流行开来，在2010年前后成为“大数据”的代名词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Bigtable的开源实现HBase也基于Hadoop进行实现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1175" y="174626"/>
            <a:ext cx="1237650" cy="1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SQL-on-Hadoop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MapReduce计算模型虽然极大简化了分布式数据处理程序的开发，但依然需要一定的开发能力，且代码往往难以复用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SIGMOD’08, Pig Latin: A Not-So-Foreign Language for Data Processing, Yahoo!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http://i.stanford.edu/~olston/publications/sigmod08.pdf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ICDE’09, Hive - A Warehousing Solution Over a Map-Reduce Framework, Facebook (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https://www.vldb.org/pvldb/vol2/vldb09-938.pdf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Pig和Hive稍后都成为Apache顶级项目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但Hive提供更纯正的SQL支持，很快占据主导地位，成为SQL-on-Hadoop的第一代事实标准</a:t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214800" y="4507525"/>
            <a:ext cx="86175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</a:rPr>
              <a:t>A study of SQL-on-Hadoop systems (http://iir.ruc.edu.cn/~chenj/assets/publication/paper/A%20Study%20of%20SQL-on-Hadoop%20Systems.pdf)</a:t>
            </a:r>
            <a:endParaRPr b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</a:t>
            </a:r>
            <a:r>
              <a:rPr lang="en-GB"/>
              <a:t>列存格式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第一代</a:t>
            </a:r>
            <a:r>
              <a:rPr lang="en-GB"/>
              <a:t>SQL-on-Hadoop</a:t>
            </a:r>
            <a:r>
              <a:rPr lang="en-GB"/>
              <a:t>系统将数据以文件存储在HDFS中，将SQL生成MapReduce的Java代码、编译后提交到Hadoop中执行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早期HDFS上的文件以简单的Text或者Binary行存格式存储，执行OLAP查询效率很低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ICDE’11, RCFile: A Fast and Space-efficient Data Placement Structure in MapReduce-based Warehouse Systems, Facebook/OSU/ICT-CAS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https://ieeexplore.ieee.org/document/5767933</a:t>
            </a:r>
            <a:r>
              <a:rPr lang="en-GB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RCFile后来成为Hive中的原生文件格式，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ORC与Parquet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RCFile的优化版ORC成为Apache顶级开源项目，在Facebook取代RCFile，后来得到Hortonworks支持，成为其Hadoop发行版的原生存储格式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Twitter则参考了RCFile和Google Dremel的设计，开发了Parquet文件格式，后来得到Cloudera的支持，成为其Hadoop发行版的原生存储格式并成为Apache顶级开源项目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之后的大数据系统，大多同时支持ORC和Parquet</a:t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1475550" y="4587025"/>
            <a:ext cx="61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Pixels的File Tail定义和Encoding实现参考了ORC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CarbonData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华为借鉴RCFile、ORC、Parquet的设计，结合自身业务需求，于2013年</a:t>
            </a:r>
            <a:r>
              <a:rPr lang="en-GB"/>
              <a:t>开始</a:t>
            </a:r>
            <a:r>
              <a:rPr lang="en-GB"/>
              <a:t>开发CarbonData文件格式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CarbonData增加了聚促索引(clustered index)、全局字典等特性，支持row group内column chunk分别排序，于2017年称为中国企业贡献的首个Apache顶级项目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HDFS存储和优化技术研究综述 (https://www.jos.org.cn/html/2020/1/5872.htm)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HDFS上设计列存储，要注意哪些优化点？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PAX </a:t>
            </a:r>
            <a:r>
              <a:rPr lang="en-GB"/>
              <a:t>or DSM？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PAX：先按行划分，再按列划分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DSM：直接按列划分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HDFS：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文件按照大数据块（默认64/128/256MB）分割，分布存储到集群的Datanodes中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每个数据块保证在Datanode上存储为一个本地文件+校验信息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访问文件时，先从namenode获取各个数据块所在的datanodes，再请求datanode读取数据块中的数据，可以在block中随机读取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225" y="60800"/>
            <a:ext cx="4308774" cy="297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1475550" y="4587025"/>
            <a:ext cx="61929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PAX和DSM分别如何实现？有何优劣？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PAX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RCFile、ORC、Parquet、CarbonData、Pixels等均</a:t>
            </a:r>
            <a:r>
              <a:rPr lang="en-GB"/>
              <a:t>采用PAX存储模型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先讲数据划分成row group，每个row group的大小和一个HDFS数据块的大小相当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常见的配置：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每个文件1个数据块，每个数据块1个或多个row group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HDFS的client在写入文件时可以自己设置数据块大小，覆盖默认配置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DSM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将</a:t>
            </a:r>
            <a:r>
              <a:rPr lang="en-GB"/>
              <a:t>不同的列存储到不同的文件中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VLDB’11, Column-Oriented Storage Techniques for MapReduce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HDFS不允许用户控制文件中数据块的存储位置，因此不同列上属于同一行的数据很可能在不同的节点上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DSM可以提高读取某个列时的I/O连续性，但使得查询的执行非常复杂，产生了额外的跨节点join的开销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VLDB’13, Understanding insights into the basic structure and essential issues of table placement methods in clusters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835500" y="4499575"/>
            <a:ext cx="7473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当row group足够大时(e.g., 256MB)，PAX全面优于DSM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HDFS中的PAX存储模型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876" y="1160125"/>
            <a:ext cx="5670250" cy="37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例外：宽表数据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实际的数据分析场景中，几百上千列宽表很常见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当一个row group中存储了上千个column chunk时，每个column chunk就很小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这导致I/O粒度变小，I/O pattern更接近random I/O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解决办法：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增大row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重新回到DSM?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Grouping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将</a:t>
            </a:r>
            <a:r>
              <a:rPr lang="en-GB"/>
              <a:t>经常被一起访问的列作为一个column group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一个column group中的数据按行连续存储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这是一种行存和列存的混合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但是Column Grouping不灵活，当查询只读取一个column group中的部分column时，会有额外的I/O开销</a:t>
            </a:r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835500" y="4499575"/>
            <a:ext cx="7473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如何优化？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Disk Seek是</a:t>
            </a:r>
            <a:r>
              <a:rPr lang="en-GB"/>
              <a:t>主要的问题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给定row group中的一个column order，一个查询任务(q1) 使用seek-and-read方式读取需要的column chunk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Row group存储在HDFS数据块中，HDFS数据块存储在datanode的磁盘中</a:t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599" y="2571750"/>
            <a:ext cx="5955926" cy="2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一个真实的例子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Parquet</a:t>
            </a:r>
            <a:r>
              <a:rPr lang="en-GB"/>
              <a:t>格式的文件，400GB，1187列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查询读取其中8个列，占0.3%的数据量(1.2GB)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HDFS的顺序读取带宽是100MB/s</a:t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374" y="3563622"/>
            <a:ext cx="2373016" cy="907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2"/>
          <p:cNvSpPr/>
          <p:nvPr/>
        </p:nvSpPr>
        <p:spPr>
          <a:xfrm>
            <a:off x="1178048" y="3391670"/>
            <a:ext cx="3039300" cy="1177200"/>
          </a:xfrm>
          <a:prstGeom prst="roundRect">
            <a:avLst>
              <a:gd fmla="val 16667" name="adj"/>
            </a:avLst>
          </a:prstGeom>
          <a:noFill/>
          <a:ln cap="flat" cmpd="sng" w="635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4710104" y="3457930"/>
            <a:ext cx="201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907 s</a:t>
            </a:r>
            <a:endParaRPr b="1" i="0" sz="4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2"/>
          <p:cNvSpPr/>
          <p:nvPr/>
        </p:nvSpPr>
        <p:spPr>
          <a:xfrm>
            <a:off x="4538856" y="2894990"/>
            <a:ext cx="21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A9988"/>
                </a:solidFill>
              </a:rPr>
              <a:t>实际读取时间</a:t>
            </a:r>
            <a:endParaRPr b="0" i="0" sz="1800" u="none" cap="none" strike="noStrike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2"/>
          <p:cNvSpPr/>
          <p:nvPr/>
        </p:nvSpPr>
        <p:spPr>
          <a:xfrm>
            <a:off x="1393876" y="2843899"/>
            <a:ext cx="20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1800"/>
              <a:buFont typeface="Arial"/>
              <a:buNone/>
            </a:pPr>
            <a:r>
              <a:rPr lang="en-GB" sz="1800">
                <a:solidFill>
                  <a:srgbClr val="1A9988"/>
                </a:solidFill>
              </a:rPr>
              <a:t>理论读取时间</a:t>
            </a:r>
            <a:endParaRPr b="0" i="0" sz="1800" u="none" cap="none" strike="noStrike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真实负载上的实验</a:t>
            </a:r>
            <a:endParaRPr/>
          </a:p>
        </p:txBody>
      </p:sp>
      <p:pic>
        <p:nvPicPr>
          <p:cNvPr descr="f1-eps-converted-to.jpg" id="190" name="Google Shape;1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31" y="1321921"/>
            <a:ext cx="4303576" cy="302084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3"/>
          <p:cNvSpPr txBox="1"/>
          <p:nvPr/>
        </p:nvSpPr>
        <p:spPr>
          <a:xfrm>
            <a:off x="5618387" y="1555070"/>
            <a:ext cx="2252400" cy="25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Arial"/>
              <a:buNone/>
            </a:pPr>
            <a:r>
              <a:rPr lang="en-GB" sz="2000">
                <a:solidFill>
                  <a:srgbClr val="292929"/>
                </a:solidFill>
              </a:rPr>
              <a:t>通过将查询要读取的列连续存放，查询时间降低了</a:t>
            </a:r>
            <a:r>
              <a:rPr b="0" i="0" lang="en-GB" sz="20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Arial"/>
              <a:buNone/>
            </a:pPr>
            <a:r>
              <a:rPr b="1" lang="en-GB" sz="2000">
                <a:solidFill>
                  <a:srgbClr val="292929"/>
                </a:solidFill>
              </a:rPr>
              <a:t>但人工调整column order在实际应用中不现实</a:t>
            </a:r>
            <a:endParaRPr b="1" i="0" sz="20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其实不一定连续存放column chunk才有效果</a:t>
            </a:r>
            <a:endParaRPr/>
          </a:p>
        </p:txBody>
      </p:sp>
      <p:sp>
        <p:nvSpPr>
          <p:cNvPr id="197" name="Google Shape;197;p34"/>
          <p:cNvSpPr txBox="1"/>
          <p:nvPr/>
        </p:nvSpPr>
        <p:spPr>
          <a:xfrm>
            <a:off x="3988475" y="1280100"/>
            <a:ext cx="46986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Very short seek (say 2 -4 cylinders): </a:t>
            </a:r>
            <a:r>
              <a:rPr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cost=rotation+settle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Short seek (say 4 - 200 cylinders):</a:t>
            </a:r>
            <a:endParaRPr b="1"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cost=rotation+settle+a*(#cylinders)^0.5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Long seek (say more than 200 cylinders):</a:t>
            </a:r>
            <a:endParaRPr b="1"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cost=rotation+settle+b*(#cylinders).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850" y="1281937"/>
            <a:ext cx="3137600" cy="207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555700" y="3725825"/>
            <a:ext cx="32502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ato"/>
                <a:ea typeface="Lato"/>
                <a:cs typeface="Lato"/>
                <a:sym typeface="Lato"/>
              </a:rPr>
              <a:t>Capacity of a Cylinder: ~1MB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磁盘seek cost于seek distance的关系</a:t>
            </a:r>
            <a:endParaRPr/>
          </a:p>
        </p:txBody>
      </p:sp>
      <p:pic>
        <p:nvPicPr>
          <p:cNvPr descr="seek-cost-function.jpg" id="205" name="Google Shape;2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912" y="1882624"/>
            <a:ext cx="6106495" cy="288531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/>
        </p:nvSpPr>
        <p:spPr>
          <a:xfrm>
            <a:off x="902700" y="1112825"/>
            <a:ext cx="73386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Arial"/>
              <a:buNone/>
            </a:pPr>
            <a:r>
              <a:rPr lang="en-GB" sz="2000">
                <a:solidFill>
                  <a:srgbClr val="292929"/>
                </a:solidFill>
              </a:rPr>
              <a:t>总体上，</a:t>
            </a:r>
            <a:r>
              <a:rPr b="0" i="0" lang="en-GB" sz="20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Seek cost</a:t>
            </a:r>
            <a:r>
              <a:rPr lang="en-GB" sz="2000">
                <a:solidFill>
                  <a:srgbClr val="292929"/>
                </a:solidFill>
              </a:rPr>
              <a:t>随</a:t>
            </a:r>
            <a:r>
              <a:rPr b="0" i="0" lang="en-GB" sz="20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seek distance in bytes</a:t>
            </a:r>
            <a:r>
              <a:rPr lang="en-GB" sz="2000">
                <a:solidFill>
                  <a:srgbClr val="292929"/>
                </a:solidFill>
              </a:rPr>
              <a:t>单调递增</a:t>
            </a:r>
            <a:endParaRPr b="0" i="0" sz="2000" u="none" cap="none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Ordering Problem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908" y="1388225"/>
            <a:ext cx="6830845" cy="335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ordering</a:t>
            </a:r>
            <a:r>
              <a:rPr lang="en-GB"/>
              <a:t>复杂度很高</a:t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微软Bing的搜索日志分析业务中的一个表：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1187列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每个月4000+查询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每天5TB新增数据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ordering</a:t>
            </a:r>
            <a:r>
              <a:rPr lang="en-GB"/>
              <a:t>算法</a:t>
            </a:r>
            <a:endParaRPr/>
          </a:p>
        </p:txBody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对于类似的NP Hard问题，常用meta-heuristic算法（如遗传算法GA、模拟退火算法SA）来解决</a:t>
            </a:r>
            <a:endParaRPr/>
          </a:p>
        </p:txBody>
      </p:sp>
      <p:pic>
        <p:nvPicPr>
          <p:cNvPr descr="ga-vs-sa.jpg" id="225" name="Google Shape;2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861" y="2031206"/>
            <a:ext cx="4476809" cy="265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真实负载实验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AutoPart-C：</a:t>
            </a:r>
            <a:r>
              <a:rPr lang="en-GB"/>
              <a:t>基于AutoPart和HillClimb的贪心算法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SCOA：基于模拟退火的算法</a:t>
            </a:r>
            <a:endParaRPr/>
          </a:p>
        </p:txBody>
      </p:sp>
      <p:pic>
        <p:nvPicPr>
          <p:cNvPr descr="singlehdfs-eps-converted-to.jpg" id="232" name="Google Shape;2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337" y="2013925"/>
            <a:ext cx="6749977" cy="2899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 txBox="1"/>
          <p:nvPr/>
        </p:nvSpPr>
        <p:spPr>
          <a:xfrm>
            <a:off x="7233300" y="3680750"/>
            <a:ext cx="15990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查询性能平均提高1倍左右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但column ordering</a:t>
            </a:r>
            <a:r>
              <a:rPr lang="en-GB"/>
              <a:t>仍然是权宜之计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本质问题：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Data ingestion过程要求row group不能太大、少数读取很多列的查询也要求row group不能太大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大多数读取少数列的查询希望row group更大、以提供I/O连续性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Compaction</a:t>
            </a:r>
            <a:endParaRPr/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一个数据块中存储多个row group，不同row group的column chunk可连续存储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让row group</a:t>
            </a:r>
            <a:r>
              <a:rPr lang="en-GB"/>
              <a:t>成为一个逻辑上的存储单元，不在是限制I/O连续性的物理边界</a:t>
            </a:r>
            <a:endParaRPr/>
          </a:p>
        </p:txBody>
      </p:sp>
      <p:pic>
        <p:nvPicPr>
          <p:cNvPr id="246" name="Google Shape;2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12" y="2062200"/>
            <a:ext cx="8706774" cy="2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Compaction</a:t>
            </a:r>
            <a:endParaRPr/>
          </a:p>
        </p:txBody>
      </p:sp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查询可以根据需要，动态选择在每个查询任务中读取n个row group (1个split)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在column ordering的基础上，将查询性能再平均提高4倍左右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49" y="1683200"/>
            <a:ext cx="7343399" cy="24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 Chunk Caching</a:t>
            </a:r>
            <a:endParaRPr/>
          </a:p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HDFS中的</a:t>
            </a:r>
            <a:r>
              <a:rPr lang="en-GB"/>
              <a:t>缓存以数据块为粒度进行缓存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Linux中的Page Cache中采用LRU等eager caching policy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Alluxio等分布式缓存系统以文件为粒度进行缓存</a:t>
            </a:r>
            <a:endParaRPr/>
          </a:p>
        </p:txBody>
      </p:sp>
      <p:sp>
        <p:nvSpPr>
          <p:cNvPr id="260" name="Google Shape;260;p43"/>
          <p:cNvSpPr txBox="1"/>
          <p:nvPr/>
        </p:nvSpPr>
        <p:spPr>
          <a:xfrm>
            <a:off x="1372200" y="4332625"/>
            <a:ext cx="63996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缓存空间浪费、命中率低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相关论文</a:t>
            </a:r>
            <a:endParaRPr/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SIGMOD’17, </a:t>
            </a:r>
            <a:r>
              <a:rPr lang="en-GB"/>
              <a:t>Wide Table Layout Optimization by Column Ordering and Duplication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ICDE’18, Rainbow: Adaptive Layout Optimization for Wide Tables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EDBT’22, Columnar Storage Optimization and Caching for Data Lakes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卞昊穹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信息楼125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bianhq@ruc.edu.cn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