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13fbf912d8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13fbf912d8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13fbf912d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13fbf912d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13fbf912d8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13fbf912d8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13fbf912d8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13fbf912d8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13fbf912d8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13fbf912d8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13fbf912d8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13fbf912d8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13fbf912d8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13fbf912d8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13fbf912d8_1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13fbf912d8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13fbf912d8_1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13fbf912d8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13fbf912d8_1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13fbf912d8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13fbf912d8_1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13fbf912d8_1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13fbf912d8_1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13fbf912d8_1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13fbf912d8_1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13fbf912d8_1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13fbf912d8_1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13fbf912d8_1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13fbf912d8_1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13fbf912d8_1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13fbf912d8_1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13fbf912d8_1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13fbf912d8_1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13fbf912d8_1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13fbf912d8_1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13fbf912d8_1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13fbf912d8_1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13fbf912d8_1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13fbf912d8_1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13fbf912d8_1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13fbf912d8_1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13fbf912d8_1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1777fa761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1777fa76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github.com/pixelsdb/pixels-rover" TargetMode="External"/><Relationship Id="rId4" Type="http://schemas.openxmlformats.org/officeDocument/2006/relationships/hyperlink" Target="https://www.bilibili.com/video/BV1awDQYcEsN/?vd_source=da6f80d8fe2bab1291999a9535251c78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11708" y="13541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200">
                <a:solidFill>
                  <a:srgbClr val="000000"/>
                </a:solidFill>
              </a:rPr>
              <a:t>实用数据库开发 (</a:t>
            </a:r>
            <a:r>
              <a:rPr lang="en-GB" sz="5200"/>
              <a:t>8</a:t>
            </a:r>
            <a:r>
              <a:rPr lang="en-GB" sz="5200">
                <a:solidFill>
                  <a:srgbClr val="000000"/>
                </a:solidFill>
              </a:rPr>
              <a:t>)</a:t>
            </a:r>
            <a:endParaRPr sz="52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200"/>
              <a:t>数据湖仓的数据写入</a:t>
            </a:r>
            <a:endParaRPr sz="5200">
              <a:solidFill>
                <a:srgbClr val="000000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11700" y="3443725"/>
            <a:ext cx="8520600" cy="13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595959"/>
                </a:solidFill>
              </a:rPr>
              <a:t>中国人民大学信息学院</a:t>
            </a:r>
            <a:endParaRPr sz="2800">
              <a:solidFill>
                <a:srgbClr val="59595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595959"/>
                </a:solidFill>
              </a:rPr>
              <a:t>教师：卞昊穹</a:t>
            </a:r>
            <a:endParaRPr sz="2800">
              <a:solidFill>
                <a:srgbClr val="59595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595959"/>
                </a:solidFill>
              </a:rPr>
              <a:t>助教：王浩哲，耿东杨，尹佳</a:t>
            </a:r>
            <a:endParaRPr sz="2800">
              <a:solidFill>
                <a:srgbClr val="59595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595959"/>
                </a:solidFill>
              </a:rPr>
              <a:t>2024-11-12</a:t>
            </a:r>
            <a:endParaRPr sz="2800">
              <a:solidFill>
                <a:srgbClr val="595959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4314" y="202475"/>
            <a:ext cx="1155376" cy="1155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95500"/>
            <a:ext cx="8839200" cy="4167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数据湖仓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2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专门用于执行数据分析任务的数据库系统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数据仓库Data Warehouse：发展较早（但晚于OLTP数据库），在2000s出现了TeraData、Redshift、GreenPlum等知名数据仓库。国内则在2010s出现了一些国产数据仓库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数据湖Data Lake：随着Hadoop生态系统形成，强调“来者不拒，无限容量”，允许各种数据先入湖后处理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数据湖和数据仓库正在逐渐融合。数据湖仓(Data Lakehouse)成为一种新概念</a:t>
            </a:r>
            <a:endParaRPr/>
          </a:p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5"/>
          <p:cNvSpPr txBox="1"/>
          <p:nvPr/>
        </p:nvSpPr>
        <p:spPr>
          <a:xfrm>
            <a:off x="2918400" y="4580875"/>
            <a:ext cx="3307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</a:rPr>
              <a:t>数据湖为啥不叫“数据海”？</a:t>
            </a:r>
            <a:endParaRPr b="1" sz="1800">
              <a:solidFill>
                <a:srgbClr val="FF0000"/>
              </a:solidFill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345150" y="4168675"/>
            <a:ext cx="8599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Lakehouse: A New Generation of Open Platforms that Unify Data Warehousing and Advanced Analytics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数据湖仓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主流数据湖和数据仓库目前都趋向采用“存算分离”的架构</a:t>
            </a:r>
            <a:endParaRPr/>
          </a:p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1500" y="1809238"/>
            <a:ext cx="7600950" cy="292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云</a:t>
            </a:r>
            <a:r>
              <a:rPr lang="en-GB"/>
              <a:t>数据湖仓</a:t>
            </a:r>
            <a:endParaRPr/>
          </a:p>
        </p:txBody>
      </p:sp>
      <p:sp>
        <p:nvSpPr>
          <p:cNvPr id="84" name="Google Shape;8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2413" y="1082675"/>
            <a:ext cx="6959185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基于</a:t>
            </a:r>
            <a:r>
              <a:rPr lang="en-GB"/>
              <a:t>Pixels的</a:t>
            </a:r>
            <a:r>
              <a:rPr lang="en-GB"/>
              <a:t>数据湖仓</a:t>
            </a:r>
            <a:endParaRPr/>
          </a:p>
        </p:txBody>
      </p:sp>
      <p:sp>
        <p:nvSpPr>
          <p:cNvPr id="91" name="Google Shape;9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3588" y="1154225"/>
            <a:ext cx="6356818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PixelsDB的Web UI (Pixels-Rover)</a:t>
            </a:r>
            <a:endParaRPr/>
          </a:p>
        </p:txBody>
      </p:sp>
      <p:sp>
        <p:nvSpPr>
          <p:cNvPr id="98" name="Google Shape;9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9" name="Google Shape;99;p19"/>
          <p:cNvSpPr txBox="1"/>
          <p:nvPr/>
        </p:nvSpPr>
        <p:spPr>
          <a:xfrm>
            <a:off x="1128875" y="1343500"/>
            <a:ext cx="62406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u="sng">
                <a:solidFill>
                  <a:schemeClr val="hlink"/>
                </a:solidFill>
                <a:hlinkClick r:id="rId3"/>
              </a:rPr>
              <a:t>https://github.com/pixelsdb/pixels-rover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Demo视频：</a:t>
            </a:r>
            <a:r>
              <a:rPr lang="en-GB" sz="1800" u="sng">
                <a:solidFill>
                  <a:schemeClr val="hlink"/>
                </a:solidFill>
                <a:hlinkClick r:id="rId4"/>
              </a:rPr>
              <a:t>https://www.bilibili.com/video/BV1awDQYcEsN/?vd_source=da6f80d8fe2bab1291999a9535251c78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数据湖仓的数据从哪里来？</a:t>
            </a:r>
            <a:endParaRPr/>
          </a:p>
        </p:txBody>
      </p:sp>
      <p:sp>
        <p:nvSpPr>
          <p:cNvPr id="105" name="Google Shape;10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06" name="Google Shape;1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1225" y="1098575"/>
            <a:ext cx="6881557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0"/>
          <p:cNvSpPr/>
          <p:nvPr/>
        </p:nvSpPr>
        <p:spPr>
          <a:xfrm>
            <a:off x="4515475" y="1756900"/>
            <a:ext cx="1558200" cy="1343400"/>
          </a:xfrm>
          <a:prstGeom prst="roundRect">
            <a:avLst>
              <a:gd fmla="val 19434" name="adj"/>
            </a:avLst>
          </a:prstGeom>
          <a:noFill/>
          <a:ln cap="flat" cmpd="sng" w="3810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0"/>
          <p:cNvSpPr/>
          <p:nvPr/>
        </p:nvSpPr>
        <p:spPr>
          <a:xfrm>
            <a:off x="2871225" y="4205425"/>
            <a:ext cx="1558200" cy="780300"/>
          </a:xfrm>
          <a:prstGeom prst="roundRect">
            <a:avLst>
              <a:gd fmla="val 19434" name="adj"/>
            </a:avLst>
          </a:prstGeom>
          <a:noFill/>
          <a:ln cap="flat" cmpd="sng" w="3810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ETL</a:t>
            </a:r>
            <a:endParaRPr/>
          </a:p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Extract, Transform, and Load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Extract:：将</a:t>
            </a:r>
            <a:r>
              <a:rPr lang="en-GB"/>
              <a:t>数据从数据源提取出来，打包传输到数据湖仓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Transform：将原始的数据进行清洗 (Data Cleansing)和格式转换，变成数据湖仓需要的较高质量的数据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Load：将数据通过数据湖仓的装载工具转入数据湖仓，以备查询分析</a:t>
            </a:r>
            <a:endParaRPr/>
          </a:p>
        </p:txBody>
      </p:sp>
      <p:sp>
        <p:nvSpPr>
          <p:cNvPr id="115" name="Google Shape;11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6" name="Google Shape;116;p21"/>
          <p:cNvSpPr txBox="1"/>
          <p:nvPr/>
        </p:nvSpPr>
        <p:spPr>
          <a:xfrm>
            <a:off x="4484500" y="1305550"/>
            <a:ext cx="3307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</a:rPr>
              <a:t>和搬家的过程很像</a:t>
            </a:r>
            <a:endParaRPr b="1" sz="1800">
              <a:solidFill>
                <a:srgbClr val="FF0000"/>
              </a:solidFill>
            </a:endParaRPr>
          </a:p>
        </p:txBody>
      </p:sp>
      <p:sp>
        <p:nvSpPr>
          <p:cNvPr id="117" name="Google Shape;117;p21"/>
          <p:cNvSpPr txBox="1"/>
          <p:nvPr/>
        </p:nvSpPr>
        <p:spPr>
          <a:xfrm>
            <a:off x="1312500" y="4192650"/>
            <a:ext cx="6519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</a:rPr>
              <a:t>数据仓库更常用ETL，数据湖更倾向于ELT</a:t>
            </a:r>
            <a:endParaRPr b="1"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CDC</a:t>
            </a:r>
            <a:endParaRPr/>
          </a:p>
        </p:txBody>
      </p:sp>
      <p:sp>
        <p:nvSpPr>
          <p:cNvPr id="123" name="Google Shape;12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Change Data Capture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有些数据源并不是完全的streaming data source，其中的数据会发生修改和删除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对于这种数据源，数据通过ETL或ELT进入数据湖仓之后，还需要和数据源持续进行数据同步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同步的方式主要包括“incremental ETL/ELT”和CDC</a:t>
            </a:r>
            <a:endParaRPr/>
          </a:p>
        </p:txBody>
      </p:sp>
      <p:sp>
        <p:nvSpPr>
          <p:cNvPr id="124" name="Google Shape;12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5" name="Google Shape;125;p22"/>
          <p:cNvSpPr txBox="1"/>
          <p:nvPr/>
        </p:nvSpPr>
        <p:spPr>
          <a:xfrm>
            <a:off x="1066500" y="4208550"/>
            <a:ext cx="7011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</a:rPr>
              <a:t>ETL和CDC都属于数据集成 (Data Integration) 领域的重要问题</a:t>
            </a:r>
            <a:endParaRPr b="1"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CDC</a:t>
            </a:r>
            <a:endParaRPr/>
          </a:p>
        </p:txBody>
      </p:sp>
      <p:sp>
        <p:nvSpPr>
          <p:cNvPr id="131" name="Google Shape;13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CDC分push和pull两种方式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Push：数据源主动将更新内容推送到数据湖仓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	通常具有较低的同步延迟，但会增加数据源的复杂度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更常用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Pull：数据湖仓主动从数据源拉去更新内容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	</a:t>
            </a:r>
            <a:endParaRPr/>
          </a:p>
        </p:txBody>
      </p:sp>
      <p:sp>
        <p:nvSpPr>
          <p:cNvPr id="132" name="Google Shape;13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33" name="Google Shape;13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6338" y="3574375"/>
            <a:ext cx="4971324" cy="135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Debezium</a:t>
            </a:r>
            <a:endParaRPr/>
          </a:p>
        </p:txBody>
      </p:sp>
      <p:sp>
        <p:nvSpPr>
          <p:cNvPr id="139" name="Google Shape;139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Debezium是比较常用的开源CDC系统，可以借助Kafka作为消息队列，实现将关系型OLTP数据库中的数据更新推送到数据湖仓中</a:t>
            </a:r>
            <a:endParaRPr/>
          </a:p>
        </p:txBody>
      </p:sp>
      <p:sp>
        <p:nvSpPr>
          <p:cNvPr id="140" name="Google Shape;14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41" name="Google Shape;14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125" y="2089225"/>
            <a:ext cx="7905750" cy="2152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 txBox="1"/>
          <p:nvPr/>
        </p:nvSpPr>
        <p:spPr>
          <a:xfrm>
            <a:off x="1066500" y="4241875"/>
            <a:ext cx="7011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</a:rPr>
              <a:t>Pixels中正在实现基于Debezium的CDC支持</a:t>
            </a:r>
            <a:endParaRPr b="1"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数据写入</a:t>
            </a:r>
            <a:endParaRPr/>
          </a:p>
        </p:txBody>
      </p:sp>
      <p:sp>
        <p:nvSpPr>
          <p:cNvPr id="148" name="Google Shape;14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数据通过ETL或者CDC来到数据湖仓之后，通常还需要写入列式存储，以提供高性能的查询分析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首先不考虑数据更新，解决单纯的数据增量写入问题</a:t>
            </a:r>
            <a:endParaRPr/>
          </a:p>
        </p:txBody>
      </p:sp>
      <p:sp>
        <p:nvSpPr>
          <p:cNvPr id="149" name="Google Shape;14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PixelsWriter</a:t>
            </a:r>
            <a:endParaRPr/>
          </a:p>
        </p:txBody>
      </p:sp>
      <p:sp>
        <p:nvSpPr>
          <p:cNvPr id="155" name="Google Shape;155;p26"/>
          <p:cNvSpPr txBox="1"/>
          <p:nvPr>
            <p:ph idx="1" type="body"/>
          </p:nvPr>
        </p:nvSpPr>
        <p:spPr>
          <a:xfrm>
            <a:off x="343500" y="1192225"/>
            <a:ext cx="417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除close、getSchema、getNumRowGroup、</a:t>
            </a:r>
            <a:r>
              <a:rPr lang="en-GB"/>
              <a:t>getNumWriteRequests、getCompletedBytes等基本方法之外：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最关键的addRowBatch方法</a:t>
            </a:r>
            <a:endParaRPr/>
          </a:p>
        </p:txBody>
      </p:sp>
      <p:sp>
        <p:nvSpPr>
          <p:cNvPr id="156" name="Google Shape;15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57" name="Google Shape;15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4625" y="88025"/>
            <a:ext cx="4037822" cy="496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PixelsWriter</a:t>
            </a:r>
            <a:endParaRPr/>
          </a:p>
        </p:txBody>
      </p:sp>
      <p:sp>
        <p:nvSpPr>
          <p:cNvPr id="163" name="Google Shape;16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addRowBatch</a:t>
            </a:r>
            <a:r>
              <a:rPr lang="en-GB"/>
              <a:t>负责将一个row batch (如1024行) 的数据按照Schema进行分列编码压缩，写入row group缓冲区。当row group缓冲区写满时会刷入存储系统</a:t>
            </a:r>
            <a:endParaRPr/>
          </a:p>
        </p:txBody>
      </p:sp>
      <p:sp>
        <p:nvSpPr>
          <p:cNvPr id="164" name="Google Shape;16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65" name="Google Shape;16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8413" y="2020600"/>
            <a:ext cx="6507176" cy="290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PixelsWriterImpl</a:t>
            </a:r>
            <a:endParaRPr/>
          </a:p>
        </p:txBody>
      </p:sp>
      <p:sp>
        <p:nvSpPr>
          <p:cNvPr id="171" name="Google Shape;171;p28"/>
          <p:cNvSpPr txBox="1"/>
          <p:nvPr>
            <p:ph idx="1" type="body"/>
          </p:nvPr>
        </p:nvSpPr>
        <p:spPr>
          <a:xfrm>
            <a:off x="311700" y="1152475"/>
            <a:ext cx="4831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PixelsWriter的具体实现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其中有一个子类Builder负责构造一个PixelsWriterImpl的实例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TypeDescription用来表示一个表的schema和各个列的数据类型</a:t>
            </a:r>
            <a:endParaRPr/>
          </a:p>
        </p:txBody>
      </p:sp>
      <p:sp>
        <p:nvSpPr>
          <p:cNvPr id="172" name="Google Shape;172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73" name="Google Shape;17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3500" y="255900"/>
            <a:ext cx="3216000" cy="46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RowBatch和ColumnVector</a:t>
            </a:r>
            <a:endParaRPr/>
          </a:p>
        </p:txBody>
      </p:sp>
      <p:sp>
        <p:nvSpPr>
          <p:cNvPr id="179" name="Google Shape;179;p29"/>
          <p:cNvSpPr txBox="1"/>
          <p:nvPr>
            <p:ph idx="1" type="body"/>
          </p:nvPr>
        </p:nvSpPr>
        <p:spPr>
          <a:xfrm>
            <a:off x="311700" y="1152475"/>
            <a:ext cx="4585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RowBatch表示一批待写入的数据元组，如1024行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在row batch中，数据以column vector进行存储，这是pixels在内存中对各个列上数据的表示形式</a:t>
            </a:r>
            <a:endParaRPr/>
          </a:p>
        </p:txBody>
      </p:sp>
      <p:sp>
        <p:nvSpPr>
          <p:cNvPr id="180" name="Google Shape;180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81" name="Google Shape;18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4750" y="0"/>
            <a:ext cx="3226124" cy="500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PixelsWriterImpl.addRowBatch()</a:t>
            </a:r>
            <a:endParaRPr/>
          </a:p>
        </p:txBody>
      </p:sp>
      <p:sp>
        <p:nvSpPr>
          <p:cNvPr id="187" name="Google Shape;187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88" name="Google Shape;18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800" y="1074725"/>
            <a:ext cx="7426789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30"/>
          <p:cNvSpPr/>
          <p:nvPr/>
        </p:nvSpPr>
        <p:spPr>
          <a:xfrm>
            <a:off x="1122275" y="2949375"/>
            <a:ext cx="6795600" cy="1478700"/>
          </a:xfrm>
          <a:prstGeom prst="roundRect">
            <a:avLst>
              <a:gd fmla="val 19434" name="adj"/>
            </a:avLst>
          </a:prstGeom>
          <a:noFill/>
          <a:ln cap="flat" cmpd="sng" w="3810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PixelsWriterImpl.writeColumnVectors()</a:t>
            </a:r>
            <a:endParaRPr/>
          </a:p>
        </p:txBody>
      </p:sp>
      <p:sp>
        <p:nvSpPr>
          <p:cNvPr id="195" name="Google Shape;19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96" name="Google Shape;19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5125" y="1082675"/>
            <a:ext cx="6303894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1"/>
          <p:cNvSpPr/>
          <p:nvPr/>
        </p:nvSpPr>
        <p:spPr>
          <a:xfrm>
            <a:off x="2225925" y="3386600"/>
            <a:ext cx="5246700" cy="222600"/>
          </a:xfrm>
          <a:prstGeom prst="roundRect">
            <a:avLst>
              <a:gd fmla="val 19434" name="adj"/>
            </a:avLst>
          </a:prstGeom>
          <a:noFill/>
          <a:ln cap="flat" cmpd="sng" w="3810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31"/>
          <p:cNvSpPr/>
          <p:nvPr/>
        </p:nvSpPr>
        <p:spPr>
          <a:xfrm>
            <a:off x="1274675" y="1955650"/>
            <a:ext cx="6651300" cy="2822100"/>
          </a:xfrm>
          <a:prstGeom prst="roundRect">
            <a:avLst>
              <a:gd fmla="val 19434" name="adj"/>
            </a:avLst>
          </a:prstGeom>
          <a:noFill/>
          <a:ln cap="flat" cmpd="sng" w="3810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31"/>
          <p:cNvSpPr/>
          <p:nvPr/>
        </p:nvSpPr>
        <p:spPr>
          <a:xfrm>
            <a:off x="6534700" y="2333250"/>
            <a:ext cx="1884000" cy="743400"/>
          </a:xfrm>
          <a:prstGeom prst="wedgeRoundRectCallout">
            <a:avLst>
              <a:gd fmla="val -152958" name="adj1"/>
              <a:gd fmla="val 102388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ColumnWriter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ColumnWriter</a:t>
            </a:r>
            <a:endParaRPr/>
          </a:p>
        </p:txBody>
      </p:sp>
      <p:sp>
        <p:nvSpPr>
          <p:cNvPr id="205" name="Google Shape;205;p32"/>
          <p:cNvSpPr txBox="1"/>
          <p:nvPr>
            <p:ph idx="1" type="body"/>
          </p:nvPr>
        </p:nvSpPr>
        <p:spPr>
          <a:xfrm>
            <a:off x="311700" y="1152475"/>
            <a:ext cx="4990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负责对一个ColumnVector进行压缩和编码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每种数据类型都对应一个ColumnVector和ColumnWriter的具体实现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ColumnWriter.write()是最关键的方法</a:t>
            </a:r>
            <a:endParaRPr/>
          </a:p>
        </p:txBody>
      </p:sp>
      <p:sp>
        <p:nvSpPr>
          <p:cNvPr id="206" name="Google Shape;20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07" name="Google Shape;20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5425" y="96925"/>
            <a:ext cx="2502825" cy="499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9225" y="3943975"/>
            <a:ext cx="5749983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ColumnWriter</a:t>
            </a:r>
            <a:endParaRPr/>
          </a:p>
        </p:txBody>
      </p:sp>
      <p:sp>
        <p:nvSpPr>
          <p:cNvPr id="214" name="Google Shape;214;p33"/>
          <p:cNvSpPr txBox="1"/>
          <p:nvPr>
            <p:ph idx="1" type="body"/>
          </p:nvPr>
        </p:nvSpPr>
        <p:spPr>
          <a:xfrm>
            <a:off x="311700" y="1152475"/>
            <a:ext cx="2311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ColumnWriter.newColumnWriter()可以创建一个数据类型对应的ColumnWriter实例</a:t>
            </a:r>
            <a:endParaRPr/>
          </a:p>
        </p:txBody>
      </p:sp>
      <p:sp>
        <p:nvSpPr>
          <p:cNvPr id="215" name="Google Shape;215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16" name="Google Shape;21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6750" y="111300"/>
            <a:ext cx="5861100" cy="4825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数据湖仓的catalog manager</a:t>
            </a:r>
            <a:endParaRPr/>
          </a:p>
        </p:txBody>
      </p:sp>
      <p:sp>
        <p:nvSpPr>
          <p:cNvPr id="222" name="Google Shape;222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Pixels中具有自己的存储格式和catalog管理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数据湖仓三剑客</a:t>
            </a:r>
            <a:endParaRPr/>
          </a:p>
        </p:txBody>
      </p:sp>
      <p:sp>
        <p:nvSpPr>
          <p:cNvPr id="223" name="Google Shape;223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24" name="Google Shape;22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350" y="2571750"/>
            <a:ext cx="4027825" cy="11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5647" y="2232225"/>
            <a:ext cx="1587975" cy="158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80125" y="3321010"/>
            <a:ext cx="3868827" cy="16580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5"/>
          <p:cNvSpPr txBox="1"/>
          <p:nvPr/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595959"/>
                </a:solidFill>
              </a:rPr>
              <a:t>卞昊穹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595959"/>
                </a:solidFill>
              </a:rPr>
              <a:t>信息楼125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800">
                <a:solidFill>
                  <a:srgbClr val="595959"/>
                </a:solidFill>
              </a:rPr>
              <a:t>bianhq@ruc.edu.cn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