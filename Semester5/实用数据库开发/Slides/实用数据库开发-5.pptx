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0A7296-45AD-41A1-95E6-8DF3A914E688}">
  <a:tblStyle styleId="{370A7296-45AD-41A1-95E6-8DF3A914E6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ec2d152d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fec2d152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ec2d152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fec2d152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fec2d152d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fec2d152d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eb9efc28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eb9efc28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ec2d152d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ec2d152d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ec2d152d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ec2d152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ec2d152d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ec2d152d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ec2d152d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ec2d152d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ec2d152d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ec2d152d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ec2d152d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ec2d152d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ec2d152d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ec2d152d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ec2d152de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ec2d152d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ec2d152de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fec2d152de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ec2d152d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ec2d152d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ec2d152d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ec2d152d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ec2d152de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ec2d152de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ec2d152de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ec2d152de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ec2d152de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fec2d152de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ec2d152de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ec2d152de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ec2d152de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ec2d152de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ec2d152de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ec2d152de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fec2d152de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fec2d152de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ec2d152de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fec2d152de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ec2d152de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fec2d152de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ec2d152de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ec2d152de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ec2d152de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fec2d152de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fec2d152de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fec2d152de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pixelsdb/mini-pixels/blob/master/pixels-core/lib/encoding/RunLenIntEncoder.cpp" TargetMode="External"/><Relationship Id="rId4" Type="http://schemas.openxmlformats.org/officeDocument/2006/relationships/hyperlink" Target="https://github.com/pixelsdb/mini-pixels/blob/master/pixels-core/lib/encoding/RunLenIntDecoder.cpp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pixelsdb/pixels/blob/master/pixels-core/src/main/java/io/pixelsdb/pixels/core/encoding/RunLenIntEncoder.java" TargetMode="External"/><Relationship Id="rId4" Type="http://schemas.openxmlformats.org/officeDocument/2006/relationships/hyperlink" Target="https://github.com/pixelsdb/pixels/blob/master/pixels-core/src/main/java/io/pixelsdb/pixels/core/encoding/RunLenIntDecoder.java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pixelsdb/pixels/blob/master/pixels-core/src/main/java/io/pixelsdb/pixels/core/encoding/Dictionary.java" TargetMode="External"/><Relationship Id="rId4" Type="http://schemas.openxmlformats.org/officeDocument/2006/relationships/hyperlink" Target="https://github.com/pixelsdb/pixels/blob/master/pixels-core/src/main/java/io/pixelsdb/pixels/core/encoding/HashTableDictionary.java" TargetMode="External"/><Relationship Id="rId5" Type="http://schemas.openxmlformats.org/officeDocument/2006/relationships/hyperlink" Target="https://github.com/pixelsdb/pixels/blob/master/pixels-core/src/main/java/io/pixelsdb/pixels/core/encoding/StringRedBlackTree.java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74775"/>
            <a:ext cx="8520600" cy="17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实用数据库开发 (5)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数据类型与编码压缩（下）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91325"/>
            <a:ext cx="8520600" cy="13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中国人民大学信息学院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教师：卞昊穹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助教：王浩哲，耿东杨，尹佳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2024-10-22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314" y="202475"/>
            <a:ext cx="1155376" cy="11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数据分布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真实数据的分布往往有长尾现象，或者基数 (cardinality) 较低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850" y="1790500"/>
            <a:ext cx="4948301" cy="257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471500" y="4491625"/>
            <a:ext cx="62010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这为高效的数据压缩编码提供了很好的机会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有损压缩 vs. 无损压缩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数据库通常不能接受有损压缩，因为数据库通常被各种数据应用所共享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有损压缩通常只用在应用层</a:t>
            </a:r>
            <a:endParaRPr/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重量级压缩 vs 轻量级压缩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重量级压缩 (heavy-weight compression) 一般指通用的无损压缩算法，如LZO、LZ4、Snappy、Gzip、Zstd，这些算法适合压缩大多数类型的数据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华为鲲鹏CPU中有Zstd算法的加速器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压缩率较好，但通常比较耗CPU，缺少针对特定数据类型和分布的优化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轻量级压缩 (light-weight compression) 在数据库中通常指应用于列存储的数据编码算法，也叫encoding algorithm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117800" y="4316725"/>
            <a:ext cx="6908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这门课中主要关注轻量级压缩，即列式数据编码 (encoding)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Run-length encoding (RLE)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真实的column chunk中，常见连续的相同值 (runs of the same value)，例如：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1，1，1，1，1，1</a:t>
            </a:r>
            <a:r>
              <a:rPr lang="en-GB"/>
              <a:t>，3，</a:t>
            </a:r>
            <a:r>
              <a:rPr b="1" lang="en-GB">
                <a:solidFill>
                  <a:srgbClr val="4A86E8"/>
                </a:solidFill>
              </a:rPr>
              <a:t>2，2，2，2，2，2，2，2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可将一个run of the same value压缩为一个三元组: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(value, start-offset-in-the-column-chunk, run-length)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例如：</a:t>
            </a:r>
            <a:r>
              <a:rPr b="1" lang="en-GB">
                <a:solidFill>
                  <a:srgbClr val="FF0000"/>
                </a:solidFill>
              </a:rPr>
              <a:t>(1, 0, 6)</a:t>
            </a:r>
            <a:r>
              <a:rPr lang="en-GB"/>
              <a:t>, (3, 6, 1), </a:t>
            </a:r>
            <a:r>
              <a:rPr b="1" lang="en-GB">
                <a:solidFill>
                  <a:schemeClr val="accent1"/>
                </a:solidFill>
              </a:rPr>
              <a:t>(2, 7, 8)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或者一个二元组：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 (value, run-length)，例如：</a:t>
            </a:r>
            <a:r>
              <a:rPr b="1" lang="en-GB">
                <a:solidFill>
                  <a:srgbClr val="FF0000"/>
                </a:solidFill>
              </a:rPr>
              <a:t>(1, 6)</a:t>
            </a:r>
            <a:r>
              <a:rPr lang="en-GB"/>
              <a:t>, (3, 1), </a:t>
            </a:r>
            <a:r>
              <a:rPr b="1" lang="en-GB">
                <a:solidFill>
                  <a:schemeClr val="accent1"/>
                </a:solidFill>
              </a:rPr>
              <a:t>(2, 8)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Run-length encoding (RLE，行程编码)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154225"/>
            <a:ext cx="670560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4030525" y="4722150"/>
            <a:ext cx="2734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Source: CMU-15721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Run-length encoding (RLE)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 FROM t WHERE lit = ‘Y’;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SELECT lit, COUNT(*) FROM t GROUP BY lit;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075" y="1152475"/>
            <a:ext cx="2353525" cy="31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Run-length encoding (RLE)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对</a:t>
            </a:r>
            <a:r>
              <a:rPr lang="en-GB"/>
              <a:t>数据排序可以帮助提高RLE的压缩效率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438" y="1734375"/>
            <a:ext cx="5605125" cy="29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Run-length encoding (RLE)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对数据排序可以帮助提高RLE的压缩效率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338" y="1793300"/>
            <a:ext cx="4937325" cy="26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Bit Packing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对于整型数据，用户经常习惯用INT或者BIGINT，但实际上大部分的value在0附近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对于这种情况，可以使用较少的bits进行存储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401" y="2118800"/>
            <a:ext cx="2947175" cy="28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760250" y="3134900"/>
            <a:ext cx="22527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8*32 bit=256 bit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6262650" y="2897775"/>
            <a:ext cx="22527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8*8 bit=64 bit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Delta Encoding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</a:t>
            </a:r>
            <a:r>
              <a:rPr lang="en-GB"/>
              <a:t>某些column chunk中，相邻的value可能比较接近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订单的下单时间、温度等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可以只存储base value和delta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例如：107, 108, 107, 109, 110, 111, 110, 109, 108，编码为107, 1, -1, 2, 1, 1, -1, -1, -1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1117800" y="4058625"/>
            <a:ext cx="6908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Delta encoding通常和Bit Packing、RLE结合使用 (cascade)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Delta Encoding + RLE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82200"/>
            <a:ext cx="8520600" cy="23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4030525" y="4722150"/>
            <a:ext cx="2734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Source: CMU-15721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Pixels中的RLE+Delta+BP (C++版)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Encoder: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https://github.com/pixelsdb/mini-pixels/blob/master/pixels-core/lib/encoding/RunLenIntEncoder.cpp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Decoder: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https://github.com/pixelsdb/mini-pixels/blob/master/pixels-core/lib/encoding/RunLenIntDecoder.cpp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Pixels中的RLE+Delta+BP (Java版)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Encoder: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https://github.com/pixelsdb/pixels/blob/master/pixels-core/src/main/java/io/pixelsdb/pixels/core/encoding/RunLenIntEncoder.java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Decoder: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https://github.com/pixelsdb/pixels/blob/master/pixels-core/src/main/java/io/pixelsdb/pixels/core/encoding/RunLenIntDecoder.java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Dictionary Encoding (字典编码)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</a:t>
            </a:r>
            <a:r>
              <a:rPr lang="en-GB"/>
              <a:t>很多（</a:t>
            </a:r>
            <a:r>
              <a:rPr lang="en-GB"/>
              <a:t>尤其是字符串类型的</a:t>
            </a:r>
            <a:r>
              <a:rPr lang="en-GB"/>
              <a:t>）column chunk中，会出现大量重复值，例如user表中的city，学生表中的university和school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可以编码为code加上code→value的map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例如：北京，上海，深圳，上海，上海，北京，深圳，上海，可以编码为：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1,2,3,2,2,1,3,2 + </a:t>
            </a:r>
            <a:r>
              <a:rPr lang="en-GB"/>
              <a:t>(</a:t>
            </a:r>
            <a:r>
              <a:rPr lang="en-GB"/>
              <a:t>1</a:t>
            </a:r>
            <a:r>
              <a:rPr lang="en-GB"/>
              <a:t>→北京， 2→上海，3→深圳)</a:t>
            </a:r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742500" y="4058625"/>
            <a:ext cx="76590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dictionary</a:t>
            </a:r>
            <a:r>
              <a:rPr b="1" lang="en-GB" sz="1800">
                <a:solidFill>
                  <a:srgbClr val="FF0000"/>
                </a:solidFill>
              </a:rPr>
              <a:t> encoding</a:t>
            </a:r>
            <a:r>
              <a:rPr b="1" lang="en-GB" sz="1800">
                <a:solidFill>
                  <a:srgbClr val="FF0000"/>
                </a:solidFill>
              </a:rPr>
              <a:t>也可以与b</a:t>
            </a:r>
            <a:r>
              <a:rPr b="1" lang="en-GB" sz="1800">
                <a:solidFill>
                  <a:srgbClr val="FF0000"/>
                </a:solidFill>
              </a:rPr>
              <a:t>it packing、RLE、delta等cascade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Dictionary Encoding (字典编码)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338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有些查询只需要访问字典：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SELECT COUNT(DISTINCT city) FROM t</a:t>
            </a:r>
            <a:endParaRPr/>
          </a:p>
        </p:txBody>
      </p:sp>
      <p:graphicFrame>
        <p:nvGraphicFramePr>
          <p:cNvPr id="174" name="Google Shape;174;p28"/>
          <p:cNvGraphicFramePr/>
          <p:nvPr/>
        </p:nvGraphicFramePr>
        <p:xfrm>
          <a:off x="4087400" y="112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{370A7296-45AD-41A1-95E6-8DF3A914E688}</a:tableStyleId>
              </a:tblPr>
              <a:tblGrid>
                <a:gridCol w="1025500"/>
              </a:tblGrid>
              <a:tr h="263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北京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深圳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北京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深圳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5" name="Google Shape;175;p28"/>
          <p:cNvGraphicFramePr/>
          <p:nvPr/>
        </p:nvGraphicFramePr>
        <p:xfrm>
          <a:off x="6004350" y="112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{370A7296-45AD-41A1-95E6-8DF3A914E688}</a:tableStyleId>
              </a:tblPr>
              <a:tblGrid>
                <a:gridCol w="1025500"/>
              </a:tblGrid>
              <a:tr h="263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6" name="Google Shape;176;p28"/>
          <p:cNvGraphicFramePr/>
          <p:nvPr/>
        </p:nvGraphicFramePr>
        <p:xfrm>
          <a:off x="7104950" y="112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{370A7296-45AD-41A1-95E6-8DF3A914E688}</a:tableStyleId>
              </a:tblPr>
              <a:tblGrid>
                <a:gridCol w="752100"/>
                <a:gridCol w="752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value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code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北京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深圳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" name="Google Shape;177;p28"/>
          <p:cNvSpPr/>
          <p:nvPr/>
        </p:nvSpPr>
        <p:spPr>
          <a:xfrm>
            <a:off x="5317125" y="2637425"/>
            <a:ext cx="544500" cy="53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字典的存储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Array：用</a:t>
            </a:r>
            <a:r>
              <a:rPr lang="en-GB"/>
              <a:t>一个字符串数组来存储字典的value，数组的下标即为code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插入新value很低效，一般用于静态数据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Hash Table：build和probe通常更快，但不支持range lookup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Tree-based (Red-black tree, B+tree)：与hash table相反，</a:t>
            </a:r>
            <a:r>
              <a:rPr lang="en-GB" u="sng"/>
              <a:t>可以保证字典有序</a:t>
            </a:r>
            <a:endParaRPr u="sng"/>
          </a:p>
        </p:txBody>
      </p:sp>
      <p:graphicFrame>
        <p:nvGraphicFramePr>
          <p:cNvPr id="185" name="Google Shape;185;p29"/>
          <p:cNvGraphicFramePr/>
          <p:nvPr/>
        </p:nvGraphicFramePr>
        <p:xfrm>
          <a:off x="2243025" y="207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{370A7296-45AD-41A1-95E6-8DF3A914E688}</a:tableStyleId>
              </a:tblPr>
              <a:tblGrid>
                <a:gridCol w="1404025"/>
                <a:gridCol w="1404025"/>
                <a:gridCol w="140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北京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深圳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29"/>
          <p:cNvSpPr txBox="1"/>
          <p:nvPr/>
        </p:nvSpPr>
        <p:spPr>
          <a:xfrm>
            <a:off x="2787625" y="2472425"/>
            <a:ext cx="4833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4155500" y="2472425"/>
            <a:ext cx="4833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5584400" y="2472425"/>
            <a:ext cx="4833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Pixels中的</a:t>
            </a:r>
            <a:r>
              <a:rPr lang="en-GB"/>
              <a:t>字典编码</a:t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</a:t>
            </a:r>
            <a:r>
              <a:rPr lang="en-GB"/>
              <a:t>文件中，使用array存储字典，节省空间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查询读取数据时，直接将array读取到内存中，节省空间且查找极快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写入数据时，采用hash table或red-black tree构建字典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默认使用hash table，构建速度更快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构建完成后，在将数据写入文件时，转成array</a:t>
            </a:r>
            <a:endParaRPr/>
          </a:p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Pixels中的字典编码（目前只有Java版）</a:t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311700" y="1152475"/>
            <a:ext cx="85206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Dictionary</a:t>
            </a:r>
            <a:r>
              <a:rPr lang="en-GB"/>
              <a:t>接口定义：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https://github.com/pixelsdb/pixels/blob/master/pixels-core/src/main/java/io/pixelsdb/pixels/core/encoding/Dictionary.java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HashTableDictionary：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https://github.com/pixelsdb/pixels/blob/master/pixels-core/src/main/java/io/pixelsdb/pixels/core/encoding/HashTableDictionary.java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TreeDictionary: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https://github.com/pixelsdb/pixels/blob/master/pixels-core/src/main/java/io/pixelsdb/pixels/core/encoding/StringRedBlackTree.java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全局字典 vs. 局部字典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全局字典 (global dictionary) 通常是指对某个表中的某个列建立一个字典，该列的所有column chunk都使用该字典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也有可能多个列（例如主键和外键列）甚至多个表共享一个全局字典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局部字典 (partial dictionary) 是指对某个列的每个part（通常是column chunk）单独建立一个字典</a:t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1117800" y="4058625"/>
            <a:ext cx="6908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全局字典和分区字典的优劣？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Late Materialization (晚</a:t>
            </a:r>
            <a:r>
              <a:rPr lang="en-GB"/>
              <a:t>物化</a:t>
            </a:r>
            <a:r>
              <a:rPr lang="en-GB"/>
              <a:t>)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物化 (materialization)：</a:t>
            </a:r>
            <a:r>
              <a:rPr lang="en-GB"/>
              <a:t>将数据变成更加便于处理或存储的过程。</a:t>
            </a:r>
            <a:r>
              <a:rPr lang="en-GB"/>
              <a:t>和人文社科的物化 (reification或objectification)没有任何关系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无论数据如何编码压缩、以何种格式存储，最后总要变成一个便于应用理解和处理的二维表格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但应该尽量推迟物化，最好到返回最终查询结果的时候才物化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因为物化有开销，越迟物化，需要物化的数据通常越少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 txBox="1"/>
          <p:nvPr/>
        </p:nvSpPr>
        <p:spPr>
          <a:xfrm>
            <a:off x="1117800" y="4139575"/>
            <a:ext cx="6908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全局字典更</a:t>
            </a:r>
            <a:r>
              <a:rPr b="1" lang="en-GB" sz="1800">
                <a:solidFill>
                  <a:srgbClr val="FF0000"/>
                </a:solidFill>
              </a:rPr>
              <a:t>有利于实现晚物化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19" name="Google Shape;2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Late Materialization (晚物化)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311700" y="1152475"/>
            <a:ext cx="338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</a:t>
            </a:r>
            <a:r>
              <a:rPr lang="en-GB"/>
              <a:t>city, </a:t>
            </a:r>
            <a:r>
              <a:rPr lang="en-GB"/>
              <a:t>COUNT(*) as cnt FROM t GROUP BY city;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可以直接基于dict code分组计算cnt，最后返回结果时再将code转成city的value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如果两表的主键和外键使用同一个全局字典，join可以直接在code上执行，无需先转成value</a:t>
            </a:r>
            <a:endParaRPr/>
          </a:p>
        </p:txBody>
      </p:sp>
      <p:graphicFrame>
        <p:nvGraphicFramePr>
          <p:cNvPr id="226" name="Google Shape;226;p34"/>
          <p:cNvGraphicFramePr/>
          <p:nvPr/>
        </p:nvGraphicFramePr>
        <p:xfrm>
          <a:off x="4087400" y="112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{370A7296-45AD-41A1-95E6-8DF3A914E688}</a:tableStyleId>
              </a:tblPr>
              <a:tblGrid>
                <a:gridCol w="1025500"/>
              </a:tblGrid>
              <a:tr h="263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北京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深圳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北京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深圳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7" name="Google Shape;227;p34"/>
          <p:cNvGraphicFramePr/>
          <p:nvPr/>
        </p:nvGraphicFramePr>
        <p:xfrm>
          <a:off x="6004350" y="112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{370A7296-45AD-41A1-95E6-8DF3A914E688}</a:tableStyleId>
              </a:tblPr>
              <a:tblGrid>
                <a:gridCol w="1025500"/>
              </a:tblGrid>
              <a:tr h="263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8" name="Google Shape;228;p34"/>
          <p:cNvGraphicFramePr/>
          <p:nvPr/>
        </p:nvGraphicFramePr>
        <p:xfrm>
          <a:off x="7104950" y="112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{370A7296-45AD-41A1-95E6-8DF3A914E688}</a:tableStyleId>
              </a:tblPr>
              <a:tblGrid>
                <a:gridCol w="752100"/>
                <a:gridCol w="752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value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code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北京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上海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深圳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34"/>
          <p:cNvSpPr/>
          <p:nvPr/>
        </p:nvSpPr>
        <p:spPr>
          <a:xfrm>
            <a:off x="5317125" y="2637425"/>
            <a:ext cx="544500" cy="53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4"/>
          <p:cNvSpPr txBox="1"/>
          <p:nvPr/>
        </p:nvSpPr>
        <p:spPr>
          <a:xfrm>
            <a:off x="311700" y="4519700"/>
            <a:ext cx="4207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全局字典也</a:t>
            </a:r>
            <a:r>
              <a:rPr b="1" lang="en-GB" sz="1800">
                <a:solidFill>
                  <a:srgbClr val="FF0000"/>
                </a:solidFill>
              </a:rPr>
              <a:t>节省存储空间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全局字典的缺点</a:t>
            </a:r>
            <a:endParaRPr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维护代价高，多任务并行写入数据时，全局字典成为共享区，影响并发性能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在分布式系统中，还会引入额外的网络通信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Column chunk无法实现自解释，一旦全局字典丢失，数据就无法解码 (decode)</a:t>
            </a:r>
            <a:endParaRPr/>
          </a:p>
        </p:txBody>
      </p:sp>
      <p:sp>
        <p:nvSpPr>
          <p:cNvPr id="238" name="Google Shape;238;p35"/>
          <p:cNvSpPr txBox="1"/>
          <p:nvPr/>
        </p:nvSpPr>
        <p:spPr>
          <a:xfrm>
            <a:off x="2468250" y="4449325"/>
            <a:ext cx="4207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Pixels目前不支持全局字典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39" name="Google Shape;23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Bitmap Encoding</a:t>
            </a:r>
            <a:endParaRPr/>
          </a:p>
        </p:txBody>
      </p:sp>
      <p:sp>
        <p:nvSpPr>
          <p:cNvPr id="245" name="Google Shape;24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当</a:t>
            </a:r>
            <a:r>
              <a:rPr lang="en-GB"/>
              <a:t>一个column chunk中的数据基数(cardinality)很低时，可以用位图来编码</a:t>
            </a:r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925" y="1676147"/>
            <a:ext cx="6396150" cy="27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6"/>
          <p:cNvSpPr txBox="1"/>
          <p:nvPr/>
        </p:nvSpPr>
        <p:spPr>
          <a:xfrm>
            <a:off x="2468250" y="4568875"/>
            <a:ext cx="4207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Bitmap可以进一步编码压缩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48" name="Google Shape;24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Roaring Bitmaps</a:t>
            </a:r>
            <a:endParaRPr/>
          </a:p>
        </p:txBody>
      </p:sp>
      <p:sp>
        <p:nvSpPr>
          <p:cNvPr id="254" name="Google Shape;25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将</a:t>
            </a:r>
            <a:r>
              <a:rPr lang="en-GB"/>
              <a:t>全部的value分成若干个chunk，每个chunk对应一个container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对于一个value k，其chunk id为k/65536 (2^16)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当一个chunk container内的value不超过4096个时，用int_16 array来存储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否则采用bitmap来存储，将第k/65536位置为1</a:t>
            </a:r>
            <a:endParaRPr/>
          </a:p>
        </p:txBody>
      </p:sp>
      <p:sp>
        <p:nvSpPr>
          <p:cNvPr id="255" name="Google Shape;25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Roaring Bitmaps</a:t>
            </a:r>
            <a:endParaRPr/>
          </a:p>
        </p:txBody>
      </p:sp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38" y="1090350"/>
            <a:ext cx="7931124" cy="34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/>
          <p:cNvSpPr txBox="1"/>
          <p:nvPr/>
        </p:nvSpPr>
        <p:spPr>
          <a:xfrm>
            <a:off x="4030525" y="4722150"/>
            <a:ext cx="2734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Source: CMU-15721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3" name="Google Shape;26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Decoding (</a:t>
            </a:r>
            <a:r>
              <a:rPr lang="en-GB"/>
              <a:t>解码</a:t>
            </a:r>
            <a:r>
              <a:rPr lang="en-GB"/>
              <a:t>)</a:t>
            </a:r>
            <a:endParaRPr/>
          </a:p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解码是为了将数据物化或反序列化的一个关键步骤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很多情况下，查询需要将一个column chunk中的数据全部解码出来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此时只需要顺序解码即可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也有很多情况下，查询只想访问column chunk中的一个或少数value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随机解码，或编码数据的随机访问就很重要</a:t>
            </a:r>
            <a:endParaRPr/>
          </a:p>
        </p:txBody>
      </p:sp>
      <p:sp>
        <p:nvSpPr>
          <p:cNvPr id="270" name="Google Shape;27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1" name="Google Shape;271;p39"/>
          <p:cNvSpPr txBox="1"/>
          <p:nvPr/>
        </p:nvSpPr>
        <p:spPr>
          <a:xfrm>
            <a:off x="1346875" y="4449325"/>
            <a:ext cx="6166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刚才讲过的encoding算法，哪些是可以随机访问的？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卞昊穹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信息楼125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bianhq@ruc.edu.cn</a:t>
            </a:r>
            <a:endParaRPr/>
          </a:p>
        </p:txBody>
      </p:sp>
      <p:sp>
        <p:nvSpPr>
          <p:cNvPr id="277" name="Google Shape;27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