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55a878cc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55a878c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55a878cc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55a878cc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55a878cc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55a878cc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55a878cc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55a878cc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55a878cc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55a878cc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55a878cc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55a878cc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55a878cc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55a878c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55a878cc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55a878c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55a878cc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55a878cc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55a878cc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55a878cc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55a878cc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55a878cc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55a878cc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55a878cc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55a878cc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55a878cc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55a878cc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55a878cc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55a878cc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155a878cc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55a878cc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55a878cc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55a878cc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155a878cc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55a878cc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55a878cc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55a878cc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55a878cc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55a878cc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155a878cc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55a878cc1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155a878cc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55a878cc1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155a878cc1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155a878cc1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155a878cc1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55a878cc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155a878cc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55a878cc1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55a878cc1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155a878cc1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155a878cc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155a878cc1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155a878cc1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155a878cc1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155a878cc1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55a878cc1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155a878cc1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55a878cc1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155a878cc1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155a878cc1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155a878cc1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155a878cc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155a878cc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3.png"/><Relationship Id="rId13" Type="http://schemas.openxmlformats.org/officeDocument/2006/relationships/image" Target="../media/image26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实用数据库开发 (7)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S3列存储的设计与优化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443725"/>
            <a:ext cx="8520600" cy="13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中国人民大学信息学院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教师：卞昊穹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助教：王浩哲，耿东杨，尹佳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2024-10-29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314" y="202475"/>
            <a:ext cx="1155376" cy="11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对象存储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对象存储中，存储空间划分为桶 (bucket)，每个bucket中可以存放任意多个数据对象，每个数据对象有一个key作为唯一标识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713" y="2003350"/>
            <a:ext cx="3924575" cy="29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对象存储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对象只能一次性写入，写入完成后不能修改，每个对象的大小没有严格限制（例如小于5TB即可）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对象就是一个byte array，没有数据类型，可以顺序或随机读取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对象存储可以看做是一个“扁平化”的、没有嵌套目录层级的文件系统，或者一个value可以任意大小的KV存储系统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S3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对象存储</a:t>
            </a:r>
            <a:r>
              <a:rPr lang="en-GB"/>
              <a:t>1990s</a:t>
            </a:r>
            <a:r>
              <a:rPr lang="en-GB"/>
              <a:t>后期出现并初步形成标准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2006年3月，Amazon发布Simple Storage Service (S3)，是最早在公有云上提供的对象存储服务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2010s，伴随云计算的发展，云对象存储成为最主要的云存储形式之一，S3成为云对象存储的事实标准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2015年之后，以Snowflake为代表的云数据仓库将以S3为代表的云对象存储用于数据存储，S3开始逐渐取代HDFS，成为大数据存储的事实标准</a:t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S3的Web控制台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32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1582000" y="3100400"/>
            <a:ext cx="1303800" cy="1820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1621750" y="4531400"/>
            <a:ext cx="1709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buckets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S3的Web控制台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3" y="1017725"/>
            <a:ext cx="9022974" cy="36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1734400" y="2806275"/>
            <a:ext cx="1437600" cy="2114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1774150" y="4531400"/>
            <a:ext cx="1709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objects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2917575" y="1241525"/>
            <a:ext cx="1574100" cy="25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007725" y="1494425"/>
            <a:ext cx="1709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key prefix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S3的API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S3提供基于http的REST API，用户可以发送http请求来对S3进行操作和访问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同时Amazon和一些第三方也开发了各种语言的SDK，用户可以调用SDK中提供的函数，由SDK来构造和发送http请求</a:t>
            </a:r>
            <a:endParaRPr/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S3的API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00" y="1058850"/>
            <a:ext cx="203888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3131" y="1058850"/>
            <a:ext cx="203888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912" y="1058850"/>
            <a:ext cx="203888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7199" y="1017725"/>
            <a:ext cx="1941900" cy="32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Amazon S3的API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和B</a:t>
            </a:r>
            <a:r>
              <a:rPr lang="en-GB"/>
              <a:t>ucket相关的基本方法：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CreateBucket：创建bucket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DeleteBucket：删除bucket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ListBuckets：列出用户所有的bucket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HeadBucket：获取bucket的元信息</a:t>
            </a:r>
            <a:endParaRPr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Amazon S3的API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和Object相关的基本方法：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PutObject：写入object，会覆盖同名object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MultipartUpload: 分段并行写入一个object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GetObject：读取object，可通过byte-range参数指定读取object中的一部分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CopyObject：复制object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HeadObject：获取object的元信息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DeleteObject / DeleteObjects：删除object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ListObjects / ListObjectsV2：列出具有相同key-prefix的objects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S3的对象访问权限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S3</a:t>
            </a:r>
            <a:r>
              <a:rPr lang="en-GB"/>
              <a:t>可以设置bucket的访问权限，也可以为单个对象设置访问权限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00" y="1609650"/>
            <a:ext cx="7963799" cy="33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副本一致性问题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</a:t>
            </a:r>
            <a:r>
              <a:rPr lang="en-GB"/>
              <a:t>内部采用类似HDFS的冗余副本机制保证存储服务的高可用性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但多副本会带来replicated consistency（副本一致性 、分布式一致性）问题</a:t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2094644" y="2928971"/>
            <a:ext cx="792088" cy="792088"/>
          </a:xfrm>
          <a:prstGeom prst="flowChartMagneticDisk">
            <a:avLst/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3446773" y="3793067"/>
            <a:ext cx="792088" cy="792088"/>
          </a:xfrm>
          <a:prstGeom prst="flowChartMagneticDisk">
            <a:avLst/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902941" y="2928971"/>
            <a:ext cx="792088" cy="792088"/>
          </a:xfrm>
          <a:prstGeom prst="flowChartMagneticDisk">
            <a:avLst/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2886711" y="2121901"/>
            <a:ext cx="1209900" cy="432000"/>
          </a:xfrm>
          <a:prstGeom prst="rect">
            <a:avLst/>
          </a:prstGeom>
          <a:solidFill>
            <a:srgbClr val="8064A2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A</a:t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 rot="3731375">
            <a:off x="2758273" y="2600041"/>
            <a:ext cx="216055" cy="504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064A2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3139610" y="2638891"/>
            <a:ext cx="704100" cy="290100"/>
          </a:xfrm>
          <a:prstGeom prst="roundRect">
            <a:avLst>
              <a:gd fmla="val 16667" name="adj"/>
            </a:avLst>
          </a:prstGeom>
          <a:solidFill>
            <a:srgbClr val="8064A2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 🡨 7 </a:t>
            </a:r>
            <a:endParaRPr/>
          </a:p>
        </p:txBody>
      </p:sp>
      <p:cxnSp>
        <p:nvCxnSpPr>
          <p:cNvPr id="150" name="Google Shape;150;p24"/>
          <p:cNvCxnSpPr>
            <a:stCxn id="144" idx="3"/>
            <a:endCxn id="145" idx="2"/>
          </p:cNvCxnSpPr>
          <p:nvPr/>
        </p:nvCxnSpPr>
        <p:spPr>
          <a:xfrm>
            <a:off x="2490688" y="3721059"/>
            <a:ext cx="956100" cy="4680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4"/>
          <p:cNvCxnSpPr/>
          <p:nvPr/>
        </p:nvCxnSpPr>
        <p:spPr>
          <a:xfrm flipH="1" rot="10800000">
            <a:off x="4257107" y="3746426"/>
            <a:ext cx="986400" cy="4680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4"/>
          <p:cNvCxnSpPr>
            <a:stCxn id="144" idx="4"/>
          </p:cNvCxnSpPr>
          <p:nvPr/>
        </p:nvCxnSpPr>
        <p:spPr>
          <a:xfrm>
            <a:off x="2886732" y="3325015"/>
            <a:ext cx="2001000" cy="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24"/>
          <p:cNvSpPr/>
          <p:nvPr/>
        </p:nvSpPr>
        <p:spPr>
          <a:xfrm>
            <a:off x="6313334" y="4309827"/>
            <a:ext cx="1209900" cy="432000"/>
          </a:xfrm>
          <a:prstGeom prst="rect">
            <a:avLst/>
          </a:prstGeom>
          <a:solidFill>
            <a:srgbClr val="C0504D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B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 rot="-2869044">
            <a:off x="5909161" y="3558940"/>
            <a:ext cx="215787" cy="79221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504D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6157676" y="3505547"/>
            <a:ext cx="704100" cy="29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x = 5 </a:t>
            </a:r>
            <a:endParaRPr/>
          </a:p>
        </p:txBody>
      </p:sp>
      <p:sp>
        <p:nvSpPr>
          <p:cNvPr id="156" name="Google Shape;156;p24"/>
          <p:cNvSpPr/>
          <p:nvPr/>
        </p:nvSpPr>
        <p:spPr>
          <a:xfrm>
            <a:off x="2138660" y="3174278"/>
            <a:ext cx="704100" cy="288000"/>
          </a:xfrm>
          <a:prstGeom prst="roundRect">
            <a:avLst>
              <a:gd fmla="val 16667" name="adj"/>
            </a:avLst>
          </a:prstGeom>
          <a:solidFill>
            <a:srgbClr val="8064A2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 = 7</a:t>
            </a:r>
            <a:endParaRPr/>
          </a:p>
        </p:txBody>
      </p:sp>
      <p:sp>
        <p:nvSpPr>
          <p:cNvPr id="157" name="Google Shape;157;p24"/>
          <p:cNvSpPr/>
          <p:nvPr/>
        </p:nvSpPr>
        <p:spPr>
          <a:xfrm>
            <a:off x="3490789" y="4096140"/>
            <a:ext cx="704100" cy="288000"/>
          </a:xfrm>
          <a:prstGeom prst="roundRect">
            <a:avLst>
              <a:gd fmla="val 16667" name="adj"/>
            </a:avLst>
          </a:prstGeom>
          <a:solidFill>
            <a:srgbClr val="F7964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 = 0</a:t>
            </a: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4946956" y="3174278"/>
            <a:ext cx="704100" cy="288000"/>
          </a:xfrm>
          <a:prstGeom prst="roundRect">
            <a:avLst>
              <a:gd fmla="val 16667" name="adj"/>
            </a:avLst>
          </a:prstGeom>
          <a:solidFill>
            <a:srgbClr val="9BBB59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 = 5</a:t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1620764" y="4096146"/>
            <a:ext cx="1209900" cy="432000"/>
          </a:xfrm>
          <a:prstGeom prst="rect">
            <a:avLst/>
          </a:prstGeom>
          <a:solidFill>
            <a:srgbClr val="F7964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C</a:t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 rot="-5400000">
            <a:off x="3030729" y="4165835"/>
            <a:ext cx="216000" cy="504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7964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1950563" y="4585161"/>
            <a:ext cx="704100" cy="290100"/>
          </a:xfrm>
          <a:prstGeom prst="roundRect">
            <a:avLst>
              <a:gd fmla="val 16667" name="adj"/>
            </a:avLst>
          </a:prstGeom>
          <a:solidFill>
            <a:srgbClr val="F7964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 🡨 0 </a:t>
            </a:r>
            <a:endParaRPr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CAP理论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CAP Theorem: 在</a:t>
            </a:r>
            <a:r>
              <a:rPr lang="en-GB"/>
              <a:t>分布式系统中，在存在网络分区可能的情况下，系统无法同时提供最高等级的一致性和可用性保证</a:t>
            </a:r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913" y="1704975"/>
            <a:ext cx="2874876" cy="286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2655225" y="4412125"/>
            <a:ext cx="4308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现实系统往往在A和C之间trade-off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S3的一致性模型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</a:t>
            </a:r>
            <a:r>
              <a:rPr lang="en-GB"/>
              <a:t>默认提供Read-After-Write的一致性保证，即一个客户端进程写完一个对象之后，保证任意的客户端进程都可以立即读取到该对象的最新版本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注意：对象没写完是不可见的</a:t>
            </a:r>
            <a:endParaRPr/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S3的</a:t>
            </a:r>
            <a:r>
              <a:rPr lang="en-GB"/>
              <a:t>存储等级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S3的</a:t>
            </a:r>
            <a:r>
              <a:rPr lang="en-GB"/>
              <a:t>存储等级 (storage class) 是一种服务等级协议，不同存储等级对应不同的价格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用户可以根据需要选择不同的存储等级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除了标准的存储等级外，还有：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</a:t>
            </a:r>
            <a:r>
              <a:rPr lang="en-GB"/>
              <a:t>S3的计费模型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存储空间：</a:t>
            </a:r>
            <a:r>
              <a:rPr lang="en-GB"/>
              <a:t>$23 / TB / Month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PUT, COPY, POST, LIST</a:t>
            </a:r>
            <a:r>
              <a:rPr lang="en-GB"/>
              <a:t> requests：$5 / M requests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GET, SELECT, and all other requests：$0.4 / M requests</a:t>
            </a:r>
            <a:endParaRPr/>
          </a:p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33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 vs. HDFS</a:t>
            </a:r>
            <a:endParaRPr/>
          </a:p>
        </p:txBody>
      </p:sp>
      <p:sp>
        <p:nvSpPr>
          <p:cNvPr id="198" name="Google Shape;198;p29"/>
          <p:cNvSpPr txBox="1"/>
          <p:nvPr/>
        </p:nvSpPr>
        <p:spPr>
          <a:xfrm>
            <a:off x="1008525" y="1533475"/>
            <a:ext cx="718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例如一个容量为100TB的存储系统，其Total Cost-of-Ownership (TCO) :</a:t>
            </a:r>
            <a:endParaRPr sz="3600">
              <a:solidFill>
                <a:srgbClr val="595959"/>
              </a:solidFill>
            </a:endParaRPr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844" y="2017325"/>
            <a:ext cx="1500706" cy="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530" y="2908513"/>
            <a:ext cx="2042320" cy="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2608625" y="2031400"/>
            <a:ext cx="616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10节点的本地HDFS集群: </a:t>
            </a:r>
            <a:r>
              <a:rPr b="1" lang="en-GB" sz="1600">
                <a:latin typeface="Calibri"/>
                <a:ea typeface="Calibri"/>
                <a:cs typeface="Calibri"/>
                <a:sym typeface="Calibri"/>
              </a:rPr>
              <a:t>6.5万元/月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(电费和托管 ~2万, 折旧 ~1.5万,  运维成本 ~3万)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2608625" y="2770975"/>
            <a:ext cx="616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AWS S3: </a:t>
            </a:r>
            <a:r>
              <a:rPr b="1" lang="en-GB" sz="1600">
                <a:latin typeface="Calibri"/>
                <a:ea typeface="Calibri"/>
                <a:cs typeface="Calibri"/>
                <a:sym typeface="Calibri"/>
              </a:rPr>
              <a:t>2万元/月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(存储空间： 1.6万, 访问请求 ~0.4万)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2608625" y="3397613"/>
            <a:ext cx="51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并且cloud storage弹性更好，可以无限扩容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430300" y="861650"/>
            <a:ext cx="773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S3-like cloud storage显著降低存储系统的使用成本</a:t>
            </a:r>
            <a:endParaRPr b="1"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692525" y="4219425"/>
            <a:ext cx="730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S3 API逐渐取代HDFS成为大数据存储的事实标准</a:t>
            </a:r>
            <a:endParaRPr/>
          </a:p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基于S3的数据仓库和数据湖</a:t>
            </a:r>
            <a:endParaRPr/>
          </a:p>
        </p:txBody>
      </p:sp>
      <p:cxnSp>
        <p:nvCxnSpPr>
          <p:cNvPr id="212" name="Google Shape;212;p30"/>
          <p:cNvCxnSpPr/>
          <p:nvPr/>
        </p:nvCxnSpPr>
        <p:spPr>
          <a:xfrm>
            <a:off x="736475" y="2887875"/>
            <a:ext cx="7683600" cy="0"/>
          </a:xfrm>
          <a:prstGeom prst="straightConnector1">
            <a:avLst/>
          </a:prstGeom>
          <a:noFill/>
          <a:ln cap="flat" cmpd="sng" w="2286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175" y="3660725"/>
            <a:ext cx="1786449" cy="6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2625" y="3660725"/>
            <a:ext cx="19090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3050" y="3495412"/>
            <a:ext cx="1272300" cy="9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9575" y="3570299"/>
            <a:ext cx="753550" cy="7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/>
          <p:nvPr/>
        </p:nvSpPr>
        <p:spPr>
          <a:xfrm>
            <a:off x="996775" y="3152075"/>
            <a:ext cx="7116300" cy="125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/>
          <p:nvPr/>
        </p:nvSpPr>
        <p:spPr>
          <a:xfrm>
            <a:off x="844375" y="1303625"/>
            <a:ext cx="2396400" cy="1337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3369475" y="1321225"/>
            <a:ext cx="2396400" cy="1337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2587975" y="3157938"/>
            <a:ext cx="393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S3-like Cloud Storage</a:t>
            </a:r>
            <a:endParaRPr b="1" sz="1600"/>
          </a:p>
        </p:txBody>
      </p:sp>
      <p:sp>
        <p:nvSpPr>
          <p:cNvPr id="221" name="Google Shape;221;p30"/>
          <p:cNvSpPr txBox="1"/>
          <p:nvPr/>
        </p:nvSpPr>
        <p:spPr>
          <a:xfrm>
            <a:off x="629275" y="1379825"/>
            <a:ext cx="277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Virtual Machine</a:t>
            </a:r>
            <a:endParaRPr b="1" sz="1600"/>
          </a:p>
        </p:txBody>
      </p:sp>
      <p:sp>
        <p:nvSpPr>
          <p:cNvPr id="222" name="Google Shape;222;p30"/>
          <p:cNvSpPr txBox="1"/>
          <p:nvPr/>
        </p:nvSpPr>
        <p:spPr>
          <a:xfrm>
            <a:off x="2872175" y="1379825"/>
            <a:ext cx="341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Cloud Functions</a:t>
            </a:r>
            <a:endParaRPr b="1" sz="1600"/>
          </a:p>
        </p:txBody>
      </p:sp>
      <p:sp>
        <p:nvSpPr>
          <p:cNvPr id="223" name="Google Shape;223;p30"/>
          <p:cNvSpPr/>
          <p:nvPr/>
        </p:nvSpPr>
        <p:spPr>
          <a:xfrm>
            <a:off x="5894575" y="1303625"/>
            <a:ext cx="2396400" cy="1337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5386775" y="1379825"/>
            <a:ext cx="341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QaaS</a:t>
            </a:r>
            <a:endParaRPr b="1" sz="1600"/>
          </a:p>
        </p:txBody>
      </p:sp>
      <p:pic>
        <p:nvPicPr>
          <p:cNvPr id="225" name="Google Shape;225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5300" y="1702625"/>
            <a:ext cx="1026006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67775" y="1746688"/>
            <a:ext cx="804408" cy="4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6638" y="2168514"/>
            <a:ext cx="1745531" cy="4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91801" y="1716575"/>
            <a:ext cx="1413914" cy="9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29325" y="1792050"/>
            <a:ext cx="1175672" cy="6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27325" y="1702625"/>
            <a:ext cx="1088848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33748" y="2125214"/>
            <a:ext cx="1272300" cy="42741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0"/>
          <p:cNvSpPr txBox="1"/>
          <p:nvPr/>
        </p:nvSpPr>
        <p:spPr>
          <a:xfrm>
            <a:off x="2848825" y="2655138"/>
            <a:ext cx="3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</a:rPr>
              <a:t>Network (100-1000 Gbps)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233" name="Google Shape;2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S3的性能特征</a:t>
            </a:r>
            <a:endParaRPr/>
          </a:p>
        </p:txBody>
      </p:sp>
      <p:pic>
        <p:nvPicPr>
          <p:cNvPr id="239" name="Google Shape;2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50" y="1376825"/>
            <a:ext cx="7735826" cy="270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S3的</a:t>
            </a:r>
            <a:r>
              <a:rPr lang="en-GB"/>
              <a:t>性能特征</a:t>
            </a:r>
            <a:endParaRPr/>
          </a:p>
        </p:txBody>
      </p:sp>
      <p:sp>
        <p:nvSpPr>
          <p:cNvPr id="246" name="Google Shape;24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尾延迟问题：</a:t>
            </a:r>
            <a:endParaRPr/>
          </a:p>
        </p:txBody>
      </p:sp>
      <p:pic>
        <p:nvPicPr>
          <p:cNvPr id="247" name="Google Shape;2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675" y="1102800"/>
            <a:ext cx="6430275" cy="29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3450" y="4099700"/>
            <a:ext cx="4934026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从HDFS向S3的</a:t>
            </a:r>
            <a:r>
              <a:rPr lang="en-GB"/>
              <a:t>过度</a:t>
            </a:r>
            <a:endParaRPr/>
          </a:p>
        </p:txBody>
      </p:sp>
      <p:sp>
        <p:nvSpPr>
          <p:cNvPr id="255" name="Google Shape;255;p33"/>
          <p:cNvSpPr/>
          <p:nvPr/>
        </p:nvSpPr>
        <p:spPr>
          <a:xfrm>
            <a:off x="4847175" y="709725"/>
            <a:ext cx="3993300" cy="4008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Presto / Spark</a:t>
            </a:r>
            <a:endParaRPr/>
          </a:p>
        </p:txBody>
      </p:sp>
      <p:sp>
        <p:nvSpPr>
          <p:cNvPr id="256" name="Google Shape;256;p33"/>
          <p:cNvSpPr/>
          <p:nvPr/>
        </p:nvSpPr>
        <p:spPr>
          <a:xfrm>
            <a:off x="4847175" y="1214950"/>
            <a:ext cx="3993300" cy="4008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ORC / Parquet</a:t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4847175" y="1696125"/>
            <a:ext cx="3993300" cy="529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HDFS FileSystem API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(e.g., Hadoop S3A)</a:t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4847175" y="2329700"/>
            <a:ext cx="3993300" cy="4008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 / Azure Blob Store…</a:t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221875" y="1032863"/>
            <a:ext cx="5277900" cy="1313400"/>
          </a:xfrm>
          <a:prstGeom prst="wedgeEllipseCallout">
            <a:avLst>
              <a:gd fmla="val 56024" name="adj1"/>
              <a:gd fmla="val 17878" name="adj2"/>
            </a:avLst>
          </a:prstGeom>
          <a:solidFill>
            <a:srgbClr val="FFFFFF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现有云</a:t>
            </a:r>
            <a:r>
              <a:rPr lang="en-GB" sz="1600"/>
              <a:t>数仓</a:t>
            </a:r>
            <a:r>
              <a:rPr lang="en-GB" sz="1600"/>
              <a:t>中</a:t>
            </a:r>
            <a:r>
              <a:rPr lang="en-GB" sz="1600">
                <a:solidFill>
                  <a:srgbClr val="000000"/>
                </a:solidFill>
              </a:rPr>
              <a:t>继承了</a:t>
            </a:r>
            <a:r>
              <a:rPr lang="en-GB" sz="1600"/>
              <a:t>HDFS的I/O模型：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/>
              <a:t>同步 I/O，FCFS.</a:t>
            </a:r>
            <a:endParaRPr sz="1600" u="sng"/>
          </a:p>
        </p:txBody>
      </p:sp>
      <p:cxnSp>
        <p:nvCxnSpPr>
          <p:cNvPr id="260" name="Google Shape;260;p33"/>
          <p:cNvCxnSpPr/>
          <p:nvPr/>
        </p:nvCxnSpPr>
        <p:spPr>
          <a:xfrm>
            <a:off x="2707646" y="2877705"/>
            <a:ext cx="3859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33"/>
          <p:cNvCxnSpPr/>
          <p:nvPr/>
        </p:nvCxnSpPr>
        <p:spPr>
          <a:xfrm flipH="1" rot="10800000">
            <a:off x="3345614" y="296542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33"/>
          <p:cNvSpPr txBox="1"/>
          <p:nvPr/>
        </p:nvSpPr>
        <p:spPr>
          <a:xfrm>
            <a:off x="1967093" y="3320293"/>
            <a:ext cx="10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33"/>
          <p:cNvCxnSpPr/>
          <p:nvPr/>
        </p:nvCxnSpPr>
        <p:spPr>
          <a:xfrm>
            <a:off x="2707646" y="3657170"/>
            <a:ext cx="3774600" cy="11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3"/>
          <p:cNvCxnSpPr/>
          <p:nvPr/>
        </p:nvCxnSpPr>
        <p:spPr>
          <a:xfrm flipH="1" rot="10800000">
            <a:off x="3944663" y="2965430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33"/>
          <p:cNvCxnSpPr/>
          <p:nvPr/>
        </p:nvCxnSpPr>
        <p:spPr>
          <a:xfrm flipH="1" rot="10800000">
            <a:off x="4498500" y="296541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33"/>
          <p:cNvCxnSpPr/>
          <p:nvPr/>
        </p:nvCxnSpPr>
        <p:spPr>
          <a:xfrm flipH="1" rot="10800000">
            <a:off x="5030950" y="296542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33"/>
          <p:cNvCxnSpPr/>
          <p:nvPr/>
        </p:nvCxnSpPr>
        <p:spPr>
          <a:xfrm flipH="1" rot="10800000">
            <a:off x="5574087" y="2985330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33"/>
          <p:cNvCxnSpPr/>
          <p:nvPr/>
        </p:nvCxnSpPr>
        <p:spPr>
          <a:xfrm>
            <a:off x="3499798" y="29685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33"/>
          <p:cNvCxnSpPr/>
          <p:nvPr/>
        </p:nvCxnSpPr>
        <p:spPr>
          <a:xfrm>
            <a:off x="4098847" y="29884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3"/>
          <p:cNvCxnSpPr/>
          <p:nvPr/>
        </p:nvCxnSpPr>
        <p:spPr>
          <a:xfrm>
            <a:off x="4624459" y="29884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3"/>
          <p:cNvCxnSpPr/>
          <p:nvPr/>
        </p:nvCxnSpPr>
        <p:spPr>
          <a:xfrm>
            <a:off x="5162496" y="29884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33"/>
          <p:cNvCxnSpPr/>
          <p:nvPr/>
        </p:nvCxnSpPr>
        <p:spPr>
          <a:xfrm>
            <a:off x="5708958" y="29884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73" name="Google Shape;273;p33"/>
          <p:cNvSpPr/>
          <p:nvPr/>
        </p:nvSpPr>
        <p:spPr>
          <a:xfrm>
            <a:off x="5964811" y="3601993"/>
            <a:ext cx="159300" cy="1317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796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 txBox="1"/>
          <p:nvPr/>
        </p:nvSpPr>
        <p:spPr>
          <a:xfrm>
            <a:off x="6103020" y="3279975"/>
            <a:ext cx="176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return results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349" y="2677274"/>
            <a:ext cx="1054554" cy="40084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6553200" y="4683919"/>
            <a:ext cx="243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7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1008000" y="4058800"/>
            <a:ext cx="717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高延迟 + 同步I/O = 很低的I/O利用率</a:t>
            </a:r>
            <a:endParaRPr b="1"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如何发挥S3的高带宽、高吞吐，降低延迟对性能的影响？</a:t>
            </a:r>
            <a:endParaRPr b="1"/>
          </a:p>
        </p:txBody>
      </p:sp>
      <p:sp>
        <p:nvSpPr>
          <p:cNvPr id="278" name="Google Shape;27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从两个维度解决问题</a:t>
            </a:r>
            <a:endParaRPr/>
          </a:p>
        </p:txBody>
      </p:sp>
      <p:sp>
        <p:nvSpPr>
          <p:cNvPr id="284" name="Google Shape;284;p34"/>
          <p:cNvSpPr txBox="1"/>
          <p:nvPr/>
        </p:nvSpPr>
        <p:spPr>
          <a:xfrm>
            <a:off x="6553200" y="4683919"/>
            <a:ext cx="243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7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250" y="262475"/>
            <a:ext cx="970450" cy="9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7025" y="3633975"/>
            <a:ext cx="950925" cy="97375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4"/>
          <p:cNvSpPr/>
          <p:nvPr/>
        </p:nvSpPr>
        <p:spPr>
          <a:xfrm>
            <a:off x="4833075" y="1587063"/>
            <a:ext cx="2218800" cy="357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request merging (RM)</a:t>
            </a:r>
            <a:endParaRPr/>
          </a:p>
        </p:txBody>
      </p:sp>
      <p:sp>
        <p:nvSpPr>
          <p:cNvPr id="288" name="Google Shape;288;p34"/>
          <p:cNvSpPr/>
          <p:nvPr/>
        </p:nvSpPr>
        <p:spPr>
          <a:xfrm>
            <a:off x="4833075" y="2287425"/>
            <a:ext cx="2218800" cy="357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straggler mitigation (SM)</a:t>
            </a:r>
            <a:endParaRPr/>
          </a:p>
        </p:txBody>
      </p:sp>
      <p:sp>
        <p:nvSpPr>
          <p:cNvPr id="289" name="Google Shape;289;p34"/>
          <p:cNvSpPr/>
          <p:nvPr/>
        </p:nvSpPr>
        <p:spPr>
          <a:xfrm>
            <a:off x="4833075" y="2987788"/>
            <a:ext cx="2218800" cy="357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async reading (AR)</a:t>
            </a:r>
            <a:endParaRPr/>
          </a:p>
        </p:txBody>
      </p:sp>
      <p:cxnSp>
        <p:nvCxnSpPr>
          <p:cNvPr id="290" name="Google Shape;290;p34"/>
          <p:cNvCxnSpPr>
            <a:stCxn id="285" idx="2"/>
            <a:endCxn id="287" idx="0"/>
          </p:cNvCxnSpPr>
          <p:nvPr/>
        </p:nvCxnSpPr>
        <p:spPr>
          <a:xfrm>
            <a:off x="5942475" y="1244375"/>
            <a:ext cx="0" cy="3426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4"/>
          <p:cNvCxnSpPr>
            <a:stCxn id="287" idx="2"/>
            <a:endCxn id="288" idx="0"/>
          </p:cNvCxnSpPr>
          <p:nvPr/>
        </p:nvCxnSpPr>
        <p:spPr>
          <a:xfrm>
            <a:off x="5942475" y="1944363"/>
            <a:ext cx="0" cy="3432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34"/>
          <p:cNvCxnSpPr>
            <a:stCxn id="288" idx="2"/>
            <a:endCxn id="289" idx="0"/>
          </p:cNvCxnSpPr>
          <p:nvPr/>
        </p:nvCxnSpPr>
        <p:spPr>
          <a:xfrm>
            <a:off x="5942475" y="2644725"/>
            <a:ext cx="0" cy="3432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4"/>
          <p:cNvCxnSpPr>
            <a:stCxn id="289" idx="2"/>
            <a:endCxn id="286" idx="0"/>
          </p:cNvCxnSpPr>
          <p:nvPr/>
        </p:nvCxnSpPr>
        <p:spPr>
          <a:xfrm>
            <a:off x="5942475" y="3345088"/>
            <a:ext cx="0" cy="2889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34"/>
          <p:cNvSpPr/>
          <p:nvPr/>
        </p:nvSpPr>
        <p:spPr>
          <a:xfrm>
            <a:off x="4414050" y="1517275"/>
            <a:ext cx="315900" cy="1217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 txBox="1"/>
          <p:nvPr/>
        </p:nvSpPr>
        <p:spPr>
          <a:xfrm>
            <a:off x="1140750" y="1848775"/>
            <a:ext cx="327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维度1：如何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减少</a:t>
            </a:r>
            <a:r>
              <a:rPr lang="en-GB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延迟</a:t>
            </a:r>
            <a:endParaRPr/>
          </a:p>
        </p:txBody>
      </p:sp>
      <p:sp>
        <p:nvSpPr>
          <p:cNvPr id="296" name="Google Shape;296;p34"/>
          <p:cNvSpPr txBox="1"/>
          <p:nvPr/>
        </p:nvSpPr>
        <p:spPr>
          <a:xfrm>
            <a:off x="1140500" y="2881000"/>
            <a:ext cx="327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维度2：如何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隐藏</a:t>
            </a:r>
            <a:r>
              <a:rPr lang="en-GB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延迟</a:t>
            </a:r>
            <a:endParaRPr/>
          </a:p>
        </p:txBody>
      </p:sp>
      <p:sp>
        <p:nvSpPr>
          <p:cNvPr id="297" name="Google Shape;297;p34"/>
          <p:cNvSpPr/>
          <p:nvPr/>
        </p:nvSpPr>
        <p:spPr>
          <a:xfrm>
            <a:off x="4414050" y="2881000"/>
            <a:ext cx="315900" cy="554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减少延迟方法1：request merging (RM)</a:t>
            </a:r>
            <a:endParaRPr/>
          </a:p>
        </p:txBody>
      </p:sp>
      <p:sp>
        <p:nvSpPr>
          <p:cNvPr id="304" name="Google Shape;30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5"/>
          <p:cNvSpPr txBox="1"/>
          <p:nvPr/>
        </p:nvSpPr>
        <p:spPr>
          <a:xfrm>
            <a:off x="457200" y="1089203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将经常被共同访问的数据单元</a:t>
            </a: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(column chunks) 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存放得更近；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在查询执行时，将这些数据单元上的small requests合并成一个request</a:t>
            </a: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477470" y="2251924"/>
            <a:ext cx="3775800" cy="403800"/>
          </a:xfrm>
          <a:prstGeom prst="rect">
            <a:avLst/>
          </a:prstGeom>
          <a:solidFill>
            <a:srgbClr val="EEE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5"/>
          <p:cNvSpPr/>
          <p:nvPr/>
        </p:nvSpPr>
        <p:spPr>
          <a:xfrm>
            <a:off x="683609" y="2236686"/>
            <a:ext cx="215400" cy="426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5"/>
          <p:cNvSpPr/>
          <p:nvPr/>
        </p:nvSpPr>
        <p:spPr>
          <a:xfrm>
            <a:off x="1206426" y="2236686"/>
            <a:ext cx="215400" cy="426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5"/>
          <p:cNvSpPr/>
          <p:nvPr/>
        </p:nvSpPr>
        <p:spPr>
          <a:xfrm>
            <a:off x="2368242" y="2236686"/>
            <a:ext cx="215400" cy="4266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"/>
          <p:cNvSpPr/>
          <p:nvPr/>
        </p:nvSpPr>
        <p:spPr>
          <a:xfrm>
            <a:off x="3530058" y="2236686"/>
            <a:ext cx="215400" cy="426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"/>
          <p:cNvSpPr/>
          <p:nvPr/>
        </p:nvSpPr>
        <p:spPr>
          <a:xfrm>
            <a:off x="4322707" y="2986627"/>
            <a:ext cx="3775800" cy="403800"/>
          </a:xfrm>
          <a:prstGeom prst="rect">
            <a:avLst/>
          </a:prstGeom>
          <a:solidFill>
            <a:srgbClr val="EEE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/>
          <p:nvPr/>
        </p:nvSpPr>
        <p:spPr>
          <a:xfrm>
            <a:off x="4528846" y="2971388"/>
            <a:ext cx="215400" cy="426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5"/>
          <p:cNvSpPr/>
          <p:nvPr/>
        </p:nvSpPr>
        <p:spPr>
          <a:xfrm>
            <a:off x="4819300" y="2971388"/>
            <a:ext cx="215400" cy="426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5"/>
          <p:cNvSpPr/>
          <p:nvPr/>
        </p:nvSpPr>
        <p:spPr>
          <a:xfrm>
            <a:off x="5167845" y="2971388"/>
            <a:ext cx="215400" cy="4266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5"/>
          <p:cNvSpPr/>
          <p:nvPr/>
        </p:nvSpPr>
        <p:spPr>
          <a:xfrm>
            <a:off x="5400208" y="2971388"/>
            <a:ext cx="215400" cy="426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"/>
          <p:cNvSpPr/>
          <p:nvPr/>
        </p:nvSpPr>
        <p:spPr>
          <a:xfrm>
            <a:off x="4478245" y="2922618"/>
            <a:ext cx="1218000" cy="521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5"/>
          <p:cNvSpPr/>
          <p:nvPr/>
        </p:nvSpPr>
        <p:spPr>
          <a:xfrm rot="2040888">
            <a:off x="3586433" y="2926114"/>
            <a:ext cx="469783" cy="25966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"/>
          <p:cNvSpPr txBox="1"/>
          <p:nvPr/>
        </p:nvSpPr>
        <p:spPr>
          <a:xfrm>
            <a:off x="4187791" y="3509436"/>
            <a:ext cx="324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合并成一个request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5"/>
          <p:cNvSpPr txBox="1"/>
          <p:nvPr/>
        </p:nvSpPr>
        <p:spPr>
          <a:xfrm>
            <a:off x="4691841" y="2065603"/>
            <a:ext cx="3775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Calibri"/>
                <a:ea typeface="Calibri"/>
                <a:cs typeface="Calibri"/>
                <a:sym typeface="Calibri"/>
              </a:rPr>
              <a:t>Merging gap: 两个可被合并的request间的最大距离.</a:t>
            </a:r>
            <a:endParaRPr i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457200" y="4371926"/>
            <a:ext cx="8229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减少request数量 → 降低延迟开销.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减少延迟方法2：straggler mitigation (SM)</a:t>
            </a:r>
            <a:endParaRPr/>
          </a:p>
        </p:txBody>
      </p:sp>
      <p:sp>
        <p:nvSpPr>
          <p:cNvPr id="326" name="Google Shape;32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7" name="Google Shape;327;p36"/>
          <p:cNvSpPr txBox="1"/>
          <p:nvPr/>
        </p:nvSpPr>
        <p:spPr>
          <a:xfrm>
            <a:off x="457200" y="914404"/>
            <a:ext cx="82296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Straggler的占比与request rate有相关性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36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5703" y="1410300"/>
            <a:ext cx="5116296" cy="28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6"/>
          <p:cNvSpPr txBox="1"/>
          <p:nvPr/>
        </p:nvSpPr>
        <p:spPr>
          <a:xfrm>
            <a:off x="457200" y="4175353"/>
            <a:ext cx="82296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控制request rate → 减少straggler数量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并对剩余的少量straggler进行重试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36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600" y="1410300"/>
            <a:ext cx="3516726" cy="158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隐藏延迟方法：async reading (AR)</a:t>
            </a:r>
            <a:endParaRPr/>
          </a:p>
        </p:txBody>
      </p:sp>
      <p:sp>
        <p:nvSpPr>
          <p:cNvPr id="336" name="Google Shape;3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37" name="Google Shape;337;p37"/>
          <p:cNvCxnSpPr/>
          <p:nvPr/>
        </p:nvCxnSpPr>
        <p:spPr>
          <a:xfrm>
            <a:off x="1412246" y="1658505"/>
            <a:ext cx="3859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37"/>
          <p:cNvCxnSpPr/>
          <p:nvPr/>
        </p:nvCxnSpPr>
        <p:spPr>
          <a:xfrm flipH="1" rot="10800000">
            <a:off x="2050214" y="174622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37"/>
          <p:cNvSpPr txBox="1"/>
          <p:nvPr/>
        </p:nvSpPr>
        <p:spPr>
          <a:xfrm>
            <a:off x="108000" y="2127450"/>
            <a:ext cx="118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Parquet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37"/>
          <p:cNvCxnSpPr/>
          <p:nvPr/>
        </p:nvCxnSpPr>
        <p:spPr>
          <a:xfrm>
            <a:off x="1412246" y="2437970"/>
            <a:ext cx="3774600" cy="11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7"/>
          <p:cNvCxnSpPr/>
          <p:nvPr/>
        </p:nvCxnSpPr>
        <p:spPr>
          <a:xfrm flipH="1" rot="10800000">
            <a:off x="2649263" y="1746230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37"/>
          <p:cNvCxnSpPr/>
          <p:nvPr/>
        </p:nvCxnSpPr>
        <p:spPr>
          <a:xfrm flipH="1" rot="10800000">
            <a:off x="3203100" y="174621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37"/>
          <p:cNvCxnSpPr/>
          <p:nvPr/>
        </p:nvCxnSpPr>
        <p:spPr>
          <a:xfrm flipH="1" rot="10800000">
            <a:off x="3735550" y="174622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7"/>
          <p:cNvCxnSpPr/>
          <p:nvPr/>
        </p:nvCxnSpPr>
        <p:spPr>
          <a:xfrm flipH="1" rot="10800000">
            <a:off x="4278687" y="1766130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37"/>
          <p:cNvCxnSpPr/>
          <p:nvPr/>
        </p:nvCxnSpPr>
        <p:spPr>
          <a:xfrm>
            <a:off x="2204398" y="17493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7"/>
          <p:cNvCxnSpPr/>
          <p:nvPr/>
        </p:nvCxnSpPr>
        <p:spPr>
          <a:xfrm>
            <a:off x="2803447" y="17692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37"/>
          <p:cNvCxnSpPr/>
          <p:nvPr/>
        </p:nvCxnSpPr>
        <p:spPr>
          <a:xfrm>
            <a:off x="3329059" y="17692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37"/>
          <p:cNvCxnSpPr/>
          <p:nvPr/>
        </p:nvCxnSpPr>
        <p:spPr>
          <a:xfrm>
            <a:off x="3867096" y="17692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7"/>
          <p:cNvCxnSpPr/>
          <p:nvPr/>
        </p:nvCxnSpPr>
        <p:spPr>
          <a:xfrm>
            <a:off x="4413558" y="17692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50" name="Google Shape;350;p37"/>
          <p:cNvSpPr/>
          <p:nvPr/>
        </p:nvSpPr>
        <p:spPr>
          <a:xfrm>
            <a:off x="4821811" y="2382793"/>
            <a:ext cx="159300" cy="1317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796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49" y="1458074"/>
            <a:ext cx="1054554" cy="4008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37"/>
          <p:cNvCxnSpPr/>
          <p:nvPr/>
        </p:nvCxnSpPr>
        <p:spPr>
          <a:xfrm>
            <a:off x="1412246" y="3411105"/>
            <a:ext cx="3859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37"/>
          <p:cNvCxnSpPr/>
          <p:nvPr/>
        </p:nvCxnSpPr>
        <p:spPr>
          <a:xfrm flipH="1" rot="10800000">
            <a:off x="2050214" y="349882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37"/>
          <p:cNvSpPr txBox="1"/>
          <p:nvPr/>
        </p:nvSpPr>
        <p:spPr>
          <a:xfrm>
            <a:off x="143103" y="3880050"/>
            <a:ext cx="11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Pixels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37"/>
          <p:cNvCxnSpPr/>
          <p:nvPr/>
        </p:nvCxnSpPr>
        <p:spPr>
          <a:xfrm>
            <a:off x="1412246" y="4190570"/>
            <a:ext cx="3774600" cy="11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7"/>
          <p:cNvCxnSpPr/>
          <p:nvPr/>
        </p:nvCxnSpPr>
        <p:spPr>
          <a:xfrm flipH="1" rot="10800000">
            <a:off x="2115863" y="3498830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37"/>
          <p:cNvCxnSpPr/>
          <p:nvPr/>
        </p:nvCxnSpPr>
        <p:spPr>
          <a:xfrm flipH="1" rot="10800000">
            <a:off x="2207088" y="349881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37"/>
          <p:cNvCxnSpPr/>
          <p:nvPr/>
        </p:nvCxnSpPr>
        <p:spPr>
          <a:xfrm flipH="1" rot="10800000">
            <a:off x="2278075" y="3498827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37"/>
          <p:cNvCxnSpPr/>
          <p:nvPr/>
        </p:nvCxnSpPr>
        <p:spPr>
          <a:xfrm flipH="1" rot="10800000">
            <a:off x="2373687" y="3518730"/>
            <a:ext cx="74400" cy="686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37"/>
          <p:cNvCxnSpPr/>
          <p:nvPr/>
        </p:nvCxnSpPr>
        <p:spPr>
          <a:xfrm>
            <a:off x="2205760" y="35019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7"/>
          <p:cNvCxnSpPr/>
          <p:nvPr/>
        </p:nvCxnSpPr>
        <p:spPr>
          <a:xfrm>
            <a:off x="2298322" y="35019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7"/>
          <p:cNvCxnSpPr/>
          <p:nvPr/>
        </p:nvCxnSpPr>
        <p:spPr>
          <a:xfrm>
            <a:off x="2414659" y="35218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7"/>
          <p:cNvCxnSpPr/>
          <p:nvPr/>
        </p:nvCxnSpPr>
        <p:spPr>
          <a:xfrm>
            <a:off x="2495496" y="35218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37"/>
          <p:cNvCxnSpPr/>
          <p:nvPr/>
        </p:nvCxnSpPr>
        <p:spPr>
          <a:xfrm>
            <a:off x="2584758" y="3521868"/>
            <a:ext cx="212700" cy="6798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65" name="Google Shape;365;p37"/>
          <p:cNvSpPr/>
          <p:nvPr/>
        </p:nvSpPr>
        <p:spPr>
          <a:xfrm>
            <a:off x="3450211" y="4135393"/>
            <a:ext cx="159300" cy="1317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796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49" y="3210674"/>
            <a:ext cx="1054554" cy="40084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7"/>
          <p:cNvSpPr/>
          <p:nvPr/>
        </p:nvSpPr>
        <p:spPr>
          <a:xfrm rot="5400000">
            <a:off x="2916750" y="2662038"/>
            <a:ext cx="719700" cy="53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7"/>
          <p:cNvSpPr txBox="1"/>
          <p:nvPr/>
        </p:nvSpPr>
        <p:spPr>
          <a:xfrm>
            <a:off x="457200" y="914402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在</a:t>
            </a: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S3 client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中可以采用</a:t>
            </a: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non-blocking I/O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来实现异步request</a:t>
            </a: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850" y="1593475"/>
            <a:ext cx="3774600" cy="2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457200" y="4424051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对小于 1MB的request自适应地采用异步模式.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7"/>
          <p:cNvSpPr txBox="1"/>
          <p:nvPr/>
        </p:nvSpPr>
        <p:spPr>
          <a:xfrm>
            <a:off x="6553200" y="4683919"/>
            <a:ext cx="243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7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实验数据</a:t>
            </a:r>
            <a:endParaRPr/>
          </a:p>
        </p:txBody>
      </p:sp>
      <p:sp>
        <p:nvSpPr>
          <p:cNvPr id="377" name="Google Shape;37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8" name="Google Shape;378;p38"/>
          <p:cNvSpPr txBox="1"/>
          <p:nvPr/>
        </p:nvSpPr>
        <p:spPr>
          <a:xfrm>
            <a:off x="311700" y="874050"/>
            <a:ext cx="85206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1. TPCH (100GB)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2. 真实负载: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379" name="Google Shape;379;p38"/>
          <p:cNvSpPr txBox="1"/>
          <p:nvPr/>
        </p:nvSpPr>
        <p:spPr>
          <a:xfrm>
            <a:off x="1122850" y="4256425"/>
            <a:ext cx="6837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1" lang="en-GB" sz="1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900">
                <a:latin typeface="Calibri"/>
                <a:ea typeface="Calibri"/>
                <a:cs typeface="Calibri"/>
                <a:sym typeface="Calibri"/>
              </a:rPr>
              <a:t>…. </a:t>
            </a:r>
            <a:r>
              <a:rPr b="1" lang="en-GB" sz="1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1" lang="en-GB" sz="1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900"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1" lang="en-GB" sz="1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1" lang="en-GB" sz="1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900"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b="1" lang="en-GB" sz="1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lang="en-GB" sz="1900"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b="1" lang="en-GB" sz="1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ORDER BY</a:t>
            </a:r>
            <a:r>
              <a:rPr b="1" lang="en-GB" sz="1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9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306" y="1842350"/>
            <a:ext cx="6601995" cy="1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8"/>
          <p:cNvSpPr/>
          <p:nvPr/>
        </p:nvSpPr>
        <p:spPr>
          <a:xfrm>
            <a:off x="3518650" y="2107500"/>
            <a:ext cx="1358100" cy="167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8"/>
          <p:cNvSpPr/>
          <p:nvPr/>
        </p:nvSpPr>
        <p:spPr>
          <a:xfrm>
            <a:off x="4876750" y="2107500"/>
            <a:ext cx="1371600" cy="167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8"/>
          <p:cNvSpPr/>
          <p:nvPr/>
        </p:nvSpPr>
        <p:spPr>
          <a:xfrm>
            <a:off x="7061950" y="2107500"/>
            <a:ext cx="618600" cy="167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8"/>
          <p:cNvSpPr/>
          <p:nvPr/>
        </p:nvSpPr>
        <p:spPr>
          <a:xfrm>
            <a:off x="6241675" y="2107500"/>
            <a:ext cx="811500" cy="167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8"/>
          <p:cNvSpPr txBox="1"/>
          <p:nvPr/>
        </p:nvSpPr>
        <p:spPr>
          <a:xfrm>
            <a:off x="3489450" y="3751525"/>
            <a:ext cx="158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Small string queries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8"/>
          <p:cNvSpPr txBox="1"/>
          <p:nvPr/>
        </p:nvSpPr>
        <p:spPr>
          <a:xfrm>
            <a:off x="4794125" y="3751525"/>
            <a:ext cx="158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Integer queries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8"/>
          <p:cNvSpPr txBox="1"/>
          <p:nvPr/>
        </p:nvSpPr>
        <p:spPr>
          <a:xfrm>
            <a:off x="6208050" y="3745950"/>
            <a:ext cx="117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Large string queries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8"/>
          <p:cNvSpPr txBox="1"/>
          <p:nvPr/>
        </p:nvSpPr>
        <p:spPr>
          <a:xfrm>
            <a:off x="1499200" y="1299175"/>
            <a:ext cx="592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1187列, 960GB CSV (压缩编码后303GB), 547 unique queries.</a:t>
            </a:r>
            <a:endParaRPr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真实负载上各种方法的效果</a:t>
            </a:r>
            <a:endParaRPr/>
          </a:p>
        </p:txBody>
      </p:sp>
      <p:sp>
        <p:nvSpPr>
          <p:cNvPr id="394" name="Google Shape;39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5" name="Google Shape;3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12650"/>
            <a:ext cx="5977245" cy="27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9"/>
          <p:cNvSpPr txBox="1"/>
          <p:nvPr/>
        </p:nvSpPr>
        <p:spPr>
          <a:xfrm>
            <a:off x="5536650" y="-8275"/>
            <a:ext cx="36432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Presto-0.215, Ubuntu-20.04-x86-64, Java-1.8.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EC2 m5.12xlarge instance, 48 vCPUs, 192GB RAM, 12Gbps network.</a:t>
            </a:r>
            <a:endParaRPr sz="1000"/>
          </a:p>
        </p:txBody>
      </p:sp>
      <p:pic>
        <p:nvPicPr>
          <p:cNvPr id="397" name="Google Shape;3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650" y="789125"/>
            <a:ext cx="3439676" cy="4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9"/>
          <p:cNvSpPr txBox="1"/>
          <p:nvPr/>
        </p:nvSpPr>
        <p:spPr>
          <a:xfrm>
            <a:off x="5815850" y="1681400"/>
            <a:ext cx="3328200" cy="17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RM*: request merging w/o compaction;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RM: request merging w/ compaction;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AR: 自适应的异步I/O;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SM: straggler mitigation.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399" name="Google Shape;399;p39"/>
          <p:cNvSpPr txBox="1"/>
          <p:nvPr/>
        </p:nvSpPr>
        <p:spPr>
          <a:xfrm>
            <a:off x="457200" y="4195450"/>
            <a:ext cx="82296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RM对除q17之外的小查询效果显著.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AR对q5、q9、q24这类有大量small requests的查询有效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SM可以进一步降低I/O开销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9"/>
          <p:cNvSpPr txBox="1"/>
          <p:nvPr/>
        </p:nvSpPr>
        <p:spPr>
          <a:xfrm>
            <a:off x="396700" y="825050"/>
            <a:ext cx="37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与Parquet对比：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TPC-H (SF=100) 上的效果</a:t>
            </a:r>
            <a:endParaRPr/>
          </a:p>
        </p:txBody>
      </p:sp>
      <p:sp>
        <p:nvSpPr>
          <p:cNvPr id="406" name="Google Shape;40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7" name="Google Shape;4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950" y="1124225"/>
            <a:ext cx="6200599" cy="32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0"/>
          <p:cNvSpPr txBox="1"/>
          <p:nvPr/>
        </p:nvSpPr>
        <p:spPr>
          <a:xfrm>
            <a:off x="416850" y="4471150"/>
            <a:ext cx="82296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对非宽表负载也有2x的性能提升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0"/>
          <p:cNvSpPr txBox="1"/>
          <p:nvPr/>
        </p:nvSpPr>
        <p:spPr>
          <a:xfrm>
            <a:off x="6553200" y="4683919"/>
            <a:ext cx="243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7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0"/>
          <p:cNvSpPr txBox="1"/>
          <p:nvPr/>
        </p:nvSpPr>
        <p:spPr>
          <a:xfrm>
            <a:off x="5536650" y="-8275"/>
            <a:ext cx="36432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Presto-0.215, Ubuntu-20.04-x86-64, Java-1.8.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EC2 m5.12xlarge instance, 48 vCPUs, 192GB RAM, 12Gbps network.</a:t>
            </a:r>
            <a:endParaRPr sz="1000"/>
          </a:p>
        </p:txBody>
      </p:sp>
      <p:pic>
        <p:nvPicPr>
          <p:cNvPr id="411" name="Google Shape;41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650" y="789125"/>
            <a:ext cx="3439676" cy="4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Pixels中的</a:t>
            </a:r>
            <a:r>
              <a:rPr lang="en-GB"/>
              <a:t>抽象存储层</a:t>
            </a:r>
            <a:endParaRPr/>
          </a:p>
        </p:txBody>
      </p:sp>
      <p:sp>
        <p:nvSpPr>
          <p:cNvPr id="417" name="Google Shape;41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为了能够支持不同的底层存储，并且针对不同的存储采用不同的优化策略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Pixels中设计了一个抽象的Storage</a:t>
            </a:r>
            <a:endParaRPr/>
          </a:p>
        </p:txBody>
      </p:sp>
      <p:sp>
        <p:nvSpPr>
          <p:cNvPr id="418" name="Google Shape;4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Pixels的</a:t>
            </a:r>
            <a:r>
              <a:rPr lang="en-GB"/>
              <a:t>抽象存储层</a:t>
            </a:r>
            <a:endParaRPr/>
          </a:p>
        </p:txBody>
      </p:sp>
      <p:sp>
        <p:nvSpPr>
          <p:cNvPr id="424" name="Google Shape;424;p42"/>
          <p:cNvSpPr txBox="1"/>
          <p:nvPr>
            <p:ph idx="1" type="body"/>
          </p:nvPr>
        </p:nvSpPr>
        <p:spPr>
          <a:xfrm>
            <a:off x="421350" y="1089125"/>
            <a:ext cx="4054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Storage：</a:t>
            </a:r>
            <a:r>
              <a:rPr lang="en-GB"/>
              <a:t>定义一个存储系统应提供的基本操作，如创建文件、打开文件、删除文件、关闭存储等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StorageProvider：创建具体的Storage实例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StorageFactory：一个自动加载系统中的可用存储系统的工厂类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Scheduler：I/O调度器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SchedulerFactory：自动创建并加载I/O调度器的工厂类</a:t>
            </a:r>
            <a:endParaRPr/>
          </a:p>
        </p:txBody>
      </p:sp>
      <p:sp>
        <p:nvSpPr>
          <p:cNvPr id="425" name="Google Shape;42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6" name="Google Shape;42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950" y="254400"/>
            <a:ext cx="3405300" cy="48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2"/>
          <p:cNvSpPr/>
          <p:nvPr/>
        </p:nvSpPr>
        <p:spPr>
          <a:xfrm>
            <a:off x="5637750" y="4648975"/>
            <a:ext cx="938100" cy="39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2"/>
          <p:cNvSpPr/>
          <p:nvPr/>
        </p:nvSpPr>
        <p:spPr>
          <a:xfrm>
            <a:off x="5637750" y="4276975"/>
            <a:ext cx="938100" cy="275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Pixels中已</a:t>
            </a:r>
            <a:r>
              <a:rPr lang="en-GB"/>
              <a:t>支持的存储系统</a:t>
            </a:r>
            <a:endParaRPr/>
          </a:p>
        </p:txBody>
      </p:sp>
      <p:sp>
        <p:nvSpPr>
          <p:cNvPr id="434" name="Google Shape;434;p43"/>
          <p:cNvSpPr txBox="1"/>
          <p:nvPr>
            <p:ph idx="1" type="body"/>
          </p:nvPr>
        </p:nvSpPr>
        <p:spPr>
          <a:xfrm>
            <a:off x="311700" y="1152475"/>
            <a:ext cx="381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目前Pixels支持S3、MinIO、HDFS、本地文件、Redis、GCS (Google Cloud Storage) 等存储系统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实现一个新的存储系统支持，大约需要1K LoC</a:t>
            </a:r>
            <a:endParaRPr/>
          </a:p>
        </p:txBody>
      </p:sp>
      <p:sp>
        <p:nvSpPr>
          <p:cNvPr id="435" name="Google Shape;43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6" name="Google Shape;43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575" y="135150"/>
            <a:ext cx="4493926" cy="4666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3"/>
          <p:cNvSpPr/>
          <p:nvPr/>
        </p:nvSpPr>
        <p:spPr>
          <a:xfrm>
            <a:off x="4508875" y="3106700"/>
            <a:ext cx="1596600" cy="108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Pixels中已支持的I/O Scheduler</a:t>
            </a:r>
            <a:endParaRPr/>
          </a:p>
        </p:txBody>
      </p:sp>
      <p:sp>
        <p:nvSpPr>
          <p:cNvPr id="443" name="Google Shape;443;p44"/>
          <p:cNvSpPr txBox="1"/>
          <p:nvPr>
            <p:ph idx="1" type="body"/>
          </p:nvPr>
        </p:nvSpPr>
        <p:spPr>
          <a:xfrm>
            <a:off x="311700" y="1152475"/>
            <a:ext cx="336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目前Pixels已经支持Noop、RateLimited、SortMerge三种I/O调度策略</a:t>
            </a:r>
            <a:endParaRPr/>
          </a:p>
        </p:txBody>
      </p:sp>
      <p:sp>
        <p:nvSpPr>
          <p:cNvPr id="444" name="Google Shape;4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5" name="Google Shape;44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250" y="942251"/>
            <a:ext cx="3901876" cy="4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4"/>
          <p:cNvSpPr/>
          <p:nvPr/>
        </p:nvSpPr>
        <p:spPr>
          <a:xfrm>
            <a:off x="5200500" y="4245175"/>
            <a:ext cx="1596600" cy="62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卞昊穹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信息楼125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bianhq@ruc.edu.cn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52" name="Google Shape;45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