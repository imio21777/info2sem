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Slides/notesSlide2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notesSlides/notesSlide9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23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0.xml" ContentType="application/vnd.openxmlformats-officedocument.presentationml.notesSlide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Layouts/slideLayout5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4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1.xml" ContentType="application/vnd.openxmlformats-officedocument.presentationml.notesSlide+xml"/>
  <Override PartName="/ppt/theme/theme2.xml" ContentType="application/vnd.openxmlformats-officedocument.theme+xml"/>
  <Override PartName="/ppt/notesSlides/notesSlide4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7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ppt/notesSlides/notesSlide19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s/slide13.xml" ContentType="application/vnd.openxmlformats-officedocument.presentationml.slide+xml"/>
  <Override PartName="/ppt/notesSlides/notesSlide21.xml" ContentType="application/vnd.openxmlformats-officedocument.presentationml.notesSlide+xml"/>
  <Override PartName="/ppt/theme/theme1.xml" ContentType="application/vnd.openxmlformats-officedocument.theme+xml"/>
  <Override PartName="/ppt/slideLayouts/slideLayout9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5="http://schemas.microsoft.com/office/powerpoint/2012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firstSlideNum="1" mc:Ignorable="p15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9144000" cy="5143500"/>
  <p:notesSz cx="6858000" cy="9144000"/>
  <p:defaultTextStyle>
    <a:defPPr marR="0" lvl="0" algn="l" rtl="false">
      <a:lnSpc>
        <a:spcPct val="100000"/>
      </a:lnSpc>
      <a:spcBef>
        <a:spcPts val="0"/>
      </a:spcBef>
      <a:spcAft>
        <a:spcPts val="0"/>
      </a:spcAft>
    </a:defPPr>
    <a:lvl1pPr marR="0" lvl="0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p="http://schemas.openxmlformats.org/presentationml/2006/main"/>
</file>

<file path=ppt/viewProps.xml><?xml version="1.0" encoding="utf-8"?>
<p:viewPr xmlns:a="http://schemas.openxmlformats.org/drawingml/2006/main" xmlns:p="http://schemas.openxmlformats.org/presentationml/2006/main" showComments="false">
  <p:slideViewPr>
    <p:cSldViewPr snapToGrid="false">
      <p:cViewPr varScale="true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8" Type="http://schemas.openxmlformats.org/officeDocument/2006/relationships/slide" Target="slides/slide8.xml" /><Relationship Id="rId4" Type="http://schemas.openxmlformats.org/officeDocument/2006/relationships/slide" Target="slides/slide4.xml" /><Relationship Id="rId26" Type="http://schemas.openxmlformats.org/officeDocument/2006/relationships/presProps" Target="presProps.xml" /><Relationship Id="rId24" Type="http://schemas.openxmlformats.org/officeDocument/2006/relationships/slide" Target="slides/slide24.xml" /><Relationship Id="rId7" Type="http://schemas.openxmlformats.org/officeDocument/2006/relationships/slide" Target="slides/slide7.xml" /><Relationship Id="rId23" Type="http://schemas.openxmlformats.org/officeDocument/2006/relationships/slide" Target="slides/slide23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6" Type="http://schemas.openxmlformats.org/officeDocument/2006/relationships/slide" Target="slides/slide16.xml" /><Relationship Id="rId0" Type="http://schemas.openxmlformats.org/officeDocument/2006/relationships/slideMaster" Target="slideMasters/slideMaster1.xml" /><Relationship Id="rId5" Type="http://schemas.openxmlformats.org/officeDocument/2006/relationships/slide" Target="slides/slide5.xml" /><Relationship Id="rId14" Type="http://schemas.openxmlformats.org/officeDocument/2006/relationships/slide" Target="slides/slide14.xml" /><Relationship Id="rId9" Type="http://schemas.openxmlformats.org/officeDocument/2006/relationships/slide" Target="slides/slide9.xml" /><Relationship Id="rId27" Type="http://schemas.openxmlformats.org/officeDocument/2006/relationships/viewProps" Target="viewProps.xml" /><Relationship Id="rId15" Type="http://schemas.openxmlformats.org/officeDocument/2006/relationships/slide" Target="slides/slide15.xml" /><Relationship Id="rId22" Type="http://schemas.openxmlformats.org/officeDocument/2006/relationships/slide" Target="slides/slide22.xml" /><Relationship Id="rId17" Type="http://schemas.openxmlformats.org/officeDocument/2006/relationships/slide" Target="slides/slide17.xml" /><Relationship Id="rId11" Type="http://schemas.openxmlformats.org/officeDocument/2006/relationships/slide" Target="slides/slide11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10" Type="http://schemas.openxmlformats.org/officeDocument/2006/relationships/slide" Target="slides/slide10.xml" /><Relationship Id="rId21" Type="http://schemas.openxmlformats.org/officeDocument/2006/relationships/slide" Target="slides/slide21.xml" /><Relationship Id="rId25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20" Type="http://schemas.openxmlformats.org/officeDocument/2006/relationships/slide" Target="slides/slide20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" name="Google Shape;4;n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/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false">
      <a:lnSpc>
        <a:spcPct val="100000"/>
      </a:lnSpc>
      <a:spcBef>
        <a:spcPts val="0"/>
      </a:spcBef>
      <a:spcAft>
        <a:spcPts val="0"/>
      </a:spcAft>
    </a:defPPr>
    <a:lvl1pPr marR="0" lvl="0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6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7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8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9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0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1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2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3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4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3" name="Google Shape;52;p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1;g2f9ad8184b2_0_1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6" name="Google Shape;122;g2f9ad8184b2_0_168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3;g309423563e8_0_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9" name="Google Shape;144;g309423563e8_0_22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50;g2f9ad8184b2_0_25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12" name="Google Shape;151;g2f9ad8184b2_0_255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71;g2f9ad8184b2_0_2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15" name="Google Shape;172;g2f9ad8184b2_0_261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8;g309423563e8_0_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18" name="Google Shape;179;g309423563e8_0_42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2;g2f9ad8184b2_0_2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21" name="Google Shape;203;g2f9ad8184b2_0_267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09;g309423563e8_0_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24" name="Google Shape;210;g309423563e8_0_66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40;g2f9ad8184b2_0_2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27" name="Google Shape;241;g2f9ad8184b2_0_273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48;g309423563e8_0_1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30" name="Google Shape;249;g309423563e8_0_128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272;g309423563e8_0_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33" name="Google Shape;273;g309423563e8_0_97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58;g2f9ad8184b2_0_1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36" name="Google Shape;59;g2f9ad8184b2_0_189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06;g2f9ad8184b2_0_2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39" name="Google Shape;307;g2f9ad8184b2_0_279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313;g309423563e8_0_1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42" name="Google Shape;314;g309423563e8_0_161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346;g309423563e8_0_2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45" name="Google Shape;347;g309423563e8_0_207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367;g309423563e8_0_1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48" name="Google Shape;368;g309423563e8_0_194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374;g309423563e8_0_2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51" name="Google Shape;375;g309423563e8_0_201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66;g2f9ad8184b2_0_1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54" name="Google Shape;67;g2f9ad8184b2_0_196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73;g2f9ad8184b2_0_1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57" name="Google Shape;74;g2f9ad8184b2_0_153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89;g2f9ad8184b2_0_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60" name="Google Shape;90;g2f9ad8184b2_0_90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95;g2f9ad8184b2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63" name="Google Shape;96;g2f9ad8184b2_0_7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102;g2f9ad8184b2_0_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66" name="Google Shape;103;g2f9ad8184b2_0_18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108;g2f9ad8184b2_0_2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69" name="Google Shape;109;g2f9ad8184b2_0_247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114;g2f9ad8184b2_0_1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20000" h="120000" extrusionOk="false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p/>
        </p:txBody>
      </p:sp>
      <p:sp>
        <p:nvSpPr>
          <p:cNvPr id="72" name="Google Shape;115;g2f9ad8184b2_0_183:notes"/>
          <p:cNvSpPr txBox="true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/>
          <p:cNvSpPr txBox="true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true" wrap="square" lIns="91425" tIns="91425" rIns="91425" bIns="91425" anchor="b" anchorCtr="false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/>
            <a:endParaRPr/>
          </a:p>
        </p:txBody>
      </p:sp>
      <p:sp>
        <p:nvSpPr>
          <p:cNvPr id="3" name="Google Shape;11;p2"/>
          <p:cNvSpPr txBox="true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/>
            <a:endParaRPr/>
          </a:p>
        </p:txBody>
      </p:sp>
      <p:sp>
        <p:nvSpPr>
          <p:cNvPr id="4" name="Google Shape;12;p2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secHead">
  <p:cSld name="SECTION_HEADER"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;p3"/>
          <p:cNvSpPr txBox="true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/>
            <a:endParaRPr/>
          </a:p>
        </p:txBody>
      </p:sp>
      <p:sp>
        <p:nvSpPr>
          <p:cNvPr id="7" name="Google Shape;15;p3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tx">
  <p:cSld name="TITLE_AND_BODY"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7;p4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/>
            <a:endParaRPr/>
          </a:p>
        </p:txBody>
      </p:sp>
      <p:sp>
        <p:nvSpPr>
          <p:cNvPr id="12" name="Google Shape;18;p4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/>
            <a:endParaRPr/>
          </a:p>
        </p:txBody>
      </p:sp>
      <p:sp>
        <p:nvSpPr>
          <p:cNvPr id="13" name="Google Shape;19;p4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ColTx">
  <p:cSld name="TITLE_AND_TWO_COLUMNS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21;p5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/>
            <a:endParaRPr/>
          </a:p>
        </p:txBody>
      </p:sp>
      <p:sp>
        <p:nvSpPr>
          <p:cNvPr id="16" name="Google Shape;22;p5"/>
          <p:cNvSpPr txBox="true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/>
            <a:endParaRPr/>
          </a:p>
        </p:txBody>
      </p:sp>
      <p:sp>
        <p:nvSpPr>
          <p:cNvPr id="17" name="Google Shape;23;p5"/>
          <p:cNvSpPr txBox="true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/>
            <a:endParaRPr/>
          </a:p>
        </p:txBody>
      </p:sp>
      <p:sp>
        <p:nvSpPr>
          <p:cNvPr id="18" name="Google Shape;24;p5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itleOnly">
  <p:cSld name="TITLE_ONLY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6;p6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/>
            <a:endParaRPr/>
          </a:p>
        </p:txBody>
      </p:sp>
      <p:sp>
        <p:nvSpPr>
          <p:cNvPr id="21" name="Google Shape;27;p6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ONE_COLUMN_TEXT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9;p7"/>
          <p:cNvSpPr txBox="true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true" wrap="square" lIns="91425" tIns="91425" rIns="91425" bIns="91425" anchor="b" anchorCtr="fals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/>
            <a:endParaRPr/>
          </a:p>
        </p:txBody>
      </p:sp>
      <p:sp>
        <p:nvSpPr>
          <p:cNvPr id="24" name="Google Shape;30;p7"/>
          <p:cNvSpPr txBox="true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/>
            <a:endParaRPr/>
          </a:p>
        </p:txBody>
      </p:sp>
      <p:sp>
        <p:nvSpPr>
          <p:cNvPr id="25" name="Google Shape;31;p7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MAIN_POINT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33;p8"/>
          <p:cNvSpPr txBox="true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/>
            <a:endParaRPr/>
          </a:p>
        </p:txBody>
      </p:sp>
      <p:sp>
        <p:nvSpPr>
          <p:cNvPr id="28" name="Google Shape;34;p8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SECTION_TITLE_AND_DESCRIPTION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7;p9"/>
          <p:cNvSpPr txBox="true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true" wrap="square" lIns="91425" tIns="91425" rIns="91425" bIns="91425" anchor="b" anchorCtr="false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/>
            <a:endParaRPr/>
          </a:p>
        </p:txBody>
      </p:sp>
      <p:sp>
        <p:nvSpPr>
          <p:cNvPr id="32" name="Google Shape;38;p9"/>
          <p:cNvSpPr txBox="true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/>
            <a:endParaRPr/>
          </a:p>
        </p:txBody>
      </p:sp>
      <p:sp>
        <p:nvSpPr>
          <p:cNvPr id="33" name="Google Shape;39;p9"/>
          <p:cNvSpPr txBox="true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/>
            <a:endParaRPr/>
          </a:p>
        </p:txBody>
      </p:sp>
      <p:sp>
        <p:nvSpPr>
          <p:cNvPr id="34" name="Google Shape;40;p9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CAPTION_ONLY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42;p10"/>
          <p:cNvSpPr txBox="true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/>
            <a:endParaRPr/>
          </a:p>
        </p:txBody>
      </p:sp>
      <p:sp>
        <p:nvSpPr>
          <p:cNvPr id="37" name="Google Shape;43;p10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BIG_NUMBER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45;p11"/>
          <p:cNvSpPr txBox="true"/>
          <p:nvPr>
            <p:ph type="title" hasCustomPrompt="tru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true" wrap="square" lIns="91425" tIns="91425" rIns="91425" bIns="91425" anchor="b" anchorCtr="false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/>
            <a:r>
              <a:rPr/>
              <a:t>xx%</a:t>
            </a:r>
            <a:endParaRPr/>
          </a:p>
        </p:txBody>
      </p:sp>
      <p:sp>
        <p:nvSpPr>
          <p:cNvPr id="40" name="Google Shape;46;p11"/>
          <p:cNvSpPr txBox="true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/>
            <a:endParaRPr/>
          </a:p>
        </p:txBody>
      </p:sp>
      <p:sp>
        <p:nvSpPr>
          <p:cNvPr id="41" name="Google Shape;47;p11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49;p12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5" Type="http://schemas.openxmlformats.org/officeDocument/2006/relationships/slideLayout" Target="../slideLayouts/slideLayout6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10" Type="http://schemas.openxmlformats.org/officeDocument/2006/relationships/slideLayout" Target="../slideLayouts/slideLayout11.xml" /><Relationship Id="rId9" Type="http://schemas.openxmlformats.org/officeDocument/2006/relationships/slideLayout" Target="../slideLayouts/slideLayout10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imple-light-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/>
            <a:endParaRPr/>
          </a:p>
        </p:txBody>
      </p:sp>
      <p:sp>
        <p:nvSpPr>
          <p:cNvPr id="3" name="Google Shape;7;p1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/>
            <a:endParaRPr/>
          </a:p>
        </p:txBody>
      </p:sp>
      <p:sp>
        <p:nvSpPr>
          <p:cNvPr id="4" name="Google Shape;8;p1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ctr" anchorCtr="false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false" ftr="false" dt="false"/>
  <p:txStyles>
    <p:titleStyle>
      <a:defPPr marR="0" lvl="0" algn="l" rtl="false">
        <a:lnSpc>
          <a:spcPct val="100000"/>
        </a:lnSpc>
        <a:spcBef>
          <a:spcPts val="0"/>
        </a:spcBef>
        <a:spcAft>
          <a:spcPts val="0"/>
        </a:spcAft>
      </a:defPPr>
      <a:lvl1pPr marR="0" lvl="0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false">
        <a:lnSpc>
          <a:spcPct val="100000"/>
        </a:lnSpc>
        <a:spcBef>
          <a:spcPts val="0"/>
        </a:spcBef>
        <a:spcAft>
          <a:spcPts val="0"/>
        </a:spcAft>
      </a:defPPr>
      <a:lvl1pPr marR="0" lvl="0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false">
        <a:lnSpc>
          <a:spcPct val="100000"/>
        </a:lnSpc>
        <a:spcBef>
          <a:spcPts val="0"/>
        </a:spcBef>
        <a:spcAft>
          <a:spcPts val="0"/>
        </a:spcAft>
      </a:defPPr>
      <a:lvl1pPr marR="0" lvl="0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3" Type="http://schemas.openxmlformats.org/officeDocument/2006/relationships/image" Target="media/image2.png" /><Relationship Id="rId2" Type="http://schemas.openxmlformats.org/officeDocument/2006/relationships/hyperlink" Target="https://github.com/pixelsdb/pixels" TargetMode="External"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12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Relationship Id="rId2" Type="http://schemas.openxmlformats.org/officeDocument/2006/relationships/hyperlink" Target="https://github.com/pixelsdb/mini-pixels" TargetMode="External"/><Relationship Id="rId1" Type="http://schemas.openxmlformats.org/officeDocument/2006/relationships/notesSlide" Target="../notesSlides/notesSlide18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9.xml" /><Relationship Id="rId0" Type="http://schemas.openxmlformats.org/officeDocument/2006/relationships/slideLayout" Target="../slideLayouts/slideLayout3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0.xml" /><Relationship Id="rId0" Type="http://schemas.openxmlformats.org/officeDocument/2006/relationships/slideLayout" Target="../slideLayouts/slideLayout3.xml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image" Target="media/image3.png" /><Relationship Id="rId0" Type="http://schemas.openxmlformats.org/officeDocument/2006/relationships/slideLayout" Target="../slideLayouts/slideLayout3.xml" /><Relationship Id="rId1" Type="http://schemas.openxmlformats.org/officeDocument/2006/relationships/notesSlide" Target="../notesSlides/notesSlide2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2.xml" /><Relationship Id="rId0" Type="http://schemas.openxmlformats.org/officeDocument/2006/relationships/slideLayout" Target="../slideLayouts/slideLayout3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3.xml" /><Relationship Id="rId0" Type="http://schemas.openxmlformats.org/officeDocument/2006/relationships/slideLayout" Target="../slideLayouts/slideLayout3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4.xml" /><Relationship Id="rId0" Type="http://schemas.openxmlformats.org/officeDocument/2006/relationships/slideLayout" Target="../slideLayouts/slideLayout3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3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3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3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3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3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3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8.xml" /><Relationship Id="rId0" Type="http://schemas.openxmlformats.org/officeDocument/2006/relationships/slideLayout" Target="../slideLayouts/slideLayout3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9.xml" /><Relationship Id="rId0" Type="http://schemas.openxmlformats.org/officeDocument/2006/relationships/slideLayout" Target="../slideLayouts/slideLayout3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3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1.xml" /><Relationship Id="rId0" Type="http://schemas.openxmlformats.org/officeDocument/2006/relationships/slideLayout" Target="../slideLayouts/slideLayout3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3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4.xml" /><Relationship Id="rId0" Type="http://schemas.openxmlformats.org/officeDocument/2006/relationships/slideLayout" Target="../slideLayouts/slideLayout3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3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6.xml" /><Relationship Id="rId0" Type="http://schemas.openxmlformats.org/officeDocument/2006/relationships/slideLayout" Target="../slideLayouts/slideLayout3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3"/>
          <p:cNvSpPr txBox="true"/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spcFirstLastPara="true" wrap="square" lIns="91425" tIns="91425" rIns="91425" bIns="91425" anchor="b" anchorCtr="false">
            <a:normAutofit fontScale="100000"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5200"/>
              <a:buFont typeface="Arial"/>
              <a:buNone/>
            </a:pPr>
            <a:r>
              <a:rPr/>
              <a:t>实用数据库开发 (3)</a:t>
            </a:r>
            <a:endParaRPr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5200"/>
              <a:buFont typeface="Arial"/>
              <a:buNone/>
            </a:pPr>
            <a:r>
              <a:rPr/>
              <a:t>Pixels列存储格式简介</a:t>
            </a:r>
            <a:endParaRPr/>
          </a:p>
        </p:txBody>
      </p:sp>
      <p:sp>
        <p:nvSpPr>
          <p:cNvPr id="3" name="Google Shape;55;p13"/>
          <p:cNvSpPr txBox="true"/>
          <p:nvPr>
            <p:ph type="subTitle" idx="1"/>
          </p:nvPr>
        </p:nvSpPr>
        <p:spPr>
          <a:xfrm>
            <a:off x="311700" y="3291325"/>
            <a:ext cx="8520600" cy="12951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62500" lnSpcReduction="20000"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39285"/>
              <a:buFont typeface="Arial"/>
              <a:buNone/>
            </a:pPr>
            <a:r>
              <a:rPr/>
              <a:t>中国人民大学信息学院</a:t>
            </a:r>
            <a:endParaRPr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39285"/>
              <a:buFont typeface="Arial"/>
              <a:buNone/>
            </a:pPr>
            <a:r>
              <a:rPr/>
              <a:t>教师：卞昊穹</a:t>
            </a:r>
            <a:endParaRPr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2">
                  <a:alpha val="100000"/>
                </a:schemeClr>
              </a:buClr>
              <a:buSzPts val="2800"/>
              <a:buFont typeface="Arial"/>
              <a:buNone/>
            </a:pPr>
            <a:r>
              <a:rPr/>
              <a:t>助教：王浩哲，耿东杨，</a:t>
            </a:r>
            <a:r>
              <a:rPr lang="zh-CN"/>
              <a:t>李子诺，李皓月</a:t>
            </a:r>
            <a:endParaRPr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39285"/>
              <a:buFont typeface="Arial"/>
              <a:buNone/>
            </a:pPr>
            <a:r>
              <a:rPr/>
              <a:t>2025-10-11</a:t>
            </a:r>
            <a:endParaRPr/>
          </a:p>
        </p:txBody>
      </p:sp>
      <p:pic>
        <p:nvPicPr>
          <p:cNvPr id="4" name="Google Shape;56;p13"/>
          <p:cNvPicPr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94314" y="202475"/>
            <a:ext cx="1155376" cy="115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61;p14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Pixels是啥？</a:t>
            </a:r>
            <a:endParaRPr/>
          </a:p>
        </p:txBody>
      </p:sp>
      <p:sp>
        <p:nvSpPr>
          <p:cNvPr id="162" name="Google Shape;62;p14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85000" lnSpcReduction="2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2">
                  <a:alpha val="100000"/>
                </a:schemeClr>
              </a:buClr>
              <a:buSzPts val="1800"/>
              <a:buFont typeface="Arial"/>
              <a:buNone/>
            </a:pPr>
            <a:r>
              <a:rPr u="sng">
                <a:solidFill>
                  <a:schemeClr val="hlink">
                    <a:alpha val="100000"/>
                  </a:schemeClr>
                </a:solidFill>
                <a:hlinkClick r:id="rId2"/>
              </a:rPr>
              <a:t>https://github.com/pixelsdb/pixels</a:t>
            </a:r>
            <a:endParaRPr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100"/>
              <a:buFont typeface="Arial"/>
              <a:buNone/>
            </a:pPr>
            <a:r>
              <a:rPr/>
              <a:t>2017年8月第一行代码，目前</a:t>
            </a:r>
            <a:r>
              <a:rPr lang="en-US"/>
              <a:t>24</a:t>
            </a:r>
            <a:r>
              <a:rPr/>
              <a:t>万行代码</a:t>
            </a:r>
            <a:endParaRPr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100"/>
              <a:buFont typeface="Arial"/>
              <a:buNone/>
            </a:pPr>
            <a:r>
              <a:rPr/>
              <a:t>底层文件存储：支持S3, GCS, 本地FS，HDFS, Redis，对S3和HDFS深度优化</a:t>
            </a:r>
            <a:endParaRPr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100"/>
              <a:buFont typeface="Arial"/>
              <a:buNone/>
            </a:pPr>
            <a:r>
              <a:rPr/>
              <a:t>缓存：自带列式缓存</a:t>
            </a:r>
            <a:endParaRPr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100"/>
              <a:buFont typeface="Arial"/>
              <a:buNone/>
            </a:pPr>
            <a:r>
              <a:rPr/>
              <a:t>查询引擎：自带serverless查询引擎，并支持Trino、Presto、DuckDB、Hive</a:t>
            </a:r>
            <a:endParaRPr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100"/>
              <a:buFont typeface="Arial"/>
              <a:buNone/>
            </a:pPr>
            <a:r>
              <a:rPr/>
              <a:t>支持TPC-H全部查询</a:t>
            </a:r>
            <a:endParaRPr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100"/>
              <a:buFont typeface="Arial"/>
              <a:buNone/>
            </a:pPr>
            <a:r>
              <a:rPr/>
              <a:t>支持14种常见数据类型和高维vector</a:t>
            </a:r>
            <a:endParaRPr/>
          </a:p>
          <a:p>
            <a:pPr marL="0" lvl="0" indent="0" algn="l">
              <a:spcBef>
                <a:spcPts val="1200"/>
              </a:spcBef>
              <a:spcAft>
                <a:spcPts val="1200"/>
              </a:spcAft>
              <a:buClr>
                <a:schemeClr val="dk2">
                  <a:alpha val="100000"/>
                </a:schemeClr>
              </a:buClr>
              <a:buSzPts val="1800"/>
              <a:buFont typeface="Arial"/>
              <a:buNone/>
            </a:pPr>
            <a:r>
              <a:rPr/>
              <a:t>支持多服务等级、高性价比查询处理</a:t>
            </a:r>
            <a:endParaRPr/>
          </a:p>
        </p:txBody>
      </p:sp>
      <p:sp>
        <p:nvSpPr>
          <p:cNvPr id="163" name="Google Shape;63;p14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4" name="Google Shape;64;p14"/>
          <p:cNvPicPr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1513" y="445013"/>
            <a:ext cx="1076325" cy="1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69;p15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Mini-Pixels</a:t>
            </a:r>
            <a:endParaRPr/>
          </a:p>
        </p:txBody>
      </p:sp>
      <p:sp>
        <p:nvSpPr>
          <p:cNvPr id="226" name="Google Shape;70;p15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2"/>
              </a:rPr>
              <a:t>https://github.com/pixelsdb/mini-pixels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在Pixels C++版本基础上，精简而来，专门用于数据库内核开发教学的系统框架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只保留必要的基本功能，等待同学完善。</a:t>
            </a:r>
            <a:endParaRPr/>
          </a:p>
        </p:txBody>
      </p:sp>
      <p:sp>
        <p:nvSpPr>
          <p:cNvPr id="227" name="Google Shape;71;p15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2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76;p16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 File Format</a:t>
            </a:r>
            <a:endParaRPr/>
          </a:p>
        </p:txBody>
      </p:sp>
      <p:sp>
        <p:nvSpPr>
          <p:cNvPr id="230" name="Google Shape;77;p16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数据分析系统的典型三层架构</a:t>
            </a:r>
            <a:endParaRPr/>
          </a:p>
        </p:txBody>
      </p:sp>
      <p:sp>
        <p:nvSpPr>
          <p:cNvPr id="231" name="Google Shape;78;p16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2" name="Google Shape;79;p16"/>
          <p:cNvSpPr/>
          <p:nvPr/>
        </p:nvSpPr>
        <p:spPr>
          <a:xfrm>
            <a:off x="1380900" y="4178475"/>
            <a:ext cx="5917200" cy="615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数据存储系统（文件系统、对象存储...）</a:t>
            </a:r>
            <a:endParaRPr/>
          </a:p>
        </p:txBody>
      </p:sp>
      <p:sp>
        <p:nvSpPr>
          <p:cNvPr id="233" name="Google Shape;80;p16"/>
          <p:cNvSpPr/>
          <p:nvPr/>
        </p:nvSpPr>
        <p:spPr>
          <a:xfrm>
            <a:off x="1380900" y="3450825"/>
            <a:ext cx="5917200" cy="615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 File Format (CSV, JSON, Pixels, Parquet, ORC…)</a:t>
            </a:r>
            <a:endParaRPr/>
          </a:p>
        </p:txBody>
      </p:sp>
      <p:sp>
        <p:nvSpPr>
          <p:cNvPr id="234" name="Google Shape;81;p16"/>
          <p:cNvSpPr/>
          <p:nvPr/>
        </p:nvSpPr>
        <p:spPr>
          <a:xfrm>
            <a:off x="1380900" y="2723175"/>
            <a:ext cx="5917200" cy="615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计算引擎或查询引擎</a:t>
            </a:r>
            <a:r>
              <a:rPr lang="en-GB"/>
              <a:t> (Spark, Presto/Trino, DuckDB, TensorFlow…)</a:t>
            </a:r>
            <a:endParaRPr/>
          </a:p>
        </p:txBody>
      </p:sp>
      <p:cxnSp>
        <p:nvCxnSpPr>
          <p:cNvPr id="235" name="Google Shape;82;p16"/>
          <p:cNvCxnSpPr/>
          <p:nvPr/>
        </p:nvCxnSpPr>
        <p:spPr>
          <a:xfrm>
            <a:off x="543775" y="2554300"/>
            <a:ext cx="7598400" cy="0"/>
          </a:xfrm>
          <a:prstGeom prst="straightConnector1">
            <a:avLst/>
          </a:prstGeom>
          <a:noFill/>
          <a:ln w="76200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6" name="Google Shape;83;p16"/>
          <p:cNvSpPr/>
          <p:nvPr/>
        </p:nvSpPr>
        <p:spPr>
          <a:xfrm>
            <a:off x="906875" y="1884250"/>
            <a:ext cx="1259400" cy="4794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机器学习</a:t>
            </a:r>
            <a:endParaRPr/>
          </a:p>
        </p:txBody>
      </p:sp>
      <p:sp>
        <p:nvSpPr>
          <p:cNvPr id="237" name="Google Shape;84;p16"/>
          <p:cNvSpPr/>
          <p:nvPr/>
        </p:nvSpPr>
        <p:spPr>
          <a:xfrm>
            <a:off x="2311400" y="1884250"/>
            <a:ext cx="1259400" cy="4794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数据报表</a:t>
            </a:r>
            <a:endParaRPr/>
          </a:p>
        </p:txBody>
      </p:sp>
      <p:sp>
        <p:nvSpPr>
          <p:cNvPr id="238" name="Google Shape;85;p16"/>
          <p:cNvSpPr/>
          <p:nvPr/>
        </p:nvSpPr>
        <p:spPr>
          <a:xfrm>
            <a:off x="3715925" y="1884250"/>
            <a:ext cx="1259400" cy="4794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决策支持</a:t>
            </a:r>
            <a:endParaRPr/>
          </a:p>
        </p:txBody>
      </p:sp>
      <p:sp>
        <p:nvSpPr>
          <p:cNvPr id="239" name="Google Shape;86;p16"/>
          <p:cNvSpPr/>
          <p:nvPr/>
        </p:nvSpPr>
        <p:spPr>
          <a:xfrm>
            <a:off x="5120450" y="1884250"/>
            <a:ext cx="1259400" cy="4794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仪表盘</a:t>
            </a:r>
            <a:endParaRPr/>
          </a:p>
        </p:txBody>
      </p:sp>
      <p:sp>
        <p:nvSpPr>
          <p:cNvPr id="240" name="Google Shape;87;p16"/>
          <p:cNvSpPr/>
          <p:nvPr/>
        </p:nvSpPr>
        <p:spPr>
          <a:xfrm>
            <a:off x="6524975" y="1884250"/>
            <a:ext cx="1259400" cy="4794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异常监测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92;p17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文件</a:t>
            </a:r>
            <a:r>
              <a:rPr lang="en-GB"/>
              <a:t>格式的</a:t>
            </a:r>
            <a:r>
              <a:rPr lang="en-GB"/>
              <a:t>设计</a:t>
            </a:r>
            <a:endParaRPr/>
          </a:p>
        </p:txBody>
      </p:sp>
      <p:sp>
        <p:nvSpPr>
          <p:cNvPr id="243" name="Google Shape;93;p17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457200" lvl="0" indent="-342900" algn="l" rtl="false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AutoNum type="arabicPeriod"/>
            </a:pPr>
            <a:r>
              <a:rPr lang="en-GB" b="true">
                <a:solidFill>
                  <a:srgbClr val="FF0000"/>
                </a:solidFill>
              </a:rPr>
              <a:t>满足数据访问需求</a:t>
            </a:r>
            <a:endParaRPr b="true">
              <a:solidFill>
                <a:srgbClr val="FF0000"/>
              </a:solidFill>
            </a:endParaRPr>
          </a:p>
          <a:p>
            <a:pPr marL="457200" lvl="0" indent="-342900" algn="l" rtl="false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基于底层的</a:t>
            </a:r>
            <a:r>
              <a:rPr lang="en-GB"/>
              <a:t>存储设备和系统提高</a:t>
            </a:r>
            <a:r>
              <a:rPr lang="en-GB"/>
              <a:t>存储和访问</a:t>
            </a:r>
            <a:r>
              <a:rPr lang="en-GB"/>
              <a:t>效率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存储格式包括：</a:t>
            </a:r>
            <a:endParaRPr/>
          </a:p>
          <a:p>
            <a:pPr marL="457200" lvl="0" indent="-342900" algn="l" rtl="false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800"/>
              <a:buAutoNum type="arabicPeriod"/>
            </a:pPr>
            <a:r>
              <a:rPr lang="en-GB" b="true">
                <a:solidFill>
                  <a:srgbClr val="FF0000"/>
                </a:solidFill>
              </a:rPr>
              <a:t>存储布局</a:t>
            </a:r>
            <a:endParaRPr b="true">
              <a:solidFill>
                <a:srgbClr val="FF0000"/>
              </a:solidFill>
            </a:endParaRPr>
          </a:p>
          <a:p>
            <a:pPr marL="457200" lvl="0" indent="-342900" algn="l" rtl="false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数据的基本操作的</a:t>
            </a:r>
            <a:r>
              <a:rPr lang="en-GB"/>
              <a:t>实现</a:t>
            </a:r>
            <a:r>
              <a:rPr lang="en-GB"/>
              <a:t>，例如投影、谓词过滤等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98;p18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列存储</a:t>
            </a:r>
            <a:endParaRPr/>
          </a:p>
        </p:txBody>
      </p:sp>
      <p:sp>
        <p:nvSpPr>
          <p:cNvPr id="246" name="Google Shape;99;p18"/>
          <p:cNvSpPr txBox="true"/>
          <p:nvPr>
            <p:ph type="body" idx="1"/>
          </p:nvPr>
        </p:nvSpPr>
        <p:spPr>
          <a:xfrm>
            <a:off x="311700" y="1152475"/>
            <a:ext cx="8520600" cy="31086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lnSpcReduction="1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数据在文件中按列连续存储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文件中的header或footer记录了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每个列在文件中的offset和length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以及列的数据类型和数据长度等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列可以是page aligned，但不一定</a:t>
            </a:r>
            <a:endParaRPr/>
          </a:p>
        </p:txBody>
      </p:sp>
      <p:pic>
        <p:nvPicPr>
          <p:cNvPr id="247" name="Google Shape;100;p18"/>
          <p:cNvPicPr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3925" y="1743600"/>
            <a:ext cx="4204200" cy="20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2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105;p19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列存储的优劣</a:t>
            </a:r>
            <a:endParaRPr/>
          </a:p>
        </p:txBody>
      </p:sp>
      <p:sp>
        <p:nvSpPr>
          <p:cNvPr id="250" name="Google Shape;106;p19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劣势</a:t>
            </a:r>
            <a:r>
              <a:rPr lang="en-GB"/>
              <a:t>：</a:t>
            </a:r>
            <a:endParaRPr/>
          </a:p>
          <a:p>
            <a:pPr marL="457200" lvl="0" indent="-342900" algn="l" rtl="false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单行写入或修改效率低</a:t>
            </a:r>
            <a:endParaRPr/>
          </a:p>
          <a:p>
            <a:pPr marL="457200" lvl="0" indent="-342900" algn="l" rtl="false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单行数据访问效率低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优势</a:t>
            </a:r>
            <a:r>
              <a:rPr lang="en-GB"/>
              <a:t>：</a:t>
            </a:r>
            <a:endParaRPr/>
          </a:p>
          <a:p>
            <a:pPr marL="457200" lvl="0" indent="-342900" algn="l" rtl="false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访问表中少数列效率高</a:t>
            </a:r>
            <a:endParaRPr/>
          </a:p>
          <a:p>
            <a:pPr marL="457200" lvl="0" indent="-342900" algn="l" rtl="false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利于数据压缩</a:t>
            </a:r>
            <a:endParaRPr/>
          </a:p>
          <a:p>
            <a:pPr marL="457200" lvl="0" indent="-342900" algn="l" rtl="false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利于实现向量化执行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111;p20"/>
          <p:cNvSpPr txBox="true"/>
          <p:nvPr>
            <p:ph type="title"/>
          </p:nvPr>
        </p:nvSpPr>
        <p:spPr>
          <a:xfrm>
            <a:off x="311700" y="20452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如何设计一个自己的文件格式？</a:t>
            </a:r>
            <a:endParaRPr/>
          </a:p>
        </p:txBody>
      </p:sp>
      <p:sp>
        <p:nvSpPr>
          <p:cNvPr id="253" name="Google Shape;112;p20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2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117;p21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问题1：如何验证文件的有效性（讨论）</a:t>
            </a:r>
            <a:endParaRPr/>
          </a:p>
        </p:txBody>
      </p:sp>
      <p:sp>
        <p:nvSpPr>
          <p:cNvPr id="256" name="Google Shape;118;p21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10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2">
                  <a:alpha val="100000"/>
                </a:schemeClr>
              </a:buClr>
              <a:buSzPts val="1800"/>
              <a:buFont typeface="Arial"/>
              <a:buNone/>
            </a:pPr>
            <a:r>
              <a:rPr/>
              <a:t>例如：</a:t>
            </a:r>
            <a:endParaRPr/>
          </a:p>
          <a:p>
            <a:pPr marL="457200" lvl="0" indent="-342900" algn="l">
              <a:spcBef>
                <a:spcPts val="1200"/>
              </a:spcBef>
              <a:spcAft>
                <a:spcPts val="0"/>
              </a:spcAft>
              <a:buClr>
                <a:schemeClr val="dk2">
                  <a:alpha val="100000"/>
                </a:schemeClr>
              </a:buClr>
              <a:buSzPts val="1800"/>
              <a:buFont typeface="Arial"/>
              <a:buAutoNum type="arabicPeriod"/>
            </a:pPr>
            <a:r>
              <a:rPr/>
              <a:t>张三按照格式A创建了一个文件F1，N天后李四试图按照格式B读取该文件，发生错误，如何避免这样的问题？</a:t>
            </a:r>
            <a:endParaRPr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Clr>
                <a:schemeClr val="dk2">
                  <a:alpha val="100000"/>
                </a:schemeClr>
              </a:buClr>
              <a:buSzPts val="1800"/>
              <a:buFont typeface="Arial"/>
              <a:buNone/>
            </a:pPr>
            <a:endParaRPr/>
          </a:p>
          <a:p>
            <a:pPr marL="114300" lvl="0" indent="0" algn="l">
              <a:spcBef>
                <a:spcPts val="1200"/>
              </a:spcBef>
              <a:spcAft>
                <a:spcPts val="0"/>
              </a:spcAft>
              <a:buClr>
                <a:schemeClr val="dk2">
                  <a:alpha val="100000"/>
                </a:schemeClr>
              </a:buClr>
              <a:buSzPct val="100000"/>
              <a:buFont typeface="Arial"/>
              <a:buNone/>
            </a:pPr>
            <a:r>
              <a:rPr lang="en-US"/>
              <a:t>2. </a:t>
            </a:r>
            <a:r>
              <a:rPr/>
              <a:t>张三按照格式A创建了一个文件F1，N天后，该文件格式进行了一次升级，李四试图用升级后的A格式读取F1，会发生什么？如何避免</a:t>
            </a:r>
            <a:endParaRPr/>
          </a:p>
          <a:p>
            <a:pPr marL="0" lvl="0" indent="0" algn="l">
              <a:spcBef>
                <a:spcPts val="1200"/>
              </a:spcBef>
              <a:spcAft>
                <a:spcPts val="1200"/>
              </a:spcAft>
              <a:buClr>
                <a:schemeClr val="dk2">
                  <a:alpha val="100000"/>
                </a:schemeClr>
              </a:buClr>
              <a:buSzPts val="1800"/>
              <a:buFont typeface="Arial"/>
              <a:buNone/>
            </a:pPr>
            <a:endParaRPr/>
          </a:p>
        </p:txBody>
      </p:sp>
      <p:sp>
        <p:nvSpPr>
          <p:cNvPr id="257" name="Google Shape;119;p21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24;p22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</a:t>
            </a:r>
            <a:r>
              <a:rPr lang="en-GB"/>
              <a:t>文件格式</a:t>
            </a:r>
            <a:endParaRPr/>
          </a:p>
        </p:txBody>
      </p:sp>
      <p:sp>
        <p:nvSpPr>
          <p:cNvPr id="7" name="Google Shape;125;p22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8" name="Google Shape;126;p22"/>
          <p:cNvGrpSpPr/>
          <p:nvPr/>
        </p:nvGrpSpPr>
        <p:grpSpPr>
          <a:xfrm>
            <a:off x="4529075" y="2178700"/>
            <a:ext cx="2377525" cy="1652700"/>
            <a:chOff x="4529075" y="2178700"/>
            <a:chExt cx="2377525" cy="1652700"/>
          </a:xfrm>
        </p:grpSpPr>
        <p:sp>
          <p:nvSpPr>
            <p:cNvPr id="9" name="Google Shape;127;p22"/>
            <p:cNvSpPr/>
            <p:nvPr/>
          </p:nvSpPr>
          <p:spPr>
            <a:xfrm>
              <a:off x="4531200" y="3037300"/>
              <a:ext cx="2375400" cy="794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p</a:t>
              </a:r>
              <a:r>
                <a:rPr lang="en-GB"/>
                <a:t>ostscript:</a:t>
              </a:r>
              <a:endParaRPr/>
            </a:p>
          </p:txBody>
        </p:sp>
        <p:sp>
          <p:nvSpPr>
            <p:cNvPr id="10" name="Google Shape;128;p22"/>
            <p:cNvSpPr/>
            <p:nvPr/>
          </p:nvSpPr>
          <p:spPr>
            <a:xfrm>
              <a:off x="4529075" y="2178700"/>
              <a:ext cx="2375400" cy="858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footer:</a:t>
              </a:r>
              <a:endParaRPr/>
            </a:p>
          </p:txBody>
        </p:sp>
        <p:sp>
          <p:nvSpPr>
            <p:cNvPr id="11" name="Google Shape;129;p22"/>
            <p:cNvSpPr/>
            <p:nvPr/>
          </p:nvSpPr>
          <p:spPr>
            <a:xfrm>
              <a:off x="5509300" y="3173075"/>
              <a:ext cx="1359300" cy="572700"/>
            </a:xfrm>
            <a:prstGeom prst="bracketPair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true">
                  <a:solidFill>
                    <a:srgbClr val="FF0000"/>
                  </a:solidFill>
                </a:rPr>
                <a:t>v</a:t>
              </a:r>
              <a:r>
                <a:rPr lang="en-GB" sz="1200" b="true">
                  <a:solidFill>
                    <a:srgbClr val="FF0000"/>
                  </a:solidFill>
                </a:rPr>
                <a:t>ersion</a:t>
              </a:r>
              <a:r>
                <a:rPr lang="en-GB" sz="1200"/>
                <a:t>, #rows,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/>
                <a:t>stride, timezone,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/>
                <a:t>…, </a:t>
              </a:r>
              <a:r>
                <a:rPr lang="en-GB" sz="1200" b="true">
                  <a:solidFill>
                    <a:srgbClr val="FF0000"/>
                  </a:solidFill>
                </a:rPr>
                <a:t>magic</a:t>
              </a:r>
              <a:endParaRPr sz="1200" b="true">
                <a:solidFill>
                  <a:srgbClr val="FF0000"/>
                </a:solidFill>
              </a:endParaRPr>
            </a:p>
          </p:txBody>
        </p:sp>
        <p:sp>
          <p:nvSpPr>
            <p:cNvPr id="12" name="Google Shape;130;p22"/>
            <p:cNvSpPr/>
            <p:nvPr/>
          </p:nvSpPr>
          <p:spPr>
            <a:xfrm>
              <a:off x="5223100" y="2286025"/>
              <a:ext cx="1645500" cy="672600"/>
            </a:xfrm>
            <a:prstGeom prst="bracketPair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/>
                <a:t>types, columnStats,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/>
                <a:t>rowGroupInfos,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/>
                <a:t>rowGroupStats</a:t>
              </a:r>
              <a:endParaRPr sz="1200"/>
            </a:p>
          </p:txBody>
        </p:sp>
      </p:grpSp>
      <p:sp>
        <p:nvSpPr>
          <p:cNvPr id="13" name="Google Shape;131;p22"/>
          <p:cNvSpPr/>
          <p:nvPr/>
        </p:nvSpPr>
        <p:spPr>
          <a:xfrm rot="-1775018">
            <a:off x="3190204" y="3720558"/>
            <a:ext cx="1044575" cy="31465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32;p22"/>
          <p:cNvGrpSpPr/>
          <p:nvPr/>
        </p:nvGrpSpPr>
        <p:grpSpPr>
          <a:xfrm>
            <a:off x="518375" y="1193925"/>
            <a:ext cx="2375425" cy="3592700"/>
            <a:chOff x="518375" y="1193925"/>
            <a:chExt cx="2375425" cy="3592700"/>
          </a:xfrm>
        </p:grpSpPr>
        <p:sp>
          <p:nvSpPr>
            <p:cNvPr id="15" name="Google Shape;133;p22"/>
            <p:cNvSpPr/>
            <p:nvPr/>
          </p:nvSpPr>
          <p:spPr>
            <a:xfrm>
              <a:off x="518375" y="1200425"/>
              <a:ext cx="2375400" cy="3586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4;p22"/>
            <p:cNvSpPr/>
            <p:nvPr/>
          </p:nvSpPr>
          <p:spPr>
            <a:xfrm>
              <a:off x="518375" y="4117975"/>
              <a:ext cx="2375400" cy="447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f</a:t>
              </a:r>
              <a:r>
                <a:rPr lang="en-GB"/>
                <a:t>ile tail</a:t>
              </a:r>
              <a:endParaRPr/>
            </a:p>
          </p:txBody>
        </p:sp>
        <p:sp>
          <p:nvSpPr>
            <p:cNvPr id="17" name="Google Shape;135;p22"/>
            <p:cNvSpPr/>
            <p:nvPr/>
          </p:nvSpPr>
          <p:spPr>
            <a:xfrm>
              <a:off x="518375" y="4565150"/>
              <a:ext cx="2375400" cy="221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b="true">
                  <a:solidFill>
                    <a:srgbClr val="FF0000"/>
                  </a:solidFill>
                </a:rPr>
                <a:t>file tail start offset</a:t>
              </a:r>
              <a:endParaRPr b="true">
                <a:solidFill>
                  <a:srgbClr val="FF0000"/>
                </a:solidFill>
              </a:endParaRPr>
            </a:p>
          </p:txBody>
        </p:sp>
        <p:sp>
          <p:nvSpPr>
            <p:cNvPr id="18" name="Google Shape;136;p22"/>
            <p:cNvSpPr/>
            <p:nvPr/>
          </p:nvSpPr>
          <p:spPr>
            <a:xfrm>
              <a:off x="518400" y="3202075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row</a:t>
              </a:r>
              <a:r>
                <a:rPr lang="en-GB"/>
                <a:t> group n</a:t>
              </a:r>
              <a:endParaRPr/>
            </a:p>
          </p:txBody>
        </p:sp>
        <p:sp>
          <p:nvSpPr>
            <p:cNvPr id="19" name="Google Shape;137;p22"/>
            <p:cNvSpPr/>
            <p:nvPr/>
          </p:nvSpPr>
          <p:spPr>
            <a:xfrm>
              <a:off x="518400" y="2109900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>
                  <a:solidFill>
                    <a:schemeClr val="dk1"/>
                  </a:solidFill>
                </a:rPr>
                <a:t>row group 2</a:t>
              </a:r>
              <a:endParaRPr/>
            </a:p>
          </p:txBody>
        </p:sp>
        <p:sp>
          <p:nvSpPr>
            <p:cNvPr id="20" name="Google Shape;138;p22"/>
            <p:cNvSpPr/>
            <p:nvPr/>
          </p:nvSpPr>
          <p:spPr>
            <a:xfrm>
              <a:off x="518375" y="1193925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row group 1</a:t>
              </a:r>
              <a:endParaRPr/>
            </a:p>
          </p:txBody>
        </p:sp>
        <p:sp>
          <p:nvSpPr>
            <p:cNvPr id="21" name="Google Shape;139;p22"/>
            <p:cNvSpPr txBox="true"/>
            <p:nvPr/>
          </p:nvSpPr>
          <p:spPr>
            <a:xfrm>
              <a:off x="1295800" y="2801425"/>
              <a:ext cx="1232100" cy="51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true" wrap="square" lIns="91425" tIns="91425" rIns="91425" bIns="91425" anchor="t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…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22" name="Google Shape;140;p22"/>
          <p:cNvSpPr txBox="true"/>
          <p:nvPr/>
        </p:nvSpPr>
        <p:spPr>
          <a:xfrm>
            <a:off x="3974100" y="532600"/>
            <a:ext cx="3760200" cy="13356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读取数据之前，先：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读取file tail start offset→读取file tail→ 验证postscript中的magic和version。任何一步出错则停止。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" name="Google Shape;141;p22"/>
          <p:cNvSpPr txBox="true"/>
          <p:nvPr/>
        </p:nvSpPr>
        <p:spPr>
          <a:xfrm>
            <a:off x="4165750" y="4117975"/>
            <a:ext cx="3760200" cy="7008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</a:rPr>
              <a:t>为什么metadata放在文件末尾而不是文件开头？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146;p23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问题2：如何验证访问操作的合法性</a:t>
            </a:r>
            <a:endParaRPr/>
          </a:p>
        </p:txBody>
      </p:sp>
      <p:sp>
        <p:nvSpPr>
          <p:cNvPr id="26" name="Google Shape;147;p23"/>
          <p:cNvSpPr txBox="true"/>
          <p:nvPr>
            <p:ph type="body" idx="1"/>
          </p:nvPr>
        </p:nvSpPr>
        <p:spPr>
          <a:xfrm>
            <a:off x="532625" y="1160425"/>
            <a:ext cx="7584000" cy="3502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10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2">
                  <a:alpha val="100000"/>
                </a:schemeClr>
              </a:buClr>
              <a:buSzPts val="1800"/>
              <a:buFont typeface="Arial"/>
              <a:buNone/>
            </a:pPr>
            <a:r>
              <a:rPr/>
              <a:t>例如：</a:t>
            </a:r>
            <a:endParaRPr/>
          </a:p>
          <a:p>
            <a:pPr marL="457200" lvl="0" indent="-342900" algn="l">
              <a:spcBef>
                <a:spcPts val="1200"/>
              </a:spcBef>
              <a:spcAft>
                <a:spcPts val="0"/>
              </a:spcAft>
              <a:buClr>
                <a:schemeClr val="dk2">
                  <a:alpha val="100000"/>
                </a:schemeClr>
              </a:buClr>
              <a:buSzPts val="1800"/>
              <a:buFont typeface="Arial"/>
              <a:buAutoNum type="arabicPeriod"/>
            </a:pPr>
            <a:r>
              <a:rPr/>
              <a:t>由于某种错误，查询引擎错误地读取了一个不属于表A的文件F1，F1中没有查询要读取的数据列C1，如何在读取的时候发现并处理这个问题？</a:t>
            </a:r>
            <a:endParaRPr/>
          </a:p>
          <a:p>
            <a:pPr marL="457200" lvl="0" indent="0" algn="l">
              <a:spcBef>
                <a:spcPts val="1200"/>
              </a:spcBef>
              <a:spcAft>
                <a:spcPts val="0"/>
              </a:spcAft>
              <a:buClr>
                <a:schemeClr val="dk2">
                  <a:alpha val="100000"/>
                </a:schemeClr>
              </a:buClr>
              <a:buSzPts val="1800"/>
              <a:buFont typeface="Arial"/>
              <a:buNone/>
            </a:pPr>
            <a:endParaRPr/>
          </a:p>
          <a:p>
            <a:pPr marL="114300" lvl="0" indent="0" algn="l">
              <a:spcBef>
                <a:spcPts val="1200"/>
              </a:spcBef>
              <a:spcAft>
                <a:spcPts val="0"/>
              </a:spcAft>
              <a:buClr>
                <a:schemeClr val="dk2">
                  <a:alpha val="100000"/>
                </a:schemeClr>
              </a:buClr>
              <a:buSzPct val="100000"/>
              <a:buFont typeface="Arial"/>
              <a:buNone/>
            </a:pPr>
            <a:r>
              <a:rPr lang="en-US"/>
              <a:t>2. </a:t>
            </a:r>
            <a:r>
              <a:rPr/>
              <a:t>用户修改了表A中列C2的数据类型，但没有更新数据文件，读取时可能会发生类型兼容的问题，如何发现和处理？</a:t>
            </a:r>
            <a:endParaRPr/>
          </a:p>
        </p:txBody>
      </p:sp>
      <p:sp>
        <p:nvSpPr>
          <p:cNvPr id="27" name="Google Shape;148;p23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153;p24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Pixels文件格式</a:t>
            </a:r>
            <a:endParaRPr/>
          </a:p>
        </p:txBody>
      </p:sp>
      <p:sp>
        <p:nvSpPr>
          <p:cNvPr id="30" name="Google Shape;154;p24"/>
          <p:cNvSpPr txBox="true"/>
          <p:nvPr>
            <p:ph type="body" idx="1"/>
          </p:nvPr>
        </p:nvSpPr>
        <p:spPr>
          <a:xfrm>
            <a:off x="3990800" y="1160425"/>
            <a:ext cx="4125900" cy="165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lnSpcReduction="2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file footer的types中</a:t>
            </a:r>
            <a:r>
              <a:rPr lang="en-GB"/>
              <a:t>记录了文件中所有列的名字和数据类型，相当于文件的schema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读取文件内容时，需要校验schema和要读取的列及查询条件是否兼容</a:t>
            </a:r>
            <a:endParaRPr/>
          </a:p>
        </p:txBody>
      </p:sp>
      <p:sp>
        <p:nvSpPr>
          <p:cNvPr id="31" name="Google Shape;155;p24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32" name="Google Shape;156;p24"/>
          <p:cNvGrpSpPr/>
          <p:nvPr/>
        </p:nvGrpSpPr>
        <p:grpSpPr>
          <a:xfrm>
            <a:off x="518375" y="1193925"/>
            <a:ext cx="2375425" cy="3592700"/>
            <a:chOff x="518375" y="1193925"/>
            <a:chExt cx="2375425" cy="3592700"/>
          </a:xfrm>
        </p:grpSpPr>
        <p:sp>
          <p:nvSpPr>
            <p:cNvPr id="33" name="Google Shape;157;p24"/>
            <p:cNvSpPr/>
            <p:nvPr/>
          </p:nvSpPr>
          <p:spPr>
            <a:xfrm>
              <a:off x="518375" y="1200425"/>
              <a:ext cx="2375400" cy="3586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58;p24"/>
            <p:cNvSpPr/>
            <p:nvPr/>
          </p:nvSpPr>
          <p:spPr>
            <a:xfrm>
              <a:off x="518375" y="4117975"/>
              <a:ext cx="2375400" cy="447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file tail</a:t>
              </a:r>
              <a:endParaRPr/>
            </a:p>
          </p:txBody>
        </p:sp>
        <p:sp>
          <p:nvSpPr>
            <p:cNvPr id="35" name="Google Shape;159;p24"/>
            <p:cNvSpPr/>
            <p:nvPr/>
          </p:nvSpPr>
          <p:spPr>
            <a:xfrm>
              <a:off x="518375" y="4565150"/>
              <a:ext cx="2375400" cy="221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</a:rPr>
                <a:t>file tail start offset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" name="Google Shape;160;p24"/>
            <p:cNvSpPr/>
            <p:nvPr/>
          </p:nvSpPr>
          <p:spPr>
            <a:xfrm>
              <a:off x="518400" y="3202075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row group n</a:t>
              </a:r>
              <a:endParaRPr/>
            </a:p>
          </p:txBody>
        </p:sp>
        <p:sp>
          <p:nvSpPr>
            <p:cNvPr id="37" name="Google Shape;161;p24"/>
            <p:cNvSpPr/>
            <p:nvPr/>
          </p:nvSpPr>
          <p:spPr>
            <a:xfrm>
              <a:off x="518400" y="2109900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</a:rPr>
                <a:t>row group 2</a:t>
              </a:r>
              <a:endParaRPr/>
            </a:p>
          </p:txBody>
        </p:sp>
        <p:sp>
          <p:nvSpPr>
            <p:cNvPr id="38" name="Google Shape;162;p24"/>
            <p:cNvSpPr/>
            <p:nvPr/>
          </p:nvSpPr>
          <p:spPr>
            <a:xfrm>
              <a:off x="518375" y="1193925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row group 1</a:t>
              </a:r>
              <a:endParaRPr/>
            </a:p>
          </p:txBody>
        </p:sp>
        <p:sp>
          <p:nvSpPr>
            <p:cNvPr id="39" name="Google Shape;163;p24"/>
            <p:cNvSpPr txBox="true"/>
            <p:nvPr/>
          </p:nvSpPr>
          <p:spPr>
            <a:xfrm>
              <a:off x="1295800" y="2801425"/>
              <a:ext cx="1232100" cy="51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true" wrap="square" lIns="91425" tIns="91425" rIns="91425" bIns="91425" anchor="t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…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40" name="Google Shape;164;p24"/>
          <p:cNvGrpSpPr/>
          <p:nvPr/>
        </p:nvGrpSpPr>
        <p:grpSpPr>
          <a:xfrm>
            <a:off x="4494363" y="3133925"/>
            <a:ext cx="2377525" cy="1652700"/>
            <a:chOff x="4529075" y="2178700"/>
            <a:chExt cx="2377525" cy="1652700"/>
          </a:xfrm>
        </p:grpSpPr>
        <p:sp>
          <p:nvSpPr>
            <p:cNvPr id="41" name="Google Shape;165;p24"/>
            <p:cNvSpPr/>
            <p:nvPr/>
          </p:nvSpPr>
          <p:spPr>
            <a:xfrm>
              <a:off x="4531200" y="3037300"/>
              <a:ext cx="2375400" cy="794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postscript:</a:t>
              </a:r>
              <a:endParaRPr/>
            </a:p>
          </p:txBody>
        </p:sp>
        <p:sp>
          <p:nvSpPr>
            <p:cNvPr id="42" name="Google Shape;166;p24"/>
            <p:cNvSpPr/>
            <p:nvPr/>
          </p:nvSpPr>
          <p:spPr>
            <a:xfrm>
              <a:off x="4529075" y="2178700"/>
              <a:ext cx="2375400" cy="858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footer:</a:t>
              </a:r>
              <a:endParaRPr/>
            </a:p>
          </p:txBody>
        </p:sp>
        <p:sp>
          <p:nvSpPr>
            <p:cNvPr id="43" name="Google Shape;167;p24"/>
            <p:cNvSpPr/>
            <p:nvPr/>
          </p:nvSpPr>
          <p:spPr>
            <a:xfrm>
              <a:off x="5509300" y="3173075"/>
              <a:ext cx="1359300" cy="572700"/>
            </a:xfrm>
            <a:prstGeom prst="bracketPair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version</a:t>
              </a:r>
              <a:r>
                <a:rPr lang="en-GB" sz="1200"/>
                <a:t>, #rows,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/>
                <a:t>stride, timezone,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/>
                <a:t>…, </a:t>
              </a:r>
              <a:r>
                <a:rPr lang="en-GB" sz="1200">
                  <a:solidFill>
                    <a:schemeClr val="dk1"/>
                  </a:solidFill>
                </a:rPr>
                <a:t>magic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44" name="Google Shape;168;p24"/>
            <p:cNvSpPr/>
            <p:nvPr/>
          </p:nvSpPr>
          <p:spPr>
            <a:xfrm>
              <a:off x="5223100" y="2286025"/>
              <a:ext cx="1645500" cy="672600"/>
            </a:xfrm>
            <a:prstGeom prst="bracketPair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true">
                  <a:solidFill>
                    <a:srgbClr val="FF0000"/>
                  </a:solidFill>
                </a:rPr>
                <a:t>types</a:t>
              </a:r>
              <a:r>
                <a:rPr lang="en-GB" sz="1200"/>
                <a:t>, columnStats,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/>
                <a:t>rowGroupInfos,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/>
                <a:t>rowGroupStats</a:t>
              </a:r>
              <a:endParaRPr sz="1200"/>
            </a:p>
          </p:txBody>
        </p:sp>
      </p:grpSp>
      <p:sp>
        <p:nvSpPr>
          <p:cNvPr id="45" name="Google Shape;169;p24"/>
          <p:cNvSpPr/>
          <p:nvPr/>
        </p:nvSpPr>
        <p:spPr>
          <a:xfrm rot="987">
            <a:off x="3190204" y="4224072"/>
            <a:ext cx="1044600" cy="314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174;p25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问题3：如何避免不必要的数据读取（讨论）</a:t>
            </a:r>
            <a:endParaRPr/>
          </a:p>
        </p:txBody>
      </p:sp>
      <p:sp>
        <p:nvSpPr>
          <p:cNvPr id="48" name="Google Shape;175;p25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例如：</a:t>
            </a:r>
            <a:endParaRPr/>
          </a:p>
          <a:p>
            <a:pPr marL="457200" lvl="0" indent="-342900" algn="l" rtl="false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SELECT COUNT(*) FROM lineitem; 真的有必要读取文件中的数据吗？</a:t>
            </a:r>
            <a:endParaRPr/>
          </a:p>
          <a:p>
            <a:pPr marL="45720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false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SELECT * FROM orders WHERE o_orderdate &lt;= DATE ‘2000-01-01’; 如果文件中没有orderdate早于2000-01-01的数据，如何避免不必要的数据读取？</a:t>
            </a:r>
            <a:endParaRPr/>
          </a:p>
        </p:txBody>
      </p:sp>
      <p:sp>
        <p:nvSpPr>
          <p:cNvPr id="49" name="Google Shape;176;p25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81;p26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</a:t>
            </a:r>
            <a:r>
              <a:rPr lang="en-GB"/>
              <a:t>文件格式</a:t>
            </a:r>
            <a:endParaRPr/>
          </a:p>
        </p:txBody>
      </p:sp>
      <p:sp>
        <p:nvSpPr>
          <p:cNvPr id="52" name="Google Shape;182;p26"/>
          <p:cNvSpPr txBox="true"/>
          <p:nvPr>
            <p:ph type="body" idx="1"/>
          </p:nvPr>
        </p:nvSpPr>
        <p:spPr>
          <a:xfrm>
            <a:off x="3341675" y="1193925"/>
            <a:ext cx="5490600" cy="11610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2500" lnSpcReduction="1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postscript中的numberOfRows可以回答select count(*).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file footer中的columnStats和rowGroupStats可以过滤掉不符合查询条件的文件和row group</a:t>
            </a:r>
            <a:endParaRPr/>
          </a:p>
        </p:txBody>
      </p:sp>
      <p:sp>
        <p:nvSpPr>
          <p:cNvPr id="53" name="Google Shape;183;p26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54" name="Google Shape;184;p26"/>
          <p:cNvGrpSpPr/>
          <p:nvPr/>
        </p:nvGrpSpPr>
        <p:grpSpPr>
          <a:xfrm>
            <a:off x="518375" y="1193925"/>
            <a:ext cx="2375425" cy="3592700"/>
            <a:chOff x="518375" y="1193925"/>
            <a:chExt cx="2375425" cy="3592700"/>
          </a:xfrm>
        </p:grpSpPr>
        <p:sp>
          <p:nvSpPr>
            <p:cNvPr id="55" name="Google Shape;185;p26"/>
            <p:cNvSpPr/>
            <p:nvPr/>
          </p:nvSpPr>
          <p:spPr>
            <a:xfrm>
              <a:off x="518375" y="1200425"/>
              <a:ext cx="2375400" cy="3586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86;p26"/>
            <p:cNvSpPr/>
            <p:nvPr/>
          </p:nvSpPr>
          <p:spPr>
            <a:xfrm>
              <a:off x="518375" y="4117975"/>
              <a:ext cx="2375400" cy="447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file tail</a:t>
              </a:r>
              <a:endParaRPr/>
            </a:p>
          </p:txBody>
        </p:sp>
        <p:sp>
          <p:nvSpPr>
            <p:cNvPr id="57" name="Google Shape;187;p26"/>
            <p:cNvSpPr/>
            <p:nvPr/>
          </p:nvSpPr>
          <p:spPr>
            <a:xfrm>
              <a:off x="518375" y="4565150"/>
              <a:ext cx="2375400" cy="221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</a:rPr>
                <a:t>file tail start offset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8" name="Google Shape;188;p26"/>
            <p:cNvSpPr/>
            <p:nvPr/>
          </p:nvSpPr>
          <p:spPr>
            <a:xfrm>
              <a:off x="518400" y="3202075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row group n</a:t>
              </a:r>
              <a:endParaRPr/>
            </a:p>
          </p:txBody>
        </p:sp>
        <p:sp>
          <p:nvSpPr>
            <p:cNvPr id="59" name="Google Shape;189;p26"/>
            <p:cNvSpPr/>
            <p:nvPr/>
          </p:nvSpPr>
          <p:spPr>
            <a:xfrm>
              <a:off x="518400" y="2109900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</a:rPr>
                <a:t>row group 2</a:t>
              </a:r>
              <a:endParaRPr/>
            </a:p>
          </p:txBody>
        </p:sp>
        <p:sp>
          <p:nvSpPr>
            <p:cNvPr id="60" name="Google Shape;190;p26"/>
            <p:cNvSpPr/>
            <p:nvPr/>
          </p:nvSpPr>
          <p:spPr>
            <a:xfrm>
              <a:off x="518375" y="1193925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row group 1</a:t>
              </a:r>
              <a:endParaRPr/>
            </a:p>
          </p:txBody>
        </p:sp>
        <p:sp>
          <p:nvSpPr>
            <p:cNvPr id="61" name="Google Shape;191;p26"/>
            <p:cNvSpPr txBox="true"/>
            <p:nvPr/>
          </p:nvSpPr>
          <p:spPr>
            <a:xfrm>
              <a:off x="1295800" y="2801425"/>
              <a:ext cx="1232100" cy="51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true" wrap="square" lIns="91425" tIns="91425" rIns="91425" bIns="91425" anchor="t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…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62" name="Google Shape;192;p26"/>
          <p:cNvGrpSpPr/>
          <p:nvPr/>
        </p:nvGrpSpPr>
        <p:grpSpPr>
          <a:xfrm>
            <a:off x="3341663" y="3133925"/>
            <a:ext cx="2377525" cy="1652700"/>
            <a:chOff x="4529075" y="2178700"/>
            <a:chExt cx="2377525" cy="1652700"/>
          </a:xfrm>
        </p:grpSpPr>
        <p:sp>
          <p:nvSpPr>
            <p:cNvPr id="63" name="Google Shape;193;p26"/>
            <p:cNvSpPr/>
            <p:nvPr/>
          </p:nvSpPr>
          <p:spPr>
            <a:xfrm>
              <a:off x="4531200" y="3037300"/>
              <a:ext cx="2375400" cy="794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postscript:</a:t>
              </a:r>
              <a:endParaRPr/>
            </a:p>
          </p:txBody>
        </p:sp>
        <p:sp>
          <p:nvSpPr>
            <p:cNvPr id="64" name="Google Shape;194;p26"/>
            <p:cNvSpPr/>
            <p:nvPr/>
          </p:nvSpPr>
          <p:spPr>
            <a:xfrm>
              <a:off x="4529075" y="2178700"/>
              <a:ext cx="2375400" cy="858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footer:</a:t>
              </a:r>
              <a:endParaRPr/>
            </a:p>
          </p:txBody>
        </p:sp>
        <p:sp>
          <p:nvSpPr>
            <p:cNvPr id="65" name="Google Shape;195;p26"/>
            <p:cNvSpPr/>
            <p:nvPr/>
          </p:nvSpPr>
          <p:spPr>
            <a:xfrm>
              <a:off x="5509300" y="3173075"/>
              <a:ext cx="1359300" cy="572700"/>
            </a:xfrm>
            <a:prstGeom prst="bracketPair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version</a:t>
              </a:r>
              <a:r>
                <a:rPr lang="en-GB" sz="1200"/>
                <a:t>, </a:t>
              </a:r>
              <a:r>
                <a:rPr lang="en-GB" sz="1200" b="true">
                  <a:solidFill>
                    <a:srgbClr val="FF0000"/>
                  </a:solidFill>
                </a:rPr>
                <a:t>#rows</a:t>
              </a:r>
              <a:r>
                <a:rPr lang="en-GB" sz="1200"/>
                <a:t>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/>
                <a:t>stride, timezone,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/>
                <a:t>…, </a:t>
              </a:r>
              <a:r>
                <a:rPr lang="en-GB" sz="1200">
                  <a:solidFill>
                    <a:schemeClr val="dk1"/>
                  </a:solidFill>
                </a:rPr>
                <a:t>magic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66" name="Google Shape;196;p26"/>
            <p:cNvSpPr/>
            <p:nvPr/>
          </p:nvSpPr>
          <p:spPr>
            <a:xfrm>
              <a:off x="5223100" y="2286025"/>
              <a:ext cx="1645500" cy="672600"/>
            </a:xfrm>
            <a:prstGeom prst="bracketPair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types</a:t>
              </a:r>
              <a:r>
                <a:rPr lang="en-GB" sz="1200"/>
                <a:t>, </a:t>
              </a:r>
              <a:r>
                <a:rPr lang="en-GB" sz="1200" b="true">
                  <a:solidFill>
                    <a:srgbClr val="FF0000"/>
                  </a:solidFill>
                </a:rPr>
                <a:t>columnStats</a:t>
              </a:r>
              <a:r>
                <a:rPr lang="en-GB" sz="1200"/>
                <a:t>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/>
                <a:t>rowGroupInfos,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true">
                  <a:solidFill>
                    <a:srgbClr val="FF0000"/>
                  </a:solidFill>
                </a:rPr>
                <a:t>rowGroupStats</a:t>
              </a:r>
              <a:endParaRPr sz="1200" b="true">
                <a:solidFill>
                  <a:srgbClr val="FF0000"/>
                </a:solidFill>
              </a:endParaRPr>
            </a:p>
          </p:txBody>
        </p:sp>
      </p:grpSp>
      <p:sp>
        <p:nvSpPr>
          <p:cNvPr id="67" name="Google Shape;197;p26"/>
          <p:cNvSpPr/>
          <p:nvPr/>
        </p:nvSpPr>
        <p:spPr>
          <a:xfrm>
            <a:off x="6200700" y="3133925"/>
            <a:ext cx="2631600" cy="739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ColumnStatistic: </a:t>
            </a:r>
            <a:endParaRPr/>
          </a:p>
        </p:txBody>
      </p:sp>
      <p:sp>
        <p:nvSpPr>
          <p:cNvPr id="68" name="Google Shape;198;p26"/>
          <p:cNvSpPr/>
          <p:nvPr/>
        </p:nvSpPr>
        <p:spPr>
          <a:xfrm>
            <a:off x="7655625" y="3216400"/>
            <a:ext cx="1073400" cy="5406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#values, </a:t>
            </a:r>
            <a:r>
              <a:rPr lang="en-GB" b="true">
                <a:solidFill>
                  <a:srgbClr val="FF0000"/>
                </a:solidFill>
              </a:rPr>
              <a:t>statistic</a:t>
            </a:r>
            <a:r>
              <a:rPr lang="en-GB"/>
              <a:t>, hasNull</a:t>
            </a:r>
            <a:endParaRPr/>
          </a:p>
        </p:txBody>
      </p:sp>
      <p:sp>
        <p:nvSpPr>
          <p:cNvPr id="69" name="Google Shape;199;p26"/>
          <p:cNvSpPr/>
          <p:nvPr/>
        </p:nvSpPr>
        <p:spPr>
          <a:xfrm>
            <a:off x="2952138" y="4221325"/>
            <a:ext cx="331200" cy="306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200;p26"/>
          <p:cNvSpPr/>
          <p:nvPr/>
        </p:nvSpPr>
        <p:spPr>
          <a:xfrm>
            <a:off x="5805163" y="3411800"/>
            <a:ext cx="331200" cy="306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205;p27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问题4：如何找到要读取的column chunks?</a:t>
            </a:r>
            <a:endParaRPr/>
          </a:p>
        </p:txBody>
      </p:sp>
      <p:sp>
        <p:nvSpPr>
          <p:cNvPr id="73" name="Google Shape;206;p27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每个row group中的数据是按列连续存储的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row group中的一列数据称为一个column chunk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Column chunk通常采用某种encoding/</a:t>
            </a:r>
            <a:r>
              <a:rPr lang="en-GB"/>
              <a:t>compression算法进行压缩，以节省存储空间和I/O开销</a:t>
            </a:r>
            <a:r>
              <a:rPr lang="en-GB"/>
              <a:t> </a:t>
            </a:r>
            <a:endParaRPr/>
          </a:p>
        </p:txBody>
      </p:sp>
      <p:sp>
        <p:nvSpPr>
          <p:cNvPr id="74" name="Google Shape;207;p27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212;p28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</a:t>
            </a:r>
            <a:r>
              <a:rPr lang="en-GB"/>
              <a:t>文件格式</a:t>
            </a:r>
            <a:endParaRPr/>
          </a:p>
        </p:txBody>
      </p:sp>
      <p:sp>
        <p:nvSpPr>
          <p:cNvPr id="77" name="Google Shape;213;p28"/>
          <p:cNvSpPr txBox="true"/>
          <p:nvPr>
            <p:ph type="body" idx="1"/>
          </p:nvPr>
        </p:nvSpPr>
        <p:spPr>
          <a:xfrm>
            <a:off x="3283350" y="413225"/>
            <a:ext cx="5499600" cy="11988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25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通过file footer中的rowGroupInfos找到row group footer的位置并读取，再根据row group footer中的chunk offset和chunk length来读取需要的column chunk</a:t>
            </a:r>
            <a:endParaRPr/>
          </a:p>
        </p:txBody>
      </p:sp>
      <p:sp>
        <p:nvSpPr>
          <p:cNvPr id="78" name="Google Shape;214;p28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79" name="Google Shape;215;p28"/>
          <p:cNvGrpSpPr/>
          <p:nvPr/>
        </p:nvGrpSpPr>
        <p:grpSpPr>
          <a:xfrm>
            <a:off x="518375" y="1193925"/>
            <a:ext cx="2375425" cy="3592700"/>
            <a:chOff x="518375" y="1193925"/>
            <a:chExt cx="2375425" cy="3592700"/>
          </a:xfrm>
        </p:grpSpPr>
        <p:sp>
          <p:nvSpPr>
            <p:cNvPr id="80" name="Google Shape;216;p28"/>
            <p:cNvSpPr/>
            <p:nvPr/>
          </p:nvSpPr>
          <p:spPr>
            <a:xfrm>
              <a:off x="518375" y="1200425"/>
              <a:ext cx="2375400" cy="3586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17;p28"/>
            <p:cNvSpPr/>
            <p:nvPr/>
          </p:nvSpPr>
          <p:spPr>
            <a:xfrm>
              <a:off x="518375" y="4117975"/>
              <a:ext cx="2375400" cy="447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file tail</a:t>
              </a:r>
              <a:endParaRPr/>
            </a:p>
          </p:txBody>
        </p:sp>
        <p:sp>
          <p:nvSpPr>
            <p:cNvPr id="82" name="Google Shape;218;p28"/>
            <p:cNvSpPr/>
            <p:nvPr/>
          </p:nvSpPr>
          <p:spPr>
            <a:xfrm>
              <a:off x="518375" y="4565150"/>
              <a:ext cx="2375400" cy="221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</a:rPr>
                <a:t>file tail start offset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3" name="Google Shape;219;p28"/>
            <p:cNvSpPr/>
            <p:nvPr/>
          </p:nvSpPr>
          <p:spPr>
            <a:xfrm>
              <a:off x="518400" y="3202075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row group n</a:t>
              </a:r>
              <a:endParaRPr/>
            </a:p>
          </p:txBody>
        </p:sp>
        <p:sp>
          <p:nvSpPr>
            <p:cNvPr id="84" name="Google Shape;220;p28"/>
            <p:cNvSpPr/>
            <p:nvPr/>
          </p:nvSpPr>
          <p:spPr>
            <a:xfrm>
              <a:off x="518400" y="2109900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</a:rPr>
                <a:t>row group 2</a:t>
              </a:r>
              <a:endParaRPr/>
            </a:p>
          </p:txBody>
        </p:sp>
        <p:sp>
          <p:nvSpPr>
            <p:cNvPr id="85" name="Google Shape;221;p28"/>
            <p:cNvSpPr/>
            <p:nvPr/>
          </p:nvSpPr>
          <p:spPr>
            <a:xfrm>
              <a:off x="518375" y="1193925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row group 1</a:t>
              </a:r>
              <a:endParaRPr/>
            </a:p>
          </p:txBody>
        </p:sp>
        <p:sp>
          <p:nvSpPr>
            <p:cNvPr id="86" name="Google Shape;222;p28"/>
            <p:cNvSpPr txBox="true"/>
            <p:nvPr/>
          </p:nvSpPr>
          <p:spPr>
            <a:xfrm>
              <a:off x="1295800" y="2801425"/>
              <a:ext cx="1232100" cy="51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true" wrap="square" lIns="91425" tIns="91425" rIns="91425" bIns="91425" anchor="t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…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87" name="Google Shape;223;p28"/>
          <p:cNvGrpSpPr/>
          <p:nvPr/>
        </p:nvGrpSpPr>
        <p:grpSpPr>
          <a:xfrm>
            <a:off x="3341663" y="3133925"/>
            <a:ext cx="2377525" cy="1652700"/>
            <a:chOff x="4529075" y="2178700"/>
            <a:chExt cx="2377525" cy="1652700"/>
          </a:xfrm>
        </p:grpSpPr>
        <p:sp>
          <p:nvSpPr>
            <p:cNvPr id="88" name="Google Shape;224;p28"/>
            <p:cNvSpPr/>
            <p:nvPr/>
          </p:nvSpPr>
          <p:spPr>
            <a:xfrm>
              <a:off x="4531200" y="3037300"/>
              <a:ext cx="2375400" cy="794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postscript:</a:t>
              </a:r>
              <a:endParaRPr/>
            </a:p>
          </p:txBody>
        </p:sp>
        <p:sp>
          <p:nvSpPr>
            <p:cNvPr id="89" name="Google Shape;225;p28"/>
            <p:cNvSpPr/>
            <p:nvPr/>
          </p:nvSpPr>
          <p:spPr>
            <a:xfrm>
              <a:off x="4529075" y="2178700"/>
              <a:ext cx="2375400" cy="858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footer:</a:t>
              </a:r>
              <a:endParaRPr/>
            </a:p>
          </p:txBody>
        </p:sp>
        <p:sp>
          <p:nvSpPr>
            <p:cNvPr id="90" name="Google Shape;226;p28"/>
            <p:cNvSpPr/>
            <p:nvPr/>
          </p:nvSpPr>
          <p:spPr>
            <a:xfrm>
              <a:off x="5509300" y="3173075"/>
              <a:ext cx="1359300" cy="572700"/>
            </a:xfrm>
            <a:prstGeom prst="bracketPair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version, #rows,</a:t>
              </a:r>
              <a:endParaRPr sz="1200">
                <a:solidFill>
                  <a:schemeClr val="dk1"/>
                </a:solidFill>
              </a:endParaRPr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stride, timezone,</a:t>
              </a:r>
              <a:endParaRPr sz="1200">
                <a:solidFill>
                  <a:schemeClr val="dk1"/>
                </a:solidFill>
              </a:endParaRPr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…, magic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91" name="Google Shape;227;p28"/>
            <p:cNvSpPr/>
            <p:nvPr/>
          </p:nvSpPr>
          <p:spPr>
            <a:xfrm>
              <a:off x="5223100" y="2286025"/>
              <a:ext cx="1645500" cy="672600"/>
            </a:xfrm>
            <a:prstGeom prst="bracketPair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types, columnStats,</a:t>
              </a:r>
              <a:endParaRPr sz="1200">
                <a:solidFill>
                  <a:schemeClr val="dk1"/>
                </a:solidFill>
              </a:endParaRPr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true">
                  <a:solidFill>
                    <a:srgbClr val="FF0000"/>
                  </a:solidFill>
                </a:rPr>
                <a:t>rowGroupInfos</a:t>
              </a:r>
              <a:r>
                <a:rPr lang="en-GB" sz="1200">
                  <a:solidFill>
                    <a:schemeClr val="dk1"/>
                  </a:solidFill>
                </a:rPr>
                <a:t>,</a:t>
              </a:r>
              <a:endParaRPr sz="1200">
                <a:solidFill>
                  <a:schemeClr val="dk1"/>
                </a:solidFill>
              </a:endParaRPr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rowGroupStats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sp>
        <p:nvSpPr>
          <p:cNvPr id="92" name="Google Shape;228;p28"/>
          <p:cNvSpPr/>
          <p:nvPr/>
        </p:nvSpPr>
        <p:spPr>
          <a:xfrm>
            <a:off x="3136975" y="1782475"/>
            <a:ext cx="2631600" cy="739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RowGroup</a:t>
            </a:r>
            <a:endParaRPr/>
          </a:p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Information</a:t>
            </a:r>
            <a:r>
              <a:rPr lang="en-GB"/>
              <a:t>: </a:t>
            </a:r>
            <a:endParaRPr/>
          </a:p>
        </p:txBody>
      </p:sp>
      <p:sp>
        <p:nvSpPr>
          <p:cNvPr id="93" name="Google Shape;229;p28"/>
          <p:cNvSpPr/>
          <p:nvPr/>
        </p:nvSpPr>
        <p:spPr>
          <a:xfrm>
            <a:off x="2952138" y="4221325"/>
            <a:ext cx="331200" cy="306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230;p28"/>
          <p:cNvSpPr/>
          <p:nvPr/>
        </p:nvSpPr>
        <p:spPr>
          <a:xfrm rot="-5400000">
            <a:off x="4604763" y="2704275"/>
            <a:ext cx="331200" cy="306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231;p28"/>
          <p:cNvSpPr/>
          <p:nvPr/>
        </p:nvSpPr>
        <p:spPr>
          <a:xfrm>
            <a:off x="4189549" y="1849075"/>
            <a:ext cx="1500900" cy="5727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true">
                <a:solidFill>
                  <a:srgbClr val="FF0000"/>
                </a:solidFill>
              </a:rPr>
              <a:t>footerOffset</a:t>
            </a:r>
            <a:r>
              <a:rPr lang="en-GB" sz="1200">
                <a:solidFill>
                  <a:schemeClr val="dk1"/>
                </a:solidFill>
              </a:rPr>
              <a:t>, dataLength, </a:t>
            </a:r>
            <a:r>
              <a:rPr lang="en-GB" sz="1200" b="true">
                <a:solidFill>
                  <a:srgbClr val="FF0000"/>
                </a:solidFill>
              </a:rPr>
              <a:t>footerLength</a:t>
            </a:r>
            <a:r>
              <a:rPr lang="en-GB" sz="1200">
                <a:solidFill>
                  <a:schemeClr val="dk1"/>
                </a:solidFill>
              </a:rPr>
              <a:t>, #rows, …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6" name="Google Shape;232;p28"/>
          <p:cNvSpPr/>
          <p:nvPr/>
        </p:nvSpPr>
        <p:spPr>
          <a:xfrm>
            <a:off x="6151300" y="1765825"/>
            <a:ext cx="2631600" cy="739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RowGroup</a:t>
            </a:r>
            <a:endParaRPr/>
          </a:p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Footer: </a:t>
            </a:r>
            <a:endParaRPr/>
          </a:p>
        </p:txBody>
      </p:sp>
      <p:sp>
        <p:nvSpPr>
          <p:cNvPr id="97" name="Google Shape;233;p28"/>
          <p:cNvSpPr/>
          <p:nvPr/>
        </p:nvSpPr>
        <p:spPr>
          <a:xfrm>
            <a:off x="802925" y="3855650"/>
            <a:ext cx="1764900" cy="190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footer</a:t>
            </a:r>
            <a:endParaRPr/>
          </a:p>
        </p:txBody>
      </p:sp>
      <p:sp>
        <p:nvSpPr>
          <p:cNvPr id="98" name="Google Shape;234;p28"/>
          <p:cNvSpPr/>
          <p:nvPr/>
        </p:nvSpPr>
        <p:spPr>
          <a:xfrm>
            <a:off x="802925" y="2788850"/>
            <a:ext cx="1764900" cy="190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footer</a:t>
            </a:r>
            <a:endParaRPr/>
          </a:p>
        </p:txBody>
      </p:sp>
      <p:sp>
        <p:nvSpPr>
          <p:cNvPr id="99" name="Google Shape;235;p28"/>
          <p:cNvSpPr/>
          <p:nvPr/>
        </p:nvSpPr>
        <p:spPr>
          <a:xfrm>
            <a:off x="802925" y="1874450"/>
            <a:ext cx="1764900" cy="190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footer</a:t>
            </a:r>
            <a:endParaRPr/>
          </a:p>
        </p:txBody>
      </p:sp>
      <p:sp>
        <p:nvSpPr>
          <p:cNvPr id="100" name="Google Shape;236;p28"/>
          <p:cNvSpPr/>
          <p:nvPr/>
        </p:nvSpPr>
        <p:spPr>
          <a:xfrm>
            <a:off x="7123000" y="1849075"/>
            <a:ext cx="1598100" cy="5727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true">
                <a:solidFill>
                  <a:srgbClr val="FF0000"/>
                </a:solidFill>
              </a:rPr>
              <a:t>每个column chunk的index (entry) 和encoding信息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1" name="Google Shape;237;p28"/>
          <p:cNvSpPr/>
          <p:nvPr/>
        </p:nvSpPr>
        <p:spPr>
          <a:xfrm>
            <a:off x="6167075" y="2872200"/>
            <a:ext cx="2631600" cy="1857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ColumnChunkIndex: </a:t>
            </a:r>
            <a:endParaRPr/>
          </a:p>
        </p:txBody>
      </p:sp>
      <p:sp>
        <p:nvSpPr>
          <p:cNvPr id="102" name="Google Shape;238;p28"/>
          <p:cNvSpPr/>
          <p:nvPr/>
        </p:nvSpPr>
        <p:spPr>
          <a:xfrm>
            <a:off x="6329375" y="3352950"/>
            <a:ext cx="2375400" cy="12579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true">
                <a:solidFill>
                  <a:srgbClr val="FF0000"/>
                </a:solidFill>
              </a:rPr>
              <a:t>chunkOffset, chunkLength, </a:t>
            </a:r>
            <a:r>
              <a:rPr lang="en-GB" sz="1200">
                <a:solidFill>
                  <a:schemeClr val="dk1"/>
                </a:solidFill>
              </a:rPr>
              <a:t>isNullOffset, …, littleEndian, nullsPadding, isNullAlignment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243;p29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问题5：如何存储空值null （讨论）</a:t>
            </a:r>
            <a:endParaRPr/>
          </a:p>
        </p:txBody>
      </p:sp>
      <p:sp>
        <p:nvSpPr>
          <p:cNvPr id="105" name="Google Shape;244;p29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在</a:t>
            </a:r>
            <a:r>
              <a:rPr lang="en-GB"/>
              <a:t>关系数据库中，可以为每个列（属性）定义完整性约束，如NOT NULL, UNIQUE等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没有NOT NULL约束的列</a:t>
            </a:r>
            <a:r>
              <a:rPr lang="en-GB"/>
              <a:t>可以</a:t>
            </a:r>
            <a:r>
              <a:rPr lang="en-GB"/>
              <a:t>存在空值null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null在SQL中表示值空缺，null不等于任何值，包括null（null≠null）</a:t>
            </a:r>
            <a:endParaRPr/>
          </a:p>
        </p:txBody>
      </p:sp>
      <p:sp>
        <p:nvSpPr>
          <p:cNvPr id="106" name="Google Shape;245;p29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7" name="Google Shape;246;p29"/>
          <p:cNvSpPr txBox="true"/>
          <p:nvPr/>
        </p:nvSpPr>
        <p:spPr>
          <a:xfrm>
            <a:off x="779075" y="4245175"/>
            <a:ext cx="7107000" cy="6597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true">
                <a:solidFill>
                  <a:srgbClr val="FF0000"/>
                </a:solidFill>
              </a:rPr>
              <a:t>由于不确定一列中哪个位置是null，需要设法存储null出现的位置</a:t>
            </a:r>
            <a:endParaRPr sz="1800" b="true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251;p30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Pixels文件格式</a:t>
            </a:r>
            <a:endParaRPr/>
          </a:p>
        </p:txBody>
      </p:sp>
      <p:sp>
        <p:nvSpPr>
          <p:cNvPr id="110" name="Google Shape;252;p30"/>
          <p:cNvSpPr txBox="true"/>
          <p:nvPr>
            <p:ph type="body" idx="1"/>
          </p:nvPr>
        </p:nvSpPr>
        <p:spPr>
          <a:xfrm>
            <a:off x="3341675" y="1193925"/>
            <a:ext cx="5490600" cy="165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file footer中的columnStats和rowGroupStats中</a:t>
            </a:r>
            <a:r>
              <a:rPr lang="en-GB"/>
              <a:t>记录了文件中和row group中每个列是否有null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如果hasNull为false，则该文件或row group在该列上没有null，也就无需存储空值</a:t>
            </a:r>
            <a:endParaRPr/>
          </a:p>
        </p:txBody>
      </p:sp>
      <p:sp>
        <p:nvSpPr>
          <p:cNvPr id="111" name="Google Shape;253;p30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12" name="Google Shape;254;p30"/>
          <p:cNvGrpSpPr/>
          <p:nvPr/>
        </p:nvGrpSpPr>
        <p:grpSpPr>
          <a:xfrm>
            <a:off x="518375" y="1193925"/>
            <a:ext cx="2375425" cy="3592700"/>
            <a:chOff x="518375" y="1193925"/>
            <a:chExt cx="2375425" cy="3592700"/>
          </a:xfrm>
        </p:grpSpPr>
        <p:sp>
          <p:nvSpPr>
            <p:cNvPr id="113" name="Google Shape;255;p30"/>
            <p:cNvSpPr/>
            <p:nvPr/>
          </p:nvSpPr>
          <p:spPr>
            <a:xfrm>
              <a:off x="518375" y="1200425"/>
              <a:ext cx="2375400" cy="3586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256;p30"/>
            <p:cNvSpPr/>
            <p:nvPr/>
          </p:nvSpPr>
          <p:spPr>
            <a:xfrm>
              <a:off x="518375" y="4117975"/>
              <a:ext cx="2375400" cy="447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file tail</a:t>
              </a:r>
              <a:endParaRPr/>
            </a:p>
          </p:txBody>
        </p:sp>
        <p:sp>
          <p:nvSpPr>
            <p:cNvPr id="115" name="Google Shape;257;p30"/>
            <p:cNvSpPr/>
            <p:nvPr/>
          </p:nvSpPr>
          <p:spPr>
            <a:xfrm>
              <a:off x="518375" y="4565150"/>
              <a:ext cx="2375400" cy="221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</a:rPr>
                <a:t>file tail start offset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16" name="Google Shape;258;p30"/>
            <p:cNvSpPr/>
            <p:nvPr/>
          </p:nvSpPr>
          <p:spPr>
            <a:xfrm>
              <a:off x="518400" y="3202075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row group n</a:t>
              </a:r>
              <a:endParaRPr/>
            </a:p>
          </p:txBody>
        </p:sp>
        <p:sp>
          <p:nvSpPr>
            <p:cNvPr id="117" name="Google Shape;259;p30"/>
            <p:cNvSpPr/>
            <p:nvPr/>
          </p:nvSpPr>
          <p:spPr>
            <a:xfrm>
              <a:off x="518400" y="2109900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</a:rPr>
                <a:t>row group 2</a:t>
              </a:r>
              <a:endParaRPr/>
            </a:p>
          </p:txBody>
        </p:sp>
        <p:sp>
          <p:nvSpPr>
            <p:cNvPr id="118" name="Google Shape;260;p30"/>
            <p:cNvSpPr/>
            <p:nvPr/>
          </p:nvSpPr>
          <p:spPr>
            <a:xfrm>
              <a:off x="518375" y="1193925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row group 1</a:t>
              </a:r>
              <a:endParaRPr/>
            </a:p>
          </p:txBody>
        </p:sp>
        <p:sp>
          <p:nvSpPr>
            <p:cNvPr id="119" name="Google Shape;261;p30"/>
            <p:cNvSpPr txBox="true"/>
            <p:nvPr/>
          </p:nvSpPr>
          <p:spPr>
            <a:xfrm>
              <a:off x="1295800" y="2801425"/>
              <a:ext cx="1232100" cy="51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true" wrap="square" lIns="91425" tIns="91425" rIns="91425" bIns="91425" anchor="t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…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20" name="Google Shape;262;p30"/>
          <p:cNvGrpSpPr/>
          <p:nvPr/>
        </p:nvGrpSpPr>
        <p:grpSpPr>
          <a:xfrm>
            <a:off x="3341663" y="3133925"/>
            <a:ext cx="2377525" cy="1652700"/>
            <a:chOff x="4529075" y="2178700"/>
            <a:chExt cx="2377525" cy="1652700"/>
          </a:xfrm>
        </p:grpSpPr>
        <p:sp>
          <p:nvSpPr>
            <p:cNvPr id="121" name="Google Shape;263;p30"/>
            <p:cNvSpPr/>
            <p:nvPr/>
          </p:nvSpPr>
          <p:spPr>
            <a:xfrm>
              <a:off x="4531200" y="3037300"/>
              <a:ext cx="2375400" cy="794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postscript:</a:t>
              </a:r>
              <a:endParaRPr/>
            </a:p>
          </p:txBody>
        </p:sp>
        <p:sp>
          <p:nvSpPr>
            <p:cNvPr id="122" name="Google Shape;264;p30"/>
            <p:cNvSpPr/>
            <p:nvPr/>
          </p:nvSpPr>
          <p:spPr>
            <a:xfrm>
              <a:off x="4529075" y="2178700"/>
              <a:ext cx="2375400" cy="858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footer:</a:t>
              </a:r>
              <a:endParaRPr/>
            </a:p>
          </p:txBody>
        </p:sp>
        <p:sp>
          <p:nvSpPr>
            <p:cNvPr id="123" name="Google Shape;265;p30"/>
            <p:cNvSpPr/>
            <p:nvPr/>
          </p:nvSpPr>
          <p:spPr>
            <a:xfrm>
              <a:off x="5509300" y="3173075"/>
              <a:ext cx="1359300" cy="572700"/>
            </a:xfrm>
            <a:prstGeom prst="bracketPair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version</a:t>
              </a:r>
              <a:r>
                <a:rPr lang="en-GB" sz="1200"/>
                <a:t>, </a:t>
              </a:r>
              <a:r>
                <a:rPr lang="en-GB" sz="1200" b="true">
                  <a:solidFill>
                    <a:srgbClr val="FF0000"/>
                  </a:solidFill>
                </a:rPr>
                <a:t>#rows</a:t>
              </a:r>
              <a:r>
                <a:rPr lang="en-GB" sz="1200"/>
                <a:t>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/>
                <a:t>stride, timezone,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/>
                <a:t>…, </a:t>
              </a:r>
              <a:r>
                <a:rPr lang="en-GB" sz="1200">
                  <a:solidFill>
                    <a:schemeClr val="dk1"/>
                  </a:solidFill>
                </a:rPr>
                <a:t>magic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24" name="Google Shape;266;p30"/>
            <p:cNvSpPr/>
            <p:nvPr/>
          </p:nvSpPr>
          <p:spPr>
            <a:xfrm>
              <a:off x="5223100" y="2286025"/>
              <a:ext cx="1645500" cy="672600"/>
            </a:xfrm>
            <a:prstGeom prst="bracketPair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types</a:t>
              </a:r>
              <a:r>
                <a:rPr lang="en-GB" sz="1200"/>
                <a:t>, </a:t>
              </a:r>
              <a:r>
                <a:rPr lang="en-GB" sz="1200" b="true">
                  <a:solidFill>
                    <a:srgbClr val="FF0000"/>
                  </a:solidFill>
                </a:rPr>
                <a:t>columnStats</a:t>
              </a:r>
              <a:r>
                <a:rPr lang="en-GB" sz="1200"/>
                <a:t>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/>
                <a:t>rowGroupInfos,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true">
                  <a:solidFill>
                    <a:srgbClr val="FF0000"/>
                  </a:solidFill>
                </a:rPr>
                <a:t>rowGroupStats</a:t>
              </a:r>
              <a:endParaRPr sz="1200" b="true">
                <a:solidFill>
                  <a:srgbClr val="FF0000"/>
                </a:solidFill>
              </a:endParaRPr>
            </a:p>
          </p:txBody>
        </p:sp>
      </p:grpSp>
      <p:sp>
        <p:nvSpPr>
          <p:cNvPr id="125" name="Google Shape;267;p30"/>
          <p:cNvSpPr/>
          <p:nvPr/>
        </p:nvSpPr>
        <p:spPr>
          <a:xfrm>
            <a:off x="6200700" y="3133925"/>
            <a:ext cx="2631600" cy="739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ColumnStatistic: </a:t>
            </a:r>
            <a:endParaRPr/>
          </a:p>
        </p:txBody>
      </p:sp>
      <p:sp>
        <p:nvSpPr>
          <p:cNvPr id="126" name="Google Shape;268;p30"/>
          <p:cNvSpPr/>
          <p:nvPr/>
        </p:nvSpPr>
        <p:spPr>
          <a:xfrm>
            <a:off x="7655625" y="3216400"/>
            <a:ext cx="1073400" cy="5406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#values, </a:t>
            </a:r>
            <a:r>
              <a:rPr lang="en-GB">
                <a:solidFill>
                  <a:schemeClr val="dk1"/>
                </a:solidFill>
              </a:rPr>
              <a:t>statistic</a:t>
            </a:r>
            <a:r>
              <a:rPr lang="en-GB"/>
              <a:t>, </a:t>
            </a:r>
            <a:r>
              <a:rPr lang="en-GB" b="true">
                <a:solidFill>
                  <a:srgbClr val="FF0000"/>
                </a:solidFill>
              </a:rPr>
              <a:t>hasNull</a:t>
            </a:r>
            <a:endParaRPr b="true">
              <a:solidFill>
                <a:srgbClr val="FF0000"/>
              </a:solidFill>
            </a:endParaRPr>
          </a:p>
        </p:txBody>
      </p:sp>
      <p:sp>
        <p:nvSpPr>
          <p:cNvPr id="127" name="Google Shape;269;p30"/>
          <p:cNvSpPr/>
          <p:nvPr/>
        </p:nvSpPr>
        <p:spPr>
          <a:xfrm>
            <a:off x="2952138" y="4221325"/>
            <a:ext cx="331200" cy="306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270;p30"/>
          <p:cNvSpPr/>
          <p:nvPr/>
        </p:nvSpPr>
        <p:spPr>
          <a:xfrm>
            <a:off x="5805163" y="3411800"/>
            <a:ext cx="331200" cy="306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275;p31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</a:t>
            </a:r>
            <a:r>
              <a:rPr lang="en-GB"/>
              <a:t>文件格式</a:t>
            </a:r>
            <a:endParaRPr/>
          </a:p>
        </p:txBody>
      </p:sp>
      <p:sp>
        <p:nvSpPr>
          <p:cNvPr id="131" name="Google Shape;276;p31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2" name="Google Shape;277;p31"/>
          <p:cNvSpPr txBox="true"/>
          <p:nvPr>
            <p:ph type="body" idx="1"/>
          </p:nvPr>
        </p:nvSpPr>
        <p:spPr>
          <a:xfrm>
            <a:off x="3283350" y="238500"/>
            <a:ext cx="5499600" cy="1373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pixels中使用isNull bitmap来存储null的位置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通过row group information中记录的#rows和column chunk index中的isNullOffset可以读取isNull bitmap</a:t>
            </a:r>
            <a:endParaRPr/>
          </a:p>
        </p:txBody>
      </p:sp>
      <p:grpSp>
        <p:nvGrpSpPr>
          <p:cNvPr id="133" name="Google Shape;278;p31"/>
          <p:cNvGrpSpPr/>
          <p:nvPr/>
        </p:nvGrpSpPr>
        <p:grpSpPr>
          <a:xfrm>
            <a:off x="518375" y="965325"/>
            <a:ext cx="2375425" cy="3592700"/>
            <a:chOff x="518375" y="1193925"/>
            <a:chExt cx="2375425" cy="3592700"/>
          </a:xfrm>
        </p:grpSpPr>
        <p:sp>
          <p:nvSpPr>
            <p:cNvPr id="134" name="Google Shape;279;p31"/>
            <p:cNvSpPr/>
            <p:nvPr/>
          </p:nvSpPr>
          <p:spPr>
            <a:xfrm>
              <a:off x="518375" y="1200425"/>
              <a:ext cx="2375400" cy="3586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280;p31"/>
            <p:cNvSpPr/>
            <p:nvPr/>
          </p:nvSpPr>
          <p:spPr>
            <a:xfrm>
              <a:off x="518375" y="4117975"/>
              <a:ext cx="2375400" cy="447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file tail</a:t>
              </a:r>
              <a:endParaRPr/>
            </a:p>
          </p:txBody>
        </p:sp>
        <p:sp>
          <p:nvSpPr>
            <p:cNvPr id="136" name="Google Shape;281;p31"/>
            <p:cNvSpPr/>
            <p:nvPr/>
          </p:nvSpPr>
          <p:spPr>
            <a:xfrm>
              <a:off x="518375" y="4565150"/>
              <a:ext cx="2375400" cy="221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</a:rPr>
                <a:t>file tail start offset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7" name="Google Shape;282;p31"/>
            <p:cNvSpPr/>
            <p:nvPr/>
          </p:nvSpPr>
          <p:spPr>
            <a:xfrm>
              <a:off x="518400" y="3202075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row group n</a:t>
              </a:r>
              <a:endParaRPr/>
            </a:p>
          </p:txBody>
        </p:sp>
        <p:sp>
          <p:nvSpPr>
            <p:cNvPr id="138" name="Google Shape;283;p31"/>
            <p:cNvSpPr/>
            <p:nvPr/>
          </p:nvSpPr>
          <p:spPr>
            <a:xfrm>
              <a:off x="518400" y="2109900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</a:rPr>
                <a:t>row group 2</a:t>
              </a:r>
              <a:endParaRPr/>
            </a:p>
          </p:txBody>
        </p:sp>
        <p:sp>
          <p:nvSpPr>
            <p:cNvPr id="139" name="Google Shape;284;p31"/>
            <p:cNvSpPr/>
            <p:nvPr/>
          </p:nvSpPr>
          <p:spPr>
            <a:xfrm>
              <a:off x="518375" y="1193925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t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row group 1</a:t>
              </a:r>
              <a:endParaRPr/>
            </a:p>
          </p:txBody>
        </p:sp>
        <p:sp>
          <p:nvSpPr>
            <p:cNvPr id="140" name="Google Shape;285;p31"/>
            <p:cNvSpPr txBox="true"/>
            <p:nvPr/>
          </p:nvSpPr>
          <p:spPr>
            <a:xfrm>
              <a:off x="1295800" y="2801425"/>
              <a:ext cx="1232100" cy="51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true" wrap="square" lIns="91425" tIns="91425" rIns="91425" bIns="91425" anchor="t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…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41" name="Google Shape;286;p31"/>
          <p:cNvGrpSpPr/>
          <p:nvPr/>
        </p:nvGrpSpPr>
        <p:grpSpPr>
          <a:xfrm>
            <a:off x="3341663" y="2905325"/>
            <a:ext cx="2377525" cy="1652700"/>
            <a:chOff x="4529075" y="2178700"/>
            <a:chExt cx="2377525" cy="1652700"/>
          </a:xfrm>
        </p:grpSpPr>
        <p:sp>
          <p:nvSpPr>
            <p:cNvPr id="142" name="Google Shape;287;p31"/>
            <p:cNvSpPr/>
            <p:nvPr/>
          </p:nvSpPr>
          <p:spPr>
            <a:xfrm>
              <a:off x="4531200" y="3037300"/>
              <a:ext cx="2375400" cy="794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postscript:</a:t>
              </a:r>
              <a:endParaRPr/>
            </a:p>
          </p:txBody>
        </p:sp>
        <p:sp>
          <p:nvSpPr>
            <p:cNvPr id="143" name="Google Shape;288;p31"/>
            <p:cNvSpPr/>
            <p:nvPr/>
          </p:nvSpPr>
          <p:spPr>
            <a:xfrm>
              <a:off x="4529075" y="2178700"/>
              <a:ext cx="2375400" cy="858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footer:</a:t>
              </a:r>
              <a:endParaRPr/>
            </a:p>
          </p:txBody>
        </p:sp>
        <p:sp>
          <p:nvSpPr>
            <p:cNvPr id="144" name="Google Shape;289;p31"/>
            <p:cNvSpPr/>
            <p:nvPr/>
          </p:nvSpPr>
          <p:spPr>
            <a:xfrm>
              <a:off x="5509300" y="3173075"/>
              <a:ext cx="1359300" cy="572700"/>
            </a:xfrm>
            <a:prstGeom prst="bracketPair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version, #rows,</a:t>
              </a:r>
              <a:endParaRPr sz="1200">
                <a:solidFill>
                  <a:schemeClr val="dk1"/>
                </a:solidFill>
              </a:endParaRPr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stride, timezone,</a:t>
              </a:r>
              <a:endParaRPr sz="1200">
                <a:solidFill>
                  <a:schemeClr val="dk1"/>
                </a:solidFill>
              </a:endParaRPr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…, magic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45" name="Google Shape;290;p31"/>
            <p:cNvSpPr/>
            <p:nvPr/>
          </p:nvSpPr>
          <p:spPr>
            <a:xfrm>
              <a:off x="5223100" y="2286025"/>
              <a:ext cx="1645500" cy="672600"/>
            </a:xfrm>
            <a:prstGeom prst="bracketPair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types, </a:t>
              </a:r>
              <a:r>
                <a:rPr lang="en-GB" sz="1200">
                  <a:solidFill>
                    <a:schemeClr val="dk1"/>
                  </a:solidFill>
                </a:rPr>
                <a:t>columnStats</a:t>
              </a:r>
              <a:r>
                <a:rPr lang="en-GB" sz="1200">
                  <a:solidFill>
                    <a:schemeClr val="dk1"/>
                  </a:solidFill>
                </a:rPr>
                <a:t>,</a:t>
              </a:r>
              <a:endParaRPr sz="1200">
                <a:solidFill>
                  <a:schemeClr val="dk1"/>
                </a:solidFill>
              </a:endParaRPr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true">
                  <a:solidFill>
                    <a:srgbClr val="FF0000"/>
                  </a:solidFill>
                </a:rPr>
                <a:t>rowGroupInfos</a:t>
              </a:r>
              <a:r>
                <a:rPr lang="en-GB" sz="1200">
                  <a:solidFill>
                    <a:schemeClr val="dk1"/>
                  </a:solidFill>
                </a:rPr>
                <a:t>,</a:t>
              </a:r>
              <a:endParaRPr sz="1200">
                <a:solidFill>
                  <a:schemeClr val="dk1"/>
                </a:solidFill>
              </a:endParaRPr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rowGroupStats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sp>
        <p:nvSpPr>
          <p:cNvPr id="146" name="Google Shape;291;p31"/>
          <p:cNvSpPr/>
          <p:nvPr/>
        </p:nvSpPr>
        <p:spPr>
          <a:xfrm>
            <a:off x="3136975" y="1553875"/>
            <a:ext cx="2631600" cy="739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RowGroup</a:t>
            </a:r>
            <a:endParaRPr/>
          </a:p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Information: </a:t>
            </a:r>
            <a:endParaRPr/>
          </a:p>
        </p:txBody>
      </p:sp>
      <p:sp>
        <p:nvSpPr>
          <p:cNvPr id="147" name="Google Shape;292;p31"/>
          <p:cNvSpPr/>
          <p:nvPr/>
        </p:nvSpPr>
        <p:spPr>
          <a:xfrm>
            <a:off x="2952138" y="3992725"/>
            <a:ext cx="331200" cy="306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293;p31"/>
          <p:cNvSpPr/>
          <p:nvPr/>
        </p:nvSpPr>
        <p:spPr>
          <a:xfrm rot="-5400000">
            <a:off x="4604763" y="2475675"/>
            <a:ext cx="331200" cy="306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294;p31"/>
          <p:cNvSpPr/>
          <p:nvPr/>
        </p:nvSpPr>
        <p:spPr>
          <a:xfrm>
            <a:off x="4189549" y="1620475"/>
            <a:ext cx="1500900" cy="5727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true">
                <a:solidFill>
                  <a:srgbClr val="FF0000"/>
                </a:solidFill>
              </a:rPr>
              <a:t>footerOffset</a:t>
            </a:r>
            <a:r>
              <a:rPr lang="en-GB" sz="1200">
                <a:solidFill>
                  <a:schemeClr val="dk1"/>
                </a:solidFill>
              </a:rPr>
              <a:t>, dataLength, </a:t>
            </a:r>
            <a:r>
              <a:rPr lang="en-GB" sz="1200" b="true">
                <a:solidFill>
                  <a:srgbClr val="FF0000"/>
                </a:solidFill>
              </a:rPr>
              <a:t>footerLength</a:t>
            </a:r>
            <a:r>
              <a:rPr lang="en-GB" sz="1200">
                <a:solidFill>
                  <a:schemeClr val="dk1"/>
                </a:solidFill>
              </a:rPr>
              <a:t>, </a:t>
            </a:r>
            <a:r>
              <a:rPr lang="en-GB" sz="1200" b="true">
                <a:solidFill>
                  <a:srgbClr val="FF0000"/>
                </a:solidFill>
              </a:rPr>
              <a:t>#rows</a:t>
            </a:r>
            <a:r>
              <a:rPr lang="en-GB" sz="1200">
                <a:solidFill>
                  <a:schemeClr val="dk1"/>
                </a:solidFill>
              </a:rPr>
              <a:t>, …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0" name="Google Shape;295;p31"/>
          <p:cNvSpPr/>
          <p:nvPr/>
        </p:nvSpPr>
        <p:spPr>
          <a:xfrm>
            <a:off x="6151300" y="1537225"/>
            <a:ext cx="2631600" cy="739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RowGroup</a:t>
            </a:r>
            <a:endParaRPr/>
          </a:p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Footer: </a:t>
            </a:r>
            <a:endParaRPr/>
          </a:p>
        </p:txBody>
      </p:sp>
      <p:sp>
        <p:nvSpPr>
          <p:cNvPr id="151" name="Google Shape;296;p31"/>
          <p:cNvSpPr/>
          <p:nvPr/>
        </p:nvSpPr>
        <p:spPr>
          <a:xfrm>
            <a:off x="802925" y="3627050"/>
            <a:ext cx="1764900" cy="190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footer</a:t>
            </a:r>
            <a:endParaRPr/>
          </a:p>
        </p:txBody>
      </p:sp>
      <p:sp>
        <p:nvSpPr>
          <p:cNvPr id="152" name="Google Shape;297;p31"/>
          <p:cNvSpPr/>
          <p:nvPr/>
        </p:nvSpPr>
        <p:spPr>
          <a:xfrm>
            <a:off x="802925" y="2560250"/>
            <a:ext cx="1764900" cy="190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footer</a:t>
            </a:r>
            <a:endParaRPr/>
          </a:p>
        </p:txBody>
      </p:sp>
      <p:sp>
        <p:nvSpPr>
          <p:cNvPr id="153" name="Google Shape;298;p31"/>
          <p:cNvSpPr/>
          <p:nvPr/>
        </p:nvSpPr>
        <p:spPr>
          <a:xfrm>
            <a:off x="802925" y="1645850"/>
            <a:ext cx="1764900" cy="190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footer</a:t>
            </a:r>
            <a:endParaRPr/>
          </a:p>
        </p:txBody>
      </p:sp>
      <p:sp>
        <p:nvSpPr>
          <p:cNvPr id="154" name="Google Shape;299;p31"/>
          <p:cNvSpPr/>
          <p:nvPr/>
        </p:nvSpPr>
        <p:spPr>
          <a:xfrm>
            <a:off x="7123000" y="1620475"/>
            <a:ext cx="1598100" cy="5727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true">
                <a:solidFill>
                  <a:srgbClr val="FF0000"/>
                </a:solidFill>
              </a:rPr>
              <a:t>每个column chunk的index (entry) 和encoding信息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5" name="Google Shape;300;p31"/>
          <p:cNvSpPr/>
          <p:nvPr/>
        </p:nvSpPr>
        <p:spPr>
          <a:xfrm>
            <a:off x="6167075" y="2643600"/>
            <a:ext cx="2631600" cy="1857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ColumnChunkIndex: </a:t>
            </a:r>
            <a:endParaRPr/>
          </a:p>
        </p:txBody>
      </p:sp>
      <p:sp>
        <p:nvSpPr>
          <p:cNvPr id="156" name="Google Shape;301;p31"/>
          <p:cNvSpPr/>
          <p:nvPr/>
        </p:nvSpPr>
        <p:spPr>
          <a:xfrm>
            <a:off x="6329375" y="3124350"/>
            <a:ext cx="2375400" cy="12579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chunkOffset, chunkLength, </a:t>
            </a:r>
            <a:r>
              <a:rPr lang="en-GB" sz="1200" b="true">
                <a:solidFill>
                  <a:srgbClr val="FF0000"/>
                </a:solidFill>
              </a:rPr>
              <a:t>isNullOffset</a:t>
            </a:r>
            <a:r>
              <a:rPr lang="en-GB" sz="1200">
                <a:solidFill>
                  <a:schemeClr val="dk1"/>
                </a:solidFill>
              </a:rPr>
              <a:t>, …, littleEndian, </a:t>
            </a:r>
            <a:r>
              <a:rPr lang="en-GB" sz="1200" b="true">
                <a:solidFill>
                  <a:srgbClr val="FF0000"/>
                </a:solidFill>
              </a:rPr>
              <a:t>nullsPadding</a:t>
            </a:r>
            <a:r>
              <a:rPr lang="en-GB" sz="1200">
                <a:solidFill>
                  <a:schemeClr val="dk1"/>
                </a:solidFill>
              </a:rPr>
              <a:t>, </a:t>
            </a:r>
            <a:r>
              <a:rPr lang="en-GB" sz="1200" b="true">
                <a:solidFill>
                  <a:srgbClr val="FF0000"/>
                </a:solidFill>
              </a:rPr>
              <a:t>isNullAlignment</a:t>
            </a:r>
            <a:endParaRPr sz="1200" b="true">
              <a:solidFill>
                <a:srgbClr val="FF0000"/>
              </a:solidFill>
            </a:endParaRPr>
          </a:p>
        </p:txBody>
      </p:sp>
      <p:sp>
        <p:nvSpPr>
          <p:cNvPr id="157" name="Google Shape;302;p31"/>
          <p:cNvSpPr/>
          <p:nvPr/>
        </p:nvSpPr>
        <p:spPr>
          <a:xfrm>
            <a:off x="5836638" y="1836650"/>
            <a:ext cx="246600" cy="286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303;p31"/>
          <p:cNvSpPr/>
          <p:nvPr/>
        </p:nvSpPr>
        <p:spPr>
          <a:xfrm>
            <a:off x="7363625" y="2306563"/>
            <a:ext cx="306900" cy="3069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304;p31"/>
          <p:cNvSpPr txBox="true"/>
          <p:nvPr/>
        </p:nvSpPr>
        <p:spPr>
          <a:xfrm>
            <a:off x="1018500" y="4638925"/>
            <a:ext cx="7107000" cy="4179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true">
                <a:solidFill>
                  <a:srgbClr val="FF0000"/>
                </a:solidFill>
              </a:rPr>
              <a:t>isNull array的优缺点？</a:t>
            </a:r>
            <a:endParaRPr sz="1800" b="true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309;p32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问题6：如何处理大小端（big/little endian）的兼容性？</a:t>
            </a:r>
            <a:endParaRPr/>
          </a:p>
        </p:txBody>
      </p:sp>
      <p:sp>
        <p:nvSpPr>
          <p:cNvPr id="167" name="Google Shape;310;p32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在column chunk中</a:t>
            </a:r>
            <a:r>
              <a:rPr lang="en-GB"/>
              <a:t>需要存储实际的数据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写入数据时，这些数据经过encoding之后，以二进制的方式存储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读取数据时，需要对数据进行decoding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如果写入和读取发生在不同的机器上，则可能存在大小端问题</a:t>
            </a:r>
            <a:endParaRPr/>
          </a:p>
        </p:txBody>
      </p:sp>
      <p:sp>
        <p:nvSpPr>
          <p:cNvPr id="168" name="Google Shape;311;p32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316;p33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Pixels文件格式</a:t>
            </a:r>
            <a:endParaRPr/>
          </a:p>
        </p:txBody>
      </p:sp>
      <p:sp>
        <p:nvSpPr>
          <p:cNvPr id="171" name="Google Shape;317;p33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72" name="Google Shape;318;p33"/>
          <p:cNvGrpSpPr/>
          <p:nvPr/>
        </p:nvGrpSpPr>
        <p:grpSpPr>
          <a:xfrm>
            <a:off x="431850" y="1179950"/>
            <a:ext cx="2375425" cy="3592700"/>
            <a:chOff x="518375" y="1193925"/>
            <a:chExt cx="2375425" cy="3592700"/>
          </a:xfrm>
        </p:grpSpPr>
        <p:sp>
          <p:nvSpPr>
            <p:cNvPr id="173" name="Google Shape;319;p33"/>
            <p:cNvSpPr/>
            <p:nvPr/>
          </p:nvSpPr>
          <p:spPr>
            <a:xfrm>
              <a:off x="518375" y="1200425"/>
              <a:ext cx="2375400" cy="3586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320;p33"/>
            <p:cNvSpPr/>
            <p:nvPr/>
          </p:nvSpPr>
          <p:spPr>
            <a:xfrm>
              <a:off x="518375" y="4117975"/>
              <a:ext cx="2375400" cy="447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file tail</a:t>
              </a:r>
              <a:endParaRPr/>
            </a:p>
          </p:txBody>
        </p:sp>
        <p:sp>
          <p:nvSpPr>
            <p:cNvPr id="175" name="Google Shape;321;p33"/>
            <p:cNvSpPr/>
            <p:nvPr/>
          </p:nvSpPr>
          <p:spPr>
            <a:xfrm>
              <a:off x="518375" y="4565150"/>
              <a:ext cx="2375400" cy="221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</a:rPr>
                <a:t>file tail start offset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76" name="Google Shape;322;p33"/>
            <p:cNvSpPr/>
            <p:nvPr/>
          </p:nvSpPr>
          <p:spPr>
            <a:xfrm>
              <a:off x="518400" y="3202075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row group n</a:t>
              </a:r>
              <a:endParaRPr/>
            </a:p>
          </p:txBody>
        </p:sp>
        <p:sp>
          <p:nvSpPr>
            <p:cNvPr id="177" name="Google Shape;323;p33"/>
            <p:cNvSpPr/>
            <p:nvPr/>
          </p:nvSpPr>
          <p:spPr>
            <a:xfrm>
              <a:off x="518400" y="2109900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</a:rPr>
                <a:t>row group 2</a:t>
              </a:r>
              <a:endParaRPr/>
            </a:p>
          </p:txBody>
        </p:sp>
        <p:sp>
          <p:nvSpPr>
            <p:cNvPr id="178" name="Google Shape;324;p33"/>
            <p:cNvSpPr/>
            <p:nvPr/>
          </p:nvSpPr>
          <p:spPr>
            <a:xfrm>
              <a:off x="518375" y="1193925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t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row group 1</a:t>
              </a:r>
              <a:endParaRPr/>
            </a:p>
          </p:txBody>
        </p:sp>
        <p:sp>
          <p:nvSpPr>
            <p:cNvPr id="179" name="Google Shape;325;p33"/>
            <p:cNvSpPr txBox="true"/>
            <p:nvPr/>
          </p:nvSpPr>
          <p:spPr>
            <a:xfrm>
              <a:off x="1295800" y="2801425"/>
              <a:ext cx="1232100" cy="51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true" wrap="square" lIns="91425" tIns="91425" rIns="91425" bIns="91425" anchor="t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…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80" name="Google Shape;326;p33"/>
          <p:cNvGrpSpPr/>
          <p:nvPr/>
        </p:nvGrpSpPr>
        <p:grpSpPr>
          <a:xfrm>
            <a:off x="3255138" y="3119950"/>
            <a:ext cx="2377525" cy="1652700"/>
            <a:chOff x="4529075" y="2178700"/>
            <a:chExt cx="2377525" cy="1652700"/>
          </a:xfrm>
        </p:grpSpPr>
        <p:sp>
          <p:nvSpPr>
            <p:cNvPr id="181" name="Google Shape;327;p33"/>
            <p:cNvSpPr/>
            <p:nvPr/>
          </p:nvSpPr>
          <p:spPr>
            <a:xfrm>
              <a:off x="4531200" y="3037300"/>
              <a:ext cx="2375400" cy="7941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postscript:</a:t>
              </a:r>
              <a:endParaRPr/>
            </a:p>
          </p:txBody>
        </p:sp>
        <p:sp>
          <p:nvSpPr>
            <p:cNvPr id="182" name="Google Shape;328;p33"/>
            <p:cNvSpPr/>
            <p:nvPr/>
          </p:nvSpPr>
          <p:spPr>
            <a:xfrm>
              <a:off x="4529075" y="2178700"/>
              <a:ext cx="2375400" cy="858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footer:</a:t>
              </a:r>
              <a:endParaRPr/>
            </a:p>
          </p:txBody>
        </p:sp>
        <p:sp>
          <p:nvSpPr>
            <p:cNvPr id="183" name="Google Shape;329;p33"/>
            <p:cNvSpPr/>
            <p:nvPr/>
          </p:nvSpPr>
          <p:spPr>
            <a:xfrm>
              <a:off x="5509300" y="3173075"/>
              <a:ext cx="1359300" cy="572700"/>
            </a:xfrm>
            <a:prstGeom prst="bracketPair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version, #rows,</a:t>
              </a:r>
              <a:endParaRPr sz="1200">
                <a:solidFill>
                  <a:schemeClr val="dk1"/>
                </a:solidFill>
              </a:endParaRPr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stride, timezone,</a:t>
              </a:r>
              <a:endParaRPr sz="1200">
                <a:solidFill>
                  <a:schemeClr val="dk1"/>
                </a:solidFill>
              </a:endParaRPr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…, magic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84" name="Google Shape;330;p33"/>
            <p:cNvSpPr/>
            <p:nvPr/>
          </p:nvSpPr>
          <p:spPr>
            <a:xfrm>
              <a:off x="5223100" y="2286025"/>
              <a:ext cx="1645500" cy="672600"/>
            </a:xfrm>
            <a:prstGeom prst="bracketPair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types, columnStats,</a:t>
              </a:r>
              <a:endParaRPr sz="1200">
                <a:solidFill>
                  <a:schemeClr val="dk1"/>
                </a:solidFill>
              </a:endParaRPr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true">
                  <a:solidFill>
                    <a:srgbClr val="FF0000"/>
                  </a:solidFill>
                </a:rPr>
                <a:t>rowGroupInfos</a:t>
              </a:r>
              <a:r>
                <a:rPr lang="en-GB" sz="1200">
                  <a:solidFill>
                    <a:schemeClr val="dk1"/>
                  </a:solidFill>
                </a:rPr>
                <a:t>,</a:t>
              </a:r>
              <a:endParaRPr sz="1200">
                <a:solidFill>
                  <a:schemeClr val="dk1"/>
                </a:solidFill>
              </a:endParaRPr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rowGroupStats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sp>
        <p:nvSpPr>
          <p:cNvPr id="185" name="Google Shape;331;p33"/>
          <p:cNvSpPr/>
          <p:nvPr/>
        </p:nvSpPr>
        <p:spPr>
          <a:xfrm>
            <a:off x="3050450" y="1768500"/>
            <a:ext cx="2631600" cy="739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RowGroup</a:t>
            </a:r>
            <a:endParaRPr/>
          </a:p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Information: </a:t>
            </a:r>
            <a:endParaRPr/>
          </a:p>
        </p:txBody>
      </p:sp>
      <p:sp>
        <p:nvSpPr>
          <p:cNvPr id="186" name="Google Shape;332;p33"/>
          <p:cNvSpPr/>
          <p:nvPr/>
        </p:nvSpPr>
        <p:spPr>
          <a:xfrm>
            <a:off x="2865613" y="4207350"/>
            <a:ext cx="331200" cy="306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333;p33"/>
          <p:cNvSpPr/>
          <p:nvPr/>
        </p:nvSpPr>
        <p:spPr>
          <a:xfrm rot="-5400000">
            <a:off x="4518238" y="2690300"/>
            <a:ext cx="331200" cy="306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334;p33"/>
          <p:cNvSpPr/>
          <p:nvPr/>
        </p:nvSpPr>
        <p:spPr>
          <a:xfrm>
            <a:off x="4103024" y="1835100"/>
            <a:ext cx="1500900" cy="5727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true">
                <a:solidFill>
                  <a:srgbClr val="FF0000"/>
                </a:solidFill>
              </a:rPr>
              <a:t>footerOffset</a:t>
            </a:r>
            <a:r>
              <a:rPr lang="en-GB" sz="1200">
                <a:solidFill>
                  <a:schemeClr val="dk1"/>
                </a:solidFill>
              </a:rPr>
              <a:t>, dataLength, </a:t>
            </a:r>
            <a:r>
              <a:rPr lang="en-GB" sz="1200" b="true">
                <a:solidFill>
                  <a:srgbClr val="FF0000"/>
                </a:solidFill>
              </a:rPr>
              <a:t>footerLength</a:t>
            </a:r>
            <a:r>
              <a:rPr lang="en-GB" sz="1200">
                <a:solidFill>
                  <a:schemeClr val="dk1"/>
                </a:solidFill>
              </a:rPr>
              <a:t>, </a:t>
            </a:r>
            <a:r>
              <a:rPr lang="en-GB" sz="1200" b="true">
                <a:solidFill>
                  <a:srgbClr val="FF0000"/>
                </a:solidFill>
              </a:rPr>
              <a:t>#rows</a:t>
            </a:r>
            <a:r>
              <a:rPr lang="en-GB" sz="1200">
                <a:solidFill>
                  <a:schemeClr val="dk1"/>
                </a:solidFill>
              </a:rPr>
              <a:t>, …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89" name="Google Shape;335;p33"/>
          <p:cNvSpPr/>
          <p:nvPr/>
        </p:nvSpPr>
        <p:spPr>
          <a:xfrm>
            <a:off x="6064775" y="1751850"/>
            <a:ext cx="2631600" cy="739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RowGroup</a:t>
            </a:r>
            <a:endParaRPr/>
          </a:p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Footer: </a:t>
            </a:r>
            <a:endParaRPr/>
          </a:p>
        </p:txBody>
      </p:sp>
      <p:sp>
        <p:nvSpPr>
          <p:cNvPr id="190" name="Google Shape;336;p33"/>
          <p:cNvSpPr/>
          <p:nvPr/>
        </p:nvSpPr>
        <p:spPr>
          <a:xfrm>
            <a:off x="716400" y="3841675"/>
            <a:ext cx="1764900" cy="190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footer</a:t>
            </a:r>
            <a:endParaRPr/>
          </a:p>
        </p:txBody>
      </p:sp>
      <p:sp>
        <p:nvSpPr>
          <p:cNvPr id="191" name="Google Shape;337;p33"/>
          <p:cNvSpPr/>
          <p:nvPr/>
        </p:nvSpPr>
        <p:spPr>
          <a:xfrm>
            <a:off x="716400" y="2774875"/>
            <a:ext cx="1764900" cy="190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footer</a:t>
            </a:r>
            <a:endParaRPr/>
          </a:p>
        </p:txBody>
      </p:sp>
      <p:sp>
        <p:nvSpPr>
          <p:cNvPr id="192" name="Google Shape;338;p33"/>
          <p:cNvSpPr/>
          <p:nvPr/>
        </p:nvSpPr>
        <p:spPr>
          <a:xfrm>
            <a:off x="716400" y="1860475"/>
            <a:ext cx="1764900" cy="190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footer</a:t>
            </a:r>
            <a:endParaRPr/>
          </a:p>
        </p:txBody>
      </p:sp>
      <p:sp>
        <p:nvSpPr>
          <p:cNvPr id="193" name="Google Shape;339;p33"/>
          <p:cNvSpPr/>
          <p:nvPr/>
        </p:nvSpPr>
        <p:spPr>
          <a:xfrm>
            <a:off x="7036475" y="1835100"/>
            <a:ext cx="1598100" cy="5727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true">
                <a:solidFill>
                  <a:srgbClr val="FF0000"/>
                </a:solidFill>
              </a:rPr>
              <a:t>每个column chunk的index (entry) 和encoding信息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4" name="Google Shape;340;p33"/>
          <p:cNvSpPr/>
          <p:nvPr/>
        </p:nvSpPr>
        <p:spPr>
          <a:xfrm>
            <a:off x="6080550" y="2858225"/>
            <a:ext cx="2631600" cy="1857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t" anchorCtr="false">
            <a:no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ColumnChunkIndex: </a:t>
            </a:r>
            <a:endParaRPr/>
          </a:p>
        </p:txBody>
      </p:sp>
      <p:sp>
        <p:nvSpPr>
          <p:cNvPr id="195" name="Google Shape;341;p33"/>
          <p:cNvSpPr/>
          <p:nvPr/>
        </p:nvSpPr>
        <p:spPr>
          <a:xfrm>
            <a:off x="6242850" y="3338975"/>
            <a:ext cx="2375400" cy="12579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chunkOffset, chunkLength, </a:t>
            </a:r>
            <a:r>
              <a:rPr lang="en-GB" sz="1200">
                <a:solidFill>
                  <a:schemeClr val="dk1"/>
                </a:solidFill>
              </a:rPr>
              <a:t>isNullOffset, …, </a:t>
            </a:r>
            <a:r>
              <a:rPr lang="en-GB" sz="1200" b="true">
                <a:solidFill>
                  <a:srgbClr val="FF0000"/>
                </a:solidFill>
              </a:rPr>
              <a:t>littleEndian</a:t>
            </a:r>
            <a:r>
              <a:rPr lang="en-GB" sz="1200">
                <a:solidFill>
                  <a:schemeClr val="dk1"/>
                </a:solidFill>
              </a:rPr>
              <a:t>, nullsPadding, isNullAlignment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6" name="Google Shape;342;p33"/>
          <p:cNvSpPr/>
          <p:nvPr/>
        </p:nvSpPr>
        <p:spPr>
          <a:xfrm>
            <a:off x="5750113" y="2051275"/>
            <a:ext cx="246600" cy="286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343;p33"/>
          <p:cNvSpPr/>
          <p:nvPr/>
        </p:nvSpPr>
        <p:spPr>
          <a:xfrm>
            <a:off x="7277100" y="2521188"/>
            <a:ext cx="306900" cy="3069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344;p33"/>
          <p:cNvSpPr txBox="true"/>
          <p:nvPr>
            <p:ph type="body" idx="1"/>
          </p:nvPr>
        </p:nvSpPr>
        <p:spPr>
          <a:xfrm>
            <a:off x="3050450" y="445025"/>
            <a:ext cx="5924700" cy="11670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</a:t>
            </a:r>
            <a:r>
              <a:rPr lang="en-GB"/>
              <a:t>olumn chunk index中记录了每个column chunk在写入时所使用的大小端，读取时需要检查本机的CPU大小端，如果和column chunk不一致，则需要大小端转换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349;p34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问题7：</a:t>
            </a:r>
            <a:r>
              <a:rPr lang="en-GB"/>
              <a:t>column chunk在存储时如何对齐 (align)</a:t>
            </a:r>
            <a:r>
              <a:rPr lang="en-GB"/>
              <a:t>？</a:t>
            </a:r>
            <a:endParaRPr/>
          </a:p>
        </p:txBody>
      </p:sp>
      <p:sp>
        <p:nvSpPr>
          <p:cNvPr id="201" name="Google Shape;350;p34"/>
          <p:cNvSpPr txBox="true"/>
          <p:nvPr>
            <p:ph type="body" idx="1"/>
          </p:nvPr>
        </p:nvSpPr>
        <p:spPr>
          <a:xfrm>
            <a:off x="3458150" y="1152475"/>
            <a:ext cx="53742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有些存储系统中，以align的方式读写效率更高</a:t>
            </a:r>
            <a:endParaRPr/>
          </a:p>
        </p:txBody>
      </p:sp>
      <p:sp>
        <p:nvSpPr>
          <p:cNvPr id="202" name="Google Shape;351;p34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203" name="Google Shape;352;p34"/>
          <p:cNvGrpSpPr/>
          <p:nvPr/>
        </p:nvGrpSpPr>
        <p:grpSpPr>
          <a:xfrm>
            <a:off x="518375" y="1193925"/>
            <a:ext cx="2375425" cy="3592700"/>
            <a:chOff x="518375" y="1193925"/>
            <a:chExt cx="2375425" cy="3592700"/>
          </a:xfrm>
        </p:grpSpPr>
        <p:sp>
          <p:nvSpPr>
            <p:cNvPr id="204" name="Google Shape;353;p34"/>
            <p:cNvSpPr/>
            <p:nvPr/>
          </p:nvSpPr>
          <p:spPr>
            <a:xfrm>
              <a:off x="518375" y="1200425"/>
              <a:ext cx="2375400" cy="35862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354;p34"/>
            <p:cNvSpPr/>
            <p:nvPr/>
          </p:nvSpPr>
          <p:spPr>
            <a:xfrm>
              <a:off x="518375" y="4117975"/>
              <a:ext cx="2375400" cy="447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file tail</a:t>
              </a:r>
              <a:endParaRPr/>
            </a:p>
          </p:txBody>
        </p:sp>
        <p:sp>
          <p:nvSpPr>
            <p:cNvPr id="206" name="Google Shape;355;p34"/>
            <p:cNvSpPr/>
            <p:nvPr/>
          </p:nvSpPr>
          <p:spPr>
            <a:xfrm>
              <a:off x="518375" y="4565150"/>
              <a:ext cx="2375400" cy="221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</a:rPr>
                <a:t>file tail start offset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7" name="Google Shape;356;p34"/>
            <p:cNvSpPr/>
            <p:nvPr/>
          </p:nvSpPr>
          <p:spPr>
            <a:xfrm>
              <a:off x="518400" y="3202075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row group n</a:t>
              </a:r>
              <a:endParaRPr/>
            </a:p>
          </p:txBody>
        </p:sp>
        <p:sp>
          <p:nvSpPr>
            <p:cNvPr id="208" name="Google Shape;357;p34"/>
            <p:cNvSpPr/>
            <p:nvPr/>
          </p:nvSpPr>
          <p:spPr>
            <a:xfrm>
              <a:off x="518400" y="2109900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</a:rPr>
                <a:t>row group 2</a:t>
              </a:r>
              <a:endParaRPr/>
            </a:p>
          </p:txBody>
        </p:sp>
        <p:sp>
          <p:nvSpPr>
            <p:cNvPr id="209" name="Google Shape;358;p34"/>
            <p:cNvSpPr/>
            <p:nvPr/>
          </p:nvSpPr>
          <p:spPr>
            <a:xfrm>
              <a:off x="518375" y="1193925"/>
              <a:ext cx="2375400" cy="91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row group 1</a:t>
              </a:r>
              <a:endParaRPr/>
            </a:p>
          </p:txBody>
        </p:sp>
        <p:sp>
          <p:nvSpPr>
            <p:cNvPr id="210" name="Google Shape;359;p34"/>
            <p:cNvSpPr txBox="true"/>
            <p:nvPr/>
          </p:nvSpPr>
          <p:spPr>
            <a:xfrm>
              <a:off x="1295800" y="2801425"/>
              <a:ext cx="1232100" cy="51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true" wrap="square" lIns="91425" tIns="91425" rIns="91425" bIns="91425" anchor="t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2"/>
                  </a:solidFill>
                </a:rPr>
                <a:t>…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211" name="Google Shape;360;p34"/>
          <p:cNvGrpSpPr/>
          <p:nvPr/>
        </p:nvGrpSpPr>
        <p:grpSpPr>
          <a:xfrm>
            <a:off x="4494363" y="3133925"/>
            <a:ext cx="2377538" cy="1923000"/>
            <a:chOff x="4529075" y="2178700"/>
            <a:chExt cx="2377538" cy="1923000"/>
          </a:xfrm>
        </p:grpSpPr>
        <p:sp>
          <p:nvSpPr>
            <p:cNvPr id="212" name="Google Shape;361;p34"/>
            <p:cNvSpPr/>
            <p:nvPr/>
          </p:nvSpPr>
          <p:spPr>
            <a:xfrm>
              <a:off x="4531213" y="3037300"/>
              <a:ext cx="2375400" cy="10644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t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postscript:</a:t>
              </a:r>
              <a:endParaRPr/>
            </a:p>
          </p:txBody>
        </p:sp>
        <p:sp>
          <p:nvSpPr>
            <p:cNvPr id="213" name="Google Shape;362;p34"/>
            <p:cNvSpPr/>
            <p:nvPr/>
          </p:nvSpPr>
          <p:spPr>
            <a:xfrm>
              <a:off x="4529075" y="2178700"/>
              <a:ext cx="2375400" cy="858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l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footer:</a:t>
              </a:r>
              <a:endParaRPr/>
            </a:p>
          </p:txBody>
        </p:sp>
        <p:sp>
          <p:nvSpPr>
            <p:cNvPr id="214" name="Google Shape;363;p34"/>
            <p:cNvSpPr/>
            <p:nvPr/>
          </p:nvSpPr>
          <p:spPr>
            <a:xfrm>
              <a:off x="4701238" y="3416975"/>
              <a:ext cx="2167500" cy="572700"/>
            </a:xfrm>
            <a:prstGeom prst="bracketPair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version</a:t>
              </a:r>
              <a:r>
                <a:rPr lang="en-GB" sz="1200"/>
                <a:t>, #rows,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/>
                <a:t>stride, timezone, …, </a:t>
              </a:r>
              <a:r>
                <a:rPr lang="en-GB" sz="1200" b="true">
                  <a:solidFill>
                    <a:srgbClr val="FF0000"/>
                  </a:solidFill>
                </a:rPr>
                <a:t>columnChunkAlignment</a:t>
              </a:r>
              <a:r>
                <a:rPr lang="en-GB" sz="1200"/>
                <a:t>, </a:t>
              </a:r>
              <a:r>
                <a:rPr lang="en-GB" sz="1200">
                  <a:solidFill>
                    <a:schemeClr val="dk1"/>
                  </a:solidFill>
                </a:rPr>
                <a:t>magic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215" name="Google Shape;364;p34"/>
            <p:cNvSpPr/>
            <p:nvPr/>
          </p:nvSpPr>
          <p:spPr>
            <a:xfrm>
              <a:off x="5223100" y="2286025"/>
              <a:ext cx="1645500" cy="672600"/>
            </a:xfrm>
            <a:prstGeom prst="bracketPair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true" wrap="square" lIns="91425" tIns="91425" rIns="91425" bIns="91425" anchor="ctr" anchorCtr="false">
              <a:noAutofit/>
            </a:bodyPr>
            <a:lstStyle/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</a:rPr>
                <a:t>types</a:t>
              </a:r>
              <a:r>
                <a:rPr lang="en-GB" sz="1200"/>
                <a:t>, columnStats,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/>
                <a:t>rowGroupInfos,</a:t>
              </a:r>
              <a:endParaRPr sz="1200"/>
            </a:p>
            <a:p>
              <a:pPr marL="0" lvl="0" indent="0" algn="ctr" rtl="false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/>
                <a:t>rowGroupStats</a:t>
              </a:r>
              <a:endParaRPr sz="1200"/>
            </a:p>
          </p:txBody>
        </p:sp>
      </p:grpSp>
      <p:sp>
        <p:nvSpPr>
          <p:cNvPr id="216" name="Google Shape;365;p34"/>
          <p:cNvSpPr/>
          <p:nvPr/>
        </p:nvSpPr>
        <p:spPr>
          <a:xfrm rot="987">
            <a:off x="3190204" y="4224072"/>
            <a:ext cx="1044600" cy="3147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true" wrap="square" lIns="91425" tIns="91425" rIns="91425" bIns="91425" anchor="ctr" anchorCtr="false">
            <a:noAutofit/>
          </a:bodyPr>
          <a:lstStyle/>
          <a:p>
            <a:pPr marL="0" lvl="0" indent="0" algn="ctr" rtl="false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370;p35"/>
          <p:cNvSpPr txBox="true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 fontScale="90000"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文件格式的定义</a:t>
            </a:r>
            <a:endParaRPr/>
          </a:p>
        </p:txBody>
      </p:sp>
      <p:sp>
        <p:nvSpPr>
          <p:cNvPr id="219" name="Google Shape;371;p35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</a:t>
            </a:r>
            <a:r>
              <a:rPr lang="en-GB"/>
              <a:t>使用google protocol buffer (PB)来定义文件格式，并对文件中的file tail、row group footer等元信息进行序列化和反序列化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https://github.com/pixelsdb/pixels/blob/master/proto/pixels.proto</a:t>
            </a:r>
            <a:endParaRPr/>
          </a:p>
        </p:txBody>
      </p:sp>
      <p:sp>
        <p:nvSpPr>
          <p:cNvPr id="220" name="Google Shape;372;p35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377;p36"/>
          <p:cNvSpPr txBox="true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true" wrap="square" lIns="91425" tIns="91425" rIns="91425" bIns="91425" anchor="t" anchorCtr="false">
            <a:normAutofit/>
          </a:bodyPr>
          <a:lstStyle/>
          <a:p>
            <a:pPr marL="0" lvl="0" indent="0" algn="l" rtl="false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卞昊穹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信息楼125</a:t>
            </a:r>
            <a:endParaRPr/>
          </a:p>
          <a:p>
            <a:pPr marL="0" lvl="0" indent="0" algn="l" rtl="false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bianhq@ruc.edu.cn</a:t>
            </a:r>
            <a:endParaRPr/>
          </a:p>
        </p:txBody>
      </p:sp>
      <p:sp>
        <p:nvSpPr>
          <p:cNvPr id="223" name="Google Shape;378;p36"/>
          <p:cNvSpPr txBox="true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true" wrap="square" lIns="91425" tIns="91425" rIns="91425" bIns="91425" anchor="ctr" anchorCtr="false">
            <a:normAutofit/>
          </a:bodyPr>
          <a:lstStyle/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2025-10-14T22:42:21Z</dcterms:created>
  <dcterms:modified xsi:type="dcterms:W3CDTF">2025-10-14T22:42:21Z</dcterms:modified>
</cp:coreProperties>
</file>