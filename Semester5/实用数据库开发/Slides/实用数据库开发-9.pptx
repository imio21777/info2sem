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7f394b67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7f394b67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7f394b67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7f394b67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7f394b67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7f394b67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7f394b67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17f394b67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7f394b67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7f394b67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7f394b67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7f394b67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7f394b67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17f394b67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7f394b676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7f394b676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7f394b67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7f394b67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7f394b676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7f394b67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7f394b67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17f394b67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17f394b67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17f394b67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17f394b676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17f394b676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17f394b676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17f394b676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17f394b676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17f394b676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7f394b67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17f394b67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17f394b676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17f394b676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7f394b676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17f394b676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7f394b676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17f394b676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9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10.png"/><Relationship Id="rId1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354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/>
              <a:t>实用数据库开发 (9)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/>
              <a:t>数据湖三剑客与Pixels数据读取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3443725"/>
            <a:ext cx="8520600" cy="13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595959"/>
                </a:solidFill>
              </a:rPr>
              <a:t>中国人民大学信息学院</a:t>
            </a:r>
            <a:endParaRPr sz="28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595959"/>
                </a:solidFill>
              </a:rPr>
              <a:t>教师：卞昊穹</a:t>
            </a:r>
            <a:endParaRPr sz="28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595959"/>
                </a:solidFill>
              </a:rPr>
              <a:t>助教：王浩哲，耿东杨，尹佳</a:t>
            </a:r>
            <a:endParaRPr sz="28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rgbClr val="595959"/>
                </a:solidFill>
              </a:rPr>
              <a:t>2024-11-12</a:t>
            </a:r>
            <a:endParaRPr sz="2800">
              <a:solidFill>
                <a:srgbClr val="595959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314" y="202475"/>
            <a:ext cx="1155376" cy="115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数据湖架构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413" y="1082675"/>
            <a:ext cx="6959185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512125" y="1574050"/>
            <a:ext cx="1796700" cy="636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数据湖Table Storage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在open file format</a:t>
            </a:r>
            <a:r>
              <a:rPr lang="en-GB"/>
              <a:t>基础之上，进一步提供相对完整的数据管理功能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Catalog， schema evolution，data ingestion，data update…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数据湖逐渐回归数据仓库</a:t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Storage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storage is very similar to the table space in DBMSs.</a:t>
            </a:r>
            <a:endParaRPr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1936050" y="1448550"/>
            <a:ext cx="6639300" cy="818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900" y="1622541"/>
            <a:ext cx="906075" cy="47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9750" y="1622537"/>
            <a:ext cx="1045336" cy="47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39838" y="1664512"/>
            <a:ext cx="1223425" cy="38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8625" y="1560750"/>
            <a:ext cx="866259" cy="5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47500" y="1560750"/>
            <a:ext cx="659995" cy="5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51900" y="1591652"/>
            <a:ext cx="1086120" cy="532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1923338" y="3272300"/>
            <a:ext cx="6639300" cy="818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22188" y="3392839"/>
            <a:ext cx="1223425" cy="577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60738" y="3333213"/>
            <a:ext cx="964475" cy="69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79313" y="3333223"/>
            <a:ext cx="1624783" cy="69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>
            <a:off x="1936050" y="2360425"/>
            <a:ext cx="6639300" cy="8184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56025" y="2645935"/>
            <a:ext cx="1624775" cy="332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886649" y="1898575"/>
            <a:ext cx="2124976" cy="1540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374875" y="2501163"/>
            <a:ext cx="1838676" cy="50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515050" y="1579025"/>
            <a:ext cx="119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Query Engine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581363" y="3481400"/>
            <a:ext cx="119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File Storage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94075" y="2569525"/>
            <a:ext cx="119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Table Storage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1051300" y="4293700"/>
            <a:ext cx="7165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 table metadata, including schema, catalog, cache, and index, are maintained in table storage.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</a:t>
            </a:r>
            <a:r>
              <a:rPr lang="en-GB"/>
              <a:t>erformant and Mutable Table Storage </a:t>
            </a:r>
            <a:endParaRPr/>
          </a:p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底层存储只能提供单个文件或Object上的一致性保证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但一个Table往往会包含多个文件或Object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例如：一个查询从所有文件中删除某个用户的订单记录，其他查询可能会看到不一致的状态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metadata访问也有一致性和性能问题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人们越来越怀念Data Warehouse</a:t>
            </a:r>
            <a:endParaRPr/>
          </a:p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数据湖三剑客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850" y="1395200"/>
            <a:ext cx="4027825" cy="11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7547" y="1938100"/>
            <a:ext cx="1587975" cy="158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73425" y="3026885"/>
            <a:ext cx="3868827" cy="165806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457200" y="205978"/>
            <a:ext cx="82296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Table Storage</a:t>
            </a:r>
            <a:r>
              <a:rPr lang="en-GB" sz="2500">
                <a:solidFill>
                  <a:srgbClr val="1F497D"/>
                </a:solidFill>
                <a:latin typeface="Calibri"/>
                <a:ea typeface="Calibri"/>
                <a:cs typeface="Calibri"/>
                <a:sym typeface="Calibri"/>
              </a:rPr>
              <a:t>简史</a:t>
            </a:r>
            <a:endParaRPr sz="2500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457200" y="914404"/>
            <a:ext cx="82296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industry people say ‘data lake’, they are very likely talking about the ‘table storage’.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19"/>
          <p:cNvCxnSpPr/>
          <p:nvPr/>
        </p:nvCxnSpPr>
        <p:spPr>
          <a:xfrm flipH="1" rot="10800000">
            <a:off x="493900" y="3207600"/>
            <a:ext cx="8008200" cy="69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9"/>
          <p:cNvCxnSpPr/>
          <p:nvPr/>
        </p:nvCxnSpPr>
        <p:spPr>
          <a:xfrm>
            <a:off x="860775" y="3016950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9"/>
          <p:cNvSpPr txBox="1"/>
          <p:nvPr/>
        </p:nvSpPr>
        <p:spPr>
          <a:xfrm>
            <a:off x="239875" y="1987950"/>
            <a:ext cx="275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2017, Databricks launched </a:t>
            </a:r>
            <a:r>
              <a:rPr b="1" lang="en-GB" sz="1600">
                <a:latin typeface="Calibri"/>
                <a:ea typeface="Calibri"/>
                <a:cs typeface="Calibri"/>
                <a:sym typeface="Calibri"/>
              </a:rPr>
              <a:t>Delta Lake</a:t>
            </a: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1" lang="en-GB" sz="1600" u="sng">
                <a:latin typeface="Calibri"/>
                <a:ea typeface="Calibri"/>
                <a:cs typeface="Calibri"/>
                <a:sym typeface="Calibri"/>
              </a:rPr>
              <a:t>replace the lambda architecture</a:t>
            </a: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19"/>
          <p:cNvCxnSpPr/>
          <p:nvPr/>
        </p:nvCxnSpPr>
        <p:spPr>
          <a:xfrm>
            <a:off x="1436525" y="3002250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9"/>
          <p:cNvSpPr txBox="1"/>
          <p:nvPr/>
        </p:nvSpPr>
        <p:spPr>
          <a:xfrm>
            <a:off x="239875" y="3358350"/>
            <a:ext cx="341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2017-2018,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Netflix opensourced </a:t>
            </a:r>
            <a:r>
              <a:rPr b="1" lang="en-GB" sz="1600">
                <a:latin typeface="Calibri"/>
                <a:ea typeface="Calibri"/>
                <a:cs typeface="Calibri"/>
                <a:sym typeface="Calibri"/>
              </a:rPr>
              <a:t>Iceberg</a:t>
            </a: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;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Uber opensourced </a:t>
            </a:r>
            <a:r>
              <a:rPr b="1" lang="en-GB" sz="1600">
                <a:latin typeface="Calibri"/>
                <a:ea typeface="Calibri"/>
                <a:cs typeface="Calibri"/>
                <a:sym typeface="Calibri"/>
              </a:rPr>
              <a:t>Hudi</a:t>
            </a: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They support more queries engines.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9"/>
          <p:cNvCxnSpPr/>
          <p:nvPr/>
        </p:nvCxnSpPr>
        <p:spPr>
          <a:xfrm>
            <a:off x="3723925" y="3002250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/>
        </p:nvSpPr>
        <p:spPr>
          <a:xfrm>
            <a:off x="2667000" y="1635150"/>
            <a:ext cx="2137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2019,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Databricks </a:t>
            </a:r>
            <a:r>
              <a:rPr b="1" lang="en-GB" sz="1600" u="sng">
                <a:latin typeface="Calibri"/>
                <a:ea typeface="Calibri"/>
                <a:cs typeface="Calibri"/>
                <a:sym typeface="Calibri"/>
              </a:rPr>
              <a:t>partially</a:t>
            </a: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 opensourced a Delta Lake to compete with Iceberg and Hudi.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9"/>
          <p:cNvCxnSpPr/>
          <p:nvPr/>
        </p:nvCxnSpPr>
        <p:spPr>
          <a:xfrm>
            <a:off x="5247925" y="3002250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19"/>
          <p:cNvSpPr txBox="1"/>
          <p:nvPr/>
        </p:nvSpPr>
        <p:spPr>
          <a:xfrm>
            <a:off x="4699000" y="1665450"/>
            <a:ext cx="2102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2020,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Databricks proposed </a:t>
            </a:r>
            <a:r>
              <a:rPr b="1" lang="en-GB" sz="1600" u="sng">
                <a:latin typeface="Calibri"/>
                <a:ea typeface="Calibri"/>
                <a:cs typeface="Calibri"/>
                <a:sym typeface="Calibri"/>
              </a:rPr>
              <a:t>lakehouse</a:t>
            </a: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 concept to compete with Snowflake.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7161" y="1520425"/>
            <a:ext cx="570088" cy="4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486" y="1501025"/>
            <a:ext cx="570088" cy="4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4500725" y="3370950"/>
            <a:ext cx="2829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2020-now,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Everyone is talking about ‘lakehouse’, but most people went to build their own lakehouse on Iceberg or Huidi.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19"/>
          <p:cNvCxnSpPr/>
          <p:nvPr/>
        </p:nvCxnSpPr>
        <p:spPr>
          <a:xfrm>
            <a:off x="7794975" y="3016950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1F49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9"/>
          <p:cNvSpPr txBox="1"/>
          <p:nvPr/>
        </p:nvSpPr>
        <p:spPr>
          <a:xfrm>
            <a:off x="6801700" y="1635150"/>
            <a:ext cx="2229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2022,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Databricks </a:t>
            </a:r>
            <a:r>
              <a:rPr b="1" lang="en-GB" sz="1600" u="sng">
                <a:latin typeface="Calibri"/>
                <a:ea typeface="Calibri"/>
                <a:cs typeface="Calibri"/>
                <a:sym typeface="Calibri"/>
              </a:rPr>
              <a:t>fully</a:t>
            </a:r>
            <a:r>
              <a:rPr lang="en-GB" sz="1600">
                <a:latin typeface="Calibri"/>
                <a:ea typeface="Calibri"/>
                <a:cs typeface="Calibri"/>
                <a:sym typeface="Calibri"/>
              </a:rPr>
              <a:t> opensourced Delta Lake to compete with Iceberg and Hudi.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4561" y="1520425"/>
            <a:ext cx="570088" cy="4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818450" y="4594500"/>
            <a:ext cx="779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Record update is one of the most important feature for a table storage.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Delta Lake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VLDB’ 20, </a:t>
            </a:r>
            <a:r>
              <a:rPr lang="en-GB" sz="1600"/>
              <a:t>Delta Lake: High-Performance ACID Table Storage over Cloud Object Stores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Object Storage Service (S3) 逐渐成为海量数据存储和大数据分析的事实标准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S3上采用ORC等列存储格式进行数据存储，但这只能解决基本都数据读写问题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3" name="Google Shape;1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Delta Lake</a:t>
            </a:r>
            <a:endParaRPr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</a:t>
            </a:r>
            <a:r>
              <a:rPr lang="en-GB"/>
              <a:t>aintain information about </a:t>
            </a:r>
            <a:r>
              <a:rPr b="1" lang="en-GB">
                <a:solidFill>
                  <a:srgbClr val="FF0000"/>
                </a:solidFill>
              </a:rPr>
              <a:t>which objects</a:t>
            </a:r>
            <a:r>
              <a:rPr lang="en-GB"/>
              <a:t> are part of a Delta table in an </a:t>
            </a:r>
            <a:r>
              <a:rPr b="1" lang="en-GB">
                <a:solidFill>
                  <a:srgbClr val="FF0000"/>
                </a:solidFill>
              </a:rPr>
              <a:t>ACID manner</a:t>
            </a:r>
            <a:r>
              <a:rPr lang="en-GB"/>
              <a:t>, using a </a:t>
            </a:r>
            <a:r>
              <a:rPr b="1" lang="en-GB">
                <a:solidFill>
                  <a:srgbClr val="FF0000"/>
                </a:solidFill>
              </a:rPr>
              <a:t>write-ahead log</a:t>
            </a:r>
            <a:r>
              <a:rPr lang="en-GB"/>
              <a:t> that is itself stored in the </a:t>
            </a:r>
            <a:r>
              <a:rPr b="1" lang="en-GB">
                <a:solidFill>
                  <a:srgbClr val="FF0000"/>
                </a:solidFill>
              </a:rPr>
              <a:t>cloud object store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Delta Lake中的log记录了对object（文件）的修改操作，也记录了一些文件中的统计信息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Log本身也写入object sotrage，先存成json格式，定期合并成parquet格式</a:t>
            </a:r>
            <a:endParaRPr/>
          </a:p>
        </p:txBody>
      </p:sp>
      <p:sp>
        <p:nvSpPr>
          <p:cNvPr id="150" name="Google Shape;15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Delta Lake</a:t>
            </a:r>
            <a:endParaRPr/>
          </a:p>
        </p:txBody>
      </p:sp>
      <p:sp>
        <p:nvSpPr>
          <p:cNvPr id="156" name="Google Shape;15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800" y="1090625"/>
            <a:ext cx="549439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Delta Lake中的</a:t>
            </a:r>
            <a:r>
              <a:rPr lang="en-GB"/>
              <a:t>Update</a:t>
            </a:r>
            <a:r>
              <a:rPr lang="en-GB"/>
              <a:t>实现</a:t>
            </a:r>
            <a:endParaRPr/>
          </a:p>
        </p:txBody>
      </p:sp>
      <p:sp>
        <p:nvSpPr>
          <p:cNvPr id="163" name="Google Shape;16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2348075" y="19910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new data records</a:t>
            </a:r>
            <a:endParaRPr sz="1200"/>
          </a:p>
        </p:txBody>
      </p:sp>
      <p:sp>
        <p:nvSpPr>
          <p:cNvPr id="165" name="Google Shape;165;p23"/>
          <p:cNvSpPr/>
          <p:nvPr/>
        </p:nvSpPr>
        <p:spPr>
          <a:xfrm>
            <a:off x="5153350" y="19910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json log</a:t>
            </a:r>
            <a:endParaRPr/>
          </a:p>
        </p:txBody>
      </p:sp>
      <p:sp>
        <p:nvSpPr>
          <p:cNvPr id="166" name="Google Shape;166;p23"/>
          <p:cNvSpPr txBox="1"/>
          <p:nvPr/>
        </p:nvSpPr>
        <p:spPr>
          <a:xfrm>
            <a:off x="3582800" y="925675"/>
            <a:ext cx="182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INSERT INTO t1 SELECT * FROM t2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23"/>
          <p:cNvCxnSpPr>
            <a:stCxn id="166" idx="2"/>
            <a:endCxn id="164" idx="0"/>
          </p:cNvCxnSpPr>
          <p:nvPr/>
        </p:nvCxnSpPr>
        <p:spPr>
          <a:xfrm flipH="1">
            <a:off x="3053750" y="1541275"/>
            <a:ext cx="1442700" cy="4497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3"/>
          <p:cNvCxnSpPr>
            <a:stCxn id="166" idx="2"/>
            <a:endCxn id="165" idx="0"/>
          </p:cNvCxnSpPr>
          <p:nvPr/>
        </p:nvCxnSpPr>
        <p:spPr>
          <a:xfrm>
            <a:off x="4496450" y="1541275"/>
            <a:ext cx="1362600" cy="4497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3"/>
          <p:cNvSpPr/>
          <p:nvPr/>
        </p:nvSpPr>
        <p:spPr>
          <a:xfrm>
            <a:off x="2348075" y="23974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</a:rPr>
              <a:t>new data records</a:t>
            </a:r>
            <a:endParaRPr/>
          </a:p>
        </p:txBody>
      </p:sp>
      <p:sp>
        <p:nvSpPr>
          <p:cNvPr id="170" name="Google Shape;170;p23"/>
          <p:cNvSpPr/>
          <p:nvPr/>
        </p:nvSpPr>
        <p:spPr>
          <a:xfrm>
            <a:off x="2348075" y="30437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</a:rPr>
              <a:t>new data records</a:t>
            </a:r>
            <a:endParaRPr/>
          </a:p>
        </p:txBody>
      </p:sp>
      <p:sp>
        <p:nvSpPr>
          <p:cNvPr id="171" name="Google Shape;171;p23"/>
          <p:cNvSpPr/>
          <p:nvPr/>
        </p:nvSpPr>
        <p:spPr>
          <a:xfrm>
            <a:off x="5153350" y="23974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json log</a:t>
            </a:r>
            <a:endParaRPr/>
          </a:p>
        </p:txBody>
      </p:sp>
      <p:sp>
        <p:nvSpPr>
          <p:cNvPr id="172" name="Google Shape;172;p23"/>
          <p:cNvSpPr/>
          <p:nvPr/>
        </p:nvSpPr>
        <p:spPr>
          <a:xfrm>
            <a:off x="5153350" y="30437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json log</a:t>
            </a:r>
            <a:endParaRPr/>
          </a:p>
        </p:txBody>
      </p:sp>
      <p:sp>
        <p:nvSpPr>
          <p:cNvPr id="173" name="Google Shape;173;p23"/>
          <p:cNvSpPr txBox="1"/>
          <p:nvPr/>
        </p:nvSpPr>
        <p:spPr>
          <a:xfrm>
            <a:off x="2750275" y="2643575"/>
            <a:ext cx="7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3"/>
          <p:cNvSpPr txBox="1"/>
          <p:nvPr/>
        </p:nvSpPr>
        <p:spPr>
          <a:xfrm>
            <a:off x="5645875" y="2643575"/>
            <a:ext cx="7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3"/>
          <p:cNvSpPr/>
          <p:nvPr/>
        </p:nvSpPr>
        <p:spPr>
          <a:xfrm>
            <a:off x="2291675" y="3994875"/>
            <a:ext cx="15240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Parquet data file</a:t>
            </a:r>
            <a:endParaRPr/>
          </a:p>
        </p:txBody>
      </p:sp>
      <p:sp>
        <p:nvSpPr>
          <p:cNvPr id="176" name="Google Shape;176;p23"/>
          <p:cNvSpPr/>
          <p:nvPr/>
        </p:nvSpPr>
        <p:spPr>
          <a:xfrm>
            <a:off x="5153350" y="3923625"/>
            <a:ext cx="1411200" cy="4740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Parquet log file + checkpoint</a:t>
            </a:r>
            <a:endParaRPr/>
          </a:p>
        </p:txBody>
      </p:sp>
      <p:sp>
        <p:nvSpPr>
          <p:cNvPr id="177" name="Google Shape;177;p23"/>
          <p:cNvSpPr txBox="1"/>
          <p:nvPr/>
        </p:nvSpPr>
        <p:spPr>
          <a:xfrm>
            <a:off x="1762475" y="1504250"/>
            <a:ext cx="12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table 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6105875" y="1504250"/>
            <a:ext cx="12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metadata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2891375" y="3479800"/>
            <a:ext cx="282300" cy="400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5710775" y="3479800"/>
            <a:ext cx="282300" cy="400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2311175" y="3409250"/>
            <a:ext cx="144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compact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5130575" y="3409250"/>
            <a:ext cx="144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compact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818450" y="4594500"/>
            <a:ext cx="779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这其实是一种</a:t>
            </a: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mini-batch update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23"/>
          <p:cNvCxnSpPr>
            <a:stCxn id="165" idx="1"/>
            <a:endCxn id="164" idx="3"/>
          </p:cNvCxnSpPr>
          <p:nvPr/>
        </p:nvCxnSpPr>
        <p:spPr>
          <a:xfrm rot="10800000">
            <a:off x="3759250" y="2156825"/>
            <a:ext cx="13941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3"/>
          <p:cNvCxnSpPr>
            <a:stCxn id="171" idx="1"/>
            <a:endCxn id="169" idx="3"/>
          </p:cNvCxnSpPr>
          <p:nvPr/>
        </p:nvCxnSpPr>
        <p:spPr>
          <a:xfrm rot="10800000">
            <a:off x="3759250" y="2563225"/>
            <a:ext cx="13941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3"/>
          <p:cNvCxnSpPr>
            <a:stCxn id="172" idx="1"/>
            <a:endCxn id="170" idx="3"/>
          </p:cNvCxnSpPr>
          <p:nvPr/>
        </p:nvCxnSpPr>
        <p:spPr>
          <a:xfrm rot="10800000">
            <a:off x="3759250" y="3209525"/>
            <a:ext cx="13941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3"/>
          <p:cNvCxnSpPr>
            <a:stCxn id="176" idx="1"/>
            <a:endCxn id="175" idx="3"/>
          </p:cNvCxnSpPr>
          <p:nvPr/>
        </p:nvCxnSpPr>
        <p:spPr>
          <a:xfrm rot="10800000">
            <a:off x="3815650" y="4160625"/>
            <a:ext cx="1337700" cy="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8" name="Google Shape;188;p23"/>
          <p:cNvSpPr txBox="1"/>
          <p:nvPr/>
        </p:nvSpPr>
        <p:spPr>
          <a:xfrm>
            <a:off x="6855825" y="2970350"/>
            <a:ext cx="2068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Queries first read the metadata file to find the data files.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支持的操作</a:t>
            </a:r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311700" y="1152475"/>
            <a:ext cx="8520600" cy="36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Delta Lake</a:t>
            </a:r>
            <a:r>
              <a:rPr lang="en-GB"/>
              <a:t>通过WAL可以支持文件级别的可串行化事务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因此，可以实现：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对多个objects的ACID操作，如upsert, delete, merge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用户可以更小的粒度的CDC或streaming ingestion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后台可以优化数据的数据布局(data layout)，而对client没有正确性的影响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Schema evolution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time travel</a:t>
            </a:r>
            <a:endParaRPr/>
          </a:p>
        </p:txBody>
      </p:sp>
      <p:sp>
        <p:nvSpPr>
          <p:cNvPr id="195" name="Google Shape;19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Iceberg</a:t>
            </a:r>
            <a:r>
              <a:rPr lang="en-GB"/>
              <a:t>中的Update</a:t>
            </a:r>
            <a:r>
              <a:rPr lang="en-GB"/>
              <a:t>实现</a:t>
            </a:r>
            <a:endParaRPr/>
          </a:p>
        </p:txBody>
      </p:sp>
      <p:sp>
        <p:nvSpPr>
          <p:cNvPr id="201" name="Google Shape;2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2" name="Google Shape;202;p25"/>
          <p:cNvSpPr/>
          <p:nvPr/>
        </p:nvSpPr>
        <p:spPr>
          <a:xfrm>
            <a:off x="2344400" y="215802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data file</a:t>
            </a:r>
            <a:endParaRPr sz="1200"/>
          </a:p>
        </p:txBody>
      </p:sp>
      <p:sp>
        <p:nvSpPr>
          <p:cNvPr id="203" name="Google Shape;203;p25"/>
          <p:cNvSpPr/>
          <p:nvPr/>
        </p:nvSpPr>
        <p:spPr>
          <a:xfrm>
            <a:off x="5149675" y="215802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manifest file</a:t>
            </a:r>
            <a:endParaRPr/>
          </a:p>
        </p:txBody>
      </p:sp>
      <p:sp>
        <p:nvSpPr>
          <p:cNvPr id="204" name="Google Shape;204;p25"/>
          <p:cNvSpPr txBox="1"/>
          <p:nvPr/>
        </p:nvSpPr>
        <p:spPr>
          <a:xfrm>
            <a:off x="3579125" y="1092625"/>
            <a:ext cx="182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INSERT INTO t1 SELECT * FROM t2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25"/>
          <p:cNvCxnSpPr>
            <a:stCxn id="204" idx="2"/>
            <a:endCxn id="202" idx="0"/>
          </p:cNvCxnSpPr>
          <p:nvPr/>
        </p:nvCxnSpPr>
        <p:spPr>
          <a:xfrm flipH="1">
            <a:off x="3050075" y="1708225"/>
            <a:ext cx="1442700" cy="4497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25"/>
          <p:cNvCxnSpPr>
            <a:stCxn id="204" idx="2"/>
            <a:endCxn id="203" idx="0"/>
          </p:cNvCxnSpPr>
          <p:nvPr/>
        </p:nvCxnSpPr>
        <p:spPr>
          <a:xfrm>
            <a:off x="4492775" y="1708225"/>
            <a:ext cx="1362600" cy="4497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5"/>
          <p:cNvSpPr/>
          <p:nvPr/>
        </p:nvSpPr>
        <p:spPr>
          <a:xfrm>
            <a:off x="2344400" y="256442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data file</a:t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2344400" y="321072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data file</a:t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5149675" y="321072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000000"/>
                </a:solidFill>
              </a:rPr>
              <a:t>manifest file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2746600" y="2810525"/>
            <a:ext cx="7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5571650" y="2595250"/>
            <a:ext cx="7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/>
          <p:nvPr/>
        </p:nvSpPr>
        <p:spPr>
          <a:xfrm>
            <a:off x="2288000" y="4161825"/>
            <a:ext cx="15240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file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1758800" y="1671200"/>
            <a:ext cx="12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table 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7633275" y="1625275"/>
            <a:ext cx="129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metadata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2887700" y="3646750"/>
            <a:ext cx="282300" cy="400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2307500" y="3576200"/>
            <a:ext cx="144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compact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6981325" y="2263750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metadata file +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manifest list</a:t>
            </a:r>
            <a:endParaRPr/>
          </a:p>
        </p:txBody>
      </p:sp>
      <p:cxnSp>
        <p:nvCxnSpPr>
          <p:cNvPr id="218" name="Google Shape;218;p25"/>
          <p:cNvCxnSpPr>
            <a:stCxn id="204" idx="2"/>
            <a:endCxn id="217" idx="0"/>
          </p:cNvCxnSpPr>
          <p:nvPr/>
        </p:nvCxnSpPr>
        <p:spPr>
          <a:xfrm>
            <a:off x="4492775" y="1708225"/>
            <a:ext cx="3194100" cy="5556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25"/>
          <p:cNvCxnSpPr>
            <a:stCxn id="217" idx="1"/>
            <a:endCxn id="203" idx="3"/>
          </p:cNvCxnSpPr>
          <p:nvPr/>
        </p:nvCxnSpPr>
        <p:spPr>
          <a:xfrm rot="10800000">
            <a:off x="6561025" y="2323900"/>
            <a:ext cx="420300" cy="105600"/>
          </a:xfrm>
          <a:prstGeom prst="curvedConnector3">
            <a:avLst>
              <a:gd fmla="val 50018" name="adj1"/>
            </a:avLst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25"/>
          <p:cNvCxnSpPr>
            <a:stCxn id="217" idx="1"/>
            <a:endCxn id="209" idx="3"/>
          </p:cNvCxnSpPr>
          <p:nvPr/>
        </p:nvCxnSpPr>
        <p:spPr>
          <a:xfrm flipH="1">
            <a:off x="6561025" y="2429500"/>
            <a:ext cx="420300" cy="947100"/>
          </a:xfrm>
          <a:prstGeom prst="curvedConnector3">
            <a:avLst>
              <a:gd fmla="val 50018" name="adj1"/>
            </a:avLst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5"/>
          <p:cNvCxnSpPr>
            <a:stCxn id="203" idx="1"/>
            <a:endCxn id="202" idx="3"/>
          </p:cNvCxnSpPr>
          <p:nvPr/>
        </p:nvCxnSpPr>
        <p:spPr>
          <a:xfrm flipH="1">
            <a:off x="3755575" y="2323775"/>
            <a:ext cx="1394100" cy="6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5"/>
          <p:cNvCxnSpPr>
            <a:stCxn id="203" idx="1"/>
            <a:endCxn id="207" idx="3"/>
          </p:cNvCxnSpPr>
          <p:nvPr/>
        </p:nvCxnSpPr>
        <p:spPr>
          <a:xfrm flipH="1">
            <a:off x="3755575" y="2323775"/>
            <a:ext cx="1394100" cy="4065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5"/>
          <p:cNvCxnSpPr>
            <a:stCxn id="209" idx="1"/>
            <a:endCxn id="208" idx="3"/>
          </p:cNvCxnSpPr>
          <p:nvPr/>
        </p:nvCxnSpPr>
        <p:spPr>
          <a:xfrm flipH="1">
            <a:off x="3755575" y="3376475"/>
            <a:ext cx="1394100" cy="6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5"/>
          <p:cNvCxnSpPr>
            <a:stCxn id="209" idx="1"/>
            <a:endCxn id="212" idx="3"/>
          </p:cNvCxnSpPr>
          <p:nvPr/>
        </p:nvCxnSpPr>
        <p:spPr>
          <a:xfrm flipH="1">
            <a:off x="3811975" y="3376475"/>
            <a:ext cx="1337700" cy="9510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25"/>
          <p:cNvSpPr/>
          <p:nvPr/>
        </p:nvSpPr>
        <p:spPr>
          <a:xfrm>
            <a:off x="648250" y="215832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delete file</a:t>
            </a:r>
            <a:endParaRPr sz="1200"/>
          </a:p>
        </p:txBody>
      </p:sp>
      <p:sp>
        <p:nvSpPr>
          <p:cNvPr id="226" name="Google Shape;226;p25"/>
          <p:cNvSpPr/>
          <p:nvPr/>
        </p:nvSpPr>
        <p:spPr>
          <a:xfrm>
            <a:off x="648250" y="28448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delete file</a:t>
            </a:r>
            <a:endParaRPr sz="1200"/>
          </a:p>
        </p:txBody>
      </p:sp>
      <p:sp>
        <p:nvSpPr>
          <p:cNvPr id="227" name="Google Shape;227;p25"/>
          <p:cNvSpPr txBox="1"/>
          <p:nvPr/>
        </p:nvSpPr>
        <p:spPr>
          <a:xfrm>
            <a:off x="6855825" y="2970350"/>
            <a:ext cx="20685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Queries first read the metadata file to find the data files.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 txBox="1"/>
          <p:nvPr/>
        </p:nvSpPr>
        <p:spPr>
          <a:xfrm>
            <a:off x="219525" y="3278150"/>
            <a:ext cx="2068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Delete marks are stored in separate files.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Hudi中的Update</a:t>
            </a:r>
            <a:r>
              <a:rPr lang="en-GB"/>
              <a:t>实现</a:t>
            </a:r>
            <a:endParaRPr/>
          </a:p>
        </p:txBody>
      </p:sp>
      <p:sp>
        <p:nvSpPr>
          <p:cNvPr id="234" name="Google Shape;23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2348075" y="19910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base data file</a:t>
            </a:r>
            <a:endParaRPr sz="1200"/>
          </a:p>
        </p:txBody>
      </p:sp>
      <p:sp>
        <p:nvSpPr>
          <p:cNvPr id="236" name="Google Shape;236;p26"/>
          <p:cNvSpPr/>
          <p:nvPr/>
        </p:nvSpPr>
        <p:spPr>
          <a:xfrm>
            <a:off x="5153350" y="19910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 log</a:t>
            </a:r>
            <a:endParaRPr/>
          </a:p>
        </p:txBody>
      </p:sp>
      <p:sp>
        <p:nvSpPr>
          <p:cNvPr id="237" name="Google Shape;237;p26"/>
          <p:cNvSpPr txBox="1"/>
          <p:nvPr/>
        </p:nvSpPr>
        <p:spPr>
          <a:xfrm>
            <a:off x="4938275" y="925675"/>
            <a:ext cx="182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INSERT INTO t1 SELECT * FROM t2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26"/>
          <p:cNvCxnSpPr>
            <a:stCxn id="237" idx="2"/>
            <a:endCxn id="236" idx="0"/>
          </p:cNvCxnSpPr>
          <p:nvPr/>
        </p:nvCxnSpPr>
        <p:spPr>
          <a:xfrm>
            <a:off x="5851925" y="1541275"/>
            <a:ext cx="6900" cy="449700"/>
          </a:xfrm>
          <a:prstGeom prst="straightConnector1">
            <a:avLst/>
          </a:prstGeom>
          <a:noFill/>
          <a:ln cap="flat" cmpd="sng" w="9525">
            <a:solidFill>
              <a:srgbClr val="1F49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" name="Google Shape;239;p26"/>
          <p:cNvSpPr/>
          <p:nvPr/>
        </p:nvSpPr>
        <p:spPr>
          <a:xfrm>
            <a:off x="2348075" y="23974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base data file</a:t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>
            <a:off x="2348075" y="30437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base data file</a:t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>
            <a:off x="5153350" y="23974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 log</a:t>
            </a:r>
            <a:endParaRPr/>
          </a:p>
        </p:txBody>
      </p:sp>
      <p:sp>
        <p:nvSpPr>
          <p:cNvPr id="242" name="Google Shape;242;p26"/>
          <p:cNvSpPr/>
          <p:nvPr/>
        </p:nvSpPr>
        <p:spPr>
          <a:xfrm>
            <a:off x="5153350" y="3043775"/>
            <a:ext cx="1411200" cy="331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append log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2750275" y="2643575"/>
            <a:ext cx="7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5645875" y="2643575"/>
            <a:ext cx="7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…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/>
          <p:nvPr/>
        </p:nvSpPr>
        <p:spPr>
          <a:xfrm rot="5400000">
            <a:off x="4349050" y="2389575"/>
            <a:ext cx="282300" cy="489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6"/>
          <p:cNvSpPr txBox="1"/>
          <p:nvPr/>
        </p:nvSpPr>
        <p:spPr>
          <a:xfrm>
            <a:off x="3768850" y="2171550"/>
            <a:ext cx="144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compact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2208400" y="1869725"/>
            <a:ext cx="1658100" cy="9525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6"/>
          <p:cNvSpPr/>
          <p:nvPr/>
        </p:nvSpPr>
        <p:spPr>
          <a:xfrm>
            <a:off x="2208400" y="2974625"/>
            <a:ext cx="1658100" cy="952500"/>
          </a:xfrm>
          <a:prstGeom prst="rect">
            <a:avLst/>
          </a:prstGeom>
          <a:noFill/>
          <a:ln cap="flat" cmpd="sng" w="9525">
            <a:solidFill>
              <a:srgbClr val="1F497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6"/>
          <p:cNvSpPr txBox="1"/>
          <p:nvPr/>
        </p:nvSpPr>
        <p:spPr>
          <a:xfrm>
            <a:off x="1234725" y="2171550"/>
            <a:ext cx="10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Partition 1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1234725" y="3250775"/>
            <a:ext cx="101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libri"/>
                <a:ea typeface="Calibri"/>
                <a:cs typeface="Calibri"/>
                <a:sym typeface="Calibri"/>
              </a:rPr>
              <a:t>Partition 2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6"/>
          <p:cNvSpPr txBox="1"/>
          <p:nvPr/>
        </p:nvSpPr>
        <p:spPr>
          <a:xfrm>
            <a:off x="6843875" y="2171550"/>
            <a:ext cx="1827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New data is contained in the append log.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 txBox="1"/>
          <p:nvPr/>
        </p:nvSpPr>
        <p:spPr>
          <a:xfrm>
            <a:off x="222975" y="931663"/>
            <a:ext cx="2479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Supports index on tables (could be stored in Hbase).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 txBox="1"/>
          <p:nvPr/>
        </p:nvSpPr>
        <p:spPr>
          <a:xfrm>
            <a:off x="825525" y="4439275"/>
            <a:ext cx="779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ingle point update的</a:t>
            </a:r>
            <a:r>
              <a:rPr b="1"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性能会更好</a:t>
            </a:r>
            <a:endParaRPr b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总结</a:t>
            </a:r>
            <a:endParaRPr/>
          </a:p>
        </p:txBody>
      </p:sp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0" name="Google Shape;260;p27"/>
          <p:cNvSpPr txBox="1"/>
          <p:nvPr/>
        </p:nvSpPr>
        <p:spPr>
          <a:xfrm>
            <a:off x="457200" y="914404"/>
            <a:ext cx="8229600" cy="3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2200">
                <a:latin typeface="Calibri"/>
                <a:ea typeface="Calibri"/>
                <a:cs typeface="Calibri"/>
                <a:sym typeface="Calibri"/>
              </a:rPr>
              <a:t>支持对数据表中数据和元数据的修改是主要的目标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2200">
                <a:latin typeface="Calibri"/>
                <a:ea typeface="Calibri"/>
                <a:cs typeface="Calibri"/>
                <a:sym typeface="Calibri"/>
              </a:rPr>
              <a:t>目前主要支持mini-batch方式的修改，而不是单条数据的修改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2200">
                <a:latin typeface="Calibri"/>
                <a:ea typeface="Calibri"/>
                <a:cs typeface="Calibri"/>
                <a:sym typeface="Calibri"/>
              </a:rPr>
              <a:t>借鉴了传统数据库中的WAL技术，但不完全一样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PixelsReader</a:t>
            </a:r>
            <a:endParaRPr/>
          </a:p>
        </p:txBody>
      </p:sp>
      <p:sp>
        <p:nvSpPr>
          <p:cNvPr id="266" name="Google Shape;266;p28"/>
          <p:cNvSpPr txBox="1"/>
          <p:nvPr>
            <p:ph idx="1" type="body"/>
          </p:nvPr>
        </p:nvSpPr>
        <p:spPr>
          <a:xfrm>
            <a:off x="311700" y="1152475"/>
            <a:ext cx="459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PixelsReader中定义了读取Pixels文件的基本接口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PixelsReaderImpl是PixelsReader的一个实现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8" name="Google Shape;26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025" y="152550"/>
            <a:ext cx="3019450" cy="462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8"/>
          <p:cNvSpPr/>
          <p:nvPr/>
        </p:nvSpPr>
        <p:spPr>
          <a:xfrm>
            <a:off x="5962325" y="3132200"/>
            <a:ext cx="1788600" cy="39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PixelsReader</a:t>
            </a:r>
            <a:endParaRPr/>
          </a:p>
        </p:txBody>
      </p:sp>
      <p:sp>
        <p:nvSpPr>
          <p:cNvPr id="275" name="Google Shape;27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PixelsReader中</a:t>
            </a:r>
            <a:r>
              <a:rPr lang="en-GB"/>
              <a:t>关键的方法是read，该方法创建一个PixelsRecordReader的实例</a:t>
            </a:r>
            <a:endParaRPr/>
          </a:p>
        </p:txBody>
      </p:sp>
      <p:sp>
        <p:nvSpPr>
          <p:cNvPr id="276" name="Google Shape;27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729" y="2306679"/>
            <a:ext cx="7745200" cy="181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PixelsReaderOption</a:t>
            </a:r>
            <a:endParaRPr/>
          </a:p>
        </p:txBody>
      </p:sp>
      <p:sp>
        <p:nvSpPr>
          <p:cNvPr id="283" name="Google Shape;28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PixelsReaderOption作为read方法的参数，保存了打开Pixels文件的一些必要参数，如文件路径、要读取的row group、要读取的列、过滤条件等</a:t>
            </a:r>
            <a:endParaRPr/>
          </a:p>
        </p:txBody>
      </p:sp>
      <p:sp>
        <p:nvSpPr>
          <p:cNvPr id="284" name="Google Shape;28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85" name="Google Shape;2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300" y="2005738"/>
            <a:ext cx="719137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PixelsRecordReader</a:t>
            </a:r>
            <a:endParaRPr/>
          </a:p>
        </p:txBody>
      </p:sp>
      <p:sp>
        <p:nvSpPr>
          <p:cNvPr id="291" name="Google Shape;291;p31"/>
          <p:cNvSpPr txBox="1"/>
          <p:nvPr>
            <p:ph idx="1" type="body"/>
          </p:nvPr>
        </p:nvSpPr>
        <p:spPr>
          <a:xfrm>
            <a:off x="311700" y="1152475"/>
            <a:ext cx="359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定义和实现了对Pixels文件的具体读取方式</a:t>
            </a:r>
            <a:endParaRPr/>
          </a:p>
        </p:txBody>
      </p:sp>
      <p:sp>
        <p:nvSpPr>
          <p:cNvPr id="292" name="Google Shape;292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93" name="Google Shape;2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0932" y="0"/>
            <a:ext cx="449543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PixelsRecordReader</a:t>
            </a:r>
            <a:endParaRPr/>
          </a:p>
        </p:txBody>
      </p:sp>
      <p:sp>
        <p:nvSpPr>
          <p:cNvPr id="299" name="Google Shape;29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其中最重要的方法是readBatch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301" name="Google Shape;3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75" y="1810550"/>
            <a:ext cx="888682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