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23.xml" ContentType="application/vnd.openxmlformats-officedocument.presentationml.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5143500"/>
  <p:notesSz cx="6858000" cy="9144000"/>
  <p:defaultTextStyle>
    <a:defPPr marR="0" lvl="0" algn="l" rtl="false">
      <a:lnSpc>
        <a:spcPct val="100000"/>
      </a:lnSpc>
      <a:spcBef>
        <a:spcPts val="0"/>
      </a:spcBef>
      <a:spcAft>
        <a:spcPts val="0"/>
      </a:spcAft>
    </a:defPPr>
    <a:lvl1pPr marR="0" lvl="0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p="http://schemas.openxmlformats.org/presentationml/2006/main"/>
</file>

<file path=ppt/viewProps.xml><?xml version="1.0" encoding="utf-8"?>
<p:viewPr xmlns:a="http://schemas.openxmlformats.org/drawingml/2006/main" xmlns:p="http://schemas.openxmlformats.org/presentationml/2006/main" showComments="false">
  <p:slideViewPr>
    <p:cSldViewPr snapToGrid="false">
      <p:cViewPr varScale="true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9" Type="http://schemas.openxmlformats.org/officeDocument/2006/relationships/slide" Target="slides/slide9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25" Type="http://schemas.openxmlformats.org/officeDocument/2006/relationships/notesMaster" Target="notesMasters/notesMaster1.xml" /><Relationship Id="rId15" Type="http://schemas.openxmlformats.org/officeDocument/2006/relationships/slide" Target="slides/slide15.xml" /><Relationship Id="rId24" Type="http://schemas.openxmlformats.org/officeDocument/2006/relationships/slide" Target="slides/slide24.xml" /><Relationship Id="rId17" Type="http://schemas.openxmlformats.org/officeDocument/2006/relationships/slide" Target="slides/slide17.xml" /><Relationship Id="rId23" Type="http://schemas.openxmlformats.org/officeDocument/2006/relationships/slide" Target="slides/slide23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" name="Google Shape;4;n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false">
      <a:lnSpc>
        <a:spcPct val="100000"/>
      </a:lnSpc>
      <a:spcBef>
        <a:spcPts val="0"/>
      </a:spcBef>
      <a:spcAft>
        <a:spcPts val="0"/>
      </a:spcAft>
    </a:defPPr>
    <a:lvl1pPr marR="0" lvl="0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" name="Google Shape;52;p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6;g303fb7152bf_3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" name="Google Shape;117;g303fb7152bf_3_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3;g303fb7152bf_3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9" name="Google Shape;124;g303fb7152bf_3_5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30;g303fb7152bf_3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12" name="Google Shape;131;g303fb7152bf_3_1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36;g303fb7152bf_3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15" name="Google Shape;137;g303fb7152bf_3_1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42;g303fb7152bf_3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18" name="Google Shape;143;g303fb7152bf_3_22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48;g303fb7152bf_3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21" name="Google Shape;149;g303fb7152bf_3_29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4;g303fb7152bf_3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24" name="Google Shape;155;g303fb7152bf_3_39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63;g303fb7152bf_3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27" name="Google Shape;164;g303fb7152bf_3_34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71;g303fb7152bf_3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0" name="Google Shape;172;g303fb7152bf_3_7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78;g303fb7152bf_3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3" name="Google Shape;179;g303fb7152bf_3_53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58;g303fb7152b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6" name="Google Shape;59;g303fb7152bf_0_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86;g303fb7152bf_3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9" name="Google Shape;187;g303fb7152bf_3_72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92;g303fb7152bf_3_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42" name="Google Shape;193;g303fb7152bf_3_6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204;g303fb7152bf_3_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45" name="Google Shape;205;g303fb7152bf_3_84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10;g303fb7152bf_3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48" name="Google Shape;211;g303fb7152bf_3_10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233;g303fb7152bf_3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51" name="Google Shape;234;g303fb7152bf_3_89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64;g3045b021ee7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54" name="Google Shape;65;g3045b021ee7_0_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69;g303fb7152bf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57" name="Google Shape;70;g303fb7152bf_0_5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76;g303fb7152bf_1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0" name="Google Shape;77;g303fb7152bf_1_1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86;g3045b021ee7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3" name="Google Shape;87;g3045b021ee7_0_5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91;g303fb7152bf_1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6" name="Google Shape;92;g303fb7152bf_1_12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3;g303fb7152bf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9" name="Google Shape;104;g303fb7152bf_2_5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10;g303fb7152bf_2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72" name="Google Shape;111;g303fb7152bf_2_12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 txBox="true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/>
            <a:endParaRPr/>
          </a:p>
        </p:txBody>
      </p:sp>
      <p:sp>
        <p:nvSpPr>
          <p:cNvPr id="3" name="Google Shape;11;p2"/>
          <p:cNvSpPr txBox="true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/>
            <a:endParaRPr/>
          </a:p>
        </p:txBody>
      </p:sp>
      <p:sp>
        <p:nvSpPr>
          <p:cNvPr id="4" name="Google Shape;12;p2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secHead">
  <p:cSld name="SECTION_HEADER"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/>
          <p:cNvSpPr txBox="true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/>
            <a:endParaRPr/>
          </a:p>
        </p:txBody>
      </p:sp>
      <p:sp>
        <p:nvSpPr>
          <p:cNvPr id="7" name="Google Shape;15;p3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tx">
  <p:cSld name="TITLE_AND_BODY"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7;p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/>
            <a:endParaRPr/>
          </a:p>
        </p:txBody>
      </p:sp>
      <p:sp>
        <p:nvSpPr>
          <p:cNvPr id="12" name="Google Shape;18;p4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/>
            <a:endParaRPr/>
          </a:p>
        </p:txBody>
      </p:sp>
      <p:sp>
        <p:nvSpPr>
          <p:cNvPr id="13" name="Google Shape;19;p4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ITLE_AND_TWO_COLUMNS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;p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/>
            <a:endParaRPr/>
          </a:p>
        </p:txBody>
      </p:sp>
      <p:sp>
        <p:nvSpPr>
          <p:cNvPr id="16" name="Google Shape;22;p5"/>
          <p:cNvSpPr txBox="true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/>
            <a:endParaRPr/>
          </a:p>
        </p:txBody>
      </p:sp>
      <p:sp>
        <p:nvSpPr>
          <p:cNvPr id="17" name="Google Shape;23;p5"/>
          <p:cNvSpPr txBox="true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/>
            <a:endParaRPr/>
          </a:p>
        </p:txBody>
      </p:sp>
      <p:sp>
        <p:nvSpPr>
          <p:cNvPr id="18" name="Google Shape;24;p5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_ONLY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6;p6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/>
            <a:endParaRPr/>
          </a:p>
        </p:txBody>
      </p:sp>
      <p:sp>
        <p:nvSpPr>
          <p:cNvPr id="21" name="Google Shape;27;p6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ONE_COLUMN_TEX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9;p7"/>
          <p:cNvSpPr txBox="true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/>
            <a:endParaRPr/>
          </a:p>
        </p:txBody>
      </p:sp>
      <p:sp>
        <p:nvSpPr>
          <p:cNvPr id="24" name="Google Shape;30;p7"/>
          <p:cNvSpPr txBox="true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/>
            <a:endParaRPr/>
          </a:p>
        </p:txBody>
      </p:sp>
      <p:sp>
        <p:nvSpPr>
          <p:cNvPr id="25" name="Google Shape;31;p7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MAIN_POI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3;p8"/>
          <p:cNvSpPr txBox="true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/>
            <a:endParaRPr/>
          </a:p>
        </p:txBody>
      </p:sp>
      <p:sp>
        <p:nvSpPr>
          <p:cNvPr id="28" name="Google Shape;34;p8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SECTION_TITLE_AND_DESCRIPTI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7;p9"/>
          <p:cNvSpPr txBox="true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/>
            <a:endParaRPr/>
          </a:p>
        </p:txBody>
      </p:sp>
      <p:sp>
        <p:nvSpPr>
          <p:cNvPr id="32" name="Google Shape;38;p9"/>
          <p:cNvSpPr txBox="true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/>
            <a:endParaRPr/>
          </a:p>
        </p:txBody>
      </p:sp>
      <p:sp>
        <p:nvSpPr>
          <p:cNvPr id="33" name="Google Shape;39;p9"/>
          <p:cNvSpPr txBox="true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/>
            <a:endParaRPr/>
          </a:p>
        </p:txBody>
      </p:sp>
      <p:sp>
        <p:nvSpPr>
          <p:cNvPr id="34" name="Google Shape;40;p9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CAPTION_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2;p10"/>
          <p:cNvSpPr txBox="true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/>
            <a:endParaRPr/>
          </a:p>
        </p:txBody>
      </p:sp>
      <p:sp>
        <p:nvSpPr>
          <p:cNvPr id="37" name="Google Shape;43;p10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BIG_NUMB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45;p11"/>
          <p:cNvSpPr txBox="true"/>
          <p:nvPr>
            <p:ph type="title" hasCustomPrompt="tru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/>
            <a:r>
              <a:rPr/>
              <a:t>xx%</a:t>
            </a:r>
            <a:endParaRPr/>
          </a:p>
        </p:txBody>
      </p:sp>
      <p:sp>
        <p:nvSpPr>
          <p:cNvPr id="40" name="Google Shape;46;p11"/>
          <p:cNvSpPr txBox="true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/>
            <a:endParaRPr/>
          </a:p>
        </p:txBody>
      </p:sp>
      <p:sp>
        <p:nvSpPr>
          <p:cNvPr id="41" name="Google Shape;47;p11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9;p12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/>
            <a:endParaRPr/>
          </a:p>
        </p:txBody>
      </p:sp>
      <p:sp>
        <p:nvSpPr>
          <p:cNvPr id="3" name="Google Shape;7;p1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/>
            <a:endParaRPr/>
          </a:p>
        </p:txBody>
      </p:sp>
      <p:sp>
        <p:nvSpPr>
          <p:cNvPr id="4" name="Google Shape;8;p1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false" hdr="false" ftr="false" dt="false"/>
  <p:txStyles>
    <p:title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9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4.png" /><Relationship Id="rId1" Type="http://schemas.openxmlformats.org/officeDocument/2006/relationships/notesSlide" Target="../notesSlides/notesSlide20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2.png" /><Relationship Id="rId4" Type="http://schemas.openxmlformats.org/officeDocument/2006/relationships/image" Target="media/image24.png" /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4.png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4" Type="http://schemas.openxmlformats.org/officeDocument/2006/relationships/image" Target="media/image9.png" /><Relationship Id="rId2" Type="http://schemas.openxmlformats.org/officeDocument/2006/relationships/image" Target="media/image7.png" /><Relationship Id="rId3" Type="http://schemas.openxmlformats.org/officeDocument/2006/relationships/image" Target="media/image8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9" Type="http://schemas.openxmlformats.org/officeDocument/2006/relationships/image" Target="media/image15.png" /><Relationship Id="rId8" Type="http://schemas.openxmlformats.org/officeDocument/2006/relationships/image" Target="media/image9.png" /><Relationship Id="rId13" Type="http://schemas.openxmlformats.org/officeDocument/2006/relationships/image" Target="media/image19.png" /><Relationship Id="rId12" Type="http://schemas.openxmlformats.org/officeDocument/2006/relationships/image" Target="media/image18.png" /><Relationship Id="rId10" Type="http://schemas.openxmlformats.org/officeDocument/2006/relationships/image" Target="media/image16.png" /><Relationship Id="rId0" Type="http://schemas.openxmlformats.org/officeDocument/2006/relationships/slideLayout" Target="../slideLayouts/slideLayout3.xml" /><Relationship Id="rId16" Type="http://schemas.openxmlformats.org/officeDocument/2006/relationships/image" Target="media/image22.png" /><Relationship Id="rId1" Type="http://schemas.openxmlformats.org/officeDocument/2006/relationships/notesSlide" Target="../notesSlides/notesSlide16.xml" /><Relationship Id="rId14" Type="http://schemas.openxmlformats.org/officeDocument/2006/relationships/image" Target="media/image20.png" /><Relationship Id="rId15" Type="http://schemas.openxmlformats.org/officeDocument/2006/relationships/image" Target="media/image21.png" /><Relationship Id="rId4" Type="http://schemas.openxmlformats.org/officeDocument/2006/relationships/image" Target="media/image12.png" /><Relationship Id="rId11" Type="http://schemas.openxmlformats.org/officeDocument/2006/relationships/image" Target="media/image17.png" /><Relationship Id="rId17" Type="http://schemas.openxmlformats.org/officeDocument/2006/relationships/image" Target="media/image23.png" /><Relationship Id="rId2" Type="http://schemas.openxmlformats.org/officeDocument/2006/relationships/image" Target="media/image10.png" /><Relationship Id="rId7" Type="http://schemas.openxmlformats.org/officeDocument/2006/relationships/image" Target="media/image8.png" /><Relationship Id="rId3" Type="http://schemas.openxmlformats.org/officeDocument/2006/relationships/image" Target="media/image11.png" /><Relationship Id="rId5" Type="http://schemas.openxmlformats.org/officeDocument/2006/relationships/image" Target="media/image13.png" /><Relationship Id="rId6" Type="http://schemas.openxmlformats.org/officeDocument/2006/relationships/image" Target="media/image14.png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/>
          <p:cNvSpPr txBox="true"/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实用数据库开发 (2)</a:t>
            </a:r>
            <a:endParaRPr/>
          </a:p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数据存储格式概念</a:t>
            </a:r>
            <a:endParaRPr/>
          </a:p>
        </p:txBody>
      </p:sp>
      <p:sp>
        <p:nvSpPr>
          <p:cNvPr id="3" name="Google Shape;55;p13"/>
          <p:cNvSpPr txBox="true"/>
          <p:nvPr>
            <p:ph type="subTitle" idx="1"/>
          </p:nvPr>
        </p:nvSpPr>
        <p:spPr>
          <a:xfrm>
            <a:off x="311700" y="3443725"/>
            <a:ext cx="8520600" cy="12720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85000" lnSpcReduction="20000"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39285"/>
              <a:buFont typeface="Arial"/>
              <a:buNone/>
            </a:pPr>
            <a:r>
              <a:rPr/>
              <a:t>中国人民大学信息学院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39285"/>
              <a:buFont typeface="Arial"/>
              <a:buNone/>
            </a:pPr>
            <a:r>
              <a:rPr/>
              <a:t>教师：卞昊穹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2800"/>
              <a:buFont typeface="Arial"/>
              <a:buNone/>
            </a:pPr>
            <a:r>
              <a:rPr/>
              <a:t>助教：王浩哲，耿东杨，</a:t>
            </a:r>
            <a:r>
              <a:rPr lang="zh-CN"/>
              <a:t>李子诺，李皓月</a:t>
            </a:r>
            <a:endParaRPr/>
          </a:p>
        </p:txBody>
      </p:sp>
      <p:pic>
        <p:nvPicPr>
          <p:cNvPr id="4" name="Google Shape;56;p13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6023" y="214675"/>
            <a:ext cx="1271950" cy="12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61;p1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数据存储格式</a:t>
            </a:r>
            <a:endParaRPr/>
          </a:p>
        </p:txBody>
      </p:sp>
      <p:sp>
        <p:nvSpPr>
          <p:cNvPr id="47" name="Google Shape;62;p14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格式是数据的灵魂：数据之所以能被使用，一定具有某种存储“格式”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不遵守某种格式的数据既不能被计算机处理，也不能被人理解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数据存储格式就像编程语言一样，既要满足</a:t>
            </a:r>
            <a:r>
              <a:rPr lang="en-GB" b="true">
                <a:solidFill>
                  <a:srgbClr val="FF0000"/>
                </a:solidFill>
              </a:rPr>
              <a:t>用户（应用）的需求</a:t>
            </a:r>
            <a:r>
              <a:rPr lang="en-GB"/>
              <a:t>，又要</a:t>
            </a:r>
            <a:r>
              <a:rPr lang="en-GB" b="true">
                <a:solidFill>
                  <a:srgbClr val="FF0000"/>
                </a:solidFill>
              </a:rPr>
              <a:t>适应存储和计算环境的特性</a:t>
            </a:r>
            <a:endParaRPr b="tru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67;p15"/>
          <p:cNvSpPr txBox="true"/>
          <p:nvPr>
            <p:ph type="title"/>
          </p:nvPr>
        </p:nvSpPr>
        <p:spPr>
          <a:xfrm>
            <a:off x="311700" y="21542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/>
              <a:t>应用需求</a:t>
            </a:r>
            <a:endParaRPr sz="32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72;p16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（关系）数据库对存储格式的需求</a:t>
            </a:r>
            <a:endParaRPr/>
          </a:p>
        </p:txBody>
      </p:sp>
      <p:sp>
        <p:nvSpPr>
          <p:cNvPr id="89" name="Google Shape;73;p16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支持对关系表的存储</a:t>
            </a:r>
            <a:endParaRPr/>
          </a:p>
        </p:txBody>
      </p:sp>
      <p:pic>
        <p:nvPicPr>
          <p:cNvPr id="90" name="Google Shape;74;p16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70725" y="1017725"/>
            <a:ext cx="5127601" cy="357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79;p17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（关系）数据库对存储格式的需求</a:t>
            </a:r>
            <a:endParaRPr/>
          </a:p>
        </p:txBody>
      </p:sp>
      <p:sp>
        <p:nvSpPr>
          <p:cNvPr id="93" name="Google Shape;80;p17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2. 支持</a:t>
            </a:r>
            <a:r>
              <a:rPr lang="en-GB"/>
              <a:t>按照属性和属性上的谓词条件对数据表进行访问</a:t>
            </a:r>
            <a:endParaRPr/>
          </a:p>
        </p:txBody>
      </p:sp>
      <p:sp>
        <p:nvSpPr>
          <p:cNvPr id="94" name="Google Shape;81;p17"/>
          <p:cNvSpPr txBox="true"/>
          <p:nvPr/>
        </p:nvSpPr>
        <p:spPr>
          <a:xfrm>
            <a:off x="311700" y="1947700"/>
            <a:ext cx="3513900" cy="22815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4A86E8"/>
                </a:solidFill>
              </a:rPr>
              <a:t>SELECT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rgbClr val="C27BA0"/>
                </a:solidFill>
              </a:rPr>
              <a:t>City</a:t>
            </a:r>
            <a:r>
              <a:rPr lang="en-GB" sz="1800">
                <a:solidFill>
                  <a:schemeClr val="dk2"/>
                </a:solidFill>
              </a:rPr>
              <a:t>, </a:t>
            </a:r>
            <a:r>
              <a:rPr lang="en-GB" sz="1800">
                <a:solidFill>
                  <a:srgbClr val="C27BA0"/>
                </a:solidFill>
              </a:rPr>
              <a:t>Region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 b="true">
                <a:solidFill>
                  <a:schemeClr val="accent1"/>
                </a:solidFill>
              </a:rPr>
              <a:t>FROM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rgbClr val="C27BA0"/>
                </a:solidFill>
              </a:rPr>
              <a:t>STORE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 b="true">
                <a:solidFill>
                  <a:schemeClr val="accent1"/>
                </a:solidFill>
              </a:rPr>
              <a:t>WHERE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rgbClr val="C27BA0"/>
                </a:solidFill>
              </a:rPr>
              <a:t>Store_key</a:t>
            </a:r>
            <a:r>
              <a:rPr lang="en-GB" sz="1800">
                <a:solidFill>
                  <a:schemeClr val="dk2"/>
                </a:solidFill>
              </a:rPr>
              <a:t>=5;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5" name="Google Shape;82;p17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1050" y="1695825"/>
            <a:ext cx="4657375" cy="324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83;p17"/>
          <p:cNvSpPr/>
          <p:nvPr/>
        </p:nvSpPr>
        <p:spPr>
          <a:xfrm>
            <a:off x="3943075" y="2663175"/>
            <a:ext cx="1979400" cy="135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84;p17"/>
          <p:cNvSpPr/>
          <p:nvPr/>
        </p:nvSpPr>
        <p:spPr>
          <a:xfrm rot="10800000" flipH="true">
            <a:off x="3195750" y="2663175"/>
            <a:ext cx="596400" cy="2865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89;p18"/>
          <p:cNvSpPr txBox="true"/>
          <p:nvPr>
            <p:ph type="title"/>
          </p:nvPr>
        </p:nvSpPr>
        <p:spPr>
          <a:xfrm>
            <a:off x="311700" y="2321150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存储和计算环境的特性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94;p19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60175" y="2830125"/>
            <a:ext cx="2219200" cy="1127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95;p19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运行数据库的（常用）硬件和OS环境</a:t>
            </a:r>
            <a:endParaRPr/>
          </a:p>
        </p:txBody>
      </p:sp>
      <p:sp>
        <p:nvSpPr>
          <p:cNvPr id="103" name="Google Shape;96;p19"/>
          <p:cNvSpPr txBox="true"/>
          <p:nvPr>
            <p:ph type="body" idx="1"/>
          </p:nvPr>
        </p:nvSpPr>
        <p:spPr>
          <a:xfrm>
            <a:off x="311700" y="1152475"/>
            <a:ext cx="8520600" cy="17889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计算：CPU+用户态虚拟内存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存储：外存文件系统</a:t>
            </a:r>
            <a:endParaRPr/>
          </a:p>
        </p:txBody>
      </p:sp>
      <p:pic>
        <p:nvPicPr>
          <p:cNvPr id="104" name="Google Shape;97;p19"/>
          <p:cNvPicPr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846" y="2830450"/>
            <a:ext cx="2219201" cy="11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98;p19"/>
          <p:cNvPicPr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7150" y="1017725"/>
            <a:ext cx="3839351" cy="17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99;p19"/>
          <p:cNvSpPr txBox="true"/>
          <p:nvPr/>
        </p:nvSpPr>
        <p:spPr>
          <a:xfrm>
            <a:off x="4976550" y="1017725"/>
            <a:ext cx="2464500" cy="4530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数据库运行在这里</a:t>
            </a:r>
            <a:endParaRPr sz="1800" b="true">
              <a:solidFill>
                <a:srgbClr val="FF0000"/>
              </a:solidFill>
            </a:endParaRPr>
          </a:p>
        </p:txBody>
      </p:sp>
      <p:sp>
        <p:nvSpPr>
          <p:cNvPr id="107" name="Google Shape;100;p19"/>
          <p:cNvSpPr txBox="true"/>
          <p:nvPr/>
        </p:nvSpPr>
        <p:spPr>
          <a:xfrm>
            <a:off x="4620750" y="2830125"/>
            <a:ext cx="2773200" cy="4530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我们的数据存储在这里</a:t>
            </a:r>
            <a:endParaRPr sz="1800" b="true">
              <a:solidFill>
                <a:srgbClr val="FF0000"/>
              </a:solidFill>
            </a:endParaRPr>
          </a:p>
        </p:txBody>
      </p:sp>
      <p:sp>
        <p:nvSpPr>
          <p:cNvPr id="108" name="Google Shape;101;p19"/>
          <p:cNvSpPr txBox="true"/>
          <p:nvPr/>
        </p:nvSpPr>
        <p:spPr>
          <a:xfrm>
            <a:off x="583900" y="4181575"/>
            <a:ext cx="8123100" cy="8028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sz="1800" b="true">
                <a:solidFill>
                  <a:srgbClr val="FF0000">
                    <a:alpha val="100000"/>
                  </a:srgbClr>
                </a:solidFill>
              </a:rPr>
              <a:t>数据库访问磁盘中的数据，要</a:t>
            </a:r>
            <a:r>
              <a:rPr lang="zh-CN" sz="1800" b="true">
                <a:solidFill>
                  <a:srgbClr val="FF0000">
                    <a:alpha val="100000"/>
                  </a:srgbClr>
                </a:solidFill>
              </a:rPr>
              <a:t>经过</a:t>
            </a:r>
            <a:r>
              <a:rPr sz="1800" b="true">
                <a:solidFill>
                  <a:srgbClr val="FF0000">
                    <a:alpha val="100000"/>
                  </a:srgbClr>
                </a:solidFill>
              </a:rPr>
              <a:t>设备主控</a:t>
            </a:r>
            <a:r>
              <a:rPr lang="zh-CN" sz="1800" b="true">
                <a:solidFill>
                  <a:srgbClr val="FF0000">
                    <a:alpha val="100000"/>
                  </a:srgbClr>
                </a:solidFill>
              </a:rPr>
              <a:t>、</a:t>
            </a:r>
            <a:r>
              <a:rPr sz="1800" b="true">
                <a:solidFill>
                  <a:srgbClr val="FF0000">
                    <a:alpha val="100000"/>
                  </a:srgbClr>
                </a:solidFill>
              </a:rPr>
              <a:t>驱动</a:t>
            </a:r>
            <a:r>
              <a:rPr lang="zh-CN" sz="1800" b="true">
                <a:solidFill>
                  <a:srgbClr val="FF0000">
                    <a:alpha val="100000"/>
                  </a:srgbClr>
                </a:solidFill>
              </a:rPr>
              <a:t>、</a:t>
            </a:r>
            <a:r>
              <a:rPr sz="1800" b="true">
                <a:solidFill>
                  <a:srgbClr val="FF0000">
                    <a:alpha val="100000"/>
                  </a:srgbClr>
                </a:solidFill>
              </a:rPr>
              <a:t>IO subsys</a:t>
            </a:r>
            <a:r>
              <a:rPr lang="zh-CN" sz="1800" b="true">
                <a:solidFill>
                  <a:srgbClr val="FF0000">
                    <a:alpha val="100000"/>
                  </a:srgbClr>
                </a:solidFill>
              </a:rPr>
              <a:t>、</a:t>
            </a:r>
            <a:r>
              <a:rPr sz="1800" b="true">
                <a:solidFill>
                  <a:srgbClr val="FF0000">
                    <a:alpha val="100000"/>
                  </a:srgbClr>
                </a:solidFill>
              </a:rPr>
              <a:t>文件系统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06;p20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存储设备的特性</a:t>
            </a:r>
            <a:endParaRPr/>
          </a:p>
        </p:txBody>
      </p:sp>
      <p:sp>
        <p:nvSpPr>
          <p:cNvPr id="111" name="Google Shape;107;p20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存储设备的四大关键性能指标：</a:t>
            </a:r>
            <a:endParaRPr/>
          </a:p>
          <a:p>
            <a:pPr marL="914400" lvl="1" indent="-330200" algn="l" rtl="false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I/O最小粒度 (I/O granularity): 设备支持读或写的最小数据单元</a:t>
            </a:r>
            <a:endParaRPr sz="1600"/>
          </a:p>
          <a:p>
            <a:pPr marL="914400" lvl="1" indent="-330200" algn="l" rtl="false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随机I/O延迟 (random I/O latency) : 一次最小粒度的读或写操作需要多长时间</a:t>
            </a:r>
            <a:endParaRPr sz="1600"/>
          </a:p>
          <a:p>
            <a:pPr marL="914400" lvl="1" indent="-330200" algn="l" rtl="false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随机I/O吞吐 (random I/O throughput)：单位时间内最多执行多少个读或写操作</a:t>
            </a:r>
            <a:endParaRPr sz="1600"/>
          </a:p>
          <a:p>
            <a:pPr marL="914400" lvl="1" indent="-330200" algn="l" rtl="false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顺序</a:t>
            </a:r>
            <a:r>
              <a:rPr lang="en-GB" sz="1600"/>
              <a:t>I/O带宽 (sequential I/O bandwidth)：单位时间内顺序读或写的数据量</a:t>
            </a:r>
            <a:endParaRPr sz="1600"/>
          </a:p>
          <a:p>
            <a:pPr marL="9144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世界上没有真正的“随机访问存储器”，DRAM也不是</a:t>
            </a:r>
            <a:endParaRPr/>
          </a:p>
          <a:p>
            <a:pPr marL="914400" lvl="1" indent="-330200" algn="l" rtl="false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任何存储设备的sequential bandwidth都大于1 byte* random throughput，没有例外</a:t>
            </a:r>
            <a:endParaRPr sz="1600"/>
          </a:p>
          <a:p>
            <a:pPr marL="914400" lvl="1" indent="-330200" algn="l" rtl="false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I/O粒度越大、越连续，实际I/O带宽就越接近最大顺序带宽</a:t>
            </a:r>
            <a:endParaRPr sz="1600"/>
          </a:p>
        </p:txBody>
      </p:sp>
      <p:sp>
        <p:nvSpPr>
          <p:cNvPr id="112" name="Google Shape;108;p20"/>
          <p:cNvSpPr txBox="true"/>
          <p:nvPr/>
        </p:nvSpPr>
        <p:spPr>
          <a:xfrm>
            <a:off x="703125" y="4276975"/>
            <a:ext cx="7341900" cy="5328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你还记得磁盘、Flash SSD、DRAM的</a:t>
            </a:r>
            <a:r>
              <a:rPr lang="en-GB" sz="1800" b="true">
                <a:solidFill>
                  <a:srgbClr val="FF0000"/>
                </a:solidFill>
              </a:rPr>
              <a:t>I/O延迟和带宽</a:t>
            </a:r>
            <a:r>
              <a:rPr lang="en-GB" sz="1800" b="true">
                <a:solidFill>
                  <a:srgbClr val="FF0000"/>
                </a:solidFill>
              </a:rPr>
              <a:t>分别是多少吗？</a:t>
            </a:r>
            <a:endParaRPr sz="1800" b="tru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3;p21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存储设备的特性</a:t>
            </a:r>
            <a:endParaRPr/>
          </a:p>
        </p:txBody>
      </p:sp>
      <p:sp>
        <p:nvSpPr>
          <p:cNvPr id="115" name="Google Shape;114;p21"/>
          <p:cNvSpPr txBox="true"/>
          <p:nvPr>
            <p:ph type="body" idx="1"/>
          </p:nvPr>
        </p:nvSpPr>
        <p:spPr>
          <a:xfrm>
            <a:off x="311700" y="865325"/>
            <a:ext cx="8520600" cy="3847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457200" lvl="0" indent="-3492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I/O granularity: </a:t>
            </a:r>
            <a:endParaRPr sz="19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现代磁盘和SSD的逻辑粒度一般是4KB，DRAM的逻辑粒度是1B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磁盘物理粒度可能小于4KB，SSD物理粒度是4KB的整数倍，DRAM一般是64B</a:t>
            </a:r>
            <a:endParaRPr sz="1500"/>
          </a:p>
          <a:p>
            <a:pPr marL="457200" lvl="0" indent="-3492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R</a:t>
            </a:r>
            <a:r>
              <a:rPr lang="en-GB" sz="1900"/>
              <a:t>andom I/O latency:</a:t>
            </a:r>
            <a:endParaRPr sz="19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磁盘：约10ms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Flash SSD：约100us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DRAM：约100ns</a:t>
            </a:r>
            <a:endParaRPr sz="1500"/>
          </a:p>
          <a:p>
            <a:pPr marL="457200" lvl="0" indent="-3492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Random I/O throughput:</a:t>
            </a:r>
            <a:endParaRPr sz="19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磁盘：100-200 IOPS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Flash SSD (NVMe PCIe 4.0)：读约1M IOPS，写约50-200K IOPS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DRAM：约5M IOPS</a:t>
            </a:r>
            <a:endParaRPr sz="1500"/>
          </a:p>
          <a:p>
            <a:pPr marL="457200" lvl="0" indent="-3492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GB" sz="1900"/>
              <a:t>Sequential</a:t>
            </a:r>
            <a:r>
              <a:rPr lang="en-GB" sz="1900"/>
              <a:t> I/O bandwidth:</a:t>
            </a:r>
            <a:endParaRPr sz="19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磁盘：约200MB/s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Flash SSD (NVMe PCIe 4.0)：读约7GB/s，写约1-4GB/s</a:t>
            </a:r>
            <a:endParaRPr sz="1500"/>
          </a:p>
          <a:p>
            <a:pPr marL="914400" lvl="1" indent="-323850" algn="l" rtl="false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DRAM (DDR5-8000)：约60GB/s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9;p22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磁盘的物理特性</a:t>
            </a:r>
            <a:endParaRPr/>
          </a:p>
        </p:txBody>
      </p:sp>
      <p:sp>
        <p:nvSpPr>
          <p:cNvPr id="7" name="Google Shape;120;p22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每次随机访问需要经历巡道和旋转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随机访问性能远低于顺序访问性能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例如：每次随机读取4KB，IOPS 100-200，每秒只能读取400-800KB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远低于200MB/s的顺序读取带宽</a:t>
            </a:r>
            <a:endParaRPr/>
          </a:p>
        </p:txBody>
      </p:sp>
      <p:pic>
        <p:nvPicPr>
          <p:cNvPr id="8" name="Google Shape;121;p22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0" flipH="false" flipV="false">
            <a:off x="4160282" y="596650"/>
            <a:ext cx="4458650" cy="226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6;p23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SSD的</a:t>
            </a:r>
            <a:r>
              <a:rPr lang="en-GB"/>
              <a:t>物理特性</a:t>
            </a:r>
            <a:endParaRPr/>
          </a:p>
        </p:txBody>
      </p:sp>
      <p:sp>
        <p:nvSpPr>
          <p:cNvPr id="11" name="Google Shape;127;p23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随机访问性能相对较好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例如：</a:t>
            </a:r>
            <a:r>
              <a:rPr lang="en-GB"/>
              <a:t>每次随机读取4KB，IOPS 1M，每秒可以读取4GB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接近7GB/s的顺序读取带宽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但SSD通常读写不均衡，读快，写慢，且存在擦除寿命问题</a:t>
            </a:r>
            <a:endParaRPr/>
          </a:p>
        </p:txBody>
      </p:sp>
      <p:pic>
        <p:nvPicPr>
          <p:cNvPr id="12" name="Google Shape;128;p23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19850" y="389550"/>
            <a:ext cx="4005600" cy="20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33;p2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文件系统的特性</a:t>
            </a:r>
            <a:endParaRPr/>
          </a:p>
        </p:txBody>
      </p:sp>
      <p:sp>
        <p:nvSpPr>
          <p:cNvPr id="15" name="Google Shape;134;p24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文件系统最常见的读写操作是阻塞式 (blocking) 的有缓存的 (buffered) I/O: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每次read和write都会阻塞程序的执行，直到读写操作返回结果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并且读写的都是文件在page cache中的buffer和cache，而非直接读写存储设备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多数情况下，这种方式简单且高效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无缓存的direct I/O: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open file时使用O_DIRECT，后续对该文件的读写操作将不使用page cache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应用程序在后续读写操作中，必须保证page align，相当于直接读写块设备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对于NVMe SSD等高速存储设备，可以提高性能（如Pixels）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对于需要保证数据一定落盘的应用（如log），O_DIRECT也很必要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无阻塞 (nonblocking) I/O，也叫异步 (asynchronous) I/O :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调用read/write立即返回，之后通过轮询或者中断的方式来处理read write的结果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Linux AIO, IO uring, SPDK…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39;p2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读写放大</a:t>
            </a:r>
            <a:endParaRPr/>
          </a:p>
        </p:txBody>
      </p:sp>
      <p:sp>
        <p:nvSpPr>
          <p:cNvPr id="18" name="Google Shape;140;p25"/>
          <p:cNvSpPr txBox="true"/>
          <p:nvPr>
            <p:ph type="body" idx="1"/>
          </p:nvPr>
        </p:nvSpPr>
        <p:spPr>
          <a:xfrm>
            <a:off x="311700" y="1152475"/>
            <a:ext cx="86001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文件系统为应用程序提供了一个可以随机访问的“byte array”，但有</a:t>
            </a:r>
            <a:r>
              <a:rPr lang="en-GB">
                <a:solidFill>
                  <a:srgbClr val="FF0000"/>
                </a:solidFill>
              </a:rPr>
              <a:t>读写放大的陷阱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读</a:t>
            </a:r>
            <a:r>
              <a:rPr lang="en-GB"/>
              <a:t>放大 (read amplification)：从存储设备读取的数据量 / 应用程序真正需要读取的有效数据量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例如：从文件中读取1B的有效数据，实际从磁盘读取了4KB，读放大4000倍</a:t>
            </a:r>
            <a:endParaRPr/>
          </a:p>
          <a:p>
            <a:pPr marL="4572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写放大 (write amplification)：向存储设备写入的数据量 / 应用程序真正需要写入的有效数据量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45;p26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800"/>
              <a:buFont typeface="Arial"/>
              <a:buNone/>
            </a:pPr>
            <a:r>
              <a:rPr/>
              <a:t>数据存储格式设计</a:t>
            </a:r>
            <a:endParaRPr/>
          </a:p>
        </p:txBody>
      </p:sp>
      <p:sp>
        <p:nvSpPr>
          <p:cNvPr id="21" name="Google Shape;146;p26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数据存储格式要在满足数据库数据访问需求的前提下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尽可能针对存储设备和文件系统（也可能是对象存储系统等）提高数据访问的效率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数据存储格式不仅仅包括数据在文件（或对象）中的存储布局，也包括对数据的基本操作，例如投影、谓词过滤等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1;p27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提高I/O效率</a:t>
            </a:r>
            <a:r>
              <a:rPr lang="en-GB"/>
              <a:t>的基本原则</a:t>
            </a:r>
            <a:endParaRPr/>
          </a:p>
        </p:txBody>
      </p:sp>
      <p:sp>
        <p:nvSpPr>
          <p:cNvPr id="24" name="Google Shape;152;p27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尽可能减少读写放大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将有效数据放在一起</a:t>
            </a:r>
            <a:endParaRPr/>
          </a:p>
          <a:p>
            <a:pPr marL="4572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尽可能减少随机I/O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将随机I/O转换成顺序I/O</a:t>
            </a:r>
            <a:endParaRPr/>
          </a:p>
          <a:p>
            <a:pPr marL="4572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适当对数据进行压缩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但要考虑存储与计算开销的trade-off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7;p28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回顾</a:t>
            </a:r>
            <a:endParaRPr/>
          </a:p>
        </p:txBody>
      </p:sp>
      <p:sp>
        <p:nvSpPr>
          <p:cNvPr id="27" name="Google Shape;158;p28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数据库对存储格式的需求</a:t>
            </a:r>
            <a:endParaRPr/>
          </a:p>
        </p:txBody>
      </p:sp>
      <p:sp>
        <p:nvSpPr>
          <p:cNvPr id="28" name="Google Shape;159;p28"/>
          <p:cNvSpPr txBox="true"/>
          <p:nvPr/>
        </p:nvSpPr>
        <p:spPr>
          <a:xfrm>
            <a:off x="3994675" y="457025"/>
            <a:ext cx="3513900" cy="22815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4A86E8"/>
                </a:solidFill>
              </a:rPr>
              <a:t>SELECT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rgbClr val="C27BA0"/>
                </a:solidFill>
              </a:rPr>
              <a:t>City</a:t>
            </a:r>
            <a:r>
              <a:rPr lang="en-GB" sz="1800">
                <a:solidFill>
                  <a:schemeClr val="dk2"/>
                </a:solidFill>
              </a:rPr>
              <a:t>, </a:t>
            </a:r>
            <a:r>
              <a:rPr lang="en-GB" sz="1800">
                <a:solidFill>
                  <a:srgbClr val="C27BA0"/>
                </a:solidFill>
              </a:rPr>
              <a:t>Region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 b="true">
                <a:solidFill>
                  <a:schemeClr val="accent1"/>
                </a:solidFill>
              </a:rPr>
              <a:t>FROM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rgbClr val="C27BA0"/>
                </a:solidFill>
              </a:rPr>
              <a:t>STORE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 b="true">
                <a:solidFill>
                  <a:schemeClr val="accent1"/>
                </a:solidFill>
              </a:rPr>
              <a:t>WHERE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rgbClr val="C27BA0"/>
                </a:solidFill>
              </a:rPr>
              <a:t>Store_key</a:t>
            </a:r>
            <a:r>
              <a:rPr lang="en-GB" sz="1800">
                <a:solidFill>
                  <a:schemeClr val="dk2"/>
                </a:solidFill>
              </a:rPr>
              <a:t>=5;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" name="Google Shape;160;p28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93850" y="1238625"/>
            <a:ext cx="4657375" cy="324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61;p28"/>
          <p:cNvSpPr/>
          <p:nvPr/>
        </p:nvSpPr>
        <p:spPr>
          <a:xfrm>
            <a:off x="3485875" y="2205975"/>
            <a:ext cx="1979400" cy="135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66;p29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文本格式</a:t>
            </a:r>
            <a:endParaRPr/>
          </a:p>
        </p:txBody>
      </p:sp>
      <p:sp>
        <p:nvSpPr>
          <p:cNvPr id="33" name="Google Shape;167;p29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CSV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JSON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…</a:t>
            </a:r>
            <a:endParaRPr/>
          </a:p>
        </p:txBody>
      </p:sp>
      <p:sp>
        <p:nvSpPr>
          <p:cNvPr id="34" name="Google Shape;168;p29"/>
          <p:cNvSpPr txBox="true"/>
          <p:nvPr/>
        </p:nvSpPr>
        <p:spPr>
          <a:xfrm>
            <a:off x="1033475" y="3879475"/>
            <a:ext cx="6773100" cy="8505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文本格式如何支持按行和属性（字段、列）访问数据？</a:t>
            </a:r>
            <a:endParaRPr sz="1800" b="true">
              <a:solidFill>
                <a:srgbClr val="FF0000"/>
              </a:solidFill>
            </a:endParaRPr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 sz="1800" b="true">
              <a:solidFill>
                <a:srgbClr val="FF0000"/>
              </a:solidFill>
            </a:endParaRPr>
          </a:p>
        </p:txBody>
      </p:sp>
      <p:pic>
        <p:nvPicPr>
          <p:cNvPr id="35" name="Google Shape;169;p29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12975" y="394325"/>
            <a:ext cx="3582775" cy="30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74;p30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提高I/O效率的</a:t>
            </a:r>
            <a:r>
              <a:rPr lang="en-GB"/>
              <a:t>基本</a:t>
            </a:r>
            <a:r>
              <a:rPr lang="en-GB"/>
              <a:t>原则</a:t>
            </a:r>
            <a:endParaRPr/>
          </a:p>
        </p:txBody>
      </p:sp>
      <p:sp>
        <p:nvSpPr>
          <p:cNvPr id="38" name="Google Shape;175;p30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尽可能减少读写放大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将有效数据放在一起</a:t>
            </a:r>
            <a:endParaRPr/>
          </a:p>
          <a:p>
            <a:pPr marL="4572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尽可能减少随机I/O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将随机I/O转换成顺序I/O</a:t>
            </a:r>
            <a:endParaRPr/>
          </a:p>
          <a:p>
            <a:pPr marL="4572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适当对数据进行压缩</a:t>
            </a:r>
            <a:endParaRPr/>
          </a:p>
          <a:p>
            <a:pPr marL="914400" lvl="1" indent="-317500" algn="l" rtl="false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但要考虑存储与计算开销的trade-off</a:t>
            </a:r>
            <a:endParaRPr/>
          </a:p>
        </p:txBody>
      </p:sp>
      <p:sp>
        <p:nvSpPr>
          <p:cNvPr id="39" name="Google Shape;176;p30"/>
          <p:cNvSpPr txBox="true"/>
          <p:nvPr/>
        </p:nvSpPr>
        <p:spPr>
          <a:xfrm>
            <a:off x="1677400" y="4404175"/>
            <a:ext cx="5453700" cy="4617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sp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本文格式在效率方面有什么问题？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81;p31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行存储 (row store)</a:t>
            </a:r>
            <a:endParaRPr/>
          </a:p>
        </p:txBody>
      </p:sp>
      <p:sp>
        <p:nvSpPr>
          <p:cNvPr id="42" name="Google Shape;182;p31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数据在文件中按行连续存储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每个page中有header (或footer) 记录了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page内每一行、每一字段的offset和length</a:t>
            </a:r>
            <a:endParaRPr/>
          </a:p>
        </p:txBody>
      </p:sp>
      <p:pic>
        <p:nvPicPr>
          <p:cNvPr id="43" name="Google Shape;183;p31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4597" y="1436622"/>
            <a:ext cx="3148825" cy="24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84;p31"/>
          <p:cNvSpPr txBox="true"/>
          <p:nvPr/>
        </p:nvSpPr>
        <p:spPr>
          <a:xfrm>
            <a:off x="1025525" y="4054375"/>
            <a:ext cx="6773100" cy="8505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行存储</a:t>
            </a:r>
            <a:r>
              <a:rPr lang="en-GB" sz="1800" b="true">
                <a:solidFill>
                  <a:srgbClr val="FF0000"/>
                </a:solidFill>
              </a:rPr>
              <a:t>在效率方面有什么</a:t>
            </a:r>
            <a:r>
              <a:rPr lang="en-GB" sz="1800" b="true">
                <a:solidFill>
                  <a:srgbClr val="FF0000"/>
                </a:solidFill>
              </a:rPr>
              <a:t>优劣</a:t>
            </a:r>
            <a:r>
              <a:rPr lang="en-GB" sz="1800" b="true">
                <a:solidFill>
                  <a:srgbClr val="FF0000"/>
                </a:solidFill>
              </a:rPr>
              <a:t>？</a:t>
            </a:r>
            <a:endParaRPr sz="1800" b="tru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89;p32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行存储的优劣</a:t>
            </a:r>
            <a:endParaRPr/>
          </a:p>
        </p:txBody>
      </p:sp>
      <p:sp>
        <p:nvSpPr>
          <p:cNvPr id="50" name="Google Shape;190;p32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可以高效处理的数据访问模式：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读取或修改某一行中的多个字段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写入一整行数据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难以高效处理的数据访问模式：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读取少数列上的大量数据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95;p33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列存储</a:t>
            </a:r>
            <a:endParaRPr/>
          </a:p>
        </p:txBody>
      </p:sp>
      <p:sp>
        <p:nvSpPr>
          <p:cNvPr id="53" name="Google Shape;196;p33"/>
          <p:cNvSpPr txBox="true"/>
          <p:nvPr>
            <p:ph type="body" idx="1"/>
          </p:nvPr>
        </p:nvSpPr>
        <p:spPr>
          <a:xfrm>
            <a:off x="311700" y="1152475"/>
            <a:ext cx="8520600" cy="31086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lnSpcReduction="1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数据在文件中按列连续存储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文件中的header或footer记录了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每个列在文件中的offset和length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以及列的数据类型和数据长度等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列可以是page aligned，但不一定</a:t>
            </a:r>
            <a:endParaRPr/>
          </a:p>
        </p:txBody>
      </p:sp>
      <p:pic>
        <p:nvPicPr>
          <p:cNvPr id="54" name="Google Shape;197;p33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3925" y="1743600"/>
            <a:ext cx="4204200" cy="20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198;p33"/>
          <p:cNvSpPr txBox="true"/>
          <p:nvPr/>
        </p:nvSpPr>
        <p:spPr>
          <a:xfrm>
            <a:off x="1025525" y="4261075"/>
            <a:ext cx="6773100" cy="8505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行存储在效率方面有什么优劣？</a:t>
            </a:r>
            <a:endParaRPr sz="1800" b="true">
              <a:solidFill>
                <a:srgbClr val="FF0000"/>
              </a:solidFill>
            </a:endParaRPr>
          </a:p>
        </p:txBody>
      </p:sp>
      <p:pic>
        <p:nvPicPr>
          <p:cNvPr id="56" name="Google Shape;199;p33"/>
          <p:cNvPicPr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725" y="233050"/>
            <a:ext cx="1036551" cy="10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200;p33"/>
          <p:cNvPicPr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286" y="196647"/>
            <a:ext cx="911434" cy="11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01;p33"/>
          <p:cNvSpPr txBox="true"/>
          <p:nvPr/>
        </p:nvSpPr>
        <p:spPr>
          <a:xfrm>
            <a:off x="4009150" y="1306000"/>
            <a:ext cx="1295700" cy="2466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Peter Boncz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" name="Google Shape;202;p33"/>
          <p:cNvSpPr txBox="true"/>
          <p:nvPr/>
        </p:nvSpPr>
        <p:spPr>
          <a:xfrm>
            <a:off x="6092099" y="1306000"/>
            <a:ext cx="2167800" cy="2466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Michael Stonebraker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207;p3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列存储的优劣</a:t>
            </a:r>
            <a:endParaRPr/>
          </a:p>
        </p:txBody>
      </p:sp>
      <p:sp>
        <p:nvSpPr>
          <p:cNvPr id="62" name="Google Shape;208;p34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难以</a:t>
            </a:r>
            <a:r>
              <a:rPr lang="en-GB"/>
              <a:t>高效处理的数据访问模式：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读取或修改某一行中的多个字段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大量的整行</a:t>
            </a:r>
            <a:r>
              <a:rPr lang="en-GB"/>
              <a:t>数据</a:t>
            </a:r>
            <a:r>
              <a:rPr lang="en-GB"/>
              <a:t>写入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可以</a:t>
            </a:r>
            <a:r>
              <a:rPr lang="en-GB"/>
              <a:t>高效处理的数据访问模式：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读取少数列上的大量数据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213;p3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典型列存储文件格式/数据库系统</a:t>
            </a:r>
            <a:endParaRPr/>
          </a:p>
        </p:txBody>
      </p:sp>
      <p:pic>
        <p:nvPicPr>
          <p:cNvPr id="65" name="Google Shape;214;p35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94000" y="3173825"/>
            <a:ext cx="1388274" cy="7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215;p35"/>
          <p:cNvPicPr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88" y="3074475"/>
            <a:ext cx="1191438" cy="7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216;p35"/>
          <p:cNvPicPr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138" y="3010820"/>
            <a:ext cx="1462473" cy="283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217;p35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8351" y="2424912"/>
            <a:ext cx="1219574" cy="51441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218;p35"/>
          <p:cNvSpPr txBox="true"/>
          <p:nvPr/>
        </p:nvSpPr>
        <p:spPr>
          <a:xfrm>
            <a:off x="3497875" y="2781538"/>
            <a:ext cx="2027100" cy="4053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true">
                <a:solidFill>
                  <a:schemeClr val="dk2"/>
                </a:solidFill>
              </a:rPr>
              <a:t>C-Store</a:t>
            </a:r>
            <a:endParaRPr sz="2200" b="true">
              <a:solidFill>
                <a:schemeClr val="dk2"/>
              </a:solidFill>
            </a:endParaRPr>
          </a:p>
        </p:txBody>
      </p:sp>
      <p:pic>
        <p:nvPicPr>
          <p:cNvPr id="70" name="Google Shape;219;p35"/>
          <p:cNvPicPr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3525" y="3779225"/>
            <a:ext cx="200921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20;p35"/>
          <p:cNvPicPr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8350" y="1203037"/>
            <a:ext cx="1036551" cy="10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221;p35"/>
          <p:cNvPicPr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59911" y="1166635"/>
            <a:ext cx="911434" cy="11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222;p35"/>
          <p:cNvPicPr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24968" y="2517000"/>
            <a:ext cx="1550572" cy="8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223;p35"/>
          <p:cNvPicPr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04763" y="2465850"/>
            <a:ext cx="1641093" cy="86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224;p35"/>
          <p:cNvPicPr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70113" y="3258635"/>
            <a:ext cx="1219581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225;p35"/>
          <p:cNvPicPr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69313" y="3127425"/>
            <a:ext cx="1312000" cy="6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226;p35"/>
          <p:cNvPicPr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48462" y="3868704"/>
            <a:ext cx="1781251" cy="4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227;p35"/>
          <p:cNvPicPr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97400" y="4502801"/>
            <a:ext cx="1883383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28;p35"/>
          <p:cNvSpPr txBox="true"/>
          <p:nvPr/>
        </p:nvSpPr>
        <p:spPr>
          <a:xfrm>
            <a:off x="5605925" y="1518650"/>
            <a:ext cx="1641000" cy="4053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true">
                <a:solidFill>
                  <a:schemeClr val="dk2"/>
                </a:solidFill>
              </a:rPr>
              <a:t>Pixels</a:t>
            </a:r>
            <a:endParaRPr sz="2600" b="true">
              <a:solidFill>
                <a:schemeClr val="dk2"/>
              </a:solidFill>
            </a:endParaRPr>
          </a:p>
        </p:txBody>
      </p:sp>
      <p:pic>
        <p:nvPicPr>
          <p:cNvPr id="80" name="Google Shape;229;p35"/>
          <p:cNvPicPr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670126" y="1065537"/>
            <a:ext cx="1998413" cy="4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230;p35"/>
          <p:cNvPicPr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269317" y="1532980"/>
            <a:ext cx="1219575" cy="46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231;p35"/>
          <p:cNvPicPr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800800" y="2126374"/>
            <a:ext cx="1998424" cy="435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236;p36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卞昊穹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信息楼125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bianhq@ruc.edu.cn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2025-09-17T00:13:25Z</dcterms:created>
  <dcterms:modified xsi:type="dcterms:W3CDTF">2025-09-17T00:13:25Z</dcterms:modified>
</cp:coreProperties>
</file>