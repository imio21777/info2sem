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9" r:id="rId3"/>
    <p:sldId id="317" r:id="rId4"/>
    <p:sldId id="324" r:id="rId5"/>
    <p:sldId id="319" r:id="rId6"/>
    <p:sldId id="309" r:id="rId7"/>
    <p:sldId id="320" r:id="rId8"/>
    <p:sldId id="310" r:id="rId9"/>
    <p:sldId id="321" r:id="rId10"/>
    <p:sldId id="312" r:id="rId11"/>
    <p:sldId id="322" r:id="rId12"/>
    <p:sldId id="313" r:id="rId13"/>
    <p:sldId id="323" r:id="rId14"/>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F00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0605" autoAdjust="0"/>
  </p:normalViewPr>
  <p:slideViewPr>
    <p:cSldViewPr snapToGrid="0">
      <p:cViewPr>
        <p:scale>
          <a:sx n="75" d="100"/>
          <a:sy n="75" d="100"/>
        </p:scale>
        <p:origin x="747"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57DDAF-2284-4515-BE6B-3E3D21A182FC}" type="datetimeFigureOut">
              <a:rPr lang="zh-CN" altLang="en-US" smtClean="0"/>
              <a:t>2024/11/26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F865DB-674B-4299-82DE-1E6057AD891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FF865DB-674B-4299-82DE-1E6057AD8917}" type="slidenum">
              <a:rPr lang="zh-CN" altLang="en-US" smtClean="0"/>
              <a:t>5</a:t>
            </a:fld>
            <a:endParaRPr lang="zh-CN" altLang="en-US"/>
          </a:p>
        </p:txBody>
      </p:sp>
    </p:spTree>
    <p:extLst>
      <p:ext uri="{BB962C8B-B14F-4D97-AF65-F5344CB8AC3E}">
        <p14:creationId xmlns:p14="http://schemas.microsoft.com/office/powerpoint/2010/main" val="1940138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2024/11/26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2024/11/26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2024/11/26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2024/11/26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5.xml"/><Relationship Id="rId5" Type="http://schemas.openxmlformats.org/officeDocument/2006/relationships/image" Target="../media/image5.pn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tags" Target="../tags/tag11.xml"/><Relationship Id="rId7" Type="http://schemas.openxmlformats.org/officeDocument/2006/relationships/image" Target="../media/image11.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1292052"/>
            <a:ext cx="12191999" cy="2397875"/>
            <a:chOff x="0" y="1292052"/>
            <a:chExt cx="12191999" cy="2397875"/>
          </a:xfrm>
        </p:grpSpPr>
        <p:sp>
          <p:nvSpPr>
            <p:cNvPr id="16" name="任意多边形: 形状 15"/>
            <p:cNvSpPr/>
            <p:nvPr/>
          </p:nvSpPr>
          <p:spPr>
            <a:xfrm>
              <a:off x="0" y="2387599"/>
              <a:ext cx="12191999" cy="1302328"/>
            </a:xfrm>
            <a:custGeom>
              <a:avLst/>
              <a:gdLst>
                <a:gd name="connsiteX0" fmla="*/ 0 w 12191999"/>
                <a:gd name="connsiteY0" fmla="*/ 0 h 1302328"/>
                <a:gd name="connsiteX1" fmla="*/ 1191490 w 12191999"/>
                <a:gd name="connsiteY1" fmla="*/ 0 h 1302328"/>
                <a:gd name="connsiteX2" fmla="*/ 2115127 w 12191999"/>
                <a:gd name="connsiteY2" fmla="*/ 923637 h 1302328"/>
                <a:gd name="connsiteX3" fmla="*/ 3038764 w 12191999"/>
                <a:gd name="connsiteY3" fmla="*/ 0 h 1302328"/>
                <a:gd name="connsiteX4" fmla="*/ 12191999 w 12191999"/>
                <a:gd name="connsiteY4" fmla="*/ 0 h 1302328"/>
                <a:gd name="connsiteX5" fmla="*/ 12191999 w 12191999"/>
                <a:gd name="connsiteY5" fmla="*/ 1302328 h 1302328"/>
                <a:gd name="connsiteX6" fmla="*/ 0 w 12191999"/>
                <a:gd name="connsiteY6" fmla="*/ 1302328 h 1302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1302328">
                  <a:moveTo>
                    <a:pt x="0" y="0"/>
                  </a:moveTo>
                  <a:lnTo>
                    <a:pt x="1191490" y="0"/>
                  </a:lnTo>
                  <a:cubicBezTo>
                    <a:pt x="1191490" y="510111"/>
                    <a:pt x="1605016" y="923637"/>
                    <a:pt x="2115127" y="923637"/>
                  </a:cubicBezTo>
                  <a:cubicBezTo>
                    <a:pt x="2625238" y="923637"/>
                    <a:pt x="3038764" y="510111"/>
                    <a:pt x="3038764" y="0"/>
                  </a:cubicBezTo>
                  <a:lnTo>
                    <a:pt x="12191999" y="0"/>
                  </a:lnTo>
                  <a:lnTo>
                    <a:pt x="12191999" y="1302328"/>
                  </a:lnTo>
                  <a:lnTo>
                    <a:pt x="0" y="1302328"/>
                  </a:lnTo>
                  <a:close/>
                </a:path>
              </a:pathLst>
            </a:cu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dirty="0"/>
            </a:p>
          </p:txBody>
        </p:sp>
        <p:pic>
          <p:nvPicPr>
            <p:cNvPr id="1030" name="Picture 6" descr="https://timgsa.baidu.com/timg?image&amp;quality=80&amp;size=b9999_10000&amp;sec=1516786462813&amp;di=7a21ec1ca471b9cb415c6eedd489bb8a&amp;imgtype=0&amp;src=http%3A%2F%2Fd.xuexito.com%2Ffileupload%2Fxuexito%2F201109%2F22%2Flogo360.jpg"/>
            <p:cNvPicPr>
              <a:picLocks noChangeAspect="1" noChangeArrowheads="1"/>
            </p:cNvPicPr>
            <p:nvPr/>
          </p:nvPicPr>
          <p:blipFill rotWithShape="1">
            <a:blip r:embed="rId2">
              <a:clrChange>
                <a:clrFrom>
                  <a:srgbClr val="FEFEFF"/>
                </a:clrFrom>
                <a:clrTo>
                  <a:srgbClr val="FEFEFF">
                    <a:alpha val="0"/>
                  </a:srgbClr>
                </a:clrTo>
              </a:clrChange>
              <a:extLst>
                <a:ext uri="{28A0092B-C50C-407E-A947-70E740481C1C}">
                  <a14:useLocalDpi xmlns:a14="http://schemas.microsoft.com/office/drawing/2010/main" val="0"/>
                </a:ext>
              </a:extLst>
            </a:blip>
            <a:srcRect l="29209" r="28489" b="39445"/>
            <a:stretch>
              <a:fillRect/>
            </a:stretch>
          </p:blipFill>
          <p:spPr bwMode="auto">
            <a:xfrm>
              <a:off x="1174447" y="1292052"/>
              <a:ext cx="1851968" cy="1951181"/>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等腰三角形 8"/>
          <p:cNvSpPr/>
          <p:nvPr/>
        </p:nvSpPr>
        <p:spPr>
          <a:xfrm rot="10800000">
            <a:off x="8663708" y="2770908"/>
            <a:ext cx="2955637" cy="1173018"/>
          </a:xfrm>
          <a:prstGeom prst="triangle">
            <a:avLst>
              <a:gd name="adj" fmla="val 43104"/>
            </a:avLst>
          </a:prstGeom>
          <a:solidFill>
            <a:srgbClr val="8F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a:off x="0" y="2117529"/>
            <a:ext cx="12192000" cy="143703"/>
          </a:xfrm>
          <a:custGeom>
            <a:avLst/>
            <a:gdLst>
              <a:gd name="connsiteX0" fmla="*/ 2973743 w 12192000"/>
              <a:gd name="connsiteY0" fmla="*/ 0 h 143703"/>
              <a:gd name="connsiteX1" fmla="*/ 12192000 w 12192000"/>
              <a:gd name="connsiteY1" fmla="*/ 0 h 143703"/>
              <a:gd name="connsiteX2" fmla="*/ 12192000 w 12192000"/>
              <a:gd name="connsiteY2" fmla="*/ 143703 h 143703"/>
              <a:gd name="connsiteX3" fmla="*/ 3006202 w 12192000"/>
              <a:gd name="connsiteY3" fmla="*/ 143703 h 143703"/>
              <a:gd name="connsiteX4" fmla="*/ 3000359 w 12192000"/>
              <a:gd name="connsiteY4" fmla="*/ 85742 h 143703"/>
              <a:gd name="connsiteX5" fmla="*/ 0 w 12192000"/>
              <a:gd name="connsiteY5" fmla="*/ 0 h 143703"/>
              <a:gd name="connsiteX6" fmla="*/ 1224109 w 12192000"/>
              <a:gd name="connsiteY6" fmla="*/ 0 h 143703"/>
              <a:gd name="connsiteX7" fmla="*/ 1197494 w 12192000"/>
              <a:gd name="connsiteY7" fmla="*/ 85742 h 143703"/>
              <a:gd name="connsiteX8" fmla="*/ 1191651 w 12192000"/>
              <a:gd name="connsiteY8" fmla="*/ 143703 h 143703"/>
              <a:gd name="connsiteX9" fmla="*/ 0 w 12192000"/>
              <a:gd name="connsiteY9" fmla="*/ 143703 h 14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143703">
                <a:moveTo>
                  <a:pt x="2973743" y="0"/>
                </a:moveTo>
                <a:lnTo>
                  <a:pt x="12192000" y="0"/>
                </a:lnTo>
                <a:lnTo>
                  <a:pt x="12192000" y="143703"/>
                </a:lnTo>
                <a:lnTo>
                  <a:pt x="3006202" y="143703"/>
                </a:lnTo>
                <a:lnTo>
                  <a:pt x="3000359" y="85742"/>
                </a:lnTo>
                <a:close/>
                <a:moveTo>
                  <a:pt x="0" y="0"/>
                </a:moveTo>
                <a:lnTo>
                  <a:pt x="1224109" y="0"/>
                </a:lnTo>
                <a:lnTo>
                  <a:pt x="1197494" y="85742"/>
                </a:lnTo>
                <a:lnTo>
                  <a:pt x="1191651" y="143703"/>
                </a:lnTo>
                <a:lnTo>
                  <a:pt x="0" y="143703"/>
                </a:lnTo>
                <a:close/>
              </a:path>
            </a:pathLst>
          </a:cu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a:p>
        </p:txBody>
      </p:sp>
      <p:sp>
        <p:nvSpPr>
          <p:cNvPr id="12" name="椭圆 11"/>
          <p:cNvSpPr/>
          <p:nvPr/>
        </p:nvSpPr>
        <p:spPr>
          <a:xfrm>
            <a:off x="1123949" y="1384345"/>
            <a:ext cx="1933287" cy="2006507"/>
          </a:xfrm>
          <a:prstGeom prst="ellipse">
            <a:avLst/>
          </a:prstGeom>
          <a:noFill/>
          <a:ln w="152400">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782204" y="2267585"/>
            <a:ext cx="495300" cy="1136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2940219" y="2267585"/>
            <a:ext cx="495300" cy="1136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1152567" y="3825677"/>
            <a:ext cx="2683120" cy="567029"/>
            <a:chOff x="1447482" y="3806534"/>
            <a:chExt cx="1948632" cy="258495"/>
          </a:xfrm>
        </p:grpSpPr>
        <p:sp>
          <p:nvSpPr>
            <p:cNvPr id="34" name="矩形 33"/>
            <p:cNvSpPr/>
            <p:nvPr/>
          </p:nvSpPr>
          <p:spPr>
            <a:xfrm>
              <a:off x="1581410" y="3806534"/>
              <a:ext cx="1662304" cy="258495"/>
            </a:xfrm>
            <a:prstGeom prst="rect">
              <a:avLst/>
            </a:pr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3128260" y="3806534"/>
              <a:ext cx="267854" cy="258495"/>
            </a:xfrm>
            <a:prstGeom prst="ellipse">
              <a:avLst/>
            </a:pr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1447482" y="3806534"/>
              <a:ext cx="267854" cy="258495"/>
            </a:xfrm>
            <a:prstGeom prst="ellipse">
              <a:avLst/>
            </a:pr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7" name="文本框 36"/>
          <p:cNvSpPr txBox="1"/>
          <p:nvPr/>
        </p:nvSpPr>
        <p:spPr>
          <a:xfrm>
            <a:off x="1495261" y="3887324"/>
            <a:ext cx="2036833" cy="461665"/>
          </a:xfrm>
          <a:prstGeom prst="rect">
            <a:avLst/>
          </a:prstGeom>
          <a:noFill/>
        </p:spPr>
        <p:txBody>
          <a:bodyPr wrap="square" rtlCol="0">
            <a:spAutoFit/>
          </a:bodyPr>
          <a:lstStyle/>
          <a:p>
            <a:r>
              <a:rPr lang="zh-CN" altLang="en-US" sz="2400" dirty="0">
                <a:solidFill>
                  <a:schemeClr val="bg1"/>
                </a:solidFill>
                <a:latin typeface="汉仪张乃仁行书W" panose="00020600040101010101" pitchFamily="18" charset="-122"/>
                <a:ea typeface="汉仪张乃仁行书W" panose="00020600040101010101" pitchFamily="18" charset="-122"/>
              </a:rPr>
              <a:t>中国人民大学</a:t>
            </a:r>
          </a:p>
        </p:txBody>
      </p:sp>
      <p:sp>
        <p:nvSpPr>
          <p:cNvPr id="21" name="文本框 20"/>
          <p:cNvSpPr txBox="1"/>
          <p:nvPr/>
        </p:nvSpPr>
        <p:spPr>
          <a:xfrm>
            <a:off x="3107735" y="2450423"/>
            <a:ext cx="8934586" cy="768350"/>
          </a:xfrm>
          <a:prstGeom prst="rect">
            <a:avLst/>
          </a:prstGeom>
          <a:noFill/>
        </p:spPr>
        <p:txBody>
          <a:bodyPr wrap="square" rtlCol="0">
            <a:spAutoFit/>
          </a:bodyPr>
          <a:lstStyle/>
          <a:p>
            <a:r>
              <a:rPr lang="zh-CN" altLang="en-US" sz="4400" b="1" dirty="0">
                <a:solidFill>
                  <a:schemeClr val="bg1"/>
                </a:solidFill>
                <a:latin typeface="Arial" panose="020B0604020202020204" pitchFamily="34" charset="0"/>
                <a:cs typeface="Arial" panose="020B0604020202020204" pitchFamily="34" charset="0"/>
              </a:rPr>
              <a:t>如何写出更好的</a:t>
            </a:r>
            <a:r>
              <a:rPr lang="en-US" altLang="zh-CN" sz="4400" b="1" dirty="0">
                <a:solidFill>
                  <a:schemeClr val="bg1"/>
                </a:solidFill>
                <a:latin typeface="Arial" panose="020B0604020202020204" pitchFamily="34" charset="0"/>
                <a:cs typeface="Arial" panose="020B0604020202020204" pitchFamily="34" charset="0"/>
              </a:rPr>
              <a:t>SQL--</a:t>
            </a:r>
            <a:r>
              <a:rPr lang="zh-CN" altLang="en-US" sz="2400" b="1" dirty="0">
                <a:solidFill>
                  <a:schemeClr val="bg1"/>
                </a:solidFill>
                <a:latin typeface="Arial" panose="020B0604020202020204" pitchFamily="34" charset="0"/>
                <a:cs typeface="Arial" panose="020B0604020202020204" pitchFamily="34" charset="0"/>
              </a:rPr>
              <a:t>阿里云博客分享</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147779" y="848260"/>
            <a:ext cx="10738786" cy="0"/>
          </a:xfrm>
          <a:prstGeom prst="line">
            <a:avLst/>
          </a:prstGeom>
          <a:ln w="28575" cmpd="sng">
            <a:solidFill>
              <a:srgbClr val="8F000B"/>
            </a:solidFill>
            <a:prstDash val="solid"/>
          </a:ln>
        </p:spPr>
        <p:style>
          <a:lnRef idx="1">
            <a:schemeClr val="accent1"/>
          </a:lnRef>
          <a:fillRef idx="0">
            <a:schemeClr val="accent1"/>
          </a:fillRef>
          <a:effectRef idx="0">
            <a:schemeClr val="accent1"/>
          </a:effectRef>
          <a:fontRef idx="minor">
            <a:schemeClr val="tx1"/>
          </a:fontRef>
        </p:style>
      </p:cxnSp>
      <p:sp>
        <p:nvSpPr>
          <p:cNvPr id="11" name="TextBox 25"/>
          <p:cNvSpPr txBox="1"/>
          <p:nvPr/>
        </p:nvSpPr>
        <p:spPr>
          <a:xfrm>
            <a:off x="1126828" y="336728"/>
            <a:ext cx="1554480" cy="460375"/>
          </a:xfrm>
          <a:prstGeom prst="rect">
            <a:avLst/>
          </a:prstGeom>
          <a:noFill/>
          <a:ln>
            <a:noFill/>
          </a:ln>
        </p:spPr>
        <p:txBody>
          <a:bodyPr wrap="none" rtlCol="0">
            <a:spAutoFit/>
          </a:bodyPr>
          <a:lstStyle/>
          <a:p>
            <a:r>
              <a:rPr lang="zh-CN" altLang="en-US" sz="2400" b="1" spc="300" dirty="0">
                <a:solidFill>
                  <a:srgbClr val="8F000B"/>
                </a:solidFill>
                <a:latin typeface="Segoe Print" panose="02000600000000000000" charset="0"/>
                <a:ea typeface="微软雅黑" panose="020B0503020204020204" charset="-122"/>
              </a:rPr>
              <a:t>查询优化</a:t>
            </a:r>
          </a:p>
        </p:txBody>
      </p:sp>
      <p:grpSp>
        <p:nvGrpSpPr>
          <p:cNvPr id="162" name="组合 161"/>
          <p:cNvGrpSpPr/>
          <p:nvPr/>
        </p:nvGrpSpPr>
        <p:grpSpPr>
          <a:xfrm>
            <a:off x="11886565" y="6461125"/>
            <a:ext cx="305435" cy="396875"/>
            <a:chOff x="13438" y="10212"/>
            <a:chExt cx="481" cy="625"/>
          </a:xfrm>
        </p:grpSpPr>
        <p:sp>
          <p:nvSpPr>
            <p:cNvPr id="163" name="矩形 162"/>
            <p:cNvSpPr/>
            <p:nvPr/>
          </p:nvSpPr>
          <p:spPr>
            <a:xfrm>
              <a:off x="13448" y="10212"/>
              <a:ext cx="471" cy="601"/>
            </a:xfrm>
            <a:prstGeom prst="rect">
              <a:avLst/>
            </a:pr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13438" y="10257"/>
              <a:ext cx="357" cy="580"/>
            </a:xfrm>
            <a:prstGeom prst="rect">
              <a:avLst/>
            </a:prstGeom>
            <a:noFill/>
          </p:spPr>
          <p:txBody>
            <a:bodyPr wrap="square" rtlCol="0">
              <a:spAutoFit/>
            </a:bodyPr>
            <a:lstStyle/>
            <a:p>
              <a:r>
                <a:rPr lang="en-US" altLang="zh-CN" dirty="0">
                  <a:solidFill>
                    <a:schemeClr val="bg1"/>
                  </a:solidFill>
                </a:rPr>
                <a:t>1</a:t>
              </a:r>
            </a:p>
          </p:txBody>
        </p:sp>
      </p:grpSp>
      <p:pic>
        <p:nvPicPr>
          <p:cNvPr id="33" name="Picture 2" descr="https://timgsa.baidu.com/timg?image&amp;quality=80&amp;size=b9999_10000&amp;sec=1516787954330&amp;di=a718f28c8ddbe2375b5827d4c85f1b4d&amp;imgtype=0&amp;src=http%3A%2F%2Fimg.mp.itc.cn%2Fupload%2F20161123%2F83719adc00e54c0ca5567f8c9ac0ffa2_th.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79874"/>
          <a:stretch>
            <a:fillRect/>
          </a:stretch>
        </p:blipFill>
        <p:spPr bwMode="auto">
          <a:xfrm>
            <a:off x="196099" y="93463"/>
            <a:ext cx="852090" cy="101376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645795" y="1348105"/>
            <a:ext cx="10876915" cy="4094480"/>
          </a:xfrm>
          <a:prstGeom prst="rect">
            <a:avLst/>
          </a:prstGeom>
          <a:noFill/>
        </p:spPr>
        <p:txBody>
          <a:bodyPr wrap="square" rtlCol="0">
            <a:noAutofit/>
          </a:bodyPr>
          <a:lstStyle/>
          <a:p>
            <a:r>
              <a:rPr lang="zh-CN" altLang="en-US" sz="2400"/>
              <a:t>现代数据库做查询执行会应用许多优化技术。这些优化技术包括但不限于查询重用技术、查询重写规则、查询算法优化技术、并行查询优化技术。</a:t>
            </a:r>
          </a:p>
          <a:p>
            <a:r>
              <a:rPr lang="zh-CN" altLang="en-US" sz="2400"/>
              <a:t>而作为数据库的</a:t>
            </a:r>
            <a:r>
              <a:rPr lang="en-US" altLang="zh-CN" sz="2400"/>
              <a:t>“</a:t>
            </a:r>
            <a:r>
              <a:rPr lang="zh-CN" altLang="en-US" sz="2400"/>
              <a:t>使用者</a:t>
            </a:r>
            <a:r>
              <a:rPr lang="en-US" altLang="zh-CN" sz="2400"/>
              <a:t>”</a:t>
            </a:r>
            <a:r>
              <a:rPr lang="zh-CN" altLang="en-US" sz="2400"/>
              <a:t>，我们并不需要将每项查询技术了解地这么深入。但是了解这些技术可以帮助我们设计出更合理的</a:t>
            </a:r>
            <a:r>
              <a:rPr lang="en-US" altLang="zh-CN" sz="2400"/>
              <a:t>SQL</a:t>
            </a:r>
            <a:r>
              <a:rPr lang="zh-CN" altLang="en-US" sz="2400"/>
              <a:t>。</a:t>
            </a:r>
          </a:p>
          <a:p>
            <a:endParaRPr lang="zh-CN" altLang="en-US" sz="2400"/>
          </a:p>
          <a:p>
            <a:r>
              <a:rPr lang="zh-CN" altLang="en-US" sz="2400"/>
              <a:t>下面我分享一篇阿里云的博客，博客中总结了数据库查询优化的时需要注意几个点，可以帮助同学们写出更优雅的</a:t>
            </a:r>
            <a:r>
              <a:rPr lang="en-US" altLang="zh-CN" sz="2400"/>
              <a:t>SQL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p:tgtEl>
                                          <p:spTgt spid="11"/>
                                        </p:tgtEl>
                                        <p:attrNameLst>
                                          <p:attrName>ppt_x</p:attrName>
                                        </p:attrNameLst>
                                      </p:cBhvr>
                                      <p:tavLst>
                                        <p:tav tm="0">
                                          <p:val>
                                            <p:strVal val="#ppt_x-#ppt_w*1.125000"/>
                                          </p:val>
                                        </p:tav>
                                        <p:tav tm="100000">
                                          <p:val>
                                            <p:strVal val="#ppt_x"/>
                                          </p:val>
                                        </p:tav>
                                      </p:tavLst>
                                    </p:anim>
                                    <p:animEffect transition="in" filter="wipe(righ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147779" y="848260"/>
            <a:ext cx="10738786" cy="0"/>
          </a:xfrm>
          <a:prstGeom prst="line">
            <a:avLst/>
          </a:prstGeom>
          <a:ln w="28575" cmpd="sng">
            <a:solidFill>
              <a:srgbClr val="8F000B"/>
            </a:solidFill>
            <a:prstDash val="solid"/>
          </a:ln>
        </p:spPr>
        <p:style>
          <a:lnRef idx="1">
            <a:schemeClr val="accent1"/>
          </a:lnRef>
          <a:fillRef idx="0">
            <a:schemeClr val="accent1"/>
          </a:fillRef>
          <a:effectRef idx="0">
            <a:schemeClr val="accent1"/>
          </a:effectRef>
          <a:fontRef idx="minor">
            <a:schemeClr val="tx1"/>
          </a:fontRef>
        </p:style>
      </p:cxnSp>
      <p:sp>
        <p:nvSpPr>
          <p:cNvPr id="11" name="TextBox 25"/>
          <p:cNvSpPr txBox="1"/>
          <p:nvPr/>
        </p:nvSpPr>
        <p:spPr>
          <a:xfrm>
            <a:off x="1126828" y="336728"/>
            <a:ext cx="1554480" cy="460375"/>
          </a:xfrm>
          <a:prstGeom prst="rect">
            <a:avLst/>
          </a:prstGeom>
          <a:noFill/>
          <a:ln>
            <a:noFill/>
          </a:ln>
        </p:spPr>
        <p:txBody>
          <a:bodyPr wrap="none" rtlCol="0">
            <a:spAutoFit/>
          </a:bodyPr>
          <a:lstStyle/>
          <a:p>
            <a:r>
              <a:rPr lang="zh-CN" altLang="en-US" sz="2400" b="1" spc="300" dirty="0">
                <a:solidFill>
                  <a:srgbClr val="8F000B"/>
                </a:solidFill>
                <a:latin typeface="Segoe Print" panose="02000600000000000000" charset="0"/>
                <a:ea typeface="微软雅黑" panose="020B0503020204020204" charset="-122"/>
              </a:rPr>
              <a:t>查询优化</a:t>
            </a:r>
          </a:p>
        </p:txBody>
      </p:sp>
      <p:grpSp>
        <p:nvGrpSpPr>
          <p:cNvPr id="162" name="组合 161"/>
          <p:cNvGrpSpPr/>
          <p:nvPr/>
        </p:nvGrpSpPr>
        <p:grpSpPr>
          <a:xfrm>
            <a:off x="11886565" y="6461125"/>
            <a:ext cx="305435" cy="396875"/>
            <a:chOff x="13438" y="10212"/>
            <a:chExt cx="481" cy="625"/>
          </a:xfrm>
        </p:grpSpPr>
        <p:sp>
          <p:nvSpPr>
            <p:cNvPr id="163" name="矩形 162"/>
            <p:cNvSpPr/>
            <p:nvPr/>
          </p:nvSpPr>
          <p:spPr>
            <a:xfrm>
              <a:off x="13448" y="10212"/>
              <a:ext cx="471" cy="601"/>
            </a:xfrm>
            <a:prstGeom prst="rect">
              <a:avLst/>
            </a:pr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13438" y="10257"/>
              <a:ext cx="357" cy="580"/>
            </a:xfrm>
            <a:prstGeom prst="rect">
              <a:avLst/>
            </a:prstGeom>
            <a:noFill/>
          </p:spPr>
          <p:txBody>
            <a:bodyPr wrap="square" rtlCol="0">
              <a:spAutoFit/>
            </a:bodyPr>
            <a:lstStyle/>
            <a:p>
              <a:r>
                <a:rPr lang="en-US" altLang="zh-CN" dirty="0">
                  <a:solidFill>
                    <a:schemeClr val="bg1"/>
                  </a:solidFill>
                </a:rPr>
                <a:t>1</a:t>
              </a:r>
            </a:p>
          </p:txBody>
        </p:sp>
      </p:grpSp>
      <p:pic>
        <p:nvPicPr>
          <p:cNvPr id="33" name="Picture 2" descr="https://timgsa.baidu.com/timg?image&amp;quality=80&amp;size=b9999_10000&amp;sec=1516787954330&amp;di=a718f28c8ddbe2375b5827d4c85f1b4d&amp;imgtype=0&amp;src=http%3A%2F%2Fimg.mp.itc.cn%2Fupload%2F20161123%2F83719adc00e54c0ca5567f8c9ac0ffa2_th.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79874"/>
          <a:stretch>
            <a:fillRect/>
          </a:stretch>
        </p:blipFill>
        <p:spPr bwMode="auto">
          <a:xfrm>
            <a:off x="196099" y="93463"/>
            <a:ext cx="852090" cy="101376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842645" y="1192530"/>
            <a:ext cx="10858500" cy="645160"/>
          </a:xfrm>
          <a:prstGeom prst="rect">
            <a:avLst/>
          </a:prstGeom>
          <a:noFill/>
        </p:spPr>
        <p:txBody>
          <a:bodyPr wrap="square" rtlCol="0" anchor="t">
            <a:spAutoFit/>
          </a:bodyPr>
          <a:lstStyle/>
          <a:p>
            <a:r>
              <a:rPr lang="en-US" altLang="zh-CN">
                <a:sym typeface="+mn-ea"/>
              </a:rPr>
              <a:t>1.  </a:t>
            </a:r>
            <a:r>
              <a:rPr lang="zh-CN" altLang="en-US">
                <a:sym typeface="+mn-ea"/>
              </a:rPr>
              <a:t>在</a:t>
            </a:r>
            <a:r>
              <a:rPr lang="en-US" altLang="zh-CN">
                <a:sym typeface="+mn-ea"/>
              </a:rPr>
              <a:t>where</a:t>
            </a:r>
            <a:r>
              <a:rPr lang="zh-CN" altLang="en-US">
                <a:sym typeface="+mn-ea"/>
              </a:rPr>
              <a:t>子句中我们应该尽量避免使用</a:t>
            </a:r>
            <a:r>
              <a:rPr lang="en-US" altLang="zh-CN">
                <a:sym typeface="+mn-ea"/>
              </a:rPr>
              <a:t>&lt;&gt;</a:t>
            </a:r>
            <a:r>
              <a:rPr lang="zh-CN" altLang="en-US">
                <a:sym typeface="+mn-ea"/>
              </a:rPr>
              <a:t>或者</a:t>
            </a:r>
            <a:r>
              <a:rPr lang="en-US" altLang="zh-CN">
                <a:sym typeface="+mn-ea"/>
              </a:rPr>
              <a:t>!=</a:t>
            </a:r>
            <a:r>
              <a:rPr lang="zh-CN" altLang="en-US">
                <a:sym typeface="+mn-ea"/>
              </a:rPr>
              <a:t>符号，否则将引擎放弃使用索引而进行全表扫描。MySQL只有对以下操作符才使用索引：&lt;，&lt;=，=，&gt;，&gt;=，BETWEEN，IN</a:t>
            </a:r>
          </a:p>
        </p:txBody>
      </p:sp>
      <p:pic>
        <p:nvPicPr>
          <p:cNvPr id="5" name="图片 4"/>
          <p:cNvPicPr>
            <a:picLocks noChangeAspect="1"/>
          </p:cNvPicPr>
          <p:nvPr>
            <p:custDataLst>
              <p:tags r:id="rId1"/>
            </p:custDataLst>
          </p:nvPr>
        </p:nvPicPr>
        <p:blipFill>
          <a:blip r:embed="rId5"/>
          <a:stretch>
            <a:fillRect/>
          </a:stretch>
        </p:blipFill>
        <p:spPr>
          <a:xfrm>
            <a:off x="945883" y="1922989"/>
            <a:ext cx="14122400" cy="3594100"/>
          </a:xfrm>
          <a:prstGeom prst="rect">
            <a:avLst/>
          </a:prstGeom>
        </p:spPr>
      </p:pic>
      <p:pic>
        <p:nvPicPr>
          <p:cNvPr id="6" name="图片 5"/>
          <p:cNvPicPr>
            <a:picLocks noChangeAspect="1"/>
          </p:cNvPicPr>
          <p:nvPr>
            <p:custDataLst>
              <p:tags r:id="rId2"/>
            </p:custDataLst>
          </p:nvPr>
        </p:nvPicPr>
        <p:blipFill>
          <a:blip r:embed="rId6"/>
          <a:stretch>
            <a:fillRect/>
          </a:stretch>
        </p:blipFill>
        <p:spPr>
          <a:xfrm>
            <a:off x="1570522" y="5602388"/>
            <a:ext cx="9893300" cy="2305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p:tgtEl>
                                          <p:spTgt spid="11"/>
                                        </p:tgtEl>
                                        <p:attrNameLst>
                                          <p:attrName>ppt_x</p:attrName>
                                        </p:attrNameLst>
                                      </p:cBhvr>
                                      <p:tavLst>
                                        <p:tav tm="0">
                                          <p:val>
                                            <p:strVal val="#ppt_x-#ppt_w*1.125000"/>
                                          </p:val>
                                        </p:tav>
                                        <p:tav tm="100000">
                                          <p:val>
                                            <p:strVal val="#ppt_x"/>
                                          </p:val>
                                        </p:tav>
                                      </p:tavLst>
                                    </p:anim>
                                    <p:animEffect transition="in" filter="wipe(righ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147779" y="848260"/>
            <a:ext cx="10738786" cy="0"/>
          </a:xfrm>
          <a:prstGeom prst="line">
            <a:avLst/>
          </a:prstGeom>
          <a:ln w="28575" cmpd="sng">
            <a:solidFill>
              <a:srgbClr val="8F000B"/>
            </a:solidFill>
            <a:prstDash val="solid"/>
          </a:ln>
        </p:spPr>
        <p:style>
          <a:lnRef idx="1">
            <a:schemeClr val="accent1"/>
          </a:lnRef>
          <a:fillRef idx="0">
            <a:schemeClr val="accent1"/>
          </a:fillRef>
          <a:effectRef idx="0">
            <a:schemeClr val="accent1"/>
          </a:effectRef>
          <a:fontRef idx="minor">
            <a:schemeClr val="tx1"/>
          </a:fontRef>
        </p:style>
      </p:cxnSp>
      <p:sp>
        <p:nvSpPr>
          <p:cNvPr id="11" name="TextBox 25"/>
          <p:cNvSpPr txBox="1"/>
          <p:nvPr/>
        </p:nvSpPr>
        <p:spPr>
          <a:xfrm>
            <a:off x="1126828" y="336728"/>
            <a:ext cx="1554480" cy="460375"/>
          </a:xfrm>
          <a:prstGeom prst="rect">
            <a:avLst/>
          </a:prstGeom>
          <a:noFill/>
          <a:ln>
            <a:noFill/>
          </a:ln>
        </p:spPr>
        <p:txBody>
          <a:bodyPr wrap="none" rtlCol="0">
            <a:spAutoFit/>
          </a:bodyPr>
          <a:lstStyle/>
          <a:p>
            <a:r>
              <a:rPr lang="zh-CN" altLang="en-US" sz="2400" b="1" spc="300" dirty="0">
                <a:solidFill>
                  <a:srgbClr val="8F000B"/>
                </a:solidFill>
                <a:latin typeface="Segoe Print" panose="02000600000000000000" charset="0"/>
                <a:ea typeface="微软雅黑" panose="020B0503020204020204" charset="-122"/>
              </a:rPr>
              <a:t>查询优化</a:t>
            </a:r>
          </a:p>
        </p:txBody>
      </p:sp>
      <p:grpSp>
        <p:nvGrpSpPr>
          <p:cNvPr id="162" name="组合 161"/>
          <p:cNvGrpSpPr/>
          <p:nvPr/>
        </p:nvGrpSpPr>
        <p:grpSpPr>
          <a:xfrm>
            <a:off x="11886565" y="6461125"/>
            <a:ext cx="305435" cy="396875"/>
            <a:chOff x="13438" y="10212"/>
            <a:chExt cx="481" cy="625"/>
          </a:xfrm>
        </p:grpSpPr>
        <p:sp>
          <p:nvSpPr>
            <p:cNvPr id="163" name="矩形 162"/>
            <p:cNvSpPr/>
            <p:nvPr/>
          </p:nvSpPr>
          <p:spPr>
            <a:xfrm>
              <a:off x="13448" y="10212"/>
              <a:ext cx="471" cy="601"/>
            </a:xfrm>
            <a:prstGeom prst="rect">
              <a:avLst/>
            </a:pr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13438" y="10257"/>
              <a:ext cx="357" cy="580"/>
            </a:xfrm>
            <a:prstGeom prst="rect">
              <a:avLst/>
            </a:prstGeom>
            <a:noFill/>
          </p:spPr>
          <p:txBody>
            <a:bodyPr wrap="square" rtlCol="0">
              <a:spAutoFit/>
            </a:bodyPr>
            <a:lstStyle/>
            <a:p>
              <a:r>
                <a:rPr lang="en-US" altLang="zh-CN" dirty="0">
                  <a:solidFill>
                    <a:schemeClr val="bg1"/>
                  </a:solidFill>
                </a:rPr>
                <a:t>1</a:t>
              </a:r>
            </a:p>
          </p:txBody>
        </p:sp>
      </p:grpSp>
      <p:pic>
        <p:nvPicPr>
          <p:cNvPr id="33" name="Picture 2" descr="https://timgsa.baidu.com/timg?image&amp;quality=80&amp;size=b9999_10000&amp;sec=1516787954330&amp;di=a718f28c8ddbe2375b5827d4c85f1b4d&amp;imgtype=0&amp;src=http%3A%2F%2Fimg.mp.itc.cn%2Fupload%2F20161123%2F83719adc00e54c0ca5567f8c9ac0ffa2_th.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79874"/>
          <a:stretch>
            <a:fillRect/>
          </a:stretch>
        </p:blipFill>
        <p:spPr bwMode="auto">
          <a:xfrm>
            <a:off x="196099" y="93463"/>
            <a:ext cx="852090" cy="101376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842645" y="1192530"/>
            <a:ext cx="10858500" cy="645160"/>
          </a:xfrm>
          <a:prstGeom prst="rect">
            <a:avLst/>
          </a:prstGeom>
          <a:noFill/>
        </p:spPr>
        <p:txBody>
          <a:bodyPr wrap="square" rtlCol="0" anchor="t">
            <a:spAutoFit/>
          </a:bodyPr>
          <a:lstStyle/>
          <a:p>
            <a:r>
              <a:rPr lang="en-US" altLang="zh-CN">
                <a:sym typeface="+mn-ea"/>
              </a:rPr>
              <a:t>1.  </a:t>
            </a:r>
            <a:r>
              <a:rPr lang="zh-CN" altLang="en-US">
                <a:sym typeface="+mn-ea"/>
              </a:rPr>
              <a:t>在</a:t>
            </a:r>
            <a:r>
              <a:rPr lang="en-US" altLang="zh-CN">
                <a:sym typeface="+mn-ea"/>
              </a:rPr>
              <a:t>where</a:t>
            </a:r>
            <a:r>
              <a:rPr lang="zh-CN" altLang="en-US">
                <a:sym typeface="+mn-ea"/>
              </a:rPr>
              <a:t>子句中我们应该尽量避免使用</a:t>
            </a:r>
            <a:r>
              <a:rPr lang="en-US" altLang="zh-CN">
                <a:sym typeface="+mn-ea"/>
              </a:rPr>
              <a:t>&lt;&gt;</a:t>
            </a:r>
            <a:r>
              <a:rPr lang="zh-CN" altLang="en-US">
                <a:sym typeface="+mn-ea"/>
              </a:rPr>
              <a:t>或者</a:t>
            </a:r>
            <a:r>
              <a:rPr lang="en-US" altLang="zh-CN">
                <a:sym typeface="+mn-ea"/>
              </a:rPr>
              <a:t>!=</a:t>
            </a:r>
            <a:r>
              <a:rPr lang="zh-CN" altLang="en-US">
                <a:sym typeface="+mn-ea"/>
              </a:rPr>
              <a:t>符号，否则将引擎放弃使用索引而进行全表扫描。MySQL只有对以下操作符才使用索引：&lt;，&lt;=，=，&gt;，&gt;=，BETWEEN，IN</a:t>
            </a:r>
          </a:p>
        </p:txBody>
      </p:sp>
      <p:pic>
        <p:nvPicPr>
          <p:cNvPr id="6" name="图片 5"/>
          <p:cNvPicPr>
            <a:picLocks noChangeAspect="1"/>
          </p:cNvPicPr>
          <p:nvPr>
            <p:custDataLst>
              <p:tags r:id="rId1"/>
            </p:custDataLst>
          </p:nvPr>
        </p:nvPicPr>
        <p:blipFill>
          <a:blip r:embed="rId4"/>
          <a:stretch>
            <a:fillRect/>
          </a:stretch>
        </p:blipFill>
        <p:spPr>
          <a:xfrm>
            <a:off x="623570" y="2564130"/>
            <a:ext cx="10944225" cy="25501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p:tgtEl>
                                          <p:spTgt spid="11"/>
                                        </p:tgtEl>
                                        <p:attrNameLst>
                                          <p:attrName>ppt_x</p:attrName>
                                        </p:attrNameLst>
                                      </p:cBhvr>
                                      <p:tavLst>
                                        <p:tav tm="0">
                                          <p:val>
                                            <p:strVal val="#ppt_x-#ppt_w*1.125000"/>
                                          </p:val>
                                        </p:tav>
                                        <p:tav tm="100000">
                                          <p:val>
                                            <p:strVal val="#ppt_x"/>
                                          </p:val>
                                        </p:tav>
                                      </p:tavLst>
                                    </p:anim>
                                    <p:animEffect transition="in" filter="wipe(righ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147779" y="848260"/>
            <a:ext cx="10738786" cy="0"/>
          </a:xfrm>
          <a:prstGeom prst="line">
            <a:avLst/>
          </a:prstGeom>
          <a:ln w="28575" cmpd="sng">
            <a:solidFill>
              <a:srgbClr val="8F000B"/>
            </a:solidFill>
            <a:prstDash val="solid"/>
          </a:ln>
        </p:spPr>
        <p:style>
          <a:lnRef idx="1">
            <a:schemeClr val="accent1"/>
          </a:lnRef>
          <a:fillRef idx="0">
            <a:schemeClr val="accent1"/>
          </a:fillRef>
          <a:effectRef idx="0">
            <a:schemeClr val="accent1"/>
          </a:effectRef>
          <a:fontRef idx="minor">
            <a:schemeClr val="tx1"/>
          </a:fontRef>
        </p:style>
      </p:cxnSp>
      <p:sp>
        <p:nvSpPr>
          <p:cNvPr id="11" name="TextBox 25"/>
          <p:cNvSpPr txBox="1"/>
          <p:nvPr/>
        </p:nvSpPr>
        <p:spPr>
          <a:xfrm>
            <a:off x="1126828" y="336728"/>
            <a:ext cx="1211580" cy="460375"/>
          </a:xfrm>
          <a:prstGeom prst="rect">
            <a:avLst/>
          </a:prstGeom>
          <a:noFill/>
          <a:ln>
            <a:noFill/>
          </a:ln>
        </p:spPr>
        <p:txBody>
          <a:bodyPr wrap="none" rtlCol="0">
            <a:spAutoFit/>
          </a:bodyPr>
          <a:lstStyle/>
          <a:p>
            <a:r>
              <a:rPr lang="zh-CN" altLang="en-US" sz="2400" b="1" spc="300" dirty="0">
                <a:solidFill>
                  <a:srgbClr val="8F000B"/>
                </a:solidFill>
                <a:latin typeface="Segoe Print" panose="02000600000000000000" charset="0"/>
                <a:ea typeface="微软雅黑" panose="020B0503020204020204" charset="-122"/>
              </a:rPr>
              <a:t>索引篇</a:t>
            </a:r>
          </a:p>
        </p:txBody>
      </p:sp>
      <p:grpSp>
        <p:nvGrpSpPr>
          <p:cNvPr id="162" name="组合 161"/>
          <p:cNvGrpSpPr/>
          <p:nvPr/>
        </p:nvGrpSpPr>
        <p:grpSpPr>
          <a:xfrm>
            <a:off x="11886565" y="6461125"/>
            <a:ext cx="305435" cy="396875"/>
            <a:chOff x="13438" y="10212"/>
            <a:chExt cx="481" cy="625"/>
          </a:xfrm>
        </p:grpSpPr>
        <p:sp>
          <p:nvSpPr>
            <p:cNvPr id="163" name="矩形 162"/>
            <p:cNvSpPr/>
            <p:nvPr/>
          </p:nvSpPr>
          <p:spPr>
            <a:xfrm>
              <a:off x="13448" y="10212"/>
              <a:ext cx="471" cy="601"/>
            </a:xfrm>
            <a:prstGeom prst="rect">
              <a:avLst/>
            </a:pr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13438" y="10257"/>
              <a:ext cx="357" cy="580"/>
            </a:xfrm>
            <a:prstGeom prst="rect">
              <a:avLst/>
            </a:prstGeom>
            <a:noFill/>
          </p:spPr>
          <p:txBody>
            <a:bodyPr wrap="square" rtlCol="0">
              <a:spAutoFit/>
            </a:bodyPr>
            <a:lstStyle/>
            <a:p>
              <a:r>
                <a:rPr lang="en-US" altLang="zh-CN" dirty="0">
                  <a:solidFill>
                    <a:schemeClr val="bg1"/>
                  </a:solidFill>
                </a:rPr>
                <a:t>1</a:t>
              </a:r>
            </a:p>
          </p:txBody>
        </p:sp>
      </p:grpSp>
      <p:pic>
        <p:nvPicPr>
          <p:cNvPr id="33" name="Picture 2" descr="https://timgsa.baidu.com/timg?image&amp;quality=80&amp;size=b9999_10000&amp;sec=1516787954330&amp;di=a718f28c8ddbe2375b5827d4c85f1b4d&amp;imgtype=0&amp;src=http%3A%2F%2Fimg.mp.itc.cn%2Fupload%2F20161123%2F83719adc00e54c0ca5567f8c9ac0ffa2_th.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79874"/>
          <a:stretch>
            <a:fillRect/>
          </a:stretch>
        </p:blipFill>
        <p:spPr bwMode="auto">
          <a:xfrm>
            <a:off x="196099" y="93463"/>
            <a:ext cx="852090" cy="101376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782955" y="1107440"/>
            <a:ext cx="10718165" cy="1190625"/>
          </a:xfrm>
          <a:prstGeom prst="rect">
            <a:avLst/>
          </a:prstGeom>
          <a:noFill/>
        </p:spPr>
        <p:txBody>
          <a:bodyPr wrap="square" rtlCol="0">
            <a:noAutofit/>
          </a:bodyPr>
          <a:lstStyle/>
          <a:p>
            <a:r>
              <a:rPr lang="en-US" altLang="zh-CN"/>
              <a:t>2. </a:t>
            </a:r>
            <a:r>
              <a:rPr lang="zh-CN" altLang="en-US"/>
              <a:t> 可以在LIKE操作中使用索引的情形是指另一个操作数不是以通配符（%或者_）开头的情形。例如，“SELECT id FROM t WHERE col LIKE 'Mich%';”这个查询将使用索引，但“SELECT id FROM t WHERE col LIKE '%ike';”这个查询不会使用索引。</a:t>
            </a:r>
            <a:endParaRPr lang="en-US" altLang="zh-CN"/>
          </a:p>
        </p:txBody>
      </p:sp>
      <p:pic>
        <p:nvPicPr>
          <p:cNvPr id="3" name="图片 2"/>
          <p:cNvPicPr>
            <a:picLocks noChangeAspect="1"/>
          </p:cNvPicPr>
          <p:nvPr>
            <p:custDataLst>
              <p:tags r:id="rId1"/>
            </p:custDataLst>
          </p:nvPr>
        </p:nvPicPr>
        <p:blipFill>
          <a:blip r:embed="rId5"/>
          <a:stretch>
            <a:fillRect/>
          </a:stretch>
        </p:blipFill>
        <p:spPr>
          <a:xfrm>
            <a:off x="532765" y="2172335"/>
            <a:ext cx="11747500" cy="42297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p:tgtEl>
                                          <p:spTgt spid="11"/>
                                        </p:tgtEl>
                                        <p:attrNameLst>
                                          <p:attrName>ppt_x</p:attrName>
                                        </p:attrNameLst>
                                      </p:cBhvr>
                                      <p:tavLst>
                                        <p:tav tm="0">
                                          <p:val>
                                            <p:strVal val="#ppt_x-#ppt_w*1.125000"/>
                                          </p:val>
                                        </p:tav>
                                        <p:tav tm="100000">
                                          <p:val>
                                            <p:strVal val="#ppt_x"/>
                                          </p:val>
                                        </p:tav>
                                      </p:tavLst>
                                    </p:anim>
                                    <p:animEffect transition="in" filter="wipe(righ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147779" y="848260"/>
            <a:ext cx="10738786" cy="0"/>
          </a:xfrm>
          <a:prstGeom prst="line">
            <a:avLst/>
          </a:prstGeom>
          <a:ln w="28575" cmpd="sng">
            <a:solidFill>
              <a:srgbClr val="8F000B"/>
            </a:solidFill>
            <a:prstDash val="solid"/>
          </a:ln>
        </p:spPr>
        <p:style>
          <a:lnRef idx="1">
            <a:schemeClr val="accent1"/>
          </a:lnRef>
          <a:fillRef idx="0">
            <a:schemeClr val="accent1"/>
          </a:fillRef>
          <a:effectRef idx="0">
            <a:schemeClr val="accent1"/>
          </a:effectRef>
          <a:fontRef idx="minor">
            <a:schemeClr val="tx1"/>
          </a:fontRef>
        </p:style>
      </p:cxnSp>
      <p:sp>
        <p:nvSpPr>
          <p:cNvPr id="11" name="TextBox 25"/>
          <p:cNvSpPr txBox="1"/>
          <p:nvPr/>
        </p:nvSpPr>
        <p:spPr>
          <a:xfrm>
            <a:off x="1126828" y="336728"/>
            <a:ext cx="1211580" cy="460375"/>
          </a:xfrm>
          <a:prstGeom prst="rect">
            <a:avLst/>
          </a:prstGeom>
          <a:noFill/>
          <a:ln>
            <a:noFill/>
          </a:ln>
        </p:spPr>
        <p:txBody>
          <a:bodyPr wrap="none" rtlCol="0">
            <a:spAutoFit/>
          </a:bodyPr>
          <a:lstStyle/>
          <a:p>
            <a:r>
              <a:rPr lang="zh-CN" altLang="en-US" sz="2400" b="1" spc="300" dirty="0">
                <a:solidFill>
                  <a:srgbClr val="8F000B"/>
                </a:solidFill>
                <a:latin typeface="Segoe Print" panose="02000600000000000000" charset="0"/>
                <a:ea typeface="微软雅黑" panose="020B0503020204020204" charset="-122"/>
              </a:rPr>
              <a:t>索引篇</a:t>
            </a:r>
          </a:p>
        </p:txBody>
      </p:sp>
      <p:grpSp>
        <p:nvGrpSpPr>
          <p:cNvPr id="162" name="组合 161"/>
          <p:cNvGrpSpPr/>
          <p:nvPr/>
        </p:nvGrpSpPr>
        <p:grpSpPr>
          <a:xfrm>
            <a:off x="11886565" y="6461125"/>
            <a:ext cx="305435" cy="396875"/>
            <a:chOff x="13438" y="10212"/>
            <a:chExt cx="481" cy="625"/>
          </a:xfrm>
        </p:grpSpPr>
        <p:sp>
          <p:nvSpPr>
            <p:cNvPr id="163" name="矩形 162"/>
            <p:cNvSpPr/>
            <p:nvPr/>
          </p:nvSpPr>
          <p:spPr>
            <a:xfrm>
              <a:off x="13448" y="10212"/>
              <a:ext cx="471" cy="601"/>
            </a:xfrm>
            <a:prstGeom prst="rect">
              <a:avLst/>
            </a:pr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13438" y="10257"/>
              <a:ext cx="357" cy="580"/>
            </a:xfrm>
            <a:prstGeom prst="rect">
              <a:avLst/>
            </a:prstGeom>
            <a:noFill/>
          </p:spPr>
          <p:txBody>
            <a:bodyPr wrap="square" rtlCol="0">
              <a:spAutoFit/>
            </a:bodyPr>
            <a:lstStyle/>
            <a:p>
              <a:r>
                <a:rPr lang="en-US" altLang="zh-CN" dirty="0">
                  <a:solidFill>
                    <a:schemeClr val="bg1"/>
                  </a:solidFill>
                </a:rPr>
                <a:t>1</a:t>
              </a:r>
            </a:p>
          </p:txBody>
        </p:sp>
      </p:grpSp>
      <p:pic>
        <p:nvPicPr>
          <p:cNvPr id="33" name="Picture 2" descr="https://timgsa.baidu.com/timg?image&amp;quality=80&amp;size=b9999_10000&amp;sec=1516787954330&amp;di=a718f28c8ddbe2375b5827d4c85f1b4d&amp;imgtype=0&amp;src=http%3A%2F%2Fimg.mp.itc.cn%2Fupload%2F20161123%2F83719adc00e54c0ca5567f8c9ac0ffa2_th.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79874"/>
          <a:stretch>
            <a:fillRect/>
          </a:stretch>
        </p:blipFill>
        <p:spPr bwMode="auto">
          <a:xfrm>
            <a:off x="196099" y="93463"/>
            <a:ext cx="852090" cy="101376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901700" y="1198245"/>
            <a:ext cx="10407650" cy="2279650"/>
          </a:xfrm>
          <a:prstGeom prst="rect">
            <a:avLst/>
          </a:prstGeom>
          <a:noFill/>
        </p:spPr>
        <p:txBody>
          <a:bodyPr wrap="square" rtlCol="0">
            <a:noAutofit/>
          </a:bodyPr>
          <a:lstStyle/>
          <a:p>
            <a:r>
              <a:rPr lang="en-US" altLang="zh-CN"/>
              <a:t>3. 应尽量避免在 where 子句中使用 or 来连接条件，否则将导致引擎放弃使用索引而进行全表扫描，	</a:t>
            </a:r>
          </a:p>
          <a:p>
            <a:pPr marL="1828800" lvl="4" indent="457200"/>
            <a:endParaRPr lang="en-US" altLang="zh-CN"/>
          </a:p>
          <a:p>
            <a:pPr marL="2286000" lvl="5" indent="457200"/>
            <a:r>
              <a:rPr lang="en-US" altLang="zh-CN"/>
              <a:t>select id from t where num=10 or num=20</a:t>
            </a:r>
          </a:p>
          <a:p>
            <a:pPr marL="2286000" lvl="5" indent="457200"/>
            <a:endParaRPr lang="en-US" altLang="zh-CN"/>
          </a:p>
          <a:p>
            <a:r>
              <a:rPr lang="en-US" altLang="zh-CN"/>
              <a:t>可以这样查询： </a:t>
            </a:r>
          </a:p>
          <a:p>
            <a:endParaRPr lang="en-US" altLang="zh-CN"/>
          </a:p>
          <a:p>
            <a:pPr marL="1371600" lvl="3" indent="457200"/>
            <a:r>
              <a:rPr lang="en-US" altLang="zh-CN"/>
              <a:t>select id from t where num=10 union all select id from t where num=20</a:t>
            </a:r>
          </a:p>
        </p:txBody>
      </p:sp>
      <p:pic>
        <p:nvPicPr>
          <p:cNvPr id="4" name="图片 3"/>
          <p:cNvPicPr>
            <a:picLocks noChangeAspect="1"/>
          </p:cNvPicPr>
          <p:nvPr>
            <p:custDataLst>
              <p:tags r:id="rId1"/>
            </p:custDataLst>
          </p:nvPr>
        </p:nvPicPr>
        <p:blipFill>
          <a:blip r:embed="rId4"/>
          <a:stretch>
            <a:fillRect/>
          </a:stretch>
        </p:blipFill>
        <p:spPr>
          <a:xfrm>
            <a:off x="744220" y="3279775"/>
            <a:ext cx="12987655" cy="31026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p:tgtEl>
                                          <p:spTgt spid="11"/>
                                        </p:tgtEl>
                                        <p:attrNameLst>
                                          <p:attrName>ppt_x</p:attrName>
                                        </p:attrNameLst>
                                      </p:cBhvr>
                                      <p:tavLst>
                                        <p:tav tm="0">
                                          <p:val>
                                            <p:strVal val="#ppt_x-#ppt_w*1.125000"/>
                                          </p:val>
                                        </p:tav>
                                        <p:tav tm="100000">
                                          <p:val>
                                            <p:strVal val="#ppt_x"/>
                                          </p:val>
                                        </p:tav>
                                      </p:tavLst>
                                    </p:anim>
                                    <p:animEffect transition="in" filter="wipe(righ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147779" y="848260"/>
            <a:ext cx="10738786" cy="0"/>
          </a:xfrm>
          <a:prstGeom prst="line">
            <a:avLst/>
          </a:prstGeom>
          <a:ln w="28575" cmpd="sng">
            <a:solidFill>
              <a:srgbClr val="8F000B"/>
            </a:solidFill>
            <a:prstDash val="solid"/>
          </a:ln>
        </p:spPr>
        <p:style>
          <a:lnRef idx="1">
            <a:schemeClr val="accent1"/>
          </a:lnRef>
          <a:fillRef idx="0">
            <a:schemeClr val="accent1"/>
          </a:fillRef>
          <a:effectRef idx="0">
            <a:schemeClr val="accent1"/>
          </a:effectRef>
          <a:fontRef idx="minor">
            <a:schemeClr val="tx1"/>
          </a:fontRef>
        </p:style>
      </p:cxnSp>
      <p:sp>
        <p:nvSpPr>
          <p:cNvPr id="11" name="TextBox 25"/>
          <p:cNvSpPr txBox="1"/>
          <p:nvPr/>
        </p:nvSpPr>
        <p:spPr>
          <a:xfrm>
            <a:off x="1126828" y="336728"/>
            <a:ext cx="1211580" cy="460375"/>
          </a:xfrm>
          <a:prstGeom prst="rect">
            <a:avLst/>
          </a:prstGeom>
          <a:noFill/>
          <a:ln>
            <a:noFill/>
          </a:ln>
        </p:spPr>
        <p:txBody>
          <a:bodyPr wrap="none" rtlCol="0">
            <a:spAutoFit/>
          </a:bodyPr>
          <a:lstStyle/>
          <a:p>
            <a:r>
              <a:rPr lang="zh-CN" altLang="en-US" sz="2400" b="1" spc="300" dirty="0">
                <a:solidFill>
                  <a:srgbClr val="8F000B"/>
                </a:solidFill>
                <a:latin typeface="Segoe Print" panose="02000600000000000000" charset="0"/>
                <a:ea typeface="微软雅黑" panose="020B0503020204020204" charset="-122"/>
              </a:rPr>
              <a:t>索引篇</a:t>
            </a:r>
          </a:p>
        </p:txBody>
      </p:sp>
      <p:grpSp>
        <p:nvGrpSpPr>
          <p:cNvPr id="162" name="组合 161"/>
          <p:cNvGrpSpPr/>
          <p:nvPr/>
        </p:nvGrpSpPr>
        <p:grpSpPr>
          <a:xfrm>
            <a:off x="11886565" y="6461125"/>
            <a:ext cx="305435" cy="396875"/>
            <a:chOff x="13438" y="10212"/>
            <a:chExt cx="481" cy="625"/>
          </a:xfrm>
        </p:grpSpPr>
        <p:sp>
          <p:nvSpPr>
            <p:cNvPr id="163" name="矩形 162"/>
            <p:cNvSpPr/>
            <p:nvPr/>
          </p:nvSpPr>
          <p:spPr>
            <a:xfrm>
              <a:off x="13448" y="10212"/>
              <a:ext cx="471" cy="601"/>
            </a:xfrm>
            <a:prstGeom prst="rect">
              <a:avLst/>
            </a:pr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13438" y="10257"/>
              <a:ext cx="357" cy="580"/>
            </a:xfrm>
            <a:prstGeom prst="rect">
              <a:avLst/>
            </a:prstGeom>
            <a:noFill/>
          </p:spPr>
          <p:txBody>
            <a:bodyPr wrap="square" rtlCol="0">
              <a:spAutoFit/>
            </a:bodyPr>
            <a:lstStyle/>
            <a:p>
              <a:r>
                <a:rPr lang="en-US" altLang="zh-CN" dirty="0">
                  <a:solidFill>
                    <a:schemeClr val="bg1"/>
                  </a:solidFill>
                </a:rPr>
                <a:t>1</a:t>
              </a:r>
            </a:p>
          </p:txBody>
        </p:sp>
      </p:grpSp>
      <p:pic>
        <p:nvPicPr>
          <p:cNvPr id="33" name="Picture 2" descr="https://timgsa.baidu.com/timg?image&amp;quality=80&amp;size=b9999_10000&amp;sec=1516787954330&amp;di=a718f28c8ddbe2375b5827d4c85f1b4d&amp;imgtype=0&amp;src=http%3A%2F%2Fimg.mp.itc.cn%2Fupload%2F20161123%2F83719adc00e54c0ca5567f8c9ac0ffa2_th.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79874"/>
          <a:stretch>
            <a:fillRect/>
          </a:stretch>
        </p:blipFill>
        <p:spPr bwMode="auto">
          <a:xfrm>
            <a:off x="196099" y="93463"/>
            <a:ext cx="852090" cy="101376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901700" y="1198245"/>
            <a:ext cx="10407650" cy="2231390"/>
          </a:xfrm>
          <a:prstGeom prst="rect">
            <a:avLst/>
          </a:prstGeom>
          <a:noFill/>
        </p:spPr>
        <p:txBody>
          <a:bodyPr wrap="square" rtlCol="0">
            <a:noAutofit/>
          </a:bodyPr>
          <a:lstStyle/>
          <a:p>
            <a:r>
              <a:rPr lang="en-US" altLang="zh-CN" sz="2000"/>
              <a:t>4 .in 和 not in 也要慎用，否则会导致全表扫描</a:t>
            </a:r>
            <a:r>
              <a:rPr lang="zh-CN" altLang="en-US" sz="2000"/>
              <a:t>：</a:t>
            </a:r>
            <a:endParaRPr lang="en-US" altLang="zh-CN" sz="2000"/>
          </a:p>
          <a:p>
            <a:pPr marL="2743200" lvl="6" indent="457200"/>
            <a:r>
              <a:rPr lang="en-US" altLang="zh-CN" sz="2000"/>
              <a:t>select id from t where num in(1,2,3)</a:t>
            </a:r>
          </a:p>
          <a:p>
            <a:r>
              <a:rPr lang="en-US" altLang="zh-CN" sz="2000"/>
              <a:t>对于连续的数值，能用 between 就不要用 in 了</a:t>
            </a:r>
          </a:p>
          <a:p>
            <a:pPr marL="2286000" lvl="5" indent="457200"/>
            <a:r>
              <a:rPr lang="en-US" altLang="zh-CN" sz="2000"/>
              <a:t>select id from t where num between 1 and 3</a:t>
            </a:r>
          </a:p>
        </p:txBody>
      </p:sp>
      <p:pic>
        <p:nvPicPr>
          <p:cNvPr id="3" name="图片 2"/>
          <p:cNvPicPr>
            <a:picLocks noChangeAspect="1"/>
          </p:cNvPicPr>
          <p:nvPr>
            <p:custDataLst>
              <p:tags r:id="rId1"/>
            </p:custDataLst>
          </p:nvPr>
        </p:nvPicPr>
        <p:blipFill>
          <a:blip r:embed="rId5"/>
          <a:stretch>
            <a:fillRect/>
          </a:stretch>
        </p:blipFill>
        <p:spPr>
          <a:xfrm>
            <a:off x="85090" y="2933065"/>
            <a:ext cx="12382500" cy="2635250"/>
          </a:xfrm>
          <a:prstGeom prst="rect">
            <a:avLst/>
          </a:prstGeom>
        </p:spPr>
      </p:pic>
      <p:pic>
        <p:nvPicPr>
          <p:cNvPr id="4" name="图片 3"/>
          <p:cNvPicPr>
            <a:picLocks noChangeAspect="1"/>
          </p:cNvPicPr>
          <p:nvPr>
            <p:custDataLst>
              <p:tags r:id="rId2"/>
            </p:custDataLst>
          </p:nvPr>
        </p:nvPicPr>
        <p:blipFill>
          <a:blip r:embed="rId6"/>
          <a:stretch>
            <a:fillRect/>
          </a:stretch>
        </p:blipFill>
        <p:spPr>
          <a:xfrm>
            <a:off x="2684780" y="5287645"/>
            <a:ext cx="7473950" cy="167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p:tgtEl>
                                          <p:spTgt spid="11"/>
                                        </p:tgtEl>
                                        <p:attrNameLst>
                                          <p:attrName>ppt_x</p:attrName>
                                        </p:attrNameLst>
                                      </p:cBhvr>
                                      <p:tavLst>
                                        <p:tav tm="0">
                                          <p:val>
                                            <p:strVal val="#ppt_x-#ppt_w*1.125000"/>
                                          </p:val>
                                        </p:tav>
                                        <p:tav tm="100000">
                                          <p:val>
                                            <p:strVal val="#ppt_x"/>
                                          </p:val>
                                        </p:tav>
                                      </p:tavLst>
                                    </p:anim>
                                    <p:animEffect transition="in" filter="wipe(righ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147779" y="848260"/>
            <a:ext cx="10738786" cy="0"/>
          </a:xfrm>
          <a:prstGeom prst="line">
            <a:avLst/>
          </a:prstGeom>
          <a:ln w="28575" cmpd="sng">
            <a:solidFill>
              <a:srgbClr val="8F000B"/>
            </a:solidFill>
            <a:prstDash val="solid"/>
          </a:ln>
        </p:spPr>
        <p:style>
          <a:lnRef idx="1">
            <a:schemeClr val="accent1"/>
          </a:lnRef>
          <a:fillRef idx="0">
            <a:schemeClr val="accent1"/>
          </a:fillRef>
          <a:effectRef idx="0">
            <a:schemeClr val="accent1"/>
          </a:effectRef>
          <a:fontRef idx="minor">
            <a:schemeClr val="tx1"/>
          </a:fontRef>
        </p:style>
      </p:cxnSp>
      <p:sp>
        <p:nvSpPr>
          <p:cNvPr id="11" name="TextBox 25"/>
          <p:cNvSpPr txBox="1"/>
          <p:nvPr/>
        </p:nvSpPr>
        <p:spPr>
          <a:xfrm>
            <a:off x="1126828" y="336728"/>
            <a:ext cx="1211580" cy="460375"/>
          </a:xfrm>
          <a:prstGeom prst="rect">
            <a:avLst/>
          </a:prstGeom>
          <a:noFill/>
          <a:ln>
            <a:noFill/>
          </a:ln>
        </p:spPr>
        <p:txBody>
          <a:bodyPr wrap="none" rtlCol="0">
            <a:spAutoFit/>
          </a:bodyPr>
          <a:lstStyle/>
          <a:p>
            <a:r>
              <a:rPr lang="zh-CN" altLang="en-US" sz="2400" b="1" spc="300" dirty="0">
                <a:solidFill>
                  <a:srgbClr val="8F000B"/>
                </a:solidFill>
                <a:latin typeface="Segoe Print" panose="02000600000000000000" charset="0"/>
                <a:ea typeface="微软雅黑" panose="020B0503020204020204" charset="-122"/>
              </a:rPr>
              <a:t>索引篇</a:t>
            </a:r>
          </a:p>
        </p:txBody>
      </p:sp>
      <p:grpSp>
        <p:nvGrpSpPr>
          <p:cNvPr id="162" name="组合 161"/>
          <p:cNvGrpSpPr/>
          <p:nvPr/>
        </p:nvGrpSpPr>
        <p:grpSpPr>
          <a:xfrm>
            <a:off x="11886565" y="6461125"/>
            <a:ext cx="305435" cy="396875"/>
            <a:chOff x="13438" y="10212"/>
            <a:chExt cx="481" cy="625"/>
          </a:xfrm>
        </p:grpSpPr>
        <p:sp>
          <p:nvSpPr>
            <p:cNvPr id="163" name="矩形 162"/>
            <p:cNvSpPr/>
            <p:nvPr/>
          </p:nvSpPr>
          <p:spPr>
            <a:xfrm>
              <a:off x="13448" y="10212"/>
              <a:ext cx="471" cy="601"/>
            </a:xfrm>
            <a:prstGeom prst="rect">
              <a:avLst/>
            </a:pr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13438" y="10257"/>
              <a:ext cx="357" cy="580"/>
            </a:xfrm>
            <a:prstGeom prst="rect">
              <a:avLst/>
            </a:prstGeom>
            <a:noFill/>
          </p:spPr>
          <p:txBody>
            <a:bodyPr wrap="square" rtlCol="0">
              <a:spAutoFit/>
            </a:bodyPr>
            <a:lstStyle/>
            <a:p>
              <a:r>
                <a:rPr lang="en-US" altLang="zh-CN" dirty="0">
                  <a:solidFill>
                    <a:schemeClr val="bg1"/>
                  </a:solidFill>
                </a:rPr>
                <a:t>1</a:t>
              </a:r>
            </a:p>
          </p:txBody>
        </p:sp>
      </p:grpSp>
      <p:pic>
        <p:nvPicPr>
          <p:cNvPr id="33" name="Picture 2" descr="https://timgsa.baidu.com/timg?image&amp;quality=80&amp;size=b9999_10000&amp;sec=1516787954330&amp;di=a718f28c8ddbe2375b5827d4c85f1b4d&amp;imgtype=0&amp;src=http%3A%2F%2Fimg.mp.itc.cn%2Fupload%2F20161123%2F83719adc00e54c0ca5567f8c9ac0ffa2_th.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79874"/>
          <a:stretch>
            <a:fillRect/>
          </a:stretch>
        </p:blipFill>
        <p:spPr bwMode="auto">
          <a:xfrm>
            <a:off x="196099" y="93463"/>
            <a:ext cx="852090" cy="101376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901700" y="1198245"/>
            <a:ext cx="10407650" cy="5538470"/>
          </a:xfrm>
          <a:prstGeom prst="rect">
            <a:avLst/>
          </a:prstGeom>
          <a:noFill/>
        </p:spPr>
        <p:txBody>
          <a:bodyPr wrap="square" rtlCol="0">
            <a:noAutofit/>
          </a:bodyPr>
          <a:lstStyle/>
          <a:p>
            <a:r>
              <a:rPr lang="en-US" sz="2000"/>
              <a:t>5. </a:t>
            </a:r>
            <a:r>
              <a:rPr sz="2000"/>
              <a:t>应尽量避免在 where 子句中对字段进行表达式操作，这将导致引擎放弃使用索引而进行全表扫描。</a:t>
            </a:r>
          </a:p>
          <a:p>
            <a:r>
              <a:rPr sz="2000"/>
              <a:t>如</a:t>
            </a:r>
            <a:r>
              <a:rPr lang="zh-CN" sz="2000"/>
              <a:t>：</a:t>
            </a:r>
          </a:p>
          <a:p>
            <a:r>
              <a:rPr sz="2000"/>
              <a:t>select id from t where num/2=100</a:t>
            </a:r>
          </a:p>
          <a:p>
            <a:r>
              <a:rPr sz="2000"/>
              <a:t>应改为:</a:t>
            </a:r>
          </a:p>
          <a:p>
            <a:r>
              <a:rPr sz="2000"/>
              <a:t>select id from t where num=100*2</a:t>
            </a:r>
          </a:p>
          <a:p>
            <a:endParaRPr sz="2000"/>
          </a:p>
          <a:p>
            <a:r>
              <a:rPr lang="en-US" sz="2000"/>
              <a:t>6. </a:t>
            </a:r>
            <a:r>
              <a:rPr sz="2000"/>
              <a:t>应尽量避免在where子句中对字段进行函数操作，这将导致引擎放弃使用索引而进行全表扫描。</a:t>
            </a:r>
          </a:p>
          <a:p>
            <a:r>
              <a:rPr sz="2000"/>
              <a:t>如：</a:t>
            </a:r>
          </a:p>
          <a:p>
            <a:r>
              <a:rPr sz="2000"/>
              <a:t>select id from t where substring(name,1,3)='abc'--name</a:t>
            </a:r>
          </a:p>
          <a:p>
            <a:r>
              <a:rPr sz="2000"/>
              <a:t>select id from t where datediff(day,createdate,'2005-11-30')=0--‘2005-11-30’</a:t>
            </a:r>
          </a:p>
          <a:p>
            <a:r>
              <a:rPr sz="2000"/>
              <a:t>应改为:</a:t>
            </a:r>
          </a:p>
          <a:p>
            <a:r>
              <a:rPr sz="2000"/>
              <a:t>select id from t where name like 'abc%'</a:t>
            </a:r>
          </a:p>
          <a:p>
            <a:r>
              <a:rPr sz="2000"/>
              <a:t>select id from t where createdate&gt;='2005-11-30' and createdate&lt;'2005-12-1'</a:t>
            </a:r>
          </a:p>
          <a:p>
            <a:endParaRPr sz="2000"/>
          </a:p>
          <a:p>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p:tgtEl>
                                          <p:spTgt spid="11"/>
                                        </p:tgtEl>
                                        <p:attrNameLst>
                                          <p:attrName>ppt_x</p:attrName>
                                        </p:attrNameLst>
                                      </p:cBhvr>
                                      <p:tavLst>
                                        <p:tav tm="0">
                                          <p:val>
                                            <p:strVal val="#ppt_x-#ppt_w*1.125000"/>
                                          </p:val>
                                        </p:tav>
                                        <p:tav tm="100000">
                                          <p:val>
                                            <p:strVal val="#ppt_x"/>
                                          </p:val>
                                        </p:tav>
                                      </p:tavLst>
                                    </p:anim>
                                    <p:animEffect transition="in" filter="wipe(righ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5"/>
          <a:stretch>
            <a:fillRect/>
          </a:stretch>
        </p:blipFill>
        <p:spPr>
          <a:xfrm>
            <a:off x="1469390" y="822325"/>
            <a:ext cx="8128000" cy="1301750"/>
          </a:xfrm>
          <a:prstGeom prst="rect">
            <a:avLst/>
          </a:prstGeom>
        </p:spPr>
      </p:pic>
      <p:pic>
        <p:nvPicPr>
          <p:cNvPr id="3" name="图片 2"/>
          <p:cNvPicPr>
            <a:picLocks noChangeAspect="1"/>
          </p:cNvPicPr>
          <p:nvPr>
            <p:custDataLst>
              <p:tags r:id="rId2"/>
            </p:custDataLst>
          </p:nvPr>
        </p:nvPicPr>
        <p:blipFill>
          <a:blip r:embed="rId6"/>
          <a:stretch>
            <a:fillRect/>
          </a:stretch>
        </p:blipFill>
        <p:spPr>
          <a:xfrm>
            <a:off x="1454150" y="2794000"/>
            <a:ext cx="9283700" cy="1270000"/>
          </a:xfrm>
          <a:prstGeom prst="rect">
            <a:avLst/>
          </a:prstGeom>
        </p:spPr>
      </p:pic>
      <p:pic>
        <p:nvPicPr>
          <p:cNvPr id="4" name="图片 3"/>
          <p:cNvPicPr>
            <a:picLocks noChangeAspect="1"/>
          </p:cNvPicPr>
          <p:nvPr>
            <p:custDataLst>
              <p:tags r:id="rId3"/>
            </p:custDataLst>
          </p:nvPr>
        </p:nvPicPr>
        <p:blipFill>
          <a:blip r:embed="rId7"/>
          <a:stretch>
            <a:fillRect/>
          </a:stretch>
        </p:blipFill>
        <p:spPr>
          <a:xfrm>
            <a:off x="1737995" y="4654550"/>
            <a:ext cx="8108950" cy="12382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147779" y="848260"/>
            <a:ext cx="10738786" cy="0"/>
          </a:xfrm>
          <a:prstGeom prst="line">
            <a:avLst/>
          </a:prstGeom>
          <a:ln w="28575" cmpd="sng">
            <a:solidFill>
              <a:srgbClr val="8F000B"/>
            </a:solidFill>
            <a:prstDash val="solid"/>
          </a:ln>
        </p:spPr>
        <p:style>
          <a:lnRef idx="1">
            <a:schemeClr val="accent1"/>
          </a:lnRef>
          <a:fillRef idx="0">
            <a:schemeClr val="accent1"/>
          </a:fillRef>
          <a:effectRef idx="0">
            <a:schemeClr val="accent1"/>
          </a:effectRef>
          <a:fontRef idx="minor">
            <a:schemeClr val="tx1"/>
          </a:fontRef>
        </p:style>
      </p:cxnSp>
      <p:sp>
        <p:nvSpPr>
          <p:cNvPr id="11" name="TextBox 25"/>
          <p:cNvSpPr txBox="1"/>
          <p:nvPr/>
        </p:nvSpPr>
        <p:spPr>
          <a:xfrm>
            <a:off x="1126828" y="336728"/>
            <a:ext cx="1211580" cy="460375"/>
          </a:xfrm>
          <a:prstGeom prst="rect">
            <a:avLst/>
          </a:prstGeom>
          <a:noFill/>
          <a:ln>
            <a:noFill/>
          </a:ln>
        </p:spPr>
        <p:txBody>
          <a:bodyPr wrap="none" rtlCol="0">
            <a:spAutoFit/>
          </a:bodyPr>
          <a:lstStyle/>
          <a:p>
            <a:r>
              <a:rPr lang="zh-CN" altLang="en-US" sz="2400" b="1" spc="300" dirty="0">
                <a:solidFill>
                  <a:srgbClr val="8F000B"/>
                </a:solidFill>
                <a:latin typeface="Segoe Print" panose="02000600000000000000" charset="0"/>
                <a:ea typeface="微软雅黑" panose="020B0503020204020204" charset="-122"/>
              </a:rPr>
              <a:t>索引篇</a:t>
            </a:r>
          </a:p>
        </p:txBody>
      </p:sp>
      <p:grpSp>
        <p:nvGrpSpPr>
          <p:cNvPr id="162" name="组合 161"/>
          <p:cNvGrpSpPr/>
          <p:nvPr/>
        </p:nvGrpSpPr>
        <p:grpSpPr>
          <a:xfrm>
            <a:off x="11886565" y="6461125"/>
            <a:ext cx="305435" cy="396875"/>
            <a:chOff x="13438" y="10212"/>
            <a:chExt cx="481" cy="625"/>
          </a:xfrm>
        </p:grpSpPr>
        <p:sp>
          <p:nvSpPr>
            <p:cNvPr id="163" name="矩形 162"/>
            <p:cNvSpPr/>
            <p:nvPr/>
          </p:nvSpPr>
          <p:spPr>
            <a:xfrm>
              <a:off x="13448" y="10212"/>
              <a:ext cx="471" cy="601"/>
            </a:xfrm>
            <a:prstGeom prst="rect">
              <a:avLst/>
            </a:pr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13438" y="10257"/>
              <a:ext cx="357" cy="580"/>
            </a:xfrm>
            <a:prstGeom prst="rect">
              <a:avLst/>
            </a:prstGeom>
            <a:noFill/>
          </p:spPr>
          <p:txBody>
            <a:bodyPr wrap="square" rtlCol="0">
              <a:spAutoFit/>
            </a:bodyPr>
            <a:lstStyle/>
            <a:p>
              <a:r>
                <a:rPr lang="en-US" altLang="zh-CN" dirty="0">
                  <a:solidFill>
                    <a:schemeClr val="bg1"/>
                  </a:solidFill>
                </a:rPr>
                <a:t>1</a:t>
              </a:r>
            </a:p>
          </p:txBody>
        </p:sp>
      </p:grpSp>
      <p:pic>
        <p:nvPicPr>
          <p:cNvPr id="33" name="Picture 2" descr="https://timgsa.baidu.com/timg?image&amp;quality=80&amp;size=b9999_10000&amp;sec=1516787954330&amp;di=a718f28c8ddbe2375b5827d4c85f1b4d&amp;imgtype=0&amp;src=http%3A%2F%2Fimg.mp.itc.cn%2Fupload%2F20161123%2F83719adc00e54c0ca5567f8c9ac0ffa2_th.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79874"/>
          <a:stretch>
            <a:fillRect/>
          </a:stretch>
        </p:blipFill>
        <p:spPr bwMode="auto">
          <a:xfrm>
            <a:off x="196099" y="93463"/>
            <a:ext cx="852090" cy="101376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901700" y="1198245"/>
            <a:ext cx="10407650" cy="5538470"/>
          </a:xfrm>
          <a:prstGeom prst="rect">
            <a:avLst/>
          </a:prstGeom>
          <a:noFill/>
        </p:spPr>
        <p:txBody>
          <a:bodyPr wrap="square" rtlCol="0">
            <a:noAutofit/>
          </a:bodyPr>
          <a:lstStyle/>
          <a:p>
            <a:r>
              <a:rPr lang="zh-CN" altLang="en-US" sz="2000"/>
              <a:t>11.在使用索引字段作为条件时，如果该索引是复合索引，那么必须使用到该索引中的第一个字段作为条件时才能保证系统使用该索引，否则该索引将不会被使用，并且应尽可能的让字段顺序与索引顺序相一致。</a:t>
            </a:r>
          </a:p>
          <a:p>
            <a:endParaRPr lang="zh-CN" altLang="en-US"/>
          </a:p>
          <a:p>
            <a:endParaRPr lang="zh-CN" altLang="en-US"/>
          </a:p>
          <a:p>
            <a:endParaRPr lang="zh-CN" altLang="en-US"/>
          </a:p>
          <a:p>
            <a:endParaRPr lang="zh-CN" altLang="en-US"/>
          </a:p>
        </p:txBody>
      </p:sp>
      <p:pic>
        <p:nvPicPr>
          <p:cNvPr id="3" name="图片 2"/>
          <p:cNvPicPr>
            <a:picLocks noChangeAspect="1"/>
          </p:cNvPicPr>
          <p:nvPr>
            <p:custDataLst>
              <p:tags r:id="rId1"/>
            </p:custDataLst>
          </p:nvPr>
        </p:nvPicPr>
        <p:blipFill>
          <a:blip r:embed="rId5"/>
          <a:stretch>
            <a:fillRect/>
          </a:stretch>
        </p:blipFill>
        <p:spPr>
          <a:xfrm>
            <a:off x="1569085" y="2682875"/>
            <a:ext cx="8172450" cy="1193800"/>
          </a:xfrm>
          <a:prstGeom prst="rect">
            <a:avLst/>
          </a:prstGeom>
        </p:spPr>
      </p:pic>
      <p:pic>
        <p:nvPicPr>
          <p:cNvPr id="4" name="图片 3"/>
          <p:cNvPicPr>
            <a:picLocks noChangeAspect="1"/>
          </p:cNvPicPr>
          <p:nvPr>
            <p:custDataLst>
              <p:tags r:id="rId2"/>
            </p:custDataLst>
          </p:nvPr>
        </p:nvPicPr>
        <p:blipFill>
          <a:blip r:embed="rId6"/>
          <a:stretch>
            <a:fillRect/>
          </a:stretch>
        </p:blipFill>
        <p:spPr>
          <a:xfrm>
            <a:off x="1569085" y="4766310"/>
            <a:ext cx="8280400" cy="1358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p:tgtEl>
                                          <p:spTgt spid="11"/>
                                        </p:tgtEl>
                                        <p:attrNameLst>
                                          <p:attrName>ppt_x</p:attrName>
                                        </p:attrNameLst>
                                      </p:cBhvr>
                                      <p:tavLst>
                                        <p:tav tm="0">
                                          <p:val>
                                            <p:strVal val="#ppt_x-#ppt_w*1.125000"/>
                                          </p:val>
                                        </p:tav>
                                        <p:tav tm="100000">
                                          <p:val>
                                            <p:strVal val="#ppt_x"/>
                                          </p:val>
                                        </p:tav>
                                      </p:tavLst>
                                    </p:anim>
                                    <p:animEffect transition="in" filter="wipe(righ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147779" y="848260"/>
            <a:ext cx="10738786" cy="0"/>
          </a:xfrm>
          <a:prstGeom prst="line">
            <a:avLst/>
          </a:prstGeom>
          <a:ln w="28575" cmpd="sng">
            <a:solidFill>
              <a:srgbClr val="8F000B"/>
            </a:solidFill>
            <a:prstDash val="solid"/>
          </a:ln>
        </p:spPr>
        <p:style>
          <a:lnRef idx="1">
            <a:schemeClr val="accent1"/>
          </a:lnRef>
          <a:fillRef idx="0">
            <a:schemeClr val="accent1"/>
          </a:fillRef>
          <a:effectRef idx="0">
            <a:schemeClr val="accent1"/>
          </a:effectRef>
          <a:fontRef idx="minor">
            <a:schemeClr val="tx1"/>
          </a:fontRef>
        </p:style>
      </p:cxnSp>
      <p:sp>
        <p:nvSpPr>
          <p:cNvPr id="11" name="TextBox 25"/>
          <p:cNvSpPr txBox="1"/>
          <p:nvPr/>
        </p:nvSpPr>
        <p:spPr>
          <a:xfrm>
            <a:off x="1126828" y="336728"/>
            <a:ext cx="1211580" cy="460375"/>
          </a:xfrm>
          <a:prstGeom prst="rect">
            <a:avLst/>
          </a:prstGeom>
          <a:noFill/>
          <a:ln>
            <a:noFill/>
          </a:ln>
        </p:spPr>
        <p:txBody>
          <a:bodyPr wrap="none" rtlCol="0">
            <a:spAutoFit/>
          </a:bodyPr>
          <a:lstStyle/>
          <a:p>
            <a:r>
              <a:rPr lang="zh-CN" altLang="en-US" sz="2400" b="1" spc="300" dirty="0">
                <a:solidFill>
                  <a:srgbClr val="8F000B"/>
                </a:solidFill>
                <a:latin typeface="Segoe Print" panose="02000600000000000000" charset="0"/>
                <a:ea typeface="微软雅黑" panose="020B0503020204020204" charset="-122"/>
              </a:rPr>
              <a:t>索引篇</a:t>
            </a:r>
          </a:p>
        </p:txBody>
      </p:sp>
      <p:grpSp>
        <p:nvGrpSpPr>
          <p:cNvPr id="162" name="组合 161"/>
          <p:cNvGrpSpPr/>
          <p:nvPr/>
        </p:nvGrpSpPr>
        <p:grpSpPr>
          <a:xfrm>
            <a:off x="11886565" y="6461125"/>
            <a:ext cx="305435" cy="396875"/>
            <a:chOff x="13438" y="10212"/>
            <a:chExt cx="481" cy="625"/>
          </a:xfrm>
        </p:grpSpPr>
        <p:sp>
          <p:nvSpPr>
            <p:cNvPr id="163" name="矩形 162"/>
            <p:cNvSpPr/>
            <p:nvPr/>
          </p:nvSpPr>
          <p:spPr>
            <a:xfrm>
              <a:off x="13448" y="10212"/>
              <a:ext cx="471" cy="601"/>
            </a:xfrm>
            <a:prstGeom prst="rect">
              <a:avLst/>
            </a:pr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13438" y="10257"/>
              <a:ext cx="357" cy="580"/>
            </a:xfrm>
            <a:prstGeom prst="rect">
              <a:avLst/>
            </a:prstGeom>
            <a:noFill/>
          </p:spPr>
          <p:txBody>
            <a:bodyPr wrap="square" rtlCol="0">
              <a:spAutoFit/>
            </a:bodyPr>
            <a:lstStyle/>
            <a:p>
              <a:r>
                <a:rPr lang="en-US" altLang="zh-CN" dirty="0">
                  <a:solidFill>
                    <a:schemeClr val="bg1"/>
                  </a:solidFill>
                </a:rPr>
                <a:t>1</a:t>
              </a:r>
            </a:p>
          </p:txBody>
        </p:sp>
      </p:grpSp>
      <p:pic>
        <p:nvPicPr>
          <p:cNvPr id="33" name="Picture 2" descr="https://timgsa.baidu.com/timg?image&amp;quality=80&amp;size=b9999_10000&amp;sec=1516787954330&amp;di=a718f28c8ddbe2375b5827d4c85f1b4d&amp;imgtype=0&amp;src=http%3A%2F%2Fimg.mp.itc.cn%2Fupload%2F20161123%2F83719adc00e54c0ca5567f8c9ac0ffa2_th.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79874"/>
          <a:stretch>
            <a:fillRect/>
          </a:stretch>
        </p:blipFill>
        <p:spPr bwMode="auto">
          <a:xfrm>
            <a:off x="196099" y="93463"/>
            <a:ext cx="852090" cy="101376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901700" y="1198245"/>
            <a:ext cx="10407650" cy="5538470"/>
          </a:xfrm>
          <a:prstGeom prst="rect">
            <a:avLst/>
          </a:prstGeom>
          <a:noFill/>
        </p:spPr>
        <p:txBody>
          <a:bodyPr wrap="square" rtlCol="0">
            <a:noAutofit/>
          </a:bodyPr>
          <a:lstStyle/>
          <a:p>
            <a:r>
              <a:rPr lang="en-US" altLang="zh-CN" sz="2000"/>
              <a:t>15. </a:t>
            </a:r>
            <a:r>
              <a:rPr lang="zh-CN" altLang="en-US" sz="2000"/>
              <a:t>索引并不是越多越好，索引固然可以提高相应的 select 的效率，但同时也降低了 insert 及 update 的效率，因为 insert 或 update 时有可能会重建索引，所以怎样建索引需要慎重考虑，视具体情况而定。一个表的索引数最好不要超过6个，若太多则应考虑一些不常使用到的列上建的索引是否有必要。</a:t>
            </a:r>
          </a:p>
          <a:p>
            <a:endParaRPr lang="zh-CN" altLang="en-US" sz="2000"/>
          </a:p>
          <a:p>
            <a:r>
              <a:rPr sz="2000">
                <a:sym typeface="+mn-ea"/>
              </a:rPr>
              <a:t>16.应尽可能的避免更新 clustered 索引数据列，因为 clustered 索引数据列的顺序就是表记录的物理存储顺序，一旦该列值改变将导致整个表记录的顺序的调整，会耗费相当大的资源。若应用系统需要频繁更新 clustered 索引数据列，那么需要考虑是否应将该索引建为 clustered 索引。</a:t>
            </a:r>
          </a:p>
          <a:p>
            <a:endParaRPr lang="zh-CN" altLang="en-US"/>
          </a:p>
          <a:p>
            <a:endParaRPr lang="zh-CN" altLang="en-US"/>
          </a:p>
          <a:p>
            <a:endParaRPr lang="zh-CN" altLang="en-US"/>
          </a:p>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p:tgtEl>
                                          <p:spTgt spid="11"/>
                                        </p:tgtEl>
                                        <p:attrNameLst>
                                          <p:attrName>ppt_x</p:attrName>
                                        </p:attrNameLst>
                                      </p:cBhvr>
                                      <p:tavLst>
                                        <p:tav tm="0">
                                          <p:val>
                                            <p:strVal val="#ppt_x-#ppt_w*1.125000"/>
                                          </p:val>
                                        </p:tav>
                                        <p:tav tm="100000">
                                          <p:val>
                                            <p:strVal val="#ppt_x"/>
                                          </p:val>
                                        </p:tav>
                                      </p:tavLst>
                                    </p:anim>
                                    <p:animEffect transition="in" filter="wipe(righ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147779" y="848260"/>
            <a:ext cx="10738786" cy="0"/>
          </a:xfrm>
          <a:prstGeom prst="line">
            <a:avLst/>
          </a:prstGeom>
          <a:ln w="28575" cmpd="sng">
            <a:solidFill>
              <a:srgbClr val="8F000B"/>
            </a:solidFill>
            <a:prstDash val="solid"/>
          </a:ln>
        </p:spPr>
        <p:style>
          <a:lnRef idx="1">
            <a:schemeClr val="accent1"/>
          </a:lnRef>
          <a:fillRef idx="0">
            <a:schemeClr val="accent1"/>
          </a:fillRef>
          <a:effectRef idx="0">
            <a:schemeClr val="accent1"/>
          </a:effectRef>
          <a:fontRef idx="minor">
            <a:schemeClr val="tx1"/>
          </a:fontRef>
        </p:style>
      </p:cxnSp>
      <p:sp>
        <p:nvSpPr>
          <p:cNvPr id="11" name="TextBox 25"/>
          <p:cNvSpPr txBox="1"/>
          <p:nvPr/>
        </p:nvSpPr>
        <p:spPr>
          <a:xfrm>
            <a:off x="1126828" y="336728"/>
            <a:ext cx="868680" cy="460375"/>
          </a:xfrm>
          <a:prstGeom prst="rect">
            <a:avLst/>
          </a:prstGeom>
          <a:noFill/>
          <a:ln>
            <a:noFill/>
          </a:ln>
        </p:spPr>
        <p:txBody>
          <a:bodyPr wrap="none" rtlCol="0">
            <a:spAutoFit/>
          </a:bodyPr>
          <a:lstStyle/>
          <a:p>
            <a:r>
              <a:rPr lang="zh-CN" altLang="en-US" sz="2400" b="1" spc="300" dirty="0">
                <a:solidFill>
                  <a:srgbClr val="8F000B"/>
                </a:solidFill>
                <a:latin typeface="Segoe Print" panose="02000600000000000000" charset="0"/>
                <a:ea typeface="微软雅黑" panose="020B0503020204020204" charset="-122"/>
              </a:rPr>
              <a:t>其他</a:t>
            </a:r>
          </a:p>
        </p:txBody>
      </p:sp>
      <p:grpSp>
        <p:nvGrpSpPr>
          <p:cNvPr id="162" name="组合 161"/>
          <p:cNvGrpSpPr/>
          <p:nvPr/>
        </p:nvGrpSpPr>
        <p:grpSpPr>
          <a:xfrm>
            <a:off x="11886565" y="6461125"/>
            <a:ext cx="305435" cy="396875"/>
            <a:chOff x="13438" y="10212"/>
            <a:chExt cx="481" cy="625"/>
          </a:xfrm>
        </p:grpSpPr>
        <p:sp>
          <p:nvSpPr>
            <p:cNvPr id="163" name="矩形 162"/>
            <p:cNvSpPr/>
            <p:nvPr/>
          </p:nvSpPr>
          <p:spPr>
            <a:xfrm>
              <a:off x="13448" y="10212"/>
              <a:ext cx="471" cy="601"/>
            </a:xfrm>
            <a:prstGeom prst="rect">
              <a:avLst/>
            </a:pr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13438" y="10257"/>
              <a:ext cx="357" cy="580"/>
            </a:xfrm>
            <a:prstGeom prst="rect">
              <a:avLst/>
            </a:prstGeom>
            <a:noFill/>
          </p:spPr>
          <p:txBody>
            <a:bodyPr wrap="square" rtlCol="0">
              <a:spAutoFit/>
            </a:bodyPr>
            <a:lstStyle/>
            <a:p>
              <a:r>
                <a:rPr lang="en-US" altLang="zh-CN" dirty="0">
                  <a:solidFill>
                    <a:schemeClr val="bg1"/>
                  </a:solidFill>
                </a:rPr>
                <a:t>1</a:t>
              </a:r>
            </a:p>
          </p:txBody>
        </p:sp>
      </p:grpSp>
      <p:pic>
        <p:nvPicPr>
          <p:cNvPr id="33" name="Picture 2" descr="https://timgsa.baidu.com/timg?image&amp;quality=80&amp;size=b9999_10000&amp;sec=1516787954330&amp;di=a718f28c8ddbe2375b5827d4c85f1b4d&amp;imgtype=0&amp;src=http%3A%2F%2Fimg.mp.itc.cn%2Fupload%2F20161123%2F83719adc00e54c0ca5567f8c9ac0ffa2_th.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79874"/>
          <a:stretch>
            <a:fillRect/>
          </a:stretch>
        </p:blipFill>
        <p:spPr bwMode="auto">
          <a:xfrm>
            <a:off x="196099" y="93463"/>
            <a:ext cx="852090" cy="101376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717550" y="1198245"/>
            <a:ext cx="10953750" cy="2812415"/>
          </a:xfrm>
          <a:prstGeom prst="rect">
            <a:avLst/>
          </a:prstGeom>
          <a:noFill/>
        </p:spPr>
        <p:txBody>
          <a:bodyPr wrap="square" rtlCol="0">
            <a:noAutofit/>
          </a:bodyPr>
          <a:lstStyle/>
          <a:p>
            <a:r>
              <a:t>17.尽量使用数字型字段，若只含数值信息的字段尽量不要设计为字符型，这会降低查询和连接的性能，并会增加存储开销。这是因为引擎在处理查询和连接时会逐个比较字符串中每一个字符，而对于数字型而言只需要比较一次就够了。</a:t>
            </a:r>
          </a:p>
          <a:p>
            <a:endParaRPr/>
          </a:p>
          <a:p>
            <a:r>
              <a:t>18.尽可能的使用 varchar/nvarchar 代替 char/nchar ，因为首先变长字段存储空间小，可以节省存储空间，其次对于查询来说，在一个相对较小的字段内搜索效率显然要高些。</a:t>
            </a:r>
          </a:p>
          <a:p>
            <a:endParaRPr/>
          </a:p>
          <a:p>
            <a:r>
              <a:t>19.任何地方都不要使用 select </a:t>
            </a:r>
            <a:r>
              <a:rPr lang="en-US"/>
              <a:t>* </a:t>
            </a:r>
            <a:r>
              <a:t>from t ，用具体的字段列表代替“</a:t>
            </a:r>
            <a:r>
              <a:rPr lang="en-US"/>
              <a:t>*</a:t>
            </a:r>
            <a:r>
              <a:t>”，不要返回用不到的任何字段。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p:tgtEl>
                                          <p:spTgt spid="11"/>
                                        </p:tgtEl>
                                        <p:attrNameLst>
                                          <p:attrName>ppt_x</p:attrName>
                                        </p:attrNameLst>
                                      </p:cBhvr>
                                      <p:tavLst>
                                        <p:tav tm="0">
                                          <p:val>
                                            <p:strVal val="#ppt_x-#ppt_w*1.125000"/>
                                          </p:val>
                                        </p:tav>
                                        <p:tav tm="100000">
                                          <p:val>
                                            <p:strVal val="#ppt_x"/>
                                          </p:val>
                                        </p:tav>
                                      </p:tavLst>
                                    </p:anim>
                                    <p:animEffect transition="in" filter="wipe(righ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147779" y="848260"/>
            <a:ext cx="10738786" cy="0"/>
          </a:xfrm>
          <a:prstGeom prst="line">
            <a:avLst/>
          </a:prstGeom>
          <a:ln w="28575" cmpd="sng">
            <a:solidFill>
              <a:srgbClr val="8F000B"/>
            </a:solidFill>
            <a:prstDash val="solid"/>
          </a:ln>
        </p:spPr>
        <p:style>
          <a:lnRef idx="1">
            <a:schemeClr val="accent1"/>
          </a:lnRef>
          <a:fillRef idx="0">
            <a:schemeClr val="accent1"/>
          </a:fillRef>
          <a:effectRef idx="0">
            <a:schemeClr val="accent1"/>
          </a:effectRef>
          <a:fontRef idx="minor">
            <a:schemeClr val="tx1"/>
          </a:fontRef>
        </p:style>
      </p:cxnSp>
      <p:sp>
        <p:nvSpPr>
          <p:cNvPr id="11" name="TextBox 25"/>
          <p:cNvSpPr txBox="1"/>
          <p:nvPr/>
        </p:nvSpPr>
        <p:spPr>
          <a:xfrm>
            <a:off x="1126828" y="336728"/>
            <a:ext cx="868680" cy="460375"/>
          </a:xfrm>
          <a:prstGeom prst="rect">
            <a:avLst/>
          </a:prstGeom>
          <a:noFill/>
          <a:ln>
            <a:noFill/>
          </a:ln>
        </p:spPr>
        <p:txBody>
          <a:bodyPr wrap="none" rtlCol="0">
            <a:spAutoFit/>
          </a:bodyPr>
          <a:lstStyle/>
          <a:p>
            <a:r>
              <a:rPr lang="zh-CN" altLang="en-US" sz="2400" b="1" spc="300" dirty="0">
                <a:solidFill>
                  <a:srgbClr val="8F000B"/>
                </a:solidFill>
                <a:latin typeface="Segoe Print" panose="02000600000000000000" charset="0"/>
                <a:ea typeface="微软雅黑" panose="020B0503020204020204" charset="-122"/>
              </a:rPr>
              <a:t>总结</a:t>
            </a:r>
          </a:p>
        </p:txBody>
      </p:sp>
      <p:grpSp>
        <p:nvGrpSpPr>
          <p:cNvPr id="162" name="组合 161"/>
          <p:cNvGrpSpPr/>
          <p:nvPr/>
        </p:nvGrpSpPr>
        <p:grpSpPr>
          <a:xfrm>
            <a:off x="11886565" y="6461125"/>
            <a:ext cx="305435" cy="396875"/>
            <a:chOff x="13438" y="10212"/>
            <a:chExt cx="481" cy="625"/>
          </a:xfrm>
        </p:grpSpPr>
        <p:sp>
          <p:nvSpPr>
            <p:cNvPr id="163" name="矩形 162"/>
            <p:cNvSpPr/>
            <p:nvPr/>
          </p:nvSpPr>
          <p:spPr>
            <a:xfrm>
              <a:off x="13448" y="10212"/>
              <a:ext cx="471" cy="601"/>
            </a:xfrm>
            <a:prstGeom prst="rect">
              <a:avLst/>
            </a:prstGeom>
            <a:solidFill>
              <a:srgbClr val="8F000B"/>
            </a:solidFill>
            <a:ln>
              <a:solidFill>
                <a:srgbClr val="8F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13438" y="10257"/>
              <a:ext cx="357" cy="580"/>
            </a:xfrm>
            <a:prstGeom prst="rect">
              <a:avLst/>
            </a:prstGeom>
            <a:noFill/>
          </p:spPr>
          <p:txBody>
            <a:bodyPr wrap="square" rtlCol="0">
              <a:spAutoFit/>
            </a:bodyPr>
            <a:lstStyle/>
            <a:p>
              <a:r>
                <a:rPr lang="en-US" altLang="zh-CN" dirty="0">
                  <a:solidFill>
                    <a:schemeClr val="bg1"/>
                  </a:solidFill>
                </a:rPr>
                <a:t>1</a:t>
              </a:r>
            </a:p>
          </p:txBody>
        </p:sp>
      </p:grpSp>
      <p:pic>
        <p:nvPicPr>
          <p:cNvPr id="33" name="Picture 2" descr="https://timgsa.baidu.com/timg?image&amp;quality=80&amp;size=b9999_10000&amp;sec=1516787954330&amp;di=a718f28c8ddbe2375b5827d4c85f1b4d&amp;imgtype=0&amp;src=http%3A%2F%2Fimg.mp.itc.cn%2Fupload%2F20161123%2F83719adc00e54c0ca5567f8c9ac0ffa2_th.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79874"/>
          <a:stretch>
            <a:fillRect/>
          </a:stretch>
        </p:blipFill>
        <p:spPr bwMode="auto">
          <a:xfrm>
            <a:off x="196099" y="93463"/>
            <a:ext cx="852090" cy="101376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901700" y="1198245"/>
            <a:ext cx="10407650" cy="5538470"/>
          </a:xfrm>
          <a:prstGeom prst="rect">
            <a:avLst/>
          </a:prstGeom>
          <a:noFill/>
        </p:spPr>
        <p:txBody>
          <a:bodyPr wrap="square" rtlCol="0">
            <a:noAutofit/>
          </a:bodyPr>
          <a:lstStyle/>
          <a:p>
            <a:r>
              <a:rPr lang="en-US" sz="2000"/>
              <a:t>1. </a:t>
            </a:r>
            <a:r>
              <a:rPr lang="zh-CN" altLang="en-US" sz="2000"/>
              <a:t>上述的规则是一个通用的规则，但是不同的优化器的优化能力和程度不同，因此很多不满足上述规则的写法也不会明显拖慢数据库的性能，但是作为数据库使用者，我们要培养一个良好的习惯</a:t>
            </a:r>
          </a:p>
          <a:p>
            <a:endParaRPr lang="zh-CN" altLang="en-US" sz="2000"/>
          </a:p>
          <a:p>
            <a:r>
              <a:rPr lang="en-US" altLang="zh-CN" sz="2000"/>
              <a:t>2. </a:t>
            </a:r>
            <a:r>
              <a:rPr lang="zh-CN" altLang="en-US" sz="2000"/>
              <a:t>善用</a:t>
            </a:r>
            <a:r>
              <a:rPr lang="en-US" altLang="zh-CN" sz="2000"/>
              <a:t>explain</a:t>
            </a:r>
            <a:r>
              <a:rPr lang="zh-CN" altLang="en-US" sz="2000"/>
              <a:t>和</a:t>
            </a:r>
            <a:r>
              <a:rPr lang="en-US" altLang="zh-CN" sz="2000"/>
              <a:t>analyze</a:t>
            </a:r>
            <a:r>
              <a:rPr lang="zh-CN" altLang="en-US" sz="2000"/>
              <a:t>工具，因为在</a:t>
            </a:r>
            <a:r>
              <a:rPr lang="en-US" altLang="zh-CN" sz="2000"/>
              <a:t>sql</a:t>
            </a:r>
            <a:r>
              <a:rPr lang="zh-CN" altLang="en-US" sz="2000"/>
              <a:t>比较复杂的情况下，很多时候只能实际情况实际分析</a:t>
            </a:r>
          </a:p>
          <a:p>
            <a:endParaRPr lang="zh-CN" altLang="en-US" sz="2000"/>
          </a:p>
          <a:p>
            <a:r>
              <a:rPr lang="en-US" altLang="zh-CN" sz="2000"/>
              <a:t>3. </a:t>
            </a:r>
            <a:r>
              <a:rPr lang="zh-CN" altLang="en-US" sz="2000"/>
              <a:t>上述规则仅仅是一个书写</a:t>
            </a:r>
            <a:r>
              <a:rPr lang="en-US" altLang="zh-CN" sz="2000"/>
              <a:t>sql</a:t>
            </a:r>
            <a:r>
              <a:rPr lang="zh-CN" altLang="en-US" sz="2000"/>
              <a:t>的规范，如果要深入数据库优化，还有很多其他维度的事情可以做（硬件配置、参数配置、调优工具等）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p:tgtEl>
                                          <p:spTgt spid="11"/>
                                        </p:tgtEl>
                                        <p:attrNameLst>
                                          <p:attrName>ppt_x</p:attrName>
                                        </p:attrNameLst>
                                      </p:cBhvr>
                                      <p:tavLst>
                                        <p:tav tm="0">
                                          <p:val>
                                            <p:strVal val="#ppt_x-#ppt_w*1.125000"/>
                                          </p:val>
                                        </p:tav>
                                        <p:tav tm="100000">
                                          <p:val>
                                            <p:strVal val="#ppt_x"/>
                                          </p:val>
                                        </p:tav>
                                      </p:tavLst>
                                    </p:anim>
                                    <p:animEffect transition="in" filter="wipe(righ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DA4ZDk0NjAzM2VjMTU5OGMxOWM0OTYyMTRiNDMzMT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828</Words>
  <Application>Microsoft Office PowerPoint</Application>
  <PresentationFormat>宽屏</PresentationFormat>
  <Paragraphs>74</Paragraphs>
  <Slides>13</Slides>
  <Notes>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13</vt:i4>
      </vt:variant>
    </vt:vector>
  </HeadingPairs>
  <TitlesOfParts>
    <vt:vector size="20" baseType="lpstr">
      <vt:lpstr>等线</vt:lpstr>
      <vt:lpstr>汉仪张乃仁行书W</vt:lpstr>
      <vt:lpstr>Arial</vt:lpstr>
      <vt:lpstr>Calibri</vt:lpstr>
      <vt:lpstr>Calibri Light</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andrew</dc:creator>
  <cp:lastModifiedBy>朝阳 张</cp:lastModifiedBy>
  <cp:revision>495</cp:revision>
  <dcterms:created xsi:type="dcterms:W3CDTF">2023-10-31T02:37:00Z</dcterms:created>
  <dcterms:modified xsi:type="dcterms:W3CDTF">2024-11-26T09:10:17Z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6D584CBE4CE020EB3C64F864ED346C26_42</vt:lpwstr>
  </property>
</Properties>
</file>