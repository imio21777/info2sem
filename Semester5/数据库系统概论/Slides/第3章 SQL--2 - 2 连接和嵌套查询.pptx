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sldIdLst>
    <p:sldId id="1150" r:id="rId5"/>
    <p:sldId id="390" r:id="rId7"/>
    <p:sldId id="391" r:id="rId8"/>
    <p:sldId id="396" r:id="rId9"/>
    <p:sldId id="397" r:id="rId10"/>
    <p:sldId id="398" r:id="rId11"/>
    <p:sldId id="568" r:id="rId12"/>
    <p:sldId id="575" r:id="rId13"/>
    <p:sldId id="399" r:id="rId14"/>
    <p:sldId id="400" r:id="rId15"/>
    <p:sldId id="471" r:id="rId16"/>
    <p:sldId id="402" r:id="rId17"/>
    <p:sldId id="1439" r:id="rId18"/>
    <p:sldId id="403" r:id="rId19"/>
    <p:sldId id="607" r:id="rId20"/>
    <p:sldId id="405" r:id="rId21"/>
    <p:sldId id="1440" r:id="rId22"/>
    <p:sldId id="472" r:id="rId23"/>
    <p:sldId id="407" r:id="rId24"/>
    <p:sldId id="572" r:id="rId25"/>
    <p:sldId id="608" r:id="rId26"/>
    <p:sldId id="473" r:id="rId27"/>
    <p:sldId id="411" r:id="rId28"/>
    <p:sldId id="1339" r:id="rId29"/>
    <p:sldId id="1441" r:id="rId30"/>
    <p:sldId id="1442" r:id="rId31"/>
    <p:sldId id="1443" r:id="rId32"/>
    <p:sldId id="1444" r:id="rId33"/>
    <p:sldId id="412" r:id="rId34"/>
    <p:sldId id="413" r:id="rId35"/>
    <p:sldId id="415" r:id="rId36"/>
    <p:sldId id="416" r:id="rId37"/>
    <p:sldId id="417" r:id="rId38"/>
    <p:sldId id="418" r:id="rId39"/>
    <p:sldId id="419" r:id="rId40"/>
    <p:sldId id="420" r:id="rId41"/>
    <p:sldId id="609" r:id="rId42"/>
    <p:sldId id="576" r:id="rId43"/>
    <p:sldId id="423" r:id="rId44"/>
    <p:sldId id="424" r:id="rId45"/>
    <p:sldId id="1340" r:id="rId46"/>
    <p:sldId id="474" r:id="rId47"/>
    <p:sldId id="426" r:id="rId48"/>
    <p:sldId id="429" r:id="rId49"/>
    <p:sldId id="430" r:id="rId50"/>
    <p:sldId id="573" r:id="rId51"/>
    <p:sldId id="431" r:id="rId52"/>
    <p:sldId id="1446" r:id="rId53"/>
    <p:sldId id="475" r:id="rId54"/>
    <p:sldId id="434" r:id="rId55"/>
    <p:sldId id="574" r:id="rId56"/>
    <p:sldId id="435" r:id="rId57"/>
    <p:sldId id="436" r:id="rId58"/>
    <p:sldId id="437" r:id="rId59"/>
    <p:sldId id="438" r:id="rId60"/>
    <p:sldId id="578" r:id="rId61"/>
    <p:sldId id="439" r:id="rId62"/>
    <p:sldId id="440" r:id="rId63"/>
    <p:sldId id="1447" r:id="rId64"/>
    <p:sldId id="1396" r:id="rId65"/>
    <p:sldId id="1437" r:id="rId66"/>
    <p:sldId id="476" r:id="rId67"/>
    <p:sldId id="442" r:id="rId68"/>
    <p:sldId id="567" r:id="rId69"/>
    <p:sldId id="443" r:id="rId70"/>
    <p:sldId id="446" r:id="rId71"/>
    <p:sldId id="1456" r:id="rId72"/>
    <p:sldId id="1452" r:id="rId73"/>
    <p:sldId id="1453" r:id="rId74"/>
    <p:sldId id="1454" r:id="rId75"/>
    <p:sldId id="1455" r:id="rId76"/>
    <p:sldId id="1457" r:id="rId77"/>
    <p:sldId id="447" r:id="rId78"/>
    <p:sldId id="448" r:id="rId79"/>
    <p:sldId id="449" r:id="rId80"/>
    <p:sldId id="1397" r:id="rId81"/>
    <p:sldId id="1450" r:id="rId82"/>
    <p:sldId id="450" r:id="rId83"/>
    <p:sldId id="451" r:id="rId84"/>
    <p:sldId id="452" r:id="rId85"/>
    <p:sldId id="453" r:id="rId86"/>
    <p:sldId id="454" r:id="rId87"/>
    <p:sldId id="455" r:id="rId88"/>
    <p:sldId id="456" r:id="rId89"/>
    <p:sldId id="458" r:id="rId90"/>
    <p:sldId id="459" r:id="rId91"/>
    <p:sldId id="610" r:id="rId92"/>
    <p:sldId id="461" r:id="rId93"/>
    <p:sldId id="579" r:id="rId94"/>
    <p:sldId id="463" r:id="rId95"/>
    <p:sldId id="611" r:id="rId96"/>
    <p:sldId id="465" r:id="rId97"/>
    <p:sldId id="466" r:id="rId98"/>
    <p:sldId id="467" r:id="rId99"/>
    <p:sldId id="1449" r:id="rId100"/>
    <p:sldId id="469" r:id="rId101"/>
  </p:sldIdLst>
  <p:sldSz cx="12192000" cy="6858000"/>
  <p:notesSz cx="6833870" cy="9979025"/>
  <p:custDataLst>
    <p:tags r:id="rId105"/>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1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34"/>
    <p:restoredTop sz="94632"/>
  </p:normalViewPr>
  <p:slideViewPr>
    <p:cSldViewPr snapToObjects="1" showGuides="1">
      <p:cViewPr varScale="1">
        <p:scale>
          <a:sx n="69" d="100"/>
          <a:sy n="69" d="100"/>
        </p:scale>
        <p:origin x="888" y="60"/>
      </p:cViewPr>
      <p:guideLst>
        <p:guide orient="horz" pos="221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5" Type="http://schemas.openxmlformats.org/officeDocument/2006/relationships/tags" Target="tags/tag35.xml"/><Relationship Id="rId104" Type="http://schemas.openxmlformats.org/officeDocument/2006/relationships/tableStyles" Target="tableStyles.xml"/><Relationship Id="rId103" Type="http://schemas.openxmlformats.org/officeDocument/2006/relationships/viewProps" Target="viewProps.xml"/><Relationship Id="rId102" Type="http://schemas.openxmlformats.org/officeDocument/2006/relationships/presProps" Target="presProps.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60688" cy="498475"/>
          </a:xfrm>
          <a:prstGeom prst="rect">
            <a:avLst/>
          </a:prstGeom>
          <a:noFill/>
          <a:ln>
            <a:noFill/>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4099" name="Rectangle 3"/>
          <p:cNvSpPr>
            <a:spLocks noGrp="1" noChangeArrowheads="1"/>
          </p:cNvSpPr>
          <p:nvPr>
            <p:ph type="dt" idx="1"/>
          </p:nvPr>
        </p:nvSpPr>
        <p:spPr bwMode="auto">
          <a:xfrm>
            <a:off x="3870325" y="0"/>
            <a:ext cx="2962275" cy="498475"/>
          </a:xfrm>
          <a:prstGeom prst="rect">
            <a:avLst/>
          </a:prstGeom>
          <a:noFill/>
          <a:ln>
            <a:noFill/>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84F3FDE9-766E-824F-8219-5FA0102948F5}" type="datetimeFigureOut">
              <a:rPr lang="zh-CN" altLang="en-US"/>
            </a:fld>
            <a:endParaRPr lang="en-US"/>
          </a:p>
        </p:txBody>
      </p:sp>
      <p:sp>
        <p:nvSpPr>
          <p:cNvPr id="4100" name="Rectangle 4"/>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101" name="Rectangle 5"/>
          <p:cNvSpPr>
            <a:spLocks noGrp="1" noChangeArrowheads="1"/>
          </p:cNvSpPr>
          <p:nvPr>
            <p:ph type="body" sz="quarter" idx="3"/>
          </p:nvPr>
        </p:nvSpPr>
        <p:spPr bwMode="auto">
          <a:xfrm>
            <a:off x="682625" y="4740275"/>
            <a:ext cx="5467350" cy="4489450"/>
          </a:xfrm>
          <a:prstGeom prst="rect">
            <a:avLst/>
          </a:prstGeom>
          <a:noFill/>
          <a:ln>
            <a:noFill/>
          </a:ln>
        </p:spPr>
        <p:txBody>
          <a:bodyPr vert="horz" wrap="square" lIns="91440" tIns="45720" rIns="91440" bIns="45720"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102" name="Rectangle 6"/>
          <p:cNvSpPr>
            <a:spLocks noGrp="1" noChangeArrowheads="1"/>
          </p:cNvSpPr>
          <p:nvPr>
            <p:ph type="ftr" sz="quarter" idx="4"/>
          </p:nvPr>
        </p:nvSpPr>
        <p:spPr bwMode="auto">
          <a:xfrm>
            <a:off x="0" y="9477375"/>
            <a:ext cx="2960688" cy="500063"/>
          </a:xfrm>
          <a:prstGeom prst="rect">
            <a:avLst/>
          </a:prstGeom>
          <a:noFill/>
          <a:ln>
            <a:noFill/>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4103" name="Rectangle 7"/>
          <p:cNvSpPr>
            <a:spLocks noGrp="1" noChangeArrowheads="1"/>
          </p:cNvSpPr>
          <p:nvPr>
            <p:ph type="sldNum" sz="quarter" idx="5"/>
          </p:nvPr>
        </p:nvSpPr>
        <p:spPr bwMode="auto">
          <a:xfrm>
            <a:off x="3870325" y="9477375"/>
            <a:ext cx="2962275" cy="500063"/>
          </a:xfrm>
          <a:prstGeom prst="rect">
            <a:avLst/>
          </a:prstGeom>
          <a:noFill/>
          <a:ln>
            <a:noFill/>
          </a:ln>
        </p:spPr>
        <p:txBody>
          <a:bodyPr vert="horz" wrap="square" lIns="91440" tIns="45720" rIns="91440" bIns="45720" numCol="1" anchor="b" anchorCtr="0" compatLnSpc="1"/>
          <a:lstStyle>
            <a:lvl1pPr algn="r" eaLnBrk="0" hangingPunct="0">
              <a:buFont typeface="Arial" panose="020B0604020202020204" pitchFamily="34" charset="0"/>
              <a:buNone/>
              <a:defRPr sz="1200"/>
            </a:lvl1pPr>
          </a:lstStyle>
          <a:p>
            <a:pPr>
              <a:defRPr/>
            </a:pPr>
            <a:fld id="{04FE809C-0FE3-3145-BED1-7DEB80ACC303}"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找出连续三年参加比赛的人，追问，如果是连续</a:t>
            </a:r>
            <a:r>
              <a:rPr lang="en-US" altLang="zh-CN"/>
              <a:t>7</a:t>
            </a:r>
            <a:r>
              <a:rPr lang="zh-CN" altLang="en-US"/>
              <a:t>年呢（留到后面</a:t>
            </a:r>
            <a:r>
              <a:rPr lang="en-US" altLang="zh-CN"/>
              <a:t>EXISTS</a:t>
            </a:r>
            <a:r>
              <a:rPr lang="zh-CN" altLang="en-US"/>
              <a:t>再</a:t>
            </a:r>
            <a:r>
              <a:rPr lang="zh-CN" altLang="en-US"/>
              <a:t>讲）。</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cno</a:t>
            </a:r>
            <a:r>
              <a:rPr lang="zh-CN" altLang="en-US"/>
              <a:t>需要加表名前缀，</a:t>
            </a:r>
            <a:r>
              <a:rPr lang="en-US" altLang="zh-CN"/>
              <a:t> Group By </a:t>
            </a:r>
            <a:r>
              <a:rPr lang="zh-CN" altLang="en-US"/>
              <a:t>后面需要加</a:t>
            </a:r>
            <a:r>
              <a:rPr lang="en-US" altLang="zh-CN"/>
              <a:t> C</a:t>
            </a:r>
            <a:r>
              <a:rPr lang="en-US" altLang="zh-CN"/>
              <a:t>name</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t>HAVING </a:t>
            </a:r>
            <a:r>
              <a:rPr lang="zh-CN" altLang="en-US"/>
              <a:t>后面同样只能出现聚合函数或分组属性，而且此处应该在</a:t>
            </a:r>
            <a:r>
              <a:rPr lang="en-US" altLang="zh-CN"/>
              <a:t>WHERE</a:t>
            </a:r>
            <a:r>
              <a:rPr lang="zh-CN" altLang="en-US"/>
              <a:t>中</a:t>
            </a:r>
            <a:r>
              <a:rPr lang="zh-CN" altLang="en-US"/>
              <a:t>筛选</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没错，注意此处</a:t>
            </a:r>
            <a:r>
              <a:rPr lang="en-US" altLang="zh-CN"/>
              <a:t>HAVING</a:t>
            </a:r>
            <a:r>
              <a:rPr lang="zh-CN" altLang="en-US"/>
              <a:t>的</a:t>
            </a:r>
            <a:r>
              <a:rPr lang="zh-CN" altLang="en-US"/>
              <a:t>条件</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相同</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父查询的关系没有出现在子查询</a:t>
            </a:r>
            <a:r>
              <a:rPr lang="zh-CN" altLang="en-US"/>
              <a:t>中</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在同一个专业中选课最多的</a:t>
            </a:r>
            <a:r>
              <a:rPr lang="zh-CN" altLang="en-US"/>
              <a:t>学生</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 </a:t>
            </a:r>
            <a:endParaRPr lang="zh-CN" altLang="en-US"/>
          </a:p>
        </p:txBody>
      </p:sp>
      <p:sp>
        <p:nvSpPr>
          <p:cNvPr id="194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7461CCD-BFA2-43EF-B793-832B14120D94}"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4"/>
          <p:cNvSpPr>
            <a:spLocks noGrp="1" noChangeArrowheads="1"/>
          </p:cNvSpPr>
          <p:nvPr>
            <p:ph type="dt" sz="half" idx="10"/>
          </p:nvPr>
        </p:nvSpPr>
        <p:spPr>
          <a:xfrm>
            <a:off x="609600" y="6400801"/>
            <a:ext cx="2844800" cy="320675"/>
          </a:xfrm>
          <a:prstGeom prst="rect">
            <a:avLst/>
          </a:prstGeom>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2"/>
          <a:stretch>
            <a:fillRect/>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a:blip r:embed="rId12"/>
          <a:stretch>
            <a:fillRect/>
          </a:stretch>
        </a:blipFill>
        <a:effectLst/>
      </p:bgPr>
    </p:bg>
    <p:spTree>
      <p:nvGrpSpPr>
        <p:cNvPr id="1" name=""/>
        <p:cNvGrpSpPr/>
        <p:nvPr/>
      </p:nvGrpSpPr>
      <p:grpSpPr>
        <a:xfrm>
          <a:off x="0" y="0"/>
          <a:ext cx="0" cy="0"/>
          <a:chOff x="0" y="0"/>
          <a:chExt cx="0" cy="0"/>
        </a:xfrm>
      </p:grpSpPr>
      <p:sp>
        <p:nvSpPr>
          <p:cNvPr id="2056" name="Rectangle 2"/>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2057"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blipFill>
          <a:blip r:embed="rId12"/>
          <a:stretch>
            <a:fillRect/>
          </a:stretch>
        </a:blipFill>
        <a:effectLst/>
      </p:bgPr>
    </p:bg>
    <p:spTree>
      <p:nvGrpSpPr>
        <p:cNvPr id="1" name=""/>
        <p:cNvGrpSpPr/>
        <p:nvPr/>
      </p:nvGrpSpPr>
      <p:grpSpPr>
        <a:xfrm>
          <a:off x="0" y="0"/>
          <a:ext cx="0" cy="0"/>
          <a:chOff x="0" y="0"/>
          <a:chExt cx="0" cy="0"/>
        </a:xfrm>
      </p:grpSpPr>
      <p:sp>
        <p:nvSpPr>
          <p:cNvPr id="3080" name="Rectangle 2"/>
          <p:cNvSpPr>
            <a:spLocks noGrp="1" noChangeArrowheads="1"/>
          </p:cNvSpPr>
          <p:nvPr>
            <p:ph type="title"/>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3081"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8.xml"/><Relationship Id="rId2" Type="http://schemas.openxmlformats.org/officeDocument/2006/relationships/tags" Target="../tags/tag2.xml"/><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7.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p:cNvSpPr/>
          <p:nvPr/>
        </p:nvSpPr>
        <p:spPr>
          <a:xfrm>
            <a:off x="1291526" y="4029461"/>
            <a:ext cx="9930363" cy="2246769"/>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rPr>
              <a:t>第三章 关系数据库标准语言</a:t>
            </a:r>
            <a:r>
              <a:rPr lang="en-US" altLang="zh-CN" sz="4800" dirty="0">
                <a:solidFill>
                  <a:schemeClr val="bg1"/>
                </a:solidFill>
                <a:latin typeface="黑体" panose="02010609060101010101" pitchFamily="49" charset="-122"/>
                <a:ea typeface="黑体" panose="02010609060101010101" pitchFamily="49" charset="-122"/>
              </a:rPr>
              <a:t>SQL</a:t>
            </a:r>
            <a:endParaRPr lang="en-US" altLang="zh-CN" sz="4800" dirty="0">
              <a:solidFill>
                <a:schemeClr val="bg1"/>
              </a:solidFill>
              <a:latin typeface="黑体" panose="02010609060101010101" pitchFamily="49" charset="-122"/>
              <a:ea typeface="黑体" panose="02010609060101010101" pitchFamily="49" charset="-122"/>
            </a:endParaRPr>
          </a:p>
          <a:p>
            <a:pPr algn="ctr" eaLnBrk="1" hangingPunct="1"/>
            <a:r>
              <a:rPr lang="zh-CN" altLang="en-US" sz="4800" dirty="0">
                <a:solidFill>
                  <a:schemeClr val="bg1"/>
                </a:solidFill>
                <a:latin typeface="黑体" panose="02010609060101010101" pitchFamily="49" charset="-122"/>
                <a:ea typeface="黑体" panose="02010609060101010101" pitchFamily="49" charset="-122"/>
              </a:rPr>
              <a:t>（续</a:t>
            </a:r>
            <a:r>
              <a:rPr lang="en-US" altLang="zh-CN" sz="4800" dirty="0">
                <a:solidFill>
                  <a:schemeClr val="bg1"/>
                </a:solidFill>
                <a:latin typeface="黑体" panose="02010609060101010101" pitchFamily="49" charset="-122"/>
                <a:ea typeface="黑体" panose="02010609060101010101" pitchFamily="49" charset="-122"/>
              </a:rPr>
              <a:t>1</a:t>
            </a:r>
            <a:r>
              <a:rPr lang="zh-CN" altLang="en-US" sz="4800" dirty="0">
                <a:solidFill>
                  <a:schemeClr val="bg1"/>
                </a:solidFill>
                <a:latin typeface="黑体" panose="02010609060101010101" pitchFamily="49" charset="-122"/>
                <a:ea typeface="黑体" panose="02010609060101010101" pitchFamily="49" charset="-122"/>
              </a:rPr>
              <a:t>）</a:t>
            </a:r>
            <a:endParaRPr lang="en-US" altLang="zh-CN" sz="4800"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6147" name="Rectangle 3"/>
          <p:cNvSpPr>
            <a:spLocks noGrp="1" noChangeArrowheads="1"/>
          </p:cNvSpPr>
          <p:nvPr>
            <p:ph type="body" idx="4294967295"/>
          </p:nvPr>
        </p:nvSpPr>
        <p:spPr>
          <a:xfrm>
            <a:off x="2424114" y="1196975"/>
            <a:ext cx="6911975" cy="4548188"/>
          </a:xfrm>
        </p:spPr>
        <p:txBody>
          <a:bodyPr/>
          <a:lstStyle/>
          <a:p>
            <a:pPr marL="0" indent="0" algn="just" eaLnBrk="1" hangingPunct="1">
              <a:lnSpc>
                <a:spcPct val="150000"/>
              </a:lnSpc>
              <a:buNone/>
            </a:pPr>
            <a:r>
              <a:rPr lang="en-US" altLang="zh-CN"/>
              <a:t>3.3.1 </a:t>
            </a:r>
            <a:r>
              <a:rPr lang="zh-CN" altLang="en-US"/>
              <a:t>单表查询</a:t>
            </a:r>
            <a:endParaRPr lang="zh-CN" altLang="en-US"/>
          </a:p>
          <a:p>
            <a:pPr marL="0" indent="0" algn="just" eaLnBrk="1" hangingPunct="1">
              <a:lnSpc>
                <a:spcPct val="150000"/>
              </a:lnSpc>
              <a:buNone/>
            </a:pPr>
            <a:r>
              <a:rPr lang="en-US" altLang="zh-CN">
                <a:solidFill>
                  <a:srgbClr val="00B050"/>
                </a:solidFill>
              </a:rPr>
              <a:t>3.3.2 </a:t>
            </a:r>
            <a:r>
              <a:rPr lang="zh-CN" altLang="en-US">
                <a:solidFill>
                  <a:srgbClr val="00B050"/>
                </a:solidFill>
              </a:rPr>
              <a:t>连接查询</a:t>
            </a:r>
            <a:endParaRPr lang="zh-CN" altLang="en-US">
              <a:solidFill>
                <a:srgbClr val="00B050"/>
              </a:solidFill>
            </a:endParaRPr>
          </a:p>
          <a:p>
            <a:pPr marL="0" indent="0" algn="just" eaLnBrk="1" hangingPunct="1">
              <a:lnSpc>
                <a:spcPct val="150000"/>
              </a:lnSpc>
              <a:buNone/>
            </a:pPr>
            <a:r>
              <a:rPr lang="en-US" altLang="zh-CN"/>
              <a:t>3.3.3 </a:t>
            </a:r>
            <a:r>
              <a:rPr lang="zh-CN" altLang="en-US"/>
              <a:t>嵌套查询</a:t>
            </a:r>
            <a:endParaRPr lang="zh-CN" altLang="en-US"/>
          </a:p>
          <a:p>
            <a:pPr marL="0" indent="0" algn="just" eaLnBrk="1" hangingPunct="1">
              <a:lnSpc>
                <a:spcPct val="150000"/>
              </a:lnSpc>
              <a:buNone/>
            </a:pPr>
            <a:r>
              <a:rPr lang="en-US" altLang="zh-CN"/>
              <a:t>3.3.4 </a:t>
            </a:r>
            <a:r>
              <a:rPr lang="zh-CN" altLang="en-US"/>
              <a:t>集合查询</a:t>
            </a:r>
            <a:endParaRPr lang="en-US" altLang="zh-CN"/>
          </a:p>
          <a:p>
            <a:pPr marL="0" indent="0" algn="just" eaLnBrk="1" hangingPunct="1">
              <a:lnSpc>
                <a:spcPct val="150000"/>
              </a:lnSpc>
              <a:buNone/>
            </a:pPr>
            <a:r>
              <a:rPr lang="en-US" altLang="zh-CN"/>
              <a:t>3.3.5</a:t>
            </a:r>
            <a:r>
              <a:rPr lang="zh-CN" altLang="en-US"/>
              <a:t>基于派生表的查询</a:t>
            </a:r>
            <a:endParaRPr lang="zh-CN" altLang="en-US"/>
          </a:p>
          <a:p>
            <a:pPr marL="0" indent="0" algn="just" eaLnBrk="1" hangingPunct="1">
              <a:lnSpc>
                <a:spcPct val="150000"/>
              </a:lnSpc>
              <a:buNone/>
            </a:pPr>
            <a:r>
              <a:rPr lang="en-US" altLang="zh-CN"/>
              <a:t>3.3.5 Select</a:t>
            </a:r>
            <a:r>
              <a:rPr lang="zh-CN" altLang="en-US"/>
              <a:t>语句的一般形式 </a:t>
            </a:r>
            <a:endParaRPr lang="zh-CN" altLang="en-US"/>
          </a:p>
          <a:p>
            <a:pPr marL="0" indent="0" algn="just" eaLnBrk="1" hangingPunct="1">
              <a:buNone/>
            </a:pPr>
            <a:r>
              <a:rPr lang="zh-CN" altLang="en-US"/>
              <a:t> </a:t>
            </a:r>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p:txBody>
          <a:bodyPr/>
          <a:lstStyle/>
          <a:p>
            <a:pPr eaLnBrk="1" hangingPunct="1"/>
            <a:r>
              <a:rPr lang="en-US" altLang="zh-CN" sz="3600"/>
              <a:t>3.3.2 </a:t>
            </a:r>
            <a:r>
              <a:rPr lang="zh-CN" altLang="en-US" sz="3600"/>
              <a:t>连接查询 </a:t>
            </a:r>
            <a:endParaRPr lang="zh-CN" altLang="en-US" sz="3600"/>
          </a:p>
        </p:txBody>
      </p:sp>
      <p:sp>
        <p:nvSpPr>
          <p:cNvPr id="47107" name="Rectangle 3"/>
          <p:cNvSpPr>
            <a:spLocks noGrp="1" noChangeArrowheads="1"/>
          </p:cNvSpPr>
          <p:nvPr>
            <p:ph type="body" idx="4294967295"/>
          </p:nvPr>
        </p:nvSpPr>
        <p:spPr>
          <a:xfrm>
            <a:off x="1847851" y="1030289"/>
            <a:ext cx="8505825" cy="5494337"/>
          </a:xfrm>
        </p:spPr>
        <p:txBody>
          <a:bodyPr/>
          <a:lstStyle/>
          <a:p>
            <a:pPr algn="just" eaLnBrk="1" hangingPunct="1">
              <a:lnSpc>
                <a:spcPct val="150000"/>
              </a:lnSpc>
            </a:pPr>
            <a:r>
              <a:rPr lang="zh-CN" altLang="en-US"/>
              <a:t>连接查询：同时涉及两个以上的表的查询</a:t>
            </a:r>
            <a:endParaRPr lang="zh-CN" altLang="en-US"/>
          </a:p>
          <a:p>
            <a:pPr algn="just" eaLnBrk="1" hangingPunct="1"/>
            <a:r>
              <a:rPr lang="zh-CN" altLang="en-US"/>
              <a:t>连接条件或连接谓词：用来连接两个表的条件</a:t>
            </a:r>
            <a:endParaRPr lang="zh-CN" altLang="en-US"/>
          </a:p>
          <a:p>
            <a:pPr algn="just" eaLnBrk="1" hangingPunct="1">
              <a:buFont typeface="Wingdings" panose="05000000000000000000" pitchFamily="2" charset="2"/>
              <a:buNone/>
            </a:pPr>
            <a:r>
              <a:rPr lang="zh-CN" altLang="en-US"/>
              <a:t>	 一般格式：</a:t>
            </a:r>
            <a:endParaRPr lang="zh-CN" altLang="en-US"/>
          </a:p>
          <a:p>
            <a:pPr lvl="1" eaLnBrk="1" hangingPunct="1">
              <a:lnSpc>
                <a:spcPct val="150000"/>
              </a:lnSpc>
            </a:pPr>
            <a:r>
              <a:rPr lang="en-US" altLang="zh-CN"/>
              <a:t>[&lt;</a:t>
            </a:r>
            <a:r>
              <a:rPr lang="zh-CN" altLang="en-US"/>
              <a:t>表名</a:t>
            </a:r>
            <a:r>
              <a:rPr lang="en-US" altLang="zh-CN"/>
              <a:t>1&gt;.]&lt;</a:t>
            </a:r>
            <a:r>
              <a:rPr lang="zh-CN" altLang="en-US"/>
              <a:t>列名</a:t>
            </a:r>
            <a:r>
              <a:rPr lang="en-US" altLang="zh-CN"/>
              <a:t>1&gt;  </a:t>
            </a:r>
            <a:r>
              <a:rPr lang="en-US" altLang="zh-CN">
                <a:solidFill>
                  <a:srgbClr val="D75B5B"/>
                </a:solidFill>
              </a:rPr>
              <a:t>&lt;</a:t>
            </a:r>
            <a:r>
              <a:rPr lang="zh-CN" altLang="en-US">
                <a:solidFill>
                  <a:srgbClr val="D75B5B"/>
                </a:solidFill>
              </a:rPr>
              <a:t>比较运算符</a:t>
            </a:r>
            <a:r>
              <a:rPr lang="en-US" altLang="zh-CN">
                <a:solidFill>
                  <a:srgbClr val="D75B5B"/>
                </a:solidFill>
              </a:rPr>
              <a:t>&gt;</a:t>
            </a:r>
            <a:r>
              <a:rPr lang="en-US" altLang="zh-CN"/>
              <a:t>  [&lt;</a:t>
            </a:r>
            <a:r>
              <a:rPr lang="zh-CN" altLang="en-US"/>
              <a:t>表名</a:t>
            </a:r>
            <a:r>
              <a:rPr lang="en-US" altLang="zh-CN"/>
              <a:t>2&gt;.]&lt;</a:t>
            </a:r>
            <a:r>
              <a:rPr lang="zh-CN" altLang="en-US"/>
              <a:t>列名</a:t>
            </a:r>
            <a:r>
              <a:rPr lang="en-US" altLang="zh-CN"/>
              <a:t>2&gt;</a:t>
            </a:r>
            <a:endParaRPr lang="en-US" altLang="zh-CN"/>
          </a:p>
          <a:p>
            <a:pPr lvl="1" eaLnBrk="1" hangingPunct="1">
              <a:lnSpc>
                <a:spcPct val="150000"/>
              </a:lnSpc>
            </a:pPr>
            <a:r>
              <a:rPr lang="en-US" altLang="zh-CN"/>
              <a:t>[&lt;</a:t>
            </a:r>
            <a:r>
              <a:rPr lang="zh-CN" altLang="en-US"/>
              <a:t>表名</a:t>
            </a:r>
            <a:r>
              <a:rPr lang="en-US" altLang="zh-CN"/>
              <a:t>1&gt;.]&lt;</a:t>
            </a:r>
            <a:r>
              <a:rPr lang="zh-CN" altLang="en-US"/>
              <a:t>列名</a:t>
            </a:r>
            <a:r>
              <a:rPr lang="en-US" altLang="zh-CN"/>
              <a:t>1&gt; </a:t>
            </a:r>
            <a:r>
              <a:rPr lang="en-US" altLang="zh-CN">
                <a:solidFill>
                  <a:srgbClr val="D75B5B"/>
                </a:solidFill>
              </a:rPr>
              <a:t>BETWEEN</a:t>
            </a:r>
            <a:r>
              <a:rPr lang="en-US" altLang="zh-CN"/>
              <a:t> [&lt;</a:t>
            </a:r>
            <a:r>
              <a:rPr lang="zh-CN" altLang="en-US"/>
              <a:t>表名</a:t>
            </a:r>
            <a:r>
              <a:rPr lang="en-US" altLang="zh-CN"/>
              <a:t>2&gt;.]&lt;</a:t>
            </a:r>
            <a:r>
              <a:rPr lang="zh-CN" altLang="en-US"/>
              <a:t>列名</a:t>
            </a:r>
            <a:r>
              <a:rPr lang="en-US" altLang="zh-CN"/>
              <a:t>2&gt; </a:t>
            </a:r>
            <a:r>
              <a:rPr lang="en-US" altLang="zh-CN">
                <a:solidFill>
                  <a:srgbClr val="D75B5B"/>
                </a:solidFill>
              </a:rPr>
              <a:t>AND</a:t>
            </a:r>
            <a:r>
              <a:rPr lang="en-US" altLang="zh-CN"/>
              <a:t> [&lt;</a:t>
            </a:r>
            <a:r>
              <a:rPr lang="zh-CN" altLang="en-US"/>
              <a:t>表名</a:t>
            </a:r>
            <a:r>
              <a:rPr lang="en-US" altLang="zh-CN"/>
              <a:t>2&gt;.]&lt;</a:t>
            </a:r>
            <a:r>
              <a:rPr lang="zh-CN" altLang="en-US"/>
              <a:t>列名</a:t>
            </a:r>
            <a:r>
              <a:rPr lang="en-US" altLang="zh-CN"/>
              <a:t>3&gt;</a:t>
            </a:r>
            <a:endParaRPr lang="en-US" altLang="zh-CN"/>
          </a:p>
          <a:p>
            <a:pPr algn="just" eaLnBrk="1" hangingPunct="1">
              <a:lnSpc>
                <a:spcPct val="150000"/>
              </a:lnSpc>
            </a:pPr>
            <a:r>
              <a:rPr lang="zh-CN" altLang="en-US"/>
              <a:t>连接字段：连接谓词中的列名称</a:t>
            </a:r>
            <a:endParaRPr lang="zh-CN" altLang="en-US"/>
          </a:p>
          <a:p>
            <a:pPr lvl="1" algn="just" eaLnBrk="1" hangingPunct="1"/>
            <a:r>
              <a:rPr lang="zh-CN" altLang="en-US"/>
              <a:t>连接条件中的各连接字段类型必须是可比的，但名字不必相同</a:t>
            </a:r>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48131" name="Rectangle 3"/>
          <p:cNvSpPr>
            <a:spLocks noGrp="1" noChangeArrowheads="1"/>
          </p:cNvSpPr>
          <p:nvPr>
            <p:ph type="body" idx="4294967295"/>
          </p:nvPr>
        </p:nvSpPr>
        <p:spPr/>
        <p:txBody>
          <a:bodyPr/>
          <a:lstStyle/>
          <a:p>
            <a:pPr lvl="1">
              <a:buFont typeface="Wingdings" panose="05000000000000000000" pitchFamily="2" charset="2"/>
              <a:buNone/>
            </a:pPr>
            <a:endParaRPr lang="en-US" altLang="zh-CN"/>
          </a:p>
          <a:p>
            <a:pPr lvl="1">
              <a:lnSpc>
                <a:spcPct val="150000"/>
              </a:lnSpc>
              <a:buFont typeface="Wingdings" panose="05000000000000000000" pitchFamily="2" charset="2"/>
              <a:buNone/>
            </a:pPr>
            <a:r>
              <a:rPr lang="en-US" altLang="zh-CN" sz="2800">
                <a:solidFill>
                  <a:srgbClr val="7030A0"/>
                </a:solidFill>
              </a:rPr>
              <a:t>1.</a:t>
            </a:r>
            <a:r>
              <a:rPr lang="zh-CN" altLang="en-US" sz="2800">
                <a:solidFill>
                  <a:srgbClr val="7030A0"/>
                </a:solidFill>
              </a:rPr>
              <a:t>等值与非等值连接查询 </a:t>
            </a:r>
            <a:endParaRPr lang="zh-CN" altLang="en-US" sz="2800">
              <a:solidFill>
                <a:srgbClr val="7030A0"/>
              </a:solidFill>
            </a:endParaRPr>
          </a:p>
          <a:p>
            <a:pPr lvl="1">
              <a:lnSpc>
                <a:spcPct val="150000"/>
              </a:lnSpc>
              <a:buFont typeface="Wingdings" panose="05000000000000000000" pitchFamily="2" charset="2"/>
              <a:buNone/>
            </a:pPr>
            <a:r>
              <a:rPr lang="en-US" altLang="zh-CN" sz="2800"/>
              <a:t>2.</a:t>
            </a:r>
            <a:r>
              <a:rPr lang="zh-CN" altLang="en-US" sz="2800"/>
              <a:t>自身连接</a:t>
            </a:r>
            <a:endParaRPr lang="zh-CN" altLang="en-US" sz="2800"/>
          </a:p>
          <a:p>
            <a:pPr lvl="1">
              <a:lnSpc>
                <a:spcPct val="150000"/>
              </a:lnSpc>
              <a:buFont typeface="Wingdings" panose="05000000000000000000" pitchFamily="2" charset="2"/>
              <a:buNone/>
            </a:pPr>
            <a:r>
              <a:rPr lang="en-US" altLang="zh-CN" sz="2800"/>
              <a:t>3.</a:t>
            </a:r>
            <a:r>
              <a:rPr lang="zh-CN" altLang="en-US" sz="2800"/>
              <a:t>外连接</a:t>
            </a:r>
            <a:endParaRPr lang="zh-CN" altLang="en-US" sz="2800"/>
          </a:p>
          <a:p>
            <a:pPr lvl="1">
              <a:lnSpc>
                <a:spcPct val="150000"/>
              </a:lnSpc>
              <a:buFont typeface="Wingdings" panose="05000000000000000000" pitchFamily="2" charset="2"/>
              <a:buNone/>
            </a:pPr>
            <a:r>
              <a:rPr lang="en-US" altLang="zh-CN" sz="2800"/>
              <a:t>4.</a:t>
            </a:r>
            <a:r>
              <a:rPr lang="zh-CN" altLang="en-US" sz="2800"/>
              <a:t>多表连接</a:t>
            </a:r>
            <a:endParaRPr lang="zh-CN" altLang="en-US" sz="2800"/>
          </a:p>
          <a:p>
            <a:pPr lvl="1">
              <a:buFont typeface="Wingdings" panose="05000000000000000000" pitchFamily="2" charset="2"/>
              <a:buNone/>
            </a:pPr>
            <a:endParaRPr lang="en-US" altLang="zh-CN" sz="280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p:txBody>
          <a:bodyPr/>
          <a:lstStyle/>
          <a:p>
            <a:pPr eaLnBrk="1" hangingPunct="1"/>
            <a:r>
              <a:rPr lang="en-US" altLang="zh-CN" sz="3600"/>
              <a:t>1</a:t>
            </a:r>
            <a:r>
              <a:rPr lang="zh-CN" altLang="en-US" sz="3600"/>
              <a:t>. 等值与非等值连接查询 </a:t>
            </a:r>
            <a:endParaRPr lang="zh-CN" altLang="en-US" sz="3600"/>
          </a:p>
        </p:txBody>
      </p:sp>
      <p:sp>
        <p:nvSpPr>
          <p:cNvPr id="9219" name="Rectangle 3"/>
          <p:cNvSpPr>
            <a:spLocks noGrp="1" noChangeArrowheads="1"/>
          </p:cNvSpPr>
          <p:nvPr>
            <p:ph type="body" idx="4294967295"/>
          </p:nvPr>
        </p:nvSpPr>
        <p:spPr>
          <a:xfrm>
            <a:off x="1785938" y="1268413"/>
            <a:ext cx="8424862" cy="4114800"/>
          </a:xfrm>
        </p:spPr>
        <p:txBody>
          <a:bodyPr/>
          <a:lstStyle/>
          <a:p>
            <a:pPr algn="just" eaLnBrk="1" hangingPunct="1">
              <a:lnSpc>
                <a:spcPct val="120000"/>
              </a:lnSpc>
            </a:pPr>
            <a:r>
              <a:rPr lang="zh-CN" altLang="en-US" dirty="0"/>
              <a:t>等值连接：连接运算符为</a:t>
            </a:r>
            <a:r>
              <a:rPr lang="en-US" altLang="zh-CN" dirty="0"/>
              <a:t>=</a:t>
            </a:r>
            <a:endParaRPr lang="en-US" altLang="zh-CN" dirty="0"/>
          </a:p>
          <a:p>
            <a:pPr algn="just" eaLnBrk="1" hangingPunct="1">
              <a:lnSpc>
                <a:spcPct val="120000"/>
              </a:lnSpc>
              <a:buFont typeface="Wingdings" panose="05000000000000000000" pitchFamily="2" charset="2"/>
              <a:buNone/>
            </a:pPr>
            <a:r>
              <a:rPr lang="en-US" altLang="zh-CN" sz="2400" dirty="0"/>
              <a:t>[</a:t>
            </a:r>
            <a:r>
              <a:rPr lang="zh-CN" altLang="en-US" sz="2400" dirty="0"/>
              <a:t>例</a:t>
            </a:r>
            <a:r>
              <a:rPr lang="en-US" altLang="zh-CN" sz="2400" dirty="0"/>
              <a:t>3.51]</a:t>
            </a:r>
            <a:r>
              <a:rPr lang="zh-CN" altLang="en-US" sz="2400" dirty="0"/>
              <a:t>查询每个学生及其选修课程的情况</a:t>
            </a:r>
            <a:endParaRPr lang="en-US" altLang="zh-CN" sz="2400" dirty="0"/>
          </a:p>
          <a:p>
            <a:pPr algn="just" eaLnBrk="1" hangingPunct="1">
              <a:lnSpc>
                <a:spcPct val="120000"/>
              </a:lnSpc>
              <a:buFont typeface="Wingdings" panose="05000000000000000000" pitchFamily="2" charset="2"/>
              <a:buNone/>
            </a:pPr>
            <a:r>
              <a:rPr lang="en-US" altLang="zh-CN" sz="2400" dirty="0"/>
              <a:t>	</a:t>
            </a:r>
            <a:r>
              <a:rPr lang="en-US" altLang="zh-CN" sz="2000" dirty="0"/>
              <a:t>SELECT Student.*, SC.*</a:t>
            </a:r>
            <a:endParaRPr lang="en-US" altLang="zh-CN" sz="2000" dirty="0"/>
          </a:p>
          <a:p>
            <a:pPr algn="just" eaLnBrk="1" hangingPunct="1">
              <a:lnSpc>
                <a:spcPct val="120000"/>
              </a:lnSpc>
              <a:buFont typeface="Wingdings" panose="05000000000000000000" pitchFamily="2" charset="2"/>
              <a:buNone/>
            </a:pPr>
            <a:r>
              <a:rPr lang="en-US" altLang="zh-CN" sz="2000" dirty="0"/>
              <a:t>		FROM    </a:t>
            </a:r>
            <a:r>
              <a:rPr lang="en-US" altLang="zh-CN" sz="2000" dirty="0" err="1"/>
              <a:t>Student,SC</a:t>
            </a:r>
            <a:endParaRPr lang="en-US" altLang="zh-CN" sz="2000" dirty="0"/>
          </a:p>
          <a:p>
            <a:pPr algn="just" eaLnBrk="1" hangingPunct="1">
              <a:lnSpc>
                <a:spcPct val="120000"/>
              </a:lnSpc>
              <a:buFont typeface="Wingdings" panose="05000000000000000000" pitchFamily="2" charset="2"/>
              <a:buNone/>
            </a:pPr>
            <a:r>
              <a:rPr lang="en-US" altLang="zh-CN" sz="2000" dirty="0"/>
              <a:t>		WHERE </a:t>
            </a:r>
            <a:r>
              <a:rPr lang="en-US" altLang="zh-CN" sz="2000" dirty="0" err="1"/>
              <a:t>Student.Sno</a:t>
            </a:r>
            <a:r>
              <a:rPr lang="en-US" altLang="zh-CN" sz="2000" dirty="0"/>
              <a:t>=</a:t>
            </a:r>
            <a:r>
              <a:rPr lang="en-US" altLang="zh-CN" sz="2000" dirty="0" err="1"/>
              <a:t>SC.Sno</a:t>
            </a:r>
            <a:endParaRPr lang="en-US" altLang="zh-CN" sz="2000" dirty="0"/>
          </a:p>
          <a:p>
            <a:pPr algn="just" eaLnBrk="1" hangingPunct="1">
              <a:lnSpc>
                <a:spcPct val="120000"/>
              </a:lnSpc>
              <a:buFont typeface="Wingdings" panose="05000000000000000000" pitchFamily="2" charset="2"/>
              <a:buNone/>
            </a:pPr>
            <a:r>
              <a:rPr lang="en-US" altLang="zh-CN" sz="1800" dirty="0"/>
              <a:t>                                   /* </a:t>
            </a:r>
            <a:r>
              <a:rPr lang="zh-CN" altLang="en-US" sz="1800" dirty="0"/>
              <a:t>将</a:t>
            </a:r>
            <a:r>
              <a:rPr lang="en-US" altLang="zh-CN" sz="1800" dirty="0"/>
              <a:t>Student</a:t>
            </a:r>
            <a:r>
              <a:rPr lang="zh-CN" altLang="en-US" sz="1800" dirty="0"/>
              <a:t>与</a:t>
            </a:r>
            <a:r>
              <a:rPr lang="en-US" altLang="zh-CN" sz="1800" dirty="0"/>
              <a:t>SC</a:t>
            </a:r>
            <a:r>
              <a:rPr lang="zh-CN" altLang="en-US" sz="1800" dirty="0"/>
              <a:t>中同一学生的元组连接起来 *</a:t>
            </a:r>
            <a:r>
              <a:rPr lang="en-US" altLang="zh-CN" sz="1800" dirty="0"/>
              <a:t>/ </a:t>
            </a:r>
            <a:endParaRPr lang="zh-CN" altLang="en-US" sz="1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12"/>
          <p:cNvSpPr>
            <a:spLocks noGrp="1" noChangeArrowheads="1"/>
          </p:cNvSpPr>
          <p:nvPr>
            <p:ph type="title" idx="4294967295"/>
          </p:nvPr>
        </p:nvSpPr>
        <p:spPr>
          <a:xfrm>
            <a:off x="2424113" y="188913"/>
            <a:ext cx="7391400" cy="563562"/>
          </a:xfrm>
        </p:spPr>
        <p:txBody>
          <a:bodyPr/>
          <a:lstStyle/>
          <a:p>
            <a:pPr eaLnBrk="1" hangingPunct="1"/>
            <a:r>
              <a:rPr lang="zh-CN" altLang="en-US" sz="3600"/>
              <a:t>等值与非等值连接查询（续）</a:t>
            </a:r>
            <a:endParaRPr lang="zh-CN" altLang="en-US" sz="3600"/>
          </a:p>
        </p:txBody>
      </p:sp>
      <p:sp>
        <p:nvSpPr>
          <p:cNvPr id="10292" name="Text Box 423"/>
          <p:cNvSpPr txBox="1">
            <a:spLocks noChangeArrowheads="1"/>
          </p:cNvSpPr>
          <p:nvPr/>
        </p:nvSpPr>
        <p:spPr bwMode="auto">
          <a:xfrm>
            <a:off x="1419226" y="1257300"/>
            <a:ext cx="8939213" cy="369888"/>
          </a:xfrm>
          <a:prstGeom prst="rect">
            <a:avLst/>
          </a:prstGeom>
          <a:noFill/>
          <a:ln>
            <a:noFill/>
          </a:ln>
        </p:spPr>
        <p:txBody>
          <a:bodyPr wrap="none">
            <a:spAutoFit/>
          </a:bodyPr>
          <a:lstStyle>
            <a:lvl1pPr marL="342900" indent="269875">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a:spcBef>
                <a:spcPct val="0"/>
              </a:spcBef>
              <a:buSzTx/>
              <a:buFont typeface="Arial" panose="020B0604020202020204" pitchFamily="34" charset="0"/>
              <a:buNone/>
            </a:pPr>
            <a:r>
              <a:rPr lang="zh-CN" altLang="zh-CN" sz="1800"/>
              <a:t>假设</a:t>
            </a:r>
            <a:r>
              <a:rPr lang="en-US" altLang="zh-CN" sz="1800"/>
              <a:t>Student</a:t>
            </a:r>
            <a:r>
              <a:rPr lang="zh-CN" altLang="zh-CN" sz="1800"/>
              <a:t>表、</a:t>
            </a:r>
            <a:r>
              <a:rPr lang="en-US" altLang="zh-CN" sz="1800"/>
              <a:t>SC</a:t>
            </a:r>
            <a:r>
              <a:rPr lang="zh-CN" altLang="zh-CN" sz="1800"/>
              <a:t>表的数据如第</a:t>
            </a:r>
            <a:r>
              <a:rPr lang="en-US" altLang="zh-CN" sz="1800"/>
              <a:t>2</a:t>
            </a:r>
            <a:r>
              <a:rPr lang="zh-CN" altLang="zh-CN" sz="1800"/>
              <a:t>章图</a:t>
            </a:r>
            <a:r>
              <a:rPr lang="en-US" altLang="zh-CN" sz="1800"/>
              <a:t>2.1</a:t>
            </a:r>
            <a:r>
              <a:rPr lang="zh-CN" altLang="zh-CN" sz="1800"/>
              <a:t>所示，本查询的执行结果如</a:t>
            </a:r>
            <a:r>
              <a:rPr lang="zh-CN" altLang="en-US" sz="1800"/>
              <a:t>下</a:t>
            </a:r>
            <a:r>
              <a:rPr lang="zh-CN" altLang="zh-CN" sz="1800"/>
              <a:t>图所示</a:t>
            </a:r>
            <a:endParaRPr lang="zh-CN" altLang="zh-CN" sz="1800"/>
          </a:p>
        </p:txBody>
      </p:sp>
      <p:graphicFrame>
        <p:nvGraphicFramePr>
          <p:cNvPr id="2" name="表格 1"/>
          <p:cNvGraphicFramePr>
            <a:graphicFrameLocks noGrp="1"/>
          </p:cNvGraphicFramePr>
          <p:nvPr/>
        </p:nvGraphicFramePr>
        <p:xfrm>
          <a:off x="1127448" y="1844676"/>
          <a:ext cx="10441162" cy="4324350"/>
        </p:xfrm>
        <a:graphic>
          <a:graphicData uri="http://schemas.openxmlformats.org/drawingml/2006/table">
            <a:tbl>
              <a:tblPr/>
              <a:tblGrid>
                <a:gridCol w="1152128"/>
                <a:gridCol w="720080"/>
                <a:gridCol w="827110"/>
                <a:gridCol w="1042738"/>
                <a:gridCol w="1306376"/>
                <a:gridCol w="1217841"/>
                <a:gridCol w="783038"/>
                <a:gridCol w="694502"/>
                <a:gridCol w="958140"/>
                <a:gridCol w="1739209"/>
              </a:tblGrid>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Student.Sno</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Sname</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Ssex</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SC.Sno</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Grade</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Semester</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Teachingclass</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85</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20192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96</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87</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65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80</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20192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65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98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65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71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815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p:txBody>
          <a:bodyPr/>
          <a:lstStyle/>
          <a:p>
            <a:pPr eaLnBrk="1" hangingPunct="1"/>
            <a:r>
              <a:rPr lang="zh-CN" altLang="en-US" sz="3600"/>
              <a:t>连接操作的执行过程</a:t>
            </a:r>
            <a:endParaRPr lang="zh-CN" altLang="en-US" sz="3600"/>
          </a:p>
        </p:txBody>
      </p:sp>
      <p:sp>
        <p:nvSpPr>
          <p:cNvPr id="51203" name="Rectangle 3"/>
          <p:cNvSpPr>
            <a:spLocks noGrp="1" noChangeArrowheads="1"/>
          </p:cNvSpPr>
          <p:nvPr>
            <p:ph type="body" idx="4294967295"/>
          </p:nvPr>
        </p:nvSpPr>
        <p:spPr>
          <a:xfrm>
            <a:off x="1055440" y="785813"/>
            <a:ext cx="10153128" cy="5543550"/>
          </a:xfrm>
        </p:spPr>
        <p:txBody>
          <a:bodyPr/>
          <a:lstStyle/>
          <a:p>
            <a:pPr lvl="1" algn="just">
              <a:lnSpc>
                <a:spcPct val="120000"/>
              </a:lnSpc>
            </a:pPr>
            <a:endParaRPr lang="en-US" altLang="zh-CN" dirty="0"/>
          </a:p>
          <a:p>
            <a:pPr lvl="1" algn="just">
              <a:lnSpc>
                <a:spcPct val="150000"/>
              </a:lnSpc>
            </a:pPr>
            <a:r>
              <a:rPr lang="zh-CN" altLang="en-US" dirty="0"/>
              <a:t>首先在表</a:t>
            </a:r>
            <a:r>
              <a:rPr lang="en-US" altLang="zh-CN" dirty="0"/>
              <a:t>Student</a:t>
            </a:r>
            <a:r>
              <a:rPr lang="zh-CN" altLang="en-US" dirty="0"/>
              <a:t>中找到第一个元组，然后从头开始扫描</a:t>
            </a:r>
            <a:r>
              <a:rPr lang="en-US" altLang="zh-CN" dirty="0"/>
              <a:t>SC</a:t>
            </a:r>
            <a:r>
              <a:rPr lang="zh-CN" altLang="en-US" dirty="0"/>
              <a:t>表，逐一查找与</a:t>
            </a:r>
            <a:r>
              <a:rPr lang="en-US" altLang="zh-CN" dirty="0"/>
              <a:t>Student</a:t>
            </a:r>
            <a:r>
              <a:rPr lang="zh-CN" altLang="en-US" dirty="0"/>
              <a:t>第一个元组的</a:t>
            </a:r>
            <a:r>
              <a:rPr lang="en-US" altLang="zh-CN" dirty="0" err="1"/>
              <a:t>Sno</a:t>
            </a:r>
            <a:r>
              <a:rPr lang="zh-CN" altLang="en-US" dirty="0"/>
              <a:t>相等的</a:t>
            </a:r>
            <a:r>
              <a:rPr lang="en-US" altLang="zh-CN" dirty="0"/>
              <a:t>SC</a:t>
            </a:r>
            <a:r>
              <a:rPr lang="zh-CN" altLang="en-US" dirty="0"/>
              <a:t>元组，找到后就将</a:t>
            </a:r>
            <a:r>
              <a:rPr lang="en-US" altLang="zh-CN" dirty="0"/>
              <a:t>Student</a:t>
            </a:r>
            <a:r>
              <a:rPr lang="zh-CN" altLang="en-US" dirty="0"/>
              <a:t>中的第一个元组与该元组拼接起来，形成结果表中一个</a:t>
            </a:r>
            <a:r>
              <a:rPr lang="zh-CN" altLang="en-US" dirty="0" smtClean="0"/>
              <a:t>元组</a:t>
            </a:r>
            <a:endParaRPr lang="zh-CN" altLang="en-US" dirty="0"/>
          </a:p>
          <a:p>
            <a:pPr lvl="1" algn="just">
              <a:lnSpc>
                <a:spcPct val="150000"/>
              </a:lnSpc>
            </a:pPr>
            <a:r>
              <a:rPr lang="en-US" altLang="zh-CN" dirty="0"/>
              <a:t>SC</a:t>
            </a:r>
            <a:r>
              <a:rPr lang="zh-CN" altLang="en-US" dirty="0"/>
              <a:t>全部查找完后，再找</a:t>
            </a:r>
            <a:r>
              <a:rPr lang="en-US" altLang="zh-CN" dirty="0"/>
              <a:t>Student</a:t>
            </a:r>
            <a:r>
              <a:rPr lang="zh-CN" altLang="en-US" dirty="0"/>
              <a:t>中第二个元组，然后再从头开始扫描</a:t>
            </a:r>
            <a:r>
              <a:rPr lang="en-US" altLang="zh-CN" dirty="0"/>
              <a:t>SC</a:t>
            </a:r>
            <a:r>
              <a:rPr lang="zh-CN" altLang="en-US" dirty="0"/>
              <a:t>，逐一查找满足连接条件的元组，找到后就将</a:t>
            </a:r>
            <a:r>
              <a:rPr lang="en-US" altLang="zh-CN" dirty="0"/>
              <a:t>Student</a:t>
            </a:r>
            <a:r>
              <a:rPr lang="zh-CN" altLang="en-US" dirty="0"/>
              <a:t>中的第二个元组与该元组拼接起来，形成结果表中一个元组。</a:t>
            </a:r>
            <a:endParaRPr lang="zh-CN" altLang="en-US" dirty="0"/>
          </a:p>
          <a:p>
            <a:pPr lvl="1" algn="just">
              <a:lnSpc>
                <a:spcPct val="150000"/>
              </a:lnSpc>
            </a:pPr>
            <a:r>
              <a:rPr lang="zh-CN" altLang="en-US" dirty="0"/>
              <a:t>重复上述操作，直到</a:t>
            </a:r>
            <a:r>
              <a:rPr lang="en-US" altLang="zh-CN" dirty="0"/>
              <a:t>Student</a:t>
            </a:r>
            <a:r>
              <a:rPr lang="zh-CN" altLang="en-US" dirty="0"/>
              <a:t>中的全部元组都处理完毕</a:t>
            </a:r>
            <a:endParaRPr lang="en-US" altLang="zh-CN" dirty="0"/>
          </a:p>
          <a:p>
            <a:pPr lvl="1" algn="just">
              <a:lnSpc>
                <a:spcPct val="120000"/>
              </a:lnSpc>
              <a:buFont typeface="Wingdings" panose="05000000000000000000" pitchFamily="2" charset="2"/>
              <a:buNone/>
            </a:pPr>
            <a:r>
              <a:rPr lang="zh-CN" altLang="en-US" dirty="0"/>
              <a:t> </a:t>
            </a:r>
            <a:endParaRPr lang="zh-CN" altLang="en-US" dirty="0"/>
          </a:p>
        </p:txBody>
      </p:sp>
      <p:sp>
        <p:nvSpPr>
          <p:cNvPr id="2" name="文本框 1"/>
          <p:cNvSpPr txBox="1"/>
          <p:nvPr/>
        </p:nvSpPr>
        <p:spPr>
          <a:xfrm>
            <a:off x="551180" y="5661660"/>
            <a:ext cx="11367770" cy="583565"/>
          </a:xfrm>
          <a:prstGeom prst="rect">
            <a:avLst/>
          </a:prstGeom>
          <a:noFill/>
        </p:spPr>
        <p:txBody>
          <a:bodyPr wrap="square" rtlCol="0" anchor="t">
            <a:spAutoFit/>
          </a:bodyPr>
          <a:p>
            <a:pPr algn="ctr" eaLnBrk="1" hangingPunct="1"/>
            <a:r>
              <a:rPr lang="en-US" altLang="zh-CN" sz="3200">
                <a:sym typeface="+mn-ea"/>
              </a:rPr>
              <a:t>*</a:t>
            </a:r>
            <a:r>
              <a:rPr lang="zh-CN" altLang="en-US" sz="3200">
                <a:sym typeface="+mn-ea"/>
              </a:rPr>
              <a:t>连接操作有多种实现方式，此处介绍的是最简单的</a:t>
            </a:r>
            <a:endParaRPr lang="zh-CN" altLang="en-US" sz="3200">
              <a:sym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12"/>
          <p:cNvSpPr>
            <a:spLocks noGrp="1" noChangeArrowheads="1"/>
          </p:cNvSpPr>
          <p:nvPr>
            <p:ph type="title" idx="4294967295"/>
          </p:nvPr>
        </p:nvSpPr>
        <p:spPr>
          <a:xfrm>
            <a:off x="2424113" y="188913"/>
            <a:ext cx="7391400" cy="563562"/>
          </a:xfrm>
        </p:spPr>
        <p:txBody>
          <a:bodyPr/>
          <a:lstStyle/>
          <a:p>
            <a:pPr eaLnBrk="1" hangingPunct="1"/>
            <a:r>
              <a:rPr lang="zh-CN" altLang="en-US" sz="3600"/>
              <a:t>等值与非等值连接查询（续）</a:t>
            </a:r>
            <a:endParaRPr lang="zh-CN" altLang="en-US" sz="3600"/>
          </a:p>
        </p:txBody>
      </p:sp>
      <p:sp>
        <p:nvSpPr>
          <p:cNvPr id="10292" name="Text Box 423"/>
          <p:cNvSpPr txBox="1">
            <a:spLocks noChangeArrowheads="1"/>
          </p:cNvSpPr>
          <p:nvPr/>
        </p:nvSpPr>
        <p:spPr bwMode="auto">
          <a:xfrm>
            <a:off x="1199456" y="1257301"/>
            <a:ext cx="9505055" cy="1200329"/>
          </a:xfrm>
          <a:prstGeom prst="rect">
            <a:avLst/>
          </a:prstGeom>
          <a:noFill/>
          <a:ln>
            <a:noFill/>
          </a:ln>
        </p:spPr>
        <p:txBody>
          <a:bodyPr wrap="square">
            <a:spAutoFit/>
          </a:bodyPr>
          <a:lstStyle>
            <a:lvl1pPr marL="342900" indent="269875">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SzTx/>
              <a:buFont typeface="Arial" panose="020B0604020202020204" pitchFamily="34" charset="0"/>
              <a:buNone/>
            </a:pPr>
            <a:r>
              <a:rPr lang="zh-CN" altLang="zh-CN" sz="2400" dirty="0"/>
              <a:t>若在等值连接中把目标列中重复的属性列去掉则为自然连接，</a:t>
            </a:r>
            <a:endParaRPr lang="en-US" altLang="zh-CN" sz="2400" dirty="0"/>
          </a:p>
          <a:p>
            <a:pPr algn="just">
              <a:lnSpc>
                <a:spcPct val="150000"/>
              </a:lnSpc>
              <a:spcBef>
                <a:spcPct val="0"/>
              </a:spcBef>
              <a:buSzTx/>
              <a:buFont typeface="Arial" panose="020B0604020202020204" pitchFamily="34" charset="0"/>
              <a:buNone/>
            </a:pPr>
            <a:r>
              <a:rPr lang="zh-CN" altLang="zh-CN" sz="2400" dirty="0"/>
              <a:t>如［例</a:t>
            </a:r>
            <a:r>
              <a:rPr lang="en-US" altLang="zh-CN" sz="2400" dirty="0"/>
              <a:t>3.52</a:t>
            </a:r>
            <a:r>
              <a:rPr lang="zh-CN" altLang="zh-CN" sz="2400" dirty="0"/>
              <a:t>］中去掉了</a:t>
            </a:r>
            <a:r>
              <a:rPr lang="en-US" altLang="zh-CN" sz="2400" dirty="0"/>
              <a:t>SC</a:t>
            </a:r>
            <a:r>
              <a:rPr lang="zh-CN" altLang="zh-CN" sz="2400" dirty="0"/>
              <a:t>表中的</a:t>
            </a:r>
            <a:r>
              <a:rPr lang="en-US" altLang="zh-CN" sz="2400" dirty="0" err="1"/>
              <a:t>Sno</a:t>
            </a:r>
            <a:endParaRPr lang="zh-CN" altLang="zh-CN" sz="2400" dirty="0"/>
          </a:p>
        </p:txBody>
      </p:sp>
      <p:pic>
        <p:nvPicPr>
          <p:cNvPr id="52228"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75520" y="2564904"/>
            <a:ext cx="9434514" cy="317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p:txBody>
          <a:bodyPr/>
          <a:lstStyle/>
          <a:p>
            <a:pPr eaLnBrk="1" hangingPunct="1"/>
            <a:r>
              <a:rPr lang="zh-CN" altLang="en-US" sz="3600"/>
              <a:t>等值与非等值连接查询（续）</a:t>
            </a:r>
            <a:endParaRPr lang="zh-CN" altLang="en-US" sz="3600"/>
          </a:p>
        </p:txBody>
      </p:sp>
      <p:sp>
        <p:nvSpPr>
          <p:cNvPr id="53251" name="Rectangle 3"/>
          <p:cNvSpPr>
            <a:spLocks noGrp="1" noChangeArrowheads="1"/>
          </p:cNvSpPr>
          <p:nvPr>
            <p:ph type="body" idx="4294967295"/>
          </p:nvPr>
        </p:nvSpPr>
        <p:spPr>
          <a:xfrm>
            <a:off x="1703388" y="1196976"/>
            <a:ext cx="8856662" cy="4968875"/>
          </a:xfrm>
        </p:spPr>
        <p:txBody>
          <a:bodyPr/>
          <a:lstStyle/>
          <a:p>
            <a:pPr eaLnBrk="1" hangingPunct="1">
              <a:lnSpc>
                <a:spcPct val="140000"/>
              </a:lnSpc>
              <a:buFont typeface="Wingdings" panose="05000000000000000000" pitchFamily="2" charset="2"/>
              <a:buNone/>
            </a:pPr>
            <a:r>
              <a:rPr lang="en-US" altLang="zh-CN" sz="2400" dirty="0"/>
              <a:t>[</a:t>
            </a:r>
            <a:r>
              <a:rPr lang="zh-CN" altLang="en-US" sz="2400" dirty="0"/>
              <a:t>例</a:t>
            </a:r>
            <a:r>
              <a:rPr lang="en-US" altLang="zh-CN" sz="2400" dirty="0"/>
              <a:t>3.52]</a:t>
            </a:r>
            <a:r>
              <a:rPr lang="zh-CN" altLang="en-US" sz="2400" dirty="0"/>
              <a:t>查询每个学生的学号、姓名、性别、出生日期、主修专业及该学生选修课程的课程号码与成绩</a:t>
            </a:r>
            <a:endParaRPr lang="zh-CN" altLang="en-US" sz="2400" dirty="0"/>
          </a:p>
          <a:p>
            <a:pPr eaLnBrk="1" hangingPunct="1">
              <a:lnSpc>
                <a:spcPct val="140000"/>
              </a:lnSpc>
              <a:buFont typeface="Wingdings" panose="05000000000000000000" pitchFamily="2" charset="2"/>
              <a:buNone/>
            </a:pPr>
            <a:r>
              <a:rPr lang="en-US" altLang="zh-CN" sz="2200" dirty="0"/>
              <a:t>SELECT </a:t>
            </a:r>
            <a:r>
              <a:rPr lang="en-US" altLang="zh-CN" sz="2200" dirty="0" err="1"/>
              <a:t>Student.Sno,Sname,Ssex,Sbirthdate,Smajor,Cno,Grade</a:t>
            </a:r>
            <a:r>
              <a:rPr lang="en-US" altLang="zh-CN" sz="2200" dirty="0"/>
              <a:t>     </a:t>
            </a:r>
            <a:endParaRPr lang="en-US" altLang="zh-CN" sz="2200" dirty="0"/>
          </a:p>
          <a:p>
            <a:pPr eaLnBrk="1" hangingPunct="1">
              <a:lnSpc>
                <a:spcPct val="140000"/>
              </a:lnSpc>
              <a:buFont typeface="Wingdings" panose="05000000000000000000" pitchFamily="2" charset="2"/>
              <a:buNone/>
            </a:pPr>
            <a:r>
              <a:rPr lang="en-US" altLang="zh-CN" sz="2200" dirty="0"/>
              <a:t>FROM  </a:t>
            </a:r>
            <a:r>
              <a:rPr lang="en-US" altLang="zh-CN" sz="2200" dirty="0" err="1"/>
              <a:t>Student,SC</a:t>
            </a:r>
            <a:endParaRPr lang="en-US" altLang="zh-CN" sz="2200" dirty="0"/>
          </a:p>
          <a:p>
            <a:pPr eaLnBrk="1" hangingPunct="1">
              <a:lnSpc>
                <a:spcPct val="140000"/>
              </a:lnSpc>
              <a:buFont typeface="Wingdings" panose="05000000000000000000" pitchFamily="2" charset="2"/>
              <a:buNone/>
            </a:pPr>
            <a:r>
              <a:rPr lang="en-US" altLang="zh-CN" sz="2200" dirty="0"/>
              <a:t>WHERE </a:t>
            </a:r>
            <a:r>
              <a:rPr lang="en-US" altLang="zh-CN" sz="2200" dirty="0" err="1"/>
              <a:t>Student.Sno</a:t>
            </a:r>
            <a:r>
              <a:rPr lang="en-US" altLang="zh-CN" sz="2200" dirty="0"/>
              <a:t>=</a:t>
            </a:r>
            <a:r>
              <a:rPr lang="en-US" altLang="zh-CN" sz="2200" dirty="0" err="1"/>
              <a:t>SC.Sno</a:t>
            </a:r>
            <a:r>
              <a:rPr lang="en-US" altLang="zh-CN" sz="2200" dirty="0"/>
              <a:t>;</a:t>
            </a:r>
            <a:endParaRPr lang="en-US" altLang="zh-CN" sz="2200" dirty="0"/>
          </a:p>
          <a:p>
            <a:pPr eaLnBrk="1" hangingPunct="1">
              <a:lnSpc>
                <a:spcPct val="140000"/>
              </a:lnSpc>
              <a:buFont typeface="Wingdings" panose="05000000000000000000" pitchFamily="2" charset="2"/>
              <a:buChar char="n"/>
            </a:pPr>
            <a:r>
              <a:rPr lang="en-US" altLang="zh-CN" sz="2200" dirty="0" err="1"/>
              <a:t>Sname</a:t>
            </a:r>
            <a:r>
              <a:rPr lang="zh-CN" altLang="en-US" sz="2200" dirty="0"/>
              <a:t>，</a:t>
            </a:r>
            <a:r>
              <a:rPr lang="en-US" altLang="zh-CN" sz="2200" dirty="0" err="1"/>
              <a:t>Ssex</a:t>
            </a:r>
            <a:r>
              <a:rPr lang="zh-CN" altLang="en-US" sz="2200" dirty="0"/>
              <a:t>，</a:t>
            </a:r>
            <a:r>
              <a:rPr lang="en-US" altLang="zh-CN" sz="2200" dirty="0" err="1"/>
              <a:t>Sbirthdate</a:t>
            </a:r>
            <a:r>
              <a:rPr lang="zh-CN" altLang="en-US" sz="2200" dirty="0"/>
              <a:t>，</a:t>
            </a:r>
            <a:r>
              <a:rPr lang="en-US" altLang="zh-CN" sz="2200" dirty="0" err="1"/>
              <a:t>Smajor</a:t>
            </a:r>
            <a:r>
              <a:rPr lang="zh-CN" altLang="en-US" sz="2200" dirty="0"/>
              <a:t>，</a:t>
            </a:r>
            <a:r>
              <a:rPr lang="en-US" altLang="zh-CN" sz="2200" dirty="0" err="1"/>
              <a:t>Cno</a:t>
            </a:r>
            <a:r>
              <a:rPr lang="zh-CN" altLang="en-US" sz="2200" dirty="0"/>
              <a:t>和</a:t>
            </a:r>
            <a:r>
              <a:rPr lang="en-US" altLang="zh-CN" sz="2200" dirty="0"/>
              <a:t>Grade</a:t>
            </a:r>
            <a:r>
              <a:rPr lang="zh-CN" altLang="en-US" sz="2200" dirty="0"/>
              <a:t>属性列在</a:t>
            </a:r>
            <a:r>
              <a:rPr lang="en-US" altLang="zh-CN" sz="2200" dirty="0"/>
              <a:t>Student</a:t>
            </a:r>
            <a:r>
              <a:rPr lang="zh-CN" altLang="en-US" sz="2200" dirty="0"/>
              <a:t>表与</a:t>
            </a:r>
            <a:r>
              <a:rPr lang="en-US" altLang="zh-CN" sz="2200" dirty="0"/>
              <a:t>SC</a:t>
            </a:r>
            <a:r>
              <a:rPr lang="zh-CN" altLang="en-US" sz="2200" dirty="0"/>
              <a:t>表中唯一，引用时可以去掉表名前缀</a:t>
            </a:r>
            <a:endParaRPr lang="en-US" altLang="zh-CN" sz="2200" dirty="0"/>
          </a:p>
          <a:p>
            <a:pPr eaLnBrk="1" hangingPunct="1">
              <a:lnSpc>
                <a:spcPct val="140000"/>
              </a:lnSpc>
              <a:buFont typeface="Wingdings" panose="05000000000000000000" pitchFamily="2" charset="2"/>
              <a:buChar char="n"/>
            </a:pPr>
            <a:r>
              <a:rPr lang="en-US" altLang="zh-CN" sz="2200" dirty="0" err="1"/>
              <a:t>Sno</a:t>
            </a:r>
            <a:r>
              <a:rPr lang="zh-CN" altLang="en-US" sz="2200" dirty="0"/>
              <a:t>在两个表都出现，因此</a:t>
            </a:r>
            <a:r>
              <a:rPr lang="en-US" altLang="zh-CN" sz="2200" dirty="0"/>
              <a:t>SELECT</a:t>
            </a:r>
            <a:r>
              <a:rPr lang="zh-CN" altLang="en-US" sz="2200" dirty="0"/>
              <a:t>子句和</a:t>
            </a:r>
            <a:r>
              <a:rPr lang="en-US" altLang="zh-CN" sz="2200" dirty="0"/>
              <a:t>WHERE</a:t>
            </a:r>
            <a:r>
              <a:rPr lang="zh-CN" altLang="en-US" sz="2200" dirty="0"/>
              <a:t>子句在引用时必须加上表名前缀</a:t>
            </a:r>
            <a:endParaRPr lang="zh-CN" altLang="en-US" sz="2200" dirty="0"/>
          </a:p>
          <a:p>
            <a:pPr eaLnBrk="1" hangingPunct="1">
              <a:lnSpc>
                <a:spcPct val="140000"/>
              </a:lnSpc>
              <a:buFont typeface="Wingdings" panose="05000000000000000000" pitchFamily="2" charset="2"/>
              <a:buNone/>
            </a:pPr>
            <a:endParaRPr lang="en-US" altLang="zh-CN"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noChangeArrowheads="1"/>
          </p:cNvSpPr>
          <p:nvPr>
            <p:ph type="title" idx="4294967295"/>
          </p:nvPr>
        </p:nvSpPr>
        <p:spPr/>
        <p:txBody>
          <a:bodyPr/>
          <a:lstStyle/>
          <a:p>
            <a:pPr eaLnBrk="1" hangingPunct="1"/>
            <a:r>
              <a:rPr lang="zh-CN" altLang="en-US" sz="3600"/>
              <a:t>等值与非等值连接查询（续）</a:t>
            </a:r>
            <a:endParaRPr lang="zh-CN" altLang="en-US" sz="3600"/>
          </a:p>
        </p:txBody>
      </p:sp>
      <p:sp>
        <p:nvSpPr>
          <p:cNvPr id="55299" name="内容占位符 2"/>
          <p:cNvSpPr>
            <a:spLocks noGrp="1" noChangeArrowheads="1"/>
          </p:cNvSpPr>
          <p:nvPr>
            <p:ph idx="4294967295"/>
          </p:nvPr>
        </p:nvSpPr>
        <p:spPr>
          <a:xfrm>
            <a:off x="1774826" y="981075"/>
            <a:ext cx="9361734" cy="5499100"/>
          </a:xfrm>
        </p:spPr>
        <p:txBody>
          <a:bodyPr/>
          <a:lstStyle/>
          <a:p>
            <a:pPr marL="0" indent="0" eaLnBrk="1" hangingPunct="1">
              <a:lnSpc>
                <a:spcPct val="120000"/>
              </a:lnSpc>
              <a:spcBef>
                <a:spcPct val="0"/>
              </a:spcBef>
              <a:buNone/>
            </a:pPr>
            <a:r>
              <a:rPr lang="zh-CN" altLang="en-US" sz="2400" dirty="0"/>
              <a:t>复合条件连接：</a:t>
            </a:r>
            <a:r>
              <a:rPr lang="en-US" altLang="zh-CN" sz="2400" dirty="0"/>
              <a:t>WHERE</a:t>
            </a:r>
            <a:r>
              <a:rPr lang="zh-CN" altLang="en-US" sz="2400" dirty="0"/>
              <a:t>子句是由连接谓词和选择谓词组成的复合条件</a:t>
            </a:r>
            <a:endParaRPr lang="en-US" altLang="zh-CN" sz="2400" dirty="0"/>
          </a:p>
          <a:p>
            <a:pPr marL="0" indent="0" eaLnBrk="1" hangingPunct="1">
              <a:lnSpc>
                <a:spcPct val="120000"/>
              </a:lnSpc>
              <a:spcBef>
                <a:spcPct val="0"/>
              </a:spcBef>
              <a:buNone/>
            </a:pPr>
            <a:r>
              <a:rPr lang="en-US" altLang="zh-CN" sz="2400" dirty="0"/>
              <a:t>[</a:t>
            </a:r>
            <a:r>
              <a:rPr lang="zh-CN" altLang="en-US" sz="2400" dirty="0"/>
              <a:t>例</a:t>
            </a:r>
            <a:r>
              <a:rPr lang="en-US" altLang="zh-CN" sz="2400" dirty="0"/>
              <a:t>3.53]</a:t>
            </a:r>
            <a:r>
              <a:rPr lang="zh-CN" altLang="en-US" sz="2400" dirty="0"/>
              <a:t>查询选修</a:t>
            </a:r>
            <a:r>
              <a:rPr lang="en-US" altLang="zh-CN" sz="2400" dirty="0"/>
              <a:t>81002</a:t>
            </a:r>
            <a:r>
              <a:rPr lang="zh-CN" altLang="en-US" sz="2400" dirty="0"/>
              <a:t>号课程且成绩在</a:t>
            </a:r>
            <a:r>
              <a:rPr lang="en-US" altLang="zh-CN" sz="2400" dirty="0"/>
              <a:t>90</a:t>
            </a:r>
            <a:r>
              <a:rPr lang="zh-CN" altLang="en-US" sz="2400" dirty="0"/>
              <a:t>分以上的所有学生的学号和姓名</a:t>
            </a:r>
            <a:endParaRPr lang="zh-CN" altLang="en-US" sz="2400" dirty="0"/>
          </a:p>
          <a:p>
            <a:pPr marL="0" indent="0" eaLnBrk="1" hangingPunct="1">
              <a:lnSpc>
                <a:spcPct val="120000"/>
              </a:lnSpc>
              <a:spcBef>
                <a:spcPct val="0"/>
              </a:spcBef>
              <a:buNone/>
            </a:pPr>
            <a:r>
              <a:rPr lang="en-US" altLang="zh-CN" sz="2200" dirty="0"/>
              <a:t>SELECT </a:t>
            </a:r>
            <a:r>
              <a:rPr lang="en-US" altLang="zh-CN" sz="2200" dirty="0" err="1"/>
              <a:t>Student.Sno,Sname</a:t>
            </a:r>
            <a:endParaRPr lang="en-US" altLang="zh-CN" sz="2200" dirty="0"/>
          </a:p>
          <a:p>
            <a:pPr marL="0" indent="0" eaLnBrk="1" hangingPunct="1">
              <a:lnSpc>
                <a:spcPct val="120000"/>
              </a:lnSpc>
              <a:spcBef>
                <a:spcPct val="0"/>
              </a:spcBef>
              <a:buNone/>
            </a:pPr>
            <a:r>
              <a:rPr lang="en-US" altLang="zh-CN" sz="2200" dirty="0"/>
              <a:t>FROM </a:t>
            </a:r>
            <a:r>
              <a:rPr lang="en-US" altLang="zh-CN" sz="2200" dirty="0" err="1"/>
              <a:t>Student,SC</a:t>
            </a:r>
            <a:endParaRPr lang="en-US" altLang="zh-CN" sz="2200" dirty="0"/>
          </a:p>
          <a:p>
            <a:pPr marL="0" indent="0" eaLnBrk="1" hangingPunct="1">
              <a:lnSpc>
                <a:spcPct val="120000"/>
              </a:lnSpc>
              <a:spcBef>
                <a:spcPct val="0"/>
              </a:spcBef>
              <a:buNone/>
            </a:pPr>
            <a:r>
              <a:rPr lang="en-US" altLang="zh-CN" sz="2200" dirty="0"/>
              <a:t>WHERE </a:t>
            </a:r>
            <a:r>
              <a:rPr lang="en-US" altLang="zh-CN" sz="2200" dirty="0" err="1"/>
              <a:t>Student.Sno</a:t>
            </a:r>
            <a:r>
              <a:rPr lang="en-US" altLang="zh-CN" sz="2200" dirty="0"/>
              <a:t>=</a:t>
            </a:r>
            <a:r>
              <a:rPr lang="en-US" altLang="zh-CN" sz="2200" dirty="0" err="1"/>
              <a:t>SC.Sno</a:t>
            </a:r>
            <a:r>
              <a:rPr lang="en-US" altLang="zh-CN" sz="2200" dirty="0"/>
              <a:t>  AND             	</a:t>
            </a:r>
            <a:r>
              <a:rPr lang="en-US" altLang="zh-CN" sz="1600" dirty="0"/>
              <a:t>/*</a:t>
            </a:r>
            <a:r>
              <a:rPr lang="zh-CN" altLang="en-US" sz="1600" dirty="0"/>
              <a:t>连接谓词 *</a:t>
            </a:r>
            <a:r>
              <a:rPr lang="en-US" altLang="zh-CN" sz="1600" dirty="0"/>
              <a:t>/</a:t>
            </a:r>
            <a:endParaRPr lang="en-US" altLang="zh-CN" sz="2200" dirty="0"/>
          </a:p>
          <a:p>
            <a:pPr marL="0" indent="0" eaLnBrk="1" hangingPunct="1">
              <a:lnSpc>
                <a:spcPct val="120000"/>
              </a:lnSpc>
              <a:spcBef>
                <a:spcPct val="0"/>
              </a:spcBef>
              <a:buNone/>
            </a:pPr>
            <a:r>
              <a:rPr lang="en-US" altLang="zh-CN" sz="2200" dirty="0"/>
              <a:t>	   </a:t>
            </a:r>
            <a:r>
              <a:rPr lang="en-US" altLang="zh-CN" sz="2200" dirty="0" err="1"/>
              <a:t>SC.Cno</a:t>
            </a:r>
            <a:r>
              <a:rPr lang="en-US" altLang="zh-CN" sz="2200" dirty="0"/>
              <a:t>='81002' AND </a:t>
            </a:r>
            <a:r>
              <a:rPr lang="en-US" altLang="zh-CN" sz="2200" dirty="0" err="1"/>
              <a:t>SC.Grade</a:t>
            </a:r>
            <a:r>
              <a:rPr lang="en-US" altLang="zh-CN" sz="2200" dirty="0"/>
              <a:t>&gt;90;	</a:t>
            </a:r>
            <a:r>
              <a:rPr lang="en-US" altLang="zh-CN" sz="1600" dirty="0"/>
              <a:t>/*</a:t>
            </a:r>
            <a:r>
              <a:rPr lang="zh-CN" altLang="en-US" sz="1600" dirty="0"/>
              <a:t>其他选择条件*</a:t>
            </a:r>
            <a:r>
              <a:rPr lang="en-US" altLang="zh-CN" sz="1600" dirty="0"/>
              <a:t>/</a:t>
            </a:r>
            <a:endParaRPr lang="en-US" altLang="zh-CN" sz="1600" dirty="0"/>
          </a:p>
          <a:p>
            <a:pPr marL="0" indent="0" eaLnBrk="1" hangingPunct="1">
              <a:lnSpc>
                <a:spcPct val="120000"/>
              </a:lnSpc>
              <a:spcBef>
                <a:spcPct val="0"/>
              </a:spcBef>
              <a:buNone/>
            </a:pPr>
            <a:endParaRPr lang="en-US" altLang="zh-CN" sz="2000" dirty="0"/>
          </a:p>
          <a:p>
            <a:pPr marL="0" indent="0" eaLnBrk="1" hangingPunct="1">
              <a:lnSpc>
                <a:spcPct val="120000"/>
              </a:lnSpc>
              <a:spcBef>
                <a:spcPct val="0"/>
              </a:spcBef>
              <a:buNone/>
            </a:pPr>
            <a:r>
              <a:rPr lang="zh-CN" altLang="en-US" sz="2200" dirty="0"/>
              <a:t>优化（高效）执行过程</a:t>
            </a:r>
            <a:endParaRPr lang="en-US" altLang="zh-CN" sz="2200" dirty="0"/>
          </a:p>
          <a:p>
            <a:pPr marL="0" indent="0" eaLnBrk="1" hangingPunct="1">
              <a:lnSpc>
                <a:spcPct val="120000"/>
              </a:lnSpc>
              <a:spcBef>
                <a:spcPct val="0"/>
              </a:spcBef>
              <a:buFont typeface="Wingdings" panose="05000000000000000000" pitchFamily="2" charset="2"/>
              <a:buChar char="n"/>
            </a:pPr>
            <a:r>
              <a:rPr lang="zh-CN" altLang="en-US" sz="2200" dirty="0"/>
              <a:t>先从</a:t>
            </a:r>
            <a:r>
              <a:rPr lang="en-US" altLang="zh-CN" sz="2200" dirty="0"/>
              <a:t>SC</a:t>
            </a:r>
            <a:r>
              <a:rPr lang="zh-CN" altLang="en-US" sz="2200" dirty="0"/>
              <a:t>中挑选出</a:t>
            </a:r>
            <a:r>
              <a:rPr lang="en-US" altLang="zh-CN" sz="2200" dirty="0" err="1"/>
              <a:t>Cno</a:t>
            </a:r>
            <a:r>
              <a:rPr lang="en-US" altLang="zh-CN" sz="2200" dirty="0"/>
              <a:t>='81002'</a:t>
            </a:r>
            <a:r>
              <a:rPr lang="zh-CN" altLang="en-US" sz="2200" dirty="0"/>
              <a:t>并且</a:t>
            </a:r>
            <a:r>
              <a:rPr lang="en-US" altLang="zh-CN" sz="2200" dirty="0"/>
              <a:t>Grade&gt;90</a:t>
            </a:r>
            <a:r>
              <a:rPr lang="zh-CN" altLang="en-US" sz="2200" dirty="0"/>
              <a:t>的元组形成一个中间关系</a:t>
            </a:r>
            <a:endParaRPr lang="en-US" altLang="zh-CN" sz="2200" dirty="0"/>
          </a:p>
          <a:p>
            <a:pPr marL="0" indent="0" eaLnBrk="1" hangingPunct="1">
              <a:lnSpc>
                <a:spcPct val="120000"/>
              </a:lnSpc>
              <a:spcBef>
                <a:spcPct val="0"/>
              </a:spcBef>
              <a:buFont typeface="Wingdings" panose="05000000000000000000" pitchFamily="2" charset="2"/>
              <a:buChar char="n"/>
            </a:pPr>
            <a:r>
              <a:rPr lang="zh-CN" altLang="en-US" sz="2200" dirty="0"/>
              <a:t>再和</a:t>
            </a:r>
            <a:r>
              <a:rPr lang="en-US" altLang="zh-CN" sz="2200" dirty="0"/>
              <a:t>Student</a:t>
            </a:r>
            <a:r>
              <a:rPr lang="zh-CN" altLang="en-US" sz="2200" dirty="0"/>
              <a:t>中满足连接条件的元组进行连接得到最终的结果关系</a:t>
            </a:r>
            <a:endParaRPr lang="zh-CN" altLang="en-US" sz="22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55299" name="Rectangle 3"/>
          <p:cNvSpPr>
            <a:spLocks noGrp="1" noChangeArrowheads="1"/>
          </p:cNvSpPr>
          <p:nvPr>
            <p:ph type="body" idx="4294967295"/>
          </p:nvPr>
        </p:nvSpPr>
        <p:spPr>
          <a:xfrm>
            <a:off x="1415480" y="1339851"/>
            <a:ext cx="10166920" cy="4854575"/>
          </a:xfrm>
        </p:spPr>
        <p:txBody>
          <a:bodyPr/>
          <a:lstStyle/>
          <a:p>
            <a:pPr lvl="1">
              <a:lnSpc>
                <a:spcPct val="150000"/>
              </a:lnSpc>
              <a:buFont typeface="Wingdings" panose="05000000000000000000" pitchFamily="2" charset="2"/>
              <a:buNone/>
            </a:pPr>
            <a:r>
              <a:rPr lang="en-US" altLang="zh-CN" sz="2800" dirty="0"/>
              <a:t>1.</a:t>
            </a:r>
            <a:r>
              <a:rPr lang="zh-CN" altLang="en-US" sz="2800" dirty="0"/>
              <a:t>等值与非等值连接查询 </a:t>
            </a:r>
            <a:endParaRPr lang="zh-CN" altLang="en-US" sz="2800" dirty="0"/>
          </a:p>
          <a:p>
            <a:pPr lvl="1">
              <a:lnSpc>
                <a:spcPct val="150000"/>
              </a:lnSpc>
              <a:buFont typeface="Wingdings" panose="05000000000000000000" pitchFamily="2" charset="2"/>
              <a:buNone/>
            </a:pPr>
            <a:r>
              <a:rPr lang="en-US" altLang="zh-CN" sz="2800" dirty="0">
                <a:solidFill>
                  <a:srgbClr val="7030A0"/>
                </a:solidFill>
              </a:rPr>
              <a:t>2.</a:t>
            </a:r>
            <a:r>
              <a:rPr lang="zh-CN" altLang="en-US" sz="2800" dirty="0">
                <a:solidFill>
                  <a:srgbClr val="7030A0"/>
                </a:solidFill>
              </a:rPr>
              <a:t>自身连接</a:t>
            </a:r>
            <a:endParaRPr lang="zh-CN" altLang="en-US" sz="2800" dirty="0">
              <a:solidFill>
                <a:srgbClr val="7030A0"/>
              </a:solidFill>
            </a:endParaRPr>
          </a:p>
          <a:p>
            <a:pPr lvl="1">
              <a:lnSpc>
                <a:spcPct val="150000"/>
              </a:lnSpc>
              <a:buFont typeface="Wingdings" panose="05000000000000000000" pitchFamily="2" charset="2"/>
              <a:buNone/>
            </a:pPr>
            <a:r>
              <a:rPr lang="en-US" altLang="zh-CN" sz="2800" dirty="0"/>
              <a:t>3.</a:t>
            </a:r>
            <a:r>
              <a:rPr lang="zh-CN" altLang="en-US" sz="2800" dirty="0"/>
              <a:t>外连接</a:t>
            </a:r>
            <a:endParaRPr lang="zh-CN" altLang="en-US" sz="2800" dirty="0"/>
          </a:p>
          <a:p>
            <a:pPr lvl="1">
              <a:lnSpc>
                <a:spcPct val="150000"/>
              </a:lnSpc>
              <a:buFont typeface="Wingdings" panose="05000000000000000000" pitchFamily="2" charset="2"/>
              <a:buNone/>
            </a:pPr>
            <a:r>
              <a:rPr lang="en-US" altLang="zh-CN" sz="2800" dirty="0"/>
              <a:t>4.</a:t>
            </a:r>
            <a:r>
              <a:rPr lang="zh-CN" altLang="en-US" sz="2800" dirty="0"/>
              <a:t>多表连接</a:t>
            </a:r>
            <a:endParaRPr lang="zh-CN" altLang="en-US" sz="2800" dirty="0"/>
          </a:p>
          <a:p>
            <a:pPr lvl="1">
              <a:buFont typeface="Wingdings" panose="05000000000000000000" pitchFamily="2" charset="2"/>
              <a:buNone/>
            </a:pPr>
            <a:endParaRPr lang="en-US" altLang="zh-CN"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p:txBody>
          <a:bodyPr/>
          <a:lstStyle/>
          <a:p>
            <a:pPr eaLnBrk="1" hangingPunct="1"/>
            <a:r>
              <a:rPr lang="en-US" altLang="zh-CN" sz="3600"/>
              <a:t>2. </a:t>
            </a:r>
            <a:r>
              <a:rPr lang="zh-CN" altLang="en-US" sz="3600"/>
              <a:t>自身连接 </a:t>
            </a:r>
            <a:endParaRPr lang="zh-CN" altLang="en-US" sz="3600"/>
          </a:p>
        </p:txBody>
      </p:sp>
      <p:sp>
        <p:nvSpPr>
          <p:cNvPr id="18435" name="Rectangle 3"/>
          <p:cNvSpPr>
            <a:spLocks noGrp="1" noChangeArrowheads="1"/>
          </p:cNvSpPr>
          <p:nvPr>
            <p:ph type="body" idx="4294967295"/>
          </p:nvPr>
        </p:nvSpPr>
        <p:spPr>
          <a:xfrm>
            <a:off x="1847850" y="1125539"/>
            <a:ext cx="8686800" cy="4854575"/>
          </a:xfrm>
        </p:spPr>
        <p:txBody>
          <a:bodyPr/>
          <a:lstStyle/>
          <a:p>
            <a:pPr eaLnBrk="1" hangingPunct="1">
              <a:lnSpc>
                <a:spcPct val="110000"/>
              </a:lnSpc>
            </a:pPr>
            <a:r>
              <a:rPr lang="zh-CN" altLang="en-US" sz="2400">
                <a:latin typeface="宋体" panose="02010600030101010101" pitchFamily="2" charset="-122"/>
              </a:rPr>
              <a:t>自身连接</a:t>
            </a:r>
            <a:r>
              <a:rPr lang="zh-CN" altLang="en-US" sz="2400">
                <a:ea typeface="黑体" panose="02010609060101010101" pitchFamily="49" charset="-122"/>
              </a:rPr>
              <a:t>：</a:t>
            </a:r>
            <a:r>
              <a:rPr lang="zh-CN" altLang="en-US" sz="2400"/>
              <a:t>一个表与其自己进行连接</a:t>
            </a:r>
            <a:endParaRPr lang="zh-CN" altLang="en-US" sz="2400"/>
          </a:p>
          <a:p>
            <a:pPr eaLnBrk="1" hangingPunct="1">
              <a:lnSpc>
                <a:spcPct val="110000"/>
              </a:lnSpc>
            </a:pPr>
            <a:r>
              <a:rPr lang="zh-CN" altLang="en-US" sz="2400"/>
              <a:t>需要给表起别名以示区别</a:t>
            </a:r>
            <a:endParaRPr lang="zh-CN" altLang="en-US" sz="2400"/>
          </a:p>
          <a:p>
            <a:pPr eaLnBrk="1" hangingPunct="1">
              <a:lnSpc>
                <a:spcPct val="140000"/>
              </a:lnSpc>
            </a:pPr>
            <a:r>
              <a:rPr lang="zh-CN" altLang="en-US" sz="2400"/>
              <a:t>由于所有属性名都是同名属性，因此必须使用别名前缀</a:t>
            </a:r>
            <a:endParaRPr lang="zh-CN" altLang="en-US" sz="2400"/>
          </a:p>
          <a:p>
            <a:pPr eaLnBrk="1" hangingPunct="1">
              <a:lnSpc>
                <a:spcPct val="140000"/>
              </a:lnSpc>
              <a:buFont typeface="Wingdings" panose="05000000000000000000" pitchFamily="2" charset="2"/>
              <a:buNone/>
            </a:pPr>
            <a:endParaRPr lang="en-US" altLang="zh-CN" sz="20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p:txBody>
          <a:bodyPr/>
          <a:lstStyle/>
          <a:p>
            <a:pPr eaLnBrk="1" hangingPunct="1"/>
            <a:r>
              <a:rPr lang="en-US" altLang="zh-CN" sz="3600"/>
              <a:t>2. </a:t>
            </a:r>
            <a:r>
              <a:rPr lang="zh-CN" altLang="en-US" sz="3600"/>
              <a:t>自身连接 </a:t>
            </a:r>
            <a:endParaRPr lang="zh-CN" altLang="en-US" sz="3600"/>
          </a:p>
        </p:txBody>
      </p:sp>
      <p:sp>
        <p:nvSpPr>
          <p:cNvPr id="18435" name="Rectangle 3"/>
          <p:cNvSpPr>
            <a:spLocks noGrp="1" noChangeArrowheads="1"/>
          </p:cNvSpPr>
          <p:nvPr>
            <p:ph type="body" idx="4294967295"/>
          </p:nvPr>
        </p:nvSpPr>
        <p:spPr>
          <a:xfrm>
            <a:off x="1847850" y="1125539"/>
            <a:ext cx="8686800" cy="4854575"/>
          </a:xfrm>
        </p:spPr>
        <p:txBody>
          <a:bodyPr/>
          <a:lstStyle/>
          <a:p>
            <a:pPr eaLnBrk="1" hangingPunct="1">
              <a:lnSpc>
                <a:spcPct val="140000"/>
              </a:lnSpc>
              <a:buFont typeface="Wingdings" panose="05000000000000000000"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a:t>
            </a:r>
            <a:r>
              <a:rPr lang="en-US" altLang="zh-CN" sz="2400"/>
              <a:t>54]</a:t>
            </a:r>
            <a:r>
              <a:rPr lang="zh-CN" altLang="en-US" sz="2400"/>
              <a:t>查询每一门课的间接先修课（即先修课的先修课）</a:t>
            </a:r>
            <a:endParaRPr lang="zh-CN" altLang="en-US" sz="2400"/>
          </a:p>
          <a:p>
            <a:pPr eaLnBrk="1" hangingPunct="1">
              <a:lnSpc>
                <a:spcPct val="140000"/>
              </a:lnSpc>
              <a:buFont typeface="Wingdings" panose="05000000000000000000" pitchFamily="2" charset="2"/>
              <a:buNone/>
            </a:pPr>
            <a:r>
              <a:rPr lang="en-US" altLang="zh-CN" sz="2000"/>
              <a:t>SELECT FIRST.Cno,SECOND.Cpno</a:t>
            </a:r>
            <a:endParaRPr lang="en-US" altLang="zh-CN" sz="2000"/>
          </a:p>
          <a:p>
            <a:pPr eaLnBrk="1" hangingPunct="1">
              <a:lnSpc>
                <a:spcPct val="140000"/>
              </a:lnSpc>
              <a:buFont typeface="Wingdings" panose="05000000000000000000" pitchFamily="2" charset="2"/>
              <a:buNone/>
            </a:pPr>
            <a:r>
              <a:rPr lang="en-US" altLang="zh-CN" sz="2000"/>
              <a:t>FROM Course FIRST, Course SECOND</a:t>
            </a:r>
            <a:endParaRPr lang="en-US" altLang="zh-CN" sz="2000"/>
          </a:p>
          <a:p>
            <a:pPr eaLnBrk="1" hangingPunct="1">
              <a:lnSpc>
                <a:spcPct val="140000"/>
              </a:lnSpc>
              <a:buFont typeface="Wingdings" panose="05000000000000000000" pitchFamily="2" charset="2"/>
              <a:buNone/>
            </a:pPr>
            <a:r>
              <a:rPr lang="en-US" altLang="zh-CN" sz="2000"/>
              <a:t>WHERE FIRST.Cpno=SECOND.Cno and SECOND.Cpno IS NOT NULL;</a:t>
            </a:r>
            <a:endParaRPr lang="en-US" altLang="zh-CN" sz="200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p:txBody>
          <a:bodyPr/>
          <a:lstStyle/>
          <a:p>
            <a:pPr eaLnBrk="1" hangingPunct="1"/>
            <a:r>
              <a:rPr lang="zh-CN" altLang="en-US" sz="3600"/>
              <a:t>自身连接（续）</a:t>
            </a:r>
            <a:endParaRPr lang="zh-CN" altLang="en-US" sz="3600"/>
          </a:p>
        </p:txBody>
      </p:sp>
      <p:sp>
        <p:nvSpPr>
          <p:cNvPr id="12" name="文本框 11"/>
          <p:cNvSpPr txBox="1"/>
          <p:nvPr/>
        </p:nvSpPr>
        <p:spPr>
          <a:xfrm>
            <a:off x="1127448" y="1125538"/>
            <a:ext cx="10081120" cy="3545586"/>
          </a:xfrm>
          <a:prstGeom prst="rect">
            <a:avLst/>
          </a:prstGeom>
          <a:noFill/>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20000"/>
              </a:spcBef>
              <a:buSzPct val="100000"/>
              <a:buFont typeface="Wingdings" panose="05000000000000000000" pitchFamily="2" charset="2"/>
              <a:buChar char="v"/>
            </a:pPr>
            <a:r>
              <a:rPr lang="zh-CN" altLang="en-US" sz="2400" b="1" dirty="0">
                <a:latin typeface="宋体" panose="02010600030101010101" pitchFamily="2" charset="-122"/>
              </a:rPr>
              <a:t>分析</a:t>
            </a:r>
            <a:endParaRPr lang="en-US" altLang="zh-CN" sz="2400" b="1" dirty="0">
              <a:latin typeface="宋体" panose="02010600030101010101" pitchFamily="2" charset="-122"/>
            </a:endParaRPr>
          </a:p>
          <a:p>
            <a:pPr lvl="1" eaLnBrk="1" hangingPunct="1">
              <a:lnSpc>
                <a:spcPct val="150000"/>
              </a:lnSpc>
              <a:buSzPct val="100000"/>
              <a:buFont typeface="Wingdings" panose="05000000000000000000" pitchFamily="2" charset="2"/>
              <a:buChar char="n"/>
            </a:pPr>
            <a:r>
              <a:rPr lang="zh-CN" altLang="en-US" sz="2200" b="1" dirty="0"/>
              <a:t>查询每一门课的间接先修课，必须先对一门课找到其直接先修课</a:t>
            </a:r>
            <a:r>
              <a:rPr lang="en-US" altLang="zh-CN" sz="2200" b="1" dirty="0" err="1"/>
              <a:t>Cpno</a:t>
            </a:r>
            <a:endParaRPr lang="en-US" altLang="zh-CN" sz="2200" b="1" dirty="0"/>
          </a:p>
          <a:p>
            <a:pPr lvl="1" eaLnBrk="1" hangingPunct="1">
              <a:lnSpc>
                <a:spcPct val="150000"/>
              </a:lnSpc>
              <a:buSzPct val="100000"/>
              <a:buFont typeface="Wingdings" panose="05000000000000000000" pitchFamily="2" charset="2"/>
              <a:buChar char="n"/>
            </a:pPr>
            <a:r>
              <a:rPr lang="zh-CN" altLang="en-US" sz="2200" b="1" dirty="0"/>
              <a:t>再按此先修课的课程号查找它的先修课程</a:t>
            </a:r>
            <a:endParaRPr lang="en-US" altLang="zh-CN" sz="2200" b="1" dirty="0"/>
          </a:p>
          <a:p>
            <a:pPr lvl="1" eaLnBrk="1" hangingPunct="1">
              <a:lnSpc>
                <a:spcPct val="150000"/>
              </a:lnSpc>
              <a:buSzPct val="100000"/>
              <a:buFont typeface="Wingdings" panose="05000000000000000000" pitchFamily="2" charset="2"/>
              <a:buChar char="n"/>
            </a:pPr>
            <a:r>
              <a:rPr lang="zh-CN" altLang="en-US" sz="2200" b="1" dirty="0"/>
              <a:t>相当于将</a:t>
            </a:r>
            <a:r>
              <a:rPr lang="en-US" altLang="zh-CN" sz="2200" b="1" dirty="0"/>
              <a:t>Course</a:t>
            </a:r>
            <a:r>
              <a:rPr lang="zh-CN" altLang="en-US" sz="2200" b="1" dirty="0"/>
              <a:t>表与其自身连接后，取第一个副本的课程号与第二个副本的先修课号做为目标列中的属性。</a:t>
            </a:r>
            <a:endParaRPr lang="zh-CN" altLang="en-US" sz="2200" b="1" dirty="0"/>
          </a:p>
          <a:p>
            <a:pPr lvl="1" eaLnBrk="1" hangingPunct="1">
              <a:lnSpc>
                <a:spcPct val="150000"/>
              </a:lnSpc>
              <a:buSzPct val="100000"/>
              <a:buFont typeface="Wingdings" panose="05000000000000000000" pitchFamily="2" charset="2"/>
              <a:buChar char="n"/>
            </a:pPr>
            <a:r>
              <a:rPr lang="zh-CN" altLang="en-US" sz="2200" b="1" dirty="0"/>
              <a:t>可以为</a:t>
            </a:r>
            <a:r>
              <a:rPr lang="en-US" altLang="zh-CN" sz="2200" b="1" dirty="0"/>
              <a:t>Course</a:t>
            </a:r>
            <a:r>
              <a:rPr lang="zh-CN" altLang="en-US" sz="2200" b="1" dirty="0"/>
              <a:t>表取两个别名：</a:t>
            </a:r>
            <a:r>
              <a:rPr lang="en-US" altLang="zh-CN" sz="2200" b="1" dirty="0"/>
              <a:t>FIRST</a:t>
            </a:r>
            <a:r>
              <a:rPr lang="zh-CN" altLang="en-US" sz="2200" b="1" dirty="0"/>
              <a:t>和</a:t>
            </a:r>
            <a:r>
              <a:rPr lang="en-US" altLang="zh-CN" sz="2200" b="1" dirty="0"/>
              <a:t>SECOND</a:t>
            </a:r>
            <a:endParaRPr lang="en-US" altLang="zh-CN" sz="2200" b="1" dirty="0"/>
          </a:p>
          <a:p>
            <a:pPr lvl="1" eaLnBrk="1" hangingPunct="1">
              <a:lnSpc>
                <a:spcPct val="150000"/>
              </a:lnSpc>
              <a:buSzPct val="100000"/>
              <a:buFont typeface="Wingdings" panose="05000000000000000000" pitchFamily="2" charset="2"/>
              <a:buChar char="n"/>
            </a:pPr>
            <a:r>
              <a:rPr lang="zh-CN" altLang="en-US" sz="2200" b="1" dirty="0"/>
              <a:t>这就是</a:t>
            </a:r>
            <a:r>
              <a:rPr lang="en-US" altLang="zh-CN" sz="2200" b="1" dirty="0"/>
              <a:t>Course</a:t>
            </a:r>
            <a:r>
              <a:rPr lang="zh-CN" altLang="en-US" sz="2200" b="1" dirty="0"/>
              <a:t>表与其自身连接</a:t>
            </a:r>
            <a:endParaRPr lang="zh-CN" altLang="en-US" sz="2200" b="1"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p:txBody>
          <a:bodyPr/>
          <a:lstStyle/>
          <a:p>
            <a:pPr eaLnBrk="1" hangingPunct="1"/>
            <a:r>
              <a:rPr lang="zh-CN" altLang="en-US" sz="3600"/>
              <a:t>自身连接（续）</a:t>
            </a:r>
            <a:endParaRPr lang="zh-CN" altLang="en-US" sz="3600"/>
          </a:p>
        </p:txBody>
      </p:sp>
      <p:graphicFrame>
        <p:nvGraphicFramePr>
          <p:cNvPr id="3" name="表格 2"/>
          <p:cNvGraphicFramePr>
            <a:graphicFrameLocks noGrp="1"/>
          </p:cNvGraphicFramePr>
          <p:nvPr/>
        </p:nvGraphicFramePr>
        <p:xfrm>
          <a:off x="479377" y="2155825"/>
          <a:ext cx="5653138" cy="2682240"/>
        </p:xfrm>
        <a:graphic>
          <a:graphicData uri="http://schemas.openxmlformats.org/drawingml/2006/table">
            <a:tbl>
              <a:tblPr/>
              <a:tblGrid>
                <a:gridCol w="1163047"/>
                <a:gridCol w="2141708"/>
                <a:gridCol w="998924"/>
                <a:gridCol w="1349459"/>
              </a:tblGrid>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课程号</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课程名</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学分</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Ccredit</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先修课</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程序设计概论与</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数据结构</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操作系统</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Python</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离散数学</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大数据技术概论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bl>
          </a:graphicData>
        </a:graphic>
      </p:graphicFrame>
      <p:sp>
        <p:nvSpPr>
          <p:cNvPr id="4" name="Rectangle 1"/>
          <p:cNvSpPr>
            <a:spLocks noChangeArrowheads="1"/>
          </p:cNvSpPr>
          <p:nvPr/>
        </p:nvSpPr>
        <p:spPr bwMode="auto">
          <a:xfrm>
            <a:off x="2566988" y="1412876"/>
            <a:ext cx="7643812" cy="676275"/>
          </a:xfrm>
          <a:prstGeom prst="rect">
            <a:avLst/>
          </a:prstGeom>
          <a:noFill/>
          <a:ln>
            <a:noFill/>
          </a:ln>
          <a:effectLst/>
        </p:spPr>
        <p:txBody>
          <a:bodyPr anchor="ctr">
            <a:spAutoFit/>
          </a:bodyPr>
          <a:lstStyle>
            <a:lvl1pPr indent="2286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69875">
              <a:defRPr/>
            </a:pPr>
            <a:r>
              <a:rPr lang="en-US" altLang="zh-CN" sz="2000" b="1" dirty="0">
                <a:latin typeface="+mn-lt"/>
                <a:ea typeface="+mn-ea"/>
              </a:rPr>
              <a:t>FIRST</a:t>
            </a:r>
            <a:r>
              <a:rPr lang="zh-CN" altLang="en-US" sz="2000" b="1" dirty="0">
                <a:latin typeface="+mn-lt"/>
                <a:ea typeface="+mn-ea"/>
              </a:rPr>
              <a:t>表（</a:t>
            </a:r>
            <a:r>
              <a:rPr lang="en-US" altLang="zh-CN" sz="2000" b="1" dirty="0">
                <a:latin typeface="+mn-lt"/>
                <a:ea typeface="+mn-ea"/>
              </a:rPr>
              <a:t>Course</a:t>
            </a:r>
            <a:r>
              <a:rPr lang="zh-CN" altLang="en-US" sz="2000" b="1" dirty="0">
                <a:latin typeface="+mn-lt"/>
                <a:ea typeface="+mn-ea"/>
              </a:rPr>
              <a:t>表）	          </a:t>
            </a:r>
            <a:r>
              <a:rPr lang="en-US" altLang="zh-CN" sz="2000" b="1" dirty="0">
                <a:latin typeface="+mn-lt"/>
                <a:ea typeface="+mn-ea"/>
              </a:rPr>
              <a:t>SECOND</a:t>
            </a:r>
            <a:r>
              <a:rPr lang="zh-CN" altLang="en-US" sz="2000" b="1" dirty="0">
                <a:latin typeface="+mn-lt"/>
                <a:ea typeface="+mn-ea"/>
              </a:rPr>
              <a:t>表（</a:t>
            </a:r>
            <a:r>
              <a:rPr lang="en-US" altLang="zh-CN" sz="2000" b="1" dirty="0">
                <a:latin typeface="+mn-lt"/>
                <a:ea typeface="+mn-ea"/>
              </a:rPr>
              <a:t>Course</a:t>
            </a:r>
            <a:r>
              <a:rPr lang="zh-CN" altLang="en-US" sz="2000" b="1" dirty="0">
                <a:latin typeface="+mn-lt"/>
                <a:ea typeface="+mn-ea"/>
              </a:rPr>
              <a:t>表）</a:t>
            </a:r>
            <a:endParaRPr lang="zh-CN" altLang="en-US" sz="2000" b="1" dirty="0">
              <a:latin typeface="+mn-lt"/>
              <a:ea typeface="+mn-ea"/>
            </a:endParaRPr>
          </a:p>
          <a:p>
            <a:pPr indent="269875">
              <a:defRPr/>
            </a:pPr>
            <a:endParaRPr lang="zh-CN" altLang="en-US" dirty="0"/>
          </a:p>
        </p:txBody>
      </p:sp>
      <p:graphicFrame>
        <p:nvGraphicFramePr>
          <p:cNvPr id="8" name="表格 7"/>
          <p:cNvGraphicFramePr>
            <a:graphicFrameLocks noGrp="1"/>
          </p:cNvGraphicFramePr>
          <p:nvPr/>
        </p:nvGraphicFramePr>
        <p:xfrm>
          <a:off x="6240464" y="2155825"/>
          <a:ext cx="5832200" cy="2682240"/>
        </p:xfrm>
        <a:graphic>
          <a:graphicData uri="http://schemas.openxmlformats.org/drawingml/2006/table">
            <a:tbl>
              <a:tblPr/>
              <a:tblGrid>
                <a:gridCol w="1200317"/>
                <a:gridCol w="2208248"/>
                <a:gridCol w="1030933"/>
                <a:gridCol w="1392702"/>
              </a:tblGrid>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课程号</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课程名</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学分</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Ccredit</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先修课</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程序设计概论与</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数据结构</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968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信息系统概论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操作系统</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Python</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离散数学</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198438">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大数据技术概论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2438400" y="260351"/>
            <a:ext cx="7391400" cy="561975"/>
          </a:xfrm>
        </p:spPr>
        <p:txBody>
          <a:bodyPr/>
          <a:lstStyle/>
          <a:p>
            <a:pPr eaLnBrk="1" hangingPunct="1"/>
            <a:r>
              <a:rPr lang="zh-CN" altLang="en-US" sz="3600"/>
              <a:t>自身连接（续）</a:t>
            </a:r>
            <a:endParaRPr lang="zh-CN" altLang="en-US" sz="3600"/>
          </a:p>
        </p:txBody>
      </p:sp>
      <p:sp>
        <p:nvSpPr>
          <p:cNvPr id="59395" name="Rectangle 3"/>
          <p:cNvSpPr>
            <a:spLocks noGrp="1" noChangeArrowheads="1"/>
          </p:cNvSpPr>
          <p:nvPr>
            <p:ph type="body" sz="half" idx="4294967295"/>
          </p:nvPr>
        </p:nvSpPr>
        <p:spPr>
          <a:xfrm>
            <a:off x="1981200" y="1828800"/>
            <a:ext cx="4038600" cy="592138"/>
          </a:xfrm>
        </p:spPr>
        <p:txBody>
          <a:bodyPr/>
          <a:lstStyle/>
          <a:p>
            <a:pPr eaLnBrk="1" hangingPunct="1">
              <a:buFont typeface="Wingdings" panose="05000000000000000000" pitchFamily="2" charset="2"/>
              <a:buNone/>
            </a:pPr>
            <a:r>
              <a:rPr lang="zh-CN" altLang="en-US"/>
              <a:t>查询结果：</a:t>
            </a:r>
            <a:endParaRPr lang="zh-CN" altLang="en-US"/>
          </a:p>
        </p:txBody>
      </p:sp>
      <p:graphicFrame>
        <p:nvGraphicFramePr>
          <p:cNvPr id="3" name="表格 2"/>
          <p:cNvGraphicFramePr>
            <a:graphicFrameLocks noGrp="1"/>
          </p:cNvGraphicFramePr>
          <p:nvPr/>
        </p:nvGraphicFramePr>
        <p:xfrm>
          <a:off x="3792538" y="2420938"/>
          <a:ext cx="3816350" cy="3313110"/>
        </p:xfrm>
        <a:graphic>
          <a:graphicData uri="http://schemas.openxmlformats.org/drawingml/2006/table">
            <a:tbl>
              <a:tblPr/>
              <a:tblGrid>
                <a:gridCol w="1908175"/>
                <a:gridCol w="1908175"/>
              </a:tblGrid>
              <a:tr h="662622">
                <a:tc>
                  <a:txBody>
                    <a:bodyPr/>
                    <a:lstStyle/>
                    <a:p>
                      <a:pPr algn="ctr"/>
                      <a:r>
                        <a:rPr lang="en-US" sz="2400" b="1" kern="100" baseline="0" dirty="0" err="1">
                          <a:effectLst/>
                          <a:latin typeface="Arial" panose="020B0604020202020204" pitchFamily="34" charset="0"/>
                          <a:ea typeface="宋体" panose="02010600030101010101" pitchFamily="2" charset="-122"/>
                        </a:rPr>
                        <a:t>Cno</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w="12700" cap="flat" cmpd="sng" algn="ctr">
                      <a:solidFill>
                        <a:srgbClr val="00B0F0"/>
                      </a:solidFill>
                      <a:prstDash val="solid"/>
                      <a:round/>
                      <a:headEnd type="none" w="med" len="med"/>
                      <a:tailEnd type="none" w="med" len="med"/>
                    </a:lnB>
                  </a:tcPr>
                </a:tc>
                <a:tc>
                  <a:txBody>
                    <a:bodyPr/>
                    <a:lstStyle/>
                    <a:p>
                      <a:pPr algn="ctr"/>
                      <a:r>
                        <a:rPr lang="en-US" sz="2400" b="1" kern="100" baseline="0" dirty="0" err="1">
                          <a:effectLst/>
                          <a:latin typeface="Arial" panose="020B0604020202020204" pitchFamily="34" charset="0"/>
                          <a:ea typeface="宋体" panose="02010600030101010101" pitchFamily="2" charset="-122"/>
                        </a:rPr>
                        <a:t>Cpno</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w="12700" cap="flat" cmpd="sng" algn="ctr">
                      <a:solidFill>
                        <a:srgbClr val="00B0F0"/>
                      </a:solidFill>
                      <a:prstDash val="solid"/>
                      <a:round/>
                      <a:headEnd type="none" w="med" len="med"/>
                      <a:tailEnd type="none" w="med" len="med"/>
                    </a:lnB>
                  </a:tcPr>
                </a:tc>
              </a:tr>
              <a:tr h="662622">
                <a:tc>
                  <a:txBody>
                    <a:bodyPr/>
                    <a:lstStyle/>
                    <a:p>
                      <a:pPr algn="ctr"/>
                      <a:r>
                        <a:rPr lang="en-US" sz="2400" b="1" kern="100" baseline="0" dirty="0">
                          <a:effectLst/>
                          <a:latin typeface="Arial" panose="020B0604020202020204" pitchFamily="34" charset="0"/>
                          <a:ea typeface="宋体" panose="02010600030101010101" pitchFamily="2" charset="-122"/>
                        </a:rPr>
                        <a:t>81003 </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w="12700" cap="flat" cmpd="sng" algn="ctr">
                      <a:solidFill>
                        <a:srgbClr val="00B0F0"/>
                      </a:solidFill>
                      <a:prstDash val="solid"/>
                      <a:round/>
                      <a:headEnd type="none" w="med" len="med"/>
                      <a:tailEnd type="none" w="med" len="med"/>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81001</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w="12700" cap="flat" cmpd="sng" algn="ctr">
                      <a:solidFill>
                        <a:srgbClr val="00B0F0"/>
                      </a:solidFill>
                      <a:prstDash val="solid"/>
                      <a:round/>
                      <a:headEnd type="none" w="med" len="med"/>
                      <a:tailEnd type="none" w="med" len="med"/>
                    </a:lnT>
                    <a:lnB>
                      <a:noFill/>
                    </a:lnB>
                  </a:tcPr>
                </a:tc>
              </a:tr>
              <a:tr h="662622">
                <a:tc>
                  <a:txBody>
                    <a:bodyPr/>
                    <a:lstStyle/>
                    <a:p>
                      <a:pPr algn="ctr"/>
                      <a:r>
                        <a:rPr lang="en-US" sz="2400" b="1" kern="100" baseline="0">
                          <a:effectLst/>
                          <a:latin typeface="Arial" panose="020B0604020202020204" pitchFamily="34" charset="0"/>
                          <a:ea typeface="宋体" panose="02010600030101010101" pitchFamily="2" charset="-122"/>
                        </a:rPr>
                        <a:t>81004</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81002</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r>
              <a:tr h="662622">
                <a:tc>
                  <a:txBody>
                    <a:bodyPr/>
                    <a:lstStyle/>
                    <a:p>
                      <a:pPr algn="ctr"/>
                      <a:r>
                        <a:rPr lang="en-US" sz="2400" b="1" kern="100" baseline="0">
                          <a:effectLst/>
                          <a:latin typeface="Arial" panose="020B0604020202020204" pitchFamily="34" charset="0"/>
                          <a:ea typeface="宋体" panose="02010600030101010101" pitchFamily="2" charset="-122"/>
                        </a:rPr>
                        <a:t>82006</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81001</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r>
              <a:tr h="662622">
                <a:tc>
                  <a:txBody>
                    <a:bodyPr/>
                    <a:lstStyle/>
                    <a:p>
                      <a:pPr algn="ctr"/>
                      <a:r>
                        <a:rPr lang="en-US" sz="2400" b="1" kern="100" baseline="0">
                          <a:effectLst/>
                          <a:latin typeface="Arial" panose="020B0604020202020204" pitchFamily="34" charset="0"/>
                          <a:ea typeface="宋体" panose="02010600030101010101" pitchFamily="2" charset="-122"/>
                        </a:rPr>
                        <a:t>81008</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81002</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2438400" y="260351"/>
            <a:ext cx="7391400" cy="561975"/>
          </a:xfrm>
        </p:spPr>
        <p:txBody>
          <a:bodyPr/>
          <a:lstStyle/>
          <a:p>
            <a:pPr eaLnBrk="1" hangingPunct="1"/>
            <a:r>
              <a:rPr lang="zh-CN" altLang="en-US" sz="3600"/>
              <a:t>分析：下面语句目的是</a:t>
            </a:r>
            <a:r>
              <a:rPr lang="zh-CN" altLang="en-US" sz="3600"/>
              <a:t>什么</a:t>
            </a:r>
            <a:endParaRPr lang="zh-CN" altLang="en-US" sz="3600"/>
          </a:p>
        </p:txBody>
      </p:sp>
      <p:sp>
        <p:nvSpPr>
          <p:cNvPr id="5" name="文本框 4"/>
          <p:cNvSpPr txBox="1"/>
          <p:nvPr>
            <p:custDataLst>
              <p:tags r:id="rId1"/>
            </p:custDataLst>
          </p:nvPr>
        </p:nvSpPr>
        <p:spPr>
          <a:xfrm>
            <a:off x="1415415" y="1412240"/>
            <a:ext cx="6096000" cy="521970"/>
          </a:xfrm>
          <a:prstGeom prst="rect">
            <a:avLst/>
          </a:prstGeom>
          <a:noFill/>
        </p:spPr>
        <p:txBody>
          <a:bodyPr wrap="square" rtlCol="0" anchor="t">
            <a:spAutoFit/>
          </a:bodyPr>
          <a:p>
            <a:r>
              <a:rPr lang="en-US" altLang="zh-CN" sz="2800">
                <a:sym typeface="+mn-ea"/>
              </a:rPr>
              <a:t>BM (ID, Name, Year, Result)</a:t>
            </a:r>
            <a:endParaRPr lang="en-US" altLang="zh-CN" sz="2800">
              <a:sym typeface="+mn-ea"/>
            </a:endParaRPr>
          </a:p>
        </p:txBody>
      </p:sp>
      <p:sp>
        <p:nvSpPr>
          <p:cNvPr id="6" name="文本框 5"/>
          <p:cNvSpPr txBox="1"/>
          <p:nvPr>
            <p:custDataLst>
              <p:tags r:id="rId2"/>
            </p:custDataLst>
          </p:nvPr>
        </p:nvSpPr>
        <p:spPr>
          <a:xfrm>
            <a:off x="1487170" y="2306320"/>
            <a:ext cx="6096000" cy="3107690"/>
          </a:xfrm>
          <a:prstGeom prst="rect">
            <a:avLst/>
          </a:prstGeom>
          <a:noFill/>
        </p:spPr>
        <p:txBody>
          <a:bodyPr wrap="square" rtlCol="0" anchor="t">
            <a:spAutoFit/>
          </a:bodyPr>
          <a:p>
            <a:r>
              <a:rPr lang="en-US" altLang="zh-CN" sz="2800">
                <a:sym typeface="+mn-ea"/>
              </a:rPr>
              <a:t>Select B1.ID, B1.Name</a:t>
            </a:r>
            <a:endParaRPr lang="en-US" altLang="zh-CN" sz="2800">
              <a:sym typeface="+mn-ea"/>
            </a:endParaRPr>
          </a:p>
          <a:p>
            <a:r>
              <a:rPr lang="en-US" altLang="zh-CN" sz="2800">
                <a:sym typeface="+mn-ea"/>
              </a:rPr>
              <a:t>From BM B1, BM B2, BM B3</a:t>
            </a:r>
            <a:endParaRPr lang="en-US" altLang="zh-CN" sz="2800">
              <a:sym typeface="+mn-ea"/>
            </a:endParaRPr>
          </a:p>
          <a:p>
            <a:r>
              <a:rPr lang="en-US" altLang="zh-CN" sz="2800">
                <a:sym typeface="+mn-ea"/>
              </a:rPr>
              <a:t>WHERE B1.Year - B2.Year = 1</a:t>
            </a:r>
            <a:endParaRPr lang="en-US" altLang="zh-CN" sz="2800">
              <a:sym typeface="+mn-ea"/>
            </a:endParaRPr>
          </a:p>
          <a:p>
            <a:r>
              <a:rPr lang="en-US" altLang="zh-CN" sz="2800">
                <a:sym typeface="+mn-ea"/>
              </a:rPr>
              <a:t>AND  B2.Year - B3.Year =1 </a:t>
            </a:r>
            <a:endParaRPr lang="en-US" altLang="zh-CN" sz="2800">
              <a:sym typeface="+mn-ea"/>
            </a:endParaRPr>
          </a:p>
          <a:p>
            <a:r>
              <a:rPr lang="en-US" altLang="zh-CN" sz="2800">
                <a:sym typeface="+mn-ea"/>
              </a:rPr>
              <a:t>AND </a:t>
            </a:r>
            <a:r>
              <a:rPr lang="en-US" altLang="zh-CN" sz="2800">
                <a:sym typeface="+mn-ea"/>
              </a:rPr>
              <a:t>B1.ID = B2.ID</a:t>
            </a:r>
            <a:endParaRPr lang="en-US" altLang="zh-CN" sz="2800">
              <a:sym typeface="+mn-ea"/>
            </a:endParaRPr>
          </a:p>
          <a:p>
            <a:r>
              <a:rPr lang="en-US" altLang="zh-CN" sz="2800">
                <a:sym typeface="+mn-ea"/>
              </a:rPr>
              <a:t>AND B2.ID = B3.ID</a:t>
            </a:r>
            <a:endParaRPr lang="en-US" altLang="zh-CN" sz="2800">
              <a:sym typeface="+mn-ea"/>
            </a:endParaRPr>
          </a:p>
          <a:p>
            <a:endParaRPr lang="en-US" altLang="zh-CN" sz="2800">
              <a:sym typeface="+mn-ea"/>
            </a:endParaRPr>
          </a:p>
        </p:txBody>
      </p:sp>
      <p:sp>
        <p:nvSpPr>
          <p:cNvPr id="7" name="文本框 6"/>
          <p:cNvSpPr txBox="1"/>
          <p:nvPr/>
        </p:nvSpPr>
        <p:spPr>
          <a:xfrm>
            <a:off x="1847215" y="5372735"/>
            <a:ext cx="8404225" cy="521970"/>
          </a:xfrm>
          <a:prstGeom prst="rect">
            <a:avLst/>
          </a:prstGeom>
          <a:noFill/>
        </p:spPr>
        <p:txBody>
          <a:bodyPr wrap="square" rtlCol="0" anchor="t">
            <a:spAutoFit/>
          </a:bodyPr>
          <a:p>
            <a:pPr algn="ctr"/>
            <a:r>
              <a:rPr lang="zh-CN" altLang="en-US" sz="2800">
                <a:sym typeface="+mn-ea"/>
              </a:rPr>
              <a:t>课后试试问一下大模型，看看</a:t>
            </a:r>
            <a:r>
              <a:rPr lang="en-US" altLang="zh-CN" sz="2800">
                <a:sym typeface="+mn-ea"/>
              </a:rPr>
              <a:t>TA</a:t>
            </a:r>
            <a:r>
              <a:rPr lang="zh-CN" altLang="en-US" sz="2800">
                <a:sym typeface="+mn-ea"/>
              </a:rPr>
              <a:t>给的答案是</a:t>
            </a:r>
            <a:r>
              <a:rPr lang="zh-CN" altLang="en-US" sz="2800">
                <a:sym typeface="+mn-ea"/>
              </a:rPr>
              <a:t>什么</a:t>
            </a:r>
            <a:endParaRPr lang="zh-CN" altLang="en-US" sz="2800">
              <a:sym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60419" name="Rectangle 3"/>
          <p:cNvSpPr>
            <a:spLocks noGrp="1" noChangeArrowheads="1"/>
          </p:cNvSpPr>
          <p:nvPr>
            <p:ph type="body" idx="4294967295"/>
          </p:nvPr>
        </p:nvSpPr>
        <p:spPr>
          <a:xfrm>
            <a:off x="1981200" y="1098551"/>
            <a:ext cx="8229600" cy="5095875"/>
          </a:xfrm>
        </p:spPr>
        <p:txBody>
          <a:bodyPr/>
          <a:lstStyle/>
          <a:p>
            <a:pPr lvl="1">
              <a:lnSpc>
                <a:spcPct val="150000"/>
              </a:lnSpc>
              <a:buFont typeface="Wingdings" panose="05000000000000000000" pitchFamily="2" charset="2"/>
              <a:buNone/>
            </a:pPr>
            <a:endParaRPr lang="en-US" altLang="zh-CN"/>
          </a:p>
          <a:p>
            <a:pPr lvl="1">
              <a:lnSpc>
                <a:spcPct val="150000"/>
              </a:lnSpc>
              <a:buFont typeface="Wingdings" panose="05000000000000000000" pitchFamily="2" charset="2"/>
              <a:buNone/>
            </a:pPr>
            <a:r>
              <a:rPr lang="en-US" altLang="zh-CN" sz="2800"/>
              <a:t>1.</a:t>
            </a:r>
            <a:r>
              <a:rPr lang="zh-CN" altLang="en-US" sz="2800"/>
              <a:t>等值与非等值连接查询 </a:t>
            </a:r>
            <a:endParaRPr lang="zh-CN" altLang="en-US" sz="2800"/>
          </a:p>
          <a:p>
            <a:pPr lvl="1">
              <a:lnSpc>
                <a:spcPct val="150000"/>
              </a:lnSpc>
              <a:buFont typeface="Wingdings" panose="05000000000000000000" pitchFamily="2" charset="2"/>
              <a:buNone/>
            </a:pPr>
            <a:r>
              <a:rPr lang="en-US" altLang="zh-CN" sz="2800"/>
              <a:t>2.</a:t>
            </a:r>
            <a:r>
              <a:rPr lang="zh-CN" altLang="en-US" sz="2800"/>
              <a:t>自身连接</a:t>
            </a:r>
            <a:endParaRPr lang="zh-CN" altLang="en-US" sz="2800"/>
          </a:p>
          <a:p>
            <a:pPr lvl="1">
              <a:lnSpc>
                <a:spcPct val="150000"/>
              </a:lnSpc>
              <a:buFont typeface="Wingdings" panose="05000000000000000000" pitchFamily="2" charset="2"/>
              <a:buNone/>
            </a:pPr>
            <a:r>
              <a:rPr lang="en-US" altLang="zh-CN" sz="2800">
                <a:solidFill>
                  <a:srgbClr val="7030A0"/>
                </a:solidFill>
              </a:rPr>
              <a:t>3.</a:t>
            </a:r>
            <a:r>
              <a:rPr lang="zh-CN" altLang="en-US" sz="2800">
                <a:solidFill>
                  <a:srgbClr val="7030A0"/>
                </a:solidFill>
              </a:rPr>
              <a:t>外连接</a:t>
            </a:r>
            <a:endParaRPr lang="zh-CN" altLang="en-US" sz="2800">
              <a:solidFill>
                <a:srgbClr val="7030A0"/>
              </a:solidFill>
            </a:endParaRPr>
          </a:p>
          <a:p>
            <a:pPr lvl="1">
              <a:lnSpc>
                <a:spcPct val="150000"/>
              </a:lnSpc>
              <a:buFont typeface="Wingdings" panose="05000000000000000000" pitchFamily="2" charset="2"/>
              <a:buNone/>
            </a:pPr>
            <a:r>
              <a:rPr lang="en-US" altLang="zh-CN" sz="2800"/>
              <a:t>4.</a:t>
            </a:r>
            <a:r>
              <a:rPr lang="zh-CN" altLang="en-US" sz="2800"/>
              <a:t>多表连接</a:t>
            </a:r>
            <a:endParaRPr lang="zh-CN" altLang="en-US" sz="2800"/>
          </a:p>
          <a:p>
            <a:pPr lvl="1">
              <a:buFont typeface="Wingdings" panose="05000000000000000000" pitchFamily="2" charset="2"/>
              <a:buNone/>
            </a:pPr>
            <a:endParaRPr lang="en-US" altLang="zh-CN" sz="280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p:txBody>
          <a:bodyPr/>
          <a:lstStyle/>
          <a:p>
            <a:pPr eaLnBrk="1" hangingPunct="1"/>
            <a:r>
              <a:rPr lang="en-US" altLang="zh-CN" sz="3600"/>
              <a:t>3. </a:t>
            </a:r>
            <a:r>
              <a:rPr lang="zh-CN" altLang="en-US" sz="3600"/>
              <a:t>外连接</a:t>
            </a:r>
            <a:endParaRPr lang="zh-CN" altLang="en-US" sz="3600"/>
          </a:p>
        </p:txBody>
      </p:sp>
      <p:sp>
        <p:nvSpPr>
          <p:cNvPr id="61443" name="Rectangle 3"/>
          <p:cNvSpPr>
            <a:spLocks noGrp="1" noChangeArrowheads="1"/>
          </p:cNvSpPr>
          <p:nvPr>
            <p:ph type="body" idx="4294967295"/>
          </p:nvPr>
        </p:nvSpPr>
        <p:spPr>
          <a:xfrm>
            <a:off x="1981201" y="1125538"/>
            <a:ext cx="8507413" cy="5040312"/>
          </a:xfrm>
        </p:spPr>
        <p:txBody>
          <a:bodyPr/>
          <a:lstStyle/>
          <a:p>
            <a:pPr algn="just" eaLnBrk="1" hangingPunct="1">
              <a:lnSpc>
                <a:spcPct val="120000"/>
              </a:lnSpc>
              <a:spcBef>
                <a:spcPct val="0"/>
              </a:spcBef>
            </a:pPr>
            <a:r>
              <a:rPr lang="zh-CN" altLang="en-US"/>
              <a:t>外连接与普通连接的区别</a:t>
            </a:r>
            <a:endParaRPr lang="zh-CN" altLang="en-US"/>
          </a:p>
          <a:p>
            <a:pPr lvl="1" algn="just" eaLnBrk="1" hangingPunct="1">
              <a:lnSpc>
                <a:spcPct val="120000"/>
              </a:lnSpc>
              <a:spcBef>
                <a:spcPct val="0"/>
              </a:spcBef>
            </a:pPr>
            <a:r>
              <a:rPr lang="zh-CN" altLang="en-US"/>
              <a:t>普通连接操作只输出满足连接条件的元组</a:t>
            </a:r>
            <a:endParaRPr lang="zh-CN" altLang="en-US"/>
          </a:p>
          <a:p>
            <a:pPr lvl="1" eaLnBrk="1" hangingPunct="1">
              <a:lnSpc>
                <a:spcPct val="120000"/>
              </a:lnSpc>
              <a:spcBef>
                <a:spcPct val="0"/>
              </a:spcBef>
            </a:pPr>
            <a:r>
              <a:rPr lang="zh-CN" altLang="en-US"/>
              <a:t>外连接操作以指定表为连接主体，将主体表中不满足连接条件的元组一并输出</a:t>
            </a:r>
            <a:endParaRPr lang="zh-CN" altLang="en-US"/>
          </a:p>
          <a:p>
            <a:pPr lvl="1" algn="just" eaLnBrk="1" hangingPunct="1">
              <a:lnSpc>
                <a:spcPct val="120000"/>
              </a:lnSpc>
              <a:spcBef>
                <a:spcPct val="0"/>
              </a:spcBef>
            </a:pPr>
            <a:r>
              <a:rPr lang="en-US" altLang="zh-CN"/>
              <a:t> </a:t>
            </a:r>
            <a:r>
              <a:rPr lang="zh-CN" altLang="en-US"/>
              <a:t>左外连接</a:t>
            </a:r>
            <a:endParaRPr lang="zh-CN" altLang="en-US"/>
          </a:p>
          <a:p>
            <a:pPr lvl="2" algn="just" eaLnBrk="1" hangingPunct="1">
              <a:lnSpc>
                <a:spcPct val="120000"/>
              </a:lnSpc>
              <a:spcBef>
                <a:spcPct val="0"/>
              </a:spcBef>
              <a:buSzPct val="87000"/>
              <a:buFont typeface="Wingdings" panose="05000000000000000000" pitchFamily="2" charset="2"/>
              <a:buChar char="l"/>
            </a:pPr>
            <a:r>
              <a:rPr lang="zh-CN" altLang="en-US" sz="2200"/>
              <a:t>列出左边关系中所有的元组 </a:t>
            </a:r>
            <a:endParaRPr lang="zh-CN" altLang="en-US" sz="2200"/>
          </a:p>
          <a:p>
            <a:pPr lvl="1" algn="just" eaLnBrk="1" hangingPunct="1">
              <a:lnSpc>
                <a:spcPct val="120000"/>
              </a:lnSpc>
              <a:spcBef>
                <a:spcPct val="0"/>
              </a:spcBef>
            </a:pPr>
            <a:r>
              <a:rPr lang="zh-CN" altLang="en-US"/>
              <a:t> 右外连接</a:t>
            </a:r>
            <a:endParaRPr lang="zh-CN" altLang="en-US"/>
          </a:p>
          <a:p>
            <a:pPr lvl="2" algn="just" eaLnBrk="1" hangingPunct="1">
              <a:lnSpc>
                <a:spcPct val="120000"/>
              </a:lnSpc>
              <a:spcBef>
                <a:spcPct val="0"/>
              </a:spcBef>
              <a:buSzPct val="87000"/>
              <a:buFont typeface="Wingdings" panose="05000000000000000000" pitchFamily="2" charset="2"/>
              <a:buChar char="l"/>
            </a:pPr>
            <a:r>
              <a:rPr lang="zh-CN" altLang="en-US" sz="2200"/>
              <a:t>列出右边关系中所有的元组 </a:t>
            </a:r>
            <a:endParaRPr lang="zh-CN" altLang="en-US" sz="2200"/>
          </a:p>
          <a:p>
            <a:pPr eaLnBrk="1" hangingPunct="1">
              <a:lnSpc>
                <a:spcPct val="90000"/>
              </a:lnSpc>
              <a:buFont typeface="Wingdings" panose="05000000000000000000" pitchFamily="2" charset="2"/>
              <a:buNone/>
            </a:pPr>
            <a:r>
              <a:rPr lang="zh-CN" altLang="en-US" sz="2000"/>
              <a:t>    </a:t>
            </a:r>
            <a:endParaRPr lang="zh-CN" altLang="en-US" sz="20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p:txBody>
          <a:bodyPr/>
          <a:lstStyle/>
          <a:p>
            <a:pPr eaLnBrk="1" hangingPunct="1"/>
            <a:r>
              <a:rPr lang="zh-CN" altLang="en-US" sz="3600"/>
              <a:t>外连接（续）</a:t>
            </a:r>
            <a:endParaRPr lang="zh-CN" altLang="en-US" sz="3600"/>
          </a:p>
        </p:txBody>
      </p:sp>
      <p:sp>
        <p:nvSpPr>
          <p:cNvPr id="23555" name="Rectangle 3"/>
          <p:cNvSpPr>
            <a:spLocks noGrp="1" noChangeArrowheads="1"/>
          </p:cNvSpPr>
          <p:nvPr>
            <p:ph type="body" idx="4294967295"/>
          </p:nvPr>
        </p:nvSpPr>
        <p:spPr>
          <a:xfrm>
            <a:off x="1703389" y="981075"/>
            <a:ext cx="8785225" cy="5111750"/>
          </a:xfrm>
        </p:spPr>
        <p:txBody>
          <a:bodyPr/>
          <a:lstStyle/>
          <a:p>
            <a:pPr indent="0" algn="just">
              <a:lnSpc>
                <a:spcPct val="150000"/>
              </a:lnSpc>
              <a:spcBef>
                <a:spcPct val="0"/>
              </a:spcBef>
              <a:buNone/>
            </a:pPr>
            <a:r>
              <a:rPr lang="en-US" altLang="zh-CN" sz="2400"/>
              <a:t>[</a:t>
            </a:r>
            <a:r>
              <a:rPr lang="zh-CN" altLang="en-US" sz="2400"/>
              <a:t>例</a:t>
            </a:r>
            <a:r>
              <a:rPr lang="en-US" altLang="zh-CN" sz="2400"/>
              <a:t>3.54]</a:t>
            </a:r>
            <a:r>
              <a:rPr lang="zh-CN" altLang="zh-CN" sz="2400"/>
              <a:t>想以</a:t>
            </a:r>
            <a:r>
              <a:rPr lang="en-US" altLang="zh-CN" sz="2400"/>
              <a:t>Student</a:t>
            </a:r>
            <a:r>
              <a:rPr lang="zh-CN" altLang="zh-CN" sz="2400"/>
              <a:t>表为主体列出每个学生的基本情况及其选课情况，若某个学生没有选课，则只输出其基本情况的数据，而把选课信息填为空值</a:t>
            </a:r>
            <a:r>
              <a:rPr lang="en-US" altLang="zh-CN" sz="2400"/>
              <a:t>NULL</a:t>
            </a:r>
            <a:endParaRPr lang="en-US" altLang="zh-CN" sz="2400"/>
          </a:p>
          <a:p>
            <a:pPr indent="0" algn="just">
              <a:lnSpc>
                <a:spcPct val="150000"/>
              </a:lnSpc>
              <a:spcBef>
                <a:spcPct val="0"/>
              </a:spcBef>
              <a:buNone/>
            </a:pPr>
            <a:endParaRPr lang="zh-CN" altLang="zh-CN" sz="2400"/>
          </a:p>
          <a:p>
            <a:pPr indent="0" algn="just">
              <a:lnSpc>
                <a:spcPct val="150000"/>
              </a:lnSpc>
              <a:spcBef>
                <a:spcPct val="0"/>
              </a:spcBef>
              <a:buNone/>
            </a:pPr>
            <a:r>
              <a:rPr lang="en-US" altLang="zh-CN" sz="2100"/>
              <a:t>SELECT Student.Sno,Sname,Ssex,Sbirthdate,Smajor,Cno,Grade</a:t>
            </a:r>
            <a:endParaRPr lang="zh-CN" altLang="zh-CN" sz="2100"/>
          </a:p>
          <a:p>
            <a:pPr indent="0" algn="just">
              <a:lnSpc>
                <a:spcPct val="150000"/>
              </a:lnSpc>
              <a:spcBef>
                <a:spcPct val="0"/>
              </a:spcBef>
              <a:buNone/>
            </a:pPr>
            <a:r>
              <a:rPr lang="en-US" altLang="zh-CN" sz="2100"/>
              <a:t>FROM </a:t>
            </a:r>
            <a:r>
              <a:rPr lang="en-US" altLang="zh-CN" sz="2100">
                <a:solidFill>
                  <a:srgbClr val="000000"/>
                </a:solidFill>
              </a:rPr>
              <a:t>Student LEFT OUTER JOIN SC ON (Student.Sno=SC.Sno);</a:t>
            </a:r>
            <a:endParaRPr lang="zh-CN" altLang="zh-CN" sz="2100"/>
          </a:p>
          <a:p>
            <a:pPr indent="0" eaLnBrk="1" hangingPunct="1">
              <a:lnSpc>
                <a:spcPct val="90000"/>
              </a:lnSpc>
              <a:buNone/>
            </a:pPr>
            <a:r>
              <a:rPr lang="zh-CN" altLang="en-US" sz="2400"/>
              <a:t>    </a:t>
            </a:r>
            <a:endParaRPr lang="zh-CN" altLang="en-US" sz="240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p:txBody>
          <a:bodyPr/>
          <a:lstStyle/>
          <a:p>
            <a:pPr eaLnBrk="1" hangingPunct="1"/>
            <a:r>
              <a:rPr lang="zh-CN" altLang="en-US" sz="3600"/>
              <a:t>外连接（续）</a:t>
            </a:r>
            <a:endParaRPr lang="zh-CN" altLang="en-US" sz="3600"/>
          </a:p>
        </p:txBody>
      </p:sp>
      <p:sp>
        <p:nvSpPr>
          <p:cNvPr id="23555" name="Rectangle 3"/>
          <p:cNvSpPr>
            <a:spLocks noGrp="1" noChangeArrowheads="1"/>
          </p:cNvSpPr>
          <p:nvPr>
            <p:ph type="body" idx="4294967295"/>
          </p:nvPr>
        </p:nvSpPr>
        <p:spPr>
          <a:xfrm>
            <a:off x="1703389" y="981075"/>
            <a:ext cx="9145587" cy="5111750"/>
          </a:xfrm>
        </p:spPr>
        <p:txBody>
          <a:bodyPr/>
          <a:lstStyle/>
          <a:p>
            <a:pPr indent="0" algn="just">
              <a:buNone/>
            </a:pPr>
            <a:r>
              <a:rPr lang="zh-CN" altLang="zh-CN" sz="2400">
                <a:latin typeface="Times New Roman" panose="02020603050405020304" pitchFamily="18" charset="0"/>
              </a:rPr>
              <a:t>执行结果如下：</a:t>
            </a:r>
            <a:endParaRPr lang="zh-CN" altLang="zh-CN" sz="2400">
              <a:latin typeface="Times New Roman" panose="02020603050405020304" pitchFamily="18" charset="0"/>
            </a:endParaRPr>
          </a:p>
          <a:p>
            <a:pPr indent="0" eaLnBrk="1" hangingPunct="1">
              <a:lnSpc>
                <a:spcPct val="90000"/>
              </a:lnSpc>
              <a:buNone/>
            </a:pPr>
            <a:r>
              <a:rPr lang="zh-CN" altLang="en-US" sz="2400"/>
              <a:t>    </a:t>
            </a:r>
            <a:endParaRPr lang="zh-CN" altLang="en-US" sz="2400"/>
          </a:p>
        </p:txBody>
      </p:sp>
      <p:graphicFrame>
        <p:nvGraphicFramePr>
          <p:cNvPr id="2" name="表格 1"/>
          <p:cNvGraphicFramePr>
            <a:graphicFrameLocks noGrp="1"/>
          </p:cNvGraphicFramePr>
          <p:nvPr/>
        </p:nvGraphicFramePr>
        <p:xfrm>
          <a:off x="839417" y="1484313"/>
          <a:ext cx="10297142" cy="4275455"/>
        </p:xfrm>
        <a:graphic>
          <a:graphicData uri="http://schemas.openxmlformats.org/drawingml/2006/table">
            <a:tbl>
              <a:tblPr/>
              <a:tblGrid>
                <a:gridCol w="1768332"/>
                <a:gridCol w="1121660"/>
                <a:gridCol w="887026"/>
                <a:gridCol w="1482194"/>
                <a:gridCol w="2956757"/>
                <a:gridCol w="898471"/>
                <a:gridCol w="1182702"/>
              </a:tblGrid>
              <a:tr h="307975">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err="1">
                          <a:ln>
                            <a:noFill/>
                          </a:ln>
                          <a:solidFill>
                            <a:srgbClr val="000000"/>
                          </a:solidFill>
                          <a:effectLst/>
                          <a:latin typeface="Arila"/>
                          <a:ea typeface="宋体" panose="02010600030101010101" pitchFamily="2" charset="-122"/>
                        </a:rPr>
                        <a:t>Student.Sno</a:t>
                      </a:r>
                      <a:endParaRPr kumimoji="0" lang="en-US" altLang="zh-CN" sz="1200" b="1" i="0" u="none" strike="noStrike" cap="none" normalizeH="0" baseline="0" dirty="0" err="1">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Sname</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Ssex</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Sbirthdate</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Smajor</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err="1">
                          <a:ln>
                            <a:noFill/>
                          </a:ln>
                          <a:solidFill>
                            <a:srgbClr val="000000"/>
                          </a:solidFill>
                          <a:effectLst/>
                          <a:latin typeface="Arila"/>
                          <a:ea typeface="宋体" panose="02010600030101010101" pitchFamily="2" charset="-122"/>
                        </a:rPr>
                        <a:t>Cno</a:t>
                      </a:r>
                      <a:endParaRPr kumimoji="0" lang="en-US" altLang="zh-CN" sz="1200" b="1" i="0" u="none" strike="noStrike" cap="none" normalizeH="0" baseline="0" dirty="0" err="1">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Grade</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20180001</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李勇</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2000-3-8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85</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李勇</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2000-3-8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96</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0000"/>
                          </a:solidFill>
                          <a:effectLst/>
                          <a:latin typeface="Arila"/>
                          <a:ea typeface="宋体" panose="02010600030101010101" pitchFamily="2" charset="-122"/>
                        </a:rPr>
                        <a:t>李勇</a:t>
                      </a:r>
                      <a:endParaRPr kumimoji="0" lang="zh-CN"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2000-3-8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87</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1999-9-1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80</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1999-9-1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dirty="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98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1999-9-1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71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王敏</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2001-8-1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81</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王敏</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2001-8-1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76</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20180004</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张立</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2000-1-8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56</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20180004</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张立</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2000-1-8</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97</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8892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20180205</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陈新奇</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2001-11-1</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信息管理与信息系统</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81003</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68</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6670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20180306</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赵明</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2000-6-12</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数据科学与大数据技术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NULL</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NULL</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266700">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20180307</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王佳佳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pPr>
                      <a:r>
                        <a:rPr kumimoji="0" lang="zh-CN" altLang="zh-CN" sz="12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2001-12-7</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200" b="1" i="0" u="none" strike="noStrike" cap="none" normalizeH="0" baseline="0">
                          <a:ln>
                            <a:noFill/>
                          </a:ln>
                          <a:solidFill>
                            <a:srgbClr val="000000"/>
                          </a:solidFill>
                          <a:effectLst/>
                          <a:latin typeface="Arila"/>
                          <a:ea typeface="宋体" panose="02010600030101010101" pitchFamily="2" charset="-122"/>
                        </a:rPr>
                        <a:t>数据科学与大数据技术</a:t>
                      </a:r>
                      <a:endParaRPr kumimoji="0" lang="zh-CN"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a:ln>
                            <a:noFill/>
                          </a:ln>
                          <a:solidFill>
                            <a:srgbClr val="000000"/>
                          </a:solidFill>
                          <a:effectLst/>
                          <a:latin typeface="Arila"/>
                          <a:ea typeface="宋体" panose="02010600030101010101" pitchFamily="2" charset="-122"/>
                        </a:rPr>
                        <a:t>NULL</a:t>
                      </a:r>
                      <a:endParaRPr kumimoji="0" lang="en-US" altLang="zh-CN" sz="12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Arila"/>
                          <a:ea typeface="宋体" panose="02010600030101010101" pitchFamily="2" charset="-122"/>
                        </a:rPr>
                        <a:t>NULL</a:t>
                      </a:r>
                      <a:endParaRPr kumimoji="0" lang="en-US" altLang="zh-CN" sz="12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p:txBody>
          <a:bodyPr/>
          <a:lstStyle/>
          <a:p>
            <a:pPr eaLnBrk="1" hangingPunct="1"/>
            <a:r>
              <a:rPr lang="zh-CN" altLang="en-US" sz="3600"/>
              <a:t>连接查询（续）</a:t>
            </a:r>
            <a:endParaRPr lang="zh-CN" altLang="en-US" sz="3600"/>
          </a:p>
        </p:txBody>
      </p:sp>
      <p:sp>
        <p:nvSpPr>
          <p:cNvPr id="64515" name="Rectangle 3"/>
          <p:cNvSpPr>
            <a:spLocks noGrp="1" noChangeArrowheads="1"/>
          </p:cNvSpPr>
          <p:nvPr>
            <p:ph type="body" idx="4294967295"/>
          </p:nvPr>
        </p:nvSpPr>
        <p:spPr>
          <a:xfrm>
            <a:off x="1981200" y="908051"/>
            <a:ext cx="8229600" cy="5286375"/>
          </a:xfrm>
        </p:spPr>
        <p:txBody>
          <a:bodyPr/>
          <a:lstStyle/>
          <a:p>
            <a:pPr lvl="1">
              <a:lnSpc>
                <a:spcPct val="150000"/>
              </a:lnSpc>
              <a:buFont typeface="Wingdings" panose="05000000000000000000" pitchFamily="2" charset="2"/>
              <a:buNone/>
            </a:pPr>
            <a:endParaRPr lang="en-US" altLang="zh-CN"/>
          </a:p>
          <a:p>
            <a:pPr lvl="1">
              <a:lnSpc>
                <a:spcPct val="150000"/>
              </a:lnSpc>
              <a:buFont typeface="Wingdings" panose="05000000000000000000" pitchFamily="2" charset="2"/>
              <a:buNone/>
            </a:pPr>
            <a:r>
              <a:rPr lang="en-US" altLang="zh-CN" sz="2800"/>
              <a:t>1.</a:t>
            </a:r>
            <a:r>
              <a:rPr lang="zh-CN" altLang="en-US" sz="2800"/>
              <a:t>等值与非等值连接查询 </a:t>
            </a:r>
            <a:endParaRPr lang="zh-CN" altLang="en-US" sz="2800"/>
          </a:p>
          <a:p>
            <a:pPr lvl="1">
              <a:lnSpc>
                <a:spcPct val="150000"/>
              </a:lnSpc>
              <a:buFont typeface="Wingdings" panose="05000000000000000000" pitchFamily="2" charset="2"/>
              <a:buNone/>
            </a:pPr>
            <a:r>
              <a:rPr lang="en-US" altLang="zh-CN" sz="2800"/>
              <a:t>2.</a:t>
            </a:r>
            <a:r>
              <a:rPr lang="zh-CN" altLang="en-US" sz="2800"/>
              <a:t>自身连接</a:t>
            </a:r>
            <a:endParaRPr lang="zh-CN" altLang="en-US" sz="2800"/>
          </a:p>
          <a:p>
            <a:pPr lvl="1">
              <a:lnSpc>
                <a:spcPct val="150000"/>
              </a:lnSpc>
              <a:buFont typeface="Wingdings" panose="05000000000000000000" pitchFamily="2" charset="2"/>
              <a:buNone/>
            </a:pPr>
            <a:r>
              <a:rPr lang="en-US" altLang="zh-CN" sz="2800"/>
              <a:t>3.</a:t>
            </a:r>
            <a:r>
              <a:rPr lang="zh-CN" altLang="en-US" sz="2800"/>
              <a:t>外连接</a:t>
            </a:r>
            <a:endParaRPr lang="zh-CN" altLang="en-US" sz="2800"/>
          </a:p>
          <a:p>
            <a:pPr lvl="1">
              <a:lnSpc>
                <a:spcPct val="150000"/>
              </a:lnSpc>
              <a:buFont typeface="Wingdings" panose="05000000000000000000" pitchFamily="2" charset="2"/>
              <a:buNone/>
            </a:pPr>
            <a:r>
              <a:rPr lang="en-US" altLang="zh-CN" sz="2800">
                <a:solidFill>
                  <a:srgbClr val="7030A0"/>
                </a:solidFill>
              </a:rPr>
              <a:t>4.</a:t>
            </a:r>
            <a:r>
              <a:rPr lang="zh-CN" altLang="en-US" sz="2800">
                <a:solidFill>
                  <a:srgbClr val="7030A0"/>
                </a:solidFill>
              </a:rPr>
              <a:t>多表连接</a:t>
            </a:r>
            <a:endParaRPr lang="zh-CN" altLang="en-US" sz="2800">
              <a:solidFill>
                <a:srgbClr val="7030A0"/>
              </a:solidFill>
            </a:endParaRPr>
          </a:p>
          <a:p>
            <a:pPr lvl="1">
              <a:buFont typeface="Wingdings" panose="05000000000000000000" pitchFamily="2" charset="2"/>
              <a:buNone/>
            </a:pPr>
            <a:endParaRPr lang="en-US" altLang="zh-CN" sz="28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p:txBody>
          <a:bodyPr/>
          <a:lstStyle/>
          <a:p>
            <a:pPr eaLnBrk="1" hangingPunct="1"/>
            <a:r>
              <a:rPr lang="en-US" altLang="zh-CN" sz="3600"/>
              <a:t>4. </a:t>
            </a:r>
            <a:r>
              <a:rPr lang="zh-CN" altLang="en-US" sz="3600"/>
              <a:t>多表连接</a:t>
            </a:r>
            <a:endParaRPr lang="zh-CN" altLang="en-US" sz="3600"/>
          </a:p>
        </p:txBody>
      </p:sp>
      <p:sp>
        <p:nvSpPr>
          <p:cNvPr id="65539" name="Rectangle 3"/>
          <p:cNvSpPr>
            <a:spLocks noGrp="1" noChangeArrowheads="1"/>
          </p:cNvSpPr>
          <p:nvPr>
            <p:ph type="body" idx="4294967295"/>
          </p:nvPr>
        </p:nvSpPr>
        <p:spPr>
          <a:xfrm>
            <a:off x="839416" y="981076"/>
            <a:ext cx="10441160" cy="5832475"/>
          </a:xfrm>
        </p:spPr>
        <p:txBody>
          <a:bodyPr/>
          <a:lstStyle/>
          <a:p>
            <a:pPr eaLnBrk="1" hangingPunct="1">
              <a:lnSpc>
                <a:spcPct val="150000"/>
              </a:lnSpc>
              <a:spcBef>
                <a:spcPct val="0"/>
              </a:spcBef>
            </a:pPr>
            <a:r>
              <a:rPr lang="zh-CN" altLang="en-US" sz="2400" dirty="0"/>
              <a:t>多表连接：两个以上的表进行连接</a:t>
            </a:r>
            <a:endParaRPr lang="zh-CN" altLang="en-US" dirty="0"/>
          </a:p>
          <a:p>
            <a:pPr algn="just" eaLnBrk="1" hangingPunct="1">
              <a:lnSpc>
                <a:spcPct val="150000"/>
              </a:lnSpc>
              <a:spcBef>
                <a:spcPct val="0"/>
              </a:spcBef>
              <a:buFont typeface="Wingdings" panose="05000000000000000000" pitchFamily="2" charset="2"/>
              <a:buNone/>
            </a:pPr>
            <a:r>
              <a:rPr lang="en-US" altLang="zh-CN" sz="2400" dirty="0"/>
              <a:t>[</a:t>
            </a:r>
            <a:r>
              <a:rPr lang="zh-CN" altLang="en-US" sz="2400" dirty="0"/>
              <a:t>例</a:t>
            </a:r>
            <a:r>
              <a:rPr lang="en-US" altLang="zh-CN" sz="2400" dirty="0"/>
              <a:t>3.56]</a:t>
            </a:r>
            <a:r>
              <a:rPr lang="zh-CN" altLang="en-US" sz="2400" dirty="0"/>
              <a:t>查询每个学生的学号、姓名、选修的课程名及成绩。</a:t>
            </a:r>
            <a:endParaRPr lang="zh-CN" altLang="en-US" sz="2400" dirty="0"/>
          </a:p>
          <a:p>
            <a:pPr algn="just" eaLnBrk="1" hangingPunct="1">
              <a:lnSpc>
                <a:spcPct val="150000"/>
              </a:lnSpc>
              <a:spcBef>
                <a:spcPct val="0"/>
              </a:spcBef>
              <a:buFont typeface="Wingdings" panose="05000000000000000000" pitchFamily="2" charset="2"/>
              <a:buNone/>
            </a:pPr>
            <a:r>
              <a:rPr lang="en-US" altLang="zh-CN" sz="2400" dirty="0" smtClean="0"/>
              <a:t>SELECT </a:t>
            </a:r>
            <a:r>
              <a:rPr lang="en-US" altLang="zh-CN" sz="2400" dirty="0" err="1"/>
              <a:t>Student.Sno,Sname,Cname,Grade</a:t>
            </a:r>
            <a:endParaRPr lang="en-US" altLang="zh-CN" sz="2400" dirty="0"/>
          </a:p>
          <a:p>
            <a:pPr algn="just" eaLnBrk="1" hangingPunct="1">
              <a:lnSpc>
                <a:spcPct val="150000"/>
              </a:lnSpc>
              <a:spcBef>
                <a:spcPct val="0"/>
              </a:spcBef>
              <a:buFont typeface="Wingdings" panose="05000000000000000000" pitchFamily="2" charset="2"/>
              <a:buNone/>
            </a:pPr>
            <a:r>
              <a:rPr lang="en-US" altLang="zh-CN" sz="2400" dirty="0"/>
              <a:t>FROM </a:t>
            </a:r>
            <a:r>
              <a:rPr lang="en-US" altLang="zh-CN" sz="2400" dirty="0" err="1"/>
              <a:t>Student,SC,Course</a:t>
            </a:r>
            <a:endParaRPr lang="en-US" altLang="zh-CN" sz="2400" dirty="0"/>
          </a:p>
          <a:p>
            <a:pPr algn="just" eaLnBrk="1" hangingPunct="1">
              <a:lnSpc>
                <a:spcPct val="150000"/>
              </a:lnSpc>
              <a:spcBef>
                <a:spcPct val="0"/>
              </a:spcBef>
              <a:buFont typeface="Wingdings" panose="05000000000000000000" pitchFamily="2" charset="2"/>
              <a:buNone/>
            </a:pPr>
            <a:r>
              <a:rPr lang="en-US" altLang="zh-CN" sz="2400" dirty="0"/>
              <a:t>WHERE </a:t>
            </a:r>
            <a:r>
              <a:rPr lang="en-US" altLang="zh-CN" sz="2400" dirty="0" err="1"/>
              <a:t>Student.Sno</a:t>
            </a:r>
            <a:r>
              <a:rPr lang="en-US" altLang="zh-CN" sz="2400" dirty="0"/>
              <a:t>=</a:t>
            </a:r>
            <a:r>
              <a:rPr lang="en-US" altLang="zh-CN" sz="2400" dirty="0" err="1"/>
              <a:t>SC.Sno</a:t>
            </a:r>
            <a:r>
              <a:rPr lang="en-US" altLang="zh-CN" sz="2400" dirty="0"/>
              <a:t> AND </a:t>
            </a:r>
            <a:r>
              <a:rPr lang="en-US" altLang="zh-CN" sz="2400" dirty="0" err="1"/>
              <a:t>SC.Cno</a:t>
            </a:r>
            <a:r>
              <a:rPr lang="en-US" altLang="zh-CN" sz="2400" dirty="0"/>
              <a:t>=</a:t>
            </a:r>
            <a:r>
              <a:rPr lang="en-US" altLang="zh-CN" sz="2400" dirty="0" err="1"/>
              <a:t>Course.Cno</a:t>
            </a:r>
            <a:r>
              <a:rPr lang="en-US" altLang="zh-CN" sz="2400" dirty="0"/>
              <a:t>;</a:t>
            </a:r>
            <a:endParaRPr lang="en-US" altLang="zh-CN" sz="2400" dirty="0"/>
          </a:p>
          <a:p>
            <a:pPr algn="just" eaLnBrk="1" hangingPunct="1">
              <a:lnSpc>
                <a:spcPct val="120000"/>
              </a:lnSpc>
              <a:spcBef>
                <a:spcPct val="0"/>
              </a:spcBef>
            </a:pPr>
            <a:r>
              <a:rPr lang="zh-CN" altLang="en-US" sz="2400" dirty="0"/>
              <a:t>可</a:t>
            </a:r>
            <a:r>
              <a:rPr lang="zh-CN" altLang="zh-CN" sz="2400" dirty="0"/>
              <a:t>能的执行方式</a:t>
            </a:r>
            <a:endParaRPr lang="en-US" altLang="zh-CN" sz="2400" dirty="0"/>
          </a:p>
          <a:p>
            <a:pPr lvl="1" algn="just" eaLnBrk="1" hangingPunct="1">
              <a:lnSpc>
                <a:spcPct val="120000"/>
              </a:lnSpc>
              <a:spcBef>
                <a:spcPct val="0"/>
              </a:spcBef>
            </a:pPr>
            <a:r>
              <a:rPr lang="zh-CN" altLang="zh-CN" dirty="0"/>
              <a:t>先将</a:t>
            </a:r>
            <a:r>
              <a:rPr lang="en-US" altLang="zh-CN" dirty="0"/>
              <a:t>Student</a:t>
            </a:r>
            <a:r>
              <a:rPr lang="zh-CN" altLang="zh-CN" dirty="0"/>
              <a:t>表与</a:t>
            </a:r>
            <a:r>
              <a:rPr lang="en-US" altLang="zh-CN" dirty="0"/>
              <a:t>SC</a:t>
            </a:r>
            <a:r>
              <a:rPr lang="zh-CN" altLang="zh-CN" dirty="0"/>
              <a:t>表进行连接，得到每个学生的学号、姓名、所选课程号和相应的成绩</a:t>
            </a:r>
            <a:endParaRPr lang="en-US" altLang="zh-CN" dirty="0"/>
          </a:p>
          <a:p>
            <a:pPr lvl="1" algn="just" eaLnBrk="1" hangingPunct="1">
              <a:lnSpc>
                <a:spcPct val="120000"/>
              </a:lnSpc>
              <a:spcBef>
                <a:spcPct val="0"/>
              </a:spcBef>
            </a:pPr>
            <a:r>
              <a:rPr lang="zh-CN" altLang="zh-CN" dirty="0"/>
              <a:t>再将其与</a:t>
            </a:r>
            <a:r>
              <a:rPr lang="en-US" altLang="zh-CN" dirty="0"/>
              <a:t>Course</a:t>
            </a:r>
            <a:r>
              <a:rPr lang="zh-CN" altLang="zh-CN" dirty="0"/>
              <a:t>表进行连接，得到最终结果</a:t>
            </a:r>
            <a:r>
              <a:rPr lang="zh-CN" altLang="en-US" dirty="0"/>
              <a:t> </a:t>
            </a:r>
            <a:endParaRPr lang="zh-CN"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692150" y="3429000"/>
            <a:ext cx="10195560" cy="1753235"/>
          </a:xfrm>
          <a:prstGeom prst="rect">
            <a:avLst/>
          </a:prstGeom>
          <a:noFill/>
        </p:spPr>
        <p:txBody>
          <a:bodyPr wrap="square" rtlCol="0" anchor="t">
            <a:spAutoFit/>
          </a:bodyPr>
          <a:p>
            <a:pPr algn="just" eaLnBrk="1" hangingPunct="1">
              <a:lnSpc>
                <a:spcPct val="150000"/>
              </a:lnSpc>
            </a:pPr>
            <a:r>
              <a:rPr lang="en-US" altLang="zh-CN">
                <a:sym typeface="+mn-ea"/>
              </a:rPr>
              <a:t>1. </a:t>
            </a:r>
            <a:r>
              <a:rPr lang="zh-CN" altLang="en-US">
                <a:sym typeface="+mn-ea"/>
              </a:rPr>
              <a:t>查询有哪些学生选修了数据库课程，结果显示学号、</a:t>
            </a:r>
            <a:r>
              <a:rPr lang="zh-CN" altLang="en-US">
                <a:sym typeface="+mn-ea"/>
              </a:rPr>
              <a:t>姓名、成绩</a:t>
            </a:r>
            <a:r>
              <a:rPr lang="zh-CN" altLang="en-US">
                <a:sym typeface="+mn-ea"/>
              </a:rPr>
              <a:t>。</a:t>
            </a:r>
            <a:endParaRPr lang="zh-CN" altLang="en-US">
              <a:sym typeface="+mn-ea"/>
            </a:endParaRPr>
          </a:p>
          <a:p>
            <a:pPr algn="just" eaLnBrk="1" hangingPunct="1">
              <a:lnSpc>
                <a:spcPct val="150000"/>
              </a:lnSpc>
            </a:pPr>
            <a:r>
              <a:rPr lang="en-US" altLang="zh-CN">
                <a:sym typeface="+mn-ea"/>
              </a:rPr>
              <a:t>2. </a:t>
            </a:r>
            <a:r>
              <a:rPr lang="zh-CN" altLang="en-US">
                <a:sym typeface="+mn-ea"/>
              </a:rPr>
              <a:t>查询哪</a:t>
            </a:r>
            <a:r>
              <a:rPr lang="zh-CN" altLang="en-US" sz="1800">
                <a:sym typeface="+mn-ea"/>
              </a:rPr>
              <a:t>些同学选修了</a:t>
            </a:r>
            <a:r>
              <a:rPr lang="zh-CN" altLang="en-US" sz="1800">
                <a:sym typeface="+mn-ea"/>
              </a:rPr>
              <a:t>李勇曾选修过的课程</a:t>
            </a:r>
            <a:r>
              <a:rPr lang="zh-CN" altLang="en-US">
                <a:sym typeface="+mn-ea"/>
              </a:rPr>
              <a:t>。</a:t>
            </a:r>
            <a:endParaRPr lang="zh-CN" altLang="en-US">
              <a:sym typeface="+mn-ea"/>
            </a:endParaRPr>
          </a:p>
          <a:p>
            <a:pPr algn="just" eaLnBrk="1" hangingPunct="1">
              <a:lnSpc>
                <a:spcPct val="150000"/>
              </a:lnSpc>
            </a:pPr>
            <a:r>
              <a:rPr lang="en-US" altLang="zh-CN">
                <a:sym typeface="+mn-ea"/>
              </a:rPr>
              <a:t>3. </a:t>
            </a:r>
            <a:r>
              <a:rPr lang="zh-CN" altLang="en-US">
                <a:sym typeface="+mn-ea"/>
              </a:rPr>
              <a:t>查询</a:t>
            </a:r>
            <a:r>
              <a:rPr lang="en-US" altLang="zh-CN">
                <a:sym typeface="+mn-ea"/>
              </a:rPr>
              <a:t>2018</a:t>
            </a:r>
            <a:r>
              <a:rPr lang="zh-CN" altLang="en-US">
                <a:sym typeface="+mn-ea"/>
              </a:rPr>
              <a:t>年之后</a:t>
            </a:r>
            <a:r>
              <a:rPr lang="zh-CN" altLang="en-US">
                <a:sym typeface="+mn-ea"/>
              </a:rPr>
              <a:t>入学（含</a:t>
            </a:r>
            <a:r>
              <a:rPr lang="en-US" altLang="zh-CN">
                <a:sym typeface="+mn-ea"/>
              </a:rPr>
              <a:t>2018</a:t>
            </a:r>
            <a:r>
              <a:rPr lang="zh-CN" altLang="en-US">
                <a:sym typeface="+mn-ea"/>
              </a:rPr>
              <a:t>）的学生在</a:t>
            </a:r>
            <a:r>
              <a:rPr lang="en-US" altLang="zh-CN">
                <a:sym typeface="+mn-ea"/>
              </a:rPr>
              <a:t>2021</a:t>
            </a:r>
            <a:r>
              <a:rPr lang="zh-CN" altLang="en-US">
                <a:sym typeface="+mn-ea"/>
              </a:rPr>
              <a:t>年秋季（即</a:t>
            </a:r>
            <a:r>
              <a:rPr lang="en-US" altLang="zh-CN">
                <a:sym typeface="+mn-ea"/>
              </a:rPr>
              <a:t> 20212</a:t>
            </a:r>
            <a:r>
              <a:rPr lang="zh-CN" altLang="en-US">
                <a:sym typeface="+mn-ea"/>
              </a:rPr>
              <a:t>）的选课情况，要求将没有选课的学生也</a:t>
            </a:r>
            <a:r>
              <a:rPr lang="zh-CN" altLang="en-US">
                <a:sym typeface="+mn-ea"/>
              </a:rPr>
              <a:t>列出来。</a:t>
            </a:r>
            <a:endParaRPr lang="zh-CN" altLang="en-US">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692150" y="3429000"/>
            <a:ext cx="10195560" cy="2584450"/>
          </a:xfrm>
          <a:prstGeom prst="rect">
            <a:avLst/>
          </a:prstGeom>
          <a:noFill/>
        </p:spPr>
        <p:txBody>
          <a:bodyPr wrap="square" rtlCol="0" anchor="t">
            <a:spAutoFit/>
          </a:bodyPr>
          <a:p>
            <a:pPr algn="just" eaLnBrk="1" hangingPunct="1">
              <a:lnSpc>
                <a:spcPct val="150000"/>
              </a:lnSpc>
            </a:pPr>
            <a:r>
              <a:rPr lang="en-US" altLang="zh-CN">
                <a:sym typeface="+mn-ea"/>
              </a:rPr>
              <a:t> </a:t>
            </a:r>
            <a:r>
              <a:rPr lang="zh-CN" altLang="en-US">
                <a:sym typeface="+mn-ea"/>
              </a:rPr>
              <a:t>查询所有课程的选课人数，结果显示课程号，课程名称，选课人数。</a:t>
            </a:r>
            <a:endParaRPr lang="en-US" altLang="zh-CN">
              <a:sym typeface="+mn-ea"/>
            </a:endParaRPr>
          </a:p>
          <a:p>
            <a:pPr algn="just" eaLnBrk="1" hangingPunct="1">
              <a:lnSpc>
                <a:spcPct val="150000"/>
              </a:lnSpc>
            </a:pPr>
            <a:r>
              <a:rPr lang="en-US" altLang="zh-CN">
                <a:sym typeface="+mn-ea"/>
              </a:rPr>
              <a:t>SELECT Cno, Cname, Count(*) AS ‘</a:t>
            </a:r>
            <a:r>
              <a:rPr lang="zh-CN" altLang="en-US">
                <a:sym typeface="+mn-ea"/>
              </a:rPr>
              <a:t>选课人数</a:t>
            </a:r>
            <a:r>
              <a:rPr lang="en-US" altLang="zh-CN">
                <a:sym typeface="+mn-ea"/>
              </a:rPr>
              <a:t>’</a:t>
            </a:r>
            <a:endParaRPr lang="en-US" altLang="zh-CN">
              <a:sym typeface="+mn-ea"/>
            </a:endParaRPr>
          </a:p>
          <a:p>
            <a:pPr algn="just" eaLnBrk="1" hangingPunct="1">
              <a:lnSpc>
                <a:spcPct val="150000"/>
              </a:lnSpc>
            </a:pPr>
            <a:r>
              <a:rPr lang="en-US" altLang="zh-CN">
                <a:sym typeface="+mn-ea"/>
              </a:rPr>
              <a:t>FROM C, SC</a:t>
            </a:r>
            <a:endParaRPr lang="en-US" altLang="zh-CN">
              <a:sym typeface="+mn-ea"/>
            </a:endParaRPr>
          </a:p>
          <a:p>
            <a:pPr algn="just" eaLnBrk="1" hangingPunct="1">
              <a:lnSpc>
                <a:spcPct val="150000"/>
              </a:lnSpc>
            </a:pPr>
            <a:r>
              <a:rPr lang="en-US" altLang="zh-CN">
                <a:sym typeface="+mn-ea"/>
              </a:rPr>
              <a:t>WHERE C.Cno = SC.Cno </a:t>
            </a:r>
            <a:endParaRPr lang="en-US" altLang="zh-CN">
              <a:sym typeface="+mn-ea"/>
            </a:endParaRPr>
          </a:p>
          <a:p>
            <a:pPr algn="just" eaLnBrk="1" hangingPunct="1">
              <a:lnSpc>
                <a:spcPct val="150000"/>
              </a:lnSpc>
            </a:pPr>
            <a:r>
              <a:rPr lang="en-US" altLang="zh-CN">
                <a:sym typeface="+mn-ea"/>
              </a:rPr>
              <a:t>GROUP BY Cno</a:t>
            </a:r>
            <a:endParaRPr lang="zh-CN" altLang="en-US">
              <a:sym typeface="+mn-ea"/>
            </a:endParaRPr>
          </a:p>
          <a:p>
            <a:pPr algn="just" eaLnBrk="1" hangingPunct="1">
              <a:lnSpc>
                <a:spcPct val="150000"/>
              </a:lnSpc>
            </a:pPr>
            <a:endParaRPr lang="zh-CN" altLang="en-US">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分析下面语句是否</a:t>
            </a:r>
            <a:r>
              <a:rPr lang="zh-CN" altLang="en-US" sz="3600"/>
              <a:t>有错</a:t>
            </a:r>
            <a:endParaRPr lang="zh-CN" altLang="en-US" sz="3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692150" y="3429000"/>
            <a:ext cx="10195560" cy="2999740"/>
          </a:xfrm>
          <a:prstGeom prst="rect">
            <a:avLst/>
          </a:prstGeom>
          <a:noFill/>
        </p:spPr>
        <p:txBody>
          <a:bodyPr wrap="square" rtlCol="0" anchor="t">
            <a:spAutoFit/>
          </a:bodyPr>
          <a:p>
            <a:pPr algn="just" eaLnBrk="1" hangingPunct="1">
              <a:lnSpc>
                <a:spcPct val="150000"/>
              </a:lnSpc>
            </a:pPr>
            <a:r>
              <a:rPr lang="zh-CN" altLang="en-US">
                <a:sym typeface="+mn-ea"/>
              </a:rPr>
              <a:t>查询每门课程的大于等于</a:t>
            </a:r>
            <a:r>
              <a:rPr lang="en-US" altLang="zh-CN">
                <a:sym typeface="+mn-ea"/>
              </a:rPr>
              <a:t>90</a:t>
            </a:r>
            <a:r>
              <a:rPr lang="zh-CN" altLang="en-US">
                <a:sym typeface="+mn-ea"/>
              </a:rPr>
              <a:t>的人数，结果显示课程号，课程名称，和大于等于</a:t>
            </a:r>
            <a:r>
              <a:rPr lang="en-US" altLang="zh-CN">
                <a:sym typeface="+mn-ea"/>
              </a:rPr>
              <a:t>90</a:t>
            </a:r>
            <a:r>
              <a:rPr lang="zh-CN" altLang="en-US">
                <a:sym typeface="+mn-ea"/>
              </a:rPr>
              <a:t>分人数。</a:t>
            </a:r>
            <a:endParaRPr lang="zh-CN" altLang="en-US">
              <a:sym typeface="+mn-ea"/>
            </a:endParaRPr>
          </a:p>
          <a:p>
            <a:pPr algn="just" eaLnBrk="1" hangingPunct="1">
              <a:lnSpc>
                <a:spcPct val="150000"/>
              </a:lnSpc>
            </a:pPr>
            <a:endParaRPr lang="zh-CN" altLang="en-US">
              <a:sym typeface="+mn-ea"/>
            </a:endParaRPr>
          </a:p>
          <a:p>
            <a:pPr algn="just" eaLnBrk="1" hangingPunct="1">
              <a:lnSpc>
                <a:spcPct val="150000"/>
              </a:lnSpc>
            </a:pPr>
            <a:r>
              <a:rPr lang="en-US" altLang="zh-CN">
                <a:sym typeface="+mn-ea"/>
              </a:rPr>
              <a:t>SELECT SC.Cno, Cname, Count(*) AS ‘</a:t>
            </a:r>
            <a:r>
              <a:rPr lang="zh-CN" altLang="en-US">
                <a:sym typeface="+mn-ea"/>
              </a:rPr>
              <a:t>超过</a:t>
            </a:r>
            <a:r>
              <a:rPr lang="en-US" altLang="zh-CN">
                <a:sym typeface="+mn-ea"/>
              </a:rPr>
              <a:t>90</a:t>
            </a:r>
            <a:r>
              <a:rPr lang="zh-CN" altLang="en-US">
                <a:sym typeface="+mn-ea"/>
              </a:rPr>
              <a:t>分人数</a:t>
            </a:r>
            <a:r>
              <a:rPr lang="en-US" altLang="zh-CN">
                <a:sym typeface="+mn-ea"/>
              </a:rPr>
              <a:t>’</a:t>
            </a:r>
            <a:endParaRPr lang="en-US" altLang="zh-CN">
              <a:sym typeface="+mn-ea"/>
            </a:endParaRPr>
          </a:p>
          <a:p>
            <a:pPr algn="just" eaLnBrk="1" hangingPunct="1">
              <a:lnSpc>
                <a:spcPct val="150000"/>
              </a:lnSpc>
            </a:pPr>
            <a:r>
              <a:rPr lang="en-US" altLang="zh-CN">
                <a:sym typeface="+mn-ea"/>
              </a:rPr>
              <a:t>FROM C, SC</a:t>
            </a:r>
            <a:endParaRPr lang="en-US" altLang="zh-CN">
              <a:sym typeface="+mn-ea"/>
            </a:endParaRPr>
          </a:p>
          <a:p>
            <a:pPr algn="just" eaLnBrk="1" hangingPunct="1">
              <a:lnSpc>
                <a:spcPct val="150000"/>
              </a:lnSpc>
            </a:pPr>
            <a:r>
              <a:rPr lang="en-US" altLang="zh-CN">
                <a:sym typeface="+mn-ea"/>
              </a:rPr>
              <a:t>WHERE C.Cno = SC.Cno </a:t>
            </a:r>
            <a:endParaRPr lang="en-US" altLang="zh-CN">
              <a:sym typeface="+mn-ea"/>
            </a:endParaRPr>
          </a:p>
          <a:p>
            <a:pPr algn="just" eaLnBrk="1" hangingPunct="1">
              <a:lnSpc>
                <a:spcPct val="150000"/>
              </a:lnSpc>
            </a:pPr>
            <a:r>
              <a:rPr lang="en-US" altLang="zh-CN">
                <a:sym typeface="+mn-ea"/>
              </a:rPr>
              <a:t>GROUP BY SC.Cno</a:t>
            </a:r>
            <a:endParaRPr lang="zh-CN" altLang="en-US">
              <a:sym typeface="+mn-ea"/>
            </a:endParaRPr>
          </a:p>
          <a:p>
            <a:pPr algn="just" eaLnBrk="1" hangingPunct="1">
              <a:lnSpc>
                <a:spcPct val="150000"/>
              </a:lnSpc>
            </a:pPr>
            <a:r>
              <a:rPr lang="en-US" altLang="zh-CN">
                <a:sym typeface="+mn-ea"/>
              </a:rPr>
              <a:t>HAVING Grade&gt;=90</a:t>
            </a:r>
            <a:endParaRPr lang="en-US" altLang="zh-CN">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分析下面语句是否</a:t>
            </a:r>
            <a:r>
              <a:rPr lang="zh-CN" altLang="en-US" sz="3600"/>
              <a:t>有错</a:t>
            </a:r>
            <a:endParaRPr lang="zh-CN" altLang="en-US" sz="3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551180" y="3429000"/>
            <a:ext cx="10721975" cy="2584450"/>
          </a:xfrm>
          <a:prstGeom prst="rect">
            <a:avLst/>
          </a:prstGeom>
          <a:noFill/>
        </p:spPr>
        <p:txBody>
          <a:bodyPr wrap="square" rtlCol="0" anchor="t">
            <a:spAutoFit/>
          </a:bodyPr>
          <a:p>
            <a:pPr algn="just" eaLnBrk="1" hangingPunct="1">
              <a:lnSpc>
                <a:spcPct val="150000"/>
              </a:lnSpc>
            </a:pPr>
            <a:r>
              <a:rPr lang="zh-CN" altLang="en-US">
                <a:sym typeface="+mn-ea"/>
              </a:rPr>
              <a:t>查询专业名称中包含</a:t>
            </a:r>
            <a:r>
              <a:rPr lang="en-US" altLang="zh-CN">
                <a:sym typeface="+mn-ea"/>
              </a:rPr>
              <a:t>“</a:t>
            </a:r>
            <a:r>
              <a:rPr lang="zh-CN" altLang="en-US">
                <a:sym typeface="+mn-ea"/>
              </a:rPr>
              <a:t>数据</a:t>
            </a:r>
            <a:r>
              <a:rPr lang="en-US" altLang="zh-CN">
                <a:sym typeface="+mn-ea"/>
              </a:rPr>
              <a:t>”</a:t>
            </a:r>
            <a:r>
              <a:rPr lang="zh-CN" altLang="en-US">
                <a:sym typeface="+mn-ea"/>
              </a:rPr>
              <a:t>的专业选修了</a:t>
            </a:r>
            <a:r>
              <a:rPr lang="en-US" altLang="zh-CN">
                <a:sym typeface="+mn-ea"/>
              </a:rPr>
              <a:t>“</a:t>
            </a:r>
            <a:r>
              <a:rPr lang="zh-CN" altLang="en-US">
                <a:sym typeface="+mn-ea"/>
              </a:rPr>
              <a:t>数据库</a:t>
            </a:r>
            <a:r>
              <a:rPr lang="en-US" altLang="zh-CN">
                <a:sym typeface="+mn-ea"/>
              </a:rPr>
              <a:t>”</a:t>
            </a:r>
            <a:r>
              <a:rPr lang="zh-CN" altLang="en-US">
                <a:sym typeface="+mn-ea"/>
              </a:rPr>
              <a:t>课程的人数，结果显示专业名称，选修数据库的</a:t>
            </a:r>
            <a:r>
              <a:rPr lang="zh-CN" altLang="en-US">
                <a:sym typeface="+mn-ea"/>
              </a:rPr>
              <a:t>人数</a:t>
            </a:r>
            <a:endParaRPr lang="zh-CN" altLang="en-US">
              <a:sym typeface="+mn-ea"/>
            </a:endParaRPr>
          </a:p>
          <a:p>
            <a:pPr algn="just" eaLnBrk="1" hangingPunct="1">
              <a:lnSpc>
                <a:spcPct val="150000"/>
              </a:lnSpc>
            </a:pPr>
            <a:r>
              <a:rPr lang="en-US" altLang="zh-CN">
                <a:sym typeface="+mn-ea"/>
              </a:rPr>
              <a:t>SELECT Smajor, Count(*) AS ‘</a:t>
            </a:r>
            <a:r>
              <a:rPr lang="zh-CN" altLang="en-US">
                <a:sym typeface="+mn-ea"/>
              </a:rPr>
              <a:t>选修数据库</a:t>
            </a:r>
            <a:r>
              <a:rPr lang="zh-CN" altLang="en-US">
                <a:sym typeface="+mn-ea"/>
              </a:rPr>
              <a:t>的人数</a:t>
            </a:r>
            <a:r>
              <a:rPr lang="en-US" altLang="zh-CN">
                <a:sym typeface="+mn-ea"/>
              </a:rPr>
              <a:t>’</a:t>
            </a:r>
            <a:endParaRPr lang="en-US" altLang="zh-CN">
              <a:sym typeface="+mn-ea"/>
            </a:endParaRPr>
          </a:p>
          <a:p>
            <a:pPr algn="just" eaLnBrk="1" hangingPunct="1">
              <a:lnSpc>
                <a:spcPct val="150000"/>
              </a:lnSpc>
            </a:pPr>
            <a:r>
              <a:rPr lang="en-US" altLang="zh-CN">
                <a:sym typeface="+mn-ea"/>
              </a:rPr>
              <a:t>FROM </a:t>
            </a:r>
            <a:r>
              <a:rPr lang="en-US" altLang="zh-CN">
                <a:sym typeface="+mn-ea"/>
              </a:rPr>
              <a:t>S,C, SC</a:t>
            </a:r>
            <a:endParaRPr lang="en-US" altLang="zh-CN">
              <a:sym typeface="+mn-ea"/>
            </a:endParaRPr>
          </a:p>
          <a:p>
            <a:pPr algn="just" eaLnBrk="1" hangingPunct="1">
              <a:lnSpc>
                <a:spcPct val="150000"/>
              </a:lnSpc>
            </a:pPr>
            <a:r>
              <a:rPr lang="en-US" altLang="zh-CN">
                <a:sym typeface="+mn-ea"/>
              </a:rPr>
              <a:t>WHERE C.Cno = SC.Cno AND SC.Sno = S.Sno AND C.Cname = ‘</a:t>
            </a:r>
            <a:r>
              <a:rPr lang="zh-CN" altLang="en-US">
                <a:sym typeface="+mn-ea"/>
              </a:rPr>
              <a:t>数据库</a:t>
            </a:r>
            <a:r>
              <a:rPr lang="en-US" altLang="zh-CN">
                <a:sym typeface="+mn-ea"/>
              </a:rPr>
              <a:t>’ </a:t>
            </a:r>
            <a:endParaRPr lang="en-US" altLang="zh-CN">
              <a:sym typeface="+mn-ea"/>
            </a:endParaRPr>
          </a:p>
          <a:p>
            <a:pPr algn="just" eaLnBrk="1" hangingPunct="1">
              <a:lnSpc>
                <a:spcPct val="150000"/>
              </a:lnSpc>
            </a:pPr>
            <a:r>
              <a:rPr lang="en-US" altLang="zh-CN">
                <a:sym typeface="+mn-ea"/>
              </a:rPr>
              <a:t>GROUP BY </a:t>
            </a:r>
            <a:r>
              <a:rPr lang="en-US" altLang="zh-CN">
                <a:sym typeface="+mn-ea"/>
              </a:rPr>
              <a:t>Smajor</a:t>
            </a:r>
            <a:endParaRPr lang="en-US" altLang="zh-CN">
              <a:sym typeface="+mn-ea"/>
            </a:endParaRPr>
          </a:p>
          <a:p>
            <a:pPr algn="just" eaLnBrk="1" hangingPunct="1">
              <a:lnSpc>
                <a:spcPct val="150000"/>
              </a:lnSpc>
            </a:pPr>
            <a:r>
              <a:rPr lang="en-US" altLang="zh-CN">
                <a:sym typeface="+mn-ea"/>
              </a:rPr>
              <a:t>HAVING Smajor LIKE ‘%</a:t>
            </a:r>
            <a:r>
              <a:rPr lang="zh-CN" altLang="en-US">
                <a:sym typeface="+mn-ea"/>
              </a:rPr>
              <a:t>数据</a:t>
            </a:r>
            <a:r>
              <a:rPr lang="en-US" altLang="zh-CN">
                <a:sym typeface="+mn-ea"/>
              </a:rPr>
              <a:t>%’;</a:t>
            </a:r>
            <a:endParaRPr lang="en-US" altLang="zh-CN">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分析下面语句是否</a:t>
            </a:r>
            <a:r>
              <a:rPr lang="zh-CN" altLang="en-US" sz="3600"/>
              <a:t>有错</a:t>
            </a:r>
            <a:endParaRPr lang="zh-CN" altLang="en-US" sz="36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479425" y="908685"/>
            <a:ext cx="10721975" cy="2168525"/>
          </a:xfrm>
          <a:prstGeom prst="rect">
            <a:avLst/>
          </a:prstGeom>
          <a:noFill/>
        </p:spPr>
        <p:txBody>
          <a:bodyPr wrap="square" rtlCol="0" anchor="t">
            <a:spAutoFit/>
          </a:bodyPr>
          <a:p>
            <a:pPr algn="just" eaLnBrk="1" hangingPunct="1">
              <a:lnSpc>
                <a:spcPct val="150000"/>
              </a:lnSpc>
            </a:pPr>
            <a:r>
              <a:rPr lang="en-US" altLang="zh-CN">
                <a:sym typeface="+mn-ea"/>
              </a:rPr>
              <a:t>SELECT Smajor, Count(*) AS ‘</a:t>
            </a:r>
            <a:r>
              <a:rPr lang="zh-CN" altLang="en-US">
                <a:sym typeface="+mn-ea"/>
              </a:rPr>
              <a:t>选修数据库</a:t>
            </a:r>
            <a:r>
              <a:rPr lang="zh-CN" altLang="en-US">
                <a:sym typeface="+mn-ea"/>
              </a:rPr>
              <a:t>的人数</a:t>
            </a:r>
            <a:r>
              <a:rPr lang="en-US" altLang="zh-CN">
                <a:sym typeface="+mn-ea"/>
              </a:rPr>
              <a:t>’</a:t>
            </a:r>
            <a:endParaRPr lang="en-US" altLang="zh-CN">
              <a:sym typeface="+mn-ea"/>
            </a:endParaRPr>
          </a:p>
          <a:p>
            <a:pPr algn="just" eaLnBrk="1" hangingPunct="1">
              <a:lnSpc>
                <a:spcPct val="150000"/>
              </a:lnSpc>
            </a:pPr>
            <a:r>
              <a:rPr lang="en-US" altLang="zh-CN">
                <a:sym typeface="+mn-ea"/>
              </a:rPr>
              <a:t>FROM </a:t>
            </a:r>
            <a:r>
              <a:rPr lang="en-US" altLang="zh-CN">
                <a:sym typeface="+mn-ea"/>
              </a:rPr>
              <a:t>S,C, SC</a:t>
            </a:r>
            <a:endParaRPr lang="en-US" altLang="zh-CN">
              <a:sym typeface="+mn-ea"/>
            </a:endParaRPr>
          </a:p>
          <a:p>
            <a:pPr algn="just" eaLnBrk="1" hangingPunct="1">
              <a:lnSpc>
                <a:spcPct val="150000"/>
              </a:lnSpc>
            </a:pPr>
            <a:r>
              <a:rPr lang="en-US" altLang="zh-CN">
                <a:sym typeface="+mn-ea"/>
              </a:rPr>
              <a:t>WHERE C.Cno = SC.Cno AND SC.Sno = S.Sno AND C.Cname = ‘</a:t>
            </a:r>
            <a:r>
              <a:rPr lang="zh-CN" altLang="en-US">
                <a:sym typeface="+mn-ea"/>
              </a:rPr>
              <a:t>数据库</a:t>
            </a:r>
            <a:r>
              <a:rPr lang="en-US" altLang="zh-CN">
                <a:sym typeface="+mn-ea"/>
              </a:rPr>
              <a:t>’ </a:t>
            </a:r>
            <a:endParaRPr lang="en-US" altLang="zh-CN">
              <a:sym typeface="+mn-ea"/>
            </a:endParaRPr>
          </a:p>
          <a:p>
            <a:pPr algn="just" eaLnBrk="1" hangingPunct="1">
              <a:lnSpc>
                <a:spcPct val="150000"/>
              </a:lnSpc>
            </a:pPr>
            <a:r>
              <a:rPr lang="en-US" altLang="zh-CN">
                <a:sym typeface="+mn-ea"/>
              </a:rPr>
              <a:t>GROUP BY </a:t>
            </a:r>
            <a:r>
              <a:rPr lang="en-US" altLang="zh-CN">
                <a:sym typeface="+mn-ea"/>
              </a:rPr>
              <a:t>Smajor</a:t>
            </a:r>
            <a:endParaRPr lang="en-US" altLang="zh-CN">
              <a:sym typeface="+mn-ea"/>
            </a:endParaRPr>
          </a:p>
          <a:p>
            <a:pPr algn="just" eaLnBrk="1" hangingPunct="1">
              <a:lnSpc>
                <a:spcPct val="150000"/>
              </a:lnSpc>
            </a:pPr>
            <a:r>
              <a:rPr lang="en-US" altLang="zh-CN">
                <a:sym typeface="+mn-ea"/>
              </a:rPr>
              <a:t>HAVING Smajor LIKE ‘%</a:t>
            </a:r>
            <a:r>
              <a:rPr lang="zh-CN" altLang="en-US">
                <a:sym typeface="+mn-ea"/>
              </a:rPr>
              <a:t>数据</a:t>
            </a:r>
            <a:r>
              <a:rPr lang="en-US" altLang="zh-CN">
                <a:sym typeface="+mn-ea"/>
              </a:rPr>
              <a:t>%’;</a:t>
            </a:r>
            <a:endParaRPr lang="en-US" altLang="zh-CN">
              <a:sym typeface="+mn-ea"/>
            </a:endParaRPr>
          </a:p>
        </p:txBody>
      </p:sp>
      <p:sp>
        <p:nvSpPr>
          <p:cNvPr id="45058" name="Rectangle 2"/>
          <p:cNvSpPr>
            <a:spLocks noGrp="1" noChangeArrowheads="1"/>
          </p:cNvSpPr>
          <p:nvPr>
            <p:custDataLst>
              <p:tags r:id="rId2"/>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分析下面两条语句结果是否</a:t>
            </a:r>
            <a:r>
              <a:rPr lang="zh-CN" altLang="en-US" sz="3600"/>
              <a:t>相同</a:t>
            </a:r>
            <a:endParaRPr lang="zh-CN" altLang="en-US" sz="3600"/>
          </a:p>
        </p:txBody>
      </p:sp>
      <p:sp>
        <p:nvSpPr>
          <p:cNvPr id="3" name="文本框 2"/>
          <p:cNvSpPr txBox="1"/>
          <p:nvPr>
            <p:custDataLst>
              <p:tags r:id="rId3"/>
            </p:custDataLst>
          </p:nvPr>
        </p:nvSpPr>
        <p:spPr>
          <a:xfrm>
            <a:off x="551180" y="3572510"/>
            <a:ext cx="10721975" cy="2168525"/>
          </a:xfrm>
          <a:prstGeom prst="rect">
            <a:avLst/>
          </a:prstGeom>
          <a:noFill/>
        </p:spPr>
        <p:txBody>
          <a:bodyPr wrap="square" rtlCol="0" anchor="t">
            <a:spAutoFit/>
          </a:bodyPr>
          <a:p>
            <a:pPr algn="just" eaLnBrk="1" hangingPunct="1">
              <a:lnSpc>
                <a:spcPct val="150000"/>
              </a:lnSpc>
            </a:pPr>
            <a:r>
              <a:rPr lang="en-US" altLang="zh-CN">
                <a:sym typeface="+mn-ea"/>
              </a:rPr>
              <a:t>SELECT Smajor, Count(*) AS ‘</a:t>
            </a:r>
            <a:r>
              <a:rPr lang="zh-CN" altLang="en-US">
                <a:sym typeface="+mn-ea"/>
              </a:rPr>
              <a:t>选修数据库</a:t>
            </a:r>
            <a:r>
              <a:rPr lang="zh-CN" altLang="en-US">
                <a:sym typeface="+mn-ea"/>
              </a:rPr>
              <a:t>的人数</a:t>
            </a:r>
            <a:r>
              <a:rPr lang="en-US" altLang="zh-CN">
                <a:sym typeface="+mn-ea"/>
              </a:rPr>
              <a:t>’</a:t>
            </a:r>
            <a:endParaRPr lang="en-US" altLang="zh-CN">
              <a:sym typeface="+mn-ea"/>
            </a:endParaRPr>
          </a:p>
          <a:p>
            <a:pPr algn="just" eaLnBrk="1" hangingPunct="1">
              <a:lnSpc>
                <a:spcPct val="150000"/>
              </a:lnSpc>
            </a:pPr>
            <a:r>
              <a:rPr lang="en-US" altLang="zh-CN">
                <a:sym typeface="+mn-ea"/>
              </a:rPr>
              <a:t>FROM </a:t>
            </a:r>
            <a:r>
              <a:rPr lang="en-US" altLang="zh-CN">
                <a:sym typeface="+mn-ea"/>
              </a:rPr>
              <a:t>S,C, SC</a:t>
            </a:r>
            <a:endParaRPr lang="en-US" altLang="zh-CN">
              <a:sym typeface="+mn-ea"/>
            </a:endParaRPr>
          </a:p>
          <a:p>
            <a:pPr algn="just" eaLnBrk="1" hangingPunct="1">
              <a:lnSpc>
                <a:spcPct val="150000"/>
              </a:lnSpc>
            </a:pPr>
            <a:r>
              <a:rPr lang="en-US" altLang="zh-CN">
                <a:sym typeface="+mn-ea"/>
              </a:rPr>
              <a:t>WHERE C.Cno = SC.Cno AND SC.Sno = S.Sno AND C.Cname = ‘</a:t>
            </a:r>
            <a:r>
              <a:rPr lang="zh-CN" altLang="en-US">
                <a:sym typeface="+mn-ea"/>
              </a:rPr>
              <a:t>数据库</a:t>
            </a:r>
            <a:r>
              <a:rPr lang="en-US" altLang="zh-CN">
                <a:sym typeface="+mn-ea"/>
              </a:rPr>
              <a:t>’ AND </a:t>
            </a:r>
            <a:r>
              <a:rPr lang="en-US" altLang="zh-CN">
                <a:sym typeface="+mn-ea"/>
              </a:rPr>
              <a:t>Smajor LIKE ‘%</a:t>
            </a:r>
            <a:r>
              <a:rPr lang="zh-CN" altLang="en-US">
                <a:sym typeface="+mn-ea"/>
              </a:rPr>
              <a:t>数据</a:t>
            </a:r>
            <a:r>
              <a:rPr lang="en-US" altLang="zh-CN">
                <a:sym typeface="+mn-ea"/>
              </a:rPr>
              <a:t>%’</a:t>
            </a:r>
            <a:r>
              <a:rPr lang="en-US" altLang="zh-CN">
                <a:sym typeface="+mn-ea"/>
              </a:rPr>
              <a:t> </a:t>
            </a:r>
            <a:endParaRPr lang="en-US" altLang="zh-CN">
              <a:sym typeface="+mn-ea"/>
            </a:endParaRPr>
          </a:p>
          <a:p>
            <a:pPr algn="just" eaLnBrk="1" hangingPunct="1">
              <a:lnSpc>
                <a:spcPct val="150000"/>
              </a:lnSpc>
            </a:pPr>
            <a:r>
              <a:rPr lang="en-US" altLang="zh-CN">
                <a:sym typeface="+mn-ea"/>
              </a:rPr>
              <a:t>GROUP BY </a:t>
            </a:r>
            <a:r>
              <a:rPr lang="en-US" altLang="zh-CN">
                <a:sym typeface="+mn-ea"/>
              </a:rPr>
              <a:t>Smajor;</a:t>
            </a:r>
            <a:endParaRPr lang="en-US" altLang="zh-CN">
              <a:sym typeface="+mn-ea"/>
            </a:endParaRPr>
          </a:p>
          <a:p>
            <a:pPr algn="just" eaLnBrk="1" hangingPunct="1">
              <a:lnSpc>
                <a:spcPct val="150000"/>
              </a:lnSpc>
            </a:pPr>
            <a:endParaRPr lang="en-US" altLang="zh-CN">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6"/>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64515" name="Rectangle 1027"/>
          <p:cNvSpPr>
            <a:spLocks noGrp="1" noChangeArrowheads="1"/>
          </p:cNvSpPr>
          <p:nvPr>
            <p:ph type="body" idx="4294967295"/>
          </p:nvPr>
        </p:nvSpPr>
        <p:spPr>
          <a:xfrm>
            <a:off x="2640013" y="1341439"/>
            <a:ext cx="5410200" cy="4548187"/>
          </a:xfrm>
        </p:spPr>
        <p:txBody>
          <a:bodyPr/>
          <a:lstStyle/>
          <a:p>
            <a:pPr algn="just" eaLnBrk="1" hangingPunct="1">
              <a:lnSpc>
                <a:spcPct val="160000"/>
              </a:lnSpc>
              <a:buFont typeface="Wingdings" panose="05000000000000000000" pitchFamily="2" charset="2"/>
              <a:buNone/>
            </a:pPr>
            <a:r>
              <a:rPr lang="en-US" altLang="zh-CN"/>
              <a:t>3.3.1 </a:t>
            </a:r>
            <a:r>
              <a:rPr lang="zh-CN" altLang="en-US"/>
              <a:t>单表查询</a:t>
            </a:r>
            <a:endParaRPr lang="zh-CN" altLang="en-US"/>
          </a:p>
          <a:p>
            <a:pPr algn="just" eaLnBrk="1" hangingPunct="1">
              <a:lnSpc>
                <a:spcPct val="160000"/>
              </a:lnSpc>
              <a:buFont typeface="Wingdings" panose="05000000000000000000" pitchFamily="2" charset="2"/>
              <a:buNone/>
            </a:pPr>
            <a:r>
              <a:rPr lang="en-US" altLang="zh-CN"/>
              <a:t>3.3.2 </a:t>
            </a:r>
            <a:r>
              <a:rPr lang="zh-CN" altLang="en-US"/>
              <a:t>连接查询</a:t>
            </a:r>
            <a:endParaRPr lang="zh-CN" altLang="en-US"/>
          </a:p>
          <a:p>
            <a:pPr algn="just" eaLnBrk="1" hangingPunct="1">
              <a:lnSpc>
                <a:spcPct val="160000"/>
              </a:lnSpc>
              <a:buFont typeface="Wingdings" panose="05000000000000000000" pitchFamily="2" charset="2"/>
              <a:buNone/>
            </a:pPr>
            <a:r>
              <a:rPr lang="en-US" altLang="zh-CN">
                <a:solidFill>
                  <a:srgbClr val="00B050"/>
                </a:solidFill>
              </a:rPr>
              <a:t>3.3.3 </a:t>
            </a:r>
            <a:r>
              <a:rPr lang="zh-CN" altLang="en-US">
                <a:solidFill>
                  <a:srgbClr val="00B050"/>
                </a:solidFill>
              </a:rPr>
              <a:t>嵌套查询</a:t>
            </a:r>
            <a:endParaRPr lang="zh-CN" altLang="en-US">
              <a:solidFill>
                <a:srgbClr val="00B050"/>
              </a:solidFill>
            </a:endParaRPr>
          </a:p>
          <a:p>
            <a:pPr algn="just" eaLnBrk="1" hangingPunct="1">
              <a:lnSpc>
                <a:spcPct val="160000"/>
              </a:lnSpc>
              <a:buFont typeface="Wingdings" panose="05000000000000000000" pitchFamily="2" charset="2"/>
              <a:buNone/>
            </a:pPr>
            <a:r>
              <a:rPr lang="en-US" altLang="zh-CN"/>
              <a:t>3.3.4 </a:t>
            </a:r>
            <a:r>
              <a:rPr lang="zh-CN" altLang="en-US"/>
              <a:t>集合查询</a:t>
            </a:r>
            <a:endParaRPr lang="en-US" altLang="zh-CN"/>
          </a:p>
          <a:p>
            <a:pPr algn="just" eaLnBrk="1" hangingPunct="1">
              <a:lnSpc>
                <a:spcPct val="160000"/>
              </a:lnSpc>
              <a:buFont typeface="Wingdings" panose="05000000000000000000" pitchFamily="2" charset="2"/>
              <a:buNone/>
            </a:pPr>
            <a:r>
              <a:rPr lang="en-US" altLang="zh-CN"/>
              <a:t>3.3.5</a:t>
            </a:r>
            <a:r>
              <a:rPr lang="zh-CN" altLang="en-US"/>
              <a:t>基于派生表的查询</a:t>
            </a:r>
            <a:endParaRPr lang="zh-CN" altLang="en-US"/>
          </a:p>
          <a:p>
            <a:pPr algn="just" eaLnBrk="1" hangingPunct="1">
              <a:buFont typeface="Wingdings" panose="05000000000000000000" pitchFamily="2" charset="2"/>
              <a:buNone/>
            </a:pPr>
            <a:endParaRPr lang="en-US" altLang="zh-CN"/>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p:txBody>
          <a:bodyPr/>
          <a:lstStyle/>
          <a:p>
            <a:pPr eaLnBrk="1" hangingPunct="1"/>
            <a:r>
              <a:rPr lang="zh-CN" altLang="en-US" sz="3600"/>
              <a:t>嵌套查询（续）</a:t>
            </a:r>
            <a:endParaRPr lang="zh-CN" altLang="en-US" sz="3600"/>
          </a:p>
        </p:txBody>
      </p:sp>
      <p:sp>
        <p:nvSpPr>
          <p:cNvPr id="67587" name="Rectangle 3"/>
          <p:cNvSpPr>
            <a:spLocks noGrp="1" noChangeArrowheads="1"/>
          </p:cNvSpPr>
          <p:nvPr>
            <p:ph type="body" idx="4294967295"/>
          </p:nvPr>
        </p:nvSpPr>
        <p:spPr>
          <a:xfrm>
            <a:off x="2135188" y="1098550"/>
            <a:ext cx="7772400" cy="5138738"/>
          </a:xfrm>
        </p:spPr>
        <p:txBody>
          <a:bodyPr/>
          <a:lstStyle/>
          <a:p>
            <a:pPr eaLnBrk="1" hangingPunct="1">
              <a:spcBef>
                <a:spcPct val="0"/>
              </a:spcBef>
            </a:pPr>
            <a:r>
              <a:rPr lang="zh-CN" altLang="en-US"/>
              <a:t>嵌套查询概述</a:t>
            </a:r>
            <a:endParaRPr lang="zh-CN" altLang="en-US"/>
          </a:p>
          <a:p>
            <a:pPr lvl="1">
              <a:spcBef>
                <a:spcPct val="0"/>
              </a:spcBef>
              <a:spcAft>
                <a:spcPct val="40000"/>
              </a:spcAft>
            </a:pPr>
            <a:r>
              <a:rPr lang="zh-CN" altLang="en-US"/>
              <a:t>一个</a:t>
            </a:r>
            <a:r>
              <a:rPr lang="en-US" altLang="zh-CN"/>
              <a:t>SELECT-FROM-WHERE</a:t>
            </a:r>
            <a:r>
              <a:rPr lang="zh-CN" altLang="en-US"/>
              <a:t>语句称为一个</a:t>
            </a:r>
            <a:r>
              <a:rPr lang="zh-CN" altLang="en-US">
                <a:solidFill>
                  <a:srgbClr val="FF00FF"/>
                </a:solidFill>
              </a:rPr>
              <a:t>查询块</a:t>
            </a:r>
            <a:endParaRPr lang="zh-CN" altLang="en-US">
              <a:solidFill>
                <a:srgbClr val="FF00FF"/>
              </a:solidFill>
            </a:endParaRPr>
          </a:p>
          <a:p>
            <a:pPr lvl="1">
              <a:spcBef>
                <a:spcPct val="0"/>
              </a:spcBef>
            </a:pPr>
            <a:r>
              <a:rPr lang="zh-CN" altLang="en-US"/>
              <a:t>将一个查询块嵌套在另一个查询块的</a:t>
            </a:r>
            <a:r>
              <a:rPr lang="en-US" altLang="zh-CN"/>
              <a:t>WHERE</a:t>
            </a:r>
            <a:r>
              <a:rPr lang="zh-CN" altLang="en-US"/>
              <a:t>子句或</a:t>
            </a:r>
            <a:r>
              <a:rPr lang="en-US" altLang="zh-CN"/>
              <a:t>HAVING</a:t>
            </a:r>
            <a:r>
              <a:rPr lang="zh-CN" altLang="en-US"/>
              <a:t>短语的条件中的查询称为</a:t>
            </a:r>
            <a:r>
              <a:rPr lang="zh-CN" altLang="en-US">
                <a:solidFill>
                  <a:srgbClr val="FF00FF"/>
                </a:solidFill>
              </a:rPr>
              <a:t>嵌套查询</a:t>
            </a:r>
            <a:endParaRPr lang="en-US" altLang="zh-CN">
              <a:solidFill>
                <a:srgbClr val="FF00FF"/>
              </a:solidFill>
            </a:endParaRPr>
          </a:p>
          <a:p>
            <a:pPr eaLnBrk="1" hangingPunct="1">
              <a:spcBef>
                <a:spcPct val="0"/>
              </a:spcBef>
              <a:buFont typeface="Wingdings" panose="05000000000000000000" pitchFamily="2" charset="2"/>
              <a:buNone/>
            </a:pPr>
            <a:endParaRPr lang="en-US" altLang="zh-CN" sz="2400"/>
          </a:p>
          <a:p>
            <a:pPr eaLnBrk="1" hangingPunct="1">
              <a:spcBef>
                <a:spcPct val="0"/>
              </a:spcBef>
              <a:buFont typeface="Wingdings" panose="05000000000000000000" pitchFamily="2" charset="2"/>
              <a:buNone/>
            </a:pPr>
            <a:r>
              <a:rPr lang="en-US" altLang="zh-CN" sz="2400"/>
              <a:t>     SELECT Sname	</a:t>
            </a:r>
            <a:r>
              <a:rPr lang="en-US" altLang="zh-CN" sz="2000"/>
              <a:t>                                   </a:t>
            </a:r>
            <a:r>
              <a:rPr lang="en-US" altLang="zh-CN" sz="1600"/>
              <a:t>/*</a:t>
            </a:r>
            <a:r>
              <a:rPr lang="zh-CN" altLang="en-US" sz="1600"/>
              <a:t>外层查询或父查询*</a:t>
            </a:r>
            <a:r>
              <a:rPr lang="en-US" altLang="zh-CN" sz="1600"/>
              <a:t>/</a:t>
            </a:r>
            <a:endParaRPr lang="en-US" altLang="zh-CN" sz="2000"/>
          </a:p>
          <a:p>
            <a:pPr eaLnBrk="1" hangingPunct="1">
              <a:spcBef>
                <a:spcPct val="0"/>
              </a:spcBef>
              <a:buFont typeface="Wingdings" panose="05000000000000000000" pitchFamily="2" charset="2"/>
              <a:buNone/>
            </a:pPr>
            <a:r>
              <a:rPr lang="en-US" altLang="zh-CN" sz="2400"/>
              <a:t>     FROM Student</a:t>
            </a:r>
            <a:endParaRPr lang="en-US" altLang="zh-CN" sz="2400"/>
          </a:p>
          <a:p>
            <a:pPr eaLnBrk="1" hangingPunct="1">
              <a:spcBef>
                <a:spcPct val="0"/>
              </a:spcBef>
              <a:buFont typeface="Wingdings" panose="05000000000000000000" pitchFamily="2" charset="2"/>
              <a:buNone/>
            </a:pPr>
            <a:r>
              <a:rPr lang="en-US" altLang="zh-CN" sz="2400"/>
              <a:t>     WHERE Sno IN</a:t>
            </a:r>
            <a:endParaRPr lang="en-US" altLang="zh-CN" sz="2400"/>
          </a:p>
          <a:p>
            <a:pPr eaLnBrk="1" hangingPunct="1">
              <a:spcBef>
                <a:spcPct val="0"/>
              </a:spcBef>
              <a:buFont typeface="Wingdings" panose="05000000000000000000" pitchFamily="2" charset="2"/>
              <a:buNone/>
            </a:pPr>
            <a:r>
              <a:rPr lang="en-US" altLang="zh-CN" sz="2400"/>
              <a:t>                        </a:t>
            </a:r>
            <a:r>
              <a:rPr lang="zh-CN" altLang="en-US" sz="2400"/>
              <a:t>( </a:t>
            </a:r>
            <a:r>
              <a:rPr lang="en-US" altLang="zh-CN" sz="2400"/>
              <a:t>SELECT Sno              </a:t>
            </a:r>
            <a:r>
              <a:rPr lang="en-US" altLang="zh-CN" sz="1600"/>
              <a:t>/*</a:t>
            </a:r>
            <a:r>
              <a:rPr lang="zh-CN" altLang="en-US" sz="1600"/>
              <a:t>内层查询或子查询*</a:t>
            </a:r>
            <a:r>
              <a:rPr lang="en-US" altLang="zh-CN" sz="1600"/>
              <a:t>/</a:t>
            </a:r>
            <a:endParaRPr lang="en-US" altLang="zh-CN" sz="2000"/>
          </a:p>
          <a:p>
            <a:pPr eaLnBrk="1" hangingPunct="1">
              <a:spcBef>
                <a:spcPct val="0"/>
              </a:spcBef>
              <a:buFont typeface="Wingdings" panose="05000000000000000000" pitchFamily="2" charset="2"/>
              <a:buNone/>
            </a:pPr>
            <a:r>
              <a:rPr lang="en-US" altLang="zh-CN" sz="2400"/>
              <a:t>                          FROM SC</a:t>
            </a:r>
            <a:endParaRPr lang="en-US" altLang="zh-CN" sz="2400"/>
          </a:p>
          <a:p>
            <a:pPr eaLnBrk="1" hangingPunct="1">
              <a:spcBef>
                <a:spcPct val="0"/>
              </a:spcBef>
              <a:buFont typeface="Wingdings" panose="05000000000000000000" pitchFamily="2" charset="2"/>
              <a:buNone/>
            </a:pPr>
            <a:r>
              <a:rPr lang="en-US" altLang="zh-CN" sz="2400"/>
              <a:t>                          WHERE Cno= ‘ 81003 '</a:t>
            </a:r>
            <a:r>
              <a:rPr lang="zh-CN" altLang="en-US" sz="2400"/>
              <a:t>);</a:t>
            </a:r>
            <a:endParaRPr lang="zh-CN" altLang="en-US" sz="2400"/>
          </a:p>
          <a:p>
            <a:pPr lvl="1">
              <a:spcBef>
                <a:spcPct val="0"/>
              </a:spcBef>
            </a:pPr>
            <a:endParaRPr lang="zh-CN" altLang="en-US">
              <a:solidFill>
                <a:srgbClr val="FF00FF"/>
              </a:solidFill>
            </a:endParaRPr>
          </a:p>
          <a:p>
            <a:pPr eaLnBrk="1" hangingPunct="1">
              <a:spcBef>
                <a:spcPct val="0"/>
              </a:spcBef>
              <a:buFont typeface="Wingdings" panose="05000000000000000000" pitchFamily="2" charset="2"/>
              <a:buNone/>
            </a:pPr>
            <a:r>
              <a:rPr lang="zh-CN" altLang="en-US" sz="2400"/>
              <a:t>        </a:t>
            </a:r>
            <a:endParaRPr lang="zh-CN" altLang="en-US" sz="240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p:cNvSpPr>
            <a:spLocks noGrp="1" noChangeArrowheads="1"/>
          </p:cNvSpPr>
          <p:nvPr>
            <p:ph type="title" idx="4294967295"/>
          </p:nvPr>
        </p:nvSpPr>
        <p:spPr/>
        <p:txBody>
          <a:bodyPr/>
          <a:lstStyle/>
          <a:p>
            <a:pPr eaLnBrk="1" hangingPunct="1"/>
            <a:r>
              <a:rPr lang="zh-CN" altLang="en-US" sz="3600"/>
              <a:t>嵌套查询（续）</a:t>
            </a:r>
            <a:endParaRPr lang="zh-CN" altLang="en-US" sz="3600"/>
          </a:p>
        </p:txBody>
      </p:sp>
      <p:sp>
        <p:nvSpPr>
          <p:cNvPr id="68611" name="Rectangle 1027"/>
          <p:cNvSpPr>
            <a:spLocks noGrp="1" noChangeArrowheads="1"/>
          </p:cNvSpPr>
          <p:nvPr>
            <p:ph type="body" idx="4294967295"/>
          </p:nvPr>
        </p:nvSpPr>
        <p:spPr>
          <a:xfrm>
            <a:off x="1981200" y="1125539"/>
            <a:ext cx="8229600" cy="4854575"/>
          </a:xfrm>
        </p:spPr>
        <p:txBody>
          <a:bodyPr/>
          <a:lstStyle/>
          <a:p>
            <a:pPr lvl="1">
              <a:lnSpc>
                <a:spcPct val="180000"/>
              </a:lnSpc>
            </a:pPr>
            <a:r>
              <a:rPr lang="zh-CN" altLang="en-US"/>
              <a:t>上层的查询块称为</a:t>
            </a:r>
            <a:r>
              <a:rPr lang="zh-CN" altLang="en-US">
                <a:solidFill>
                  <a:srgbClr val="FF00FF"/>
                </a:solidFill>
              </a:rPr>
              <a:t>外层查询</a:t>
            </a:r>
            <a:r>
              <a:rPr lang="zh-CN" altLang="en-US"/>
              <a:t>或</a:t>
            </a:r>
            <a:r>
              <a:rPr lang="zh-CN" altLang="en-US">
                <a:solidFill>
                  <a:srgbClr val="FF00FF"/>
                </a:solidFill>
              </a:rPr>
              <a:t>父查询</a:t>
            </a:r>
            <a:endParaRPr lang="en-US" altLang="zh-CN">
              <a:solidFill>
                <a:srgbClr val="FF00FF"/>
              </a:solidFill>
            </a:endParaRPr>
          </a:p>
          <a:p>
            <a:pPr lvl="1">
              <a:lnSpc>
                <a:spcPct val="180000"/>
              </a:lnSpc>
            </a:pPr>
            <a:r>
              <a:rPr lang="zh-CN" altLang="en-US"/>
              <a:t>下层查询块称为</a:t>
            </a:r>
            <a:r>
              <a:rPr lang="zh-CN" altLang="en-US">
                <a:solidFill>
                  <a:srgbClr val="FF00FF"/>
                </a:solidFill>
              </a:rPr>
              <a:t>内层查询</a:t>
            </a:r>
            <a:r>
              <a:rPr lang="zh-CN" altLang="en-US"/>
              <a:t>或</a:t>
            </a:r>
            <a:r>
              <a:rPr lang="zh-CN" altLang="en-US">
                <a:solidFill>
                  <a:srgbClr val="FF00FF"/>
                </a:solidFill>
              </a:rPr>
              <a:t>子查询</a:t>
            </a:r>
            <a:endParaRPr lang="en-US" altLang="zh-CN">
              <a:solidFill>
                <a:srgbClr val="FF00FF"/>
              </a:solidFill>
            </a:endParaRPr>
          </a:p>
          <a:p>
            <a:pPr lvl="1">
              <a:lnSpc>
                <a:spcPct val="180000"/>
              </a:lnSpc>
            </a:pPr>
            <a:r>
              <a:rPr lang="en-US" altLang="zh-CN"/>
              <a:t>SQL</a:t>
            </a:r>
            <a:r>
              <a:rPr lang="zh-CN" altLang="en-US"/>
              <a:t>语言允许多层嵌套查询</a:t>
            </a:r>
            <a:endParaRPr lang="en-US" altLang="zh-CN"/>
          </a:p>
          <a:p>
            <a:pPr lvl="2">
              <a:lnSpc>
                <a:spcPct val="180000"/>
              </a:lnSpc>
              <a:buSzPct val="87000"/>
              <a:buFont typeface="Wingdings" panose="05000000000000000000" pitchFamily="2" charset="2"/>
              <a:buChar char="l"/>
            </a:pPr>
            <a:r>
              <a:rPr lang="zh-CN" altLang="en-US" sz="2200"/>
              <a:t>即一个子查询中还可以嵌套其他子查询</a:t>
            </a:r>
            <a:endParaRPr lang="zh-CN" altLang="en-US" sz="2200"/>
          </a:p>
          <a:p>
            <a:pPr lvl="1">
              <a:lnSpc>
                <a:spcPct val="180000"/>
              </a:lnSpc>
            </a:pPr>
            <a:r>
              <a:rPr lang="zh-CN" altLang="en-US"/>
              <a:t>子查询的限制</a:t>
            </a:r>
            <a:endParaRPr lang="zh-CN" altLang="en-US"/>
          </a:p>
          <a:p>
            <a:pPr lvl="2">
              <a:lnSpc>
                <a:spcPct val="180000"/>
              </a:lnSpc>
              <a:buSzPct val="87000"/>
              <a:buFont typeface="Wingdings" panose="05000000000000000000" pitchFamily="2" charset="2"/>
              <a:buChar char="l"/>
            </a:pPr>
            <a:r>
              <a:rPr lang="en-US" altLang="zh-CN" sz="2200"/>
              <a:t>SELECT</a:t>
            </a:r>
            <a:r>
              <a:rPr lang="zh-CN" altLang="en-US" sz="2200"/>
              <a:t>语句不能使用</a:t>
            </a:r>
            <a:r>
              <a:rPr lang="en-US" altLang="zh-CN" sz="2200"/>
              <a:t>ORDER BY</a:t>
            </a:r>
            <a:r>
              <a:rPr lang="zh-CN" altLang="en-US" sz="2200"/>
              <a:t>子句</a:t>
            </a:r>
            <a:endParaRPr lang="zh-CN" altLang="en-US" sz="220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p:txBody>
          <a:bodyPr/>
          <a:lstStyle/>
          <a:p>
            <a:pPr eaLnBrk="1" hangingPunct="1"/>
            <a:r>
              <a:rPr lang="zh-CN" altLang="en-US" sz="3600"/>
              <a:t>嵌套查询求解方法</a:t>
            </a:r>
            <a:endParaRPr lang="zh-CN" altLang="en-US" sz="3600"/>
          </a:p>
        </p:txBody>
      </p:sp>
      <p:sp>
        <p:nvSpPr>
          <p:cNvPr id="69635" name="Rectangle 3"/>
          <p:cNvSpPr>
            <a:spLocks noGrp="1" noChangeArrowheads="1"/>
          </p:cNvSpPr>
          <p:nvPr>
            <p:ph type="body" idx="4294967295"/>
          </p:nvPr>
        </p:nvSpPr>
        <p:spPr/>
        <p:txBody>
          <a:bodyPr/>
          <a:lstStyle/>
          <a:p>
            <a:pPr eaLnBrk="1" hangingPunct="1">
              <a:lnSpc>
                <a:spcPct val="110000"/>
              </a:lnSpc>
            </a:pPr>
            <a:r>
              <a:rPr lang="zh-CN" altLang="en-US"/>
              <a:t>不相关子查询：</a:t>
            </a:r>
            <a:endParaRPr lang="zh-CN" altLang="en-US"/>
          </a:p>
          <a:p>
            <a:pPr eaLnBrk="1" hangingPunct="1">
              <a:lnSpc>
                <a:spcPct val="110000"/>
              </a:lnSpc>
              <a:buFont typeface="Wingdings" panose="05000000000000000000" pitchFamily="2" charset="2"/>
              <a:buNone/>
            </a:pPr>
            <a:r>
              <a:rPr lang="zh-CN" altLang="en-US"/>
              <a:t>    子查询的查询条件不依赖于父查询</a:t>
            </a:r>
            <a:endParaRPr lang="zh-CN" altLang="en-US"/>
          </a:p>
          <a:p>
            <a:pPr lvl="1">
              <a:lnSpc>
                <a:spcPct val="150000"/>
              </a:lnSpc>
            </a:pPr>
            <a:r>
              <a:rPr lang="zh-CN" altLang="en-US"/>
              <a:t>由里向外逐层处理。即每个子查询在上一级查询处理之前求解，子查询的结果用于建立其父查询的查找条件。</a:t>
            </a:r>
            <a:endParaRPr lang="zh-CN" altLang="en-US"/>
          </a:p>
          <a:p>
            <a:pPr eaLnBrk="1" hangingPunct="1">
              <a:lnSpc>
                <a:spcPct val="110000"/>
              </a:lnSpc>
            </a:pPr>
            <a:endParaRPr lang="en-US" altLang="zh-CN" sz="240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p:txBody>
          <a:bodyPr/>
          <a:lstStyle/>
          <a:p>
            <a:pPr eaLnBrk="1" hangingPunct="1"/>
            <a:r>
              <a:rPr lang="zh-CN" altLang="en-US" sz="3600"/>
              <a:t>嵌套查询求解方法（续）</a:t>
            </a:r>
            <a:endParaRPr lang="zh-CN" altLang="en-US" sz="3600"/>
          </a:p>
        </p:txBody>
      </p:sp>
      <p:sp>
        <p:nvSpPr>
          <p:cNvPr id="70659" name="Rectangle 3"/>
          <p:cNvSpPr>
            <a:spLocks noGrp="1" noChangeArrowheads="1"/>
          </p:cNvSpPr>
          <p:nvPr>
            <p:ph type="body" idx="4294967295"/>
          </p:nvPr>
        </p:nvSpPr>
        <p:spPr>
          <a:xfrm>
            <a:off x="983432" y="1125539"/>
            <a:ext cx="10297144" cy="4854575"/>
          </a:xfrm>
        </p:spPr>
        <p:txBody>
          <a:bodyPr/>
          <a:lstStyle/>
          <a:p>
            <a:pPr eaLnBrk="1" hangingPunct="1">
              <a:lnSpc>
                <a:spcPct val="160000"/>
              </a:lnSpc>
            </a:pPr>
            <a:r>
              <a:rPr lang="zh-CN" altLang="en-US" dirty="0"/>
              <a:t>相关子查询：子查询的查询条件依赖于父查询</a:t>
            </a:r>
            <a:endParaRPr lang="zh-CN" altLang="en-US" dirty="0"/>
          </a:p>
          <a:p>
            <a:pPr lvl="1">
              <a:lnSpc>
                <a:spcPct val="160000"/>
              </a:lnSpc>
            </a:pPr>
            <a:r>
              <a:rPr lang="zh-CN" altLang="en-US" dirty="0"/>
              <a:t>首先取外层查询中表的第一个元组，根据它与内层查询相关的属性值处理内层查询，若</a:t>
            </a:r>
            <a:r>
              <a:rPr lang="en-US" altLang="zh-CN" dirty="0"/>
              <a:t>WHERE</a:t>
            </a:r>
            <a:r>
              <a:rPr lang="zh-CN" altLang="en-US" dirty="0"/>
              <a:t>子句返回值为真，则取此元组放入结果表</a:t>
            </a:r>
            <a:endParaRPr lang="zh-CN" altLang="en-US" dirty="0"/>
          </a:p>
          <a:p>
            <a:pPr lvl="1">
              <a:lnSpc>
                <a:spcPct val="160000"/>
              </a:lnSpc>
            </a:pPr>
            <a:r>
              <a:rPr lang="zh-CN" altLang="en-US" dirty="0"/>
              <a:t>然后再取外层表的下一个元组</a:t>
            </a:r>
            <a:endParaRPr lang="zh-CN" altLang="en-US" dirty="0"/>
          </a:p>
          <a:p>
            <a:pPr lvl="1">
              <a:lnSpc>
                <a:spcPct val="160000"/>
              </a:lnSpc>
            </a:pPr>
            <a:r>
              <a:rPr lang="zh-CN" altLang="en-US" dirty="0"/>
              <a:t>重复这一过程，直至外层表全部检查完为止</a:t>
            </a:r>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71683" name="Rectangle 3"/>
          <p:cNvSpPr>
            <a:spLocks noGrp="1" noChangeArrowheads="1"/>
          </p:cNvSpPr>
          <p:nvPr>
            <p:ph type="body" idx="4294967295"/>
          </p:nvPr>
        </p:nvSpPr>
        <p:spPr>
          <a:xfrm>
            <a:off x="1559496" y="1339851"/>
            <a:ext cx="10022904" cy="4854575"/>
          </a:xfrm>
        </p:spPr>
        <p:txBody>
          <a:bodyPr/>
          <a:lstStyle/>
          <a:p>
            <a:pPr eaLnBrk="1" hangingPunct="1">
              <a:lnSpc>
                <a:spcPct val="150000"/>
              </a:lnSpc>
              <a:buFont typeface="Wingdings" panose="05000000000000000000" pitchFamily="2" charset="2"/>
              <a:buNone/>
            </a:pPr>
            <a:r>
              <a:rPr lang="en-US" altLang="zh-CN" dirty="0">
                <a:solidFill>
                  <a:srgbClr val="7030A0"/>
                </a:solidFill>
              </a:rPr>
              <a:t>  1.</a:t>
            </a:r>
            <a:r>
              <a:rPr lang="zh-CN" altLang="en-US" dirty="0">
                <a:solidFill>
                  <a:srgbClr val="7030A0"/>
                </a:solidFill>
              </a:rPr>
              <a:t>带有</a:t>
            </a:r>
            <a:r>
              <a:rPr lang="en-US" altLang="zh-CN" dirty="0">
                <a:solidFill>
                  <a:srgbClr val="7030A0"/>
                </a:solidFill>
              </a:rPr>
              <a:t>IN</a:t>
            </a:r>
            <a:r>
              <a:rPr lang="zh-CN" altLang="en-US" dirty="0">
                <a:solidFill>
                  <a:srgbClr val="7030A0"/>
                </a:solidFill>
              </a:rPr>
              <a:t>谓词的子查询 </a:t>
            </a:r>
            <a:endParaRPr lang="zh-CN" altLang="en-US" dirty="0">
              <a:solidFill>
                <a:srgbClr val="7030A0"/>
              </a:solidFill>
            </a:endParaRPr>
          </a:p>
          <a:p>
            <a:pPr eaLnBrk="1" hangingPunct="1">
              <a:lnSpc>
                <a:spcPct val="150000"/>
              </a:lnSpc>
              <a:buFont typeface="Wingdings" panose="05000000000000000000" pitchFamily="2" charset="2"/>
              <a:buNone/>
            </a:pPr>
            <a:r>
              <a:rPr lang="zh-CN" altLang="en-US" dirty="0"/>
              <a:t>  </a:t>
            </a:r>
            <a:r>
              <a:rPr lang="en-US" altLang="zh-CN" dirty="0"/>
              <a:t>2.</a:t>
            </a:r>
            <a:r>
              <a:rPr lang="zh-CN" altLang="en-US" dirty="0"/>
              <a:t>带有比较运算符的子查询</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3.</a:t>
            </a:r>
            <a:r>
              <a:rPr lang="zh-CN" altLang="en-US" dirty="0"/>
              <a:t>带有</a:t>
            </a:r>
            <a:r>
              <a:rPr lang="en-US" altLang="zh-CN" dirty="0"/>
              <a:t>ANY</a:t>
            </a:r>
            <a:r>
              <a:rPr lang="zh-CN" altLang="en-US" dirty="0"/>
              <a:t>（</a:t>
            </a:r>
            <a:r>
              <a:rPr lang="en-US" altLang="zh-CN" dirty="0"/>
              <a:t>SOME</a:t>
            </a:r>
            <a:r>
              <a:rPr lang="zh-CN" altLang="en-US" dirty="0"/>
              <a:t>）或</a:t>
            </a:r>
            <a:r>
              <a:rPr lang="en-US" altLang="zh-CN" dirty="0"/>
              <a:t>ALL</a:t>
            </a:r>
            <a:r>
              <a:rPr lang="zh-CN" altLang="en-US" dirty="0"/>
              <a:t>谓词的子查询</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endParaRPr lang="zh-CN" altLang="en-US" dirty="0"/>
          </a:p>
          <a:p>
            <a:pPr eaLnBrk="1" hangingPunct="1">
              <a:lnSpc>
                <a:spcPct val="130000"/>
              </a:lnSpc>
              <a:buFont typeface="Wingdings" panose="05000000000000000000" pitchFamily="2" charset="2"/>
              <a:buNone/>
            </a:pPr>
            <a:endParaRPr lang="en-US" altLang="zh-CN"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p:txBody>
          <a:bodyPr/>
          <a:lstStyle/>
          <a:p>
            <a:pPr eaLnBrk="1" hangingPunct="1"/>
            <a:r>
              <a:rPr lang="en-US" altLang="zh-CN" sz="3600"/>
              <a:t>1. </a:t>
            </a:r>
            <a:r>
              <a:rPr lang="zh-CN" altLang="en-US" sz="3600"/>
              <a:t>带有</a:t>
            </a:r>
            <a:r>
              <a:rPr lang="en-US" altLang="zh-CN" sz="3600"/>
              <a:t>IN</a:t>
            </a:r>
            <a:r>
              <a:rPr lang="zh-CN" altLang="en-US" sz="3600"/>
              <a:t>谓词的子查询</a:t>
            </a:r>
            <a:endParaRPr lang="zh-CN" altLang="en-US" sz="3600"/>
          </a:p>
        </p:txBody>
      </p:sp>
      <p:sp>
        <p:nvSpPr>
          <p:cNvPr id="72707" name="Rectangle 3"/>
          <p:cNvSpPr>
            <a:spLocks noGrp="1" noChangeArrowheads="1"/>
          </p:cNvSpPr>
          <p:nvPr>
            <p:ph type="body" idx="4294967295"/>
          </p:nvPr>
        </p:nvSpPr>
        <p:spPr>
          <a:xfrm>
            <a:off x="1981200" y="1098551"/>
            <a:ext cx="8229600" cy="5095875"/>
          </a:xfrm>
        </p:spPr>
        <p:txBody>
          <a:bodyPr/>
          <a:lstStyle/>
          <a:p>
            <a:pPr eaLnBrk="1" hangingPunct="1">
              <a:lnSpc>
                <a:spcPct val="140000"/>
              </a:lnSpc>
              <a:buFont typeface="Wingdings" panose="05000000000000000000" pitchFamily="2" charset="2"/>
              <a:buNone/>
            </a:pPr>
            <a:r>
              <a:rPr lang="en-US" altLang="zh-CN" sz="2400"/>
              <a:t>[</a:t>
            </a:r>
            <a:r>
              <a:rPr lang="zh-CN" altLang="en-US" sz="2400"/>
              <a:t>例 </a:t>
            </a:r>
            <a:r>
              <a:rPr lang="en-US" altLang="zh-CN" sz="2400"/>
              <a:t>3.57]</a:t>
            </a:r>
            <a:r>
              <a:rPr lang="zh-CN" altLang="en-US" sz="2400"/>
              <a:t>查询与“刘晨”在同一个主修专业的学生学号、姓名和主修专业。</a:t>
            </a:r>
            <a:endParaRPr lang="en-US" altLang="zh-CN" sz="2400"/>
          </a:p>
          <a:p>
            <a:pPr eaLnBrk="1" hangingPunct="1">
              <a:lnSpc>
                <a:spcPct val="140000"/>
              </a:lnSpc>
              <a:buFont typeface="Wingdings" panose="05000000000000000000" pitchFamily="2" charset="2"/>
              <a:buNone/>
            </a:pPr>
            <a:r>
              <a:rPr lang="zh-CN" altLang="en-US" sz="2400"/>
              <a:t>此查询要求可以分步来完成</a:t>
            </a:r>
            <a:endParaRPr lang="zh-CN" altLang="en-US"/>
          </a:p>
          <a:p>
            <a:pPr eaLnBrk="1" hangingPunct="1">
              <a:lnSpc>
                <a:spcPct val="140000"/>
              </a:lnSpc>
              <a:buFont typeface="Wingdings" panose="05000000000000000000" pitchFamily="2" charset="2"/>
              <a:buNone/>
            </a:pPr>
            <a:r>
              <a:rPr lang="zh-CN" altLang="en-US" sz="2400"/>
              <a:t>    ① 确定“刘晨”所在系名             </a:t>
            </a:r>
            <a:endParaRPr lang="zh-CN" altLang="en-US" sz="2400"/>
          </a:p>
          <a:p>
            <a:pPr eaLnBrk="1" hangingPunct="1">
              <a:lnSpc>
                <a:spcPct val="140000"/>
              </a:lnSpc>
              <a:buFont typeface="Wingdings" panose="05000000000000000000" pitchFamily="2" charset="2"/>
              <a:buNone/>
            </a:pPr>
            <a:r>
              <a:rPr lang="zh-CN" altLang="en-US" sz="2400"/>
              <a:t>         </a:t>
            </a:r>
            <a:r>
              <a:rPr lang="en-US" altLang="zh-CN" sz="2400"/>
              <a:t>SELECT  Smajor</a:t>
            </a:r>
            <a:endParaRPr lang="en-US" altLang="zh-CN" sz="2400"/>
          </a:p>
          <a:p>
            <a:pPr eaLnBrk="1" hangingPunct="1">
              <a:lnSpc>
                <a:spcPct val="140000"/>
              </a:lnSpc>
              <a:buFont typeface="Wingdings" panose="05000000000000000000" pitchFamily="2" charset="2"/>
              <a:buNone/>
            </a:pPr>
            <a:r>
              <a:rPr lang="en-US" altLang="zh-CN" sz="2400"/>
              <a:t>         FROM     Student                            </a:t>
            </a:r>
            <a:endParaRPr lang="en-US" altLang="zh-CN" sz="2400"/>
          </a:p>
          <a:p>
            <a:pPr eaLnBrk="1" hangingPunct="1">
              <a:lnSpc>
                <a:spcPct val="140000"/>
              </a:lnSpc>
              <a:buFont typeface="Wingdings" panose="05000000000000000000" pitchFamily="2" charset="2"/>
              <a:buNone/>
            </a:pPr>
            <a:r>
              <a:rPr lang="en-US" altLang="zh-CN" sz="2400"/>
              <a:t>         WHERE  Sname= ' </a:t>
            </a:r>
            <a:r>
              <a:rPr lang="zh-CN" altLang="en-US" sz="2400"/>
              <a:t>刘晨 </a:t>
            </a:r>
            <a:r>
              <a:rPr lang="en-US" altLang="zh-CN" sz="2400"/>
              <a:t>'</a:t>
            </a:r>
            <a:r>
              <a:rPr lang="zh-CN" altLang="en-US" sz="2400"/>
              <a:t>;</a:t>
            </a:r>
            <a:endParaRPr lang="zh-CN" altLang="en-US" sz="2400"/>
          </a:p>
          <a:p>
            <a:pPr eaLnBrk="1" hangingPunct="1">
              <a:lnSpc>
                <a:spcPct val="140000"/>
              </a:lnSpc>
              <a:buFont typeface="Wingdings" panose="05000000000000000000" pitchFamily="2" charset="2"/>
              <a:buNone/>
            </a:pPr>
            <a:r>
              <a:rPr lang="zh-CN" altLang="en-US" sz="2000"/>
              <a:t>	     </a:t>
            </a:r>
            <a:r>
              <a:rPr lang="zh-CN" altLang="en-US" sz="2400"/>
              <a:t> 结果为： 计算机科学与技术</a:t>
            </a:r>
            <a:endParaRPr lang="en-US" altLang="zh-CN" sz="240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3731" name="Rectangle 3"/>
          <p:cNvSpPr>
            <a:spLocks noGrp="1" noChangeArrowheads="1"/>
          </p:cNvSpPr>
          <p:nvPr>
            <p:ph type="body" sz="half" idx="4294967295"/>
          </p:nvPr>
        </p:nvSpPr>
        <p:spPr>
          <a:xfrm>
            <a:off x="2341563" y="1196976"/>
            <a:ext cx="7715250" cy="2320925"/>
          </a:xfrm>
        </p:spPr>
        <p:txBody>
          <a:bodyPr/>
          <a:lstStyle/>
          <a:p>
            <a:pPr eaLnBrk="1" hangingPunct="1">
              <a:lnSpc>
                <a:spcPct val="90000"/>
              </a:lnSpc>
              <a:buFont typeface="Wingdings" panose="05000000000000000000" pitchFamily="2" charset="2"/>
              <a:buNone/>
            </a:pPr>
            <a:r>
              <a:rPr lang="en-US" altLang="zh-CN" sz="2400"/>
              <a:t>② </a:t>
            </a:r>
            <a:r>
              <a:rPr lang="zh-CN" altLang="en-US" sz="2400"/>
              <a:t>查找所有主修计算机科学与技术专业的学生</a:t>
            </a:r>
            <a:endParaRPr lang="zh-CN" altLang="en-US" sz="2400"/>
          </a:p>
          <a:p>
            <a:pPr eaLnBrk="1" hangingPunct="1">
              <a:lnSpc>
                <a:spcPct val="90000"/>
              </a:lnSpc>
              <a:buFont typeface="Wingdings" panose="05000000000000000000" pitchFamily="2" charset="2"/>
              <a:buNone/>
            </a:pPr>
            <a:r>
              <a:rPr lang="zh-CN" altLang="en-US" sz="2400"/>
              <a:t>        </a:t>
            </a:r>
            <a:r>
              <a:rPr lang="en-US" altLang="zh-CN" sz="2400"/>
              <a:t>SELECT   Sno</a:t>
            </a:r>
            <a:r>
              <a:rPr lang="zh-CN" altLang="en-US" sz="2400"/>
              <a:t>, </a:t>
            </a:r>
            <a:r>
              <a:rPr lang="en-US" altLang="zh-CN" sz="2400"/>
              <a:t>Sname</a:t>
            </a:r>
            <a:r>
              <a:rPr lang="zh-CN" altLang="en-US" sz="2400"/>
              <a:t>, </a:t>
            </a:r>
            <a:r>
              <a:rPr lang="en-US" altLang="zh-CN" sz="2400"/>
              <a:t>Smajor     </a:t>
            </a:r>
            <a:endParaRPr lang="en-US" altLang="zh-CN" sz="2400"/>
          </a:p>
          <a:p>
            <a:pPr eaLnBrk="1" hangingPunct="1">
              <a:lnSpc>
                <a:spcPct val="90000"/>
              </a:lnSpc>
              <a:buFont typeface="Wingdings" panose="05000000000000000000" pitchFamily="2" charset="2"/>
              <a:buNone/>
            </a:pPr>
            <a:r>
              <a:rPr lang="en-US" altLang="zh-CN" sz="2400"/>
              <a:t>        FROM      Student                 </a:t>
            </a:r>
            <a:endParaRPr lang="en-US" altLang="zh-CN" sz="2400"/>
          </a:p>
          <a:p>
            <a:pPr eaLnBrk="1" hangingPunct="1">
              <a:lnSpc>
                <a:spcPct val="90000"/>
              </a:lnSpc>
              <a:buFont typeface="Wingdings" panose="05000000000000000000" pitchFamily="2" charset="2"/>
              <a:buNone/>
            </a:pPr>
            <a:r>
              <a:rPr lang="en-US" altLang="zh-CN" sz="2400"/>
              <a:t>        WHERE   Smajor= ‘ </a:t>
            </a:r>
            <a:r>
              <a:rPr lang="zh-CN" altLang="en-US" sz="2400"/>
              <a:t>计算机科学与技术</a:t>
            </a:r>
            <a:r>
              <a:rPr lang="en-US" altLang="zh-CN" sz="2400"/>
              <a:t> '</a:t>
            </a:r>
            <a:r>
              <a:rPr lang="zh-CN" altLang="en-US" sz="2400"/>
              <a:t>; </a:t>
            </a:r>
            <a:endParaRPr lang="zh-CN" altLang="en-US" sz="2400"/>
          </a:p>
          <a:p>
            <a:pPr eaLnBrk="1" hangingPunct="1">
              <a:lnSpc>
                <a:spcPct val="150000"/>
              </a:lnSpc>
              <a:buFont typeface="Wingdings" panose="05000000000000000000" pitchFamily="2" charset="2"/>
              <a:buNone/>
            </a:pPr>
            <a:r>
              <a:rPr lang="zh-CN" altLang="en-US" sz="2400"/>
              <a:t>结果为：</a:t>
            </a:r>
            <a:endParaRPr lang="zh-CN" altLang="en-US" sz="2400"/>
          </a:p>
        </p:txBody>
      </p:sp>
      <p:graphicFrame>
        <p:nvGraphicFramePr>
          <p:cNvPr id="2" name="表格 1"/>
          <p:cNvGraphicFramePr>
            <a:graphicFrameLocks noGrp="1"/>
          </p:cNvGraphicFramePr>
          <p:nvPr/>
        </p:nvGraphicFramePr>
        <p:xfrm>
          <a:off x="3071814" y="3716338"/>
          <a:ext cx="6757986" cy="2089152"/>
        </p:xfrm>
        <a:graphic>
          <a:graphicData uri="http://schemas.openxmlformats.org/drawingml/2006/table">
            <a:tbl>
              <a:tblPr/>
              <a:tblGrid>
                <a:gridCol w="2486118"/>
                <a:gridCol w="1675470"/>
                <a:gridCol w="2596398"/>
              </a:tblGrid>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Sno</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20180002</a:t>
                      </a:r>
                      <a:endParaRPr kumimoji="0" lang="zh-CN"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20180003</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王敏</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52228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20180004</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张立</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4755" name="Rectangle 3"/>
          <p:cNvSpPr>
            <a:spLocks noGrp="1" noChangeArrowheads="1"/>
          </p:cNvSpPr>
          <p:nvPr>
            <p:ph type="body" sz="half" idx="4294967295"/>
          </p:nvPr>
        </p:nvSpPr>
        <p:spPr>
          <a:xfrm>
            <a:off x="2341563" y="1196976"/>
            <a:ext cx="7931150" cy="4752975"/>
          </a:xfrm>
        </p:spPr>
        <p:txBody>
          <a:bodyPr/>
          <a:lstStyle/>
          <a:p>
            <a:pPr eaLnBrk="1" hangingPunct="1">
              <a:lnSpc>
                <a:spcPct val="150000"/>
              </a:lnSpc>
              <a:spcBef>
                <a:spcPct val="0"/>
              </a:spcBef>
              <a:buFont typeface="Wingdings" panose="05000000000000000000" pitchFamily="2" charset="2"/>
              <a:buNone/>
            </a:pPr>
            <a:r>
              <a:rPr lang="zh-CN" altLang="en-US" sz="2400"/>
              <a:t>构造嵌套查询语句：</a:t>
            </a:r>
            <a:endParaRPr lang="zh-CN" altLang="en-US" sz="2400"/>
          </a:p>
          <a:p>
            <a:pPr eaLnBrk="1" hangingPunct="1">
              <a:lnSpc>
                <a:spcPct val="150000"/>
              </a:lnSpc>
              <a:spcBef>
                <a:spcPct val="0"/>
              </a:spcBef>
              <a:buFont typeface="Wingdings" panose="05000000000000000000" pitchFamily="2" charset="2"/>
              <a:buNone/>
            </a:pPr>
            <a:r>
              <a:rPr lang="en-US" altLang="zh-CN" sz="2400"/>
              <a:t>SELECT Sno,Sname,Smajor                 </a:t>
            </a:r>
            <a:r>
              <a:rPr lang="en-US" altLang="zh-CN" sz="1600"/>
              <a:t> /*</a:t>
            </a:r>
            <a:r>
              <a:rPr lang="zh-CN" altLang="en-US" sz="1600"/>
              <a:t>例</a:t>
            </a:r>
            <a:r>
              <a:rPr lang="en-US" altLang="zh-CN" sz="1600"/>
              <a:t>3.57</a:t>
            </a:r>
            <a:r>
              <a:rPr lang="zh-CN" altLang="en-US" sz="1600"/>
              <a:t>的解法一*</a:t>
            </a:r>
            <a:r>
              <a:rPr lang="en-US" altLang="zh-CN" sz="1600"/>
              <a:t>/</a:t>
            </a:r>
            <a:endParaRPr lang="en-US" altLang="zh-CN" sz="2400"/>
          </a:p>
          <a:p>
            <a:pPr eaLnBrk="1" hangingPunct="1">
              <a:lnSpc>
                <a:spcPct val="150000"/>
              </a:lnSpc>
              <a:spcBef>
                <a:spcPct val="0"/>
              </a:spcBef>
              <a:buFont typeface="Wingdings" panose="05000000000000000000" pitchFamily="2" charset="2"/>
              <a:buNone/>
            </a:pPr>
            <a:r>
              <a:rPr lang="en-US" altLang="zh-CN" sz="2400"/>
              <a:t>FROM Student</a:t>
            </a:r>
            <a:endParaRPr lang="en-US" altLang="zh-CN" sz="2400"/>
          </a:p>
          <a:p>
            <a:pPr eaLnBrk="1" hangingPunct="1">
              <a:lnSpc>
                <a:spcPct val="150000"/>
              </a:lnSpc>
              <a:spcBef>
                <a:spcPct val="0"/>
              </a:spcBef>
              <a:buFont typeface="Wingdings" panose="05000000000000000000" pitchFamily="2" charset="2"/>
              <a:buNone/>
            </a:pPr>
            <a:r>
              <a:rPr lang="en-US" altLang="zh-CN" sz="2400"/>
              <a:t>WHERE Smajor IN</a:t>
            </a:r>
            <a:endParaRPr lang="en-US" altLang="zh-CN" sz="2400"/>
          </a:p>
          <a:p>
            <a:pPr eaLnBrk="1" hangingPunct="1">
              <a:lnSpc>
                <a:spcPct val="150000"/>
              </a:lnSpc>
              <a:spcBef>
                <a:spcPct val="0"/>
              </a:spcBef>
              <a:buFont typeface="Wingdings" panose="05000000000000000000" pitchFamily="2" charset="2"/>
              <a:buNone/>
            </a:pPr>
            <a:r>
              <a:rPr lang="en-US" altLang="zh-CN" sz="2400"/>
              <a:t>       (SELECT Smajor</a:t>
            </a:r>
            <a:endParaRPr lang="en-US" altLang="zh-CN" sz="2400"/>
          </a:p>
          <a:p>
            <a:pPr eaLnBrk="1" hangingPunct="1">
              <a:lnSpc>
                <a:spcPct val="150000"/>
              </a:lnSpc>
              <a:spcBef>
                <a:spcPct val="0"/>
              </a:spcBef>
              <a:buFont typeface="Wingdings" panose="05000000000000000000" pitchFamily="2" charset="2"/>
              <a:buNone/>
            </a:pPr>
            <a:r>
              <a:rPr lang="en-US" altLang="zh-CN" sz="2400"/>
              <a:t>        FROM Student</a:t>
            </a:r>
            <a:endParaRPr lang="en-US" altLang="zh-CN" sz="2400"/>
          </a:p>
          <a:p>
            <a:pPr eaLnBrk="1" hangingPunct="1">
              <a:lnSpc>
                <a:spcPct val="150000"/>
              </a:lnSpc>
              <a:spcBef>
                <a:spcPct val="0"/>
              </a:spcBef>
              <a:buFont typeface="Wingdings" panose="05000000000000000000" pitchFamily="2" charset="2"/>
              <a:buNone/>
            </a:pPr>
            <a:r>
              <a:rPr lang="en-US" altLang="zh-CN" sz="2400"/>
              <a:t>        WHERE Sname='</a:t>
            </a:r>
            <a:r>
              <a:rPr lang="zh-CN" altLang="en-US" sz="2400"/>
              <a:t>刘晨</a:t>
            </a:r>
            <a:r>
              <a:rPr lang="en-US" altLang="zh-CN" sz="2400"/>
              <a:t>’);</a:t>
            </a:r>
            <a:endParaRPr lang="en-US" altLang="zh-CN" sz="2400"/>
          </a:p>
          <a:p>
            <a:pPr>
              <a:lnSpc>
                <a:spcPct val="160000"/>
              </a:lnSpc>
              <a:buFont typeface="Wingdings" panose="05000000000000000000" pitchFamily="2" charset="2"/>
              <a:buChar char="n"/>
            </a:pPr>
            <a:r>
              <a:rPr lang="zh-CN" altLang="zh-CN" sz="2400"/>
              <a:t>子查询的查询条件</a:t>
            </a:r>
            <a:r>
              <a:rPr lang="zh-CN" altLang="zh-CN" sz="2400">
                <a:solidFill>
                  <a:srgbClr val="FF00FF"/>
                </a:solidFill>
              </a:rPr>
              <a:t>不依赖于父查询</a:t>
            </a:r>
            <a:r>
              <a:rPr lang="zh-CN" altLang="zh-CN" sz="2400"/>
              <a:t>，称为</a:t>
            </a:r>
            <a:r>
              <a:rPr lang="zh-CN" altLang="zh-CN" sz="2400">
                <a:solidFill>
                  <a:srgbClr val="FF00FF"/>
                </a:solidFill>
              </a:rPr>
              <a:t>不相关子查询</a:t>
            </a:r>
            <a:endParaRPr lang="en-US" altLang="zh-CN" sz="2400">
              <a:solidFill>
                <a:srgbClr val="FF00FF"/>
              </a:solidFill>
            </a:endParaRPr>
          </a:p>
          <a:p>
            <a:pPr eaLnBrk="1" hangingPunct="1">
              <a:lnSpc>
                <a:spcPct val="90000"/>
              </a:lnSpc>
              <a:buFont typeface="Wingdings" panose="05000000000000000000" pitchFamily="2" charset="2"/>
              <a:buNone/>
            </a:pPr>
            <a:endParaRPr lang="zh-CN" altLang="en-US" sz="240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2438400" y="188913"/>
            <a:ext cx="7391400" cy="563562"/>
          </a:xfrm>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5779" name="Rectangle 3"/>
          <p:cNvSpPr>
            <a:spLocks noGrp="1" noChangeArrowheads="1"/>
          </p:cNvSpPr>
          <p:nvPr>
            <p:ph type="body" sz="half" idx="4294967295"/>
          </p:nvPr>
        </p:nvSpPr>
        <p:spPr>
          <a:xfrm>
            <a:off x="2341563" y="1196975"/>
            <a:ext cx="8147050" cy="4248150"/>
          </a:xfrm>
        </p:spPr>
        <p:txBody>
          <a:bodyPr/>
          <a:lstStyle/>
          <a:p>
            <a:pPr marL="0" indent="0" algn="just">
              <a:lnSpc>
                <a:spcPct val="150000"/>
              </a:lnSpc>
              <a:spcBef>
                <a:spcPct val="0"/>
              </a:spcBef>
              <a:buNone/>
            </a:pPr>
            <a:r>
              <a:rPr lang="zh-CN" altLang="zh-CN" sz="2400"/>
              <a:t>用自身连接：</a:t>
            </a:r>
            <a:r>
              <a:rPr lang="en-US" altLang="zh-CN" sz="2400"/>
              <a:t>                                </a:t>
            </a:r>
            <a:r>
              <a:rPr lang="en-US" altLang="zh-CN" sz="1600"/>
              <a:t>/*</a:t>
            </a:r>
            <a:r>
              <a:rPr lang="zh-CN" altLang="zh-CN" sz="1600"/>
              <a:t>例</a:t>
            </a:r>
            <a:r>
              <a:rPr lang="en-US" altLang="zh-CN" sz="1600"/>
              <a:t>3.57</a:t>
            </a:r>
            <a:r>
              <a:rPr lang="zh-CN" altLang="zh-CN" sz="1600"/>
              <a:t>的解法二</a:t>
            </a:r>
            <a:r>
              <a:rPr lang="en-US" altLang="zh-CN" sz="1600"/>
              <a:t> */</a:t>
            </a:r>
            <a:endParaRPr lang="zh-CN" altLang="zh-CN" sz="2400"/>
          </a:p>
          <a:p>
            <a:pPr marL="0" indent="0" algn="just">
              <a:lnSpc>
                <a:spcPct val="150000"/>
              </a:lnSpc>
              <a:spcBef>
                <a:spcPct val="0"/>
              </a:spcBef>
              <a:buNone/>
            </a:pPr>
            <a:r>
              <a:rPr lang="en-US" altLang="zh-CN" sz="2400"/>
              <a:t>SELECT S1.Sno,S1.Sname,S1.Smajor         </a:t>
            </a:r>
            <a:endParaRPr lang="zh-CN" altLang="zh-CN" sz="2400"/>
          </a:p>
          <a:p>
            <a:pPr marL="0" indent="0" algn="just">
              <a:lnSpc>
                <a:spcPct val="150000"/>
              </a:lnSpc>
              <a:spcBef>
                <a:spcPct val="0"/>
              </a:spcBef>
              <a:buNone/>
            </a:pPr>
            <a:r>
              <a:rPr lang="en-US" altLang="zh-CN" sz="2400"/>
              <a:t>FROM Student S1,Student S2</a:t>
            </a:r>
            <a:endParaRPr lang="zh-CN" altLang="zh-CN" sz="2400"/>
          </a:p>
          <a:p>
            <a:pPr marL="0" indent="0" algn="just">
              <a:lnSpc>
                <a:spcPct val="150000"/>
              </a:lnSpc>
              <a:spcBef>
                <a:spcPct val="0"/>
              </a:spcBef>
              <a:buNone/>
            </a:pPr>
            <a:r>
              <a:rPr lang="en-US" altLang="zh-CN" sz="2400"/>
              <a:t>WHERE S1.Smajor=S2.Smajor AND S2.Sname='</a:t>
            </a:r>
            <a:r>
              <a:rPr lang="zh-CN" altLang="zh-CN" sz="2400"/>
              <a:t>刘晨</a:t>
            </a:r>
            <a:r>
              <a:rPr lang="en-US" altLang="zh-CN" sz="2400"/>
              <a:t>';</a:t>
            </a:r>
            <a:endParaRPr lang="zh-CN" altLang="zh-CN" sz="240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37891" name="Rectangle 3"/>
          <p:cNvSpPr>
            <a:spLocks noGrp="1" noChangeArrowheads="1"/>
          </p:cNvSpPr>
          <p:nvPr>
            <p:ph type="body" idx="4294967295"/>
          </p:nvPr>
        </p:nvSpPr>
        <p:spPr>
          <a:xfrm>
            <a:off x="1982788" y="1052513"/>
            <a:ext cx="8577262" cy="4627562"/>
          </a:xfrm>
        </p:spPr>
        <p:txBody>
          <a:bodyPr/>
          <a:lstStyle/>
          <a:p>
            <a:pPr marL="0" indent="0" eaLnBrk="1" hangingPunct="1">
              <a:lnSpc>
                <a:spcPct val="120000"/>
              </a:lnSpc>
              <a:spcBef>
                <a:spcPct val="0"/>
              </a:spcBef>
              <a:buNone/>
            </a:pPr>
            <a:r>
              <a:rPr lang="en-US" altLang="zh-CN" sz="2400" dirty="0"/>
              <a:t>[</a:t>
            </a:r>
            <a:r>
              <a:rPr lang="zh-CN" altLang="en-US" sz="2400" dirty="0"/>
              <a:t>例</a:t>
            </a:r>
            <a:r>
              <a:rPr lang="en-US" altLang="zh-CN" sz="2400" dirty="0"/>
              <a:t>3.58]</a:t>
            </a:r>
            <a:r>
              <a:rPr lang="zh-CN" altLang="en-US" sz="2400" dirty="0"/>
              <a:t>查询选修了课程名为“信息系统概论”的学生学号和姓名</a:t>
            </a:r>
            <a:endParaRPr lang="zh-CN" altLang="en-US" sz="2400" dirty="0"/>
          </a:p>
          <a:p>
            <a:pPr marL="0" indent="0" algn="just">
              <a:lnSpc>
                <a:spcPct val="120000"/>
              </a:lnSpc>
              <a:spcBef>
                <a:spcPct val="0"/>
              </a:spcBef>
              <a:buNone/>
            </a:pPr>
            <a:r>
              <a:rPr lang="en-US" altLang="zh-CN" sz="1800" dirty="0"/>
              <a:t>SELECT </a:t>
            </a:r>
            <a:r>
              <a:rPr lang="en-US" altLang="zh-CN" sz="1800" dirty="0" err="1"/>
              <a:t>Sno,Sname</a:t>
            </a:r>
            <a:r>
              <a:rPr lang="en-US" altLang="zh-CN" sz="1800" dirty="0"/>
              <a:t>                        	   </a:t>
            </a:r>
            <a:r>
              <a:rPr lang="zh-CN" altLang="zh-CN" sz="1800" dirty="0"/>
              <a:t>③最后在</a:t>
            </a:r>
            <a:r>
              <a:rPr lang="en-US" altLang="zh-CN" sz="1800" dirty="0"/>
              <a:t>Student</a:t>
            </a:r>
            <a:r>
              <a:rPr lang="zh-CN" altLang="zh-CN" sz="1800" dirty="0"/>
              <a:t>关系中</a:t>
            </a:r>
            <a:endParaRPr lang="zh-CN" altLang="zh-CN" sz="1800" dirty="0"/>
          </a:p>
          <a:p>
            <a:pPr marL="0" indent="0" algn="just">
              <a:lnSpc>
                <a:spcPct val="120000"/>
              </a:lnSpc>
              <a:spcBef>
                <a:spcPct val="0"/>
              </a:spcBef>
              <a:buNone/>
            </a:pPr>
            <a:r>
              <a:rPr lang="en-US" altLang="zh-CN" sz="1800" dirty="0"/>
              <a:t>FROM Student                             	        </a:t>
            </a:r>
            <a:r>
              <a:rPr lang="zh-CN" altLang="zh-CN" sz="1800" dirty="0"/>
              <a:t>取出</a:t>
            </a:r>
            <a:r>
              <a:rPr lang="en-US" altLang="zh-CN" sz="1800" dirty="0" err="1"/>
              <a:t>Sno</a:t>
            </a:r>
            <a:r>
              <a:rPr lang="zh-CN" altLang="zh-CN" sz="1800" dirty="0"/>
              <a:t>和</a:t>
            </a:r>
            <a:r>
              <a:rPr lang="en-US" altLang="zh-CN" sz="1800" dirty="0" err="1"/>
              <a:t>Sname</a:t>
            </a:r>
            <a:endParaRPr lang="zh-CN" altLang="zh-CN" sz="1800" dirty="0"/>
          </a:p>
          <a:p>
            <a:pPr marL="0" indent="0" algn="just">
              <a:lnSpc>
                <a:spcPct val="120000"/>
              </a:lnSpc>
              <a:spcBef>
                <a:spcPct val="0"/>
              </a:spcBef>
              <a:buNone/>
            </a:pPr>
            <a:r>
              <a:rPr lang="en-US" altLang="zh-CN" sz="1800" dirty="0"/>
              <a:t>WHERE </a:t>
            </a:r>
            <a:r>
              <a:rPr lang="en-US" altLang="zh-CN" sz="1800" dirty="0" err="1"/>
              <a:t>Sno</a:t>
            </a:r>
            <a:r>
              <a:rPr lang="en-US" altLang="zh-CN" sz="1800" dirty="0"/>
              <a:t> IN</a:t>
            </a:r>
            <a:endParaRPr lang="zh-CN" altLang="zh-CN" sz="1800" dirty="0"/>
          </a:p>
          <a:p>
            <a:pPr marL="0" indent="0" algn="just">
              <a:lnSpc>
                <a:spcPct val="120000"/>
              </a:lnSpc>
              <a:spcBef>
                <a:spcPct val="0"/>
              </a:spcBef>
              <a:buNone/>
            </a:pPr>
            <a:r>
              <a:rPr lang="en-US" altLang="zh-CN" sz="1800" dirty="0"/>
              <a:t>       (SELECT </a:t>
            </a:r>
            <a:r>
              <a:rPr lang="en-US" altLang="zh-CN" sz="1800" dirty="0" err="1"/>
              <a:t>Sno</a:t>
            </a:r>
            <a:r>
              <a:rPr lang="en-US" altLang="zh-CN" sz="1800" dirty="0"/>
              <a:t>                                         </a:t>
            </a:r>
            <a:r>
              <a:rPr lang="zh-CN" altLang="zh-CN" sz="1800" dirty="0"/>
              <a:t>②然后在</a:t>
            </a:r>
            <a:r>
              <a:rPr lang="en-US" altLang="zh-CN" sz="1800" dirty="0"/>
              <a:t>SC</a:t>
            </a:r>
            <a:r>
              <a:rPr lang="zh-CN" altLang="zh-CN" sz="1800" dirty="0"/>
              <a:t>关系中找出选修</a:t>
            </a:r>
            <a:endParaRPr lang="zh-CN" altLang="zh-CN" sz="1800" dirty="0"/>
          </a:p>
          <a:p>
            <a:pPr marL="0" indent="0" algn="just">
              <a:lnSpc>
                <a:spcPct val="120000"/>
              </a:lnSpc>
              <a:spcBef>
                <a:spcPct val="0"/>
              </a:spcBef>
              <a:buNone/>
            </a:pPr>
            <a:r>
              <a:rPr lang="en-US" altLang="zh-CN" sz="1800" dirty="0"/>
              <a:t>         FROM SC                       	                      81004</a:t>
            </a:r>
            <a:r>
              <a:rPr lang="zh-CN" altLang="zh-CN" sz="1800" dirty="0"/>
              <a:t>号课程的学生学号</a:t>
            </a:r>
            <a:endParaRPr lang="zh-CN" altLang="zh-CN" sz="1800" dirty="0"/>
          </a:p>
          <a:p>
            <a:pPr marL="0" indent="0" algn="just">
              <a:lnSpc>
                <a:spcPct val="120000"/>
              </a:lnSpc>
              <a:spcBef>
                <a:spcPct val="0"/>
              </a:spcBef>
              <a:buNone/>
            </a:pPr>
            <a:r>
              <a:rPr lang="en-US" altLang="zh-CN" sz="1800" dirty="0"/>
              <a:t>         WHERE </a:t>
            </a:r>
            <a:r>
              <a:rPr lang="en-US" altLang="zh-CN" sz="1800" dirty="0" err="1"/>
              <a:t>Cno</a:t>
            </a:r>
            <a:r>
              <a:rPr lang="en-US" altLang="zh-CN" sz="1800" dirty="0"/>
              <a:t> IN                   	   </a:t>
            </a:r>
            <a:endParaRPr lang="zh-CN" altLang="zh-CN" sz="1800" dirty="0"/>
          </a:p>
          <a:p>
            <a:pPr marL="0" indent="0" algn="just">
              <a:lnSpc>
                <a:spcPct val="120000"/>
              </a:lnSpc>
              <a:spcBef>
                <a:spcPct val="0"/>
              </a:spcBef>
              <a:buNone/>
            </a:pPr>
            <a:r>
              <a:rPr lang="en-US" altLang="zh-CN" sz="1800" dirty="0"/>
              <a:t>               (SELECT </a:t>
            </a:r>
            <a:r>
              <a:rPr lang="en-US" altLang="zh-CN" sz="1800" dirty="0" err="1"/>
              <a:t>Cno</a:t>
            </a:r>
            <a:r>
              <a:rPr lang="en-US" altLang="zh-CN" sz="1800" dirty="0"/>
              <a:t>                                 </a:t>
            </a:r>
            <a:r>
              <a:rPr lang="zh-CN" altLang="zh-CN" sz="1800" dirty="0"/>
              <a:t>①首先在</a:t>
            </a:r>
            <a:r>
              <a:rPr lang="en-US" altLang="zh-CN" sz="1800" dirty="0"/>
              <a:t>Course</a:t>
            </a:r>
            <a:r>
              <a:rPr lang="zh-CN" altLang="zh-CN" sz="1800" dirty="0"/>
              <a:t>关系中找出</a:t>
            </a:r>
            <a:endParaRPr lang="zh-CN" altLang="zh-CN" sz="1800" dirty="0"/>
          </a:p>
          <a:p>
            <a:pPr marL="0" indent="0" algn="just">
              <a:lnSpc>
                <a:spcPct val="120000"/>
              </a:lnSpc>
              <a:spcBef>
                <a:spcPct val="0"/>
              </a:spcBef>
              <a:buNone/>
            </a:pPr>
            <a:r>
              <a:rPr lang="en-US" altLang="zh-CN" sz="1800" dirty="0"/>
              <a:t>                 FROM Course           	                    </a:t>
            </a:r>
            <a:r>
              <a:rPr lang="zh-CN" altLang="zh-CN" sz="1800" dirty="0"/>
              <a:t>“信息系统概论”的课程号，</a:t>
            </a:r>
            <a:endParaRPr lang="zh-CN" altLang="zh-CN" sz="1800" dirty="0"/>
          </a:p>
          <a:p>
            <a:pPr marL="0" indent="0" algn="just">
              <a:lnSpc>
                <a:spcPct val="120000"/>
              </a:lnSpc>
              <a:spcBef>
                <a:spcPct val="0"/>
              </a:spcBef>
              <a:buNone/>
            </a:pPr>
            <a:r>
              <a:rPr lang="en-US" altLang="zh-CN" sz="1800" dirty="0"/>
              <a:t>                 WHERE </a:t>
            </a:r>
            <a:r>
              <a:rPr lang="en-US" altLang="zh-CN" sz="1800" dirty="0" err="1"/>
              <a:t>Cname</a:t>
            </a:r>
            <a:r>
              <a:rPr lang="en-US" altLang="zh-CN" sz="1800" dirty="0"/>
              <a:t>='</a:t>
            </a:r>
            <a:r>
              <a:rPr lang="zh-CN" altLang="zh-CN" sz="1800" dirty="0"/>
              <a:t>信息系统概论</a:t>
            </a:r>
            <a:r>
              <a:rPr lang="en-US" altLang="zh-CN" sz="1800" dirty="0"/>
              <a:t>'       </a:t>
            </a:r>
            <a:r>
              <a:rPr lang="zh-CN" altLang="zh-CN" sz="1800" dirty="0"/>
              <a:t>结果为</a:t>
            </a:r>
            <a:r>
              <a:rPr lang="en-US" altLang="zh-CN" sz="1800" dirty="0"/>
              <a:t>81004</a:t>
            </a:r>
            <a:endParaRPr lang="zh-CN" altLang="zh-CN" sz="1800" dirty="0"/>
          </a:p>
          <a:p>
            <a:pPr marL="0" indent="0" algn="just">
              <a:lnSpc>
                <a:spcPct val="120000"/>
              </a:lnSpc>
              <a:spcBef>
                <a:spcPct val="0"/>
              </a:spcBef>
              <a:buNone/>
            </a:pPr>
            <a:r>
              <a:rPr lang="en-US" altLang="zh-CN" sz="1800" dirty="0"/>
              <a:t>                )</a:t>
            </a:r>
            <a:endParaRPr lang="zh-CN" altLang="zh-CN" sz="1800" dirty="0"/>
          </a:p>
          <a:p>
            <a:pPr marL="0" indent="0">
              <a:lnSpc>
                <a:spcPct val="120000"/>
              </a:lnSpc>
              <a:spcBef>
                <a:spcPct val="0"/>
              </a:spcBef>
              <a:buNone/>
            </a:pPr>
            <a:r>
              <a:rPr lang="en-US" altLang="zh-CN" sz="1800" dirty="0"/>
              <a:t>             </a:t>
            </a:r>
            <a:r>
              <a:rPr lang="zh-CN" altLang="en-US" sz="1800" dirty="0"/>
              <a:t>)</a:t>
            </a:r>
            <a:r>
              <a:rPr lang="en-US" altLang="zh-CN" sz="1800" dirty="0"/>
              <a:t>;</a:t>
            </a:r>
            <a:endParaRPr lang="en-US" altLang="zh-CN" sz="18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p:txBody>
          <a:bodyPr/>
          <a:lstStyle/>
          <a:p>
            <a:pPr eaLnBrk="1" hangingPunct="1"/>
            <a:r>
              <a:rPr lang="zh-CN" altLang="en-US" sz="3600"/>
              <a:t>带有</a:t>
            </a:r>
            <a:r>
              <a:rPr lang="en-US" altLang="zh-CN" sz="3600"/>
              <a:t>IN</a:t>
            </a:r>
            <a:r>
              <a:rPr lang="zh-CN" altLang="en-US" sz="3600"/>
              <a:t>谓词的子查询（续）</a:t>
            </a:r>
            <a:endParaRPr lang="zh-CN" altLang="en-US" sz="3600"/>
          </a:p>
        </p:txBody>
      </p:sp>
      <p:sp>
        <p:nvSpPr>
          <p:cNvPr id="77827" name="Rectangle 3"/>
          <p:cNvSpPr>
            <a:spLocks noGrp="1" noChangeArrowheads="1"/>
          </p:cNvSpPr>
          <p:nvPr>
            <p:ph type="body" idx="4294967295"/>
          </p:nvPr>
        </p:nvSpPr>
        <p:spPr>
          <a:xfrm>
            <a:off x="1199456" y="1339851"/>
            <a:ext cx="10382944" cy="4854575"/>
          </a:xfrm>
        </p:spPr>
        <p:txBody>
          <a:bodyPr/>
          <a:lstStyle/>
          <a:p>
            <a:pPr lvl="1">
              <a:lnSpc>
                <a:spcPct val="150000"/>
              </a:lnSpc>
              <a:spcBef>
                <a:spcPct val="0"/>
              </a:spcBef>
              <a:buFont typeface="Wingdings" panose="05000000000000000000" pitchFamily="2" charset="2"/>
              <a:buNone/>
            </a:pPr>
            <a:r>
              <a:rPr lang="zh-CN" altLang="en-US" dirty="0"/>
              <a:t>连接查询：</a:t>
            </a:r>
            <a:endParaRPr lang="zh-CN" altLang="en-US" dirty="0"/>
          </a:p>
          <a:p>
            <a:pPr lvl="1">
              <a:lnSpc>
                <a:spcPct val="150000"/>
              </a:lnSpc>
              <a:spcBef>
                <a:spcPct val="0"/>
              </a:spcBef>
              <a:buFont typeface="Wingdings" panose="05000000000000000000" pitchFamily="2" charset="2"/>
              <a:buNone/>
            </a:pPr>
            <a:r>
              <a:rPr lang="en-US" altLang="zh-CN" dirty="0"/>
              <a:t>SELECT </a:t>
            </a:r>
            <a:r>
              <a:rPr lang="en-US" altLang="zh-CN" dirty="0" err="1"/>
              <a:t>Student.Sno,Sname</a:t>
            </a:r>
            <a:endParaRPr lang="en-US" altLang="zh-CN" dirty="0"/>
          </a:p>
          <a:p>
            <a:pPr lvl="1">
              <a:lnSpc>
                <a:spcPct val="150000"/>
              </a:lnSpc>
              <a:spcBef>
                <a:spcPct val="0"/>
              </a:spcBef>
              <a:buFont typeface="Wingdings" panose="05000000000000000000" pitchFamily="2" charset="2"/>
              <a:buNone/>
            </a:pPr>
            <a:r>
              <a:rPr lang="en-US" altLang="zh-CN" dirty="0"/>
              <a:t>FROM </a:t>
            </a:r>
            <a:r>
              <a:rPr lang="en-US" altLang="zh-CN" dirty="0" err="1"/>
              <a:t>Student,SC,Course</a:t>
            </a:r>
            <a:endParaRPr lang="en-US" altLang="zh-CN" dirty="0"/>
          </a:p>
          <a:p>
            <a:pPr lvl="1">
              <a:lnSpc>
                <a:spcPct val="150000"/>
              </a:lnSpc>
              <a:spcBef>
                <a:spcPct val="0"/>
              </a:spcBef>
              <a:buFont typeface="Wingdings" panose="05000000000000000000" pitchFamily="2" charset="2"/>
              <a:buNone/>
            </a:pPr>
            <a:r>
              <a:rPr lang="en-US" altLang="zh-CN" dirty="0"/>
              <a:t>WHERE </a:t>
            </a:r>
            <a:r>
              <a:rPr lang="en-US" altLang="zh-CN" dirty="0" err="1"/>
              <a:t>Student.Sno</a:t>
            </a:r>
            <a:r>
              <a:rPr lang="en-US" altLang="zh-CN" dirty="0"/>
              <a:t>=</a:t>
            </a:r>
            <a:r>
              <a:rPr lang="en-US" altLang="zh-CN" dirty="0" err="1"/>
              <a:t>SC.Sno</a:t>
            </a:r>
            <a:r>
              <a:rPr lang="en-US" altLang="zh-CN" dirty="0"/>
              <a:t> AND</a:t>
            </a:r>
            <a:endParaRPr lang="en-US" altLang="zh-CN" dirty="0"/>
          </a:p>
          <a:p>
            <a:pPr lvl="1">
              <a:lnSpc>
                <a:spcPct val="150000"/>
              </a:lnSpc>
              <a:spcBef>
                <a:spcPct val="0"/>
              </a:spcBef>
              <a:buFont typeface="Wingdings" panose="05000000000000000000" pitchFamily="2" charset="2"/>
              <a:buNone/>
            </a:pPr>
            <a:r>
              <a:rPr lang="en-US" altLang="zh-CN" dirty="0"/>
              <a:t>              </a:t>
            </a:r>
            <a:r>
              <a:rPr lang="en-US" altLang="zh-CN" dirty="0" err="1"/>
              <a:t>SC.Cno</a:t>
            </a:r>
            <a:r>
              <a:rPr lang="en-US" altLang="zh-CN" dirty="0"/>
              <a:t>=</a:t>
            </a:r>
            <a:r>
              <a:rPr lang="en-US" altLang="zh-CN" dirty="0" err="1"/>
              <a:t>Course.Cno</a:t>
            </a:r>
            <a:r>
              <a:rPr lang="en-US" altLang="zh-CN" dirty="0"/>
              <a:t> AND</a:t>
            </a:r>
            <a:endParaRPr lang="en-US" altLang="zh-CN" dirty="0"/>
          </a:p>
          <a:p>
            <a:pPr lvl="1">
              <a:lnSpc>
                <a:spcPct val="150000"/>
              </a:lnSpc>
              <a:spcBef>
                <a:spcPct val="0"/>
              </a:spcBef>
              <a:buFont typeface="Wingdings" panose="05000000000000000000" pitchFamily="2" charset="2"/>
              <a:buNone/>
            </a:pPr>
            <a:r>
              <a:rPr lang="en-US" altLang="zh-CN" dirty="0"/>
              <a:t>              </a:t>
            </a:r>
            <a:r>
              <a:rPr lang="en-US" altLang="zh-CN" dirty="0" err="1"/>
              <a:t>Course.Cname</a:t>
            </a:r>
            <a:r>
              <a:rPr lang="en-US" altLang="zh-CN" dirty="0"/>
              <a:t>='</a:t>
            </a:r>
            <a:r>
              <a:rPr lang="zh-CN" altLang="en-US" dirty="0"/>
              <a:t>信息系统概论</a:t>
            </a:r>
            <a:r>
              <a:rPr lang="en-US" altLang="zh-CN" dirty="0"/>
              <a:t>';</a:t>
            </a:r>
            <a:endParaRPr lang="en-US" altLang="zh-CN"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692150" y="3429000"/>
            <a:ext cx="10195560" cy="922020"/>
          </a:xfrm>
          <a:prstGeom prst="rect">
            <a:avLst/>
          </a:prstGeom>
          <a:noFill/>
        </p:spPr>
        <p:txBody>
          <a:bodyPr wrap="square" rtlCol="0" anchor="t">
            <a:spAutoFit/>
          </a:bodyPr>
          <a:p>
            <a:pPr algn="just" eaLnBrk="1" hangingPunct="1">
              <a:lnSpc>
                <a:spcPct val="150000"/>
              </a:lnSpc>
            </a:pPr>
            <a:r>
              <a:rPr lang="en-US" altLang="zh-CN">
                <a:sym typeface="+mn-ea"/>
              </a:rPr>
              <a:t>1. </a:t>
            </a:r>
            <a:r>
              <a:rPr lang="zh-CN" altLang="en-US">
                <a:sym typeface="+mn-ea"/>
              </a:rPr>
              <a:t>查询在</a:t>
            </a:r>
            <a:r>
              <a:rPr lang="en-US" altLang="zh-CN">
                <a:sym typeface="+mn-ea"/>
              </a:rPr>
              <a:t>2021</a:t>
            </a:r>
            <a:r>
              <a:rPr lang="zh-CN" altLang="en-US">
                <a:sym typeface="+mn-ea"/>
              </a:rPr>
              <a:t>年秋季（即</a:t>
            </a:r>
            <a:r>
              <a:rPr lang="en-US" altLang="zh-CN">
                <a:sym typeface="+mn-ea"/>
              </a:rPr>
              <a:t> 20212</a:t>
            </a:r>
            <a:r>
              <a:rPr lang="zh-CN" altLang="en-US">
                <a:sym typeface="+mn-ea"/>
              </a:rPr>
              <a:t>）没有选课的学生情况，要求显示学号</a:t>
            </a:r>
            <a:r>
              <a:rPr lang="zh-CN" altLang="en-US">
                <a:sym typeface="+mn-ea"/>
              </a:rPr>
              <a:t>和姓名。</a:t>
            </a:r>
            <a:endParaRPr lang="zh-CN" altLang="en-US">
              <a:sym typeface="+mn-ea"/>
            </a:endParaRPr>
          </a:p>
          <a:p>
            <a:pPr algn="just" eaLnBrk="1" hangingPunct="1">
              <a:lnSpc>
                <a:spcPct val="150000"/>
              </a:lnSpc>
            </a:pPr>
            <a:r>
              <a:rPr lang="en-US" altLang="zh-CN">
                <a:sym typeface="+mn-ea"/>
              </a:rPr>
              <a:t>2. </a:t>
            </a:r>
            <a:r>
              <a:rPr lang="zh-CN" altLang="en-US">
                <a:sym typeface="+mn-ea"/>
              </a:rPr>
              <a:t>查询</a:t>
            </a:r>
            <a:r>
              <a:rPr lang="zh-CN" altLang="en-US">
                <a:sym typeface="+mn-ea"/>
              </a:rPr>
              <a:t>直接先修课为数据结构的所有课程</a:t>
            </a:r>
            <a:r>
              <a:rPr lang="zh-CN" altLang="en-US">
                <a:sym typeface="+mn-ea"/>
              </a:rPr>
              <a:t>信息</a:t>
            </a:r>
            <a:endParaRPr lang="zh-CN" altLang="en-US">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78851" name="Rectangle 3"/>
          <p:cNvSpPr>
            <a:spLocks noGrp="1" noChangeArrowheads="1"/>
          </p:cNvSpPr>
          <p:nvPr>
            <p:ph type="body" idx="4294967295"/>
          </p:nvPr>
        </p:nvSpPr>
        <p:spPr>
          <a:xfrm>
            <a:off x="1127448" y="1339851"/>
            <a:ext cx="10454952" cy="4854575"/>
          </a:xfrm>
        </p:spPr>
        <p:txBody>
          <a:bodyPr/>
          <a:lstStyle/>
          <a:p>
            <a:pPr eaLnBrk="1" hangingPunct="1">
              <a:lnSpc>
                <a:spcPct val="150000"/>
              </a:lnSpc>
              <a:buFont typeface="Wingdings" panose="05000000000000000000" pitchFamily="2" charset="2"/>
              <a:buNone/>
            </a:pPr>
            <a:r>
              <a:rPr lang="en-US" altLang="zh-CN" dirty="0"/>
              <a:t>  1.</a:t>
            </a:r>
            <a:r>
              <a:rPr lang="zh-CN" altLang="en-US" dirty="0"/>
              <a:t>带有</a:t>
            </a:r>
            <a:r>
              <a:rPr lang="en-US" altLang="zh-CN" dirty="0"/>
              <a:t>IN</a:t>
            </a:r>
            <a:r>
              <a:rPr lang="zh-CN" altLang="en-US" dirty="0"/>
              <a:t>谓词的子查询 </a:t>
            </a:r>
            <a:endParaRPr lang="zh-CN" altLang="en-US" dirty="0"/>
          </a:p>
          <a:p>
            <a:pPr eaLnBrk="1" hangingPunct="1">
              <a:lnSpc>
                <a:spcPct val="150000"/>
              </a:lnSpc>
              <a:buFont typeface="Wingdings" panose="05000000000000000000" pitchFamily="2" charset="2"/>
              <a:buNone/>
            </a:pPr>
            <a:r>
              <a:rPr lang="zh-CN" altLang="en-US" dirty="0">
                <a:solidFill>
                  <a:srgbClr val="7030A0"/>
                </a:solidFill>
              </a:rPr>
              <a:t>  </a:t>
            </a:r>
            <a:r>
              <a:rPr lang="en-US" altLang="zh-CN" dirty="0">
                <a:solidFill>
                  <a:srgbClr val="7030A0"/>
                </a:solidFill>
              </a:rPr>
              <a:t>2.</a:t>
            </a:r>
            <a:r>
              <a:rPr lang="zh-CN" altLang="en-US" dirty="0">
                <a:solidFill>
                  <a:srgbClr val="7030A0"/>
                </a:solidFill>
              </a:rPr>
              <a:t>带有比较运算符的子查询</a:t>
            </a:r>
            <a:endParaRPr lang="zh-CN" altLang="en-US" dirty="0">
              <a:solidFill>
                <a:srgbClr val="7030A0"/>
              </a:solidFill>
            </a:endParaRPr>
          </a:p>
          <a:p>
            <a:pPr eaLnBrk="1" hangingPunct="1">
              <a:lnSpc>
                <a:spcPct val="150000"/>
              </a:lnSpc>
              <a:buFont typeface="Wingdings" panose="05000000000000000000" pitchFamily="2" charset="2"/>
              <a:buNone/>
            </a:pPr>
            <a:r>
              <a:rPr lang="zh-CN" altLang="en-US" dirty="0"/>
              <a:t>  </a:t>
            </a:r>
            <a:r>
              <a:rPr lang="en-US" altLang="zh-CN" dirty="0"/>
              <a:t>3.</a:t>
            </a:r>
            <a:r>
              <a:rPr lang="zh-CN" altLang="en-US" dirty="0"/>
              <a:t>带有</a:t>
            </a:r>
            <a:r>
              <a:rPr lang="en-US" altLang="zh-CN" dirty="0"/>
              <a:t>ANY</a:t>
            </a:r>
            <a:r>
              <a:rPr lang="zh-CN" altLang="en-US" dirty="0"/>
              <a:t>（</a:t>
            </a:r>
            <a:r>
              <a:rPr lang="en-US" altLang="zh-CN" dirty="0"/>
              <a:t>SOME</a:t>
            </a:r>
            <a:r>
              <a:rPr lang="zh-CN" altLang="en-US" dirty="0"/>
              <a:t>）或</a:t>
            </a:r>
            <a:r>
              <a:rPr lang="en-US" altLang="zh-CN" dirty="0"/>
              <a:t>ALL</a:t>
            </a:r>
            <a:r>
              <a:rPr lang="zh-CN" altLang="en-US" dirty="0"/>
              <a:t>谓词的子查询</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endParaRPr lang="zh-CN" altLang="en-US" dirty="0"/>
          </a:p>
          <a:p>
            <a:pPr eaLnBrk="1" hangingPunct="1">
              <a:lnSpc>
                <a:spcPct val="130000"/>
              </a:lnSpc>
              <a:buFont typeface="Wingdings" panose="05000000000000000000" pitchFamily="2" charset="2"/>
              <a:buNone/>
            </a:pPr>
            <a:endParaRPr lang="en-US" altLang="zh-CN"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p:txBody>
          <a:bodyPr/>
          <a:lstStyle/>
          <a:p>
            <a:pPr eaLnBrk="1" hangingPunct="1"/>
            <a:r>
              <a:rPr lang="en-US" altLang="zh-CN" sz="3600"/>
              <a:t>2. </a:t>
            </a:r>
            <a:r>
              <a:rPr lang="zh-CN" altLang="en-US" sz="3600"/>
              <a:t>带有比较运算符的子查询</a:t>
            </a:r>
            <a:endParaRPr lang="zh-CN" altLang="en-US" sz="3600"/>
          </a:p>
        </p:txBody>
      </p:sp>
      <p:sp>
        <p:nvSpPr>
          <p:cNvPr id="76803" name="Rectangle 3"/>
          <p:cNvSpPr>
            <a:spLocks noGrp="1" noChangeArrowheads="1"/>
          </p:cNvSpPr>
          <p:nvPr>
            <p:ph type="body" idx="4294967295"/>
          </p:nvPr>
        </p:nvSpPr>
        <p:spPr>
          <a:xfrm>
            <a:off x="1981200" y="1098551"/>
            <a:ext cx="8229600" cy="4854575"/>
          </a:xfrm>
        </p:spPr>
        <p:txBody>
          <a:bodyPr/>
          <a:lstStyle/>
          <a:p>
            <a:pPr eaLnBrk="1" hangingPunct="1">
              <a:lnSpc>
                <a:spcPct val="150000"/>
              </a:lnSpc>
            </a:pPr>
            <a:r>
              <a:rPr lang="en-US" altLang="zh-CN" sz="2400"/>
              <a:t> </a:t>
            </a:r>
            <a:r>
              <a:rPr lang="zh-CN" altLang="en-US"/>
              <a:t>当能确切知道内层查询返回单值时，可用比较运算符（</a:t>
            </a:r>
            <a:r>
              <a:rPr lang="en-US" altLang="zh-CN"/>
              <a:t>&gt;</a:t>
            </a:r>
            <a:r>
              <a:rPr lang="zh-CN" altLang="en-US"/>
              <a:t>，</a:t>
            </a:r>
            <a:r>
              <a:rPr lang="en-US" altLang="zh-CN"/>
              <a:t>&lt;</a:t>
            </a:r>
            <a:r>
              <a:rPr lang="zh-CN" altLang="en-US"/>
              <a:t>，</a:t>
            </a:r>
            <a:r>
              <a:rPr lang="en-US" altLang="zh-CN"/>
              <a:t>=</a:t>
            </a:r>
            <a:r>
              <a:rPr lang="zh-CN" altLang="en-US"/>
              <a:t>，</a:t>
            </a:r>
            <a:r>
              <a:rPr lang="en-US" altLang="zh-CN"/>
              <a:t>&gt;=</a:t>
            </a:r>
            <a:r>
              <a:rPr lang="zh-CN" altLang="en-US"/>
              <a:t>，</a:t>
            </a:r>
            <a:r>
              <a:rPr lang="en-US" altLang="zh-CN"/>
              <a:t>&lt;=</a:t>
            </a:r>
            <a:r>
              <a:rPr lang="zh-CN" altLang="en-US"/>
              <a:t>，</a:t>
            </a:r>
            <a:r>
              <a:rPr lang="en-US" altLang="zh-CN"/>
              <a:t>!=</a:t>
            </a:r>
            <a:r>
              <a:rPr lang="zh-CN" altLang="en-US"/>
              <a:t>或</a:t>
            </a:r>
            <a:r>
              <a:rPr lang="en-US" altLang="zh-CN"/>
              <a:t>&lt; &gt;</a:t>
            </a:r>
            <a:r>
              <a:rPr lang="zh-CN" altLang="en-US"/>
              <a:t>）。</a:t>
            </a:r>
            <a:endParaRPr lang="zh-CN" altLang="en-US"/>
          </a:p>
          <a:p>
            <a:pPr eaLnBrk="1" hangingPunct="1">
              <a:buFont typeface="宋体" panose="02010600030101010101" pitchFamily="2" charset="-122"/>
              <a:buNone/>
            </a:pPr>
            <a:r>
              <a:rPr lang="en-US" altLang="zh-CN" sz="2400"/>
              <a:t>[</a:t>
            </a:r>
            <a:r>
              <a:rPr lang="zh-CN" altLang="en-US" sz="2400"/>
              <a:t>例</a:t>
            </a:r>
            <a:r>
              <a:rPr lang="en-US" altLang="zh-CN" sz="2400"/>
              <a:t>3.57]</a:t>
            </a:r>
            <a:r>
              <a:rPr lang="zh-CN" altLang="en-US" sz="2400"/>
              <a:t>由于一个学生只可能在一个系学习，则可以</a:t>
            </a:r>
            <a:r>
              <a:rPr lang="zh-CN" altLang="en-US" sz="2400">
                <a:solidFill>
                  <a:srgbClr val="D75B5B"/>
                </a:solidFill>
              </a:rPr>
              <a:t>用 </a:t>
            </a:r>
            <a:r>
              <a:rPr lang="en-US" altLang="zh-CN" sz="2400">
                <a:solidFill>
                  <a:srgbClr val="D75B5B"/>
                </a:solidFill>
              </a:rPr>
              <a:t>= </a:t>
            </a:r>
            <a:r>
              <a:rPr lang="zh-CN" altLang="en-US" sz="2400">
                <a:solidFill>
                  <a:srgbClr val="D75B5B"/>
                </a:solidFill>
              </a:rPr>
              <a:t>代替</a:t>
            </a:r>
            <a:r>
              <a:rPr lang="en-US" altLang="zh-CN" sz="2400">
                <a:solidFill>
                  <a:srgbClr val="D75B5B"/>
                </a:solidFill>
              </a:rPr>
              <a:t>IN</a:t>
            </a:r>
            <a:r>
              <a:rPr lang="en-US" altLang="zh-CN" sz="2400"/>
              <a:t> </a:t>
            </a:r>
            <a:r>
              <a:rPr lang="zh-CN" altLang="en-US" sz="2400"/>
              <a:t>：</a:t>
            </a:r>
            <a:endParaRPr lang="zh-CN" altLang="en-US" sz="2400"/>
          </a:p>
          <a:p>
            <a:pPr eaLnBrk="1" hangingPunct="1">
              <a:buFont typeface="宋体" panose="02010600030101010101" pitchFamily="2" charset="-122"/>
              <a:buNone/>
            </a:pPr>
            <a:r>
              <a:rPr lang="zh-CN" altLang="en-US" sz="2400"/>
              <a:t>     </a:t>
            </a:r>
            <a:r>
              <a:rPr lang="en-US" altLang="zh-CN" sz="2400"/>
              <a:t>SELECT Sno</a:t>
            </a:r>
            <a:r>
              <a:rPr lang="zh-CN" altLang="en-US" sz="2400"/>
              <a:t>,</a:t>
            </a:r>
            <a:r>
              <a:rPr lang="en-US" altLang="zh-CN" sz="2400"/>
              <a:t>Sname</a:t>
            </a:r>
            <a:r>
              <a:rPr lang="zh-CN" altLang="en-US" sz="2400"/>
              <a:t>,</a:t>
            </a:r>
            <a:r>
              <a:rPr lang="en-US" altLang="zh-CN" sz="2400"/>
              <a:t>Smajor            </a:t>
            </a:r>
            <a:r>
              <a:rPr lang="en-US" altLang="zh-CN" sz="1800"/>
              <a:t>/*</a:t>
            </a:r>
            <a:r>
              <a:rPr lang="zh-CN" altLang="zh-CN" sz="1800">
                <a:cs typeface="Times New Roman" panose="02020603050405020304" pitchFamily="18" charset="0"/>
              </a:rPr>
              <a:t>例</a:t>
            </a:r>
            <a:r>
              <a:rPr lang="en-US" altLang="zh-CN" sz="1800"/>
              <a:t>3.57</a:t>
            </a:r>
            <a:r>
              <a:rPr lang="zh-CN" altLang="zh-CN" sz="1800">
                <a:cs typeface="Times New Roman" panose="02020603050405020304" pitchFamily="18" charset="0"/>
              </a:rPr>
              <a:t>的解法三</a:t>
            </a:r>
            <a:r>
              <a:rPr lang="en-US" altLang="zh-CN" sz="1800"/>
              <a:t> */</a:t>
            </a:r>
            <a:endParaRPr lang="en-US" altLang="zh-CN" sz="2400"/>
          </a:p>
          <a:p>
            <a:pPr eaLnBrk="1" hangingPunct="1">
              <a:buFont typeface="宋体" panose="02010600030101010101" pitchFamily="2" charset="-122"/>
              <a:buNone/>
            </a:pPr>
            <a:r>
              <a:rPr lang="en-US" altLang="zh-CN" sz="2400"/>
              <a:t>     FROM    Student</a:t>
            </a:r>
            <a:endParaRPr lang="en-US" altLang="zh-CN" sz="2400"/>
          </a:p>
          <a:p>
            <a:pPr eaLnBrk="1" hangingPunct="1">
              <a:buFont typeface="宋体" panose="02010600030101010101" pitchFamily="2" charset="-122"/>
              <a:buNone/>
            </a:pPr>
            <a:r>
              <a:rPr lang="en-US" altLang="zh-CN" sz="2400"/>
              <a:t>     WHERE Smajor  </a:t>
            </a:r>
            <a:r>
              <a:rPr lang="en-US" altLang="zh-CN" sz="2400">
                <a:solidFill>
                  <a:srgbClr val="D75B5B"/>
                </a:solidFill>
              </a:rPr>
              <a:t> =</a:t>
            </a:r>
            <a:endParaRPr lang="en-US" altLang="zh-CN" sz="2400"/>
          </a:p>
          <a:p>
            <a:pPr eaLnBrk="1" hangingPunct="1">
              <a:buFont typeface="宋体" panose="02010600030101010101" pitchFamily="2" charset="-122"/>
              <a:buNone/>
            </a:pPr>
            <a:r>
              <a:rPr lang="en-US" altLang="zh-CN" sz="2400"/>
              <a:t>                   </a:t>
            </a:r>
            <a:r>
              <a:rPr lang="zh-CN" altLang="en-US" sz="2400"/>
              <a:t>(</a:t>
            </a:r>
            <a:r>
              <a:rPr lang="en-US" altLang="zh-CN" sz="2400"/>
              <a:t>SELECT Smajor</a:t>
            </a:r>
            <a:endParaRPr lang="en-US" altLang="zh-CN" sz="2400"/>
          </a:p>
          <a:p>
            <a:pPr eaLnBrk="1" hangingPunct="1">
              <a:buFont typeface="宋体" panose="02010600030101010101" pitchFamily="2" charset="-122"/>
              <a:buNone/>
            </a:pPr>
            <a:r>
              <a:rPr lang="en-US" altLang="zh-CN" sz="2400"/>
              <a:t>                    FROM    Student</a:t>
            </a:r>
            <a:endParaRPr lang="en-US" altLang="zh-CN" sz="2400"/>
          </a:p>
          <a:p>
            <a:pPr eaLnBrk="1" hangingPunct="1">
              <a:buFont typeface="宋体" panose="02010600030101010101" pitchFamily="2" charset="-122"/>
              <a:buNone/>
            </a:pPr>
            <a:r>
              <a:rPr lang="en-US" altLang="zh-CN" sz="2400"/>
              <a:t>                    WHERE Sname= </a:t>
            </a:r>
            <a:r>
              <a:rPr lang="zh-CN" altLang="en-US" sz="2400"/>
              <a:t>'刘晨');</a:t>
            </a:r>
            <a:endParaRPr lang="zh-CN" altLang="en-US" sz="2400"/>
          </a:p>
          <a:p>
            <a:pPr eaLnBrk="1" hangingPunct="1">
              <a:lnSpc>
                <a:spcPct val="160000"/>
              </a:lnSpc>
            </a:pPr>
            <a:endParaRPr lang="zh-CN" altLang="en-US" sz="2400"/>
          </a:p>
          <a:p>
            <a:pPr eaLnBrk="1" hangingPunct="1">
              <a:buFont typeface="Wingdings" panose="05000000000000000000" pitchFamily="2" charset="2"/>
              <a:buNone/>
            </a:pPr>
            <a:endParaRPr lang="en-US" altLang="zh-CN" sz="240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80899"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sz="2400" dirty="0"/>
              <a:t>[</a:t>
            </a:r>
            <a:r>
              <a:rPr lang="zh-CN" altLang="en-US" sz="2400" dirty="0"/>
              <a:t>例</a:t>
            </a:r>
            <a:r>
              <a:rPr lang="en-US" altLang="zh-CN" sz="2400" dirty="0"/>
              <a:t>3.59]</a:t>
            </a:r>
            <a:r>
              <a:rPr lang="zh-CN" altLang="en-US" sz="2400" dirty="0"/>
              <a:t>找出每个学生超过他选修课程平均成绩的课程号</a:t>
            </a:r>
            <a:endParaRPr lang="zh-CN" altLang="en-US" sz="2400" dirty="0"/>
          </a:p>
          <a:p>
            <a:pPr eaLnBrk="1" hangingPunct="1">
              <a:buFont typeface="Wingdings" panose="05000000000000000000" pitchFamily="2" charset="2"/>
              <a:buNone/>
            </a:pPr>
            <a:r>
              <a:rPr lang="zh-CN" altLang="en-US" dirty="0"/>
              <a:t>   </a:t>
            </a:r>
            <a:r>
              <a:rPr lang="en-US" altLang="zh-CN" sz="2400" dirty="0"/>
              <a:t>SELECT </a:t>
            </a:r>
            <a:r>
              <a:rPr lang="en-US" altLang="zh-CN" sz="2400" dirty="0" err="1"/>
              <a:t>Sno</a:t>
            </a:r>
            <a:r>
              <a:rPr lang="zh-CN" altLang="en-US" sz="2400" dirty="0"/>
              <a:t>, </a:t>
            </a:r>
            <a:r>
              <a:rPr lang="en-US" altLang="zh-CN" sz="2400" dirty="0" err="1"/>
              <a:t>Cno</a:t>
            </a:r>
            <a:endParaRPr lang="en-US" altLang="zh-CN" sz="2400" dirty="0"/>
          </a:p>
          <a:p>
            <a:pPr eaLnBrk="1" hangingPunct="1">
              <a:buFont typeface="Wingdings" panose="05000000000000000000" pitchFamily="2" charset="2"/>
              <a:buNone/>
            </a:pPr>
            <a:r>
              <a:rPr lang="en-US" altLang="zh-CN" sz="2400" dirty="0"/>
              <a:t>    FROM    SC  </a:t>
            </a:r>
            <a:r>
              <a:rPr lang="en-US" altLang="zh-CN" sz="2400" dirty="0">
                <a:solidFill>
                  <a:srgbClr val="FF0000"/>
                </a:solidFill>
              </a:rPr>
              <a:t>x</a:t>
            </a:r>
            <a:endParaRPr lang="en-US" altLang="zh-CN" sz="2400" dirty="0"/>
          </a:p>
          <a:p>
            <a:pPr eaLnBrk="1" hangingPunct="1">
              <a:buFont typeface="Wingdings" panose="05000000000000000000" pitchFamily="2" charset="2"/>
              <a:buNone/>
            </a:pPr>
            <a:r>
              <a:rPr lang="en-US" altLang="zh-CN" sz="2400" dirty="0"/>
              <a:t>    WHERE Grade &gt;=</a:t>
            </a:r>
            <a:r>
              <a:rPr lang="zh-CN" altLang="en-US" sz="2400" dirty="0"/>
              <a:t>(</a:t>
            </a:r>
            <a:r>
              <a:rPr lang="en-US" altLang="zh-CN" sz="2400" dirty="0"/>
              <a:t>SELECT </a:t>
            </a:r>
            <a:r>
              <a:rPr lang="en-US" altLang="zh-CN" sz="2400" dirty="0" err="1"/>
              <a:t>AVG（Grade</a:t>
            </a:r>
            <a:r>
              <a:rPr lang="en-US" altLang="zh-CN" sz="2400" dirty="0"/>
              <a:t>） </a:t>
            </a:r>
            <a:endParaRPr lang="en-US" altLang="zh-CN" sz="2400" dirty="0"/>
          </a:p>
          <a:p>
            <a:pPr eaLnBrk="1" hangingPunct="1">
              <a:buFont typeface="Wingdings" panose="05000000000000000000" pitchFamily="2" charset="2"/>
              <a:buNone/>
            </a:pPr>
            <a:r>
              <a:rPr lang="en-US" altLang="zh-CN" sz="2400" dirty="0"/>
              <a:t>		                        FROM  SC </a:t>
            </a:r>
            <a:r>
              <a:rPr lang="en-US" altLang="zh-CN" sz="2400" dirty="0">
                <a:solidFill>
                  <a:srgbClr val="00B0F0"/>
                </a:solidFill>
              </a:rPr>
              <a:t>y</a:t>
            </a:r>
            <a:endParaRPr lang="en-US" altLang="zh-CN" sz="2400" dirty="0"/>
          </a:p>
          <a:p>
            <a:pPr eaLnBrk="1" hangingPunct="1">
              <a:buFont typeface="Wingdings" panose="05000000000000000000" pitchFamily="2" charset="2"/>
              <a:buNone/>
            </a:pPr>
            <a:r>
              <a:rPr lang="en-US" altLang="zh-CN" sz="2400" dirty="0"/>
              <a:t>                                   WHERE </a:t>
            </a:r>
            <a:r>
              <a:rPr lang="en-US" altLang="zh-CN" sz="2400" dirty="0" err="1">
                <a:solidFill>
                  <a:srgbClr val="00B0F0"/>
                </a:solidFill>
              </a:rPr>
              <a:t>y</a:t>
            </a:r>
            <a:r>
              <a:rPr lang="en-US" altLang="zh-CN" sz="2400" dirty="0" err="1"/>
              <a:t>.Sno</a:t>
            </a:r>
            <a:r>
              <a:rPr lang="en-US" altLang="zh-CN" sz="2400" dirty="0"/>
              <a:t>=</a:t>
            </a:r>
            <a:r>
              <a:rPr lang="en-US" altLang="zh-CN" sz="2400" dirty="0" err="1">
                <a:solidFill>
                  <a:srgbClr val="FF0000"/>
                </a:solidFill>
              </a:rPr>
              <a:t>x.</a:t>
            </a:r>
            <a:r>
              <a:rPr lang="en-US" altLang="zh-CN" sz="2400" dirty="0" err="1"/>
              <a:t>Sno</a:t>
            </a:r>
            <a:r>
              <a:rPr lang="zh-CN" altLang="en-US" sz="2400" dirty="0"/>
              <a:t>)</a:t>
            </a:r>
            <a:r>
              <a:rPr lang="en-US" altLang="zh-CN" sz="2400" dirty="0"/>
              <a:t>;</a:t>
            </a:r>
            <a:endParaRPr lang="en-US" altLang="zh-CN" sz="2400" dirty="0"/>
          </a:p>
        </p:txBody>
      </p:sp>
      <p:sp>
        <p:nvSpPr>
          <p:cNvPr id="41988" name="AutoShape 4"/>
          <p:cNvSpPr>
            <a:spLocks noChangeArrowheads="1"/>
          </p:cNvSpPr>
          <p:nvPr/>
        </p:nvSpPr>
        <p:spPr bwMode="auto">
          <a:xfrm>
            <a:off x="6600825" y="1773238"/>
            <a:ext cx="1512888" cy="792162"/>
          </a:xfrm>
          <a:prstGeom prst="wedgeRoundRectCallout">
            <a:avLst>
              <a:gd name="adj1" fmla="val -84417"/>
              <a:gd name="adj2" fmla="val 73648"/>
              <a:gd name="adj3" fmla="val 16667"/>
            </a:avLst>
          </a:prstGeom>
          <a:gradFill rotWithShape="1">
            <a:gsLst>
              <a:gs pos="0">
                <a:srgbClr val="CC99FF"/>
              </a:gs>
              <a:gs pos="100000">
                <a:srgbClr val="F4E8FF"/>
              </a:gs>
            </a:gsLst>
            <a:lin ang="5400000" scaled="1"/>
          </a:gradFill>
          <a:ln w="25400">
            <a:solidFill>
              <a:srgbClr val="00CCFF"/>
            </a:solidFill>
            <a:miter lim="800000"/>
          </a:ln>
        </p:spPr>
        <p:txBody>
          <a:bodyPr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相关子查询 </a:t>
            </a:r>
            <a:endParaRPr lang="zh-CN" altLang="en-US" sz="1800" dirty="0"/>
          </a:p>
        </p:txBody>
      </p:sp>
      <p:sp>
        <p:nvSpPr>
          <p:cNvPr id="2" name="文本框 1"/>
          <p:cNvSpPr txBox="1"/>
          <p:nvPr/>
        </p:nvSpPr>
        <p:spPr>
          <a:xfrm>
            <a:off x="403225" y="4869180"/>
            <a:ext cx="11384915" cy="460375"/>
          </a:xfrm>
          <a:prstGeom prst="rect">
            <a:avLst/>
          </a:prstGeom>
          <a:noFill/>
        </p:spPr>
        <p:txBody>
          <a:bodyPr wrap="square" rtlCol="0" anchor="t">
            <a:spAutoFit/>
          </a:bodyPr>
          <a:p>
            <a:r>
              <a:rPr lang="zh-CN" altLang="en-US" sz="2400" dirty="0">
                <a:sym typeface="+mn-ea"/>
              </a:rPr>
              <a:t>内层查询的</a:t>
            </a:r>
            <a:r>
              <a:rPr lang="en-US" altLang="zh-CN" sz="2400" dirty="0">
                <a:sym typeface="+mn-ea"/>
              </a:rPr>
              <a:t>WHERE</a:t>
            </a:r>
            <a:r>
              <a:rPr lang="zh-CN" altLang="en-US" sz="2400" dirty="0">
                <a:sym typeface="+mn-ea"/>
              </a:rPr>
              <a:t>或</a:t>
            </a:r>
            <a:r>
              <a:rPr lang="en-US" altLang="zh-CN" sz="2400" dirty="0">
                <a:sym typeface="+mn-ea"/>
              </a:rPr>
              <a:t>HAVING</a:t>
            </a:r>
            <a:r>
              <a:rPr lang="zh-CN" altLang="en-US" sz="2400" dirty="0">
                <a:sym typeface="+mn-ea"/>
              </a:rPr>
              <a:t>子句中，出现了外层查询的</a:t>
            </a:r>
            <a:r>
              <a:rPr lang="zh-CN" altLang="en-US" sz="2400" b="1" dirty="0">
                <a:solidFill>
                  <a:srgbClr val="FF0000"/>
                </a:solidFill>
                <a:sym typeface="+mn-ea"/>
              </a:rPr>
              <a:t>关系</a:t>
            </a:r>
            <a:r>
              <a:rPr lang="zh-CN" altLang="en-US" sz="2400" dirty="0">
                <a:sym typeface="+mn-ea"/>
              </a:rPr>
              <a:t>，即为相关</a:t>
            </a:r>
            <a:r>
              <a:rPr lang="zh-CN" altLang="en-US" sz="2400" dirty="0">
                <a:sym typeface="+mn-ea"/>
              </a:rPr>
              <a:t>子查询</a:t>
            </a:r>
            <a:endParaRPr lang="zh-CN" altLang="en-US" sz="240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slide(fromBottom)">
                                      <p:cBhvr>
                                        <p:cTn id="7" dur="500"/>
                                        <p:tgtEl>
                                          <p:spTgt spid="4198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nimBg="1" autoUpdateAnimBg="0"/>
      <p:bldP spid="2" grpId="0"/>
      <p:bldP spid="2"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78851" name="Rectangle 1027"/>
          <p:cNvSpPr>
            <a:spLocks noGrp="1" noChangeArrowheads="1"/>
          </p:cNvSpPr>
          <p:nvPr>
            <p:ph type="body" idx="4294967295"/>
          </p:nvPr>
        </p:nvSpPr>
        <p:spPr>
          <a:xfrm>
            <a:off x="1981200" y="1196976"/>
            <a:ext cx="8229600" cy="5040313"/>
          </a:xfrm>
        </p:spPr>
        <p:txBody>
          <a:bodyPr/>
          <a:lstStyle/>
          <a:p>
            <a:pPr eaLnBrk="1" hangingPunct="1">
              <a:lnSpc>
                <a:spcPct val="120000"/>
              </a:lnSpc>
            </a:pPr>
            <a:r>
              <a:rPr lang="zh-CN" altLang="en-US"/>
              <a:t>执行过程 </a:t>
            </a:r>
            <a:endParaRPr lang="zh-CN" altLang="en-US"/>
          </a:p>
          <a:p>
            <a:pPr lvl="1" eaLnBrk="1" hangingPunct="1">
              <a:lnSpc>
                <a:spcPct val="120000"/>
              </a:lnSpc>
            </a:pPr>
            <a:r>
              <a:rPr lang="zh-CN" altLang="zh-CN"/>
              <a:t>①</a:t>
            </a:r>
            <a:r>
              <a:rPr lang="zh-CN" altLang="en-US"/>
              <a:t>从外层查询中取出</a:t>
            </a:r>
            <a:r>
              <a:rPr lang="en-US" altLang="zh-CN"/>
              <a:t>SC</a:t>
            </a:r>
            <a:r>
              <a:rPr lang="zh-CN" altLang="en-US"/>
              <a:t>的一个元组</a:t>
            </a:r>
            <a:r>
              <a:rPr lang="en-US" altLang="zh-CN"/>
              <a:t>x</a:t>
            </a:r>
            <a:r>
              <a:rPr lang="zh-CN" altLang="en-US"/>
              <a:t>，将元组</a:t>
            </a:r>
            <a:r>
              <a:rPr lang="en-US" altLang="zh-CN"/>
              <a:t>x</a:t>
            </a:r>
            <a:r>
              <a:rPr lang="zh-CN" altLang="en-US"/>
              <a:t>的</a:t>
            </a:r>
            <a:r>
              <a:rPr lang="en-US" altLang="zh-CN"/>
              <a:t>Sno</a:t>
            </a:r>
            <a:r>
              <a:rPr lang="zh-CN" altLang="en-US"/>
              <a:t>值（</a:t>
            </a:r>
            <a:r>
              <a:rPr lang="en-US" altLang="zh-CN"/>
              <a:t>20180001</a:t>
            </a:r>
            <a:r>
              <a:rPr lang="zh-CN" altLang="en-US"/>
              <a:t>）传送给内层查询。</a:t>
            </a:r>
            <a:endParaRPr lang="zh-CN" altLang="en-US"/>
          </a:p>
          <a:p>
            <a:pPr eaLnBrk="1" hangingPunct="1">
              <a:lnSpc>
                <a:spcPct val="120000"/>
              </a:lnSpc>
              <a:buFont typeface="Wingdings" panose="05000000000000000000" pitchFamily="2" charset="2"/>
              <a:buNone/>
            </a:pPr>
            <a:r>
              <a:rPr lang="zh-CN" altLang="en-US" sz="2400"/>
              <a:t>       	</a:t>
            </a:r>
            <a:r>
              <a:rPr lang="en-US" altLang="zh-CN" sz="2400"/>
              <a:t>SELECT AVG</a:t>
            </a:r>
            <a:r>
              <a:rPr lang="zh-CN" altLang="en-US" sz="2400"/>
              <a:t>(</a:t>
            </a:r>
            <a:r>
              <a:rPr lang="en-US" altLang="zh-CN" sz="2400"/>
              <a:t>Grade</a:t>
            </a:r>
            <a:r>
              <a:rPr lang="zh-CN" altLang="en-US" sz="2400"/>
              <a:t>)</a:t>
            </a:r>
            <a:endParaRPr lang="zh-CN" altLang="en-US" sz="2400"/>
          </a:p>
          <a:p>
            <a:pPr eaLnBrk="1" hangingPunct="1">
              <a:lnSpc>
                <a:spcPct val="120000"/>
              </a:lnSpc>
              <a:buFont typeface="Wingdings" panose="05000000000000000000" pitchFamily="2" charset="2"/>
              <a:buNone/>
            </a:pPr>
            <a:r>
              <a:rPr lang="en-US" altLang="zh-CN" sz="2400"/>
              <a:t>       </a:t>
            </a:r>
            <a:r>
              <a:rPr lang="zh-CN" altLang="en-US" sz="2400"/>
              <a:t>	</a:t>
            </a:r>
            <a:r>
              <a:rPr lang="en-US" altLang="zh-CN" sz="2400"/>
              <a:t>FROM SC y</a:t>
            </a:r>
            <a:endParaRPr lang="en-US" altLang="zh-CN" sz="2400"/>
          </a:p>
          <a:p>
            <a:pPr eaLnBrk="1" hangingPunct="1">
              <a:lnSpc>
                <a:spcPct val="120000"/>
              </a:lnSpc>
              <a:buFont typeface="Wingdings" panose="05000000000000000000" pitchFamily="2" charset="2"/>
              <a:buNone/>
            </a:pPr>
            <a:r>
              <a:rPr lang="en-US" altLang="zh-CN" sz="2400"/>
              <a:t>       </a:t>
            </a:r>
            <a:r>
              <a:rPr lang="zh-CN" altLang="en-US" sz="2400"/>
              <a:t>	</a:t>
            </a:r>
            <a:r>
              <a:rPr lang="en-US" altLang="zh-CN" sz="2400"/>
              <a:t>WHERE y.Sno=</a:t>
            </a:r>
            <a:r>
              <a:rPr lang="en-US" altLang="zh-CN" sz="2400">
                <a:solidFill>
                  <a:srgbClr val="FF0000"/>
                </a:solidFill>
              </a:rPr>
              <a:t>‘20180001’</a:t>
            </a:r>
            <a:r>
              <a:rPr lang="en-US" altLang="zh-CN" sz="2400"/>
              <a:t>;</a:t>
            </a:r>
            <a:endParaRPr lang="en-US" altLang="zh-CN" sz="2400"/>
          </a:p>
        </p:txBody>
      </p:sp>
      <p:sp>
        <p:nvSpPr>
          <p:cNvPr id="2" name="文本框 1"/>
          <p:cNvSpPr txBox="1"/>
          <p:nvPr/>
        </p:nvSpPr>
        <p:spPr>
          <a:xfrm>
            <a:off x="5952490" y="4761230"/>
            <a:ext cx="6096000" cy="1476375"/>
          </a:xfrm>
          <a:prstGeom prst="rect">
            <a:avLst/>
          </a:prstGeom>
          <a:noFill/>
        </p:spPr>
        <p:txBody>
          <a:bodyPr wrap="square" rtlCol="0" anchor="t">
            <a:spAutoFit/>
          </a:bodyPr>
          <a:p>
            <a:pPr eaLnBrk="1" hangingPunct="1">
              <a:buFont typeface="Wingdings" panose="05000000000000000000" pitchFamily="2" charset="2"/>
              <a:buNone/>
            </a:pPr>
            <a:r>
              <a:rPr lang="zh-CN" altLang="en-US" sz="1400" dirty="0">
                <a:sym typeface="+mn-ea"/>
              </a:rPr>
              <a:t>  </a:t>
            </a:r>
            <a:r>
              <a:rPr lang="en-US" altLang="zh-CN" sz="1800" dirty="0">
                <a:sym typeface="+mn-ea"/>
              </a:rPr>
              <a:t>SELECT </a:t>
            </a:r>
            <a:r>
              <a:rPr lang="en-US" altLang="zh-CN" sz="1800" dirty="0" err="1">
                <a:sym typeface="+mn-ea"/>
              </a:rPr>
              <a:t>Sno</a:t>
            </a:r>
            <a:r>
              <a:rPr lang="zh-CN" altLang="en-US" sz="1800" dirty="0">
                <a:sym typeface="+mn-ea"/>
              </a:rPr>
              <a:t>, </a:t>
            </a:r>
            <a:r>
              <a:rPr lang="en-US" altLang="zh-CN" sz="1800" dirty="0" err="1">
                <a:sym typeface="+mn-ea"/>
              </a:rPr>
              <a:t>Cno</a:t>
            </a:r>
            <a:endParaRPr lang="en-US" altLang="zh-CN" sz="1800" dirty="0"/>
          </a:p>
          <a:p>
            <a:pPr eaLnBrk="1" hangingPunct="1">
              <a:buFont typeface="Wingdings" panose="05000000000000000000" pitchFamily="2" charset="2"/>
              <a:buNone/>
            </a:pPr>
            <a:r>
              <a:rPr lang="en-US" altLang="zh-CN" sz="1800" dirty="0">
                <a:sym typeface="+mn-ea"/>
              </a:rPr>
              <a:t>    FROM    SC  </a:t>
            </a:r>
            <a:r>
              <a:rPr lang="en-US" altLang="zh-CN" sz="1800" dirty="0">
                <a:solidFill>
                  <a:srgbClr val="FF0000"/>
                </a:solidFill>
                <a:sym typeface="+mn-ea"/>
              </a:rPr>
              <a:t>x</a:t>
            </a:r>
            <a:endParaRPr lang="en-US" altLang="zh-CN" sz="1800" dirty="0"/>
          </a:p>
          <a:p>
            <a:pPr eaLnBrk="1" hangingPunct="1">
              <a:buFont typeface="Wingdings" panose="05000000000000000000" pitchFamily="2" charset="2"/>
              <a:buNone/>
            </a:pPr>
            <a:r>
              <a:rPr lang="en-US" altLang="zh-CN" sz="1800" dirty="0">
                <a:sym typeface="+mn-ea"/>
              </a:rPr>
              <a:t>    WHERE Grade &gt;=</a:t>
            </a:r>
            <a:r>
              <a:rPr lang="zh-CN" altLang="en-US" sz="1800" dirty="0">
                <a:sym typeface="+mn-ea"/>
              </a:rPr>
              <a:t>(</a:t>
            </a:r>
            <a:r>
              <a:rPr lang="en-US" altLang="zh-CN" sz="1800" dirty="0">
                <a:sym typeface="+mn-ea"/>
              </a:rPr>
              <a:t>SELECT </a:t>
            </a:r>
            <a:r>
              <a:rPr lang="en-US" altLang="zh-CN" sz="1800" dirty="0" err="1">
                <a:sym typeface="+mn-ea"/>
              </a:rPr>
              <a:t>AVG（Grade</a:t>
            </a:r>
            <a:r>
              <a:rPr lang="en-US" altLang="zh-CN" sz="1800" dirty="0">
                <a:sym typeface="+mn-ea"/>
              </a:rPr>
              <a:t>） </a:t>
            </a:r>
            <a:endParaRPr lang="en-US" altLang="zh-CN" sz="1800" dirty="0"/>
          </a:p>
          <a:p>
            <a:pPr eaLnBrk="1" hangingPunct="1">
              <a:buFont typeface="Wingdings" panose="05000000000000000000" pitchFamily="2" charset="2"/>
              <a:buNone/>
            </a:pPr>
            <a:r>
              <a:rPr lang="en-US" altLang="zh-CN" sz="1800" dirty="0">
                <a:sym typeface="+mn-ea"/>
              </a:rPr>
              <a:t>		      FROM  SC y</a:t>
            </a:r>
            <a:endParaRPr lang="en-US" altLang="zh-CN" sz="1800" dirty="0"/>
          </a:p>
          <a:p>
            <a:pPr eaLnBrk="1" hangingPunct="1">
              <a:buFont typeface="Wingdings" panose="05000000000000000000" pitchFamily="2" charset="2"/>
              <a:buNone/>
            </a:pPr>
            <a:r>
              <a:rPr lang="en-US" altLang="zh-CN" sz="1800" dirty="0">
                <a:sym typeface="+mn-ea"/>
              </a:rPr>
              <a:t>                                   </a:t>
            </a:r>
            <a:r>
              <a:rPr lang="en-US" altLang="zh-CN" sz="1800" dirty="0">
                <a:highlight>
                  <a:srgbClr val="FFFF00"/>
                </a:highlight>
                <a:sym typeface="+mn-ea"/>
              </a:rPr>
              <a:t>WHERE </a:t>
            </a:r>
            <a:r>
              <a:rPr lang="en-US" altLang="zh-CN" sz="1800" dirty="0" err="1">
                <a:highlight>
                  <a:srgbClr val="FFFF00"/>
                </a:highlight>
                <a:sym typeface="+mn-ea"/>
              </a:rPr>
              <a:t>y.Sno</a:t>
            </a:r>
            <a:r>
              <a:rPr lang="en-US" altLang="zh-CN" sz="1800" dirty="0">
                <a:highlight>
                  <a:srgbClr val="FFFF00"/>
                </a:highlight>
                <a:sym typeface="+mn-ea"/>
              </a:rPr>
              <a:t>=</a:t>
            </a:r>
            <a:r>
              <a:rPr lang="en-US" altLang="zh-CN" sz="1800" dirty="0" err="1">
                <a:solidFill>
                  <a:srgbClr val="FF0000"/>
                </a:solidFill>
                <a:highlight>
                  <a:srgbClr val="FFFF00"/>
                </a:highlight>
                <a:sym typeface="+mn-ea"/>
              </a:rPr>
              <a:t>x.</a:t>
            </a:r>
            <a:r>
              <a:rPr lang="en-US" altLang="zh-CN" sz="1800" dirty="0" err="1">
                <a:highlight>
                  <a:srgbClr val="FFFF00"/>
                </a:highlight>
                <a:sym typeface="+mn-ea"/>
              </a:rPr>
              <a:t>Sno</a:t>
            </a:r>
            <a:r>
              <a:rPr lang="zh-CN" altLang="en-US" sz="1800" dirty="0">
                <a:highlight>
                  <a:srgbClr val="FFFF00"/>
                </a:highlight>
                <a:sym typeface="+mn-ea"/>
              </a:rPr>
              <a:t>)</a:t>
            </a:r>
            <a:r>
              <a:rPr lang="en-US" altLang="zh-CN" sz="1800" dirty="0">
                <a:sym typeface="+mn-ea"/>
              </a:rPr>
              <a:t>;</a:t>
            </a:r>
            <a:endParaRPr lang="en-US" altLang="zh-CN" sz="1800" dirty="0">
              <a:sym typeface="+mn-ea"/>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79875" name="Rectangle 1027"/>
          <p:cNvSpPr>
            <a:spLocks noGrp="1" noChangeArrowheads="1"/>
          </p:cNvSpPr>
          <p:nvPr>
            <p:ph type="body" idx="4294967295"/>
          </p:nvPr>
        </p:nvSpPr>
        <p:spPr>
          <a:xfrm>
            <a:off x="1981200" y="1196976"/>
            <a:ext cx="8229600" cy="5040313"/>
          </a:xfrm>
        </p:spPr>
        <p:txBody>
          <a:bodyPr/>
          <a:lstStyle/>
          <a:p>
            <a:pPr lvl="1" eaLnBrk="1" hangingPunct="1">
              <a:lnSpc>
                <a:spcPct val="120000"/>
              </a:lnSpc>
            </a:pPr>
            <a:r>
              <a:rPr lang="zh-CN" altLang="zh-CN"/>
              <a:t>②</a:t>
            </a:r>
            <a:r>
              <a:rPr lang="zh-CN" altLang="en-US"/>
              <a:t>执行内层查询，得到值</a:t>
            </a:r>
            <a:r>
              <a:rPr lang="en-US" altLang="zh-CN"/>
              <a:t>89.3</a:t>
            </a:r>
            <a:r>
              <a:rPr lang="zh-CN" altLang="en-US"/>
              <a:t>（近似值），用该值代替内层查询，得到外层查询：</a:t>
            </a:r>
            <a:endParaRPr lang="zh-CN" altLang="en-US"/>
          </a:p>
          <a:p>
            <a:pPr eaLnBrk="1" hangingPunct="1">
              <a:lnSpc>
                <a:spcPct val="120000"/>
              </a:lnSpc>
              <a:buFont typeface="Wingdings" panose="05000000000000000000" pitchFamily="2" charset="2"/>
              <a:buNone/>
            </a:pPr>
            <a:r>
              <a:rPr lang="zh-CN" altLang="en-US" sz="2400"/>
              <a:t>      	 </a:t>
            </a:r>
            <a:r>
              <a:rPr lang="en-US" altLang="zh-CN" sz="2400"/>
              <a:t>SELECT Sno,Cno</a:t>
            </a:r>
            <a:endParaRPr lang="en-US" altLang="zh-CN" sz="2400"/>
          </a:p>
          <a:p>
            <a:pPr eaLnBrk="1" hangingPunct="1">
              <a:lnSpc>
                <a:spcPct val="120000"/>
              </a:lnSpc>
              <a:buFont typeface="Wingdings" panose="05000000000000000000" pitchFamily="2" charset="2"/>
              <a:buNone/>
            </a:pPr>
            <a:r>
              <a:rPr lang="en-US" altLang="zh-CN" sz="2400"/>
              <a:t>      </a:t>
            </a:r>
            <a:r>
              <a:rPr lang="zh-CN" altLang="en-US" sz="2400"/>
              <a:t>	</a:t>
            </a:r>
            <a:r>
              <a:rPr lang="en-US" altLang="zh-CN" sz="2400"/>
              <a:t> FROM     SC x</a:t>
            </a:r>
            <a:endParaRPr lang="en-US" altLang="zh-CN" sz="2400"/>
          </a:p>
          <a:p>
            <a:pPr eaLnBrk="1" hangingPunct="1">
              <a:lnSpc>
                <a:spcPct val="120000"/>
              </a:lnSpc>
              <a:buFont typeface="Wingdings" panose="05000000000000000000" pitchFamily="2" charset="2"/>
              <a:buNone/>
            </a:pPr>
            <a:r>
              <a:rPr lang="en-US" altLang="zh-CN" sz="2400"/>
              <a:t>     </a:t>
            </a:r>
            <a:r>
              <a:rPr lang="zh-CN" altLang="en-US" sz="2400"/>
              <a:t>	</a:t>
            </a:r>
            <a:r>
              <a:rPr lang="en-US" altLang="zh-CN" sz="2400"/>
              <a:t> WHERE  Grade &gt;=89.3</a:t>
            </a:r>
            <a:r>
              <a:rPr lang="zh-CN" altLang="en-US" sz="2400"/>
              <a:t>; </a:t>
            </a:r>
            <a:endParaRPr lang="zh-CN" altLang="en-US" sz="2400"/>
          </a:p>
        </p:txBody>
      </p:sp>
      <p:sp>
        <p:nvSpPr>
          <p:cNvPr id="2" name="文本框 1"/>
          <p:cNvSpPr txBox="1"/>
          <p:nvPr>
            <p:custDataLst>
              <p:tags r:id="rId1"/>
            </p:custDataLst>
          </p:nvPr>
        </p:nvSpPr>
        <p:spPr>
          <a:xfrm>
            <a:off x="5952490" y="4761230"/>
            <a:ext cx="6096000" cy="1476375"/>
          </a:xfrm>
          <a:prstGeom prst="rect">
            <a:avLst/>
          </a:prstGeom>
          <a:noFill/>
        </p:spPr>
        <p:txBody>
          <a:bodyPr wrap="square" rtlCol="0" anchor="t">
            <a:spAutoFit/>
          </a:bodyPr>
          <a:p>
            <a:pPr eaLnBrk="1" hangingPunct="1">
              <a:buFont typeface="Wingdings" panose="05000000000000000000" pitchFamily="2" charset="2"/>
              <a:buNone/>
            </a:pPr>
            <a:r>
              <a:rPr lang="zh-CN" altLang="en-US" sz="1400" dirty="0">
                <a:sym typeface="+mn-ea"/>
              </a:rPr>
              <a:t>  </a:t>
            </a:r>
            <a:r>
              <a:rPr lang="en-US" altLang="zh-CN" sz="1800" dirty="0">
                <a:sym typeface="+mn-ea"/>
              </a:rPr>
              <a:t>SELECT </a:t>
            </a:r>
            <a:r>
              <a:rPr lang="en-US" altLang="zh-CN" sz="1800" dirty="0" err="1">
                <a:sym typeface="+mn-ea"/>
              </a:rPr>
              <a:t>Sno</a:t>
            </a:r>
            <a:r>
              <a:rPr lang="zh-CN" altLang="en-US" sz="1800" dirty="0">
                <a:sym typeface="+mn-ea"/>
              </a:rPr>
              <a:t>, </a:t>
            </a:r>
            <a:r>
              <a:rPr lang="en-US" altLang="zh-CN" sz="1800" dirty="0" err="1">
                <a:sym typeface="+mn-ea"/>
              </a:rPr>
              <a:t>Cno</a:t>
            </a:r>
            <a:endParaRPr lang="en-US" altLang="zh-CN" sz="1800" dirty="0"/>
          </a:p>
          <a:p>
            <a:pPr eaLnBrk="1" hangingPunct="1">
              <a:buFont typeface="Wingdings" panose="05000000000000000000" pitchFamily="2" charset="2"/>
              <a:buNone/>
            </a:pPr>
            <a:r>
              <a:rPr lang="en-US" altLang="zh-CN" sz="1800" dirty="0">
                <a:sym typeface="+mn-ea"/>
              </a:rPr>
              <a:t>    FROM    SC  </a:t>
            </a:r>
            <a:r>
              <a:rPr lang="en-US" altLang="zh-CN" sz="1800" dirty="0">
                <a:solidFill>
                  <a:srgbClr val="FF0000"/>
                </a:solidFill>
                <a:sym typeface="+mn-ea"/>
              </a:rPr>
              <a:t>x</a:t>
            </a:r>
            <a:endParaRPr lang="en-US" altLang="zh-CN" sz="1800" dirty="0"/>
          </a:p>
          <a:p>
            <a:pPr eaLnBrk="1" hangingPunct="1">
              <a:buFont typeface="Wingdings" panose="05000000000000000000" pitchFamily="2" charset="2"/>
              <a:buNone/>
            </a:pPr>
            <a:r>
              <a:rPr lang="en-US" altLang="zh-CN" sz="1800" dirty="0">
                <a:sym typeface="+mn-ea"/>
              </a:rPr>
              <a:t>    WHERE Grade &gt;=</a:t>
            </a:r>
            <a:r>
              <a:rPr lang="zh-CN" altLang="en-US" sz="1800" dirty="0">
                <a:sym typeface="+mn-ea"/>
              </a:rPr>
              <a:t>(</a:t>
            </a:r>
            <a:r>
              <a:rPr lang="en-US" altLang="zh-CN" sz="1800" dirty="0">
                <a:highlight>
                  <a:srgbClr val="FFFF00"/>
                </a:highlight>
                <a:sym typeface="+mn-ea"/>
              </a:rPr>
              <a:t>SELECT </a:t>
            </a:r>
            <a:r>
              <a:rPr lang="en-US" altLang="zh-CN" sz="1800" dirty="0" err="1">
                <a:highlight>
                  <a:srgbClr val="FFFF00"/>
                </a:highlight>
                <a:sym typeface="+mn-ea"/>
              </a:rPr>
              <a:t>AVG（Grade</a:t>
            </a:r>
            <a:r>
              <a:rPr lang="en-US" altLang="zh-CN" sz="1800" dirty="0">
                <a:highlight>
                  <a:srgbClr val="FFFF00"/>
                </a:highlight>
                <a:sym typeface="+mn-ea"/>
              </a:rPr>
              <a:t>）</a:t>
            </a:r>
            <a:r>
              <a:rPr lang="en-US" altLang="zh-CN" sz="1800" dirty="0">
                <a:sym typeface="+mn-ea"/>
              </a:rPr>
              <a:t> </a:t>
            </a:r>
            <a:endParaRPr lang="en-US" altLang="zh-CN" sz="1800" dirty="0"/>
          </a:p>
          <a:p>
            <a:pPr eaLnBrk="1" hangingPunct="1">
              <a:buFont typeface="Wingdings" panose="05000000000000000000" pitchFamily="2" charset="2"/>
              <a:buNone/>
            </a:pPr>
            <a:r>
              <a:rPr lang="en-US" altLang="zh-CN" sz="1800" dirty="0">
                <a:sym typeface="+mn-ea"/>
              </a:rPr>
              <a:t>		      </a:t>
            </a:r>
            <a:r>
              <a:rPr lang="en-US" altLang="zh-CN" sz="1800" dirty="0">
                <a:highlight>
                  <a:srgbClr val="FFFF00"/>
                </a:highlight>
                <a:sym typeface="+mn-ea"/>
              </a:rPr>
              <a:t>FROM  SC y</a:t>
            </a:r>
            <a:endParaRPr lang="en-US" altLang="zh-CN" sz="1800" dirty="0"/>
          </a:p>
          <a:p>
            <a:pPr eaLnBrk="1" hangingPunct="1">
              <a:buFont typeface="Wingdings" panose="05000000000000000000" pitchFamily="2" charset="2"/>
              <a:buNone/>
            </a:pPr>
            <a:r>
              <a:rPr lang="en-US" altLang="zh-CN" sz="1800" dirty="0">
                <a:sym typeface="+mn-ea"/>
              </a:rPr>
              <a:t>                                   </a:t>
            </a:r>
            <a:r>
              <a:rPr lang="en-US" altLang="zh-CN" sz="1800" dirty="0">
                <a:highlight>
                  <a:srgbClr val="FFFF00"/>
                </a:highlight>
                <a:sym typeface="+mn-ea"/>
              </a:rPr>
              <a:t>WHERE </a:t>
            </a:r>
            <a:r>
              <a:rPr lang="en-US" altLang="zh-CN" sz="1800" dirty="0" err="1">
                <a:highlight>
                  <a:srgbClr val="FFFF00"/>
                </a:highlight>
                <a:sym typeface="+mn-ea"/>
              </a:rPr>
              <a:t>y.Sno</a:t>
            </a:r>
            <a:r>
              <a:rPr lang="en-US" altLang="zh-CN" sz="1800" dirty="0">
                <a:highlight>
                  <a:srgbClr val="FFFF00"/>
                </a:highlight>
                <a:sym typeface="+mn-ea"/>
              </a:rPr>
              <a:t>=</a:t>
            </a:r>
            <a:r>
              <a:rPr lang="en-US" altLang="zh-CN" sz="1800" dirty="0" err="1">
                <a:solidFill>
                  <a:srgbClr val="FF0000"/>
                </a:solidFill>
                <a:highlight>
                  <a:srgbClr val="FFFF00"/>
                </a:highlight>
                <a:sym typeface="+mn-ea"/>
              </a:rPr>
              <a:t>x.</a:t>
            </a:r>
            <a:r>
              <a:rPr lang="en-US" altLang="zh-CN" sz="1800" dirty="0" err="1">
                <a:highlight>
                  <a:srgbClr val="FFFF00"/>
                </a:highlight>
                <a:sym typeface="+mn-ea"/>
              </a:rPr>
              <a:t>Sno</a:t>
            </a:r>
            <a:r>
              <a:rPr lang="zh-CN" altLang="en-US" sz="1800" dirty="0">
                <a:highlight>
                  <a:srgbClr val="FFFF00"/>
                </a:highlight>
                <a:sym typeface="+mn-ea"/>
              </a:rPr>
              <a:t>)</a:t>
            </a:r>
            <a:r>
              <a:rPr lang="en-US" altLang="zh-CN" sz="1800" dirty="0">
                <a:sym typeface="+mn-ea"/>
              </a:rPr>
              <a:t>;</a:t>
            </a:r>
            <a:endParaRPr lang="en-US" altLang="zh-CN" sz="1800" dirty="0">
              <a:sym typeface="+mn-ea"/>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26"/>
          <p:cNvSpPr>
            <a:spLocks noGrp="1" noChangeArrowheads="1"/>
          </p:cNvSpPr>
          <p:nvPr>
            <p:ph type="title" idx="4294967295"/>
          </p:nvPr>
        </p:nvSpPr>
        <p:spPr/>
        <p:txBody>
          <a:bodyPr/>
          <a:lstStyle/>
          <a:p>
            <a:pPr eaLnBrk="1" hangingPunct="1"/>
            <a:r>
              <a:rPr lang="zh-CN" altLang="en-US" sz="3600"/>
              <a:t>带有比较运算符的子查询（续）</a:t>
            </a:r>
            <a:endParaRPr lang="zh-CN" altLang="en-US" sz="3600"/>
          </a:p>
        </p:txBody>
      </p:sp>
      <p:sp>
        <p:nvSpPr>
          <p:cNvPr id="43011" name="Rectangle 1027"/>
          <p:cNvSpPr>
            <a:spLocks noGrp="1" noChangeArrowheads="1"/>
          </p:cNvSpPr>
          <p:nvPr>
            <p:ph type="body" idx="4294967295"/>
          </p:nvPr>
        </p:nvSpPr>
        <p:spPr>
          <a:xfrm>
            <a:off x="911424" y="1339851"/>
            <a:ext cx="10081120" cy="4854575"/>
          </a:xfrm>
        </p:spPr>
        <p:txBody>
          <a:bodyPr/>
          <a:lstStyle/>
          <a:p>
            <a:pPr lvl="1" eaLnBrk="1" hangingPunct="1">
              <a:lnSpc>
                <a:spcPct val="120000"/>
              </a:lnSpc>
            </a:pPr>
            <a:r>
              <a:rPr lang="zh-CN" altLang="zh-CN" dirty="0"/>
              <a:t>③</a:t>
            </a:r>
            <a:r>
              <a:rPr lang="zh-CN" altLang="en-US" dirty="0"/>
              <a:t>判断当前元组是否满足条件</a:t>
            </a:r>
            <a:r>
              <a:rPr lang="en-US" altLang="zh-CN" dirty="0"/>
              <a:t> </a:t>
            </a:r>
            <a:r>
              <a:rPr lang="zh-CN" altLang="en-US" dirty="0"/>
              <a:t>：</a:t>
            </a:r>
            <a:r>
              <a:rPr lang="en-US" altLang="zh-CN">
                <a:sym typeface="+mn-ea"/>
              </a:rPr>
              <a:t> Grade &gt;=89.3</a:t>
            </a:r>
            <a:r>
              <a:rPr lang="zh-CN" altLang="en-US">
                <a:sym typeface="+mn-ea"/>
              </a:rPr>
              <a:t>。</a:t>
            </a:r>
            <a:endParaRPr lang="zh-CN" altLang="en-US">
              <a:sym typeface="+mn-ea"/>
            </a:endParaRPr>
          </a:p>
          <a:p>
            <a:pPr lvl="1" eaLnBrk="1" hangingPunct="1">
              <a:lnSpc>
                <a:spcPct val="120000"/>
              </a:lnSpc>
            </a:pPr>
            <a:r>
              <a:rPr lang="zh-CN" altLang="en-US">
                <a:sym typeface="+mn-ea"/>
              </a:rPr>
              <a:t>若满足，则将其放入结果集合</a:t>
            </a:r>
            <a:endParaRPr lang="en-US" altLang="zh-CN" dirty="0"/>
          </a:p>
          <a:p>
            <a:pPr lvl="1" eaLnBrk="1" hangingPunct="1">
              <a:lnSpc>
                <a:spcPct val="120000"/>
              </a:lnSpc>
              <a:buFont typeface="Wingdings" panose="05000000000000000000" pitchFamily="2" charset="2"/>
              <a:buNone/>
            </a:pPr>
            <a:r>
              <a:rPr lang="en-US" altLang="zh-CN" dirty="0"/>
              <a:t>	</a:t>
            </a:r>
            <a:r>
              <a:rPr lang="zh-CN" altLang="en-US" dirty="0"/>
              <a:t>（</a:t>
            </a:r>
            <a:r>
              <a:rPr lang="en-US" altLang="zh-CN" dirty="0"/>
              <a:t>20180001,81002</a:t>
            </a:r>
            <a:r>
              <a:rPr lang="zh-CN" altLang="en-US" dirty="0"/>
              <a:t>）</a:t>
            </a:r>
            <a:endParaRPr lang="en-US" altLang="zh-CN" dirty="0"/>
          </a:p>
          <a:p>
            <a:pPr eaLnBrk="1" hangingPunct="1">
              <a:lnSpc>
                <a:spcPct val="120000"/>
              </a:lnSpc>
              <a:buFont typeface="Wingdings" panose="05000000000000000000" pitchFamily="2" charset="2"/>
              <a:buNone/>
            </a:pPr>
            <a:r>
              <a:rPr lang="zh-CN" altLang="en-US" sz="2400" dirty="0"/>
              <a:t>	然后外层查询取出下一个元组重复做上述①至③步骤，直到外层的</a:t>
            </a:r>
            <a:r>
              <a:rPr lang="en-US" altLang="zh-CN" sz="2400" dirty="0"/>
              <a:t>SC</a:t>
            </a:r>
            <a:r>
              <a:rPr lang="zh-CN" altLang="en-US" sz="2400" dirty="0"/>
              <a:t>元组全部处理完毕。结果为</a:t>
            </a:r>
            <a:r>
              <a:rPr lang="en-US" altLang="zh-CN" sz="2400" dirty="0"/>
              <a:t>:</a:t>
            </a:r>
            <a:endParaRPr lang="en-US" altLang="zh-CN" sz="2400" dirty="0"/>
          </a:p>
          <a:p>
            <a:pPr eaLnBrk="1" hangingPunct="1">
              <a:lnSpc>
                <a:spcPct val="120000"/>
              </a:lnSpc>
              <a:buFont typeface="Wingdings" panose="05000000000000000000" pitchFamily="2" charset="2"/>
              <a:buNone/>
            </a:pPr>
            <a:r>
              <a:rPr lang="en-US" altLang="zh-CN" sz="2000" dirty="0"/>
              <a:t>	（20180001,81002）</a:t>
            </a:r>
            <a:endParaRPr lang="en-US" altLang="zh-CN" sz="2000" dirty="0"/>
          </a:p>
          <a:p>
            <a:pPr eaLnBrk="1" hangingPunct="1">
              <a:lnSpc>
                <a:spcPct val="120000"/>
              </a:lnSpc>
              <a:buFont typeface="Wingdings" panose="05000000000000000000" pitchFamily="2" charset="2"/>
              <a:buNone/>
            </a:pPr>
            <a:r>
              <a:rPr lang="en-US" altLang="zh-CN" sz="2000" dirty="0"/>
              <a:t>	（20180002,81002）</a:t>
            </a:r>
            <a:endParaRPr lang="en-US" altLang="zh-CN" sz="2000" dirty="0"/>
          </a:p>
          <a:p>
            <a:pPr eaLnBrk="1" hangingPunct="1">
              <a:lnSpc>
                <a:spcPct val="120000"/>
              </a:lnSpc>
              <a:buFont typeface="Wingdings" panose="05000000000000000000" pitchFamily="2" charset="2"/>
              <a:buNone/>
            </a:pPr>
            <a:r>
              <a:rPr lang="en-US" altLang="zh-CN" sz="2000" dirty="0"/>
              <a:t>	（20180003,81001）</a:t>
            </a:r>
            <a:endParaRPr lang="en-US" altLang="zh-CN" sz="2000" dirty="0"/>
          </a:p>
          <a:p>
            <a:pPr eaLnBrk="1" hangingPunct="1">
              <a:lnSpc>
                <a:spcPct val="120000"/>
              </a:lnSpc>
              <a:buFont typeface="Wingdings" panose="05000000000000000000" pitchFamily="2" charset="2"/>
              <a:buNone/>
            </a:pPr>
            <a:r>
              <a:rPr lang="en-US" altLang="zh-CN" sz="2000" dirty="0"/>
              <a:t>	（20180004,81003）</a:t>
            </a:r>
            <a:endParaRPr lang="en-US" altLang="zh-CN" sz="2000" dirty="0"/>
          </a:p>
          <a:p>
            <a:pPr eaLnBrk="1" hangingPunct="1">
              <a:lnSpc>
                <a:spcPct val="120000"/>
              </a:lnSpc>
              <a:buFont typeface="Wingdings" panose="05000000000000000000" pitchFamily="2" charset="2"/>
              <a:buNone/>
            </a:pPr>
            <a:r>
              <a:rPr lang="en-US" altLang="zh-CN" sz="2000" dirty="0"/>
              <a:t>	（20180005,81003）</a:t>
            </a:r>
            <a:endParaRPr lang="en-US" altLang="zh-CN" sz="2000" dirty="0"/>
          </a:p>
          <a:p>
            <a:pPr eaLnBrk="1" hangingPunct="1"/>
            <a:endParaRPr lang="en-US" altLang="zh-CN" sz="24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822960"/>
        </p:xfrm>
        <a:graphic>
          <a:graphicData uri="http://schemas.openxmlformats.org/drawingml/2006/table">
            <a:tbl>
              <a:tblPr firstRow="1" bandRow="1">
                <a:tableStyleId>{5C22544A-7EE6-4342-B048-85BDC9FD1C3A}</a:tableStyleId>
              </a:tblPr>
              <a:tblGrid>
                <a:gridCol w="946785"/>
                <a:gridCol w="1300480"/>
                <a:gridCol w="1175248"/>
                <a:gridCol w="939613"/>
                <a:gridCol w="1444085"/>
                <a:gridCol w="2556739"/>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buNone/>
                      </a:pPr>
                      <a:r>
                        <a:rPr lang="zh-CN" altLang="en-US" sz="1800" b="1" kern="1200" baseline="0" dirty="0">
                          <a:solidFill>
                            <a:schemeClr val="dk1"/>
                          </a:solidFill>
                          <a:latin typeface="Arial" panose="020B0604020202020204" pitchFamily="34" charset="0"/>
                          <a:ea typeface="宋体" panose="02010600030101010101" pitchFamily="2" charset="-122"/>
                          <a:cs typeface="+mn-cs"/>
                        </a:rPr>
                        <a:t>身高</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buNone/>
                      </a:pPr>
                      <a:r>
                        <a:rPr lang="en-US" altLang="zh-CN" sz="1800" b="1" kern="1200" baseline="0" dirty="0">
                          <a:solidFill>
                            <a:schemeClr val="dk1"/>
                          </a:solidFill>
                          <a:latin typeface="Arial" panose="020B0604020202020204" pitchFamily="34" charset="0"/>
                          <a:ea typeface="宋体" panose="02010600030101010101" pitchFamily="2" charset="-122"/>
                          <a:cs typeface="+mn-cs"/>
                        </a:rPr>
                        <a:t>Height</a:t>
                      </a:r>
                      <a:endParaRPr lang="en-US" altLang="zh-CN"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692150" y="3429000"/>
            <a:ext cx="10195560" cy="2168525"/>
          </a:xfrm>
          <a:prstGeom prst="rect">
            <a:avLst/>
          </a:prstGeom>
          <a:noFill/>
        </p:spPr>
        <p:txBody>
          <a:bodyPr wrap="square" rtlCol="0" anchor="t">
            <a:spAutoFit/>
          </a:bodyPr>
          <a:p>
            <a:pPr algn="just" eaLnBrk="1" hangingPunct="1">
              <a:lnSpc>
                <a:spcPct val="150000"/>
              </a:lnSpc>
            </a:pPr>
            <a:r>
              <a:rPr lang="zh-CN" altLang="en-US">
                <a:sym typeface="+mn-ea"/>
              </a:rPr>
              <a:t>请用相关子查询实现</a:t>
            </a:r>
            <a:r>
              <a:rPr lang="en-US" altLang="zh-CN">
                <a:sym typeface="+mn-ea"/>
              </a:rPr>
              <a:t>:</a:t>
            </a:r>
            <a:endParaRPr lang="en-US">
              <a:sym typeface="+mn-ea"/>
            </a:endParaRPr>
          </a:p>
          <a:p>
            <a:pPr algn="just" eaLnBrk="1" hangingPunct="1">
              <a:lnSpc>
                <a:spcPct val="150000"/>
              </a:lnSpc>
            </a:pPr>
            <a:r>
              <a:rPr lang="en-US">
                <a:sym typeface="+mn-ea"/>
              </a:rPr>
              <a:t>1. </a:t>
            </a:r>
            <a:r>
              <a:rPr lang="zh-CN" altLang="en-US">
                <a:sym typeface="+mn-ea"/>
              </a:rPr>
              <a:t>查询每个学生成绩最高的课程号及分数（要求显示学号、课程号、最高分）。</a:t>
            </a:r>
            <a:endParaRPr lang="zh-CN" altLang="en-US">
              <a:sym typeface="+mn-ea"/>
            </a:endParaRPr>
          </a:p>
          <a:p>
            <a:pPr algn="just" eaLnBrk="1" hangingPunct="1">
              <a:lnSpc>
                <a:spcPct val="150000"/>
              </a:lnSpc>
            </a:pPr>
            <a:r>
              <a:rPr lang="en-US" altLang="zh-CN">
                <a:sym typeface="+mn-ea"/>
              </a:rPr>
              <a:t>2. </a:t>
            </a:r>
            <a:r>
              <a:rPr lang="zh-CN" altLang="en-US">
                <a:sym typeface="+mn-ea"/>
              </a:rPr>
              <a:t>查询在同一年出生的学生中，身高最高的学生。</a:t>
            </a:r>
            <a:endParaRPr lang="en-US" altLang="zh-CN">
              <a:sym typeface="+mn-ea"/>
            </a:endParaRPr>
          </a:p>
          <a:p>
            <a:pPr algn="just" eaLnBrk="1" hangingPunct="1">
              <a:lnSpc>
                <a:spcPct val="150000"/>
              </a:lnSpc>
            </a:pPr>
            <a:endParaRPr lang="en-US" altLang="zh-CN">
              <a:sym typeface="+mn-ea"/>
            </a:endParaRPr>
          </a:p>
          <a:p>
            <a:pPr algn="just" eaLnBrk="1" hangingPunct="1">
              <a:lnSpc>
                <a:spcPct val="150000"/>
              </a:lnSpc>
            </a:pPr>
            <a:endParaRPr lang="zh-CN" altLang="en-US">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84995" name="Rectangle 3"/>
          <p:cNvSpPr>
            <a:spLocks noGrp="1" noChangeArrowheads="1"/>
          </p:cNvSpPr>
          <p:nvPr>
            <p:ph type="body" idx="4294967295"/>
          </p:nvPr>
        </p:nvSpPr>
        <p:spPr>
          <a:xfrm>
            <a:off x="1271464" y="1339851"/>
            <a:ext cx="10310936" cy="4854575"/>
          </a:xfrm>
        </p:spPr>
        <p:txBody>
          <a:bodyPr/>
          <a:lstStyle/>
          <a:p>
            <a:pPr eaLnBrk="1" hangingPunct="1">
              <a:lnSpc>
                <a:spcPct val="150000"/>
              </a:lnSpc>
              <a:buFont typeface="Wingdings" panose="05000000000000000000" pitchFamily="2" charset="2"/>
              <a:buNone/>
            </a:pPr>
            <a:r>
              <a:rPr lang="en-US" altLang="zh-CN" dirty="0"/>
              <a:t>  1.</a:t>
            </a:r>
            <a:r>
              <a:rPr lang="zh-CN" altLang="en-US" dirty="0"/>
              <a:t>带有</a:t>
            </a:r>
            <a:r>
              <a:rPr lang="en-US" altLang="zh-CN" dirty="0"/>
              <a:t>IN</a:t>
            </a:r>
            <a:r>
              <a:rPr lang="zh-CN" altLang="en-US" dirty="0"/>
              <a:t>谓词的子查询 </a:t>
            </a:r>
            <a:endParaRPr lang="zh-CN" altLang="en-US" dirty="0"/>
          </a:p>
          <a:p>
            <a:pPr eaLnBrk="1" hangingPunct="1">
              <a:lnSpc>
                <a:spcPct val="150000"/>
              </a:lnSpc>
              <a:buFont typeface="Wingdings" panose="05000000000000000000" pitchFamily="2" charset="2"/>
              <a:buNone/>
            </a:pPr>
            <a:r>
              <a:rPr lang="zh-CN" altLang="en-US" dirty="0"/>
              <a:t>  </a:t>
            </a:r>
            <a:r>
              <a:rPr lang="en-US" altLang="zh-CN" dirty="0"/>
              <a:t>2.</a:t>
            </a:r>
            <a:r>
              <a:rPr lang="zh-CN" altLang="en-US" dirty="0"/>
              <a:t>带有比较运算符的子查询</a:t>
            </a:r>
            <a:endParaRPr lang="zh-CN" altLang="en-US" dirty="0"/>
          </a:p>
          <a:p>
            <a:pPr eaLnBrk="1" hangingPunct="1">
              <a:lnSpc>
                <a:spcPct val="150000"/>
              </a:lnSpc>
              <a:buFont typeface="Wingdings" panose="05000000000000000000" pitchFamily="2" charset="2"/>
              <a:buNone/>
            </a:pPr>
            <a:r>
              <a:rPr lang="zh-CN" altLang="en-US" dirty="0">
                <a:solidFill>
                  <a:srgbClr val="7030A0"/>
                </a:solidFill>
              </a:rPr>
              <a:t>  </a:t>
            </a:r>
            <a:r>
              <a:rPr lang="en-US" altLang="zh-CN" dirty="0">
                <a:solidFill>
                  <a:srgbClr val="7030A0"/>
                </a:solidFill>
              </a:rPr>
              <a:t>3.</a:t>
            </a:r>
            <a:r>
              <a:rPr lang="zh-CN" altLang="en-US" dirty="0">
                <a:solidFill>
                  <a:srgbClr val="7030A0"/>
                </a:solidFill>
              </a:rPr>
              <a:t>带有</a:t>
            </a:r>
            <a:r>
              <a:rPr lang="en-US" altLang="zh-CN" dirty="0">
                <a:solidFill>
                  <a:srgbClr val="7030A0"/>
                </a:solidFill>
              </a:rPr>
              <a:t>ANY</a:t>
            </a:r>
            <a:r>
              <a:rPr lang="zh-CN" altLang="en-US" dirty="0">
                <a:solidFill>
                  <a:srgbClr val="7030A0"/>
                </a:solidFill>
              </a:rPr>
              <a:t>（</a:t>
            </a:r>
            <a:r>
              <a:rPr lang="en-US" altLang="zh-CN" dirty="0">
                <a:solidFill>
                  <a:srgbClr val="7030A0"/>
                </a:solidFill>
              </a:rPr>
              <a:t>SOME</a:t>
            </a:r>
            <a:r>
              <a:rPr lang="zh-CN" altLang="en-US" dirty="0">
                <a:solidFill>
                  <a:srgbClr val="7030A0"/>
                </a:solidFill>
              </a:rPr>
              <a:t>）或</a:t>
            </a:r>
            <a:r>
              <a:rPr lang="en-US" altLang="zh-CN" dirty="0">
                <a:solidFill>
                  <a:srgbClr val="7030A0"/>
                </a:solidFill>
              </a:rPr>
              <a:t>ALL</a:t>
            </a:r>
            <a:r>
              <a:rPr lang="zh-CN" altLang="en-US" dirty="0">
                <a:solidFill>
                  <a:srgbClr val="7030A0"/>
                </a:solidFill>
              </a:rPr>
              <a:t>谓词的子查询</a:t>
            </a:r>
            <a:endParaRPr lang="zh-CN" altLang="en-US" dirty="0">
              <a:solidFill>
                <a:srgbClr val="7030A0"/>
              </a:solidFill>
            </a:endParaRPr>
          </a:p>
          <a:p>
            <a:pPr eaLnBrk="1" hangingPunct="1">
              <a:lnSpc>
                <a:spcPct val="150000"/>
              </a:lnSpc>
              <a:buFont typeface="Wingdings" panose="05000000000000000000"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endParaRPr lang="zh-CN" altLang="en-US" dirty="0"/>
          </a:p>
          <a:p>
            <a:pPr eaLnBrk="1" hangingPunct="1">
              <a:lnSpc>
                <a:spcPct val="130000"/>
              </a:lnSpc>
              <a:buFont typeface="Wingdings" panose="05000000000000000000" pitchFamily="2" charset="2"/>
              <a:buNone/>
            </a:pPr>
            <a:endParaRPr lang="en-US" altLang="zh-CN"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1422400" y="-33338"/>
            <a:ext cx="935355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a:t>
            </a:r>
            <a:endParaRPr lang="zh-CN" altLang="en-US" sz="3200"/>
          </a:p>
        </p:txBody>
      </p:sp>
      <p:sp>
        <p:nvSpPr>
          <p:cNvPr id="86019" name="Rectangle 3"/>
          <p:cNvSpPr>
            <a:spLocks noGrp="1" noChangeArrowheads="1"/>
          </p:cNvSpPr>
          <p:nvPr>
            <p:ph type="body" idx="4294967295"/>
          </p:nvPr>
        </p:nvSpPr>
        <p:spPr>
          <a:xfrm>
            <a:off x="1981201" y="981075"/>
            <a:ext cx="7999413" cy="5283200"/>
          </a:xfrm>
        </p:spPr>
        <p:txBody>
          <a:bodyPr/>
          <a:lstStyle/>
          <a:p>
            <a:pPr marL="609600" indent="-609600" eaLnBrk="1" hangingPunct="1">
              <a:lnSpc>
                <a:spcPct val="120000"/>
              </a:lnSpc>
              <a:buNone/>
            </a:pPr>
            <a:r>
              <a:rPr lang="zh-CN" altLang="en-US"/>
              <a:t>使用</a:t>
            </a:r>
            <a:r>
              <a:rPr lang="en-US" altLang="zh-CN"/>
              <a:t>ANY</a:t>
            </a:r>
            <a:r>
              <a:rPr lang="zh-CN" altLang="en-US"/>
              <a:t>或</a:t>
            </a:r>
            <a:r>
              <a:rPr lang="en-US" altLang="zh-CN"/>
              <a:t>ALL</a:t>
            </a:r>
            <a:r>
              <a:rPr lang="zh-CN" altLang="en-US"/>
              <a:t>谓词时必须同时使用比较运算符</a:t>
            </a:r>
            <a:endParaRPr lang="zh-CN" altLang="en-US"/>
          </a:p>
          <a:p>
            <a:pPr marL="609600" indent="-609600" eaLnBrk="1" hangingPunct="1">
              <a:lnSpc>
                <a:spcPct val="120000"/>
              </a:lnSpc>
              <a:buNone/>
            </a:pPr>
            <a:r>
              <a:rPr lang="zh-CN" altLang="en-US" sz="2400"/>
              <a:t>语义为：</a:t>
            </a:r>
            <a:endParaRPr lang="zh-CN" altLang="en-US" sz="2400"/>
          </a:p>
          <a:p>
            <a:pPr marL="609600" indent="-609600" eaLnBrk="1" hangingPunct="1">
              <a:lnSpc>
                <a:spcPct val="120000"/>
              </a:lnSpc>
              <a:buNone/>
            </a:pPr>
            <a:r>
              <a:rPr lang="en-US" altLang="zh-CN" sz="2400"/>
              <a:t>      &gt; ANY	</a:t>
            </a:r>
            <a:r>
              <a:rPr lang="zh-CN" altLang="en-US" sz="2400"/>
              <a:t>大于子查询结果中的某个值       </a:t>
            </a:r>
            <a:endParaRPr lang="zh-CN" altLang="en-US" sz="2400"/>
          </a:p>
          <a:p>
            <a:pPr marL="990600" lvl="1" indent="-533400">
              <a:lnSpc>
                <a:spcPct val="120000"/>
              </a:lnSpc>
              <a:buNone/>
            </a:pPr>
            <a:r>
              <a:rPr lang="en-US" altLang="zh-CN"/>
              <a:t>&gt; ALL	</a:t>
            </a:r>
            <a:r>
              <a:rPr lang="zh-CN" altLang="en-US"/>
              <a:t>大于子查询结果中的所有值</a:t>
            </a:r>
            <a:endParaRPr lang="zh-CN" altLang="en-US"/>
          </a:p>
          <a:p>
            <a:pPr marL="990600" lvl="1" indent="-533400">
              <a:lnSpc>
                <a:spcPct val="120000"/>
              </a:lnSpc>
              <a:buNone/>
            </a:pPr>
            <a:r>
              <a:rPr lang="en-US" altLang="zh-CN"/>
              <a:t>&lt; ANY	</a:t>
            </a:r>
            <a:r>
              <a:rPr lang="zh-CN" altLang="en-US"/>
              <a:t>小于子查询结果中的某个值    </a:t>
            </a:r>
            <a:endParaRPr lang="zh-CN" altLang="en-US"/>
          </a:p>
          <a:p>
            <a:pPr marL="990600" lvl="1" indent="-533400">
              <a:lnSpc>
                <a:spcPct val="120000"/>
              </a:lnSpc>
              <a:buNone/>
            </a:pPr>
            <a:r>
              <a:rPr lang="en-US" altLang="zh-CN"/>
              <a:t>&lt; ALL	</a:t>
            </a:r>
            <a:r>
              <a:rPr lang="zh-CN" altLang="en-US"/>
              <a:t>小于子查询结果中的所有值</a:t>
            </a:r>
            <a:endParaRPr lang="zh-CN" altLang="en-US"/>
          </a:p>
          <a:p>
            <a:pPr marL="990600" lvl="1" indent="-533400">
              <a:lnSpc>
                <a:spcPct val="120000"/>
              </a:lnSpc>
              <a:buNone/>
            </a:pPr>
            <a:r>
              <a:rPr lang="en-US" altLang="zh-CN"/>
              <a:t>&gt;= ANY	</a:t>
            </a:r>
            <a:r>
              <a:rPr lang="zh-CN" altLang="en-US"/>
              <a:t>大于等于子查询结果中的某个值    </a:t>
            </a:r>
            <a:endParaRPr lang="zh-CN" altLang="en-US"/>
          </a:p>
          <a:p>
            <a:pPr marL="990600" lvl="1" indent="-533400">
              <a:lnSpc>
                <a:spcPct val="120000"/>
              </a:lnSpc>
              <a:buNone/>
            </a:pPr>
            <a:r>
              <a:rPr lang="en-US" altLang="zh-CN"/>
              <a:t>&gt;= ALL	</a:t>
            </a:r>
            <a:r>
              <a:rPr lang="zh-CN" altLang="en-US"/>
              <a:t>大于等于子查询结果中的所有值</a:t>
            </a:r>
            <a:endParaRPr lang="zh-CN"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idx="4294967295"/>
          </p:nvPr>
        </p:nvSpPr>
        <p:spPr>
          <a:xfrm>
            <a:off x="1422400" y="-33338"/>
            <a:ext cx="935355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87043" name="Rectangle 3"/>
          <p:cNvSpPr>
            <a:spLocks noGrp="1" noChangeArrowheads="1"/>
          </p:cNvSpPr>
          <p:nvPr>
            <p:ph type="body" idx="4294967295"/>
          </p:nvPr>
        </p:nvSpPr>
        <p:spPr>
          <a:xfrm>
            <a:off x="1981200" y="981075"/>
            <a:ext cx="8794750" cy="5283200"/>
          </a:xfrm>
        </p:spPr>
        <p:txBody>
          <a:bodyPr/>
          <a:lstStyle/>
          <a:p>
            <a:pPr marL="609600" indent="-609600" eaLnBrk="1" hangingPunct="1">
              <a:lnSpc>
                <a:spcPct val="120000"/>
              </a:lnSpc>
              <a:buNone/>
            </a:pPr>
            <a:r>
              <a:rPr lang="zh-CN" altLang="en-US"/>
              <a:t>使用</a:t>
            </a:r>
            <a:r>
              <a:rPr lang="en-US" altLang="zh-CN"/>
              <a:t>ANY</a:t>
            </a:r>
            <a:r>
              <a:rPr lang="zh-CN" altLang="en-US"/>
              <a:t>或</a:t>
            </a:r>
            <a:r>
              <a:rPr lang="en-US" altLang="zh-CN"/>
              <a:t>ALL</a:t>
            </a:r>
            <a:r>
              <a:rPr lang="zh-CN" altLang="en-US"/>
              <a:t>谓词时必须同时使用比较运算符</a:t>
            </a:r>
            <a:endParaRPr lang="zh-CN" altLang="en-US"/>
          </a:p>
          <a:p>
            <a:pPr marL="609600" indent="-609600" eaLnBrk="1" hangingPunct="1">
              <a:lnSpc>
                <a:spcPct val="120000"/>
              </a:lnSpc>
              <a:buNone/>
            </a:pPr>
            <a:r>
              <a:rPr lang="zh-CN" altLang="en-US" sz="2400"/>
              <a:t>语义为：</a:t>
            </a:r>
            <a:endParaRPr lang="zh-CN" altLang="en-US" sz="2400"/>
          </a:p>
          <a:p>
            <a:pPr marL="990600" lvl="1" indent="-533400">
              <a:lnSpc>
                <a:spcPct val="120000"/>
              </a:lnSpc>
              <a:buNone/>
            </a:pPr>
            <a:r>
              <a:rPr lang="en-US" altLang="zh-CN"/>
              <a:t>&lt;= ANY	</a:t>
            </a:r>
            <a:r>
              <a:rPr lang="zh-CN" altLang="en-US"/>
              <a:t>小于等于子查询结果中的某个值    </a:t>
            </a:r>
            <a:endParaRPr lang="zh-CN" altLang="en-US"/>
          </a:p>
          <a:p>
            <a:pPr marL="990600" lvl="1" indent="-533400">
              <a:lnSpc>
                <a:spcPct val="120000"/>
              </a:lnSpc>
              <a:buNone/>
            </a:pPr>
            <a:r>
              <a:rPr lang="en-US" altLang="zh-CN"/>
              <a:t>&lt;= ALL	</a:t>
            </a:r>
            <a:r>
              <a:rPr lang="zh-CN" altLang="en-US"/>
              <a:t>小于等于子查询结果中的所有值</a:t>
            </a:r>
            <a:endParaRPr lang="zh-CN" altLang="en-US"/>
          </a:p>
          <a:p>
            <a:pPr marL="990600" lvl="1" indent="-533400">
              <a:lnSpc>
                <a:spcPct val="120000"/>
              </a:lnSpc>
              <a:buNone/>
            </a:pPr>
            <a:r>
              <a:rPr lang="en-US" altLang="zh-CN"/>
              <a:t>= ANY	</a:t>
            </a:r>
            <a:r>
              <a:rPr lang="zh-CN" altLang="en-US"/>
              <a:t>等于子查询结果中的某个值        </a:t>
            </a:r>
            <a:endParaRPr lang="zh-CN" altLang="en-US"/>
          </a:p>
          <a:p>
            <a:pPr marL="990600" lvl="1" indent="-533400">
              <a:lnSpc>
                <a:spcPct val="120000"/>
              </a:lnSpc>
              <a:buNone/>
            </a:pPr>
            <a:r>
              <a:rPr lang="en-US" altLang="zh-CN"/>
              <a:t>=ALL	</a:t>
            </a:r>
            <a:r>
              <a:rPr lang="zh-CN" altLang="en-US"/>
              <a:t>等于子查询结果中的所有值（通常没有实际意义）</a:t>
            </a:r>
            <a:endParaRPr lang="zh-CN" altLang="en-US"/>
          </a:p>
          <a:p>
            <a:pPr marL="990600" lvl="1" indent="-533400">
              <a:lnSpc>
                <a:spcPct val="120000"/>
              </a:lnSpc>
              <a:buNone/>
            </a:pPr>
            <a:r>
              <a:rPr lang="en-US" altLang="zh-CN"/>
              <a:t>!=</a:t>
            </a:r>
            <a:r>
              <a:rPr lang="zh-CN" altLang="en-US"/>
              <a:t>（或</a:t>
            </a:r>
            <a:r>
              <a:rPr lang="en-US" altLang="zh-CN"/>
              <a:t>&lt;&gt;</a:t>
            </a:r>
            <a:r>
              <a:rPr lang="zh-CN" altLang="en-US"/>
              <a:t>）</a:t>
            </a:r>
            <a:r>
              <a:rPr lang="en-US" altLang="zh-CN"/>
              <a:t>ANY	</a:t>
            </a:r>
            <a:r>
              <a:rPr lang="zh-CN" altLang="en-US"/>
              <a:t>不等于子查询结果中的某个值</a:t>
            </a:r>
            <a:endParaRPr lang="zh-CN" altLang="en-US"/>
          </a:p>
          <a:p>
            <a:pPr marL="990600" lvl="1" indent="-533400">
              <a:lnSpc>
                <a:spcPct val="120000"/>
              </a:lnSpc>
              <a:buNone/>
            </a:pPr>
            <a:r>
              <a:rPr lang="en-US" altLang="zh-CN"/>
              <a:t>!=</a:t>
            </a:r>
            <a:r>
              <a:rPr lang="zh-CN" altLang="en-US"/>
              <a:t>（或</a:t>
            </a:r>
            <a:r>
              <a:rPr lang="en-US" altLang="zh-CN"/>
              <a:t>&lt;&gt;</a:t>
            </a:r>
            <a:r>
              <a:rPr lang="zh-CN" altLang="en-US"/>
              <a:t>）</a:t>
            </a:r>
            <a:r>
              <a:rPr lang="en-US" altLang="zh-CN"/>
              <a:t>ALL	</a:t>
            </a:r>
            <a:r>
              <a:rPr lang="zh-CN" altLang="en-US"/>
              <a:t>不等于子查询结果中的任何一个值</a:t>
            </a:r>
            <a:endParaRPr lang="zh-CN" alt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a:xfrm>
            <a:off x="1524000" y="-33338"/>
            <a:ext cx="914400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88067" name="Rectangle 3"/>
          <p:cNvSpPr>
            <a:spLocks noGrp="1" noChangeArrowheads="1"/>
          </p:cNvSpPr>
          <p:nvPr>
            <p:ph type="body" idx="4294967295"/>
          </p:nvPr>
        </p:nvSpPr>
        <p:spPr>
          <a:xfrm>
            <a:off x="1981201" y="1196975"/>
            <a:ext cx="8435975" cy="4997450"/>
          </a:xfrm>
        </p:spPr>
        <p:txBody>
          <a:bodyPr/>
          <a:lstStyle/>
          <a:p>
            <a:pPr marL="609600" indent="-609600" eaLnBrk="1" hangingPunct="1">
              <a:lnSpc>
                <a:spcPct val="150000"/>
              </a:lnSpc>
              <a:spcBef>
                <a:spcPct val="0"/>
              </a:spcBef>
              <a:buNone/>
            </a:pPr>
            <a:r>
              <a:rPr lang="en-US" altLang="zh-CN" sz="2400"/>
              <a:t>[</a:t>
            </a:r>
            <a:r>
              <a:rPr lang="zh-CN" altLang="en-US" sz="2400"/>
              <a:t>例</a:t>
            </a:r>
            <a:r>
              <a:rPr lang="en-US" altLang="zh-CN" sz="2400"/>
              <a:t>3.60]  </a:t>
            </a:r>
            <a:r>
              <a:rPr lang="zh-CN" altLang="en-US" sz="2400"/>
              <a:t>查询非计算机科学技术专业中比计算机科学技术专业任意一个学生年龄小（出生日期晚）的学生姓名、出生日期和主修专业</a:t>
            </a:r>
            <a:endParaRPr lang="en-US" altLang="zh-CN" sz="2400"/>
          </a:p>
          <a:p>
            <a:pPr marL="609600" indent="-609600" eaLnBrk="1" hangingPunct="1">
              <a:lnSpc>
                <a:spcPct val="150000"/>
              </a:lnSpc>
              <a:spcBef>
                <a:spcPct val="0"/>
              </a:spcBef>
              <a:buNone/>
            </a:pPr>
            <a:r>
              <a:rPr lang="zh-CN" altLang="en-US" sz="2000"/>
              <a:t>    </a:t>
            </a:r>
            <a:r>
              <a:rPr lang="en-US" altLang="zh-CN" sz="2000"/>
              <a:t>SELECT Sname</a:t>
            </a:r>
            <a:r>
              <a:rPr lang="zh-CN" altLang="en-US" sz="2000"/>
              <a:t>,</a:t>
            </a:r>
            <a:r>
              <a:rPr lang="en-US" altLang="zh-CN" sz="2000"/>
              <a:t>Sbirthdate,</a:t>
            </a:r>
            <a:r>
              <a:rPr lang="zh-CN" altLang="en-US" sz="2000"/>
              <a:t> </a:t>
            </a:r>
            <a:r>
              <a:rPr lang="en-US" altLang="zh-CN" sz="2000"/>
              <a:t>Smajor</a:t>
            </a:r>
            <a:endParaRPr lang="en-US" altLang="zh-CN" sz="2000"/>
          </a:p>
          <a:p>
            <a:pPr marL="609600" indent="-609600" eaLnBrk="1" hangingPunct="1">
              <a:lnSpc>
                <a:spcPct val="150000"/>
              </a:lnSpc>
              <a:spcBef>
                <a:spcPct val="0"/>
              </a:spcBef>
              <a:buNone/>
            </a:pPr>
            <a:r>
              <a:rPr lang="en-US" altLang="zh-CN" sz="2000"/>
              <a:t>    FROM    Student</a:t>
            </a:r>
            <a:endParaRPr lang="en-US" altLang="zh-CN" sz="2000"/>
          </a:p>
          <a:p>
            <a:pPr marL="609600" indent="-609600" eaLnBrk="1" hangingPunct="1">
              <a:lnSpc>
                <a:spcPct val="150000"/>
              </a:lnSpc>
              <a:spcBef>
                <a:spcPct val="0"/>
              </a:spcBef>
              <a:buNone/>
            </a:pPr>
            <a:r>
              <a:rPr lang="en-US" altLang="zh-CN" sz="2000"/>
              <a:t>    WHERE Sbirthdate &gt; </a:t>
            </a:r>
            <a:r>
              <a:rPr lang="en-US" altLang="zh-CN" sz="2000">
                <a:solidFill>
                  <a:srgbClr val="D75B5B"/>
                </a:solidFill>
              </a:rPr>
              <a:t>ANY</a:t>
            </a:r>
            <a:r>
              <a:rPr lang="en-US" altLang="zh-CN" sz="2000"/>
              <a:t> </a:t>
            </a:r>
            <a:r>
              <a:rPr lang="zh-CN" altLang="en-US" sz="2000"/>
              <a:t>(</a:t>
            </a:r>
            <a:r>
              <a:rPr lang="en-US" altLang="zh-CN" sz="2000"/>
              <a:t>SELECT  Sbirthdate</a:t>
            </a:r>
            <a:endParaRPr lang="en-US" altLang="zh-CN" sz="2000"/>
          </a:p>
          <a:p>
            <a:pPr marL="609600" indent="-609600" eaLnBrk="1" hangingPunct="1">
              <a:lnSpc>
                <a:spcPct val="150000"/>
              </a:lnSpc>
              <a:spcBef>
                <a:spcPct val="0"/>
              </a:spcBef>
              <a:buNone/>
            </a:pPr>
            <a:r>
              <a:rPr lang="en-US" altLang="zh-CN" sz="2000"/>
              <a:t>                                         FROM    Student</a:t>
            </a:r>
            <a:endParaRPr lang="en-US" altLang="zh-CN" sz="2000"/>
          </a:p>
          <a:p>
            <a:pPr marL="609600" indent="-609600" eaLnBrk="1" hangingPunct="1">
              <a:lnSpc>
                <a:spcPct val="150000"/>
              </a:lnSpc>
              <a:spcBef>
                <a:spcPct val="0"/>
              </a:spcBef>
              <a:buNone/>
            </a:pPr>
            <a:r>
              <a:rPr lang="en-US" altLang="zh-CN" sz="2000"/>
              <a:t>                                         WHERE Smajor= ‘</a:t>
            </a:r>
            <a:r>
              <a:rPr lang="zh-CN" altLang="en-US" sz="2000"/>
              <a:t>计算机科学与技术</a:t>
            </a:r>
            <a:r>
              <a:rPr lang="en-US" altLang="zh-CN" sz="2000"/>
              <a:t>'</a:t>
            </a:r>
            <a:r>
              <a:rPr lang="zh-CN" altLang="en-US" sz="2000"/>
              <a:t>)</a:t>
            </a:r>
            <a:endParaRPr lang="zh-CN" altLang="en-US" sz="2000"/>
          </a:p>
          <a:p>
            <a:pPr marL="609600" indent="-609600" eaLnBrk="1" hangingPunct="1">
              <a:lnSpc>
                <a:spcPct val="150000"/>
              </a:lnSpc>
              <a:spcBef>
                <a:spcPct val="0"/>
              </a:spcBef>
              <a:buNone/>
            </a:pPr>
            <a:r>
              <a:rPr lang="en-US" altLang="zh-CN" sz="2000"/>
              <a:t>     </a:t>
            </a:r>
            <a:r>
              <a:rPr lang="en-US" altLang="zh-CN" sz="2000">
                <a:solidFill>
                  <a:srgbClr val="D75B5B"/>
                </a:solidFill>
              </a:rPr>
              <a:t>AND Smajor &lt;&gt; ‘</a:t>
            </a:r>
            <a:r>
              <a:rPr lang="zh-CN" altLang="en-US" sz="2000">
                <a:solidFill>
                  <a:srgbClr val="D75B5B"/>
                </a:solidFill>
              </a:rPr>
              <a:t>计算机科学与技术</a:t>
            </a:r>
            <a:r>
              <a:rPr lang="en-US" altLang="zh-CN" sz="2000">
                <a:solidFill>
                  <a:srgbClr val="D75B5B"/>
                </a:solidFill>
              </a:rPr>
              <a:t> ’</a:t>
            </a:r>
            <a:r>
              <a:rPr lang="en-US" altLang="zh-CN" sz="2000"/>
              <a:t>;           /*</a:t>
            </a:r>
            <a:r>
              <a:rPr lang="zh-CN" altLang="en-US" sz="2000"/>
              <a:t>父查询块中的条件 *</a:t>
            </a:r>
            <a:r>
              <a:rPr lang="en-US" altLang="zh-CN" sz="2000"/>
              <a:t>/</a:t>
            </a:r>
            <a:endParaRPr lang="en-US" altLang="zh-CN" sz="200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idx="4294967295"/>
          </p:nvPr>
        </p:nvSpPr>
        <p:spPr>
          <a:xfrm>
            <a:off x="1524001" y="190501"/>
            <a:ext cx="9180513" cy="563563"/>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50179" name="Rectangle 3"/>
          <p:cNvSpPr>
            <a:spLocks noGrp="1" noChangeArrowheads="1"/>
          </p:cNvSpPr>
          <p:nvPr>
            <p:ph type="body" sz="half" idx="4294967295"/>
          </p:nvPr>
        </p:nvSpPr>
        <p:spPr>
          <a:xfrm>
            <a:off x="1703389" y="1052514"/>
            <a:ext cx="8651875" cy="4968875"/>
          </a:xfrm>
        </p:spPr>
        <p:txBody>
          <a:bodyPr/>
          <a:lstStyle/>
          <a:p>
            <a:pPr marL="609600" indent="-609600" eaLnBrk="1" hangingPunct="1">
              <a:buNone/>
            </a:pPr>
            <a:r>
              <a:rPr lang="zh-CN" altLang="en-US" sz="2400"/>
              <a:t>结果：</a:t>
            </a:r>
            <a:endParaRPr lang="zh-CN" altLang="en-US" sz="2400"/>
          </a:p>
          <a:p>
            <a:pPr marL="609600" indent="-609600" eaLnBrk="1" hangingPunct="1">
              <a:buNone/>
            </a:pPr>
            <a:r>
              <a:rPr lang="zh-CN" altLang="en-US" sz="2000"/>
              <a:t>	</a:t>
            </a:r>
            <a:endParaRPr lang="zh-CN" altLang="en-US" sz="2000"/>
          </a:p>
          <a:p>
            <a:pPr marL="609600" indent="-609600" eaLnBrk="1" hangingPunct="1">
              <a:buNone/>
            </a:pPr>
            <a:endParaRPr lang="zh-CN" altLang="en-US" sz="2000"/>
          </a:p>
          <a:p>
            <a:pPr marL="609600" indent="-609600" eaLnBrk="1" hangingPunct="1">
              <a:buNone/>
            </a:pPr>
            <a:endParaRPr lang="zh-CN" altLang="en-US" sz="2000"/>
          </a:p>
          <a:p>
            <a:pPr marL="609600" indent="-609600" eaLnBrk="1" hangingPunct="1">
              <a:buNone/>
            </a:pPr>
            <a:endParaRPr lang="zh-CN" altLang="en-US" sz="2000"/>
          </a:p>
          <a:p>
            <a:pPr marL="609600" indent="-609600" eaLnBrk="1" hangingPunct="1">
              <a:buNone/>
            </a:pPr>
            <a:endParaRPr lang="en-US" altLang="zh-CN" sz="2400"/>
          </a:p>
          <a:p>
            <a:pPr marL="609600" indent="-609600" eaLnBrk="1" hangingPunct="1">
              <a:buNone/>
            </a:pPr>
            <a:r>
              <a:rPr lang="zh-CN" altLang="en-US" sz="2400"/>
              <a:t>执行过程：</a:t>
            </a:r>
            <a:endParaRPr lang="zh-CN" altLang="en-US" sz="2400"/>
          </a:p>
          <a:p>
            <a:pPr lvl="1" eaLnBrk="1" hangingPunct="1">
              <a:lnSpc>
                <a:spcPct val="120000"/>
              </a:lnSpc>
            </a:pPr>
            <a:r>
              <a:rPr lang="zh-CN" altLang="en-US"/>
              <a:t>首先处理子查询，找出计算机科学与技术专业中所有学生的出生日期，构成一个集合</a:t>
            </a:r>
            <a:r>
              <a:rPr lang="en-US" altLang="zh-CN"/>
              <a:t>(1999-9-1,2001-8-1,2000-1-8)</a:t>
            </a:r>
            <a:endParaRPr lang="en-US" altLang="zh-CN"/>
          </a:p>
          <a:p>
            <a:pPr lvl="1" eaLnBrk="1" hangingPunct="1">
              <a:lnSpc>
                <a:spcPct val="120000"/>
              </a:lnSpc>
            </a:pPr>
            <a:r>
              <a:rPr lang="zh-CN" altLang="en-US"/>
              <a:t>处理父查询，找所有不是计算机科学与技术专业且年龄大于集合中任意一个的学生</a:t>
            </a:r>
            <a:endParaRPr lang="zh-CN" altLang="en-US"/>
          </a:p>
        </p:txBody>
      </p:sp>
      <p:graphicFrame>
        <p:nvGraphicFramePr>
          <p:cNvPr id="2" name="表格 1"/>
          <p:cNvGraphicFramePr>
            <a:graphicFrameLocks noGrp="1"/>
          </p:cNvGraphicFramePr>
          <p:nvPr/>
        </p:nvGraphicFramePr>
        <p:xfrm>
          <a:off x="2855913" y="1196976"/>
          <a:ext cx="6775450" cy="1801815"/>
        </p:xfrm>
        <a:graphic>
          <a:graphicData uri="http://schemas.openxmlformats.org/drawingml/2006/table">
            <a:tbl>
              <a:tblPr/>
              <a:tblGrid>
                <a:gridCol w="1909762"/>
                <a:gridCol w="1647825"/>
                <a:gridCol w="3217863"/>
              </a:tblGrid>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信息管理与信息系统</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赵明</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2000-6-12</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360363">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anose="05000000000000000000"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26"/>
          <p:cNvSpPr>
            <a:spLocks noGrp="1" noChangeArrowheads="1"/>
          </p:cNvSpPr>
          <p:nvPr>
            <p:ph type="title" idx="4294967295"/>
          </p:nvPr>
        </p:nvSpPr>
        <p:spPr>
          <a:xfrm>
            <a:off x="1524000" y="-33338"/>
            <a:ext cx="914400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90115" name="Rectangle 1027"/>
          <p:cNvSpPr>
            <a:spLocks noGrp="1" noChangeArrowheads="1"/>
          </p:cNvSpPr>
          <p:nvPr>
            <p:ph type="body" idx="4294967295"/>
          </p:nvPr>
        </p:nvSpPr>
        <p:spPr>
          <a:xfrm>
            <a:off x="2209800" y="1268413"/>
            <a:ext cx="7772400" cy="4572000"/>
          </a:xfrm>
        </p:spPr>
        <p:txBody>
          <a:bodyPr/>
          <a:lstStyle/>
          <a:p>
            <a:pPr marL="609600" indent="-609600" eaLnBrk="1" hangingPunct="1">
              <a:buNone/>
            </a:pPr>
            <a:r>
              <a:rPr lang="zh-CN" altLang="en-US"/>
              <a:t>用聚集函数实现</a:t>
            </a:r>
            <a:r>
              <a:rPr lang="en-US" altLang="zh-CN"/>
              <a:t>[</a:t>
            </a:r>
            <a:r>
              <a:rPr lang="zh-CN" altLang="en-US"/>
              <a:t>例</a:t>
            </a:r>
            <a:r>
              <a:rPr lang="en-US" altLang="zh-CN"/>
              <a:t>3.60]</a:t>
            </a:r>
            <a:r>
              <a:rPr lang="en-US" altLang="zh-CN" sz="2400"/>
              <a:t> </a:t>
            </a:r>
            <a:endParaRPr lang="en-US" altLang="zh-CN" sz="2400"/>
          </a:p>
          <a:p>
            <a:pPr marL="609600" indent="-609600" eaLnBrk="1" hangingPunct="1">
              <a:buNone/>
            </a:pPr>
            <a:endParaRPr lang="en-US" altLang="zh-CN" sz="2400"/>
          </a:p>
          <a:p>
            <a:pPr marL="609600" indent="-609600" eaLnBrk="1" hangingPunct="1">
              <a:lnSpc>
                <a:spcPct val="150000"/>
              </a:lnSpc>
              <a:spcBef>
                <a:spcPct val="0"/>
              </a:spcBef>
              <a:buNone/>
            </a:pPr>
            <a:r>
              <a:rPr lang="en-US" altLang="zh-CN" sz="2000"/>
              <a:t>     </a:t>
            </a:r>
            <a:r>
              <a:rPr lang="en-US" altLang="zh-CN" sz="2200"/>
              <a:t>SELECT Sname</a:t>
            </a:r>
            <a:r>
              <a:rPr lang="zh-CN" altLang="en-US" sz="2200"/>
              <a:t>,</a:t>
            </a:r>
            <a:r>
              <a:rPr lang="en-US" altLang="zh-CN" sz="2200"/>
              <a:t>Sbirthdate, Smajor</a:t>
            </a:r>
            <a:endParaRPr lang="en-US" altLang="zh-CN" sz="2200"/>
          </a:p>
          <a:p>
            <a:pPr marL="609600" indent="-609600" eaLnBrk="1" hangingPunct="1">
              <a:lnSpc>
                <a:spcPct val="150000"/>
              </a:lnSpc>
              <a:spcBef>
                <a:spcPct val="0"/>
              </a:spcBef>
              <a:buNone/>
            </a:pPr>
            <a:r>
              <a:rPr lang="en-US" altLang="zh-CN" sz="2200"/>
              <a:t>     FROM   Student</a:t>
            </a:r>
            <a:endParaRPr lang="en-US" altLang="zh-CN" sz="2200"/>
          </a:p>
          <a:p>
            <a:pPr marL="609600" indent="-609600" eaLnBrk="1" hangingPunct="1">
              <a:lnSpc>
                <a:spcPct val="150000"/>
              </a:lnSpc>
              <a:spcBef>
                <a:spcPct val="0"/>
              </a:spcBef>
              <a:buNone/>
            </a:pPr>
            <a:r>
              <a:rPr lang="en-US" altLang="zh-CN" sz="2200"/>
              <a:t>     WHERE Sbirthdate &gt; </a:t>
            </a:r>
            <a:endParaRPr lang="en-US" altLang="zh-CN" sz="2200"/>
          </a:p>
          <a:p>
            <a:pPr marL="609600" indent="-609600" eaLnBrk="1" hangingPunct="1">
              <a:lnSpc>
                <a:spcPct val="150000"/>
              </a:lnSpc>
              <a:spcBef>
                <a:spcPct val="0"/>
              </a:spcBef>
              <a:buNone/>
            </a:pPr>
            <a:r>
              <a:rPr lang="en-US" altLang="zh-CN" sz="2200"/>
              <a:t>                             </a:t>
            </a:r>
            <a:r>
              <a:rPr lang="zh-CN" altLang="en-US" sz="2200"/>
              <a:t>(</a:t>
            </a:r>
            <a:r>
              <a:rPr lang="en-US" altLang="zh-CN" sz="2200"/>
              <a:t>SELECT MIN</a:t>
            </a:r>
            <a:r>
              <a:rPr lang="en-US" altLang="zh-CN" sz="2200">
                <a:solidFill>
                  <a:srgbClr val="FF3399"/>
                </a:solidFill>
              </a:rPr>
              <a:t>(Sbirthdate)</a:t>
            </a:r>
            <a:endParaRPr lang="en-US" altLang="zh-CN" sz="2200"/>
          </a:p>
          <a:p>
            <a:pPr marL="609600" indent="-609600" eaLnBrk="1" hangingPunct="1">
              <a:lnSpc>
                <a:spcPct val="150000"/>
              </a:lnSpc>
              <a:spcBef>
                <a:spcPct val="0"/>
              </a:spcBef>
              <a:buNone/>
            </a:pPr>
            <a:r>
              <a:rPr lang="en-US" altLang="zh-CN" sz="2200"/>
              <a:t>                               FROM Student</a:t>
            </a:r>
            <a:endParaRPr lang="en-US" altLang="zh-CN" sz="2200"/>
          </a:p>
          <a:p>
            <a:pPr marL="609600" indent="-609600" eaLnBrk="1" hangingPunct="1">
              <a:lnSpc>
                <a:spcPct val="150000"/>
              </a:lnSpc>
              <a:spcBef>
                <a:spcPct val="0"/>
              </a:spcBef>
              <a:buNone/>
            </a:pPr>
            <a:r>
              <a:rPr lang="en-US" altLang="zh-CN" sz="2200"/>
              <a:t>                               WHERE Smajor= ‘</a:t>
            </a:r>
            <a:r>
              <a:rPr lang="zh-CN" altLang="en-US" sz="2200"/>
              <a:t>计算机科学与技术</a:t>
            </a:r>
            <a:r>
              <a:rPr lang="en-US" altLang="zh-CN" sz="2200"/>
              <a:t>'</a:t>
            </a:r>
            <a:r>
              <a:rPr lang="zh-CN" altLang="en-US" sz="2200"/>
              <a:t>)</a:t>
            </a:r>
            <a:endParaRPr lang="zh-CN" altLang="en-US" sz="2200"/>
          </a:p>
          <a:p>
            <a:pPr marL="609600" indent="-609600" eaLnBrk="1" hangingPunct="1">
              <a:lnSpc>
                <a:spcPct val="150000"/>
              </a:lnSpc>
              <a:spcBef>
                <a:spcPct val="0"/>
              </a:spcBef>
              <a:buNone/>
            </a:pPr>
            <a:r>
              <a:rPr lang="en-US" altLang="zh-CN" sz="2200"/>
              <a:t>       AND Smajor &lt;&gt;‘</a:t>
            </a:r>
            <a:r>
              <a:rPr lang="zh-CN" altLang="en-US" sz="2200"/>
              <a:t>计算机科学与技术'</a:t>
            </a:r>
            <a:r>
              <a:rPr lang="en-US" altLang="zh-CN" sz="2200"/>
              <a:t>;</a:t>
            </a:r>
            <a:endParaRPr lang="en-US" altLang="zh-CN" sz="220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52227" name="Rectangle 3"/>
          <p:cNvSpPr>
            <a:spLocks noGrp="1" noChangeArrowheads="1"/>
          </p:cNvSpPr>
          <p:nvPr>
            <p:ph type="body" idx="4294967295"/>
          </p:nvPr>
        </p:nvSpPr>
        <p:spPr>
          <a:xfrm>
            <a:off x="1343472" y="1098550"/>
            <a:ext cx="9865096" cy="5283200"/>
          </a:xfrm>
        </p:spPr>
        <p:txBody>
          <a:bodyPr/>
          <a:lstStyle/>
          <a:p>
            <a:pPr marL="0" indent="0" eaLnBrk="1" hangingPunct="1">
              <a:buNone/>
            </a:pPr>
            <a:r>
              <a:rPr lang="en-US" altLang="zh-CN" sz="2400" dirty="0"/>
              <a:t>[</a:t>
            </a:r>
            <a:r>
              <a:rPr lang="zh-CN" altLang="en-US" sz="2400" dirty="0"/>
              <a:t>例</a:t>
            </a:r>
            <a:r>
              <a:rPr lang="en-US" altLang="zh-CN" sz="2400" dirty="0"/>
              <a:t>3.61]</a:t>
            </a:r>
            <a:r>
              <a:rPr lang="zh-CN" altLang="en-US" sz="2400" dirty="0"/>
              <a:t>查询非计算机科学与技术专业中比计算机科学与技术专业所有学生年龄都小（出生日期晚）的学生姓名及出生日期。</a:t>
            </a:r>
            <a:endParaRPr lang="zh-CN" altLang="en-US" sz="2400" dirty="0"/>
          </a:p>
          <a:p>
            <a:pPr marL="0" indent="0" eaLnBrk="1" hangingPunct="1">
              <a:buNone/>
            </a:pPr>
            <a:r>
              <a:rPr lang="en-US" altLang="zh-CN" sz="2400" dirty="0"/>
              <a:t>	SELECT </a:t>
            </a:r>
            <a:r>
              <a:rPr lang="en-US" altLang="zh-CN" sz="2400" dirty="0" err="1"/>
              <a:t>Sname,Sbirthdate</a:t>
            </a:r>
            <a:endParaRPr lang="en-US" altLang="zh-CN" sz="2400" dirty="0"/>
          </a:p>
          <a:p>
            <a:pPr marL="0" indent="0" eaLnBrk="1" hangingPunct="1">
              <a:buNone/>
            </a:pPr>
            <a:r>
              <a:rPr lang="en-US" altLang="zh-CN" sz="2400" dirty="0"/>
              <a:t>	FROM Student</a:t>
            </a:r>
            <a:endParaRPr lang="en-US" altLang="zh-CN" sz="2400" dirty="0"/>
          </a:p>
          <a:p>
            <a:pPr marL="0" indent="0" eaLnBrk="1" hangingPunct="1">
              <a:buNone/>
            </a:pPr>
            <a:r>
              <a:rPr lang="en-US" altLang="zh-CN" sz="2400" dirty="0"/>
              <a:t>	WHERE </a:t>
            </a:r>
            <a:r>
              <a:rPr lang="en-US" altLang="zh-CN" sz="2400" dirty="0" err="1"/>
              <a:t>Sbirthdate</a:t>
            </a:r>
            <a:r>
              <a:rPr lang="en-US" altLang="zh-CN" sz="2400" dirty="0"/>
              <a:t> &gt; ALL</a:t>
            </a:r>
            <a:endParaRPr lang="en-US" altLang="zh-CN" sz="2400" dirty="0"/>
          </a:p>
          <a:p>
            <a:pPr marL="0" indent="0" eaLnBrk="1" hangingPunct="1">
              <a:buNone/>
            </a:pPr>
            <a:r>
              <a:rPr lang="en-US" altLang="zh-CN" sz="2400" dirty="0"/>
              <a:t>	                     (SELECT </a:t>
            </a:r>
            <a:r>
              <a:rPr lang="en-US" altLang="zh-CN" sz="2400" dirty="0" err="1"/>
              <a:t>Sbirthdate</a:t>
            </a:r>
            <a:endParaRPr lang="en-US" altLang="zh-CN" sz="2400" dirty="0"/>
          </a:p>
          <a:p>
            <a:pPr marL="0" indent="0" eaLnBrk="1" hangingPunct="1">
              <a:buNone/>
            </a:pPr>
            <a:r>
              <a:rPr lang="en-US" altLang="zh-CN" sz="2400" dirty="0"/>
              <a:t>	                      FROM Student</a:t>
            </a:r>
            <a:endParaRPr lang="en-US" altLang="zh-CN" sz="2400" dirty="0"/>
          </a:p>
          <a:p>
            <a:pPr marL="0" indent="0" eaLnBrk="1" hangingPunct="1">
              <a:buNone/>
            </a:pPr>
            <a:r>
              <a:rPr lang="en-US" altLang="zh-CN" sz="2400" dirty="0"/>
              <a:t>	                      WHERE </a:t>
            </a:r>
            <a:r>
              <a:rPr lang="en-US" altLang="zh-CN" sz="2400" dirty="0" err="1"/>
              <a:t>Smajor</a:t>
            </a:r>
            <a:r>
              <a:rPr lang="en-US" altLang="zh-CN" sz="2400" dirty="0"/>
              <a:t>='</a:t>
            </a:r>
            <a:r>
              <a:rPr lang="zh-CN" altLang="en-US" sz="2400" dirty="0"/>
              <a:t>计算机科学与技术</a:t>
            </a:r>
            <a:r>
              <a:rPr lang="en-US" altLang="zh-CN" sz="2400" dirty="0"/>
              <a:t>’)</a:t>
            </a:r>
            <a:endParaRPr lang="en-US" altLang="zh-CN" sz="2400" dirty="0"/>
          </a:p>
          <a:p>
            <a:pPr marL="0" indent="0" eaLnBrk="1" hangingPunct="1">
              <a:buNone/>
            </a:pPr>
            <a:r>
              <a:rPr lang="en-US" altLang="zh-CN" sz="2400" dirty="0"/>
              <a:t>	AND </a:t>
            </a:r>
            <a:r>
              <a:rPr lang="en-US" altLang="zh-CN" sz="2400" dirty="0" err="1"/>
              <a:t>Smajor</a:t>
            </a:r>
            <a:r>
              <a:rPr lang="en-US" altLang="zh-CN" sz="2400" dirty="0"/>
              <a:t> &lt;&gt; '</a:t>
            </a:r>
            <a:r>
              <a:rPr lang="zh-CN" altLang="en-US" sz="2400" dirty="0"/>
              <a:t>计算机科学与技术</a:t>
            </a:r>
            <a:r>
              <a:rPr lang="en-US" altLang="zh-CN" sz="2400" dirty="0"/>
              <a:t>';</a:t>
            </a:r>
            <a:endParaRPr lang="en-US" altLang="zh-CN" sz="24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52227" name="Rectangle 3"/>
          <p:cNvSpPr>
            <a:spLocks noGrp="1" noChangeArrowheads="1"/>
          </p:cNvSpPr>
          <p:nvPr>
            <p:ph type="body" idx="4294967295"/>
          </p:nvPr>
        </p:nvSpPr>
        <p:spPr>
          <a:xfrm>
            <a:off x="2135188" y="1098550"/>
            <a:ext cx="7772400" cy="5283200"/>
          </a:xfrm>
        </p:spPr>
        <p:txBody>
          <a:bodyPr/>
          <a:lstStyle/>
          <a:p>
            <a:pPr eaLnBrk="1" hangingPunct="1">
              <a:buFont typeface="Wingdings" panose="05000000000000000000" pitchFamily="2" charset="2"/>
              <a:buChar char="n"/>
            </a:pPr>
            <a:r>
              <a:rPr lang="zh-CN" altLang="en-US" sz="2400"/>
              <a:t>首先处理子查询，找出计算机科学与技术专业中所有学生的年龄，构成一个集合</a:t>
            </a:r>
            <a:r>
              <a:rPr lang="en-US" altLang="zh-CN" sz="2400"/>
              <a:t>(1999-9-1,2001-8-1,2000-1-8)</a:t>
            </a:r>
            <a:endParaRPr lang="en-US" altLang="zh-CN" sz="2400"/>
          </a:p>
          <a:p>
            <a:pPr eaLnBrk="1" hangingPunct="1">
              <a:buFont typeface="Wingdings" panose="05000000000000000000" pitchFamily="2" charset="2"/>
              <a:buChar char="n"/>
            </a:pPr>
            <a:r>
              <a:rPr lang="zh-CN" altLang="en-US" sz="2400"/>
              <a:t>处理父查询，找所有不是计算机科学与技术专业且出生日期晚于集合中所有值的学生。</a:t>
            </a:r>
            <a:endParaRPr lang="zh-CN" altLang="en-US" sz="2400"/>
          </a:p>
          <a:p>
            <a:pPr eaLnBrk="1" hangingPunct="1">
              <a:buFont typeface="宋体" panose="02010600030101010101" pitchFamily="2" charset="-122"/>
              <a:buNone/>
            </a:pPr>
            <a:r>
              <a:rPr lang="zh-CN" altLang="en-US" sz="2400"/>
              <a:t>查询结果为：</a:t>
            </a:r>
            <a:endParaRPr lang="zh-CN" altLang="en-US" sz="2400"/>
          </a:p>
          <a:p>
            <a:pPr eaLnBrk="1" hangingPunct="1">
              <a:buFont typeface="宋体" panose="02010600030101010101" pitchFamily="2" charset="-122"/>
              <a:buNone/>
            </a:pPr>
            <a:r>
              <a:rPr lang="en-US" altLang="zh-CN" sz="2400"/>
              <a:t>	</a:t>
            </a:r>
            <a:endParaRPr lang="en-US" altLang="zh-CN" sz="2400"/>
          </a:p>
        </p:txBody>
      </p:sp>
      <p:graphicFrame>
        <p:nvGraphicFramePr>
          <p:cNvPr id="2" name="表格 1"/>
          <p:cNvGraphicFramePr>
            <a:graphicFrameLocks noGrp="1"/>
          </p:cNvGraphicFramePr>
          <p:nvPr/>
        </p:nvGraphicFramePr>
        <p:xfrm>
          <a:off x="4079875" y="4076700"/>
          <a:ext cx="3887788" cy="1295400"/>
        </p:xfrm>
        <a:graphic>
          <a:graphicData uri="http://schemas.openxmlformats.org/drawingml/2006/table">
            <a:tbl>
              <a:tblPr/>
              <a:tblGrid>
                <a:gridCol w="1944688"/>
                <a:gridCol w="1943100"/>
              </a:tblGrid>
              <a:tr h="431800">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1800">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r h="431800">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idx="4294967295"/>
          </p:nvPr>
        </p:nvSpPr>
        <p:spPr>
          <a:xfrm>
            <a:off x="1524001" y="-33338"/>
            <a:ext cx="9180513"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93187" name="Rectangle 3"/>
          <p:cNvSpPr>
            <a:spLocks noGrp="1" noChangeArrowheads="1"/>
          </p:cNvSpPr>
          <p:nvPr>
            <p:ph type="body" idx="4294967295"/>
          </p:nvPr>
        </p:nvSpPr>
        <p:spPr>
          <a:xfrm>
            <a:off x="2135189" y="1098550"/>
            <a:ext cx="8353425" cy="4572000"/>
          </a:xfrm>
        </p:spPr>
        <p:txBody>
          <a:bodyPr/>
          <a:lstStyle/>
          <a:p>
            <a:pPr marL="609600" indent="-609600" eaLnBrk="1" hangingPunct="1">
              <a:lnSpc>
                <a:spcPct val="120000"/>
              </a:lnSpc>
              <a:buNone/>
            </a:pPr>
            <a:r>
              <a:rPr lang="zh-CN" altLang="en-US" sz="2400" dirty="0"/>
              <a:t>用聚集函数实现：</a:t>
            </a:r>
            <a:endParaRPr lang="en-US" altLang="zh-CN" sz="2400" dirty="0"/>
          </a:p>
          <a:p>
            <a:pPr marL="609600" indent="-609600" eaLnBrk="1" hangingPunct="1">
              <a:lnSpc>
                <a:spcPct val="120000"/>
              </a:lnSpc>
              <a:spcBef>
                <a:spcPct val="0"/>
              </a:spcBef>
              <a:buNone/>
            </a:pPr>
            <a:r>
              <a:rPr lang="en-US" altLang="zh-CN" sz="2400" dirty="0"/>
              <a:t>	SELECT </a:t>
            </a:r>
            <a:r>
              <a:rPr lang="en-US" altLang="zh-CN" sz="2400" dirty="0" err="1"/>
              <a:t>Sname,Sbirthdate</a:t>
            </a:r>
            <a:endParaRPr lang="en-US" altLang="zh-CN" sz="2400" dirty="0"/>
          </a:p>
          <a:p>
            <a:pPr marL="609600" indent="-609600" eaLnBrk="1" hangingPunct="1">
              <a:lnSpc>
                <a:spcPct val="120000"/>
              </a:lnSpc>
              <a:spcBef>
                <a:spcPct val="0"/>
              </a:spcBef>
              <a:buNone/>
            </a:pPr>
            <a:r>
              <a:rPr lang="en-US" altLang="zh-CN" sz="2400" dirty="0"/>
              <a:t>	FROM Student</a:t>
            </a:r>
            <a:endParaRPr lang="en-US" altLang="zh-CN" sz="2400" dirty="0"/>
          </a:p>
          <a:p>
            <a:pPr marL="609600" indent="-609600" eaLnBrk="1" hangingPunct="1">
              <a:lnSpc>
                <a:spcPct val="120000"/>
              </a:lnSpc>
              <a:spcBef>
                <a:spcPct val="0"/>
              </a:spcBef>
              <a:buNone/>
            </a:pPr>
            <a:r>
              <a:rPr lang="en-US" altLang="zh-CN" sz="2400" dirty="0"/>
              <a:t>	WHERE </a:t>
            </a:r>
            <a:r>
              <a:rPr lang="en-US" altLang="zh-CN" sz="2400" dirty="0" err="1"/>
              <a:t>Sbirthdate</a:t>
            </a:r>
            <a:r>
              <a:rPr lang="en-US" altLang="zh-CN" sz="2400" dirty="0"/>
              <a:t> &gt;</a:t>
            </a:r>
            <a:endParaRPr lang="en-US" altLang="zh-CN" sz="2400" dirty="0"/>
          </a:p>
          <a:p>
            <a:pPr marL="609600" indent="-609600" eaLnBrk="1" hangingPunct="1">
              <a:lnSpc>
                <a:spcPct val="120000"/>
              </a:lnSpc>
              <a:spcBef>
                <a:spcPct val="0"/>
              </a:spcBef>
              <a:buNone/>
            </a:pPr>
            <a:r>
              <a:rPr lang="en-US" altLang="zh-CN" sz="2400" dirty="0"/>
              <a:t>    	             (SELECT MAX(</a:t>
            </a:r>
            <a:r>
              <a:rPr lang="en-US" altLang="zh-CN" sz="2400" dirty="0" err="1"/>
              <a:t>Sbirthdate</a:t>
            </a:r>
            <a:r>
              <a:rPr lang="en-US" altLang="zh-CN" sz="2400" dirty="0"/>
              <a:t>)  </a:t>
            </a:r>
            <a:endParaRPr lang="en-US" altLang="zh-CN" sz="2400" dirty="0"/>
          </a:p>
          <a:p>
            <a:pPr marL="609600" indent="-609600" eaLnBrk="1" hangingPunct="1">
              <a:lnSpc>
                <a:spcPct val="120000"/>
              </a:lnSpc>
              <a:spcBef>
                <a:spcPct val="0"/>
              </a:spcBef>
              <a:buNone/>
            </a:pPr>
            <a:r>
              <a:rPr lang="en-US" altLang="zh-CN" sz="2400" dirty="0"/>
              <a:t>		</a:t>
            </a:r>
            <a:r>
              <a:rPr lang="en-US" altLang="zh-CN" sz="1800" dirty="0"/>
              <a:t>                          /*</a:t>
            </a:r>
            <a:r>
              <a:rPr lang="zh-CN" altLang="en-US" sz="1800" dirty="0"/>
              <a:t>计算机科学与技术专业所有学生中最晚出生日期*</a:t>
            </a:r>
            <a:r>
              <a:rPr lang="en-US" altLang="zh-CN" sz="1800" dirty="0"/>
              <a:t>/</a:t>
            </a:r>
            <a:endParaRPr lang="en-US" altLang="zh-CN" sz="1800" dirty="0"/>
          </a:p>
          <a:p>
            <a:pPr marL="609600" indent="-609600" eaLnBrk="1" hangingPunct="1">
              <a:lnSpc>
                <a:spcPct val="120000"/>
              </a:lnSpc>
              <a:spcBef>
                <a:spcPct val="0"/>
              </a:spcBef>
              <a:buNone/>
            </a:pPr>
            <a:r>
              <a:rPr lang="en-US" altLang="zh-CN" sz="2400" dirty="0"/>
              <a:t>			FROM Student</a:t>
            </a:r>
            <a:endParaRPr lang="en-US" altLang="zh-CN" sz="2400" dirty="0"/>
          </a:p>
          <a:p>
            <a:pPr marL="609600" indent="-609600" eaLnBrk="1" hangingPunct="1">
              <a:lnSpc>
                <a:spcPct val="120000"/>
              </a:lnSpc>
              <a:spcBef>
                <a:spcPct val="0"/>
              </a:spcBef>
              <a:buNone/>
            </a:pPr>
            <a:r>
              <a:rPr lang="en-US" altLang="zh-CN" sz="2400" dirty="0"/>
              <a:t>			WHERE </a:t>
            </a:r>
            <a:r>
              <a:rPr lang="en-US" altLang="zh-CN" sz="2400" dirty="0" err="1"/>
              <a:t>Smajor</a:t>
            </a:r>
            <a:r>
              <a:rPr lang="en-US" altLang="zh-CN" sz="2400" dirty="0"/>
              <a:t>='</a:t>
            </a:r>
            <a:r>
              <a:rPr lang="zh-CN" altLang="en-US" sz="2400" dirty="0"/>
              <a:t>计算机科学与技术</a:t>
            </a:r>
            <a:r>
              <a:rPr lang="en-US" altLang="zh-CN" sz="2400" dirty="0"/>
              <a:t>’)</a:t>
            </a:r>
            <a:endParaRPr lang="en-US" altLang="zh-CN" sz="2400" dirty="0"/>
          </a:p>
          <a:p>
            <a:pPr marL="609600" indent="-609600" eaLnBrk="1" hangingPunct="1">
              <a:lnSpc>
                <a:spcPct val="120000"/>
              </a:lnSpc>
              <a:spcBef>
                <a:spcPct val="0"/>
              </a:spcBef>
              <a:buNone/>
            </a:pPr>
            <a:r>
              <a:rPr lang="en-US" altLang="zh-CN" sz="2400" dirty="0"/>
              <a:t>	AND </a:t>
            </a:r>
            <a:r>
              <a:rPr lang="en-US" altLang="zh-CN" sz="2400" dirty="0" err="1"/>
              <a:t>Smajor</a:t>
            </a:r>
            <a:r>
              <a:rPr lang="en-US" altLang="zh-CN" sz="2400" dirty="0"/>
              <a:t> &lt;&gt;'</a:t>
            </a:r>
            <a:r>
              <a:rPr lang="zh-CN" altLang="en-US" sz="2400" dirty="0"/>
              <a:t>计算机科学与技术</a:t>
            </a:r>
            <a:r>
              <a:rPr lang="en-US" altLang="zh-CN" sz="2400" dirty="0"/>
              <a:t>';</a:t>
            </a:r>
            <a:endParaRPr lang="en-US" altLang="zh-CN" sz="24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a:xfrm>
            <a:off x="1495425" y="-33338"/>
            <a:ext cx="9209088"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endParaRPr lang="zh-CN" altLang="en-US" sz="3200"/>
          </a:p>
        </p:txBody>
      </p:sp>
      <p:sp>
        <p:nvSpPr>
          <p:cNvPr id="94211" name="Rectangle 3"/>
          <p:cNvSpPr>
            <a:spLocks noGrp="1" noChangeArrowheads="1"/>
          </p:cNvSpPr>
          <p:nvPr>
            <p:ph type="body" idx="4294967295"/>
          </p:nvPr>
        </p:nvSpPr>
        <p:spPr>
          <a:xfrm>
            <a:off x="1589089" y="1276350"/>
            <a:ext cx="9210675" cy="890588"/>
          </a:xfrm>
        </p:spPr>
        <p:txBody>
          <a:bodyPr/>
          <a:lstStyle/>
          <a:p>
            <a:pPr marL="609600" indent="-609600" eaLnBrk="1" hangingPunct="1">
              <a:buNone/>
            </a:pPr>
            <a:r>
              <a:rPr lang="en-US" altLang="zh-CN" sz="2400"/>
              <a:t>ANY</a:t>
            </a:r>
            <a:r>
              <a:rPr lang="zh-CN" altLang="en-US" sz="2400"/>
              <a:t>（或</a:t>
            </a:r>
            <a:r>
              <a:rPr lang="en-US" altLang="zh-CN" sz="2400"/>
              <a:t>SOME</a:t>
            </a:r>
            <a:r>
              <a:rPr lang="zh-CN" altLang="en-US" sz="2400"/>
              <a:t>），</a:t>
            </a:r>
            <a:r>
              <a:rPr lang="en-US" altLang="zh-CN" sz="2400"/>
              <a:t>ALL</a:t>
            </a:r>
            <a:r>
              <a:rPr lang="zh-CN" altLang="en-US" sz="2400"/>
              <a:t>谓词与聚集函数、</a:t>
            </a:r>
            <a:r>
              <a:rPr lang="en-US" altLang="zh-CN" sz="2400"/>
              <a:t>IN</a:t>
            </a:r>
            <a:r>
              <a:rPr lang="zh-CN" altLang="en-US" sz="2400"/>
              <a:t>谓词的等价转换关系 </a:t>
            </a:r>
            <a:endParaRPr lang="zh-CN" altLang="en-US" sz="2400"/>
          </a:p>
        </p:txBody>
      </p:sp>
      <p:grpSp>
        <p:nvGrpSpPr>
          <p:cNvPr id="94212" name="Group 4"/>
          <p:cNvGrpSpPr/>
          <p:nvPr/>
        </p:nvGrpSpPr>
        <p:grpSpPr bwMode="auto">
          <a:xfrm>
            <a:off x="2044700" y="2589213"/>
            <a:ext cx="8299450" cy="1831434"/>
            <a:chOff x="0" y="0"/>
            <a:chExt cx="4065" cy="1159"/>
          </a:xfrm>
        </p:grpSpPr>
        <p:grpSp>
          <p:nvGrpSpPr>
            <p:cNvPr id="94213" name="Group 5"/>
            <p:cNvGrpSpPr/>
            <p:nvPr/>
          </p:nvGrpSpPr>
          <p:grpSpPr bwMode="auto">
            <a:xfrm>
              <a:off x="3" y="3"/>
              <a:ext cx="4059" cy="1156"/>
              <a:chOff x="0" y="0"/>
              <a:chExt cx="4059" cy="1156"/>
            </a:xfrm>
          </p:grpSpPr>
          <p:grpSp>
            <p:nvGrpSpPr>
              <p:cNvPr id="94215" name="Group 6"/>
              <p:cNvGrpSpPr/>
              <p:nvPr/>
            </p:nvGrpSpPr>
            <p:grpSpPr bwMode="auto">
              <a:xfrm>
                <a:off x="0" y="0"/>
                <a:ext cx="493" cy="380"/>
                <a:chOff x="0" y="0"/>
                <a:chExt cx="493" cy="380"/>
              </a:xfrm>
            </p:grpSpPr>
            <p:sp>
              <p:nvSpPr>
                <p:cNvPr id="94276" name="Rectangle 7"/>
                <p:cNvSpPr>
                  <a:spLocks noChangeArrowheads="1"/>
                </p:cNvSpPr>
                <p:nvPr/>
              </p:nvSpPr>
              <p:spPr bwMode="auto">
                <a:xfrm>
                  <a:off x="44" y="0"/>
                  <a:ext cx="406"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900" b="0"/>
                    <a:t> </a:t>
                  </a:r>
                  <a:endParaRPr lang="en-US" altLang="zh-CN" sz="900" b="0"/>
                </a:p>
                <a:p>
                  <a:pPr>
                    <a:spcBef>
                      <a:spcPct val="0"/>
                    </a:spcBef>
                    <a:buSzTx/>
                    <a:buFont typeface="Arial" panose="020B0604020202020204" pitchFamily="34" charset="0"/>
                    <a:buNone/>
                  </a:pPr>
                  <a:endParaRPr lang="en-US" altLang="zh-CN" sz="2400" b="0"/>
                </a:p>
              </p:txBody>
            </p:sp>
            <p:sp>
              <p:nvSpPr>
                <p:cNvPr id="94277" name="Rectangle 8"/>
                <p:cNvSpPr>
                  <a:spLocks noChangeArrowheads="1"/>
                </p:cNvSpPr>
                <p:nvPr/>
              </p:nvSpPr>
              <p:spPr bwMode="auto">
                <a:xfrm>
                  <a:off x="0" y="0"/>
                  <a:ext cx="493"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6" name="Group 9"/>
              <p:cNvGrpSpPr/>
              <p:nvPr/>
            </p:nvGrpSpPr>
            <p:grpSpPr bwMode="auto">
              <a:xfrm>
                <a:off x="493" y="0"/>
                <a:ext cx="396" cy="292"/>
                <a:chOff x="0" y="0"/>
                <a:chExt cx="396" cy="292"/>
              </a:xfrm>
            </p:grpSpPr>
            <p:sp>
              <p:nvSpPr>
                <p:cNvPr id="94274" name="Rectangle 10"/>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endParaRPr lang="en-US" altLang="zh-CN" sz="2400"/>
                </a:p>
              </p:txBody>
            </p:sp>
            <p:sp>
              <p:nvSpPr>
                <p:cNvPr id="94275" name="Rectangle 11"/>
                <p:cNvSpPr>
                  <a:spLocks noChangeArrowheads="1"/>
                </p:cNvSpPr>
                <p:nvPr/>
              </p:nvSpPr>
              <p:spPr bwMode="auto">
                <a:xfrm>
                  <a:off x="0" y="0"/>
                  <a:ext cx="39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7" name="Group 12"/>
              <p:cNvGrpSpPr/>
              <p:nvPr/>
            </p:nvGrpSpPr>
            <p:grpSpPr bwMode="auto">
              <a:xfrm>
                <a:off x="889" y="0"/>
                <a:ext cx="656" cy="292"/>
                <a:chOff x="0" y="0"/>
                <a:chExt cx="656" cy="292"/>
              </a:xfrm>
            </p:grpSpPr>
            <p:sp>
              <p:nvSpPr>
                <p:cNvPr id="94272" name="Rectangle 13"/>
                <p:cNvSpPr>
                  <a:spLocks noChangeArrowheads="1"/>
                </p:cNvSpPr>
                <p:nvPr/>
              </p:nvSpPr>
              <p:spPr bwMode="auto">
                <a:xfrm>
                  <a:off x="45"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r>
                    <a:rPr lang="en-US" altLang="zh-CN" sz="2000"/>
                    <a:t>&lt;&gt;</a:t>
                  </a:r>
                  <a:r>
                    <a:rPr lang="zh-CN" altLang="en-US" sz="2000"/>
                    <a:t>或</a:t>
                  </a:r>
                  <a:r>
                    <a:rPr lang="en-US" altLang="zh-CN" sz="2000"/>
                    <a:t>!=</a:t>
                  </a:r>
                  <a:endParaRPr lang="en-US" altLang="zh-CN" sz="2000"/>
                </a:p>
              </p:txBody>
            </p:sp>
            <p:sp>
              <p:nvSpPr>
                <p:cNvPr id="94273" name="Rectangle 14"/>
                <p:cNvSpPr>
                  <a:spLocks noChangeArrowheads="1"/>
                </p:cNvSpPr>
                <p:nvPr/>
              </p:nvSpPr>
              <p:spPr bwMode="auto">
                <a:xfrm>
                  <a:off x="0" y="0"/>
                  <a:ext cx="65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8" name="Group 15"/>
              <p:cNvGrpSpPr/>
              <p:nvPr/>
            </p:nvGrpSpPr>
            <p:grpSpPr bwMode="auto">
              <a:xfrm>
                <a:off x="1545" y="0"/>
                <a:ext cx="617" cy="251"/>
                <a:chOff x="0" y="0"/>
                <a:chExt cx="617" cy="251"/>
              </a:xfrm>
            </p:grpSpPr>
            <p:sp>
              <p:nvSpPr>
                <p:cNvPr id="94270" name="Rectangle 16"/>
                <p:cNvSpPr>
                  <a:spLocks noChangeArrowheads="1"/>
                </p:cNvSpPr>
                <p:nvPr/>
              </p:nvSpPr>
              <p:spPr bwMode="auto">
                <a:xfrm>
                  <a:off x="43" y="0"/>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   &lt;</a:t>
                  </a:r>
                  <a:endParaRPr lang="en-US" altLang="zh-CN" sz="2000"/>
                </a:p>
              </p:txBody>
            </p:sp>
            <p:sp>
              <p:nvSpPr>
                <p:cNvPr id="94271" name="Rectangle 17"/>
                <p:cNvSpPr>
                  <a:spLocks noChangeArrowheads="1"/>
                </p:cNvSpPr>
                <p:nvPr/>
              </p:nvSpPr>
              <p:spPr bwMode="auto">
                <a:xfrm>
                  <a:off x="0" y="0"/>
                  <a:ext cx="61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9" name="Group 18"/>
              <p:cNvGrpSpPr/>
              <p:nvPr/>
            </p:nvGrpSpPr>
            <p:grpSpPr bwMode="auto">
              <a:xfrm>
                <a:off x="2162" y="0"/>
                <a:ext cx="655" cy="292"/>
                <a:chOff x="0" y="0"/>
                <a:chExt cx="655" cy="292"/>
              </a:xfrm>
            </p:grpSpPr>
            <p:sp>
              <p:nvSpPr>
                <p:cNvPr id="94268" name="Rectangle 19"/>
                <p:cNvSpPr>
                  <a:spLocks noChangeArrowheads="1"/>
                </p:cNvSpPr>
                <p:nvPr/>
              </p:nvSpPr>
              <p:spPr bwMode="auto">
                <a:xfrm>
                  <a:off x="43" y="0"/>
                  <a:ext cx="56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&lt;=</a:t>
                  </a:r>
                  <a:endParaRPr lang="en-US" altLang="zh-CN" sz="2400"/>
                </a:p>
              </p:txBody>
            </p:sp>
            <p:sp>
              <p:nvSpPr>
                <p:cNvPr id="94269" name="Rectangle 20"/>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0" name="Group 21"/>
              <p:cNvGrpSpPr/>
              <p:nvPr/>
            </p:nvGrpSpPr>
            <p:grpSpPr bwMode="auto">
              <a:xfrm>
                <a:off x="2817" y="0"/>
                <a:ext cx="587" cy="292"/>
                <a:chOff x="0" y="0"/>
                <a:chExt cx="587" cy="292"/>
              </a:xfrm>
            </p:grpSpPr>
            <p:sp>
              <p:nvSpPr>
                <p:cNvPr id="94266" name="Rectangle 22"/>
                <p:cNvSpPr>
                  <a:spLocks noChangeArrowheads="1"/>
                </p:cNvSpPr>
                <p:nvPr/>
              </p:nvSpPr>
              <p:spPr bwMode="auto">
                <a:xfrm>
                  <a:off x="43" y="0"/>
                  <a:ext cx="50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&gt;</a:t>
                  </a:r>
                  <a:endParaRPr lang="en-US" altLang="zh-CN" sz="2400"/>
                </a:p>
              </p:txBody>
            </p:sp>
            <p:sp>
              <p:nvSpPr>
                <p:cNvPr id="94267" name="Rectangle 23"/>
                <p:cNvSpPr>
                  <a:spLocks noChangeArrowheads="1"/>
                </p:cNvSpPr>
                <p:nvPr/>
              </p:nvSpPr>
              <p:spPr bwMode="auto">
                <a:xfrm>
                  <a:off x="0" y="0"/>
                  <a:ext cx="58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1" name="Group 24"/>
              <p:cNvGrpSpPr/>
              <p:nvPr/>
            </p:nvGrpSpPr>
            <p:grpSpPr bwMode="auto">
              <a:xfrm>
                <a:off x="3404" y="0"/>
                <a:ext cx="655" cy="292"/>
                <a:chOff x="0" y="0"/>
                <a:chExt cx="655" cy="292"/>
              </a:xfrm>
            </p:grpSpPr>
            <p:sp>
              <p:nvSpPr>
                <p:cNvPr id="94264" name="Rectangle 25"/>
                <p:cNvSpPr>
                  <a:spLocks noChangeArrowheads="1"/>
                </p:cNvSpPr>
                <p:nvPr/>
              </p:nvSpPr>
              <p:spPr bwMode="auto">
                <a:xfrm>
                  <a:off x="43"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&gt;=</a:t>
                  </a:r>
                  <a:endParaRPr lang="en-US" altLang="zh-CN" sz="2400"/>
                </a:p>
              </p:txBody>
            </p:sp>
            <p:sp>
              <p:nvSpPr>
                <p:cNvPr id="94265" name="Rectangle 26"/>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2" name="Group 27"/>
              <p:cNvGrpSpPr/>
              <p:nvPr/>
            </p:nvGrpSpPr>
            <p:grpSpPr bwMode="auto">
              <a:xfrm>
                <a:off x="0" y="432"/>
                <a:ext cx="493" cy="253"/>
                <a:chOff x="0" y="0"/>
                <a:chExt cx="493" cy="253"/>
              </a:xfrm>
            </p:grpSpPr>
            <p:sp>
              <p:nvSpPr>
                <p:cNvPr id="94262" name="Rectangle 28"/>
                <p:cNvSpPr>
                  <a:spLocks noChangeArrowheads="1"/>
                </p:cNvSpPr>
                <p:nvPr/>
              </p:nvSpPr>
              <p:spPr bwMode="auto">
                <a:xfrm>
                  <a:off x="44" y="2"/>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ANY</a:t>
                  </a:r>
                  <a:endParaRPr lang="en-US" altLang="zh-CN" sz="2000"/>
                </a:p>
              </p:txBody>
            </p:sp>
            <p:sp>
              <p:nvSpPr>
                <p:cNvPr id="94263" name="Rectangle 29"/>
                <p:cNvSpPr>
                  <a:spLocks noChangeArrowheads="1"/>
                </p:cNvSpPr>
                <p:nvPr/>
              </p:nvSpPr>
              <p:spPr bwMode="auto">
                <a:xfrm>
                  <a:off x="0" y="0"/>
                  <a:ext cx="493"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3" name="Group 30"/>
              <p:cNvGrpSpPr/>
              <p:nvPr/>
            </p:nvGrpSpPr>
            <p:grpSpPr bwMode="auto">
              <a:xfrm>
                <a:off x="493" y="432"/>
                <a:ext cx="396" cy="253"/>
                <a:chOff x="0" y="0"/>
                <a:chExt cx="396" cy="253"/>
              </a:xfrm>
            </p:grpSpPr>
            <p:sp>
              <p:nvSpPr>
                <p:cNvPr id="94260" name="Rectangle 31"/>
                <p:cNvSpPr>
                  <a:spLocks noChangeArrowheads="1"/>
                </p:cNvSpPr>
                <p:nvPr/>
              </p:nvSpPr>
              <p:spPr bwMode="auto">
                <a:xfrm>
                  <a:off x="43" y="2"/>
                  <a:ext cx="31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 IN</a:t>
                  </a:r>
                  <a:endParaRPr lang="en-US" altLang="zh-CN" sz="2000"/>
                </a:p>
              </p:txBody>
            </p:sp>
            <p:sp>
              <p:nvSpPr>
                <p:cNvPr id="94261" name="Rectangle 32"/>
                <p:cNvSpPr>
                  <a:spLocks noChangeArrowheads="1"/>
                </p:cNvSpPr>
                <p:nvPr/>
              </p:nvSpPr>
              <p:spPr bwMode="auto">
                <a:xfrm>
                  <a:off x="0" y="0"/>
                  <a:ext cx="39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4" name="Group 33"/>
              <p:cNvGrpSpPr/>
              <p:nvPr/>
            </p:nvGrpSpPr>
            <p:grpSpPr bwMode="auto">
              <a:xfrm>
                <a:off x="889" y="432"/>
                <a:ext cx="656" cy="253"/>
                <a:chOff x="0" y="0"/>
                <a:chExt cx="656" cy="253"/>
              </a:xfrm>
            </p:grpSpPr>
            <p:sp>
              <p:nvSpPr>
                <p:cNvPr id="94258" name="Rectangle 34"/>
                <p:cNvSpPr>
                  <a:spLocks noChangeArrowheads="1"/>
                </p:cNvSpPr>
                <p:nvPr/>
              </p:nvSpPr>
              <p:spPr bwMode="auto">
                <a:xfrm>
                  <a:off x="45"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a:t>
                  </a:r>
                  <a:endParaRPr lang="en-US" altLang="zh-CN" sz="2000"/>
                </a:p>
              </p:txBody>
            </p:sp>
            <p:sp>
              <p:nvSpPr>
                <p:cNvPr id="94259" name="Rectangle 35"/>
                <p:cNvSpPr>
                  <a:spLocks noChangeArrowheads="1"/>
                </p:cNvSpPr>
                <p:nvPr/>
              </p:nvSpPr>
              <p:spPr bwMode="auto">
                <a:xfrm>
                  <a:off x="0" y="0"/>
                  <a:ext cx="65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5" name="Group 36"/>
              <p:cNvGrpSpPr/>
              <p:nvPr/>
            </p:nvGrpSpPr>
            <p:grpSpPr bwMode="auto">
              <a:xfrm>
                <a:off x="1545" y="432"/>
                <a:ext cx="617" cy="253"/>
                <a:chOff x="0" y="0"/>
                <a:chExt cx="617" cy="253"/>
              </a:xfrm>
            </p:grpSpPr>
            <p:sp>
              <p:nvSpPr>
                <p:cNvPr id="94256" name="Rectangle 37"/>
                <p:cNvSpPr>
                  <a:spLocks noChangeArrowheads="1"/>
                </p:cNvSpPr>
                <p:nvPr/>
              </p:nvSpPr>
              <p:spPr bwMode="auto">
                <a:xfrm>
                  <a:off x="43" y="2"/>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&lt;MAX</a:t>
                  </a:r>
                  <a:endParaRPr lang="en-US" altLang="zh-CN" sz="2000"/>
                </a:p>
              </p:txBody>
            </p:sp>
            <p:sp>
              <p:nvSpPr>
                <p:cNvPr id="94257" name="Rectangle 38"/>
                <p:cNvSpPr>
                  <a:spLocks noChangeArrowheads="1"/>
                </p:cNvSpPr>
                <p:nvPr/>
              </p:nvSpPr>
              <p:spPr bwMode="auto">
                <a:xfrm>
                  <a:off x="0" y="0"/>
                  <a:ext cx="61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6" name="Group 39"/>
              <p:cNvGrpSpPr/>
              <p:nvPr/>
            </p:nvGrpSpPr>
            <p:grpSpPr bwMode="auto">
              <a:xfrm>
                <a:off x="2162" y="432"/>
                <a:ext cx="655" cy="253"/>
                <a:chOff x="0" y="0"/>
                <a:chExt cx="655" cy="253"/>
              </a:xfrm>
            </p:grpSpPr>
            <p:sp>
              <p:nvSpPr>
                <p:cNvPr id="94254" name="Rectangle 40"/>
                <p:cNvSpPr>
                  <a:spLocks noChangeArrowheads="1"/>
                </p:cNvSpPr>
                <p:nvPr/>
              </p:nvSpPr>
              <p:spPr bwMode="auto">
                <a:xfrm>
                  <a:off x="43" y="2"/>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&lt;=MAX</a:t>
                  </a:r>
                  <a:endParaRPr lang="en-US" altLang="zh-CN" sz="2000"/>
                </a:p>
              </p:txBody>
            </p:sp>
            <p:sp>
              <p:nvSpPr>
                <p:cNvPr id="94255" name="Rectangle 41"/>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7" name="Group 42"/>
              <p:cNvGrpSpPr/>
              <p:nvPr/>
            </p:nvGrpSpPr>
            <p:grpSpPr bwMode="auto">
              <a:xfrm>
                <a:off x="2817" y="432"/>
                <a:ext cx="587" cy="253"/>
                <a:chOff x="0" y="0"/>
                <a:chExt cx="587" cy="253"/>
              </a:xfrm>
            </p:grpSpPr>
            <p:sp>
              <p:nvSpPr>
                <p:cNvPr id="94252" name="Rectangle 43"/>
                <p:cNvSpPr>
                  <a:spLocks noChangeArrowheads="1"/>
                </p:cNvSpPr>
                <p:nvPr/>
              </p:nvSpPr>
              <p:spPr bwMode="auto">
                <a:xfrm>
                  <a:off x="43" y="2"/>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&gt;MIN</a:t>
                  </a:r>
                  <a:endParaRPr lang="en-US" altLang="zh-CN" sz="2000"/>
                </a:p>
              </p:txBody>
            </p:sp>
            <p:sp>
              <p:nvSpPr>
                <p:cNvPr id="94253" name="Rectangle 44"/>
                <p:cNvSpPr>
                  <a:spLocks noChangeArrowheads="1"/>
                </p:cNvSpPr>
                <p:nvPr/>
              </p:nvSpPr>
              <p:spPr bwMode="auto">
                <a:xfrm>
                  <a:off x="0" y="0"/>
                  <a:ext cx="58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8" name="Group 45"/>
              <p:cNvGrpSpPr/>
              <p:nvPr/>
            </p:nvGrpSpPr>
            <p:grpSpPr bwMode="auto">
              <a:xfrm>
                <a:off x="3404" y="432"/>
                <a:ext cx="655" cy="253"/>
                <a:chOff x="0" y="0"/>
                <a:chExt cx="655" cy="253"/>
              </a:xfrm>
            </p:grpSpPr>
            <p:sp>
              <p:nvSpPr>
                <p:cNvPr id="94250" name="Rectangle 46"/>
                <p:cNvSpPr>
                  <a:spLocks noChangeArrowheads="1"/>
                </p:cNvSpPr>
                <p:nvPr/>
              </p:nvSpPr>
              <p:spPr bwMode="auto">
                <a:xfrm>
                  <a:off x="43"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 MIN</a:t>
                  </a:r>
                  <a:endParaRPr lang="en-US" altLang="zh-CN" sz="2000"/>
                </a:p>
              </p:txBody>
            </p:sp>
            <p:sp>
              <p:nvSpPr>
                <p:cNvPr id="94251" name="Rectangle 47"/>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9" name="Group 48"/>
              <p:cNvGrpSpPr/>
              <p:nvPr/>
            </p:nvGrpSpPr>
            <p:grpSpPr bwMode="auto">
              <a:xfrm>
                <a:off x="0" y="864"/>
                <a:ext cx="493" cy="251"/>
                <a:chOff x="0" y="0"/>
                <a:chExt cx="493" cy="251"/>
              </a:xfrm>
            </p:grpSpPr>
            <p:sp>
              <p:nvSpPr>
                <p:cNvPr id="94248" name="Rectangle 49"/>
                <p:cNvSpPr>
                  <a:spLocks noChangeArrowheads="1"/>
                </p:cNvSpPr>
                <p:nvPr/>
              </p:nvSpPr>
              <p:spPr bwMode="auto">
                <a:xfrm>
                  <a:off x="44" y="0"/>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ALL</a:t>
                  </a:r>
                  <a:endParaRPr lang="en-US" altLang="zh-CN" sz="2000"/>
                </a:p>
              </p:txBody>
            </p:sp>
            <p:sp>
              <p:nvSpPr>
                <p:cNvPr id="94249" name="Rectangle 50"/>
                <p:cNvSpPr>
                  <a:spLocks noChangeArrowheads="1"/>
                </p:cNvSpPr>
                <p:nvPr/>
              </p:nvSpPr>
              <p:spPr bwMode="auto">
                <a:xfrm>
                  <a:off x="0" y="0"/>
                  <a:ext cx="493"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0" name="Group 51"/>
              <p:cNvGrpSpPr/>
              <p:nvPr/>
            </p:nvGrpSpPr>
            <p:grpSpPr bwMode="auto">
              <a:xfrm>
                <a:off x="493" y="864"/>
                <a:ext cx="396" cy="292"/>
                <a:chOff x="0" y="0"/>
                <a:chExt cx="396" cy="292"/>
              </a:xfrm>
            </p:grpSpPr>
            <p:sp>
              <p:nvSpPr>
                <p:cNvPr id="94246" name="Rectangle 52"/>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endParaRPr lang="en-US" altLang="zh-CN" sz="2400"/>
                </a:p>
              </p:txBody>
            </p:sp>
            <p:sp>
              <p:nvSpPr>
                <p:cNvPr id="94247" name="Rectangle 53"/>
                <p:cNvSpPr>
                  <a:spLocks noChangeArrowheads="1"/>
                </p:cNvSpPr>
                <p:nvPr/>
              </p:nvSpPr>
              <p:spPr bwMode="auto">
                <a:xfrm>
                  <a:off x="0" y="0"/>
                  <a:ext cx="39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1" name="Group 54"/>
              <p:cNvGrpSpPr/>
              <p:nvPr/>
            </p:nvGrpSpPr>
            <p:grpSpPr bwMode="auto">
              <a:xfrm>
                <a:off x="889" y="864"/>
                <a:ext cx="656" cy="251"/>
                <a:chOff x="0" y="0"/>
                <a:chExt cx="656" cy="251"/>
              </a:xfrm>
            </p:grpSpPr>
            <p:sp>
              <p:nvSpPr>
                <p:cNvPr id="94244" name="Rectangle 55"/>
                <p:cNvSpPr>
                  <a:spLocks noChangeArrowheads="1"/>
                </p:cNvSpPr>
                <p:nvPr/>
              </p:nvSpPr>
              <p:spPr bwMode="auto">
                <a:xfrm>
                  <a:off x="45" y="0"/>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 </a:t>
                  </a:r>
                  <a:r>
                    <a:rPr lang="en-US" altLang="zh-CN" sz="1800"/>
                    <a:t>NOT IN</a:t>
                  </a:r>
                  <a:endParaRPr lang="en-US" altLang="zh-CN" sz="1800"/>
                </a:p>
              </p:txBody>
            </p:sp>
            <p:sp>
              <p:nvSpPr>
                <p:cNvPr id="94245" name="Rectangle 56"/>
                <p:cNvSpPr>
                  <a:spLocks noChangeArrowheads="1"/>
                </p:cNvSpPr>
                <p:nvPr/>
              </p:nvSpPr>
              <p:spPr bwMode="auto">
                <a:xfrm>
                  <a:off x="0" y="0"/>
                  <a:ext cx="656"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2" name="Group 57"/>
              <p:cNvGrpSpPr/>
              <p:nvPr/>
            </p:nvGrpSpPr>
            <p:grpSpPr bwMode="auto">
              <a:xfrm>
                <a:off x="1545" y="864"/>
                <a:ext cx="617" cy="292"/>
                <a:chOff x="0" y="0"/>
                <a:chExt cx="617" cy="292"/>
              </a:xfrm>
            </p:grpSpPr>
            <p:sp>
              <p:nvSpPr>
                <p:cNvPr id="94242" name="Rectangle 58"/>
                <p:cNvSpPr>
                  <a:spLocks noChangeArrowheads="1"/>
                </p:cNvSpPr>
                <p:nvPr/>
              </p:nvSpPr>
              <p:spPr bwMode="auto">
                <a:xfrm>
                  <a:off x="43" y="0"/>
                  <a:ext cx="53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400"/>
                    <a:t>&lt;</a:t>
                  </a:r>
                  <a:r>
                    <a:rPr lang="en-US" altLang="zh-CN" sz="2000"/>
                    <a:t>MIN</a:t>
                  </a:r>
                  <a:endParaRPr lang="en-US" altLang="zh-CN" sz="2000"/>
                </a:p>
              </p:txBody>
            </p:sp>
            <p:sp>
              <p:nvSpPr>
                <p:cNvPr id="94243" name="Rectangle 59"/>
                <p:cNvSpPr>
                  <a:spLocks noChangeArrowheads="1"/>
                </p:cNvSpPr>
                <p:nvPr/>
              </p:nvSpPr>
              <p:spPr bwMode="auto">
                <a:xfrm>
                  <a:off x="0" y="0"/>
                  <a:ext cx="61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3" name="Group 60"/>
              <p:cNvGrpSpPr/>
              <p:nvPr/>
            </p:nvGrpSpPr>
            <p:grpSpPr bwMode="auto">
              <a:xfrm>
                <a:off x="2162" y="864"/>
                <a:ext cx="655" cy="251"/>
                <a:chOff x="0" y="0"/>
                <a:chExt cx="655" cy="251"/>
              </a:xfrm>
            </p:grpSpPr>
            <p:sp>
              <p:nvSpPr>
                <p:cNvPr id="94240" name="Rectangle 61"/>
                <p:cNvSpPr>
                  <a:spLocks noChangeArrowheads="1"/>
                </p:cNvSpPr>
                <p:nvPr/>
              </p:nvSpPr>
              <p:spPr bwMode="auto">
                <a:xfrm>
                  <a:off x="43" y="0"/>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&lt;= MIN</a:t>
                  </a:r>
                  <a:endParaRPr lang="en-US" altLang="zh-CN" sz="2000"/>
                </a:p>
              </p:txBody>
            </p:sp>
            <p:sp>
              <p:nvSpPr>
                <p:cNvPr id="94241" name="Rectangle 62"/>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4" name="Group 63"/>
              <p:cNvGrpSpPr/>
              <p:nvPr/>
            </p:nvGrpSpPr>
            <p:grpSpPr bwMode="auto">
              <a:xfrm>
                <a:off x="2817" y="864"/>
                <a:ext cx="587" cy="251"/>
                <a:chOff x="0" y="0"/>
                <a:chExt cx="587" cy="251"/>
              </a:xfrm>
            </p:grpSpPr>
            <p:sp>
              <p:nvSpPr>
                <p:cNvPr id="94238" name="Rectangle 64"/>
                <p:cNvSpPr>
                  <a:spLocks noChangeArrowheads="1"/>
                </p:cNvSpPr>
                <p:nvPr/>
              </p:nvSpPr>
              <p:spPr bwMode="auto">
                <a:xfrm>
                  <a:off x="43" y="0"/>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&gt;MAX</a:t>
                  </a:r>
                  <a:endParaRPr lang="en-US" altLang="zh-CN" sz="2000"/>
                </a:p>
              </p:txBody>
            </p:sp>
            <p:sp>
              <p:nvSpPr>
                <p:cNvPr id="94239" name="Rectangle 65"/>
                <p:cNvSpPr>
                  <a:spLocks noChangeArrowheads="1"/>
                </p:cNvSpPr>
                <p:nvPr/>
              </p:nvSpPr>
              <p:spPr bwMode="auto">
                <a:xfrm>
                  <a:off x="0" y="0"/>
                  <a:ext cx="587"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5" name="Group 66"/>
              <p:cNvGrpSpPr/>
              <p:nvPr/>
            </p:nvGrpSpPr>
            <p:grpSpPr bwMode="auto">
              <a:xfrm>
                <a:off x="3404" y="864"/>
                <a:ext cx="655" cy="234"/>
                <a:chOff x="0" y="0"/>
                <a:chExt cx="655" cy="234"/>
              </a:xfrm>
            </p:grpSpPr>
            <p:sp>
              <p:nvSpPr>
                <p:cNvPr id="94236" name="Rectangle 67"/>
                <p:cNvSpPr>
                  <a:spLocks noChangeArrowheads="1"/>
                </p:cNvSpPr>
                <p:nvPr/>
              </p:nvSpPr>
              <p:spPr bwMode="auto">
                <a:xfrm>
                  <a:off x="43" y="0"/>
                  <a:ext cx="56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800"/>
                    <a:t>&gt;= MAX</a:t>
                  </a:r>
                  <a:endParaRPr lang="en-US" altLang="zh-CN" sz="1800"/>
                </a:p>
              </p:txBody>
            </p:sp>
            <p:sp>
              <p:nvSpPr>
                <p:cNvPr id="94237" name="Rectangle 68"/>
                <p:cNvSpPr>
                  <a:spLocks noChangeArrowheads="1"/>
                </p:cNvSpPr>
                <p:nvPr/>
              </p:nvSpPr>
              <p:spPr bwMode="auto">
                <a:xfrm>
                  <a:off x="0" y="0"/>
                  <a:ext cx="655" cy="23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sp>
          <p:nvSpPr>
            <p:cNvPr id="94214" name="Rectangle 69"/>
            <p:cNvSpPr>
              <a:spLocks noChangeArrowheads="1"/>
            </p:cNvSpPr>
            <p:nvPr/>
          </p:nvSpPr>
          <p:spPr bwMode="auto">
            <a:xfrm>
              <a:off x="0" y="0"/>
              <a:ext cx="4065" cy="234"/>
            </a:xfrm>
            <a:prstGeom prst="rect">
              <a:avLst/>
            </a:prstGeom>
            <a:noFill/>
            <a:ln w="11112">
              <a:solidFill>
                <a:srgbClr val="A0A0A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26"/>
          <p:cNvSpPr>
            <a:spLocks noGrp="1" noChangeArrowheads="1"/>
          </p:cNvSpPr>
          <p:nvPr>
            <p:ph type="title" idx="4294967295"/>
          </p:nvPr>
        </p:nvSpPr>
        <p:spPr/>
        <p:txBody>
          <a:bodyPr/>
          <a:lstStyle/>
          <a:p>
            <a:pPr eaLnBrk="1" hangingPunct="1"/>
            <a:r>
              <a:rPr lang="zh-CN" altLang="en-US" sz="3600"/>
              <a:t>分析下面语句的</a:t>
            </a:r>
            <a:r>
              <a:rPr lang="zh-CN" altLang="en-US" sz="3600"/>
              <a:t>作用</a:t>
            </a:r>
            <a:endParaRPr lang="zh-CN" altLang="en-US" sz="3600"/>
          </a:p>
        </p:txBody>
      </p:sp>
      <p:sp>
        <p:nvSpPr>
          <p:cNvPr id="2" name="Rectangle 1027"/>
          <p:cNvSpPr>
            <a:spLocks noGrp="1" noChangeArrowheads="1"/>
          </p:cNvSpPr>
          <p:nvPr/>
        </p:nvSpPr>
        <p:spPr>
          <a:xfrm>
            <a:off x="911424" y="1339851"/>
            <a:ext cx="10081120" cy="485457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marL="0" indent="0" eaLnBrk="1" hangingPunct="1">
              <a:buNone/>
            </a:pPr>
            <a:r>
              <a:rPr lang="en-US" altLang="zh-CN" sz="2400" dirty="0"/>
              <a:t>SELECT S1.Sno</a:t>
            </a:r>
            <a:endParaRPr lang="en-US" altLang="zh-CN" sz="2400" dirty="0"/>
          </a:p>
          <a:p>
            <a:pPr marL="0" indent="0" eaLnBrk="1" hangingPunct="1">
              <a:buNone/>
            </a:pPr>
            <a:r>
              <a:rPr lang="en-US" altLang="zh-CN" sz="2400" dirty="0"/>
              <a:t>FROM </a:t>
            </a:r>
            <a:r>
              <a:rPr lang="en-US" altLang="zh-CN" sz="2400" dirty="0"/>
              <a:t>SC SC1, S S1</a:t>
            </a:r>
            <a:endParaRPr lang="en-US" altLang="zh-CN" sz="2400" dirty="0"/>
          </a:p>
          <a:p>
            <a:pPr marL="0" indent="0" eaLnBrk="1" hangingPunct="1">
              <a:buNone/>
            </a:pPr>
            <a:r>
              <a:rPr lang="en-US" altLang="zh-CN" sz="2400" dirty="0"/>
              <a:t>WHERE SC1.Sno = S1.Sno </a:t>
            </a:r>
            <a:endParaRPr lang="en-US" altLang="zh-CN" sz="2400" dirty="0"/>
          </a:p>
          <a:p>
            <a:pPr marL="0" indent="0" eaLnBrk="1" hangingPunct="1">
              <a:buNone/>
            </a:pPr>
            <a:r>
              <a:rPr lang="en-US" altLang="zh-CN" sz="2400" dirty="0"/>
              <a:t>GROUP BY S1.Sno</a:t>
            </a:r>
            <a:endParaRPr lang="en-US" altLang="zh-CN" sz="2400" dirty="0"/>
          </a:p>
          <a:p>
            <a:pPr marL="0" indent="0" eaLnBrk="1" hangingPunct="1">
              <a:buNone/>
            </a:pPr>
            <a:r>
              <a:rPr lang="en-US" altLang="zh-CN" sz="2400" dirty="0"/>
              <a:t>HAVING Count (DISTINC SC1.Cno) &gt;= ALL (</a:t>
            </a:r>
            <a:endParaRPr lang="en-US" altLang="zh-CN" sz="2400" dirty="0"/>
          </a:p>
          <a:p>
            <a:pPr marL="0" indent="0" eaLnBrk="1" hangingPunct="1">
              <a:buNone/>
            </a:pPr>
            <a:r>
              <a:rPr lang="en-US" altLang="zh-CN" sz="2400" dirty="0"/>
              <a:t>    SELECT Count(DISTINCT SC2.Cno)</a:t>
            </a:r>
            <a:endParaRPr lang="en-US" altLang="zh-CN" sz="2400" dirty="0"/>
          </a:p>
          <a:p>
            <a:pPr marL="0" indent="0" eaLnBrk="1" hangingPunct="1">
              <a:buNone/>
            </a:pPr>
            <a:r>
              <a:rPr lang="en-US" altLang="zh-CN" sz="2400" dirty="0"/>
              <a:t>    FROM SC SC2, S S2</a:t>
            </a:r>
            <a:endParaRPr lang="en-US" altLang="zh-CN" sz="2400" dirty="0"/>
          </a:p>
          <a:p>
            <a:pPr marL="0" indent="0" eaLnBrk="1" hangingPunct="1">
              <a:buNone/>
            </a:pPr>
            <a:r>
              <a:rPr lang="en-US" altLang="zh-CN" sz="2400" dirty="0"/>
              <a:t>    WHERE  SC2.Sno = S2.Sno </a:t>
            </a:r>
            <a:endParaRPr lang="en-US" altLang="zh-CN" sz="2400" dirty="0"/>
          </a:p>
          <a:p>
            <a:pPr marL="0" indent="0" eaLnBrk="1" hangingPunct="1">
              <a:buNone/>
            </a:pPr>
            <a:r>
              <a:rPr lang="en-US" altLang="zh-CN" sz="2400" dirty="0"/>
              <a:t>    AND   S2.Smajor = S1.Smajor </a:t>
            </a:r>
            <a:br>
              <a:rPr lang="en-US" altLang="zh-CN" sz="2400" dirty="0"/>
            </a:br>
            <a:r>
              <a:rPr lang="en-US" altLang="zh-CN" sz="2400" dirty="0"/>
              <a:t>    GROUP BY S2.Sno</a:t>
            </a:r>
            <a:endParaRPr lang="en-US" altLang="zh-CN" sz="2400" dirty="0"/>
          </a:p>
          <a:p>
            <a:pPr marL="0" indent="0" eaLnBrk="1" hangingPunct="1">
              <a:buNone/>
            </a:pPr>
            <a:r>
              <a:rPr lang="en-US" altLang="zh-CN" sz="2400" dirty="0"/>
              <a:t>);</a:t>
            </a:r>
            <a:endParaRPr lang="en-US" altLang="zh-CN" sz="2400" dirty="0"/>
          </a:p>
          <a:p>
            <a:pPr marL="0" indent="0" eaLnBrk="1" hangingPunct="1">
              <a:buNone/>
            </a:pPr>
            <a:r>
              <a:rPr lang="en-US" altLang="zh-CN" sz="2400" dirty="0"/>
              <a:t>    </a:t>
            </a:r>
            <a:endParaRPr lang="en-US" altLang="zh-CN" sz="24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表格 7"/>
          <p:cNvGraphicFramePr>
            <a:graphicFrameLocks noGrp="1"/>
          </p:cNvGraphicFramePr>
          <p:nvPr>
            <p:custDataLst>
              <p:tags r:id="rId1"/>
            </p:custDataLst>
          </p:nvPr>
        </p:nvGraphicFramePr>
        <p:xfrm>
          <a:off x="1487170" y="1052195"/>
          <a:ext cx="8362950" cy="607695"/>
        </p:xfrm>
        <a:graphic>
          <a:graphicData uri="http://schemas.openxmlformats.org/drawingml/2006/table">
            <a:tbl>
              <a:tblPr firstRow="1" bandRow="1">
                <a:tableStyleId>{5C22544A-7EE6-4342-B048-85BDC9FD1C3A}</a:tableStyleId>
              </a:tblPr>
              <a:tblGrid>
                <a:gridCol w="1450340"/>
                <a:gridCol w="1346835"/>
                <a:gridCol w="1058545"/>
                <a:gridCol w="1626870"/>
                <a:gridCol w="2880360"/>
              </a:tblGrid>
              <a:tr h="607695">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姓名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性别</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Ssex</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出生日期</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Sbirthdate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主修专业</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Smajor</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6" marR="68586" marT="0" marB="0" anchor="ctr"/>
                </a:tc>
              </a:tr>
            </a:tbl>
          </a:graphicData>
        </a:graphic>
      </p:graphicFrame>
      <p:graphicFrame>
        <p:nvGraphicFramePr>
          <p:cNvPr id="4" name="表格 3"/>
          <p:cNvGraphicFramePr>
            <a:graphicFrameLocks noGrp="1"/>
          </p:cNvGraphicFramePr>
          <p:nvPr>
            <p:custDataLst>
              <p:tags r:id="rId2"/>
            </p:custDataLst>
          </p:nvPr>
        </p:nvGraphicFramePr>
        <p:xfrm>
          <a:off x="1487170" y="1772285"/>
          <a:ext cx="5890895" cy="628650"/>
        </p:xfrm>
        <a:graphic>
          <a:graphicData uri="http://schemas.openxmlformats.org/drawingml/2006/table">
            <a:tbl>
              <a:tblPr firstRow="1" bandRow="1">
                <a:tableStyleId>{5C22544A-7EE6-4342-B048-85BDC9FD1C3A}</a:tableStyleId>
              </a:tblPr>
              <a:tblGrid>
                <a:gridCol w="1181735"/>
                <a:gridCol w="1443990"/>
                <a:gridCol w="1231265"/>
                <a:gridCol w="2033905"/>
              </a:tblGrid>
              <a:tr h="628547">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课程名</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Cname</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学分</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Ccredit</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c>
                  <a:txBody>
                    <a:bodyPr/>
                    <a:p>
                      <a:pPr marL="0" indent="269875" algn="l" defTabSz="914400" rtl="0" eaLnBrk="1" latinLnBrk="0" hangingPunct="1"/>
                      <a:r>
                        <a:rPr lang="zh-CN" altLang="en-US" sz="1800" b="1" kern="1200" baseline="0" dirty="0">
                          <a:solidFill>
                            <a:schemeClr val="dk1"/>
                          </a:solidFill>
                          <a:latin typeface="Arial" panose="020B0604020202020204" pitchFamily="34" charset="0"/>
                          <a:ea typeface="宋体" panose="02010600030101010101" pitchFamily="2" charset="-122"/>
                          <a:cs typeface="+mn-cs"/>
                        </a:rPr>
                        <a:t>先修课</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p>
                      <a:pPr marL="0" indent="269875" algn="l" defTabSz="914400" rtl="0" eaLnBrk="1" latinLnBrk="0" hangingPunct="1"/>
                      <a:r>
                        <a:rPr lang="en-US" sz="1800" b="1" kern="1200" baseline="0" dirty="0" err="1">
                          <a:solidFill>
                            <a:schemeClr val="dk1"/>
                          </a:solidFill>
                          <a:latin typeface="Arial" panose="020B0604020202020204" pitchFamily="34" charset="0"/>
                          <a:ea typeface="宋体" panose="02010600030101010101" pitchFamily="2" charset="-122"/>
                          <a:cs typeface="+mn-cs"/>
                        </a:rPr>
                        <a:t>Cpno</a:t>
                      </a:r>
                      <a:endParaRPr lang="zh-CN" altLang="en-US" sz="1800" b="1" kern="1200" baseline="0" dirty="0">
                        <a:solidFill>
                          <a:schemeClr val="dk1"/>
                        </a:solidFill>
                        <a:latin typeface="Arial" panose="020B0604020202020204" pitchFamily="34" charset="0"/>
                        <a:ea typeface="宋体" panose="02010600030101010101" pitchFamily="2" charset="-122"/>
                        <a:cs typeface="+mn-cs"/>
                      </a:endParaRPr>
                    </a:p>
                  </a:txBody>
                  <a:tcPr marL="68588" marR="68588" marT="0" marB="0" anchor="ctr"/>
                </a:tc>
              </a:tr>
            </a:tbl>
          </a:graphicData>
        </a:graphic>
      </p:graphicFrame>
      <p:graphicFrame>
        <p:nvGraphicFramePr>
          <p:cNvPr id="15" name="表格 14"/>
          <p:cNvGraphicFramePr>
            <a:graphicFrameLocks noGrp="1"/>
          </p:cNvGraphicFramePr>
          <p:nvPr>
            <p:custDataLst>
              <p:tags r:id="rId3"/>
            </p:custDataLst>
          </p:nvPr>
        </p:nvGraphicFramePr>
        <p:xfrm>
          <a:off x="1487170" y="2494915"/>
          <a:ext cx="7776845" cy="548641"/>
        </p:xfrm>
        <a:graphic>
          <a:graphicData uri="http://schemas.openxmlformats.org/drawingml/2006/table">
            <a:tbl>
              <a:tblPr firstRow="1" bandRow="1">
                <a:tableStyleId>{5C22544A-7EE6-4342-B048-85BDC9FD1C3A}</a:tableStyleId>
              </a:tblPr>
              <a:tblGrid>
                <a:gridCol w="1628775"/>
                <a:gridCol w="1384935"/>
                <a:gridCol w="1139825"/>
                <a:gridCol w="1574800"/>
                <a:gridCol w="2048510"/>
              </a:tblGrid>
              <a:tr h="548641">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学号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Sno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r>
                        <a:rPr lang="zh-CN" altLang="en-US" sz="1600" b="1" kern="1200" baseline="0" dirty="0">
                          <a:solidFill>
                            <a:schemeClr val="dk1"/>
                          </a:solidFill>
                          <a:latin typeface="Arial" panose="020B0604020202020204" pitchFamily="34" charset="0"/>
                          <a:ea typeface="宋体" panose="02010600030101010101" pitchFamily="2" charset="-122"/>
                          <a:cs typeface="+mn-cs"/>
                        </a:rPr>
                        <a:t>课程号</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Cno</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成绩</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Grade</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a:solidFill>
                            <a:schemeClr val="dk1"/>
                          </a:solidFill>
                          <a:latin typeface="Arial" panose="020B0604020202020204" pitchFamily="34" charset="0"/>
                          <a:ea typeface="宋体" panose="02010600030101010101" pitchFamily="2" charset="-122"/>
                          <a:cs typeface="+mn-cs"/>
                        </a:rPr>
                        <a:t>选课学期</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a:solidFill>
                            <a:schemeClr val="dk1"/>
                          </a:solidFill>
                          <a:latin typeface="Arial" panose="020B0604020202020204" pitchFamily="34" charset="0"/>
                          <a:ea typeface="宋体" panose="02010600030101010101" pitchFamily="2" charset="-122"/>
                          <a:cs typeface="+mn-cs"/>
                        </a:rPr>
                        <a:t>Semester</a:t>
                      </a:r>
                      <a:endParaRPr lang="zh-CN" altLang="en-US" sz="1600" b="1" kern="1200" baseline="0">
                        <a:solidFill>
                          <a:schemeClr val="dk1"/>
                        </a:solidFill>
                        <a:latin typeface="Arial" panose="020B0604020202020204" pitchFamily="34" charset="0"/>
                        <a:ea typeface="宋体" panose="02010600030101010101" pitchFamily="2" charset="-122"/>
                        <a:cs typeface="+mn-cs"/>
                      </a:endParaRPr>
                    </a:p>
                  </a:txBody>
                  <a:tcPr marL="68583" marR="68583" marT="0" marB="0"/>
                </a:tc>
                <a:tc>
                  <a:txBody>
                    <a:bodyPr/>
                    <a:p>
                      <a:pPr indent="269875" algn="l">
                        <a:tabLst>
                          <a:tab pos="3769360" algn="l"/>
                        </a:tabLst>
                      </a:pPr>
                      <a:r>
                        <a:rPr lang="zh-CN" altLang="en-US" sz="1600" b="1" kern="1200" baseline="0" dirty="0">
                          <a:solidFill>
                            <a:schemeClr val="dk1"/>
                          </a:solidFill>
                          <a:latin typeface="Arial" panose="020B0604020202020204" pitchFamily="34" charset="0"/>
                          <a:ea typeface="宋体" panose="02010600030101010101" pitchFamily="2" charset="-122"/>
                          <a:cs typeface="+mn-cs"/>
                        </a:rPr>
                        <a:t>教学班</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p>
                      <a:pPr indent="269875" algn="l">
                        <a:tabLst>
                          <a:tab pos="3769360" algn="l"/>
                        </a:tabLst>
                      </a:pPr>
                      <a:r>
                        <a:rPr lang="en-US" sz="1600" b="1" kern="1200" baseline="0" dirty="0" err="1">
                          <a:solidFill>
                            <a:schemeClr val="dk1"/>
                          </a:solidFill>
                          <a:latin typeface="Arial" panose="020B0604020202020204" pitchFamily="34" charset="0"/>
                          <a:ea typeface="宋体" panose="02010600030101010101" pitchFamily="2" charset="-122"/>
                          <a:cs typeface="+mn-cs"/>
                        </a:rPr>
                        <a:t>Teachingclass</a:t>
                      </a:r>
                      <a:endParaRPr lang="zh-CN" altLang="en-US" sz="1600" b="1" kern="1200" baseline="0" dirty="0">
                        <a:solidFill>
                          <a:schemeClr val="dk1"/>
                        </a:solidFill>
                        <a:latin typeface="Arial" panose="020B0604020202020204" pitchFamily="34" charset="0"/>
                        <a:ea typeface="宋体" panose="02010600030101010101" pitchFamily="2" charset="-122"/>
                        <a:cs typeface="+mn-cs"/>
                      </a:endParaRPr>
                    </a:p>
                  </a:txBody>
                  <a:tcPr marL="68583" marR="68583" marT="0" marB="0"/>
                </a:tc>
              </a:tr>
            </a:tbl>
          </a:graphicData>
        </a:graphic>
      </p:graphicFrame>
      <p:sp>
        <p:nvSpPr>
          <p:cNvPr id="2" name="文本框 1"/>
          <p:cNvSpPr txBox="1"/>
          <p:nvPr/>
        </p:nvSpPr>
        <p:spPr>
          <a:xfrm>
            <a:off x="692150" y="3429000"/>
            <a:ext cx="10896600" cy="1753235"/>
          </a:xfrm>
          <a:prstGeom prst="rect">
            <a:avLst/>
          </a:prstGeom>
          <a:noFill/>
        </p:spPr>
        <p:txBody>
          <a:bodyPr wrap="square" rtlCol="0" anchor="t">
            <a:spAutoFit/>
          </a:bodyPr>
          <a:p>
            <a:pPr algn="just" eaLnBrk="1" hangingPunct="1">
              <a:lnSpc>
                <a:spcPct val="150000"/>
              </a:lnSpc>
            </a:pPr>
            <a:r>
              <a:rPr lang="en-US" altLang="zh-CN">
                <a:sym typeface="+mn-ea"/>
              </a:rPr>
              <a:t>1. </a:t>
            </a:r>
            <a:r>
              <a:rPr lang="zh-CN" altLang="en-US">
                <a:sym typeface="+mn-ea"/>
              </a:rPr>
              <a:t>查询在课程</a:t>
            </a:r>
            <a:r>
              <a:rPr lang="en-US" altLang="zh-CN">
                <a:sym typeface="+mn-ea"/>
              </a:rPr>
              <a:t>’81001’</a:t>
            </a:r>
            <a:r>
              <a:rPr lang="zh-CN" altLang="en-US">
                <a:sym typeface="+mn-ea"/>
              </a:rPr>
              <a:t>中成绩大于选修该课程学生平均成绩的学生。</a:t>
            </a:r>
            <a:endParaRPr lang="en-US" altLang="zh-CN">
              <a:sym typeface="+mn-ea"/>
            </a:endParaRPr>
          </a:p>
          <a:p>
            <a:pPr algn="just" eaLnBrk="1" hangingPunct="1">
              <a:lnSpc>
                <a:spcPct val="150000"/>
              </a:lnSpc>
            </a:pPr>
            <a:r>
              <a:rPr lang="en-US" altLang="zh-CN">
                <a:sym typeface="+mn-ea"/>
              </a:rPr>
              <a:t>2. </a:t>
            </a:r>
            <a:r>
              <a:rPr lang="zh-CN" altLang="en-US">
                <a:sym typeface="+mn-ea"/>
              </a:rPr>
              <a:t>查询年龄小于所在教学班中平均年龄的学生。</a:t>
            </a:r>
            <a:endParaRPr lang="en-US" altLang="zh-CN">
              <a:sym typeface="+mn-ea"/>
            </a:endParaRPr>
          </a:p>
          <a:p>
            <a:pPr algn="just" eaLnBrk="1" hangingPunct="1">
              <a:lnSpc>
                <a:spcPct val="150000"/>
              </a:lnSpc>
            </a:pPr>
            <a:r>
              <a:rPr lang="en-US" altLang="zh-CN">
                <a:sym typeface="+mn-ea"/>
              </a:rPr>
              <a:t>3. </a:t>
            </a:r>
            <a:r>
              <a:rPr lang="zh-CN" altLang="en-US">
                <a:sym typeface="+mn-ea"/>
              </a:rPr>
              <a:t>查询在课程</a:t>
            </a:r>
            <a:r>
              <a:rPr lang="en-US" altLang="zh-CN">
                <a:sym typeface="+mn-ea"/>
              </a:rPr>
              <a:t>’81001’</a:t>
            </a:r>
            <a:r>
              <a:rPr lang="zh-CN" altLang="en-US">
                <a:sym typeface="+mn-ea"/>
              </a:rPr>
              <a:t>中成绩大于选修该课程</a:t>
            </a:r>
            <a:r>
              <a:rPr lang="zh-CN" altLang="en-US">
                <a:sym typeface="+mn-ea"/>
              </a:rPr>
              <a:t>且同姓（假设第一个字为姓）学生平均成绩的</a:t>
            </a:r>
            <a:r>
              <a:rPr lang="zh-CN" altLang="en-US">
                <a:sym typeface="+mn-ea"/>
              </a:rPr>
              <a:t>学生。</a:t>
            </a:r>
            <a:endParaRPr lang="zh-CN" altLang="en-US">
              <a:sym typeface="+mn-ea"/>
            </a:endParaRPr>
          </a:p>
          <a:p>
            <a:pPr algn="just" eaLnBrk="1" hangingPunct="1">
              <a:lnSpc>
                <a:spcPct val="150000"/>
              </a:lnSpc>
            </a:pPr>
            <a:endParaRPr lang="zh-CN" altLang="en-US">
              <a:sym typeface="+mn-ea"/>
            </a:endParaRPr>
          </a:p>
        </p:txBody>
      </p:sp>
      <p:sp>
        <p:nvSpPr>
          <p:cNvPr id="45058" name="Rectangle 2"/>
          <p:cNvSpPr>
            <a:spLocks noGrp="1" noChangeArrowheads="1"/>
          </p:cNvSpPr>
          <p:nvPr>
            <p:custDataLst>
              <p:tags r:id="rId4"/>
            </p:custDataLst>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991360" y="2348865"/>
            <a:ext cx="7167245" cy="3782695"/>
          </a:xfrm>
          <a:prstGeom prst="rect">
            <a:avLst/>
          </a:prstGeom>
          <a:noFill/>
        </p:spPr>
        <p:txBody>
          <a:bodyPr wrap="square" rtlCol="0" anchor="t">
            <a:noAutofit/>
          </a:bodyPr>
          <a:p>
            <a:r>
              <a:rPr lang="zh-CN" altLang="en-US">
                <a:sym typeface="+mn-ea"/>
              </a:rPr>
              <a:t>SELECT s1."sname" ,sc1."sno", sc1."grade" </a:t>
            </a:r>
            <a:endParaRPr lang="zh-CN" altLang="en-US"/>
          </a:p>
          <a:p>
            <a:r>
              <a:rPr lang="zh-CN" altLang="en-US">
                <a:sym typeface="+mn-ea"/>
              </a:rPr>
              <a:t>FROM student s1, sc sc1 </a:t>
            </a:r>
            <a:endParaRPr lang="zh-CN" altLang="en-US"/>
          </a:p>
          <a:p>
            <a:r>
              <a:rPr lang="zh-CN" altLang="en-US">
                <a:sym typeface="+mn-ea"/>
              </a:rPr>
              <a:t>WHERE s1."sno" = sc1."sno" </a:t>
            </a:r>
            <a:endParaRPr lang="zh-CN" altLang="en-US"/>
          </a:p>
          <a:p>
            <a:r>
              <a:rPr lang="zh-CN" altLang="en-US">
                <a:sym typeface="+mn-ea"/>
              </a:rPr>
              <a:t>AND sc1."cno" = '81001'</a:t>
            </a:r>
            <a:endParaRPr lang="zh-CN" altLang="en-US"/>
          </a:p>
          <a:p>
            <a:r>
              <a:rPr lang="zh-CN" altLang="en-US">
                <a:sym typeface="+mn-ea"/>
              </a:rPr>
              <a:t>and sc1.grade &gt; (</a:t>
            </a:r>
            <a:endParaRPr lang="zh-CN" altLang="en-US"/>
          </a:p>
          <a:p>
            <a:r>
              <a:rPr lang="zh-CN" altLang="en-US">
                <a:sym typeface="+mn-ea"/>
              </a:rPr>
              <a:t>	SELECT avg(sc2.grade) </a:t>
            </a:r>
            <a:endParaRPr lang="zh-CN" altLang="en-US"/>
          </a:p>
          <a:p>
            <a:r>
              <a:rPr lang="zh-CN" altLang="en-US">
                <a:sym typeface="+mn-ea"/>
              </a:rPr>
              <a:t>	FROM sc sc2, "student" s2</a:t>
            </a:r>
            <a:endParaRPr lang="zh-CN" altLang="en-US"/>
          </a:p>
          <a:p>
            <a:r>
              <a:rPr lang="zh-CN" altLang="en-US">
                <a:sym typeface="+mn-ea"/>
              </a:rPr>
              <a:t>	WHERE sc2."sno" = s2."sno" </a:t>
            </a:r>
            <a:endParaRPr lang="zh-CN" altLang="en-US"/>
          </a:p>
          <a:p>
            <a:r>
              <a:rPr lang="zh-CN" altLang="en-US">
                <a:sym typeface="+mn-ea"/>
              </a:rPr>
              <a:t>	AND substring(s2."sname",1,1) = substring(s1."sname",1,1)</a:t>
            </a:r>
            <a:endParaRPr lang="zh-CN" altLang="en-US"/>
          </a:p>
          <a:p>
            <a:r>
              <a:rPr lang="zh-CN" altLang="en-US">
                <a:sym typeface="+mn-ea"/>
              </a:rPr>
              <a:t>	AND sc2."cno" = '81001'</a:t>
            </a:r>
            <a:endParaRPr lang="zh-CN" altLang="en-US"/>
          </a:p>
          <a:p>
            <a:r>
              <a:rPr lang="zh-CN" altLang="en-US">
                <a:sym typeface="+mn-ea"/>
              </a:rPr>
              <a:t>)</a:t>
            </a:r>
            <a:endParaRPr lang="zh-CN" altLang="en-US">
              <a:sym typeface="+mn-ea"/>
            </a:endParaRPr>
          </a:p>
        </p:txBody>
      </p:sp>
      <p:sp>
        <p:nvSpPr>
          <p:cNvPr id="3" name="文本框 2"/>
          <p:cNvSpPr txBox="1"/>
          <p:nvPr/>
        </p:nvSpPr>
        <p:spPr>
          <a:xfrm>
            <a:off x="1199515" y="1052830"/>
            <a:ext cx="9725025" cy="506730"/>
          </a:xfrm>
          <a:prstGeom prst="rect">
            <a:avLst/>
          </a:prstGeom>
          <a:noFill/>
        </p:spPr>
        <p:txBody>
          <a:bodyPr wrap="square" rtlCol="0" anchor="t">
            <a:spAutoFit/>
          </a:bodyPr>
          <a:p>
            <a:pPr algn="just" eaLnBrk="1" hangingPunct="1">
              <a:lnSpc>
                <a:spcPct val="150000"/>
              </a:lnSpc>
            </a:pPr>
            <a:r>
              <a:rPr lang="en-US" altLang="zh-CN">
                <a:sym typeface="+mn-ea"/>
              </a:rPr>
              <a:t>3. </a:t>
            </a:r>
            <a:r>
              <a:rPr lang="zh-CN" altLang="en-US">
                <a:sym typeface="+mn-ea"/>
              </a:rPr>
              <a:t>查询在课程</a:t>
            </a:r>
            <a:r>
              <a:rPr lang="en-US" altLang="zh-CN">
                <a:sym typeface="+mn-ea"/>
              </a:rPr>
              <a:t>’81001’</a:t>
            </a:r>
            <a:r>
              <a:rPr lang="zh-CN" altLang="en-US">
                <a:sym typeface="+mn-ea"/>
              </a:rPr>
              <a:t>中成绩大于选修该课程且同姓（假设第一个字为姓）学生平均成绩的学生。</a:t>
            </a:r>
            <a:endParaRPr lang="zh-CN" altLang="en-US">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idx="4294967295"/>
          </p:nvPr>
        </p:nvSpPr>
        <p:spPr/>
        <p:txBody>
          <a:bodyPr/>
          <a:lstStyle/>
          <a:p>
            <a:pPr eaLnBrk="1" hangingPunct="1"/>
            <a:r>
              <a:rPr lang="en-US" altLang="zh-CN" sz="3600"/>
              <a:t>3.3.3  </a:t>
            </a:r>
            <a:r>
              <a:rPr lang="zh-CN" altLang="en-US" sz="3600"/>
              <a:t>嵌套查询</a:t>
            </a:r>
            <a:endParaRPr lang="zh-CN" altLang="en-US" sz="3600"/>
          </a:p>
        </p:txBody>
      </p:sp>
      <p:sp>
        <p:nvSpPr>
          <p:cNvPr id="95235" name="Rectangle 3"/>
          <p:cNvSpPr>
            <a:spLocks noGrp="1" noChangeArrowheads="1"/>
          </p:cNvSpPr>
          <p:nvPr>
            <p:ph type="body" idx="4294967295"/>
          </p:nvPr>
        </p:nvSpPr>
        <p:spPr>
          <a:xfrm>
            <a:off x="1981200" y="1555751"/>
            <a:ext cx="8229600" cy="4854575"/>
          </a:xfrm>
        </p:spPr>
        <p:txBody>
          <a:bodyPr/>
          <a:lstStyle/>
          <a:p>
            <a:pPr eaLnBrk="1" hangingPunct="1">
              <a:lnSpc>
                <a:spcPct val="150000"/>
              </a:lnSpc>
              <a:buFont typeface="Wingdings" panose="05000000000000000000" pitchFamily="2" charset="2"/>
              <a:buNone/>
            </a:pPr>
            <a:r>
              <a:rPr lang="en-US" altLang="zh-CN"/>
              <a:t>  1.</a:t>
            </a:r>
            <a:r>
              <a:rPr lang="zh-CN" altLang="en-US"/>
              <a:t>带有</a:t>
            </a:r>
            <a:r>
              <a:rPr lang="en-US" altLang="zh-CN"/>
              <a:t>IN</a:t>
            </a:r>
            <a:r>
              <a:rPr lang="zh-CN" altLang="en-US"/>
              <a:t>谓词的子查询 </a:t>
            </a:r>
            <a:endParaRPr lang="zh-CN" altLang="en-US"/>
          </a:p>
          <a:p>
            <a:pPr eaLnBrk="1" hangingPunct="1">
              <a:lnSpc>
                <a:spcPct val="150000"/>
              </a:lnSpc>
              <a:buFont typeface="Wingdings" panose="05000000000000000000" pitchFamily="2" charset="2"/>
              <a:buNone/>
            </a:pPr>
            <a:r>
              <a:rPr lang="zh-CN" altLang="en-US"/>
              <a:t>  </a:t>
            </a:r>
            <a:r>
              <a:rPr lang="en-US" altLang="zh-CN"/>
              <a:t>2.</a:t>
            </a:r>
            <a:r>
              <a:rPr lang="zh-CN" altLang="en-US"/>
              <a:t>带有比较运算符的子查询</a:t>
            </a:r>
            <a:endParaRPr lang="zh-CN" altLang="en-US"/>
          </a:p>
          <a:p>
            <a:pPr eaLnBrk="1" hangingPunct="1">
              <a:lnSpc>
                <a:spcPct val="150000"/>
              </a:lnSpc>
              <a:buFont typeface="Wingdings" panose="05000000000000000000" pitchFamily="2" charset="2"/>
              <a:buNone/>
            </a:pPr>
            <a:r>
              <a:rPr lang="zh-CN" altLang="en-US"/>
              <a:t>  </a:t>
            </a:r>
            <a:r>
              <a:rPr lang="en-US" altLang="zh-CN"/>
              <a:t>3.</a:t>
            </a:r>
            <a:r>
              <a:rPr lang="zh-CN" altLang="en-US"/>
              <a:t>带有</a:t>
            </a:r>
            <a:r>
              <a:rPr lang="en-US" altLang="zh-CN"/>
              <a:t>ANY</a:t>
            </a:r>
            <a:r>
              <a:rPr lang="zh-CN" altLang="en-US"/>
              <a:t>（</a:t>
            </a:r>
            <a:r>
              <a:rPr lang="en-US" altLang="zh-CN"/>
              <a:t>SOME</a:t>
            </a:r>
            <a:r>
              <a:rPr lang="zh-CN" altLang="en-US"/>
              <a:t>）或</a:t>
            </a:r>
            <a:r>
              <a:rPr lang="en-US" altLang="zh-CN"/>
              <a:t>ALL</a:t>
            </a:r>
            <a:r>
              <a:rPr lang="zh-CN" altLang="en-US"/>
              <a:t>谓词的子查询</a:t>
            </a:r>
            <a:endParaRPr lang="zh-CN" altLang="en-US"/>
          </a:p>
          <a:p>
            <a:pPr eaLnBrk="1" hangingPunct="1">
              <a:lnSpc>
                <a:spcPct val="150000"/>
              </a:lnSpc>
              <a:buFont typeface="Wingdings" panose="05000000000000000000" pitchFamily="2" charset="2"/>
              <a:buNone/>
            </a:pPr>
            <a:r>
              <a:rPr lang="zh-CN" altLang="en-US">
                <a:solidFill>
                  <a:srgbClr val="7030A0"/>
                </a:solidFill>
              </a:rPr>
              <a:t>  </a:t>
            </a:r>
            <a:r>
              <a:rPr lang="en-US" altLang="zh-CN">
                <a:solidFill>
                  <a:srgbClr val="7030A0"/>
                </a:solidFill>
              </a:rPr>
              <a:t>4.</a:t>
            </a:r>
            <a:r>
              <a:rPr lang="zh-CN" altLang="en-US">
                <a:solidFill>
                  <a:srgbClr val="7030A0"/>
                </a:solidFill>
              </a:rPr>
              <a:t>带有</a:t>
            </a:r>
            <a:r>
              <a:rPr lang="en-US" altLang="zh-CN">
                <a:solidFill>
                  <a:srgbClr val="7030A0"/>
                </a:solidFill>
              </a:rPr>
              <a:t>EXISTS</a:t>
            </a:r>
            <a:r>
              <a:rPr lang="zh-CN" altLang="en-US">
                <a:solidFill>
                  <a:srgbClr val="7030A0"/>
                </a:solidFill>
              </a:rPr>
              <a:t>谓词的子查询</a:t>
            </a:r>
            <a:endParaRPr lang="zh-CN" altLang="en-US">
              <a:solidFill>
                <a:srgbClr val="7030A0"/>
              </a:solidFill>
            </a:endParaRPr>
          </a:p>
          <a:p>
            <a:pPr eaLnBrk="1" hangingPunct="1">
              <a:lnSpc>
                <a:spcPct val="130000"/>
              </a:lnSpc>
              <a:buFont typeface="Wingdings" panose="05000000000000000000" pitchFamily="2" charset="2"/>
              <a:buNone/>
            </a:pPr>
            <a:endParaRPr lang="en-US" altLang="zh-CN"/>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endParaRPr lang="zh-CN" altLang="en-US" sz="3600"/>
          </a:p>
        </p:txBody>
      </p:sp>
      <p:sp>
        <p:nvSpPr>
          <p:cNvPr id="96259" name="Rectangle 3"/>
          <p:cNvSpPr>
            <a:spLocks noGrp="1" noChangeArrowheads="1"/>
          </p:cNvSpPr>
          <p:nvPr>
            <p:ph type="body" idx="4294967295"/>
          </p:nvPr>
        </p:nvSpPr>
        <p:spPr>
          <a:xfrm>
            <a:off x="1199456" y="1098550"/>
            <a:ext cx="9937103" cy="4851400"/>
          </a:xfrm>
        </p:spPr>
        <p:txBody>
          <a:bodyPr/>
          <a:lstStyle/>
          <a:p>
            <a:pPr eaLnBrk="1" hangingPunct="1">
              <a:lnSpc>
                <a:spcPct val="120000"/>
              </a:lnSpc>
            </a:pPr>
            <a:r>
              <a:rPr lang="en-US" altLang="zh-CN" dirty="0"/>
              <a:t> EXISTS</a:t>
            </a:r>
            <a:r>
              <a:rPr lang="zh-CN" altLang="en-US" dirty="0"/>
              <a:t>谓词</a:t>
            </a:r>
            <a:endParaRPr lang="zh-CN" altLang="en-US" dirty="0"/>
          </a:p>
          <a:p>
            <a:pPr lvl="1">
              <a:lnSpc>
                <a:spcPct val="120000"/>
              </a:lnSpc>
              <a:buSzPct val="75000"/>
            </a:pPr>
            <a:r>
              <a:rPr lang="zh-CN" altLang="en-US" dirty="0"/>
              <a:t>存在量词 </a:t>
            </a:r>
            <a:r>
              <a:rPr lang="zh-CN" altLang="en-US" dirty="0">
                <a:sym typeface="Symbol" panose="05050102010706020507" pitchFamily="2" charset="2"/>
              </a:rPr>
              <a:t></a:t>
            </a:r>
            <a:r>
              <a:rPr lang="zh-CN" altLang="en-US" dirty="0"/>
              <a:t> </a:t>
            </a:r>
            <a:endParaRPr lang="zh-CN" altLang="en-US" dirty="0"/>
          </a:p>
          <a:p>
            <a:pPr lvl="1">
              <a:lnSpc>
                <a:spcPct val="120000"/>
              </a:lnSpc>
              <a:buSzPct val="75000"/>
            </a:pPr>
            <a:r>
              <a:rPr lang="zh-CN" altLang="en-US" dirty="0"/>
              <a:t>带有</a:t>
            </a:r>
            <a:r>
              <a:rPr lang="en-US" altLang="zh-CN" dirty="0"/>
              <a:t>EXISTS</a:t>
            </a:r>
            <a:r>
              <a:rPr lang="zh-CN" altLang="en-US" dirty="0"/>
              <a:t>谓词的子查询不返回任何数据，只产生逻辑真值“</a:t>
            </a:r>
            <a:r>
              <a:rPr lang="en-US" altLang="zh-CN" dirty="0"/>
              <a:t>true”</a:t>
            </a:r>
            <a:r>
              <a:rPr lang="zh-CN" altLang="en-US" dirty="0"/>
              <a:t>或逻辑假值“</a:t>
            </a:r>
            <a:r>
              <a:rPr lang="en-US" altLang="zh-CN" dirty="0"/>
              <a:t>false”</a:t>
            </a:r>
            <a:r>
              <a:rPr lang="zh-CN" altLang="en-US" dirty="0"/>
              <a:t>。</a:t>
            </a:r>
            <a:endParaRPr lang="zh-CN" altLang="en-US" dirty="0"/>
          </a:p>
          <a:p>
            <a:pPr lvl="2">
              <a:lnSpc>
                <a:spcPct val="120000"/>
              </a:lnSpc>
              <a:buSzPct val="87000"/>
              <a:buFont typeface="Wingdings" panose="05000000000000000000" pitchFamily="2" charset="2"/>
              <a:buChar char="l"/>
            </a:pPr>
            <a:r>
              <a:rPr lang="zh-CN" altLang="en-US" sz="2200" dirty="0"/>
              <a:t>若内层查询结果非空，则外层的</a:t>
            </a:r>
            <a:r>
              <a:rPr lang="en-US" altLang="zh-CN" sz="2200" dirty="0"/>
              <a:t>WHERE</a:t>
            </a:r>
            <a:r>
              <a:rPr lang="zh-CN" altLang="en-US" sz="2200" dirty="0"/>
              <a:t>子句返回真值</a:t>
            </a:r>
            <a:endParaRPr lang="zh-CN" altLang="en-US" sz="2200" dirty="0"/>
          </a:p>
          <a:p>
            <a:pPr lvl="2">
              <a:lnSpc>
                <a:spcPct val="120000"/>
              </a:lnSpc>
              <a:buSzPct val="87000"/>
              <a:buFont typeface="Wingdings" panose="05000000000000000000" pitchFamily="2" charset="2"/>
              <a:buChar char="l"/>
            </a:pPr>
            <a:r>
              <a:rPr lang="zh-CN" altLang="en-US" sz="2200" dirty="0"/>
              <a:t>若内层查询结果为空，则外层的</a:t>
            </a:r>
            <a:r>
              <a:rPr lang="en-US" altLang="zh-CN" sz="2200" dirty="0"/>
              <a:t>WHERE</a:t>
            </a:r>
            <a:r>
              <a:rPr lang="zh-CN" altLang="en-US" sz="2200" dirty="0"/>
              <a:t>子句返回假值</a:t>
            </a:r>
            <a:endParaRPr lang="zh-CN" altLang="en-US" sz="2200" dirty="0"/>
          </a:p>
          <a:p>
            <a:pPr lvl="1">
              <a:lnSpc>
                <a:spcPct val="120000"/>
              </a:lnSpc>
              <a:buSzPct val="75000"/>
            </a:pPr>
            <a:r>
              <a:rPr lang="zh-CN" altLang="en-US" dirty="0"/>
              <a:t>由</a:t>
            </a:r>
            <a:r>
              <a:rPr lang="en-US" altLang="zh-CN" dirty="0"/>
              <a:t>EXISTS</a:t>
            </a:r>
            <a:r>
              <a:rPr lang="zh-CN" altLang="en-US" dirty="0"/>
              <a:t>引出的子查询，其目标列表达式通常都用 * ，因为带</a:t>
            </a:r>
            <a:r>
              <a:rPr lang="en-US" altLang="zh-CN" dirty="0"/>
              <a:t>EXISTS</a:t>
            </a:r>
            <a:r>
              <a:rPr lang="zh-CN" altLang="en-US" dirty="0"/>
              <a:t>的子查询只返回真值或假值，给出列名无实际意义。</a:t>
            </a:r>
            <a:endParaRPr lang="zh-CN" alt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body" idx="1"/>
          </p:nvPr>
        </p:nvSpPr>
        <p:spPr>
          <a:xfrm>
            <a:off x="1847850" y="1268414"/>
            <a:ext cx="8229600" cy="4854575"/>
          </a:xfrm>
        </p:spPr>
        <p:txBody>
          <a:bodyPr/>
          <a:lstStyle/>
          <a:p>
            <a:pPr eaLnBrk="1" hangingPunct="1">
              <a:lnSpc>
                <a:spcPct val="120000"/>
              </a:lnSpc>
            </a:pPr>
            <a:r>
              <a:rPr lang="en-US" altLang="zh-CN"/>
              <a:t>NOT EXISTS</a:t>
            </a:r>
            <a:r>
              <a:rPr lang="zh-CN" altLang="en-US"/>
              <a:t>谓词</a:t>
            </a:r>
            <a:endParaRPr lang="zh-CN" altLang="en-US"/>
          </a:p>
          <a:p>
            <a:pPr lvl="1">
              <a:lnSpc>
                <a:spcPct val="150000"/>
              </a:lnSpc>
            </a:pPr>
            <a:r>
              <a:rPr lang="zh-CN" altLang="en-US"/>
              <a:t>若内层查询结果非空，则外层的</a:t>
            </a:r>
            <a:r>
              <a:rPr lang="en-US" altLang="zh-CN"/>
              <a:t>WHERE</a:t>
            </a:r>
            <a:r>
              <a:rPr lang="zh-CN" altLang="en-US"/>
              <a:t>子句返回假值</a:t>
            </a:r>
            <a:endParaRPr lang="zh-CN" altLang="en-US"/>
          </a:p>
          <a:p>
            <a:pPr lvl="1">
              <a:lnSpc>
                <a:spcPct val="150000"/>
              </a:lnSpc>
            </a:pPr>
            <a:r>
              <a:rPr lang="zh-CN" altLang="en-US"/>
              <a:t>若内层查询结果为空，则外层的</a:t>
            </a:r>
            <a:r>
              <a:rPr lang="en-US" altLang="zh-CN"/>
              <a:t>WHERE</a:t>
            </a:r>
            <a:r>
              <a:rPr lang="zh-CN" altLang="en-US"/>
              <a:t>子句返回真值</a:t>
            </a:r>
            <a:endParaRPr lang="zh-CN" altLang="en-US"/>
          </a:p>
          <a:p>
            <a:pPr>
              <a:buFont typeface="Wingdings" panose="05000000000000000000" pitchFamily="2" charset="2"/>
              <a:buChar char="n"/>
            </a:pPr>
            <a:endParaRPr lang="zh-CN" altLang="en-US"/>
          </a:p>
        </p:txBody>
      </p:sp>
      <p:sp>
        <p:nvSpPr>
          <p:cNvPr id="97283" name="Rectangle 2"/>
          <p:cNvSpPr>
            <a:spLocks noGrp="1" noChangeArrowheads="1"/>
          </p:cNvSpPr>
          <p:nvPr/>
        </p:nvSpPr>
        <p:spPr bwMode="auto">
          <a:xfrm>
            <a:off x="2108200" y="-49213"/>
            <a:ext cx="82296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a:solidFill>
                  <a:schemeClr val="bg1"/>
                </a:solidFill>
              </a:rPr>
              <a:t>带有</a:t>
            </a:r>
            <a:r>
              <a:rPr lang="en-US" altLang="zh-CN" sz="3600">
                <a:solidFill>
                  <a:schemeClr val="bg1"/>
                </a:solidFill>
              </a:rPr>
              <a:t>EXISTS</a:t>
            </a:r>
            <a:r>
              <a:rPr lang="zh-CN" altLang="en-US" sz="3600">
                <a:solidFill>
                  <a:schemeClr val="bg1"/>
                </a:solidFill>
              </a:rPr>
              <a:t>谓词的子查询（续）</a:t>
            </a:r>
            <a:endParaRPr lang="zh-CN" altLang="en-US" sz="3600">
              <a:solidFill>
                <a:schemeClr val="bg1"/>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58371" name="Rectangle 3"/>
          <p:cNvSpPr>
            <a:spLocks noGrp="1" noChangeArrowheads="1"/>
          </p:cNvSpPr>
          <p:nvPr>
            <p:ph type="body" idx="4294967295"/>
          </p:nvPr>
        </p:nvSpPr>
        <p:spPr>
          <a:xfrm>
            <a:off x="1271464" y="957264"/>
            <a:ext cx="9649072" cy="6434137"/>
          </a:xfrm>
        </p:spPr>
        <p:txBody>
          <a:bodyPr/>
          <a:lstStyle/>
          <a:p>
            <a:pPr eaLnBrk="1" hangingPunct="1">
              <a:buFont typeface="宋体" panose="02010600030101010101" pitchFamily="2" charset="-122"/>
              <a:buNone/>
            </a:pPr>
            <a:r>
              <a:rPr lang="en-US" altLang="zh-CN" sz="2400" dirty="0"/>
              <a:t>[</a:t>
            </a:r>
            <a:r>
              <a:rPr lang="zh-CN" altLang="en-US" sz="2400" dirty="0"/>
              <a:t>例</a:t>
            </a:r>
            <a:r>
              <a:rPr lang="en-US" altLang="zh-CN" sz="2400" dirty="0"/>
              <a:t>3.62]</a:t>
            </a:r>
            <a:r>
              <a:rPr lang="zh-CN" altLang="en-US" sz="2400" dirty="0"/>
              <a:t>查询所有选修了</a:t>
            </a:r>
            <a:r>
              <a:rPr lang="en-US" altLang="zh-CN" sz="2400" dirty="0"/>
              <a:t>81001</a:t>
            </a:r>
            <a:r>
              <a:rPr lang="zh-CN" altLang="en-US" sz="2400" dirty="0"/>
              <a:t>号课程的学生姓名。</a:t>
            </a:r>
            <a:endParaRPr lang="zh-CN" altLang="en-US" sz="2400" dirty="0"/>
          </a:p>
          <a:p>
            <a:pPr eaLnBrk="1" hangingPunct="1">
              <a:lnSpc>
                <a:spcPct val="150000"/>
              </a:lnSpc>
              <a:spcBef>
                <a:spcPct val="0"/>
              </a:spcBef>
              <a:buFont typeface="宋体" panose="02010600030101010101" pitchFamily="2" charset="-122"/>
              <a:buNone/>
            </a:pPr>
            <a:r>
              <a:rPr lang="en-US" altLang="zh-CN" sz="2000" dirty="0"/>
              <a:t>     SELECT </a:t>
            </a:r>
            <a:r>
              <a:rPr lang="en-US" altLang="zh-CN" sz="2000" dirty="0" err="1"/>
              <a:t>Sname</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FROM Student</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WHERE EXISTS</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(SELECT *</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FROM SC</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WHERE </a:t>
            </a:r>
            <a:r>
              <a:rPr lang="en-US" altLang="zh-CN" sz="2000" dirty="0" err="1"/>
              <a:t>Sno</a:t>
            </a:r>
            <a:r>
              <a:rPr lang="en-US" altLang="zh-CN" sz="2000" dirty="0"/>
              <a:t>=</a:t>
            </a:r>
            <a:r>
              <a:rPr lang="en-US" altLang="zh-CN" sz="2000" dirty="0" err="1">
                <a:solidFill>
                  <a:srgbClr val="FF0000"/>
                </a:solidFill>
              </a:rPr>
              <a:t>Student.Sno</a:t>
            </a:r>
            <a:r>
              <a:rPr lang="en-US" altLang="zh-CN" sz="2000" dirty="0"/>
              <a:t> AND </a:t>
            </a:r>
            <a:r>
              <a:rPr lang="en-US" altLang="zh-CN" sz="2000" dirty="0" err="1"/>
              <a:t>Cno</a:t>
            </a:r>
            <a:r>
              <a:rPr lang="en-US" altLang="zh-CN" sz="2000" dirty="0"/>
              <a:t>='81001’);</a:t>
            </a:r>
            <a:endParaRPr lang="en-US" altLang="zh-CN" sz="2000" dirty="0"/>
          </a:p>
          <a:p>
            <a:pPr eaLnBrk="1" hangingPunct="1">
              <a:lnSpc>
                <a:spcPct val="150000"/>
              </a:lnSpc>
              <a:spcBef>
                <a:spcPct val="0"/>
              </a:spcBef>
              <a:buFont typeface="宋体" panose="02010600030101010101" pitchFamily="2" charset="-122"/>
              <a:buNone/>
            </a:pPr>
            <a:endParaRPr lang="en-US" altLang="zh-CN" sz="2000" dirty="0"/>
          </a:p>
          <a:p>
            <a:pPr eaLnBrk="1" hangingPunct="1">
              <a:lnSpc>
                <a:spcPct val="120000"/>
              </a:lnSpc>
              <a:spcBef>
                <a:spcPct val="0"/>
              </a:spcBef>
              <a:buFont typeface="Wingdings" panose="05000000000000000000" pitchFamily="2" charset="2"/>
              <a:buChar char="n"/>
            </a:pPr>
            <a:r>
              <a:rPr lang="zh-CN" altLang="zh-CN" sz="2000" dirty="0">
                <a:cs typeface="Times New Roman" panose="02020603050405020304" pitchFamily="18" charset="0"/>
              </a:rPr>
              <a:t>首先取外层查询中</a:t>
            </a:r>
            <a:r>
              <a:rPr lang="en-US" altLang="zh-CN" sz="2000" dirty="0"/>
              <a:t>Student</a:t>
            </a:r>
            <a:r>
              <a:rPr lang="zh-CN" altLang="zh-CN" sz="2000" dirty="0">
                <a:cs typeface="Times New Roman" panose="02020603050405020304" pitchFamily="18" charset="0"/>
              </a:rPr>
              <a:t>表的第一个元组，根据它与内层查询相关的属性值（</a:t>
            </a:r>
            <a:r>
              <a:rPr lang="en-US" altLang="zh-CN" sz="2000" dirty="0" err="1"/>
              <a:t>Sno</a:t>
            </a:r>
            <a:r>
              <a:rPr lang="zh-CN" altLang="zh-CN" sz="2000" dirty="0">
                <a:cs typeface="Times New Roman" panose="02020603050405020304" pitchFamily="18" charset="0"/>
              </a:rPr>
              <a:t>值）处理内层查询</a:t>
            </a:r>
            <a:endParaRPr lang="en-US" altLang="zh-CN" sz="2000" dirty="0">
              <a:cs typeface="Times New Roman" panose="02020603050405020304" pitchFamily="18" charset="0"/>
            </a:endParaRPr>
          </a:p>
          <a:p>
            <a:pPr eaLnBrk="1" hangingPunct="1">
              <a:lnSpc>
                <a:spcPct val="120000"/>
              </a:lnSpc>
              <a:spcBef>
                <a:spcPct val="0"/>
              </a:spcBef>
              <a:buFont typeface="Wingdings" panose="05000000000000000000" pitchFamily="2" charset="2"/>
              <a:buChar char="n"/>
            </a:pPr>
            <a:r>
              <a:rPr lang="zh-CN" altLang="zh-CN" sz="2000" dirty="0">
                <a:cs typeface="Times New Roman" panose="02020603050405020304" pitchFamily="18" charset="0"/>
              </a:rPr>
              <a:t>若</a:t>
            </a:r>
            <a:r>
              <a:rPr lang="en-US" altLang="zh-CN" sz="2000" dirty="0"/>
              <a:t>WHERE</a:t>
            </a:r>
            <a:r>
              <a:rPr lang="zh-CN" altLang="zh-CN" sz="2000" dirty="0">
                <a:cs typeface="Times New Roman" panose="02020603050405020304" pitchFamily="18" charset="0"/>
              </a:rPr>
              <a:t>子句返回值为真，则取外层查询中该元组的</a:t>
            </a:r>
            <a:r>
              <a:rPr lang="en-US" altLang="zh-CN" sz="2000" dirty="0" err="1"/>
              <a:t>Sname</a:t>
            </a:r>
            <a:r>
              <a:rPr lang="zh-CN" altLang="zh-CN" sz="2000" dirty="0">
                <a:cs typeface="Times New Roman" panose="02020603050405020304" pitchFamily="18" charset="0"/>
              </a:rPr>
              <a:t>放入结果表</a:t>
            </a:r>
            <a:endParaRPr lang="en-US" altLang="zh-CN" sz="2000" dirty="0">
              <a:cs typeface="Times New Roman" panose="02020603050405020304" pitchFamily="18" charset="0"/>
            </a:endParaRPr>
          </a:p>
          <a:p>
            <a:pPr eaLnBrk="1" hangingPunct="1">
              <a:lnSpc>
                <a:spcPct val="120000"/>
              </a:lnSpc>
              <a:spcBef>
                <a:spcPct val="0"/>
              </a:spcBef>
              <a:buFont typeface="Wingdings" panose="05000000000000000000" pitchFamily="2" charset="2"/>
              <a:buChar char="n"/>
            </a:pPr>
            <a:r>
              <a:rPr lang="zh-CN" altLang="zh-CN" sz="2000" dirty="0" smtClean="0">
                <a:cs typeface="Times New Roman" panose="02020603050405020304" pitchFamily="18" charset="0"/>
              </a:rPr>
              <a:t>再</a:t>
            </a:r>
            <a:r>
              <a:rPr lang="zh-CN" altLang="zh-CN" sz="2000" dirty="0">
                <a:cs typeface="Times New Roman" panose="02020603050405020304" pitchFamily="18" charset="0"/>
              </a:rPr>
              <a:t>取</a:t>
            </a:r>
            <a:r>
              <a:rPr lang="en-US" altLang="zh-CN" sz="2000" dirty="0"/>
              <a:t>Student</a:t>
            </a:r>
            <a:r>
              <a:rPr lang="zh-CN" altLang="zh-CN" sz="2000" dirty="0">
                <a:cs typeface="Times New Roman" panose="02020603050405020304" pitchFamily="18" charset="0"/>
              </a:rPr>
              <a:t>表的下一个元组</a:t>
            </a:r>
            <a:endParaRPr lang="en-US" altLang="zh-CN" sz="2000" dirty="0">
              <a:cs typeface="Times New Roman" panose="02020603050405020304" pitchFamily="18" charset="0"/>
            </a:endParaRPr>
          </a:p>
          <a:p>
            <a:pPr eaLnBrk="1" hangingPunct="1">
              <a:lnSpc>
                <a:spcPct val="120000"/>
              </a:lnSpc>
              <a:spcBef>
                <a:spcPct val="0"/>
              </a:spcBef>
              <a:buFont typeface="Wingdings" panose="05000000000000000000" pitchFamily="2" charset="2"/>
              <a:buChar char="n"/>
            </a:pPr>
            <a:r>
              <a:rPr lang="zh-CN" altLang="zh-CN" sz="2000" dirty="0">
                <a:cs typeface="Times New Roman" panose="02020603050405020304" pitchFamily="18" charset="0"/>
              </a:rPr>
              <a:t>重复这一过程，直至外层</a:t>
            </a:r>
            <a:r>
              <a:rPr lang="en-US" altLang="zh-CN" sz="2000" dirty="0"/>
              <a:t>Student</a:t>
            </a:r>
            <a:r>
              <a:rPr lang="zh-CN" altLang="zh-CN" sz="2000" dirty="0">
                <a:cs typeface="Times New Roman" panose="02020603050405020304" pitchFamily="18" charset="0"/>
              </a:rPr>
              <a:t>表全部检查完为止</a:t>
            </a:r>
            <a:endParaRPr lang="zh-CN" altLang="en-US" sz="2000"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99331" name="Rectangle 3"/>
          <p:cNvSpPr>
            <a:spLocks noGrp="1" noChangeArrowheads="1"/>
          </p:cNvSpPr>
          <p:nvPr>
            <p:ph type="body" idx="4294967295"/>
          </p:nvPr>
        </p:nvSpPr>
        <p:spPr>
          <a:xfrm>
            <a:off x="1981201" y="1196975"/>
            <a:ext cx="8137525" cy="4114800"/>
          </a:xfrm>
        </p:spPr>
        <p:txBody>
          <a:bodyPr/>
          <a:lstStyle/>
          <a:p>
            <a:pPr algn="just" eaLnBrk="1" hangingPunct="1">
              <a:lnSpc>
                <a:spcPct val="110000"/>
              </a:lnSpc>
              <a:buFont typeface="Wingdings" panose="05000000000000000000" pitchFamily="2" charset="2"/>
              <a:buNone/>
            </a:pPr>
            <a:r>
              <a:rPr lang="en-US" altLang="zh-CN" sz="2400"/>
              <a:t>[</a:t>
            </a:r>
            <a:r>
              <a:rPr lang="zh-CN" altLang="en-US" sz="2400"/>
              <a:t>例</a:t>
            </a:r>
            <a:r>
              <a:rPr lang="en-US" altLang="zh-CN" sz="2400"/>
              <a:t>3.63]</a:t>
            </a:r>
            <a:r>
              <a:rPr lang="zh-CN" altLang="en-US" sz="2400"/>
              <a:t>查询没有选修</a:t>
            </a:r>
            <a:r>
              <a:rPr lang="en-US" altLang="zh-CN" sz="2400"/>
              <a:t>81001</a:t>
            </a:r>
            <a:r>
              <a:rPr lang="zh-CN" altLang="en-US" sz="2400"/>
              <a:t>号课程的学生姓名</a:t>
            </a:r>
            <a:endParaRPr lang="zh-CN" altLang="en-US" sz="2400"/>
          </a:p>
          <a:p>
            <a:pPr algn="just" eaLnBrk="1" hangingPunct="1">
              <a:lnSpc>
                <a:spcPct val="110000"/>
              </a:lnSpc>
              <a:buFont typeface="Wingdings" panose="05000000000000000000" pitchFamily="2" charset="2"/>
              <a:buNone/>
            </a:pPr>
            <a:r>
              <a:rPr lang="en-US" altLang="zh-CN" sz="2400"/>
              <a:t>SELECT Sname</a:t>
            </a:r>
            <a:endParaRPr lang="en-US" altLang="zh-CN" sz="2400"/>
          </a:p>
          <a:p>
            <a:pPr algn="just" eaLnBrk="1" hangingPunct="1">
              <a:lnSpc>
                <a:spcPct val="110000"/>
              </a:lnSpc>
              <a:buFont typeface="Wingdings" panose="05000000000000000000" pitchFamily="2" charset="2"/>
              <a:buNone/>
            </a:pPr>
            <a:r>
              <a:rPr lang="en-US" altLang="zh-CN" sz="2400"/>
              <a:t>FROM Student</a:t>
            </a:r>
            <a:endParaRPr lang="en-US" altLang="zh-CN" sz="2400"/>
          </a:p>
          <a:p>
            <a:pPr algn="just" eaLnBrk="1" hangingPunct="1">
              <a:lnSpc>
                <a:spcPct val="110000"/>
              </a:lnSpc>
              <a:buFont typeface="Wingdings" panose="05000000000000000000" pitchFamily="2" charset="2"/>
              <a:buNone/>
            </a:pPr>
            <a:r>
              <a:rPr lang="en-US" altLang="zh-CN" sz="2400"/>
              <a:t>WHERE NOT EXISTS</a:t>
            </a:r>
            <a:endParaRPr lang="en-US" altLang="zh-CN" sz="2400"/>
          </a:p>
          <a:p>
            <a:pPr algn="just" eaLnBrk="1" hangingPunct="1">
              <a:lnSpc>
                <a:spcPct val="110000"/>
              </a:lnSpc>
              <a:buFont typeface="Wingdings" panose="05000000000000000000" pitchFamily="2" charset="2"/>
              <a:buNone/>
            </a:pPr>
            <a:r>
              <a:rPr lang="en-US" altLang="zh-CN" sz="2400"/>
              <a:t>        (SELECT *</a:t>
            </a:r>
            <a:endParaRPr lang="en-US" altLang="zh-CN" sz="2400"/>
          </a:p>
          <a:p>
            <a:pPr algn="just" eaLnBrk="1" hangingPunct="1">
              <a:lnSpc>
                <a:spcPct val="110000"/>
              </a:lnSpc>
              <a:buFont typeface="Wingdings" panose="05000000000000000000" pitchFamily="2" charset="2"/>
              <a:buNone/>
            </a:pPr>
            <a:r>
              <a:rPr lang="en-US" altLang="zh-CN" sz="2400"/>
              <a:t>         FROM SC</a:t>
            </a:r>
            <a:endParaRPr lang="en-US" altLang="zh-CN" sz="2400"/>
          </a:p>
          <a:p>
            <a:pPr algn="just" eaLnBrk="1" hangingPunct="1">
              <a:lnSpc>
                <a:spcPct val="110000"/>
              </a:lnSpc>
              <a:buFont typeface="Wingdings" panose="05000000000000000000" pitchFamily="2" charset="2"/>
              <a:buNone/>
            </a:pPr>
            <a:r>
              <a:rPr lang="en-US" altLang="zh-CN" sz="2400"/>
              <a:t>         WHERE Sno=</a:t>
            </a:r>
            <a:r>
              <a:rPr lang="en-US" altLang="zh-CN" sz="2400">
                <a:solidFill>
                  <a:srgbClr val="FF0000"/>
                </a:solidFill>
              </a:rPr>
              <a:t>Student.Sno</a:t>
            </a:r>
            <a:r>
              <a:rPr lang="en-US" altLang="zh-CN" sz="2400"/>
              <a:t> AND Cno='81001');</a:t>
            </a:r>
            <a:endParaRPr lang="en-US" altLang="zh-CN" sz="240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1026"/>
          <p:cNvSpPr>
            <a:spLocks noGrp="1" noChangeArrowheads="1"/>
          </p:cNvSpPr>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
        <p:nvSpPr>
          <p:cNvPr id="2" name="文本框 1"/>
          <p:cNvSpPr txBox="1"/>
          <p:nvPr/>
        </p:nvSpPr>
        <p:spPr>
          <a:xfrm>
            <a:off x="262890" y="1098550"/>
            <a:ext cx="11619230" cy="953135"/>
          </a:xfrm>
          <a:prstGeom prst="rect">
            <a:avLst/>
          </a:prstGeom>
          <a:noFill/>
        </p:spPr>
        <p:txBody>
          <a:bodyPr wrap="square" rtlCol="0" anchor="t">
            <a:spAutoFit/>
          </a:bodyPr>
          <a:p>
            <a:r>
              <a:rPr lang="en-US" altLang="zh-CN" sz="2800">
                <a:sym typeface="+mn-ea"/>
              </a:rPr>
              <a:t>“</a:t>
            </a:r>
            <a:r>
              <a:rPr lang="zh-CN" altLang="en-US" sz="2800">
                <a:sym typeface="+mn-ea"/>
              </a:rPr>
              <a:t>有个表格</a:t>
            </a:r>
            <a:r>
              <a:rPr lang="en-US" altLang="zh-CN" sz="2800">
                <a:sym typeface="+mn-ea"/>
              </a:rPr>
              <a:t> S</a:t>
            </a:r>
            <a:r>
              <a:rPr lang="zh-CN" altLang="en-US" sz="2800">
                <a:sym typeface="+mn-ea"/>
              </a:rPr>
              <a:t>（</a:t>
            </a:r>
            <a:r>
              <a:rPr lang="en-US" altLang="zh-CN" sz="2800">
                <a:sym typeface="+mn-ea"/>
              </a:rPr>
              <a:t>id, login_date)</a:t>
            </a:r>
            <a:r>
              <a:rPr lang="zh-CN" altLang="en-US" sz="2800">
                <a:sym typeface="+mn-ea"/>
              </a:rPr>
              <a:t>，其中</a:t>
            </a:r>
            <a:r>
              <a:rPr lang="en-US" altLang="zh-CN" sz="2800">
                <a:sym typeface="+mn-ea"/>
              </a:rPr>
              <a:t> login_date</a:t>
            </a:r>
            <a:r>
              <a:rPr lang="zh-CN" altLang="en-US" sz="2800">
                <a:sym typeface="+mn-ea"/>
              </a:rPr>
              <a:t>是登录系统的日期。请用</a:t>
            </a:r>
            <a:r>
              <a:rPr lang="en-US" altLang="zh-CN" sz="2800">
                <a:sym typeface="+mn-ea"/>
              </a:rPr>
              <a:t>SQL</a:t>
            </a:r>
            <a:r>
              <a:rPr lang="zh-CN" altLang="en-US" sz="2800">
                <a:sym typeface="+mn-ea"/>
              </a:rPr>
              <a:t>找出连续</a:t>
            </a:r>
            <a:r>
              <a:rPr lang="en-US" altLang="zh-CN" sz="2800">
                <a:sym typeface="+mn-ea"/>
              </a:rPr>
              <a:t>7</a:t>
            </a:r>
            <a:r>
              <a:rPr lang="zh-CN" altLang="en-US" sz="2800">
                <a:sym typeface="+mn-ea"/>
              </a:rPr>
              <a:t>天及以上登录系统的用户</a:t>
            </a:r>
            <a:r>
              <a:rPr lang="en-US" altLang="zh-CN" sz="2800">
                <a:sym typeface="+mn-ea"/>
              </a:rPr>
              <a:t>id</a:t>
            </a:r>
            <a:r>
              <a:rPr lang="zh-CN" altLang="en-US" sz="2800">
                <a:sym typeface="+mn-ea"/>
              </a:rPr>
              <a:t>。</a:t>
            </a:r>
            <a:r>
              <a:rPr lang="en-US" altLang="zh-CN" sz="2800">
                <a:sym typeface="+mn-ea"/>
              </a:rPr>
              <a:t>”  -- </a:t>
            </a:r>
            <a:r>
              <a:rPr lang="zh-CN" altLang="en-US" sz="2800">
                <a:sym typeface="+mn-ea"/>
              </a:rPr>
              <a:t>尝试理解下面的</a:t>
            </a:r>
            <a:r>
              <a:rPr lang="zh-CN" altLang="en-US" sz="2800">
                <a:sym typeface="+mn-ea"/>
              </a:rPr>
              <a:t>代码</a:t>
            </a:r>
            <a:endParaRPr lang="zh-CN" altLang="en-US" sz="2800">
              <a:sym typeface="+mn-ea"/>
            </a:endParaRPr>
          </a:p>
        </p:txBody>
      </p:sp>
      <p:pic>
        <p:nvPicPr>
          <p:cNvPr id="4" name="图片 3"/>
          <p:cNvPicPr>
            <a:picLocks noChangeAspect="1"/>
          </p:cNvPicPr>
          <p:nvPr/>
        </p:nvPicPr>
        <p:blipFill>
          <a:blip r:embed="rId1"/>
          <a:stretch>
            <a:fillRect/>
          </a:stretch>
        </p:blipFill>
        <p:spPr>
          <a:xfrm>
            <a:off x="695325" y="1988820"/>
            <a:ext cx="10278110" cy="3460115"/>
          </a:xfrm>
          <a:prstGeom prst="rect">
            <a:avLst/>
          </a:prstGeom>
        </p:spPr>
      </p:pic>
      <p:sp>
        <p:nvSpPr>
          <p:cNvPr id="3" name="文本框 2"/>
          <p:cNvSpPr txBox="1"/>
          <p:nvPr/>
        </p:nvSpPr>
        <p:spPr>
          <a:xfrm>
            <a:off x="622935" y="5588635"/>
            <a:ext cx="10281920" cy="953135"/>
          </a:xfrm>
          <a:prstGeom prst="rect">
            <a:avLst/>
          </a:prstGeom>
          <a:noFill/>
        </p:spPr>
        <p:txBody>
          <a:bodyPr wrap="square" rtlCol="0" anchor="t">
            <a:spAutoFit/>
          </a:bodyPr>
          <a:p>
            <a:r>
              <a:rPr lang="en-US" altLang="zh-CN" sz="2800">
                <a:sym typeface="+mn-ea"/>
              </a:rPr>
              <a:t>s2.id</a:t>
            </a:r>
            <a:r>
              <a:rPr lang="zh-CN" altLang="en-US" sz="2800">
                <a:sym typeface="+mn-ea"/>
              </a:rPr>
              <a:t>和</a:t>
            </a:r>
            <a:r>
              <a:rPr lang="en-US" altLang="zh-CN" sz="2800">
                <a:sym typeface="+mn-ea"/>
              </a:rPr>
              <a:t>s1.id</a:t>
            </a:r>
            <a:r>
              <a:rPr lang="zh-CN" altLang="en-US" sz="2800">
                <a:sym typeface="+mn-ea"/>
              </a:rPr>
              <a:t>相同；</a:t>
            </a:r>
            <a:r>
              <a:rPr lang="en-US" altLang="zh-CN" sz="2800">
                <a:sym typeface="+mn-ea"/>
              </a:rPr>
              <a:t>s2</a:t>
            </a:r>
            <a:r>
              <a:rPr lang="zh-CN" altLang="en-US" sz="2800">
                <a:sym typeface="+mn-ea"/>
              </a:rPr>
              <a:t>的日期在</a:t>
            </a:r>
            <a:r>
              <a:rPr lang="en-US" altLang="zh-CN" sz="2800">
                <a:sym typeface="+mn-ea"/>
              </a:rPr>
              <a:t>[s1</a:t>
            </a:r>
            <a:r>
              <a:rPr lang="zh-CN" altLang="en-US" sz="2800">
                <a:sym typeface="+mn-ea"/>
              </a:rPr>
              <a:t>日期</a:t>
            </a:r>
            <a:r>
              <a:rPr lang="en-US" altLang="zh-CN" sz="2800">
                <a:sym typeface="+mn-ea"/>
              </a:rPr>
              <a:t>, s1</a:t>
            </a:r>
            <a:r>
              <a:rPr lang="zh-CN" altLang="en-US" sz="2800">
                <a:sym typeface="+mn-ea"/>
              </a:rPr>
              <a:t>日期</a:t>
            </a:r>
            <a:r>
              <a:rPr lang="en-US" altLang="zh-CN" sz="2800">
                <a:sym typeface="+mn-ea"/>
              </a:rPr>
              <a:t>+6]</a:t>
            </a:r>
            <a:r>
              <a:rPr lang="zh-CN" altLang="en-US" sz="2800">
                <a:sym typeface="+mn-ea"/>
              </a:rPr>
              <a:t>范围内；对</a:t>
            </a:r>
            <a:r>
              <a:rPr lang="en-US" altLang="zh-CN" sz="2800">
                <a:sym typeface="+mn-ea"/>
              </a:rPr>
              <a:t>s2</a:t>
            </a:r>
            <a:r>
              <a:rPr lang="zh-CN" altLang="en-US" sz="2800">
                <a:sym typeface="+mn-ea"/>
              </a:rPr>
              <a:t>分组，要求组内元素等于</a:t>
            </a:r>
            <a:r>
              <a:rPr lang="en-US" altLang="zh-CN" sz="2800">
                <a:sym typeface="+mn-ea"/>
              </a:rPr>
              <a:t>7</a:t>
            </a:r>
            <a:r>
              <a:rPr lang="zh-CN" altLang="en-US" sz="2800">
                <a:sym typeface="+mn-ea"/>
              </a:rPr>
              <a:t>。</a:t>
            </a:r>
            <a:endParaRPr lang="zh-CN" altLang="en-US" sz="2800">
              <a:sym typeface="+mn-ea"/>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62890" y="22225"/>
            <a:ext cx="11619230" cy="829945"/>
          </a:xfrm>
          <a:prstGeom prst="rect">
            <a:avLst/>
          </a:prstGeom>
          <a:noFill/>
        </p:spPr>
        <p:txBody>
          <a:bodyPr wrap="square" rtlCol="0" anchor="t">
            <a:spAutoFit/>
          </a:bodyPr>
          <a:p>
            <a:r>
              <a:rPr lang="en-US" altLang="zh-CN" sz="2400">
                <a:solidFill>
                  <a:schemeClr val="bg1"/>
                </a:solidFill>
                <a:sym typeface="+mn-ea"/>
              </a:rPr>
              <a:t>“</a:t>
            </a:r>
            <a:r>
              <a:rPr lang="zh-CN" altLang="en-US" sz="2400">
                <a:solidFill>
                  <a:schemeClr val="bg1"/>
                </a:solidFill>
                <a:sym typeface="+mn-ea"/>
              </a:rPr>
              <a:t>有个表格</a:t>
            </a:r>
            <a:r>
              <a:rPr lang="en-US" altLang="zh-CN" sz="2400">
                <a:solidFill>
                  <a:schemeClr val="bg1"/>
                </a:solidFill>
                <a:sym typeface="+mn-ea"/>
              </a:rPr>
              <a:t> S</a:t>
            </a:r>
            <a:r>
              <a:rPr lang="zh-CN" altLang="en-US" sz="2400">
                <a:solidFill>
                  <a:schemeClr val="bg1"/>
                </a:solidFill>
                <a:sym typeface="+mn-ea"/>
              </a:rPr>
              <a:t>（</a:t>
            </a:r>
            <a:r>
              <a:rPr lang="en-US" altLang="zh-CN" sz="2400">
                <a:solidFill>
                  <a:schemeClr val="bg1"/>
                </a:solidFill>
                <a:sym typeface="+mn-ea"/>
              </a:rPr>
              <a:t>id, login_date)</a:t>
            </a:r>
            <a:r>
              <a:rPr lang="zh-CN" altLang="en-US" sz="2400">
                <a:solidFill>
                  <a:schemeClr val="bg1"/>
                </a:solidFill>
                <a:sym typeface="+mn-ea"/>
              </a:rPr>
              <a:t>，其中</a:t>
            </a:r>
            <a:r>
              <a:rPr lang="en-US" altLang="zh-CN" sz="2400">
                <a:solidFill>
                  <a:schemeClr val="bg1"/>
                </a:solidFill>
                <a:sym typeface="+mn-ea"/>
              </a:rPr>
              <a:t> login_date</a:t>
            </a:r>
            <a:r>
              <a:rPr lang="zh-CN" altLang="en-US" sz="2400">
                <a:solidFill>
                  <a:schemeClr val="bg1"/>
                </a:solidFill>
                <a:sym typeface="+mn-ea"/>
              </a:rPr>
              <a:t>是登录系统的日期。请用</a:t>
            </a:r>
            <a:r>
              <a:rPr lang="en-US" altLang="zh-CN" sz="2400">
                <a:solidFill>
                  <a:schemeClr val="bg1"/>
                </a:solidFill>
                <a:sym typeface="+mn-ea"/>
              </a:rPr>
              <a:t>SQL</a:t>
            </a:r>
            <a:r>
              <a:rPr lang="zh-CN" altLang="en-US" sz="2400">
                <a:solidFill>
                  <a:schemeClr val="bg1"/>
                </a:solidFill>
                <a:sym typeface="+mn-ea"/>
              </a:rPr>
              <a:t>找出连续</a:t>
            </a:r>
            <a:r>
              <a:rPr lang="en-US" altLang="zh-CN" sz="2400">
                <a:solidFill>
                  <a:schemeClr val="bg1"/>
                </a:solidFill>
                <a:sym typeface="+mn-ea"/>
              </a:rPr>
              <a:t>7</a:t>
            </a:r>
            <a:r>
              <a:rPr lang="zh-CN" altLang="en-US" sz="2400">
                <a:solidFill>
                  <a:schemeClr val="bg1"/>
                </a:solidFill>
                <a:sym typeface="+mn-ea"/>
              </a:rPr>
              <a:t>天及以上登录系统的用户</a:t>
            </a:r>
            <a:r>
              <a:rPr lang="en-US" altLang="zh-CN" sz="2400">
                <a:solidFill>
                  <a:schemeClr val="bg1"/>
                </a:solidFill>
                <a:sym typeface="+mn-ea"/>
              </a:rPr>
              <a:t>id</a:t>
            </a:r>
            <a:r>
              <a:rPr lang="zh-CN" altLang="en-US" sz="2400">
                <a:solidFill>
                  <a:schemeClr val="bg1"/>
                </a:solidFill>
                <a:sym typeface="+mn-ea"/>
              </a:rPr>
              <a:t>。</a:t>
            </a:r>
            <a:r>
              <a:rPr lang="en-US" altLang="zh-CN" sz="2400">
                <a:solidFill>
                  <a:schemeClr val="bg1"/>
                </a:solidFill>
                <a:sym typeface="+mn-ea"/>
              </a:rPr>
              <a:t>” </a:t>
            </a:r>
            <a:endParaRPr lang="en-US" altLang="zh-CN" sz="2400">
              <a:solidFill>
                <a:schemeClr val="bg1"/>
              </a:solidFill>
              <a:sym typeface="+mn-ea"/>
            </a:endParaRPr>
          </a:p>
        </p:txBody>
      </p:sp>
      <p:pic>
        <p:nvPicPr>
          <p:cNvPr id="4" name="图片 3"/>
          <p:cNvPicPr>
            <a:picLocks noChangeAspect="1"/>
          </p:cNvPicPr>
          <p:nvPr/>
        </p:nvPicPr>
        <p:blipFill>
          <a:blip r:embed="rId1"/>
          <a:stretch>
            <a:fillRect/>
          </a:stretch>
        </p:blipFill>
        <p:spPr>
          <a:xfrm>
            <a:off x="262890" y="1125220"/>
            <a:ext cx="8250555" cy="2777490"/>
          </a:xfrm>
          <a:prstGeom prst="rect">
            <a:avLst/>
          </a:prstGeom>
        </p:spPr>
      </p:pic>
      <p:sp>
        <p:nvSpPr>
          <p:cNvPr id="3" name="文本框 2"/>
          <p:cNvSpPr txBox="1"/>
          <p:nvPr/>
        </p:nvSpPr>
        <p:spPr>
          <a:xfrm>
            <a:off x="262890" y="4004945"/>
            <a:ext cx="12065000" cy="2306955"/>
          </a:xfrm>
          <a:prstGeom prst="rect">
            <a:avLst/>
          </a:prstGeom>
          <a:noFill/>
        </p:spPr>
        <p:txBody>
          <a:bodyPr wrap="square" rtlCol="0" anchor="t">
            <a:spAutoFit/>
          </a:bodyPr>
          <a:p>
            <a:r>
              <a:rPr lang="en-US" altLang="zh-CN" sz="2400">
                <a:sym typeface="+mn-ea"/>
              </a:rPr>
              <a:t>s2.id</a:t>
            </a:r>
            <a:r>
              <a:rPr lang="zh-CN" altLang="en-US" sz="2400">
                <a:sym typeface="+mn-ea"/>
              </a:rPr>
              <a:t>和</a:t>
            </a:r>
            <a:r>
              <a:rPr lang="en-US" altLang="zh-CN" sz="2400">
                <a:sym typeface="+mn-ea"/>
              </a:rPr>
              <a:t>s1.id</a:t>
            </a:r>
            <a:r>
              <a:rPr lang="zh-CN" altLang="en-US" sz="2400">
                <a:sym typeface="+mn-ea"/>
              </a:rPr>
              <a:t>相同；</a:t>
            </a:r>
            <a:r>
              <a:rPr lang="en-US" altLang="zh-CN" sz="2400">
                <a:sym typeface="+mn-ea"/>
              </a:rPr>
              <a:t>s2</a:t>
            </a:r>
            <a:r>
              <a:rPr lang="zh-CN" altLang="en-US" sz="2400">
                <a:sym typeface="+mn-ea"/>
              </a:rPr>
              <a:t>的日期在</a:t>
            </a:r>
            <a:r>
              <a:rPr lang="en-US" altLang="zh-CN" sz="2400">
                <a:sym typeface="+mn-ea"/>
              </a:rPr>
              <a:t>[s1</a:t>
            </a:r>
            <a:r>
              <a:rPr lang="zh-CN" altLang="en-US" sz="2400">
                <a:sym typeface="+mn-ea"/>
              </a:rPr>
              <a:t>日期</a:t>
            </a:r>
            <a:r>
              <a:rPr lang="en-US" altLang="zh-CN" sz="2400">
                <a:sym typeface="+mn-ea"/>
              </a:rPr>
              <a:t>, s1</a:t>
            </a:r>
            <a:r>
              <a:rPr lang="zh-CN" altLang="en-US" sz="2400">
                <a:sym typeface="+mn-ea"/>
              </a:rPr>
              <a:t>日期</a:t>
            </a:r>
            <a:r>
              <a:rPr lang="en-US" altLang="zh-CN" sz="2400">
                <a:sym typeface="+mn-ea"/>
              </a:rPr>
              <a:t>+6]</a:t>
            </a:r>
            <a:r>
              <a:rPr lang="zh-CN" altLang="en-US" sz="2400">
                <a:sym typeface="+mn-ea"/>
              </a:rPr>
              <a:t>范围内；对</a:t>
            </a:r>
            <a:r>
              <a:rPr lang="en-US" altLang="zh-CN" sz="2400">
                <a:sym typeface="+mn-ea"/>
              </a:rPr>
              <a:t>s2</a:t>
            </a:r>
            <a:r>
              <a:rPr lang="zh-CN" altLang="en-US" sz="2400">
                <a:sym typeface="+mn-ea"/>
              </a:rPr>
              <a:t>分组，要求组内元素等于</a:t>
            </a:r>
            <a:r>
              <a:rPr lang="en-US" altLang="zh-CN" sz="2400">
                <a:sym typeface="+mn-ea"/>
              </a:rPr>
              <a:t>7</a:t>
            </a:r>
            <a:r>
              <a:rPr lang="zh-CN" altLang="en-US" sz="2400">
                <a:sym typeface="+mn-ea"/>
              </a:rPr>
              <a:t>。</a:t>
            </a:r>
            <a:endParaRPr lang="zh-CN" altLang="en-US" sz="2400">
              <a:sym typeface="+mn-ea"/>
            </a:endParaRPr>
          </a:p>
          <a:p>
            <a:r>
              <a:rPr lang="zh-CN" altLang="en-US" sz="2400">
                <a:sym typeface="+mn-ea"/>
              </a:rPr>
              <a:t>若</a:t>
            </a:r>
            <a:r>
              <a:rPr lang="en-US" altLang="zh-CN" sz="2400">
                <a:sym typeface="+mn-ea"/>
              </a:rPr>
              <a:t>s1</a:t>
            </a:r>
            <a:r>
              <a:rPr lang="zh-CN" altLang="en-US" sz="2400">
                <a:sym typeface="+mn-ea"/>
              </a:rPr>
              <a:t>中某用户</a:t>
            </a:r>
            <a:r>
              <a:rPr lang="en-US" altLang="zh-CN" sz="2400">
                <a:sym typeface="+mn-ea"/>
              </a:rPr>
              <a:t>id</a:t>
            </a:r>
            <a:r>
              <a:rPr lang="zh-CN" altLang="en-US" sz="2400">
                <a:sym typeface="+mn-ea"/>
              </a:rPr>
              <a:t>满足条件（连续</a:t>
            </a:r>
            <a:r>
              <a:rPr lang="en-US" altLang="zh-CN" sz="2400">
                <a:sym typeface="+mn-ea"/>
              </a:rPr>
              <a:t>7</a:t>
            </a:r>
            <a:r>
              <a:rPr lang="zh-CN" altLang="en-US" sz="2400">
                <a:sym typeface="+mn-ea"/>
              </a:rPr>
              <a:t>天及以上登录），则一定在</a:t>
            </a:r>
            <a:r>
              <a:rPr lang="en-US" altLang="zh-CN" sz="2400">
                <a:sym typeface="+mn-ea"/>
              </a:rPr>
              <a:t>s2</a:t>
            </a:r>
            <a:r>
              <a:rPr lang="zh-CN" altLang="en-US" sz="2400">
                <a:sym typeface="+mn-ea"/>
              </a:rPr>
              <a:t>中能找到一个使得内层查询不空的元组。</a:t>
            </a:r>
            <a:endParaRPr lang="zh-CN" altLang="en-US" sz="2400">
              <a:sym typeface="+mn-ea"/>
            </a:endParaRPr>
          </a:p>
          <a:p>
            <a:endParaRPr lang="zh-CN" altLang="en-US" sz="2400">
              <a:sym typeface="+mn-ea"/>
            </a:endParaRPr>
          </a:p>
          <a:p>
            <a:r>
              <a:rPr lang="zh-CN" altLang="en-US" sz="2400">
                <a:sym typeface="+mn-ea"/>
              </a:rPr>
              <a:t>有个大模型曾经告诉我，上面语句找不出来连续</a:t>
            </a:r>
            <a:r>
              <a:rPr lang="en-US" altLang="zh-CN" sz="2400">
                <a:sym typeface="+mn-ea"/>
              </a:rPr>
              <a:t>8</a:t>
            </a:r>
            <a:r>
              <a:rPr lang="zh-CN" altLang="en-US" sz="2400">
                <a:sym typeface="+mn-ea"/>
              </a:rPr>
              <a:t>天及以上登录的记录。你觉得</a:t>
            </a:r>
            <a:r>
              <a:rPr lang="zh-CN" altLang="en-US" sz="2400">
                <a:sym typeface="+mn-ea"/>
              </a:rPr>
              <a:t>对吗？</a:t>
            </a:r>
            <a:endParaRPr lang="zh-CN" altLang="en-US" sz="2400">
              <a:sym typeface="+mn-ea"/>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1026"/>
          <p:cNvSpPr>
            <a:spLocks noGrp="1" noChangeArrowheads="1"/>
          </p:cNvSpPr>
          <p:nvPr/>
        </p:nvSpPr>
        <p:spPr>
          <a:xfrm>
            <a:off x="609600" y="-33338"/>
            <a:ext cx="10972800" cy="113188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a:t>课堂</a:t>
            </a:r>
            <a:r>
              <a:rPr lang="zh-CN" altLang="en-US" sz="3600"/>
              <a:t>练习</a:t>
            </a:r>
            <a:endParaRPr lang="zh-CN" altLang="en-US" sz="3600"/>
          </a:p>
        </p:txBody>
      </p:sp>
      <p:sp>
        <p:nvSpPr>
          <p:cNvPr id="2" name="文本框 1"/>
          <p:cNvSpPr txBox="1"/>
          <p:nvPr/>
        </p:nvSpPr>
        <p:spPr>
          <a:xfrm>
            <a:off x="335280" y="908685"/>
            <a:ext cx="11248390" cy="1198880"/>
          </a:xfrm>
          <a:prstGeom prst="rect">
            <a:avLst/>
          </a:prstGeom>
          <a:noFill/>
        </p:spPr>
        <p:txBody>
          <a:bodyPr wrap="square" rtlCol="0" anchor="t">
            <a:spAutoFit/>
          </a:bodyPr>
          <a:p>
            <a:r>
              <a:rPr lang="en-US" altLang="zh-CN" sz="2400">
                <a:sym typeface="+mn-ea"/>
              </a:rPr>
              <a:t>“</a:t>
            </a:r>
            <a:r>
              <a:rPr lang="zh-CN" altLang="en-US" sz="2400">
                <a:sym typeface="+mn-ea"/>
              </a:rPr>
              <a:t>请用</a:t>
            </a:r>
            <a:r>
              <a:rPr lang="en-US" altLang="zh-CN" sz="2400">
                <a:sym typeface="+mn-ea"/>
              </a:rPr>
              <a:t>SQL</a:t>
            </a:r>
            <a:r>
              <a:rPr lang="zh-CN" altLang="en-US" sz="2400">
                <a:sym typeface="+mn-ea"/>
              </a:rPr>
              <a:t>语言来实现查询</a:t>
            </a:r>
            <a:r>
              <a:rPr lang="en-US" altLang="zh-CN" sz="2400">
                <a:sym typeface="+mn-ea"/>
              </a:rPr>
              <a:t> “</a:t>
            </a:r>
            <a:r>
              <a:rPr lang="zh-CN" altLang="en-US" sz="2400">
                <a:sym typeface="+mn-ea"/>
              </a:rPr>
              <a:t>查找这样的学生，他们选修的课程数大于等于所在专业其他同学选修的课程数</a:t>
            </a:r>
            <a:r>
              <a:rPr lang="en-US" altLang="zh-CN" sz="2400">
                <a:sym typeface="+mn-ea"/>
              </a:rPr>
              <a:t>”</a:t>
            </a:r>
            <a:endParaRPr lang="en-US" altLang="zh-CN" sz="2400">
              <a:sym typeface="+mn-ea"/>
            </a:endParaRPr>
          </a:p>
          <a:p>
            <a:r>
              <a:rPr lang="zh-CN" altLang="en-US" sz="2400">
                <a:sym typeface="+mn-ea"/>
              </a:rPr>
              <a:t>下面语句正确</a:t>
            </a:r>
            <a:r>
              <a:rPr lang="zh-CN" altLang="en-US" sz="2400">
                <a:sym typeface="+mn-ea"/>
              </a:rPr>
              <a:t>吗？</a:t>
            </a:r>
            <a:endParaRPr lang="zh-CN" altLang="en-US" sz="2400">
              <a:sym typeface="+mn-ea"/>
            </a:endParaRPr>
          </a:p>
        </p:txBody>
      </p:sp>
      <p:sp>
        <p:nvSpPr>
          <p:cNvPr id="4" name="文本框 3"/>
          <p:cNvSpPr txBox="1"/>
          <p:nvPr/>
        </p:nvSpPr>
        <p:spPr>
          <a:xfrm>
            <a:off x="1775460" y="2276475"/>
            <a:ext cx="9589770" cy="3415030"/>
          </a:xfrm>
          <a:prstGeom prst="rect">
            <a:avLst/>
          </a:prstGeom>
          <a:noFill/>
        </p:spPr>
        <p:txBody>
          <a:bodyPr wrap="square" rtlCol="0" anchor="t">
            <a:spAutoFit/>
          </a:bodyPr>
          <a:p>
            <a:r>
              <a:rPr lang="en-US" altLang="zh-CN"/>
              <a:t>SELECT  DISTINCT s.Sno, s.Sname, s.Smajor</a:t>
            </a:r>
            <a:endParaRPr lang="en-US" altLang="zh-CN"/>
          </a:p>
          <a:p>
            <a:r>
              <a:rPr lang="en-US" altLang="zh-CN"/>
              <a:t>FROM    Student s</a:t>
            </a:r>
            <a:endParaRPr lang="en-US" altLang="zh-CN"/>
          </a:p>
          <a:p>
            <a:r>
              <a:rPr lang="en-US" altLang="zh-CN"/>
              <a:t>JOIN    SC sc1 ON s.Sno = sc1.Sno          -- </a:t>
            </a:r>
            <a:r>
              <a:rPr lang="zh-CN" altLang="en-US"/>
              <a:t>得到该生的所有选课</a:t>
            </a:r>
            <a:endParaRPr lang="zh-CN" altLang="en-US"/>
          </a:p>
          <a:p>
            <a:r>
              <a:rPr lang="en-US" altLang="zh-CN"/>
              <a:t>WHERE   NOT EXISTS (                       -- </a:t>
            </a:r>
            <a:r>
              <a:rPr lang="zh-CN" altLang="en-US"/>
              <a:t>只要找不到比他多的</a:t>
            </a:r>
            <a:r>
              <a:rPr lang="en-US" altLang="zh-CN"/>
              <a:t>“</a:t>
            </a:r>
            <a:r>
              <a:rPr lang="zh-CN" altLang="en-US"/>
              <a:t>其他同学</a:t>
            </a:r>
            <a:r>
              <a:rPr lang="en-US" altLang="zh-CN"/>
              <a:t>”</a:t>
            </a:r>
            <a:r>
              <a:rPr lang="zh-CN" altLang="en-US"/>
              <a:t>即可</a:t>
            </a:r>
            <a:endParaRPr lang="zh-CN" altLang="en-US"/>
          </a:p>
          <a:p>
            <a:r>
              <a:rPr lang="en-US" altLang="zh-CN"/>
              <a:t>        SELECT 1</a:t>
            </a:r>
            <a:endParaRPr lang="en-US" altLang="zh-CN"/>
          </a:p>
          <a:p>
            <a:r>
              <a:rPr lang="en-US" altLang="zh-CN"/>
              <a:t>        FROM   Student t</a:t>
            </a:r>
            <a:endParaRPr lang="en-US" altLang="zh-CN"/>
          </a:p>
          <a:p>
            <a:r>
              <a:rPr lang="en-US" altLang="zh-CN"/>
              <a:t>        JOIN   SC sc2 ON t.Sno = sc2.Sno</a:t>
            </a:r>
            <a:endParaRPr lang="en-US" altLang="zh-CN"/>
          </a:p>
          <a:p>
            <a:r>
              <a:rPr lang="en-US" altLang="zh-CN"/>
              <a:t>        WHERE  t.Smajor = s.Smajor         -- </a:t>
            </a:r>
            <a:r>
              <a:rPr lang="zh-CN" altLang="en-US"/>
              <a:t>同一专业</a:t>
            </a:r>
            <a:endParaRPr lang="zh-CN" altLang="en-US"/>
          </a:p>
          <a:p>
            <a:r>
              <a:rPr lang="en-US" altLang="zh-CN"/>
              <a:t>          AND  t.Sno   &lt;&gt; s.Sno            -- </a:t>
            </a:r>
            <a:r>
              <a:rPr lang="zh-CN" altLang="en-US"/>
              <a:t>排除自己</a:t>
            </a:r>
            <a:endParaRPr lang="zh-CN" altLang="en-US"/>
          </a:p>
          <a:p>
            <a:r>
              <a:rPr lang="en-US" altLang="zh-CN"/>
              <a:t>        GROUP  BY t.Sno</a:t>
            </a:r>
            <a:endParaRPr lang="en-US" altLang="zh-CN"/>
          </a:p>
          <a:p>
            <a:r>
              <a:rPr lang="en-US" altLang="zh-CN"/>
              <a:t>       </a:t>
            </a:r>
            <a:r>
              <a:rPr lang="en-US" altLang="zh-CN">
                <a:solidFill>
                  <a:schemeClr val="tx1"/>
                </a:solidFill>
              </a:rPr>
              <a:t> HAVING COUNT(*) &gt; COUNT(sc1.Cno)  </a:t>
            </a:r>
            <a:r>
              <a:rPr lang="en-US" altLang="zh-CN"/>
              <a:t> -- </a:t>
            </a:r>
            <a:r>
              <a:rPr lang="zh-CN" altLang="en-US"/>
              <a:t>只要存在某同学选课数</a:t>
            </a:r>
            <a:r>
              <a:rPr lang="en-US" altLang="zh-CN"/>
              <a:t> &gt; </a:t>
            </a:r>
            <a:r>
              <a:rPr lang="zh-CN" altLang="en-US"/>
              <a:t>该生选课数</a:t>
            </a:r>
            <a:endParaRPr lang="zh-CN" altLang="en-US"/>
          </a:p>
          <a:p>
            <a:r>
              <a:rPr lang="en-US" altLang="zh-CN"/>
              <a:t>);</a:t>
            </a: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262890" y="1125220"/>
            <a:ext cx="3132455" cy="4883150"/>
          </a:xfrm>
          <a:prstGeom prst="rect">
            <a:avLst/>
          </a:prstGeom>
        </p:spPr>
      </p:pic>
      <p:pic>
        <p:nvPicPr>
          <p:cNvPr id="5" name="图片 4"/>
          <p:cNvPicPr>
            <a:picLocks noChangeAspect="1"/>
          </p:cNvPicPr>
          <p:nvPr/>
        </p:nvPicPr>
        <p:blipFill>
          <a:blip r:embed="rId2"/>
          <a:stretch>
            <a:fillRect/>
          </a:stretch>
        </p:blipFill>
        <p:spPr>
          <a:xfrm>
            <a:off x="7778750" y="4155440"/>
            <a:ext cx="2807970" cy="2001520"/>
          </a:xfrm>
          <a:prstGeom prst="rect">
            <a:avLst/>
          </a:prstGeom>
        </p:spPr>
      </p:pic>
      <p:pic>
        <p:nvPicPr>
          <p:cNvPr id="6" name="图片 5"/>
          <p:cNvPicPr>
            <a:picLocks noChangeAspect="1"/>
          </p:cNvPicPr>
          <p:nvPr/>
        </p:nvPicPr>
        <p:blipFill>
          <a:blip r:embed="rId3"/>
          <a:stretch>
            <a:fillRect/>
          </a:stretch>
        </p:blipFill>
        <p:spPr>
          <a:xfrm>
            <a:off x="7778750" y="1967230"/>
            <a:ext cx="3096260" cy="1570355"/>
          </a:xfrm>
          <a:prstGeom prst="rect">
            <a:avLst/>
          </a:prstGeom>
        </p:spPr>
      </p:pic>
      <p:sp>
        <p:nvSpPr>
          <p:cNvPr id="7" name="文本框 6"/>
          <p:cNvSpPr txBox="1"/>
          <p:nvPr/>
        </p:nvSpPr>
        <p:spPr>
          <a:xfrm>
            <a:off x="335280" y="116840"/>
            <a:ext cx="10786110" cy="460375"/>
          </a:xfrm>
          <a:prstGeom prst="rect">
            <a:avLst/>
          </a:prstGeom>
          <a:noFill/>
        </p:spPr>
        <p:txBody>
          <a:bodyPr wrap="square" rtlCol="0" anchor="t">
            <a:spAutoFit/>
          </a:bodyPr>
          <a:p>
            <a:r>
              <a:rPr lang="en-US" altLang="zh-CN" sz="2400">
                <a:solidFill>
                  <a:schemeClr val="bg1"/>
                </a:solidFill>
                <a:sym typeface="+mn-ea"/>
              </a:rPr>
              <a:t>“</a:t>
            </a:r>
            <a:r>
              <a:rPr lang="zh-CN" altLang="en-US" sz="2400">
                <a:solidFill>
                  <a:schemeClr val="bg1"/>
                </a:solidFill>
                <a:sym typeface="+mn-ea"/>
              </a:rPr>
              <a:t>查找这样的学生，他们选修的课程数大于等于所在专业其他同学选修的课程数</a:t>
            </a:r>
            <a:r>
              <a:rPr lang="en-US" altLang="zh-CN" sz="2400">
                <a:solidFill>
                  <a:schemeClr val="bg1"/>
                </a:solidFill>
                <a:sym typeface="+mn-ea"/>
              </a:rPr>
              <a:t>”</a:t>
            </a:r>
            <a:endParaRPr lang="en-US" altLang="zh-CN" sz="2400">
              <a:solidFill>
                <a:schemeClr val="bg1"/>
              </a:solidFill>
              <a:sym typeface="+mn-ea"/>
            </a:endParaRPr>
          </a:p>
        </p:txBody>
      </p:sp>
      <p:sp>
        <p:nvSpPr>
          <p:cNvPr id="9" name="文本框 8"/>
          <p:cNvSpPr txBox="1"/>
          <p:nvPr/>
        </p:nvSpPr>
        <p:spPr>
          <a:xfrm>
            <a:off x="3568065" y="2019935"/>
            <a:ext cx="3905885" cy="2584450"/>
          </a:xfrm>
          <a:prstGeom prst="rect">
            <a:avLst/>
          </a:prstGeom>
          <a:noFill/>
        </p:spPr>
        <p:txBody>
          <a:bodyPr wrap="square" rtlCol="0" anchor="t">
            <a:spAutoFit/>
          </a:bodyPr>
          <a:p>
            <a:r>
              <a:rPr lang="zh-CN" altLang="en-US"/>
              <a:t>此数据集包含：</a:t>
            </a:r>
            <a:endParaRPr lang="zh-CN" altLang="en-US"/>
          </a:p>
          <a:p>
            <a:r>
              <a:rPr lang="en-US" altLang="zh-CN"/>
              <a:t>​​CS</a:t>
            </a:r>
            <a:r>
              <a:rPr lang="zh-CN" altLang="en-US"/>
              <a:t>专业</a:t>
            </a:r>
            <a:r>
              <a:rPr lang="en-US" altLang="zh-CN"/>
              <a:t>​​</a:t>
            </a:r>
            <a:r>
              <a:rPr lang="zh-CN" altLang="en-US"/>
              <a:t>：</a:t>
            </a:r>
            <a:endParaRPr lang="zh-CN" altLang="en-US"/>
          </a:p>
          <a:p>
            <a:r>
              <a:rPr lang="en-US" altLang="zh-CN"/>
              <a:t>S1</a:t>
            </a:r>
            <a:r>
              <a:rPr lang="zh-CN" altLang="en-US"/>
              <a:t>和</a:t>
            </a:r>
            <a:r>
              <a:rPr lang="en-US" altLang="zh-CN"/>
              <a:t>S2</a:t>
            </a:r>
            <a:r>
              <a:rPr lang="zh-CN" altLang="en-US"/>
              <a:t>：</a:t>
            </a:r>
            <a:r>
              <a:rPr lang="en-US" altLang="zh-CN"/>
              <a:t>3</a:t>
            </a:r>
            <a:r>
              <a:rPr lang="zh-CN" altLang="en-US"/>
              <a:t>门课（并列最多）</a:t>
            </a:r>
            <a:endParaRPr lang="zh-CN" altLang="en-US"/>
          </a:p>
          <a:p>
            <a:r>
              <a:rPr lang="en-US" altLang="zh-CN"/>
              <a:t>S3</a:t>
            </a:r>
            <a:r>
              <a:rPr lang="zh-CN" altLang="en-US"/>
              <a:t>：</a:t>
            </a:r>
            <a:r>
              <a:rPr lang="en-US" altLang="zh-CN"/>
              <a:t>2</a:t>
            </a:r>
            <a:r>
              <a:rPr lang="zh-CN" altLang="en-US"/>
              <a:t>门课（存在比他多的同学）</a:t>
            </a:r>
            <a:endParaRPr lang="zh-CN" altLang="en-US"/>
          </a:p>
          <a:p>
            <a:r>
              <a:rPr lang="en-US" altLang="zh-CN"/>
              <a:t>S4</a:t>
            </a:r>
            <a:r>
              <a:rPr lang="zh-CN" altLang="en-US"/>
              <a:t>：</a:t>
            </a:r>
            <a:r>
              <a:rPr lang="en-US" altLang="zh-CN"/>
              <a:t>0</a:t>
            </a:r>
            <a:r>
              <a:rPr lang="zh-CN" altLang="en-US"/>
              <a:t>门课（无选课）</a:t>
            </a:r>
            <a:endParaRPr lang="zh-CN" altLang="en-US"/>
          </a:p>
          <a:p>
            <a:r>
              <a:rPr lang="en-US" altLang="zh-CN"/>
              <a:t>​​EE</a:t>
            </a:r>
            <a:r>
              <a:rPr lang="zh-CN" altLang="en-US"/>
              <a:t>专业</a:t>
            </a:r>
            <a:r>
              <a:rPr lang="en-US" altLang="zh-CN"/>
              <a:t>​​</a:t>
            </a:r>
            <a:r>
              <a:rPr lang="zh-CN" altLang="en-US"/>
              <a:t>：</a:t>
            </a:r>
            <a:endParaRPr lang="zh-CN" altLang="en-US"/>
          </a:p>
          <a:p>
            <a:r>
              <a:rPr lang="en-US" altLang="zh-CN"/>
              <a:t>S5</a:t>
            </a:r>
            <a:r>
              <a:rPr lang="zh-CN" altLang="en-US"/>
              <a:t>：</a:t>
            </a:r>
            <a:r>
              <a:rPr lang="en-US" altLang="zh-CN"/>
              <a:t>2</a:t>
            </a:r>
            <a:r>
              <a:rPr lang="zh-CN" altLang="en-US"/>
              <a:t>门课（唯一最多）</a:t>
            </a:r>
            <a:endParaRPr lang="zh-CN" altLang="en-US"/>
          </a:p>
          <a:p>
            <a:r>
              <a:rPr lang="en-US" altLang="zh-CN"/>
              <a:t>S6</a:t>
            </a:r>
            <a:r>
              <a:rPr lang="zh-CN" altLang="en-US"/>
              <a:t>：</a:t>
            </a:r>
            <a:r>
              <a:rPr lang="en-US" altLang="zh-CN"/>
              <a:t>1</a:t>
            </a:r>
            <a:r>
              <a:rPr lang="zh-CN" altLang="en-US"/>
              <a:t>门课（存在比他多的同学）</a:t>
            </a:r>
            <a:endParaRPr lang="zh-CN" altLang="en-US"/>
          </a:p>
          <a:p>
            <a:r>
              <a:rPr lang="en-US" altLang="zh-CN"/>
              <a:t>S7</a:t>
            </a:r>
            <a:r>
              <a:rPr lang="zh-CN" altLang="en-US"/>
              <a:t>：</a:t>
            </a:r>
            <a:r>
              <a:rPr lang="en-US" altLang="zh-CN"/>
              <a:t>0</a:t>
            </a:r>
            <a:r>
              <a:rPr lang="zh-CN" altLang="en-US"/>
              <a:t>门课（无选课）</a:t>
            </a:r>
            <a:endParaRPr lang="zh-CN" altLang="en-US"/>
          </a:p>
        </p:txBody>
      </p:sp>
      <p:sp>
        <p:nvSpPr>
          <p:cNvPr id="10" name="文本框 9"/>
          <p:cNvSpPr txBox="1"/>
          <p:nvPr/>
        </p:nvSpPr>
        <p:spPr>
          <a:xfrm>
            <a:off x="7526020" y="1339215"/>
            <a:ext cx="3051175" cy="368300"/>
          </a:xfrm>
          <a:prstGeom prst="rect">
            <a:avLst/>
          </a:prstGeom>
          <a:noFill/>
        </p:spPr>
        <p:txBody>
          <a:bodyPr wrap="square" rtlCol="0" anchor="t">
            <a:spAutoFit/>
          </a:bodyPr>
          <a:p>
            <a:r>
              <a:rPr lang="zh-CN" altLang="en-US">
                <a:sym typeface="+mn-ea"/>
              </a:rPr>
              <a:t>正确</a:t>
            </a:r>
            <a:r>
              <a:rPr lang="zh-CN" altLang="en-US">
                <a:sym typeface="+mn-ea"/>
              </a:rPr>
              <a:t>结果：</a:t>
            </a:r>
            <a:endParaRPr lang="zh-CN" altLang="en-US">
              <a:sym typeface="+mn-ea"/>
            </a:endParaRPr>
          </a:p>
        </p:txBody>
      </p:sp>
      <p:sp>
        <p:nvSpPr>
          <p:cNvPr id="11" name="文本框 10"/>
          <p:cNvSpPr txBox="1"/>
          <p:nvPr/>
        </p:nvSpPr>
        <p:spPr>
          <a:xfrm>
            <a:off x="7473950" y="3594100"/>
            <a:ext cx="3051175" cy="368300"/>
          </a:xfrm>
          <a:prstGeom prst="rect">
            <a:avLst/>
          </a:prstGeom>
          <a:noFill/>
        </p:spPr>
        <p:txBody>
          <a:bodyPr wrap="square" rtlCol="0" anchor="t">
            <a:spAutoFit/>
          </a:bodyPr>
          <a:p>
            <a:r>
              <a:rPr lang="zh-CN" altLang="en-US">
                <a:sym typeface="+mn-ea"/>
              </a:rPr>
              <a:t>运行结果：</a:t>
            </a:r>
            <a:endParaRPr lang="zh-CN" altLang="en-US">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错误</a:t>
            </a:r>
            <a:r>
              <a:rPr lang="zh-CN" altLang="en-US"/>
              <a:t>分析</a:t>
            </a:r>
            <a:endParaRPr lang="zh-CN" altLang="en-US"/>
          </a:p>
        </p:txBody>
      </p:sp>
      <p:sp>
        <p:nvSpPr>
          <p:cNvPr id="4" name="文本框 3"/>
          <p:cNvSpPr txBox="1"/>
          <p:nvPr/>
        </p:nvSpPr>
        <p:spPr>
          <a:xfrm>
            <a:off x="3596640" y="1443355"/>
            <a:ext cx="8386445" cy="3415030"/>
          </a:xfrm>
          <a:prstGeom prst="rect">
            <a:avLst/>
          </a:prstGeom>
          <a:noFill/>
        </p:spPr>
        <p:txBody>
          <a:bodyPr wrap="square" rtlCol="0" anchor="t">
            <a:spAutoFit/>
          </a:bodyPr>
          <a:p>
            <a:r>
              <a:rPr lang="en-US" altLang="zh-CN"/>
              <a:t>SELECT  DISTINCT s.Sno, s.Sname, s.Smajor</a:t>
            </a:r>
            <a:endParaRPr lang="en-US" altLang="zh-CN"/>
          </a:p>
          <a:p>
            <a:r>
              <a:rPr lang="en-US" altLang="zh-CN"/>
              <a:t>FROM    Student s</a:t>
            </a:r>
            <a:endParaRPr lang="en-US" altLang="zh-CN"/>
          </a:p>
          <a:p>
            <a:r>
              <a:rPr lang="en-US" altLang="zh-CN"/>
              <a:t>JOIN    SC sc1 ON s.Sno = sc1.Sno          -- </a:t>
            </a:r>
            <a:r>
              <a:rPr lang="zh-CN" altLang="en-US"/>
              <a:t>得到该生的所有选课</a:t>
            </a:r>
            <a:endParaRPr lang="zh-CN" altLang="en-US"/>
          </a:p>
          <a:p>
            <a:r>
              <a:rPr lang="en-US" altLang="zh-CN"/>
              <a:t>WHERE   NOT EXISTS (                       -- </a:t>
            </a:r>
            <a:r>
              <a:rPr lang="zh-CN" altLang="en-US"/>
              <a:t>只要找不到比他多的</a:t>
            </a:r>
            <a:r>
              <a:rPr lang="en-US" altLang="zh-CN"/>
              <a:t>“</a:t>
            </a:r>
            <a:r>
              <a:rPr lang="zh-CN" altLang="en-US"/>
              <a:t>其他同学</a:t>
            </a:r>
            <a:r>
              <a:rPr lang="en-US" altLang="zh-CN"/>
              <a:t>”</a:t>
            </a:r>
            <a:r>
              <a:rPr lang="zh-CN" altLang="en-US"/>
              <a:t>即可</a:t>
            </a:r>
            <a:endParaRPr lang="zh-CN" altLang="en-US"/>
          </a:p>
          <a:p>
            <a:r>
              <a:rPr lang="en-US" altLang="zh-CN"/>
              <a:t>        SELECT 1</a:t>
            </a:r>
            <a:endParaRPr lang="en-US" altLang="zh-CN"/>
          </a:p>
          <a:p>
            <a:r>
              <a:rPr lang="en-US" altLang="zh-CN"/>
              <a:t>        FROM   Student t</a:t>
            </a:r>
            <a:endParaRPr lang="en-US" altLang="zh-CN"/>
          </a:p>
          <a:p>
            <a:r>
              <a:rPr lang="en-US" altLang="zh-CN"/>
              <a:t>        JOIN   SC sc2 ON t.Sno = sc2.Sno</a:t>
            </a:r>
            <a:endParaRPr lang="en-US" altLang="zh-CN"/>
          </a:p>
          <a:p>
            <a:r>
              <a:rPr lang="en-US" altLang="zh-CN"/>
              <a:t>        WHERE  t.Smajor = s.Smajor         -- </a:t>
            </a:r>
            <a:r>
              <a:rPr lang="zh-CN" altLang="en-US"/>
              <a:t>同一专业</a:t>
            </a:r>
            <a:endParaRPr lang="zh-CN" altLang="en-US"/>
          </a:p>
          <a:p>
            <a:r>
              <a:rPr lang="en-US" altLang="zh-CN"/>
              <a:t>          AND  t.Sno   &lt;&gt; s.Sno            -- </a:t>
            </a:r>
            <a:r>
              <a:rPr lang="zh-CN" altLang="en-US"/>
              <a:t>排除自己</a:t>
            </a:r>
            <a:endParaRPr lang="zh-CN" altLang="en-US"/>
          </a:p>
          <a:p>
            <a:r>
              <a:rPr lang="en-US" altLang="zh-CN"/>
              <a:t>        GROUP  BY t.Sno</a:t>
            </a:r>
            <a:endParaRPr lang="en-US" altLang="zh-CN"/>
          </a:p>
          <a:p>
            <a:r>
              <a:rPr lang="en-US" altLang="zh-CN"/>
              <a:t>        </a:t>
            </a:r>
            <a:r>
              <a:rPr lang="en-US" altLang="zh-CN">
                <a:solidFill>
                  <a:srgbClr val="C00000"/>
                </a:solidFill>
              </a:rPr>
              <a:t>HAVING COUNT(*) &gt; COUNT(sc1.Cno)   -- </a:t>
            </a:r>
            <a:r>
              <a:rPr lang="zh-CN" altLang="en-US">
                <a:solidFill>
                  <a:srgbClr val="C00000"/>
                </a:solidFill>
              </a:rPr>
              <a:t>只要存在某同学选课数</a:t>
            </a:r>
            <a:r>
              <a:rPr lang="en-US" altLang="zh-CN">
                <a:solidFill>
                  <a:srgbClr val="C00000"/>
                </a:solidFill>
              </a:rPr>
              <a:t> &gt; </a:t>
            </a:r>
            <a:r>
              <a:rPr lang="zh-CN" altLang="en-US">
                <a:solidFill>
                  <a:srgbClr val="C00000"/>
                </a:solidFill>
              </a:rPr>
              <a:t>该生选课数</a:t>
            </a:r>
            <a:endParaRPr lang="zh-CN" altLang="en-US"/>
          </a:p>
          <a:p>
            <a:r>
              <a:rPr lang="en-US" altLang="zh-CN"/>
              <a:t>);</a:t>
            </a:r>
            <a:endParaRPr lang="zh-CN" altLang="en-US"/>
          </a:p>
        </p:txBody>
      </p:sp>
      <p:pic>
        <p:nvPicPr>
          <p:cNvPr id="5" name="内容占位符 4"/>
          <p:cNvPicPr>
            <a:picLocks noChangeAspect="1"/>
          </p:cNvPicPr>
          <p:nvPr>
            <p:ph idx="1"/>
          </p:nvPr>
        </p:nvPicPr>
        <p:blipFill>
          <a:blip r:embed="rId1"/>
          <a:stretch>
            <a:fillRect/>
          </a:stretch>
        </p:blipFill>
        <p:spPr>
          <a:xfrm>
            <a:off x="381635" y="1443355"/>
            <a:ext cx="3132455" cy="4883150"/>
          </a:xfrm>
          <a:prstGeom prst="rect">
            <a:avLst/>
          </a:prstGeom>
        </p:spPr>
      </p:pic>
      <p:sp>
        <p:nvSpPr>
          <p:cNvPr id="6" name="文本框 5"/>
          <p:cNvSpPr txBox="1"/>
          <p:nvPr/>
        </p:nvSpPr>
        <p:spPr>
          <a:xfrm>
            <a:off x="3941445" y="5124450"/>
            <a:ext cx="7517130" cy="922020"/>
          </a:xfrm>
          <a:prstGeom prst="rect">
            <a:avLst/>
          </a:prstGeom>
          <a:noFill/>
        </p:spPr>
        <p:txBody>
          <a:bodyPr wrap="square" rtlCol="0" anchor="t">
            <a:spAutoFit/>
          </a:bodyPr>
          <a:p>
            <a:r>
              <a:rPr lang="zh-CN" altLang="en-US">
                <a:sym typeface="+mn-ea"/>
              </a:rPr>
              <a:t>外层查询连接临时表的一个元组</a:t>
            </a:r>
            <a:r>
              <a:rPr lang="en-US" altLang="zh-CN">
                <a:sym typeface="+mn-ea"/>
              </a:rPr>
              <a:t>  &lt;S3, </a:t>
            </a:r>
            <a:r>
              <a:rPr lang="zh-CN" altLang="en-US">
                <a:sym typeface="+mn-ea"/>
              </a:rPr>
              <a:t>王五，</a:t>
            </a:r>
            <a:r>
              <a:rPr lang="en-US" altLang="zh-CN">
                <a:sym typeface="+mn-ea"/>
              </a:rPr>
              <a:t>CS, S3, C1&gt;</a:t>
            </a:r>
            <a:endParaRPr lang="en-US" altLang="zh-CN">
              <a:sym typeface="+mn-ea"/>
            </a:endParaRPr>
          </a:p>
          <a:p>
            <a:r>
              <a:rPr lang="zh-CN" altLang="en-US">
                <a:sym typeface="+mn-ea"/>
              </a:rPr>
              <a:t>代入子查询，求</a:t>
            </a:r>
            <a:r>
              <a:rPr lang="en-US" altLang="zh-CN">
                <a:solidFill>
                  <a:srgbClr val="C00000"/>
                </a:solidFill>
                <a:sym typeface="+mn-ea"/>
              </a:rPr>
              <a:t> Count(sc1.Cno) </a:t>
            </a:r>
            <a:r>
              <a:rPr lang="zh-CN" altLang="en-US">
                <a:solidFill>
                  <a:srgbClr val="C00000"/>
                </a:solidFill>
                <a:sym typeface="+mn-ea"/>
              </a:rPr>
              <a:t>，是在临时表没有分组的情况下做聚合，得到的结果是整个临时表的元组</a:t>
            </a:r>
            <a:r>
              <a:rPr lang="zh-CN" altLang="en-US">
                <a:solidFill>
                  <a:srgbClr val="C00000"/>
                </a:solidFill>
                <a:sym typeface="+mn-ea"/>
              </a:rPr>
              <a:t>个数。</a:t>
            </a:r>
            <a:endParaRPr lang="zh-CN" altLang="en-US">
              <a:solidFill>
                <a:srgbClr val="C00000"/>
              </a:solidFill>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课后作业（节后</a:t>
            </a:r>
            <a:r>
              <a:rPr lang="zh-CN" altLang="en-US"/>
              <a:t>提交）</a:t>
            </a:r>
            <a:endParaRPr lang="zh-CN" altLang="en-US"/>
          </a:p>
        </p:txBody>
      </p:sp>
      <p:sp>
        <p:nvSpPr>
          <p:cNvPr id="3" name="内容占位符 2"/>
          <p:cNvSpPr>
            <a:spLocks noGrp="1"/>
          </p:cNvSpPr>
          <p:nvPr>
            <p:ph idx="1"/>
          </p:nvPr>
        </p:nvSpPr>
        <p:spPr>
          <a:xfrm>
            <a:off x="551180" y="1196341"/>
            <a:ext cx="10972800" cy="4854575"/>
          </a:xfrm>
        </p:spPr>
        <p:txBody>
          <a:bodyPr/>
          <a:p>
            <a:r>
              <a:rPr lang="zh-CN" altLang="en-US" sz="2400">
                <a:sym typeface="+mn-ea"/>
              </a:rPr>
              <a:t>请在</a:t>
            </a:r>
            <a:r>
              <a:rPr lang="en-US" altLang="zh-CN" sz="2400">
                <a:sym typeface="+mn-ea"/>
              </a:rPr>
              <a:t>DBMS</a:t>
            </a:r>
            <a:r>
              <a:rPr lang="zh-CN" altLang="en-US" sz="2400">
                <a:sym typeface="+mn-ea"/>
              </a:rPr>
              <a:t>中建表，设计多个测试用例，检验上面两个语句的正确性。</a:t>
            </a:r>
            <a:endParaRPr lang="zh-CN" altLang="en-US" sz="2400">
              <a:sym typeface="+mn-ea"/>
            </a:endParaRPr>
          </a:p>
          <a:p>
            <a:endParaRPr lang="zh-CN" altLang="en-US" sz="2400">
              <a:sym typeface="+mn-ea"/>
            </a:endParaRPr>
          </a:p>
          <a:p>
            <a:r>
              <a:rPr lang="zh-CN" altLang="en-US" sz="2400">
                <a:sym typeface="+mn-ea"/>
              </a:rPr>
              <a:t>要求：自学构造测试用例的基本方法，比如等价类、路径覆盖、边界值等。选择合适的方法，在大模型帮助下构建测试用例（比如可以让大模型按你的要求生成数据），并在</a:t>
            </a:r>
            <a:r>
              <a:rPr lang="en-US" altLang="zh-CN" sz="2400">
                <a:sym typeface="+mn-ea"/>
              </a:rPr>
              <a:t>DBMS</a:t>
            </a:r>
            <a:r>
              <a:rPr lang="zh-CN" altLang="en-US" sz="2400">
                <a:sym typeface="+mn-ea"/>
              </a:rPr>
              <a:t>中测试。</a:t>
            </a:r>
            <a:endParaRPr lang="zh-CN" altLang="en-US" sz="2400">
              <a:sym typeface="+mn-ea"/>
            </a:endParaRPr>
          </a:p>
          <a:p>
            <a:r>
              <a:rPr lang="zh-CN" altLang="en-US" sz="2400">
                <a:sym typeface="+mn-ea"/>
              </a:rPr>
              <a:t>报告需要包含：你对这两条语句正确性理解（不要求助大模型），测试用例构造方法，多个测试用例内容和执行结果，你的结论。</a:t>
            </a:r>
            <a:endParaRPr lang="zh-CN" altLang="en-US" sz="2400">
              <a:sym typeface="+mn-ea"/>
            </a:endParaRPr>
          </a:p>
          <a:p>
            <a:r>
              <a:rPr lang="zh-CN" altLang="en-US" sz="2400">
                <a:sym typeface="+mn-ea"/>
              </a:rPr>
              <a:t>（可选）可以让大模型在给定数据上模拟执行，并将大模型执行结果和</a:t>
            </a:r>
            <a:r>
              <a:rPr lang="en-US" altLang="zh-CN" sz="2400">
                <a:sym typeface="+mn-ea"/>
              </a:rPr>
              <a:t>DBMS</a:t>
            </a:r>
            <a:r>
              <a:rPr lang="zh-CN" altLang="en-US" sz="2400">
                <a:sym typeface="+mn-ea"/>
              </a:rPr>
              <a:t>执行结果对比。</a:t>
            </a:r>
            <a:endParaRPr lang="zh-CN" altLang="en-US" sz="2400">
              <a:sym typeface="+mn-ea"/>
            </a:endParaRPr>
          </a:p>
          <a:p>
            <a:endParaRPr lang="zh-CN" altLang="en-US" sz="2400">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100355" name="Rectangle 3"/>
          <p:cNvSpPr>
            <a:spLocks noGrp="1" noChangeArrowheads="1"/>
          </p:cNvSpPr>
          <p:nvPr>
            <p:ph type="body" idx="4294967295"/>
          </p:nvPr>
        </p:nvSpPr>
        <p:spPr>
          <a:xfrm>
            <a:off x="1774826" y="1052513"/>
            <a:ext cx="8435975" cy="5283200"/>
          </a:xfrm>
        </p:spPr>
        <p:txBody>
          <a:bodyPr/>
          <a:lstStyle/>
          <a:p>
            <a:pPr eaLnBrk="1" hangingPunct="1"/>
            <a:r>
              <a:rPr lang="en-US" altLang="zh-CN">
                <a:latin typeface="宋体" panose="02010600030101010101" pitchFamily="2" charset="-122"/>
              </a:rPr>
              <a:t> </a:t>
            </a:r>
            <a:r>
              <a:rPr lang="zh-CN" altLang="en-US"/>
              <a:t>不同形式的查询间的替换</a:t>
            </a:r>
            <a:endParaRPr lang="zh-CN" altLang="en-US"/>
          </a:p>
          <a:p>
            <a:pPr lvl="1" eaLnBrk="1" hangingPunct="1"/>
            <a:r>
              <a:rPr lang="zh-CN" altLang="en-US"/>
              <a:t>一些带</a:t>
            </a:r>
            <a:r>
              <a:rPr lang="en-US" altLang="zh-CN"/>
              <a:t>EXISTS</a:t>
            </a:r>
            <a:r>
              <a:rPr lang="zh-CN" altLang="en-US"/>
              <a:t>或</a:t>
            </a:r>
            <a:r>
              <a:rPr lang="en-US" altLang="zh-CN"/>
              <a:t>NOT EXISTS</a:t>
            </a:r>
            <a:r>
              <a:rPr lang="zh-CN" altLang="en-US"/>
              <a:t>谓词的子查询不能被其他形式的子查询等价替换</a:t>
            </a:r>
            <a:endParaRPr lang="zh-CN" altLang="en-US"/>
          </a:p>
          <a:p>
            <a:pPr lvl="1" eaLnBrk="1" hangingPunct="1"/>
            <a:r>
              <a:rPr lang="zh-CN" altLang="en-US"/>
              <a:t>所有带</a:t>
            </a:r>
            <a:r>
              <a:rPr lang="en-US" altLang="zh-CN"/>
              <a:t>IN</a:t>
            </a:r>
            <a:r>
              <a:rPr lang="zh-CN" altLang="en-US"/>
              <a:t>谓词、比较运算符、</a:t>
            </a:r>
            <a:r>
              <a:rPr lang="en-US" altLang="zh-CN"/>
              <a:t>ANY</a:t>
            </a:r>
            <a:r>
              <a:rPr lang="zh-CN" altLang="en-US"/>
              <a:t>和</a:t>
            </a:r>
            <a:r>
              <a:rPr lang="en-US" altLang="zh-CN"/>
              <a:t>ALL</a:t>
            </a:r>
            <a:r>
              <a:rPr lang="zh-CN" altLang="en-US"/>
              <a:t>谓词的子查询都能用带</a:t>
            </a:r>
            <a:r>
              <a:rPr lang="en-US" altLang="zh-CN"/>
              <a:t>EXISTS</a:t>
            </a:r>
            <a:r>
              <a:rPr lang="zh-CN" altLang="en-US"/>
              <a:t>谓词的子查询等价替换</a:t>
            </a:r>
            <a:endParaRPr lang="zh-CN" altLang="en-US"/>
          </a:p>
          <a:p>
            <a:pPr lvl="1" eaLnBrk="1" hangingPunct="1">
              <a:buSzPct val="75000"/>
            </a:pPr>
            <a:endParaRPr lang="zh-CN" altLang="en-US"/>
          </a:p>
          <a:p>
            <a:pPr eaLnBrk="1" hangingPunct="1"/>
            <a:r>
              <a:rPr lang="zh-CN" altLang="en-US"/>
              <a:t> 用</a:t>
            </a:r>
            <a:r>
              <a:rPr lang="en-US" altLang="zh-CN"/>
              <a:t>EXISTS/NOT EXISTS</a:t>
            </a:r>
            <a:r>
              <a:rPr lang="zh-CN" altLang="en-US"/>
              <a:t>实现全称量词（难点）</a:t>
            </a:r>
            <a:endParaRPr lang="zh-CN" altLang="en-US"/>
          </a:p>
          <a:p>
            <a:pPr lvl="1" eaLnBrk="1" hangingPunct="1"/>
            <a:r>
              <a:rPr lang="en-US" altLang="zh-CN"/>
              <a:t>SQL</a:t>
            </a:r>
            <a:r>
              <a:rPr lang="zh-CN" altLang="en-US"/>
              <a:t>语言中没有全称量词</a:t>
            </a:r>
            <a:r>
              <a:rPr lang="zh-CN" altLang="en-US">
                <a:sym typeface="Symbol" panose="05050102010706020507" pitchFamily="2" charset="2"/>
              </a:rPr>
              <a:t></a:t>
            </a:r>
            <a:r>
              <a:rPr lang="zh-CN" altLang="en-US"/>
              <a:t> （</a:t>
            </a:r>
            <a:r>
              <a:rPr lang="en-US" altLang="zh-CN"/>
              <a:t>for all</a:t>
            </a:r>
            <a:r>
              <a:rPr lang="zh-CN" altLang="en-US"/>
              <a:t>）</a:t>
            </a:r>
            <a:endParaRPr lang="zh-CN" altLang="en-US"/>
          </a:p>
          <a:p>
            <a:pPr lvl="1" eaLnBrk="1" hangingPunct="1"/>
            <a:r>
              <a:rPr lang="zh-CN" altLang="en-US"/>
              <a:t>可以把带有全称量词的谓词转换为等价的带有存在量词的谓词：</a:t>
            </a:r>
            <a:endParaRPr lang="zh-CN" altLang="en-US"/>
          </a:p>
          <a:p>
            <a:pPr eaLnBrk="1" hangingPunct="1">
              <a:buFont typeface="Wingdings" panose="05000000000000000000" pitchFamily="2" charset="2"/>
              <a:buNone/>
            </a:pPr>
            <a:r>
              <a:rPr lang="zh-CN" altLang="en-US" sz="2400"/>
              <a:t>        </a:t>
            </a:r>
            <a:r>
              <a:rPr lang="en-US" altLang="zh-CN" sz="2400"/>
              <a:t>（</a:t>
            </a:r>
            <a:r>
              <a:rPr lang="en-US" altLang="zh-CN" sz="2400">
                <a:sym typeface="Symbol" panose="05050102010706020507" pitchFamily="2" charset="2"/>
              </a:rPr>
              <a:t></a:t>
            </a:r>
            <a:r>
              <a:rPr lang="en-US" altLang="zh-CN" sz="2400"/>
              <a:t>x）P ≡ </a:t>
            </a:r>
            <a:r>
              <a:rPr lang="en-US" altLang="zh-CN" sz="2400">
                <a:sym typeface="Symbol" panose="05050102010706020507" pitchFamily="2" charset="2"/>
              </a:rPr>
              <a:t></a:t>
            </a:r>
            <a:r>
              <a:rPr lang="en-US" altLang="zh-CN" sz="2400"/>
              <a:t> （</a:t>
            </a:r>
            <a:r>
              <a:rPr lang="en-US" altLang="zh-CN" sz="2400">
                <a:sym typeface="Symbol" panose="05050102010706020507" pitchFamily="2" charset="2"/>
              </a:rPr>
              <a:t></a:t>
            </a:r>
            <a:r>
              <a:rPr lang="en-US" altLang="zh-CN" sz="2400"/>
              <a:t> x（</a:t>
            </a:r>
            <a:r>
              <a:rPr lang="en-US" altLang="zh-CN" sz="2400">
                <a:sym typeface="Symbol" panose="05050102010706020507" pitchFamily="2" charset="2"/>
              </a:rPr>
              <a:t></a:t>
            </a:r>
            <a:r>
              <a:rPr lang="en-US" altLang="zh-CN" sz="2400"/>
              <a:t> P））</a:t>
            </a:r>
            <a:endParaRPr lang="en-US" altLang="zh-CN" sz="2400"/>
          </a:p>
          <a:p>
            <a:pPr lvl="1" eaLnBrk="1" hangingPunct="1">
              <a:buFont typeface="Wingdings" panose="05000000000000000000" pitchFamily="2" charset="2"/>
              <a:buNone/>
            </a:pPr>
            <a:r>
              <a:rPr lang="en-US" altLang="zh-CN" sz="1600">
                <a:latin typeface="宋体" panose="02010600030101010101" pitchFamily="2" charset="-122"/>
              </a:rPr>
              <a:t>    </a:t>
            </a:r>
            <a:endParaRPr lang="en-US" altLang="zh-CN" sz="160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谓词的子查询（续）</a:t>
            </a:r>
            <a:endParaRPr lang="zh-CN" altLang="en-US" sz="3600"/>
          </a:p>
        </p:txBody>
      </p:sp>
      <p:sp>
        <p:nvSpPr>
          <p:cNvPr id="101379" name="Rectangle 3"/>
          <p:cNvSpPr>
            <a:spLocks noGrp="1" noChangeArrowheads="1"/>
          </p:cNvSpPr>
          <p:nvPr>
            <p:ph type="body" idx="4294967295"/>
          </p:nvPr>
        </p:nvSpPr>
        <p:spPr>
          <a:xfrm>
            <a:off x="1127448" y="1339851"/>
            <a:ext cx="10454952" cy="4854575"/>
          </a:xfrm>
        </p:spPr>
        <p:txBody>
          <a:bodyPr/>
          <a:lstStyle/>
          <a:p>
            <a:pPr eaLnBrk="1" hangingPunct="1">
              <a:buFont typeface="Wingdings" panose="05000000000000000000" pitchFamily="2" charset="2"/>
              <a:buNone/>
            </a:pPr>
            <a:r>
              <a:rPr lang="zh-CN" altLang="en-US" sz="2400" dirty="0"/>
              <a:t>查询与“刘晨”在同一个主修专业的学生</a:t>
            </a:r>
            <a:endParaRPr lang="zh-CN" altLang="en-US" sz="2400" dirty="0"/>
          </a:p>
          <a:p>
            <a:pPr eaLnBrk="1" hangingPunct="1">
              <a:buFont typeface="Wingdings" panose="05000000000000000000" pitchFamily="2" charset="2"/>
              <a:buNone/>
            </a:pPr>
            <a:r>
              <a:rPr lang="zh-CN" altLang="en-US" sz="2400" dirty="0"/>
              <a:t>    可以用带</a:t>
            </a:r>
            <a:r>
              <a:rPr lang="en-US" altLang="zh-CN" sz="2400" dirty="0"/>
              <a:t>EXISTS</a:t>
            </a:r>
            <a:r>
              <a:rPr lang="zh-CN" altLang="en-US" sz="2400" dirty="0"/>
              <a:t>谓词的子查询替换：</a:t>
            </a:r>
            <a:endParaRPr lang="zh-CN" altLang="en-US" sz="2400" dirty="0"/>
          </a:p>
          <a:p>
            <a:pPr eaLnBrk="1" hangingPunct="1">
              <a:buFont typeface="Wingdings" panose="05000000000000000000" pitchFamily="2" charset="2"/>
              <a:buNone/>
            </a:pPr>
            <a:r>
              <a:rPr lang="zh-CN" altLang="en-US" sz="2400" dirty="0"/>
              <a:t>    </a:t>
            </a:r>
            <a:endParaRPr lang="en-US" altLang="zh-CN" sz="2400" dirty="0"/>
          </a:p>
          <a:p>
            <a:pPr eaLnBrk="1" hangingPunct="1">
              <a:buFont typeface="Wingdings" panose="05000000000000000000" pitchFamily="2" charset="2"/>
              <a:buNone/>
            </a:pPr>
            <a:r>
              <a:rPr lang="en-US" altLang="zh-CN" sz="2400" dirty="0"/>
              <a:t>SELECT </a:t>
            </a:r>
            <a:r>
              <a:rPr lang="en-US" altLang="zh-CN" sz="2400" dirty="0" err="1"/>
              <a:t>Sno,Sname,Smajor</a:t>
            </a:r>
            <a:r>
              <a:rPr lang="en-US" altLang="zh-CN" sz="2400" dirty="0"/>
              <a:t>                         </a:t>
            </a:r>
            <a:r>
              <a:rPr lang="en-US" altLang="zh-CN" sz="2000" dirty="0"/>
              <a:t>/*</a:t>
            </a:r>
            <a:r>
              <a:rPr lang="zh-CN" altLang="en-US" sz="2000" dirty="0"/>
              <a:t>例</a:t>
            </a:r>
            <a:r>
              <a:rPr lang="en-US" altLang="zh-CN" sz="2000" dirty="0"/>
              <a:t>3.57</a:t>
            </a:r>
            <a:r>
              <a:rPr lang="zh-CN" altLang="en-US" sz="2000" dirty="0"/>
              <a:t>的解法四 *</a:t>
            </a:r>
            <a:r>
              <a:rPr lang="en-US" altLang="zh-CN" sz="2000" dirty="0"/>
              <a:t>/</a:t>
            </a:r>
            <a:endParaRPr lang="en-US" altLang="zh-CN" sz="2000" dirty="0"/>
          </a:p>
          <a:p>
            <a:pPr eaLnBrk="1" hangingPunct="1">
              <a:buFont typeface="Wingdings" panose="05000000000000000000" pitchFamily="2" charset="2"/>
              <a:buNone/>
            </a:pPr>
            <a:r>
              <a:rPr lang="en-US" altLang="zh-CN" sz="2400" dirty="0"/>
              <a:t>FROM Student S1</a:t>
            </a:r>
            <a:endParaRPr lang="en-US" altLang="zh-CN" sz="2400" dirty="0"/>
          </a:p>
          <a:p>
            <a:pPr eaLnBrk="1" hangingPunct="1">
              <a:buFont typeface="Wingdings" panose="05000000000000000000" pitchFamily="2" charset="2"/>
              <a:buNone/>
            </a:pPr>
            <a:r>
              <a:rPr lang="en-US" altLang="zh-CN" sz="2400" dirty="0"/>
              <a:t>WHERE EXISTS</a:t>
            </a:r>
            <a:endParaRPr lang="en-US" altLang="zh-CN" sz="2400" dirty="0"/>
          </a:p>
          <a:p>
            <a:pPr eaLnBrk="1" hangingPunct="1">
              <a:buFont typeface="Wingdings" panose="05000000000000000000" pitchFamily="2" charset="2"/>
              <a:buNone/>
            </a:pPr>
            <a:r>
              <a:rPr lang="en-US" altLang="zh-CN" sz="2400" dirty="0"/>
              <a:t>       (SELECT *</a:t>
            </a:r>
            <a:endParaRPr lang="en-US" altLang="zh-CN" sz="2400" dirty="0"/>
          </a:p>
          <a:p>
            <a:pPr eaLnBrk="1" hangingPunct="1">
              <a:buFont typeface="Wingdings" panose="05000000000000000000" pitchFamily="2" charset="2"/>
              <a:buNone/>
            </a:pPr>
            <a:r>
              <a:rPr lang="en-US" altLang="zh-CN" sz="2400" dirty="0"/>
              <a:t>         FROM Student S2</a:t>
            </a:r>
            <a:endParaRPr lang="en-US" altLang="zh-CN" sz="2400" dirty="0"/>
          </a:p>
          <a:p>
            <a:pPr eaLnBrk="1" hangingPunct="1">
              <a:buFont typeface="Wingdings" panose="05000000000000000000" pitchFamily="2" charset="2"/>
              <a:buNone/>
            </a:pPr>
            <a:r>
              <a:rPr lang="en-US" altLang="zh-CN" sz="2400" dirty="0"/>
              <a:t>         WHERE S2.Smajor=S1.Smajor AND S2.Sname='</a:t>
            </a:r>
            <a:r>
              <a:rPr lang="zh-CN" altLang="en-US" sz="2400" dirty="0"/>
              <a:t>刘晨</a:t>
            </a:r>
            <a:r>
              <a:rPr lang="en-US" altLang="zh-CN" sz="2400" dirty="0"/>
              <a:t>');</a:t>
            </a:r>
            <a:endParaRPr lang="en-US" altLang="zh-CN" sz="2400"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2403" name="Rectangle 3"/>
          <p:cNvSpPr>
            <a:spLocks noGrp="1" noChangeArrowheads="1"/>
          </p:cNvSpPr>
          <p:nvPr>
            <p:ph type="body" idx="4294967295"/>
          </p:nvPr>
        </p:nvSpPr>
        <p:spPr>
          <a:xfrm>
            <a:off x="1487488" y="1098550"/>
            <a:ext cx="9433048" cy="5138738"/>
          </a:xfrm>
        </p:spPr>
        <p:txBody>
          <a:bodyPr/>
          <a:lstStyle/>
          <a:p>
            <a:pPr algn="just" eaLnBrk="1" hangingPunct="1">
              <a:spcBef>
                <a:spcPct val="0"/>
              </a:spcBef>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3.64</a:t>
            </a:r>
            <a:r>
              <a:rPr lang="en-US" altLang="zh-CN" sz="2400" dirty="0"/>
              <a:t>] </a:t>
            </a:r>
            <a:r>
              <a:rPr lang="zh-CN" altLang="en-US" sz="2400" dirty="0"/>
              <a:t>查询选修了全部课程的学生姓名</a:t>
            </a:r>
            <a:endParaRPr lang="zh-CN" altLang="en-US" sz="2400" dirty="0">
              <a:latin typeface="宋体" panose="02010600030101010101" pitchFamily="2" charset="-122"/>
            </a:endParaRPr>
          </a:p>
          <a:p>
            <a:pPr lvl="1" algn="just">
              <a:spcBef>
                <a:spcPct val="0"/>
              </a:spcBef>
              <a:buFont typeface="Wingdings" panose="05000000000000000000" pitchFamily="2" charset="2"/>
              <a:buNone/>
            </a:pPr>
            <a:r>
              <a:rPr lang="zh-CN" altLang="en-US" sz="2200" dirty="0"/>
              <a:t>        </a:t>
            </a:r>
            <a:r>
              <a:rPr lang="en-US" altLang="zh-CN" sz="2200" dirty="0"/>
              <a:t>SELECT </a:t>
            </a:r>
            <a:r>
              <a:rPr lang="en-US" altLang="zh-CN" sz="2200" dirty="0" err="1"/>
              <a:t>Sname</a:t>
            </a:r>
            <a:endParaRPr lang="en-US" altLang="zh-CN" sz="2200" dirty="0"/>
          </a:p>
          <a:p>
            <a:pPr lvl="1" algn="just">
              <a:spcBef>
                <a:spcPct val="0"/>
              </a:spcBef>
              <a:buFont typeface="Wingdings" panose="05000000000000000000" pitchFamily="2" charset="2"/>
              <a:buNone/>
            </a:pPr>
            <a:r>
              <a:rPr lang="en-US" altLang="zh-CN" sz="2200" dirty="0"/>
              <a:t>        FROM Student</a:t>
            </a:r>
            <a:endParaRPr lang="en-US" altLang="zh-CN" sz="2200" dirty="0"/>
          </a:p>
          <a:p>
            <a:pPr lvl="1" algn="just">
              <a:spcBef>
                <a:spcPct val="0"/>
              </a:spcBef>
              <a:buFont typeface="Wingdings" panose="05000000000000000000" pitchFamily="2" charset="2"/>
              <a:buNone/>
            </a:pPr>
            <a:r>
              <a:rPr lang="en-US" altLang="zh-CN" sz="2200" dirty="0"/>
              <a:t>        WHERE NOT EXISTS</a:t>
            </a:r>
            <a:endParaRPr lang="en-US" altLang="zh-CN" sz="2200" dirty="0"/>
          </a:p>
          <a:p>
            <a:pPr lvl="1" algn="just">
              <a:spcBef>
                <a:spcPct val="0"/>
              </a:spcBef>
              <a:buFont typeface="Wingdings" panose="05000000000000000000" pitchFamily="2" charset="2"/>
              <a:buNone/>
            </a:pPr>
            <a:r>
              <a:rPr lang="en-US" altLang="zh-CN" sz="2200" dirty="0"/>
              <a:t>                      </a:t>
            </a:r>
            <a:r>
              <a:rPr lang="zh-CN" altLang="en-US" sz="2200" dirty="0"/>
              <a:t>(</a:t>
            </a:r>
            <a:r>
              <a:rPr lang="en-US" altLang="zh-CN" sz="2200" dirty="0"/>
              <a:t>SELECT *</a:t>
            </a:r>
            <a:endParaRPr lang="en-US" altLang="zh-CN" sz="2200" dirty="0"/>
          </a:p>
          <a:p>
            <a:pPr lvl="1" algn="just">
              <a:spcBef>
                <a:spcPct val="0"/>
              </a:spcBef>
              <a:buFont typeface="Wingdings" panose="05000000000000000000" pitchFamily="2" charset="2"/>
              <a:buNone/>
            </a:pPr>
            <a:r>
              <a:rPr lang="en-US" altLang="zh-CN" sz="2200" dirty="0"/>
              <a:t>                        FROM Course</a:t>
            </a:r>
            <a:endParaRPr lang="en-US" altLang="zh-CN" sz="2200" dirty="0"/>
          </a:p>
          <a:p>
            <a:pPr lvl="1" algn="just">
              <a:spcBef>
                <a:spcPct val="0"/>
              </a:spcBef>
              <a:buFont typeface="Wingdings" panose="05000000000000000000" pitchFamily="2" charset="2"/>
              <a:buNone/>
            </a:pPr>
            <a:r>
              <a:rPr lang="en-US" altLang="zh-CN" sz="2200" dirty="0"/>
              <a:t>                        WHERE NOT EXISTS</a:t>
            </a:r>
            <a:endParaRPr lang="en-US" altLang="zh-CN" sz="2200" dirty="0"/>
          </a:p>
          <a:p>
            <a:pPr lvl="1" algn="just">
              <a:spcBef>
                <a:spcPct val="0"/>
              </a:spcBef>
              <a:buFont typeface="Wingdings" panose="05000000000000000000" pitchFamily="2" charset="2"/>
              <a:buNone/>
            </a:pPr>
            <a:r>
              <a:rPr lang="en-US" altLang="zh-CN" sz="2200" dirty="0"/>
              <a:t>                                      </a:t>
            </a:r>
            <a:r>
              <a:rPr lang="zh-CN" altLang="en-US" sz="2200" dirty="0"/>
              <a:t>(</a:t>
            </a:r>
            <a:r>
              <a:rPr lang="en-US" altLang="zh-CN" sz="2200" dirty="0"/>
              <a:t>SELECT *</a:t>
            </a:r>
            <a:endParaRPr lang="en-US" altLang="zh-CN" sz="2200" dirty="0"/>
          </a:p>
          <a:p>
            <a:pPr lvl="1" algn="just">
              <a:spcBef>
                <a:spcPct val="0"/>
              </a:spcBef>
              <a:buFont typeface="Wingdings" panose="05000000000000000000" pitchFamily="2" charset="2"/>
              <a:buNone/>
            </a:pPr>
            <a:r>
              <a:rPr lang="en-US" altLang="zh-CN" sz="2200" dirty="0"/>
              <a:t>                                       FROM SC</a:t>
            </a:r>
            <a:endParaRPr lang="en-US" altLang="zh-CN" sz="2200" dirty="0"/>
          </a:p>
          <a:p>
            <a:pPr lvl="1" algn="just">
              <a:spcBef>
                <a:spcPct val="0"/>
              </a:spcBef>
              <a:buFont typeface="Wingdings" panose="05000000000000000000" pitchFamily="2" charset="2"/>
              <a:buNone/>
            </a:pPr>
            <a:r>
              <a:rPr lang="en-US" altLang="zh-CN" sz="2200" dirty="0"/>
              <a:t>                                       WHERE </a:t>
            </a:r>
            <a:r>
              <a:rPr lang="en-US" altLang="zh-CN" sz="2200" dirty="0" err="1"/>
              <a:t>Sno</a:t>
            </a:r>
            <a:r>
              <a:rPr lang="en-US" altLang="zh-CN" sz="2200" dirty="0"/>
              <a:t>= </a:t>
            </a:r>
            <a:r>
              <a:rPr lang="en-US" altLang="zh-CN" sz="2200" dirty="0" err="1"/>
              <a:t>Student.Sno</a:t>
            </a:r>
            <a:endParaRPr lang="en-US" altLang="zh-CN" sz="2200" dirty="0"/>
          </a:p>
          <a:p>
            <a:pPr lvl="1" algn="just">
              <a:spcBef>
                <a:spcPct val="0"/>
              </a:spcBef>
              <a:buFont typeface="Wingdings" panose="05000000000000000000" pitchFamily="2" charset="2"/>
              <a:buNone/>
            </a:pPr>
            <a:r>
              <a:rPr lang="en-US" altLang="zh-CN" sz="2200" dirty="0"/>
              <a:t>                                             AND </a:t>
            </a:r>
            <a:r>
              <a:rPr lang="en-US" altLang="zh-CN" sz="2200" dirty="0" err="1"/>
              <a:t>Cno</a:t>
            </a:r>
            <a:r>
              <a:rPr lang="en-US" altLang="zh-CN" sz="2200" dirty="0"/>
              <a:t>= </a:t>
            </a:r>
            <a:r>
              <a:rPr lang="en-US" altLang="zh-CN" sz="2200" dirty="0" err="1"/>
              <a:t>Course.Cno</a:t>
            </a:r>
            <a:endParaRPr lang="en-US" altLang="zh-CN" sz="2200" dirty="0"/>
          </a:p>
          <a:p>
            <a:pPr lvl="1" algn="just">
              <a:spcBef>
                <a:spcPct val="0"/>
              </a:spcBef>
              <a:buFont typeface="Wingdings" panose="05000000000000000000" pitchFamily="2" charset="2"/>
              <a:buNone/>
            </a:pPr>
            <a:r>
              <a:rPr lang="en-US" altLang="zh-CN" sz="2200" dirty="0"/>
              <a:t>                                      </a:t>
            </a:r>
            <a:r>
              <a:rPr lang="zh-CN" altLang="en-US" sz="2200" dirty="0"/>
              <a:t>)</a:t>
            </a:r>
            <a:endParaRPr lang="zh-CN" altLang="en-US" sz="2200" dirty="0"/>
          </a:p>
          <a:p>
            <a:pPr lvl="1" algn="just">
              <a:spcBef>
                <a:spcPct val="0"/>
              </a:spcBef>
              <a:buFont typeface="Wingdings" panose="05000000000000000000" pitchFamily="2" charset="2"/>
              <a:buNone/>
            </a:pPr>
            <a:r>
              <a:rPr lang="zh-CN" altLang="en-US" sz="2200" dirty="0"/>
              <a:t>                       );</a:t>
            </a:r>
            <a:endParaRPr lang="en-US" altLang="zh-CN" sz="2200" dirty="0"/>
          </a:p>
          <a:p>
            <a:pPr lvl="1" algn="just">
              <a:spcBef>
                <a:spcPct val="0"/>
              </a:spcBef>
              <a:buFont typeface="Wingdings" panose="05000000000000000000" pitchFamily="2" charset="2"/>
              <a:buNone/>
            </a:pPr>
            <a:endParaRPr lang="zh-CN" altLang="en-US" sz="2200" dirty="0"/>
          </a:p>
        </p:txBody>
      </p:sp>
      <p:sp>
        <p:nvSpPr>
          <p:cNvPr id="2" name="文本框 1"/>
          <p:cNvSpPr txBox="1"/>
          <p:nvPr/>
        </p:nvSpPr>
        <p:spPr>
          <a:xfrm>
            <a:off x="7176135" y="2276475"/>
            <a:ext cx="4726305" cy="460375"/>
          </a:xfrm>
          <a:prstGeom prst="rect">
            <a:avLst/>
          </a:prstGeom>
          <a:noFill/>
        </p:spPr>
        <p:txBody>
          <a:bodyPr wrap="square" rtlCol="0" anchor="t">
            <a:spAutoFit/>
          </a:bodyPr>
          <a:p>
            <a:r>
              <a:rPr lang="zh-CN" altLang="en-US" sz="2400" dirty="0">
                <a:sym typeface="+mn-ea"/>
              </a:rPr>
              <a:t>不存在这样一门课，</a:t>
            </a:r>
            <a:r>
              <a:rPr lang="en-US" altLang="zh-CN" sz="2400" dirty="0">
                <a:sym typeface="+mn-ea"/>
              </a:rPr>
              <a:t>TA</a:t>
            </a:r>
            <a:r>
              <a:rPr lang="zh-CN" altLang="en-US" sz="2400" dirty="0">
                <a:sym typeface="+mn-ea"/>
              </a:rPr>
              <a:t>没有</a:t>
            </a:r>
            <a:r>
              <a:rPr lang="zh-CN" altLang="en-US" sz="2400" dirty="0">
                <a:sym typeface="+mn-ea"/>
              </a:rPr>
              <a:t>选</a:t>
            </a:r>
            <a:endParaRPr lang="zh-CN" altLang="en-US" sz="2400" dirty="0">
              <a:sym typeface="+mn-ea"/>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3"/>
          <p:cNvSpPr>
            <a:spLocks noChangeArrowheads="1"/>
          </p:cNvSpPr>
          <p:nvPr/>
        </p:nvSpPr>
        <p:spPr bwMode="auto">
          <a:xfrm>
            <a:off x="3215640" y="2996883"/>
            <a:ext cx="3816350" cy="1674812"/>
          </a:xfrm>
          <a:prstGeom prst="rect">
            <a:avLst/>
          </a:prstGeom>
          <a:solidFill>
            <a:schemeClr val="accent1"/>
          </a:solidFill>
          <a:ln w="9525">
            <a:solidFill>
              <a:schemeClr val="tx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8435" name="Rectangle 3"/>
          <p:cNvSpPr>
            <a:spLocks noGrp="1" noChangeArrowheads="1"/>
          </p:cNvSpPr>
          <p:nvPr>
            <p:ph type="body" idx="4294967295"/>
          </p:nvPr>
        </p:nvSpPr>
        <p:spPr>
          <a:xfrm>
            <a:off x="119380" y="908685"/>
            <a:ext cx="8543925" cy="3854450"/>
          </a:xfrm>
        </p:spPr>
        <p:txBody>
          <a:bodyPr/>
          <a:lstStyle/>
          <a:p>
            <a:pPr algn="just" eaLnBrk="1" hangingPunct="1">
              <a:spcBef>
                <a:spcPct val="0"/>
              </a:spcBef>
              <a:buFont typeface="Wingdings" panose="05000000000000000000" pitchFamily="2" charset="2"/>
              <a:buNone/>
            </a:pPr>
            <a:r>
              <a:rPr lang="zh-CN" altLang="en-US" sz="2000"/>
              <a:t>            查询选修了全部课程的学生姓名。</a:t>
            </a:r>
            <a:endParaRPr lang="zh-CN" altLang="en-US" sz="2000">
              <a:latin typeface="宋体" panose="02010600030101010101" pitchFamily="2" charset="-122"/>
            </a:endParaRPr>
          </a:p>
          <a:p>
            <a:pPr lvl="1" algn="just">
              <a:spcBef>
                <a:spcPct val="0"/>
              </a:spcBef>
              <a:buFont typeface="Wingdings" panose="05000000000000000000" pitchFamily="2" charset="2"/>
              <a:buNone/>
            </a:pPr>
            <a:r>
              <a:rPr lang="zh-CN" altLang="en-US" sz="2000"/>
              <a:t>        </a:t>
            </a:r>
            <a:r>
              <a:rPr lang="en-US" altLang="zh-CN" sz="2000"/>
              <a:t>SELECT Sname</a:t>
            </a:r>
            <a:endParaRPr lang="en-US" altLang="zh-CN" sz="2000"/>
          </a:p>
          <a:p>
            <a:pPr lvl="1" algn="just">
              <a:spcBef>
                <a:spcPct val="0"/>
              </a:spcBef>
              <a:buFont typeface="Wingdings" panose="05000000000000000000" pitchFamily="2" charset="2"/>
              <a:buNone/>
            </a:pPr>
            <a:r>
              <a:rPr lang="en-US" altLang="zh-CN" sz="2000"/>
              <a:t>        FROM Student</a:t>
            </a:r>
            <a:endParaRPr lang="en-US" altLang="zh-CN" sz="2000"/>
          </a:p>
          <a:p>
            <a:pPr lvl="1" algn="just">
              <a:spcBef>
                <a:spcPct val="0"/>
              </a:spcBef>
              <a:buFont typeface="Wingdings" panose="05000000000000000000" pitchFamily="2" charset="2"/>
              <a:buNone/>
            </a:pPr>
            <a:r>
              <a:rPr lang="en-US" altLang="zh-CN" sz="2000"/>
              <a:t>        WHERE NOT EXISTS</a:t>
            </a:r>
            <a:endParaRPr lang="en-US" altLang="zh-CN" sz="2000"/>
          </a:p>
          <a:p>
            <a:pPr lvl="1" algn="just">
              <a:spcBef>
                <a:spcPct val="0"/>
              </a:spcBef>
              <a:buFont typeface="Wingdings" panose="05000000000000000000" pitchFamily="2" charset="2"/>
              <a:buNone/>
            </a:pPr>
            <a:r>
              <a:rPr lang="en-US" altLang="zh-CN" sz="2000"/>
              <a:t>                      </a:t>
            </a:r>
            <a:r>
              <a:rPr lang="zh-CN" altLang="en-US" sz="2000"/>
              <a:t>(</a:t>
            </a:r>
            <a:r>
              <a:rPr lang="en-US" altLang="zh-CN" sz="2000"/>
              <a:t>SELECT *</a:t>
            </a:r>
            <a:endParaRPr lang="en-US" altLang="zh-CN" sz="2000"/>
          </a:p>
          <a:p>
            <a:pPr lvl="1" algn="just">
              <a:spcBef>
                <a:spcPct val="0"/>
              </a:spcBef>
              <a:buFont typeface="Wingdings" panose="05000000000000000000" pitchFamily="2" charset="2"/>
              <a:buNone/>
            </a:pPr>
            <a:r>
              <a:rPr lang="en-US" altLang="zh-CN" sz="2000"/>
              <a:t>                        FROM Course</a:t>
            </a:r>
            <a:endParaRPr lang="en-US" altLang="zh-CN" sz="2000"/>
          </a:p>
          <a:p>
            <a:pPr lvl="1" algn="just">
              <a:spcBef>
                <a:spcPct val="0"/>
              </a:spcBef>
              <a:buFont typeface="Wingdings" panose="05000000000000000000" pitchFamily="2" charset="2"/>
              <a:buNone/>
            </a:pPr>
            <a:r>
              <a:rPr lang="en-US" altLang="zh-CN" sz="2000"/>
              <a:t>                        WHERE NOT EXISTS</a:t>
            </a:r>
            <a:endParaRPr lang="en-US" altLang="zh-CN" sz="2000"/>
          </a:p>
          <a:p>
            <a:pPr lvl="1" algn="just">
              <a:spcBef>
                <a:spcPct val="0"/>
              </a:spcBef>
              <a:buFont typeface="Wingdings" panose="05000000000000000000" pitchFamily="2" charset="2"/>
              <a:buNone/>
            </a:pPr>
            <a:r>
              <a:rPr lang="en-US" altLang="zh-CN" sz="2000"/>
              <a:t>                                      </a:t>
            </a:r>
            <a:r>
              <a:rPr lang="zh-CN" altLang="en-US" sz="2000"/>
              <a:t>(</a:t>
            </a:r>
            <a:r>
              <a:rPr lang="en-US" altLang="zh-CN" sz="2000"/>
              <a:t>SELECT *</a:t>
            </a:r>
            <a:endParaRPr lang="en-US" altLang="zh-CN" sz="2000"/>
          </a:p>
          <a:p>
            <a:pPr lvl="1" algn="just">
              <a:spcBef>
                <a:spcPct val="0"/>
              </a:spcBef>
              <a:buFont typeface="Wingdings" panose="05000000000000000000" pitchFamily="2" charset="2"/>
              <a:buNone/>
            </a:pPr>
            <a:r>
              <a:rPr lang="en-US" altLang="zh-CN" sz="2000"/>
              <a:t>                                       FROM SC</a:t>
            </a:r>
            <a:endParaRPr lang="en-US" altLang="zh-CN" sz="2000"/>
          </a:p>
          <a:p>
            <a:pPr lvl="1" algn="just">
              <a:spcBef>
                <a:spcPct val="0"/>
              </a:spcBef>
              <a:buFont typeface="Wingdings" panose="05000000000000000000" pitchFamily="2" charset="2"/>
              <a:buNone/>
            </a:pPr>
            <a:r>
              <a:rPr lang="en-US" altLang="zh-CN" sz="2000"/>
              <a:t>                                       WHERE Sno= Student.Sno</a:t>
            </a:r>
            <a:endParaRPr lang="en-US" altLang="zh-CN" sz="2000"/>
          </a:p>
          <a:p>
            <a:pPr lvl="1" algn="just">
              <a:spcBef>
                <a:spcPct val="0"/>
              </a:spcBef>
              <a:buFont typeface="Wingdings" panose="05000000000000000000" pitchFamily="2" charset="2"/>
              <a:buNone/>
            </a:pPr>
            <a:r>
              <a:rPr lang="en-US" altLang="zh-CN" sz="2000"/>
              <a:t>                                             AND Cno= Course.Cno</a:t>
            </a:r>
            <a:endParaRPr lang="en-US" altLang="zh-CN" sz="2000"/>
          </a:p>
          <a:p>
            <a:pPr lvl="1" algn="just">
              <a:spcBef>
                <a:spcPct val="0"/>
              </a:spcBef>
              <a:buFont typeface="Wingdings" panose="05000000000000000000" pitchFamily="2" charset="2"/>
              <a:buNone/>
            </a:pPr>
            <a:r>
              <a:rPr lang="en-US" altLang="zh-CN" sz="2000"/>
              <a:t>                                      </a:t>
            </a:r>
            <a:r>
              <a:rPr lang="zh-CN" altLang="en-US" sz="2000"/>
              <a:t>)</a:t>
            </a:r>
            <a:endParaRPr lang="zh-CN" altLang="en-US" sz="2000"/>
          </a:p>
          <a:p>
            <a:pPr lvl="1" algn="just">
              <a:spcBef>
                <a:spcPct val="0"/>
              </a:spcBef>
              <a:buFont typeface="Wingdings" panose="05000000000000000000" pitchFamily="2" charset="2"/>
              <a:buNone/>
            </a:pPr>
            <a:r>
              <a:rPr lang="zh-CN" altLang="en-US" sz="2000"/>
              <a:t>                       );</a:t>
            </a:r>
            <a:endParaRPr lang="en-US" altLang="zh-CN" sz="2000"/>
          </a:p>
        </p:txBody>
      </p:sp>
      <p:sp>
        <p:nvSpPr>
          <p:cNvPr id="18436"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2" name="矩形 1"/>
          <p:cNvSpPr>
            <a:spLocks noChangeArrowheads="1"/>
          </p:cNvSpPr>
          <p:nvPr/>
        </p:nvSpPr>
        <p:spPr bwMode="auto">
          <a:xfrm>
            <a:off x="609283" y="4868863"/>
            <a:ext cx="3954462"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1800"/>
              <a:t>正确性：</a:t>
            </a:r>
            <a:endParaRPr lang="en-US" altLang="zh-CN" sz="1800"/>
          </a:p>
          <a:p>
            <a:pPr>
              <a:spcBef>
                <a:spcPct val="0"/>
              </a:spcBef>
              <a:buSzTx/>
              <a:buFontTx/>
              <a:buNone/>
            </a:pPr>
            <a:r>
              <a:rPr lang="zh-CN" altLang="en-US" sz="1800"/>
              <a:t>对任意一个学生，</a:t>
            </a:r>
            <a:endParaRPr lang="en-US" altLang="zh-CN" sz="1800"/>
          </a:p>
          <a:p>
            <a:pPr>
              <a:spcBef>
                <a:spcPct val="0"/>
              </a:spcBef>
              <a:buSzTx/>
              <a:buFontTx/>
              <a:buNone/>
            </a:pPr>
            <a:r>
              <a:rPr lang="en-US" altLang="zh-CN" sz="1800"/>
              <a:t>1</a:t>
            </a:r>
            <a:r>
              <a:rPr lang="zh-CN" altLang="en-US" sz="1800"/>
              <a:t>、若选修全部课程，必在结果中。 </a:t>
            </a:r>
            <a:endParaRPr lang="en-US" altLang="zh-CN" sz="1800"/>
          </a:p>
          <a:p>
            <a:pPr>
              <a:spcBef>
                <a:spcPct val="0"/>
              </a:spcBef>
              <a:buSzTx/>
              <a:buFontTx/>
              <a:buNone/>
            </a:pPr>
            <a:r>
              <a:rPr lang="en-US" altLang="zh-CN" sz="1800"/>
              <a:t>2</a:t>
            </a:r>
            <a:r>
              <a:rPr lang="zh-CN" altLang="en-US" sz="1800"/>
              <a:t>、若没选某门课，则不在结果中。</a:t>
            </a:r>
            <a:endParaRPr lang="zh-CN" altLang="en-US" sz="1800"/>
          </a:p>
        </p:txBody>
      </p:sp>
      <p:sp>
        <p:nvSpPr>
          <p:cNvPr id="3" name="矩形 2"/>
          <p:cNvSpPr>
            <a:spLocks noChangeArrowheads="1"/>
          </p:cNvSpPr>
          <p:nvPr/>
        </p:nvSpPr>
        <p:spPr bwMode="auto">
          <a:xfrm>
            <a:off x="5794693" y="765175"/>
            <a:ext cx="6253480"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若学生甲选了</a:t>
            </a:r>
            <a:r>
              <a:rPr lang="zh-CN" altLang="en-US">
                <a:solidFill>
                  <a:srgbClr val="FF0000"/>
                </a:solidFill>
              </a:rPr>
              <a:t>所有课</a:t>
            </a:r>
            <a:r>
              <a:rPr lang="zh-CN" altLang="en-US"/>
              <a:t>：</a:t>
            </a:r>
            <a:endParaRPr lang="en-US" altLang="zh-CN"/>
          </a:p>
          <a:p>
            <a:r>
              <a:rPr lang="zh-CN" altLang="en-US"/>
              <a:t>设其在</a:t>
            </a:r>
            <a:r>
              <a:rPr lang="en-US" altLang="zh-CN"/>
              <a:t>Student</a:t>
            </a:r>
            <a:r>
              <a:rPr lang="zh-CN" altLang="en-US"/>
              <a:t>表中元组为</a:t>
            </a:r>
            <a:r>
              <a:rPr lang="en-US" altLang="zh-CN"/>
              <a:t>ts</a:t>
            </a:r>
            <a:r>
              <a:rPr lang="zh-CN" altLang="en-US"/>
              <a:t>（代表学生甲）</a:t>
            </a:r>
            <a:endParaRPr lang="en-US" altLang="zh-CN"/>
          </a:p>
          <a:p>
            <a:r>
              <a:rPr lang="zh-CN" altLang="en-US"/>
              <a:t>对于</a:t>
            </a:r>
            <a:r>
              <a:rPr lang="en-US" altLang="zh-CN"/>
              <a:t>Course</a:t>
            </a:r>
            <a:r>
              <a:rPr lang="zh-CN" altLang="en-US"/>
              <a:t>表中</a:t>
            </a:r>
            <a:r>
              <a:rPr lang="zh-CN" altLang="en-US">
                <a:solidFill>
                  <a:srgbClr val="FF0000"/>
                </a:solidFill>
              </a:rPr>
              <a:t>任意</a:t>
            </a:r>
            <a:r>
              <a:rPr lang="zh-CN" altLang="en-US"/>
              <a:t>一个元组</a:t>
            </a:r>
            <a:r>
              <a:rPr lang="en-US" altLang="zh-CN"/>
              <a:t>tc</a:t>
            </a:r>
            <a:endParaRPr lang="en-US" altLang="zh-CN"/>
          </a:p>
          <a:p>
            <a:r>
              <a:rPr lang="zh-CN" altLang="en-US"/>
              <a:t>将</a:t>
            </a:r>
            <a:r>
              <a:rPr lang="en-US" altLang="zh-CN"/>
              <a:t>ts </a:t>
            </a:r>
            <a:r>
              <a:rPr lang="zh-CN" altLang="en-US"/>
              <a:t>和</a:t>
            </a:r>
            <a:r>
              <a:rPr lang="en-US" altLang="zh-CN"/>
              <a:t>tc </a:t>
            </a:r>
            <a:r>
              <a:rPr lang="zh-CN" altLang="en-US"/>
              <a:t>代入内层子查询，</a:t>
            </a:r>
            <a:endParaRPr lang="en-US" altLang="zh-CN"/>
          </a:p>
          <a:p>
            <a:r>
              <a:rPr lang="zh-CN" altLang="en-US"/>
              <a:t>一定有</a:t>
            </a:r>
            <a:r>
              <a:rPr lang="en-US" altLang="zh-CN"/>
              <a:t>SC</a:t>
            </a:r>
            <a:r>
              <a:rPr lang="zh-CN" altLang="en-US"/>
              <a:t>中一个元组满足条件。</a:t>
            </a:r>
            <a:endParaRPr lang="zh-CN" altLang="en-US"/>
          </a:p>
          <a:p>
            <a:r>
              <a:rPr lang="zh-CN" altLang="en-US"/>
              <a:t>则</a:t>
            </a:r>
            <a:r>
              <a:rPr lang="en-US" altLang="zh-CN"/>
              <a:t>tc</a:t>
            </a:r>
            <a:r>
              <a:rPr lang="zh-CN" altLang="en-US"/>
              <a:t>不满足外层子查询的条件（</a:t>
            </a:r>
            <a:r>
              <a:rPr lang="zh-CN" altLang="en-US"/>
              <a:t>内层不为空）。</a:t>
            </a:r>
            <a:endParaRPr lang="zh-CN" altLang="en-US"/>
          </a:p>
          <a:p>
            <a:r>
              <a:rPr lang="zh-CN" altLang="en-US"/>
              <a:t>而且</a:t>
            </a:r>
            <a:r>
              <a:rPr lang="zh-CN" altLang="en-US">
                <a:solidFill>
                  <a:srgbClr val="FF0000"/>
                </a:solidFill>
              </a:rPr>
              <a:t>所有</a:t>
            </a:r>
            <a:r>
              <a:rPr lang="en-US" altLang="zh-CN">
                <a:solidFill>
                  <a:srgbClr val="FF0000"/>
                </a:solidFill>
              </a:rPr>
              <a:t>tc都不满足</a:t>
            </a:r>
            <a:r>
              <a:rPr lang="zh-CN" altLang="en-US"/>
              <a:t>，因此外层子查询没有结果，</a:t>
            </a:r>
            <a:r>
              <a:rPr lang="en-US" altLang="zh-CN"/>
              <a:t>ts</a:t>
            </a:r>
            <a:r>
              <a:rPr lang="zh-CN" altLang="en-US"/>
              <a:t>满足条件</a:t>
            </a:r>
            <a:endParaRPr lang="en-US" altLang="zh-CN"/>
          </a:p>
        </p:txBody>
      </p:sp>
      <p:sp>
        <p:nvSpPr>
          <p:cNvPr id="7" name="矩形 6"/>
          <p:cNvSpPr>
            <a:spLocks noChangeArrowheads="1"/>
          </p:cNvSpPr>
          <p:nvPr/>
        </p:nvSpPr>
        <p:spPr bwMode="auto">
          <a:xfrm>
            <a:off x="6395085" y="4682173"/>
            <a:ext cx="566928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a:t>若学生甲有部分课没选：</a:t>
            </a:r>
            <a:endParaRPr lang="en-US" altLang="zh-CN"/>
          </a:p>
          <a:p>
            <a:pPr algn="l"/>
            <a:r>
              <a:rPr lang="en-US" altLang="zh-CN"/>
              <a:t>Course</a:t>
            </a:r>
            <a:r>
              <a:rPr lang="zh-CN" altLang="en-US"/>
              <a:t>表中</a:t>
            </a:r>
            <a:r>
              <a:rPr lang="zh-CN" altLang="en-US">
                <a:solidFill>
                  <a:srgbClr val="FF0000"/>
                </a:solidFill>
              </a:rPr>
              <a:t>必然存在</a:t>
            </a:r>
            <a:r>
              <a:rPr lang="zh-CN" altLang="en-US"/>
              <a:t>一个元组</a:t>
            </a:r>
            <a:r>
              <a:rPr lang="en-US" altLang="zh-CN"/>
              <a:t>tc</a:t>
            </a:r>
            <a:endParaRPr lang="en-US" altLang="zh-CN"/>
          </a:p>
          <a:p>
            <a:pPr algn="l"/>
            <a:r>
              <a:rPr lang="zh-CN" altLang="en-US"/>
              <a:t>将</a:t>
            </a:r>
            <a:r>
              <a:rPr lang="en-US" altLang="zh-CN"/>
              <a:t>ts</a:t>
            </a:r>
            <a:r>
              <a:rPr lang="zh-CN" altLang="en-US">
                <a:sym typeface="+mn-ea"/>
              </a:rPr>
              <a:t>（代表学生甲）</a:t>
            </a:r>
            <a:r>
              <a:rPr lang="en-US" altLang="zh-CN"/>
              <a:t> </a:t>
            </a:r>
            <a:r>
              <a:rPr lang="zh-CN" altLang="en-US"/>
              <a:t>和</a:t>
            </a:r>
            <a:r>
              <a:rPr lang="en-US" altLang="zh-CN"/>
              <a:t>tc </a:t>
            </a:r>
            <a:r>
              <a:rPr lang="zh-CN" altLang="en-US"/>
              <a:t>代入最内层子查询，</a:t>
            </a:r>
            <a:endParaRPr lang="en-US" altLang="zh-CN"/>
          </a:p>
          <a:p>
            <a:pPr algn="l"/>
            <a:r>
              <a:rPr lang="zh-CN" altLang="en-US"/>
              <a:t>使得最内层子查询没有结果（因为甲没有选</a:t>
            </a:r>
            <a:r>
              <a:rPr lang="zh-CN" altLang="en-US"/>
              <a:t>这门课），</a:t>
            </a:r>
            <a:endParaRPr lang="zh-CN" altLang="en-US"/>
          </a:p>
          <a:p>
            <a:pPr algn="l"/>
            <a:r>
              <a:rPr lang="en-US" altLang="zh-CN"/>
              <a:t>tc</a:t>
            </a:r>
            <a:r>
              <a:rPr lang="zh-CN" altLang="en-US"/>
              <a:t>满足要求，使得外层子查询不为空，</a:t>
            </a:r>
            <a:r>
              <a:rPr lang="en-US" altLang="zh-CN"/>
              <a:t>ts</a:t>
            </a:r>
            <a:r>
              <a:rPr lang="zh-CN" altLang="en-US"/>
              <a:t>将</a:t>
            </a:r>
            <a:r>
              <a:rPr lang="zh-CN" altLang="en-US"/>
              <a:t>不满足条件</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43660" y="1709420"/>
            <a:ext cx="8046085" cy="3014980"/>
          </a:xfrm>
          <a:prstGeom prst="rect">
            <a:avLst/>
          </a:prstGeom>
          <a:noFill/>
        </p:spPr>
        <p:txBody>
          <a:bodyPr wrap="square" rtlCol="0" anchor="t">
            <a:spAutoFit/>
          </a:bodyPr>
          <a:p>
            <a:pPr lvl="1" algn="just" eaLnBrk="1" hangingPunct="1">
              <a:lnSpc>
                <a:spcPts val="3300"/>
              </a:lnSpc>
              <a:spcBef>
                <a:spcPts val="600"/>
              </a:spcBef>
              <a:buFont typeface="Wingdings" panose="05000000000000000000" pitchFamily="2" charset="2"/>
              <a:buNone/>
            </a:pPr>
            <a:r>
              <a:rPr lang="en-US" altLang="zh-CN" sz="2000">
                <a:sym typeface="+mn-ea"/>
              </a:rPr>
              <a:t>SELECT </a:t>
            </a:r>
            <a:r>
              <a:rPr lang="en-US" altLang="zh-CN" sz="2000" dirty="0" err="1">
                <a:sym typeface="+mn-ea"/>
              </a:rPr>
              <a:t>Sname</a:t>
            </a:r>
            <a:r>
              <a:rPr lang="en-US" altLang="zh-CN" sz="2000" dirty="0">
                <a:sym typeface="+mn-ea"/>
              </a:rPr>
              <a:t> </a:t>
            </a:r>
            <a:endParaRPr lang="en-US" altLang="zh-CN" sz="2000" dirty="0"/>
          </a:p>
          <a:p>
            <a:pPr lvl="1" algn="just" eaLnBrk="1" hangingPunct="1">
              <a:lnSpc>
                <a:spcPts val="3300"/>
              </a:lnSpc>
              <a:spcBef>
                <a:spcPts val="600"/>
              </a:spcBef>
              <a:buFont typeface="Wingdings" panose="05000000000000000000" pitchFamily="2" charset="2"/>
              <a:buNone/>
            </a:pPr>
            <a:r>
              <a:rPr lang="en-US" altLang="zh-CN" sz="2000" dirty="0">
                <a:sym typeface="+mn-ea"/>
              </a:rPr>
              <a:t>FROM </a:t>
            </a:r>
            <a:r>
              <a:rPr lang="en-US" altLang="zh-CN" sz="2000" dirty="0" err="1">
                <a:sym typeface="+mn-ea"/>
              </a:rPr>
              <a:t>Student,SC</a:t>
            </a:r>
            <a:endParaRPr lang="en-US" altLang="zh-CN" sz="2000" dirty="0"/>
          </a:p>
          <a:p>
            <a:pPr lvl="1" algn="just" eaLnBrk="1" hangingPunct="1">
              <a:lnSpc>
                <a:spcPts val="3300"/>
              </a:lnSpc>
              <a:spcBef>
                <a:spcPts val="600"/>
              </a:spcBef>
              <a:buFont typeface="Wingdings" panose="05000000000000000000" pitchFamily="2" charset="2"/>
              <a:buNone/>
            </a:pPr>
            <a:r>
              <a:rPr lang="en-US" altLang="zh-CN" sz="2000" dirty="0">
                <a:sym typeface="+mn-ea"/>
              </a:rPr>
              <a:t>WHERE </a:t>
            </a:r>
            <a:r>
              <a:rPr lang="en-US" altLang="zh-CN" sz="2000" dirty="0" err="1">
                <a:sym typeface="+mn-ea"/>
              </a:rPr>
              <a:t>Student.Sno</a:t>
            </a:r>
            <a:r>
              <a:rPr lang="en-US" altLang="zh-CN" sz="2000" dirty="0">
                <a:sym typeface="+mn-ea"/>
              </a:rPr>
              <a:t>=</a:t>
            </a:r>
            <a:r>
              <a:rPr lang="en-US" altLang="zh-CN" sz="2000" dirty="0" err="1">
                <a:sym typeface="+mn-ea"/>
              </a:rPr>
              <a:t>SC.Sno</a:t>
            </a:r>
            <a:endParaRPr lang="en-US" altLang="zh-CN" sz="2000" dirty="0"/>
          </a:p>
          <a:p>
            <a:pPr lvl="1" algn="just" eaLnBrk="1" hangingPunct="1">
              <a:lnSpc>
                <a:spcPts val="3300"/>
              </a:lnSpc>
              <a:spcBef>
                <a:spcPts val="600"/>
              </a:spcBef>
              <a:buFont typeface="Wingdings" panose="05000000000000000000" pitchFamily="2" charset="2"/>
              <a:buNone/>
            </a:pPr>
            <a:r>
              <a:rPr lang="en-US" altLang="zh-CN" sz="2000" dirty="0">
                <a:sym typeface="+mn-ea"/>
              </a:rPr>
              <a:t>	GROUP BY </a:t>
            </a:r>
            <a:r>
              <a:rPr lang="en-US" altLang="zh-CN" sz="2000" dirty="0" err="1">
                <a:sym typeface="+mn-ea"/>
              </a:rPr>
              <a:t>Student.Sno,</a:t>
            </a:r>
            <a:r>
              <a:rPr lang="en-US" altLang="zh-CN" sz="2000" dirty="0" err="1">
                <a:solidFill>
                  <a:schemeClr val="accent2"/>
                </a:solidFill>
                <a:sym typeface="+mn-ea"/>
              </a:rPr>
              <a:t>Sname</a:t>
            </a:r>
            <a:endParaRPr lang="en-US" altLang="zh-CN" sz="2000" dirty="0">
              <a:solidFill>
                <a:schemeClr val="accent2"/>
              </a:solidFill>
            </a:endParaRPr>
          </a:p>
          <a:p>
            <a:pPr lvl="1" algn="just" eaLnBrk="1" hangingPunct="1">
              <a:lnSpc>
                <a:spcPts val="3300"/>
              </a:lnSpc>
              <a:spcBef>
                <a:spcPts val="600"/>
              </a:spcBef>
              <a:buFont typeface="Wingdings" panose="05000000000000000000" pitchFamily="2" charset="2"/>
              <a:buNone/>
            </a:pPr>
            <a:r>
              <a:rPr lang="en-US" altLang="zh-CN" sz="2000" dirty="0">
                <a:sym typeface="+mn-ea"/>
              </a:rPr>
              <a:t>	HAVING COUNT(*)=</a:t>
            </a:r>
            <a:endParaRPr lang="en-US" altLang="zh-CN" sz="2000" dirty="0"/>
          </a:p>
          <a:p>
            <a:pPr lvl="1" algn="just" eaLnBrk="1" hangingPunct="1">
              <a:lnSpc>
                <a:spcPts val="3300"/>
              </a:lnSpc>
              <a:spcBef>
                <a:spcPts val="600"/>
              </a:spcBef>
              <a:buFont typeface="Wingdings" panose="05000000000000000000" pitchFamily="2" charset="2"/>
              <a:buNone/>
            </a:pPr>
            <a:r>
              <a:rPr lang="en-US" altLang="zh-CN" sz="2000" dirty="0">
                <a:sym typeface="+mn-ea"/>
              </a:rPr>
              <a:t>			(  SELECT </a:t>
            </a:r>
            <a:r>
              <a:rPr lang="en-US" altLang="zh-CN" sz="2000">
                <a:sym typeface="+mn-ea"/>
              </a:rPr>
              <a:t>COUNT(*)   </a:t>
            </a:r>
            <a:r>
              <a:rPr lang="en-US" altLang="zh-CN" sz="2000" dirty="0">
                <a:sym typeface="+mn-ea"/>
              </a:rPr>
              <a:t>FROM Course  );</a:t>
            </a:r>
            <a:endParaRPr lang="en-US" altLang="zh-CN" sz="2000" dirty="0">
              <a:sym typeface="+mn-ea"/>
            </a:endParaRPr>
          </a:p>
        </p:txBody>
      </p:sp>
      <p:sp>
        <p:nvSpPr>
          <p:cNvPr id="3" name="文本框 2"/>
          <p:cNvSpPr txBox="1"/>
          <p:nvPr/>
        </p:nvSpPr>
        <p:spPr>
          <a:xfrm>
            <a:off x="2927350" y="188595"/>
            <a:ext cx="6096000" cy="645160"/>
          </a:xfrm>
          <a:prstGeom prst="rect">
            <a:avLst/>
          </a:prstGeom>
          <a:noFill/>
        </p:spPr>
        <p:txBody>
          <a:bodyPr wrap="square" rtlCol="0" anchor="t">
            <a:spAutoFit/>
          </a:bodyPr>
          <a:p>
            <a:pPr eaLnBrk="1" hangingPunct="1"/>
            <a:r>
              <a:rPr lang="zh-CN" altLang="en-US" sz="3600">
                <a:solidFill>
                  <a:schemeClr val="bg1"/>
                </a:solidFill>
                <a:sym typeface="+mn-ea"/>
              </a:rPr>
              <a:t>另一个实现方式</a:t>
            </a:r>
            <a:endParaRPr lang="en-US" altLang="zh-CN" sz="3600">
              <a:solidFill>
                <a:schemeClr val="bg1"/>
              </a:solidFill>
              <a:sym typeface="+mn-e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3427" name="Rectangle 3"/>
          <p:cNvSpPr>
            <a:spLocks noGrp="1" noChangeArrowheads="1"/>
          </p:cNvSpPr>
          <p:nvPr>
            <p:ph type="body" idx="4294967295"/>
          </p:nvPr>
        </p:nvSpPr>
        <p:spPr/>
        <p:txBody>
          <a:bodyPr/>
          <a:lstStyle/>
          <a:p>
            <a:pPr eaLnBrk="1" hangingPunct="1"/>
            <a:r>
              <a:rPr lang="en-US" altLang="zh-CN"/>
              <a:t> </a:t>
            </a:r>
            <a:r>
              <a:rPr lang="zh-CN" altLang="en-US"/>
              <a:t>用</a:t>
            </a:r>
            <a:r>
              <a:rPr lang="en-US" altLang="zh-CN"/>
              <a:t>EXISTS/NOT EXISTS</a:t>
            </a:r>
            <a:r>
              <a:rPr lang="zh-CN" altLang="en-US"/>
              <a:t>实现逻辑蕴涵</a:t>
            </a:r>
            <a:r>
              <a:rPr lang="en-US" altLang="zh-CN"/>
              <a:t>（</a:t>
            </a:r>
            <a:r>
              <a:rPr lang="zh-CN" altLang="en-US"/>
              <a:t>难点</a:t>
            </a:r>
            <a:r>
              <a:rPr lang="en-US" altLang="zh-CN"/>
              <a:t>）</a:t>
            </a:r>
            <a:endParaRPr lang="en-US" altLang="zh-CN"/>
          </a:p>
          <a:p>
            <a:pPr eaLnBrk="1" hangingPunct="1"/>
            <a:endParaRPr lang="en-US" altLang="zh-CN"/>
          </a:p>
          <a:p>
            <a:pPr lvl="1">
              <a:lnSpc>
                <a:spcPct val="130000"/>
              </a:lnSpc>
            </a:pPr>
            <a:r>
              <a:rPr lang="en-US" altLang="zh-CN"/>
              <a:t>SQL</a:t>
            </a:r>
            <a:r>
              <a:rPr lang="zh-CN" altLang="en-US"/>
              <a:t>语言中没有蕴涵</a:t>
            </a:r>
            <a:r>
              <a:rPr lang="en-US" altLang="zh-CN"/>
              <a:t>（Implication）</a:t>
            </a:r>
            <a:r>
              <a:rPr lang="zh-CN" altLang="en-US"/>
              <a:t>逻辑运算</a:t>
            </a:r>
            <a:endParaRPr lang="zh-CN" altLang="en-US"/>
          </a:p>
          <a:p>
            <a:pPr lvl="1">
              <a:lnSpc>
                <a:spcPct val="130000"/>
              </a:lnSpc>
            </a:pPr>
            <a:r>
              <a:rPr lang="zh-CN" altLang="en-US"/>
              <a:t>可以利用谓词演算将逻辑蕴涵谓词等价转换为：</a:t>
            </a:r>
            <a:endParaRPr lang="zh-CN" altLang="en-US"/>
          </a:p>
          <a:p>
            <a:pPr eaLnBrk="1" hangingPunct="1">
              <a:lnSpc>
                <a:spcPct val="130000"/>
              </a:lnSpc>
              <a:buFont typeface="Wingdings" panose="05000000000000000000" pitchFamily="2" charset="2"/>
              <a:buNone/>
            </a:pPr>
            <a:r>
              <a:rPr lang="zh-CN" altLang="en-US"/>
              <a:t>                   </a:t>
            </a:r>
            <a:r>
              <a:rPr lang="en-US" altLang="zh-CN" sz="2400"/>
              <a:t>p </a:t>
            </a:r>
            <a:r>
              <a:rPr lang="en-US" altLang="zh-CN" sz="2400">
                <a:sym typeface="Symbol" panose="05050102010706020507" pitchFamily="2" charset="2"/>
              </a:rPr>
              <a:t></a:t>
            </a:r>
            <a:r>
              <a:rPr lang="en-US" altLang="zh-CN" sz="2400"/>
              <a:t> q ≡ </a:t>
            </a:r>
            <a:r>
              <a:rPr lang="en-US" altLang="zh-CN" sz="2400">
                <a:sym typeface="Symbol" panose="05050102010706020507" pitchFamily="2" charset="2"/>
              </a:rPr>
              <a:t></a:t>
            </a:r>
            <a:r>
              <a:rPr lang="en-US" altLang="zh-CN" sz="2400"/>
              <a:t> p∨q </a:t>
            </a:r>
            <a:endParaRPr lang="en-US" altLang="zh-CN" sz="240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4451" name="Rectangle 3"/>
          <p:cNvSpPr>
            <a:spLocks noGrp="1" noChangeArrowheads="1"/>
          </p:cNvSpPr>
          <p:nvPr>
            <p:ph type="body" idx="4294967295"/>
          </p:nvPr>
        </p:nvSpPr>
        <p:spPr>
          <a:xfrm>
            <a:off x="911424" y="1268761"/>
            <a:ext cx="10670976" cy="4925666"/>
          </a:xfrm>
        </p:spPr>
        <p:txBody>
          <a:bodyPr/>
          <a:lstStyle/>
          <a:p>
            <a:pPr eaLnBrk="1" hangingPunct="1">
              <a:lnSpc>
                <a:spcPct val="150000"/>
              </a:lnSpc>
              <a:buFont typeface="Wingdings" panose="05000000000000000000"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3.65</a:t>
            </a:r>
            <a:r>
              <a:rPr lang="en-US" altLang="zh-CN" sz="2400" dirty="0"/>
              <a:t>]</a:t>
            </a:r>
            <a:r>
              <a:rPr lang="zh-CN" altLang="en-US" sz="2400" dirty="0"/>
              <a:t>查询至少选修了学生</a:t>
            </a:r>
            <a:r>
              <a:rPr lang="en-US" altLang="zh-CN" sz="2400" dirty="0"/>
              <a:t>20180002</a:t>
            </a:r>
            <a:r>
              <a:rPr lang="zh-CN" altLang="en-US" sz="2400" dirty="0"/>
              <a:t>选修的全部课程的学生号码</a:t>
            </a:r>
            <a:endParaRPr lang="zh-CN" altLang="en-US" sz="2400" dirty="0"/>
          </a:p>
          <a:p>
            <a:pPr eaLnBrk="1" hangingPunct="1">
              <a:lnSpc>
                <a:spcPct val="150000"/>
              </a:lnSpc>
              <a:buFont typeface="Wingdings" panose="05000000000000000000" pitchFamily="2" charset="2"/>
              <a:buNone/>
            </a:pPr>
            <a:r>
              <a:rPr lang="zh-CN" altLang="en-US" sz="2400" dirty="0"/>
              <a:t>   可以用逻辑蕴涵来表达：查询学号为</a:t>
            </a:r>
            <a:r>
              <a:rPr lang="en-US" altLang="zh-CN" sz="2400" dirty="0"/>
              <a:t>x</a:t>
            </a:r>
            <a:r>
              <a:rPr lang="zh-CN" altLang="en-US" sz="2400" dirty="0"/>
              <a:t>的学生，对所有的课程</a:t>
            </a:r>
            <a:r>
              <a:rPr lang="en-US" altLang="zh-CN" sz="2400" dirty="0"/>
              <a:t>y</a:t>
            </a:r>
            <a:r>
              <a:rPr lang="zh-CN" altLang="en-US" sz="2400" dirty="0"/>
              <a:t>，只要</a:t>
            </a:r>
            <a:r>
              <a:rPr lang="en-US" altLang="zh-CN" sz="2400" dirty="0"/>
              <a:t>20180002</a:t>
            </a:r>
            <a:r>
              <a:rPr lang="zh-CN" altLang="en-US" sz="2400" dirty="0"/>
              <a:t>学生选修了课程</a:t>
            </a:r>
            <a:r>
              <a:rPr lang="en-US" altLang="zh-CN" sz="2400" dirty="0"/>
              <a:t>y</a:t>
            </a:r>
            <a:r>
              <a:rPr lang="zh-CN" altLang="en-US" sz="2400" dirty="0"/>
              <a:t>，则</a:t>
            </a:r>
            <a:r>
              <a:rPr lang="en-US" altLang="zh-CN" sz="2400" dirty="0"/>
              <a:t>x</a:t>
            </a:r>
            <a:r>
              <a:rPr lang="zh-CN" altLang="en-US" sz="2400" dirty="0"/>
              <a:t>也选修了</a:t>
            </a:r>
            <a:r>
              <a:rPr lang="en-US" altLang="zh-CN" sz="2400" dirty="0"/>
              <a:t>y</a:t>
            </a:r>
            <a:r>
              <a:rPr lang="zh-CN" altLang="en-US" sz="2400" dirty="0"/>
              <a:t>。形式化表示如下：</a:t>
            </a:r>
            <a:endParaRPr lang="zh-CN" altLang="en-US" sz="2400" dirty="0"/>
          </a:p>
          <a:p>
            <a:pPr eaLnBrk="1" hangingPunct="1">
              <a:lnSpc>
                <a:spcPct val="150000"/>
              </a:lnSpc>
              <a:buFont typeface="Wingdings" panose="05000000000000000000" pitchFamily="2" charset="2"/>
              <a:buNone/>
            </a:pPr>
            <a:r>
              <a:rPr lang="en-US" altLang="zh-CN" sz="2400" dirty="0"/>
              <a:t>	</a:t>
            </a:r>
            <a:r>
              <a:rPr lang="zh-CN" altLang="en-US" sz="2400" dirty="0"/>
              <a:t>用</a:t>
            </a:r>
            <a:r>
              <a:rPr lang="en-US" altLang="zh-CN" sz="2400" dirty="0"/>
              <a:t>p</a:t>
            </a:r>
            <a:r>
              <a:rPr lang="zh-CN" altLang="en-US" sz="2400" dirty="0"/>
              <a:t>表示谓词“学生</a:t>
            </a:r>
            <a:r>
              <a:rPr lang="en-US" altLang="zh-CN" sz="2400" dirty="0"/>
              <a:t>20180002</a:t>
            </a:r>
            <a:r>
              <a:rPr lang="zh-CN" altLang="en-US" sz="2400" dirty="0"/>
              <a:t>选修了课程</a:t>
            </a:r>
            <a:r>
              <a:rPr lang="en-US" altLang="zh-CN" sz="2400" dirty="0"/>
              <a:t>y”</a:t>
            </a:r>
            <a:endParaRPr lang="en-US" altLang="zh-CN" sz="2400" dirty="0"/>
          </a:p>
          <a:p>
            <a:pPr eaLnBrk="1" hangingPunct="1">
              <a:lnSpc>
                <a:spcPct val="150000"/>
              </a:lnSpc>
              <a:buFont typeface="Wingdings" panose="05000000000000000000" pitchFamily="2" charset="2"/>
              <a:buNone/>
            </a:pPr>
            <a:r>
              <a:rPr lang="en-US" altLang="zh-CN" sz="2400" dirty="0"/>
              <a:t>	</a:t>
            </a:r>
            <a:r>
              <a:rPr lang="zh-CN" altLang="en-US" sz="2400" dirty="0"/>
              <a:t>用</a:t>
            </a:r>
            <a:r>
              <a:rPr lang="en-US" altLang="zh-CN" sz="2400" dirty="0"/>
              <a:t>q</a:t>
            </a:r>
            <a:r>
              <a:rPr lang="zh-CN" altLang="en-US" sz="2400" dirty="0"/>
              <a:t>表示谓词“学生</a:t>
            </a:r>
            <a:r>
              <a:rPr lang="en-US" altLang="zh-CN" sz="2400" dirty="0"/>
              <a:t>x</a:t>
            </a:r>
            <a:r>
              <a:rPr lang="zh-CN" altLang="en-US" sz="2400" dirty="0"/>
              <a:t>选修了课程</a:t>
            </a:r>
            <a:r>
              <a:rPr lang="en-US" altLang="zh-CN" sz="2400" dirty="0"/>
              <a:t>y”</a:t>
            </a:r>
            <a:endParaRPr lang="en-US" altLang="zh-CN" dirty="0"/>
          </a:p>
          <a:p>
            <a:pPr eaLnBrk="1" hangingPunct="1">
              <a:lnSpc>
                <a:spcPct val="150000"/>
              </a:lnSpc>
              <a:buFont typeface="Wingdings" panose="05000000000000000000" pitchFamily="2" charset="2"/>
              <a:buNone/>
            </a:pPr>
            <a:r>
              <a:rPr lang="en-US" altLang="zh-CN" sz="2400" dirty="0"/>
              <a:t>	</a:t>
            </a:r>
            <a:r>
              <a:rPr lang="zh-CN" altLang="en-US" sz="2400" dirty="0"/>
              <a:t>则上述查询为</a:t>
            </a:r>
            <a:r>
              <a:rPr lang="en-US" altLang="zh-CN" sz="2400" dirty="0"/>
              <a:t>: （</a:t>
            </a:r>
            <a:r>
              <a:rPr lang="en-US" altLang="zh-CN" sz="2400" dirty="0">
                <a:sym typeface="Symbol" panose="05050102010706020507" pitchFamily="2" charset="2"/>
              </a:rPr>
              <a:t></a:t>
            </a:r>
            <a:r>
              <a:rPr lang="en-US" altLang="zh-CN" sz="2400" dirty="0"/>
              <a:t>y） p </a:t>
            </a:r>
            <a:r>
              <a:rPr lang="en-US" altLang="zh-CN" sz="2400" dirty="0">
                <a:sym typeface="Symbol" panose="05050102010706020507" pitchFamily="2" charset="2"/>
              </a:rPr>
              <a:t></a:t>
            </a:r>
            <a:r>
              <a:rPr lang="en-US" altLang="zh-CN" sz="2400" dirty="0"/>
              <a:t> q </a:t>
            </a:r>
            <a:endParaRPr lang="en-US" altLang="zh-CN" sz="2400"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endParaRPr lang="en-US" altLang="zh-CN" sz="3600"/>
          </a:p>
        </p:txBody>
      </p:sp>
      <p:sp>
        <p:nvSpPr>
          <p:cNvPr id="105475" name="Rectangle 3"/>
          <p:cNvSpPr>
            <a:spLocks noGrp="1" noChangeArrowheads="1"/>
          </p:cNvSpPr>
          <p:nvPr>
            <p:ph type="body" idx="4294967295"/>
          </p:nvPr>
        </p:nvSpPr>
        <p:spPr>
          <a:xfrm>
            <a:off x="1055440" y="1339851"/>
            <a:ext cx="9721080" cy="4854575"/>
          </a:xfrm>
        </p:spPr>
        <p:txBody>
          <a:bodyPr/>
          <a:lstStyle/>
          <a:p>
            <a:pPr eaLnBrk="1" hangingPunct="1">
              <a:lnSpc>
                <a:spcPct val="90000"/>
              </a:lnSpc>
              <a:buFont typeface="Wingdings" panose="05000000000000000000" pitchFamily="2" charset="2"/>
              <a:buChar char="n"/>
            </a:pPr>
            <a:r>
              <a:rPr lang="zh-CN" altLang="en-US" sz="2400" dirty="0"/>
              <a:t>等价变换：</a:t>
            </a:r>
            <a:endParaRPr lang="zh-CN" altLang="en-US" sz="2400" dirty="0"/>
          </a:p>
          <a:p>
            <a:pPr algn="just" eaLnBrk="1" hangingPunct="1">
              <a:lnSpc>
                <a:spcPct val="90000"/>
              </a:lnSpc>
              <a:buFont typeface="Wingdings" panose="05000000000000000000" pitchFamily="2" charset="2"/>
              <a:buNone/>
            </a:pPr>
            <a:r>
              <a:rPr lang="zh-CN" altLang="en-US" sz="2400" dirty="0"/>
              <a:t>    	 </a:t>
            </a:r>
            <a:r>
              <a:rPr lang="en-US" altLang="zh-CN" sz="2400" dirty="0"/>
              <a:t>(</a:t>
            </a:r>
            <a:r>
              <a:rPr lang="en-US" altLang="zh-CN" sz="2400" dirty="0">
                <a:sym typeface="Symbol" panose="05050102010706020507" pitchFamily="2" charset="2"/>
              </a:rPr>
              <a:t></a:t>
            </a:r>
            <a:r>
              <a:rPr lang="en-US" altLang="zh-CN" sz="2400" dirty="0"/>
              <a:t>y)</a:t>
            </a:r>
            <a:r>
              <a:rPr lang="en-US" altLang="zh-CN" sz="2400" dirty="0">
                <a:solidFill>
                  <a:srgbClr val="FF3399"/>
                </a:solidFill>
              </a:rPr>
              <a:t>p </a:t>
            </a:r>
            <a:r>
              <a:rPr lang="en-US" altLang="zh-CN" sz="2400" dirty="0">
                <a:solidFill>
                  <a:srgbClr val="FF3399"/>
                </a:solidFill>
                <a:sym typeface="Symbol" panose="05050102010706020507" pitchFamily="2" charset="2"/>
              </a:rPr>
              <a:t></a:t>
            </a:r>
            <a:r>
              <a:rPr lang="en-US" altLang="zh-CN" sz="2400" dirty="0">
                <a:solidFill>
                  <a:srgbClr val="FF3399"/>
                </a:solidFill>
              </a:rPr>
              <a:t> q</a:t>
            </a:r>
            <a:r>
              <a:rPr lang="en-US" altLang="zh-CN" sz="2400" dirty="0"/>
              <a:t>  ≡ </a:t>
            </a:r>
            <a:r>
              <a:rPr lang="en-US" altLang="zh-CN" sz="2400" dirty="0">
                <a:sym typeface="Symbol" panose="05050102010706020507" pitchFamily="2" charset="2"/>
              </a:rPr>
              <a:t></a:t>
            </a:r>
            <a:r>
              <a:rPr lang="en-US" altLang="zh-CN" sz="2400" dirty="0"/>
              <a:t> (</a:t>
            </a:r>
            <a:r>
              <a:rPr lang="en-US" altLang="zh-CN" sz="2400" dirty="0">
                <a:sym typeface="Symbol" panose="05050102010706020507" pitchFamily="2" charset="2"/>
              </a:rPr>
              <a:t></a:t>
            </a:r>
            <a:r>
              <a:rPr lang="en-US" altLang="zh-CN" sz="2400" dirty="0"/>
              <a:t>y (</a:t>
            </a:r>
            <a:r>
              <a:rPr lang="en-US" altLang="zh-CN" sz="2400" dirty="0">
                <a:sym typeface="Symbol" panose="05050102010706020507" pitchFamily="2" charset="2"/>
              </a:rPr>
              <a:t>(</a:t>
            </a:r>
            <a:r>
              <a:rPr lang="en-US" altLang="zh-CN" sz="2400" dirty="0">
                <a:solidFill>
                  <a:srgbClr val="FF3399"/>
                </a:solidFill>
              </a:rPr>
              <a:t>p </a:t>
            </a:r>
            <a:r>
              <a:rPr lang="en-US" altLang="zh-CN" sz="2400" dirty="0">
                <a:solidFill>
                  <a:srgbClr val="FF3399"/>
                </a:solidFill>
                <a:sym typeface="Symbol" panose="05050102010706020507" pitchFamily="2" charset="2"/>
              </a:rPr>
              <a:t></a:t>
            </a:r>
            <a:r>
              <a:rPr lang="en-US" altLang="zh-CN" sz="2400" dirty="0">
                <a:solidFill>
                  <a:srgbClr val="FF3399"/>
                </a:solidFill>
              </a:rPr>
              <a:t> q</a:t>
            </a:r>
            <a:r>
              <a:rPr lang="en-US" altLang="zh-CN" sz="2400" dirty="0"/>
              <a:t>)))</a:t>
            </a:r>
            <a:endParaRPr lang="en-US" altLang="zh-CN" sz="2400" dirty="0"/>
          </a:p>
          <a:p>
            <a:pPr algn="just" eaLnBrk="1" hangingPunct="1">
              <a:lnSpc>
                <a:spcPct val="90000"/>
              </a:lnSpc>
              <a:buFont typeface="Wingdings" panose="05000000000000000000" pitchFamily="2" charset="2"/>
              <a:buNone/>
            </a:pPr>
            <a:r>
              <a:rPr lang="en-US" altLang="zh-CN" sz="2400" dirty="0"/>
              <a:t>              	  ≡ </a:t>
            </a:r>
            <a:r>
              <a:rPr lang="en-US" altLang="zh-CN" sz="2400" dirty="0">
                <a:sym typeface="Symbol" panose="05050102010706020507" pitchFamily="2" charset="2"/>
              </a:rPr>
              <a:t></a:t>
            </a:r>
            <a:r>
              <a:rPr lang="en-US" altLang="zh-CN" sz="2400" dirty="0"/>
              <a:t> (</a:t>
            </a:r>
            <a:r>
              <a:rPr lang="en-US" altLang="zh-CN" sz="2400" dirty="0">
                <a:sym typeface="Symbol" panose="05050102010706020507" pitchFamily="2" charset="2"/>
              </a:rPr>
              <a:t></a:t>
            </a:r>
            <a:r>
              <a:rPr lang="en-US" altLang="zh-CN" sz="2400" dirty="0"/>
              <a:t>y (</a:t>
            </a:r>
            <a:r>
              <a:rPr lang="en-US" altLang="zh-CN" sz="2400" dirty="0">
                <a:sym typeface="Symbol" panose="05050102010706020507" pitchFamily="2" charset="2"/>
              </a:rPr>
              <a:t>(</a:t>
            </a:r>
            <a:r>
              <a:rPr lang="en-US" altLang="zh-CN" sz="2400" dirty="0"/>
              <a:t> p∨ q)))</a:t>
            </a:r>
            <a:endParaRPr lang="en-US" altLang="zh-CN" sz="2400" dirty="0"/>
          </a:p>
          <a:p>
            <a:pPr algn="just" eaLnBrk="1" hangingPunct="1">
              <a:lnSpc>
                <a:spcPct val="90000"/>
              </a:lnSpc>
              <a:buFont typeface="Wingdings" panose="05000000000000000000" pitchFamily="2" charset="2"/>
              <a:buNone/>
            </a:pPr>
            <a:r>
              <a:rPr lang="en-US" altLang="zh-CN" sz="2400" dirty="0"/>
              <a:t>               	  ≡ </a:t>
            </a:r>
            <a:r>
              <a:rPr lang="en-US" altLang="zh-CN" sz="2400" dirty="0">
                <a:sym typeface="Symbol" panose="05050102010706020507" pitchFamily="2" charset="2"/>
              </a:rPr>
              <a:t></a:t>
            </a:r>
            <a:r>
              <a:rPr lang="en-US" altLang="zh-CN" sz="2400" dirty="0"/>
              <a:t> </a:t>
            </a:r>
            <a:r>
              <a:rPr lang="en-US" altLang="zh-CN" sz="2400" dirty="0">
                <a:sym typeface="Symbol" panose="05050102010706020507" pitchFamily="2" charset="2"/>
              </a:rPr>
              <a:t></a:t>
            </a:r>
            <a:r>
              <a:rPr lang="en-US" altLang="zh-CN" sz="2400" dirty="0"/>
              <a:t>y (</a:t>
            </a:r>
            <a:r>
              <a:rPr lang="en-US" altLang="zh-CN" sz="2400" dirty="0">
                <a:solidFill>
                  <a:srgbClr val="7030A0"/>
                </a:solidFill>
              </a:rPr>
              <a:t>p</a:t>
            </a:r>
            <a:r>
              <a:rPr lang="en-US" altLang="zh-CN" sz="2400" dirty="0"/>
              <a:t>∧</a:t>
            </a:r>
            <a:r>
              <a:rPr lang="en-US" altLang="zh-CN" sz="2400" dirty="0">
                <a:solidFill>
                  <a:srgbClr val="00B050"/>
                </a:solidFill>
                <a:sym typeface="Symbol" panose="05050102010706020507" pitchFamily="2" charset="2"/>
              </a:rPr>
              <a:t></a:t>
            </a:r>
            <a:r>
              <a:rPr lang="en-US" altLang="zh-CN" sz="2400" dirty="0">
                <a:solidFill>
                  <a:srgbClr val="00B050"/>
                </a:solidFill>
              </a:rPr>
              <a:t>q</a:t>
            </a:r>
            <a:r>
              <a:rPr lang="en-US" altLang="zh-CN" sz="2400" dirty="0"/>
              <a:t>)</a:t>
            </a:r>
            <a:endParaRPr lang="en-US" altLang="zh-CN" sz="2400" dirty="0"/>
          </a:p>
          <a:p>
            <a:pPr algn="just" eaLnBrk="1" hangingPunct="1">
              <a:lnSpc>
                <a:spcPct val="90000"/>
              </a:lnSpc>
              <a:buFont typeface="Wingdings" panose="05000000000000000000" pitchFamily="2" charset="2"/>
              <a:buNone/>
            </a:pPr>
            <a:endParaRPr lang="en-US" altLang="zh-CN" sz="2400" dirty="0"/>
          </a:p>
          <a:p>
            <a:pPr eaLnBrk="1" hangingPunct="1">
              <a:lnSpc>
                <a:spcPct val="140000"/>
              </a:lnSpc>
              <a:buFont typeface="Wingdings" panose="05000000000000000000" pitchFamily="2" charset="2"/>
              <a:buChar char="n"/>
            </a:pPr>
            <a:r>
              <a:rPr lang="zh-CN" altLang="en-US" sz="2400" dirty="0"/>
              <a:t>表达的语义为：不存在这样的课程</a:t>
            </a:r>
            <a:r>
              <a:rPr lang="en-US" altLang="zh-CN" sz="2400" dirty="0"/>
              <a:t>y</a:t>
            </a:r>
            <a:r>
              <a:rPr lang="zh-CN" altLang="en-US" sz="2400" dirty="0"/>
              <a:t>，</a:t>
            </a:r>
            <a:r>
              <a:rPr lang="zh-CN" altLang="en-US" sz="2400" dirty="0">
                <a:solidFill>
                  <a:srgbClr val="7030A0"/>
                </a:solidFill>
              </a:rPr>
              <a:t>学生</a:t>
            </a:r>
            <a:r>
              <a:rPr lang="en-US" altLang="zh-CN" sz="2400" dirty="0">
                <a:solidFill>
                  <a:srgbClr val="7030A0"/>
                </a:solidFill>
              </a:rPr>
              <a:t>20180002</a:t>
            </a:r>
            <a:r>
              <a:rPr lang="zh-CN" altLang="en-US" sz="2400" dirty="0">
                <a:solidFill>
                  <a:srgbClr val="7030A0"/>
                </a:solidFill>
              </a:rPr>
              <a:t>选修了</a:t>
            </a:r>
            <a:r>
              <a:rPr lang="en-US" altLang="zh-CN" sz="2400" dirty="0">
                <a:solidFill>
                  <a:srgbClr val="7030A0"/>
                </a:solidFill>
              </a:rPr>
              <a:t>y</a:t>
            </a:r>
            <a:r>
              <a:rPr lang="zh-CN" altLang="en-US" sz="2400" dirty="0"/>
              <a:t>，而</a:t>
            </a:r>
            <a:r>
              <a:rPr lang="zh-CN" altLang="en-US" sz="2400" dirty="0">
                <a:solidFill>
                  <a:srgbClr val="00B050"/>
                </a:solidFill>
              </a:rPr>
              <a:t>学生</a:t>
            </a:r>
            <a:r>
              <a:rPr lang="en-US" altLang="zh-CN" sz="2400" dirty="0">
                <a:solidFill>
                  <a:srgbClr val="00B050"/>
                </a:solidFill>
              </a:rPr>
              <a:t>x</a:t>
            </a:r>
            <a:r>
              <a:rPr lang="zh-CN" altLang="en-US" sz="2400" dirty="0">
                <a:solidFill>
                  <a:srgbClr val="00B050"/>
                </a:solidFill>
              </a:rPr>
              <a:t>没有选修</a:t>
            </a:r>
            <a:r>
              <a:rPr lang="en-US" altLang="zh-CN" sz="2400" dirty="0">
                <a:solidFill>
                  <a:srgbClr val="00B050"/>
                </a:solidFill>
              </a:rPr>
              <a:t>y</a:t>
            </a:r>
            <a:endParaRPr lang="en-US" altLang="zh-CN" sz="2400" dirty="0">
              <a:solidFill>
                <a:srgbClr val="00B050"/>
              </a:solidFill>
            </a:endParaRPr>
          </a:p>
        </p:txBody>
      </p:sp>
      <p:sp>
        <p:nvSpPr>
          <p:cNvPr id="2" name="文本框 1"/>
          <p:cNvSpPr txBox="1"/>
          <p:nvPr/>
        </p:nvSpPr>
        <p:spPr>
          <a:xfrm>
            <a:off x="2496185" y="5012690"/>
            <a:ext cx="6096000" cy="1198880"/>
          </a:xfrm>
          <a:prstGeom prst="rect">
            <a:avLst/>
          </a:prstGeom>
          <a:noFill/>
        </p:spPr>
        <p:txBody>
          <a:bodyPr wrap="square" rtlCol="0" anchor="t">
            <a:spAutoFit/>
          </a:bodyPr>
          <a:p>
            <a:pPr eaLnBrk="1" hangingPunct="1">
              <a:lnSpc>
                <a:spcPct val="150000"/>
              </a:lnSpc>
              <a:buFont typeface="Wingdings" panose="05000000000000000000" pitchFamily="2" charset="2"/>
              <a:buNone/>
            </a:pPr>
            <a:r>
              <a:rPr lang="zh-CN" altLang="en-US" sz="2400" dirty="0">
                <a:sym typeface="+mn-ea"/>
              </a:rPr>
              <a:t>用</a:t>
            </a:r>
            <a:r>
              <a:rPr lang="en-US" altLang="zh-CN" sz="2400" dirty="0">
                <a:sym typeface="+mn-ea"/>
              </a:rPr>
              <a:t>p</a:t>
            </a:r>
            <a:r>
              <a:rPr lang="zh-CN" altLang="en-US" sz="2400" dirty="0">
                <a:sym typeface="+mn-ea"/>
              </a:rPr>
              <a:t>表示谓词“学生</a:t>
            </a:r>
            <a:r>
              <a:rPr lang="en-US" altLang="zh-CN" sz="2400" dirty="0">
                <a:sym typeface="+mn-ea"/>
              </a:rPr>
              <a:t>20180002</a:t>
            </a:r>
            <a:r>
              <a:rPr lang="zh-CN" altLang="en-US" sz="2400" dirty="0">
                <a:sym typeface="+mn-ea"/>
              </a:rPr>
              <a:t>选修了课程</a:t>
            </a:r>
            <a:r>
              <a:rPr lang="en-US" altLang="zh-CN" sz="2400" dirty="0">
                <a:sym typeface="+mn-ea"/>
              </a:rPr>
              <a:t>y”</a:t>
            </a:r>
            <a:endParaRPr lang="en-US" altLang="zh-CN" sz="2400" dirty="0"/>
          </a:p>
          <a:p>
            <a:pPr eaLnBrk="1" hangingPunct="1">
              <a:lnSpc>
                <a:spcPct val="150000"/>
              </a:lnSpc>
              <a:buFont typeface="Wingdings" panose="05000000000000000000" pitchFamily="2" charset="2"/>
              <a:buNone/>
            </a:pPr>
            <a:r>
              <a:rPr lang="en-US" altLang="zh-CN" sz="2400" dirty="0">
                <a:sym typeface="+mn-ea"/>
              </a:rPr>
              <a:t>	</a:t>
            </a:r>
            <a:r>
              <a:rPr lang="zh-CN" altLang="en-US" sz="2400" dirty="0">
                <a:sym typeface="+mn-ea"/>
              </a:rPr>
              <a:t>用</a:t>
            </a:r>
            <a:r>
              <a:rPr lang="en-US" altLang="zh-CN" sz="2400" dirty="0">
                <a:sym typeface="+mn-ea"/>
              </a:rPr>
              <a:t>q</a:t>
            </a:r>
            <a:r>
              <a:rPr lang="zh-CN" altLang="en-US" sz="2400" dirty="0">
                <a:sym typeface="+mn-ea"/>
              </a:rPr>
              <a:t>表示谓词“学生</a:t>
            </a:r>
            <a:r>
              <a:rPr lang="en-US" altLang="zh-CN" sz="2400" dirty="0">
                <a:sym typeface="+mn-ea"/>
              </a:rPr>
              <a:t>x</a:t>
            </a:r>
            <a:r>
              <a:rPr lang="zh-CN" altLang="en-US" sz="2400" dirty="0">
                <a:sym typeface="+mn-ea"/>
              </a:rPr>
              <a:t>选修了课程</a:t>
            </a:r>
            <a:r>
              <a:rPr lang="en-US" altLang="zh-CN" sz="2400" dirty="0">
                <a:sym typeface="+mn-ea"/>
              </a:rPr>
              <a:t>y”</a:t>
            </a:r>
            <a:endParaRPr lang="en-US" altLang="zh-CN" sz="2400" dirty="0">
              <a:sym typeface="+mn-ea"/>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r>
              <a:rPr lang="zh-CN" altLang="en-US" sz="4400">
                <a:cs typeface="Times New Roman" panose="02020603050405020304" pitchFamily="18" charset="0"/>
              </a:rPr>
              <a:t> </a:t>
            </a:r>
            <a:endParaRPr lang="zh-CN" altLang="en-US" sz="4400">
              <a:cs typeface="Times New Roman" panose="02020603050405020304" pitchFamily="18" charset="0"/>
            </a:endParaRPr>
          </a:p>
        </p:txBody>
      </p:sp>
      <p:sp>
        <p:nvSpPr>
          <p:cNvPr id="70659" name="Rectangle 3"/>
          <p:cNvSpPr>
            <a:spLocks noGrp="1" noChangeArrowheads="1"/>
          </p:cNvSpPr>
          <p:nvPr>
            <p:ph type="body" idx="4294967295"/>
          </p:nvPr>
        </p:nvSpPr>
        <p:spPr>
          <a:xfrm>
            <a:off x="2207836" y="809626"/>
            <a:ext cx="10081120" cy="4994276"/>
          </a:xfrm>
        </p:spPr>
        <p:txBody>
          <a:bodyPr/>
          <a:lstStyle/>
          <a:p>
            <a:pPr indent="0" algn="just">
              <a:buNone/>
            </a:pPr>
            <a:r>
              <a:rPr lang="en-US" altLang="zh-CN" sz="1800" dirty="0"/>
              <a:t>SELECT </a:t>
            </a:r>
            <a:r>
              <a:rPr lang="en-US" altLang="zh-CN" sz="1800" dirty="0" err="1"/>
              <a:t>Sno</a:t>
            </a:r>
            <a:endParaRPr lang="zh-CN" altLang="zh-CN" sz="1800" dirty="0"/>
          </a:p>
          <a:p>
            <a:pPr indent="0" algn="just">
              <a:buNone/>
            </a:pPr>
            <a:r>
              <a:rPr lang="en-US" altLang="zh-CN" sz="1800" dirty="0"/>
              <a:t>FROM </a:t>
            </a:r>
            <a:r>
              <a:rPr lang="en-US" altLang="zh-CN" sz="1800" dirty="0">
                <a:solidFill>
                  <a:srgbClr val="000000"/>
                </a:solidFill>
              </a:rPr>
              <a:t>Student</a:t>
            </a:r>
            <a:endParaRPr lang="zh-CN" altLang="zh-CN" sz="1800" dirty="0"/>
          </a:p>
          <a:p>
            <a:pPr indent="0" algn="just">
              <a:buNone/>
            </a:pPr>
            <a:r>
              <a:rPr lang="en-US" altLang="zh-CN" sz="1800" dirty="0"/>
              <a:t>WHERE NOT EXISTS</a:t>
            </a:r>
            <a:endParaRPr lang="zh-CN" altLang="zh-CN" sz="1800" dirty="0"/>
          </a:p>
          <a:p>
            <a:pPr indent="0" algn="just">
              <a:buNone/>
            </a:pPr>
            <a:r>
              <a:rPr lang="en-US" altLang="zh-CN" sz="1800" dirty="0"/>
              <a:t>        (SELECT </a:t>
            </a:r>
            <a:r>
              <a:rPr lang="en-US" altLang="zh-CN" sz="1800" dirty="0" smtClean="0"/>
              <a:t>*                                    </a:t>
            </a:r>
            <a:r>
              <a:rPr lang="en-US" altLang="zh-CN" sz="1400" dirty="0" smtClean="0"/>
              <a:t>/*</a:t>
            </a:r>
            <a:r>
              <a:rPr lang="zh-CN" altLang="zh-CN" sz="1400" dirty="0" smtClean="0"/>
              <a:t>这是一个相关子查询 </a:t>
            </a:r>
            <a:r>
              <a:rPr lang="en-US" altLang="zh-CN" sz="1400" dirty="0" smtClean="0"/>
              <a:t>*/</a:t>
            </a:r>
            <a:endParaRPr lang="zh-CN" altLang="zh-CN" sz="1400" dirty="0" smtClean="0"/>
          </a:p>
          <a:p>
            <a:pPr indent="0" algn="just">
              <a:buNone/>
            </a:pPr>
            <a:r>
              <a:rPr lang="en-US" altLang="zh-CN" sz="1800" dirty="0" smtClean="0"/>
              <a:t>         FROM </a:t>
            </a:r>
            <a:r>
              <a:rPr lang="en-US" altLang="zh-CN" sz="1800" dirty="0" smtClean="0">
                <a:solidFill>
                  <a:srgbClr val="000000"/>
                </a:solidFill>
              </a:rPr>
              <a:t>SC SCX</a:t>
            </a:r>
            <a:r>
              <a:rPr lang="en-US" altLang="zh-CN" sz="1800" dirty="0" smtClean="0"/>
              <a:t>                           </a:t>
            </a:r>
            <a:r>
              <a:rPr lang="en-US" altLang="zh-CN" sz="1400" dirty="0" smtClean="0"/>
              <a:t>/*</a:t>
            </a:r>
            <a:r>
              <a:rPr lang="zh-CN" altLang="zh-CN" sz="1400" dirty="0" smtClean="0"/>
              <a:t>父查询和子查询均引用了</a:t>
            </a:r>
            <a:r>
              <a:rPr lang="en-US" altLang="zh-CN" sz="1400" dirty="0" smtClean="0"/>
              <a:t>SC</a:t>
            </a:r>
            <a:r>
              <a:rPr lang="zh-CN" altLang="zh-CN" sz="1400" dirty="0" smtClean="0"/>
              <a:t>表</a:t>
            </a:r>
            <a:r>
              <a:rPr lang="en-US" altLang="zh-CN" sz="1400" dirty="0" smtClean="0"/>
              <a:t>*/</a:t>
            </a:r>
            <a:endParaRPr lang="zh-CN" altLang="zh-CN" sz="1400" dirty="0" smtClean="0"/>
          </a:p>
          <a:p>
            <a:pPr indent="0" algn="just">
              <a:buNone/>
            </a:pPr>
            <a:r>
              <a:rPr lang="en-US" altLang="zh-CN" sz="1800" dirty="0" smtClean="0"/>
              <a:t>         </a:t>
            </a:r>
            <a:r>
              <a:rPr lang="en-US" altLang="zh-CN" sz="1800" dirty="0"/>
              <a:t>WHERE </a:t>
            </a:r>
            <a:r>
              <a:rPr lang="en-US" altLang="zh-CN" sz="1800" dirty="0" err="1"/>
              <a:t>SCX.Sno</a:t>
            </a:r>
            <a:r>
              <a:rPr lang="en-US" altLang="zh-CN" sz="1800" dirty="0"/>
              <a:t>='</a:t>
            </a:r>
            <a:r>
              <a:rPr lang="en-US" altLang="zh-CN" sz="1800" dirty="0">
                <a:ea typeface="微软雅黑" panose="020B0503020204020204" charset="-122"/>
              </a:rPr>
              <a:t>20180002</a:t>
            </a:r>
            <a:r>
              <a:rPr lang="en-US" altLang="zh-CN" sz="1800" dirty="0"/>
              <a:t>' AND</a:t>
            </a:r>
            <a:endParaRPr lang="zh-CN" altLang="zh-CN" sz="1800" dirty="0"/>
          </a:p>
          <a:p>
            <a:pPr indent="0" algn="just">
              <a:buNone/>
            </a:pPr>
            <a:r>
              <a:rPr lang="en-US" altLang="zh-CN" sz="1800" dirty="0"/>
              <a:t>                NOT EXISTS</a:t>
            </a:r>
            <a:endParaRPr lang="zh-CN" altLang="zh-CN" sz="1800" dirty="0"/>
          </a:p>
          <a:p>
            <a:pPr indent="0" algn="just">
              <a:buNone/>
            </a:pPr>
            <a:r>
              <a:rPr lang="en-US" altLang="zh-CN" sz="1800" dirty="0"/>
              <a:t>                (SELECT *</a:t>
            </a:r>
            <a:endParaRPr lang="zh-CN" altLang="zh-CN" sz="1800" dirty="0"/>
          </a:p>
          <a:p>
            <a:pPr indent="0" algn="just">
              <a:buNone/>
            </a:pPr>
            <a:r>
              <a:rPr lang="en-US" altLang="zh-CN" sz="1800" dirty="0"/>
              <a:t>                 FROM</a:t>
            </a:r>
            <a:r>
              <a:rPr lang="en-US" altLang="zh-CN" sz="1800" dirty="0">
                <a:solidFill>
                  <a:srgbClr val="000000"/>
                </a:solidFill>
              </a:rPr>
              <a:t> SC SCY                   </a:t>
            </a:r>
            <a:r>
              <a:rPr lang="en-US" altLang="zh-CN" sz="1800" dirty="0"/>
              <a:t> </a:t>
            </a:r>
            <a:r>
              <a:rPr lang="en-US" altLang="zh-CN" sz="1400" dirty="0"/>
              <a:t>/*</a:t>
            </a:r>
            <a:r>
              <a:rPr lang="zh-CN" altLang="zh-CN" sz="1400" dirty="0"/>
              <a:t>用别名</a:t>
            </a:r>
            <a:r>
              <a:rPr lang="en-US" altLang="zh-CN" sz="1400" dirty="0"/>
              <a:t>SCX</a:t>
            </a:r>
            <a:r>
              <a:rPr lang="zh-CN" altLang="zh-CN" sz="1400" dirty="0"/>
              <a:t>、</a:t>
            </a:r>
            <a:r>
              <a:rPr lang="en-US" altLang="zh-CN" sz="1400" dirty="0"/>
              <a:t>SCY</a:t>
            </a:r>
            <a:r>
              <a:rPr lang="zh-CN" altLang="zh-CN" sz="1400" dirty="0"/>
              <a:t>将父查询</a:t>
            </a:r>
            <a:r>
              <a:rPr lang="en-US" altLang="zh-CN" sz="1400" dirty="0"/>
              <a:t>*/</a:t>
            </a:r>
            <a:endParaRPr lang="zh-CN" altLang="zh-CN" sz="1400" dirty="0"/>
          </a:p>
          <a:p>
            <a:pPr indent="0" algn="just">
              <a:buNone/>
            </a:pPr>
            <a:r>
              <a:rPr lang="en-US" altLang="zh-CN" sz="1800" dirty="0"/>
              <a:t>                 WHERE </a:t>
            </a:r>
            <a:r>
              <a:rPr lang="en-US" altLang="zh-CN" sz="1800" dirty="0" err="1">
                <a:solidFill>
                  <a:srgbClr val="000000"/>
                </a:solidFill>
              </a:rPr>
              <a:t>SCY.Sno</a:t>
            </a:r>
            <a:r>
              <a:rPr lang="en-US" altLang="zh-CN" sz="1800" dirty="0">
                <a:solidFill>
                  <a:srgbClr val="000000"/>
                </a:solidFill>
              </a:rPr>
              <a:t>=</a:t>
            </a:r>
            <a:r>
              <a:rPr lang="en-US" altLang="zh-CN" sz="1800" dirty="0" err="1">
                <a:solidFill>
                  <a:srgbClr val="000000"/>
                </a:solidFill>
              </a:rPr>
              <a:t>Student.Sno</a:t>
            </a:r>
            <a:r>
              <a:rPr lang="en-US" altLang="zh-CN" sz="1800" dirty="0">
                <a:solidFill>
                  <a:srgbClr val="000000"/>
                </a:solidFill>
              </a:rPr>
              <a:t> AND   </a:t>
            </a:r>
            <a:r>
              <a:rPr lang="en-US" altLang="zh-CN" sz="1400" dirty="0"/>
              <a:t>/*</a:t>
            </a:r>
            <a:r>
              <a:rPr lang="zh-CN" altLang="zh-CN" sz="1400" dirty="0"/>
              <a:t>与子查询中的</a:t>
            </a:r>
            <a:r>
              <a:rPr lang="en-US" altLang="zh-CN" sz="1400" dirty="0"/>
              <a:t>SC</a:t>
            </a:r>
            <a:r>
              <a:rPr lang="zh-CN" altLang="zh-CN" sz="1400" dirty="0"/>
              <a:t>表区分开</a:t>
            </a:r>
            <a:r>
              <a:rPr lang="en-US" altLang="zh-CN" sz="1400" dirty="0"/>
              <a:t>*/</a:t>
            </a:r>
            <a:endParaRPr lang="zh-CN" altLang="zh-CN" sz="1400" dirty="0"/>
          </a:p>
          <a:p>
            <a:pPr indent="0" algn="just">
              <a:buNone/>
            </a:pPr>
            <a:r>
              <a:rPr lang="en-US" altLang="zh-CN" sz="1800" dirty="0"/>
              <a:t>                                </a:t>
            </a:r>
            <a:r>
              <a:rPr lang="en-US" altLang="zh-CN" sz="1800" dirty="0" err="1">
                <a:solidFill>
                  <a:srgbClr val="000000"/>
                </a:solidFill>
              </a:rPr>
              <a:t>SCY.Cno</a:t>
            </a:r>
            <a:r>
              <a:rPr lang="en-US" altLang="zh-CN" sz="1800" dirty="0">
                <a:solidFill>
                  <a:srgbClr val="000000"/>
                </a:solidFill>
              </a:rPr>
              <a:t>=</a:t>
            </a:r>
            <a:r>
              <a:rPr lang="en-US" altLang="zh-CN" sz="1800" dirty="0" err="1">
                <a:solidFill>
                  <a:srgbClr val="000000"/>
                </a:solidFill>
              </a:rPr>
              <a:t>SCX.Cno</a:t>
            </a:r>
            <a:r>
              <a:rPr lang="en-US" altLang="zh-CN" sz="1800" dirty="0">
                <a:solidFill>
                  <a:srgbClr val="000000"/>
                </a:solidFill>
              </a:rPr>
              <a:t>));</a:t>
            </a:r>
            <a:endParaRPr lang="en-US" altLang="zh-CN" sz="1800" dirty="0">
              <a:solidFill>
                <a:srgbClr val="000000"/>
              </a:solidFill>
            </a:endParaRPr>
          </a:p>
        </p:txBody>
      </p:sp>
      <p:sp>
        <p:nvSpPr>
          <p:cNvPr id="2" name="文本框 1"/>
          <p:cNvSpPr txBox="1"/>
          <p:nvPr/>
        </p:nvSpPr>
        <p:spPr>
          <a:xfrm>
            <a:off x="-24765" y="2708910"/>
            <a:ext cx="3363595" cy="1641475"/>
          </a:xfrm>
          <a:prstGeom prst="rect">
            <a:avLst/>
          </a:prstGeom>
          <a:noFill/>
        </p:spPr>
        <p:txBody>
          <a:bodyPr wrap="square" rtlCol="0" anchor="t">
            <a:spAutoFit/>
          </a:bodyPr>
          <a:p>
            <a:pPr indent="0" eaLnBrk="1" hangingPunct="1">
              <a:lnSpc>
                <a:spcPct val="140000"/>
              </a:lnSpc>
              <a:buNone/>
            </a:pPr>
            <a:r>
              <a:rPr lang="zh-CN" altLang="en-US" sz="2400" dirty="0">
                <a:sym typeface="+mn-ea"/>
              </a:rPr>
              <a:t>不存在这样的课程</a:t>
            </a:r>
            <a:r>
              <a:rPr lang="en-US" altLang="zh-CN" sz="2400" dirty="0">
                <a:sym typeface="+mn-ea"/>
              </a:rPr>
              <a:t>y</a:t>
            </a:r>
            <a:r>
              <a:rPr lang="zh-CN" altLang="en-US" sz="2400" dirty="0">
                <a:sym typeface="+mn-ea"/>
              </a:rPr>
              <a:t>，学生</a:t>
            </a:r>
            <a:r>
              <a:rPr lang="en-US" altLang="zh-CN" sz="2400" dirty="0">
                <a:sym typeface="+mn-ea"/>
              </a:rPr>
              <a:t>20180002</a:t>
            </a:r>
            <a:r>
              <a:rPr lang="zh-CN" altLang="en-US" sz="2400" dirty="0">
                <a:sym typeface="+mn-ea"/>
              </a:rPr>
              <a:t>选修了</a:t>
            </a:r>
            <a:r>
              <a:rPr lang="en-US" altLang="zh-CN" sz="2400" dirty="0">
                <a:sym typeface="+mn-ea"/>
              </a:rPr>
              <a:t>y</a:t>
            </a:r>
            <a:r>
              <a:rPr lang="zh-CN" altLang="en-US" sz="2400" dirty="0">
                <a:sym typeface="+mn-ea"/>
              </a:rPr>
              <a:t>，而学生</a:t>
            </a:r>
            <a:r>
              <a:rPr lang="en-US" altLang="zh-CN" sz="2400" dirty="0">
                <a:sym typeface="+mn-ea"/>
              </a:rPr>
              <a:t>x</a:t>
            </a:r>
            <a:r>
              <a:rPr lang="zh-CN" altLang="en-US" sz="2400" dirty="0">
                <a:sym typeface="+mn-ea"/>
              </a:rPr>
              <a:t>没有选修</a:t>
            </a:r>
            <a:endParaRPr lang="zh-CN" altLang="en-US" sz="2400" dirty="0">
              <a:sym typeface="+mn-ea"/>
            </a:endParaRPr>
          </a:p>
        </p:txBody>
      </p:sp>
      <p:sp>
        <p:nvSpPr>
          <p:cNvPr id="4" name="文本框 3"/>
          <p:cNvSpPr txBox="1"/>
          <p:nvPr/>
        </p:nvSpPr>
        <p:spPr>
          <a:xfrm>
            <a:off x="68580" y="4509135"/>
            <a:ext cx="12054840" cy="1753235"/>
          </a:xfrm>
          <a:prstGeom prst="rect">
            <a:avLst/>
          </a:prstGeom>
          <a:noFill/>
        </p:spPr>
        <p:txBody>
          <a:bodyPr wrap="square" rtlCol="0" anchor="t">
            <a:spAutoFit/>
          </a:bodyPr>
          <a:p>
            <a:r>
              <a:rPr>
                <a:sym typeface="+mn-ea"/>
              </a:rPr>
              <a:t>我们考察Student表的一个元组</a:t>
            </a:r>
            <a:r>
              <a:rPr lang="en-US">
                <a:sym typeface="+mn-ea"/>
              </a:rPr>
              <a:t>t</a:t>
            </a:r>
            <a:r>
              <a:rPr>
                <a:sym typeface="+mn-ea"/>
              </a:rPr>
              <a:t>s，不妨假设是学生张三，是否满足查询要求。</a:t>
            </a:r>
            <a:endParaRPr>
              <a:sym typeface="+mn-ea"/>
            </a:endParaRPr>
          </a:p>
          <a:p>
            <a:r>
              <a:rPr lang="en-US">
                <a:sym typeface="+mn-ea"/>
              </a:rPr>
              <a:t>t</a:t>
            </a:r>
            <a:r>
              <a:rPr>
                <a:sym typeface="+mn-ea"/>
              </a:rPr>
              <a:t>s</a:t>
            </a:r>
            <a:r>
              <a:rPr sz="1800">
                <a:sym typeface="+mn-ea"/>
              </a:rPr>
              <a:t>要满足要求，外层子查询结果必须为空。那么，</a:t>
            </a:r>
            <a:r>
              <a:rPr sz="1800">
                <a:solidFill>
                  <a:srgbClr val="C00000"/>
                </a:solidFill>
                <a:sym typeface="+mn-ea"/>
              </a:rPr>
              <a:t>任何一个scx，都不满足外层子查询条件</a:t>
            </a:r>
            <a:r>
              <a:rPr sz="1800">
                <a:sym typeface="+mn-ea"/>
              </a:rPr>
              <a:t>。也就是说，将scx代入内层子查询，都必须有结果。</a:t>
            </a:r>
            <a:endParaRPr sz="1800">
              <a:sym typeface="+mn-ea"/>
            </a:endParaRPr>
          </a:p>
          <a:p>
            <a:r>
              <a:rPr sz="1800">
                <a:sym typeface="+mn-ea"/>
              </a:rPr>
              <a:t>那就必然存在至少一个scy，使得 scy.sno = s.sno 且 scy.cno = scx.cno 。</a:t>
            </a:r>
            <a:endParaRPr sz="1800">
              <a:sym typeface="+mn-ea"/>
            </a:endParaRPr>
          </a:p>
          <a:p>
            <a:r>
              <a:rPr sz="1800">
                <a:sym typeface="+mn-ea"/>
              </a:rPr>
              <a:t>注意scy是</a:t>
            </a:r>
            <a:r>
              <a:rPr lang="en-US" sz="1800">
                <a:sym typeface="+mn-ea"/>
              </a:rPr>
              <a:t>t</a:t>
            </a:r>
            <a:r>
              <a:rPr sz="1800">
                <a:sym typeface="+mn-ea"/>
              </a:rPr>
              <a:t>s（张三）所选的课(</a:t>
            </a:r>
            <a:r>
              <a:rPr sz="1800">
                <a:sym typeface="+mn-ea"/>
              </a:rPr>
              <a:t>SCY.Sno=Student.Sno)</a:t>
            </a:r>
            <a:r>
              <a:rPr sz="1800">
                <a:sym typeface="+mn-ea"/>
              </a:rPr>
              <a:t>，scx是002选的课（</a:t>
            </a:r>
            <a:r>
              <a:rPr sz="1800">
                <a:sym typeface="+mn-ea"/>
              </a:rPr>
              <a:t>SCX.Sno='20180002' )</a:t>
            </a:r>
            <a:r>
              <a:rPr sz="1800">
                <a:sym typeface="+mn-ea"/>
              </a:rPr>
              <a:t>。</a:t>
            </a:r>
            <a:endParaRPr sz="1800">
              <a:sym typeface="+mn-ea"/>
            </a:endParaRPr>
          </a:p>
          <a:p>
            <a:r>
              <a:rPr sz="1800">
                <a:sym typeface="+mn-ea"/>
              </a:rPr>
              <a:t>也就是说，</a:t>
            </a:r>
            <a:r>
              <a:rPr sz="1800">
                <a:solidFill>
                  <a:srgbClr val="FF0000"/>
                </a:solidFill>
                <a:sym typeface="+mn-ea"/>
              </a:rPr>
              <a:t>任何一门002选的课（scx）</a:t>
            </a:r>
            <a:r>
              <a:rPr sz="1800">
                <a:sym typeface="+mn-ea"/>
              </a:rPr>
              <a:t>，张三都选了，那么张三就满足查询要求。</a:t>
            </a:r>
            <a:endParaRPr sz="180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107523" name="Rectangle 1027"/>
          <p:cNvSpPr>
            <a:spLocks noGrp="1" noChangeArrowheads="1"/>
          </p:cNvSpPr>
          <p:nvPr>
            <p:ph type="body" idx="4294967295"/>
          </p:nvPr>
        </p:nvSpPr>
        <p:spPr>
          <a:xfrm>
            <a:off x="2495550" y="1268414"/>
            <a:ext cx="5410200" cy="4321175"/>
          </a:xfrm>
        </p:spPr>
        <p:txBody>
          <a:bodyPr/>
          <a:lstStyle/>
          <a:p>
            <a:pPr marL="0" indent="0" algn="just" eaLnBrk="1" hangingPunct="1">
              <a:lnSpc>
                <a:spcPct val="150000"/>
              </a:lnSpc>
              <a:buNone/>
            </a:pPr>
            <a:r>
              <a:rPr lang="en-US" altLang="zh-CN" sz="2600"/>
              <a:t>3.3.1 </a:t>
            </a:r>
            <a:r>
              <a:rPr lang="zh-CN" altLang="en-US" sz="2600"/>
              <a:t>单表查询</a:t>
            </a:r>
            <a:endParaRPr lang="zh-CN" altLang="en-US" sz="2600"/>
          </a:p>
          <a:p>
            <a:pPr marL="0" indent="0" algn="just" eaLnBrk="1" hangingPunct="1">
              <a:lnSpc>
                <a:spcPct val="150000"/>
              </a:lnSpc>
              <a:buNone/>
            </a:pPr>
            <a:r>
              <a:rPr lang="en-US" altLang="zh-CN" sz="2600"/>
              <a:t>3.3.2 </a:t>
            </a:r>
            <a:r>
              <a:rPr lang="zh-CN" altLang="en-US" sz="2600"/>
              <a:t>连接查询</a:t>
            </a:r>
            <a:endParaRPr lang="zh-CN" altLang="en-US" sz="2600"/>
          </a:p>
          <a:p>
            <a:pPr marL="0" indent="0" algn="just" eaLnBrk="1" hangingPunct="1">
              <a:lnSpc>
                <a:spcPct val="150000"/>
              </a:lnSpc>
              <a:buNone/>
            </a:pPr>
            <a:r>
              <a:rPr lang="en-US" altLang="zh-CN" sz="2600"/>
              <a:t>3.3.3 </a:t>
            </a:r>
            <a:r>
              <a:rPr lang="zh-CN" altLang="en-US" sz="2600"/>
              <a:t>嵌套查询</a:t>
            </a:r>
            <a:endParaRPr lang="zh-CN" altLang="en-US" sz="2600"/>
          </a:p>
          <a:p>
            <a:pPr marL="0" indent="0" algn="just" eaLnBrk="1" hangingPunct="1">
              <a:lnSpc>
                <a:spcPct val="150000"/>
              </a:lnSpc>
              <a:buNone/>
            </a:pPr>
            <a:r>
              <a:rPr lang="en-US" altLang="zh-CN" sz="2600">
                <a:solidFill>
                  <a:srgbClr val="00B050"/>
                </a:solidFill>
              </a:rPr>
              <a:t>3.3.4 </a:t>
            </a:r>
            <a:r>
              <a:rPr lang="zh-CN" altLang="en-US" sz="2600">
                <a:solidFill>
                  <a:srgbClr val="00B050"/>
                </a:solidFill>
              </a:rPr>
              <a:t>集合查询</a:t>
            </a:r>
            <a:endParaRPr lang="en-US" altLang="zh-CN" sz="2600">
              <a:solidFill>
                <a:srgbClr val="00B050"/>
              </a:solidFill>
            </a:endParaRPr>
          </a:p>
          <a:p>
            <a:pPr marL="0" indent="0" algn="just" eaLnBrk="1" hangingPunct="1">
              <a:lnSpc>
                <a:spcPct val="150000"/>
              </a:lnSpc>
              <a:buNone/>
            </a:pPr>
            <a:r>
              <a:rPr lang="en-US" altLang="zh-CN" sz="2600"/>
              <a:t>3.3.5</a:t>
            </a:r>
            <a:r>
              <a:rPr lang="zh-CN" altLang="en-US" sz="2600"/>
              <a:t>基于派生表的查询</a:t>
            </a:r>
            <a:endParaRPr lang="zh-CN" altLang="en-US" sz="260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idx="4294967295"/>
          </p:nvPr>
        </p:nvSpPr>
        <p:spPr/>
        <p:txBody>
          <a:bodyPr/>
          <a:lstStyle/>
          <a:p>
            <a:pPr eaLnBrk="1" hangingPunct="1"/>
            <a:r>
              <a:rPr lang="en-US" altLang="zh-CN" sz="3600"/>
              <a:t>3.3.4 </a:t>
            </a:r>
            <a:r>
              <a:rPr lang="zh-CN" altLang="en-US" sz="3600"/>
              <a:t>集合查询</a:t>
            </a:r>
            <a:endParaRPr lang="zh-CN" altLang="en-US" sz="3600"/>
          </a:p>
        </p:txBody>
      </p:sp>
      <p:sp>
        <p:nvSpPr>
          <p:cNvPr id="108547" name="Rectangle 3"/>
          <p:cNvSpPr>
            <a:spLocks noGrp="1" noChangeArrowheads="1"/>
          </p:cNvSpPr>
          <p:nvPr>
            <p:ph type="body" idx="4294967295"/>
          </p:nvPr>
        </p:nvSpPr>
        <p:spPr/>
        <p:txBody>
          <a:bodyPr/>
          <a:lstStyle/>
          <a:p>
            <a:pPr algn="just" eaLnBrk="1" hangingPunct="1">
              <a:lnSpc>
                <a:spcPct val="120000"/>
              </a:lnSpc>
            </a:pPr>
            <a:r>
              <a:rPr lang="zh-CN" altLang="en-US" dirty="0"/>
              <a:t>集合操作的种类</a:t>
            </a:r>
            <a:endParaRPr lang="zh-CN" altLang="en-US" dirty="0"/>
          </a:p>
          <a:p>
            <a:pPr lvl="1" algn="just">
              <a:lnSpc>
                <a:spcPct val="120000"/>
              </a:lnSpc>
            </a:pPr>
            <a:r>
              <a:rPr lang="zh-CN" altLang="en-US" dirty="0"/>
              <a:t>并操作</a:t>
            </a:r>
            <a:r>
              <a:rPr lang="en-US" altLang="zh-CN" dirty="0"/>
              <a:t>UNION</a:t>
            </a:r>
            <a:endParaRPr lang="en-US" altLang="zh-CN" dirty="0"/>
          </a:p>
          <a:p>
            <a:pPr lvl="1" algn="just">
              <a:lnSpc>
                <a:spcPct val="120000"/>
              </a:lnSpc>
            </a:pPr>
            <a:r>
              <a:rPr lang="zh-CN" altLang="en-US" dirty="0"/>
              <a:t>交操作</a:t>
            </a:r>
            <a:r>
              <a:rPr lang="en-US" altLang="zh-CN" dirty="0"/>
              <a:t>INTERSECT</a:t>
            </a:r>
            <a:endParaRPr lang="en-US" altLang="zh-CN" dirty="0"/>
          </a:p>
          <a:p>
            <a:pPr lvl="1" algn="just">
              <a:lnSpc>
                <a:spcPct val="120000"/>
              </a:lnSpc>
            </a:pPr>
            <a:r>
              <a:rPr lang="zh-CN" altLang="en-US" dirty="0"/>
              <a:t>差操作</a:t>
            </a:r>
            <a:r>
              <a:rPr lang="en-US" altLang="zh-CN" dirty="0"/>
              <a:t>EXCEPT</a:t>
            </a:r>
            <a:endParaRPr lang="en-US" altLang="zh-CN" dirty="0"/>
          </a:p>
          <a:p>
            <a:pPr algn="just" eaLnBrk="1" hangingPunct="1">
              <a:lnSpc>
                <a:spcPct val="120000"/>
              </a:lnSpc>
            </a:pPr>
            <a:r>
              <a:rPr lang="zh-CN" altLang="en-US" dirty="0"/>
              <a:t>参加集合</a:t>
            </a:r>
            <a:r>
              <a:rPr lang="zh-CN" altLang="en-US" dirty="0" smtClean="0"/>
              <a:t>操作</a:t>
            </a:r>
            <a:endParaRPr lang="en-US" altLang="zh-CN" dirty="0" smtClean="0"/>
          </a:p>
          <a:p>
            <a:pPr lvl="1" algn="just" eaLnBrk="1" hangingPunct="1">
              <a:lnSpc>
                <a:spcPct val="120000"/>
              </a:lnSpc>
            </a:pPr>
            <a:r>
              <a:rPr lang="zh-CN" altLang="en-US" dirty="0" smtClean="0"/>
              <a:t>各</a:t>
            </a:r>
            <a:r>
              <a:rPr lang="zh-CN" altLang="en-US" dirty="0"/>
              <a:t>查询结果的列数必须相同</a:t>
            </a:r>
            <a:r>
              <a:rPr lang="zh-CN" altLang="en-US" dirty="0" smtClean="0"/>
              <a:t>;</a:t>
            </a:r>
            <a:endParaRPr lang="en-US" altLang="zh-CN" dirty="0" smtClean="0"/>
          </a:p>
          <a:p>
            <a:pPr lvl="1" algn="just" eaLnBrk="1" hangingPunct="1">
              <a:lnSpc>
                <a:spcPct val="120000"/>
              </a:lnSpc>
            </a:pPr>
            <a:r>
              <a:rPr lang="zh-CN" altLang="en-US" dirty="0" smtClean="0"/>
              <a:t>对应</a:t>
            </a:r>
            <a:r>
              <a:rPr lang="zh-CN" altLang="en-US" dirty="0"/>
              <a:t>项的数据类型也必须相同 </a:t>
            </a:r>
            <a:endParaRPr lang="zh-CN" alt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09571" name="Rectangle 3"/>
          <p:cNvSpPr>
            <a:spLocks noGrp="1" noChangeArrowheads="1"/>
          </p:cNvSpPr>
          <p:nvPr>
            <p:ph type="body" idx="4294967295"/>
          </p:nvPr>
        </p:nvSpPr>
        <p:spPr>
          <a:xfrm>
            <a:off x="1774826" y="1098551"/>
            <a:ext cx="8785225" cy="4994275"/>
          </a:xfrm>
        </p:spPr>
        <p:txBody>
          <a:bodyPr/>
          <a:lstStyle/>
          <a:p>
            <a:pPr eaLnBrk="1" hangingPunct="1">
              <a:lnSpc>
                <a:spcPct val="120000"/>
              </a:lnSpc>
              <a:spcBef>
                <a:spcPct val="0"/>
              </a:spcBef>
              <a:buFont typeface="Wingdings" panose="05000000000000000000"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3.66</a:t>
            </a:r>
            <a:r>
              <a:rPr lang="en-US" altLang="zh-CN" sz="2400"/>
              <a:t>]</a:t>
            </a:r>
            <a:r>
              <a:rPr lang="zh-CN" altLang="en-US" sz="2400"/>
              <a:t>查询计算机科学与技术专业的学生及年龄不大于</a:t>
            </a:r>
            <a:r>
              <a:rPr lang="en-US" altLang="zh-CN" sz="2400"/>
              <a:t>19</a:t>
            </a:r>
            <a:r>
              <a:rPr lang="zh-CN" altLang="en-US" sz="2400"/>
              <a:t>岁（包括等于</a:t>
            </a:r>
            <a:r>
              <a:rPr lang="en-US" altLang="zh-CN" sz="2400"/>
              <a:t>19</a:t>
            </a:r>
            <a:r>
              <a:rPr lang="zh-CN" altLang="en-US" sz="2400"/>
              <a:t>岁）的学生</a:t>
            </a:r>
            <a:endParaRPr lang="zh-CN" altLang="en-US" sz="2400"/>
          </a:p>
          <a:p>
            <a:pPr eaLnBrk="1" hangingPunct="1">
              <a:lnSpc>
                <a:spcPct val="120000"/>
              </a:lnSpc>
              <a:spcBef>
                <a:spcPct val="0"/>
              </a:spcBef>
              <a:buFont typeface="Wingdings" panose="05000000000000000000" pitchFamily="2" charset="2"/>
              <a:buNone/>
            </a:pPr>
            <a:r>
              <a:rPr lang="en-US" altLang="zh-CN" sz="2200"/>
              <a:t>SELECT * FROM Student WHERE Smajor='</a:t>
            </a:r>
            <a:r>
              <a:rPr lang="zh-CN" altLang="en-US" sz="2200"/>
              <a:t>计算机科学与技术</a:t>
            </a:r>
            <a:r>
              <a:rPr lang="en-US" altLang="zh-CN" sz="2200"/>
              <a:t>' </a:t>
            </a:r>
            <a:endParaRPr lang="en-US" altLang="zh-CN" sz="2200"/>
          </a:p>
          <a:p>
            <a:pPr eaLnBrk="1" hangingPunct="1">
              <a:lnSpc>
                <a:spcPct val="120000"/>
              </a:lnSpc>
              <a:spcBef>
                <a:spcPct val="0"/>
              </a:spcBef>
              <a:buFont typeface="Wingdings" panose="05000000000000000000" pitchFamily="2" charset="2"/>
              <a:buNone/>
            </a:pPr>
            <a:r>
              <a:rPr lang="en-US" altLang="zh-CN" sz="2200"/>
              <a:t>UNION </a:t>
            </a:r>
            <a:endParaRPr lang="en-US" altLang="zh-CN" sz="2200"/>
          </a:p>
          <a:p>
            <a:pPr eaLnBrk="1" hangingPunct="1">
              <a:lnSpc>
                <a:spcPct val="120000"/>
              </a:lnSpc>
              <a:spcBef>
                <a:spcPct val="0"/>
              </a:spcBef>
              <a:buFont typeface="Wingdings" panose="05000000000000000000" pitchFamily="2" charset="2"/>
              <a:buNone/>
            </a:pPr>
            <a:r>
              <a:rPr lang="en-US" altLang="zh-CN" sz="2200"/>
              <a:t>SELECT * FROM Student </a:t>
            </a:r>
            <a:endParaRPr lang="en-US" altLang="zh-CN" sz="2200"/>
          </a:p>
          <a:p>
            <a:pPr eaLnBrk="1" hangingPunct="1">
              <a:lnSpc>
                <a:spcPct val="120000"/>
              </a:lnSpc>
              <a:spcBef>
                <a:spcPct val="0"/>
              </a:spcBef>
              <a:buFont typeface="Wingdings" panose="05000000000000000000" pitchFamily="2" charset="2"/>
              <a:buNone/>
            </a:pPr>
            <a:r>
              <a:rPr lang="en-US" altLang="zh-CN" sz="2200"/>
              <a:t>WHERE (extract(year from current_date) - extract(year from Sbirthdate)) &lt;=19;</a:t>
            </a:r>
            <a:endParaRPr lang="en-US" altLang="zh-CN" sz="2200"/>
          </a:p>
          <a:p>
            <a:pPr eaLnBrk="1" hangingPunct="1">
              <a:lnSpc>
                <a:spcPct val="120000"/>
              </a:lnSpc>
              <a:spcBef>
                <a:spcPct val="0"/>
              </a:spcBef>
              <a:buClr>
                <a:schemeClr val="accent1"/>
              </a:buClr>
              <a:buSzPct val="75000"/>
              <a:buFont typeface="Wingdings" panose="05000000000000000000" pitchFamily="2" charset="2"/>
              <a:buChar char="n"/>
            </a:pPr>
            <a:endParaRPr lang="en-US" altLang="zh-CN" sz="2200"/>
          </a:p>
          <a:p>
            <a:pPr eaLnBrk="1" hangingPunct="1">
              <a:lnSpc>
                <a:spcPct val="150000"/>
              </a:lnSpc>
              <a:spcBef>
                <a:spcPct val="0"/>
              </a:spcBef>
              <a:buFont typeface="Wingdings" panose="05000000000000000000" pitchFamily="2" charset="2"/>
              <a:buChar char="n"/>
            </a:pPr>
            <a:r>
              <a:rPr lang="en-US" altLang="zh-CN" sz="2200"/>
              <a:t>UNION</a:t>
            </a:r>
            <a:r>
              <a:rPr lang="zh-CN" altLang="en-US" sz="2200"/>
              <a:t>：将多个查询结果合并起来时，系统自动去掉重复元组</a:t>
            </a:r>
            <a:endParaRPr lang="zh-CN" altLang="en-US" sz="2200"/>
          </a:p>
          <a:p>
            <a:pPr eaLnBrk="1" hangingPunct="1">
              <a:lnSpc>
                <a:spcPct val="150000"/>
              </a:lnSpc>
              <a:spcBef>
                <a:spcPct val="0"/>
              </a:spcBef>
              <a:buFont typeface="Wingdings" panose="05000000000000000000" pitchFamily="2" charset="2"/>
              <a:buChar char="n"/>
            </a:pPr>
            <a:r>
              <a:rPr lang="en-US" altLang="zh-CN" sz="2200"/>
              <a:t>UNION ALL</a:t>
            </a:r>
            <a:r>
              <a:rPr lang="zh-CN" altLang="en-US" sz="2200"/>
              <a:t>：将多个查询结果合并起来时，保留重复元组 </a:t>
            </a:r>
            <a:endParaRPr lang="zh-CN" altLang="en-US" sz="220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0595" name="Rectangle 3"/>
          <p:cNvSpPr>
            <a:spLocks noGrp="1" noChangeArrowheads="1"/>
          </p:cNvSpPr>
          <p:nvPr>
            <p:ph type="body" idx="4294967295"/>
          </p:nvPr>
        </p:nvSpPr>
        <p:spPr>
          <a:xfrm>
            <a:off x="1919288" y="1196976"/>
            <a:ext cx="8291512" cy="4968875"/>
          </a:xfrm>
        </p:spPr>
        <p:txBody>
          <a:bodyPr/>
          <a:lstStyle/>
          <a:p>
            <a:pPr eaLnBrk="1" hangingPunct="1">
              <a:lnSpc>
                <a:spcPct val="90000"/>
              </a:lnSpc>
              <a:buFont typeface="Wingdings" panose="05000000000000000000"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3.67</a:t>
            </a:r>
            <a:r>
              <a:rPr lang="en-US" altLang="zh-CN" sz="2400"/>
              <a:t>]</a:t>
            </a:r>
            <a:r>
              <a:rPr lang="zh-CN" altLang="en-US" sz="2400"/>
              <a:t>查询</a:t>
            </a:r>
            <a:r>
              <a:rPr lang="en-US" altLang="zh-CN" sz="2400"/>
              <a:t>2020</a:t>
            </a:r>
            <a:r>
              <a:rPr lang="zh-CN" altLang="en-US" sz="2400"/>
              <a:t>年第</a:t>
            </a:r>
            <a:r>
              <a:rPr lang="en-US" altLang="zh-CN" sz="2400"/>
              <a:t>2</a:t>
            </a:r>
            <a:r>
              <a:rPr lang="zh-CN" altLang="en-US" sz="2400"/>
              <a:t>学期选修了课程</a:t>
            </a:r>
            <a:r>
              <a:rPr lang="en-US" altLang="zh-CN" sz="2400"/>
              <a:t>81001</a:t>
            </a:r>
            <a:r>
              <a:rPr lang="zh-CN" altLang="en-US" sz="2400"/>
              <a:t>或者选修了课程</a:t>
            </a:r>
            <a:r>
              <a:rPr lang="en-US" altLang="zh-CN" sz="2400"/>
              <a:t>81002</a:t>
            </a:r>
            <a:r>
              <a:rPr lang="zh-CN" altLang="en-US" sz="2400"/>
              <a:t>的学生。</a:t>
            </a:r>
            <a:endParaRPr lang="zh-CN" altLang="en-US" sz="2400"/>
          </a:p>
          <a:p>
            <a:pPr eaLnBrk="1" hangingPunct="1">
              <a:lnSpc>
                <a:spcPct val="120000"/>
              </a:lnSpc>
              <a:spcBef>
                <a:spcPct val="0"/>
              </a:spcBef>
              <a:buFont typeface="Wingdings" panose="05000000000000000000" pitchFamily="2" charset="2"/>
              <a:buNone/>
            </a:pPr>
            <a:endParaRPr lang="en-US" altLang="zh-CN" sz="2400"/>
          </a:p>
          <a:p>
            <a:pPr eaLnBrk="1" hangingPunct="1">
              <a:lnSpc>
                <a:spcPct val="120000"/>
              </a:lnSpc>
              <a:spcBef>
                <a:spcPct val="0"/>
              </a:spcBef>
              <a:buFont typeface="Wingdings" panose="05000000000000000000" pitchFamily="2" charset="2"/>
              <a:buNone/>
            </a:pPr>
            <a:r>
              <a:rPr lang="en-US" altLang="zh-CN" sz="2400"/>
              <a:t>SELECT Sno</a:t>
            </a:r>
            <a:endParaRPr lang="en-US" altLang="zh-CN" sz="2400"/>
          </a:p>
          <a:p>
            <a:pPr eaLnBrk="1" hangingPunct="1">
              <a:lnSpc>
                <a:spcPct val="120000"/>
              </a:lnSpc>
              <a:spcBef>
                <a:spcPct val="0"/>
              </a:spcBef>
              <a:buFont typeface="Wingdings" panose="05000000000000000000" pitchFamily="2" charset="2"/>
              <a:buNone/>
            </a:pPr>
            <a:r>
              <a:rPr lang="en-US" altLang="zh-CN" sz="2400"/>
              <a:t>FROM SC</a:t>
            </a:r>
            <a:endParaRPr lang="en-US" altLang="zh-CN" sz="2400"/>
          </a:p>
          <a:p>
            <a:pPr eaLnBrk="1" hangingPunct="1">
              <a:lnSpc>
                <a:spcPct val="120000"/>
              </a:lnSpc>
              <a:spcBef>
                <a:spcPct val="0"/>
              </a:spcBef>
              <a:buFont typeface="Wingdings" panose="05000000000000000000" pitchFamily="2" charset="2"/>
              <a:buNone/>
            </a:pPr>
            <a:r>
              <a:rPr lang="en-US" altLang="zh-CN" sz="2400"/>
              <a:t>WHERE Semester='20202' AND Cno='81001'</a:t>
            </a:r>
            <a:endParaRPr lang="en-US" altLang="zh-CN" sz="2400"/>
          </a:p>
          <a:p>
            <a:pPr eaLnBrk="1" hangingPunct="1">
              <a:lnSpc>
                <a:spcPct val="120000"/>
              </a:lnSpc>
              <a:spcBef>
                <a:spcPct val="0"/>
              </a:spcBef>
              <a:buFont typeface="Wingdings" panose="05000000000000000000" pitchFamily="2" charset="2"/>
              <a:buNone/>
            </a:pPr>
            <a:r>
              <a:rPr lang="en-US" altLang="zh-CN" sz="2400">
                <a:solidFill>
                  <a:srgbClr val="FF00FF"/>
                </a:solidFill>
              </a:rPr>
              <a:t>UNION</a:t>
            </a:r>
            <a:endParaRPr lang="en-US" altLang="zh-CN" sz="2400">
              <a:solidFill>
                <a:srgbClr val="FF00FF"/>
              </a:solidFill>
            </a:endParaRPr>
          </a:p>
          <a:p>
            <a:pPr eaLnBrk="1" hangingPunct="1">
              <a:lnSpc>
                <a:spcPct val="120000"/>
              </a:lnSpc>
              <a:spcBef>
                <a:spcPct val="0"/>
              </a:spcBef>
              <a:buFont typeface="Wingdings" panose="05000000000000000000" pitchFamily="2" charset="2"/>
              <a:buNone/>
            </a:pPr>
            <a:r>
              <a:rPr lang="en-US" altLang="zh-CN" sz="2400"/>
              <a:t>SELECT Sno</a:t>
            </a:r>
            <a:endParaRPr lang="en-US" altLang="zh-CN" sz="2400"/>
          </a:p>
          <a:p>
            <a:pPr eaLnBrk="1" hangingPunct="1">
              <a:lnSpc>
                <a:spcPct val="120000"/>
              </a:lnSpc>
              <a:spcBef>
                <a:spcPct val="0"/>
              </a:spcBef>
              <a:buFont typeface="Wingdings" panose="05000000000000000000" pitchFamily="2" charset="2"/>
              <a:buNone/>
            </a:pPr>
            <a:r>
              <a:rPr lang="en-US" altLang="zh-CN" sz="2400"/>
              <a:t>FROM SC</a:t>
            </a:r>
            <a:endParaRPr lang="en-US" altLang="zh-CN" sz="2400"/>
          </a:p>
          <a:p>
            <a:pPr eaLnBrk="1" hangingPunct="1">
              <a:lnSpc>
                <a:spcPct val="120000"/>
              </a:lnSpc>
              <a:spcBef>
                <a:spcPct val="0"/>
              </a:spcBef>
              <a:buFont typeface="Wingdings" panose="05000000000000000000" pitchFamily="2" charset="2"/>
              <a:buNone/>
            </a:pPr>
            <a:r>
              <a:rPr lang="en-US" altLang="zh-CN" sz="2400"/>
              <a:t>WHERE Semester='20202' AND Cno='81002';</a:t>
            </a:r>
            <a:endParaRPr lang="en-US" altLang="zh-CN" sz="2400"/>
          </a:p>
          <a:p>
            <a:pPr eaLnBrk="1" hangingPunct="1">
              <a:lnSpc>
                <a:spcPct val="90000"/>
              </a:lnSpc>
              <a:buFont typeface="Wingdings" panose="05000000000000000000" pitchFamily="2" charset="2"/>
              <a:buNone/>
            </a:pPr>
            <a:endParaRPr lang="en-US" altLang="zh-CN" sz="240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1619" name="Rectangle 3"/>
          <p:cNvSpPr>
            <a:spLocks noGrp="1" noChangeArrowheads="1"/>
          </p:cNvSpPr>
          <p:nvPr>
            <p:ph type="body" idx="4294967295"/>
          </p:nvPr>
        </p:nvSpPr>
        <p:spPr>
          <a:xfrm>
            <a:off x="1981200" y="1098551"/>
            <a:ext cx="8229600" cy="4854575"/>
          </a:xfrm>
        </p:spPr>
        <p:txBody>
          <a:bodyPr/>
          <a:lstStyle/>
          <a:p>
            <a:pPr eaLnBrk="1" hangingPunct="1">
              <a:lnSpc>
                <a:spcPct val="90000"/>
              </a:lnSpc>
              <a:buFont typeface="宋体" panose="02010600030101010101" pitchFamily="2" charset="-12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3.68</a:t>
            </a:r>
            <a:r>
              <a:rPr lang="en-US" altLang="zh-CN" sz="2400"/>
              <a:t>] </a:t>
            </a:r>
            <a:r>
              <a:rPr lang="zh-CN" altLang="en-US" sz="2400"/>
              <a:t>查询计算机科学与技术专业的学生与年龄不大于</a:t>
            </a:r>
            <a:r>
              <a:rPr lang="en-US" altLang="zh-CN" sz="2400"/>
              <a:t>19</a:t>
            </a:r>
            <a:r>
              <a:rPr lang="zh-CN" altLang="en-US" sz="2400"/>
              <a:t>岁的学生的交集</a:t>
            </a:r>
            <a:endParaRPr lang="en-US" altLang="zh-CN" sz="2400"/>
          </a:p>
          <a:p>
            <a:pPr eaLnBrk="1" hangingPunct="1">
              <a:lnSpc>
                <a:spcPct val="90000"/>
              </a:lnSpc>
              <a:buFont typeface="宋体" panose="02010600030101010101" pitchFamily="2" charset="-122"/>
              <a:buNone/>
            </a:pPr>
            <a:endParaRPr lang="zh-CN" altLang="en-US" sz="2400"/>
          </a:p>
          <a:p>
            <a:pPr eaLnBrk="1" hangingPunct="1">
              <a:lnSpc>
                <a:spcPct val="120000"/>
              </a:lnSpc>
              <a:spcBef>
                <a:spcPct val="0"/>
              </a:spcBef>
              <a:buFont typeface="宋体" panose="02010600030101010101" pitchFamily="2" charset="-122"/>
              <a:buNone/>
            </a:pPr>
            <a:r>
              <a:rPr lang="en-US" altLang="zh-CN" sz="2400"/>
              <a:t>SELECT *</a:t>
            </a:r>
            <a:endParaRPr lang="en-US" altLang="zh-CN" sz="2400"/>
          </a:p>
          <a:p>
            <a:pPr eaLnBrk="1" hangingPunct="1">
              <a:lnSpc>
                <a:spcPct val="120000"/>
              </a:lnSpc>
              <a:spcBef>
                <a:spcPct val="0"/>
              </a:spcBef>
              <a:buFont typeface="宋体" panose="02010600030101010101" pitchFamily="2" charset="-122"/>
              <a:buNone/>
            </a:pPr>
            <a:r>
              <a:rPr lang="en-US" altLang="zh-CN" sz="2400"/>
              <a:t>FROM Student</a:t>
            </a:r>
            <a:endParaRPr lang="en-US" altLang="zh-CN" sz="2400"/>
          </a:p>
          <a:p>
            <a:pPr eaLnBrk="1" hangingPunct="1">
              <a:lnSpc>
                <a:spcPct val="120000"/>
              </a:lnSpc>
              <a:spcBef>
                <a:spcPct val="0"/>
              </a:spcBef>
              <a:buFont typeface="宋体" panose="02010600030101010101" pitchFamily="2" charset="-122"/>
              <a:buNone/>
            </a:pPr>
            <a:r>
              <a:rPr lang="en-US" altLang="zh-CN" sz="2400"/>
              <a:t>WHERE Smajor='</a:t>
            </a:r>
            <a:r>
              <a:rPr lang="zh-CN" altLang="en-US" sz="2400"/>
              <a:t>计算机科学与技术</a:t>
            </a:r>
            <a:r>
              <a:rPr lang="en-US" altLang="zh-CN" sz="2400"/>
              <a:t>'</a:t>
            </a:r>
            <a:endParaRPr lang="en-US" altLang="zh-CN" sz="2400"/>
          </a:p>
          <a:p>
            <a:pPr eaLnBrk="1" hangingPunct="1">
              <a:lnSpc>
                <a:spcPct val="120000"/>
              </a:lnSpc>
              <a:spcBef>
                <a:spcPct val="0"/>
              </a:spcBef>
              <a:buFont typeface="宋体" panose="02010600030101010101" pitchFamily="2" charset="-122"/>
              <a:buNone/>
            </a:pPr>
            <a:r>
              <a:rPr lang="en-US" altLang="zh-CN" sz="2400">
                <a:solidFill>
                  <a:srgbClr val="FF00FF"/>
                </a:solidFill>
              </a:rPr>
              <a:t>INTERSECT</a:t>
            </a:r>
            <a:endParaRPr lang="en-US" altLang="zh-CN" sz="2400">
              <a:solidFill>
                <a:srgbClr val="FF00FF"/>
              </a:solidFill>
            </a:endParaRPr>
          </a:p>
          <a:p>
            <a:pPr eaLnBrk="1" hangingPunct="1">
              <a:lnSpc>
                <a:spcPct val="120000"/>
              </a:lnSpc>
              <a:spcBef>
                <a:spcPct val="0"/>
              </a:spcBef>
              <a:buFont typeface="宋体" panose="02010600030101010101" pitchFamily="2" charset="-122"/>
              <a:buNone/>
            </a:pPr>
            <a:r>
              <a:rPr lang="en-US" altLang="zh-CN" sz="2400"/>
              <a:t>SELECT *</a:t>
            </a:r>
            <a:endParaRPr lang="en-US" altLang="zh-CN" sz="2400"/>
          </a:p>
          <a:p>
            <a:pPr eaLnBrk="1" hangingPunct="1">
              <a:lnSpc>
                <a:spcPct val="120000"/>
              </a:lnSpc>
              <a:spcBef>
                <a:spcPct val="0"/>
              </a:spcBef>
              <a:buFont typeface="宋体" panose="02010600030101010101" pitchFamily="2" charset="-122"/>
              <a:buNone/>
            </a:pPr>
            <a:r>
              <a:rPr lang="en-US" altLang="zh-CN" sz="2400"/>
              <a:t>FROM Student</a:t>
            </a:r>
            <a:endParaRPr lang="en-US" altLang="zh-CN" sz="2400"/>
          </a:p>
          <a:p>
            <a:pPr eaLnBrk="1" hangingPunct="1">
              <a:lnSpc>
                <a:spcPct val="120000"/>
              </a:lnSpc>
              <a:spcBef>
                <a:spcPct val="0"/>
              </a:spcBef>
              <a:buFont typeface="宋体" panose="02010600030101010101" pitchFamily="2" charset="-122"/>
              <a:buNone/>
            </a:pPr>
            <a:r>
              <a:rPr lang="en-US" altLang="zh-CN" sz="2400"/>
              <a:t>WHERE(extract(year from current_date)-extract(year from Sbirthdate) ) &lt;=19;</a:t>
            </a:r>
            <a:endParaRPr lang="en-US" altLang="zh-CN" sz="240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2643" name="Rectangle 3"/>
          <p:cNvSpPr>
            <a:spLocks noGrp="1" noChangeArrowheads="1"/>
          </p:cNvSpPr>
          <p:nvPr>
            <p:ph type="body" idx="4294967295"/>
          </p:nvPr>
        </p:nvSpPr>
        <p:spPr>
          <a:xfrm>
            <a:off x="1847851" y="1098551"/>
            <a:ext cx="8569325" cy="4854575"/>
          </a:xfrm>
        </p:spPr>
        <p:txBody>
          <a:bodyPr/>
          <a:lstStyle/>
          <a:p>
            <a:pPr eaLnBrk="1" hangingPunct="1">
              <a:lnSpc>
                <a:spcPct val="150000"/>
              </a:lnSpc>
              <a:spcBef>
                <a:spcPct val="0"/>
              </a:spcBef>
              <a:buFont typeface="宋体" panose="02010600030101010101" pitchFamily="2" charset="-12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3.68</a:t>
            </a:r>
            <a:r>
              <a:rPr lang="en-US" altLang="zh-CN" sz="2400"/>
              <a:t>] </a:t>
            </a:r>
            <a:r>
              <a:rPr lang="zh-CN" altLang="en-US" sz="2400"/>
              <a:t>实际就是查询计算机科学系中年龄不大于</a:t>
            </a:r>
            <a:r>
              <a:rPr lang="en-US" altLang="zh-CN" sz="2400"/>
              <a:t>19</a:t>
            </a:r>
            <a:r>
              <a:rPr lang="zh-CN" altLang="en-US" sz="2400"/>
              <a:t>岁的学生</a:t>
            </a:r>
            <a:endParaRPr lang="zh-CN" altLang="en-US" sz="2400"/>
          </a:p>
          <a:p>
            <a:pPr eaLnBrk="1" hangingPunct="1">
              <a:lnSpc>
                <a:spcPct val="150000"/>
              </a:lnSpc>
              <a:spcBef>
                <a:spcPct val="0"/>
              </a:spcBef>
              <a:buFont typeface="宋体" panose="02010600030101010101" pitchFamily="2" charset="-122"/>
              <a:buNone/>
            </a:pPr>
            <a:r>
              <a:rPr lang="en-US" altLang="zh-CN" sz="2400"/>
              <a:t>SELECT *</a:t>
            </a:r>
            <a:endParaRPr lang="en-US" altLang="zh-CN" sz="2400"/>
          </a:p>
          <a:p>
            <a:pPr eaLnBrk="1" hangingPunct="1">
              <a:lnSpc>
                <a:spcPct val="150000"/>
              </a:lnSpc>
              <a:spcBef>
                <a:spcPct val="0"/>
              </a:spcBef>
              <a:buFont typeface="宋体" panose="02010600030101010101" pitchFamily="2" charset="-122"/>
              <a:buNone/>
            </a:pPr>
            <a:r>
              <a:rPr lang="en-US" altLang="zh-CN" sz="2400"/>
              <a:t>FROM Student</a:t>
            </a:r>
            <a:endParaRPr lang="en-US" altLang="zh-CN" sz="2400"/>
          </a:p>
          <a:p>
            <a:pPr eaLnBrk="1" hangingPunct="1">
              <a:lnSpc>
                <a:spcPct val="150000"/>
              </a:lnSpc>
              <a:spcBef>
                <a:spcPct val="0"/>
              </a:spcBef>
              <a:buFont typeface="宋体" panose="02010600030101010101" pitchFamily="2" charset="-122"/>
              <a:buNone/>
            </a:pPr>
            <a:r>
              <a:rPr lang="en-US" altLang="zh-CN" sz="2400"/>
              <a:t>WHERE Smajor='</a:t>
            </a:r>
            <a:r>
              <a:rPr lang="zh-CN" altLang="en-US" sz="2400"/>
              <a:t>计算机科学与技术</a:t>
            </a:r>
            <a:r>
              <a:rPr lang="en-US" altLang="zh-CN" sz="2400"/>
              <a:t>' AND</a:t>
            </a:r>
            <a:endParaRPr lang="en-US" altLang="zh-CN" sz="2400"/>
          </a:p>
          <a:p>
            <a:pPr eaLnBrk="1" hangingPunct="1">
              <a:lnSpc>
                <a:spcPct val="150000"/>
              </a:lnSpc>
              <a:spcBef>
                <a:spcPct val="0"/>
              </a:spcBef>
              <a:buFont typeface="宋体" panose="02010600030101010101" pitchFamily="2" charset="-122"/>
              <a:buNone/>
            </a:pPr>
            <a:r>
              <a:rPr lang="en-US" altLang="zh-CN" sz="2400"/>
              <a:t>             (extract(year from current_date)-extract(year      </a:t>
            </a:r>
            <a:endParaRPr lang="en-US" altLang="zh-CN" sz="2400"/>
          </a:p>
          <a:p>
            <a:pPr eaLnBrk="1" hangingPunct="1">
              <a:lnSpc>
                <a:spcPct val="150000"/>
              </a:lnSpc>
              <a:spcBef>
                <a:spcPct val="0"/>
              </a:spcBef>
              <a:buFont typeface="宋体" panose="02010600030101010101" pitchFamily="2" charset="-122"/>
              <a:buNone/>
            </a:pPr>
            <a:r>
              <a:rPr lang="en-US" altLang="zh-CN" sz="2400"/>
              <a:t>              from Sbirthdate) )&lt;=19;</a:t>
            </a:r>
            <a:endParaRPr lang="en-US" altLang="zh-CN" sz="240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77827" name="Rectangle 3"/>
          <p:cNvSpPr>
            <a:spLocks noGrp="1" noChangeArrowheads="1"/>
          </p:cNvSpPr>
          <p:nvPr>
            <p:ph type="body" idx="4294967295"/>
          </p:nvPr>
        </p:nvSpPr>
        <p:spPr>
          <a:xfrm>
            <a:off x="1981200" y="1098551"/>
            <a:ext cx="8142288" cy="4429125"/>
          </a:xfrm>
        </p:spPr>
        <p:txBody>
          <a:bodyPr/>
          <a:lstStyle/>
          <a:p>
            <a:pPr marL="0" indent="0" eaLnBrk="1" hangingPunct="1">
              <a:lnSpc>
                <a:spcPct val="120000"/>
              </a:lnSpc>
              <a:spcBef>
                <a:spcPct val="0"/>
              </a:spcBef>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3.69</a:t>
            </a:r>
            <a:r>
              <a:rPr lang="en-US" altLang="zh-CN" sz="2400"/>
              <a:t>]</a:t>
            </a:r>
            <a:r>
              <a:rPr lang="zh-CN" altLang="en-US" sz="2400"/>
              <a:t>查询既选修了课程</a:t>
            </a:r>
            <a:r>
              <a:rPr lang="en-US" altLang="zh-CN" sz="2400"/>
              <a:t>81001</a:t>
            </a:r>
            <a:r>
              <a:rPr lang="zh-CN" altLang="en-US" sz="2400"/>
              <a:t>又选修了课程</a:t>
            </a:r>
            <a:r>
              <a:rPr lang="en-US" altLang="zh-CN" sz="2400"/>
              <a:t>81002</a:t>
            </a:r>
            <a:r>
              <a:rPr lang="zh-CN" altLang="en-US" sz="2400"/>
              <a:t>的学生。就是查询选修课程</a:t>
            </a:r>
            <a:r>
              <a:rPr lang="en-US" altLang="zh-CN" sz="2400"/>
              <a:t>810011</a:t>
            </a:r>
            <a:r>
              <a:rPr lang="zh-CN" altLang="en-US" sz="2400"/>
              <a:t>的学生集合与选修课程</a:t>
            </a:r>
            <a:r>
              <a:rPr lang="en-US" altLang="zh-CN" sz="2400"/>
              <a:t>81002</a:t>
            </a:r>
            <a:r>
              <a:rPr lang="zh-CN" altLang="en-US" sz="2400"/>
              <a:t>的学生集合的交集。</a:t>
            </a:r>
            <a:endParaRPr lang="en-US" altLang="zh-CN" sz="2400"/>
          </a:p>
          <a:p>
            <a:pPr marL="0" indent="0" eaLnBrk="1" hangingPunct="1">
              <a:lnSpc>
                <a:spcPct val="120000"/>
              </a:lnSpc>
              <a:spcBef>
                <a:spcPct val="0"/>
              </a:spcBef>
              <a:buNone/>
            </a:pPr>
            <a:endParaRPr lang="zh-CN" altLang="en-US" sz="2400"/>
          </a:p>
          <a:p>
            <a:pPr marL="0" indent="0" eaLnBrk="1" hangingPunct="1">
              <a:lnSpc>
                <a:spcPct val="120000"/>
              </a:lnSpc>
              <a:spcBef>
                <a:spcPct val="0"/>
              </a:spcBef>
              <a:buNone/>
            </a:pPr>
            <a:r>
              <a:rPr lang="en-US" altLang="zh-CN" sz="2400"/>
              <a:t>SELECT Sno</a:t>
            </a:r>
            <a:endParaRPr lang="en-US" altLang="zh-CN" sz="2400"/>
          </a:p>
          <a:p>
            <a:pPr marL="0" indent="0" eaLnBrk="1" hangingPunct="1">
              <a:lnSpc>
                <a:spcPct val="120000"/>
              </a:lnSpc>
              <a:spcBef>
                <a:spcPct val="0"/>
              </a:spcBef>
              <a:buNone/>
            </a:pPr>
            <a:r>
              <a:rPr lang="en-US" altLang="zh-CN" sz="2400"/>
              <a:t>FROM SC</a:t>
            </a:r>
            <a:endParaRPr lang="en-US" altLang="zh-CN" sz="2400"/>
          </a:p>
          <a:p>
            <a:pPr marL="0" indent="0" eaLnBrk="1" hangingPunct="1">
              <a:lnSpc>
                <a:spcPct val="120000"/>
              </a:lnSpc>
              <a:spcBef>
                <a:spcPct val="0"/>
              </a:spcBef>
              <a:buNone/>
            </a:pPr>
            <a:r>
              <a:rPr lang="en-US" altLang="zh-CN" sz="2400"/>
              <a:t>WHERE Cno='81001'</a:t>
            </a:r>
            <a:endParaRPr lang="en-US" altLang="zh-CN" sz="2400"/>
          </a:p>
          <a:p>
            <a:pPr marL="0" indent="0" eaLnBrk="1" hangingPunct="1">
              <a:lnSpc>
                <a:spcPct val="120000"/>
              </a:lnSpc>
              <a:spcBef>
                <a:spcPct val="0"/>
              </a:spcBef>
              <a:buNone/>
            </a:pPr>
            <a:r>
              <a:rPr lang="en-US" altLang="zh-CN" sz="2400">
                <a:solidFill>
                  <a:srgbClr val="FF00FF"/>
                </a:solidFill>
              </a:rPr>
              <a:t>INTERSECT</a:t>
            </a:r>
            <a:endParaRPr lang="en-US" altLang="zh-CN" sz="2400">
              <a:solidFill>
                <a:srgbClr val="FF00FF"/>
              </a:solidFill>
            </a:endParaRPr>
          </a:p>
          <a:p>
            <a:pPr marL="0" indent="0" eaLnBrk="1" hangingPunct="1">
              <a:lnSpc>
                <a:spcPct val="120000"/>
              </a:lnSpc>
              <a:spcBef>
                <a:spcPct val="0"/>
              </a:spcBef>
              <a:buNone/>
            </a:pPr>
            <a:r>
              <a:rPr lang="en-US" altLang="zh-CN" sz="2400"/>
              <a:t>SELECT Sno</a:t>
            </a:r>
            <a:endParaRPr lang="en-US" altLang="zh-CN" sz="2400"/>
          </a:p>
          <a:p>
            <a:pPr marL="0" indent="0" eaLnBrk="1" hangingPunct="1">
              <a:lnSpc>
                <a:spcPct val="120000"/>
              </a:lnSpc>
              <a:spcBef>
                <a:spcPct val="0"/>
              </a:spcBef>
              <a:buNone/>
            </a:pPr>
            <a:r>
              <a:rPr lang="en-US" altLang="zh-CN" sz="2400"/>
              <a:t>FROM SC</a:t>
            </a:r>
            <a:endParaRPr lang="en-US" altLang="zh-CN" sz="2400"/>
          </a:p>
          <a:p>
            <a:pPr marL="0" indent="0" eaLnBrk="1" hangingPunct="1">
              <a:lnSpc>
                <a:spcPct val="120000"/>
              </a:lnSpc>
              <a:spcBef>
                <a:spcPct val="0"/>
              </a:spcBef>
              <a:buNone/>
            </a:pPr>
            <a:r>
              <a:rPr lang="en-US" altLang="zh-CN" sz="2400"/>
              <a:t>WHERE Cno='81002';</a:t>
            </a:r>
            <a:endParaRPr lang="en-US" altLang="zh-CN" sz="240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4691" name="Rectangle 3"/>
          <p:cNvSpPr>
            <a:spLocks noGrp="1" noChangeArrowheads="1"/>
          </p:cNvSpPr>
          <p:nvPr>
            <p:ph type="body" idx="4294967295"/>
          </p:nvPr>
        </p:nvSpPr>
        <p:spPr>
          <a:xfrm>
            <a:off x="2351088" y="1412875"/>
            <a:ext cx="7772400" cy="4114800"/>
          </a:xfrm>
        </p:spPr>
        <p:txBody>
          <a:bodyPr/>
          <a:lstStyle/>
          <a:p>
            <a:pPr eaLnBrk="1" hangingPunct="1">
              <a:lnSpc>
                <a:spcPct val="120000"/>
              </a:lnSpc>
              <a:buFont typeface="Wingdings" panose="05000000000000000000" pitchFamily="2" charset="2"/>
              <a:buNone/>
            </a:pPr>
            <a:r>
              <a:rPr lang="zh-CN" altLang="en-US" sz="2400"/>
              <a:t>本例也可以表示为</a:t>
            </a:r>
            <a:endParaRPr lang="zh-CN" altLang="en-US" sz="2400"/>
          </a:p>
          <a:p>
            <a:pPr eaLnBrk="1" hangingPunct="1">
              <a:lnSpc>
                <a:spcPct val="120000"/>
              </a:lnSpc>
              <a:buFont typeface="Wingdings" panose="05000000000000000000" pitchFamily="2" charset="2"/>
              <a:buNone/>
            </a:pPr>
            <a:r>
              <a:rPr lang="en-US" altLang="zh-CN" sz="2400"/>
              <a:t>SELECT Sno</a:t>
            </a:r>
            <a:endParaRPr lang="en-US" altLang="zh-CN" sz="2400"/>
          </a:p>
          <a:p>
            <a:pPr eaLnBrk="1" hangingPunct="1">
              <a:lnSpc>
                <a:spcPct val="120000"/>
              </a:lnSpc>
              <a:buFont typeface="Wingdings" panose="05000000000000000000" pitchFamily="2" charset="2"/>
              <a:buNone/>
            </a:pPr>
            <a:r>
              <a:rPr lang="en-US" altLang="zh-CN" sz="2400"/>
              <a:t>FROM SC</a:t>
            </a:r>
            <a:endParaRPr lang="en-US" altLang="zh-CN" sz="2400"/>
          </a:p>
          <a:p>
            <a:pPr eaLnBrk="1" hangingPunct="1">
              <a:lnSpc>
                <a:spcPct val="120000"/>
              </a:lnSpc>
              <a:buFont typeface="Wingdings" panose="05000000000000000000" pitchFamily="2" charset="2"/>
              <a:buNone/>
            </a:pPr>
            <a:r>
              <a:rPr lang="en-US" altLang="zh-CN" sz="2400"/>
              <a:t>WHERE Cno='81001' AND Sno IN</a:t>
            </a:r>
            <a:endParaRPr lang="en-US" altLang="zh-CN" sz="2400"/>
          </a:p>
          <a:p>
            <a:pPr eaLnBrk="1" hangingPunct="1">
              <a:lnSpc>
                <a:spcPct val="120000"/>
              </a:lnSpc>
              <a:buFont typeface="Wingdings" panose="05000000000000000000" pitchFamily="2" charset="2"/>
              <a:buNone/>
            </a:pPr>
            <a:r>
              <a:rPr lang="en-US" altLang="zh-CN" sz="2400"/>
              <a:t>                    (SELECT Sno</a:t>
            </a:r>
            <a:endParaRPr lang="en-US" altLang="zh-CN" sz="2400"/>
          </a:p>
          <a:p>
            <a:pPr eaLnBrk="1" hangingPunct="1">
              <a:lnSpc>
                <a:spcPct val="120000"/>
              </a:lnSpc>
              <a:buFont typeface="Wingdings" panose="05000000000000000000" pitchFamily="2" charset="2"/>
              <a:buNone/>
            </a:pPr>
            <a:r>
              <a:rPr lang="en-US" altLang="zh-CN" sz="2400"/>
              <a:t>                     FROM SC</a:t>
            </a:r>
            <a:endParaRPr lang="en-US" altLang="zh-CN" sz="2400"/>
          </a:p>
          <a:p>
            <a:pPr eaLnBrk="1" hangingPunct="1">
              <a:lnSpc>
                <a:spcPct val="120000"/>
              </a:lnSpc>
              <a:buFont typeface="Wingdings" panose="05000000000000000000" pitchFamily="2" charset="2"/>
              <a:buNone/>
            </a:pPr>
            <a:r>
              <a:rPr lang="en-US" altLang="zh-CN" sz="2400"/>
              <a:t>                     WHERE Cno='81002');</a:t>
            </a:r>
            <a:endParaRPr lang="en-US" altLang="zh-CN" sz="240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5715" name="Rectangle 3"/>
          <p:cNvSpPr>
            <a:spLocks noGrp="1" noChangeArrowheads="1"/>
          </p:cNvSpPr>
          <p:nvPr>
            <p:ph type="body" idx="4294967295"/>
          </p:nvPr>
        </p:nvSpPr>
        <p:spPr>
          <a:xfrm>
            <a:off x="1847850" y="1098550"/>
            <a:ext cx="8712200" cy="4114800"/>
          </a:xfrm>
        </p:spPr>
        <p:txBody>
          <a:bodyPr/>
          <a:lstStyle/>
          <a:p>
            <a:pPr eaLnBrk="1" hangingPunct="1">
              <a:lnSpc>
                <a:spcPct val="120000"/>
              </a:lnSpc>
              <a:spcBef>
                <a:spcPct val="0"/>
              </a:spcBef>
              <a:buFont typeface="宋体" panose="02010600030101010101" pitchFamily="2" charset="-12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3.70</a:t>
            </a:r>
            <a:r>
              <a:rPr lang="en-US" altLang="zh-CN" sz="2400"/>
              <a:t>]</a:t>
            </a:r>
            <a:r>
              <a:rPr lang="zh-CN" altLang="en-US" sz="2400"/>
              <a:t>查询计算机科学与技术专业的学生与年龄不大于</a:t>
            </a:r>
            <a:r>
              <a:rPr lang="en-US" altLang="zh-CN" sz="2400"/>
              <a:t>19</a:t>
            </a:r>
            <a:r>
              <a:rPr lang="zh-CN" altLang="en-US" sz="2400"/>
              <a:t>岁的学生的差集</a:t>
            </a:r>
            <a:endParaRPr lang="zh-CN" altLang="en-US" sz="2400"/>
          </a:p>
          <a:p>
            <a:pPr eaLnBrk="1" hangingPunct="1">
              <a:lnSpc>
                <a:spcPct val="120000"/>
              </a:lnSpc>
              <a:spcBef>
                <a:spcPct val="0"/>
              </a:spcBef>
              <a:buFont typeface="宋体" panose="02010600030101010101" pitchFamily="2" charset="-122"/>
              <a:buNone/>
            </a:pPr>
            <a:r>
              <a:rPr lang="en-US" altLang="zh-CN" sz="2400"/>
              <a:t>SELECT *</a:t>
            </a:r>
            <a:endParaRPr lang="en-US" altLang="zh-CN" sz="2400"/>
          </a:p>
          <a:p>
            <a:pPr eaLnBrk="1" hangingPunct="1">
              <a:lnSpc>
                <a:spcPct val="120000"/>
              </a:lnSpc>
              <a:spcBef>
                <a:spcPct val="0"/>
              </a:spcBef>
              <a:buFont typeface="宋体" panose="02010600030101010101" pitchFamily="2" charset="-122"/>
              <a:buNone/>
            </a:pPr>
            <a:r>
              <a:rPr lang="en-US" altLang="zh-CN" sz="2400"/>
              <a:t>FROM Student</a:t>
            </a:r>
            <a:endParaRPr lang="en-US" altLang="zh-CN" sz="2400"/>
          </a:p>
          <a:p>
            <a:pPr eaLnBrk="1" hangingPunct="1">
              <a:lnSpc>
                <a:spcPct val="120000"/>
              </a:lnSpc>
              <a:spcBef>
                <a:spcPct val="0"/>
              </a:spcBef>
              <a:buFont typeface="宋体" panose="02010600030101010101" pitchFamily="2" charset="-122"/>
              <a:buNone/>
            </a:pPr>
            <a:r>
              <a:rPr lang="en-US" altLang="zh-CN" sz="2400"/>
              <a:t>WHERE Smajor='</a:t>
            </a:r>
            <a:r>
              <a:rPr lang="zh-CN" altLang="en-US" sz="2400"/>
              <a:t>计算机科学与技术</a:t>
            </a:r>
            <a:r>
              <a:rPr lang="en-US" altLang="zh-CN" sz="2400"/>
              <a:t>'</a:t>
            </a:r>
            <a:endParaRPr lang="en-US" altLang="zh-CN" sz="2400"/>
          </a:p>
          <a:p>
            <a:pPr eaLnBrk="1" hangingPunct="1">
              <a:lnSpc>
                <a:spcPct val="120000"/>
              </a:lnSpc>
              <a:spcBef>
                <a:spcPct val="0"/>
              </a:spcBef>
              <a:buFont typeface="宋体" panose="02010600030101010101" pitchFamily="2" charset="-122"/>
              <a:buNone/>
            </a:pPr>
            <a:r>
              <a:rPr lang="en-US" altLang="zh-CN" sz="2400">
                <a:solidFill>
                  <a:srgbClr val="FF00FF"/>
                </a:solidFill>
              </a:rPr>
              <a:t>EXCEPT</a:t>
            </a:r>
            <a:endParaRPr lang="en-US" altLang="zh-CN" sz="2400">
              <a:solidFill>
                <a:srgbClr val="FF00FF"/>
              </a:solidFill>
            </a:endParaRPr>
          </a:p>
          <a:p>
            <a:pPr eaLnBrk="1" hangingPunct="1">
              <a:lnSpc>
                <a:spcPct val="120000"/>
              </a:lnSpc>
              <a:spcBef>
                <a:spcPct val="0"/>
              </a:spcBef>
              <a:buFont typeface="宋体" panose="02010600030101010101" pitchFamily="2" charset="-122"/>
              <a:buNone/>
            </a:pPr>
            <a:r>
              <a:rPr lang="en-US" altLang="zh-CN" sz="2400"/>
              <a:t>SELECT *</a:t>
            </a:r>
            <a:endParaRPr lang="en-US" altLang="zh-CN" sz="2400"/>
          </a:p>
          <a:p>
            <a:pPr eaLnBrk="1" hangingPunct="1">
              <a:lnSpc>
                <a:spcPct val="120000"/>
              </a:lnSpc>
              <a:spcBef>
                <a:spcPct val="0"/>
              </a:spcBef>
              <a:buFont typeface="宋体" panose="02010600030101010101" pitchFamily="2" charset="-122"/>
              <a:buNone/>
            </a:pPr>
            <a:r>
              <a:rPr lang="en-US" altLang="zh-CN" sz="2400"/>
              <a:t>FROM Student</a:t>
            </a:r>
            <a:endParaRPr lang="en-US" altLang="zh-CN" sz="2400"/>
          </a:p>
          <a:p>
            <a:pPr eaLnBrk="1" hangingPunct="1">
              <a:lnSpc>
                <a:spcPct val="120000"/>
              </a:lnSpc>
              <a:spcBef>
                <a:spcPct val="0"/>
              </a:spcBef>
              <a:buFont typeface="宋体" panose="02010600030101010101" pitchFamily="2" charset="-122"/>
              <a:buNone/>
            </a:pPr>
            <a:r>
              <a:rPr lang="en-US" altLang="zh-CN" sz="2400"/>
              <a:t>WHERE(extract(year from current_date)-extract(year from Sbirthdate) )&lt;=19;</a:t>
            </a:r>
            <a:endParaRPr lang="en-US" altLang="zh-CN" sz="240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idx="4294967295"/>
          </p:nvPr>
        </p:nvSpPr>
        <p:spPr/>
        <p:txBody>
          <a:bodyPr/>
          <a:lstStyle/>
          <a:p>
            <a:pPr eaLnBrk="1" hangingPunct="1"/>
            <a:r>
              <a:rPr lang="zh-CN" altLang="en-US" sz="3600">
                <a:latin typeface="宋体" panose="02010600030101010101" pitchFamily="2" charset="-122"/>
              </a:rPr>
              <a:t>集合查询（续）</a:t>
            </a:r>
            <a:endParaRPr lang="zh-CN" altLang="en-US" sz="3600">
              <a:latin typeface="宋体" panose="02010600030101010101" pitchFamily="2" charset="-122"/>
            </a:endParaRPr>
          </a:p>
        </p:txBody>
      </p:sp>
      <p:sp>
        <p:nvSpPr>
          <p:cNvPr id="116739" name="Rectangle 3"/>
          <p:cNvSpPr>
            <a:spLocks noGrp="1" noChangeArrowheads="1"/>
          </p:cNvSpPr>
          <p:nvPr>
            <p:ph type="body" idx="4294967295"/>
          </p:nvPr>
        </p:nvSpPr>
        <p:spPr>
          <a:xfrm>
            <a:off x="2208213" y="1098550"/>
            <a:ext cx="7772400" cy="4114800"/>
          </a:xfrm>
        </p:spPr>
        <p:txBody>
          <a:bodyPr/>
          <a:lstStyle/>
          <a:p>
            <a:pPr eaLnBrk="1" hangingPunct="1">
              <a:lnSpc>
                <a:spcPct val="120000"/>
              </a:lnSpc>
              <a:spcBef>
                <a:spcPct val="0"/>
              </a:spcBef>
              <a:buFont typeface="宋体" panose="02010600030101010101" pitchFamily="2" charset="-12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3.70</a:t>
            </a:r>
            <a:r>
              <a:rPr lang="en-US" altLang="zh-CN" sz="2400"/>
              <a:t>]</a:t>
            </a:r>
            <a:r>
              <a:rPr lang="zh-CN" altLang="en-US" sz="2400"/>
              <a:t> 就是查询计算机科学与技术专业中年龄大于</a:t>
            </a:r>
            <a:r>
              <a:rPr lang="en-US" altLang="zh-CN" sz="2400"/>
              <a:t>19</a:t>
            </a:r>
            <a:r>
              <a:rPr lang="zh-CN" altLang="en-US" sz="2400"/>
              <a:t>岁的学生</a:t>
            </a:r>
            <a:endParaRPr lang="zh-CN" altLang="en-US" sz="2400"/>
          </a:p>
          <a:p>
            <a:pPr eaLnBrk="1" hangingPunct="1">
              <a:lnSpc>
                <a:spcPct val="120000"/>
              </a:lnSpc>
              <a:spcBef>
                <a:spcPct val="0"/>
              </a:spcBef>
              <a:buFont typeface="宋体" panose="02010600030101010101" pitchFamily="2" charset="-122"/>
              <a:buNone/>
            </a:pPr>
            <a:r>
              <a:rPr lang="en-US" altLang="zh-CN" sz="2400"/>
              <a:t>SELECT *</a:t>
            </a:r>
            <a:endParaRPr lang="en-US" altLang="zh-CN" sz="2400"/>
          </a:p>
          <a:p>
            <a:pPr eaLnBrk="1" hangingPunct="1">
              <a:lnSpc>
                <a:spcPct val="120000"/>
              </a:lnSpc>
              <a:spcBef>
                <a:spcPct val="0"/>
              </a:spcBef>
              <a:buFont typeface="宋体" panose="02010600030101010101" pitchFamily="2" charset="-122"/>
              <a:buNone/>
            </a:pPr>
            <a:r>
              <a:rPr lang="en-US" altLang="zh-CN" sz="2400"/>
              <a:t>FROM Student</a:t>
            </a:r>
            <a:endParaRPr lang="en-US" altLang="zh-CN" sz="2400"/>
          </a:p>
          <a:p>
            <a:pPr eaLnBrk="1" hangingPunct="1">
              <a:lnSpc>
                <a:spcPct val="120000"/>
              </a:lnSpc>
              <a:spcBef>
                <a:spcPct val="0"/>
              </a:spcBef>
              <a:buFont typeface="宋体" panose="02010600030101010101" pitchFamily="2" charset="-122"/>
              <a:buNone/>
            </a:pPr>
            <a:r>
              <a:rPr lang="en-US" altLang="zh-CN" sz="2400"/>
              <a:t>WHERE Smajor='</a:t>
            </a:r>
            <a:r>
              <a:rPr lang="zh-CN" altLang="en-US" sz="2400"/>
              <a:t>计算机科学与技术</a:t>
            </a:r>
            <a:r>
              <a:rPr lang="en-US" altLang="zh-CN" sz="2400"/>
              <a:t>' AND</a:t>
            </a:r>
            <a:endParaRPr lang="en-US" altLang="zh-CN" sz="2400"/>
          </a:p>
          <a:p>
            <a:pPr eaLnBrk="1" hangingPunct="1">
              <a:lnSpc>
                <a:spcPct val="120000"/>
              </a:lnSpc>
              <a:spcBef>
                <a:spcPct val="0"/>
              </a:spcBef>
              <a:buFont typeface="宋体" panose="02010600030101010101" pitchFamily="2" charset="-122"/>
              <a:buNone/>
            </a:pPr>
            <a:r>
              <a:rPr lang="en-US" altLang="zh-CN" sz="2400"/>
              <a:t>(extract(year from current_date)-extract(year from Sbirthdate) )&gt;19</a:t>
            </a:r>
            <a:r>
              <a:rPr lang="zh-CN" altLang="en-US" sz="2400"/>
              <a:t>；</a:t>
            </a:r>
            <a:endParaRPr lang="zh-CN" altLang="en-US" sz="240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idx="4294967295"/>
          </p:nvPr>
        </p:nvSpPr>
        <p:spPr/>
        <p:txBody>
          <a:bodyPr/>
          <a:lstStyle/>
          <a:p>
            <a:pPr eaLnBrk="1" hangingPunct="1"/>
            <a:r>
              <a:rPr lang="en-US" altLang="zh-CN" sz="3600"/>
              <a:t>3.3  </a:t>
            </a:r>
            <a:r>
              <a:rPr lang="zh-CN" altLang="en-US" sz="3600"/>
              <a:t>数据查询 </a:t>
            </a:r>
            <a:endParaRPr lang="zh-CN" altLang="en-US" sz="3600"/>
          </a:p>
        </p:txBody>
      </p:sp>
      <p:sp>
        <p:nvSpPr>
          <p:cNvPr id="117763" name="Rectangle 3"/>
          <p:cNvSpPr>
            <a:spLocks noGrp="1" noChangeArrowheads="1"/>
          </p:cNvSpPr>
          <p:nvPr>
            <p:ph type="body" idx="4294967295"/>
          </p:nvPr>
        </p:nvSpPr>
        <p:spPr>
          <a:xfrm>
            <a:off x="2566988" y="1341438"/>
            <a:ext cx="5410200" cy="4038600"/>
          </a:xfrm>
        </p:spPr>
        <p:txBody>
          <a:bodyPr/>
          <a:lstStyle/>
          <a:p>
            <a:pPr marL="0" indent="0" algn="just" eaLnBrk="1" hangingPunct="1">
              <a:lnSpc>
                <a:spcPct val="140000"/>
              </a:lnSpc>
              <a:buNone/>
            </a:pPr>
            <a:r>
              <a:rPr lang="en-US" altLang="zh-CN"/>
              <a:t>3.3.1 </a:t>
            </a:r>
            <a:r>
              <a:rPr lang="zh-CN" altLang="en-US"/>
              <a:t>单表查询</a:t>
            </a:r>
            <a:endParaRPr lang="zh-CN" altLang="en-US"/>
          </a:p>
          <a:p>
            <a:pPr marL="0" indent="0" algn="just" eaLnBrk="1" hangingPunct="1">
              <a:lnSpc>
                <a:spcPct val="140000"/>
              </a:lnSpc>
              <a:buNone/>
            </a:pPr>
            <a:r>
              <a:rPr lang="en-US" altLang="zh-CN"/>
              <a:t>3.3.2 </a:t>
            </a:r>
            <a:r>
              <a:rPr lang="zh-CN" altLang="en-US"/>
              <a:t>连接查询</a:t>
            </a:r>
            <a:endParaRPr lang="zh-CN" altLang="en-US"/>
          </a:p>
          <a:p>
            <a:pPr marL="0" indent="0" algn="just" eaLnBrk="1" hangingPunct="1">
              <a:lnSpc>
                <a:spcPct val="140000"/>
              </a:lnSpc>
              <a:buNone/>
            </a:pPr>
            <a:r>
              <a:rPr lang="en-US" altLang="zh-CN"/>
              <a:t>3.3.3 </a:t>
            </a:r>
            <a:r>
              <a:rPr lang="zh-CN" altLang="en-US"/>
              <a:t>嵌套查询</a:t>
            </a:r>
            <a:endParaRPr lang="zh-CN" altLang="en-US"/>
          </a:p>
          <a:p>
            <a:pPr marL="0" indent="0" algn="just" eaLnBrk="1" hangingPunct="1">
              <a:lnSpc>
                <a:spcPct val="140000"/>
              </a:lnSpc>
              <a:buNone/>
            </a:pPr>
            <a:r>
              <a:rPr lang="en-US" altLang="zh-CN"/>
              <a:t>3.3.4 </a:t>
            </a:r>
            <a:r>
              <a:rPr lang="zh-CN" altLang="en-US"/>
              <a:t>集合查询</a:t>
            </a:r>
            <a:endParaRPr lang="zh-CN" altLang="en-US"/>
          </a:p>
          <a:p>
            <a:pPr marL="0" indent="0" algn="just" eaLnBrk="1" hangingPunct="1">
              <a:lnSpc>
                <a:spcPct val="140000"/>
              </a:lnSpc>
              <a:buNone/>
            </a:pPr>
            <a:r>
              <a:rPr lang="en-US" altLang="zh-CN">
                <a:solidFill>
                  <a:srgbClr val="00B050"/>
                </a:solidFill>
              </a:rPr>
              <a:t>3.3.5</a:t>
            </a:r>
            <a:r>
              <a:rPr lang="zh-CN" altLang="en-US">
                <a:solidFill>
                  <a:srgbClr val="00B050"/>
                </a:solidFill>
              </a:rPr>
              <a:t>基于派生表的查询</a:t>
            </a:r>
            <a:endParaRPr lang="en-US" altLang="zh-CN">
              <a:solidFill>
                <a:srgbClr val="00B050"/>
              </a:solidFill>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noChangeArrowheads="1"/>
          </p:cNvSpPr>
          <p:nvPr>
            <p:ph type="title" idx="4294967295"/>
          </p:nvPr>
        </p:nvSpPr>
        <p:spPr/>
        <p:txBody>
          <a:bodyPr/>
          <a:lstStyle/>
          <a:p>
            <a:pPr eaLnBrk="1" hangingPunct="1"/>
            <a:r>
              <a:rPr lang="en-US" altLang="zh-CN" sz="3600"/>
              <a:t>3.3.5 </a:t>
            </a:r>
            <a:r>
              <a:rPr lang="zh-CN" altLang="en-US" sz="3600"/>
              <a:t>基于派生表的查询</a:t>
            </a:r>
            <a:endParaRPr lang="zh-CN" altLang="en-US" sz="3600"/>
          </a:p>
        </p:txBody>
      </p:sp>
      <p:sp>
        <p:nvSpPr>
          <p:cNvPr id="114691" name="内容占位符 2"/>
          <p:cNvSpPr>
            <a:spLocks noGrp="1" noChangeArrowheads="1"/>
          </p:cNvSpPr>
          <p:nvPr>
            <p:ph idx="4294967295"/>
          </p:nvPr>
        </p:nvSpPr>
        <p:spPr>
          <a:xfrm>
            <a:off x="1127448" y="1098551"/>
            <a:ext cx="9361165" cy="5140325"/>
          </a:xfrm>
        </p:spPr>
        <p:txBody>
          <a:bodyPr/>
          <a:lstStyle/>
          <a:p>
            <a:pPr eaLnBrk="1" hangingPunct="1">
              <a:lnSpc>
                <a:spcPct val="90000"/>
              </a:lnSpc>
            </a:pPr>
            <a:r>
              <a:rPr lang="zh-CN" altLang="en-US" sz="2600" dirty="0">
                <a:latin typeface="宋体" panose="02010600030101010101" pitchFamily="2" charset="-122"/>
              </a:rPr>
              <a:t>子查询不仅可以出现在</a:t>
            </a:r>
            <a:r>
              <a:rPr lang="en-US" altLang="zh-CN" sz="2600" dirty="0"/>
              <a:t>WHERE</a:t>
            </a:r>
            <a:r>
              <a:rPr lang="zh-CN" altLang="en-US" sz="2600" dirty="0">
                <a:latin typeface="宋体" panose="02010600030101010101" pitchFamily="2" charset="-122"/>
              </a:rPr>
              <a:t>子句中，还可以出现在</a:t>
            </a:r>
            <a:r>
              <a:rPr lang="en-US" altLang="zh-CN" sz="2600" dirty="0"/>
              <a:t>FROM</a:t>
            </a:r>
            <a:r>
              <a:rPr lang="zh-CN" altLang="en-US" sz="2600" dirty="0">
                <a:latin typeface="宋体" panose="02010600030101010101" pitchFamily="2" charset="-122"/>
              </a:rPr>
              <a:t>子句中，子查询生成的临时派生表（</a:t>
            </a:r>
            <a:r>
              <a:rPr lang="en-US" altLang="zh-CN" sz="2600" dirty="0"/>
              <a:t>derived table</a:t>
            </a:r>
            <a:r>
              <a:rPr lang="zh-CN" altLang="en-US" sz="2600" dirty="0">
                <a:latin typeface="宋体" panose="02010600030101010101" pitchFamily="2" charset="-122"/>
              </a:rPr>
              <a:t>）成为主查询的查询对象</a:t>
            </a:r>
            <a:endParaRPr lang="en-US" altLang="zh-CN" sz="2600" dirty="0">
              <a:latin typeface="宋体" panose="02010600030101010101" pitchFamily="2" charset="-122"/>
            </a:endParaRPr>
          </a:p>
          <a:p>
            <a:pPr eaLnBrk="1" hangingPunct="1">
              <a:lnSpc>
                <a:spcPct val="90000"/>
              </a:lnSpc>
            </a:pPr>
            <a:endParaRPr lang="en-US" altLang="zh-CN" sz="2300" dirty="0">
              <a:latin typeface="宋体" panose="02010600030101010101" pitchFamily="2" charset="-122"/>
            </a:endParaRPr>
          </a:p>
          <a:p>
            <a:pPr eaLnBrk="1" hangingPunct="1">
              <a:lnSpc>
                <a:spcPct val="90000"/>
              </a:lnSpc>
              <a:buFont typeface="Wingdings" panose="05000000000000000000" pitchFamily="2" charset="2"/>
              <a:buNone/>
            </a:pPr>
            <a:r>
              <a:rPr lang="en-US" altLang="zh-CN" sz="2400" dirty="0"/>
              <a:t>[</a:t>
            </a:r>
            <a:r>
              <a:rPr lang="zh-CN" altLang="en-US" sz="2400" dirty="0">
                <a:latin typeface="宋体" panose="02010600030101010101" pitchFamily="2" charset="-122"/>
              </a:rPr>
              <a:t>例</a:t>
            </a:r>
            <a:r>
              <a:rPr lang="en-US" altLang="zh-CN" sz="2400" dirty="0"/>
              <a:t>3.59]</a:t>
            </a:r>
            <a:r>
              <a:rPr lang="zh-CN" altLang="en-US" sz="2400" dirty="0">
                <a:latin typeface="宋体" panose="02010600030101010101" pitchFamily="2" charset="-122"/>
              </a:rPr>
              <a:t>找出每个学生超过他自己选修课程平均成绩的课程号</a:t>
            </a:r>
            <a:endParaRPr lang="en-US" altLang="zh-CN" sz="2400" dirty="0">
              <a:latin typeface="宋体" panose="02010600030101010101" pitchFamily="2" charset="-122"/>
            </a:endParaRPr>
          </a:p>
          <a:p>
            <a:pPr eaLnBrk="1" hangingPunct="1">
              <a:lnSpc>
                <a:spcPct val="90000"/>
              </a:lnSpc>
              <a:buFont typeface="Wingdings" panose="05000000000000000000" pitchFamily="2" charset="2"/>
              <a:buNone/>
            </a:pPr>
            <a:r>
              <a:rPr lang="en-US" altLang="zh-CN" sz="2000" dirty="0"/>
              <a:t>    </a:t>
            </a:r>
            <a:endParaRPr lang="en-US" altLang="zh-CN" sz="2000" dirty="0"/>
          </a:p>
          <a:p>
            <a:pPr algn="just">
              <a:lnSpc>
                <a:spcPct val="150000"/>
              </a:lnSpc>
              <a:spcBef>
                <a:spcPct val="0"/>
              </a:spcBef>
              <a:buFont typeface="Wingdings" panose="05000000000000000000" pitchFamily="2" charset="2"/>
              <a:buNone/>
            </a:pPr>
            <a:r>
              <a:rPr lang="en-US" altLang="zh-CN" sz="2200" dirty="0"/>
              <a:t>SELECT </a:t>
            </a:r>
            <a:r>
              <a:rPr lang="en-US" altLang="zh-CN" sz="2200" dirty="0" err="1"/>
              <a:t>Sno</a:t>
            </a:r>
            <a:r>
              <a:rPr lang="en-US" altLang="zh-CN" sz="2200" dirty="0"/>
              <a:t>, </a:t>
            </a:r>
            <a:r>
              <a:rPr lang="en-US" altLang="zh-CN" sz="2200" dirty="0" err="1"/>
              <a:t>Cno</a:t>
            </a:r>
            <a:endParaRPr lang="en-US" altLang="zh-CN" sz="2200" dirty="0"/>
          </a:p>
          <a:p>
            <a:pPr algn="just">
              <a:lnSpc>
                <a:spcPct val="150000"/>
              </a:lnSpc>
              <a:spcBef>
                <a:spcPct val="0"/>
              </a:spcBef>
              <a:buFont typeface="Wingdings" panose="05000000000000000000" pitchFamily="2" charset="2"/>
              <a:buNone/>
            </a:pPr>
            <a:r>
              <a:rPr lang="en-US" altLang="zh-CN" sz="2200" dirty="0"/>
              <a:t>FROM SC, (SELECT </a:t>
            </a:r>
            <a:r>
              <a:rPr lang="en-US" altLang="zh-CN" sz="2200" dirty="0" err="1"/>
              <a:t>Sno</a:t>
            </a:r>
            <a:r>
              <a:rPr lang="en-US" altLang="zh-CN" sz="2200" dirty="0"/>
              <a:t>, </a:t>
            </a:r>
            <a:r>
              <a:rPr lang="en-US" altLang="zh-CN" sz="2200" dirty="0" err="1"/>
              <a:t>Avg</a:t>
            </a:r>
            <a:r>
              <a:rPr lang="en-US" altLang="zh-CN" sz="2200" dirty="0"/>
              <a:t>(Grade) FROM SC GROUP BY </a:t>
            </a:r>
            <a:r>
              <a:rPr lang="en-US" altLang="zh-CN" sz="2200" dirty="0" err="1"/>
              <a:t>Sno</a:t>
            </a:r>
            <a:r>
              <a:rPr lang="en-US" altLang="zh-CN" sz="2200" dirty="0"/>
              <a:t>)</a:t>
            </a:r>
            <a:endParaRPr lang="en-US" altLang="zh-CN" sz="2200" dirty="0"/>
          </a:p>
          <a:p>
            <a:pPr algn="just">
              <a:lnSpc>
                <a:spcPct val="150000"/>
              </a:lnSpc>
              <a:spcBef>
                <a:spcPct val="0"/>
              </a:spcBef>
              <a:buFont typeface="Wingdings" panose="05000000000000000000" pitchFamily="2" charset="2"/>
              <a:buNone/>
            </a:pPr>
            <a:r>
              <a:rPr lang="en-US" altLang="zh-CN" sz="2200" dirty="0"/>
              <a:t>            AS </a:t>
            </a:r>
            <a:r>
              <a:rPr lang="en-US" altLang="zh-CN" sz="2200" dirty="0" err="1"/>
              <a:t>Avg_SC</a:t>
            </a:r>
            <a:r>
              <a:rPr lang="en-US" altLang="zh-CN" sz="2200" dirty="0"/>
              <a:t>(</a:t>
            </a:r>
            <a:r>
              <a:rPr lang="en-US" altLang="zh-CN" sz="2200" dirty="0" err="1"/>
              <a:t>Avg_sno,Avg_grade</a:t>
            </a:r>
            <a:r>
              <a:rPr lang="en-US" altLang="zh-CN" sz="2200" dirty="0"/>
              <a:t>)</a:t>
            </a:r>
            <a:endParaRPr lang="en-US" altLang="zh-CN" sz="2200" dirty="0"/>
          </a:p>
          <a:p>
            <a:pPr algn="just">
              <a:lnSpc>
                <a:spcPct val="150000"/>
              </a:lnSpc>
              <a:spcBef>
                <a:spcPct val="0"/>
              </a:spcBef>
              <a:buFont typeface="Wingdings" panose="05000000000000000000" pitchFamily="2" charset="2"/>
              <a:buNone/>
            </a:pPr>
            <a:r>
              <a:rPr lang="en-US" altLang="zh-CN" sz="2200" dirty="0"/>
              <a:t>WHERE </a:t>
            </a:r>
            <a:r>
              <a:rPr lang="en-US" altLang="zh-CN" sz="2200" dirty="0" err="1"/>
              <a:t>SC.Sno</a:t>
            </a:r>
            <a:r>
              <a:rPr lang="en-US" altLang="zh-CN" sz="2200" dirty="0"/>
              <a:t> = </a:t>
            </a:r>
            <a:r>
              <a:rPr lang="en-US" altLang="zh-CN" sz="2200" dirty="0" err="1"/>
              <a:t>Avg_SC.Avg_sno</a:t>
            </a:r>
            <a:r>
              <a:rPr lang="en-US" altLang="zh-CN" sz="2200" dirty="0"/>
              <a:t> AND </a:t>
            </a:r>
            <a:r>
              <a:rPr lang="en-US" altLang="zh-CN" sz="2200" dirty="0" err="1"/>
              <a:t>SC.Grade</a:t>
            </a:r>
            <a:r>
              <a:rPr lang="en-US" altLang="zh-CN" sz="2200" dirty="0"/>
              <a:t> &gt;=</a:t>
            </a:r>
            <a:endParaRPr lang="en-US" altLang="zh-CN" sz="2200" dirty="0"/>
          </a:p>
          <a:p>
            <a:pPr algn="just">
              <a:lnSpc>
                <a:spcPct val="150000"/>
              </a:lnSpc>
              <a:spcBef>
                <a:spcPct val="0"/>
              </a:spcBef>
              <a:buFont typeface="Wingdings" panose="05000000000000000000" pitchFamily="2" charset="2"/>
              <a:buNone/>
            </a:pPr>
            <a:r>
              <a:rPr lang="en-US" altLang="zh-CN" sz="2200" dirty="0"/>
              <a:t>              </a:t>
            </a:r>
            <a:r>
              <a:rPr lang="en-US" altLang="zh-CN" sz="2200" dirty="0" err="1"/>
              <a:t>Avg_SC.Avg_grade</a:t>
            </a:r>
            <a:r>
              <a:rPr lang="en-US" altLang="zh-CN" sz="2200" dirty="0"/>
              <a:t>;</a:t>
            </a:r>
            <a:endParaRPr lang="en-US" altLang="zh-CN" sz="2200" dirty="0"/>
          </a:p>
          <a:p>
            <a:pPr eaLnBrk="1" hangingPunct="1">
              <a:lnSpc>
                <a:spcPct val="90000"/>
              </a:lnSpc>
              <a:buFont typeface="Wingdings" panose="05000000000000000000" pitchFamily="2" charset="2"/>
              <a:buNone/>
            </a:pPr>
            <a:endParaRPr lang="en-US" altLang="zh-CN" sz="2400"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noChangeArrowheads="1"/>
          </p:cNvSpPr>
          <p:nvPr>
            <p:ph type="title" idx="4294967295"/>
          </p:nvPr>
        </p:nvSpPr>
        <p:spPr/>
        <p:txBody>
          <a:bodyPr/>
          <a:lstStyle/>
          <a:p>
            <a:pPr eaLnBrk="1" hangingPunct="1"/>
            <a:r>
              <a:rPr lang="zh-CN" altLang="en-US" sz="3600"/>
              <a:t>基于派生表的查询（续）</a:t>
            </a:r>
            <a:endParaRPr lang="zh-CN" altLang="en-US" sz="3600"/>
          </a:p>
        </p:txBody>
      </p:sp>
      <p:sp>
        <p:nvSpPr>
          <p:cNvPr id="115715" name="内容占位符 2"/>
          <p:cNvSpPr>
            <a:spLocks noGrp="1" noChangeArrowheads="1"/>
          </p:cNvSpPr>
          <p:nvPr>
            <p:ph idx="4294967295"/>
          </p:nvPr>
        </p:nvSpPr>
        <p:spPr>
          <a:xfrm>
            <a:off x="983432" y="1090613"/>
            <a:ext cx="10369152" cy="5002212"/>
          </a:xfrm>
        </p:spPr>
        <p:txBody>
          <a:bodyPr/>
          <a:lstStyle/>
          <a:p>
            <a:pPr eaLnBrk="1" hangingPunct="1"/>
            <a:r>
              <a:rPr lang="zh-CN" altLang="en-US" sz="2600" dirty="0">
                <a:latin typeface="宋体" panose="02010600030101010101" pitchFamily="2" charset="-122"/>
              </a:rPr>
              <a:t>如果子查询中没有聚集函数，派生表可以不指定属性列，子查询</a:t>
            </a:r>
            <a:r>
              <a:rPr lang="en-US" altLang="zh-CN" sz="2600" dirty="0"/>
              <a:t>SELECT</a:t>
            </a:r>
            <a:r>
              <a:rPr lang="zh-CN" altLang="en-US" sz="2600" dirty="0">
                <a:latin typeface="宋体" panose="02010600030101010101" pitchFamily="2" charset="-122"/>
              </a:rPr>
              <a:t>子句后面的列名为其缺省属性。</a:t>
            </a:r>
            <a:endParaRPr lang="zh-CN" altLang="en-US" sz="2600" dirty="0">
              <a:latin typeface="宋体" panose="02010600030101010101" pitchFamily="2" charset="-122"/>
            </a:endParaRPr>
          </a:p>
          <a:p>
            <a:pPr eaLnBrk="1" hangingPunct="1"/>
            <a:endParaRPr lang="en-US" altLang="zh-CN" sz="2400" dirty="0">
              <a:latin typeface="宋体" panose="02010600030101010101" pitchFamily="2" charset="-122"/>
            </a:endParaRPr>
          </a:p>
          <a:p>
            <a:pPr eaLnBrk="1" hangingPunct="1">
              <a:buFont typeface="Wingdings" panose="05000000000000000000" pitchFamily="2" charset="2"/>
              <a:buNone/>
            </a:pPr>
            <a:r>
              <a:rPr lang="en-US" altLang="zh-CN" sz="2400" dirty="0"/>
              <a:t>[</a:t>
            </a:r>
            <a:r>
              <a:rPr lang="zh-CN" altLang="en-US" sz="2400" dirty="0"/>
              <a:t>例</a:t>
            </a:r>
            <a:r>
              <a:rPr lang="en-US" altLang="zh-CN" sz="2400" dirty="0"/>
              <a:t>3.62]</a:t>
            </a:r>
            <a:r>
              <a:rPr lang="zh-CN" altLang="en-US" sz="2400" dirty="0"/>
              <a:t>查询所有选修了</a:t>
            </a:r>
            <a:r>
              <a:rPr lang="en-US" altLang="zh-CN" sz="2400" dirty="0"/>
              <a:t>81001</a:t>
            </a:r>
            <a:r>
              <a:rPr lang="zh-CN" altLang="en-US" sz="2400" dirty="0"/>
              <a:t>号课程的学生姓名</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    </a:t>
            </a:r>
            <a:r>
              <a:rPr lang="en-US" altLang="zh-CN" sz="2200" dirty="0"/>
              <a:t>SELECT </a:t>
            </a:r>
            <a:r>
              <a:rPr lang="en-US" altLang="zh-CN" sz="2200" dirty="0" err="1"/>
              <a:t>Sname</a:t>
            </a:r>
            <a:endParaRPr lang="zh-CN" altLang="en-US" sz="2200" dirty="0"/>
          </a:p>
          <a:p>
            <a:pPr eaLnBrk="1" hangingPunct="1">
              <a:lnSpc>
                <a:spcPct val="150000"/>
              </a:lnSpc>
              <a:spcBef>
                <a:spcPct val="0"/>
              </a:spcBef>
              <a:buFont typeface="Wingdings" panose="05000000000000000000" pitchFamily="2" charset="2"/>
              <a:buNone/>
            </a:pPr>
            <a:r>
              <a:rPr lang="en-US" altLang="zh-CN" sz="2200" dirty="0"/>
              <a:t>     FROM     Student,  </a:t>
            </a:r>
            <a:endParaRPr lang="en-US" altLang="zh-CN" sz="2200" dirty="0"/>
          </a:p>
          <a:p>
            <a:pPr eaLnBrk="1" hangingPunct="1">
              <a:lnSpc>
                <a:spcPct val="150000"/>
              </a:lnSpc>
              <a:spcBef>
                <a:spcPct val="0"/>
              </a:spcBef>
              <a:buFont typeface="Wingdings" panose="05000000000000000000" pitchFamily="2" charset="2"/>
              <a:buNone/>
            </a:pPr>
            <a:r>
              <a:rPr lang="en-US" altLang="zh-CN" sz="2200" dirty="0"/>
              <a:t>                   </a:t>
            </a:r>
            <a:r>
              <a:rPr lang="zh-CN" altLang="en-US" sz="2200" dirty="0"/>
              <a:t>(</a:t>
            </a:r>
            <a:r>
              <a:rPr lang="en-US" altLang="zh-CN" sz="2200" dirty="0"/>
              <a:t>SELECT </a:t>
            </a:r>
            <a:r>
              <a:rPr lang="en-US" altLang="zh-CN" sz="2200" dirty="0" err="1"/>
              <a:t>Sno</a:t>
            </a:r>
            <a:r>
              <a:rPr lang="en-US" altLang="zh-CN" sz="2200" dirty="0"/>
              <a:t> FROM SC WHERE </a:t>
            </a:r>
            <a:r>
              <a:rPr lang="en-US" altLang="zh-CN" sz="2200" dirty="0" err="1"/>
              <a:t>Cno</a:t>
            </a:r>
            <a:r>
              <a:rPr lang="en-US" altLang="zh-CN" sz="2200" dirty="0"/>
              <a:t>=‘ 81001 '</a:t>
            </a:r>
            <a:r>
              <a:rPr lang="zh-CN" altLang="en-US" sz="2200" dirty="0"/>
              <a:t>)</a:t>
            </a:r>
            <a:r>
              <a:rPr lang="en-US" altLang="zh-CN" sz="2200" dirty="0"/>
              <a:t> AS SC1</a:t>
            </a:r>
            <a:endParaRPr lang="zh-CN" altLang="en-US" sz="2200" dirty="0"/>
          </a:p>
          <a:p>
            <a:pPr eaLnBrk="1" hangingPunct="1">
              <a:lnSpc>
                <a:spcPct val="150000"/>
              </a:lnSpc>
              <a:spcBef>
                <a:spcPct val="0"/>
              </a:spcBef>
              <a:buFont typeface="Wingdings" panose="05000000000000000000" pitchFamily="2" charset="2"/>
              <a:buNone/>
            </a:pPr>
            <a:r>
              <a:rPr lang="en-US" altLang="zh-CN" sz="2200" dirty="0"/>
              <a:t>     WHERE  </a:t>
            </a:r>
            <a:r>
              <a:rPr lang="en-US" altLang="zh-CN" sz="2200" dirty="0" err="1"/>
              <a:t>Student.Sno</a:t>
            </a:r>
            <a:r>
              <a:rPr lang="en-US" altLang="zh-CN" sz="2200" dirty="0"/>
              <a:t>=SC1.Sno;</a:t>
            </a:r>
            <a:endParaRPr lang="en-US" altLang="zh-CN" sz="2200" dirty="0"/>
          </a:p>
          <a:p>
            <a:pPr eaLnBrk="1" hangingPunct="1">
              <a:lnSpc>
                <a:spcPct val="150000"/>
              </a:lnSpc>
              <a:spcBef>
                <a:spcPct val="0"/>
              </a:spcBef>
              <a:buFont typeface="Wingdings" panose="05000000000000000000" pitchFamily="2" charset="2"/>
              <a:buChar char="n"/>
            </a:pPr>
            <a:r>
              <a:rPr lang="en-US" altLang="zh-CN" sz="2200" dirty="0">
                <a:solidFill>
                  <a:srgbClr val="000000"/>
                </a:solidFill>
              </a:rPr>
              <a:t>FROM</a:t>
            </a:r>
            <a:r>
              <a:rPr lang="zh-CN" altLang="zh-CN" sz="2200" dirty="0">
                <a:solidFill>
                  <a:srgbClr val="000000"/>
                </a:solidFill>
                <a:cs typeface="Times New Roman" panose="02020603050405020304" pitchFamily="18" charset="0"/>
              </a:rPr>
              <a:t>子句生成派生表时，</a:t>
            </a:r>
            <a:r>
              <a:rPr lang="en-US" altLang="zh-CN" sz="2200" dirty="0">
                <a:solidFill>
                  <a:srgbClr val="000000"/>
                </a:solidFill>
              </a:rPr>
              <a:t>AS</a:t>
            </a:r>
            <a:r>
              <a:rPr lang="zh-CN" altLang="zh-CN" sz="2200" dirty="0">
                <a:solidFill>
                  <a:srgbClr val="000000"/>
                </a:solidFill>
                <a:cs typeface="Times New Roman" panose="02020603050405020304" pitchFamily="18" charset="0"/>
              </a:rPr>
              <a:t>关键字可省略，必须为派生关系指定一个别名</a:t>
            </a:r>
            <a:endParaRPr lang="en-US" altLang="zh-CN" sz="2200" dirty="0">
              <a:cs typeface="Times New Roman" panose="02020603050405020304" pitchFamily="18" charset="0"/>
            </a:endParaRPr>
          </a:p>
          <a:p>
            <a:pPr eaLnBrk="1" hangingPunct="1">
              <a:lnSpc>
                <a:spcPct val="150000"/>
              </a:lnSpc>
              <a:spcBef>
                <a:spcPct val="0"/>
              </a:spcBef>
              <a:buFont typeface="Wingdings" panose="05000000000000000000" pitchFamily="2" charset="2"/>
              <a:buChar char="n"/>
            </a:pPr>
            <a:r>
              <a:rPr lang="zh-CN" altLang="zh-CN" sz="2200" dirty="0">
                <a:solidFill>
                  <a:srgbClr val="000000"/>
                </a:solidFill>
                <a:cs typeface="Times New Roman" panose="02020603050405020304" pitchFamily="18" charset="0"/>
              </a:rPr>
              <a:t>派生表是一个中间结果表，查询完成后派生表将被系统自动清除</a:t>
            </a:r>
            <a:endParaRPr lang="zh-CN" altLang="en-US" sz="2200" dirty="0"/>
          </a:p>
          <a:p>
            <a:pPr eaLnBrk="1" hangingPunct="1">
              <a:buFont typeface="Wingdings" panose="05000000000000000000" pitchFamily="2" charset="2"/>
              <a:buNone/>
            </a:pPr>
            <a:endParaRPr lang="en-US" altLang="zh-CN" sz="2200" dirty="0"/>
          </a:p>
          <a:p>
            <a:pPr eaLnBrk="1" hangingPunct="1">
              <a:buFont typeface="Wingdings" panose="05000000000000000000" pitchFamily="2" charset="2"/>
              <a:buNone/>
            </a:pPr>
            <a:endParaRPr lang="en-US" altLang="zh-CN" dirty="0"/>
          </a:p>
          <a:p>
            <a:pPr eaLnBrk="1" hangingPunct="1">
              <a:buFont typeface="Wingdings" panose="05000000000000000000" pitchFamily="2" charset="2"/>
              <a:buNone/>
            </a:pPr>
            <a:endParaRPr lang="zh-CN" altLang="en-US"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048000" y="188595"/>
            <a:ext cx="6096000" cy="645160"/>
          </a:xfrm>
          <a:prstGeom prst="rect">
            <a:avLst/>
          </a:prstGeom>
          <a:noFill/>
        </p:spPr>
        <p:txBody>
          <a:bodyPr wrap="square" rtlCol="0" anchor="t">
            <a:spAutoFit/>
          </a:bodyPr>
          <a:p>
            <a:pPr eaLnBrk="1" hangingPunct="1"/>
            <a:r>
              <a:rPr lang="zh-CN" altLang="en-US" sz="3600">
                <a:solidFill>
                  <a:schemeClr val="bg1"/>
                </a:solidFill>
                <a:sym typeface="+mn-ea"/>
              </a:rPr>
              <a:t>如果</a:t>
            </a:r>
            <a:r>
              <a:rPr lang="zh-CN" altLang="en-US" sz="3600">
                <a:solidFill>
                  <a:schemeClr val="bg1"/>
                </a:solidFill>
                <a:sym typeface="+mn-ea"/>
              </a:rPr>
              <a:t>可以用派生表</a:t>
            </a:r>
            <a:endParaRPr lang="zh-CN" altLang="en-US" sz="3600">
              <a:solidFill>
                <a:schemeClr val="bg1"/>
              </a:solidFill>
              <a:sym typeface="+mn-ea"/>
            </a:endParaRPr>
          </a:p>
        </p:txBody>
      </p:sp>
      <p:sp>
        <p:nvSpPr>
          <p:cNvPr id="3" name="文本框 2"/>
          <p:cNvSpPr txBox="1"/>
          <p:nvPr/>
        </p:nvSpPr>
        <p:spPr>
          <a:xfrm>
            <a:off x="479425" y="1268730"/>
            <a:ext cx="10129520" cy="645160"/>
          </a:xfrm>
          <a:prstGeom prst="rect">
            <a:avLst/>
          </a:prstGeom>
          <a:noFill/>
        </p:spPr>
        <p:txBody>
          <a:bodyPr wrap="square" rtlCol="0" anchor="t">
            <a:spAutoFit/>
          </a:bodyPr>
          <a:p>
            <a:pPr eaLnBrk="1" hangingPunct="1">
              <a:lnSpc>
                <a:spcPct val="150000"/>
              </a:lnSpc>
              <a:buFont typeface="Wingdings" panose="05000000000000000000" pitchFamily="2" charset="2"/>
              <a:buNone/>
            </a:pPr>
            <a:r>
              <a:rPr lang="en-US" altLang="zh-CN" sz="2400" dirty="0">
                <a:sym typeface="+mn-ea"/>
              </a:rPr>
              <a:t>[</a:t>
            </a:r>
            <a:r>
              <a:rPr lang="zh-CN" altLang="en-US" sz="2400" dirty="0">
                <a:ea typeface="黑体" panose="02010609060101010101" pitchFamily="49" charset="-122"/>
                <a:sym typeface="+mn-ea"/>
              </a:rPr>
              <a:t>例</a:t>
            </a:r>
            <a:r>
              <a:rPr lang="en-US" altLang="zh-CN" sz="2400" dirty="0">
                <a:ea typeface="黑体" panose="02010609060101010101" pitchFamily="49" charset="-122"/>
                <a:sym typeface="+mn-ea"/>
              </a:rPr>
              <a:t>3.65</a:t>
            </a:r>
            <a:r>
              <a:rPr lang="en-US" altLang="zh-CN" sz="2400" dirty="0">
                <a:sym typeface="+mn-ea"/>
              </a:rPr>
              <a:t>]</a:t>
            </a:r>
            <a:r>
              <a:rPr lang="zh-CN" altLang="en-US" sz="2400" dirty="0">
                <a:sym typeface="+mn-ea"/>
              </a:rPr>
              <a:t>查询至少选修了学生</a:t>
            </a:r>
            <a:r>
              <a:rPr lang="en-US" altLang="zh-CN" sz="2400" dirty="0">
                <a:sym typeface="+mn-ea"/>
              </a:rPr>
              <a:t>20180002</a:t>
            </a:r>
            <a:r>
              <a:rPr lang="zh-CN" altLang="en-US" sz="2400" dirty="0">
                <a:sym typeface="+mn-ea"/>
              </a:rPr>
              <a:t>选修的全部课程的学生号码</a:t>
            </a:r>
            <a:endParaRPr lang="zh-CN" altLang="en-US" sz="2400" dirty="0">
              <a:sym typeface="+mn-ea"/>
            </a:endParaRPr>
          </a:p>
        </p:txBody>
      </p:sp>
      <p:sp>
        <p:nvSpPr>
          <p:cNvPr id="4" name="文本框 3"/>
          <p:cNvSpPr txBox="1"/>
          <p:nvPr/>
        </p:nvSpPr>
        <p:spPr>
          <a:xfrm>
            <a:off x="911225" y="2205355"/>
            <a:ext cx="10234930" cy="3014980"/>
          </a:xfrm>
          <a:prstGeom prst="rect">
            <a:avLst/>
          </a:prstGeom>
          <a:noFill/>
        </p:spPr>
        <p:txBody>
          <a:bodyPr wrap="square" rtlCol="0" anchor="t">
            <a:spAutoFit/>
          </a:bodyPr>
          <a:p>
            <a:pPr lvl="1" algn="just" eaLnBrk="1" hangingPunct="1">
              <a:lnSpc>
                <a:spcPts val="3300"/>
              </a:lnSpc>
              <a:spcBef>
                <a:spcPts val="600"/>
              </a:spcBef>
              <a:buFont typeface="Wingdings" panose="05000000000000000000" pitchFamily="2" charset="2"/>
              <a:buNone/>
            </a:pPr>
            <a:r>
              <a:rPr lang="en-US" altLang="zh-CN" sz="2000">
                <a:sym typeface="+mn-ea"/>
              </a:rPr>
              <a:t>SELECT </a:t>
            </a:r>
            <a:r>
              <a:rPr lang="en-US" altLang="zh-CN" sz="2000" dirty="0" err="1">
                <a:sym typeface="+mn-ea"/>
              </a:rPr>
              <a:t>Sno</a:t>
            </a:r>
            <a:r>
              <a:rPr lang="en-US" altLang="zh-CN" sz="2000" dirty="0">
                <a:sym typeface="+mn-ea"/>
              </a:rPr>
              <a:t> FROM </a:t>
            </a:r>
            <a:endParaRPr lang="en-US" altLang="zh-CN" sz="2000" dirty="0"/>
          </a:p>
          <a:p>
            <a:pPr lvl="1" algn="just" eaLnBrk="1" hangingPunct="1">
              <a:lnSpc>
                <a:spcPts val="3300"/>
              </a:lnSpc>
              <a:spcBef>
                <a:spcPts val="600"/>
              </a:spcBef>
              <a:buFont typeface="Wingdings" panose="05000000000000000000" pitchFamily="2" charset="2"/>
              <a:buNone/>
            </a:pPr>
            <a:r>
              <a:rPr lang="en-US" altLang="zh-CN" sz="2000">
                <a:sym typeface="+mn-ea"/>
              </a:rPr>
              <a:t>(	SELECT X.Sno AS Sno,Y.Cno AS Cno </a:t>
            </a:r>
            <a:endParaRPr lang="en-US" altLang="zh-CN" sz="2000"/>
          </a:p>
          <a:p>
            <a:pPr lvl="1" algn="just" eaLnBrk="1" hangingPunct="1">
              <a:lnSpc>
                <a:spcPts val="3300"/>
              </a:lnSpc>
              <a:spcBef>
                <a:spcPts val="600"/>
              </a:spcBef>
              <a:buFont typeface="Wingdings" panose="05000000000000000000" pitchFamily="2" charset="2"/>
              <a:buNone/>
            </a:pPr>
            <a:r>
              <a:rPr lang="en-US" altLang="zh-CN" sz="2000">
                <a:sym typeface="+mn-ea"/>
              </a:rPr>
              <a:t>	FROM SC X, SC Y</a:t>
            </a:r>
            <a:endParaRPr lang="en-US" altLang="zh-CN" sz="2000"/>
          </a:p>
          <a:p>
            <a:pPr lvl="1" algn="just" eaLnBrk="1" hangingPunct="1">
              <a:lnSpc>
                <a:spcPts val="3300"/>
              </a:lnSpc>
              <a:spcBef>
                <a:spcPts val="600"/>
              </a:spcBef>
              <a:buFont typeface="Wingdings" panose="05000000000000000000" pitchFamily="2" charset="2"/>
              <a:buNone/>
            </a:pPr>
            <a:r>
              <a:rPr lang="en-US" altLang="zh-CN" sz="2000">
                <a:sym typeface="+mn-ea"/>
              </a:rPr>
              <a:t>	WHERE X.Cno=Y.Cno AND Y.Sno=’</a:t>
            </a:r>
            <a:r>
              <a:rPr lang="en-US" altLang="zh-CN" sz="2000" dirty="0">
                <a:sym typeface="+mn-ea"/>
              </a:rPr>
              <a:t>20180002’</a:t>
            </a:r>
            <a:r>
              <a:rPr lang="en-US" altLang="zh-CN" sz="2000">
                <a:sym typeface="+mn-ea"/>
              </a:rPr>
              <a:t>) AS M </a:t>
            </a:r>
            <a:endParaRPr lang="en-US" altLang="zh-CN" sz="2000"/>
          </a:p>
          <a:p>
            <a:pPr lvl="1" algn="just" eaLnBrk="1" hangingPunct="1">
              <a:lnSpc>
                <a:spcPts val="3300"/>
              </a:lnSpc>
              <a:spcBef>
                <a:spcPts val="600"/>
              </a:spcBef>
              <a:buFont typeface="Wingdings" panose="05000000000000000000" pitchFamily="2" charset="2"/>
              <a:buNone/>
            </a:pPr>
            <a:r>
              <a:rPr lang="en-US" altLang="zh-CN" sz="2000">
                <a:sym typeface="+mn-ea"/>
              </a:rPr>
              <a:t>	GROUP BY Sno</a:t>
            </a:r>
            <a:endParaRPr lang="en-US" altLang="zh-CN" sz="2000"/>
          </a:p>
          <a:p>
            <a:pPr lvl="1" algn="just" eaLnBrk="1" hangingPunct="1">
              <a:lnSpc>
                <a:spcPts val="3300"/>
              </a:lnSpc>
              <a:spcBef>
                <a:spcPts val="600"/>
              </a:spcBef>
              <a:buFont typeface="Wingdings" panose="05000000000000000000" pitchFamily="2" charset="2"/>
              <a:buNone/>
            </a:pPr>
            <a:r>
              <a:rPr lang="en-US" altLang="zh-CN" sz="2000">
                <a:sym typeface="+mn-ea"/>
              </a:rPr>
              <a:t>	HAVING COUNT(*)=( SELECT COUNT(*) FROM SC WHERE Sn</a:t>
            </a:r>
            <a:r>
              <a:rPr lang="en-US" altLang="zh-CN" sz="2000" dirty="0" err="1">
                <a:sym typeface="+mn-ea"/>
              </a:rPr>
              <a:t>o</a:t>
            </a:r>
            <a:r>
              <a:rPr lang="en-US" altLang="zh-CN" sz="2000">
                <a:sym typeface="+mn-ea"/>
              </a:rPr>
              <a:t>=’</a:t>
            </a:r>
            <a:r>
              <a:rPr lang="en-US" altLang="zh-CN" sz="2000" dirty="0">
                <a:sym typeface="+mn-ea"/>
              </a:rPr>
              <a:t>20180002’</a:t>
            </a:r>
            <a:r>
              <a:rPr lang="en-US" altLang="zh-CN" sz="2000">
                <a:sym typeface="+mn-ea"/>
              </a:rPr>
              <a:t>)</a:t>
            </a:r>
            <a:r>
              <a:rPr lang="en-US" altLang="zh-CN" sz="2000" dirty="0">
                <a:sym typeface="+mn-ea"/>
              </a:rPr>
              <a:t>;</a:t>
            </a:r>
            <a:endParaRPr lang="en-US" altLang="zh-CN" sz="2000" dirty="0">
              <a:sym typeface="+mn-ea"/>
            </a:endParaRPr>
          </a:p>
        </p:txBody>
      </p:sp>
      <p:sp>
        <p:nvSpPr>
          <p:cNvPr id="5" name="文本框 4"/>
          <p:cNvSpPr txBox="1"/>
          <p:nvPr/>
        </p:nvSpPr>
        <p:spPr>
          <a:xfrm>
            <a:off x="1199515" y="5589270"/>
            <a:ext cx="9714865" cy="521970"/>
          </a:xfrm>
          <a:prstGeom prst="rect">
            <a:avLst/>
          </a:prstGeom>
          <a:noFill/>
        </p:spPr>
        <p:txBody>
          <a:bodyPr wrap="square" rtlCol="0" anchor="t">
            <a:spAutoFit/>
          </a:bodyPr>
          <a:p>
            <a:r>
              <a:rPr lang="en-US" altLang="zh-CN" sz="2800">
                <a:sym typeface="+mn-ea"/>
              </a:rPr>
              <a:t>M </a:t>
            </a:r>
            <a:r>
              <a:rPr lang="zh-CN" altLang="en-US" sz="2800">
                <a:sym typeface="+mn-ea"/>
              </a:rPr>
              <a:t>表中存储的是：</a:t>
            </a:r>
            <a:r>
              <a:rPr lang="en-US" altLang="zh-CN" sz="2800">
                <a:sym typeface="+mn-ea"/>
              </a:rPr>
              <a:t>20180002</a:t>
            </a:r>
            <a:r>
              <a:rPr lang="zh-CN" altLang="en-US" sz="2800">
                <a:sym typeface="+mn-ea"/>
              </a:rPr>
              <a:t>所选课程被学生们选修的情况</a:t>
            </a:r>
            <a:endParaRPr lang="zh-CN" altLang="en-US" sz="280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idx="4294967295"/>
          </p:nvPr>
        </p:nvSpPr>
        <p:spPr/>
        <p:txBody>
          <a:bodyPr/>
          <a:lstStyle/>
          <a:p>
            <a:pPr eaLnBrk="1" hangingPunct="1"/>
            <a:r>
              <a:rPr lang="zh-CN" altLang="en-US" sz="3600"/>
              <a:t>二维码</a:t>
            </a:r>
            <a:r>
              <a:rPr lang="en-US" altLang="zh-CN" sz="3600"/>
              <a:t>3.3</a:t>
            </a:r>
            <a:endParaRPr lang="zh-CN" altLang="en-US" sz="3600"/>
          </a:p>
        </p:txBody>
      </p:sp>
      <p:sp>
        <p:nvSpPr>
          <p:cNvPr id="117763" name="Rectangle 3"/>
          <p:cNvSpPr>
            <a:spLocks noGrp="1" noChangeArrowheads="1"/>
          </p:cNvSpPr>
          <p:nvPr>
            <p:ph type="body" idx="4294967295"/>
          </p:nvPr>
        </p:nvSpPr>
        <p:spPr>
          <a:xfrm>
            <a:off x="1981200" y="1988841"/>
            <a:ext cx="7772400" cy="4103985"/>
          </a:xfrm>
        </p:spPr>
        <p:txBody>
          <a:bodyPr/>
          <a:lstStyle/>
          <a:p>
            <a:pPr algn="ctr" eaLnBrk="1" hangingPunct="1">
              <a:lnSpc>
                <a:spcPct val="120000"/>
              </a:lnSpc>
              <a:buFont typeface="Wingdings" panose="05000000000000000000" pitchFamily="2" charset="2"/>
              <a:buNone/>
              <a:defRPr/>
            </a:pPr>
            <a:r>
              <a:rPr lang="en-US" altLang="zh-CN" sz="2400" dirty="0">
                <a:solidFill>
                  <a:schemeClr val="hlink"/>
                </a:solidFill>
              </a:rPr>
              <a:t> </a:t>
            </a:r>
            <a:r>
              <a:rPr lang="en-US" altLang="zh-CN" sz="4400" dirty="0">
                <a:highlight>
                  <a:srgbClr val="FFFF00"/>
                </a:highlight>
              </a:rPr>
              <a:t>SELECT</a:t>
            </a:r>
            <a:r>
              <a:rPr lang="zh-CN" altLang="en-US" sz="4400" dirty="0">
                <a:highlight>
                  <a:srgbClr val="FFFF00"/>
                </a:highlight>
              </a:rPr>
              <a:t>语句的一般格式</a:t>
            </a:r>
            <a:endParaRPr lang="en-US" altLang="zh-CN" sz="4400" dirty="0">
              <a:highlight>
                <a:srgbClr val="FFFF00"/>
              </a:highlight>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DIAGRAM_VIRTUALLY_FRAME" val="{&quot;height&quot;:267.85,&quot;left&quot;:105.75,&quot;top&quot;:111.2,&quot;width&quot;:495.7}"/>
</p:tagLst>
</file>

<file path=ppt/tags/tag2.xml><?xml version="1.0" encoding="utf-8"?>
<p:tagLst xmlns:p="http://schemas.openxmlformats.org/presentationml/2006/main">
  <p:tag name="KSO_WM_DIAGRAM_VIRTUALLY_FRAME" val="{&quot;height&quot;:267.85,&quot;left&quot;:105.75,&quot;top&quot;:111.2,&quot;width&quot;:495.7}"/>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 name="TABLE_ENDDRAG_ORIGIN_RECT" val="463*49"/>
  <p:tag name="TABLE_ENDDRAG_RECT" val="117*139*463*49"/>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 name="TABLE_ENDDRAG_ORIGIN_RECT" val="463*49"/>
  <p:tag name="TABLE_ENDDRAG_RECT" val="117*139*463*49"/>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 name="TABLE_ENDDRAG_ORIGIN_RECT" val="463*49"/>
  <p:tag name="TABLE_ENDDRAG_RECT" val="117*139*463*49"/>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 name="TABLE_ENDDRAG_ORIGIN_RECT" val="463*49"/>
  <p:tag name="TABLE_ENDDRAG_RECT" val="117*139*463*49"/>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DIAGRAM_VIRTUALLY_FRAME" val="{&quot;height&quot;:380.5,&quot;left&quot;:37.75,&quot;top&quot;:71.55,&quot;width&quot;:849.9}"/>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DIAGRAM_VIRTUALLY_FRAME" val="{&quot;height&quot;:380.5,&quot;left&quot;:37.75,&quot;top&quot;:71.55,&quot;width&quot;:849.9}"/>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 name="TABLE_ENDDRAG_ORIGIN_RECT" val="463*49"/>
  <p:tag name="TABLE_ENDDRAG_RECT" val="117*139*463*49"/>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 name="TABLE_ENDDRAG_ORIGIN_RECT" val="463*49"/>
  <p:tag name="TABLE_ENDDRAG_RECT" val="117*139*463*49"/>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 name="TABLE_ENDDRAG_ORIGIN_RECT" val="463*49"/>
  <p:tag name="TABLE_ENDDRAG_RECT" val="117*139*463*49"/>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COMMONDATA" val="eyJoZGlkIjoiYzFiMmY5NjgwNzk1ZWQ4YjczNmJjOGRhMTg3Mzg1Njc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数据库系统概论">
  <a:themeElements>
    <a:clrScheme name="1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1_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数据库系统概论">
  <a:themeElements>
    <a:clrScheme name="2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2_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20981</Words>
  <Application>WPS 演示</Application>
  <PresentationFormat>宽屏</PresentationFormat>
  <Paragraphs>1940</Paragraphs>
  <Slides>96</Slides>
  <Notes>1</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96</vt:i4>
      </vt:variant>
    </vt:vector>
  </HeadingPairs>
  <TitlesOfParts>
    <vt:vector size="112" baseType="lpstr">
      <vt:lpstr>Arial</vt:lpstr>
      <vt:lpstr>宋体</vt:lpstr>
      <vt:lpstr>Wingdings</vt:lpstr>
      <vt:lpstr>Calibri</vt:lpstr>
      <vt:lpstr>Times New Roman</vt:lpstr>
      <vt:lpstr>黑体</vt:lpstr>
      <vt:lpstr>Times-Roman</vt:lpstr>
      <vt:lpstr>隶书</vt:lpstr>
      <vt:lpstr>微软雅黑</vt:lpstr>
      <vt:lpstr>Arial Unicode MS</vt:lpstr>
      <vt:lpstr>Arila</vt:lpstr>
      <vt:lpstr>Segoe Print</vt:lpstr>
      <vt:lpstr>Symbol</vt:lpstr>
      <vt:lpstr>数据库系统概论</vt:lpstr>
      <vt:lpstr>1_数据库系统概论</vt:lpstr>
      <vt:lpstr>2_数据库系统概论</vt:lpstr>
      <vt:lpstr>PowerPoint 演示文稿</vt:lpstr>
      <vt:lpstr>3.3  数据查询 </vt:lpstr>
      <vt:lpstr>3.3.2 连接查询 </vt:lpstr>
      <vt:lpstr>连接查询（续）</vt:lpstr>
      <vt:lpstr>1. 等值与非等值连接查询 </vt:lpstr>
      <vt:lpstr>等值与非等值连接查询（续）</vt:lpstr>
      <vt:lpstr>连接操作的执行过程</vt:lpstr>
      <vt:lpstr>等值与非等值连接查询（续）</vt:lpstr>
      <vt:lpstr>等值与非等值连接查询（续）</vt:lpstr>
      <vt:lpstr>等值与非等值连接查询（续）</vt:lpstr>
      <vt:lpstr>连接查询（续）</vt:lpstr>
      <vt:lpstr>2. 自身连接 </vt:lpstr>
      <vt:lpstr>2. 自身连接 </vt:lpstr>
      <vt:lpstr>自身连接（续）</vt:lpstr>
      <vt:lpstr>自身连接（续）</vt:lpstr>
      <vt:lpstr>自身连接（续）</vt:lpstr>
      <vt:lpstr>分析：下面语句目的是什么</vt:lpstr>
      <vt:lpstr>连接查询（续）</vt:lpstr>
      <vt:lpstr>3. 外连接</vt:lpstr>
      <vt:lpstr>外连接（续）</vt:lpstr>
      <vt:lpstr>外连接（续）</vt:lpstr>
      <vt:lpstr>连接查询（续）</vt:lpstr>
      <vt:lpstr>4. 多表连接</vt:lpstr>
      <vt:lpstr>PowerPoint 演示文稿</vt:lpstr>
      <vt:lpstr>PowerPoint 演示文稿</vt:lpstr>
      <vt:lpstr>PowerPoint 演示文稿</vt:lpstr>
      <vt:lpstr>PowerPoint 演示文稿</vt:lpstr>
      <vt:lpstr>PowerPoint 演示文稿</vt:lpstr>
      <vt:lpstr>3.3  数据查询 </vt:lpstr>
      <vt:lpstr>嵌套查询（续）</vt:lpstr>
      <vt:lpstr>嵌套查询（续）</vt:lpstr>
      <vt:lpstr>嵌套查询求解方法</vt:lpstr>
      <vt:lpstr>嵌套查询求解方法（续）</vt:lpstr>
      <vt:lpstr>3.3.3  嵌套查询</vt:lpstr>
      <vt:lpstr>1. 带有IN谓词的子查询</vt:lpstr>
      <vt:lpstr>带有IN谓词的子查询（续）</vt:lpstr>
      <vt:lpstr>带有IN谓词的子查询（续）</vt:lpstr>
      <vt:lpstr>带有IN谓词的子查询（续）</vt:lpstr>
      <vt:lpstr>带有IN谓词的子查询（续）</vt:lpstr>
      <vt:lpstr>带有IN谓词的子查询（续）</vt:lpstr>
      <vt:lpstr>PowerPoint 演示文稿</vt:lpstr>
      <vt:lpstr>3.3.3  嵌套查询</vt:lpstr>
      <vt:lpstr>2. 带有比较运算符的子查询</vt:lpstr>
      <vt:lpstr>带有比较运算符的子查询（续）</vt:lpstr>
      <vt:lpstr>带有比较运算符的子查询（续）</vt:lpstr>
      <vt:lpstr>带有比较运算符的子查询（续）</vt:lpstr>
      <vt:lpstr>带有比较运算符的子查询（续）</vt:lpstr>
      <vt:lpstr>PowerPoint 演示文稿</vt:lpstr>
      <vt:lpstr>3.3.3  嵌套查询</vt:lpstr>
      <vt:lpstr>带有ANY（SOME）或ALL谓词的子查询 </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分析下面语句的作用</vt:lpstr>
      <vt:lpstr>PowerPoint 演示文稿</vt:lpstr>
      <vt:lpstr>PowerPoint 演示文稿</vt:lpstr>
      <vt:lpstr>3.3.3  嵌套查询</vt:lpstr>
      <vt:lpstr>带有EXISTS谓词的子查询</vt:lpstr>
      <vt:lpstr>PowerPoint 演示文稿</vt:lpstr>
      <vt:lpstr>带有EXISTS谓词的子查询（续）</vt:lpstr>
      <vt:lpstr>带有EXISTS谓词的子查询（续）</vt:lpstr>
      <vt:lpstr>PowerPoint 演示文稿</vt:lpstr>
      <vt:lpstr>PowerPoint 演示文稿</vt:lpstr>
      <vt:lpstr>PowerPoint 演示文稿</vt:lpstr>
      <vt:lpstr>PowerPoint 演示文稿</vt:lpstr>
      <vt:lpstr>错误分析</vt:lpstr>
      <vt:lpstr>课后作业（节后提交）</vt:lpstr>
      <vt:lpstr>带有EXISTS谓词的子查询（续）</vt:lpstr>
      <vt:lpstr>带有EXISTS谓词的子查询（续）</vt:lpstr>
      <vt:lpstr>带有EXISTS谓词的子查询（续）</vt:lpstr>
      <vt:lpstr>带有EXISTS谓词的子查询（续）</vt:lpstr>
      <vt:lpstr>PowerPoint 演示文稿</vt:lpstr>
      <vt:lpstr>带有EXISTS谓词的子查询（续）</vt:lpstr>
      <vt:lpstr>带有EXISTS谓词的子查询（续）</vt:lpstr>
      <vt:lpstr>带有EXISTS谓词的子查询（续）</vt:lpstr>
      <vt:lpstr>带有EXISTS谓词的子查询（续） </vt:lpstr>
      <vt:lpstr>3.3  数据查询 </vt:lpstr>
      <vt:lpstr>3.3.4 集合查询</vt:lpstr>
      <vt:lpstr>集合查询（续）</vt:lpstr>
      <vt:lpstr>集合查询（续）</vt:lpstr>
      <vt:lpstr>集合查询（续）</vt:lpstr>
      <vt:lpstr>集合查询（续）</vt:lpstr>
      <vt:lpstr>集合查询（续）</vt:lpstr>
      <vt:lpstr>集合查询（续）</vt:lpstr>
      <vt:lpstr>集合查询（续）</vt:lpstr>
      <vt:lpstr>集合查询（续）</vt:lpstr>
      <vt:lpstr>3.3  数据查询 </vt:lpstr>
      <vt:lpstr>3.3.5 基于派生表的查询</vt:lpstr>
      <vt:lpstr>基于派生表的查询（续）</vt:lpstr>
      <vt:lpstr>PowerPoint 演示文稿</vt:lpstr>
      <vt:lpstr>二维码3.3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guixiang</dc:creator>
  <cp:lastModifiedBy>陈晋川</cp:lastModifiedBy>
  <cp:revision>402</cp:revision>
  <dcterms:created xsi:type="dcterms:W3CDTF">2014-10-23T04:37:00Z</dcterms:created>
  <dcterms:modified xsi:type="dcterms:W3CDTF">2025-09-30T01:04:54Z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B1725A0B5C424D818701C386673F1399_12</vt:lpwstr>
  </property>
</Properties>
</file>