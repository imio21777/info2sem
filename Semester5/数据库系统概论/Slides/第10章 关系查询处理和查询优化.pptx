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30"/>
  </p:handoutMasterIdLst>
  <p:sldIdLst>
    <p:sldId id="738" r:id="rId3"/>
    <p:sldId id="693" r:id="rId5"/>
    <p:sldId id="692" r:id="rId6"/>
    <p:sldId id="691" r:id="rId7"/>
    <p:sldId id="690" r:id="rId8"/>
    <p:sldId id="689" r:id="rId9"/>
    <p:sldId id="688" r:id="rId10"/>
    <p:sldId id="687" r:id="rId11"/>
    <p:sldId id="686" r:id="rId12"/>
    <p:sldId id="685" r:id="rId13"/>
    <p:sldId id="684" r:id="rId14"/>
    <p:sldId id="694" r:id="rId15"/>
    <p:sldId id="682" r:id="rId16"/>
    <p:sldId id="681" r:id="rId17"/>
    <p:sldId id="725" r:id="rId18"/>
    <p:sldId id="680" r:id="rId19"/>
    <p:sldId id="679" r:id="rId20"/>
    <p:sldId id="678" r:id="rId21"/>
    <p:sldId id="677" r:id="rId22"/>
    <p:sldId id="695" r:id="rId23"/>
    <p:sldId id="845" r:id="rId24"/>
    <p:sldId id="966" r:id="rId25"/>
    <p:sldId id="967" r:id="rId26"/>
    <p:sldId id="676" r:id="rId27"/>
    <p:sldId id="675" r:id="rId28"/>
    <p:sldId id="674" r:id="rId29"/>
    <p:sldId id="673" r:id="rId30"/>
    <p:sldId id="672" r:id="rId31"/>
    <p:sldId id="671" r:id="rId32"/>
    <p:sldId id="670" r:id="rId33"/>
    <p:sldId id="669" r:id="rId34"/>
    <p:sldId id="668" r:id="rId35"/>
    <p:sldId id="965" r:id="rId36"/>
    <p:sldId id="956" r:id="rId37"/>
    <p:sldId id="957" r:id="rId38"/>
    <p:sldId id="958" r:id="rId39"/>
    <p:sldId id="959" r:id="rId40"/>
    <p:sldId id="960" r:id="rId41"/>
    <p:sldId id="961" r:id="rId42"/>
    <p:sldId id="962" r:id="rId43"/>
    <p:sldId id="719" r:id="rId44"/>
    <p:sldId id="666" r:id="rId45"/>
    <p:sldId id="665" r:id="rId46"/>
    <p:sldId id="664" r:id="rId47"/>
    <p:sldId id="732" r:id="rId48"/>
    <p:sldId id="663" r:id="rId49"/>
    <p:sldId id="662" r:id="rId50"/>
    <p:sldId id="661" r:id="rId51"/>
    <p:sldId id="660" r:id="rId52"/>
    <p:sldId id="697" r:id="rId53"/>
    <p:sldId id="658" r:id="rId54"/>
    <p:sldId id="657" r:id="rId55"/>
    <p:sldId id="656" r:id="rId56"/>
    <p:sldId id="655" r:id="rId57"/>
    <p:sldId id="654" r:id="rId58"/>
    <p:sldId id="653" r:id="rId59"/>
    <p:sldId id="652" r:id="rId60"/>
    <p:sldId id="651" r:id="rId61"/>
    <p:sldId id="733" r:id="rId62"/>
    <p:sldId id="650" r:id="rId63"/>
    <p:sldId id="734" r:id="rId64"/>
    <p:sldId id="649" r:id="rId65"/>
    <p:sldId id="648" r:id="rId66"/>
    <p:sldId id="647" r:id="rId67"/>
    <p:sldId id="720" r:id="rId68"/>
    <p:sldId id="645" r:id="rId69"/>
    <p:sldId id="644" r:id="rId70"/>
    <p:sldId id="730" r:id="rId71"/>
    <p:sldId id="700" r:id="rId72"/>
    <p:sldId id="701" r:id="rId73"/>
    <p:sldId id="702" r:id="rId74"/>
    <p:sldId id="703" r:id="rId75"/>
    <p:sldId id="704" r:id="rId76"/>
    <p:sldId id="705" r:id="rId77"/>
    <p:sldId id="636" r:id="rId78"/>
    <p:sldId id="706" r:id="rId79"/>
    <p:sldId id="635" r:id="rId80"/>
    <p:sldId id="707" r:id="rId81"/>
    <p:sldId id="726" r:id="rId82"/>
    <p:sldId id="632" r:id="rId83"/>
    <p:sldId id="631" r:id="rId84"/>
    <p:sldId id="630" r:id="rId85"/>
    <p:sldId id="629" r:id="rId86"/>
    <p:sldId id="933" r:id="rId87"/>
    <p:sldId id="934" r:id="rId88"/>
    <p:sldId id="935" r:id="rId89"/>
    <p:sldId id="721" r:id="rId90"/>
    <p:sldId id="627" r:id="rId91"/>
    <p:sldId id="626" r:id="rId92"/>
    <p:sldId id="735" r:id="rId93"/>
    <p:sldId id="625" r:id="rId94"/>
    <p:sldId id="624" r:id="rId95"/>
    <p:sldId id="623" r:id="rId96"/>
    <p:sldId id="622" r:id="rId97"/>
    <p:sldId id="621" r:id="rId98"/>
    <p:sldId id="620" r:id="rId99"/>
    <p:sldId id="619" r:id="rId100"/>
    <p:sldId id="618" r:id="rId101"/>
    <p:sldId id="710" r:id="rId102"/>
    <p:sldId id="616" r:id="rId103"/>
    <p:sldId id="615" r:id="rId104"/>
    <p:sldId id="614" r:id="rId105"/>
    <p:sldId id="613" r:id="rId106"/>
    <p:sldId id="612" r:id="rId107"/>
    <p:sldId id="611" r:id="rId108"/>
    <p:sldId id="610" r:id="rId109"/>
    <p:sldId id="736" r:id="rId110"/>
    <p:sldId id="609" r:id="rId111"/>
    <p:sldId id="608" r:id="rId112"/>
    <p:sldId id="607" r:id="rId113"/>
    <p:sldId id="963" r:id="rId114"/>
    <p:sldId id="964" r:id="rId115"/>
    <p:sldId id="945" r:id="rId116"/>
    <p:sldId id="948" r:id="rId117"/>
    <p:sldId id="955" r:id="rId118"/>
    <p:sldId id="722" r:id="rId119"/>
    <p:sldId id="714" r:id="rId120"/>
    <p:sldId id="715" r:id="rId121"/>
    <p:sldId id="716" r:id="rId122"/>
    <p:sldId id="717" r:id="rId123"/>
    <p:sldId id="723" r:id="rId124"/>
    <p:sldId id="605" r:id="rId125"/>
    <p:sldId id="727" r:id="rId126"/>
    <p:sldId id="728" r:id="rId127"/>
    <p:sldId id="729" r:id="rId128"/>
    <p:sldId id="712" r:id="rId129"/>
  </p:sldIdLst>
  <p:sldSz cx="12192000" cy="6858000"/>
  <p:notesSz cx="6858000" cy="9144000"/>
  <p:custDataLst>
    <p:tags r:id="rId134"/>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2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2FDB2607-1784-4EEB-B798-7EB5836EED8A}">
        <p14:showMediaCtrls xmlns:p14="http://schemas.microsoft.com/office/powerpoint/2010/main" val="1"/>
      </p:ext>
    </p:extLst>
  </p:showPr>
  <p:clrMru>
    <a:srgbClr val="FF9999"/>
    <a:srgbClr val="FFCCCC"/>
    <a:srgbClr val="FF66FF"/>
    <a:srgbClr val="0066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Objects="1" showGuides="1">
      <p:cViewPr varScale="1">
        <p:scale>
          <a:sx n="69" d="100"/>
          <a:sy n="69" d="100"/>
        </p:scale>
        <p:origin x="756" y="66"/>
      </p:cViewPr>
      <p:guideLst>
        <p:guide orient="horz" pos="2122"/>
        <p:guide pos="3840"/>
      </p:guideLst>
    </p:cSldViewPr>
  </p:slideViewPr>
  <p:notesTextViewPr>
    <p:cViewPr>
      <p:scale>
        <a:sx n="3" d="2"/>
        <a:sy n="3" d="2"/>
      </p:scale>
      <p:origin x="0" y="0"/>
    </p:cViewPr>
  </p:notesTextViewPr>
  <p:sorterViewPr showFormatting="0">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4" Type="http://schemas.openxmlformats.org/officeDocument/2006/relationships/tags" Target="tags/tag6.xml"/><Relationship Id="rId133" Type="http://schemas.openxmlformats.org/officeDocument/2006/relationships/tableStyles" Target="tableStyles.xml"/><Relationship Id="rId132" Type="http://schemas.openxmlformats.org/officeDocument/2006/relationships/viewProps" Target="viewProps.xml"/><Relationship Id="rId131" Type="http://schemas.openxmlformats.org/officeDocument/2006/relationships/presProps" Target="presProps.xml"/><Relationship Id="rId130" Type="http://schemas.openxmlformats.org/officeDocument/2006/relationships/handoutMaster" Target="handoutMasters/handoutMaster1.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21.wmf"/><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17.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2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Grp="1" noChangeArrowheads="1"/>
          </p:cNvSpPr>
          <p:nvPr>
            <p:ph type="hdr" sz="quarter"/>
          </p:nvPr>
        </p:nvSpPr>
        <p:spPr bwMode="auto">
          <a:xfrm>
            <a:off x="0" y="0"/>
            <a:ext cx="2970213" cy="457200"/>
          </a:xfrm>
          <a:prstGeom prst="rect">
            <a:avLst/>
          </a:prstGeom>
          <a:noFill/>
          <a:ln w="9525">
            <a:noFill/>
            <a:miter lim="800000"/>
          </a:ln>
          <a:effectLst/>
        </p:spPr>
        <p:txBody>
          <a:bodyPr vert="horz" wrap="square" lIns="91440" tIns="45720" rIns="91440" bIns="45720" numCol="1" anchor="t" anchorCtr="0" compatLnSpc="1"/>
          <a:lstStyle>
            <a:lvl1pPr eaLnBrk="0" hangingPunct="0">
              <a:buFont typeface="Arial" panose="020B0604020202020204" pitchFamily="34" charset="0"/>
              <a:buNone/>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83025"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buFont typeface="Arial" panose="020B0604020202020204" pitchFamily="34" charset="0"/>
              <a:buNone/>
              <a:defRPr sz="1200">
                <a:latin typeface="Arial" panose="020B0604020202020204" pitchFamily="34" charset="0"/>
              </a:defRPr>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D84C2D5F-6A38-4157-9F0B-8750930A3BAB}"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Grp="1"/>
          </p:cNvSpPr>
          <p:nvPr>
            <p:ph type="sldImg" idx="2"/>
          </p:nvPr>
        </p:nvSpPr>
        <p:spPr>
          <a:xfrm>
            <a:off x="381000" y="685800"/>
            <a:ext cx="6092825" cy="3427413"/>
          </a:xfrm>
          <a:prstGeom prst="rect">
            <a:avLst/>
          </a:prstGeom>
          <a:noFill/>
          <a:ln w="9525">
            <a:noFill/>
          </a:ln>
        </p:spPr>
      </p:sp>
      <p:sp>
        <p:nvSpPr>
          <p:cNvPr id="2053" name="Rectangle 5"/>
          <p:cNvSpPr>
            <a:spLocks noGrp="1" noChangeArrowheads="1"/>
          </p:cNvSpPr>
          <p:nvPr>
            <p:ph type="body" sz="quarter" idx="3"/>
          </p:nvPr>
        </p:nvSpPr>
        <p:spPr bwMode="auto">
          <a:xfrm>
            <a:off x="684213" y="4343400"/>
            <a:ext cx="5486400" cy="4113213"/>
          </a:xfrm>
          <a:prstGeom prst="rect">
            <a:avLst/>
          </a:prstGeom>
          <a:noFill/>
          <a:ln w="9525">
            <a:noFill/>
            <a:miter lim="800000"/>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8683625"/>
            <a:ext cx="2970213" cy="458788"/>
          </a:xfrm>
          <a:prstGeom prst="rect">
            <a:avLst/>
          </a:prstGeom>
          <a:noFill/>
          <a:ln w="9525">
            <a:noFill/>
            <a:miter lim="800000"/>
          </a:ln>
          <a:effectLst/>
        </p:spPr>
        <p:txBody>
          <a:bodyPr vert="horz" wrap="square" lIns="91440" tIns="45720" rIns="91440" bIns="45720" numCol="1" anchor="b" anchorCtr="0" compatLnSpc="1"/>
          <a:lstStyle>
            <a:lvl1pPr eaLnBrk="0" hangingPunct="0">
              <a:buFont typeface="Arial" panose="020B0604020202020204" pitchFamily="34" charset="0"/>
              <a:buNone/>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83025" y="8683625"/>
            <a:ext cx="2971800" cy="458788"/>
          </a:xfrm>
          <a:prstGeom prst="rect">
            <a:avLst/>
          </a:prstGeom>
          <a:noFill/>
          <a:ln w="9525">
            <a:noFill/>
            <a:miter lim="800000"/>
          </a:ln>
          <a:effectLst/>
        </p:spPr>
        <p:txBody>
          <a:bodyPr vert="horz" wrap="square" lIns="91440" tIns="45720" rIns="91440" bIns="45720" numCol="1" anchor="b"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B35172FD-8647-4A53-AB7B-6978BB6DA5F3}"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幻灯片图像占位符 1"/>
          <p:cNvSpPr>
            <a:spLocks noGrp="1" noRot="1" noChangeAspect="1" noTextEdit="1"/>
          </p:cNvSpPr>
          <p:nvPr>
            <p:ph type="sldImg"/>
          </p:nvPr>
        </p:nvSpPr>
        <p:spPr/>
      </p:sp>
      <p:sp>
        <p:nvSpPr>
          <p:cNvPr id="4099" name="备注占位符 2"/>
          <p:cNvSpPr>
            <a:spLocks noGrp="1"/>
          </p:cNvSpPr>
          <p:nvPr>
            <p:ph type="body" idx="1"/>
          </p:nvPr>
        </p:nvSpPr>
        <p:spPr/>
        <p:txBody>
          <a:bodyPr wrap="square" lIns="91440" tIns="45720" rIns="91440" bIns="45720" anchor="ctr" anchorCtr="0"/>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先找出生日在</a:t>
            </a:r>
            <a:r>
              <a:rPr lang="en-US" altLang="zh-CN"/>
              <a:t>08</a:t>
            </a:r>
            <a:r>
              <a:rPr lang="zh-CN" altLang="en-US"/>
              <a:t>年之后的，因为这样的学生很少。再看这些学生里面，哪些是</a:t>
            </a:r>
            <a:r>
              <a:rPr lang="zh-CN" altLang="en-US"/>
              <a:t>男生。</a:t>
            </a:r>
            <a:endParaRPr lang="zh-CN" altLang="en-US"/>
          </a:p>
          <a:p>
            <a:endParaRPr lang="zh-CN" altLang="en-US"/>
          </a:p>
          <a:p>
            <a:r>
              <a:rPr lang="zh-CN" altLang="en-US"/>
              <a:t>需要数据字典提供支持，判断每个选择条件的选择率。再估算两种方法的</a:t>
            </a:r>
            <a:r>
              <a:rPr lang="zh-CN" altLang="en-US"/>
              <a:t>代价。</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幻灯片图像占位符 1"/>
          <p:cNvSpPr>
            <a:spLocks noGrp="1" noRot="1" noChangeAspect="1" noTextEdit="1"/>
          </p:cNvSpPr>
          <p:nvPr>
            <p:ph type="sldImg"/>
          </p:nvPr>
        </p:nvSpPr>
        <p:spPr>
          <a:xfrm>
            <a:off x="1143000" y="685800"/>
            <a:ext cx="4568825" cy="3427413"/>
          </a:xfrm>
        </p:spPr>
      </p:sp>
      <p:sp>
        <p:nvSpPr>
          <p:cNvPr id="15363" name="备注占位符 2"/>
          <p:cNvSpPr>
            <a:spLocks noGrp="1"/>
          </p:cNvSpPr>
          <p:nvPr>
            <p:ph type="body" idx="1"/>
          </p:nvPr>
        </p:nvSpPr>
        <p:spPr/>
        <p:txBody>
          <a:bodyPr wrap="square" lIns="91440" tIns="45720" rIns="91440" bIns="45720" anchor="ctr" anchorCtr="0"/>
          <a:p>
            <a:pPr lvl="0"/>
            <a:r>
              <a:rPr lang="zh-CN" altLang="en-US" dirty="0"/>
              <a:t>实例</a:t>
            </a:r>
            <a:r>
              <a:rPr lang="en-US" altLang="zh-CN" dirty="0"/>
              <a:t>,</a:t>
            </a:r>
            <a:endParaRPr lang="en-US" altLang="zh-CN" dirty="0"/>
          </a:p>
          <a:p>
            <a:pPr lvl="0" eaLnBrk="1" hangingPunct="1">
              <a:spcBef>
                <a:spcPct val="0"/>
              </a:spcBef>
            </a:pPr>
            <a:r>
              <a:rPr lang="zh-CN" altLang="en-US" dirty="0"/>
              <a:t>关系</a:t>
            </a:r>
            <a:r>
              <a:rPr lang="en-US" altLang="zh-CN" i="1" dirty="0"/>
              <a:t>R</a:t>
            </a:r>
            <a:r>
              <a:rPr lang="zh-CN" altLang="en-US" dirty="0"/>
              <a:t>和关系</a:t>
            </a:r>
            <a:r>
              <a:rPr lang="en-US" altLang="zh-CN" i="1" dirty="0"/>
              <a:t>S</a:t>
            </a:r>
            <a:r>
              <a:rPr lang="en-US" altLang="zh-CN" dirty="0"/>
              <a:t> </a:t>
            </a:r>
            <a:r>
              <a:rPr lang="zh-CN" altLang="en-US" dirty="0"/>
              <a:t>如图所示</a:t>
            </a:r>
            <a:endParaRPr lang="en-US" altLang="zh-CN" dirty="0"/>
          </a:p>
        </p:txBody>
      </p:sp>
      <p:sp>
        <p:nvSpPr>
          <p:cNvPr id="15364" name="灯片编号占位符 3"/>
          <p:cNvSpPr txBox="1">
            <a:spLocks noGrp="1"/>
          </p:cNvSpPr>
          <p:nvPr>
            <p:ph type="sldNum" sz="quarter"/>
          </p:nvPr>
        </p:nvSpPr>
        <p:spPr>
          <a:xfrm>
            <a:off x="3883025" y="8683625"/>
            <a:ext cx="2971800" cy="458788"/>
          </a:xfrm>
          <a:prstGeom prst="rect">
            <a:avLst/>
          </a:prstGeom>
          <a:noFill/>
          <a:ln w="9525">
            <a:noFill/>
          </a:ln>
        </p:spPr>
        <p:txBody>
          <a:bodyPr anchor="b" anchorCtr="0"/>
          <a:p>
            <a:pPr lvl="0" algn="r">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幻灯片图像占位符 1"/>
          <p:cNvSpPr>
            <a:spLocks noGrp="1" noRot="1" noChangeAspect="1" noTextEdit="1"/>
          </p:cNvSpPr>
          <p:nvPr>
            <p:ph type="sldImg"/>
          </p:nvPr>
        </p:nvSpPr>
        <p:spPr>
          <a:xfrm>
            <a:off x="1143000" y="685800"/>
            <a:ext cx="4568825" cy="3427413"/>
          </a:xfrm>
        </p:spPr>
      </p:sp>
      <p:sp>
        <p:nvSpPr>
          <p:cNvPr id="3" name="备注占位符 2"/>
          <p:cNvSpPr>
            <a:spLocks noGrp="1"/>
          </p:cNvSpPr>
          <p:nvPr>
            <p:ph type="body" idx="1"/>
          </p:nvPr>
        </p:nvSpPr>
        <p:spPr/>
        <p:txBody>
          <a:bodyPr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利用嵌套循环连接算法对</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表和</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S</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表在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B</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属性上做等值连接</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mn-lt"/>
                <a:ea typeface="+mn-ea"/>
                <a:cs typeface="+mn-cs"/>
              </a:rPr>
              <a:t>0.</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假设内存足够大</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mn-lt"/>
                <a:ea typeface="+mn-ea"/>
                <a:cs typeface="+mn-cs"/>
              </a:rPr>
              <a:t>1.</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首先在表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中找到第一个元组，然后从头开始扫描表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S</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，逐一查找满足连接的元组，找到后就将表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中的第一个元组与该元组拼接起来，形成结果表中一个元组。</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mn-lt"/>
                <a:ea typeface="+mn-ea"/>
                <a:cs typeface="+mn-cs"/>
              </a:rPr>
              <a:t>2.</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S</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全部查找完后，再找表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中第二个元组，然后再从头开始扫描表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S</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，逐一查找满足连接条件的元组，找到后就将表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中的第二个元组与该元组拼接起来，形成结果表中一个元组。</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mn-lt"/>
                <a:ea typeface="+mn-ea"/>
                <a:cs typeface="+mn-cs"/>
              </a:rPr>
              <a:t>3.</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重复上述操作，直到表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中的全部元组都处理完毕。</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mn-lt"/>
                <a:ea typeface="+mn-ea"/>
                <a:cs typeface="+mn-cs"/>
              </a:rPr>
              <a:t>4.</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可以看出嵌套循环，表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扫描一次，表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S</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扫描的次数为</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的记录数。</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17412" name="灯片编号占位符 3"/>
          <p:cNvSpPr txBox="1">
            <a:spLocks noGrp="1"/>
          </p:cNvSpPr>
          <p:nvPr>
            <p:ph type="sldNum" sz="quarter"/>
          </p:nvPr>
        </p:nvSpPr>
        <p:spPr>
          <a:xfrm>
            <a:off x="3883025" y="8683625"/>
            <a:ext cx="2971800" cy="458788"/>
          </a:xfrm>
          <a:prstGeom prst="rect">
            <a:avLst/>
          </a:prstGeom>
          <a:noFill/>
          <a:ln w="9525">
            <a:noFill/>
          </a:ln>
        </p:spPr>
        <p:txBody>
          <a:bodyPr anchor="b" anchorCtr="0"/>
          <a:p>
            <a:pPr lvl="0" algn="r">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幻灯片图像占位符 1"/>
          <p:cNvSpPr>
            <a:spLocks noGrp="1" noRot="1" noChangeAspect="1" noTextEdit="1"/>
          </p:cNvSpPr>
          <p:nvPr>
            <p:ph type="sldImg"/>
          </p:nvPr>
        </p:nvSpPr>
        <p:spPr>
          <a:xfrm>
            <a:off x="1143000" y="685800"/>
            <a:ext cx="4568825" cy="3427413"/>
          </a:xfrm>
        </p:spPr>
      </p:sp>
      <p:sp>
        <p:nvSpPr>
          <p:cNvPr id="20483" name="备注占位符 2"/>
          <p:cNvSpPr>
            <a:spLocks noGrp="1"/>
          </p:cNvSpPr>
          <p:nvPr>
            <p:ph type="body" idx="1"/>
          </p:nvPr>
        </p:nvSpPr>
        <p:spPr/>
        <p:txBody>
          <a:bodyPr wrap="square" lIns="91440" tIns="45720" rIns="91440" bIns="45720" anchor="ctr" anchorCtr="0"/>
          <a:p>
            <a:pPr lvl="0"/>
            <a:r>
              <a:rPr lang="zh-CN" altLang="en-US" dirty="0"/>
              <a:t>实例</a:t>
            </a:r>
            <a:r>
              <a:rPr lang="en-US" altLang="zh-CN" dirty="0"/>
              <a:t>,</a:t>
            </a:r>
            <a:endParaRPr lang="en-US" altLang="zh-CN" dirty="0"/>
          </a:p>
          <a:p>
            <a:pPr lvl="0" eaLnBrk="1" hangingPunct="1">
              <a:spcBef>
                <a:spcPct val="0"/>
              </a:spcBef>
            </a:pPr>
            <a:r>
              <a:rPr lang="zh-CN" altLang="en-US" dirty="0"/>
              <a:t>关系</a:t>
            </a:r>
            <a:r>
              <a:rPr lang="en-US" altLang="zh-CN" i="1" dirty="0"/>
              <a:t>R</a:t>
            </a:r>
            <a:r>
              <a:rPr lang="zh-CN" altLang="en-US" dirty="0"/>
              <a:t>和关系</a:t>
            </a:r>
            <a:r>
              <a:rPr lang="en-US" altLang="zh-CN" i="1" dirty="0"/>
              <a:t>S</a:t>
            </a:r>
            <a:r>
              <a:rPr lang="en-US" altLang="zh-CN" dirty="0"/>
              <a:t> </a:t>
            </a:r>
            <a:r>
              <a:rPr lang="zh-CN" altLang="en-US" dirty="0"/>
              <a:t>如图所示</a:t>
            </a:r>
            <a:endParaRPr lang="en-US" altLang="zh-CN" dirty="0"/>
          </a:p>
          <a:p>
            <a:pPr lvl="0" eaLnBrk="1" hangingPunct="1">
              <a:spcBef>
                <a:spcPct val="0"/>
              </a:spcBef>
            </a:pPr>
            <a:r>
              <a:rPr lang="en-US" altLang="zh-CN" dirty="0"/>
              <a:t>S</a:t>
            </a:r>
            <a:r>
              <a:rPr lang="zh-CN" altLang="en-US" dirty="0"/>
              <a:t>表的元组很多</a:t>
            </a:r>
            <a:endParaRPr lang="en-US" altLang="zh-CN" dirty="0"/>
          </a:p>
          <a:p>
            <a:pPr lvl="0" eaLnBrk="1" hangingPunct="1">
              <a:spcBef>
                <a:spcPct val="0"/>
              </a:spcBef>
            </a:pPr>
            <a:endParaRPr lang="en-US" altLang="zh-CN" dirty="0"/>
          </a:p>
        </p:txBody>
      </p:sp>
      <p:sp>
        <p:nvSpPr>
          <p:cNvPr id="20484" name="灯片编号占位符 3"/>
          <p:cNvSpPr txBox="1">
            <a:spLocks noGrp="1"/>
          </p:cNvSpPr>
          <p:nvPr>
            <p:ph type="sldNum" sz="quarter"/>
          </p:nvPr>
        </p:nvSpPr>
        <p:spPr>
          <a:xfrm>
            <a:off x="3883025" y="8683625"/>
            <a:ext cx="2971800" cy="458788"/>
          </a:xfrm>
          <a:prstGeom prst="rect">
            <a:avLst/>
          </a:prstGeom>
          <a:noFill/>
          <a:ln w="9525">
            <a:noFill/>
          </a:ln>
        </p:spPr>
        <p:txBody>
          <a:bodyPr anchor="b" anchorCtr="0"/>
          <a:p>
            <a:pPr lvl="0" algn="r">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幻灯片图像占位符 1"/>
          <p:cNvSpPr>
            <a:spLocks noGrp="1" noRot="1" noChangeAspect="1" noTextEdit="1"/>
          </p:cNvSpPr>
          <p:nvPr>
            <p:ph type="sldImg"/>
          </p:nvPr>
        </p:nvSpPr>
        <p:spPr>
          <a:xfrm>
            <a:off x="1143000" y="685800"/>
            <a:ext cx="4568825" cy="3427413"/>
          </a:xfrm>
        </p:spPr>
      </p:sp>
      <p:sp>
        <p:nvSpPr>
          <p:cNvPr id="22531" name="备注占位符 2"/>
          <p:cNvSpPr>
            <a:spLocks noGrp="1"/>
          </p:cNvSpPr>
          <p:nvPr>
            <p:ph type="body" idx="1"/>
          </p:nvPr>
        </p:nvSpPr>
        <p:spPr/>
        <p:txBody>
          <a:bodyPr wrap="square" lIns="91440" tIns="45720" rIns="91440" bIns="45720" anchor="ctr" anchorCtr="0"/>
          <a:p>
            <a:pPr marL="12700" lvl="0" indent="0" eaLnBrk="1" hangingPunct="1">
              <a:spcBef>
                <a:spcPct val="0"/>
              </a:spcBef>
            </a:pPr>
            <a:r>
              <a:rPr lang="zh-CN" altLang="en-US" dirty="0"/>
              <a:t>利用排序－合并连接方法对</a:t>
            </a:r>
            <a:r>
              <a:rPr lang="en-US" altLang="zh-CN" dirty="0"/>
              <a:t>R</a:t>
            </a:r>
            <a:r>
              <a:rPr lang="zh-CN" altLang="en-US" dirty="0"/>
              <a:t>表和</a:t>
            </a:r>
            <a:r>
              <a:rPr lang="en-US" altLang="zh-CN" dirty="0"/>
              <a:t>S</a:t>
            </a:r>
            <a:r>
              <a:rPr lang="zh-CN" altLang="en-US" dirty="0"/>
              <a:t>表在</a:t>
            </a:r>
            <a:r>
              <a:rPr lang="en-US" altLang="zh-CN" dirty="0"/>
              <a:t>B</a:t>
            </a:r>
            <a:r>
              <a:rPr lang="zh-CN" altLang="en-US" dirty="0"/>
              <a:t>属性上做等值连接</a:t>
            </a:r>
            <a:endParaRPr lang="en-US" altLang="zh-CN" dirty="0"/>
          </a:p>
          <a:p>
            <a:pPr marL="12700" lvl="0" indent="0" eaLnBrk="1" hangingPunct="1">
              <a:spcBef>
                <a:spcPct val="0"/>
              </a:spcBef>
            </a:pPr>
            <a:r>
              <a:rPr lang="en-US" altLang="zh-CN" dirty="0">
                <a:latin typeface="宋体" panose="02010600030101010101" pitchFamily="2" charset="-122"/>
              </a:rPr>
              <a:t>1.</a:t>
            </a:r>
            <a:r>
              <a:rPr lang="zh-CN" altLang="en-US" dirty="0">
                <a:latin typeface="宋体" panose="02010600030101010101" pitchFamily="2" charset="-122"/>
              </a:rPr>
              <a:t>如果连接的表没有排好序，先对</a:t>
            </a:r>
            <a:r>
              <a:rPr lang="en-US" altLang="zh-CN" dirty="0">
                <a:latin typeface="宋体" panose="02010600030101010101" pitchFamily="2" charset="-122"/>
              </a:rPr>
              <a:t>R</a:t>
            </a:r>
            <a:r>
              <a:rPr lang="zh-CN" altLang="en-US" dirty="0">
                <a:latin typeface="宋体" panose="02010600030101010101" pitchFamily="2" charset="-122"/>
              </a:rPr>
              <a:t>表和</a:t>
            </a:r>
            <a:r>
              <a:rPr lang="en-US" altLang="zh-CN" dirty="0">
                <a:latin typeface="宋体" panose="02010600030101010101" pitchFamily="2" charset="-122"/>
              </a:rPr>
              <a:t>S</a:t>
            </a:r>
            <a:r>
              <a:rPr lang="zh-CN" altLang="en-US" dirty="0">
                <a:latin typeface="宋体" panose="02010600030101010101" pitchFamily="2" charset="-122"/>
              </a:rPr>
              <a:t>表按连接属性</a:t>
            </a:r>
            <a:r>
              <a:rPr lang="en-US" altLang="zh-CN" dirty="0">
                <a:latin typeface="宋体" panose="02010600030101010101" pitchFamily="2" charset="-122"/>
              </a:rPr>
              <a:t>B</a:t>
            </a:r>
            <a:r>
              <a:rPr lang="zh-CN" altLang="en-US" dirty="0">
                <a:latin typeface="宋体" panose="02010600030101010101" pitchFamily="2" charset="-122"/>
              </a:rPr>
              <a:t>排序，假设此例中两个表都已经按照属性</a:t>
            </a:r>
            <a:r>
              <a:rPr lang="en-US" altLang="zh-CN" dirty="0">
                <a:latin typeface="宋体" panose="02010600030101010101" pitchFamily="2" charset="-122"/>
              </a:rPr>
              <a:t>B</a:t>
            </a:r>
            <a:r>
              <a:rPr lang="zh-CN" altLang="en-US" dirty="0">
                <a:latin typeface="宋体" panose="02010600030101010101" pitchFamily="2" charset="-122"/>
              </a:rPr>
              <a:t>排好序，大小关系为</a:t>
            </a:r>
            <a:r>
              <a:rPr lang="en-US" altLang="zh-CN" dirty="0">
                <a:solidFill>
                  <a:srgbClr val="FF0000"/>
                </a:solidFill>
              </a:rPr>
              <a:t>b1&lt;b2&lt;b3&lt;b4&lt;b5</a:t>
            </a:r>
            <a:r>
              <a:rPr lang="zh-CN" altLang="en-US" dirty="0">
                <a:latin typeface="宋体" panose="02010600030101010101" pitchFamily="2" charset="-122"/>
              </a:rPr>
              <a:t>。</a:t>
            </a:r>
            <a:endParaRPr lang="zh-CN" altLang="en-US" dirty="0">
              <a:latin typeface="宋体" panose="02010600030101010101" pitchFamily="2" charset="-122"/>
            </a:endParaRPr>
          </a:p>
          <a:p>
            <a:pPr marL="12700" lvl="0" indent="0" eaLnBrk="1" hangingPunct="1">
              <a:spcBef>
                <a:spcPct val="0"/>
              </a:spcBef>
            </a:pPr>
            <a:r>
              <a:rPr lang="en-US" altLang="zh-CN" dirty="0">
                <a:latin typeface="宋体" panose="02010600030101010101" pitchFamily="2" charset="-122"/>
              </a:rPr>
              <a:t>2.</a:t>
            </a:r>
            <a:r>
              <a:rPr lang="zh-CN" altLang="en-US" dirty="0">
                <a:latin typeface="宋体" panose="02010600030101010101" pitchFamily="2" charset="-122"/>
              </a:rPr>
              <a:t>对表</a:t>
            </a:r>
            <a:r>
              <a:rPr lang="en-US" altLang="zh-CN" dirty="0">
                <a:latin typeface="宋体" panose="02010600030101010101" pitchFamily="2" charset="-122"/>
              </a:rPr>
              <a:t>R</a:t>
            </a:r>
            <a:r>
              <a:rPr lang="zh-CN" altLang="en-US" dirty="0">
                <a:latin typeface="宋体" panose="02010600030101010101" pitchFamily="2" charset="-122"/>
              </a:rPr>
              <a:t>的第一个元组，从头开始扫描表</a:t>
            </a:r>
            <a:r>
              <a:rPr lang="en-US" altLang="zh-CN" dirty="0">
                <a:latin typeface="宋体" panose="02010600030101010101" pitchFamily="2" charset="-122"/>
              </a:rPr>
              <a:t>S</a:t>
            </a:r>
            <a:r>
              <a:rPr lang="zh-CN" altLang="en-US" dirty="0">
                <a:latin typeface="宋体" panose="02010600030101010101" pitchFamily="2" charset="-122"/>
              </a:rPr>
              <a:t>，顺序查找满足连接条件的元组，找到后就将表</a:t>
            </a:r>
            <a:r>
              <a:rPr lang="en-US" altLang="zh-CN" dirty="0">
                <a:latin typeface="宋体" panose="02010600030101010101" pitchFamily="2" charset="-122"/>
              </a:rPr>
              <a:t>R</a:t>
            </a:r>
            <a:r>
              <a:rPr lang="zh-CN" altLang="en-US" dirty="0">
                <a:latin typeface="宋体" panose="02010600030101010101" pitchFamily="2" charset="-122"/>
              </a:rPr>
              <a:t>中的第一个元组与该元组拼接起来，形成结果表中一个元组。当遇到表</a:t>
            </a:r>
            <a:r>
              <a:rPr lang="en-US" altLang="zh-CN" dirty="0">
                <a:latin typeface="宋体" panose="02010600030101010101" pitchFamily="2" charset="-122"/>
              </a:rPr>
              <a:t>S</a:t>
            </a:r>
            <a:r>
              <a:rPr lang="zh-CN" altLang="en-US" dirty="0">
                <a:latin typeface="宋体" panose="02010600030101010101" pitchFamily="2" charset="-122"/>
              </a:rPr>
              <a:t>中第一条大于表</a:t>
            </a:r>
            <a:r>
              <a:rPr lang="en-US" altLang="zh-CN" dirty="0">
                <a:latin typeface="宋体" panose="02010600030101010101" pitchFamily="2" charset="-122"/>
              </a:rPr>
              <a:t>R</a:t>
            </a:r>
            <a:r>
              <a:rPr lang="zh-CN" altLang="en-US" dirty="0">
                <a:latin typeface="宋体" panose="02010600030101010101" pitchFamily="2" charset="-122"/>
              </a:rPr>
              <a:t>连接字段值的元组时，对表</a:t>
            </a:r>
            <a:r>
              <a:rPr lang="en-US" altLang="zh-CN" dirty="0">
                <a:latin typeface="宋体" panose="02010600030101010101" pitchFamily="2" charset="-122"/>
              </a:rPr>
              <a:t>S</a:t>
            </a:r>
            <a:r>
              <a:rPr lang="zh-CN" altLang="en-US" dirty="0">
                <a:latin typeface="宋体" panose="02010600030101010101" pitchFamily="2" charset="-122"/>
              </a:rPr>
              <a:t>的查询不再继续</a:t>
            </a:r>
            <a:endParaRPr lang="en-US" altLang="zh-CN" dirty="0">
              <a:latin typeface="宋体" panose="02010600030101010101" pitchFamily="2" charset="-122"/>
            </a:endParaRPr>
          </a:p>
          <a:p>
            <a:pPr marL="12700" lvl="0" indent="0"/>
            <a:r>
              <a:rPr lang="en-US" altLang="zh-CN" dirty="0">
                <a:latin typeface="宋体" panose="02010600030101010101" pitchFamily="2" charset="-122"/>
              </a:rPr>
              <a:t>3.</a:t>
            </a:r>
            <a:r>
              <a:rPr lang="zh-CN" altLang="en-US" dirty="0">
                <a:latin typeface="宋体" panose="02010600030101010101" pitchFamily="2" charset="-122"/>
              </a:rPr>
              <a:t>找到表</a:t>
            </a:r>
            <a:r>
              <a:rPr lang="en-US" altLang="zh-CN" dirty="0">
                <a:latin typeface="宋体" panose="02010600030101010101" pitchFamily="2" charset="-122"/>
              </a:rPr>
              <a:t>R</a:t>
            </a:r>
            <a:r>
              <a:rPr lang="zh-CN" altLang="en-US" dirty="0">
                <a:latin typeface="宋体" panose="02010600030101010101" pitchFamily="2" charset="-122"/>
              </a:rPr>
              <a:t>的第二条元组，然后从刚才的中断点处继续顺序扫描表</a:t>
            </a:r>
            <a:r>
              <a:rPr lang="en-US" altLang="zh-CN" dirty="0">
                <a:latin typeface="Arial" panose="020B0604020202020204" pitchFamily="34" charset="0"/>
                <a:cs typeface="Arial" panose="020B0604020202020204" pitchFamily="34" charset="0"/>
              </a:rPr>
              <a:t>S</a:t>
            </a:r>
            <a:r>
              <a:rPr lang="zh-CN" altLang="en-US" dirty="0">
                <a:latin typeface="宋体" panose="02010600030101010101" pitchFamily="2" charset="-122"/>
              </a:rPr>
              <a:t>，查找满足连接条件的元组，找到后就将表</a:t>
            </a:r>
            <a:r>
              <a:rPr lang="en-US" altLang="zh-CN" dirty="0">
                <a:latin typeface="Arial" panose="020B0604020202020204" pitchFamily="34" charset="0"/>
                <a:cs typeface="Arial" panose="020B0604020202020204" pitchFamily="34" charset="0"/>
              </a:rPr>
              <a:t>R</a:t>
            </a:r>
            <a:r>
              <a:rPr lang="zh-CN" altLang="en-US" dirty="0">
                <a:latin typeface="宋体" panose="02010600030101010101" pitchFamily="2" charset="-122"/>
              </a:rPr>
              <a:t>中的第二个元组与该元组拼接起来，形成结果表中一个元组。直接遇到表</a:t>
            </a:r>
            <a:r>
              <a:rPr lang="en-US" altLang="zh-CN" dirty="0">
                <a:latin typeface="宋体" panose="02010600030101010101" pitchFamily="2" charset="-122"/>
              </a:rPr>
              <a:t>S</a:t>
            </a:r>
            <a:r>
              <a:rPr lang="zh-CN" altLang="en-US" dirty="0">
                <a:latin typeface="宋体" panose="02010600030101010101" pitchFamily="2" charset="-122"/>
              </a:rPr>
              <a:t>中大于表</a:t>
            </a:r>
            <a:r>
              <a:rPr lang="en-US" altLang="zh-CN" dirty="0">
                <a:latin typeface="宋体" panose="02010600030101010101" pitchFamily="2" charset="-122"/>
              </a:rPr>
              <a:t>R</a:t>
            </a:r>
            <a:r>
              <a:rPr lang="zh-CN" altLang="en-US" dirty="0">
                <a:latin typeface="宋体" panose="02010600030101010101" pitchFamily="2" charset="-122"/>
              </a:rPr>
              <a:t>连接字段值的元组时，对表</a:t>
            </a:r>
            <a:r>
              <a:rPr lang="en-US" altLang="zh-CN" dirty="0">
                <a:latin typeface="Arial" panose="020B0604020202020204" pitchFamily="34" charset="0"/>
                <a:cs typeface="Arial" panose="020B0604020202020204" pitchFamily="34" charset="0"/>
              </a:rPr>
              <a:t>S</a:t>
            </a:r>
            <a:r>
              <a:rPr lang="zh-CN" altLang="en-US" dirty="0">
                <a:latin typeface="宋体" panose="02010600030101010101" pitchFamily="2" charset="-122"/>
              </a:rPr>
              <a:t>的查询不再继续</a:t>
            </a:r>
            <a:endParaRPr lang="en-US" altLang="zh-CN" dirty="0">
              <a:latin typeface="宋体" panose="02010600030101010101" pitchFamily="2" charset="-122"/>
            </a:endParaRPr>
          </a:p>
          <a:p>
            <a:pPr marL="12700" lvl="0" indent="0">
              <a:lnSpc>
                <a:spcPct val="181000"/>
              </a:lnSpc>
              <a:spcBef>
                <a:spcPts val="500"/>
              </a:spcBef>
            </a:pPr>
            <a:r>
              <a:rPr lang="en-US" altLang="zh-CN" dirty="0">
                <a:latin typeface="宋体" panose="02010600030101010101" pitchFamily="2" charset="-122"/>
              </a:rPr>
              <a:t>4.</a:t>
            </a:r>
            <a:r>
              <a:rPr lang="zh-CN" altLang="en-US" dirty="0">
                <a:latin typeface="宋体" panose="02010600030101010101" pitchFamily="2" charset="-122"/>
              </a:rPr>
              <a:t>重复上述操作，直到表</a:t>
            </a:r>
            <a:r>
              <a:rPr lang="en-US" altLang="zh-CN" dirty="0">
                <a:latin typeface="宋体" panose="02010600030101010101" pitchFamily="2" charset="-122"/>
              </a:rPr>
              <a:t>R</a:t>
            </a:r>
            <a:r>
              <a:rPr lang="zh-CN" altLang="en-US" dirty="0">
                <a:latin typeface="宋体" panose="02010600030101010101" pitchFamily="2" charset="-122"/>
              </a:rPr>
              <a:t>或表</a:t>
            </a:r>
            <a:r>
              <a:rPr lang="en-US" altLang="zh-CN" dirty="0">
                <a:latin typeface="Arial" panose="020B0604020202020204" pitchFamily="34" charset="0"/>
                <a:cs typeface="Arial" panose="020B0604020202020204" pitchFamily="34" charset="0"/>
              </a:rPr>
              <a:t>S</a:t>
            </a:r>
            <a:r>
              <a:rPr lang="zh-CN" altLang="en-US" dirty="0">
                <a:latin typeface="宋体" panose="02010600030101010101" pitchFamily="2" charset="-122"/>
              </a:rPr>
              <a:t>中的全部元组都处理完毕为止</a:t>
            </a:r>
            <a:endParaRPr lang="en-US" altLang="zh-CN" dirty="0">
              <a:latin typeface="宋体" panose="02010600030101010101" pitchFamily="2" charset="-122"/>
            </a:endParaRPr>
          </a:p>
          <a:p>
            <a:pPr marL="12700" lvl="0" indent="0" eaLnBrk="1" hangingPunct="1">
              <a:lnSpc>
                <a:spcPct val="181000"/>
              </a:lnSpc>
              <a:spcBef>
                <a:spcPts val="500"/>
              </a:spcBef>
            </a:pPr>
            <a:r>
              <a:rPr lang="en-US" altLang="zh-CN" dirty="0"/>
              <a:t>5.</a:t>
            </a:r>
            <a:r>
              <a:rPr lang="zh-CN" altLang="en-US" dirty="0"/>
              <a:t>可以看出排序－合并连接方法，表</a:t>
            </a:r>
            <a:r>
              <a:rPr lang="en-US" altLang="zh-CN" dirty="0"/>
              <a:t>R</a:t>
            </a:r>
            <a:r>
              <a:rPr lang="zh-CN" altLang="en-US" dirty="0"/>
              <a:t>和表</a:t>
            </a:r>
            <a:r>
              <a:rPr lang="en-US" altLang="zh-CN" dirty="0"/>
              <a:t>S</a:t>
            </a:r>
            <a:r>
              <a:rPr lang="zh-CN" altLang="en-US" dirty="0"/>
              <a:t>扫描次数均为</a:t>
            </a:r>
            <a:r>
              <a:rPr lang="en-US" altLang="zh-CN" dirty="0"/>
              <a:t>1</a:t>
            </a:r>
            <a:r>
              <a:rPr lang="zh-CN" altLang="en-US" dirty="0"/>
              <a:t>次。</a:t>
            </a:r>
            <a:endParaRPr lang="en-US" altLang="zh-CN" dirty="0"/>
          </a:p>
          <a:p>
            <a:pPr marL="12700" lvl="0" indent="0">
              <a:lnSpc>
                <a:spcPct val="181000"/>
              </a:lnSpc>
              <a:spcBef>
                <a:spcPts val="500"/>
              </a:spcBef>
            </a:pPr>
            <a:endParaRPr lang="zh-CN" altLang="en-US" dirty="0">
              <a:latin typeface="宋体" panose="02010600030101010101" pitchFamily="2" charset="-122"/>
            </a:endParaRPr>
          </a:p>
          <a:p>
            <a:pPr marL="12700" lvl="0" indent="0" algn="just">
              <a:lnSpc>
                <a:spcPct val="162000"/>
              </a:lnSpc>
              <a:spcBef>
                <a:spcPts val="475"/>
              </a:spcBef>
              <a:buFont typeface="Wingdings" panose="05000000000000000000" pitchFamily="2" charset="2"/>
              <a:buChar char="§"/>
            </a:pPr>
            <a:endParaRPr lang="zh-CN" altLang="en-US" dirty="0">
              <a:latin typeface="宋体" panose="02010600030101010101" pitchFamily="2" charset="-122"/>
            </a:endParaRPr>
          </a:p>
        </p:txBody>
      </p:sp>
      <p:sp>
        <p:nvSpPr>
          <p:cNvPr id="22532" name="灯片编号占位符 3"/>
          <p:cNvSpPr txBox="1">
            <a:spLocks noGrp="1"/>
          </p:cNvSpPr>
          <p:nvPr>
            <p:ph type="sldNum" sz="quarter"/>
          </p:nvPr>
        </p:nvSpPr>
        <p:spPr>
          <a:xfrm>
            <a:off x="3883025" y="8683625"/>
            <a:ext cx="2971800" cy="458788"/>
          </a:xfrm>
          <a:prstGeom prst="rect">
            <a:avLst/>
          </a:prstGeom>
          <a:noFill/>
          <a:ln w="9525">
            <a:noFill/>
          </a:ln>
        </p:spPr>
        <p:txBody>
          <a:bodyPr anchor="b" anchorCtr="0"/>
          <a:p>
            <a:pPr lvl="0" algn="r">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幻灯片图像占位符 1"/>
          <p:cNvSpPr>
            <a:spLocks noGrp="1" noRot="1" noChangeAspect="1" noTextEdit="1"/>
          </p:cNvSpPr>
          <p:nvPr>
            <p:ph type="sldImg"/>
          </p:nvPr>
        </p:nvSpPr>
        <p:spPr>
          <a:xfrm>
            <a:off x="1143000" y="685800"/>
            <a:ext cx="4568825" cy="3427413"/>
          </a:xfrm>
        </p:spPr>
      </p:sp>
      <p:sp>
        <p:nvSpPr>
          <p:cNvPr id="24579" name="备注占位符 2"/>
          <p:cNvSpPr>
            <a:spLocks noGrp="1"/>
          </p:cNvSpPr>
          <p:nvPr>
            <p:ph type="body" idx="1"/>
          </p:nvPr>
        </p:nvSpPr>
        <p:spPr/>
        <p:txBody>
          <a:bodyPr wrap="square" lIns="91440" tIns="45720" rIns="91440" bIns="45720" anchor="ctr" anchorCtr="0"/>
          <a:p>
            <a:pPr lvl="0"/>
            <a:r>
              <a:rPr lang="zh-CN" altLang="en-US" dirty="0"/>
              <a:t>实例</a:t>
            </a:r>
            <a:r>
              <a:rPr lang="en-US" altLang="zh-CN" dirty="0"/>
              <a:t>,</a:t>
            </a:r>
            <a:endParaRPr lang="en-US" altLang="zh-CN" dirty="0"/>
          </a:p>
          <a:p>
            <a:pPr lvl="0" eaLnBrk="1" hangingPunct="1">
              <a:spcBef>
                <a:spcPct val="0"/>
              </a:spcBef>
            </a:pPr>
            <a:r>
              <a:rPr lang="zh-CN" altLang="en-US" dirty="0"/>
              <a:t>关系</a:t>
            </a:r>
            <a:r>
              <a:rPr lang="en-US" altLang="zh-CN" i="1" dirty="0"/>
              <a:t>R</a:t>
            </a:r>
            <a:r>
              <a:rPr lang="zh-CN" altLang="en-US" dirty="0"/>
              <a:t>和关系</a:t>
            </a:r>
            <a:r>
              <a:rPr lang="en-US" altLang="zh-CN" i="1" dirty="0"/>
              <a:t>S</a:t>
            </a:r>
            <a:r>
              <a:rPr lang="en-US" altLang="zh-CN" dirty="0"/>
              <a:t> </a:t>
            </a:r>
            <a:r>
              <a:rPr lang="zh-CN" altLang="en-US" dirty="0"/>
              <a:t>如图所示</a:t>
            </a:r>
            <a:endParaRPr lang="en-US" altLang="zh-CN" dirty="0"/>
          </a:p>
          <a:p>
            <a:pPr lvl="0" eaLnBrk="1" hangingPunct="1">
              <a:spcBef>
                <a:spcPct val="0"/>
              </a:spcBef>
            </a:pPr>
            <a:r>
              <a:rPr lang="en-US" altLang="zh-CN" dirty="0"/>
              <a:t>S</a:t>
            </a:r>
            <a:r>
              <a:rPr lang="zh-CN" altLang="en-US" dirty="0"/>
              <a:t>表很大，不能放入内存中</a:t>
            </a:r>
            <a:endParaRPr lang="en-US" altLang="zh-CN" dirty="0"/>
          </a:p>
          <a:p>
            <a:pPr lvl="0"/>
            <a:endParaRPr lang="en-US" altLang="zh-CN" dirty="0">
              <a:solidFill>
                <a:srgbClr val="FF0000"/>
              </a:solidFill>
            </a:endParaRPr>
          </a:p>
          <a:p>
            <a:pPr lvl="0"/>
            <a:endParaRPr lang="zh-CN" altLang="en-US" dirty="0"/>
          </a:p>
        </p:txBody>
      </p:sp>
      <p:sp>
        <p:nvSpPr>
          <p:cNvPr id="24580" name="灯片编号占位符 3"/>
          <p:cNvSpPr txBox="1">
            <a:spLocks noGrp="1"/>
          </p:cNvSpPr>
          <p:nvPr>
            <p:ph type="sldNum" sz="quarter"/>
          </p:nvPr>
        </p:nvSpPr>
        <p:spPr>
          <a:xfrm>
            <a:off x="3883025" y="8683625"/>
            <a:ext cx="2971800" cy="458788"/>
          </a:xfrm>
          <a:prstGeom prst="rect">
            <a:avLst/>
          </a:prstGeom>
          <a:noFill/>
          <a:ln w="9525">
            <a:noFill/>
          </a:ln>
        </p:spPr>
        <p:txBody>
          <a:bodyPr anchor="b" anchorCtr="0"/>
          <a:p>
            <a:pPr lvl="0" algn="r">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幻灯片图像占位符 1"/>
          <p:cNvSpPr>
            <a:spLocks noGrp="1" noRot="1" noChangeAspect="1" noTextEdit="1"/>
          </p:cNvSpPr>
          <p:nvPr>
            <p:ph type="sldImg"/>
          </p:nvPr>
        </p:nvSpPr>
        <p:spPr>
          <a:xfrm>
            <a:off x="1143000" y="685800"/>
            <a:ext cx="4568825" cy="3427413"/>
          </a:xfrm>
        </p:spPr>
      </p:sp>
      <p:sp>
        <p:nvSpPr>
          <p:cNvPr id="3" name="备注占位符 2"/>
          <p:cNvSpPr>
            <a:spLocks noGrp="1"/>
          </p:cNvSpPr>
          <p:nvPr>
            <p:ph type="body" idx="1"/>
          </p:nvPr>
        </p:nvSpPr>
        <p:spPr/>
        <p:txBody>
          <a:bodyPr wrap="square" lIns="91440" tIns="45720" rIns="91440" bIns="45720" numCol="1" anchor="ctr" anchorCtr="0" compatLnSpc="1"/>
          <a:lstStyle/>
          <a:p>
            <a:pPr marL="12700" marR="0" lvl="0" indent="0" algn="l" defTabSz="914400" rtl="0" eaLnBrk="1" fontAlgn="auto" latinLnBrk="0" hangingPunct="1">
              <a:lnSpc>
                <a:spcPct val="100000"/>
              </a:lnSpc>
              <a:spcBef>
                <a:spcPts val="72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利用</a:t>
            </a:r>
            <a:r>
              <a:rPr kumimoji="0" lang="zh-CN" altLang="en-US" sz="1200" b="0" i="0" u="none" strike="noStrike" kern="12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mn-cs"/>
              </a:rPr>
              <a:t>索引连接</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算法对</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表和</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S</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表在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B</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属性上做等值连接</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12700" marR="0" lvl="0" indent="0" algn="l" defTabSz="914400" rtl="0" eaLnBrk="0" fontAlgn="base" latinLnBrk="0" hangingPunct="0">
              <a:lnSpc>
                <a:spcPct val="100000"/>
              </a:lnSpc>
              <a:spcBef>
                <a:spcPts val="720"/>
              </a:spcBef>
              <a:spcAft>
                <a:spcPct val="0"/>
              </a:spcAft>
              <a:buClrTx/>
              <a:buSzTx/>
              <a:buFontTx/>
              <a:buNone/>
              <a:defRPr/>
            </a:pPr>
            <a:r>
              <a:rPr kumimoji="0" lang="en-US" altLang="zh-CN"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rPr>
              <a:t>1.</a:t>
            </a:r>
            <a:r>
              <a:rPr kumimoji="0" lang="zh-CN" altLang="en-US"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rPr>
              <a:t>对较大的表</a:t>
            </a:r>
            <a:r>
              <a:rPr kumimoji="0" lang="en-US" altLang="zh-CN"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rPr>
              <a:t>S</a:t>
            </a:r>
            <a:r>
              <a:rPr kumimoji="0" lang="zh-CN" altLang="en-US"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rPr>
              <a:t>按连接字段</a:t>
            </a:r>
            <a:r>
              <a:rPr kumimoji="0" lang="en-US" altLang="zh-CN"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rPr>
              <a:t>B</a:t>
            </a:r>
            <a:r>
              <a:rPr kumimoji="0" lang="zh-CN" altLang="en-US"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rPr>
              <a:t>建立索引，比如</a:t>
            </a:r>
            <a:r>
              <a:rPr kumimoji="0" lang="en-US" altLang="zh-CN"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rPr>
              <a:t>B+</a:t>
            </a:r>
            <a:r>
              <a:rPr kumimoji="0" lang="zh-CN" altLang="en-US"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rPr>
              <a:t>树索引</a:t>
            </a:r>
            <a:endParaRPr kumimoji="0" lang="zh-CN" altLang="en-US"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endParaRPr>
          </a:p>
          <a:p>
            <a:pPr marL="12700" marR="0" lvl="0" indent="0" algn="l" defTabSz="914400" rtl="0" eaLnBrk="0" fontAlgn="base" latinLnBrk="0" hangingPunct="0">
              <a:lnSpc>
                <a:spcPct val="100000"/>
              </a:lnSpc>
              <a:spcBef>
                <a:spcPts val="720"/>
              </a:spcBef>
              <a:spcAft>
                <a:spcPct val="0"/>
              </a:spcAft>
              <a:buClrTx/>
              <a:buSzTx/>
              <a:buFontTx/>
              <a:buNone/>
              <a:defRPr/>
            </a:pPr>
            <a:r>
              <a:rPr kumimoji="0" lang="en-US" altLang="zh-CN" sz="1200" b="0" i="0" u="none" strike="noStrike" kern="1200" cap="none" spc="0" normalizeH="0" baseline="0" noProof="0">
                <a:ln>
                  <a:noFill/>
                </a:ln>
                <a:solidFill>
                  <a:srgbClr val="7CA0D3"/>
                </a:solidFill>
                <a:effectLst/>
                <a:uLnTx/>
                <a:uFillTx/>
                <a:latin typeface="Wingdings" panose="05000000000000000000"/>
                <a:ea typeface="宋体" panose="02010600030101010101" pitchFamily="2" charset="-122"/>
                <a:cs typeface="Wingdings" panose="05000000000000000000"/>
              </a:rPr>
              <a:t>2.</a:t>
            </a:r>
            <a:r>
              <a:rPr kumimoji="0" lang="zh-CN" altLang="en-US" sz="1200" b="0" i="0" u="none" strike="noStrike" kern="1200" cap="none" spc="0" normalizeH="0" baseline="0" noProof="0">
                <a:ln>
                  <a:noFill/>
                </a:ln>
                <a:solidFill>
                  <a:schemeClr val="tx1"/>
                </a:solidFill>
                <a:effectLst/>
                <a:uLnTx/>
                <a:uFillTx/>
                <a:latin typeface="+mn-lt"/>
                <a:ea typeface="+mn-ea"/>
                <a:cs typeface="+mn-cs"/>
              </a:rPr>
              <a:t>在</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中找到第一个元组，其连接属性</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B</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的值为</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b1</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S</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表关于</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B</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属性的索引中查找值</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b1</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，有匹配元组时，通过索引取出</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S</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表匹配的数据并连接，没有匹配元组时无需读取</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S</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表。</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12700" marR="0" lvl="0" indent="0" algn="l" defTabSz="914400" rtl="0" eaLnBrk="0" fontAlgn="base" latinLnBrk="0" hangingPunct="0">
              <a:lnSpc>
                <a:spcPct val="100000"/>
              </a:lnSpc>
              <a:spcBef>
                <a:spcPts val="72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mn-lt"/>
                <a:ea typeface="+mn-ea"/>
                <a:cs typeface="+mn-cs"/>
              </a:rPr>
              <a:t>3.</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处理</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表的下一条元组，执行同样的操作</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宋体" panose="02010600030101010101" pitchFamily="2" charset="-122"/>
              </a:rPr>
              <a:t>4.</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重复上述操作，直到表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中的全部元组都处理完毕。</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12700" marR="0" lvl="0" indent="0" algn="l" defTabSz="914400" rtl="0" eaLnBrk="1" fontAlgn="auto" latinLnBrk="0" hangingPunct="1">
              <a:lnSpc>
                <a:spcPct val="100000"/>
              </a:lnSpc>
              <a:spcBef>
                <a:spcPts val="720"/>
              </a:spcBef>
              <a:spcAft>
                <a:spcPts val="0"/>
              </a:spcAft>
              <a:buClrTx/>
              <a:buSzTx/>
              <a:buFontTx/>
              <a:buNone/>
              <a:defRPr/>
            </a:pP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12700" marR="0" lvl="0" indent="0" algn="l" defTabSz="914400" rtl="0" eaLnBrk="1" fontAlgn="auto" latinLnBrk="0" hangingPunct="1">
              <a:lnSpc>
                <a:spcPct val="100000"/>
              </a:lnSpc>
              <a:spcBef>
                <a:spcPts val="720"/>
              </a:spcBef>
              <a:spcAft>
                <a:spcPts val="0"/>
              </a:spcAft>
              <a:buClrTx/>
              <a:buSzTx/>
              <a:buFontTx/>
              <a:buNone/>
              <a:defRPr/>
            </a:pP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12700" marR="0" lvl="0" indent="0" algn="l" defTabSz="914400" rtl="0" eaLnBrk="1" fontAlgn="auto" latinLnBrk="0" hangingPunct="1">
              <a:lnSpc>
                <a:spcPct val="100000"/>
              </a:lnSpc>
              <a:spcBef>
                <a:spcPts val="720"/>
              </a:spcBef>
              <a:spcAft>
                <a:spcPts val="0"/>
              </a:spcAft>
              <a:buClrTx/>
              <a:buSzTx/>
              <a:buFontTx/>
              <a:buNone/>
              <a:defRPr/>
            </a:pP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12700" marR="0" lvl="0" indent="0" algn="l" defTabSz="914400" rtl="0" eaLnBrk="1" fontAlgn="auto" latinLnBrk="0" hangingPunct="1">
              <a:lnSpc>
                <a:spcPct val="100000"/>
              </a:lnSpc>
              <a:spcBef>
                <a:spcPts val="720"/>
              </a:spcBef>
              <a:spcAft>
                <a:spcPts val="0"/>
              </a:spcAft>
              <a:buClrTx/>
              <a:buSzTx/>
              <a:buFontTx/>
              <a:buNone/>
              <a:defRPr/>
            </a:pP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12700" marR="0" lvl="0" indent="0" algn="l" defTabSz="914400" rtl="0" eaLnBrk="1" fontAlgn="auto" latinLnBrk="0" hangingPunct="1">
              <a:lnSpc>
                <a:spcPct val="100000"/>
              </a:lnSpc>
              <a:spcBef>
                <a:spcPts val="720"/>
              </a:spcBef>
              <a:spcAft>
                <a:spcPts val="0"/>
              </a:spcAft>
              <a:buClrTx/>
              <a:buSzTx/>
              <a:buFontTx/>
              <a:buNone/>
              <a:defRPr/>
            </a:pPr>
            <a:endParaRPr kumimoji="0" lang="en-US" altLang="zh-CN"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endParaRPr>
          </a:p>
          <a:p>
            <a:pPr marL="12700" marR="0" lvl="0" indent="0" algn="l" defTabSz="914400" rtl="0" eaLnBrk="0" fontAlgn="base" latinLnBrk="0" hangingPunct="0">
              <a:lnSpc>
                <a:spcPct val="100000"/>
              </a:lnSpc>
              <a:spcBef>
                <a:spcPts val="720"/>
              </a:spcBef>
              <a:spcAft>
                <a:spcPct val="0"/>
              </a:spcAft>
              <a:buClrTx/>
              <a:buSzTx/>
              <a:buFontTx/>
              <a:buNone/>
              <a:defRPr/>
            </a:pPr>
            <a:r>
              <a:rPr kumimoji="0" lang="en-US" altLang="zh-CN"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rPr>
              <a:t>1.</a:t>
            </a:r>
            <a:r>
              <a:rPr kumimoji="0" lang="zh-CN" altLang="en-US"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rPr>
              <a:t>对表</a:t>
            </a:r>
            <a:r>
              <a:rPr kumimoji="0" lang="en-US" altLang="zh-CN"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rPr>
              <a:t>S</a:t>
            </a:r>
            <a:r>
              <a:rPr kumimoji="0" lang="zh-CN" altLang="en-US"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rPr>
              <a:t>按连接字段</a:t>
            </a:r>
            <a:r>
              <a:rPr kumimoji="0" lang="en-US" altLang="zh-CN"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rPr>
              <a:t>B</a:t>
            </a:r>
            <a:r>
              <a:rPr kumimoji="0" lang="zh-CN" altLang="en-US"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rPr>
              <a:t>建立索引，比如</a:t>
            </a:r>
            <a:r>
              <a:rPr kumimoji="0" lang="en-US" altLang="zh-CN"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rPr>
              <a:t>B+</a:t>
            </a:r>
            <a:r>
              <a:rPr kumimoji="0" lang="zh-CN" altLang="en-US"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rPr>
              <a:t>树索引</a:t>
            </a:r>
            <a:endParaRPr kumimoji="0" lang="zh-CN" altLang="en-US"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endParaRPr>
          </a:p>
          <a:p>
            <a:pPr marL="12700" marR="0" lvl="0" indent="0" algn="l" defTabSz="914400" rtl="0" eaLnBrk="0" fontAlgn="base" latinLnBrk="0" hangingPunct="0">
              <a:lnSpc>
                <a:spcPct val="100000"/>
              </a:lnSpc>
              <a:spcBef>
                <a:spcPts val="720"/>
              </a:spcBef>
              <a:spcAft>
                <a:spcPct val="0"/>
              </a:spcAft>
              <a:buClrTx/>
              <a:buSzTx/>
              <a:buFontTx/>
              <a:buNone/>
              <a:defRPr/>
            </a:pPr>
            <a:r>
              <a:rPr kumimoji="0" lang="en-US" altLang="zh-CN"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Wingdings" panose="05000000000000000000"/>
              </a:rPr>
              <a:t>2.</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根据</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表当前元组的连接属性值查找</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S</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表的索引，有匹配元组时查</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S</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表取出数据并连接，没有匹配元组时处理</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表的下一条元组，这样就避免了把不能连接的元组读入内存</a:t>
            </a:r>
            <a:endParaRPr kumimoji="0" lang="en-US" altLang="zh-CN"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宋体" panose="02010600030101010101" pitchFamily="2" charset="-122"/>
            </a:endParaRPr>
          </a:p>
          <a:p>
            <a:pPr marL="12700" marR="0" lvl="0" indent="0" algn="l" defTabSz="914400" rtl="0" eaLnBrk="0" fontAlgn="base" latinLnBrk="0" hangingPunct="0">
              <a:lnSpc>
                <a:spcPct val="100000"/>
              </a:lnSpc>
              <a:spcBef>
                <a:spcPts val="720"/>
              </a:spcBef>
              <a:spcAft>
                <a:spcPct val="0"/>
              </a:spcAft>
              <a:buClrTx/>
              <a:buSzTx/>
              <a:buFontTx/>
              <a:buNone/>
              <a:defRPr/>
            </a:pPr>
            <a:r>
              <a:rPr kumimoji="0" lang="en-US" altLang="zh-CN" sz="1200" b="0" i="0" u="none" strike="noStrike" kern="1200" cap="none" spc="0" normalizeH="0" baseline="0" noProof="0" dirty="0">
                <a:ln>
                  <a:noFill/>
                </a:ln>
                <a:solidFill>
                  <a:srgbClr val="7CA0D3"/>
                </a:solidFill>
                <a:effectLst/>
                <a:uLnTx/>
                <a:uFillTx/>
                <a:latin typeface="Wingdings" panose="05000000000000000000"/>
                <a:ea typeface="宋体" panose="02010600030101010101" pitchFamily="2" charset="-122"/>
                <a:cs typeface="宋体" panose="02010600030101010101" pitchFamily="2" charset="-122"/>
              </a:rPr>
              <a:t>3.</a:t>
            </a:r>
            <a:r>
              <a:rPr kumimoji="0" lang="zh-CN" altLang="en-US" sz="12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循环执行，直到</a:t>
            </a:r>
            <a:r>
              <a:rPr kumimoji="0" lang="en-US" altLang="zh-CN" sz="12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R</a:t>
            </a:r>
            <a:r>
              <a:rPr kumimoji="0" lang="zh-CN" altLang="en-US" sz="12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表中的元组处理完为止</a:t>
            </a:r>
            <a:endParaRPr kumimoji="0" lang="en-US" altLang="zh-CN" sz="12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26628" name="灯片编号占位符 3"/>
          <p:cNvSpPr txBox="1">
            <a:spLocks noGrp="1"/>
          </p:cNvSpPr>
          <p:nvPr>
            <p:ph type="sldNum" sz="quarter"/>
          </p:nvPr>
        </p:nvSpPr>
        <p:spPr>
          <a:xfrm>
            <a:off x="3883025" y="8683625"/>
            <a:ext cx="2971800" cy="458788"/>
          </a:xfrm>
          <a:prstGeom prst="rect">
            <a:avLst/>
          </a:prstGeom>
          <a:noFill/>
          <a:ln w="9525">
            <a:noFill/>
          </a:ln>
        </p:spPr>
        <p:txBody>
          <a:bodyPr anchor="b" anchorCtr="0"/>
          <a:p>
            <a:pPr lvl="0" algn="r">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幻灯片图像占位符 1"/>
          <p:cNvSpPr>
            <a:spLocks noGrp="1" noRot="1" noChangeAspect="1" noTextEdit="1"/>
          </p:cNvSpPr>
          <p:nvPr>
            <p:ph type="sldImg"/>
          </p:nvPr>
        </p:nvSpPr>
        <p:spPr>
          <a:xfrm>
            <a:off x="1143000" y="685800"/>
            <a:ext cx="4568825" cy="3427413"/>
          </a:xfrm>
        </p:spPr>
      </p:sp>
      <p:sp>
        <p:nvSpPr>
          <p:cNvPr id="28675" name="备注占位符 2"/>
          <p:cNvSpPr>
            <a:spLocks noGrp="1"/>
          </p:cNvSpPr>
          <p:nvPr>
            <p:ph type="body" idx="1"/>
          </p:nvPr>
        </p:nvSpPr>
        <p:spPr/>
        <p:txBody>
          <a:bodyPr wrap="square" lIns="91440" tIns="45720" rIns="91440" bIns="45720" anchor="ctr" anchorCtr="0"/>
          <a:p>
            <a:pPr lvl="0"/>
            <a:r>
              <a:rPr lang="zh-CN" altLang="en-US" dirty="0"/>
              <a:t>实例</a:t>
            </a:r>
            <a:r>
              <a:rPr lang="en-US" altLang="zh-CN" dirty="0"/>
              <a:t>,</a:t>
            </a:r>
            <a:endParaRPr lang="en-US" altLang="zh-CN" dirty="0"/>
          </a:p>
          <a:p>
            <a:pPr lvl="0" eaLnBrk="1" hangingPunct="1">
              <a:spcBef>
                <a:spcPct val="0"/>
              </a:spcBef>
            </a:pPr>
            <a:r>
              <a:rPr lang="zh-CN" altLang="en-US" dirty="0"/>
              <a:t>关系</a:t>
            </a:r>
            <a:r>
              <a:rPr lang="en-US" altLang="zh-CN" i="1" dirty="0"/>
              <a:t>R</a:t>
            </a:r>
            <a:r>
              <a:rPr lang="zh-CN" altLang="en-US" dirty="0"/>
              <a:t>和关系</a:t>
            </a:r>
            <a:r>
              <a:rPr lang="en-US" altLang="zh-CN" i="1" dirty="0"/>
              <a:t>S</a:t>
            </a:r>
            <a:r>
              <a:rPr lang="en-US" altLang="zh-CN" dirty="0"/>
              <a:t> </a:t>
            </a:r>
            <a:r>
              <a:rPr lang="zh-CN" altLang="en-US" dirty="0"/>
              <a:t>如图所示</a:t>
            </a:r>
            <a:endParaRPr lang="en-US" altLang="zh-CN" dirty="0"/>
          </a:p>
          <a:p>
            <a:pPr lvl="0" eaLnBrk="1" hangingPunct="1">
              <a:spcBef>
                <a:spcPct val="0"/>
              </a:spcBef>
            </a:pPr>
            <a:r>
              <a:rPr lang="en-US" altLang="zh-CN" dirty="0"/>
              <a:t>S</a:t>
            </a:r>
            <a:r>
              <a:rPr lang="zh-CN" altLang="en-US" dirty="0"/>
              <a:t>表很大，不能放入内存中</a:t>
            </a:r>
            <a:endParaRPr lang="en-US" altLang="zh-CN" dirty="0"/>
          </a:p>
        </p:txBody>
      </p:sp>
      <p:sp>
        <p:nvSpPr>
          <p:cNvPr id="28676" name="灯片编号占位符 3"/>
          <p:cNvSpPr txBox="1">
            <a:spLocks noGrp="1"/>
          </p:cNvSpPr>
          <p:nvPr>
            <p:ph type="sldNum" sz="quarter"/>
          </p:nvPr>
        </p:nvSpPr>
        <p:spPr>
          <a:xfrm>
            <a:off x="3883025" y="8683625"/>
            <a:ext cx="2971800" cy="458788"/>
          </a:xfrm>
          <a:prstGeom prst="rect">
            <a:avLst/>
          </a:prstGeom>
          <a:noFill/>
          <a:ln w="9525">
            <a:noFill/>
          </a:ln>
        </p:spPr>
        <p:txBody>
          <a:bodyPr anchor="b" anchorCtr="0"/>
          <a:p>
            <a:pPr lvl="0" algn="r">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幻灯片图像占位符 1"/>
          <p:cNvSpPr>
            <a:spLocks noGrp="1" noRot="1" noChangeAspect="1" noTextEdit="1"/>
          </p:cNvSpPr>
          <p:nvPr>
            <p:ph type="sldImg"/>
          </p:nvPr>
        </p:nvSpPr>
        <p:spPr>
          <a:xfrm>
            <a:off x="1143000" y="685800"/>
            <a:ext cx="4568825" cy="3427413"/>
          </a:xfrm>
        </p:spPr>
      </p:sp>
      <p:sp>
        <p:nvSpPr>
          <p:cNvPr id="3" name="备注占位符 2"/>
          <p:cNvSpPr>
            <a:spLocks noGrp="1"/>
          </p:cNvSpPr>
          <p:nvPr>
            <p:ph type="body" idx="1"/>
          </p:nvPr>
        </p:nvSpPr>
        <p:spPr/>
        <p:txBody>
          <a:bodyPr wrap="square" lIns="91440" tIns="45720" rIns="91440" bIns="45720" numCol="1" anchor="ctr"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利用</a:t>
            </a:r>
            <a:r>
              <a:rPr kumimoji="1" lang="zh-CN" altLang="en-US" sz="1200" b="0" i="0" u="none" strike="noStrike" kern="1200" cap="none" spc="0" normalizeH="0" baseline="0" noProof="0" dirty="0">
                <a:ln>
                  <a:noFill/>
                </a:ln>
                <a:solidFill>
                  <a:srgbClr val="233DA9"/>
                </a:solidFill>
                <a:effectLst/>
                <a:uLnTx/>
                <a:uFillTx/>
                <a:latin typeface="楷体_GB2312" pitchFamily="49" charset="-122"/>
                <a:ea typeface="楷体_GB2312" pitchFamily="49" charset="-122"/>
                <a:cs typeface="+mn-cs"/>
              </a:rPr>
              <a:t>散列</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连接方法对</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表和</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S</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表在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B</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属性上做等值连接</a:t>
            </a:r>
            <a:endPar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1.R</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和</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S</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选一个较小的关系作为</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build</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关系，另一个则成为</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probe</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关系。</a:t>
            </a:r>
            <a:endPar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2.</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连接分为两个阶段，第一个阶段是</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building</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阶段。对</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build</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关系为连接属性</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B</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用</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hash</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函数建立</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hash</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表，</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hash</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表需要放在内存中；在此，我们可以选择</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mod</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运算，即</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B</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属性值</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mod6</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a:t>
            </a:r>
            <a:endPar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3.</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第二阶段为</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probing</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阶段，依次取</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probe</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关系的元组，用</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building</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阶段相同的</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hash</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函数计算其连接属性</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B</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的</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hash</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值，到相应的桶中去查询（探测）与之匹配的元组。</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找到后就将表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中的元组与该元组拼接起来，形成结果表中一个元组。</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mn-lt"/>
                <a:ea typeface="+mn-ea"/>
                <a:cs typeface="+mn-cs"/>
              </a:rPr>
              <a:t>2.</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再取表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中第二个元组，</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用</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building</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阶段相同的</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hash</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函数计算其连接属性</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B</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的</a:t>
            </a:r>
            <a:r>
              <a:rPr kumimoji="0" lang="en-US" altLang="zh-CN"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hash</a:t>
            </a:r>
            <a:r>
              <a:rPr kumimoji="0" lang="zh-CN" altLang="en-US" sz="12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值，到相应的桶中去查询（探测）与之匹配的元组。没有与之匹配的元组</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mn-lt"/>
                <a:ea typeface="+mn-ea"/>
                <a:cs typeface="+mn-cs"/>
              </a:rPr>
              <a:t>3.</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重复上述操作，直到表</a:t>
            </a:r>
            <a:r>
              <a:rPr kumimoji="0" lang="en-US" altLang="zh-CN" sz="1200" b="0" i="0" u="none" strike="noStrike" kern="1200" cap="none" spc="0" normalizeH="0" baseline="0" noProof="0" dirty="0">
                <a:ln>
                  <a:noFill/>
                </a:ln>
                <a:solidFill>
                  <a:schemeClr val="tx1"/>
                </a:solidFill>
                <a:effectLst/>
                <a:uLnTx/>
                <a:uFillTx/>
                <a:latin typeface="+mn-lt"/>
                <a:ea typeface="+mn-ea"/>
                <a:cs typeface="+mn-cs"/>
              </a:rPr>
              <a:t>R</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中的全部元组都处理完毕。</a:t>
            </a:r>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30724" name="灯片编号占位符 3"/>
          <p:cNvSpPr txBox="1">
            <a:spLocks noGrp="1"/>
          </p:cNvSpPr>
          <p:nvPr>
            <p:ph type="sldNum" sz="quarter"/>
          </p:nvPr>
        </p:nvSpPr>
        <p:spPr>
          <a:xfrm>
            <a:off x="3883025" y="8683625"/>
            <a:ext cx="2971800" cy="458788"/>
          </a:xfrm>
          <a:prstGeom prst="rect">
            <a:avLst/>
          </a:prstGeom>
          <a:noFill/>
          <a:ln w="9525">
            <a:noFill/>
          </a:ln>
        </p:spPr>
        <p:txBody>
          <a:bodyPr anchor="b" anchorCtr="0"/>
          <a:p>
            <a:pPr lvl="0" algn="r">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4925"/>
            <a:ext cx="2743200" cy="62293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34925"/>
            <a:ext cx="8026400" cy="62293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1"/>
            <a:ext cx="9855200" cy="563563"/>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828800"/>
            <a:ext cx="5384800" cy="4495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6197600" y="1828801"/>
            <a:ext cx="5384800" cy="21717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6197600" y="4152901"/>
            <a:ext cx="5384800" cy="21717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1" name="Rectangle 15"/>
          <p:cNvSpPr>
            <a:spLocks noGrp="1" noChangeArrowheads="1"/>
          </p:cNvSpPr>
          <p:nvPr>
            <p:ph type="dt" sz="half" idx="12"/>
          </p:nvPr>
        </p:nvSpPr>
        <p:spPr>
          <a:xfrm>
            <a:off x="609600" y="6400800"/>
            <a:ext cx="2844800" cy="322263"/>
          </a:xfrm>
          <a:prstGeom prst="rect">
            <a:avLst/>
          </a:prstGeom>
        </p:spPr>
        <p:txBody>
          <a:bodyPr/>
          <a:lstStyle>
            <a:lvl1pPr eaLnBrk="1" hangingPunct="1">
              <a:buFont typeface="Arial" panose="020B0604020202020204" pitchFamily="34" charset="0"/>
              <a:buNone/>
              <a:defRPr>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2" name="Rectangle 16"/>
          <p:cNvSpPr>
            <a:spLocks noGrp="1" noChangeArrowheads="1"/>
          </p:cNvSpPr>
          <p:nvPr>
            <p:ph type="ftr" sz="quarter" idx="13"/>
          </p:nvPr>
        </p:nvSpPr>
        <p:spPr>
          <a:xfrm>
            <a:off x="6959600" y="6381750"/>
            <a:ext cx="4800600" cy="322263"/>
          </a:xfrm>
          <a:prstGeom prst="rect">
            <a:avLst/>
          </a:prstGeom>
        </p:spPr>
        <p:txBody>
          <a:bodyPr/>
          <a:lstStyle>
            <a:lvl1pPr eaLnBrk="1" hangingPunct="1">
              <a:buFont typeface="Arial" panose="020B0604020202020204" pitchFamily="34" charset="0"/>
              <a:buNone/>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An Introduction to Database System</a:t>
            </a: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1"/>
            <a:ext cx="9855200" cy="563563"/>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828800"/>
            <a:ext cx="5384800" cy="4495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828800"/>
            <a:ext cx="5384800" cy="4495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1" name="Rectangle 15"/>
          <p:cNvSpPr>
            <a:spLocks noGrp="1" noChangeArrowheads="1"/>
          </p:cNvSpPr>
          <p:nvPr>
            <p:ph type="dt" sz="half" idx="12"/>
          </p:nvPr>
        </p:nvSpPr>
        <p:spPr>
          <a:xfrm>
            <a:off x="609600" y="6400800"/>
            <a:ext cx="2844800" cy="322263"/>
          </a:xfrm>
          <a:prstGeom prst="rect">
            <a:avLst/>
          </a:prstGeom>
        </p:spPr>
        <p:txBody>
          <a:bodyPr/>
          <a:lstStyle>
            <a:lvl1pPr eaLnBrk="1" hangingPunct="1">
              <a:buFont typeface="Arial" panose="020B0604020202020204" pitchFamily="34" charset="0"/>
              <a:buNone/>
              <a:defRPr>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2" name="Rectangle 16"/>
          <p:cNvSpPr>
            <a:spLocks noGrp="1" noChangeArrowheads="1"/>
          </p:cNvSpPr>
          <p:nvPr>
            <p:ph type="ftr" sz="quarter" idx="3"/>
          </p:nvPr>
        </p:nvSpPr>
        <p:spPr>
          <a:xfrm>
            <a:off x="6959600" y="6381750"/>
            <a:ext cx="4800600" cy="322263"/>
          </a:xfrm>
          <a:prstGeom prst="rect">
            <a:avLst/>
          </a:prstGeom>
        </p:spPr>
        <p:txBody>
          <a:bodyPr/>
          <a:lstStyle>
            <a:lvl1pPr eaLnBrk="1" hangingPunct="1">
              <a:buFont typeface="Arial" panose="020B0604020202020204" pitchFamily="34" charset="0"/>
              <a:buNone/>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An Introduction to Database System</a:t>
            </a: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3.png"/><Relationship Id="rId15" Type="http://schemas.openxmlformats.org/officeDocument/2006/relationships/image" Target="../media/image2.png"/><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1" name="图片 10"/>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 y="-8938"/>
            <a:ext cx="12192000" cy="6866938"/>
          </a:xfrm>
          <a:prstGeom prst="rect">
            <a:avLst/>
          </a:prstGeom>
          <a:effectLst>
            <a:glow>
              <a:schemeClr val="accent1">
                <a:alpha val="40000"/>
              </a:schemeClr>
            </a:glow>
            <a:softEdge rad="0"/>
          </a:effectLst>
        </p:spPr>
      </p:pic>
      <p:sp>
        <p:nvSpPr>
          <p:cNvPr id="1027" name="Rectangle 2"/>
          <p:cNvSpPr>
            <a:spLocks noGrp="1"/>
          </p:cNvSpPr>
          <p:nvPr>
            <p:ph type="title"/>
          </p:nvPr>
        </p:nvSpPr>
        <p:spPr>
          <a:xfrm>
            <a:off x="609600" y="-34925"/>
            <a:ext cx="10972800" cy="1133475"/>
          </a:xfrm>
          <a:prstGeom prst="rect">
            <a:avLst/>
          </a:prstGeom>
          <a:noFill/>
          <a:ln w="9525">
            <a:noFill/>
          </a:ln>
        </p:spPr>
        <p:txBody>
          <a:bodyPr anchor="ctr" anchorCtr="0"/>
          <a:p>
            <a:pPr lvl="0"/>
            <a:r>
              <a:rPr lang="zh-CN" altLang="zh-CN" dirty="0"/>
              <a:t>单击此处编辑母版标题样式</a:t>
            </a:r>
            <a:endParaRPr lang="zh-CN" altLang="zh-CN" dirty="0"/>
          </a:p>
        </p:txBody>
      </p:sp>
      <p:sp>
        <p:nvSpPr>
          <p:cNvPr id="1028" name="Rectangle 3"/>
          <p:cNvSpPr>
            <a:spLocks noGrp="1"/>
          </p:cNvSpPr>
          <p:nvPr>
            <p:ph type="body" idx="1"/>
          </p:nvPr>
        </p:nvSpPr>
        <p:spPr>
          <a:xfrm>
            <a:off x="609600" y="1339850"/>
            <a:ext cx="10972800" cy="4854575"/>
          </a:xfrm>
          <a:prstGeom prst="rect">
            <a:avLst/>
          </a:prstGeom>
          <a:noFill/>
          <a:ln w="9525">
            <a:noFill/>
          </a:ln>
        </p:spPr>
        <p:txBody>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31" name="Text Box 7"/>
          <p:cNvSpPr txBox="1">
            <a:spLocks noChangeArrowheads="1"/>
          </p:cNvSpPr>
          <p:nvPr/>
        </p:nvSpPr>
        <p:spPr bwMode="auto">
          <a:xfrm>
            <a:off x="7346950" y="6454775"/>
            <a:ext cx="5472113" cy="338138"/>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6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34" name="Text Box 10"/>
          <p:cNvSpPr txBox="1">
            <a:spLocks noChangeArrowheads="1"/>
          </p:cNvSpPr>
          <p:nvPr/>
        </p:nvSpPr>
        <p:spPr bwMode="auto">
          <a:xfrm>
            <a:off x="8472488" y="6442075"/>
            <a:ext cx="3887788" cy="338138"/>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rPr>
              <a:t>An Introduction to Database System</a:t>
            </a:r>
            <a:endParaRPr kumimoji="0" lang="en-US" altLang="zh-CN" sz="16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endParaRPr>
          </a:p>
        </p:txBody>
      </p:sp>
      <p:pic>
        <p:nvPicPr>
          <p:cNvPr id="2" name="图片 11"/>
          <p:cNvPicPr>
            <a:picLocks noChangeAspect="1"/>
          </p:cNvPicPr>
          <p:nvPr userDrawn="1"/>
        </p:nvPicPr>
        <p:blipFill>
          <a:blip r:embed="rId15"/>
          <a:stretch>
            <a:fillRect/>
          </a:stretch>
        </p:blipFill>
        <p:spPr>
          <a:xfrm>
            <a:off x="0" y="830263"/>
            <a:ext cx="12192000" cy="5584825"/>
          </a:xfrm>
          <a:prstGeom prst="rect">
            <a:avLst/>
          </a:prstGeom>
          <a:noFill/>
          <a:ln w="9525">
            <a:noFill/>
          </a:ln>
        </p:spPr>
      </p:pic>
      <p:pic>
        <p:nvPicPr>
          <p:cNvPr id="1032" name="Picture 9" descr="图片3"/>
          <p:cNvPicPr>
            <a:picLocks noChangeAspect="1"/>
          </p:cNvPicPr>
          <p:nvPr userDrawn="1"/>
        </p:nvPicPr>
        <p:blipFill>
          <a:blip r:embed="rId16"/>
          <a:stretch>
            <a:fillRect/>
          </a:stretch>
        </p:blipFill>
        <p:spPr>
          <a:xfrm>
            <a:off x="10669588" y="4765675"/>
            <a:ext cx="1498600" cy="20288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6.png"/><Relationship Id="rId1" Type="http://schemas.openxmlformats.org/officeDocument/2006/relationships/audio" Target="NULL" TargetMode="External"/></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vmlDrawing" Target="../drawings/vmlDrawing1.vml"/><Relationship Id="rId6" Type="http://schemas.openxmlformats.org/officeDocument/2006/relationships/slideLayout" Target="../slideLayouts/slideLayout13.xml"/><Relationship Id="rId5" Type="http://schemas.openxmlformats.org/officeDocument/2006/relationships/tags" Target="../tags/tag1.xml"/><Relationship Id="rId4" Type="http://schemas.openxmlformats.org/officeDocument/2006/relationships/image" Target="../media/image8.png"/><Relationship Id="rId3" Type="http://schemas.openxmlformats.org/officeDocument/2006/relationships/audio" Target="NULL" TargetMode="External"/><Relationship Id="rId2" Type="http://schemas.openxmlformats.org/officeDocument/2006/relationships/image" Target="../media/image7.png"/><Relationship Id="rId1" Type="http://schemas.openxmlformats.org/officeDocument/2006/relationships/oleObject" Target="../embeddings/oleObject1.bin"/></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2.xml"/><Relationship Id="rId2" Type="http://schemas.openxmlformats.org/officeDocument/2006/relationships/image" Target="../media/image9.png"/><Relationship Id="rId1" Type="http://schemas.openxmlformats.org/officeDocument/2006/relationships/audio" Target="NULL" TargetMode="External"/></Relationships>
</file>

<file path=ppt/slides/_rels/slide3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vmlDrawing" Target="../drawings/vmlDrawing2.vml"/><Relationship Id="rId7" Type="http://schemas.openxmlformats.org/officeDocument/2006/relationships/slideLayout" Target="../slideLayouts/slideLayout13.xml"/><Relationship Id="rId6" Type="http://schemas.openxmlformats.org/officeDocument/2006/relationships/tags" Target="../tags/tag2.xml"/><Relationship Id="rId5" Type="http://schemas.openxmlformats.org/officeDocument/2006/relationships/image" Target="../media/image6.png"/><Relationship Id="rId4" Type="http://schemas.openxmlformats.org/officeDocument/2006/relationships/audio" Target="NULL" TargetMode="External"/><Relationship Id="rId3" Type="http://schemas.openxmlformats.org/officeDocument/2006/relationships/oleObject" Target="../embeddings/oleObject3.bin"/><Relationship Id="rId2" Type="http://schemas.openxmlformats.org/officeDocument/2006/relationships/image" Target="../media/image7.png"/><Relationship Id="rId1" Type="http://schemas.openxmlformats.org/officeDocument/2006/relationships/oleObject" Target="../embeddings/oleObject2.bin"/></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6.png"/><Relationship Id="rId1" Type="http://schemas.openxmlformats.org/officeDocument/2006/relationships/audio" Target="NULL" TargetMode="External"/></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vmlDrawing" Target="../drawings/vmlDrawing3.vml"/><Relationship Id="rId6" Type="http://schemas.openxmlformats.org/officeDocument/2006/relationships/slideLayout" Target="../slideLayouts/slideLayout13.xml"/><Relationship Id="rId5" Type="http://schemas.openxmlformats.org/officeDocument/2006/relationships/tags" Target="../tags/tag3.xml"/><Relationship Id="rId4" Type="http://schemas.openxmlformats.org/officeDocument/2006/relationships/image" Target="../media/image6.png"/><Relationship Id="rId3" Type="http://schemas.openxmlformats.org/officeDocument/2006/relationships/audio" Target="NULL" TargetMode="External"/><Relationship Id="rId2" Type="http://schemas.openxmlformats.org/officeDocument/2006/relationships/image" Target="../media/image7.png"/><Relationship Id="rId1" Type="http://schemas.openxmlformats.org/officeDocument/2006/relationships/oleObject" Target="../embeddings/oleObject4.bin"/></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6.png"/><Relationship Id="rId1" Type="http://schemas.openxmlformats.org/officeDocument/2006/relationships/audio" Target="NULL" TargetMode="External"/></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tags" Target="../tags/tag4.xml"/><Relationship Id="rId2" Type="http://schemas.openxmlformats.org/officeDocument/2006/relationships/image" Target="../media/image6.png"/><Relationship Id="rId1" Type="http://schemas.openxmlformats.org/officeDocument/2006/relationships/audio" Target="NUL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2.xml"/><Relationship Id="rId6" Type="http://schemas.openxmlformats.org/officeDocument/2006/relationships/image" Target="../media/image12.wmf"/><Relationship Id="rId5" Type="http://schemas.openxmlformats.org/officeDocument/2006/relationships/oleObject" Target="../embeddings/oleObject7.bin"/><Relationship Id="rId4" Type="http://schemas.openxmlformats.org/officeDocument/2006/relationships/image" Target="../media/image11.wmf"/><Relationship Id="rId3" Type="http://schemas.openxmlformats.org/officeDocument/2006/relationships/oleObject" Target="../embeddings/oleObject6.bin"/><Relationship Id="rId2" Type="http://schemas.openxmlformats.org/officeDocument/2006/relationships/image" Target="../media/image10.wmf"/><Relationship Id="rId1" Type="http://schemas.openxmlformats.org/officeDocument/2006/relationships/oleObject" Target="../embeddings/oleObject5.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9" Type="http://schemas.openxmlformats.org/officeDocument/2006/relationships/oleObject" Target="../embeddings/oleObject12.bin"/><Relationship Id="rId8" Type="http://schemas.openxmlformats.org/officeDocument/2006/relationships/image" Target="../media/image16.wmf"/><Relationship Id="rId7" Type="http://schemas.openxmlformats.org/officeDocument/2006/relationships/oleObject" Target="../embeddings/oleObject11.bin"/><Relationship Id="rId6" Type="http://schemas.openxmlformats.org/officeDocument/2006/relationships/image" Target="../media/image15.wmf"/><Relationship Id="rId5" Type="http://schemas.openxmlformats.org/officeDocument/2006/relationships/oleObject" Target="../embeddings/oleObject10.bin"/><Relationship Id="rId4" Type="http://schemas.openxmlformats.org/officeDocument/2006/relationships/image" Target="../media/image14.wmf"/><Relationship Id="rId3" Type="http://schemas.openxmlformats.org/officeDocument/2006/relationships/oleObject" Target="../embeddings/oleObject9.bin"/><Relationship Id="rId2" Type="http://schemas.openxmlformats.org/officeDocument/2006/relationships/image" Target="../media/image13.wmf"/><Relationship Id="rId12" Type="http://schemas.openxmlformats.org/officeDocument/2006/relationships/vmlDrawing" Target="../drawings/vmlDrawing5.vml"/><Relationship Id="rId11" Type="http://schemas.openxmlformats.org/officeDocument/2006/relationships/slideLayout" Target="../slideLayouts/slideLayout1.xml"/><Relationship Id="rId10" Type="http://schemas.openxmlformats.org/officeDocument/2006/relationships/oleObject" Target="../embeddings/oleObject13.bin"/><Relationship Id="rId1" Type="http://schemas.openxmlformats.org/officeDocument/2006/relationships/oleObject" Target="../embeddings/oleObject8.bin"/></Relationships>
</file>

<file path=ppt/slides/_rels/slide69.xml.rels><?xml version="1.0" encoding="UTF-8" standalone="yes"?>
<Relationships xmlns="http://schemas.openxmlformats.org/package/2006/relationships"><Relationship Id="rId9" Type="http://schemas.openxmlformats.org/officeDocument/2006/relationships/image" Target="../media/image20.wmf"/><Relationship Id="rId8" Type="http://schemas.openxmlformats.org/officeDocument/2006/relationships/oleObject" Target="../embeddings/oleObject18.bin"/><Relationship Id="rId7" Type="http://schemas.openxmlformats.org/officeDocument/2006/relationships/image" Target="../media/image19.wmf"/><Relationship Id="rId6" Type="http://schemas.openxmlformats.org/officeDocument/2006/relationships/oleObject" Target="../embeddings/oleObject17.bin"/><Relationship Id="rId5" Type="http://schemas.openxmlformats.org/officeDocument/2006/relationships/oleObject" Target="../embeddings/oleObject16.bin"/><Relationship Id="rId4" Type="http://schemas.openxmlformats.org/officeDocument/2006/relationships/image" Target="../media/image18.wmf"/><Relationship Id="rId3" Type="http://schemas.openxmlformats.org/officeDocument/2006/relationships/oleObject" Target="../embeddings/oleObject15.bin"/><Relationship Id="rId2" Type="http://schemas.openxmlformats.org/officeDocument/2006/relationships/image" Target="../media/image17.wmf"/><Relationship Id="rId13" Type="http://schemas.openxmlformats.org/officeDocument/2006/relationships/vmlDrawing" Target="../drawings/vmlDrawing6.vml"/><Relationship Id="rId12" Type="http://schemas.openxmlformats.org/officeDocument/2006/relationships/slideLayout" Target="../slideLayouts/slideLayout1.xml"/><Relationship Id="rId11" Type="http://schemas.openxmlformats.org/officeDocument/2006/relationships/image" Target="../media/image21.wmf"/><Relationship Id="rId10" Type="http://schemas.openxmlformats.org/officeDocument/2006/relationships/oleObject" Target="../embeddings/oleObject19.bin"/><Relationship Id="rId1" Type="http://schemas.openxmlformats.org/officeDocument/2006/relationships/oleObject" Target="../embeddings/oleObject14.bin"/></Relationships>
</file>

<file path=ppt/slides/_rels/slide70.xml.rels><?xml version="1.0" encoding="UTF-8" standalone="yes"?>
<Relationships xmlns="http://schemas.openxmlformats.org/package/2006/relationships"><Relationship Id="rId9" Type="http://schemas.openxmlformats.org/officeDocument/2006/relationships/vmlDrawing" Target="../drawings/vmlDrawing7.vml"/><Relationship Id="rId8" Type="http://schemas.openxmlformats.org/officeDocument/2006/relationships/slideLayout" Target="../slideLayouts/slideLayout1.xml"/><Relationship Id="rId7" Type="http://schemas.openxmlformats.org/officeDocument/2006/relationships/image" Target="../media/image22.wmf"/><Relationship Id="rId6" Type="http://schemas.openxmlformats.org/officeDocument/2006/relationships/oleObject" Target="../embeddings/oleObject24.bin"/><Relationship Id="rId5" Type="http://schemas.openxmlformats.org/officeDocument/2006/relationships/oleObject" Target="../embeddings/oleObject23.bin"/><Relationship Id="rId4" Type="http://schemas.openxmlformats.org/officeDocument/2006/relationships/oleObject" Target="../embeddings/oleObject22.bin"/><Relationship Id="rId3" Type="http://schemas.openxmlformats.org/officeDocument/2006/relationships/oleObject" Target="../embeddings/oleObject21.bin"/><Relationship Id="rId2" Type="http://schemas.openxmlformats.org/officeDocument/2006/relationships/image" Target="../media/image17.wmf"/><Relationship Id="rId1" Type="http://schemas.openxmlformats.org/officeDocument/2006/relationships/oleObject" Target="../embeddings/oleObject20.bin"/></Relationships>
</file>

<file path=ppt/slides/_rels/slide71.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1.xml"/><Relationship Id="rId6" Type="http://schemas.openxmlformats.org/officeDocument/2006/relationships/oleObject" Target="../embeddings/oleObject28.bin"/><Relationship Id="rId5" Type="http://schemas.openxmlformats.org/officeDocument/2006/relationships/oleObject" Target="../embeddings/oleObject27.bin"/><Relationship Id="rId4" Type="http://schemas.openxmlformats.org/officeDocument/2006/relationships/image" Target="../media/image20.wmf"/><Relationship Id="rId3" Type="http://schemas.openxmlformats.org/officeDocument/2006/relationships/oleObject" Target="../embeddings/oleObject26.bin"/><Relationship Id="rId2" Type="http://schemas.openxmlformats.org/officeDocument/2006/relationships/image" Target="../media/image19.wmf"/><Relationship Id="rId1" Type="http://schemas.openxmlformats.org/officeDocument/2006/relationships/oleObject" Target="../embeddings/oleObject25.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9" Type="http://schemas.openxmlformats.org/officeDocument/2006/relationships/oleObject" Target="../embeddings/oleObject34.bin"/><Relationship Id="rId8" Type="http://schemas.openxmlformats.org/officeDocument/2006/relationships/oleObject" Target="../embeddings/oleObject33.bin"/><Relationship Id="rId7" Type="http://schemas.openxmlformats.org/officeDocument/2006/relationships/oleObject" Target="../embeddings/oleObject32.bin"/><Relationship Id="rId6" Type="http://schemas.openxmlformats.org/officeDocument/2006/relationships/image" Target="../media/image18.wmf"/><Relationship Id="rId5" Type="http://schemas.openxmlformats.org/officeDocument/2006/relationships/oleObject" Target="../embeddings/oleObject31.bin"/><Relationship Id="rId4" Type="http://schemas.openxmlformats.org/officeDocument/2006/relationships/image" Target="../media/image17.wmf"/><Relationship Id="rId3" Type="http://schemas.openxmlformats.org/officeDocument/2006/relationships/oleObject" Target="../embeddings/oleObject30.bin"/><Relationship Id="rId2" Type="http://schemas.openxmlformats.org/officeDocument/2006/relationships/image" Target="../media/image22.wmf"/><Relationship Id="rId11" Type="http://schemas.openxmlformats.org/officeDocument/2006/relationships/vmlDrawing" Target="../drawings/vmlDrawing9.vml"/><Relationship Id="rId10" Type="http://schemas.openxmlformats.org/officeDocument/2006/relationships/slideLayout" Target="../slideLayouts/slideLayout1.xml"/><Relationship Id="rId1" Type="http://schemas.openxmlformats.org/officeDocument/2006/relationships/oleObject" Target="../embeddings/oleObject29.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1.xml"/><Relationship Id="rId6" Type="http://schemas.openxmlformats.org/officeDocument/2006/relationships/image" Target="../media/image25.wmf"/><Relationship Id="rId5" Type="http://schemas.openxmlformats.org/officeDocument/2006/relationships/oleObject" Target="../embeddings/oleObject37.bin"/><Relationship Id="rId4" Type="http://schemas.openxmlformats.org/officeDocument/2006/relationships/image" Target="../media/image24.wmf"/><Relationship Id="rId3" Type="http://schemas.openxmlformats.org/officeDocument/2006/relationships/oleObject" Target="../embeddings/oleObject36.bin"/><Relationship Id="rId2" Type="http://schemas.openxmlformats.org/officeDocument/2006/relationships/image" Target="../media/image23.wmf"/><Relationship Id="rId1" Type="http://schemas.openxmlformats.org/officeDocument/2006/relationships/oleObject" Target="../embeddings/oleObject35.bin"/></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8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1.png"/><Relationship Id="rId2" Type="http://schemas.openxmlformats.org/officeDocument/2006/relationships/tags" Target="../tags/tag5.xml"/><Relationship Id="rId1" Type="http://schemas.openxmlformats.org/officeDocument/2006/relationships/image" Target="../media/image3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3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标题 1"/>
          <p:cNvSpPr>
            <a:spLocks noGrp="1"/>
          </p:cNvSpPr>
          <p:nvPr>
            <p:ph type="ctrTitle"/>
          </p:nvPr>
        </p:nvSpPr>
        <p:spPr>
          <a:xfrm>
            <a:off x="1524000" y="1122363"/>
            <a:ext cx="9144000" cy="2387600"/>
          </a:xfrm>
        </p:spPr>
        <p:txBody>
          <a:bodyPr vert="horz" wrap="square" lIns="91440" tIns="45720" rIns="91440" bIns="45720" anchor="ctr" anchorCtr="0"/>
          <a:p>
            <a:pPr>
              <a:buClrTx/>
              <a:buSzTx/>
              <a:buFontTx/>
              <a:buNone/>
            </a:pPr>
            <a:endParaRPr lang="zh-CN" altLang="en-US" dirty="0"/>
          </a:p>
        </p:txBody>
      </p:sp>
      <p:sp>
        <p:nvSpPr>
          <p:cNvPr id="3075" name="副标题 2"/>
          <p:cNvSpPr>
            <a:spLocks noGrp="1"/>
          </p:cNvSpPr>
          <p:nvPr>
            <p:ph type="subTitle" idx="1"/>
          </p:nvPr>
        </p:nvSpPr>
        <p:spPr>
          <a:xfrm>
            <a:off x="1524000" y="3602038"/>
            <a:ext cx="9144000" cy="1655762"/>
          </a:xfrm>
        </p:spPr>
        <p:txBody>
          <a:bodyPr vert="horz" wrap="square" lIns="91440" tIns="45720" rIns="91440" bIns="45720" anchor="t" anchorCtr="0"/>
          <a:p>
            <a:pPr>
              <a:buClrTx/>
              <a:buSzPct val="100000"/>
            </a:pPr>
            <a:endParaRPr lang="zh-CN" altLang="en-US" dirty="0">
              <a:latin typeface="+mn-lt"/>
              <a:ea typeface="+mn-ea"/>
              <a:cs typeface="+mn-cs"/>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7" name="文本框 6"/>
          <p:cNvSpPr txBox="1"/>
          <p:nvPr/>
        </p:nvSpPr>
        <p:spPr>
          <a:xfrm>
            <a:off x="615614" y="2232898"/>
            <a:ext cx="10960767" cy="830997"/>
          </a:xfrm>
          <a:prstGeom prst="rect">
            <a:avLst/>
          </a:prstGeom>
          <a:noFill/>
        </p:spPr>
        <p:txBody>
          <a:bodyPr wrap="square" rtlCol="0">
            <a:spAutoFit/>
            <a:scene3d>
              <a:camera prst="orthographicFront"/>
              <a:lightRig rig="threePt" dir="t"/>
            </a:scene3d>
            <a:sp3d extrusionH="57150">
              <a:bevelT w="38100" h="38100"/>
              <a:bevelB w="38100" h="38100"/>
            </a:sp3d>
          </a:bodyPr>
          <a:lstStyle/>
          <a:p>
            <a:pPr marR="0" algn="ctr" defTabSz="914400">
              <a:buClrTx/>
              <a:buSzTx/>
              <a:buFont typeface="Arial" panose="020B0604020202020204" pitchFamily="34" charset="0"/>
              <a:buNone/>
              <a:defRPr/>
            </a:pPr>
            <a:r>
              <a:rPr kumimoji="0" lang="en-US" altLang="zh-CN" sz="4800" b="1" kern="1200" cap="none" spc="0" normalizeH="0" baseline="0" noProof="0" dirty="0">
                <a:solidFill>
                  <a:schemeClr val="bg1"/>
                </a:solidFill>
                <a:latin typeface="Times New Roman" panose="02020603050405020304" charset="0"/>
                <a:ea typeface="宋体" panose="02010600030101010101" pitchFamily="2" charset="-122"/>
                <a:cs typeface="+mn-cs"/>
                <a:sym typeface="宋体" panose="02010600030101010101" pitchFamily="2" charset="-122"/>
              </a:rPr>
              <a:t>Introduction to Database Systems</a:t>
            </a:r>
            <a:r>
              <a:rPr kumimoji="0" lang="zh-CN" altLang="en-US" sz="4800" kern="1200" cap="none" spc="0" normalizeH="0" baseline="0" noProof="0" dirty="0">
                <a:latin typeface="黑体" panose="02010609060101010101" pitchFamily="49" charset="-122"/>
                <a:ea typeface="黑体" panose="02010609060101010101" pitchFamily="49" charset="-122"/>
                <a:cs typeface="+mn-cs"/>
                <a:sym typeface="宋体" panose="02010600030101010101" pitchFamily="2" charset="-122"/>
              </a:rPr>
              <a:t> </a:t>
            </a:r>
            <a:endParaRPr kumimoji="0" lang="en-US" altLang="zh-CN" sz="4800" b="1" kern="1200" cap="none" spc="0" normalizeH="0" baseline="0" noProof="0" dirty="0">
              <a:solidFill>
                <a:schemeClr val="bg1"/>
              </a:solidFill>
              <a:latin typeface="Times New Roman" panose="02020603050405020304" charset="0"/>
              <a:ea typeface="宋体" panose="02010600030101010101" pitchFamily="2" charset="-122"/>
              <a:cs typeface="+mn-cs"/>
              <a:sym typeface="宋体" panose="02010600030101010101" pitchFamily="2" charset="-122"/>
            </a:endParaRPr>
          </a:p>
        </p:txBody>
      </p:sp>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grpSp>
        <p:nvGrpSpPr>
          <p:cNvPr id="3081" name="组合 14"/>
          <p:cNvGrpSpPr/>
          <p:nvPr/>
        </p:nvGrpSpPr>
        <p:grpSpPr>
          <a:xfrm>
            <a:off x="2400300" y="3357563"/>
            <a:ext cx="7391400" cy="365125"/>
            <a:chOff x="2400300" y="3894867"/>
            <a:chExt cx="7391400" cy="365792"/>
          </a:xfrm>
        </p:grpSpPr>
        <p:cxnSp>
          <p:nvCxnSpPr>
            <p:cNvPr id="8" name="直接连接符 7"/>
            <p:cNvCxnSpPr/>
            <p:nvPr/>
          </p:nvCxnSpPr>
          <p:spPr>
            <a:xfrm>
              <a:off x="2400300" y="3878483"/>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878483"/>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2"/>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3082" name="矩形 11"/>
          <p:cNvSpPr/>
          <p:nvPr/>
        </p:nvSpPr>
        <p:spPr>
          <a:xfrm>
            <a:off x="4578350" y="5927725"/>
            <a:ext cx="3767138" cy="387350"/>
          </a:xfrm>
          <a:prstGeom prst="rect">
            <a:avLst/>
          </a:prstGeom>
          <a:noFill/>
          <a:ln w="9525">
            <a:noFill/>
          </a:ln>
        </p:spPr>
        <p:txBody>
          <a:bodyPr>
            <a:spAutoFit/>
          </a:bodyPr>
          <a:p>
            <a:pPr algn="ctr">
              <a:lnSpc>
                <a:spcPct val="80000"/>
              </a:lnSpc>
              <a:spcBef>
                <a:spcPct val="20000"/>
              </a:spcBef>
              <a:buFont typeface="Wingdings" panose="05000000000000000000" pitchFamily="2" charset="2"/>
              <a:buNone/>
            </a:pPr>
            <a:r>
              <a:rPr lang="zh-CN" altLang="en-US" sz="2400" b="1" dirty="0">
                <a:solidFill>
                  <a:schemeClr val="bg1"/>
                </a:solidFill>
                <a:latin typeface="Times-Roman" charset="0"/>
                <a:ea typeface="隶书" panose="02010509060101010101" pitchFamily="49" charset="-122"/>
              </a:rPr>
              <a:t>中国人民大学信息学院</a:t>
            </a:r>
            <a:endParaRPr lang="zh-CN" altLang="en-US" sz="2400" b="1" dirty="0">
              <a:solidFill>
                <a:schemeClr val="bg1"/>
              </a:solidFill>
              <a:latin typeface="Times-Roman" charset="0"/>
              <a:ea typeface="隶书" panose="02010509060101010101" pitchFamily="49" charset="-122"/>
            </a:endParaRPr>
          </a:p>
        </p:txBody>
      </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marR="0" algn="ctr" defTabSz="914400">
              <a:buClrTx/>
              <a:buSzTx/>
              <a:buFont typeface="Arial" panose="020B0604020202020204" pitchFamily="34" charset="0"/>
              <a:buNone/>
              <a:defRPr/>
            </a:pPr>
            <a:r>
              <a:rPr kumimoji="0" lang="zh-CN" altLang="en-US" sz="6600" kern="1200" cap="none" spc="0" normalizeH="0" baseline="0" noProof="0" dirty="0">
                <a:solidFill>
                  <a:schemeClr val="bg1"/>
                </a:solidFill>
                <a:latin typeface="黑体" panose="02010609060101010101" pitchFamily="49" charset="-122"/>
                <a:ea typeface="黑体" panose="02010609060101010101" pitchFamily="49" charset="-122"/>
                <a:cs typeface="+mn-cs"/>
                <a:sym typeface="宋体" panose="02010600030101010101" pitchFamily="2" charset="-122"/>
              </a:rPr>
              <a:t>数据库系统概论</a:t>
            </a:r>
            <a:endParaRPr kumimoji="0" lang="en-US" altLang="zh-CN" sz="6600" kern="1200" cap="none" spc="0" normalizeH="0" baseline="0" noProof="0" dirty="0">
              <a:solidFill>
                <a:schemeClr val="bg1"/>
              </a:solidFill>
              <a:latin typeface="黑体" panose="02010609060101010101" pitchFamily="49" charset="-122"/>
              <a:ea typeface="黑体" panose="02010609060101010101" pitchFamily="49" charset="-122"/>
              <a:cs typeface="+mn-cs"/>
              <a:sym typeface="宋体" panose="02010600030101010101" pitchFamily="2" charset="-122"/>
            </a:endParaRPr>
          </a:p>
        </p:txBody>
      </p:sp>
      <p:sp>
        <p:nvSpPr>
          <p:cNvPr id="3084" name="矩形 1"/>
          <p:cNvSpPr/>
          <p:nvPr/>
        </p:nvSpPr>
        <p:spPr>
          <a:xfrm>
            <a:off x="1685925" y="3938588"/>
            <a:ext cx="8418513" cy="1570037"/>
          </a:xfrm>
          <a:prstGeom prst="rect">
            <a:avLst/>
          </a:prstGeom>
          <a:noFill/>
          <a:ln w="9525">
            <a:noFill/>
          </a:ln>
        </p:spPr>
        <p:txBody>
          <a:bodyPr>
            <a:spAutoFit/>
          </a:bodyPr>
          <a:p>
            <a:pPr algn="ctr" eaLnBrk="1" hangingPunct="1">
              <a:buNone/>
            </a:pPr>
            <a:r>
              <a:rPr lang="zh-CN" altLang="en-US" sz="4800" dirty="0">
                <a:solidFill>
                  <a:schemeClr val="bg1"/>
                </a:solidFill>
                <a:latin typeface="黑体" panose="02010609060101010101" pitchFamily="49" charset="-122"/>
                <a:ea typeface="黑体" panose="02010609060101010101" pitchFamily="49" charset="-122"/>
              </a:rPr>
              <a:t>第十章 关系查询处理     </a:t>
            </a:r>
            <a:endParaRPr lang="en-US" altLang="zh-CN" sz="4800" dirty="0">
              <a:solidFill>
                <a:schemeClr val="bg1"/>
              </a:solidFill>
              <a:latin typeface="黑体" panose="02010609060101010101" pitchFamily="49" charset="-122"/>
              <a:ea typeface="黑体" panose="02010609060101010101" pitchFamily="49" charset="-122"/>
            </a:endParaRPr>
          </a:p>
          <a:p>
            <a:pPr algn="ctr" eaLnBrk="1" hangingPunct="1">
              <a:buNone/>
            </a:pPr>
            <a:r>
              <a:rPr lang="en-US" altLang="zh-CN" sz="4800" dirty="0">
                <a:solidFill>
                  <a:schemeClr val="bg1"/>
                </a:solidFill>
                <a:latin typeface="黑体" panose="02010609060101010101" pitchFamily="49" charset="-122"/>
                <a:ea typeface="黑体" panose="02010609060101010101" pitchFamily="49" charset="-122"/>
              </a:rPr>
              <a:t>      </a:t>
            </a:r>
            <a:r>
              <a:rPr lang="zh-CN" altLang="en-US" sz="4800" dirty="0">
                <a:solidFill>
                  <a:schemeClr val="bg1"/>
                </a:solidFill>
                <a:latin typeface="黑体" panose="02010609060101010101" pitchFamily="49" charset="-122"/>
                <a:ea typeface="黑体" panose="02010609060101010101" pitchFamily="49" charset="-122"/>
              </a:rPr>
              <a:t>和查询优化</a:t>
            </a:r>
            <a:endParaRPr lang="zh-CN" altLang="en-US" sz="4400" b="1" dirty="0">
              <a:solidFill>
                <a:schemeClr val="bg1"/>
              </a:solidFill>
              <a:latin typeface="Times-Roman" charset="0"/>
              <a:ea typeface="隶书" panose="020105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标题 1"/>
          <p:cNvSpPr>
            <a:spLocks noGrp="1"/>
          </p:cNvSpPr>
          <p:nvPr>
            <p:ph type="title"/>
          </p:nvPr>
        </p:nvSpPr>
        <p:spPr/>
        <p:txBody>
          <a:bodyPr vert="horz" wrap="square" lIns="91440" tIns="45720" rIns="91440" bIns="45720" anchor="ctr" anchorCtr="0"/>
          <a:p>
            <a:r>
              <a:rPr lang="zh-CN" altLang="zh-CN" sz="3600" dirty="0">
                <a:sym typeface="宋体" panose="02010600030101010101" pitchFamily="2" charset="-122"/>
              </a:rPr>
              <a:t>第</a:t>
            </a:r>
            <a:r>
              <a:rPr lang="zh-CN" altLang="en-US" sz="3600" dirty="0">
                <a:sym typeface="宋体" panose="02010600030101010101" pitchFamily="2" charset="-122"/>
              </a:rPr>
              <a:t>十</a:t>
            </a:r>
            <a:r>
              <a:rPr lang="zh-CN" altLang="zh-CN" sz="3600" dirty="0">
                <a:sym typeface="宋体" panose="02010600030101010101" pitchFamily="2" charset="-122"/>
              </a:rPr>
              <a:t>章</a:t>
            </a:r>
            <a:r>
              <a:rPr lang="zh-CN" altLang="zh-CN" sz="3600" dirty="0"/>
              <a:t>  </a:t>
            </a:r>
            <a:r>
              <a:rPr lang="zh-CN" altLang="zh-CN" sz="3600" dirty="0">
                <a:sym typeface="宋体" panose="02010600030101010101" pitchFamily="2" charset="-122"/>
              </a:rPr>
              <a:t>关系</a:t>
            </a:r>
            <a:r>
              <a:rPr lang="zh-CN" altLang="en-US" sz="3600" dirty="0">
                <a:sym typeface="宋体" panose="02010600030101010101" pitchFamily="2" charset="-122"/>
              </a:rPr>
              <a:t>查询处理和查询</a:t>
            </a:r>
            <a:r>
              <a:rPr lang="zh-CN" altLang="zh-CN" sz="3600" dirty="0">
                <a:sym typeface="宋体" panose="02010600030101010101" pitchFamily="2" charset="-122"/>
              </a:rPr>
              <a:t>优化</a:t>
            </a:r>
            <a:endParaRPr lang="zh-CN" altLang="en-US" sz="3600" dirty="0"/>
          </a:p>
        </p:txBody>
      </p:sp>
      <p:sp>
        <p:nvSpPr>
          <p:cNvPr id="5123" name="内容占位符 2"/>
          <p:cNvSpPr>
            <a:spLocks noGrp="1"/>
          </p:cNvSpPr>
          <p:nvPr>
            <p:ph idx="1"/>
          </p:nvPr>
        </p:nvSpPr>
        <p:spPr>
          <a:xfrm>
            <a:off x="612775" y="1355725"/>
            <a:ext cx="10972800" cy="4854575"/>
          </a:xfrm>
        </p:spPr>
        <p:txBody>
          <a:bodyPr vert="horz" wrap="square" lIns="91440" tIns="45720" rIns="91440" bIns="45720" anchor="t" anchorCtr="0"/>
          <a:p>
            <a:pPr lvl="1" eaLnBrk="1" hangingPunct="1">
              <a:lnSpc>
                <a:spcPct val="140000"/>
              </a:lnSpc>
              <a:buNone/>
            </a:pPr>
            <a:r>
              <a:rPr lang="en-US" altLang="zh-CN" sz="2800" dirty="0">
                <a:solidFill>
                  <a:srgbClr val="0066FF"/>
                </a:solidFill>
              </a:rPr>
              <a:t>10.1 </a:t>
            </a:r>
            <a:r>
              <a:rPr lang="zh-CN" altLang="en-US" sz="2800" dirty="0">
                <a:solidFill>
                  <a:srgbClr val="0066FF"/>
                </a:solidFill>
              </a:rPr>
              <a:t>关系数据库系统的查询处理 </a:t>
            </a:r>
            <a:endParaRPr lang="zh-CN" altLang="en-US" sz="2800" dirty="0">
              <a:solidFill>
                <a:srgbClr val="0066FF"/>
              </a:solidFill>
            </a:endParaRPr>
          </a:p>
          <a:p>
            <a:pPr lvl="1" eaLnBrk="1" hangingPunct="1">
              <a:lnSpc>
                <a:spcPct val="140000"/>
              </a:lnSpc>
              <a:buNone/>
            </a:pPr>
            <a:r>
              <a:rPr lang="en-US" altLang="zh-CN" sz="2800" dirty="0"/>
              <a:t>10.2 </a:t>
            </a:r>
            <a:r>
              <a:rPr lang="zh-CN" altLang="en-US" sz="2800" dirty="0"/>
              <a:t>关系数据库系统的查询优化 </a:t>
            </a:r>
            <a:endParaRPr lang="zh-CN" altLang="en-US" sz="2800" dirty="0"/>
          </a:p>
          <a:p>
            <a:pPr lvl="1" eaLnBrk="1" hangingPunct="1">
              <a:lnSpc>
                <a:spcPct val="140000"/>
              </a:lnSpc>
              <a:buNone/>
            </a:pPr>
            <a:r>
              <a:rPr lang="en-US" altLang="zh-CN" sz="2800" dirty="0"/>
              <a:t>10.3 </a:t>
            </a:r>
            <a:r>
              <a:rPr lang="zh-CN" altLang="en-US" sz="2800" dirty="0"/>
              <a:t>代数优化 </a:t>
            </a:r>
            <a:endParaRPr lang="zh-CN" altLang="en-US" sz="2800" dirty="0"/>
          </a:p>
          <a:p>
            <a:pPr lvl="1" eaLnBrk="1" hangingPunct="1">
              <a:lnSpc>
                <a:spcPct val="140000"/>
              </a:lnSpc>
              <a:buNone/>
            </a:pPr>
            <a:r>
              <a:rPr lang="en-US" altLang="zh-CN" sz="2800" dirty="0"/>
              <a:t>10.4 </a:t>
            </a:r>
            <a:r>
              <a:rPr lang="zh-CN" altLang="en-US" sz="2800" dirty="0"/>
              <a:t>物理优化 </a:t>
            </a:r>
            <a:endParaRPr lang="zh-CN" altLang="en-US" sz="2800" dirty="0"/>
          </a:p>
          <a:p>
            <a:pPr lvl="1" eaLnBrk="1" hangingPunct="1">
              <a:lnSpc>
                <a:spcPct val="140000"/>
              </a:lnSpc>
              <a:buNone/>
            </a:pPr>
            <a:r>
              <a:rPr lang="en-US" altLang="zh-CN" sz="2800" dirty="0"/>
              <a:t>*10.5 </a:t>
            </a:r>
            <a:r>
              <a:rPr lang="zh-CN" altLang="en-US" sz="2800" dirty="0"/>
              <a:t>查询计划的执行</a:t>
            </a:r>
            <a:endParaRPr lang="zh-CN" altLang="en-US" sz="2800" dirty="0"/>
          </a:p>
          <a:p>
            <a:pPr lvl="1" eaLnBrk="1" hangingPunct="1">
              <a:lnSpc>
                <a:spcPct val="140000"/>
              </a:lnSpc>
              <a:buNone/>
            </a:pPr>
            <a:r>
              <a:rPr lang="en-US" altLang="zh-CN" sz="2800" dirty="0"/>
              <a:t>10.6 </a:t>
            </a:r>
            <a:r>
              <a:rPr lang="zh-CN" altLang="en-US" sz="2800" dirty="0"/>
              <a:t>小 结 </a:t>
            </a:r>
            <a:endParaRPr lang="zh-CN" altLang="en-US" sz="2800" dirty="0"/>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标题 1"/>
          <p:cNvSpPr>
            <a:spLocks noGrp="1"/>
          </p:cNvSpPr>
          <p:nvPr>
            <p:ph type="title"/>
          </p:nvPr>
        </p:nvSpPr>
        <p:spPr/>
        <p:txBody>
          <a:bodyPr vert="horz" wrap="square" lIns="91440" tIns="45720" rIns="91440" bIns="45720" anchor="ctr" anchorCtr="0"/>
          <a:p>
            <a:r>
              <a:rPr lang="zh-CN" altLang="zh-CN" sz="3600" dirty="0">
                <a:sym typeface="宋体" panose="02010600030101010101" pitchFamily="2" charset="-122"/>
              </a:rPr>
              <a:t>关系</a:t>
            </a:r>
            <a:r>
              <a:rPr lang="zh-CN" altLang="en-US" sz="3600" dirty="0">
                <a:sym typeface="宋体" panose="02010600030101010101" pitchFamily="2" charset="-122"/>
              </a:rPr>
              <a:t>查询处理和查询</a:t>
            </a:r>
            <a:r>
              <a:rPr lang="zh-CN" altLang="zh-CN" sz="3600" dirty="0">
                <a:sym typeface="宋体" panose="02010600030101010101" pitchFamily="2" charset="-122"/>
              </a:rPr>
              <a:t>优化（续）</a:t>
            </a:r>
            <a:endParaRPr lang="zh-CN" altLang="en-US" sz="3600" dirty="0"/>
          </a:p>
        </p:txBody>
      </p:sp>
      <p:sp>
        <p:nvSpPr>
          <p:cNvPr id="3" name="内容占位符 2"/>
          <p:cNvSpPr>
            <a:spLocks noGrp="1"/>
          </p:cNvSpPr>
          <p:nvPr>
            <p:ph idx="1"/>
          </p:nvPr>
        </p:nvSpPr>
        <p:spPr>
          <a:xfrm>
            <a:off x="766763" y="1295400"/>
            <a:ext cx="10972800" cy="4854575"/>
          </a:xfrm>
        </p:spPr>
        <p:txBody>
          <a:bodyPr vert="horz" wrap="square" lIns="91440" tIns="45720" rIns="91440" bIns="45720" numCol="1" anchor="t" anchorCtr="0" compatLnSpc="1"/>
          <a:lstStyle/>
          <a:p>
            <a:pPr marL="342900" marR="0" lvl="0" indent="-34290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本章内容：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关系数据库管理系统的查询处理步骤 </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查询优化的概念 </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基本方法和技术 </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查询优化分类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代数优化：指关系代数表达式的优化 </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物理优化：指存取路径和底层操作算法的选择</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1"/>
          <p:cNvSpPr>
            <a:spLocks noGrp="1"/>
          </p:cNvSpPr>
          <p:nvPr>
            <p:ph type="title"/>
          </p:nvPr>
        </p:nvSpPr>
        <p:spPr/>
        <p:txBody>
          <a:bodyPr vert="horz" wrap="square" lIns="91440" tIns="45720" rIns="91440" bIns="45720" anchor="ctr" anchorCtr="0"/>
          <a:p>
            <a:r>
              <a:rPr lang="en-US" altLang="zh-CN" sz="3600" dirty="0"/>
              <a:t>10.1 </a:t>
            </a:r>
            <a:r>
              <a:rPr lang="zh-CN" altLang="en-US" sz="3600" dirty="0"/>
              <a:t>关系数据库系统的查询处理</a:t>
            </a:r>
            <a:endParaRPr lang="zh-CN" altLang="en-US" sz="3600" dirty="0"/>
          </a:p>
        </p:txBody>
      </p:sp>
      <p:sp>
        <p:nvSpPr>
          <p:cNvPr id="7171" name="内容占位符 2"/>
          <p:cNvSpPr>
            <a:spLocks noGrp="1"/>
          </p:cNvSpPr>
          <p:nvPr>
            <p:ph idx="1"/>
          </p:nvPr>
        </p:nvSpPr>
        <p:spPr>
          <a:xfrm>
            <a:off x="911225" y="1362075"/>
            <a:ext cx="10972800" cy="4854575"/>
          </a:xfrm>
        </p:spPr>
        <p:txBody>
          <a:bodyPr vert="horz" wrap="square" lIns="91440" tIns="45720" rIns="91440" bIns="45720" anchor="t" anchorCtr="0"/>
          <a:p>
            <a:pPr marL="0" indent="0">
              <a:lnSpc>
                <a:spcPct val="150000"/>
              </a:lnSpc>
              <a:buNone/>
            </a:pPr>
            <a:r>
              <a:rPr lang="en-US" altLang="zh-CN" dirty="0">
                <a:solidFill>
                  <a:srgbClr val="00B050"/>
                </a:solidFill>
              </a:rPr>
              <a:t>10.1.1  </a:t>
            </a:r>
            <a:r>
              <a:rPr lang="zh-CN" altLang="en-US" dirty="0">
                <a:solidFill>
                  <a:srgbClr val="00B050"/>
                </a:solidFill>
              </a:rPr>
              <a:t>查询处理步骤</a:t>
            </a:r>
            <a:endParaRPr lang="zh-CN" altLang="en-US" dirty="0">
              <a:solidFill>
                <a:srgbClr val="00B050"/>
              </a:solidFill>
            </a:endParaRPr>
          </a:p>
          <a:p>
            <a:pPr marL="0" indent="0">
              <a:lnSpc>
                <a:spcPct val="150000"/>
              </a:lnSpc>
              <a:buNone/>
            </a:pPr>
            <a:r>
              <a:rPr lang="en-US" altLang="zh-CN" dirty="0"/>
              <a:t>10.1.2  </a:t>
            </a:r>
            <a:r>
              <a:rPr lang="zh-CN" altLang="en-US" dirty="0"/>
              <a:t>实现查询操作的算法示例 </a:t>
            </a:r>
            <a:endParaRPr lang="zh-CN" altLang="en-US" dirty="0"/>
          </a:p>
          <a:p>
            <a:pPr marL="0" indent="0">
              <a:buNone/>
            </a:pP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1"/>
          <p:cNvSpPr>
            <a:spLocks noGrp="1"/>
          </p:cNvSpPr>
          <p:nvPr>
            <p:ph type="title"/>
          </p:nvPr>
        </p:nvSpPr>
        <p:spPr/>
        <p:txBody>
          <a:bodyPr vert="horz" wrap="square" lIns="91440" tIns="45720" rIns="91440" bIns="45720" anchor="ctr" anchorCtr="0"/>
          <a:p>
            <a:r>
              <a:rPr lang="en-US" altLang="zh-CN" sz="3600" dirty="0"/>
              <a:t>10.1.1  </a:t>
            </a:r>
            <a:r>
              <a:rPr lang="zh-CN" altLang="en-US" sz="3600" dirty="0"/>
              <a:t>查询处理步骤</a:t>
            </a:r>
            <a:endParaRPr lang="zh-CN" altLang="en-US" sz="3600" dirty="0"/>
          </a:p>
        </p:txBody>
      </p:sp>
      <p:sp>
        <p:nvSpPr>
          <p:cNvPr id="8195" name="内容占位符 2"/>
          <p:cNvSpPr>
            <a:spLocks noGrp="1"/>
          </p:cNvSpPr>
          <p:nvPr>
            <p:ph idx="1"/>
          </p:nvPr>
        </p:nvSpPr>
        <p:spPr>
          <a:xfrm>
            <a:off x="766763" y="1412875"/>
            <a:ext cx="10972800" cy="4854575"/>
          </a:xfrm>
        </p:spPr>
        <p:txBody>
          <a:bodyPr vert="horz" wrap="square" lIns="91440" tIns="45720" rIns="91440" bIns="45720" anchor="t" anchorCtr="0"/>
          <a:p>
            <a:pPr>
              <a:lnSpc>
                <a:spcPct val="150000"/>
              </a:lnSpc>
            </a:pPr>
            <a:r>
              <a:rPr lang="zh-CN" altLang="en-US" dirty="0"/>
              <a:t>关系数据库管理系统查询处理阶段 ： </a:t>
            </a:r>
            <a:endParaRPr lang="zh-CN" altLang="en-US" dirty="0"/>
          </a:p>
          <a:p>
            <a:pPr marL="457200" lvl="1" indent="0">
              <a:lnSpc>
                <a:spcPct val="150000"/>
              </a:lnSpc>
              <a:buNone/>
            </a:pPr>
            <a:r>
              <a:rPr lang="en-US" altLang="zh-CN" dirty="0"/>
              <a:t>1. </a:t>
            </a:r>
            <a:r>
              <a:rPr lang="zh-CN" altLang="en-US" dirty="0"/>
              <a:t>查询分析</a:t>
            </a:r>
            <a:endParaRPr lang="zh-CN" altLang="en-US" dirty="0"/>
          </a:p>
          <a:p>
            <a:pPr marL="457200" lvl="1" indent="0">
              <a:lnSpc>
                <a:spcPct val="150000"/>
              </a:lnSpc>
              <a:buNone/>
            </a:pPr>
            <a:r>
              <a:rPr lang="en-US" altLang="zh-CN" dirty="0"/>
              <a:t>2. </a:t>
            </a:r>
            <a:r>
              <a:rPr lang="zh-CN" altLang="en-US" dirty="0"/>
              <a:t>查询检查</a:t>
            </a:r>
            <a:endParaRPr lang="zh-CN" altLang="en-US" dirty="0"/>
          </a:p>
          <a:p>
            <a:pPr marL="457200" lvl="1" indent="0">
              <a:lnSpc>
                <a:spcPct val="150000"/>
              </a:lnSpc>
              <a:buNone/>
            </a:pPr>
            <a:r>
              <a:rPr lang="en-US" altLang="zh-CN" dirty="0"/>
              <a:t>3. </a:t>
            </a:r>
            <a:r>
              <a:rPr lang="zh-CN" altLang="en-US" dirty="0"/>
              <a:t>查询优化 </a:t>
            </a:r>
            <a:endParaRPr lang="zh-CN" altLang="en-US" dirty="0"/>
          </a:p>
          <a:p>
            <a:pPr marL="457200" lvl="1" indent="0">
              <a:lnSpc>
                <a:spcPct val="150000"/>
              </a:lnSpc>
              <a:buNone/>
            </a:pPr>
            <a:r>
              <a:rPr lang="en-US" altLang="zh-CN" dirty="0"/>
              <a:t>4. </a:t>
            </a:r>
            <a:r>
              <a:rPr lang="zh-CN" altLang="en-US" dirty="0"/>
              <a:t>查询执行   </a:t>
            </a:r>
            <a:endParaRPr lang="zh-CN" altLang="en-US" dirty="0"/>
          </a:p>
          <a:p>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1"/>
          <p:cNvSpPr>
            <a:spLocks noGrp="1"/>
          </p:cNvSpPr>
          <p:nvPr>
            <p:ph type="title"/>
          </p:nvPr>
        </p:nvSpPr>
        <p:spPr>
          <a:xfrm>
            <a:off x="1981200" y="-34925"/>
            <a:ext cx="8229600" cy="800100"/>
          </a:xfrm>
        </p:spPr>
        <p:txBody>
          <a:bodyPr vert="horz" wrap="square" lIns="91440" tIns="45720" rIns="91440" bIns="45720" anchor="ctr" anchorCtr="0"/>
          <a:p>
            <a:r>
              <a:rPr lang="zh-CN" altLang="zh-CN" sz="3600" dirty="0"/>
              <a:t>查询处理步骤（续）</a:t>
            </a:r>
            <a:endParaRPr lang="zh-CN" altLang="en-US" sz="3600" dirty="0"/>
          </a:p>
        </p:txBody>
      </p:sp>
      <p:sp>
        <p:nvSpPr>
          <p:cNvPr id="4" name="Rectangle 4"/>
          <p:cNvSpPr/>
          <p:nvPr/>
        </p:nvSpPr>
        <p:spPr>
          <a:xfrm>
            <a:off x="4608513" y="5949950"/>
            <a:ext cx="2403475" cy="358775"/>
          </a:xfrm>
          <a:prstGeom prst="rect">
            <a:avLst/>
          </a:prstGeom>
          <a:solidFill>
            <a:srgbClr val="FF9999"/>
          </a:solid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r>
              <a:rPr lang="zh-CN" altLang="en-US" sz="1800" dirty="0"/>
              <a:t>查询计划的执行代码</a:t>
            </a:r>
            <a:endParaRPr lang="zh-CN" altLang="en-US" sz="1800" dirty="0"/>
          </a:p>
        </p:txBody>
      </p:sp>
      <p:sp>
        <p:nvSpPr>
          <p:cNvPr id="5" name="Rectangle 5"/>
          <p:cNvSpPr/>
          <p:nvPr/>
        </p:nvSpPr>
        <p:spPr>
          <a:xfrm>
            <a:off x="4968875" y="4005263"/>
            <a:ext cx="1466850" cy="576262"/>
          </a:xfrm>
          <a:prstGeom prst="rect">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SzTx/>
              <a:buFont typeface="Arial" panose="020B0604020202020204" pitchFamily="34" charset="0"/>
              <a:buNone/>
            </a:pPr>
            <a:r>
              <a:rPr lang="zh-CN" altLang="en-US" sz="1800" dirty="0"/>
              <a:t>代数优化</a:t>
            </a:r>
            <a:endParaRPr lang="en-US" altLang="zh-CN" sz="1800" dirty="0"/>
          </a:p>
          <a:p>
            <a:pPr marL="342900" lvl="0" indent="-342900" algn="ctr" eaLnBrk="1" hangingPunct="1">
              <a:spcBef>
                <a:spcPct val="0"/>
              </a:spcBef>
              <a:buSzTx/>
              <a:buFont typeface="Arial" panose="020B0604020202020204" pitchFamily="34" charset="0"/>
              <a:buNone/>
            </a:pPr>
            <a:r>
              <a:rPr lang="zh-CN" altLang="en-US" sz="1800" dirty="0"/>
              <a:t>物理优化等</a:t>
            </a:r>
            <a:endParaRPr lang="zh-CN" altLang="en-US" sz="1800" dirty="0"/>
          </a:p>
        </p:txBody>
      </p:sp>
      <p:sp>
        <p:nvSpPr>
          <p:cNvPr id="11" name="TextBox 10"/>
          <p:cNvSpPr txBox="1"/>
          <p:nvPr/>
        </p:nvSpPr>
        <p:spPr>
          <a:xfrm>
            <a:off x="5040313" y="909638"/>
            <a:ext cx="1114425"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800" dirty="0"/>
              <a:t>查询语句</a:t>
            </a:r>
            <a:endParaRPr lang="zh-CN" altLang="en-US" sz="1800" dirty="0"/>
          </a:p>
        </p:txBody>
      </p:sp>
      <p:sp>
        <p:nvSpPr>
          <p:cNvPr id="12" name="Line 16"/>
          <p:cNvSpPr/>
          <p:nvPr/>
        </p:nvSpPr>
        <p:spPr>
          <a:xfrm flipH="1">
            <a:off x="5613400" y="1196975"/>
            <a:ext cx="3175" cy="204788"/>
          </a:xfrm>
          <a:prstGeom prst="line">
            <a:avLst/>
          </a:prstGeom>
          <a:ln w="25400" cap="flat" cmpd="sng">
            <a:solidFill>
              <a:schemeClr val="tx1"/>
            </a:solidFill>
            <a:prstDash val="solid"/>
            <a:headEnd type="none" w="med" len="med"/>
            <a:tailEnd type="triangle" w="med" len="med"/>
          </a:ln>
        </p:spPr>
      </p:sp>
      <p:sp>
        <p:nvSpPr>
          <p:cNvPr id="13" name="Rectangle 5"/>
          <p:cNvSpPr/>
          <p:nvPr/>
        </p:nvSpPr>
        <p:spPr>
          <a:xfrm>
            <a:off x="4940300" y="1412875"/>
            <a:ext cx="1468438" cy="576263"/>
          </a:xfrm>
          <a:prstGeom prst="rect">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SzTx/>
              <a:buFont typeface="Arial" panose="020B0604020202020204" pitchFamily="34" charset="0"/>
              <a:buNone/>
            </a:pPr>
            <a:r>
              <a:rPr lang="zh-CN" altLang="en-US" sz="1800" dirty="0"/>
              <a:t>词法分析</a:t>
            </a:r>
            <a:endParaRPr lang="en-US" altLang="zh-CN" sz="1800" dirty="0"/>
          </a:p>
          <a:p>
            <a:pPr marL="342900" lvl="0" indent="-342900" algn="ctr" eaLnBrk="1" hangingPunct="1">
              <a:spcBef>
                <a:spcPct val="0"/>
              </a:spcBef>
              <a:buSzTx/>
              <a:buFont typeface="Arial" panose="020B0604020202020204" pitchFamily="34" charset="0"/>
              <a:buNone/>
            </a:pPr>
            <a:r>
              <a:rPr lang="zh-CN" altLang="en-US" sz="1800" dirty="0"/>
              <a:t>语法分析</a:t>
            </a:r>
            <a:endParaRPr lang="zh-CN" altLang="en-US" sz="1800" dirty="0"/>
          </a:p>
        </p:txBody>
      </p:sp>
      <p:sp>
        <p:nvSpPr>
          <p:cNvPr id="16" name="Rectangle 5"/>
          <p:cNvSpPr/>
          <p:nvPr/>
        </p:nvSpPr>
        <p:spPr>
          <a:xfrm>
            <a:off x="4895850" y="2205038"/>
            <a:ext cx="1712913" cy="1081087"/>
          </a:xfrm>
          <a:prstGeom prst="rect">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r>
              <a:rPr lang="zh-CN" altLang="en-US" sz="1800" dirty="0"/>
              <a:t>语义分析</a:t>
            </a:r>
            <a:endParaRPr lang="en-US" altLang="zh-CN" sz="1800" dirty="0"/>
          </a:p>
          <a:p>
            <a:pPr marL="342900" lvl="0" indent="-342900" eaLnBrk="1" hangingPunct="1">
              <a:spcBef>
                <a:spcPct val="0"/>
              </a:spcBef>
              <a:buSzTx/>
              <a:buFont typeface="Arial" panose="020B0604020202020204" pitchFamily="34" charset="0"/>
              <a:buNone/>
            </a:pPr>
            <a:r>
              <a:rPr lang="zh-CN" altLang="en-US" sz="1800" dirty="0"/>
              <a:t>符号名转换</a:t>
            </a:r>
            <a:endParaRPr lang="en-US" altLang="zh-CN" sz="1800" dirty="0"/>
          </a:p>
          <a:p>
            <a:pPr marL="342900" lvl="0" indent="-342900" eaLnBrk="1" hangingPunct="1">
              <a:spcBef>
                <a:spcPct val="0"/>
              </a:spcBef>
              <a:buSzTx/>
              <a:buFont typeface="Arial" panose="020B0604020202020204" pitchFamily="34" charset="0"/>
              <a:buNone/>
            </a:pPr>
            <a:r>
              <a:rPr lang="zh-CN" altLang="en-US" sz="1800" dirty="0"/>
              <a:t>安全性检查</a:t>
            </a:r>
            <a:endParaRPr lang="en-US" altLang="zh-CN" sz="1800" dirty="0"/>
          </a:p>
          <a:p>
            <a:pPr marL="342900" lvl="0" indent="-342900" eaLnBrk="1" hangingPunct="1">
              <a:spcBef>
                <a:spcPct val="0"/>
              </a:spcBef>
              <a:buSzTx/>
              <a:buFont typeface="Arial" panose="020B0604020202020204" pitchFamily="34" charset="0"/>
              <a:buNone/>
            </a:pPr>
            <a:r>
              <a:rPr lang="zh-CN" altLang="en-US" sz="1800" dirty="0"/>
              <a:t>完整性初步检查</a:t>
            </a:r>
            <a:endParaRPr lang="zh-CN" altLang="en-US" sz="1800" dirty="0"/>
          </a:p>
        </p:txBody>
      </p:sp>
      <p:sp>
        <p:nvSpPr>
          <p:cNvPr id="17" name="Rectangle 5"/>
          <p:cNvSpPr/>
          <p:nvPr/>
        </p:nvSpPr>
        <p:spPr>
          <a:xfrm>
            <a:off x="4919663" y="5373688"/>
            <a:ext cx="1560512" cy="360362"/>
          </a:xfrm>
          <a:prstGeom prst="rect">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SzTx/>
              <a:buFont typeface="Arial" panose="020B0604020202020204" pitchFamily="34" charset="0"/>
              <a:buNone/>
            </a:pPr>
            <a:r>
              <a:rPr lang="zh-CN" altLang="en-US" sz="1800" dirty="0"/>
              <a:t>代码生成</a:t>
            </a:r>
            <a:endParaRPr lang="zh-CN" altLang="en-US" sz="1800" dirty="0"/>
          </a:p>
        </p:txBody>
      </p:sp>
      <p:sp>
        <p:nvSpPr>
          <p:cNvPr id="18" name="Rectangle 4"/>
          <p:cNvSpPr/>
          <p:nvPr/>
        </p:nvSpPr>
        <p:spPr>
          <a:xfrm>
            <a:off x="4930775" y="4797425"/>
            <a:ext cx="1549400" cy="358775"/>
          </a:xfrm>
          <a:prstGeom prst="rect">
            <a:avLst/>
          </a:prstGeom>
          <a:solidFill>
            <a:srgbClr val="FF9999"/>
          </a:solid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r>
              <a:rPr lang="zh-CN" altLang="en-US" sz="1800" dirty="0"/>
              <a:t>查询执行计划</a:t>
            </a:r>
            <a:endParaRPr lang="zh-CN" altLang="en-US" sz="1800" dirty="0"/>
          </a:p>
        </p:txBody>
      </p:sp>
      <p:sp>
        <p:nvSpPr>
          <p:cNvPr id="19" name="Rectangle 4"/>
          <p:cNvSpPr/>
          <p:nvPr/>
        </p:nvSpPr>
        <p:spPr>
          <a:xfrm>
            <a:off x="4752975" y="3502025"/>
            <a:ext cx="2071688" cy="288925"/>
          </a:xfrm>
          <a:prstGeom prst="rect">
            <a:avLst/>
          </a:prstGeom>
          <a:solidFill>
            <a:srgbClr val="FF9999"/>
          </a:solid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r>
              <a:rPr lang="zh-CN" altLang="en-US" sz="1800" dirty="0"/>
              <a:t>查询树</a:t>
            </a:r>
            <a:r>
              <a:rPr lang="en-US" altLang="zh-CN" sz="1800" dirty="0"/>
              <a:t>(query tree)</a:t>
            </a:r>
            <a:endParaRPr lang="zh-CN" altLang="en-US" sz="1800" dirty="0"/>
          </a:p>
        </p:txBody>
      </p:sp>
      <p:sp>
        <p:nvSpPr>
          <p:cNvPr id="21" name="Line 16"/>
          <p:cNvSpPr/>
          <p:nvPr/>
        </p:nvSpPr>
        <p:spPr>
          <a:xfrm flipH="1">
            <a:off x="5684838" y="2000250"/>
            <a:ext cx="3175" cy="204788"/>
          </a:xfrm>
          <a:prstGeom prst="line">
            <a:avLst/>
          </a:prstGeom>
          <a:ln w="25400" cap="flat" cmpd="sng">
            <a:solidFill>
              <a:schemeClr val="tx1"/>
            </a:solidFill>
            <a:prstDash val="solid"/>
            <a:headEnd type="none" w="med" len="med"/>
            <a:tailEnd type="triangle" w="med" len="med"/>
          </a:ln>
        </p:spPr>
      </p:sp>
      <p:sp>
        <p:nvSpPr>
          <p:cNvPr id="22" name="Line 16"/>
          <p:cNvSpPr/>
          <p:nvPr/>
        </p:nvSpPr>
        <p:spPr>
          <a:xfrm flipH="1">
            <a:off x="5688013" y="3297238"/>
            <a:ext cx="3175" cy="204787"/>
          </a:xfrm>
          <a:prstGeom prst="line">
            <a:avLst/>
          </a:prstGeom>
          <a:ln w="25400" cap="flat" cmpd="sng">
            <a:solidFill>
              <a:schemeClr val="tx1"/>
            </a:solidFill>
            <a:prstDash val="solid"/>
            <a:headEnd type="none" w="med" len="med"/>
            <a:tailEnd type="triangle" w="med" len="med"/>
          </a:ln>
        </p:spPr>
      </p:sp>
      <p:sp>
        <p:nvSpPr>
          <p:cNvPr id="23" name="Line 16"/>
          <p:cNvSpPr/>
          <p:nvPr/>
        </p:nvSpPr>
        <p:spPr>
          <a:xfrm flipH="1">
            <a:off x="5688013" y="3800475"/>
            <a:ext cx="3175" cy="204788"/>
          </a:xfrm>
          <a:prstGeom prst="line">
            <a:avLst/>
          </a:prstGeom>
          <a:ln w="25400" cap="flat" cmpd="sng">
            <a:solidFill>
              <a:schemeClr val="tx1"/>
            </a:solidFill>
            <a:prstDash val="solid"/>
            <a:headEnd type="none" w="med" len="med"/>
            <a:tailEnd type="triangle" w="med" len="med"/>
          </a:ln>
        </p:spPr>
      </p:sp>
      <p:sp>
        <p:nvSpPr>
          <p:cNvPr id="24" name="Line 16"/>
          <p:cNvSpPr/>
          <p:nvPr/>
        </p:nvSpPr>
        <p:spPr>
          <a:xfrm flipH="1">
            <a:off x="5688013" y="4592638"/>
            <a:ext cx="3175" cy="204787"/>
          </a:xfrm>
          <a:prstGeom prst="line">
            <a:avLst/>
          </a:prstGeom>
          <a:ln w="25400" cap="flat" cmpd="sng">
            <a:solidFill>
              <a:schemeClr val="tx1"/>
            </a:solidFill>
            <a:prstDash val="solid"/>
            <a:headEnd type="none" w="med" len="med"/>
            <a:tailEnd type="triangle" w="med" len="med"/>
          </a:ln>
        </p:spPr>
      </p:sp>
      <p:sp>
        <p:nvSpPr>
          <p:cNvPr id="25" name="Line 16"/>
          <p:cNvSpPr/>
          <p:nvPr/>
        </p:nvSpPr>
        <p:spPr>
          <a:xfrm flipH="1">
            <a:off x="5688013" y="5168900"/>
            <a:ext cx="3175" cy="204788"/>
          </a:xfrm>
          <a:prstGeom prst="line">
            <a:avLst/>
          </a:prstGeom>
          <a:ln w="25400" cap="flat" cmpd="sng">
            <a:solidFill>
              <a:schemeClr val="tx1"/>
            </a:solidFill>
            <a:prstDash val="solid"/>
            <a:headEnd type="none" w="med" len="med"/>
            <a:tailEnd type="triangle" w="med" len="med"/>
          </a:ln>
        </p:spPr>
      </p:sp>
      <p:sp>
        <p:nvSpPr>
          <p:cNvPr id="26" name="Line 16"/>
          <p:cNvSpPr/>
          <p:nvPr/>
        </p:nvSpPr>
        <p:spPr>
          <a:xfrm flipH="1">
            <a:off x="5688013" y="5745163"/>
            <a:ext cx="3175" cy="204787"/>
          </a:xfrm>
          <a:prstGeom prst="line">
            <a:avLst/>
          </a:prstGeom>
          <a:ln w="25400" cap="flat" cmpd="sng">
            <a:solidFill>
              <a:schemeClr val="tx1"/>
            </a:solidFill>
            <a:prstDash val="solid"/>
            <a:headEnd type="none" w="med" len="med"/>
            <a:tailEnd type="triangle" w="med" len="med"/>
          </a:ln>
        </p:spPr>
      </p:sp>
      <p:sp>
        <p:nvSpPr>
          <p:cNvPr id="27" name="TextBox 26"/>
          <p:cNvSpPr txBox="1"/>
          <p:nvPr/>
        </p:nvSpPr>
        <p:spPr>
          <a:xfrm>
            <a:off x="2519363" y="1557338"/>
            <a:ext cx="1368425" cy="369887"/>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800" dirty="0"/>
              <a:t>查询分析</a:t>
            </a:r>
            <a:endParaRPr lang="zh-CN" altLang="en-US" sz="1800" dirty="0"/>
          </a:p>
        </p:txBody>
      </p:sp>
      <p:sp>
        <p:nvSpPr>
          <p:cNvPr id="28" name="TextBox 27"/>
          <p:cNvSpPr txBox="1"/>
          <p:nvPr/>
        </p:nvSpPr>
        <p:spPr>
          <a:xfrm>
            <a:off x="2519363" y="2555875"/>
            <a:ext cx="1368425" cy="369888"/>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800" dirty="0"/>
              <a:t>查询检查</a:t>
            </a:r>
            <a:endParaRPr lang="zh-CN" altLang="en-US" sz="1800" dirty="0"/>
          </a:p>
        </p:txBody>
      </p:sp>
      <p:sp>
        <p:nvSpPr>
          <p:cNvPr id="29" name="TextBox 28"/>
          <p:cNvSpPr txBox="1"/>
          <p:nvPr/>
        </p:nvSpPr>
        <p:spPr>
          <a:xfrm>
            <a:off x="2519363" y="4078288"/>
            <a:ext cx="1368425" cy="3683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800" dirty="0"/>
              <a:t>查询优化</a:t>
            </a:r>
            <a:endParaRPr lang="zh-CN" altLang="en-US" sz="1800" dirty="0"/>
          </a:p>
        </p:txBody>
      </p:sp>
      <p:sp>
        <p:nvSpPr>
          <p:cNvPr id="30" name="TextBox 29"/>
          <p:cNvSpPr txBox="1"/>
          <p:nvPr/>
        </p:nvSpPr>
        <p:spPr>
          <a:xfrm>
            <a:off x="2519363" y="5364163"/>
            <a:ext cx="1368425" cy="369887"/>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800" dirty="0"/>
              <a:t>查询执行</a:t>
            </a:r>
            <a:endParaRPr lang="zh-CN" altLang="en-US" sz="1800" dirty="0"/>
          </a:p>
        </p:txBody>
      </p:sp>
      <p:sp>
        <p:nvSpPr>
          <p:cNvPr id="9238" name="流程图: 磁盘 30"/>
          <p:cNvSpPr/>
          <p:nvPr/>
        </p:nvSpPr>
        <p:spPr>
          <a:xfrm>
            <a:off x="8353425" y="2925763"/>
            <a:ext cx="914400" cy="612775"/>
          </a:xfrm>
          <a:prstGeom prst="flowChartMagneticDisk">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9239" name="流程图: 磁盘 31"/>
          <p:cNvSpPr/>
          <p:nvPr/>
        </p:nvSpPr>
        <p:spPr>
          <a:xfrm>
            <a:off x="8064500" y="2709863"/>
            <a:ext cx="792163" cy="587375"/>
          </a:xfrm>
          <a:prstGeom prst="flowChartMagneticDisk">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9240" name="流程图: 磁盘 32"/>
          <p:cNvSpPr/>
          <p:nvPr/>
        </p:nvSpPr>
        <p:spPr>
          <a:xfrm>
            <a:off x="8569325" y="3538538"/>
            <a:ext cx="914400" cy="612775"/>
          </a:xfrm>
          <a:prstGeom prst="flowChartMagneticDisk">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9241" name="流程图: 磁盘 33"/>
          <p:cNvSpPr/>
          <p:nvPr/>
        </p:nvSpPr>
        <p:spPr>
          <a:xfrm>
            <a:off x="7777163" y="2925763"/>
            <a:ext cx="914400" cy="612775"/>
          </a:xfrm>
          <a:prstGeom prst="flowChartMagneticDisk">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9242" name="流程图: 汇总连接 35"/>
          <p:cNvSpPr/>
          <p:nvPr/>
        </p:nvSpPr>
        <p:spPr>
          <a:xfrm>
            <a:off x="7920038" y="2925763"/>
            <a:ext cx="612775" cy="612775"/>
          </a:xfrm>
          <a:prstGeom prst="flowChartSummingJunction">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15364" name="AutoShape 4"/>
          <p:cNvSpPr/>
          <p:nvPr/>
        </p:nvSpPr>
        <p:spPr>
          <a:xfrm>
            <a:off x="8135938" y="2259013"/>
            <a:ext cx="1206500" cy="954087"/>
          </a:xfrm>
          <a:prstGeom prst="flowChartMagneticDisk">
            <a:avLst/>
          </a:prstGeom>
          <a:solidFill>
            <a:srgbClr val="FF9999"/>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SzTx/>
              <a:buFont typeface="Arial" panose="020B0604020202020204" pitchFamily="34" charset="0"/>
              <a:buNone/>
            </a:pPr>
            <a:r>
              <a:rPr lang="zh-CN" altLang="en-US" sz="1800" dirty="0"/>
              <a:t>数据库</a:t>
            </a:r>
            <a:endParaRPr lang="en-US" altLang="zh-CN" sz="1800" dirty="0"/>
          </a:p>
          <a:p>
            <a:pPr marL="0" lvl="0" indent="0" algn="ctr" eaLnBrk="1" hangingPunct="1">
              <a:spcBef>
                <a:spcPct val="0"/>
              </a:spcBef>
              <a:buSzTx/>
              <a:buFont typeface="Arial" panose="020B0604020202020204" pitchFamily="34" charset="0"/>
              <a:buNone/>
            </a:pPr>
            <a:r>
              <a:rPr lang="zh-CN" altLang="en-US" sz="1800" dirty="0"/>
              <a:t>数据字典</a:t>
            </a:r>
            <a:endParaRPr lang="zh-CN" altLang="en-US" sz="1800" dirty="0"/>
          </a:p>
        </p:txBody>
      </p:sp>
      <p:cxnSp>
        <p:nvCxnSpPr>
          <p:cNvPr id="43" name="直接箭头连接符 42"/>
          <p:cNvCxnSpPr>
            <a:stCxn id="15364" idx="2"/>
            <a:endCxn id="16" idx="3"/>
          </p:cNvCxnSpPr>
          <p:nvPr/>
        </p:nvCxnSpPr>
        <p:spPr>
          <a:xfrm flipH="1">
            <a:off x="6608763" y="2736850"/>
            <a:ext cx="1527175" cy="7938"/>
          </a:xfrm>
          <a:prstGeom prst="straightConnector1">
            <a:avLst/>
          </a:prstGeom>
          <a:ln w="15875" cap="flat" cmpd="sng">
            <a:solidFill>
              <a:srgbClr val="000000"/>
            </a:solidFill>
            <a:prstDash val="solid"/>
            <a:headEnd type="none" w="med" len="med"/>
            <a:tailEnd type="arrow" w="med" len="med"/>
          </a:ln>
        </p:spPr>
      </p:cxnSp>
      <p:cxnSp>
        <p:nvCxnSpPr>
          <p:cNvPr id="44" name="直接箭头连接符 43"/>
          <p:cNvCxnSpPr>
            <a:stCxn id="9241" idx="4"/>
            <a:endCxn id="5" idx="3"/>
          </p:cNvCxnSpPr>
          <p:nvPr/>
        </p:nvCxnSpPr>
        <p:spPr>
          <a:xfrm flipH="1">
            <a:off x="6435725" y="3232150"/>
            <a:ext cx="2255838" cy="1062038"/>
          </a:xfrm>
          <a:prstGeom prst="straightConnector1">
            <a:avLst/>
          </a:prstGeom>
          <a:ln w="15875" cap="flat" cmpd="sng">
            <a:solidFill>
              <a:srgbClr val="000000"/>
            </a:solidFill>
            <a:prstDash val="solid"/>
            <a:headEnd type="none" w="med" len="med"/>
            <a:tailEnd type="arrow" w="med" len="med"/>
          </a:ln>
        </p:spPr>
      </p:cxnSp>
      <p:cxnSp>
        <p:nvCxnSpPr>
          <p:cNvPr id="46" name="直接箭头连接符 45"/>
          <p:cNvCxnSpPr>
            <a:stCxn id="15364" idx="1"/>
            <a:endCxn id="13" idx="3"/>
          </p:cNvCxnSpPr>
          <p:nvPr/>
        </p:nvCxnSpPr>
        <p:spPr>
          <a:xfrm flipH="1" flipV="1">
            <a:off x="6408738" y="1701800"/>
            <a:ext cx="2330450" cy="557213"/>
          </a:xfrm>
          <a:prstGeom prst="straightConnector1">
            <a:avLst/>
          </a:prstGeom>
          <a:ln w="15875" cap="flat" cmpd="sng">
            <a:solidFill>
              <a:srgbClr val="000000"/>
            </a:solidFill>
            <a:prstDash val="solid"/>
            <a:headEnd type="none" w="med" len="med"/>
            <a:tailEnd type="arrow"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par>
                                <p:cTn id="8" presetID="3"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box(in)">
                                      <p:cBhvr>
                                        <p:cTn id="15" dur="500"/>
                                        <p:tgtEl>
                                          <p:spTgt spid="27"/>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par>
                                <p:cTn id="19" presetID="4" presetClass="entr" presetSubtype="16"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box(in)">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8" presetClass="entr" presetSubtype="16" fill="hold" grpId="0"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diamond(in)">
                                      <p:cBhvr>
                                        <p:cTn id="26" dur="500"/>
                                        <p:tgtEl>
                                          <p:spTgt spid="28"/>
                                        </p:tgtEl>
                                      </p:cBhvr>
                                    </p:animEffect>
                                  </p:childTnLst>
                                </p:cTn>
                              </p:par>
                              <p:par>
                                <p:cTn id="27" presetID="8" presetClass="entr" presetSubtype="16"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diamond(in)">
                                      <p:cBhvr>
                                        <p:cTn id="29" dur="500"/>
                                        <p:tgtEl>
                                          <p:spTgt spid="16"/>
                                        </p:tgtEl>
                                      </p:cBhvr>
                                    </p:animEffect>
                                  </p:childTnLst>
                                </p:cTn>
                              </p:par>
                              <p:par>
                                <p:cTn id="30" presetID="8" presetClass="entr" presetSubtype="16" fill="hold"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diamond(in)">
                                      <p:cBhvr>
                                        <p:cTn id="32" dur="500"/>
                                        <p:tgtEl>
                                          <p:spTgt spid="22"/>
                                        </p:tgtEl>
                                      </p:cBhvr>
                                    </p:animEffect>
                                  </p:childTnLst>
                                </p:cTn>
                              </p:par>
                              <p:par>
                                <p:cTn id="33" presetID="8" presetClass="entr" presetSubtype="16"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diamond(in)">
                                      <p:cBhvr>
                                        <p:cTn id="35" dur="500"/>
                                        <p:tgtEl>
                                          <p:spTgt spid="19"/>
                                        </p:tgtEl>
                                      </p:cBhvr>
                                    </p:animEffect>
                                  </p:childTnLst>
                                </p:cTn>
                              </p:par>
                              <p:par>
                                <p:cTn id="36" presetID="8" presetClass="entr" presetSubtype="16" fill="hold"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diamond(in)">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checkerboard(across)">
                                      <p:cBhvr>
                                        <p:cTn id="43" dur="500"/>
                                        <p:tgtEl>
                                          <p:spTgt spid="29"/>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checkerboard(across)">
                                      <p:cBhvr>
                                        <p:cTn id="46" dur="500"/>
                                        <p:tgtEl>
                                          <p:spTgt spid="5"/>
                                        </p:tgtEl>
                                      </p:cBhvr>
                                    </p:animEffect>
                                  </p:childTnLst>
                                </p:cTn>
                              </p:par>
                              <p:par>
                                <p:cTn id="47" presetID="5" presetClass="entr" presetSubtype="1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checkerboard(across)">
                                      <p:cBhvr>
                                        <p:cTn id="49" dur="500"/>
                                        <p:tgtEl>
                                          <p:spTgt spid="24"/>
                                        </p:tgtEl>
                                      </p:cBhvr>
                                    </p:animEffect>
                                  </p:childTnLst>
                                </p:cTn>
                              </p:par>
                            </p:childTnLst>
                          </p:cTn>
                        </p:par>
                      </p:childTnLst>
                    </p:cTn>
                  </p:par>
                  <p:par>
                    <p:cTn id="50" fill="hold">
                      <p:stCondLst>
                        <p:cond delay="indefinite"/>
                      </p:stCondLst>
                      <p:childTnLst>
                        <p:par>
                          <p:cTn id="51" fill="hold">
                            <p:stCondLst>
                              <p:cond delay="0"/>
                            </p:stCondLst>
                            <p:childTnLst>
                              <p:par>
                                <p:cTn id="52" presetID="21" presetClass="entr" presetSubtype="4" fill="hold" nodeType="click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wheel(4)">
                                      <p:cBhvr>
                                        <p:cTn id="54" dur="500"/>
                                        <p:tgtEl>
                                          <p:spTgt spid="43"/>
                                        </p:tgtEl>
                                      </p:cBhvr>
                                    </p:animEffect>
                                  </p:childTnLst>
                                </p:cTn>
                              </p:par>
                              <p:par>
                                <p:cTn id="55" presetID="21" presetClass="entr" presetSubtype="4" fill="hold" nodeType="withEffect">
                                  <p:stCondLst>
                                    <p:cond delay="0"/>
                                  </p:stCondLst>
                                  <p:childTnLst>
                                    <p:set>
                                      <p:cBhvr>
                                        <p:cTn id="56" dur="1" fill="hold">
                                          <p:stCondLst>
                                            <p:cond delay="0"/>
                                          </p:stCondLst>
                                        </p:cTn>
                                        <p:tgtEl>
                                          <p:spTgt spid="46"/>
                                        </p:tgtEl>
                                        <p:attrNameLst>
                                          <p:attrName>style.visibility</p:attrName>
                                        </p:attrNameLst>
                                      </p:cBhvr>
                                      <p:to>
                                        <p:strVal val="visible"/>
                                      </p:to>
                                    </p:set>
                                    <p:animEffect transition="in" filter="wheel(4)">
                                      <p:cBhvr>
                                        <p:cTn id="57" dur="500"/>
                                        <p:tgtEl>
                                          <p:spTgt spid="46"/>
                                        </p:tgtEl>
                                      </p:cBhvr>
                                    </p:animEffect>
                                  </p:childTnLst>
                                </p:cTn>
                              </p:par>
                              <p:par>
                                <p:cTn id="58" presetID="21" presetClass="entr" presetSubtype="4" fill="hold" nodeType="withEffect">
                                  <p:stCondLst>
                                    <p:cond delay="0"/>
                                  </p:stCondLst>
                                  <p:childTnLst>
                                    <p:set>
                                      <p:cBhvr>
                                        <p:cTn id="59" dur="1" fill="hold">
                                          <p:stCondLst>
                                            <p:cond delay="0"/>
                                          </p:stCondLst>
                                        </p:cTn>
                                        <p:tgtEl>
                                          <p:spTgt spid="44"/>
                                        </p:tgtEl>
                                        <p:attrNameLst>
                                          <p:attrName>style.visibility</p:attrName>
                                        </p:attrNameLst>
                                      </p:cBhvr>
                                      <p:to>
                                        <p:strVal val="visible"/>
                                      </p:to>
                                    </p:set>
                                    <p:animEffect transition="in" filter="wheel(4)">
                                      <p:cBhvr>
                                        <p:cTn id="60" dur="500"/>
                                        <p:tgtEl>
                                          <p:spTgt spid="44"/>
                                        </p:tgtEl>
                                      </p:cBhvr>
                                    </p:animEffect>
                                  </p:childTnLst>
                                </p:cTn>
                              </p:par>
                              <p:par>
                                <p:cTn id="61" presetID="21" presetClass="entr" presetSubtype="4" fill="hold" grpId="0" nodeType="withEffect">
                                  <p:stCondLst>
                                    <p:cond delay="0"/>
                                  </p:stCondLst>
                                  <p:childTnLst>
                                    <p:set>
                                      <p:cBhvr>
                                        <p:cTn id="62" dur="1" fill="hold">
                                          <p:stCondLst>
                                            <p:cond delay="0"/>
                                          </p:stCondLst>
                                        </p:cTn>
                                        <p:tgtEl>
                                          <p:spTgt spid="15364"/>
                                        </p:tgtEl>
                                        <p:attrNameLst>
                                          <p:attrName>style.visibility</p:attrName>
                                        </p:attrNameLst>
                                      </p:cBhvr>
                                      <p:to>
                                        <p:strVal val="visible"/>
                                      </p:to>
                                    </p:set>
                                    <p:animEffect transition="in" filter="wheel(4)">
                                      <p:cBhvr>
                                        <p:cTn id="63" dur="500"/>
                                        <p:tgtEl>
                                          <p:spTgt spid="15364"/>
                                        </p:tgtEl>
                                      </p:cBhvr>
                                    </p:animEffect>
                                  </p:childTnLst>
                                </p:cTn>
                              </p:par>
                            </p:childTnLst>
                          </p:cTn>
                        </p:par>
                      </p:childTnLst>
                    </p:cTn>
                  </p:par>
                  <p:par>
                    <p:cTn id="64" fill="hold">
                      <p:stCondLst>
                        <p:cond delay="indefinite"/>
                      </p:stCondLst>
                      <p:childTnLst>
                        <p:par>
                          <p:cTn id="65" fill="hold">
                            <p:stCondLst>
                              <p:cond delay="0"/>
                            </p:stCondLst>
                            <p:childTnLst>
                              <p:par>
                                <p:cTn id="66" presetID="21" presetClass="entr" presetSubtype="4" fill="hold" grpId="0" nodeType="click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wheel(4)">
                                      <p:cBhvr>
                                        <p:cTn id="68" dur="500"/>
                                        <p:tgtEl>
                                          <p:spTgt spid="30"/>
                                        </p:tgtEl>
                                      </p:cBhvr>
                                    </p:animEffect>
                                  </p:childTnLst>
                                </p:cTn>
                              </p:par>
                              <p:par>
                                <p:cTn id="69" presetID="21" presetClass="entr" presetSubtype="4" fill="hold" grpId="0" nodeType="with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wheel(4)">
                                      <p:cBhvr>
                                        <p:cTn id="71" dur="500"/>
                                        <p:tgtEl>
                                          <p:spTgt spid="18"/>
                                        </p:tgtEl>
                                      </p:cBhvr>
                                    </p:animEffect>
                                  </p:childTnLst>
                                </p:cTn>
                              </p:par>
                              <p:par>
                                <p:cTn id="72" presetID="21" presetClass="entr" presetSubtype="4"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wheel(4)">
                                      <p:cBhvr>
                                        <p:cTn id="74" dur="500"/>
                                        <p:tgtEl>
                                          <p:spTgt spid="25"/>
                                        </p:tgtEl>
                                      </p:cBhvr>
                                    </p:animEffect>
                                  </p:childTnLst>
                                </p:cTn>
                              </p:par>
                              <p:par>
                                <p:cTn id="75" presetID="21" presetClass="entr" presetSubtype="4" fill="hold" grpId="0" nodeType="with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wheel(4)">
                                      <p:cBhvr>
                                        <p:cTn id="77" dur="500"/>
                                        <p:tgtEl>
                                          <p:spTgt spid="17"/>
                                        </p:tgtEl>
                                      </p:cBhvr>
                                    </p:animEffect>
                                  </p:childTnLst>
                                </p:cTn>
                              </p:par>
                              <p:par>
                                <p:cTn id="78" presetID="21" presetClass="entr" presetSubtype="4" fill="hold"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wheel(4)">
                                      <p:cBhvr>
                                        <p:cTn id="80" dur="500"/>
                                        <p:tgtEl>
                                          <p:spTgt spid="26"/>
                                        </p:tgtEl>
                                      </p:cBhvr>
                                    </p:animEffect>
                                  </p:childTnLst>
                                </p:cTn>
                              </p:par>
                              <p:par>
                                <p:cTn id="81" presetID="21" presetClass="entr" presetSubtype="4" fill="hold" grpId="0" nodeType="withEffect">
                                  <p:stCondLst>
                                    <p:cond delay="0"/>
                                  </p:stCondLst>
                                  <p:childTnLst>
                                    <p:set>
                                      <p:cBhvr>
                                        <p:cTn id="82" dur="1" fill="hold">
                                          <p:stCondLst>
                                            <p:cond delay="0"/>
                                          </p:stCondLst>
                                        </p:cTn>
                                        <p:tgtEl>
                                          <p:spTgt spid="4"/>
                                        </p:tgtEl>
                                        <p:attrNameLst>
                                          <p:attrName>style.visibility</p:attrName>
                                        </p:attrNameLst>
                                      </p:cBhvr>
                                      <p:to>
                                        <p:strVal val="visible"/>
                                      </p:to>
                                    </p:set>
                                    <p:animEffect transition="in" filter="wheel(4)">
                                      <p:cBhvr>
                                        <p:cTn id="8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1" grpId="0"/>
      <p:bldP spid="13" grpId="0" animBg="1"/>
      <p:bldP spid="16" grpId="0" animBg="1"/>
      <p:bldP spid="17" grpId="0" animBg="1"/>
      <p:bldP spid="18" grpId="0" animBg="1"/>
      <p:bldP spid="19" grpId="0" animBg="1"/>
      <p:bldP spid="27" grpId="0"/>
      <p:bldP spid="28" grpId="0"/>
      <p:bldP spid="29" grpId="0"/>
      <p:bldP spid="30" grpId="0"/>
      <p:bldP spid="1536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
          <p:cNvSpPr>
            <a:spLocks noGrp="1"/>
          </p:cNvSpPr>
          <p:nvPr>
            <p:ph type="title"/>
          </p:nvPr>
        </p:nvSpPr>
        <p:spPr/>
        <p:txBody>
          <a:bodyPr vert="horz" wrap="square" lIns="91440" tIns="45720" rIns="91440" bIns="45720" anchor="ctr" anchorCtr="0"/>
          <a:p>
            <a:r>
              <a:rPr lang="en-US" altLang="zh-CN" sz="3600" dirty="0"/>
              <a:t> 1. </a:t>
            </a:r>
            <a:r>
              <a:rPr lang="zh-CN" altLang="en-US" sz="3600" dirty="0"/>
              <a:t>查询分析</a:t>
            </a:r>
            <a:endParaRPr lang="zh-CN" altLang="en-US" sz="3600" dirty="0"/>
          </a:p>
        </p:txBody>
      </p:sp>
      <p:sp>
        <p:nvSpPr>
          <p:cNvPr id="10243" name="内容占位符 2"/>
          <p:cNvSpPr>
            <a:spLocks noGrp="1"/>
          </p:cNvSpPr>
          <p:nvPr>
            <p:ph idx="1"/>
          </p:nvPr>
        </p:nvSpPr>
        <p:spPr>
          <a:xfrm>
            <a:off x="695325" y="1557338"/>
            <a:ext cx="10972800" cy="4854575"/>
          </a:xfrm>
        </p:spPr>
        <p:txBody>
          <a:bodyPr vert="horz" wrap="square" lIns="91440" tIns="45720" rIns="91440" bIns="45720" anchor="t" anchorCtr="0"/>
          <a:p>
            <a:pPr>
              <a:lnSpc>
                <a:spcPct val="150000"/>
              </a:lnSpc>
            </a:pPr>
            <a:r>
              <a:rPr lang="zh-CN" altLang="zh-CN" dirty="0"/>
              <a:t>查询分析的任务：对查询语句进行扫描</a:t>
            </a:r>
            <a:r>
              <a:rPr lang="zh-CN" altLang="en-US" dirty="0"/>
              <a:t>、</a:t>
            </a:r>
            <a:r>
              <a:rPr lang="zh-CN" altLang="zh-CN" dirty="0"/>
              <a:t>词法分析</a:t>
            </a:r>
            <a:r>
              <a:rPr lang="zh-CN" altLang="en-US" dirty="0"/>
              <a:t>和</a:t>
            </a:r>
            <a:r>
              <a:rPr lang="zh-CN" altLang="zh-CN" dirty="0"/>
              <a:t>语法分析</a:t>
            </a:r>
            <a:endParaRPr lang="zh-CN" altLang="zh-CN" dirty="0"/>
          </a:p>
          <a:p>
            <a:pPr lvl="1">
              <a:lnSpc>
                <a:spcPct val="150000"/>
              </a:lnSpc>
            </a:pPr>
            <a:r>
              <a:rPr lang="zh-CN" altLang="zh-CN" dirty="0"/>
              <a:t>词法分析：从查询语句中识别出正确的语言符号 </a:t>
            </a:r>
            <a:endParaRPr lang="zh-CN" altLang="zh-CN" dirty="0"/>
          </a:p>
          <a:p>
            <a:pPr lvl="1">
              <a:lnSpc>
                <a:spcPct val="150000"/>
              </a:lnSpc>
            </a:pPr>
            <a:r>
              <a:rPr lang="zh-CN" altLang="zh-CN" dirty="0"/>
              <a:t>语法分析：进行语法检查</a:t>
            </a:r>
            <a:endParaRPr lang="zh-CN" altLang="zh-CN" dirty="0"/>
          </a:p>
          <a:p>
            <a:pPr lvl="1"/>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
          <p:cNvSpPr>
            <a:spLocks noGrp="1"/>
          </p:cNvSpPr>
          <p:nvPr>
            <p:ph type="title"/>
          </p:nvPr>
        </p:nvSpPr>
        <p:spPr/>
        <p:txBody>
          <a:bodyPr vert="horz" wrap="square" lIns="91440" tIns="45720" rIns="91440" bIns="45720" anchor="ctr" anchorCtr="0"/>
          <a:p>
            <a:r>
              <a:rPr lang="en-US" altLang="zh-CN" sz="3600" dirty="0"/>
              <a:t> 2. </a:t>
            </a:r>
            <a:r>
              <a:rPr lang="zh-CN" altLang="en-US" sz="3600" dirty="0"/>
              <a:t>查询检查 </a:t>
            </a:r>
            <a:endParaRPr lang="zh-CN" altLang="en-US" sz="3600" dirty="0"/>
          </a:p>
        </p:txBody>
      </p:sp>
      <p:sp>
        <p:nvSpPr>
          <p:cNvPr id="11267" name="内容占位符 2"/>
          <p:cNvSpPr>
            <a:spLocks noGrp="1"/>
          </p:cNvSpPr>
          <p:nvPr>
            <p:ph idx="1"/>
          </p:nvPr>
        </p:nvSpPr>
        <p:spPr>
          <a:xfrm>
            <a:off x="1055688" y="1125538"/>
            <a:ext cx="9793287" cy="5095875"/>
          </a:xfrm>
        </p:spPr>
        <p:txBody>
          <a:bodyPr vert="horz" wrap="square" lIns="91440" tIns="45720" rIns="91440" bIns="45720" anchor="t" anchorCtr="0"/>
          <a:p>
            <a:pPr>
              <a:lnSpc>
                <a:spcPct val="120000"/>
              </a:lnSpc>
            </a:pPr>
            <a:r>
              <a:rPr lang="zh-CN" altLang="en-US" dirty="0">
                <a:sym typeface="Times New Roman" panose="02020603050405020304" charset="0"/>
              </a:rPr>
              <a:t>查询检查的任务</a:t>
            </a:r>
            <a:endParaRPr lang="zh-CN" altLang="en-US" dirty="0">
              <a:sym typeface="Times New Roman" panose="02020603050405020304" charset="0"/>
            </a:endParaRPr>
          </a:p>
          <a:p>
            <a:pPr lvl="1">
              <a:lnSpc>
                <a:spcPct val="120000"/>
              </a:lnSpc>
            </a:pPr>
            <a:r>
              <a:rPr lang="zh-CN" altLang="en-US" dirty="0">
                <a:sym typeface="Times New Roman" panose="02020603050405020304" charset="0"/>
              </a:rPr>
              <a:t>语义分析</a:t>
            </a:r>
            <a:endParaRPr lang="en-US" altLang="zh-CN" dirty="0">
              <a:sym typeface="Times New Roman" panose="02020603050405020304" charset="0"/>
            </a:endParaRPr>
          </a:p>
          <a:p>
            <a:pPr lvl="1">
              <a:lnSpc>
                <a:spcPct val="120000"/>
              </a:lnSpc>
            </a:pPr>
            <a:r>
              <a:rPr lang="zh-CN" altLang="en-US" dirty="0">
                <a:sym typeface="Times New Roman" panose="02020603050405020304" charset="0"/>
              </a:rPr>
              <a:t>符号名转换</a:t>
            </a:r>
            <a:endParaRPr lang="en-US" altLang="zh-CN" dirty="0">
              <a:sym typeface="Times New Roman" panose="02020603050405020304" charset="0"/>
            </a:endParaRPr>
          </a:p>
          <a:p>
            <a:pPr lvl="1">
              <a:lnSpc>
                <a:spcPct val="120000"/>
              </a:lnSpc>
            </a:pPr>
            <a:r>
              <a:rPr lang="zh-CN" altLang="en-US" dirty="0">
                <a:sym typeface="Times New Roman" panose="02020603050405020304" charset="0"/>
              </a:rPr>
              <a:t>安全性检查</a:t>
            </a:r>
            <a:endParaRPr lang="zh-CN" altLang="en-US" dirty="0">
              <a:sym typeface="Times New Roman" panose="02020603050405020304" charset="0"/>
            </a:endParaRPr>
          </a:p>
          <a:p>
            <a:pPr lvl="1">
              <a:lnSpc>
                <a:spcPct val="120000"/>
              </a:lnSpc>
            </a:pPr>
            <a:r>
              <a:rPr lang="zh-CN" altLang="en-US" dirty="0">
                <a:sym typeface="Times New Roman" panose="02020603050405020304" charset="0"/>
              </a:rPr>
              <a:t>完整性初步检查</a:t>
            </a:r>
            <a:endParaRPr lang="zh-CN" altLang="en-US" dirty="0">
              <a:sym typeface="Times New Roman" panose="02020603050405020304" charset="0"/>
            </a:endParaRPr>
          </a:p>
          <a:p>
            <a:pPr>
              <a:lnSpc>
                <a:spcPct val="120000"/>
              </a:lnSpc>
            </a:pPr>
            <a:r>
              <a:rPr lang="zh-CN" altLang="en-US" dirty="0">
                <a:sym typeface="Times New Roman" panose="02020603050405020304" charset="0"/>
              </a:rPr>
              <a:t>根据数据字典中有关的模式定义检查语句中的数据库对象，如关系名、属性名是否存在和有效 </a:t>
            </a:r>
            <a:endParaRPr lang="en-US" altLang="zh-CN" dirty="0">
              <a:sym typeface="Times New Roman" panose="02020603050405020304" charset="0"/>
            </a:endParaRPr>
          </a:p>
          <a:p>
            <a:pPr>
              <a:lnSpc>
                <a:spcPct val="120000"/>
              </a:lnSpc>
            </a:pPr>
            <a:r>
              <a:rPr lang="zh-CN" altLang="en-US" dirty="0">
                <a:sym typeface="Times New Roman" panose="02020603050405020304" charset="0"/>
              </a:rPr>
              <a:t>如果是对视图的操作，则要用视图消解方法把对视图的操作转换成对基本表的操作</a:t>
            </a:r>
            <a:endParaRPr lang="en-US" altLang="zh-CN" dirty="0">
              <a:sym typeface="Times New Roman" panose="02020603050405020304" charset="0"/>
            </a:endParaRPr>
          </a:p>
          <a:p>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
          <p:cNvSpPr>
            <a:spLocks noGrp="1"/>
          </p:cNvSpPr>
          <p:nvPr>
            <p:ph type="title"/>
          </p:nvPr>
        </p:nvSpPr>
        <p:spPr/>
        <p:txBody>
          <a:bodyPr vert="horz" wrap="square" lIns="91440" tIns="45720" rIns="91440" bIns="45720" anchor="ctr" anchorCtr="0"/>
          <a:p>
            <a:r>
              <a:rPr lang="en-US" altLang="zh-CN" sz="3600" dirty="0"/>
              <a:t> 2. </a:t>
            </a:r>
            <a:r>
              <a:rPr lang="zh-CN" altLang="en-US" sz="3600" dirty="0"/>
              <a:t>查询检查 </a:t>
            </a:r>
            <a:endParaRPr lang="zh-CN" altLang="en-US" sz="3600" dirty="0"/>
          </a:p>
        </p:txBody>
      </p:sp>
      <p:sp>
        <p:nvSpPr>
          <p:cNvPr id="12291" name="内容占位符 2"/>
          <p:cNvSpPr>
            <a:spLocks noGrp="1"/>
          </p:cNvSpPr>
          <p:nvPr>
            <p:ph idx="1"/>
          </p:nvPr>
        </p:nvSpPr>
        <p:spPr/>
        <p:txBody>
          <a:bodyPr vert="horz" wrap="square" lIns="91440" tIns="45720" rIns="91440" bIns="45720" anchor="t" anchorCtr="0"/>
          <a:p>
            <a:pPr>
              <a:lnSpc>
                <a:spcPct val="120000"/>
              </a:lnSpc>
            </a:pPr>
            <a:r>
              <a:rPr lang="zh-CN" altLang="en-US" dirty="0">
                <a:sym typeface="Times New Roman" panose="02020603050405020304" charset="0"/>
              </a:rPr>
              <a:t>根据数据字典中的用户权限和完整性约束定义对用户的存取权限进行检查</a:t>
            </a:r>
            <a:endParaRPr lang="en-US" altLang="zh-CN" dirty="0">
              <a:sym typeface="Times New Roman" panose="02020603050405020304" charset="0"/>
            </a:endParaRPr>
          </a:p>
          <a:p>
            <a:pPr>
              <a:lnSpc>
                <a:spcPct val="120000"/>
              </a:lnSpc>
            </a:pPr>
            <a:r>
              <a:rPr lang="zh-CN" altLang="en-US" dirty="0">
                <a:sym typeface="Times New Roman" panose="02020603050405020304" charset="0"/>
              </a:rPr>
              <a:t>检查通过后把</a:t>
            </a:r>
            <a:r>
              <a:rPr lang="en-US" altLang="zh-CN" dirty="0">
                <a:sym typeface="Times New Roman" panose="02020603050405020304" charset="0"/>
              </a:rPr>
              <a:t>SQL</a:t>
            </a:r>
            <a:r>
              <a:rPr lang="zh-CN" altLang="en-US" dirty="0">
                <a:sym typeface="Times New Roman" panose="02020603050405020304" charset="0"/>
              </a:rPr>
              <a:t>查询语句转换成内部表示，即等价的</a:t>
            </a:r>
            <a:r>
              <a:rPr lang="zh-CN" altLang="en-US" dirty="0">
                <a:solidFill>
                  <a:srgbClr val="FF00FF"/>
                </a:solidFill>
                <a:sym typeface="Times New Roman" panose="02020603050405020304" charset="0"/>
              </a:rPr>
              <a:t>关系代数表达式</a:t>
            </a:r>
            <a:r>
              <a:rPr lang="zh-CN" altLang="en-US" dirty="0">
                <a:sym typeface="Times New Roman" panose="02020603050405020304" charset="0"/>
              </a:rPr>
              <a:t>。</a:t>
            </a:r>
            <a:endParaRPr lang="en-US" altLang="zh-CN" dirty="0">
              <a:sym typeface="Times New Roman" panose="02020603050405020304" charset="0"/>
            </a:endParaRPr>
          </a:p>
          <a:p>
            <a:pPr>
              <a:lnSpc>
                <a:spcPct val="120000"/>
              </a:lnSpc>
            </a:pPr>
            <a:r>
              <a:rPr lang="zh-CN" altLang="en-US" dirty="0">
                <a:sym typeface="Times New Roman" panose="02020603050405020304" charset="0"/>
              </a:rPr>
              <a:t>关系数据库管理系统一般都用查询树，也称为语</a:t>
            </a:r>
            <a:r>
              <a:rPr lang="zh-CN" altLang="en-US" dirty="0">
                <a:solidFill>
                  <a:srgbClr val="FF00FF"/>
                </a:solidFill>
                <a:sym typeface="Times New Roman" panose="02020603050405020304" charset="0"/>
              </a:rPr>
              <a:t>法分析树</a:t>
            </a:r>
            <a:r>
              <a:rPr lang="zh-CN" altLang="en-US" dirty="0">
                <a:sym typeface="Times New Roman" panose="02020603050405020304" charset="0"/>
              </a:rPr>
              <a:t>来表示扩展的关系代数表达式。</a:t>
            </a:r>
            <a:endParaRPr lang="en-US" altLang="zh-CN" dirty="0">
              <a:sym typeface="Times New Roman" panose="02020603050405020304" charset="0"/>
            </a:endParaRPr>
          </a:p>
          <a:p>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标题 1"/>
          <p:cNvSpPr>
            <a:spLocks noGrp="1"/>
          </p:cNvSpPr>
          <p:nvPr>
            <p:ph type="title"/>
          </p:nvPr>
        </p:nvSpPr>
        <p:spPr/>
        <p:txBody>
          <a:bodyPr vert="horz" wrap="square" lIns="91440" tIns="45720" rIns="91440" bIns="45720" anchor="ctr" anchorCtr="0"/>
          <a:p>
            <a:r>
              <a:rPr lang="en-US" altLang="zh-CN" sz="3600" dirty="0"/>
              <a:t> 3. </a:t>
            </a:r>
            <a:r>
              <a:rPr lang="zh-CN" altLang="en-US" sz="3600" dirty="0"/>
              <a:t>查询优化</a:t>
            </a:r>
            <a:endParaRPr lang="zh-CN" altLang="en-US" sz="3600" dirty="0"/>
          </a:p>
        </p:txBody>
      </p:sp>
      <p:sp>
        <p:nvSpPr>
          <p:cNvPr id="13315" name="内容占位符 2"/>
          <p:cNvSpPr>
            <a:spLocks noGrp="1"/>
          </p:cNvSpPr>
          <p:nvPr>
            <p:ph idx="1"/>
          </p:nvPr>
        </p:nvSpPr>
        <p:spPr>
          <a:xfrm>
            <a:off x="839788" y="1116013"/>
            <a:ext cx="9936162" cy="5095875"/>
          </a:xfrm>
        </p:spPr>
        <p:txBody>
          <a:bodyPr vert="horz" wrap="square" lIns="91440" tIns="45720" rIns="91440" bIns="45720" anchor="t" anchorCtr="0"/>
          <a:p>
            <a:pPr>
              <a:lnSpc>
                <a:spcPct val="120000"/>
              </a:lnSpc>
            </a:pPr>
            <a:r>
              <a:rPr lang="zh-CN" altLang="en-US" dirty="0"/>
              <a:t>查询优化：选择一个高效执行的查询处理策略 </a:t>
            </a:r>
            <a:endParaRPr lang="zh-CN" altLang="en-US" dirty="0"/>
          </a:p>
          <a:p>
            <a:pPr>
              <a:lnSpc>
                <a:spcPct val="120000"/>
              </a:lnSpc>
            </a:pPr>
            <a:r>
              <a:rPr lang="zh-CN" altLang="en-US" dirty="0"/>
              <a:t>查询优化分类 </a:t>
            </a:r>
            <a:endParaRPr lang="zh-CN" altLang="en-US" dirty="0"/>
          </a:p>
          <a:p>
            <a:pPr lvl="1">
              <a:lnSpc>
                <a:spcPct val="120000"/>
              </a:lnSpc>
            </a:pPr>
            <a:r>
              <a:rPr lang="zh-CN" altLang="en-US" dirty="0"/>
              <a:t>代数优化</a:t>
            </a:r>
            <a:r>
              <a:rPr lang="en-US" altLang="zh-CN" dirty="0"/>
              <a:t>/</a:t>
            </a:r>
            <a:r>
              <a:rPr lang="zh-CN" altLang="en-US" dirty="0"/>
              <a:t>逻辑优化：指关系代数表达式的优化</a:t>
            </a:r>
            <a:endParaRPr lang="zh-CN" altLang="en-US" dirty="0"/>
          </a:p>
          <a:p>
            <a:pPr lvl="1">
              <a:lnSpc>
                <a:spcPct val="120000"/>
              </a:lnSpc>
            </a:pPr>
            <a:r>
              <a:rPr lang="zh-CN" altLang="en-US" dirty="0"/>
              <a:t>物理优化：指存取路径和底层操作算法的选择</a:t>
            </a:r>
            <a:endParaRPr lang="zh-CN" altLang="en-US" dirty="0"/>
          </a:p>
          <a:p>
            <a:pPr>
              <a:lnSpc>
                <a:spcPct val="120000"/>
              </a:lnSpc>
            </a:pPr>
            <a:r>
              <a:rPr lang="zh-CN" altLang="en-US" dirty="0"/>
              <a:t>查询优化的选择依据</a:t>
            </a:r>
            <a:endParaRPr lang="zh-CN" altLang="en-US" dirty="0"/>
          </a:p>
          <a:p>
            <a:pPr lvl="1">
              <a:lnSpc>
                <a:spcPct val="120000"/>
              </a:lnSpc>
            </a:pPr>
            <a:r>
              <a:rPr lang="zh-CN" altLang="en-US" dirty="0"/>
              <a:t>基于规则</a:t>
            </a:r>
            <a:r>
              <a:rPr lang="en-US" altLang="zh-CN" dirty="0"/>
              <a:t>(rule based)</a:t>
            </a:r>
            <a:endParaRPr lang="en-US" altLang="zh-CN" dirty="0"/>
          </a:p>
          <a:p>
            <a:pPr lvl="1">
              <a:lnSpc>
                <a:spcPct val="120000"/>
              </a:lnSpc>
            </a:pPr>
            <a:r>
              <a:rPr lang="zh-CN" altLang="en-US" dirty="0"/>
              <a:t>基于代价</a:t>
            </a:r>
            <a:r>
              <a:rPr lang="en-US" altLang="zh-CN" dirty="0"/>
              <a:t>(cost based)</a:t>
            </a:r>
            <a:endParaRPr lang="en-US" altLang="zh-CN" dirty="0"/>
          </a:p>
          <a:p>
            <a:pPr lvl="1">
              <a:lnSpc>
                <a:spcPct val="120000"/>
              </a:lnSpc>
            </a:pPr>
            <a:r>
              <a:rPr lang="zh-CN" altLang="en-US" dirty="0"/>
              <a:t>基于语义</a:t>
            </a:r>
            <a:r>
              <a:rPr lang="en-US" altLang="zh-CN" dirty="0"/>
              <a:t>(semantic based)</a:t>
            </a:r>
            <a:endParaRPr lang="en-US" altLang="zh-CN" dirty="0"/>
          </a:p>
          <a:p>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
          <p:cNvSpPr>
            <a:spLocks noGrp="1"/>
          </p:cNvSpPr>
          <p:nvPr>
            <p:ph type="title"/>
          </p:nvPr>
        </p:nvSpPr>
        <p:spPr/>
        <p:txBody>
          <a:bodyPr vert="horz" wrap="square" lIns="91440" tIns="45720" rIns="91440" bIns="45720" anchor="ctr" anchorCtr="0"/>
          <a:p>
            <a:r>
              <a:rPr lang="en-US" altLang="zh-CN" sz="3600" dirty="0"/>
              <a:t> 4. </a:t>
            </a:r>
            <a:r>
              <a:rPr lang="zh-CN" altLang="en-US" sz="3600" dirty="0"/>
              <a:t>查询执行 </a:t>
            </a:r>
            <a:endParaRPr lang="zh-CN" altLang="en-US" sz="3600" dirty="0"/>
          </a:p>
        </p:txBody>
      </p:sp>
      <p:sp>
        <p:nvSpPr>
          <p:cNvPr id="14339" name="内容占位符 2"/>
          <p:cNvSpPr>
            <a:spLocks noGrp="1"/>
          </p:cNvSpPr>
          <p:nvPr>
            <p:ph idx="1"/>
          </p:nvPr>
        </p:nvSpPr>
        <p:spPr>
          <a:xfrm>
            <a:off x="631825" y="1339850"/>
            <a:ext cx="10972800" cy="4854575"/>
          </a:xfrm>
        </p:spPr>
        <p:txBody>
          <a:bodyPr vert="horz" wrap="square" lIns="91440" tIns="45720" rIns="91440" bIns="45720" anchor="t" anchorCtr="0"/>
          <a:p>
            <a:pPr>
              <a:lnSpc>
                <a:spcPct val="120000"/>
              </a:lnSpc>
            </a:pPr>
            <a:r>
              <a:rPr lang="zh-CN" altLang="en-US" dirty="0"/>
              <a:t>依据优化器得到的执行策略生成查询执行计划</a:t>
            </a:r>
            <a:endParaRPr lang="zh-CN" altLang="en-US" dirty="0"/>
          </a:p>
          <a:p>
            <a:pPr>
              <a:lnSpc>
                <a:spcPct val="120000"/>
              </a:lnSpc>
            </a:pPr>
            <a:r>
              <a:rPr lang="zh-CN" altLang="en-US" dirty="0"/>
              <a:t>代码生成器</a:t>
            </a:r>
            <a:r>
              <a:rPr lang="en-US" altLang="zh-CN" dirty="0"/>
              <a:t>(code generator)</a:t>
            </a:r>
            <a:r>
              <a:rPr lang="zh-CN" altLang="en-US" dirty="0"/>
              <a:t>生成执行查询计划的代码 </a:t>
            </a:r>
            <a:endParaRPr lang="en-US" altLang="zh-CN" dirty="0"/>
          </a:p>
          <a:p>
            <a:pPr eaLnBrk="1" hangingPunct="1">
              <a:lnSpc>
                <a:spcPct val="120000"/>
              </a:lnSpc>
            </a:pPr>
            <a:r>
              <a:rPr lang="zh-CN" altLang="en-US" dirty="0"/>
              <a:t>两种执行方法</a:t>
            </a:r>
            <a:endParaRPr lang="zh-CN" altLang="en-US" dirty="0"/>
          </a:p>
          <a:p>
            <a:pPr lvl="1" eaLnBrk="1" hangingPunct="1">
              <a:lnSpc>
                <a:spcPct val="120000"/>
              </a:lnSpc>
            </a:pPr>
            <a:r>
              <a:rPr lang="zh-CN" altLang="en-US" dirty="0"/>
              <a:t>自顶向下</a:t>
            </a:r>
            <a:endParaRPr lang="zh-CN" altLang="en-US" dirty="0"/>
          </a:p>
          <a:p>
            <a:pPr lvl="1" eaLnBrk="1" hangingPunct="1">
              <a:lnSpc>
                <a:spcPct val="120000"/>
              </a:lnSpc>
            </a:pPr>
            <a:r>
              <a:rPr lang="zh-CN" altLang="en-US" dirty="0"/>
              <a:t>自底向上</a:t>
            </a:r>
            <a:endParaRPr lang="zh-CN" altLang="en-US" dirty="0"/>
          </a:p>
          <a:p>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
          <p:cNvSpPr>
            <a:spLocks noGrp="1"/>
          </p:cNvSpPr>
          <p:nvPr>
            <p:ph type="title"/>
          </p:nvPr>
        </p:nvSpPr>
        <p:spPr/>
        <p:txBody>
          <a:bodyPr vert="horz" wrap="square" lIns="91440" tIns="45720" rIns="91440" bIns="45720" anchor="ctr" anchorCtr="0"/>
          <a:p>
            <a:r>
              <a:rPr lang="en-US" altLang="zh-CN" sz="3600" dirty="0"/>
              <a:t>10.1 </a:t>
            </a:r>
            <a:r>
              <a:rPr lang="zh-CN" altLang="en-US" sz="3600" dirty="0"/>
              <a:t>关系数据库系统的查询处理</a:t>
            </a:r>
            <a:endParaRPr lang="zh-CN" altLang="en-US" sz="3600" dirty="0"/>
          </a:p>
        </p:txBody>
      </p:sp>
      <p:sp>
        <p:nvSpPr>
          <p:cNvPr id="15363" name="内容占位符 2"/>
          <p:cNvSpPr>
            <a:spLocks noGrp="1"/>
          </p:cNvSpPr>
          <p:nvPr>
            <p:ph idx="1"/>
          </p:nvPr>
        </p:nvSpPr>
        <p:spPr>
          <a:xfrm>
            <a:off x="1416050" y="1339850"/>
            <a:ext cx="9575800" cy="4394200"/>
          </a:xfrm>
        </p:spPr>
        <p:txBody>
          <a:bodyPr vert="horz" wrap="square" lIns="91440" tIns="45720" rIns="91440" bIns="45720" anchor="t" anchorCtr="0"/>
          <a:p>
            <a:pPr marL="0" indent="0">
              <a:lnSpc>
                <a:spcPct val="150000"/>
              </a:lnSpc>
              <a:buNone/>
            </a:pPr>
            <a:r>
              <a:rPr lang="en-US" altLang="zh-CN" dirty="0"/>
              <a:t>10.1.1  </a:t>
            </a:r>
            <a:r>
              <a:rPr lang="zh-CN" altLang="en-US" dirty="0"/>
              <a:t>查询处理步骤</a:t>
            </a:r>
            <a:endParaRPr lang="zh-CN" altLang="en-US" dirty="0"/>
          </a:p>
          <a:p>
            <a:pPr marL="0" indent="0">
              <a:lnSpc>
                <a:spcPct val="150000"/>
              </a:lnSpc>
              <a:buNone/>
            </a:pPr>
            <a:r>
              <a:rPr lang="en-US" altLang="zh-CN" dirty="0">
                <a:solidFill>
                  <a:srgbClr val="00B050"/>
                </a:solidFill>
              </a:rPr>
              <a:t>10.1.2  </a:t>
            </a:r>
            <a:r>
              <a:rPr lang="zh-CN" altLang="en-US" dirty="0">
                <a:solidFill>
                  <a:srgbClr val="00B050"/>
                </a:solidFill>
              </a:rPr>
              <a:t>实现查询操作的算法示例 </a:t>
            </a:r>
            <a:endParaRPr lang="zh-CN" altLang="en-US" dirty="0">
              <a:solidFill>
                <a:srgbClr val="00B050"/>
              </a:solidFill>
            </a:endParaRPr>
          </a:p>
          <a:p>
            <a:pPr marL="0" indent="0">
              <a:buNone/>
            </a:pP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p:cNvSpPr>
          <p:nvPr>
            <p:ph type="title"/>
          </p:nvPr>
        </p:nvSpPr>
        <p:spPr/>
        <p:txBody>
          <a:bodyPr vert="horz" wrap="square" lIns="91440" tIns="45720" rIns="91440" bIns="45720" anchor="ctr" anchorCtr="0"/>
          <a:p>
            <a:r>
              <a:rPr lang="en-US" altLang="zh-CN" sz="3600" dirty="0"/>
              <a:t>10.1.2  </a:t>
            </a:r>
            <a:r>
              <a:rPr lang="zh-CN" altLang="en-US" sz="3600" dirty="0"/>
              <a:t>实现查询操作的算法示例 </a:t>
            </a:r>
            <a:endParaRPr lang="zh-CN" altLang="en-US" sz="3600" dirty="0"/>
          </a:p>
        </p:txBody>
      </p:sp>
      <p:sp>
        <p:nvSpPr>
          <p:cNvPr id="22531" name="内容占位符 2"/>
          <p:cNvSpPr>
            <a:spLocks noGrp="1"/>
          </p:cNvSpPr>
          <p:nvPr>
            <p:ph idx="1"/>
          </p:nvPr>
        </p:nvSpPr>
        <p:spPr>
          <a:xfrm>
            <a:off x="982663" y="1357313"/>
            <a:ext cx="10972800" cy="4854575"/>
          </a:xfrm>
        </p:spPr>
        <p:txBody>
          <a:bodyPr vert="horz" wrap="square" lIns="91440" tIns="45720" rIns="91440" bIns="45720" numCol="1" anchor="t" anchorCtr="0" compatLnSpc="1"/>
          <a:lstStyle/>
          <a:p>
            <a:pPr marL="514350" marR="0" lvl="0" indent="-514350" algn="l" defTabSz="914400" rtl="0" eaLnBrk="0" fontAlgn="base" latinLnBrk="0" hangingPunct="0">
              <a:lnSpc>
                <a:spcPct val="150000"/>
              </a:lnSpc>
              <a:spcBef>
                <a:spcPct val="20000"/>
              </a:spcBef>
              <a:spcAft>
                <a:spcPct val="0"/>
              </a:spcAft>
              <a:buClrTx/>
              <a:buSzPct val="100000"/>
              <a:buFont typeface="Wingdings" panose="05000000000000000000" pitchFamily="2" charset="2"/>
              <a:buAutoNum type="arabicPeriod"/>
              <a:defRPr/>
            </a:pPr>
            <a:r>
              <a:rPr kumimoji="0" lang="zh-CN" altLang="zh-CN" sz="2800" b="1" i="0" u="none" strike="noStrike" kern="0" cap="none" spc="0" normalizeH="0" baseline="0" noProof="0" dirty="0">
                <a:ln>
                  <a:noFill/>
                </a:ln>
                <a:solidFill>
                  <a:schemeClr val="tx1"/>
                </a:solidFill>
                <a:effectLst/>
                <a:uLnTx/>
                <a:uFillTx/>
                <a:latin typeface="+mn-lt"/>
                <a:ea typeface="+mn-ea"/>
                <a:cs typeface="+mn-cs"/>
              </a:rPr>
              <a:t>选择操作的实现 </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50000"/>
              </a:lnSpc>
              <a:spcBef>
                <a:spcPct val="20000"/>
              </a:spcBef>
              <a:spcAft>
                <a:spcPct val="0"/>
              </a:spcAft>
              <a:buClrTx/>
              <a:buSzPct val="100000"/>
              <a:buFont typeface="Wingdings" panose="05000000000000000000" pitchFamily="2" charset="2"/>
              <a:buAutoNum type="arabicPeriod"/>
              <a:defRPr/>
            </a:pPr>
            <a:r>
              <a:rPr kumimoji="0" lang="zh-CN" altLang="zh-CN" sz="2800" b="1" i="0" u="none" strike="noStrike" kern="0" cap="none" spc="0" normalizeH="0" baseline="0" noProof="0" dirty="0">
                <a:ln>
                  <a:noFill/>
                </a:ln>
                <a:solidFill>
                  <a:schemeClr val="tx1"/>
                </a:solidFill>
                <a:effectLst/>
                <a:uLnTx/>
                <a:uFillTx/>
                <a:latin typeface="+mn-lt"/>
                <a:ea typeface="+mn-ea"/>
                <a:cs typeface="+mn-cs"/>
              </a:rPr>
              <a:t>连接操作的实现 </a:t>
            </a:r>
            <a:endParaRPr kumimoji="0" lang="zh-CN" altLang="zh-CN"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
          <p:cNvSpPr>
            <a:spLocks noGrp="1"/>
          </p:cNvSpPr>
          <p:nvPr>
            <p:ph type="title"/>
          </p:nvPr>
        </p:nvSpPr>
        <p:spPr/>
        <p:txBody>
          <a:bodyPr vert="horz" wrap="square" lIns="91440" tIns="45720" rIns="91440" bIns="45720" anchor="ctr" anchorCtr="0"/>
          <a:p>
            <a:r>
              <a:rPr lang="en-US" altLang="zh-CN" sz="3600" dirty="0"/>
              <a:t>1.</a:t>
            </a:r>
            <a:r>
              <a:rPr lang="zh-CN" altLang="zh-CN" sz="3600" dirty="0"/>
              <a:t>选择操作的实现</a:t>
            </a:r>
            <a:endParaRPr lang="zh-CN" altLang="en-US" sz="3600" dirty="0"/>
          </a:p>
        </p:txBody>
      </p:sp>
      <p:sp>
        <p:nvSpPr>
          <p:cNvPr id="17411" name="内容占位符 2"/>
          <p:cNvSpPr>
            <a:spLocks noGrp="1"/>
          </p:cNvSpPr>
          <p:nvPr>
            <p:ph idx="1"/>
          </p:nvPr>
        </p:nvSpPr>
        <p:spPr>
          <a:xfrm>
            <a:off x="911225" y="1098550"/>
            <a:ext cx="10225088" cy="5095875"/>
          </a:xfrm>
        </p:spPr>
        <p:txBody>
          <a:bodyPr vert="horz" wrap="square" lIns="91440" tIns="45720" rIns="91440" bIns="45720" anchor="t" anchorCtr="0"/>
          <a:p>
            <a:pPr>
              <a:lnSpc>
                <a:spcPct val="120000"/>
              </a:lnSpc>
            </a:pPr>
            <a:r>
              <a:rPr lang="zh-CN" altLang="en-US" dirty="0"/>
              <a:t>选择操作典型实现方法：</a:t>
            </a:r>
            <a:endParaRPr lang="zh-CN" altLang="en-US" dirty="0"/>
          </a:p>
          <a:p>
            <a:pPr marL="457200" lvl="1" indent="0">
              <a:lnSpc>
                <a:spcPct val="120000"/>
              </a:lnSpc>
              <a:buNone/>
            </a:pPr>
            <a:r>
              <a:rPr lang="zh-CN" altLang="en-US" dirty="0"/>
              <a:t>（</a:t>
            </a:r>
            <a:r>
              <a:rPr lang="en-US" altLang="zh-CN" dirty="0"/>
              <a:t>1</a:t>
            </a:r>
            <a:r>
              <a:rPr lang="zh-CN" altLang="en-US" dirty="0"/>
              <a:t>）</a:t>
            </a:r>
            <a:r>
              <a:rPr lang="en-US" altLang="zh-CN" dirty="0"/>
              <a:t> </a:t>
            </a:r>
            <a:r>
              <a:rPr lang="zh-CN" altLang="en-US" dirty="0"/>
              <a:t>全表扫描方法 </a:t>
            </a:r>
            <a:r>
              <a:rPr lang="en-US" altLang="zh-CN" dirty="0"/>
              <a:t>(Table Scan)</a:t>
            </a:r>
            <a:endParaRPr lang="zh-CN" altLang="en-US" dirty="0"/>
          </a:p>
          <a:p>
            <a:pPr lvl="2">
              <a:lnSpc>
                <a:spcPct val="120000"/>
              </a:lnSpc>
              <a:buSzPct val="75000"/>
              <a:buFont typeface="Wingdings" panose="05000000000000000000" pitchFamily="2" charset="2"/>
              <a:buChar char="l"/>
            </a:pPr>
            <a:r>
              <a:rPr lang="zh-CN" altLang="en-US" dirty="0"/>
              <a:t>对查询的基本表顺序扫描，逐一检查每个元组是否满足选择条件，把满足条件的元组作为结果输出 </a:t>
            </a:r>
            <a:endParaRPr lang="zh-CN" altLang="en-US" dirty="0"/>
          </a:p>
          <a:p>
            <a:pPr lvl="2">
              <a:lnSpc>
                <a:spcPct val="120000"/>
              </a:lnSpc>
              <a:buSzPct val="75000"/>
              <a:buFont typeface="Wingdings" panose="05000000000000000000" pitchFamily="2" charset="2"/>
              <a:buChar char="l"/>
            </a:pPr>
            <a:r>
              <a:rPr lang="zh-CN" altLang="en-US" dirty="0"/>
              <a:t>适合小表，不适合大表</a:t>
            </a:r>
            <a:endParaRPr lang="zh-CN" altLang="en-US" dirty="0"/>
          </a:p>
          <a:p>
            <a:pPr marL="457200" lvl="1" indent="0">
              <a:lnSpc>
                <a:spcPct val="120000"/>
              </a:lnSpc>
              <a:buNone/>
            </a:pPr>
            <a:r>
              <a:rPr lang="zh-CN" altLang="en-US" dirty="0"/>
              <a:t>（</a:t>
            </a:r>
            <a:r>
              <a:rPr lang="en-US" altLang="zh-CN" dirty="0"/>
              <a:t>2</a:t>
            </a:r>
            <a:r>
              <a:rPr lang="zh-CN" altLang="en-US" dirty="0"/>
              <a:t>）索引扫描方法 </a:t>
            </a:r>
            <a:r>
              <a:rPr lang="en-US" altLang="zh-CN" dirty="0"/>
              <a:t>(Index Scan)</a:t>
            </a:r>
            <a:endParaRPr lang="zh-CN" altLang="en-US" dirty="0"/>
          </a:p>
          <a:p>
            <a:pPr lvl="2">
              <a:lnSpc>
                <a:spcPct val="120000"/>
              </a:lnSpc>
              <a:buSzPct val="75000"/>
              <a:buFont typeface="Wingdings" panose="05000000000000000000" pitchFamily="2" charset="2"/>
              <a:buChar char="l"/>
            </a:pPr>
            <a:r>
              <a:rPr lang="zh-CN" altLang="en-US" dirty="0"/>
              <a:t>适合于选择条件中的属性上有索引</a:t>
            </a:r>
            <a:r>
              <a:rPr lang="en-US" altLang="zh-CN" dirty="0"/>
              <a:t>(</a:t>
            </a:r>
            <a:r>
              <a:rPr lang="zh-CN" altLang="en-US" dirty="0"/>
              <a:t>例如</a:t>
            </a:r>
            <a:r>
              <a:rPr lang="en-US" altLang="zh-CN" dirty="0"/>
              <a:t>B+</a:t>
            </a:r>
            <a:r>
              <a:rPr lang="zh-CN" altLang="en-US" dirty="0"/>
              <a:t>树索引或</a:t>
            </a:r>
            <a:r>
              <a:rPr lang="en-US" altLang="zh-CN" dirty="0"/>
              <a:t>Hash</a:t>
            </a:r>
            <a:r>
              <a:rPr lang="zh-CN" altLang="en-US" dirty="0"/>
              <a:t>索引</a:t>
            </a:r>
            <a:r>
              <a:rPr lang="en-US" altLang="zh-CN" dirty="0"/>
              <a:t>) </a:t>
            </a:r>
            <a:endParaRPr lang="zh-CN" altLang="en-US" dirty="0"/>
          </a:p>
          <a:p>
            <a:pPr lvl="2">
              <a:lnSpc>
                <a:spcPct val="120000"/>
              </a:lnSpc>
              <a:buSzPct val="75000"/>
              <a:buFont typeface="Wingdings" panose="05000000000000000000" pitchFamily="2" charset="2"/>
              <a:buChar char="l"/>
            </a:pPr>
            <a:r>
              <a:rPr lang="zh-CN" altLang="en-US" dirty="0"/>
              <a:t>通过索引先找到满足条件的元组主码或元组指针，再通过元组指针直接在查询的基本表中找到元组 </a:t>
            </a:r>
            <a:endParaRPr lang="zh-CN" altLang="en-US" dirty="0"/>
          </a:p>
          <a:p>
            <a:pPr>
              <a:buFont typeface="Wingdings" panose="05000000000000000000" pitchFamily="2" charset="2"/>
              <a:buChar char="v"/>
            </a:pP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p:txBody>
          <a:bodyPr vert="horz" wrap="square" lIns="91440" tIns="45720" rIns="91440" bIns="45720" anchor="ctr" anchorCtr="0"/>
          <a:p>
            <a:r>
              <a:rPr lang="zh-CN" altLang="zh-CN" sz="3200" dirty="0"/>
              <a:t>选择操作的实现（续） </a:t>
            </a:r>
            <a:endParaRPr lang="zh-CN" altLang="en-US" sz="3200" dirty="0"/>
          </a:p>
        </p:txBody>
      </p:sp>
      <p:sp>
        <p:nvSpPr>
          <p:cNvPr id="18435" name="Rectangle 3"/>
          <p:cNvSpPr>
            <a:spLocks noGrp="1"/>
          </p:cNvSpPr>
          <p:nvPr>
            <p:ph idx="1"/>
          </p:nvPr>
        </p:nvSpPr>
        <p:spPr>
          <a:xfrm>
            <a:off x="479425" y="1106488"/>
            <a:ext cx="11102975" cy="5095875"/>
          </a:xfrm>
        </p:spPr>
        <p:txBody>
          <a:bodyPr vert="horz" wrap="square" lIns="91440" tIns="45720" rIns="91440" bIns="45720" anchor="t" anchorCtr="0"/>
          <a:p>
            <a:pPr>
              <a:lnSpc>
                <a:spcPct val="120000"/>
              </a:lnSpc>
            </a:pPr>
            <a:r>
              <a:rPr lang="en-US" altLang="zh-CN" dirty="0"/>
              <a:t>[</a:t>
            </a:r>
            <a:r>
              <a:rPr lang="zh-CN" altLang="en-US" dirty="0"/>
              <a:t>例</a:t>
            </a:r>
            <a:r>
              <a:rPr lang="en-US" altLang="zh-CN" dirty="0"/>
              <a:t>10.1] SELECT * </a:t>
            </a:r>
            <a:endParaRPr lang="en-US" altLang="zh-CN" dirty="0"/>
          </a:p>
          <a:p>
            <a:pPr>
              <a:lnSpc>
                <a:spcPct val="120000"/>
              </a:lnSpc>
              <a:buNone/>
            </a:pPr>
            <a:r>
              <a:rPr lang="en-US" altLang="zh-CN" dirty="0"/>
              <a:t>                FROM Student</a:t>
            </a:r>
            <a:endParaRPr lang="en-US" altLang="zh-CN" dirty="0"/>
          </a:p>
          <a:p>
            <a:pPr>
              <a:lnSpc>
                <a:spcPct val="120000"/>
              </a:lnSpc>
              <a:buNone/>
            </a:pPr>
            <a:r>
              <a:rPr lang="en-US" altLang="zh-CN" dirty="0"/>
              <a:t>                WHERE &lt;</a:t>
            </a:r>
            <a:r>
              <a:rPr lang="zh-CN" altLang="zh-CN" dirty="0"/>
              <a:t>条件表达式</a:t>
            </a:r>
            <a:r>
              <a:rPr lang="en-US" altLang="zh-CN" dirty="0"/>
              <a:t>&gt;</a:t>
            </a:r>
            <a:endParaRPr lang="en-US" altLang="zh-CN" dirty="0"/>
          </a:p>
          <a:p>
            <a:pPr>
              <a:lnSpc>
                <a:spcPct val="120000"/>
              </a:lnSpc>
              <a:buNone/>
            </a:pPr>
            <a:r>
              <a:rPr lang="en-US" altLang="zh-CN" dirty="0"/>
              <a:t>   </a:t>
            </a:r>
            <a:r>
              <a:rPr lang="zh-CN" altLang="en-US" dirty="0"/>
              <a:t>考虑</a:t>
            </a:r>
            <a:r>
              <a:rPr lang="en-US" altLang="zh-CN" dirty="0"/>
              <a:t>&lt;</a:t>
            </a:r>
            <a:r>
              <a:rPr lang="zh-CN" altLang="en-US" dirty="0"/>
              <a:t>条件表达式</a:t>
            </a:r>
            <a:r>
              <a:rPr lang="en-US" altLang="zh-CN" dirty="0"/>
              <a:t>&gt;</a:t>
            </a:r>
            <a:r>
              <a:rPr lang="zh-CN" altLang="en-US" dirty="0"/>
              <a:t>的几种情况：</a:t>
            </a:r>
            <a:endParaRPr lang="zh-CN" altLang="en-US" dirty="0"/>
          </a:p>
          <a:p>
            <a:pPr>
              <a:lnSpc>
                <a:spcPct val="120000"/>
              </a:lnSpc>
              <a:buNone/>
            </a:pPr>
            <a:r>
              <a:rPr lang="zh-CN" altLang="en-US" dirty="0"/>
              <a:t>    </a:t>
            </a:r>
            <a:r>
              <a:rPr lang="en-US" altLang="zh-CN" sz="2400" dirty="0"/>
              <a:t>C1</a:t>
            </a:r>
            <a:r>
              <a:rPr lang="zh-CN" altLang="en-US" sz="2400" dirty="0"/>
              <a:t>：无条件；</a:t>
            </a:r>
            <a:endParaRPr lang="zh-CN" altLang="en-US" sz="2400" dirty="0"/>
          </a:p>
          <a:p>
            <a:pPr>
              <a:lnSpc>
                <a:spcPct val="120000"/>
              </a:lnSpc>
              <a:buNone/>
            </a:pPr>
            <a:r>
              <a:rPr lang="zh-CN" altLang="en-US" sz="2400" dirty="0"/>
              <a:t>	 </a:t>
            </a:r>
            <a:r>
              <a:rPr lang="en-US" altLang="zh-CN" sz="2400" dirty="0"/>
              <a:t>C2</a:t>
            </a:r>
            <a:r>
              <a:rPr lang="zh-CN" altLang="en-US" sz="2400" dirty="0"/>
              <a:t>：</a:t>
            </a:r>
            <a:r>
              <a:rPr lang="en-US" altLang="zh-CN" sz="2400" dirty="0"/>
              <a:t>Sno</a:t>
            </a:r>
            <a:r>
              <a:rPr lang="zh-CN" altLang="en-US" sz="2400" dirty="0"/>
              <a:t>＝</a:t>
            </a:r>
            <a:r>
              <a:rPr lang="en-US" altLang="zh-CN" sz="2400" dirty="0"/>
              <a:t>'201215121'</a:t>
            </a:r>
            <a:r>
              <a:rPr lang="zh-CN" altLang="en-US" sz="2400" dirty="0"/>
              <a:t>；</a:t>
            </a:r>
            <a:endParaRPr lang="zh-CN" altLang="en-US" sz="2400" dirty="0"/>
          </a:p>
          <a:p>
            <a:pPr>
              <a:lnSpc>
                <a:spcPct val="120000"/>
              </a:lnSpc>
              <a:buNone/>
            </a:pPr>
            <a:r>
              <a:rPr lang="zh-CN" altLang="en-US" sz="2400" dirty="0"/>
              <a:t>	 </a:t>
            </a:r>
            <a:r>
              <a:rPr lang="en-US" altLang="zh-CN" sz="2400" dirty="0"/>
              <a:t>C3</a:t>
            </a:r>
            <a:r>
              <a:rPr lang="zh-CN" altLang="en-US" sz="2400" dirty="0"/>
              <a:t>：</a:t>
            </a:r>
            <a:r>
              <a:rPr lang="en-US" altLang="zh-CN" sz="2400" dirty="0"/>
              <a:t>Sbirthdate&gt;=’20000101’</a:t>
            </a:r>
            <a:r>
              <a:rPr lang="zh-CN" altLang="en-US" sz="2400" dirty="0"/>
              <a:t>；</a:t>
            </a:r>
            <a:endParaRPr lang="zh-CN" altLang="en-US" sz="2400" dirty="0"/>
          </a:p>
          <a:p>
            <a:pPr>
              <a:lnSpc>
                <a:spcPct val="120000"/>
              </a:lnSpc>
              <a:buNone/>
            </a:pPr>
            <a:r>
              <a:rPr lang="zh-CN" altLang="en-US" sz="2400" dirty="0"/>
              <a:t>	 </a:t>
            </a:r>
            <a:r>
              <a:rPr lang="en-US" altLang="zh-CN" sz="2400" dirty="0"/>
              <a:t>C4</a:t>
            </a:r>
            <a:r>
              <a:rPr lang="zh-CN" altLang="en-US" sz="2400" dirty="0"/>
              <a:t>：</a:t>
            </a:r>
            <a:r>
              <a:rPr lang="en-US" altLang="zh-CN" sz="2400" dirty="0"/>
              <a:t>Smajor='</a:t>
            </a:r>
            <a:r>
              <a:rPr lang="zh-CN" altLang="en-US" sz="2400" dirty="0"/>
              <a:t>计算机科学与技术</a:t>
            </a:r>
            <a:r>
              <a:rPr lang="en-US" altLang="zh-CN" sz="2400" dirty="0"/>
              <a:t>' AND Sbirthdate&gt;=’20000101’</a:t>
            </a:r>
            <a:r>
              <a:rPr lang="zh-CN" altLang="en-US" sz="2400" dirty="0"/>
              <a:t>；</a:t>
            </a:r>
            <a:r>
              <a:rPr lang="zh-CN" altLang="en-US" dirty="0"/>
              <a:t> </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
          <p:cNvSpPr>
            <a:spLocks noGrp="1"/>
          </p:cNvSpPr>
          <p:nvPr>
            <p:ph type="title"/>
          </p:nvPr>
        </p:nvSpPr>
        <p:spPr/>
        <p:txBody>
          <a:bodyPr vert="horz" wrap="square" lIns="91440" tIns="45720" rIns="91440" bIns="45720" anchor="ctr" anchorCtr="0"/>
          <a:p>
            <a:r>
              <a:rPr lang="zh-CN" altLang="zh-CN" sz="3600" dirty="0"/>
              <a:t>选择操作的实现（续） </a:t>
            </a:r>
            <a:endParaRPr lang="zh-CN" altLang="en-US" sz="3600" dirty="0"/>
          </a:p>
        </p:txBody>
      </p:sp>
      <p:sp>
        <p:nvSpPr>
          <p:cNvPr id="3" name="内容占位符 2"/>
          <p:cNvSpPr>
            <a:spLocks noGrp="1"/>
          </p:cNvSpPr>
          <p:nvPr>
            <p:ph idx="1"/>
          </p:nvPr>
        </p:nvSpPr>
        <p:spPr>
          <a:xfrm>
            <a:off x="1055688" y="1412875"/>
            <a:ext cx="8435975" cy="4854575"/>
          </a:xfrm>
        </p:spPr>
        <p:txBody>
          <a:bodyPr vert="horz" wrap="square" lIns="91440" tIns="45720" rIns="91440" bIns="45720" numCol="1" anchor="t" anchorCtr="0" compatLnSpc="1"/>
          <a:lstStyle/>
          <a:p>
            <a:pPr marL="342900" marR="0" lvl="0" indent="-34290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全表扫描算法</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假设可以使用的内存为</a:t>
            </a:r>
            <a:r>
              <a:rPr kumimoji="0" lang="en-US" altLang="zh-CN" sz="2400" b="1" i="0" u="none" strike="noStrike" kern="0" cap="none" spc="0" normalizeH="0" baseline="0" noProof="0" dirty="0">
                <a:ln>
                  <a:noFill/>
                </a:ln>
                <a:solidFill>
                  <a:schemeClr val="tx1"/>
                </a:solidFill>
                <a:effectLst/>
                <a:uLnTx/>
                <a:uFillTx/>
                <a:latin typeface="+mn-lt"/>
                <a:ea typeface="+mn-ea"/>
              </a:rPr>
              <a:t>M</a:t>
            </a:r>
            <a:r>
              <a:rPr kumimoji="0" lang="zh-CN" altLang="en-US" sz="2400" b="1" i="0" u="none" strike="noStrike" kern="0" cap="none" spc="0" normalizeH="0" baseline="0" noProof="0" dirty="0">
                <a:ln>
                  <a:noFill/>
                </a:ln>
                <a:solidFill>
                  <a:schemeClr val="tx1"/>
                </a:solidFill>
                <a:effectLst/>
                <a:uLnTx/>
                <a:uFillTx/>
                <a:latin typeface="+mn-lt"/>
                <a:ea typeface="+mn-ea"/>
              </a:rPr>
              <a:t>块，全表扫描算法思想：</a:t>
            </a:r>
            <a:endParaRPr kumimoji="0" lang="en-US" altLang="zh-CN" sz="2400" b="1" i="0" u="none" strike="noStrike" kern="0" cap="none" spc="0" normalizeH="0" baseline="0" noProof="0" dirty="0">
              <a:ln>
                <a:noFill/>
              </a:ln>
              <a:solidFill>
                <a:schemeClr val="tx1"/>
              </a:solidFill>
              <a:effectLst/>
              <a:uLnTx/>
              <a:uFillTx/>
              <a:latin typeface="+mn-lt"/>
              <a:ea typeface="+mn-ea"/>
            </a:endParaRPr>
          </a:p>
          <a:p>
            <a:pPr marL="898525" marR="0" lvl="2" indent="-457200" algn="l" defTabSz="914400" rtl="0" eaLnBrk="0" fontAlgn="base" latinLnBrk="0" hangingPunct="0">
              <a:lnSpc>
                <a:spcPct val="120000"/>
              </a:lnSpc>
              <a:spcBef>
                <a:spcPct val="20000"/>
              </a:spcBef>
              <a:spcAft>
                <a:spcPct val="0"/>
              </a:spcAft>
              <a:buClrTx/>
              <a:buSzTx/>
              <a:buFont typeface="+mj-ea"/>
              <a:buAutoNum type="circleNumDbPlain"/>
              <a:defRPr/>
            </a:pPr>
            <a:r>
              <a:rPr kumimoji="0" lang="zh-CN" altLang="en-US" sz="2200" b="1" i="0" u="none" strike="noStrike" kern="0" cap="none" spc="0" normalizeH="0" baseline="0" noProof="0" dirty="0">
                <a:ln>
                  <a:noFill/>
                </a:ln>
                <a:solidFill>
                  <a:schemeClr val="tx1"/>
                </a:solidFill>
                <a:effectLst/>
                <a:uLnTx/>
                <a:uFillTx/>
                <a:latin typeface="+mn-lt"/>
                <a:ea typeface="+mn-ea"/>
              </a:rPr>
              <a:t>按照物理次序读</a:t>
            </a:r>
            <a:r>
              <a:rPr kumimoji="0" lang="en-US" altLang="zh-CN" sz="2200" b="1" i="0" u="none" strike="noStrike" kern="0" cap="none" spc="0" normalizeH="0" baseline="0" noProof="0" dirty="0">
                <a:ln>
                  <a:noFill/>
                </a:ln>
                <a:solidFill>
                  <a:schemeClr val="tx1"/>
                </a:solidFill>
                <a:effectLst/>
                <a:uLnTx/>
                <a:uFillTx/>
                <a:latin typeface="+mn-lt"/>
                <a:ea typeface="+mn-ea"/>
              </a:rPr>
              <a:t>Student</a:t>
            </a:r>
            <a:r>
              <a:rPr kumimoji="0" lang="zh-CN" altLang="en-US" sz="2200" b="1" i="0" u="none" strike="noStrike" kern="0" cap="none" spc="0" normalizeH="0" baseline="0" noProof="0" dirty="0">
                <a:ln>
                  <a:noFill/>
                </a:ln>
                <a:solidFill>
                  <a:schemeClr val="tx1"/>
                </a:solidFill>
                <a:effectLst/>
                <a:uLnTx/>
                <a:uFillTx/>
                <a:latin typeface="+mn-lt"/>
                <a:ea typeface="+mn-ea"/>
              </a:rPr>
              <a:t>的</a:t>
            </a:r>
            <a:r>
              <a:rPr kumimoji="0" lang="en-US" altLang="zh-CN" sz="2200" b="1" i="0" u="none" strike="noStrike" kern="0" cap="none" spc="0" normalizeH="0" baseline="0" noProof="0" dirty="0">
                <a:ln>
                  <a:noFill/>
                </a:ln>
                <a:solidFill>
                  <a:schemeClr val="tx1"/>
                </a:solidFill>
                <a:effectLst/>
                <a:uLnTx/>
                <a:uFillTx/>
                <a:latin typeface="+mn-lt"/>
                <a:ea typeface="+mn-ea"/>
              </a:rPr>
              <a:t>M</a:t>
            </a:r>
            <a:r>
              <a:rPr kumimoji="0" lang="zh-CN" altLang="en-US" sz="2200" b="1" i="0" u="none" strike="noStrike" kern="0" cap="none" spc="0" normalizeH="0" baseline="0" noProof="0" dirty="0">
                <a:ln>
                  <a:noFill/>
                </a:ln>
                <a:solidFill>
                  <a:schemeClr val="tx1"/>
                </a:solidFill>
                <a:effectLst/>
                <a:uLnTx/>
                <a:uFillTx/>
                <a:latin typeface="+mn-lt"/>
                <a:ea typeface="+mn-ea"/>
              </a:rPr>
              <a:t>块到内存</a:t>
            </a:r>
            <a:endParaRPr kumimoji="0" lang="en-US" altLang="zh-CN" sz="2200" b="1" i="0" u="none" strike="noStrike" kern="0" cap="none" spc="0" normalizeH="0" baseline="0" noProof="0" dirty="0">
              <a:ln>
                <a:noFill/>
              </a:ln>
              <a:solidFill>
                <a:schemeClr val="tx1"/>
              </a:solidFill>
              <a:effectLst/>
              <a:uLnTx/>
              <a:uFillTx/>
              <a:latin typeface="+mn-lt"/>
              <a:ea typeface="+mn-ea"/>
            </a:endParaRPr>
          </a:p>
          <a:p>
            <a:pPr marL="898525" marR="0" lvl="2" indent="-457200" algn="l" defTabSz="914400" rtl="0" eaLnBrk="0" fontAlgn="base" latinLnBrk="0" hangingPunct="0">
              <a:lnSpc>
                <a:spcPct val="120000"/>
              </a:lnSpc>
              <a:spcBef>
                <a:spcPct val="20000"/>
              </a:spcBef>
              <a:spcAft>
                <a:spcPct val="0"/>
              </a:spcAft>
              <a:buClrTx/>
              <a:buSzTx/>
              <a:buFont typeface="+mj-ea"/>
              <a:buAutoNum type="circleNumDbPlain"/>
              <a:defRPr/>
            </a:pPr>
            <a:r>
              <a:rPr kumimoji="0" lang="zh-CN" altLang="en-US" sz="2200" b="1" i="0" u="none" strike="noStrike" kern="0" cap="none" spc="0" normalizeH="0" baseline="0" noProof="0" dirty="0">
                <a:ln>
                  <a:noFill/>
                </a:ln>
                <a:solidFill>
                  <a:schemeClr val="tx1"/>
                </a:solidFill>
                <a:effectLst/>
                <a:uLnTx/>
                <a:uFillTx/>
                <a:latin typeface="+mn-lt"/>
                <a:ea typeface="+mn-ea"/>
              </a:rPr>
              <a:t>检查内存的每个元组</a:t>
            </a:r>
            <a:r>
              <a:rPr kumimoji="0" lang="en-US" altLang="zh-CN" sz="2200" b="1" i="0" u="none" strike="noStrike" kern="0" cap="none" spc="0" normalizeH="0" baseline="0" noProof="0" dirty="0">
                <a:ln>
                  <a:noFill/>
                </a:ln>
                <a:solidFill>
                  <a:schemeClr val="tx1"/>
                </a:solidFill>
                <a:effectLst/>
                <a:uLnTx/>
                <a:uFillTx/>
                <a:latin typeface="+mn-lt"/>
                <a:ea typeface="+mn-ea"/>
              </a:rPr>
              <a:t>t</a:t>
            </a:r>
            <a:r>
              <a:rPr kumimoji="0" lang="zh-CN" altLang="en-US" sz="2200" b="1" i="0" u="none" strike="noStrike" kern="0" cap="none" spc="0" normalizeH="0" baseline="0" noProof="0" dirty="0">
                <a:ln>
                  <a:noFill/>
                </a:ln>
                <a:solidFill>
                  <a:schemeClr val="tx1"/>
                </a:solidFill>
                <a:effectLst/>
                <a:uLnTx/>
                <a:uFillTx/>
                <a:latin typeface="+mn-lt"/>
                <a:ea typeface="+mn-ea"/>
              </a:rPr>
              <a:t>，如果满足选择条件，则输出</a:t>
            </a:r>
            <a:r>
              <a:rPr kumimoji="0" lang="en-US" altLang="zh-CN" sz="2200" b="1" i="0" u="none" strike="noStrike" kern="0" cap="none" spc="0" normalizeH="0" baseline="0" noProof="0" dirty="0">
                <a:ln>
                  <a:noFill/>
                </a:ln>
                <a:solidFill>
                  <a:schemeClr val="tx1"/>
                </a:solidFill>
                <a:effectLst/>
                <a:uLnTx/>
                <a:uFillTx/>
                <a:latin typeface="+mn-lt"/>
                <a:ea typeface="+mn-ea"/>
              </a:rPr>
              <a:t>t</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898525" marR="0" lvl="2" indent="-457200" algn="l" defTabSz="914400" rtl="0" eaLnBrk="0" fontAlgn="base" latinLnBrk="0" hangingPunct="0">
              <a:lnSpc>
                <a:spcPct val="120000"/>
              </a:lnSpc>
              <a:spcBef>
                <a:spcPct val="20000"/>
              </a:spcBef>
              <a:spcAft>
                <a:spcPct val="0"/>
              </a:spcAft>
              <a:buClrTx/>
              <a:buSzTx/>
              <a:buFont typeface="+mj-ea"/>
              <a:buAutoNum type="circleNumDbPlain"/>
              <a:defRPr/>
            </a:pPr>
            <a:r>
              <a:rPr kumimoji="0" lang="zh-CN" altLang="en-US" sz="2200" b="1" i="0" u="none" strike="noStrike" kern="0" cap="none" spc="0" normalizeH="0" baseline="0" noProof="0" dirty="0">
                <a:ln>
                  <a:noFill/>
                </a:ln>
                <a:solidFill>
                  <a:schemeClr val="tx1"/>
                </a:solidFill>
                <a:effectLst/>
                <a:uLnTx/>
                <a:uFillTx/>
                <a:latin typeface="+mn-lt"/>
                <a:ea typeface="+mn-ea"/>
              </a:rPr>
              <a:t>如果</a:t>
            </a:r>
            <a:r>
              <a:rPr kumimoji="0" lang="en-US" altLang="zh-CN" sz="2200" b="1" i="0" u="none" strike="noStrike" kern="0" cap="none" spc="0" normalizeH="0" baseline="0" noProof="0" dirty="0">
                <a:ln>
                  <a:noFill/>
                </a:ln>
                <a:solidFill>
                  <a:schemeClr val="tx1"/>
                </a:solidFill>
                <a:effectLst/>
                <a:uLnTx/>
                <a:uFillTx/>
                <a:latin typeface="+mn-lt"/>
                <a:ea typeface="+mn-ea"/>
              </a:rPr>
              <a:t>student</a:t>
            </a:r>
            <a:r>
              <a:rPr kumimoji="0" lang="zh-CN" altLang="en-US" sz="2200" b="1" i="0" u="none" strike="noStrike" kern="0" cap="none" spc="0" normalizeH="0" baseline="0" noProof="0" dirty="0">
                <a:ln>
                  <a:noFill/>
                </a:ln>
                <a:solidFill>
                  <a:schemeClr val="tx1"/>
                </a:solidFill>
                <a:effectLst/>
                <a:uLnTx/>
                <a:uFillTx/>
                <a:latin typeface="+mn-lt"/>
                <a:ea typeface="+mn-ea"/>
              </a:rPr>
              <a:t>还有其他块未被处理，重复①和②</a:t>
            </a:r>
            <a:endParaRPr kumimoji="0" lang="en-US" altLang="zh-CN" sz="2200" b="1" i="0" u="none" strike="noStrike" kern="0" cap="none" spc="0" normalizeH="0" baseline="0" noProof="0" dirty="0">
              <a:ln>
                <a:noFill/>
              </a:ln>
              <a:solidFill>
                <a:schemeClr val="tx1"/>
              </a:solidFill>
              <a:effectLst/>
              <a:uLnTx/>
              <a:uFillTx/>
              <a:latin typeface="+mn-lt"/>
              <a:ea typeface="+mn-ea"/>
            </a:endParaRPr>
          </a:p>
          <a:p>
            <a:pPr marL="898525" marR="0" lvl="0" indent="-4572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32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1"/>
          <p:cNvSpPr>
            <a:spLocks noGrp="1"/>
          </p:cNvSpPr>
          <p:nvPr>
            <p:ph type="title"/>
          </p:nvPr>
        </p:nvSpPr>
        <p:spPr/>
        <p:txBody>
          <a:bodyPr vert="horz" wrap="square" lIns="91440" tIns="45720" rIns="91440" bIns="45720" anchor="ctr" anchorCtr="0"/>
          <a:p>
            <a:r>
              <a:rPr lang="zh-CN" altLang="zh-CN" sz="3600" dirty="0"/>
              <a:t>选择操作的实现（续）</a:t>
            </a:r>
            <a:endParaRPr lang="zh-CN" altLang="en-US" sz="3600" dirty="0"/>
          </a:p>
        </p:txBody>
      </p:sp>
      <p:sp>
        <p:nvSpPr>
          <p:cNvPr id="20483" name="内容占位符 2"/>
          <p:cNvSpPr>
            <a:spLocks noGrp="1"/>
          </p:cNvSpPr>
          <p:nvPr>
            <p:ph idx="1"/>
          </p:nvPr>
        </p:nvSpPr>
        <p:spPr>
          <a:xfrm>
            <a:off x="1558925" y="1196975"/>
            <a:ext cx="8713788" cy="5095875"/>
          </a:xfrm>
        </p:spPr>
        <p:txBody>
          <a:bodyPr vert="horz" wrap="square" lIns="91440" tIns="45720" rIns="91440" bIns="45720" anchor="t" anchorCtr="0"/>
          <a:p>
            <a:pPr>
              <a:lnSpc>
                <a:spcPct val="120000"/>
              </a:lnSpc>
            </a:pPr>
            <a:r>
              <a:rPr lang="zh-CN" altLang="en-US" dirty="0"/>
              <a:t>索引扫描算法</a:t>
            </a:r>
            <a:endParaRPr lang="en-US" altLang="zh-CN" dirty="0"/>
          </a:p>
          <a:p>
            <a:pPr>
              <a:lnSpc>
                <a:spcPct val="120000"/>
              </a:lnSpc>
            </a:pPr>
            <a:r>
              <a:rPr lang="en-US" altLang="zh-CN" dirty="0"/>
              <a:t>[</a:t>
            </a:r>
            <a:r>
              <a:rPr lang="zh-CN" altLang="en-US" dirty="0"/>
              <a:t>例</a:t>
            </a:r>
            <a:r>
              <a:rPr lang="en-US" altLang="zh-CN" dirty="0"/>
              <a:t>10.1-C2] SELECT * </a:t>
            </a:r>
            <a:endParaRPr lang="en-US" altLang="zh-CN" dirty="0"/>
          </a:p>
          <a:p>
            <a:pPr>
              <a:lnSpc>
                <a:spcPct val="120000"/>
              </a:lnSpc>
              <a:buNone/>
            </a:pPr>
            <a:r>
              <a:rPr lang="en-US" altLang="zh-CN" dirty="0"/>
              <a:t>                     FROM Student</a:t>
            </a:r>
            <a:endParaRPr lang="en-US" altLang="zh-CN" dirty="0"/>
          </a:p>
          <a:p>
            <a:pPr>
              <a:lnSpc>
                <a:spcPct val="120000"/>
              </a:lnSpc>
              <a:buNone/>
            </a:pPr>
            <a:r>
              <a:rPr lang="en-US" altLang="zh-CN" dirty="0"/>
              <a:t>                     WHERE    Sno='201215121'</a:t>
            </a:r>
            <a:endParaRPr lang="zh-CN" altLang="en-US" dirty="0"/>
          </a:p>
          <a:p>
            <a:pPr lvl="1">
              <a:lnSpc>
                <a:spcPct val="120000"/>
              </a:lnSpc>
            </a:pPr>
            <a:r>
              <a:rPr lang="zh-CN" altLang="en-US" dirty="0"/>
              <a:t>假设</a:t>
            </a:r>
            <a:r>
              <a:rPr lang="en-US" altLang="zh-CN" dirty="0"/>
              <a:t>Sno</a:t>
            </a:r>
            <a:r>
              <a:rPr lang="zh-CN" altLang="en-US" dirty="0"/>
              <a:t>上有索引</a:t>
            </a:r>
            <a:r>
              <a:rPr lang="en-US" altLang="zh-CN" dirty="0"/>
              <a:t> </a:t>
            </a:r>
            <a:endParaRPr lang="zh-CN" altLang="en-US" dirty="0"/>
          </a:p>
          <a:p>
            <a:pPr lvl="1">
              <a:lnSpc>
                <a:spcPct val="120000"/>
              </a:lnSpc>
            </a:pPr>
            <a:r>
              <a:rPr lang="zh-CN" altLang="en-US" dirty="0"/>
              <a:t>算法：</a:t>
            </a:r>
            <a:endParaRPr lang="zh-CN" altLang="en-US" dirty="0"/>
          </a:p>
          <a:p>
            <a:pPr lvl="2">
              <a:lnSpc>
                <a:spcPct val="120000"/>
              </a:lnSpc>
              <a:buSzPct val="87000"/>
              <a:buFont typeface="Wingdings" panose="05000000000000000000" pitchFamily="2" charset="2"/>
              <a:buChar char="l"/>
            </a:pPr>
            <a:r>
              <a:rPr lang="zh-CN" altLang="en-US" dirty="0"/>
              <a:t>使用索引</a:t>
            </a:r>
            <a:r>
              <a:rPr lang="en-US" altLang="zh-CN" dirty="0"/>
              <a:t>(</a:t>
            </a:r>
            <a:r>
              <a:rPr lang="zh-CN" altLang="en-US" dirty="0"/>
              <a:t>或散列</a:t>
            </a:r>
            <a:r>
              <a:rPr lang="en-US" altLang="zh-CN" dirty="0"/>
              <a:t>)</a:t>
            </a:r>
            <a:r>
              <a:rPr lang="zh-CN" altLang="en-US" dirty="0"/>
              <a:t>得到</a:t>
            </a:r>
            <a:r>
              <a:rPr lang="en-US" altLang="zh-CN" dirty="0"/>
              <a:t>Sno</a:t>
            </a:r>
            <a:r>
              <a:rPr lang="zh-CN" altLang="en-US" dirty="0"/>
              <a:t>为‘</a:t>
            </a:r>
            <a:r>
              <a:rPr lang="en-US" altLang="zh-CN" dirty="0"/>
              <a:t>201215121’ </a:t>
            </a:r>
            <a:r>
              <a:rPr lang="zh-CN" altLang="en-US" dirty="0"/>
              <a:t>元组的指针</a:t>
            </a:r>
            <a:endParaRPr lang="zh-CN" altLang="en-US" dirty="0"/>
          </a:p>
          <a:p>
            <a:pPr lvl="2">
              <a:lnSpc>
                <a:spcPct val="120000"/>
              </a:lnSpc>
              <a:buSzPct val="87000"/>
              <a:buFont typeface="Wingdings" panose="05000000000000000000" pitchFamily="2" charset="2"/>
              <a:buChar char="l"/>
            </a:pPr>
            <a:r>
              <a:rPr lang="zh-CN" altLang="en-US" dirty="0"/>
              <a:t>通过元组指针在</a:t>
            </a:r>
            <a:r>
              <a:rPr lang="en-US" altLang="zh-CN" dirty="0"/>
              <a:t>Student</a:t>
            </a:r>
            <a:r>
              <a:rPr lang="zh-CN" altLang="en-US" dirty="0"/>
              <a:t>表中检索到该学生</a:t>
            </a:r>
            <a:endParaRPr lang="zh-CN" altLang="en-US" dirty="0"/>
          </a:p>
          <a:p>
            <a:pPr>
              <a:buFont typeface="Wingdings" panose="05000000000000000000" pitchFamily="2" charset="2"/>
              <a:buChar char="v"/>
            </a:pP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1"/>
          <p:cNvSpPr>
            <a:spLocks noGrp="1"/>
          </p:cNvSpPr>
          <p:nvPr>
            <p:ph type="title"/>
          </p:nvPr>
        </p:nvSpPr>
        <p:spPr/>
        <p:txBody>
          <a:bodyPr vert="horz" wrap="square" lIns="91440" tIns="45720" rIns="91440" bIns="45720" anchor="ctr" anchorCtr="0"/>
          <a:p>
            <a:r>
              <a:rPr lang="zh-CN" altLang="zh-CN" sz="3600" dirty="0"/>
              <a:t>选择操作的实现（续）</a:t>
            </a:r>
            <a:endParaRPr lang="zh-CN" altLang="en-US" sz="3600" dirty="0"/>
          </a:p>
        </p:txBody>
      </p:sp>
      <p:sp>
        <p:nvSpPr>
          <p:cNvPr id="21507" name="内容占位符 2"/>
          <p:cNvSpPr>
            <a:spLocks noGrp="1"/>
          </p:cNvSpPr>
          <p:nvPr>
            <p:ph idx="1"/>
          </p:nvPr>
        </p:nvSpPr>
        <p:spPr>
          <a:xfrm>
            <a:off x="1271588" y="1196975"/>
            <a:ext cx="9577387" cy="4854575"/>
          </a:xfrm>
        </p:spPr>
        <p:txBody>
          <a:bodyPr vert="horz" wrap="square" lIns="91440" tIns="45720" rIns="91440" bIns="45720" anchor="t" anchorCtr="0"/>
          <a:p>
            <a:pPr>
              <a:lnSpc>
                <a:spcPct val="120000"/>
              </a:lnSpc>
            </a:pPr>
            <a:r>
              <a:rPr lang="en-US" altLang="zh-CN" dirty="0"/>
              <a:t>[</a:t>
            </a:r>
            <a:r>
              <a:rPr lang="zh-CN" altLang="en-US" dirty="0"/>
              <a:t>例</a:t>
            </a:r>
            <a:r>
              <a:rPr lang="en-US" altLang="zh-CN" dirty="0"/>
              <a:t>10.1-C3] SELECT *</a:t>
            </a:r>
            <a:endParaRPr lang="en-US" altLang="zh-CN" dirty="0"/>
          </a:p>
          <a:p>
            <a:pPr>
              <a:lnSpc>
                <a:spcPct val="120000"/>
              </a:lnSpc>
              <a:buNone/>
            </a:pPr>
            <a:r>
              <a:rPr lang="en-US" altLang="zh-CN" dirty="0"/>
              <a:t>                      FROM Student</a:t>
            </a:r>
            <a:endParaRPr lang="en-US" altLang="zh-CN" dirty="0"/>
          </a:p>
          <a:p>
            <a:pPr>
              <a:lnSpc>
                <a:spcPct val="120000"/>
              </a:lnSpc>
              <a:buNone/>
            </a:pPr>
            <a:r>
              <a:rPr lang="en-US" altLang="zh-CN" dirty="0"/>
              <a:t>                      WHERE Sbirthdate&gt;=’20000101’</a:t>
            </a:r>
            <a:endParaRPr lang="zh-CN" altLang="en-US" dirty="0"/>
          </a:p>
          <a:p>
            <a:pPr lvl="1">
              <a:lnSpc>
                <a:spcPct val="120000"/>
              </a:lnSpc>
            </a:pPr>
            <a:r>
              <a:rPr lang="zh-CN" altLang="en-US" dirty="0"/>
              <a:t>假设</a:t>
            </a:r>
            <a:r>
              <a:rPr lang="en-US" altLang="zh-CN" dirty="0"/>
              <a:t>Sbirthdate</a:t>
            </a:r>
            <a:r>
              <a:rPr lang="zh-CN" altLang="en-US" dirty="0"/>
              <a:t>上有</a:t>
            </a:r>
            <a:r>
              <a:rPr lang="en-US" altLang="zh-CN" dirty="0"/>
              <a:t>B+</a:t>
            </a:r>
            <a:r>
              <a:rPr lang="zh-CN" altLang="en-US" dirty="0"/>
              <a:t>树索引</a:t>
            </a:r>
            <a:endParaRPr lang="zh-CN" altLang="en-US" dirty="0"/>
          </a:p>
          <a:p>
            <a:pPr lvl="1">
              <a:lnSpc>
                <a:spcPct val="120000"/>
              </a:lnSpc>
            </a:pPr>
            <a:r>
              <a:rPr lang="zh-CN" altLang="en-US" dirty="0"/>
              <a:t>算法：</a:t>
            </a:r>
            <a:endParaRPr lang="zh-CN" altLang="en-US" dirty="0"/>
          </a:p>
          <a:p>
            <a:pPr lvl="2">
              <a:lnSpc>
                <a:spcPct val="120000"/>
              </a:lnSpc>
              <a:buSzPct val="75000"/>
              <a:buFont typeface="Wingdings" panose="05000000000000000000" pitchFamily="2" charset="2"/>
              <a:buChar char="l"/>
            </a:pPr>
            <a:r>
              <a:rPr lang="zh-CN" altLang="en-US" dirty="0"/>
              <a:t>使用</a:t>
            </a:r>
            <a:r>
              <a:rPr lang="en-US" altLang="zh-CN" dirty="0"/>
              <a:t>B+</a:t>
            </a:r>
            <a:r>
              <a:rPr lang="zh-CN" altLang="en-US" dirty="0"/>
              <a:t>树索引找到</a:t>
            </a:r>
            <a:r>
              <a:rPr lang="en-US" altLang="zh-CN" dirty="0"/>
              <a:t>Sbirthdate&gt;=’20000101’</a:t>
            </a:r>
            <a:r>
              <a:rPr lang="zh-CN" altLang="en-US" dirty="0"/>
              <a:t>的索引项，以此为入口点在</a:t>
            </a:r>
            <a:r>
              <a:rPr lang="en-US" altLang="zh-CN" dirty="0"/>
              <a:t>B+</a:t>
            </a:r>
            <a:r>
              <a:rPr lang="zh-CN" altLang="en-US" dirty="0"/>
              <a:t>树的顺序集上得到符合条件的所有元组指针</a:t>
            </a:r>
            <a:endParaRPr lang="zh-CN" altLang="en-US" dirty="0"/>
          </a:p>
          <a:p>
            <a:pPr lvl="2">
              <a:lnSpc>
                <a:spcPct val="120000"/>
              </a:lnSpc>
              <a:buSzPct val="75000"/>
              <a:buFont typeface="Wingdings" panose="05000000000000000000" pitchFamily="2" charset="2"/>
              <a:buChar char="l"/>
            </a:pPr>
            <a:r>
              <a:rPr lang="zh-CN" altLang="en-US" dirty="0"/>
              <a:t>通过这些元组指针到</a:t>
            </a:r>
            <a:r>
              <a:rPr lang="en-US" altLang="zh-CN" dirty="0"/>
              <a:t>Student</a:t>
            </a:r>
            <a:r>
              <a:rPr lang="zh-CN" altLang="en-US" dirty="0"/>
              <a:t>表中检索到所有年龄大于</a:t>
            </a:r>
            <a:r>
              <a:rPr lang="en-US" altLang="zh-CN" dirty="0"/>
              <a:t>20</a:t>
            </a:r>
            <a:r>
              <a:rPr lang="zh-CN" altLang="en-US" dirty="0"/>
              <a:t>的学生。 </a:t>
            </a:r>
            <a:endParaRPr lang="zh-CN" altLang="en-US" dirty="0"/>
          </a:p>
          <a:p>
            <a:pPr>
              <a:buFont typeface="Wingdings" panose="05000000000000000000" pitchFamily="2" charset="2"/>
              <a:buChar char="v"/>
            </a:pP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p:txBody>
          <a:bodyPr vert="horz" wrap="square" lIns="91440" tIns="45720" rIns="91440" bIns="45720" anchor="ctr" anchorCtr="0"/>
          <a:p>
            <a:r>
              <a:rPr lang="zh-CN" altLang="zh-CN" sz="3600" dirty="0"/>
              <a:t>选择操作的实现（续）</a:t>
            </a:r>
            <a:endParaRPr lang="zh-CN" altLang="en-US" sz="3600" dirty="0"/>
          </a:p>
        </p:txBody>
      </p:sp>
      <p:sp>
        <p:nvSpPr>
          <p:cNvPr id="22531" name="内容占位符 2"/>
          <p:cNvSpPr>
            <a:spLocks noGrp="1"/>
          </p:cNvSpPr>
          <p:nvPr>
            <p:ph idx="1"/>
          </p:nvPr>
        </p:nvSpPr>
        <p:spPr>
          <a:xfrm>
            <a:off x="471488" y="908050"/>
            <a:ext cx="11249025" cy="5095875"/>
          </a:xfrm>
        </p:spPr>
        <p:txBody>
          <a:bodyPr vert="horz" wrap="square" lIns="91440" tIns="45720" rIns="91440" bIns="45720" anchor="t" anchorCtr="0"/>
          <a:p>
            <a:pPr>
              <a:lnSpc>
                <a:spcPct val="120000"/>
              </a:lnSpc>
            </a:pPr>
            <a:r>
              <a:rPr lang="en-US" altLang="zh-CN" dirty="0"/>
              <a:t>[</a:t>
            </a:r>
            <a:r>
              <a:rPr lang="zh-CN" altLang="en-US" dirty="0"/>
              <a:t>例</a:t>
            </a:r>
            <a:r>
              <a:rPr lang="en-US" altLang="zh-CN" dirty="0"/>
              <a:t>10.1-C4] </a:t>
            </a:r>
            <a:endParaRPr lang="en-US" altLang="zh-CN" dirty="0"/>
          </a:p>
          <a:p>
            <a:pPr>
              <a:lnSpc>
                <a:spcPct val="120000"/>
              </a:lnSpc>
            </a:pPr>
            <a:r>
              <a:rPr lang="en-US" altLang="zh-CN" sz="2400" dirty="0"/>
              <a:t>SELECT *</a:t>
            </a:r>
            <a:endParaRPr lang="en-US" altLang="zh-CN" sz="2400" dirty="0"/>
          </a:p>
          <a:p>
            <a:pPr>
              <a:lnSpc>
                <a:spcPct val="120000"/>
              </a:lnSpc>
              <a:buNone/>
            </a:pPr>
            <a:r>
              <a:rPr lang="en-US" altLang="zh-CN" sz="2400" dirty="0"/>
              <a:t>    FROM Student</a:t>
            </a:r>
            <a:endParaRPr lang="en-US" altLang="zh-CN" sz="2400" dirty="0"/>
          </a:p>
          <a:p>
            <a:pPr>
              <a:lnSpc>
                <a:spcPct val="120000"/>
              </a:lnSpc>
              <a:buNone/>
            </a:pPr>
            <a:r>
              <a:rPr lang="en-US" altLang="zh-CN" sz="2400" dirty="0"/>
              <a:t>    WHERE Smajor='</a:t>
            </a:r>
            <a:r>
              <a:rPr lang="zh-CN" altLang="en-US" sz="2400" dirty="0"/>
              <a:t>计算机科学与技术</a:t>
            </a:r>
            <a:r>
              <a:rPr lang="en-US" altLang="zh-CN" sz="2400" dirty="0"/>
              <a:t>' AND Sbirthdate&gt;=’20000101’;</a:t>
            </a:r>
            <a:endParaRPr lang="zh-CN" altLang="en-US" sz="2400" dirty="0"/>
          </a:p>
          <a:p>
            <a:pPr lvl="1">
              <a:lnSpc>
                <a:spcPct val="120000"/>
              </a:lnSpc>
            </a:pPr>
            <a:r>
              <a:rPr lang="zh-CN" altLang="en-US" dirty="0"/>
              <a:t>假设</a:t>
            </a:r>
            <a:r>
              <a:rPr lang="en-US" altLang="zh-CN" dirty="0"/>
              <a:t>Smajor</a:t>
            </a:r>
            <a:r>
              <a:rPr lang="zh-CN" altLang="en-US" dirty="0"/>
              <a:t>和</a:t>
            </a:r>
            <a:r>
              <a:rPr lang="en-US" altLang="zh-CN" dirty="0"/>
              <a:t>Sbirthdate</a:t>
            </a:r>
            <a:r>
              <a:rPr lang="zh-CN" altLang="en-US" dirty="0"/>
              <a:t>上都有索引</a:t>
            </a:r>
            <a:endParaRPr lang="zh-CN" altLang="en-US" dirty="0"/>
          </a:p>
          <a:p>
            <a:pPr lvl="1">
              <a:lnSpc>
                <a:spcPct val="120000"/>
              </a:lnSpc>
            </a:pPr>
            <a:r>
              <a:rPr lang="zh-CN" altLang="en-US" dirty="0"/>
              <a:t>算法一：用</a:t>
            </a:r>
            <a:r>
              <a:rPr lang="en-US" altLang="zh-CN" dirty="0"/>
              <a:t>Index Scan</a:t>
            </a:r>
            <a:r>
              <a:rPr lang="zh-CN" altLang="en-US" dirty="0"/>
              <a:t>找到</a:t>
            </a:r>
            <a:r>
              <a:rPr lang="en-US" altLang="zh-CN" dirty="0"/>
              <a:t>Smajor='</a:t>
            </a:r>
            <a:r>
              <a:rPr lang="zh-CN" altLang="en-US" dirty="0"/>
              <a:t>计算机科学与技术</a:t>
            </a:r>
            <a:r>
              <a:rPr lang="en-US" altLang="zh-CN" dirty="0"/>
              <a:t>'</a:t>
            </a:r>
            <a:r>
              <a:rPr lang="zh-CN" altLang="en-US" dirty="0"/>
              <a:t>的一组元组指针和</a:t>
            </a:r>
            <a:r>
              <a:rPr lang="en-US" altLang="zh-CN" dirty="0"/>
              <a:t>Sbirthdate&gt;=’20000101’</a:t>
            </a:r>
            <a:r>
              <a:rPr lang="zh-CN" altLang="en-US" dirty="0"/>
              <a:t>的另一组元组指针</a:t>
            </a:r>
            <a:endParaRPr lang="zh-CN" altLang="en-US" dirty="0"/>
          </a:p>
          <a:p>
            <a:pPr lvl="2">
              <a:lnSpc>
                <a:spcPct val="120000"/>
              </a:lnSpc>
              <a:buSzPct val="75000"/>
              <a:buFont typeface="Wingdings" panose="05000000000000000000" pitchFamily="2" charset="2"/>
              <a:buChar char="l"/>
            </a:pPr>
            <a:r>
              <a:rPr lang="zh-CN" altLang="en-US" dirty="0"/>
              <a:t>求这两组指针的交集</a:t>
            </a:r>
            <a:endParaRPr lang="zh-CN" altLang="en-US" dirty="0"/>
          </a:p>
          <a:p>
            <a:pPr lvl="2">
              <a:lnSpc>
                <a:spcPct val="120000"/>
              </a:lnSpc>
              <a:buSzPct val="75000"/>
              <a:buFont typeface="Wingdings" panose="05000000000000000000" pitchFamily="2" charset="2"/>
              <a:buChar char="l"/>
            </a:pPr>
            <a:r>
              <a:rPr lang="zh-CN" altLang="en-US" dirty="0"/>
              <a:t>到</a:t>
            </a:r>
            <a:r>
              <a:rPr lang="en-US" altLang="zh-CN" dirty="0"/>
              <a:t>Student</a:t>
            </a:r>
            <a:r>
              <a:rPr lang="zh-CN" altLang="en-US" dirty="0"/>
              <a:t>表中检索</a:t>
            </a:r>
            <a:endParaRPr lang="zh-CN" altLang="en-US" dirty="0"/>
          </a:p>
          <a:p>
            <a:pPr lvl="2">
              <a:lnSpc>
                <a:spcPct val="120000"/>
              </a:lnSpc>
              <a:buSzPct val="75000"/>
              <a:buFont typeface="Wingdings" panose="05000000000000000000" pitchFamily="2" charset="2"/>
              <a:buChar char="l"/>
            </a:pPr>
            <a:r>
              <a:rPr lang="zh-CN" altLang="en-US" dirty="0"/>
              <a:t>得到满足条件的学生</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标题 1"/>
          <p:cNvSpPr>
            <a:spLocks noGrp="1"/>
          </p:cNvSpPr>
          <p:nvPr>
            <p:ph type="title"/>
          </p:nvPr>
        </p:nvSpPr>
        <p:spPr/>
        <p:txBody>
          <a:bodyPr vert="horz" wrap="square" lIns="91440" tIns="45720" rIns="91440" bIns="45720" anchor="ctr" anchorCtr="0"/>
          <a:p>
            <a:r>
              <a:rPr lang="zh-CN" altLang="zh-CN" sz="3600" dirty="0"/>
              <a:t>选择操作的实现（续）</a:t>
            </a:r>
            <a:endParaRPr lang="zh-CN" altLang="en-US" sz="3600" dirty="0"/>
          </a:p>
        </p:txBody>
      </p:sp>
      <p:sp>
        <p:nvSpPr>
          <p:cNvPr id="23555" name="内容占位符 2"/>
          <p:cNvSpPr>
            <a:spLocks noGrp="1"/>
          </p:cNvSpPr>
          <p:nvPr>
            <p:ph idx="1"/>
          </p:nvPr>
        </p:nvSpPr>
        <p:spPr>
          <a:xfrm>
            <a:off x="1055688" y="1268413"/>
            <a:ext cx="10225087" cy="4999037"/>
          </a:xfrm>
        </p:spPr>
        <p:txBody>
          <a:bodyPr vert="horz" wrap="square" lIns="91440" tIns="45720" rIns="91440" bIns="45720" anchor="t" anchorCtr="0"/>
          <a:p>
            <a:pPr lvl="1">
              <a:lnSpc>
                <a:spcPct val="150000"/>
              </a:lnSpc>
            </a:pPr>
            <a:r>
              <a:rPr lang="zh-CN" altLang="en-US" dirty="0"/>
              <a:t>算法二：找到</a:t>
            </a:r>
            <a:r>
              <a:rPr lang="en-US" altLang="zh-CN" dirty="0"/>
              <a:t>Smajor='</a:t>
            </a:r>
            <a:r>
              <a:rPr lang="zh-CN" altLang="en-US" dirty="0"/>
              <a:t>计算机科学与技术</a:t>
            </a:r>
            <a:r>
              <a:rPr lang="en-US" altLang="zh-CN" dirty="0"/>
              <a:t>'</a:t>
            </a:r>
            <a:r>
              <a:rPr lang="zh-CN" altLang="en-US" dirty="0"/>
              <a:t>的一组元组指针，</a:t>
            </a:r>
            <a:endParaRPr lang="zh-CN" altLang="en-US" dirty="0"/>
          </a:p>
          <a:p>
            <a:pPr lvl="2">
              <a:lnSpc>
                <a:spcPct val="150000"/>
              </a:lnSpc>
              <a:buSzPct val="75000"/>
              <a:buFont typeface="Wingdings" panose="05000000000000000000" pitchFamily="2" charset="2"/>
              <a:buChar char="l"/>
            </a:pPr>
            <a:r>
              <a:rPr lang="zh-CN" altLang="en-US" dirty="0"/>
              <a:t>通过这些元组指针到</a:t>
            </a:r>
            <a:r>
              <a:rPr lang="en-US" altLang="zh-CN" dirty="0"/>
              <a:t>Student</a:t>
            </a:r>
            <a:r>
              <a:rPr lang="zh-CN" altLang="en-US" dirty="0"/>
              <a:t>表中检索</a:t>
            </a:r>
            <a:endParaRPr lang="zh-CN" altLang="en-US" dirty="0"/>
          </a:p>
          <a:p>
            <a:pPr lvl="2">
              <a:lnSpc>
                <a:spcPct val="150000"/>
              </a:lnSpc>
              <a:buSzPct val="75000"/>
              <a:buFont typeface="Wingdings" panose="05000000000000000000" pitchFamily="2" charset="2"/>
              <a:buChar char="l"/>
            </a:pPr>
            <a:r>
              <a:rPr lang="zh-CN" altLang="en-US" dirty="0"/>
              <a:t>并对得到的元组检查另一些选择条件</a:t>
            </a:r>
            <a:r>
              <a:rPr lang="en-US" altLang="zh-CN" dirty="0"/>
              <a:t>(</a:t>
            </a:r>
            <a:r>
              <a:rPr lang="zh-CN" altLang="en-US" dirty="0"/>
              <a:t>如</a:t>
            </a:r>
            <a:r>
              <a:rPr lang="en-US" altLang="zh-CN" dirty="0"/>
              <a:t>Sbirthdate&gt;=’20000101’)</a:t>
            </a:r>
            <a:r>
              <a:rPr lang="zh-CN" altLang="en-US" dirty="0"/>
              <a:t>是否满足</a:t>
            </a:r>
            <a:endParaRPr lang="zh-CN" altLang="en-US" dirty="0"/>
          </a:p>
          <a:p>
            <a:pPr lvl="2">
              <a:lnSpc>
                <a:spcPct val="150000"/>
              </a:lnSpc>
              <a:buSzPct val="75000"/>
              <a:buFont typeface="Wingdings" panose="05000000000000000000" pitchFamily="2" charset="2"/>
              <a:buChar char="l"/>
            </a:pPr>
            <a:r>
              <a:rPr lang="zh-CN" altLang="en-US" dirty="0"/>
              <a:t>把满足条件的元组作为结果输出。  </a:t>
            </a:r>
            <a:endParaRPr lang="zh-CN" altLang="en-US" dirty="0"/>
          </a:p>
          <a:p>
            <a:endParaRPr lang="zh-CN" altLang="en-US" dirty="0"/>
          </a:p>
          <a:p>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思考</a:t>
            </a:r>
            <a:endParaRPr lang="zh-CN" altLang="en-US"/>
          </a:p>
        </p:txBody>
      </p:sp>
      <p:sp>
        <p:nvSpPr>
          <p:cNvPr id="3" name="内容占位符 2"/>
          <p:cNvSpPr>
            <a:spLocks noGrp="1"/>
          </p:cNvSpPr>
          <p:nvPr>
            <p:ph idx="1"/>
          </p:nvPr>
        </p:nvSpPr>
        <p:spPr>
          <a:xfrm>
            <a:off x="609600" y="1339850"/>
            <a:ext cx="11333480" cy="4854575"/>
          </a:xfrm>
        </p:spPr>
        <p:txBody>
          <a:bodyPr/>
          <a:p>
            <a:pPr>
              <a:lnSpc>
                <a:spcPct val="120000"/>
              </a:lnSpc>
            </a:pPr>
            <a:r>
              <a:rPr lang="en-US" altLang="zh-CN" dirty="0">
                <a:sym typeface="+mn-ea"/>
              </a:rPr>
              <a:t>SELECT *</a:t>
            </a:r>
            <a:endParaRPr lang="en-US" altLang="zh-CN" dirty="0"/>
          </a:p>
          <a:p>
            <a:pPr>
              <a:lnSpc>
                <a:spcPct val="120000"/>
              </a:lnSpc>
              <a:buNone/>
            </a:pPr>
            <a:r>
              <a:rPr lang="en-US" altLang="zh-CN" dirty="0">
                <a:sym typeface="+mn-ea"/>
              </a:rPr>
              <a:t>    FROM Student</a:t>
            </a:r>
            <a:endParaRPr lang="en-US" altLang="zh-CN" dirty="0"/>
          </a:p>
          <a:p>
            <a:pPr>
              <a:lnSpc>
                <a:spcPct val="120000"/>
              </a:lnSpc>
              <a:buNone/>
            </a:pPr>
            <a:r>
              <a:rPr lang="en-US" altLang="zh-CN" dirty="0">
                <a:sym typeface="+mn-ea"/>
              </a:rPr>
              <a:t>    WHERE Ssex='</a:t>
            </a:r>
            <a:r>
              <a:rPr lang="zh-CN" altLang="en-US" dirty="0">
                <a:sym typeface="+mn-ea"/>
              </a:rPr>
              <a:t>男</a:t>
            </a:r>
            <a:r>
              <a:rPr lang="en-US" altLang="zh-CN" dirty="0">
                <a:sym typeface="+mn-ea"/>
              </a:rPr>
              <a:t>' AND Sbirthdate&gt;=’20080101’;</a:t>
            </a:r>
            <a:endParaRPr lang="en-US" altLang="zh-CN" dirty="0">
              <a:sym typeface="+mn-ea"/>
            </a:endParaRPr>
          </a:p>
          <a:p>
            <a:pPr>
              <a:lnSpc>
                <a:spcPct val="120000"/>
              </a:lnSpc>
              <a:buNone/>
            </a:pPr>
            <a:endParaRPr lang="zh-CN" altLang="en-US"/>
          </a:p>
          <a:p>
            <a:pPr>
              <a:lnSpc>
                <a:spcPct val="120000"/>
              </a:lnSpc>
              <a:buNone/>
            </a:pPr>
            <a:r>
              <a:rPr lang="zh-CN" altLang="en-US"/>
              <a:t>如果上述查询针对人大学生，怎样执行更快？</a:t>
            </a:r>
            <a:r>
              <a:rPr lang="zh-CN" altLang="en-US"/>
              <a:t>为什么？</a:t>
            </a:r>
            <a:endParaRPr lang="zh-CN" altLang="en-US"/>
          </a:p>
          <a:p>
            <a:pPr>
              <a:lnSpc>
                <a:spcPct val="120000"/>
              </a:lnSpc>
              <a:buNone/>
            </a:pPr>
            <a:r>
              <a:rPr lang="zh-CN" altLang="en-US"/>
              <a:t>如果让你设计一个算法，输入是类似上面这样有两个查询条件的</a:t>
            </a:r>
            <a:r>
              <a:rPr lang="en-US" altLang="zh-CN"/>
              <a:t>SQL</a:t>
            </a:r>
            <a:r>
              <a:rPr lang="zh-CN" altLang="en-US"/>
              <a:t>语句，选择执行策略，怎么做？需要什么额外</a:t>
            </a:r>
            <a:r>
              <a:rPr lang="zh-CN" altLang="en-US"/>
              <a:t>信息？</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
          <p:cNvSpPr>
            <a:spLocks noGrp="1"/>
          </p:cNvSpPr>
          <p:nvPr>
            <p:ph type="title"/>
          </p:nvPr>
        </p:nvSpPr>
        <p:spPr/>
        <p:txBody>
          <a:bodyPr vert="horz" wrap="square" lIns="91440" tIns="45720" rIns="91440" bIns="45720" anchor="ctr" anchorCtr="0"/>
          <a:p>
            <a:r>
              <a:rPr lang="zh-CN" altLang="en-US" sz="3600" dirty="0"/>
              <a:t>索引扫描算法的代价估算</a:t>
            </a:r>
            <a:endParaRPr lang="zh-CN" altLang="en-US" sz="3600" dirty="0"/>
          </a:p>
        </p:txBody>
      </p:sp>
      <p:sp>
        <p:nvSpPr>
          <p:cNvPr id="11267" name="内容占位符 2"/>
          <p:cNvSpPr>
            <a:spLocks noGrp="1"/>
          </p:cNvSpPr>
          <p:nvPr>
            <p:ph idx="1"/>
          </p:nvPr>
        </p:nvSpPr>
        <p:spPr>
          <a:xfrm>
            <a:off x="1590675" y="2690813"/>
            <a:ext cx="8229600" cy="4854575"/>
          </a:xfrm>
        </p:spPr>
        <p:txBody>
          <a:bodyPr vert="horz" wrap="square" lIns="91440" tIns="45720" rIns="91440" bIns="45720" anchor="t" anchorCtr="0"/>
          <a:p>
            <a:pPr>
              <a:lnSpc>
                <a:spcPct val="120000"/>
              </a:lnSpc>
              <a:buSzPct val="87000"/>
              <a:buFont typeface="Wingdings" panose="05000000000000000000" pitchFamily="2" charset="2"/>
              <a:buChar char="l"/>
            </a:pPr>
            <a:r>
              <a:rPr lang="zh-CN" altLang="en-US" sz="2600" dirty="0"/>
              <a:t>如果选择条件是“</a:t>
            </a:r>
            <a:r>
              <a:rPr lang="zh-CN" altLang="en-US" sz="2600" dirty="0">
                <a:solidFill>
                  <a:srgbClr val="0066FF"/>
                </a:solidFill>
              </a:rPr>
              <a:t>码＝值</a:t>
            </a:r>
            <a:r>
              <a:rPr lang="zh-CN" altLang="en-US" sz="2600" dirty="0"/>
              <a:t>”</a:t>
            </a:r>
            <a:r>
              <a:rPr lang="en-US" altLang="zh-CN" sz="2600" dirty="0"/>
              <a:t>,</a:t>
            </a:r>
            <a:r>
              <a:rPr lang="zh-CN" altLang="en-US" dirty="0"/>
              <a:t>采用该表的主索引</a:t>
            </a:r>
            <a:endParaRPr lang="zh-CN" altLang="en-US" dirty="0"/>
          </a:p>
          <a:p>
            <a:pPr lvl="1">
              <a:lnSpc>
                <a:spcPct val="120000"/>
              </a:lnSpc>
              <a:buFont typeface="Wingdings" panose="05000000000000000000" pitchFamily="2" charset="2"/>
              <a:buChar char="Ø"/>
            </a:pPr>
            <a:r>
              <a:rPr lang="zh-CN" altLang="en-US" sz="2200" dirty="0"/>
              <a:t>若为</a:t>
            </a:r>
            <a:r>
              <a:rPr lang="en-US" altLang="zh-CN" sz="2200" dirty="0"/>
              <a:t>B+</a:t>
            </a:r>
            <a:r>
              <a:rPr lang="zh-CN" altLang="en-US" sz="2200" dirty="0"/>
              <a:t>树，层数为</a:t>
            </a:r>
            <a:r>
              <a:rPr lang="en-US" altLang="zh-CN" sz="2200" dirty="0"/>
              <a:t>L</a:t>
            </a:r>
            <a:r>
              <a:rPr lang="zh-CN" altLang="en-US" sz="2200" dirty="0"/>
              <a:t>，需要存取</a:t>
            </a:r>
            <a:r>
              <a:rPr lang="en-US" altLang="zh-CN" sz="2200" dirty="0"/>
              <a:t>B+</a:t>
            </a:r>
            <a:r>
              <a:rPr lang="zh-CN" altLang="en-US" sz="2200" dirty="0"/>
              <a:t>树中从根结点到叶结点</a:t>
            </a:r>
            <a:r>
              <a:rPr lang="en-US" altLang="zh-CN" sz="2200" dirty="0"/>
              <a:t>L</a:t>
            </a:r>
            <a:r>
              <a:rPr lang="zh-CN" altLang="en-US" sz="2200" dirty="0"/>
              <a:t>块，再加上基本表中该元组所在的那一块，所以</a:t>
            </a:r>
            <a:r>
              <a:rPr lang="en-US" altLang="zh-CN" sz="2200" dirty="0"/>
              <a:t>cost=L+1</a:t>
            </a:r>
            <a:endParaRPr lang="zh-CN" altLang="en-US" sz="2200" dirty="0"/>
          </a:p>
          <a:p>
            <a:pPr>
              <a:lnSpc>
                <a:spcPct val="120000"/>
              </a:lnSpc>
              <a:buSzPct val="87000"/>
              <a:buFont typeface="Wingdings" panose="05000000000000000000" pitchFamily="2" charset="2"/>
              <a:buChar char="l"/>
            </a:pPr>
            <a:r>
              <a:rPr lang="zh-CN" altLang="en-US" dirty="0"/>
              <a:t>如果选择条件涉及非码属性</a:t>
            </a:r>
            <a:endParaRPr lang="zh-CN" altLang="en-US" dirty="0"/>
          </a:p>
          <a:p>
            <a:pPr lvl="1">
              <a:lnSpc>
                <a:spcPct val="120000"/>
              </a:lnSpc>
              <a:buFont typeface="Wingdings" panose="05000000000000000000" pitchFamily="2" charset="2"/>
              <a:buChar char="Ø"/>
            </a:pPr>
            <a:r>
              <a:rPr lang="zh-CN" altLang="en-US" sz="2200" dirty="0"/>
              <a:t>若为</a:t>
            </a:r>
            <a:r>
              <a:rPr lang="en-US" altLang="zh-CN" sz="2200" dirty="0"/>
              <a:t>B+</a:t>
            </a:r>
            <a:r>
              <a:rPr lang="zh-CN" altLang="en-US" sz="2200" dirty="0"/>
              <a:t>树索引，选择条件是相等比较，</a:t>
            </a:r>
            <a:r>
              <a:rPr lang="en-US" altLang="zh-CN" sz="2200" dirty="0"/>
              <a:t>S</a:t>
            </a:r>
            <a:r>
              <a:rPr lang="zh-CN" altLang="en-US" sz="2200" dirty="0"/>
              <a:t>是索引的选择基数</a:t>
            </a:r>
            <a:r>
              <a:rPr lang="en-US" altLang="zh-CN" sz="2200" dirty="0"/>
              <a:t>(</a:t>
            </a:r>
            <a:r>
              <a:rPr lang="zh-CN" altLang="en-US" sz="2200" dirty="0"/>
              <a:t>有</a:t>
            </a:r>
            <a:r>
              <a:rPr lang="en-US" altLang="zh-CN" sz="2200" dirty="0"/>
              <a:t>S</a:t>
            </a:r>
            <a:r>
              <a:rPr lang="zh-CN" altLang="en-US" sz="2200" dirty="0"/>
              <a:t>个元组满足条件</a:t>
            </a:r>
            <a:r>
              <a:rPr lang="en-US" altLang="zh-CN" sz="2200" dirty="0"/>
              <a:t>)</a:t>
            </a:r>
            <a:endParaRPr lang="zh-CN" altLang="en-US" sz="2200" dirty="0"/>
          </a:p>
          <a:p>
            <a:pPr lvl="1">
              <a:lnSpc>
                <a:spcPct val="120000"/>
              </a:lnSpc>
              <a:buFont typeface="Wingdings" panose="05000000000000000000" pitchFamily="2" charset="2"/>
              <a:buChar char="Ø"/>
            </a:pPr>
            <a:r>
              <a:rPr lang="zh-CN" altLang="en-US" sz="2200" dirty="0"/>
              <a:t>满足条件的元组可能会保存在不同的块上，所以</a:t>
            </a:r>
            <a:r>
              <a:rPr lang="en-US" altLang="zh-CN" sz="2200" dirty="0"/>
              <a:t>(</a:t>
            </a:r>
            <a:r>
              <a:rPr lang="zh-CN" altLang="en-US" sz="2200" dirty="0"/>
              <a:t>最坏的情况</a:t>
            </a:r>
            <a:r>
              <a:rPr lang="en-US" altLang="zh-CN" sz="2200" dirty="0"/>
              <a:t>)cost=L+S </a:t>
            </a:r>
            <a:endParaRPr lang="zh-CN" altLang="en-US" sz="2200" dirty="0"/>
          </a:p>
          <a:p>
            <a:pPr lvl="2">
              <a:buNone/>
            </a:pPr>
            <a:endParaRPr lang="zh-CN" altLang="en-US" sz="1800" dirty="0"/>
          </a:p>
          <a:p>
            <a:endParaRPr lang="zh-CN" altLang="en-US" sz="2400" dirty="0"/>
          </a:p>
        </p:txBody>
      </p:sp>
      <p:sp>
        <p:nvSpPr>
          <p:cNvPr id="11268" name="矩形 1"/>
          <p:cNvSpPr/>
          <p:nvPr/>
        </p:nvSpPr>
        <p:spPr>
          <a:xfrm>
            <a:off x="1271588" y="1098550"/>
            <a:ext cx="8867775" cy="164147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457200" lvl="1" indent="0" eaLnBrk="1" hangingPunct="1">
              <a:lnSpc>
                <a:spcPct val="120000"/>
              </a:lnSpc>
              <a:spcBef>
                <a:spcPct val="0"/>
              </a:spcBef>
              <a:buSzPct val="87000"/>
              <a:buFont typeface="Wingdings" panose="05000000000000000000" pitchFamily="2" charset="2"/>
              <a:buChar char="l"/>
            </a:pPr>
            <a:r>
              <a:rPr lang="zh-CN" altLang="en-US" sz="2800" b="0" dirty="0"/>
              <a:t>索引的层数</a:t>
            </a:r>
            <a:r>
              <a:rPr lang="en-US" altLang="zh-CN" sz="2800" b="0" dirty="0"/>
              <a:t>(L)</a:t>
            </a:r>
            <a:r>
              <a:rPr lang="zh-CN" altLang="en-US" sz="2800" b="0" dirty="0"/>
              <a:t>，不同索引值数，索引的叶结点数</a:t>
            </a:r>
            <a:r>
              <a:rPr lang="en-US" altLang="zh-CN" sz="2800" b="0" dirty="0"/>
              <a:t>(Y) </a:t>
            </a:r>
            <a:endParaRPr lang="zh-CN" altLang="en-US" sz="2800" b="0" dirty="0"/>
          </a:p>
          <a:p>
            <a:pPr marL="457200" lvl="1" indent="0" eaLnBrk="1" hangingPunct="1">
              <a:lnSpc>
                <a:spcPct val="120000"/>
              </a:lnSpc>
              <a:spcBef>
                <a:spcPct val="0"/>
              </a:spcBef>
              <a:buSzPct val="87000"/>
              <a:buFont typeface="Wingdings" panose="05000000000000000000" pitchFamily="2" charset="2"/>
              <a:buChar char="l"/>
            </a:pPr>
            <a:r>
              <a:rPr lang="zh-CN" altLang="en-US" sz="2800" b="0" dirty="0"/>
              <a:t>索引的选择基数</a:t>
            </a:r>
            <a:r>
              <a:rPr lang="en-US" altLang="zh-CN" sz="2800" b="0" dirty="0"/>
              <a:t>S(</a:t>
            </a:r>
            <a:r>
              <a:rPr lang="zh-CN" altLang="en-US" sz="2800" b="0" dirty="0"/>
              <a:t>有</a:t>
            </a:r>
            <a:r>
              <a:rPr lang="en-US" altLang="zh-CN" sz="2800" b="0" dirty="0"/>
              <a:t>S</a:t>
            </a:r>
            <a:r>
              <a:rPr lang="zh-CN" altLang="en-US" sz="2800" b="0" dirty="0"/>
              <a:t>个元组具有某个索引值</a:t>
            </a:r>
            <a:r>
              <a:rPr lang="en-US" altLang="zh-CN" sz="2800" b="0" dirty="0"/>
              <a:t>)</a:t>
            </a:r>
            <a:endParaRPr lang="en-US" altLang="zh-CN" sz="2800" b="0" dirty="0"/>
          </a:p>
          <a:p>
            <a:pPr marL="457200" lvl="1" indent="0" eaLnBrk="1" hangingPunct="1">
              <a:lnSpc>
                <a:spcPct val="120000"/>
              </a:lnSpc>
              <a:spcBef>
                <a:spcPct val="0"/>
              </a:spcBef>
              <a:buSzPct val="87000"/>
              <a:buFont typeface="Wingdings" panose="05000000000000000000" pitchFamily="2" charset="2"/>
              <a:buChar char="l"/>
            </a:pPr>
            <a:r>
              <a:rPr lang="zh-CN" altLang="en-US" sz="2800" b="0" dirty="0"/>
              <a:t>基本表大小为</a:t>
            </a:r>
            <a:r>
              <a:rPr lang="en-US" altLang="zh-CN" sz="2800" b="0" dirty="0"/>
              <a:t>B</a:t>
            </a:r>
            <a:r>
              <a:rPr lang="zh-CN" altLang="en-US" sz="2800" b="0" dirty="0"/>
              <a:t>块</a:t>
            </a:r>
            <a:endParaRPr lang="zh-CN" altLang="en-US" sz="2800" b="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
          <p:cNvSpPr>
            <a:spLocks noGrp="1"/>
          </p:cNvSpPr>
          <p:nvPr>
            <p:ph type="title"/>
          </p:nvPr>
        </p:nvSpPr>
        <p:spPr/>
        <p:txBody>
          <a:bodyPr vert="horz" wrap="square" lIns="91440" tIns="45720" rIns="91440" bIns="45720" anchor="ctr" anchorCtr="0"/>
          <a:p>
            <a:r>
              <a:rPr lang="zh-CN" altLang="en-US" dirty="0"/>
              <a:t>索引扫描算法的代价估算（续）</a:t>
            </a:r>
            <a:br>
              <a:rPr lang="zh-CN" altLang="en-US" dirty="0"/>
            </a:br>
            <a:endParaRPr lang="zh-CN" altLang="en-US" dirty="0"/>
          </a:p>
        </p:txBody>
      </p:sp>
      <p:sp>
        <p:nvSpPr>
          <p:cNvPr id="12291" name="内容占位符 2"/>
          <p:cNvSpPr>
            <a:spLocks noGrp="1"/>
          </p:cNvSpPr>
          <p:nvPr>
            <p:ph idx="1"/>
          </p:nvPr>
        </p:nvSpPr>
        <p:spPr/>
        <p:txBody>
          <a:bodyPr vert="horz" wrap="square" lIns="91440" tIns="45720" rIns="91440" bIns="45720" anchor="t" anchorCtr="0"/>
          <a:p>
            <a:pPr>
              <a:lnSpc>
                <a:spcPct val="120000"/>
              </a:lnSpc>
              <a:buSzPct val="87000"/>
              <a:buFont typeface="Wingdings" panose="05000000000000000000" pitchFamily="2" charset="2"/>
              <a:buChar char="l"/>
            </a:pPr>
            <a:r>
              <a:rPr lang="zh-CN" altLang="en-US" dirty="0"/>
              <a:t>如果比较条件是＞，＞＝，＜，＜＝操作</a:t>
            </a:r>
            <a:endParaRPr lang="zh-CN" altLang="en-US" dirty="0"/>
          </a:p>
          <a:p>
            <a:pPr lvl="1">
              <a:lnSpc>
                <a:spcPct val="120000"/>
              </a:lnSpc>
              <a:buFont typeface="Wingdings" panose="05000000000000000000" pitchFamily="2" charset="2"/>
              <a:buChar char="Ø"/>
            </a:pPr>
            <a:r>
              <a:rPr lang="zh-CN" altLang="en-US" sz="2600" dirty="0"/>
              <a:t>假设有一半的元组满足条件</a:t>
            </a:r>
            <a:endParaRPr lang="zh-CN" altLang="en-US" sz="2600" dirty="0"/>
          </a:p>
          <a:p>
            <a:pPr lvl="1">
              <a:lnSpc>
                <a:spcPct val="120000"/>
              </a:lnSpc>
              <a:buFont typeface="Wingdings" panose="05000000000000000000" pitchFamily="2" charset="2"/>
              <a:buChar char="Ø"/>
            </a:pPr>
            <a:r>
              <a:rPr lang="zh-CN" altLang="en-US" sz="2600" dirty="0"/>
              <a:t>就要存取一半的叶结点</a:t>
            </a:r>
            <a:endParaRPr lang="zh-CN" altLang="en-US" sz="2600" dirty="0"/>
          </a:p>
          <a:p>
            <a:pPr lvl="1">
              <a:lnSpc>
                <a:spcPct val="120000"/>
              </a:lnSpc>
              <a:buFont typeface="Wingdings" panose="05000000000000000000" pitchFamily="2" charset="2"/>
              <a:buChar char="Ø"/>
            </a:pPr>
            <a:r>
              <a:rPr lang="zh-CN" altLang="en-US" sz="2600" dirty="0"/>
              <a:t>通过索引访问一半的表存储块</a:t>
            </a:r>
            <a:endParaRPr lang="zh-CN" altLang="en-US" sz="2600" dirty="0"/>
          </a:p>
          <a:p>
            <a:pPr lvl="1">
              <a:lnSpc>
                <a:spcPct val="120000"/>
              </a:lnSpc>
              <a:buFont typeface="Wingdings" panose="05000000000000000000" pitchFamily="2" charset="2"/>
              <a:buChar char="Ø"/>
            </a:pPr>
            <a:r>
              <a:rPr lang="en-US" altLang="zh-CN" sz="2600" dirty="0"/>
              <a:t>cost=L+Y/2+B/2</a:t>
            </a:r>
            <a:endParaRPr lang="zh-CN" altLang="en-US" sz="2600" dirty="0"/>
          </a:p>
          <a:p>
            <a:pPr lvl="1">
              <a:lnSpc>
                <a:spcPct val="120000"/>
              </a:lnSpc>
              <a:buFont typeface="Wingdings" panose="05000000000000000000" pitchFamily="2" charset="2"/>
              <a:buChar char="Ø"/>
            </a:pPr>
            <a:r>
              <a:rPr lang="zh-CN" altLang="en-US" sz="2600" dirty="0"/>
              <a:t>如果可以获得更准确的选择基数，可以进一步修正</a:t>
            </a:r>
            <a:r>
              <a:rPr lang="en-US" altLang="zh-CN" sz="2600" dirty="0"/>
              <a:t>Y/2</a:t>
            </a:r>
            <a:r>
              <a:rPr lang="zh-CN" altLang="en-US" sz="2600" dirty="0"/>
              <a:t>与</a:t>
            </a:r>
            <a:r>
              <a:rPr lang="en-US" altLang="zh-CN" sz="2600" dirty="0"/>
              <a:t>B/2</a:t>
            </a:r>
            <a:endParaRPr lang="zh-CN" altLang="en-US" sz="2600" dirty="0"/>
          </a:p>
          <a:p>
            <a:pPr>
              <a:buFont typeface="Wingdings" panose="05000000000000000000" pitchFamily="2" charset="2"/>
              <a:buChar char="v"/>
            </a:pP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1"/>
          <p:cNvSpPr>
            <a:spLocks noGrp="1"/>
          </p:cNvSpPr>
          <p:nvPr>
            <p:ph type="title"/>
          </p:nvPr>
        </p:nvSpPr>
        <p:spPr/>
        <p:txBody>
          <a:bodyPr vert="horz" wrap="square" lIns="91440" tIns="45720" rIns="91440" bIns="45720" anchor="ctr" anchorCtr="0"/>
          <a:p>
            <a:r>
              <a:rPr lang="en-US" altLang="zh-CN" sz="3600" dirty="0"/>
              <a:t>2.</a:t>
            </a:r>
            <a:r>
              <a:rPr lang="zh-CN" altLang="zh-CN" sz="3600" dirty="0"/>
              <a:t>连接操作的实现 </a:t>
            </a:r>
            <a:endParaRPr lang="zh-CN" altLang="en-US" sz="3600" dirty="0"/>
          </a:p>
        </p:txBody>
      </p:sp>
      <p:sp>
        <p:nvSpPr>
          <p:cNvPr id="3" name="内容占位符 2"/>
          <p:cNvSpPr>
            <a:spLocks noGrp="1"/>
          </p:cNvSpPr>
          <p:nvPr>
            <p:ph idx="1"/>
          </p:nvPr>
        </p:nvSpPr>
        <p:spPr>
          <a:xfrm>
            <a:off x="1055688" y="1341438"/>
            <a:ext cx="10972800" cy="4854575"/>
          </a:xfrm>
        </p:spPr>
        <p:txBody>
          <a:bodyPr vert="horz" wrap="square" lIns="91440" tIns="45720" rIns="91440" bIns="45720" numCol="1" anchor="t" anchorCtr="0" compatLnSpc="1"/>
          <a:lstStyle/>
          <a:p>
            <a:pPr marL="342900" marR="0" lvl="0" indent="-34290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连接操作是查询处理中最耗时的操作之一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本节只讨论等值连接</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或自然连接</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最常用的实现算法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例</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10</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2]</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SELECT * </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                  FROM    Student, SC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                  WHERE </a:t>
            </a:r>
            <a:r>
              <a:rPr kumimoji="0" lang="en-US" altLang="zh-CN" sz="2800" b="1" i="0" u="none" strike="noStrike" kern="0" cap="none" spc="0" normalizeH="0" baseline="0" noProof="0" dirty="0" err="1">
                <a:ln>
                  <a:noFill/>
                </a:ln>
                <a:solidFill>
                  <a:schemeClr val="tx1"/>
                </a:solidFill>
                <a:effectLst/>
                <a:uLnTx/>
                <a:uFillTx/>
                <a:latin typeface="+mn-lt"/>
                <a:ea typeface="+mn-ea"/>
                <a:cs typeface="+mn-cs"/>
              </a:rPr>
              <a:t>Student.Sno</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err="1">
                <a:ln>
                  <a:noFill/>
                </a:ln>
                <a:solidFill>
                  <a:schemeClr val="tx1"/>
                </a:solidFill>
                <a:effectLst/>
                <a:uLnTx/>
                <a:uFillTx/>
                <a:latin typeface="+mn-lt"/>
                <a:ea typeface="+mn-ea"/>
                <a:cs typeface="+mn-cs"/>
              </a:rPr>
              <a:t>SC.Sno</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1"/>
          <p:cNvSpPr>
            <a:spLocks noGrp="1"/>
          </p:cNvSpPr>
          <p:nvPr>
            <p:ph type="title"/>
          </p:nvPr>
        </p:nvSpPr>
        <p:spPr/>
        <p:txBody>
          <a:bodyPr vert="horz" wrap="square" lIns="91440" tIns="45720" rIns="91440" bIns="45720" anchor="ctr" anchorCtr="0"/>
          <a:p>
            <a:r>
              <a:rPr lang="zh-CN" altLang="zh-CN" sz="3600" dirty="0"/>
              <a:t>连接操作的实现（续）</a:t>
            </a:r>
            <a:endParaRPr lang="zh-CN" altLang="en-US" sz="3600" dirty="0"/>
          </a:p>
        </p:txBody>
      </p:sp>
      <p:sp>
        <p:nvSpPr>
          <p:cNvPr id="3" name="内容占位符 2"/>
          <p:cNvSpPr>
            <a:spLocks noGrp="1"/>
          </p:cNvSpPr>
          <p:nvPr>
            <p:ph idx="1"/>
          </p:nvPr>
        </p:nvSpPr>
        <p:spPr>
          <a:xfrm>
            <a:off x="982663" y="1196975"/>
            <a:ext cx="8785225" cy="4854575"/>
          </a:xfrm>
        </p:spPr>
        <p:txBody>
          <a:bodyPr vert="horz" wrap="square" lIns="91440" tIns="45720" rIns="91440" bIns="45720" numCol="1" anchor="t" anchorCtr="0" compatLnSpc="1"/>
          <a:lstStyle/>
          <a:p>
            <a:pPr marL="0" marR="0" lvl="0" indent="0" algn="l" defTabSz="914400" rtl="0" eaLnBrk="0" fontAlgn="base" latinLnBrk="0" hangingPunct="0">
              <a:lnSpc>
                <a:spcPct val="150000"/>
              </a:lnSpc>
              <a:spcBef>
                <a:spcPct val="20000"/>
              </a:spcBef>
              <a:spcAft>
                <a:spcPct val="0"/>
              </a:spcAft>
              <a:buClrTx/>
              <a:buSzPct val="75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1</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）嵌套循环算法</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(nested loop join)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Pct val="75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2</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）排序</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合并算法</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(sort-merge join </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或</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merge join)</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Pct val="75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3</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）索引连接</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(index join)</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算法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Pct val="75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4</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Hash Join</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算法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1"/>
          <p:cNvSpPr>
            <a:spLocks noGrp="1"/>
          </p:cNvSpPr>
          <p:nvPr>
            <p:ph type="title"/>
          </p:nvPr>
        </p:nvSpPr>
        <p:spPr/>
        <p:txBody>
          <a:bodyPr vert="horz" wrap="square" lIns="91440" tIns="45720" rIns="91440" bIns="45720" anchor="ctr" anchorCtr="0"/>
          <a:p>
            <a:r>
              <a:rPr lang="zh-CN" altLang="zh-CN" sz="3600" dirty="0"/>
              <a:t>连接操作的实现（续）</a:t>
            </a:r>
            <a:endParaRPr lang="zh-CN" altLang="en-US" sz="3600" dirty="0"/>
          </a:p>
        </p:txBody>
      </p:sp>
      <p:sp>
        <p:nvSpPr>
          <p:cNvPr id="32771" name="内容占位符 2"/>
          <p:cNvSpPr>
            <a:spLocks noGrp="1"/>
          </p:cNvSpPr>
          <p:nvPr>
            <p:ph idx="1"/>
          </p:nvPr>
        </p:nvSpPr>
        <p:spPr>
          <a:xfrm>
            <a:off x="982663" y="1412875"/>
            <a:ext cx="9793288" cy="5095875"/>
          </a:xfrm>
        </p:spPr>
        <p:txBody>
          <a:bodyPr vert="horz" wrap="square" lIns="91440" tIns="45720" rIns="91440" bIns="45720" numCol="1" anchor="t" anchorCtr="0" compatLnSpc="1"/>
          <a:lstStyle/>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1</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）嵌套循环算法</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(nested loop join)</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对外层循环</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表</a:t>
            </a:r>
            <a:r>
              <a:rPr kumimoji="0" lang="en-US" altLang="zh-CN" sz="2400" b="1" i="0" u="none" strike="noStrike" kern="0" cap="none" spc="0" normalizeH="0" baseline="0" noProof="0" dirty="0">
                <a:ln>
                  <a:noFill/>
                </a:ln>
                <a:solidFill>
                  <a:schemeClr val="tx1"/>
                </a:solidFill>
                <a:effectLst/>
                <a:uLnTx/>
                <a:uFillTx/>
                <a:latin typeface="+mn-lt"/>
                <a:ea typeface="+mn-ea"/>
              </a:rPr>
              <a:t>)</a:t>
            </a:r>
            <a:r>
              <a:rPr kumimoji="0" lang="zh-CN" altLang="en-US" sz="2400" b="1" i="0" u="none" strike="noStrike" kern="0" cap="none" spc="0" normalizeH="0" baseline="0" noProof="0" dirty="0">
                <a:ln>
                  <a:noFill/>
                </a:ln>
                <a:solidFill>
                  <a:schemeClr val="tx1"/>
                </a:solidFill>
                <a:effectLst/>
                <a:uLnTx/>
                <a:uFillTx/>
                <a:latin typeface="+mn-lt"/>
                <a:ea typeface="+mn-ea"/>
              </a:rPr>
              <a:t>的每一个元组</a:t>
            </a:r>
            <a:r>
              <a:rPr kumimoji="0" lang="en-US" altLang="zh-CN" sz="2400" b="1" i="0" u="none" strike="noStrike" kern="0" cap="none" spc="0" normalizeH="0" baseline="0" noProof="0" dirty="0">
                <a:ln>
                  <a:noFill/>
                </a:ln>
                <a:solidFill>
                  <a:schemeClr val="tx1"/>
                </a:solidFill>
                <a:effectLst/>
                <a:uLnTx/>
                <a:uFillTx/>
                <a:latin typeface="+mn-lt"/>
                <a:ea typeface="+mn-ea"/>
              </a:rPr>
              <a:t>(s)</a:t>
            </a:r>
            <a:r>
              <a:rPr kumimoji="0" lang="zh-CN" altLang="en-US" sz="2400" b="1" i="0" u="none" strike="noStrike" kern="0" cap="none" spc="0" normalizeH="0" baseline="0" noProof="0" dirty="0">
                <a:ln>
                  <a:noFill/>
                </a:ln>
                <a:solidFill>
                  <a:schemeClr val="tx1"/>
                </a:solidFill>
                <a:effectLst/>
                <a:uLnTx/>
                <a:uFillTx/>
                <a:latin typeface="+mn-lt"/>
                <a:ea typeface="+mn-ea"/>
              </a:rPr>
              <a:t>，检索内层循环</a:t>
            </a:r>
            <a:r>
              <a:rPr kumimoji="0" lang="en-US" altLang="zh-CN" sz="2400" b="1" i="0" u="none" strike="noStrike" kern="0" cap="none" spc="0" normalizeH="0" baseline="0" noProof="0" dirty="0">
                <a:ln>
                  <a:noFill/>
                </a:ln>
                <a:solidFill>
                  <a:schemeClr val="tx1"/>
                </a:solidFill>
                <a:effectLst/>
                <a:uLnTx/>
                <a:uFillTx/>
                <a:latin typeface="+mn-lt"/>
                <a:ea typeface="+mn-ea"/>
              </a:rPr>
              <a:t>(SC</a:t>
            </a:r>
            <a:r>
              <a:rPr kumimoji="0" lang="zh-CN" altLang="en-US" sz="2400" b="1" i="0" u="none" strike="noStrike" kern="0" cap="none" spc="0" normalizeH="0" baseline="0" noProof="0" dirty="0">
                <a:ln>
                  <a:noFill/>
                </a:ln>
                <a:solidFill>
                  <a:schemeClr val="tx1"/>
                </a:solidFill>
                <a:effectLst/>
                <a:uLnTx/>
                <a:uFillTx/>
                <a:latin typeface="+mn-lt"/>
                <a:ea typeface="+mn-ea"/>
              </a:rPr>
              <a:t>表</a:t>
            </a:r>
            <a:r>
              <a:rPr kumimoji="0" lang="en-US" altLang="zh-CN" sz="2400" b="1" i="0" u="none" strike="noStrike" kern="0" cap="none" spc="0" normalizeH="0" baseline="0" noProof="0" dirty="0">
                <a:ln>
                  <a:noFill/>
                </a:ln>
                <a:solidFill>
                  <a:schemeClr val="tx1"/>
                </a:solidFill>
                <a:effectLst/>
                <a:uLnTx/>
                <a:uFillTx/>
                <a:latin typeface="+mn-lt"/>
                <a:ea typeface="+mn-ea"/>
              </a:rPr>
              <a:t>)</a:t>
            </a:r>
            <a:r>
              <a:rPr kumimoji="0" lang="zh-CN" altLang="en-US" sz="2400" b="1" i="0" u="none" strike="noStrike" kern="0" cap="none" spc="0" normalizeH="0" baseline="0" noProof="0" dirty="0">
                <a:ln>
                  <a:noFill/>
                </a:ln>
                <a:solidFill>
                  <a:schemeClr val="tx1"/>
                </a:solidFill>
                <a:effectLst/>
                <a:uLnTx/>
                <a:uFillTx/>
                <a:latin typeface="+mn-lt"/>
                <a:ea typeface="+mn-ea"/>
              </a:rPr>
              <a:t>中的每一个元组</a:t>
            </a:r>
            <a:r>
              <a:rPr kumimoji="0" lang="en-US" altLang="zh-CN" sz="2400" b="1" i="0" u="none" strike="noStrike" kern="0" cap="none" spc="0" normalizeH="0" baseline="0" noProof="0" dirty="0">
                <a:ln>
                  <a:noFill/>
                </a:ln>
                <a:solidFill>
                  <a:schemeClr val="tx1"/>
                </a:solidFill>
                <a:effectLst/>
                <a:uLnTx/>
                <a:uFillTx/>
                <a:latin typeface="+mn-lt"/>
                <a:ea typeface="+mn-ea"/>
              </a:rPr>
              <a:t>(</a:t>
            </a:r>
            <a:r>
              <a:rPr kumimoji="0" lang="en-US" altLang="zh-CN" sz="2400" b="1" i="0" u="none" strike="noStrike" kern="0" cap="none" spc="0" normalizeH="0" baseline="0" noProof="0" dirty="0" err="1">
                <a:ln>
                  <a:noFill/>
                </a:ln>
                <a:solidFill>
                  <a:schemeClr val="tx1"/>
                </a:solidFill>
                <a:effectLst/>
                <a:uLnTx/>
                <a:uFillTx/>
                <a:latin typeface="+mn-lt"/>
                <a:ea typeface="+mn-ea"/>
              </a:rPr>
              <a:t>sc</a:t>
            </a:r>
            <a:r>
              <a:rPr kumimoji="0" lang="en-US" altLang="zh-CN" sz="2400" b="1" i="0" u="none" strike="noStrike" kern="0" cap="none" spc="0" normalizeH="0" baseline="0" noProof="0" dirty="0">
                <a:ln>
                  <a:noFill/>
                </a:ln>
                <a:solidFill>
                  <a:schemeClr val="tx1"/>
                </a:solidFill>
                <a:effectLst/>
                <a:uLnTx/>
                <a:uFillTx/>
                <a:latin typeface="+mn-lt"/>
                <a:ea typeface="+mn-ea"/>
              </a:rPr>
              <a:t>)</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检查这两个元组在连接属性</a:t>
            </a:r>
            <a:r>
              <a:rPr kumimoji="0" lang="en-US" altLang="zh-CN" sz="2400" b="1" i="0" u="none" strike="noStrike" kern="0" cap="none" spc="0" normalizeH="0" baseline="0" noProof="0" dirty="0">
                <a:ln>
                  <a:noFill/>
                </a:ln>
                <a:solidFill>
                  <a:schemeClr val="tx1"/>
                </a:solidFill>
                <a:effectLst/>
                <a:uLnTx/>
                <a:uFillTx/>
                <a:latin typeface="+mn-lt"/>
                <a:ea typeface="+mn-ea"/>
              </a:rPr>
              <a:t>(</a:t>
            </a:r>
            <a:r>
              <a:rPr kumimoji="0" lang="en-US" altLang="zh-CN" sz="2400" b="1" i="0" u="none" strike="noStrike" kern="0" cap="none" spc="0" normalizeH="0" baseline="0" noProof="0" dirty="0" err="1">
                <a:ln>
                  <a:noFill/>
                </a:ln>
                <a:solidFill>
                  <a:schemeClr val="tx1"/>
                </a:solidFill>
                <a:effectLst/>
                <a:uLnTx/>
                <a:uFillTx/>
                <a:latin typeface="+mn-lt"/>
                <a:ea typeface="+mn-ea"/>
              </a:rPr>
              <a:t>Sno</a:t>
            </a:r>
            <a:r>
              <a:rPr kumimoji="0" lang="en-US" altLang="zh-CN" sz="2400" b="1" i="0" u="none" strike="noStrike" kern="0" cap="none" spc="0" normalizeH="0" baseline="0" noProof="0" dirty="0">
                <a:ln>
                  <a:noFill/>
                </a:ln>
                <a:solidFill>
                  <a:schemeClr val="tx1"/>
                </a:solidFill>
                <a:effectLst/>
                <a:uLnTx/>
                <a:uFillTx/>
                <a:latin typeface="+mn-lt"/>
                <a:ea typeface="+mn-ea"/>
              </a:rPr>
              <a:t>)</a:t>
            </a:r>
            <a:r>
              <a:rPr kumimoji="0" lang="zh-CN" altLang="en-US" sz="2400" b="1" i="0" u="none" strike="noStrike" kern="0" cap="none" spc="0" normalizeH="0" baseline="0" noProof="0" dirty="0">
                <a:ln>
                  <a:noFill/>
                </a:ln>
                <a:solidFill>
                  <a:schemeClr val="tx1"/>
                </a:solidFill>
                <a:effectLst/>
                <a:uLnTx/>
                <a:uFillTx/>
                <a:latin typeface="+mn-lt"/>
                <a:ea typeface="+mn-ea"/>
              </a:rPr>
              <a:t>上是否相等</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如果满足连接条件，则串接后作为结果输出，直到外层循环表中的元组处理完为止。</a:t>
            </a:r>
            <a:endParaRPr kumimoji="0" lang="en-US" altLang="zh-CN" sz="24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标题 1"/>
          <p:cNvSpPr>
            <a:spLocks noGrp="1"/>
          </p:cNvSpPr>
          <p:nvPr>
            <p:ph type="title"/>
          </p:nvPr>
        </p:nvSpPr>
        <p:spPr/>
        <p:txBody>
          <a:bodyPr vert="horz" wrap="square" lIns="91440" tIns="45720" rIns="91440" bIns="45720" anchor="ctr" anchorCtr="0"/>
          <a:p>
            <a:r>
              <a:rPr lang="zh-CN" altLang="zh-CN" sz="3600" dirty="0"/>
              <a:t>连接操作的实现（续）</a:t>
            </a:r>
            <a:endParaRPr lang="zh-CN" altLang="en-US" sz="3600" dirty="0"/>
          </a:p>
        </p:txBody>
      </p:sp>
      <p:sp>
        <p:nvSpPr>
          <p:cNvPr id="27651" name="内容占位符 2"/>
          <p:cNvSpPr>
            <a:spLocks noGrp="1"/>
          </p:cNvSpPr>
          <p:nvPr>
            <p:ph idx="1"/>
          </p:nvPr>
        </p:nvSpPr>
        <p:spPr>
          <a:xfrm>
            <a:off x="839788" y="1412875"/>
            <a:ext cx="10296525" cy="5095875"/>
          </a:xfrm>
        </p:spPr>
        <p:txBody>
          <a:bodyPr vert="horz" wrap="square" lIns="91440" tIns="45720" rIns="91440" bIns="45720" anchor="t" anchorCtr="0"/>
          <a:p>
            <a:pPr marL="0" indent="0">
              <a:buNone/>
            </a:pPr>
            <a:r>
              <a:rPr lang="zh-CN" altLang="en-US" dirty="0"/>
              <a:t>（</a:t>
            </a:r>
            <a:r>
              <a:rPr lang="en-US" altLang="zh-CN" dirty="0"/>
              <a:t>2</a:t>
            </a:r>
            <a:r>
              <a:rPr lang="zh-CN" altLang="en-US" dirty="0"/>
              <a:t>）排序</a:t>
            </a:r>
            <a:r>
              <a:rPr lang="en-US" altLang="zh-CN" dirty="0"/>
              <a:t>-</a:t>
            </a:r>
            <a:r>
              <a:rPr lang="zh-CN" altLang="en-US" dirty="0"/>
              <a:t>合并算法</a:t>
            </a:r>
            <a:r>
              <a:rPr lang="en-US" altLang="zh-CN" dirty="0"/>
              <a:t>(sort-merge join </a:t>
            </a:r>
            <a:r>
              <a:rPr lang="zh-CN" altLang="en-US" dirty="0"/>
              <a:t>或</a:t>
            </a:r>
            <a:r>
              <a:rPr lang="en-US" altLang="zh-CN" dirty="0"/>
              <a:t>merge join) </a:t>
            </a:r>
            <a:endParaRPr lang="zh-CN" altLang="en-US" dirty="0"/>
          </a:p>
          <a:p>
            <a:pPr lvl="1"/>
            <a:r>
              <a:rPr lang="zh-CN" altLang="en-US" dirty="0"/>
              <a:t>如果连接的表没有排好序，先对</a:t>
            </a:r>
            <a:r>
              <a:rPr lang="en-US" altLang="zh-CN" dirty="0"/>
              <a:t>Student</a:t>
            </a:r>
            <a:r>
              <a:rPr lang="zh-CN" altLang="en-US" dirty="0"/>
              <a:t>表和</a:t>
            </a:r>
            <a:r>
              <a:rPr lang="en-US" altLang="zh-CN" dirty="0"/>
              <a:t>SC</a:t>
            </a:r>
            <a:r>
              <a:rPr lang="zh-CN" altLang="en-US" dirty="0"/>
              <a:t>表按连接属性</a:t>
            </a:r>
            <a:r>
              <a:rPr lang="en-US" altLang="zh-CN" dirty="0"/>
              <a:t>Sno</a:t>
            </a:r>
            <a:r>
              <a:rPr lang="zh-CN" altLang="en-US" dirty="0"/>
              <a:t>排序 </a:t>
            </a:r>
            <a:endParaRPr lang="zh-CN" altLang="en-US" dirty="0"/>
          </a:p>
          <a:p>
            <a:pPr lvl="1"/>
            <a:r>
              <a:rPr lang="zh-CN" altLang="en-US" dirty="0"/>
              <a:t>取</a:t>
            </a:r>
            <a:r>
              <a:rPr lang="en-US" altLang="zh-CN" dirty="0"/>
              <a:t>Student</a:t>
            </a:r>
            <a:r>
              <a:rPr lang="zh-CN" altLang="en-US" dirty="0"/>
              <a:t>表中第一个</a:t>
            </a:r>
            <a:r>
              <a:rPr lang="en-US" altLang="zh-CN" dirty="0"/>
              <a:t>Sno</a:t>
            </a:r>
            <a:r>
              <a:rPr lang="zh-CN" altLang="en-US" dirty="0"/>
              <a:t>，依次扫描</a:t>
            </a:r>
            <a:r>
              <a:rPr lang="en-US" altLang="zh-CN" dirty="0"/>
              <a:t>SC</a:t>
            </a:r>
            <a:r>
              <a:rPr lang="zh-CN" altLang="en-US" dirty="0"/>
              <a:t>表中具有相同</a:t>
            </a:r>
            <a:r>
              <a:rPr lang="en-US" altLang="zh-CN" dirty="0"/>
              <a:t>Sno</a:t>
            </a:r>
            <a:r>
              <a:rPr lang="zh-CN" altLang="en-US" dirty="0"/>
              <a:t>的元组 </a:t>
            </a:r>
            <a:endParaRPr lang="zh-CN" altLang="en-US" dirty="0"/>
          </a:p>
          <a:p>
            <a:pPr lvl="1"/>
            <a:r>
              <a:rPr lang="zh-CN" altLang="en-US" dirty="0"/>
              <a:t>当扫描到</a:t>
            </a:r>
            <a:r>
              <a:rPr lang="en-US" altLang="zh-CN" dirty="0"/>
              <a:t>Sno</a:t>
            </a:r>
            <a:r>
              <a:rPr lang="zh-CN" altLang="en-US" dirty="0"/>
              <a:t>不相同的第一个</a:t>
            </a:r>
            <a:r>
              <a:rPr lang="en-US" altLang="zh-CN" dirty="0"/>
              <a:t>SC</a:t>
            </a:r>
            <a:r>
              <a:rPr lang="zh-CN" altLang="en-US" dirty="0"/>
              <a:t>元组时，返回</a:t>
            </a:r>
            <a:r>
              <a:rPr lang="en-US" altLang="zh-CN" dirty="0"/>
              <a:t>Student</a:t>
            </a:r>
            <a:r>
              <a:rPr lang="zh-CN" altLang="en-US" dirty="0"/>
              <a:t>表扫描它的下一个元组，再扫描</a:t>
            </a:r>
            <a:r>
              <a:rPr lang="en-US" altLang="zh-CN" dirty="0"/>
              <a:t>SC</a:t>
            </a:r>
            <a:r>
              <a:rPr lang="zh-CN" altLang="en-US" dirty="0"/>
              <a:t>表中具有相同</a:t>
            </a:r>
            <a:r>
              <a:rPr lang="en-US" altLang="zh-CN" dirty="0"/>
              <a:t>Sno</a:t>
            </a:r>
            <a:r>
              <a:rPr lang="zh-CN" altLang="en-US" dirty="0"/>
              <a:t>的元组，把它们连接起来 </a:t>
            </a:r>
            <a:endParaRPr lang="zh-CN" altLang="en-US" dirty="0"/>
          </a:p>
          <a:p>
            <a:pPr lvl="1"/>
            <a:r>
              <a:rPr lang="zh-CN" altLang="en-US" dirty="0"/>
              <a:t>重复上述步骤直到</a:t>
            </a:r>
            <a:r>
              <a:rPr lang="en-US" altLang="zh-CN" dirty="0"/>
              <a:t>Student </a:t>
            </a:r>
            <a:r>
              <a:rPr lang="zh-CN" altLang="en-US" dirty="0"/>
              <a:t>表扫描完</a:t>
            </a:r>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标题 1"/>
          <p:cNvSpPr>
            <a:spLocks noGrp="1"/>
          </p:cNvSpPr>
          <p:nvPr>
            <p:ph type="title"/>
          </p:nvPr>
        </p:nvSpPr>
        <p:spPr/>
        <p:txBody>
          <a:bodyPr vert="horz" wrap="square" lIns="91440" tIns="45720" rIns="91440" bIns="45720" anchor="ctr" anchorCtr="0"/>
          <a:p>
            <a:r>
              <a:rPr lang="zh-CN" altLang="zh-CN" sz="3600" dirty="0"/>
              <a:t>连接操作的实现（续）</a:t>
            </a:r>
            <a:endParaRPr lang="zh-CN" altLang="en-US" sz="3600" dirty="0"/>
          </a:p>
        </p:txBody>
      </p:sp>
      <p:sp>
        <p:nvSpPr>
          <p:cNvPr id="28675" name="Text Box 11"/>
          <p:cNvSpPr/>
          <p:nvPr/>
        </p:nvSpPr>
        <p:spPr>
          <a:xfrm>
            <a:off x="3719513" y="5516563"/>
            <a:ext cx="3629025" cy="369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Clr>
                <a:schemeClr val="hlink"/>
              </a:buClr>
              <a:buSzTx/>
              <a:buNone/>
            </a:pPr>
            <a:r>
              <a:rPr lang="zh-CN" altLang="en-US" sz="1800" dirty="0">
                <a:latin typeface="Times New Roman" panose="02020603050405020304" charset="0"/>
                <a:sym typeface="Times New Roman" panose="02020603050405020304" charset="0"/>
              </a:rPr>
              <a:t>图</a:t>
            </a:r>
            <a:r>
              <a:rPr lang="en-US" altLang="zh-CN" sz="1800" dirty="0">
                <a:latin typeface="Times New Roman" panose="02020603050405020304" charset="0"/>
                <a:sym typeface="Times New Roman" panose="02020603050405020304" charset="0"/>
              </a:rPr>
              <a:t>10.2 </a:t>
            </a:r>
            <a:r>
              <a:rPr lang="zh-CN" altLang="en-US" sz="1800" dirty="0">
                <a:latin typeface="Times New Roman" panose="02020603050405020304" charset="0"/>
                <a:sym typeface="Times New Roman" panose="02020603050405020304" charset="0"/>
              </a:rPr>
              <a:t>排序</a:t>
            </a:r>
            <a:r>
              <a:rPr lang="en-US" altLang="zh-CN" sz="1800" dirty="0">
                <a:latin typeface="Times New Roman" panose="02020603050405020304" charset="0"/>
                <a:sym typeface="Times New Roman" panose="02020603050405020304" charset="0"/>
              </a:rPr>
              <a:t>-</a:t>
            </a:r>
            <a:r>
              <a:rPr lang="zh-CN" altLang="en-US" sz="1800" dirty="0">
                <a:latin typeface="Times New Roman" panose="02020603050405020304" charset="0"/>
                <a:sym typeface="Times New Roman" panose="02020603050405020304" charset="0"/>
              </a:rPr>
              <a:t>合并连接方法示意图</a:t>
            </a:r>
            <a:endParaRPr lang="zh-CN" altLang="en-US" sz="2000" dirty="0"/>
          </a:p>
        </p:txBody>
      </p:sp>
      <p:pic>
        <p:nvPicPr>
          <p:cNvPr id="28676" name="图片 7660" descr="1624793079(1)"/>
          <p:cNvPicPr>
            <a:picLocks noChangeAspect="1"/>
          </p:cNvPicPr>
          <p:nvPr/>
        </p:nvPicPr>
        <p:blipFill>
          <a:blip r:embed="rId1"/>
          <a:stretch>
            <a:fillRect/>
          </a:stretch>
        </p:blipFill>
        <p:spPr>
          <a:xfrm>
            <a:off x="2917825" y="1254125"/>
            <a:ext cx="5232400" cy="4108450"/>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标题 1"/>
          <p:cNvSpPr>
            <a:spLocks noGrp="1"/>
          </p:cNvSpPr>
          <p:nvPr>
            <p:ph type="title"/>
          </p:nvPr>
        </p:nvSpPr>
        <p:spPr/>
        <p:txBody>
          <a:bodyPr vert="horz" wrap="square" lIns="91440" tIns="45720" rIns="91440" bIns="45720" anchor="ctr" anchorCtr="0"/>
          <a:p>
            <a:r>
              <a:rPr lang="zh-CN" altLang="zh-CN" sz="3600" dirty="0"/>
              <a:t>连接操作的实现（续）</a:t>
            </a:r>
            <a:endParaRPr lang="zh-CN" altLang="en-US" sz="3600" dirty="0"/>
          </a:p>
        </p:txBody>
      </p:sp>
      <p:sp>
        <p:nvSpPr>
          <p:cNvPr id="29699" name="内容占位符 2"/>
          <p:cNvSpPr>
            <a:spLocks noGrp="1"/>
          </p:cNvSpPr>
          <p:nvPr>
            <p:ph idx="1"/>
          </p:nvPr>
        </p:nvSpPr>
        <p:spPr>
          <a:xfrm>
            <a:off x="766763" y="1412875"/>
            <a:ext cx="10972800" cy="4854575"/>
          </a:xfrm>
        </p:spPr>
        <p:txBody>
          <a:bodyPr vert="horz" wrap="square" lIns="91440" tIns="45720" rIns="91440" bIns="45720" anchor="t" anchorCtr="0"/>
          <a:p>
            <a:pPr>
              <a:lnSpc>
                <a:spcPct val="120000"/>
              </a:lnSpc>
            </a:pPr>
            <a:r>
              <a:rPr lang="en-US" altLang="zh-CN" dirty="0"/>
              <a:t>Student</a:t>
            </a:r>
            <a:r>
              <a:rPr lang="zh-CN" altLang="en-US" dirty="0"/>
              <a:t>表和</a:t>
            </a:r>
            <a:r>
              <a:rPr lang="en-US" altLang="zh-CN" dirty="0"/>
              <a:t>SC</a:t>
            </a:r>
            <a:r>
              <a:rPr lang="zh-CN" altLang="en-US" dirty="0"/>
              <a:t>表都只要扫描一遍</a:t>
            </a:r>
            <a:endParaRPr lang="zh-CN" altLang="en-US" dirty="0"/>
          </a:p>
          <a:p>
            <a:pPr>
              <a:lnSpc>
                <a:spcPct val="120000"/>
              </a:lnSpc>
            </a:pPr>
            <a:r>
              <a:rPr lang="zh-CN" altLang="en-US" dirty="0"/>
              <a:t>如果两个表原来无序，执行时间要加上对两个表的排序时间</a:t>
            </a:r>
            <a:endParaRPr lang="zh-CN" altLang="en-US" dirty="0"/>
          </a:p>
          <a:p>
            <a:pPr>
              <a:lnSpc>
                <a:spcPct val="120000"/>
              </a:lnSpc>
            </a:pPr>
            <a:r>
              <a:rPr lang="zh-CN" altLang="en-US" dirty="0"/>
              <a:t>对于大表，先排序后使用排序</a:t>
            </a:r>
            <a:r>
              <a:rPr lang="en-US" altLang="zh-CN" dirty="0"/>
              <a:t>-</a:t>
            </a:r>
            <a:r>
              <a:rPr lang="zh-CN" altLang="en-US" dirty="0"/>
              <a:t>合并连接算法执行连接，总的时间一般仍会减少 </a:t>
            </a:r>
            <a:endParaRPr lang="en-US" altLang="zh-CN" dirty="0"/>
          </a:p>
          <a:p>
            <a:endParaRPr lang="zh-CN" altLang="en-US" dirty="0"/>
          </a:p>
          <a:p>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1"/>
          <p:cNvSpPr>
            <a:spLocks noGrp="1"/>
          </p:cNvSpPr>
          <p:nvPr>
            <p:ph type="title"/>
          </p:nvPr>
        </p:nvSpPr>
        <p:spPr/>
        <p:txBody>
          <a:bodyPr vert="horz" wrap="square" lIns="91440" tIns="45720" rIns="91440" bIns="45720" anchor="ctr" anchorCtr="0"/>
          <a:p>
            <a:r>
              <a:rPr lang="zh-CN" altLang="zh-CN" sz="3600" dirty="0"/>
              <a:t>连接操作的实现（续）</a:t>
            </a:r>
            <a:endParaRPr lang="zh-CN" altLang="en-US" sz="3600" dirty="0"/>
          </a:p>
        </p:txBody>
      </p:sp>
      <p:sp>
        <p:nvSpPr>
          <p:cNvPr id="35843" name="内容占位符 2"/>
          <p:cNvSpPr>
            <a:spLocks noGrp="1"/>
          </p:cNvSpPr>
          <p:nvPr>
            <p:ph idx="1"/>
          </p:nvPr>
        </p:nvSpPr>
        <p:spPr>
          <a:xfrm>
            <a:off x="766763" y="1268413"/>
            <a:ext cx="10801350" cy="5095875"/>
          </a:xfrm>
        </p:spPr>
        <p:txBody>
          <a:bodyPr vert="horz" wrap="square" lIns="91440" tIns="45720" rIns="91440" bIns="45720" numCol="1" anchor="t" anchorCtr="0" compatLnSpc="1"/>
          <a:lstStyle/>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3</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）索引连接</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(index join)</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算法</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步骤：</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rPr>
              <a:t>① 在</a:t>
            </a:r>
            <a:r>
              <a:rPr kumimoji="0" lang="en-US" altLang="zh-CN" sz="2400" b="1" i="0" u="none" strike="noStrike" kern="0" cap="none" spc="0" normalizeH="0" baseline="0" noProof="0" dirty="0">
                <a:ln>
                  <a:noFill/>
                </a:ln>
                <a:solidFill>
                  <a:schemeClr val="tx1"/>
                </a:solidFill>
                <a:effectLst/>
                <a:uLnTx/>
                <a:uFillTx/>
                <a:latin typeface="+mn-lt"/>
                <a:ea typeface="+mn-ea"/>
              </a:rPr>
              <a:t>SC</a:t>
            </a:r>
            <a:r>
              <a:rPr kumimoji="0" lang="zh-CN" altLang="en-US" sz="2400" b="1" i="0" u="none" strike="noStrike" kern="0" cap="none" spc="0" normalizeH="0" baseline="0" noProof="0" dirty="0">
                <a:ln>
                  <a:noFill/>
                </a:ln>
                <a:solidFill>
                  <a:schemeClr val="tx1"/>
                </a:solidFill>
                <a:effectLst/>
                <a:uLnTx/>
                <a:uFillTx/>
                <a:latin typeface="+mn-lt"/>
                <a:ea typeface="+mn-ea"/>
              </a:rPr>
              <a:t>表上已经建立属性</a:t>
            </a:r>
            <a:r>
              <a:rPr kumimoji="0" lang="en-US" altLang="zh-CN" sz="2400" b="1" i="0" u="none" strike="noStrike" kern="0" cap="none" spc="0" normalizeH="0" baseline="0" noProof="0" dirty="0" err="1">
                <a:ln>
                  <a:noFill/>
                </a:ln>
                <a:solidFill>
                  <a:schemeClr val="tx1"/>
                </a:solidFill>
                <a:effectLst/>
                <a:uLnTx/>
                <a:uFillTx/>
                <a:latin typeface="+mn-lt"/>
                <a:ea typeface="+mn-ea"/>
              </a:rPr>
              <a:t>Sno</a:t>
            </a:r>
            <a:r>
              <a:rPr kumimoji="0" lang="zh-CN" altLang="en-US" sz="2400" b="1" i="0" u="none" strike="noStrike" kern="0" cap="none" spc="0" normalizeH="0" baseline="0" noProof="0" dirty="0">
                <a:ln>
                  <a:noFill/>
                </a:ln>
                <a:solidFill>
                  <a:schemeClr val="tx1"/>
                </a:solidFill>
                <a:effectLst/>
                <a:uLnTx/>
                <a:uFillTx/>
                <a:latin typeface="+mn-lt"/>
                <a:ea typeface="+mn-ea"/>
              </a:rPr>
              <a:t>的索引。</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rPr>
              <a:t>② 对</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中每一个元组，由</a:t>
            </a:r>
            <a:r>
              <a:rPr kumimoji="0" lang="en-US" altLang="zh-CN" sz="2400" b="1" i="0" u="none" strike="noStrike" kern="0" cap="none" spc="0" normalizeH="0" baseline="0" noProof="0" dirty="0" err="1">
                <a:ln>
                  <a:noFill/>
                </a:ln>
                <a:solidFill>
                  <a:schemeClr val="tx1"/>
                </a:solidFill>
                <a:effectLst/>
                <a:uLnTx/>
                <a:uFillTx/>
                <a:latin typeface="+mn-lt"/>
                <a:ea typeface="+mn-ea"/>
              </a:rPr>
              <a:t>Sno</a:t>
            </a:r>
            <a:r>
              <a:rPr kumimoji="0" lang="zh-CN" altLang="en-US" sz="2400" b="1" i="0" u="none" strike="noStrike" kern="0" cap="none" spc="0" normalizeH="0" baseline="0" noProof="0" dirty="0">
                <a:ln>
                  <a:noFill/>
                </a:ln>
                <a:solidFill>
                  <a:schemeClr val="tx1"/>
                </a:solidFill>
                <a:effectLst/>
                <a:uLnTx/>
                <a:uFillTx/>
                <a:latin typeface="+mn-lt"/>
                <a:ea typeface="+mn-ea"/>
              </a:rPr>
              <a:t>值通过</a:t>
            </a:r>
            <a:r>
              <a:rPr kumimoji="0" lang="en-US" altLang="zh-CN" sz="2400" b="1" i="0" u="none" strike="noStrike" kern="0" cap="none" spc="0" normalizeH="0" baseline="0" noProof="0" dirty="0">
                <a:ln>
                  <a:noFill/>
                </a:ln>
                <a:solidFill>
                  <a:schemeClr val="tx1"/>
                </a:solidFill>
                <a:effectLst/>
                <a:uLnTx/>
                <a:uFillTx/>
                <a:latin typeface="+mn-lt"/>
                <a:ea typeface="+mn-ea"/>
              </a:rPr>
              <a:t>SC</a:t>
            </a:r>
            <a:r>
              <a:rPr kumimoji="0" lang="zh-CN" altLang="en-US" sz="2400" b="1" i="0" u="none" strike="noStrike" kern="0" cap="none" spc="0" normalizeH="0" baseline="0" noProof="0" dirty="0">
                <a:ln>
                  <a:noFill/>
                </a:ln>
                <a:solidFill>
                  <a:schemeClr val="tx1"/>
                </a:solidFill>
                <a:effectLst/>
                <a:uLnTx/>
                <a:uFillTx/>
                <a:latin typeface="+mn-lt"/>
                <a:ea typeface="+mn-ea"/>
              </a:rPr>
              <a:t>的索引查找相应的</a:t>
            </a:r>
            <a:r>
              <a:rPr kumimoji="0" lang="en-US" altLang="zh-CN" sz="2400" b="1" i="0" u="none" strike="noStrike" kern="0" cap="none" spc="0" normalizeH="0" baseline="0" noProof="0" dirty="0">
                <a:ln>
                  <a:noFill/>
                </a:ln>
                <a:solidFill>
                  <a:schemeClr val="tx1"/>
                </a:solidFill>
                <a:effectLst/>
                <a:uLnTx/>
                <a:uFillTx/>
                <a:latin typeface="+mn-lt"/>
                <a:ea typeface="+mn-ea"/>
              </a:rPr>
              <a:t>SC</a:t>
            </a:r>
            <a:r>
              <a:rPr kumimoji="0" lang="zh-CN" altLang="en-US" sz="2400" b="1" i="0" u="none" strike="noStrike" kern="0" cap="none" spc="0" normalizeH="0" baseline="0" noProof="0" dirty="0">
                <a:ln>
                  <a:noFill/>
                </a:ln>
                <a:solidFill>
                  <a:schemeClr val="tx1"/>
                </a:solidFill>
                <a:effectLst/>
                <a:uLnTx/>
                <a:uFillTx/>
                <a:latin typeface="+mn-lt"/>
                <a:ea typeface="+mn-ea"/>
              </a:rPr>
              <a:t>元组。 </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rPr>
              <a:t>③ 把这些</a:t>
            </a:r>
            <a:r>
              <a:rPr kumimoji="0" lang="en-US" altLang="zh-CN" sz="2400" b="1" i="0" u="none" strike="noStrike" kern="0" cap="none" spc="0" normalizeH="0" baseline="0" noProof="0" dirty="0">
                <a:ln>
                  <a:noFill/>
                </a:ln>
                <a:solidFill>
                  <a:schemeClr val="tx1"/>
                </a:solidFill>
                <a:effectLst/>
                <a:uLnTx/>
                <a:uFillTx/>
                <a:latin typeface="+mn-lt"/>
                <a:ea typeface="+mn-ea"/>
              </a:rPr>
              <a:t>SC</a:t>
            </a:r>
            <a:r>
              <a:rPr kumimoji="0" lang="zh-CN" altLang="en-US" sz="2400" b="1" i="0" u="none" strike="noStrike" kern="0" cap="none" spc="0" normalizeH="0" baseline="0" noProof="0" dirty="0">
                <a:ln>
                  <a:noFill/>
                </a:ln>
                <a:solidFill>
                  <a:schemeClr val="tx1"/>
                </a:solidFill>
                <a:effectLst/>
                <a:uLnTx/>
                <a:uFillTx/>
                <a:latin typeface="+mn-lt"/>
                <a:ea typeface="+mn-ea"/>
              </a:rPr>
              <a:t>元组和</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元组连接起来   </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rPr>
              <a:t>循环执行②③，直到</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表中的元组处理完为止 </a:t>
            </a:r>
            <a:endParaRPr kumimoji="0" lang="en-US" altLang="zh-CN" sz="24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标题 1"/>
          <p:cNvSpPr>
            <a:spLocks noGrp="1"/>
          </p:cNvSpPr>
          <p:nvPr>
            <p:ph type="title"/>
          </p:nvPr>
        </p:nvSpPr>
        <p:spPr/>
        <p:txBody>
          <a:bodyPr vert="horz" wrap="square" lIns="91440" tIns="45720" rIns="91440" bIns="45720" anchor="ctr" anchorCtr="0"/>
          <a:p>
            <a:r>
              <a:rPr lang="zh-CN" altLang="zh-CN" sz="3600" dirty="0"/>
              <a:t>连接操作的实现（续）</a:t>
            </a:r>
            <a:endParaRPr lang="zh-CN" altLang="en-US" sz="3600" dirty="0"/>
          </a:p>
        </p:txBody>
      </p:sp>
      <p:sp>
        <p:nvSpPr>
          <p:cNvPr id="37891" name="内容占位符 2"/>
          <p:cNvSpPr>
            <a:spLocks noGrp="1"/>
          </p:cNvSpPr>
          <p:nvPr>
            <p:ph idx="1"/>
          </p:nvPr>
        </p:nvSpPr>
        <p:spPr>
          <a:xfrm>
            <a:off x="766763" y="1098550"/>
            <a:ext cx="10585450" cy="5095875"/>
          </a:xfrm>
        </p:spPr>
        <p:txBody>
          <a:bodyPr vert="horz" wrap="square" lIns="91440" tIns="45720" rIns="91440" bIns="45720" numCol="1" anchor="t" anchorCtr="0" compatLnSpc="1"/>
          <a:lstStyle/>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4</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Hash Join</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算法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zh-CN" sz="2400" b="1" i="0" u="none" strike="noStrike" kern="0" cap="none" spc="0" normalizeH="0" baseline="0" noProof="0" dirty="0">
                <a:ln>
                  <a:noFill/>
                </a:ln>
                <a:solidFill>
                  <a:schemeClr val="tx1"/>
                </a:solidFill>
                <a:effectLst/>
                <a:uLnTx/>
                <a:uFillTx/>
                <a:latin typeface="+mn-lt"/>
                <a:ea typeface="+mn-ea"/>
              </a:rPr>
              <a:t>把连接属性作为</a:t>
            </a:r>
            <a:r>
              <a:rPr kumimoji="0" lang="en-US" altLang="zh-CN" sz="2400" b="1" i="0" u="none" strike="noStrike" kern="0" cap="none" spc="0" normalizeH="0" baseline="0" noProof="0" dirty="0">
                <a:ln>
                  <a:noFill/>
                </a:ln>
                <a:solidFill>
                  <a:schemeClr val="tx1"/>
                </a:solidFill>
                <a:effectLst/>
                <a:uLnTx/>
                <a:uFillTx/>
                <a:latin typeface="+mn-lt"/>
                <a:ea typeface="+mn-ea"/>
              </a:rPr>
              <a:t>hash</a:t>
            </a:r>
            <a:r>
              <a:rPr kumimoji="0" lang="zh-CN" altLang="zh-CN" sz="2400" b="1" i="0" u="none" strike="noStrike" kern="0" cap="none" spc="0" normalizeH="0" baseline="0" noProof="0" dirty="0">
                <a:ln>
                  <a:noFill/>
                </a:ln>
                <a:solidFill>
                  <a:schemeClr val="tx1"/>
                </a:solidFill>
                <a:effectLst/>
                <a:uLnTx/>
                <a:uFillTx/>
                <a:latin typeface="+mn-lt"/>
                <a:ea typeface="+mn-ea"/>
              </a:rPr>
              <a:t>码，用同一个</a:t>
            </a:r>
            <a:r>
              <a:rPr kumimoji="0" lang="en-US" altLang="zh-CN" sz="2400" b="1" i="0" u="none" strike="noStrike" kern="0" cap="none" spc="0" normalizeH="0" baseline="0" noProof="0" dirty="0">
                <a:ln>
                  <a:noFill/>
                </a:ln>
                <a:solidFill>
                  <a:schemeClr val="tx1"/>
                </a:solidFill>
                <a:effectLst/>
                <a:uLnTx/>
                <a:uFillTx/>
                <a:latin typeface="+mn-lt"/>
                <a:ea typeface="+mn-ea"/>
              </a:rPr>
              <a:t>hash</a:t>
            </a:r>
            <a:r>
              <a:rPr kumimoji="0" lang="zh-CN" altLang="zh-CN" sz="2400" b="1" i="0" u="none" strike="noStrike" kern="0" cap="none" spc="0" normalizeH="0" baseline="0" noProof="0" dirty="0">
                <a:ln>
                  <a:noFill/>
                </a:ln>
                <a:solidFill>
                  <a:schemeClr val="tx1"/>
                </a:solidFill>
                <a:effectLst/>
                <a:uLnTx/>
                <a:uFillTx/>
                <a:latin typeface="+mn-lt"/>
                <a:ea typeface="+mn-ea"/>
              </a:rPr>
              <a:t>函数把</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zh-CN" sz="2400" b="1" i="0" u="none" strike="noStrike" kern="0" cap="none" spc="0" normalizeH="0" baseline="0" noProof="0" dirty="0">
                <a:ln>
                  <a:noFill/>
                </a:ln>
                <a:solidFill>
                  <a:schemeClr val="tx1"/>
                </a:solidFill>
                <a:effectLst/>
                <a:uLnTx/>
                <a:uFillTx/>
                <a:latin typeface="+mn-lt"/>
                <a:ea typeface="+mn-ea"/>
              </a:rPr>
              <a:t>表和</a:t>
            </a:r>
            <a:r>
              <a:rPr kumimoji="0" lang="en-US" altLang="zh-CN" sz="2400" b="1" i="0" u="none" strike="noStrike" kern="0" cap="none" spc="0" normalizeH="0" baseline="0" noProof="0" dirty="0">
                <a:ln>
                  <a:noFill/>
                </a:ln>
                <a:solidFill>
                  <a:schemeClr val="tx1"/>
                </a:solidFill>
                <a:effectLst/>
                <a:uLnTx/>
                <a:uFillTx/>
                <a:latin typeface="+mn-lt"/>
                <a:ea typeface="+mn-ea"/>
              </a:rPr>
              <a:t>SC</a:t>
            </a:r>
            <a:r>
              <a:rPr kumimoji="0" lang="zh-CN" altLang="zh-CN" sz="2400" b="1" i="0" u="none" strike="noStrike" kern="0" cap="none" spc="0" normalizeH="0" baseline="0" noProof="0" dirty="0">
                <a:ln>
                  <a:noFill/>
                </a:ln>
                <a:solidFill>
                  <a:schemeClr val="tx1"/>
                </a:solidFill>
                <a:effectLst/>
                <a:uLnTx/>
                <a:uFillTx/>
                <a:latin typeface="+mn-lt"/>
                <a:ea typeface="+mn-ea"/>
              </a:rPr>
              <a:t>表中的元组散列到</a:t>
            </a:r>
            <a:r>
              <a:rPr kumimoji="0" lang="en-US" altLang="zh-CN" sz="2400" b="1" i="0" u="none" strike="noStrike" kern="0" cap="none" spc="0" normalizeH="0" baseline="0" noProof="0" dirty="0">
                <a:ln>
                  <a:noFill/>
                </a:ln>
                <a:solidFill>
                  <a:schemeClr val="tx1"/>
                </a:solidFill>
                <a:effectLst/>
                <a:uLnTx/>
                <a:uFillTx/>
                <a:latin typeface="+mn-lt"/>
                <a:ea typeface="+mn-ea"/>
              </a:rPr>
              <a:t>hash</a:t>
            </a:r>
            <a:r>
              <a:rPr kumimoji="0" lang="zh-CN" altLang="zh-CN" sz="2400" b="1" i="0" u="none" strike="noStrike" kern="0" cap="none" spc="0" normalizeH="0" baseline="0" noProof="0" dirty="0">
                <a:ln>
                  <a:noFill/>
                </a:ln>
                <a:solidFill>
                  <a:schemeClr val="tx1"/>
                </a:solidFill>
                <a:effectLst/>
                <a:uLnTx/>
                <a:uFillTx/>
                <a:latin typeface="+mn-lt"/>
                <a:ea typeface="+mn-ea"/>
              </a:rPr>
              <a:t>表中。</a:t>
            </a:r>
            <a:endParaRPr kumimoji="0" lang="en-US" altLang="zh-CN"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划分阶段</a:t>
            </a:r>
            <a:r>
              <a:rPr kumimoji="0" lang="en-US" altLang="zh-CN" sz="2400" b="1" i="0" u="none" strike="noStrike" kern="0" cap="none" spc="0" normalizeH="0" baseline="0" noProof="0" dirty="0">
                <a:ln>
                  <a:noFill/>
                </a:ln>
                <a:solidFill>
                  <a:schemeClr val="tx1"/>
                </a:solidFill>
                <a:effectLst/>
                <a:uLnTx/>
                <a:uFillTx/>
                <a:latin typeface="+mn-lt"/>
                <a:ea typeface="+mn-ea"/>
              </a:rPr>
              <a:t>(building phase, </a:t>
            </a:r>
            <a:r>
              <a:rPr kumimoji="0" lang="zh-CN" altLang="en-US" sz="2400" b="1" i="0" u="none" strike="noStrike" kern="0" cap="none" spc="0" normalizeH="0" baseline="0" noProof="0" dirty="0">
                <a:ln>
                  <a:noFill/>
                </a:ln>
                <a:solidFill>
                  <a:schemeClr val="tx1"/>
                </a:solidFill>
                <a:effectLst/>
                <a:uLnTx/>
                <a:uFillTx/>
                <a:latin typeface="+mn-lt"/>
                <a:ea typeface="+mn-ea"/>
              </a:rPr>
              <a:t>也称为</a:t>
            </a:r>
            <a:r>
              <a:rPr kumimoji="0" lang="en-US" altLang="zh-CN" sz="2400" b="1" i="0" u="none" strike="noStrike" kern="0" cap="none" spc="0" normalizeH="0" baseline="0" noProof="0" dirty="0">
                <a:ln>
                  <a:noFill/>
                </a:ln>
                <a:solidFill>
                  <a:schemeClr val="tx1"/>
                </a:solidFill>
                <a:effectLst/>
                <a:uLnTx/>
                <a:uFillTx/>
                <a:latin typeface="+mn-lt"/>
                <a:ea typeface="+mn-ea"/>
              </a:rPr>
              <a:t>partitioning phase)</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75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对包含较少元组的表</a:t>
            </a:r>
            <a:r>
              <a:rPr kumimoji="0" lang="en-US" altLang="zh-CN" sz="2200" b="1" i="0" u="none" strike="noStrike" kern="0" cap="none" spc="0" normalizeH="0" baseline="0" noProof="0" dirty="0">
                <a:ln>
                  <a:noFill/>
                </a:ln>
                <a:solidFill>
                  <a:schemeClr val="tx1"/>
                </a:solidFill>
                <a:effectLst/>
                <a:uLnTx/>
                <a:uFillTx/>
                <a:latin typeface="+mn-lt"/>
                <a:ea typeface="+mn-ea"/>
              </a:rPr>
              <a:t>(</a:t>
            </a:r>
            <a:r>
              <a:rPr kumimoji="0" lang="zh-CN" altLang="en-US" sz="2200" b="1" i="0" u="none" strike="noStrike" kern="0" cap="none" spc="0" normalizeH="0" baseline="0" noProof="0" dirty="0">
                <a:ln>
                  <a:noFill/>
                </a:ln>
                <a:solidFill>
                  <a:schemeClr val="tx1"/>
                </a:solidFill>
                <a:effectLst/>
                <a:uLnTx/>
                <a:uFillTx/>
                <a:latin typeface="+mn-lt"/>
                <a:ea typeface="+mn-ea"/>
              </a:rPr>
              <a:t>如</a:t>
            </a:r>
            <a:r>
              <a:rPr kumimoji="0" lang="en-US" altLang="zh-CN" sz="2200" b="1" i="0" u="none" strike="noStrike" kern="0" cap="none" spc="0" normalizeH="0" baseline="0" noProof="0" dirty="0">
                <a:ln>
                  <a:noFill/>
                </a:ln>
                <a:solidFill>
                  <a:schemeClr val="tx1"/>
                </a:solidFill>
                <a:effectLst/>
                <a:uLnTx/>
                <a:uFillTx/>
                <a:latin typeface="+mn-lt"/>
                <a:ea typeface="+mn-ea"/>
              </a:rPr>
              <a:t>Student</a:t>
            </a:r>
            <a:r>
              <a:rPr kumimoji="0" lang="zh-CN" altLang="en-US" sz="2200" b="1" i="0" u="none" strike="noStrike" kern="0" cap="none" spc="0" normalizeH="0" baseline="0" noProof="0" dirty="0">
                <a:ln>
                  <a:noFill/>
                </a:ln>
                <a:solidFill>
                  <a:schemeClr val="tx1"/>
                </a:solidFill>
                <a:effectLst/>
                <a:uLnTx/>
                <a:uFillTx/>
                <a:latin typeface="+mn-lt"/>
                <a:ea typeface="+mn-ea"/>
              </a:rPr>
              <a:t>表</a:t>
            </a:r>
            <a:r>
              <a:rPr kumimoji="0" lang="en-US" altLang="zh-CN" sz="2200" b="1" i="0" u="none" strike="noStrike" kern="0" cap="none" spc="0" normalizeH="0" baseline="0" noProof="0" dirty="0">
                <a:ln>
                  <a:noFill/>
                </a:ln>
                <a:solidFill>
                  <a:schemeClr val="tx1"/>
                </a:solidFill>
                <a:effectLst/>
                <a:uLnTx/>
                <a:uFillTx/>
                <a:latin typeface="+mn-lt"/>
                <a:ea typeface="+mn-ea"/>
              </a:rPr>
              <a:t>)</a:t>
            </a:r>
            <a:r>
              <a:rPr kumimoji="0" lang="zh-CN" altLang="en-US" sz="2200" b="1" i="0" u="none" strike="noStrike" kern="0" cap="none" spc="0" normalizeH="0" baseline="0" noProof="0" dirty="0">
                <a:ln>
                  <a:noFill/>
                </a:ln>
                <a:solidFill>
                  <a:schemeClr val="tx1"/>
                </a:solidFill>
                <a:effectLst/>
                <a:uLnTx/>
                <a:uFillTx/>
                <a:latin typeface="+mn-lt"/>
                <a:ea typeface="+mn-ea"/>
              </a:rPr>
              <a:t>进行一遍处理</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75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把它的元组按</a:t>
            </a:r>
            <a:r>
              <a:rPr kumimoji="0" lang="en-US" altLang="zh-CN" sz="2200" b="1" i="0" u="none" strike="noStrike" kern="0" cap="none" spc="0" normalizeH="0" baseline="0" noProof="0" dirty="0">
                <a:ln>
                  <a:noFill/>
                </a:ln>
                <a:solidFill>
                  <a:schemeClr val="tx1"/>
                </a:solidFill>
                <a:effectLst/>
                <a:uLnTx/>
                <a:uFillTx/>
                <a:latin typeface="+mn-lt"/>
                <a:ea typeface="+mn-ea"/>
              </a:rPr>
              <a:t>hash</a:t>
            </a:r>
            <a:r>
              <a:rPr kumimoji="0" lang="zh-CN" altLang="en-US" sz="2200" b="1" i="0" u="none" strike="noStrike" kern="0" cap="none" spc="0" normalizeH="0" baseline="0" noProof="0" dirty="0">
                <a:ln>
                  <a:noFill/>
                </a:ln>
                <a:solidFill>
                  <a:schemeClr val="tx1"/>
                </a:solidFill>
                <a:effectLst/>
                <a:uLnTx/>
                <a:uFillTx/>
                <a:latin typeface="+mn-lt"/>
                <a:ea typeface="+mn-ea"/>
              </a:rPr>
              <a:t>函数分散到</a:t>
            </a:r>
            <a:r>
              <a:rPr kumimoji="0" lang="en-US" altLang="zh-CN" sz="2200" b="1" i="0" u="none" strike="noStrike" kern="0" cap="none" spc="0" normalizeH="0" baseline="0" noProof="0" dirty="0">
                <a:ln>
                  <a:noFill/>
                </a:ln>
                <a:solidFill>
                  <a:schemeClr val="tx1"/>
                </a:solidFill>
                <a:effectLst/>
                <a:uLnTx/>
                <a:uFillTx/>
                <a:latin typeface="+mn-lt"/>
                <a:ea typeface="+mn-ea"/>
              </a:rPr>
              <a:t>hash</a:t>
            </a:r>
            <a:r>
              <a:rPr kumimoji="0" lang="zh-CN" altLang="en-US" sz="2200" b="1" i="0" u="none" strike="noStrike" kern="0" cap="none" spc="0" normalizeH="0" baseline="0" noProof="0" dirty="0">
                <a:ln>
                  <a:noFill/>
                </a:ln>
                <a:solidFill>
                  <a:schemeClr val="tx1"/>
                </a:solidFill>
                <a:effectLst/>
                <a:uLnTx/>
                <a:uFillTx/>
                <a:latin typeface="+mn-lt"/>
                <a:ea typeface="+mn-ea"/>
              </a:rPr>
              <a:t>表的桶中</a:t>
            </a:r>
            <a:endParaRPr kumimoji="0" lang="en-US" altLang="zh-CN" sz="22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试探阶段</a:t>
            </a:r>
            <a:r>
              <a:rPr kumimoji="0" lang="en-US" altLang="zh-CN" sz="2400" b="1" i="0" u="none" strike="noStrike" kern="0" cap="none" spc="0" normalizeH="0" baseline="0" noProof="0" dirty="0">
                <a:ln>
                  <a:noFill/>
                </a:ln>
                <a:solidFill>
                  <a:schemeClr val="tx1"/>
                </a:solidFill>
                <a:effectLst/>
                <a:uLnTx/>
                <a:uFillTx/>
                <a:latin typeface="+mn-lt"/>
                <a:ea typeface="+mn-ea"/>
              </a:rPr>
              <a:t>(probing phase,</a:t>
            </a:r>
            <a:r>
              <a:rPr kumimoji="0" lang="zh-CN" altLang="en-US" sz="2400" b="1" i="0" u="none" strike="noStrike" kern="0" cap="none" spc="0" normalizeH="0" baseline="0" noProof="0" dirty="0">
                <a:ln>
                  <a:noFill/>
                </a:ln>
                <a:solidFill>
                  <a:schemeClr val="tx1"/>
                </a:solidFill>
                <a:effectLst/>
                <a:uLnTx/>
                <a:uFillTx/>
                <a:latin typeface="+mn-lt"/>
                <a:ea typeface="+mn-ea"/>
              </a:rPr>
              <a:t>也称为连接阶段</a:t>
            </a:r>
            <a:r>
              <a:rPr kumimoji="0" lang="en-US" altLang="zh-CN" sz="2400" b="1" i="0" u="none" strike="noStrike" kern="0" cap="none" spc="0" normalizeH="0" baseline="0" noProof="0" dirty="0">
                <a:ln>
                  <a:noFill/>
                </a:ln>
                <a:solidFill>
                  <a:schemeClr val="tx1"/>
                </a:solidFill>
                <a:effectLst/>
                <a:uLnTx/>
                <a:uFillTx/>
                <a:latin typeface="+mn-lt"/>
                <a:ea typeface="+mn-ea"/>
              </a:rPr>
              <a:t>join phase) </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75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对另一个表</a:t>
            </a:r>
            <a:r>
              <a:rPr kumimoji="0" lang="en-US" altLang="zh-CN" sz="2200" b="1" i="0" u="none" strike="noStrike" kern="0" cap="none" spc="0" normalizeH="0" baseline="0" noProof="0" dirty="0">
                <a:ln>
                  <a:noFill/>
                </a:ln>
                <a:solidFill>
                  <a:schemeClr val="tx1"/>
                </a:solidFill>
                <a:effectLst/>
                <a:uLnTx/>
                <a:uFillTx/>
                <a:latin typeface="+mn-lt"/>
                <a:ea typeface="+mn-ea"/>
              </a:rPr>
              <a:t>(SC</a:t>
            </a:r>
            <a:r>
              <a:rPr kumimoji="0" lang="zh-CN" altLang="en-US" sz="2200" b="1" i="0" u="none" strike="noStrike" kern="0" cap="none" spc="0" normalizeH="0" baseline="0" noProof="0" dirty="0">
                <a:ln>
                  <a:noFill/>
                </a:ln>
                <a:solidFill>
                  <a:schemeClr val="tx1"/>
                </a:solidFill>
                <a:effectLst/>
                <a:uLnTx/>
                <a:uFillTx/>
                <a:latin typeface="+mn-lt"/>
                <a:ea typeface="+mn-ea"/>
              </a:rPr>
              <a:t>表</a:t>
            </a:r>
            <a:r>
              <a:rPr kumimoji="0" lang="en-US" altLang="zh-CN" sz="2200" b="1" i="0" u="none" strike="noStrike" kern="0" cap="none" spc="0" normalizeH="0" baseline="0" noProof="0" dirty="0">
                <a:ln>
                  <a:noFill/>
                </a:ln>
                <a:solidFill>
                  <a:schemeClr val="tx1"/>
                </a:solidFill>
                <a:effectLst/>
                <a:uLnTx/>
                <a:uFillTx/>
                <a:latin typeface="+mn-lt"/>
                <a:ea typeface="+mn-ea"/>
              </a:rPr>
              <a:t>)</a:t>
            </a:r>
            <a:r>
              <a:rPr kumimoji="0" lang="zh-CN" altLang="en-US" sz="2200" b="1" i="0" u="none" strike="noStrike" kern="0" cap="none" spc="0" normalizeH="0" baseline="0" noProof="0" dirty="0">
                <a:ln>
                  <a:noFill/>
                </a:ln>
                <a:solidFill>
                  <a:schemeClr val="tx1"/>
                </a:solidFill>
                <a:effectLst/>
                <a:uLnTx/>
                <a:uFillTx/>
                <a:latin typeface="+mn-lt"/>
                <a:ea typeface="+mn-ea"/>
              </a:rPr>
              <a:t>进行一遍处理</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75000"/>
              <a:buFont typeface="Wingdings" panose="05000000000000000000" pitchFamily="2" charset="2"/>
              <a:buChar char="l"/>
              <a:defRPr/>
            </a:pPr>
            <a:r>
              <a:rPr kumimoji="0" lang="zh-CN" altLang="zh-CN" sz="2200" b="1" i="0" u="none" strike="noStrike" kern="0" cap="none" spc="0" normalizeH="0" baseline="0" noProof="0" dirty="0">
                <a:ln>
                  <a:noFill/>
                </a:ln>
                <a:solidFill>
                  <a:schemeClr val="tx1"/>
                </a:solidFill>
                <a:effectLst/>
                <a:uLnTx/>
                <a:uFillTx/>
                <a:latin typeface="+mn-lt"/>
                <a:ea typeface="+mn-ea"/>
              </a:rPr>
              <a:t>把</a:t>
            </a:r>
            <a:r>
              <a:rPr kumimoji="0" lang="en-US" altLang="zh-CN" sz="2200" b="1" i="0" u="none" strike="noStrike" kern="0" cap="none" spc="0" normalizeH="0" baseline="0" noProof="0" dirty="0">
                <a:ln>
                  <a:noFill/>
                </a:ln>
                <a:solidFill>
                  <a:schemeClr val="tx1"/>
                </a:solidFill>
                <a:effectLst/>
                <a:uLnTx/>
                <a:uFillTx/>
                <a:latin typeface="+mn-lt"/>
                <a:ea typeface="+mn-ea"/>
              </a:rPr>
              <a:t>SC</a:t>
            </a:r>
            <a:r>
              <a:rPr kumimoji="0" lang="zh-CN" altLang="zh-CN" sz="2200" b="1" i="0" u="none" strike="noStrike" kern="0" cap="none" spc="0" normalizeH="0" baseline="0" noProof="0" dirty="0">
                <a:ln>
                  <a:noFill/>
                </a:ln>
                <a:solidFill>
                  <a:schemeClr val="tx1"/>
                </a:solidFill>
                <a:effectLst/>
                <a:uLnTx/>
                <a:uFillTx/>
                <a:latin typeface="+mn-lt"/>
                <a:ea typeface="+mn-ea"/>
              </a:rPr>
              <a:t>表的元组也按同一个</a:t>
            </a:r>
            <a:r>
              <a:rPr kumimoji="0" lang="en-US" altLang="zh-CN" sz="2200" b="1" i="0" u="none" strike="noStrike" kern="0" cap="none" spc="0" normalizeH="0" baseline="0" noProof="0" dirty="0">
                <a:ln>
                  <a:noFill/>
                </a:ln>
                <a:solidFill>
                  <a:schemeClr val="tx1"/>
                </a:solidFill>
                <a:effectLst/>
                <a:uLnTx/>
                <a:uFillTx/>
                <a:latin typeface="+mn-lt"/>
                <a:ea typeface="+mn-ea"/>
              </a:rPr>
              <a:t>hash</a:t>
            </a:r>
            <a:r>
              <a:rPr kumimoji="0" lang="zh-CN" altLang="zh-CN" sz="2200" b="1" i="0" u="none" strike="noStrike" kern="0" cap="none" spc="0" normalizeH="0" baseline="0" noProof="0" dirty="0">
                <a:ln>
                  <a:noFill/>
                </a:ln>
                <a:solidFill>
                  <a:schemeClr val="tx1"/>
                </a:solidFill>
                <a:effectLst/>
                <a:uLnTx/>
                <a:uFillTx/>
                <a:latin typeface="+mn-lt"/>
                <a:ea typeface="+mn-ea"/>
              </a:rPr>
              <a:t>函数（</a:t>
            </a:r>
            <a:r>
              <a:rPr kumimoji="0" lang="en-US" altLang="zh-CN" sz="2200" b="1" i="0" u="none" strike="noStrike" kern="0" cap="none" spc="0" normalizeH="0" baseline="0" noProof="0" dirty="0">
                <a:ln>
                  <a:noFill/>
                </a:ln>
                <a:solidFill>
                  <a:schemeClr val="tx1"/>
                </a:solidFill>
                <a:effectLst/>
                <a:uLnTx/>
                <a:uFillTx/>
                <a:latin typeface="+mn-lt"/>
                <a:ea typeface="+mn-ea"/>
              </a:rPr>
              <a:t>hash</a:t>
            </a:r>
            <a:r>
              <a:rPr kumimoji="0" lang="zh-CN" altLang="zh-CN" sz="2200" b="1" i="0" u="none" strike="noStrike" kern="0" cap="none" spc="0" normalizeH="0" baseline="0" noProof="0" dirty="0">
                <a:ln>
                  <a:noFill/>
                </a:ln>
                <a:solidFill>
                  <a:schemeClr val="tx1"/>
                </a:solidFill>
                <a:effectLst/>
                <a:uLnTx/>
                <a:uFillTx/>
                <a:latin typeface="+mn-lt"/>
                <a:ea typeface="+mn-ea"/>
              </a:rPr>
              <a:t>码是连接属性）进行散列</a:t>
            </a:r>
            <a:endParaRPr kumimoji="0" lang="en-US" altLang="zh-CN" sz="22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75000"/>
              <a:buFont typeface="Wingdings" panose="05000000000000000000" pitchFamily="2" charset="2"/>
              <a:buChar char="l"/>
              <a:defRPr/>
            </a:pPr>
            <a:r>
              <a:rPr kumimoji="0" lang="zh-CN" altLang="zh-CN" sz="2200" b="1" i="0" u="none" strike="noStrike" kern="0" cap="none" spc="0" normalizeH="0" baseline="0" noProof="0" dirty="0">
                <a:ln>
                  <a:noFill/>
                </a:ln>
                <a:solidFill>
                  <a:schemeClr val="tx1"/>
                </a:solidFill>
                <a:effectLst/>
                <a:uLnTx/>
                <a:uFillTx/>
                <a:latin typeface="+mn-lt"/>
                <a:ea typeface="+mn-ea"/>
              </a:rPr>
              <a:t>把</a:t>
            </a:r>
            <a:r>
              <a:rPr kumimoji="0" lang="en-US" altLang="zh-CN" sz="2200" b="1" i="0" u="none" strike="noStrike" kern="0" cap="none" spc="0" normalizeH="0" baseline="0" noProof="0" dirty="0">
                <a:ln>
                  <a:noFill/>
                </a:ln>
                <a:solidFill>
                  <a:schemeClr val="tx1"/>
                </a:solidFill>
                <a:effectLst/>
                <a:uLnTx/>
                <a:uFillTx/>
                <a:latin typeface="+mn-lt"/>
                <a:ea typeface="+mn-ea"/>
              </a:rPr>
              <a:t>SC</a:t>
            </a:r>
            <a:r>
              <a:rPr kumimoji="0" lang="zh-CN" altLang="zh-CN" sz="2200" b="1" i="0" u="none" strike="noStrike" kern="0" cap="none" spc="0" normalizeH="0" baseline="0" noProof="0" dirty="0">
                <a:ln>
                  <a:noFill/>
                </a:ln>
                <a:solidFill>
                  <a:schemeClr val="tx1"/>
                </a:solidFill>
                <a:effectLst/>
                <a:uLnTx/>
                <a:uFillTx/>
                <a:latin typeface="+mn-lt"/>
                <a:ea typeface="+mn-ea"/>
              </a:rPr>
              <a:t>元组与桶中来自</a:t>
            </a:r>
            <a:r>
              <a:rPr kumimoji="0" lang="en-US" altLang="zh-CN" sz="2200" b="1" i="0" u="none" strike="noStrike" kern="0" cap="none" spc="0" normalizeH="0" baseline="0" noProof="0" dirty="0">
                <a:ln>
                  <a:noFill/>
                </a:ln>
                <a:solidFill>
                  <a:schemeClr val="tx1"/>
                </a:solidFill>
                <a:effectLst/>
                <a:uLnTx/>
                <a:uFillTx/>
                <a:latin typeface="+mn-lt"/>
                <a:ea typeface="+mn-ea"/>
              </a:rPr>
              <a:t>Student</a:t>
            </a:r>
            <a:r>
              <a:rPr kumimoji="0" lang="zh-CN" altLang="zh-CN" sz="2200" b="1" i="0" u="none" strike="noStrike" kern="0" cap="none" spc="0" normalizeH="0" baseline="0" noProof="0" dirty="0">
                <a:ln>
                  <a:noFill/>
                </a:ln>
                <a:solidFill>
                  <a:schemeClr val="tx1"/>
                </a:solidFill>
                <a:effectLst/>
                <a:uLnTx/>
                <a:uFillTx/>
                <a:latin typeface="+mn-lt"/>
                <a:ea typeface="+mn-ea"/>
              </a:rPr>
              <a:t>表并与之相匹配的元组连接起来</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75000"/>
              <a:buFont typeface="Arial" panose="020B0604020202020204" pitchFamily="34" charset="0"/>
              <a:buNone/>
              <a:defRPr/>
            </a:pP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1"/>
          <p:cNvSpPr>
            <a:spLocks noGrp="1"/>
          </p:cNvSpPr>
          <p:nvPr>
            <p:ph type="title"/>
          </p:nvPr>
        </p:nvSpPr>
        <p:spPr/>
        <p:txBody>
          <a:bodyPr vert="horz" wrap="square" lIns="91440" tIns="45720" rIns="91440" bIns="45720" anchor="ctr" anchorCtr="0"/>
          <a:p>
            <a:r>
              <a:rPr lang="zh-CN" altLang="zh-CN" sz="3600" dirty="0"/>
              <a:t>连接操作的实现（续）</a:t>
            </a:r>
            <a:endParaRPr lang="zh-CN" altLang="en-US" sz="3600" dirty="0"/>
          </a:p>
        </p:txBody>
      </p:sp>
      <p:sp>
        <p:nvSpPr>
          <p:cNvPr id="32771" name="内容占位符 2"/>
          <p:cNvSpPr>
            <a:spLocks noGrp="1"/>
          </p:cNvSpPr>
          <p:nvPr>
            <p:ph idx="1"/>
          </p:nvPr>
        </p:nvSpPr>
        <p:spPr>
          <a:xfrm>
            <a:off x="695325" y="1484313"/>
            <a:ext cx="10972800" cy="4854575"/>
          </a:xfrm>
        </p:spPr>
        <p:txBody>
          <a:bodyPr vert="horz" wrap="square" lIns="91440" tIns="45720" rIns="91440" bIns="45720" anchor="t" anchorCtr="0"/>
          <a:p>
            <a:pPr>
              <a:lnSpc>
                <a:spcPct val="120000"/>
              </a:lnSpc>
            </a:pPr>
            <a:r>
              <a:rPr lang="zh-CN" altLang="en-US" dirty="0"/>
              <a:t>上面</a:t>
            </a:r>
            <a:r>
              <a:rPr lang="en-US" altLang="zh-CN" dirty="0"/>
              <a:t>hash join</a:t>
            </a:r>
            <a:r>
              <a:rPr lang="zh-CN" altLang="en-US" dirty="0"/>
              <a:t>算法前提：假设两个表中较小的表在第一阶段后可以完全放入内存的</a:t>
            </a:r>
            <a:r>
              <a:rPr lang="en-US" altLang="zh-CN" dirty="0"/>
              <a:t>hash</a:t>
            </a:r>
            <a:r>
              <a:rPr lang="zh-CN" altLang="en-US" dirty="0"/>
              <a:t>桶中 </a:t>
            </a:r>
            <a:endParaRPr lang="en-US" altLang="zh-CN" dirty="0"/>
          </a:p>
          <a:p>
            <a:pPr>
              <a:lnSpc>
                <a:spcPct val="120000"/>
              </a:lnSpc>
            </a:pPr>
            <a:endParaRPr lang="en-US" altLang="zh-CN" dirty="0"/>
          </a:p>
          <a:p>
            <a:endParaRPr lang="zh-CN" altLang="en-US" dirty="0"/>
          </a:p>
          <a:p>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a:xfrm>
            <a:off x="2462213" y="260350"/>
            <a:ext cx="7391400" cy="422275"/>
          </a:xfrm>
        </p:spPr>
        <p:txBody>
          <a:bodyPr vert="horz" wrap="square" lIns="91440" tIns="45720" rIns="91440" bIns="45720" anchor="ctr" anchorCtr="0"/>
          <a:p>
            <a:pPr eaLnBrk="1" hangingPunct="1"/>
            <a:r>
              <a:rPr lang="zh-CN" altLang="en-US" dirty="0"/>
              <a:t>嵌套循环实例</a:t>
            </a:r>
            <a:endParaRPr lang="en-US" altLang="zh-CN" dirty="0"/>
          </a:p>
        </p:txBody>
      </p:sp>
      <p:sp>
        <p:nvSpPr>
          <p:cNvPr id="14339" name="Rectangle 3"/>
          <p:cNvSpPr>
            <a:spLocks noGrp="1"/>
          </p:cNvSpPr>
          <p:nvPr>
            <p:ph type="body" sz="half" idx="1"/>
          </p:nvPr>
        </p:nvSpPr>
        <p:spPr>
          <a:xfrm>
            <a:off x="1981200" y="1765300"/>
            <a:ext cx="7570788" cy="1038225"/>
          </a:xfrm>
        </p:spPr>
        <p:txBody>
          <a:bodyPr vert="horz" wrap="square" lIns="91440" tIns="45720" rIns="91440" bIns="45720" anchor="t" anchorCtr="0"/>
          <a:p>
            <a:pPr eaLnBrk="1" hangingPunct="1">
              <a:buClrTx/>
              <a:buSzPct val="100000"/>
              <a:buFont typeface="Wingdings" panose="05000000000000000000" pitchFamily="2" charset="2"/>
              <a:buNone/>
            </a:pPr>
            <a:r>
              <a:rPr lang="en-US" altLang="zh-CN" sz="2400" dirty="0"/>
              <a:t>[</a:t>
            </a:r>
            <a:r>
              <a:rPr lang="zh-CN" altLang="en-US" sz="2400" dirty="0">
                <a:ea typeface="黑体" panose="02010609060101010101" pitchFamily="49" charset="-122"/>
              </a:rPr>
              <a:t>例</a:t>
            </a:r>
            <a:r>
              <a:rPr lang="en-US" altLang="zh-CN" sz="2400" dirty="0"/>
              <a:t>]</a:t>
            </a:r>
            <a:r>
              <a:rPr lang="zh-CN" altLang="en-US" sz="2400" dirty="0"/>
              <a:t>关系</a:t>
            </a:r>
            <a:r>
              <a:rPr lang="en-US" altLang="zh-CN" sz="2400" i="1" dirty="0"/>
              <a:t>R</a:t>
            </a:r>
            <a:r>
              <a:rPr lang="zh-CN" altLang="en-US" sz="2400" dirty="0"/>
              <a:t>和关系</a:t>
            </a:r>
            <a:r>
              <a:rPr lang="en-US" altLang="zh-CN" sz="2400" i="1" dirty="0"/>
              <a:t>S</a:t>
            </a:r>
            <a:r>
              <a:rPr lang="en-US" altLang="zh-CN" sz="2400" dirty="0"/>
              <a:t> </a:t>
            </a:r>
            <a:r>
              <a:rPr lang="zh-CN" altLang="en-US" sz="2400" dirty="0"/>
              <a:t>如下所示：</a:t>
            </a:r>
            <a:endParaRPr lang="zh-CN" altLang="en-US" sz="2400" dirty="0"/>
          </a:p>
        </p:txBody>
      </p:sp>
      <p:graphicFrame>
        <p:nvGraphicFramePr>
          <p:cNvPr id="8" name="表格 7"/>
          <p:cNvGraphicFramePr>
            <a:graphicFrameLocks noGrp="1"/>
          </p:cNvGraphicFramePr>
          <p:nvPr/>
        </p:nvGraphicFramePr>
        <p:xfrm>
          <a:off x="2459038" y="2857500"/>
          <a:ext cx="2052320" cy="1676400"/>
        </p:xfrm>
        <a:graphic>
          <a:graphicData uri="http://schemas.openxmlformats.org/drawingml/2006/table">
            <a:tbl>
              <a:tblPr firstRow="1" bandRow="1">
                <a:tableStyleId>{5C22544A-7EE6-4342-B048-85BDC9FD1C3A}</a:tableStyleId>
              </a:tblPr>
              <a:tblGrid>
                <a:gridCol w="683895"/>
                <a:gridCol w="684530"/>
                <a:gridCol w="683895"/>
              </a:tblGrid>
              <a:tr h="335280">
                <a:tc>
                  <a:txBody>
                    <a:bodyPr/>
                    <a:lstStyle/>
                    <a:p>
                      <a:pPr algn="ctr"/>
                      <a:r>
                        <a:rPr lang="en-US" altLang="zh-CN" sz="1400" b="0" i="1" dirty="0">
                          <a:solidFill>
                            <a:schemeClr val="tx1"/>
                          </a:solidFill>
                          <a:latin typeface="Calibri" panose="020F0502020204030204" pitchFamily="34" charset="0"/>
                        </a:rPr>
                        <a:t>A</a:t>
                      </a:r>
                      <a:endParaRPr lang="zh-CN" altLang="en-US" sz="1400" b="0" i="1" dirty="0">
                        <a:solidFill>
                          <a:schemeClr val="tx1"/>
                        </a:solidFill>
                        <a:latin typeface="Calibri" panose="020F0502020204030204" pitchFamily="34" charset="0"/>
                      </a:endParaRPr>
                    </a:p>
                  </a:txBody>
                  <a:tcPr marL="91468" marR="91468" marT="34307" marB="3430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B</a:t>
                      </a:r>
                      <a:endParaRPr lang="zh-CN" altLang="en-US" sz="1400" b="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C</a:t>
                      </a:r>
                      <a:endParaRPr lang="zh-CN" altLang="en-US" sz="1400" b="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5280">
                <a:tc>
                  <a:txBody>
                    <a:bodyPr/>
                    <a:lstStyle/>
                    <a:p>
                      <a:pPr algn="ctr"/>
                      <a:r>
                        <a:rPr lang="en-US" altLang="zh-CN" sz="1400" i="1" dirty="0">
                          <a:solidFill>
                            <a:schemeClr val="tx1"/>
                          </a:solidFill>
                          <a:latin typeface="Calibri" panose="020F0502020204030204" pitchFamily="34" charset="0"/>
                        </a:rPr>
                        <a:t>a1</a:t>
                      </a:r>
                      <a:endParaRPr lang="zh-CN" altLang="en-US" sz="1400" i="1" dirty="0">
                        <a:solidFill>
                          <a:schemeClr val="tx1"/>
                        </a:solidFill>
                        <a:latin typeface="Calibri" panose="020F0502020204030204" pitchFamily="34" charset="0"/>
                      </a:endParaRPr>
                    </a:p>
                  </a:txBody>
                  <a:tcPr marL="91468" marR="91468" marT="34307" marB="3430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b1</a:t>
                      </a:r>
                      <a:endParaRPr lang="zh-CN" altLang="en-US" sz="140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5</a:t>
                      </a:r>
                      <a:endParaRPr lang="zh-CN" altLang="en-US" sz="140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5280">
                <a:tc>
                  <a:txBody>
                    <a:bodyPr/>
                    <a:lstStyle/>
                    <a:p>
                      <a:pPr algn="ctr"/>
                      <a:r>
                        <a:rPr lang="en-US" altLang="zh-CN" sz="1400" i="1" dirty="0">
                          <a:solidFill>
                            <a:schemeClr val="tx1"/>
                          </a:solidFill>
                          <a:latin typeface="Calibri" panose="020F0502020204030204" pitchFamily="34" charset="0"/>
                        </a:rPr>
                        <a:t>a1</a:t>
                      </a:r>
                      <a:endParaRPr lang="zh-CN" altLang="en-US" sz="1400" i="1" dirty="0">
                        <a:solidFill>
                          <a:schemeClr val="tx1"/>
                        </a:solidFill>
                        <a:latin typeface="Calibri" panose="020F0502020204030204" pitchFamily="34" charset="0"/>
                      </a:endParaRPr>
                    </a:p>
                  </a:txBody>
                  <a:tcPr marL="91468" marR="91468" marT="34307" marB="3430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b2</a:t>
                      </a:r>
                      <a:endParaRPr lang="zh-CN" altLang="en-US" sz="140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6</a:t>
                      </a:r>
                      <a:endParaRPr lang="zh-CN" altLang="en-US" sz="140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5280">
                <a:tc>
                  <a:txBody>
                    <a:bodyPr/>
                    <a:lstStyle/>
                    <a:p>
                      <a:pPr algn="ctr"/>
                      <a:r>
                        <a:rPr lang="en-US" altLang="zh-CN" sz="1400" i="1" dirty="0">
                          <a:solidFill>
                            <a:schemeClr val="tx1"/>
                          </a:solidFill>
                          <a:latin typeface="Calibri" panose="020F0502020204030204" pitchFamily="34" charset="0"/>
                        </a:rPr>
                        <a:t>a2</a:t>
                      </a:r>
                      <a:endParaRPr lang="zh-CN" altLang="en-US" sz="1400" i="1" dirty="0">
                        <a:solidFill>
                          <a:schemeClr val="tx1"/>
                        </a:solidFill>
                        <a:latin typeface="Calibri" panose="020F0502020204030204" pitchFamily="34" charset="0"/>
                      </a:endParaRPr>
                    </a:p>
                  </a:txBody>
                  <a:tcPr marL="91468" marR="91468" marT="34307" marB="3430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b3</a:t>
                      </a:r>
                      <a:endParaRPr lang="zh-CN" altLang="en-US" sz="140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8</a:t>
                      </a:r>
                      <a:endParaRPr lang="zh-CN" altLang="en-US" sz="140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5280">
                <a:tc>
                  <a:txBody>
                    <a:bodyPr/>
                    <a:lstStyle/>
                    <a:p>
                      <a:pPr algn="ctr"/>
                      <a:r>
                        <a:rPr lang="en-US" altLang="zh-CN" sz="1400" i="1" dirty="0">
                          <a:solidFill>
                            <a:schemeClr val="tx1"/>
                          </a:solidFill>
                          <a:latin typeface="Calibri" panose="020F0502020204030204" pitchFamily="34" charset="0"/>
                        </a:rPr>
                        <a:t>a3</a:t>
                      </a:r>
                      <a:endParaRPr lang="zh-CN" altLang="en-US" sz="1400" i="1" dirty="0">
                        <a:solidFill>
                          <a:schemeClr val="tx1"/>
                        </a:solidFill>
                        <a:latin typeface="Calibri" panose="020F0502020204030204" pitchFamily="34" charset="0"/>
                      </a:endParaRPr>
                    </a:p>
                  </a:txBody>
                  <a:tcPr marL="91468" marR="91468" marT="34307" marB="3430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b4</a:t>
                      </a:r>
                      <a:endParaRPr lang="zh-CN" altLang="en-US" sz="140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12</a:t>
                      </a:r>
                      <a:endParaRPr lang="zh-CN" altLang="en-US" sz="140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14361" name="TextBox 8"/>
          <p:cNvSpPr txBox="1"/>
          <p:nvPr/>
        </p:nvSpPr>
        <p:spPr>
          <a:xfrm>
            <a:off x="2711450" y="2479675"/>
            <a:ext cx="1223963" cy="3683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i="1" dirty="0">
                <a:latin typeface="Calibri" panose="020F0502020204030204" pitchFamily="34" charset="0"/>
              </a:rPr>
              <a:t>R</a:t>
            </a:r>
            <a:endParaRPr lang="zh-CN" altLang="en-US" sz="1800" b="0" i="1" dirty="0">
              <a:latin typeface="Calibri" panose="020F0502020204030204" pitchFamily="34" charset="0"/>
            </a:endParaRPr>
          </a:p>
        </p:txBody>
      </p:sp>
      <p:graphicFrame>
        <p:nvGraphicFramePr>
          <p:cNvPr id="11" name="表格 10"/>
          <p:cNvGraphicFramePr>
            <a:graphicFrameLocks noGrp="1"/>
          </p:cNvGraphicFramePr>
          <p:nvPr/>
        </p:nvGraphicFramePr>
        <p:xfrm>
          <a:off x="5808663" y="2641600"/>
          <a:ext cx="1655445" cy="2241552"/>
        </p:xfrm>
        <a:graphic>
          <a:graphicData uri="http://schemas.openxmlformats.org/drawingml/2006/table">
            <a:tbl>
              <a:tblPr firstRow="1" bandRow="1">
                <a:tableStyleId>{5C22544A-7EE6-4342-B048-85BDC9FD1C3A}</a:tableStyleId>
              </a:tblPr>
              <a:tblGrid>
                <a:gridCol w="828040"/>
                <a:gridCol w="827405"/>
              </a:tblGrid>
              <a:tr h="373592">
                <a:tc>
                  <a:txBody>
                    <a:bodyPr/>
                    <a:lstStyle/>
                    <a:p>
                      <a:pPr algn="ctr"/>
                      <a:r>
                        <a:rPr lang="en-US" altLang="zh-CN" sz="1400" b="0" i="1" dirty="0">
                          <a:solidFill>
                            <a:schemeClr val="tx1"/>
                          </a:solidFill>
                          <a:latin typeface="Calibri" panose="020F0502020204030204" pitchFamily="34" charset="0"/>
                        </a:rPr>
                        <a:t>B</a:t>
                      </a:r>
                      <a:endParaRPr lang="zh-CN" altLang="en-US" sz="1400" b="0" i="1" dirty="0">
                        <a:solidFill>
                          <a:schemeClr val="tx1"/>
                        </a:solidFill>
                        <a:latin typeface="Calibri" panose="020F0502020204030204" pitchFamily="34" charset="0"/>
                      </a:endParaRPr>
                    </a:p>
                  </a:txBody>
                  <a:tcPr marL="91427" marR="91427" marT="34298" marB="342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a:t>
                      </a:r>
                      <a:endParaRPr lang="zh-CN" altLang="en-US" sz="1400" b="0" i="1" dirty="0">
                        <a:solidFill>
                          <a:schemeClr val="tx1"/>
                        </a:solidFill>
                        <a:latin typeface="Calibri" panose="020F0502020204030204" pitchFamily="34" charset="0"/>
                      </a:endParaRPr>
                    </a:p>
                  </a:txBody>
                  <a:tcPr marL="91427" marR="91427" marT="34298" marB="34298">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3592">
                <a:tc>
                  <a:txBody>
                    <a:bodyPr/>
                    <a:lstStyle/>
                    <a:p>
                      <a:pPr algn="ctr"/>
                      <a:r>
                        <a:rPr lang="en-US" altLang="zh-CN" sz="1400" b="0" i="1" dirty="0">
                          <a:solidFill>
                            <a:schemeClr val="tx1"/>
                          </a:solidFill>
                          <a:latin typeface="Calibri" panose="020F0502020204030204" pitchFamily="34" charset="0"/>
                        </a:rPr>
                        <a:t>b1</a:t>
                      </a:r>
                      <a:endParaRPr lang="zh-CN" altLang="en-US" sz="1400" b="0" i="1" dirty="0">
                        <a:solidFill>
                          <a:schemeClr val="tx1"/>
                        </a:solidFill>
                        <a:latin typeface="Calibri" panose="020F0502020204030204" pitchFamily="34" charset="0"/>
                      </a:endParaRPr>
                    </a:p>
                  </a:txBody>
                  <a:tcPr marL="91427" marR="91427" marT="34298" marB="342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3</a:t>
                      </a:r>
                      <a:endParaRPr lang="zh-CN" altLang="en-US" sz="1400" b="0" i="1" dirty="0">
                        <a:solidFill>
                          <a:schemeClr val="tx1"/>
                        </a:solidFill>
                        <a:latin typeface="Calibri" panose="020F0502020204030204" pitchFamily="34" charset="0"/>
                      </a:endParaRPr>
                    </a:p>
                  </a:txBody>
                  <a:tcPr marL="91427" marR="91427" marT="34298" marB="34298">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3592">
                <a:tc>
                  <a:txBody>
                    <a:bodyPr/>
                    <a:lstStyle/>
                    <a:p>
                      <a:pPr algn="ctr"/>
                      <a:r>
                        <a:rPr lang="en-US" altLang="zh-CN" sz="1400" b="0" i="1" dirty="0">
                          <a:solidFill>
                            <a:schemeClr val="tx1"/>
                          </a:solidFill>
                          <a:latin typeface="Calibri" panose="020F0502020204030204" pitchFamily="34" charset="0"/>
                        </a:rPr>
                        <a:t>b2</a:t>
                      </a:r>
                      <a:endParaRPr lang="zh-CN" altLang="en-US" sz="1400" b="0" i="1" dirty="0">
                        <a:solidFill>
                          <a:schemeClr val="tx1"/>
                        </a:solidFill>
                        <a:latin typeface="Calibri" panose="020F0502020204030204" pitchFamily="34" charset="0"/>
                      </a:endParaRPr>
                    </a:p>
                  </a:txBody>
                  <a:tcPr marL="91427" marR="91427" marT="34298" marB="342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7</a:t>
                      </a:r>
                      <a:endParaRPr lang="zh-CN" altLang="en-US" sz="1400" b="0" i="1" dirty="0">
                        <a:solidFill>
                          <a:schemeClr val="tx1"/>
                        </a:solidFill>
                        <a:latin typeface="Calibri" panose="020F0502020204030204" pitchFamily="34" charset="0"/>
                      </a:endParaRPr>
                    </a:p>
                  </a:txBody>
                  <a:tcPr marL="91427" marR="91427" marT="34298" marB="34298">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3592">
                <a:tc>
                  <a:txBody>
                    <a:bodyPr/>
                    <a:lstStyle/>
                    <a:p>
                      <a:pPr algn="ctr"/>
                      <a:r>
                        <a:rPr lang="en-US" altLang="zh-CN" sz="1400" b="0" i="1" dirty="0">
                          <a:solidFill>
                            <a:schemeClr val="tx1"/>
                          </a:solidFill>
                          <a:latin typeface="Calibri" panose="020F0502020204030204" pitchFamily="34" charset="0"/>
                        </a:rPr>
                        <a:t>b3</a:t>
                      </a:r>
                      <a:endParaRPr lang="zh-CN" altLang="en-US" sz="1400" b="0" i="1" dirty="0">
                        <a:solidFill>
                          <a:schemeClr val="tx1"/>
                        </a:solidFill>
                        <a:latin typeface="Calibri" panose="020F0502020204030204" pitchFamily="34" charset="0"/>
                      </a:endParaRPr>
                    </a:p>
                  </a:txBody>
                  <a:tcPr marL="91427" marR="91427" marT="34298" marB="342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10</a:t>
                      </a:r>
                      <a:endParaRPr lang="zh-CN" altLang="en-US" sz="1400" b="0" i="1" dirty="0">
                        <a:solidFill>
                          <a:schemeClr val="tx1"/>
                        </a:solidFill>
                        <a:latin typeface="Calibri" panose="020F0502020204030204" pitchFamily="34" charset="0"/>
                      </a:endParaRPr>
                    </a:p>
                  </a:txBody>
                  <a:tcPr marL="91427" marR="91427" marT="34298" marB="34298">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3592">
                <a:tc>
                  <a:txBody>
                    <a:bodyPr/>
                    <a:lstStyle/>
                    <a:p>
                      <a:pPr algn="ctr"/>
                      <a:r>
                        <a:rPr lang="en-US" altLang="zh-CN" sz="1400" b="0" i="1" dirty="0">
                          <a:solidFill>
                            <a:schemeClr val="tx1"/>
                          </a:solidFill>
                          <a:latin typeface="Calibri" panose="020F0502020204030204" pitchFamily="34" charset="0"/>
                        </a:rPr>
                        <a:t>b3</a:t>
                      </a:r>
                      <a:endParaRPr lang="zh-CN" altLang="en-US" sz="1400" b="0" i="1" dirty="0">
                        <a:solidFill>
                          <a:schemeClr val="tx1"/>
                        </a:solidFill>
                        <a:latin typeface="Calibri" panose="020F0502020204030204" pitchFamily="34" charset="0"/>
                      </a:endParaRPr>
                    </a:p>
                  </a:txBody>
                  <a:tcPr marL="91427" marR="91427" marT="34298" marB="342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2</a:t>
                      </a:r>
                      <a:endParaRPr lang="zh-CN" altLang="en-US" sz="1400" b="0" i="1" dirty="0">
                        <a:solidFill>
                          <a:schemeClr val="tx1"/>
                        </a:solidFill>
                        <a:latin typeface="Calibri" panose="020F0502020204030204" pitchFamily="34" charset="0"/>
                      </a:endParaRPr>
                    </a:p>
                  </a:txBody>
                  <a:tcPr marL="91427" marR="91427" marT="34298" marB="34298">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3592">
                <a:tc>
                  <a:txBody>
                    <a:bodyPr/>
                    <a:lstStyle/>
                    <a:p>
                      <a:pPr algn="ctr"/>
                      <a:r>
                        <a:rPr lang="en-US" altLang="zh-CN" sz="1400" b="0" i="1" dirty="0">
                          <a:solidFill>
                            <a:schemeClr val="tx1"/>
                          </a:solidFill>
                          <a:latin typeface="Calibri" panose="020F0502020204030204" pitchFamily="34" charset="0"/>
                        </a:rPr>
                        <a:t>b5</a:t>
                      </a:r>
                      <a:endParaRPr lang="zh-CN" altLang="en-US" sz="1400" b="0" i="1" dirty="0">
                        <a:solidFill>
                          <a:schemeClr val="tx1"/>
                        </a:solidFill>
                        <a:latin typeface="Calibri" panose="020F0502020204030204" pitchFamily="34" charset="0"/>
                      </a:endParaRPr>
                    </a:p>
                  </a:txBody>
                  <a:tcPr marL="91427" marR="91427" marT="34298" marB="342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2</a:t>
                      </a:r>
                      <a:endParaRPr lang="zh-CN" altLang="en-US" sz="1400" b="0" i="1" dirty="0">
                        <a:solidFill>
                          <a:schemeClr val="tx1"/>
                        </a:solidFill>
                        <a:latin typeface="Calibri" panose="020F0502020204030204" pitchFamily="34" charset="0"/>
                      </a:endParaRPr>
                    </a:p>
                  </a:txBody>
                  <a:tcPr marL="91427" marR="91427" marT="34298" marB="34298">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14379" name="TextBox 11"/>
          <p:cNvSpPr txBox="1"/>
          <p:nvPr/>
        </p:nvSpPr>
        <p:spPr>
          <a:xfrm>
            <a:off x="6024563" y="2255838"/>
            <a:ext cx="1223962" cy="3683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i="1" dirty="0">
                <a:latin typeface="Calibri" panose="020F0502020204030204" pitchFamily="34" charset="0"/>
              </a:rPr>
              <a:t>S</a:t>
            </a:r>
            <a:endParaRPr lang="zh-CN" altLang="en-US" sz="1800" b="0" i="1" dirty="0">
              <a:latin typeface="Calibri" panose="020F0502020204030204" pitchFamily="34" charset="0"/>
            </a:endParaRPr>
          </a:p>
        </p:txBody>
      </p:sp>
      <p:pic>
        <p:nvPicPr>
          <p:cNvPr id="3" name="679E1622.wav">
            <a:hlinkClick r:id="" action="ppaction://media"/>
          </p:cNvPr>
          <p:cNvPicPr>
            <a:picLocks noChangeAspect="1"/>
          </p:cNvPicPr>
          <p:nvPr>
            <a:wavAudioFile r:embed="rId1"/>
          </p:nvPr>
        </p:nvPicPr>
        <p:blipFill>
          <a:blip r:embed="rId2"/>
          <a:stretch>
            <a:fillRect/>
          </a:stretch>
        </p:blipFill>
        <p:spPr>
          <a:xfrm>
            <a:off x="9842500" y="4918075"/>
            <a:ext cx="609600" cy="457200"/>
          </a:xfrm>
          <a:prstGeom prst="rect">
            <a:avLst/>
          </a:prstGeom>
          <a:noFill/>
          <a:ln w="9525">
            <a:noFill/>
          </a:ln>
        </p:spPr>
      </p:pic>
    </p:spTree>
  </p:cSld>
  <p:clrMapOvr>
    <a:masterClrMapping/>
  </p:clrMapOvr>
  <p:transition spd="slow" advTm="551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9" name="表格 48"/>
          <p:cNvGraphicFramePr>
            <a:graphicFrameLocks noGrp="1"/>
          </p:cNvGraphicFramePr>
          <p:nvPr/>
        </p:nvGraphicFramePr>
        <p:xfrm>
          <a:off x="4224338" y="2740025"/>
          <a:ext cx="1366520" cy="1946910"/>
        </p:xfrm>
        <a:graphic>
          <a:graphicData uri="http://schemas.openxmlformats.org/drawingml/2006/table">
            <a:tbl>
              <a:tblPr firstRow="1" bandRow="1">
                <a:tableStyleId>{5C22544A-7EE6-4342-B048-85BDC9FD1C3A}</a:tableStyleId>
              </a:tblPr>
              <a:tblGrid>
                <a:gridCol w="683260"/>
                <a:gridCol w="683260"/>
              </a:tblGrid>
              <a:tr h="324485">
                <a:tc>
                  <a:txBody>
                    <a:bodyPr/>
                    <a:lstStyle/>
                    <a:p>
                      <a:pPr algn="ctr"/>
                      <a:r>
                        <a:rPr lang="en-US" altLang="zh-CN" sz="1400" b="0" i="1" dirty="0">
                          <a:solidFill>
                            <a:schemeClr val="tx1"/>
                          </a:solidFill>
                          <a:latin typeface="Calibri" panose="020F0502020204030204" pitchFamily="34" charset="0"/>
                        </a:rPr>
                        <a:t>B</a:t>
                      </a:r>
                      <a:endParaRPr lang="zh-CN" altLang="en-US" sz="1400" b="0" i="1" dirty="0">
                        <a:solidFill>
                          <a:schemeClr val="tx1"/>
                        </a:solidFill>
                        <a:latin typeface="Calibri" panose="020F0502020204030204" pitchFamily="34" charset="0"/>
                      </a:endParaRPr>
                    </a:p>
                  </a:txBody>
                  <a:tcPr marL="91362" marR="91362" marT="34302" marB="34302">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a:t>
                      </a:r>
                      <a:endParaRPr lang="zh-CN" altLang="en-US" sz="1400" b="0" i="1" dirty="0">
                        <a:solidFill>
                          <a:schemeClr val="tx1"/>
                        </a:solidFill>
                        <a:latin typeface="Calibri" panose="020F0502020204030204" pitchFamily="34" charset="0"/>
                      </a:endParaRPr>
                    </a:p>
                  </a:txBody>
                  <a:tcPr marL="91362" marR="91362" marT="34302" marB="34302">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24485">
                <a:tc>
                  <a:txBody>
                    <a:bodyPr/>
                    <a:lstStyle/>
                    <a:p>
                      <a:pPr algn="ctr"/>
                      <a:r>
                        <a:rPr lang="en-US" altLang="zh-CN" sz="1400" b="0" i="1" dirty="0">
                          <a:solidFill>
                            <a:schemeClr val="tx1"/>
                          </a:solidFill>
                          <a:latin typeface="Calibri" panose="020F0502020204030204" pitchFamily="34" charset="0"/>
                        </a:rPr>
                        <a:t>b1</a:t>
                      </a:r>
                      <a:endParaRPr lang="zh-CN" altLang="en-US" sz="1400" b="0" i="1" dirty="0">
                        <a:solidFill>
                          <a:schemeClr val="tx1"/>
                        </a:solidFill>
                        <a:latin typeface="Calibri" panose="020F0502020204030204" pitchFamily="34" charset="0"/>
                      </a:endParaRPr>
                    </a:p>
                  </a:txBody>
                  <a:tcPr marL="91362" marR="91362" marT="34302" marB="34302">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3</a:t>
                      </a:r>
                      <a:endParaRPr lang="zh-CN" altLang="en-US" sz="1400" b="0" i="1" dirty="0">
                        <a:solidFill>
                          <a:schemeClr val="tx1"/>
                        </a:solidFill>
                        <a:latin typeface="Calibri" panose="020F0502020204030204" pitchFamily="34" charset="0"/>
                      </a:endParaRPr>
                    </a:p>
                  </a:txBody>
                  <a:tcPr marL="91362" marR="91362" marT="34302" marB="34302">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24485">
                <a:tc>
                  <a:txBody>
                    <a:bodyPr/>
                    <a:lstStyle/>
                    <a:p>
                      <a:pPr algn="ctr"/>
                      <a:r>
                        <a:rPr lang="en-US" altLang="zh-CN" sz="1400" b="0" i="1" dirty="0">
                          <a:solidFill>
                            <a:schemeClr val="tx1"/>
                          </a:solidFill>
                          <a:latin typeface="Calibri" panose="020F0502020204030204" pitchFamily="34" charset="0"/>
                        </a:rPr>
                        <a:t>b2</a:t>
                      </a:r>
                      <a:endParaRPr lang="zh-CN" altLang="en-US" sz="1400" b="0" i="1" dirty="0">
                        <a:solidFill>
                          <a:schemeClr val="tx1"/>
                        </a:solidFill>
                        <a:latin typeface="Calibri" panose="020F0502020204030204" pitchFamily="34" charset="0"/>
                      </a:endParaRPr>
                    </a:p>
                  </a:txBody>
                  <a:tcPr marL="91362" marR="91362" marT="34302" marB="34302">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7</a:t>
                      </a:r>
                      <a:endParaRPr lang="zh-CN" altLang="en-US" sz="1400" b="0" i="1" dirty="0">
                        <a:solidFill>
                          <a:schemeClr val="tx1"/>
                        </a:solidFill>
                        <a:latin typeface="Calibri" panose="020F0502020204030204" pitchFamily="34" charset="0"/>
                      </a:endParaRPr>
                    </a:p>
                  </a:txBody>
                  <a:tcPr marL="91362" marR="91362" marT="34302" marB="34302">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24485">
                <a:tc>
                  <a:txBody>
                    <a:bodyPr/>
                    <a:lstStyle/>
                    <a:p>
                      <a:pPr algn="ctr"/>
                      <a:r>
                        <a:rPr lang="en-US" altLang="zh-CN" sz="1400" b="0" i="1" dirty="0">
                          <a:solidFill>
                            <a:schemeClr val="tx1"/>
                          </a:solidFill>
                          <a:latin typeface="Calibri" panose="020F0502020204030204" pitchFamily="34" charset="0"/>
                        </a:rPr>
                        <a:t>b3</a:t>
                      </a:r>
                      <a:endParaRPr lang="zh-CN" altLang="en-US" sz="1400" b="0" i="1" dirty="0">
                        <a:solidFill>
                          <a:schemeClr val="tx1"/>
                        </a:solidFill>
                        <a:latin typeface="Calibri" panose="020F0502020204030204" pitchFamily="34" charset="0"/>
                      </a:endParaRPr>
                    </a:p>
                  </a:txBody>
                  <a:tcPr marL="91362" marR="91362" marT="34302" marB="34302">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10</a:t>
                      </a:r>
                      <a:endParaRPr lang="zh-CN" altLang="en-US" sz="1400" b="0" i="1" dirty="0">
                        <a:solidFill>
                          <a:schemeClr val="tx1"/>
                        </a:solidFill>
                        <a:latin typeface="Calibri" panose="020F0502020204030204" pitchFamily="34" charset="0"/>
                      </a:endParaRPr>
                    </a:p>
                  </a:txBody>
                  <a:tcPr marL="91362" marR="91362" marT="34302" marB="34302">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24485">
                <a:tc>
                  <a:txBody>
                    <a:bodyPr/>
                    <a:lstStyle/>
                    <a:p>
                      <a:pPr algn="ctr"/>
                      <a:r>
                        <a:rPr lang="en-US" altLang="zh-CN" sz="1400" b="0" i="1" dirty="0">
                          <a:solidFill>
                            <a:schemeClr val="tx1"/>
                          </a:solidFill>
                          <a:latin typeface="Calibri" panose="020F0502020204030204" pitchFamily="34" charset="0"/>
                        </a:rPr>
                        <a:t>b3</a:t>
                      </a:r>
                      <a:endParaRPr lang="zh-CN" altLang="en-US" sz="1400" b="0" i="1" dirty="0">
                        <a:solidFill>
                          <a:schemeClr val="tx1"/>
                        </a:solidFill>
                        <a:latin typeface="Calibri" panose="020F0502020204030204" pitchFamily="34" charset="0"/>
                      </a:endParaRPr>
                    </a:p>
                  </a:txBody>
                  <a:tcPr marL="91362" marR="91362" marT="34302" marB="34302">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2</a:t>
                      </a:r>
                      <a:endParaRPr lang="zh-CN" altLang="en-US" sz="1400" b="0" i="1" dirty="0">
                        <a:solidFill>
                          <a:schemeClr val="tx1"/>
                        </a:solidFill>
                        <a:latin typeface="Calibri" panose="020F0502020204030204" pitchFamily="34" charset="0"/>
                      </a:endParaRPr>
                    </a:p>
                  </a:txBody>
                  <a:tcPr marL="91362" marR="91362" marT="34302" marB="34302">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24485">
                <a:tc>
                  <a:txBody>
                    <a:bodyPr/>
                    <a:lstStyle/>
                    <a:p>
                      <a:pPr algn="ctr"/>
                      <a:r>
                        <a:rPr lang="en-US" altLang="zh-CN" sz="1400" b="0" i="1" dirty="0">
                          <a:solidFill>
                            <a:schemeClr val="tx1"/>
                          </a:solidFill>
                          <a:latin typeface="Calibri" panose="020F0502020204030204" pitchFamily="34" charset="0"/>
                        </a:rPr>
                        <a:t>b5</a:t>
                      </a:r>
                      <a:endParaRPr lang="zh-CN" altLang="en-US" sz="1400" b="0" i="1" dirty="0">
                        <a:solidFill>
                          <a:schemeClr val="tx1"/>
                        </a:solidFill>
                        <a:latin typeface="Calibri" panose="020F0502020204030204" pitchFamily="34" charset="0"/>
                      </a:endParaRPr>
                    </a:p>
                  </a:txBody>
                  <a:tcPr marL="91362" marR="91362" marT="34302" marB="34302">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2</a:t>
                      </a:r>
                      <a:endParaRPr lang="zh-CN" altLang="en-US" sz="1400" b="0" i="1" dirty="0">
                        <a:solidFill>
                          <a:schemeClr val="tx1"/>
                        </a:solidFill>
                        <a:latin typeface="Calibri" panose="020F0502020204030204" pitchFamily="34" charset="0"/>
                      </a:endParaRPr>
                    </a:p>
                  </a:txBody>
                  <a:tcPr marL="91362" marR="91362" marT="34302" marB="34302">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graphicFrame>
        <p:nvGraphicFramePr>
          <p:cNvPr id="51" name="表格 50"/>
          <p:cNvGraphicFramePr>
            <a:graphicFrameLocks noGrp="1"/>
          </p:cNvGraphicFramePr>
          <p:nvPr/>
        </p:nvGraphicFramePr>
        <p:xfrm>
          <a:off x="4224338" y="2740025"/>
          <a:ext cx="1366520" cy="1943100"/>
        </p:xfrm>
        <a:graphic>
          <a:graphicData uri="http://schemas.openxmlformats.org/drawingml/2006/table">
            <a:tbl>
              <a:tblPr firstRow="1" bandRow="1">
                <a:tableStyleId>{5C22544A-7EE6-4342-B048-85BDC9FD1C3A}</a:tableStyleId>
              </a:tblPr>
              <a:tblGrid>
                <a:gridCol w="683260"/>
                <a:gridCol w="683260"/>
              </a:tblGrid>
              <a:tr h="323850">
                <a:tc>
                  <a:txBody>
                    <a:bodyPr/>
                    <a:lstStyle/>
                    <a:p>
                      <a:pPr algn="ctr"/>
                      <a:r>
                        <a:rPr lang="en-US" altLang="zh-CN" sz="1400" b="0" i="1" dirty="0">
                          <a:solidFill>
                            <a:srgbClr val="FF0000"/>
                          </a:solidFill>
                          <a:latin typeface="Calibri" panose="020F0502020204030204" pitchFamily="34" charset="0"/>
                        </a:rPr>
                        <a:t>B</a:t>
                      </a:r>
                      <a:endParaRPr lang="zh-CN" altLang="en-US" sz="1400" b="0" i="1" dirty="0">
                        <a:solidFill>
                          <a:srgbClr val="FF0000"/>
                        </a:solidFill>
                        <a:latin typeface="Calibri" panose="020F0502020204030204" pitchFamily="34" charset="0"/>
                      </a:endParaRPr>
                    </a:p>
                  </a:txBody>
                  <a:tcPr marL="91362" marR="91362"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a:t>
                      </a:r>
                      <a:endParaRPr lang="zh-CN" altLang="en-US" sz="1400" b="0" i="1" dirty="0">
                        <a:solidFill>
                          <a:schemeClr val="tx1"/>
                        </a:solidFill>
                        <a:latin typeface="Calibri" panose="020F0502020204030204" pitchFamily="34" charset="0"/>
                      </a:endParaRPr>
                    </a:p>
                  </a:txBody>
                  <a:tcPr marL="91362" marR="91362"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23850">
                <a:tc>
                  <a:txBody>
                    <a:bodyPr/>
                    <a:lstStyle/>
                    <a:p>
                      <a:pPr algn="ctr"/>
                      <a:r>
                        <a:rPr lang="en-US" altLang="zh-CN" sz="1400" b="0" i="1" dirty="0">
                          <a:solidFill>
                            <a:srgbClr val="FF0000"/>
                          </a:solidFill>
                          <a:latin typeface="Calibri" panose="020F0502020204030204" pitchFamily="34" charset="0"/>
                        </a:rPr>
                        <a:t>b1</a:t>
                      </a:r>
                      <a:endParaRPr lang="zh-CN" altLang="en-US" sz="1400" b="0" i="1" dirty="0">
                        <a:solidFill>
                          <a:srgbClr val="FF0000"/>
                        </a:solidFill>
                        <a:latin typeface="Calibri" panose="020F0502020204030204" pitchFamily="34" charset="0"/>
                      </a:endParaRPr>
                    </a:p>
                  </a:txBody>
                  <a:tcPr marL="91362" marR="91362"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3</a:t>
                      </a:r>
                      <a:endParaRPr lang="zh-CN" altLang="en-US" sz="1400" b="0" i="1" dirty="0">
                        <a:solidFill>
                          <a:schemeClr val="tx1"/>
                        </a:solidFill>
                        <a:latin typeface="Calibri" panose="020F0502020204030204" pitchFamily="34" charset="0"/>
                      </a:endParaRPr>
                    </a:p>
                  </a:txBody>
                  <a:tcPr marL="91362" marR="91362"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23850">
                <a:tc>
                  <a:txBody>
                    <a:bodyPr/>
                    <a:lstStyle/>
                    <a:p>
                      <a:pPr algn="ctr"/>
                      <a:r>
                        <a:rPr lang="en-US" altLang="zh-CN" sz="1400" b="0" i="1" dirty="0">
                          <a:solidFill>
                            <a:srgbClr val="FF0000"/>
                          </a:solidFill>
                          <a:latin typeface="Calibri" panose="020F0502020204030204" pitchFamily="34" charset="0"/>
                        </a:rPr>
                        <a:t>b2</a:t>
                      </a:r>
                      <a:endParaRPr lang="zh-CN" altLang="en-US" sz="1400" b="0" i="1" dirty="0">
                        <a:solidFill>
                          <a:srgbClr val="FF0000"/>
                        </a:solidFill>
                        <a:latin typeface="Calibri" panose="020F0502020204030204" pitchFamily="34" charset="0"/>
                      </a:endParaRPr>
                    </a:p>
                  </a:txBody>
                  <a:tcPr marL="91362" marR="91362"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7</a:t>
                      </a:r>
                      <a:endParaRPr lang="zh-CN" altLang="en-US" sz="1400" b="0" i="1" dirty="0">
                        <a:solidFill>
                          <a:schemeClr val="tx1"/>
                        </a:solidFill>
                        <a:latin typeface="Calibri" panose="020F0502020204030204" pitchFamily="34" charset="0"/>
                      </a:endParaRPr>
                    </a:p>
                  </a:txBody>
                  <a:tcPr marL="91362" marR="91362"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23850">
                <a:tc>
                  <a:txBody>
                    <a:bodyPr/>
                    <a:lstStyle/>
                    <a:p>
                      <a:pPr algn="ctr"/>
                      <a:r>
                        <a:rPr lang="en-US" altLang="zh-CN" sz="1400" b="0" i="1" dirty="0">
                          <a:solidFill>
                            <a:srgbClr val="FF0000"/>
                          </a:solidFill>
                          <a:latin typeface="Calibri" panose="020F0502020204030204" pitchFamily="34" charset="0"/>
                        </a:rPr>
                        <a:t>b3</a:t>
                      </a:r>
                      <a:endParaRPr lang="zh-CN" altLang="en-US" sz="1400" b="0" i="1" dirty="0">
                        <a:solidFill>
                          <a:srgbClr val="FF0000"/>
                        </a:solidFill>
                        <a:latin typeface="Calibri" panose="020F0502020204030204" pitchFamily="34" charset="0"/>
                      </a:endParaRPr>
                    </a:p>
                  </a:txBody>
                  <a:tcPr marL="91362" marR="91362"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10</a:t>
                      </a:r>
                      <a:endParaRPr lang="zh-CN" altLang="en-US" sz="1400" b="0" i="1" dirty="0">
                        <a:solidFill>
                          <a:schemeClr val="tx1"/>
                        </a:solidFill>
                        <a:latin typeface="Calibri" panose="020F0502020204030204" pitchFamily="34" charset="0"/>
                      </a:endParaRPr>
                    </a:p>
                  </a:txBody>
                  <a:tcPr marL="91362" marR="91362"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23850">
                <a:tc>
                  <a:txBody>
                    <a:bodyPr/>
                    <a:lstStyle/>
                    <a:p>
                      <a:pPr algn="ctr"/>
                      <a:r>
                        <a:rPr lang="en-US" altLang="zh-CN" sz="1400" b="0" i="1" dirty="0">
                          <a:solidFill>
                            <a:srgbClr val="FF0000"/>
                          </a:solidFill>
                          <a:latin typeface="Calibri" panose="020F0502020204030204" pitchFamily="34" charset="0"/>
                        </a:rPr>
                        <a:t>b3</a:t>
                      </a:r>
                      <a:endParaRPr lang="zh-CN" altLang="en-US" sz="1400" b="0" i="1" dirty="0">
                        <a:solidFill>
                          <a:srgbClr val="FF0000"/>
                        </a:solidFill>
                        <a:latin typeface="Calibri" panose="020F0502020204030204" pitchFamily="34" charset="0"/>
                      </a:endParaRPr>
                    </a:p>
                  </a:txBody>
                  <a:tcPr marL="91362" marR="91362"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2</a:t>
                      </a:r>
                      <a:endParaRPr lang="zh-CN" altLang="en-US" sz="1400" b="0" i="1" dirty="0">
                        <a:solidFill>
                          <a:schemeClr val="tx1"/>
                        </a:solidFill>
                        <a:latin typeface="Calibri" panose="020F0502020204030204" pitchFamily="34" charset="0"/>
                      </a:endParaRPr>
                    </a:p>
                  </a:txBody>
                  <a:tcPr marL="91362" marR="91362"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23850">
                <a:tc>
                  <a:txBody>
                    <a:bodyPr/>
                    <a:lstStyle/>
                    <a:p>
                      <a:pPr algn="ctr"/>
                      <a:r>
                        <a:rPr lang="en-US" altLang="zh-CN" sz="1400" b="0" i="1" dirty="0">
                          <a:solidFill>
                            <a:srgbClr val="FF0000"/>
                          </a:solidFill>
                          <a:latin typeface="Calibri" panose="020F0502020204030204" pitchFamily="34" charset="0"/>
                        </a:rPr>
                        <a:t>b5</a:t>
                      </a:r>
                      <a:endParaRPr lang="zh-CN" altLang="en-US" sz="1400" b="0" i="1" dirty="0">
                        <a:solidFill>
                          <a:srgbClr val="FF0000"/>
                        </a:solidFill>
                        <a:latin typeface="Calibri" panose="020F0502020204030204" pitchFamily="34" charset="0"/>
                      </a:endParaRPr>
                    </a:p>
                  </a:txBody>
                  <a:tcPr marL="91362" marR="91362"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2</a:t>
                      </a:r>
                      <a:endParaRPr lang="zh-CN" altLang="en-US" sz="1400" b="0" i="1" dirty="0">
                        <a:solidFill>
                          <a:schemeClr val="tx1"/>
                        </a:solidFill>
                        <a:latin typeface="Calibri" panose="020F0502020204030204" pitchFamily="34" charset="0"/>
                      </a:endParaRPr>
                    </a:p>
                  </a:txBody>
                  <a:tcPr marL="91362" marR="91362"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graphicFrame>
        <p:nvGraphicFramePr>
          <p:cNvPr id="47" name="表格 46"/>
          <p:cNvGraphicFramePr>
            <a:graphicFrameLocks noGrp="1"/>
          </p:cNvGraphicFramePr>
          <p:nvPr/>
        </p:nvGraphicFramePr>
        <p:xfrm>
          <a:off x="1558925" y="2767013"/>
          <a:ext cx="1800225" cy="1430335"/>
        </p:xfrm>
        <a:graphic>
          <a:graphicData uri="http://schemas.openxmlformats.org/drawingml/2006/table">
            <a:tbl>
              <a:tblPr firstRow="1" bandRow="1">
                <a:tableStyleId>{5C22544A-7EE6-4342-B048-85BDC9FD1C3A}</a:tableStyleId>
              </a:tblPr>
              <a:tblGrid>
                <a:gridCol w="600075"/>
                <a:gridCol w="600075"/>
                <a:gridCol w="600075"/>
              </a:tblGrid>
              <a:tr h="286067">
                <a:tc>
                  <a:txBody>
                    <a:bodyPr/>
                    <a:lstStyle/>
                    <a:p>
                      <a:pPr algn="ctr"/>
                      <a:r>
                        <a:rPr lang="en-US" altLang="zh-CN" sz="1400" b="0" i="1" dirty="0">
                          <a:solidFill>
                            <a:schemeClr val="tx1"/>
                          </a:solidFill>
                          <a:latin typeface="Calibri" panose="020F0502020204030204" pitchFamily="34" charset="0"/>
                        </a:rPr>
                        <a:t>A</a:t>
                      </a:r>
                      <a:endParaRPr lang="zh-CN" altLang="en-US" sz="1400" b="0" i="1" dirty="0">
                        <a:solidFill>
                          <a:schemeClr val="tx1"/>
                        </a:solidFill>
                        <a:latin typeface="Calibri" panose="020F0502020204030204" pitchFamily="34" charset="0"/>
                      </a:endParaRPr>
                    </a:p>
                  </a:txBody>
                  <a:tcPr marL="91451" marR="91451"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rgbClr val="FF0000"/>
                          </a:solidFill>
                          <a:latin typeface="Calibri" panose="020F0502020204030204" pitchFamily="34" charset="0"/>
                        </a:rPr>
                        <a:t>B</a:t>
                      </a:r>
                      <a:endParaRPr lang="zh-CN" altLang="en-US" sz="1400" b="0" i="1" dirty="0">
                        <a:solidFill>
                          <a:srgbClr val="FF0000"/>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C</a:t>
                      </a:r>
                      <a:endParaRPr lang="zh-CN" altLang="en-US" sz="1400" b="0" i="1" dirty="0">
                        <a:solidFill>
                          <a:schemeClr val="tx1"/>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6067">
                <a:tc>
                  <a:txBody>
                    <a:bodyPr/>
                    <a:lstStyle/>
                    <a:p>
                      <a:pPr algn="ctr"/>
                      <a:r>
                        <a:rPr lang="en-US" altLang="zh-CN" sz="1400" i="1" dirty="0">
                          <a:solidFill>
                            <a:schemeClr val="tx1"/>
                          </a:solidFill>
                          <a:latin typeface="Calibri" panose="020F0502020204030204" pitchFamily="34" charset="0"/>
                        </a:rPr>
                        <a:t>a1</a:t>
                      </a:r>
                      <a:endParaRPr lang="zh-CN" altLang="en-US" sz="1400" i="1" dirty="0">
                        <a:solidFill>
                          <a:schemeClr val="tx1"/>
                        </a:solidFill>
                        <a:latin typeface="Calibri" panose="020F0502020204030204" pitchFamily="34" charset="0"/>
                      </a:endParaRPr>
                    </a:p>
                  </a:txBody>
                  <a:tcPr marL="91451" marR="91451"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rgbClr val="FF0000"/>
                          </a:solidFill>
                          <a:latin typeface="Calibri" panose="020F0502020204030204" pitchFamily="34" charset="0"/>
                        </a:rPr>
                        <a:t>b1</a:t>
                      </a:r>
                      <a:endParaRPr lang="zh-CN" altLang="en-US" sz="1400" i="1" dirty="0">
                        <a:solidFill>
                          <a:srgbClr val="FF0000"/>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5</a:t>
                      </a:r>
                      <a:endParaRPr lang="zh-CN" altLang="en-US" sz="1400" i="1" dirty="0">
                        <a:solidFill>
                          <a:schemeClr val="tx1"/>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6067">
                <a:tc>
                  <a:txBody>
                    <a:bodyPr/>
                    <a:lstStyle/>
                    <a:p>
                      <a:pPr algn="ctr"/>
                      <a:r>
                        <a:rPr lang="en-US" altLang="zh-CN" sz="1400" i="1" dirty="0">
                          <a:solidFill>
                            <a:schemeClr val="tx1"/>
                          </a:solidFill>
                          <a:latin typeface="Calibri" panose="020F0502020204030204" pitchFamily="34" charset="0"/>
                        </a:rPr>
                        <a:t>a1</a:t>
                      </a:r>
                      <a:endParaRPr lang="zh-CN" altLang="en-US" sz="1400" i="1" dirty="0">
                        <a:solidFill>
                          <a:schemeClr val="tx1"/>
                        </a:solidFill>
                        <a:latin typeface="Calibri" panose="020F0502020204030204" pitchFamily="34" charset="0"/>
                      </a:endParaRPr>
                    </a:p>
                  </a:txBody>
                  <a:tcPr marL="91451" marR="91451"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rgbClr val="FF0000"/>
                          </a:solidFill>
                          <a:latin typeface="Calibri" panose="020F0502020204030204" pitchFamily="34" charset="0"/>
                        </a:rPr>
                        <a:t>b2</a:t>
                      </a:r>
                      <a:endParaRPr lang="zh-CN" altLang="en-US" sz="1400" i="1" dirty="0">
                        <a:solidFill>
                          <a:srgbClr val="FF0000"/>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6</a:t>
                      </a:r>
                      <a:endParaRPr lang="zh-CN" altLang="en-US" sz="1400" i="1" dirty="0">
                        <a:solidFill>
                          <a:schemeClr val="tx1"/>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6067">
                <a:tc>
                  <a:txBody>
                    <a:bodyPr/>
                    <a:lstStyle/>
                    <a:p>
                      <a:pPr algn="ctr"/>
                      <a:r>
                        <a:rPr lang="en-US" altLang="zh-CN" sz="1400" i="1" dirty="0">
                          <a:solidFill>
                            <a:schemeClr val="tx1"/>
                          </a:solidFill>
                          <a:latin typeface="Calibri" panose="020F0502020204030204" pitchFamily="34" charset="0"/>
                        </a:rPr>
                        <a:t>a2</a:t>
                      </a:r>
                      <a:endParaRPr lang="zh-CN" altLang="en-US" sz="1400" i="1" dirty="0">
                        <a:solidFill>
                          <a:schemeClr val="tx1"/>
                        </a:solidFill>
                        <a:latin typeface="Calibri" panose="020F0502020204030204" pitchFamily="34" charset="0"/>
                      </a:endParaRPr>
                    </a:p>
                  </a:txBody>
                  <a:tcPr marL="91451" marR="91451"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rgbClr val="FF0000"/>
                          </a:solidFill>
                          <a:latin typeface="Calibri" panose="020F0502020204030204" pitchFamily="34" charset="0"/>
                        </a:rPr>
                        <a:t>b3</a:t>
                      </a:r>
                      <a:endParaRPr lang="zh-CN" altLang="en-US" sz="1400" i="1" dirty="0">
                        <a:solidFill>
                          <a:srgbClr val="FF0000"/>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8</a:t>
                      </a:r>
                      <a:endParaRPr lang="zh-CN" altLang="en-US" sz="1400" i="1" dirty="0">
                        <a:solidFill>
                          <a:schemeClr val="tx1"/>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6067">
                <a:tc>
                  <a:txBody>
                    <a:bodyPr/>
                    <a:lstStyle/>
                    <a:p>
                      <a:pPr algn="ctr"/>
                      <a:r>
                        <a:rPr lang="en-US" altLang="zh-CN" sz="1400" i="1" dirty="0">
                          <a:solidFill>
                            <a:schemeClr val="tx1"/>
                          </a:solidFill>
                          <a:latin typeface="Calibri" panose="020F0502020204030204" pitchFamily="34" charset="0"/>
                        </a:rPr>
                        <a:t>a3</a:t>
                      </a:r>
                      <a:endParaRPr lang="zh-CN" altLang="en-US" sz="1400" i="1" dirty="0">
                        <a:solidFill>
                          <a:schemeClr val="tx1"/>
                        </a:solidFill>
                        <a:latin typeface="Calibri" panose="020F0502020204030204" pitchFamily="34" charset="0"/>
                      </a:endParaRPr>
                    </a:p>
                  </a:txBody>
                  <a:tcPr marL="91451" marR="91451"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rgbClr val="FF0000"/>
                          </a:solidFill>
                          <a:latin typeface="Calibri" panose="020F0502020204030204" pitchFamily="34" charset="0"/>
                        </a:rPr>
                        <a:t>b4</a:t>
                      </a:r>
                      <a:endParaRPr lang="zh-CN" altLang="en-US" sz="1400" i="1" dirty="0">
                        <a:solidFill>
                          <a:srgbClr val="FF0000"/>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12</a:t>
                      </a:r>
                      <a:endParaRPr lang="zh-CN" altLang="en-US" sz="1400" i="1" dirty="0">
                        <a:solidFill>
                          <a:schemeClr val="tx1"/>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16440" name="TextBox 41"/>
          <p:cNvSpPr txBox="1"/>
          <p:nvPr/>
        </p:nvSpPr>
        <p:spPr>
          <a:xfrm>
            <a:off x="1774825" y="2416175"/>
            <a:ext cx="1225550" cy="3683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i="1" dirty="0">
                <a:latin typeface="Calibri" panose="020F0502020204030204" pitchFamily="34" charset="0"/>
              </a:rPr>
              <a:t>R</a:t>
            </a:r>
            <a:endParaRPr lang="zh-CN" altLang="en-US" sz="1800" b="0" i="1" dirty="0">
              <a:latin typeface="Calibri" panose="020F0502020204030204" pitchFamily="34" charset="0"/>
            </a:endParaRPr>
          </a:p>
        </p:txBody>
      </p:sp>
      <p:graphicFrame>
        <p:nvGraphicFramePr>
          <p:cNvPr id="16441" name="Object 1024"/>
          <p:cNvGraphicFramePr>
            <a:graphicFrameLocks noChangeAspect="1"/>
          </p:cNvGraphicFramePr>
          <p:nvPr/>
        </p:nvGraphicFramePr>
        <p:xfrm>
          <a:off x="6750050" y="2635250"/>
          <a:ext cx="3917950" cy="1754188"/>
        </p:xfrm>
        <a:graphic>
          <a:graphicData uri="http://schemas.openxmlformats.org/presentationml/2006/ole">
            <mc:AlternateContent xmlns:mc="http://schemas.openxmlformats.org/markup-compatibility/2006">
              <mc:Choice xmlns:v="urn:schemas-microsoft-com:vml" Requires="v">
                <p:oleObj spid="_x0000_s3076" name="" r:id="rId1" imgW="5080000" imgH="3035300" progId="Photoshop.Image.7">
                  <p:embed/>
                </p:oleObj>
              </mc:Choice>
              <mc:Fallback>
                <p:oleObj name="" r:id="rId1" imgW="5080000" imgH="3035300" progId="Photoshop.Image.7">
                  <p:embed/>
                  <p:pic>
                    <p:nvPicPr>
                      <p:cNvPr id="0" name="图片 3075"/>
                      <p:cNvPicPr/>
                      <p:nvPr/>
                    </p:nvPicPr>
                    <p:blipFill>
                      <a:blip r:embed="rId2"/>
                      <a:stretch>
                        <a:fillRect/>
                      </a:stretch>
                    </p:blipFill>
                    <p:spPr>
                      <a:xfrm>
                        <a:off x="6750050" y="2635250"/>
                        <a:ext cx="3917950" cy="1754188"/>
                      </a:xfrm>
                      <a:prstGeom prst="rect">
                        <a:avLst/>
                      </a:prstGeom>
                      <a:noFill/>
                      <a:ln w="38100">
                        <a:noFill/>
                        <a:miter/>
                      </a:ln>
                    </p:spPr>
                  </p:pic>
                </p:oleObj>
              </mc:Fallback>
            </mc:AlternateContent>
          </a:graphicData>
        </a:graphic>
      </p:graphicFrame>
      <p:sp>
        <p:nvSpPr>
          <p:cNvPr id="16442" name="Rectangle 2"/>
          <p:cNvSpPr>
            <a:spLocks noGrp="1"/>
          </p:cNvSpPr>
          <p:nvPr>
            <p:ph type="title"/>
          </p:nvPr>
        </p:nvSpPr>
        <p:spPr>
          <a:xfrm>
            <a:off x="2430463" y="241300"/>
            <a:ext cx="7391400" cy="422275"/>
          </a:xfrm>
        </p:spPr>
        <p:txBody>
          <a:bodyPr vert="horz" wrap="square" lIns="91440" tIns="45720" rIns="91440" bIns="45720" anchor="ctr" anchorCtr="0"/>
          <a:p>
            <a:r>
              <a:rPr lang="zh-CN" altLang="en-US" dirty="0"/>
              <a:t>嵌套循环连接</a:t>
            </a:r>
            <a:endParaRPr lang="en-US" altLang="zh-CN" dirty="0"/>
          </a:p>
        </p:txBody>
      </p:sp>
      <p:sp>
        <p:nvSpPr>
          <p:cNvPr id="16443" name="Rectangle 3"/>
          <p:cNvSpPr>
            <a:spLocks noGrp="1"/>
          </p:cNvSpPr>
          <p:nvPr>
            <p:ph type="body" sz="half" idx="1"/>
          </p:nvPr>
        </p:nvSpPr>
        <p:spPr>
          <a:xfrm>
            <a:off x="3636963" y="1755775"/>
            <a:ext cx="8147050" cy="606425"/>
          </a:xfrm>
        </p:spPr>
        <p:txBody>
          <a:bodyPr vert="horz" wrap="square" lIns="91440" tIns="45720" rIns="91440" bIns="45720" anchor="t" anchorCtr="0"/>
          <a:p>
            <a:pPr algn="just" eaLnBrk="1" hangingPunct="1">
              <a:buClrTx/>
              <a:buSzPct val="100000"/>
              <a:buFont typeface="Wingdings" panose="05000000000000000000" pitchFamily="2" charset="2"/>
              <a:buNone/>
            </a:pPr>
            <a:r>
              <a:rPr lang="en-US" altLang="zh-CN" dirty="0"/>
              <a:t>   </a:t>
            </a:r>
            <a:r>
              <a:rPr lang="zh-CN" altLang="en-US" dirty="0"/>
              <a:t>等值连接 </a:t>
            </a:r>
            <a:r>
              <a:rPr lang="en-US" altLang="zh-CN" i="1" dirty="0"/>
              <a:t>R</a:t>
            </a:r>
            <a:r>
              <a:rPr lang="en-US" altLang="zh-CN" dirty="0"/>
              <a:t> </a:t>
            </a:r>
            <a:r>
              <a:rPr lang="en-US" altLang="zh-CN" i="1" dirty="0"/>
              <a:t>     S </a:t>
            </a:r>
            <a:r>
              <a:rPr lang="zh-CN" altLang="en-US" dirty="0"/>
              <a:t>的结果如下：</a:t>
            </a:r>
            <a:endParaRPr lang="zh-CN" altLang="en-US" dirty="0"/>
          </a:p>
        </p:txBody>
      </p:sp>
      <p:grpSp>
        <p:nvGrpSpPr>
          <p:cNvPr id="16444" name="Group 4"/>
          <p:cNvGrpSpPr/>
          <p:nvPr/>
        </p:nvGrpSpPr>
        <p:grpSpPr>
          <a:xfrm>
            <a:off x="5676900" y="1335088"/>
            <a:ext cx="1066800" cy="1085850"/>
            <a:chOff x="3360" y="816"/>
            <a:chExt cx="672" cy="912"/>
          </a:xfrm>
        </p:grpSpPr>
        <p:sp>
          <p:nvSpPr>
            <p:cNvPr id="16471" name="Rectangle 5"/>
            <p:cNvSpPr/>
            <p:nvPr/>
          </p:nvSpPr>
          <p:spPr>
            <a:xfrm>
              <a:off x="3408" y="1344"/>
              <a:ext cx="624" cy="384"/>
            </a:xfrm>
            <a:prstGeom prst="rect">
              <a:avLst/>
            </a:prstGeom>
            <a:noFill/>
            <a:ln w="9525">
              <a:noFill/>
            </a:ln>
          </p:spPr>
          <p:txBody>
            <a:bodyPr wrap="none" lIns="90000" tIns="46800" rIns="90000" bIns="46800"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nSpc>
                  <a:spcPct val="80000"/>
                </a:lnSpc>
                <a:spcBef>
                  <a:spcPct val="0"/>
                </a:spcBef>
                <a:buSzTx/>
                <a:buFont typeface="Arial" panose="020B0604020202020204" pitchFamily="34" charset="0"/>
                <a:buNone/>
              </a:pPr>
              <a:r>
                <a:rPr lang="en-US" altLang="zh-CN" sz="1600" i="1" dirty="0">
                  <a:latin typeface="Times New Roman" panose="02020603050405020304" charset="0"/>
                </a:rPr>
                <a:t>R.B=S.B</a:t>
              </a:r>
              <a:endParaRPr lang="en-US" altLang="zh-CN" sz="2400" dirty="0">
                <a:latin typeface="Times New Roman" panose="02020603050405020304" charset="0"/>
              </a:endParaRPr>
            </a:p>
          </p:txBody>
        </p:sp>
        <p:grpSp>
          <p:nvGrpSpPr>
            <p:cNvPr id="16472" name="Group 6"/>
            <p:cNvGrpSpPr/>
            <p:nvPr/>
          </p:nvGrpSpPr>
          <p:grpSpPr>
            <a:xfrm rot="10800000">
              <a:off x="3360" y="816"/>
              <a:ext cx="624" cy="576"/>
              <a:chOff x="6431" y="11824"/>
              <a:chExt cx="705" cy="367"/>
            </a:xfrm>
          </p:grpSpPr>
          <p:sp>
            <p:nvSpPr>
              <p:cNvPr id="16473" name="AutoShape 7"/>
              <p:cNvSpPr/>
              <p:nvPr/>
            </p:nvSpPr>
            <p:spPr>
              <a:xfrm rot="5400000" flipV="1">
                <a:off x="6793" y="11792"/>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latin typeface="Times New Roman" panose="02020603050405020304" charset="0"/>
                </a:endParaRPr>
              </a:p>
            </p:txBody>
          </p:sp>
          <p:sp>
            <p:nvSpPr>
              <p:cNvPr id="16474" name="Text Box 8"/>
              <p:cNvSpPr txBox="1"/>
              <p:nvPr/>
            </p:nvSpPr>
            <p:spPr>
              <a:xfrm flipV="1">
                <a:off x="6431" y="11828"/>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spcBef>
                    <a:spcPct val="0"/>
                  </a:spcBef>
                  <a:buSzTx/>
                  <a:buFont typeface="Arial" panose="020B0604020202020204" pitchFamily="34" charset="0"/>
                  <a:buNone/>
                </a:pPr>
                <a:r>
                  <a:rPr lang="en-US" altLang="zh-CN" sz="600" b="0" i="1" dirty="0">
                    <a:latin typeface="Times New Roman" panose="02020603050405020304" charset="0"/>
                  </a:rPr>
                  <a:t> </a:t>
                </a:r>
                <a:endParaRPr lang="en-US" altLang="zh-CN" sz="2400" b="0" dirty="0">
                  <a:latin typeface="Times New Roman" panose="02020603050405020304" charset="0"/>
                </a:endParaRPr>
              </a:p>
            </p:txBody>
          </p:sp>
        </p:grpSp>
      </p:grpSp>
      <p:cxnSp>
        <p:nvCxnSpPr>
          <p:cNvPr id="16" name="直接箭头连接符 15"/>
          <p:cNvCxnSpPr/>
          <p:nvPr/>
        </p:nvCxnSpPr>
        <p:spPr>
          <a:xfrm>
            <a:off x="2566988" y="3224213"/>
            <a:ext cx="900112" cy="0"/>
          </a:xfrm>
          <a:prstGeom prst="straightConnector1">
            <a:avLst/>
          </a:prstGeom>
          <a:ln w="25400" cap="flat" cmpd="sng">
            <a:solidFill>
              <a:srgbClr val="FF0000"/>
            </a:solidFill>
            <a:prstDash val="solid"/>
            <a:headEnd type="none" w="med" len="med"/>
            <a:tailEnd type="arrow" w="med" len="med"/>
          </a:ln>
        </p:spPr>
      </p:cxnSp>
      <p:grpSp>
        <p:nvGrpSpPr>
          <p:cNvPr id="40" name="组合 39"/>
          <p:cNvGrpSpPr/>
          <p:nvPr/>
        </p:nvGrpSpPr>
        <p:grpSpPr>
          <a:xfrm>
            <a:off x="5375275" y="3170238"/>
            <a:ext cx="4935538" cy="214312"/>
            <a:chOff x="3851920" y="3714750"/>
            <a:chExt cx="4934893" cy="285750"/>
          </a:xfrm>
        </p:grpSpPr>
        <p:cxnSp>
          <p:nvCxnSpPr>
            <p:cNvPr id="16469" name="直接箭头连接符 20"/>
            <p:cNvCxnSpPr/>
            <p:nvPr/>
          </p:nvCxnSpPr>
          <p:spPr>
            <a:xfrm>
              <a:off x="3851920" y="3861048"/>
              <a:ext cx="1500187" cy="1588"/>
            </a:xfrm>
            <a:prstGeom prst="straightConnector1">
              <a:avLst/>
            </a:prstGeom>
            <a:ln w="25400" cap="flat" cmpd="sng">
              <a:solidFill>
                <a:srgbClr val="FF0000"/>
              </a:solidFill>
              <a:prstDash val="solid"/>
              <a:headEnd type="none" w="med" len="med"/>
              <a:tailEnd type="arrow" w="med" len="med"/>
            </a:ln>
          </p:spPr>
        </p:cxnSp>
        <p:sp>
          <p:nvSpPr>
            <p:cNvPr id="16470" name="圆角矩形 130"/>
            <p:cNvSpPr/>
            <p:nvPr/>
          </p:nvSpPr>
          <p:spPr>
            <a:xfrm>
              <a:off x="5429250" y="3714750"/>
              <a:ext cx="3357563" cy="285750"/>
            </a:xfrm>
            <a:prstGeom prst="roundRect">
              <a:avLst>
                <a:gd name="adj" fmla="val 16667"/>
              </a:avLst>
            </a:prstGeom>
            <a:noFill/>
            <a:ln w="127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endParaRPr lang="zh-CN" altLang="en-US" sz="1800" dirty="0">
                <a:latin typeface="Times New Roman" panose="02020603050405020304" charset="0"/>
              </a:endParaRPr>
            </a:p>
          </p:txBody>
        </p:sp>
      </p:grpSp>
      <p:grpSp>
        <p:nvGrpSpPr>
          <p:cNvPr id="41" name="组合 40"/>
          <p:cNvGrpSpPr/>
          <p:nvPr/>
        </p:nvGrpSpPr>
        <p:grpSpPr>
          <a:xfrm>
            <a:off x="5375275" y="3441700"/>
            <a:ext cx="4935538" cy="214313"/>
            <a:chOff x="3851920" y="4077072"/>
            <a:chExt cx="4934893" cy="285750"/>
          </a:xfrm>
        </p:grpSpPr>
        <p:cxnSp>
          <p:nvCxnSpPr>
            <p:cNvPr id="16467" name="直接箭头连接符 37"/>
            <p:cNvCxnSpPr/>
            <p:nvPr/>
          </p:nvCxnSpPr>
          <p:spPr>
            <a:xfrm>
              <a:off x="3851920" y="4221088"/>
              <a:ext cx="1500187" cy="1588"/>
            </a:xfrm>
            <a:prstGeom prst="straightConnector1">
              <a:avLst/>
            </a:prstGeom>
            <a:ln w="25400" cap="flat" cmpd="sng">
              <a:solidFill>
                <a:srgbClr val="FF0000"/>
              </a:solidFill>
              <a:prstDash val="solid"/>
              <a:headEnd type="none" w="med" len="med"/>
              <a:tailEnd type="arrow" w="med" len="med"/>
            </a:ln>
          </p:spPr>
        </p:cxnSp>
        <p:sp>
          <p:nvSpPr>
            <p:cNvPr id="16468" name="圆角矩形 131"/>
            <p:cNvSpPr/>
            <p:nvPr/>
          </p:nvSpPr>
          <p:spPr>
            <a:xfrm>
              <a:off x="5429250" y="4077072"/>
              <a:ext cx="3357563" cy="285750"/>
            </a:xfrm>
            <a:prstGeom prst="roundRect">
              <a:avLst>
                <a:gd name="adj" fmla="val 16667"/>
              </a:avLst>
            </a:prstGeom>
            <a:noFill/>
            <a:ln w="127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endParaRPr lang="zh-CN" altLang="en-US" sz="1800" dirty="0">
                <a:latin typeface="Times New Roman" panose="02020603050405020304" charset="0"/>
              </a:endParaRPr>
            </a:p>
          </p:txBody>
        </p:sp>
      </p:grpSp>
      <p:grpSp>
        <p:nvGrpSpPr>
          <p:cNvPr id="44" name="组合 43"/>
          <p:cNvGrpSpPr/>
          <p:nvPr/>
        </p:nvGrpSpPr>
        <p:grpSpPr>
          <a:xfrm>
            <a:off x="5411788" y="3759200"/>
            <a:ext cx="4899025" cy="214313"/>
            <a:chOff x="3888088" y="4500563"/>
            <a:chExt cx="4898725" cy="285750"/>
          </a:xfrm>
        </p:grpSpPr>
        <p:cxnSp>
          <p:nvCxnSpPr>
            <p:cNvPr id="16465" name="直接箭头连接符 21"/>
            <p:cNvCxnSpPr/>
            <p:nvPr/>
          </p:nvCxnSpPr>
          <p:spPr>
            <a:xfrm>
              <a:off x="3888088" y="4653136"/>
              <a:ext cx="1476000" cy="1588"/>
            </a:xfrm>
            <a:prstGeom prst="straightConnector1">
              <a:avLst/>
            </a:prstGeom>
            <a:ln w="25400" cap="flat" cmpd="sng">
              <a:solidFill>
                <a:srgbClr val="FF0000"/>
              </a:solidFill>
              <a:prstDash val="solid"/>
              <a:headEnd type="none" w="med" len="med"/>
              <a:tailEnd type="arrow" w="med" len="med"/>
            </a:ln>
          </p:spPr>
        </p:cxnSp>
        <p:sp>
          <p:nvSpPr>
            <p:cNvPr id="16466" name="圆角矩形 132"/>
            <p:cNvSpPr/>
            <p:nvPr/>
          </p:nvSpPr>
          <p:spPr>
            <a:xfrm>
              <a:off x="5429250" y="4500563"/>
              <a:ext cx="3357563" cy="285750"/>
            </a:xfrm>
            <a:prstGeom prst="roundRect">
              <a:avLst>
                <a:gd name="adj" fmla="val 16667"/>
              </a:avLst>
            </a:prstGeom>
            <a:noFill/>
            <a:ln w="127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endParaRPr lang="zh-CN" altLang="en-US" sz="1800" dirty="0">
                <a:latin typeface="Times New Roman" panose="02020603050405020304" charset="0"/>
              </a:endParaRPr>
            </a:p>
          </p:txBody>
        </p:sp>
      </p:grpSp>
      <p:grpSp>
        <p:nvGrpSpPr>
          <p:cNvPr id="45" name="组合 44"/>
          <p:cNvGrpSpPr/>
          <p:nvPr/>
        </p:nvGrpSpPr>
        <p:grpSpPr>
          <a:xfrm>
            <a:off x="5375275" y="4081463"/>
            <a:ext cx="4935538" cy="214312"/>
            <a:chOff x="3851920" y="4929188"/>
            <a:chExt cx="4934893" cy="285750"/>
          </a:xfrm>
        </p:grpSpPr>
        <p:cxnSp>
          <p:nvCxnSpPr>
            <p:cNvPr id="16463" name="直接箭头连接符 38"/>
            <p:cNvCxnSpPr/>
            <p:nvPr/>
          </p:nvCxnSpPr>
          <p:spPr>
            <a:xfrm>
              <a:off x="3851920" y="5072063"/>
              <a:ext cx="1500187" cy="1587"/>
            </a:xfrm>
            <a:prstGeom prst="straightConnector1">
              <a:avLst/>
            </a:prstGeom>
            <a:ln w="25400" cap="flat" cmpd="sng">
              <a:solidFill>
                <a:srgbClr val="FF0000"/>
              </a:solidFill>
              <a:prstDash val="solid"/>
              <a:headEnd type="none" w="med" len="med"/>
              <a:tailEnd type="arrow" w="med" len="med"/>
            </a:ln>
          </p:spPr>
        </p:cxnSp>
        <p:sp>
          <p:nvSpPr>
            <p:cNvPr id="16464" name="圆角矩形 133"/>
            <p:cNvSpPr/>
            <p:nvPr/>
          </p:nvSpPr>
          <p:spPr>
            <a:xfrm>
              <a:off x="5429250" y="4929188"/>
              <a:ext cx="3357563" cy="285750"/>
            </a:xfrm>
            <a:prstGeom prst="roundRect">
              <a:avLst>
                <a:gd name="adj" fmla="val 16667"/>
              </a:avLst>
            </a:prstGeom>
            <a:noFill/>
            <a:ln w="127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endParaRPr lang="zh-CN" altLang="en-US" sz="1800" dirty="0">
                <a:latin typeface="Times New Roman" panose="02020603050405020304" charset="0"/>
              </a:endParaRPr>
            </a:p>
          </p:txBody>
        </p:sp>
      </p:grpSp>
      <p:sp>
        <p:nvSpPr>
          <p:cNvPr id="2" name="TextBox 1"/>
          <p:cNvSpPr txBox="1"/>
          <p:nvPr/>
        </p:nvSpPr>
        <p:spPr>
          <a:xfrm>
            <a:off x="6778625" y="4684713"/>
            <a:ext cx="3532188" cy="92202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800" dirty="0">
                <a:solidFill>
                  <a:srgbClr val="0070C0"/>
                </a:solidFill>
              </a:rPr>
              <a:t>表扫描次数：</a:t>
            </a:r>
            <a:endParaRPr lang="en-US" altLang="zh-CN" sz="1800" dirty="0">
              <a:solidFill>
                <a:srgbClr val="0070C0"/>
              </a:solidFill>
            </a:endParaRPr>
          </a:p>
          <a:p>
            <a:pPr marL="0" lvl="0" indent="0" eaLnBrk="1" hangingPunct="1">
              <a:spcBef>
                <a:spcPct val="0"/>
              </a:spcBef>
              <a:buSzTx/>
              <a:buFont typeface="Arial" panose="020B0604020202020204" pitchFamily="34" charset="0"/>
              <a:buNone/>
            </a:pPr>
            <a:r>
              <a:rPr lang="en-US" altLang="zh-CN" sz="1800" dirty="0">
                <a:solidFill>
                  <a:srgbClr val="0070C0"/>
                </a:solidFill>
              </a:rPr>
              <a:t>R</a:t>
            </a:r>
            <a:r>
              <a:rPr lang="zh-CN" altLang="en-US" sz="1800" dirty="0">
                <a:solidFill>
                  <a:srgbClr val="0070C0"/>
                </a:solidFill>
              </a:rPr>
              <a:t>表：</a:t>
            </a:r>
            <a:r>
              <a:rPr lang="en-US" altLang="zh-CN" sz="1800" dirty="0">
                <a:solidFill>
                  <a:srgbClr val="0070C0"/>
                </a:solidFill>
              </a:rPr>
              <a:t>1</a:t>
            </a:r>
            <a:r>
              <a:rPr lang="zh-CN" altLang="en-US" sz="1800" dirty="0">
                <a:solidFill>
                  <a:srgbClr val="0070C0"/>
                </a:solidFill>
              </a:rPr>
              <a:t>次</a:t>
            </a:r>
            <a:endParaRPr lang="en-US" altLang="zh-CN" sz="1800" dirty="0">
              <a:solidFill>
                <a:srgbClr val="0070C0"/>
              </a:solidFill>
            </a:endParaRPr>
          </a:p>
          <a:p>
            <a:pPr marL="0" lvl="0" indent="0" eaLnBrk="1" hangingPunct="1">
              <a:spcBef>
                <a:spcPct val="0"/>
              </a:spcBef>
              <a:buSzTx/>
              <a:buFont typeface="Arial" panose="020B0604020202020204" pitchFamily="34" charset="0"/>
              <a:buNone/>
            </a:pPr>
            <a:r>
              <a:rPr lang="en-US" altLang="zh-CN" sz="1800" dirty="0">
                <a:solidFill>
                  <a:srgbClr val="0070C0"/>
                </a:solidFill>
              </a:rPr>
              <a:t>S</a:t>
            </a:r>
            <a:r>
              <a:rPr lang="zh-CN" altLang="en-US" sz="1800" dirty="0">
                <a:solidFill>
                  <a:srgbClr val="0070C0"/>
                </a:solidFill>
              </a:rPr>
              <a:t>表：</a:t>
            </a:r>
            <a:r>
              <a:rPr lang="en-US" altLang="zh-CN" sz="1800" dirty="0">
                <a:solidFill>
                  <a:srgbClr val="0070C0"/>
                </a:solidFill>
              </a:rPr>
              <a:t>T(R)</a:t>
            </a:r>
            <a:r>
              <a:rPr lang="zh-CN" altLang="en-US" sz="1800" dirty="0">
                <a:solidFill>
                  <a:srgbClr val="0070C0"/>
                </a:solidFill>
              </a:rPr>
              <a:t>次，即</a:t>
            </a:r>
            <a:r>
              <a:rPr lang="en-US" altLang="zh-CN" sz="1800" dirty="0">
                <a:solidFill>
                  <a:srgbClr val="0070C0"/>
                </a:solidFill>
              </a:rPr>
              <a:t>4</a:t>
            </a:r>
            <a:r>
              <a:rPr lang="zh-CN" altLang="en-US" sz="1800" dirty="0">
                <a:solidFill>
                  <a:srgbClr val="0070C0"/>
                </a:solidFill>
              </a:rPr>
              <a:t>次</a:t>
            </a:r>
            <a:endParaRPr lang="en-US" altLang="zh-CN" sz="1800" dirty="0">
              <a:solidFill>
                <a:srgbClr val="0070C0"/>
              </a:solidFill>
            </a:endParaRPr>
          </a:p>
        </p:txBody>
      </p:sp>
      <p:sp>
        <p:nvSpPr>
          <p:cNvPr id="3" name="TextBox 2"/>
          <p:cNvSpPr txBox="1"/>
          <p:nvPr/>
        </p:nvSpPr>
        <p:spPr>
          <a:xfrm>
            <a:off x="1703388" y="4902200"/>
            <a:ext cx="1584325" cy="645160"/>
          </a:xfrm>
          <a:prstGeom prst="rect">
            <a:avLst/>
          </a:prstGeom>
          <a:noFill/>
          <a:ln w="9525" cap="flat" cmpd="sng">
            <a:solidFill>
              <a:schemeClr val="bg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dirty="0">
                <a:solidFill>
                  <a:srgbClr val="FF0000"/>
                </a:solidFill>
              </a:rPr>
              <a:t>1.</a:t>
            </a:r>
            <a:r>
              <a:rPr lang="zh-CN" altLang="en-US" sz="1800" b="0" dirty="0">
                <a:solidFill>
                  <a:srgbClr val="FF0000"/>
                </a:solidFill>
              </a:rPr>
              <a:t>逐一扫描</a:t>
            </a:r>
            <a:r>
              <a:rPr lang="en-US" altLang="zh-CN" sz="1800" b="0" dirty="0">
                <a:solidFill>
                  <a:srgbClr val="FF0000"/>
                </a:solidFill>
              </a:rPr>
              <a:t>R</a:t>
            </a:r>
            <a:r>
              <a:rPr lang="zh-CN" altLang="en-US" sz="1800" b="0" dirty="0">
                <a:solidFill>
                  <a:srgbClr val="FF0000"/>
                </a:solidFill>
              </a:rPr>
              <a:t>表的每一行</a:t>
            </a:r>
            <a:endParaRPr lang="zh-CN" altLang="en-US" sz="1800" b="0" dirty="0">
              <a:solidFill>
                <a:srgbClr val="FF0000"/>
              </a:solidFill>
            </a:endParaRPr>
          </a:p>
        </p:txBody>
      </p:sp>
      <p:sp>
        <p:nvSpPr>
          <p:cNvPr id="43" name="TextBox 42"/>
          <p:cNvSpPr txBox="1"/>
          <p:nvPr/>
        </p:nvSpPr>
        <p:spPr>
          <a:xfrm>
            <a:off x="3935413" y="4902200"/>
            <a:ext cx="2124075" cy="645160"/>
          </a:xfrm>
          <a:prstGeom prst="rect">
            <a:avLst/>
          </a:prstGeom>
          <a:noFill/>
          <a:ln w="9525" cap="flat" cmpd="sng">
            <a:solidFill>
              <a:schemeClr val="bg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dirty="0">
                <a:solidFill>
                  <a:srgbClr val="FF0000"/>
                </a:solidFill>
              </a:rPr>
              <a:t>2.</a:t>
            </a:r>
            <a:r>
              <a:rPr lang="zh-CN" altLang="en-US" sz="1800" b="0" dirty="0">
                <a:solidFill>
                  <a:srgbClr val="FF0000"/>
                </a:solidFill>
              </a:rPr>
              <a:t>为</a:t>
            </a:r>
            <a:r>
              <a:rPr lang="en-US" altLang="zh-CN" sz="1800" b="0" dirty="0">
                <a:solidFill>
                  <a:srgbClr val="FF0000"/>
                </a:solidFill>
              </a:rPr>
              <a:t>R</a:t>
            </a:r>
            <a:r>
              <a:rPr lang="zh-CN" altLang="en-US" sz="1800" b="0" dirty="0">
                <a:solidFill>
                  <a:srgbClr val="FF0000"/>
                </a:solidFill>
              </a:rPr>
              <a:t>表中的每一行读整个</a:t>
            </a:r>
            <a:r>
              <a:rPr lang="en-US" altLang="zh-CN" sz="1800" b="0" dirty="0">
                <a:solidFill>
                  <a:srgbClr val="FF0000"/>
                </a:solidFill>
              </a:rPr>
              <a:t>S</a:t>
            </a:r>
            <a:r>
              <a:rPr lang="zh-CN" altLang="en-US" sz="1800" b="0" dirty="0">
                <a:solidFill>
                  <a:srgbClr val="FF0000"/>
                </a:solidFill>
              </a:rPr>
              <a:t>表一次</a:t>
            </a:r>
            <a:endParaRPr lang="zh-CN" altLang="en-US" sz="1800" b="0" dirty="0">
              <a:solidFill>
                <a:srgbClr val="FF0000"/>
              </a:solidFill>
            </a:endParaRPr>
          </a:p>
        </p:txBody>
      </p:sp>
      <p:sp>
        <p:nvSpPr>
          <p:cNvPr id="5" name="左大括号 4"/>
          <p:cNvSpPr/>
          <p:nvPr/>
        </p:nvSpPr>
        <p:spPr>
          <a:xfrm>
            <a:off x="3575050" y="3063875"/>
            <a:ext cx="288925" cy="1565275"/>
          </a:xfrm>
          <a:prstGeom prst="leftBrace">
            <a:avLst>
              <a:gd name="adj1" fmla="val 8301"/>
              <a:gd name="adj2" fmla="val 10972"/>
            </a:avLst>
          </a:prstGeom>
          <a:solidFill>
            <a:schemeClr val="bg1"/>
          </a:solidFill>
          <a:ln w="254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SzTx/>
              <a:buFontTx/>
              <a:buNone/>
            </a:pPr>
            <a:endParaRPr lang="zh-CN" altLang="en-US" sz="1800" dirty="0">
              <a:latin typeface="Times New Roman" panose="02020603050405020304" charset="0"/>
            </a:endParaRPr>
          </a:p>
        </p:txBody>
      </p:sp>
      <p:cxnSp>
        <p:nvCxnSpPr>
          <p:cNvPr id="14" name="直接箭头连接符 13"/>
          <p:cNvCxnSpPr/>
          <p:nvPr/>
        </p:nvCxnSpPr>
        <p:spPr>
          <a:xfrm>
            <a:off x="3935413" y="3224213"/>
            <a:ext cx="412750" cy="0"/>
          </a:xfrm>
          <a:prstGeom prst="straightConnector1">
            <a:avLst/>
          </a:prstGeom>
          <a:ln w="25400" cap="flat" cmpd="sng">
            <a:solidFill>
              <a:srgbClr val="FF0000"/>
            </a:solidFill>
            <a:prstDash val="solid"/>
            <a:headEnd type="none" w="med" len="med"/>
            <a:tailEnd type="arrow" w="med" len="med"/>
          </a:ln>
        </p:spPr>
      </p:cxnSp>
      <p:sp>
        <p:nvSpPr>
          <p:cNvPr id="64" name="左大括号 63"/>
          <p:cNvSpPr/>
          <p:nvPr/>
        </p:nvSpPr>
        <p:spPr>
          <a:xfrm>
            <a:off x="3575050" y="3063875"/>
            <a:ext cx="288925" cy="1565275"/>
          </a:xfrm>
          <a:prstGeom prst="leftBrace">
            <a:avLst>
              <a:gd name="adj1" fmla="val 8301"/>
              <a:gd name="adj2" fmla="val 28676"/>
            </a:avLst>
          </a:prstGeom>
          <a:solidFill>
            <a:schemeClr val="bg1"/>
          </a:solidFill>
          <a:ln w="254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SzTx/>
              <a:buFontTx/>
              <a:buNone/>
            </a:pPr>
            <a:endParaRPr lang="zh-CN" altLang="en-US" sz="1800" dirty="0">
              <a:latin typeface="Times New Roman" panose="02020603050405020304" charset="0"/>
            </a:endParaRPr>
          </a:p>
        </p:txBody>
      </p:sp>
      <p:cxnSp>
        <p:nvCxnSpPr>
          <p:cNvPr id="65" name="直接箭头连接符 64"/>
          <p:cNvCxnSpPr/>
          <p:nvPr/>
        </p:nvCxnSpPr>
        <p:spPr>
          <a:xfrm>
            <a:off x="3935413" y="3225800"/>
            <a:ext cx="412750" cy="0"/>
          </a:xfrm>
          <a:prstGeom prst="straightConnector1">
            <a:avLst/>
          </a:prstGeom>
          <a:ln w="25400" cap="flat" cmpd="sng">
            <a:solidFill>
              <a:srgbClr val="FF0000"/>
            </a:solidFill>
            <a:prstDash val="solid"/>
            <a:headEnd type="none" w="med" len="med"/>
            <a:tailEnd type="arrow" w="med" len="med"/>
          </a:ln>
        </p:spPr>
      </p:cxnSp>
      <p:sp>
        <p:nvSpPr>
          <p:cNvPr id="66" name="左大括号 65"/>
          <p:cNvSpPr/>
          <p:nvPr/>
        </p:nvSpPr>
        <p:spPr>
          <a:xfrm>
            <a:off x="3575050" y="3063875"/>
            <a:ext cx="288925" cy="1565275"/>
          </a:xfrm>
          <a:prstGeom prst="leftBrace">
            <a:avLst>
              <a:gd name="adj1" fmla="val 8301"/>
              <a:gd name="adj2" fmla="val 48245"/>
            </a:avLst>
          </a:prstGeom>
          <a:solidFill>
            <a:schemeClr val="bg1"/>
          </a:solidFill>
          <a:ln w="254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SzTx/>
              <a:buFontTx/>
              <a:buNone/>
            </a:pPr>
            <a:endParaRPr lang="zh-CN" altLang="en-US" sz="1800" dirty="0">
              <a:latin typeface="Times New Roman" panose="02020603050405020304" charset="0"/>
            </a:endParaRPr>
          </a:p>
        </p:txBody>
      </p:sp>
      <p:cxnSp>
        <p:nvCxnSpPr>
          <p:cNvPr id="68" name="直接箭头连接符 67"/>
          <p:cNvCxnSpPr/>
          <p:nvPr/>
        </p:nvCxnSpPr>
        <p:spPr>
          <a:xfrm>
            <a:off x="3935413" y="3225800"/>
            <a:ext cx="412750" cy="0"/>
          </a:xfrm>
          <a:prstGeom prst="straightConnector1">
            <a:avLst/>
          </a:prstGeom>
          <a:ln w="25400" cap="flat" cmpd="sng">
            <a:solidFill>
              <a:srgbClr val="FF0000"/>
            </a:solidFill>
            <a:prstDash val="solid"/>
            <a:headEnd type="none" w="med" len="med"/>
            <a:tailEnd type="arrow" w="med" len="med"/>
          </a:ln>
        </p:spPr>
      </p:cxnSp>
      <p:sp>
        <p:nvSpPr>
          <p:cNvPr id="71" name="左大括号 70"/>
          <p:cNvSpPr/>
          <p:nvPr/>
        </p:nvSpPr>
        <p:spPr>
          <a:xfrm>
            <a:off x="3575050" y="3063875"/>
            <a:ext cx="288925" cy="1565275"/>
          </a:xfrm>
          <a:prstGeom prst="leftBrace">
            <a:avLst>
              <a:gd name="adj1" fmla="val 8301"/>
              <a:gd name="adj2" fmla="val 65949"/>
            </a:avLst>
          </a:prstGeom>
          <a:solidFill>
            <a:schemeClr val="bg1"/>
          </a:solidFill>
          <a:ln w="254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SzTx/>
              <a:buFontTx/>
              <a:buNone/>
            </a:pPr>
            <a:endParaRPr lang="zh-CN" altLang="en-US" sz="1800" dirty="0">
              <a:latin typeface="Times New Roman" panose="02020603050405020304" charset="0"/>
            </a:endParaRPr>
          </a:p>
        </p:txBody>
      </p:sp>
      <p:cxnSp>
        <p:nvCxnSpPr>
          <p:cNvPr id="72" name="直接箭头连接符 71"/>
          <p:cNvCxnSpPr/>
          <p:nvPr/>
        </p:nvCxnSpPr>
        <p:spPr>
          <a:xfrm>
            <a:off x="3935413" y="3225800"/>
            <a:ext cx="412750" cy="0"/>
          </a:xfrm>
          <a:prstGeom prst="straightConnector1">
            <a:avLst/>
          </a:prstGeom>
          <a:ln w="25400" cap="flat" cmpd="sng">
            <a:solidFill>
              <a:srgbClr val="FF0000"/>
            </a:solidFill>
            <a:prstDash val="solid"/>
            <a:headEnd type="none" w="med" len="med"/>
            <a:tailEnd type="arrow" w="med" len="med"/>
          </a:ln>
        </p:spPr>
      </p:cxnSp>
      <p:sp>
        <p:nvSpPr>
          <p:cNvPr id="16461" name="TextBox 51"/>
          <p:cNvSpPr txBox="1"/>
          <p:nvPr/>
        </p:nvSpPr>
        <p:spPr>
          <a:xfrm>
            <a:off x="4367213" y="2408238"/>
            <a:ext cx="1223962" cy="3683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i="1" dirty="0">
                <a:latin typeface="Calibri" panose="020F0502020204030204" pitchFamily="34" charset="0"/>
              </a:rPr>
              <a:t>S</a:t>
            </a:r>
            <a:endParaRPr lang="zh-CN" altLang="en-US" sz="1800" b="0" i="1" dirty="0">
              <a:latin typeface="Calibri" panose="020F0502020204030204" pitchFamily="34" charset="0"/>
            </a:endParaRPr>
          </a:p>
        </p:txBody>
      </p:sp>
      <p:pic>
        <p:nvPicPr>
          <p:cNvPr id="4" name="0B3B1653.wav">
            <a:hlinkClick r:id="" action="ppaction://media"/>
          </p:cNvPr>
          <p:cNvPicPr>
            <a:picLocks noChangeAspect="1"/>
          </p:cNvPicPr>
          <p:nvPr>
            <a:wavAudioFile r:embed="rId3"/>
          </p:nvPr>
        </p:nvPicPr>
        <p:blipFill>
          <a:blip r:embed="rId4"/>
          <a:stretch>
            <a:fillRect/>
          </a:stretch>
        </p:blipFill>
        <p:spPr>
          <a:xfrm>
            <a:off x="9842500" y="4908550"/>
            <a:ext cx="609600" cy="457200"/>
          </a:xfrm>
          <a:prstGeom prst="rect">
            <a:avLst/>
          </a:prstGeom>
          <a:noFill/>
          <a:ln w="9525">
            <a:noFill/>
          </a:ln>
        </p:spPr>
      </p:pic>
    </p:spTree>
    <p:custDataLst>
      <p:tags r:id="rId5"/>
    </p:custDataLst>
  </p:cSld>
  <p:clrMapOvr>
    <a:masterClrMapping/>
  </p:clrMapOvr>
  <p:transition spd="slow" advTm="11661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4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nodeType="clickEffect">
                                  <p:stCondLst>
                                    <p:cond delay="0"/>
                                  </p:stCondLst>
                                  <p:childTnLst>
                                    <p:animEffect transition="out" filter="fade">
                                      <p:cBhvr>
                                        <p:cTn id="35" dur="500"/>
                                        <p:tgtEl>
                                          <p:spTgt spid="40"/>
                                        </p:tgtEl>
                                      </p:cBhvr>
                                    </p:animEffect>
                                    <p:set>
                                      <p:cBhvr>
                                        <p:cTn id="36" dur="1" fill="hold">
                                          <p:stCondLst>
                                            <p:cond delay="499"/>
                                          </p:stCondLst>
                                        </p:cTn>
                                        <p:tgtEl>
                                          <p:spTgt spid="40"/>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0" presetClass="path" presetSubtype="0" accel="50000" decel="50000" fill="hold" nodeType="clickEffect">
                                  <p:stCondLst>
                                    <p:cond delay="0"/>
                                  </p:stCondLst>
                                  <p:childTnLst>
                                    <p:animMotion origin="layout" path="M -0.00121 0.00115 L -0.00104 0.06334 " pathEditMode="relative" ptsTypes="AA">
                                      <p:cBhvr>
                                        <p:cTn id="40" dur="2000" fill="hold"/>
                                        <p:tgtEl>
                                          <p:spTgt spid="14"/>
                                        </p:tgtEl>
                                        <p:attrNameLst>
                                          <p:attrName>ppt_x</p:attrName>
                                          <p:attrName>ppt_y</p:attrName>
                                        </p:attrNameLst>
                                      </p:cBhvr>
                                    </p:animMotion>
                                  </p:childTnLst>
                                </p:cTn>
                              </p:par>
                            </p:childTnLst>
                          </p:cTn>
                        </p:par>
                      </p:childTnLst>
                    </p:cTn>
                  </p:par>
                  <p:par>
                    <p:cTn id="41" fill="hold">
                      <p:stCondLst>
                        <p:cond delay="indefinite"/>
                      </p:stCondLst>
                      <p:childTnLst>
                        <p:par>
                          <p:cTn id="42" fill="hold">
                            <p:stCondLst>
                              <p:cond delay="0"/>
                            </p:stCondLst>
                            <p:childTnLst>
                              <p:par>
                                <p:cTn id="43" presetID="0" presetClass="path" presetSubtype="0" accel="50000" decel="50000" fill="hold" nodeType="clickEffect">
                                  <p:stCondLst>
                                    <p:cond delay="0"/>
                                  </p:stCondLst>
                                  <p:childTnLst>
                                    <p:animMotion origin="layout" path="M -0.00104 0.06334 L -0.00087 0.1313 " pathEditMode="relative" ptsTypes="AA">
                                      <p:cBhvr>
                                        <p:cTn id="44" dur="2000" fill="hold"/>
                                        <p:tgtEl>
                                          <p:spTgt spid="14"/>
                                        </p:tgtEl>
                                        <p:attrNameLst>
                                          <p:attrName>ppt_x</p:attrName>
                                          <p:attrName>ppt_y</p:attrName>
                                        </p:attrNameLst>
                                      </p:cBhvr>
                                    </p:animMotion>
                                  </p:childTnLst>
                                </p:cTn>
                              </p:par>
                            </p:childTnLst>
                          </p:cTn>
                        </p:par>
                      </p:childTnLst>
                    </p:cTn>
                  </p:par>
                  <p:par>
                    <p:cTn id="45" fill="hold">
                      <p:stCondLst>
                        <p:cond delay="indefinite"/>
                      </p:stCondLst>
                      <p:childTnLst>
                        <p:par>
                          <p:cTn id="46" fill="hold">
                            <p:stCondLst>
                              <p:cond delay="0"/>
                            </p:stCondLst>
                            <p:childTnLst>
                              <p:par>
                                <p:cTn id="47" presetID="0" presetClass="path" presetSubtype="0" accel="50000" decel="50000" fill="hold" nodeType="clickEffect">
                                  <p:stCondLst>
                                    <p:cond delay="0"/>
                                  </p:stCondLst>
                                  <p:childTnLst>
                                    <p:animMotion origin="layout" path="M -0.00104 0.12621 L -0.00086 0.18839 " pathEditMode="relative" rAng="0" ptsTypes="AA">
                                      <p:cBhvr>
                                        <p:cTn id="48" dur="2000" fill="hold"/>
                                        <p:tgtEl>
                                          <p:spTgt spid="14"/>
                                        </p:tgtEl>
                                        <p:attrNameLst>
                                          <p:attrName>ppt_x</p:attrName>
                                          <p:attrName>ppt_y</p:attrName>
                                        </p:attrNameLst>
                                      </p:cBhvr>
                                      <p:rCtr x="0" y="3100"/>
                                    </p:animMotion>
                                  </p:childTnLst>
                                </p:cTn>
                              </p:par>
                            </p:childTnLst>
                          </p:cTn>
                        </p:par>
                      </p:childTnLst>
                    </p:cTn>
                  </p:par>
                  <p:par>
                    <p:cTn id="49" fill="hold">
                      <p:stCondLst>
                        <p:cond delay="indefinite"/>
                      </p:stCondLst>
                      <p:childTnLst>
                        <p:par>
                          <p:cTn id="50" fill="hold">
                            <p:stCondLst>
                              <p:cond delay="0"/>
                            </p:stCondLst>
                            <p:childTnLst>
                              <p:par>
                                <p:cTn id="51" presetID="0" presetClass="path" presetSubtype="0" accel="50000" decel="50000" fill="hold" nodeType="clickEffect">
                                  <p:stCondLst>
                                    <p:cond delay="0"/>
                                  </p:stCondLst>
                                  <p:childTnLst>
                                    <p:animMotion origin="layout" path="M -0.00086 0.19232 L -0.00069 0.25196 " pathEditMode="relative" rAng="0" ptsTypes="AA">
                                      <p:cBhvr>
                                        <p:cTn id="52" dur="2000" fill="hold"/>
                                        <p:tgtEl>
                                          <p:spTgt spid="14"/>
                                        </p:tgtEl>
                                        <p:attrNameLst>
                                          <p:attrName>ppt_x</p:attrName>
                                          <p:attrName>ppt_y</p:attrName>
                                        </p:attrNameLst>
                                      </p:cBhvr>
                                      <p:rCtr x="0" y="3000"/>
                                    </p:animMotion>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1" nodeType="clickEffect">
                                  <p:stCondLst>
                                    <p:cond delay="0"/>
                                  </p:stCondLst>
                                  <p:childTnLst>
                                    <p:animEffect transition="out" filter="fade">
                                      <p:cBhvr>
                                        <p:cTn id="56" dur="500"/>
                                        <p:tgtEl>
                                          <p:spTgt spid="5"/>
                                        </p:tgtEl>
                                      </p:cBhvr>
                                    </p:animEffect>
                                    <p:set>
                                      <p:cBhvr>
                                        <p:cTn id="57" dur="1" fill="hold">
                                          <p:stCondLst>
                                            <p:cond delay="499"/>
                                          </p:stCondLst>
                                        </p:cTn>
                                        <p:tgtEl>
                                          <p:spTgt spid="5"/>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500"/>
                                        <p:tgtEl>
                                          <p:spTgt spid="14"/>
                                        </p:tgtEl>
                                      </p:cBhvr>
                                    </p:animEffect>
                                    <p:set>
                                      <p:cBhvr>
                                        <p:cTn id="60" dur="1" fill="hold">
                                          <p:stCondLst>
                                            <p:cond delay="499"/>
                                          </p:stCondLst>
                                        </p:cTn>
                                        <p:tgtEl>
                                          <p:spTgt spid="14"/>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0" presetClass="path" presetSubtype="0" accel="50000" decel="50000" fill="hold" nodeType="clickEffect">
                                  <p:stCondLst>
                                    <p:cond delay="0"/>
                                  </p:stCondLst>
                                  <p:childTnLst>
                                    <p:animMotion origin="layout" path="M -0.00364 0.00115 L -0.00347 0.05501 " pathEditMode="relative" ptsTypes="AA">
                                      <p:cBhvr>
                                        <p:cTn id="64" dur="2000" fill="hold"/>
                                        <p:tgtEl>
                                          <p:spTgt spid="16"/>
                                        </p:tgtEl>
                                        <p:attrNameLst>
                                          <p:attrName>ppt_x</p:attrName>
                                          <p:attrName>ppt_y</p:attrName>
                                        </p:attrNameLst>
                                      </p:cBhvr>
                                    </p:animMotion>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6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0" presetClass="path" presetSubtype="0" accel="50000" decel="50000" fill="hold" nodeType="clickEffect">
                                  <p:stCondLst>
                                    <p:cond delay="0"/>
                                  </p:stCondLst>
                                  <p:childTnLst>
                                    <p:animMotion origin="layout" path="M -0.00121 0.00115 L -0.00104 0.06334 " pathEditMode="relative" ptsTypes="AA">
                                      <p:cBhvr>
                                        <p:cTn id="76" dur="2000" fill="hold"/>
                                        <p:tgtEl>
                                          <p:spTgt spid="65"/>
                                        </p:tgtEl>
                                        <p:attrNameLst>
                                          <p:attrName>ppt_x</p:attrName>
                                          <p:attrName>ppt_y</p:attrName>
                                        </p:attrNameLst>
                                      </p:cBhvr>
                                    </p:animMotion>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0" presetClass="exit" presetSubtype="0" fill="hold" nodeType="clickEffect">
                                  <p:stCondLst>
                                    <p:cond delay="0"/>
                                  </p:stCondLst>
                                  <p:childTnLst>
                                    <p:animEffect transition="out" filter="fade">
                                      <p:cBhvr>
                                        <p:cTn id="84" dur="500"/>
                                        <p:tgtEl>
                                          <p:spTgt spid="41"/>
                                        </p:tgtEl>
                                      </p:cBhvr>
                                    </p:animEffect>
                                    <p:set>
                                      <p:cBhvr>
                                        <p:cTn id="85" dur="1" fill="hold">
                                          <p:stCondLst>
                                            <p:cond delay="499"/>
                                          </p:stCondLst>
                                        </p:cTn>
                                        <p:tgtEl>
                                          <p:spTgt spid="41"/>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0" presetClass="path" presetSubtype="0" accel="50000" decel="50000" fill="hold" nodeType="clickEffect">
                                  <p:stCondLst>
                                    <p:cond delay="0"/>
                                  </p:stCondLst>
                                  <p:childTnLst>
                                    <p:animMotion origin="layout" path="M -0.00104 0.06334 L -0.00087 0.1313 " pathEditMode="relative" ptsTypes="AA">
                                      <p:cBhvr>
                                        <p:cTn id="89" dur="2000" fill="hold"/>
                                        <p:tgtEl>
                                          <p:spTgt spid="65"/>
                                        </p:tgtEl>
                                        <p:attrNameLst>
                                          <p:attrName>ppt_x</p:attrName>
                                          <p:attrName>ppt_y</p:attrName>
                                        </p:attrNameLst>
                                      </p:cBhvr>
                                    </p:animMotion>
                                  </p:childTnLst>
                                </p:cTn>
                              </p:par>
                            </p:childTnLst>
                          </p:cTn>
                        </p:par>
                      </p:childTnLst>
                    </p:cTn>
                  </p:par>
                  <p:par>
                    <p:cTn id="90" fill="hold">
                      <p:stCondLst>
                        <p:cond delay="indefinite"/>
                      </p:stCondLst>
                      <p:childTnLst>
                        <p:par>
                          <p:cTn id="91" fill="hold">
                            <p:stCondLst>
                              <p:cond delay="0"/>
                            </p:stCondLst>
                            <p:childTnLst>
                              <p:par>
                                <p:cTn id="92" presetID="0" presetClass="path" presetSubtype="0" accel="50000" decel="50000" fill="hold" nodeType="clickEffect">
                                  <p:stCondLst>
                                    <p:cond delay="0"/>
                                  </p:stCondLst>
                                  <p:childTnLst>
                                    <p:animMotion origin="layout" path="M -0.00104 0.12621 L -0.00086 0.18839 " pathEditMode="relative" rAng="0" ptsTypes="AA">
                                      <p:cBhvr>
                                        <p:cTn id="93" dur="2000" fill="hold"/>
                                        <p:tgtEl>
                                          <p:spTgt spid="65"/>
                                        </p:tgtEl>
                                        <p:attrNameLst>
                                          <p:attrName>ppt_x</p:attrName>
                                          <p:attrName>ppt_y</p:attrName>
                                        </p:attrNameLst>
                                      </p:cBhvr>
                                      <p:rCtr x="0" y="3100"/>
                                    </p:animMotion>
                                  </p:childTnLst>
                                </p:cTn>
                              </p:par>
                            </p:childTnLst>
                          </p:cTn>
                        </p:par>
                      </p:childTnLst>
                    </p:cTn>
                  </p:par>
                  <p:par>
                    <p:cTn id="94" fill="hold">
                      <p:stCondLst>
                        <p:cond delay="indefinite"/>
                      </p:stCondLst>
                      <p:childTnLst>
                        <p:par>
                          <p:cTn id="95" fill="hold">
                            <p:stCondLst>
                              <p:cond delay="0"/>
                            </p:stCondLst>
                            <p:childTnLst>
                              <p:par>
                                <p:cTn id="96" presetID="0" presetClass="path" presetSubtype="0" accel="50000" decel="50000" fill="hold" nodeType="clickEffect">
                                  <p:stCondLst>
                                    <p:cond delay="0"/>
                                  </p:stCondLst>
                                  <p:childTnLst>
                                    <p:animMotion origin="layout" path="M -0.00086 0.19232 L -0.00069 0.25196 " pathEditMode="relative" rAng="0" ptsTypes="AA">
                                      <p:cBhvr>
                                        <p:cTn id="97" dur="2000" fill="hold"/>
                                        <p:tgtEl>
                                          <p:spTgt spid="65"/>
                                        </p:tgtEl>
                                        <p:attrNameLst>
                                          <p:attrName>ppt_x</p:attrName>
                                          <p:attrName>ppt_y</p:attrName>
                                        </p:attrNameLst>
                                      </p:cBhvr>
                                      <p:rCtr x="0" y="3000"/>
                                    </p:animMotion>
                                  </p:childTnLst>
                                </p:cTn>
                              </p:par>
                            </p:childTnLst>
                          </p:cTn>
                        </p:par>
                      </p:childTnLst>
                    </p:cTn>
                  </p:par>
                  <p:par>
                    <p:cTn id="98" fill="hold">
                      <p:stCondLst>
                        <p:cond delay="indefinite"/>
                      </p:stCondLst>
                      <p:childTnLst>
                        <p:par>
                          <p:cTn id="99" fill="hold">
                            <p:stCondLst>
                              <p:cond delay="0"/>
                            </p:stCondLst>
                            <p:childTnLst>
                              <p:par>
                                <p:cTn id="100" presetID="10" presetClass="exit" presetSubtype="0" fill="hold" grpId="1" nodeType="clickEffect">
                                  <p:stCondLst>
                                    <p:cond delay="0"/>
                                  </p:stCondLst>
                                  <p:childTnLst>
                                    <p:animEffect transition="out" filter="fade">
                                      <p:cBhvr>
                                        <p:cTn id="101" dur="500"/>
                                        <p:tgtEl>
                                          <p:spTgt spid="64"/>
                                        </p:tgtEl>
                                      </p:cBhvr>
                                    </p:animEffect>
                                    <p:set>
                                      <p:cBhvr>
                                        <p:cTn id="102" dur="1" fill="hold">
                                          <p:stCondLst>
                                            <p:cond delay="499"/>
                                          </p:stCondLst>
                                        </p:cTn>
                                        <p:tgtEl>
                                          <p:spTgt spid="64"/>
                                        </p:tgtEl>
                                        <p:attrNameLst>
                                          <p:attrName>style.visibility</p:attrName>
                                        </p:attrNameLst>
                                      </p:cBhvr>
                                      <p:to>
                                        <p:strVal val="hidden"/>
                                      </p:to>
                                    </p:set>
                                  </p:childTnLst>
                                </p:cTn>
                              </p:par>
                              <p:par>
                                <p:cTn id="103" presetID="10" presetClass="exit" presetSubtype="0" fill="hold" nodeType="withEffect">
                                  <p:stCondLst>
                                    <p:cond delay="0"/>
                                  </p:stCondLst>
                                  <p:childTnLst>
                                    <p:animEffect transition="out" filter="fade">
                                      <p:cBhvr>
                                        <p:cTn id="104" dur="500"/>
                                        <p:tgtEl>
                                          <p:spTgt spid="65"/>
                                        </p:tgtEl>
                                      </p:cBhvr>
                                    </p:animEffect>
                                    <p:set>
                                      <p:cBhvr>
                                        <p:cTn id="105" dur="1" fill="hold">
                                          <p:stCondLst>
                                            <p:cond delay="499"/>
                                          </p:stCondLst>
                                        </p:cTn>
                                        <p:tgtEl>
                                          <p:spTgt spid="65"/>
                                        </p:tgtEl>
                                        <p:attrNameLst>
                                          <p:attrName>style.visibility</p:attrName>
                                        </p:attrNameLst>
                                      </p:cBhvr>
                                      <p:to>
                                        <p:strVal val="hidden"/>
                                      </p:to>
                                    </p:set>
                                  </p:childTnLst>
                                </p:cTn>
                              </p:par>
                            </p:childTnLst>
                          </p:cTn>
                        </p:par>
                      </p:childTnLst>
                    </p:cTn>
                  </p:par>
                  <p:par>
                    <p:cTn id="106" fill="hold">
                      <p:stCondLst>
                        <p:cond delay="indefinite"/>
                      </p:stCondLst>
                      <p:childTnLst>
                        <p:par>
                          <p:cTn id="107" fill="hold">
                            <p:stCondLst>
                              <p:cond delay="0"/>
                            </p:stCondLst>
                            <p:childTnLst>
                              <p:par>
                                <p:cTn id="108" presetID="0" presetClass="path" presetSubtype="0" accel="50000" decel="50000" fill="hold" nodeType="clickEffect">
                                  <p:stCondLst>
                                    <p:cond delay="0"/>
                                  </p:stCondLst>
                                  <p:childTnLst>
                                    <p:animMotion origin="layout" path="M -0.00347 0.0564 L -0.00329 0.11581 " pathEditMode="relative" rAng="0" ptsTypes="AA">
                                      <p:cBhvr>
                                        <p:cTn id="109" dur="2000" fill="hold"/>
                                        <p:tgtEl>
                                          <p:spTgt spid="16"/>
                                        </p:tgtEl>
                                        <p:attrNameLst>
                                          <p:attrName>ppt_x</p:attrName>
                                          <p:attrName>ppt_y</p:attrName>
                                        </p:attrNameLst>
                                      </p:cBhvr>
                                      <p:rCtr x="0" y="3000"/>
                                    </p:animMotion>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66"/>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nodeType="clickEffect">
                                  <p:stCondLst>
                                    <p:cond delay="0"/>
                                  </p:stCondLst>
                                  <p:childTnLst>
                                    <p:set>
                                      <p:cBhvr>
                                        <p:cTn id="117" dur="1" fill="hold">
                                          <p:stCondLst>
                                            <p:cond delay="0"/>
                                          </p:stCondLst>
                                        </p:cTn>
                                        <p:tgtEl>
                                          <p:spTgt spid="68"/>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0" presetClass="path" presetSubtype="0" accel="50000" decel="50000" fill="hold" nodeType="clickEffect">
                                  <p:stCondLst>
                                    <p:cond delay="0"/>
                                  </p:stCondLst>
                                  <p:childTnLst>
                                    <p:animMotion origin="layout" path="M -0.00121 0.00115 L -0.00104 0.06334 " pathEditMode="relative" ptsTypes="AA">
                                      <p:cBhvr>
                                        <p:cTn id="121" dur="2000" fill="hold"/>
                                        <p:tgtEl>
                                          <p:spTgt spid="68"/>
                                        </p:tgtEl>
                                        <p:attrNameLst>
                                          <p:attrName>ppt_x</p:attrName>
                                          <p:attrName>ppt_y</p:attrName>
                                        </p:attrNameLst>
                                      </p:cBhvr>
                                    </p:animMotion>
                                  </p:childTnLst>
                                </p:cTn>
                              </p:par>
                            </p:childTnLst>
                          </p:cTn>
                        </p:par>
                      </p:childTnLst>
                    </p:cTn>
                  </p:par>
                  <p:par>
                    <p:cTn id="122" fill="hold">
                      <p:stCondLst>
                        <p:cond delay="indefinite"/>
                      </p:stCondLst>
                      <p:childTnLst>
                        <p:par>
                          <p:cTn id="123" fill="hold">
                            <p:stCondLst>
                              <p:cond delay="0"/>
                            </p:stCondLst>
                            <p:childTnLst>
                              <p:par>
                                <p:cTn id="124" presetID="0" presetClass="path" presetSubtype="0" accel="50000" decel="50000" fill="hold" nodeType="clickEffect">
                                  <p:stCondLst>
                                    <p:cond delay="0"/>
                                  </p:stCondLst>
                                  <p:childTnLst>
                                    <p:animMotion origin="layout" path="M -0.00104 0.06334 L -0.00087 0.1313 " pathEditMode="relative" ptsTypes="AA">
                                      <p:cBhvr>
                                        <p:cTn id="125" dur="2000" fill="hold"/>
                                        <p:tgtEl>
                                          <p:spTgt spid="68"/>
                                        </p:tgtEl>
                                        <p:attrNameLst>
                                          <p:attrName>ppt_x</p:attrName>
                                          <p:attrName>ppt_y</p:attrName>
                                        </p:attrNameLst>
                                      </p:cBhvr>
                                    </p:animMotion>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nodeType="clickEffect">
                                  <p:stCondLst>
                                    <p:cond delay="0"/>
                                  </p:stCondLst>
                                  <p:childTnLst>
                                    <p:set>
                                      <p:cBhvr>
                                        <p:cTn id="129" dur="1" fill="hold">
                                          <p:stCondLst>
                                            <p:cond delay="0"/>
                                          </p:stCondLst>
                                        </p:cTn>
                                        <p:tgtEl>
                                          <p:spTgt spid="44"/>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0" presetClass="exit" presetSubtype="0" fill="hold" nodeType="clickEffect">
                                  <p:stCondLst>
                                    <p:cond delay="0"/>
                                  </p:stCondLst>
                                  <p:childTnLst>
                                    <p:animEffect transition="out" filter="fade">
                                      <p:cBhvr>
                                        <p:cTn id="133" dur="500"/>
                                        <p:tgtEl>
                                          <p:spTgt spid="44"/>
                                        </p:tgtEl>
                                      </p:cBhvr>
                                    </p:animEffect>
                                    <p:set>
                                      <p:cBhvr>
                                        <p:cTn id="134" dur="1" fill="hold">
                                          <p:stCondLst>
                                            <p:cond delay="499"/>
                                          </p:stCondLst>
                                        </p:cTn>
                                        <p:tgtEl>
                                          <p:spTgt spid="44"/>
                                        </p:tgtEl>
                                        <p:attrNameLst>
                                          <p:attrName>style.visibility</p:attrName>
                                        </p:attrNameLst>
                                      </p:cBhvr>
                                      <p:to>
                                        <p:strVal val="hidden"/>
                                      </p:to>
                                    </p:set>
                                  </p:childTnLst>
                                </p:cTn>
                              </p:par>
                            </p:childTnLst>
                          </p:cTn>
                        </p:par>
                      </p:childTnLst>
                    </p:cTn>
                  </p:par>
                  <p:par>
                    <p:cTn id="135" fill="hold">
                      <p:stCondLst>
                        <p:cond delay="indefinite"/>
                      </p:stCondLst>
                      <p:childTnLst>
                        <p:par>
                          <p:cTn id="136" fill="hold">
                            <p:stCondLst>
                              <p:cond delay="0"/>
                            </p:stCondLst>
                            <p:childTnLst>
                              <p:par>
                                <p:cTn id="137" presetID="0" presetClass="path" presetSubtype="0" accel="50000" decel="50000" fill="hold" nodeType="clickEffect">
                                  <p:stCondLst>
                                    <p:cond delay="0"/>
                                  </p:stCondLst>
                                  <p:childTnLst>
                                    <p:animMotion origin="layout" path="M -0.00104 0.12621 L -0.00086 0.18839 " pathEditMode="relative" rAng="0" ptsTypes="AA">
                                      <p:cBhvr>
                                        <p:cTn id="138" dur="2000" fill="hold"/>
                                        <p:tgtEl>
                                          <p:spTgt spid="68"/>
                                        </p:tgtEl>
                                        <p:attrNameLst>
                                          <p:attrName>ppt_x</p:attrName>
                                          <p:attrName>ppt_y</p:attrName>
                                        </p:attrNameLst>
                                      </p:cBhvr>
                                      <p:rCtr x="0" y="3100"/>
                                    </p:animMotion>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45"/>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0" presetClass="exit" presetSubtype="0" fill="hold" nodeType="clickEffect">
                                  <p:stCondLst>
                                    <p:cond delay="0"/>
                                  </p:stCondLst>
                                  <p:childTnLst>
                                    <p:animEffect transition="out" filter="fade">
                                      <p:cBhvr>
                                        <p:cTn id="146" dur="500"/>
                                        <p:tgtEl>
                                          <p:spTgt spid="45"/>
                                        </p:tgtEl>
                                      </p:cBhvr>
                                    </p:animEffect>
                                    <p:set>
                                      <p:cBhvr>
                                        <p:cTn id="147" dur="1" fill="hold">
                                          <p:stCondLst>
                                            <p:cond delay="499"/>
                                          </p:stCondLst>
                                        </p:cTn>
                                        <p:tgtEl>
                                          <p:spTgt spid="45"/>
                                        </p:tgtEl>
                                        <p:attrNameLst>
                                          <p:attrName>style.visibility</p:attrName>
                                        </p:attrNameLst>
                                      </p:cBhvr>
                                      <p:to>
                                        <p:strVal val="hidden"/>
                                      </p:to>
                                    </p:set>
                                  </p:childTnLst>
                                </p:cTn>
                              </p:par>
                            </p:childTnLst>
                          </p:cTn>
                        </p:par>
                      </p:childTnLst>
                    </p:cTn>
                  </p:par>
                  <p:par>
                    <p:cTn id="148" fill="hold">
                      <p:stCondLst>
                        <p:cond delay="indefinite"/>
                      </p:stCondLst>
                      <p:childTnLst>
                        <p:par>
                          <p:cTn id="149" fill="hold">
                            <p:stCondLst>
                              <p:cond delay="0"/>
                            </p:stCondLst>
                            <p:childTnLst>
                              <p:par>
                                <p:cTn id="150" presetID="0" presetClass="path" presetSubtype="0" accel="50000" decel="50000" fill="hold" nodeType="clickEffect">
                                  <p:stCondLst>
                                    <p:cond delay="0"/>
                                  </p:stCondLst>
                                  <p:childTnLst>
                                    <p:animMotion origin="layout" path="M -0.00086 0.19232 L -0.00069 0.25196 " pathEditMode="relative" rAng="0" ptsTypes="AA">
                                      <p:cBhvr>
                                        <p:cTn id="151" dur="2000" fill="hold"/>
                                        <p:tgtEl>
                                          <p:spTgt spid="68"/>
                                        </p:tgtEl>
                                        <p:attrNameLst>
                                          <p:attrName>ppt_x</p:attrName>
                                          <p:attrName>ppt_y</p:attrName>
                                        </p:attrNameLst>
                                      </p:cBhvr>
                                      <p:rCtr x="0" y="3000"/>
                                    </p:animMotion>
                                  </p:childTnLst>
                                </p:cTn>
                              </p:par>
                            </p:childTnLst>
                          </p:cTn>
                        </p:par>
                      </p:childTnLst>
                    </p:cTn>
                  </p:par>
                  <p:par>
                    <p:cTn id="152" fill="hold">
                      <p:stCondLst>
                        <p:cond delay="indefinite"/>
                      </p:stCondLst>
                      <p:childTnLst>
                        <p:par>
                          <p:cTn id="153" fill="hold">
                            <p:stCondLst>
                              <p:cond delay="0"/>
                            </p:stCondLst>
                            <p:childTnLst>
                              <p:par>
                                <p:cTn id="154" presetID="10" presetClass="exit" presetSubtype="0" fill="hold" grpId="1" nodeType="clickEffect">
                                  <p:stCondLst>
                                    <p:cond delay="0"/>
                                  </p:stCondLst>
                                  <p:childTnLst>
                                    <p:animEffect transition="out" filter="fade">
                                      <p:cBhvr>
                                        <p:cTn id="155" dur="500"/>
                                        <p:tgtEl>
                                          <p:spTgt spid="66"/>
                                        </p:tgtEl>
                                      </p:cBhvr>
                                    </p:animEffect>
                                    <p:set>
                                      <p:cBhvr>
                                        <p:cTn id="156" dur="1" fill="hold">
                                          <p:stCondLst>
                                            <p:cond delay="499"/>
                                          </p:stCondLst>
                                        </p:cTn>
                                        <p:tgtEl>
                                          <p:spTgt spid="66"/>
                                        </p:tgtEl>
                                        <p:attrNameLst>
                                          <p:attrName>style.visibility</p:attrName>
                                        </p:attrNameLst>
                                      </p:cBhvr>
                                      <p:to>
                                        <p:strVal val="hidden"/>
                                      </p:to>
                                    </p:set>
                                  </p:childTnLst>
                                </p:cTn>
                              </p:par>
                              <p:par>
                                <p:cTn id="157" presetID="10" presetClass="exit" presetSubtype="0" fill="hold" nodeType="withEffect">
                                  <p:stCondLst>
                                    <p:cond delay="0"/>
                                  </p:stCondLst>
                                  <p:childTnLst>
                                    <p:animEffect transition="out" filter="fade">
                                      <p:cBhvr>
                                        <p:cTn id="158" dur="500"/>
                                        <p:tgtEl>
                                          <p:spTgt spid="68"/>
                                        </p:tgtEl>
                                      </p:cBhvr>
                                    </p:animEffect>
                                    <p:set>
                                      <p:cBhvr>
                                        <p:cTn id="159" dur="1" fill="hold">
                                          <p:stCondLst>
                                            <p:cond delay="499"/>
                                          </p:stCondLst>
                                        </p:cTn>
                                        <p:tgtEl>
                                          <p:spTgt spid="68"/>
                                        </p:tgtEl>
                                        <p:attrNameLst>
                                          <p:attrName>style.visibility</p:attrName>
                                        </p:attrNameLst>
                                      </p:cBhvr>
                                      <p:to>
                                        <p:strVal val="hidden"/>
                                      </p:to>
                                    </p:set>
                                  </p:childTnLst>
                                </p:cTn>
                              </p:par>
                            </p:childTnLst>
                          </p:cTn>
                        </p:par>
                      </p:childTnLst>
                    </p:cTn>
                  </p:par>
                  <p:par>
                    <p:cTn id="160" fill="hold">
                      <p:stCondLst>
                        <p:cond delay="indefinite"/>
                      </p:stCondLst>
                      <p:childTnLst>
                        <p:par>
                          <p:cTn id="161" fill="hold">
                            <p:stCondLst>
                              <p:cond delay="0"/>
                            </p:stCondLst>
                            <p:childTnLst>
                              <p:par>
                                <p:cTn id="162" presetID="0" presetClass="path" presetSubtype="0" accel="50000" decel="50000" fill="hold" nodeType="clickEffect">
                                  <p:stCondLst>
                                    <p:cond delay="0"/>
                                  </p:stCondLst>
                                  <p:childTnLst>
                                    <p:animMotion origin="layout" path="M -0.00347 0.11581 L -0.00329 0.16967 " pathEditMode="relative" rAng="0" ptsTypes="AA">
                                      <p:cBhvr>
                                        <p:cTn id="163" dur="2000" fill="hold"/>
                                        <p:tgtEl>
                                          <p:spTgt spid="16"/>
                                        </p:tgtEl>
                                        <p:attrNameLst>
                                          <p:attrName>ppt_x</p:attrName>
                                          <p:attrName>ppt_y</p:attrName>
                                        </p:attrNameLst>
                                      </p:cBhvr>
                                      <p:rCtr x="0" y="2700"/>
                                    </p:animMotion>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grpId="0" nodeType="clickEffect">
                                  <p:stCondLst>
                                    <p:cond delay="0"/>
                                  </p:stCondLst>
                                  <p:childTnLst>
                                    <p:set>
                                      <p:cBhvr>
                                        <p:cTn id="167" dur="1" fill="hold">
                                          <p:stCondLst>
                                            <p:cond delay="0"/>
                                          </p:stCondLst>
                                        </p:cTn>
                                        <p:tgtEl>
                                          <p:spTgt spid="71"/>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presetID="1" presetClass="entr" presetSubtype="0" fill="hold" nodeType="clickEffect">
                                  <p:stCondLst>
                                    <p:cond delay="0"/>
                                  </p:stCondLst>
                                  <p:childTnLst>
                                    <p:set>
                                      <p:cBhvr>
                                        <p:cTn id="171" dur="1" fill="hold">
                                          <p:stCondLst>
                                            <p:cond delay="0"/>
                                          </p:stCondLst>
                                        </p:cTn>
                                        <p:tgtEl>
                                          <p:spTgt spid="72"/>
                                        </p:tgtEl>
                                        <p:attrNameLst>
                                          <p:attrName>style.visibility</p:attrName>
                                        </p:attrNameLst>
                                      </p:cBhvr>
                                      <p:to>
                                        <p:strVal val="visible"/>
                                      </p:to>
                                    </p:set>
                                  </p:childTnLst>
                                </p:cTn>
                              </p:par>
                            </p:childTnLst>
                          </p:cTn>
                        </p:par>
                      </p:childTnLst>
                    </p:cTn>
                  </p:par>
                  <p:par>
                    <p:cTn id="172" fill="hold">
                      <p:stCondLst>
                        <p:cond delay="indefinite"/>
                      </p:stCondLst>
                      <p:childTnLst>
                        <p:par>
                          <p:cTn id="173" fill="hold">
                            <p:stCondLst>
                              <p:cond delay="0"/>
                            </p:stCondLst>
                            <p:childTnLst>
                              <p:par>
                                <p:cTn id="174" presetID="0" presetClass="path" presetSubtype="0" accel="50000" decel="50000" fill="hold" nodeType="clickEffect">
                                  <p:stCondLst>
                                    <p:cond delay="0"/>
                                  </p:stCondLst>
                                  <p:childTnLst>
                                    <p:animMotion origin="layout" path="M -0.00121 0.00115 L -0.00104 0.06334 " pathEditMode="relative" ptsTypes="AA">
                                      <p:cBhvr>
                                        <p:cTn id="175" dur="2000" fill="hold"/>
                                        <p:tgtEl>
                                          <p:spTgt spid="72"/>
                                        </p:tgtEl>
                                        <p:attrNameLst>
                                          <p:attrName>ppt_x</p:attrName>
                                          <p:attrName>ppt_y</p:attrName>
                                        </p:attrNameLst>
                                      </p:cBhvr>
                                    </p:animMotion>
                                  </p:childTnLst>
                                </p:cTn>
                              </p:par>
                            </p:childTnLst>
                          </p:cTn>
                        </p:par>
                      </p:childTnLst>
                    </p:cTn>
                  </p:par>
                  <p:par>
                    <p:cTn id="176" fill="hold">
                      <p:stCondLst>
                        <p:cond delay="indefinite"/>
                      </p:stCondLst>
                      <p:childTnLst>
                        <p:par>
                          <p:cTn id="177" fill="hold">
                            <p:stCondLst>
                              <p:cond delay="0"/>
                            </p:stCondLst>
                            <p:childTnLst>
                              <p:par>
                                <p:cTn id="178" presetID="0" presetClass="path" presetSubtype="0" accel="50000" decel="50000" fill="hold" nodeType="clickEffect">
                                  <p:stCondLst>
                                    <p:cond delay="0"/>
                                  </p:stCondLst>
                                  <p:childTnLst>
                                    <p:animMotion origin="layout" path="M -0.00104 0.06334 L -0.00087 0.1313 " pathEditMode="relative" ptsTypes="AA">
                                      <p:cBhvr>
                                        <p:cTn id="179" dur="2000" fill="hold"/>
                                        <p:tgtEl>
                                          <p:spTgt spid="72"/>
                                        </p:tgtEl>
                                        <p:attrNameLst>
                                          <p:attrName>ppt_x</p:attrName>
                                          <p:attrName>ppt_y</p:attrName>
                                        </p:attrNameLst>
                                      </p:cBhvr>
                                    </p:animMotion>
                                  </p:childTnLst>
                                </p:cTn>
                              </p:par>
                            </p:childTnLst>
                          </p:cTn>
                        </p:par>
                      </p:childTnLst>
                    </p:cTn>
                  </p:par>
                  <p:par>
                    <p:cTn id="180" fill="hold">
                      <p:stCondLst>
                        <p:cond delay="indefinite"/>
                      </p:stCondLst>
                      <p:childTnLst>
                        <p:par>
                          <p:cTn id="181" fill="hold">
                            <p:stCondLst>
                              <p:cond delay="0"/>
                            </p:stCondLst>
                            <p:childTnLst>
                              <p:par>
                                <p:cTn id="182" presetID="0" presetClass="path" presetSubtype="0" accel="50000" decel="50000" fill="hold" nodeType="clickEffect">
                                  <p:stCondLst>
                                    <p:cond delay="0"/>
                                  </p:stCondLst>
                                  <p:childTnLst>
                                    <p:animMotion origin="layout" path="M -0.00104 0.12621 L -0.00086 0.18839 " pathEditMode="relative" rAng="0" ptsTypes="AA">
                                      <p:cBhvr>
                                        <p:cTn id="183" dur="2000" fill="hold"/>
                                        <p:tgtEl>
                                          <p:spTgt spid="72"/>
                                        </p:tgtEl>
                                        <p:attrNameLst>
                                          <p:attrName>ppt_x</p:attrName>
                                          <p:attrName>ppt_y</p:attrName>
                                        </p:attrNameLst>
                                      </p:cBhvr>
                                      <p:rCtr x="0" y="3100"/>
                                    </p:animMotion>
                                  </p:childTnLst>
                                </p:cTn>
                              </p:par>
                            </p:childTnLst>
                          </p:cTn>
                        </p:par>
                      </p:childTnLst>
                    </p:cTn>
                  </p:par>
                  <p:par>
                    <p:cTn id="184" fill="hold">
                      <p:stCondLst>
                        <p:cond delay="indefinite"/>
                      </p:stCondLst>
                      <p:childTnLst>
                        <p:par>
                          <p:cTn id="185" fill="hold">
                            <p:stCondLst>
                              <p:cond delay="0"/>
                            </p:stCondLst>
                            <p:childTnLst>
                              <p:par>
                                <p:cTn id="186" presetID="0" presetClass="path" presetSubtype="0" accel="50000" decel="50000" fill="hold" nodeType="clickEffect">
                                  <p:stCondLst>
                                    <p:cond delay="0"/>
                                  </p:stCondLst>
                                  <p:childTnLst>
                                    <p:animMotion origin="layout" path="M -0.00086 0.19232 L -0.00069 0.25196 " pathEditMode="relative" rAng="0" ptsTypes="AA">
                                      <p:cBhvr>
                                        <p:cTn id="187" dur="2000" fill="hold"/>
                                        <p:tgtEl>
                                          <p:spTgt spid="72"/>
                                        </p:tgtEl>
                                        <p:attrNameLst>
                                          <p:attrName>ppt_x</p:attrName>
                                          <p:attrName>ppt_y</p:attrName>
                                        </p:attrNameLst>
                                      </p:cBhvr>
                                      <p:rCtr x="0" y="3000"/>
                                    </p:animMotion>
                                  </p:childTnLst>
                                </p:cTn>
                              </p:par>
                            </p:childTnLst>
                          </p:cTn>
                        </p:par>
                      </p:childTnLst>
                    </p:cTn>
                  </p:par>
                  <p:par>
                    <p:cTn id="188" fill="hold">
                      <p:stCondLst>
                        <p:cond delay="indefinite"/>
                      </p:stCondLst>
                      <p:childTnLst>
                        <p:par>
                          <p:cTn id="189" fill="hold">
                            <p:stCondLst>
                              <p:cond delay="0"/>
                            </p:stCondLst>
                            <p:childTnLst>
                              <p:par>
                                <p:cTn id="190" presetID="10" presetClass="exit" presetSubtype="0" fill="hold" grpId="1" nodeType="clickEffect">
                                  <p:stCondLst>
                                    <p:cond delay="0"/>
                                  </p:stCondLst>
                                  <p:childTnLst>
                                    <p:animEffect transition="out" filter="fade">
                                      <p:cBhvr>
                                        <p:cTn id="191" dur="500"/>
                                        <p:tgtEl>
                                          <p:spTgt spid="71"/>
                                        </p:tgtEl>
                                      </p:cBhvr>
                                    </p:animEffect>
                                    <p:set>
                                      <p:cBhvr>
                                        <p:cTn id="192" dur="1" fill="hold">
                                          <p:stCondLst>
                                            <p:cond delay="499"/>
                                          </p:stCondLst>
                                        </p:cTn>
                                        <p:tgtEl>
                                          <p:spTgt spid="71"/>
                                        </p:tgtEl>
                                        <p:attrNameLst>
                                          <p:attrName>style.visibility</p:attrName>
                                        </p:attrNameLst>
                                      </p:cBhvr>
                                      <p:to>
                                        <p:strVal val="hidden"/>
                                      </p:to>
                                    </p:set>
                                  </p:childTnLst>
                                </p:cTn>
                              </p:par>
                              <p:par>
                                <p:cTn id="193" presetID="10" presetClass="exit" presetSubtype="0" fill="hold" nodeType="withEffect">
                                  <p:stCondLst>
                                    <p:cond delay="0"/>
                                  </p:stCondLst>
                                  <p:childTnLst>
                                    <p:animEffect transition="out" filter="fade">
                                      <p:cBhvr>
                                        <p:cTn id="194" dur="500"/>
                                        <p:tgtEl>
                                          <p:spTgt spid="72"/>
                                        </p:tgtEl>
                                      </p:cBhvr>
                                    </p:animEffect>
                                    <p:set>
                                      <p:cBhvr>
                                        <p:cTn id="195" dur="1" fill="hold">
                                          <p:stCondLst>
                                            <p:cond delay="499"/>
                                          </p:stCondLst>
                                        </p:cTn>
                                        <p:tgtEl>
                                          <p:spTgt spid="72"/>
                                        </p:tgtEl>
                                        <p:attrNameLst>
                                          <p:attrName>style.visibility</p:attrName>
                                        </p:attrNameLst>
                                      </p:cBhvr>
                                      <p:to>
                                        <p:strVal val="hidden"/>
                                      </p:to>
                                    </p:set>
                                  </p:childTnLst>
                                </p:cTn>
                              </p:par>
                            </p:childTnLst>
                          </p:cTn>
                        </p:par>
                      </p:childTnLst>
                    </p:cTn>
                  </p:par>
                  <p:par>
                    <p:cTn id="196" fill="hold">
                      <p:stCondLst>
                        <p:cond delay="indefinite"/>
                      </p:stCondLst>
                      <p:childTnLst>
                        <p:par>
                          <p:cTn id="197" fill="hold">
                            <p:stCondLst>
                              <p:cond delay="0"/>
                            </p:stCondLst>
                            <p:childTnLst>
                              <p:par>
                                <p:cTn id="198" presetID="10" presetClass="exit" presetSubtype="0" fill="hold" nodeType="clickEffect">
                                  <p:stCondLst>
                                    <p:cond delay="0"/>
                                  </p:stCondLst>
                                  <p:childTnLst>
                                    <p:animEffect transition="out" filter="fade">
                                      <p:cBhvr>
                                        <p:cTn id="199" dur="500"/>
                                        <p:tgtEl>
                                          <p:spTgt spid="16"/>
                                        </p:tgtEl>
                                      </p:cBhvr>
                                    </p:animEffect>
                                    <p:set>
                                      <p:cBhvr>
                                        <p:cTn id="200" dur="1" fill="hold">
                                          <p:stCondLst>
                                            <p:cond delay="499"/>
                                          </p:stCondLst>
                                        </p:cTn>
                                        <p:tgtEl>
                                          <p:spTgt spid="16"/>
                                        </p:tgtEl>
                                        <p:attrNameLst>
                                          <p:attrName>style.visibility</p:attrName>
                                        </p:attrNameLst>
                                      </p:cBhvr>
                                      <p:to>
                                        <p:strVal val="hidden"/>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grpId="0" nodeType="clickEffect">
                                  <p:stCondLst>
                                    <p:cond delay="0"/>
                                  </p:stCondLst>
                                  <p:childTnLst>
                                    <p:set>
                                      <p:cBhvr>
                                        <p:cTn id="20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205" fill="hold" display="0">
                  <p:stCondLst>
                    <p:cond delay="indefinite"/>
                  </p:stCondLst>
                  <p:endCondLst>
                    <p:cond evt="onStopAudio" delay="0">
                      <p:tgtEl>
                        <p:sldTgt/>
                      </p:tgtEl>
                    </p:cond>
                  </p:endCondLst>
                </p:cTn>
                <p:tgtEl>
                  <p:spTgt spid="4"/>
                </p:tgtEl>
              </p:cMediaNode>
            </p:audio>
          </p:childTnLst>
        </p:cTn>
      </p:par>
    </p:tnLst>
    <p:bldLst>
      <p:bldP spid="2" grpId="0" bldLvl="0" animBg="1"/>
      <p:bldP spid="3" grpId="0" bldLvl="0" animBg="1"/>
      <p:bldP spid="43" grpId="0" bldLvl="0" animBg="1"/>
      <p:bldP spid="5" grpId="0" bldLvl="0" animBg="1"/>
      <p:bldP spid="5" grpId="1" bldLvl="0" animBg="1"/>
      <p:bldP spid="64" grpId="0" bldLvl="0" animBg="1"/>
      <p:bldP spid="64" grpId="1" bldLvl="0" animBg="1"/>
      <p:bldP spid="66" grpId="0" bldLvl="0" animBg="1"/>
      <p:bldP spid="66" grpId="1" bldLvl="0" animBg="1"/>
      <p:bldP spid="71" grpId="0" bldLvl="0" animBg="1"/>
      <p:bldP spid="71" grpId="1"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xfrm>
            <a:off x="2471738" y="333375"/>
            <a:ext cx="7391400" cy="422275"/>
          </a:xfrm>
        </p:spPr>
        <p:txBody>
          <a:bodyPr vert="horz" wrap="square" lIns="91440" tIns="45720" rIns="91440" bIns="45720" anchor="ctr" anchorCtr="0"/>
          <a:p>
            <a:pPr eaLnBrk="1" hangingPunct="1"/>
            <a:r>
              <a:rPr lang="zh-CN" altLang="en-US" dirty="0"/>
              <a:t>排序合并实例</a:t>
            </a:r>
            <a:endParaRPr lang="en-US" altLang="zh-CN" dirty="0"/>
          </a:p>
        </p:txBody>
      </p:sp>
      <p:sp>
        <p:nvSpPr>
          <p:cNvPr id="19459" name="Rectangle 3"/>
          <p:cNvSpPr>
            <a:spLocks noGrp="1"/>
          </p:cNvSpPr>
          <p:nvPr>
            <p:ph type="body" sz="half" idx="1"/>
          </p:nvPr>
        </p:nvSpPr>
        <p:spPr>
          <a:xfrm>
            <a:off x="1981200" y="1909763"/>
            <a:ext cx="7570788" cy="1038225"/>
          </a:xfrm>
        </p:spPr>
        <p:txBody>
          <a:bodyPr vert="horz" wrap="square" lIns="91440" tIns="45720" rIns="91440" bIns="45720" anchor="t" anchorCtr="0"/>
          <a:p>
            <a:pPr eaLnBrk="1" hangingPunct="1">
              <a:buClrTx/>
              <a:buSzPct val="100000"/>
              <a:buFont typeface="Wingdings" panose="05000000000000000000" pitchFamily="2" charset="2"/>
              <a:buNone/>
            </a:pPr>
            <a:r>
              <a:rPr lang="en-US" altLang="zh-CN" sz="2400" dirty="0"/>
              <a:t>[</a:t>
            </a:r>
            <a:r>
              <a:rPr lang="zh-CN" altLang="en-US" sz="2400" dirty="0">
                <a:ea typeface="黑体" panose="02010609060101010101" pitchFamily="49" charset="-122"/>
              </a:rPr>
              <a:t>例</a:t>
            </a:r>
            <a:r>
              <a:rPr lang="en-US" altLang="zh-CN" sz="2400" dirty="0"/>
              <a:t>]</a:t>
            </a:r>
            <a:r>
              <a:rPr lang="zh-CN" altLang="en-US" sz="2400" dirty="0"/>
              <a:t>关系</a:t>
            </a:r>
            <a:r>
              <a:rPr lang="en-US" altLang="zh-CN" sz="2400" i="1" dirty="0"/>
              <a:t>R</a:t>
            </a:r>
            <a:r>
              <a:rPr lang="zh-CN" altLang="en-US" sz="2400" dirty="0"/>
              <a:t>和关系</a:t>
            </a:r>
            <a:r>
              <a:rPr lang="en-US" altLang="zh-CN" sz="2400" i="1" dirty="0"/>
              <a:t>S</a:t>
            </a:r>
            <a:r>
              <a:rPr lang="en-US" altLang="zh-CN" sz="2400" dirty="0"/>
              <a:t> </a:t>
            </a:r>
            <a:r>
              <a:rPr lang="zh-CN" altLang="en-US" sz="2400" dirty="0"/>
              <a:t>如下所示：</a:t>
            </a:r>
            <a:endParaRPr lang="zh-CN" altLang="en-US" sz="2400" dirty="0"/>
          </a:p>
        </p:txBody>
      </p:sp>
      <p:graphicFrame>
        <p:nvGraphicFramePr>
          <p:cNvPr id="10" name="表格 9"/>
          <p:cNvGraphicFramePr>
            <a:graphicFrameLocks noGrp="1"/>
          </p:cNvGraphicFramePr>
          <p:nvPr/>
        </p:nvGraphicFramePr>
        <p:xfrm>
          <a:off x="2459038" y="3001963"/>
          <a:ext cx="2052320" cy="1674810"/>
        </p:xfrm>
        <a:graphic>
          <a:graphicData uri="http://schemas.openxmlformats.org/drawingml/2006/table">
            <a:tbl>
              <a:tblPr firstRow="1" bandRow="1">
                <a:tableStyleId>{5C22544A-7EE6-4342-B048-85BDC9FD1C3A}</a:tableStyleId>
              </a:tblPr>
              <a:tblGrid>
                <a:gridCol w="683895"/>
                <a:gridCol w="684530"/>
                <a:gridCol w="683895"/>
              </a:tblGrid>
              <a:tr h="334962">
                <a:tc>
                  <a:txBody>
                    <a:bodyPr/>
                    <a:lstStyle/>
                    <a:p>
                      <a:pPr algn="ctr"/>
                      <a:r>
                        <a:rPr lang="en-US" altLang="zh-CN" sz="1400" b="0" i="1" dirty="0">
                          <a:solidFill>
                            <a:schemeClr val="tx1"/>
                          </a:solidFill>
                          <a:latin typeface="Calibri" panose="020F0502020204030204" pitchFamily="34" charset="0"/>
                        </a:rPr>
                        <a:t>A</a:t>
                      </a:r>
                      <a:endParaRPr lang="zh-CN" altLang="en-US" sz="1400" b="0" i="1" dirty="0">
                        <a:solidFill>
                          <a:schemeClr val="tx1"/>
                        </a:solidFill>
                        <a:latin typeface="Calibri" panose="020F0502020204030204" pitchFamily="34" charset="0"/>
                      </a:endParaRPr>
                    </a:p>
                  </a:txBody>
                  <a:tcPr marL="91468" marR="91468" marT="34307" marB="3430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B</a:t>
                      </a:r>
                      <a:endParaRPr lang="zh-CN" altLang="en-US" sz="1400" b="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C</a:t>
                      </a:r>
                      <a:endParaRPr lang="zh-CN" altLang="en-US" sz="1400" b="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4962">
                <a:tc>
                  <a:txBody>
                    <a:bodyPr/>
                    <a:lstStyle/>
                    <a:p>
                      <a:pPr algn="ctr"/>
                      <a:r>
                        <a:rPr lang="en-US" altLang="zh-CN" sz="1400" i="1" dirty="0">
                          <a:solidFill>
                            <a:schemeClr val="tx1"/>
                          </a:solidFill>
                          <a:latin typeface="Calibri" panose="020F0502020204030204" pitchFamily="34" charset="0"/>
                        </a:rPr>
                        <a:t>a1</a:t>
                      </a:r>
                      <a:endParaRPr lang="zh-CN" altLang="en-US" sz="1400" i="1" dirty="0">
                        <a:solidFill>
                          <a:schemeClr val="tx1"/>
                        </a:solidFill>
                        <a:latin typeface="Calibri" panose="020F0502020204030204" pitchFamily="34" charset="0"/>
                      </a:endParaRPr>
                    </a:p>
                  </a:txBody>
                  <a:tcPr marL="91468" marR="91468" marT="34307" marB="3430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b1</a:t>
                      </a:r>
                      <a:endParaRPr lang="zh-CN" altLang="en-US" sz="140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5</a:t>
                      </a:r>
                      <a:endParaRPr lang="zh-CN" altLang="en-US" sz="140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4962">
                <a:tc>
                  <a:txBody>
                    <a:bodyPr/>
                    <a:lstStyle/>
                    <a:p>
                      <a:pPr algn="ctr"/>
                      <a:r>
                        <a:rPr lang="en-US" altLang="zh-CN" sz="1400" i="1" dirty="0">
                          <a:solidFill>
                            <a:schemeClr val="tx1"/>
                          </a:solidFill>
                          <a:latin typeface="Calibri" panose="020F0502020204030204" pitchFamily="34" charset="0"/>
                        </a:rPr>
                        <a:t>a1</a:t>
                      </a:r>
                      <a:endParaRPr lang="zh-CN" altLang="en-US" sz="1400" i="1" dirty="0">
                        <a:solidFill>
                          <a:schemeClr val="tx1"/>
                        </a:solidFill>
                        <a:latin typeface="Calibri" panose="020F0502020204030204" pitchFamily="34" charset="0"/>
                      </a:endParaRPr>
                    </a:p>
                  </a:txBody>
                  <a:tcPr marL="91468" marR="91468" marT="34307" marB="3430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b2</a:t>
                      </a:r>
                      <a:endParaRPr lang="zh-CN" altLang="en-US" sz="140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6</a:t>
                      </a:r>
                      <a:endParaRPr lang="zh-CN" altLang="en-US" sz="140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4962">
                <a:tc>
                  <a:txBody>
                    <a:bodyPr/>
                    <a:lstStyle/>
                    <a:p>
                      <a:pPr algn="ctr"/>
                      <a:r>
                        <a:rPr lang="en-US" altLang="zh-CN" sz="1400" i="1" dirty="0">
                          <a:solidFill>
                            <a:schemeClr val="tx1"/>
                          </a:solidFill>
                          <a:latin typeface="Calibri" panose="020F0502020204030204" pitchFamily="34" charset="0"/>
                        </a:rPr>
                        <a:t>a2</a:t>
                      </a:r>
                      <a:endParaRPr lang="zh-CN" altLang="en-US" sz="1400" i="1" dirty="0">
                        <a:solidFill>
                          <a:schemeClr val="tx1"/>
                        </a:solidFill>
                        <a:latin typeface="Calibri" panose="020F0502020204030204" pitchFamily="34" charset="0"/>
                      </a:endParaRPr>
                    </a:p>
                  </a:txBody>
                  <a:tcPr marL="91468" marR="91468" marT="34307" marB="3430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b3</a:t>
                      </a:r>
                      <a:endParaRPr lang="zh-CN" altLang="en-US" sz="140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8</a:t>
                      </a:r>
                      <a:endParaRPr lang="zh-CN" altLang="en-US" sz="140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4962">
                <a:tc>
                  <a:txBody>
                    <a:bodyPr/>
                    <a:lstStyle/>
                    <a:p>
                      <a:pPr algn="ctr"/>
                      <a:r>
                        <a:rPr lang="en-US" altLang="zh-CN" sz="1400" i="1" dirty="0">
                          <a:solidFill>
                            <a:schemeClr val="tx1"/>
                          </a:solidFill>
                          <a:latin typeface="Calibri" panose="020F0502020204030204" pitchFamily="34" charset="0"/>
                        </a:rPr>
                        <a:t>a3</a:t>
                      </a:r>
                      <a:endParaRPr lang="zh-CN" altLang="en-US" sz="1400" i="1" dirty="0">
                        <a:solidFill>
                          <a:schemeClr val="tx1"/>
                        </a:solidFill>
                        <a:latin typeface="Calibri" panose="020F0502020204030204" pitchFamily="34" charset="0"/>
                      </a:endParaRPr>
                    </a:p>
                  </a:txBody>
                  <a:tcPr marL="91468" marR="91468" marT="34307" marB="3430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b4</a:t>
                      </a:r>
                      <a:endParaRPr lang="zh-CN" altLang="en-US" sz="140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12</a:t>
                      </a:r>
                      <a:endParaRPr lang="zh-CN" altLang="en-US" sz="1400" i="1" dirty="0">
                        <a:solidFill>
                          <a:schemeClr val="tx1"/>
                        </a:solidFill>
                        <a:latin typeface="Calibri" panose="020F0502020204030204" pitchFamily="34" charset="0"/>
                      </a:endParaRPr>
                    </a:p>
                  </a:txBody>
                  <a:tcPr marL="91468" marR="91468" marT="34307" marB="3430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19481" name="TextBox 10"/>
          <p:cNvSpPr txBox="1"/>
          <p:nvPr/>
        </p:nvSpPr>
        <p:spPr>
          <a:xfrm>
            <a:off x="2711450" y="2624138"/>
            <a:ext cx="1223963" cy="3683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i="1" dirty="0">
                <a:latin typeface="Calibri" panose="020F0502020204030204" pitchFamily="34" charset="0"/>
              </a:rPr>
              <a:t>R</a:t>
            </a:r>
            <a:endParaRPr lang="zh-CN" altLang="en-US" sz="1800" b="0" i="1" dirty="0">
              <a:latin typeface="Calibri" panose="020F0502020204030204" pitchFamily="34" charset="0"/>
            </a:endParaRPr>
          </a:p>
        </p:txBody>
      </p:sp>
      <p:graphicFrame>
        <p:nvGraphicFramePr>
          <p:cNvPr id="12" name="表格 11"/>
          <p:cNvGraphicFramePr>
            <a:graphicFrameLocks noGrp="1"/>
          </p:cNvGraphicFramePr>
          <p:nvPr/>
        </p:nvGraphicFramePr>
        <p:xfrm>
          <a:off x="5951538" y="2786063"/>
          <a:ext cx="1331595" cy="2214562"/>
        </p:xfrm>
        <a:graphic>
          <a:graphicData uri="http://schemas.openxmlformats.org/drawingml/2006/table">
            <a:tbl>
              <a:tblPr firstRow="1" bandRow="1">
                <a:tableStyleId>{5C22544A-7EE6-4342-B048-85BDC9FD1C3A}</a:tableStyleId>
              </a:tblPr>
              <a:tblGrid>
                <a:gridCol w="666115"/>
                <a:gridCol w="665480"/>
              </a:tblGrid>
              <a:tr h="316366">
                <a:tc>
                  <a:txBody>
                    <a:bodyPr/>
                    <a:lstStyle/>
                    <a:p>
                      <a:pPr algn="ctr"/>
                      <a:r>
                        <a:rPr lang="en-US" altLang="zh-CN" sz="1400" b="0" i="1" dirty="0">
                          <a:solidFill>
                            <a:schemeClr val="tx1"/>
                          </a:solidFill>
                          <a:latin typeface="Calibri" panose="020F0502020204030204" pitchFamily="34" charset="0"/>
                        </a:rPr>
                        <a:t>B</a:t>
                      </a:r>
                      <a:endParaRPr lang="zh-CN" altLang="en-US" sz="1400" b="0" i="1" dirty="0">
                        <a:solidFill>
                          <a:schemeClr val="tx1"/>
                        </a:solidFill>
                        <a:latin typeface="Calibri" panose="020F0502020204030204" pitchFamily="34" charset="0"/>
                      </a:endParaRPr>
                    </a:p>
                  </a:txBody>
                  <a:tcPr marL="91434" marR="91434" marT="34299" marB="3429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a:t>
                      </a:r>
                      <a:endParaRPr lang="zh-CN" altLang="en-US" sz="1400" b="0" i="1" dirty="0">
                        <a:solidFill>
                          <a:schemeClr val="tx1"/>
                        </a:solidFill>
                        <a:latin typeface="Calibri" panose="020F0502020204030204" pitchFamily="34" charset="0"/>
                      </a:endParaRPr>
                    </a:p>
                  </a:txBody>
                  <a:tcPr marL="91434" marR="91434" marT="34299" marB="3429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16366">
                <a:tc>
                  <a:txBody>
                    <a:bodyPr/>
                    <a:lstStyle/>
                    <a:p>
                      <a:pPr algn="ctr"/>
                      <a:r>
                        <a:rPr lang="en-US" altLang="zh-CN" sz="1400" b="0" i="1" dirty="0">
                          <a:solidFill>
                            <a:schemeClr val="tx1"/>
                          </a:solidFill>
                          <a:latin typeface="Calibri" panose="020F0502020204030204" pitchFamily="34" charset="0"/>
                        </a:rPr>
                        <a:t>b1</a:t>
                      </a:r>
                      <a:endParaRPr lang="zh-CN" altLang="en-US" sz="1400" b="0" i="1" dirty="0">
                        <a:solidFill>
                          <a:schemeClr val="tx1"/>
                        </a:solidFill>
                        <a:latin typeface="Calibri" panose="020F0502020204030204" pitchFamily="34" charset="0"/>
                      </a:endParaRPr>
                    </a:p>
                  </a:txBody>
                  <a:tcPr marL="91434" marR="91434" marT="34299" marB="3429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3</a:t>
                      </a:r>
                      <a:endParaRPr lang="zh-CN" altLang="en-US" sz="1400" b="0" i="1" dirty="0">
                        <a:solidFill>
                          <a:schemeClr val="tx1"/>
                        </a:solidFill>
                        <a:latin typeface="Calibri" panose="020F0502020204030204" pitchFamily="34" charset="0"/>
                      </a:endParaRPr>
                    </a:p>
                  </a:txBody>
                  <a:tcPr marL="91434" marR="91434" marT="34299" marB="3429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16366">
                <a:tc>
                  <a:txBody>
                    <a:bodyPr/>
                    <a:lstStyle/>
                    <a:p>
                      <a:pPr algn="ctr"/>
                      <a:r>
                        <a:rPr lang="en-US" altLang="zh-CN" sz="1400" b="0" i="1" dirty="0">
                          <a:solidFill>
                            <a:schemeClr val="tx1"/>
                          </a:solidFill>
                          <a:latin typeface="Calibri" panose="020F0502020204030204" pitchFamily="34" charset="0"/>
                        </a:rPr>
                        <a:t>b2</a:t>
                      </a:r>
                      <a:endParaRPr lang="zh-CN" altLang="en-US" sz="1400" b="0" i="1" dirty="0">
                        <a:solidFill>
                          <a:schemeClr val="tx1"/>
                        </a:solidFill>
                        <a:latin typeface="Calibri" panose="020F0502020204030204" pitchFamily="34" charset="0"/>
                      </a:endParaRPr>
                    </a:p>
                  </a:txBody>
                  <a:tcPr marL="91434" marR="91434" marT="34299" marB="3429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7</a:t>
                      </a:r>
                      <a:endParaRPr lang="zh-CN" altLang="en-US" sz="1400" b="0" i="1" dirty="0">
                        <a:solidFill>
                          <a:schemeClr val="tx1"/>
                        </a:solidFill>
                        <a:latin typeface="Calibri" panose="020F0502020204030204" pitchFamily="34" charset="0"/>
                      </a:endParaRPr>
                    </a:p>
                  </a:txBody>
                  <a:tcPr marL="91434" marR="91434" marT="34299" marB="3429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16366">
                <a:tc>
                  <a:txBody>
                    <a:bodyPr/>
                    <a:lstStyle/>
                    <a:p>
                      <a:pPr algn="ctr"/>
                      <a:r>
                        <a:rPr lang="en-US" altLang="zh-CN" sz="1400" b="0" i="1" dirty="0">
                          <a:solidFill>
                            <a:schemeClr val="tx1"/>
                          </a:solidFill>
                          <a:latin typeface="Calibri" panose="020F0502020204030204" pitchFamily="34" charset="0"/>
                        </a:rPr>
                        <a:t>b3</a:t>
                      </a:r>
                      <a:endParaRPr lang="zh-CN" altLang="en-US" sz="1400" b="0" i="1" dirty="0">
                        <a:solidFill>
                          <a:schemeClr val="tx1"/>
                        </a:solidFill>
                        <a:latin typeface="Calibri" panose="020F0502020204030204" pitchFamily="34" charset="0"/>
                      </a:endParaRPr>
                    </a:p>
                  </a:txBody>
                  <a:tcPr marL="91434" marR="91434" marT="34299" marB="3429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10</a:t>
                      </a:r>
                      <a:endParaRPr lang="zh-CN" altLang="en-US" sz="1400" b="0" i="1" dirty="0">
                        <a:solidFill>
                          <a:schemeClr val="tx1"/>
                        </a:solidFill>
                        <a:latin typeface="Calibri" panose="020F0502020204030204" pitchFamily="34" charset="0"/>
                      </a:endParaRPr>
                    </a:p>
                  </a:txBody>
                  <a:tcPr marL="91434" marR="91434" marT="34299" marB="3429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16366">
                <a:tc>
                  <a:txBody>
                    <a:bodyPr/>
                    <a:lstStyle/>
                    <a:p>
                      <a:pPr algn="ctr"/>
                      <a:r>
                        <a:rPr lang="en-US" altLang="zh-CN" sz="1400" b="0" i="1" dirty="0">
                          <a:solidFill>
                            <a:schemeClr val="tx1"/>
                          </a:solidFill>
                          <a:latin typeface="Calibri" panose="020F0502020204030204" pitchFamily="34" charset="0"/>
                        </a:rPr>
                        <a:t>b3</a:t>
                      </a:r>
                      <a:endParaRPr lang="zh-CN" altLang="en-US" sz="1400" b="0" i="1" dirty="0">
                        <a:solidFill>
                          <a:schemeClr val="tx1"/>
                        </a:solidFill>
                        <a:latin typeface="Calibri" panose="020F0502020204030204" pitchFamily="34" charset="0"/>
                      </a:endParaRPr>
                    </a:p>
                  </a:txBody>
                  <a:tcPr marL="91434" marR="91434" marT="34299" marB="3429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2</a:t>
                      </a:r>
                      <a:endParaRPr lang="zh-CN" altLang="en-US" sz="1400" b="0" i="1" dirty="0">
                        <a:solidFill>
                          <a:schemeClr val="tx1"/>
                        </a:solidFill>
                        <a:latin typeface="Calibri" panose="020F0502020204030204" pitchFamily="34" charset="0"/>
                      </a:endParaRPr>
                    </a:p>
                  </a:txBody>
                  <a:tcPr marL="91434" marR="91434" marT="34299" marB="3429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16366">
                <a:tc>
                  <a:txBody>
                    <a:bodyPr/>
                    <a:lstStyle/>
                    <a:p>
                      <a:pPr algn="ctr"/>
                      <a:r>
                        <a:rPr lang="en-US" altLang="zh-CN" sz="1400" b="0" i="1" dirty="0">
                          <a:solidFill>
                            <a:schemeClr val="tx1"/>
                          </a:solidFill>
                          <a:latin typeface="Calibri" panose="020F0502020204030204" pitchFamily="34" charset="0"/>
                        </a:rPr>
                        <a:t>b5</a:t>
                      </a:r>
                      <a:endParaRPr lang="zh-CN" altLang="en-US" sz="1400" b="0" i="1" dirty="0">
                        <a:solidFill>
                          <a:schemeClr val="tx1"/>
                        </a:solidFill>
                        <a:latin typeface="Calibri" panose="020F0502020204030204" pitchFamily="34" charset="0"/>
                      </a:endParaRPr>
                    </a:p>
                  </a:txBody>
                  <a:tcPr marL="91434" marR="91434" marT="34299" marB="3429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2</a:t>
                      </a:r>
                      <a:endParaRPr lang="zh-CN" altLang="en-US" sz="1400" b="0" i="1" dirty="0">
                        <a:solidFill>
                          <a:schemeClr val="tx1"/>
                        </a:solidFill>
                        <a:latin typeface="Calibri" panose="020F0502020204030204" pitchFamily="34" charset="0"/>
                      </a:endParaRPr>
                    </a:p>
                  </a:txBody>
                  <a:tcPr marL="91434" marR="91434" marT="34299" marB="3429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16366">
                <a:tc gridSpan="2">
                  <a:txBody>
                    <a:bodyPr/>
                    <a:lstStyle/>
                    <a:p>
                      <a:pPr algn="ctr"/>
                      <a:r>
                        <a:rPr lang="en-US" altLang="zh-CN" sz="1400" b="1" i="1" dirty="0">
                          <a:solidFill>
                            <a:srgbClr val="FF0000"/>
                          </a:solidFill>
                          <a:latin typeface="Calibri" panose="020F0502020204030204" pitchFamily="34" charset="0"/>
                        </a:rPr>
                        <a:t>······</a:t>
                      </a:r>
                      <a:endParaRPr lang="zh-CN" altLang="en-US" sz="1400" b="1" i="1" dirty="0">
                        <a:solidFill>
                          <a:srgbClr val="FF0000"/>
                        </a:solidFill>
                        <a:latin typeface="Calibri" panose="020F0502020204030204" pitchFamily="34" charset="0"/>
                      </a:endParaRPr>
                    </a:p>
                  </a:txBody>
                  <a:tcPr marL="91434" marR="91434" marT="34299" marB="3429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19500" name="TextBox 12"/>
          <p:cNvSpPr txBox="1"/>
          <p:nvPr/>
        </p:nvSpPr>
        <p:spPr>
          <a:xfrm>
            <a:off x="6167438" y="2400300"/>
            <a:ext cx="1223962" cy="3683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i="1" dirty="0">
                <a:latin typeface="Calibri" panose="020F0502020204030204" pitchFamily="34" charset="0"/>
              </a:rPr>
              <a:t>S</a:t>
            </a:r>
            <a:endParaRPr lang="zh-CN" altLang="en-US" sz="1800" b="0" i="1" dirty="0">
              <a:latin typeface="Calibri" panose="020F0502020204030204" pitchFamily="34" charset="0"/>
            </a:endParaRPr>
          </a:p>
        </p:txBody>
      </p:sp>
      <p:pic>
        <p:nvPicPr>
          <p:cNvPr id="2" name="1C643972.wav">
            <a:hlinkClick r:id="" action="ppaction://media"/>
          </p:cNvPr>
          <p:cNvPicPr>
            <a:picLocks noChangeAspect="1"/>
          </p:cNvPicPr>
          <p:nvPr>
            <a:wavAudioFile r:embed="rId1"/>
          </p:nvPr>
        </p:nvPicPr>
        <p:blipFill>
          <a:blip r:embed="rId2"/>
          <a:stretch>
            <a:fillRect/>
          </a:stretch>
        </p:blipFill>
        <p:spPr>
          <a:xfrm>
            <a:off x="9842500" y="5062538"/>
            <a:ext cx="609600" cy="457200"/>
          </a:xfrm>
          <a:prstGeom prst="rect">
            <a:avLst/>
          </a:prstGeom>
          <a:noFill/>
          <a:ln w="9525">
            <a:noFill/>
          </a:ln>
        </p:spPr>
      </p:pic>
    </p:spTree>
  </p:cSld>
  <p:clrMapOvr>
    <a:masterClrMapping/>
  </p:clrMapOvr>
  <p:transition spd="slow" advTm="778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10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5" name="表格 34"/>
          <p:cNvGraphicFramePr>
            <a:graphicFrameLocks noGrp="1"/>
          </p:cNvGraphicFramePr>
          <p:nvPr/>
        </p:nvGraphicFramePr>
        <p:xfrm>
          <a:off x="4224338" y="2822575"/>
          <a:ext cx="1366520" cy="2225675"/>
        </p:xfrm>
        <a:graphic>
          <a:graphicData uri="http://schemas.openxmlformats.org/drawingml/2006/table">
            <a:tbl>
              <a:tblPr firstRow="1" bandRow="1">
                <a:tableStyleId>{5C22544A-7EE6-4342-B048-85BDC9FD1C3A}</a:tableStyleId>
              </a:tblPr>
              <a:tblGrid>
                <a:gridCol w="683260"/>
                <a:gridCol w="683260"/>
              </a:tblGrid>
              <a:tr h="323957">
                <a:tc>
                  <a:txBody>
                    <a:bodyPr/>
                    <a:lstStyle/>
                    <a:p>
                      <a:pPr algn="ctr"/>
                      <a:r>
                        <a:rPr lang="en-US" altLang="zh-CN" sz="1400" b="0" i="1" dirty="0">
                          <a:solidFill>
                            <a:srgbClr val="FF0000"/>
                          </a:solidFill>
                          <a:latin typeface="Calibri" panose="020F0502020204030204" pitchFamily="34" charset="0"/>
                        </a:rPr>
                        <a:t>B</a:t>
                      </a:r>
                      <a:endParaRPr lang="zh-CN" altLang="en-US" sz="1400" b="0" i="1" dirty="0">
                        <a:solidFill>
                          <a:srgbClr val="FF0000"/>
                        </a:solidFill>
                        <a:latin typeface="Calibri" panose="020F0502020204030204" pitchFamily="34" charset="0"/>
                      </a:endParaRPr>
                    </a:p>
                  </a:txBody>
                  <a:tcPr marL="91362" marR="91362" marT="34286" marB="34286">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a:t>
                      </a:r>
                      <a:endParaRPr lang="zh-CN" altLang="en-US" sz="1400" b="0" i="1" dirty="0">
                        <a:solidFill>
                          <a:schemeClr val="tx1"/>
                        </a:solidFill>
                        <a:latin typeface="Calibri" panose="020F0502020204030204" pitchFamily="34" charset="0"/>
                      </a:endParaRPr>
                    </a:p>
                  </a:txBody>
                  <a:tcPr marL="91362" marR="91362" marT="34286" marB="34286">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23957">
                <a:tc>
                  <a:txBody>
                    <a:bodyPr/>
                    <a:lstStyle/>
                    <a:p>
                      <a:pPr algn="ctr"/>
                      <a:r>
                        <a:rPr lang="en-US" altLang="zh-CN" sz="1400" b="0" i="1" dirty="0">
                          <a:solidFill>
                            <a:srgbClr val="FF0000"/>
                          </a:solidFill>
                          <a:latin typeface="Calibri" panose="020F0502020204030204" pitchFamily="34" charset="0"/>
                        </a:rPr>
                        <a:t>b1</a:t>
                      </a:r>
                      <a:endParaRPr lang="zh-CN" altLang="en-US" sz="1400" b="0" i="1" dirty="0">
                        <a:solidFill>
                          <a:srgbClr val="FF0000"/>
                        </a:solidFill>
                        <a:latin typeface="Calibri" panose="020F0502020204030204" pitchFamily="34" charset="0"/>
                      </a:endParaRPr>
                    </a:p>
                  </a:txBody>
                  <a:tcPr marL="91362" marR="91362" marT="34286" marB="34286">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3</a:t>
                      </a:r>
                      <a:endParaRPr lang="zh-CN" altLang="en-US" sz="1400" b="0" i="1" dirty="0">
                        <a:solidFill>
                          <a:schemeClr val="tx1"/>
                        </a:solidFill>
                        <a:latin typeface="Calibri" panose="020F0502020204030204" pitchFamily="34" charset="0"/>
                      </a:endParaRPr>
                    </a:p>
                  </a:txBody>
                  <a:tcPr marL="91362" marR="91362" marT="34286" marB="34286">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23957">
                <a:tc>
                  <a:txBody>
                    <a:bodyPr/>
                    <a:lstStyle/>
                    <a:p>
                      <a:pPr algn="ctr"/>
                      <a:r>
                        <a:rPr lang="en-US" altLang="zh-CN" sz="1400" b="0" i="1" dirty="0">
                          <a:solidFill>
                            <a:srgbClr val="FF0000"/>
                          </a:solidFill>
                          <a:latin typeface="Calibri" panose="020F0502020204030204" pitchFamily="34" charset="0"/>
                        </a:rPr>
                        <a:t>b2</a:t>
                      </a:r>
                      <a:endParaRPr lang="zh-CN" altLang="en-US" sz="1400" b="0" i="1" dirty="0">
                        <a:solidFill>
                          <a:srgbClr val="FF0000"/>
                        </a:solidFill>
                        <a:latin typeface="Calibri" panose="020F0502020204030204" pitchFamily="34" charset="0"/>
                      </a:endParaRPr>
                    </a:p>
                  </a:txBody>
                  <a:tcPr marL="91362" marR="91362" marT="34286" marB="34286">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7</a:t>
                      </a:r>
                      <a:endParaRPr lang="zh-CN" altLang="en-US" sz="1400" b="0" i="1" dirty="0">
                        <a:solidFill>
                          <a:schemeClr val="tx1"/>
                        </a:solidFill>
                        <a:latin typeface="Calibri" panose="020F0502020204030204" pitchFamily="34" charset="0"/>
                      </a:endParaRPr>
                    </a:p>
                  </a:txBody>
                  <a:tcPr marL="91362" marR="91362" marT="34286" marB="34286">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23957">
                <a:tc>
                  <a:txBody>
                    <a:bodyPr/>
                    <a:lstStyle/>
                    <a:p>
                      <a:pPr algn="ctr"/>
                      <a:r>
                        <a:rPr lang="en-US" altLang="zh-CN" sz="1400" b="0" i="1" dirty="0">
                          <a:solidFill>
                            <a:srgbClr val="FF0000"/>
                          </a:solidFill>
                          <a:latin typeface="Calibri" panose="020F0502020204030204" pitchFamily="34" charset="0"/>
                        </a:rPr>
                        <a:t>b3</a:t>
                      </a:r>
                      <a:endParaRPr lang="zh-CN" altLang="en-US" sz="1400" b="0" i="1" dirty="0">
                        <a:solidFill>
                          <a:srgbClr val="FF0000"/>
                        </a:solidFill>
                        <a:latin typeface="Calibri" panose="020F0502020204030204" pitchFamily="34" charset="0"/>
                      </a:endParaRPr>
                    </a:p>
                  </a:txBody>
                  <a:tcPr marL="91362" marR="91362" marT="34286" marB="34286">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10</a:t>
                      </a:r>
                      <a:endParaRPr lang="zh-CN" altLang="en-US" sz="1400" b="0" i="1" dirty="0">
                        <a:solidFill>
                          <a:schemeClr val="tx1"/>
                        </a:solidFill>
                        <a:latin typeface="Calibri" panose="020F0502020204030204" pitchFamily="34" charset="0"/>
                      </a:endParaRPr>
                    </a:p>
                  </a:txBody>
                  <a:tcPr marL="91362" marR="91362" marT="34286" marB="34286">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23957">
                <a:tc>
                  <a:txBody>
                    <a:bodyPr/>
                    <a:lstStyle/>
                    <a:p>
                      <a:pPr algn="ctr"/>
                      <a:r>
                        <a:rPr lang="en-US" altLang="zh-CN" sz="1400" b="0" i="1" dirty="0">
                          <a:solidFill>
                            <a:srgbClr val="FF0000"/>
                          </a:solidFill>
                          <a:latin typeface="Calibri" panose="020F0502020204030204" pitchFamily="34" charset="0"/>
                        </a:rPr>
                        <a:t>b3</a:t>
                      </a:r>
                      <a:endParaRPr lang="zh-CN" altLang="en-US" sz="1400" b="0" i="1" dirty="0">
                        <a:solidFill>
                          <a:srgbClr val="FF0000"/>
                        </a:solidFill>
                        <a:latin typeface="Calibri" panose="020F0502020204030204" pitchFamily="34" charset="0"/>
                      </a:endParaRPr>
                    </a:p>
                  </a:txBody>
                  <a:tcPr marL="91362" marR="91362" marT="34286" marB="34286">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2</a:t>
                      </a:r>
                      <a:endParaRPr lang="zh-CN" altLang="en-US" sz="1400" b="0" i="1" dirty="0">
                        <a:solidFill>
                          <a:schemeClr val="tx1"/>
                        </a:solidFill>
                        <a:latin typeface="Calibri" panose="020F0502020204030204" pitchFamily="34" charset="0"/>
                      </a:endParaRPr>
                    </a:p>
                  </a:txBody>
                  <a:tcPr marL="91362" marR="91362" marT="34286" marB="34286">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23957">
                <a:tc>
                  <a:txBody>
                    <a:bodyPr/>
                    <a:lstStyle/>
                    <a:p>
                      <a:pPr algn="ctr"/>
                      <a:r>
                        <a:rPr lang="en-US" altLang="zh-CN" sz="1400" b="0" i="1" dirty="0">
                          <a:solidFill>
                            <a:srgbClr val="FF0000"/>
                          </a:solidFill>
                          <a:latin typeface="Calibri" panose="020F0502020204030204" pitchFamily="34" charset="0"/>
                        </a:rPr>
                        <a:t>b5</a:t>
                      </a:r>
                      <a:endParaRPr lang="zh-CN" altLang="en-US" sz="1400" b="0" i="1" dirty="0">
                        <a:solidFill>
                          <a:srgbClr val="FF0000"/>
                        </a:solidFill>
                        <a:latin typeface="Calibri" panose="020F0502020204030204" pitchFamily="34" charset="0"/>
                      </a:endParaRPr>
                    </a:p>
                  </a:txBody>
                  <a:tcPr marL="91362" marR="91362" marT="34286" marB="34286">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2</a:t>
                      </a:r>
                      <a:endParaRPr lang="zh-CN" altLang="en-US" sz="1400" b="0" i="1" dirty="0">
                        <a:solidFill>
                          <a:schemeClr val="tx1"/>
                        </a:solidFill>
                        <a:latin typeface="Calibri" panose="020F0502020204030204" pitchFamily="34" charset="0"/>
                      </a:endParaRPr>
                    </a:p>
                  </a:txBody>
                  <a:tcPr marL="91362" marR="91362" marT="34286" marB="34286">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1932">
                <a:tc gridSpan="2">
                  <a:txBody>
                    <a:bodyPr/>
                    <a:lstStyle/>
                    <a:p>
                      <a:pPr algn="ctr"/>
                      <a:r>
                        <a:rPr lang="en-US" altLang="zh-CN" sz="1400" b="1" i="1" dirty="0">
                          <a:solidFill>
                            <a:srgbClr val="FF0000"/>
                          </a:solidFill>
                          <a:latin typeface="Calibri" panose="020F0502020204030204" pitchFamily="34" charset="0"/>
                        </a:rPr>
                        <a:t>······</a:t>
                      </a:r>
                      <a:endParaRPr lang="zh-CN" altLang="en-US" sz="1400" b="1" i="1" dirty="0">
                        <a:solidFill>
                          <a:srgbClr val="FF0000"/>
                        </a:solidFill>
                        <a:latin typeface="Calibri" panose="020F0502020204030204" pitchFamily="34" charset="0"/>
                      </a:endParaRPr>
                    </a:p>
                  </a:txBody>
                  <a:tcPr marL="91362" marR="91362" marT="34286" marB="34286">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graphicFrame>
        <p:nvGraphicFramePr>
          <p:cNvPr id="34" name="表格 33"/>
          <p:cNvGraphicFramePr>
            <a:graphicFrameLocks noGrp="1"/>
          </p:cNvGraphicFramePr>
          <p:nvPr/>
        </p:nvGraphicFramePr>
        <p:xfrm>
          <a:off x="1558925" y="2903538"/>
          <a:ext cx="1800225" cy="1430335"/>
        </p:xfrm>
        <a:graphic>
          <a:graphicData uri="http://schemas.openxmlformats.org/drawingml/2006/table">
            <a:tbl>
              <a:tblPr firstRow="1" bandRow="1">
                <a:tableStyleId>{5C22544A-7EE6-4342-B048-85BDC9FD1C3A}</a:tableStyleId>
              </a:tblPr>
              <a:tblGrid>
                <a:gridCol w="600075"/>
                <a:gridCol w="600075"/>
                <a:gridCol w="600075"/>
              </a:tblGrid>
              <a:tr h="286067">
                <a:tc>
                  <a:txBody>
                    <a:bodyPr/>
                    <a:lstStyle/>
                    <a:p>
                      <a:pPr algn="ctr"/>
                      <a:r>
                        <a:rPr lang="en-US" altLang="zh-CN" sz="1400" b="0" i="1" dirty="0">
                          <a:solidFill>
                            <a:schemeClr val="tx1"/>
                          </a:solidFill>
                          <a:latin typeface="Calibri" panose="020F0502020204030204" pitchFamily="34" charset="0"/>
                        </a:rPr>
                        <a:t>A</a:t>
                      </a:r>
                      <a:endParaRPr lang="zh-CN" altLang="en-US" sz="1400" b="0" i="1" dirty="0">
                        <a:solidFill>
                          <a:schemeClr val="tx1"/>
                        </a:solidFill>
                        <a:latin typeface="Calibri" panose="020F0502020204030204" pitchFamily="34" charset="0"/>
                      </a:endParaRPr>
                    </a:p>
                  </a:txBody>
                  <a:tcPr marL="91451" marR="91451"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rgbClr val="FF0000"/>
                          </a:solidFill>
                          <a:latin typeface="Calibri" panose="020F0502020204030204" pitchFamily="34" charset="0"/>
                        </a:rPr>
                        <a:t>B</a:t>
                      </a:r>
                      <a:endParaRPr lang="zh-CN" altLang="en-US" sz="1400" b="0" i="1" dirty="0">
                        <a:solidFill>
                          <a:srgbClr val="FF0000"/>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C</a:t>
                      </a:r>
                      <a:endParaRPr lang="zh-CN" altLang="en-US" sz="1400" b="0" i="1" dirty="0">
                        <a:solidFill>
                          <a:schemeClr val="tx1"/>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6067">
                <a:tc>
                  <a:txBody>
                    <a:bodyPr/>
                    <a:lstStyle/>
                    <a:p>
                      <a:pPr algn="ctr"/>
                      <a:r>
                        <a:rPr lang="en-US" altLang="zh-CN" sz="1400" i="1" dirty="0">
                          <a:solidFill>
                            <a:schemeClr val="tx1"/>
                          </a:solidFill>
                          <a:latin typeface="Calibri" panose="020F0502020204030204" pitchFamily="34" charset="0"/>
                        </a:rPr>
                        <a:t>a1</a:t>
                      </a:r>
                      <a:endParaRPr lang="zh-CN" altLang="en-US" sz="1400" i="1" dirty="0">
                        <a:solidFill>
                          <a:schemeClr val="tx1"/>
                        </a:solidFill>
                        <a:latin typeface="Calibri" panose="020F0502020204030204" pitchFamily="34" charset="0"/>
                      </a:endParaRPr>
                    </a:p>
                  </a:txBody>
                  <a:tcPr marL="91451" marR="91451"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rgbClr val="FF0000"/>
                          </a:solidFill>
                          <a:latin typeface="Calibri" panose="020F0502020204030204" pitchFamily="34" charset="0"/>
                        </a:rPr>
                        <a:t>b1</a:t>
                      </a:r>
                      <a:endParaRPr lang="zh-CN" altLang="en-US" sz="1400" i="1" dirty="0">
                        <a:solidFill>
                          <a:srgbClr val="FF0000"/>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5</a:t>
                      </a:r>
                      <a:endParaRPr lang="zh-CN" altLang="en-US" sz="1400" i="1" dirty="0">
                        <a:solidFill>
                          <a:schemeClr val="tx1"/>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6067">
                <a:tc>
                  <a:txBody>
                    <a:bodyPr/>
                    <a:lstStyle/>
                    <a:p>
                      <a:pPr algn="ctr"/>
                      <a:r>
                        <a:rPr lang="en-US" altLang="zh-CN" sz="1400" i="1" dirty="0">
                          <a:solidFill>
                            <a:schemeClr val="tx1"/>
                          </a:solidFill>
                          <a:latin typeface="Calibri" panose="020F0502020204030204" pitchFamily="34" charset="0"/>
                        </a:rPr>
                        <a:t>a1</a:t>
                      </a:r>
                      <a:endParaRPr lang="zh-CN" altLang="en-US" sz="1400" i="1" dirty="0">
                        <a:solidFill>
                          <a:schemeClr val="tx1"/>
                        </a:solidFill>
                        <a:latin typeface="Calibri" panose="020F0502020204030204" pitchFamily="34" charset="0"/>
                      </a:endParaRPr>
                    </a:p>
                  </a:txBody>
                  <a:tcPr marL="91451" marR="91451"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rgbClr val="FF0000"/>
                          </a:solidFill>
                          <a:latin typeface="Calibri" panose="020F0502020204030204" pitchFamily="34" charset="0"/>
                        </a:rPr>
                        <a:t>b2</a:t>
                      </a:r>
                      <a:endParaRPr lang="zh-CN" altLang="en-US" sz="1400" i="1" dirty="0">
                        <a:solidFill>
                          <a:srgbClr val="FF0000"/>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6</a:t>
                      </a:r>
                      <a:endParaRPr lang="zh-CN" altLang="en-US" sz="1400" i="1" dirty="0">
                        <a:solidFill>
                          <a:schemeClr val="tx1"/>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6067">
                <a:tc>
                  <a:txBody>
                    <a:bodyPr/>
                    <a:lstStyle/>
                    <a:p>
                      <a:pPr algn="ctr"/>
                      <a:r>
                        <a:rPr lang="en-US" altLang="zh-CN" sz="1400" i="1" dirty="0">
                          <a:solidFill>
                            <a:schemeClr val="tx1"/>
                          </a:solidFill>
                          <a:latin typeface="Calibri" panose="020F0502020204030204" pitchFamily="34" charset="0"/>
                        </a:rPr>
                        <a:t>a2</a:t>
                      </a:r>
                      <a:endParaRPr lang="zh-CN" altLang="en-US" sz="1400" i="1" dirty="0">
                        <a:solidFill>
                          <a:schemeClr val="tx1"/>
                        </a:solidFill>
                        <a:latin typeface="Calibri" panose="020F0502020204030204" pitchFamily="34" charset="0"/>
                      </a:endParaRPr>
                    </a:p>
                  </a:txBody>
                  <a:tcPr marL="91451" marR="91451"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rgbClr val="FF0000"/>
                          </a:solidFill>
                          <a:latin typeface="Calibri" panose="020F0502020204030204" pitchFamily="34" charset="0"/>
                        </a:rPr>
                        <a:t>b3</a:t>
                      </a:r>
                      <a:endParaRPr lang="zh-CN" altLang="en-US" sz="1400" i="1" dirty="0">
                        <a:solidFill>
                          <a:srgbClr val="FF0000"/>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8</a:t>
                      </a:r>
                      <a:endParaRPr lang="zh-CN" altLang="en-US" sz="1400" i="1" dirty="0">
                        <a:solidFill>
                          <a:schemeClr val="tx1"/>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6067">
                <a:tc>
                  <a:txBody>
                    <a:bodyPr/>
                    <a:lstStyle/>
                    <a:p>
                      <a:pPr algn="ctr"/>
                      <a:r>
                        <a:rPr lang="en-US" altLang="zh-CN" sz="1400" i="1" dirty="0">
                          <a:solidFill>
                            <a:schemeClr val="tx1"/>
                          </a:solidFill>
                          <a:latin typeface="Calibri" panose="020F0502020204030204" pitchFamily="34" charset="0"/>
                        </a:rPr>
                        <a:t>a3</a:t>
                      </a:r>
                      <a:endParaRPr lang="zh-CN" altLang="en-US" sz="1400" i="1" dirty="0">
                        <a:solidFill>
                          <a:schemeClr val="tx1"/>
                        </a:solidFill>
                        <a:latin typeface="Calibri" panose="020F0502020204030204" pitchFamily="34" charset="0"/>
                      </a:endParaRPr>
                    </a:p>
                  </a:txBody>
                  <a:tcPr marL="91451" marR="91451"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rgbClr val="FF0000"/>
                          </a:solidFill>
                          <a:latin typeface="Calibri" panose="020F0502020204030204" pitchFamily="34" charset="0"/>
                        </a:rPr>
                        <a:t>b4</a:t>
                      </a:r>
                      <a:endParaRPr lang="zh-CN" altLang="en-US" sz="1400" i="1" dirty="0">
                        <a:solidFill>
                          <a:srgbClr val="FF0000"/>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12</a:t>
                      </a:r>
                      <a:endParaRPr lang="zh-CN" altLang="en-US" sz="1400" i="1" dirty="0">
                        <a:solidFill>
                          <a:schemeClr val="tx1"/>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graphicFrame>
        <p:nvGraphicFramePr>
          <p:cNvPr id="21545" name="Object 1024"/>
          <p:cNvGraphicFramePr>
            <a:graphicFrameLocks noChangeAspect="1"/>
          </p:cNvGraphicFramePr>
          <p:nvPr/>
        </p:nvGraphicFramePr>
        <p:xfrm>
          <a:off x="6750050" y="2717800"/>
          <a:ext cx="3917950" cy="1754188"/>
        </p:xfrm>
        <a:graphic>
          <a:graphicData uri="http://schemas.openxmlformats.org/presentationml/2006/ole">
            <mc:AlternateContent xmlns:mc="http://schemas.openxmlformats.org/markup-compatibility/2006">
              <mc:Choice xmlns:v="urn:schemas-microsoft-com:vml" Requires="v">
                <p:oleObj spid="_x0000_s3077" name="" r:id="rId1" imgW="5080000" imgH="3035300" progId="Photoshop.Image.7">
                  <p:embed/>
                </p:oleObj>
              </mc:Choice>
              <mc:Fallback>
                <p:oleObj name="" r:id="rId1" imgW="5080000" imgH="3035300" progId="Photoshop.Image.7">
                  <p:embed/>
                  <p:pic>
                    <p:nvPicPr>
                      <p:cNvPr id="0" name="图片 3076"/>
                      <p:cNvPicPr/>
                      <p:nvPr/>
                    </p:nvPicPr>
                    <p:blipFill>
                      <a:blip r:embed="rId2"/>
                      <a:stretch>
                        <a:fillRect/>
                      </a:stretch>
                    </p:blipFill>
                    <p:spPr>
                      <a:xfrm>
                        <a:off x="6750050" y="2717800"/>
                        <a:ext cx="3917950" cy="1754188"/>
                      </a:xfrm>
                      <a:prstGeom prst="rect">
                        <a:avLst/>
                      </a:prstGeom>
                      <a:noFill/>
                      <a:ln w="38100">
                        <a:noFill/>
                        <a:miter/>
                      </a:ln>
                    </p:spPr>
                  </p:pic>
                </p:oleObj>
              </mc:Fallback>
            </mc:AlternateContent>
          </a:graphicData>
        </a:graphic>
      </p:graphicFrame>
      <p:sp>
        <p:nvSpPr>
          <p:cNvPr id="21546" name="Rectangle 2"/>
          <p:cNvSpPr>
            <a:spLocks noGrp="1"/>
          </p:cNvSpPr>
          <p:nvPr>
            <p:ph type="title"/>
          </p:nvPr>
        </p:nvSpPr>
        <p:spPr>
          <a:xfrm>
            <a:off x="2395538" y="279400"/>
            <a:ext cx="7391400" cy="422275"/>
          </a:xfrm>
        </p:spPr>
        <p:txBody>
          <a:bodyPr vert="horz" wrap="square" lIns="91440" tIns="45720" rIns="91440" bIns="45720" anchor="ctr" anchorCtr="0"/>
          <a:p>
            <a:r>
              <a:rPr lang="zh-CN" altLang="en-US" dirty="0">
                <a:latin typeface="宋体" panose="02010600030101010101" pitchFamily="2" charset="-122"/>
              </a:rPr>
              <a:t>排序－合并连接方法</a:t>
            </a:r>
            <a:endParaRPr lang="en-US" altLang="zh-CN" dirty="0"/>
          </a:p>
        </p:txBody>
      </p:sp>
      <p:sp>
        <p:nvSpPr>
          <p:cNvPr id="21547" name="Rectangle 3"/>
          <p:cNvSpPr>
            <a:spLocks noGrp="1"/>
          </p:cNvSpPr>
          <p:nvPr>
            <p:ph type="body" sz="half" idx="1"/>
          </p:nvPr>
        </p:nvSpPr>
        <p:spPr>
          <a:xfrm>
            <a:off x="3494088" y="1568450"/>
            <a:ext cx="8147050" cy="606425"/>
          </a:xfrm>
        </p:spPr>
        <p:txBody>
          <a:bodyPr vert="horz" wrap="square" lIns="91440" tIns="45720" rIns="91440" bIns="45720" anchor="t" anchorCtr="0"/>
          <a:p>
            <a:pPr algn="just" eaLnBrk="1" hangingPunct="1">
              <a:buClrTx/>
              <a:buSzPct val="100000"/>
              <a:buFont typeface="Wingdings" panose="05000000000000000000" pitchFamily="2" charset="2"/>
              <a:buNone/>
            </a:pPr>
            <a:r>
              <a:rPr lang="en-US" altLang="zh-CN" dirty="0"/>
              <a:t>   </a:t>
            </a:r>
            <a:r>
              <a:rPr lang="zh-CN" altLang="en-US" dirty="0"/>
              <a:t>等值连接 </a:t>
            </a:r>
            <a:r>
              <a:rPr lang="en-US" altLang="zh-CN" i="1" dirty="0"/>
              <a:t>R</a:t>
            </a:r>
            <a:r>
              <a:rPr lang="en-US" altLang="zh-CN" dirty="0"/>
              <a:t> </a:t>
            </a:r>
            <a:r>
              <a:rPr lang="en-US" altLang="zh-CN" i="1" dirty="0"/>
              <a:t>     S </a:t>
            </a:r>
            <a:r>
              <a:rPr lang="zh-CN" altLang="en-US" dirty="0"/>
              <a:t>的结果如下：</a:t>
            </a:r>
            <a:endParaRPr lang="zh-CN" altLang="en-US" dirty="0"/>
          </a:p>
        </p:txBody>
      </p:sp>
      <p:grpSp>
        <p:nvGrpSpPr>
          <p:cNvPr id="21548" name="组合 3"/>
          <p:cNvGrpSpPr/>
          <p:nvPr/>
        </p:nvGrpSpPr>
        <p:grpSpPr>
          <a:xfrm>
            <a:off x="5519738" y="1147763"/>
            <a:ext cx="1066800" cy="1085850"/>
            <a:chOff x="2497138" y="1268413"/>
            <a:chExt cx="1066800" cy="1447800"/>
          </a:xfrm>
        </p:grpSpPr>
        <p:sp>
          <p:nvSpPr>
            <p:cNvPr id="21575" name="Rectangle 5"/>
            <p:cNvSpPr/>
            <p:nvPr/>
          </p:nvSpPr>
          <p:spPr>
            <a:xfrm>
              <a:off x="2573338" y="2106613"/>
              <a:ext cx="990600" cy="609600"/>
            </a:xfrm>
            <a:prstGeom prst="rect">
              <a:avLst/>
            </a:prstGeom>
            <a:noFill/>
            <a:ln w="9525">
              <a:noFill/>
            </a:ln>
          </p:spPr>
          <p:txBody>
            <a:bodyPr wrap="none" lIns="90000" tIns="46800" rIns="90000" bIns="46800"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nSpc>
                  <a:spcPct val="80000"/>
                </a:lnSpc>
                <a:spcBef>
                  <a:spcPct val="0"/>
                </a:spcBef>
                <a:buSzTx/>
                <a:buFont typeface="Arial" panose="020B0604020202020204" pitchFamily="34" charset="0"/>
                <a:buNone/>
              </a:pPr>
              <a:r>
                <a:rPr lang="en-US" altLang="zh-CN" sz="1600" i="1" dirty="0">
                  <a:latin typeface="Times New Roman" panose="02020603050405020304" charset="0"/>
                </a:rPr>
                <a:t>R.B=S.B</a:t>
              </a:r>
              <a:endParaRPr lang="en-US" altLang="zh-CN" sz="2400" dirty="0">
                <a:latin typeface="Times New Roman" panose="02020603050405020304" charset="0"/>
              </a:endParaRPr>
            </a:p>
          </p:txBody>
        </p:sp>
        <p:grpSp>
          <p:nvGrpSpPr>
            <p:cNvPr id="21576" name="Group 6"/>
            <p:cNvGrpSpPr/>
            <p:nvPr/>
          </p:nvGrpSpPr>
          <p:grpSpPr>
            <a:xfrm rot="10800000">
              <a:off x="2497138" y="1268413"/>
              <a:ext cx="990600" cy="914400"/>
              <a:chOff x="6431" y="11824"/>
              <a:chExt cx="705" cy="367"/>
            </a:xfrm>
          </p:grpSpPr>
          <p:sp>
            <p:nvSpPr>
              <p:cNvPr id="21577" name="AutoShape 7"/>
              <p:cNvSpPr/>
              <p:nvPr/>
            </p:nvSpPr>
            <p:spPr>
              <a:xfrm rot="5400000" flipV="1">
                <a:off x="6793" y="11792"/>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latin typeface="Times New Roman" panose="02020603050405020304" charset="0"/>
                </a:endParaRPr>
              </a:p>
            </p:txBody>
          </p:sp>
          <p:sp>
            <p:nvSpPr>
              <p:cNvPr id="21578" name="Text Box 8"/>
              <p:cNvSpPr txBox="1"/>
              <p:nvPr/>
            </p:nvSpPr>
            <p:spPr>
              <a:xfrm flipV="1">
                <a:off x="6431" y="11828"/>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spcBef>
                    <a:spcPct val="0"/>
                  </a:spcBef>
                  <a:buSzTx/>
                  <a:buFont typeface="Arial" panose="020B0604020202020204" pitchFamily="34" charset="0"/>
                  <a:buNone/>
                </a:pPr>
                <a:r>
                  <a:rPr lang="en-US" altLang="zh-CN" sz="600" b="0" i="1" dirty="0">
                    <a:latin typeface="Times New Roman" panose="02020603050405020304" charset="0"/>
                  </a:rPr>
                  <a:t> </a:t>
                </a:r>
                <a:endParaRPr lang="en-US" altLang="zh-CN" sz="2400" b="0" dirty="0">
                  <a:latin typeface="Times New Roman" panose="02020603050405020304" charset="0"/>
                </a:endParaRPr>
              </a:p>
            </p:txBody>
          </p:sp>
        </p:grpSp>
      </p:grpSp>
      <p:sp>
        <p:nvSpPr>
          <p:cNvPr id="2" name="TextBox 1"/>
          <p:cNvSpPr txBox="1"/>
          <p:nvPr/>
        </p:nvSpPr>
        <p:spPr>
          <a:xfrm>
            <a:off x="2032000" y="2012950"/>
            <a:ext cx="2479675" cy="64516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dirty="0">
                <a:solidFill>
                  <a:srgbClr val="FF0000"/>
                </a:solidFill>
              </a:rPr>
              <a:t>1.</a:t>
            </a:r>
            <a:r>
              <a:rPr lang="zh-CN" altLang="en-US" sz="1800" b="0" dirty="0">
                <a:solidFill>
                  <a:srgbClr val="FF0000"/>
                </a:solidFill>
              </a:rPr>
              <a:t>按连接属性</a:t>
            </a:r>
            <a:r>
              <a:rPr lang="en-US" altLang="zh-CN" sz="1800" b="0" dirty="0">
                <a:solidFill>
                  <a:srgbClr val="FF0000"/>
                </a:solidFill>
              </a:rPr>
              <a:t>B</a:t>
            </a:r>
            <a:r>
              <a:rPr lang="zh-CN" altLang="en-US" sz="1800" b="0" dirty="0">
                <a:solidFill>
                  <a:srgbClr val="FF0000"/>
                </a:solidFill>
              </a:rPr>
              <a:t>排序：</a:t>
            </a:r>
            <a:endParaRPr lang="en-US" altLang="zh-CN" sz="1800" b="0" dirty="0">
              <a:solidFill>
                <a:srgbClr val="FF0000"/>
              </a:solidFill>
            </a:endParaRPr>
          </a:p>
          <a:p>
            <a:pPr marL="0" lvl="0" indent="0" eaLnBrk="1" hangingPunct="1">
              <a:spcBef>
                <a:spcPct val="0"/>
              </a:spcBef>
              <a:buSzTx/>
              <a:buFont typeface="Arial" panose="020B0604020202020204" pitchFamily="34" charset="0"/>
              <a:buNone/>
            </a:pPr>
            <a:r>
              <a:rPr lang="zh-CN" altLang="en-US" sz="1800" b="0" dirty="0">
                <a:solidFill>
                  <a:srgbClr val="FF0000"/>
                </a:solidFill>
              </a:rPr>
              <a:t>假设</a:t>
            </a:r>
            <a:r>
              <a:rPr lang="en-US" altLang="zh-CN" sz="1800" b="0" dirty="0">
                <a:solidFill>
                  <a:srgbClr val="FF0000"/>
                </a:solidFill>
              </a:rPr>
              <a:t>b1&lt;b2&lt;b3&lt;b4&lt;b5</a:t>
            </a:r>
            <a:endParaRPr lang="zh-CN" altLang="en-US" sz="1800" b="0" dirty="0">
              <a:solidFill>
                <a:srgbClr val="FF0000"/>
              </a:solidFill>
            </a:endParaRPr>
          </a:p>
        </p:txBody>
      </p:sp>
      <p:graphicFrame>
        <p:nvGraphicFramePr>
          <p:cNvPr id="21550" name="Object 1024"/>
          <p:cNvGraphicFramePr>
            <a:graphicFrameLocks noChangeAspect="1"/>
          </p:cNvGraphicFramePr>
          <p:nvPr/>
        </p:nvGraphicFramePr>
        <p:xfrm>
          <a:off x="6750050" y="2717800"/>
          <a:ext cx="3917950" cy="1754188"/>
        </p:xfrm>
        <a:graphic>
          <a:graphicData uri="http://schemas.openxmlformats.org/presentationml/2006/ole">
            <mc:AlternateContent xmlns:mc="http://schemas.openxmlformats.org/markup-compatibility/2006">
              <mc:Choice xmlns:v="urn:schemas-microsoft-com:vml" Requires="v">
                <p:oleObj spid="_x0000_s3078" name="" r:id="rId3" imgW="5080000" imgH="3035300" progId="Photoshop.Image.7">
                  <p:embed/>
                </p:oleObj>
              </mc:Choice>
              <mc:Fallback>
                <p:oleObj name="" r:id="rId3" imgW="5080000" imgH="3035300" progId="Photoshop.Image.7">
                  <p:embed/>
                  <p:pic>
                    <p:nvPicPr>
                      <p:cNvPr id="0" name="图片 3077"/>
                      <p:cNvPicPr/>
                      <p:nvPr/>
                    </p:nvPicPr>
                    <p:blipFill>
                      <a:blip r:embed="rId2"/>
                      <a:stretch>
                        <a:fillRect/>
                      </a:stretch>
                    </p:blipFill>
                    <p:spPr>
                      <a:xfrm>
                        <a:off x="6750050" y="2717800"/>
                        <a:ext cx="3917950" cy="1754188"/>
                      </a:xfrm>
                      <a:prstGeom prst="rect">
                        <a:avLst/>
                      </a:prstGeom>
                      <a:noFill/>
                      <a:ln w="38100">
                        <a:noFill/>
                        <a:miter/>
                      </a:ln>
                    </p:spPr>
                  </p:pic>
                </p:oleObj>
              </mc:Fallback>
            </mc:AlternateContent>
          </a:graphicData>
        </a:graphic>
      </p:graphicFrame>
      <p:cxnSp>
        <p:nvCxnSpPr>
          <p:cNvPr id="43" name="直接箭头连接符 42"/>
          <p:cNvCxnSpPr/>
          <p:nvPr/>
        </p:nvCxnSpPr>
        <p:spPr>
          <a:xfrm flipV="1">
            <a:off x="2524125" y="3359150"/>
            <a:ext cx="971550" cy="1588"/>
          </a:xfrm>
          <a:prstGeom prst="straightConnector1">
            <a:avLst/>
          </a:prstGeom>
          <a:ln w="25400" cap="flat" cmpd="sng">
            <a:solidFill>
              <a:srgbClr val="00B050"/>
            </a:solidFill>
            <a:prstDash val="solid"/>
            <a:headEnd type="none" w="med" len="med"/>
            <a:tailEnd type="arrow" w="med" len="med"/>
          </a:ln>
        </p:spPr>
      </p:cxnSp>
      <p:grpSp>
        <p:nvGrpSpPr>
          <p:cNvPr id="8" name="组合 7"/>
          <p:cNvGrpSpPr/>
          <p:nvPr/>
        </p:nvGrpSpPr>
        <p:grpSpPr>
          <a:xfrm>
            <a:off x="5375275" y="3252788"/>
            <a:ext cx="4935538" cy="214312"/>
            <a:chOff x="3851920" y="3714750"/>
            <a:chExt cx="4934893" cy="285750"/>
          </a:xfrm>
        </p:grpSpPr>
        <p:cxnSp>
          <p:nvCxnSpPr>
            <p:cNvPr id="21573" name="直接箭头连接符 43"/>
            <p:cNvCxnSpPr/>
            <p:nvPr/>
          </p:nvCxnSpPr>
          <p:spPr>
            <a:xfrm>
              <a:off x="3851920" y="3859460"/>
              <a:ext cx="1500187" cy="1588"/>
            </a:xfrm>
            <a:prstGeom prst="straightConnector1">
              <a:avLst/>
            </a:prstGeom>
            <a:ln w="25400" cap="flat" cmpd="sng">
              <a:solidFill>
                <a:srgbClr val="FF0000"/>
              </a:solidFill>
              <a:prstDash val="solid"/>
              <a:headEnd type="none" w="med" len="med"/>
              <a:tailEnd type="arrow" w="med" len="med"/>
            </a:ln>
          </p:spPr>
        </p:cxnSp>
        <p:sp>
          <p:nvSpPr>
            <p:cNvPr id="21574" name="圆角矩形 44"/>
            <p:cNvSpPr/>
            <p:nvPr/>
          </p:nvSpPr>
          <p:spPr>
            <a:xfrm>
              <a:off x="5429250" y="3714750"/>
              <a:ext cx="3357563" cy="285750"/>
            </a:xfrm>
            <a:prstGeom prst="roundRect">
              <a:avLst>
                <a:gd name="adj" fmla="val 16667"/>
              </a:avLst>
            </a:prstGeom>
            <a:noFill/>
            <a:ln w="127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endParaRPr lang="zh-CN" altLang="en-US" sz="1800" dirty="0">
                <a:latin typeface="Times New Roman" panose="02020603050405020304" charset="0"/>
              </a:endParaRPr>
            </a:p>
          </p:txBody>
        </p:sp>
      </p:grpSp>
      <p:grpSp>
        <p:nvGrpSpPr>
          <p:cNvPr id="9" name="组合 8"/>
          <p:cNvGrpSpPr/>
          <p:nvPr/>
        </p:nvGrpSpPr>
        <p:grpSpPr>
          <a:xfrm>
            <a:off x="5375275" y="3524250"/>
            <a:ext cx="4906963" cy="214313"/>
            <a:chOff x="3851920" y="4077072"/>
            <a:chExt cx="4906368" cy="285750"/>
          </a:xfrm>
        </p:grpSpPr>
        <p:cxnSp>
          <p:nvCxnSpPr>
            <p:cNvPr id="21571" name="直接箭头连接符 49"/>
            <p:cNvCxnSpPr/>
            <p:nvPr/>
          </p:nvCxnSpPr>
          <p:spPr>
            <a:xfrm>
              <a:off x="3851920" y="4219947"/>
              <a:ext cx="1500187" cy="1588"/>
            </a:xfrm>
            <a:prstGeom prst="straightConnector1">
              <a:avLst/>
            </a:prstGeom>
            <a:ln w="25400" cap="flat" cmpd="sng">
              <a:solidFill>
                <a:srgbClr val="FF0000"/>
              </a:solidFill>
              <a:prstDash val="solid"/>
              <a:headEnd type="none" w="med" len="med"/>
              <a:tailEnd type="arrow" w="med" len="med"/>
            </a:ln>
          </p:spPr>
        </p:cxnSp>
        <p:sp>
          <p:nvSpPr>
            <p:cNvPr id="21572" name="圆角矩形 50"/>
            <p:cNvSpPr/>
            <p:nvPr/>
          </p:nvSpPr>
          <p:spPr>
            <a:xfrm>
              <a:off x="5400725" y="4077072"/>
              <a:ext cx="3357563" cy="285750"/>
            </a:xfrm>
            <a:prstGeom prst="roundRect">
              <a:avLst>
                <a:gd name="adj" fmla="val 16667"/>
              </a:avLst>
            </a:prstGeom>
            <a:noFill/>
            <a:ln w="127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endParaRPr lang="zh-CN" altLang="en-US" sz="1800" dirty="0">
                <a:latin typeface="Times New Roman" panose="02020603050405020304" charset="0"/>
              </a:endParaRPr>
            </a:p>
          </p:txBody>
        </p:sp>
      </p:grpSp>
      <p:grpSp>
        <p:nvGrpSpPr>
          <p:cNvPr id="10" name="组合 9"/>
          <p:cNvGrpSpPr/>
          <p:nvPr/>
        </p:nvGrpSpPr>
        <p:grpSpPr>
          <a:xfrm>
            <a:off x="5375275" y="3848100"/>
            <a:ext cx="4906963" cy="214313"/>
            <a:chOff x="3851920" y="4509120"/>
            <a:chExt cx="4906368" cy="285750"/>
          </a:xfrm>
        </p:grpSpPr>
        <p:cxnSp>
          <p:nvCxnSpPr>
            <p:cNvPr id="21569" name="直接箭头连接符 64"/>
            <p:cNvCxnSpPr/>
            <p:nvPr/>
          </p:nvCxnSpPr>
          <p:spPr>
            <a:xfrm>
              <a:off x="3851920" y="4651995"/>
              <a:ext cx="1500187" cy="1588"/>
            </a:xfrm>
            <a:prstGeom prst="straightConnector1">
              <a:avLst/>
            </a:prstGeom>
            <a:ln w="25400" cap="flat" cmpd="sng">
              <a:solidFill>
                <a:srgbClr val="FF0000"/>
              </a:solidFill>
              <a:prstDash val="solid"/>
              <a:headEnd type="none" w="med" len="med"/>
              <a:tailEnd type="arrow" w="med" len="med"/>
            </a:ln>
          </p:spPr>
        </p:cxnSp>
        <p:sp>
          <p:nvSpPr>
            <p:cNvPr id="21570" name="圆角矩形 65"/>
            <p:cNvSpPr/>
            <p:nvPr/>
          </p:nvSpPr>
          <p:spPr>
            <a:xfrm>
              <a:off x="5400725" y="4509120"/>
              <a:ext cx="3357563" cy="285750"/>
            </a:xfrm>
            <a:prstGeom prst="roundRect">
              <a:avLst>
                <a:gd name="adj" fmla="val 16667"/>
              </a:avLst>
            </a:prstGeom>
            <a:noFill/>
            <a:ln w="127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endParaRPr lang="zh-CN" altLang="en-US" sz="1800" dirty="0">
                <a:latin typeface="Times New Roman" panose="02020603050405020304" charset="0"/>
              </a:endParaRPr>
            </a:p>
          </p:txBody>
        </p:sp>
      </p:grpSp>
      <p:grpSp>
        <p:nvGrpSpPr>
          <p:cNvPr id="12" name="组合 11"/>
          <p:cNvGrpSpPr/>
          <p:nvPr/>
        </p:nvGrpSpPr>
        <p:grpSpPr>
          <a:xfrm>
            <a:off x="5375275" y="4173538"/>
            <a:ext cx="4906963" cy="214312"/>
            <a:chOff x="3851920" y="4943450"/>
            <a:chExt cx="4906368" cy="285750"/>
          </a:xfrm>
        </p:grpSpPr>
        <p:cxnSp>
          <p:nvCxnSpPr>
            <p:cNvPr id="21567" name="直接箭头连接符 67"/>
            <p:cNvCxnSpPr/>
            <p:nvPr/>
          </p:nvCxnSpPr>
          <p:spPr>
            <a:xfrm>
              <a:off x="3851920" y="5086325"/>
              <a:ext cx="1500187" cy="1588"/>
            </a:xfrm>
            <a:prstGeom prst="straightConnector1">
              <a:avLst/>
            </a:prstGeom>
            <a:ln w="25400" cap="flat" cmpd="sng">
              <a:solidFill>
                <a:srgbClr val="FF0000"/>
              </a:solidFill>
              <a:prstDash val="solid"/>
              <a:headEnd type="none" w="med" len="med"/>
              <a:tailEnd type="arrow" w="med" len="med"/>
            </a:ln>
          </p:spPr>
        </p:cxnSp>
        <p:sp>
          <p:nvSpPr>
            <p:cNvPr id="21568" name="圆角矩形 68"/>
            <p:cNvSpPr/>
            <p:nvPr/>
          </p:nvSpPr>
          <p:spPr>
            <a:xfrm>
              <a:off x="5400725" y="4943450"/>
              <a:ext cx="3357563" cy="285750"/>
            </a:xfrm>
            <a:prstGeom prst="roundRect">
              <a:avLst>
                <a:gd name="adj" fmla="val 16667"/>
              </a:avLst>
            </a:prstGeom>
            <a:noFill/>
            <a:ln w="127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endParaRPr lang="zh-CN" altLang="en-US" sz="1800" dirty="0">
                <a:latin typeface="Times New Roman" panose="02020603050405020304" charset="0"/>
              </a:endParaRPr>
            </a:p>
          </p:txBody>
        </p:sp>
      </p:grpSp>
      <p:cxnSp>
        <p:nvCxnSpPr>
          <p:cNvPr id="33" name="直接箭头连接符 32"/>
          <p:cNvCxnSpPr/>
          <p:nvPr/>
        </p:nvCxnSpPr>
        <p:spPr>
          <a:xfrm>
            <a:off x="4008438" y="3305175"/>
            <a:ext cx="431800" cy="3175"/>
          </a:xfrm>
          <a:prstGeom prst="straightConnector1">
            <a:avLst/>
          </a:prstGeom>
          <a:ln w="25400" cap="flat" cmpd="sng">
            <a:solidFill>
              <a:srgbClr val="FF0000"/>
            </a:solidFill>
            <a:prstDash val="solid"/>
            <a:headEnd type="none" w="med" len="med"/>
            <a:tailEnd type="arrow" w="med" len="med"/>
          </a:ln>
        </p:spPr>
      </p:cxnSp>
      <p:sp>
        <p:nvSpPr>
          <p:cNvPr id="37" name="TextBox 36"/>
          <p:cNvSpPr txBox="1"/>
          <p:nvPr/>
        </p:nvSpPr>
        <p:spPr>
          <a:xfrm>
            <a:off x="1703388" y="5038725"/>
            <a:ext cx="1584325" cy="645160"/>
          </a:xfrm>
          <a:prstGeom prst="rect">
            <a:avLst/>
          </a:prstGeom>
          <a:noFill/>
          <a:ln w="9525" cap="flat" cmpd="sng">
            <a:solidFill>
              <a:schemeClr val="bg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dirty="0">
                <a:solidFill>
                  <a:srgbClr val="FF0000"/>
                </a:solidFill>
              </a:rPr>
              <a:t>2.</a:t>
            </a:r>
            <a:r>
              <a:rPr lang="zh-CN" altLang="en-US" sz="1800" b="0" dirty="0">
                <a:solidFill>
                  <a:srgbClr val="FF0000"/>
                </a:solidFill>
              </a:rPr>
              <a:t>逐一扫描</a:t>
            </a:r>
            <a:r>
              <a:rPr lang="en-US" altLang="zh-CN" sz="1800" b="0" dirty="0">
                <a:solidFill>
                  <a:srgbClr val="FF0000"/>
                </a:solidFill>
              </a:rPr>
              <a:t>R</a:t>
            </a:r>
            <a:r>
              <a:rPr lang="zh-CN" altLang="en-US" sz="1800" b="0" dirty="0">
                <a:solidFill>
                  <a:srgbClr val="FF0000"/>
                </a:solidFill>
              </a:rPr>
              <a:t>表的每一行</a:t>
            </a:r>
            <a:endParaRPr lang="zh-CN" altLang="en-US" sz="1800" b="0" dirty="0">
              <a:solidFill>
                <a:srgbClr val="FF0000"/>
              </a:solidFill>
            </a:endParaRPr>
          </a:p>
        </p:txBody>
      </p:sp>
      <p:sp>
        <p:nvSpPr>
          <p:cNvPr id="38" name="TextBox 37"/>
          <p:cNvSpPr txBox="1"/>
          <p:nvPr/>
        </p:nvSpPr>
        <p:spPr>
          <a:xfrm>
            <a:off x="3216275" y="5092700"/>
            <a:ext cx="3736975" cy="645160"/>
          </a:xfrm>
          <a:prstGeom prst="rect">
            <a:avLst/>
          </a:prstGeom>
          <a:noFill/>
          <a:ln w="9525" cap="flat" cmpd="sng">
            <a:solidFill>
              <a:schemeClr val="bg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dirty="0">
                <a:solidFill>
                  <a:srgbClr val="FF0000"/>
                </a:solidFill>
              </a:rPr>
              <a:t>3.</a:t>
            </a:r>
            <a:r>
              <a:rPr lang="zh-CN" altLang="en-US" sz="1800" b="0" dirty="0">
                <a:solidFill>
                  <a:srgbClr val="FF0000"/>
                </a:solidFill>
              </a:rPr>
              <a:t>为</a:t>
            </a:r>
            <a:r>
              <a:rPr lang="en-US" altLang="zh-CN" sz="1800" b="0" dirty="0">
                <a:solidFill>
                  <a:srgbClr val="FF0000"/>
                </a:solidFill>
              </a:rPr>
              <a:t>R</a:t>
            </a:r>
            <a:r>
              <a:rPr lang="zh-CN" altLang="en-US" sz="1800" b="0" dirty="0">
                <a:solidFill>
                  <a:srgbClr val="FF0000"/>
                </a:solidFill>
              </a:rPr>
              <a:t>表中的每一行顺序扫描表</a:t>
            </a:r>
            <a:r>
              <a:rPr lang="en-US" altLang="zh-CN" sz="1800" b="0" dirty="0">
                <a:solidFill>
                  <a:srgbClr val="FF0000"/>
                </a:solidFill>
              </a:rPr>
              <a:t>S</a:t>
            </a:r>
            <a:r>
              <a:rPr lang="zh-CN" altLang="en-US" sz="1800" b="0" dirty="0">
                <a:solidFill>
                  <a:srgbClr val="FF0000"/>
                </a:solidFill>
              </a:rPr>
              <a:t>，直到遇到大于</a:t>
            </a:r>
            <a:r>
              <a:rPr lang="en-US" altLang="zh-CN" sz="1800" b="0" dirty="0">
                <a:solidFill>
                  <a:srgbClr val="FF0000"/>
                </a:solidFill>
              </a:rPr>
              <a:t>R</a:t>
            </a:r>
            <a:r>
              <a:rPr lang="zh-CN" altLang="en-US" sz="1800" b="0" dirty="0">
                <a:solidFill>
                  <a:srgbClr val="FF0000"/>
                </a:solidFill>
              </a:rPr>
              <a:t>表连接字段的元组</a:t>
            </a:r>
            <a:endParaRPr lang="zh-CN" altLang="en-US" sz="1800" b="0" dirty="0">
              <a:solidFill>
                <a:srgbClr val="FF0000"/>
              </a:solidFill>
            </a:endParaRPr>
          </a:p>
        </p:txBody>
      </p:sp>
      <p:sp>
        <p:nvSpPr>
          <p:cNvPr id="47" name="TextBox 46"/>
          <p:cNvSpPr txBox="1"/>
          <p:nvPr/>
        </p:nvSpPr>
        <p:spPr>
          <a:xfrm>
            <a:off x="6816725" y="4551363"/>
            <a:ext cx="3532188" cy="92202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800" dirty="0">
                <a:solidFill>
                  <a:srgbClr val="0070C0"/>
                </a:solidFill>
              </a:rPr>
              <a:t>表扫描次数：</a:t>
            </a:r>
            <a:endParaRPr lang="en-US" altLang="zh-CN" sz="1800" dirty="0">
              <a:solidFill>
                <a:srgbClr val="0070C0"/>
              </a:solidFill>
            </a:endParaRPr>
          </a:p>
          <a:p>
            <a:pPr marL="0" lvl="0" indent="0" eaLnBrk="1" hangingPunct="1">
              <a:spcBef>
                <a:spcPct val="0"/>
              </a:spcBef>
              <a:buSzTx/>
              <a:buFont typeface="Arial" panose="020B0604020202020204" pitchFamily="34" charset="0"/>
              <a:buNone/>
            </a:pPr>
            <a:r>
              <a:rPr lang="en-US" altLang="zh-CN" sz="1800" dirty="0">
                <a:solidFill>
                  <a:srgbClr val="0070C0"/>
                </a:solidFill>
              </a:rPr>
              <a:t>R</a:t>
            </a:r>
            <a:r>
              <a:rPr lang="zh-CN" altLang="en-US" sz="1800" dirty="0">
                <a:solidFill>
                  <a:srgbClr val="0070C0"/>
                </a:solidFill>
              </a:rPr>
              <a:t>表：</a:t>
            </a:r>
            <a:r>
              <a:rPr lang="en-US" altLang="zh-CN" sz="1800" dirty="0">
                <a:solidFill>
                  <a:srgbClr val="0070C0"/>
                </a:solidFill>
              </a:rPr>
              <a:t>1</a:t>
            </a:r>
            <a:r>
              <a:rPr lang="zh-CN" altLang="en-US" sz="1800" dirty="0">
                <a:solidFill>
                  <a:srgbClr val="0070C0"/>
                </a:solidFill>
              </a:rPr>
              <a:t>次</a:t>
            </a:r>
            <a:endParaRPr lang="en-US" altLang="zh-CN" sz="1800" dirty="0">
              <a:solidFill>
                <a:srgbClr val="0070C0"/>
              </a:solidFill>
            </a:endParaRPr>
          </a:p>
          <a:p>
            <a:pPr marL="0" lvl="0" indent="0" eaLnBrk="1" hangingPunct="1">
              <a:spcBef>
                <a:spcPct val="0"/>
              </a:spcBef>
              <a:buSzTx/>
              <a:buFont typeface="Arial" panose="020B0604020202020204" pitchFamily="34" charset="0"/>
              <a:buNone/>
            </a:pPr>
            <a:r>
              <a:rPr lang="en-US" altLang="zh-CN" sz="1800" dirty="0">
                <a:solidFill>
                  <a:srgbClr val="0070C0"/>
                </a:solidFill>
              </a:rPr>
              <a:t>S</a:t>
            </a:r>
            <a:r>
              <a:rPr lang="zh-CN" altLang="en-US" sz="1800" dirty="0">
                <a:solidFill>
                  <a:srgbClr val="0070C0"/>
                </a:solidFill>
              </a:rPr>
              <a:t>表：</a:t>
            </a:r>
            <a:r>
              <a:rPr lang="en-US" altLang="zh-CN" sz="1800" dirty="0">
                <a:solidFill>
                  <a:srgbClr val="0070C0"/>
                </a:solidFill>
              </a:rPr>
              <a:t>1</a:t>
            </a:r>
            <a:r>
              <a:rPr lang="zh-CN" altLang="en-US" sz="1800" dirty="0">
                <a:solidFill>
                  <a:srgbClr val="0070C0"/>
                </a:solidFill>
              </a:rPr>
              <a:t>次</a:t>
            </a:r>
            <a:endParaRPr lang="en-US" altLang="zh-CN" sz="1800" dirty="0">
              <a:solidFill>
                <a:srgbClr val="0070C0"/>
              </a:solidFill>
            </a:endParaRPr>
          </a:p>
        </p:txBody>
      </p:sp>
      <p:sp>
        <p:nvSpPr>
          <p:cNvPr id="21560" name="TextBox 35"/>
          <p:cNvSpPr txBox="1"/>
          <p:nvPr/>
        </p:nvSpPr>
        <p:spPr>
          <a:xfrm>
            <a:off x="1774825" y="2498725"/>
            <a:ext cx="1225550" cy="3683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i="1" dirty="0">
                <a:latin typeface="Calibri" panose="020F0502020204030204" pitchFamily="34" charset="0"/>
              </a:rPr>
              <a:t>R</a:t>
            </a:r>
            <a:endParaRPr lang="zh-CN" altLang="en-US" sz="1800" b="0" i="1" dirty="0">
              <a:latin typeface="Calibri" panose="020F0502020204030204" pitchFamily="34" charset="0"/>
            </a:endParaRPr>
          </a:p>
        </p:txBody>
      </p:sp>
      <p:sp>
        <p:nvSpPr>
          <p:cNvPr id="21561" name="TextBox 38"/>
          <p:cNvSpPr txBox="1"/>
          <p:nvPr/>
        </p:nvSpPr>
        <p:spPr>
          <a:xfrm>
            <a:off x="4367213" y="2490788"/>
            <a:ext cx="1223962" cy="3683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i="1" dirty="0">
                <a:latin typeface="Calibri" panose="020F0502020204030204" pitchFamily="34" charset="0"/>
              </a:rPr>
              <a:t>S</a:t>
            </a:r>
            <a:endParaRPr lang="zh-CN" altLang="en-US" sz="1800" b="0" i="1" dirty="0">
              <a:latin typeface="Calibri" panose="020F0502020204030204" pitchFamily="34" charset="0"/>
            </a:endParaRPr>
          </a:p>
        </p:txBody>
      </p:sp>
      <p:sp>
        <p:nvSpPr>
          <p:cNvPr id="40" name="左大括号 39"/>
          <p:cNvSpPr/>
          <p:nvPr/>
        </p:nvSpPr>
        <p:spPr>
          <a:xfrm>
            <a:off x="3648075" y="3254375"/>
            <a:ext cx="287338" cy="350838"/>
          </a:xfrm>
          <a:prstGeom prst="leftBrace">
            <a:avLst>
              <a:gd name="adj1" fmla="val 8349"/>
              <a:gd name="adj2" fmla="val 34472"/>
            </a:avLst>
          </a:prstGeom>
          <a:noFill/>
          <a:ln w="254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SzTx/>
              <a:buFontTx/>
              <a:buNone/>
            </a:pPr>
            <a:endParaRPr lang="zh-CN" altLang="en-US" sz="1800" dirty="0">
              <a:latin typeface="Times New Roman" panose="02020603050405020304" charset="0"/>
            </a:endParaRPr>
          </a:p>
        </p:txBody>
      </p:sp>
      <p:sp>
        <p:nvSpPr>
          <p:cNvPr id="41" name="左大括号 40"/>
          <p:cNvSpPr/>
          <p:nvPr/>
        </p:nvSpPr>
        <p:spPr>
          <a:xfrm>
            <a:off x="3648075" y="3632200"/>
            <a:ext cx="287338" cy="323850"/>
          </a:xfrm>
          <a:prstGeom prst="leftBrace">
            <a:avLst>
              <a:gd name="adj1" fmla="val 8348"/>
              <a:gd name="adj2" fmla="val 8625"/>
            </a:avLst>
          </a:prstGeom>
          <a:noFill/>
          <a:ln w="254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SzTx/>
              <a:buFontTx/>
              <a:buNone/>
            </a:pPr>
            <a:endParaRPr lang="zh-CN" altLang="en-US" sz="1800" dirty="0">
              <a:latin typeface="Times New Roman" panose="02020603050405020304" charset="0"/>
            </a:endParaRPr>
          </a:p>
        </p:txBody>
      </p:sp>
      <p:sp>
        <p:nvSpPr>
          <p:cNvPr id="46" name="左大括号 45"/>
          <p:cNvSpPr/>
          <p:nvPr/>
        </p:nvSpPr>
        <p:spPr>
          <a:xfrm>
            <a:off x="3648075" y="3929063"/>
            <a:ext cx="287338" cy="649287"/>
          </a:xfrm>
          <a:prstGeom prst="leftBrace">
            <a:avLst>
              <a:gd name="adj1" fmla="val 8369"/>
              <a:gd name="adj2" fmla="val 15231"/>
            </a:avLst>
          </a:prstGeom>
          <a:noFill/>
          <a:ln w="254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SzTx/>
              <a:buFontTx/>
              <a:buNone/>
            </a:pPr>
            <a:endParaRPr lang="zh-CN" altLang="en-US" sz="1800" dirty="0">
              <a:latin typeface="Times New Roman" panose="02020603050405020304" charset="0"/>
            </a:endParaRPr>
          </a:p>
        </p:txBody>
      </p:sp>
      <p:sp>
        <p:nvSpPr>
          <p:cNvPr id="14" name="左大括号 13"/>
          <p:cNvSpPr/>
          <p:nvPr/>
        </p:nvSpPr>
        <p:spPr>
          <a:xfrm>
            <a:off x="3648075" y="4551363"/>
            <a:ext cx="287338" cy="107950"/>
          </a:xfrm>
          <a:prstGeom prst="leftBrace">
            <a:avLst>
              <a:gd name="adj1" fmla="val 8333"/>
              <a:gd name="adj2" fmla="val 50000"/>
            </a:avLst>
          </a:prstGeom>
          <a:noFill/>
          <a:ln w="254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SzTx/>
              <a:buFontTx/>
              <a:buNone/>
            </a:pPr>
            <a:endParaRPr lang="zh-CN" altLang="en-US" sz="1800" dirty="0">
              <a:latin typeface="Times New Roman" panose="02020603050405020304" charset="0"/>
            </a:endParaRPr>
          </a:p>
        </p:txBody>
      </p:sp>
      <p:pic>
        <p:nvPicPr>
          <p:cNvPr id="5" name="7E984004.wav">
            <a:hlinkClick r:id="" action="ppaction://media"/>
          </p:cNvPr>
          <p:cNvPicPr>
            <a:picLocks noChangeAspect="1"/>
          </p:cNvPicPr>
          <p:nvPr>
            <a:wavAudioFile r:embed="rId4"/>
          </p:nvPr>
        </p:nvPicPr>
        <p:blipFill>
          <a:blip r:embed="rId5"/>
          <a:stretch>
            <a:fillRect/>
          </a:stretch>
        </p:blipFill>
        <p:spPr>
          <a:xfrm>
            <a:off x="9842500" y="4991100"/>
            <a:ext cx="609600" cy="457200"/>
          </a:xfrm>
          <a:prstGeom prst="rect">
            <a:avLst/>
          </a:prstGeom>
          <a:noFill/>
          <a:ln w="9525">
            <a:noFill/>
          </a:ln>
        </p:spPr>
      </p:pic>
    </p:spTree>
    <p:custDataLst>
      <p:tags r:id="rId6"/>
    </p:custDataLst>
  </p:cSld>
  <p:clrMapOvr>
    <a:masterClrMapping/>
  </p:clrMapOvr>
  <p:transition spd="slow" advTm="13512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wipe(left)">
                                      <p:cBhvr>
                                        <p:cTn id="31" dur="500"/>
                                        <p:tgtEl>
                                          <p:spTgt spid="33"/>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nodeType="clickEffect">
                                  <p:stCondLst>
                                    <p:cond delay="0"/>
                                  </p:stCondLst>
                                  <p:childTnLst>
                                    <p:animEffect transition="out" filter="fade">
                                      <p:cBhvr>
                                        <p:cTn id="39" dur="500"/>
                                        <p:tgtEl>
                                          <p:spTgt spid="8"/>
                                        </p:tgtEl>
                                      </p:cBhvr>
                                    </p:animEffect>
                                    <p:set>
                                      <p:cBhvr>
                                        <p:cTn id="40" dur="1" fill="hold">
                                          <p:stCondLst>
                                            <p:cond delay="499"/>
                                          </p:stCondLst>
                                        </p:cTn>
                                        <p:tgtEl>
                                          <p:spTgt spid="8"/>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0" presetClass="path" presetSubtype="0" accel="50000" decel="50000" fill="hold" nodeType="clickEffect">
                                  <p:stCondLst>
                                    <p:cond delay="0"/>
                                  </p:stCondLst>
                                  <p:childTnLst>
                                    <p:animMotion origin="layout" path="M -8.33333E-7 1.48148E-6 L 0.00017 0.05555 " pathEditMode="relative" ptsTypes="AA">
                                      <p:cBhvr>
                                        <p:cTn id="44" dur="2000" fill="hold"/>
                                        <p:tgtEl>
                                          <p:spTgt spid="33"/>
                                        </p:tgtEl>
                                        <p:attrNameLst>
                                          <p:attrName>ppt_x</p:attrName>
                                          <p:attrName>ppt_y</p:attrName>
                                        </p:attrNameLst>
                                      </p:cBhvr>
                                    </p:animMotion>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1" nodeType="clickEffect">
                                  <p:stCondLst>
                                    <p:cond delay="0"/>
                                  </p:stCondLst>
                                  <p:childTnLst>
                                    <p:animEffect transition="out" filter="fade">
                                      <p:cBhvr>
                                        <p:cTn id="48" dur="500"/>
                                        <p:tgtEl>
                                          <p:spTgt spid="40"/>
                                        </p:tgtEl>
                                      </p:cBhvr>
                                    </p:animEffect>
                                    <p:set>
                                      <p:cBhvr>
                                        <p:cTn id="49" dur="1" fill="hold">
                                          <p:stCondLst>
                                            <p:cond delay="499"/>
                                          </p:stCondLst>
                                        </p:cTn>
                                        <p:tgtEl>
                                          <p:spTgt spid="40"/>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0" presetClass="path" presetSubtype="0" accel="50000" decel="50000" fill="hold" nodeType="clickEffect">
                                  <p:stCondLst>
                                    <p:cond delay="0"/>
                                  </p:stCondLst>
                                  <p:childTnLst>
                                    <p:animMotion origin="layout" path="M 6.11111E-6 1.48148E-6 L 0.00018 0.05116 " pathEditMode="relative" ptsTypes="AA">
                                      <p:cBhvr>
                                        <p:cTn id="53" dur="2000" fill="hold"/>
                                        <p:tgtEl>
                                          <p:spTgt spid="43"/>
                                        </p:tgtEl>
                                        <p:attrNameLst>
                                          <p:attrName>ppt_x</p:attrName>
                                          <p:attrName>ppt_y</p:attrName>
                                        </p:attrNameLst>
                                      </p:cBhvr>
                                    </p:animMotion>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41"/>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6" presetClass="emph" presetSubtype="0" fill="hold" nodeType="clickEffect">
                                  <p:stCondLst>
                                    <p:cond delay="0"/>
                                  </p:stCondLst>
                                  <p:childTnLst>
                                    <p:animEffect transition="out" filter="fade">
                                      <p:cBhvr>
                                        <p:cTn id="61" dur="500" tmFilter="0, 0; .2, .5; .8, .5; 1, 0"/>
                                        <p:tgtEl>
                                          <p:spTgt spid="33"/>
                                        </p:tgtEl>
                                      </p:cBhvr>
                                    </p:animEffect>
                                    <p:animScale>
                                      <p:cBhvr>
                                        <p:cTn id="62" dur="250" autoRev="1" fill="hold"/>
                                        <p:tgtEl>
                                          <p:spTgt spid="33"/>
                                        </p:tgtEl>
                                      </p:cBhvr>
                                      <p:by x="105000" y="105000"/>
                                    </p:animScale>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0" presetClass="exit" presetSubtype="0" fill="hold" nodeType="clickEffect">
                                  <p:stCondLst>
                                    <p:cond delay="0"/>
                                  </p:stCondLst>
                                  <p:childTnLst>
                                    <p:animEffect transition="out" filter="fade">
                                      <p:cBhvr>
                                        <p:cTn id="70" dur="500"/>
                                        <p:tgtEl>
                                          <p:spTgt spid="9"/>
                                        </p:tgtEl>
                                      </p:cBhvr>
                                    </p:animEffect>
                                    <p:set>
                                      <p:cBhvr>
                                        <p:cTn id="71" dur="1" fill="hold">
                                          <p:stCondLst>
                                            <p:cond delay="499"/>
                                          </p:stCondLst>
                                        </p:cTn>
                                        <p:tgtEl>
                                          <p:spTgt spid="9"/>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0" presetClass="path" presetSubtype="0" accel="50000" decel="50000" fill="hold" nodeType="clickEffect">
                                  <p:stCondLst>
                                    <p:cond delay="0"/>
                                  </p:stCondLst>
                                  <p:childTnLst>
                                    <p:animMotion origin="layout" path="M 0.00017 0.05556 L 0.00034 0.11343 " pathEditMode="relative" ptsTypes="AA">
                                      <p:cBhvr>
                                        <p:cTn id="75" dur="2000" fill="hold"/>
                                        <p:tgtEl>
                                          <p:spTgt spid="33"/>
                                        </p:tgtEl>
                                        <p:attrNameLst>
                                          <p:attrName>ppt_x</p:attrName>
                                          <p:attrName>ppt_y</p:attrName>
                                        </p:attrNameLst>
                                      </p:cBhvr>
                                    </p:animMotion>
                                  </p:childTnLst>
                                </p:cTn>
                              </p:par>
                            </p:childTnLst>
                          </p:cTn>
                        </p:par>
                      </p:childTnLst>
                    </p:cTn>
                  </p:par>
                  <p:par>
                    <p:cTn id="76" fill="hold">
                      <p:stCondLst>
                        <p:cond delay="indefinite"/>
                      </p:stCondLst>
                      <p:childTnLst>
                        <p:par>
                          <p:cTn id="77" fill="hold">
                            <p:stCondLst>
                              <p:cond delay="0"/>
                            </p:stCondLst>
                            <p:childTnLst>
                              <p:par>
                                <p:cTn id="78" presetID="10" presetClass="exit" presetSubtype="0" fill="hold" grpId="1" nodeType="clickEffect">
                                  <p:stCondLst>
                                    <p:cond delay="0"/>
                                  </p:stCondLst>
                                  <p:childTnLst>
                                    <p:animEffect transition="out" filter="fade">
                                      <p:cBhvr>
                                        <p:cTn id="79" dur="500"/>
                                        <p:tgtEl>
                                          <p:spTgt spid="41"/>
                                        </p:tgtEl>
                                      </p:cBhvr>
                                    </p:animEffect>
                                    <p:set>
                                      <p:cBhvr>
                                        <p:cTn id="80" dur="1" fill="hold">
                                          <p:stCondLst>
                                            <p:cond delay="499"/>
                                          </p:stCondLst>
                                        </p:cTn>
                                        <p:tgtEl>
                                          <p:spTgt spid="41"/>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0" presetClass="path" presetSubtype="0" accel="50000" decel="50000" fill="hold" nodeType="clickEffect">
                                  <p:stCondLst>
                                    <p:cond delay="0"/>
                                  </p:stCondLst>
                                  <p:childTnLst>
                                    <p:animMotion origin="layout" path="M 0.00017 0.05116 L 0.00035 0.1 " pathEditMode="relative" ptsTypes="AA">
                                      <p:cBhvr>
                                        <p:cTn id="84" dur="2000" fill="hold"/>
                                        <p:tgtEl>
                                          <p:spTgt spid="43"/>
                                        </p:tgtEl>
                                        <p:attrNameLst>
                                          <p:attrName>ppt_x</p:attrName>
                                          <p:attrName>ppt_y</p:attrName>
                                        </p:attrNameLst>
                                      </p:cBhvr>
                                    </p:animMotion>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46"/>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26" presetClass="emph" presetSubtype="0" fill="hold" nodeType="clickEffect">
                                  <p:stCondLst>
                                    <p:cond delay="0"/>
                                  </p:stCondLst>
                                  <p:childTnLst>
                                    <p:animEffect transition="out" filter="fade">
                                      <p:cBhvr>
                                        <p:cTn id="92" dur="500" tmFilter="0, 0; .2, .5; .8, .5; 1, 0"/>
                                        <p:tgtEl>
                                          <p:spTgt spid="33"/>
                                        </p:tgtEl>
                                      </p:cBhvr>
                                    </p:animEffect>
                                    <p:animScale>
                                      <p:cBhvr>
                                        <p:cTn id="93" dur="250" autoRev="1" fill="hold"/>
                                        <p:tgtEl>
                                          <p:spTgt spid="33"/>
                                        </p:tgtEl>
                                      </p:cBhvr>
                                      <p:by x="105000" y="105000"/>
                                    </p:animScale>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10"/>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0" presetClass="exit" presetSubtype="0" fill="hold" nodeType="clickEffect">
                                  <p:stCondLst>
                                    <p:cond delay="0"/>
                                  </p:stCondLst>
                                  <p:childTnLst>
                                    <p:animEffect transition="out" filter="fade">
                                      <p:cBhvr>
                                        <p:cTn id="101" dur="500"/>
                                        <p:tgtEl>
                                          <p:spTgt spid="10"/>
                                        </p:tgtEl>
                                      </p:cBhvr>
                                    </p:animEffect>
                                    <p:set>
                                      <p:cBhvr>
                                        <p:cTn id="102" dur="1" fill="hold">
                                          <p:stCondLst>
                                            <p:cond delay="499"/>
                                          </p:stCondLst>
                                        </p:cTn>
                                        <p:tgtEl>
                                          <p:spTgt spid="10"/>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0" presetClass="path" presetSubtype="0" accel="50000" decel="50000" fill="hold" nodeType="clickEffect">
                                  <p:stCondLst>
                                    <p:cond delay="0"/>
                                  </p:stCondLst>
                                  <p:childTnLst>
                                    <p:animMotion origin="layout" path="M 0.00017 0.11597 L 0.00034 0.18032 " pathEditMode="relative" rAng="0" ptsTypes="AA">
                                      <p:cBhvr>
                                        <p:cTn id="106" dur="2000" fill="hold"/>
                                        <p:tgtEl>
                                          <p:spTgt spid="33"/>
                                        </p:tgtEl>
                                        <p:attrNameLst>
                                          <p:attrName>ppt_x</p:attrName>
                                          <p:attrName>ppt_y</p:attrName>
                                        </p:attrNameLst>
                                      </p:cBhvr>
                                      <p:rCtr x="0" y="3200"/>
                                    </p:animMotion>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0" presetClass="exit" presetSubtype="0" fill="hold" nodeType="clickEffect">
                                  <p:stCondLst>
                                    <p:cond delay="0"/>
                                  </p:stCondLst>
                                  <p:childTnLst>
                                    <p:animEffect transition="out" filter="fade">
                                      <p:cBhvr>
                                        <p:cTn id="114" dur="500"/>
                                        <p:tgtEl>
                                          <p:spTgt spid="12"/>
                                        </p:tgtEl>
                                      </p:cBhvr>
                                    </p:animEffect>
                                    <p:set>
                                      <p:cBhvr>
                                        <p:cTn id="115" dur="1" fill="hold">
                                          <p:stCondLst>
                                            <p:cond delay="499"/>
                                          </p:stCondLst>
                                        </p:cTn>
                                        <p:tgtEl>
                                          <p:spTgt spid="12"/>
                                        </p:tgtEl>
                                        <p:attrNameLst>
                                          <p:attrName>style.visibility</p:attrName>
                                        </p:attrNameLst>
                                      </p:cBhvr>
                                      <p:to>
                                        <p:strVal val="hidden"/>
                                      </p:to>
                                    </p:set>
                                  </p:childTnLst>
                                </p:cTn>
                              </p:par>
                            </p:childTnLst>
                          </p:cTn>
                        </p:par>
                      </p:childTnLst>
                    </p:cTn>
                  </p:par>
                  <p:par>
                    <p:cTn id="116" fill="hold">
                      <p:stCondLst>
                        <p:cond delay="indefinite"/>
                      </p:stCondLst>
                      <p:childTnLst>
                        <p:par>
                          <p:cTn id="117" fill="hold">
                            <p:stCondLst>
                              <p:cond delay="0"/>
                            </p:stCondLst>
                            <p:childTnLst>
                              <p:par>
                                <p:cTn id="118" presetID="0" presetClass="path" presetSubtype="0" accel="50000" decel="50000" fill="hold" nodeType="clickEffect">
                                  <p:stCondLst>
                                    <p:cond delay="0"/>
                                  </p:stCondLst>
                                  <p:childTnLst>
                                    <p:animMotion origin="layout" path="M 0.00034 0.18356 L 0.00052 0.25255 " pathEditMode="relative" rAng="0" ptsTypes="AA">
                                      <p:cBhvr>
                                        <p:cTn id="119" dur="2000" fill="hold"/>
                                        <p:tgtEl>
                                          <p:spTgt spid="33"/>
                                        </p:tgtEl>
                                        <p:attrNameLst>
                                          <p:attrName>ppt_x</p:attrName>
                                          <p:attrName>ppt_y</p:attrName>
                                        </p:attrNameLst>
                                      </p:cBhvr>
                                      <p:rCtr x="0" y="3400"/>
                                    </p:animMotion>
                                  </p:childTnLst>
                                </p:cTn>
                              </p:par>
                            </p:childTnLst>
                          </p:cTn>
                        </p:par>
                      </p:childTnLst>
                    </p:cTn>
                  </p:par>
                  <p:par>
                    <p:cTn id="120" fill="hold">
                      <p:stCondLst>
                        <p:cond delay="indefinite"/>
                      </p:stCondLst>
                      <p:childTnLst>
                        <p:par>
                          <p:cTn id="121" fill="hold">
                            <p:stCondLst>
                              <p:cond delay="0"/>
                            </p:stCondLst>
                            <p:childTnLst>
                              <p:par>
                                <p:cTn id="122" presetID="10" presetClass="exit" presetSubtype="0" fill="hold" grpId="1" nodeType="clickEffect">
                                  <p:stCondLst>
                                    <p:cond delay="0"/>
                                  </p:stCondLst>
                                  <p:childTnLst>
                                    <p:animEffect transition="out" filter="fade">
                                      <p:cBhvr>
                                        <p:cTn id="123" dur="500"/>
                                        <p:tgtEl>
                                          <p:spTgt spid="46"/>
                                        </p:tgtEl>
                                      </p:cBhvr>
                                    </p:animEffect>
                                    <p:set>
                                      <p:cBhvr>
                                        <p:cTn id="124" dur="1" fill="hold">
                                          <p:stCondLst>
                                            <p:cond delay="499"/>
                                          </p:stCondLst>
                                        </p:cTn>
                                        <p:tgtEl>
                                          <p:spTgt spid="46"/>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0" presetClass="path" presetSubtype="0" accel="50000" decel="50000" fill="hold" nodeType="clickEffect">
                                  <p:stCondLst>
                                    <p:cond delay="0"/>
                                  </p:stCondLst>
                                  <p:childTnLst>
                                    <p:animMotion origin="layout" path="M 0.00018 0.10486 L 0.00035 0.15833 " pathEditMode="relative" rAng="0" ptsTypes="AA">
                                      <p:cBhvr>
                                        <p:cTn id="128" dur="2000" fill="hold"/>
                                        <p:tgtEl>
                                          <p:spTgt spid="43"/>
                                        </p:tgtEl>
                                        <p:attrNameLst>
                                          <p:attrName>ppt_x</p:attrName>
                                          <p:attrName>ppt_y</p:attrName>
                                        </p:attrNameLst>
                                      </p:cBhvr>
                                      <p:rCtr x="0" y="2700"/>
                                    </p:animMotion>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14"/>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26" presetClass="emph" presetSubtype="0" fill="hold" nodeType="clickEffect">
                                  <p:stCondLst>
                                    <p:cond delay="0"/>
                                  </p:stCondLst>
                                  <p:childTnLst>
                                    <p:animEffect transition="out" filter="fade">
                                      <p:cBhvr>
                                        <p:cTn id="136" dur="500" tmFilter="0, 0; .2, .5; .8, .5; 1, 0"/>
                                        <p:tgtEl>
                                          <p:spTgt spid="33"/>
                                        </p:tgtEl>
                                      </p:cBhvr>
                                    </p:animEffect>
                                    <p:animScale>
                                      <p:cBhvr>
                                        <p:cTn id="137" dur="250" autoRev="1" fill="hold"/>
                                        <p:tgtEl>
                                          <p:spTgt spid="33"/>
                                        </p:tgtEl>
                                      </p:cBhvr>
                                      <p:by x="105000" y="105000"/>
                                    </p:animScale>
                                  </p:childTnLst>
                                </p:cTn>
                              </p:par>
                            </p:childTnLst>
                          </p:cTn>
                        </p:par>
                      </p:childTnLst>
                    </p:cTn>
                  </p:par>
                  <p:par>
                    <p:cTn id="138" fill="hold">
                      <p:stCondLst>
                        <p:cond delay="indefinite"/>
                      </p:stCondLst>
                      <p:childTnLst>
                        <p:par>
                          <p:cTn id="139" fill="hold">
                            <p:stCondLst>
                              <p:cond delay="0"/>
                            </p:stCondLst>
                            <p:childTnLst>
                              <p:par>
                                <p:cTn id="140" presetID="1" presetClass="exit" presetSubtype="0" fill="hold" grpId="1" nodeType="clickEffect">
                                  <p:stCondLst>
                                    <p:cond delay="0"/>
                                  </p:stCondLst>
                                  <p:childTnLst>
                                    <p:set>
                                      <p:cBhvr>
                                        <p:cTn id="141" dur="1" fill="hold">
                                          <p:stCondLst>
                                            <p:cond delay="0"/>
                                          </p:stCondLst>
                                        </p:cTn>
                                        <p:tgtEl>
                                          <p:spTgt spid="14"/>
                                        </p:tgtEl>
                                        <p:attrNameLst>
                                          <p:attrName>style.visibility</p:attrName>
                                        </p:attrNameLst>
                                      </p:cBhvr>
                                      <p:to>
                                        <p:strVal val="hidden"/>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grpId="0" nodeType="clickEffect">
                                  <p:stCondLst>
                                    <p:cond delay="0"/>
                                  </p:stCondLst>
                                  <p:childTnLst>
                                    <p:set>
                                      <p:cBhvr>
                                        <p:cTn id="145"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showWhenStopped="0">
                <p:cTn id="146" fill="hold" display="0">
                  <p:stCondLst>
                    <p:cond delay="indefinite"/>
                  </p:stCondLst>
                  <p:endCondLst>
                    <p:cond evt="onStopAudio" delay="0">
                      <p:tgtEl>
                        <p:sldTgt/>
                      </p:tgtEl>
                    </p:cond>
                  </p:endCondLst>
                </p:cTn>
                <p:tgtEl>
                  <p:spTgt spid="5"/>
                </p:tgtEl>
              </p:cMediaNode>
            </p:audio>
          </p:childTnLst>
        </p:cTn>
      </p:par>
    </p:tnLst>
    <p:bldLst>
      <p:bldP spid="2" grpId="0"/>
      <p:bldP spid="37" grpId="0" bldLvl="0" animBg="1"/>
      <p:bldP spid="38" grpId="0" bldLvl="0" animBg="1"/>
      <p:bldP spid="47" grpId="0" bldLvl="0" animBg="1"/>
      <p:bldP spid="40" grpId="0" bldLvl="0" animBg="1"/>
      <p:bldP spid="40" grpId="1" bldLvl="0" animBg="1"/>
      <p:bldP spid="41" grpId="0" bldLvl="0" animBg="1"/>
      <p:bldP spid="41" grpId="1" bldLvl="0" animBg="1"/>
      <p:bldP spid="46" grpId="0" bldLvl="0" animBg="1"/>
      <p:bldP spid="46" grpId="1" bldLvl="0" animBg="1"/>
      <p:bldP spid="14" grpId="0" bldLvl="0" animBg="1"/>
      <p:bldP spid="14" grpId="1"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xfrm>
            <a:off x="2451100" y="250825"/>
            <a:ext cx="7391400" cy="422275"/>
          </a:xfrm>
        </p:spPr>
        <p:txBody>
          <a:bodyPr vert="horz" wrap="square" lIns="91440" tIns="45720" rIns="91440" bIns="45720" anchor="ctr" anchorCtr="0"/>
          <a:p>
            <a:pPr eaLnBrk="1" hangingPunct="1"/>
            <a:r>
              <a:rPr lang="zh-CN" altLang="en-US" dirty="0"/>
              <a:t>索引连接实现过程</a:t>
            </a:r>
            <a:endParaRPr lang="en-US" altLang="zh-CN" dirty="0"/>
          </a:p>
        </p:txBody>
      </p:sp>
      <p:sp>
        <p:nvSpPr>
          <p:cNvPr id="23555" name="Rectangle 3"/>
          <p:cNvSpPr>
            <a:spLocks noGrp="1"/>
          </p:cNvSpPr>
          <p:nvPr>
            <p:ph type="body" sz="half" idx="1"/>
          </p:nvPr>
        </p:nvSpPr>
        <p:spPr>
          <a:xfrm>
            <a:off x="1981200" y="1838325"/>
            <a:ext cx="7570788" cy="1038225"/>
          </a:xfrm>
        </p:spPr>
        <p:txBody>
          <a:bodyPr vert="horz" wrap="square" lIns="91440" tIns="45720" rIns="91440" bIns="45720" anchor="t" anchorCtr="0"/>
          <a:p>
            <a:pPr eaLnBrk="1" hangingPunct="1">
              <a:buClrTx/>
              <a:buSzPct val="100000"/>
              <a:buFont typeface="Wingdings" panose="05000000000000000000" pitchFamily="2" charset="2"/>
              <a:buNone/>
            </a:pPr>
            <a:r>
              <a:rPr lang="en-US" altLang="zh-CN" sz="2400" dirty="0"/>
              <a:t>[</a:t>
            </a:r>
            <a:r>
              <a:rPr lang="zh-CN" altLang="en-US" sz="2400" dirty="0">
                <a:ea typeface="黑体" panose="02010609060101010101" pitchFamily="49" charset="-122"/>
              </a:rPr>
              <a:t>例</a:t>
            </a:r>
            <a:r>
              <a:rPr lang="en-US" altLang="zh-CN" sz="2400" dirty="0"/>
              <a:t>]</a:t>
            </a:r>
            <a:r>
              <a:rPr lang="zh-CN" altLang="en-US" sz="2400" dirty="0"/>
              <a:t>关系</a:t>
            </a:r>
            <a:r>
              <a:rPr lang="en-US" altLang="zh-CN" sz="2400" i="1" dirty="0"/>
              <a:t>R</a:t>
            </a:r>
            <a:r>
              <a:rPr lang="zh-CN" altLang="en-US" sz="2400" dirty="0"/>
              <a:t>和关系</a:t>
            </a:r>
            <a:r>
              <a:rPr lang="en-US" altLang="zh-CN" sz="2400" i="1" dirty="0"/>
              <a:t>S</a:t>
            </a:r>
            <a:r>
              <a:rPr lang="en-US" altLang="zh-CN" sz="2400" dirty="0"/>
              <a:t> </a:t>
            </a:r>
            <a:r>
              <a:rPr lang="zh-CN" altLang="en-US" sz="2400" dirty="0"/>
              <a:t>如下所示：</a:t>
            </a:r>
            <a:endParaRPr lang="zh-CN" altLang="en-US" sz="2400" dirty="0"/>
          </a:p>
        </p:txBody>
      </p:sp>
      <p:sp>
        <p:nvSpPr>
          <p:cNvPr id="2" name="TextBox 1"/>
          <p:cNvSpPr txBox="1"/>
          <p:nvPr/>
        </p:nvSpPr>
        <p:spPr>
          <a:xfrm>
            <a:off x="7967663" y="2498725"/>
            <a:ext cx="2305050" cy="175323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800" b="0" dirty="0"/>
              <a:t>假设：</a:t>
            </a:r>
            <a:endParaRPr lang="en-US" altLang="zh-CN" sz="1800" b="0" dirty="0"/>
          </a:p>
          <a:p>
            <a:pPr marL="0" lvl="0" indent="0" eaLnBrk="1" hangingPunct="1">
              <a:spcBef>
                <a:spcPct val="0"/>
              </a:spcBef>
              <a:buSzTx/>
              <a:buFont typeface="Arial" panose="020B0604020202020204" pitchFamily="34" charset="0"/>
              <a:buNone/>
            </a:pPr>
            <a:r>
              <a:rPr lang="en-US" altLang="zh-CN" sz="1800" b="0" dirty="0"/>
              <a:t>1.</a:t>
            </a:r>
            <a:r>
              <a:rPr lang="zh-CN" altLang="en-US" sz="1800" b="0" dirty="0"/>
              <a:t>关系</a:t>
            </a:r>
            <a:r>
              <a:rPr lang="en-US" altLang="zh-CN" sz="1800" b="0" dirty="0"/>
              <a:t>R</a:t>
            </a:r>
            <a:r>
              <a:rPr lang="zh-CN" altLang="en-US" sz="1800" b="0" dirty="0"/>
              <a:t>和</a:t>
            </a:r>
            <a:r>
              <a:rPr lang="en-US" altLang="zh-CN" sz="1800" b="0" dirty="0"/>
              <a:t>S</a:t>
            </a:r>
            <a:r>
              <a:rPr lang="zh-CN" altLang="en-US" sz="1800" b="0" dirty="0"/>
              <a:t>占用的块数分别是</a:t>
            </a:r>
            <a:r>
              <a:rPr lang="en-US" altLang="zh-CN" sz="1800" b="0" dirty="0"/>
              <a:t>B(R)</a:t>
            </a:r>
            <a:r>
              <a:rPr lang="zh-CN" altLang="en-US" sz="1800" b="0" dirty="0"/>
              <a:t>，</a:t>
            </a:r>
            <a:r>
              <a:rPr lang="en-US" altLang="zh-CN" sz="1800" b="0" dirty="0"/>
              <a:t>B(S)</a:t>
            </a:r>
            <a:r>
              <a:rPr lang="zh-CN" altLang="en-US" sz="1800" b="0" dirty="0"/>
              <a:t>；</a:t>
            </a:r>
            <a:endParaRPr lang="en-US" altLang="zh-CN" sz="1800" b="0" dirty="0"/>
          </a:p>
          <a:p>
            <a:pPr marL="0" lvl="0" indent="0" eaLnBrk="1" hangingPunct="1">
              <a:spcBef>
                <a:spcPct val="0"/>
              </a:spcBef>
              <a:buSzTx/>
              <a:buFont typeface="Arial" panose="020B0604020202020204" pitchFamily="34" charset="0"/>
              <a:buNone/>
            </a:pPr>
            <a:r>
              <a:rPr lang="en-US" altLang="zh-CN" sz="1800" b="0" dirty="0"/>
              <a:t>2.</a:t>
            </a:r>
            <a:r>
              <a:rPr lang="zh-CN" altLang="en-US" sz="1800" b="0" dirty="0"/>
              <a:t>可用的缓冲区数量为</a:t>
            </a:r>
            <a:r>
              <a:rPr lang="en-US" altLang="zh-CN" sz="1800" b="0" dirty="0"/>
              <a:t>M</a:t>
            </a:r>
            <a:r>
              <a:rPr lang="zh-CN" altLang="en-US" sz="1800" b="0" dirty="0"/>
              <a:t>；</a:t>
            </a:r>
            <a:endParaRPr lang="en-US" altLang="zh-CN" sz="1800" b="0" dirty="0"/>
          </a:p>
          <a:p>
            <a:pPr marL="0" lvl="0" indent="0" eaLnBrk="1" hangingPunct="1">
              <a:spcBef>
                <a:spcPct val="0"/>
              </a:spcBef>
              <a:buSzTx/>
              <a:buFont typeface="Arial" panose="020B0604020202020204" pitchFamily="34" charset="0"/>
              <a:buNone/>
            </a:pPr>
            <a:r>
              <a:rPr lang="en-US" altLang="zh-CN" sz="1800" b="0" dirty="0">
                <a:solidFill>
                  <a:srgbClr val="FF0000"/>
                </a:solidFill>
              </a:rPr>
              <a:t>3.B(R) &lt; M &lt; B(S)</a:t>
            </a:r>
            <a:endParaRPr lang="en-US" altLang="zh-CN" sz="1800" b="0" dirty="0">
              <a:solidFill>
                <a:srgbClr val="FF0000"/>
              </a:solidFill>
            </a:endParaRPr>
          </a:p>
        </p:txBody>
      </p:sp>
      <p:sp>
        <p:nvSpPr>
          <p:cNvPr id="23557" name="TextBox 2"/>
          <p:cNvSpPr txBox="1"/>
          <p:nvPr/>
        </p:nvSpPr>
        <p:spPr>
          <a:xfrm>
            <a:off x="5016500" y="2122488"/>
            <a:ext cx="1655763" cy="3683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i="1" dirty="0">
                <a:latin typeface="Calibri" panose="020F0502020204030204" pitchFamily="34" charset="0"/>
              </a:rPr>
              <a:t>S</a:t>
            </a:r>
            <a:endParaRPr lang="zh-CN" altLang="en-US" sz="1800" b="0" i="1" dirty="0">
              <a:latin typeface="Calibri" panose="020F0502020204030204" pitchFamily="34" charset="0"/>
            </a:endParaRPr>
          </a:p>
        </p:txBody>
      </p:sp>
      <p:graphicFrame>
        <p:nvGraphicFramePr>
          <p:cNvPr id="10" name="表格 9"/>
          <p:cNvGraphicFramePr>
            <a:graphicFrameLocks noGrp="1"/>
          </p:cNvGraphicFramePr>
          <p:nvPr/>
        </p:nvGraphicFramePr>
        <p:xfrm>
          <a:off x="1847850" y="2667000"/>
          <a:ext cx="2051050" cy="1676400"/>
        </p:xfrm>
        <a:graphic>
          <a:graphicData uri="http://schemas.openxmlformats.org/drawingml/2006/table">
            <a:tbl>
              <a:tblPr firstRow="1" bandRow="1">
                <a:tableStyleId>{5C22544A-7EE6-4342-B048-85BDC9FD1C3A}</a:tableStyleId>
              </a:tblPr>
              <a:tblGrid>
                <a:gridCol w="683895"/>
                <a:gridCol w="683260"/>
                <a:gridCol w="683895"/>
              </a:tblGrid>
              <a:tr h="335280">
                <a:tc>
                  <a:txBody>
                    <a:bodyPr/>
                    <a:lstStyle/>
                    <a:p>
                      <a:pPr algn="ctr"/>
                      <a:r>
                        <a:rPr lang="en-US" altLang="zh-CN" sz="1400" b="0" i="1" dirty="0">
                          <a:solidFill>
                            <a:schemeClr val="tx1"/>
                          </a:solidFill>
                          <a:latin typeface="Calibri" panose="020F0502020204030204" pitchFamily="34" charset="0"/>
                        </a:rPr>
                        <a:t>A</a:t>
                      </a:r>
                      <a:endParaRPr lang="zh-CN" altLang="en-US" sz="1400" b="0" i="1" dirty="0">
                        <a:solidFill>
                          <a:schemeClr val="tx1"/>
                        </a:solidFill>
                        <a:latin typeface="Calibri" panose="020F0502020204030204" pitchFamily="34" charset="0"/>
                      </a:endParaRPr>
                    </a:p>
                  </a:txBody>
                  <a:tcPr marL="91398" marR="91398" marT="34307" marB="3430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B</a:t>
                      </a:r>
                      <a:endParaRPr lang="zh-CN" altLang="en-US" sz="1400" b="0" i="1" dirty="0">
                        <a:solidFill>
                          <a:schemeClr val="tx1"/>
                        </a:solidFill>
                        <a:latin typeface="Calibri" panose="020F0502020204030204" pitchFamily="34" charset="0"/>
                      </a:endParaRPr>
                    </a:p>
                  </a:txBody>
                  <a:tcPr marL="91398" marR="91398" marT="34307" marB="343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C</a:t>
                      </a:r>
                      <a:endParaRPr lang="zh-CN" altLang="en-US" sz="1400" b="0" i="1" dirty="0">
                        <a:solidFill>
                          <a:schemeClr val="tx1"/>
                        </a:solidFill>
                        <a:latin typeface="Calibri" panose="020F0502020204030204" pitchFamily="34" charset="0"/>
                      </a:endParaRPr>
                    </a:p>
                  </a:txBody>
                  <a:tcPr marL="91398" marR="91398" marT="34307" marB="3430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5280">
                <a:tc>
                  <a:txBody>
                    <a:bodyPr/>
                    <a:lstStyle/>
                    <a:p>
                      <a:pPr algn="ctr"/>
                      <a:r>
                        <a:rPr lang="en-US" altLang="zh-CN" sz="1400" i="1" dirty="0">
                          <a:solidFill>
                            <a:schemeClr val="tx1"/>
                          </a:solidFill>
                          <a:latin typeface="Calibri" panose="020F0502020204030204" pitchFamily="34" charset="0"/>
                        </a:rPr>
                        <a:t>a1</a:t>
                      </a:r>
                      <a:endParaRPr lang="zh-CN" altLang="en-US" sz="1400" i="1" dirty="0">
                        <a:solidFill>
                          <a:schemeClr val="tx1"/>
                        </a:solidFill>
                        <a:latin typeface="Calibri" panose="020F0502020204030204" pitchFamily="34" charset="0"/>
                      </a:endParaRPr>
                    </a:p>
                  </a:txBody>
                  <a:tcPr marL="91398" marR="91398" marT="34307" marB="3430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b1</a:t>
                      </a:r>
                      <a:endParaRPr lang="zh-CN" altLang="en-US" sz="1400" i="1" dirty="0">
                        <a:solidFill>
                          <a:schemeClr val="tx1"/>
                        </a:solidFill>
                        <a:latin typeface="Calibri" panose="020F0502020204030204" pitchFamily="34" charset="0"/>
                      </a:endParaRPr>
                    </a:p>
                  </a:txBody>
                  <a:tcPr marL="91398" marR="91398" marT="34307" marB="343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5</a:t>
                      </a:r>
                      <a:endParaRPr lang="zh-CN" altLang="en-US" sz="1400" i="1" dirty="0">
                        <a:solidFill>
                          <a:schemeClr val="tx1"/>
                        </a:solidFill>
                        <a:latin typeface="Calibri" panose="020F0502020204030204" pitchFamily="34" charset="0"/>
                      </a:endParaRPr>
                    </a:p>
                  </a:txBody>
                  <a:tcPr marL="91398" marR="91398" marT="34307" marB="3430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5280">
                <a:tc>
                  <a:txBody>
                    <a:bodyPr/>
                    <a:lstStyle/>
                    <a:p>
                      <a:pPr algn="ctr"/>
                      <a:r>
                        <a:rPr lang="en-US" altLang="zh-CN" sz="1400" i="1" dirty="0">
                          <a:solidFill>
                            <a:schemeClr val="tx1"/>
                          </a:solidFill>
                          <a:latin typeface="Calibri" panose="020F0502020204030204" pitchFamily="34" charset="0"/>
                        </a:rPr>
                        <a:t>a1</a:t>
                      </a:r>
                      <a:endParaRPr lang="zh-CN" altLang="en-US" sz="1400" i="1" dirty="0">
                        <a:solidFill>
                          <a:schemeClr val="tx1"/>
                        </a:solidFill>
                        <a:latin typeface="Calibri" panose="020F0502020204030204" pitchFamily="34" charset="0"/>
                      </a:endParaRPr>
                    </a:p>
                  </a:txBody>
                  <a:tcPr marL="91398" marR="91398" marT="34307" marB="3430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b2</a:t>
                      </a:r>
                      <a:endParaRPr lang="zh-CN" altLang="en-US" sz="1400" i="1" dirty="0">
                        <a:solidFill>
                          <a:schemeClr val="tx1"/>
                        </a:solidFill>
                        <a:latin typeface="Calibri" panose="020F0502020204030204" pitchFamily="34" charset="0"/>
                      </a:endParaRPr>
                    </a:p>
                  </a:txBody>
                  <a:tcPr marL="91398" marR="91398" marT="34307" marB="343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6</a:t>
                      </a:r>
                      <a:endParaRPr lang="zh-CN" altLang="en-US" sz="1400" i="1" dirty="0">
                        <a:solidFill>
                          <a:schemeClr val="tx1"/>
                        </a:solidFill>
                        <a:latin typeface="Calibri" panose="020F0502020204030204" pitchFamily="34" charset="0"/>
                      </a:endParaRPr>
                    </a:p>
                  </a:txBody>
                  <a:tcPr marL="91398" marR="91398" marT="34307" marB="3430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5280">
                <a:tc>
                  <a:txBody>
                    <a:bodyPr/>
                    <a:lstStyle/>
                    <a:p>
                      <a:pPr algn="ctr"/>
                      <a:r>
                        <a:rPr lang="en-US" altLang="zh-CN" sz="1400" i="1" dirty="0">
                          <a:solidFill>
                            <a:schemeClr val="tx1"/>
                          </a:solidFill>
                          <a:latin typeface="Calibri" panose="020F0502020204030204" pitchFamily="34" charset="0"/>
                        </a:rPr>
                        <a:t>a2</a:t>
                      </a:r>
                      <a:endParaRPr lang="zh-CN" altLang="en-US" sz="1400" i="1" dirty="0">
                        <a:solidFill>
                          <a:schemeClr val="tx1"/>
                        </a:solidFill>
                        <a:latin typeface="Calibri" panose="020F0502020204030204" pitchFamily="34" charset="0"/>
                      </a:endParaRPr>
                    </a:p>
                  </a:txBody>
                  <a:tcPr marL="91398" marR="91398" marT="34307" marB="3430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b3</a:t>
                      </a:r>
                      <a:endParaRPr lang="zh-CN" altLang="en-US" sz="1400" i="1" dirty="0">
                        <a:solidFill>
                          <a:schemeClr val="tx1"/>
                        </a:solidFill>
                        <a:latin typeface="Calibri" panose="020F0502020204030204" pitchFamily="34" charset="0"/>
                      </a:endParaRPr>
                    </a:p>
                  </a:txBody>
                  <a:tcPr marL="91398" marR="91398" marT="34307" marB="343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8</a:t>
                      </a:r>
                      <a:endParaRPr lang="zh-CN" altLang="en-US" sz="1400" i="1" dirty="0">
                        <a:solidFill>
                          <a:schemeClr val="tx1"/>
                        </a:solidFill>
                        <a:latin typeface="Calibri" panose="020F0502020204030204" pitchFamily="34" charset="0"/>
                      </a:endParaRPr>
                    </a:p>
                  </a:txBody>
                  <a:tcPr marL="91398" marR="91398" marT="34307" marB="3430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5280">
                <a:tc>
                  <a:txBody>
                    <a:bodyPr/>
                    <a:lstStyle/>
                    <a:p>
                      <a:pPr algn="ctr"/>
                      <a:r>
                        <a:rPr lang="en-US" altLang="zh-CN" sz="1400" i="1" dirty="0">
                          <a:solidFill>
                            <a:schemeClr val="tx1"/>
                          </a:solidFill>
                          <a:latin typeface="Calibri" panose="020F0502020204030204" pitchFamily="34" charset="0"/>
                        </a:rPr>
                        <a:t>a3</a:t>
                      </a:r>
                      <a:endParaRPr lang="zh-CN" altLang="en-US" sz="1400" i="1" dirty="0">
                        <a:solidFill>
                          <a:schemeClr val="tx1"/>
                        </a:solidFill>
                        <a:latin typeface="Calibri" panose="020F0502020204030204" pitchFamily="34" charset="0"/>
                      </a:endParaRPr>
                    </a:p>
                  </a:txBody>
                  <a:tcPr marL="91398" marR="91398" marT="34307" marB="3430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b4</a:t>
                      </a:r>
                      <a:endParaRPr lang="zh-CN" altLang="en-US" sz="1400" i="1" dirty="0">
                        <a:solidFill>
                          <a:schemeClr val="tx1"/>
                        </a:solidFill>
                        <a:latin typeface="Calibri" panose="020F0502020204030204" pitchFamily="34" charset="0"/>
                      </a:endParaRPr>
                    </a:p>
                  </a:txBody>
                  <a:tcPr marL="91398" marR="91398" marT="34307" marB="343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12</a:t>
                      </a:r>
                      <a:endParaRPr lang="zh-CN" altLang="en-US" sz="1400" i="1" dirty="0">
                        <a:solidFill>
                          <a:schemeClr val="tx1"/>
                        </a:solidFill>
                        <a:latin typeface="Calibri" panose="020F0502020204030204" pitchFamily="34" charset="0"/>
                      </a:endParaRPr>
                    </a:p>
                  </a:txBody>
                  <a:tcPr marL="91398" marR="91398" marT="34307" marB="3430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23579" name="TextBox 10"/>
          <p:cNvSpPr txBox="1"/>
          <p:nvPr/>
        </p:nvSpPr>
        <p:spPr>
          <a:xfrm>
            <a:off x="2098675" y="2289175"/>
            <a:ext cx="1225550" cy="3683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i="1" dirty="0">
                <a:latin typeface="Calibri" panose="020F0502020204030204" pitchFamily="34" charset="0"/>
              </a:rPr>
              <a:t>R</a:t>
            </a:r>
            <a:endParaRPr lang="zh-CN" altLang="en-US" sz="1800" b="0" i="1" dirty="0">
              <a:latin typeface="Calibri" panose="020F0502020204030204" pitchFamily="34" charset="0"/>
            </a:endParaRPr>
          </a:p>
        </p:txBody>
      </p:sp>
      <p:graphicFrame>
        <p:nvGraphicFramePr>
          <p:cNvPr id="12" name="表格 11"/>
          <p:cNvGraphicFramePr>
            <a:graphicFrameLocks noGrp="1"/>
          </p:cNvGraphicFramePr>
          <p:nvPr/>
        </p:nvGraphicFramePr>
        <p:xfrm>
          <a:off x="4906963" y="2451100"/>
          <a:ext cx="1657350" cy="2614612"/>
        </p:xfrm>
        <a:graphic>
          <a:graphicData uri="http://schemas.openxmlformats.org/drawingml/2006/table">
            <a:tbl>
              <a:tblPr firstRow="1" bandRow="1">
                <a:tableStyleId>{5C22544A-7EE6-4342-B048-85BDC9FD1C3A}</a:tableStyleId>
              </a:tblPr>
              <a:tblGrid>
                <a:gridCol w="828675"/>
                <a:gridCol w="828675"/>
              </a:tblGrid>
              <a:tr h="373516">
                <a:tc>
                  <a:txBody>
                    <a:bodyPr/>
                    <a:lstStyle/>
                    <a:p>
                      <a:pPr algn="ctr"/>
                      <a:r>
                        <a:rPr lang="en-US" altLang="zh-CN" sz="1400" b="0" i="1" dirty="0">
                          <a:solidFill>
                            <a:schemeClr val="tx1"/>
                          </a:solidFill>
                          <a:latin typeface="Calibri" panose="020F0502020204030204" pitchFamily="34" charset="0"/>
                        </a:rPr>
                        <a:t>B</a:t>
                      </a:r>
                      <a:endParaRPr lang="zh-CN" altLang="en-US" sz="1400" b="0" i="1" dirty="0">
                        <a:solidFill>
                          <a:schemeClr val="tx1"/>
                        </a:solidFill>
                        <a:latin typeface="Calibri" panose="020F0502020204030204" pitchFamily="34" charset="0"/>
                      </a:endParaRPr>
                    </a:p>
                  </a:txBody>
                  <a:tcPr marL="91515" marR="91515" marT="34291" marB="3429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a:t>
                      </a:r>
                      <a:endParaRPr lang="zh-CN" altLang="en-US" sz="1400" b="0" i="1" dirty="0">
                        <a:solidFill>
                          <a:schemeClr val="tx1"/>
                        </a:solidFill>
                        <a:latin typeface="Calibri" panose="020F0502020204030204" pitchFamily="34" charset="0"/>
                      </a:endParaRPr>
                    </a:p>
                  </a:txBody>
                  <a:tcPr marL="91515" marR="91515" marT="34291" marB="34291">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3516">
                <a:tc>
                  <a:txBody>
                    <a:bodyPr/>
                    <a:lstStyle/>
                    <a:p>
                      <a:pPr algn="ctr"/>
                      <a:r>
                        <a:rPr lang="en-US" altLang="zh-CN" sz="1400" b="0" i="1" dirty="0">
                          <a:solidFill>
                            <a:schemeClr val="tx1"/>
                          </a:solidFill>
                          <a:latin typeface="Calibri" panose="020F0502020204030204" pitchFamily="34" charset="0"/>
                        </a:rPr>
                        <a:t>b1</a:t>
                      </a:r>
                      <a:endParaRPr lang="zh-CN" altLang="en-US" sz="1400" b="0" i="1" dirty="0">
                        <a:solidFill>
                          <a:schemeClr val="tx1"/>
                        </a:solidFill>
                        <a:latin typeface="Calibri" panose="020F0502020204030204" pitchFamily="34" charset="0"/>
                      </a:endParaRPr>
                    </a:p>
                  </a:txBody>
                  <a:tcPr marL="91515" marR="91515" marT="34291" marB="3429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3</a:t>
                      </a:r>
                      <a:endParaRPr lang="zh-CN" altLang="en-US" sz="1400" b="0" i="1" dirty="0">
                        <a:solidFill>
                          <a:schemeClr val="tx1"/>
                        </a:solidFill>
                        <a:latin typeface="Calibri" panose="020F0502020204030204" pitchFamily="34" charset="0"/>
                      </a:endParaRPr>
                    </a:p>
                  </a:txBody>
                  <a:tcPr marL="91515" marR="91515" marT="34291" marB="34291">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3516">
                <a:tc>
                  <a:txBody>
                    <a:bodyPr/>
                    <a:lstStyle/>
                    <a:p>
                      <a:pPr algn="ctr"/>
                      <a:r>
                        <a:rPr lang="en-US" altLang="zh-CN" sz="1400" b="0" i="1" dirty="0">
                          <a:solidFill>
                            <a:schemeClr val="tx1"/>
                          </a:solidFill>
                          <a:latin typeface="Calibri" panose="020F0502020204030204" pitchFamily="34" charset="0"/>
                        </a:rPr>
                        <a:t>b2</a:t>
                      </a:r>
                      <a:endParaRPr lang="zh-CN" altLang="en-US" sz="1400" b="0" i="1" dirty="0">
                        <a:solidFill>
                          <a:schemeClr val="tx1"/>
                        </a:solidFill>
                        <a:latin typeface="Calibri" panose="020F0502020204030204" pitchFamily="34" charset="0"/>
                      </a:endParaRPr>
                    </a:p>
                  </a:txBody>
                  <a:tcPr marL="91515" marR="91515" marT="34291" marB="3429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7</a:t>
                      </a:r>
                      <a:endParaRPr lang="zh-CN" altLang="en-US" sz="1400" b="0" i="1" dirty="0">
                        <a:solidFill>
                          <a:schemeClr val="tx1"/>
                        </a:solidFill>
                        <a:latin typeface="Calibri" panose="020F0502020204030204" pitchFamily="34" charset="0"/>
                      </a:endParaRPr>
                    </a:p>
                  </a:txBody>
                  <a:tcPr marL="91515" marR="91515" marT="34291" marB="34291">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3516">
                <a:tc>
                  <a:txBody>
                    <a:bodyPr/>
                    <a:lstStyle/>
                    <a:p>
                      <a:pPr algn="ctr"/>
                      <a:r>
                        <a:rPr lang="en-US" altLang="zh-CN" sz="1400" b="0" i="1" dirty="0">
                          <a:solidFill>
                            <a:schemeClr val="tx1"/>
                          </a:solidFill>
                          <a:latin typeface="Calibri" panose="020F0502020204030204" pitchFamily="34" charset="0"/>
                        </a:rPr>
                        <a:t>b3</a:t>
                      </a:r>
                      <a:endParaRPr lang="zh-CN" altLang="en-US" sz="1400" b="0" i="1" dirty="0">
                        <a:solidFill>
                          <a:schemeClr val="tx1"/>
                        </a:solidFill>
                        <a:latin typeface="Calibri" panose="020F0502020204030204" pitchFamily="34" charset="0"/>
                      </a:endParaRPr>
                    </a:p>
                  </a:txBody>
                  <a:tcPr marL="91515" marR="91515" marT="34291" marB="3429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10</a:t>
                      </a:r>
                      <a:endParaRPr lang="zh-CN" altLang="en-US" sz="1400" b="0" i="1" dirty="0">
                        <a:solidFill>
                          <a:schemeClr val="tx1"/>
                        </a:solidFill>
                        <a:latin typeface="Calibri" panose="020F0502020204030204" pitchFamily="34" charset="0"/>
                      </a:endParaRPr>
                    </a:p>
                  </a:txBody>
                  <a:tcPr marL="91515" marR="91515" marT="34291" marB="34291">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3516">
                <a:tc>
                  <a:txBody>
                    <a:bodyPr/>
                    <a:lstStyle/>
                    <a:p>
                      <a:pPr algn="ctr"/>
                      <a:r>
                        <a:rPr lang="en-US" altLang="zh-CN" sz="1400" b="0" i="1" dirty="0">
                          <a:solidFill>
                            <a:schemeClr val="tx1"/>
                          </a:solidFill>
                          <a:latin typeface="Calibri" panose="020F0502020204030204" pitchFamily="34" charset="0"/>
                        </a:rPr>
                        <a:t>b3</a:t>
                      </a:r>
                      <a:endParaRPr lang="zh-CN" altLang="en-US" sz="1400" b="0" i="1" dirty="0">
                        <a:solidFill>
                          <a:schemeClr val="tx1"/>
                        </a:solidFill>
                        <a:latin typeface="Calibri" panose="020F0502020204030204" pitchFamily="34" charset="0"/>
                      </a:endParaRPr>
                    </a:p>
                  </a:txBody>
                  <a:tcPr marL="91515" marR="91515" marT="34291" marB="3429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2</a:t>
                      </a:r>
                      <a:endParaRPr lang="zh-CN" altLang="en-US" sz="1400" b="0" i="1" dirty="0">
                        <a:solidFill>
                          <a:schemeClr val="tx1"/>
                        </a:solidFill>
                        <a:latin typeface="Calibri" panose="020F0502020204030204" pitchFamily="34" charset="0"/>
                      </a:endParaRPr>
                    </a:p>
                  </a:txBody>
                  <a:tcPr marL="91515" marR="91515" marT="34291" marB="34291">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3516">
                <a:tc>
                  <a:txBody>
                    <a:bodyPr/>
                    <a:lstStyle/>
                    <a:p>
                      <a:pPr algn="ctr"/>
                      <a:r>
                        <a:rPr lang="en-US" altLang="zh-CN" sz="1400" b="0" i="1" dirty="0">
                          <a:solidFill>
                            <a:schemeClr val="tx1"/>
                          </a:solidFill>
                          <a:latin typeface="Calibri" panose="020F0502020204030204" pitchFamily="34" charset="0"/>
                        </a:rPr>
                        <a:t>b5</a:t>
                      </a:r>
                      <a:endParaRPr lang="zh-CN" altLang="en-US" sz="1400" b="0" i="1" dirty="0">
                        <a:solidFill>
                          <a:schemeClr val="tx1"/>
                        </a:solidFill>
                        <a:latin typeface="Calibri" panose="020F0502020204030204" pitchFamily="34" charset="0"/>
                      </a:endParaRPr>
                    </a:p>
                  </a:txBody>
                  <a:tcPr marL="91515" marR="91515" marT="34291" marB="3429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2</a:t>
                      </a:r>
                      <a:endParaRPr lang="zh-CN" altLang="en-US" sz="1400" b="0" i="1" dirty="0">
                        <a:solidFill>
                          <a:schemeClr val="tx1"/>
                        </a:solidFill>
                        <a:latin typeface="Calibri" panose="020F0502020204030204" pitchFamily="34" charset="0"/>
                      </a:endParaRPr>
                    </a:p>
                  </a:txBody>
                  <a:tcPr marL="91515" marR="91515" marT="34291" marB="34291">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3516">
                <a:tc gridSpan="2">
                  <a:txBody>
                    <a:bodyPr/>
                    <a:lstStyle/>
                    <a:p>
                      <a:pPr algn="ctr"/>
                      <a:r>
                        <a:rPr lang="en-US" altLang="zh-CN" sz="1400" b="1" i="1" dirty="0">
                          <a:solidFill>
                            <a:srgbClr val="FF0000"/>
                          </a:solidFill>
                          <a:latin typeface="Calibri" panose="020F0502020204030204" pitchFamily="34" charset="0"/>
                        </a:rPr>
                        <a:t>······</a:t>
                      </a:r>
                      <a:endParaRPr lang="zh-CN" altLang="en-US" sz="1400" b="1" i="1" dirty="0">
                        <a:solidFill>
                          <a:srgbClr val="FF0000"/>
                        </a:solidFill>
                        <a:latin typeface="Calibri" panose="020F0502020204030204" pitchFamily="34" charset="0"/>
                      </a:endParaRPr>
                    </a:p>
                  </a:txBody>
                  <a:tcPr marL="91515" marR="91515" marT="34291" marB="3429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pic>
        <p:nvPicPr>
          <p:cNvPr id="13" name="51E53606.wav">
            <a:hlinkClick r:id="" action="ppaction://media"/>
          </p:cNvPr>
          <p:cNvPicPr>
            <a:picLocks noChangeAspect="1"/>
          </p:cNvPicPr>
          <p:nvPr>
            <a:wavAudioFile r:embed="rId1"/>
          </p:nvPr>
        </p:nvPicPr>
        <p:blipFill>
          <a:blip r:embed="rId2"/>
          <a:stretch>
            <a:fillRect/>
          </a:stretch>
        </p:blipFill>
        <p:spPr>
          <a:xfrm>
            <a:off x="9842500" y="4991100"/>
            <a:ext cx="609600" cy="457200"/>
          </a:xfrm>
          <a:prstGeom prst="rect">
            <a:avLst/>
          </a:prstGeom>
          <a:noFill/>
          <a:ln w="9525">
            <a:noFill/>
          </a:ln>
        </p:spPr>
      </p:pic>
    </p:spTree>
  </p:cSld>
  <p:clrMapOvr>
    <a:masterClrMapping/>
  </p:clrMapOvr>
  <p:transition spd="slow" advTm="967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charRg st="44" end="6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1" fill="hold" display="0">
                  <p:stCondLst>
                    <p:cond delay="indefinite"/>
                  </p:stCondLst>
                  <p:endCondLst>
                    <p:cond evt="onStopAudio" delay="0">
                      <p:tgtEl>
                        <p:sldTgt/>
                      </p:tgtEl>
                    </p:cond>
                  </p:endCondLst>
                </p:cTn>
                <p:tgtEl>
                  <p:spTgt spid="13"/>
                </p:tgtEl>
              </p:cMediaNode>
            </p:audi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7" name="表格 36"/>
          <p:cNvGraphicFramePr>
            <a:graphicFrameLocks noGrp="1"/>
          </p:cNvGraphicFramePr>
          <p:nvPr/>
        </p:nvGraphicFramePr>
        <p:xfrm>
          <a:off x="4779963" y="2695575"/>
          <a:ext cx="1403350" cy="2087561"/>
        </p:xfrm>
        <a:graphic>
          <a:graphicData uri="http://schemas.openxmlformats.org/drawingml/2006/table">
            <a:tbl>
              <a:tblPr firstRow="1" bandRow="1">
                <a:tableStyleId>{5C22544A-7EE6-4342-B048-85BDC9FD1C3A}</a:tableStyleId>
              </a:tblPr>
              <a:tblGrid>
                <a:gridCol w="701675"/>
                <a:gridCol w="701675"/>
              </a:tblGrid>
              <a:tr h="300926">
                <a:tc>
                  <a:txBody>
                    <a:bodyPr/>
                    <a:lstStyle/>
                    <a:p>
                      <a:pPr algn="ctr"/>
                      <a:r>
                        <a:rPr lang="en-US" altLang="zh-CN" sz="1400" b="0" i="1" dirty="0">
                          <a:solidFill>
                            <a:srgbClr val="FF0000"/>
                          </a:solidFill>
                          <a:latin typeface="Calibri" panose="020F0502020204030204" pitchFamily="34" charset="0"/>
                        </a:rPr>
                        <a:t>B</a:t>
                      </a:r>
                      <a:endParaRPr lang="zh-CN" altLang="en-US" sz="1400" b="0" i="1" dirty="0">
                        <a:solidFill>
                          <a:srgbClr val="FF0000"/>
                        </a:solidFill>
                        <a:latin typeface="Calibri" panose="020F0502020204030204" pitchFamily="34" charset="0"/>
                      </a:endParaRPr>
                    </a:p>
                  </a:txBody>
                  <a:tcPr marL="91398" marR="91398" marT="34298" marB="342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a:t>
                      </a:r>
                      <a:endParaRPr lang="zh-CN" altLang="en-US" sz="1400" b="0" i="1" dirty="0">
                        <a:solidFill>
                          <a:schemeClr val="tx1"/>
                        </a:solidFill>
                        <a:latin typeface="Calibri" panose="020F0502020204030204" pitchFamily="34" charset="0"/>
                      </a:endParaRPr>
                    </a:p>
                  </a:txBody>
                  <a:tcPr marL="91398" marR="91398" marT="34298" marB="34298">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00926">
                <a:tc>
                  <a:txBody>
                    <a:bodyPr/>
                    <a:lstStyle/>
                    <a:p>
                      <a:pPr algn="ctr"/>
                      <a:r>
                        <a:rPr lang="en-US" altLang="zh-CN" sz="1400" b="0" i="1" dirty="0">
                          <a:solidFill>
                            <a:srgbClr val="FF0000"/>
                          </a:solidFill>
                          <a:latin typeface="Calibri" panose="020F0502020204030204" pitchFamily="34" charset="0"/>
                        </a:rPr>
                        <a:t>b1</a:t>
                      </a:r>
                      <a:endParaRPr lang="zh-CN" altLang="en-US" sz="1400" b="0" i="1" dirty="0">
                        <a:solidFill>
                          <a:srgbClr val="FF0000"/>
                        </a:solidFill>
                        <a:latin typeface="Calibri" panose="020F0502020204030204" pitchFamily="34" charset="0"/>
                      </a:endParaRPr>
                    </a:p>
                  </a:txBody>
                  <a:tcPr marL="91398" marR="91398" marT="34298" marB="342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3</a:t>
                      </a:r>
                      <a:endParaRPr lang="zh-CN" altLang="en-US" sz="1400" b="0" i="1" dirty="0">
                        <a:solidFill>
                          <a:schemeClr val="tx1"/>
                        </a:solidFill>
                        <a:latin typeface="Calibri" panose="020F0502020204030204" pitchFamily="34" charset="0"/>
                      </a:endParaRPr>
                    </a:p>
                  </a:txBody>
                  <a:tcPr marL="91398" marR="91398" marT="34298" marB="34298">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00926">
                <a:tc>
                  <a:txBody>
                    <a:bodyPr/>
                    <a:lstStyle/>
                    <a:p>
                      <a:pPr algn="ctr"/>
                      <a:r>
                        <a:rPr lang="en-US" altLang="zh-CN" sz="1400" b="0" i="1" dirty="0">
                          <a:solidFill>
                            <a:srgbClr val="FF0000"/>
                          </a:solidFill>
                          <a:latin typeface="Calibri" panose="020F0502020204030204" pitchFamily="34" charset="0"/>
                        </a:rPr>
                        <a:t>b2</a:t>
                      </a:r>
                      <a:endParaRPr lang="zh-CN" altLang="en-US" sz="1400" b="0" i="1" dirty="0">
                        <a:solidFill>
                          <a:srgbClr val="FF0000"/>
                        </a:solidFill>
                        <a:latin typeface="Calibri" panose="020F0502020204030204" pitchFamily="34" charset="0"/>
                      </a:endParaRPr>
                    </a:p>
                  </a:txBody>
                  <a:tcPr marL="91398" marR="91398" marT="34298" marB="342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7</a:t>
                      </a:r>
                      <a:endParaRPr lang="zh-CN" altLang="en-US" sz="1400" b="0" i="1" dirty="0">
                        <a:solidFill>
                          <a:schemeClr val="tx1"/>
                        </a:solidFill>
                        <a:latin typeface="Calibri" panose="020F0502020204030204" pitchFamily="34" charset="0"/>
                      </a:endParaRPr>
                    </a:p>
                  </a:txBody>
                  <a:tcPr marL="91398" marR="91398" marT="34298" marB="34298">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00926">
                <a:tc>
                  <a:txBody>
                    <a:bodyPr/>
                    <a:lstStyle/>
                    <a:p>
                      <a:pPr algn="ctr"/>
                      <a:r>
                        <a:rPr lang="en-US" altLang="zh-CN" sz="1400" b="0" i="1" dirty="0">
                          <a:solidFill>
                            <a:srgbClr val="FF0000"/>
                          </a:solidFill>
                          <a:latin typeface="Calibri" panose="020F0502020204030204" pitchFamily="34" charset="0"/>
                        </a:rPr>
                        <a:t>b3</a:t>
                      </a:r>
                      <a:endParaRPr lang="zh-CN" altLang="en-US" sz="1400" b="0" i="1" dirty="0">
                        <a:solidFill>
                          <a:srgbClr val="FF0000"/>
                        </a:solidFill>
                        <a:latin typeface="Calibri" panose="020F0502020204030204" pitchFamily="34" charset="0"/>
                      </a:endParaRPr>
                    </a:p>
                  </a:txBody>
                  <a:tcPr marL="91398" marR="91398" marT="34298" marB="342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10</a:t>
                      </a:r>
                      <a:endParaRPr lang="zh-CN" altLang="en-US" sz="1400" b="0" i="1" dirty="0">
                        <a:solidFill>
                          <a:schemeClr val="tx1"/>
                        </a:solidFill>
                        <a:latin typeface="Calibri" panose="020F0502020204030204" pitchFamily="34" charset="0"/>
                      </a:endParaRPr>
                    </a:p>
                  </a:txBody>
                  <a:tcPr marL="91398" marR="91398" marT="34298" marB="34298">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00926">
                <a:tc>
                  <a:txBody>
                    <a:bodyPr/>
                    <a:lstStyle/>
                    <a:p>
                      <a:pPr algn="ctr"/>
                      <a:r>
                        <a:rPr lang="en-US" altLang="zh-CN" sz="1400" b="0" i="1" dirty="0">
                          <a:solidFill>
                            <a:srgbClr val="FF0000"/>
                          </a:solidFill>
                          <a:latin typeface="Calibri" panose="020F0502020204030204" pitchFamily="34" charset="0"/>
                        </a:rPr>
                        <a:t>b3</a:t>
                      </a:r>
                      <a:endParaRPr lang="zh-CN" altLang="en-US" sz="1400" b="0" i="1" dirty="0">
                        <a:solidFill>
                          <a:srgbClr val="FF0000"/>
                        </a:solidFill>
                        <a:latin typeface="Calibri" panose="020F0502020204030204" pitchFamily="34" charset="0"/>
                      </a:endParaRPr>
                    </a:p>
                  </a:txBody>
                  <a:tcPr marL="91398" marR="91398" marT="34298" marB="342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2</a:t>
                      </a:r>
                      <a:endParaRPr lang="zh-CN" altLang="en-US" sz="1400" b="0" i="1" dirty="0">
                        <a:solidFill>
                          <a:schemeClr val="tx1"/>
                        </a:solidFill>
                        <a:latin typeface="Calibri" panose="020F0502020204030204" pitchFamily="34" charset="0"/>
                      </a:endParaRPr>
                    </a:p>
                  </a:txBody>
                  <a:tcPr marL="91398" marR="91398" marT="34298" marB="34298">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00926">
                <a:tc>
                  <a:txBody>
                    <a:bodyPr/>
                    <a:lstStyle/>
                    <a:p>
                      <a:pPr algn="ctr"/>
                      <a:r>
                        <a:rPr lang="en-US" altLang="zh-CN" sz="1400" b="0" i="1" dirty="0">
                          <a:solidFill>
                            <a:srgbClr val="FF0000"/>
                          </a:solidFill>
                          <a:latin typeface="Calibri" panose="020F0502020204030204" pitchFamily="34" charset="0"/>
                        </a:rPr>
                        <a:t>b5</a:t>
                      </a:r>
                      <a:endParaRPr lang="zh-CN" altLang="en-US" sz="1400" b="0" i="1" dirty="0">
                        <a:solidFill>
                          <a:srgbClr val="FF0000"/>
                        </a:solidFill>
                        <a:latin typeface="Calibri" panose="020F0502020204030204" pitchFamily="34" charset="0"/>
                      </a:endParaRPr>
                    </a:p>
                  </a:txBody>
                  <a:tcPr marL="91398" marR="91398" marT="34298" marB="342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2</a:t>
                      </a:r>
                      <a:endParaRPr lang="zh-CN" altLang="en-US" sz="1400" b="0" i="1" dirty="0">
                        <a:solidFill>
                          <a:schemeClr val="tx1"/>
                        </a:solidFill>
                        <a:latin typeface="Calibri" panose="020F0502020204030204" pitchFamily="34" charset="0"/>
                      </a:endParaRPr>
                    </a:p>
                  </a:txBody>
                  <a:tcPr marL="91398" marR="91398" marT="34298" marB="34298">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2005">
                <a:tc gridSpan="2">
                  <a:txBody>
                    <a:bodyPr/>
                    <a:lstStyle/>
                    <a:p>
                      <a:pPr algn="ctr"/>
                      <a:r>
                        <a:rPr lang="en-US" altLang="zh-CN" sz="1400" b="1" i="1" dirty="0">
                          <a:solidFill>
                            <a:srgbClr val="FF0000"/>
                          </a:solidFill>
                          <a:latin typeface="Calibri" panose="020F0502020204030204" pitchFamily="34" charset="0"/>
                        </a:rPr>
                        <a:t>······</a:t>
                      </a:r>
                      <a:endParaRPr lang="zh-CN" altLang="en-US" sz="1400" b="1" i="1" dirty="0">
                        <a:solidFill>
                          <a:srgbClr val="FF0000"/>
                        </a:solidFill>
                        <a:latin typeface="Calibri" panose="020F0502020204030204" pitchFamily="34" charset="0"/>
                      </a:endParaRPr>
                    </a:p>
                  </a:txBody>
                  <a:tcPr marL="91398" marR="91398" marT="34298" marB="3429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graphicFrame>
        <p:nvGraphicFramePr>
          <p:cNvPr id="34" name="表格 33"/>
          <p:cNvGraphicFramePr>
            <a:graphicFrameLocks noGrp="1"/>
          </p:cNvGraphicFramePr>
          <p:nvPr/>
        </p:nvGraphicFramePr>
        <p:xfrm>
          <a:off x="1558925" y="2695575"/>
          <a:ext cx="1800225" cy="1457325"/>
        </p:xfrm>
        <a:graphic>
          <a:graphicData uri="http://schemas.openxmlformats.org/drawingml/2006/table">
            <a:tbl>
              <a:tblPr firstRow="1" bandRow="1">
                <a:tableStyleId>{5C22544A-7EE6-4342-B048-85BDC9FD1C3A}</a:tableStyleId>
              </a:tblPr>
              <a:tblGrid>
                <a:gridCol w="600075"/>
                <a:gridCol w="600075"/>
                <a:gridCol w="600075"/>
              </a:tblGrid>
              <a:tr h="291465">
                <a:tc>
                  <a:txBody>
                    <a:bodyPr/>
                    <a:lstStyle/>
                    <a:p>
                      <a:pPr algn="ctr"/>
                      <a:r>
                        <a:rPr lang="en-US" altLang="zh-CN" sz="1400" b="0" i="1" dirty="0">
                          <a:solidFill>
                            <a:schemeClr val="tx1"/>
                          </a:solidFill>
                          <a:latin typeface="Calibri" panose="020F0502020204030204" pitchFamily="34" charset="0"/>
                        </a:rPr>
                        <a:t>A</a:t>
                      </a:r>
                      <a:endParaRPr lang="zh-CN" altLang="en-US" sz="1400" b="0" i="1" dirty="0">
                        <a:solidFill>
                          <a:schemeClr val="tx1"/>
                        </a:solidFill>
                        <a:latin typeface="Calibri" panose="020F0502020204030204" pitchFamily="34" charset="0"/>
                      </a:endParaRPr>
                    </a:p>
                  </a:txBody>
                  <a:tcPr marL="91451" marR="91451"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rgbClr val="FF0000"/>
                          </a:solidFill>
                          <a:latin typeface="Calibri" panose="020F0502020204030204" pitchFamily="34" charset="0"/>
                        </a:rPr>
                        <a:t>B</a:t>
                      </a:r>
                      <a:endParaRPr lang="zh-CN" altLang="en-US" sz="1400" b="0" i="1" dirty="0">
                        <a:solidFill>
                          <a:srgbClr val="FF0000"/>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C</a:t>
                      </a:r>
                      <a:endParaRPr lang="zh-CN" altLang="en-US" sz="1400" b="0" i="1" dirty="0">
                        <a:solidFill>
                          <a:schemeClr val="tx1"/>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91465">
                <a:tc>
                  <a:txBody>
                    <a:bodyPr/>
                    <a:lstStyle/>
                    <a:p>
                      <a:pPr algn="ctr"/>
                      <a:r>
                        <a:rPr lang="en-US" altLang="zh-CN" sz="1400" i="1" dirty="0">
                          <a:solidFill>
                            <a:schemeClr val="tx1"/>
                          </a:solidFill>
                          <a:latin typeface="Calibri" panose="020F0502020204030204" pitchFamily="34" charset="0"/>
                        </a:rPr>
                        <a:t>a1</a:t>
                      </a:r>
                      <a:endParaRPr lang="zh-CN" altLang="en-US" sz="1400" i="1" dirty="0">
                        <a:solidFill>
                          <a:schemeClr val="tx1"/>
                        </a:solidFill>
                        <a:latin typeface="Calibri" panose="020F0502020204030204" pitchFamily="34" charset="0"/>
                      </a:endParaRPr>
                    </a:p>
                  </a:txBody>
                  <a:tcPr marL="91451" marR="91451"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rgbClr val="FF0000"/>
                          </a:solidFill>
                          <a:latin typeface="Calibri" panose="020F0502020204030204" pitchFamily="34" charset="0"/>
                        </a:rPr>
                        <a:t>b1</a:t>
                      </a:r>
                      <a:endParaRPr lang="zh-CN" altLang="en-US" sz="1400" i="1" dirty="0">
                        <a:solidFill>
                          <a:srgbClr val="FF0000"/>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5</a:t>
                      </a:r>
                      <a:endParaRPr lang="zh-CN" altLang="en-US" sz="1400" i="1" dirty="0">
                        <a:solidFill>
                          <a:schemeClr val="tx1"/>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91465">
                <a:tc>
                  <a:txBody>
                    <a:bodyPr/>
                    <a:lstStyle/>
                    <a:p>
                      <a:pPr algn="ctr"/>
                      <a:r>
                        <a:rPr lang="en-US" altLang="zh-CN" sz="1400" i="1" dirty="0">
                          <a:solidFill>
                            <a:schemeClr val="tx1"/>
                          </a:solidFill>
                          <a:latin typeface="Calibri" panose="020F0502020204030204" pitchFamily="34" charset="0"/>
                        </a:rPr>
                        <a:t>a1</a:t>
                      </a:r>
                      <a:endParaRPr lang="zh-CN" altLang="en-US" sz="1400" i="1" dirty="0">
                        <a:solidFill>
                          <a:schemeClr val="tx1"/>
                        </a:solidFill>
                        <a:latin typeface="Calibri" panose="020F0502020204030204" pitchFamily="34" charset="0"/>
                      </a:endParaRPr>
                    </a:p>
                  </a:txBody>
                  <a:tcPr marL="91451" marR="91451"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rgbClr val="FF0000"/>
                          </a:solidFill>
                          <a:latin typeface="Calibri" panose="020F0502020204030204" pitchFamily="34" charset="0"/>
                        </a:rPr>
                        <a:t>b2</a:t>
                      </a:r>
                      <a:endParaRPr lang="zh-CN" altLang="en-US" sz="1400" i="1" dirty="0">
                        <a:solidFill>
                          <a:srgbClr val="FF0000"/>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6</a:t>
                      </a:r>
                      <a:endParaRPr lang="zh-CN" altLang="en-US" sz="1400" i="1" dirty="0">
                        <a:solidFill>
                          <a:schemeClr val="tx1"/>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91465">
                <a:tc>
                  <a:txBody>
                    <a:bodyPr/>
                    <a:lstStyle/>
                    <a:p>
                      <a:pPr algn="ctr"/>
                      <a:r>
                        <a:rPr lang="en-US" altLang="zh-CN" sz="1400" i="1" dirty="0">
                          <a:solidFill>
                            <a:schemeClr val="tx1"/>
                          </a:solidFill>
                          <a:latin typeface="Calibri" panose="020F0502020204030204" pitchFamily="34" charset="0"/>
                        </a:rPr>
                        <a:t>a2</a:t>
                      </a:r>
                      <a:endParaRPr lang="zh-CN" altLang="en-US" sz="1400" i="1" dirty="0">
                        <a:solidFill>
                          <a:schemeClr val="tx1"/>
                        </a:solidFill>
                        <a:latin typeface="Calibri" panose="020F0502020204030204" pitchFamily="34" charset="0"/>
                      </a:endParaRPr>
                    </a:p>
                  </a:txBody>
                  <a:tcPr marL="91451" marR="91451"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rgbClr val="FF0000"/>
                          </a:solidFill>
                          <a:latin typeface="Calibri" panose="020F0502020204030204" pitchFamily="34" charset="0"/>
                        </a:rPr>
                        <a:t>b3</a:t>
                      </a:r>
                      <a:endParaRPr lang="zh-CN" altLang="en-US" sz="1400" i="1" dirty="0">
                        <a:solidFill>
                          <a:srgbClr val="FF0000"/>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8</a:t>
                      </a:r>
                      <a:endParaRPr lang="zh-CN" altLang="en-US" sz="1400" i="1" dirty="0">
                        <a:solidFill>
                          <a:schemeClr val="tx1"/>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91465">
                <a:tc>
                  <a:txBody>
                    <a:bodyPr/>
                    <a:lstStyle/>
                    <a:p>
                      <a:pPr algn="ctr"/>
                      <a:r>
                        <a:rPr lang="en-US" altLang="zh-CN" sz="1400" i="1" dirty="0">
                          <a:solidFill>
                            <a:schemeClr val="tx1"/>
                          </a:solidFill>
                          <a:latin typeface="Calibri" panose="020F0502020204030204" pitchFamily="34" charset="0"/>
                        </a:rPr>
                        <a:t>a3</a:t>
                      </a:r>
                      <a:endParaRPr lang="zh-CN" altLang="en-US" sz="1400" i="1" dirty="0">
                        <a:solidFill>
                          <a:schemeClr val="tx1"/>
                        </a:solidFill>
                        <a:latin typeface="Calibri" panose="020F0502020204030204" pitchFamily="34" charset="0"/>
                      </a:endParaRPr>
                    </a:p>
                  </a:txBody>
                  <a:tcPr marL="91451" marR="91451" marT="34274" marB="3427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rgbClr val="FF0000"/>
                          </a:solidFill>
                          <a:latin typeface="Calibri" panose="020F0502020204030204" pitchFamily="34" charset="0"/>
                        </a:rPr>
                        <a:t>b4</a:t>
                      </a:r>
                      <a:endParaRPr lang="zh-CN" altLang="en-US" sz="1400" i="1" dirty="0">
                        <a:solidFill>
                          <a:srgbClr val="FF0000"/>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12</a:t>
                      </a:r>
                      <a:endParaRPr lang="zh-CN" altLang="en-US" sz="1400" i="1" dirty="0">
                        <a:solidFill>
                          <a:schemeClr val="tx1"/>
                        </a:solidFill>
                        <a:latin typeface="Calibri" panose="020F0502020204030204" pitchFamily="34" charset="0"/>
                      </a:endParaRPr>
                    </a:p>
                  </a:txBody>
                  <a:tcPr marL="91451" marR="91451" marT="34274" marB="3427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25641" name="TextBox 34"/>
          <p:cNvSpPr txBox="1"/>
          <p:nvPr/>
        </p:nvSpPr>
        <p:spPr>
          <a:xfrm>
            <a:off x="1739900" y="2263775"/>
            <a:ext cx="1223963" cy="3683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i="1" dirty="0">
                <a:latin typeface="Calibri" panose="020F0502020204030204" pitchFamily="34" charset="0"/>
              </a:rPr>
              <a:t>R</a:t>
            </a:r>
            <a:endParaRPr lang="zh-CN" altLang="en-US" sz="1800" b="0" i="1" dirty="0">
              <a:latin typeface="Calibri" panose="020F0502020204030204" pitchFamily="34" charset="0"/>
            </a:endParaRPr>
          </a:p>
        </p:txBody>
      </p:sp>
      <p:graphicFrame>
        <p:nvGraphicFramePr>
          <p:cNvPr id="25642" name="Object 1024"/>
          <p:cNvGraphicFramePr>
            <a:graphicFrameLocks noChangeAspect="1"/>
          </p:cNvGraphicFramePr>
          <p:nvPr/>
        </p:nvGraphicFramePr>
        <p:xfrm>
          <a:off x="6786563" y="2532063"/>
          <a:ext cx="3917950" cy="1754187"/>
        </p:xfrm>
        <a:graphic>
          <a:graphicData uri="http://schemas.openxmlformats.org/presentationml/2006/ole">
            <mc:AlternateContent xmlns:mc="http://schemas.openxmlformats.org/markup-compatibility/2006">
              <mc:Choice xmlns:v="urn:schemas-microsoft-com:vml" Requires="v">
                <p:oleObj spid="_x0000_s3079" name="" r:id="rId1" imgW="5080000" imgH="3035300" progId="Photoshop.Image.7">
                  <p:embed/>
                </p:oleObj>
              </mc:Choice>
              <mc:Fallback>
                <p:oleObj name="" r:id="rId1" imgW="5080000" imgH="3035300" progId="Photoshop.Image.7">
                  <p:embed/>
                  <p:pic>
                    <p:nvPicPr>
                      <p:cNvPr id="0" name="图片 3078"/>
                      <p:cNvPicPr/>
                      <p:nvPr/>
                    </p:nvPicPr>
                    <p:blipFill>
                      <a:blip r:embed="rId2"/>
                      <a:stretch>
                        <a:fillRect/>
                      </a:stretch>
                    </p:blipFill>
                    <p:spPr>
                      <a:xfrm>
                        <a:off x="6786563" y="2532063"/>
                        <a:ext cx="3917950" cy="1754187"/>
                      </a:xfrm>
                      <a:prstGeom prst="rect">
                        <a:avLst/>
                      </a:prstGeom>
                      <a:noFill/>
                      <a:ln w="38100">
                        <a:noFill/>
                        <a:miter/>
                      </a:ln>
                    </p:spPr>
                  </p:pic>
                </p:oleObj>
              </mc:Fallback>
            </mc:AlternateContent>
          </a:graphicData>
        </a:graphic>
      </p:graphicFrame>
      <p:sp>
        <p:nvSpPr>
          <p:cNvPr id="25643" name="Rectangle 2"/>
          <p:cNvSpPr>
            <a:spLocks noGrp="1"/>
          </p:cNvSpPr>
          <p:nvPr>
            <p:ph type="title"/>
          </p:nvPr>
        </p:nvSpPr>
        <p:spPr>
          <a:xfrm>
            <a:off x="2424113" y="187325"/>
            <a:ext cx="7391400" cy="422275"/>
          </a:xfrm>
        </p:spPr>
        <p:txBody>
          <a:bodyPr vert="horz" wrap="square" lIns="91440" tIns="45720" rIns="91440" bIns="45720" anchor="ctr" anchorCtr="0"/>
          <a:p>
            <a:r>
              <a:rPr lang="zh-CN" altLang="en-US" dirty="0"/>
              <a:t>索引连接</a:t>
            </a:r>
            <a:endParaRPr lang="en-US" altLang="zh-CN" dirty="0"/>
          </a:p>
        </p:txBody>
      </p:sp>
      <p:sp>
        <p:nvSpPr>
          <p:cNvPr id="25644" name="Rectangle 3"/>
          <p:cNvSpPr>
            <a:spLocks noGrp="1"/>
          </p:cNvSpPr>
          <p:nvPr>
            <p:ph type="body" sz="half" idx="1"/>
          </p:nvPr>
        </p:nvSpPr>
        <p:spPr>
          <a:xfrm>
            <a:off x="3719513" y="1603375"/>
            <a:ext cx="7859712" cy="436563"/>
          </a:xfrm>
        </p:spPr>
        <p:txBody>
          <a:bodyPr vert="horz" wrap="square" lIns="91440" tIns="45720" rIns="91440" bIns="45720" anchor="t" anchorCtr="0"/>
          <a:p>
            <a:pPr algn="just" eaLnBrk="1" hangingPunct="1">
              <a:buClrTx/>
              <a:buSzPct val="100000"/>
              <a:buFont typeface="Wingdings" panose="05000000000000000000" pitchFamily="2" charset="2"/>
              <a:buNone/>
            </a:pPr>
            <a:r>
              <a:rPr lang="en-US" altLang="zh-CN" dirty="0"/>
              <a:t>  </a:t>
            </a:r>
            <a:r>
              <a:rPr lang="zh-CN" altLang="en-US" dirty="0"/>
              <a:t>等值连接 </a:t>
            </a:r>
            <a:r>
              <a:rPr lang="en-US" altLang="zh-CN" i="1" dirty="0"/>
              <a:t>R</a:t>
            </a:r>
            <a:r>
              <a:rPr lang="en-US" altLang="zh-CN" dirty="0"/>
              <a:t> </a:t>
            </a:r>
            <a:r>
              <a:rPr lang="en-US" altLang="zh-CN" i="1" dirty="0"/>
              <a:t>     S</a:t>
            </a:r>
            <a:r>
              <a:rPr lang="zh-CN" altLang="en-US" dirty="0"/>
              <a:t>的结果如下：</a:t>
            </a:r>
            <a:endParaRPr lang="zh-CN" altLang="en-US" dirty="0"/>
          </a:p>
        </p:txBody>
      </p:sp>
      <p:grpSp>
        <p:nvGrpSpPr>
          <p:cNvPr id="25645" name="Group 4"/>
          <p:cNvGrpSpPr/>
          <p:nvPr/>
        </p:nvGrpSpPr>
        <p:grpSpPr>
          <a:xfrm>
            <a:off x="5673725" y="1182688"/>
            <a:ext cx="1003300" cy="1085850"/>
            <a:chOff x="3352" y="816"/>
            <a:chExt cx="632" cy="912"/>
          </a:xfrm>
        </p:grpSpPr>
        <p:sp>
          <p:nvSpPr>
            <p:cNvPr id="25666" name="Rectangle 5"/>
            <p:cNvSpPr/>
            <p:nvPr/>
          </p:nvSpPr>
          <p:spPr>
            <a:xfrm>
              <a:off x="3352" y="1344"/>
              <a:ext cx="624" cy="384"/>
            </a:xfrm>
            <a:prstGeom prst="rect">
              <a:avLst/>
            </a:prstGeom>
            <a:noFill/>
            <a:ln w="9525">
              <a:noFill/>
            </a:ln>
          </p:spPr>
          <p:txBody>
            <a:bodyPr wrap="none" lIns="90000" tIns="46800" rIns="90000" bIns="46800"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nSpc>
                  <a:spcPct val="80000"/>
                </a:lnSpc>
                <a:spcBef>
                  <a:spcPct val="0"/>
                </a:spcBef>
                <a:buSzTx/>
                <a:buFont typeface="Arial" panose="020B0604020202020204" pitchFamily="34" charset="0"/>
                <a:buNone/>
              </a:pPr>
              <a:r>
                <a:rPr lang="en-US" altLang="zh-CN" sz="1600" i="1" dirty="0">
                  <a:latin typeface="Times New Roman" panose="02020603050405020304" charset="0"/>
                </a:rPr>
                <a:t>R.B=S.B</a:t>
              </a:r>
              <a:endParaRPr lang="en-US" altLang="zh-CN" sz="2400" dirty="0">
                <a:latin typeface="Times New Roman" panose="02020603050405020304" charset="0"/>
              </a:endParaRPr>
            </a:p>
          </p:txBody>
        </p:sp>
        <p:grpSp>
          <p:nvGrpSpPr>
            <p:cNvPr id="25667" name="Group 6"/>
            <p:cNvGrpSpPr/>
            <p:nvPr/>
          </p:nvGrpSpPr>
          <p:grpSpPr>
            <a:xfrm rot="10800000">
              <a:off x="3360" y="816"/>
              <a:ext cx="624" cy="576"/>
              <a:chOff x="6431" y="11824"/>
              <a:chExt cx="705" cy="367"/>
            </a:xfrm>
          </p:grpSpPr>
          <p:sp>
            <p:nvSpPr>
              <p:cNvPr id="25668" name="AutoShape 7"/>
              <p:cNvSpPr/>
              <p:nvPr/>
            </p:nvSpPr>
            <p:spPr>
              <a:xfrm rot="5400000" flipV="1">
                <a:off x="6793" y="11792"/>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latin typeface="Times New Roman" panose="02020603050405020304" charset="0"/>
                </a:endParaRPr>
              </a:p>
            </p:txBody>
          </p:sp>
          <p:sp>
            <p:nvSpPr>
              <p:cNvPr id="25669" name="Text Box 8"/>
              <p:cNvSpPr txBox="1"/>
              <p:nvPr/>
            </p:nvSpPr>
            <p:spPr>
              <a:xfrm flipV="1">
                <a:off x="6431" y="11828"/>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spcBef>
                    <a:spcPct val="0"/>
                  </a:spcBef>
                  <a:buSzTx/>
                  <a:buFont typeface="Arial" panose="020B0604020202020204" pitchFamily="34" charset="0"/>
                  <a:buNone/>
                </a:pPr>
                <a:r>
                  <a:rPr lang="en-US" altLang="zh-CN" sz="600" b="0" i="1" dirty="0">
                    <a:latin typeface="Times New Roman" panose="02020603050405020304" charset="0"/>
                  </a:rPr>
                  <a:t> </a:t>
                </a:r>
                <a:endParaRPr lang="en-US" altLang="zh-CN" sz="2400" b="0" dirty="0">
                  <a:latin typeface="Times New Roman" panose="02020603050405020304" charset="0"/>
                </a:endParaRPr>
              </a:p>
            </p:txBody>
          </p:sp>
        </p:grpSp>
      </p:grpSp>
      <p:cxnSp>
        <p:nvCxnSpPr>
          <p:cNvPr id="45" name="直接箭头连接符 44"/>
          <p:cNvCxnSpPr>
            <a:endCxn id="2" idx="1"/>
          </p:cNvCxnSpPr>
          <p:nvPr/>
        </p:nvCxnSpPr>
        <p:spPr>
          <a:xfrm>
            <a:off x="2495550" y="3122613"/>
            <a:ext cx="1330325" cy="327025"/>
          </a:xfrm>
          <a:prstGeom prst="straightConnector1">
            <a:avLst/>
          </a:prstGeom>
          <a:ln w="25400" cap="flat" cmpd="sng">
            <a:solidFill>
              <a:srgbClr val="FF0000"/>
            </a:solidFill>
            <a:prstDash val="solid"/>
            <a:headEnd type="none" w="med" len="med"/>
            <a:tailEnd type="arrow" w="med" len="med"/>
          </a:ln>
        </p:spPr>
      </p:cxnSp>
      <p:cxnSp>
        <p:nvCxnSpPr>
          <p:cNvPr id="48" name="直接箭头连接符 47"/>
          <p:cNvCxnSpPr/>
          <p:nvPr/>
        </p:nvCxnSpPr>
        <p:spPr>
          <a:xfrm>
            <a:off x="5951538" y="3127375"/>
            <a:ext cx="973137" cy="1588"/>
          </a:xfrm>
          <a:prstGeom prst="straightConnector1">
            <a:avLst/>
          </a:prstGeom>
          <a:ln w="25400" cap="flat" cmpd="sng">
            <a:solidFill>
              <a:srgbClr val="FF0000"/>
            </a:solidFill>
            <a:prstDash val="solid"/>
            <a:headEnd type="none" w="med" len="med"/>
            <a:tailEnd type="arrow" w="med" len="med"/>
          </a:ln>
        </p:spPr>
      </p:cxnSp>
      <p:cxnSp>
        <p:nvCxnSpPr>
          <p:cNvPr id="49" name="直接箭头连接符 48"/>
          <p:cNvCxnSpPr>
            <a:endCxn id="2" idx="1"/>
          </p:cNvCxnSpPr>
          <p:nvPr/>
        </p:nvCxnSpPr>
        <p:spPr>
          <a:xfrm>
            <a:off x="2495550" y="3397250"/>
            <a:ext cx="1330325" cy="52388"/>
          </a:xfrm>
          <a:prstGeom prst="straightConnector1">
            <a:avLst/>
          </a:prstGeom>
          <a:ln w="25400" cap="flat" cmpd="sng">
            <a:solidFill>
              <a:srgbClr val="FF0000"/>
            </a:solidFill>
            <a:prstDash val="solid"/>
            <a:headEnd type="none" w="med" len="med"/>
            <a:tailEnd type="arrow" w="med" len="med"/>
          </a:ln>
        </p:spPr>
      </p:cxnSp>
      <p:cxnSp>
        <p:nvCxnSpPr>
          <p:cNvPr id="50" name="直接箭头连接符 49"/>
          <p:cNvCxnSpPr/>
          <p:nvPr/>
        </p:nvCxnSpPr>
        <p:spPr>
          <a:xfrm flipV="1">
            <a:off x="5951538" y="3446463"/>
            <a:ext cx="973137" cy="3175"/>
          </a:xfrm>
          <a:prstGeom prst="straightConnector1">
            <a:avLst/>
          </a:prstGeom>
          <a:ln w="25400" cap="flat" cmpd="sng">
            <a:solidFill>
              <a:srgbClr val="FF0000"/>
            </a:solidFill>
            <a:prstDash val="solid"/>
            <a:headEnd type="none" w="med" len="med"/>
            <a:tailEnd type="arrow" w="med" len="med"/>
          </a:ln>
        </p:spPr>
      </p:cxnSp>
      <p:cxnSp>
        <p:nvCxnSpPr>
          <p:cNvPr id="51" name="直接箭头连接符 50"/>
          <p:cNvCxnSpPr>
            <a:endCxn id="2" idx="1"/>
          </p:cNvCxnSpPr>
          <p:nvPr/>
        </p:nvCxnSpPr>
        <p:spPr>
          <a:xfrm flipV="1">
            <a:off x="2495550" y="3449638"/>
            <a:ext cx="1330325" cy="268287"/>
          </a:xfrm>
          <a:prstGeom prst="straightConnector1">
            <a:avLst/>
          </a:prstGeom>
          <a:ln w="25400" cap="flat" cmpd="sng">
            <a:solidFill>
              <a:srgbClr val="FF0000"/>
            </a:solidFill>
            <a:prstDash val="solid"/>
            <a:headEnd type="none" w="med" len="med"/>
            <a:tailEnd type="arrow" w="med" len="med"/>
          </a:ln>
        </p:spPr>
      </p:cxnSp>
      <p:cxnSp>
        <p:nvCxnSpPr>
          <p:cNvPr id="52" name="直接箭头连接符 51"/>
          <p:cNvCxnSpPr/>
          <p:nvPr/>
        </p:nvCxnSpPr>
        <p:spPr>
          <a:xfrm>
            <a:off x="5951538" y="3735388"/>
            <a:ext cx="973137" cy="0"/>
          </a:xfrm>
          <a:prstGeom prst="straightConnector1">
            <a:avLst/>
          </a:prstGeom>
          <a:ln w="25400" cap="flat" cmpd="sng">
            <a:solidFill>
              <a:srgbClr val="FF0000"/>
            </a:solidFill>
            <a:prstDash val="solid"/>
            <a:headEnd type="none" w="med" len="med"/>
            <a:tailEnd type="arrow" w="med" len="med"/>
          </a:ln>
        </p:spPr>
      </p:cxnSp>
      <p:cxnSp>
        <p:nvCxnSpPr>
          <p:cNvPr id="53" name="直接箭头连接符 52"/>
          <p:cNvCxnSpPr/>
          <p:nvPr/>
        </p:nvCxnSpPr>
        <p:spPr>
          <a:xfrm>
            <a:off x="5988050" y="4044950"/>
            <a:ext cx="971550" cy="1588"/>
          </a:xfrm>
          <a:prstGeom prst="straightConnector1">
            <a:avLst/>
          </a:prstGeom>
          <a:ln w="25400" cap="flat" cmpd="sng">
            <a:solidFill>
              <a:srgbClr val="FF0000"/>
            </a:solidFill>
            <a:prstDash val="solid"/>
            <a:headEnd type="none" w="med" len="med"/>
            <a:tailEnd type="arrow" w="med" len="med"/>
          </a:ln>
        </p:spPr>
      </p:cxnSp>
      <p:sp>
        <p:nvSpPr>
          <p:cNvPr id="54" name="圆角矩形 53"/>
          <p:cNvSpPr/>
          <p:nvPr/>
        </p:nvSpPr>
        <p:spPr>
          <a:xfrm>
            <a:off x="6989763" y="3067050"/>
            <a:ext cx="3357562" cy="214313"/>
          </a:xfrm>
          <a:prstGeom prst="roundRect">
            <a:avLst>
              <a:gd name="adj" fmla="val 16667"/>
            </a:avLst>
          </a:prstGeom>
          <a:noFill/>
          <a:ln w="127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endParaRPr lang="zh-CN" altLang="en-US" sz="1800" dirty="0">
              <a:latin typeface="Times New Roman" panose="02020603050405020304" charset="0"/>
            </a:endParaRPr>
          </a:p>
        </p:txBody>
      </p:sp>
      <p:sp>
        <p:nvSpPr>
          <p:cNvPr id="55" name="圆角矩形 54"/>
          <p:cNvSpPr/>
          <p:nvPr/>
        </p:nvSpPr>
        <p:spPr>
          <a:xfrm>
            <a:off x="6996113" y="3341688"/>
            <a:ext cx="3357562" cy="214312"/>
          </a:xfrm>
          <a:prstGeom prst="roundRect">
            <a:avLst>
              <a:gd name="adj" fmla="val 16667"/>
            </a:avLst>
          </a:prstGeom>
          <a:noFill/>
          <a:ln w="127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endParaRPr lang="zh-CN" altLang="en-US" sz="1800" dirty="0">
              <a:latin typeface="Times New Roman" panose="02020603050405020304" charset="0"/>
            </a:endParaRPr>
          </a:p>
        </p:txBody>
      </p:sp>
      <p:sp>
        <p:nvSpPr>
          <p:cNvPr id="56" name="圆角矩形 55"/>
          <p:cNvSpPr/>
          <p:nvPr/>
        </p:nvSpPr>
        <p:spPr>
          <a:xfrm>
            <a:off x="6996113" y="3665538"/>
            <a:ext cx="3357562" cy="214312"/>
          </a:xfrm>
          <a:prstGeom prst="roundRect">
            <a:avLst>
              <a:gd name="adj" fmla="val 16667"/>
            </a:avLst>
          </a:prstGeom>
          <a:noFill/>
          <a:ln w="127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endParaRPr lang="zh-CN" altLang="en-US" sz="1800" dirty="0">
              <a:latin typeface="Times New Roman" panose="02020603050405020304" charset="0"/>
            </a:endParaRPr>
          </a:p>
        </p:txBody>
      </p:sp>
      <p:sp>
        <p:nvSpPr>
          <p:cNvPr id="57" name="圆角矩形 56"/>
          <p:cNvSpPr/>
          <p:nvPr/>
        </p:nvSpPr>
        <p:spPr>
          <a:xfrm>
            <a:off x="7023100" y="3989388"/>
            <a:ext cx="3357563" cy="214312"/>
          </a:xfrm>
          <a:prstGeom prst="roundRect">
            <a:avLst>
              <a:gd name="adj" fmla="val 16667"/>
            </a:avLst>
          </a:prstGeom>
          <a:noFill/>
          <a:ln w="127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endParaRPr lang="zh-CN" altLang="en-US" sz="1800" dirty="0">
              <a:latin typeface="Times New Roman" panose="02020603050405020304" charset="0"/>
            </a:endParaRPr>
          </a:p>
        </p:txBody>
      </p:sp>
      <p:sp>
        <p:nvSpPr>
          <p:cNvPr id="5" name="矩形 4"/>
          <p:cNvSpPr/>
          <p:nvPr/>
        </p:nvSpPr>
        <p:spPr>
          <a:xfrm>
            <a:off x="1847850" y="4811713"/>
            <a:ext cx="6405880" cy="922020"/>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dirty="0">
                <a:solidFill>
                  <a:srgbClr val="FF0000"/>
                </a:solidFill>
              </a:rPr>
              <a:t>1.</a:t>
            </a:r>
            <a:r>
              <a:rPr lang="zh-CN" altLang="en-US" sz="1800" b="0" dirty="0">
                <a:solidFill>
                  <a:srgbClr val="FF0000"/>
                </a:solidFill>
              </a:rPr>
              <a:t>对表</a:t>
            </a:r>
            <a:r>
              <a:rPr lang="en-US" altLang="zh-CN" sz="1800" b="0" dirty="0">
                <a:solidFill>
                  <a:srgbClr val="FF0000"/>
                </a:solidFill>
              </a:rPr>
              <a:t>S</a:t>
            </a:r>
            <a:r>
              <a:rPr lang="zh-CN" altLang="en-US" sz="1800" b="0" dirty="0">
                <a:solidFill>
                  <a:srgbClr val="FF0000"/>
                </a:solidFill>
              </a:rPr>
              <a:t>按连接字段</a:t>
            </a:r>
            <a:r>
              <a:rPr lang="en-US" altLang="zh-CN" sz="1800" b="0" dirty="0">
                <a:solidFill>
                  <a:srgbClr val="FF0000"/>
                </a:solidFill>
              </a:rPr>
              <a:t>B</a:t>
            </a:r>
            <a:r>
              <a:rPr lang="zh-CN" altLang="en-US" sz="1800" b="0" dirty="0">
                <a:solidFill>
                  <a:srgbClr val="FF0000"/>
                </a:solidFill>
              </a:rPr>
              <a:t>建立索引，例如</a:t>
            </a:r>
            <a:r>
              <a:rPr lang="en-US" altLang="zh-CN" sz="1800" b="0" dirty="0">
                <a:solidFill>
                  <a:srgbClr val="FF0000"/>
                </a:solidFill>
              </a:rPr>
              <a:t>B+</a:t>
            </a:r>
            <a:r>
              <a:rPr lang="zh-CN" altLang="en-US" sz="1800" b="0" dirty="0">
                <a:solidFill>
                  <a:srgbClr val="FF0000"/>
                </a:solidFill>
              </a:rPr>
              <a:t>树索引</a:t>
            </a:r>
            <a:endParaRPr lang="en-US" altLang="zh-CN" sz="1800" b="0" dirty="0">
              <a:solidFill>
                <a:srgbClr val="FF0000"/>
              </a:solidFill>
            </a:endParaRPr>
          </a:p>
          <a:p>
            <a:pPr marL="0" lvl="0" indent="0" eaLnBrk="1" hangingPunct="1">
              <a:spcBef>
                <a:spcPct val="0"/>
              </a:spcBef>
              <a:buSzTx/>
              <a:buFont typeface="Arial" panose="020B0604020202020204" pitchFamily="34" charset="0"/>
              <a:buNone/>
            </a:pPr>
            <a:r>
              <a:rPr lang="en-US" altLang="zh-CN" sz="1800" b="0" dirty="0">
                <a:solidFill>
                  <a:srgbClr val="FF0000"/>
                </a:solidFill>
              </a:rPr>
              <a:t>2.</a:t>
            </a:r>
            <a:r>
              <a:rPr lang="zh-CN" altLang="en-US" sz="1800" b="0" dirty="0">
                <a:solidFill>
                  <a:srgbClr val="FF0000"/>
                </a:solidFill>
              </a:rPr>
              <a:t>对表</a:t>
            </a:r>
            <a:r>
              <a:rPr lang="en-US" altLang="zh-CN" sz="1800" b="0" dirty="0">
                <a:solidFill>
                  <a:srgbClr val="FF0000"/>
                </a:solidFill>
              </a:rPr>
              <a:t>R</a:t>
            </a:r>
            <a:r>
              <a:rPr lang="zh-CN" altLang="en-US" sz="1800" b="0" dirty="0">
                <a:solidFill>
                  <a:srgbClr val="FF0000"/>
                </a:solidFill>
              </a:rPr>
              <a:t>中的每个元组，依次根据其连接字段值查询表</a:t>
            </a:r>
            <a:r>
              <a:rPr lang="en-US" altLang="zh-CN" sz="1800" b="0" dirty="0">
                <a:solidFill>
                  <a:srgbClr val="FF0000"/>
                </a:solidFill>
              </a:rPr>
              <a:t>S</a:t>
            </a:r>
            <a:r>
              <a:rPr lang="zh-CN" altLang="en-US" sz="1800" b="0" dirty="0">
                <a:solidFill>
                  <a:srgbClr val="FF0000"/>
                </a:solidFill>
              </a:rPr>
              <a:t>的索引</a:t>
            </a:r>
            <a:endParaRPr lang="en-US" altLang="zh-CN" sz="1800" b="0" dirty="0">
              <a:solidFill>
                <a:srgbClr val="FF0000"/>
              </a:solidFill>
            </a:endParaRPr>
          </a:p>
          <a:p>
            <a:pPr marL="0" lvl="0" indent="0" eaLnBrk="1" hangingPunct="1">
              <a:spcBef>
                <a:spcPct val="0"/>
              </a:spcBef>
              <a:buSzTx/>
              <a:buFont typeface="Arial" panose="020B0604020202020204" pitchFamily="34" charset="0"/>
              <a:buNone/>
            </a:pPr>
            <a:r>
              <a:rPr lang="en-US" altLang="zh-CN" sz="1800" b="0" dirty="0">
                <a:solidFill>
                  <a:srgbClr val="FF0000"/>
                </a:solidFill>
              </a:rPr>
              <a:t>3.</a:t>
            </a:r>
            <a:r>
              <a:rPr lang="zh-CN" altLang="en-US" sz="1800" b="0" dirty="0">
                <a:solidFill>
                  <a:srgbClr val="FF0000"/>
                </a:solidFill>
              </a:rPr>
              <a:t>如果存在匹配，读取元组，做连接，否则不用读取元素</a:t>
            </a:r>
            <a:endParaRPr lang="zh-CN" altLang="en-US" sz="1800" b="0" dirty="0">
              <a:solidFill>
                <a:srgbClr val="FF0000"/>
              </a:solidFill>
            </a:endParaRPr>
          </a:p>
        </p:txBody>
      </p:sp>
      <p:cxnSp>
        <p:nvCxnSpPr>
          <p:cNvPr id="28" name="直接箭头连接符 27"/>
          <p:cNvCxnSpPr>
            <a:endCxn id="2" idx="1"/>
          </p:cNvCxnSpPr>
          <p:nvPr/>
        </p:nvCxnSpPr>
        <p:spPr>
          <a:xfrm flipV="1">
            <a:off x="2495550" y="3449638"/>
            <a:ext cx="1330325" cy="541337"/>
          </a:xfrm>
          <a:prstGeom prst="straightConnector1">
            <a:avLst/>
          </a:prstGeom>
          <a:ln w="25400" cap="flat" cmpd="sng">
            <a:solidFill>
              <a:srgbClr val="FF0000"/>
            </a:solidFill>
            <a:prstDash val="solid"/>
            <a:headEnd type="none" w="med" len="med"/>
            <a:tailEnd type="arrow" w="med" len="med"/>
          </a:ln>
        </p:spPr>
      </p:cxnSp>
      <p:cxnSp>
        <p:nvCxnSpPr>
          <p:cNvPr id="29" name="直接箭头连接符 28"/>
          <p:cNvCxnSpPr>
            <a:cxnSpLocks noChangeShapeType="1"/>
            <a:stCxn id="2" idx="5"/>
          </p:cNvCxnSpPr>
          <p:nvPr/>
        </p:nvCxnSpPr>
        <p:spPr bwMode="auto">
          <a:xfrm flipV="1">
            <a:off x="4276725" y="3127375"/>
            <a:ext cx="666750" cy="322263"/>
          </a:xfrm>
          <a:prstGeom prst="straightConnector1">
            <a:avLst/>
          </a:prstGeom>
          <a:ln w="28575">
            <a:solidFill>
              <a:srgbClr val="FF0000"/>
            </a:solidFill>
            <a:tailEnd type="arrow" w="med" len="med"/>
          </a:ln>
        </p:spPr>
        <p:style>
          <a:lnRef idx="2">
            <a:schemeClr val="dk1"/>
          </a:lnRef>
          <a:fillRef idx="0">
            <a:schemeClr val="dk1"/>
          </a:fillRef>
          <a:effectRef idx="1">
            <a:schemeClr val="dk1"/>
          </a:effectRef>
          <a:fontRef idx="minor">
            <a:schemeClr val="tx1"/>
          </a:fontRef>
        </p:style>
      </p:cxnSp>
      <p:cxnSp>
        <p:nvCxnSpPr>
          <p:cNvPr id="31" name="直接箭头连接符 30"/>
          <p:cNvCxnSpPr>
            <a:cxnSpLocks noChangeShapeType="1"/>
            <a:stCxn id="2" idx="5"/>
          </p:cNvCxnSpPr>
          <p:nvPr/>
        </p:nvCxnSpPr>
        <p:spPr bwMode="auto">
          <a:xfrm>
            <a:off x="4276725" y="3449638"/>
            <a:ext cx="666750" cy="0"/>
          </a:xfrm>
          <a:prstGeom prst="straightConnector1">
            <a:avLst/>
          </a:prstGeom>
          <a:ln w="28575">
            <a:solidFill>
              <a:srgbClr val="FF0000"/>
            </a:solidFill>
            <a:tailEnd type="arrow" w="med" len="med"/>
          </a:ln>
        </p:spPr>
        <p:style>
          <a:lnRef idx="2">
            <a:schemeClr val="dk1"/>
          </a:lnRef>
          <a:fillRef idx="0">
            <a:schemeClr val="dk1"/>
          </a:fillRef>
          <a:effectRef idx="1">
            <a:schemeClr val="dk1"/>
          </a:effectRef>
          <a:fontRef idx="minor">
            <a:schemeClr val="tx1"/>
          </a:fontRef>
        </p:style>
      </p:cxnSp>
      <p:cxnSp>
        <p:nvCxnSpPr>
          <p:cNvPr id="32" name="直接箭头连接符 31"/>
          <p:cNvCxnSpPr>
            <a:cxnSpLocks noChangeShapeType="1"/>
            <a:stCxn id="2" idx="5"/>
          </p:cNvCxnSpPr>
          <p:nvPr/>
        </p:nvCxnSpPr>
        <p:spPr bwMode="auto">
          <a:xfrm>
            <a:off x="4276725" y="3449638"/>
            <a:ext cx="666750" cy="325438"/>
          </a:xfrm>
          <a:prstGeom prst="straightConnector1">
            <a:avLst/>
          </a:prstGeom>
          <a:ln w="28575">
            <a:solidFill>
              <a:srgbClr val="FF0000"/>
            </a:solidFill>
            <a:tailEnd type="arrow" w="med" len="med"/>
          </a:ln>
        </p:spPr>
        <p:style>
          <a:lnRef idx="2">
            <a:schemeClr val="dk1"/>
          </a:lnRef>
          <a:fillRef idx="0">
            <a:schemeClr val="dk1"/>
          </a:fillRef>
          <a:effectRef idx="1">
            <a:schemeClr val="dk1"/>
          </a:effectRef>
          <a:fontRef idx="minor">
            <a:schemeClr val="tx1"/>
          </a:fontRef>
        </p:style>
      </p:cxnSp>
      <p:sp>
        <p:nvSpPr>
          <p:cNvPr id="25662" name="TextBox 35"/>
          <p:cNvSpPr txBox="1"/>
          <p:nvPr/>
        </p:nvSpPr>
        <p:spPr>
          <a:xfrm>
            <a:off x="4800600" y="2257425"/>
            <a:ext cx="1655763" cy="3683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i="1" dirty="0">
                <a:latin typeface="Calibri" panose="020F0502020204030204" pitchFamily="34" charset="0"/>
              </a:rPr>
              <a:t>S</a:t>
            </a:r>
            <a:endParaRPr lang="zh-CN" altLang="en-US" sz="1800" b="0" i="1" dirty="0">
              <a:latin typeface="Calibri" panose="020F0502020204030204" pitchFamily="34" charset="0"/>
            </a:endParaRPr>
          </a:p>
        </p:txBody>
      </p:sp>
      <p:sp>
        <p:nvSpPr>
          <p:cNvPr id="2" name="等腰三角形 1"/>
          <p:cNvSpPr/>
          <p:nvPr/>
        </p:nvSpPr>
        <p:spPr bwMode="auto">
          <a:xfrm>
            <a:off x="3611563" y="3235325"/>
            <a:ext cx="900113" cy="430213"/>
          </a:xfrm>
          <a:prstGeom prst="triangle">
            <a:avLst>
              <a:gd name="adj" fmla="val 47632"/>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nchor="ctr"/>
          <a:lstStyle/>
          <a:p>
            <a:pPr marL="342900" marR="0" lvl="0" indent="-34290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schemeClr val="accent1"/>
                </a:solidFill>
                <a:effectLst/>
                <a:uLnTx/>
                <a:uFillTx/>
                <a:latin typeface="Times New Roman" panose="02020603050405020304" charset="0"/>
                <a:ea typeface="+mn-ea"/>
                <a:cs typeface="+mn-cs"/>
              </a:rPr>
              <a:t>索引</a:t>
            </a:r>
            <a:endParaRPr kumimoji="0" lang="zh-CN" altLang="en-US" sz="1800" b="1" i="0" u="none" strike="noStrike" kern="1200" cap="none" spc="0" normalizeH="0" baseline="0" noProof="0" dirty="0">
              <a:ln>
                <a:noFill/>
              </a:ln>
              <a:solidFill>
                <a:schemeClr val="accent1"/>
              </a:solidFill>
              <a:effectLst/>
              <a:uLnTx/>
              <a:uFillTx/>
              <a:latin typeface="Times New Roman" panose="02020603050405020304" charset="0"/>
              <a:ea typeface="+mn-ea"/>
              <a:cs typeface="+mn-cs"/>
            </a:endParaRPr>
          </a:p>
        </p:txBody>
      </p:sp>
      <p:cxnSp>
        <p:nvCxnSpPr>
          <p:cNvPr id="33" name="直接箭头连接符 32"/>
          <p:cNvCxnSpPr>
            <a:cxnSpLocks noChangeShapeType="1"/>
            <a:stCxn id="2" idx="5"/>
          </p:cNvCxnSpPr>
          <p:nvPr/>
        </p:nvCxnSpPr>
        <p:spPr bwMode="auto">
          <a:xfrm>
            <a:off x="4276725" y="3449638"/>
            <a:ext cx="646113" cy="592138"/>
          </a:xfrm>
          <a:prstGeom prst="straightConnector1">
            <a:avLst/>
          </a:prstGeom>
          <a:ln w="28575">
            <a:solidFill>
              <a:srgbClr val="FF0000"/>
            </a:solidFill>
            <a:tailEnd type="arrow" w="med" len="med"/>
          </a:ln>
        </p:spPr>
        <p:style>
          <a:lnRef idx="2">
            <a:schemeClr val="dk1"/>
          </a:lnRef>
          <a:fillRef idx="0">
            <a:schemeClr val="dk1"/>
          </a:fillRef>
          <a:effectRef idx="1">
            <a:schemeClr val="dk1"/>
          </a:effectRef>
          <a:fontRef idx="minor">
            <a:schemeClr val="tx1"/>
          </a:fontRef>
        </p:style>
      </p:cxnSp>
      <p:pic>
        <p:nvPicPr>
          <p:cNvPr id="4" name="603A3653.wav">
            <a:hlinkClick r:id="" action="ppaction://media"/>
          </p:cNvPr>
          <p:cNvPicPr>
            <a:picLocks noChangeAspect="1"/>
          </p:cNvPicPr>
          <p:nvPr>
            <a:wavAudioFile r:embed="rId3"/>
          </p:nvPr>
        </p:nvPicPr>
        <p:blipFill>
          <a:blip r:embed="rId4"/>
          <a:stretch>
            <a:fillRect/>
          </a:stretch>
        </p:blipFill>
        <p:spPr>
          <a:xfrm>
            <a:off x="9842500" y="4918075"/>
            <a:ext cx="609600" cy="457200"/>
          </a:xfrm>
          <a:prstGeom prst="rect">
            <a:avLst/>
          </a:prstGeom>
          <a:noFill/>
          <a:ln w="9525">
            <a:noFill/>
          </a:ln>
        </p:spPr>
      </p:pic>
    </p:spTree>
    <p:custDataLst>
      <p:tags r:id="rId5"/>
    </p:custDataLst>
  </p:cSld>
  <p:clrMapOvr>
    <a:masterClrMapping/>
  </p:clrMapOvr>
  <p:transition spd="slow" advTm="6427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charRg st="0" end="2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charRg st="24" end="5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wipe(left)">
                                      <p:cBhvr>
                                        <p:cTn id="23" dur="500"/>
                                        <p:tgtEl>
                                          <p:spTgt spid="45"/>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
                                            <p:txEl>
                                              <p:charRg st="54" end="81"/>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childTnLst>
                          </p:cTn>
                        </p:par>
                        <p:par>
                          <p:cTn id="33" fill="hold">
                            <p:stCondLst>
                              <p:cond delay="500"/>
                            </p:stCondLst>
                            <p:childTnLst>
                              <p:par>
                                <p:cTn id="34" presetID="22" presetClass="entr" presetSubtype="8" fill="hold" nodeType="afterEffect">
                                  <p:stCondLst>
                                    <p:cond delay="3750"/>
                                  </p:stCondLst>
                                  <p:childTnLst>
                                    <p:set>
                                      <p:cBhvr>
                                        <p:cTn id="35" dur="1" fill="hold">
                                          <p:stCondLst>
                                            <p:cond delay="0"/>
                                          </p:stCondLst>
                                        </p:cTn>
                                        <p:tgtEl>
                                          <p:spTgt spid="48"/>
                                        </p:tgtEl>
                                        <p:attrNameLst>
                                          <p:attrName>style.visibility</p:attrName>
                                        </p:attrNameLst>
                                      </p:cBhvr>
                                      <p:to>
                                        <p:strVal val="visible"/>
                                      </p:to>
                                    </p:set>
                                    <p:animEffect transition="in" filter="wipe(left)">
                                      <p:cBhvr>
                                        <p:cTn id="36" dur="500"/>
                                        <p:tgtEl>
                                          <p:spTgt spid="48"/>
                                        </p:tgtEl>
                                      </p:cBhvr>
                                    </p:animEffect>
                                  </p:childTnLst>
                                </p:cTn>
                              </p:par>
                            </p:childTnLst>
                          </p:cTn>
                        </p:par>
                        <p:par>
                          <p:cTn id="37" fill="hold">
                            <p:stCondLst>
                              <p:cond delay="4750"/>
                            </p:stCondLst>
                            <p:childTnLst>
                              <p:par>
                                <p:cTn id="38" presetID="22" presetClass="entr" presetSubtype="8" fill="hold" grpId="0" nodeType="after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wipe(left)">
                                      <p:cBhvr>
                                        <p:cTn id="40" dur="1000"/>
                                        <p:tgtEl>
                                          <p:spTgt spid="5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1" nodeType="clickEffect">
                                  <p:stCondLst>
                                    <p:cond delay="0"/>
                                  </p:stCondLst>
                                  <p:childTnLst>
                                    <p:animEffect transition="out" filter="fade">
                                      <p:cBhvr>
                                        <p:cTn id="44" dur="500"/>
                                        <p:tgtEl>
                                          <p:spTgt spid="54"/>
                                        </p:tgtEl>
                                      </p:cBhvr>
                                    </p:animEffect>
                                    <p:set>
                                      <p:cBhvr>
                                        <p:cTn id="45" dur="1" fill="hold">
                                          <p:stCondLst>
                                            <p:cond delay="499"/>
                                          </p:stCondLst>
                                        </p:cTn>
                                        <p:tgtEl>
                                          <p:spTgt spid="54"/>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500"/>
                                        <p:tgtEl>
                                          <p:spTgt spid="48"/>
                                        </p:tgtEl>
                                      </p:cBhvr>
                                    </p:animEffect>
                                    <p:set>
                                      <p:cBhvr>
                                        <p:cTn id="48" dur="1" fill="hold">
                                          <p:stCondLst>
                                            <p:cond delay="499"/>
                                          </p:stCondLst>
                                        </p:cTn>
                                        <p:tgtEl>
                                          <p:spTgt spid="48"/>
                                        </p:tgtEl>
                                        <p:attrNameLst>
                                          <p:attrName>style.visibility</p:attrName>
                                        </p:attrNameLst>
                                      </p:cBhvr>
                                      <p:to>
                                        <p:strVal val="hidden"/>
                                      </p:to>
                                    </p:set>
                                  </p:childTnLst>
                                </p:cTn>
                              </p:par>
                              <p:par>
                                <p:cTn id="49" presetID="10" presetClass="exit" presetSubtype="0" fill="hold" nodeType="withEffect">
                                  <p:stCondLst>
                                    <p:cond delay="0"/>
                                  </p:stCondLst>
                                  <p:childTnLst>
                                    <p:animEffect transition="out" filter="fade">
                                      <p:cBhvr>
                                        <p:cTn id="50" dur="500"/>
                                        <p:tgtEl>
                                          <p:spTgt spid="29"/>
                                        </p:tgtEl>
                                      </p:cBhvr>
                                    </p:animEffect>
                                    <p:set>
                                      <p:cBhvr>
                                        <p:cTn id="51" dur="1" fill="hold">
                                          <p:stCondLst>
                                            <p:cond delay="499"/>
                                          </p:stCondLst>
                                        </p:cTn>
                                        <p:tgtEl>
                                          <p:spTgt spid="29"/>
                                        </p:tgtEl>
                                        <p:attrNameLst>
                                          <p:attrName>style.visibility</p:attrName>
                                        </p:attrNameLst>
                                      </p:cBhvr>
                                      <p:to>
                                        <p:strVal val="hidden"/>
                                      </p:to>
                                    </p:set>
                                  </p:childTnLst>
                                </p:cTn>
                              </p:par>
                              <p:par>
                                <p:cTn id="52" presetID="10" presetClass="exit" presetSubtype="0" fill="hold" nodeType="withEffect">
                                  <p:stCondLst>
                                    <p:cond delay="0"/>
                                  </p:stCondLst>
                                  <p:childTnLst>
                                    <p:animEffect transition="out" filter="fade">
                                      <p:cBhvr>
                                        <p:cTn id="53" dur="500"/>
                                        <p:tgtEl>
                                          <p:spTgt spid="45"/>
                                        </p:tgtEl>
                                      </p:cBhvr>
                                    </p:animEffect>
                                    <p:set>
                                      <p:cBhvr>
                                        <p:cTn id="54" dur="1" fill="hold">
                                          <p:stCondLst>
                                            <p:cond delay="499"/>
                                          </p:stCondLst>
                                        </p:cTn>
                                        <p:tgtEl>
                                          <p:spTgt spid="45"/>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49"/>
                                        </p:tgtEl>
                                        <p:attrNameLst>
                                          <p:attrName>style.visibility</p:attrName>
                                        </p:attrNameLst>
                                      </p:cBhvr>
                                      <p:to>
                                        <p:strVal val="visible"/>
                                      </p:to>
                                    </p:set>
                                    <p:animEffect transition="in" filter="wipe(left)">
                                      <p:cBhvr>
                                        <p:cTn id="59" dur="500"/>
                                        <p:tgtEl>
                                          <p:spTgt spid="49"/>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wipe(left)">
                                      <p:cBhvr>
                                        <p:cTn id="64" dur="500"/>
                                        <p:tgtEl>
                                          <p:spTgt spid="31"/>
                                        </p:tgtEl>
                                      </p:cBhvr>
                                    </p:animEffec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50"/>
                                        </p:tgtEl>
                                        <p:attrNameLst>
                                          <p:attrName>style.visibility</p:attrName>
                                        </p:attrNameLst>
                                      </p:cBhvr>
                                      <p:to>
                                        <p:strVal val="visible"/>
                                      </p:to>
                                    </p:set>
                                    <p:animEffect transition="in" filter="wipe(left)">
                                      <p:cBhvr>
                                        <p:cTn id="68" dur="500"/>
                                        <p:tgtEl>
                                          <p:spTgt spid="50"/>
                                        </p:tgtEl>
                                      </p:cBhvr>
                                    </p:animEffect>
                                  </p:childTnLst>
                                </p:cTn>
                              </p:par>
                            </p:childTnLst>
                          </p:cTn>
                        </p:par>
                        <p:par>
                          <p:cTn id="69" fill="hold">
                            <p:stCondLst>
                              <p:cond delay="1000"/>
                            </p:stCondLst>
                            <p:childTnLst>
                              <p:par>
                                <p:cTn id="70" presetID="22" presetClass="entr" presetSubtype="8" fill="hold" grpId="0" nodeType="afterEffect">
                                  <p:stCondLst>
                                    <p:cond delay="0"/>
                                  </p:stCondLst>
                                  <p:childTnLst>
                                    <p:set>
                                      <p:cBhvr>
                                        <p:cTn id="71" dur="1" fill="hold">
                                          <p:stCondLst>
                                            <p:cond delay="0"/>
                                          </p:stCondLst>
                                        </p:cTn>
                                        <p:tgtEl>
                                          <p:spTgt spid="55"/>
                                        </p:tgtEl>
                                        <p:attrNameLst>
                                          <p:attrName>style.visibility</p:attrName>
                                        </p:attrNameLst>
                                      </p:cBhvr>
                                      <p:to>
                                        <p:strVal val="visible"/>
                                      </p:to>
                                    </p:set>
                                    <p:animEffect transition="in" filter="wipe(left)">
                                      <p:cBhvr>
                                        <p:cTn id="72" dur="1000"/>
                                        <p:tgtEl>
                                          <p:spTgt spid="5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xit" presetSubtype="0" fill="hold" grpId="1" nodeType="clickEffect">
                                  <p:stCondLst>
                                    <p:cond delay="0"/>
                                  </p:stCondLst>
                                  <p:childTnLst>
                                    <p:animEffect transition="out" filter="fade">
                                      <p:cBhvr>
                                        <p:cTn id="76" dur="500"/>
                                        <p:tgtEl>
                                          <p:spTgt spid="55"/>
                                        </p:tgtEl>
                                      </p:cBhvr>
                                    </p:animEffect>
                                    <p:set>
                                      <p:cBhvr>
                                        <p:cTn id="77" dur="1" fill="hold">
                                          <p:stCondLst>
                                            <p:cond delay="499"/>
                                          </p:stCondLst>
                                        </p:cTn>
                                        <p:tgtEl>
                                          <p:spTgt spid="55"/>
                                        </p:tgtEl>
                                        <p:attrNameLst>
                                          <p:attrName>style.visibility</p:attrName>
                                        </p:attrNameLst>
                                      </p:cBhvr>
                                      <p:to>
                                        <p:strVal val="hidden"/>
                                      </p:to>
                                    </p:set>
                                  </p:childTnLst>
                                </p:cTn>
                              </p:par>
                              <p:par>
                                <p:cTn id="78" presetID="10" presetClass="exit" presetSubtype="0" fill="hold" nodeType="withEffect">
                                  <p:stCondLst>
                                    <p:cond delay="0"/>
                                  </p:stCondLst>
                                  <p:childTnLst>
                                    <p:animEffect transition="out" filter="fade">
                                      <p:cBhvr>
                                        <p:cTn id="79" dur="500"/>
                                        <p:tgtEl>
                                          <p:spTgt spid="50"/>
                                        </p:tgtEl>
                                      </p:cBhvr>
                                    </p:animEffect>
                                    <p:set>
                                      <p:cBhvr>
                                        <p:cTn id="80" dur="1" fill="hold">
                                          <p:stCondLst>
                                            <p:cond delay="499"/>
                                          </p:stCondLst>
                                        </p:cTn>
                                        <p:tgtEl>
                                          <p:spTgt spid="50"/>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500"/>
                                        <p:tgtEl>
                                          <p:spTgt spid="31"/>
                                        </p:tgtEl>
                                      </p:cBhvr>
                                    </p:animEffect>
                                    <p:set>
                                      <p:cBhvr>
                                        <p:cTn id="83" dur="1" fill="hold">
                                          <p:stCondLst>
                                            <p:cond delay="499"/>
                                          </p:stCondLst>
                                        </p:cTn>
                                        <p:tgtEl>
                                          <p:spTgt spid="31"/>
                                        </p:tgtEl>
                                        <p:attrNameLst>
                                          <p:attrName>style.visibility</p:attrName>
                                        </p:attrNameLst>
                                      </p:cBhvr>
                                      <p:to>
                                        <p:strVal val="hidden"/>
                                      </p:to>
                                    </p:set>
                                  </p:childTnLst>
                                </p:cTn>
                              </p:par>
                              <p:par>
                                <p:cTn id="84" presetID="10" presetClass="exit" presetSubtype="0" fill="hold" nodeType="withEffect">
                                  <p:stCondLst>
                                    <p:cond delay="0"/>
                                  </p:stCondLst>
                                  <p:childTnLst>
                                    <p:animEffect transition="out" filter="fade">
                                      <p:cBhvr>
                                        <p:cTn id="85" dur="500"/>
                                        <p:tgtEl>
                                          <p:spTgt spid="49"/>
                                        </p:tgtEl>
                                      </p:cBhvr>
                                    </p:animEffect>
                                    <p:set>
                                      <p:cBhvr>
                                        <p:cTn id="86" dur="1" fill="hold">
                                          <p:stCondLst>
                                            <p:cond delay="499"/>
                                          </p:stCondLst>
                                        </p:cTn>
                                        <p:tgtEl>
                                          <p:spTgt spid="49"/>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wipe(left)">
                                      <p:cBhvr>
                                        <p:cTn id="91" dur="500"/>
                                        <p:tgtEl>
                                          <p:spTgt spid="51"/>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wipe(left)">
                                      <p:cBhvr>
                                        <p:cTn id="96" dur="500"/>
                                        <p:tgtEl>
                                          <p:spTgt spid="32"/>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wipe(left)">
                                      <p:cBhvr>
                                        <p:cTn id="101" dur="500"/>
                                        <p:tgtEl>
                                          <p:spTgt spid="33"/>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52"/>
                                        </p:tgtEl>
                                        <p:attrNameLst>
                                          <p:attrName>style.visibility</p:attrName>
                                        </p:attrNameLst>
                                      </p:cBhvr>
                                      <p:to>
                                        <p:strVal val="visible"/>
                                      </p:to>
                                    </p:set>
                                    <p:animEffect transition="in" filter="wipe(left)">
                                      <p:cBhvr>
                                        <p:cTn id="106" dur="500"/>
                                        <p:tgtEl>
                                          <p:spTgt spid="52"/>
                                        </p:tgtEl>
                                      </p:cBhvr>
                                    </p:animEffect>
                                  </p:childTnLst>
                                </p:cTn>
                              </p:par>
                            </p:childTnLst>
                          </p:cTn>
                        </p:par>
                        <p:par>
                          <p:cTn id="107" fill="hold">
                            <p:stCondLst>
                              <p:cond delay="500"/>
                            </p:stCondLst>
                            <p:childTnLst>
                              <p:par>
                                <p:cTn id="108" presetID="22" presetClass="entr" presetSubtype="8" fill="hold" grpId="0" nodeType="afterEffect">
                                  <p:stCondLst>
                                    <p:cond delay="0"/>
                                  </p:stCondLst>
                                  <p:childTnLst>
                                    <p:set>
                                      <p:cBhvr>
                                        <p:cTn id="109" dur="1" fill="hold">
                                          <p:stCondLst>
                                            <p:cond delay="0"/>
                                          </p:stCondLst>
                                        </p:cTn>
                                        <p:tgtEl>
                                          <p:spTgt spid="56"/>
                                        </p:tgtEl>
                                        <p:attrNameLst>
                                          <p:attrName>style.visibility</p:attrName>
                                        </p:attrNameLst>
                                      </p:cBhvr>
                                      <p:to>
                                        <p:strVal val="visible"/>
                                      </p:to>
                                    </p:set>
                                    <p:animEffect transition="in" filter="wipe(left)">
                                      <p:cBhvr>
                                        <p:cTn id="110" dur="1000"/>
                                        <p:tgtEl>
                                          <p:spTgt spid="56"/>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nodeType="clickEffect">
                                  <p:stCondLst>
                                    <p:cond delay="0"/>
                                  </p:stCondLst>
                                  <p:childTnLst>
                                    <p:set>
                                      <p:cBhvr>
                                        <p:cTn id="114" dur="1" fill="hold">
                                          <p:stCondLst>
                                            <p:cond delay="0"/>
                                          </p:stCondLst>
                                        </p:cTn>
                                        <p:tgtEl>
                                          <p:spTgt spid="53"/>
                                        </p:tgtEl>
                                        <p:attrNameLst>
                                          <p:attrName>style.visibility</p:attrName>
                                        </p:attrNameLst>
                                      </p:cBhvr>
                                      <p:to>
                                        <p:strVal val="visible"/>
                                      </p:to>
                                    </p:set>
                                    <p:animEffect transition="in" filter="wipe(left)">
                                      <p:cBhvr>
                                        <p:cTn id="115" dur="500"/>
                                        <p:tgtEl>
                                          <p:spTgt spid="53"/>
                                        </p:tgtEl>
                                      </p:cBhvr>
                                    </p:animEffect>
                                  </p:childTnLst>
                                </p:cTn>
                              </p:par>
                            </p:childTnLst>
                          </p:cTn>
                        </p:par>
                        <p:par>
                          <p:cTn id="116" fill="hold">
                            <p:stCondLst>
                              <p:cond delay="500"/>
                            </p:stCondLst>
                            <p:childTnLst>
                              <p:par>
                                <p:cTn id="117" presetID="22" presetClass="entr" presetSubtype="8" fill="hold" grpId="0" nodeType="afterEffect">
                                  <p:stCondLst>
                                    <p:cond delay="0"/>
                                  </p:stCondLst>
                                  <p:childTnLst>
                                    <p:set>
                                      <p:cBhvr>
                                        <p:cTn id="118" dur="1" fill="hold">
                                          <p:stCondLst>
                                            <p:cond delay="0"/>
                                          </p:stCondLst>
                                        </p:cTn>
                                        <p:tgtEl>
                                          <p:spTgt spid="57"/>
                                        </p:tgtEl>
                                        <p:attrNameLst>
                                          <p:attrName>style.visibility</p:attrName>
                                        </p:attrNameLst>
                                      </p:cBhvr>
                                      <p:to>
                                        <p:strVal val="visible"/>
                                      </p:to>
                                    </p:set>
                                    <p:animEffect transition="in" filter="wipe(left)">
                                      <p:cBhvr>
                                        <p:cTn id="119" dur="1000"/>
                                        <p:tgtEl>
                                          <p:spTgt spid="57"/>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xit" presetSubtype="0" fill="hold" grpId="1" nodeType="clickEffect">
                                  <p:stCondLst>
                                    <p:cond delay="0"/>
                                  </p:stCondLst>
                                  <p:childTnLst>
                                    <p:animEffect transition="out" filter="fade">
                                      <p:cBhvr>
                                        <p:cTn id="123" dur="500"/>
                                        <p:tgtEl>
                                          <p:spTgt spid="56"/>
                                        </p:tgtEl>
                                      </p:cBhvr>
                                    </p:animEffect>
                                    <p:set>
                                      <p:cBhvr>
                                        <p:cTn id="124" dur="1" fill="hold">
                                          <p:stCondLst>
                                            <p:cond delay="499"/>
                                          </p:stCondLst>
                                        </p:cTn>
                                        <p:tgtEl>
                                          <p:spTgt spid="56"/>
                                        </p:tgtEl>
                                        <p:attrNameLst>
                                          <p:attrName>style.visibility</p:attrName>
                                        </p:attrNameLst>
                                      </p:cBhvr>
                                      <p:to>
                                        <p:strVal val="hidden"/>
                                      </p:to>
                                    </p:set>
                                  </p:childTnLst>
                                </p:cTn>
                              </p:par>
                              <p:par>
                                <p:cTn id="125" presetID="10" presetClass="exit" presetSubtype="0" fill="hold" grpId="1" nodeType="withEffect">
                                  <p:stCondLst>
                                    <p:cond delay="0"/>
                                  </p:stCondLst>
                                  <p:childTnLst>
                                    <p:animEffect transition="out" filter="fade">
                                      <p:cBhvr>
                                        <p:cTn id="126" dur="500"/>
                                        <p:tgtEl>
                                          <p:spTgt spid="57"/>
                                        </p:tgtEl>
                                      </p:cBhvr>
                                    </p:animEffect>
                                    <p:set>
                                      <p:cBhvr>
                                        <p:cTn id="127" dur="1" fill="hold">
                                          <p:stCondLst>
                                            <p:cond delay="499"/>
                                          </p:stCondLst>
                                        </p:cTn>
                                        <p:tgtEl>
                                          <p:spTgt spid="57"/>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52"/>
                                        </p:tgtEl>
                                      </p:cBhvr>
                                    </p:animEffect>
                                    <p:set>
                                      <p:cBhvr>
                                        <p:cTn id="130" dur="1" fill="hold">
                                          <p:stCondLst>
                                            <p:cond delay="499"/>
                                          </p:stCondLst>
                                        </p:cTn>
                                        <p:tgtEl>
                                          <p:spTgt spid="52"/>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500"/>
                                        <p:tgtEl>
                                          <p:spTgt spid="53"/>
                                        </p:tgtEl>
                                      </p:cBhvr>
                                    </p:animEffect>
                                    <p:set>
                                      <p:cBhvr>
                                        <p:cTn id="133" dur="1" fill="hold">
                                          <p:stCondLst>
                                            <p:cond delay="499"/>
                                          </p:stCondLst>
                                        </p:cTn>
                                        <p:tgtEl>
                                          <p:spTgt spid="53"/>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500"/>
                                        <p:tgtEl>
                                          <p:spTgt spid="33"/>
                                        </p:tgtEl>
                                      </p:cBhvr>
                                    </p:animEffect>
                                    <p:set>
                                      <p:cBhvr>
                                        <p:cTn id="136" dur="1" fill="hold">
                                          <p:stCondLst>
                                            <p:cond delay="499"/>
                                          </p:stCondLst>
                                        </p:cTn>
                                        <p:tgtEl>
                                          <p:spTgt spid="33"/>
                                        </p:tgtEl>
                                        <p:attrNameLst>
                                          <p:attrName>style.visibility</p:attrName>
                                        </p:attrNameLst>
                                      </p:cBhvr>
                                      <p:to>
                                        <p:strVal val="hidden"/>
                                      </p:to>
                                    </p:set>
                                  </p:childTnLst>
                                </p:cTn>
                              </p:par>
                              <p:par>
                                <p:cTn id="137" presetID="10" presetClass="exit" presetSubtype="0" fill="hold" nodeType="withEffect">
                                  <p:stCondLst>
                                    <p:cond delay="0"/>
                                  </p:stCondLst>
                                  <p:childTnLst>
                                    <p:animEffect transition="out" filter="fade">
                                      <p:cBhvr>
                                        <p:cTn id="138" dur="500"/>
                                        <p:tgtEl>
                                          <p:spTgt spid="32"/>
                                        </p:tgtEl>
                                      </p:cBhvr>
                                    </p:animEffect>
                                    <p:set>
                                      <p:cBhvr>
                                        <p:cTn id="139" dur="1" fill="hold">
                                          <p:stCondLst>
                                            <p:cond delay="499"/>
                                          </p:stCondLst>
                                        </p:cTn>
                                        <p:tgtEl>
                                          <p:spTgt spid="32"/>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500"/>
                                        <p:tgtEl>
                                          <p:spTgt spid="51"/>
                                        </p:tgtEl>
                                      </p:cBhvr>
                                    </p:animEffect>
                                    <p:set>
                                      <p:cBhvr>
                                        <p:cTn id="142" dur="1" fill="hold">
                                          <p:stCondLst>
                                            <p:cond delay="499"/>
                                          </p:stCondLst>
                                        </p:cTn>
                                        <p:tgtEl>
                                          <p:spTgt spid="51"/>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nodeType="clickEffect">
                                  <p:stCondLst>
                                    <p:cond delay="0"/>
                                  </p:stCondLst>
                                  <p:childTnLst>
                                    <p:set>
                                      <p:cBhvr>
                                        <p:cTn id="146" dur="1" fill="hold">
                                          <p:stCondLst>
                                            <p:cond delay="0"/>
                                          </p:stCondLst>
                                        </p:cTn>
                                        <p:tgtEl>
                                          <p:spTgt spid="28"/>
                                        </p:tgtEl>
                                        <p:attrNameLst>
                                          <p:attrName>style.visibility</p:attrName>
                                        </p:attrNameLst>
                                      </p:cBhvr>
                                      <p:to>
                                        <p:strVal val="visible"/>
                                      </p:to>
                                    </p:set>
                                    <p:animEffect transition="in" filter="wipe(left)">
                                      <p:cBhvr>
                                        <p:cTn id="147" dur="500"/>
                                        <p:tgtEl>
                                          <p:spTgt spid="28"/>
                                        </p:tgtEl>
                                      </p:cBhvr>
                                    </p:animEffect>
                                  </p:childTnLst>
                                </p:cTn>
                              </p:par>
                            </p:childTnLst>
                          </p:cTn>
                        </p:par>
                        <p:par>
                          <p:cTn id="148" fill="hold">
                            <p:stCondLst>
                              <p:cond delay="500"/>
                            </p:stCondLst>
                            <p:childTnLst>
                              <p:par>
                                <p:cTn id="149" presetID="10" presetClass="exit" presetSubtype="0" fill="hold" nodeType="afterEffect">
                                  <p:stCondLst>
                                    <p:cond delay="0"/>
                                  </p:stCondLst>
                                  <p:childTnLst>
                                    <p:animEffect transition="out" filter="fade">
                                      <p:cBhvr>
                                        <p:cTn id="150" dur="1000"/>
                                        <p:tgtEl>
                                          <p:spTgt spid="28"/>
                                        </p:tgtEl>
                                      </p:cBhvr>
                                    </p:animEffect>
                                    <p:set>
                                      <p:cBhvr>
                                        <p:cTn id="151" dur="1" fill="hold">
                                          <p:stCondLst>
                                            <p:cond delay="99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52" fill="hold" display="0">
                  <p:stCondLst>
                    <p:cond delay="indefinite"/>
                  </p:stCondLst>
                  <p:endCondLst>
                    <p:cond evt="onStopAudio" delay="0">
                      <p:tgtEl>
                        <p:sldTgt/>
                      </p:tgtEl>
                    </p:cond>
                  </p:endCondLst>
                </p:cTn>
                <p:tgtEl>
                  <p:spTgt spid="4"/>
                </p:tgtEl>
              </p:cMediaNode>
            </p:audio>
          </p:childTnLst>
        </p:cTn>
      </p:par>
    </p:tnLst>
    <p:bldLst>
      <p:bldP spid="54" grpId="0" bldLvl="0" animBg="1"/>
      <p:bldP spid="54" grpId="1" bldLvl="0" animBg="1"/>
      <p:bldP spid="55" grpId="0" bldLvl="0" animBg="1"/>
      <p:bldP spid="55" grpId="1" bldLvl="0" animBg="1"/>
      <p:bldP spid="56" grpId="0" bldLvl="0" animBg="1"/>
      <p:bldP spid="56" grpId="1" bldLvl="0" animBg="1"/>
      <p:bldP spid="57" grpId="0" bldLvl="0" animBg="1"/>
      <p:bldP spid="57" grpId="1" bldLvl="0" animBg="1"/>
      <p:bldP spid="2"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xfrm>
            <a:off x="2400300" y="250825"/>
            <a:ext cx="7391400" cy="422275"/>
          </a:xfrm>
        </p:spPr>
        <p:txBody>
          <a:bodyPr vert="horz" wrap="square" lIns="91440" tIns="45720" rIns="91440" bIns="45720" anchor="ctr" anchorCtr="0"/>
          <a:p>
            <a:pPr eaLnBrk="1" hangingPunct="1"/>
            <a:r>
              <a:rPr lang="zh-CN" altLang="en-US" dirty="0"/>
              <a:t>散列连接实现过程</a:t>
            </a:r>
            <a:endParaRPr lang="en-US" altLang="zh-CN" dirty="0"/>
          </a:p>
        </p:txBody>
      </p:sp>
      <p:sp>
        <p:nvSpPr>
          <p:cNvPr id="27651" name="Rectangle 3"/>
          <p:cNvSpPr>
            <a:spLocks noGrp="1"/>
          </p:cNvSpPr>
          <p:nvPr>
            <p:ph type="body" sz="half" idx="1"/>
          </p:nvPr>
        </p:nvSpPr>
        <p:spPr>
          <a:xfrm>
            <a:off x="1981200" y="1838325"/>
            <a:ext cx="7570788" cy="1038225"/>
          </a:xfrm>
        </p:spPr>
        <p:txBody>
          <a:bodyPr vert="horz" wrap="square" lIns="91440" tIns="45720" rIns="91440" bIns="45720" anchor="t" anchorCtr="0"/>
          <a:p>
            <a:pPr eaLnBrk="1" hangingPunct="1">
              <a:buClrTx/>
              <a:buSzPct val="100000"/>
              <a:buFont typeface="Wingdings" panose="05000000000000000000" pitchFamily="2" charset="2"/>
              <a:buNone/>
            </a:pPr>
            <a:r>
              <a:rPr lang="en-US" altLang="zh-CN" sz="2400" dirty="0"/>
              <a:t>[</a:t>
            </a:r>
            <a:r>
              <a:rPr lang="zh-CN" altLang="en-US" sz="2400" dirty="0">
                <a:ea typeface="黑体" panose="02010609060101010101" pitchFamily="49" charset="-122"/>
              </a:rPr>
              <a:t>例</a:t>
            </a:r>
            <a:r>
              <a:rPr lang="en-US" altLang="zh-CN" sz="2400" dirty="0"/>
              <a:t>]</a:t>
            </a:r>
            <a:r>
              <a:rPr lang="zh-CN" altLang="en-US" sz="2400" dirty="0"/>
              <a:t>关系</a:t>
            </a:r>
            <a:r>
              <a:rPr lang="en-US" altLang="zh-CN" sz="2400" i="1" dirty="0"/>
              <a:t>R</a:t>
            </a:r>
            <a:r>
              <a:rPr lang="zh-CN" altLang="en-US" sz="2400" dirty="0"/>
              <a:t>和关系</a:t>
            </a:r>
            <a:r>
              <a:rPr lang="en-US" altLang="zh-CN" sz="2400" i="1" dirty="0"/>
              <a:t>S</a:t>
            </a:r>
            <a:r>
              <a:rPr lang="en-US" altLang="zh-CN" sz="2400" dirty="0"/>
              <a:t> </a:t>
            </a:r>
            <a:r>
              <a:rPr lang="zh-CN" altLang="en-US" sz="2400" dirty="0"/>
              <a:t>如下所示：</a:t>
            </a:r>
            <a:endParaRPr lang="zh-CN" altLang="en-US" sz="2400" dirty="0"/>
          </a:p>
        </p:txBody>
      </p:sp>
      <p:sp>
        <p:nvSpPr>
          <p:cNvPr id="27652" name="TextBox 1"/>
          <p:cNvSpPr txBox="1"/>
          <p:nvPr/>
        </p:nvSpPr>
        <p:spPr>
          <a:xfrm>
            <a:off x="7967663" y="2498725"/>
            <a:ext cx="2305050" cy="175323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800" b="0" dirty="0"/>
              <a:t>假设：</a:t>
            </a:r>
            <a:endParaRPr lang="en-US" altLang="zh-CN" sz="1800" b="0" dirty="0"/>
          </a:p>
          <a:p>
            <a:pPr marL="0" lvl="0" indent="0" eaLnBrk="1" hangingPunct="1">
              <a:spcBef>
                <a:spcPct val="0"/>
              </a:spcBef>
              <a:buSzTx/>
              <a:buFont typeface="Arial" panose="020B0604020202020204" pitchFamily="34" charset="0"/>
              <a:buNone/>
            </a:pPr>
            <a:r>
              <a:rPr lang="en-US" altLang="zh-CN" sz="1800" b="0" dirty="0"/>
              <a:t>1.</a:t>
            </a:r>
            <a:r>
              <a:rPr lang="zh-CN" altLang="en-US" sz="1800" b="0" dirty="0"/>
              <a:t>关系</a:t>
            </a:r>
            <a:r>
              <a:rPr lang="en-US" altLang="zh-CN" sz="1800" b="0" dirty="0"/>
              <a:t>R</a:t>
            </a:r>
            <a:r>
              <a:rPr lang="zh-CN" altLang="en-US" sz="1800" b="0" dirty="0"/>
              <a:t>和</a:t>
            </a:r>
            <a:r>
              <a:rPr lang="en-US" altLang="zh-CN" sz="1800" b="0" dirty="0"/>
              <a:t>S</a:t>
            </a:r>
            <a:r>
              <a:rPr lang="zh-CN" altLang="en-US" sz="1800" b="0" dirty="0"/>
              <a:t>占用的块数分别是</a:t>
            </a:r>
            <a:r>
              <a:rPr lang="en-US" altLang="zh-CN" sz="1800" b="0" dirty="0"/>
              <a:t>B(R)</a:t>
            </a:r>
            <a:r>
              <a:rPr lang="zh-CN" altLang="en-US" sz="1800" b="0" dirty="0"/>
              <a:t>，</a:t>
            </a:r>
            <a:r>
              <a:rPr lang="en-US" altLang="zh-CN" sz="1800" b="0" dirty="0"/>
              <a:t>B(S)</a:t>
            </a:r>
            <a:r>
              <a:rPr lang="zh-CN" altLang="en-US" sz="1800" b="0" dirty="0"/>
              <a:t>；</a:t>
            </a:r>
            <a:endParaRPr lang="en-US" altLang="zh-CN" sz="1800" b="0" dirty="0"/>
          </a:p>
          <a:p>
            <a:pPr marL="0" lvl="0" indent="0" eaLnBrk="1" hangingPunct="1">
              <a:spcBef>
                <a:spcPct val="0"/>
              </a:spcBef>
              <a:buSzTx/>
              <a:buFont typeface="Arial" panose="020B0604020202020204" pitchFamily="34" charset="0"/>
              <a:buNone/>
            </a:pPr>
            <a:r>
              <a:rPr lang="en-US" altLang="zh-CN" sz="1800" b="0" dirty="0"/>
              <a:t>2.</a:t>
            </a:r>
            <a:r>
              <a:rPr lang="zh-CN" altLang="en-US" sz="1800" b="0" dirty="0"/>
              <a:t>可用的缓冲区数量为</a:t>
            </a:r>
            <a:r>
              <a:rPr lang="en-US" altLang="zh-CN" sz="1800" b="0" dirty="0"/>
              <a:t>M</a:t>
            </a:r>
            <a:endParaRPr lang="en-US" altLang="zh-CN" sz="1800" b="0" dirty="0"/>
          </a:p>
          <a:p>
            <a:pPr marL="0" lvl="0" indent="0" eaLnBrk="1" hangingPunct="1">
              <a:spcBef>
                <a:spcPct val="0"/>
              </a:spcBef>
              <a:buSzTx/>
              <a:buFont typeface="Arial" panose="020B0604020202020204" pitchFamily="34" charset="0"/>
              <a:buNone/>
            </a:pPr>
            <a:r>
              <a:rPr lang="en-US" altLang="zh-CN" sz="1800" b="0" dirty="0">
                <a:solidFill>
                  <a:srgbClr val="FF0000"/>
                </a:solidFill>
              </a:rPr>
              <a:t>3.B(R) &lt; M &lt; B(S)</a:t>
            </a:r>
            <a:endParaRPr lang="en-US" altLang="zh-CN" sz="1800" b="0" dirty="0">
              <a:solidFill>
                <a:srgbClr val="FF0000"/>
              </a:solidFill>
            </a:endParaRPr>
          </a:p>
        </p:txBody>
      </p:sp>
      <p:graphicFrame>
        <p:nvGraphicFramePr>
          <p:cNvPr id="24" name="表格 23"/>
          <p:cNvGraphicFramePr>
            <a:graphicFrameLocks noGrp="1"/>
          </p:cNvGraphicFramePr>
          <p:nvPr/>
        </p:nvGraphicFramePr>
        <p:xfrm>
          <a:off x="2424113" y="2913063"/>
          <a:ext cx="1511300" cy="1128712"/>
        </p:xfrm>
        <a:graphic>
          <a:graphicData uri="http://schemas.openxmlformats.org/drawingml/2006/table">
            <a:tbl>
              <a:tblPr firstRow="1" bandRow="1">
                <a:tableStyleId>{5C22544A-7EE6-4342-B048-85BDC9FD1C3A}</a:tableStyleId>
              </a:tblPr>
              <a:tblGrid>
                <a:gridCol w="503555"/>
                <a:gridCol w="504190"/>
                <a:gridCol w="503555"/>
              </a:tblGrid>
              <a:tr h="282178">
                <a:tc>
                  <a:txBody>
                    <a:bodyPr/>
                    <a:lstStyle/>
                    <a:p>
                      <a:pPr algn="ctr"/>
                      <a:r>
                        <a:rPr lang="en-US" altLang="zh-CN" sz="1400" b="0" i="1" dirty="0">
                          <a:solidFill>
                            <a:schemeClr val="tx1"/>
                          </a:solidFill>
                          <a:latin typeface="Calibri" panose="020F0502020204030204" pitchFamily="34" charset="0"/>
                        </a:rPr>
                        <a:t>A</a:t>
                      </a:r>
                      <a:endParaRPr lang="zh-CN" altLang="en-US" sz="1400" b="0" i="1" dirty="0">
                        <a:solidFill>
                          <a:schemeClr val="tx1"/>
                        </a:solidFill>
                        <a:latin typeface="Calibri" panose="020F0502020204030204" pitchFamily="34" charset="0"/>
                      </a:endParaRPr>
                    </a:p>
                  </a:txBody>
                  <a:tcPr marL="91398" marR="91398" marT="34319" marB="3431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B</a:t>
                      </a:r>
                      <a:endParaRPr lang="zh-CN" altLang="en-US" sz="1400" b="0" i="1" dirty="0">
                        <a:solidFill>
                          <a:schemeClr val="tx1"/>
                        </a:solidFill>
                        <a:latin typeface="Calibri" panose="020F0502020204030204" pitchFamily="34" charset="0"/>
                      </a:endParaRPr>
                    </a:p>
                  </a:txBody>
                  <a:tcPr marL="91398" marR="91398" marT="34319" marB="343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C</a:t>
                      </a:r>
                      <a:endParaRPr lang="zh-CN" altLang="en-US" sz="1400" b="0" i="1" dirty="0">
                        <a:solidFill>
                          <a:schemeClr val="tx1"/>
                        </a:solidFill>
                        <a:latin typeface="Calibri" panose="020F0502020204030204" pitchFamily="34" charset="0"/>
                      </a:endParaRPr>
                    </a:p>
                  </a:txBody>
                  <a:tcPr marL="91398" marR="91398" marT="34319" marB="3431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2178">
                <a:tc>
                  <a:txBody>
                    <a:bodyPr/>
                    <a:lstStyle/>
                    <a:p>
                      <a:pPr algn="ctr"/>
                      <a:r>
                        <a:rPr lang="en-US" altLang="zh-CN" sz="1400" i="1" dirty="0">
                          <a:solidFill>
                            <a:schemeClr val="tx1"/>
                          </a:solidFill>
                          <a:latin typeface="Calibri" panose="020F0502020204030204" pitchFamily="34" charset="0"/>
                        </a:rPr>
                        <a:t>a1</a:t>
                      </a:r>
                      <a:endParaRPr lang="zh-CN" altLang="en-US" sz="1400" i="1" dirty="0">
                        <a:solidFill>
                          <a:schemeClr val="tx1"/>
                        </a:solidFill>
                        <a:latin typeface="Calibri" panose="020F0502020204030204" pitchFamily="34" charset="0"/>
                      </a:endParaRPr>
                    </a:p>
                  </a:txBody>
                  <a:tcPr marL="91398" marR="91398" marT="34319" marB="3431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1</a:t>
                      </a:r>
                      <a:endParaRPr lang="zh-CN" altLang="en-US" sz="1400" i="1" dirty="0">
                        <a:solidFill>
                          <a:schemeClr val="tx1"/>
                        </a:solidFill>
                        <a:latin typeface="Calibri" panose="020F0502020204030204" pitchFamily="34" charset="0"/>
                      </a:endParaRPr>
                    </a:p>
                  </a:txBody>
                  <a:tcPr marL="91398" marR="91398" marT="34319" marB="343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c1</a:t>
                      </a:r>
                      <a:endParaRPr lang="zh-CN" altLang="en-US" sz="1400" i="1" dirty="0">
                        <a:solidFill>
                          <a:schemeClr val="tx1"/>
                        </a:solidFill>
                        <a:latin typeface="Calibri" panose="020F0502020204030204" pitchFamily="34" charset="0"/>
                      </a:endParaRPr>
                    </a:p>
                  </a:txBody>
                  <a:tcPr marL="91398" marR="91398" marT="34319" marB="3431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2178">
                <a:tc>
                  <a:txBody>
                    <a:bodyPr/>
                    <a:lstStyle/>
                    <a:p>
                      <a:pPr algn="ctr"/>
                      <a:r>
                        <a:rPr lang="en-US" altLang="zh-CN" sz="1400" i="1" dirty="0">
                          <a:solidFill>
                            <a:schemeClr val="tx1"/>
                          </a:solidFill>
                          <a:latin typeface="Calibri" panose="020F0502020204030204" pitchFamily="34" charset="0"/>
                        </a:rPr>
                        <a:t>a2</a:t>
                      </a:r>
                      <a:endParaRPr lang="zh-CN" altLang="en-US" sz="1400" i="1" dirty="0">
                        <a:solidFill>
                          <a:schemeClr val="tx1"/>
                        </a:solidFill>
                        <a:latin typeface="Calibri" panose="020F0502020204030204" pitchFamily="34" charset="0"/>
                      </a:endParaRPr>
                    </a:p>
                  </a:txBody>
                  <a:tcPr marL="91398" marR="91398" marT="34319" marB="3431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5</a:t>
                      </a:r>
                      <a:endParaRPr lang="zh-CN" altLang="en-US" sz="1400" i="1" dirty="0">
                        <a:solidFill>
                          <a:schemeClr val="tx1"/>
                        </a:solidFill>
                        <a:latin typeface="Calibri" panose="020F0502020204030204" pitchFamily="34" charset="0"/>
                      </a:endParaRPr>
                    </a:p>
                  </a:txBody>
                  <a:tcPr marL="91398" marR="91398" marT="34319" marB="343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c2</a:t>
                      </a:r>
                      <a:endParaRPr lang="zh-CN" altLang="en-US" sz="1400" i="1" dirty="0">
                        <a:solidFill>
                          <a:schemeClr val="tx1"/>
                        </a:solidFill>
                        <a:latin typeface="Calibri" panose="020F0502020204030204" pitchFamily="34" charset="0"/>
                      </a:endParaRPr>
                    </a:p>
                  </a:txBody>
                  <a:tcPr marL="91398" marR="91398" marT="34319" marB="3431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2178">
                <a:tc>
                  <a:txBody>
                    <a:bodyPr/>
                    <a:lstStyle/>
                    <a:p>
                      <a:pPr algn="ctr"/>
                      <a:r>
                        <a:rPr lang="en-US" altLang="zh-CN" sz="1400" i="1" dirty="0">
                          <a:solidFill>
                            <a:schemeClr val="tx1"/>
                          </a:solidFill>
                          <a:latin typeface="Calibri" panose="020F0502020204030204" pitchFamily="34" charset="0"/>
                        </a:rPr>
                        <a:t>a3</a:t>
                      </a:r>
                      <a:endParaRPr lang="zh-CN" altLang="en-US" sz="1400" i="1" dirty="0">
                        <a:solidFill>
                          <a:schemeClr val="tx1"/>
                        </a:solidFill>
                        <a:latin typeface="Calibri" panose="020F0502020204030204" pitchFamily="34" charset="0"/>
                      </a:endParaRPr>
                    </a:p>
                  </a:txBody>
                  <a:tcPr marL="91398" marR="91398" marT="34319" marB="3431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2</a:t>
                      </a:r>
                      <a:endParaRPr lang="zh-CN" altLang="en-US" sz="1400" i="1" dirty="0">
                        <a:solidFill>
                          <a:schemeClr val="tx1"/>
                        </a:solidFill>
                        <a:latin typeface="Calibri" panose="020F0502020204030204" pitchFamily="34" charset="0"/>
                      </a:endParaRPr>
                    </a:p>
                  </a:txBody>
                  <a:tcPr marL="91398" marR="91398" marT="34319" marB="343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i="1" dirty="0">
                          <a:solidFill>
                            <a:schemeClr val="tx1"/>
                          </a:solidFill>
                          <a:latin typeface="Calibri" panose="020F0502020204030204" pitchFamily="34" charset="0"/>
                        </a:rPr>
                        <a:t>c3</a:t>
                      </a:r>
                      <a:endParaRPr lang="zh-CN" altLang="en-US" sz="1400" i="1" dirty="0">
                        <a:solidFill>
                          <a:schemeClr val="tx1"/>
                        </a:solidFill>
                        <a:latin typeface="Calibri" panose="020F0502020204030204" pitchFamily="34" charset="0"/>
                      </a:endParaRPr>
                    </a:p>
                  </a:txBody>
                  <a:tcPr marL="91398" marR="91398" marT="34319" marB="3431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27671" name="TextBox 24"/>
          <p:cNvSpPr txBox="1"/>
          <p:nvPr/>
        </p:nvSpPr>
        <p:spPr>
          <a:xfrm>
            <a:off x="2566988" y="2474913"/>
            <a:ext cx="1225550" cy="3683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i="1" dirty="0">
                <a:latin typeface="Calibri" panose="020F0502020204030204" pitchFamily="34" charset="0"/>
              </a:rPr>
              <a:t>R</a:t>
            </a:r>
            <a:endParaRPr lang="zh-CN" altLang="en-US" sz="1800" b="0" i="1" dirty="0">
              <a:latin typeface="Calibri" panose="020F0502020204030204" pitchFamily="34" charset="0"/>
            </a:endParaRPr>
          </a:p>
        </p:txBody>
      </p:sp>
      <p:graphicFrame>
        <p:nvGraphicFramePr>
          <p:cNvPr id="26" name="表格 25"/>
          <p:cNvGraphicFramePr>
            <a:graphicFrameLocks noGrp="1"/>
          </p:cNvGraphicFramePr>
          <p:nvPr/>
        </p:nvGraphicFramePr>
        <p:xfrm>
          <a:off x="4872038" y="2617788"/>
          <a:ext cx="1511300" cy="2819400"/>
        </p:xfrm>
        <a:graphic>
          <a:graphicData uri="http://schemas.openxmlformats.org/drawingml/2006/table">
            <a:tbl>
              <a:tblPr firstRow="1" bandRow="1">
                <a:tableStyleId>{5C22544A-7EE6-4342-B048-85BDC9FD1C3A}</a:tableStyleId>
              </a:tblPr>
              <a:tblGrid>
                <a:gridCol w="755650"/>
                <a:gridCol w="755650"/>
              </a:tblGrid>
              <a:tr h="274320">
                <a:tc>
                  <a:txBody>
                    <a:bodyPr/>
                    <a:lstStyle/>
                    <a:p>
                      <a:pPr algn="ctr"/>
                      <a:r>
                        <a:rPr lang="en-US" altLang="zh-CN" sz="1400" b="0" i="1" dirty="0">
                          <a:solidFill>
                            <a:schemeClr val="tx1"/>
                          </a:solidFill>
                          <a:latin typeface="Calibri" panose="020F0502020204030204" pitchFamily="34" charset="0"/>
                        </a:rPr>
                        <a:t>B</a:t>
                      </a:r>
                      <a:endParaRPr lang="zh-CN" altLang="en-US" sz="1400" b="0" i="1" dirty="0">
                        <a:solidFill>
                          <a:schemeClr val="tx1"/>
                        </a:solidFill>
                        <a:latin typeface="Calibri" panose="020F0502020204030204" pitchFamily="34" charset="0"/>
                      </a:endParaRPr>
                    </a:p>
                  </a:txBody>
                  <a:tcPr marL="91388" marR="91388"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a:t>
                      </a:r>
                      <a:endParaRPr lang="zh-CN" altLang="en-US" sz="1400" b="0" i="1" dirty="0">
                        <a:solidFill>
                          <a:schemeClr val="tx1"/>
                        </a:solidFill>
                        <a:latin typeface="Calibri" panose="020F0502020204030204" pitchFamily="34" charset="0"/>
                      </a:endParaRPr>
                    </a:p>
                  </a:txBody>
                  <a:tcPr marL="91388" marR="91388"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pPr algn="ctr"/>
                      <a:r>
                        <a:rPr lang="en-US" altLang="zh-CN" sz="1400" b="0" i="1" dirty="0">
                          <a:solidFill>
                            <a:schemeClr val="tx1"/>
                          </a:solidFill>
                          <a:latin typeface="Calibri" panose="020F0502020204030204" pitchFamily="34" charset="0"/>
                        </a:rPr>
                        <a:t>1</a:t>
                      </a:r>
                      <a:endParaRPr lang="zh-CN" altLang="en-US" sz="1400" b="0" i="1" dirty="0">
                        <a:solidFill>
                          <a:schemeClr val="tx1"/>
                        </a:solidFill>
                        <a:latin typeface="Calibri" panose="020F0502020204030204" pitchFamily="34" charset="0"/>
                      </a:endParaRPr>
                    </a:p>
                  </a:txBody>
                  <a:tcPr marL="91388" marR="91388"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e1</a:t>
                      </a:r>
                      <a:endParaRPr lang="zh-CN" altLang="en-US" sz="1400" b="0" i="1" dirty="0">
                        <a:solidFill>
                          <a:schemeClr val="tx1"/>
                        </a:solidFill>
                        <a:latin typeface="Calibri" panose="020F0502020204030204" pitchFamily="34" charset="0"/>
                      </a:endParaRPr>
                    </a:p>
                  </a:txBody>
                  <a:tcPr marL="91388" marR="91388"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pPr algn="ctr"/>
                      <a:r>
                        <a:rPr lang="en-US" altLang="zh-CN" sz="1400" b="0" i="1" dirty="0">
                          <a:solidFill>
                            <a:schemeClr val="tx1"/>
                          </a:solidFill>
                          <a:latin typeface="Calibri" panose="020F0502020204030204" pitchFamily="34" charset="0"/>
                        </a:rPr>
                        <a:t>3</a:t>
                      </a:r>
                      <a:endParaRPr lang="zh-CN" altLang="en-US" sz="1400" b="0" i="1" dirty="0">
                        <a:solidFill>
                          <a:schemeClr val="tx1"/>
                        </a:solidFill>
                        <a:latin typeface="Calibri" panose="020F0502020204030204" pitchFamily="34" charset="0"/>
                      </a:endParaRPr>
                    </a:p>
                  </a:txBody>
                  <a:tcPr marL="91388" marR="91388"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e2</a:t>
                      </a:r>
                      <a:endParaRPr lang="zh-CN" altLang="en-US" sz="1400" b="0" i="1" dirty="0">
                        <a:solidFill>
                          <a:schemeClr val="tx1"/>
                        </a:solidFill>
                        <a:latin typeface="Calibri" panose="020F0502020204030204" pitchFamily="34" charset="0"/>
                      </a:endParaRPr>
                    </a:p>
                  </a:txBody>
                  <a:tcPr marL="91388" marR="91388"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pPr algn="ctr"/>
                      <a:r>
                        <a:rPr lang="en-US" altLang="zh-CN" sz="1400" b="0" i="1" dirty="0">
                          <a:solidFill>
                            <a:schemeClr val="tx1"/>
                          </a:solidFill>
                          <a:latin typeface="Calibri" panose="020F0502020204030204" pitchFamily="34" charset="0"/>
                        </a:rPr>
                        <a:t>5</a:t>
                      </a:r>
                      <a:endParaRPr lang="zh-CN" altLang="en-US" sz="1400" b="0" i="1" dirty="0">
                        <a:solidFill>
                          <a:schemeClr val="tx1"/>
                        </a:solidFill>
                        <a:latin typeface="Calibri" panose="020F0502020204030204" pitchFamily="34" charset="0"/>
                      </a:endParaRPr>
                    </a:p>
                  </a:txBody>
                  <a:tcPr marL="91388" marR="91388"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e3</a:t>
                      </a:r>
                      <a:endParaRPr lang="zh-CN" altLang="en-US" sz="1400" b="0" i="1" dirty="0">
                        <a:solidFill>
                          <a:schemeClr val="tx1"/>
                        </a:solidFill>
                        <a:latin typeface="Calibri" panose="020F0502020204030204" pitchFamily="34" charset="0"/>
                      </a:endParaRPr>
                    </a:p>
                  </a:txBody>
                  <a:tcPr marL="91388" marR="91388"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pPr algn="ctr"/>
                      <a:r>
                        <a:rPr lang="en-US" altLang="zh-CN" sz="1400" b="0" i="1" dirty="0">
                          <a:solidFill>
                            <a:schemeClr val="tx1"/>
                          </a:solidFill>
                          <a:latin typeface="Calibri" panose="020F0502020204030204" pitchFamily="34" charset="0"/>
                        </a:rPr>
                        <a:t>2</a:t>
                      </a:r>
                      <a:endParaRPr lang="zh-CN" altLang="en-US" sz="1400" b="0" i="1" dirty="0">
                        <a:solidFill>
                          <a:schemeClr val="tx1"/>
                        </a:solidFill>
                        <a:latin typeface="Calibri" panose="020F0502020204030204" pitchFamily="34" charset="0"/>
                      </a:endParaRPr>
                    </a:p>
                  </a:txBody>
                  <a:tcPr marL="91388" marR="91388"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e4</a:t>
                      </a:r>
                      <a:endParaRPr lang="zh-CN" altLang="en-US" sz="1400" b="0" i="1" dirty="0">
                        <a:solidFill>
                          <a:schemeClr val="tx1"/>
                        </a:solidFill>
                        <a:latin typeface="Calibri" panose="020F0502020204030204" pitchFamily="34" charset="0"/>
                      </a:endParaRPr>
                    </a:p>
                  </a:txBody>
                  <a:tcPr marL="91388" marR="91388"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pPr algn="ctr"/>
                      <a:r>
                        <a:rPr lang="en-US" altLang="zh-CN" sz="1400" b="0" i="1" dirty="0">
                          <a:solidFill>
                            <a:schemeClr val="tx1"/>
                          </a:solidFill>
                          <a:latin typeface="Calibri" panose="020F0502020204030204" pitchFamily="34" charset="0"/>
                        </a:rPr>
                        <a:t>4</a:t>
                      </a:r>
                      <a:endParaRPr lang="zh-CN" altLang="en-US" sz="1400" b="0" i="1" dirty="0">
                        <a:solidFill>
                          <a:schemeClr val="tx1"/>
                        </a:solidFill>
                        <a:latin typeface="Calibri" panose="020F0502020204030204" pitchFamily="34" charset="0"/>
                      </a:endParaRPr>
                    </a:p>
                  </a:txBody>
                  <a:tcPr marL="91388" marR="91388"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e5</a:t>
                      </a:r>
                      <a:endParaRPr lang="zh-CN" altLang="en-US" sz="1400" b="0" i="1" dirty="0">
                        <a:solidFill>
                          <a:schemeClr val="tx1"/>
                        </a:solidFill>
                        <a:latin typeface="Calibri" panose="020F0502020204030204" pitchFamily="34" charset="0"/>
                      </a:endParaRPr>
                    </a:p>
                  </a:txBody>
                  <a:tcPr marL="91388" marR="91388"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pPr algn="ctr"/>
                      <a:r>
                        <a:rPr lang="en-US" altLang="zh-CN" sz="1400" b="0" i="1" dirty="0">
                          <a:solidFill>
                            <a:schemeClr val="tx1"/>
                          </a:solidFill>
                          <a:latin typeface="Calibri" panose="020F0502020204030204" pitchFamily="34" charset="0"/>
                        </a:rPr>
                        <a:t>3</a:t>
                      </a:r>
                      <a:endParaRPr lang="zh-CN" altLang="en-US" sz="1400" b="0" i="1" dirty="0">
                        <a:solidFill>
                          <a:schemeClr val="tx1"/>
                        </a:solidFill>
                        <a:latin typeface="Calibri" panose="020F0502020204030204" pitchFamily="34" charset="0"/>
                      </a:endParaRPr>
                    </a:p>
                  </a:txBody>
                  <a:tcPr marL="91388" marR="91388"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e6</a:t>
                      </a:r>
                      <a:endParaRPr lang="zh-CN" altLang="en-US" sz="1400" b="0" i="1" dirty="0">
                        <a:solidFill>
                          <a:schemeClr val="tx1"/>
                        </a:solidFill>
                        <a:latin typeface="Calibri" panose="020F0502020204030204" pitchFamily="34" charset="0"/>
                      </a:endParaRPr>
                    </a:p>
                  </a:txBody>
                  <a:tcPr marL="91388" marR="91388"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pPr algn="ctr"/>
                      <a:r>
                        <a:rPr lang="en-US" altLang="zh-CN" sz="1400" b="0" i="1" dirty="0">
                          <a:solidFill>
                            <a:schemeClr val="tx1"/>
                          </a:solidFill>
                          <a:latin typeface="Calibri" panose="020F0502020204030204" pitchFamily="34" charset="0"/>
                        </a:rPr>
                        <a:t>1</a:t>
                      </a:r>
                      <a:endParaRPr lang="zh-CN" altLang="en-US" sz="1400" b="0" i="1" dirty="0">
                        <a:solidFill>
                          <a:schemeClr val="tx1"/>
                        </a:solidFill>
                        <a:latin typeface="Calibri" panose="020F0502020204030204" pitchFamily="34" charset="0"/>
                      </a:endParaRPr>
                    </a:p>
                  </a:txBody>
                  <a:tcPr marL="91388" marR="91388"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e7</a:t>
                      </a:r>
                      <a:endParaRPr lang="zh-CN" altLang="en-US" sz="1400" b="0" i="1" dirty="0">
                        <a:solidFill>
                          <a:schemeClr val="tx1"/>
                        </a:solidFill>
                        <a:latin typeface="Calibri" panose="020F0502020204030204" pitchFamily="34" charset="0"/>
                      </a:endParaRPr>
                    </a:p>
                  </a:txBody>
                  <a:tcPr marL="91388" marR="91388"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pPr algn="ctr"/>
                      <a:r>
                        <a:rPr lang="en-US" altLang="zh-CN" sz="1400" b="0" i="1" dirty="0">
                          <a:solidFill>
                            <a:schemeClr val="tx1"/>
                          </a:solidFill>
                          <a:latin typeface="Calibri" panose="020F0502020204030204" pitchFamily="34" charset="0"/>
                        </a:rPr>
                        <a:t>4</a:t>
                      </a:r>
                      <a:endParaRPr lang="zh-CN" altLang="en-US" sz="1400" b="0" i="1" dirty="0">
                        <a:solidFill>
                          <a:schemeClr val="tx1"/>
                        </a:solidFill>
                        <a:latin typeface="Calibri" panose="020F0502020204030204" pitchFamily="34" charset="0"/>
                      </a:endParaRPr>
                    </a:p>
                  </a:txBody>
                  <a:tcPr marL="91388" marR="91388"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e8</a:t>
                      </a:r>
                      <a:endParaRPr lang="zh-CN" altLang="en-US" sz="1400" b="0" i="1" dirty="0">
                        <a:solidFill>
                          <a:schemeClr val="tx1"/>
                        </a:solidFill>
                        <a:latin typeface="Calibri" panose="020F0502020204030204" pitchFamily="34" charset="0"/>
                      </a:endParaRPr>
                    </a:p>
                  </a:txBody>
                  <a:tcPr marL="91388" marR="91388"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pPr algn="ctr"/>
                      <a:r>
                        <a:rPr lang="en-US" altLang="zh-CN" sz="1400" b="0" i="1" dirty="0">
                          <a:solidFill>
                            <a:schemeClr val="tx1"/>
                          </a:solidFill>
                          <a:latin typeface="Calibri" panose="020F0502020204030204" pitchFamily="34" charset="0"/>
                        </a:rPr>
                        <a:t>3</a:t>
                      </a:r>
                      <a:endParaRPr lang="zh-CN" altLang="en-US" sz="1400" b="0" i="1" dirty="0">
                        <a:solidFill>
                          <a:schemeClr val="tx1"/>
                        </a:solidFill>
                        <a:latin typeface="Calibri" panose="020F0502020204030204" pitchFamily="34" charset="0"/>
                      </a:endParaRPr>
                    </a:p>
                  </a:txBody>
                  <a:tcPr marL="91388" marR="91388"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e9</a:t>
                      </a:r>
                      <a:endParaRPr lang="zh-CN" altLang="en-US" sz="1400" b="0" i="1" dirty="0">
                        <a:solidFill>
                          <a:schemeClr val="tx1"/>
                        </a:solidFill>
                        <a:latin typeface="Calibri" panose="020F0502020204030204" pitchFamily="34" charset="0"/>
                      </a:endParaRPr>
                    </a:p>
                  </a:txBody>
                  <a:tcPr marL="91388" marR="91388"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27697" name="TextBox 26"/>
          <p:cNvSpPr txBox="1"/>
          <p:nvPr/>
        </p:nvSpPr>
        <p:spPr>
          <a:xfrm>
            <a:off x="4943475" y="2225675"/>
            <a:ext cx="1223963" cy="3683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i="1" dirty="0">
                <a:latin typeface="Calibri" panose="020F0502020204030204" pitchFamily="34" charset="0"/>
              </a:rPr>
              <a:t>S</a:t>
            </a:r>
            <a:endParaRPr lang="zh-CN" altLang="en-US" sz="1800" b="0" i="1" dirty="0">
              <a:latin typeface="Calibri" panose="020F0502020204030204" pitchFamily="34" charset="0"/>
            </a:endParaRPr>
          </a:p>
        </p:txBody>
      </p:sp>
      <p:pic>
        <p:nvPicPr>
          <p:cNvPr id="4" name="90BD3054.wav">
            <a:hlinkClick r:id="" action="ppaction://media"/>
          </p:cNvPr>
          <p:cNvPicPr>
            <a:picLocks noChangeAspect="1"/>
          </p:cNvPicPr>
          <p:nvPr>
            <a:wavAudioFile r:embed="rId1"/>
          </p:nvPr>
        </p:nvPicPr>
        <p:blipFill>
          <a:blip r:embed="rId2"/>
          <a:stretch>
            <a:fillRect/>
          </a:stretch>
        </p:blipFill>
        <p:spPr>
          <a:xfrm>
            <a:off x="9842500" y="4991100"/>
            <a:ext cx="609600" cy="457200"/>
          </a:xfrm>
          <a:prstGeom prst="rect">
            <a:avLst/>
          </a:prstGeom>
          <a:noFill/>
          <a:ln w="9525">
            <a:noFill/>
          </a:ln>
        </p:spPr>
      </p:pic>
    </p:spTree>
  </p:cSld>
  <p:clrMapOvr>
    <a:masterClrMapping/>
  </p:clrMapOvr>
  <p:transition spd="slow" advTm="872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标题 1"/>
          <p:cNvSpPr>
            <a:spLocks noGrp="1"/>
          </p:cNvSpPr>
          <p:nvPr>
            <p:ph type="title"/>
          </p:nvPr>
        </p:nvSpPr>
        <p:spPr>
          <a:xfrm>
            <a:off x="1981200" y="-66675"/>
            <a:ext cx="8229600" cy="854075"/>
          </a:xfrm>
        </p:spPr>
        <p:txBody>
          <a:bodyPr vert="horz" wrap="square" lIns="91440" tIns="45720" rIns="91440" bIns="45720" anchor="ctr" anchorCtr="0"/>
          <a:p>
            <a:r>
              <a:rPr lang="zh-CN" altLang="en-US" dirty="0">
                <a:latin typeface="楷体_GB2312"/>
                <a:ea typeface="楷体_GB2312"/>
              </a:rPr>
              <a:t>散列连接（</a:t>
            </a:r>
            <a:r>
              <a:rPr lang="en-US" altLang="zh-CN" dirty="0">
                <a:latin typeface="楷体_GB2312"/>
                <a:ea typeface="楷体_GB2312"/>
              </a:rPr>
              <a:t>Hash Join</a:t>
            </a:r>
            <a:r>
              <a:rPr lang="zh-CN" altLang="en-US" dirty="0">
                <a:latin typeface="楷体_GB2312"/>
                <a:ea typeface="楷体_GB2312"/>
              </a:rPr>
              <a:t>）</a:t>
            </a:r>
            <a:endParaRPr lang="zh-CN" altLang="en-US" dirty="0"/>
          </a:p>
        </p:txBody>
      </p:sp>
      <p:graphicFrame>
        <p:nvGraphicFramePr>
          <p:cNvPr id="11" name="表格 10"/>
          <p:cNvGraphicFramePr>
            <a:graphicFrameLocks noGrp="1"/>
          </p:cNvGraphicFramePr>
          <p:nvPr/>
        </p:nvGraphicFramePr>
        <p:xfrm>
          <a:off x="2351088" y="2617788"/>
          <a:ext cx="1512570" cy="2819400"/>
        </p:xfrm>
        <a:graphic>
          <a:graphicData uri="http://schemas.openxmlformats.org/drawingml/2006/table">
            <a:tbl>
              <a:tblPr firstRow="1" bandRow="1">
                <a:tableStyleId>{5C22544A-7EE6-4342-B048-85BDC9FD1C3A}</a:tableStyleId>
              </a:tblPr>
              <a:tblGrid>
                <a:gridCol w="756285"/>
                <a:gridCol w="756285"/>
              </a:tblGrid>
              <a:tr h="274320">
                <a:tc>
                  <a:txBody>
                    <a:bodyPr/>
                    <a:lstStyle/>
                    <a:p>
                      <a:pPr algn="ctr"/>
                      <a:r>
                        <a:rPr lang="en-US" altLang="zh-CN" sz="1400" b="0" i="1" dirty="0">
                          <a:solidFill>
                            <a:srgbClr val="FF0000"/>
                          </a:solidFill>
                          <a:latin typeface="Calibri" panose="020F0502020204030204" pitchFamily="34" charset="0"/>
                        </a:rPr>
                        <a:t>B</a:t>
                      </a:r>
                      <a:endParaRPr lang="zh-CN" altLang="en-US" sz="1400" b="0" i="1" dirty="0">
                        <a:solidFill>
                          <a:srgbClr val="FF0000"/>
                        </a:solidFill>
                        <a:latin typeface="Calibri" panose="020F0502020204030204" pitchFamily="34" charset="0"/>
                      </a:endParaRPr>
                    </a:p>
                  </a:txBody>
                  <a:tcPr marL="91483" marR="91483"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a:t>
                      </a:r>
                      <a:endParaRPr lang="zh-CN" altLang="en-US" sz="1400" b="0" i="1" dirty="0">
                        <a:solidFill>
                          <a:schemeClr val="tx1"/>
                        </a:solidFill>
                        <a:latin typeface="Calibri" panose="020F0502020204030204" pitchFamily="34" charset="0"/>
                      </a:endParaRPr>
                    </a:p>
                  </a:txBody>
                  <a:tcPr marL="91483" marR="91483"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pPr algn="ctr"/>
                      <a:r>
                        <a:rPr lang="en-US" altLang="zh-CN" sz="1400" b="0" i="1" dirty="0">
                          <a:solidFill>
                            <a:srgbClr val="FF0000"/>
                          </a:solidFill>
                          <a:latin typeface="Calibri" panose="020F0502020204030204" pitchFamily="34" charset="0"/>
                        </a:rPr>
                        <a:t>1</a:t>
                      </a:r>
                      <a:endParaRPr lang="zh-CN" altLang="en-US" sz="1400" b="0" i="1" dirty="0">
                        <a:solidFill>
                          <a:srgbClr val="FF0000"/>
                        </a:solidFill>
                        <a:latin typeface="Calibri" panose="020F0502020204030204" pitchFamily="34" charset="0"/>
                      </a:endParaRPr>
                    </a:p>
                  </a:txBody>
                  <a:tcPr marL="91483" marR="91483"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e1</a:t>
                      </a:r>
                      <a:endParaRPr lang="zh-CN" altLang="en-US" sz="1400" b="0" i="1" dirty="0">
                        <a:solidFill>
                          <a:schemeClr val="tx1"/>
                        </a:solidFill>
                        <a:latin typeface="Calibri" panose="020F0502020204030204" pitchFamily="34" charset="0"/>
                      </a:endParaRPr>
                    </a:p>
                  </a:txBody>
                  <a:tcPr marL="91483" marR="91483"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pPr algn="ctr"/>
                      <a:r>
                        <a:rPr lang="en-US" altLang="zh-CN" sz="1400" b="0" i="1" dirty="0">
                          <a:solidFill>
                            <a:srgbClr val="FF0000"/>
                          </a:solidFill>
                          <a:latin typeface="Calibri" panose="020F0502020204030204" pitchFamily="34" charset="0"/>
                        </a:rPr>
                        <a:t>3</a:t>
                      </a:r>
                      <a:endParaRPr lang="zh-CN" altLang="en-US" sz="1400" b="0" i="1" dirty="0">
                        <a:solidFill>
                          <a:srgbClr val="FF0000"/>
                        </a:solidFill>
                        <a:latin typeface="Calibri" panose="020F0502020204030204" pitchFamily="34" charset="0"/>
                      </a:endParaRPr>
                    </a:p>
                  </a:txBody>
                  <a:tcPr marL="91483" marR="91483"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e2</a:t>
                      </a:r>
                      <a:endParaRPr lang="zh-CN" altLang="en-US" sz="1400" b="0" i="1" dirty="0">
                        <a:solidFill>
                          <a:schemeClr val="tx1"/>
                        </a:solidFill>
                        <a:latin typeface="Calibri" panose="020F0502020204030204" pitchFamily="34" charset="0"/>
                      </a:endParaRPr>
                    </a:p>
                  </a:txBody>
                  <a:tcPr marL="91483" marR="91483"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pPr algn="ctr"/>
                      <a:r>
                        <a:rPr lang="en-US" altLang="zh-CN" sz="1400" b="0" i="1" dirty="0">
                          <a:solidFill>
                            <a:srgbClr val="FF0000"/>
                          </a:solidFill>
                          <a:latin typeface="Calibri" panose="020F0502020204030204" pitchFamily="34" charset="0"/>
                        </a:rPr>
                        <a:t>5</a:t>
                      </a:r>
                      <a:endParaRPr lang="zh-CN" altLang="en-US" sz="1400" b="0" i="1" dirty="0">
                        <a:solidFill>
                          <a:srgbClr val="FF0000"/>
                        </a:solidFill>
                        <a:latin typeface="Calibri" panose="020F0502020204030204" pitchFamily="34" charset="0"/>
                      </a:endParaRPr>
                    </a:p>
                  </a:txBody>
                  <a:tcPr marL="91483" marR="91483"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e3</a:t>
                      </a:r>
                      <a:endParaRPr lang="zh-CN" altLang="en-US" sz="1400" b="0" i="1" dirty="0">
                        <a:solidFill>
                          <a:schemeClr val="tx1"/>
                        </a:solidFill>
                        <a:latin typeface="Calibri" panose="020F0502020204030204" pitchFamily="34" charset="0"/>
                      </a:endParaRPr>
                    </a:p>
                  </a:txBody>
                  <a:tcPr marL="91483" marR="91483"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pPr algn="ctr"/>
                      <a:r>
                        <a:rPr lang="en-US" altLang="zh-CN" sz="1400" b="0" i="1" dirty="0">
                          <a:solidFill>
                            <a:srgbClr val="FF0000"/>
                          </a:solidFill>
                          <a:latin typeface="Calibri" panose="020F0502020204030204" pitchFamily="34" charset="0"/>
                        </a:rPr>
                        <a:t>2</a:t>
                      </a:r>
                      <a:endParaRPr lang="zh-CN" altLang="en-US" sz="1400" b="0" i="1" dirty="0">
                        <a:solidFill>
                          <a:srgbClr val="FF0000"/>
                        </a:solidFill>
                        <a:latin typeface="Calibri" panose="020F0502020204030204" pitchFamily="34" charset="0"/>
                      </a:endParaRPr>
                    </a:p>
                  </a:txBody>
                  <a:tcPr marL="91483" marR="91483"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e4</a:t>
                      </a:r>
                      <a:endParaRPr lang="zh-CN" altLang="en-US" sz="1400" b="0" i="1" dirty="0">
                        <a:solidFill>
                          <a:schemeClr val="tx1"/>
                        </a:solidFill>
                        <a:latin typeface="Calibri" panose="020F0502020204030204" pitchFamily="34" charset="0"/>
                      </a:endParaRPr>
                    </a:p>
                  </a:txBody>
                  <a:tcPr marL="91483" marR="91483"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pPr algn="ctr"/>
                      <a:r>
                        <a:rPr lang="en-US" altLang="zh-CN" sz="1400" b="0" i="1" dirty="0">
                          <a:solidFill>
                            <a:srgbClr val="FF0000"/>
                          </a:solidFill>
                          <a:latin typeface="Calibri" panose="020F0502020204030204" pitchFamily="34" charset="0"/>
                        </a:rPr>
                        <a:t>4</a:t>
                      </a:r>
                      <a:endParaRPr lang="zh-CN" altLang="en-US" sz="1400" b="0" i="1" dirty="0">
                        <a:solidFill>
                          <a:srgbClr val="FF0000"/>
                        </a:solidFill>
                        <a:latin typeface="Calibri" panose="020F0502020204030204" pitchFamily="34" charset="0"/>
                      </a:endParaRPr>
                    </a:p>
                  </a:txBody>
                  <a:tcPr marL="91483" marR="91483"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e5</a:t>
                      </a:r>
                      <a:endParaRPr lang="zh-CN" altLang="en-US" sz="1400" b="0" i="1" dirty="0">
                        <a:solidFill>
                          <a:schemeClr val="tx1"/>
                        </a:solidFill>
                        <a:latin typeface="Calibri" panose="020F0502020204030204" pitchFamily="34" charset="0"/>
                      </a:endParaRPr>
                    </a:p>
                  </a:txBody>
                  <a:tcPr marL="91483" marR="91483"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pPr algn="ctr"/>
                      <a:r>
                        <a:rPr lang="en-US" altLang="zh-CN" sz="1400" b="0" i="1" dirty="0">
                          <a:solidFill>
                            <a:srgbClr val="FF0000"/>
                          </a:solidFill>
                          <a:latin typeface="Calibri" panose="020F0502020204030204" pitchFamily="34" charset="0"/>
                        </a:rPr>
                        <a:t>3</a:t>
                      </a:r>
                      <a:endParaRPr lang="zh-CN" altLang="en-US" sz="1400" b="0" i="1" dirty="0">
                        <a:solidFill>
                          <a:srgbClr val="FF0000"/>
                        </a:solidFill>
                        <a:latin typeface="Calibri" panose="020F0502020204030204" pitchFamily="34" charset="0"/>
                      </a:endParaRPr>
                    </a:p>
                  </a:txBody>
                  <a:tcPr marL="91483" marR="91483"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e6</a:t>
                      </a:r>
                      <a:endParaRPr lang="zh-CN" altLang="en-US" sz="1400" b="0" i="1" dirty="0">
                        <a:solidFill>
                          <a:schemeClr val="tx1"/>
                        </a:solidFill>
                        <a:latin typeface="Calibri" panose="020F0502020204030204" pitchFamily="34" charset="0"/>
                      </a:endParaRPr>
                    </a:p>
                  </a:txBody>
                  <a:tcPr marL="91483" marR="91483"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pPr algn="ctr"/>
                      <a:r>
                        <a:rPr lang="en-US" altLang="zh-CN" sz="1400" b="0" i="1" dirty="0">
                          <a:solidFill>
                            <a:srgbClr val="FF0000"/>
                          </a:solidFill>
                          <a:latin typeface="Calibri" panose="020F0502020204030204" pitchFamily="34" charset="0"/>
                        </a:rPr>
                        <a:t>1</a:t>
                      </a:r>
                      <a:endParaRPr lang="zh-CN" altLang="en-US" sz="1400" b="0" i="1" dirty="0">
                        <a:solidFill>
                          <a:srgbClr val="FF0000"/>
                        </a:solidFill>
                        <a:latin typeface="Calibri" panose="020F0502020204030204" pitchFamily="34" charset="0"/>
                      </a:endParaRPr>
                    </a:p>
                  </a:txBody>
                  <a:tcPr marL="91483" marR="91483"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e7</a:t>
                      </a:r>
                      <a:endParaRPr lang="zh-CN" altLang="en-US" sz="1400" b="0" i="1" dirty="0">
                        <a:solidFill>
                          <a:schemeClr val="tx1"/>
                        </a:solidFill>
                        <a:latin typeface="Calibri" panose="020F0502020204030204" pitchFamily="34" charset="0"/>
                      </a:endParaRPr>
                    </a:p>
                  </a:txBody>
                  <a:tcPr marL="91483" marR="91483"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pPr algn="ctr"/>
                      <a:r>
                        <a:rPr lang="en-US" altLang="zh-CN" sz="1400" b="0" i="1" dirty="0">
                          <a:solidFill>
                            <a:srgbClr val="FF0000"/>
                          </a:solidFill>
                          <a:latin typeface="Calibri" panose="020F0502020204030204" pitchFamily="34" charset="0"/>
                        </a:rPr>
                        <a:t>4</a:t>
                      </a:r>
                      <a:endParaRPr lang="zh-CN" altLang="en-US" sz="1400" b="0" i="1" dirty="0">
                        <a:solidFill>
                          <a:srgbClr val="FF0000"/>
                        </a:solidFill>
                        <a:latin typeface="Calibri" panose="020F0502020204030204" pitchFamily="34" charset="0"/>
                      </a:endParaRPr>
                    </a:p>
                  </a:txBody>
                  <a:tcPr marL="91483" marR="91483"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e8</a:t>
                      </a:r>
                      <a:endParaRPr lang="zh-CN" altLang="en-US" sz="1400" b="0" i="1" dirty="0">
                        <a:solidFill>
                          <a:schemeClr val="tx1"/>
                        </a:solidFill>
                        <a:latin typeface="Calibri" panose="020F0502020204030204" pitchFamily="34" charset="0"/>
                      </a:endParaRPr>
                    </a:p>
                  </a:txBody>
                  <a:tcPr marL="91483" marR="91483"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pPr algn="ctr"/>
                      <a:r>
                        <a:rPr lang="en-US" altLang="zh-CN" sz="1400" b="0" i="1" dirty="0">
                          <a:solidFill>
                            <a:srgbClr val="FF0000"/>
                          </a:solidFill>
                          <a:latin typeface="Calibri" panose="020F0502020204030204" pitchFamily="34" charset="0"/>
                        </a:rPr>
                        <a:t>3</a:t>
                      </a:r>
                      <a:endParaRPr lang="zh-CN" altLang="en-US" sz="1400" b="0" i="1" dirty="0">
                        <a:solidFill>
                          <a:srgbClr val="FF0000"/>
                        </a:solidFill>
                        <a:latin typeface="Calibri" panose="020F0502020204030204" pitchFamily="34" charset="0"/>
                      </a:endParaRPr>
                    </a:p>
                  </a:txBody>
                  <a:tcPr marL="91483" marR="91483"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e9</a:t>
                      </a:r>
                      <a:endParaRPr lang="zh-CN" altLang="en-US" sz="1400" b="0" i="1" dirty="0">
                        <a:solidFill>
                          <a:schemeClr val="tx1"/>
                        </a:solidFill>
                        <a:latin typeface="Calibri" panose="020F0502020204030204" pitchFamily="34" charset="0"/>
                      </a:endParaRPr>
                    </a:p>
                  </a:txBody>
                  <a:tcPr marL="91483" marR="91483" marT="34290" marB="3429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29724" name="TextBox 11"/>
          <p:cNvSpPr txBox="1"/>
          <p:nvPr/>
        </p:nvSpPr>
        <p:spPr>
          <a:xfrm>
            <a:off x="2424113" y="2333625"/>
            <a:ext cx="1223962" cy="3683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i="1" dirty="0">
                <a:latin typeface="Calibri" panose="020F0502020204030204" pitchFamily="34" charset="0"/>
              </a:rPr>
              <a:t>S</a:t>
            </a:r>
            <a:endParaRPr lang="zh-CN" altLang="en-US" sz="1800" b="0" i="1" dirty="0">
              <a:latin typeface="Calibri" panose="020F0502020204030204" pitchFamily="34" charset="0"/>
            </a:endParaRPr>
          </a:p>
        </p:txBody>
      </p:sp>
      <p:graphicFrame>
        <p:nvGraphicFramePr>
          <p:cNvPr id="13" name="表格 12"/>
          <p:cNvGraphicFramePr>
            <a:graphicFrameLocks noGrp="1"/>
          </p:cNvGraphicFramePr>
          <p:nvPr/>
        </p:nvGraphicFramePr>
        <p:xfrm>
          <a:off x="5681663" y="2432050"/>
          <a:ext cx="1333500" cy="1127760"/>
        </p:xfrm>
        <a:graphic>
          <a:graphicData uri="http://schemas.openxmlformats.org/drawingml/2006/table">
            <a:tbl>
              <a:tblPr firstRow="1" bandRow="1">
                <a:tableStyleId>{5C22544A-7EE6-4342-B048-85BDC9FD1C3A}</a:tableStyleId>
              </a:tblPr>
              <a:tblGrid>
                <a:gridCol w="444500"/>
                <a:gridCol w="444500"/>
                <a:gridCol w="444500"/>
              </a:tblGrid>
              <a:tr h="281940">
                <a:tc>
                  <a:txBody>
                    <a:bodyPr/>
                    <a:lstStyle/>
                    <a:p>
                      <a:pPr algn="ctr"/>
                      <a:r>
                        <a:rPr lang="en-US" altLang="zh-CN" sz="1400" b="0" i="1" dirty="0">
                          <a:solidFill>
                            <a:schemeClr val="tx1"/>
                          </a:solidFill>
                          <a:latin typeface="Calibri" panose="020F0502020204030204" pitchFamily="34" charset="0"/>
                        </a:rPr>
                        <a:t>A</a:t>
                      </a:r>
                      <a:endParaRPr lang="zh-CN" altLang="en-US" sz="1400" b="0" i="1" dirty="0">
                        <a:solidFill>
                          <a:schemeClr val="tx1"/>
                        </a:solidFill>
                        <a:latin typeface="Calibri" panose="020F0502020204030204" pitchFamily="34" charset="0"/>
                      </a:endParaRPr>
                    </a:p>
                  </a:txBody>
                  <a:tcPr marL="91434" marR="91434" marT="34231" marB="342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rgbClr val="FF0000"/>
                          </a:solidFill>
                          <a:latin typeface="Calibri" panose="020F0502020204030204" pitchFamily="34" charset="0"/>
                        </a:rPr>
                        <a:t>B</a:t>
                      </a:r>
                      <a:endParaRPr lang="zh-CN" altLang="en-US" sz="1400" b="0" i="1" dirty="0">
                        <a:solidFill>
                          <a:srgbClr val="FF0000"/>
                        </a:solidFill>
                        <a:latin typeface="Calibri" panose="020F0502020204030204" pitchFamily="34" charset="0"/>
                      </a:endParaRPr>
                    </a:p>
                  </a:txBody>
                  <a:tcPr marL="91434" marR="91434" marT="34231" marB="342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C</a:t>
                      </a:r>
                      <a:endParaRPr lang="zh-CN" altLang="en-US" sz="1400" b="0" i="1" dirty="0">
                        <a:solidFill>
                          <a:schemeClr val="tx1"/>
                        </a:solidFill>
                        <a:latin typeface="Calibri" panose="020F0502020204030204" pitchFamily="34" charset="0"/>
                      </a:endParaRPr>
                    </a:p>
                  </a:txBody>
                  <a:tcPr marL="91434" marR="91434" marT="34231" marB="34231">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1940">
                <a:tc>
                  <a:txBody>
                    <a:bodyPr/>
                    <a:lstStyle/>
                    <a:p>
                      <a:pPr algn="ctr"/>
                      <a:r>
                        <a:rPr lang="en-US" altLang="zh-CN" sz="1400" b="0" i="1" dirty="0">
                          <a:solidFill>
                            <a:schemeClr val="tx1"/>
                          </a:solidFill>
                          <a:latin typeface="Calibri" panose="020F0502020204030204" pitchFamily="34" charset="0"/>
                        </a:rPr>
                        <a:t>a1</a:t>
                      </a:r>
                      <a:endParaRPr lang="zh-CN" altLang="en-US" sz="1400" b="0" i="1" dirty="0">
                        <a:solidFill>
                          <a:schemeClr val="tx1"/>
                        </a:solidFill>
                        <a:latin typeface="Calibri" panose="020F0502020204030204" pitchFamily="34" charset="0"/>
                      </a:endParaRPr>
                    </a:p>
                  </a:txBody>
                  <a:tcPr marL="91434" marR="91434" marT="34231" marB="342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rgbClr val="FF0000"/>
                          </a:solidFill>
                          <a:latin typeface="Calibri" panose="020F0502020204030204" pitchFamily="34" charset="0"/>
                        </a:rPr>
                        <a:t>1</a:t>
                      </a:r>
                      <a:endParaRPr lang="zh-CN" altLang="en-US" sz="1400" b="0" i="1" dirty="0">
                        <a:solidFill>
                          <a:srgbClr val="FF0000"/>
                        </a:solidFill>
                        <a:latin typeface="Calibri" panose="020F0502020204030204" pitchFamily="34" charset="0"/>
                      </a:endParaRPr>
                    </a:p>
                  </a:txBody>
                  <a:tcPr marL="91434" marR="91434" marT="34231" marB="342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c1</a:t>
                      </a:r>
                      <a:endParaRPr lang="zh-CN" altLang="en-US" sz="1400" b="0" i="1" dirty="0">
                        <a:solidFill>
                          <a:schemeClr val="tx1"/>
                        </a:solidFill>
                        <a:latin typeface="Calibri" panose="020F0502020204030204" pitchFamily="34" charset="0"/>
                      </a:endParaRPr>
                    </a:p>
                  </a:txBody>
                  <a:tcPr marL="91434" marR="91434" marT="34231" marB="34231">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1940">
                <a:tc>
                  <a:txBody>
                    <a:bodyPr/>
                    <a:lstStyle/>
                    <a:p>
                      <a:pPr algn="ctr"/>
                      <a:r>
                        <a:rPr lang="en-US" altLang="zh-CN" sz="1400" b="0" i="1" dirty="0">
                          <a:solidFill>
                            <a:schemeClr val="tx1"/>
                          </a:solidFill>
                          <a:latin typeface="Calibri" panose="020F0502020204030204" pitchFamily="34" charset="0"/>
                        </a:rPr>
                        <a:t>a2</a:t>
                      </a:r>
                      <a:endParaRPr lang="zh-CN" altLang="en-US" sz="1400" b="0" i="1" dirty="0">
                        <a:solidFill>
                          <a:schemeClr val="tx1"/>
                        </a:solidFill>
                        <a:latin typeface="Calibri" panose="020F0502020204030204" pitchFamily="34" charset="0"/>
                      </a:endParaRPr>
                    </a:p>
                  </a:txBody>
                  <a:tcPr marL="91434" marR="91434" marT="34231" marB="342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rgbClr val="FF0000"/>
                          </a:solidFill>
                          <a:latin typeface="Calibri" panose="020F0502020204030204" pitchFamily="34" charset="0"/>
                        </a:rPr>
                        <a:t>5</a:t>
                      </a:r>
                      <a:endParaRPr lang="zh-CN" altLang="en-US" sz="1400" b="0" i="1" dirty="0">
                        <a:solidFill>
                          <a:srgbClr val="FF0000"/>
                        </a:solidFill>
                        <a:latin typeface="Calibri" panose="020F0502020204030204" pitchFamily="34" charset="0"/>
                      </a:endParaRPr>
                    </a:p>
                  </a:txBody>
                  <a:tcPr marL="91434" marR="91434" marT="34231" marB="342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c2</a:t>
                      </a:r>
                      <a:endParaRPr lang="zh-CN" altLang="en-US" sz="1400" b="0" i="1" dirty="0">
                        <a:solidFill>
                          <a:schemeClr val="tx1"/>
                        </a:solidFill>
                        <a:latin typeface="Calibri" panose="020F0502020204030204" pitchFamily="34" charset="0"/>
                      </a:endParaRPr>
                    </a:p>
                  </a:txBody>
                  <a:tcPr marL="91434" marR="91434" marT="34231" marB="34231">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1940">
                <a:tc>
                  <a:txBody>
                    <a:bodyPr/>
                    <a:lstStyle/>
                    <a:p>
                      <a:pPr algn="ctr"/>
                      <a:r>
                        <a:rPr lang="en-US" altLang="zh-CN" sz="1400" b="0" i="1" dirty="0">
                          <a:solidFill>
                            <a:schemeClr val="tx1"/>
                          </a:solidFill>
                          <a:latin typeface="Calibri" panose="020F0502020204030204" pitchFamily="34" charset="0"/>
                        </a:rPr>
                        <a:t>a3</a:t>
                      </a:r>
                      <a:endParaRPr lang="zh-CN" altLang="en-US" sz="1400" b="0" i="1" dirty="0">
                        <a:solidFill>
                          <a:schemeClr val="tx1"/>
                        </a:solidFill>
                        <a:latin typeface="Calibri" panose="020F0502020204030204" pitchFamily="34" charset="0"/>
                      </a:endParaRPr>
                    </a:p>
                  </a:txBody>
                  <a:tcPr marL="91434" marR="91434" marT="34231" marB="342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rgbClr val="FF0000"/>
                          </a:solidFill>
                          <a:latin typeface="Calibri" panose="020F0502020204030204" pitchFamily="34" charset="0"/>
                        </a:rPr>
                        <a:t>2</a:t>
                      </a:r>
                      <a:endParaRPr lang="zh-CN" altLang="en-US" sz="1400" b="0" i="1" dirty="0">
                        <a:solidFill>
                          <a:srgbClr val="FF0000"/>
                        </a:solidFill>
                        <a:latin typeface="Calibri" panose="020F0502020204030204" pitchFamily="34" charset="0"/>
                      </a:endParaRPr>
                    </a:p>
                  </a:txBody>
                  <a:tcPr marL="91434" marR="91434" marT="34231" marB="342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b="0" i="1" dirty="0">
                          <a:solidFill>
                            <a:schemeClr val="tx1"/>
                          </a:solidFill>
                          <a:latin typeface="Calibri" panose="020F0502020204030204" pitchFamily="34" charset="0"/>
                        </a:rPr>
                        <a:t>c3</a:t>
                      </a:r>
                      <a:endParaRPr lang="zh-CN" altLang="en-US" sz="1400" b="0" i="1" dirty="0">
                        <a:solidFill>
                          <a:schemeClr val="tx1"/>
                        </a:solidFill>
                        <a:latin typeface="Calibri" panose="020F0502020204030204" pitchFamily="34" charset="0"/>
                      </a:endParaRPr>
                    </a:p>
                  </a:txBody>
                  <a:tcPr marL="91434" marR="91434" marT="34231" marB="34231">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29743" name="TextBox 13"/>
          <p:cNvSpPr txBox="1"/>
          <p:nvPr/>
        </p:nvSpPr>
        <p:spPr>
          <a:xfrm>
            <a:off x="5735638" y="2100263"/>
            <a:ext cx="1223962" cy="3683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i="1" dirty="0">
                <a:latin typeface="Calibri" panose="020F0502020204030204" pitchFamily="34" charset="0"/>
              </a:rPr>
              <a:t>R</a:t>
            </a:r>
            <a:endParaRPr lang="zh-CN" altLang="en-US" sz="1800" b="0" i="1" dirty="0">
              <a:latin typeface="Calibri" panose="020F0502020204030204" pitchFamily="34" charset="0"/>
            </a:endParaRPr>
          </a:p>
        </p:txBody>
      </p:sp>
      <p:sp>
        <p:nvSpPr>
          <p:cNvPr id="17" name="Rectangle 3"/>
          <p:cNvSpPr txBox="1">
            <a:spLocks noChangeArrowheads="1"/>
          </p:cNvSpPr>
          <p:nvPr/>
        </p:nvSpPr>
        <p:spPr bwMode="auto">
          <a:xfrm>
            <a:off x="1919288" y="1627188"/>
            <a:ext cx="814705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lr>
                <a:schemeClr val="tx1"/>
              </a:buClr>
              <a:buChar char="•"/>
              <a:defRPr sz="2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342900" marR="0" lvl="0" indent="-342900" algn="just"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cs"/>
              </a:rPr>
              <a:t>   </a:t>
            </a:r>
            <a:r>
              <a:rPr kumimoji="0" lang="zh-CN" altLang="en-US" sz="2800" b="0" i="0" u="none" strike="noStrike" kern="0" cap="none" spc="0" normalizeH="0" baseline="0" noProof="0" dirty="0">
                <a:ln>
                  <a:noFill/>
                </a:ln>
                <a:solidFill>
                  <a:schemeClr val="tx1"/>
                </a:solidFill>
                <a:effectLst/>
                <a:uLnTx/>
                <a:uFillTx/>
                <a:latin typeface="+mn-lt"/>
                <a:ea typeface="+mn-ea"/>
                <a:cs typeface="+mn-cs"/>
              </a:rPr>
              <a:t>等值连接 </a:t>
            </a:r>
            <a:r>
              <a:rPr kumimoji="0" lang="en-US" altLang="zh-CN" sz="2800" b="0" i="1" u="none" strike="noStrike" kern="0" cap="none" spc="0" normalizeH="0" baseline="0" noProof="0" dirty="0">
                <a:ln>
                  <a:noFill/>
                </a:ln>
                <a:solidFill>
                  <a:schemeClr val="tx1"/>
                </a:solidFill>
                <a:effectLst/>
                <a:uLnTx/>
                <a:uFillTx/>
                <a:latin typeface="+mn-lt"/>
                <a:ea typeface="+mn-ea"/>
                <a:cs typeface="+mn-cs"/>
              </a:rPr>
              <a:t>R</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 </a:t>
            </a:r>
            <a:r>
              <a:rPr kumimoji="0" lang="en-US" altLang="zh-CN" sz="2800" b="0" i="1" u="none" strike="noStrike" kern="0" cap="none" spc="0" normalizeH="0" baseline="0" noProof="0" dirty="0">
                <a:ln>
                  <a:noFill/>
                </a:ln>
                <a:solidFill>
                  <a:schemeClr val="tx1"/>
                </a:solidFill>
                <a:effectLst/>
                <a:uLnTx/>
                <a:uFillTx/>
                <a:latin typeface="+mn-lt"/>
                <a:ea typeface="+mn-ea"/>
                <a:cs typeface="+mn-cs"/>
              </a:rPr>
              <a:t>     S </a:t>
            </a:r>
            <a:r>
              <a:rPr kumimoji="0" lang="zh-CN" altLang="en-US" sz="2800" b="0" i="0" u="none" strike="noStrike" kern="0" cap="none" spc="0" normalizeH="0" baseline="0" noProof="0" dirty="0">
                <a:ln>
                  <a:noFill/>
                </a:ln>
                <a:solidFill>
                  <a:schemeClr val="tx1"/>
                </a:solidFill>
                <a:effectLst/>
                <a:uLnTx/>
                <a:uFillTx/>
                <a:latin typeface="+mn-lt"/>
                <a:ea typeface="+mn-ea"/>
                <a:cs typeface="+mn-cs"/>
              </a:rPr>
              <a:t>的结果如下：</a:t>
            </a:r>
            <a:endParaRPr kumimoji="0" lang="zh-CN" altLang="en-US" sz="2800" b="0" i="0" u="none" strike="noStrike" kern="0" cap="none" spc="0" normalizeH="0" baseline="0" noProof="0" dirty="0">
              <a:ln>
                <a:noFill/>
              </a:ln>
              <a:solidFill>
                <a:schemeClr val="tx1"/>
              </a:solidFill>
              <a:effectLst/>
              <a:uLnTx/>
              <a:uFillTx/>
              <a:latin typeface="+mn-lt"/>
              <a:ea typeface="+mn-ea"/>
              <a:cs typeface="+mn-cs"/>
            </a:endParaRPr>
          </a:p>
        </p:txBody>
      </p:sp>
      <p:grpSp>
        <p:nvGrpSpPr>
          <p:cNvPr id="29745" name="Group 4"/>
          <p:cNvGrpSpPr/>
          <p:nvPr/>
        </p:nvGrpSpPr>
        <p:grpSpPr>
          <a:xfrm>
            <a:off x="3959225" y="1206500"/>
            <a:ext cx="1066800" cy="1085850"/>
            <a:chOff x="3360" y="816"/>
            <a:chExt cx="672" cy="912"/>
          </a:xfrm>
        </p:grpSpPr>
        <p:sp>
          <p:nvSpPr>
            <p:cNvPr id="29824" name="Rectangle 5"/>
            <p:cNvSpPr/>
            <p:nvPr/>
          </p:nvSpPr>
          <p:spPr>
            <a:xfrm>
              <a:off x="3408" y="1344"/>
              <a:ext cx="624" cy="384"/>
            </a:xfrm>
            <a:prstGeom prst="rect">
              <a:avLst/>
            </a:prstGeom>
            <a:noFill/>
            <a:ln w="9525">
              <a:noFill/>
            </a:ln>
          </p:spPr>
          <p:txBody>
            <a:bodyPr wrap="none" lIns="90000" tIns="46800" rIns="90000" bIns="46800"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nSpc>
                  <a:spcPct val="80000"/>
                </a:lnSpc>
                <a:spcBef>
                  <a:spcPct val="0"/>
                </a:spcBef>
                <a:buSzTx/>
                <a:buFont typeface="Arial" panose="020B0604020202020204" pitchFamily="34" charset="0"/>
                <a:buNone/>
              </a:pPr>
              <a:r>
                <a:rPr lang="en-US" altLang="zh-CN" sz="1600" i="1" dirty="0">
                  <a:latin typeface="Times New Roman" panose="02020603050405020304" charset="0"/>
                </a:rPr>
                <a:t>R.B=S.B</a:t>
              </a:r>
              <a:endParaRPr lang="en-US" altLang="zh-CN" sz="2400" dirty="0">
                <a:latin typeface="Times New Roman" panose="02020603050405020304" charset="0"/>
              </a:endParaRPr>
            </a:p>
          </p:txBody>
        </p:sp>
        <p:grpSp>
          <p:nvGrpSpPr>
            <p:cNvPr id="29825" name="Group 6"/>
            <p:cNvGrpSpPr/>
            <p:nvPr/>
          </p:nvGrpSpPr>
          <p:grpSpPr>
            <a:xfrm rot="10800000">
              <a:off x="3360" y="816"/>
              <a:ext cx="624" cy="576"/>
              <a:chOff x="6431" y="11824"/>
              <a:chExt cx="705" cy="367"/>
            </a:xfrm>
          </p:grpSpPr>
          <p:sp>
            <p:nvSpPr>
              <p:cNvPr id="29826" name="AutoShape 7"/>
              <p:cNvSpPr/>
              <p:nvPr/>
            </p:nvSpPr>
            <p:spPr>
              <a:xfrm rot="5400000" flipV="1">
                <a:off x="6793" y="11792"/>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latin typeface="Times New Roman" panose="02020603050405020304" charset="0"/>
                </a:endParaRPr>
              </a:p>
            </p:txBody>
          </p:sp>
          <p:sp>
            <p:nvSpPr>
              <p:cNvPr id="29827" name="Text Box 8"/>
              <p:cNvSpPr txBox="1"/>
              <p:nvPr/>
            </p:nvSpPr>
            <p:spPr>
              <a:xfrm flipV="1">
                <a:off x="6431" y="11828"/>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spcBef>
                    <a:spcPct val="0"/>
                  </a:spcBef>
                  <a:buSzTx/>
                  <a:buFont typeface="Arial" panose="020B0604020202020204" pitchFamily="34" charset="0"/>
                  <a:buNone/>
                </a:pPr>
                <a:r>
                  <a:rPr lang="en-US" altLang="zh-CN" sz="600" b="0" i="1" dirty="0">
                    <a:latin typeface="Times New Roman" panose="02020603050405020304" charset="0"/>
                  </a:rPr>
                  <a:t> </a:t>
                </a:r>
                <a:endParaRPr lang="en-US" altLang="zh-CN" sz="2400" b="0" dirty="0">
                  <a:latin typeface="Times New Roman" panose="02020603050405020304" charset="0"/>
                </a:endParaRPr>
              </a:p>
            </p:txBody>
          </p:sp>
        </p:grpSp>
      </p:grpSp>
      <p:cxnSp>
        <p:nvCxnSpPr>
          <p:cNvPr id="5" name="直接箭头连接符 4"/>
          <p:cNvCxnSpPr/>
          <p:nvPr/>
        </p:nvCxnSpPr>
        <p:spPr>
          <a:xfrm>
            <a:off x="3792538" y="3043238"/>
            <a:ext cx="1798637" cy="269875"/>
          </a:xfrm>
          <a:prstGeom prst="straightConnector1">
            <a:avLst/>
          </a:prstGeom>
          <a:ln w="19050" cap="flat" cmpd="sng">
            <a:solidFill>
              <a:srgbClr val="FF0000"/>
            </a:solidFill>
            <a:prstDash val="solid"/>
            <a:headEnd type="none" w="med" len="med"/>
            <a:tailEnd type="arrow" w="med" len="med"/>
          </a:ln>
        </p:spPr>
      </p:cxnSp>
      <p:cxnSp>
        <p:nvCxnSpPr>
          <p:cNvPr id="25" name="直接箭头连接符 24"/>
          <p:cNvCxnSpPr/>
          <p:nvPr/>
        </p:nvCxnSpPr>
        <p:spPr>
          <a:xfrm>
            <a:off x="3792538" y="3313113"/>
            <a:ext cx="1798637" cy="593725"/>
          </a:xfrm>
          <a:prstGeom prst="straightConnector1">
            <a:avLst/>
          </a:prstGeom>
          <a:ln w="19050" cap="flat" cmpd="sng">
            <a:solidFill>
              <a:srgbClr val="FF0000"/>
            </a:solidFill>
            <a:prstDash val="solid"/>
            <a:headEnd type="none" w="med" len="med"/>
            <a:tailEnd type="arrow" w="med" len="med"/>
          </a:ln>
        </p:spPr>
      </p:cxnSp>
      <p:cxnSp>
        <p:nvCxnSpPr>
          <p:cNvPr id="26" name="直接箭头连接符 25"/>
          <p:cNvCxnSpPr/>
          <p:nvPr/>
        </p:nvCxnSpPr>
        <p:spPr>
          <a:xfrm>
            <a:off x="3792538" y="3582988"/>
            <a:ext cx="1798637" cy="890587"/>
          </a:xfrm>
          <a:prstGeom prst="straightConnector1">
            <a:avLst/>
          </a:prstGeom>
          <a:ln w="19050" cap="flat" cmpd="sng">
            <a:solidFill>
              <a:srgbClr val="FF0000"/>
            </a:solidFill>
            <a:prstDash val="solid"/>
            <a:headEnd type="none" w="med" len="med"/>
            <a:tailEnd type="arrow" w="med" len="med"/>
          </a:ln>
        </p:spPr>
      </p:cxnSp>
      <p:cxnSp>
        <p:nvCxnSpPr>
          <p:cNvPr id="28" name="直接箭头连接符 27"/>
          <p:cNvCxnSpPr/>
          <p:nvPr/>
        </p:nvCxnSpPr>
        <p:spPr>
          <a:xfrm flipV="1">
            <a:off x="3792538" y="3609975"/>
            <a:ext cx="1798637" cy="296863"/>
          </a:xfrm>
          <a:prstGeom prst="straightConnector1">
            <a:avLst/>
          </a:prstGeom>
          <a:ln w="19050" cap="flat" cmpd="sng">
            <a:solidFill>
              <a:srgbClr val="FF0000"/>
            </a:solidFill>
            <a:prstDash val="solid"/>
            <a:headEnd type="none" w="med" len="med"/>
            <a:tailEnd type="arrow" w="med" len="med"/>
          </a:ln>
        </p:spPr>
      </p:cxnSp>
      <p:cxnSp>
        <p:nvCxnSpPr>
          <p:cNvPr id="29" name="直接箭头连接符 28"/>
          <p:cNvCxnSpPr/>
          <p:nvPr/>
        </p:nvCxnSpPr>
        <p:spPr>
          <a:xfrm>
            <a:off x="3792538" y="4176713"/>
            <a:ext cx="1798637" cy="0"/>
          </a:xfrm>
          <a:prstGeom prst="straightConnector1">
            <a:avLst/>
          </a:prstGeom>
          <a:ln w="19050" cap="flat" cmpd="sng">
            <a:solidFill>
              <a:srgbClr val="FF0000"/>
            </a:solidFill>
            <a:prstDash val="solid"/>
            <a:headEnd type="none" w="med" len="med"/>
            <a:tailEnd type="arrow" w="med" len="med"/>
          </a:ln>
        </p:spPr>
      </p:cxnSp>
      <p:cxnSp>
        <p:nvCxnSpPr>
          <p:cNvPr id="30" name="直接箭头连接符 29"/>
          <p:cNvCxnSpPr/>
          <p:nvPr/>
        </p:nvCxnSpPr>
        <p:spPr>
          <a:xfrm flipV="1">
            <a:off x="3792538" y="3906838"/>
            <a:ext cx="1798637" cy="485775"/>
          </a:xfrm>
          <a:prstGeom prst="straightConnector1">
            <a:avLst/>
          </a:prstGeom>
          <a:ln w="19050" cap="flat" cmpd="sng">
            <a:solidFill>
              <a:srgbClr val="FF0000"/>
            </a:solidFill>
            <a:prstDash val="solid"/>
            <a:headEnd type="none" w="med" len="med"/>
            <a:tailEnd type="arrow" w="med" len="med"/>
          </a:ln>
        </p:spPr>
      </p:cxnSp>
      <p:cxnSp>
        <p:nvCxnSpPr>
          <p:cNvPr id="31" name="直接箭头连接符 30"/>
          <p:cNvCxnSpPr/>
          <p:nvPr/>
        </p:nvCxnSpPr>
        <p:spPr>
          <a:xfrm flipV="1">
            <a:off x="3792538" y="3313113"/>
            <a:ext cx="1798637" cy="1404937"/>
          </a:xfrm>
          <a:prstGeom prst="straightConnector1">
            <a:avLst/>
          </a:prstGeom>
          <a:ln w="19050" cap="flat" cmpd="sng">
            <a:solidFill>
              <a:srgbClr val="FF0000"/>
            </a:solidFill>
            <a:prstDash val="solid"/>
            <a:headEnd type="none" w="med" len="med"/>
            <a:tailEnd type="arrow" w="med" len="med"/>
          </a:ln>
        </p:spPr>
      </p:cxnSp>
      <p:cxnSp>
        <p:nvCxnSpPr>
          <p:cNvPr id="32" name="直接箭头连接符 31"/>
          <p:cNvCxnSpPr/>
          <p:nvPr/>
        </p:nvCxnSpPr>
        <p:spPr>
          <a:xfrm flipV="1">
            <a:off x="3792538" y="4176713"/>
            <a:ext cx="1798637" cy="811212"/>
          </a:xfrm>
          <a:prstGeom prst="straightConnector1">
            <a:avLst/>
          </a:prstGeom>
          <a:ln w="19050" cap="flat" cmpd="sng">
            <a:solidFill>
              <a:srgbClr val="FF0000"/>
            </a:solidFill>
            <a:prstDash val="solid"/>
            <a:headEnd type="none" w="med" len="med"/>
            <a:tailEnd type="arrow" w="med" len="med"/>
          </a:ln>
        </p:spPr>
      </p:cxnSp>
      <p:cxnSp>
        <p:nvCxnSpPr>
          <p:cNvPr id="33" name="直接箭头连接符 32"/>
          <p:cNvCxnSpPr/>
          <p:nvPr/>
        </p:nvCxnSpPr>
        <p:spPr>
          <a:xfrm flipV="1">
            <a:off x="3792538" y="3906838"/>
            <a:ext cx="1798637" cy="1350962"/>
          </a:xfrm>
          <a:prstGeom prst="straightConnector1">
            <a:avLst/>
          </a:prstGeom>
          <a:ln w="19050" cap="flat" cmpd="sng">
            <a:solidFill>
              <a:srgbClr val="FF0000"/>
            </a:solidFill>
            <a:prstDash val="solid"/>
            <a:headEnd type="none" w="med" len="med"/>
            <a:tailEnd type="arrow" w="med" len="med"/>
          </a:ln>
        </p:spPr>
      </p:cxnSp>
      <p:graphicFrame>
        <p:nvGraphicFramePr>
          <p:cNvPr id="35" name="表格 34"/>
          <p:cNvGraphicFramePr>
            <a:graphicFrameLocks noGrp="1"/>
          </p:cNvGraphicFramePr>
          <p:nvPr/>
        </p:nvGraphicFramePr>
        <p:xfrm>
          <a:off x="7896225" y="2801938"/>
          <a:ext cx="2663825" cy="1397635"/>
        </p:xfrm>
        <a:graphic>
          <a:graphicData uri="http://schemas.openxmlformats.org/drawingml/2006/table">
            <a:tbl>
              <a:tblPr firstRow="1" bandRow="1">
                <a:tableStyleId>{5C22544A-7EE6-4342-B048-85BDC9FD1C3A}</a:tableStyleId>
              </a:tblPr>
              <a:tblGrid>
                <a:gridCol w="532765"/>
                <a:gridCol w="532765"/>
                <a:gridCol w="532765"/>
                <a:gridCol w="532765"/>
                <a:gridCol w="532765"/>
              </a:tblGrid>
              <a:tr h="269875">
                <a:tc>
                  <a:txBody>
                    <a:bodyPr/>
                    <a:lstStyle/>
                    <a:p>
                      <a:pPr algn="ctr"/>
                      <a:r>
                        <a:rPr lang="en-US" altLang="zh-CN" sz="1200" dirty="0">
                          <a:solidFill>
                            <a:schemeClr val="tx1"/>
                          </a:solidFill>
                        </a:rPr>
                        <a:t>A</a:t>
                      </a:r>
                      <a:endParaRPr lang="zh-CN" altLang="en-US" sz="1200" dirty="0">
                        <a:solidFill>
                          <a:schemeClr val="tx1"/>
                        </a:solidFill>
                      </a:endParaRPr>
                    </a:p>
                  </a:txBody>
                  <a:tcPr marL="91424" marR="91424" marT="34245" marB="3424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200" dirty="0">
                          <a:solidFill>
                            <a:schemeClr val="tx1"/>
                          </a:solidFill>
                        </a:rPr>
                        <a:t>R.B</a:t>
                      </a:r>
                      <a:endParaRPr lang="zh-CN" altLang="en-US" sz="12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200" dirty="0">
                          <a:solidFill>
                            <a:schemeClr val="tx1"/>
                          </a:solidFill>
                        </a:rPr>
                        <a:t>C</a:t>
                      </a:r>
                      <a:endParaRPr lang="zh-CN" altLang="en-US" sz="12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200" dirty="0">
                          <a:solidFill>
                            <a:schemeClr val="tx1"/>
                          </a:solidFill>
                        </a:rPr>
                        <a:t>S.B</a:t>
                      </a:r>
                      <a:endParaRPr lang="zh-CN" altLang="en-US" sz="12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200" dirty="0">
                          <a:solidFill>
                            <a:schemeClr val="tx1"/>
                          </a:solidFill>
                        </a:rPr>
                        <a:t>E</a:t>
                      </a:r>
                      <a:endParaRPr lang="zh-CN" altLang="en-US" sz="12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1940">
                <a:tc>
                  <a:txBody>
                    <a:bodyPr/>
                    <a:lstStyle/>
                    <a:p>
                      <a:pPr algn="ctr"/>
                      <a:r>
                        <a:rPr lang="en-US" altLang="zh-CN" sz="1400" dirty="0">
                          <a:solidFill>
                            <a:schemeClr val="tx1"/>
                          </a:solidFill>
                        </a:rPr>
                        <a:t>a1</a:t>
                      </a:r>
                      <a:endParaRPr lang="zh-CN" altLang="en-US" sz="1400" dirty="0">
                        <a:solidFill>
                          <a:schemeClr val="tx1"/>
                        </a:solidFill>
                      </a:endParaRPr>
                    </a:p>
                  </a:txBody>
                  <a:tcPr marL="91424" marR="91424" marT="34245" marB="3424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dirty="0">
                          <a:solidFill>
                            <a:schemeClr val="tx1"/>
                          </a:solidFill>
                        </a:rPr>
                        <a:t>1</a:t>
                      </a:r>
                      <a:endParaRPr lang="zh-CN" altLang="en-US" sz="14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dirty="0">
                          <a:solidFill>
                            <a:schemeClr val="tx1"/>
                          </a:solidFill>
                        </a:rPr>
                        <a:t>c1</a:t>
                      </a:r>
                      <a:endParaRPr lang="zh-CN" altLang="en-US" sz="14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dirty="0">
                          <a:solidFill>
                            <a:schemeClr val="tx1"/>
                          </a:solidFill>
                        </a:rPr>
                        <a:t>1</a:t>
                      </a:r>
                      <a:endParaRPr lang="zh-CN" altLang="en-US" sz="14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dirty="0">
                          <a:solidFill>
                            <a:schemeClr val="tx1"/>
                          </a:solidFill>
                        </a:rPr>
                        <a:t>e1</a:t>
                      </a:r>
                      <a:endParaRPr lang="zh-CN" altLang="en-US" sz="14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1940">
                <a:tc>
                  <a:txBody>
                    <a:bodyPr/>
                    <a:lstStyle/>
                    <a:p>
                      <a:pPr algn="ctr"/>
                      <a:r>
                        <a:rPr lang="en-US" altLang="zh-CN" sz="1400" dirty="0">
                          <a:solidFill>
                            <a:schemeClr val="tx1"/>
                          </a:solidFill>
                        </a:rPr>
                        <a:t>a2</a:t>
                      </a:r>
                      <a:endParaRPr lang="zh-CN" altLang="en-US" sz="1400" dirty="0">
                        <a:solidFill>
                          <a:schemeClr val="tx1"/>
                        </a:solidFill>
                      </a:endParaRPr>
                    </a:p>
                  </a:txBody>
                  <a:tcPr marL="91424" marR="91424" marT="34245" marB="3424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dirty="0">
                          <a:solidFill>
                            <a:schemeClr val="tx1"/>
                          </a:solidFill>
                        </a:rPr>
                        <a:t>5</a:t>
                      </a:r>
                      <a:endParaRPr lang="zh-CN" altLang="en-US" sz="14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dirty="0">
                          <a:solidFill>
                            <a:schemeClr val="tx1"/>
                          </a:solidFill>
                        </a:rPr>
                        <a:t>c2</a:t>
                      </a:r>
                      <a:endParaRPr lang="zh-CN" altLang="en-US" sz="14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dirty="0">
                          <a:solidFill>
                            <a:schemeClr val="tx1"/>
                          </a:solidFill>
                        </a:rPr>
                        <a:t>5</a:t>
                      </a:r>
                      <a:endParaRPr lang="zh-CN" altLang="en-US" sz="14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dirty="0">
                          <a:solidFill>
                            <a:schemeClr val="tx1"/>
                          </a:solidFill>
                        </a:rPr>
                        <a:t>e3</a:t>
                      </a:r>
                      <a:endParaRPr lang="zh-CN" altLang="en-US" sz="14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1940">
                <a:tc>
                  <a:txBody>
                    <a:bodyPr/>
                    <a:lstStyle/>
                    <a:p>
                      <a:pPr algn="ctr"/>
                      <a:r>
                        <a:rPr lang="en-US" altLang="zh-CN" sz="1400" dirty="0">
                          <a:solidFill>
                            <a:schemeClr val="tx1"/>
                          </a:solidFill>
                        </a:rPr>
                        <a:t>a3</a:t>
                      </a:r>
                      <a:endParaRPr lang="zh-CN" altLang="en-US" sz="1400" dirty="0">
                        <a:solidFill>
                          <a:schemeClr val="tx1"/>
                        </a:solidFill>
                      </a:endParaRPr>
                    </a:p>
                  </a:txBody>
                  <a:tcPr marL="91424" marR="91424" marT="34245" marB="3424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dirty="0">
                          <a:solidFill>
                            <a:schemeClr val="tx1"/>
                          </a:solidFill>
                        </a:rPr>
                        <a:t>2</a:t>
                      </a:r>
                      <a:endParaRPr lang="zh-CN" altLang="en-US" sz="14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dirty="0">
                          <a:solidFill>
                            <a:schemeClr val="tx1"/>
                          </a:solidFill>
                        </a:rPr>
                        <a:t>c3</a:t>
                      </a:r>
                      <a:endParaRPr lang="zh-CN" altLang="en-US" sz="14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dirty="0">
                          <a:solidFill>
                            <a:schemeClr val="tx1"/>
                          </a:solidFill>
                        </a:rPr>
                        <a:t>2</a:t>
                      </a:r>
                      <a:endParaRPr lang="zh-CN" altLang="en-US" sz="14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dirty="0">
                          <a:solidFill>
                            <a:schemeClr val="tx1"/>
                          </a:solidFill>
                        </a:rPr>
                        <a:t>e4</a:t>
                      </a:r>
                      <a:endParaRPr lang="zh-CN" altLang="en-US" sz="14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81940">
                <a:tc>
                  <a:txBody>
                    <a:bodyPr/>
                    <a:lstStyle/>
                    <a:p>
                      <a:pPr algn="ctr"/>
                      <a:r>
                        <a:rPr lang="en-US" altLang="zh-CN" sz="1400" dirty="0">
                          <a:solidFill>
                            <a:schemeClr val="tx1"/>
                          </a:solidFill>
                        </a:rPr>
                        <a:t>a1</a:t>
                      </a:r>
                      <a:endParaRPr lang="zh-CN" altLang="en-US" sz="1400" dirty="0">
                        <a:solidFill>
                          <a:schemeClr val="tx1"/>
                        </a:solidFill>
                      </a:endParaRPr>
                    </a:p>
                  </a:txBody>
                  <a:tcPr marL="91424" marR="91424" marT="34245" marB="3424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dirty="0">
                          <a:solidFill>
                            <a:schemeClr val="tx1"/>
                          </a:solidFill>
                        </a:rPr>
                        <a:t>1</a:t>
                      </a:r>
                      <a:endParaRPr lang="zh-CN" altLang="en-US" sz="14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dirty="0">
                          <a:solidFill>
                            <a:schemeClr val="tx1"/>
                          </a:solidFill>
                        </a:rPr>
                        <a:t>c1</a:t>
                      </a:r>
                      <a:endParaRPr lang="zh-CN" altLang="en-US" sz="14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dirty="0">
                          <a:solidFill>
                            <a:schemeClr val="tx1"/>
                          </a:solidFill>
                        </a:rPr>
                        <a:t>1</a:t>
                      </a:r>
                      <a:endParaRPr lang="zh-CN" altLang="en-US" sz="14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400" dirty="0">
                          <a:solidFill>
                            <a:schemeClr val="tx1"/>
                          </a:solidFill>
                        </a:rPr>
                        <a:t>e7</a:t>
                      </a:r>
                      <a:endParaRPr lang="zh-CN" altLang="en-US" sz="1400" dirty="0">
                        <a:solidFill>
                          <a:schemeClr val="tx1"/>
                        </a:solidFill>
                      </a:endParaRPr>
                    </a:p>
                  </a:txBody>
                  <a:tcPr marL="91424" marR="91424" marT="34245" marB="3424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36" name="TextBox 35"/>
          <p:cNvSpPr txBox="1"/>
          <p:nvPr/>
        </p:nvSpPr>
        <p:spPr>
          <a:xfrm>
            <a:off x="6167438" y="2100263"/>
            <a:ext cx="1441450" cy="3683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en-US" altLang="zh-CN" sz="1800" b="0" dirty="0">
                <a:solidFill>
                  <a:srgbClr val="FF0000"/>
                </a:solidFill>
              </a:rPr>
              <a:t>Build</a:t>
            </a:r>
            <a:r>
              <a:rPr lang="zh-CN" altLang="en-US" sz="1800" b="0" dirty="0">
                <a:solidFill>
                  <a:srgbClr val="FF0000"/>
                </a:solidFill>
              </a:rPr>
              <a:t>关系</a:t>
            </a:r>
            <a:endParaRPr lang="zh-CN" altLang="en-US" sz="1800" b="0" dirty="0">
              <a:solidFill>
                <a:srgbClr val="FF0000"/>
              </a:solidFill>
            </a:endParaRPr>
          </a:p>
        </p:txBody>
      </p:sp>
      <p:sp>
        <p:nvSpPr>
          <p:cNvPr id="37" name="TextBox 36"/>
          <p:cNvSpPr txBox="1"/>
          <p:nvPr/>
        </p:nvSpPr>
        <p:spPr>
          <a:xfrm>
            <a:off x="2927350" y="2333625"/>
            <a:ext cx="1439863" cy="368300"/>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kern="1200" cap="none" spc="-30" normalizeH="0" baseline="0" noProof="0" dirty="0">
                <a:solidFill>
                  <a:srgbClr val="FF0000"/>
                </a:solidFill>
                <a:latin typeface="宋体" panose="02010600030101010101" pitchFamily="2" charset="-122"/>
                <a:ea typeface="宋体" panose="02010600030101010101" pitchFamily="2" charset="-122"/>
                <a:cs typeface="宋体" panose="02010600030101010101" pitchFamily="2" charset="-122"/>
              </a:rPr>
              <a:t>Probe </a:t>
            </a:r>
            <a:r>
              <a:rPr kumimoji="0" lang="zh-CN" altLang="en-US" kern="1200" cap="none" spc="0" normalizeH="0" baseline="0" noProof="0" dirty="0">
                <a:solidFill>
                  <a:srgbClr val="FF0000"/>
                </a:solidFill>
                <a:latin typeface="Arial" panose="020B0604020202020204" pitchFamily="34" charset="0"/>
                <a:ea typeface="宋体" panose="02010600030101010101" pitchFamily="2" charset="-122"/>
                <a:cs typeface="+mn-cs"/>
              </a:rPr>
              <a:t>关系</a:t>
            </a:r>
            <a:endParaRPr kumimoji="0" lang="zh-CN" altLang="en-US" kern="1200" cap="none" spc="0" normalizeH="0" baseline="0" noProof="0" dirty="0">
              <a:solidFill>
                <a:srgbClr val="FF0000"/>
              </a:solidFill>
              <a:latin typeface="Arial" panose="020B0604020202020204" pitchFamily="34" charset="0"/>
              <a:ea typeface="宋体" panose="02010600030101010101" pitchFamily="2" charset="-122"/>
              <a:cs typeface="+mn-cs"/>
            </a:endParaRPr>
          </a:p>
        </p:txBody>
      </p:sp>
      <p:sp>
        <p:nvSpPr>
          <p:cNvPr id="38" name="矩形 37"/>
          <p:cNvSpPr/>
          <p:nvPr/>
        </p:nvSpPr>
        <p:spPr>
          <a:xfrm>
            <a:off x="7573963" y="2019300"/>
            <a:ext cx="2844800" cy="52197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1.</a:t>
            </a:r>
            <a:r>
              <a:rPr kumimoji="0" lang="zh-CN" altLang="en-US" sz="14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 </a:t>
            </a:r>
            <a:r>
              <a:rPr kumimoji="0" lang="en-US" altLang="zh-CN" sz="14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building</a:t>
            </a:r>
            <a:r>
              <a:rPr kumimoji="0" lang="zh-CN" altLang="en-US" sz="14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阶段：为连接属性用</a:t>
            </a:r>
            <a:r>
              <a:rPr kumimoji="0" lang="en-US" altLang="zh-CN" sz="14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hash</a:t>
            </a:r>
            <a:r>
              <a:rPr kumimoji="0" lang="zh-CN" altLang="en-US" sz="14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函数建立</a:t>
            </a:r>
            <a:r>
              <a:rPr kumimoji="0" lang="en-US" altLang="zh-CN" sz="14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hash</a:t>
            </a:r>
            <a:r>
              <a:rPr kumimoji="0" lang="zh-CN" altLang="en-US" sz="14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表</a:t>
            </a:r>
            <a:endPar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9" name="矩形 38"/>
          <p:cNvSpPr/>
          <p:nvPr/>
        </p:nvSpPr>
        <p:spPr>
          <a:xfrm>
            <a:off x="4008438" y="5041900"/>
            <a:ext cx="3275013" cy="95313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2.</a:t>
            </a:r>
            <a:r>
              <a:rPr kumimoji="0" lang="zh-CN" altLang="en-US" sz="14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 </a:t>
            </a:r>
            <a:r>
              <a:rPr kumimoji="0" lang="en-US" altLang="zh-CN" sz="14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probing</a:t>
            </a:r>
            <a:r>
              <a:rPr kumimoji="0" lang="zh-CN" altLang="en-US" sz="14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阶段：对</a:t>
            </a:r>
            <a:r>
              <a:rPr kumimoji="0" lang="en-US" altLang="zh-CN" sz="14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probe</a:t>
            </a:r>
            <a:r>
              <a:rPr kumimoji="0" lang="zh-CN" altLang="en-US" sz="14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关系的元组，用相同的</a:t>
            </a:r>
            <a:r>
              <a:rPr kumimoji="0" lang="en-US" altLang="zh-CN" sz="14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hash</a:t>
            </a:r>
            <a:r>
              <a:rPr kumimoji="0" lang="zh-CN" altLang="en-US" sz="14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函数，到相应的桶中探测与之匹配的元组。</a:t>
            </a:r>
            <a:endParaRPr kumimoji="0" lang="en-US" altLang="zh-CN" sz="1400" b="0" i="0" u="none" strike="noStrike" kern="1200" cap="none" spc="-3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cxnSp>
        <p:nvCxnSpPr>
          <p:cNvPr id="56" name="直接箭头连接符 55"/>
          <p:cNvCxnSpPr/>
          <p:nvPr/>
        </p:nvCxnSpPr>
        <p:spPr>
          <a:xfrm flipV="1">
            <a:off x="6959600" y="3232150"/>
            <a:ext cx="1008063" cy="134938"/>
          </a:xfrm>
          <a:prstGeom prst="straightConnector1">
            <a:avLst/>
          </a:prstGeom>
          <a:ln w="19050" cap="flat" cmpd="sng">
            <a:solidFill>
              <a:srgbClr val="FF0000"/>
            </a:solidFill>
            <a:prstDash val="solid"/>
            <a:headEnd type="none" w="med" len="med"/>
            <a:tailEnd type="arrow" w="med" len="med"/>
          </a:ln>
        </p:spPr>
      </p:cxnSp>
      <p:cxnSp>
        <p:nvCxnSpPr>
          <p:cNvPr id="58" name="直接箭头连接符 57"/>
          <p:cNvCxnSpPr/>
          <p:nvPr/>
        </p:nvCxnSpPr>
        <p:spPr>
          <a:xfrm>
            <a:off x="6959600" y="3636963"/>
            <a:ext cx="1008063" cy="122237"/>
          </a:xfrm>
          <a:prstGeom prst="straightConnector1">
            <a:avLst/>
          </a:prstGeom>
          <a:ln w="19050" cap="flat" cmpd="sng">
            <a:solidFill>
              <a:srgbClr val="FF0000"/>
            </a:solidFill>
            <a:prstDash val="solid"/>
            <a:headEnd type="none" w="med" len="med"/>
            <a:tailEnd type="arrow" w="med" len="med"/>
          </a:ln>
        </p:spPr>
      </p:cxnSp>
      <p:cxnSp>
        <p:nvCxnSpPr>
          <p:cNvPr id="60" name="直接箭头连接符 59"/>
          <p:cNvCxnSpPr/>
          <p:nvPr/>
        </p:nvCxnSpPr>
        <p:spPr>
          <a:xfrm>
            <a:off x="6959600" y="3408363"/>
            <a:ext cx="936625" cy="620712"/>
          </a:xfrm>
          <a:prstGeom prst="straightConnector1">
            <a:avLst/>
          </a:prstGeom>
          <a:ln w="19050" cap="flat" cmpd="sng">
            <a:solidFill>
              <a:srgbClr val="FF0000"/>
            </a:solidFill>
            <a:prstDash val="solid"/>
            <a:headEnd type="none" w="med" len="med"/>
            <a:tailEnd type="arrow" w="med" len="med"/>
          </a:ln>
        </p:spPr>
      </p:cxnSp>
      <p:cxnSp>
        <p:nvCxnSpPr>
          <p:cNvPr id="63" name="直接箭头连接符 62"/>
          <p:cNvCxnSpPr/>
          <p:nvPr/>
        </p:nvCxnSpPr>
        <p:spPr>
          <a:xfrm flipV="1">
            <a:off x="6959600" y="3500438"/>
            <a:ext cx="936625" cy="973137"/>
          </a:xfrm>
          <a:prstGeom prst="straightConnector1">
            <a:avLst/>
          </a:prstGeom>
          <a:ln w="19050" cap="flat" cmpd="sng">
            <a:solidFill>
              <a:srgbClr val="FF0000"/>
            </a:solidFill>
            <a:prstDash val="solid"/>
            <a:headEnd type="none" w="med" len="med"/>
            <a:tailEnd type="arrow" w="med" len="med"/>
          </a:ln>
        </p:spPr>
      </p:cxnSp>
      <p:sp>
        <p:nvSpPr>
          <p:cNvPr id="66" name="圆角矩形 65"/>
          <p:cNvSpPr/>
          <p:nvPr/>
        </p:nvSpPr>
        <p:spPr bwMode="auto">
          <a:xfrm>
            <a:off x="7967663" y="3124200"/>
            <a:ext cx="2447925" cy="188913"/>
          </a:xfrm>
          <a:prstGeom prst="roundRect">
            <a:avLst/>
          </a:prstGeom>
          <a:noFill/>
          <a:ln w="19050">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wrap="none" anchor="ctr"/>
          <a:lstStyle/>
          <a:p>
            <a:pPr marL="342900" marR="0" lvl="0" indent="-34290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tx1"/>
              </a:solidFill>
              <a:effectLst/>
              <a:uLnTx/>
              <a:uFillTx/>
              <a:latin typeface="Times New Roman" panose="02020603050405020304" charset="0"/>
              <a:ea typeface="+mn-ea"/>
              <a:cs typeface="+mn-cs"/>
            </a:endParaRPr>
          </a:p>
        </p:txBody>
      </p:sp>
      <p:sp>
        <p:nvSpPr>
          <p:cNvPr id="67" name="圆角矩形 66"/>
          <p:cNvSpPr/>
          <p:nvPr/>
        </p:nvSpPr>
        <p:spPr bwMode="auto">
          <a:xfrm>
            <a:off x="7967663" y="3394075"/>
            <a:ext cx="2447925" cy="188913"/>
          </a:xfrm>
          <a:prstGeom prst="roundRect">
            <a:avLst/>
          </a:prstGeom>
          <a:noFill/>
          <a:ln w="19050">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wrap="none" anchor="ctr"/>
          <a:lstStyle/>
          <a:p>
            <a:pPr marL="342900" marR="0" lvl="0" indent="-34290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tx1"/>
              </a:solidFill>
              <a:effectLst/>
              <a:uLnTx/>
              <a:uFillTx/>
              <a:latin typeface="Times New Roman" panose="02020603050405020304" charset="0"/>
              <a:ea typeface="+mn-ea"/>
              <a:cs typeface="+mn-cs"/>
            </a:endParaRPr>
          </a:p>
        </p:txBody>
      </p:sp>
      <p:sp>
        <p:nvSpPr>
          <p:cNvPr id="68" name="圆角矩形 67"/>
          <p:cNvSpPr/>
          <p:nvPr/>
        </p:nvSpPr>
        <p:spPr bwMode="auto">
          <a:xfrm>
            <a:off x="7967663" y="3663950"/>
            <a:ext cx="2447925" cy="188913"/>
          </a:xfrm>
          <a:prstGeom prst="roundRect">
            <a:avLst/>
          </a:prstGeom>
          <a:noFill/>
          <a:ln w="19050">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wrap="none" anchor="ctr"/>
          <a:lstStyle/>
          <a:p>
            <a:pPr marL="342900" marR="0" lvl="0" indent="-34290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tx1"/>
              </a:solidFill>
              <a:effectLst/>
              <a:uLnTx/>
              <a:uFillTx/>
              <a:latin typeface="Times New Roman" panose="02020603050405020304" charset="0"/>
              <a:ea typeface="+mn-ea"/>
              <a:cs typeface="+mn-cs"/>
            </a:endParaRPr>
          </a:p>
        </p:txBody>
      </p:sp>
      <p:sp>
        <p:nvSpPr>
          <p:cNvPr id="69" name="圆角矩形 68"/>
          <p:cNvSpPr/>
          <p:nvPr/>
        </p:nvSpPr>
        <p:spPr bwMode="auto">
          <a:xfrm>
            <a:off x="7967663" y="3933825"/>
            <a:ext cx="2447925" cy="188913"/>
          </a:xfrm>
          <a:prstGeom prst="roundRect">
            <a:avLst/>
          </a:prstGeom>
          <a:noFill/>
          <a:ln w="19050">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wrap="none" anchor="ctr"/>
          <a:lstStyle/>
          <a:p>
            <a:pPr marL="342900" marR="0" lvl="0" indent="-34290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tx1"/>
              </a:solidFill>
              <a:effectLst/>
              <a:uLnTx/>
              <a:uFillTx/>
              <a:latin typeface="Times New Roman" panose="02020603050405020304" charset="0"/>
              <a:ea typeface="+mn-ea"/>
              <a:cs typeface="+mn-cs"/>
            </a:endParaRPr>
          </a:p>
        </p:txBody>
      </p:sp>
      <p:graphicFrame>
        <p:nvGraphicFramePr>
          <p:cNvPr id="40" name="表格 39"/>
          <p:cNvGraphicFramePr>
            <a:graphicFrameLocks noGrp="1"/>
          </p:cNvGraphicFramePr>
          <p:nvPr/>
        </p:nvGraphicFramePr>
        <p:xfrm>
          <a:off x="5627688" y="3906838"/>
          <a:ext cx="1331595" cy="1692276"/>
        </p:xfrm>
        <a:graphic>
          <a:graphicData uri="http://schemas.openxmlformats.org/drawingml/2006/table">
            <a:tbl>
              <a:tblPr firstRow="1" bandRow="1">
                <a:tableStyleId>{5C22544A-7EE6-4342-B048-85BDC9FD1C3A}</a:tableStyleId>
              </a:tblPr>
              <a:tblGrid>
                <a:gridCol w="375920"/>
                <a:gridCol w="955675"/>
              </a:tblGrid>
              <a:tr h="282046">
                <a:tc>
                  <a:txBody>
                    <a:bodyPr/>
                    <a:lstStyle/>
                    <a:p>
                      <a:r>
                        <a:rPr lang="en-US" altLang="zh-CN" sz="1400" b="0" dirty="0">
                          <a:solidFill>
                            <a:srgbClr val="FF0000"/>
                          </a:solidFill>
                        </a:rPr>
                        <a:t>0</a:t>
                      </a:r>
                      <a:endParaRPr lang="zh-CN" altLang="en-US" sz="1400" b="0" dirty="0">
                        <a:solidFill>
                          <a:srgbClr val="FF0000"/>
                        </a:solidFill>
                      </a:endParaRPr>
                    </a:p>
                  </a:txBody>
                  <a:tcPr marL="91434" marR="91434" marT="34303" marB="34303">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zh-CN" altLang="en-US" sz="1400" dirty="0">
                        <a:solidFill>
                          <a:schemeClr val="tx1"/>
                        </a:solidFill>
                      </a:endParaRPr>
                    </a:p>
                  </a:txBody>
                  <a:tcPr marL="91434" marR="91434" marT="34303" marB="343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82046">
                <a:tc>
                  <a:txBody>
                    <a:bodyPr/>
                    <a:lstStyle/>
                    <a:p>
                      <a:r>
                        <a:rPr lang="en-US" altLang="zh-CN" sz="1400" b="0" dirty="0">
                          <a:solidFill>
                            <a:srgbClr val="FF0000"/>
                          </a:solidFill>
                        </a:rPr>
                        <a:t>1</a:t>
                      </a:r>
                      <a:endParaRPr lang="zh-CN" altLang="en-US" sz="1400" b="0" dirty="0">
                        <a:solidFill>
                          <a:srgbClr val="FF0000"/>
                        </a:solidFill>
                      </a:endParaRPr>
                    </a:p>
                  </a:txBody>
                  <a:tcPr marL="91434" marR="91434" marT="34303" marB="34303">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altLang="zh-CN" sz="1400" dirty="0">
                          <a:solidFill>
                            <a:schemeClr val="tx1"/>
                          </a:solidFill>
                        </a:rPr>
                        <a:t>a1 </a:t>
                      </a:r>
                      <a:r>
                        <a:rPr lang="en-US" altLang="zh-CN" sz="1400" dirty="0">
                          <a:solidFill>
                            <a:srgbClr val="FF0000"/>
                          </a:solidFill>
                        </a:rPr>
                        <a:t>1</a:t>
                      </a:r>
                      <a:r>
                        <a:rPr lang="en-US" altLang="zh-CN" sz="1400" dirty="0">
                          <a:solidFill>
                            <a:schemeClr val="tx1"/>
                          </a:solidFill>
                        </a:rPr>
                        <a:t> c1</a:t>
                      </a:r>
                      <a:endParaRPr lang="zh-CN" altLang="en-US" sz="1400" dirty="0">
                        <a:solidFill>
                          <a:schemeClr val="tx1"/>
                        </a:solidFill>
                      </a:endParaRPr>
                    </a:p>
                  </a:txBody>
                  <a:tcPr marL="91434" marR="91434" marT="34303" marB="343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82046">
                <a:tc>
                  <a:txBody>
                    <a:bodyPr/>
                    <a:lstStyle/>
                    <a:p>
                      <a:r>
                        <a:rPr lang="en-US" altLang="zh-CN" sz="1400" b="0" dirty="0">
                          <a:solidFill>
                            <a:srgbClr val="FF0000"/>
                          </a:solidFill>
                        </a:rPr>
                        <a:t>2</a:t>
                      </a:r>
                      <a:endParaRPr lang="zh-CN" altLang="en-US" sz="1400" b="0" dirty="0">
                        <a:solidFill>
                          <a:srgbClr val="FF0000"/>
                        </a:solidFill>
                      </a:endParaRPr>
                    </a:p>
                  </a:txBody>
                  <a:tcPr marL="91434" marR="91434" marT="34303" marB="34303">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a:solidFill>
                            <a:schemeClr val="tx1"/>
                          </a:solidFill>
                        </a:rPr>
                        <a:t>a3 </a:t>
                      </a:r>
                      <a:r>
                        <a:rPr lang="en-US" altLang="zh-CN" sz="1400" dirty="0">
                          <a:solidFill>
                            <a:srgbClr val="FF0000"/>
                          </a:solidFill>
                        </a:rPr>
                        <a:t>2</a:t>
                      </a:r>
                      <a:r>
                        <a:rPr lang="en-US" altLang="zh-CN" sz="1400" dirty="0">
                          <a:solidFill>
                            <a:schemeClr val="tx1"/>
                          </a:solidFill>
                        </a:rPr>
                        <a:t> c3</a:t>
                      </a:r>
                      <a:endParaRPr lang="zh-CN" altLang="en-US" sz="1400" dirty="0">
                        <a:solidFill>
                          <a:schemeClr val="tx1"/>
                        </a:solidFill>
                      </a:endParaRPr>
                    </a:p>
                  </a:txBody>
                  <a:tcPr marL="91434" marR="91434" marT="34303" marB="343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82046">
                <a:tc>
                  <a:txBody>
                    <a:bodyPr/>
                    <a:lstStyle/>
                    <a:p>
                      <a:r>
                        <a:rPr lang="en-US" altLang="zh-CN" sz="1400" b="0" dirty="0">
                          <a:solidFill>
                            <a:srgbClr val="FF0000"/>
                          </a:solidFill>
                        </a:rPr>
                        <a:t>3</a:t>
                      </a:r>
                      <a:endParaRPr lang="zh-CN" altLang="en-US" sz="1400" b="0" dirty="0">
                        <a:solidFill>
                          <a:srgbClr val="FF0000"/>
                        </a:solidFill>
                      </a:endParaRPr>
                    </a:p>
                  </a:txBody>
                  <a:tcPr marL="91434" marR="91434" marT="34303" marB="34303">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zh-CN" altLang="en-US" sz="1400" dirty="0">
                        <a:solidFill>
                          <a:schemeClr val="tx1"/>
                        </a:solidFill>
                      </a:endParaRPr>
                    </a:p>
                  </a:txBody>
                  <a:tcPr marL="91434" marR="91434" marT="34303" marB="343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82046">
                <a:tc>
                  <a:txBody>
                    <a:bodyPr/>
                    <a:lstStyle/>
                    <a:p>
                      <a:r>
                        <a:rPr lang="en-US" altLang="zh-CN" sz="1400" b="0" dirty="0">
                          <a:solidFill>
                            <a:srgbClr val="FF0000"/>
                          </a:solidFill>
                        </a:rPr>
                        <a:t>4</a:t>
                      </a:r>
                      <a:endParaRPr lang="zh-CN" altLang="en-US" sz="1400" b="0" dirty="0">
                        <a:solidFill>
                          <a:srgbClr val="FF0000"/>
                        </a:solidFill>
                      </a:endParaRPr>
                    </a:p>
                  </a:txBody>
                  <a:tcPr marL="91434" marR="91434" marT="34303" marB="34303">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zh-CN" altLang="en-US" sz="1400" b="1" dirty="0">
                        <a:solidFill>
                          <a:schemeClr val="tx1"/>
                        </a:solidFill>
                      </a:endParaRPr>
                    </a:p>
                  </a:txBody>
                  <a:tcPr marL="91434" marR="91434" marT="34303" marB="343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82046">
                <a:tc>
                  <a:txBody>
                    <a:bodyPr/>
                    <a:lstStyle/>
                    <a:p>
                      <a:r>
                        <a:rPr lang="en-US" altLang="zh-CN" sz="1400" b="0" dirty="0">
                          <a:solidFill>
                            <a:srgbClr val="FF0000"/>
                          </a:solidFill>
                        </a:rPr>
                        <a:t>5</a:t>
                      </a:r>
                      <a:endParaRPr lang="zh-CN" altLang="en-US" sz="1400" b="0" dirty="0">
                        <a:solidFill>
                          <a:srgbClr val="FF0000"/>
                        </a:solidFill>
                      </a:endParaRPr>
                    </a:p>
                  </a:txBody>
                  <a:tcPr marL="91434" marR="91434" marT="34303" marB="34303">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a:solidFill>
                            <a:schemeClr val="tx1"/>
                          </a:solidFill>
                        </a:rPr>
                        <a:t>a2 </a:t>
                      </a:r>
                      <a:r>
                        <a:rPr lang="en-US" altLang="zh-CN" sz="1400" dirty="0">
                          <a:solidFill>
                            <a:srgbClr val="FF0000"/>
                          </a:solidFill>
                        </a:rPr>
                        <a:t>5</a:t>
                      </a:r>
                      <a:r>
                        <a:rPr lang="en-US" altLang="zh-CN" sz="1400" dirty="0">
                          <a:solidFill>
                            <a:schemeClr val="tx1"/>
                          </a:solidFill>
                        </a:rPr>
                        <a:t> c2</a:t>
                      </a:r>
                      <a:endParaRPr lang="zh-CN" altLang="en-US" sz="1400" dirty="0">
                        <a:solidFill>
                          <a:schemeClr val="tx1"/>
                        </a:solidFill>
                      </a:endParaRPr>
                    </a:p>
                  </a:txBody>
                  <a:tcPr marL="91434" marR="91434" marT="34303" marB="343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pic>
        <p:nvPicPr>
          <p:cNvPr id="6" name="F98F3132.wav">
            <a:hlinkClick r:id="" action="ppaction://media"/>
          </p:cNvPr>
          <p:cNvPicPr>
            <a:picLocks noChangeAspect="1"/>
          </p:cNvPicPr>
          <p:nvPr>
            <a:wavAudioFile r:embed="rId1"/>
          </p:nvPr>
        </p:nvPicPr>
        <p:blipFill>
          <a:blip r:embed="rId2"/>
          <a:stretch>
            <a:fillRect/>
          </a:stretch>
        </p:blipFill>
        <p:spPr>
          <a:xfrm>
            <a:off x="9842500" y="5103813"/>
            <a:ext cx="609600" cy="457200"/>
          </a:xfrm>
          <a:prstGeom prst="rect">
            <a:avLst/>
          </a:prstGeom>
          <a:noFill/>
          <a:ln w="9525">
            <a:noFill/>
          </a:ln>
        </p:spPr>
      </p:pic>
      <p:sp>
        <p:nvSpPr>
          <p:cNvPr id="24" name="TextBox 23"/>
          <p:cNvSpPr txBox="1"/>
          <p:nvPr/>
        </p:nvSpPr>
        <p:spPr>
          <a:xfrm>
            <a:off x="5448300" y="3413125"/>
            <a:ext cx="2139950" cy="538480"/>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a:no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FF0000"/>
                </a:solidFill>
                <a:effectLst/>
                <a:uLnTx/>
                <a:uFillTx/>
                <a:latin typeface="+mn-lt"/>
                <a:ea typeface="+mn-ea"/>
                <a:cs typeface="+mn-cs"/>
              </a:rPr>
              <a:t>Hash</a:t>
            </a:r>
            <a:r>
              <a:rPr kumimoji="0" lang="zh-CN" altLang="en-US" sz="1800" b="0" i="0" u="none" strike="noStrike" kern="1200" cap="none" spc="0" normalizeH="0" baseline="0" noProof="0" dirty="0">
                <a:ln>
                  <a:noFill/>
                </a:ln>
                <a:solidFill>
                  <a:srgbClr val="FF0000"/>
                </a:solidFill>
                <a:effectLst/>
                <a:uLnTx/>
                <a:uFillTx/>
                <a:latin typeface="+mn-lt"/>
                <a:ea typeface="+mn-ea"/>
                <a:cs typeface="+mn-cs"/>
              </a:rPr>
              <a:t>表</a:t>
            </a:r>
            <a:r>
              <a:rPr kumimoji="0" lang="en-US" altLang="zh-CN" sz="1800" b="0" i="0" u="none" strike="noStrike" kern="1200" cap="none" spc="0" normalizeH="0" baseline="0" noProof="0" dirty="0">
                <a:ln>
                  <a:noFill/>
                </a:ln>
                <a:solidFill>
                  <a:srgbClr val="FF0000"/>
                </a:solidFill>
                <a:effectLst/>
                <a:uLnTx/>
                <a:uFillTx/>
                <a:latin typeface="+mn-lt"/>
                <a:ea typeface="+mn-ea"/>
                <a:cs typeface="+mn-cs"/>
              </a:rPr>
              <a:t>(</a:t>
            </a:r>
            <a:r>
              <a:rPr kumimoji="0" lang="en-US" altLang="zh-CN" sz="1800" b="0" i="0" u="none" strike="noStrike" kern="1200" cap="none" spc="0" normalizeH="0" baseline="0" noProof="0" dirty="0" err="1">
                <a:ln>
                  <a:noFill/>
                </a:ln>
                <a:solidFill>
                  <a:srgbClr val="FF0000"/>
                </a:solidFill>
                <a:effectLst/>
                <a:uLnTx/>
                <a:uFillTx/>
                <a:latin typeface="+mn-lt"/>
                <a:ea typeface="+mn-ea"/>
                <a:cs typeface="+mn-cs"/>
              </a:rPr>
              <a:t>Bmod</a:t>
            </a:r>
            <a:r>
              <a:rPr kumimoji="0" lang="en-US" altLang="zh-CN" sz="1800" b="0" i="0" u="none" strike="noStrike" kern="1200" cap="none" spc="0" normalizeH="0" baseline="0" noProof="0" dirty="0">
                <a:ln>
                  <a:noFill/>
                </a:ln>
                <a:solidFill>
                  <a:srgbClr val="FF0000"/>
                </a:solidFill>
                <a:effectLst/>
                <a:uLnTx/>
                <a:uFillTx/>
                <a:latin typeface="+mn-lt"/>
                <a:ea typeface="+mn-ea"/>
                <a:cs typeface="+mn-cs"/>
              </a:rPr>
              <a:t> 6)</a:t>
            </a:r>
            <a:endParaRPr kumimoji="0" lang="zh-CN" altLang="en-US" sz="1800" b="0" i="0" u="none" strike="noStrike" kern="1200" cap="none" spc="0" normalizeH="0" baseline="0" noProof="0" dirty="0">
              <a:ln>
                <a:noFill/>
              </a:ln>
              <a:solidFill>
                <a:srgbClr val="FF0000"/>
              </a:solidFill>
              <a:effectLst/>
              <a:uLnTx/>
              <a:uFillTx/>
              <a:latin typeface="+mn-lt"/>
              <a:ea typeface="+mn-ea"/>
              <a:cs typeface="+mn-cs"/>
            </a:endParaRPr>
          </a:p>
        </p:txBody>
      </p:sp>
    </p:spTree>
    <p:custDataLst>
      <p:tags r:id="rId3"/>
    </p:custDataLst>
  </p:cSld>
  <p:clrMapOvr>
    <a:masterClrMapping/>
  </p:clrMapOvr>
  <p:transition spd="slow" advTm="9747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wipe(left)">
                                      <p:cBhvr>
                                        <p:cTn id="27" dur="500"/>
                                        <p:tgtEl>
                                          <p:spTgt spid="40"/>
                                        </p:tgtEl>
                                      </p:cBhvr>
                                    </p:animEffect>
                                  </p:childTnLst>
                                </p:cTn>
                              </p:par>
                            </p:childTnLst>
                          </p:cTn>
                        </p:par>
                      </p:childTnLst>
                    </p:cTn>
                  </p:par>
                  <p:par>
                    <p:cTn id="28" fill="hold">
                      <p:stCondLst>
                        <p:cond delay="indefinite"/>
                      </p:stCondLst>
                      <p:childTnLst>
                        <p:par>
                          <p:cTn id="29" fill="hold">
                            <p:stCondLst>
                              <p:cond delay="0"/>
                            </p:stCondLst>
                            <p:childTnLst>
                              <p:par>
                                <p:cTn id="30" presetID="0" presetClass="path" presetSubtype="0" accel="50000" decel="50000" fill="hold" nodeType="clickEffect">
                                  <p:stCondLst>
                                    <p:cond delay="0"/>
                                  </p:stCondLst>
                                  <p:childTnLst>
                                    <p:animMotion origin="layout" path="M 0 -0.000185185 L 0.0015625 -0.151019 " pathEditMode="relative" rAng="0" ptsTypes="">
                                      <p:cBhvr>
                                        <p:cTn id="31" dur="2000" fill="hold"/>
                                        <p:tgtEl>
                                          <p:spTgt spid="40"/>
                                        </p:tgtEl>
                                        <p:attrNameLst>
                                          <p:attrName>ppt_x</p:attrName>
                                          <p:attrName>ppt_y</p:attrName>
                                        </p:attrNameLst>
                                      </p:cBhvr>
                                      <p:rCtr x="1" y="-75"/>
                                    </p:animMotion>
                                  </p:childTnLst>
                                </p:cTn>
                              </p:par>
                              <p:par>
                                <p:cTn id="32" presetID="0" presetClass="path" presetSubtype="0" accel="50000" decel="50000" fill="hold" grpId="1" nodeType="withEffect">
                                  <p:stCondLst>
                                    <p:cond delay="0"/>
                                  </p:stCondLst>
                                  <p:childTnLst>
                                    <p:animMotion origin="layout" path="M 0 0 L 0.00017 -0.22567 " pathEditMode="relative" ptsTypes="AA">
                                      <p:cBhvr>
                                        <p:cTn id="33" dur="2000" fill="hold"/>
                                        <p:tgtEl>
                                          <p:spTgt spid="24"/>
                                        </p:tgtEl>
                                        <p:attrNameLst>
                                          <p:attrName>ppt_x</p:attrName>
                                          <p:attrName>ppt_y</p:attrName>
                                        </p:attrNameLst>
                                      </p:cBhvr>
                                    </p:animMotion>
                                  </p:childTnLst>
                                </p:cTn>
                              </p:par>
                              <p:par>
                                <p:cTn id="34" presetID="22" presetClass="exit" presetSubtype="4" fill="hold" nodeType="withEffect">
                                  <p:stCondLst>
                                    <p:cond delay="0"/>
                                  </p:stCondLst>
                                  <p:childTnLst>
                                    <p:animEffect transition="out" filter="wipe(down)">
                                      <p:cBhvr>
                                        <p:cTn id="35" dur="500"/>
                                        <p:tgtEl>
                                          <p:spTgt spid="13"/>
                                        </p:tgtEl>
                                      </p:cBhvr>
                                    </p:animEffect>
                                    <p:set>
                                      <p:cBhvr>
                                        <p:cTn id="36" dur="1" fill="hold">
                                          <p:stCondLst>
                                            <p:cond delay="499"/>
                                          </p:stCondLst>
                                        </p:cTn>
                                        <p:tgtEl>
                                          <p:spTgt spid="13"/>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nodeType="clickEffect">
                                  <p:stCondLst>
                                    <p:cond delay="0"/>
                                  </p:stCondLst>
                                  <p:childTnLst>
                                    <p:set>
                                      <p:cBhvr>
                                        <p:cTn id="56" dur="1" fill="hold">
                                          <p:stCondLst>
                                            <p:cond delay="0"/>
                                          </p:stCondLst>
                                        </p:cTn>
                                        <p:tgtEl>
                                          <p:spTgt spid="5"/>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56"/>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66"/>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nodeType="clickEffect">
                                  <p:stCondLst>
                                    <p:cond delay="0"/>
                                  </p:stCondLst>
                                  <p:childTnLst>
                                    <p:set>
                                      <p:cBhvr>
                                        <p:cTn id="68" dur="1" fill="hold">
                                          <p:stCondLst>
                                            <p:cond delay="0"/>
                                          </p:stCondLst>
                                        </p:cTn>
                                        <p:tgtEl>
                                          <p:spTgt spid="25"/>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2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6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6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0"/>
                                          </p:stCondLst>
                                        </p:cTn>
                                        <p:tgtEl>
                                          <p:spTgt spid="26"/>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0"/>
                                          </p:stCondLst>
                                        </p:cTn>
                                        <p:tgtEl>
                                          <p:spTgt spid="63"/>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67"/>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28"/>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58"/>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68"/>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nodeType="clickEffect">
                                  <p:stCondLst>
                                    <p:cond delay="0"/>
                                  </p:stCondLst>
                                  <p:childTnLst>
                                    <p:set>
                                      <p:cBhvr>
                                        <p:cTn id="100" dur="1" fill="hold">
                                          <p:stCondLst>
                                            <p:cond delay="0"/>
                                          </p:stCondLst>
                                        </p:cTn>
                                        <p:tgtEl>
                                          <p:spTgt spid="28"/>
                                        </p:tgtEl>
                                        <p:attrNameLst>
                                          <p:attrName>style.visibility</p:attrName>
                                        </p:attrNameLst>
                                      </p:cBhvr>
                                      <p:to>
                                        <p:strVal val="hidden"/>
                                      </p:to>
                                    </p:set>
                                  </p:childTnLst>
                                </p:cTn>
                              </p:par>
                              <p:par>
                                <p:cTn id="101" presetID="1" presetClass="exit" presetSubtype="0" fill="hold" nodeType="withEffect">
                                  <p:stCondLst>
                                    <p:cond delay="0"/>
                                  </p:stCondLst>
                                  <p:childTnLst>
                                    <p:set>
                                      <p:cBhvr>
                                        <p:cTn id="102" dur="1" fill="hold">
                                          <p:stCondLst>
                                            <p:cond delay="0"/>
                                          </p:stCondLst>
                                        </p:cTn>
                                        <p:tgtEl>
                                          <p:spTgt spid="58"/>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6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29"/>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nodeType="clickEffect">
                                  <p:stCondLst>
                                    <p:cond delay="0"/>
                                  </p:stCondLst>
                                  <p:childTnLst>
                                    <p:set>
                                      <p:cBhvr>
                                        <p:cTn id="112" dur="1" fill="hold">
                                          <p:stCondLst>
                                            <p:cond delay="0"/>
                                          </p:stCondLst>
                                        </p:cTn>
                                        <p:tgtEl>
                                          <p:spTgt spid="29"/>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30"/>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xit" presetSubtype="0" fill="hold" nodeType="clickEffect">
                                  <p:stCondLst>
                                    <p:cond delay="0"/>
                                  </p:stCondLst>
                                  <p:childTnLst>
                                    <p:set>
                                      <p:cBhvr>
                                        <p:cTn id="120" dur="1" fill="hold">
                                          <p:stCondLst>
                                            <p:cond delay="0"/>
                                          </p:stCondLst>
                                        </p:cTn>
                                        <p:tgtEl>
                                          <p:spTgt spid="30"/>
                                        </p:tgtEl>
                                        <p:attrNameLst>
                                          <p:attrName>style.visibility</p:attrName>
                                        </p:attrNameLst>
                                      </p:cBhvr>
                                      <p:to>
                                        <p:strVal val="hidden"/>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31"/>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60"/>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69"/>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xit" presetSubtype="0" fill="hold" nodeType="clickEffect">
                                  <p:stCondLst>
                                    <p:cond delay="0"/>
                                  </p:stCondLst>
                                  <p:childTnLst>
                                    <p:set>
                                      <p:cBhvr>
                                        <p:cTn id="132" dur="1" fill="hold">
                                          <p:stCondLst>
                                            <p:cond delay="0"/>
                                          </p:stCondLst>
                                        </p:cTn>
                                        <p:tgtEl>
                                          <p:spTgt spid="31"/>
                                        </p:tgtEl>
                                        <p:attrNameLst>
                                          <p:attrName>style.visibility</p:attrName>
                                        </p:attrNameLst>
                                      </p:cBhvr>
                                      <p:to>
                                        <p:strVal val="hidden"/>
                                      </p:to>
                                    </p:set>
                                  </p:childTnLst>
                                </p:cTn>
                              </p:par>
                              <p:par>
                                <p:cTn id="133" presetID="1" presetClass="exit" presetSubtype="0" fill="hold" nodeType="withEffect">
                                  <p:stCondLst>
                                    <p:cond delay="0"/>
                                  </p:stCondLst>
                                  <p:childTnLst>
                                    <p:set>
                                      <p:cBhvr>
                                        <p:cTn id="134" dur="1" fill="hold">
                                          <p:stCondLst>
                                            <p:cond delay="0"/>
                                          </p:stCondLst>
                                        </p:cTn>
                                        <p:tgtEl>
                                          <p:spTgt spid="60"/>
                                        </p:tgtEl>
                                        <p:attrNameLst>
                                          <p:attrName>style.visibility</p:attrName>
                                        </p:attrNameLst>
                                      </p:cBhvr>
                                      <p:to>
                                        <p:strVal val="hidden"/>
                                      </p:to>
                                    </p:set>
                                  </p:childTnLst>
                                </p:cTn>
                              </p:par>
                              <p:par>
                                <p:cTn id="135" presetID="1" presetClass="exit" presetSubtype="0" fill="hold" grpId="1" nodeType="withEffect">
                                  <p:stCondLst>
                                    <p:cond delay="0"/>
                                  </p:stCondLst>
                                  <p:childTnLst>
                                    <p:set>
                                      <p:cBhvr>
                                        <p:cTn id="136" dur="1" fill="hold">
                                          <p:stCondLst>
                                            <p:cond delay="0"/>
                                          </p:stCondLst>
                                        </p:cTn>
                                        <p:tgtEl>
                                          <p:spTgt spid="69"/>
                                        </p:tgtEl>
                                        <p:attrNameLst>
                                          <p:attrName>style.visibility</p:attrName>
                                        </p:attrNameLst>
                                      </p:cBhvr>
                                      <p:to>
                                        <p:strVal val="hidden"/>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32"/>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xit" presetSubtype="0" fill="hold" nodeType="clickEffect">
                                  <p:stCondLst>
                                    <p:cond delay="0"/>
                                  </p:stCondLst>
                                  <p:childTnLst>
                                    <p:set>
                                      <p:cBhvr>
                                        <p:cTn id="144" dur="1" fill="hold">
                                          <p:stCondLst>
                                            <p:cond delay="0"/>
                                          </p:stCondLst>
                                        </p:cTn>
                                        <p:tgtEl>
                                          <p:spTgt spid="32"/>
                                        </p:tgtEl>
                                        <p:attrNameLst>
                                          <p:attrName>style.visibility</p:attrName>
                                        </p:attrNameLst>
                                      </p:cBhvr>
                                      <p:to>
                                        <p:strVal val="hidden"/>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33"/>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xit" presetSubtype="0" fill="hold" nodeType="clickEffect">
                                  <p:stCondLst>
                                    <p:cond delay="0"/>
                                  </p:stCondLst>
                                  <p:childTnLst>
                                    <p:set>
                                      <p:cBhvr>
                                        <p:cTn id="152" dur="1" fill="hold">
                                          <p:stCondLst>
                                            <p:cond delay="0"/>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53" fill="hold" display="0">
                  <p:stCondLst>
                    <p:cond delay="indefinite"/>
                  </p:stCondLst>
                  <p:endCondLst>
                    <p:cond evt="onStopAudio" delay="0">
                      <p:tgtEl>
                        <p:sldTgt/>
                      </p:tgtEl>
                    </p:cond>
                  </p:endCondLst>
                </p:cTn>
                <p:tgtEl>
                  <p:spTgt spid="6"/>
                </p:tgtEl>
              </p:cMediaNode>
            </p:audio>
          </p:childTnLst>
        </p:cTn>
      </p:par>
    </p:tnLst>
    <p:bldLst>
      <p:bldP spid="24" grpId="0" bldLvl="0" animBg="1"/>
      <p:bldP spid="24" grpId="1" bldLvl="0" animBg="1"/>
      <p:bldP spid="36" grpId="0"/>
      <p:bldP spid="37" grpId="0"/>
      <p:bldP spid="38" grpId="0"/>
      <p:bldP spid="39" grpId="0"/>
      <p:bldP spid="66" grpId="0" bldLvl="0" animBg="1"/>
      <p:bldP spid="66" grpId="1" bldLvl="0" animBg="1"/>
      <p:bldP spid="67" grpId="0" bldLvl="0" animBg="1"/>
      <p:bldP spid="67" grpId="1" bldLvl="0" animBg="1"/>
      <p:bldP spid="68" grpId="0" bldLvl="0" animBg="1"/>
      <p:bldP spid="68" grpId="1" bldLvl="0" animBg="1"/>
      <p:bldP spid="69" grpId="0" bldLvl="0" animBg="1"/>
      <p:bldP spid="69" grpId="1"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标题 1"/>
          <p:cNvSpPr>
            <a:spLocks noGrp="1"/>
          </p:cNvSpPr>
          <p:nvPr>
            <p:ph type="title"/>
          </p:nvPr>
        </p:nvSpPr>
        <p:spPr/>
        <p:txBody>
          <a:bodyPr vert="horz" wrap="square" lIns="91440" tIns="45720" rIns="91440" bIns="45720" anchor="ctr" anchorCtr="0"/>
          <a:p>
            <a:r>
              <a:rPr lang="zh-CN" altLang="zh-CN" sz="3600" dirty="0">
                <a:sym typeface="宋体" panose="02010600030101010101" pitchFamily="2" charset="-122"/>
              </a:rPr>
              <a:t>第</a:t>
            </a:r>
            <a:r>
              <a:rPr lang="zh-CN" altLang="en-US" sz="3600" dirty="0">
                <a:sym typeface="宋体" panose="02010600030101010101" pitchFamily="2" charset="-122"/>
              </a:rPr>
              <a:t>十</a:t>
            </a:r>
            <a:r>
              <a:rPr lang="zh-CN" altLang="zh-CN" sz="3600" dirty="0">
                <a:sym typeface="宋体" panose="02010600030101010101" pitchFamily="2" charset="-122"/>
              </a:rPr>
              <a:t>章</a:t>
            </a:r>
            <a:r>
              <a:rPr lang="zh-CN" altLang="zh-CN" sz="3600" dirty="0"/>
              <a:t>  </a:t>
            </a:r>
            <a:r>
              <a:rPr lang="zh-CN" altLang="zh-CN" sz="3600" dirty="0">
                <a:sym typeface="宋体" panose="02010600030101010101" pitchFamily="2" charset="-122"/>
              </a:rPr>
              <a:t>关系</a:t>
            </a:r>
            <a:r>
              <a:rPr lang="zh-CN" altLang="en-US" sz="3600" dirty="0">
                <a:sym typeface="宋体" panose="02010600030101010101" pitchFamily="2" charset="-122"/>
              </a:rPr>
              <a:t>查询处理和查询</a:t>
            </a:r>
            <a:r>
              <a:rPr lang="zh-CN" altLang="zh-CN" sz="3600" dirty="0">
                <a:sym typeface="宋体" panose="02010600030101010101" pitchFamily="2" charset="-122"/>
              </a:rPr>
              <a:t>优化</a:t>
            </a:r>
            <a:endParaRPr lang="zh-CN" altLang="en-US" sz="3600" dirty="0"/>
          </a:p>
        </p:txBody>
      </p:sp>
      <p:sp>
        <p:nvSpPr>
          <p:cNvPr id="33795" name="内容占位符 2"/>
          <p:cNvSpPr>
            <a:spLocks noGrp="1"/>
          </p:cNvSpPr>
          <p:nvPr>
            <p:ph idx="1"/>
          </p:nvPr>
        </p:nvSpPr>
        <p:spPr>
          <a:xfrm>
            <a:off x="839788" y="1196975"/>
            <a:ext cx="10972800" cy="4854575"/>
          </a:xfrm>
        </p:spPr>
        <p:txBody>
          <a:bodyPr vert="horz" wrap="square" lIns="91440" tIns="45720" rIns="91440" bIns="45720" anchor="t" anchorCtr="0"/>
          <a:p>
            <a:pPr lvl="1" eaLnBrk="1" hangingPunct="1">
              <a:lnSpc>
                <a:spcPct val="140000"/>
              </a:lnSpc>
              <a:buNone/>
            </a:pPr>
            <a:r>
              <a:rPr lang="en-US" altLang="zh-CN" sz="2800" dirty="0"/>
              <a:t>10.1 </a:t>
            </a:r>
            <a:r>
              <a:rPr lang="zh-CN" altLang="en-US" sz="2800" dirty="0"/>
              <a:t>关系数据库系统的查询处理 </a:t>
            </a:r>
            <a:endParaRPr lang="zh-CN" altLang="en-US" sz="2800" dirty="0"/>
          </a:p>
          <a:p>
            <a:pPr lvl="1" eaLnBrk="1" hangingPunct="1">
              <a:lnSpc>
                <a:spcPct val="140000"/>
              </a:lnSpc>
              <a:buNone/>
            </a:pPr>
            <a:r>
              <a:rPr lang="en-US" altLang="zh-CN" sz="2800" dirty="0">
                <a:solidFill>
                  <a:srgbClr val="0066FF"/>
                </a:solidFill>
              </a:rPr>
              <a:t>10.2 </a:t>
            </a:r>
            <a:r>
              <a:rPr lang="zh-CN" altLang="en-US" sz="2800" dirty="0">
                <a:solidFill>
                  <a:srgbClr val="0066FF"/>
                </a:solidFill>
              </a:rPr>
              <a:t>关系数据库系统的查询优化 </a:t>
            </a:r>
            <a:endParaRPr lang="zh-CN" altLang="en-US" sz="2800" dirty="0">
              <a:solidFill>
                <a:srgbClr val="0066FF"/>
              </a:solidFill>
            </a:endParaRPr>
          </a:p>
          <a:p>
            <a:pPr lvl="1" eaLnBrk="1" hangingPunct="1">
              <a:lnSpc>
                <a:spcPct val="140000"/>
              </a:lnSpc>
              <a:buNone/>
            </a:pPr>
            <a:r>
              <a:rPr lang="en-US" altLang="zh-CN" sz="2800" dirty="0"/>
              <a:t>10.3 </a:t>
            </a:r>
            <a:r>
              <a:rPr lang="zh-CN" altLang="en-US" sz="2800" dirty="0"/>
              <a:t>代数优化 </a:t>
            </a:r>
            <a:endParaRPr lang="zh-CN" altLang="en-US" sz="2800" dirty="0"/>
          </a:p>
          <a:p>
            <a:pPr lvl="1" eaLnBrk="1" hangingPunct="1">
              <a:lnSpc>
                <a:spcPct val="140000"/>
              </a:lnSpc>
              <a:buNone/>
            </a:pPr>
            <a:r>
              <a:rPr lang="en-US" altLang="zh-CN" sz="2800" dirty="0"/>
              <a:t>10.4 </a:t>
            </a:r>
            <a:r>
              <a:rPr lang="zh-CN" altLang="en-US" sz="2800" dirty="0"/>
              <a:t>物理优化 </a:t>
            </a:r>
            <a:endParaRPr lang="zh-CN" altLang="en-US" sz="2800" dirty="0"/>
          </a:p>
          <a:p>
            <a:pPr lvl="1" eaLnBrk="1" hangingPunct="1">
              <a:lnSpc>
                <a:spcPct val="140000"/>
              </a:lnSpc>
              <a:buNone/>
            </a:pPr>
            <a:r>
              <a:rPr lang="en-US" altLang="zh-CN" sz="2800" dirty="0"/>
              <a:t>*10.5 </a:t>
            </a:r>
            <a:r>
              <a:rPr lang="zh-CN" altLang="en-US" sz="2800" dirty="0"/>
              <a:t>查询计划的执行</a:t>
            </a:r>
            <a:endParaRPr lang="zh-CN" altLang="en-US" sz="2800" dirty="0"/>
          </a:p>
          <a:p>
            <a:pPr lvl="1" eaLnBrk="1" hangingPunct="1">
              <a:lnSpc>
                <a:spcPct val="140000"/>
              </a:lnSpc>
              <a:buNone/>
            </a:pPr>
            <a:r>
              <a:rPr lang="en-US" altLang="zh-CN" sz="2800" dirty="0"/>
              <a:t>10.6 </a:t>
            </a:r>
            <a:r>
              <a:rPr lang="zh-CN" altLang="en-US" sz="2800" dirty="0"/>
              <a:t>小 结 </a:t>
            </a:r>
            <a:endParaRPr lang="zh-CN" altLang="en-US" sz="2800" dirty="0"/>
          </a:p>
          <a:p>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标题 1"/>
          <p:cNvSpPr>
            <a:spLocks noGrp="1"/>
          </p:cNvSpPr>
          <p:nvPr>
            <p:ph type="title"/>
          </p:nvPr>
        </p:nvSpPr>
        <p:spPr/>
        <p:txBody>
          <a:bodyPr vert="horz" wrap="square" lIns="91440" tIns="45720" rIns="91440" bIns="45720" anchor="ctr" anchorCtr="0"/>
          <a:p>
            <a:r>
              <a:rPr lang="en-US" altLang="zh-CN" sz="3600" dirty="0"/>
              <a:t>10.2 </a:t>
            </a:r>
            <a:r>
              <a:rPr lang="zh-CN" altLang="en-US" sz="3600" dirty="0"/>
              <a:t>关系数据库系统的查询优化</a:t>
            </a:r>
            <a:endParaRPr lang="zh-CN" altLang="en-US" sz="3600" dirty="0"/>
          </a:p>
        </p:txBody>
      </p:sp>
      <p:sp>
        <p:nvSpPr>
          <p:cNvPr id="34819" name="内容占位符 2"/>
          <p:cNvSpPr>
            <a:spLocks noGrp="1"/>
          </p:cNvSpPr>
          <p:nvPr>
            <p:ph idx="1"/>
          </p:nvPr>
        </p:nvSpPr>
        <p:spPr>
          <a:xfrm>
            <a:off x="982663" y="1268413"/>
            <a:ext cx="10442575" cy="4997450"/>
          </a:xfrm>
        </p:spPr>
        <p:txBody>
          <a:bodyPr vert="horz" wrap="square" lIns="91440" tIns="45720" rIns="91440" bIns="45720" anchor="t" anchorCtr="0"/>
          <a:p>
            <a:pPr>
              <a:lnSpc>
                <a:spcPct val="150000"/>
              </a:lnSpc>
            </a:pPr>
            <a:r>
              <a:rPr lang="zh-CN" altLang="en-US" dirty="0"/>
              <a:t>查询优化在关系数据库系统中有着非常重要的地位 </a:t>
            </a:r>
            <a:endParaRPr lang="zh-CN" altLang="en-US" dirty="0"/>
          </a:p>
          <a:p>
            <a:pPr>
              <a:lnSpc>
                <a:spcPct val="150000"/>
              </a:lnSpc>
            </a:pPr>
            <a:r>
              <a:rPr lang="zh-CN" altLang="en-US" dirty="0"/>
              <a:t>关系查询优化是影响关系数据库管理系统性能的关键因素 </a:t>
            </a:r>
            <a:endParaRPr lang="zh-CN" altLang="en-US" dirty="0"/>
          </a:p>
          <a:p>
            <a:pPr>
              <a:lnSpc>
                <a:spcPct val="150000"/>
              </a:lnSpc>
            </a:pPr>
            <a:r>
              <a:rPr lang="zh-CN" altLang="en-US" dirty="0"/>
              <a:t>由于关系表达式的语义级别很高，使关系系统可以从关系表达式中分析查询语义，提供了执行查询优化的可能性  </a:t>
            </a:r>
            <a:endParaRPr lang="zh-CN" altLang="en-US" dirty="0"/>
          </a:p>
          <a:p>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1"/>
          <p:cNvSpPr>
            <a:spLocks noGrp="1"/>
          </p:cNvSpPr>
          <p:nvPr>
            <p:ph type="title"/>
          </p:nvPr>
        </p:nvSpPr>
        <p:spPr/>
        <p:txBody>
          <a:bodyPr vert="horz" wrap="square" lIns="91440" tIns="45720" rIns="91440" bIns="45720" anchor="ctr" anchorCtr="0"/>
          <a:p>
            <a:r>
              <a:rPr lang="en-US" altLang="zh-CN" sz="3600" dirty="0"/>
              <a:t>10.2 </a:t>
            </a:r>
            <a:r>
              <a:rPr lang="zh-CN" altLang="en-US" sz="3600" dirty="0"/>
              <a:t>关系数据库系统的查询优化</a:t>
            </a:r>
            <a:endParaRPr lang="zh-CN" altLang="en-US" sz="3600" dirty="0"/>
          </a:p>
        </p:txBody>
      </p:sp>
      <p:sp>
        <p:nvSpPr>
          <p:cNvPr id="3" name="内容占位符 2"/>
          <p:cNvSpPr>
            <a:spLocks noGrp="1"/>
          </p:cNvSpPr>
          <p:nvPr>
            <p:ph idx="1"/>
          </p:nvPr>
        </p:nvSpPr>
        <p:spPr>
          <a:xfrm>
            <a:off x="1271588" y="1398588"/>
            <a:ext cx="9648825" cy="3887788"/>
          </a:xfrm>
        </p:spPr>
        <p:txBody>
          <a:bodyPr vert="horz" wrap="square" lIns="91440" tIns="45720" rIns="91440" bIns="45720" numCol="1" anchor="t" anchorCtr="0" compatLnSpc="1"/>
          <a:lstStyle/>
          <a:p>
            <a:pPr marL="0" marR="0" lvl="0" indent="0" algn="l" defTabSz="914400" rtl="0" eaLnBrk="0" fontAlgn="base" latinLnBrk="0" hangingPunct="0">
              <a:lnSpc>
                <a:spcPct val="15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rgbClr val="00B050"/>
                </a:solidFill>
                <a:effectLst/>
                <a:uLnTx/>
                <a:uFillTx/>
                <a:latin typeface="+mn-lt"/>
                <a:ea typeface="+mn-ea"/>
                <a:cs typeface="+mn-cs"/>
              </a:rPr>
              <a:t>10.2.1</a:t>
            </a:r>
            <a:r>
              <a:rPr kumimoji="0" lang="zh-CN" altLang="en-US" sz="2800" b="1" i="0" u="none" strike="noStrike" kern="0" cap="none" spc="0" normalizeH="0" baseline="0" noProof="0" dirty="0">
                <a:ln>
                  <a:noFill/>
                </a:ln>
                <a:solidFill>
                  <a:srgbClr val="00B050"/>
                </a:solidFill>
                <a:effectLst/>
                <a:uLnTx/>
                <a:uFillTx/>
                <a:latin typeface="+mn-lt"/>
                <a:ea typeface="+mn-ea"/>
                <a:cs typeface="+mn-cs"/>
              </a:rPr>
              <a:t>查询优化概述</a:t>
            </a:r>
            <a:endParaRPr kumimoji="0" lang="zh-CN" altLang="en-US" sz="2800" b="1" i="0" u="none" strike="noStrike" kern="0" cap="none" spc="0" normalizeH="0" baseline="0" noProof="0" dirty="0">
              <a:ln>
                <a:noFill/>
              </a:ln>
              <a:solidFill>
                <a:srgbClr val="00B050"/>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10.2.2</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一个实例</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1"/>
          <p:cNvSpPr>
            <a:spLocks noGrp="1"/>
          </p:cNvSpPr>
          <p:nvPr>
            <p:ph type="title"/>
          </p:nvPr>
        </p:nvSpPr>
        <p:spPr/>
        <p:txBody>
          <a:bodyPr vert="horz" wrap="square" lIns="91440" tIns="45720" rIns="91440" bIns="45720" anchor="ctr" anchorCtr="0"/>
          <a:p>
            <a:r>
              <a:rPr lang="en-US" altLang="zh-CN" sz="3600" dirty="0"/>
              <a:t>10.2.1 </a:t>
            </a:r>
            <a:r>
              <a:rPr lang="zh-CN" altLang="en-US" sz="3600" dirty="0"/>
              <a:t>查询优化概述</a:t>
            </a:r>
            <a:endParaRPr lang="zh-CN" altLang="en-US" sz="3600" dirty="0"/>
          </a:p>
        </p:txBody>
      </p:sp>
      <p:sp>
        <p:nvSpPr>
          <p:cNvPr id="36867" name="内容占位符 2"/>
          <p:cNvSpPr>
            <a:spLocks noGrp="1"/>
          </p:cNvSpPr>
          <p:nvPr>
            <p:ph idx="1"/>
          </p:nvPr>
        </p:nvSpPr>
        <p:spPr>
          <a:xfrm>
            <a:off x="1200150" y="1557338"/>
            <a:ext cx="9504363" cy="4997450"/>
          </a:xfrm>
        </p:spPr>
        <p:txBody>
          <a:bodyPr vert="horz" wrap="square" lIns="91440" tIns="45720" rIns="91440" bIns="45720" anchor="t" anchorCtr="0"/>
          <a:p>
            <a:pPr>
              <a:lnSpc>
                <a:spcPct val="120000"/>
              </a:lnSpc>
            </a:pPr>
            <a:r>
              <a:rPr lang="zh-CN" altLang="en-US" dirty="0"/>
              <a:t>关系系统的查询优化</a:t>
            </a:r>
            <a:endParaRPr lang="zh-CN" altLang="en-US" dirty="0"/>
          </a:p>
          <a:p>
            <a:pPr lvl="1">
              <a:lnSpc>
                <a:spcPct val="120000"/>
              </a:lnSpc>
            </a:pPr>
            <a:r>
              <a:rPr lang="zh-CN" altLang="en-US" dirty="0"/>
              <a:t>是关系数据库管理系统实现的关键技术</a:t>
            </a:r>
            <a:endParaRPr lang="en-US" altLang="zh-CN" dirty="0"/>
          </a:p>
          <a:p>
            <a:pPr lvl="1">
              <a:lnSpc>
                <a:spcPct val="120000"/>
              </a:lnSpc>
            </a:pPr>
            <a:r>
              <a:rPr lang="zh-CN" altLang="en-US" dirty="0"/>
              <a:t>是关系系统的优点所在</a:t>
            </a:r>
            <a:endParaRPr lang="en-US" altLang="zh-CN" dirty="0"/>
          </a:p>
          <a:p>
            <a:pPr lvl="1">
              <a:lnSpc>
                <a:spcPct val="120000"/>
              </a:lnSpc>
            </a:pPr>
            <a:r>
              <a:rPr lang="zh-CN" altLang="en-US" dirty="0"/>
              <a:t>减轻了用户选择存取路径的负担 </a:t>
            </a:r>
            <a:endParaRPr lang="zh-CN" altLang="en-US" dirty="0"/>
          </a:p>
          <a:p>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1"/>
          <p:cNvSpPr>
            <a:spLocks noGrp="1"/>
          </p:cNvSpPr>
          <p:nvPr>
            <p:ph type="title"/>
          </p:nvPr>
        </p:nvSpPr>
        <p:spPr/>
        <p:txBody>
          <a:bodyPr vert="horz" wrap="square" lIns="91440" tIns="45720" rIns="91440" bIns="45720" anchor="ctr" anchorCtr="0"/>
          <a:p>
            <a:r>
              <a:rPr lang="zh-CN" altLang="en-US" sz="3600" dirty="0"/>
              <a:t>查询优化概述（续）</a:t>
            </a:r>
            <a:endParaRPr lang="zh-CN" altLang="en-US" sz="3600" dirty="0"/>
          </a:p>
        </p:txBody>
      </p:sp>
      <p:sp>
        <p:nvSpPr>
          <p:cNvPr id="37891" name="内容占位符 2"/>
          <p:cNvSpPr>
            <a:spLocks noGrp="1"/>
          </p:cNvSpPr>
          <p:nvPr>
            <p:ph idx="1"/>
          </p:nvPr>
        </p:nvSpPr>
        <p:spPr>
          <a:xfrm>
            <a:off x="1127125" y="1412875"/>
            <a:ext cx="9937750" cy="4997450"/>
          </a:xfrm>
        </p:spPr>
        <p:txBody>
          <a:bodyPr vert="horz" wrap="square" lIns="91440" tIns="45720" rIns="91440" bIns="45720" anchor="t" anchorCtr="0"/>
          <a:p>
            <a:pPr>
              <a:lnSpc>
                <a:spcPct val="120000"/>
              </a:lnSpc>
            </a:pPr>
            <a:r>
              <a:rPr lang="zh-CN" altLang="en-US" dirty="0"/>
              <a:t>非关系系统</a:t>
            </a:r>
            <a:endParaRPr lang="zh-CN" altLang="en-US" dirty="0"/>
          </a:p>
          <a:p>
            <a:pPr lvl="1">
              <a:lnSpc>
                <a:spcPct val="120000"/>
              </a:lnSpc>
            </a:pPr>
            <a:r>
              <a:rPr lang="zh-CN" altLang="en-US" dirty="0"/>
              <a:t>用户使用过程化的语言表达查询要求，执行何种记录级的操作，以及操作的序列是由用户来决定的 </a:t>
            </a:r>
            <a:endParaRPr lang="zh-CN" altLang="en-US" dirty="0"/>
          </a:p>
          <a:p>
            <a:pPr lvl="1">
              <a:lnSpc>
                <a:spcPct val="120000"/>
              </a:lnSpc>
            </a:pPr>
            <a:r>
              <a:rPr lang="zh-CN" altLang="en-US" dirty="0"/>
              <a:t>用户必须了解存取路径，系统要提供用户选择存取路径的手段，查询效率由用户的存取策略决定</a:t>
            </a:r>
            <a:endParaRPr lang="zh-CN" altLang="en-US" dirty="0"/>
          </a:p>
          <a:p>
            <a:pPr lvl="1">
              <a:lnSpc>
                <a:spcPct val="120000"/>
              </a:lnSpc>
            </a:pPr>
            <a:r>
              <a:rPr lang="zh-CN" altLang="en-US" dirty="0"/>
              <a:t>如果用户做了不当的选择，系统是无法对此加以改进的</a:t>
            </a:r>
            <a:endParaRPr lang="zh-CN" altLang="en-US" dirty="0"/>
          </a:p>
          <a:p>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1"/>
          <p:cNvSpPr>
            <a:spLocks noGrp="1"/>
          </p:cNvSpPr>
          <p:nvPr>
            <p:ph type="title"/>
          </p:nvPr>
        </p:nvSpPr>
        <p:spPr/>
        <p:txBody>
          <a:bodyPr vert="horz" wrap="square" lIns="91440" tIns="45720" rIns="91440" bIns="45720" anchor="ctr" anchorCtr="0"/>
          <a:p>
            <a:r>
              <a:rPr lang="zh-CN" altLang="zh-CN" sz="3600" dirty="0"/>
              <a:t>查询优化概述</a:t>
            </a:r>
            <a:endParaRPr lang="zh-CN" altLang="en-US" sz="3600" dirty="0"/>
          </a:p>
        </p:txBody>
      </p:sp>
      <p:sp>
        <p:nvSpPr>
          <p:cNvPr id="38915" name="内容占位符 2"/>
          <p:cNvSpPr>
            <a:spLocks noGrp="1"/>
          </p:cNvSpPr>
          <p:nvPr>
            <p:ph idx="1"/>
          </p:nvPr>
        </p:nvSpPr>
        <p:spPr>
          <a:xfrm>
            <a:off x="911225" y="1341438"/>
            <a:ext cx="10369550" cy="5095875"/>
          </a:xfrm>
        </p:spPr>
        <p:txBody>
          <a:bodyPr vert="horz" wrap="square" lIns="91440" tIns="45720" rIns="91440" bIns="45720" anchor="t" anchorCtr="0"/>
          <a:p>
            <a:pPr>
              <a:lnSpc>
                <a:spcPct val="120000"/>
              </a:lnSpc>
            </a:pPr>
            <a:r>
              <a:rPr lang="zh-CN" altLang="en-US" dirty="0"/>
              <a:t>查询优化的优点</a:t>
            </a:r>
            <a:endParaRPr lang="en-US" altLang="zh-CN" dirty="0"/>
          </a:p>
          <a:p>
            <a:pPr lvl="1">
              <a:lnSpc>
                <a:spcPct val="120000"/>
              </a:lnSpc>
            </a:pPr>
            <a:r>
              <a:rPr lang="zh-CN" altLang="en-US" dirty="0"/>
              <a:t>用户不必考虑如何最好地表达查询以获得较好的效率</a:t>
            </a:r>
            <a:endParaRPr lang="en-US" altLang="zh-CN" dirty="0"/>
          </a:p>
          <a:p>
            <a:pPr lvl="1">
              <a:lnSpc>
                <a:spcPct val="120000"/>
              </a:lnSpc>
            </a:pPr>
            <a:r>
              <a:rPr lang="zh-CN" altLang="en-US" dirty="0"/>
              <a:t>系统可以比用户程序的“优化”做得更好 </a:t>
            </a:r>
            <a:endParaRPr lang="en-US" altLang="zh-CN" dirty="0"/>
          </a:p>
          <a:p>
            <a:pPr marL="914400" lvl="2" indent="0">
              <a:lnSpc>
                <a:spcPct val="120000"/>
              </a:lnSpc>
              <a:buSzPct val="87000"/>
              <a:buNone/>
            </a:pPr>
            <a:r>
              <a:rPr lang="zh-CN" altLang="en-US" dirty="0"/>
              <a:t>（</a:t>
            </a:r>
            <a:r>
              <a:rPr lang="en-US" altLang="zh-CN" dirty="0"/>
              <a:t>1</a:t>
            </a:r>
            <a:r>
              <a:rPr lang="zh-CN" altLang="en-US" dirty="0"/>
              <a:t>）</a:t>
            </a:r>
            <a:r>
              <a:rPr lang="en-US" altLang="zh-CN" dirty="0"/>
              <a:t> </a:t>
            </a:r>
            <a:r>
              <a:rPr lang="zh-CN" altLang="en-US" dirty="0"/>
              <a:t>优化器可以从数据字典中获取许多统计信息，而用户程序则难以获得这些信息。</a:t>
            </a:r>
            <a:endParaRPr lang="zh-CN" altLang="en-US" dirty="0"/>
          </a:p>
          <a:p>
            <a:pPr marL="914400" lvl="2" indent="0">
              <a:lnSpc>
                <a:spcPct val="120000"/>
              </a:lnSpc>
              <a:buSzPct val="87000"/>
              <a:buNone/>
            </a:pPr>
            <a:r>
              <a:rPr lang="zh-CN" altLang="en-US" dirty="0"/>
              <a:t>（</a:t>
            </a:r>
            <a:r>
              <a:rPr lang="en-US" altLang="zh-CN" dirty="0"/>
              <a:t>2</a:t>
            </a:r>
            <a:r>
              <a:rPr lang="zh-CN" altLang="en-US" dirty="0"/>
              <a:t>）如果数据库的物理统计信息改变了，系统可以自动对查询重新优化以选择相适应的执行计划。在非关系系统中必须重写程序，而重写程序在实际应用中往往是不太可能的。</a:t>
            </a:r>
            <a:endParaRPr lang="zh-CN" altLang="en-US" dirty="0"/>
          </a:p>
          <a:p>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1"/>
          <p:cNvSpPr>
            <a:spLocks noGrp="1"/>
          </p:cNvSpPr>
          <p:nvPr>
            <p:ph type="title"/>
          </p:nvPr>
        </p:nvSpPr>
        <p:spPr/>
        <p:txBody>
          <a:bodyPr vert="horz" wrap="square" lIns="91440" tIns="45720" rIns="91440" bIns="45720" anchor="ctr" anchorCtr="0"/>
          <a:p>
            <a:r>
              <a:rPr lang="zh-CN" altLang="zh-CN" sz="3600" dirty="0"/>
              <a:t>查询优化概述（续）</a:t>
            </a:r>
            <a:endParaRPr lang="zh-CN" altLang="en-US" sz="3600" dirty="0"/>
          </a:p>
        </p:txBody>
      </p:sp>
      <p:sp>
        <p:nvSpPr>
          <p:cNvPr id="39939" name="内容占位符 2"/>
          <p:cNvSpPr>
            <a:spLocks noGrp="1"/>
          </p:cNvSpPr>
          <p:nvPr>
            <p:ph idx="1"/>
          </p:nvPr>
        </p:nvSpPr>
        <p:spPr>
          <a:xfrm>
            <a:off x="192088" y="1557338"/>
            <a:ext cx="10972800" cy="4854575"/>
          </a:xfrm>
        </p:spPr>
        <p:txBody>
          <a:bodyPr vert="horz" wrap="square" lIns="91440" tIns="45720" rIns="91440" bIns="45720" anchor="t" anchorCtr="0"/>
          <a:p>
            <a:pPr marL="914400" lvl="2" indent="0">
              <a:lnSpc>
                <a:spcPct val="150000"/>
              </a:lnSpc>
              <a:buSzPct val="87000"/>
              <a:buNone/>
            </a:pPr>
            <a:r>
              <a:rPr lang="zh-CN" altLang="en-US" dirty="0"/>
              <a:t>（</a:t>
            </a:r>
            <a:r>
              <a:rPr lang="en-US" altLang="zh-CN" dirty="0"/>
              <a:t>3</a:t>
            </a:r>
            <a:r>
              <a:rPr lang="zh-CN" altLang="en-US" dirty="0"/>
              <a:t>）优化器可以考虑数百种不同的执行计划，程序员一般只能考虑有限的几种可能性。</a:t>
            </a:r>
            <a:endParaRPr lang="zh-CN" altLang="en-US" dirty="0"/>
          </a:p>
          <a:p>
            <a:pPr marL="914400" lvl="2" indent="0">
              <a:lnSpc>
                <a:spcPct val="150000"/>
              </a:lnSpc>
              <a:buSzPct val="87000"/>
              <a:buNone/>
            </a:pPr>
            <a:r>
              <a:rPr lang="zh-CN" altLang="en-US" dirty="0"/>
              <a:t>（</a:t>
            </a:r>
            <a:r>
              <a:rPr lang="en-US" altLang="zh-CN" dirty="0"/>
              <a:t>4</a:t>
            </a:r>
            <a:r>
              <a:rPr lang="zh-CN" altLang="en-US" dirty="0"/>
              <a:t>）优化器中包括了很多复杂的优化技术，这些优化技术往往只有最好的程序员才能掌握。系统的自动优化相当于使得所有人都拥有这些优化技术。</a:t>
            </a:r>
            <a:endParaRPr lang="zh-CN" altLang="en-US" dirty="0"/>
          </a:p>
          <a:p>
            <a:endParaRPr lang="zh-CN" altLang="en-US" dirty="0"/>
          </a:p>
          <a:p>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1"/>
          <p:cNvSpPr>
            <a:spLocks noGrp="1"/>
          </p:cNvSpPr>
          <p:nvPr>
            <p:ph type="title"/>
          </p:nvPr>
        </p:nvSpPr>
        <p:spPr/>
        <p:txBody>
          <a:bodyPr vert="horz" wrap="square" lIns="91440" tIns="45720" rIns="91440" bIns="45720" anchor="ctr" anchorCtr="0"/>
          <a:p>
            <a:r>
              <a:rPr lang="zh-CN" altLang="zh-CN" sz="3600" dirty="0"/>
              <a:t>查询优化概述（续）</a:t>
            </a:r>
            <a:endParaRPr lang="zh-CN" altLang="en-US" sz="3600" dirty="0"/>
          </a:p>
        </p:txBody>
      </p:sp>
      <p:sp>
        <p:nvSpPr>
          <p:cNvPr id="40963" name="内容占位符 2"/>
          <p:cNvSpPr>
            <a:spLocks noGrp="1"/>
          </p:cNvSpPr>
          <p:nvPr>
            <p:ph idx="1"/>
          </p:nvPr>
        </p:nvSpPr>
        <p:spPr>
          <a:xfrm>
            <a:off x="982663" y="1196975"/>
            <a:ext cx="10009187" cy="5095875"/>
          </a:xfrm>
        </p:spPr>
        <p:txBody>
          <a:bodyPr vert="horz" wrap="square" lIns="91440" tIns="45720" rIns="91440" bIns="45720" anchor="t" anchorCtr="0"/>
          <a:p>
            <a:pPr>
              <a:lnSpc>
                <a:spcPct val="110000"/>
              </a:lnSpc>
            </a:pPr>
            <a:r>
              <a:rPr lang="zh-CN" altLang="en-US" dirty="0"/>
              <a:t>关系数据库管理系统通过某种代价模型计算出各种查询执行策略的执行代价，然后选取代价最小的执行方案</a:t>
            </a:r>
            <a:endParaRPr lang="zh-CN" altLang="en-US" dirty="0"/>
          </a:p>
          <a:p>
            <a:pPr lvl="1">
              <a:lnSpc>
                <a:spcPct val="110000"/>
              </a:lnSpc>
            </a:pPr>
            <a:r>
              <a:rPr lang="zh-CN" altLang="en-US" dirty="0"/>
              <a:t>集中式数据库</a:t>
            </a:r>
            <a:endParaRPr lang="zh-CN" altLang="en-US" dirty="0"/>
          </a:p>
          <a:p>
            <a:pPr lvl="2">
              <a:lnSpc>
                <a:spcPct val="110000"/>
              </a:lnSpc>
              <a:buSzPct val="87000"/>
              <a:buFont typeface="Wingdings" panose="05000000000000000000" pitchFamily="2" charset="2"/>
              <a:buChar char="l"/>
            </a:pPr>
            <a:r>
              <a:rPr lang="zh-CN" altLang="en-US" dirty="0"/>
              <a:t>执行开销主要包括</a:t>
            </a:r>
            <a:endParaRPr lang="zh-CN" altLang="en-US" dirty="0"/>
          </a:p>
          <a:p>
            <a:pPr lvl="3">
              <a:lnSpc>
                <a:spcPct val="110000"/>
              </a:lnSpc>
              <a:buFont typeface="Wingdings" panose="05000000000000000000" pitchFamily="2" charset="2"/>
              <a:buChar char="Ø"/>
            </a:pPr>
            <a:r>
              <a:rPr lang="zh-CN" altLang="en-US" sz="2200" dirty="0"/>
              <a:t>磁盘存取块数</a:t>
            </a:r>
            <a:r>
              <a:rPr lang="en-US" altLang="zh-CN" sz="2200" dirty="0"/>
              <a:t>(I/O</a:t>
            </a:r>
            <a:r>
              <a:rPr lang="zh-CN" altLang="en-US" sz="2200" dirty="0"/>
              <a:t>代价</a:t>
            </a:r>
            <a:r>
              <a:rPr lang="en-US" altLang="zh-CN" sz="2200" dirty="0"/>
              <a:t>)</a:t>
            </a:r>
            <a:endParaRPr lang="zh-CN" altLang="en-US" sz="2200" dirty="0"/>
          </a:p>
          <a:p>
            <a:pPr lvl="3">
              <a:lnSpc>
                <a:spcPct val="110000"/>
              </a:lnSpc>
              <a:buFont typeface="Wingdings" panose="05000000000000000000" pitchFamily="2" charset="2"/>
              <a:buChar char="Ø"/>
            </a:pPr>
            <a:r>
              <a:rPr lang="zh-CN" altLang="en-US" sz="2200" dirty="0"/>
              <a:t>处理机时间</a:t>
            </a:r>
            <a:r>
              <a:rPr lang="en-US" altLang="zh-CN" sz="2200" dirty="0"/>
              <a:t>(CPU</a:t>
            </a:r>
            <a:r>
              <a:rPr lang="zh-CN" altLang="en-US" sz="2200" dirty="0"/>
              <a:t>代价</a:t>
            </a:r>
            <a:r>
              <a:rPr lang="en-US" altLang="zh-CN" sz="2200" dirty="0"/>
              <a:t>)</a:t>
            </a:r>
            <a:endParaRPr lang="zh-CN" altLang="en-US" sz="2200" dirty="0"/>
          </a:p>
          <a:p>
            <a:pPr lvl="3">
              <a:lnSpc>
                <a:spcPct val="110000"/>
              </a:lnSpc>
              <a:buFont typeface="Wingdings" panose="05000000000000000000" pitchFamily="2" charset="2"/>
              <a:buChar char="Ø"/>
            </a:pPr>
            <a:r>
              <a:rPr lang="zh-CN" altLang="en-US" sz="2200" dirty="0"/>
              <a:t>查询的内存开销 </a:t>
            </a:r>
            <a:endParaRPr lang="zh-CN" altLang="en-US" sz="2200" dirty="0"/>
          </a:p>
          <a:p>
            <a:pPr lvl="2">
              <a:lnSpc>
                <a:spcPct val="110000"/>
              </a:lnSpc>
              <a:buSzPct val="87000"/>
              <a:buFont typeface="Wingdings" panose="05000000000000000000" pitchFamily="2" charset="2"/>
              <a:buChar char="l"/>
            </a:pPr>
            <a:r>
              <a:rPr lang="en-US" altLang="zh-CN" dirty="0">
                <a:solidFill>
                  <a:srgbClr val="FF00FF"/>
                </a:solidFill>
              </a:rPr>
              <a:t>I/O</a:t>
            </a:r>
            <a:r>
              <a:rPr lang="zh-CN" altLang="en-US" dirty="0">
                <a:solidFill>
                  <a:srgbClr val="FF00FF"/>
                </a:solidFill>
              </a:rPr>
              <a:t>代价是最主要的 	</a:t>
            </a:r>
            <a:endParaRPr lang="zh-CN" altLang="en-US" dirty="0">
              <a:solidFill>
                <a:srgbClr val="FF00FF"/>
              </a:solidFill>
            </a:endParaRPr>
          </a:p>
          <a:p>
            <a:pPr lvl="1">
              <a:lnSpc>
                <a:spcPct val="110000"/>
              </a:lnSpc>
              <a:buFont typeface="Wingdings" panose="05000000000000000000" pitchFamily="2" charset="2"/>
              <a:buChar char="n"/>
            </a:pPr>
            <a:r>
              <a:rPr lang="zh-CN" altLang="en-US" dirty="0"/>
              <a:t>分布式数据库</a:t>
            </a:r>
            <a:endParaRPr lang="zh-CN" altLang="en-US" dirty="0"/>
          </a:p>
          <a:p>
            <a:pPr lvl="2">
              <a:lnSpc>
                <a:spcPct val="110000"/>
              </a:lnSpc>
              <a:buSzPct val="87000"/>
              <a:buFont typeface="Wingdings" panose="05000000000000000000" pitchFamily="2" charset="2"/>
              <a:buChar char="l"/>
            </a:pPr>
            <a:r>
              <a:rPr lang="zh-CN" altLang="en-US" dirty="0"/>
              <a:t>总代价</a:t>
            </a:r>
            <a:r>
              <a:rPr lang="en-US" altLang="zh-CN" dirty="0"/>
              <a:t>=I/O</a:t>
            </a:r>
            <a:r>
              <a:rPr lang="zh-CN" altLang="en-US" dirty="0"/>
              <a:t>代价</a:t>
            </a:r>
            <a:r>
              <a:rPr lang="en-US" altLang="zh-CN" dirty="0"/>
              <a:t>+CPU</a:t>
            </a:r>
            <a:r>
              <a:rPr lang="zh-CN" altLang="en-US" dirty="0"/>
              <a:t>代价</a:t>
            </a:r>
            <a:r>
              <a:rPr lang="en-US" altLang="zh-CN" dirty="0"/>
              <a:t>+</a:t>
            </a:r>
            <a:r>
              <a:rPr lang="zh-CN" altLang="en-US" dirty="0"/>
              <a:t>内存代价＋通信代价 </a:t>
            </a:r>
            <a:endParaRPr lang="zh-CN" altLang="en-US" dirty="0"/>
          </a:p>
          <a:p>
            <a:pPr>
              <a:lnSpc>
                <a:spcPct val="110000"/>
              </a:lnSpc>
              <a:buFont typeface="Wingdings" panose="05000000000000000000" pitchFamily="2" charset="2"/>
              <a:buChar char="v"/>
            </a:pP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1"/>
          <p:cNvSpPr>
            <a:spLocks noGrp="1"/>
          </p:cNvSpPr>
          <p:nvPr>
            <p:ph type="title"/>
          </p:nvPr>
        </p:nvSpPr>
        <p:spPr/>
        <p:txBody>
          <a:bodyPr vert="horz" wrap="square" lIns="91440" tIns="45720" rIns="91440" bIns="45720" anchor="ctr" anchorCtr="0"/>
          <a:p>
            <a:r>
              <a:rPr lang="zh-CN" altLang="zh-CN" sz="3600" dirty="0"/>
              <a:t>查询优化概述（续）</a:t>
            </a:r>
            <a:endParaRPr lang="zh-CN" altLang="en-US" sz="3600" dirty="0"/>
          </a:p>
        </p:txBody>
      </p:sp>
      <p:sp>
        <p:nvSpPr>
          <p:cNvPr id="41987" name="内容占位符 2"/>
          <p:cNvSpPr>
            <a:spLocks noGrp="1"/>
          </p:cNvSpPr>
          <p:nvPr>
            <p:ph idx="1"/>
          </p:nvPr>
        </p:nvSpPr>
        <p:spPr>
          <a:xfrm>
            <a:off x="839788" y="1344613"/>
            <a:ext cx="10972800" cy="4854575"/>
          </a:xfrm>
        </p:spPr>
        <p:txBody>
          <a:bodyPr vert="horz" wrap="square" lIns="91440" tIns="45720" rIns="91440" bIns="45720" anchor="t" anchorCtr="0"/>
          <a:p>
            <a:pPr>
              <a:lnSpc>
                <a:spcPct val="150000"/>
              </a:lnSpc>
            </a:pPr>
            <a:r>
              <a:rPr lang="zh-CN" altLang="en-US" dirty="0"/>
              <a:t>查询优化的总目标</a:t>
            </a:r>
            <a:endParaRPr lang="zh-CN" altLang="en-US" dirty="0"/>
          </a:p>
          <a:p>
            <a:pPr lvl="1">
              <a:lnSpc>
                <a:spcPct val="150000"/>
              </a:lnSpc>
            </a:pPr>
            <a:r>
              <a:rPr lang="zh-CN" altLang="en-US" dirty="0"/>
              <a:t>选择有效的策略</a:t>
            </a:r>
            <a:endParaRPr lang="zh-CN" altLang="en-US" dirty="0"/>
          </a:p>
          <a:p>
            <a:pPr lvl="1">
              <a:lnSpc>
                <a:spcPct val="150000"/>
              </a:lnSpc>
            </a:pPr>
            <a:r>
              <a:rPr lang="zh-CN" altLang="en-US" dirty="0"/>
              <a:t>求得给定关系表达式的值</a:t>
            </a:r>
            <a:endParaRPr lang="zh-CN" altLang="en-US" dirty="0"/>
          </a:p>
          <a:p>
            <a:pPr lvl="1">
              <a:lnSpc>
                <a:spcPct val="150000"/>
              </a:lnSpc>
            </a:pPr>
            <a:r>
              <a:rPr lang="zh-CN" altLang="en-US" dirty="0"/>
              <a:t>尽量降低查询代价</a:t>
            </a:r>
            <a:endParaRPr lang="zh-CN" altLang="en-US" dirty="0"/>
          </a:p>
          <a:p>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1"/>
          <p:cNvSpPr>
            <a:spLocks noGrp="1"/>
          </p:cNvSpPr>
          <p:nvPr>
            <p:ph type="title"/>
          </p:nvPr>
        </p:nvSpPr>
        <p:spPr/>
        <p:txBody>
          <a:bodyPr vert="horz" wrap="square" lIns="91440" tIns="45720" rIns="91440" bIns="45720" anchor="ctr" anchorCtr="0"/>
          <a:p>
            <a:r>
              <a:rPr lang="en-US" altLang="zh-CN" sz="3600" dirty="0"/>
              <a:t>10.2 </a:t>
            </a:r>
            <a:r>
              <a:rPr lang="zh-CN" altLang="en-US" sz="3600" dirty="0"/>
              <a:t>关系数据库系统的查询优化</a:t>
            </a:r>
            <a:endParaRPr lang="zh-CN" altLang="en-US" sz="3600" dirty="0"/>
          </a:p>
        </p:txBody>
      </p:sp>
      <p:sp>
        <p:nvSpPr>
          <p:cNvPr id="3" name="内容占位符 2"/>
          <p:cNvSpPr>
            <a:spLocks noGrp="1"/>
          </p:cNvSpPr>
          <p:nvPr>
            <p:ph idx="1"/>
          </p:nvPr>
        </p:nvSpPr>
        <p:spPr>
          <a:xfrm>
            <a:off x="839788" y="1339850"/>
            <a:ext cx="10972800" cy="4854575"/>
          </a:xfrm>
        </p:spPr>
        <p:txBody>
          <a:bodyPr vert="horz" wrap="square" lIns="91440" tIns="45720" rIns="91440" bIns="45720" numCol="1" anchor="t" anchorCtr="0" compatLnSpc="1"/>
          <a:lstStyle/>
          <a:p>
            <a:pPr marL="0" marR="0" lvl="0" indent="0" algn="l" defTabSz="914400" rtl="0" eaLnBrk="0" fontAlgn="base" latinLnBrk="0" hangingPunct="0">
              <a:lnSpc>
                <a:spcPct val="15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10.2.1</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查询优化概述</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rgbClr val="00B050"/>
                </a:solidFill>
                <a:effectLst/>
                <a:uLnTx/>
                <a:uFillTx/>
                <a:latin typeface="+mn-lt"/>
                <a:ea typeface="+mn-ea"/>
                <a:cs typeface="+mn-cs"/>
              </a:rPr>
              <a:t>10.2.2</a:t>
            </a:r>
            <a:r>
              <a:rPr kumimoji="0" lang="zh-CN" altLang="en-US" sz="2800" b="1" i="0" u="none" strike="noStrike" kern="0" cap="none" spc="0" normalizeH="0" baseline="0" noProof="0" dirty="0">
                <a:ln>
                  <a:noFill/>
                </a:ln>
                <a:solidFill>
                  <a:srgbClr val="00B050"/>
                </a:solidFill>
                <a:effectLst/>
                <a:uLnTx/>
                <a:uFillTx/>
                <a:latin typeface="+mn-lt"/>
                <a:ea typeface="+mn-ea"/>
                <a:cs typeface="+mn-cs"/>
              </a:rPr>
              <a:t>一个实例</a:t>
            </a:r>
            <a:endParaRPr kumimoji="0" lang="zh-CN" altLang="en-US" sz="2800" b="1" i="0" u="none" strike="noStrike" kern="0" cap="none" spc="0" normalizeH="0" baseline="0" noProof="0" dirty="0">
              <a:ln>
                <a:noFill/>
              </a:ln>
              <a:solidFill>
                <a:srgbClr val="00B050"/>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标题 1"/>
          <p:cNvSpPr>
            <a:spLocks noGrp="1"/>
          </p:cNvSpPr>
          <p:nvPr>
            <p:ph type="title"/>
          </p:nvPr>
        </p:nvSpPr>
        <p:spPr/>
        <p:txBody>
          <a:bodyPr vert="horz" wrap="square" lIns="91440" tIns="45720" rIns="91440" bIns="45720" anchor="ctr" anchorCtr="0"/>
          <a:p>
            <a:r>
              <a:rPr lang="en-US" altLang="zh-CN" sz="3600" dirty="0"/>
              <a:t>10.2.2 </a:t>
            </a:r>
            <a:r>
              <a:rPr lang="zh-CN" altLang="en-US" sz="3600" dirty="0"/>
              <a:t>一个实例</a:t>
            </a:r>
            <a:endParaRPr lang="zh-CN" altLang="en-US" sz="3600" dirty="0"/>
          </a:p>
        </p:txBody>
      </p:sp>
      <p:sp>
        <p:nvSpPr>
          <p:cNvPr id="3" name="内容占位符 2"/>
          <p:cNvSpPr>
            <a:spLocks noGrp="1"/>
          </p:cNvSpPr>
          <p:nvPr>
            <p:ph idx="1"/>
          </p:nvPr>
        </p:nvSpPr>
        <p:spPr>
          <a:xfrm>
            <a:off x="695325" y="1268413"/>
            <a:ext cx="10945813" cy="50958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一个关系查询可以对应不同的执行方案，其效率可能相差非常大。</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例</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10.3] </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求选修了</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81003</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号课程的学生姓名。</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    </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用</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SQL</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表达：</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	SELECT  </a:t>
            </a:r>
            <a:r>
              <a:rPr kumimoji="0" lang="en-US" altLang="zh-CN" sz="2400" b="1" i="0" u="none" strike="noStrike" kern="0" cap="none" spc="0" normalizeH="0" baseline="0" noProof="0" dirty="0" err="1">
                <a:ln>
                  <a:noFill/>
                </a:ln>
                <a:solidFill>
                  <a:schemeClr val="tx1"/>
                </a:solidFill>
                <a:effectLst/>
                <a:uLnTx/>
                <a:uFillTx/>
                <a:latin typeface="+mn-lt"/>
                <a:ea typeface="+mn-ea"/>
                <a:cs typeface="+mn-cs"/>
              </a:rPr>
              <a:t>Student.Sname</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mn-ea"/>
                <a:cs typeface="+mn-cs"/>
              </a:rPr>
              <a:t>	FROM      Student, SC</a:t>
            </a: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mn-ea"/>
                <a:cs typeface="+mn-cs"/>
              </a:rPr>
              <a:t>	WHERE   </a:t>
            </a:r>
            <a:r>
              <a:rPr kumimoji="0" lang="en-US" altLang="zh-CN" sz="2400" b="1" i="0" u="none" strike="noStrike" kern="0" cap="none" spc="0" normalizeH="0" baseline="0" noProof="0" dirty="0" err="1">
                <a:ln>
                  <a:noFill/>
                </a:ln>
                <a:solidFill>
                  <a:schemeClr val="tx1"/>
                </a:solidFill>
                <a:effectLst/>
                <a:uLnTx/>
                <a:uFillTx/>
                <a:latin typeface="+mn-lt"/>
                <a:ea typeface="+mn-ea"/>
                <a:cs typeface="+mn-cs"/>
              </a:rPr>
              <a:t>Student.Sno</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err="1">
                <a:ln>
                  <a:noFill/>
                </a:ln>
                <a:solidFill>
                  <a:schemeClr val="tx1"/>
                </a:solidFill>
                <a:effectLst/>
                <a:uLnTx/>
                <a:uFillTx/>
                <a:latin typeface="+mn-lt"/>
                <a:ea typeface="+mn-ea"/>
                <a:cs typeface="+mn-cs"/>
              </a:rPr>
              <a:t>SC.Sno</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 AND  </a:t>
            </a:r>
            <a:r>
              <a:rPr kumimoji="0" lang="en-US" altLang="zh-CN" sz="2400" b="1" i="0" u="none" strike="noStrike" kern="0" cap="none" spc="0" normalizeH="0" baseline="0" noProof="0" dirty="0" err="1">
                <a:ln>
                  <a:noFill/>
                </a:ln>
                <a:solidFill>
                  <a:schemeClr val="tx1"/>
                </a:solidFill>
                <a:effectLst/>
                <a:uLnTx/>
                <a:uFillTx/>
                <a:latin typeface="+mn-lt"/>
                <a:ea typeface="+mn-ea"/>
                <a:cs typeface="+mn-cs"/>
              </a:rPr>
              <a:t>SC.Cno</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='81003'</a:t>
            </a: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假定学生</a:t>
            </a:r>
            <a:r>
              <a:rPr kumimoji="0" lang="en-US" altLang="zh-CN" sz="2400" b="1" i="0" u="none" strike="noStrike" kern="0" cap="none" spc="0" normalizeH="0" baseline="0" noProof="0" dirty="0">
                <a:ln>
                  <a:noFill/>
                </a:ln>
                <a:solidFill>
                  <a:schemeClr val="tx1"/>
                </a:solidFill>
                <a:effectLst/>
                <a:uLnTx/>
                <a:uFillTx/>
                <a:latin typeface="+mn-lt"/>
                <a:ea typeface="+mn-ea"/>
              </a:rPr>
              <a:t>-</a:t>
            </a:r>
            <a:r>
              <a:rPr kumimoji="0" lang="zh-CN" altLang="en-US" sz="2400" b="1" i="0" u="none" strike="noStrike" kern="0" cap="none" spc="0" normalizeH="0" baseline="0" noProof="0" dirty="0">
                <a:ln>
                  <a:noFill/>
                </a:ln>
                <a:solidFill>
                  <a:schemeClr val="tx1"/>
                </a:solidFill>
                <a:effectLst/>
                <a:uLnTx/>
                <a:uFillTx/>
                <a:latin typeface="+mn-lt"/>
                <a:ea typeface="+mn-ea"/>
              </a:rPr>
              <a:t>课程数据库中有</a:t>
            </a:r>
            <a:r>
              <a:rPr kumimoji="0" lang="en-US" altLang="zh-CN" sz="2400" b="1" i="0" u="none" strike="noStrike" kern="0" cap="none" spc="0" normalizeH="0" baseline="0" noProof="0" dirty="0">
                <a:ln>
                  <a:noFill/>
                </a:ln>
                <a:solidFill>
                  <a:schemeClr val="tx1"/>
                </a:solidFill>
                <a:effectLst/>
                <a:uLnTx/>
                <a:uFillTx/>
                <a:latin typeface="+mn-lt"/>
                <a:ea typeface="+mn-ea"/>
              </a:rPr>
              <a:t>1000</a:t>
            </a:r>
            <a:r>
              <a:rPr kumimoji="0" lang="zh-CN" altLang="en-US" sz="2400" b="1" i="0" u="none" strike="noStrike" kern="0" cap="none" spc="0" normalizeH="0" baseline="0" noProof="0" dirty="0">
                <a:ln>
                  <a:noFill/>
                </a:ln>
                <a:solidFill>
                  <a:schemeClr val="tx1"/>
                </a:solidFill>
                <a:effectLst/>
                <a:uLnTx/>
                <a:uFillTx/>
                <a:latin typeface="+mn-lt"/>
                <a:ea typeface="+mn-ea"/>
              </a:rPr>
              <a:t>个学生记录，</a:t>
            </a:r>
            <a:r>
              <a:rPr kumimoji="0" lang="en-US" altLang="zh-CN" sz="2400" b="1" i="0" u="none" strike="noStrike" kern="0" cap="none" spc="0" normalizeH="0" baseline="0" noProof="0" dirty="0">
                <a:ln>
                  <a:noFill/>
                </a:ln>
                <a:solidFill>
                  <a:schemeClr val="tx1"/>
                </a:solidFill>
                <a:effectLst/>
                <a:uLnTx/>
                <a:uFillTx/>
                <a:latin typeface="+mn-lt"/>
                <a:ea typeface="+mn-ea"/>
              </a:rPr>
              <a:t>10000</a:t>
            </a:r>
            <a:r>
              <a:rPr kumimoji="0" lang="zh-CN" altLang="en-US" sz="2400" b="1" i="0" u="none" strike="noStrike" kern="0" cap="none" spc="0" normalizeH="0" baseline="0" noProof="0" dirty="0">
                <a:ln>
                  <a:noFill/>
                </a:ln>
                <a:solidFill>
                  <a:schemeClr val="tx1"/>
                </a:solidFill>
                <a:effectLst/>
                <a:uLnTx/>
                <a:uFillTx/>
                <a:latin typeface="+mn-lt"/>
                <a:ea typeface="+mn-ea"/>
              </a:rPr>
              <a:t>个选课记录</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选修</a:t>
            </a:r>
            <a:r>
              <a:rPr kumimoji="0" lang="en-US" altLang="zh-CN" sz="2400" b="1" i="0" u="none" strike="noStrike" kern="0" cap="none" spc="0" normalizeH="0" baseline="0" noProof="0" dirty="0">
                <a:ln>
                  <a:noFill/>
                </a:ln>
                <a:solidFill>
                  <a:schemeClr val="tx1"/>
                </a:solidFill>
                <a:effectLst/>
                <a:uLnTx/>
                <a:uFillTx/>
                <a:latin typeface="+mn-lt"/>
                <a:ea typeface="+mn-ea"/>
              </a:rPr>
              <a:t>81003</a:t>
            </a:r>
            <a:r>
              <a:rPr kumimoji="0" lang="zh-CN" altLang="en-US" sz="2400" b="1" i="0" u="none" strike="noStrike" kern="0" cap="none" spc="0" normalizeH="0" baseline="0" noProof="0" dirty="0">
                <a:ln>
                  <a:noFill/>
                </a:ln>
                <a:solidFill>
                  <a:schemeClr val="tx1"/>
                </a:solidFill>
                <a:effectLst/>
                <a:uLnTx/>
                <a:uFillTx/>
                <a:latin typeface="+mn-lt"/>
                <a:ea typeface="+mn-ea"/>
              </a:rPr>
              <a:t>号课程的选课记录为</a:t>
            </a:r>
            <a:r>
              <a:rPr kumimoji="0" lang="en-US" altLang="zh-CN" sz="2400" b="1" i="0" u="none" strike="noStrike" kern="0" cap="none" spc="0" normalizeH="0" baseline="0" noProof="0" dirty="0">
                <a:ln>
                  <a:noFill/>
                </a:ln>
                <a:solidFill>
                  <a:schemeClr val="tx1"/>
                </a:solidFill>
                <a:effectLst/>
                <a:uLnTx/>
                <a:uFillTx/>
                <a:latin typeface="+mn-lt"/>
                <a:ea typeface="+mn-ea"/>
              </a:rPr>
              <a:t>50</a:t>
            </a:r>
            <a:r>
              <a:rPr kumimoji="0" lang="zh-CN" altLang="en-US" sz="2400" b="1" i="0" u="none" strike="noStrike" kern="0" cap="none" spc="0" normalizeH="0" baseline="0" noProof="0" dirty="0">
                <a:ln>
                  <a:noFill/>
                </a:ln>
                <a:solidFill>
                  <a:schemeClr val="tx1"/>
                </a:solidFill>
                <a:effectLst/>
                <a:uLnTx/>
                <a:uFillTx/>
                <a:latin typeface="+mn-lt"/>
                <a:ea typeface="+mn-ea"/>
              </a:rPr>
              <a:t>个 </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1"/>
          <p:cNvSpPr>
            <a:spLocks noGrp="1"/>
          </p:cNvSpPr>
          <p:nvPr>
            <p:ph type="title"/>
          </p:nvPr>
        </p:nvSpPr>
        <p:spPr/>
        <p:txBody>
          <a:bodyPr vert="horz" wrap="square" lIns="91440" tIns="45720" rIns="91440" bIns="45720" anchor="ctr" anchorCtr="0"/>
          <a:p>
            <a:r>
              <a:rPr lang="zh-CN" altLang="en-US" sz="3600" dirty="0"/>
              <a:t>一个</a:t>
            </a:r>
            <a:r>
              <a:rPr lang="zh-CN" altLang="zh-CN" sz="3600" dirty="0"/>
              <a:t>实例</a:t>
            </a:r>
            <a:r>
              <a:rPr lang="zh-CN" altLang="en-US" sz="3600" dirty="0"/>
              <a:t>（续）</a:t>
            </a:r>
            <a:endParaRPr lang="zh-CN" altLang="en-US" sz="3600" dirty="0"/>
          </a:p>
        </p:txBody>
      </p:sp>
      <p:sp>
        <p:nvSpPr>
          <p:cNvPr id="3" name="内容占位符 2"/>
          <p:cNvSpPr>
            <a:spLocks noGrp="1"/>
          </p:cNvSpPr>
          <p:nvPr>
            <p:ph idx="1"/>
          </p:nvPr>
        </p:nvSpPr>
        <p:spPr>
          <a:xfrm>
            <a:off x="1111250" y="1412875"/>
            <a:ext cx="9737725" cy="4854575"/>
          </a:xfrm>
        </p:spPr>
        <p:txBody>
          <a:bodyPr vert="horz" wrap="square" lIns="91440" tIns="45720" rIns="91440" bIns="45720" numCol="1" anchor="t" anchorCtr="0" compatLnSpc="1"/>
          <a:lstStyle/>
          <a:p>
            <a:pPr marL="342900" marR="0" lvl="0" indent="-34290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可以用多种等价的关系代数表达式来完成这一查询</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en-US" altLang="zh-CN" sz="2400" b="1" i="0" u="none" strike="noStrike" kern="0" cap="none" spc="0" normalizeH="0" baseline="0" noProof="0" dirty="0">
                <a:ln>
                  <a:noFill/>
                </a:ln>
                <a:solidFill>
                  <a:schemeClr val="tx1"/>
                </a:solidFill>
                <a:effectLst/>
                <a:uLnTx/>
                <a:uFillTx/>
                <a:latin typeface="+mn-lt"/>
                <a:ea typeface="+mn-ea"/>
              </a:rPr>
              <a:t>Q</a:t>
            </a:r>
            <a:r>
              <a:rPr kumimoji="0" lang="en-US" altLang="zh-CN" sz="2400" b="1" i="0" u="none" strike="noStrike" kern="0" cap="none" spc="0" normalizeH="0" baseline="-25000" noProof="0" dirty="0">
                <a:ln>
                  <a:noFill/>
                </a:ln>
                <a:solidFill>
                  <a:schemeClr val="tx1"/>
                </a:solidFill>
                <a:effectLst/>
                <a:uLnTx/>
                <a:uFillTx/>
                <a:latin typeface="+mn-lt"/>
                <a:ea typeface="+mn-ea"/>
              </a:rPr>
              <a:t>1</a:t>
            </a:r>
            <a:r>
              <a:rPr kumimoji="0" lang="en-US" altLang="zh-CN" sz="2400" b="1" i="0" u="none" strike="noStrike" kern="0" cap="none" spc="0" normalizeH="0" baseline="0" noProof="0" dirty="0">
                <a:ln>
                  <a:noFill/>
                </a:ln>
                <a:solidFill>
                  <a:schemeClr val="tx1"/>
                </a:solidFill>
                <a:effectLst/>
                <a:uLnTx/>
                <a:uFillTx/>
                <a:latin typeface="+mn-lt"/>
                <a:ea typeface="+mn-ea"/>
              </a:rPr>
              <a:t>=π</a:t>
            </a:r>
            <a:r>
              <a:rPr kumimoji="0" lang="en-US" altLang="zh-CN" sz="2400" b="1" i="0" u="none" strike="noStrike" kern="0" cap="none" spc="0" normalizeH="0" baseline="-25000" noProof="0" dirty="0" err="1">
                <a:ln>
                  <a:noFill/>
                </a:ln>
                <a:solidFill>
                  <a:schemeClr val="tx1"/>
                </a:solidFill>
                <a:effectLst/>
                <a:uLnTx/>
                <a:uFillTx/>
                <a:latin typeface="+mn-lt"/>
                <a:ea typeface="+mn-ea"/>
              </a:rPr>
              <a:t>Sname</a:t>
            </a:r>
            <a:r>
              <a:rPr kumimoji="0" lang="en-US" altLang="zh-CN" sz="2400" b="1" i="0" u="none" strike="noStrike" kern="0" cap="none" spc="0" normalizeH="0" baseline="0" noProof="0" dirty="0">
                <a:ln>
                  <a:noFill/>
                </a:ln>
                <a:solidFill>
                  <a:schemeClr val="tx1"/>
                </a:solidFill>
                <a:effectLst/>
                <a:uLnTx/>
                <a:uFillTx/>
                <a:latin typeface="+mn-lt"/>
                <a:ea typeface="+mn-ea"/>
              </a:rPr>
              <a:t>(</a:t>
            </a:r>
            <a:r>
              <a:rPr kumimoji="0" lang="en-US" altLang="zh-CN" sz="2400" b="1" i="0" u="none" strike="noStrike" kern="0" cap="none" spc="0" normalizeH="0" baseline="0" noProof="0" dirty="0" err="1">
                <a:ln>
                  <a:noFill/>
                </a:ln>
                <a:solidFill>
                  <a:schemeClr val="tx1"/>
                </a:solidFill>
                <a:effectLst/>
                <a:uLnTx/>
                <a:uFillTx/>
                <a:latin typeface="+mn-lt"/>
                <a:ea typeface="+mn-ea"/>
              </a:rPr>
              <a:t>σ</a:t>
            </a:r>
            <a:r>
              <a:rPr kumimoji="0" lang="en-US" altLang="zh-CN" sz="2400" b="1" i="0" u="none" strike="noStrike" kern="0" cap="none" spc="0" normalizeH="0" baseline="-25000" noProof="0" dirty="0" err="1">
                <a:ln>
                  <a:noFill/>
                </a:ln>
                <a:solidFill>
                  <a:schemeClr val="tx1"/>
                </a:solidFill>
                <a:effectLst/>
                <a:uLnTx/>
                <a:uFillTx/>
                <a:latin typeface="+mn-lt"/>
                <a:ea typeface="+mn-ea"/>
              </a:rPr>
              <a:t>Student.Sno</a:t>
            </a:r>
            <a:r>
              <a:rPr kumimoji="0" lang="en-US" altLang="zh-CN" sz="2400" b="1" i="0" u="none" strike="noStrike" kern="0" cap="none" spc="0" normalizeH="0" baseline="-25000" noProof="0" dirty="0">
                <a:ln>
                  <a:noFill/>
                </a:ln>
                <a:solidFill>
                  <a:schemeClr val="tx1"/>
                </a:solidFill>
                <a:effectLst/>
                <a:uLnTx/>
                <a:uFillTx/>
                <a:latin typeface="+mn-lt"/>
                <a:ea typeface="+mn-ea"/>
              </a:rPr>
              <a:t>=</a:t>
            </a:r>
            <a:r>
              <a:rPr kumimoji="0" lang="en-US" altLang="zh-CN" sz="2400" b="1" i="0" u="none" strike="noStrike" kern="0" cap="none" spc="0" normalizeH="0" baseline="-25000" noProof="0" dirty="0" err="1">
                <a:ln>
                  <a:noFill/>
                </a:ln>
                <a:solidFill>
                  <a:schemeClr val="tx1"/>
                </a:solidFill>
                <a:effectLst/>
                <a:uLnTx/>
                <a:uFillTx/>
                <a:latin typeface="+mn-lt"/>
                <a:ea typeface="+mn-ea"/>
              </a:rPr>
              <a:t>SC.Sno∧SC.Cno</a:t>
            </a:r>
            <a:r>
              <a:rPr kumimoji="0" lang="en-US" altLang="zh-CN" sz="2400" b="1" i="0" u="none" strike="noStrike" kern="0" cap="none" spc="0" normalizeH="0" baseline="-25000" noProof="0" dirty="0">
                <a:ln>
                  <a:noFill/>
                </a:ln>
                <a:solidFill>
                  <a:schemeClr val="tx1"/>
                </a:solidFill>
                <a:effectLst/>
                <a:uLnTx/>
                <a:uFillTx/>
                <a:latin typeface="+mn-lt"/>
                <a:ea typeface="+mn-ea"/>
              </a:rPr>
              <a:t>=‘81003' </a:t>
            </a:r>
            <a:r>
              <a:rPr kumimoji="0" lang="en-US" altLang="zh-CN" sz="2400" b="1" i="0" u="none" strike="noStrike" kern="0" cap="none" spc="0" normalizeH="0" baseline="0" noProof="0" dirty="0">
                <a:ln>
                  <a:noFill/>
                </a:ln>
                <a:solidFill>
                  <a:schemeClr val="tx1"/>
                </a:solidFill>
                <a:effectLst/>
                <a:uLnTx/>
                <a:uFillTx/>
                <a:latin typeface="+mn-lt"/>
                <a:ea typeface="+mn-ea"/>
              </a:rPr>
              <a:t>(</a:t>
            </a:r>
            <a:r>
              <a:rPr kumimoji="0" lang="en-US" altLang="zh-CN" sz="2400" b="1" i="0" u="none" strike="noStrike" kern="0" cap="none" spc="0" normalizeH="0" baseline="0" noProof="0" dirty="0" err="1">
                <a:ln>
                  <a:noFill/>
                </a:ln>
                <a:solidFill>
                  <a:schemeClr val="tx1"/>
                </a:solidFill>
                <a:effectLst/>
                <a:uLnTx/>
                <a:uFillTx/>
                <a:latin typeface="+mn-lt"/>
                <a:ea typeface="+mn-ea"/>
              </a:rPr>
              <a:t>Student×SC</a:t>
            </a:r>
            <a:r>
              <a:rPr kumimoji="0" lang="en-US" altLang="zh-CN" sz="2400" b="1" i="0" u="none" strike="noStrike" kern="0" cap="none" spc="0" normalizeH="0" baseline="0" noProof="0" dirty="0">
                <a:ln>
                  <a:noFill/>
                </a:ln>
                <a:solidFill>
                  <a:schemeClr val="tx1"/>
                </a:solidFill>
                <a:effectLst/>
                <a:uLnTx/>
                <a:uFillTx/>
                <a:latin typeface="+mn-lt"/>
                <a:ea typeface="+mn-ea"/>
              </a:rPr>
              <a:t>))</a:t>
            </a:r>
            <a:endParaRPr kumimoji="0" lang="en-US" altLang="zh-CN"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en-US" altLang="zh-CN" sz="2400" b="1" i="0" u="none" strike="noStrike" kern="0" cap="none" spc="0" normalizeH="0" baseline="0" noProof="0" dirty="0">
                <a:ln>
                  <a:noFill/>
                </a:ln>
                <a:solidFill>
                  <a:schemeClr val="tx1"/>
                </a:solidFill>
                <a:effectLst/>
                <a:uLnTx/>
                <a:uFillTx/>
                <a:latin typeface="+mn-lt"/>
                <a:ea typeface="+mn-ea"/>
              </a:rPr>
              <a:t>Q</a:t>
            </a:r>
            <a:r>
              <a:rPr kumimoji="0" lang="en-US" altLang="zh-CN" sz="2400" b="1" i="0" u="none" strike="noStrike" kern="0" cap="none" spc="0" normalizeH="0" baseline="-25000" noProof="0" dirty="0">
                <a:ln>
                  <a:noFill/>
                </a:ln>
                <a:solidFill>
                  <a:schemeClr val="tx1"/>
                </a:solidFill>
                <a:effectLst/>
                <a:uLnTx/>
                <a:uFillTx/>
                <a:latin typeface="+mn-lt"/>
                <a:ea typeface="+mn-ea"/>
              </a:rPr>
              <a:t>2</a:t>
            </a:r>
            <a:r>
              <a:rPr kumimoji="0" lang="en-US" altLang="zh-CN" sz="2400" b="1" i="0" u="none" strike="noStrike" kern="0" cap="none" spc="0" normalizeH="0" baseline="0" noProof="0" dirty="0">
                <a:ln>
                  <a:noFill/>
                </a:ln>
                <a:solidFill>
                  <a:schemeClr val="tx1"/>
                </a:solidFill>
                <a:effectLst/>
                <a:uLnTx/>
                <a:uFillTx/>
                <a:latin typeface="+mn-lt"/>
                <a:ea typeface="+mn-ea"/>
              </a:rPr>
              <a:t>=π</a:t>
            </a:r>
            <a:r>
              <a:rPr kumimoji="0" lang="en-US" altLang="zh-CN" sz="2400" b="1" i="0" u="none" strike="noStrike" kern="0" cap="none" spc="0" normalizeH="0" baseline="-25000" noProof="0" dirty="0" err="1">
                <a:ln>
                  <a:noFill/>
                </a:ln>
                <a:solidFill>
                  <a:schemeClr val="tx1"/>
                </a:solidFill>
                <a:effectLst/>
                <a:uLnTx/>
                <a:uFillTx/>
                <a:latin typeface="+mn-lt"/>
                <a:ea typeface="+mn-ea"/>
              </a:rPr>
              <a:t>Sname</a:t>
            </a:r>
            <a:r>
              <a:rPr kumimoji="0" lang="en-US" altLang="zh-CN" sz="2400" b="1" i="0" u="none" strike="noStrike" kern="0" cap="none" spc="0" normalizeH="0" baseline="0" noProof="0" dirty="0">
                <a:ln>
                  <a:noFill/>
                </a:ln>
                <a:solidFill>
                  <a:schemeClr val="tx1"/>
                </a:solidFill>
                <a:effectLst/>
                <a:uLnTx/>
                <a:uFillTx/>
                <a:latin typeface="+mn-lt"/>
                <a:ea typeface="+mn-ea"/>
              </a:rPr>
              <a:t>(</a:t>
            </a:r>
            <a:r>
              <a:rPr kumimoji="0" lang="en-US" altLang="zh-CN" sz="2400" b="1" i="0" u="none" strike="noStrike" kern="0" cap="none" spc="0" normalizeH="0" baseline="0" noProof="0" dirty="0" err="1">
                <a:ln>
                  <a:noFill/>
                </a:ln>
                <a:solidFill>
                  <a:schemeClr val="tx1"/>
                </a:solidFill>
                <a:effectLst/>
                <a:uLnTx/>
                <a:uFillTx/>
                <a:latin typeface="+mn-lt"/>
                <a:ea typeface="+mn-ea"/>
              </a:rPr>
              <a:t>σ</a:t>
            </a:r>
            <a:r>
              <a:rPr kumimoji="0" lang="en-US" altLang="zh-CN" sz="2400" b="1" i="0" u="none" strike="noStrike" kern="0" cap="none" spc="0" normalizeH="0" baseline="-25000" noProof="0" dirty="0" err="1">
                <a:ln>
                  <a:noFill/>
                </a:ln>
                <a:solidFill>
                  <a:schemeClr val="tx1"/>
                </a:solidFill>
                <a:effectLst/>
                <a:uLnTx/>
                <a:uFillTx/>
                <a:latin typeface="+mn-lt"/>
                <a:ea typeface="+mn-ea"/>
              </a:rPr>
              <a:t>SC.Cno</a:t>
            </a:r>
            <a:r>
              <a:rPr kumimoji="0" lang="en-US" altLang="zh-CN" sz="2400" b="1" i="0" u="none" strike="noStrike" kern="0" cap="none" spc="0" normalizeH="0" baseline="-25000" noProof="0" dirty="0">
                <a:ln>
                  <a:noFill/>
                </a:ln>
                <a:solidFill>
                  <a:schemeClr val="tx1"/>
                </a:solidFill>
                <a:effectLst/>
                <a:uLnTx/>
                <a:uFillTx/>
                <a:latin typeface="+mn-lt"/>
                <a:ea typeface="+mn-ea"/>
              </a:rPr>
              <a:t>=‘81003'</a:t>
            </a:r>
            <a:r>
              <a:rPr kumimoji="0" lang="en-US" altLang="zh-CN" sz="2400" b="1" i="0" u="none" strike="noStrike" kern="0" cap="none" spc="0" normalizeH="0" baseline="0" noProof="0" dirty="0">
                <a:ln>
                  <a:noFill/>
                </a:ln>
                <a:solidFill>
                  <a:schemeClr val="tx1"/>
                </a:solidFill>
                <a:effectLst/>
                <a:uLnTx/>
                <a:uFillTx/>
                <a:latin typeface="+mn-lt"/>
                <a:ea typeface="+mn-ea"/>
              </a:rPr>
              <a:t> (Student     SC))</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en-US" altLang="zh-CN" sz="2400" b="1" i="0" u="none" strike="noStrike" kern="0" cap="none" spc="0" normalizeH="0" baseline="0" noProof="0" dirty="0">
                <a:ln>
                  <a:noFill/>
                </a:ln>
                <a:solidFill>
                  <a:schemeClr val="tx1"/>
                </a:solidFill>
                <a:effectLst/>
                <a:uLnTx/>
                <a:uFillTx/>
                <a:latin typeface="+mn-lt"/>
                <a:ea typeface="+mn-ea"/>
              </a:rPr>
              <a:t>Q</a:t>
            </a:r>
            <a:r>
              <a:rPr kumimoji="0" lang="en-US" altLang="zh-CN" sz="2400" b="1" i="0" u="none" strike="noStrike" kern="0" cap="none" spc="0" normalizeH="0" baseline="-25000" noProof="0" dirty="0">
                <a:ln>
                  <a:noFill/>
                </a:ln>
                <a:solidFill>
                  <a:schemeClr val="tx1"/>
                </a:solidFill>
                <a:effectLst/>
                <a:uLnTx/>
                <a:uFillTx/>
                <a:latin typeface="+mn-lt"/>
                <a:ea typeface="+mn-ea"/>
              </a:rPr>
              <a:t>3</a:t>
            </a:r>
            <a:r>
              <a:rPr kumimoji="0" lang="en-US" altLang="zh-CN" sz="2400" b="1" i="0" u="none" strike="noStrike" kern="0" cap="none" spc="0" normalizeH="0" baseline="0" noProof="0" dirty="0">
                <a:ln>
                  <a:noFill/>
                </a:ln>
                <a:solidFill>
                  <a:schemeClr val="tx1"/>
                </a:solidFill>
                <a:effectLst/>
                <a:uLnTx/>
                <a:uFillTx/>
                <a:latin typeface="+mn-lt"/>
                <a:ea typeface="+mn-ea"/>
              </a:rPr>
              <a:t>=π</a:t>
            </a:r>
            <a:r>
              <a:rPr kumimoji="0" lang="en-US" altLang="zh-CN" sz="2400" b="1" i="0" u="none" strike="noStrike" kern="0" cap="none" spc="0" normalizeH="0" baseline="-25000" noProof="0" dirty="0" err="1">
                <a:ln>
                  <a:noFill/>
                </a:ln>
                <a:solidFill>
                  <a:schemeClr val="tx1"/>
                </a:solidFill>
                <a:effectLst/>
                <a:uLnTx/>
                <a:uFillTx/>
                <a:latin typeface="+mn-lt"/>
                <a:ea typeface="+mn-ea"/>
              </a:rPr>
              <a:t>Sname</a:t>
            </a:r>
            <a:r>
              <a:rPr kumimoji="0" lang="en-US" altLang="zh-CN" sz="2400" b="1" i="0" u="none" strike="noStrike" kern="0" cap="none" spc="0" normalizeH="0" baseline="0" noProof="0" dirty="0">
                <a:ln>
                  <a:noFill/>
                </a:ln>
                <a:solidFill>
                  <a:schemeClr val="tx1"/>
                </a:solidFill>
                <a:effectLst/>
                <a:uLnTx/>
                <a:uFillTx/>
                <a:latin typeface="+mn-lt"/>
                <a:ea typeface="+mn-ea"/>
              </a:rPr>
              <a:t>(Student      </a:t>
            </a:r>
            <a:r>
              <a:rPr kumimoji="0" lang="en-US" altLang="zh-CN" sz="2400" b="1" i="0" u="none" strike="noStrike" kern="0" cap="none" spc="0" normalizeH="0" baseline="0" noProof="0" dirty="0" err="1">
                <a:ln>
                  <a:noFill/>
                </a:ln>
                <a:solidFill>
                  <a:schemeClr val="tx1"/>
                </a:solidFill>
                <a:effectLst/>
                <a:uLnTx/>
                <a:uFillTx/>
                <a:latin typeface="+mn-lt"/>
                <a:ea typeface="+mn-ea"/>
              </a:rPr>
              <a:t>σ</a:t>
            </a:r>
            <a:r>
              <a:rPr kumimoji="0" lang="en-US" altLang="zh-CN" sz="2400" b="1" i="0" u="none" strike="noStrike" kern="0" cap="none" spc="0" normalizeH="0" baseline="-25000" noProof="0" dirty="0" err="1">
                <a:ln>
                  <a:noFill/>
                </a:ln>
                <a:solidFill>
                  <a:schemeClr val="tx1"/>
                </a:solidFill>
                <a:effectLst/>
                <a:uLnTx/>
                <a:uFillTx/>
                <a:latin typeface="+mn-lt"/>
                <a:ea typeface="+mn-ea"/>
              </a:rPr>
              <a:t>SC.Cno</a:t>
            </a:r>
            <a:r>
              <a:rPr kumimoji="0" lang="en-US" altLang="zh-CN" sz="2400" b="1" i="0" u="none" strike="noStrike" kern="0" cap="none" spc="0" normalizeH="0" baseline="-25000" noProof="0" dirty="0">
                <a:ln>
                  <a:noFill/>
                </a:ln>
                <a:solidFill>
                  <a:schemeClr val="tx1"/>
                </a:solidFill>
                <a:effectLst/>
                <a:uLnTx/>
                <a:uFillTx/>
                <a:latin typeface="+mn-lt"/>
                <a:ea typeface="+mn-ea"/>
              </a:rPr>
              <a:t>=‘81003'</a:t>
            </a:r>
            <a:r>
              <a:rPr kumimoji="0" lang="en-US" altLang="zh-CN" sz="2400" b="1" i="0" u="none" strike="noStrike" kern="0" cap="none" spc="0" normalizeH="0" baseline="0" noProof="0" dirty="0">
                <a:ln>
                  <a:noFill/>
                </a:ln>
                <a:solidFill>
                  <a:schemeClr val="tx1"/>
                </a:solidFill>
                <a:effectLst/>
                <a:uLnTx/>
                <a:uFillTx/>
                <a:latin typeface="+mn-lt"/>
                <a:ea typeface="+mn-ea"/>
              </a:rPr>
              <a:t>(SC))</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grpSp>
        <p:nvGrpSpPr>
          <p:cNvPr id="45060" name="Group 4"/>
          <p:cNvGrpSpPr/>
          <p:nvPr/>
        </p:nvGrpSpPr>
        <p:grpSpPr>
          <a:xfrm>
            <a:off x="5980113" y="2674938"/>
            <a:ext cx="1600200" cy="754062"/>
            <a:chOff x="2325" y="6446"/>
            <a:chExt cx="705" cy="367"/>
          </a:xfrm>
        </p:grpSpPr>
        <p:sp>
          <p:nvSpPr>
            <p:cNvPr id="45064" name="AutoShape 5"/>
            <p:cNvSpPr/>
            <p:nvPr/>
          </p:nvSpPr>
          <p:spPr>
            <a:xfrm rot="5400000" flipV="1">
              <a:off x="2612" y="6414"/>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45065" name="Text Box 6"/>
            <p:cNvSpPr txBox="1"/>
            <p:nvPr/>
          </p:nvSpPr>
          <p:spPr>
            <a:xfrm flipV="1">
              <a:off x="2325" y="6450"/>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lnSpc>
                  <a:spcPct val="80000"/>
                </a:lnSpc>
                <a:spcBef>
                  <a:spcPct val="0"/>
                </a:spcBef>
                <a:buSzTx/>
                <a:buFont typeface="Arial" panose="020B0604020202020204" pitchFamily="34" charset="0"/>
                <a:buNone/>
              </a:pPr>
              <a:r>
                <a:rPr lang="en-US" altLang="zh-CN" sz="600" i="1" dirty="0"/>
                <a:t> </a:t>
              </a:r>
              <a:endParaRPr lang="en-US" altLang="zh-CN" sz="600" dirty="0"/>
            </a:p>
          </p:txBody>
        </p:sp>
      </p:grpSp>
      <p:grpSp>
        <p:nvGrpSpPr>
          <p:cNvPr id="45061" name="Group 4"/>
          <p:cNvGrpSpPr/>
          <p:nvPr/>
        </p:nvGrpSpPr>
        <p:grpSpPr>
          <a:xfrm>
            <a:off x="4121150" y="3205163"/>
            <a:ext cx="1600200" cy="825500"/>
            <a:chOff x="2325" y="6446"/>
            <a:chExt cx="705" cy="367"/>
          </a:xfrm>
        </p:grpSpPr>
        <p:sp>
          <p:nvSpPr>
            <p:cNvPr id="45062" name="AutoShape 5"/>
            <p:cNvSpPr/>
            <p:nvPr/>
          </p:nvSpPr>
          <p:spPr>
            <a:xfrm rot="5400000" flipV="1">
              <a:off x="2612" y="6414"/>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45063" name="Text Box 6"/>
            <p:cNvSpPr txBox="1"/>
            <p:nvPr/>
          </p:nvSpPr>
          <p:spPr>
            <a:xfrm flipV="1">
              <a:off x="2325" y="6450"/>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lnSpc>
                  <a:spcPct val="80000"/>
                </a:lnSpc>
                <a:spcBef>
                  <a:spcPct val="0"/>
                </a:spcBef>
                <a:buSzTx/>
                <a:buFont typeface="Arial" panose="020B0604020202020204" pitchFamily="34" charset="0"/>
                <a:buNone/>
              </a:pPr>
              <a:r>
                <a:rPr lang="en-US" altLang="zh-CN" sz="600" i="1" dirty="0"/>
                <a:t> </a:t>
              </a:r>
              <a:endParaRPr lang="en-US" altLang="zh-CN" sz="600" dirty="0"/>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标题 1"/>
          <p:cNvSpPr>
            <a:spLocks noGrp="1"/>
          </p:cNvSpPr>
          <p:nvPr>
            <p:ph type="title"/>
          </p:nvPr>
        </p:nvSpPr>
        <p:spPr/>
        <p:txBody>
          <a:bodyPr vert="horz" wrap="square" lIns="91440" tIns="45720" rIns="91440" bIns="45720" anchor="ctr" anchorCtr="0"/>
          <a:p>
            <a:r>
              <a:rPr lang="zh-CN" altLang="en-US" sz="3600" dirty="0"/>
              <a:t>一个实例（续）</a:t>
            </a:r>
            <a:endParaRPr lang="zh-CN" altLang="en-US" sz="3600" dirty="0"/>
          </a:p>
        </p:txBody>
      </p:sp>
      <p:sp>
        <p:nvSpPr>
          <p:cNvPr id="51203" name="内容占位符 2"/>
          <p:cNvSpPr>
            <a:spLocks noGrp="1"/>
          </p:cNvSpPr>
          <p:nvPr>
            <p:ph idx="1"/>
          </p:nvPr>
        </p:nvSpPr>
        <p:spPr>
          <a:xfrm>
            <a:off x="695325" y="1376363"/>
            <a:ext cx="10972800" cy="4854575"/>
          </a:xfrm>
        </p:spPr>
        <p:txBody>
          <a:bodyPr vert="horz" wrap="square" lIns="91440" tIns="45720" rIns="91440" bIns="45720" numCol="1" anchor="t" anchorCtr="0" compatLnSpc="1"/>
          <a:lstStyle/>
          <a:p>
            <a:pPr marL="0" marR="0" lvl="0" indent="0" algn="l" defTabSz="914400" rtl="0" eaLnBrk="0" fontAlgn="base" latinLnBrk="0" hangingPunct="0">
              <a:lnSpc>
                <a:spcPct val="15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1.</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第一种情况</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50000"/>
              </a:lnSpc>
              <a:spcBef>
                <a:spcPct val="20000"/>
              </a:spcBef>
              <a:spcAft>
                <a:spcPct val="0"/>
              </a:spcAft>
              <a:buClrTx/>
              <a:buSzPct val="100000"/>
              <a:buFont typeface="Wingdings" panose="05000000000000000000" pitchFamily="2" charset="2"/>
              <a:buChar char="n"/>
              <a:defRPr/>
            </a:pPr>
            <a:r>
              <a:rPr kumimoji="0" lang="en-US" altLang="zh-CN" sz="2400" b="1" i="1" u="none" strike="noStrike" kern="0" cap="none" spc="0" normalizeH="0" baseline="0" noProof="0" dirty="0">
                <a:ln>
                  <a:noFill/>
                </a:ln>
                <a:solidFill>
                  <a:schemeClr val="tx1"/>
                </a:solidFill>
                <a:effectLst/>
                <a:uLnTx/>
                <a:uFillTx/>
                <a:latin typeface="+mn-lt"/>
                <a:ea typeface="+mn-ea"/>
              </a:rPr>
              <a:t>Q</a:t>
            </a:r>
            <a:r>
              <a:rPr kumimoji="0" lang="en-US" altLang="zh-CN" sz="2400" b="1" i="0" u="none" strike="noStrike" kern="0" cap="none" spc="0" normalizeH="0" baseline="-25000" noProof="0" dirty="0">
                <a:ln>
                  <a:noFill/>
                </a:ln>
                <a:solidFill>
                  <a:schemeClr val="tx1"/>
                </a:solidFill>
                <a:effectLst/>
                <a:uLnTx/>
                <a:uFillTx/>
                <a:latin typeface="+mn-lt"/>
                <a:ea typeface="+mn-ea"/>
              </a:rPr>
              <a:t>1</a:t>
            </a:r>
            <a:r>
              <a:rPr kumimoji="0" lang="en-US" altLang="zh-CN" sz="2400" b="1" i="0" u="none" strike="noStrike" kern="0" cap="none" spc="0" normalizeH="0" baseline="0" noProof="0" dirty="0">
                <a:ln>
                  <a:noFill/>
                </a:ln>
                <a:solidFill>
                  <a:schemeClr val="tx1"/>
                </a:solidFill>
                <a:effectLst/>
                <a:uLnTx/>
                <a:uFillTx/>
                <a:latin typeface="+mn-lt"/>
                <a:ea typeface="+mn-ea"/>
              </a:rPr>
              <a:t>=π</a:t>
            </a:r>
            <a:r>
              <a:rPr kumimoji="0" lang="en-US" altLang="zh-CN" sz="2400" b="1" i="0" u="none" strike="noStrike" kern="0" cap="none" spc="0" normalizeH="0" baseline="-25000" noProof="0" dirty="0" err="1">
                <a:ln>
                  <a:noFill/>
                </a:ln>
                <a:solidFill>
                  <a:schemeClr val="tx1"/>
                </a:solidFill>
                <a:effectLst/>
                <a:uLnTx/>
                <a:uFillTx/>
                <a:latin typeface="+mn-lt"/>
                <a:ea typeface="+mn-ea"/>
              </a:rPr>
              <a:t>Sname</a:t>
            </a:r>
            <a:r>
              <a:rPr kumimoji="0" lang="en-US" altLang="zh-CN" sz="2400" b="1" i="0" u="none" strike="noStrike" kern="0" cap="none" spc="0" normalizeH="0" baseline="0" noProof="0" dirty="0">
                <a:ln>
                  <a:noFill/>
                </a:ln>
                <a:solidFill>
                  <a:schemeClr val="tx1"/>
                </a:solidFill>
                <a:effectLst/>
                <a:uLnTx/>
                <a:uFillTx/>
                <a:latin typeface="+mn-lt"/>
                <a:ea typeface="+mn-ea"/>
              </a:rPr>
              <a:t>(</a:t>
            </a:r>
            <a:r>
              <a:rPr kumimoji="0" lang="en-US" altLang="zh-CN" sz="2400" b="1" i="0" u="none" strike="noStrike" kern="0" cap="none" spc="0" normalizeH="0" baseline="0" noProof="0" dirty="0" err="1">
                <a:ln>
                  <a:noFill/>
                </a:ln>
                <a:solidFill>
                  <a:schemeClr val="tx1"/>
                </a:solidFill>
                <a:effectLst/>
                <a:uLnTx/>
                <a:uFillTx/>
                <a:latin typeface="+mn-lt"/>
                <a:ea typeface="+mn-ea"/>
              </a:rPr>
              <a:t>σ</a:t>
            </a:r>
            <a:r>
              <a:rPr kumimoji="0" lang="en-US" altLang="zh-CN" sz="2400" b="1" i="0" u="none" strike="noStrike" kern="0" cap="none" spc="0" normalizeH="0" baseline="-25000" noProof="0" dirty="0" err="1">
                <a:ln>
                  <a:noFill/>
                </a:ln>
                <a:solidFill>
                  <a:schemeClr val="tx1"/>
                </a:solidFill>
                <a:effectLst/>
                <a:uLnTx/>
                <a:uFillTx/>
                <a:latin typeface="+mn-lt"/>
                <a:ea typeface="+mn-ea"/>
              </a:rPr>
              <a:t>Student.Sno</a:t>
            </a:r>
            <a:r>
              <a:rPr kumimoji="0" lang="en-US" altLang="zh-CN" sz="2400" b="1" i="0" u="none" strike="noStrike" kern="0" cap="none" spc="0" normalizeH="0" baseline="-25000" noProof="0" dirty="0">
                <a:ln>
                  <a:noFill/>
                </a:ln>
                <a:solidFill>
                  <a:schemeClr val="tx1"/>
                </a:solidFill>
                <a:effectLst/>
                <a:uLnTx/>
                <a:uFillTx/>
                <a:latin typeface="+mn-lt"/>
                <a:ea typeface="+mn-ea"/>
              </a:rPr>
              <a:t>=</a:t>
            </a:r>
            <a:r>
              <a:rPr kumimoji="0" lang="en-US" altLang="zh-CN" sz="2400" b="1" i="0" u="none" strike="noStrike" kern="0" cap="none" spc="0" normalizeH="0" baseline="-25000" noProof="0" dirty="0" err="1">
                <a:ln>
                  <a:noFill/>
                </a:ln>
                <a:solidFill>
                  <a:schemeClr val="tx1"/>
                </a:solidFill>
                <a:effectLst/>
                <a:uLnTx/>
                <a:uFillTx/>
                <a:latin typeface="+mn-lt"/>
                <a:ea typeface="+mn-ea"/>
              </a:rPr>
              <a:t>SC.Sno∧SC.Cno</a:t>
            </a:r>
            <a:r>
              <a:rPr kumimoji="0" lang="en-US" altLang="zh-CN" sz="2400" b="1" i="0" u="none" strike="noStrike" kern="0" cap="none" spc="0" normalizeH="0" baseline="-25000" noProof="0" dirty="0">
                <a:ln>
                  <a:noFill/>
                </a:ln>
                <a:solidFill>
                  <a:schemeClr val="tx1"/>
                </a:solidFill>
                <a:effectLst/>
                <a:uLnTx/>
                <a:uFillTx/>
                <a:latin typeface="+mn-lt"/>
                <a:ea typeface="+mn-ea"/>
              </a:rPr>
              <a:t>=‘81003'</a:t>
            </a:r>
            <a:r>
              <a:rPr kumimoji="0" lang="en-US" altLang="zh-CN" sz="2400" b="1" i="0" u="none" strike="noStrike" kern="0" cap="none" spc="0" normalizeH="0" baseline="0" noProof="0" dirty="0">
                <a:ln>
                  <a:noFill/>
                </a:ln>
                <a:solidFill>
                  <a:schemeClr val="tx1"/>
                </a:solidFill>
                <a:effectLst/>
                <a:uLnTx/>
                <a:uFillTx/>
                <a:latin typeface="+mn-lt"/>
                <a:ea typeface="+mn-ea"/>
              </a:rPr>
              <a:t> (</a:t>
            </a:r>
            <a:r>
              <a:rPr kumimoji="0" lang="en-US" altLang="zh-CN" sz="2400" b="1" i="0" u="none" strike="noStrike" kern="0" cap="none" spc="0" normalizeH="0" baseline="0" noProof="0" dirty="0" err="1">
                <a:ln>
                  <a:noFill/>
                </a:ln>
                <a:solidFill>
                  <a:schemeClr val="tx1"/>
                </a:solidFill>
                <a:effectLst/>
                <a:uLnTx/>
                <a:uFillTx/>
                <a:latin typeface="+mn-lt"/>
                <a:ea typeface="+mn-ea"/>
              </a:rPr>
              <a:t>Student×SC</a:t>
            </a:r>
            <a:r>
              <a:rPr kumimoji="0" lang="en-US" altLang="zh-CN" sz="2400" b="1" i="0" u="none" strike="noStrike" kern="0" cap="none" spc="0" normalizeH="0" baseline="0" noProof="0" dirty="0">
                <a:ln>
                  <a:noFill/>
                </a:ln>
                <a:solidFill>
                  <a:schemeClr val="tx1"/>
                </a:solidFill>
                <a:effectLst/>
                <a:uLnTx/>
                <a:uFillTx/>
                <a:latin typeface="+mn-lt"/>
                <a:ea typeface="+mn-ea"/>
              </a:rPr>
              <a:t>))</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标题 1"/>
          <p:cNvSpPr>
            <a:spLocks noGrp="1"/>
          </p:cNvSpPr>
          <p:nvPr>
            <p:ph type="title"/>
          </p:nvPr>
        </p:nvSpPr>
        <p:spPr/>
        <p:txBody>
          <a:bodyPr vert="horz" wrap="square" lIns="91440" tIns="45720" rIns="91440" bIns="45720" anchor="ctr" anchorCtr="0"/>
          <a:p>
            <a:r>
              <a:rPr lang="zh-CN" altLang="en-US" sz="3600" dirty="0"/>
              <a:t>一个实例（续）</a:t>
            </a:r>
            <a:endParaRPr lang="zh-CN" altLang="en-US" sz="3600" dirty="0"/>
          </a:p>
        </p:txBody>
      </p:sp>
      <p:sp>
        <p:nvSpPr>
          <p:cNvPr id="52227" name="内容占位符 2"/>
          <p:cNvSpPr>
            <a:spLocks noGrp="1"/>
          </p:cNvSpPr>
          <p:nvPr>
            <p:ph idx="1"/>
          </p:nvPr>
        </p:nvSpPr>
        <p:spPr>
          <a:xfrm>
            <a:off x="334963" y="1268413"/>
            <a:ext cx="11306175" cy="4854575"/>
          </a:xfrm>
        </p:spPr>
        <p:txBody>
          <a:bodyPr vert="horz" wrap="square" lIns="91440" tIns="45720" rIns="91440" bIns="45720" numCol="1" anchor="t" anchorCtr="0" compatLnSpc="1"/>
          <a:lstStyle/>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1</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 </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计算广义笛卡尔积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算法：</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在内存中尽可能多地装入某个表</a:t>
            </a:r>
            <a:r>
              <a:rPr kumimoji="0" lang="en-US" altLang="zh-CN" sz="2400" b="1" i="0" u="none" strike="noStrike" kern="0" cap="none" spc="0" normalizeH="0" baseline="0" noProof="0" dirty="0">
                <a:ln>
                  <a:noFill/>
                </a:ln>
                <a:solidFill>
                  <a:schemeClr val="tx1"/>
                </a:solidFill>
                <a:effectLst/>
                <a:uLnTx/>
                <a:uFillTx/>
                <a:latin typeface="+mn-lt"/>
                <a:ea typeface="+mn-ea"/>
              </a:rPr>
              <a:t>(</a:t>
            </a:r>
            <a:r>
              <a:rPr kumimoji="0" lang="zh-CN" altLang="en-US" sz="2400" b="1" i="0" u="none" strike="noStrike" kern="0" cap="none" spc="0" normalizeH="0" baseline="0" noProof="0" dirty="0">
                <a:ln>
                  <a:noFill/>
                </a:ln>
                <a:solidFill>
                  <a:schemeClr val="tx1"/>
                </a:solidFill>
                <a:effectLst/>
                <a:uLnTx/>
                <a:uFillTx/>
                <a:latin typeface="+mn-lt"/>
                <a:ea typeface="+mn-ea"/>
              </a:rPr>
              <a:t>如</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表</a:t>
            </a:r>
            <a:r>
              <a:rPr kumimoji="0" lang="en-US" altLang="zh-CN" sz="2400" b="1" i="0" u="none" strike="noStrike" kern="0" cap="none" spc="0" normalizeH="0" baseline="0" noProof="0" dirty="0">
                <a:ln>
                  <a:noFill/>
                </a:ln>
                <a:solidFill>
                  <a:schemeClr val="tx1"/>
                </a:solidFill>
                <a:effectLst/>
                <a:uLnTx/>
                <a:uFillTx/>
                <a:latin typeface="+mn-lt"/>
                <a:ea typeface="+mn-ea"/>
              </a:rPr>
              <a:t>)</a:t>
            </a:r>
            <a:r>
              <a:rPr kumimoji="0" lang="zh-CN" altLang="en-US" sz="2400" b="1" i="0" u="none" strike="noStrike" kern="0" cap="none" spc="0" normalizeH="0" baseline="0" noProof="0" dirty="0">
                <a:ln>
                  <a:noFill/>
                </a:ln>
                <a:solidFill>
                  <a:schemeClr val="tx1"/>
                </a:solidFill>
                <a:effectLst/>
                <a:uLnTx/>
                <a:uFillTx/>
                <a:latin typeface="+mn-lt"/>
                <a:ea typeface="+mn-ea"/>
              </a:rPr>
              <a:t>的若干块，留出一块存放另一个表</a:t>
            </a:r>
            <a:r>
              <a:rPr kumimoji="0" lang="en-US" altLang="zh-CN" sz="2400" b="1" i="0" u="none" strike="noStrike" kern="0" cap="none" spc="0" normalizeH="0" baseline="0" noProof="0" dirty="0">
                <a:ln>
                  <a:noFill/>
                </a:ln>
                <a:solidFill>
                  <a:schemeClr val="tx1"/>
                </a:solidFill>
                <a:effectLst/>
                <a:uLnTx/>
                <a:uFillTx/>
                <a:latin typeface="+mn-lt"/>
                <a:ea typeface="+mn-ea"/>
              </a:rPr>
              <a:t>(</a:t>
            </a:r>
            <a:r>
              <a:rPr kumimoji="0" lang="zh-CN" altLang="en-US" sz="2400" b="1" i="0" u="none" strike="noStrike" kern="0" cap="none" spc="0" normalizeH="0" baseline="0" noProof="0" dirty="0">
                <a:ln>
                  <a:noFill/>
                </a:ln>
                <a:solidFill>
                  <a:schemeClr val="tx1"/>
                </a:solidFill>
                <a:effectLst/>
                <a:uLnTx/>
                <a:uFillTx/>
                <a:latin typeface="+mn-lt"/>
                <a:ea typeface="+mn-ea"/>
              </a:rPr>
              <a:t>如</a:t>
            </a:r>
            <a:r>
              <a:rPr kumimoji="0" lang="en-US" altLang="zh-CN" sz="2400" b="1" i="0" u="none" strike="noStrike" kern="0" cap="none" spc="0" normalizeH="0" baseline="0" noProof="0" dirty="0">
                <a:ln>
                  <a:noFill/>
                </a:ln>
                <a:solidFill>
                  <a:schemeClr val="tx1"/>
                </a:solidFill>
                <a:effectLst/>
                <a:uLnTx/>
                <a:uFillTx/>
                <a:latin typeface="+mn-lt"/>
                <a:ea typeface="+mn-ea"/>
              </a:rPr>
              <a:t>SC</a:t>
            </a:r>
            <a:r>
              <a:rPr kumimoji="0" lang="zh-CN" altLang="en-US" sz="2400" b="1" i="0" u="none" strike="noStrike" kern="0" cap="none" spc="0" normalizeH="0" baseline="0" noProof="0" dirty="0">
                <a:ln>
                  <a:noFill/>
                </a:ln>
                <a:solidFill>
                  <a:schemeClr val="tx1"/>
                </a:solidFill>
                <a:effectLst/>
                <a:uLnTx/>
                <a:uFillTx/>
                <a:latin typeface="+mn-lt"/>
                <a:ea typeface="+mn-ea"/>
              </a:rPr>
              <a:t>表</a:t>
            </a:r>
            <a:r>
              <a:rPr kumimoji="0" lang="en-US" altLang="zh-CN" sz="2400" b="1" i="0" u="none" strike="noStrike" kern="0" cap="none" spc="0" normalizeH="0" baseline="0" noProof="0" dirty="0">
                <a:ln>
                  <a:noFill/>
                </a:ln>
                <a:solidFill>
                  <a:schemeClr val="tx1"/>
                </a:solidFill>
                <a:effectLst/>
                <a:uLnTx/>
                <a:uFillTx/>
                <a:latin typeface="+mn-lt"/>
                <a:ea typeface="+mn-ea"/>
              </a:rPr>
              <a:t>)</a:t>
            </a:r>
            <a:r>
              <a:rPr kumimoji="0" lang="zh-CN" altLang="en-US" sz="2400" b="1" i="0" u="none" strike="noStrike" kern="0" cap="none" spc="0" normalizeH="0" baseline="0" noProof="0" dirty="0">
                <a:ln>
                  <a:noFill/>
                </a:ln>
                <a:solidFill>
                  <a:schemeClr val="tx1"/>
                </a:solidFill>
                <a:effectLst/>
                <a:uLnTx/>
                <a:uFillTx/>
                <a:latin typeface="+mn-lt"/>
                <a:ea typeface="+mn-ea"/>
              </a:rPr>
              <a:t>的元组。</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把</a:t>
            </a:r>
            <a:r>
              <a:rPr kumimoji="0" lang="en-US" altLang="zh-CN" sz="2400" b="1" i="0" u="none" strike="noStrike" kern="0" cap="none" spc="0" normalizeH="0" baseline="0" noProof="0" dirty="0">
                <a:ln>
                  <a:noFill/>
                </a:ln>
                <a:solidFill>
                  <a:schemeClr val="tx1"/>
                </a:solidFill>
                <a:effectLst/>
                <a:uLnTx/>
                <a:uFillTx/>
                <a:latin typeface="+mn-lt"/>
                <a:ea typeface="+mn-ea"/>
              </a:rPr>
              <a:t>SC</a:t>
            </a:r>
            <a:r>
              <a:rPr kumimoji="0" lang="zh-CN" altLang="en-US" sz="2400" b="1" i="0" u="none" strike="noStrike" kern="0" cap="none" spc="0" normalizeH="0" baseline="0" noProof="0" dirty="0">
                <a:ln>
                  <a:noFill/>
                </a:ln>
                <a:solidFill>
                  <a:schemeClr val="tx1"/>
                </a:solidFill>
                <a:effectLst/>
                <a:uLnTx/>
                <a:uFillTx/>
                <a:latin typeface="+mn-lt"/>
                <a:ea typeface="+mn-ea"/>
              </a:rPr>
              <a:t>中的每个元组和</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中每个元组连接，连接后的元组装满一块后就写到中间文件上</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从</a:t>
            </a:r>
            <a:r>
              <a:rPr kumimoji="0" lang="en-US" altLang="zh-CN" sz="2400" b="1" i="0" u="none" strike="noStrike" kern="0" cap="none" spc="0" normalizeH="0" baseline="0" noProof="0" dirty="0">
                <a:ln>
                  <a:noFill/>
                </a:ln>
                <a:solidFill>
                  <a:schemeClr val="tx1"/>
                </a:solidFill>
                <a:effectLst/>
                <a:uLnTx/>
                <a:uFillTx/>
                <a:latin typeface="+mn-lt"/>
                <a:ea typeface="+mn-ea"/>
              </a:rPr>
              <a:t>SC</a:t>
            </a:r>
            <a:r>
              <a:rPr kumimoji="0" lang="zh-CN" altLang="en-US" sz="2400" b="1" i="0" u="none" strike="noStrike" kern="0" cap="none" spc="0" normalizeH="0" baseline="0" noProof="0" dirty="0">
                <a:ln>
                  <a:noFill/>
                </a:ln>
                <a:solidFill>
                  <a:schemeClr val="tx1"/>
                </a:solidFill>
                <a:effectLst/>
                <a:uLnTx/>
                <a:uFillTx/>
                <a:latin typeface="+mn-lt"/>
                <a:ea typeface="+mn-ea"/>
              </a:rPr>
              <a:t>中读入一块和内存中的</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元组连接，直到</a:t>
            </a:r>
            <a:r>
              <a:rPr kumimoji="0" lang="en-US" altLang="zh-CN" sz="2400" b="1" i="0" u="none" strike="noStrike" kern="0" cap="none" spc="0" normalizeH="0" baseline="0" noProof="0" dirty="0">
                <a:ln>
                  <a:noFill/>
                </a:ln>
                <a:solidFill>
                  <a:schemeClr val="tx1"/>
                </a:solidFill>
                <a:effectLst/>
                <a:uLnTx/>
                <a:uFillTx/>
                <a:latin typeface="+mn-lt"/>
                <a:ea typeface="+mn-ea"/>
              </a:rPr>
              <a:t>SC</a:t>
            </a:r>
            <a:r>
              <a:rPr kumimoji="0" lang="zh-CN" altLang="en-US" sz="2400" b="1" i="0" u="none" strike="noStrike" kern="0" cap="none" spc="0" normalizeH="0" baseline="0" noProof="0" dirty="0">
                <a:ln>
                  <a:noFill/>
                </a:ln>
                <a:solidFill>
                  <a:schemeClr val="tx1"/>
                </a:solidFill>
                <a:effectLst/>
                <a:uLnTx/>
                <a:uFillTx/>
                <a:latin typeface="+mn-lt"/>
                <a:ea typeface="+mn-ea"/>
              </a:rPr>
              <a:t>表处理完。</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再读入若干块</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元组，读入一块</a:t>
            </a:r>
            <a:r>
              <a:rPr kumimoji="0" lang="en-US" altLang="zh-CN" sz="2400" b="1" i="0" u="none" strike="noStrike" kern="0" cap="none" spc="0" normalizeH="0" baseline="0" noProof="0" dirty="0">
                <a:ln>
                  <a:noFill/>
                </a:ln>
                <a:solidFill>
                  <a:schemeClr val="tx1"/>
                </a:solidFill>
                <a:effectLst/>
                <a:uLnTx/>
                <a:uFillTx/>
                <a:latin typeface="+mn-lt"/>
                <a:ea typeface="+mn-ea"/>
              </a:rPr>
              <a:t>SC</a:t>
            </a:r>
            <a:r>
              <a:rPr kumimoji="0" lang="zh-CN" altLang="en-US" sz="2400" b="1" i="0" u="none" strike="noStrike" kern="0" cap="none" spc="0" normalizeH="0" baseline="0" noProof="0" dirty="0">
                <a:ln>
                  <a:noFill/>
                </a:ln>
                <a:solidFill>
                  <a:schemeClr val="tx1"/>
                </a:solidFill>
                <a:effectLst/>
                <a:uLnTx/>
                <a:uFillTx/>
                <a:latin typeface="+mn-lt"/>
                <a:ea typeface="+mn-ea"/>
              </a:rPr>
              <a:t>元组</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重复上述处理过程，直到把</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表处理完 </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标题 1"/>
          <p:cNvSpPr>
            <a:spLocks noGrp="1"/>
          </p:cNvSpPr>
          <p:nvPr>
            <p:ph type="title"/>
          </p:nvPr>
        </p:nvSpPr>
        <p:spPr/>
        <p:txBody>
          <a:bodyPr vert="horz" wrap="square" lIns="91440" tIns="45720" rIns="91440" bIns="45720" anchor="ctr" anchorCtr="0"/>
          <a:p>
            <a:r>
              <a:rPr lang="zh-CN" altLang="en-US" sz="3600" dirty="0"/>
              <a:t>一个实例（续）</a:t>
            </a:r>
            <a:endParaRPr lang="zh-CN" altLang="en-US" sz="3600" dirty="0"/>
          </a:p>
        </p:txBody>
      </p:sp>
      <p:sp>
        <p:nvSpPr>
          <p:cNvPr id="3" name="内容占位符 2"/>
          <p:cNvSpPr>
            <a:spLocks noGrp="1"/>
          </p:cNvSpPr>
          <p:nvPr>
            <p:ph idx="1"/>
          </p:nvPr>
        </p:nvSpPr>
        <p:spPr>
          <a:xfrm>
            <a:off x="982663" y="1125538"/>
            <a:ext cx="10298113" cy="50958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设一个块能装</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10</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个</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Student</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元组或</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100</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个</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SC</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元组，在内存中存放</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5</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块</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Student</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元组和</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1</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块</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SC</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元组，则读取总块数为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                   </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=100+20×100=2100</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块</a:t>
            </a: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读</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表</a:t>
            </a:r>
            <a:r>
              <a:rPr kumimoji="0" lang="en-US" altLang="zh-CN" sz="2400" b="1" i="0" u="none" strike="noStrike" kern="0" cap="none" spc="0" normalizeH="0" baseline="0" noProof="0" dirty="0">
                <a:ln>
                  <a:noFill/>
                </a:ln>
                <a:solidFill>
                  <a:schemeClr val="tx1"/>
                </a:solidFill>
                <a:effectLst/>
                <a:uLnTx/>
                <a:uFillTx/>
                <a:latin typeface="+mn-lt"/>
                <a:ea typeface="+mn-ea"/>
              </a:rPr>
              <a:t>100</a:t>
            </a:r>
            <a:r>
              <a:rPr kumimoji="0" lang="zh-CN" altLang="en-US" sz="2400" b="1" i="0" u="none" strike="noStrike" kern="0" cap="none" spc="0" normalizeH="0" baseline="0" noProof="0" dirty="0">
                <a:ln>
                  <a:noFill/>
                </a:ln>
                <a:solidFill>
                  <a:schemeClr val="tx1"/>
                </a:solidFill>
                <a:effectLst/>
                <a:uLnTx/>
                <a:uFillTx/>
                <a:latin typeface="+mn-lt"/>
                <a:ea typeface="+mn-ea"/>
              </a:rPr>
              <a:t>块，读</a:t>
            </a:r>
            <a:r>
              <a:rPr kumimoji="0" lang="en-US" altLang="zh-CN" sz="2400" b="1" i="0" u="none" strike="noStrike" kern="0" cap="none" spc="0" normalizeH="0" baseline="0" noProof="0" dirty="0">
                <a:ln>
                  <a:noFill/>
                </a:ln>
                <a:solidFill>
                  <a:schemeClr val="tx1"/>
                </a:solidFill>
                <a:effectLst/>
                <a:uLnTx/>
                <a:uFillTx/>
                <a:latin typeface="+mn-lt"/>
                <a:ea typeface="+mn-ea"/>
              </a:rPr>
              <a:t>SC</a:t>
            </a:r>
            <a:r>
              <a:rPr kumimoji="0" lang="zh-CN" altLang="en-US" sz="2400" b="1" i="0" u="none" strike="noStrike" kern="0" cap="none" spc="0" normalizeH="0" baseline="0" noProof="0" dirty="0">
                <a:ln>
                  <a:noFill/>
                </a:ln>
                <a:solidFill>
                  <a:schemeClr val="tx1"/>
                </a:solidFill>
                <a:effectLst/>
                <a:uLnTx/>
                <a:uFillTx/>
                <a:latin typeface="+mn-lt"/>
                <a:ea typeface="+mn-ea"/>
              </a:rPr>
              <a:t>表</a:t>
            </a:r>
            <a:r>
              <a:rPr kumimoji="0" lang="en-US" altLang="zh-CN" sz="2400" b="1" i="0" u="none" strike="noStrike" kern="0" cap="none" spc="0" normalizeH="0" baseline="0" noProof="0" dirty="0">
                <a:ln>
                  <a:noFill/>
                </a:ln>
                <a:solidFill>
                  <a:schemeClr val="tx1"/>
                </a:solidFill>
                <a:effectLst/>
                <a:uLnTx/>
                <a:uFillTx/>
                <a:latin typeface="+mn-lt"/>
                <a:ea typeface="+mn-ea"/>
              </a:rPr>
              <a:t>20</a:t>
            </a:r>
            <a:r>
              <a:rPr kumimoji="0" lang="zh-CN" altLang="en-US" sz="2400" b="1" i="0" u="none" strike="noStrike" kern="0" cap="none" spc="0" normalizeH="0" baseline="0" noProof="0" dirty="0">
                <a:ln>
                  <a:noFill/>
                </a:ln>
                <a:solidFill>
                  <a:schemeClr val="tx1"/>
                </a:solidFill>
                <a:effectLst/>
                <a:uLnTx/>
                <a:uFillTx/>
                <a:latin typeface="+mn-lt"/>
                <a:ea typeface="+mn-ea"/>
              </a:rPr>
              <a:t>遍，每遍</a:t>
            </a:r>
            <a:r>
              <a:rPr kumimoji="0" lang="en-US" altLang="zh-CN" sz="2400" b="1" i="0" u="none" strike="noStrike" kern="0" cap="none" spc="0" normalizeH="0" baseline="0" noProof="0" dirty="0">
                <a:ln>
                  <a:noFill/>
                </a:ln>
                <a:solidFill>
                  <a:schemeClr val="tx1"/>
                </a:solidFill>
                <a:effectLst/>
                <a:uLnTx/>
                <a:uFillTx/>
                <a:latin typeface="+mn-lt"/>
                <a:ea typeface="+mn-ea"/>
              </a:rPr>
              <a:t>100</a:t>
            </a:r>
            <a:r>
              <a:rPr kumimoji="0" lang="zh-CN" altLang="en-US" sz="2400" b="1" i="0" u="none" strike="noStrike" kern="0" cap="none" spc="0" normalizeH="0" baseline="0" noProof="0" dirty="0">
                <a:ln>
                  <a:noFill/>
                </a:ln>
                <a:solidFill>
                  <a:schemeClr val="tx1"/>
                </a:solidFill>
                <a:effectLst/>
                <a:uLnTx/>
                <a:uFillTx/>
                <a:latin typeface="+mn-lt"/>
                <a:ea typeface="+mn-ea"/>
              </a:rPr>
              <a:t>块，则总计要读取</a:t>
            </a:r>
            <a:r>
              <a:rPr kumimoji="0" lang="en-US" altLang="zh-CN" sz="2400" b="1" i="0" u="none" strike="noStrike" kern="0" cap="none" spc="0" normalizeH="0" baseline="0" noProof="0" dirty="0">
                <a:ln>
                  <a:noFill/>
                </a:ln>
                <a:solidFill>
                  <a:schemeClr val="tx1"/>
                </a:solidFill>
                <a:effectLst/>
                <a:uLnTx/>
                <a:uFillTx/>
                <a:latin typeface="+mn-lt"/>
                <a:ea typeface="+mn-ea"/>
              </a:rPr>
              <a:t>2100</a:t>
            </a:r>
            <a:r>
              <a:rPr kumimoji="0" lang="zh-CN" altLang="en-US" sz="2400" b="1" i="0" u="none" strike="noStrike" kern="0" cap="none" spc="0" normalizeH="0" baseline="0" noProof="0" dirty="0">
                <a:ln>
                  <a:noFill/>
                </a:ln>
                <a:solidFill>
                  <a:schemeClr val="tx1"/>
                </a:solidFill>
                <a:effectLst/>
                <a:uLnTx/>
                <a:uFillTx/>
                <a:latin typeface="+mn-lt"/>
                <a:ea typeface="+mn-ea"/>
              </a:rPr>
              <a:t>数据块。</a:t>
            </a:r>
            <a:endParaRPr kumimoji="0" lang="en-US" altLang="zh-CN"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连接后的元组数为</a:t>
            </a:r>
            <a:r>
              <a:rPr kumimoji="0" lang="en-US" altLang="zh-CN" sz="2400" b="1" i="0" u="none" strike="noStrike" kern="0" cap="none" spc="0" normalizeH="0" baseline="0" noProof="0" dirty="0">
                <a:ln>
                  <a:noFill/>
                </a:ln>
                <a:solidFill>
                  <a:schemeClr val="tx1"/>
                </a:solidFill>
                <a:effectLst/>
                <a:uLnTx/>
                <a:uFillTx/>
                <a:latin typeface="+mn-lt"/>
                <a:ea typeface="+mn-ea"/>
              </a:rPr>
              <a:t>10</a:t>
            </a:r>
            <a:r>
              <a:rPr kumimoji="0" lang="en-US" altLang="zh-CN" sz="2400" b="1" i="0" u="none" strike="noStrike" kern="0" cap="none" spc="0" normalizeH="0" baseline="30000" noProof="0" dirty="0">
                <a:ln>
                  <a:noFill/>
                </a:ln>
                <a:solidFill>
                  <a:schemeClr val="tx1"/>
                </a:solidFill>
                <a:effectLst/>
                <a:uLnTx/>
                <a:uFillTx/>
                <a:latin typeface="+mn-lt"/>
                <a:ea typeface="+mn-ea"/>
              </a:rPr>
              <a:t>3</a:t>
            </a:r>
            <a:r>
              <a:rPr kumimoji="0" lang="en-US" altLang="zh-CN" sz="2400" b="1" i="0" u="none" strike="noStrike" kern="0" cap="none" spc="0" normalizeH="0" baseline="0" noProof="0" dirty="0">
                <a:ln>
                  <a:noFill/>
                </a:ln>
                <a:solidFill>
                  <a:schemeClr val="tx1"/>
                </a:solidFill>
                <a:effectLst/>
                <a:uLnTx/>
                <a:uFillTx/>
                <a:latin typeface="+mn-lt"/>
                <a:ea typeface="+mn-ea"/>
              </a:rPr>
              <a:t>×10</a:t>
            </a:r>
            <a:r>
              <a:rPr kumimoji="0" lang="en-US" altLang="zh-CN" sz="2400" b="1" i="0" u="none" strike="noStrike" kern="0" cap="none" spc="0" normalizeH="0" baseline="30000" noProof="0" dirty="0">
                <a:ln>
                  <a:noFill/>
                </a:ln>
                <a:solidFill>
                  <a:schemeClr val="tx1"/>
                </a:solidFill>
                <a:effectLst/>
                <a:uLnTx/>
                <a:uFillTx/>
                <a:latin typeface="+mn-lt"/>
                <a:ea typeface="+mn-ea"/>
              </a:rPr>
              <a:t>4</a:t>
            </a:r>
            <a:r>
              <a:rPr kumimoji="0" lang="en-US" altLang="zh-CN" sz="2400" b="1" i="0" u="none" strike="noStrike" kern="0" cap="none" spc="0" normalizeH="0" baseline="0" noProof="0" dirty="0">
                <a:ln>
                  <a:noFill/>
                </a:ln>
                <a:solidFill>
                  <a:schemeClr val="tx1"/>
                </a:solidFill>
                <a:effectLst/>
                <a:uLnTx/>
                <a:uFillTx/>
                <a:latin typeface="+mn-lt"/>
                <a:ea typeface="+mn-ea"/>
              </a:rPr>
              <a:t>=10</a:t>
            </a:r>
            <a:r>
              <a:rPr kumimoji="0" lang="en-US" altLang="zh-CN" sz="2400" b="1" i="0" u="none" strike="noStrike" kern="0" cap="none" spc="0" normalizeH="0" baseline="30000" noProof="0" dirty="0">
                <a:ln>
                  <a:noFill/>
                </a:ln>
                <a:solidFill>
                  <a:schemeClr val="tx1"/>
                </a:solidFill>
                <a:effectLst/>
                <a:uLnTx/>
                <a:uFillTx/>
                <a:latin typeface="+mn-lt"/>
                <a:ea typeface="+mn-ea"/>
              </a:rPr>
              <a:t>7</a:t>
            </a:r>
            <a:r>
              <a:rPr kumimoji="0" lang="zh-CN" altLang="en-US" sz="2400" b="1" i="0" u="none" strike="noStrike" kern="0" cap="none" spc="0" normalizeH="0" baseline="0" noProof="0" dirty="0">
                <a:ln>
                  <a:noFill/>
                </a:ln>
                <a:solidFill>
                  <a:schemeClr val="tx1"/>
                </a:solidFill>
                <a:effectLst/>
                <a:uLnTx/>
                <a:uFillTx/>
                <a:latin typeface="+mn-lt"/>
                <a:ea typeface="+mn-ea"/>
              </a:rPr>
              <a:t>。设每块能装</a:t>
            </a:r>
            <a:r>
              <a:rPr kumimoji="0" lang="en-US" altLang="zh-CN" sz="2400" b="1" i="0" u="none" strike="noStrike" kern="0" cap="none" spc="0" normalizeH="0" baseline="0" noProof="0" dirty="0">
                <a:ln>
                  <a:noFill/>
                </a:ln>
                <a:solidFill>
                  <a:schemeClr val="tx1"/>
                </a:solidFill>
                <a:effectLst/>
                <a:uLnTx/>
                <a:uFillTx/>
                <a:latin typeface="+mn-lt"/>
                <a:ea typeface="+mn-ea"/>
              </a:rPr>
              <a:t>10</a:t>
            </a:r>
            <a:r>
              <a:rPr kumimoji="0" lang="zh-CN" altLang="en-US" sz="2400" b="1" i="0" u="none" strike="noStrike" kern="0" cap="none" spc="0" normalizeH="0" baseline="0" noProof="0" dirty="0">
                <a:ln>
                  <a:noFill/>
                </a:ln>
                <a:solidFill>
                  <a:schemeClr val="tx1"/>
                </a:solidFill>
                <a:effectLst/>
                <a:uLnTx/>
                <a:uFillTx/>
                <a:latin typeface="+mn-lt"/>
                <a:ea typeface="+mn-ea"/>
              </a:rPr>
              <a:t>个元组，则</a:t>
            </a:r>
            <a:r>
              <a:rPr kumimoji="0" lang="zh-CN" altLang="en-US" sz="2400" b="1" i="0" u="none" strike="noStrike" kern="0" cap="none" spc="0" normalizeH="0" baseline="0" noProof="0" dirty="0">
                <a:ln>
                  <a:noFill/>
                </a:ln>
                <a:solidFill>
                  <a:srgbClr val="FF0000"/>
                </a:solidFill>
                <a:effectLst/>
                <a:uLnTx/>
                <a:uFillTx/>
                <a:latin typeface="+mn-lt"/>
                <a:ea typeface="+mn-ea"/>
              </a:rPr>
              <a:t>写出</a:t>
            </a:r>
            <a:r>
              <a:rPr kumimoji="0" lang="en-US" altLang="zh-CN" sz="2400" b="1" i="0" u="none" strike="noStrike" kern="0" cap="none" spc="0" normalizeH="0" baseline="0" noProof="0" dirty="0">
                <a:ln>
                  <a:noFill/>
                </a:ln>
                <a:solidFill>
                  <a:srgbClr val="FF0000"/>
                </a:solidFill>
                <a:effectLst/>
                <a:uLnTx/>
                <a:uFillTx/>
                <a:latin typeface="+mn-lt"/>
                <a:ea typeface="+mn-ea"/>
              </a:rPr>
              <a:t>10</a:t>
            </a:r>
            <a:r>
              <a:rPr kumimoji="0" lang="en-US" altLang="zh-CN" sz="2400" b="1" i="0" u="none" strike="noStrike" kern="0" cap="none" spc="0" normalizeH="0" baseline="30000" noProof="0" dirty="0">
                <a:ln>
                  <a:noFill/>
                </a:ln>
                <a:solidFill>
                  <a:srgbClr val="FF0000"/>
                </a:solidFill>
                <a:effectLst/>
                <a:uLnTx/>
                <a:uFillTx/>
                <a:latin typeface="+mn-lt"/>
                <a:ea typeface="+mn-ea"/>
              </a:rPr>
              <a:t>6 </a:t>
            </a:r>
            <a:r>
              <a:rPr kumimoji="0" lang="zh-CN" altLang="en-US" sz="2400" b="1" i="0" u="none" strike="noStrike" kern="0" cap="none" spc="0" normalizeH="0" baseline="0" noProof="0" dirty="0">
                <a:ln>
                  <a:noFill/>
                </a:ln>
                <a:solidFill>
                  <a:srgbClr val="FF0000"/>
                </a:solidFill>
                <a:effectLst/>
                <a:uLnTx/>
                <a:uFillTx/>
                <a:latin typeface="+mn-lt"/>
                <a:ea typeface="+mn-ea"/>
              </a:rPr>
              <a:t>块</a:t>
            </a:r>
            <a:r>
              <a:rPr kumimoji="0" lang="zh-CN" altLang="en-US" sz="2400" b="1" i="0" u="none" strike="noStrike" kern="0" cap="none" spc="0" normalizeH="0" baseline="0" noProof="0" dirty="0">
                <a:ln>
                  <a:noFill/>
                </a:ln>
                <a:solidFill>
                  <a:schemeClr val="tx1"/>
                </a:solidFill>
                <a:effectLst/>
                <a:uLnTx/>
                <a:uFillTx/>
                <a:latin typeface="+mn-lt"/>
                <a:ea typeface="+mn-ea"/>
              </a:rPr>
              <a:t>。</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graphicFrame>
        <p:nvGraphicFramePr>
          <p:cNvPr id="48132" name="对象 3"/>
          <p:cNvGraphicFramePr>
            <a:graphicFrameLocks noChangeAspect="1"/>
          </p:cNvGraphicFramePr>
          <p:nvPr/>
        </p:nvGraphicFramePr>
        <p:xfrm>
          <a:off x="2217738" y="2509838"/>
          <a:ext cx="735012" cy="649287"/>
        </p:xfrm>
        <a:graphic>
          <a:graphicData uri="http://schemas.openxmlformats.org/presentationml/2006/ole">
            <mc:AlternateContent xmlns:mc="http://schemas.openxmlformats.org/markup-compatibility/2006">
              <mc:Choice xmlns:v="urn:schemas-microsoft-com:vml" Requires="v">
                <p:oleObj spid="_x0000_s3077" name="" r:id="rId1" imgW="355600" imgH="393065" progId="Equation.3">
                  <p:embed/>
                </p:oleObj>
              </mc:Choice>
              <mc:Fallback>
                <p:oleObj name="" r:id="rId1" imgW="355600" imgH="393065" progId="Equation.3">
                  <p:embed/>
                  <p:pic>
                    <p:nvPicPr>
                      <p:cNvPr id="0" name="图片 3076"/>
                      <p:cNvPicPr/>
                      <p:nvPr/>
                    </p:nvPicPr>
                    <p:blipFill>
                      <a:blip r:embed="rId2"/>
                      <a:stretch>
                        <a:fillRect/>
                      </a:stretch>
                    </p:blipFill>
                    <p:spPr>
                      <a:xfrm>
                        <a:off x="2217738" y="2509838"/>
                        <a:ext cx="735012" cy="649287"/>
                      </a:xfrm>
                      <a:prstGeom prst="rect">
                        <a:avLst/>
                      </a:prstGeom>
                      <a:noFill/>
                      <a:ln w="38100">
                        <a:noFill/>
                        <a:miter/>
                      </a:ln>
                    </p:spPr>
                  </p:pic>
                </p:oleObj>
              </mc:Fallback>
            </mc:AlternateContent>
          </a:graphicData>
        </a:graphic>
      </p:graphicFrame>
      <p:graphicFrame>
        <p:nvGraphicFramePr>
          <p:cNvPr id="48133" name="对象 4"/>
          <p:cNvGraphicFramePr>
            <a:graphicFrameLocks noChangeAspect="1"/>
          </p:cNvGraphicFramePr>
          <p:nvPr/>
        </p:nvGraphicFramePr>
        <p:xfrm>
          <a:off x="3228817" y="2492058"/>
          <a:ext cx="789305" cy="641985"/>
        </p:xfrm>
        <a:graphic>
          <a:graphicData uri="http://schemas.openxmlformats.org/presentationml/2006/ole">
            <mc:AlternateContent xmlns:mc="http://schemas.openxmlformats.org/markup-compatibility/2006">
              <mc:Choice xmlns:v="urn:schemas-microsoft-com:vml" Requires="v">
                <p:oleObj spid="_x0000_s3078" name="" r:id="rId3" imgW="393700" imgH="393700" progId="Equation.3">
                  <p:embed/>
                </p:oleObj>
              </mc:Choice>
              <mc:Fallback>
                <p:oleObj name="" r:id="rId3" imgW="393700" imgH="393700" progId="Equation.3">
                  <p:embed/>
                  <p:pic>
                    <p:nvPicPr>
                      <p:cNvPr id="0" name="图片 3077"/>
                      <p:cNvPicPr/>
                      <p:nvPr/>
                    </p:nvPicPr>
                    <p:blipFill>
                      <a:blip r:embed="rId4"/>
                      <a:stretch>
                        <a:fillRect/>
                      </a:stretch>
                    </p:blipFill>
                    <p:spPr>
                      <a:xfrm>
                        <a:off x="3228817" y="2492058"/>
                        <a:ext cx="789305" cy="641985"/>
                      </a:xfrm>
                      <a:prstGeom prst="rect">
                        <a:avLst/>
                      </a:prstGeom>
                      <a:noFill/>
                      <a:ln w="38100">
                        <a:noFill/>
                        <a:miter/>
                      </a:ln>
                    </p:spPr>
                  </p:pic>
                </p:oleObj>
              </mc:Fallback>
            </mc:AlternateContent>
          </a:graphicData>
        </a:graphic>
      </p:graphicFrame>
      <p:graphicFrame>
        <p:nvGraphicFramePr>
          <p:cNvPr id="48134" name="对象 5"/>
          <p:cNvGraphicFramePr>
            <a:graphicFrameLocks noChangeAspect="1"/>
          </p:cNvGraphicFramePr>
          <p:nvPr/>
        </p:nvGraphicFramePr>
        <p:xfrm>
          <a:off x="3935413" y="2492375"/>
          <a:ext cx="1082675" cy="641350"/>
        </p:xfrm>
        <a:graphic>
          <a:graphicData uri="http://schemas.openxmlformats.org/presentationml/2006/ole">
            <mc:AlternateContent xmlns:mc="http://schemas.openxmlformats.org/markup-compatibility/2006">
              <mc:Choice xmlns:v="urn:schemas-microsoft-com:vml" Requires="v">
                <p:oleObj spid="_x0000_s3076" name="" r:id="rId5" imgW="533400" imgH="393700" progId="Equation.3">
                  <p:embed/>
                </p:oleObj>
              </mc:Choice>
              <mc:Fallback>
                <p:oleObj name="" r:id="rId5" imgW="533400" imgH="393700" progId="Equation.3">
                  <p:embed/>
                  <p:pic>
                    <p:nvPicPr>
                      <p:cNvPr id="0" name="图片 3075"/>
                      <p:cNvPicPr/>
                      <p:nvPr/>
                    </p:nvPicPr>
                    <p:blipFill>
                      <a:blip r:embed="rId6"/>
                      <a:stretch>
                        <a:fillRect/>
                      </a:stretch>
                    </p:blipFill>
                    <p:spPr>
                      <a:xfrm>
                        <a:off x="3935413" y="2492375"/>
                        <a:ext cx="1082675" cy="641350"/>
                      </a:xfrm>
                      <a:prstGeom prst="rect">
                        <a:avLst/>
                      </a:prstGeom>
                      <a:noFill/>
                      <a:ln w="38100">
                        <a:noFill/>
                        <a:miter/>
                      </a:ln>
                    </p:spPr>
                  </p:pic>
                </p:oleObj>
              </mc:Fallback>
            </mc:AlternateContent>
          </a:graphicData>
        </a:graphic>
      </p:graphicFrame>
      <p:sp>
        <p:nvSpPr>
          <p:cNvPr id="2" name="矩形 1"/>
          <p:cNvSpPr/>
          <p:nvPr/>
        </p:nvSpPr>
        <p:spPr>
          <a:xfrm>
            <a:off x="3228975" y="2492375"/>
            <a:ext cx="789305" cy="641350"/>
          </a:xfrm>
          <a:prstGeom prst="rect">
            <a:avLst/>
          </a:prstGeom>
          <a:solidFill>
            <a:srgbClr val="FF0000">
              <a:alpha val="9000"/>
            </a:srgbClr>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标题 1"/>
          <p:cNvSpPr>
            <a:spLocks noGrp="1"/>
          </p:cNvSpPr>
          <p:nvPr>
            <p:ph type="title"/>
          </p:nvPr>
        </p:nvSpPr>
        <p:spPr/>
        <p:txBody>
          <a:bodyPr vert="horz" wrap="square" lIns="91440" tIns="45720" rIns="91440" bIns="45720" anchor="ctr" anchorCtr="0"/>
          <a:p>
            <a:r>
              <a:rPr lang="zh-CN" altLang="en-US" sz="3600" dirty="0"/>
              <a:t>一个实例（续）</a:t>
            </a:r>
            <a:endParaRPr lang="zh-CN" altLang="en-US" sz="3600" dirty="0"/>
          </a:p>
        </p:txBody>
      </p:sp>
      <p:sp>
        <p:nvSpPr>
          <p:cNvPr id="53251" name="内容占位符 2"/>
          <p:cNvSpPr>
            <a:spLocks noGrp="1"/>
          </p:cNvSpPr>
          <p:nvPr>
            <p:ph idx="1"/>
          </p:nvPr>
        </p:nvSpPr>
        <p:spPr>
          <a:xfrm>
            <a:off x="609600" y="1484313"/>
            <a:ext cx="10972800" cy="4854575"/>
          </a:xfrm>
        </p:spPr>
        <p:txBody>
          <a:bodyPr vert="horz" wrap="square" lIns="91440" tIns="45720" rIns="91440" bIns="45720" numCol="1" anchor="t" anchorCtr="0" compatLnSpc="1"/>
          <a:lstStyle/>
          <a:p>
            <a:pPr marL="0" marR="0" lvl="0" indent="0" algn="l" defTabSz="914400" rtl="0" eaLnBrk="0" fontAlgn="base" latinLnBrk="0" hangingPunct="0">
              <a:lnSpc>
                <a:spcPct val="150000"/>
              </a:lnSpc>
              <a:spcBef>
                <a:spcPct val="20000"/>
              </a:spcBef>
              <a:spcAft>
                <a:spcPct val="0"/>
              </a:spcAft>
              <a:buClrTx/>
              <a:buSzPct val="10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2</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）作选择操作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5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依次读入连接后的元组，按照选择条件选取满足要求的记录</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假定内存处理时间忽略。读取中间文件花费的时间</a:t>
            </a:r>
            <a:r>
              <a:rPr kumimoji="0" lang="en-US" altLang="zh-CN" sz="2400" b="1" i="0" u="none" strike="noStrike" kern="0" cap="none" spc="0" normalizeH="0" baseline="0" noProof="0" dirty="0">
                <a:ln>
                  <a:noFill/>
                </a:ln>
                <a:solidFill>
                  <a:schemeClr val="tx1"/>
                </a:solidFill>
                <a:effectLst/>
                <a:uLnTx/>
                <a:uFillTx/>
                <a:latin typeface="+mn-lt"/>
                <a:ea typeface="+mn-ea"/>
              </a:rPr>
              <a:t>(</a:t>
            </a:r>
            <a:r>
              <a:rPr kumimoji="0" lang="zh-CN" altLang="en-US" sz="2400" b="1" i="0" u="none" strike="noStrike" kern="0" cap="none" spc="0" normalizeH="0" baseline="0" noProof="0" dirty="0">
                <a:ln>
                  <a:noFill/>
                </a:ln>
                <a:solidFill>
                  <a:schemeClr val="tx1"/>
                </a:solidFill>
                <a:effectLst/>
                <a:uLnTx/>
                <a:uFillTx/>
                <a:latin typeface="+mn-lt"/>
                <a:ea typeface="+mn-ea"/>
              </a:rPr>
              <a:t>同写中间文件一样</a:t>
            </a:r>
            <a:r>
              <a:rPr kumimoji="0" lang="en-US" altLang="zh-CN" sz="2400" b="1" i="0" u="none" strike="noStrike" kern="0" cap="none" spc="0" normalizeH="0" baseline="0" noProof="0" dirty="0">
                <a:ln>
                  <a:noFill/>
                </a:ln>
                <a:solidFill>
                  <a:schemeClr val="tx1"/>
                </a:solidFill>
                <a:effectLst/>
                <a:uLnTx/>
                <a:uFillTx/>
                <a:latin typeface="+mn-lt"/>
                <a:ea typeface="+mn-ea"/>
              </a:rPr>
              <a:t>)</a:t>
            </a:r>
            <a:r>
              <a:rPr kumimoji="0" lang="zh-CN" altLang="en-US" sz="2400" b="1" i="0" u="none" strike="noStrike" kern="0" cap="none" spc="0" normalizeH="0" baseline="0" noProof="0" dirty="0">
                <a:ln>
                  <a:noFill/>
                </a:ln>
                <a:solidFill>
                  <a:schemeClr val="tx1"/>
                </a:solidFill>
                <a:effectLst/>
                <a:uLnTx/>
                <a:uFillTx/>
                <a:latin typeface="+mn-lt"/>
                <a:ea typeface="+mn-ea"/>
              </a:rPr>
              <a:t>需读入</a:t>
            </a:r>
            <a:r>
              <a:rPr kumimoji="0" lang="en-US" altLang="zh-CN" sz="2400" b="1" i="0" u="none" strike="noStrike" kern="0" cap="none" spc="0" normalizeH="0" baseline="0" noProof="0" dirty="0">
                <a:ln>
                  <a:noFill/>
                </a:ln>
                <a:solidFill>
                  <a:schemeClr val="tx1"/>
                </a:solidFill>
                <a:effectLst/>
                <a:uLnTx/>
                <a:uFillTx/>
                <a:latin typeface="+mn-lt"/>
                <a:ea typeface="+mn-ea"/>
              </a:rPr>
              <a:t>10</a:t>
            </a:r>
            <a:r>
              <a:rPr kumimoji="0" lang="en-US" altLang="zh-CN" sz="2400" b="1" i="0" u="none" strike="noStrike" kern="0" cap="none" spc="0" normalizeH="0" baseline="30000" noProof="0" dirty="0">
                <a:ln>
                  <a:noFill/>
                </a:ln>
                <a:solidFill>
                  <a:schemeClr val="tx1"/>
                </a:solidFill>
                <a:effectLst/>
                <a:uLnTx/>
                <a:uFillTx/>
                <a:latin typeface="+mn-lt"/>
                <a:ea typeface="+mn-ea"/>
              </a:rPr>
              <a:t>6</a:t>
            </a:r>
            <a:r>
              <a:rPr kumimoji="0" lang="zh-CN" altLang="en-US" sz="2400" b="1" i="0" u="none" strike="noStrike" kern="0" cap="none" spc="0" normalizeH="0" baseline="0" noProof="0" dirty="0">
                <a:ln>
                  <a:noFill/>
                </a:ln>
                <a:solidFill>
                  <a:schemeClr val="tx1"/>
                </a:solidFill>
                <a:effectLst/>
                <a:uLnTx/>
                <a:uFillTx/>
                <a:latin typeface="+mn-lt"/>
                <a:ea typeface="+mn-ea"/>
              </a:rPr>
              <a:t>块。</a:t>
            </a:r>
            <a:r>
              <a:rPr kumimoji="0" lang="en-US" altLang="zh-CN" sz="2400" b="1" i="0" u="none" strike="noStrike" kern="0" cap="none" spc="0" normalizeH="0" baseline="0" noProof="0" dirty="0">
                <a:ln>
                  <a:noFill/>
                </a:ln>
                <a:solidFill>
                  <a:schemeClr val="tx1"/>
                </a:solidFill>
                <a:effectLst/>
                <a:uLnTx/>
                <a:uFillTx/>
                <a:latin typeface="+mn-lt"/>
                <a:ea typeface="+mn-ea"/>
              </a:rPr>
              <a:t> </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若满足条件的元组假设仅</a:t>
            </a:r>
            <a:r>
              <a:rPr kumimoji="0" lang="en-US" altLang="zh-CN" sz="2400" b="1" i="0" u="none" strike="noStrike" kern="0" cap="none" spc="0" normalizeH="0" baseline="0" noProof="0" dirty="0">
                <a:ln>
                  <a:noFill/>
                </a:ln>
                <a:solidFill>
                  <a:schemeClr val="tx1"/>
                </a:solidFill>
                <a:effectLst/>
                <a:uLnTx/>
                <a:uFillTx/>
                <a:latin typeface="+mn-lt"/>
                <a:ea typeface="+mn-ea"/>
              </a:rPr>
              <a:t>50</a:t>
            </a:r>
            <a:r>
              <a:rPr kumimoji="0" lang="zh-CN" altLang="en-US" sz="2400" b="1" i="0" u="none" strike="noStrike" kern="0" cap="none" spc="0" normalizeH="0" baseline="0" noProof="0" dirty="0">
                <a:ln>
                  <a:noFill/>
                </a:ln>
                <a:solidFill>
                  <a:schemeClr val="tx1"/>
                </a:solidFill>
                <a:effectLst/>
                <a:uLnTx/>
                <a:uFillTx/>
                <a:latin typeface="+mn-lt"/>
                <a:ea typeface="+mn-ea"/>
              </a:rPr>
              <a:t>个，均可放在内存。 </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标题 1"/>
          <p:cNvSpPr>
            <a:spLocks noGrp="1"/>
          </p:cNvSpPr>
          <p:nvPr>
            <p:ph type="title"/>
          </p:nvPr>
        </p:nvSpPr>
        <p:spPr/>
        <p:txBody>
          <a:bodyPr vert="horz" wrap="square" lIns="91440" tIns="45720" rIns="91440" bIns="45720" anchor="ctr" anchorCtr="0"/>
          <a:p>
            <a:r>
              <a:rPr lang="zh-CN" altLang="en-US" sz="3600" dirty="0"/>
              <a:t>一个实例（续）</a:t>
            </a:r>
            <a:endParaRPr lang="zh-CN" altLang="en-US" sz="3600" dirty="0"/>
          </a:p>
        </p:txBody>
      </p:sp>
      <p:sp>
        <p:nvSpPr>
          <p:cNvPr id="54275" name="内容占位符 2"/>
          <p:cNvSpPr>
            <a:spLocks noGrp="1"/>
          </p:cNvSpPr>
          <p:nvPr>
            <p:ph idx="1"/>
          </p:nvPr>
        </p:nvSpPr>
        <p:spPr>
          <a:xfrm>
            <a:off x="695325" y="1484313"/>
            <a:ext cx="10972800" cy="485457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3</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）作投影操作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把第（</a:t>
            </a:r>
            <a:r>
              <a:rPr kumimoji="0" lang="en-US" altLang="zh-CN" sz="2400" b="1" i="0" u="none" strike="noStrike" kern="0" cap="none" spc="0" normalizeH="0" baseline="0" noProof="0" dirty="0">
                <a:ln>
                  <a:noFill/>
                </a:ln>
                <a:solidFill>
                  <a:schemeClr val="tx1"/>
                </a:solidFill>
                <a:effectLst/>
                <a:uLnTx/>
                <a:uFillTx/>
                <a:latin typeface="+mn-lt"/>
                <a:ea typeface="+mn-ea"/>
              </a:rPr>
              <a:t>2</a:t>
            </a:r>
            <a:r>
              <a:rPr kumimoji="0" lang="zh-CN" altLang="en-US" sz="2400" b="1" i="0" u="none" strike="noStrike" kern="0" cap="none" spc="0" normalizeH="0" baseline="0" noProof="0" dirty="0">
                <a:ln>
                  <a:noFill/>
                </a:ln>
                <a:solidFill>
                  <a:schemeClr val="tx1"/>
                </a:solidFill>
                <a:effectLst/>
                <a:uLnTx/>
                <a:uFillTx/>
                <a:latin typeface="+mn-lt"/>
                <a:ea typeface="+mn-ea"/>
              </a:rPr>
              <a:t>）步的结果在</a:t>
            </a:r>
            <a:r>
              <a:rPr kumimoji="0" lang="en-US" altLang="zh-CN" sz="2400" b="1" i="0" u="none" strike="noStrike" kern="0" cap="none" spc="0" normalizeH="0" baseline="0" noProof="0" dirty="0" err="1">
                <a:ln>
                  <a:noFill/>
                </a:ln>
                <a:solidFill>
                  <a:schemeClr val="tx1"/>
                </a:solidFill>
                <a:effectLst/>
                <a:uLnTx/>
                <a:uFillTx/>
                <a:latin typeface="+mn-lt"/>
                <a:ea typeface="+mn-ea"/>
              </a:rPr>
              <a:t>Sname</a:t>
            </a:r>
            <a:r>
              <a:rPr kumimoji="0" lang="zh-CN" altLang="en-US" sz="2400" b="1" i="0" u="none" strike="noStrike" kern="0" cap="none" spc="0" normalizeH="0" baseline="0" noProof="0" dirty="0">
                <a:ln>
                  <a:noFill/>
                </a:ln>
                <a:solidFill>
                  <a:schemeClr val="tx1"/>
                </a:solidFill>
                <a:effectLst/>
                <a:uLnTx/>
                <a:uFillTx/>
                <a:latin typeface="+mn-lt"/>
                <a:ea typeface="+mn-ea"/>
              </a:rPr>
              <a:t>上作投影输出，得到最终结果 </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n"/>
              <a:defRPr/>
            </a:pP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第一种情况下执行查询的总读写数据块</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=2100+10</a:t>
            </a:r>
            <a:r>
              <a:rPr kumimoji="0" lang="en-US" altLang="zh-CN" sz="2800" b="1" i="0" u="none" strike="noStrike" kern="0" cap="none" spc="0" normalizeH="0" baseline="30000" noProof="0" dirty="0">
                <a:ln>
                  <a:noFill/>
                </a:ln>
                <a:solidFill>
                  <a:schemeClr val="tx1"/>
                </a:solidFill>
                <a:effectLst/>
                <a:uLnTx/>
                <a:uFillTx/>
                <a:latin typeface="+mn-lt"/>
                <a:ea typeface="+mn-ea"/>
                <a:cs typeface="+mn-cs"/>
              </a:rPr>
              <a:t>6</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 +10</a:t>
            </a:r>
            <a:r>
              <a:rPr kumimoji="0" lang="en-US" altLang="zh-CN" sz="2800" b="1" i="0" u="none" strike="noStrike" kern="0" cap="none" spc="0" normalizeH="0" baseline="30000" noProof="0" dirty="0">
                <a:ln>
                  <a:noFill/>
                </a:ln>
                <a:solidFill>
                  <a:schemeClr val="tx1"/>
                </a:solidFill>
                <a:effectLst/>
                <a:uLnTx/>
                <a:uFillTx/>
                <a:latin typeface="+mn-lt"/>
                <a:ea typeface="+mn-ea"/>
                <a:cs typeface="+mn-cs"/>
              </a:rPr>
              <a:t>6</a:t>
            </a:r>
            <a:endParaRPr kumimoji="0" lang="en-US" altLang="zh-CN" sz="2800" b="1" i="0" u="none" strike="noStrike" kern="0" cap="none" spc="0" normalizeH="0" baseline="3000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标题 1"/>
          <p:cNvSpPr>
            <a:spLocks noGrp="1"/>
          </p:cNvSpPr>
          <p:nvPr>
            <p:ph type="title"/>
          </p:nvPr>
        </p:nvSpPr>
        <p:spPr/>
        <p:txBody>
          <a:bodyPr vert="horz" wrap="square" lIns="91440" tIns="45720" rIns="91440" bIns="45720" anchor="ctr" anchorCtr="0"/>
          <a:p>
            <a:r>
              <a:rPr lang="zh-CN" altLang="en-US" sz="3600" dirty="0"/>
              <a:t>一个实例（续）</a:t>
            </a:r>
            <a:endParaRPr lang="zh-CN" altLang="en-US" sz="3600" dirty="0"/>
          </a:p>
        </p:txBody>
      </p:sp>
      <p:sp>
        <p:nvSpPr>
          <p:cNvPr id="3" name="内容占位符 2"/>
          <p:cNvSpPr>
            <a:spLocks noGrp="1"/>
          </p:cNvSpPr>
          <p:nvPr>
            <p:ph idx="1"/>
          </p:nvPr>
        </p:nvSpPr>
        <p:spPr>
          <a:xfrm>
            <a:off x="1055688" y="1341438"/>
            <a:ext cx="9936163" cy="5213350"/>
          </a:xfrm>
        </p:spPr>
        <p:txBody>
          <a:bodyPr vert="horz" wrap="square" lIns="91440" tIns="45720" rIns="91440" bIns="45720" numCol="1" anchor="t" anchorCtr="0" compatLnSpc="1"/>
          <a:lstStyle/>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2.</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第二种情况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800" b="1" i="1" u="none" strike="noStrike" kern="0" cap="none" spc="0" normalizeH="0" baseline="0" noProof="0" dirty="0">
                <a:ln>
                  <a:noFill/>
                </a:ln>
                <a:solidFill>
                  <a:schemeClr val="tx1"/>
                </a:solidFill>
                <a:effectLst/>
                <a:uLnTx/>
                <a:uFillTx/>
                <a:latin typeface="+mn-lt"/>
                <a:ea typeface="+mn-ea"/>
                <a:cs typeface="+mn-cs"/>
              </a:rPr>
              <a:t>Q</a:t>
            </a:r>
            <a:r>
              <a:rPr kumimoji="0" lang="en-US" altLang="zh-CN" sz="2800" b="1" i="0" u="none" strike="noStrike" kern="0" cap="none" spc="0" normalizeH="0" baseline="-25000" noProof="0" dirty="0">
                <a:ln>
                  <a:noFill/>
                </a:ln>
                <a:solidFill>
                  <a:schemeClr val="tx1"/>
                </a:solidFill>
                <a:effectLst/>
                <a:uLnTx/>
                <a:uFillTx/>
                <a:latin typeface="+mn-lt"/>
                <a:ea typeface="+mn-ea"/>
                <a:cs typeface="+mn-cs"/>
              </a:rPr>
              <a:t>2</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=π</a:t>
            </a:r>
            <a:r>
              <a:rPr kumimoji="0" lang="en-US" altLang="zh-CN" sz="2800" b="1" i="0" u="none" strike="noStrike" kern="0" cap="none" spc="0" normalizeH="0" baseline="-25000" noProof="0" dirty="0" err="1">
                <a:ln>
                  <a:noFill/>
                </a:ln>
                <a:solidFill>
                  <a:schemeClr val="tx1"/>
                </a:solidFill>
                <a:effectLst/>
                <a:uLnTx/>
                <a:uFillTx/>
                <a:latin typeface="+mn-lt"/>
                <a:ea typeface="+mn-ea"/>
                <a:cs typeface="+mn-cs"/>
              </a:rPr>
              <a:t>Sname</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err="1">
                <a:ln>
                  <a:noFill/>
                </a:ln>
                <a:solidFill>
                  <a:schemeClr val="tx1"/>
                </a:solidFill>
                <a:effectLst/>
                <a:uLnTx/>
                <a:uFillTx/>
                <a:latin typeface="+mn-lt"/>
                <a:ea typeface="+mn-ea"/>
                <a:cs typeface="+mn-cs"/>
              </a:rPr>
              <a:t>σ</a:t>
            </a:r>
            <a:r>
              <a:rPr kumimoji="0" lang="en-US" altLang="zh-CN" sz="2800" b="1" i="0" u="none" strike="noStrike" kern="0" cap="none" spc="0" normalizeH="0" baseline="-25000" noProof="0" dirty="0" err="1">
                <a:ln>
                  <a:noFill/>
                </a:ln>
                <a:solidFill>
                  <a:schemeClr val="tx1"/>
                </a:solidFill>
                <a:effectLst/>
                <a:uLnTx/>
                <a:uFillTx/>
                <a:latin typeface="+mn-lt"/>
                <a:ea typeface="+mn-ea"/>
                <a:cs typeface="+mn-cs"/>
              </a:rPr>
              <a:t>Sc.Cno</a:t>
            </a:r>
            <a:r>
              <a:rPr kumimoji="0" lang="en-US" altLang="zh-CN" sz="2800" b="1" i="0" u="none" strike="noStrike" kern="0" cap="none" spc="0" normalizeH="0" baseline="-25000" noProof="0" dirty="0">
                <a:ln>
                  <a:noFill/>
                </a:ln>
                <a:solidFill>
                  <a:schemeClr val="tx1"/>
                </a:solidFill>
                <a:effectLst/>
                <a:uLnTx/>
                <a:uFillTx/>
                <a:latin typeface="+mn-lt"/>
                <a:ea typeface="+mn-ea"/>
                <a:cs typeface="+mn-cs"/>
              </a:rPr>
              <a:t>=‘81003'</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 (Student     SC))</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rPr>
              <a:t>（</a:t>
            </a:r>
            <a:r>
              <a:rPr kumimoji="0" lang="en-US" altLang="zh-CN" sz="2400" b="1" i="0" u="none" strike="noStrike" kern="0" cap="none" spc="0" normalizeH="0" baseline="0" noProof="0" dirty="0">
                <a:ln>
                  <a:noFill/>
                </a:ln>
                <a:solidFill>
                  <a:schemeClr val="tx1"/>
                </a:solidFill>
                <a:effectLst/>
                <a:uLnTx/>
                <a:uFillTx/>
                <a:latin typeface="+mn-lt"/>
                <a:ea typeface="+mn-ea"/>
              </a:rPr>
              <a:t>1</a:t>
            </a:r>
            <a:r>
              <a:rPr kumimoji="0" lang="zh-CN" altLang="en-US" sz="2400" b="1" i="0" u="none" strike="noStrike" kern="0" cap="none" spc="0" normalizeH="0" baseline="0" noProof="0" dirty="0">
                <a:ln>
                  <a:noFill/>
                </a:ln>
                <a:solidFill>
                  <a:schemeClr val="tx1"/>
                </a:solidFill>
                <a:effectLst/>
                <a:uLnTx/>
                <a:uFillTx/>
                <a:latin typeface="+mn-lt"/>
                <a:ea typeface="+mn-ea"/>
              </a:rPr>
              <a:t>）计算自然连接 </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执行自然连接，读取</a:t>
            </a:r>
            <a:r>
              <a:rPr kumimoji="0" lang="en-US" altLang="zh-CN" sz="2200" b="1" i="0" u="none" strike="noStrike" kern="0" cap="none" spc="0" normalizeH="0" baseline="0" noProof="0" dirty="0">
                <a:ln>
                  <a:noFill/>
                </a:ln>
                <a:solidFill>
                  <a:schemeClr val="tx1"/>
                </a:solidFill>
                <a:effectLst/>
                <a:uLnTx/>
                <a:uFillTx/>
                <a:latin typeface="+mn-lt"/>
                <a:ea typeface="+mn-ea"/>
              </a:rPr>
              <a:t>Student</a:t>
            </a:r>
            <a:r>
              <a:rPr kumimoji="0" lang="zh-CN" altLang="en-US" sz="2200" b="1" i="0" u="none" strike="noStrike" kern="0" cap="none" spc="0" normalizeH="0" baseline="0" noProof="0" dirty="0">
                <a:ln>
                  <a:noFill/>
                </a:ln>
                <a:solidFill>
                  <a:schemeClr val="tx1"/>
                </a:solidFill>
                <a:effectLst/>
                <a:uLnTx/>
                <a:uFillTx/>
                <a:latin typeface="+mn-lt"/>
                <a:ea typeface="+mn-ea"/>
              </a:rPr>
              <a:t>和</a:t>
            </a:r>
            <a:r>
              <a:rPr kumimoji="0" lang="en-US" altLang="zh-CN" sz="2200" b="1" i="0" u="none" strike="noStrike" kern="0" cap="none" spc="0" normalizeH="0" baseline="0" noProof="0" dirty="0">
                <a:ln>
                  <a:noFill/>
                </a:ln>
                <a:solidFill>
                  <a:schemeClr val="tx1"/>
                </a:solidFill>
                <a:effectLst/>
                <a:uLnTx/>
                <a:uFillTx/>
                <a:latin typeface="+mn-lt"/>
                <a:ea typeface="+mn-ea"/>
              </a:rPr>
              <a:t>SC</a:t>
            </a:r>
            <a:r>
              <a:rPr kumimoji="0" lang="zh-CN" altLang="en-US" sz="2200" b="1" i="0" u="none" strike="noStrike" kern="0" cap="none" spc="0" normalizeH="0" baseline="0" noProof="0" dirty="0">
                <a:ln>
                  <a:noFill/>
                </a:ln>
                <a:solidFill>
                  <a:schemeClr val="tx1"/>
                </a:solidFill>
                <a:effectLst/>
                <a:uLnTx/>
                <a:uFillTx/>
                <a:latin typeface="+mn-lt"/>
                <a:ea typeface="+mn-ea"/>
              </a:rPr>
              <a:t>表的策略不变，总的读取块数仍为</a:t>
            </a:r>
            <a:r>
              <a:rPr kumimoji="0" lang="en-US" altLang="zh-CN" sz="2200" b="1" i="0" u="none" strike="noStrike" kern="0" cap="none" spc="0" normalizeH="0" baseline="0" noProof="0" dirty="0">
                <a:ln>
                  <a:noFill/>
                </a:ln>
                <a:solidFill>
                  <a:schemeClr val="tx1"/>
                </a:solidFill>
                <a:effectLst/>
                <a:uLnTx/>
                <a:uFillTx/>
                <a:latin typeface="+mn-lt"/>
                <a:ea typeface="+mn-ea"/>
              </a:rPr>
              <a:t>2100</a:t>
            </a:r>
            <a:r>
              <a:rPr kumimoji="0" lang="zh-CN" altLang="en-US" sz="2200" b="1" i="0" u="none" strike="noStrike" kern="0" cap="none" spc="0" normalizeH="0" baseline="0" noProof="0" dirty="0">
                <a:ln>
                  <a:noFill/>
                </a:ln>
                <a:solidFill>
                  <a:schemeClr val="tx1"/>
                </a:solidFill>
                <a:effectLst/>
                <a:uLnTx/>
                <a:uFillTx/>
                <a:latin typeface="+mn-lt"/>
                <a:ea typeface="+mn-ea"/>
              </a:rPr>
              <a:t>块</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自然连接的结果比第一种情况大大减少，为</a:t>
            </a:r>
            <a:r>
              <a:rPr kumimoji="0" lang="en-US" altLang="zh-CN" sz="2200" b="1" i="0" u="none" strike="noStrike" kern="0" cap="none" spc="0" normalizeH="0" baseline="0" noProof="0" dirty="0">
                <a:ln>
                  <a:noFill/>
                </a:ln>
                <a:solidFill>
                  <a:schemeClr val="tx1"/>
                </a:solidFill>
                <a:effectLst/>
                <a:uLnTx/>
                <a:uFillTx/>
                <a:latin typeface="+mn-lt"/>
                <a:ea typeface="+mn-ea"/>
              </a:rPr>
              <a:t>10</a:t>
            </a:r>
            <a:r>
              <a:rPr kumimoji="0" lang="en-US" altLang="zh-CN" sz="2200" b="1" i="0" u="none" strike="noStrike" kern="0" cap="none" spc="0" normalizeH="0" baseline="30000" noProof="0" dirty="0">
                <a:ln>
                  <a:noFill/>
                </a:ln>
                <a:solidFill>
                  <a:schemeClr val="tx1"/>
                </a:solidFill>
                <a:effectLst/>
                <a:uLnTx/>
                <a:uFillTx/>
                <a:latin typeface="+mn-lt"/>
                <a:ea typeface="+mn-ea"/>
              </a:rPr>
              <a:t>4</a:t>
            </a:r>
            <a:r>
              <a:rPr kumimoji="0" lang="zh-CN" altLang="en-US" sz="2200" b="1" i="0" u="none" strike="noStrike" kern="0" cap="none" spc="0" normalizeH="0" baseline="0" noProof="0" dirty="0">
                <a:ln>
                  <a:noFill/>
                </a:ln>
                <a:solidFill>
                  <a:schemeClr val="tx1"/>
                </a:solidFill>
                <a:effectLst/>
                <a:uLnTx/>
                <a:uFillTx/>
                <a:latin typeface="+mn-lt"/>
                <a:ea typeface="+mn-ea"/>
              </a:rPr>
              <a:t>个元组</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写出数据块</a:t>
            </a:r>
            <a:r>
              <a:rPr kumimoji="0" lang="en-US" altLang="zh-CN" sz="2200" b="1" i="0" u="none" strike="noStrike" kern="0" cap="none" spc="0" normalizeH="0" baseline="0" noProof="0" dirty="0">
                <a:ln>
                  <a:noFill/>
                </a:ln>
                <a:solidFill>
                  <a:schemeClr val="tx1"/>
                </a:solidFill>
                <a:effectLst/>
                <a:uLnTx/>
                <a:uFillTx/>
                <a:latin typeface="+mn-lt"/>
                <a:ea typeface="+mn-ea"/>
              </a:rPr>
              <a:t>=</a:t>
            </a:r>
            <a:r>
              <a:rPr kumimoji="0" lang="zh-CN" altLang="en-US" sz="2200" b="1" i="0" u="none" strike="noStrike" kern="0" cap="none" spc="0" normalizeH="0" baseline="0" noProof="0" dirty="0">
                <a:ln>
                  <a:noFill/>
                </a:ln>
                <a:solidFill>
                  <a:schemeClr val="tx1"/>
                </a:solidFill>
                <a:effectLst/>
                <a:uLnTx/>
                <a:uFillTx/>
                <a:latin typeface="+mn-lt"/>
                <a:ea typeface="+mn-ea"/>
              </a:rPr>
              <a:t> </a:t>
            </a:r>
            <a:r>
              <a:rPr kumimoji="0" lang="en-US" altLang="zh-CN" sz="2200" b="1" i="0" u="none" strike="noStrike" kern="0" cap="none" spc="0" normalizeH="0" baseline="0" noProof="0" dirty="0">
                <a:ln>
                  <a:noFill/>
                </a:ln>
                <a:solidFill>
                  <a:schemeClr val="tx1"/>
                </a:solidFill>
                <a:effectLst/>
                <a:uLnTx/>
                <a:uFillTx/>
                <a:latin typeface="+mn-lt"/>
                <a:ea typeface="+mn-ea"/>
              </a:rPr>
              <a:t>10</a:t>
            </a:r>
            <a:r>
              <a:rPr kumimoji="0" lang="en-US" altLang="zh-CN" sz="2200" b="1" i="0" u="none" strike="noStrike" kern="0" cap="none" spc="0" normalizeH="0" baseline="30000" noProof="0" dirty="0">
                <a:ln>
                  <a:noFill/>
                </a:ln>
                <a:solidFill>
                  <a:schemeClr val="tx1"/>
                </a:solidFill>
                <a:effectLst/>
                <a:uLnTx/>
                <a:uFillTx/>
                <a:latin typeface="+mn-lt"/>
                <a:ea typeface="+mn-ea"/>
              </a:rPr>
              <a:t>3</a:t>
            </a:r>
            <a:r>
              <a:rPr kumimoji="0" lang="en-US" altLang="zh-CN" sz="2200" b="1" i="0" u="none" strike="noStrike" kern="0" cap="none" spc="0" normalizeH="0" baseline="0" noProof="0" dirty="0">
                <a:ln>
                  <a:noFill/>
                </a:ln>
                <a:solidFill>
                  <a:schemeClr val="tx1"/>
                </a:solidFill>
                <a:effectLst/>
                <a:uLnTx/>
                <a:uFillTx/>
                <a:latin typeface="+mn-lt"/>
                <a:ea typeface="+mn-ea"/>
              </a:rPr>
              <a:t> </a:t>
            </a:r>
            <a:r>
              <a:rPr kumimoji="0" lang="zh-CN" altLang="en-US" sz="2200" b="1" i="0" u="none" strike="noStrike" kern="0" cap="none" spc="0" normalizeH="0" baseline="0" noProof="0" dirty="0">
                <a:ln>
                  <a:noFill/>
                </a:ln>
                <a:solidFill>
                  <a:schemeClr val="tx1"/>
                </a:solidFill>
                <a:effectLst/>
                <a:uLnTx/>
                <a:uFillTx/>
                <a:latin typeface="+mn-lt"/>
                <a:ea typeface="+mn-ea"/>
              </a:rPr>
              <a:t>块</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grpSp>
        <p:nvGrpSpPr>
          <p:cNvPr id="51204" name="Group 4"/>
          <p:cNvGrpSpPr/>
          <p:nvPr/>
        </p:nvGrpSpPr>
        <p:grpSpPr>
          <a:xfrm>
            <a:off x="6388100" y="2133600"/>
            <a:ext cx="1600200" cy="825500"/>
            <a:chOff x="2325" y="6446"/>
            <a:chExt cx="705" cy="367"/>
          </a:xfrm>
        </p:grpSpPr>
        <p:sp>
          <p:nvSpPr>
            <p:cNvPr id="51205" name="AutoShape 5"/>
            <p:cNvSpPr/>
            <p:nvPr/>
          </p:nvSpPr>
          <p:spPr>
            <a:xfrm rot="5400000" flipV="1">
              <a:off x="2612" y="6414"/>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51206" name="Text Box 6"/>
            <p:cNvSpPr txBox="1"/>
            <p:nvPr/>
          </p:nvSpPr>
          <p:spPr>
            <a:xfrm flipV="1">
              <a:off x="2325" y="6450"/>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lnSpc>
                  <a:spcPct val="80000"/>
                </a:lnSpc>
                <a:spcBef>
                  <a:spcPct val="0"/>
                </a:spcBef>
                <a:buSzTx/>
                <a:buFont typeface="Arial" panose="020B0604020202020204" pitchFamily="34" charset="0"/>
                <a:buNone/>
              </a:pPr>
              <a:r>
                <a:rPr lang="en-US" altLang="zh-CN" sz="600" i="1" dirty="0"/>
                <a:t> </a:t>
              </a:r>
              <a:endParaRPr lang="en-US" altLang="zh-CN" sz="600" dirty="0"/>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标题 1"/>
          <p:cNvSpPr>
            <a:spLocks noGrp="1"/>
          </p:cNvSpPr>
          <p:nvPr>
            <p:ph type="title"/>
          </p:nvPr>
        </p:nvSpPr>
        <p:spPr/>
        <p:txBody>
          <a:bodyPr vert="horz" wrap="square" lIns="91440" tIns="45720" rIns="91440" bIns="45720" anchor="ctr" anchorCtr="0"/>
          <a:p>
            <a:r>
              <a:rPr lang="zh-CN" altLang="en-US" sz="3600" dirty="0"/>
              <a:t>一个实例（续）</a:t>
            </a:r>
            <a:endParaRPr lang="zh-CN" altLang="en-US" sz="3600" dirty="0"/>
          </a:p>
        </p:txBody>
      </p:sp>
      <p:sp>
        <p:nvSpPr>
          <p:cNvPr id="3" name="内容占位符 2"/>
          <p:cNvSpPr>
            <a:spLocks noGrp="1"/>
          </p:cNvSpPr>
          <p:nvPr>
            <p:ph idx="1"/>
          </p:nvPr>
        </p:nvSpPr>
        <p:spPr>
          <a:xfrm>
            <a:off x="1127125" y="1341438"/>
            <a:ext cx="10369550" cy="5213350"/>
          </a:xfrm>
        </p:spPr>
        <p:txBody>
          <a:bodyPr vert="horz" wrap="square" lIns="91440" tIns="45720" rIns="91440" bIns="45720" numCol="1" anchor="t" anchorCtr="0" compatLnSpc="1"/>
          <a:lstStyle/>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2.</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第二种情况（续）</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rPr>
              <a:t>（</a:t>
            </a:r>
            <a:r>
              <a:rPr kumimoji="0" lang="en-US" altLang="zh-CN" sz="2400" b="1" i="0" u="none" strike="noStrike" kern="0" cap="none" spc="0" normalizeH="0" baseline="0" noProof="0" dirty="0">
                <a:ln>
                  <a:noFill/>
                </a:ln>
                <a:solidFill>
                  <a:schemeClr val="tx1"/>
                </a:solidFill>
                <a:effectLst/>
                <a:uLnTx/>
                <a:uFillTx/>
                <a:latin typeface="+mn-lt"/>
                <a:ea typeface="+mn-ea"/>
              </a:rPr>
              <a:t>2</a:t>
            </a:r>
            <a:r>
              <a:rPr kumimoji="0" lang="zh-CN" altLang="en-US" sz="2400" b="1" i="0" u="none" strike="noStrike" kern="0" cap="none" spc="0" normalizeH="0" baseline="0" noProof="0" dirty="0">
                <a:ln>
                  <a:noFill/>
                </a:ln>
                <a:solidFill>
                  <a:schemeClr val="tx1"/>
                </a:solidFill>
                <a:effectLst/>
                <a:uLnTx/>
                <a:uFillTx/>
                <a:latin typeface="+mn-lt"/>
                <a:ea typeface="+mn-ea"/>
              </a:rPr>
              <a:t>）读取中间文件块，执行选择运算，读取的数据块</a:t>
            </a:r>
            <a:r>
              <a:rPr kumimoji="0" lang="en-US" altLang="zh-CN" sz="2400" b="1" i="0" u="none" strike="noStrike" kern="0" cap="none" spc="0" normalizeH="0" baseline="0" noProof="0" dirty="0">
                <a:ln>
                  <a:noFill/>
                </a:ln>
                <a:solidFill>
                  <a:schemeClr val="tx1"/>
                </a:solidFill>
                <a:effectLst/>
                <a:uLnTx/>
                <a:uFillTx/>
                <a:latin typeface="+mn-lt"/>
                <a:ea typeface="+mn-ea"/>
              </a:rPr>
              <a:t>=</a:t>
            </a:r>
            <a:r>
              <a:rPr kumimoji="0" lang="zh-CN" altLang="en-US" sz="2400" b="1" i="0" u="none" strike="noStrike" kern="0" cap="none" spc="0" normalizeH="0" baseline="0" noProof="0" dirty="0">
                <a:ln>
                  <a:noFill/>
                </a:ln>
                <a:solidFill>
                  <a:schemeClr val="tx1"/>
                </a:solidFill>
                <a:effectLst/>
                <a:uLnTx/>
                <a:uFillTx/>
                <a:latin typeface="+mn-lt"/>
                <a:ea typeface="+mn-ea"/>
              </a:rPr>
              <a:t> </a:t>
            </a:r>
            <a:r>
              <a:rPr kumimoji="0" lang="en-US" altLang="zh-CN" sz="2400" b="1" i="0" u="none" strike="noStrike" kern="0" cap="none" spc="0" normalizeH="0" baseline="0" noProof="0" dirty="0">
                <a:ln>
                  <a:noFill/>
                </a:ln>
                <a:solidFill>
                  <a:schemeClr val="tx1"/>
                </a:solidFill>
                <a:effectLst/>
                <a:uLnTx/>
                <a:uFillTx/>
                <a:latin typeface="+mn-lt"/>
                <a:ea typeface="+mn-ea"/>
              </a:rPr>
              <a:t>10</a:t>
            </a:r>
            <a:r>
              <a:rPr kumimoji="0" lang="en-US" altLang="zh-CN" sz="2400" b="1" i="0" u="none" strike="noStrike" kern="0" cap="none" spc="0" normalizeH="0" baseline="30000" noProof="0" dirty="0">
                <a:ln>
                  <a:noFill/>
                </a:ln>
                <a:solidFill>
                  <a:schemeClr val="tx1"/>
                </a:solidFill>
                <a:effectLst/>
                <a:uLnTx/>
                <a:uFillTx/>
                <a:latin typeface="+mn-lt"/>
                <a:ea typeface="+mn-ea"/>
              </a:rPr>
              <a:t>3</a:t>
            </a:r>
            <a:r>
              <a:rPr kumimoji="0" lang="en-US" altLang="zh-CN" sz="2400" b="1" i="0" u="none" strike="noStrike" kern="0" cap="none" spc="0" normalizeH="0" baseline="0" noProof="0" dirty="0">
                <a:ln>
                  <a:noFill/>
                </a:ln>
                <a:solidFill>
                  <a:schemeClr val="tx1"/>
                </a:solidFill>
                <a:effectLst/>
                <a:uLnTx/>
                <a:uFillTx/>
                <a:latin typeface="+mn-lt"/>
                <a:ea typeface="+mn-ea"/>
              </a:rPr>
              <a:t> </a:t>
            </a:r>
            <a:r>
              <a:rPr kumimoji="0" lang="zh-CN" altLang="en-US" sz="2400" b="1" i="0" u="none" strike="noStrike" kern="0" cap="none" spc="0" normalizeH="0" baseline="0" noProof="0" dirty="0">
                <a:ln>
                  <a:noFill/>
                </a:ln>
                <a:solidFill>
                  <a:schemeClr val="tx1"/>
                </a:solidFill>
                <a:effectLst/>
                <a:uLnTx/>
                <a:uFillTx/>
                <a:latin typeface="+mn-lt"/>
                <a:ea typeface="+mn-ea"/>
              </a:rPr>
              <a:t>块</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rPr>
              <a:t>（</a:t>
            </a:r>
            <a:r>
              <a:rPr kumimoji="0" lang="en-US" altLang="zh-CN" sz="2400" b="1" i="0" u="none" strike="noStrike" kern="0" cap="none" spc="0" normalizeH="0" baseline="0" noProof="0" dirty="0">
                <a:ln>
                  <a:noFill/>
                </a:ln>
                <a:solidFill>
                  <a:schemeClr val="tx1"/>
                </a:solidFill>
                <a:effectLst/>
                <a:uLnTx/>
                <a:uFillTx/>
                <a:latin typeface="+mn-lt"/>
                <a:ea typeface="+mn-ea"/>
              </a:rPr>
              <a:t>3</a:t>
            </a:r>
            <a:r>
              <a:rPr kumimoji="0" lang="zh-CN" altLang="en-US" sz="2400" b="1" i="0" u="none" strike="noStrike" kern="0" cap="none" spc="0" normalizeH="0" baseline="0" noProof="0" dirty="0">
                <a:ln>
                  <a:noFill/>
                </a:ln>
                <a:solidFill>
                  <a:schemeClr val="tx1"/>
                </a:solidFill>
                <a:effectLst/>
                <a:uLnTx/>
                <a:uFillTx/>
                <a:latin typeface="+mn-lt"/>
                <a:ea typeface="+mn-ea"/>
              </a:rPr>
              <a:t>）把第</a:t>
            </a:r>
            <a:r>
              <a:rPr kumimoji="0" lang="en-US" altLang="zh-CN" sz="2400" b="1" i="0" u="none" strike="noStrike" kern="0" cap="none" spc="0" normalizeH="0" baseline="0" noProof="0" dirty="0">
                <a:ln>
                  <a:noFill/>
                </a:ln>
                <a:solidFill>
                  <a:schemeClr val="tx1"/>
                </a:solidFill>
                <a:effectLst/>
                <a:uLnTx/>
                <a:uFillTx/>
                <a:latin typeface="+mn-lt"/>
                <a:ea typeface="+mn-ea"/>
              </a:rPr>
              <a:t>2</a:t>
            </a:r>
            <a:r>
              <a:rPr kumimoji="0" lang="zh-CN" altLang="en-US" sz="2400" b="1" i="0" u="none" strike="noStrike" kern="0" cap="none" spc="0" normalizeH="0" baseline="0" noProof="0" dirty="0">
                <a:ln>
                  <a:noFill/>
                </a:ln>
                <a:solidFill>
                  <a:schemeClr val="tx1"/>
                </a:solidFill>
                <a:effectLst/>
                <a:uLnTx/>
                <a:uFillTx/>
                <a:latin typeface="+mn-lt"/>
                <a:ea typeface="+mn-ea"/>
              </a:rPr>
              <a:t>步结果投影输出。</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第二种情况下执行查询的总读写数据块</a:t>
            </a:r>
            <a:r>
              <a:rPr kumimoji="0" lang="en-US" altLang="zh-CN" sz="2400" b="1" i="0" u="none" strike="noStrike" kern="0" cap="none" spc="0" normalizeH="0" baseline="0" noProof="0" dirty="0">
                <a:ln>
                  <a:noFill/>
                </a:ln>
                <a:solidFill>
                  <a:schemeClr val="tx1"/>
                </a:solidFill>
                <a:effectLst/>
                <a:uLnTx/>
                <a:uFillTx/>
                <a:latin typeface="+mn-lt"/>
                <a:ea typeface="+mn-ea"/>
              </a:rPr>
              <a:t>=2100+ 10</a:t>
            </a:r>
            <a:r>
              <a:rPr kumimoji="0" lang="en-US" altLang="zh-CN" sz="2400" b="1" i="0" u="none" strike="noStrike" kern="0" cap="none" spc="0" normalizeH="0" baseline="30000" noProof="0" dirty="0">
                <a:ln>
                  <a:noFill/>
                </a:ln>
                <a:solidFill>
                  <a:schemeClr val="tx1"/>
                </a:solidFill>
                <a:effectLst/>
                <a:uLnTx/>
                <a:uFillTx/>
                <a:latin typeface="+mn-lt"/>
                <a:ea typeface="+mn-ea"/>
              </a:rPr>
              <a:t>3</a:t>
            </a:r>
            <a:r>
              <a:rPr kumimoji="0" lang="en-US" altLang="zh-CN" sz="2400" b="1" i="0" u="none" strike="noStrike" kern="0" cap="none" spc="0" normalizeH="0" baseline="0" noProof="0" dirty="0">
                <a:ln>
                  <a:noFill/>
                </a:ln>
                <a:solidFill>
                  <a:schemeClr val="tx1"/>
                </a:solidFill>
                <a:effectLst/>
                <a:uLnTx/>
                <a:uFillTx/>
                <a:latin typeface="+mn-lt"/>
                <a:ea typeface="+mn-ea"/>
              </a:rPr>
              <a:t> +10</a:t>
            </a:r>
            <a:r>
              <a:rPr kumimoji="0" lang="en-US" altLang="zh-CN" sz="2400" b="1" i="0" u="none" strike="noStrike" kern="0" cap="none" spc="0" normalizeH="0" baseline="30000" noProof="0" dirty="0">
                <a:ln>
                  <a:noFill/>
                </a:ln>
                <a:solidFill>
                  <a:schemeClr val="tx1"/>
                </a:solidFill>
                <a:effectLst/>
                <a:uLnTx/>
                <a:uFillTx/>
                <a:latin typeface="+mn-lt"/>
                <a:ea typeface="+mn-ea"/>
              </a:rPr>
              <a:t>3</a:t>
            </a:r>
            <a:endParaRPr kumimoji="0" lang="en-US" altLang="zh-CN" sz="2400" b="1" i="0" u="none" strike="noStrike" kern="0" cap="none" spc="0" normalizeH="0" baseline="3000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其执行代价大约是第一种情况的</a:t>
            </a:r>
            <a:r>
              <a:rPr kumimoji="0" lang="en-US" altLang="zh-CN" sz="2400" b="1" i="0" u="none" strike="noStrike" kern="0" cap="none" spc="0" normalizeH="0" baseline="0" noProof="0" dirty="0">
                <a:ln>
                  <a:noFill/>
                </a:ln>
                <a:solidFill>
                  <a:schemeClr val="tx1"/>
                </a:solidFill>
                <a:effectLst/>
                <a:uLnTx/>
                <a:uFillTx/>
                <a:latin typeface="+mn-lt"/>
                <a:ea typeface="+mn-ea"/>
              </a:rPr>
              <a:t>488</a:t>
            </a:r>
            <a:r>
              <a:rPr kumimoji="0" lang="zh-CN" altLang="en-US" sz="2400" b="1" i="0" u="none" strike="noStrike" kern="0" cap="none" spc="0" normalizeH="0" baseline="0" noProof="0" dirty="0">
                <a:ln>
                  <a:noFill/>
                </a:ln>
                <a:solidFill>
                  <a:schemeClr val="tx1"/>
                </a:solidFill>
                <a:effectLst/>
                <a:uLnTx/>
                <a:uFillTx/>
                <a:latin typeface="+mn-lt"/>
                <a:ea typeface="+mn-ea"/>
              </a:rPr>
              <a:t>分之一</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1"/>
          <p:cNvSpPr>
            <a:spLocks noGrp="1"/>
          </p:cNvSpPr>
          <p:nvPr>
            <p:ph type="title"/>
          </p:nvPr>
        </p:nvSpPr>
        <p:spPr/>
        <p:txBody>
          <a:bodyPr vert="horz" wrap="square" lIns="91440" tIns="45720" rIns="91440" bIns="45720" anchor="ctr" anchorCtr="0"/>
          <a:p>
            <a:r>
              <a:rPr lang="zh-CN" altLang="en-US" sz="3600" dirty="0"/>
              <a:t>一个实例（续）</a:t>
            </a:r>
            <a:endParaRPr lang="zh-CN" altLang="en-US" sz="3600" dirty="0"/>
          </a:p>
        </p:txBody>
      </p:sp>
      <p:sp>
        <p:nvSpPr>
          <p:cNvPr id="56323" name="内容占位符 2"/>
          <p:cNvSpPr>
            <a:spLocks noGrp="1"/>
          </p:cNvSpPr>
          <p:nvPr>
            <p:ph idx="1"/>
          </p:nvPr>
        </p:nvSpPr>
        <p:spPr>
          <a:xfrm>
            <a:off x="1127125" y="1098550"/>
            <a:ext cx="10514013" cy="5095875"/>
          </a:xfrm>
        </p:spPr>
        <p:txBody>
          <a:bodyPr vert="horz" wrap="square" lIns="91440" tIns="45720" rIns="91440" bIns="45720" numCol="1" anchor="t" anchorCtr="0" compatLnSpc="1"/>
          <a:lstStyle/>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3.</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第三种情况</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mn-ea"/>
              </a:rPr>
              <a:t>Q</a:t>
            </a:r>
            <a:r>
              <a:rPr kumimoji="0" lang="en-US" altLang="zh-CN" sz="2400" b="1" i="0" u="none" strike="noStrike" kern="0" cap="none" spc="0" normalizeH="0" baseline="-25000" noProof="0" dirty="0">
                <a:ln>
                  <a:noFill/>
                </a:ln>
                <a:solidFill>
                  <a:schemeClr val="tx1"/>
                </a:solidFill>
                <a:effectLst/>
                <a:uLnTx/>
                <a:uFillTx/>
                <a:latin typeface="+mn-lt"/>
                <a:ea typeface="+mn-ea"/>
              </a:rPr>
              <a:t>3</a:t>
            </a:r>
            <a:r>
              <a:rPr kumimoji="0" lang="en-US" altLang="zh-CN" sz="2400" b="1" i="0" u="none" strike="noStrike" kern="0" cap="none" spc="0" normalizeH="0" baseline="0" noProof="0" dirty="0">
                <a:ln>
                  <a:noFill/>
                </a:ln>
                <a:solidFill>
                  <a:schemeClr val="tx1"/>
                </a:solidFill>
                <a:effectLst/>
                <a:uLnTx/>
                <a:uFillTx/>
                <a:latin typeface="+mn-lt"/>
                <a:ea typeface="+mn-ea"/>
              </a:rPr>
              <a:t>=π</a:t>
            </a:r>
            <a:r>
              <a:rPr kumimoji="0" lang="en-US" altLang="zh-CN" sz="2400" b="1" i="0" u="none" strike="noStrike" kern="0" cap="none" spc="0" normalizeH="0" baseline="-25000" noProof="0" dirty="0" err="1">
                <a:ln>
                  <a:noFill/>
                </a:ln>
                <a:solidFill>
                  <a:schemeClr val="tx1"/>
                </a:solidFill>
                <a:effectLst/>
                <a:uLnTx/>
                <a:uFillTx/>
                <a:latin typeface="+mn-lt"/>
                <a:ea typeface="+mn-ea"/>
              </a:rPr>
              <a:t>Sname</a:t>
            </a:r>
            <a:r>
              <a:rPr kumimoji="0" lang="en-US" altLang="zh-CN" sz="2400" b="1" i="0" u="none" strike="noStrike" kern="0" cap="none" spc="0" normalizeH="0" baseline="0" noProof="0" dirty="0">
                <a:ln>
                  <a:noFill/>
                </a:ln>
                <a:solidFill>
                  <a:schemeClr val="tx1"/>
                </a:solidFill>
                <a:effectLst/>
                <a:uLnTx/>
                <a:uFillTx/>
                <a:latin typeface="+mn-lt"/>
                <a:ea typeface="+mn-ea"/>
              </a:rPr>
              <a:t>(Student      </a:t>
            </a:r>
            <a:r>
              <a:rPr kumimoji="0" lang="en-US" altLang="zh-CN" sz="2400" b="1" i="0" u="none" strike="noStrike" kern="0" cap="none" spc="0" normalizeH="0" baseline="0" noProof="0" dirty="0" err="1">
                <a:ln>
                  <a:noFill/>
                </a:ln>
                <a:solidFill>
                  <a:schemeClr val="tx1"/>
                </a:solidFill>
                <a:effectLst/>
                <a:uLnTx/>
                <a:uFillTx/>
                <a:latin typeface="+mn-lt"/>
                <a:ea typeface="+mn-ea"/>
              </a:rPr>
              <a:t>σ</a:t>
            </a:r>
            <a:r>
              <a:rPr kumimoji="0" lang="en-US" altLang="zh-CN" sz="2400" b="1" i="0" u="none" strike="noStrike" kern="0" cap="none" spc="0" normalizeH="0" baseline="-25000" noProof="0" dirty="0" err="1">
                <a:ln>
                  <a:noFill/>
                </a:ln>
                <a:solidFill>
                  <a:schemeClr val="tx1"/>
                </a:solidFill>
                <a:effectLst/>
                <a:uLnTx/>
                <a:uFillTx/>
                <a:latin typeface="+mn-lt"/>
                <a:ea typeface="+mn-ea"/>
              </a:rPr>
              <a:t>SC.Cno</a:t>
            </a:r>
            <a:r>
              <a:rPr kumimoji="0" lang="en-US" altLang="zh-CN" sz="2400" b="1" i="0" u="none" strike="noStrike" kern="0" cap="none" spc="0" normalizeH="0" baseline="-25000" noProof="0" dirty="0">
                <a:ln>
                  <a:noFill/>
                </a:ln>
                <a:solidFill>
                  <a:schemeClr val="tx1"/>
                </a:solidFill>
                <a:effectLst/>
                <a:uLnTx/>
                <a:uFillTx/>
                <a:latin typeface="+mn-lt"/>
                <a:ea typeface="+mn-ea"/>
              </a:rPr>
              <a:t>=‘81003'</a:t>
            </a:r>
            <a:r>
              <a:rPr kumimoji="0" lang="en-US" altLang="zh-CN" sz="2400" b="1" i="0" u="none" strike="noStrike" kern="0" cap="none" spc="0" normalizeH="0" baseline="0" noProof="0" dirty="0">
                <a:ln>
                  <a:noFill/>
                </a:ln>
                <a:solidFill>
                  <a:schemeClr val="tx1"/>
                </a:solidFill>
                <a:effectLst/>
                <a:uLnTx/>
                <a:uFillTx/>
                <a:latin typeface="+mn-lt"/>
                <a:ea typeface="+mn-ea"/>
              </a:rPr>
              <a:t>(SC))</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rPr>
              <a:t>（</a:t>
            </a:r>
            <a:r>
              <a:rPr kumimoji="0" lang="en-US" altLang="zh-CN" sz="2400" b="1" i="0" u="none" strike="noStrike" kern="0" cap="none" spc="0" normalizeH="0" baseline="0" noProof="0" dirty="0">
                <a:ln>
                  <a:noFill/>
                </a:ln>
                <a:solidFill>
                  <a:schemeClr val="tx1"/>
                </a:solidFill>
                <a:effectLst/>
                <a:uLnTx/>
                <a:uFillTx/>
                <a:latin typeface="+mn-lt"/>
                <a:ea typeface="+mn-ea"/>
              </a:rPr>
              <a:t>1</a:t>
            </a:r>
            <a:r>
              <a:rPr kumimoji="0" lang="zh-CN" altLang="en-US" sz="2400" b="1" i="0" u="none" strike="noStrike" kern="0" cap="none" spc="0" normalizeH="0" baseline="0" noProof="0" dirty="0">
                <a:ln>
                  <a:noFill/>
                </a:ln>
                <a:solidFill>
                  <a:schemeClr val="tx1"/>
                </a:solidFill>
                <a:effectLst/>
                <a:uLnTx/>
                <a:uFillTx/>
                <a:latin typeface="+mn-lt"/>
                <a:ea typeface="+mn-ea"/>
              </a:rPr>
              <a:t>）先对</a:t>
            </a:r>
            <a:r>
              <a:rPr kumimoji="0" lang="en-US" altLang="zh-CN" sz="2400" b="1" i="0" u="none" strike="noStrike" kern="0" cap="none" spc="0" normalizeH="0" baseline="0" noProof="0" dirty="0">
                <a:ln>
                  <a:noFill/>
                </a:ln>
                <a:solidFill>
                  <a:schemeClr val="tx1"/>
                </a:solidFill>
                <a:effectLst/>
                <a:uLnTx/>
                <a:uFillTx/>
                <a:latin typeface="+mn-lt"/>
                <a:ea typeface="+mn-ea"/>
              </a:rPr>
              <a:t>SC</a:t>
            </a:r>
            <a:r>
              <a:rPr kumimoji="0" lang="zh-CN" altLang="en-US" sz="2400" b="1" i="0" u="none" strike="noStrike" kern="0" cap="none" spc="0" normalizeH="0" baseline="0" noProof="0" dirty="0">
                <a:ln>
                  <a:noFill/>
                </a:ln>
                <a:solidFill>
                  <a:schemeClr val="tx1"/>
                </a:solidFill>
                <a:effectLst/>
                <a:uLnTx/>
                <a:uFillTx/>
                <a:latin typeface="+mn-lt"/>
                <a:ea typeface="+mn-ea"/>
              </a:rPr>
              <a:t>表作选择运算，只需读一遍</a:t>
            </a:r>
            <a:r>
              <a:rPr kumimoji="0" lang="en-US" altLang="zh-CN" sz="2400" b="1" i="0" u="none" strike="noStrike" kern="0" cap="none" spc="0" normalizeH="0" baseline="0" noProof="0" dirty="0">
                <a:ln>
                  <a:noFill/>
                </a:ln>
                <a:solidFill>
                  <a:schemeClr val="tx1"/>
                </a:solidFill>
                <a:effectLst/>
                <a:uLnTx/>
                <a:uFillTx/>
                <a:latin typeface="+mn-lt"/>
                <a:ea typeface="+mn-ea"/>
              </a:rPr>
              <a:t>SC</a:t>
            </a:r>
            <a:r>
              <a:rPr kumimoji="0" lang="zh-CN" altLang="en-US" sz="2400" b="1" i="0" u="none" strike="noStrike" kern="0" cap="none" spc="0" normalizeH="0" baseline="0" noProof="0" dirty="0">
                <a:ln>
                  <a:noFill/>
                </a:ln>
                <a:solidFill>
                  <a:schemeClr val="tx1"/>
                </a:solidFill>
                <a:effectLst/>
                <a:uLnTx/>
                <a:uFillTx/>
                <a:latin typeface="+mn-lt"/>
                <a:ea typeface="+mn-ea"/>
              </a:rPr>
              <a:t>表，存取</a:t>
            </a:r>
            <a:endParaRPr kumimoji="0" lang="en-US" altLang="zh-CN" sz="24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mn-ea"/>
              </a:rPr>
              <a:t>         100</a:t>
            </a:r>
            <a:r>
              <a:rPr kumimoji="0" lang="zh-CN" altLang="en-US" sz="2400" b="1" i="0" u="none" strike="noStrike" kern="0" cap="none" spc="0" normalizeH="0" baseline="0" noProof="0" dirty="0">
                <a:ln>
                  <a:noFill/>
                </a:ln>
                <a:solidFill>
                  <a:schemeClr val="tx1"/>
                </a:solidFill>
                <a:effectLst/>
                <a:uLnTx/>
                <a:uFillTx/>
                <a:latin typeface="+mn-lt"/>
                <a:ea typeface="+mn-ea"/>
              </a:rPr>
              <a:t>块，因为满足条件的元组仅</a:t>
            </a:r>
            <a:r>
              <a:rPr kumimoji="0" lang="en-US" altLang="zh-CN" sz="2400" b="1" i="0" u="none" strike="noStrike" kern="0" cap="none" spc="0" normalizeH="0" baseline="0" noProof="0" dirty="0">
                <a:ln>
                  <a:noFill/>
                </a:ln>
                <a:solidFill>
                  <a:schemeClr val="tx1"/>
                </a:solidFill>
                <a:effectLst/>
                <a:uLnTx/>
                <a:uFillTx/>
                <a:latin typeface="+mn-lt"/>
                <a:ea typeface="+mn-ea"/>
              </a:rPr>
              <a:t>50</a:t>
            </a:r>
            <a:r>
              <a:rPr kumimoji="0" lang="zh-CN" altLang="en-US" sz="2400" b="1" i="0" u="none" strike="noStrike" kern="0" cap="none" spc="0" normalizeH="0" baseline="0" noProof="0" dirty="0">
                <a:ln>
                  <a:noFill/>
                </a:ln>
                <a:solidFill>
                  <a:schemeClr val="tx1"/>
                </a:solidFill>
                <a:effectLst/>
                <a:uLnTx/>
                <a:uFillTx/>
                <a:latin typeface="+mn-lt"/>
                <a:ea typeface="+mn-ea"/>
              </a:rPr>
              <a:t>个，不必使用中</a:t>
            </a:r>
            <a:endParaRPr kumimoji="0" lang="en-US" altLang="zh-CN" sz="24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mn-ea"/>
              </a:rPr>
              <a:t>         </a:t>
            </a:r>
            <a:r>
              <a:rPr kumimoji="0" lang="zh-CN" altLang="en-US" sz="2400" b="1" i="0" u="none" strike="noStrike" kern="0" cap="none" spc="0" normalizeH="0" baseline="0" noProof="0" dirty="0">
                <a:ln>
                  <a:noFill/>
                </a:ln>
                <a:solidFill>
                  <a:schemeClr val="tx1"/>
                </a:solidFill>
                <a:effectLst/>
                <a:uLnTx/>
                <a:uFillTx/>
                <a:latin typeface="+mn-lt"/>
                <a:ea typeface="+mn-ea"/>
              </a:rPr>
              <a:t>间文件。</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rPr>
              <a:t>（</a:t>
            </a:r>
            <a:r>
              <a:rPr kumimoji="0" lang="en-US" altLang="zh-CN" sz="2400" b="1" i="0" u="none" strike="noStrike" kern="0" cap="none" spc="0" normalizeH="0" baseline="0" noProof="0" dirty="0">
                <a:ln>
                  <a:noFill/>
                </a:ln>
                <a:solidFill>
                  <a:schemeClr val="tx1"/>
                </a:solidFill>
                <a:effectLst/>
                <a:uLnTx/>
                <a:uFillTx/>
                <a:latin typeface="+mn-lt"/>
                <a:ea typeface="+mn-ea"/>
              </a:rPr>
              <a:t>2</a:t>
            </a:r>
            <a:r>
              <a:rPr kumimoji="0" lang="zh-CN" altLang="en-US" sz="2400" b="1" i="0" u="none" strike="noStrike" kern="0" cap="none" spc="0" normalizeH="0" baseline="0" noProof="0" dirty="0">
                <a:ln>
                  <a:noFill/>
                </a:ln>
                <a:solidFill>
                  <a:schemeClr val="tx1"/>
                </a:solidFill>
                <a:effectLst/>
                <a:uLnTx/>
                <a:uFillTx/>
                <a:latin typeface="+mn-lt"/>
                <a:ea typeface="+mn-ea"/>
              </a:rPr>
              <a:t>）读取</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表，把读入的</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元组和内存中</a:t>
            </a:r>
            <a:endParaRPr kumimoji="0" lang="en-US" altLang="zh-CN" sz="24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mn-ea"/>
              </a:rPr>
              <a:t>          </a:t>
            </a:r>
            <a:r>
              <a:rPr kumimoji="0" lang="zh-CN" altLang="en-US" sz="2400" b="1" i="0" u="none" strike="noStrike" kern="0" cap="none" spc="0" normalizeH="0" baseline="0" noProof="0" dirty="0">
                <a:ln>
                  <a:noFill/>
                </a:ln>
                <a:solidFill>
                  <a:schemeClr val="tx1"/>
                </a:solidFill>
                <a:effectLst/>
                <a:uLnTx/>
                <a:uFillTx/>
                <a:latin typeface="+mn-lt"/>
                <a:ea typeface="+mn-ea"/>
              </a:rPr>
              <a:t>的</a:t>
            </a:r>
            <a:r>
              <a:rPr kumimoji="0" lang="en-US" altLang="zh-CN" sz="2400" b="1" i="0" u="none" strike="noStrike" kern="0" cap="none" spc="0" normalizeH="0" baseline="0" noProof="0" dirty="0">
                <a:ln>
                  <a:noFill/>
                </a:ln>
                <a:solidFill>
                  <a:schemeClr val="tx1"/>
                </a:solidFill>
                <a:effectLst/>
                <a:uLnTx/>
                <a:uFillTx/>
                <a:latin typeface="+mn-lt"/>
                <a:ea typeface="+mn-ea"/>
              </a:rPr>
              <a:t>SC</a:t>
            </a:r>
            <a:r>
              <a:rPr kumimoji="0" lang="zh-CN" altLang="en-US" sz="2400" b="1" i="0" u="none" strike="noStrike" kern="0" cap="none" spc="0" normalizeH="0" baseline="0" noProof="0" dirty="0">
                <a:ln>
                  <a:noFill/>
                </a:ln>
                <a:solidFill>
                  <a:schemeClr val="tx1"/>
                </a:solidFill>
                <a:effectLst/>
                <a:uLnTx/>
                <a:uFillTx/>
                <a:latin typeface="+mn-lt"/>
                <a:ea typeface="+mn-ea"/>
              </a:rPr>
              <a:t>元组作连接。也只需读一遍</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表共</a:t>
            </a:r>
            <a:r>
              <a:rPr kumimoji="0" lang="en-US" altLang="zh-CN" sz="2400" b="1" i="0" u="none" strike="noStrike" kern="0" cap="none" spc="0" normalizeH="0" baseline="0" noProof="0" dirty="0">
                <a:ln>
                  <a:noFill/>
                </a:ln>
                <a:solidFill>
                  <a:schemeClr val="tx1"/>
                </a:solidFill>
                <a:effectLst/>
                <a:uLnTx/>
                <a:uFillTx/>
                <a:latin typeface="+mn-lt"/>
                <a:ea typeface="+mn-ea"/>
              </a:rPr>
              <a:t>100   </a:t>
            </a:r>
            <a:endParaRPr kumimoji="0" lang="en-US" altLang="zh-CN" sz="24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mn-ea"/>
              </a:rPr>
              <a:t>         </a:t>
            </a:r>
            <a:r>
              <a:rPr kumimoji="0" lang="zh-CN" altLang="en-US" sz="2400" b="1" i="0" u="none" strike="noStrike" kern="0" cap="none" spc="0" normalizeH="0" baseline="0" noProof="0" dirty="0">
                <a:ln>
                  <a:noFill/>
                </a:ln>
                <a:solidFill>
                  <a:schemeClr val="tx1"/>
                </a:solidFill>
                <a:effectLst/>
                <a:uLnTx/>
                <a:uFillTx/>
                <a:latin typeface="+mn-lt"/>
                <a:ea typeface="+mn-ea"/>
              </a:rPr>
              <a:t>块。</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rPr>
              <a:t>（</a:t>
            </a:r>
            <a:r>
              <a:rPr kumimoji="0" lang="en-US" altLang="zh-CN" sz="2400" b="1" i="0" u="none" strike="noStrike" kern="0" cap="none" spc="0" normalizeH="0" baseline="0" noProof="0" dirty="0">
                <a:ln>
                  <a:noFill/>
                </a:ln>
                <a:solidFill>
                  <a:schemeClr val="tx1"/>
                </a:solidFill>
                <a:effectLst/>
                <a:uLnTx/>
                <a:uFillTx/>
                <a:latin typeface="+mn-lt"/>
                <a:ea typeface="+mn-ea"/>
              </a:rPr>
              <a:t>3</a:t>
            </a:r>
            <a:r>
              <a:rPr kumimoji="0" lang="zh-CN" altLang="en-US" sz="2400" b="1" i="0" u="none" strike="noStrike" kern="0" cap="none" spc="0" normalizeH="0" baseline="0" noProof="0" dirty="0">
                <a:ln>
                  <a:noFill/>
                </a:ln>
                <a:solidFill>
                  <a:schemeClr val="tx1"/>
                </a:solidFill>
                <a:effectLst/>
                <a:uLnTx/>
                <a:uFillTx/>
                <a:latin typeface="+mn-lt"/>
                <a:ea typeface="+mn-ea"/>
              </a:rPr>
              <a:t>）把连接结果投影输出  </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grpSp>
        <p:nvGrpSpPr>
          <p:cNvPr id="53252" name="Group 4"/>
          <p:cNvGrpSpPr/>
          <p:nvPr/>
        </p:nvGrpSpPr>
        <p:grpSpPr>
          <a:xfrm>
            <a:off x="3863975" y="1882775"/>
            <a:ext cx="1600200" cy="825500"/>
            <a:chOff x="2325" y="6446"/>
            <a:chExt cx="705" cy="367"/>
          </a:xfrm>
        </p:grpSpPr>
        <p:sp>
          <p:nvSpPr>
            <p:cNvPr id="53253" name="AutoShape 5"/>
            <p:cNvSpPr/>
            <p:nvPr/>
          </p:nvSpPr>
          <p:spPr>
            <a:xfrm rot="5400000" flipV="1">
              <a:off x="2612" y="6414"/>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53254" name="Text Box 6"/>
            <p:cNvSpPr txBox="1"/>
            <p:nvPr/>
          </p:nvSpPr>
          <p:spPr>
            <a:xfrm flipV="1">
              <a:off x="2325" y="6450"/>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lnSpc>
                  <a:spcPct val="80000"/>
                </a:lnSpc>
                <a:spcBef>
                  <a:spcPct val="0"/>
                </a:spcBef>
                <a:buSzTx/>
                <a:buFont typeface="Arial" panose="020B0604020202020204" pitchFamily="34" charset="0"/>
                <a:buNone/>
              </a:pPr>
              <a:r>
                <a:rPr lang="en-US" altLang="zh-CN" sz="600" i="1" dirty="0"/>
                <a:t> </a:t>
              </a:r>
              <a:endParaRPr lang="en-US" altLang="zh-CN" sz="600" dirty="0"/>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标题 1"/>
          <p:cNvSpPr>
            <a:spLocks noGrp="1"/>
          </p:cNvSpPr>
          <p:nvPr>
            <p:ph type="title"/>
          </p:nvPr>
        </p:nvSpPr>
        <p:spPr/>
        <p:txBody>
          <a:bodyPr vert="horz" wrap="square" lIns="91440" tIns="45720" rIns="91440" bIns="45720" anchor="ctr" anchorCtr="0"/>
          <a:p>
            <a:r>
              <a:rPr lang="zh-CN" altLang="en-US" sz="3600" dirty="0"/>
              <a:t>一个实例（续）</a:t>
            </a:r>
            <a:endParaRPr lang="zh-CN" altLang="en-US" sz="3600" dirty="0"/>
          </a:p>
        </p:txBody>
      </p:sp>
      <p:sp>
        <p:nvSpPr>
          <p:cNvPr id="56323" name="内容占位符 2"/>
          <p:cNvSpPr>
            <a:spLocks noGrp="1"/>
          </p:cNvSpPr>
          <p:nvPr>
            <p:ph idx="1"/>
          </p:nvPr>
        </p:nvSpPr>
        <p:spPr>
          <a:xfrm>
            <a:off x="1343025" y="1341438"/>
            <a:ext cx="8229600" cy="5095875"/>
          </a:xfrm>
        </p:spPr>
        <p:txBody>
          <a:bodyPr vert="horz" wrap="square" lIns="91440" tIns="45720" rIns="91440" bIns="45720" numCol="1" anchor="t" anchorCtr="0" compatLnSpc="1"/>
          <a:lstStyle/>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3.</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第三种情况（续）</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第三种情况总的读写数据块</a:t>
            </a:r>
            <a:r>
              <a:rPr kumimoji="0" lang="en-US" altLang="zh-CN" sz="2400" b="1" i="0" u="none" strike="noStrike" kern="0" cap="none" spc="0" normalizeH="0" baseline="0" noProof="0" dirty="0">
                <a:ln>
                  <a:noFill/>
                </a:ln>
                <a:solidFill>
                  <a:schemeClr val="tx1"/>
                </a:solidFill>
                <a:effectLst/>
                <a:uLnTx/>
                <a:uFillTx/>
                <a:latin typeface="+mn-lt"/>
                <a:ea typeface="+mn-ea"/>
              </a:rPr>
              <a:t>=100+100</a:t>
            </a:r>
            <a:endParaRPr kumimoji="0" lang="en-US" altLang="zh-CN"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其执行代价大约是第一种情况的万分之一，是第二种情况的</a:t>
            </a:r>
            <a:r>
              <a:rPr kumimoji="0" lang="en-US" altLang="zh-CN" sz="2400" b="1" i="0" u="none" strike="noStrike" kern="0" cap="none" spc="0" normalizeH="0" baseline="0" noProof="0" dirty="0">
                <a:ln>
                  <a:noFill/>
                </a:ln>
                <a:solidFill>
                  <a:schemeClr val="tx1"/>
                </a:solidFill>
                <a:effectLst/>
                <a:uLnTx/>
                <a:uFillTx/>
                <a:latin typeface="+mn-lt"/>
                <a:ea typeface="+mn-ea"/>
              </a:rPr>
              <a:t>20</a:t>
            </a:r>
            <a:r>
              <a:rPr kumimoji="0" lang="zh-CN" altLang="en-US" sz="2400" b="1" i="0" u="none" strike="noStrike" kern="0" cap="none" spc="0" normalizeH="0" baseline="0" noProof="0" dirty="0">
                <a:ln>
                  <a:noFill/>
                </a:ln>
                <a:solidFill>
                  <a:schemeClr val="tx1"/>
                </a:solidFill>
                <a:effectLst/>
                <a:uLnTx/>
                <a:uFillTx/>
                <a:latin typeface="+mn-lt"/>
                <a:ea typeface="+mn-ea"/>
              </a:rPr>
              <a:t>分之一</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1"/>
          <p:cNvSpPr>
            <a:spLocks noGrp="1"/>
          </p:cNvSpPr>
          <p:nvPr>
            <p:ph type="title"/>
          </p:nvPr>
        </p:nvSpPr>
        <p:spPr/>
        <p:txBody>
          <a:bodyPr vert="horz" wrap="square" lIns="91440" tIns="45720" rIns="91440" bIns="45720" anchor="ctr" anchorCtr="0"/>
          <a:p>
            <a:r>
              <a:rPr lang="zh-CN" altLang="en-US" sz="3600" dirty="0"/>
              <a:t>一个实例（续）</a:t>
            </a:r>
            <a:endParaRPr lang="zh-CN" altLang="en-US" sz="3600" dirty="0"/>
          </a:p>
        </p:txBody>
      </p:sp>
      <p:sp>
        <p:nvSpPr>
          <p:cNvPr id="55299" name="内容占位符 2"/>
          <p:cNvSpPr>
            <a:spLocks noGrp="1"/>
          </p:cNvSpPr>
          <p:nvPr>
            <p:ph idx="1"/>
          </p:nvPr>
        </p:nvSpPr>
        <p:spPr>
          <a:xfrm>
            <a:off x="982663" y="1341438"/>
            <a:ext cx="10514012" cy="5095875"/>
          </a:xfrm>
        </p:spPr>
        <p:txBody>
          <a:bodyPr vert="horz" wrap="square" lIns="91440" tIns="45720" rIns="91440" bIns="45720" anchor="t" anchorCtr="0"/>
          <a:p>
            <a:r>
              <a:rPr lang="zh-CN" altLang="en-US" dirty="0"/>
              <a:t>假如</a:t>
            </a:r>
            <a:r>
              <a:rPr lang="en-US" altLang="zh-CN" dirty="0"/>
              <a:t>SC</a:t>
            </a:r>
            <a:r>
              <a:rPr lang="zh-CN" altLang="en-US" dirty="0"/>
              <a:t>表的</a:t>
            </a:r>
            <a:r>
              <a:rPr lang="en-US" altLang="zh-CN" dirty="0"/>
              <a:t>Cno</a:t>
            </a:r>
            <a:r>
              <a:rPr lang="zh-CN" altLang="en-US" dirty="0"/>
              <a:t>字段上有索引</a:t>
            </a:r>
            <a:endParaRPr lang="zh-CN" altLang="en-US" dirty="0"/>
          </a:p>
          <a:p>
            <a:pPr lvl="1"/>
            <a:r>
              <a:rPr lang="zh-CN" altLang="en-US" dirty="0"/>
              <a:t>第一步就不必读取所有的</a:t>
            </a:r>
            <a:r>
              <a:rPr lang="en-US" altLang="zh-CN" dirty="0"/>
              <a:t>SC</a:t>
            </a:r>
            <a:r>
              <a:rPr lang="zh-CN" altLang="en-US" dirty="0"/>
              <a:t>元组而只需读取</a:t>
            </a:r>
            <a:r>
              <a:rPr lang="en-US" altLang="zh-CN" dirty="0"/>
              <a:t>Cno=‘2’</a:t>
            </a:r>
            <a:r>
              <a:rPr lang="zh-CN" altLang="en-US" dirty="0"/>
              <a:t>的那些元组</a:t>
            </a:r>
            <a:r>
              <a:rPr lang="en-US" altLang="zh-CN" dirty="0"/>
              <a:t>(50</a:t>
            </a:r>
            <a:r>
              <a:rPr lang="zh-CN" altLang="en-US" dirty="0"/>
              <a:t>个</a:t>
            </a:r>
            <a:r>
              <a:rPr lang="en-US" altLang="zh-CN" dirty="0"/>
              <a:t>)</a:t>
            </a:r>
            <a:endParaRPr lang="zh-CN" altLang="en-US" dirty="0"/>
          </a:p>
          <a:p>
            <a:pPr lvl="1"/>
            <a:r>
              <a:rPr lang="zh-CN" altLang="en-US" dirty="0"/>
              <a:t>存取的索引块和</a:t>
            </a:r>
            <a:r>
              <a:rPr lang="en-US" altLang="zh-CN" dirty="0"/>
              <a:t>SC</a:t>
            </a:r>
            <a:r>
              <a:rPr lang="zh-CN" altLang="en-US" dirty="0"/>
              <a:t>中满足条件的数据块大约总共</a:t>
            </a:r>
            <a:r>
              <a:rPr lang="en-US" altLang="zh-CN" dirty="0"/>
              <a:t>3</a:t>
            </a:r>
            <a:r>
              <a:rPr lang="zh-CN" altLang="en-US" dirty="0"/>
              <a:t>～</a:t>
            </a:r>
            <a:r>
              <a:rPr lang="en-US" altLang="zh-CN" dirty="0"/>
              <a:t>4</a:t>
            </a:r>
            <a:r>
              <a:rPr lang="zh-CN" altLang="en-US" dirty="0"/>
              <a:t>块</a:t>
            </a:r>
            <a:endParaRPr lang="zh-CN" altLang="en-US" dirty="0"/>
          </a:p>
          <a:p>
            <a:r>
              <a:rPr lang="zh-CN" altLang="en-US" dirty="0"/>
              <a:t>若</a:t>
            </a:r>
            <a:r>
              <a:rPr lang="en-US" altLang="zh-CN" dirty="0"/>
              <a:t>Student</a:t>
            </a:r>
            <a:r>
              <a:rPr lang="zh-CN" altLang="en-US" dirty="0"/>
              <a:t>表在</a:t>
            </a:r>
            <a:r>
              <a:rPr lang="en-US" altLang="zh-CN" dirty="0"/>
              <a:t>Sno</a:t>
            </a:r>
            <a:r>
              <a:rPr lang="zh-CN" altLang="en-US" dirty="0"/>
              <a:t>上也有索引</a:t>
            </a:r>
            <a:endParaRPr lang="zh-CN" altLang="en-US" dirty="0"/>
          </a:p>
          <a:p>
            <a:pPr lvl="1"/>
            <a:r>
              <a:rPr lang="zh-CN" altLang="en-US" dirty="0"/>
              <a:t>不必读取所有的</a:t>
            </a:r>
            <a:r>
              <a:rPr lang="en-US" altLang="zh-CN" dirty="0"/>
              <a:t>Student</a:t>
            </a:r>
            <a:r>
              <a:rPr lang="zh-CN" altLang="en-US" dirty="0"/>
              <a:t>元组</a:t>
            </a:r>
            <a:endParaRPr lang="zh-CN" altLang="en-US" dirty="0"/>
          </a:p>
          <a:p>
            <a:pPr lvl="1"/>
            <a:r>
              <a:rPr lang="zh-CN" altLang="en-US" dirty="0"/>
              <a:t>因为满足条件的</a:t>
            </a:r>
            <a:r>
              <a:rPr lang="en-US" altLang="zh-CN" dirty="0"/>
              <a:t>SC</a:t>
            </a:r>
            <a:r>
              <a:rPr lang="zh-CN" altLang="en-US" dirty="0"/>
              <a:t>记录仅</a:t>
            </a:r>
            <a:r>
              <a:rPr lang="en-US" altLang="zh-CN" dirty="0"/>
              <a:t>50</a:t>
            </a:r>
            <a:r>
              <a:rPr lang="zh-CN" altLang="en-US" dirty="0"/>
              <a:t>个，涉及最多</a:t>
            </a:r>
            <a:r>
              <a:rPr lang="en-US" altLang="zh-CN" dirty="0"/>
              <a:t>50</a:t>
            </a:r>
            <a:r>
              <a:rPr lang="zh-CN" altLang="en-US" dirty="0"/>
              <a:t>个</a:t>
            </a:r>
            <a:r>
              <a:rPr lang="en-US" altLang="zh-CN" dirty="0"/>
              <a:t>Student</a:t>
            </a:r>
            <a:r>
              <a:rPr lang="zh-CN" altLang="en-US" dirty="0"/>
              <a:t>记录</a:t>
            </a:r>
            <a:endParaRPr lang="zh-CN" altLang="en-US" dirty="0"/>
          </a:p>
          <a:p>
            <a:pPr lvl="1"/>
            <a:r>
              <a:rPr lang="zh-CN" altLang="en-US" dirty="0"/>
              <a:t>读取</a:t>
            </a:r>
            <a:r>
              <a:rPr lang="en-US" altLang="zh-CN" dirty="0"/>
              <a:t>Student</a:t>
            </a:r>
            <a:r>
              <a:rPr lang="zh-CN" altLang="en-US" dirty="0"/>
              <a:t>表的块数也可大大减少 </a:t>
            </a:r>
            <a:endParaRPr lang="zh-CN" altLang="en-US" dirty="0"/>
          </a:p>
          <a:p>
            <a:pPr lvl="1"/>
            <a:endParaRPr lang="zh-CN" altLang="en-US" dirty="0"/>
          </a:p>
          <a:p>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标题 1"/>
          <p:cNvSpPr>
            <a:spLocks noGrp="1"/>
          </p:cNvSpPr>
          <p:nvPr>
            <p:ph type="title"/>
          </p:nvPr>
        </p:nvSpPr>
        <p:spPr/>
        <p:txBody>
          <a:bodyPr vert="horz" wrap="square" lIns="91440" tIns="45720" rIns="91440" bIns="45720" anchor="ctr" anchorCtr="0"/>
          <a:p>
            <a:r>
              <a:rPr lang="zh-CN" altLang="en-US" sz="3600" dirty="0"/>
              <a:t>一个实例（续）</a:t>
            </a:r>
            <a:endParaRPr lang="zh-CN" altLang="en-US" sz="3600" dirty="0"/>
          </a:p>
        </p:txBody>
      </p:sp>
      <p:sp>
        <p:nvSpPr>
          <p:cNvPr id="3" name="内容占位符 2"/>
          <p:cNvSpPr>
            <a:spLocks noGrp="1"/>
          </p:cNvSpPr>
          <p:nvPr>
            <p:ph idx="1"/>
          </p:nvPr>
        </p:nvSpPr>
        <p:spPr>
          <a:xfrm>
            <a:off x="1055688" y="1125538"/>
            <a:ext cx="10080625" cy="50958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把代数表达式</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Q1</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变换为</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Q2</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Q3</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30000"/>
              </a:lnSpc>
              <a:spcBef>
                <a:spcPct val="20000"/>
              </a:spcBef>
              <a:spcAft>
                <a:spcPct val="0"/>
              </a:spcAft>
              <a:buClrTx/>
              <a:buSzPct val="100000"/>
              <a:buFont typeface="Wingdings" panose="05000000000000000000" pitchFamily="2" charset="2"/>
              <a:buNone/>
              <a:defRPr/>
            </a:pPr>
            <a:r>
              <a:rPr kumimoji="0" lang="en-US" altLang="zh-CN" sz="2800" b="1" i="1" u="none" strike="noStrike" kern="0" cap="none" spc="0" normalizeH="0" baseline="0" noProof="0" dirty="0">
                <a:ln>
                  <a:noFill/>
                </a:ln>
                <a:solidFill>
                  <a:schemeClr val="tx1"/>
                </a:solidFill>
                <a:effectLst/>
                <a:uLnTx/>
                <a:uFillTx/>
                <a:latin typeface="+mn-lt"/>
                <a:ea typeface="+mn-ea"/>
                <a:cs typeface="+mn-cs"/>
              </a:rPr>
              <a:t>Q</a:t>
            </a:r>
            <a:r>
              <a:rPr kumimoji="0" lang="en-US" altLang="zh-CN" sz="2800" b="1" i="0" u="none" strike="noStrike" kern="0" cap="none" spc="0" normalizeH="0" baseline="-25000" noProof="0" dirty="0">
                <a:ln>
                  <a:noFill/>
                </a:ln>
                <a:solidFill>
                  <a:schemeClr val="tx1"/>
                </a:solidFill>
                <a:effectLst/>
                <a:uLnTx/>
                <a:uFillTx/>
                <a:latin typeface="+mn-lt"/>
                <a:ea typeface="+mn-ea"/>
                <a:cs typeface="+mn-cs"/>
              </a:rPr>
              <a:t>1</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=π</a:t>
            </a:r>
            <a:r>
              <a:rPr kumimoji="0" lang="en-US" altLang="zh-CN" sz="2800" b="1" i="0" u="none" strike="noStrike" kern="0" cap="none" spc="0" normalizeH="0" baseline="-25000" noProof="0" dirty="0" err="1">
                <a:ln>
                  <a:noFill/>
                </a:ln>
                <a:solidFill>
                  <a:schemeClr val="tx1"/>
                </a:solidFill>
                <a:effectLst/>
                <a:uLnTx/>
                <a:uFillTx/>
                <a:latin typeface="+mn-lt"/>
                <a:ea typeface="+mn-ea"/>
                <a:cs typeface="+mn-cs"/>
              </a:rPr>
              <a:t>Sname</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err="1">
                <a:ln>
                  <a:noFill/>
                </a:ln>
                <a:solidFill>
                  <a:schemeClr val="tx1"/>
                </a:solidFill>
                <a:effectLst/>
                <a:uLnTx/>
                <a:uFillTx/>
                <a:latin typeface="+mn-lt"/>
                <a:ea typeface="+mn-ea"/>
                <a:cs typeface="+mn-cs"/>
              </a:rPr>
              <a:t>σ</a:t>
            </a:r>
            <a:r>
              <a:rPr kumimoji="0" lang="en-US" altLang="zh-CN" sz="2800" b="1" i="0" u="none" strike="noStrike" kern="0" cap="none" spc="0" normalizeH="0" baseline="-25000" noProof="0" dirty="0" err="1">
                <a:ln>
                  <a:noFill/>
                </a:ln>
                <a:solidFill>
                  <a:schemeClr val="tx1"/>
                </a:solidFill>
                <a:effectLst/>
                <a:uLnTx/>
                <a:uFillTx/>
                <a:latin typeface="+mn-lt"/>
                <a:ea typeface="+mn-ea"/>
                <a:cs typeface="+mn-cs"/>
              </a:rPr>
              <a:t>Student.Sno</a:t>
            </a:r>
            <a:r>
              <a:rPr kumimoji="0" lang="en-US" altLang="zh-CN" sz="2800" b="1" i="0" u="none" strike="noStrike" kern="0" cap="none" spc="0" normalizeH="0" baseline="-2500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25000" noProof="0" dirty="0" err="1">
                <a:ln>
                  <a:noFill/>
                </a:ln>
                <a:solidFill>
                  <a:schemeClr val="tx1"/>
                </a:solidFill>
                <a:effectLst/>
                <a:uLnTx/>
                <a:uFillTx/>
                <a:latin typeface="+mn-lt"/>
                <a:ea typeface="+mn-ea"/>
                <a:cs typeface="+mn-cs"/>
              </a:rPr>
              <a:t>SC.Sno∧Sc.Cno</a:t>
            </a:r>
            <a:r>
              <a:rPr kumimoji="0" lang="en-US" altLang="zh-CN" sz="2800" b="1" i="0" u="none" strike="noStrike" kern="0" cap="none" spc="0" normalizeH="0" baseline="-25000" noProof="0" dirty="0">
                <a:ln>
                  <a:noFill/>
                </a:ln>
                <a:solidFill>
                  <a:schemeClr val="tx1"/>
                </a:solidFill>
                <a:effectLst/>
                <a:uLnTx/>
                <a:uFillTx/>
                <a:latin typeface="+mn-lt"/>
                <a:ea typeface="+mn-ea"/>
                <a:cs typeface="+mn-cs"/>
              </a:rPr>
              <a:t>=‘81003'</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800" b="1" i="0" u="none" strike="noStrike" kern="0" cap="none" spc="0" normalizeH="0" baseline="0" noProof="0" dirty="0" err="1">
                <a:ln>
                  <a:noFill/>
                </a:ln>
                <a:solidFill>
                  <a:schemeClr val="tx1"/>
                </a:solidFill>
                <a:effectLst/>
                <a:uLnTx/>
                <a:uFillTx/>
                <a:latin typeface="+mn-lt"/>
                <a:ea typeface="+mn-ea"/>
                <a:cs typeface="+mn-cs"/>
              </a:rPr>
              <a:t>Student×SC</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a:t>
            </a:r>
            <a:endParaRPr kumimoji="0" lang="en-US" altLang="zh-CN" sz="2800" b="1" i="1"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30000"/>
              </a:lnSpc>
              <a:spcBef>
                <a:spcPct val="20000"/>
              </a:spcBef>
              <a:spcAft>
                <a:spcPct val="0"/>
              </a:spcAft>
              <a:buClrTx/>
              <a:buSzPct val="100000"/>
              <a:buFont typeface="Wingdings" panose="05000000000000000000" pitchFamily="2" charset="2"/>
              <a:buNone/>
              <a:defRPr/>
            </a:pPr>
            <a:r>
              <a:rPr kumimoji="0" lang="en-US" altLang="zh-CN" sz="2800" b="1" i="1" u="none" strike="noStrike" kern="0" cap="none" spc="0" normalizeH="0" baseline="0" noProof="0" dirty="0">
                <a:ln>
                  <a:noFill/>
                </a:ln>
                <a:solidFill>
                  <a:schemeClr val="tx1"/>
                </a:solidFill>
                <a:effectLst/>
                <a:uLnTx/>
                <a:uFillTx/>
                <a:latin typeface="+mn-lt"/>
                <a:ea typeface="+mn-ea"/>
                <a:cs typeface="+mn-cs"/>
              </a:rPr>
              <a:t>Q</a:t>
            </a:r>
            <a:r>
              <a:rPr kumimoji="0" lang="en-US" altLang="zh-CN" sz="2800" b="1" i="0" u="none" strike="noStrike" kern="0" cap="none" spc="0" normalizeH="0" baseline="-25000" noProof="0" dirty="0">
                <a:ln>
                  <a:noFill/>
                </a:ln>
                <a:solidFill>
                  <a:schemeClr val="tx1"/>
                </a:solidFill>
                <a:effectLst/>
                <a:uLnTx/>
                <a:uFillTx/>
                <a:latin typeface="+mn-lt"/>
                <a:ea typeface="+mn-ea"/>
                <a:cs typeface="+mn-cs"/>
              </a:rPr>
              <a:t>2</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=π</a:t>
            </a:r>
            <a:r>
              <a:rPr kumimoji="0" lang="en-US" altLang="zh-CN" sz="2800" b="1" i="0" u="none" strike="noStrike" kern="0" cap="none" spc="0" normalizeH="0" baseline="-25000" noProof="0" dirty="0" err="1">
                <a:ln>
                  <a:noFill/>
                </a:ln>
                <a:solidFill>
                  <a:schemeClr val="tx1"/>
                </a:solidFill>
                <a:effectLst/>
                <a:uLnTx/>
                <a:uFillTx/>
                <a:latin typeface="+mn-lt"/>
                <a:ea typeface="+mn-ea"/>
                <a:cs typeface="+mn-cs"/>
              </a:rPr>
              <a:t>Sname</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err="1">
                <a:ln>
                  <a:noFill/>
                </a:ln>
                <a:solidFill>
                  <a:schemeClr val="tx1"/>
                </a:solidFill>
                <a:effectLst/>
                <a:uLnTx/>
                <a:uFillTx/>
                <a:latin typeface="+mn-lt"/>
                <a:ea typeface="+mn-ea"/>
                <a:cs typeface="+mn-cs"/>
              </a:rPr>
              <a:t>σ</a:t>
            </a:r>
            <a:r>
              <a:rPr kumimoji="0" lang="en-US" altLang="zh-CN" sz="2800" b="1" i="0" u="none" strike="noStrike" kern="0" cap="none" spc="0" normalizeH="0" baseline="-25000" noProof="0" dirty="0" err="1">
                <a:ln>
                  <a:noFill/>
                </a:ln>
                <a:solidFill>
                  <a:schemeClr val="tx1"/>
                </a:solidFill>
                <a:effectLst/>
                <a:uLnTx/>
                <a:uFillTx/>
                <a:latin typeface="+mn-lt"/>
                <a:ea typeface="+mn-ea"/>
                <a:cs typeface="+mn-cs"/>
              </a:rPr>
              <a:t>Sc.Cno</a:t>
            </a:r>
            <a:r>
              <a:rPr kumimoji="0" lang="en-US" altLang="zh-CN" sz="2800" b="1" i="0" u="none" strike="noStrike" kern="0" cap="none" spc="0" normalizeH="0" baseline="-25000" noProof="0" dirty="0">
                <a:ln>
                  <a:noFill/>
                </a:ln>
                <a:solidFill>
                  <a:schemeClr val="tx1"/>
                </a:solidFill>
                <a:effectLst/>
                <a:uLnTx/>
                <a:uFillTx/>
                <a:latin typeface="+mn-lt"/>
                <a:ea typeface="+mn-ea"/>
                <a:cs typeface="+mn-cs"/>
              </a:rPr>
              <a:t>=‘81003'</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 (Student     SC))</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1"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rPr>
              <a:t>Q</a:t>
            </a:r>
            <a:r>
              <a:rPr kumimoji="0" lang="en-US" altLang="zh-CN" sz="2800" b="1" i="0" u="none" strike="noStrike" kern="0" cap="none" spc="0" normalizeH="0" baseline="-25000" noProof="0" dirty="0">
                <a:ln>
                  <a:noFill/>
                </a:ln>
                <a:solidFill>
                  <a:schemeClr val="tx1"/>
                </a:solidFill>
                <a:effectLst/>
                <a:uLnTx/>
                <a:uFillTx/>
                <a:latin typeface="+mn-lt"/>
                <a:ea typeface="+mn-ea"/>
              </a:rPr>
              <a:t>3</a:t>
            </a:r>
            <a:r>
              <a:rPr kumimoji="0" lang="en-US" altLang="zh-CN" sz="2800" b="1" i="0" u="none" strike="noStrike" kern="0" cap="none" spc="0" normalizeH="0" baseline="0" noProof="0" dirty="0">
                <a:ln>
                  <a:noFill/>
                </a:ln>
                <a:solidFill>
                  <a:schemeClr val="tx1"/>
                </a:solidFill>
                <a:effectLst/>
                <a:uLnTx/>
                <a:uFillTx/>
                <a:latin typeface="+mn-lt"/>
                <a:ea typeface="+mn-ea"/>
              </a:rPr>
              <a:t>=π</a:t>
            </a:r>
            <a:r>
              <a:rPr kumimoji="0" lang="en-US" altLang="zh-CN" sz="2800" b="1" i="0" u="none" strike="noStrike" kern="0" cap="none" spc="0" normalizeH="0" baseline="-25000" noProof="0" dirty="0" err="1">
                <a:ln>
                  <a:noFill/>
                </a:ln>
                <a:solidFill>
                  <a:schemeClr val="tx1"/>
                </a:solidFill>
                <a:effectLst/>
                <a:uLnTx/>
                <a:uFillTx/>
                <a:latin typeface="+mn-lt"/>
                <a:ea typeface="+mn-ea"/>
              </a:rPr>
              <a:t>Sname</a:t>
            </a:r>
            <a:r>
              <a:rPr kumimoji="0" lang="en-US" altLang="zh-CN" sz="2800" b="1" i="0" u="none" strike="noStrike" kern="0" cap="none" spc="0" normalizeH="0" baseline="0" noProof="0" dirty="0">
                <a:ln>
                  <a:noFill/>
                </a:ln>
                <a:solidFill>
                  <a:schemeClr val="tx1"/>
                </a:solidFill>
                <a:effectLst/>
                <a:uLnTx/>
                <a:uFillTx/>
                <a:latin typeface="+mn-lt"/>
                <a:ea typeface="+mn-ea"/>
              </a:rPr>
              <a:t>(Student      </a:t>
            </a:r>
            <a:r>
              <a:rPr kumimoji="0" lang="en-US" altLang="zh-CN" sz="2800" b="1" i="0" u="none" strike="noStrike" kern="0" cap="none" spc="0" normalizeH="0" baseline="0" noProof="0" dirty="0" err="1">
                <a:ln>
                  <a:noFill/>
                </a:ln>
                <a:solidFill>
                  <a:schemeClr val="tx1"/>
                </a:solidFill>
                <a:effectLst/>
                <a:uLnTx/>
                <a:uFillTx/>
                <a:latin typeface="+mn-lt"/>
                <a:ea typeface="+mn-ea"/>
              </a:rPr>
              <a:t>σ</a:t>
            </a:r>
            <a:r>
              <a:rPr kumimoji="0" lang="en-US" altLang="zh-CN" sz="2800" b="1" i="0" u="none" strike="noStrike" kern="0" cap="none" spc="0" normalizeH="0" baseline="-25000" noProof="0" dirty="0" err="1">
                <a:ln>
                  <a:noFill/>
                </a:ln>
                <a:solidFill>
                  <a:schemeClr val="tx1"/>
                </a:solidFill>
                <a:effectLst/>
                <a:uLnTx/>
                <a:uFillTx/>
                <a:latin typeface="+mn-lt"/>
                <a:ea typeface="+mn-ea"/>
              </a:rPr>
              <a:t>SC.Cno</a:t>
            </a:r>
            <a:r>
              <a:rPr kumimoji="0" lang="en-US" altLang="zh-CN" sz="2800" b="1" i="0" u="none" strike="noStrike" kern="0" cap="none" spc="0" normalizeH="0" baseline="-25000" noProof="0" dirty="0">
                <a:ln>
                  <a:noFill/>
                </a:ln>
                <a:solidFill>
                  <a:schemeClr val="tx1"/>
                </a:solidFill>
                <a:effectLst/>
                <a:uLnTx/>
                <a:uFillTx/>
                <a:latin typeface="+mn-lt"/>
                <a:ea typeface="+mn-ea"/>
              </a:rPr>
              <a:t>=‘81003'</a:t>
            </a:r>
            <a:r>
              <a:rPr kumimoji="0" lang="en-US" altLang="zh-CN" sz="2800" b="1" i="0" u="none" strike="noStrike" kern="0" cap="none" spc="0" normalizeH="0" baseline="0" noProof="0" dirty="0">
                <a:ln>
                  <a:noFill/>
                </a:ln>
                <a:solidFill>
                  <a:schemeClr val="tx1"/>
                </a:solidFill>
                <a:effectLst/>
                <a:uLnTx/>
                <a:uFillTx/>
                <a:latin typeface="+mn-lt"/>
                <a:ea typeface="+mn-ea"/>
              </a:rPr>
              <a:t>(SC))</a:t>
            </a:r>
            <a:endParaRPr kumimoji="0" lang="zh-CN" altLang="en-US" sz="28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5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有选择和连接操作时，先做选择操作，这样参加连接的元组就可以大大减少，这是</a:t>
            </a:r>
            <a:r>
              <a:rPr kumimoji="0" lang="zh-CN" altLang="en-US" sz="2400" b="1" i="0" u="none" strike="noStrike" kern="0" cap="none" spc="0" normalizeH="0" baseline="0" noProof="0" dirty="0">
                <a:ln>
                  <a:noFill/>
                </a:ln>
                <a:solidFill>
                  <a:srgbClr val="FF00FF"/>
                </a:solidFill>
                <a:effectLst/>
                <a:uLnTx/>
                <a:uFillTx/>
                <a:latin typeface="+mn-lt"/>
                <a:ea typeface="+mn-ea"/>
              </a:rPr>
              <a:t>代数优化</a:t>
            </a:r>
            <a:endParaRPr kumimoji="0" lang="zh-CN" altLang="en-US" sz="2400" b="1" i="0" u="none" strike="noStrike" kern="0" cap="none" spc="0" normalizeH="0" baseline="0" noProof="0" dirty="0">
              <a:ln>
                <a:noFill/>
              </a:ln>
              <a:solidFill>
                <a:srgbClr val="FF00FF"/>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
        <p:nvSpPr>
          <p:cNvPr id="56324" name="AutoShape 6"/>
          <p:cNvSpPr/>
          <p:nvPr/>
        </p:nvSpPr>
        <p:spPr>
          <a:xfrm>
            <a:off x="4206875" y="2366963"/>
            <a:ext cx="1150938" cy="576262"/>
          </a:xfrm>
          <a:prstGeom prst="downArrow">
            <a:avLst>
              <a:gd name="adj1" fmla="val 50000"/>
              <a:gd name="adj2" fmla="val 25000"/>
            </a:avLst>
          </a:prstGeom>
          <a:solidFill>
            <a:srgbClr val="EEE678"/>
          </a:solidFill>
          <a:ln w="25400"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pSp>
        <p:nvGrpSpPr>
          <p:cNvPr id="56325" name="Group 4"/>
          <p:cNvGrpSpPr/>
          <p:nvPr/>
        </p:nvGrpSpPr>
        <p:grpSpPr>
          <a:xfrm>
            <a:off x="5972175" y="3033713"/>
            <a:ext cx="1600200" cy="825500"/>
            <a:chOff x="2325" y="6446"/>
            <a:chExt cx="705" cy="367"/>
          </a:xfrm>
        </p:grpSpPr>
        <p:sp>
          <p:nvSpPr>
            <p:cNvPr id="56329" name="AutoShape 5"/>
            <p:cNvSpPr/>
            <p:nvPr/>
          </p:nvSpPr>
          <p:spPr>
            <a:xfrm rot="5400000" flipV="1">
              <a:off x="2612" y="6414"/>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56330" name="Text Box 6"/>
            <p:cNvSpPr txBox="1"/>
            <p:nvPr/>
          </p:nvSpPr>
          <p:spPr>
            <a:xfrm flipV="1">
              <a:off x="2325" y="6450"/>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lnSpc>
                  <a:spcPct val="80000"/>
                </a:lnSpc>
                <a:spcBef>
                  <a:spcPct val="0"/>
                </a:spcBef>
                <a:buSzTx/>
                <a:buFont typeface="Arial" panose="020B0604020202020204" pitchFamily="34" charset="0"/>
                <a:buNone/>
              </a:pPr>
              <a:r>
                <a:rPr lang="en-US" altLang="zh-CN" sz="600" i="1" dirty="0"/>
                <a:t> </a:t>
              </a:r>
              <a:endParaRPr lang="en-US" altLang="zh-CN" sz="600" dirty="0"/>
            </a:p>
          </p:txBody>
        </p:sp>
      </p:grpSp>
      <p:grpSp>
        <p:nvGrpSpPr>
          <p:cNvPr id="56326" name="Group 4"/>
          <p:cNvGrpSpPr/>
          <p:nvPr/>
        </p:nvGrpSpPr>
        <p:grpSpPr>
          <a:xfrm>
            <a:off x="3792538" y="3592513"/>
            <a:ext cx="1600200" cy="825500"/>
            <a:chOff x="2325" y="6446"/>
            <a:chExt cx="705" cy="367"/>
          </a:xfrm>
        </p:grpSpPr>
        <p:sp>
          <p:nvSpPr>
            <p:cNvPr id="56327" name="AutoShape 5"/>
            <p:cNvSpPr/>
            <p:nvPr/>
          </p:nvSpPr>
          <p:spPr>
            <a:xfrm rot="5400000" flipV="1">
              <a:off x="2612" y="6414"/>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56328" name="Text Box 6"/>
            <p:cNvSpPr txBox="1"/>
            <p:nvPr/>
          </p:nvSpPr>
          <p:spPr>
            <a:xfrm flipV="1">
              <a:off x="2325" y="6450"/>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lnSpc>
                  <a:spcPct val="80000"/>
                </a:lnSpc>
                <a:spcBef>
                  <a:spcPct val="0"/>
                </a:spcBef>
                <a:buSzTx/>
                <a:buFont typeface="Arial" panose="020B0604020202020204" pitchFamily="34" charset="0"/>
                <a:buNone/>
              </a:pPr>
              <a:r>
                <a:rPr lang="en-US" altLang="zh-CN" sz="600" i="1" dirty="0"/>
                <a:t> </a:t>
              </a:r>
              <a:endParaRPr lang="en-US" altLang="zh-CN" sz="600" dirty="0"/>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1"/>
          <p:cNvSpPr>
            <a:spLocks noGrp="1"/>
          </p:cNvSpPr>
          <p:nvPr>
            <p:ph type="title"/>
          </p:nvPr>
        </p:nvSpPr>
        <p:spPr/>
        <p:txBody>
          <a:bodyPr vert="horz" wrap="square" lIns="91440" tIns="45720" rIns="91440" bIns="45720" anchor="ctr" anchorCtr="0"/>
          <a:p>
            <a:r>
              <a:rPr lang="zh-CN" altLang="en-US" sz="3600" dirty="0"/>
              <a:t>实例</a:t>
            </a:r>
            <a:r>
              <a:rPr lang="en-US" altLang="zh-CN" sz="3600" dirty="0"/>
              <a:t>: </a:t>
            </a:r>
            <a:r>
              <a:rPr lang="zh-CN" altLang="en-US" sz="3600" dirty="0"/>
              <a:t>小结</a:t>
            </a:r>
            <a:endParaRPr lang="zh-CN" altLang="en-US" sz="3600" dirty="0"/>
          </a:p>
        </p:txBody>
      </p:sp>
      <p:sp>
        <p:nvSpPr>
          <p:cNvPr id="3" name="内容占位符 2"/>
          <p:cNvSpPr>
            <a:spLocks noGrp="1"/>
          </p:cNvSpPr>
          <p:nvPr>
            <p:ph idx="1"/>
          </p:nvPr>
        </p:nvSpPr>
        <p:spPr>
          <a:xfrm>
            <a:off x="1092200" y="1412875"/>
            <a:ext cx="10007600" cy="5095875"/>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在</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Q</a:t>
            </a:r>
            <a:r>
              <a:rPr kumimoji="0" lang="en-US" altLang="zh-CN" sz="2800" b="1" i="0" u="none" strike="noStrike" kern="0" cap="none" spc="0" normalizeH="0" baseline="-25000" noProof="0" dirty="0">
                <a:ln>
                  <a:noFill/>
                </a:ln>
                <a:solidFill>
                  <a:schemeClr val="tx1"/>
                </a:solidFill>
                <a:effectLst/>
                <a:uLnTx/>
                <a:uFillTx/>
                <a:latin typeface="+mn-lt"/>
                <a:ea typeface="+mn-ea"/>
                <a:cs typeface="+mn-cs"/>
              </a:rPr>
              <a:t>3</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中</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50000"/>
              </a:lnSpc>
              <a:spcBef>
                <a:spcPct val="20000"/>
              </a:spcBef>
              <a:spcAft>
                <a:spcPct val="0"/>
              </a:spcAft>
              <a:buClrTx/>
              <a:buSzPct val="100000"/>
              <a:buFont typeface="Wingdings" panose="05000000000000000000" pitchFamily="2" charset="2"/>
              <a:buChar char="n"/>
              <a:defRPr/>
            </a:pPr>
            <a:r>
              <a:rPr kumimoji="0" lang="en-US" altLang="zh-CN" sz="2400" b="1" i="0" u="none" strike="noStrike" kern="0" cap="none" spc="0" normalizeH="0" baseline="0" noProof="0" dirty="0">
                <a:ln>
                  <a:noFill/>
                </a:ln>
                <a:solidFill>
                  <a:schemeClr val="tx1"/>
                </a:solidFill>
                <a:effectLst/>
                <a:uLnTx/>
                <a:uFillTx/>
                <a:latin typeface="+mn-lt"/>
                <a:ea typeface="+mn-ea"/>
              </a:rPr>
              <a:t>SC</a:t>
            </a:r>
            <a:r>
              <a:rPr kumimoji="0" lang="zh-CN" altLang="en-US" sz="2400" b="1" i="0" u="none" strike="noStrike" kern="0" cap="none" spc="0" normalizeH="0" baseline="0" noProof="0" dirty="0">
                <a:ln>
                  <a:noFill/>
                </a:ln>
                <a:solidFill>
                  <a:schemeClr val="tx1"/>
                </a:solidFill>
                <a:effectLst/>
                <a:uLnTx/>
                <a:uFillTx/>
                <a:latin typeface="+mn-lt"/>
                <a:ea typeface="+mn-ea"/>
              </a:rPr>
              <a:t>表的选择操作算法有全表扫描或索引扫描，经过初步估算，索引扫描方法较优。</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5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对于</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和</a:t>
            </a:r>
            <a:r>
              <a:rPr kumimoji="0" lang="en-US" altLang="zh-CN" sz="2400" b="1" i="0" u="none" strike="noStrike" kern="0" cap="none" spc="0" normalizeH="0" baseline="0" noProof="0" dirty="0">
                <a:ln>
                  <a:noFill/>
                </a:ln>
                <a:solidFill>
                  <a:schemeClr val="tx1"/>
                </a:solidFill>
                <a:effectLst/>
                <a:uLnTx/>
                <a:uFillTx/>
                <a:latin typeface="+mn-lt"/>
                <a:ea typeface="+mn-ea"/>
              </a:rPr>
              <a:t>SC</a:t>
            </a:r>
            <a:r>
              <a:rPr kumimoji="0" lang="zh-CN" altLang="en-US" sz="2400" b="1" i="0" u="none" strike="noStrike" kern="0" cap="none" spc="0" normalizeH="0" baseline="0" noProof="0" dirty="0">
                <a:ln>
                  <a:noFill/>
                </a:ln>
                <a:solidFill>
                  <a:schemeClr val="tx1"/>
                </a:solidFill>
                <a:effectLst/>
                <a:uLnTx/>
                <a:uFillTx/>
                <a:latin typeface="+mn-lt"/>
                <a:ea typeface="+mn-ea"/>
              </a:rPr>
              <a:t>表的连接，利用</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表上的索引，采用索引连接代价也较小，这就是</a:t>
            </a:r>
            <a:r>
              <a:rPr kumimoji="0" lang="zh-CN" altLang="en-US" sz="2400" b="1" i="0" u="none" strike="noStrike" kern="0" cap="none" spc="0" normalizeH="0" baseline="0" noProof="0" dirty="0">
                <a:ln>
                  <a:noFill/>
                </a:ln>
                <a:solidFill>
                  <a:srgbClr val="FF00FF"/>
                </a:solidFill>
                <a:effectLst/>
                <a:uLnTx/>
                <a:uFillTx/>
                <a:latin typeface="+mn-lt"/>
                <a:ea typeface="+mn-ea"/>
              </a:rPr>
              <a:t>物理优化</a:t>
            </a:r>
            <a:r>
              <a:rPr kumimoji="0" lang="zh-CN" altLang="en-US" sz="2400" b="1" i="0" u="none" strike="noStrike" kern="0" cap="none" spc="0" normalizeH="0" baseline="0" noProof="0" dirty="0">
                <a:ln>
                  <a:noFill/>
                </a:ln>
                <a:solidFill>
                  <a:schemeClr val="tx1"/>
                </a:solidFill>
                <a:effectLst/>
                <a:uLnTx/>
                <a:uFillTx/>
                <a:latin typeface="+mn-lt"/>
                <a:ea typeface="+mn-ea"/>
              </a:rPr>
              <a:t>。</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1"/>
          <p:cNvSpPr>
            <a:spLocks noGrp="1"/>
          </p:cNvSpPr>
          <p:nvPr>
            <p:ph type="title"/>
          </p:nvPr>
        </p:nvSpPr>
        <p:spPr/>
        <p:txBody>
          <a:bodyPr vert="horz" wrap="square" lIns="91440" tIns="45720" rIns="91440" bIns="45720" anchor="ctr" anchorCtr="0"/>
          <a:p>
            <a:r>
              <a:rPr lang="zh-CN" altLang="zh-CN" sz="3600" dirty="0">
                <a:sym typeface="宋体" panose="02010600030101010101" pitchFamily="2" charset="-122"/>
              </a:rPr>
              <a:t>第</a:t>
            </a:r>
            <a:r>
              <a:rPr lang="zh-CN" altLang="en-US" sz="3600" dirty="0">
                <a:sym typeface="宋体" panose="02010600030101010101" pitchFamily="2" charset="-122"/>
              </a:rPr>
              <a:t>十</a:t>
            </a:r>
            <a:r>
              <a:rPr lang="zh-CN" altLang="zh-CN" sz="3600" dirty="0">
                <a:sym typeface="宋体" panose="02010600030101010101" pitchFamily="2" charset="-122"/>
              </a:rPr>
              <a:t>章</a:t>
            </a:r>
            <a:r>
              <a:rPr lang="zh-CN" altLang="zh-CN" sz="3600" dirty="0"/>
              <a:t>  </a:t>
            </a:r>
            <a:r>
              <a:rPr lang="zh-CN" altLang="zh-CN" sz="3600" dirty="0">
                <a:sym typeface="宋体" panose="02010600030101010101" pitchFamily="2" charset="-122"/>
              </a:rPr>
              <a:t>关系</a:t>
            </a:r>
            <a:r>
              <a:rPr lang="zh-CN" altLang="en-US" sz="3600" dirty="0">
                <a:sym typeface="宋体" panose="02010600030101010101" pitchFamily="2" charset="-122"/>
              </a:rPr>
              <a:t>查询处理和查询</a:t>
            </a:r>
            <a:r>
              <a:rPr lang="zh-CN" altLang="zh-CN" sz="3600" dirty="0">
                <a:sym typeface="宋体" panose="02010600030101010101" pitchFamily="2" charset="-122"/>
              </a:rPr>
              <a:t>优化</a:t>
            </a:r>
            <a:endParaRPr lang="zh-CN" altLang="en-US" sz="3600" dirty="0"/>
          </a:p>
        </p:txBody>
      </p:sp>
      <p:sp>
        <p:nvSpPr>
          <p:cNvPr id="58371" name="内容占位符 2"/>
          <p:cNvSpPr>
            <a:spLocks noGrp="1"/>
          </p:cNvSpPr>
          <p:nvPr>
            <p:ph idx="1"/>
          </p:nvPr>
        </p:nvSpPr>
        <p:spPr>
          <a:xfrm>
            <a:off x="1200150" y="1338263"/>
            <a:ext cx="10396538" cy="4854575"/>
          </a:xfrm>
        </p:spPr>
        <p:txBody>
          <a:bodyPr vert="horz" wrap="square" lIns="91440" tIns="45720" rIns="91440" bIns="45720" anchor="t" anchorCtr="0"/>
          <a:p>
            <a:pPr lvl="1" eaLnBrk="1" hangingPunct="1">
              <a:lnSpc>
                <a:spcPct val="140000"/>
              </a:lnSpc>
              <a:buNone/>
            </a:pPr>
            <a:r>
              <a:rPr lang="en-US" altLang="zh-CN" sz="2800" dirty="0"/>
              <a:t>10.1 </a:t>
            </a:r>
            <a:r>
              <a:rPr lang="zh-CN" altLang="en-US" sz="2800" dirty="0"/>
              <a:t>关系数据库系统的查询处理 </a:t>
            </a:r>
            <a:endParaRPr lang="zh-CN" altLang="en-US" sz="2800" dirty="0"/>
          </a:p>
          <a:p>
            <a:pPr lvl="1" eaLnBrk="1" hangingPunct="1">
              <a:lnSpc>
                <a:spcPct val="140000"/>
              </a:lnSpc>
              <a:buNone/>
            </a:pPr>
            <a:r>
              <a:rPr lang="en-US" altLang="zh-CN" sz="2800" dirty="0"/>
              <a:t>10.2 </a:t>
            </a:r>
            <a:r>
              <a:rPr lang="zh-CN" altLang="en-US" sz="2800" dirty="0"/>
              <a:t>关系数据库系统的查询优化 </a:t>
            </a:r>
            <a:endParaRPr lang="zh-CN" altLang="en-US" sz="2800" dirty="0"/>
          </a:p>
          <a:p>
            <a:pPr lvl="1" eaLnBrk="1" hangingPunct="1">
              <a:lnSpc>
                <a:spcPct val="140000"/>
              </a:lnSpc>
              <a:buNone/>
            </a:pPr>
            <a:r>
              <a:rPr lang="en-US" altLang="zh-CN" sz="2800" dirty="0">
                <a:solidFill>
                  <a:srgbClr val="0066FF"/>
                </a:solidFill>
              </a:rPr>
              <a:t>10.3 </a:t>
            </a:r>
            <a:r>
              <a:rPr lang="zh-CN" altLang="en-US" sz="2800" dirty="0">
                <a:solidFill>
                  <a:srgbClr val="0066FF"/>
                </a:solidFill>
              </a:rPr>
              <a:t>代数优化 </a:t>
            </a:r>
            <a:endParaRPr lang="zh-CN" altLang="en-US" sz="2800" dirty="0">
              <a:solidFill>
                <a:srgbClr val="0066FF"/>
              </a:solidFill>
            </a:endParaRPr>
          </a:p>
          <a:p>
            <a:pPr lvl="1" eaLnBrk="1" hangingPunct="1">
              <a:lnSpc>
                <a:spcPct val="140000"/>
              </a:lnSpc>
              <a:buNone/>
            </a:pPr>
            <a:r>
              <a:rPr lang="en-US" altLang="zh-CN" sz="2800" dirty="0"/>
              <a:t>10.4 </a:t>
            </a:r>
            <a:r>
              <a:rPr lang="zh-CN" altLang="en-US" sz="2800" dirty="0"/>
              <a:t>物理优化 </a:t>
            </a:r>
            <a:endParaRPr lang="zh-CN" altLang="en-US" sz="2800" dirty="0"/>
          </a:p>
          <a:p>
            <a:pPr lvl="1" eaLnBrk="1" hangingPunct="1">
              <a:lnSpc>
                <a:spcPct val="140000"/>
              </a:lnSpc>
              <a:buNone/>
            </a:pPr>
            <a:r>
              <a:rPr lang="en-US" altLang="zh-CN" sz="2800" dirty="0"/>
              <a:t>*10.5 </a:t>
            </a:r>
            <a:r>
              <a:rPr lang="zh-CN" altLang="en-US" sz="2800" dirty="0"/>
              <a:t>查询计划的执行</a:t>
            </a:r>
            <a:endParaRPr lang="zh-CN" altLang="en-US" sz="2800" dirty="0"/>
          </a:p>
          <a:p>
            <a:pPr lvl="1" eaLnBrk="1" hangingPunct="1">
              <a:lnSpc>
                <a:spcPct val="140000"/>
              </a:lnSpc>
              <a:buNone/>
            </a:pPr>
            <a:r>
              <a:rPr lang="en-US" altLang="zh-CN" sz="2800" dirty="0"/>
              <a:t>10.6 </a:t>
            </a:r>
            <a:r>
              <a:rPr lang="zh-CN" altLang="en-US" sz="2800" dirty="0"/>
              <a:t>小 结 </a:t>
            </a:r>
            <a:endParaRPr lang="zh-CN" altLang="en-US" sz="2800" dirty="0"/>
          </a:p>
          <a:p>
            <a:endParaRPr lang="zh-CN" altLang="en-US" dirty="0"/>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标题 1"/>
          <p:cNvSpPr>
            <a:spLocks noGrp="1"/>
          </p:cNvSpPr>
          <p:nvPr>
            <p:ph type="title"/>
          </p:nvPr>
        </p:nvSpPr>
        <p:spPr/>
        <p:txBody>
          <a:bodyPr vert="horz" wrap="square" lIns="91440" tIns="45720" rIns="91440" bIns="45720" anchor="ctr" anchorCtr="0"/>
          <a:p>
            <a:r>
              <a:rPr lang="en-US" altLang="zh-CN" sz="3600" dirty="0"/>
              <a:t>10.3 </a:t>
            </a:r>
            <a:r>
              <a:rPr lang="zh-CN" altLang="en-US" sz="3600" dirty="0"/>
              <a:t>代 数 优 化</a:t>
            </a:r>
            <a:endParaRPr lang="zh-CN" altLang="en-US" sz="3600" dirty="0"/>
          </a:p>
        </p:txBody>
      </p:sp>
      <p:sp>
        <p:nvSpPr>
          <p:cNvPr id="59395" name="内容占位符 2"/>
          <p:cNvSpPr>
            <a:spLocks noGrp="1"/>
          </p:cNvSpPr>
          <p:nvPr>
            <p:ph idx="1"/>
          </p:nvPr>
        </p:nvSpPr>
        <p:spPr>
          <a:xfrm>
            <a:off x="1343025" y="1339850"/>
            <a:ext cx="10396538" cy="4854575"/>
          </a:xfrm>
        </p:spPr>
        <p:txBody>
          <a:bodyPr vert="horz" wrap="square" lIns="91440" tIns="45720" rIns="91440" bIns="45720" anchor="t" anchorCtr="0"/>
          <a:p>
            <a:pPr marL="0" indent="0">
              <a:lnSpc>
                <a:spcPct val="150000"/>
              </a:lnSpc>
              <a:buNone/>
            </a:pPr>
            <a:r>
              <a:rPr lang="en-US" altLang="zh-CN" dirty="0">
                <a:solidFill>
                  <a:srgbClr val="00B050"/>
                </a:solidFill>
              </a:rPr>
              <a:t>10.3.1  </a:t>
            </a:r>
            <a:r>
              <a:rPr lang="zh-CN" altLang="en-US" dirty="0">
                <a:solidFill>
                  <a:srgbClr val="00B050"/>
                </a:solidFill>
              </a:rPr>
              <a:t>关系代数表达式等价变换规则 </a:t>
            </a:r>
            <a:endParaRPr lang="zh-CN" altLang="en-US" dirty="0">
              <a:solidFill>
                <a:srgbClr val="00B050"/>
              </a:solidFill>
            </a:endParaRPr>
          </a:p>
          <a:p>
            <a:pPr marL="0" indent="0">
              <a:lnSpc>
                <a:spcPct val="150000"/>
              </a:lnSpc>
              <a:buNone/>
            </a:pPr>
            <a:r>
              <a:rPr lang="en-US" altLang="zh-CN" dirty="0"/>
              <a:t>10.3.2  </a:t>
            </a:r>
            <a:r>
              <a:rPr lang="zh-CN" altLang="en-US" dirty="0"/>
              <a:t>查询树的启发式优化 </a:t>
            </a:r>
            <a:endParaRPr lang="zh-CN" altLang="en-US" dirty="0"/>
          </a:p>
          <a:p>
            <a:pPr marL="0" indent="0">
              <a:buNone/>
            </a:pP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标题 1"/>
          <p:cNvSpPr>
            <a:spLocks noGrp="1"/>
          </p:cNvSpPr>
          <p:nvPr>
            <p:ph type="title"/>
          </p:nvPr>
        </p:nvSpPr>
        <p:spPr/>
        <p:txBody>
          <a:bodyPr vert="horz" wrap="square" lIns="91440" tIns="45720" rIns="91440" bIns="45720" anchor="ctr" anchorCtr="0"/>
          <a:p>
            <a:r>
              <a:rPr lang="en-US" altLang="zh-CN" sz="3600" dirty="0"/>
              <a:t>10.3.1  </a:t>
            </a:r>
            <a:r>
              <a:rPr lang="zh-CN" altLang="en-US" sz="3600" dirty="0"/>
              <a:t>关系代数表达式等价变换规则 </a:t>
            </a:r>
            <a:endParaRPr lang="zh-CN" altLang="en-US" sz="3600" dirty="0"/>
          </a:p>
        </p:txBody>
      </p:sp>
      <p:sp>
        <p:nvSpPr>
          <p:cNvPr id="60419" name="内容占位符 2"/>
          <p:cNvSpPr>
            <a:spLocks noGrp="1"/>
          </p:cNvSpPr>
          <p:nvPr>
            <p:ph idx="1"/>
          </p:nvPr>
        </p:nvSpPr>
        <p:spPr>
          <a:xfrm>
            <a:off x="550863" y="1412875"/>
            <a:ext cx="10972800" cy="4854575"/>
          </a:xfrm>
        </p:spPr>
        <p:txBody>
          <a:bodyPr vert="horz" wrap="square" lIns="91440" tIns="45720" rIns="91440" bIns="45720" anchor="t" anchorCtr="0"/>
          <a:p>
            <a:pPr>
              <a:lnSpc>
                <a:spcPct val="120000"/>
              </a:lnSpc>
            </a:pPr>
            <a:r>
              <a:rPr lang="zh-CN" altLang="en-US" dirty="0"/>
              <a:t>代数优化策略：通过对关系代数表达式的等价变换来提高查询效率 </a:t>
            </a:r>
            <a:endParaRPr lang="zh-CN" altLang="en-US" dirty="0"/>
          </a:p>
          <a:p>
            <a:pPr>
              <a:lnSpc>
                <a:spcPct val="120000"/>
              </a:lnSpc>
            </a:pPr>
            <a:endParaRPr lang="zh-CN" altLang="en-US" dirty="0"/>
          </a:p>
          <a:p>
            <a:pPr>
              <a:lnSpc>
                <a:spcPct val="120000"/>
              </a:lnSpc>
            </a:pPr>
            <a:r>
              <a:rPr lang="zh-CN" altLang="en-US" dirty="0"/>
              <a:t>关系代数表达式的等价：指用相同的关系代替两个表达式中相应的关系所得到的结果是相同的</a:t>
            </a:r>
            <a:endParaRPr lang="zh-CN" altLang="en-US" dirty="0"/>
          </a:p>
          <a:p>
            <a:pPr>
              <a:lnSpc>
                <a:spcPct val="120000"/>
              </a:lnSpc>
            </a:pPr>
            <a:endParaRPr lang="zh-CN" altLang="en-US" dirty="0"/>
          </a:p>
          <a:p>
            <a:pPr>
              <a:lnSpc>
                <a:spcPct val="120000"/>
              </a:lnSpc>
            </a:pPr>
            <a:r>
              <a:rPr lang="zh-CN" altLang="en-US" dirty="0"/>
              <a:t>两个关系表达式</a:t>
            </a:r>
            <a:r>
              <a:rPr lang="en-US" altLang="zh-CN" dirty="0"/>
              <a:t>E</a:t>
            </a:r>
            <a:r>
              <a:rPr lang="en-US" altLang="zh-CN" baseline="-25000" dirty="0"/>
              <a:t>1</a:t>
            </a:r>
            <a:r>
              <a:rPr lang="zh-CN" altLang="en-US" dirty="0"/>
              <a:t>和</a:t>
            </a:r>
            <a:r>
              <a:rPr lang="en-US" altLang="zh-CN" dirty="0"/>
              <a:t>E</a:t>
            </a:r>
            <a:r>
              <a:rPr lang="en-US" altLang="zh-CN" baseline="-25000" dirty="0"/>
              <a:t>2</a:t>
            </a:r>
            <a:r>
              <a:rPr lang="zh-CN" altLang="en-US" dirty="0"/>
              <a:t>是等价的，可记为</a:t>
            </a:r>
            <a:r>
              <a:rPr lang="en-US" altLang="zh-CN" dirty="0"/>
              <a:t>E</a:t>
            </a:r>
            <a:r>
              <a:rPr lang="en-US" altLang="zh-CN" baseline="-25000" dirty="0"/>
              <a:t>1</a:t>
            </a:r>
            <a:r>
              <a:rPr lang="en-US" altLang="zh-CN" dirty="0"/>
              <a:t>≡E</a:t>
            </a:r>
            <a:r>
              <a:rPr lang="en-US" altLang="zh-CN" baseline="-25000" dirty="0"/>
              <a:t>2</a:t>
            </a:r>
            <a:r>
              <a:rPr lang="en-US" altLang="zh-CN" dirty="0"/>
              <a:t>  </a:t>
            </a:r>
            <a:endParaRPr lang="zh-CN" altLang="en-US" dirty="0"/>
          </a:p>
          <a:p>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TextBox 3"/>
          <p:cNvSpPr/>
          <p:nvPr/>
        </p:nvSpPr>
        <p:spPr>
          <a:xfrm>
            <a:off x="8453438" y="6357938"/>
            <a:ext cx="1785937" cy="3048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 typeface="Arial" panose="020B0604020202020204" pitchFamily="34" charset="0"/>
              <a:buNone/>
            </a:pPr>
            <a:r>
              <a:rPr lang="zh-CN" altLang="zh-CN" sz="1400" dirty="0">
                <a:solidFill>
                  <a:srgbClr val="953734"/>
                </a:solidFill>
                <a:latin typeface="微软雅黑" panose="020B0503020204020204" charset="-122"/>
                <a:ea typeface="微软雅黑" panose="020B0503020204020204" charset="-122"/>
                <a:sym typeface="微软雅黑" panose="020B0503020204020204" charset="-122"/>
              </a:rPr>
              <a:t>*</a:t>
            </a:r>
            <a:endParaRPr lang="zh-CN" altLang="zh-CN" sz="1400" dirty="0">
              <a:solidFill>
                <a:srgbClr val="953734"/>
              </a:solidFill>
              <a:latin typeface="微软雅黑" panose="020B0503020204020204" charset="-122"/>
              <a:ea typeface="微软雅黑" panose="020B0503020204020204" charset="-122"/>
              <a:sym typeface="微软雅黑" panose="020B0503020204020204" charset="-122"/>
            </a:endParaRPr>
          </a:p>
        </p:txBody>
      </p:sp>
      <p:sp>
        <p:nvSpPr>
          <p:cNvPr id="61443" name="Rectangle 2"/>
          <p:cNvSpPr>
            <a:spLocks noGrp="1"/>
          </p:cNvSpPr>
          <p:nvPr>
            <p:ph type="title"/>
          </p:nvPr>
        </p:nvSpPr>
        <p:spPr>
          <a:xfrm>
            <a:off x="1981200" y="41275"/>
            <a:ext cx="8229600" cy="939800"/>
          </a:xfrm>
        </p:spPr>
        <p:txBody>
          <a:bodyPr vert="horz" wrap="square" lIns="91440" tIns="45720" rIns="91440" bIns="45720" anchor="ctr" anchorCtr="0"/>
          <a:p>
            <a:pPr eaLnBrk="1" hangingPunct="1"/>
            <a:r>
              <a:rPr lang="zh-CN" altLang="zh-CN" sz="3600" dirty="0"/>
              <a:t>关系代数表达式等价变换规则（续）</a:t>
            </a:r>
            <a:endParaRPr lang="zh-CN" altLang="zh-CN" sz="3600" dirty="0"/>
          </a:p>
        </p:txBody>
      </p:sp>
      <p:sp>
        <p:nvSpPr>
          <p:cNvPr id="61444" name="Rectangle 3"/>
          <p:cNvSpPr>
            <a:spLocks noGrp="1"/>
          </p:cNvSpPr>
          <p:nvPr>
            <p:ph type="subTitle" idx="1"/>
          </p:nvPr>
        </p:nvSpPr>
        <p:spPr>
          <a:xfrm>
            <a:off x="971550" y="981075"/>
            <a:ext cx="9948863" cy="5376863"/>
          </a:xfrm>
        </p:spPr>
        <p:txBody>
          <a:bodyPr vert="horz" wrap="square" lIns="91440" tIns="45720" rIns="91440" bIns="45720" anchor="t" anchorCtr="0"/>
          <a:p>
            <a:pPr marL="342900" indent="-342900" algn="l" eaLnBrk="1" hangingPunct="1">
              <a:lnSpc>
                <a:spcPct val="120000"/>
              </a:lnSpc>
              <a:buSzPct val="100000"/>
              <a:buFont typeface="Wingdings" panose="05000000000000000000" pitchFamily="2" charset="2"/>
              <a:buChar char="v"/>
            </a:pPr>
            <a:r>
              <a:rPr lang="zh-CN" altLang="en-US" dirty="0">
                <a:latin typeface="+mn-lt"/>
                <a:ea typeface="+mn-ea"/>
                <a:cs typeface="+mn-cs"/>
              </a:rPr>
              <a:t>常用的等价变换规则：</a:t>
            </a:r>
            <a:endParaRPr lang="zh-CN" altLang="en-US" dirty="0">
              <a:latin typeface="+mn-lt"/>
              <a:ea typeface="+mn-ea"/>
              <a:cs typeface="+mn-cs"/>
            </a:endParaRPr>
          </a:p>
          <a:p>
            <a:pPr lvl="1" algn="l" eaLnBrk="1" hangingPunct="1">
              <a:lnSpc>
                <a:spcPct val="120000"/>
              </a:lnSpc>
              <a:spcBef>
                <a:spcPct val="0"/>
              </a:spcBef>
              <a:buSzPct val="100000"/>
            </a:pPr>
            <a:r>
              <a:rPr lang="en-US" altLang="zh-CN" dirty="0">
                <a:latin typeface="+mn-lt"/>
                <a:ea typeface="+mn-ea"/>
              </a:rPr>
              <a:t>1.</a:t>
            </a:r>
            <a:r>
              <a:rPr lang="zh-CN" altLang="en-US" dirty="0">
                <a:latin typeface="+mn-lt"/>
                <a:ea typeface="+mn-ea"/>
              </a:rPr>
              <a:t>连接、笛卡尔积交换律</a:t>
            </a:r>
            <a:endParaRPr lang="zh-CN" altLang="en-US" dirty="0">
              <a:latin typeface="+mn-lt"/>
              <a:ea typeface="+mn-ea"/>
            </a:endParaRPr>
          </a:p>
          <a:p>
            <a:pPr marL="342900" indent="-342900" algn="l" eaLnBrk="1" hangingPunct="1">
              <a:lnSpc>
                <a:spcPct val="120000"/>
              </a:lnSpc>
              <a:spcBef>
                <a:spcPct val="0"/>
              </a:spcBef>
              <a:buSzPct val="100000"/>
            </a:pPr>
            <a:r>
              <a:rPr lang="zh-CN" altLang="en-US" sz="2400" dirty="0">
                <a:latin typeface="+mn-lt"/>
                <a:ea typeface="+mn-ea"/>
                <a:cs typeface="+mn-cs"/>
              </a:rPr>
              <a:t>       设</a:t>
            </a:r>
            <a:r>
              <a:rPr lang="en-US" altLang="zh-CN" sz="2400" i="1" dirty="0">
                <a:latin typeface="+mn-lt"/>
                <a:ea typeface="+mn-ea"/>
                <a:cs typeface="+mn-cs"/>
              </a:rPr>
              <a:t>E</a:t>
            </a:r>
            <a:r>
              <a:rPr lang="en-US" altLang="zh-CN" sz="2400" baseline="-25000" dirty="0">
                <a:latin typeface="+mn-lt"/>
                <a:ea typeface="+mn-ea"/>
                <a:cs typeface="+mn-cs"/>
              </a:rPr>
              <a:t>1</a:t>
            </a:r>
            <a:r>
              <a:rPr lang="zh-CN" altLang="en-US" sz="2400" dirty="0">
                <a:latin typeface="+mn-lt"/>
                <a:ea typeface="+mn-ea"/>
                <a:cs typeface="+mn-cs"/>
              </a:rPr>
              <a:t>和</a:t>
            </a:r>
            <a:r>
              <a:rPr lang="en-US" altLang="zh-CN" sz="2400" i="1" dirty="0">
                <a:latin typeface="+mn-lt"/>
                <a:ea typeface="+mn-ea"/>
                <a:cs typeface="+mn-cs"/>
              </a:rPr>
              <a:t>E</a:t>
            </a:r>
            <a:r>
              <a:rPr lang="en-US" altLang="zh-CN" sz="2400" baseline="-25000" dirty="0">
                <a:latin typeface="+mn-lt"/>
                <a:ea typeface="+mn-ea"/>
                <a:cs typeface="+mn-cs"/>
              </a:rPr>
              <a:t>2</a:t>
            </a:r>
            <a:r>
              <a:rPr lang="zh-CN" altLang="en-US" sz="2400" dirty="0">
                <a:latin typeface="+mn-lt"/>
                <a:ea typeface="+mn-ea"/>
                <a:cs typeface="+mn-cs"/>
              </a:rPr>
              <a:t>是关系代数表达式，</a:t>
            </a:r>
            <a:r>
              <a:rPr lang="en-US" altLang="zh-CN" sz="2400" i="1" dirty="0">
                <a:latin typeface="+mn-lt"/>
                <a:ea typeface="+mn-ea"/>
                <a:cs typeface="+mn-cs"/>
              </a:rPr>
              <a:t>F</a:t>
            </a:r>
            <a:r>
              <a:rPr lang="zh-CN" altLang="en-US" sz="2400" dirty="0">
                <a:latin typeface="+mn-lt"/>
                <a:ea typeface="+mn-ea"/>
                <a:cs typeface="+mn-cs"/>
              </a:rPr>
              <a:t>是连接运算的条件，则有</a:t>
            </a:r>
            <a:endParaRPr lang="zh-CN" altLang="en-US" sz="2400" dirty="0">
              <a:latin typeface="+mn-lt"/>
              <a:ea typeface="+mn-ea"/>
              <a:cs typeface="+mn-cs"/>
            </a:endParaRPr>
          </a:p>
          <a:p>
            <a:pPr marL="342900" indent="-342900" algn="l" eaLnBrk="1" hangingPunct="1">
              <a:lnSpc>
                <a:spcPct val="120000"/>
              </a:lnSpc>
              <a:spcBef>
                <a:spcPct val="0"/>
              </a:spcBef>
              <a:buSzPct val="100000"/>
            </a:pPr>
            <a:r>
              <a:rPr lang="zh-CN" altLang="en-US"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1  </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2  </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1</a:t>
            </a:r>
            <a:endParaRPr lang="zh-CN" altLang="en-US" sz="2400" baseline="-25000" dirty="0">
              <a:latin typeface="+mn-lt"/>
              <a:ea typeface="+mn-ea"/>
              <a:cs typeface="+mn-cs"/>
            </a:endParaRPr>
          </a:p>
          <a:p>
            <a:pPr marL="342900" indent="-342900" algn="l" eaLnBrk="1" hangingPunct="1">
              <a:lnSpc>
                <a:spcPct val="120000"/>
              </a:lnSpc>
              <a:spcBef>
                <a:spcPct val="0"/>
              </a:spcBef>
              <a:buSzPct val="100000"/>
            </a:pP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1</a:t>
            </a:r>
            <a:endParaRPr lang="zh-CN" altLang="en-US" sz="2400" baseline="-25000" dirty="0">
              <a:latin typeface="+mn-lt"/>
              <a:ea typeface="+mn-ea"/>
              <a:cs typeface="+mn-cs"/>
            </a:endParaRPr>
          </a:p>
          <a:p>
            <a:pPr marL="342900" indent="-342900" algn="l" eaLnBrk="1" hangingPunct="1">
              <a:lnSpc>
                <a:spcPct val="120000"/>
              </a:lnSpc>
              <a:spcBef>
                <a:spcPct val="0"/>
              </a:spcBef>
              <a:buSzPct val="100000"/>
            </a:pP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1</a:t>
            </a:r>
            <a:br>
              <a:rPr lang="en-US" altLang="zh-CN" sz="2400" baseline="-25000" dirty="0">
                <a:latin typeface="+mn-lt"/>
                <a:ea typeface="+mn-ea"/>
                <a:cs typeface="+mn-cs"/>
              </a:rPr>
            </a:br>
            <a:endParaRPr lang="en-US" altLang="zh-CN" sz="800" dirty="0">
              <a:latin typeface="+mn-lt"/>
              <a:ea typeface="+mn-ea"/>
              <a:cs typeface="+mn-cs"/>
            </a:endParaRPr>
          </a:p>
          <a:p>
            <a:pPr lvl="1" algn="l" eaLnBrk="1" hangingPunct="1">
              <a:lnSpc>
                <a:spcPct val="120000"/>
              </a:lnSpc>
              <a:spcBef>
                <a:spcPct val="0"/>
              </a:spcBef>
              <a:buSzPct val="100000"/>
            </a:pPr>
            <a:r>
              <a:rPr lang="en-US" altLang="zh-CN" dirty="0">
                <a:latin typeface="+mn-lt"/>
                <a:ea typeface="+mn-ea"/>
              </a:rPr>
              <a:t>2.</a:t>
            </a:r>
            <a:r>
              <a:rPr lang="zh-CN" altLang="en-US" dirty="0">
                <a:latin typeface="+mn-lt"/>
                <a:ea typeface="+mn-ea"/>
              </a:rPr>
              <a:t>连接、笛卡尔积的结合律</a:t>
            </a:r>
            <a:endParaRPr lang="zh-CN" altLang="en-US" dirty="0">
              <a:latin typeface="+mn-lt"/>
              <a:ea typeface="+mn-ea"/>
            </a:endParaRPr>
          </a:p>
          <a:p>
            <a:pPr marL="342900" indent="-342900" algn="l" eaLnBrk="1" hangingPunct="1">
              <a:lnSpc>
                <a:spcPct val="120000"/>
              </a:lnSpc>
              <a:spcBef>
                <a:spcPct val="0"/>
              </a:spcBef>
              <a:buSzPct val="100000"/>
            </a:pPr>
            <a:r>
              <a:rPr lang="zh-CN" altLang="en-US" sz="2400" dirty="0">
                <a:latin typeface="+mn-lt"/>
                <a:ea typeface="+mn-ea"/>
                <a:cs typeface="+mn-cs"/>
              </a:rPr>
              <a:t>      设</a:t>
            </a:r>
            <a:r>
              <a:rPr lang="en-US" altLang="zh-CN" sz="2400" i="1" dirty="0">
                <a:latin typeface="+mn-lt"/>
                <a:ea typeface="+mn-ea"/>
                <a:cs typeface="+mn-cs"/>
              </a:rPr>
              <a:t>E</a:t>
            </a:r>
            <a:r>
              <a:rPr lang="en-US" altLang="zh-CN" sz="2400" baseline="-25000" dirty="0">
                <a:latin typeface="+mn-lt"/>
                <a:ea typeface="+mn-ea"/>
                <a:cs typeface="+mn-cs"/>
              </a:rPr>
              <a:t>1</a:t>
            </a:r>
            <a:r>
              <a:rPr lang="zh-CN" altLang="en-US"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2</a:t>
            </a:r>
            <a:r>
              <a:rPr lang="zh-CN" altLang="en-US"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3</a:t>
            </a:r>
            <a:r>
              <a:rPr lang="zh-CN" altLang="en-US" sz="2400" dirty="0">
                <a:latin typeface="+mn-lt"/>
                <a:ea typeface="+mn-ea"/>
                <a:cs typeface="+mn-cs"/>
              </a:rPr>
              <a:t>是关系代数表达式，</a:t>
            </a:r>
            <a:r>
              <a:rPr lang="en-US" altLang="zh-CN" sz="2400" i="1" dirty="0">
                <a:latin typeface="+mn-lt"/>
                <a:ea typeface="+mn-ea"/>
                <a:cs typeface="+mn-cs"/>
              </a:rPr>
              <a:t>F</a:t>
            </a:r>
            <a:r>
              <a:rPr lang="en-US" altLang="zh-CN" sz="2400" baseline="-25000" dirty="0">
                <a:latin typeface="+mn-lt"/>
                <a:ea typeface="+mn-ea"/>
                <a:cs typeface="+mn-cs"/>
              </a:rPr>
              <a:t>1</a:t>
            </a:r>
            <a:r>
              <a:rPr lang="zh-CN" altLang="en-US" sz="2400" dirty="0">
                <a:latin typeface="+mn-lt"/>
                <a:ea typeface="+mn-ea"/>
                <a:cs typeface="+mn-cs"/>
              </a:rPr>
              <a:t>和</a:t>
            </a:r>
            <a:r>
              <a:rPr lang="en-US" altLang="zh-CN" sz="2400" i="1" dirty="0">
                <a:latin typeface="+mn-lt"/>
                <a:ea typeface="+mn-ea"/>
                <a:cs typeface="+mn-cs"/>
              </a:rPr>
              <a:t>F</a:t>
            </a:r>
            <a:r>
              <a:rPr lang="en-US" altLang="zh-CN" sz="2400" baseline="-25000" dirty="0">
                <a:latin typeface="+mn-lt"/>
                <a:ea typeface="+mn-ea"/>
                <a:cs typeface="+mn-cs"/>
              </a:rPr>
              <a:t>2</a:t>
            </a:r>
            <a:r>
              <a:rPr lang="zh-CN" altLang="en-US" sz="2400" dirty="0">
                <a:latin typeface="+mn-lt"/>
                <a:ea typeface="+mn-ea"/>
                <a:cs typeface="+mn-cs"/>
              </a:rPr>
              <a:t>是连接运算的条件</a:t>
            </a:r>
            <a:endParaRPr lang="zh-CN" altLang="en-US" sz="2400" dirty="0">
              <a:latin typeface="+mn-lt"/>
              <a:ea typeface="+mn-ea"/>
              <a:cs typeface="+mn-cs"/>
            </a:endParaRPr>
          </a:p>
          <a:p>
            <a:pPr marL="342900" indent="-342900" algn="l" eaLnBrk="1" hangingPunct="1">
              <a:lnSpc>
                <a:spcPct val="120000"/>
              </a:lnSpc>
              <a:spcBef>
                <a:spcPct val="0"/>
              </a:spcBef>
              <a:buSzPct val="100000"/>
            </a:pPr>
            <a:r>
              <a:rPr lang="zh-CN" altLang="en-US" sz="2400" dirty="0">
                <a:latin typeface="+mn-lt"/>
                <a:ea typeface="+mn-ea"/>
                <a:cs typeface="+mn-cs"/>
              </a:rPr>
              <a:t>        </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1  </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 × </a:t>
            </a:r>
            <a:r>
              <a:rPr lang="en-US" altLang="zh-CN" sz="2400" i="1" dirty="0">
                <a:latin typeface="+mn-lt"/>
                <a:ea typeface="+mn-ea"/>
                <a:cs typeface="+mn-cs"/>
              </a:rPr>
              <a:t>E</a:t>
            </a:r>
            <a:r>
              <a:rPr lang="en-US" altLang="zh-CN" sz="2400" baseline="-25000" dirty="0">
                <a:latin typeface="+mn-lt"/>
                <a:ea typeface="+mn-ea"/>
                <a:cs typeface="+mn-cs"/>
              </a:rPr>
              <a:t>3</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1 </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2 </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3</a:t>
            </a:r>
            <a:r>
              <a:rPr lang="en-US" altLang="zh-CN" sz="2400" dirty="0">
                <a:latin typeface="+mn-lt"/>
                <a:ea typeface="+mn-ea"/>
                <a:cs typeface="+mn-cs"/>
              </a:rPr>
              <a:t>)</a:t>
            </a:r>
            <a:endParaRPr lang="zh-CN" altLang="en-US" sz="2400" dirty="0">
              <a:latin typeface="+mn-lt"/>
              <a:ea typeface="+mn-ea"/>
              <a:cs typeface="+mn-cs"/>
            </a:endParaRPr>
          </a:p>
          <a:p>
            <a:pPr marL="342900" indent="-342900" algn="l" eaLnBrk="1" hangingPunct="1">
              <a:lnSpc>
                <a:spcPct val="120000"/>
              </a:lnSpc>
              <a:spcBef>
                <a:spcPct val="0"/>
              </a:spcBef>
              <a:buSzPct val="100000"/>
            </a:pP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1 </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3</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2 </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3</a:t>
            </a:r>
            <a:r>
              <a:rPr lang="en-US" altLang="zh-CN" sz="2400" dirty="0">
                <a:latin typeface="+mn-lt"/>
                <a:ea typeface="+mn-ea"/>
                <a:cs typeface="+mn-cs"/>
              </a:rPr>
              <a:t>)</a:t>
            </a:r>
            <a:endParaRPr lang="zh-CN" altLang="en-US" sz="2400" dirty="0">
              <a:latin typeface="+mn-lt"/>
              <a:ea typeface="+mn-ea"/>
              <a:cs typeface="+mn-cs"/>
            </a:endParaRPr>
          </a:p>
          <a:p>
            <a:pPr marL="342900" indent="-342900" algn="l" eaLnBrk="1" hangingPunct="1">
              <a:lnSpc>
                <a:spcPct val="120000"/>
              </a:lnSpc>
              <a:spcBef>
                <a:spcPct val="0"/>
              </a:spcBef>
              <a:buSzPct val="100000"/>
            </a:pP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3</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3</a:t>
            </a:r>
            <a:r>
              <a:rPr lang="en-US" altLang="zh-CN" sz="2400" dirty="0">
                <a:latin typeface="+mn-lt"/>
                <a:ea typeface="+mn-ea"/>
                <a:cs typeface="+mn-cs"/>
              </a:rPr>
              <a:t>) </a:t>
            </a:r>
            <a:endParaRPr lang="zh-CN" altLang="en-US" sz="2400" dirty="0">
              <a:latin typeface="+mn-lt"/>
              <a:ea typeface="+mn-ea"/>
              <a:cs typeface="+mn-cs"/>
            </a:endParaRPr>
          </a:p>
        </p:txBody>
      </p:sp>
      <p:graphicFrame>
        <p:nvGraphicFramePr>
          <p:cNvPr id="61445" name="Object 9"/>
          <p:cNvGraphicFramePr>
            <a:graphicFrameLocks noChangeAspect="1"/>
          </p:cNvGraphicFramePr>
          <p:nvPr/>
        </p:nvGraphicFramePr>
        <p:xfrm>
          <a:off x="2074863" y="3203575"/>
          <a:ext cx="479425" cy="576263"/>
        </p:xfrm>
        <a:graphic>
          <a:graphicData uri="http://schemas.openxmlformats.org/presentationml/2006/ole">
            <mc:AlternateContent xmlns:mc="http://schemas.openxmlformats.org/markup-compatibility/2006">
              <mc:Choice xmlns:v="urn:schemas-microsoft-com:vml" Requires="v">
                <p:oleObj spid="_x0000_s3079" name="" r:id="rId1" imgW="215900" imgH="304800" progId="Equation.3">
                  <p:embed/>
                </p:oleObj>
              </mc:Choice>
              <mc:Fallback>
                <p:oleObj name="" r:id="rId1" imgW="215900" imgH="304800" progId="Equation.3">
                  <p:embed/>
                  <p:pic>
                    <p:nvPicPr>
                      <p:cNvPr id="0" name="图片 3078"/>
                      <p:cNvPicPr/>
                      <p:nvPr/>
                    </p:nvPicPr>
                    <p:blipFill>
                      <a:blip r:embed="rId2"/>
                      <a:stretch>
                        <a:fillRect/>
                      </a:stretch>
                    </p:blipFill>
                    <p:spPr>
                      <a:xfrm>
                        <a:off x="2074863" y="3203575"/>
                        <a:ext cx="479425" cy="576263"/>
                      </a:xfrm>
                      <a:prstGeom prst="rect">
                        <a:avLst/>
                      </a:prstGeom>
                      <a:noFill/>
                      <a:ln w="38100">
                        <a:noFill/>
                        <a:miter/>
                      </a:ln>
                    </p:spPr>
                  </p:pic>
                </p:oleObj>
              </mc:Fallback>
            </mc:AlternateContent>
          </a:graphicData>
        </a:graphic>
      </p:graphicFrame>
      <p:graphicFrame>
        <p:nvGraphicFramePr>
          <p:cNvPr id="61446" name="Object 17"/>
          <p:cNvGraphicFramePr>
            <a:graphicFrameLocks noChangeAspect="1"/>
          </p:cNvGraphicFramePr>
          <p:nvPr/>
        </p:nvGraphicFramePr>
        <p:xfrm>
          <a:off x="2143125" y="5581650"/>
          <a:ext cx="431800" cy="574675"/>
        </p:xfrm>
        <a:graphic>
          <a:graphicData uri="http://schemas.openxmlformats.org/presentationml/2006/ole">
            <mc:AlternateContent xmlns:mc="http://schemas.openxmlformats.org/markup-compatibility/2006">
              <mc:Choice xmlns:v="urn:schemas-microsoft-com:vml" Requires="v">
                <p:oleObj spid="_x0000_s3080" name="" r:id="rId3" imgW="215900" imgH="330200" progId="Equation.3">
                  <p:embed/>
                </p:oleObj>
              </mc:Choice>
              <mc:Fallback>
                <p:oleObj name="" r:id="rId3" imgW="215900" imgH="330200" progId="Equation.3">
                  <p:embed/>
                  <p:pic>
                    <p:nvPicPr>
                      <p:cNvPr id="0" name="图片 3079"/>
                      <p:cNvPicPr/>
                      <p:nvPr/>
                    </p:nvPicPr>
                    <p:blipFill>
                      <a:blip r:embed="rId4"/>
                      <a:stretch>
                        <a:fillRect/>
                      </a:stretch>
                    </p:blipFill>
                    <p:spPr>
                      <a:xfrm>
                        <a:off x="2143125" y="5581650"/>
                        <a:ext cx="431800" cy="574675"/>
                      </a:xfrm>
                      <a:prstGeom prst="rect">
                        <a:avLst/>
                      </a:prstGeom>
                      <a:noFill/>
                      <a:ln w="38100">
                        <a:noFill/>
                        <a:miter/>
                      </a:ln>
                    </p:spPr>
                  </p:pic>
                </p:oleObj>
              </mc:Fallback>
            </mc:AlternateContent>
          </a:graphicData>
        </a:graphic>
      </p:graphicFrame>
      <p:graphicFrame>
        <p:nvGraphicFramePr>
          <p:cNvPr id="61447" name="Object 21"/>
          <p:cNvGraphicFramePr>
            <a:graphicFrameLocks noChangeAspect="1"/>
          </p:cNvGraphicFramePr>
          <p:nvPr/>
        </p:nvGraphicFramePr>
        <p:xfrm>
          <a:off x="3419475" y="3203575"/>
          <a:ext cx="401638" cy="576263"/>
        </p:xfrm>
        <a:graphic>
          <a:graphicData uri="http://schemas.openxmlformats.org/presentationml/2006/ole">
            <mc:AlternateContent xmlns:mc="http://schemas.openxmlformats.org/markup-compatibility/2006">
              <mc:Choice xmlns:v="urn:schemas-microsoft-com:vml" Requires="v">
                <p:oleObj spid="_x0000_s3084" name="" r:id="rId5" imgW="215900" imgH="304800" progId="Equation.3">
                  <p:embed/>
                </p:oleObj>
              </mc:Choice>
              <mc:Fallback>
                <p:oleObj name="" r:id="rId5" imgW="215900" imgH="304800" progId="Equation.3">
                  <p:embed/>
                  <p:pic>
                    <p:nvPicPr>
                      <p:cNvPr id="0" name="图片 3083"/>
                      <p:cNvPicPr/>
                      <p:nvPr/>
                    </p:nvPicPr>
                    <p:blipFill>
                      <a:blip r:embed="rId6"/>
                      <a:stretch>
                        <a:fillRect/>
                      </a:stretch>
                    </p:blipFill>
                    <p:spPr>
                      <a:xfrm>
                        <a:off x="3419475" y="3203575"/>
                        <a:ext cx="401638" cy="576263"/>
                      </a:xfrm>
                      <a:prstGeom prst="rect">
                        <a:avLst/>
                      </a:prstGeom>
                      <a:noFill/>
                      <a:ln w="38100">
                        <a:noFill/>
                        <a:miter/>
                      </a:ln>
                    </p:spPr>
                  </p:pic>
                </p:oleObj>
              </mc:Fallback>
            </mc:AlternateContent>
          </a:graphicData>
        </a:graphic>
      </p:graphicFrame>
      <p:graphicFrame>
        <p:nvGraphicFramePr>
          <p:cNvPr id="61448" name="Object 25"/>
          <p:cNvGraphicFramePr>
            <a:graphicFrameLocks noChangeAspect="1"/>
          </p:cNvGraphicFramePr>
          <p:nvPr/>
        </p:nvGraphicFramePr>
        <p:xfrm>
          <a:off x="4427538" y="5580063"/>
          <a:ext cx="327025" cy="503237"/>
        </p:xfrm>
        <a:graphic>
          <a:graphicData uri="http://schemas.openxmlformats.org/presentationml/2006/ole">
            <mc:AlternateContent xmlns:mc="http://schemas.openxmlformats.org/markup-compatibility/2006">
              <mc:Choice xmlns:v="urn:schemas-microsoft-com:vml" Requires="v">
                <p:oleObj spid="_x0000_s3081" name="" r:id="rId7" imgW="215900" imgH="330200" progId="Equation.3">
                  <p:embed/>
                </p:oleObj>
              </mc:Choice>
              <mc:Fallback>
                <p:oleObj name="" r:id="rId7" imgW="215900" imgH="330200" progId="Equation.3">
                  <p:embed/>
                  <p:pic>
                    <p:nvPicPr>
                      <p:cNvPr id="0" name="图片 3080"/>
                      <p:cNvPicPr/>
                      <p:nvPr/>
                    </p:nvPicPr>
                    <p:blipFill>
                      <a:blip r:embed="rId8"/>
                      <a:stretch>
                        <a:fillRect/>
                      </a:stretch>
                    </p:blipFill>
                    <p:spPr>
                      <a:xfrm>
                        <a:off x="4427538" y="5580063"/>
                        <a:ext cx="327025" cy="503237"/>
                      </a:xfrm>
                      <a:prstGeom prst="rect">
                        <a:avLst/>
                      </a:prstGeom>
                      <a:noFill/>
                      <a:ln w="38100">
                        <a:noFill/>
                        <a:miter/>
                      </a:ln>
                    </p:spPr>
                  </p:pic>
                </p:oleObj>
              </mc:Fallback>
            </mc:AlternateContent>
          </a:graphicData>
        </a:graphic>
      </p:graphicFrame>
      <p:graphicFrame>
        <p:nvGraphicFramePr>
          <p:cNvPr id="61449" name="Object 27"/>
          <p:cNvGraphicFramePr>
            <a:graphicFrameLocks noChangeAspect="1"/>
          </p:cNvGraphicFramePr>
          <p:nvPr/>
        </p:nvGraphicFramePr>
        <p:xfrm>
          <a:off x="3108325" y="5580063"/>
          <a:ext cx="374650" cy="576262"/>
        </p:xfrm>
        <a:graphic>
          <a:graphicData uri="http://schemas.openxmlformats.org/presentationml/2006/ole">
            <mc:AlternateContent xmlns:mc="http://schemas.openxmlformats.org/markup-compatibility/2006">
              <mc:Choice xmlns:v="urn:schemas-microsoft-com:vml" Requires="v">
                <p:oleObj spid="_x0000_s3083" name="" r:id="rId9" imgW="215900" imgH="330200" progId="Equation.3">
                  <p:embed/>
                </p:oleObj>
              </mc:Choice>
              <mc:Fallback>
                <p:oleObj name="" r:id="rId9" imgW="215900" imgH="330200" progId="Equation.3">
                  <p:embed/>
                  <p:pic>
                    <p:nvPicPr>
                      <p:cNvPr id="0" name="图片 3082"/>
                      <p:cNvPicPr/>
                      <p:nvPr/>
                    </p:nvPicPr>
                    <p:blipFill>
                      <a:blip r:embed="rId8"/>
                      <a:stretch>
                        <a:fillRect/>
                      </a:stretch>
                    </p:blipFill>
                    <p:spPr>
                      <a:xfrm>
                        <a:off x="3108325" y="5580063"/>
                        <a:ext cx="374650" cy="576262"/>
                      </a:xfrm>
                      <a:prstGeom prst="rect">
                        <a:avLst/>
                      </a:prstGeom>
                      <a:noFill/>
                      <a:ln w="38100">
                        <a:noFill/>
                        <a:miter/>
                      </a:ln>
                    </p:spPr>
                  </p:pic>
                </p:oleObj>
              </mc:Fallback>
            </mc:AlternateContent>
          </a:graphicData>
        </a:graphic>
      </p:graphicFrame>
      <p:graphicFrame>
        <p:nvGraphicFramePr>
          <p:cNvPr id="61450" name="Object 29"/>
          <p:cNvGraphicFramePr>
            <a:graphicFrameLocks noChangeAspect="1"/>
          </p:cNvGraphicFramePr>
          <p:nvPr/>
        </p:nvGraphicFramePr>
        <p:xfrm>
          <a:off x="5230813" y="5580063"/>
          <a:ext cx="420687" cy="647700"/>
        </p:xfrm>
        <a:graphic>
          <a:graphicData uri="http://schemas.openxmlformats.org/presentationml/2006/ole">
            <mc:AlternateContent xmlns:mc="http://schemas.openxmlformats.org/markup-compatibility/2006">
              <mc:Choice xmlns:v="urn:schemas-microsoft-com:vml" Requires="v">
                <p:oleObj spid="_x0000_s3082" name="" r:id="rId10" imgW="215900" imgH="330200" progId="Equation.3">
                  <p:embed/>
                </p:oleObj>
              </mc:Choice>
              <mc:Fallback>
                <p:oleObj name="" r:id="rId10" imgW="215900" imgH="330200" progId="Equation.3">
                  <p:embed/>
                  <p:pic>
                    <p:nvPicPr>
                      <p:cNvPr id="0" name="图片 3081"/>
                      <p:cNvPicPr/>
                      <p:nvPr/>
                    </p:nvPicPr>
                    <p:blipFill>
                      <a:blip r:embed="rId8"/>
                      <a:stretch>
                        <a:fillRect/>
                      </a:stretch>
                    </p:blipFill>
                    <p:spPr>
                      <a:xfrm>
                        <a:off x="5230813" y="5580063"/>
                        <a:ext cx="420687" cy="647700"/>
                      </a:xfrm>
                      <a:prstGeom prst="rect">
                        <a:avLst/>
                      </a:prstGeom>
                      <a:noFill/>
                      <a:ln w="38100">
                        <a:noFill/>
                        <a:miter/>
                      </a:ln>
                    </p:spPr>
                  </p:pic>
                </p:oleObj>
              </mc:Fallback>
            </mc:AlternateContent>
          </a:graphicData>
        </a:graphic>
      </p:graphicFrame>
      <p:grpSp>
        <p:nvGrpSpPr>
          <p:cNvPr id="61451" name="Group 4"/>
          <p:cNvGrpSpPr/>
          <p:nvPr/>
        </p:nvGrpSpPr>
        <p:grpSpPr>
          <a:xfrm>
            <a:off x="1536700" y="2954338"/>
            <a:ext cx="1600200" cy="825500"/>
            <a:chOff x="2325" y="6446"/>
            <a:chExt cx="705" cy="367"/>
          </a:xfrm>
        </p:grpSpPr>
        <p:sp>
          <p:nvSpPr>
            <p:cNvPr id="61467" name="AutoShape 5"/>
            <p:cNvSpPr/>
            <p:nvPr/>
          </p:nvSpPr>
          <p:spPr>
            <a:xfrm rot="5400000" flipV="1">
              <a:off x="2612" y="6414"/>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61468" name="Text Box 6"/>
            <p:cNvSpPr txBox="1"/>
            <p:nvPr/>
          </p:nvSpPr>
          <p:spPr>
            <a:xfrm flipV="1">
              <a:off x="2325" y="6450"/>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lnSpc>
                  <a:spcPct val="80000"/>
                </a:lnSpc>
                <a:spcBef>
                  <a:spcPct val="0"/>
                </a:spcBef>
                <a:buSzTx/>
                <a:buFont typeface="Arial" panose="020B0604020202020204" pitchFamily="34" charset="0"/>
                <a:buNone/>
              </a:pPr>
              <a:r>
                <a:rPr lang="en-US" altLang="zh-CN" sz="600" i="1" dirty="0"/>
                <a:t> </a:t>
              </a:r>
              <a:endParaRPr lang="en-US" altLang="zh-CN" sz="600" dirty="0"/>
            </a:p>
          </p:txBody>
        </p:sp>
      </p:grpSp>
      <p:grpSp>
        <p:nvGrpSpPr>
          <p:cNvPr id="61452" name="Group 4"/>
          <p:cNvGrpSpPr/>
          <p:nvPr/>
        </p:nvGrpSpPr>
        <p:grpSpPr>
          <a:xfrm>
            <a:off x="2843213" y="2954338"/>
            <a:ext cx="1600200" cy="825500"/>
            <a:chOff x="2325" y="6446"/>
            <a:chExt cx="705" cy="367"/>
          </a:xfrm>
        </p:grpSpPr>
        <p:sp>
          <p:nvSpPr>
            <p:cNvPr id="61465" name="AutoShape 5"/>
            <p:cNvSpPr/>
            <p:nvPr/>
          </p:nvSpPr>
          <p:spPr>
            <a:xfrm rot="5400000" flipV="1">
              <a:off x="2612" y="6414"/>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61466" name="Text Box 6"/>
            <p:cNvSpPr txBox="1"/>
            <p:nvPr/>
          </p:nvSpPr>
          <p:spPr>
            <a:xfrm flipV="1">
              <a:off x="2325" y="6450"/>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lnSpc>
                  <a:spcPct val="80000"/>
                </a:lnSpc>
                <a:spcBef>
                  <a:spcPct val="0"/>
                </a:spcBef>
                <a:buSzTx/>
                <a:buFont typeface="Arial" panose="020B0604020202020204" pitchFamily="34" charset="0"/>
                <a:buNone/>
              </a:pPr>
              <a:r>
                <a:rPr lang="en-US" altLang="zh-CN" sz="600" i="1" dirty="0"/>
                <a:t> </a:t>
              </a:r>
              <a:endParaRPr lang="en-US" altLang="zh-CN" sz="600" dirty="0"/>
            </a:p>
          </p:txBody>
        </p:sp>
      </p:grpSp>
      <p:grpSp>
        <p:nvGrpSpPr>
          <p:cNvPr id="61453" name="Group 4"/>
          <p:cNvGrpSpPr/>
          <p:nvPr/>
        </p:nvGrpSpPr>
        <p:grpSpPr>
          <a:xfrm>
            <a:off x="1522413" y="5259388"/>
            <a:ext cx="1600200" cy="825500"/>
            <a:chOff x="2325" y="6446"/>
            <a:chExt cx="705" cy="367"/>
          </a:xfrm>
        </p:grpSpPr>
        <p:sp>
          <p:nvSpPr>
            <p:cNvPr id="61463" name="AutoShape 5"/>
            <p:cNvSpPr/>
            <p:nvPr/>
          </p:nvSpPr>
          <p:spPr>
            <a:xfrm rot="5400000" flipV="1">
              <a:off x="2647" y="6414"/>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61464" name="Text Box 6"/>
            <p:cNvSpPr txBox="1"/>
            <p:nvPr/>
          </p:nvSpPr>
          <p:spPr>
            <a:xfrm flipV="1">
              <a:off x="2325" y="6450"/>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lnSpc>
                  <a:spcPct val="80000"/>
                </a:lnSpc>
                <a:spcBef>
                  <a:spcPct val="0"/>
                </a:spcBef>
                <a:buSzTx/>
                <a:buFont typeface="Arial" panose="020B0604020202020204" pitchFamily="34" charset="0"/>
                <a:buNone/>
              </a:pPr>
              <a:r>
                <a:rPr lang="en-US" altLang="zh-CN" sz="600" i="1" dirty="0"/>
                <a:t> </a:t>
              </a:r>
              <a:endParaRPr lang="en-US" altLang="zh-CN" sz="600" dirty="0"/>
            </a:p>
          </p:txBody>
        </p:sp>
      </p:grpSp>
      <p:grpSp>
        <p:nvGrpSpPr>
          <p:cNvPr id="61454" name="Group 4"/>
          <p:cNvGrpSpPr/>
          <p:nvPr/>
        </p:nvGrpSpPr>
        <p:grpSpPr>
          <a:xfrm>
            <a:off x="2530475" y="5259388"/>
            <a:ext cx="1600200" cy="825500"/>
            <a:chOff x="2325" y="6446"/>
            <a:chExt cx="705" cy="367"/>
          </a:xfrm>
        </p:grpSpPr>
        <p:sp>
          <p:nvSpPr>
            <p:cNvPr id="61461" name="AutoShape 5"/>
            <p:cNvSpPr/>
            <p:nvPr/>
          </p:nvSpPr>
          <p:spPr>
            <a:xfrm rot="5400000" flipV="1">
              <a:off x="2612" y="6414"/>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61462" name="Text Box 6"/>
            <p:cNvSpPr txBox="1"/>
            <p:nvPr/>
          </p:nvSpPr>
          <p:spPr>
            <a:xfrm flipV="1">
              <a:off x="2325" y="6450"/>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lnSpc>
                  <a:spcPct val="80000"/>
                </a:lnSpc>
                <a:spcBef>
                  <a:spcPct val="0"/>
                </a:spcBef>
                <a:buSzTx/>
                <a:buFont typeface="Arial" panose="020B0604020202020204" pitchFamily="34" charset="0"/>
                <a:buNone/>
              </a:pPr>
              <a:r>
                <a:rPr lang="en-US" altLang="zh-CN" sz="600" i="1" dirty="0"/>
                <a:t> </a:t>
              </a:r>
              <a:endParaRPr lang="en-US" altLang="zh-CN" sz="600" dirty="0"/>
            </a:p>
          </p:txBody>
        </p:sp>
      </p:grpSp>
      <p:grpSp>
        <p:nvGrpSpPr>
          <p:cNvPr id="61455" name="Group 4"/>
          <p:cNvGrpSpPr/>
          <p:nvPr/>
        </p:nvGrpSpPr>
        <p:grpSpPr>
          <a:xfrm>
            <a:off x="3835400" y="5219700"/>
            <a:ext cx="1600200" cy="825500"/>
            <a:chOff x="2325" y="6446"/>
            <a:chExt cx="705" cy="367"/>
          </a:xfrm>
        </p:grpSpPr>
        <p:sp>
          <p:nvSpPr>
            <p:cNvPr id="61459" name="AutoShape 5"/>
            <p:cNvSpPr/>
            <p:nvPr/>
          </p:nvSpPr>
          <p:spPr>
            <a:xfrm rot="5400000" flipV="1">
              <a:off x="2612" y="6414"/>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61460" name="Text Box 6"/>
            <p:cNvSpPr txBox="1"/>
            <p:nvPr/>
          </p:nvSpPr>
          <p:spPr>
            <a:xfrm flipV="1">
              <a:off x="2325" y="6450"/>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lnSpc>
                  <a:spcPct val="80000"/>
                </a:lnSpc>
                <a:spcBef>
                  <a:spcPct val="0"/>
                </a:spcBef>
                <a:buSzTx/>
                <a:buFont typeface="Arial" panose="020B0604020202020204" pitchFamily="34" charset="0"/>
                <a:buNone/>
              </a:pPr>
              <a:r>
                <a:rPr lang="en-US" altLang="zh-CN" sz="600" i="1" dirty="0"/>
                <a:t> </a:t>
              </a:r>
              <a:endParaRPr lang="en-US" altLang="zh-CN" sz="600" dirty="0"/>
            </a:p>
          </p:txBody>
        </p:sp>
      </p:grpSp>
      <p:grpSp>
        <p:nvGrpSpPr>
          <p:cNvPr id="61456" name="Group 4"/>
          <p:cNvGrpSpPr/>
          <p:nvPr/>
        </p:nvGrpSpPr>
        <p:grpSpPr>
          <a:xfrm>
            <a:off x="4643438" y="5219700"/>
            <a:ext cx="1600200" cy="825500"/>
            <a:chOff x="2325" y="6446"/>
            <a:chExt cx="705" cy="367"/>
          </a:xfrm>
        </p:grpSpPr>
        <p:sp>
          <p:nvSpPr>
            <p:cNvPr id="61457" name="AutoShape 5"/>
            <p:cNvSpPr/>
            <p:nvPr/>
          </p:nvSpPr>
          <p:spPr>
            <a:xfrm rot="5400000" flipV="1">
              <a:off x="2612" y="6414"/>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61458" name="Text Box 6"/>
            <p:cNvSpPr txBox="1"/>
            <p:nvPr/>
          </p:nvSpPr>
          <p:spPr>
            <a:xfrm flipV="1">
              <a:off x="2325" y="6450"/>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lnSpc>
                  <a:spcPct val="80000"/>
                </a:lnSpc>
                <a:spcBef>
                  <a:spcPct val="0"/>
                </a:spcBef>
                <a:buSzTx/>
                <a:buFont typeface="Arial" panose="020B0604020202020204" pitchFamily="34" charset="0"/>
                <a:buNone/>
              </a:pPr>
              <a:r>
                <a:rPr lang="en-US" altLang="zh-CN" sz="600" i="1" dirty="0"/>
                <a:t> </a:t>
              </a:r>
              <a:endParaRPr lang="en-US" altLang="zh-CN" sz="600" dirty="0"/>
            </a:p>
          </p:txBody>
        </p:sp>
      </p:gr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TextBox 3"/>
          <p:cNvSpPr/>
          <p:nvPr/>
        </p:nvSpPr>
        <p:spPr>
          <a:xfrm>
            <a:off x="8453438" y="6357938"/>
            <a:ext cx="1785937" cy="3048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 typeface="Arial" panose="020B0604020202020204" pitchFamily="34" charset="0"/>
              <a:buNone/>
            </a:pPr>
            <a:r>
              <a:rPr lang="zh-CN" altLang="zh-CN" sz="1400" dirty="0">
                <a:solidFill>
                  <a:srgbClr val="953734"/>
                </a:solidFill>
                <a:latin typeface="微软雅黑" panose="020B0503020204020204" charset="-122"/>
                <a:ea typeface="微软雅黑" panose="020B0503020204020204" charset="-122"/>
                <a:sym typeface="微软雅黑" panose="020B0503020204020204" charset="-122"/>
              </a:rPr>
              <a:t>*</a:t>
            </a:r>
            <a:endParaRPr lang="zh-CN" altLang="zh-CN" sz="1400" dirty="0">
              <a:solidFill>
                <a:srgbClr val="953734"/>
              </a:solidFill>
              <a:latin typeface="微软雅黑" panose="020B0503020204020204" charset="-122"/>
              <a:ea typeface="微软雅黑" panose="020B0503020204020204" charset="-122"/>
              <a:sym typeface="微软雅黑" panose="020B0503020204020204" charset="-122"/>
            </a:endParaRPr>
          </a:p>
        </p:txBody>
      </p:sp>
      <p:sp>
        <p:nvSpPr>
          <p:cNvPr id="62467" name="文本框 4"/>
          <p:cNvSpPr/>
          <p:nvPr/>
        </p:nvSpPr>
        <p:spPr>
          <a:xfrm>
            <a:off x="2063750" y="6334125"/>
            <a:ext cx="2160588" cy="246063"/>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 typeface="Arial" panose="020B0604020202020204" pitchFamily="34" charset="0"/>
              <a:buNone/>
            </a:pPr>
            <a:endParaRPr lang="zh-CN" altLang="zh-CN" sz="1000" b="0" dirty="0">
              <a:solidFill>
                <a:srgbClr val="000000"/>
              </a:solidFill>
              <a:latin typeface="Times New Roman" panose="02020603050405020304" charset="0"/>
              <a:ea typeface="黑体" panose="02010609060101010101" pitchFamily="49" charset="-122"/>
              <a:sym typeface="宋体" panose="02010600030101010101" pitchFamily="2" charset="-122"/>
            </a:endParaRPr>
          </a:p>
        </p:txBody>
      </p:sp>
      <p:sp>
        <p:nvSpPr>
          <p:cNvPr id="62468" name="Rectangle 2"/>
          <p:cNvSpPr>
            <a:spLocks noGrp="1"/>
          </p:cNvSpPr>
          <p:nvPr>
            <p:ph type="title"/>
          </p:nvPr>
        </p:nvSpPr>
        <p:spPr>
          <a:xfrm>
            <a:off x="1981200" y="41275"/>
            <a:ext cx="8229600" cy="939800"/>
          </a:xfrm>
        </p:spPr>
        <p:txBody>
          <a:bodyPr vert="horz" wrap="square" lIns="91440" tIns="45720" rIns="91440" bIns="45720" anchor="ctr" anchorCtr="0"/>
          <a:p>
            <a:pPr eaLnBrk="1" hangingPunct="1"/>
            <a:r>
              <a:rPr lang="zh-CN" altLang="zh-CN" sz="3600" dirty="0"/>
              <a:t>关系代数表达式等价变换规则（续）</a:t>
            </a:r>
            <a:endParaRPr lang="zh-CN" altLang="zh-CN" sz="3600" dirty="0"/>
          </a:p>
        </p:txBody>
      </p:sp>
      <p:sp>
        <p:nvSpPr>
          <p:cNvPr id="62469" name="Rectangle 3"/>
          <p:cNvSpPr>
            <a:spLocks noGrp="1"/>
          </p:cNvSpPr>
          <p:nvPr>
            <p:ph type="subTitle" idx="1"/>
          </p:nvPr>
        </p:nvSpPr>
        <p:spPr>
          <a:xfrm>
            <a:off x="1055688" y="1230313"/>
            <a:ext cx="8229600" cy="4857750"/>
          </a:xfrm>
        </p:spPr>
        <p:txBody>
          <a:bodyPr vert="horz" wrap="square" lIns="91440" tIns="45720" rIns="91440" bIns="45720" anchor="t" anchorCtr="0"/>
          <a:p>
            <a:pPr marL="342900" indent="-342900" algn="l" eaLnBrk="1" hangingPunct="1">
              <a:lnSpc>
                <a:spcPct val="110000"/>
              </a:lnSpc>
              <a:buSzPct val="100000"/>
            </a:pPr>
            <a:r>
              <a:rPr lang="en-US" altLang="zh-CN" sz="2400" dirty="0">
                <a:latin typeface="+mn-lt"/>
                <a:ea typeface="+mn-ea"/>
                <a:cs typeface="+mn-cs"/>
              </a:rPr>
              <a:t>3.</a:t>
            </a:r>
            <a:r>
              <a:rPr lang="zh-CN" altLang="en-US" sz="2400" dirty="0">
                <a:latin typeface="+mn-lt"/>
                <a:ea typeface="+mn-ea"/>
                <a:cs typeface="+mn-cs"/>
              </a:rPr>
              <a:t>投影的串接定律</a:t>
            </a:r>
            <a:endParaRPr lang="zh-CN" altLang="en-US" sz="2400" dirty="0">
              <a:latin typeface="+mn-lt"/>
              <a:ea typeface="+mn-ea"/>
              <a:cs typeface="+mn-cs"/>
            </a:endParaRPr>
          </a:p>
          <a:p>
            <a:pPr marL="342900" indent="-342900" algn="l" eaLnBrk="1" hangingPunct="1">
              <a:lnSpc>
                <a:spcPct val="110000"/>
              </a:lnSpc>
              <a:buSzPct val="100000"/>
            </a:pPr>
            <a:r>
              <a:rPr lang="zh-CN" altLang="en-US" sz="2400" dirty="0">
                <a:latin typeface="+mn-lt"/>
                <a:ea typeface="+mn-ea"/>
                <a:cs typeface="+mn-cs"/>
              </a:rPr>
              <a:t>                  </a:t>
            </a:r>
            <a:r>
              <a:rPr lang="en-US" altLang="zh-CN" sz="2400" dirty="0">
                <a:latin typeface="+mn-lt"/>
                <a:ea typeface="+mn-ea"/>
                <a:cs typeface="+mn-cs"/>
              </a:rPr>
              <a:t>(           (E))≡              (E)</a:t>
            </a:r>
            <a:endParaRPr lang="zh-CN" altLang="en-US" sz="2400" dirty="0">
              <a:latin typeface="+mn-lt"/>
              <a:ea typeface="+mn-ea"/>
              <a:cs typeface="+mn-cs"/>
            </a:endParaRPr>
          </a:p>
          <a:p>
            <a:pPr marL="800100" lvl="1" indent="-342900" algn="l" eaLnBrk="1" hangingPunct="1">
              <a:lnSpc>
                <a:spcPct val="110000"/>
              </a:lnSpc>
              <a:buSzPct val="100000"/>
              <a:buFont typeface="Wingdings" panose="05000000000000000000" pitchFamily="2" charset="2"/>
              <a:buChar char="n"/>
            </a:pPr>
            <a:r>
              <a:rPr lang="en-US" altLang="zh-CN" sz="2200" i="1" dirty="0">
                <a:latin typeface="+mn-lt"/>
                <a:ea typeface="+mn-ea"/>
              </a:rPr>
              <a:t>E</a:t>
            </a:r>
            <a:r>
              <a:rPr lang="zh-CN" altLang="en-US" sz="2200" dirty="0">
                <a:latin typeface="+mn-lt"/>
                <a:ea typeface="+mn-ea"/>
              </a:rPr>
              <a:t>是关系代数表达式</a:t>
            </a:r>
            <a:endParaRPr lang="en-US" altLang="zh-CN" sz="2200" dirty="0">
              <a:latin typeface="+mn-lt"/>
              <a:ea typeface="+mn-ea"/>
            </a:endParaRPr>
          </a:p>
          <a:p>
            <a:pPr marL="800100" lvl="1" indent="-342900" algn="l" eaLnBrk="1" hangingPunct="1">
              <a:lnSpc>
                <a:spcPct val="110000"/>
              </a:lnSpc>
              <a:buSzPct val="100000"/>
              <a:buFont typeface="Wingdings" panose="05000000000000000000" pitchFamily="2" charset="2"/>
              <a:buChar char="n"/>
            </a:pPr>
            <a:r>
              <a:rPr lang="en-US" altLang="zh-CN" sz="2200" i="1" dirty="0">
                <a:latin typeface="+mn-lt"/>
                <a:ea typeface="+mn-ea"/>
              </a:rPr>
              <a:t>A</a:t>
            </a:r>
            <a:r>
              <a:rPr lang="en-US" altLang="zh-CN" sz="2200" i="1" baseline="-25000" dirty="0">
                <a:latin typeface="+mn-lt"/>
                <a:ea typeface="+mn-ea"/>
              </a:rPr>
              <a:t>i</a:t>
            </a:r>
            <a:r>
              <a:rPr lang="en-US" altLang="zh-CN" sz="2200" dirty="0">
                <a:latin typeface="+mn-lt"/>
                <a:ea typeface="+mn-ea"/>
              </a:rPr>
              <a:t>(</a:t>
            </a:r>
            <a:r>
              <a:rPr lang="en-US" altLang="zh-CN" sz="2200" i="1" dirty="0">
                <a:latin typeface="+mn-lt"/>
                <a:ea typeface="+mn-ea"/>
              </a:rPr>
              <a:t>i</a:t>
            </a:r>
            <a:r>
              <a:rPr lang="en-US" altLang="zh-CN" sz="2200" dirty="0">
                <a:latin typeface="+mn-lt"/>
                <a:ea typeface="+mn-ea"/>
              </a:rPr>
              <a:t>=1</a:t>
            </a:r>
            <a:r>
              <a:rPr lang="zh-CN" altLang="en-US" sz="2200" dirty="0">
                <a:latin typeface="+mn-lt"/>
                <a:ea typeface="+mn-ea"/>
              </a:rPr>
              <a:t>，</a:t>
            </a:r>
            <a:r>
              <a:rPr lang="en-US" altLang="zh-CN" sz="2200" dirty="0">
                <a:latin typeface="+mn-lt"/>
                <a:ea typeface="+mn-ea"/>
              </a:rPr>
              <a:t>2</a:t>
            </a:r>
            <a:r>
              <a:rPr lang="zh-CN" altLang="en-US" sz="2200" dirty="0">
                <a:latin typeface="+mn-lt"/>
                <a:ea typeface="+mn-ea"/>
              </a:rPr>
              <a:t>，</a:t>
            </a:r>
            <a:r>
              <a:rPr lang="en-US" altLang="zh-CN" sz="2200" dirty="0">
                <a:latin typeface="+mn-lt"/>
                <a:ea typeface="+mn-ea"/>
              </a:rPr>
              <a:t>…</a:t>
            </a:r>
            <a:r>
              <a:rPr lang="zh-CN" altLang="en-US" sz="2200" dirty="0">
                <a:latin typeface="+mn-lt"/>
                <a:ea typeface="+mn-ea"/>
              </a:rPr>
              <a:t>，</a:t>
            </a:r>
            <a:r>
              <a:rPr lang="en-US" altLang="zh-CN" sz="2200" i="1" dirty="0">
                <a:latin typeface="+mn-lt"/>
                <a:ea typeface="+mn-ea"/>
              </a:rPr>
              <a:t>n</a:t>
            </a:r>
            <a:r>
              <a:rPr lang="en-US" altLang="zh-CN" sz="2200" dirty="0">
                <a:latin typeface="+mn-lt"/>
                <a:ea typeface="+mn-ea"/>
              </a:rPr>
              <a:t>)</a:t>
            </a:r>
            <a:r>
              <a:rPr lang="zh-CN" altLang="en-US" sz="2200" dirty="0">
                <a:latin typeface="+mn-lt"/>
                <a:ea typeface="+mn-ea"/>
              </a:rPr>
              <a:t>，</a:t>
            </a:r>
            <a:r>
              <a:rPr lang="en-US" altLang="zh-CN" sz="2200" i="1" dirty="0">
                <a:latin typeface="+mn-lt"/>
                <a:ea typeface="+mn-ea"/>
              </a:rPr>
              <a:t>B</a:t>
            </a:r>
            <a:r>
              <a:rPr lang="en-US" altLang="zh-CN" sz="2200" i="1" baseline="-25000" dirty="0">
                <a:latin typeface="+mn-lt"/>
                <a:ea typeface="+mn-ea"/>
              </a:rPr>
              <a:t>j</a:t>
            </a:r>
            <a:r>
              <a:rPr lang="en-US" altLang="zh-CN" sz="2200" dirty="0">
                <a:latin typeface="+mn-lt"/>
                <a:ea typeface="+mn-ea"/>
              </a:rPr>
              <a:t>(</a:t>
            </a:r>
            <a:r>
              <a:rPr lang="en-US" altLang="zh-CN" sz="2200" i="1" dirty="0">
                <a:latin typeface="+mn-lt"/>
                <a:ea typeface="+mn-ea"/>
              </a:rPr>
              <a:t>j</a:t>
            </a:r>
            <a:r>
              <a:rPr lang="en-US" altLang="zh-CN" sz="2200" dirty="0">
                <a:latin typeface="+mn-lt"/>
                <a:ea typeface="+mn-ea"/>
              </a:rPr>
              <a:t>=1</a:t>
            </a:r>
            <a:r>
              <a:rPr lang="zh-CN" altLang="en-US" sz="2200" dirty="0">
                <a:latin typeface="+mn-lt"/>
                <a:ea typeface="+mn-ea"/>
              </a:rPr>
              <a:t>，</a:t>
            </a:r>
            <a:r>
              <a:rPr lang="en-US" altLang="zh-CN" sz="2200" dirty="0">
                <a:latin typeface="+mn-lt"/>
                <a:ea typeface="+mn-ea"/>
              </a:rPr>
              <a:t>2</a:t>
            </a:r>
            <a:r>
              <a:rPr lang="zh-CN" altLang="en-US" sz="2200" dirty="0">
                <a:latin typeface="+mn-lt"/>
                <a:ea typeface="+mn-ea"/>
              </a:rPr>
              <a:t>，</a:t>
            </a:r>
            <a:r>
              <a:rPr lang="en-US" altLang="zh-CN" sz="2200" dirty="0">
                <a:latin typeface="+mn-lt"/>
                <a:ea typeface="+mn-ea"/>
              </a:rPr>
              <a:t>…</a:t>
            </a:r>
            <a:r>
              <a:rPr lang="zh-CN" altLang="en-US" sz="2200" dirty="0">
                <a:latin typeface="+mn-lt"/>
                <a:ea typeface="+mn-ea"/>
              </a:rPr>
              <a:t>，</a:t>
            </a:r>
            <a:r>
              <a:rPr lang="en-US" altLang="zh-CN" sz="2200" dirty="0">
                <a:latin typeface="+mn-lt"/>
                <a:ea typeface="+mn-ea"/>
              </a:rPr>
              <a:t>m)</a:t>
            </a:r>
            <a:r>
              <a:rPr lang="zh-CN" altLang="en-US" sz="2200" dirty="0">
                <a:latin typeface="+mn-lt"/>
                <a:ea typeface="+mn-ea"/>
              </a:rPr>
              <a:t>是属性名</a:t>
            </a:r>
            <a:endParaRPr lang="en-US" altLang="zh-CN" sz="2200" dirty="0">
              <a:latin typeface="+mn-lt"/>
              <a:ea typeface="+mn-ea"/>
            </a:endParaRPr>
          </a:p>
          <a:p>
            <a:pPr marL="800100" lvl="1" indent="-342900" algn="l" eaLnBrk="1" hangingPunct="1">
              <a:lnSpc>
                <a:spcPct val="110000"/>
              </a:lnSpc>
              <a:buSzPct val="100000"/>
              <a:buFont typeface="Wingdings" panose="05000000000000000000" pitchFamily="2" charset="2"/>
              <a:buChar char="n"/>
            </a:pPr>
            <a:r>
              <a:rPr lang="en-US" altLang="zh-CN" sz="2200" dirty="0">
                <a:latin typeface="+mn-lt"/>
                <a:ea typeface="+mn-ea"/>
              </a:rPr>
              <a:t>{</a:t>
            </a:r>
            <a:r>
              <a:rPr lang="en-US" altLang="zh-CN" sz="2200" i="1" dirty="0">
                <a:latin typeface="+mn-lt"/>
                <a:ea typeface="+mn-ea"/>
              </a:rPr>
              <a:t>A</a:t>
            </a:r>
            <a:r>
              <a:rPr lang="en-US" altLang="zh-CN" sz="2200" baseline="-25000" dirty="0">
                <a:latin typeface="+mn-lt"/>
                <a:ea typeface="+mn-ea"/>
              </a:rPr>
              <a:t>1</a:t>
            </a:r>
            <a:r>
              <a:rPr lang="zh-CN" altLang="en-US" sz="2200" dirty="0">
                <a:latin typeface="+mn-lt"/>
                <a:ea typeface="+mn-ea"/>
              </a:rPr>
              <a:t>，</a:t>
            </a:r>
            <a:r>
              <a:rPr lang="en-US" altLang="zh-CN" sz="2200" i="1" dirty="0">
                <a:latin typeface="+mn-lt"/>
                <a:ea typeface="+mn-ea"/>
              </a:rPr>
              <a:t>A</a:t>
            </a:r>
            <a:r>
              <a:rPr lang="en-US" altLang="zh-CN" sz="2200" baseline="-25000" dirty="0">
                <a:latin typeface="+mn-lt"/>
                <a:ea typeface="+mn-ea"/>
              </a:rPr>
              <a:t>2</a:t>
            </a:r>
            <a:r>
              <a:rPr lang="zh-CN" altLang="en-US" sz="2200" dirty="0">
                <a:latin typeface="+mn-lt"/>
                <a:ea typeface="+mn-ea"/>
              </a:rPr>
              <a:t>，</a:t>
            </a:r>
            <a:r>
              <a:rPr lang="en-US" altLang="zh-CN" sz="2200" dirty="0">
                <a:latin typeface="+mn-lt"/>
                <a:ea typeface="+mn-ea"/>
              </a:rPr>
              <a:t>…</a:t>
            </a:r>
            <a:r>
              <a:rPr lang="zh-CN" altLang="en-US" sz="2200" dirty="0">
                <a:latin typeface="+mn-lt"/>
                <a:ea typeface="+mn-ea"/>
              </a:rPr>
              <a:t>，</a:t>
            </a:r>
            <a:r>
              <a:rPr lang="en-US" altLang="zh-CN" sz="2200" i="1" dirty="0">
                <a:latin typeface="+mn-lt"/>
                <a:ea typeface="+mn-ea"/>
              </a:rPr>
              <a:t>A</a:t>
            </a:r>
            <a:r>
              <a:rPr lang="en-US" altLang="zh-CN" sz="2200" i="1" baseline="-25000" dirty="0">
                <a:latin typeface="+mn-lt"/>
                <a:ea typeface="+mn-ea"/>
              </a:rPr>
              <a:t>n</a:t>
            </a:r>
            <a:r>
              <a:rPr lang="en-US" altLang="zh-CN" sz="2200" dirty="0">
                <a:latin typeface="+mn-lt"/>
                <a:ea typeface="+mn-ea"/>
              </a:rPr>
              <a:t>}</a:t>
            </a:r>
            <a:r>
              <a:rPr lang="zh-CN" altLang="en-US" sz="2200" dirty="0">
                <a:latin typeface="+mn-lt"/>
                <a:ea typeface="+mn-ea"/>
              </a:rPr>
              <a:t>构成</a:t>
            </a:r>
            <a:r>
              <a:rPr lang="en-US" altLang="zh-CN" sz="2200" dirty="0">
                <a:latin typeface="+mn-lt"/>
                <a:ea typeface="+mn-ea"/>
              </a:rPr>
              <a:t>{</a:t>
            </a:r>
            <a:r>
              <a:rPr lang="en-US" altLang="zh-CN" sz="2200" i="1" dirty="0">
                <a:latin typeface="+mn-lt"/>
                <a:ea typeface="+mn-ea"/>
              </a:rPr>
              <a:t>B</a:t>
            </a:r>
            <a:r>
              <a:rPr lang="en-US" altLang="zh-CN" sz="2200" baseline="-25000" dirty="0">
                <a:latin typeface="+mn-lt"/>
                <a:ea typeface="+mn-ea"/>
              </a:rPr>
              <a:t>1</a:t>
            </a:r>
            <a:r>
              <a:rPr lang="zh-CN" altLang="en-US" sz="2200" dirty="0">
                <a:latin typeface="+mn-lt"/>
                <a:ea typeface="+mn-ea"/>
              </a:rPr>
              <a:t>，</a:t>
            </a:r>
            <a:r>
              <a:rPr lang="en-US" altLang="zh-CN" sz="2200" i="1" dirty="0">
                <a:latin typeface="+mn-lt"/>
                <a:ea typeface="+mn-ea"/>
              </a:rPr>
              <a:t>B</a:t>
            </a:r>
            <a:r>
              <a:rPr lang="en-US" altLang="zh-CN" sz="2200" baseline="-25000" dirty="0">
                <a:latin typeface="+mn-lt"/>
                <a:ea typeface="+mn-ea"/>
              </a:rPr>
              <a:t>2</a:t>
            </a:r>
            <a:r>
              <a:rPr lang="zh-CN" altLang="en-US" sz="2200" dirty="0">
                <a:latin typeface="+mn-lt"/>
                <a:ea typeface="+mn-ea"/>
              </a:rPr>
              <a:t>，</a:t>
            </a:r>
            <a:r>
              <a:rPr lang="en-US" altLang="zh-CN" sz="2200" dirty="0">
                <a:latin typeface="+mn-lt"/>
                <a:ea typeface="+mn-ea"/>
              </a:rPr>
              <a:t>…</a:t>
            </a:r>
            <a:r>
              <a:rPr lang="zh-CN" altLang="en-US" sz="2200" dirty="0">
                <a:latin typeface="+mn-lt"/>
                <a:ea typeface="+mn-ea"/>
              </a:rPr>
              <a:t>，</a:t>
            </a:r>
            <a:r>
              <a:rPr lang="en-US" altLang="zh-CN" sz="2200" i="1" dirty="0">
                <a:latin typeface="+mn-lt"/>
                <a:ea typeface="+mn-ea"/>
              </a:rPr>
              <a:t>B</a:t>
            </a:r>
            <a:r>
              <a:rPr lang="en-US" altLang="zh-CN" sz="2200" i="1" baseline="-25000" dirty="0">
                <a:latin typeface="+mn-lt"/>
                <a:ea typeface="+mn-ea"/>
              </a:rPr>
              <a:t>m</a:t>
            </a:r>
            <a:r>
              <a:rPr lang="en-US" altLang="zh-CN" sz="2200" dirty="0">
                <a:latin typeface="+mn-lt"/>
                <a:ea typeface="+mn-ea"/>
              </a:rPr>
              <a:t>}</a:t>
            </a:r>
            <a:r>
              <a:rPr lang="zh-CN" altLang="en-US" sz="2200" dirty="0">
                <a:latin typeface="+mn-lt"/>
                <a:ea typeface="+mn-ea"/>
              </a:rPr>
              <a:t>的子集</a:t>
            </a:r>
            <a:endParaRPr lang="zh-CN" altLang="en-US" sz="2200" dirty="0">
              <a:latin typeface="+mn-lt"/>
              <a:ea typeface="+mn-ea"/>
            </a:endParaRPr>
          </a:p>
          <a:p>
            <a:pPr marL="342900" indent="-342900" algn="l" eaLnBrk="1" hangingPunct="1">
              <a:lnSpc>
                <a:spcPct val="110000"/>
              </a:lnSpc>
              <a:buSzPct val="100000"/>
            </a:pPr>
            <a:r>
              <a:rPr lang="en-US" altLang="zh-CN" sz="2400" dirty="0">
                <a:latin typeface="+mn-lt"/>
                <a:ea typeface="+mn-ea"/>
                <a:cs typeface="+mn-cs"/>
              </a:rPr>
              <a:t>4.</a:t>
            </a:r>
            <a:r>
              <a:rPr lang="zh-CN" altLang="en-US" sz="2400" dirty="0">
                <a:latin typeface="+mn-lt"/>
                <a:ea typeface="+mn-ea"/>
                <a:cs typeface="+mn-cs"/>
              </a:rPr>
              <a:t>选择的串接定律</a:t>
            </a:r>
            <a:endParaRPr lang="zh-CN" altLang="en-US" sz="2400" dirty="0">
              <a:latin typeface="+mn-lt"/>
              <a:ea typeface="+mn-ea"/>
              <a:cs typeface="+mn-cs"/>
            </a:endParaRPr>
          </a:p>
          <a:p>
            <a:pPr marL="342900" indent="-342900" algn="l" eaLnBrk="1" hangingPunct="1">
              <a:lnSpc>
                <a:spcPct val="110000"/>
              </a:lnSpc>
              <a:buSzPct val="100000"/>
            </a:pPr>
            <a:r>
              <a:rPr lang="zh-CN" altLang="en-US" sz="2400" dirty="0">
                <a:latin typeface="+mn-lt"/>
                <a:ea typeface="+mn-ea"/>
                <a:cs typeface="+mn-cs"/>
              </a:rPr>
              <a:t>            </a:t>
            </a:r>
            <a:r>
              <a:rPr lang="en-US" altLang="zh-CN" sz="2400" dirty="0">
                <a:latin typeface="+mn-lt"/>
                <a:ea typeface="+mn-ea"/>
                <a:cs typeface="+mn-cs"/>
              </a:rPr>
              <a:t>(      (</a:t>
            </a:r>
            <a:r>
              <a:rPr lang="en-US" altLang="zh-CN" sz="2400" i="1" dirty="0">
                <a:latin typeface="+mn-lt"/>
                <a:ea typeface="+mn-ea"/>
                <a:cs typeface="+mn-cs"/>
              </a:rPr>
              <a:t>E </a:t>
            </a:r>
            <a:r>
              <a:rPr lang="en-US" altLang="zh-CN" sz="2400" dirty="0">
                <a:latin typeface="+mn-lt"/>
                <a:ea typeface="+mn-ea"/>
                <a:cs typeface="+mn-cs"/>
              </a:rPr>
              <a:t>))≡             (</a:t>
            </a:r>
            <a:r>
              <a:rPr lang="en-US" altLang="zh-CN" sz="2400" i="1" dirty="0">
                <a:latin typeface="+mn-lt"/>
                <a:ea typeface="+mn-ea"/>
                <a:cs typeface="+mn-cs"/>
              </a:rPr>
              <a:t>E</a:t>
            </a:r>
            <a:r>
              <a:rPr lang="en-US" altLang="zh-CN" sz="2400" dirty="0">
                <a:latin typeface="+mn-lt"/>
                <a:ea typeface="+mn-ea"/>
                <a:cs typeface="+mn-cs"/>
              </a:rPr>
              <a:t>)</a:t>
            </a:r>
            <a:endParaRPr lang="zh-CN" altLang="en-US" sz="2400" dirty="0">
              <a:latin typeface="+mn-lt"/>
              <a:ea typeface="+mn-ea"/>
              <a:cs typeface="+mn-cs"/>
            </a:endParaRPr>
          </a:p>
          <a:p>
            <a:pPr marL="800100" lvl="1" indent="-342900" algn="l" eaLnBrk="1" hangingPunct="1">
              <a:lnSpc>
                <a:spcPct val="110000"/>
              </a:lnSpc>
              <a:buSzPct val="100000"/>
              <a:buFont typeface="Wingdings" panose="05000000000000000000" pitchFamily="2" charset="2"/>
              <a:buChar char="n"/>
            </a:pPr>
            <a:r>
              <a:rPr lang="en-US" altLang="zh-CN" sz="2200" dirty="0">
                <a:latin typeface="+mn-lt"/>
                <a:ea typeface="+mn-ea"/>
              </a:rPr>
              <a:t>E</a:t>
            </a:r>
            <a:r>
              <a:rPr lang="zh-CN" altLang="en-US" sz="2200" dirty="0">
                <a:latin typeface="+mn-lt"/>
                <a:ea typeface="+mn-ea"/>
              </a:rPr>
              <a:t>是关系代数表达式，</a:t>
            </a:r>
            <a:r>
              <a:rPr lang="en-US" altLang="zh-CN" sz="2200" dirty="0">
                <a:latin typeface="+mn-lt"/>
                <a:ea typeface="+mn-ea"/>
              </a:rPr>
              <a:t>F</a:t>
            </a:r>
            <a:r>
              <a:rPr lang="en-US" altLang="zh-CN" sz="2200" baseline="-25000" dirty="0">
                <a:latin typeface="+mn-lt"/>
                <a:ea typeface="+mn-ea"/>
              </a:rPr>
              <a:t>1</a:t>
            </a:r>
            <a:r>
              <a:rPr lang="zh-CN" altLang="en-US" sz="2200" dirty="0">
                <a:latin typeface="+mn-lt"/>
                <a:ea typeface="+mn-ea"/>
              </a:rPr>
              <a:t>、</a:t>
            </a:r>
            <a:r>
              <a:rPr lang="en-US" altLang="zh-CN" sz="2200" dirty="0">
                <a:latin typeface="+mn-lt"/>
                <a:ea typeface="+mn-ea"/>
              </a:rPr>
              <a:t>F</a:t>
            </a:r>
            <a:r>
              <a:rPr lang="en-US" altLang="zh-CN" sz="2200" baseline="-25000" dirty="0">
                <a:latin typeface="+mn-lt"/>
                <a:ea typeface="+mn-ea"/>
              </a:rPr>
              <a:t>2</a:t>
            </a:r>
            <a:r>
              <a:rPr lang="zh-CN" altLang="en-US" sz="2200" dirty="0">
                <a:latin typeface="+mn-lt"/>
                <a:ea typeface="+mn-ea"/>
              </a:rPr>
              <a:t>是选择条件</a:t>
            </a:r>
            <a:endParaRPr lang="zh-CN" altLang="en-US" sz="2200" dirty="0">
              <a:latin typeface="+mn-lt"/>
              <a:ea typeface="+mn-ea"/>
            </a:endParaRPr>
          </a:p>
          <a:p>
            <a:pPr marL="800100" lvl="1" indent="-342900" algn="l" eaLnBrk="1" hangingPunct="1">
              <a:lnSpc>
                <a:spcPct val="110000"/>
              </a:lnSpc>
              <a:buSzPct val="100000"/>
              <a:buFont typeface="Wingdings" panose="05000000000000000000" pitchFamily="2" charset="2"/>
              <a:buChar char="n"/>
            </a:pPr>
            <a:r>
              <a:rPr lang="zh-CN" altLang="en-US" sz="2200" dirty="0">
                <a:latin typeface="+mn-lt"/>
                <a:ea typeface="+mn-ea"/>
              </a:rPr>
              <a:t>选择的串接律说明选择条件可以合并</a:t>
            </a:r>
            <a:r>
              <a:rPr lang="en-US" altLang="zh-CN" sz="2200" dirty="0">
                <a:latin typeface="+mn-lt"/>
                <a:ea typeface="+mn-ea"/>
              </a:rPr>
              <a:t>,</a:t>
            </a:r>
            <a:r>
              <a:rPr lang="zh-CN" altLang="en-US" sz="2200" dirty="0">
                <a:latin typeface="+mn-lt"/>
                <a:ea typeface="+mn-ea"/>
              </a:rPr>
              <a:t>这样一次就可检查全部条件</a:t>
            </a:r>
            <a:endParaRPr lang="zh-CN" altLang="en-US" sz="2200" dirty="0">
              <a:latin typeface="+mn-lt"/>
              <a:ea typeface="+mn-ea"/>
            </a:endParaRPr>
          </a:p>
        </p:txBody>
      </p:sp>
      <p:sp>
        <p:nvSpPr>
          <p:cNvPr id="62470" name="Rectangle 5"/>
          <p:cNvSpPr/>
          <p:nvPr/>
        </p:nvSpPr>
        <p:spPr>
          <a:xfrm>
            <a:off x="6003925" y="-184150"/>
            <a:ext cx="1841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sp>
        <p:nvSpPr>
          <p:cNvPr id="62471" name="Rectangle 7"/>
          <p:cNvSpPr/>
          <p:nvPr/>
        </p:nvSpPr>
        <p:spPr>
          <a:xfrm>
            <a:off x="5078413" y="3227388"/>
            <a:ext cx="184150" cy="369887"/>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2472" name="Object 6"/>
          <p:cNvGraphicFramePr>
            <a:graphicFrameLocks noChangeAspect="1"/>
          </p:cNvGraphicFramePr>
          <p:nvPr/>
        </p:nvGraphicFramePr>
        <p:xfrm>
          <a:off x="1606550" y="1703388"/>
          <a:ext cx="1079500" cy="461962"/>
        </p:xfrm>
        <a:graphic>
          <a:graphicData uri="http://schemas.openxmlformats.org/presentationml/2006/ole">
            <mc:AlternateContent xmlns:mc="http://schemas.openxmlformats.org/markup-compatibility/2006">
              <mc:Choice xmlns:v="urn:schemas-microsoft-com:vml" Requires="v">
                <p:oleObj spid="_x0000_s3105" name="" r:id="rId1" imgW="571500" imgH="241300" progId="Equation.3">
                  <p:embed/>
                </p:oleObj>
              </mc:Choice>
              <mc:Fallback>
                <p:oleObj name="" r:id="rId1" imgW="571500" imgH="241300" progId="Equation.3">
                  <p:embed/>
                  <p:pic>
                    <p:nvPicPr>
                      <p:cNvPr id="0" name="图片 3104"/>
                      <p:cNvPicPr/>
                      <p:nvPr/>
                    </p:nvPicPr>
                    <p:blipFill>
                      <a:blip r:embed="rId2"/>
                      <a:stretch>
                        <a:fillRect/>
                      </a:stretch>
                    </p:blipFill>
                    <p:spPr>
                      <a:xfrm>
                        <a:off x="1606550" y="1703388"/>
                        <a:ext cx="1079500" cy="461962"/>
                      </a:xfrm>
                      <a:prstGeom prst="rect">
                        <a:avLst/>
                      </a:prstGeom>
                      <a:noFill/>
                      <a:ln w="38100">
                        <a:noFill/>
                        <a:miter/>
                      </a:ln>
                    </p:spPr>
                  </p:pic>
                </p:oleObj>
              </mc:Fallback>
            </mc:AlternateContent>
          </a:graphicData>
        </a:graphic>
      </p:graphicFrame>
      <p:sp>
        <p:nvSpPr>
          <p:cNvPr id="62473" name="Rectangle 9"/>
          <p:cNvSpPr/>
          <p:nvPr/>
        </p:nvSpPr>
        <p:spPr>
          <a:xfrm>
            <a:off x="5078413" y="3227388"/>
            <a:ext cx="184150" cy="369887"/>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2474" name="Object 8"/>
          <p:cNvGraphicFramePr>
            <a:graphicFrameLocks noChangeAspect="1"/>
          </p:cNvGraphicFramePr>
          <p:nvPr/>
        </p:nvGraphicFramePr>
        <p:xfrm>
          <a:off x="2722563" y="1703388"/>
          <a:ext cx="1009650" cy="446087"/>
        </p:xfrm>
        <a:graphic>
          <a:graphicData uri="http://schemas.openxmlformats.org/presentationml/2006/ole">
            <mc:AlternateContent xmlns:mc="http://schemas.openxmlformats.org/markup-compatibility/2006">
              <mc:Choice xmlns:v="urn:schemas-microsoft-com:vml" Requires="v">
                <p:oleObj spid="_x0000_s3101" name="" r:id="rId3" imgW="584200" imgH="241300" progId="Equation.3">
                  <p:embed/>
                </p:oleObj>
              </mc:Choice>
              <mc:Fallback>
                <p:oleObj name="" r:id="rId3" imgW="584200" imgH="241300" progId="Equation.3">
                  <p:embed/>
                  <p:pic>
                    <p:nvPicPr>
                      <p:cNvPr id="0" name="图片 3100"/>
                      <p:cNvPicPr/>
                      <p:nvPr/>
                    </p:nvPicPr>
                    <p:blipFill>
                      <a:blip r:embed="rId4"/>
                      <a:stretch>
                        <a:fillRect/>
                      </a:stretch>
                    </p:blipFill>
                    <p:spPr>
                      <a:xfrm>
                        <a:off x="2722563" y="1703388"/>
                        <a:ext cx="1009650" cy="446087"/>
                      </a:xfrm>
                      <a:prstGeom prst="rect">
                        <a:avLst/>
                      </a:prstGeom>
                      <a:noFill/>
                      <a:ln w="38100">
                        <a:noFill/>
                        <a:miter/>
                      </a:ln>
                    </p:spPr>
                  </p:pic>
                </p:oleObj>
              </mc:Fallback>
            </mc:AlternateContent>
          </a:graphicData>
        </a:graphic>
      </p:graphicFrame>
      <p:sp>
        <p:nvSpPr>
          <p:cNvPr id="62475" name="Rectangle 11"/>
          <p:cNvSpPr/>
          <p:nvPr/>
        </p:nvSpPr>
        <p:spPr>
          <a:xfrm>
            <a:off x="5078413" y="3227388"/>
            <a:ext cx="184150" cy="369887"/>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2476" name="Object 10"/>
          <p:cNvGraphicFramePr>
            <a:graphicFrameLocks noChangeAspect="1"/>
          </p:cNvGraphicFramePr>
          <p:nvPr/>
        </p:nvGraphicFramePr>
        <p:xfrm>
          <a:off x="4378325" y="1662113"/>
          <a:ext cx="1081088" cy="503237"/>
        </p:xfrm>
        <a:graphic>
          <a:graphicData uri="http://schemas.openxmlformats.org/presentationml/2006/ole">
            <mc:AlternateContent xmlns:mc="http://schemas.openxmlformats.org/markup-compatibility/2006">
              <mc:Choice xmlns:v="urn:schemas-microsoft-com:vml" Requires="v">
                <p:oleObj spid="_x0000_s3102" name="" r:id="rId5" imgW="571500" imgH="241300" progId="Equation.3">
                  <p:embed/>
                </p:oleObj>
              </mc:Choice>
              <mc:Fallback>
                <p:oleObj name="" r:id="rId5" imgW="571500" imgH="241300" progId="Equation.3">
                  <p:embed/>
                  <p:pic>
                    <p:nvPicPr>
                      <p:cNvPr id="0" name="图片 3101"/>
                      <p:cNvPicPr/>
                      <p:nvPr/>
                    </p:nvPicPr>
                    <p:blipFill>
                      <a:blip r:embed="rId2"/>
                      <a:stretch>
                        <a:fillRect/>
                      </a:stretch>
                    </p:blipFill>
                    <p:spPr>
                      <a:xfrm>
                        <a:off x="4378325" y="1662113"/>
                        <a:ext cx="1081088" cy="503237"/>
                      </a:xfrm>
                      <a:prstGeom prst="rect">
                        <a:avLst/>
                      </a:prstGeom>
                      <a:noFill/>
                      <a:ln w="38100">
                        <a:noFill/>
                        <a:miter/>
                      </a:ln>
                    </p:spPr>
                  </p:pic>
                </p:oleObj>
              </mc:Fallback>
            </mc:AlternateContent>
          </a:graphicData>
        </a:graphic>
      </p:graphicFrame>
      <p:sp>
        <p:nvSpPr>
          <p:cNvPr id="62477" name="Rectangle 13"/>
          <p:cNvSpPr/>
          <p:nvPr/>
        </p:nvSpPr>
        <p:spPr>
          <a:xfrm>
            <a:off x="5078413" y="3227388"/>
            <a:ext cx="184150" cy="369887"/>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2478" name="Object 12"/>
          <p:cNvGraphicFramePr>
            <a:graphicFrameLocks noChangeAspect="1"/>
          </p:cNvGraphicFramePr>
          <p:nvPr/>
        </p:nvGraphicFramePr>
        <p:xfrm>
          <a:off x="1679575" y="3929063"/>
          <a:ext cx="466725" cy="468312"/>
        </p:xfrm>
        <a:graphic>
          <a:graphicData uri="http://schemas.openxmlformats.org/presentationml/2006/ole">
            <mc:AlternateContent xmlns:mc="http://schemas.openxmlformats.org/markup-compatibility/2006">
              <mc:Choice xmlns:v="urn:schemas-microsoft-com:vml" Requires="v">
                <p:oleObj spid="_x0000_s3100" name="" r:id="rId6" imgW="241300" imgH="241300" progId="Equation.3">
                  <p:embed/>
                </p:oleObj>
              </mc:Choice>
              <mc:Fallback>
                <p:oleObj name="" r:id="rId6" imgW="241300" imgH="241300" progId="Equation.3">
                  <p:embed/>
                  <p:pic>
                    <p:nvPicPr>
                      <p:cNvPr id="0" name="图片 3099"/>
                      <p:cNvPicPr/>
                      <p:nvPr/>
                    </p:nvPicPr>
                    <p:blipFill>
                      <a:blip r:embed="rId7"/>
                      <a:stretch>
                        <a:fillRect/>
                      </a:stretch>
                    </p:blipFill>
                    <p:spPr>
                      <a:xfrm>
                        <a:off x="1679575" y="3929063"/>
                        <a:ext cx="466725" cy="468312"/>
                      </a:xfrm>
                      <a:prstGeom prst="rect">
                        <a:avLst/>
                      </a:prstGeom>
                      <a:noFill/>
                      <a:ln w="38100">
                        <a:noFill/>
                        <a:miter/>
                      </a:ln>
                    </p:spPr>
                  </p:pic>
                </p:oleObj>
              </mc:Fallback>
            </mc:AlternateContent>
          </a:graphicData>
        </a:graphic>
      </p:graphicFrame>
      <p:sp>
        <p:nvSpPr>
          <p:cNvPr id="62479" name="Rectangle 15"/>
          <p:cNvSpPr/>
          <p:nvPr/>
        </p:nvSpPr>
        <p:spPr>
          <a:xfrm>
            <a:off x="5078413" y="3227388"/>
            <a:ext cx="184150" cy="369887"/>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2480" name="Object 14"/>
          <p:cNvGraphicFramePr>
            <a:graphicFrameLocks noChangeAspect="1"/>
          </p:cNvGraphicFramePr>
          <p:nvPr/>
        </p:nvGraphicFramePr>
        <p:xfrm>
          <a:off x="2255838" y="3940175"/>
          <a:ext cx="466725" cy="457200"/>
        </p:xfrm>
        <a:graphic>
          <a:graphicData uri="http://schemas.openxmlformats.org/presentationml/2006/ole">
            <mc:AlternateContent xmlns:mc="http://schemas.openxmlformats.org/markup-compatibility/2006">
              <mc:Choice xmlns:v="urn:schemas-microsoft-com:vml" Requires="v">
                <p:oleObj spid="_x0000_s3103" name="" r:id="rId8" imgW="254000" imgH="241300" progId="Equation.3">
                  <p:embed/>
                </p:oleObj>
              </mc:Choice>
              <mc:Fallback>
                <p:oleObj name="" r:id="rId8" imgW="254000" imgH="241300" progId="Equation.3">
                  <p:embed/>
                  <p:pic>
                    <p:nvPicPr>
                      <p:cNvPr id="0" name="图片 3102"/>
                      <p:cNvPicPr/>
                      <p:nvPr/>
                    </p:nvPicPr>
                    <p:blipFill>
                      <a:blip r:embed="rId9"/>
                      <a:stretch>
                        <a:fillRect/>
                      </a:stretch>
                    </p:blipFill>
                    <p:spPr>
                      <a:xfrm>
                        <a:off x="2255838" y="3940175"/>
                        <a:ext cx="466725" cy="457200"/>
                      </a:xfrm>
                      <a:prstGeom prst="rect">
                        <a:avLst/>
                      </a:prstGeom>
                      <a:noFill/>
                      <a:ln w="38100">
                        <a:noFill/>
                        <a:miter/>
                      </a:ln>
                    </p:spPr>
                  </p:pic>
                </p:oleObj>
              </mc:Fallback>
            </mc:AlternateContent>
          </a:graphicData>
        </a:graphic>
      </p:graphicFrame>
      <p:sp>
        <p:nvSpPr>
          <p:cNvPr id="62481" name="Rectangle 17"/>
          <p:cNvSpPr/>
          <p:nvPr/>
        </p:nvSpPr>
        <p:spPr>
          <a:xfrm>
            <a:off x="5078413" y="3224213"/>
            <a:ext cx="184150" cy="369887"/>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2482" name="Object 16"/>
          <p:cNvGraphicFramePr>
            <a:graphicFrameLocks noChangeAspect="1"/>
          </p:cNvGraphicFramePr>
          <p:nvPr/>
        </p:nvGraphicFramePr>
        <p:xfrm>
          <a:off x="3657600" y="3951288"/>
          <a:ext cx="900113" cy="519112"/>
        </p:xfrm>
        <a:graphic>
          <a:graphicData uri="http://schemas.openxmlformats.org/presentationml/2006/ole">
            <mc:AlternateContent xmlns:mc="http://schemas.openxmlformats.org/markup-compatibility/2006">
              <mc:Choice xmlns:v="urn:schemas-microsoft-com:vml" Requires="v">
                <p:oleObj spid="_x0000_s3104" name="" r:id="rId10" imgW="431800" imgH="254000" progId="Equation.3">
                  <p:embed/>
                </p:oleObj>
              </mc:Choice>
              <mc:Fallback>
                <p:oleObj name="" r:id="rId10" imgW="431800" imgH="254000" progId="Equation.3">
                  <p:embed/>
                  <p:pic>
                    <p:nvPicPr>
                      <p:cNvPr id="0" name="图片 3103"/>
                      <p:cNvPicPr/>
                      <p:nvPr/>
                    </p:nvPicPr>
                    <p:blipFill>
                      <a:blip r:embed="rId11"/>
                      <a:stretch>
                        <a:fillRect/>
                      </a:stretch>
                    </p:blipFill>
                    <p:spPr>
                      <a:xfrm>
                        <a:off x="3657600" y="3951288"/>
                        <a:ext cx="900113" cy="519112"/>
                      </a:xfrm>
                      <a:prstGeom prst="rect">
                        <a:avLst/>
                      </a:prstGeom>
                      <a:noFill/>
                      <a:ln w="38100">
                        <a:noFill/>
                        <a:miter/>
                      </a:ln>
                    </p:spPr>
                  </p:pic>
                </p:oleObj>
              </mc:Fallback>
            </mc:AlternateContent>
          </a:graphicData>
        </a:graphic>
      </p:graphicFrame>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TextBox 3"/>
          <p:cNvSpPr/>
          <p:nvPr/>
        </p:nvSpPr>
        <p:spPr>
          <a:xfrm>
            <a:off x="8561388" y="6357938"/>
            <a:ext cx="1785937" cy="3048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 typeface="Arial" panose="020B0604020202020204" pitchFamily="34" charset="0"/>
              <a:buNone/>
            </a:pPr>
            <a:r>
              <a:rPr lang="zh-CN" altLang="zh-CN" sz="1400" dirty="0">
                <a:solidFill>
                  <a:srgbClr val="953734"/>
                </a:solidFill>
                <a:latin typeface="微软雅黑" panose="020B0503020204020204" charset="-122"/>
                <a:ea typeface="微软雅黑" panose="020B0503020204020204" charset="-122"/>
                <a:sym typeface="微软雅黑" panose="020B0503020204020204" charset="-122"/>
              </a:rPr>
              <a:t>*</a:t>
            </a:r>
            <a:endParaRPr lang="zh-CN" altLang="zh-CN" sz="1400" dirty="0">
              <a:solidFill>
                <a:srgbClr val="953734"/>
              </a:solidFill>
              <a:latin typeface="微软雅黑" panose="020B0503020204020204" charset="-122"/>
              <a:ea typeface="微软雅黑" panose="020B0503020204020204" charset="-122"/>
              <a:sym typeface="微软雅黑" panose="020B0503020204020204" charset="-122"/>
            </a:endParaRPr>
          </a:p>
        </p:txBody>
      </p:sp>
      <p:sp>
        <p:nvSpPr>
          <p:cNvPr id="63491" name="文本框 4"/>
          <p:cNvSpPr/>
          <p:nvPr/>
        </p:nvSpPr>
        <p:spPr>
          <a:xfrm>
            <a:off x="2171700" y="6334125"/>
            <a:ext cx="2160588" cy="246063"/>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 typeface="Arial" panose="020B0604020202020204" pitchFamily="34" charset="0"/>
              <a:buNone/>
            </a:pPr>
            <a:endParaRPr lang="zh-CN" altLang="zh-CN" sz="1000" b="0" dirty="0">
              <a:solidFill>
                <a:srgbClr val="000000"/>
              </a:solidFill>
              <a:latin typeface="Times New Roman" panose="02020603050405020304" charset="0"/>
              <a:ea typeface="黑体" panose="02010609060101010101" pitchFamily="49" charset="-122"/>
              <a:sym typeface="宋体" panose="02010600030101010101" pitchFamily="2" charset="-122"/>
            </a:endParaRPr>
          </a:p>
        </p:txBody>
      </p:sp>
      <p:sp>
        <p:nvSpPr>
          <p:cNvPr id="63492" name="Rectangle 2"/>
          <p:cNvSpPr>
            <a:spLocks noGrp="1"/>
          </p:cNvSpPr>
          <p:nvPr>
            <p:ph type="title"/>
          </p:nvPr>
        </p:nvSpPr>
        <p:spPr>
          <a:xfrm>
            <a:off x="1981200" y="41275"/>
            <a:ext cx="8229600" cy="939800"/>
          </a:xfrm>
        </p:spPr>
        <p:txBody>
          <a:bodyPr vert="horz" wrap="square" lIns="91440" tIns="45720" rIns="91440" bIns="45720" anchor="ctr" anchorCtr="0"/>
          <a:p>
            <a:pPr eaLnBrk="1" hangingPunct="1"/>
            <a:r>
              <a:rPr lang="zh-CN" altLang="zh-CN" sz="3600" dirty="0"/>
              <a:t>关系代数表达式等价变换规则（续）</a:t>
            </a:r>
            <a:endParaRPr lang="zh-CN" altLang="zh-CN" sz="3600" dirty="0"/>
          </a:p>
        </p:txBody>
      </p:sp>
      <p:sp>
        <p:nvSpPr>
          <p:cNvPr id="63493" name="Rectangle 3"/>
          <p:cNvSpPr>
            <a:spLocks noGrp="1"/>
          </p:cNvSpPr>
          <p:nvPr>
            <p:ph type="subTitle" idx="1"/>
          </p:nvPr>
        </p:nvSpPr>
        <p:spPr>
          <a:xfrm>
            <a:off x="982663" y="1476375"/>
            <a:ext cx="8748712" cy="4857750"/>
          </a:xfrm>
        </p:spPr>
        <p:txBody>
          <a:bodyPr vert="horz" wrap="square" lIns="91440" tIns="45720" rIns="91440" bIns="45720" anchor="t" anchorCtr="0"/>
          <a:p>
            <a:pPr marL="342900" indent="-342900" algn="l" eaLnBrk="1" hangingPunct="1">
              <a:lnSpc>
                <a:spcPct val="120000"/>
              </a:lnSpc>
              <a:buSzPct val="100000"/>
            </a:pPr>
            <a:r>
              <a:rPr lang="en-US" altLang="zh-CN" sz="2400" dirty="0">
                <a:latin typeface="+mn-lt"/>
                <a:ea typeface="+mn-ea"/>
                <a:cs typeface="+mn-cs"/>
              </a:rPr>
              <a:t>5.</a:t>
            </a:r>
            <a:r>
              <a:rPr lang="zh-CN" altLang="en-US" sz="2400" dirty="0">
                <a:latin typeface="+mn-lt"/>
                <a:ea typeface="+mn-ea"/>
                <a:cs typeface="+mn-cs"/>
              </a:rPr>
              <a:t>选择与投影操作的交换律</a:t>
            </a:r>
            <a:endParaRPr lang="zh-CN" altLang="en-US" sz="2400" dirty="0">
              <a:latin typeface="+mn-lt"/>
              <a:ea typeface="+mn-ea"/>
              <a:cs typeface="+mn-cs"/>
            </a:endParaRPr>
          </a:p>
          <a:p>
            <a:pPr marL="342900" indent="-342900" algn="l" eaLnBrk="1" hangingPunct="1">
              <a:lnSpc>
                <a:spcPct val="120000"/>
              </a:lnSpc>
              <a:buSzPct val="100000"/>
            </a:pPr>
            <a:r>
              <a:rPr lang="zh-CN" altLang="en-US" dirty="0">
                <a:latin typeface="+mn-lt"/>
                <a:ea typeface="+mn-ea"/>
                <a:cs typeface="+mn-cs"/>
              </a:rPr>
              <a:t>    </a:t>
            </a:r>
            <a:r>
              <a:rPr lang="en-US" altLang="zh-CN" dirty="0">
                <a:latin typeface="+mn-lt"/>
                <a:ea typeface="+mn-ea"/>
                <a:cs typeface="+mn-cs"/>
              </a:rPr>
              <a:t>σ</a:t>
            </a:r>
            <a:r>
              <a:rPr lang="en-US" altLang="zh-CN" sz="1400" dirty="0">
                <a:latin typeface="+mn-lt"/>
                <a:ea typeface="+mn-ea"/>
                <a:cs typeface="+mn-cs"/>
              </a:rPr>
              <a:t>F</a:t>
            </a:r>
            <a:r>
              <a:rPr lang="en-US" altLang="zh-CN" dirty="0">
                <a:latin typeface="+mn-lt"/>
                <a:ea typeface="+mn-ea"/>
                <a:cs typeface="+mn-cs"/>
              </a:rPr>
              <a:t>(                (</a:t>
            </a:r>
            <a:r>
              <a:rPr lang="en-US" altLang="zh-CN" i="1" dirty="0">
                <a:latin typeface="+mn-lt"/>
                <a:ea typeface="+mn-ea"/>
                <a:cs typeface="+mn-cs"/>
              </a:rPr>
              <a:t>E</a:t>
            </a:r>
            <a:r>
              <a:rPr lang="en-US" altLang="zh-CN" dirty="0">
                <a:latin typeface="+mn-lt"/>
                <a:ea typeface="+mn-ea"/>
                <a:cs typeface="+mn-cs"/>
              </a:rPr>
              <a:t>))≡                  (σ</a:t>
            </a:r>
            <a:r>
              <a:rPr lang="en-US" altLang="zh-CN" sz="1400" dirty="0">
                <a:latin typeface="+mn-lt"/>
                <a:ea typeface="+mn-ea"/>
                <a:cs typeface="+mn-cs"/>
              </a:rPr>
              <a:t>F</a:t>
            </a:r>
            <a:r>
              <a:rPr lang="en-US" altLang="zh-CN" dirty="0">
                <a:latin typeface="+mn-lt"/>
                <a:ea typeface="+mn-ea"/>
                <a:cs typeface="+mn-cs"/>
              </a:rPr>
              <a:t>(</a:t>
            </a:r>
            <a:r>
              <a:rPr lang="en-US" altLang="zh-CN" i="1" dirty="0">
                <a:latin typeface="+mn-lt"/>
                <a:ea typeface="+mn-ea"/>
                <a:cs typeface="+mn-cs"/>
              </a:rPr>
              <a:t>E</a:t>
            </a:r>
            <a:r>
              <a:rPr lang="en-US" altLang="zh-CN" dirty="0">
                <a:latin typeface="+mn-lt"/>
                <a:ea typeface="+mn-ea"/>
                <a:cs typeface="+mn-cs"/>
              </a:rPr>
              <a:t>))</a:t>
            </a:r>
            <a:endParaRPr lang="zh-CN" altLang="en-US" dirty="0">
              <a:latin typeface="+mn-lt"/>
              <a:ea typeface="+mn-ea"/>
              <a:cs typeface="+mn-cs"/>
            </a:endParaRPr>
          </a:p>
          <a:p>
            <a:pPr marL="800100" lvl="1" indent="-342900" algn="l" eaLnBrk="1" hangingPunct="1">
              <a:lnSpc>
                <a:spcPct val="120000"/>
              </a:lnSpc>
              <a:buSzPct val="100000"/>
              <a:buFont typeface="Wingdings" panose="05000000000000000000" pitchFamily="2" charset="2"/>
              <a:buChar char="n"/>
            </a:pPr>
            <a:r>
              <a:rPr lang="zh-CN" altLang="en-US" dirty="0">
                <a:latin typeface="+mn-lt"/>
                <a:ea typeface="+mn-ea"/>
              </a:rPr>
              <a:t>选择条件</a:t>
            </a:r>
            <a:r>
              <a:rPr lang="en-US" altLang="zh-CN" dirty="0">
                <a:latin typeface="+mn-lt"/>
                <a:ea typeface="+mn-ea"/>
              </a:rPr>
              <a:t>F</a:t>
            </a:r>
            <a:r>
              <a:rPr lang="zh-CN" altLang="en-US" dirty="0">
                <a:latin typeface="+mn-lt"/>
                <a:ea typeface="+mn-ea"/>
              </a:rPr>
              <a:t>只涉及属性</a:t>
            </a:r>
            <a:r>
              <a:rPr lang="en-US" altLang="zh-CN" i="1" dirty="0">
                <a:latin typeface="+mn-lt"/>
                <a:ea typeface="+mn-ea"/>
              </a:rPr>
              <a:t>A</a:t>
            </a:r>
            <a:r>
              <a:rPr lang="en-US" altLang="zh-CN" baseline="-25000" dirty="0">
                <a:latin typeface="+mn-lt"/>
                <a:ea typeface="+mn-ea"/>
              </a:rPr>
              <a:t>1</a:t>
            </a:r>
            <a:r>
              <a:rPr lang="zh-CN" altLang="en-US" dirty="0">
                <a:latin typeface="+mn-lt"/>
                <a:ea typeface="+mn-ea"/>
              </a:rPr>
              <a:t>，</a:t>
            </a:r>
            <a:r>
              <a:rPr lang="en-US" altLang="zh-CN" dirty="0">
                <a:latin typeface="+mn-lt"/>
                <a:ea typeface="+mn-ea"/>
              </a:rPr>
              <a:t>…</a:t>
            </a:r>
            <a:r>
              <a:rPr lang="zh-CN" altLang="en-US" dirty="0">
                <a:latin typeface="+mn-lt"/>
                <a:ea typeface="+mn-ea"/>
              </a:rPr>
              <a:t>，</a:t>
            </a:r>
            <a:r>
              <a:rPr lang="en-US" altLang="zh-CN" i="1" dirty="0">
                <a:latin typeface="+mn-lt"/>
                <a:ea typeface="+mn-ea"/>
              </a:rPr>
              <a:t>A</a:t>
            </a:r>
            <a:r>
              <a:rPr lang="en-US" altLang="zh-CN" i="1" baseline="-25000" dirty="0">
                <a:latin typeface="+mn-lt"/>
                <a:ea typeface="+mn-ea"/>
              </a:rPr>
              <a:t>n</a:t>
            </a:r>
            <a:r>
              <a:rPr lang="zh-CN" altLang="en-US" dirty="0">
                <a:latin typeface="+mn-lt"/>
                <a:ea typeface="+mn-ea"/>
              </a:rPr>
              <a:t>。</a:t>
            </a:r>
            <a:endParaRPr lang="zh-CN" altLang="en-US" dirty="0">
              <a:latin typeface="+mn-lt"/>
              <a:ea typeface="+mn-ea"/>
            </a:endParaRPr>
          </a:p>
          <a:p>
            <a:pPr marL="800100" lvl="1" indent="-342900" algn="l" eaLnBrk="1" hangingPunct="1">
              <a:lnSpc>
                <a:spcPct val="120000"/>
              </a:lnSpc>
              <a:buSzPct val="100000"/>
              <a:buFont typeface="Wingdings" panose="05000000000000000000" pitchFamily="2" charset="2"/>
              <a:buChar char="n"/>
            </a:pPr>
            <a:r>
              <a:rPr lang="zh-CN" altLang="en-US" dirty="0">
                <a:latin typeface="+mn-lt"/>
                <a:ea typeface="+mn-ea"/>
              </a:rPr>
              <a:t>若</a:t>
            </a:r>
            <a:r>
              <a:rPr lang="en-US" altLang="zh-CN" dirty="0">
                <a:latin typeface="+mn-lt"/>
                <a:ea typeface="+mn-ea"/>
              </a:rPr>
              <a:t>F</a:t>
            </a:r>
            <a:r>
              <a:rPr lang="zh-CN" altLang="en-US" dirty="0">
                <a:latin typeface="+mn-lt"/>
                <a:ea typeface="+mn-ea"/>
              </a:rPr>
              <a:t>中有不属于</a:t>
            </a:r>
            <a:r>
              <a:rPr lang="en-US" altLang="zh-CN" i="1" dirty="0">
                <a:latin typeface="+mn-lt"/>
                <a:ea typeface="+mn-ea"/>
              </a:rPr>
              <a:t>A</a:t>
            </a:r>
            <a:r>
              <a:rPr lang="en-US" altLang="zh-CN" baseline="-25000" dirty="0">
                <a:latin typeface="+mn-lt"/>
                <a:ea typeface="+mn-ea"/>
              </a:rPr>
              <a:t>1</a:t>
            </a:r>
            <a:r>
              <a:rPr lang="zh-CN" altLang="en-US" dirty="0">
                <a:latin typeface="+mn-lt"/>
                <a:ea typeface="+mn-ea"/>
              </a:rPr>
              <a:t>，</a:t>
            </a:r>
            <a:r>
              <a:rPr lang="en-US" altLang="zh-CN" dirty="0">
                <a:latin typeface="+mn-lt"/>
                <a:ea typeface="+mn-ea"/>
              </a:rPr>
              <a:t>…</a:t>
            </a:r>
            <a:r>
              <a:rPr lang="zh-CN" altLang="en-US" dirty="0">
                <a:latin typeface="+mn-lt"/>
                <a:ea typeface="+mn-ea"/>
              </a:rPr>
              <a:t>，</a:t>
            </a:r>
            <a:r>
              <a:rPr lang="en-US" altLang="zh-CN" i="1" dirty="0">
                <a:latin typeface="+mn-lt"/>
                <a:ea typeface="+mn-ea"/>
              </a:rPr>
              <a:t>A</a:t>
            </a:r>
            <a:r>
              <a:rPr lang="en-US" altLang="zh-CN" i="1" baseline="-25000" dirty="0">
                <a:latin typeface="+mn-lt"/>
                <a:ea typeface="+mn-ea"/>
              </a:rPr>
              <a:t>n</a:t>
            </a:r>
            <a:r>
              <a:rPr lang="zh-CN" altLang="en-US" dirty="0">
                <a:latin typeface="+mn-lt"/>
                <a:ea typeface="+mn-ea"/>
              </a:rPr>
              <a:t>的属性</a:t>
            </a:r>
            <a:r>
              <a:rPr lang="en-US" altLang="zh-CN" i="1" dirty="0">
                <a:latin typeface="+mn-lt"/>
                <a:ea typeface="+mn-ea"/>
              </a:rPr>
              <a:t>B</a:t>
            </a:r>
            <a:r>
              <a:rPr lang="en-US" altLang="zh-CN" baseline="-25000" dirty="0">
                <a:latin typeface="+mn-lt"/>
                <a:ea typeface="+mn-ea"/>
              </a:rPr>
              <a:t>1</a:t>
            </a:r>
            <a:r>
              <a:rPr lang="zh-CN" altLang="en-US" dirty="0">
                <a:latin typeface="+mn-lt"/>
                <a:ea typeface="+mn-ea"/>
              </a:rPr>
              <a:t>，</a:t>
            </a:r>
            <a:r>
              <a:rPr lang="en-US" altLang="zh-CN" dirty="0">
                <a:latin typeface="+mn-lt"/>
                <a:ea typeface="+mn-ea"/>
              </a:rPr>
              <a:t>…</a:t>
            </a:r>
            <a:r>
              <a:rPr lang="zh-CN" altLang="en-US" dirty="0">
                <a:latin typeface="+mn-lt"/>
                <a:ea typeface="+mn-ea"/>
              </a:rPr>
              <a:t>，</a:t>
            </a:r>
            <a:r>
              <a:rPr lang="en-US" altLang="zh-CN" i="1" dirty="0">
                <a:latin typeface="+mn-lt"/>
                <a:ea typeface="+mn-ea"/>
              </a:rPr>
              <a:t>B</a:t>
            </a:r>
            <a:r>
              <a:rPr lang="en-US" altLang="zh-CN" i="1" baseline="-25000" dirty="0">
                <a:latin typeface="+mn-lt"/>
                <a:ea typeface="+mn-ea"/>
              </a:rPr>
              <a:t>m</a:t>
            </a:r>
            <a:r>
              <a:rPr lang="zh-CN" altLang="en-US" dirty="0">
                <a:latin typeface="+mn-lt"/>
                <a:ea typeface="+mn-ea"/>
              </a:rPr>
              <a:t>有更一般规则：</a:t>
            </a:r>
            <a:endParaRPr lang="zh-CN" altLang="en-US" dirty="0">
              <a:latin typeface="+mn-lt"/>
              <a:ea typeface="+mn-ea"/>
            </a:endParaRPr>
          </a:p>
          <a:p>
            <a:pPr marL="342900" indent="-342900" algn="l" eaLnBrk="1" hangingPunct="1">
              <a:lnSpc>
                <a:spcPct val="120000"/>
              </a:lnSpc>
              <a:buSzPct val="100000"/>
            </a:pPr>
            <a:r>
              <a:rPr lang="zh-CN" altLang="en-US" dirty="0">
                <a:latin typeface="+mn-lt"/>
                <a:ea typeface="+mn-ea"/>
                <a:cs typeface="+mn-cs"/>
              </a:rPr>
              <a:t>                   </a:t>
            </a:r>
            <a:r>
              <a:rPr lang="en-US" altLang="zh-CN" sz="2400" dirty="0">
                <a:latin typeface="+mn-lt"/>
                <a:ea typeface="+mn-ea"/>
                <a:cs typeface="+mn-cs"/>
              </a:rPr>
              <a:t>(σ</a:t>
            </a:r>
            <a:r>
              <a:rPr lang="en-US" altLang="zh-CN" sz="2400" baseline="-25000" dirty="0">
                <a:latin typeface="+mn-lt"/>
                <a:ea typeface="+mn-ea"/>
                <a:cs typeface="+mn-cs"/>
              </a:rPr>
              <a:t>F</a:t>
            </a:r>
            <a:r>
              <a:rPr lang="en-US" altLang="zh-CN" sz="2400" dirty="0">
                <a:latin typeface="+mn-lt"/>
                <a:ea typeface="+mn-ea"/>
                <a:cs typeface="+mn-cs"/>
              </a:rPr>
              <a:t>(</a:t>
            </a:r>
            <a:r>
              <a:rPr lang="en-US" altLang="zh-CN" sz="2400" i="1" dirty="0">
                <a:latin typeface="+mn-lt"/>
                <a:ea typeface="+mn-ea"/>
                <a:cs typeface="+mn-cs"/>
              </a:rPr>
              <a:t>E </a:t>
            </a:r>
            <a:r>
              <a:rPr lang="en-US" altLang="zh-CN" sz="2400" dirty="0">
                <a:latin typeface="+mn-lt"/>
                <a:ea typeface="+mn-ea"/>
                <a:cs typeface="+mn-cs"/>
              </a:rPr>
              <a:t>))</a:t>
            </a:r>
            <a:r>
              <a:rPr lang="en-US" altLang="zh-CN" dirty="0">
                <a:latin typeface="+mn-lt"/>
                <a:ea typeface="+mn-ea"/>
                <a:cs typeface="+mn-cs"/>
              </a:rPr>
              <a:t>≡              </a:t>
            </a:r>
            <a:r>
              <a:rPr lang="en-US" altLang="zh-CN" sz="2400" dirty="0">
                <a:latin typeface="+mn-lt"/>
                <a:ea typeface="+mn-ea"/>
                <a:cs typeface="+mn-cs"/>
              </a:rPr>
              <a:t>(</a:t>
            </a:r>
            <a:r>
              <a:rPr lang="en-US" altLang="zh-CN" dirty="0">
                <a:latin typeface="+mn-lt"/>
                <a:ea typeface="+mn-ea"/>
                <a:cs typeface="+mn-cs"/>
              </a:rPr>
              <a:t>σ</a:t>
            </a:r>
            <a:r>
              <a:rPr lang="en-US" altLang="zh-CN" sz="1400" dirty="0">
                <a:latin typeface="+mn-lt"/>
                <a:ea typeface="+mn-ea"/>
                <a:cs typeface="+mn-cs"/>
              </a:rPr>
              <a:t>F</a:t>
            </a:r>
            <a:r>
              <a:rPr lang="en-US" altLang="zh-CN" sz="2400" dirty="0">
                <a:latin typeface="+mn-lt"/>
                <a:ea typeface="+mn-ea"/>
                <a:cs typeface="+mn-cs"/>
              </a:rPr>
              <a:t> (                            (</a:t>
            </a:r>
            <a:r>
              <a:rPr lang="en-US" altLang="zh-CN" sz="2400" i="1" dirty="0">
                <a:latin typeface="+mn-lt"/>
                <a:ea typeface="+mn-ea"/>
                <a:cs typeface="+mn-cs"/>
              </a:rPr>
              <a:t>E</a:t>
            </a:r>
            <a:r>
              <a:rPr lang="en-US" altLang="zh-CN" sz="2400" dirty="0">
                <a:latin typeface="+mn-lt"/>
                <a:ea typeface="+mn-ea"/>
                <a:cs typeface="+mn-cs"/>
              </a:rPr>
              <a:t>)))</a:t>
            </a:r>
            <a:endParaRPr lang="zh-CN" altLang="en-US" sz="2400" dirty="0">
              <a:latin typeface="+mn-lt"/>
              <a:ea typeface="+mn-ea"/>
              <a:cs typeface="+mn-cs"/>
            </a:endParaRPr>
          </a:p>
        </p:txBody>
      </p:sp>
      <p:sp>
        <p:nvSpPr>
          <p:cNvPr id="63494" name="Rectangle 5"/>
          <p:cNvSpPr/>
          <p:nvPr/>
        </p:nvSpPr>
        <p:spPr>
          <a:xfrm>
            <a:off x="5283200" y="3473450"/>
            <a:ext cx="184150" cy="36988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3495" name="Object 4"/>
          <p:cNvGraphicFramePr>
            <a:graphicFrameLocks noChangeAspect="1"/>
          </p:cNvGraphicFramePr>
          <p:nvPr/>
        </p:nvGraphicFramePr>
        <p:xfrm>
          <a:off x="1919288" y="2124075"/>
          <a:ext cx="1655762" cy="487363"/>
        </p:xfrm>
        <a:graphic>
          <a:graphicData uri="http://schemas.openxmlformats.org/presentationml/2006/ole">
            <mc:AlternateContent xmlns:mc="http://schemas.openxmlformats.org/markup-compatibility/2006">
              <mc:Choice xmlns:v="urn:schemas-microsoft-com:vml" Requires="v">
                <p:oleObj spid="_x0000_s3086" name="" r:id="rId1" imgW="571500" imgH="241300" progId="Equation.3">
                  <p:embed/>
                </p:oleObj>
              </mc:Choice>
              <mc:Fallback>
                <p:oleObj name="" r:id="rId1" imgW="571500" imgH="241300" progId="Equation.3">
                  <p:embed/>
                  <p:pic>
                    <p:nvPicPr>
                      <p:cNvPr id="0" name="图片 3085"/>
                      <p:cNvPicPr/>
                      <p:nvPr/>
                    </p:nvPicPr>
                    <p:blipFill>
                      <a:blip r:embed="rId2"/>
                      <a:stretch>
                        <a:fillRect/>
                      </a:stretch>
                    </p:blipFill>
                    <p:spPr>
                      <a:xfrm>
                        <a:off x="1919288" y="2124075"/>
                        <a:ext cx="1655762" cy="487363"/>
                      </a:xfrm>
                      <a:prstGeom prst="rect">
                        <a:avLst/>
                      </a:prstGeom>
                      <a:noFill/>
                      <a:ln w="38100">
                        <a:noFill/>
                        <a:miter/>
                      </a:ln>
                    </p:spPr>
                  </p:pic>
                </p:oleObj>
              </mc:Fallback>
            </mc:AlternateContent>
          </a:graphicData>
        </a:graphic>
      </p:graphicFrame>
      <p:sp>
        <p:nvSpPr>
          <p:cNvPr id="63496" name="Rectangle 7"/>
          <p:cNvSpPr/>
          <p:nvPr/>
        </p:nvSpPr>
        <p:spPr>
          <a:xfrm>
            <a:off x="5283200" y="3473450"/>
            <a:ext cx="184150" cy="36988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3497" name="Object 6"/>
          <p:cNvGraphicFramePr>
            <a:graphicFrameLocks noChangeAspect="1"/>
          </p:cNvGraphicFramePr>
          <p:nvPr/>
        </p:nvGraphicFramePr>
        <p:xfrm>
          <a:off x="4278313" y="2103438"/>
          <a:ext cx="1925637" cy="523875"/>
        </p:xfrm>
        <a:graphic>
          <a:graphicData uri="http://schemas.openxmlformats.org/presentationml/2006/ole">
            <mc:AlternateContent xmlns:mc="http://schemas.openxmlformats.org/markup-compatibility/2006">
              <mc:Choice xmlns:v="urn:schemas-microsoft-com:vml" Requires="v">
                <p:oleObj spid="_x0000_s3089" name="" r:id="rId3" imgW="571500" imgH="241300" progId="Equation.3">
                  <p:embed/>
                </p:oleObj>
              </mc:Choice>
              <mc:Fallback>
                <p:oleObj name="" r:id="rId3" imgW="571500" imgH="241300" progId="Equation.3">
                  <p:embed/>
                  <p:pic>
                    <p:nvPicPr>
                      <p:cNvPr id="0" name="图片 3088"/>
                      <p:cNvPicPr/>
                      <p:nvPr/>
                    </p:nvPicPr>
                    <p:blipFill>
                      <a:blip r:embed="rId2"/>
                      <a:stretch>
                        <a:fillRect/>
                      </a:stretch>
                    </p:blipFill>
                    <p:spPr>
                      <a:xfrm>
                        <a:off x="4278313" y="2103438"/>
                        <a:ext cx="1925637" cy="523875"/>
                      </a:xfrm>
                      <a:prstGeom prst="rect">
                        <a:avLst/>
                      </a:prstGeom>
                      <a:noFill/>
                      <a:ln w="38100">
                        <a:noFill/>
                        <a:miter/>
                      </a:ln>
                    </p:spPr>
                  </p:pic>
                </p:oleObj>
              </mc:Fallback>
            </mc:AlternateContent>
          </a:graphicData>
        </a:graphic>
      </p:graphicFrame>
      <p:sp>
        <p:nvSpPr>
          <p:cNvPr id="63498" name="Rectangle 9"/>
          <p:cNvSpPr/>
          <p:nvPr/>
        </p:nvSpPr>
        <p:spPr>
          <a:xfrm>
            <a:off x="5283200" y="3473450"/>
            <a:ext cx="184150" cy="36988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3499" name="Object 8"/>
          <p:cNvGraphicFramePr>
            <a:graphicFrameLocks noChangeAspect="1"/>
          </p:cNvGraphicFramePr>
          <p:nvPr/>
        </p:nvGraphicFramePr>
        <p:xfrm>
          <a:off x="1414463" y="4222750"/>
          <a:ext cx="1584325" cy="493713"/>
        </p:xfrm>
        <a:graphic>
          <a:graphicData uri="http://schemas.openxmlformats.org/presentationml/2006/ole">
            <mc:AlternateContent xmlns:mc="http://schemas.openxmlformats.org/markup-compatibility/2006">
              <mc:Choice xmlns:v="urn:schemas-microsoft-com:vml" Requires="v">
                <p:oleObj spid="_x0000_s3085" name="" r:id="rId4" imgW="571500" imgH="241300" progId="Equation.3">
                  <p:embed/>
                </p:oleObj>
              </mc:Choice>
              <mc:Fallback>
                <p:oleObj name="" r:id="rId4" imgW="571500" imgH="241300" progId="Equation.3">
                  <p:embed/>
                  <p:pic>
                    <p:nvPicPr>
                      <p:cNvPr id="0" name="图片 3084"/>
                      <p:cNvPicPr/>
                      <p:nvPr/>
                    </p:nvPicPr>
                    <p:blipFill>
                      <a:blip r:embed="rId2"/>
                      <a:stretch>
                        <a:fillRect/>
                      </a:stretch>
                    </p:blipFill>
                    <p:spPr>
                      <a:xfrm>
                        <a:off x="1414463" y="4222750"/>
                        <a:ext cx="1584325" cy="493713"/>
                      </a:xfrm>
                      <a:prstGeom prst="rect">
                        <a:avLst/>
                      </a:prstGeom>
                      <a:noFill/>
                      <a:ln w="38100">
                        <a:noFill/>
                        <a:miter/>
                      </a:ln>
                    </p:spPr>
                  </p:pic>
                </p:oleObj>
              </mc:Fallback>
            </mc:AlternateContent>
          </a:graphicData>
        </a:graphic>
      </p:graphicFrame>
      <p:sp>
        <p:nvSpPr>
          <p:cNvPr id="63500" name="Rectangle 11"/>
          <p:cNvSpPr/>
          <p:nvPr/>
        </p:nvSpPr>
        <p:spPr>
          <a:xfrm>
            <a:off x="5283200" y="3473450"/>
            <a:ext cx="184150" cy="36988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3501" name="Object 10"/>
          <p:cNvGraphicFramePr>
            <a:graphicFrameLocks noChangeAspect="1"/>
          </p:cNvGraphicFramePr>
          <p:nvPr/>
        </p:nvGraphicFramePr>
        <p:xfrm>
          <a:off x="4168775" y="4211638"/>
          <a:ext cx="1493838" cy="471487"/>
        </p:xfrm>
        <a:graphic>
          <a:graphicData uri="http://schemas.openxmlformats.org/presentationml/2006/ole">
            <mc:AlternateContent xmlns:mc="http://schemas.openxmlformats.org/markup-compatibility/2006">
              <mc:Choice xmlns:v="urn:schemas-microsoft-com:vml" Requires="v">
                <p:oleObj spid="_x0000_s3087" name="" r:id="rId5" imgW="571500" imgH="241300" progId="Equation.3">
                  <p:embed/>
                </p:oleObj>
              </mc:Choice>
              <mc:Fallback>
                <p:oleObj name="" r:id="rId5" imgW="571500" imgH="241300" progId="Equation.3">
                  <p:embed/>
                  <p:pic>
                    <p:nvPicPr>
                      <p:cNvPr id="0" name="图片 3086"/>
                      <p:cNvPicPr/>
                      <p:nvPr/>
                    </p:nvPicPr>
                    <p:blipFill>
                      <a:blip r:embed="rId2"/>
                      <a:stretch>
                        <a:fillRect/>
                      </a:stretch>
                    </p:blipFill>
                    <p:spPr>
                      <a:xfrm>
                        <a:off x="4168775" y="4211638"/>
                        <a:ext cx="1493838" cy="471487"/>
                      </a:xfrm>
                      <a:prstGeom prst="rect">
                        <a:avLst/>
                      </a:prstGeom>
                      <a:noFill/>
                      <a:ln w="38100">
                        <a:noFill/>
                        <a:miter/>
                      </a:ln>
                    </p:spPr>
                  </p:pic>
                </p:oleObj>
              </mc:Fallback>
            </mc:AlternateContent>
          </a:graphicData>
        </a:graphic>
      </p:graphicFrame>
      <p:sp>
        <p:nvSpPr>
          <p:cNvPr id="63502" name="Rectangle 13"/>
          <p:cNvSpPr/>
          <p:nvPr/>
        </p:nvSpPr>
        <p:spPr>
          <a:xfrm>
            <a:off x="5283200" y="3473450"/>
            <a:ext cx="184150" cy="36988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3503" name="Object 12"/>
          <p:cNvGraphicFramePr>
            <a:graphicFrameLocks noChangeAspect="1"/>
          </p:cNvGraphicFramePr>
          <p:nvPr/>
        </p:nvGraphicFramePr>
        <p:xfrm>
          <a:off x="6167438" y="4222750"/>
          <a:ext cx="2520950" cy="565150"/>
        </p:xfrm>
        <a:graphic>
          <a:graphicData uri="http://schemas.openxmlformats.org/presentationml/2006/ole">
            <mc:AlternateContent xmlns:mc="http://schemas.openxmlformats.org/markup-compatibility/2006">
              <mc:Choice xmlns:v="urn:schemas-microsoft-com:vml" Requires="v">
                <p:oleObj spid="_x0000_s3088" name="" r:id="rId6" imgW="1041400" imgH="241300" progId="Equation.3">
                  <p:embed/>
                </p:oleObj>
              </mc:Choice>
              <mc:Fallback>
                <p:oleObj name="" r:id="rId6" imgW="1041400" imgH="241300" progId="Equation.3">
                  <p:embed/>
                  <p:pic>
                    <p:nvPicPr>
                      <p:cNvPr id="0" name="图片 3087"/>
                      <p:cNvPicPr/>
                      <p:nvPr/>
                    </p:nvPicPr>
                    <p:blipFill>
                      <a:blip r:embed="rId7"/>
                      <a:stretch>
                        <a:fillRect/>
                      </a:stretch>
                    </p:blipFill>
                    <p:spPr>
                      <a:xfrm>
                        <a:off x="6167438" y="4222750"/>
                        <a:ext cx="2520950" cy="565150"/>
                      </a:xfrm>
                      <a:prstGeom prst="rect">
                        <a:avLst/>
                      </a:prstGeom>
                      <a:noFill/>
                      <a:ln w="38100">
                        <a:noFill/>
                        <a:miter/>
                      </a:ln>
                    </p:spPr>
                  </p:pic>
                </p:oleObj>
              </mc:Fallback>
            </mc:AlternateContent>
          </a:graphicData>
        </a:graphic>
      </p:graphicFrame>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TextBox 3"/>
          <p:cNvSpPr/>
          <p:nvPr/>
        </p:nvSpPr>
        <p:spPr>
          <a:xfrm>
            <a:off x="8453438" y="6357938"/>
            <a:ext cx="1785937" cy="3048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 typeface="Arial" panose="020B0604020202020204" pitchFamily="34" charset="0"/>
              <a:buNone/>
            </a:pPr>
            <a:r>
              <a:rPr lang="zh-CN" altLang="zh-CN" sz="1400" dirty="0">
                <a:solidFill>
                  <a:srgbClr val="953734"/>
                </a:solidFill>
                <a:latin typeface="微软雅黑" panose="020B0503020204020204" charset="-122"/>
                <a:ea typeface="微软雅黑" panose="020B0503020204020204" charset="-122"/>
                <a:sym typeface="微软雅黑" panose="020B0503020204020204" charset="-122"/>
              </a:rPr>
              <a:t>*</a:t>
            </a:r>
            <a:endParaRPr lang="zh-CN" altLang="zh-CN" sz="1400" dirty="0">
              <a:solidFill>
                <a:srgbClr val="953734"/>
              </a:solidFill>
              <a:latin typeface="微软雅黑" panose="020B0503020204020204" charset="-122"/>
              <a:ea typeface="微软雅黑" panose="020B0503020204020204" charset="-122"/>
              <a:sym typeface="微软雅黑" panose="020B0503020204020204" charset="-122"/>
            </a:endParaRPr>
          </a:p>
        </p:txBody>
      </p:sp>
      <p:sp>
        <p:nvSpPr>
          <p:cNvPr id="64515" name="文本框 4"/>
          <p:cNvSpPr/>
          <p:nvPr/>
        </p:nvSpPr>
        <p:spPr>
          <a:xfrm>
            <a:off x="2063750" y="6334125"/>
            <a:ext cx="2160588" cy="246063"/>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 typeface="Arial" panose="020B0604020202020204" pitchFamily="34" charset="0"/>
              <a:buNone/>
            </a:pPr>
            <a:endParaRPr lang="zh-CN" altLang="zh-CN" sz="1000" b="0" dirty="0">
              <a:solidFill>
                <a:srgbClr val="000000"/>
              </a:solidFill>
              <a:latin typeface="Times New Roman" panose="02020603050405020304" charset="0"/>
              <a:ea typeface="黑体" panose="02010609060101010101" pitchFamily="49" charset="-122"/>
              <a:sym typeface="宋体" panose="02010600030101010101" pitchFamily="2" charset="-122"/>
            </a:endParaRPr>
          </a:p>
        </p:txBody>
      </p:sp>
      <p:sp>
        <p:nvSpPr>
          <p:cNvPr id="64516" name="Rectangle 2"/>
          <p:cNvSpPr>
            <a:spLocks noGrp="1"/>
          </p:cNvSpPr>
          <p:nvPr>
            <p:ph type="title"/>
          </p:nvPr>
        </p:nvSpPr>
        <p:spPr>
          <a:xfrm>
            <a:off x="1981200" y="41275"/>
            <a:ext cx="8229600" cy="939800"/>
          </a:xfrm>
        </p:spPr>
        <p:txBody>
          <a:bodyPr vert="horz" wrap="square" lIns="91440" tIns="45720" rIns="91440" bIns="45720" anchor="ctr" anchorCtr="0"/>
          <a:p>
            <a:pPr eaLnBrk="1" hangingPunct="1"/>
            <a:r>
              <a:rPr lang="zh-CN" altLang="zh-CN" sz="3600" dirty="0"/>
              <a:t>关系代数表达式等价变换规则（续）</a:t>
            </a:r>
            <a:endParaRPr lang="zh-CN" altLang="zh-CN" sz="3600" dirty="0"/>
          </a:p>
        </p:txBody>
      </p:sp>
      <p:sp>
        <p:nvSpPr>
          <p:cNvPr id="64517" name="Rectangle 3"/>
          <p:cNvSpPr>
            <a:spLocks noGrp="1"/>
          </p:cNvSpPr>
          <p:nvPr>
            <p:ph type="subTitle" idx="1"/>
          </p:nvPr>
        </p:nvSpPr>
        <p:spPr>
          <a:xfrm>
            <a:off x="1200150" y="1217613"/>
            <a:ext cx="10152063" cy="4857750"/>
          </a:xfrm>
        </p:spPr>
        <p:txBody>
          <a:bodyPr vert="horz" wrap="square" lIns="91440" tIns="45720" rIns="91440" bIns="45720" anchor="t" anchorCtr="0"/>
          <a:p>
            <a:pPr marL="342900" indent="-342900" algn="l" eaLnBrk="1" hangingPunct="1">
              <a:buSzPct val="100000"/>
            </a:pPr>
            <a:r>
              <a:rPr lang="en-US" altLang="zh-CN" sz="2400" dirty="0">
                <a:latin typeface="+mn-lt"/>
                <a:ea typeface="+mn-ea"/>
                <a:cs typeface="+mn-cs"/>
              </a:rPr>
              <a:t>6. </a:t>
            </a:r>
            <a:r>
              <a:rPr lang="zh-CN" altLang="en-US" sz="2400" dirty="0">
                <a:latin typeface="+mn-lt"/>
                <a:ea typeface="+mn-ea"/>
                <a:cs typeface="+mn-cs"/>
              </a:rPr>
              <a:t>选择与笛卡尔积的交换律</a:t>
            </a:r>
            <a:endParaRPr lang="zh-CN" altLang="en-US" sz="2400" dirty="0">
              <a:latin typeface="+mn-lt"/>
              <a:ea typeface="+mn-ea"/>
              <a:cs typeface="+mn-cs"/>
            </a:endParaRPr>
          </a:p>
          <a:p>
            <a:pPr marL="800100" lvl="1" indent="-342900" algn="l" eaLnBrk="1" hangingPunct="1">
              <a:buSzPct val="87000"/>
              <a:buFont typeface="Wingdings" panose="05000000000000000000" pitchFamily="2" charset="2"/>
              <a:buChar char="n"/>
            </a:pPr>
            <a:r>
              <a:rPr lang="zh-CN" altLang="en-US" dirty="0">
                <a:latin typeface="+mn-lt"/>
                <a:ea typeface="+mn-ea"/>
              </a:rPr>
              <a:t>如果</a:t>
            </a:r>
            <a:r>
              <a:rPr lang="en-US" altLang="zh-CN" dirty="0">
                <a:latin typeface="+mn-lt"/>
                <a:ea typeface="+mn-ea"/>
              </a:rPr>
              <a:t>F</a:t>
            </a:r>
            <a:r>
              <a:rPr lang="zh-CN" altLang="en-US" dirty="0">
                <a:latin typeface="+mn-lt"/>
                <a:ea typeface="+mn-ea"/>
              </a:rPr>
              <a:t>中涉及的属性都是</a:t>
            </a:r>
            <a:r>
              <a:rPr lang="en-US" altLang="zh-CN" dirty="0">
                <a:latin typeface="+mn-lt"/>
                <a:ea typeface="+mn-ea"/>
              </a:rPr>
              <a:t>E</a:t>
            </a:r>
            <a:r>
              <a:rPr lang="en-US" altLang="zh-CN" baseline="-25000" dirty="0">
                <a:latin typeface="+mn-lt"/>
                <a:ea typeface="+mn-ea"/>
              </a:rPr>
              <a:t>1</a:t>
            </a:r>
            <a:r>
              <a:rPr lang="zh-CN" altLang="en-US" dirty="0">
                <a:latin typeface="+mn-lt"/>
                <a:ea typeface="+mn-ea"/>
              </a:rPr>
              <a:t>中的属性，则</a:t>
            </a:r>
            <a:endParaRPr lang="zh-CN" altLang="en-US" dirty="0">
              <a:latin typeface="+mn-lt"/>
              <a:ea typeface="+mn-ea"/>
            </a:endParaRPr>
          </a:p>
          <a:p>
            <a:pPr marL="342900" indent="-342900" algn="l" eaLnBrk="1" hangingPunct="1">
              <a:buSzPct val="100000"/>
            </a:pPr>
            <a:r>
              <a:rPr lang="zh-CN" altLang="en-US" sz="2400" dirty="0">
                <a:latin typeface="+mn-lt"/>
                <a:ea typeface="+mn-ea"/>
                <a:cs typeface="+mn-cs"/>
              </a:rPr>
              <a:t>          </a:t>
            </a:r>
            <a:r>
              <a:rPr lang="en-US" altLang="zh-CN" sz="2400" dirty="0">
                <a:latin typeface="+mn-lt"/>
                <a:ea typeface="+mn-ea"/>
                <a:cs typeface="+mn-cs"/>
              </a:rPr>
              <a:t>σ</a:t>
            </a:r>
            <a:r>
              <a:rPr lang="en-US" altLang="zh-CN" sz="2400" baseline="-25000" dirty="0">
                <a:latin typeface="+mn-lt"/>
                <a:ea typeface="+mn-ea"/>
                <a:cs typeface="+mn-cs"/>
              </a:rPr>
              <a:t>F</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)≡σ</a:t>
            </a:r>
            <a:r>
              <a:rPr lang="en-US" altLang="zh-CN" sz="2400" baseline="-25000" dirty="0">
                <a:latin typeface="+mn-lt"/>
                <a:ea typeface="+mn-ea"/>
                <a:cs typeface="+mn-cs"/>
              </a:rPr>
              <a:t>F</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2</a:t>
            </a:r>
            <a:endParaRPr lang="zh-CN" altLang="en-US" sz="2400" baseline="-25000" dirty="0">
              <a:latin typeface="+mn-lt"/>
              <a:ea typeface="+mn-ea"/>
              <a:cs typeface="+mn-cs"/>
            </a:endParaRPr>
          </a:p>
          <a:p>
            <a:pPr marL="800100" lvl="1" indent="-342900" algn="l" eaLnBrk="1" hangingPunct="1">
              <a:buSzPct val="87000"/>
              <a:buFont typeface="Wingdings" panose="05000000000000000000" pitchFamily="2" charset="2"/>
              <a:buChar char="n"/>
            </a:pPr>
            <a:r>
              <a:rPr lang="zh-CN" altLang="en-US" dirty="0">
                <a:latin typeface="+mn-lt"/>
                <a:ea typeface="+mn-ea"/>
              </a:rPr>
              <a:t>如果</a:t>
            </a:r>
            <a:r>
              <a:rPr lang="en-US" altLang="zh-CN" dirty="0">
                <a:latin typeface="+mn-lt"/>
                <a:ea typeface="+mn-ea"/>
              </a:rPr>
              <a:t>F=F</a:t>
            </a:r>
            <a:r>
              <a:rPr lang="en-US" altLang="zh-CN" baseline="-25000" dirty="0">
                <a:latin typeface="+mn-lt"/>
                <a:ea typeface="+mn-ea"/>
              </a:rPr>
              <a:t>1</a:t>
            </a:r>
            <a:r>
              <a:rPr lang="en-US" altLang="zh-CN" dirty="0">
                <a:latin typeface="+mn-lt"/>
                <a:ea typeface="+mn-ea"/>
              </a:rPr>
              <a:t>∧F</a:t>
            </a:r>
            <a:r>
              <a:rPr lang="en-US" altLang="zh-CN" baseline="-25000" dirty="0">
                <a:latin typeface="+mn-lt"/>
                <a:ea typeface="+mn-ea"/>
              </a:rPr>
              <a:t>2</a:t>
            </a:r>
            <a:r>
              <a:rPr lang="zh-CN" altLang="en-US" dirty="0">
                <a:latin typeface="+mn-lt"/>
                <a:ea typeface="+mn-ea"/>
              </a:rPr>
              <a:t>，并且</a:t>
            </a:r>
            <a:r>
              <a:rPr lang="en-US" altLang="zh-CN" dirty="0">
                <a:latin typeface="+mn-lt"/>
                <a:ea typeface="+mn-ea"/>
              </a:rPr>
              <a:t>F</a:t>
            </a:r>
            <a:r>
              <a:rPr lang="en-US" altLang="zh-CN" baseline="-25000" dirty="0">
                <a:latin typeface="+mn-lt"/>
                <a:ea typeface="+mn-ea"/>
              </a:rPr>
              <a:t>1</a:t>
            </a:r>
            <a:r>
              <a:rPr lang="zh-CN" altLang="en-US" dirty="0">
                <a:latin typeface="+mn-lt"/>
                <a:ea typeface="+mn-ea"/>
              </a:rPr>
              <a:t>只涉及</a:t>
            </a:r>
            <a:r>
              <a:rPr lang="en-US" altLang="zh-CN" dirty="0">
                <a:latin typeface="+mn-lt"/>
                <a:ea typeface="+mn-ea"/>
              </a:rPr>
              <a:t>E</a:t>
            </a:r>
            <a:r>
              <a:rPr lang="en-US" altLang="zh-CN" baseline="-25000" dirty="0">
                <a:latin typeface="+mn-lt"/>
                <a:ea typeface="+mn-ea"/>
              </a:rPr>
              <a:t>1</a:t>
            </a:r>
            <a:r>
              <a:rPr lang="zh-CN" altLang="en-US" dirty="0">
                <a:latin typeface="+mn-lt"/>
                <a:ea typeface="+mn-ea"/>
              </a:rPr>
              <a:t>中的属性，</a:t>
            </a:r>
            <a:r>
              <a:rPr lang="en-US" altLang="zh-CN" dirty="0">
                <a:latin typeface="+mn-lt"/>
                <a:ea typeface="+mn-ea"/>
              </a:rPr>
              <a:t>F</a:t>
            </a:r>
            <a:r>
              <a:rPr lang="en-US" altLang="zh-CN" baseline="-25000" dirty="0">
                <a:latin typeface="+mn-lt"/>
                <a:ea typeface="+mn-ea"/>
              </a:rPr>
              <a:t>2</a:t>
            </a:r>
            <a:r>
              <a:rPr lang="zh-CN" altLang="en-US" dirty="0">
                <a:latin typeface="+mn-lt"/>
                <a:ea typeface="+mn-ea"/>
              </a:rPr>
              <a:t>只涉及</a:t>
            </a:r>
            <a:r>
              <a:rPr lang="en-US" altLang="zh-CN" dirty="0">
                <a:latin typeface="+mn-lt"/>
                <a:ea typeface="+mn-ea"/>
              </a:rPr>
              <a:t>E</a:t>
            </a:r>
            <a:r>
              <a:rPr lang="en-US" altLang="zh-CN" baseline="-25000" dirty="0">
                <a:latin typeface="+mn-lt"/>
                <a:ea typeface="+mn-ea"/>
              </a:rPr>
              <a:t>2</a:t>
            </a:r>
            <a:r>
              <a:rPr lang="zh-CN" altLang="en-US" dirty="0">
                <a:latin typeface="+mn-lt"/>
                <a:ea typeface="+mn-ea"/>
              </a:rPr>
              <a:t>中的属性，则由上面的等价变换规则</a:t>
            </a:r>
            <a:r>
              <a:rPr lang="en-US" altLang="zh-CN" dirty="0">
                <a:latin typeface="+mn-lt"/>
                <a:ea typeface="+mn-ea"/>
              </a:rPr>
              <a:t>1</a:t>
            </a:r>
            <a:r>
              <a:rPr lang="zh-CN" altLang="en-US" dirty="0">
                <a:latin typeface="+mn-lt"/>
                <a:ea typeface="+mn-ea"/>
              </a:rPr>
              <a:t>，</a:t>
            </a:r>
            <a:r>
              <a:rPr lang="en-US" altLang="zh-CN" dirty="0">
                <a:latin typeface="+mn-lt"/>
                <a:ea typeface="+mn-ea"/>
              </a:rPr>
              <a:t>4</a:t>
            </a:r>
            <a:r>
              <a:rPr lang="zh-CN" altLang="en-US" dirty="0">
                <a:latin typeface="+mn-lt"/>
                <a:ea typeface="+mn-ea"/>
              </a:rPr>
              <a:t>，</a:t>
            </a:r>
            <a:r>
              <a:rPr lang="en-US" altLang="zh-CN" dirty="0">
                <a:latin typeface="+mn-lt"/>
                <a:ea typeface="+mn-ea"/>
              </a:rPr>
              <a:t>6</a:t>
            </a:r>
            <a:r>
              <a:rPr lang="zh-CN" altLang="en-US" dirty="0">
                <a:latin typeface="+mn-lt"/>
                <a:ea typeface="+mn-ea"/>
              </a:rPr>
              <a:t>可推出：</a:t>
            </a:r>
            <a:endParaRPr lang="zh-CN" altLang="en-US" dirty="0">
              <a:latin typeface="+mn-lt"/>
              <a:ea typeface="+mn-ea"/>
            </a:endParaRPr>
          </a:p>
          <a:p>
            <a:pPr marL="342900" indent="-342900" algn="l" eaLnBrk="1" hangingPunct="1">
              <a:buSzPct val="100000"/>
            </a:pPr>
            <a:r>
              <a:rPr lang="zh-CN" altLang="en-US" sz="2400" dirty="0">
                <a:latin typeface="+mn-lt"/>
                <a:ea typeface="+mn-ea"/>
                <a:cs typeface="+mn-cs"/>
              </a:rPr>
              <a:t>          </a:t>
            </a:r>
            <a:r>
              <a:rPr lang="en-US" altLang="zh-CN" sz="2400" dirty="0">
                <a:latin typeface="+mn-lt"/>
                <a:ea typeface="+mn-ea"/>
                <a:cs typeface="+mn-cs"/>
              </a:rPr>
              <a:t>σ</a:t>
            </a:r>
            <a:r>
              <a:rPr lang="en-US" altLang="zh-CN" sz="2400" baseline="-25000" dirty="0">
                <a:latin typeface="+mn-lt"/>
                <a:ea typeface="+mn-ea"/>
                <a:cs typeface="+mn-cs"/>
              </a:rPr>
              <a:t>F</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a:t>
            </a:r>
            <a:endParaRPr lang="zh-CN" altLang="en-US" sz="2400" dirty="0">
              <a:latin typeface="+mn-lt"/>
              <a:ea typeface="+mn-ea"/>
              <a:cs typeface="+mn-cs"/>
            </a:endParaRPr>
          </a:p>
          <a:p>
            <a:pPr marL="800100" lvl="1" indent="-342900" algn="l" eaLnBrk="1" hangingPunct="1">
              <a:buSzPct val="87000"/>
              <a:buFont typeface="Wingdings" panose="05000000000000000000" pitchFamily="2" charset="2"/>
              <a:buChar char="n"/>
            </a:pPr>
            <a:r>
              <a:rPr lang="zh-CN" altLang="en-US" dirty="0">
                <a:latin typeface="+mn-lt"/>
                <a:ea typeface="+mn-ea"/>
              </a:rPr>
              <a:t>若</a:t>
            </a:r>
            <a:r>
              <a:rPr lang="en-US" altLang="zh-CN" dirty="0">
                <a:latin typeface="+mn-lt"/>
                <a:ea typeface="+mn-ea"/>
              </a:rPr>
              <a:t>F</a:t>
            </a:r>
            <a:r>
              <a:rPr lang="en-US" altLang="zh-CN" baseline="-25000" dirty="0">
                <a:latin typeface="+mn-lt"/>
                <a:ea typeface="+mn-ea"/>
              </a:rPr>
              <a:t>1</a:t>
            </a:r>
            <a:r>
              <a:rPr lang="zh-CN" altLang="en-US" dirty="0">
                <a:latin typeface="+mn-lt"/>
                <a:ea typeface="+mn-ea"/>
              </a:rPr>
              <a:t>只涉及</a:t>
            </a:r>
            <a:r>
              <a:rPr lang="en-US" altLang="zh-CN" i="1" dirty="0">
                <a:latin typeface="+mn-lt"/>
                <a:ea typeface="+mn-ea"/>
              </a:rPr>
              <a:t>E</a:t>
            </a:r>
            <a:r>
              <a:rPr lang="en-US" altLang="zh-CN" baseline="-25000" dirty="0">
                <a:latin typeface="+mn-lt"/>
                <a:ea typeface="+mn-ea"/>
              </a:rPr>
              <a:t>1</a:t>
            </a:r>
            <a:r>
              <a:rPr lang="zh-CN" altLang="en-US" dirty="0">
                <a:latin typeface="+mn-lt"/>
                <a:ea typeface="+mn-ea"/>
              </a:rPr>
              <a:t>中的属性，</a:t>
            </a:r>
            <a:r>
              <a:rPr lang="en-US" altLang="zh-CN" dirty="0">
                <a:latin typeface="+mn-lt"/>
                <a:ea typeface="+mn-ea"/>
              </a:rPr>
              <a:t>F</a:t>
            </a:r>
            <a:r>
              <a:rPr lang="en-US" altLang="zh-CN" baseline="-25000" dirty="0">
                <a:latin typeface="+mn-lt"/>
                <a:ea typeface="+mn-ea"/>
              </a:rPr>
              <a:t>2</a:t>
            </a:r>
            <a:r>
              <a:rPr lang="zh-CN" altLang="en-US" dirty="0">
                <a:latin typeface="+mn-lt"/>
                <a:ea typeface="+mn-ea"/>
              </a:rPr>
              <a:t>涉及</a:t>
            </a:r>
            <a:r>
              <a:rPr lang="en-US" altLang="zh-CN" i="1" dirty="0">
                <a:latin typeface="+mn-lt"/>
                <a:ea typeface="+mn-ea"/>
              </a:rPr>
              <a:t>E</a:t>
            </a:r>
            <a:r>
              <a:rPr lang="en-US" altLang="zh-CN" baseline="-25000" dirty="0">
                <a:latin typeface="+mn-lt"/>
                <a:ea typeface="+mn-ea"/>
              </a:rPr>
              <a:t>1</a:t>
            </a:r>
            <a:r>
              <a:rPr lang="zh-CN" altLang="en-US" dirty="0">
                <a:latin typeface="+mn-lt"/>
                <a:ea typeface="+mn-ea"/>
              </a:rPr>
              <a:t>和</a:t>
            </a:r>
            <a:r>
              <a:rPr lang="en-US" altLang="zh-CN" i="1" dirty="0">
                <a:latin typeface="+mn-lt"/>
                <a:ea typeface="+mn-ea"/>
              </a:rPr>
              <a:t>E</a:t>
            </a:r>
            <a:r>
              <a:rPr lang="en-US" altLang="zh-CN" baseline="-25000" dirty="0">
                <a:latin typeface="+mn-lt"/>
                <a:ea typeface="+mn-ea"/>
              </a:rPr>
              <a:t>2</a:t>
            </a:r>
            <a:r>
              <a:rPr lang="zh-CN" altLang="en-US" dirty="0">
                <a:latin typeface="+mn-lt"/>
                <a:ea typeface="+mn-ea"/>
              </a:rPr>
              <a:t>两者的属性，则仍有</a:t>
            </a:r>
            <a:endParaRPr lang="zh-CN" altLang="en-US" dirty="0">
              <a:latin typeface="+mn-lt"/>
              <a:ea typeface="+mn-ea"/>
            </a:endParaRPr>
          </a:p>
          <a:p>
            <a:pPr marL="342900" indent="-342900" algn="l" eaLnBrk="1" hangingPunct="1">
              <a:buSzPct val="100000"/>
            </a:pPr>
            <a:r>
              <a:rPr lang="zh-CN" altLang="en-US" sz="2400" dirty="0">
                <a:latin typeface="+mn-lt"/>
                <a:ea typeface="+mn-ea"/>
                <a:cs typeface="+mn-cs"/>
              </a:rPr>
              <a:t>          </a:t>
            </a:r>
            <a:r>
              <a:rPr lang="en-US" altLang="zh-CN" sz="2400" dirty="0">
                <a:latin typeface="+mn-lt"/>
                <a:ea typeface="+mn-ea"/>
                <a:cs typeface="+mn-cs"/>
              </a:rPr>
              <a:t>σ</a:t>
            </a:r>
            <a:r>
              <a:rPr lang="en-US" altLang="zh-CN" sz="2400" baseline="-25000" dirty="0">
                <a:latin typeface="+mn-lt"/>
                <a:ea typeface="+mn-ea"/>
                <a:cs typeface="+mn-cs"/>
              </a:rPr>
              <a:t>F</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       (      (</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a:t>
            </a:r>
            <a:endParaRPr lang="zh-CN" altLang="en-US" sz="2400" dirty="0">
              <a:latin typeface="+mn-lt"/>
              <a:ea typeface="+mn-ea"/>
              <a:cs typeface="+mn-cs"/>
            </a:endParaRPr>
          </a:p>
          <a:p>
            <a:pPr marL="342900" indent="-342900" algn="l" eaLnBrk="1" hangingPunct="1">
              <a:buSzPct val="100000"/>
            </a:pPr>
            <a:r>
              <a:rPr lang="en-US" altLang="zh-CN" sz="2400" dirty="0">
                <a:latin typeface="+mn-lt"/>
                <a:ea typeface="+mn-ea"/>
                <a:cs typeface="+mn-cs"/>
              </a:rPr>
              <a:t>	      </a:t>
            </a:r>
            <a:r>
              <a:rPr lang="zh-CN" altLang="en-US" sz="2400" dirty="0">
                <a:latin typeface="+mn-lt"/>
                <a:ea typeface="+mn-ea"/>
                <a:cs typeface="+mn-cs"/>
              </a:rPr>
              <a:t>它使部分选择在笛卡尔积前先做。 </a:t>
            </a:r>
            <a:endParaRPr lang="zh-CN" altLang="en-US" sz="2400" dirty="0">
              <a:latin typeface="+mn-lt"/>
              <a:ea typeface="+mn-ea"/>
              <a:cs typeface="+mn-cs"/>
            </a:endParaRPr>
          </a:p>
        </p:txBody>
      </p:sp>
      <p:sp>
        <p:nvSpPr>
          <p:cNvPr id="64518" name="Rectangle 5"/>
          <p:cNvSpPr/>
          <p:nvPr/>
        </p:nvSpPr>
        <p:spPr>
          <a:xfrm>
            <a:off x="5222875" y="3214688"/>
            <a:ext cx="219075" cy="36830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4519" name="Object 4"/>
          <p:cNvGraphicFramePr>
            <a:graphicFrameLocks noChangeAspect="1"/>
          </p:cNvGraphicFramePr>
          <p:nvPr/>
        </p:nvGraphicFramePr>
        <p:xfrm>
          <a:off x="3754438" y="3387725"/>
          <a:ext cx="430212" cy="360363"/>
        </p:xfrm>
        <a:graphic>
          <a:graphicData uri="http://schemas.openxmlformats.org/presentationml/2006/ole">
            <mc:AlternateContent xmlns:mc="http://schemas.openxmlformats.org/markup-compatibility/2006">
              <mc:Choice xmlns:v="urn:schemas-microsoft-com:vml" Requires="v">
                <p:oleObj spid="_x0000_s3091" name="" r:id="rId1" imgW="241300" imgH="241300" progId="Equation.3">
                  <p:embed/>
                </p:oleObj>
              </mc:Choice>
              <mc:Fallback>
                <p:oleObj name="" r:id="rId1" imgW="241300" imgH="241300" progId="Equation.3">
                  <p:embed/>
                  <p:pic>
                    <p:nvPicPr>
                      <p:cNvPr id="0" name="图片 3090"/>
                      <p:cNvPicPr/>
                      <p:nvPr/>
                    </p:nvPicPr>
                    <p:blipFill>
                      <a:blip r:embed="rId2"/>
                      <a:stretch>
                        <a:fillRect/>
                      </a:stretch>
                    </p:blipFill>
                    <p:spPr>
                      <a:xfrm>
                        <a:off x="3754438" y="3387725"/>
                        <a:ext cx="430212" cy="360363"/>
                      </a:xfrm>
                      <a:prstGeom prst="rect">
                        <a:avLst/>
                      </a:prstGeom>
                      <a:noFill/>
                      <a:ln w="38100">
                        <a:noFill/>
                        <a:miter/>
                      </a:ln>
                    </p:spPr>
                  </p:pic>
                </p:oleObj>
              </mc:Fallback>
            </mc:AlternateContent>
          </a:graphicData>
        </a:graphic>
      </p:graphicFrame>
      <p:sp>
        <p:nvSpPr>
          <p:cNvPr id="64520" name="Rectangle 7"/>
          <p:cNvSpPr/>
          <p:nvPr/>
        </p:nvSpPr>
        <p:spPr>
          <a:xfrm>
            <a:off x="5222875" y="3214688"/>
            <a:ext cx="219075" cy="36830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4521" name="Object 6"/>
          <p:cNvGraphicFramePr>
            <a:graphicFrameLocks noChangeAspect="1"/>
          </p:cNvGraphicFramePr>
          <p:nvPr/>
        </p:nvGraphicFramePr>
        <p:xfrm>
          <a:off x="4846638" y="3346450"/>
          <a:ext cx="560387" cy="457200"/>
        </p:xfrm>
        <a:graphic>
          <a:graphicData uri="http://schemas.openxmlformats.org/presentationml/2006/ole">
            <mc:AlternateContent xmlns:mc="http://schemas.openxmlformats.org/markup-compatibility/2006">
              <mc:Choice xmlns:v="urn:schemas-microsoft-com:vml" Requires="v">
                <p:oleObj spid="_x0000_s3090" name="" r:id="rId3" imgW="254000" imgH="241300" progId="Equation.3">
                  <p:embed/>
                </p:oleObj>
              </mc:Choice>
              <mc:Fallback>
                <p:oleObj name="" r:id="rId3" imgW="254000" imgH="241300" progId="Equation.3">
                  <p:embed/>
                  <p:pic>
                    <p:nvPicPr>
                      <p:cNvPr id="0" name="图片 3089"/>
                      <p:cNvPicPr/>
                      <p:nvPr/>
                    </p:nvPicPr>
                    <p:blipFill>
                      <a:blip r:embed="rId4"/>
                      <a:stretch>
                        <a:fillRect/>
                      </a:stretch>
                    </p:blipFill>
                    <p:spPr>
                      <a:xfrm>
                        <a:off x="4846638" y="3346450"/>
                        <a:ext cx="560387" cy="457200"/>
                      </a:xfrm>
                      <a:prstGeom prst="rect">
                        <a:avLst/>
                      </a:prstGeom>
                      <a:noFill/>
                      <a:ln w="38100">
                        <a:noFill/>
                        <a:miter/>
                      </a:ln>
                    </p:spPr>
                  </p:pic>
                </p:oleObj>
              </mc:Fallback>
            </mc:AlternateContent>
          </a:graphicData>
        </a:graphic>
      </p:graphicFrame>
      <p:sp>
        <p:nvSpPr>
          <p:cNvPr id="64522" name="Rectangle 9"/>
          <p:cNvSpPr/>
          <p:nvPr/>
        </p:nvSpPr>
        <p:spPr>
          <a:xfrm>
            <a:off x="5222875" y="3214688"/>
            <a:ext cx="219075" cy="36830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4523" name="Object 8"/>
          <p:cNvGraphicFramePr>
            <a:graphicFrameLocks noChangeAspect="1"/>
          </p:cNvGraphicFramePr>
          <p:nvPr/>
        </p:nvGraphicFramePr>
        <p:xfrm>
          <a:off x="3792538" y="4235450"/>
          <a:ext cx="560387" cy="457200"/>
        </p:xfrm>
        <a:graphic>
          <a:graphicData uri="http://schemas.openxmlformats.org/presentationml/2006/ole">
            <mc:AlternateContent xmlns:mc="http://schemas.openxmlformats.org/markup-compatibility/2006">
              <mc:Choice xmlns:v="urn:schemas-microsoft-com:vml" Requires="v">
                <p:oleObj spid="_x0000_s3093" name="" r:id="rId5" imgW="254000" imgH="241300" progId="Equation.3">
                  <p:embed/>
                </p:oleObj>
              </mc:Choice>
              <mc:Fallback>
                <p:oleObj name="" r:id="rId5" imgW="254000" imgH="241300" progId="Equation.3">
                  <p:embed/>
                  <p:pic>
                    <p:nvPicPr>
                      <p:cNvPr id="0" name="图片 3092"/>
                      <p:cNvPicPr/>
                      <p:nvPr/>
                    </p:nvPicPr>
                    <p:blipFill>
                      <a:blip r:embed="rId4"/>
                      <a:stretch>
                        <a:fillRect/>
                      </a:stretch>
                    </p:blipFill>
                    <p:spPr>
                      <a:xfrm>
                        <a:off x="3792538" y="4235450"/>
                        <a:ext cx="560387" cy="457200"/>
                      </a:xfrm>
                      <a:prstGeom prst="rect">
                        <a:avLst/>
                      </a:prstGeom>
                      <a:noFill/>
                      <a:ln w="38100">
                        <a:noFill/>
                        <a:miter/>
                      </a:ln>
                    </p:spPr>
                  </p:pic>
                </p:oleObj>
              </mc:Fallback>
            </mc:AlternateContent>
          </a:graphicData>
        </a:graphic>
      </p:graphicFrame>
      <p:sp>
        <p:nvSpPr>
          <p:cNvPr id="64524" name="Rectangle 11"/>
          <p:cNvSpPr/>
          <p:nvPr/>
        </p:nvSpPr>
        <p:spPr>
          <a:xfrm>
            <a:off x="5222875" y="3214688"/>
            <a:ext cx="219075" cy="36830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4525" name="Object 10"/>
          <p:cNvGraphicFramePr>
            <a:graphicFrameLocks noChangeAspect="1"/>
          </p:cNvGraphicFramePr>
          <p:nvPr/>
        </p:nvGraphicFramePr>
        <p:xfrm>
          <a:off x="4440238" y="4229100"/>
          <a:ext cx="558800" cy="468313"/>
        </p:xfrm>
        <a:graphic>
          <a:graphicData uri="http://schemas.openxmlformats.org/presentationml/2006/ole">
            <mc:AlternateContent xmlns:mc="http://schemas.openxmlformats.org/markup-compatibility/2006">
              <mc:Choice xmlns:v="urn:schemas-microsoft-com:vml" Requires="v">
                <p:oleObj spid="_x0000_s3092" name="" r:id="rId6" imgW="241300" imgH="241300" progId="Equation.3">
                  <p:embed/>
                </p:oleObj>
              </mc:Choice>
              <mc:Fallback>
                <p:oleObj name="" r:id="rId6" imgW="241300" imgH="241300" progId="Equation.3">
                  <p:embed/>
                  <p:pic>
                    <p:nvPicPr>
                      <p:cNvPr id="0" name="图片 3091"/>
                      <p:cNvPicPr/>
                      <p:nvPr/>
                    </p:nvPicPr>
                    <p:blipFill>
                      <a:blip r:embed="rId2"/>
                      <a:stretch>
                        <a:fillRect/>
                      </a:stretch>
                    </p:blipFill>
                    <p:spPr>
                      <a:xfrm>
                        <a:off x="4440238" y="4229100"/>
                        <a:ext cx="558800" cy="468313"/>
                      </a:xfrm>
                      <a:prstGeom prst="rect">
                        <a:avLst/>
                      </a:prstGeom>
                      <a:noFill/>
                      <a:ln w="38100">
                        <a:noFill/>
                        <a:miter/>
                      </a:ln>
                    </p:spPr>
                  </p:pic>
                </p:oleObj>
              </mc:Fallback>
            </mc:AlternateContent>
          </a:graphicData>
        </a:graphic>
      </p:graphicFrame>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TextBox 3"/>
          <p:cNvSpPr/>
          <p:nvPr/>
        </p:nvSpPr>
        <p:spPr>
          <a:xfrm>
            <a:off x="7699375" y="6365875"/>
            <a:ext cx="1804988" cy="3048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 typeface="Arial" panose="020B0604020202020204" pitchFamily="34" charset="0"/>
              <a:buNone/>
            </a:pPr>
            <a:r>
              <a:rPr lang="zh-CN" altLang="zh-CN" sz="1400" dirty="0">
                <a:solidFill>
                  <a:srgbClr val="953734"/>
                </a:solidFill>
                <a:latin typeface="微软雅黑" panose="020B0503020204020204" charset="-122"/>
                <a:ea typeface="微软雅黑" panose="020B0503020204020204" charset="-122"/>
                <a:sym typeface="微软雅黑" panose="020B0503020204020204" charset="-122"/>
              </a:rPr>
              <a:t>*</a:t>
            </a:r>
            <a:endParaRPr lang="zh-CN" altLang="zh-CN" sz="1400" dirty="0">
              <a:solidFill>
                <a:srgbClr val="953734"/>
              </a:solidFill>
              <a:latin typeface="微软雅黑" panose="020B0503020204020204" charset="-122"/>
              <a:ea typeface="微软雅黑" panose="020B0503020204020204" charset="-122"/>
              <a:sym typeface="微软雅黑" panose="020B0503020204020204" charset="-122"/>
            </a:endParaRPr>
          </a:p>
        </p:txBody>
      </p:sp>
      <p:sp>
        <p:nvSpPr>
          <p:cNvPr id="65539" name="Rectangle 2"/>
          <p:cNvSpPr>
            <a:spLocks noGrp="1"/>
          </p:cNvSpPr>
          <p:nvPr>
            <p:ph type="title"/>
          </p:nvPr>
        </p:nvSpPr>
        <p:spPr>
          <a:xfrm>
            <a:off x="1981200" y="41275"/>
            <a:ext cx="8229600" cy="939800"/>
          </a:xfrm>
        </p:spPr>
        <p:txBody>
          <a:bodyPr vert="horz" wrap="square" lIns="91440" tIns="45720" rIns="91440" bIns="45720" anchor="ctr" anchorCtr="0"/>
          <a:p>
            <a:pPr eaLnBrk="1" hangingPunct="1"/>
            <a:r>
              <a:rPr lang="zh-CN" altLang="zh-CN" sz="3600" dirty="0"/>
              <a:t>关系代数表达式等价变换规则（续）</a:t>
            </a:r>
            <a:endParaRPr lang="zh-CN" altLang="zh-CN" sz="3600" dirty="0"/>
          </a:p>
        </p:txBody>
      </p:sp>
      <p:sp>
        <p:nvSpPr>
          <p:cNvPr id="65540" name="Rectangle 3"/>
          <p:cNvSpPr>
            <a:spLocks noGrp="1"/>
          </p:cNvSpPr>
          <p:nvPr>
            <p:ph type="subTitle" idx="1"/>
          </p:nvPr>
        </p:nvSpPr>
        <p:spPr>
          <a:xfrm>
            <a:off x="1227138" y="1171575"/>
            <a:ext cx="9764712" cy="4857750"/>
          </a:xfrm>
        </p:spPr>
        <p:txBody>
          <a:bodyPr vert="horz" wrap="square" lIns="91440" tIns="45720" rIns="91440" bIns="45720" anchor="t" anchorCtr="0"/>
          <a:p>
            <a:pPr marL="342900" indent="-342900" algn="l" eaLnBrk="1" hangingPunct="1">
              <a:lnSpc>
                <a:spcPct val="110000"/>
              </a:lnSpc>
              <a:buSzPct val="100000"/>
            </a:pPr>
            <a:r>
              <a:rPr lang="en-US" altLang="zh-CN" sz="2400" dirty="0">
                <a:latin typeface="+mn-lt"/>
                <a:ea typeface="+mn-ea"/>
                <a:cs typeface="+mn-cs"/>
              </a:rPr>
              <a:t>7. </a:t>
            </a:r>
            <a:r>
              <a:rPr lang="zh-CN" altLang="en-US" sz="2400" dirty="0">
                <a:latin typeface="+mn-lt"/>
                <a:ea typeface="+mn-ea"/>
                <a:cs typeface="+mn-cs"/>
              </a:rPr>
              <a:t>选择与并的分配律</a:t>
            </a:r>
            <a:endParaRPr lang="zh-CN" altLang="en-US" sz="2400" dirty="0">
              <a:latin typeface="+mn-lt"/>
              <a:ea typeface="+mn-ea"/>
              <a:cs typeface="+mn-cs"/>
            </a:endParaRPr>
          </a:p>
          <a:p>
            <a:pPr marL="342900" indent="-342900" algn="l" eaLnBrk="1" hangingPunct="1">
              <a:lnSpc>
                <a:spcPct val="110000"/>
              </a:lnSpc>
              <a:buSzPct val="100000"/>
            </a:pPr>
            <a:r>
              <a:rPr lang="zh-CN" altLang="en-US" sz="2400" dirty="0">
                <a:latin typeface="+mn-lt"/>
                <a:ea typeface="+mn-ea"/>
                <a:cs typeface="+mn-cs"/>
              </a:rPr>
              <a:t>	 设</a:t>
            </a:r>
            <a:r>
              <a:rPr lang="en-US" altLang="zh-CN" sz="2400" i="1" dirty="0">
                <a:latin typeface="+mn-lt"/>
                <a:ea typeface="+mn-ea"/>
                <a:cs typeface="+mn-cs"/>
              </a:rPr>
              <a:t>E</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2</a:t>
            </a:r>
            <a:r>
              <a:rPr lang="zh-CN" altLang="en-US"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1</a:t>
            </a:r>
            <a:r>
              <a:rPr lang="zh-CN" altLang="en-US"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2</a:t>
            </a:r>
            <a:r>
              <a:rPr lang="zh-CN" altLang="en-US" sz="2400" dirty="0">
                <a:latin typeface="+mn-lt"/>
                <a:ea typeface="+mn-ea"/>
                <a:cs typeface="+mn-cs"/>
              </a:rPr>
              <a:t>有相同的属性名，则</a:t>
            </a:r>
            <a:endParaRPr lang="zh-CN" altLang="en-US" sz="2400" dirty="0">
              <a:latin typeface="+mn-lt"/>
              <a:ea typeface="+mn-ea"/>
              <a:cs typeface="+mn-cs"/>
            </a:endParaRPr>
          </a:p>
          <a:p>
            <a:pPr marL="342900" indent="-342900" algn="l" eaLnBrk="1" hangingPunct="1">
              <a:lnSpc>
                <a:spcPct val="110000"/>
              </a:lnSpc>
              <a:buSzPct val="100000"/>
            </a:pPr>
            <a:r>
              <a:rPr lang="zh-CN" altLang="en-US" sz="2400" dirty="0">
                <a:latin typeface="+mn-lt"/>
                <a:ea typeface="+mn-ea"/>
                <a:cs typeface="+mn-cs"/>
              </a:rPr>
              <a:t>      </a:t>
            </a:r>
            <a:r>
              <a:rPr lang="en-US" altLang="zh-CN" sz="2400" dirty="0">
                <a:latin typeface="+mn-lt"/>
                <a:ea typeface="+mn-ea"/>
                <a:cs typeface="+mn-cs"/>
              </a:rPr>
              <a:t>σ</a:t>
            </a:r>
            <a:r>
              <a:rPr lang="en-US" altLang="zh-CN" sz="2400" baseline="-25000" dirty="0">
                <a:latin typeface="+mn-lt"/>
                <a:ea typeface="+mn-ea"/>
                <a:cs typeface="+mn-cs"/>
              </a:rPr>
              <a:t>F</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)≡σ</a:t>
            </a:r>
            <a:r>
              <a:rPr lang="en-US" altLang="zh-CN" sz="2400" baseline="-25000" dirty="0">
                <a:latin typeface="+mn-lt"/>
                <a:ea typeface="+mn-ea"/>
                <a:cs typeface="+mn-cs"/>
              </a:rPr>
              <a:t>F</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)∪σ</a:t>
            </a:r>
            <a:r>
              <a:rPr lang="en-US" altLang="zh-CN" sz="2400" baseline="-25000" dirty="0">
                <a:latin typeface="+mn-lt"/>
                <a:ea typeface="+mn-ea"/>
                <a:cs typeface="+mn-cs"/>
              </a:rPr>
              <a:t>F</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a:t>
            </a:r>
            <a:endParaRPr lang="zh-CN" altLang="en-US" sz="2400" dirty="0">
              <a:latin typeface="+mn-lt"/>
              <a:ea typeface="+mn-ea"/>
              <a:cs typeface="+mn-cs"/>
            </a:endParaRPr>
          </a:p>
          <a:p>
            <a:pPr marL="342900" indent="-342900" algn="l" eaLnBrk="1" hangingPunct="1">
              <a:lnSpc>
                <a:spcPct val="110000"/>
              </a:lnSpc>
              <a:buSzPct val="100000"/>
            </a:pPr>
            <a:r>
              <a:rPr lang="en-US" altLang="zh-CN" sz="2400" dirty="0">
                <a:latin typeface="+mn-lt"/>
                <a:ea typeface="+mn-ea"/>
                <a:cs typeface="+mn-cs"/>
              </a:rPr>
              <a:t>8. </a:t>
            </a:r>
            <a:r>
              <a:rPr lang="zh-CN" altLang="en-US" sz="2400" dirty="0">
                <a:latin typeface="+mn-lt"/>
                <a:ea typeface="+mn-ea"/>
                <a:cs typeface="+mn-cs"/>
              </a:rPr>
              <a:t>选择与差运算的分配律</a:t>
            </a:r>
            <a:endParaRPr lang="zh-CN" altLang="en-US" sz="2400" dirty="0">
              <a:latin typeface="+mn-lt"/>
              <a:ea typeface="+mn-ea"/>
              <a:cs typeface="+mn-cs"/>
            </a:endParaRPr>
          </a:p>
          <a:p>
            <a:pPr marL="342900" indent="-342900" algn="l" eaLnBrk="1" hangingPunct="1">
              <a:lnSpc>
                <a:spcPct val="110000"/>
              </a:lnSpc>
              <a:buSzPct val="100000"/>
            </a:pPr>
            <a:r>
              <a:rPr lang="zh-CN" altLang="en-US" sz="2400" dirty="0">
                <a:latin typeface="+mn-lt"/>
                <a:ea typeface="+mn-ea"/>
                <a:cs typeface="+mn-cs"/>
              </a:rPr>
              <a:t>	 若</a:t>
            </a:r>
            <a:r>
              <a:rPr lang="en-US" altLang="zh-CN" sz="2400" i="1" dirty="0">
                <a:latin typeface="+mn-lt"/>
                <a:ea typeface="+mn-ea"/>
                <a:cs typeface="+mn-cs"/>
              </a:rPr>
              <a:t>E</a:t>
            </a:r>
            <a:r>
              <a:rPr lang="en-US" altLang="zh-CN" sz="2400" baseline="-25000" dirty="0">
                <a:latin typeface="+mn-lt"/>
                <a:ea typeface="+mn-ea"/>
                <a:cs typeface="+mn-cs"/>
              </a:rPr>
              <a:t>1</a:t>
            </a:r>
            <a:r>
              <a:rPr lang="zh-CN" altLang="en-US" sz="2400" dirty="0">
                <a:latin typeface="+mn-lt"/>
                <a:ea typeface="+mn-ea"/>
                <a:cs typeface="+mn-cs"/>
              </a:rPr>
              <a:t>与</a:t>
            </a:r>
            <a:r>
              <a:rPr lang="en-US" altLang="zh-CN" sz="2400" i="1" dirty="0">
                <a:latin typeface="+mn-lt"/>
                <a:ea typeface="+mn-ea"/>
                <a:cs typeface="+mn-cs"/>
              </a:rPr>
              <a:t>E</a:t>
            </a:r>
            <a:r>
              <a:rPr lang="en-US" altLang="zh-CN" sz="2400" baseline="-25000" dirty="0">
                <a:latin typeface="+mn-lt"/>
                <a:ea typeface="+mn-ea"/>
                <a:cs typeface="+mn-cs"/>
              </a:rPr>
              <a:t>2</a:t>
            </a:r>
            <a:r>
              <a:rPr lang="zh-CN" altLang="en-US" sz="2400" dirty="0">
                <a:latin typeface="+mn-lt"/>
                <a:ea typeface="+mn-ea"/>
                <a:cs typeface="+mn-cs"/>
              </a:rPr>
              <a:t>有相同的属性名，则</a:t>
            </a:r>
            <a:endParaRPr lang="zh-CN" altLang="en-US" sz="2400" dirty="0">
              <a:latin typeface="+mn-lt"/>
              <a:ea typeface="+mn-ea"/>
              <a:cs typeface="+mn-cs"/>
            </a:endParaRPr>
          </a:p>
          <a:p>
            <a:pPr marL="342900" indent="-342900" algn="l" eaLnBrk="1" hangingPunct="1">
              <a:lnSpc>
                <a:spcPct val="110000"/>
              </a:lnSpc>
              <a:buSzPct val="100000"/>
            </a:pPr>
            <a:r>
              <a:rPr lang="zh-CN" altLang="en-US" sz="2400" dirty="0">
                <a:latin typeface="+mn-lt"/>
                <a:ea typeface="+mn-ea"/>
                <a:cs typeface="+mn-cs"/>
              </a:rPr>
              <a:t>      </a:t>
            </a:r>
            <a:r>
              <a:rPr lang="en-US" altLang="zh-CN" sz="2400" dirty="0">
                <a:latin typeface="+mn-lt"/>
                <a:ea typeface="+mn-ea"/>
                <a:cs typeface="+mn-cs"/>
              </a:rPr>
              <a:t>σ</a:t>
            </a:r>
            <a:r>
              <a:rPr lang="en-US" altLang="zh-CN" sz="2400" baseline="-25000" dirty="0">
                <a:latin typeface="+mn-lt"/>
                <a:ea typeface="+mn-ea"/>
                <a:cs typeface="+mn-cs"/>
              </a:rPr>
              <a:t>F</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)≡σ</a:t>
            </a:r>
            <a:r>
              <a:rPr lang="en-US" altLang="zh-CN" sz="2400" baseline="-25000" dirty="0">
                <a:latin typeface="+mn-lt"/>
                <a:ea typeface="+mn-ea"/>
                <a:cs typeface="+mn-cs"/>
              </a:rPr>
              <a:t>F</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)-σ</a:t>
            </a:r>
            <a:r>
              <a:rPr lang="en-US" altLang="zh-CN" sz="2400" baseline="-25000" dirty="0">
                <a:latin typeface="+mn-lt"/>
                <a:ea typeface="+mn-ea"/>
                <a:cs typeface="+mn-cs"/>
              </a:rPr>
              <a:t>F</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a:t>
            </a:r>
            <a:endParaRPr lang="zh-CN" altLang="en-US" sz="2400" dirty="0">
              <a:latin typeface="+mn-lt"/>
              <a:ea typeface="+mn-ea"/>
              <a:cs typeface="+mn-cs"/>
            </a:endParaRPr>
          </a:p>
          <a:p>
            <a:pPr marL="342900" indent="-342900" algn="l" eaLnBrk="1" hangingPunct="1">
              <a:lnSpc>
                <a:spcPct val="110000"/>
              </a:lnSpc>
              <a:buSzPct val="100000"/>
            </a:pPr>
            <a:r>
              <a:rPr lang="en-US" altLang="zh-CN" sz="2400" dirty="0">
                <a:latin typeface="+mn-lt"/>
                <a:ea typeface="+mn-ea"/>
                <a:cs typeface="+mn-cs"/>
              </a:rPr>
              <a:t>9. </a:t>
            </a:r>
            <a:r>
              <a:rPr lang="zh-CN" altLang="en-US" sz="2400" dirty="0">
                <a:latin typeface="+mn-lt"/>
                <a:ea typeface="+mn-ea"/>
                <a:cs typeface="+mn-cs"/>
              </a:rPr>
              <a:t>选择对自然连接的分配律</a:t>
            </a:r>
            <a:endParaRPr lang="zh-CN" altLang="en-US" sz="2400" dirty="0">
              <a:latin typeface="+mn-lt"/>
              <a:ea typeface="+mn-ea"/>
              <a:cs typeface="+mn-cs"/>
            </a:endParaRPr>
          </a:p>
          <a:p>
            <a:pPr marL="342900" indent="-342900" algn="l" eaLnBrk="1" hangingPunct="1">
              <a:lnSpc>
                <a:spcPct val="110000"/>
              </a:lnSpc>
              <a:buSzPct val="100000"/>
            </a:pPr>
            <a:r>
              <a:rPr lang="zh-CN" altLang="en-US" sz="2400" dirty="0">
                <a:latin typeface="+mn-lt"/>
                <a:ea typeface="+mn-ea"/>
                <a:cs typeface="+mn-cs"/>
              </a:rPr>
              <a:t>    </a:t>
            </a:r>
            <a:r>
              <a:rPr lang="en-US" altLang="zh-CN" sz="2400" dirty="0">
                <a:latin typeface="+mn-lt"/>
                <a:ea typeface="+mn-ea"/>
                <a:cs typeface="+mn-cs"/>
              </a:rPr>
              <a:t>σ</a:t>
            </a:r>
            <a:r>
              <a:rPr lang="en-US" altLang="zh-CN" sz="2400" baseline="-25000" dirty="0">
                <a:latin typeface="+mn-lt"/>
                <a:ea typeface="+mn-ea"/>
                <a:cs typeface="+mn-cs"/>
              </a:rPr>
              <a:t>F</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)≡σ</a:t>
            </a:r>
            <a:r>
              <a:rPr lang="en-US" altLang="zh-CN" sz="2400" baseline="-25000" dirty="0">
                <a:latin typeface="+mn-lt"/>
                <a:ea typeface="+mn-ea"/>
                <a:cs typeface="+mn-cs"/>
              </a:rPr>
              <a:t>F</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    σ</a:t>
            </a:r>
            <a:r>
              <a:rPr lang="en-US" altLang="zh-CN" sz="2400" baseline="-25000" dirty="0">
                <a:latin typeface="+mn-lt"/>
                <a:ea typeface="+mn-ea"/>
                <a:cs typeface="+mn-cs"/>
              </a:rPr>
              <a:t>F</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a:t>
            </a:r>
            <a:endParaRPr lang="zh-CN" altLang="en-US" sz="2400" dirty="0">
              <a:latin typeface="+mn-lt"/>
              <a:ea typeface="+mn-ea"/>
              <a:cs typeface="+mn-cs"/>
            </a:endParaRPr>
          </a:p>
          <a:p>
            <a:pPr marL="342900" indent="-342900" algn="l" eaLnBrk="1" hangingPunct="1">
              <a:lnSpc>
                <a:spcPct val="110000"/>
              </a:lnSpc>
              <a:buSzPct val="100000"/>
            </a:pPr>
            <a:r>
              <a:rPr lang="en-US" altLang="zh-CN" sz="2400" dirty="0">
                <a:latin typeface="+mn-lt"/>
                <a:ea typeface="+mn-ea"/>
                <a:cs typeface="+mn-cs"/>
              </a:rPr>
              <a:t>    F</a:t>
            </a:r>
            <a:r>
              <a:rPr lang="zh-CN" altLang="en-US" sz="2400" dirty="0">
                <a:latin typeface="+mn-lt"/>
                <a:ea typeface="+mn-ea"/>
                <a:cs typeface="+mn-cs"/>
              </a:rPr>
              <a:t>只涉及</a:t>
            </a:r>
            <a:r>
              <a:rPr lang="en-US" altLang="zh-CN" sz="2400" i="1" dirty="0">
                <a:latin typeface="+mn-lt"/>
                <a:ea typeface="+mn-ea"/>
                <a:cs typeface="+mn-cs"/>
              </a:rPr>
              <a:t>E</a:t>
            </a:r>
            <a:r>
              <a:rPr lang="en-US" altLang="zh-CN" sz="2400" baseline="-25000" dirty="0">
                <a:latin typeface="+mn-lt"/>
                <a:ea typeface="+mn-ea"/>
                <a:cs typeface="+mn-cs"/>
              </a:rPr>
              <a:t>1</a:t>
            </a:r>
            <a:r>
              <a:rPr lang="zh-CN" altLang="en-US" sz="2400" dirty="0">
                <a:latin typeface="+mn-lt"/>
                <a:ea typeface="+mn-ea"/>
                <a:cs typeface="+mn-cs"/>
              </a:rPr>
              <a:t>与</a:t>
            </a:r>
            <a:r>
              <a:rPr lang="en-US" altLang="zh-CN" sz="2400" i="1" dirty="0">
                <a:latin typeface="+mn-lt"/>
                <a:ea typeface="+mn-ea"/>
                <a:cs typeface="+mn-cs"/>
              </a:rPr>
              <a:t>E</a:t>
            </a:r>
            <a:r>
              <a:rPr lang="en-US" altLang="zh-CN" sz="2400" baseline="-25000" dirty="0">
                <a:latin typeface="+mn-lt"/>
                <a:ea typeface="+mn-ea"/>
                <a:cs typeface="+mn-cs"/>
              </a:rPr>
              <a:t>2</a:t>
            </a:r>
            <a:r>
              <a:rPr lang="zh-CN" altLang="en-US" sz="2400" dirty="0">
                <a:latin typeface="+mn-lt"/>
                <a:ea typeface="+mn-ea"/>
                <a:cs typeface="+mn-cs"/>
              </a:rPr>
              <a:t>的公共属性</a:t>
            </a:r>
            <a:r>
              <a:rPr lang="zh-CN" altLang="en-US" dirty="0">
                <a:latin typeface="+mn-lt"/>
                <a:ea typeface="+mn-ea"/>
                <a:cs typeface="+mn-cs"/>
              </a:rPr>
              <a:t> </a:t>
            </a:r>
            <a:endParaRPr lang="zh-CN" altLang="en-US" dirty="0">
              <a:latin typeface="+mn-lt"/>
              <a:ea typeface="+mn-ea"/>
              <a:cs typeface="+mn-cs"/>
            </a:endParaRPr>
          </a:p>
        </p:txBody>
      </p:sp>
      <p:grpSp>
        <p:nvGrpSpPr>
          <p:cNvPr id="65541" name="Group 4"/>
          <p:cNvGrpSpPr/>
          <p:nvPr/>
        </p:nvGrpSpPr>
        <p:grpSpPr>
          <a:xfrm>
            <a:off x="3686175" y="4660900"/>
            <a:ext cx="1617663" cy="825500"/>
            <a:chOff x="2325" y="6446"/>
            <a:chExt cx="705" cy="367"/>
          </a:xfrm>
        </p:grpSpPr>
        <p:sp>
          <p:nvSpPr>
            <p:cNvPr id="65545" name="AutoShape 5"/>
            <p:cNvSpPr/>
            <p:nvPr/>
          </p:nvSpPr>
          <p:spPr>
            <a:xfrm rot="5400000" flipV="1">
              <a:off x="2612" y="6414"/>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65546" name="Text Box 6"/>
            <p:cNvSpPr txBox="1"/>
            <p:nvPr/>
          </p:nvSpPr>
          <p:spPr>
            <a:xfrm flipV="1">
              <a:off x="2325" y="6450"/>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lnSpc>
                  <a:spcPct val="80000"/>
                </a:lnSpc>
                <a:spcBef>
                  <a:spcPct val="0"/>
                </a:spcBef>
                <a:buSzTx/>
                <a:buFont typeface="Arial" panose="020B0604020202020204" pitchFamily="34" charset="0"/>
                <a:buNone/>
              </a:pPr>
              <a:r>
                <a:rPr lang="en-US" altLang="zh-CN" sz="600" i="1" dirty="0"/>
                <a:t> </a:t>
              </a:r>
              <a:endParaRPr lang="en-US" altLang="zh-CN" sz="600" dirty="0"/>
            </a:p>
          </p:txBody>
        </p:sp>
      </p:grpSp>
      <p:grpSp>
        <p:nvGrpSpPr>
          <p:cNvPr id="65542" name="Group 4"/>
          <p:cNvGrpSpPr/>
          <p:nvPr/>
        </p:nvGrpSpPr>
        <p:grpSpPr>
          <a:xfrm>
            <a:off x="1885950" y="4627563"/>
            <a:ext cx="1617663" cy="825500"/>
            <a:chOff x="2325" y="6446"/>
            <a:chExt cx="705" cy="367"/>
          </a:xfrm>
        </p:grpSpPr>
        <p:sp>
          <p:nvSpPr>
            <p:cNvPr id="65543" name="AutoShape 5"/>
            <p:cNvSpPr/>
            <p:nvPr/>
          </p:nvSpPr>
          <p:spPr>
            <a:xfrm rot="5400000" flipV="1">
              <a:off x="2612" y="6414"/>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65544" name="Text Box 6"/>
            <p:cNvSpPr txBox="1"/>
            <p:nvPr/>
          </p:nvSpPr>
          <p:spPr>
            <a:xfrm flipV="1">
              <a:off x="2325" y="6450"/>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lnSpc>
                  <a:spcPct val="80000"/>
                </a:lnSpc>
                <a:spcBef>
                  <a:spcPct val="0"/>
                </a:spcBef>
                <a:buSzTx/>
                <a:buFont typeface="Arial" panose="020B0604020202020204" pitchFamily="34" charset="0"/>
                <a:buNone/>
              </a:pPr>
              <a:r>
                <a:rPr lang="en-US" altLang="zh-CN" sz="600" i="1" dirty="0"/>
                <a:t> </a:t>
              </a:r>
              <a:endParaRPr lang="en-US" altLang="zh-CN" sz="600" dirty="0"/>
            </a:p>
          </p:txBody>
        </p:sp>
      </p:gr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TextBox 3"/>
          <p:cNvSpPr/>
          <p:nvPr/>
        </p:nvSpPr>
        <p:spPr>
          <a:xfrm>
            <a:off x="8453438" y="6357938"/>
            <a:ext cx="1785937" cy="3048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 typeface="Arial" panose="020B0604020202020204" pitchFamily="34" charset="0"/>
              <a:buNone/>
            </a:pPr>
            <a:r>
              <a:rPr lang="zh-CN" altLang="zh-CN" sz="1400" dirty="0">
                <a:solidFill>
                  <a:srgbClr val="953734"/>
                </a:solidFill>
                <a:latin typeface="微软雅黑" panose="020B0503020204020204" charset="-122"/>
                <a:ea typeface="微软雅黑" panose="020B0503020204020204" charset="-122"/>
                <a:sym typeface="微软雅黑" panose="020B0503020204020204" charset="-122"/>
              </a:rPr>
              <a:t>*</a:t>
            </a:r>
            <a:endParaRPr lang="zh-CN" altLang="zh-CN" sz="1400" dirty="0">
              <a:solidFill>
                <a:srgbClr val="953734"/>
              </a:solidFill>
              <a:latin typeface="微软雅黑" panose="020B0503020204020204" charset="-122"/>
              <a:ea typeface="微软雅黑" panose="020B0503020204020204" charset="-122"/>
              <a:sym typeface="微软雅黑" panose="020B0503020204020204" charset="-122"/>
            </a:endParaRPr>
          </a:p>
        </p:txBody>
      </p:sp>
      <p:sp>
        <p:nvSpPr>
          <p:cNvPr id="66563" name="文本框 4"/>
          <p:cNvSpPr/>
          <p:nvPr/>
        </p:nvSpPr>
        <p:spPr>
          <a:xfrm>
            <a:off x="2063750" y="6334125"/>
            <a:ext cx="2160588" cy="246063"/>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 typeface="Arial" panose="020B0604020202020204" pitchFamily="34" charset="0"/>
              <a:buNone/>
            </a:pPr>
            <a:endParaRPr lang="zh-CN" altLang="zh-CN" sz="1000" b="0" dirty="0">
              <a:solidFill>
                <a:srgbClr val="000000"/>
              </a:solidFill>
              <a:latin typeface="Times New Roman" panose="02020603050405020304" charset="0"/>
              <a:ea typeface="黑体" panose="02010609060101010101" pitchFamily="49" charset="-122"/>
              <a:sym typeface="宋体" panose="02010600030101010101" pitchFamily="2" charset="-122"/>
            </a:endParaRPr>
          </a:p>
        </p:txBody>
      </p:sp>
      <p:sp>
        <p:nvSpPr>
          <p:cNvPr id="66564" name="Rectangle 2"/>
          <p:cNvSpPr>
            <a:spLocks noGrp="1"/>
          </p:cNvSpPr>
          <p:nvPr>
            <p:ph type="title"/>
          </p:nvPr>
        </p:nvSpPr>
        <p:spPr>
          <a:xfrm>
            <a:off x="1981200" y="41275"/>
            <a:ext cx="8229600" cy="939800"/>
          </a:xfrm>
        </p:spPr>
        <p:txBody>
          <a:bodyPr vert="horz" wrap="square" lIns="91440" tIns="45720" rIns="91440" bIns="45720" anchor="ctr" anchorCtr="0"/>
          <a:p>
            <a:pPr eaLnBrk="1" hangingPunct="1"/>
            <a:r>
              <a:rPr lang="zh-CN" altLang="zh-CN" sz="3600" dirty="0"/>
              <a:t>关系代数表达式等价变换规则（续）</a:t>
            </a:r>
            <a:endParaRPr lang="zh-CN" altLang="zh-CN" sz="3600" dirty="0"/>
          </a:p>
        </p:txBody>
      </p:sp>
      <p:sp>
        <p:nvSpPr>
          <p:cNvPr id="66565" name="Rectangle 3"/>
          <p:cNvSpPr>
            <a:spLocks noGrp="1"/>
          </p:cNvSpPr>
          <p:nvPr>
            <p:ph type="subTitle" idx="1"/>
          </p:nvPr>
        </p:nvSpPr>
        <p:spPr>
          <a:xfrm>
            <a:off x="1271588" y="1243013"/>
            <a:ext cx="8229600" cy="4857750"/>
          </a:xfrm>
        </p:spPr>
        <p:txBody>
          <a:bodyPr vert="horz" wrap="square" lIns="91440" tIns="45720" rIns="91440" bIns="45720" anchor="t" anchorCtr="0"/>
          <a:p>
            <a:pPr marL="342900" indent="-342900" algn="l" eaLnBrk="1" hangingPunct="1">
              <a:lnSpc>
                <a:spcPct val="140000"/>
              </a:lnSpc>
              <a:buSzPct val="100000"/>
            </a:pPr>
            <a:r>
              <a:rPr lang="en-US" altLang="zh-CN" sz="2400" dirty="0">
                <a:latin typeface="+mn-lt"/>
                <a:ea typeface="+mn-ea"/>
                <a:cs typeface="+mn-cs"/>
              </a:rPr>
              <a:t>10. </a:t>
            </a:r>
            <a:r>
              <a:rPr lang="zh-CN" altLang="en-US" sz="2400" dirty="0">
                <a:latin typeface="+mn-lt"/>
                <a:ea typeface="+mn-ea"/>
                <a:cs typeface="+mn-cs"/>
              </a:rPr>
              <a:t>投影与笛卡尔积的分配律</a:t>
            </a:r>
            <a:endParaRPr lang="zh-CN" altLang="en-US" sz="2400" dirty="0">
              <a:latin typeface="+mn-lt"/>
              <a:ea typeface="+mn-ea"/>
              <a:cs typeface="+mn-cs"/>
            </a:endParaRPr>
          </a:p>
          <a:p>
            <a:pPr marL="342900" indent="-342900" algn="l" eaLnBrk="1" hangingPunct="1">
              <a:lnSpc>
                <a:spcPct val="140000"/>
              </a:lnSpc>
              <a:spcBef>
                <a:spcPct val="0"/>
              </a:spcBef>
              <a:buSzPct val="100000"/>
            </a:pPr>
            <a:r>
              <a:rPr lang="zh-CN" altLang="en-US" sz="2400" dirty="0">
                <a:latin typeface="+mn-lt"/>
                <a:ea typeface="+mn-ea"/>
                <a:cs typeface="+mn-cs"/>
              </a:rPr>
              <a:t>	  设</a:t>
            </a:r>
            <a:r>
              <a:rPr lang="en-US" altLang="zh-CN" sz="2400" i="1" dirty="0">
                <a:latin typeface="+mn-lt"/>
                <a:ea typeface="+mn-ea"/>
                <a:cs typeface="+mn-cs"/>
              </a:rPr>
              <a:t>E</a:t>
            </a:r>
            <a:r>
              <a:rPr lang="en-US" altLang="zh-CN" sz="2400" baseline="-25000" dirty="0">
                <a:latin typeface="+mn-lt"/>
                <a:ea typeface="+mn-ea"/>
                <a:cs typeface="+mn-cs"/>
              </a:rPr>
              <a:t>1</a:t>
            </a:r>
            <a:r>
              <a:rPr lang="zh-CN" altLang="en-US" sz="2400" dirty="0">
                <a:latin typeface="+mn-lt"/>
                <a:ea typeface="+mn-ea"/>
                <a:cs typeface="+mn-cs"/>
              </a:rPr>
              <a:t>和</a:t>
            </a:r>
            <a:r>
              <a:rPr lang="en-US" altLang="zh-CN" sz="2400" i="1" dirty="0">
                <a:latin typeface="+mn-lt"/>
                <a:ea typeface="+mn-ea"/>
                <a:cs typeface="+mn-cs"/>
              </a:rPr>
              <a:t>E</a:t>
            </a:r>
            <a:r>
              <a:rPr lang="en-US" altLang="zh-CN" sz="2400" baseline="-25000" dirty="0">
                <a:latin typeface="+mn-lt"/>
                <a:ea typeface="+mn-ea"/>
                <a:cs typeface="+mn-cs"/>
              </a:rPr>
              <a:t>2</a:t>
            </a:r>
            <a:r>
              <a:rPr lang="zh-CN" altLang="en-US" sz="2400" dirty="0">
                <a:latin typeface="+mn-lt"/>
                <a:ea typeface="+mn-ea"/>
                <a:cs typeface="+mn-cs"/>
              </a:rPr>
              <a:t>是两个关系表达式，</a:t>
            </a:r>
            <a:r>
              <a:rPr lang="en-US" altLang="zh-CN" sz="2400" i="1" dirty="0">
                <a:latin typeface="+mn-lt"/>
                <a:ea typeface="+mn-ea"/>
                <a:cs typeface="+mn-cs"/>
              </a:rPr>
              <a:t>A</a:t>
            </a:r>
            <a:r>
              <a:rPr lang="en-US" altLang="zh-CN" sz="2400" baseline="-25000" dirty="0">
                <a:latin typeface="+mn-lt"/>
                <a:ea typeface="+mn-ea"/>
                <a:cs typeface="+mn-cs"/>
              </a:rPr>
              <a:t>1</a:t>
            </a:r>
            <a:r>
              <a:rPr lang="zh-CN" altLang="en-US" sz="2400" dirty="0">
                <a:latin typeface="+mn-lt"/>
                <a:ea typeface="+mn-ea"/>
                <a:cs typeface="+mn-cs"/>
              </a:rPr>
              <a:t>，</a:t>
            </a:r>
            <a:r>
              <a:rPr lang="en-US" altLang="zh-CN" sz="2400" dirty="0">
                <a:latin typeface="+mn-lt"/>
                <a:ea typeface="+mn-ea"/>
                <a:cs typeface="+mn-cs"/>
              </a:rPr>
              <a:t>…</a:t>
            </a:r>
            <a:r>
              <a:rPr lang="zh-CN" altLang="en-US" sz="2400" dirty="0">
                <a:latin typeface="+mn-lt"/>
                <a:ea typeface="+mn-ea"/>
                <a:cs typeface="+mn-cs"/>
              </a:rPr>
              <a:t>，</a:t>
            </a:r>
            <a:r>
              <a:rPr lang="en-US" altLang="zh-CN" sz="2400" i="1" dirty="0">
                <a:latin typeface="+mn-lt"/>
                <a:ea typeface="+mn-ea"/>
                <a:cs typeface="+mn-cs"/>
              </a:rPr>
              <a:t>A</a:t>
            </a:r>
            <a:r>
              <a:rPr lang="en-US" altLang="zh-CN" sz="2400" baseline="-25000" dirty="0">
                <a:latin typeface="+mn-lt"/>
                <a:ea typeface="+mn-ea"/>
                <a:cs typeface="+mn-cs"/>
              </a:rPr>
              <a:t>n</a:t>
            </a:r>
            <a:r>
              <a:rPr lang="zh-CN" altLang="en-US" sz="2400" dirty="0">
                <a:latin typeface="+mn-lt"/>
                <a:ea typeface="+mn-ea"/>
                <a:cs typeface="+mn-cs"/>
              </a:rPr>
              <a:t>是</a:t>
            </a:r>
            <a:r>
              <a:rPr lang="en-US" altLang="zh-CN" sz="2400" i="1" dirty="0">
                <a:latin typeface="+mn-lt"/>
                <a:ea typeface="+mn-ea"/>
                <a:cs typeface="+mn-cs"/>
              </a:rPr>
              <a:t>E</a:t>
            </a:r>
            <a:r>
              <a:rPr lang="en-US" altLang="zh-CN" sz="2400" baseline="-25000" dirty="0">
                <a:latin typeface="+mn-lt"/>
                <a:ea typeface="+mn-ea"/>
                <a:cs typeface="+mn-cs"/>
              </a:rPr>
              <a:t>1</a:t>
            </a:r>
            <a:r>
              <a:rPr lang="zh-CN" altLang="en-US" sz="2400" dirty="0">
                <a:latin typeface="+mn-lt"/>
                <a:ea typeface="+mn-ea"/>
                <a:cs typeface="+mn-cs"/>
              </a:rPr>
              <a:t>的属性，   </a:t>
            </a:r>
            <a:endParaRPr lang="en-US" altLang="zh-CN" sz="2400" dirty="0">
              <a:latin typeface="+mn-lt"/>
              <a:ea typeface="+mn-ea"/>
              <a:cs typeface="+mn-cs"/>
            </a:endParaRPr>
          </a:p>
          <a:p>
            <a:pPr marL="342900" indent="-342900" algn="l" eaLnBrk="1" hangingPunct="1">
              <a:lnSpc>
                <a:spcPct val="140000"/>
              </a:lnSpc>
              <a:spcBef>
                <a:spcPct val="0"/>
              </a:spcBef>
              <a:buSzPct val="100000"/>
            </a:pPr>
            <a:r>
              <a:rPr lang="en-US" altLang="zh-CN" sz="2400" i="1" dirty="0">
                <a:latin typeface="+mn-lt"/>
                <a:ea typeface="+mn-ea"/>
                <a:cs typeface="+mn-cs"/>
              </a:rPr>
              <a:t>      B</a:t>
            </a:r>
            <a:r>
              <a:rPr lang="en-US" altLang="zh-CN" sz="2400" baseline="-25000" dirty="0">
                <a:latin typeface="+mn-lt"/>
                <a:ea typeface="+mn-ea"/>
                <a:cs typeface="+mn-cs"/>
              </a:rPr>
              <a:t>1</a:t>
            </a:r>
            <a:r>
              <a:rPr lang="zh-CN" altLang="en-US" sz="2400" dirty="0">
                <a:latin typeface="+mn-lt"/>
                <a:ea typeface="+mn-ea"/>
                <a:cs typeface="+mn-cs"/>
              </a:rPr>
              <a:t>，</a:t>
            </a:r>
            <a:r>
              <a:rPr lang="en-US" altLang="zh-CN" sz="2400" dirty="0">
                <a:latin typeface="+mn-lt"/>
                <a:ea typeface="+mn-ea"/>
                <a:cs typeface="+mn-cs"/>
              </a:rPr>
              <a:t>…</a:t>
            </a:r>
            <a:r>
              <a:rPr lang="zh-CN" altLang="en-US" sz="2400" dirty="0">
                <a:latin typeface="+mn-lt"/>
                <a:ea typeface="+mn-ea"/>
                <a:cs typeface="+mn-cs"/>
              </a:rPr>
              <a:t>，</a:t>
            </a:r>
            <a:r>
              <a:rPr lang="en-US" altLang="zh-CN" sz="2400" i="1" dirty="0">
                <a:latin typeface="+mn-lt"/>
                <a:ea typeface="+mn-ea"/>
                <a:cs typeface="+mn-cs"/>
              </a:rPr>
              <a:t>B</a:t>
            </a:r>
            <a:r>
              <a:rPr lang="en-US" altLang="zh-CN" sz="2400" baseline="-25000" dirty="0">
                <a:latin typeface="+mn-lt"/>
                <a:ea typeface="+mn-ea"/>
                <a:cs typeface="+mn-cs"/>
              </a:rPr>
              <a:t>m</a:t>
            </a:r>
            <a:r>
              <a:rPr lang="zh-CN" altLang="en-US" sz="2400" dirty="0">
                <a:latin typeface="+mn-lt"/>
                <a:ea typeface="+mn-ea"/>
                <a:cs typeface="+mn-cs"/>
              </a:rPr>
              <a:t>是</a:t>
            </a:r>
            <a:r>
              <a:rPr lang="en-US" altLang="zh-CN" sz="2400" i="1" dirty="0">
                <a:latin typeface="+mn-lt"/>
                <a:ea typeface="+mn-ea"/>
                <a:cs typeface="+mn-cs"/>
              </a:rPr>
              <a:t>E</a:t>
            </a:r>
            <a:r>
              <a:rPr lang="en-US" altLang="zh-CN" sz="2400" baseline="-25000" dirty="0">
                <a:latin typeface="+mn-lt"/>
                <a:ea typeface="+mn-ea"/>
                <a:cs typeface="+mn-cs"/>
              </a:rPr>
              <a:t>2</a:t>
            </a:r>
            <a:r>
              <a:rPr lang="zh-CN" altLang="en-US" sz="2400" dirty="0">
                <a:latin typeface="+mn-lt"/>
                <a:ea typeface="+mn-ea"/>
                <a:cs typeface="+mn-cs"/>
              </a:rPr>
              <a:t>的属性，则</a:t>
            </a:r>
            <a:endParaRPr lang="zh-CN" altLang="en-US" sz="2400" dirty="0">
              <a:latin typeface="+mn-lt"/>
              <a:ea typeface="+mn-ea"/>
              <a:cs typeface="+mn-cs"/>
            </a:endParaRPr>
          </a:p>
          <a:p>
            <a:pPr marL="342900" indent="-342900" algn="l" eaLnBrk="1" hangingPunct="1">
              <a:lnSpc>
                <a:spcPct val="140000"/>
              </a:lnSpc>
              <a:buSzPct val="100000"/>
            </a:pPr>
            <a:r>
              <a:rPr lang="zh-CN" altLang="en-US" sz="2400" dirty="0">
                <a:latin typeface="+mn-lt"/>
                <a:ea typeface="+mn-ea"/>
                <a:cs typeface="+mn-cs"/>
              </a:rPr>
              <a:t>                          </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a:t>
            </a:r>
            <a:endParaRPr lang="zh-CN" altLang="en-US" sz="2400" dirty="0">
              <a:latin typeface="+mn-lt"/>
              <a:ea typeface="+mn-ea"/>
              <a:cs typeface="+mn-cs"/>
            </a:endParaRPr>
          </a:p>
          <a:p>
            <a:pPr marL="342900" indent="-342900" algn="l" eaLnBrk="1" hangingPunct="1">
              <a:lnSpc>
                <a:spcPct val="140000"/>
              </a:lnSpc>
              <a:buSzPct val="100000"/>
            </a:pPr>
            <a:r>
              <a:rPr lang="en-US" altLang="zh-CN" sz="2400" dirty="0">
                <a:latin typeface="+mn-lt"/>
                <a:ea typeface="+mn-ea"/>
                <a:cs typeface="+mn-cs"/>
              </a:rPr>
              <a:t>11. </a:t>
            </a:r>
            <a:r>
              <a:rPr lang="zh-CN" altLang="en-US" sz="2400" dirty="0">
                <a:latin typeface="+mn-lt"/>
                <a:ea typeface="+mn-ea"/>
                <a:cs typeface="+mn-cs"/>
              </a:rPr>
              <a:t>投影与并的分配律</a:t>
            </a:r>
            <a:endParaRPr lang="zh-CN" altLang="en-US" sz="2400" dirty="0">
              <a:latin typeface="+mn-lt"/>
              <a:ea typeface="+mn-ea"/>
              <a:cs typeface="+mn-cs"/>
            </a:endParaRPr>
          </a:p>
          <a:p>
            <a:pPr marL="342900" indent="-342900" algn="l" eaLnBrk="1" hangingPunct="1">
              <a:lnSpc>
                <a:spcPct val="140000"/>
              </a:lnSpc>
              <a:buSzPct val="100000"/>
            </a:pPr>
            <a:r>
              <a:rPr lang="zh-CN" altLang="en-US" sz="2400" dirty="0">
                <a:latin typeface="+mn-lt"/>
                <a:ea typeface="+mn-ea"/>
                <a:cs typeface="+mn-cs"/>
              </a:rPr>
              <a:t>	  设</a:t>
            </a:r>
            <a:r>
              <a:rPr lang="en-US" altLang="zh-CN" sz="2400" i="1" dirty="0">
                <a:latin typeface="+mn-lt"/>
                <a:ea typeface="+mn-ea"/>
                <a:cs typeface="+mn-cs"/>
              </a:rPr>
              <a:t>E</a:t>
            </a:r>
            <a:r>
              <a:rPr lang="en-US" altLang="zh-CN" sz="2400" baseline="-25000" dirty="0">
                <a:latin typeface="+mn-lt"/>
                <a:ea typeface="+mn-ea"/>
                <a:cs typeface="+mn-cs"/>
              </a:rPr>
              <a:t>1</a:t>
            </a:r>
            <a:r>
              <a:rPr lang="zh-CN" altLang="en-US" sz="2400" dirty="0">
                <a:latin typeface="+mn-lt"/>
                <a:ea typeface="+mn-ea"/>
                <a:cs typeface="+mn-cs"/>
              </a:rPr>
              <a:t>和</a:t>
            </a:r>
            <a:r>
              <a:rPr lang="en-US" altLang="zh-CN" sz="2400" i="1" dirty="0">
                <a:latin typeface="+mn-lt"/>
                <a:ea typeface="+mn-ea"/>
                <a:cs typeface="+mn-cs"/>
              </a:rPr>
              <a:t>E</a:t>
            </a:r>
            <a:r>
              <a:rPr lang="en-US" altLang="zh-CN" sz="2400" baseline="-25000" dirty="0">
                <a:latin typeface="+mn-lt"/>
                <a:ea typeface="+mn-ea"/>
                <a:cs typeface="+mn-cs"/>
              </a:rPr>
              <a:t>2</a:t>
            </a:r>
            <a:r>
              <a:rPr lang="zh-CN" altLang="en-US" sz="2400" dirty="0">
                <a:latin typeface="+mn-lt"/>
                <a:ea typeface="+mn-ea"/>
                <a:cs typeface="+mn-cs"/>
              </a:rPr>
              <a:t>有相同的属性名，则</a:t>
            </a:r>
            <a:endParaRPr lang="zh-CN" altLang="en-US" sz="2400" dirty="0">
              <a:latin typeface="+mn-lt"/>
              <a:ea typeface="+mn-ea"/>
              <a:cs typeface="+mn-cs"/>
            </a:endParaRPr>
          </a:p>
          <a:p>
            <a:pPr marL="342900" indent="-342900" algn="l" eaLnBrk="1" hangingPunct="1">
              <a:lnSpc>
                <a:spcPct val="140000"/>
              </a:lnSpc>
              <a:buSzPct val="100000"/>
            </a:pPr>
            <a:r>
              <a:rPr lang="zh-CN" altLang="en-US" sz="2400" dirty="0">
                <a:latin typeface="+mn-lt"/>
                <a:ea typeface="+mn-ea"/>
                <a:cs typeface="+mn-cs"/>
              </a:rPr>
              <a:t>	                 </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1</a:t>
            </a:r>
            <a:r>
              <a:rPr lang="en-US" altLang="zh-CN" sz="2400" dirty="0">
                <a:latin typeface="+mn-lt"/>
                <a:ea typeface="+mn-ea"/>
                <a:cs typeface="+mn-cs"/>
              </a:rPr>
              <a:t>)∪            (</a:t>
            </a:r>
            <a:r>
              <a:rPr lang="en-US" altLang="zh-CN" sz="2400" i="1" dirty="0">
                <a:latin typeface="+mn-lt"/>
                <a:ea typeface="+mn-ea"/>
                <a:cs typeface="+mn-cs"/>
              </a:rPr>
              <a:t>E</a:t>
            </a:r>
            <a:r>
              <a:rPr lang="en-US" altLang="zh-CN" sz="2400" baseline="-25000" dirty="0">
                <a:latin typeface="+mn-lt"/>
                <a:ea typeface="+mn-ea"/>
                <a:cs typeface="+mn-cs"/>
              </a:rPr>
              <a:t>2</a:t>
            </a:r>
            <a:r>
              <a:rPr lang="en-US" altLang="zh-CN" sz="2400" dirty="0">
                <a:latin typeface="+mn-lt"/>
                <a:ea typeface="+mn-ea"/>
                <a:cs typeface="+mn-cs"/>
              </a:rPr>
              <a:t>)</a:t>
            </a:r>
            <a:endParaRPr lang="zh-CN" altLang="en-US" dirty="0">
              <a:latin typeface="+mn-lt"/>
              <a:ea typeface="+mn-ea"/>
              <a:cs typeface="+mn-cs"/>
            </a:endParaRPr>
          </a:p>
        </p:txBody>
      </p:sp>
      <p:sp>
        <p:nvSpPr>
          <p:cNvPr id="66566" name="Rectangle 5"/>
          <p:cNvSpPr/>
          <p:nvPr/>
        </p:nvSpPr>
        <p:spPr>
          <a:xfrm>
            <a:off x="5294313" y="3240088"/>
            <a:ext cx="184150" cy="369887"/>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6567" name="Object 4"/>
          <p:cNvGraphicFramePr>
            <a:graphicFrameLocks noChangeAspect="1"/>
          </p:cNvGraphicFramePr>
          <p:nvPr/>
        </p:nvGraphicFramePr>
        <p:xfrm>
          <a:off x="1857375" y="2898775"/>
          <a:ext cx="1692275" cy="482600"/>
        </p:xfrm>
        <a:graphic>
          <a:graphicData uri="http://schemas.openxmlformats.org/presentationml/2006/ole">
            <mc:AlternateContent xmlns:mc="http://schemas.openxmlformats.org/markup-compatibility/2006">
              <mc:Choice xmlns:v="urn:schemas-microsoft-com:vml" Requires="v">
                <p:oleObj spid="_x0000_s3098" name="" r:id="rId1" imgW="1041400" imgH="241300" progId="Equation.3">
                  <p:embed/>
                </p:oleObj>
              </mc:Choice>
              <mc:Fallback>
                <p:oleObj name="" r:id="rId1" imgW="1041400" imgH="241300" progId="Equation.3">
                  <p:embed/>
                  <p:pic>
                    <p:nvPicPr>
                      <p:cNvPr id="0" name="图片 3097"/>
                      <p:cNvPicPr/>
                      <p:nvPr/>
                    </p:nvPicPr>
                    <p:blipFill>
                      <a:blip r:embed="rId2"/>
                      <a:stretch>
                        <a:fillRect/>
                      </a:stretch>
                    </p:blipFill>
                    <p:spPr>
                      <a:xfrm>
                        <a:off x="1857375" y="2898775"/>
                        <a:ext cx="1692275" cy="482600"/>
                      </a:xfrm>
                      <a:prstGeom prst="rect">
                        <a:avLst/>
                      </a:prstGeom>
                      <a:noFill/>
                      <a:ln w="38100">
                        <a:noFill/>
                        <a:miter/>
                      </a:ln>
                    </p:spPr>
                  </p:pic>
                </p:oleObj>
              </mc:Fallback>
            </mc:AlternateContent>
          </a:graphicData>
        </a:graphic>
      </p:graphicFrame>
      <p:sp>
        <p:nvSpPr>
          <p:cNvPr id="66568" name="Rectangle 7"/>
          <p:cNvSpPr/>
          <p:nvPr/>
        </p:nvSpPr>
        <p:spPr>
          <a:xfrm>
            <a:off x="5294313" y="3240088"/>
            <a:ext cx="184150" cy="369887"/>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6569" name="Object 6"/>
          <p:cNvGraphicFramePr>
            <a:graphicFrameLocks noChangeAspect="1"/>
          </p:cNvGraphicFramePr>
          <p:nvPr/>
        </p:nvGraphicFramePr>
        <p:xfrm>
          <a:off x="4954588" y="2898775"/>
          <a:ext cx="936625" cy="504825"/>
        </p:xfrm>
        <a:graphic>
          <a:graphicData uri="http://schemas.openxmlformats.org/presentationml/2006/ole">
            <mc:AlternateContent xmlns:mc="http://schemas.openxmlformats.org/markup-compatibility/2006">
              <mc:Choice xmlns:v="urn:schemas-microsoft-com:vml" Requires="v">
                <p:oleObj spid="_x0000_s3095" name="" r:id="rId3" imgW="571500" imgH="241300" progId="Equation.3">
                  <p:embed/>
                </p:oleObj>
              </mc:Choice>
              <mc:Fallback>
                <p:oleObj name="" r:id="rId3" imgW="571500" imgH="241300" progId="Equation.3">
                  <p:embed/>
                  <p:pic>
                    <p:nvPicPr>
                      <p:cNvPr id="0" name="图片 3094"/>
                      <p:cNvPicPr/>
                      <p:nvPr/>
                    </p:nvPicPr>
                    <p:blipFill>
                      <a:blip r:embed="rId4"/>
                      <a:stretch>
                        <a:fillRect/>
                      </a:stretch>
                    </p:blipFill>
                    <p:spPr>
                      <a:xfrm>
                        <a:off x="4954588" y="2898775"/>
                        <a:ext cx="936625" cy="504825"/>
                      </a:xfrm>
                      <a:prstGeom prst="rect">
                        <a:avLst/>
                      </a:prstGeom>
                      <a:noFill/>
                      <a:ln w="38100">
                        <a:noFill/>
                        <a:miter/>
                      </a:ln>
                    </p:spPr>
                  </p:pic>
                </p:oleObj>
              </mc:Fallback>
            </mc:AlternateContent>
          </a:graphicData>
        </a:graphic>
      </p:graphicFrame>
      <p:sp>
        <p:nvSpPr>
          <p:cNvPr id="66570" name="Rectangle 9"/>
          <p:cNvSpPr/>
          <p:nvPr/>
        </p:nvSpPr>
        <p:spPr>
          <a:xfrm>
            <a:off x="5294313" y="3240088"/>
            <a:ext cx="184150" cy="369887"/>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6571" name="Object 8"/>
          <p:cNvGraphicFramePr>
            <a:graphicFrameLocks noChangeAspect="1"/>
          </p:cNvGraphicFramePr>
          <p:nvPr/>
        </p:nvGraphicFramePr>
        <p:xfrm>
          <a:off x="6681788" y="2898775"/>
          <a:ext cx="1079500" cy="522288"/>
        </p:xfrm>
        <a:graphic>
          <a:graphicData uri="http://schemas.openxmlformats.org/presentationml/2006/ole">
            <mc:AlternateContent xmlns:mc="http://schemas.openxmlformats.org/markup-compatibility/2006">
              <mc:Choice xmlns:v="urn:schemas-microsoft-com:vml" Requires="v">
                <p:oleObj spid="_x0000_s3094" name="" r:id="rId5" imgW="584200" imgH="241300" progId="Equation.3">
                  <p:embed/>
                </p:oleObj>
              </mc:Choice>
              <mc:Fallback>
                <p:oleObj name="" r:id="rId5" imgW="584200" imgH="241300" progId="Equation.3">
                  <p:embed/>
                  <p:pic>
                    <p:nvPicPr>
                      <p:cNvPr id="0" name="图片 3093"/>
                      <p:cNvPicPr/>
                      <p:nvPr/>
                    </p:nvPicPr>
                    <p:blipFill>
                      <a:blip r:embed="rId6"/>
                      <a:stretch>
                        <a:fillRect/>
                      </a:stretch>
                    </p:blipFill>
                    <p:spPr>
                      <a:xfrm>
                        <a:off x="6681788" y="2898775"/>
                        <a:ext cx="1079500" cy="522288"/>
                      </a:xfrm>
                      <a:prstGeom prst="rect">
                        <a:avLst/>
                      </a:prstGeom>
                      <a:noFill/>
                      <a:ln w="38100">
                        <a:noFill/>
                        <a:miter/>
                      </a:ln>
                    </p:spPr>
                  </p:pic>
                </p:oleObj>
              </mc:Fallback>
            </mc:AlternateContent>
          </a:graphicData>
        </a:graphic>
      </p:graphicFrame>
      <p:sp>
        <p:nvSpPr>
          <p:cNvPr id="66572" name="Rectangle 11"/>
          <p:cNvSpPr/>
          <p:nvPr/>
        </p:nvSpPr>
        <p:spPr>
          <a:xfrm>
            <a:off x="5294313" y="3240088"/>
            <a:ext cx="184150" cy="369887"/>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6573" name="Object 10"/>
          <p:cNvGraphicFramePr>
            <a:graphicFrameLocks noChangeAspect="1"/>
          </p:cNvGraphicFramePr>
          <p:nvPr/>
        </p:nvGraphicFramePr>
        <p:xfrm>
          <a:off x="1857375" y="4592638"/>
          <a:ext cx="1258888" cy="682625"/>
        </p:xfrm>
        <a:graphic>
          <a:graphicData uri="http://schemas.openxmlformats.org/presentationml/2006/ole">
            <mc:AlternateContent xmlns:mc="http://schemas.openxmlformats.org/markup-compatibility/2006">
              <mc:Choice xmlns:v="urn:schemas-microsoft-com:vml" Requires="v">
                <p:oleObj spid="_x0000_s3097" name="" r:id="rId7" imgW="571500" imgH="241300" progId="Equation.3">
                  <p:embed/>
                </p:oleObj>
              </mc:Choice>
              <mc:Fallback>
                <p:oleObj name="" r:id="rId7" imgW="571500" imgH="241300" progId="Equation.3">
                  <p:embed/>
                  <p:pic>
                    <p:nvPicPr>
                      <p:cNvPr id="0" name="图片 3096"/>
                      <p:cNvPicPr/>
                      <p:nvPr/>
                    </p:nvPicPr>
                    <p:blipFill>
                      <a:blip r:embed="rId4"/>
                      <a:stretch>
                        <a:fillRect/>
                      </a:stretch>
                    </p:blipFill>
                    <p:spPr>
                      <a:xfrm>
                        <a:off x="1857375" y="4592638"/>
                        <a:ext cx="1258888" cy="682625"/>
                      </a:xfrm>
                      <a:prstGeom prst="rect">
                        <a:avLst/>
                      </a:prstGeom>
                      <a:noFill/>
                      <a:ln w="38100">
                        <a:noFill/>
                        <a:miter/>
                      </a:ln>
                    </p:spPr>
                  </p:pic>
                </p:oleObj>
              </mc:Fallback>
            </mc:AlternateContent>
          </a:graphicData>
        </a:graphic>
      </p:graphicFrame>
      <p:sp>
        <p:nvSpPr>
          <p:cNvPr id="66574" name="Rectangle 13"/>
          <p:cNvSpPr/>
          <p:nvPr/>
        </p:nvSpPr>
        <p:spPr>
          <a:xfrm>
            <a:off x="5294313" y="3240088"/>
            <a:ext cx="184150" cy="369887"/>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6575" name="Object 12"/>
          <p:cNvGraphicFramePr>
            <a:graphicFrameLocks noChangeAspect="1"/>
          </p:cNvGraphicFramePr>
          <p:nvPr/>
        </p:nvGraphicFramePr>
        <p:xfrm>
          <a:off x="4487863" y="4684713"/>
          <a:ext cx="1042987" cy="590550"/>
        </p:xfrm>
        <a:graphic>
          <a:graphicData uri="http://schemas.openxmlformats.org/presentationml/2006/ole">
            <mc:AlternateContent xmlns:mc="http://schemas.openxmlformats.org/markup-compatibility/2006">
              <mc:Choice xmlns:v="urn:schemas-microsoft-com:vml" Requires="v">
                <p:oleObj spid="_x0000_s3096" name="" r:id="rId8" imgW="571500" imgH="241300" progId="Equation.3">
                  <p:embed/>
                </p:oleObj>
              </mc:Choice>
              <mc:Fallback>
                <p:oleObj name="" r:id="rId8" imgW="571500" imgH="241300" progId="Equation.3">
                  <p:embed/>
                  <p:pic>
                    <p:nvPicPr>
                      <p:cNvPr id="0" name="图片 3095"/>
                      <p:cNvPicPr/>
                      <p:nvPr/>
                    </p:nvPicPr>
                    <p:blipFill>
                      <a:blip r:embed="rId4"/>
                      <a:stretch>
                        <a:fillRect/>
                      </a:stretch>
                    </p:blipFill>
                    <p:spPr>
                      <a:xfrm>
                        <a:off x="4487863" y="4684713"/>
                        <a:ext cx="1042987" cy="590550"/>
                      </a:xfrm>
                      <a:prstGeom prst="rect">
                        <a:avLst/>
                      </a:prstGeom>
                      <a:noFill/>
                      <a:ln w="38100">
                        <a:noFill/>
                        <a:miter/>
                      </a:ln>
                    </p:spPr>
                  </p:pic>
                </p:oleObj>
              </mc:Fallback>
            </mc:AlternateContent>
          </a:graphicData>
        </a:graphic>
      </p:graphicFrame>
      <p:sp>
        <p:nvSpPr>
          <p:cNvPr id="66576" name="Rectangle 15"/>
          <p:cNvSpPr/>
          <p:nvPr/>
        </p:nvSpPr>
        <p:spPr>
          <a:xfrm>
            <a:off x="5294313" y="3240088"/>
            <a:ext cx="184150" cy="369887"/>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Clr>
                <a:schemeClr val="hlink"/>
              </a:buClr>
              <a:buSzTx/>
              <a:buNone/>
            </a:pPr>
            <a:endParaRPr lang="zh-CN" altLang="zh-CN" sz="1800" dirty="0">
              <a:latin typeface="Times New Roman" panose="02020603050405020304" charset="0"/>
              <a:sym typeface="Times New Roman" panose="02020603050405020304" charset="0"/>
            </a:endParaRPr>
          </a:p>
        </p:txBody>
      </p:sp>
      <p:graphicFrame>
        <p:nvGraphicFramePr>
          <p:cNvPr id="66577" name="Object 14"/>
          <p:cNvGraphicFramePr>
            <a:graphicFrameLocks noChangeAspect="1"/>
          </p:cNvGraphicFramePr>
          <p:nvPr/>
        </p:nvGraphicFramePr>
        <p:xfrm>
          <a:off x="6215063" y="4611688"/>
          <a:ext cx="1042987" cy="663575"/>
        </p:xfrm>
        <a:graphic>
          <a:graphicData uri="http://schemas.openxmlformats.org/presentationml/2006/ole">
            <mc:AlternateContent xmlns:mc="http://schemas.openxmlformats.org/markup-compatibility/2006">
              <mc:Choice xmlns:v="urn:schemas-microsoft-com:vml" Requires="v">
                <p:oleObj spid="_x0000_s3099" name="" r:id="rId9" imgW="571500" imgH="241300" progId="Equation.3">
                  <p:embed/>
                </p:oleObj>
              </mc:Choice>
              <mc:Fallback>
                <p:oleObj name="" r:id="rId9" imgW="571500" imgH="241300" progId="Equation.3">
                  <p:embed/>
                  <p:pic>
                    <p:nvPicPr>
                      <p:cNvPr id="0" name="图片 3098"/>
                      <p:cNvPicPr/>
                      <p:nvPr/>
                    </p:nvPicPr>
                    <p:blipFill>
                      <a:blip r:embed="rId4"/>
                      <a:stretch>
                        <a:fillRect/>
                      </a:stretch>
                    </p:blipFill>
                    <p:spPr>
                      <a:xfrm>
                        <a:off x="6215063" y="4611688"/>
                        <a:ext cx="1042987" cy="663575"/>
                      </a:xfrm>
                      <a:prstGeom prst="rect">
                        <a:avLst/>
                      </a:prstGeom>
                      <a:noFill/>
                      <a:ln w="38100">
                        <a:noFill/>
                        <a:miter/>
                      </a:ln>
                    </p:spPr>
                  </p:pic>
                </p:oleObj>
              </mc:Fallback>
            </mc:AlternateContent>
          </a:graphicData>
        </a:graphic>
      </p:graphicFrame>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标题 1"/>
          <p:cNvSpPr>
            <a:spLocks noGrp="1"/>
          </p:cNvSpPr>
          <p:nvPr>
            <p:ph type="title"/>
          </p:nvPr>
        </p:nvSpPr>
        <p:spPr/>
        <p:txBody>
          <a:bodyPr vert="horz" wrap="square" lIns="91440" tIns="45720" rIns="91440" bIns="45720" anchor="ctr" anchorCtr="0"/>
          <a:p>
            <a:r>
              <a:rPr lang="en-US" altLang="zh-CN" sz="3600" dirty="0"/>
              <a:t>10.3 </a:t>
            </a:r>
            <a:r>
              <a:rPr lang="zh-CN" altLang="en-US" sz="3600" dirty="0"/>
              <a:t>代 数 优 化</a:t>
            </a:r>
            <a:endParaRPr lang="zh-CN" altLang="en-US" sz="3600" dirty="0"/>
          </a:p>
        </p:txBody>
      </p:sp>
      <p:sp>
        <p:nvSpPr>
          <p:cNvPr id="67587" name="内容占位符 2"/>
          <p:cNvSpPr>
            <a:spLocks noGrp="1"/>
          </p:cNvSpPr>
          <p:nvPr>
            <p:ph idx="1"/>
          </p:nvPr>
        </p:nvSpPr>
        <p:spPr>
          <a:xfrm>
            <a:off x="1055688" y="1339850"/>
            <a:ext cx="10756900" cy="4854575"/>
          </a:xfrm>
        </p:spPr>
        <p:txBody>
          <a:bodyPr vert="horz" wrap="square" lIns="91440" tIns="45720" rIns="91440" bIns="45720" anchor="t" anchorCtr="0"/>
          <a:p>
            <a:pPr marL="0" indent="0">
              <a:lnSpc>
                <a:spcPct val="150000"/>
              </a:lnSpc>
              <a:buNone/>
            </a:pPr>
            <a:r>
              <a:rPr lang="en-US" altLang="zh-CN" dirty="0"/>
              <a:t>10.3.1  </a:t>
            </a:r>
            <a:r>
              <a:rPr lang="zh-CN" altLang="en-US" dirty="0"/>
              <a:t>关系代数表达式等价变换规则 </a:t>
            </a:r>
            <a:endParaRPr lang="zh-CN" altLang="en-US" dirty="0"/>
          </a:p>
          <a:p>
            <a:pPr marL="0" indent="0">
              <a:lnSpc>
                <a:spcPct val="150000"/>
              </a:lnSpc>
              <a:buNone/>
            </a:pPr>
            <a:r>
              <a:rPr lang="en-US" altLang="zh-CN" dirty="0">
                <a:solidFill>
                  <a:srgbClr val="00B050"/>
                </a:solidFill>
              </a:rPr>
              <a:t>10.3.2  </a:t>
            </a:r>
            <a:r>
              <a:rPr lang="zh-CN" altLang="en-US" dirty="0">
                <a:solidFill>
                  <a:srgbClr val="00B050"/>
                </a:solidFill>
              </a:rPr>
              <a:t>查询树的启发式优化 </a:t>
            </a:r>
            <a:endParaRPr lang="zh-CN" altLang="en-US" dirty="0">
              <a:solidFill>
                <a:srgbClr val="00B050"/>
              </a:solidFill>
            </a:endParaRPr>
          </a:p>
          <a:p>
            <a:pPr marL="0" indent="0">
              <a:buNone/>
            </a:pP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标题 1"/>
          <p:cNvSpPr>
            <a:spLocks noGrp="1"/>
          </p:cNvSpPr>
          <p:nvPr>
            <p:ph type="title"/>
          </p:nvPr>
        </p:nvSpPr>
        <p:spPr/>
        <p:txBody>
          <a:bodyPr vert="horz" wrap="square" lIns="91440" tIns="45720" rIns="91440" bIns="45720" anchor="ctr" anchorCtr="0"/>
          <a:p>
            <a:r>
              <a:rPr lang="en-US" altLang="zh-CN" sz="3600" dirty="0"/>
              <a:t>10.3.2  </a:t>
            </a:r>
            <a:r>
              <a:rPr lang="zh-CN" altLang="en-US" sz="3600" dirty="0"/>
              <a:t>查询树的启发式优化 </a:t>
            </a:r>
            <a:endParaRPr lang="zh-CN" altLang="en-US" sz="3600" dirty="0"/>
          </a:p>
        </p:txBody>
      </p:sp>
      <p:sp>
        <p:nvSpPr>
          <p:cNvPr id="65539" name="内容占位符 2"/>
          <p:cNvSpPr>
            <a:spLocks noGrp="1"/>
          </p:cNvSpPr>
          <p:nvPr>
            <p:ph idx="1"/>
          </p:nvPr>
        </p:nvSpPr>
        <p:spPr>
          <a:xfrm>
            <a:off x="550863" y="1412875"/>
            <a:ext cx="10972800" cy="48545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典型的启发式规则</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914400" marR="0" lvl="1" indent="-45720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rPr>
              <a:t>（</a:t>
            </a:r>
            <a:r>
              <a:rPr kumimoji="0" lang="en-US" altLang="zh-CN" sz="2400" b="1" i="0" u="none" strike="noStrike" kern="0" cap="none" spc="0" normalizeH="0" baseline="0" noProof="0" dirty="0">
                <a:ln>
                  <a:noFill/>
                </a:ln>
                <a:solidFill>
                  <a:schemeClr val="tx1"/>
                </a:solidFill>
                <a:effectLst/>
                <a:uLnTx/>
                <a:uFillTx/>
                <a:latin typeface="+mn-lt"/>
                <a:ea typeface="+mn-ea"/>
              </a:rPr>
              <a:t>1</a:t>
            </a:r>
            <a:r>
              <a:rPr kumimoji="0" lang="zh-CN" altLang="en-US" sz="2400" b="1" i="0" u="none" strike="noStrike" kern="0" cap="none" spc="0" normalizeH="0" baseline="0" noProof="0" dirty="0">
                <a:ln>
                  <a:noFill/>
                </a:ln>
                <a:solidFill>
                  <a:schemeClr val="tx1"/>
                </a:solidFill>
                <a:effectLst/>
                <a:uLnTx/>
                <a:uFillTx/>
                <a:latin typeface="+mn-lt"/>
                <a:ea typeface="+mn-ea"/>
              </a:rPr>
              <a:t>）选择运算应尽可能先做</a:t>
            </a:r>
            <a:endParaRPr kumimoji="0" lang="en-US" altLang="zh-CN" sz="2400" b="1" i="0" u="none" strike="noStrike" kern="0" cap="none" spc="0" normalizeH="0" baseline="0" noProof="0" dirty="0">
              <a:ln>
                <a:noFill/>
              </a:ln>
              <a:solidFill>
                <a:schemeClr val="tx1"/>
              </a:solidFill>
              <a:effectLst/>
              <a:uLnTx/>
              <a:uFillTx/>
              <a:latin typeface="+mn-lt"/>
              <a:ea typeface="+mn-ea"/>
            </a:endParaRPr>
          </a:p>
          <a:p>
            <a:pPr marL="914400" marR="0" lvl="1" indent="-45720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mn-ea"/>
              </a:rPr>
              <a:t>     </a:t>
            </a:r>
            <a:r>
              <a:rPr kumimoji="0" lang="zh-CN" altLang="en-US" sz="2400" b="1" i="0" u="none" strike="noStrike" kern="0" cap="none" spc="0" normalizeH="0" baseline="0" noProof="0" dirty="0">
                <a:ln>
                  <a:noFill/>
                </a:ln>
                <a:solidFill>
                  <a:schemeClr val="tx1"/>
                </a:solidFill>
                <a:effectLst/>
                <a:uLnTx/>
                <a:uFillTx/>
                <a:latin typeface="+mn-lt"/>
                <a:ea typeface="+mn-ea"/>
              </a:rPr>
              <a:t>在优化策略中这是最重要、最基本的一条。</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rPr>
              <a:t>（</a:t>
            </a:r>
            <a:r>
              <a:rPr kumimoji="0" lang="en-US" altLang="zh-CN" sz="2400" b="1" i="0" u="none" strike="noStrike" kern="0" cap="none" spc="0" normalizeH="0" baseline="0" noProof="0" dirty="0">
                <a:ln>
                  <a:noFill/>
                </a:ln>
                <a:solidFill>
                  <a:schemeClr val="tx1"/>
                </a:solidFill>
                <a:effectLst/>
                <a:uLnTx/>
                <a:uFillTx/>
                <a:latin typeface="+mn-lt"/>
                <a:ea typeface="+mn-ea"/>
              </a:rPr>
              <a:t>2</a:t>
            </a:r>
            <a:r>
              <a:rPr kumimoji="0" lang="zh-CN" altLang="en-US" sz="2400" b="1" i="0" u="none" strike="noStrike" kern="0" cap="none" spc="0" normalizeH="0" baseline="0" noProof="0" dirty="0">
                <a:ln>
                  <a:noFill/>
                </a:ln>
                <a:solidFill>
                  <a:schemeClr val="tx1"/>
                </a:solidFill>
                <a:effectLst/>
                <a:uLnTx/>
                <a:uFillTx/>
                <a:latin typeface="+mn-lt"/>
                <a:ea typeface="+mn-ea"/>
              </a:rPr>
              <a:t>）把投影运算和选择运算同时进行</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914400" marR="0" lvl="2" indent="0" algn="l" defTabSz="914400" rtl="0" eaLnBrk="0" fontAlgn="base" latinLnBrk="0" hangingPunct="0">
              <a:lnSpc>
                <a:spcPct val="120000"/>
              </a:lnSpc>
              <a:spcBef>
                <a:spcPct val="20000"/>
              </a:spcBef>
              <a:spcAft>
                <a:spcPct val="0"/>
              </a:spcAft>
              <a:buClrTx/>
              <a:buSzTx/>
              <a:buFont typeface="Arial" panose="020B0604020202020204" pitchFamily="34" charset="0"/>
              <a:buNone/>
              <a:defRPr/>
            </a:pPr>
            <a:r>
              <a:rPr kumimoji="0" lang="zh-CN" altLang="en-US" sz="2400" b="1" i="0" u="none" strike="noStrike" kern="0" cap="none" spc="0" normalizeH="0" baseline="0" noProof="0" dirty="0">
                <a:ln>
                  <a:noFill/>
                </a:ln>
                <a:solidFill>
                  <a:schemeClr val="tx1"/>
                </a:solidFill>
                <a:effectLst/>
                <a:uLnTx/>
                <a:uFillTx/>
                <a:latin typeface="+mn-lt"/>
                <a:ea typeface="+mn-ea"/>
              </a:rPr>
              <a:t>如有若干投影和选择运算，并且它们都对同一个关系操作，则可以在扫描此关系的同时完成所有的这些运算以避免重复扫描关系。</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标题 1"/>
          <p:cNvSpPr>
            <a:spLocks noGrp="1"/>
          </p:cNvSpPr>
          <p:nvPr>
            <p:ph type="title"/>
          </p:nvPr>
        </p:nvSpPr>
        <p:spPr/>
        <p:txBody>
          <a:bodyPr vert="horz" wrap="square" lIns="91440" tIns="45720" rIns="91440" bIns="45720" anchor="ctr" anchorCtr="0"/>
          <a:p>
            <a:r>
              <a:rPr lang="zh-CN" altLang="zh-CN" sz="3600" dirty="0"/>
              <a:t>查询树的启发式优化（续）</a:t>
            </a:r>
            <a:endParaRPr lang="zh-CN" altLang="en-US" sz="3600" dirty="0"/>
          </a:p>
        </p:txBody>
      </p:sp>
      <p:sp>
        <p:nvSpPr>
          <p:cNvPr id="69635" name="内容占位符 2"/>
          <p:cNvSpPr>
            <a:spLocks noGrp="1"/>
          </p:cNvSpPr>
          <p:nvPr>
            <p:ph idx="1"/>
          </p:nvPr>
        </p:nvSpPr>
        <p:spPr>
          <a:xfrm>
            <a:off x="263525" y="1484313"/>
            <a:ext cx="10972800" cy="4854575"/>
          </a:xfrm>
        </p:spPr>
        <p:txBody>
          <a:bodyPr vert="horz" wrap="square" lIns="91440" tIns="45720" rIns="91440" bIns="45720" anchor="t" anchorCtr="0"/>
          <a:p>
            <a:pPr lvl="1">
              <a:lnSpc>
                <a:spcPct val="120000"/>
              </a:lnSpc>
              <a:buNone/>
            </a:pPr>
            <a:r>
              <a:rPr lang="zh-CN" altLang="en-US" dirty="0"/>
              <a:t>（</a:t>
            </a:r>
            <a:r>
              <a:rPr lang="en-US" altLang="zh-CN" dirty="0"/>
              <a:t>3</a:t>
            </a:r>
            <a:r>
              <a:rPr lang="zh-CN" altLang="en-US" dirty="0"/>
              <a:t>）</a:t>
            </a:r>
            <a:r>
              <a:rPr lang="en-US" altLang="zh-CN" dirty="0"/>
              <a:t> </a:t>
            </a:r>
            <a:r>
              <a:rPr lang="zh-CN" altLang="en-US" dirty="0"/>
              <a:t>把投影同其前或其后的双目运算结合起来，没有必要为了去掉某些字段而扫描一遍关系。</a:t>
            </a:r>
            <a:endParaRPr lang="zh-CN" altLang="en-US" dirty="0"/>
          </a:p>
          <a:p>
            <a:pPr lvl="1">
              <a:lnSpc>
                <a:spcPct val="120000"/>
              </a:lnSpc>
            </a:pPr>
            <a:endParaRPr lang="zh-CN" altLang="en-US" dirty="0"/>
          </a:p>
          <a:p>
            <a:pPr lvl="1">
              <a:lnSpc>
                <a:spcPct val="120000"/>
              </a:lnSpc>
              <a:buNone/>
            </a:pPr>
            <a:r>
              <a:rPr lang="zh-CN" altLang="en-US" dirty="0"/>
              <a:t>（</a:t>
            </a:r>
            <a:r>
              <a:rPr lang="en-US" altLang="zh-CN" dirty="0"/>
              <a:t>4</a:t>
            </a:r>
            <a:r>
              <a:rPr lang="zh-CN" altLang="en-US" dirty="0"/>
              <a:t>）</a:t>
            </a:r>
            <a:r>
              <a:rPr lang="en-US" altLang="zh-CN" dirty="0"/>
              <a:t> </a:t>
            </a:r>
            <a:r>
              <a:rPr lang="zh-CN" altLang="en-US" dirty="0"/>
              <a:t>把某些选择同在它前面要执行的笛卡尔积结合起来成为一个连接运算，连接特别是等值连接运算要比同样关系上的笛卡尔积省很多时间。 </a:t>
            </a:r>
            <a:endParaRPr lang="zh-CN" altLang="en-US" dirty="0"/>
          </a:p>
          <a:p>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标题 1"/>
          <p:cNvSpPr>
            <a:spLocks noGrp="1"/>
          </p:cNvSpPr>
          <p:nvPr>
            <p:ph type="title"/>
          </p:nvPr>
        </p:nvSpPr>
        <p:spPr/>
        <p:txBody>
          <a:bodyPr vert="horz" wrap="square" lIns="91440" tIns="45720" rIns="91440" bIns="45720" anchor="ctr" anchorCtr="0"/>
          <a:p>
            <a:r>
              <a:rPr lang="zh-CN" altLang="zh-CN" sz="3600" dirty="0"/>
              <a:t>查询树的启发式优化（续）</a:t>
            </a:r>
            <a:endParaRPr lang="zh-CN" altLang="en-US" sz="3600" dirty="0"/>
          </a:p>
        </p:txBody>
      </p:sp>
      <p:sp>
        <p:nvSpPr>
          <p:cNvPr id="70659" name="内容占位符 2"/>
          <p:cNvSpPr>
            <a:spLocks noGrp="1"/>
          </p:cNvSpPr>
          <p:nvPr>
            <p:ph idx="1"/>
          </p:nvPr>
        </p:nvSpPr>
        <p:spPr>
          <a:xfrm>
            <a:off x="407988" y="1484313"/>
            <a:ext cx="10972800" cy="4854575"/>
          </a:xfrm>
        </p:spPr>
        <p:txBody>
          <a:bodyPr vert="horz" wrap="square" lIns="91440" tIns="45720" rIns="91440" bIns="45720" anchor="t" anchorCtr="0"/>
          <a:p>
            <a:pPr lvl="1">
              <a:lnSpc>
                <a:spcPct val="120000"/>
              </a:lnSpc>
              <a:buNone/>
            </a:pPr>
            <a:r>
              <a:rPr lang="zh-CN" altLang="en-US" dirty="0"/>
              <a:t>（</a:t>
            </a:r>
            <a:r>
              <a:rPr lang="en-US" altLang="zh-CN" dirty="0"/>
              <a:t>5</a:t>
            </a:r>
            <a:r>
              <a:rPr lang="zh-CN" altLang="en-US" dirty="0"/>
              <a:t>）</a:t>
            </a:r>
            <a:r>
              <a:rPr lang="en-US" altLang="zh-CN" dirty="0"/>
              <a:t> </a:t>
            </a:r>
            <a:r>
              <a:rPr lang="zh-CN" altLang="en-US" dirty="0"/>
              <a:t>找出公共子表达式</a:t>
            </a:r>
            <a:endParaRPr lang="zh-CN" altLang="en-US" dirty="0"/>
          </a:p>
          <a:p>
            <a:pPr lvl="2">
              <a:lnSpc>
                <a:spcPct val="120000"/>
              </a:lnSpc>
              <a:buSzPct val="76000"/>
              <a:buFont typeface="Wingdings" panose="05000000000000000000" pitchFamily="2" charset="2"/>
              <a:buChar char="l"/>
            </a:pPr>
            <a:r>
              <a:rPr lang="zh-CN" altLang="en-US" dirty="0"/>
              <a:t>如果这种重复出现的子表达式的结果不是很大的关系</a:t>
            </a:r>
            <a:endParaRPr lang="zh-CN" altLang="en-US" dirty="0"/>
          </a:p>
          <a:p>
            <a:pPr lvl="2">
              <a:lnSpc>
                <a:spcPct val="120000"/>
              </a:lnSpc>
              <a:buSzPct val="76000"/>
              <a:buFont typeface="Wingdings" panose="05000000000000000000" pitchFamily="2" charset="2"/>
              <a:buChar char="l"/>
            </a:pPr>
            <a:r>
              <a:rPr lang="zh-CN" altLang="en-US" dirty="0"/>
              <a:t>并且从外存中读入这个关系比计算该子表达式的时间少得多</a:t>
            </a:r>
            <a:endParaRPr lang="zh-CN" altLang="en-US" dirty="0"/>
          </a:p>
          <a:p>
            <a:pPr lvl="2">
              <a:lnSpc>
                <a:spcPct val="120000"/>
              </a:lnSpc>
              <a:buSzPct val="76000"/>
              <a:buFont typeface="Wingdings" panose="05000000000000000000" pitchFamily="2" charset="2"/>
              <a:buChar char="l"/>
            </a:pPr>
            <a:r>
              <a:rPr lang="zh-CN" altLang="en-US" dirty="0"/>
              <a:t>则先计算一次公共子表达式并把结果写入中间文件是合算的。</a:t>
            </a:r>
            <a:endParaRPr lang="zh-CN" altLang="en-US" dirty="0"/>
          </a:p>
          <a:p>
            <a:pPr lvl="2">
              <a:lnSpc>
                <a:spcPct val="120000"/>
              </a:lnSpc>
              <a:buSzPct val="76000"/>
              <a:buFont typeface="Wingdings" panose="05000000000000000000" pitchFamily="2" charset="2"/>
              <a:buChar char="l"/>
            </a:pPr>
            <a:r>
              <a:rPr lang="zh-CN" altLang="en-US" dirty="0"/>
              <a:t>当查询的是视图时，定义视图的表达式就是公共子表达式的情况</a:t>
            </a:r>
            <a:endParaRPr lang="zh-CN" altLang="en-US" dirty="0"/>
          </a:p>
          <a:p>
            <a:endParaRPr lang="zh-CN" altLang="en-US" dirty="0"/>
          </a:p>
          <a:p>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TextBox 3"/>
          <p:cNvSpPr/>
          <p:nvPr/>
        </p:nvSpPr>
        <p:spPr>
          <a:xfrm>
            <a:off x="7470775" y="6448425"/>
            <a:ext cx="2187575" cy="3048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 typeface="Arial" panose="020B0604020202020204" pitchFamily="34" charset="0"/>
              <a:buNone/>
            </a:pPr>
            <a:r>
              <a:rPr lang="zh-CN" altLang="zh-CN" sz="1400" dirty="0">
                <a:solidFill>
                  <a:srgbClr val="953734"/>
                </a:solidFill>
                <a:latin typeface="微软雅黑" panose="020B0503020204020204" charset="-122"/>
                <a:ea typeface="微软雅黑" panose="020B0503020204020204" charset="-122"/>
                <a:sym typeface="微软雅黑" panose="020B0503020204020204" charset="-122"/>
              </a:rPr>
              <a:t>*</a:t>
            </a:r>
            <a:endParaRPr lang="zh-CN" altLang="zh-CN" sz="1400" dirty="0">
              <a:solidFill>
                <a:srgbClr val="953734"/>
              </a:solidFill>
              <a:latin typeface="微软雅黑" panose="020B0503020204020204" charset="-122"/>
              <a:ea typeface="微软雅黑" panose="020B0503020204020204" charset="-122"/>
              <a:sym typeface="微软雅黑" panose="020B0503020204020204" charset="-122"/>
            </a:endParaRPr>
          </a:p>
        </p:txBody>
      </p:sp>
      <p:sp>
        <p:nvSpPr>
          <p:cNvPr id="71683" name="文本框 4"/>
          <p:cNvSpPr/>
          <p:nvPr/>
        </p:nvSpPr>
        <p:spPr>
          <a:xfrm>
            <a:off x="1081088" y="6424613"/>
            <a:ext cx="2646362" cy="246062"/>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 typeface="Arial" panose="020B0604020202020204" pitchFamily="34" charset="0"/>
              <a:buNone/>
            </a:pPr>
            <a:endParaRPr lang="zh-CN" altLang="zh-CN" sz="1000" b="0" dirty="0">
              <a:solidFill>
                <a:srgbClr val="000000"/>
              </a:solidFill>
              <a:latin typeface="Times New Roman" panose="02020603050405020304" charset="0"/>
              <a:ea typeface="黑体" panose="02010609060101010101" pitchFamily="49" charset="-122"/>
              <a:sym typeface="宋体" panose="02010600030101010101" pitchFamily="2" charset="-122"/>
            </a:endParaRPr>
          </a:p>
        </p:txBody>
      </p:sp>
      <p:sp>
        <p:nvSpPr>
          <p:cNvPr id="71684" name="Rectangle 2"/>
          <p:cNvSpPr>
            <a:spLocks noGrp="1"/>
          </p:cNvSpPr>
          <p:nvPr>
            <p:ph type="title"/>
          </p:nvPr>
        </p:nvSpPr>
        <p:spPr>
          <a:xfrm>
            <a:off x="1981200" y="41275"/>
            <a:ext cx="8229600" cy="939800"/>
          </a:xfrm>
        </p:spPr>
        <p:txBody>
          <a:bodyPr vert="horz" wrap="square" lIns="91440" tIns="45720" rIns="91440" bIns="45720" anchor="ctr" anchorCtr="0"/>
          <a:p>
            <a:pPr eaLnBrk="1" hangingPunct="1"/>
            <a:r>
              <a:rPr lang="zh-CN" altLang="zh-CN" sz="3600" dirty="0"/>
              <a:t>查询树的启发式优化（续）</a:t>
            </a:r>
            <a:endParaRPr lang="zh-CN" altLang="zh-CN" sz="3600" dirty="0"/>
          </a:p>
        </p:txBody>
      </p:sp>
      <p:sp>
        <p:nvSpPr>
          <p:cNvPr id="71685" name="Rectangle 3"/>
          <p:cNvSpPr>
            <a:spLocks noGrp="1"/>
          </p:cNvSpPr>
          <p:nvPr>
            <p:ph type="subTitle" idx="1"/>
          </p:nvPr>
        </p:nvSpPr>
        <p:spPr>
          <a:xfrm>
            <a:off x="998538" y="1216025"/>
            <a:ext cx="10080625" cy="4857750"/>
          </a:xfrm>
        </p:spPr>
        <p:txBody>
          <a:bodyPr vert="horz" wrap="square" lIns="91440" tIns="45720" rIns="91440" bIns="45720" anchor="t" anchorCtr="0"/>
          <a:p>
            <a:pPr marL="342900" indent="-342900" algn="l" eaLnBrk="1" hangingPunct="1">
              <a:lnSpc>
                <a:spcPct val="120000"/>
              </a:lnSpc>
              <a:buSzPct val="100000"/>
              <a:buFont typeface="Wingdings" panose="05000000000000000000" pitchFamily="2" charset="2"/>
              <a:buChar char="v"/>
            </a:pPr>
            <a:r>
              <a:rPr lang="zh-CN" altLang="en-US" dirty="0">
                <a:latin typeface="华文楷体" panose="02010600040101010101" pitchFamily="2" charset="-122"/>
                <a:ea typeface="+mn-ea"/>
                <a:cs typeface="+mn-cs"/>
              </a:rPr>
              <a:t>遵循这些启发式规则，应用</a:t>
            </a:r>
            <a:r>
              <a:rPr lang="en-US" altLang="zh-CN" dirty="0">
                <a:latin typeface="+mn-lt"/>
                <a:ea typeface="+mn-ea"/>
                <a:cs typeface="+mn-cs"/>
              </a:rPr>
              <a:t>10.3.1</a:t>
            </a:r>
            <a:r>
              <a:rPr lang="zh-CN" altLang="en-US" dirty="0">
                <a:latin typeface="华文楷体" panose="02010600040101010101" pitchFamily="2" charset="-122"/>
                <a:ea typeface="+mn-ea"/>
                <a:cs typeface="+mn-cs"/>
              </a:rPr>
              <a:t>的等价变换公式来优化关系表达式的算法。</a:t>
            </a:r>
            <a:endParaRPr lang="zh-CN" altLang="en-US" dirty="0">
              <a:latin typeface="华文楷体" panose="02010600040101010101" pitchFamily="2" charset="-122"/>
              <a:ea typeface="+mn-ea"/>
              <a:cs typeface="+mn-cs"/>
            </a:endParaRPr>
          </a:p>
          <a:p>
            <a:pPr marL="342900" indent="-342900" algn="l" eaLnBrk="1" hangingPunct="1">
              <a:lnSpc>
                <a:spcPct val="120000"/>
              </a:lnSpc>
              <a:spcBef>
                <a:spcPct val="0"/>
              </a:spcBef>
              <a:buSzPct val="100000"/>
            </a:pPr>
            <a:r>
              <a:rPr lang="zh-CN" altLang="en-US" sz="2400" dirty="0">
                <a:latin typeface="华文楷体" panose="02010600040101010101" pitchFamily="2" charset="-122"/>
                <a:ea typeface="+mn-ea"/>
                <a:cs typeface="+mn-cs"/>
              </a:rPr>
              <a:t>	</a:t>
            </a:r>
            <a:r>
              <a:rPr lang="zh-CN" altLang="en-US" sz="2400" dirty="0">
                <a:solidFill>
                  <a:srgbClr val="3333FF"/>
                </a:solidFill>
                <a:latin typeface="华文楷体" panose="02010600040101010101" pitchFamily="2" charset="-122"/>
                <a:ea typeface="+mn-ea"/>
                <a:cs typeface="+mn-cs"/>
              </a:rPr>
              <a:t>算法：关系表达式的优化</a:t>
            </a:r>
            <a:endParaRPr lang="zh-CN" altLang="en-US" sz="2400" dirty="0">
              <a:solidFill>
                <a:srgbClr val="3333FF"/>
              </a:solidFill>
              <a:latin typeface="华文楷体" panose="02010600040101010101" pitchFamily="2" charset="-122"/>
              <a:ea typeface="+mn-ea"/>
              <a:cs typeface="+mn-cs"/>
            </a:endParaRPr>
          </a:p>
          <a:p>
            <a:pPr marL="342900" indent="-342900" algn="l" eaLnBrk="1" hangingPunct="1">
              <a:lnSpc>
                <a:spcPct val="120000"/>
              </a:lnSpc>
              <a:spcBef>
                <a:spcPct val="0"/>
              </a:spcBef>
              <a:buSzPct val="100000"/>
            </a:pPr>
            <a:r>
              <a:rPr lang="zh-CN" altLang="en-US" sz="2400" dirty="0">
                <a:latin typeface="华文楷体" panose="02010600040101010101" pitchFamily="2" charset="-122"/>
                <a:ea typeface="+mn-ea"/>
                <a:cs typeface="+mn-cs"/>
              </a:rPr>
              <a:t>	</a:t>
            </a:r>
            <a:r>
              <a:rPr lang="zh-CN" altLang="en-US" sz="2400" dirty="0">
                <a:solidFill>
                  <a:srgbClr val="3333FF"/>
                </a:solidFill>
                <a:latin typeface="华文楷体" panose="02010600040101010101" pitchFamily="2" charset="-122"/>
                <a:ea typeface="+mn-ea"/>
                <a:cs typeface="+mn-cs"/>
              </a:rPr>
              <a:t>输入</a:t>
            </a:r>
            <a:r>
              <a:rPr lang="zh-CN" altLang="en-US" sz="2400" dirty="0">
                <a:latin typeface="华文楷体" panose="02010600040101010101" pitchFamily="2" charset="-122"/>
                <a:ea typeface="+mn-ea"/>
                <a:cs typeface="+mn-cs"/>
              </a:rPr>
              <a:t>：一个关系表达式的查询树</a:t>
            </a:r>
            <a:endParaRPr lang="zh-CN" altLang="en-US" sz="2400" dirty="0">
              <a:latin typeface="华文楷体" panose="02010600040101010101" pitchFamily="2" charset="-122"/>
              <a:ea typeface="+mn-ea"/>
              <a:cs typeface="+mn-cs"/>
            </a:endParaRPr>
          </a:p>
          <a:p>
            <a:pPr marL="342900" indent="-342900" algn="l" eaLnBrk="1" hangingPunct="1">
              <a:lnSpc>
                <a:spcPct val="120000"/>
              </a:lnSpc>
              <a:spcBef>
                <a:spcPct val="0"/>
              </a:spcBef>
              <a:buSzPct val="100000"/>
            </a:pPr>
            <a:r>
              <a:rPr lang="zh-CN" altLang="en-US" sz="2400" dirty="0">
                <a:latin typeface="华文楷体" panose="02010600040101010101" pitchFamily="2" charset="-122"/>
                <a:ea typeface="+mn-ea"/>
                <a:cs typeface="+mn-cs"/>
              </a:rPr>
              <a:t>	</a:t>
            </a:r>
            <a:r>
              <a:rPr lang="zh-CN" altLang="en-US" sz="2400" dirty="0">
                <a:solidFill>
                  <a:srgbClr val="3333FF"/>
                </a:solidFill>
                <a:latin typeface="华文楷体" panose="02010600040101010101" pitchFamily="2" charset="-122"/>
                <a:ea typeface="+mn-ea"/>
                <a:cs typeface="+mn-cs"/>
              </a:rPr>
              <a:t>输出</a:t>
            </a:r>
            <a:r>
              <a:rPr lang="zh-CN" altLang="en-US" sz="2400" dirty="0">
                <a:latin typeface="华文楷体" panose="02010600040101010101" pitchFamily="2" charset="-122"/>
                <a:ea typeface="+mn-ea"/>
                <a:cs typeface="+mn-cs"/>
              </a:rPr>
              <a:t>：优化的查询树</a:t>
            </a:r>
            <a:endParaRPr lang="en-US" altLang="zh-CN" sz="2400" dirty="0">
              <a:latin typeface="华文楷体" panose="02010600040101010101" pitchFamily="2" charset="-122"/>
              <a:ea typeface="+mn-ea"/>
              <a:cs typeface="+mn-cs"/>
            </a:endParaRPr>
          </a:p>
          <a:p>
            <a:pPr marL="342900" indent="-342900" algn="l" eaLnBrk="1" hangingPunct="1">
              <a:lnSpc>
                <a:spcPct val="120000"/>
              </a:lnSpc>
              <a:buSzPct val="100000"/>
            </a:pPr>
            <a:r>
              <a:rPr lang="zh-CN" altLang="en-US" sz="2400" dirty="0">
                <a:latin typeface="+mn-lt"/>
                <a:ea typeface="+mn-ea"/>
                <a:cs typeface="+mn-cs"/>
              </a:rPr>
              <a:t>	方法：</a:t>
            </a:r>
            <a:endParaRPr lang="en-US" altLang="zh-CN" sz="2400" dirty="0">
              <a:latin typeface="+mn-lt"/>
              <a:ea typeface="+mn-ea"/>
              <a:cs typeface="+mn-cs"/>
            </a:endParaRPr>
          </a:p>
          <a:p>
            <a:pPr marL="342900" indent="-342900" algn="l" eaLnBrk="1" hangingPunct="1">
              <a:lnSpc>
                <a:spcPct val="120000"/>
              </a:lnSpc>
              <a:spcBef>
                <a:spcPct val="0"/>
              </a:spcBef>
              <a:buSzPct val="100000"/>
            </a:pPr>
            <a:r>
              <a:rPr lang="zh-CN" altLang="en-US" sz="2400" dirty="0">
                <a:latin typeface="+mn-lt"/>
                <a:ea typeface="+mn-ea"/>
                <a:cs typeface="+mn-cs"/>
              </a:rPr>
              <a:t>	（</a:t>
            </a:r>
            <a:r>
              <a:rPr lang="en-US" altLang="zh-CN" sz="2400" dirty="0">
                <a:latin typeface="+mn-lt"/>
                <a:ea typeface="+mn-ea"/>
                <a:cs typeface="+mn-cs"/>
              </a:rPr>
              <a:t>1</a:t>
            </a:r>
            <a:r>
              <a:rPr lang="zh-CN" altLang="en-US" sz="2400" dirty="0">
                <a:latin typeface="+mn-lt"/>
                <a:ea typeface="+mn-ea"/>
                <a:cs typeface="+mn-cs"/>
              </a:rPr>
              <a:t>）利用等价变换规则</a:t>
            </a:r>
            <a:r>
              <a:rPr lang="en-US" altLang="zh-CN" sz="2400" dirty="0">
                <a:latin typeface="+mn-lt"/>
                <a:ea typeface="+mn-ea"/>
                <a:cs typeface="+mn-cs"/>
              </a:rPr>
              <a:t>4</a:t>
            </a:r>
            <a:r>
              <a:rPr lang="zh-CN" altLang="en-US" sz="2400" dirty="0">
                <a:latin typeface="+mn-lt"/>
                <a:ea typeface="+mn-ea"/>
                <a:cs typeface="+mn-cs"/>
              </a:rPr>
              <a:t>把形如</a:t>
            </a:r>
            <a:r>
              <a:rPr lang="en-US" altLang="zh-CN" sz="2400" dirty="0">
                <a:latin typeface="+mn-lt"/>
                <a:ea typeface="+mn-ea"/>
                <a:cs typeface="+mn-cs"/>
              </a:rPr>
              <a:t>σ</a:t>
            </a:r>
            <a:r>
              <a:rPr lang="en-US" altLang="zh-CN" sz="2400" baseline="-25000" dirty="0">
                <a:latin typeface="+mn-lt"/>
                <a:ea typeface="+mn-ea"/>
                <a:cs typeface="+mn-cs"/>
              </a:rPr>
              <a:t>F1∧F2∧…∧Fn</a:t>
            </a:r>
            <a:r>
              <a:rPr lang="en-US" altLang="zh-CN" sz="2400" dirty="0">
                <a:latin typeface="+mn-lt"/>
                <a:ea typeface="+mn-ea"/>
                <a:cs typeface="+mn-cs"/>
              </a:rPr>
              <a:t>(E)</a:t>
            </a:r>
            <a:r>
              <a:rPr lang="zh-CN" altLang="en-US" sz="2400" dirty="0">
                <a:latin typeface="+mn-lt"/>
                <a:ea typeface="+mn-ea"/>
                <a:cs typeface="+mn-cs"/>
              </a:rPr>
              <a:t>变换为 </a:t>
            </a:r>
            <a:endParaRPr lang="en-US" altLang="zh-CN" sz="2400" dirty="0">
              <a:latin typeface="+mn-lt"/>
              <a:ea typeface="+mn-ea"/>
              <a:cs typeface="+mn-cs"/>
            </a:endParaRPr>
          </a:p>
          <a:p>
            <a:pPr marL="342900" indent="-342900" algn="l" eaLnBrk="1" hangingPunct="1">
              <a:lnSpc>
                <a:spcPct val="120000"/>
              </a:lnSpc>
              <a:spcBef>
                <a:spcPct val="0"/>
              </a:spcBef>
              <a:buSzPct val="100000"/>
            </a:pPr>
            <a:r>
              <a:rPr lang="en-US" altLang="zh-CN" sz="2400" dirty="0">
                <a:latin typeface="+mn-lt"/>
                <a:ea typeface="+mn-ea"/>
                <a:cs typeface="+mn-cs"/>
              </a:rPr>
              <a:t>              σ</a:t>
            </a:r>
            <a:r>
              <a:rPr lang="en-US" altLang="zh-CN" sz="2400" baseline="-25000" dirty="0">
                <a:latin typeface="+mn-lt"/>
                <a:ea typeface="+mn-ea"/>
                <a:cs typeface="+mn-cs"/>
              </a:rPr>
              <a:t>F1</a:t>
            </a:r>
            <a:r>
              <a:rPr lang="en-US" altLang="zh-CN" sz="2400" dirty="0">
                <a:latin typeface="+mn-lt"/>
                <a:ea typeface="+mn-ea"/>
                <a:cs typeface="+mn-cs"/>
              </a:rPr>
              <a:t>(σ</a:t>
            </a:r>
            <a:r>
              <a:rPr lang="en-US" altLang="zh-CN" sz="2400" baseline="-25000" dirty="0">
                <a:latin typeface="+mn-lt"/>
                <a:ea typeface="+mn-ea"/>
                <a:cs typeface="+mn-cs"/>
              </a:rPr>
              <a:t>F2</a:t>
            </a:r>
            <a:r>
              <a:rPr lang="en-US" altLang="zh-CN" sz="2400" dirty="0">
                <a:latin typeface="+mn-lt"/>
                <a:ea typeface="+mn-ea"/>
                <a:cs typeface="+mn-cs"/>
              </a:rPr>
              <a:t>(…(σ</a:t>
            </a:r>
            <a:r>
              <a:rPr lang="en-US" altLang="zh-CN" sz="2400" baseline="-25000" dirty="0">
                <a:latin typeface="+mn-lt"/>
                <a:ea typeface="+mn-ea"/>
                <a:cs typeface="+mn-cs"/>
              </a:rPr>
              <a:t>Fn</a:t>
            </a:r>
            <a:r>
              <a:rPr lang="en-US" altLang="zh-CN" sz="2400" dirty="0">
                <a:latin typeface="+mn-lt"/>
                <a:ea typeface="+mn-ea"/>
                <a:cs typeface="+mn-cs"/>
              </a:rPr>
              <a:t>(E))…))</a:t>
            </a:r>
            <a:r>
              <a:rPr lang="zh-CN" altLang="en-US" sz="2400" dirty="0">
                <a:latin typeface="+mn-lt"/>
                <a:ea typeface="+mn-ea"/>
                <a:cs typeface="+mn-cs"/>
              </a:rPr>
              <a:t>。</a:t>
            </a:r>
            <a:endParaRPr lang="zh-CN" altLang="en-US" sz="2400" dirty="0">
              <a:latin typeface="+mn-lt"/>
              <a:ea typeface="+mn-ea"/>
              <a:cs typeface="+mn-cs"/>
            </a:endParaRPr>
          </a:p>
          <a:p>
            <a:pPr marL="342900" indent="-342900" algn="l" eaLnBrk="1" hangingPunct="1">
              <a:lnSpc>
                <a:spcPct val="120000"/>
              </a:lnSpc>
              <a:spcBef>
                <a:spcPct val="0"/>
              </a:spcBef>
              <a:buSzPct val="100000"/>
            </a:pPr>
            <a:r>
              <a:rPr lang="zh-CN" altLang="en-US" sz="2400" dirty="0">
                <a:latin typeface="+mn-lt"/>
                <a:ea typeface="+mn-ea"/>
                <a:cs typeface="+mn-cs"/>
              </a:rPr>
              <a:t>	（</a:t>
            </a:r>
            <a:r>
              <a:rPr lang="en-US" altLang="zh-CN" sz="2400" dirty="0">
                <a:latin typeface="+mn-lt"/>
                <a:ea typeface="+mn-ea"/>
                <a:cs typeface="+mn-cs"/>
              </a:rPr>
              <a:t>2</a:t>
            </a:r>
            <a:r>
              <a:rPr lang="zh-CN" altLang="en-US" sz="2400" dirty="0">
                <a:latin typeface="+mn-lt"/>
                <a:ea typeface="+mn-ea"/>
                <a:cs typeface="+mn-cs"/>
              </a:rPr>
              <a:t>）对每一个选择，利用等价变换规则</a:t>
            </a:r>
            <a:r>
              <a:rPr lang="en-US" altLang="zh-CN" sz="2400" dirty="0">
                <a:latin typeface="+mn-lt"/>
                <a:ea typeface="+mn-ea"/>
                <a:cs typeface="+mn-cs"/>
              </a:rPr>
              <a:t>4</a:t>
            </a:r>
            <a:r>
              <a:rPr lang="zh-CN" altLang="en-US" sz="2400" dirty="0">
                <a:latin typeface="+mn-lt"/>
                <a:ea typeface="+mn-ea"/>
                <a:cs typeface="+mn-cs"/>
              </a:rPr>
              <a:t>～</a:t>
            </a:r>
            <a:r>
              <a:rPr lang="en-US" altLang="zh-CN" sz="2400" dirty="0">
                <a:latin typeface="+mn-lt"/>
                <a:ea typeface="+mn-ea"/>
                <a:cs typeface="+mn-cs"/>
              </a:rPr>
              <a:t>9</a:t>
            </a:r>
            <a:r>
              <a:rPr lang="zh-CN" altLang="en-US" sz="2400" dirty="0">
                <a:latin typeface="+mn-lt"/>
                <a:ea typeface="+mn-ea"/>
                <a:cs typeface="+mn-cs"/>
              </a:rPr>
              <a:t>尽可能把它</a:t>
            </a:r>
            <a:endParaRPr lang="en-US" altLang="zh-CN" sz="2400" dirty="0">
              <a:latin typeface="+mn-lt"/>
              <a:ea typeface="+mn-ea"/>
              <a:cs typeface="+mn-cs"/>
            </a:endParaRPr>
          </a:p>
          <a:p>
            <a:pPr marL="342900" indent="-342900" algn="l" eaLnBrk="1" hangingPunct="1">
              <a:lnSpc>
                <a:spcPct val="120000"/>
              </a:lnSpc>
              <a:spcBef>
                <a:spcPct val="0"/>
              </a:spcBef>
              <a:buSzPct val="100000"/>
            </a:pPr>
            <a:r>
              <a:rPr lang="en-US" altLang="zh-CN" sz="2400" dirty="0">
                <a:latin typeface="+mn-lt"/>
                <a:ea typeface="+mn-ea"/>
                <a:cs typeface="+mn-cs"/>
              </a:rPr>
              <a:t>              </a:t>
            </a:r>
            <a:r>
              <a:rPr lang="zh-CN" altLang="en-US" sz="2400" dirty="0">
                <a:latin typeface="+mn-lt"/>
                <a:ea typeface="+mn-ea"/>
                <a:cs typeface="+mn-cs"/>
              </a:rPr>
              <a:t>移到树的叶端。</a:t>
            </a:r>
            <a:endParaRPr lang="en-US" altLang="zh-CN" sz="2400" dirty="0">
              <a:latin typeface="+mn-lt"/>
              <a:ea typeface="+mn-ea"/>
              <a:cs typeface="+mn-cs"/>
            </a:endParaRPr>
          </a:p>
          <a:p>
            <a:pPr marL="342900" indent="-342900" algn="l" eaLnBrk="1" hangingPunct="1">
              <a:lnSpc>
                <a:spcPct val="120000"/>
              </a:lnSpc>
              <a:buSzPct val="100000"/>
            </a:pPr>
            <a:endParaRPr lang="zh-CN" altLang="en-US" sz="2400" dirty="0">
              <a:latin typeface="华文楷体" panose="02010600040101010101" pitchFamily="2" charset="-122"/>
              <a:ea typeface="+mn-ea"/>
              <a:cs typeface="+mn-cs"/>
            </a:endParaRPr>
          </a:p>
          <a:p>
            <a:pPr marL="342900" indent="-342900" algn="l" eaLnBrk="1" hangingPunct="1">
              <a:buSzPct val="100000"/>
            </a:pPr>
            <a:r>
              <a:rPr lang="zh-CN" altLang="en-US" sz="2000" dirty="0">
                <a:latin typeface="华文楷体" panose="02010600040101010101" pitchFamily="2" charset="-122"/>
                <a:ea typeface="+mn-ea"/>
                <a:cs typeface="+mn-cs"/>
              </a:rPr>
              <a:t>	</a:t>
            </a:r>
            <a:endParaRPr lang="zh-CN" altLang="en-US" sz="2400" dirty="0">
              <a:latin typeface="+mn-lt"/>
              <a:ea typeface="+mn-ea"/>
              <a:cs typeface="+mn-cs"/>
            </a:endParaRPr>
          </a:p>
        </p:txBody>
      </p:sp>
      <p:sp>
        <p:nvSpPr>
          <p:cNvPr id="67590" name="Text Box 9"/>
          <p:cNvSpPr/>
          <p:nvPr/>
        </p:nvSpPr>
        <p:spPr>
          <a:xfrm>
            <a:off x="4367213" y="5413375"/>
            <a:ext cx="6527800" cy="847725"/>
          </a:xfrm>
          <a:prstGeom prst="rect">
            <a:avLst/>
          </a:prstGeom>
          <a:solidFill>
            <a:srgbClr val="EEE678"/>
          </a:solidFill>
          <a:ln w="25400" cap="flat" cmpd="sng">
            <a:solidFill>
              <a:schemeClr val="tx1"/>
            </a:solidFill>
            <a:prstDash val="solid"/>
            <a:bevel/>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Clr>
                <a:schemeClr val="hlink"/>
              </a:buClr>
              <a:buSzTx/>
              <a:buNone/>
            </a:pPr>
            <a:r>
              <a:rPr lang="zh-CN" altLang="en-US" sz="2400" dirty="0">
                <a:latin typeface="Times New Roman" panose="02020603050405020304" charset="0"/>
                <a:sym typeface="Times New Roman" panose="02020603050405020304" charset="0"/>
              </a:rPr>
              <a:t>规则</a:t>
            </a:r>
            <a:r>
              <a:rPr lang="en-US" altLang="zh-CN" sz="2400" dirty="0">
                <a:latin typeface="Times New Roman" panose="02020603050405020304" charset="0"/>
                <a:sym typeface="Times New Roman" panose="02020603050405020304" charset="0"/>
              </a:rPr>
              <a:t>4</a:t>
            </a:r>
            <a:r>
              <a:rPr lang="zh-CN" altLang="en-US" sz="2400" dirty="0">
                <a:latin typeface="Times New Roman" panose="02020603050405020304" charset="0"/>
                <a:sym typeface="Times New Roman" panose="02020603050405020304" charset="0"/>
              </a:rPr>
              <a:t>：    合并或分解选择运算</a:t>
            </a:r>
            <a:endParaRPr lang="zh-CN" altLang="en-US" sz="2400" dirty="0">
              <a:latin typeface="Times New Roman" panose="02020603050405020304" charset="0"/>
              <a:sym typeface="Times New Roman" panose="02020603050405020304" charset="0"/>
            </a:endParaRPr>
          </a:p>
          <a:p>
            <a:pPr marL="342900" lvl="0" indent="-342900" eaLnBrk="1" hangingPunct="1">
              <a:spcBef>
                <a:spcPct val="0"/>
              </a:spcBef>
              <a:buClr>
                <a:schemeClr val="hlink"/>
              </a:buClr>
              <a:buSzTx/>
              <a:buNone/>
            </a:pPr>
            <a:r>
              <a:rPr lang="zh-CN" altLang="en-US" sz="2400" dirty="0">
                <a:latin typeface="Times New Roman" panose="02020603050405020304" charset="0"/>
                <a:sym typeface="Times New Roman" panose="02020603050405020304" charset="0"/>
              </a:rPr>
              <a:t>规则</a:t>
            </a:r>
            <a:r>
              <a:rPr lang="en-US" altLang="zh-CN" sz="2400" dirty="0">
                <a:latin typeface="Times New Roman" panose="02020603050405020304" charset="0"/>
                <a:sym typeface="Times New Roman" panose="02020603050405020304" charset="0"/>
              </a:rPr>
              <a:t>5-9</a:t>
            </a:r>
            <a:r>
              <a:rPr lang="zh-CN" altLang="en-US" sz="2400" dirty="0">
                <a:latin typeface="Times New Roman" panose="02020603050405020304" charset="0"/>
                <a:sym typeface="Times New Roman" panose="02020603050405020304" charset="0"/>
              </a:rPr>
              <a:t>： 选择运算与其他运算交换</a:t>
            </a:r>
            <a:endParaRPr lang="zh-CN" altLang="en-US" sz="1800" b="0" dirty="0"/>
          </a:p>
        </p:txBody>
      </p:sp>
      <p:grpSp>
        <p:nvGrpSpPr>
          <p:cNvPr id="2" name="Group 8"/>
          <p:cNvGrpSpPr/>
          <p:nvPr/>
        </p:nvGrpSpPr>
        <p:grpSpPr>
          <a:xfrm>
            <a:off x="4310063" y="3205163"/>
            <a:ext cx="4673600" cy="847725"/>
            <a:chOff x="1905" y="2823"/>
            <a:chExt cx="2404" cy="534"/>
          </a:xfrm>
        </p:grpSpPr>
        <p:sp>
          <p:nvSpPr>
            <p:cNvPr id="71688" name="Text Box 4"/>
            <p:cNvSpPr txBox="1"/>
            <p:nvPr/>
          </p:nvSpPr>
          <p:spPr>
            <a:xfrm>
              <a:off x="1905" y="2823"/>
              <a:ext cx="2404" cy="534"/>
            </a:xfrm>
            <a:prstGeom prst="rect">
              <a:avLst/>
            </a:prstGeom>
            <a:solidFill>
              <a:srgbClr val="EEE678"/>
            </a:solidFill>
            <a:ln w="254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r>
                <a:rPr lang="zh-CN" altLang="en-US" sz="2400" dirty="0"/>
                <a:t>规则</a:t>
              </a:r>
              <a:r>
                <a:rPr lang="en-US" altLang="zh-CN" sz="2400" dirty="0"/>
                <a:t>4:  </a:t>
              </a:r>
              <a:r>
                <a:rPr lang="zh-CN" altLang="en-US" sz="2400" dirty="0"/>
                <a:t>选择的串接定律</a:t>
              </a:r>
              <a:endParaRPr lang="zh-CN" altLang="en-US" sz="2400" dirty="0"/>
            </a:p>
            <a:p>
              <a:pPr marL="342900" lvl="0" indent="-342900" eaLnBrk="1" hangingPunct="1">
                <a:spcBef>
                  <a:spcPct val="0"/>
                </a:spcBef>
                <a:buSzTx/>
                <a:buFont typeface="Arial" panose="020B0604020202020204" pitchFamily="34" charset="0"/>
                <a:buNone/>
              </a:pPr>
              <a:r>
                <a:rPr lang="zh-CN" altLang="en-US" sz="2400" dirty="0"/>
                <a:t>         </a:t>
              </a:r>
              <a:r>
                <a:rPr lang="en-US" altLang="zh-CN" sz="2400" dirty="0"/>
                <a:t>(    (</a:t>
              </a:r>
              <a:r>
                <a:rPr lang="en-US" altLang="zh-CN" sz="2400" i="1" dirty="0"/>
                <a:t>E</a:t>
              </a:r>
              <a:r>
                <a:rPr lang="en-US" altLang="zh-CN" sz="2400" dirty="0"/>
                <a:t>))≡          (</a:t>
              </a:r>
              <a:r>
                <a:rPr lang="en-US" altLang="zh-CN" sz="2400" i="1" dirty="0"/>
                <a:t>E</a:t>
              </a:r>
              <a:r>
                <a:rPr lang="en-US" altLang="zh-CN" sz="2400" dirty="0"/>
                <a:t>)</a:t>
              </a:r>
              <a:endParaRPr lang="en-US" altLang="zh-CN" sz="2400" dirty="0"/>
            </a:p>
          </p:txBody>
        </p:sp>
        <p:graphicFrame>
          <p:nvGraphicFramePr>
            <p:cNvPr id="71689" name="Object 5"/>
            <p:cNvGraphicFramePr>
              <a:graphicFrameLocks noChangeAspect="1"/>
            </p:cNvGraphicFramePr>
            <p:nvPr/>
          </p:nvGraphicFramePr>
          <p:xfrm>
            <a:off x="2081" y="3039"/>
            <a:ext cx="280" cy="295"/>
          </p:xfrm>
          <a:graphic>
            <a:graphicData uri="http://schemas.openxmlformats.org/presentationml/2006/ole">
              <mc:AlternateContent xmlns:mc="http://schemas.openxmlformats.org/markup-compatibility/2006">
                <mc:Choice xmlns:v="urn:schemas-microsoft-com:vml" Requires="v">
                  <p:oleObj spid="_x0000_s3106" name="" r:id="rId1" imgW="228600" imgH="241300" progId="Equation.3">
                    <p:embed/>
                  </p:oleObj>
                </mc:Choice>
                <mc:Fallback>
                  <p:oleObj name="" r:id="rId1" imgW="228600" imgH="241300" progId="Equation.3">
                    <p:embed/>
                    <p:pic>
                      <p:nvPicPr>
                        <p:cNvPr id="0" name="图片 3105"/>
                        <p:cNvPicPr/>
                        <p:nvPr/>
                      </p:nvPicPr>
                      <p:blipFill>
                        <a:blip r:embed="rId2"/>
                        <a:stretch>
                          <a:fillRect/>
                        </a:stretch>
                      </p:blipFill>
                      <p:spPr>
                        <a:xfrm>
                          <a:off x="2081" y="3039"/>
                          <a:ext cx="280" cy="295"/>
                        </a:xfrm>
                        <a:prstGeom prst="rect">
                          <a:avLst/>
                        </a:prstGeom>
                        <a:noFill/>
                        <a:ln w="38100">
                          <a:noFill/>
                          <a:miter/>
                        </a:ln>
                      </p:spPr>
                    </p:pic>
                  </p:oleObj>
                </mc:Fallback>
              </mc:AlternateContent>
            </a:graphicData>
          </a:graphic>
        </p:graphicFrame>
        <p:graphicFrame>
          <p:nvGraphicFramePr>
            <p:cNvPr id="71690" name="Object 6"/>
            <p:cNvGraphicFramePr>
              <a:graphicFrameLocks noChangeAspect="1"/>
            </p:cNvGraphicFramePr>
            <p:nvPr/>
          </p:nvGraphicFramePr>
          <p:xfrm>
            <a:off x="2342" y="3046"/>
            <a:ext cx="295" cy="288"/>
          </p:xfrm>
          <a:graphic>
            <a:graphicData uri="http://schemas.openxmlformats.org/presentationml/2006/ole">
              <mc:AlternateContent xmlns:mc="http://schemas.openxmlformats.org/markup-compatibility/2006">
                <mc:Choice xmlns:v="urn:schemas-microsoft-com:vml" Requires="v">
                  <p:oleObj spid="_x0000_s3107" name="" r:id="rId3" imgW="254000" imgH="241300" progId="Equation.3">
                    <p:embed/>
                  </p:oleObj>
                </mc:Choice>
                <mc:Fallback>
                  <p:oleObj name="" r:id="rId3" imgW="254000" imgH="241300" progId="Equation.3">
                    <p:embed/>
                    <p:pic>
                      <p:nvPicPr>
                        <p:cNvPr id="0" name="图片 3106"/>
                        <p:cNvPicPr/>
                        <p:nvPr/>
                      </p:nvPicPr>
                      <p:blipFill>
                        <a:blip r:embed="rId4"/>
                        <a:stretch>
                          <a:fillRect/>
                        </a:stretch>
                      </p:blipFill>
                      <p:spPr>
                        <a:xfrm>
                          <a:off x="2342" y="3046"/>
                          <a:ext cx="295" cy="288"/>
                        </a:xfrm>
                        <a:prstGeom prst="rect">
                          <a:avLst/>
                        </a:prstGeom>
                        <a:noFill/>
                        <a:ln w="38100">
                          <a:noFill/>
                          <a:miter/>
                        </a:ln>
                      </p:spPr>
                    </p:pic>
                  </p:oleObj>
                </mc:Fallback>
              </mc:AlternateContent>
            </a:graphicData>
          </a:graphic>
        </p:graphicFrame>
        <p:graphicFrame>
          <p:nvGraphicFramePr>
            <p:cNvPr id="71691" name="Object 7"/>
            <p:cNvGraphicFramePr>
              <a:graphicFrameLocks noChangeAspect="1"/>
            </p:cNvGraphicFramePr>
            <p:nvPr/>
          </p:nvGraphicFramePr>
          <p:xfrm>
            <a:off x="2899" y="3030"/>
            <a:ext cx="567" cy="327"/>
          </p:xfrm>
          <a:graphic>
            <a:graphicData uri="http://schemas.openxmlformats.org/presentationml/2006/ole">
              <mc:AlternateContent xmlns:mc="http://schemas.openxmlformats.org/markup-compatibility/2006">
                <mc:Choice xmlns:v="urn:schemas-microsoft-com:vml" Requires="v">
                  <p:oleObj spid="_x0000_s3108" name="" r:id="rId5" imgW="431800" imgH="254000" progId="Equation.3">
                    <p:embed/>
                  </p:oleObj>
                </mc:Choice>
                <mc:Fallback>
                  <p:oleObj name="" r:id="rId5" imgW="431800" imgH="254000" progId="Equation.3">
                    <p:embed/>
                    <p:pic>
                      <p:nvPicPr>
                        <p:cNvPr id="0" name="图片 3107"/>
                        <p:cNvPicPr/>
                        <p:nvPr/>
                      </p:nvPicPr>
                      <p:blipFill>
                        <a:blip r:embed="rId6"/>
                        <a:stretch>
                          <a:fillRect/>
                        </a:stretch>
                      </p:blipFill>
                      <p:spPr>
                        <a:xfrm>
                          <a:off x="2899" y="3030"/>
                          <a:ext cx="567" cy="327"/>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2"/>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67590"/>
                                        </p:tgtEl>
                                        <p:attrNameLst>
                                          <p:attrName>style.visibility</p:attrName>
                                        </p:attrNameLst>
                                      </p:cBhvr>
                                      <p:to>
                                        <p:strVal val="visible"/>
                                      </p:to>
                                    </p:set>
                                    <p:animEffect transition="in" filter="blinds(horizontal)">
                                      <p:cBhvr>
                                        <p:cTn id="16" dur="500"/>
                                        <p:tgtEl>
                                          <p:spTgt spid="67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0"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TextBox 3"/>
          <p:cNvSpPr/>
          <p:nvPr/>
        </p:nvSpPr>
        <p:spPr>
          <a:xfrm>
            <a:off x="8453438" y="6357938"/>
            <a:ext cx="1785937" cy="3048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 typeface="Arial" panose="020B0604020202020204" pitchFamily="34" charset="0"/>
              <a:buNone/>
            </a:pPr>
            <a:r>
              <a:rPr lang="zh-CN" altLang="zh-CN" sz="1400" dirty="0">
                <a:solidFill>
                  <a:srgbClr val="953734"/>
                </a:solidFill>
                <a:latin typeface="微软雅黑" panose="020B0503020204020204" charset="-122"/>
                <a:ea typeface="微软雅黑" panose="020B0503020204020204" charset="-122"/>
                <a:sym typeface="微软雅黑" panose="020B0503020204020204" charset="-122"/>
              </a:rPr>
              <a:t>*</a:t>
            </a:r>
            <a:endParaRPr lang="zh-CN" altLang="zh-CN" sz="1400" dirty="0">
              <a:solidFill>
                <a:srgbClr val="953734"/>
              </a:solidFill>
              <a:latin typeface="微软雅黑" panose="020B0503020204020204" charset="-122"/>
              <a:ea typeface="微软雅黑" panose="020B0503020204020204" charset="-122"/>
              <a:sym typeface="微软雅黑" panose="020B0503020204020204" charset="-122"/>
            </a:endParaRPr>
          </a:p>
        </p:txBody>
      </p:sp>
      <p:sp>
        <p:nvSpPr>
          <p:cNvPr id="72707" name="文本框 4"/>
          <p:cNvSpPr/>
          <p:nvPr/>
        </p:nvSpPr>
        <p:spPr>
          <a:xfrm>
            <a:off x="2063750" y="6334125"/>
            <a:ext cx="2160588" cy="246063"/>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 typeface="Arial" panose="020B0604020202020204" pitchFamily="34" charset="0"/>
              <a:buNone/>
            </a:pPr>
            <a:endParaRPr lang="zh-CN" altLang="zh-CN" sz="1000" b="0" dirty="0">
              <a:solidFill>
                <a:srgbClr val="000000"/>
              </a:solidFill>
              <a:latin typeface="Times New Roman" panose="02020603050405020304" charset="0"/>
              <a:ea typeface="黑体" panose="02010609060101010101" pitchFamily="49" charset="-122"/>
              <a:sym typeface="宋体" panose="02010600030101010101" pitchFamily="2" charset="-122"/>
            </a:endParaRPr>
          </a:p>
        </p:txBody>
      </p:sp>
      <p:sp>
        <p:nvSpPr>
          <p:cNvPr id="72708" name="Rectangle 2"/>
          <p:cNvSpPr>
            <a:spLocks noGrp="1"/>
          </p:cNvSpPr>
          <p:nvPr>
            <p:ph type="title"/>
          </p:nvPr>
        </p:nvSpPr>
        <p:spPr>
          <a:xfrm>
            <a:off x="1981200" y="41275"/>
            <a:ext cx="8229600" cy="939800"/>
          </a:xfrm>
        </p:spPr>
        <p:txBody>
          <a:bodyPr vert="horz" wrap="square" lIns="91440" tIns="45720" rIns="91440" bIns="45720" anchor="ctr" anchorCtr="0"/>
          <a:p>
            <a:pPr eaLnBrk="1" hangingPunct="1"/>
            <a:r>
              <a:rPr lang="zh-CN" altLang="zh-CN" sz="3600" dirty="0"/>
              <a:t>查询树的启发式优化（续）</a:t>
            </a:r>
            <a:endParaRPr lang="zh-CN" altLang="zh-CN" sz="3600" dirty="0"/>
          </a:p>
        </p:txBody>
      </p:sp>
      <p:sp>
        <p:nvSpPr>
          <p:cNvPr id="68613" name="Rectangle 3"/>
          <p:cNvSpPr>
            <a:spLocks noGrp="1" noChangeArrowheads="1"/>
          </p:cNvSpPr>
          <p:nvPr>
            <p:ph type="subTitle" idx="1"/>
          </p:nvPr>
        </p:nvSpPr>
        <p:spPr>
          <a:xfrm>
            <a:off x="828675" y="1042988"/>
            <a:ext cx="10163175" cy="4857750"/>
          </a:xfrm>
        </p:spPr>
        <p:txBody>
          <a:bodyPr vert="horz" wrap="square" lIns="91440" tIns="45720" rIns="91440" bIns="45720" numCol="1" anchor="t" anchorCtr="0" compatLnSpc="1"/>
          <a:lstStyle/>
          <a:p>
            <a:pPr marL="342900" marR="0" lvl="0" indent="-342900" algn="l" defTabSz="914400" rtl="0" eaLnBrk="1" fontAlgn="base" latinLnBrk="0" hangingPunct="1">
              <a:lnSpc>
                <a:spcPct val="120000"/>
              </a:lnSpc>
              <a:spcBef>
                <a:spcPct val="0"/>
              </a:spcBef>
              <a:spcAft>
                <a:spcPct val="0"/>
              </a:spcAft>
              <a:buClrTx/>
              <a:buSzPct val="10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mn-ea"/>
                <a:cs typeface="+mn-cs"/>
              </a:rPr>
              <a:t>	</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3</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）对每一个投影利用等价变换规则</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3</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5</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10</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11</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中的一般形式尽可能把它移向树的叶端。</a:t>
            </a: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20000"/>
              </a:lnSpc>
              <a:spcBef>
                <a:spcPct val="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注意： </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1" fontAlgn="base" latinLnBrk="0" hangingPunct="1">
              <a:lnSpc>
                <a:spcPct val="120000"/>
              </a:lnSpc>
              <a:spcBef>
                <a:spcPct val="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等价变换规则</a:t>
            </a:r>
            <a:r>
              <a:rPr kumimoji="0" lang="en-US" altLang="zh-CN" sz="2200" b="1" i="0" u="none" strike="noStrike" kern="0" cap="none" spc="0" normalizeH="0" baseline="0" noProof="0" dirty="0">
                <a:ln>
                  <a:noFill/>
                </a:ln>
                <a:solidFill>
                  <a:schemeClr val="tx1"/>
                </a:solidFill>
                <a:effectLst/>
                <a:uLnTx/>
                <a:uFillTx/>
                <a:latin typeface="+mn-lt"/>
                <a:ea typeface="+mn-ea"/>
              </a:rPr>
              <a:t>3</a:t>
            </a:r>
            <a:r>
              <a:rPr kumimoji="0" lang="zh-CN" altLang="en-US" sz="2200" b="1" i="0" u="none" strike="noStrike" kern="0" cap="none" spc="0" normalizeH="0" baseline="0" noProof="0" dirty="0">
                <a:ln>
                  <a:noFill/>
                </a:ln>
                <a:solidFill>
                  <a:schemeClr val="tx1"/>
                </a:solidFill>
                <a:effectLst/>
                <a:uLnTx/>
                <a:uFillTx/>
                <a:latin typeface="+mn-lt"/>
                <a:ea typeface="+mn-ea"/>
              </a:rPr>
              <a:t>使一些投影消失或使一些投影出现</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1" fontAlgn="base" latinLnBrk="0" hangingPunct="1">
              <a:lnSpc>
                <a:spcPct val="120000"/>
              </a:lnSpc>
              <a:spcBef>
                <a:spcPct val="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规则</a:t>
            </a:r>
            <a:r>
              <a:rPr kumimoji="0" lang="en-US" altLang="zh-CN" sz="2200" b="1" i="0" u="none" strike="noStrike" kern="0" cap="none" spc="0" normalizeH="0" baseline="0" noProof="0" dirty="0">
                <a:ln>
                  <a:noFill/>
                </a:ln>
                <a:solidFill>
                  <a:schemeClr val="tx1"/>
                </a:solidFill>
                <a:effectLst/>
                <a:uLnTx/>
                <a:uFillTx/>
                <a:latin typeface="+mn-lt"/>
                <a:ea typeface="+mn-ea"/>
              </a:rPr>
              <a:t>5</a:t>
            </a:r>
            <a:r>
              <a:rPr kumimoji="0" lang="zh-CN" altLang="en-US" sz="2200" b="1" i="0" u="none" strike="noStrike" kern="0" cap="none" spc="0" normalizeH="0" baseline="0" noProof="0" dirty="0">
                <a:ln>
                  <a:noFill/>
                </a:ln>
                <a:solidFill>
                  <a:schemeClr val="tx1"/>
                </a:solidFill>
                <a:effectLst/>
                <a:uLnTx/>
                <a:uFillTx/>
                <a:latin typeface="+mn-lt"/>
                <a:ea typeface="+mn-ea"/>
              </a:rPr>
              <a:t>把一个投影分裂为两个，其中一个有可能被移向树的叶端 </a:t>
            </a:r>
            <a:endParaRPr kumimoji="0" lang="en-US" altLang="zh-CN" sz="2200" b="1" i="0" u="none" strike="noStrike" kern="0" cap="none" spc="0" normalizeH="0" baseline="0" noProof="0" dirty="0">
              <a:ln>
                <a:noFill/>
              </a:ln>
              <a:solidFill>
                <a:schemeClr val="tx1"/>
              </a:solidFill>
              <a:effectLst/>
              <a:uLnTx/>
              <a:uFillTx/>
              <a:latin typeface="+mn-lt"/>
              <a:ea typeface="+mn-ea"/>
            </a:endParaRPr>
          </a:p>
          <a:p>
            <a:pPr marL="228600" marR="0" lvl="0" indent="-228600" algn="l" defTabSz="914400" rtl="0" eaLnBrk="1" fontAlgn="base" latinLnBrk="0" hangingPunct="1">
              <a:lnSpc>
                <a:spcPct val="120000"/>
              </a:lnSpc>
              <a:spcBef>
                <a:spcPct val="0"/>
              </a:spcBef>
              <a:spcAft>
                <a:spcPct val="0"/>
              </a:spcAft>
              <a:buClrTx/>
              <a:buSzPct val="87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mn-ea"/>
                <a:cs typeface="+mn-cs"/>
              </a:rPr>
              <a:t>    </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4</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）利用等价变换规则</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3</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5</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，把选择和投影的串接合并成单个选择、单个投影或一个选择后跟一个投影，使多个选择或投影能同时执行，或在一次扫描中全部完成</a:t>
            </a: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Pct val="100000"/>
              <a:buFont typeface="Wingdings" panose="05000000000000000000" pitchFamily="2" charset="2"/>
              <a:buNone/>
              <a:defRPr/>
            </a:pP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p:txBody>
      </p:sp>
      <p:sp>
        <p:nvSpPr>
          <p:cNvPr id="14" name="Text Box 5"/>
          <p:cNvSpPr txBox="1"/>
          <p:nvPr/>
        </p:nvSpPr>
        <p:spPr>
          <a:xfrm>
            <a:off x="623888" y="4568825"/>
            <a:ext cx="5543550" cy="847725"/>
          </a:xfrm>
          <a:prstGeom prst="rect">
            <a:avLst/>
          </a:prstGeom>
          <a:solidFill>
            <a:srgbClr val="EEE678"/>
          </a:solidFill>
          <a:ln w="254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r>
              <a:rPr lang="zh-CN" altLang="en-US" sz="2400" dirty="0"/>
              <a:t>规则</a:t>
            </a:r>
            <a:r>
              <a:rPr lang="en-US" altLang="zh-CN" sz="2400" dirty="0"/>
              <a:t>3</a:t>
            </a:r>
            <a:r>
              <a:rPr lang="zh-CN" altLang="en-US" sz="2400" dirty="0"/>
              <a:t>：    	合并或分解投影运算</a:t>
            </a:r>
            <a:endParaRPr lang="zh-CN" altLang="en-US" sz="2400" dirty="0"/>
          </a:p>
          <a:p>
            <a:pPr marL="342900" lvl="0" indent="-342900" eaLnBrk="1" hangingPunct="1">
              <a:spcBef>
                <a:spcPct val="0"/>
              </a:spcBef>
              <a:buSzTx/>
              <a:buFont typeface="Arial" panose="020B0604020202020204" pitchFamily="34" charset="0"/>
              <a:buNone/>
            </a:pPr>
            <a:r>
              <a:rPr lang="zh-CN" altLang="en-US" sz="2400" dirty="0"/>
              <a:t>规则</a:t>
            </a:r>
            <a:r>
              <a:rPr lang="en-US" altLang="zh-CN" sz="2400" dirty="0"/>
              <a:t>5,10,11</a:t>
            </a:r>
            <a:r>
              <a:rPr lang="zh-CN" altLang="en-US" sz="2400" dirty="0"/>
              <a:t>：投影运算与其他运算交换</a:t>
            </a:r>
            <a:endParaRPr lang="zh-CN" altLang="en-US" sz="2400" dirty="0"/>
          </a:p>
        </p:txBody>
      </p:sp>
      <p:sp>
        <p:nvSpPr>
          <p:cNvPr id="15" name="Text Box 6"/>
          <p:cNvSpPr txBox="1"/>
          <p:nvPr/>
        </p:nvSpPr>
        <p:spPr>
          <a:xfrm>
            <a:off x="6311900" y="4556125"/>
            <a:ext cx="5543550" cy="1212850"/>
          </a:xfrm>
          <a:prstGeom prst="rect">
            <a:avLst/>
          </a:prstGeom>
          <a:solidFill>
            <a:srgbClr val="EEE678"/>
          </a:solidFill>
          <a:ln w="254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r>
              <a:rPr lang="zh-CN" altLang="en-US" sz="2400" dirty="0"/>
              <a:t>规则</a:t>
            </a:r>
            <a:r>
              <a:rPr lang="en-US" altLang="zh-CN" sz="2400" dirty="0"/>
              <a:t>3</a:t>
            </a:r>
            <a:r>
              <a:rPr lang="zh-CN" altLang="en-US" sz="2400" dirty="0"/>
              <a:t>：合并或分解投影运算</a:t>
            </a:r>
            <a:endParaRPr lang="zh-CN" altLang="en-US" sz="2400" dirty="0"/>
          </a:p>
          <a:p>
            <a:pPr marL="342900" lvl="0" indent="-342900" eaLnBrk="1" hangingPunct="1">
              <a:spcBef>
                <a:spcPct val="0"/>
              </a:spcBef>
              <a:buSzTx/>
              <a:buFont typeface="Arial" panose="020B0604020202020204" pitchFamily="34" charset="0"/>
              <a:buNone/>
            </a:pPr>
            <a:r>
              <a:rPr lang="zh-CN" altLang="en-US" sz="2400" dirty="0"/>
              <a:t>规则</a:t>
            </a:r>
            <a:r>
              <a:rPr lang="en-US" altLang="zh-CN" sz="2400" dirty="0"/>
              <a:t>4</a:t>
            </a:r>
            <a:r>
              <a:rPr lang="zh-CN" altLang="en-US" sz="2400" dirty="0"/>
              <a:t>：合并或分解选择运算</a:t>
            </a:r>
            <a:endParaRPr lang="zh-CN" altLang="en-US" sz="2400" dirty="0"/>
          </a:p>
          <a:p>
            <a:pPr marL="342900" lvl="0" indent="-342900" eaLnBrk="1" hangingPunct="1">
              <a:spcBef>
                <a:spcPct val="0"/>
              </a:spcBef>
              <a:buSzTx/>
              <a:buFont typeface="Arial" panose="020B0604020202020204" pitchFamily="34" charset="0"/>
              <a:buNone/>
            </a:pPr>
            <a:r>
              <a:rPr lang="zh-CN" altLang="en-US" sz="2400" dirty="0"/>
              <a:t>规则</a:t>
            </a:r>
            <a:r>
              <a:rPr lang="en-US" altLang="zh-CN" sz="2400" dirty="0"/>
              <a:t>5</a:t>
            </a:r>
            <a:r>
              <a:rPr lang="zh-CN" altLang="en-US" sz="2400" dirty="0"/>
              <a:t>：投影运算与选择运算交换</a:t>
            </a:r>
            <a:endParaRPr lang="zh-CN" alt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14"/>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blinds(horizontal)">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5"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标题 1"/>
          <p:cNvSpPr>
            <a:spLocks noGrp="1"/>
          </p:cNvSpPr>
          <p:nvPr>
            <p:ph type="title"/>
          </p:nvPr>
        </p:nvSpPr>
        <p:spPr/>
        <p:txBody>
          <a:bodyPr vert="horz" wrap="square" lIns="91440" tIns="45720" rIns="91440" bIns="45720" anchor="ctr" anchorCtr="0"/>
          <a:p>
            <a:r>
              <a:rPr lang="zh-CN" altLang="zh-CN" sz="3600" dirty="0"/>
              <a:t>查询树的启发式优化（续）</a:t>
            </a:r>
            <a:endParaRPr lang="zh-CN" altLang="en-US" sz="3600" dirty="0"/>
          </a:p>
        </p:txBody>
      </p:sp>
      <p:sp>
        <p:nvSpPr>
          <p:cNvPr id="73731" name="内容占位符 2"/>
          <p:cNvSpPr>
            <a:spLocks noGrp="1"/>
          </p:cNvSpPr>
          <p:nvPr>
            <p:ph idx="1"/>
          </p:nvPr>
        </p:nvSpPr>
        <p:spPr/>
        <p:txBody>
          <a:bodyPr vert="horz" wrap="square" lIns="91440" tIns="45720" rIns="91440" bIns="45720" anchor="t" anchorCtr="0"/>
          <a:p>
            <a:pPr marL="0" indent="0">
              <a:lnSpc>
                <a:spcPct val="120000"/>
              </a:lnSpc>
              <a:buNone/>
            </a:pPr>
            <a:r>
              <a:rPr lang="en-US" altLang="zh-CN" dirty="0"/>
              <a:t> </a:t>
            </a:r>
            <a:r>
              <a:rPr lang="zh-CN" altLang="en-US" dirty="0"/>
              <a:t>（</a:t>
            </a:r>
            <a:r>
              <a:rPr lang="en-US" altLang="zh-CN" dirty="0"/>
              <a:t>5</a:t>
            </a:r>
            <a:r>
              <a:rPr lang="zh-CN" altLang="en-US" dirty="0"/>
              <a:t>）把上述得到的语法树的内节点分组。</a:t>
            </a:r>
            <a:endParaRPr lang="en-US" altLang="zh-CN" dirty="0"/>
          </a:p>
          <a:p>
            <a:pPr lvl="1">
              <a:lnSpc>
                <a:spcPct val="120000"/>
              </a:lnSpc>
            </a:pPr>
            <a:r>
              <a:rPr lang="zh-CN" altLang="en-US" dirty="0"/>
              <a:t>每一双目运算</a:t>
            </a:r>
            <a:r>
              <a:rPr lang="en-US" altLang="zh-CN" dirty="0"/>
              <a:t>(×</a:t>
            </a:r>
            <a:r>
              <a:rPr lang="zh-CN" altLang="en-US" dirty="0"/>
              <a:t>，  ，∪，</a:t>
            </a:r>
            <a:r>
              <a:rPr lang="en-US" altLang="zh-CN" dirty="0"/>
              <a:t>-)</a:t>
            </a:r>
            <a:r>
              <a:rPr lang="zh-CN" altLang="en-US" dirty="0"/>
              <a:t>和它所有的直接祖先为一组</a:t>
            </a:r>
            <a:r>
              <a:rPr lang="en-US" altLang="zh-CN" dirty="0"/>
              <a:t>(</a:t>
            </a:r>
            <a:r>
              <a:rPr lang="zh-CN" altLang="en-US" dirty="0"/>
              <a:t>这些直接祖先是</a:t>
            </a:r>
            <a:r>
              <a:rPr lang="en-US" altLang="zh-CN" dirty="0"/>
              <a:t>(σ</a:t>
            </a:r>
            <a:r>
              <a:rPr lang="zh-CN" altLang="en-US" dirty="0"/>
              <a:t>，</a:t>
            </a:r>
            <a:r>
              <a:rPr lang="en-US" altLang="zh-CN" dirty="0"/>
              <a:t>π</a:t>
            </a:r>
            <a:r>
              <a:rPr lang="zh-CN" altLang="en-US" dirty="0"/>
              <a:t>运算</a:t>
            </a:r>
            <a:r>
              <a:rPr lang="en-US" altLang="zh-CN" dirty="0"/>
              <a:t>)</a:t>
            </a:r>
            <a:r>
              <a:rPr lang="zh-CN" altLang="en-US" dirty="0"/>
              <a:t>。</a:t>
            </a:r>
            <a:endParaRPr lang="zh-CN" altLang="en-US" dirty="0"/>
          </a:p>
          <a:p>
            <a:pPr lvl="1">
              <a:lnSpc>
                <a:spcPct val="120000"/>
              </a:lnSpc>
            </a:pPr>
            <a:r>
              <a:rPr lang="zh-CN" altLang="en-US" dirty="0"/>
              <a:t>如果其后代直到叶子全是单目运算，则也将它们并入该组</a:t>
            </a:r>
            <a:endParaRPr lang="zh-CN" altLang="en-US" dirty="0"/>
          </a:p>
          <a:p>
            <a:pPr lvl="1">
              <a:lnSpc>
                <a:spcPct val="120000"/>
              </a:lnSpc>
            </a:pPr>
            <a:r>
              <a:rPr lang="zh-CN" altLang="en-US" dirty="0"/>
              <a:t>但当双目运算是笛卡尔积</a:t>
            </a:r>
            <a:r>
              <a:rPr lang="en-US" altLang="zh-CN" dirty="0"/>
              <a:t>(×)</a:t>
            </a:r>
            <a:r>
              <a:rPr lang="zh-CN" altLang="en-US" dirty="0"/>
              <a:t>，而且后面不是与它组成等值连接的选择时，则不能把选择与这个双目运算组成同一组 </a:t>
            </a:r>
            <a:endParaRPr lang="zh-CN" altLang="en-US" dirty="0"/>
          </a:p>
        </p:txBody>
      </p:sp>
      <p:grpSp>
        <p:nvGrpSpPr>
          <p:cNvPr id="73732" name="Group 4"/>
          <p:cNvGrpSpPr/>
          <p:nvPr/>
        </p:nvGrpSpPr>
        <p:grpSpPr>
          <a:xfrm>
            <a:off x="3287713" y="2108200"/>
            <a:ext cx="1600200" cy="825500"/>
            <a:chOff x="2325" y="6446"/>
            <a:chExt cx="705" cy="367"/>
          </a:xfrm>
        </p:grpSpPr>
        <p:sp>
          <p:nvSpPr>
            <p:cNvPr id="73733" name="AutoShape 5"/>
            <p:cNvSpPr/>
            <p:nvPr/>
          </p:nvSpPr>
          <p:spPr>
            <a:xfrm rot="5400000" flipV="1">
              <a:off x="2612" y="6414"/>
              <a:ext cx="78" cy="142"/>
            </a:xfrm>
            <a:prstGeom prst="flowChartCollate">
              <a:avLst/>
            </a:prstGeom>
            <a:solidFill>
              <a:srgbClr val="FFFFFF"/>
            </a:solid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73734" name="Text Box 6"/>
            <p:cNvSpPr txBox="1"/>
            <p:nvPr/>
          </p:nvSpPr>
          <p:spPr>
            <a:xfrm flipV="1">
              <a:off x="2325" y="6450"/>
              <a:ext cx="705" cy="36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just">
                <a:lnSpc>
                  <a:spcPct val="80000"/>
                </a:lnSpc>
                <a:spcBef>
                  <a:spcPct val="0"/>
                </a:spcBef>
                <a:buSzTx/>
                <a:buFont typeface="Arial" panose="020B0604020202020204" pitchFamily="34" charset="0"/>
                <a:buNone/>
              </a:pPr>
              <a:r>
                <a:rPr lang="en-US" altLang="zh-CN" sz="600" i="1" dirty="0"/>
                <a:t> </a:t>
              </a:r>
              <a:endParaRPr lang="en-US" altLang="zh-CN" sz="600" dirty="0"/>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标题 1"/>
          <p:cNvSpPr>
            <a:spLocks noGrp="1"/>
          </p:cNvSpPr>
          <p:nvPr>
            <p:ph type="title"/>
          </p:nvPr>
        </p:nvSpPr>
        <p:spPr/>
        <p:txBody>
          <a:bodyPr vert="horz" wrap="square" lIns="91440" tIns="45720" rIns="91440" bIns="45720" anchor="ctr" anchorCtr="0"/>
          <a:p>
            <a:r>
              <a:rPr lang="zh-CN" altLang="zh-CN" sz="3600" dirty="0"/>
              <a:t>查询树的启发式优化（续）</a:t>
            </a:r>
            <a:endParaRPr lang="zh-CN" altLang="en-US" sz="3600" dirty="0"/>
          </a:p>
        </p:txBody>
      </p:sp>
      <p:sp>
        <p:nvSpPr>
          <p:cNvPr id="3" name="内容占位符 2"/>
          <p:cNvSpPr>
            <a:spLocks noGrp="1"/>
          </p:cNvSpPr>
          <p:nvPr>
            <p:ph idx="1"/>
          </p:nvPr>
        </p:nvSpPr>
        <p:spPr>
          <a:xfrm>
            <a:off x="1774825" y="1098550"/>
            <a:ext cx="9807575" cy="4854575"/>
          </a:xfrm>
        </p:spPr>
        <p:txBody>
          <a:bodyPr vert="horz" wrap="square" lIns="91440" tIns="45720" rIns="91440" bIns="45720" numCol="1" anchor="t" anchorCtr="0" compatLnSpc="1"/>
          <a:lstStyle/>
          <a:p>
            <a:pPr marL="342900" marR="0" lvl="0" indent="-34290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v"/>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例</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10</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4]</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下面给出</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例</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10</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3]</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中 </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SQL</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语句的代数优化示例</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1</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）把</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SQL</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语句转换成查询树，如下图所示</a:t>
            </a: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pic>
        <p:nvPicPr>
          <p:cNvPr id="74756" name="Picture 4" descr="93"/>
          <p:cNvPicPr>
            <a:picLocks noChangeAspect="1"/>
          </p:cNvPicPr>
          <p:nvPr/>
        </p:nvPicPr>
        <p:blipFill>
          <a:blip r:embed="rId1"/>
          <a:stretch>
            <a:fillRect/>
          </a:stretch>
        </p:blipFill>
        <p:spPr>
          <a:xfrm>
            <a:off x="4583113" y="2492375"/>
            <a:ext cx="2881312" cy="3455988"/>
          </a:xfrm>
          <a:prstGeom prst="rect">
            <a:avLst/>
          </a:prstGeom>
          <a:noFill/>
          <a:ln w="9525">
            <a:noFill/>
          </a:ln>
        </p:spPr>
      </p:pic>
      <p:sp>
        <p:nvSpPr>
          <p:cNvPr id="74757" name="TextBox 4"/>
          <p:cNvSpPr txBox="1"/>
          <p:nvPr/>
        </p:nvSpPr>
        <p:spPr>
          <a:xfrm>
            <a:off x="5016500" y="6092825"/>
            <a:ext cx="1860550"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r>
              <a:rPr lang="zh-CN" altLang="en-US" sz="1800" dirty="0"/>
              <a:t>图</a:t>
            </a:r>
            <a:r>
              <a:rPr lang="en-US" altLang="zh-CN" sz="1800" dirty="0"/>
              <a:t>10.3 </a:t>
            </a:r>
            <a:r>
              <a:rPr lang="zh-CN" altLang="en-US" sz="1800" dirty="0"/>
              <a:t>查询树图</a:t>
            </a:r>
            <a:endParaRPr lang="zh-CN" altLang="en-US" sz="1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标题 1"/>
          <p:cNvSpPr>
            <a:spLocks noGrp="1"/>
          </p:cNvSpPr>
          <p:nvPr>
            <p:ph type="title"/>
          </p:nvPr>
        </p:nvSpPr>
        <p:spPr/>
        <p:txBody>
          <a:bodyPr vert="horz" wrap="square" lIns="91440" tIns="45720" rIns="91440" bIns="45720" anchor="ctr" anchorCtr="0"/>
          <a:p>
            <a:r>
              <a:rPr lang="zh-CN" altLang="zh-CN" sz="3600" dirty="0"/>
              <a:t>查询树的启发式优化（续）</a:t>
            </a:r>
            <a:endParaRPr lang="zh-CN" altLang="en-US" sz="3600" dirty="0"/>
          </a:p>
        </p:txBody>
      </p:sp>
      <p:sp>
        <p:nvSpPr>
          <p:cNvPr id="75779" name="内容占位符 2"/>
          <p:cNvSpPr>
            <a:spLocks noGrp="1"/>
          </p:cNvSpPr>
          <p:nvPr>
            <p:ph idx="1"/>
          </p:nvPr>
        </p:nvSpPr>
        <p:spPr>
          <a:xfrm>
            <a:off x="1271588" y="1052513"/>
            <a:ext cx="9504362" cy="5095875"/>
          </a:xfrm>
        </p:spPr>
        <p:txBody>
          <a:bodyPr vert="horz" wrap="square" lIns="91440" tIns="45720" rIns="91440" bIns="45720" anchor="t" anchorCtr="0"/>
          <a:p>
            <a:pPr lvl="1">
              <a:lnSpc>
                <a:spcPct val="120000"/>
              </a:lnSpc>
              <a:buNone/>
            </a:pPr>
            <a:r>
              <a:rPr lang="zh-CN" altLang="en-US" dirty="0"/>
              <a:t>为了使用关系代数表达式的优化法，假设内部表示是关</a:t>
            </a:r>
            <a:endParaRPr lang="en-US" altLang="zh-CN" dirty="0"/>
          </a:p>
          <a:p>
            <a:pPr lvl="1">
              <a:lnSpc>
                <a:spcPct val="120000"/>
              </a:lnSpc>
              <a:buNone/>
            </a:pPr>
            <a:r>
              <a:rPr lang="zh-CN" altLang="en-US" dirty="0"/>
              <a:t>系代数语法树，则上面的查询树如图</a:t>
            </a:r>
            <a:r>
              <a:rPr lang="en-US" altLang="zh-CN" dirty="0"/>
              <a:t>10.4</a:t>
            </a:r>
            <a:r>
              <a:rPr lang="zh-CN" altLang="en-US" dirty="0"/>
              <a:t>所示。</a:t>
            </a:r>
            <a:endParaRPr lang="zh-CN" altLang="en-US" dirty="0"/>
          </a:p>
          <a:p>
            <a:endParaRPr lang="zh-CN" altLang="en-US" dirty="0"/>
          </a:p>
          <a:p>
            <a:endParaRPr lang="zh-CN" altLang="en-US" dirty="0"/>
          </a:p>
        </p:txBody>
      </p:sp>
      <p:grpSp>
        <p:nvGrpSpPr>
          <p:cNvPr id="75780" name="Group 6"/>
          <p:cNvGrpSpPr/>
          <p:nvPr/>
        </p:nvGrpSpPr>
        <p:grpSpPr>
          <a:xfrm>
            <a:off x="4560888" y="2200275"/>
            <a:ext cx="2868612" cy="3873500"/>
            <a:chOff x="0" y="0"/>
            <a:chExt cx="1266" cy="2155"/>
          </a:xfrm>
        </p:grpSpPr>
        <p:pic>
          <p:nvPicPr>
            <p:cNvPr id="75781" name="Picture 5" descr="94"/>
            <p:cNvPicPr>
              <a:picLocks noChangeAspect="1"/>
            </p:cNvPicPr>
            <p:nvPr/>
          </p:nvPicPr>
          <p:blipFill>
            <a:blip r:embed="rId1"/>
            <a:stretch>
              <a:fillRect/>
            </a:stretch>
          </p:blipFill>
          <p:spPr>
            <a:xfrm>
              <a:off x="0" y="0"/>
              <a:ext cx="1125" cy="1769"/>
            </a:xfrm>
            <a:prstGeom prst="rect">
              <a:avLst/>
            </a:prstGeom>
            <a:noFill/>
            <a:ln w="9525">
              <a:noFill/>
            </a:ln>
          </p:spPr>
        </p:pic>
        <p:sp>
          <p:nvSpPr>
            <p:cNvPr id="75782" name="Text Box 6"/>
            <p:cNvSpPr/>
            <p:nvPr/>
          </p:nvSpPr>
          <p:spPr>
            <a:xfrm>
              <a:off x="6" y="1950"/>
              <a:ext cx="1260" cy="205"/>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Clr>
                  <a:schemeClr val="hlink"/>
                </a:buClr>
                <a:buSzTx/>
                <a:buNone/>
              </a:pPr>
              <a:r>
                <a:rPr lang="en-US" altLang="zh-CN" sz="1800" dirty="0">
                  <a:latin typeface="Times New Roman" panose="02020603050405020304" charset="0"/>
                  <a:sym typeface="Times New Roman" panose="02020603050405020304" charset="0"/>
                </a:rPr>
                <a:t> </a:t>
              </a:r>
              <a:r>
                <a:rPr lang="zh-CN" altLang="en-US" sz="1800" dirty="0">
                  <a:latin typeface="Times New Roman" panose="02020603050405020304" charset="0"/>
                  <a:sym typeface="Times New Roman" panose="02020603050405020304" charset="0"/>
                </a:rPr>
                <a:t>图</a:t>
              </a:r>
              <a:r>
                <a:rPr lang="en-US" altLang="zh-CN" sz="1800" dirty="0">
                  <a:latin typeface="Times New Roman" panose="02020603050405020304" charset="0"/>
                  <a:sym typeface="Times New Roman" panose="02020603050405020304" charset="0"/>
                </a:rPr>
                <a:t>10.4 </a:t>
              </a:r>
              <a:r>
                <a:rPr lang="zh-CN" altLang="en-US" sz="1800" dirty="0">
                  <a:latin typeface="Times New Roman" panose="02020603050405020304" charset="0"/>
                  <a:sym typeface="Times New Roman" panose="02020603050405020304" charset="0"/>
                </a:rPr>
                <a:t>关系代数语法树图 </a:t>
              </a:r>
              <a:endParaRPr lang="zh-CN" altLang="en-US" sz="1800" dirty="0"/>
            </a:p>
          </p:txBody>
        </p:sp>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标题 1"/>
          <p:cNvSpPr>
            <a:spLocks noGrp="1"/>
          </p:cNvSpPr>
          <p:nvPr>
            <p:ph type="title"/>
          </p:nvPr>
        </p:nvSpPr>
        <p:spPr/>
        <p:txBody>
          <a:bodyPr vert="horz" wrap="square" lIns="91440" tIns="45720" rIns="91440" bIns="45720" anchor="ctr" anchorCtr="0"/>
          <a:p>
            <a:r>
              <a:rPr lang="zh-CN" altLang="zh-CN" sz="3600" dirty="0"/>
              <a:t>查询树的启发式优化（续）</a:t>
            </a:r>
            <a:endParaRPr lang="zh-CN" altLang="en-US" sz="3600" dirty="0"/>
          </a:p>
        </p:txBody>
      </p:sp>
      <p:sp>
        <p:nvSpPr>
          <p:cNvPr id="3" name="内容占位符 2"/>
          <p:cNvSpPr>
            <a:spLocks noGrp="1"/>
          </p:cNvSpPr>
          <p:nvPr>
            <p:ph idx="1"/>
          </p:nvPr>
        </p:nvSpPr>
        <p:spPr>
          <a:xfrm>
            <a:off x="1055688" y="981075"/>
            <a:ext cx="9936163" cy="521335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2 </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）对查询树进行优化</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利用规则</a:t>
            </a:r>
            <a:r>
              <a:rPr kumimoji="0" lang="en-US" altLang="zh-CN" sz="2400" b="1" i="0" u="none" strike="noStrike" kern="0" cap="none" spc="0" normalizeH="0" baseline="0" noProof="0" dirty="0">
                <a:ln>
                  <a:noFill/>
                </a:ln>
                <a:solidFill>
                  <a:schemeClr val="tx1"/>
                </a:solidFill>
                <a:effectLst/>
                <a:uLnTx/>
                <a:uFillTx/>
                <a:latin typeface="+mn-lt"/>
                <a:ea typeface="+mn-ea"/>
              </a:rPr>
              <a:t>4</a:t>
            </a:r>
            <a:r>
              <a:rPr kumimoji="0" lang="zh-CN" altLang="en-US" sz="2400" b="1" i="0" u="none" strike="noStrike" kern="0" cap="none" spc="0" normalizeH="0" baseline="0" noProof="0" dirty="0">
                <a:ln>
                  <a:noFill/>
                </a:ln>
                <a:solidFill>
                  <a:schemeClr val="tx1"/>
                </a:solidFill>
                <a:effectLst/>
                <a:uLnTx/>
                <a:uFillTx/>
                <a:latin typeface="+mn-lt"/>
                <a:ea typeface="+mn-ea"/>
              </a:rPr>
              <a:t>、</a:t>
            </a:r>
            <a:r>
              <a:rPr kumimoji="0" lang="en-US" altLang="zh-CN" sz="2400" b="1" i="0" u="none" strike="noStrike" kern="0" cap="none" spc="0" normalizeH="0" baseline="0" noProof="0" dirty="0">
                <a:ln>
                  <a:noFill/>
                </a:ln>
                <a:solidFill>
                  <a:schemeClr val="tx1"/>
                </a:solidFill>
                <a:effectLst/>
                <a:uLnTx/>
                <a:uFillTx/>
                <a:latin typeface="+mn-lt"/>
                <a:ea typeface="+mn-ea"/>
              </a:rPr>
              <a:t>6</a:t>
            </a:r>
            <a:r>
              <a:rPr kumimoji="0" lang="zh-CN" altLang="en-US" sz="2400" b="1" i="0" u="none" strike="noStrike" kern="0" cap="none" spc="0" normalizeH="0" baseline="0" noProof="0" dirty="0">
                <a:ln>
                  <a:noFill/>
                </a:ln>
                <a:solidFill>
                  <a:schemeClr val="tx1"/>
                </a:solidFill>
                <a:effectLst/>
                <a:uLnTx/>
                <a:uFillTx/>
                <a:latin typeface="+mn-lt"/>
                <a:ea typeface="+mn-ea"/>
              </a:rPr>
              <a:t>把选择</a:t>
            </a:r>
            <a:r>
              <a:rPr kumimoji="0" lang="en-US" altLang="zh-CN" sz="2400" b="1" i="0" u="none" strike="noStrike" kern="0" cap="none" spc="0" normalizeH="0" baseline="0" noProof="0" dirty="0" err="1">
                <a:ln>
                  <a:noFill/>
                </a:ln>
                <a:solidFill>
                  <a:schemeClr val="tx1"/>
                </a:solidFill>
                <a:effectLst/>
                <a:uLnTx/>
                <a:uFillTx/>
                <a:latin typeface="+mn-lt"/>
                <a:ea typeface="+mn-ea"/>
              </a:rPr>
              <a:t>σ</a:t>
            </a:r>
            <a:r>
              <a:rPr kumimoji="0" lang="en-US" altLang="zh-CN" sz="2400" b="1" i="0" u="none" strike="noStrike" kern="0" cap="none" spc="0" normalizeH="0" baseline="-25000" noProof="0" dirty="0" err="1">
                <a:ln>
                  <a:noFill/>
                </a:ln>
                <a:solidFill>
                  <a:schemeClr val="tx1"/>
                </a:solidFill>
                <a:effectLst/>
                <a:uLnTx/>
                <a:uFillTx/>
                <a:latin typeface="+mn-lt"/>
                <a:ea typeface="+mn-ea"/>
              </a:rPr>
              <a:t>SC.Cno</a:t>
            </a:r>
            <a:r>
              <a:rPr kumimoji="0" lang="en-US" altLang="zh-CN" sz="2400" b="1" i="0" u="none" strike="noStrike" kern="0" cap="none" spc="0" normalizeH="0" baseline="-25000" noProof="0" dirty="0">
                <a:ln>
                  <a:noFill/>
                </a:ln>
                <a:solidFill>
                  <a:schemeClr val="tx1"/>
                </a:solidFill>
                <a:effectLst/>
                <a:uLnTx/>
                <a:uFillTx/>
                <a:latin typeface="+mn-lt"/>
                <a:ea typeface="+mn-ea"/>
              </a:rPr>
              <a:t>=‘2’</a:t>
            </a:r>
            <a:r>
              <a:rPr kumimoji="0" lang="zh-CN" altLang="en-US" sz="2400" b="1" i="0" u="none" strike="noStrike" kern="0" cap="none" spc="0" normalizeH="0" baseline="0" noProof="0" dirty="0">
                <a:ln>
                  <a:noFill/>
                </a:ln>
                <a:solidFill>
                  <a:schemeClr val="tx1"/>
                </a:solidFill>
                <a:effectLst/>
                <a:uLnTx/>
                <a:uFillTx/>
                <a:latin typeface="+mn-lt"/>
                <a:ea typeface="+mn-ea"/>
              </a:rPr>
              <a:t>移到叶端，图</a:t>
            </a:r>
            <a:r>
              <a:rPr kumimoji="0" lang="en-US" altLang="zh-CN" sz="2400" b="1" i="0" u="none" strike="noStrike" kern="0" cap="none" spc="0" normalizeH="0" baseline="0" noProof="0" dirty="0">
                <a:ln>
                  <a:noFill/>
                </a:ln>
                <a:solidFill>
                  <a:schemeClr val="tx1"/>
                </a:solidFill>
                <a:effectLst/>
                <a:uLnTx/>
                <a:uFillTx/>
                <a:latin typeface="+mn-lt"/>
                <a:ea typeface="+mn-ea"/>
              </a:rPr>
              <a:t>10.4</a:t>
            </a:r>
            <a:r>
              <a:rPr kumimoji="0" lang="zh-CN" altLang="en-US" sz="2400" b="1" i="0" u="none" strike="noStrike" kern="0" cap="none" spc="0" normalizeH="0" baseline="0" noProof="0" dirty="0">
                <a:ln>
                  <a:noFill/>
                </a:ln>
                <a:solidFill>
                  <a:schemeClr val="tx1"/>
                </a:solidFill>
                <a:effectLst/>
                <a:uLnTx/>
                <a:uFillTx/>
                <a:latin typeface="+mn-lt"/>
                <a:ea typeface="+mn-ea"/>
              </a:rPr>
              <a:t>查询树便转换成下图优化的查询树。这就是</a:t>
            </a:r>
            <a:r>
              <a:rPr kumimoji="0" lang="en-US" altLang="zh-CN" sz="2400" b="1" i="0" u="none" strike="noStrike" kern="0" cap="none" spc="0" normalizeH="0" baseline="0" noProof="0" dirty="0">
                <a:ln>
                  <a:noFill/>
                </a:ln>
                <a:solidFill>
                  <a:schemeClr val="tx1"/>
                </a:solidFill>
                <a:effectLst/>
                <a:uLnTx/>
                <a:uFillTx/>
                <a:latin typeface="+mn-lt"/>
                <a:ea typeface="+mn-ea"/>
              </a:rPr>
              <a:t>9.2.2</a:t>
            </a:r>
            <a:r>
              <a:rPr kumimoji="0" lang="zh-CN" altLang="en-US" sz="2400" b="1" i="0" u="none" strike="noStrike" kern="0" cap="none" spc="0" normalizeH="0" baseline="0" noProof="0" dirty="0">
                <a:ln>
                  <a:noFill/>
                </a:ln>
                <a:solidFill>
                  <a:schemeClr val="tx1"/>
                </a:solidFill>
                <a:effectLst/>
                <a:uLnTx/>
                <a:uFillTx/>
                <a:latin typeface="+mn-lt"/>
                <a:ea typeface="+mn-ea"/>
              </a:rPr>
              <a:t>节中</a:t>
            </a:r>
            <a:r>
              <a:rPr kumimoji="0" lang="en-US" altLang="zh-CN" sz="2400" b="1" i="0" u="none" strike="noStrike" kern="0" cap="none" spc="0" normalizeH="0" baseline="0" noProof="0" dirty="0">
                <a:ln>
                  <a:noFill/>
                </a:ln>
                <a:solidFill>
                  <a:schemeClr val="tx1"/>
                </a:solidFill>
                <a:effectLst/>
                <a:uLnTx/>
                <a:uFillTx/>
                <a:latin typeface="+mn-lt"/>
                <a:ea typeface="+mn-ea"/>
              </a:rPr>
              <a:t>Q3</a:t>
            </a:r>
            <a:r>
              <a:rPr kumimoji="0" lang="zh-CN" altLang="en-US" sz="2400" b="1" i="0" u="none" strike="noStrike" kern="0" cap="none" spc="0" normalizeH="0" baseline="0" noProof="0" dirty="0">
                <a:ln>
                  <a:noFill/>
                </a:ln>
                <a:solidFill>
                  <a:schemeClr val="tx1"/>
                </a:solidFill>
                <a:effectLst/>
                <a:uLnTx/>
                <a:uFillTx/>
                <a:latin typeface="+mn-lt"/>
                <a:ea typeface="+mn-ea"/>
              </a:rPr>
              <a:t>的查询树表示。</a:t>
            </a:r>
            <a:endParaRPr kumimoji="0" lang="en-US" altLang="zh-CN"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n"/>
              <a:defRPr/>
            </a:pPr>
            <a:endParaRPr kumimoji="0" lang="en-US" altLang="zh-CN" sz="24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pic>
        <p:nvPicPr>
          <p:cNvPr id="76804" name="Picture 6" descr="95"/>
          <p:cNvPicPr>
            <a:picLocks noChangeAspect="1"/>
          </p:cNvPicPr>
          <p:nvPr/>
        </p:nvPicPr>
        <p:blipFill>
          <a:blip r:embed="rId1"/>
          <a:stretch>
            <a:fillRect/>
          </a:stretch>
        </p:blipFill>
        <p:spPr>
          <a:xfrm>
            <a:off x="4656138" y="2330450"/>
            <a:ext cx="2227262" cy="3265488"/>
          </a:xfrm>
          <a:prstGeom prst="rect">
            <a:avLst/>
          </a:prstGeom>
          <a:noFill/>
          <a:ln w="9525">
            <a:noFill/>
          </a:ln>
        </p:spPr>
      </p:pic>
      <p:sp>
        <p:nvSpPr>
          <p:cNvPr id="76805" name="Text Box 6"/>
          <p:cNvSpPr/>
          <p:nvPr/>
        </p:nvSpPr>
        <p:spPr>
          <a:xfrm>
            <a:off x="4487863" y="5705475"/>
            <a:ext cx="2563812"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lgn="ctr" eaLnBrk="1" hangingPunct="1">
              <a:spcBef>
                <a:spcPct val="0"/>
              </a:spcBef>
              <a:buClr>
                <a:schemeClr val="hlink"/>
              </a:buClr>
              <a:buSzTx/>
              <a:buNone/>
            </a:pPr>
            <a:r>
              <a:rPr lang="en-US" altLang="zh-CN" sz="1800" dirty="0">
                <a:latin typeface="Times New Roman" panose="02020603050405020304" charset="0"/>
                <a:sym typeface="Times New Roman" panose="02020603050405020304" charset="0"/>
              </a:rPr>
              <a:t> </a:t>
            </a:r>
            <a:r>
              <a:rPr lang="zh-CN" altLang="en-US" sz="1800" dirty="0">
                <a:latin typeface="Times New Roman" panose="02020603050405020304" charset="0"/>
                <a:sym typeface="Times New Roman" panose="02020603050405020304" charset="0"/>
              </a:rPr>
              <a:t>图</a:t>
            </a:r>
            <a:r>
              <a:rPr lang="en-US" altLang="zh-CN" sz="1800" dirty="0">
                <a:latin typeface="Times New Roman" panose="02020603050405020304" charset="0"/>
                <a:sym typeface="Times New Roman" panose="02020603050405020304" charset="0"/>
              </a:rPr>
              <a:t>10.5 </a:t>
            </a:r>
            <a:r>
              <a:rPr lang="zh-CN" altLang="en-US" sz="1800" dirty="0">
                <a:latin typeface="Times New Roman" panose="02020603050405020304" charset="0"/>
                <a:sym typeface="Times New Roman" panose="02020603050405020304" charset="0"/>
              </a:rPr>
              <a:t>优化后的查询树</a:t>
            </a:r>
            <a:endParaRPr lang="zh-CN" altLang="en-US" sz="1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5058" name="图片 3"/>
          <p:cNvPicPr>
            <a:picLocks noChangeAspect="1"/>
          </p:cNvPicPr>
          <p:nvPr/>
        </p:nvPicPr>
        <p:blipFill>
          <a:blip r:embed="rId1"/>
          <a:stretch>
            <a:fillRect/>
          </a:stretch>
        </p:blipFill>
        <p:spPr>
          <a:xfrm>
            <a:off x="1703388" y="161925"/>
            <a:ext cx="7416800" cy="2187575"/>
          </a:xfrm>
          <a:prstGeom prst="rect">
            <a:avLst/>
          </a:prstGeom>
          <a:noFill/>
          <a:ln w="9525">
            <a:noFill/>
          </a:ln>
        </p:spPr>
      </p:pic>
      <p:pic>
        <p:nvPicPr>
          <p:cNvPr id="5" name="图片 4"/>
          <p:cNvPicPr>
            <a:picLocks noChangeAspect="1"/>
          </p:cNvPicPr>
          <p:nvPr/>
        </p:nvPicPr>
        <p:blipFill>
          <a:blip r:embed="rId2"/>
          <a:stretch>
            <a:fillRect/>
          </a:stretch>
        </p:blipFill>
        <p:spPr>
          <a:xfrm>
            <a:off x="2711450" y="2492375"/>
            <a:ext cx="5799138" cy="36734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6082" name="图片 3"/>
          <p:cNvPicPr>
            <a:picLocks noChangeAspect="1"/>
          </p:cNvPicPr>
          <p:nvPr/>
        </p:nvPicPr>
        <p:blipFill>
          <a:blip r:embed="rId1"/>
          <a:stretch>
            <a:fillRect/>
          </a:stretch>
        </p:blipFill>
        <p:spPr>
          <a:xfrm>
            <a:off x="2779713" y="1089025"/>
            <a:ext cx="5465762" cy="4062413"/>
          </a:xfrm>
          <a:prstGeom prst="rect">
            <a:avLst/>
          </a:prstGeom>
          <a:noFill/>
          <a:ln w="9525">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7106" name="图片 3"/>
          <p:cNvPicPr>
            <a:picLocks noChangeAspect="1"/>
          </p:cNvPicPr>
          <p:nvPr/>
        </p:nvPicPr>
        <p:blipFill>
          <a:blip r:embed="rId1"/>
          <a:stretch>
            <a:fillRect/>
          </a:stretch>
        </p:blipFill>
        <p:spPr>
          <a:xfrm>
            <a:off x="4943158" y="1485583"/>
            <a:ext cx="7342187" cy="3232150"/>
          </a:xfrm>
          <a:prstGeom prst="rect">
            <a:avLst/>
          </a:prstGeom>
          <a:noFill/>
          <a:ln w="9525">
            <a:noFill/>
          </a:ln>
        </p:spPr>
      </p:pic>
      <p:pic>
        <p:nvPicPr>
          <p:cNvPr id="46082" name="图片 3"/>
          <p:cNvPicPr>
            <a:picLocks noChangeAspect="1"/>
          </p:cNvPicPr>
          <p:nvPr>
            <p:custDataLst>
              <p:tags r:id="rId2"/>
            </p:custDataLst>
          </p:nvPr>
        </p:nvPicPr>
        <p:blipFill>
          <a:blip r:embed="rId3"/>
          <a:stretch>
            <a:fillRect/>
          </a:stretch>
        </p:blipFill>
        <p:spPr>
          <a:xfrm>
            <a:off x="-24765" y="1196340"/>
            <a:ext cx="4909185" cy="3649345"/>
          </a:xfrm>
          <a:prstGeom prst="rect">
            <a:avLst/>
          </a:prstGeom>
          <a:noFill/>
          <a:ln w="9525">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标题 1"/>
          <p:cNvSpPr>
            <a:spLocks noGrp="1"/>
          </p:cNvSpPr>
          <p:nvPr>
            <p:ph type="title"/>
          </p:nvPr>
        </p:nvSpPr>
        <p:spPr/>
        <p:txBody>
          <a:bodyPr vert="horz" wrap="square" lIns="91440" tIns="45720" rIns="91440" bIns="45720" anchor="ctr" anchorCtr="0"/>
          <a:p>
            <a:r>
              <a:rPr lang="zh-CN" altLang="zh-CN" sz="3600" dirty="0">
                <a:sym typeface="宋体" panose="02010600030101010101" pitchFamily="2" charset="-122"/>
              </a:rPr>
              <a:t>第</a:t>
            </a:r>
            <a:r>
              <a:rPr lang="zh-CN" altLang="en-US" sz="3600" dirty="0">
                <a:sym typeface="宋体" panose="02010600030101010101" pitchFamily="2" charset="-122"/>
              </a:rPr>
              <a:t>十</a:t>
            </a:r>
            <a:r>
              <a:rPr lang="zh-CN" altLang="zh-CN" sz="3600" dirty="0">
                <a:sym typeface="宋体" panose="02010600030101010101" pitchFamily="2" charset="-122"/>
              </a:rPr>
              <a:t>章</a:t>
            </a:r>
            <a:r>
              <a:rPr lang="zh-CN" altLang="zh-CN" sz="3600" dirty="0"/>
              <a:t>  </a:t>
            </a:r>
            <a:r>
              <a:rPr lang="zh-CN" altLang="zh-CN" sz="3600" dirty="0">
                <a:sym typeface="宋体" panose="02010600030101010101" pitchFamily="2" charset="-122"/>
              </a:rPr>
              <a:t>关系</a:t>
            </a:r>
            <a:r>
              <a:rPr lang="zh-CN" altLang="en-US" sz="3600" dirty="0">
                <a:sym typeface="宋体" panose="02010600030101010101" pitchFamily="2" charset="-122"/>
              </a:rPr>
              <a:t>查询处理和查询</a:t>
            </a:r>
            <a:r>
              <a:rPr lang="zh-CN" altLang="zh-CN" sz="3600" dirty="0">
                <a:sym typeface="宋体" panose="02010600030101010101" pitchFamily="2" charset="-122"/>
              </a:rPr>
              <a:t>优化</a:t>
            </a:r>
            <a:endParaRPr lang="zh-CN" altLang="en-US" sz="3600" dirty="0"/>
          </a:p>
        </p:txBody>
      </p:sp>
      <p:sp>
        <p:nvSpPr>
          <p:cNvPr id="77827" name="内容占位符 2"/>
          <p:cNvSpPr>
            <a:spLocks noGrp="1"/>
          </p:cNvSpPr>
          <p:nvPr>
            <p:ph idx="1"/>
          </p:nvPr>
        </p:nvSpPr>
        <p:spPr>
          <a:xfrm>
            <a:off x="982663" y="1339850"/>
            <a:ext cx="10599737" cy="4854575"/>
          </a:xfrm>
        </p:spPr>
        <p:txBody>
          <a:bodyPr vert="horz" wrap="square" lIns="91440" tIns="45720" rIns="91440" bIns="45720" anchor="t" anchorCtr="0"/>
          <a:p>
            <a:pPr lvl="1" eaLnBrk="1" hangingPunct="1">
              <a:lnSpc>
                <a:spcPct val="140000"/>
              </a:lnSpc>
              <a:buNone/>
            </a:pPr>
            <a:r>
              <a:rPr lang="en-US" altLang="zh-CN" sz="2800" dirty="0"/>
              <a:t>10.1 </a:t>
            </a:r>
            <a:r>
              <a:rPr lang="zh-CN" altLang="en-US" sz="2800" dirty="0"/>
              <a:t>关系数据库系统的查询处理 </a:t>
            </a:r>
            <a:endParaRPr lang="zh-CN" altLang="en-US" sz="2800" dirty="0"/>
          </a:p>
          <a:p>
            <a:pPr lvl="1" eaLnBrk="1" hangingPunct="1">
              <a:lnSpc>
                <a:spcPct val="140000"/>
              </a:lnSpc>
              <a:buNone/>
            </a:pPr>
            <a:r>
              <a:rPr lang="en-US" altLang="zh-CN" sz="2800" dirty="0"/>
              <a:t>10.2 </a:t>
            </a:r>
            <a:r>
              <a:rPr lang="zh-CN" altLang="en-US" sz="2800" dirty="0"/>
              <a:t>关系数据库系统的查询优化 </a:t>
            </a:r>
            <a:endParaRPr lang="zh-CN" altLang="en-US" sz="2800" dirty="0"/>
          </a:p>
          <a:p>
            <a:pPr lvl="1" eaLnBrk="1" hangingPunct="1">
              <a:lnSpc>
                <a:spcPct val="140000"/>
              </a:lnSpc>
              <a:buNone/>
            </a:pPr>
            <a:r>
              <a:rPr lang="en-US" altLang="zh-CN" sz="2800" dirty="0"/>
              <a:t>10.3 </a:t>
            </a:r>
            <a:r>
              <a:rPr lang="zh-CN" altLang="en-US" sz="2800" dirty="0"/>
              <a:t>代数优化 </a:t>
            </a:r>
            <a:endParaRPr lang="zh-CN" altLang="en-US" sz="2800" dirty="0"/>
          </a:p>
          <a:p>
            <a:pPr lvl="1" eaLnBrk="1" hangingPunct="1">
              <a:lnSpc>
                <a:spcPct val="140000"/>
              </a:lnSpc>
              <a:buNone/>
            </a:pPr>
            <a:r>
              <a:rPr lang="en-US" altLang="zh-CN" sz="2800" dirty="0">
                <a:solidFill>
                  <a:srgbClr val="0066FF"/>
                </a:solidFill>
              </a:rPr>
              <a:t>10.4 </a:t>
            </a:r>
            <a:r>
              <a:rPr lang="zh-CN" altLang="en-US" sz="2800" dirty="0">
                <a:solidFill>
                  <a:srgbClr val="0066FF"/>
                </a:solidFill>
              </a:rPr>
              <a:t>物理优化 </a:t>
            </a:r>
            <a:endParaRPr lang="zh-CN" altLang="en-US" sz="2800" dirty="0">
              <a:solidFill>
                <a:srgbClr val="0066FF"/>
              </a:solidFill>
            </a:endParaRPr>
          </a:p>
          <a:p>
            <a:pPr lvl="1" eaLnBrk="1" hangingPunct="1">
              <a:lnSpc>
                <a:spcPct val="140000"/>
              </a:lnSpc>
              <a:buNone/>
            </a:pPr>
            <a:r>
              <a:rPr lang="en-US" altLang="zh-CN" sz="2800" dirty="0"/>
              <a:t>*10.5 </a:t>
            </a:r>
            <a:r>
              <a:rPr lang="zh-CN" altLang="en-US" sz="2800" dirty="0"/>
              <a:t>查询计划的执行</a:t>
            </a:r>
            <a:endParaRPr lang="zh-CN" altLang="en-US" sz="2800" dirty="0"/>
          </a:p>
          <a:p>
            <a:pPr lvl="1" eaLnBrk="1" hangingPunct="1">
              <a:lnSpc>
                <a:spcPct val="140000"/>
              </a:lnSpc>
              <a:buNone/>
            </a:pPr>
            <a:r>
              <a:rPr lang="en-US" altLang="zh-CN" sz="2800" dirty="0"/>
              <a:t>10.6 </a:t>
            </a:r>
            <a:r>
              <a:rPr lang="zh-CN" altLang="en-US" sz="2800" dirty="0"/>
              <a:t>小 结 </a:t>
            </a:r>
            <a:endParaRPr lang="zh-CN" altLang="en-US" sz="2800" dirty="0"/>
          </a:p>
          <a:p>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标题 1"/>
          <p:cNvSpPr>
            <a:spLocks noGrp="1"/>
          </p:cNvSpPr>
          <p:nvPr>
            <p:ph type="title"/>
          </p:nvPr>
        </p:nvSpPr>
        <p:spPr/>
        <p:txBody>
          <a:bodyPr vert="horz" wrap="square" lIns="91440" tIns="45720" rIns="91440" bIns="45720" anchor="ctr" anchorCtr="0"/>
          <a:p>
            <a:r>
              <a:rPr lang="en-US" altLang="zh-CN" sz="3600" dirty="0"/>
              <a:t>10.4 </a:t>
            </a:r>
            <a:r>
              <a:rPr lang="zh-CN" altLang="en-US" sz="3600" dirty="0"/>
              <a:t>物理优化</a:t>
            </a:r>
            <a:endParaRPr lang="zh-CN" altLang="en-US" sz="3600" dirty="0"/>
          </a:p>
        </p:txBody>
      </p:sp>
      <p:sp>
        <p:nvSpPr>
          <p:cNvPr id="78851" name="内容占位符 2"/>
          <p:cNvSpPr>
            <a:spLocks noGrp="1"/>
          </p:cNvSpPr>
          <p:nvPr>
            <p:ph idx="1"/>
          </p:nvPr>
        </p:nvSpPr>
        <p:spPr/>
        <p:txBody>
          <a:bodyPr vert="horz" wrap="square" lIns="91440" tIns="45720" rIns="91440" bIns="45720" anchor="t" anchorCtr="0"/>
          <a:p>
            <a:pPr>
              <a:lnSpc>
                <a:spcPct val="120000"/>
              </a:lnSpc>
            </a:pPr>
            <a:r>
              <a:rPr lang="zh-CN" altLang="zh-CN" dirty="0"/>
              <a:t>代数优化改变查询语句中操作的次序和组合，不涉及底层存取路径</a:t>
            </a:r>
            <a:endParaRPr lang="zh-CN" altLang="zh-CN" dirty="0"/>
          </a:p>
          <a:p>
            <a:pPr>
              <a:lnSpc>
                <a:spcPct val="120000"/>
              </a:lnSpc>
            </a:pPr>
            <a:r>
              <a:rPr lang="zh-CN" altLang="zh-CN" dirty="0"/>
              <a:t>对于一个查询语句有许多存取方案，它们的执行效率不同， 仅仅进行代数优化是不够的 </a:t>
            </a:r>
            <a:endParaRPr lang="zh-CN" altLang="zh-CN" dirty="0"/>
          </a:p>
          <a:p>
            <a:pPr>
              <a:lnSpc>
                <a:spcPct val="120000"/>
              </a:lnSpc>
            </a:pPr>
            <a:r>
              <a:rPr lang="zh-CN" altLang="zh-CN" dirty="0"/>
              <a:t>物理优化就是要</a:t>
            </a:r>
            <a:r>
              <a:rPr lang="zh-CN" altLang="zh-CN" dirty="0">
                <a:solidFill>
                  <a:srgbClr val="FF00FF"/>
                </a:solidFill>
              </a:rPr>
              <a:t>选择高效合理的操作算法或存取路径</a:t>
            </a:r>
            <a:r>
              <a:rPr lang="zh-CN" altLang="zh-CN" dirty="0"/>
              <a:t>，求得优化查询计划 </a:t>
            </a:r>
            <a:endParaRPr lang="zh-CN" altLang="zh-CN" dirty="0"/>
          </a:p>
          <a:p>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标题 1"/>
          <p:cNvSpPr>
            <a:spLocks noGrp="1"/>
          </p:cNvSpPr>
          <p:nvPr>
            <p:ph type="title"/>
          </p:nvPr>
        </p:nvSpPr>
        <p:spPr/>
        <p:txBody>
          <a:bodyPr vert="horz" wrap="square" lIns="91440" tIns="45720" rIns="91440" bIns="45720" anchor="ctr" anchorCtr="0"/>
          <a:p>
            <a:r>
              <a:rPr lang="zh-CN" altLang="zh-CN" sz="3600" dirty="0"/>
              <a:t>物理优化（续）</a:t>
            </a:r>
            <a:endParaRPr lang="zh-CN" altLang="en-US" sz="3600" dirty="0"/>
          </a:p>
        </p:txBody>
      </p:sp>
      <p:sp>
        <p:nvSpPr>
          <p:cNvPr id="79875" name="内容占位符 2"/>
          <p:cNvSpPr>
            <a:spLocks noGrp="1"/>
          </p:cNvSpPr>
          <p:nvPr>
            <p:ph idx="1"/>
          </p:nvPr>
        </p:nvSpPr>
        <p:spPr>
          <a:xfrm>
            <a:off x="982663" y="1341438"/>
            <a:ext cx="9937750" cy="5095875"/>
          </a:xfrm>
        </p:spPr>
        <p:txBody>
          <a:bodyPr vert="horz" wrap="square" lIns="91440" tIns="45720" rIns="91440" bIns="45720" anchor="t" anchorCtr="0"/>
          <a:p>
            <a:pPr>
              <a:lnSpc>
                <a:spcPct val="120000"/>
              </a:lnSpc>
            </a:pPr>
            <a:r>
              <a:rPr lang="zh-CN" altLang="zh-CN" dirty="0"/>
              <a:t>物理优化方法</a:t>
            </a:r>
            <a:endParaRPr lang="zh-CN" altLang="zh-CN" dirty="0"/>
          </a:p>
          <a:p>
            <a:pPr lvl="1">
              <a:lnSpc>
                <a:spcPct val="120000"/>
              </a:lnSpc>
            </a:pPr>
            <a:r>
              <a:rPr lang="zh-CN" altLang="zh-CN" dirty="0"/>
              <a:t>基于规则的启发式优化</a:t>
            </a:r>
            <a:endParaRPr lang="zh-CN" altLang="zh-CN" dirty="0"/>
          </a:p>
          <a:p>
            <a:pPr lvl="2">
              <a:lnSpc>
                <a:spcPct val="120000"/>
              </a:lnSpc>
              <a:buSzPct val="87000"/>
              <a:buFont typeface="Wingdings" panose="05000000000000000000" pitchFamily="2" charset="2"/>
              <a:buChar char="l"/>
            </a:pPr>
            <a:r>
              <a:rPr lang="zh-CN" altLang="zh-CN" dirty="0"/>
              <a:t>启发式规则是指那些在大多数情况下都适用，但不是在每种情况下都是适用的规则。</a:t>
            </a:r>
            <a:endParaRPr lang="zh-CN" altLang="zh-CN" dirty="0"/>
          </a:p>
          <a:p>
            <a:pPr lvl="1">
              <a:lnSpc>
                <a:spcPct val="120000"/>
              </a:lnSpc>
            </a:pPr>
            <a:r>
              <a:rPr lang="zh-CN" altLang="zh-CN" dirty="0"/>
              <a:t>基于代价估算的优化</a:t>
            </a:r>
            <a:endParaRPr lang="zh-CN" altLang="zh-CN" dirty="0"/>
          </a:p>
          <a:p>
            <a:pPr lvl="2">
              <a:lnSpc>
                <a:spcPct val="120000"/>
              </a:lnSpc>
              <a:buSzPct val="87000"/>
              <a:buFont typeface="Wingdings" panose="05000000000000000000" pitchFamily="2" charset="2"/>
              <a:buChar char="l"/>
            </a:pPr>
            <a:r>
              <a:rPr lang="zh-CN" altLang="zh-CN" dirty="0"/>
              <a:t>优化器估算不同执行策略的代价，并选出具有最小代价的执行计划。</a:t>
            </a:r>
            <a:endParaRPr lang="zh-CN" altLang="zh-CN" dirty="0"/>
          </a:p>
          <a:p>
            <a:pPr>
              <a:buFont typeface="Wingdings" panose="05000000000000000000" pitchFamily="2" charset="2"/>
              <a:buChar char="v"/>
            </a:pPr>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标题 1"/>
          <p:cNvSpPr>
            <a:spLocks noGrp="1"/>
          </p:cNvSpPr>
          <p:nvPr>
            <p:ph type="title"/>
          </p:nvPr>
        </p:nvSpPr>
        <p:spPr/>
        <p:txBody>
          <a:bodyPr vert="horz" wrap="square" lIns="91440" tIns="45720" rIns="91440" bIns="45720" anchor="ctr" anchorCtr="0"/>
          <a:p>
            <a:r>
              <a:rPr lang="zh-CN" altLang="zh-CN" sz="3600" dirty="0"/>
              <a:t>物理优化（续）</a:t>
            </a:r>
            <a:endParaRPr lang="zh-CN" altLang="en-US" sz="3600" dirty="0"/>
          </a:p>
        </p:txBody>
      </p:sp>
      <p:sp>
        <p:nvSpPr>
          <p:cNvPr id="80899" name="内容占位符 2"/>
          <p:cNvSpPr>
            <a:spLocks noGrp="1"/>
          </p:cNvSpPr>
          <p:nvPr>
            <p:ph idx="1"/>
          </p:nvPr>
        </p:nvSpPr>
        <p:spPr>
          <a:xfrm>
            <a:off x="766763" y="1484313"/>
            <a:ext cx="10658475" cy="5095875"/>
          </a:xfrm>
        </p:spPr>
        <p:txBody>
          <a:bodyPr vert="horz" wrap="square" lIns="91440" tIns="45720" rIns="91440" bIns="45720" anchor="t" anchorCtr="0"/>
          <a:p>
            <a:pPr>
              <a:lnSpc>
                <a:spcPct val="120000"/>
              </a:lnSpc>
            </a:pPr>
            <a:r>
              <a:rPr lang="zh-CN" altLang="zh-CN" dirty="0"/>
              <a:t>物理优化方法</a:t>
            </a:r>
            <a:r>
              <a:rPr lang="zh-CN" altLang="en-US" dirty="0"/>
              <a:t>（续）</a:t>
            </a:r>
            <a:endParaRPr lang="zh-CN" altLang="zh-CN" dirty="0"/>
          </a:p>
          <a:p>
            <a:pPr lvl="1">
              <a:lnSpc>
                <a:spcPct val="120000"/>
              </a:lnSpc>
            </a:pPr>
            <a:r>
              <a:rPr lang="zh-CN" altLang="zh-CN" dirty="0"/>
              <a:t>两者结合的优化方法：</a:t>
            </a:r>
            <a:endParaRPr lang="zh-CN" altLang="zh-CN" dirty="0"/>
          </a:p>
          <a:p>
            <a:pPr lvl="2">
              <a:lnSpc>
                <a:spcPct val="120000"/>
              </a:lnSpc>
              <a:buSzPct val="87000"/>
              <a:buFont typeface="Wingdings" panose="05000000000000000000" pitchFamily="2" charset="2"/>
              <a:buChar char="l"/>
            </a:pPr>
            <a:r>
              <a:rPr lang="zh-CN" altLang="zh-CN" dirty="0"/>
              <a:t>常常先使用启发式规则，选取若干较优的候选方案，减少代价估算的工作量</a:t>
            </a:r>
            <a:endParaRPr lang="zh-CN" altLang="zh-CN" dirty="0"/>
          </a:p>
          <a:p>
            <a:pPr lvl="2">
              <a:lnSpc>
                <a:spcPct val="120000"/>
              </a:lnSpc>
              <a:buSzPct val="87000"/>
              <a:buFont typeface="Wingdings" panose="05000000000000000000" pitchFamily="2" charset="2"/>
              <a:buChar char="l"/>
            </a:pPr>
            <a:r>
              <a:rPr lang="zh-CN" altLang="zh-CN" dirty="0"/>
              <a:t>然后分别计算这些候选方案的执行代价，较快地选出最终的优化方案  </a:t>
            </a:r>
            <a:endParaRPr lang="zh-CN" altLang="zh-CN" dirty="0"/>
          </a:p>
          <a:p>
            <a:pPr>
              <a:buFont typeface="Wingdings" panose="05000000000000000000" pitchFamily="2" charset="2"/>
              <a:buChar char="v"/>
            </a:pPr>
            <a:endParaRPr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标题 1"/>
          <p:cNvSpPr>
            <a:spLocks noGrp="1"/>
          </p:cNvSpPr>
          <p:nvPr>
            <p:ph type="title"/>
          </p:nvPr>
        </p:nvSpPr>
        <p:spPr/>
        <p:txBody>
          <a:bodyPr vert="horz" wrap="square" lIns="91440" tIns="45720" rIns="91440" bIns="45720" anchor="ctr" anchorCtr="0"/>
          <a:p>
            <a:r>
              <a:rPr lang="en-US" altLang="zh-CN" sz="3600" dirty="0"/>
              <a:t>10.4 </a:t>
            </a:r>
            <a:r>
              <a:rPr lang="zh-CN" altLang="en-US" sz="3600" dirty="0"/>
              <a:t>物理优化</a:t>
            </a:r>
            <a:endParaRPr lang="zh-CN" altLang="en-US" sz="3600" dirty="0"/>
          </a:p>
        </p:txBody>
      </p:sp>
      <p:sp>
        <p:nvSpPr>
          <p:cNvPr id="81923" name="内容占位符 2"/>
          <p:cNvSpPr>
            <a:spLocks noGrp="1"/>
          </p:cNvSpPr>
          <p:nvPr>
            <p:ph idx="1"/>
          </p:nvPr>
        </p:nvSpPr>
        <p:spPr>
          <a:xfrm>
            <a:off x="982663" y="1412875"/>
            <a:ext cx="10756900" cy="4781550"/>
          </a:xfrm>
        </p:spPr>
        <p:txBody>
          <a:bodyPr vert="horz" wrap="square" lIns="91440" tIns="45720" rIns="91440" bIns="45720" anchor="t" anchorCtr="0"/>
          <a:p>
            <a:pPr marL="0" indent="0">
              <a:lnSpc>
                <a:spcPct val="150000"/>
              </a:lnSpc>
              <a:buNone/>
            </a:pPr>
            <a:r>
              <a:rPr lang="en-US" altLang="zh-CN" dirty="0">
                <a:solidFill>
                  <a:srgbClr val="00B050"/>
                </a:solidFill>
              </a:rPr>
              <a:t>10.4.1  </a:t>
            </a:r>
            <a:r>
              <a:rPr lang="zh-CN" altLang="en-US" dirty="0">
                <a:solidFill>
                  <a:srgbClr val="00B050"/>
                </a:solidFill>
              </a:rPr>
              <a:t>基于启发式规则的优化</a:t>
            </a:r>
            <a:endParaRPr lang="zh-CN" altLang="en-US" dirty="0">
              <a:solidFill>
                <a:srgbClr val="00B050"/>
              </a:solidFill>
            </a:endParaRPr>
          </a:p>
          <a:p>
            <a:pPr marL="0" indent="0">
              <a:lnSpc>
                <a:spcPct val="150000"/>
              </a:lnSpc>
              <a:buNone/>
            </a:pPr>
            <a:r>
              <a:rPr lang="en-US" altLang="zh-CN" dirty="0"/>
              <a:t>10.4.2  </a:t>
            </a:r>
            <a:r>
              <a:rPr lang="zh-CN" altLang="en-US" dirty="0"/>
              <a:t>基于代价的优化 </a:t>
            </a:r>
            <a:endParaRPr lang="zh-CN" altLang="en-US" dirty="0"/>
          </a:p>
          <a:p>
            <a:pPr marL="0" indent="0">
              <a:buNone/>
            </a:pP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标题 1"/>
          <p:cNvSpPr>
            <a:spLocks noGrp="1"/>
          </p:cNvSpPr>
          <p:nvPr>
            <p:ph type="title"/>
          </p:nvPr>
        </p:nvSpPr>
        <p:spPr>
          <a:xfrm>
            <a:off x="1524000" y="-34925"/>
            <a:ext cx="9144000" cy="1133475"/>
          </a:xfrm>
        </p:spPr>
        <p:txBody>
          <a:bodyPr vert="horz" wrap="square" lIns="91440" tIns="45720" rIns="91440" bIns="45720" anchor="ctr" anchorCtr="0"/>
          <a:p>
            <a:r>
              <a:rPr lang="en-US" altLang="zh-CN" sz="3600" dirty="0"/>
              <a:t>10.4.1  </a:t>
            </a:r>
            <a:r>
              <a:rPr lang="zh-CN" altLang="en-US" sz="3600" dirty="0"/>
              <a:t>基于启发式规则的存取路径选择优化</a:t>
            </a:r>
            <a:endParaRPr lang="zh-CN" altLang="en-US" sz="3600" dirty="0"/>
          </a:p>
        </p:txBody>
      </p:sp>
      <p:sp>
        <p:nvSpPr>
          <p:cNvPr id="3" name="内容占位符 2"/>
          <p:cNvSpPr>
            <a:spLocks noGrp="1"/>
          </p:cNvSpPr>
          <p:nvPr>
            <p:ph idx="1"/>
          </p:nvPr>
        </p:nvSpPr>
        <p:spPr>
          <a:xfrm>
            <a:off x="1200150" y="1484313"/>
            <a:ext cx="8075613" cy="4854575"/>
          </a:xfrm>
        </p:spPr>
        <p:txBody>
          <a:bodyPr vert="horz" wrap="square" lIns="91440" tIns="45720" rIns="91440" bIns="45720" numCol="1" anchor="t" anchorCtr="0" compatLnSpc="1"/>
          <a:lstStyle/>
          <a:p>
            <a:pPr marL="0" marR="0" lvl="0" indent="0" algn="l" defTabSz="914400" rtl="0" eaLnBrk="0" fontAlgn="base" latinLnBrk="0" hangingPunct="0">
              <a:lnSpc>
                <a:spcPct val="15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1.</a:t>
            </a:r>
            <a:r>
              <a:rPr kumimoji="0" lang="zh-CN" altLang="zh-CN" sz="2800" b="1" i="0" u="none" strike="noStrike" kern="0" cap="none" spc="0" normalizeH="0" baseline="0" noProof="0" dirty="0">
                <a:ln>
                  <a:noFill/>
                </a:ln>
                <a:solidFill>
                  <a:schemeClr val="tx1"/>
                </a:solidFill>
                <a:effectLst/>
                <a:uLnTx/>
                <a:uFillTx/>
                <a:latin typeface="+mn-lt"/>
                <a:ea typeface="+mn-ea"/>
                <a:cs typeface="+mn-cs"/>
              </a:rPr>
              <a:t>选择操作的启发式规则 </a:t>
            </a:r>
            <a:endParaRPr kumimoji="0" lang="zh-CN" altLang="zh-CN"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2.</a:t>
            </a:r>
            <a:r>
              <a:rPr kumimoji="0" lang="zh-CN" altLang="zh-CN" sz="2800" b="1" i="0" u="none" strike="noStrike" kern="0" cap="none" spc="0" normalizeH="0" baseline="0" noProof="0" dirty="0">
                <a:ln>
                  <a:noFill/>
                </a:ln>
                <a:solidFill>
                  <a:schemeClr val="tx1"/>
                </a:solidFill>
                <a:effectLst/>
                <a:uLnTx/>
                <a:uFillTx/>
                <a:latin typeface="+mn-lt"/>
                <a:ea typeface="+mn-ea"/>
                <a:cs typeface="+mn-cs"/>
              </a:rPr>
              <a:t>连接操作的启发式规则 </a:t>
            </a:r>
            <a:endParaRPr kumimoji="0" lang="zh-CN"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标题 1"/>
          <p:cNvSpPr>
            <a:spLocks noGrp="1"/>
          </p:cNvSpPr>
          <p:nvPr>
            <p:ph type="title"/>
          </p:nvPr>
        </p:nvSpPr>
        <p:spPr>
          <a:xfrm>
            <a:off x="1524000" y="-34925"/>
            <a:ext cx="8964613" cy="1133475"/>
          </a:xfrm>
        </p:spPr>
        <p:txBody>
          <a:bodyPr vert="horz" wrap="square" lIns="91440" tIns="45720" rIns="91440" bIns="45720" anchor="ctr" anchorCtr="0"/>
          <a:p>
            <a:r>
              <a:rPr lang="zh-CN" altLang="en-US" sz="3600" dirty="0"/>
              <a:t>基于启发式规则的存取路径选择优化（续）</a:t>
            </a:r>
            <a:endParaRPr lang="zh-CN" altLang="en-US" sz="3600" dirty="0"/>
          </a:p>
        </p:txBody>
      </p:sp>
      <p:sp>
        <p:nvSpPr>
          <p:cNvPr id="83971" name="内容占位符 2"/>
          <p:cNvSpPr>
            <a:spLocks noGrp="1"/>
          </p:cNvSpPr>
          <p:nvPr>
            <p:ph idx="1"/>
          </p:nvPr>
        </p:nvSpPr>
        <p:spPr>
          <a:xfrm>
            <a:off x="1055688" y="1628775"/>
            <a:ext cx="9936162" cy="4854575"/>
          </a:xfrm>
        </p:spPr>
        <p:txBody>
          <a:bodyPr vert="horz" wrap="square" lIns="91440" tIns="45720" rIns="91440" bIns="45720" anchor="t" anchorCtr="0"/>
          <a:p>
            <a:pPr marL="0" indent="0">
              <a:lnSpc>
                <a:spcPct val="120000"/>
              </a:lnSpc>
              <a:buNone/>
            </a:pPr>
            <a:r>
              <a:rPr lang="en-US" altLang="zh-CN" dirty="0"/>
              <a:t>1.</a:t>
            </a:r>
            <a:r>
              <a:rPr lang="zh-CN" altLang="en-US" dirty="0"/>
              <a:t>选择操作的启发式规则</a:t>
            </a:r>
            <a:endParaRPr lang="zh-CN" altLang="en-US" dirty="0"/>
          </a:p>
          <a:p>
            <a:pPr lvl="1">
              <a:lnSpc>
                <a:spcPct val="120000"/>
              </a:lnSpc>
            </a:pPr>
            <a:r>
              <a:rPr lang="zh-CN" altLang="en-US" dirty="0"/>
              <a:t>对于小关系，使用全表顺序扫描，即使选择列上有索引 </a:t>
            </a:r>
            <a:endParaRPr lang="zh-CN" altLang="en-US" dirty="0"/>
          </a:p>
          <a:p>
            <a:pPr lvl="1">
              <a:lnSpc>
                <a:spcPct val="120000"/>
              </a:lnSpc>
            </a:pPr>
            <a:r>
              <a:rPr lang="zh-CN" altLang="en-US" dirty="0"/>
              <a:t>对于大关系，启发式规则有：</a:t>
            </a:r>
            <a:endParaRPr lang="zh-CN" altLang="en-US" dirty="0"/>
          </a:p>
          <a:p>
            <a:pPr marL="0" indent="0">
              <a:lnSpc>
                <a:spcPct val="120000"/>
              </a:lnSpc>
              <a:buNone/>
            </a:pPr>
            <a:r>
              <a:rPr lang="zh-CN" altLang="en-US" sz="2400" dirty="0"/>
              <a:t>       （</a:t>
            </a:r>
            <a:r>
              <a:rPr lang="en-US" altLang="zh-CN" sz="2400" dirty="0"/>
              <a:t>1</a:t>
            </a:r>
            <a:r>
              <a:rPr lang="zh-CN" altLang="en-US" sz="2400" dirty="0"/>
              <a:t>）对于选择条件是“</a:t>
            </a:r>
            <a:r>
              <a:rPr lang="zh-CN" altLang="en-US" sz="2400" dirty="0">
                <a:solidFill>
                  <a:srgbClr val="0066FF"/>
                </a:solidFill>
              </a:rPr>
              <a:t>主码＝值</a:t>
            </a:r>
            <a:r>
              <a:rPr lang="zh-CN" altLang="en-US" sz="2400" dirty="0"/>
              <a:t>”的查询</a:t>
            </a:r>
            <a:endParaRPr lang="zh-CN" altLang="en-US" sz="2400" dirty="0"/>
          </a:p>
          <a:p>
            <a:pPr lvl="2">
              <a:lnSpc>
                <a:spcPct val="120000"/>
              </a:lnSpc>
              <a:buSzPct val="87000"/>
              <a:buFont typeface="Wingdings" panose="05000000000000000000" pitchFamily="2" charset="2"/>
              <a:buChar char="l"/>
            </a:pPr>
            <a:r>
              <a:rPr lang="zh-CN" altLang="en-US" dirty="0"/>
              <a:t>查询结果最多是一个元组，可以选择</a:t>
            </a:r>
            <a:r>
              <a:rPr lang="zh-CN" altLang="en-US" dirty="0">
                <a:solidFill>
                  <a:srgbClr val="FF00FF"/>
                </a:solidFill>
              </a:rPr>
              <a:t>主码索引</a:t>
            </a:r>
            <a:endParaRPr lang="zh-CN" altLang="en-US" dirty="0">
              <a:solidFill>
                <a:srgbClr val="FF00FF"/>
              </a:solidFill>
            </a:endParaRPr>
          </a:p>
          <a:p>
            <a:pPr lvl="2">
              <a:lnSpc>
                <a:spcPct val="120000"/>
              </a:lnSpc>
              <a:buSzPct val="87000"/>
              <a:buFont typeface="Wingdings" panose="05000000000000000000" pitchFamily="2" charset="2"/>
              <a:buChar char="l"/>
            </a:pPr>
            <a:r>
              <a:rPr lang="zh-CN" altLang="en-US" dirty="0"/>
              <a:t>一般的关系数据库管理系统会自动建立主码索引</a:t>
            </a:r>
            <a:endParaRPr lang="zh-CN" altLang="en-US" dirty="0"/>
          </a:p>
          <a:p>
            <a:pPr marL="0" indent="0">
              <a:buNone/>
            </a:pPr>
            <a:endParaRPr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标题 1"/>
          <p:cNvSpPr>
            <a:spLocks noGrp="1"/>
          </p:cNvSpPr>
          <p:nvPr>
            <p:ph type="title"/>
          </p:nvPr>
        </p:nvSpPr>
        <p:spPr>
          <a:xfrm>
            <a:off x="1524000" y="-34925"/>
            <a:ext cx="9036050" cy="1133475"/>
          </a:xfrm>
        </p:spPr>
        <p:txBody>
          <a:bodyPr vert="horz" wrap="square" lIns="91440" tIns="45720" rIns="91440" bIns="45720" anchor="ctr" anchorCtr="0"/>
          <a:p>
            <a:r>
              <a:rPr lang="zh-CN" altLang="en-US" sz="3600" dirty="0"/>
              <a:t>基于启发式规则的存取路径选择优化（续）</a:t>
            </a:r>
            <a:endParaRPr lang="zh-CN" altLang="en-US" sz="3600" dirty="0"/>
          </a:p>
        </p:txBody>
      </p:sp>
      <p:sp>
        <p:nvSpPr>
          <p:cNvPr id="3" name="内容占位符 2"/>
          <p:cNvSpPr>
            <a:spLocks noGrp="1"/>
          </p:cNvSpPr>
          <p:nvPr>
            <p:ph idx="1"/>
          </p:nvPr>
        </p:nvSpPr>
        <p:spPr>
          <a:xfrm>
            <a:off x="1055688" y="1484313"/>
            <a:ext cx="10296525" cy="5095875"/>
          </a:xfrm>
        </p:spPr>
        <p:txBody>
          <a:bodyPr vert="horz" wrap="square" lIns="91440" tIns="45720" rIns="91440" bIns="45720" numCol="1" anchor="t" anchorCtr="0" compatLnSpc="1"/>
          <a:lstStyle/>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2</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）对于选择条件是“</a:t>
            </a:r>
            <a:r>
              <a:rPr kumimoji="0" lang="zh-CN" altLang="en-US" sz="2400" b="1" i="0" u="none" strike="noStrike" kern="0" cap="none" spc="0" normalizeH="0" baseline="0" noProof="0" dirty="0">
                <a:ln>
                  <a:noFill/>
                </a:ln>
                <a:solidFill>
                  <a:srgbClr val="0066FF"/>
                </a:solidFill>
                <a:effectLst/>
                <a:uLnTx/>
                <a:uFillTx/>
                <a:latin typeface="+mn-lt"/>
                <a:ea typeface="+mn-ea"/>
                <a:cs typeface="+mn-cs"/>
              </a:rPr>
              <a:t>非主属性＝值</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”的查询，并且选择列上有索引</a:t>
            </a: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a:p>
            <a:pPr marL="1143000" marR="0" lvl="2" indent="-2286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要估算查询结果的元组数目</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如果比例较小</a:t>
            </a:r>
            <a:r>
              <a:rPr kumimoji="0" lang="en-US" altLang="zh-CN" sz="2200" b="1" i="0" u="none" strike="noStrike" kern="0" cap="none" spc="0" normalizeH="0" baseline="0" noProof="0" dirty="0">
                <a:ln>
                  <a:noFill/>
                </a:ln>
                <a:solidFill>
                  <a:schemeClr val="tx1"/>
                </a:solidFill>
                <a:effectLst/>
                <a:uLnTx/>
                <a:uFillTx/>
                <a:latin typeface="+mn-lt"/>
                <a:ea typeface="+mn-ea"/>
              </a:rPr>
              <a:t>(&lt;10%)</a:t>
            </a:r>
            <a:r>
              <a:rPr kumimoji="0" lang="zh-CN" altLang="en-US" sz="2200" b="1" i="0" u="none" strike="noStrike" kern="0" cap="none" spc="0" normalizeH="0" baseline="0" noProof="0" dirty="0">
                <a:ln>
                  <a:noFill/>
                </a:ln>
                <a:solidFill>
                  <a:schemeClr val="tx1"/>
                </a:solidFill>
                <a:effectLst/>
                <a:uLnTx/>
                <a:uFillTx/>
                <a:latin typeface="+mn-lt"/>
                <a:ea typeface="+mn-ea"/>
              </a:rPr>
              <a:t>可以使用索引扫描方法</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否则还是使用全表顺序扫描</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标题 1"/>
          <p:cNvSpPr>
            <a:spLocks noGrp="1"/>
          </p:cNvSpPr>
          <p:nvPr>
            <p:ph type="title"/>
          </p:nvPr>
        </p:nvSpPr>
        <p:spPr>
          <a:xfrm>
            <a:off x="1524000" y="-100012"/>
            <a:ext cx="9144000" cy="1133475"/>
          </a:xfrm>
        </p:spPr>
        <p:txBody>
          <a:bodyPr vert="horz" wrap="square" lIns="91440" tIns="45720" rIns="91440" bIns="45720" anchor="ctr" anchorCtr="0"/>
          <a:p>
            <a:r>
              <a:rPr lang="zh-CN" altLang="en-US" sz="3600" dirty="0"/>
              <a:t>基于启发式规则的存取路径选择优化（续）</a:t>
            </a:r>
            <a:endParaRPr lang="zh-CN" altLang="en-US" sz="3600" dirty="0"/>
          </a:p>
        </p:txBody>
      </p:sp>
      <p:sp>
        <p:nvSpPr>
          <p:cNvPr id="86019" name="内容占位符 2"/>
          <p:cNvSpPr>
            <a:spLocks noGrp="1"/>
          </p:cNvSpPr>
          <p:nvPr>
            <p:ph idx="1"/>
          </p:nvPr>
        </p:nvSpPr>
        <p:spPr>
          <a:xfrm>
            <a:off x="904875" y="1196975"/>
            <a:ext cx="11090275" cy="4997450"/>
          </a:xfrm>
        </p:spPr>
        <p:txBody>
          <a:bodyPr vert="horz" wrap="square" lIns="91440" tIns="45720" rIns="91440" bIns="45720" anchor="t" anchorCtr="0"/>
          <a:p>
            <a:pPr marL="0" indent="0">
              <a:lnSpc>
                <a:spcPct val="120000"/>
              </a:lnSpc>
              <a:buNone/>
            </a:pPr>
            <a:r>
              <a:rPr lang="zh-CN" altLang="en-US" sz="2400" dirty="0"/>
              <a:t>（</a:t>
            </a:r>
            <a:r>
              <a:rPr lang="en-US" altLang="zh-CN" sz="2400" dirty="0"/>
              <a:t>3</a:t>
            </a:r>
            <a:r>
              <a:rPr lang="zh-CN" altLang="en-US" sz="2400" dirty="0"/>
              <a:t>）对于选择条件是属性上的非等值查询或者范围查询，并且选择列上有索引</a:t>
            </a:r>
            <a:endParaRPr lang="zh-CN" altLang="en-US" sz="2400" dirty="0"/>
          </a:p>
          <a:p>
            <a:pPr lvl="1">
              <a:lnSpc>
                <a:spcPct val="120000"/>
              </a:lnSpc>
            </a:pPr>
            <a:r>
              <a:rPr lang="zh-CN" altLang="en-US" dirty="0"/>
              <a:t>要估算查询结果的元组数目</a:t>
            </a:r>
            <a:endParaRPr lang="zh-CN" altLang="en-US" dirty="0"/>
          </a:p>
          <a:p>
            <a:pPr lvl="2">
              <a:lnSpc>
                <a:spcPct val="120000"/>
              </a:lnSpc>
              <a:buSzPct val="87000"/>
              <a:buFont typeface="Wingdings" panose="05000000000000000000" pitchFamily="2" charset="2"/>
              <a:buChar char="l"/>
            </a:pPr>
            <a:r>
              <a:rPr lang="zh-CN" altLang="en-US" dirty="0"/>
              <a:t>如果比例较小</a:t>
            </a:r>
            <a:r>
              <a:rPr lang="en-US" altLang="zh-CN" dirty="0"/>
              <a:t>(&lt;10%)</a:t>
            </a:r>
            <a:r>
              <a:rPr lang="zh-CN" altLang="en-US" dirty="0"/>
              <a:t>可以使用索引扫描方法</a:t>
            </a:r>
            <a:endParaRPr lang="zh-CN" altLang="en-US" dirty="0"/>
          </a:p>
          <a:p>
            <a:pPr lvl="2">
              <a:lnSpc>
                <a:spcPct val="120000"/>
              </a:lnSpc>
              <a:buSzPct val="87000"/>
              <a:buFont typeface="Wingdings" panose="05000000000000000000" pitchFamily="2" charset="2"/>
              <a:buChar char="l"/>
            </a:pPr>
            <a:r>
              <a:rPr lang="zh-CN" altLang="en-US" dirty="0"/>
              <a:t>否则还是使用全表顺序扫描 </a:t>
            </a:r>
            <a:endParaRPr lang="zh-CN" altLang="en-US" dirty="0"/>
          </a:p>
          <a:p>
            <a:pPr marL="0" indent="0">
              <a:buNone/>
            </a:pPr>
            <a:endParaRPr lang="zh-CN" alt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标题 1"/>
          <p:cNvSpPr>
            <a:spLocks noGrp="1"/>
          </p:cNvSpPr>
          <p:nvPr>
            <p:ph type="title"/>
          </p:nvPr>
        </p:nvSpPr>
        <p:spPr>
          <a:xfrm>
            <a:off x="1524000" y="-34925"/>
            <a:ext cx="9036050" cy="1133475"/>
          </a:xfrm>
        </p:spPr>
        <p:txBody>
          <a:bodyPr vert="horz" wrap="square" lIns="91440" tIns="45720" rIns="91440" bIns="45720" anchor="ctr" anchorCtr="0"/>
          <a:p>
            <a:r>
              <a:rPr lang="zh-CN" altLang="en-US" sz="3600" dirty="0"/>
              <a:t>基于启发式规则的存取路径选择优化（续）</a:t>
            </a:r>
            <a:endParaRPr lang="zh-CN" altLang="en-US" sz="3600" dirty="0"/>
          </a:p>
        </p:txBody>
      </p:sp>
      <p:sp>
        <p:nvSpPr>
          <p:cNvPr id="3" name="内容占位符 2"/>
          <p:cNvSpPr>
            <a:spLocks noGrp="1"/>
          </p:cNvSpPr>
          <p:nvPr>
            <p:ph idx="1"/>
          </p:nvPr>
        </p:nvSpPr>
        <p:spPr>
          <a:xfrm>
            <a:off x="1127125" y="1341438"/>
            <a:ext cx="10082213" cy="5095875"/>
          </a:xfrm>
        </p:spPr>
        <p:txBody>
          <a:bodyPr vert="horz" wrap="square" lIns="91440" tIns="45720" rIns="91440" bIns="45720" numCol="1" anchor="t" anchorCtr="0" compatLnSpc="1"/>
          <a:lstStyle/>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4</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）对于用</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AND</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连接的合取选择条件</a:t>
            </a: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如果有涉及这些属性的组合索引</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优先采用组合索引扫描方法</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如果某些属性上有一般的索引，可以用索引扫描方法</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通过分别查找满足每个条件的指针，求指针的交集</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通过索引查找满足部分条件的元组，然后在扫描这些元组时判断是否满足剩余条件</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其他情况：使用全表顺序扫描</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5</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）对于用</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OR</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连接的析取选择条件，一般使用全表顺序扫描</a:t>
            </a: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标题 1"/>
          <p:cNvSpPr>
            <a:spLocks noGrp="1"/>
          </p:cNvSpPr>
          <p:nvPr>
            <p:ph type="title"/>
          </p:nvPr>
        </p:nvSpPr>
        <p:spPr>
          <a:xfrm>
            <a:off x="1631950" y="-34925"/>
            <a:ext cx="9036050" cy="1133475"/>
          </a:xfrm>
        </p:spPr>
        <p:txBody>
          <a:bodyPr vert="horz" wrap="square" lIns="91440" tIns="45720" rIns="91440" bIns="45720" anchor="ctr" anchorCtr="0"/>
          <a:p>
            <a:r>
              <a:rPr lang="zh-CN" altLang="en-US" sz="3600" dirty="0"/>
              <a:t>基于启发式规则的存取路径选择优化（续）</a:t>
            </a:r>
            <a:endParaRPr lang="zh-CN" altLang="en-US" sz="3600" dirty="0"/>
          </a:p>
        </p:txBody>
      </p:sp>
      <p:sp>
        <p:nvSpPr>
          <p:cNvPr id="3" name="内容占位符 2"/>
          <p:cNvSpPr>
            <a:spLocks noGrp="1"/>
          </p:cNvSpPr>
          <p:nvPr>
            <p:ph idx="1"/>
          </p:nvPr>
        </p:nvSpPr>
        <p:spPr>
          <a:xfrm>
            <a:off x="839788" y="1327150"/>
            <a:ext cx="10972800" cy="4854575"/>
          </a:xfrm>
        </p:spPr>
        <p:txBody>
          <a:bodyPr vert="horz" wrap="square" lIns="91440" tIns="45720" rIns="91440" bIns="45720" numCol="1" anchor="t" anchorCtr="0" compatLnSpc="1"/>
          <a:lstStyle/>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2.</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连接操作的启发式规则</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1</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）如果</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2</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个表都已经按照连接属性排序</a:t>
            </a: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200" b="1" i="0" u="none" strike="noStrike" kern="0" cap="none" spc="0" normalizeH="0" baseline="0" noProof="0" dirty="0">
                <a:ln>
                  <a:noFill/>
                </a:ln>
                <a:solidFill>
                  <a:schemeClr val="tx1"/>
                </a:solidFill>
                <a:effectLst/>
                <a:uLnTx/>
                <a:uFillTx/>
                <a:latin typeface="+mn-lt"/>
                <a:ea typeface="+mn-ea"/>
              </a:rPr>
              <a:t>选用排序</a:t>
            </a:r>
            <a:r>
              <a:rPr kumimoji="0" lang="en-US" altLang="zh-CN" sz="2200" b="1" i="0" u="none" strike="noStrike" kern="0" cap="none" spc="0" normalizeH="0" baseline="0" noProof="0" dirty="0">
                <a:ln>
                  <a:noFill/>
                </a:ln>
                <a:solidFill>
                  <a:schemeClr val="tx1"/>
                </a:solidFill>
                <a:effectLst/>
                <a:uLnTx/>
                <a:uFillTx/>
                <a:latin typeface="+mn-lt"/>
                <a:ea typeface="+mn-ea"/>
              </a:rPr>
              <a:t>-</a:t>
            </a:r>
            <a:r>
              <a:rPr kumimoji="0" lang="zh-CN" altLang="en-US" sz="2200" b="1" i="0" u="none" strike="noStrike" kern="0" cap="none" spc="0" normalizeH="0" baseline="0" noProof="0" dirty="0">
                <a:ln>
                  <a:noFill/>
                </a:ln>
                <a:solidFill>
                  <a:schemeClr val="tx1"/>
                </a:solidFill>
                <a:effectLst/>
                <a:uLnTx/>
                <a:uFillTx/>
                <a:latin typeface="+mn-lt"/>
                <a:ea typeface="+mn-ea"/>
              </a:rPr>
              <a:t>合并算法</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2</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）如果一个表在连接属性上有索引</a:t>
            </a: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200" b="1" i="0" u="none" strike="noStrike" kern="0" cap="none" spc="0" normalizeH="0" baseline="0" noProof="0" dirty="0">
                <a:ln>
                  <a:noFill/>
                </a:ln>
                <a:solidFill>
                  <a:schemeClr val="tx1"/>
                </a:solidFill>
                <a:effectLst/>
                <a:uLnTx/>
                <a:uFillTx/>
                <a:latin typeface="+mn-lt"/>
                <a:ea typeface="+mn-ea"/>
              </a:rPr>
              <a:t>选用索引连接算法</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3</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）如果上面</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2</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个规则都不适用，其中一个表较小</a:t>
            </a: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200" b="1" i="0" u="none" strike="noStrike" kern="0" cap="none" spc="0" normalizeH="0" baseline="0" noProof="0" dirty="0">
                <a:ln>
                  <a:noFill/>
                </a:ln>
                <a:solidFill>
                  <a:schemeClr val="tx1"/>
                </a:solidFill>
                <a:effectLst/>
                <a:uLnTx/>
                <a:uFillTx/>
                <a:latin typeface="+mn-lt"/>
                <a:ea typeface="+mn-ea"/>
              </a:rPr>
              <a:t>选用</a:t>
            </a:r>
            <a:r>
              <a:rPr kumimoji="0" lang="en-US" altLang="zh-CN" sz="2200" b="1" i="0" u="none" strike="noStrike" kern="0" cap="none" spc="0" normalizeH="0" baseline="0" noProof="0" dirty="0">
                <a:ln>
                  <a:noFill/>
                </a:ln>
                <a:solidFill>
                  <a:schemeClr val="tx1"/>
                </a:solidFill>
                <a:effectLst/>
                <a:uLnTx/>
                <a:uFillTx/>
                <a:latin typeface="+mn-lt"/>
                <a:ea typeface="+mn-ea"/>
              </a:rPr>
              <a:t>Hash join</a:t>
            </a:r>
            <a:r>
              <a:rPr kumimoji="0" lang="zh-CN" altLang="en-US" sz="2200" b="1" i="0" u="none" strike="noStrike" kern="0" cap="none" spc="0" normalizeH="0" baseline="0" noProof="0" dirty="0">
                <a:ln>
                  <a:noFill/>
                </a:ln>
                <a:solidFill>
                  <a:schemeClr val="tx1"/>
                </a:solidFill>
                <a:effectLst/>
                <a:uLnTx/>
                <a:uFillTx/>
                <a:latin typeface="+mn-lt"/>
                <a:ea typeface="+mn-ea"/>
              </a:rPr>
              <a:t>算法</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标题 1"/>
          <p:cNvSpPr>
            <a:spLocks noGrp="1"/>
          </p:cNvSpPr>
          <p:nvPr>
            <p:ph type="title"/>
          </p:nvPr>
        </p:nvSpPr>
        <p:spPr>
          <a:xfrm>
            <a:off x="1524000" y="-34925"/>
            <a:ext cx="9144000" cy="1133475"/>
          </a:xfrm>
        </p:spPr>
        <p:txBody>
          <a:bodyPr vert="horz" wrap="square" lIns="91440" tIns="45720" rIns="91440" bIns="45720" anchor="ctr" anchorCtr="0"/>
          <a:p>
            <a:r>
              <a:rPr lang="zh-CN" altLang="en-US" sz="3600" dirty="0"/>
              <a:t>基于启发式规则的存取路径选择优化（续）</a:t>
            </a:r>
            <a:endParaRPr lang="zh-CN" altLang="en-US" sz="3600" dirty="0"/>
          </a:p>
        </p:txBody>
      </p:sp>
      <p:sp>
        <p:nvSpPr>
          <p:cNvPr id="89091" name="内容占位符 2"/>
          <p:cNvSpPr>
            <a:spLocks noGrp="1"/>
          </p:cNvSpPr>
          <p:nvPr>
            <p:ph idx="1"/>
          </p:nvPr>
        </p:nvSpPr>
        <p:spPr>
          <a:xfrm>
            <a:off x="982663" y="1341438"/>
            <a:ext cx="10153650" cy="4854575"/>
          </a:xfrm>
        </p:spPr>
        <p:txBody>
          <a:bodyPr vert="horz" wrap="square" lIns="91440" tIns="45720" rIns="91440" bIns="45720" anchor="t" anchorCtr="0"/>
          <a:p>
            <a:pPr>
              <a:lnSpc>
                <a:spcPct val="120000"/>
              </a:lnSpc>
              <a:buNone/>
            </a:pPr>
            <a:r>
              <a:rPr lang="zh-CN" altLang="en-US" sz="2400" dirty="0"/>
              <a:t>（</a:t>
            </a:r>
            <a:r>
              <a:rPr lang="en-US" altLang="zh-CN" sz="2400" dirty="0"/>
              <a:t>4</a:t>
            </a:r>
            <a:r>
              <a:rPr lang="zh-CN" altLang="en-US" sz="2400" dirty="0"/>
              <a:t>）可以选用嵌套循环方法，并选择其中较小的表，确切地讲是占用的块数</a:t>
            </a:r>
            <a:r>
              <a:rPr lang="en-US" altLang="zh-CN" sz="2400" dirty="0"/>
              <a:t>(b)</a:t>
            </a:r>
            <a:r>
              <a:rPr lang="zh-CN" altLang="en-US" sz="2400" dirty="0"/>
              <a:t>较少的表，作为外表</a:t>
            </a:r>
            <a:r>
              <a:rPr lang="en-US" altLang="zh-CN" sz="2400" dirty="0"/>
              <a:t>(</a:t>
            </a:r>
            <a:r>
              <a:rPr lang="zh-CN" altLang="en-US" sz="2400" dirty="0"/>
              <a:t>外循环的表</a:t>
            </a:r>
            <a:r>
              <a:rPr lang="en-US" altLang="zh-CN" sz="2400" dirty="0"/>
              <a:t>) </a:t>
            </a:r>
            <a:r>
              <a:rPr lang="zh-CN" altLang="en-US" sz="2400" dirty="0"/>
              <a:t>。</a:t>
            </a:r>
            <a:endParaRPr lang="zh-CN" altLang="en-US" sz="2400" dirty="0"/>
          </a:p>
          <a:p>
            <a:pPr>
              <a:lnSpc>
                <a:spcPct val="120000"/>
              </a:lnSpc>
              <a:buNone/>
            </a:pPr>
            <a:r>
              <a:rPr lang="zh-CN" altLang="en-US" sz="2400" dirty="0"/>
              <a:t>    理由：</a:t>
            </a:r>
            <a:endParaRPr lang="zh-CN" altLang="en-US" sz="2400" dirty="0"/>
          </a:p>
          <a:p>
            <a:pPr lvl="1">
              <a:lnSpc>
                <a:spcPct val="120000"/>
              </a:lnSpc>
            </a:pPr>
            <a:r>
              <a:rPr lang="zh-CN" altLang="en-US" sz="2200" dirty="0"/>
              <a:t>设连接表</a:t>
            </a:r>
            <a:r>
              <a:rPr lang="en-US" altLang="zh-CN" sz="2200" dirty="0"/>
              <a:t>R</a:t>
            </a:r>
            <a:r>
              <a:rPr lang="zh-CN" altLang="en-US" sz="2200" dirty="0"/>
              <a:t>与</a:t>
            </a:r>
            <a:r>
              <a:rPr lang="en-US" altLang="zh-CN" sz="2200" dirty="0"/>
              <a:t>S</a:t>
            </a:r>
            <a:r>
              <a:rPr lang="zh-CN" altLang="en-US" sz="2200" dirty="0"/>
              <a:t>分别占用的块数为</a:t>
            </a:r>
            <a:r>
              <a:rPr lang="en-US" altLang="zh-CN" sz="2200" dirty="0"/>
              <a:t>Br</a:t>
            </a:r>
            <a:r>
              <a:rPr lang="zh-CN" altLang="en-US" sz="2200" dirty="0"/>
              <a:t>与</a:t>
            </a:r>
            <a:r>
              <a:rPr lang="en-US" altLang="zh-CN" sz="2200" dirty="0"/>
              <a:t>Bs</a:t>
            </a:r>
            <a:endParaRPr lang="zh-CN" altLang="en-US" sz="2200" dirty="0"/>
          </a:p>
          <a:p>
            <a:pPr lvl="1">
              <a:lnSpc>
                <a:spcPct val="120000"/>
              </a:lnSpc>
            </a:pPr>
            <a:r>
              <a:rPr lang="zh-CN" altLang="en-US" sz="2200" dirty="0"/>
              <a:t>连接操作使用的内存缓冲区块数为</a:t>
            </a:r>
            <a:r>
              <a:rPr lang="en-US" altLang="zh-CN" sz="2200" dirty="0"/>
              <a:t>K</a:t>
            </a:r>
            <a:endParaRPr lang="zh-CN" altLang="en-US" sz="2200" dirty="0"/>
          </a:p>
          <a:p>
            <a:pPr lvl="1">
              <a:lnSpc>
                <a:spcPct val="120000"/>
              </a:lnSpc>
            </a:pPr>
            <a:r>
              <a:rPr lang="zh-CN" altLang="en-US" sz="2200" dirty="0"/>
              <a:t>分配</a:t>
            </a:r>
            <a:r>
              <a:rPr lang="en-US" altLang="zh-CN" sz="2200" dirty="0"/>
              <a:t>K-1</a:t>
            </a:r>
            <a:r>
              <a:rPr lang="zh-CN" altLang="en-US" sz="2200" dirty="0"/>
              <a:t>块给外表</a:t>
            </a:r>
            <a:endParaRPr lang="zh-CN" altLang="en-US" sz="2200" dirty="0"/>
          </a:p>
          <a:p>
            <a:pPr lvl="1">
              <a:lnSpc>
                <a:spcPct val="120000"/>
              </a:lnSpc>
            </a:pPr>
            <a:r>
              <a:rPr lang="zh-CN" altLang="en-US" sz="2200" dirty="0"/>
              <a:t>如果</a:t>
            </a:r>
            <a:r>
              <a:rPr lang="en-US" altLang="zh-CN" sz="2200" dirty="0"/>
              <a:t>R</a:t>
            </a:r>
            <a:r>
              <a:rPr lang="zh-CN" altLang="en-US" sz="2200" dirty="0"/>
              <a:t>为外表，则嵌套循环法存取的块数为</a:t>
            </a:r>
            <a:r>
              <a:rPr lang="en-US" altLang="zh-CN" sz="2200" dirty="0"/>
              <a:t>Br+BrBs/(K-1)</a:t>
            </a:r>
            <a:endParaRPr lang="zh-CN" altLang="en-US" sz="2200" dirty="0"/>
          </a:p>
          <a:p>
            <a:pPr lvl="1">
              <a:lnSpc>
                <a:spcPct val="120000"/>
              </a:lnSpc>
            </a:pPr>
            <a:r>
              <a:rPr lang="zh-CN" altLang="en-US" sz="2200" dirty="0"/>
              <a:t>显然应该选块数小的表作为外表  </a:t>
            </a:r>
            <a:endParaRPr lang="zh-CN" altLang="en-US" sz="2200" dirty="0"/>
          </a:p>
          <a:p>
            <a:endParaRPr lang="zh-CN" altLang="en-US" dirty="0"/>
          </a:p>
          <a:p>
            <a:endParaRPr lang="zh-CN" alt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标题 1"/>
          <p:cNvSpPr>
            <a:spLocks noGrp="1"/>
          </p:cNvSpPr>
          <p:nvPr>
            <p:ph type="title"/>
          </p:nvPr>
        </p:nvSpPr>
        <p:spPr/>
        <p:txBody>
          <a:bodyPr vert="horz" wrap="square" lIns="91440" tIns="45720" rIns="91440" bIns="45720" anchor="ctr" anchorCtr="0"/>
          <a:p>
            <a:r>
              <a:rPr lang="en-US" altLang="zh-CN" sz="3600" dirty="0"/>
              <a:t>10.4 </a:t>
            </a:r>
            <a:r>
              <a:rPr lang="zh-CN" altLang="en-US" sz="3600" dirty="0"/>
              <a:t>物理优化</a:t>
            </a:r>
            <a:endParaRPr lang="zh-CN" altLang="en-US" sz="3600" dirty="0"/>
          </a:p>
        </p:txBody>
      </p:sp>
      <p:sp>
        <p:nvSpPr>
          <p:cNvPr id="90115" name="内容占位符 2"/>
          <p:cNvSpPr>
            <a:spLocks noGrp="1"/>
          </p:cNvSpPr>
          <p:nvPr>
            <p:ph idx="1"/>
          </p:nvPr>
        </p:nvSpPr>
        <p:spPr>
          <a:xfrm>
            <a:off x="982663" y="1412875"/>
            <a:ext cx="10829925" cy="4854575"/>
          </a:xfrm>
        </p:spPr>
        <p:txBody>
          <a:bodyPr vert="horz" wrap="square" lIns="91440" tIns="45720" rIns="91440" bIns="45720" anchor="t" anchorCtr="0"/>
          <a:p>
            <a:pPr marL="0" indent="0">
              <a:lnSpc>
                <a:spcPct val="150000"/>
              </a:lnSpc>
              <a:buNone/>
            </a:pPr>
            <a:r>
              <a:rPr lang="en-US" altLang="zh-CN" dirty="0"/>
              <a:t>10.4.1  </a:t>
            </a:r>
            <a:r>
              <a:rPr lang="zh-CN" altLang="en-US" dirty="0"/>
              <a:t>基于启发式规则的存取路径选择优化</a:t>
            </a:r>
            <a:endParaRPr lang="zh-CN" altLang="en-US" dirty="0"/>
          </a:p>
          <a:p>
            <a:pPr marL="0" indent="0">
              <a:lnSpc>
                <a:spcPct val="150000"/>
              </a:lnSpc>
              <a:buNone/>
            </a:pPr>
            <a:r>
              <a:rPr lang="en-US" altLang="zh-CN" dirty="0">
                <a:solidFill>
                  <a:srgbClr val="00B050"/>
                </a:solidFill>
              </a:rPr>
              <a:t>10.4.2  </a:t>
            </a:r>
            <a:r>
              <a:rPr lang="zh-CN" altLang="en-US" dirty="0">
                <a:solidFill>
                  <a:srgbClr val="00B050"/>
                </a:solidFill>
              </a:rPr>
              <a:t>基于代价的优化 </a:t>
            </a:r>
            <a:endParaRPr lang="zh-CN" altLang="en-US" dirty="0">
              <a:solidFill>
                <a:srgbClr val="00B050"/>
              </a:solidFill>
            </a:endParaRPr>
          </a:p>
          <a:p>
            <a:pPr marL="0" indent="0">
              <a:buNone/>
            </a:pPr>
            <a:endParaRPr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标题 1"/>
          <p:cNvSpPr>
            <a:spLocks noGrp="1"/>
          </p:cNvSpPr>
          <p:nvPr>
            <p:ph type="title"/>
          </p:nvPr>
        </p:nvSpPr>
        <p:spPr/>
        <p:txBody>
          <a:bodyPr vert="horz" wrap="square" lIns="91440" tIns="45720" rIns="91440" bIns="45720" anchor="ctr" anchorCtr="0"/>
          <a:p>
            <a:r>
              <a:rPr lang="en-US" altLang="zh-CN" sz="3600" dirty="0"/>
              <a:t>10.4.2  </a:t>
            </a:r>
            <a:r>
              <a:rPr lang="zh-CN" altLang="en-US" sz="3600" dirty="0"/>
              <a:t>基于代价的优化 </a:t>
            </a:r>
            <a:endParaRPr lang="zh-CN" altLang="en-US" sz="3600" dirty="0"/>
          </a:p>
        </p:txBody>
      </p:sp>
      <p:sp>
        <p:nvSpPr>
          <p:cNvPr id="91139" name="内容占位符 2"/>
          <p:cNvSpPr>
            <a:spLocks noGrp="1"/>
          </p:cNvSpPr>
          <p:nvPr>
            <p:ph idx="1"/>
          </p:nvPr>
        </p:nvSpPr>
        <p:spPr>
          <a:xfrm>
            <a:off x="911225" y="1484313"/>
            <a:ext cx="10972800" cy="4854575"/>
          </a:xfrm>
        </p:spPr>
        <p:txBody>
          <a:bodyPr vert="horz" wrap="square" lIns="91440" tIns="45720" rIns="91440" bIns="45720" anchor="t" anchorCtr="0"/>
          <a:p>
            <a:pPr>
              <a:lnSpc>
                <a:spcPct val="120000"/>
              </a:lnSpc>
            </a:pPr>
            <a:r>
              <a:rPr lang="zh-CN" altLang="zh-CN" dirty="0"/>
              <a:t>启发式规则优化是定性的选择，适合解释执行的系统</a:t>
            </a:r>
            <a:endParaRPr lang="zh-CN" altLang="zh-CN" dirty="0"/>
          </a:p>
          <a:p>
            <a:pPr lvl="1">
              <a:lnSpc>
                <a:spcPct val="120000"/>
              </a:lnSpc>
            </a:pPr>
            <a:r>
              <a:rPr lang="zh-CN" altLang="zh-CN" dirty="0"/>
              <a:t>解释执行的系统，优化开销包含在查询总开销之中 </a:t>
            </a:r>
            <a:endParaRPr lang="zh-CN" altLang="zh-CN" dirty="0"/>
          </a:p>
          <a:p>
            <a:pPr>
              <a:lnSpc>
                <a:spcPct val="120000"/>
              </a:lnSpc>
            </a:pPr>
            <a:r>
              <a:rPr lang="zh-CN" altLang="zh-CN" dirty="0"/>
              <a:t>编译执行的系统中查询优化和查询执行是分开的</a:t>
            </a:r>
            <a:endParaRPr lang="zh-CN" altLang="zh-CN" dirty="0"/>
          </a:p>
          <a:p>
            <a:pPr lvl="1">
              <a:lnSpc>
                <a:spcPct val="120000"/>
              </a:lnSpc>
            </a:pPr>
            <a:r>
              <a:rPr lang="zh-CN" altLang="zh-CN" dirty="0"/>
              <a:t>可以采用精细复杂一些的基于代价的优化方法  </a:t>
            </a:r>
            <a:endParaRPr lang="zh-CN" altLang="zh-CN" dirty="0"/>
          </a:p>
          <a:p>
            <a:endParaRPr lang="zh-CN" alt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标题 1"/>
          <p:cNvSpPr>
            <a:spLocks noGrp="1"/>
          </p:cNvSpPr>
          <p:nvPr>
            <p:ph type="title"/>
          </p:nvPr>
        </p:nvSpPr>
        <p:spPr/>
        <p:txBody>
          <a:bodyPr vert="horz" wrap="square" lIns="91440" tIns="45720" rIns="91440" bIns="45720" anchor="ctr" anchorCtr="0"/>
          <a:p>
            <a:r>
              <a:rPr lang="zh-CN" altLang="zh-CN" sz="3600" dirty="0"/>
              <a:t>基于代价的优化（续）</a:t>
            </a:r>
            <a:endParaRPr lang="zh-CN" altLang="en-US" sz="3600" dirty="0"/>
          </a:p>
        </p:txBody>
      </p:sp>
      <p:sp>
        <p:nvSpPr>
          <p:cNvPr id="92163" name="内容占位符 2"/>
          <p:cNvSpPr>
            <a:spLocks noGrp="1"/>
          </p:cNvSpPr>
          <p:nvPr>
            <p:ph idx="1"/>
          </p:nvPr>
        </p:nvSpPr>
        <p:spPr>
          <a:xfrm>
            <a:off x="1774825" y="1484313"/>
            <a:ext cx="8075613" cy="4854575"/>
          </a:xfrm>
        </p:spPr>
        <p:txBody>
          <a:bodyPr vert="horz" wrap="square" lIns="91440" tIns="45720" rIns="91440" bIns="45720" anchor="t" anchorCtr="0"/>
          <a:p>
            <a:pPr>
              <a:lnSpc>
                <a:spcPct val="150000"/>
              </a:lnSpc>
              <a:buNone/>
            </a:pPr>
            <a:r>
              <a:rPr lang="en-US" altLang="zh-CN" dirty="0"/>
              <a:t>1.</a:t>
            </a:r>
            <a:r>
              <a:rPr lang="zh-CN" altLang="zh-CN" dirty="0"/>
              <a:t>统计信息 </a:t>
            </a:r>
            <a:endParaRPr lang="zh-CN" altLang="zh-CN" dirty="0"/>
          </a:p>
          <a:p>
            <a:pPr>
              <a:lnSpc>
                <a:spcPct val="150000"/>
              </a:lnSpc>
              <a:buNone/>
            </a:pPr>
            <a:r>
              <a:rPr lang="en-US" altLang="zh-CN" dirty="0"/>
              <a:t>2.</a:t>
            </a:r>
            <a:r>
              <a:rPr lang="zh-CN" altLang="zh-CN" dirty="0"/>
              <a:t>代价估算示例 </a:t>
            </a:r>
            <a:endParaRPr lang="zh-CN" altLang="zh-CN" dirty="0"/>
          </a:p>
          <a:p>
            <a:pPr>
              <a:lnSpc>
                <a:spcPct val="150000"/>
              </a:lnSpc>
              <a:buNone/>
            </a:pPr>
            <a:r>
              <a:rPr lang="en-US" altLang="zh-CN" dirty="0"/>
              <a:t>3.</a:t>
            </a:r>
            <a:r>
              <a:rPr lang="zh-CN" altLang="zh-CN" dirty="0"/>
              <a:t>优化方法</a:t>
            </a:r>
            <a:endParaRPr lang="zh-CN" altLang="zh-CN" dirty="0"/>
          </a:p>
          <a:p>
            <a:endParaRPr lang="zh-CN" altLang="zh-CN" dirty="0"/>
          </a:p>
          <a:p>
            <a:endParaRPr lang="zh-CN"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标题 1"/>
          <p:cNvSpPr>
            <a:spLocks noGrp="1"/>
          </p:cNvSpPr>
          <p:nvPr>
            <p:ph type="title"/>
          </p:nvPr>
        </p:nvSpPr>
        <p:spPr/>
        <p:txBody>
          <a:bodyPr vert="horz" wrap="square" lIns="91440" tIns="45720" rIns="91440" bIns="45720" anchor="ctr" anchorCtr="0"/>
          <a:p>
            <a:r>
              <a:rPr lang="zh-CN" altLang="zh-CN" sz="3600" dirty="0"/>
              <a:t>基于代价的优化（续）</a:t>
            </a:r>
            <a:endParaRPr lang="zh-CN" altLang="en-US" sz="3600" dirty="0"/>
          </a:p>
        </p:txBody>
      </p:sp>
      <p:sp>
        <p:nvSpPr>
          <p:cNvPr id="88067" name="内容占位符 2"/>
          <p:cNvSpPr>
            <a:spLocks noGrp="1"/>
          </p:cNvSpPr>
          <p:nvPr>
            <p:ph idx="1"/>
          </p:nvPr>
        </p:nvSpPr>
        <p:spPr>
          <a:xfrm>
            <a:off x="982663" y="1341438"/>
            <a:ext cx="10009188" cy="5095875"/>
          </a:xfrm>
        </p:spPr>
        <p:txBody>
          <a:bodyPr vert="horz" wrap="square" lIns="91440" tIns="45720" rIns="91440" bIns="45720" numCol="1" anchor="t" anchorCtr="0" compatLnSpc="1"/>
          <a:lstStyle/>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1.</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统计信息</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基于代价的优化方法要计算查询的各种不同执行方案的执行代价，它与数据库的状态密切相关 </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优化器需要的统计信息 </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914400" marR="0" lvl="2" indent="0" algn="l" defTabSz="914400" rtl="0" eaLnBrk="0" fontAlgn="base" latinLnBrk="0" hangingPunct="0">
              <a:lnSpc>
                <a:spcPct val="120000"/>
              </a:lnSpc>
              <a:spcBef>
                <a:spcPct val="20000"/>
              </a:spcBef>
              <a:spcAft>
                <a:spcPct val="0"/>
              </a:spcAft>
              <a:buClrTx/>
              <a:buSzPct val="87000"/>
              <a:buFont typeface="Arial" panose="020B0604020202020204" pitchFamily="34" charset="0"/>
              <a:buNone/>
              <a:defRPr/>
            </a:pPr>
            <a:r>
              <a:rPr kumimoji="0" lang="zh-CN" altLang="en-US" sz="2200" b="1" i="0" u="none" strike="noStrike" kern="0" cap="none" spc="0" normalizeH="0" baseline="0" noProof="0" dirty="0">
                <a:ln>
                  <a:noFill/>
                </a:ln>
                <a:solidFill>
                  <a:schemeClr val="tx1"/>
                </a:solidFill>
                <a:effectLst/>
                <a:uLnTx/>
                <a:uFillTx/>
                <a:latin typeface="+mn-lt"/>
                <a:ea typeface="+mn-ea"/>
              </a:rPr>
              <a:t>（</a:t>
            </a:r>
            <a:r>
              <a:rPr kumimoji="0" lang="en-US" altLang="zh-CN" sz="2200" b="1" i="0" u="none" strike="noStrike" kern="0" cap="none" spc="0" normalizeH="0" baseline="0" noProof="0" dirty="0">
                <a:ln>
                  <a:noFill/>
                </a:ln>
                <a:solidFill>
                  <a:schemeClr val="tx1"/>
                </a:solidFill>
                <a:effectLst/>
                <a:uLnTx/>
                <a:uFillTx/>
                <a:latin typeface="+mn-lt"/>
                <a:ea typeface="+mn-ea"/>
              </a:rPr>
              <a:t>1</a:t>
            </a:r>
            <a:r>
              <a:rPr kumimoji="0" lang="zh-CN" altLang="en-US" sz="2200" b="1" i="0" u="none" strike="noStrike" kern="0" cap="none" spc="0" normalizeH="0" baseline="0" noProof="0" dirty="0">
                <a:ln>
                  <a:noFill/>
                </a:ln>
                <a:solidFill>
                  <a:schemeClr val="tx1"/>
                </a:solidFill>
                <a:effectLst/>
                <a:uLnTx/>
                <a:uFillTx/>
                <a:latin typeface="+mn-lt"/>
                <a:ea typeface="+mn-ea"/>
              </a:rPr>
              <a:t>）对每个基本表</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600200" marR="0" lvl="3" indent="-2286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tx1"/>
                </a:solidFill>
                <a:effectLst/>
                <a:uLnTx/>
                <a:uFillTx/>
                <a:latin typeface="+mn-lt"/>
                <a:ea typeface="+mn-ea"/>
              </a:rPr>
              <a:t>该表的元组总数</a:t>
            </a:r>
            <a:r>
              <a:rPr kumimoji="0" lang="en-US" altLang="zh-CN" sz="2000" b="1" i="0" u="none" strike="noStrike" kern="0" cap="none" spc="0" normalizeH="0" baseline="0" noProof="0" dirty="0">
                <a:ln>
                  <a:noFill/>
                </a:ln>
                <a:solidFill>
                  <a:schemeClr val="tx1"/>
                </a:solidFill>
                <a:effectLst/>
                <a:uLnTx/>
                <a:uFillTx/>
                <a:latin typeface="+mn-lt"/>
                <a:ea typeface="+mn-ea"/>
              </a:rPr>
              <a:t>(N)</a:t>
            </a:r>
            <a:endParaRPr kumimoji="0" lang="zh-CN" altLang="en-US" sz="2000" b="1" i="0" u="none" strike="noStrike" kern="0" cap="none" spc="0" normalizeH="0" baseline="0" noProof="0" dirty="0">
              <a:ln>
                <a:noFill/>
              </a:ln>
              <a:solidFill>
                <a:schemeClr val="tx1"/>
              </a:solidFill>
              <a:effectLst/>
              <a:uLnTx/>
              <a:uFillTx/>
              <a:latin typeface="+mn-lt"/>
              <a:ea typeface="+mn-ea"/>
            </a:endParaRPr>
          </a:p>
          <a:p>
            <a:pPr marL="1600200" marR="0" lvl="3" indent="-2286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tx1"/>
                </a:solidFill>
                <a:effectLst/>
                <a:uLnTx/>
                <a:uFillTx/>
                <a:latin typeface="+mn-lt"/>
                <a:ea typeface="+mn-ea"/>
              </a:rPr>
              <a:t>元组长度</a:t>
            </a:r>
            <a:r>
              <a:rPr kumimoji="0" lang="en-US" altLang="zh-CN" sz="2000" b="1" i="0" u="none" strike="noStrike" kern="0" cap="none" spc="0" normalizeH="0" baseline="0" noProof="0" dirty="0">
                <a:ln>
                  <a:noFill/>
                </a:ln>
                <a:solidFill>
                  <a:schemeClr val="tx1"/>
                </a:solidFill>
                <a:effectLst/>
                <a:uLnTx/>
                <a:uFillTx/>
                <a:latin typeface="+mn-lt"/>
                <a:ea typeface="+mn-ea"/>
              </a:rPr>
              <a:t>(l)</a:t>
            </a:r>
            <a:endParaRPr kumimoji="0" lang="zh-CN" altLang="en-US" sz="2000" b="1" i="0" u="none" strike="noStrike" kern="0" cap="none" spc="0" normalizeH="0" baseline="0" noProof="0" dirty="0">
              <a:ln>
                <a:noFill/>
              </a:ln>
              <a:solidFill>
                <a:schemeClr val="tx1"/>
              </a:solidFill>
              <a:effectLst/>
              <a:uLnTx/>
              <a:uFillTx/>
              <a:latin typeface="+mn-lt"/>
              <a:ea typeface="+mn-ea"/>
            </a:endParaRPr>
          </a:p>
          <a:p>
            <a:pPr marL="1600200" marR="0" lvl="3" indent="-2286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tx1"/>
                </a:solidFill>
                <a:effectLst/>
                <a:uLnTx/>
                <a:uFillTx/>
                <a:latin typeface="+mn-lt"/>
                <a:ea typeface="+mn-ea"/>
              </a:rPr>
              <a:t>占用的块数</a:t>
            </a:r>
            <a:r>
              <a:rPr kumimoji="0" lang="en-US" altLang="zh-CN" sz="2000" b="1" i="0" u="none" strike="noStrike" kern="0" cap="none" spc="0" normalizeH="0" baseline="0" noProof="0" dirty="0">
                <a:ln>
                  <a:noFill/>
                </a:ln>
                <a:solidFill>
                  <a:schemeClr val="tx1"/>
                </a:solidFill>
                <a:effectLst/>
                <a:uLnTx/>
                <a:uFillTx/>
                <a:latin typeface="+mn-lt"/>
                <a:ea typeface="+mn-ea"/>
              </a:rPr>
              <a:t>(B)</a:t>
            </a:r>
            <a:endParaRPr kumimoji="0" lang="zh-CN" altLang="en-US" sz="2000" b="1" i="0" u="none" strike="noStrike" kern="0" cap="none" spc="0" normalizeH="0" baseline="0" noProof="0" dirty="0">
              <a:ln>
                <a:noFill/>
              </a:ln>
              <a:solidFill>
                <a:schemeClr val="tx1"/>
              </a:solidFill>
              <a:effectLst/>
              <a:uLnTx/>
              <a:uFillTx/>
              <a:latin typeface="+mn-lt"/>
              <a:ea typeface="+mn-ea"/>
            </a:endParaRPr>
          </a:p>
          <a:p>
            <a:pPr marL="1600200" marR="0" lvl="3" indent="-2286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tx1"/>
                </a:solidFill>
                <a:effectLst/>
                <a:uLnTx/>
                <a:uFillTx/>
                <a:latin typeface="+mn-lt"/>
                <a:ea typeface="+mn-ea"/>
              </a:rPr>
              <a:t>占用的溢出块数</a:t>
            </a:r>
            <a:r>
              <a:rPr kumimoji="0" lang="en-US" altLang="zh-CN" sz="2000" b="1" i="0" u="none" strike="noStrike" kern="0" cap="none" spc="0" normalizeH="0" baseline="0" noProof="0" dirty="0">
                <a:ln>
                  <a:noFill/>
                </a:ln>
                <a:solidFill>
                  <a:schemeClr val="tx1"/>
                </a:solidFill>
                <a:effectLst/>
                <a:uLnTx/>
                <a:uFillTx/>
                <a:latin typeface="+mn-lt"/>
                <a:ea typeface="+mn-ea"/>
              </a:rPr>
              <a:t>(BO)</a:t>
            </a:r>
            <a:endParaRPr kumimoji="0" lang="zh-CN" altLang="en-US" sz="20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标题 1"/>
          <p:cNvSpPr>
            <a:spLocks noGrp="1"/>
          </p:cNvSpPr>
          <p:nvPr>
            <p:ph type="title"/>
          </p:nvPr>
        </p:nvSpPr>
        <p:spPr/>
        <p:txBody>
          <a:bodyPr vert="horz" wrap="square" lIns="91440" tIns="45720" rIns="91440" bIns="45720" anchor="ctr" anchorCtr="0"/>
          <a:p>
            <a:r>
              <a:rPr lang="zh-CN" altLang="zh-CN" sz="3600" dirty="0"/>
              <a:t>基于代价的优化（续）</a:t>
            </a:r>
            <a:endParaRPr lang="zh-CN" altLang="en-US" sz="3600" dirty="0"/>
          </a:p>
        </p:txBody>
      </p:sp>
      <p:sp>
        <p:nvSpPr>
          <p:cNvPr id="3" name="内容占位符 2"/>
          <p:cNvSpPr>
            <a:spLocks noGrp="1"/>
          </p:cNvSpPr>
          <p:nvPr>
            <p:ph idx="1"/>
          </p:nvPr>
        </p:nvSpPr>
        <p:spPr>
          <a:xfrm>
            <a:off x="334963" y="1206500"/>
            <a:ext cx="10729913" cy="5095875"/>
          </a:xfrm>
        </p:spPr>
        <p:txBody>
          <a:bodyPr vert="horz" wrap="square" lIns="91440" tIns="45720" rIns="91440" bIns="45720" numCol="1" anchor="t" anchorCtr="0" compatLnSpc="1"/>
          <a:lstStyle/>
          <a:p>
            <a:pPr marL="914400" marR="0" lvl="2" indent="0" algn="l" defTabSz="914400" rtl="0" eaLnBrk="0" fontAlgn="base" latinLnBrk="0" hangingPunct="0">
              <a:lnSpc>
                <a:spcPct val="120000"/>
              </a:lnSpc>
              <a:spcBef>
                <a:spcPct val="20000"/>
              </a:spcBef>
              <a:spcAft>
                <a:spcPct val="0"/>
              </a:spcAft>
              <a:buClrTx/>
              <a:buSzPct val="87000"/>
              <a:buFont typeface="Arial" panose="020B0604020202020204" pitchFamily="34" charset="0"/>
              <a:buNone/>
              <a:defRPr/>
            </a:pPr>
            <a:r>
              <a:rPr kumimoji="0" lang="zh-CN" altLang="en-US" sz="2200" b="1" i="0" u="none" strike="noStrike" kern="0" cap="none" spc="0" normalizeH="0" baseline="0" noProof="0" dirty="0">
                <a:ln>
                  <a:noFill/>
                </a:ln>
                <a:solidFill>
                  <a:schemeClr val="tx1"/>
                </a:solidFill>
                <a:effectLst/>
                <a:uLnTx/>
                <a:uFillTx/>
                <a:latin typeface="+mn-lt"/>
                <a:ea typeface="+mn-ea"/>
              </a:rPr>
              <a:t>（</a:t>
            </a:r>
            <a:r>
              <a:rPr kumimoji="0" lang="en-US" altLang="zh-CN" sz="2200" b="1" i="0" u="none" strike="noStrike" kern="0" cap="none" spc="0" normalizeH="0" baseline="0" noProof="0" dirty="0">
                <a:ln>
                  <a:noFill/>
                </a:ln>
                <a:solidFill>
                  <a:schemeClr val="tx1"/>
                </a:solidFill>
                <a:effectLst/>
                <a:uLnTx/>
                <a:uFillTx/>
                <a:latin typeface="+mn-lt"/>
                <a:ea typeface="+mn-ea"/>
              </a:rPr>
              <a:t>2</a:t>
            </a:r>
            <a:r>
              <a:rPr kumimoji="0" lang="zh-CN" altLang="en-US" sz="2200" b="1" i="0" u="none" strike="noStrike" kern="0" cap="none" spc="0" normalizeH="0" baseline="0" noProof="0" dirty="0">
                <a:ln>
                  <a:noFill/>
                </a:ln>
                <a:solidFill>
                  <a:schemeClr val="tx1"/>
                </a:solidFill>
                <a:effectLst/>
                <a:uLnTx/>
                <a:uFillTx/>
                <a:latin typeface="+mn-lt"/>
                <a:ea typeface="+mn-ea"/>
              </a:rPr>
              <a:t>）对基表的每个列</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600200" marR="0" lvl="3" indent="-2286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0" lang="zh-CN" altLang="en-US" sz="2200" b="1" i="0" u="none" strike="noStrike" kern="0" cap="none" spc="0" normalizeH="0" baseline="0" noProof="0" dirty="0">
                <a:ln>
                  <a:noFill/>
                </a:ln>
                <a:solidFill>
                  <a:schemeClr val="tx1"/>
                </a:solidFill>
                <a:effectLst/>
                <a:uLnTx/>
                <a:uFillTx/>
                <a:latin typeface="+mn-lt"/>
                <a:ea typeface="+mn-ea"/>
              </a:rPr>
              <a:t>该列不同值的个数</a:t>
            </a:r>
            <a:r>
              <a:rPr kumimoji="0" lang="en-US" altLang="zh-CN" sz="2200" b="1" i="0" u="none" strike="noStrike" kern="0" cap="none" spc="0" normalizeH="0" baseline="0" noProof="0" dirty="0">
                <a:ln>
                  <a:noFill/>
                </a:ln>
                <a:solidFill>
                  <a:schemeClr val="tx1"/>
                </a:solidFill>
                <a:effectLst/>
                <a:uLnTx/>
                <a:uFillTx/>
                <a:latin typeface="+mn-lt"/>
                <a:ea typeface="+mn-ea"/>
              </a:rPr>
              <a:t>(m)</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600200" marR="0" lvl="3" indent="-2286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0" lang="zh-CN" altLang="en-US" sz="2200" b="1" i="0" u="none" strike="noStrike" kern="0" cap="none" spc="0" normalizeH="0" baseline="0" noProof="0" dirty="0">
                <a:ln>
                  <a:noFill/>
                </a:ln>
                <a:solidFill>
                  <a:schemeClr val="tx1"/>
                </a:solidFill>
                <a:effectLst/>
                <a:uLnTx/>
                <a:uFillTx/>
                <a:latin typeface="+mn-lt"/>
                <a:ea typeface="+mn-ea"/>
              </a:rPr>
              <a:t>列最大值</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600200" marR="0" lvl="3" indent="-2286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0" lang="zh-CN" altLang="en-US" sz="2200" b="1" i="0" u="none" strike="noStrike" kern="0" cap="none" spc="0" normalizeH="0" baseline="0" noProof="0" dirty="0">
                <a:ln>
                  <a:noFill/>
                </a:ln>
                <a:solidFill>
                  <a:schemeClr val="tx1"/>
                </a:solidFill>
                <a:effectLst/>
                <a:uLnTx/>
                <a:uFillTx/>
                <a:latin typeface="+mn-lt"/>
                <a:ea typeface="+mn-ea"/>
              </a:rPr>
              <a:t>最小值</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600200" marR="0" lvl="3" indent="-2286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0" lang="zh-CN" altLang="en-US" sz="2200" b="1" i="0" u="none" strike="noStrike" kern="0" cap="none" spc="0" normalizeH="0" baseline="0" noProof="0" dirty="0">
                <a:ln>
                  <a:noFill/>
                </a:ln>
                <a:solidFill>
                  <a:schemeClr val="tx1"/>
                </a:solidFill>
                <a:effectLst/>
                <a:uLnTx/>
                <a:uFillTx/>
                <a:latin typeface="+mn-lt"/>
                <a:ea typeface="+mn-ea"/>
              </a:rPr>
              <a:t>列上是否已经建立了索引</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600200" marR="0" lvl="3" indent="-2286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0" lang="zh-CN" altLang="en-US" sz="2200" b="1" i="0" u="none" strike="noStrike" kern="0" cap="none" spc="0" normalizeH="0" baseline="0" noProof="0" dirty="0">
                <a:ln>
                  <a:noFill/>
                </a:ln>
                <a:solidFill>
                  <a:schemeClr val="tx1"/>
                </a:solidFill>
                <a:effectLst/>
                <a:uLnTx/>
                <a:uFillTx/>
                <a:latin typeface="+mn-lt"/>
                <a:ea typeface="+mn-ea"/>
              </a:rPr>
              <a:t>哪种索引</a:t>
            </a:r>
            <a:r>
              <a:rPr kumimoji="0" lang="en-US" altLang="zh-CN" sz="2200" b="1" i="0" u="none" strike="noStrike" kern="0" cap="none" spc="0" normalizeH="0" baseline="0" noProof="0" dirty="0">
                <a:ln>
                  <a:noFill/>
                </a:ln>
                <a:solidFill>
                  <a:schemeClr val="tx1"/>
                </a:solidFill>
                <a:effectLst/>
                <a:uLnTx/>
                <a:uFillTx/>
                <a:latin typeface="+mn-lt"/>
                <a:ea typeface="+mn-ea"/>
              </a:rPr>
              <a:t>(B+</a:t>
            </a:r>
            <a:r>
              <a:rPr kumimoji="0" lang="zh-CN" altLang="en-US" sz="2200" b="1" i="0" u="none" strike="noStrike" kern="0" cap="none" spc="0" normalizeH="0" baseline="0" noProof="0" dirty="0">
                <a:ln>
                  <a:noFill/>
                </a:ln>
                <a:solidFill>
                  <a:schemeClr val="tx1"/>
                </a:solidFill>
                <a:effectLst/>
                <a:uLnTx/>
                <a:uFillTx/>
                <a:latin typeface="+mn-lt"/>
                <a:ea typeface="+mn-ea"/>
              </a:rPr>
              <a:t>树索引、</a:t>
            </a:r>
            <a:r>
              <a:rPr kumimoji="0" lang="en-US" altLang="zh-CN" sz="2200" b="1" i="0" u="none" strike="noStrike" kern="0" cap="none" spc="0" normalizeH="0" baseline="0" noProof="0" dirty="0">
                <a:ln>
                  <a:noFill/>
                </a:ln>
                <a:solidFill>
                  <a:schemeClr val="tx1"/>
                </a:solidFill>
                <a:effectLst/>
                <a:uLnTx/>
                <a:uFillTx/>
                <a:latin typeface="+mn-lt"/>
                <a:ea typeface="+mn-ea"/>
              </a:rPr>
              <a:t>Hash</a:t>
            </a:r>
            <a:r>
              <a:rPr kumimoji="0" lang="zh-CN" altLang="en-US" sz="2200" b="1" i="0" u="none" strike="noStrike" kern="0" cap="none" spc="0" normalizeH="0" baseline="0" noProof="0" dirty="0">
                <a:ln>
                  <a:noFill/>
                </a:ln>
                <a:solidFill>
                  <a:schemeClr val="tx1"/>
                </a:solidFill>
                <a:effectLst/>
                <a:uLnTx/>
                <a:uFillTx/>
                <a:latin typeface="+mn-lt"/>
                <a:ea typeface="+mn-ea"/>
              </a:rPr>
              <a:t>索引、聚集索引</a:t>
            </a:r>
            <a:r>
              <a:rPr kumimoji="0" lang="en-US" altLang="zh-CN" sz="2200" b="1" i="0" u="none" strike="noStrike" kern="0" cap="none" spc="0" normalizeH="0" baseline="0" noProof="0" dirty="0">
                <a:ln>
                  <a:noFill/>
                </a:ln>
                <a:solidFill>
                  <a:schemeClr val="tx1"/>
                </a:solidFill>
                <a:effectLst/>
                <a:uLnTx/>
                <a:uFillTx/>
                <a:latin typeface="+mn-lt"/>
                <a:ea typeface="+mn-ea"/>
              </a:rPr>
              <a:t>)</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600200" marR="0" lvl="3" indent="-2286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Ø"/>
              <a:defRPr/>
            </a:pPr>
            <a:r>
              <a:rPr kumimoji="0" lang="zh-CN" altLang="en-US" sz="2200" b="1" i="0" u="none" strike="noStrike" kern="0" cap="none" spc="0" normalizeH="0" baseline="0" noProof="0" dirty="0">
                <a:ln>
                  <a:noFill/>
                </a:ln>
                <a:solidFill>
                  <a:schemeClr val="tx1"/>
                </a:solidFill>
                <a:effectLst/>
                <a:uLnTx/>
                <a:uFillTx/>
                <a:latin typeface="+mn-lt"/>
                <a:ea typeface="+mn-ea"/>
              </a:rPr>
              <a:t>可以计算选择率</a:t>
            </a:r>
            <a:r>
              <a:rPr kumimoji="0" lang="en-US" altLang="zh-CN" sz="2200" b="1" i="0" u="none" strike="noStrike" kern="0" cap="none" spc="0" normalizeH="0" baseline="0" noProof="0" dirty="0">
                <a:ln>
                  <a:noFill/>
                </a:ln>
                <a:solidFill>
                  <a:schemeClr val="tx1"/>
                </a:solidFill>
                <a:effectLst/>
                <a:uLnTx/>
                <a:uFillTx/>
                <a:latin typeface="+mn-lt"/>
                <a:ea typeface="+mn-ea"/>
              </a:rPr>
              <a:t>(f)</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2057400" marR="0" lvl="4" indent="-228600" algn="l" defTabSz="914400" rtl="0" eaLnBrk="0" fontAlgn="base" latinLnBrk="0" hangingPunct="0">
              <a:lnSpc>
                <a:spcPct val="120000"/>
              </a:lnSpc>
              <a:spcBef>
                <a:spcPct val="20000"/>
              </a:spcBef>
              <a:spcAft>
                <a:spcPct val="0"/>
              </a:spcAft>
              <a:buClrTx/>
              <a:buSzTx/>
              <a:buFont typeface="Wingdings" panose="05000000000000000000" pitchFamily="2" charset="2"/>
              <a:buChar char="ü"/>
              <a:defRPr/>
            </a:pPr>
            <a:r>
              <a:rPr kumimoji="0" lang="zh-CN" altLang="en-US" sz="2200" b="1" i="0" u="none" strike="noStrike" kern="0" cap="none" spc="0" normalizeH="0" baseline="0" noProof="0" dirty="0">
                <a:ln>
                  <a:noFill/>
                </a:ln>
                <a:solidFill>
                  <a:schemeClr val="tx1"/>
                </a:solidFill>
                <a:effectLst/>
                <a:uLnTx/>
                <a:uFillTx/>
                <a:latin typeface="+mn-lt"/>
                <a:ea typeface="+mn-ea"/>
              </a:rPr>
              <a:t>如果不同值的分布是均匀的，</a:t>
            </a:r>
            <a:r>
              <a:rPr kumimoji="0" lang="en-US" altLang="zh-CN" sz="2200" b="1" i="1" u="none" strike="noStrike" kern="0" cap="none" spc="0" normalizeH="0" baseline="0" noProof="0" dirty="0">
                <a:ln>
                  <a:noFill/>
                </a:ln>
                <a:solidFill>
                  <a:schemeClr val="tx1"/>
                </a:solidFill>
                <a:effectLst/>
                <a:uLnTx/>
                <a:uFillTx/>
                <a:latin typeface="+mn-lt"/>
                <a:ea typeface="+mn-ea"/>
              </a:rPr>
              <a:t>f</a:t>
            </a:r>
            <a:r>
              <a:rPr kumimoji="0" lang="zh-CN" altLang="en-US" sz="2200" b="1" i="0" u="none" strike="noStrike" kern="0" cap="none" spc="0" normalizeH="0" baseline="0" noProof="0" dirty="0">
                <a:ln>
                  <a:noFill/>
                </a:ln>
                <a:solidFill>
                  <a:schemeClr val="tx1"/>
                </a:solidFill>
                <a:effectLst/>
                <a:uLnTx/>
                <a:uFillTx/>
                <a:latin typeface="+mn-lt"/>
                <a:ea typeface="+mn-ea"/>
              </a:rPr>
              <a:t>＝</a:t>
            </a:r>
            <a:r>
              <a:rPr kumimoji="0" lang="en-US" altLang="zh-CN" sz="2200" b="1" i="0" u="none" strike="noStrike" kern="0" cap="none" spc="0" normalizeH="0" baseline="0" noProof="0" dirty="0">
                <a:ln>
                  <a:noFill/>
                </a:ln>
                <a:solidFill>
                  <a:schemeClr val="tx1"/>
                </a:solidFill>
                <a:effectLst/>
                <a:uLnTx/>
                <a:uFillTx/>
                <a:latin typeface="+mn-lt"/>
                <a:ea typeface="+mn-ea"/>
              </a:rPr>
              <a:t>1/m</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2057400" marR="0" lvl="4" indent="-228600" algn="l" defTabSz="914400" rtl="0" eaLnBrk="0" fontAlgn="base" latinLnBrk="0" hangingPunct="0">
              <a:lnSpc>
                <a:spcPct val="120000"/>
              </a:lnSpc>
              <a:spcBef>
                <a:spcPct val="20000"/>
              </a:spcBef>
              <a:spcAft>
                <a:spcPct val="0"/>
              </a:spcAft>
              <a:buClrTx/>
              <a:buSzTx/>
              <a:buFont typeface="Wingdings" panose="05000000000000000000" pitchFamily="2" charset="2"/>
              <a:buChar char="ü"/>
              <a:defRPr/>
            </a:pPr>
            <a:r>
              <a:rPr kumimoji="0" lang="zh-CN" altLang="en-US" sz="2200" b="1" i="0" u="none" strike="noStrike" kern="0" cap="none" spc="0" normalizeH="0" baseline="0" noProof="0" dirty="0">
                <a:ln>
                  <a:noFill/>
                </a:ln>
                <a:solidFill>
                  <a:schemeClr val="tx1"/>
                </a:solidFill>
                <a:effectLst/>
                <a:uLnTx/>
                <a:uFillTx/>
                <a:latin typeface="+mn-lt"/>
                <a:ea typeface="+mn-ea"/>
              </a:rPr>
              <a:t>如果不同值的分布不均匀，则要计算每个值的选择率，</a:t>
            </a:r>
            <a:r>
              <a:rPr kumimoji="0" lang="en-US" altLang="zh-CN" sz="2200" b="1" i="1" u="none" strike="noStrike" kern="0" cap="none" spc="0" normalizeH="0" baseline="0" noProof="0" dirty="0">
                <a:ln>
                  <a:noFill/>
                </a:ln>
                <a:solidFill>
                  <a:schemeClr val="tx1"/>
                </a:solidFill>
                <a:effectLst/>
                <a:uLnTx/>
                <a:uFillTx/>
                <a:latin typeface="+mn-lt"/>
                <a:ea typeface="+mn-ea"/>
              </a:rPr>
              <a:t>f</a:t>
            </a:r>
            <a:r>
              <a:rPr kumimoji="0" lang="zh-CN" altLang="en-US" sz="2200" b="1" i="0" u="none" strike="noStrike" kern="0" cap="none" spc="0" normalizeH="0" baseline="0" noProof="0" dirty="0">
                <a:ln>
                  <a:noFill/>
                </a:ln>
                <a:solidFill>
                  <a:schemeClr val="tx1"/>
                </a:solidFill>
                <a:effectLst/>
                <a:uLnTx/>
                <a:uFillTx/>
                <a:latin typeface="+mn-lt"/>
                <a:ea typeface="+mn-ea"/>
              </a:rPr>
              <a:t>＝具有该值的元组数</a:t>
            </a:r>
            <a:r>
              <a:rPr kumimoji="0" lang="en-US" altLang="zh-CN" sz="2200" b="1" i="0" u="none" strike="noStrike" kern="0" cap="none" spc="0" normalizeH="0" baseline="0" noProof="0" dirty="0">
                <a:ln>
                  <a:noFill/>
                </a:ln>
                <a:solidFill>
                  <a:schemeClr val="tx1"/>
                </a:solidFill>
                <a:effectLst/>
                <a:uLnTx/>
                <a:uFillTx/>
                <a:latin typeface="+mn-lt"/>
                <a:ea typeface="+mn-ea"/>
              </a:rPr>
              <a:t>/N</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标题 1"/>
          <p:cNvSpPr>
            <a:spLocks noGrp="1"/>
          </p:cNvSpPr>
          <p:nvPr>
            <p:ph type="title"/>
          </p:nvPr>
        </p:nvSpPr>
        <p:spPr/>
        <p:txBody>
          <a:bodyPr vert="horz" wrap="square" lIns="91440" tIns="45720" rIns="91440" bIns="45720" anchor="ctr" anchorCtr="0"/>
          <a:p>
            <a:r>
              <a:rPr lang="zh-CN" altLang="zh-CN" sz="3600" dirty="0"/>
              <a:t>基于代价的优化（续）</a:t>
            </a:r>
            <a:endParaRPr lang="zh-CN" altLang="en-US" sz="3600" dirty="0"/>
          </a:p>
        </p:txBody>
      </p:sp>
      <p:sp>
        <p:nvSpPr>
          <p:cNvPr id="95235" name="内容占位符 2"/>
          <p:cNvSpPr>
            <a:spLocks noGrp="1"/>
          </p:cNvSpPr>
          <p:nvPr>
            <p:ph idx="1"/>
          </p:nvPr>
        </p:nvSpPr>
        <p:spPr>
          <a:xfrm>
            <a:off x="1127125" y="1412875"/>
            <a:ext cx="8229600" cy="5095875"/>
          </a:xfrm>
        </p:spPr>
        <p:txBody>
          <a:bodyPr vert="horz" wrap="square" lIns="91440" tIns="45720" rIns="91440" bIns="45720" anchor="t" anchorCtr="0"/>
          <a:p>
            <a:pPr marL="457200" lvl="1" indent="0">
              <a:lnSpc>
                <a:spcPct val="120000"/>
              </a:lnSpc>
              <a:buNone/>
            </a:pPr>
            <a:r>
              <a:rPr lang="zh-CN" altLang="en-US" dirty="0"/>
              <a:t>（</a:t>
            </a:r>
            <a:r>
              <a:rPr lang="en-US" altLang="zh-CN" dirty="0"/>
              <a:t>3</a:t>
            </a:r>
            <a:r>
              <a:rPr lang="zh-CN" altLang="en-US" dirty="0"/>
              <a:t>）对索引</a:t>
            </a:r>
            <a:endParaRPr lang="zh-CN" altLang="en-US" dirty="0"/>
          </a:p>
          <a:p>
            <a:pPr lvl="2">
              <a:lnSpc>
                <a:spcPct val="120000"/>
              </a:lnSpc>
              <a:buSzPct val="87000"/>
              <a:buFont typeface="Wingdings" panose="05000000000000000000" pitchFamily="2" charset="2"/>
              <a:buChar char="l"/>
            </a:pPr>
            <a:r>
              <a:rPr lang="zh-CN" altLang="en-US" dirty="0"/>
              <a:t>索引的层数</a:t>
            </a:r>
            <a:r>
              <a:rPr lang="en-US" altLang="zh-CN" dirty="0"/>
              <a:t>(L)</a:t>
            </a:r>
            <a:endParaRPr lang="zh-CN" altLang="en-US" dirty="0"/>
          </a:p>
          <a:p>
            <a:pPr lvl="2">
              <a:lnSpc>
                <a:spcPct val="120000"/>
              </a:lnSpc>
              <a:buSzPct val="87000"/>
              <a:buFont typeface="Wingdings" panose="05000000000000000000" pitchFamily="2" charset="2"/>
              <a:buChar char="l"/>
            </a:pPr>
            <a:r>
              <a:rPr lang="zh-CN" altLang="en-US" dirty="0"/>
              <a:t>不同索引值的个数</a:t>
            </a:r>
            <a:endParaRPr lang="zh-CN" altLang="en-US" dirty="0"/>
          </a:p>
          <a:p>
            <a:pPr lvl="2">
              <a:lnSpc>
                <a:spcPct val="120000"/>
              </a:lnSpc>
              <a:buSzPct val="87000"/>
              <a:buFont typeface="Wingdings" panose="05000000000000000000" pitchFamily="2" charset="2"/>
              <a:buChar char="l"/>
            </a:pPr>
            <a:r>
              <a:rPr lang="zh-CN" altLang="en-US" dirty="0"/>
              <a:t>索引的选择基数</a:t>
            </a:r>
            <a:r>
              <a:rPr lang="en-US" altLang="zh-CN" dirty="0"/>
              <a:t>S(</a:t>
            </a:r>
            <a:r>
              <a:rPr lang="zh-CN" altLang="en-US" dirty="0"/>
              <a:t>有</a:t>
            </a:r>
            <a:r>
              <a:rPr lang="en-US" altLang="zh-CN" dirty="0"/>
              <a:t>S</a:t>
            </a:r>
            <a:r>
              <a:rPr lang="zh-CN" altLang="en-US" dirty="0"/>
              <a:t>个元组具有某个索引值</a:t>
            </a:r>
            <a:r>
              <a:rPr lang="en-US" altLang="zh-CN" dirty="0"/>
              <a:t>)</a:t>
            </a:r>
            <a:endParaRPr lang="zh-CN" altLang="en-US" dirty="0"/>
          </a:p>
          <a:p>
            <a:pPr lvl="2">
              <a:lnSpc>
                <a:spcPct val="120000"/>
              </a:lnSpc>
              <a:buSzPct val="87000"/>
              <a:buFont typeface="Wingdings" panose="05000000000000000000" pitchFamily="2" charset="2"/>
              <a:buChar char="l"/>
            </a:pPr>
            <a:r>
              <a:rPr lang="zh-CN" altLang="en-US" dirty="0"/>
              <a:t>索引的叶结点数</a:t>
            </a:r>
            <a:r>
              <a:rPr lang="en-US" altLang="zh-CN" dirty="0"/>
              <a:t>(Y) </a:t>
            </a:r>
            <a:endParaRPr lang="zh-CN" altLang="en-US" dirty="0"/>
          </a:p>
          <a:p>
            <a:endParaRPr lang="zh-CN" altLang="en-US" dirty="0"/>
          </a:p>
          <a:p>
            <a:endParaRPr lang="zh-CN" alt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标题 1"/>
          <p:cNvSpPr>
            <a:spLocks noGrp="1"/>
          </p:cNvSpPr>
          <p:nvPr>
            <p:ph type="title"/>
          </p:nvPr>
        </p:nvSpPr>
        <p:spPr/>
        <p:txBody>
          <a:bodyPr vert="horz" wrap="square" lIns="91440" tIns="45720" rIns="91440" bIns="45720" anchor="ctr" anchorCtr="0"/>
          <a:p>
            <a:r>
              <a:rPr lang="zh-CN" altLang="zh-CN" sz="3600" dirty="0"/>
              <a:t>基于代价的优化（续）</a:t>
            </a:r>
            <a:endParaRPr lang="zh-CN" altLang="en-US" sz="3600" dirty="0"/>
          </a:p>
        </p:txBody>
      </p:sp>
      <p:sp>
        <p:nvSpPr>
          <p:cNvPr id="91139" name="内容占位符 2"/>
          <p:cNvSpPr>
            <a:spLocks noGrp="1"/>
          </p:cNvSpPr>
          <p:nvPr>
            <p:ph idx="1"/>
          </p:nvPr>
        </p:nvSpPr>
        <p:spPr>
          <a:xfrm>
            <a:off x="609600" y="1484313"/>
            <a:ext cx="10972800" cy="4854575"/>
          </a:xfrm>
        </p:spPr>
        <p:txBody>
          <a:bodyPr vert="horz" wrap="square" lIns="91440" tIns="45720" rIns="91440" bIns="45720" numCol="1" anchor="t" anchorCtr="0" compatLnSpc="1"/>
          <a:lstStyle/>
          <a:p>
            <a:pPr marL="0" marR="0" lvl="0"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2.</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代价估算示例 </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rPr>
              <a:t>（</a:t>
            </a:r>
            <a:r>
              <a:rPr kumimoji="0" lang="en-US" altLang="zh-CN" sz="2400" b="1" i="0" u="none" strike="noStrike" kern="0" cap="none" spc="0" normalizeH="0" baseline="0" noProof="0" dirty="0">
                <a:ln>
                  <a:noFill/>
                </a:ln>
                <a:solidFill>
                  <a:schemeClr val="tx1"/>
                </a:solidFill>
                <a:effectLst/>
                <a:uLnTx/>
                <a:uFillTx/>
                <a:latin typeface="+mn-lt"/>
                <a:ea typeface="+mn-ea"/>
              </a:rPr>
              <a:t>1</a:t>
            </a:r>
            <a:r>
              <a:rPr kumimoji="0" lang="zh-CN" altLang="en-US" sz="2400" b="1" i="0" u="none" strike="noStrike" kern="0" cap="none" spc="0" normalizeH="0" baseline="0" noProof="0" dirty="0">
                <a:ln>
                  <a:noFill/>
                </a:ln>
                <a:solidFill>
                  <a:schemeClr val="tx1"/>
                </a:solidFill>
                <a:effectLst/>
                <a:uLnTx/>
                <a:uFillTx/>
                <a:latin typeface="+mn-lt"/>
                <a:ea typeface="+mn-ea"/>
              </a:rPr>
              <a:t>）全表扫描算法的代价估算公式</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如果基本表大小为</a:t>
            </a:r>
            <a:r>
              <a:rPr kumimoji="0" lang="en-US" altLang="zh-CN" sz="2200" b="1" i="0" u="none" strike="noStrike" kern="0" cap="none" spc="0" normalizeH="0" baseline="0" noProof="0" dirty="0">
                <a:ln>
                  <a:noFill/>
                </a:ln>
                <a:solidFill>
                  <a:schemeClr val="tx1"/>
                </a:solidFill>
                <a:effectLst/>
                <a:uLnTx/>
                <a:uFillTx/>
                <a:latin typeface="+mn-lt"/>
                <a:ea typeface="+mn-ea"/>
              </a:rPr>
              <a:t>B</a:t>
            </a:r>
            <a:r>
              <a:rPr kumimoji="0" lang="zh-CN" altLang="en-US" sz="2200" b="1" i="0" u="none" strike="noStrike" kern="0" cap="none" spc="0" normalizeH="0" baseline="0" noProof="0" dirty="0">
                <a:ln>
                  <a:noFill/>
                </a:ln>
                <a:solidFill>
                  <a:schemeClr val="tx1"/>
                </a:solidFill>
                <a:effectLst/>
                <a:uLnTx/>
                <a:uFillTx/>
                <a:latin typeface="+mn-lt"/>
                <a:ea typeface="+mn-ea"/>
              </a:rPr>
              <a:t>块，全表扫描算法的代价 </a:t>
            </a:r>
            <a:r>
              <a:rPr kumimoji="0" lang="en-US" altLang="zh-CN" sz="2200" b="1" i="0" u="none" strike="noStrike" kern="0" cap="none" spc="0" normalizeH="0" baseline="0" noProof="0" dirty="0">
                <a:ln>
                  <a:noFill/>
                </a:ln>
                <a:solidFill>
                  <a:schemeClr val="tx1"/>
                </a:solidFill>
                <a:effectLst/>
                <a:uLnTx/>
                <a:uFillTx/>
                <a:latin typeface="+mn-lt"/>
                <a:ea typeface="+mn-ea"/>
              </a:rPr>
              <a:t>cost</a:t>
            </a:r>
            <a:r>
              <a:rPr kumimoji="0" lang="zh-CN" altLang="en-US" sz="2200" b="1" i="0" u="none" strike="noStrike" kern="0" cap="none" spc="0" normalizeH="0" baseline="0" noProof="0" dirty="0">
                <a:ln>
                  <a:noFill/>
                </a:ln>
                <a:solidFill>
                  <a:schemeClr val="tx1"/>
                </a:solidFill>
                <a:effectLst/>
                <a:uLnTx/>
                <a:uFillTx/>
                <a:latin typeface="+mn-lt"/>
                <a:ea typeface="+mn-ea"/>
              </a:rPr>
              <a:t>＝</a:t>
            </a:r>
            <a:r>
              <a:rPr kumimoji="0" lang="en-US" altLang="zh-CN" sz="2200" b="1" i="0" u="none" strike="noStrike" kern="0" cap="none" spc="0" normalizeH="0" baseline="0" noProof="0" dirty="0">
                <a:ln>
                  <a:noFill/>
                </a:ln>
                <a:solidFill>
                  <a:schemeClr val="tx1"/>
                </a:solidFill>
                <a:effectLst/>
                <a:uLnTx/>
                <a:uFillTx/>
                <a:latin typeface="+mn-lt"/>
                <a:ea typeface="+mn-ea"/>
              </a:rPr>
              <a:t>B</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如果选择条件是“</a:t>
            </a:r>
            <a:r>
              <a:rPr kumimoji="0" lang="zh-CN" altLang="en-US" sz="2200" b="1" i="0" u="none" strike="noStrike" kern="0" cap="none" spc="0" normalizeH="0" baseline="0" noProof="0" dirty="0">
                <a:ln>
                  <a:noFill/>
                </a:ln>
                <a:solidFill>
                  <a:srgbClr val="0066FF"/>
                </a:solidFill>
                <a:effectLst/>
                <a:uLnTx/>
                <a:uFillTx/>
                <a:latin typeface="+mn-lt"/>
                <a:ea typeface="+mn-ea"/>
              </a:rPr>
              <a:t>码＝值</a:t>
            </a:r>
            <a:r>
              <a:rPr kumimoji="0" lang="zh-CN" altLang="en-US" sz="2200" b="1" i="0" u="none" strike="noStrike" kern="0" cap="none" spc="0" normalizeH="0" baseline="0" noProof="0" dirty="0">
                <a:ln>
                  <a:noFill/>
                </a:ln>
                <a:solidFill>
                  <a:schemeClr val="tx1"/>
                </a:solidFill>
                <a:effectLst/>
                <a:uLnTx/>
                <a:uFillTx/>
                <a:latin typeface="+mn-lt"/>
                <a:ea typeface="+mn-ea"/>
              </a:rPr>
              <a:t>”，那么平均搜索代价 </a:t>
            </a:r>
            <a:r>
              <a:rPr kumimoji="0" lang="en-US" altLang="zh-CN" sz="2200" b="1" i="0" u="none" strike="noStrike" kern="0" cap="none" spc="0" normalizeH="0" baseline="0" noProof="0" dirty="0">
                <a:ln>
                  <a:noFill/>
                </a:ln>
                <a:solidFill>
                  <a:schemeClr val="tx1"/>
                </a:solidFill>
                <a:effectLst/>
                <a:uLnTx/>
                <a:uFillTx/>
                <a:latin typeface="+mn-lt"/>
                <a:ea typeface="+mn-ea"/>
              </a:rPr>
              <a:t>cost</a:t>
            </a:r>
            <a:r>
              <a:rPr kumimoji="0" lang="zh-CN" altLang="en-US" sz="2200" b="1" i="0" u="none" strike="noStrike" kern="0" cap="none" spc="0" normalizeH="0" baseline="0" noProof="0" dirty="0">
                <a:ln>
                  <a:noFill/>
                </a:ln>
                <a:solidFill>
                  <a:schemeClr val="tx1"/>
                </a:solidFill>
                <a:effectLst/>
                <a:uLnTx/>
                <a:uFillTx/>
                <a:latin typeface="+mn-lt"/>
                <a:ea typeface="+mn-ea"/>
              </a:rPr>
              <a:t>＝</a:t>
            </a:r>
            <a:r>
              <a:rPr kumimoji="0" lang="en-US" altLang="zh-CN" sz="2200" b="1" i="0" u="none" strike="noStrike" kern="0" cap="none" spc="0" normalizeH="0" baseline="0" noProof="0" dirty="0">
                <a:ln>
                  <a:noFill/>
                </a:ln>
                <a:solidFill>
                  <a:schemeClr val="tx1"/>
                </a:solidFill>
                <a:effectLst/>
                <a:uLnTx/>
                <a:uFillTx/>
                <a:latin typeface="+mn-lt"/>
                <a:ea typeface="+mn-ea"/>
              </a:rPr>
              <a:t>B/2</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标题 1"/>
          <p:cNvSpPr>
            <a:spLocks noGrp="1"/>
          </p:cNvSpPr>
          <p:nvPr>
            <p:ph type="title"/>
          </p:nvPr>
        </p:nvSpPr>
        <p:spPr/>
        <p:txBody>
          <a:bodyPr vert="horz" wrap="square" lIns="91440" tIns="45720" rIns="91440" bIns="45720" anchor="ctr" anchorCtr="0"/>
          <a:p>
            <a:r>
              <a:rPr lang="zh-CN" altLang="zh-CN" sz="3600" dirty="0"/>
              <a:t>基于代价的优化（续）</a:t>
            </a:r>
            <a:endParaRPr lang="zh-CN" altLang="en-US" sz="3600" dirty="0"/>
          </a:p>
        </p:txBody>
      </p:sp>
      <p:sp>
        <p:nvSpPr>
          <p:cNvPr id="97283" name="内容占位符 2"/>
          <p:cNvSpPr>
            <a:spLocks noGrp="1"/>
          </p:cNvSpPr>
          <p:nvPr>
            <p:ph idx="1"/>
          </p:nvPr>
        </p:nvSpPr>
        <p:spPr>
          <a:xfrm>
            <a:off x="334963" y="1484313"/>
            <a:ext cx="10874375" cy="5095875"/>
          </a:xfrm>
        </p:spPr>
        <p:txBody>
          <a:bodyPr vert="horz" wrap="square" lIns="91440" tIns="45720" rIns="91440" bIns="45720" anchor="t" anchorCtr="0"/>
          <a:p>
            <a:pPr marL="457200" lvl="1" indent="0">
              <a:lnSpc>
                <a:spcPct val="120000"/>
              </a:lnSpc>
              <a:buNone/>
            </a:pPr>
            <a:r>
              <a:rPr lang="zh-CN" altLang="en-US" dirty="0"/>
              <a:t>（</a:t>
            </a:r>
            <a:r>
              <a:rPr lang="en-US" altLang="zh-CN" dirty="0"/>
              <a:t>2</a:t>
            </a:r>
            <a:r>
              <a:rPr lang="zh-CN" altLang="en-US" dirty="0"/>
              <a:t>）索引扫描算法的代价估算公式</a:t>
            </a:r>
            <a:endParaRPr lang="zh-CN" altLang="en-US" dirty="0"/>
          </a:p>
          <a:p>
            <a:pPr lvl="2">
              <a:lnSpc>
                <a:spcPct val="120000"/>
              </a:lnSpc>
              <a:buSzPct val="87000"/>
              <a:buFont typeface="Wingdings" panose="05000000000000000000" pitchFamily="2" charset="2"/>
              <a:buChar char="l"/>
            </a:pPr>
            <a:r>
              <a:rPr lang="zh-CN" altLang="en-US" dirty="0"/>
              <a:t>如果选择条件是“</a:t>
            </a:r>
            <a:r>
              <a:rPr lang="zh-CN" altLang="en-US" dirty="0">
                <a:solidFill>
                  <a:srgbClr val="0066FF"/>
                </a:solidFill>
              </a:rPr>
              <a:t>码＝值</a:t>
            </a:r>
            <a:r>
              <a:rPr lang="zh-CN" altLang="en-US" dirty="0"/>
              <a:t>”</a:t>
            </a:r>
            <a:endParaRPr lang="zh-CN" altLang="en-US" dirty="0"/>
          </a:p>
          <a:p>
            <a:pPr lvl="3">
              <a:lnSpc>
                <a:spcPct val="120000"/>
              </a:lnSpc>
              <a:buFont typeface="Wingdings" panose="05000000000000000000" pitchFamily="2" charset="2"/>
              <a:buChar char="Ø"/>
            </a:pPr>
            <a:r>
              <a:rPr lang="zh-CN" altLang="en-US" sz="2200" dirty="0"/>
              <a:t>则采用该表的主索引</a:t>
            </a:r>
            <a:endParaRPr lang="zh-CN" altLang="en-US" sz="2200" dirty="0"/>
          </a:p>
          <a:p>
            <a:pPr lvl="3">
              <a:lnSpc>
                <a:spcPct val="120000"/>
              </a:lnSpc>
              <a:buFont typeface="Wingdings" panose="05000000000000000000" pitchFamily="2" charset="2"/>
              <a:buChar char="Ø"/>
            </a:pPr>
            <a:r>
              <a:rPr lang="zh-CN" altLang="en-US" sz="2200" dirty="0"/>
              <a:t>若为</a:t>
            </a:r>
            <a:r>
              <a:rPr lang="en-US" altLang="zh-CN" sz="2200" dirty="0"/>
              <a:t>B+</a:t>
            </a:r>
            <a:r>
              <a:rPr lang="zh-CN" altLang="en-US" sz="2200" dirty="0"/>
              <a:t>树，层数为</a:t>
            </a:r>
            <a:r>
              <a:rPr lang="en-US" altLang="zh-CN" sz="2200" dirty="0"/>
              <a:t>L</a:t>
            </a:r>
            <a:r>
              <a:rPr lang="zh-CN" altLang="en-US" sz="2200" dirty="0"/>
              <a:t>，需要存取</a:t>
            </a:r>
            <a:r>
              <a:rPr lang="en-US" altLang="zh-CN" sz="2200" dirty="0"/>
              <a:t>B+</a:t>
            </a:r>
            <a:r>
              <a:rPr lang="zh-CN" altLang="en-US" sz="2200" dirty="0"/>
              <a:t>树中从根结点到叶结点</a:t>
            </a:r>
            <a:r>
              <a:rPr lang="en-US" altLang="zh-CN" sz="2200" dirty="0"/>
              <a:t>L</a:t>
            </a:r>
            <a:r>
              <a:rPr lang="zh-CN" altLang="en-US" sz="2200" dirty="0"/>
              <a:t>块，再加上基本表中该元组所在的那一块，所以</a:t>
            </a:r>
            <a:r>
              <a:rPr lang="en-US" altLang="zh-CN" sz="2200" dirty="0"/>
              <a:t>cost=L+1</a:t>
            </a:r>
            <a:endParaRPr lang="zh-CN" altLang="en-US" sz="2200" dirty="0"/>
          </a:p>
          <a:p>
            <a:pPr>
              <a:buFont typeface="Wingdings" panose="05000000000000000000" pitchFamily="2" charset="2"/>
              <a:buChar char="v"/>
            </a:pPr>
            <a:endParaRPr lang="zh-CN" alt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标题 1"/>
          <p:cNvSpPr>
            <a:spLocks noGrp="1"/>
          </p:cNvSpPr>
          <p:nvPr>
            <p:ph type="title"/>
          </p:nvPr>
        </p:nvSpPr>
        <p:spPr/>
        <p:txBody>
          <a:bodyPr vert="horz" wrap="square" lIns="91440" tIns="45720" rIns="91440" bIns="45720" anchor="ctr" anchorCtr="0"/>
          <a:p>
            <a:r>
              <a:rPr lang="zh-CN" altLang="zh-CN" sz="3600" dirty="0"/>
              <a:t>基于代价的优化（续）</a:t>
            </a:r>
            <a:endParaRPr lang="zh-CN" altLang="en-US" sz="3600" dirty="0"/>
          </a:p>
        </p:txBody>
      </p:sp>
      <p:sp>
        <p:nvSpPr>
          <p:cNvPr id="98307" name="内容占位符 2"/>
          <p:cNvSpPr>
            <a:spLocks noGrp="1"/>
          </p:cNvSpPr>
          <p:nvPr>
            <p:ph idx="1"/>
          </p:nvPr>
        </p:nvSpPr>
        <p:spPr>
          <a:xfrm>
            <a:off x="3175" y="1412875"/>
            <a:ext cx="12095163" cy="5095875"/>
          </a:xfrm>
        </p:spPr>
        <p:txBody>
          <a:bodyPr vert="horz" wrap="square" lIns="91440" tIns="45720" rIns="91440" bIns="45720" anchor="t" anchorCtr="0"/>
          <a:p>
            <a:pPr marL="457200" lvl="1" indent="0">
              <a:lnSpc>
                <a:spcPct val="120000"/>
              </a:lnSpc>
              <a:buNone/>
            </a:pPr>
            <a:r>
              <a:rPr lang="zh-CN" altLang="en-US" dirty="0"/>
              <a:t>（</a:t>
            </a:r>
            <a:r>
              <a:rPr lang="en-US" altLang="zh-CN" dirty="0"/>
              <a:t>2</a:t>
            </a:r>
            <a:r>
              <a:rPr lang="zh-CN" altLang="en-US" dirty="0"/>
              <a:t>）索引扫描算法的代价估算公式（续）</a:t>
            </a:r>
            <a:endParaRPr lang="zh-CN" altLang="en-US" dirty="0"/>
          </a:p>
          <a:p>
            <a:pPr lvl="2">
              <a:lnSpc>
                <a:spcPct val="120000"/>
              </a:lnSpc>
              <a:buSzPct val="87000"/>
              <a:buFont typeface="Wingdings" panose="05000000000000000000" pitchFamily="2" charset="2"/>
              <a:buChar char="l"/>
            </a:pPr>
            <a:r>
              <a:rPr lang="zh-CN" altLang="en-US" dirty="0"/>
              <a:t>如果选择条件涉及非码属性</a:t>
            </a:r>
            <a:endParaRPr lang="zh-CN" altLang="en-US" dirty="0"/>
          </a:p>
          <a:p>
            <a:pPr lvl="3">
              <a:lnSpc>
                <a:spcPct val="120000"/>
              </a:lnSpc>
              <a:buFont typeface="Wingdings" panose="05000000000000000000" pitchFamily="2" charset="2"/>
              <a:buChar char="Ø"/>
            </a:pPr>
            <a:r>
              <a:rPr lang="zh-CN" altLang="en-US" sz="2200" dirty="0"/>
              <a:t>若为</a:t>
            </a:r>
            <a:r>
              <a:rPr lang="en-US" altLang="zh-CN" sz="2200" dirty="0"/>
              <a:t>B+</a:t>
            </a:r>
            <a:r>
              <a:rPr lang="zh-CN" altLang="en-US" sz="2200" dirty="0"/>
              <a:t>树索引，选择条件是相等比较，</a:t>
            </a:r>
            <a:r>
              <a:rPr lang="en-US" altLang="zh-CN" sz="2200" dirty="0"/>
              <a:t>S</a:t>
            </a:r>
            <a:r>
              <a:rPr lang="zh-CN" altLang="en-US" sz="2200" dirty="0"/>
              <a:t>是索引的选择基数</a:t>
            </a:r>
            <a:r>
              <a:rPr lang="en-US" altLang="zh-CN" sz="2200" dirty="0"/>
              <a:t>(</a:t>
            </a:r>
            <a:r>
              <a:rPr lang="zh-CN" altLang="en-US" sz="2200" dirty="0"/>
              <a:t>有</a:t>
            </a:r>
            <a:r>
              <a:rPr lang="en-US" altLang="zh-CN" sz="2200" dirty="0"/>
              <a:t>S</a:t>
            </a:r>
            <a:r>
              <a:rPr lang="zh-CN" altLang="en-US" sz="2200" dirty="0"/>
              <a:t>个元组满足条件</a:t>
            </a:r>
            <a:r>
              <a:rPr lang="en-US" altLang="zh-CN" sz="2200" dirty="0"/>
              <a:t>)</a:t>
            </a:r>
            <a:endParaRPr lang="zh-CN" altLang="en-US" sz="2200" dirty="0"/>
          </a:p>
          <a:p>
            <a:pPr lvl="3">
              <a:lnSpc>
                <a:spcPct val="120000"/>
              </a:lnSpc>
              <a:buFont typeface="Wingdings" panose="05000000000000000000" pitchFamily="2" charset="2"/>
              <a:buChar char="Ø"/>
            </a:pPr>
            <a:r>
              <a:rPr lang="zh-CN" altLang="en-US" sz="2200" dirty="0"/>
              <a:t>满足条件的元组可能会保存在不同的块上，所以</a:t>
            </a:r>
            <a:r>
              <a:rPr lang="en-US" altLang="zh-CN" sz="2200" dirty="0"/>
              <a:t>(</a:t>
            </a:r>
            <a:r>
              <a:rPr lang="zh-CN" altLang="en-US" sz="2200" dirty="0"/>
              <a:t>最坏的情况</a:t>
            </a:r>
            <a:r>
              <a:rPr lang="en-US" altLang="zh-CN" sz="2200" dirty="0"/>
              <a:t>)cost=L+S </a:t>
            </a:r>
            <a:endParaRPr lang="zh-CN" altLang="en-US" sz="2200" dirty="0"/>
          </a:p>
          <a:p>
            <a:pPr>
              <a:buFont typeface="Wingdings" panose="05000000000000000000" pitchFamily="2" charset="2"/>
              <a:buChar char="v"/>
            </a:pPr>
            <a:endParaRPr lang="zh-CN" alt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标题 1"/>
          <p:cNvSpPr>
            <a:spLocks noGrp="1"/>
          </p:cNvSpPr>
          <p:nvPr>
            <p:ph type="title"/>
          </p:nvPr>
        </p:nvSpPr>
        <p:spPr/>
        <p:txBody>
          <a:bodyPr vert="horz" wrap="square" lIns="91440" tIns="45720" rIns="91440" bIns="45720" anchor="ctr" anchorCtr="0"/>
          <a:p>
            <a:r>
              <a:rPr lang="zh-CN" altLang="zh-CN" sz="3600" dirty="0"/>
              <a:t>基于代价的优化（续）</a:t>
            </a:r>
            <a:endParaRPr lang="zh-CN" altLang="en-US" sz="3600" dirty="0"/>
          </a:p>
        </p:txBody>
      </p:sp>
      <p:sp>
        <p:nvSpPr>
          <p:cNvPr id="99331" name="内容占位符 2"/>
          <p:cNvSpPr>
            <a:spLocks noGrp="1"/>
          </p:cNvSpPr>
          <p:nvPr>
            <p:ph idx="1"/>
          </p:nvPr>
        </p:nvSpPr>
        <p:spPr>
          <a:xfrm>
            <a:off x="334963" y="1557338"/>
            <a:ext cx="10972800" cy="4854575"/>
          </a:xfrm>
        </p:spPr>
        <p:txBody>
          <a:bodyPr vert="horz" wrap="square" lIns="91440" tIns="45720" rIns="91440" bIns="45720" anchor="t" anchorCtr="0"/>
          <a:p>
            <a:pPr marL="457200" lvl="1" indent="0">
              <a:lnSpc>
                <a:spcPct val="120000"/>
              </a:lnSpc>
              <a:buNone/>
            </a:pPr>
            <a:r>
              <a:rPr lang="zh-CN" altLang="en-US" dirty="0"/>
              <a:t>（</a:t>
            </a:r>
            <a:r>
              <a:rPr lang="en-US" altLang="zh-CN" dirty="0"/>
              <a:t>2</a:t>
            </a:r>
            <a:r>
              <a:rPr lang="zh-CN" altLang="en-US" dirty="0"/>
              <a:t>）索引扫描算法的代价估算公式（续）</a:t>
            </a:r>
            <a:endParaRPr lang="zh-CN" altLang="en-US" dirty="0"/>
          </a:p>
          <a:p>
            <a:pPr lvl="2">
              <a:lnSpc>
                <a:spcPct val="120000"/>
              </a:lnSpc>
              <a:buSzPct val="87000"/>
              <a:buFont typeface="Wingdings" panose="05000000000000000000" pitchFamily="2" charset="2"/>
              <a:buChar char="l"/>
            </a:pPr>
            <a:r>
              <a:rPr lang="zh-CN" altLang="en-US" dirty="0"/>
              <a:t>如果比较条件是＞，＞＝，＜，＜＝操作</a:t>
            </a:r>
            <a:endParaRPr lang="zh-CN" altLang="en-US" dirty="0"/>
          </a:p>
          <a:p>
            <a:pPr lvl="3">
              <a:lnSpc>
                <a:spcPct val="120000"/>
              </a:lnSpc>
              <a:buFont typeface="Wingdings" panose="05000000000000000000" pitchFamily="2" charset="2"/>
              <a:buChar char="Ø"/>
            </a:pPr>
            <a:r>
              <a:rPr lang="zh-CN" altLang="en-US" sz="2200" dirty="0"/>
              <a:t>假设有一半的元组满足条件</a:t>
            </a:r>
            <a:endParaRPr lang="zh-CN" altLang="en-US" sz="2200" dirty="0"/>
          </a:p>
          <a:p>
            <a:pPr lvl="3">
              <a:lnSpc>
                <a:spcPct val="120000"/>
              </a:lnSpc>
              <a:buFont typeface="Wingdings" panose="05000000000000000000" pitchFamily="2" charset="2"/>
              <a:buChar char="Ø"/>
            </a:pPr>
            <a:r>
              <a:rPr lang="zh-CN" altLang="en-US" sz="2200" dirty="0"/>
              <a:t>就要存取一半的叶结点</a:t>
            </a:r>
            <a:endParaRPr lang="zh-CN" altLang="en-US" sz="2200" dirty="0"/>
          </a:p>
          <a:p>
            <a:pPr lvl="3">
              <a:lnSpc>
                <a:spcPct val="120000"/>
              </a:lnSpc>
              <a:buFont typeface="Wingdings" panose="05000000000000000000" pitchFamily="2" charset="2"/>
              <a:buChar char="Ø"/>
            </a:pPr>
            <a:r>
              <a:rPr lang="zh-CN" altLang="en-US" sz="2200" dirty="0"/>
              <a:t>通过索引访问一半的表存储块</a:t>
            </a:r>
            <a:endParaRPr lang="zh-CN" altLang="en-US" sz="2200" dirty="0"/>
          </a:p>
          <a:p>
            <a:pPr lvl="3">
              <a:lnSpc>
                <a:spcPct val="120000"/>
              </a:lnSpc>
              <a:buFont typeface="Wingdings" panose="05000000000000000000" pitchFamily="2" charset="2"/>
              <a:buChar char="Ø"/>
            </a:pPr>
            <a:r>
              <a:rPr lang="en-US" altLang="zh-CN" sz="2200" dirty="0"/>
              <a:t>cost=L+Y/2+B/2</a:t>
            </a:r>
            <a:endParaRPr lang="zh-CN" altLang="en-US" sz="2200" dirty="0"/>
          </a:p>
          <a:p>
            <a:pPr lvl="3">
              <a:lnSpc>
                <a:spcPct val="120000"/>
              </a:lnSpc>
              <a:buFont typeface="Wingdings" panose="05000000000000000000" pitchFamily="2" charset="2"/>
              <a:buChar char="Ø"/>
            </a:pPr>
            <a:r>
              <a:rPr lang="zh-CN" altLang="en-US" sz="2200" dirty="0"/>
              <a:t>如果可以获得更准确的选择基数，可以进一步修正</a:t>
            </a:r>
            <a:r>
              <a:rPr lang="en-US" altLang="zh-CN" sz="2200" dirty="0"/>
              <a:t>Y/2</a:t>
            </a:r>
            <a:r>
              <a:rPr lang="zh-CN" altLang="en-US" sz="2200" dirty="0"/>
              <a:t>与</a:t>
            </a:r>
            <a:r>
              <a:rPr lang="en-US" altLang="zh-CN" sz="2200" dirty="0"/>
              <a:t>B/2</a:t>
            </a:r>
            <a:endParaRPr lang="zh-CN" altLang="en-US" sz="2200" dirty="0"/>
          </a:p>
          <a:p>
            <a:pPr>
              <a:buFont typeface="Wingdings" panose="05000000000000000000" pitchFamily="2" charset="2"/>
              <a:buChar char="v"/>
            </a:pPr>
            <a:endParaRPr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标题 1"/>
          <p:cNvSpPr>
            <a:spLocks noGrp="1"/>
          </p:cNvSpPr>
          <p:nvPr>
            <p:ph type="title"/>
          </p:nvPr>
        </p:nvSpPr>
        <p:spPr/>
        <p:txBody>
          <a:bodyPr vert="horz" wrap="square" lIns="91440" tIns="45720" rIns="91440" bIns="45720" anchor="ctr" anchorCtr="0"/>
          <a:p>
            <a:r>
              <a:rPr lang="zh-CN" altLang="zh-CN" sz="3600" dirty="0"/>
              <a:t>基于代价的优化（续）</a:t>
            </a:r>
            <a:endParaRPr lang="zh-CN" altLang="en-US" sz="3600" dirty="0"/>
          </a:p>
        </p:txBody>
      </p:sp>
      <p:sp>
        <p:nvSpPr>
          <p:cNvPr id="3" name="内容占位符 2"/>
          <p:cNvSpPr>
            <a:spLocks noGrp="1"/>
          </p:cNvSpPr>
          <p:nvPr>
            <p:ph idx="1"/>
          </p:nvPr>
        </p:nvSpPr>
        <p:spPr>
          <a:xfrm>
            <a:off x="542925" y="1341438"/>
            <a:ext cx="10369550" cy="5095875"/>
          </a:xfrm>
        </p:spPr>
        <p:txBody>
          <a:bodyPr vert="horz" wrap="square" lIns="91440" tIns="45720" rIns="91440" bIns="45720" numCol="1" anchor="t" anchorCtr="0" compatLnSpc="1"/>
          <a:lstStyle/>
          <a:p>
            <a:pPr marL="4572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rPr>
              <a:t>（</a:t>
            </a:r>
            <a:r>
              <a:rPr kumimoji="0" lang="en-US" altLang="zh-CN" sz="2400" b="1" i="0" u="none" strike="noStrike" kern="0" cap="none" spc="0" normalizeH="0" baseline="0" noProof="0" dirty="0">
                <a:ln>
                  <a:noFill/>
                </a:ln>
                <a:solidFill>
                  <a:schemeClr val="tx1"/>
                </a:solidFill>
                <a:effectLst/>
                <a:uLnTx/>
                <a:uFillTx/>
                <a:latin typeface="+mn-lt"/>
                <a:ea typeface="+mn-ea"/>
              </a:rPr>
              <a:t>3</a:t>
            </a:r>
            <a:r>
              <a:rPr kumimoji="0" lang="zh-CN" altLang="en-US" sz="2400" b="1" i="0" u="none" strike="noStrike" kern="0" cap="none" spc="0" normalizeH="0" baseline="0" noProof="0" dirty="0">
                <a:ln>
                  <a:noFill/>
                </a:ln>
                <a:solidFill>
                  <a:schemeClr val="tx1"/>
                </a:solidFill>
                <a:effectLst/>
                <a:uLnTx/>
                <a:uFillTx/>
                <a:latin typeface="+mn-lt"/>
                <a:ea typeface="+mn-ea"/>
              </a:rPr>
              <a:t>）嵌套循环连接算法的代价估算公式</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嵌套循环连接算法的代价</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857250" marR="0" lvl="2" indent="0" algn="l" defTabSz="914400" rtl="0" eaLnBrk="0" fontAlgn="base" latinLnBrk="0" hangingPunct="0">
              <a:lnSpc>
                <a:spcPct val="120000"/>
              </a:lnSpc>
              <a:spcBef>
                <a:spcPct val="2000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chemeClr val="tx1"/>
                </a:solidFill>
                <a:effectLst/>
                <a:uLnTx/>
                <a:uFillTx/>
                <a:latin typeface="+mn-lt"/>
                <a:ea typeface="+mn-ea"/>
              </a:rPr>
              <a:t>         </a:t>
            </a:r>
            <a:r>
              <a:rPr kumimoji="0" lang="en-US" altLang="zh-CN" sz="2200" b="1" i="0" u="none" strike="noStrike" kern="0" cap="none" spc="0" normalizeH="0" baseline="0" noProof="0" dirty="0">
                <a:ln>
                  <a:noFill/>
                </a:ln>
                <a:solidFill>
                  <a:schemeClr val="tx1"/>
                </a:solidFill>
                <a:effectLst/>
                <a:uLnTx/>
                <a:uFillTx/>
                <a:latin typeface="+mn-lt"/>
                <a:ea typeface="+mn-ea"/>
              </a:rPr>
              <a:t>cost</a:t>
            </a:r>
            <a:r>
              <a:rPr kumimoji="0" lang="zh-CN" altLang="en-US" sz="2200" b="1" i="0" u="none" strike="noStrike" kern="0" cap="none" spc="0" normalizeH="0" baseline="0" noProof="0" dirty="0">
                <a:ln>
                  <a:noFill/>
                </a:ln>
                <a:solidFill>
                  <a:schemeClr val="tx1"/>
                </a:solidFill>
                <a:effectLst/>
                <a:uLnTx/>
                <a:uFillTx/>
                <a:latin typeface="+mn-lt"/>
                <a:ea typeface="+mn-ea"/>
              </a:rPr>
              <a:t>＝</a:t>
            </a:r>
            <a:r>
              <a:rPr kumimoji="0" lang="en-US" altLang="zh-CN" sz="2200" b="1" i="0" u="none" strike="noStrike" kern="0" cap="none" spc="0" normalizeH="0" baseline="0" noProof="0" dirty="0" err="1">
                <a:ln>
                  <a:noFill/>
                </a:ln>
                <a:solidFill>
                  <a:schemeClr val="tx1"/>
                </a:solidFill>
                <a:effectLst/>
                <a:uLnTx/>
                <a:uFillTx/>
                <a:latin typeface="+mn-lt"/>
                <a:ea typeface="+mn-ea"/>
              </a:rPr>
              <a:t>Br+BrBs</a:t>
            </a:r>
            <a:r>
              <a:rPr kumimoji="0" lang="en-US" altLang="zh-CN" sz="2200" b="1" i="0" u="none" strike="noStrike" kern="0" cap="none" spc="0" normalizeH="0" baseline="0" noProof="0" dirty="0">
                <a:ln>
                  <a:noFill/>
                </a:ln>
                <a:solidFill>
                  <a:schemeClr val="tx1"/>
                </a:solidFill>
                <a:effectLst/>
                <a:uLnTx/>
                <a:uFillTx/>
                <a:latin typeface="+mn-lt"/>
                <a:ea typeface="+mn-ea"/>
              </a:rPr>
              <a:t>/(K-1)</a:t>
            </a:r>
            <a:endParaRPr kumimoji="0" lang="en-US" altLang="zh-CN" sz="22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如果需要把连接结果写回磁盘</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600200" marR="0" lvl="3" indent="-228600" algn="l" defTabSz="914400" rtl="0" eaLnBrk="0" fontAlgn="base" latinLnBrk="0" hangingPunct="0">
              <a:lnSpc>
                <a:spcPct val="120000"/>
              </a:lnSpc>
              <a:spcBef>
                <a:spcPct val="20000"/>
              </a:spcBef>
              <a:spcAft>
                <a:spcPct val="0"/>
              </a:spcAft>
              <a:buClrTx/>
              <a:buSzTx/>
              <a:buFont typeface="Arial" panose="020B0604020202020204" pitchFamily="34" charset="0"/>
              <a:buNone/>
              <a:defRPr/>
            </a:pPr>
            <a:r>
              <a:rPr kumimoji="0" lang="zh-CN" altLang="en-US" sz="2000" b="1" i="0" u="none" strike="noStrike" kern="0" cap="none" spc="0" normalizeH="0" baseline="0" noProof="0" dirty="0">
                <a:ln>
                  <a:noFill/>
                </a:ln>
                <a:solidFill>
                  <a:schemeClr val="tx1"/>
                </a:solidFill>
                <a:effectLst/>
                <a:uLnTx/>
                <a:uFillTx/>
                <a:latin typeface="+mn-lt"/>
                <a:ea typeface="+mn-ea"/>
              </a:rPr>
              <a:t>   </a:t>
            </a:r>
            <a:r>
              <a:rPr kumimoji="0" lang="en-US" altLang="zh-CN" sz="2200" b="1" i="0" u="none" strike="noStrike" kern="0" cap="none" spc="0" normalizeH="0" baseline="0" noProof="0" dirty="0">
                <a:ln>
                  <a:noFill/>
                </a:ln>
                <a:solidFill>
                  <a:schemeClr val="tx1"/>
                </a:solidFill>
                <a:effectLst/>
                <a:uLnTx/>
                <a:uFillTx/>
                <a:latin typeface="+mn-lt"/>
                <a:ea typeface="+mn-ea"/>
              </a:rPr>
              <a:t>cost</a:t>
            </a:r>
            <a:r>
              <a:rPr kumimoji="0" lang="zh-CN" altLang="en-US" sz="2200" b="1" i="0" u="none" strike="noStrike" kern="0" cap="none" spc="0" normalizeH="0" baseline="0" noProof="0" dirty="0">
                <a:ln>
                  <a:noFill/>
                </a:ln>
                <a:solidFill>
                  <a:schemeClr val="tx1"/>
                </a:solidFill>
                <a:effectLst/>
                <a:uLnTx/>
                <a:uFillTx/>
                <a:latin typeface="+mn-lt"/>
                <a:ea typeface="+mn-ea"/>
              </a:rPr>
              <a:t>＝</a:t>
            </a:r>
            <a:r>
              <a:rPr kumimoji="0" lang="en-US" altLang="zh-CN" sz="2200" b="1" i="0" u="none" strike="noStrike" kern="0" cap="none" spc="0" normalizeH="0" baseline="0" noProof="0" dirty="0" err="1">
                <a:ln>
                  <a:noFill/>
                </a:ln>
                <a:solidFill>
                  <a:schemeClr val="tx1"/>
                </a:solidFill>
                <a:effectLst/>
                <a:uLnTx/>
                <a:uFillTx/>
                <a:latin typeface="+mn-lt"/>
                <a:ea typeface="+mn-ea"/>
              </a:rPr>
              <a:t>Br+Br</a:t>
            </a:r>
            <a:r>
              <a:rPr kumimoji="0" lang="en-US" altLang="zh-CN" sz="2200" b="1" i="0" u="none" strike="noStrike" kern="0" cap="none" spc="0" normalizeH="0" baseline="0" noProof="0" dirty="0">
                <a:ln>
                  <a:noFill/>
                </a:ln>
                <a:solidFill>
                  <a:schemeClr val="tx1"/>
                </a:solidFill>
                <a:effectLst/>
                <a:uLnTx/>
                <a:uFillTx/>
                <a:latin typeface="+mn-lt"/>
                <a:ea typeface="+mn-ea"/>
              </a:rPr>
              <a:t> </a:t>
            </a:r>
            <a:r>
              <a:rPr kumimoji="0" lang="en-US" altLang="zh-CN" sz="2200" b="1" i="0" u="none" strike="noStrike" kern="0" cap="none" spc="0" normalizeH="0" baseline="0" noProof="0" dirty="0" err="1">
                <a:ln>
                  <a:noFill/>
                </a:ln>
                <a:solidFill>
                  <a:schemeClr val="tx1"/>
                </a:solidFill>
                <a:effectLst/>
                <a:uLnTx/>
                <a:uFillTx/>
                <a:latin typeface="+mn-lt"/>
                <a:ea typeface="+mn-ea"/>
              </a:rPr>
              <a:t>Bs</a:t>
            </a:r>
            <a:r>
              <a:rPr kumimoji="0" lang="en-US" altLang="zh-CN" sz="2200" b="1" i="0" u="none" strike="noStrike" kern="0" cap="none" spc="0" normalizeH="0" baseline="0" noProof="0" dirty="0">
                <a:ln>
                  <a:noFill/>
                </a:ln>
                <a:solidFill>
                  <a:schemeClr val="tx1"/>
                </a:solidFill>
                <a:effectLst/>
                <a:uLnTx/>
                <a:uFillTx/>
                <a:latin typeface="+mn-lt"/>
                <a:ea typeface="+mn-ea"/>
              </a:rPr>
              <a:t>/(K-1)+(</a:t>
            </a:r>
            <a:r>
              <a:rPr kumimoji="0" lang="en-US" altLang="zh-CN" sz="2200" b="1" i="0" u="none" strike="noStrike" kern="0" cap="none" spc="0" normalizeH="0" baseline="0" noProof="0" dirty="0" err="1">
                <a:ln>
                  <a:noFill/>
                </a:ln>
                <a:solidFill>
                  <a:schemeClr val="tx1"/>
                </a:solidFill>
                <a:effectLst/>
                <a:uLnTx/>
                <a:uFillTx/>
                <a:latin typeface="+mn-lt"/>
                <a:ea typeface="+mn-ea"/>
              </a:rPr>
              <a:t>Frs</a:t>
            </a:r>
            <a:r>
              <a:rPr kumimoji="0" lang="en-US" altLang="zh-CN" sz="2200" b="1" i="0" u="none" strike="noStrike" kern="0" cap="none" spc="0" normalizeH="0" baseline="0" noProof="0" dirty="0">
                <a:ln>
                  <a:noFill/>
                </a:ln>
                <a:solidFill>
                  <a:schemeClr val="tx1"/>
                </a:solidFill>
                <a:effectLst/>
                <a:uLnTx/>
                <a:uFillTx/>
                <a:latin typeface="+mn-lt"/>
                <a:ea typeface="+mn-ea"/>
              </a:rPr>
              <a:t>*Nr*Ns)/</a:t>
            </a:r>
            <a:r>
              <a:rPr kumimoji="0" lang="en-US" altLang="zh-CN" sz="2200" b="1" i="0" u="none" strike="noStrike" kern="0" cap="none" spc="0" normalizeH="0" baseline="0" noProof="0" dirty="0" err="1">
                <a:ln>
                  <a:noFill/>
                </a:ln>
                <a:solidFill>
                  <a:schemeClr val="tx1"/>
                </a:solidFill>
                <a:effectLst/>
                <a:uLnTx/>
                <a:uFillTx/>
                <a:latin typeface="+mn-lt"/>
                <a:ea typeface="+mn-ea"/>
              </a:rPr>
              <a:t>Mrs</a:t>
            </a:r>
            <a:endParaRPr kumimoji="0" lang="en-US" altLang="zh-CN" sz="2200" b="1" i="0" u="none" strike="noStrike" kern="0" cap="none" spc="0" normalizeH="0" baseline="0" noProof="0" dirty="0">
              <a:ln>
                <a:noFill/>
              </a:ln>
              <a:solidFill>
                <a:schemeClr val="tx1"/>
              </a:solidFill>
              <a:effectLst/>
              <a:uLnTx/>
              <a:uFillTx/>
              <a:latin typeface="+mn-lt"/>
              <a:ea typeface="+mn-ea"/>
            </a:endParaRPr>
          </a:p>
          <a:p>
            <a:pPr marL="1600200" marR="0" lvl="3" indent="-2286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0" lang="zh-CN" altLang="en-US" sz="2200" b="1" i="0" u="none" strike="noStrike" kern="0" cap="none" spc="0" normalizeH="0" baseline="0" noProof="0" dirty="0">
                <a:ln>
                  <a:noFill/>
                </a:ln>
                <a:solidFill>
                  <a:schemeClr val="tx1"/>
                </a:solidFill>
                <a:effectLst/>
                <a:uLnTx/>
                <a:uFillTx/>
                <a:latin typeface="+mn-lt"/>
                <a:ea typeface="+mn-ea"/>
              </a:rPr>
              <a:t>其中</a:t>
            </a:r>
            <a:r>
              <a:rPr kumimoji="0" lang="en-US" altLang="zh-CN" sz="2200" b="1" i="0" u="none" strike="noStrike" kern="0" cap="none" spc="0" normalizeH="0" baseline="0" noProof="0" dirty="0" err="1">
                <a:ln>
                  <a:noFill/>
                </a:ln>
                <a:solidFill>
                  <a:schemeClr val="tx1"/>
                </a:solidFill>
                <a:effectLst/>
                <a:uLnTx/>
                <a:uFillTx/>
                <a:latin typeface="+mn-lt"/>
                <a:ea typeface="+mn-ea"/>
              </a:rPr>
              <a:t>Frs</a:t>
            </a:r>
            <a:r>
              <a:rPr kumimoji="0" lang="zh-CN" altLang="en-US" sz="2200" b="1" i="0" u="none" strike="noStrike" kern="0" cap="none" spc="0" normalizeH="0" baseline="0" noProof="0" dirty="0">
                <a:ln>
                  <a:noFill/>
                </a:ln>
                <a:solidFill>
                  <a:schemeClr val="tx1"/>
                </a:solidFill>
                <a:effectLst/>
                <a:uLnTx/>
                <a:uFillTx/>
                <a:latin typeface="+mn-lt"/>
                <a:ea typeface="+mn-ea"/>
              </a:rPr>
              <a:t>为连接选择性</a:t>
            </a:r>
            <a:r>
              <a:rPr kumimoji="0" lang="en-US" altLang="zh-CN" sz="2200" b="1" i="0" u="none" strike="noStrike" kern="0" cap="none" spc="0" normalizeH="0" baseline="0" noProof="0" dirty="0">
                <a:ln>
                  <a:noFill/>
                </a:ln>
                <a:solidFill>
                  <a:schemeClr val="tx1"/>
                </a:solidFill>
                <a:effectLst/>
                <a:uLnTx/>
                <a:uFillTx/>
                <a:latin typeface="+mn-lt"/>
                <a:ea typeface="+mn-ea"/>
              </a:rPr>
              <a:t>(join selectivity)</a:t>
            </a:r>
            <a:r>
              <a:rPr kumimoji="0" lang="zh-CN" altLang="en-US" sz="2200" b="1" i="0" u="none" strike="noStrike" kern="0" cap="none" spc="0" normalizeH="0" baseline="0" noProof="0" dirty="0">
                <a:ln>
                  <a:noFill/>
                </a:ln>
                <a:solidFill>
                  <a:schemeClr val="tx1"/>
                </a:solidFill>
                <a:effectLst/>
                <a:uLnTx/>
                <a:uFillTx/>
                <a:latin typeface="+mn-lt"/>
                <a:ea typeface="+mn-ea"/>
              </a:rPr>
              <a:t>，表示连接结果元组数的比例</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600200" marR="0" lvl="3" indent="-2286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0" lang="en-US" altLang="zh-CN" sz="2200" b="1" i="0" u="none" strike="noStrike" kern="0" cap="none" spc="0" normalizeH="0" baseline="0" noProof="0" dirty="0" err="1">
                <a:ln>
                  <a:noFill/>
                </a:ln>
                <a:solidFill>
                  <a:schemeClr val="tx1"/>
                </a:solidFill>
                <a:effectLst/>
                <a:uLnTx/>
                <a:uFillTx/>
                <a:latin typeface="+mn-lt"/>
                <a:ea typeface="+mn-ea"/>
              </a:rPr>
              <a:t>Mrs</a:t>
            </a:r>
            <a:r>
              <a:rPr kumimoji="0" lang="zh-CN" altLang="en-US" sz="2200" b="1" i="0" u="none" strike="noStrike" kern="0" cap="none" spc="0" normalizeH="0" baseline="0" noProof="0" dirty="0">
                <a:ln>
                  <a:noFill/>
                </a:ln>
                <a:solidFill>
                  <a:schemeClr val="tx1"/>
                </a:solidFill>
                <a:effectLst/>
                <a:uLnTx/>
                <a:uFillTx/>
                <a:latin typeface="+mn-lt"/>
                <a:ea typeface="+mn-ea"/>
              </a:rPr>
              <a:t>是存放连接结果的块因子，表示每块中可以存放的结果元组数目</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标题 1"/>
          <p:cNvSpPr>
            <a:spLocks noGrp="1"/>
          </p:cNvSpPr>
          <p:nvPr>
            <p:ph type="title"/>
          </p:nvPr>
        </p:nvSpPr>
        <p:spPr/>
        <p:txBody>
          <a:bodyPr vert="horz" wrap="square" lIns="91440" tIns="45720" rIns="91440" bIns="45720" anchor="ctr" anchorCtr="0"/>
          <a:p>
            <a:r>
              <a:rPr lang="zh-CN" altLang="zh-CN" sz="3600" dirty="0"/>
              <a:t>基于代价的优化（续）</a:t>
            </a:r>
            <a:endParaRPr lang="zh-CN" altLang="en-US" sz="3600" dirty="0"/>
          </a:p>
        </p:txBody>
      </p:sp>
      <p:sp>
        <p:nvSpPr>
          <p:cNvPr id="3" name="内容占位符 2"/>
          <p:cNvSpPr>
            <a:spLocks noGrp="1"/>
          </p:cNvSpPr>
          <p:nvPr>
            <p:ph idx="1"/>
          </p:nvPr>
        </p:nvSpPr>
        <p:spPr>
          <a:xfrm>
            <a:off x="550863" y="1412875"/>
            <a:ext cx="10225088" cy="5095875"/>
          </a:xfrm>
        </p:spPr>
        <p:txBody>
          <a:bodyPr vert="horz" wrap="square" lIns="91440" tIns="45720" rIns="91440" bIns="45720" numCol="1" anchor="t" anchorCtr="0" compatLnSpc="1"/>
          <a:lstStyle/>
          <a:p>
            <a:pPr marL="4572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mn-ea"/>
              </a:rPr>
              <a:t>（</a:t>
            </a:r>
            <a:r>
              <a:rPr kumimoji="0" lang="en-US" altLang="zh-CN" sz="2400" b="1" i="0" u="none" strike="noStrike" kern="0" cap="none" spc="0" normalizeH="0" baseline="0" noProof="0" dirty="0">
                <a:ln>
                  <a:noFill/>
                </a:ln>
                <a:solidFill>
                  <a:schemeClr val="tx1"/>
                </a:solidFill>
                <a:effectLst/>
                <a:uLnTx/>
                <a:uFillTx/>
                <a:latin typeface="+mn-lt"/>
                <a:ea typeface="+mn-ea"/>
              </a:rPr>
              <a:t>4</a:t>
            </a:r>
            <a:r>
              <a:rPr kumimoji="0" lang="zh-CN" altLang="en-US" sz="2400" b="1" i="0" u="none" strike="noStrike" kern="0" cap="none" spc="0" normalizeH="0" baseline="0" noProof="0" dirty="0">
                <a:ln>
                  <a:noFill/>
                </a:ln>
                <a:solidFill>
                  <a:schemeClr val="tx1"/>
                </a:solidFill>
                <a:effectLst/>
                <a:uLnTx/>
                <a:uFillTx/>
                <a:latin typeface="+mn-lt"/>
                <a:ea typeface="+mn-ea"/>
              </a:rPr>
              <a:t>）排序</a:t>
            </a:r>
            <a:r>
              <a:rPr kumimoji="0" lang="en-US" altLang="zh-CN" sz="2400" b="1" i="0" u="none" strike="noStrike" kern="0" cap="none" spc="0" normalizeH="0" baseline="0" noProof="0" dirty="0">
                <a:ln>
                  <a:noFill/>
                </a:ln>
                <a:solidFill>
                  <a:schemeClr val="tx1"/>
                </a:solidFill>
                <a:effectLst/>
                <a:uLnTx/>
                <a:uFillTx/>
                <a:latin typeface="+mn-lt"/>
                <a:ea typeface="+mn-ea"/>
              </a:rPr>
              <a:t>-</a:t>
            </a:r>
            <a:r>
              <a:rPr kumimoji="0" lang="zh-CN" altLang="en-US" sz="2400" b="1" i="0" u="none" strike="noStrike" kern="0" cap="none" spc="0" normalizeH="0" baseline="0" noProof="0" dirty="0">
                <a:ln>
                  <a:noFill/>
                </a:ln>
                <a:solidFill>
                  <a:schemeClr val="tx1"/>
                </a:solidFill>
                <a:effectLst/>
                <a:uLnTx/>
                <a:uFillTx/>
                <a:latin typeface="+mn-lt"/>
                <a:ea typeface="+mn-ea"/>
              </a:rPr>
              <a:t>合并连接算法的代价估算公式</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如果连接表已经按照连接属性排好序，则</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857250" marR="0" lvl="2" indent="0" algn="l" defTabSz="914400" rtl="0" eaLnBrk="0" fontAlgn="base" latinLnBrk="0" hangingPunct="0">
              <a:lnSpc>
                <a:spcPct val="120000"/>
              </a:lnSpc>
              <a:spcBef>
                <a:spcPct val="2000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chemeClr val="tx1"/>
                </a:solidFill>
                <a:effectLst/>
                <a:uLnTx/>
                <a:uFillTx/>
                <a:latin typeface="+mn-lt"/>
                <a:ea typeface="+mn-ea"/>
              </a:rPr>
              <a:t>       </a:t>
            </a:r>
            <a:r>
              <a:rPr kumimoji="0" lang="en-US" altLang="zh-CN" sz="2200" b="1" i="0" u="none" strike="noStrike" kern="0" cap="none" spc="0" normalizeH="0" baseline="0" noProof="0" dirty="0">
                <a:ln>
                  <a:noFill/>
                </a:ln>
                <a:solidFill>
                  <a:schemeClr val="tx1"/>
                </a:solidFill>
                <a:effectLst/>
                <a:uLnTx/>
                <a:uFillTx/>
                <a:latin typeface="+mn-lt"/>
                <a:ea typeface="+mn-ea"/>
              </a:rPr>
              <a:t>cost</a:t>
            </a:r>
            <a:r>
              <a:rPr kumimoji="0" lang="zh-CN" altLang="en-US" sz="2200" b="1" i="0" u="none" strike="noStrike" kern="0" cap="none" spc="0" normalizeH="0" baseline="0" noProof="0" dirty="0">
                <a:ln>
                  <a:noFill/>
                </a:ln>
                <a:solidFill>
                  <a:schemeClr val="tx1"/>
                </a:solidFill>
                <a:effectLst/>
                <a:uLnTx/>
                <a:uFillTx/>
                <a:latin typeface="+mn-lt"/>
                <a:ea typeface="+mn-ea"/>
              </a:rPr>
              <a:t>＝</a:t>
            </a:r>
            <a:r>
              <a:rPr kumimoji="0" lang="en-US" altLang="zh-CN" sz="2200" b="1" i="0" u="none" strike="noStrike" kern="0" cap="none" spc="0" normalizeH="0" baseline="0" noProof="0" dirty="0" err="1">
                <a:ln>
                  <a:noFill/>
                </a:ln>
                <a:solidFill>
                  <a:schemeClr val="tx1"/>
                </a:solidFill>
                <a:effectLst/>
                <a:uLnTx/>
                <a:uFillTx/>
                <a:latin typeface="+mn-lt"/>
                <a:ea typeface="+mn-ea"/>
              </a:rPr>
              <a:t>Br+Bs</a:t>
            </a:r>
            <a:r>
              <a:rPr kumimoji="0" lang="en-US" altLang="zh-CN" sz="2200" b="1" i="0" u="none" strike="noStrike" kern="0" cap="none" spc="0" normalizeH="0" baseline="0" noProof="0" dirty="0">
                <a:ln>
                  <a:noFill/>
                </a:ln>
                <a:solidFill>
                  <a:schemeClr val="tx1"/>
                </a:solidFill>
                <a:effectLst/>
                <a:uLnTx/>
                <a:uFillTx/>
                <a:latin typeface="+mn-lt"/>
                <a:ea typeface="+mn-ea"/>
              </a:rPr>
              <a:t>+(</a:t>
            </a:r>
            <a:r>
              <a:rPr kumimoji="0" lang="en-US" altLang="zh-CN" sz="2200" b="1" i="0" u="none" strike="noStrike" kern="0" cap="none" spc="0" normalizeH="0" baseline="0" noProof="0" dirty="0" err="1">
                <a:ln>
                  <a:noFill/>
                </a:ln>
                <a:solidFill>
                  <a:schemeClr val="tx1"/>
                </a:solidFill>
                <a:effectLst/>
                <a:uLnTx/>
                <a:uFillTx/>
                <a:latin typeface="+mn-lt"/>
                <a:ea typeface="+mn-ea"/>
              </a:rPr>
              <a:t>Frs</a:t>
            </a:r>
            <a:r>
              <a:rPr kumimoji="0" lang="en-US" altLang="zh-CN" sz="2200" b="1" i="0" u="none" strike="noStrike" kern="0" cap="none" spc="0" normalizeH="0" baseline="0" noProof="0" dirty="0">
                <a:ln>
                  <a:noFill/>
                </a:ln>
                <a:solidFill>
                  <a:schemeClr val="tx1"/>
                </a:solidFill>
                <a:effectLst/>
                <a:uLnTx/>
                <a:uFillTx/>
                <a:latin typeface="+mn-lt"/>
                <a:ea typeface="+mn-ea"/>
              </a:rPr>
              <a:t>*Nr*Ns)/</a:t>
            </a:r>
            <a:r>
              <a:rPr kumimoji="0" lang="en-US" altLang="zh-CN" sz="2200" b="1" i="0" u="none" strike="noStrike" kern="0" cap="none" spc="0" normalizeH="0" baseline="0" noProof="0" dirty="0" err="1">
                <a:ln>
                  <a:noFill/>
                </a:ln>
                <a:solidFill>
                  <a:schemeClr val="tx1"/>
                </a:solidFill>
                <a:effectLst/>
                <a:uLnTx/>
                <a:uFillTx/>
                <a:latin typeface="+mn-lt"/>
                <a:ea typeface="+mn-ea"/>
              </a:rPr>
              <a:t>Mrs</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rPr>
              <a:t>如果必须对文件排序</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600200" marR="0" lvl="3" indent="-2286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0" lang="zh-CN" altLang="en-US" sz="2200" b="1" i="0" u="none" strike="noStrike" kern="0" cap="none" spc="0" normalizeH="0" baseline="0" noProof="0" dirty="0">
                <a:ln>
                  <a:noFill/>
                </a:ln>
                <a:solidFill>
                  <a:schemeClr val="tx1"/>
                </a:solidFill>
                <a:effectLst/>
                <a:uLnTx/>
                <a:uFillTx/>
                <a:latin typeface="+mn-lt"/>
                <a:ea typeface="+mn-ea"/>
              </a:rPr>
              <a:t>还需要在代价函数中加上排序的代价</a:t>
            </a:r>
            <a:endParaRPr kumimoji="0" lang="zh-CN" altLang="en-US" sz="2200" b="1" i="0" u="none" strike="noStrike" kern="0" cap="none" spc="0" normalizeH="0" baseline="0" noProof="0" dirty="0">
              <a:ln>
                <a:noFill/>
              </a:ln>
              <a:solidFill>
                <a:schemeClr val="tx1"/>
              </a:solidFill>
              <a:effectLst/>
              <a:uLnTx/>
              <a:uFillTx/>
              <a:latin typeface="+mn-lt"/>
              <a:ea typeface="+mn-ea"/>
            </a:endParaRPr>
          </a:p>
          <a:p>
            <a:pPr marL="1600200" marR="0" lvl="3" indent="-2286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0" lang="zh-CN" altLang="en-US" sz="2200" b="1" i="0" u="none" strike="noStrike" kern="0" cap="none" spc="0" normalizeH="0" baseline="0" noProof="0" dirty="0">
                <a:ln>
                  <a:noFill/>
                </a:ln>
                <a:solidFill>
                  <a:schemeClr val="tx1"/>
                </a:solidFill>
                <a:effectLst/>
                <a:uLnTx/>
                <a:uFillTx/>
                <a:latin typeface="+mn-lt"/>
                <a:ea typeface="+mn-ea"/>
              </a:rPr>
              <a:t>对于包含</a:t>
            </a:r>
            <a:r>
              <a:rPr kumimoji="0" lang="en-US" altLang="zh-CN" sz="2200" b="1" i="0" u="none" strike="noStrike" kern="0" cap="none" spc="0" normalizeH="0" baseline="0" noProof="0" dirty="0">
                <a:ln>
                  <a:noFill/>
                </a:ln>
                <a:solidFill>
                  <a:schemeClr val="tx1"/>
                </a:solidFill>
                <a:effectLst/>
                <a:uLnTx/>
                <a:uFillTx/>
                <a:latin typeface="+mn-lt"/>
                <a:ea typeface="+mn-ea"/>
              </a:rPr>
              <a:t>B</a:t>
            </a:r>
            <a:r>
              <a:rPr kumimoji="0" lang="zh-CN" altLang="en-US" sz="2200" b="1" i="0" u="none" strike="noStrike" kern="0" cap="none" spc="0" normalizeH="0" baseline="0" noProof="0" dirty="0">
                <a:ln>
                  <a:noFill/>
                </a:ln>
                <a:solidFill>
                  <a:schemeClr val="tx1"/>
                </a:solidFill>
                <a:effectLst/>
                <a:uLnTx/>
                <a:uFillTx/>
                <a:latin typeface="+mn-lt"/>
                <a:ea typeface="+mn-ea"/>
              </a:rPr>
              <a:t>个块的文件排序的代价大约是 </a:t>
            </a:r>
            <a:r>
              <a:rPr kumimoji="0" lang="en-US" altLang="zh-CN" sz="2200" b="1" i="0" u="none" strike="noStrike" kern="0" cap="none" spc="0" normalizeH="0" baseline="0" noProof="0" dirty="0">
                <a:ln>
                  <a:noFill/>
                </a:ln>
                <a:solidFill>
                  <a:schemeClr val="tx1"/>
                </a:solidFill>
                <a:effectLst/>
                <a:uLnTx/>
                <a:uFillTx/>
                <a:latin typeface="+mn-lt"/>
                <a:ea typeface="+mn-ea"/>
              </a:rPr>
              <a:t>4*</a:t>
            </a:r>
            <a:r>
              <a:rPr kumimoji="0" lang="en-US" altLang="zh-CN" sz="2200" b="1" i="1" u="none" strike="noStrike" kern="0" cap="none" spc="0" normalizeH="0" baseline="0" noProof="0" dirty="0">
                <a:ln>
                  <a:noFill/>
                </a:ln>
                <a:solidFill>
                  <a:schemeClr val="tx1"/>
                </a:solidFill>
                <a:effectLst/>
                <a:uLnTx/>
                <a:uFillTx/>
                <a:latin typeface="+mn-lt"/>
                <a:ea typeface="+mn-ea"/>
              </a:rPr>
              <a:t>B</a:t>
            </a:r>
            <a:endParaRPr kumimoji="0" lang="zh-CN" altLang="en-US" sz="2200" b="1" i="1"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012950" y="1989138"/>
            <a:ext cx="7886700" cy="2595562"/>
          </a:xfrm>
        </p:spPr>
        <p:txBody>
          <a:bodyPr vert="horz" wrap="square" lIns="91440" tIns="45720" rIns="91440" bIns="45720" anchor="t" anchorCtr="0"/>
          <a:p>
            <a:r>
              <a:rPr lang="en-US" altLang="zh-CN" dirty="0"/>
              <a:t>1</a:t>
            </a:r>
            <a:r>
              <a:rPr lang="zh-CN" altLang="en-US" dirty="0"/>
              <a:t>）、</a:t>
            </a:r>
            <a:r>
              <a:rPr lang="en-US" altLang="zh-CN" dirty="0"/>
              <a:t>R</a:t>
            </a:r>
            <a:r>
              <a:rPr lang="zh-CN" altLang="en-US" dirty="0"/>
              <a:t>上没有索引，  </a:t>
            </a:r>
            <a:r>
              <a:rPr lang="en-US" altLang="zh-CN" dirty="0"/>
              <a:t>select * from R;</a:t>
            </a:r>
            <a:endParaRPr lang="en-US" altLang="zh-CN" dirty="0"/>
          </a:p>
          <a:p>
            <a:endParaRPr lang="en-US" altLang="zh-CN" dirty="0"/>
          </a:p>
          <a:p>
            <a:r>
              <a:rPr lang="zh-CN" altLang="en-US" dirty="0"/>
              <a:t>只能做全表扫描，</a:t>
            </a:r>
            <a:r>
              <a:rPr lang="en-US" altLang="zh-CN" dirty="0"/>
              <a:t>20000/40 = 500 </a:t>
            </a:r>
            <a:r>
              <a:rPr lang="zh-CN" altLang="en-US" dirty="0"/>
              <a:t>（块）</a:t>
            </a:r>
            <a:endParaRPr lang="zh-CN" altLang="en-US" dirty="0"/>
          </a:p>
        </p:txBody>
      </p:sp>
      <p:pic>
        <p:nvPicPr>
          <p:cNvPr id="6147" name="图片 3"/>
          <p:cNvPicPr>
            <a:picLocks noChangeAspect="1"/>
          </p:cNvPicPr>
          <p:nvPr/>
        </p:nvPicPr>
        <p:blipFill>
          <a:blip r:embed="rId1"/>
          <a:stretch>
            <a:fillRect/>
          </a:stretch>
        </p:blipFill>
        <p:spPr>
          <a:xfrm>
            <a:off x="1992313" y="260350"/>
            <a:ext cx="7907337" cy="10160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0" end="2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charRg st="30" end="5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524000" y="1431925"/>
            <a:ext cx="8748713" cy="4733925"/>
          </a:xfrm>
        </p:spPr>
        <p:txBody>
          <a:bodyPr vert="horz" wrap="square" lIns="91440" tIns="45720" rIns="91440" bIns="45720" numCol="1" anchor="t" anchorCtr="0" compatLnSpc="1">
            <a:normAutofit fontScale="92500"/>
          </a:bodyPr>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2</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R</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中</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A</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为主码，其上有</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3</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层</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B+</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树索引，  </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select * from R where A =10;</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回顾索引扫描算法的代价估算公式</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如果选择条件是“</a:t>
            </a:r>
            <a:r>
              <a:rPr kumimoji="0" lang="zh-CN" altLang="en-US" sz="2800" b="1" i="0" u="none" strike="noStrike" kern="0" cap="none" spc="0" normalizeH="0" baseline="0" noProof="0" dirty="0">
                <a:ln>
                  <a:noFill/>
                </a:ln>
                <a:solidFill>
                  <a:srgbClr val="0066FF"/>
                </a:solidFill>
                <a:effectLst/>
                <a:uLnTx/>
                <a:uFillTx/>
                <a:latin typeface="+mn-lt"/>
                <a:ea typeface="+mn-ea"/>
                <a:cs typeface="+mn-cs"/>
              </a:rPr>
              <a:t>码＝值</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Ø"/>
              <a:defRPr/>
            </a:pPr>
            <a:r>
              <a:rPr kumimoji="0" lang="zh-CN" altLang="en-US" sz="2100" b="1" i="0" u="none" strike="noStrike" kern="0" cap="none" spc="0" normalizeH="0" baseline="0" noProof="0" dirty="0">
                <a:ln>
                  <a:noFill/>
                </a:ln>
                <a:solidFill>
                  <a:schemeClr val="tx1"/>
                </a:solidFill>
                <a:effectLst/>
                <a:uLnTx/>
                <a:uFillTx/>
                <a:latin typeface="+mn-lt"/>
                <a:ea typeface="+mn-ea"/>
              </a:rPr>
              <a:t>则采用该表的主索引</a:t>
            </a:r>
            <a:endParaRPr kumimoji="0" lang="zh-CN" altLang="en-US" sz="21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Ø"/>
              <a:defRPr/>
            </a:pPr>
            <a:r>
              <a:rPr kumimoji="0" lang="zh-CN" altLang="en-US" sz="2100" b="1" i="0" u="none" strike="noStrike" kern="0" cap="none" spc="0" normalizeH="0" baseline="0" noProof="0" dirty="0">
                <a:ln>
                  <a:noFill/>
                </a:ln>
                <a:solidFill>
                  <a:schemeClr val="tx1"/>
                </a:solidFill>
                <a:effectLst/>
                <a:uLnTx/>
                <a:uFillTx/>
                <a:latin typeface="+mn-lt"/>
                <a:ea typeface="+mn-ea"/>
              </a:rPr>
              <a:t>若为</a:t>
            </a:r>
            <a:r>
              <a:rPr kumimoji="0" lang="en-US" altLang="zh-CN" sz="2100" b="1" i="0" u="none" strike="noStrike" kern="0" cap="none" spc="0" normalizeH="0" baseline="0" noProof="0" dirty="0">
                <a:ln>
                  <a:noFill/>
                </a:ln>
                <a:solidFill>
                  <a:schemeClr val="tx1"/>
                </a:solidFill>
                <a:effectLst/>
                <a:uLnTx/>
                <a:uFillTx/>
                <a:latin typeface="+mn-lt"/>
                <a:ea typeface="+mn-ea"/>
              </a:rPr>
              <a:t>B+</a:t>
            </a:r>
            <a:r>
              <a:rPr kumimoji="0" lang="zh-CN" altLang="en-US" sz="2100" b="1" i="0" u="none" strike="noStrike" kern="0" cap="none" spc="0" normalizeH="0" baseline="0" noProof="0" dirty="0">
                <a:ln>
                  <a:noFill/>
                </a:ln>
                <a:solidFill>
                  <a:schemeClr val="tx1"/>
                </a:solidFill>
                <a:effectLst/>
                <a:uLnTx/>
                <a:uFillTx/>
                <a:latin typeface="+mn-lt"/>
                <a:ea typeface="+mn-ea"/>
              </a:rPr>
              <a:t>树，层数为</a:t>
            </a:r>
            <a:r>
              <a:rPr kumimoji="0" lang="en-US" altLang="zh-CN" sz="2100" b="1" i="0" u="none" strike="noStrike" kern="0" cap="none" spc="0" normalizeH="0" baseline="0" noProof="0" dirty="0">
                <a:ln>
                  <a:noFill/>
                </a:ln>
                <a:solidFill>
                  <a:schemeClr val="tx1"/>
                </a:solidFill>
                <a:effectLst/>
                <a:uLnTx/>
                <a:uFillTx/>
                <a:latin typeface="+mn-lt"/>
                <a:ea typeface="+mn-ea"/>
              </a:rPr>
              <a:t>L</a:t>
            </a:r>
            <a:r>
              <a:rPr kumimoji="0" lang="zh-CN" altLang="en-US" sz="2100" b="1" i="0" u="none" strike="noStrike" kern="0" cap="none" spc="0" normalizeH="0" baseline="0" noProof="0" dirty="0">
                <a:ln>
                  <a:noFill/>
                </a:ln>
                <a:solidFill>
                  <a:schemeClr val="tx1"/>
                </a:solidFill>
                <a:effectLst/>
                <a:uLnTx/>
                <a:uFillTx/>
                <a:latin typeface="+mn-lt"/>
                <a:ea typeface="+mn-ea"/>
              </a:rPr>
              <a:t>，需要存取</a:t>
            </a:r>
            <a:r>
              <a:rPr kumimoji="0" lang="en-US" altLang="zh-CN" sz="2100" b="1" i="0" u="none" strike="noStrike" kern="0" cap="none" spc="0" normalizeH="0" baseline="0" noProof="0" dirty="0">
                <a:ln>
                  <a:noFill/>
                </a:ln>
                <a:solidFill>
                  <a:schemeClr val="tx1"/>
                </a:solidFill>
                <a:effectLst/>
                <a:uLnTx/>
                <a:uFillTx/>
                <a:latin typeface="+mn-lt"/>
                <a:ea typeface="+mn-ea"/>
              </a:rPr>
              <a:t>B+</a:t>
            </a:r>
            <a:r>
              <a:rPr kumimoji="0" lang="zh-CN" altLang="en-US" sz="2100" b="1" i="0" u="none" strike="noStrike" kern="0" cap="none" spc="0" normalizeH="0" baseline="0" noProof="0" dirty="0">
                <a:ln>
                  <a:noFill/>
                </a:ln>
                <a:solidFill>
                  <a:schemeClr val="tx1"/>
                </a:solidFill>
                <a:effectLst/>
                <a:uLnTx/>
                <a:uFillTx/>
                <a:latin typeface="+mn-lt"/>
                <a:ea typeface="+mn-ea"/>
              </a:rPr>
              <a:t>树中从根结点到叶结点</a:t>
            </a:r>
            <a:r>
              <a:rPr kumimoji="0" lang="en-US" altLang="zh-CN" sz="2100" b="1" i="0" u="none" strike="noStrike" kern="0" cap="none" spc="0" normalizeH="0" baseline="0" noProof="0" dirty="0">
                <a:ln>
                  <a:noFill/>
                </a:ln>
                <a:solidFill>
                  <a:schemeClr val="tx1"/>
                </a:solidFill>
                <a:effectLst/>
                <a:uLnTx/>
                <a:uFillTx/>
                <a:latin typeface="+mn-lt"/>
                <a:ea typeface="+mn-ea"/>
              </a:rPr>
              <a:t>L</a:t>
            </a:r>
            <a:r>
              <a:rPr kumimoji="0" lang="zh-CN" altLang="en-US" sz="2100" b="1" i="0" u="none" strike="noStrike" kern="0" cap="none" spc="0" normalizeH="0" baseline="0" noProof="0" dirty="0">
                <a:ln>
                  <a:noFill/>
                </a:ln>
                <a:solidFill>
                  <a:schemeClr val="tx1"/>
                </a:solidFill>
                <a:effectLst/>
                <a:uLnTx/>
                <a:uFillTx/>
                <a:latin typeface="+mn-lt"/>
                <a:ea typeface="+mn-ea"/>
              </a:rPr>
              <a:t>块，再加上基本表中该元组所在的那一块，所以</a:t>
            </a:r>
            <a:r>
              <a:rPr kumimoji="0" lang="en-US" altLang="zh-CN" sz="2100" b="1" i="0" u="none" strike="noStrike" kern="0" cap="none" spc="0" normalizeH="0" baseline="0" noProof="0" dirty="0">
                <a:ln>
                  <a:noFill/>
                </a:ln>
                <a:solidFill>
                  <a:schemeClr val="tx1"/>
                </a:solidFill>
                <a:effectLst/>
                <a:uLnTx/>
                <a:uFillTx/>
                <a:latin typeface="+mn-lt"/>
                <a:ea typeface="+mn-ea"/>
              </a:rPr>
              <a:t>cost=L+1</a:t>
            </a:r>
            <a:endParaRPr kumimoji="0" lang="zh-CN" altLang="en-US" sz="21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B+</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树存放在磁盘上，遍历</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B+</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树需要读取相应的树结点，通常一个结点占用</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1</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块。</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B+</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树的叶结点存放的是指向多个基本数据的磁盘位置，因此还需要再读一次磁盘</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一共  </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3+1 </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（块）</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p:txBody>
      </p:sp>
      <p:pic>
        <p:nvPicPr>
          <p:cNvPr id="7171" name="图片 3"/>
          <p:cNvPicPr>
            <a:picLocks noChangeAspect="1"/>
          </p:cNvPicPr>
          <p:nvPr/>
        </p:nvPicPr>
        <p:blipFill>
          <a:blip r:embed="rId1"/>
          <a:stretch>
            <a:fillRect/>
          </a:stretch>
        </p:blipFill>
        <p:spPr>
          <a:xfrm>
            <a:off x="1770063" y="3175"/>
            <a:ext cx="8137525" cy="11525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0" end="5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charRg st="52" end="6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charRg st="68" end="8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charRg st="81" end="9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charRg st="91" end="149"/>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charRg st="149" end="22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charRg st="223" end="23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739900" y="1204913"/>
            <a:ext cx="9001125" cy="4895850"/>
          </a:xfrm>
        </p:spPr>
        <p:txBody>
          <a:bodyPr vert="horz" wrap="square" lIns="91440" tIns="45720" rIns="91440" bIns="45720" numCol="1" anchor="t" anchorCtr="0" compatLnSpc="1">
            <a:noAutofit/>
          </a:bodyPr>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en-US" altLang="zh-CN" sz="2400" b="1" i="0" u="none" strike="noStrike" kern="0" cap="none" spc="0" normalizeH="0" baseline="0" noProof="0" dirty="0">
                <a:ln>
                  <a:noFill/>
                </a:ln>
                <a:solidFill>
                  <a:schemeClr val="tx1"/>
                </a:solidFill>
                <a:effectLst/>
                <a:uLnTx/>
                <a:uFillTx/>
                <a:latin typeface="+mn-lt"/>
                <a:ea typeface="+mn-ea"/>
                <a:cs typeface="+mn-cs"/>
              </a:rPr>
              <a:t>3</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）嵌套循环连接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R </a:t>
            </a:r>
            <a:r>
              <a:rPr kumimoji="0" lang="zh-CN" altLang="en-US" sz="2400" b="1" i="1" u="none" strike="noStrike" kern="0" cap="none" spc="0" normalizeH="0" baseline="0" noProof="0" dirty="0">
                <a:ln>
                  <a:noFill/>
                </a:ln>
                <a:solidFill>
                  <a:schemeClr val="tx1"/>
                </a:solidFill>
                <a:effectLst/>
                <a:uLnTx/>
                <a:uFillTx/>
                <a:latin typeface="+mn-lt"/>
                <a:ea typeface="+mn-ea"/>
                <a:cs typeface="+mn-cs"/>
              </a:rPr>
              <a:t>自然连接</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S</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回顾教材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10.4.1)</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1143000" marR="0" lvl="2" indent="-2286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l"/>
              <a:defRPr/>
            </a:pPr>
            <a:r>
              <a:rPr kumimoji="0" lang="zh-CN" altLang="en-US" sz="2000" b="1" i="0" u="none" strike="noStrike" kern="0" cap="none" spc="0" normalizeH="0" baseline="0" noProof="0" dirty="0">
                <a:ln>
                  <a:noFill/>
                </a:ln>
                <a:solidFill>
                  <a:schemeClr val="tx1"/>
                </a:solidFill>
                <a:effectLst/>
                <a:uLnTx/>
                <a:uFillTx/>
                <a:latin typeface="+mn-lt"/>
                <a:ea typeface="+mn-ea"/>
              </a:rPr>
              <a:t>嵌套循环连接算法的代价 （本题不考虑写磁盘代价）</a:t>
            </a:r>
            <a:endParaRPr kumimoji="0" lang="zh-CN" altLang="en-US" sz="20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mn-lt"/>
                <a:ea typeface="+mn-ea"/>
              </a:rPr>
              <a:t>         </a:t>
            </a:r>
            <a:r>
              <a:rPr kumimoji="0" lang="en-US" altLang="zh-CN" sz="2000" b="1" i="0" u="none" strike="noStrike" kern="0" cap="none" spc="0" normalizeH="0" baseline="0" noProof="0" dirty="0">
                <a:ln>
                  <a:noFill/>
                </a:ln>
                <a:solidFill>
                  <a:schemeClr val="tx1"/>
                </a:solidFill>
                <a:effectLst/>
                <a:uLnTx/>
                <a:uFillTx/>
                <a:latin typeface="+mn-lt"/>
                <a:ea typeface="+mn-ea"/>
              </a:rPr>
              <a:t>cost</a:t>
            </a:r>
            <a:r>
              <a:rPr kumimoji="0" lang="zh-CN" altLang="en-US" sz="2000" b="1" i="0" u="none" strike="noStrike" kern="0" cap="none" spc="0" normalizeH="0" baseline="0" noProof="0" dirty="0">
                <a:ln>
                  <a:noFill/>
                </a:ln>
                <a:solidFill>
                  <a:schemeClr val="tx1"/>
                </a:solidFill>
                <a:effectLst/>
                <a:uLnTx/>
                <a:uFillTx/>
                <a:latin typeface="+mn-lt"/>
                <a:ea typeface="+mn-ea"/>
              </a:rPr>
              <a:t>＝</a:t>
            </a:r>
            <a:r>
              <a:rPr kumimoji="0" lang="en-US" altLang="zh-CN" sz="2000" b="1" i="0" u="none" strike="noStrike" kern="0" cap="none" spc="0" normalizeH="0" baseline="0" noProof="0" dirty="0" err="1">
                <a:ln>
                  <a:noFill/>
                </a:ln>
                <a:solidFill>
                  <a:schemeClr val="tx1"/>
                </a:solidFill>
                <a:effectLst/>
                <a:uLnTx/>
                <a:uFillTx/>
                <a:latin typeface="+mn-lt"/>
                <a:ea typeface="+mn-ea"/>
              </a:rPr>
              <a:t>Br+BrBs</a:t>
            </a:r>
            <a:r>
              <a:rPr kumimoji="0" lang="en-US" altLang="zh-CN" sz="2000" b="1" i="0" u="none" strike="noStrike" kern="0" cap="none" spc="0" normalizeH="0" baseline="0" noProof="0" dirty="0">
                <a:ln>
                  <a:noFill/>
                </a:ln>
                <a:solidFill>
                  <a:schemeClr val="tx1"/>
                </a:solidFill>
                <a:effectLst/>
                <a:uLnTx/>
                <a:uFillTx/>
                <a:latin typeface="+mn-lt"/>
                <a:ea typeface="+mn-ea"/>
              </a:rPr>
              <a:t>/(K-1)</a:t>
            </a:r>
            <a:endParaRPr kumimoji="0" lang="en-US" altLang="zh-CN" sz="2000" b="1" i="0" u="none" strike="noStrike" kern="0" cap="none" spc="0" normalizeH="0" baseline="0" noProof="0" dirty="0">
              <a:ln>
                <a:noFill/>
              </a:ln>
              <a:solidFill>
                <a:schemeClr val="tx1"/>
              </a:solidFill>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mn-ea"/>
              </a:rPr>
              <a:t>K </a:t>
            </a:r>
            <a:r>
              <a:rPr kumimoji="0" lang="zh-CN" altLang="en-US" sz="2000" b="1" i="0" u="none" strike="noStrike" kern="0" cap="none" spc="0" normalizeH="0" baseline="0" noProof="0" dirty="0">
                <a:ln>
                  <a:noFill/>
                </a:ln>
                <a:solidFill>
                  <a:schemeClr val="tx1"/>
                </a:solidFill>
                <a:effectLst/>
                <a:uLnTx/>
                <a:uFillTx/>
                <a:latin typeface="+mn-lt"/>
                <a:ea typeface="+mn-ea"/>
              </a:rPr>
              <a:t>为内存分配的总块数</a:t>
            </a:r>
            <a:endParaRPr kumimoji="0" lang="en-US" altLang="zh-CN" sz="20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上述公式含义</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:Br</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err="1">
                <a:ln>
                  <a:noFill/>
                </a:ln>
                <a:solidFill>
                  <a:schemeClr val="tx1"/>
                </a:solidFill>
                <a:effectLst/>
                <a:uLnTx/>
                <a:uFillTx/>
                <a:latin typeface="+mn-lt"/>
                <a:ea typeface="+mn-ea"/>
                <a:cs typeface="+mn-cs"/>
              </a:rPr>
              <a:t>Bs</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分别为</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r</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表和</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s</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表的块数</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将</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r</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作为外表，占用</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(k-1</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）块，</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r</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表只须读入</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1</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次。</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s</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需要读入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Br/(k-1)</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次。</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从公式可以看出，应将小表作为外表。</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本题中</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Br = 20000/40=500, </a:t>
            </a:r>
            <a:r>
              <a:rPr kumimoji="0" lang="en-US" altLang="zh-CN" sz="2400" b="1" i="0" u="none" strike="noStrike" kern="0" cap="none" spc="0" normalizeH="0" baseline="0" noProof="0" dirty="0" err="1">
                <a:ln>
                  <a:noFill/>
                </a:ln>
                <a:solidFill>
                  <a:schemeClr val="tx1"/>
                </a:solidFill>
                <a:effectLst/>
                <a:uLnTx/>
                <a:uFillTx/>
                <a:latin typeface="+mn-lt"/>
                <a:ea typeface="+mn-ea"/>
                <a:cs typeface="+mn-cs"/>
              </a:rPr>
              <a:t>Bs</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=1200/30=40</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，应将</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S</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作为外表</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假设分配的内存块数为</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k</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，则需要读取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40 + 40*500/(k-1) </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块</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p:txBody>
      </p:sp>
      <p:pic>
        <p:nvPicPr>
          <p:cNvPr id="13315" name="图片 3"/>
          <p:cNvPicPr>
            <a:picLocks noChangeAspect="1"/>
          </p:cNvPicPr>
          <p:nvPr/>
        </p:nvPicPr>
        <p:blipFill>
          <a:blip r:embed="rId1"/>
          <a:stretch>
            <a:fillRect/>
          </a:stretch>
        </p:blipFill>
        <p:spPr>
          <a:xfrm>
            <a:off x="1774825" y="112713"/>
            <a:ext cx="7908925" cy="10160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21" end="3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charRg st="35" end="6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charRg st="60" end="8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charRg st="88" end="10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charRg st="100" end="12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charRg st="124" end="16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charRg st="166" end="18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charRg st="184" end="22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charRg st="228" end="26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524000" y="1244600"/>
            <a:ext cx="8748713" cy="3354388"/>
          </a:xfrm>
        </p:spPr>
        <p:txBody>
          <a:bodyPr vert="horz" wrap="square" lIns="91440" tIns="45720" rIns="91440" bIns="45720" numCol="1" anchor="t" anchorCtr="0" compatLnSpc="1">
            <a:noAutofit/>
          </a:bodyPr>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en-US" altLang="zh-CN" sz="1800" b="1" i="0" u="none" strike="noStrike" kern="0" cap="none" spc="0" normalizeH="0" baseline="0" noProof="0" dirty="0">
                <a:ln>
                  <a:noFill/>
                </a:ln>
                <a:solidFill>
                  <a:schemeClr val="tx1"/>
                </a:solidFill>
                <a:effectLst/>
                <a:uLnTx/>
                <a:uFillTx/>
                <a:latin typeface="+mn-lt"/>
                <a:ea typeface="+mn-ea"/>
                <a:cs typeface="+mn-cs"/>
              </a:rPr>
              <a:t>4</a:t>
            </a:r>
            <a:r>
              <a:rPr kumimoji="0" lang="zh-CN" altLang="en-US" sz="1800" b="1" i="0" u="none" strike="noStrike" kern="0" cap="none" spc="0" normalizeH="0" baseline="0" noProof="0" dirty="0">
                <a:ln>
                  <a:noFill/>
                </a:ln>
                <a:solidFill>
                  <a:schemeClr val="tx1"/>
                </a:solidFill>
                <a:effectLst/>
                <a:uLnTx/>
                <a:uFillTx/>
                <a:latin typeface="+mn-lt"/>
                <a:ea typeface="+mn-ea"/>
                <a:cs typeface="+mn-cs"/>
              </a:rPr>
              <a:t>）排序合并连接    </a:t>
            </a:r>
            <a:r>
              <a:rPr kumimoji="0" lang="en-US" altLang="zh-CN" sz="1800" b="1" i="0" u="none" strike="noStrike" kern="0" cap="none" spc="0" normalizeH="0" baseline="0" noProof="0" dirty="0">
                <a:ln>
                  <a:noFill/>
                </a:ln>
                <a:solidFill>
                  <a:schemeClr val="tx1"/>
                </a:solidFill>
                <a:effectLst/>
                <a:uLnTx/>
                <a:uFillTx/>
                <a:latin typeface="+mn-lt"/>
                <a:ea typeface="+mn-ea"/>
                <a:cs typeface="+mn-cs"/>
              </a:rPr>
              <a:t>R </a:t>
            </a:r>
            <a:r>
              <a:rPr kumimoji="0" lang="zh-CN" altLang="en-US" sz="1800" b="1" i="1" u="none" strike="noStrike" kern="0" cap="none" spc="0" normalizeH="0" baseline="0" noProof="0" dirty="0">
                <a:ln>
                  <a:noFill/>
                </a:ln>
                <a:solidFill>
                  <a:schemeClr val="tx1"/>
                </a:solidFill>
                <a:effectLst/>
                <a:uLnTx/>
                <a:uFillTx/>
                <a:latin typeface="+mn-lt"/>
                <a:ea typeface="+mn-ea"/>
                <a:cs typeface="+mn-cs"/>
              </a:rPr>
              <a:t>自然连接</a:t>
            </a:r>
            <a:r>
              <a:rPr kumimoji="0" lang="zh-CN" altLang="en-US" sz="1800" b="1" i="0" u="none" strike="noStrike" kern="0" cap="none" spc="0" normalizeH="0" baseline="0" noProof="0" dirty="0">
                <a:ln>
                  <a:noFill/>
                </a:ln>
                <a:solidFill>
                  <a:schemeClr val="tx1"/>
                </a:solidFill>
                <a:effectLst/>
                <a:uLnTx/>
                <a:uFillTx/>
                <a:latin typeface="+mn-lt"/>
                <a:ea typeface="+mn-ea"/>
                <a:cs typeface="+mn-cs"/>
              </a:rPr>
              <a:t> </a:t>
            </a:r>
            <a:r>
              <a:rPr kumimoji="0" lang="en-US" altLang="zh-CN" sz="1800" b="1" i="0" u="none" strike="noStrike" kern="0" cap="none" spc="0" normalizeH="0" baseline="0" noProof="0" dirty="0">
                <a:ln>
                  <a:noFill/>
                </a:ln>
                <a:solidFill>
                  <a:schemeClr val="tx1"/>
                </a:solidFill>
                <a:effectLst/>
                <a:uLnTx/>
                <a:uFillTx/>
                <a:latin typeface="+mn-lt"/>
                <a:ea typeface="+mn-ea"/>
                <a:cs typeface="+mn-cs"/>
              </a:rPr>
              <a:t>S</a:t>
            </a:r>
            <a:r>
              <a:rPr kumimoji="0" lang="zh-CN" altLang="en-US" sz="1800" b="1" i="0" u="none" strike="noStrike" kern="0" cap="none" spc="0" normalizeH="0" baseline="0" noProof="0" dirty="0">
                <a:ln>
                  <a:noFill/>
                </a:ln>
                <a:solidFill>
                  <a:schemeClr val="tx1"/>
                </a:solidFill>
                <a:effectLst/>
                <a:uLnTx/>
                <a:uFillTx/>
                <a:latin typeface="+mn-lt"/>
                <a:ea typeface="+mn-ea"/>
                <a:cs typeface="+mn-cs"/>
              </a:rPr>
              <a:t>。区分</a:t>
            </a:r>
            <a:r>
              <a:rPr kumimoji="0" lang="en-US" altLang="zh-CN" sz="1800" b="1" i="0" u="none" strike="noStrike" kern="0" cap="none" spc="0" normalizeH="0" baseline="0" noProof="0" dirty="0">
                <a:ln>
                  <a:noFill/>
                </a:ln>
                <a:solidFill>
                  <a:schemeClr val="tx1"/>
                </a:solidFill>
                <a:effectLst/>
                <a:uLnTx/>
                <a:uFillTx/>
                <a:latin typeface="+mn-lt"/>
                <a:ea typeface="+mn-ea"/>
                <a:cs typeface="+mn-cs"/>
              </a:rPr>
              <a:t>R</a:t>
            </a:r>
            <a:r>
              <a:rPr kumimoji="0" lang="zh-CN" altLang="en-US" sz="1800" b="1" i="0" u="none" strike="noStrike" kern="0" cap="none" spc="0" normalizeH="0" baseline="0" noProof="0" dirty="0">
                <a:ln>
                  <a:noFill/>
                </a:ln>
                <a:solidFill>
                  <a:schemeClr val="tx1"/>
                </a:solidFill>
                <a:effectLst/>
                <a:uLnTx/>
                <a:uFillTx/>
                <a:latin typeface="+mn-lt"/>
                <a:ea typeface="+mn-ea"/>
                <a:cs typeface="+mn-cs"/>
              </a:rPr>
              <a:t>与</a:t>
            </a:r>
            <a:r>
              <a:rPr kumimoji="0" lang="en-US" altLang="zh-CN" sz="1800" b="1" i="0" u="none" strike="noStrike" kern="0" cap="none" spc="0" normalizeH="0" baseline="0" noProof="0" dirty="0">
                <a:ln>
                  <a:noFill/>
                </a:ln>
                <a:solidFill>
                  <a:schemeClr val="tx1"/>
                </a:solidFill>
                <a:effectLst/>
                <a:uLnTx/>
                <a:uFillTx/>
                <a:latin typeface="+mn-lt"/>
                <a:ea typeface="+mn-ea"/>
                <a:cs typeface="+mn-cs"/>
              </a:rPr>
              <a:t>S</a:t>
            </a:r>
            <a:r>
              <a:rPr kumimoji="0" lang="zh-CN" altLang="en-US" sz="1800" b="1" i="0" u="none" strike="noStrike" kern="0" cap="none" spc="0" normalizeH="0" baseline="0" noProof="0" dirty="0">
                <a:ln>
                  <a:noFill/>
                </a:ln>
                <a:solidFill>
                  <a:schemeClr val="tx1"/>
                </a:solidFill>
                <a:effectLst/>
                <a:uLnTx/>
                <a:uFillTx/>
                <a:latin typeface="+mn-lt"/>
                <a:ea typeface="+mn-ea"/>
                <a:cs typeface="+mn-cs"/>
              </a:rPr>
              <a:t>在属性</a:t>
            </a:r>
            <a:r>
              <a:rPr kumimoji="0" lang="en-US" altLang="zh-CN" sz="1800" b="1" i="0" u="none" strike="noStrike" kern="0" cap="none" spc="0" normalizeH="0" baseline="0" noProof="0" dirty="0">
                <a:ln>
                  <a:noFill/>
                </a:ln>
                <a:solidFill>
                  <a:schemeClr val="tx1"/>
                </a:solidFill>
                <a:effectLst/>
                <a:uLnTx/>
                <a:uFillTx/>
                <a:latin typeface="+mn-lt"/>
                <a:ea typeface="+mn-ea"/>
                <a:cs typeface="+mn-cs"/>
              </a:rPr>
              <a:t>B</a:t>
            </a:r>
            <a:r>
              <a:rPr kumimoji="0" lang="zh-CN" altLang="en-US" sz="1800" b="1" i="0" u="none" strike="noStrike" kern="0" cap="none" spc="0" normalizeH="0" baseline="0" noProof="0" dirty="0">
                <a:ln>
                  <a:noFill/>
                </a:ln>
                <a:solidFill>
                  <a:schemeClr val="tx1"/>
                </a:solidFill>
                <a:effectLst/>
                <a:uLnTx/>
                <a:uFillTx/>
                <a:latin typeface="+mn-lt"/>
                <a:ea typeface="+mn-ea"/>
                <a:cs typeface="+mn-cs"/>
              </a:rPr>
              <a:t>上有序和无序两种情况。</a:t>
            </a:r>
            <a:endParaRPr kumimoji="0" lang="en-US" altLang="zh-CN" sz="1800" b="1" i="0" u="none" strike="noStrike" kern="0" cap="none" spc="0" normalizeH="0" baseline="0" noProof="0" dirty="0">
              <a:ln>
                <a:noFill/>
              </a:ln>
              <a:solidFill>
                <a:schemeClr val="tx1"/>
              </a:solidFill>
              <a:effectLst/>
              <a:uLnTx/>
              <a:uFillTx/>
              <a:latin typeface="+mn-lt"/>
              <a:ea typeface="+mn-ea"/>
              <a:cs typeface="+mn-cs"/>
            </a:endParaRPr>
          </a:p>
          <a:p>
            <a:pPr marL="3429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1600" b="1" i="0" u="none" strike="noStrike" kern="0" cap="none" spc="0" normalizeH="0" baseline="0" noProof="0" dirty="0">
                <a:ln>
                  <a:noFill/>
                </a:ln>
                <a:solidFill>
                  <a:schemeClr val="tx1"/>
                </a:solidFill>
                <a:effectLst/>
                <a:uLnTx/>
                <a:uFillTx/>
                <a:latin typeface="+mn-lt"/>
                <a:ea typeface="+mn-ea"/>
              </a:rPr>
              <a:t>回顾教材：</a:t>
            </a:r>
            <a:endParaRPr kumimoji="0" lang="en-US" altLang="zh-CN" sz="1600" b="1" i="0" u="none" strike="noStrike" kern="0" cap="none" spc="0" normalizeH="0" baseline="0" noProof="0" dirty="0">
              <a:ln>
                <a:noFill/>
              </a:ln>
              <a:solidFill>
                <a:schemeClr val="tx1"/>
              </a:solidFill>
              <a:effectLst/>
              <a:uLnTx/>
              <a:uFillTx/>
              <a:latin typeface="+mn-lt"/>
              <a:ea typeface="+mn-ea"/>
            </a:endParaRPr>
          </a:p>
          <a:p>
            <a:pPr marL="342900" marR="0" lvl="1" indent="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1600" b="1" i="0" u="none" strike="noStrike" kern="0" cap="none" spc="0" normalizeH="0" baseline="0" noProof="0" dirty="0">
                <a:ln>
                  <a:noFill/>
                </a:ln>
                <a:solidFill>
                  <a:schemeClr val="tx1"/>
                </a:solidFill>
                <a:effectLst/>
                <a:uLnTx/>
                <a:uFillTx/>
                <a:latin typeface="+mn-lt"/>
                <a:ea typeface="+mn-ea"/>
              </a:rPr>
              <a:t>排序</a:t>
            </a:r>
            <a:r>
              <a:rPr kumimoji="0" lang="en-US" altLang="zh-CN" sz="1600" b="1" i="0" u="none" strike="noStrike" kern="0" cap="none" spc="0" normalizeH="0" baseline="0" noProof="0" dirty="0">
                <a:ln>
                  <a:noFill/>
                </a:ln>
                <a:solidFill>
                  <a:schemeClr val="tx1"/>
                </a:solidFill>
                <a:effectLst/>
                <a:uLnTx/>
                <a:uFillTx/>
                <a:latin typeface="+mn-lt"/>
                <a:ea typeface="+mn-ea"/>
              </a:rPr>
              <a:t>-</a:t>
            </a:r>
            <a:r>
              <a:rPr kumimoji="0" lang="zh-CN" altLang="en-US" sz="1600" b="1" i="0" u="none" strike="noStrike" kern="0" cap="none" spc="0" normalizeH="0" baseline="0" noProof="0" dirty="0">
                <a:ln>
                  <a:noFill/>
                </a:ln>
                <a:solidFill>
                  <a:schemeClr val="tx1"/>
                </a:solidFill>
                <a:effectLst/>
                <a:uLnTx/>
                <a:uFillTx/>
                <a:latin typeface="+mn-lt"/>
                <a:ea typeface="+mn-ea"/>
              </a:rPr>
              <a:t>合并连接算法的代价估算公式</a:t>
            </a:r>
            <a:endParaRPr kumimoji="0" lang="zh-CN" altLang="en-US" sz="16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cs typeface="+mn-cs"/>
              </a:rPr>
              <a:t>如果连接表已经按照连接属性排好序，则</a:t>
            </a:r>
            <a:endParaRPr kumimoji="0" lang="zh-CN" altLang="en-US" sz="2200" b="1" i="0" u="none" strike="noStrike" kern="0" cap="none" spc="0" normalizeH="0" baseline="0" noProof="0" dirty="0">
              <a:ln>
                <a:noFill/>
              </a:ln>
              <a:solidFill>
                <a:schemeClr val="tx1"/>
              </a:solidFill>
              <a:effectLst/>
              <a:uLnTx/>
              <a:uFillTx/>
              <a:latin typeface="+mn-lt"/>
              <a:ea typeface="+mn-ea"/>
              <a:cs typeface="+mn-cs"/>
            </a:endParaRPr>
          </a:p>
          <a:p>
            <a:pPr marL="1143000" marR="0" lvl="2" indent="-22860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0" lang="zh-CN" altLang="en-US" sz="1600" b="1" i="0" u="none" strike="noStrike" kern="0" cap="none" spc="0" normalizeH="0" baseline="0" noProof="0" dirty="0">
                <a:ln>
                  <a:noFill/>
                </a:ln>
                <a:solidFill>
                  <a:schemeClr val="tx1"/>
                </a:solidFill>
                <a:effectLst/>
                <a:uLnTx/>
                <a:uFillTx/>
                <a:latin typeface="+mn-lt"/>
                <a:ea typeface="+mn-ea"/>
              </a:rPr>
              <a:t>       </a:t>
            </a:r>
            <a:r>
              <a:rPr kumimoji="0" lang="en-US" altLang="zh-CN" sz="1600" b="1" i="0" u="none" strike="noStrike" kern="0" cap="none" spc="0" normalizeH="0" baseline="0" noProof="0" dirty="0">
                <a:ln>
                  <a:noFill/>
                </a:ln>
                <a:solidFill>
                  <a:schemeClr val="tx1"/>
                </a:solidFill>
                <a:effectLst/>
                <a:uLnTx/>
                <a:uFillTx/>
                <a:latin typeface="+mn-lt"/>
                <a:ea typeface="+mn-ea"/>
              </a:rPr>
              <a:t>cost</a:t>
            </a:r>
            <a:r>
              <a:rPr kumimoji="0" lang="zh-CN" altLang="en-US" sz="1600" b="1" i="0" u="none" strike="noStrike" kern="0" cap="none" spc="0" normalizeH="0" baseline="0" noProof="0" dirty="0">
                <a:ln>
                  <a:noFill/>
                </a:ln>
                <a:solidFill>
                  <a:schemeClr val="tx1"/>
                </a:solidFill>
                <a:effectLst/>
                <a:uLnTx/>
                <a:uFillTx/>
                <a:latin typeface="+mn-lt"/>
                <a:ea typeface="+mn-ea"/>
              </a:rPr>
              <a:t>＝</a:t>
            </a:r>
            <a:r>
              <a:rPr kumimoji="0" lang="en-US" altLang="zh-CN" sz="1600" b="1" i="0" u="none" strike="noStrike" kern="0" cap="none" spc="0" normalizeH="0" baseline="0" noProof="0" dirty="0" err="1">
                <a:ln>
                  <a:noFill/>
                </a:ln>
                <a:solidFill>
                  <a:schemeClr val="tx1"/>
                </a:solidFill>
                <a:effectLst/>
                <a:uLnTx/>
                <a:uFillTx/>
                <a:latin typeface="+mn-lt"/>
                <a:ea typeface="+mn-ea"/>
              </a:rPr>
              <a:t>Br+Bs</a:t>
            </a:r>
            <a:r>
              <a:rPr kumimoji="0" lang="en-US" altLang="zh-CN" sz="1600" b="1" i="0" u="none" strike="noStrike" kern="0" cap="none" spc="0" normalizeH="0" baseline="0" noProof="0" dirty="0">
                <a:ln>
                  <a:noFill/>
                </a:ln>
                <a:solidFill>
                  <a:schemeClr val="tx1"/>
                </a:solidFill>
                <a:effectLst/>
                <a:uLnTx/>
                <a:uFillTx/>
                <a:latin typeface="+mn-lt"/>
                <a:ea typeface="+mn-ea"/>
              </a:rPr>
              <a:t>+(</a:t>
            </a:r>
            <a:r>
              <a:rPr kumimoji="0" lang="en-US" altLang="zh-CN" sz="1600" b="1" i="0" u="none" strike="noStrike" kern="0" cap="none" spc="0" normalizeH="0" baseline="0" noProof="0" dirty="0" err="1">
                <a:ln>
                  <a:noFill/>
                </a:ln>
                <a:solidFill>
                  <a:schemeClr val="tx1"/>
                </a:solidFill>
                <a:effectLst/>
                <a:uLnTx/>
                <a:uFillTx/>
                <a:latin typeface="+mn-lt"/>
                <a:ea typeface="+mn-ea"/>
              </a:rPr>
              <a:t>Frs</a:t>
            </a:r>
            <a:r>
              <a:rPr kumimoji="0" lang="en-US" altLang="zh-CN" sz="1600" b="1" i="0" u="none" strike="noStrike" kern="0" cap="none" spc="0" normalizeH="0" baseline="0" noProof="0" dirty="0">
                <a:ln>
                  <a:noFill/>
                </a:ln>
                <a:solidFill>
                  <a:schemeClr val="tx1"/>
                </a:solidFill>
                <a:effectLst/>
                <a:uLnTx/>
                <a:uFillTx/>
                <a:latin typeface="+mn-lt"/>
                <a:ea typeface="+mn-ea"/>
              </a:rPr>
              <a:t>*</a:t>
            </a:r>
            <a:r>
              <a:rPr kumimoji="0" lang="en-US" altLang="zh-CN" sz="1600" b="1" i="0" u="none" strike="noStrike" kern="0" cap="none" spc="0" normalizeH="0" baseline="0" noProof="0" dirty="0" err="1">
                <a:ln>
                  <a:noFill/>
                </a:ln>
                <a:solidFill>
                  <a:schemeClr val="tx1"/>
                </a:solidFill>
                <a:effectLst/>
                <a:uLnTx/>
                <a:uFillTx/>
                <a:latin typeface="+mn-lt"/>
                <a:ea typeface="+mn-ea"/>
              </a:rPr>
              <a:t>Nr</a:t>
            </a:r>
            <a:r>
              <a:rPr kumimoji="0" lang="en-US" altLang="zh-CN" sz="1600" b="1" i="0" u="none" strike="noStrike" kern="0" cap="none" spc="0" normalizeH="0" baseline="0" noProof="0" dirty="0">
                <a:ln>
                  <a:noFill/>
                </a:ln>
                <a:solidFill>
                  <a:schemeClr val="tx1"/>
                </a:solidFill>
                <a:effectLst/>
                <a:uLnTx/>
                <a:uFillTx/>
                <a:latin typeface="+mn-lt"/>
                <a:ea typeface="+mn-ea"/>
              </a:rPr>
              <a:t>*Ns)/</a:t>
            </a:r>
            <a:r>
              <a:rPr kumimoji="0" lang="en-US" altLang="zh-CN" sz="1600" b="1" i="0" u="none" strike="noStrike" kern="0" cap="none" spc="0" normalizeH="0" baseline="0" noProof="0" dirty="0" err="1">
                <a:ln>
                  <a:noFill/>
                </a:ln>
                <a:solidFill>
                  <a:schemeClr val="tx1"/>
                </a:solidFill>
                <a:effectLst/>
                <a:uLnTx/>
                <a:uFillTx/>
                <a:latin typeface="+mn-lt"/>
                <a:ea typeface="+mn-ea"/>
              </a:rPr>
              <a:t>Mrs</a:t>
            </a:r>
            <a:endParaRPr kumimoji="0" lang="zh-CN" altLang="en-US" sz="1600" b="1" i="0" u="none" strike="noStrike" kern="0" cap="none" spc="0" normalizeH="0" baseline="0" noProof="0" dirty="0">
              <a:ln>
                <a:noFill/>
              </a:ln>
              <a:solidFill>
                <a:schemeClr val="tx1"/>
              </a:solidFill>
              <a:effectLst/>
              <a:uLnTx/>
              <a:uFillTx/>
              <a:latin typeface="+mn-lt"/>
              <a:ea typeface="+mn-ea"/>
            </a:endParaRPr>
          </a:p>
          <a:p>
            <a:pPr marL="685800" marR="0" lvl="2" indent="0" algn="l" defTabSz="914400" rtl="0" eaLnBrk="0" fontAlgn="base" latinLnBrk="0" hangingPunct="0">
              <a:lnSpc>
                <a:spcPct val="120000"/>
              </a:lnSpc>
              <a:spcBef>
                <a:spcPct val="20000"/>
              </a:spcBef>
              <a:spcAft>
                <a:spcPct val="0"/>
              </a:spcAft>
              <a:buClrTx/>
              <a:buSzPct val="87000"/>
              <a:buFont typeface="Arial" panose="020B0604020202020204" pitchFamily="34" charset="0"/>
              <a:buNone/>
              <a:defRPr/>
            </a:pPr>
            <a:r>
              <a:rPr kumimoji="0" lang="zh-CN" altLang="en-US" sz="1600" b="1" i="0" u="none" strike="noStrike" kern="0" cap="none" spc="0" normalizeH="0" baseline="0" noProof="0" dirty="0">
                <a:ln>
                  <a:noFill/>
                </a:ln>
                <a:solidFill>
                  <a:schemeClr val="tx1"/>
                </a:solidFill>
                <a:effectLst/>
                <a:uLnTx/>
                <a:uFillTx/>
                <a:latin typeface="+mn-lt"/>
                <a:ea typeface="+mn-ea"/>
              </a:rPr>
              <a:t>后面部分是写磁盘代价，本题不考虑。因此 有序情况下  需要  </a:t>
            </a:r>
            <a:r>
              <a:rPr kumimoji="0" lang="en-US" altLang="zh-CN" sz="1600" b="1" i="0" u="none" strike="noStrike" kern="0" cap="none" spc="0" normalizeH="0" baseline="0" noProof="0" dirty="0">
                <a:ln>
                  <a:noFill/>
                </a:ln>
                <a:solidFill>
                  <a:schemeClr val="tx1"/>
                </a:solidFill>
                <a:effectLst/>
                <a:uLnTx/>
                <a:uFillTx/>
                <a:latin typeface="+mn-lt"/>
                <a:ea typeface="+mn-ea"/>
              </a:rPr>
              <a:t>500+ 40 = 540 (</a:t>
            </a:r>
            <a:r>
              <a:rPr kumimoji="0" lang="zh-CN" altLang="en-US" sz="1600" b="1" i="0" u="none" strike="noStrike" kern="0" cap="none" spc="0" normalizeH="0" baseline="0" noProof="0" dirty="0">
                <a:ln>
                  <a:noFill/>
                </a:ln>
                <a:solidFill>
                  <a:schemeClr val="tx1"/>
                </a:solidFill>
                <a:effectLst/>
                <a:uLnTx/>
                <a:uFillTx/>
                <a:latin typeface="+mn-lt"/>
                <a:ea typeface="+mn-ea"/>
              </a:rPr>
              <a:t>块）</a:t>
            </a:r>
            <a:endParaRPr kumimoji="0" lang="zh-CN" altLang="en-US" sz="1600" b="1" i="0" u="none" strike="noStrike" kern="0" cap="none" spc="0" normalizeH="0" baseline="0" noProof="0" dirty="0">
              <a:ln>
                <a:noFill/>
              </a:ln>
              <a:solidFill>
                <a:schemeClr val="tx1"/>
              </a:solidFill>
              <a:effectLst/>
              <a:uLnTx/>
              <a:uFillTx/>
              <a:latin typeface="+mn-lt"/>
              <a:ea typeface="+mn-ea"/>
            </a:endParaRPr>
          </a:p>
          <a:p>
            <a:pPr marL="685800" marR="0" lvl="2" indent="0" algn="l" defTabSz="914400" rtl="0" eaLnBrk="0" fontAlgn="base" latinLnBrk="0" hangingPunct="0">
              <a:lnSpc>
                <a:spcPct val="120000"/>
              </a:lnSpc>
              <a:spcBef>
                <a:spcPct val="20000"/>
              </a:spcBef>
              <a:spcAft>
                <a:spcPct val="0"/>
              </a:spcAft>
              <a:buClrTx/>
              <a:buSzPct val="87000"/>
              <a:buFont typeface="Arial" panose="020B0604020202020204" pitchFamily="34" charset="0"/>
              <a:buNone/>
              <a:defRPr/>
            </a:pPr>
            <a:r>
              <a:rPr kumimoji="0" lang="zh-CN" altLang="en-US" sz="1600" b="1" i="0" u="none" strike="noStrike" kern="0" cap="none" spc="0" normalizeH="0" baseline="0" noProof="0" dirty="0">
                <a:ln>
                  <a:noFill/>
                </a:ln>
                <a:solidFill>
                  <a:schemeClr val="tx1"/>
                </a:solidFill>
                <a:effectLst/>
                <a:uLnTx/>
                <a:uFillTx/>
                <a:latin typeface="+mn-lt"/>
                <a:ea typeface="+mn-ea"/>
              </a:rPr>
              <a:t>注意排序合并算法，因为已经在连接属性上排好序，一旦不匹配，就不需要和另一个表已扫描过的部分进行比较。这就</a:t>
            </a:r>
            <a:r>
              <a:rPr kumimoji="0" lang="zh-CN" altLang="en-US" sz="1600" b="1" i="0" u="none" strike="noStrike" kern="0" cap="none" spc="0" normalizeH="0" baseline="0" noProof="0" dirty="0">
                <a:ln>
                  <a:noFill/>
                </a:ln>
                <a:solidFill>
                  <a:srgbClr val="FF0000"/>
                </a:solidFill>
                <a:effectLst/>
                <a:uLnTx/>
                <a:uFillTx/>
                <a:latin typeface="+mn-lt"/>
                <a:ea typeface="+mn-ea"/>
              </a:rPr>
              <a:t>避免了重复读取</a:t>
            </a:r>
            <a:r>
              <a:rPr kumimoji="0" lang="zh-CN" altLang="en-US" sz="1600" b="1" i="0" u="none" strike="noStrike" kern="0" cap="none" spc="0" normalizeH="0" baseline="0" noProof="0" dirty="0">
                <a:ln>
                  <a:noFill/>
                </a:ln>
                <a:solidFill>
                  <a:schemeClr val="tx1"/>
                </a:solidFill>
                <a:effectLst/>
                <a:uLnTx/>
                <a:uFillTx/>
                <a:latin typeface="+mn-lt"/>
                <a:ea typeface="+mn-ea"/>
              </a:rPr>
              <a:t>（比较嵌套循环方法）。</a:t>
            </a:r>
            <a:endParaRPr kumimoji="0" lang="en-US" altLang="zh-CN" sz="16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20000"/>
              </a:lnSpc>
              <a:spcBef>
                <a:spcPct val="20000"/>
              </a:spcBef>
              <a:spcAft>
                <a:spcPct val="0"/>
              </a:spcAft>
              <a:buClrTx/>
              <a:buSzPct val="87000"/>
              <a:buFont typeface="Wingdings" panose="05000000000000000000" pitchFamily="2" charset="2"/>
              <a:buChar char="l"/>
              <a:defRPr/>
            </a:pPr>
            <a:r>
              <a:rPr kumimoji="0" lang="zh-CN" altLang="en-US" sz="2200" b="1" i="0" u="none" strike="noStrike" kern="0" cap="none" spc="0" normalizeH="0" baseline="0" noProof="0" dirty="0">
                <a:ln>
                  <a:noFill/>
                </a:ln>
                <a:solidFill>
                  <a:schemeClr val="tx1"/>
                </a:solidFill>
                <a:effectLst/>
                <a:uLnTx/>
                <a:uFillTx/>
                <a:latin typeface="+mn-lt"/>
                <a:ea typeface="+mn-ea"/>
                <a:cs typeface="+mn-cs"/>
              </a:rPr>
              <a:t>如果必须对文件排序</a:t>
            </a:r>
            <a:endParaRPr kumimoji="0" lang="zh-CN" altLang="en-US" sz="22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Ø"/>
              <a:defRPr/>
            </a:pPr>
            <a:r>
              <a:rPr kumimoji="0" lang="zh-CN" altLang="en-US" sz="1800" b="1" i="0" u="none" strike="noStrike" kern="0" cap="none" spc="0" normalizeH="0" baseline="0" noProof="0" dirty="0">
                <a:ln>
                  <a:noFill/>
                </a:ln>
                <a:solidFill>
                  <a:schemeClr val="tx1"/>
                </a:solidFill>
                <a:effectLst/>
                <a:uLnTx/>
                <a:uFillTx/>
                <a:latin typeface="+mn-lt"/>
                <a:ea typeface="+mn-ea"/>
              </a:rPr>
              <a:t>还需要在代价函数中加上排序的代价</a:t>
            </a:r>
            <a:endParaRPr kumimoji="0" lang="zh-CN" altLang="en-US" sz="18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Char char="Ø"/>
              <a:defRPr/>
            </a:pPr>
            <a:r>
              <a:rPr kumimoji="0" lang="zh-CN" altLang="en-US" sz="1800" b="1" i="0" u="none" strike="noStrike" kern="0" cap="none" spc="0" normalizeH="0" baseline="0" noProof="0" dirty="0">
                <a:ln>
                  <a:noFill/>
                </a:ln>
                <a:solidFill>
                  <a:schemeClr val="tx1"/>
                </a:solidFill>
                <a:effectLst/>
                <a:uLnTx/>
                <a:uFillTx/>
                <a:latin typeface="+mn-lt"/>
                <a:ea typeface="+mn-ea"/>
              </a:rPr>
              <a:t>对于包含</a:t>
            </a:r>
            <a:r>
              <a:rPr kumimoji="0" lang="en-US" altLang="zh-CN" sz="1800" b="1" i="0" u="none" strike="noStrike" kern="0" cap="none" spc="0" normalizeH="0" baseline="0" noProof="0" dirty="0">
                <a:ln>
                  <a:noFill/>
                </a:ln>
                <a:solidFill>
                  <a:schemeClr val="tx1"/>
                </a:solidFill>
                <a:effectLst/>
                <a:uLnTx/>
                <a:uFillTx/>
                <a:latin typeface="+mn-lt"/>
                <a:ea typeface="+mn-ea"/>
              </a:rPr>
              <a:t>B</a:t>
            </a:r>
            <a:r>
              <a:rPr kumimoji="0" lang="zh-CN" altLang="en-US" sz="1800" b="1" i="0" u="none" strike="noStrike" kern="0" cap="none" spc="0" normalizeH="0" baseline="0" noProof="0" dirty="0">
                <a:ln>
                  <a:noFill/>
                </a:ln>
                <a:solidFill>
                  <a:schemeClr val="tx1"/>
                </a:solidFill>
                <a:effectLst/>
                <a:uLnTx/>
                <a:uFillTx/>
                <a:latin typeface="+mn-lt"/>
                <a:ea typeface="+mn-ea"/>
              </a:rPr>
              <a:t>个块的文件排序的代价大约是</a:t>
            </a:r>
            <a:endParaRPr kumimoji="0" lang="zh-CN" altLang="en-US" sz="18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1800" b="1" i="0" u="none" strike="noStrike" kern="0" cap="none" spc="0" normalizeH="0" baseline="0" noProof="0" dirty="0">
                <a:ln>
                  <a:noFill/>
                </a:ln>
                <a:solidFill>
                  <a:schemeClr val="tx1"/>
                </a:solidFill>
                <a:effectLst/>
                <a:uLnTx/>
                <a:uFillTx/>
                <a:latin typeface="+mn-lt"/>
                <a:ea typeface="+mn-ea"/>
              </a:rPr>
              <a:t>     </a:t>
            </a:r>
            <a:r>
              <a:rPr kumimoji="0" lang="en-US" altLang="zh-CN" sz="1800" b="1" i="0" u="none" strike="noStrike" kern="0" cap="none" spc="0" normalizeH="0" baseline="0" noProof="0" dirty="0">
                <a:ln>
                  <a:noFill/>
                </a:ln>
                <a:solidFill>
                  <a:schemeClr val="tx1"/>
                </a:solidFill>
                <a:effectLst/>
                <a:uLnTx/>
                <a:uFillTx/>
                <a:latin typeface="+mn-lt"/>
                <a:ea typeface="+mn-ea"/>
              </a:rPr>
              <a:t>(2*B)+(2*B*log</a:t>
            </a:r>
            <a:r>
              <a:rPr kumimoji="0" lang="en-US" altLang="zh-CN" sz="1800" b="1" i="0" u="none" strike="noStrike" kern="0" cap="none" spc="0" normalizeH="0" baseline="-25000" noProof="0" dirty="0">
                <a:ln>
                  <a:noFill/>
                </a:ln>
                <a:solidFill>
                  <a:schemeClr val="tx1"/>
                </a:solidFill>
                <a:effectLst/>
                <a:uLnTx/>
                <a:uFillTx/>
                <a:latin typeface="+mn-lt"/>
                <a:ea typeface="+mn-ea"/>
              </a:rPr>
              <a:t>2</a:t>
            </a:r>
            <a:r>
              <a:rPr kumimoji="0" lang="en-US" altLang="zh-CN" sz="1800" b="1" i="0" u="none" strike="noStrike" kern="0" cap="none" spc="0" normalizeH="0" baseline="0" noProof="0" dirty="0">
                <a:ln>
                  <a:noFill/>
                </a:ln>
                <a:solidFill>
                  <a:schemeClr val="tx1"/>
                </a:solidFill>
                <a:effectLst/>
                <a:uLnTx/>
                <a:uFillTx/>
                <a:latin typeface="+mn-lt"/>
                <a:ea typeface="+mn-ea"/>
              </a:rPr>
              <a:t>B)</a:t>
            </a:r>
            <a:endParaRPr kumimoji="0" lang="en-US" altLang="zh-CN" sz="18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1800" b="1" i="0" u="none" strike="noStrike" kern="0" cap="none" spc="0" normalizeH="0" baseline="0" noProof="0" dirty="0">
                <a:ln>
                  <a:noFill/>
                </a:ln>
                <a:solidFill>
                  <a:schemeClr val="tx1"/>
                </a:solidFill>
                <a:effectLst/>
                <a:uLnTx/>
                <a:uFillTx/>
                <a:latin typeface="+mn-lt"/>
                <a:ea typeface="+mn-ea"/>
              </a:rPr>
              <a:t>此时，答案为 </a:t>
            </a:r>
            <a:r>
              <a:rPr kumimoji="0" lang="en-US" altLang="zh-CN" sz="1800" b="1" i="0" u="none" strike="noStrike" kern="0" cap="none" spc="0" normalizeH="0" baseline="0" noProof="0" dirty="0">
                <a:ln>
                  <a:noFill/>
                </a:ln>
                <a:solidFill>
                  <a:schemeClr val="tx1"/>
                </a:solidFill>
                <a:effectLst/>
                <a:uLnTx/>
                <a:uFillTx/>
                <a:latin typeface="+mn-lt"/>
                <a:ea typeface="+mn-ea"/>
              </a:rPr>
              <a:t>540+2*500+2*500*Log500 + 2</a:t>
            </a:r>
            <a:r>
              <a:rPr kumimoji="0" lang="zh-CN" altLang="en-US" sz="1800" b="1" i="0" u="none" strike="noStrike" kern="0" cap="none" spc="0" normalizeH="0" baseline="0" noProof="0" dirty="0">
                <a:ln>
                  <a:noFill/>
                </a:ln>
                <a:solidFill>
                  <a:schemeClr val="tx1"/>
                </a:solidFill>
                <a:effectLst/>
                <a:uLnTx/>
                <a:uFillTx/>
                <a:latin typeface="+mn-lt"/>
                <a:ea typeface="+mn-ea"/>
              </a:rPr>
              <a:t>*</a:t>
            </a:r>
            <a:r>
              <a:rPr kumimoji="0" lang="en-US" altLang="zh-CN" sz="1800" b="1" i="0" u="none" strike="noStrike" kern="0" cap="none" spc="0" normalizeH="0" baseline="0" noProof="0" dirty="0">
                <a:ln>
                  <a:noFill/>
                </a:ln>
                <a:solidFill>
                  <a:schemeClr val="tx1"/>
                </a:solidFill>
                <a:effectLst/>
                <a:uLnTx/>
                <a:uFillTx/>
                <a:latin typeface="+mn-lt"/>
                <a:ea typeface="+mn-ea"/>
              </a:rPr>
              <a:t>40+2</a:t>
            </a:r>
            <a:r>
              <a:rPr kumimoji="0" lang="zh-CN" altLang="en-US" sz="1800" b="1" i="0" u="none" strike="noStrike" kern="0" cap="none" spc="0" normalizeH="0" baseline="0" noProof="0" dirty="0">
                <a:ln>
                  <a:noFill/>
                </a:ln>
                <a:solidFill>
                  <a:schemeClr val="tx1"/>
                </a:solidFill>
                <a:effectLst/>
                <a:uLnTx/>
                <a:uFillTx/>
                <a:latin typeface="+mn-lt"/>
                <a:ea typeface="+mn-ea"/>
              </a:rPr>
              <a:t>*</a:t>
            </a:r>
            <a:r>
              <a:rPr kumimoji="0" lang="en-US" altLang="zh-CN" sz="1800" b="1" i="0" u="none" strike="noStrike" kern="0" cap="none" spc="0" normalizeH="0" baseline="0" noProof="0" dirty="0">
                <a:ln>
                  <a:noFill/>
                </a:ln>
                <a:solidFill>
                  <a:schemeClr val="tx1"/>
                </a:solidFill>
                <a:effectLst/>
                <a:uLnTx/>
                <a:uFillTx/>
                <a:latin typeface="+mn-lt"/>
                <a:ea typeface="+mn-ea"/>
              </a:rPr>
              <a:t>40</a:t>
            </a:r>
            <a:r>
              <a:rPr kumimoji="0" lang="zh-CN" altLang="en-US" sz="1800" b="1" i="0" u="none" strike="noStrike" kern="0" cap="none" spc="0" normalizeH="0" baseline="0" noProof="0" dirty="0">
                <a:ln>
                  <a:noFill/>
                </a:ln>
                <a:solidFill>
                  <a:schemeClr val="tx1"/>
                </a:solidFill>
                <a:effectLst/>
                <a:uLnTx/>
                <a:uFillTx/>
                <a:latin typeface="+mn-lt"/>
                <a:ea typeface="+mn-ea"/>
              </a:rPr>
              <a:t>*</a:t>
            </a:r>
            <a:r>
              <a:rPr kumimoji="0" lang="en-US" altLang="zh-CN" sz="1800" b="1" i="0" u="none" strike="noStrike" kern="0" cap="none" spc="0" normalizeH="0" baseline="0" noProof="0" dirty="0">
                <a:ln>
                  <a:noFill/>
                </a:ln>
                <a:solidFill>
                  <a:schemeClr val="tx1"/>
                </a:solidFill>
                <a:effectLst/>
                <a:uLnTx/>
                <a:uFillTx/>
                <a:latin typeface="+mn-lt"/>
                <a:ea typeface="+mn-ea"/>
              </a:rPr>
              <a:t>Log40</a:t>
            </a:r>
            <a:endParaRPr kumimoji="0" lang="en-US" altLang="zh-CN" sz="18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Tx/>
              <a:buSzPct val="100000"/>
              <a:buFont typeface="Wingdings" panose="05000000000000000000" pitchFamily="2" charset="2"/>
              <a:buNone/>
              <a:defRPr/>
            </a:pPr>
            <a:r>
              <a:rPr kumimoji="0" lang="zh-CN" altLang="en-US" sz="1800" b="1" i="0" u="none" strike="noStrike" kern="0" cap="none" spc="0" normalizeH="0" baseline="0" noProof="0" dirty="0">
                <a:ln>
                  <a:noFill/>
                </a:ln>
                <a:solidFill>
                  <a:schemeClr val="tx1"/>
                </a:solidFill>
                <a:effectLst/>
                <a:uLnTx/>
                <a:uFillTx/>
                <a:latin typeface="+mn-lt"/>
                <a:ea typeface="+mn-ea"/>
              </a:rPr>
              <a:t>注意，此处的排序为</a:t>
            </a:r>
            <a:r>
              <a:rPr kumimoji="0" lang="zh-CN" altLang="en-US" sz="1800" b="1" i="0" u="none" strike="noStrike" kern="0" cap="none" spc="0" normalizeH="0" baseline="0" noProof="0" dirty="0">
                <a:ln>
                  <a:noFill/>
                </a:ln>
                <a:solidFill>
                  <a:srgbClr val="FF0000"/>
                </a:solidFill>
                <a:effectLst/>
                <a:uLnTx/>
                <a:uFillTx/>
                <a:latin typeface="+mn-lt"/>
                <a:ea typeface="+mn-ea"/>
              </a:rPr>
              <a:t>外排序</a:t>
            </a:r>
            <a:endParaRPr kumimoji="0" lang="zh-CN" altLang="en-US" sz="1800" b="1" i="0" u="none" strike="noStrike" kern="0" cap="none" spc="0" normalizeH="0" baseline="0" noProof="0" dirty="0">
              <a:ln>
                <a:noFill/>
              </a:ln>
              <a:solidFill>
                <a:srgbClr val="FF0000"/>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en-US" altLang="zh-CN" sz="1800" b="1" i="0" u="none" strike="noStrike" kern="0" cap="none" spc="0" normalizeH="0" baseline="0" noProof="0" dirty="0">
              <a:ln>
                <a:noFill/>
              </a:ln>
              <a:solidFill>
                <a:schemeClr val="tx1"/>
              </a:solidFill>
              <a:effectLst/>
              <a:uLnTx/>
              <a:uFillTx/>
              <a:latin typeface="+mn-lt"/>
              <a:ea typeface="+mn-ea"/>
              <a:cs typeface="+mn-cs"/>
            </a:endParaRPr>
          </a:p>
        </p:txBody>
      </p:sp>
      <p:pic>
        <p:nvPicPr>
          <p:cNvPr id="18435" name="图片 3"/>
          <p:cNvPicPr>
            <a:picLocks noChangeAspect="1"/>
          </p:cNvPicPr>
          <p:nvPr/>
        </p:nvPicPr>
        <p:blipFill>
          <a:blip r:embed="rId1"/>
          <a:stretch>
            <a:fillRect/>
          </a:stretch>
        </p:blipFill>
        <p:spPr>
          <a:xfrm>
            <a:off x="2141538" y="112713"/>
            <a:ext cx="7908925" cy="1016000"/>
          </a:xfrm>
          <a:prstGeom prst="rect">
            <a:avLst/>
          </a:prstGeom>
          <a:noFill/>
          <a:ln w="9525">
            <a:noFill/>
          </a:ln>
        </p:spPr>
      </p:pic>
      <p:pic>
        <p:nvPicPr>
          <p:cNvPr id="2" name="图片 1"/>
          <p:cNvPicPr>
            <a:picLocks noChangeAspect="1"/>
          </p:cNvPicPr>
          <p:nvPr/>
        </p:nvPicPr>
        <p:blipFill>
          <a:blip r:embed="rId2"/>
          <a:stretch>
            <a:fillRect/>
          </a:stretch>
        </p:blipFill>
        <p:spPr>
          <a:xfrm>
            <a:off x="8032750" y="3957638"/>
            <a:ext cx="2635250" cy="165576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0" end="4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charRg st="42" end="4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charRg st="48" end="6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charRg st="65" end="8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charRg st="84" end="11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charRg st="118" end="16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charRg st="167" end="23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charRg st="238" end="24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charRg st="248" end="26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charRg st="265" end="28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charRg st="284" end="30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charRg st="307" end="355"/>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charRg st="355" end="36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1"/>
          <p:cNvSpPr>
            <a:spLocks noGrp="1"/>
          </p:cNvSpPr>
          <p:nvPr>
            <p:ph type="title"/>
          </p:nvPr>
        </p:nvSpPr>
        <p:spPr/>
        <p:txBody>
          <a:bodyPr vert="horz" wrap="square" lIns="91440" tIns="45720" rIns="91440" bIns="45720" anchor="ctr" anchorCtr="0"/>
          <a:p>
            <a:r>
              <a:rPr lang="zh-CN" altLang="en-US" dirty="0"/>
              <a:t>如何根据统计信息来估计选择率</a:t>
            </a:r>
            <a:endParaRPr lang="zh-CN" altLang="en-US" dirty="0"/>
          </a:p>
        </p:txBody>
      </p:sp>
      <p:sp>
        <p:nvSpPr>
          <p:cNvPr id="3" name="内容占位符 2"/>
          <p:cNvSpPr>
            <a:spLocks noGrp="1"/>
          </p:cNvSpPr>
          <p:nvPr>
            <p:ph idx="1"/>
          </p:nvPr>
        </p:nvSpPr>
        <p:spPr>
          <a:xfrm>
            <a:off x="1703388" y="1116013"/>
            <a:ext cx="8229600" cy="4854575"/>
          </a:xfrm>
        </p:spPr>
        <p:txBody>
          <a:bodyPr vert="horz" wrap="square" lIns="91440" tIns="45720" rIns="91440" bIns="45720" anchor="t" anchorCtr="0"/>
          <a:p>
            <a:pPr marL="114300" indent="0">
              <a:lnSpc>
                <a:spcPct val="120000"/>
              </a:lnSpc>
              <a:buSzPct val="87000"/>
              <a:buNone/>
            </a:pPr>
            <a:r>
              <a:rPr lang="zh-CN" altLang="en-US" sz="2000" dirty="0"/>
              <a:t>（</a:t>
            </a:r>
            <a:r>
              <a:rPr lang="en-US" altLang="zh-CN" sz="2000" dirty="0"/>
              <a:t>1</a:t>
            </a:r>
            <a:r>
              <a:rPr lang="zh-CN" altLang="en-US" sz="2000" dirty="0"/>
              <a:t>）每个基本表的信息：元组数</a:t>
            </a:r>
            <a:r>
              <a:rPr lang="en-US" altLang="zh-CN" sz="2000" dirty="0"/>
              <a:t>(N)</a:t>
            </a:r>
            <a:r>
              <a:rPr lang="zh-CN" altLang="en-US" sz="2000" dirty="0"/>
              <a:t>；元组长度</a:t>
            </a:r>
            <a:r>
              <a:rPr lang="en-US" altLang="zh-CN" sz="2000" dirty="0"/>
              <a:t>(l)</a:t>
            </a:r>
            <a:r>
              <a:rPr lang="zh-CN" altLang="en-US" sz="2000" dirty="0"/>
              <a:t>；占用的块数</a:t>
            </a:r>
            <a:r>
              <a:rPr lang="en-US" altLang="zh-CN" sz="2000" dirty="0"/>
              <a:t>(B)</a:t>
            </a:r>
            <a:r>
              <a:rPr lang="zh-CN" altLang="en-US" sz="2000" dirty="0"/>
              <a:t>；占用的溢出块数</a:t>
            </a:r>
            <a:r>
              <a:rPr lang="en-US" altLang="zh-CN" sz="2000" dirty="0"/>
              <a:t>(BO)</a:t>
            </a:r>
            <a:endParaRPr lang="zh-CN" altLang="en-US" sz="2000" dirty="0"/>
          </a:p>
          <a:p>
            <a:pPr marL="114300" indent="0">
              <a:lnSpc>
                <a:spcPct val="120000"/>
              </a:lnSpc>
              <a:buSzPct val="87000"/>
              <a:buFont typeface="Arial" panose="020B0604020202020204" pitchFamily="34" charset="0"/>
              <a:buNone/>
            </a:pPr>
            <a:r>
              <a:rPr lang="zh-CN" altLang="en-US" sz="2000" dirty="0"/>
              <a:t>（</a:t>
            </a:r>
            <a:r>
              <a:rPr lang="en-US" altLang="zh-CN" sz="2000" dirty="0"/>
              <a:t>2</a:t>
            </a:r>
            <a:r>
              <a:rPr lang="zh-CN" altLang="en-US" sz="2000" dirty="0"/>
              <a:t>）对基表的每个列：</a:t>
            </a:r>
            <a:endParaRPr lang="en-US" altLang="zh-CN" sz="2000" dirty="0"/>
          </a:p>
          <a:p>
            <a:pPr lvl="1">
              <a:lnSpc>
                <a:spcPct val="120000"/>
              </a:lnSpc>
              <a:buFont typeface="Wingdings" panose="05000000000000000000" pitchFamily="2" charset="2"/>
              <a:buChar char="l"/>
            </a:pPr>
            <a:r>
              <a:rPr lang="zh-CN" altLang="en-US" sz="1800" dirty="0"/>
              <a:t>该列不同值的个数</a:t>
            </a:r>
            <a:r>
              <a:rPr lang="en-US" altLang="zh-CN" sz="1800" dirty="0"/>
              <a:t>(m)</a:t>
            </a:r>
            <a:r>
              <a:rPr lang="zh-CN" altLang="en-US" sz="1800" dirty="0"/>
              <a:t>，列最大值，最小值</a:t>
            </a:r>
            <a:endParaRPr lang="zh-CN" altLang="en-US" sz="1800" dirty="0"/>
          </a:p>
          <a:p>
            <a:pPr lvl="1">
              <a:lnSpc>
                <a:spcPct val="120000"/>
              </a:lnSpc>
              <a:buFont typeface="Wingdings" panose="05000000000000000000" pitchFamily="2" charset="2"/>
              <a:buChar char="l"/>
            </a:pPr>
            <a:r>
              <a:rPr lang="zh-CN" altLang="en-US" sz="2000" dirty="0"/>
              <a:t>是否有索引</a:t>
            </a:r>
            <a:r>
              <a:rPr lang="en-US" altLang="zh-CN" sz="2000" dirty="0"/>
              <a:t>(B+</a:t>
            </a:r>
            <a:r>
              <a:rPr lang="zh-CN" altLang="en-US" sz="2000" dirty="0"/>
              <a:t>树索引、</a:t>
            </a:r>
            <a:r>
              <a:rPr lang="en-US" altLang="zh-CN" sz="2000" dirty="0"/>
              <a:t>Hash</a:t>
            </a:r>
            <a:r>
              <a:rPr lang="zh-CN" altLang="en-US" sz="2000" dirty="0"/>
              <a:t>索引、聚集索引</a:t>
            </a:r>
            <a:r>
              <a:rPr lang="en-US" altLang="zh-CN" sz="2000" dirty="0"/>
              <a:t>)</a:t>
            </a:r>
            <a:endParaRPr lang="zh-CN" altLang="en-US" sz="2000" dirty="0"/>
          </a:p>
          <a:p>
            <a:pPr lvl="1">
              <a:lnSpc>
                <a:spcPct val="120000"/>
              </a:lnSpc>
              <a:buSzPct val="87000"/>
              <a:buFont typeface="Wingdings" panose="05000000000000000000" pitchFamily="2" charset="2"/>
              <a:buChar char="l"/>
            </a:pPr>
            <a:r>
              <a:rPr lang="zh-CN" altLang="en-US" sz="2000" dirty="0"/>
              <a:t>选择率</a:t>
            </a:r>
            <a:r>
              <a:rPr lang="en-US" altLang="zh-CN" sz="2000" dirty="0"/>
              <a:t>(f)</a:t>
            </a:r>
            <a:r>
              <a:rPr lang="zh-CN" altLang="en-US" sz="2000" dirty="0"/>
              <a:t>：</a:t>
            </a:r>
            <a:endParaRPr lang="zh-CN" altLang="en-US" sz="2000" dirty="0"/>
          </a:p>
          <a:p>
            <a:pPr lvl="2">
              <a:lnSpc>
                <a:spcPct val="120000"/>
              </a:lnSpc>
              <a:buFont typeface="Wingdings" panose="05000000000000000000" pitchFamily="2" charset="2"/>
              <a:buChar char="u"/>
            </a:pPr>
            <a:r>
              <a:rPr lang="zh-CN" altLang="en-US" sz="1800" dirty="0"/>
              <a:t>如果不同值的分布是均匀的，</a:t>
            </a:r>
            <a:endParaRPr lang="en-US" altLang="zh-CN" sz="1800" dirty="0"/>
          </a:p>
          <a:p>
            <a:pPr lvl="3">
              <a:lnSpc>
                <a:spcPct val="120000"/>
              </a:lnSpc>
              <a:buFont typeface="Wingdings" panose="05000000000000000000" pitchFamily="2" charset="2"/>
              <a:buChar char="u"/>
            </a:pPr>
            <a:r>
              <a:rPr lang="zh-CN" altLang="en-US" sz="1600" dirty="0"/>
              <a:t>点查询</a:t>
            </a:r>
            <a:r>
              <a:rPr lang="zh-CN" altLang="en-US" sz="1600" i="1" dirty="0"/>
              <a:t>： </a:t>
            </a:r>
            <a:r>
              <a:rPr lang="en-US" altLang="zh-CN" sz="1600" i="1" dirty="0"/>
              <a:t>f</a:t>
            </a:r>
            <a:r>
              <a:rPr lang="zh-CN" altLang="en-US" sz="1600" dirty="0"/>
              <a:t>＝</a:t>
            </a:r>
            <a:r>
              <a:rPr lang="en-US" altLang="zh-CN" sz="1600" dirty="0"/>
              <a:t>1/m</a:t>
            </a:r>
            <a:endParaRPr lang="en-US" altLang="zh-CN" sz="1600" dirty="0"/>
          </a:p>
          <a:p>
            <a:pPr lvl="3">
              <a:lnSpc>
                <a:spcPct val="120000"/>
              </a:lnSpc>
              <a:buFont typeface="Wingdings" panose="05000000000000000000" pitchFamily="2" charset="2"/>
              <a:buChar char="u"/>
            </a:pPr>
            <a:r>
              <a:rPr lang="zh-CN" altLang="en-US" sz="1600" dirty="0"/>
              <a:t>范围查询 </a:t>
            </a:r>
            <a:r>
              <a:rPr lang="en-US" altLang="zh-CN" sz="1600" dirty="0"/>
              <a:t>A&gt;a</a:t>
            </a:r>
            <a:r>
              <a:rPr lang="zh-CN" altLang="en-US" sz="1600" dirty="0"/>
              <a:t>： </a:t>
            </a:r>
            <a:endParaRPr lang="zh-CN" altLang="en-US" sz="1600" dirty="0"/>
          </a:p>
          <a:p>
            <a:pPr lvl="2">
              <a:lnSpc>
                <a:spcPct val="120000"/>
              </a:lnSpc>
              <a:buFont typeface="Wingdings" panose="05000000000000000000" pitchFamily="2" charset="2"/>
              <a:buChar char="u"/>
            </a:pPr>
            <a:r>
              <a:rPr lang="zh-CN" altLang="en-US" sz="1800" dirty="0"/>
              <a:t>如果不同值的分布不均匀，则要计算每个值的选择率，</a:t>
            </a:r>
            <a:r>
              <a:rPr lang="en-US" altLang="zh-CN" sz="1800" i="1" dirty="0"/>
              <a:t>f</a:t>
            </a:r>
            <a:r>
              <a:rPr lang="zh-CN" altLang="en-US" sz="1800" dirty="0"/>
              <a:t>＝具有该值的元组数</a:t>
            </a:r>
            <a:r>
              <a:rPr lang="en-US" altLang="zh-CN" sz="1800" dirty="0"/>
              <a:t>/N</a:t>
            </a:r>
            <a:endParaRPr lang="en-US" altLang="zh-CN" sz="1800" dirty="0"/>
          </a:p>
          <a:p>
            <a:pPr lvl="3">
              <a:lnSpc>
                <a:spcPct val="120000"/>
              </a:lnSpc>
              <a:buFont typeface="Wingdings" panose="05000000000000000000" pitchFamily="2" charset="2"/>
              <a:buChar char="u"/>
            </a:pPr>
            <a:r>
              <a:rPr lang="zh-CN" altLang="en-US" sz="1600" dirty="0"/>
              <a:t>直方图</a:t>
            </a:r>
            <a:endParaRPr lang="zh-CN" altLang="en-US" sz="1600" dirty="0"/>
          </a:p>
        </p:txBody>
      </p:sp>
      <p:sp>
        <p:nvSpPr>
          <p:cNvPr id="2" name="文本框 1"/>
          <p:cNvSpPr txBox="1"/>
          <p:nvPr/>
        </p:nvSpPr>
        <p:spPr>
          <a:xfrm>
            <a:off x="4802505" y="4316095"/>
            <a:ext cx="3331845" cy="337185"/>
          </a:xfrm>
          <a:prstGeom prst="rect">
            <a:avLst/>
          </a:prstGeom>
          <a:noFill/>
        </p:spPr>
        <p:txBody>
          <a:bodyPr wrap="square" rtlCol="0" anchor="t">
            <a:spAutoFit/>
          </a:bodyPr>
          <a:p>
            <a:r>
              <a:rPr lang="en-US" altLang="zh-CN" sz="1600" b="1" dirty="0">
                <a:sym typeface="+mn-ea"/>
              </a:rPr>
              <a:t>f=(</a:t>
            </a:r>
            <a:r>
              <a:rPr lang="zh-CN" altLang="en-US" sz="1600" b="1" dirty="0">
                <a:sym typeface="+mn-ea"/>
              </a:rPr>
              <a:t>最大值</a:t>
            </a:r>
            <a:r>
              <a:rPr lang="en-US" altLang="zh-CN" sz="1600" b="1" dirty="0">
                <a:sym typeface="+mn-ea"/>
              </a:rPr>
              <a:t>-a)/(</a:t>
            </a:r>
            <a:r>
              <a:rPr lang="zh-CN" altLang="en-US" sz="1600" b="1" dirty="0">
                <a:sym typeface="+mn-ea"/>
              </a:rPr>
              <a:t>最大值</a:t>
            </a:r>
            <a:r>
              <a:rPr lang="en-US" altLang="zh-CN" sz="1600" b="1" dirty="0">
                <a:sym typeface="+mn-ea"/>
              </a:rPr>
              <a:t>-</a:t>
            </a:r>
            <a:r>
              <a:rPr lang="zh-CN" altLang="en-US" sz="1600" b="1" dirty="0">
                <a:sym typeface="+mn-ea"/>
              </a:rPr>
              <a:t>最小值</a:t>
            </a:r>
            <a:r>
              <a:rPr lang="en-US" altLang="zh-CN" sz="1600" b="1" dirty="0">
                <a:sym typeface="+mn-ea"/>
              </a:rPr>
              <a:t>)</a:t>
            </a:r>
            <a:r>
              <a:rPr lang="zh-CN" altLang="en-US" sz="1600" b="1" dirty="0">
                <a:sym typeface="+mn-ea"/>
              </a:rPr>
              <a:t> </a:t>
            </a:r>
            <a:endParaRPr lang="zh-CN" altLang="en-US" sz="1600" b="1"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128" end="13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charRg st="139" end="17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标题 1"/>
          <p:cNvSpPr>
            <a:spLocks noGrp="1"/>
          </p:cNvSpPr>
          <p:nvPr>
            <p:ph type="title"/>
          </p:nvPr>
        </p:nvSpPr>
        <p:spPr/>
        <p:txBody>
          <a:bodyPr vert="horz" wrap="square" lIns="91440" tIns="45720" rIns="91440" bIns="45720" anchor="ctr" anchorCtr="0"/>
          <a:p>
            <a:r>
              <a:rPr lang="zh-CN" altLang="zh-CN" sz="3600" dirty="0">
                <a:sym typeface="宋体" panose="02010600030101010101" pitchFamily="2" charset="-122"/>
              </a:rPr>
              <a:t>第</a:t>
            </a:r>
            <a:r>
              <a:rPr lang="zh-CN" altLang="en-US" sz="3600" dirty="0">
                <a:sym typeface="宋体" panose="02010600030101010101" pitchFamily="2" charset="-122"/>
              </a:rPr>
              <a:t>十</a:t>
            </a:r>
            <a:r>
              <a:rPr lang="zh-CN" altLang="zh-CN" sz="3600" dirty="0">
                <a:sym typeface="宋体" panose="02010600030101010101" pitchFamily="2" charset="-122"/>
              </a:rPr>
              <a:t>章</a:t>
            </a:r>
            <a:r>
              <a:rPr lang="zh-CN" altLang="zh-CN" sz="3600" dirty="0"/>
              <a:t>  </a:t>
            </a:r>
            <a:r>
              <a:rPr lang="zh-CN" altLang="zh-CN" sz="3600" dirty="0">
                <a:sym typeface="宋体" panose="02010600030101010101" pitchFamily="2" charset="-122"/>
              </a:rPr>
              <a:t>关系</a:t>
            </a:r>
            <a:r>
              <a:rPr lang="zh-CN" altLang="en-US" sz="3600" dirty="0">
                <a:sym typeface="宋体" panose="02010600030101010101" pitchFamily="2" charset="-122"/>
              </a:rPr>
              <a:t>查询处理和查询</a:t>
            </a:r>
            <a:r>
              <a:rPr lang="zh-CN" altLang="zh-CN" sz="3600" dirty="0">
                <a:sym typeface="宋体" panose="02010600030101010101" pitchFamily="2" charset="-122"/>
              </a:rPr>
              <a:t>优化</a:t>
            </a:r>
            <a:endParaRPr lang="zh-CN" altLang="en-US" sz="3600" dirty="0"/>
          </a:p>
        </p:txBody>
      </p:sp>
      <p:sp>
        <p:nvSpPr>
          <p:cNvPr id="102403" name="内容占位符 2"/>
          <p:cNvSpPr>
            <a:spLocks noGrp="1"/>
          </p:cNvSpPr>
          <p:nvPr>
            <p:ph idx="1"/>
          </p:nvPr>
        </p:nvSpPr>
        <p:spPr>
          <a:xfrm>
            <a:off x="839788" y="1339850"/>
            <a:ext cx="10742612" cy="4854575"/>
          </a:xfrm>
        </p:spPr>
        <p:txBody>
          <a:bodyPr vert="horz" wrap="square" lIns="91440" tIns="45720" rIns="91440" bIns="45720" anchor="t" anchorCtr="0"/>
          <a:p>
            <a:pPr lvl="1" eaLnBrk="1" hangingPunct="1">
              <a:lnSpc>
                <a:spcPct val="140000"/>
              </a:lnSpc>
              <a:buNone/>
            </a:pPr>
            <a:r>
              <a:rPr lang="en-US" altLang="zh-CN" sz="2800" dirty="0"/>
              <a:t>10.1 </a:t>
            </a:r>
            <a:r>
              <a:rPr lang="zh-CN" altLang="en-US" sz="2800" dirty="0"/>
              <a:t>关系数据库系统的查询处理 </a:t>
            </a:r>
            <a:endParaRPr lang="zh-CN" altLang="en-US" sz="2800" dirty="0"/>
          </a:p>
          <a:p>
            <a:pPr lvl="1" eaLnBrk="1" hangingPunct="1">
              <a:lnSpc>
                <a:spcPct val="140000"/>
              </a:lnSpc>
              <a:buNone/>
            </a:pPr>
            <a:r>
              <a:rPr lang="en-US" altLang="zh-CN" sz="2800" dirty="0"/>
              <a:t>10.2 </a:t>
            </a:r>
            <a:r>
              <a:rPr lang="zh-CN" altLang="en-US" sz="2800" dirty="0"/>
              <a:t>关系数据库系统的查询优化 </a:t>
            </a:r>
            <a:endParaRPr lang="zh-CN" altLang="en-US" sz="2800" dirty="0"/>
          </a:p>
          <a:p>
            <a:pPr lvl="1" eaLnBrk="1" hangingPunct="1">
              <a:lnSpc>
                <a:spcPct val="140000"/>
              </a:lnSpc>
              <a:buNone/>
            </a:pPr>
            <a:r>
              <a:rPr lang="en-US" altLang="zh-CN" sz="2800" dirty="0"/>
              <a:t>10.3 </a:t>
            </a:r>
            <a:r>
              <a:rPr lang="zh-CN" altLang="en-US" sz="2800" dirty="0"/>
              <a:t>代数优化 </a:t>
            </a:r>
            <a:endParaRPr lang="zh-CN" altLang="en-US" sz="2800" dirty="0"/>
          </a:p>
          <a:p>
            <a:pPr lvl="1" eaLnBrk="1" hangingPunct="1">
              <a:lnSpc>
                <a:spcPct val="140000"/>
              </a:lnSpc>
              <a:buNone/>
            </a:pPr>
            <a:r>
              <a:rPr lang="en-US" altLang="zh-CN" sz="2800" dirty="0"/>
              <a:t>10.4 </a:t>
            </a:r>
            <a:r>
              <a:rPr lang="zh-CN" altLang="en-US" sz="2800" dirty="0"/>
              <a:t>物理优化 </a:t>
            </a:r>
            <a:endParaRPr lang="zh-CN" altLang="en-US" sz="2800" dirty="0"/>
          </a:p>
          <a:p>
            <a:pPr lvl="1" eaLnBrk="1" hangingPunct="1">
              <a:lnSpc>
                <a:spcPct val="140000"/>
              </a:lnSpc>
              <a:buNone/>
            </a:pPr>
            <a:r>
              <a:rPr lang="en-US" altLang="zh-CN" sz="2800" dirty="0">
                <a:solidFill>
                  <a:srgbClr val="0066FF"/>
                </a:solidFill>
              </a:rPr>
              <a:t>*10.5 </a:t>
            </a:r>
            <a:r>
              <a:rPr lang="zh-CN" altLang="en-US" sz="2800" dirty="0">
                <a:solidFill>
                  <a:srgbClr val="0066FF"/>
                </a:solidFill>
              </a:rPr>
              <a:t>查询计划的执行</a:t>
            </a:r>
            <a:endParaRPr lang="zh-CN" altLang="en-US" sz="2800" dirty="0">
              <a:solidFill>
                <a:srgbClr val="0066FF"/>
              </a:solidFill>
            </a:endParaRPr>
          </a:p>
          <a:p>
            <a:pPr lvl="1" eaLnBrk="1" hangingPunct="1">
              <a:lnSpc>
                <a:spcPct val="140000"/>
              </a:lnSpc>
              <a:buNone/>
            </a:pPr>
            <a:r>
              <a:rPr lang="en-US" altLang="zh-CN" sz="2800" dirty="0"/>
              <a:t>10.6 </a:t>
            </a:r>
            <a:r>
              <a:rPr lang="zh-CN" altLang="en-US" sz="2800" dirty="0"/>
              <a:t>小 结 </a:t>
            </a:r>
            <a:endParaRPr lang="zh-CN" altLang="en-US" sz="2800" dirty="0"/>
          </a:p>
          <a:p>
            <a:endParaRPr lang="zh-CN" alt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标题 1"/>
          <p:cNvSpPr>
            <a:spLocks noGrp="1"/>
          </p:cNvSpPr>
          <p:nvPr>
            <p:ph type="title"/>
          </p:nvPr>
        </p:nvSpPr>
        <p:spPr/>
        <p:txBody>
          <a:bodyPr vert="horz" wrap="square" lIns="91440" tIns="45720" rIns="91440" bIns="45720" anchor="ctr" anchorCtr="0"/>
          <a:p>
            <a:r>
              <a:rPr lang="zh-CN" altLang="en-US" sz="3600" dirty="0"/>
              <a:t>查询计划的执行（续）</a:t>
            </a:r>
            <a:endParaRPr lang="zh-CN" altLang="en-US" sz="3600" dirty="0"/>
          </a:p>
        </p:txBody>
      </p:sp>
      <p:sp>
        <p:nvSpPr>
          <p:cNvPr id="103427" name="内容占位符 2"/>
          <p:cNvSpPr>
            <a:spLocks noGrp="1"/>
          </p:cNvSpPr>
          <p:nvPr>
            <p:ph idx="1"/>
          </p:nvPr>
        </p:nvSpPr>
        <p:spPr>
          <a:xfrm>
            <a:off x="911225" y="1412875"/>
            <a:ext cx="10972800" cy="4854575"/>
          </a:xfrm>
        </p:spPr>
        <p:txBody>
          <a:bodyPr vert="horz" wrap="square" lIns="91440" tIns="45720" rIns="91440" bIns="45720" anchor="t" anchorCtr="0"/>
          <a:p>
            <a:pPr>
              <a:lnSpc>
                <a:spcPct val="120000"/>
              </a:lnSpc>
            </a:pPr>
            <a:r>
              <a:rPr lang="zh-CN" altLang="en-US" dirty="0"/>
              <a:t>查询计划的执行可以分为两种：</a:t>
            </a:r>
            <a:endParaRPr lang="en-US" altLang="zh-CN" dirty="0"/>
          </a:p>
          <a:p>
            <a:pPr lvl="1">
              <a:lnSpc>
                <a:spcPct val="120000"/>
              </a:lnSpc>
            </a:pPr>
            <a:r>
              <a:rPr lang="zh-CN" altLang="en-US" dirty="0"/>
              <a:t>自顶向下</a:t>
            </a:r>
            <a:endParaRPr lang="en-US" altLang="zh-CN" dirty="0"/>
          </a:p>
          <a:p>
            <a:pPr lvl="1">
              <a:lnSpc>
                <a:spcPct val="120000"/>
              </a:lnSpc>
            </a:pPr>
            <a:r>
              <a:rPr lang="zh-CN" altLang="en-US" dirty="0"/>
              <a:t>自底向上</a:t>
            </a:r>
            <a:endParaRPr lang="zh-CN" alt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标题 1"/>
          <p:cNvSpPr>
            <a:spLocks noGrp="1"/>
          </p:cNvSpPr>
          <p:nvPr>
            <p:ph type="title"/>
          </p:nvPr>
        </p:nvSpPr>
        <p:spPr/>
        <p:txBody>
          <a:bodyPr vert="horz" wrap="square" lIns="91440" tIns="45720" rIns="91440" bIns="45720" anchor="ctr" anchorCtr="0"/>
          <a:p>
            <a:r>
              <a:rPr lang="zh-CN" altLang="en-US" sz="3600" dirty="0"/>
              <a:t>查询计划的执行（续）</a:t>
            </a:r>
            <a:endParaRPr lang="zh-CN" altLang="en-US" sz="3600" dirty="0"/>
          </a:p>
        </p:txBody>
      </p:sp>
      <p:sp>
        <p:nvSpPr>
          <p:cNvPr id="104451" name="内容占位符 2"/>
          <p:cNvSpPr>
            <a:spLocks noGrp="1"/>
          </p:cNvSpPr>
          <p:nvPr>
            <p:ph idx="1"/>
          </p:nvPr>
        </p:nvSpPr>
        <p:spPr>
          <a:xfrm>
            <a:off x="911225" y="931863"/>
            <a:ext cx="10514013" cy="5286375"/>
          </a:xfrm>
        </p:spPr>
        <p:txBody>
          <a:bodyPr vert="horz" wrap="square" lIns="91440" tIns="45720" rIns="91440" bIns="45720" anchor="t" anchorCtr="0"/>
          <a:p>
            <a:pPr>
              <a:lnSpc>
                <a:spcPct val="120000"/>
              </a:lnSpc>
            </a:pPr>
            <a:r>
              <a:rPr lang="zh-CN" altLang="en-US" dirty="0"/>
              <a:t>自顶向下</a:t>
            </a:r>
            <a:endParaRPr lang="en-US" altLang="zh-CN" dirty="0"/>
          </a:p>
          <a:p>
            <a:pPr lvl="1">
              <a:lnSpc>
                <a:spcPct val="120000"/>
              </a:lnSpc>
            </a:pPr>
            <a:r>
              <a:rPr lang="zh-CN" altLang="en-US" dirty="0"/>
              <a:t>系统反复向查询计划顶端的操作符发出需要查询结果元组的请求，操作符收到请求后，就试图计算下一个（几个）元组并返回这些元组。</a:t>
            </a:r>
            <a:endParaRPr lang="en-US" altLang="zh-CN" dirty="0"/>
          </a:p>
          <a:p>
            <a:pPr lvl="1">
              <a:lnSpc>
                <a:spcPct val="120000"/>
              </a:lnSpc>
            </a:pPr>
            <a:r>
              <a:rPr lang="zh-CN" altLang="en-US" dirty="0"/>
              <a:t>在计算时，如果操作符的输入缓冲区为空，它就会向其孩子操作符发送需求元组的请求。</a:t>
            </a:r>
            <a:endParaRPr lang="en-US" altLang="zh-CN" dirty="0"/>
          </a:p>
          <a:p>
            <a:pPr lvl="1">
              <a:lnSpc>
                <a:spcPct val="120000"/>
              </a:lnSpc>
            </a:pPr>
            <a:r>
              <a:rPr lang="zh-CN" altLang="en-US" dirty="0"/>
              <a:t>这种需求元组的请求一直传到叶子节点，启动叶子操作符运行，并返回其父操作符一个（几个）元组。</a:t>
            </a:r>
            <a:endParaRPr lang="en-US" altLang="zh-CN" dirty="0"/>
          </a:p>
          <a:p>
            <a:pPr lvl="1">
              <a:lnSpc>
                <a:spcPct val="120000"/>
              </a:lnSpc>
            </a:pPr>
            <a:r>
              <a:rPr lang="zh-CN" altLang="en-US" dirty="0"/>
              <a:t>父操作符再计算自己的输入返回给上层操作符，直至顶端操作符。</a:t>
            </a:r>
            <a:endParaRPr lang="en-US" altLang="zh-CN" dirty="0"/>
          </a:p>
          <a:p>
            <a:pPr lvl="1">
              <a:lnSpc>
                <a:spcPct val="120000"/>
              </a:lnSpc>
            </a:pPr>
            <a:r>
              <a:rPr lang="zh-CN" altLang="en-US" dirty="0"/>
              <a:t>重复这一过程，直到处理完整个关系</a:t>
            </a:r>
            <a:endParaRPr lang="zh-CN" alt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标题 1"/>
          <p:cNvSpPr>
            <a:spLocks noGrp="1"/>
          </p:cNvSpPr>
          <p:nvPr>
            <p:ph type="title"/>
          </p:nvPr>
        </p:nvSpPr>
        <p:spPr/>
        <p:txBody>
          <a:bodyPr vert="horz" wrap="square" lIns="91440" tIns="45720" rIns="91440" bIns="45720" anchor="ctr" anchorCtr="0"/>
          <a:p>
            <a:r>
              <a:rPr lang="zh-CN" altLang="en-US" sz="3600" dirty="0"/>
              <a:t>查询计划的执行（续）</a:t>
            </a:r>
            <a:endParaRPr lang="zh-CN" altLang="en-US" sz="3600" dirty="0"/>
          </a:p>
        </p:txBody>
      </p:sp>
      <p:sp>
        <p:nvSpPr>
          <p:cNvPr id="105475" name="内容占位符 2"/>
          <p:cNvSpPr>
            <a:spLocks noGrp="1"/>
          </p:cNvSpPr>
          <p:nvPr>
            <p:ph idx="1"/>
          </p:nvPr>
        </p:nvSpPr>
        <p:spPr>
          <a:xfrm>
            <a:off x="1055688" y="1196975"/>
            <a:ext cx="9936162" cy="5095875"/>
          </a:xfrm>
        </p:spPr>
        <p:txBody>
          <a:bodyPr vert="horz" wrap="square" lIns="91440" tIns="45720" rIns="91440" bIns="45720" anchor="t" anchorCtr="0"/>
          <a:p>
            <a:pPr>
              <a:lnSpc>
                <a:spcPct val="120000"/>
              </a:lnSpc>
            </a:pPr>
            <a:r>
              <a:rPr lang="zh-CN" altLang="en-US" dirty="0"/>
              <a:t>自底向上</a:t>
            </a:r>
            <a:endParaRPr lang="en-US" altLang="zh-CN" dirty="0"/>
          </a:p>
          <a:p>
            <a:pPr lvl="1">
              <a:lnSpc>
                <a:spcPct val="120000"/>
              </a:lnSpc>
            </a:pPr>
            <a:r>
              <a:rPr lang="zh-CN" altLang="en-US" dirty="0"/>
              <a:t>查询计划从叶子节点开始执行，叶节点操作符不断地产生元组并将它们放入其输出缓冲区中，直到缓冲区填满为止，这时它必须等待其父操作符将元组从该缓冲区取走才能继续执行。</a:t>
            </a:r>
            <a:endParaRPr lang="en-US" altLang="zh-CN" dirty="0"/>
          </a:p>
          <a:p>
            <a:pPr lvl="1">
              <a:lnSpc>
                <a:spcPct val="120000"/>
              </a:lnSpc>
            </a:pPr>
            <a:r>
              <a:rPr lang="zh-CN" altLang="en-US" dirty="0"/>
              <a:t>然后其父节点操作符开始执行，利用下层的输入元组来产生它自己的输出元组，直到输出缓冲区满为止。</a:t>
            </a:r>
            <a:endParaRPr lang="en-US" altLang="zh-CN" dirty="0"/>
          </a:p>
          <a:p>
            <a:pPr lvl="1">
              <a:lnSpc>
                <a:spcPct val="120000"/>
              </a:lnSpc>
            </a:pPr>
            <a:r>
              <a:rPr lang="zh-CN" altLang="en-US" dirty="0"/>
              <a:t>这个过程不断重复，直到产生所有的输出元组。</a:t>
            </a:r>
            <a:endParaRPr lang="en-US" altLang="zh-CN"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标题 1"/>
          <p:cNvSpPr>
            <a:spLocks noGrp="1"/>
          </p:cNvSpPr>
          <p:nvPr>
            <p:ph type="title"/>
          </p:nvPr>
        </p:nvSpPr>
        <p:spPr/>
        <p:txBody>
          <a:bodyPr vert="horz" wrap="square" lIns="91440" tIns="45720" rIns="91440" bIns="45720" anchor="ctr" anchorCtr="0"/>
          <a:p>
            <a:r>
              <a:rPr lang="zh-CN" altLang="en-US" sz="3600" dirty="0"/>
              <a:t>查询计划的执行（续）</a:t>
            </a:r>
            <a:endParaRPr lang="zh-CN" altLang="en-US" sz="3600" dirty="0"/>
          </a:p>
        </p:txBody>
      </p:sp>
      <p:sp>
        <p:nvSpPr>
          <p:cNvPr id="106499" name="内容占位符 2"/>
          <p:cNvSpPr>
            <a:spLocks noGrp="1"/>
          </p:cNvSpPr>
          <p:nvPr>
            <p:ph idx="1"/>
          </p:nvPr>
        </p:nvSpPr>
        <p:spPr>
          <a:xfrm>
            <a:off x="839788" y="1339850"/>
            <a:ext cx="10972800" cy="4854575"/>
          </a:xfrm>
        </p:spPr>
        <p:txBody>
          <a:bodyPr vert="horz" wrap="square" lIns="91440" tIns="45720" rIns="91440" bIns="45720" anchor="t" anchorCtr="0"/>
          <a:p>
            <a:pPr>
              <a:lnSpc>
                <a:spcPct val="120000"/>
              </a:lnSpc>
            </a:pPr>
            <a:r>
              <a:rPr lang="zh-CN" altLang="en-US" dirty="0"/>
              <a:t>自顶向下的执行方式是一种被动的、需求驱动的执行方式。</a:t>
            </a:r>
            <a:endParaRPr lang="en-US" altLang="zh-CN" dirty="0"/>
          </a:p>
          <a:p>
            <a:pPr>
              <a:lnSpc>
                <a:spcPct val="120000"/>
              </a:lnSpc>
            </a:pPr>
            <a:r>
              <a:rPr lang="zh-CN" altLang="en-US" dirty="0"/>
              <a:t>自底向上的执行方式是一种主动的执行方式。</a:t>
            </a:r>
            <a:endParaRPr lang="en-US" altLang="zh-CN"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标题 1"/>
          <p:cNvSpPr>
            <a:spLocks noGrp="1"/>
          </p:cNvSpPr>
          <p:nvPr>
            <p:ph type="title"/>
          </p:nvPr>
        </p:nvSpPr>
        <p:spPr/>
        <p:txBody>
          <a:bodyPr vert="horz" wrap="square" lIns="91440" tIns="45720" rIns="91440" bIns="45720" anchor="ctr" anchorCtr="0"/>
          <a:p>
            <a:r>
              <a:rPr lang="zh-CN" altLang="zh-CN" sz="3600" dirty="0">
                <a:sym typeface="宋体" panose="02010600030101010101" pitchFamily="2" charset="-122"/>
              </a:rPr>
              <a:t>第</a:t>
            </a:r>
            <a:r>
              <a:rPr lang="zh-CN" altLang="en-US" sz="3600" dirty="0">
                <a:sym typeface="宋体" panose="02010600030101010101" pitchFamily="2" charset="-122"/>
              </a:rPr>
              <a:t>十</a:t>
            </a:r>
            <a:r>
              <a:rPr lang="zh-CN" altLang="zh-CN" sz="3600" dirty="0">
                <a:sym typeface="宋体" panose="02010600030101010101" pitchFamily="2" charset="-122"/>
              </a:rPr>
              <a:t>章</a:t>
            </a:r>
            <a:r>
              <a:rPr lang="zh-CN" altLang="zh-CN" sz="3600" dirty="0"/>
              <a:t>  </a:t>
            </a:r>
            <a:r>
              <a:rPr lang="zh-CN" altLang="zh-CN" sz="3600" dirty="0">
                <a:sym typeface="宋体" panose="02010600030101010101" pitchFamily="2" charset="-122"/>
              </a:rPr>
              <a:t>关系</a:t>
            </a:r>
            <a:r>
              <a:rPr lang="zh-CN" altLang="en-US" sz="3600" dirty="0">
                <a:sym typeface="宋体" panose="02010600030101010101" pitchFamily="2" charset="-122"/>
              </a:rPr>
              <a:t>查询处理和查询</a:t>
            </a:r>
            <a:r>
              <a:rPr lang="zh-CN" altLang="zh-CN" sz="3600" dirty="0">
                <a:sym typeface="宋体" panose="02010600030101010101" pitchFamily="2" charset="-122"/>
              </a:rPr>
              <a:t>优化</a:t>
            </a:r>
            <a:endParaRPr lang="zh-CN" altLang="en-US" sz="3600" dirty="0"/>
          </a:p>
        </p:txBody>
      </p:sp>
      <p:sp>
        <p:nvSpPr>
          <p:cNvPr id="107523" name="内容占位符 2"/>
          <p:cNvSpPr>
            <a:spLocks noGrp="1"/>
          </p:cNvSpPr>
          <p:nvPr>
            <p:ph idx="1"/>
          </p:nvPr>
        </p:nvSpPr>
        <p:spPr>
          <a:xfrm>
            <a:off x="839788" y="1330325"/>
            <a:ext cx="10972800" cy="4854575"/>
          </a:xfrm>
        </p:spPr>
        <p:txBody>
          <a:bodyPr vert="horz" wrap="square" lIns="91440" tIns="45720" rIns="91440" bIns="45720" anchor="t" anchorCtr="0"/>
          <a:p>
            <a:pPr lvl="1" eaLnBrk="1" hangingPunct="1">
              <a:lnSpc>
                <a:spcPct val="140000"/>
              </a:lnSpc>
              <a:buNone/>
            </a:pPr>
            <a:r>
              <a:rPr lang="en-US" altLang="zh-CN" sz="2800" dirty="0"/>
              <a:t>10.1 </a:t>
            </a:r>
            <a:r>
              <a:rPr lang="zh-CN" altLang="en-US" sz="2800" dirty="0"/>
              <a:t>关系数据库系统的查询处理 </a:t>
            </a:r>
            <a:endParaRPr lang="zh-CN" altLang="en-US" sz="2800" dirty="0"/>
          </a:p>
          <a:p>
            <a:pPr lvl="1" eaLnBrk="1" hangingPunct="1">
              <a:lnSpc>
                <a:spcPct val="140000"/>
              </a:lnSpc>
              <a:buNone/>
            </a:pPr>
            <a:r>
              <a:rPr lang="en-US" altLang="zh-CN" sz="2800" dirty="0"/>
              <a:t>10.2 </a:t>
            </a:r>
            <a:r>
              <a:rPr lang="zh-CN" altLang="en-US" sz="2800" dirty="0"/>
              <a:t>关系数据库系统的查询优化 </a:t>
            </a:r>
            <a:endParaRPr lang="zh-CN" altLang="en-US" sz="2800" dirty="0"/>
          </a:p>
          <a:p>
            <a:pPr lvl="1" eaLnBrk="1" hangingPunct="1">
              <a:lnSpc>
                <a:spcPct val="140000"/>
              </a:lnSpc>
              <a:buNone/>
            </a:pPr>
            <a:r>
              <a:rPr lang="en-US" altLang="zh-CN" sz="2800" dirty="0"/>
              <a:t>10.3 </a:t>
            </a:r>
            <a:r>
              <a:rPr lang="zh-CN" altLang="en-US" sz="2800" dirty="0"/>
              <a:t>代数优化 </a:t>
            </a:r>
            <a:endParaRPr lang="zh-CN" altLang="en-US" sz="2800" dirty="0"/>
          </a:p>
          <a:p>
            <a:pPr lvl="1" eaLnBrk="1" hangingPunct="1">
              <a:lnSpc>
                <a:spcPct val="140000"/>
              </a:lnSpc>
              <a:buNone/>
            </a:pPr>
            <a:r>
              <a:rPr lang="en-US" altLang="zh-CN" sz="2800" dirty="0"/>
              <a:t>10.4 </a:t>
            </a:r>
            <a:r>
              <a:rPr lang="zh-CN" altLang="en-US" sz="2800" dirty="0"/>
              <a:t>物理优化 </a:t>
            </a:r>
            <a:endParaRPr lang="zh-CN" altLang="en-US" sz="2800" dirty="0"/>
          </a:p>
          <a:p>
            <a:pPr lvl="1" eaLnBrk="1" hangingPunct="1">
              <a:lnSpc>
                <a:spcPct val="140000"/>
              </a:lnSpc>
              <a:buNone/>
            </a:pPr>
            <a:r>
              <a:rPr lang="en-US" altLang="zh-CN" sz="2800" dirty="0"/>
              <a:t>*10.5 </a:t>
            </a:r>
            <a:r>
              <a:rPr lang="zh-CN" altLang="en-US" sz="2800" dirty="0"/>
              <a:t>查询计划的执行</a:t>
            </a:r>
            <a:endParaRPr lang="zh-CN" altLang="en-US" sz="2800" dirty="0"/>
          </a:p>
          <a:p>
            <a:pPr lvl="1" eaLnBrk="1" hangingPunct="1">
              <a:lnSpc>
                <a:spcPct val="140000"/>
              </a:lnSpc>
              <a:buNone/>
            </a:pPr>
            <a:r>
              <a:rPr lang="en-US" altLang="zh-CN" sz="2800" dirty="0">
                <a:solidFill>
                  <a:srgbClr val="0066FF"/>
                </a:solidFill>
              </a:rPr>
              <a:t>10.6 </a:t>
            </a:r>
            <a:r>
              <a:rPr lang="zh-CN" altLang="en-US" sz="2800" dirty="0">
                <a:solidFill>
                  <a:srgbClr val="0066FF"/>
                </a:solidFill>
              </a:rPr>
              <a:t>小 结 </a:t>
            </a:r>
            <a:endParaRPr lang="zh-CN" altLang="en-US" sz="2800" dirty="0">
              <a:solidFill>
                <a:srgbClr val="0066FF"/>
              </a:solidFill>
            </a:endParaRPr>
          </a:p>
          <a:p>
            <a:endParaRPr lang="zh-CN" alt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标题 1"/>
          <p:cNvSpPr>
            <a:spLocks noGrp="1"/>
          </p:cNvSpPr>
          <p:nvPr>
            <p:ph type="title"/>
          </p:nvPr>
        </p:nvSpPr>
        <p:spPr/>
        <p:txBody>
          <a:bodyPr vert="horz" wrap="square" lIns="91440" tIns="45720" rIns="91440" bIns="45720" anchor="ctr" anchorCtr="0"/>
          <a:p>
            <a:r>
              <a:rPr lang="en-US" altLang="zh-CN" sz="3600" dirty="0"/>
              <a:t>10.6 </a:t>
            </a:r>
            <a:r>
              <a:rPr lang="zh-CN" altLang="en-US" sz="3600" dirty="0"/>
              <a:t>小  结</a:t>
            </a:r>
            <a:endParaRPr lang="zh-CN" altLang="en-US" sz="3600" dirty="0"/>
          </a:p>
        </p:txBody>
      </p:sp>
      <p:sp>
        <p:nvSpPr>
          <p:cNvPr id="108547" name="内容占位符 2"/>
          <p:cNvSpPr>
            <a:spLocks noGrp="1"/>
          </p:cNvSpPr>
          <p:nvPr>
            <p:ph idx="1"/>
          </p:nvPr>
        </p:nvSpPr>
        <p:spPr>
          <a:xfrm>
            <a:off x="1271588" y="1268413"/>
            <a:ext cx="8229600" cy="5095875"/>
          </a:xfrm>
        </p:spPr>
        <p:txBody>
          <a:bodyPr vert="horz" wrap="square" lIns="91440" tIns="45720" rIns="91440" bIns="45720" anchor="t" anchorCtr="0"/>
          <a:p>
            <a:pPr>
              <a:lnSpc>
                <a:spcPct val="120000"/>
              </a:lnSpc>
            </a:pPr>
            <a:r>
              <a:rPr lang="zh-CN" altLang="en-US" dirty="0"/>
              <a:t>查询处理是关系数据库管理系统的核心，查询优化技术是查询处理的关键技术 </a:t>
            </a:r>
            <a:endParaRPr lang="zh-CN" altLang="en-US" dirty="0"/>
          </a:p>
          <a:p>
            <a:pPr>
              <a:lnSpc>
                <a:spcPct val="120000"/>
              </a:lnSpc>
            </a:pPr>
            <a:r>
              <a:rPr lang="zh-CN" altLang="en-US" dirty="0"/>
              <a:t>本章主要内容</a:t>
            </a:r>
            <a:endParaRPr lang="en-US" altLang="zh-CN" dirty="0"/>
          </a:p>
          <a:p>
            <a:pPr lvl="1">
              <a:lnSpc>
                <a:spcPct val="120000"/>
              </a:lnSpc>
            </a:pPr>
            <a:r>
              <a:rPr lang="zh-CN" altLang="en-US" dirty="0"/>
              <a:t>查询处理过程</a:t>
            </a:r>
            <a:endParaRPr lang="en-US" altLang="zh-CN" dirty="0"/>
          </a:p>
          <a:p>
            <a:pPr lvl="1">
              <a:lnSpc>
                <a:spcPct val="120000"/>
              </a:lnSpc>
            </a:pPr>
            <a:r>
              <a:rPr lang="zh-CN" altLang="en-US" dirty="0"/>
              <a:t>查询优化</a:t>
            </a:r>
            <a:endParaRPr lang="en-US" altLang="zh-CN" dirty="0"/>
          </a:p>
          <a:p>
            <a:pPr lvl="2">
              <a:lnSpc>
                <a:spcPct val="120000"/>
              </a:lnSpc>
              <a:buSzPct val="87000"/>
              <a:buFont typeface="Wingdings" panose="05000000000000000000" pitchFamily="2" charset="2"/>
              <a:buChar char="l"/>
            </a:pPr>
            <a:r>
              <a:rPr lang="zh-CN" altLang="en-US" dirty="0"/>
              <a:t>代数优化</a:t>
            </a:r>
            <a:endParaRPr lang="en-US" altLang="zh-CN" dirty="0"/>
          </a:p>
          <a:p>
            <a:pPr lvl="2">
              <a:lnSpc>
                <a:spcPct val="120000"/>
              </a:lnSpc>
              <a:buSzPct val="87000"/>
              <a:buFont typeface="Wingdings" panose="05000000000000000000" pitchFamily="2" charset="2"/>
              <a:buChar char="l"/>
            </a:pPr>
            <a:r>
              <a:rPr lang="zh-CN" altLang="en-US" dirty="0"/>
              <a:t>物理优化</a:t>
            </a:r>
            <a:endParaRPr lang="en-US" altLang="zh-CN" dirty="0"/>
          </a:p>
          <a:p>
            <a:pPr lvl="1">
              <a:lnSpc>
                <a:spcPct val="120000"/>
              </a:lnSpc>
            </a:pPr>
            <a:r>
              <a:rPr lang="zh-CN" altLang="en-US" dirty="0"/>
              <a:t>查询执行</a:t>
            </a:r>
            <a:endParaRPr lang="zh-CN" altLang="en-US" dirty="0"/>
          </a:p>
          <a:p>
            <a:endParaRPr lang="zh-CN" altLang="en-US" dirty="0"/>
          </a:p>
        </p:txBody>
      </p:sp>
      <p:sp>
        <p:nvSpPr>
          <p:cNvPr id="4" name="圆角矩形标注 3"/>
          <p:cNvSpPr/>
          <p:nvPr/>
        </p:nvSpPr>
        <p:spPr>
          <a:xfrm>
            <a:off x="5303838" y="2276475"/>
            <a:ext cx="2016125" cy="1785938"/>
          </a:xfrm>
          <a:prstGeom prst="wedgeRoundRectCallout">
            <a:avLst>
              <a:gd name="adj1" fmla="val -117625"/>
              <a:gd name="adj2" fmla="val 35315"/>
              <a:gd name="adj3" fmla="val 16667"/>
            </a:avLst>
          </a:prstGeom>
          <a:gradFill rotWithShape="0">
            <a:gsLst>
              <a:gs pos="0">
                <a:srgbClr val="FFFFFF"/>
              </a:gs>
              <a:gs pos="100000">
                <a:srgbClr val="BBBBBB"/>
              </a:gs>
            </a:gsLst>
            <a:lin ang="5400000" scaled="1"/>
            <a:tileRect/>
          </a:gradFill>
          <a:ln w="25400" cap="flat" cmpd="sng">
            <a:solidFill>
              <a:schemeClr val="tx1"/>
            </a:solidFill>
            <a:prstDash val="solid"/>
            <a:round/>
            <a:headEnd type="none" w="med" len="med"/>
            <a:tailEnd type="none" w="med" len="med"/>
          </a:ln>
        </p:spPr>
        <p:txBody>
          <a:bodyPr wrap="none" tIns="72000"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spcBef>
                <a:spcPct val="0"/>
              </a:spcBef>
              <a:buSzTx/>
              <a:buFont typeface="Arial" panose="020B0604020202020204" pitchFamily="34" charset="0"/>
              <a:buNone/>
            </a:pPr>
            <a:r>
              <a:rPr lang="zh-CN" altLang="en-US" sz="2400" dirty="0"/>
              <a:t>查询分析</a:t>
            </a:r>
            <a:endParaRPr lang="en-US" altLang="zh-CN" sz="2400" dirty="0"/>
          </a:p>
          <a:p>
            <a:pPr marL="342900" lvl="0" indent="-342900" eaLnBrk="1" hangingPunct="1">
              <a:spcBef>
                <a:spcPct val="0"/>
              </a:spcBef>
              <a:buSzTx/>
              <a:buFont typeface="Arial" panose="020B0604020202020204" pitchFamily="34" charset="0"/>
              <a:buNone/>
            </a:pPr>
            <a:r>
              <a:rPr lang="zh-CN" altLang="en-US" sz="2400" dirty="0"/>
              <a:t>查询检查</a:t>
            </a:r>
            <a:endParaRPr lang="en-US" altLang="zh-CN" sz="2400" dirty="0"/>
          </a:p>
          <a:p>
            <a:pPr marL="342900" lvl="0" indent="-342900" eaLnBrk="1" hangingPunct="1">
              <a:spcBef>
                <a:spcPct val="0"/>
              </a:spcBef>
              <a:buSzTx/>
              <a:buFont typeface="Arial" panose="020B0604020202020204" pitchFamily="34" charset="0"/>
              <a:buNone/>
            </a:pPr>
            <a:r>
              <a:rPr lang="zh-CN" altLang="en-US" sz="2400" dirty="0"/>
              <a:t>查询优化</a:t>
            </a:r>
            <a:endParaRPr lang="en-US" altLang="zh-CN" sz="2400" dirty="0"/>
          </a:p>
          <a:p>
            <a:pPr marL="342900" lvl="0" indent="-342900" eaLnBrk="1" hangingPunct="1">
              <a:spcBef>
                <a:spcPct val="0"/>
              </a:spcBef>
              <a:buSzTx/>
              <a:buFont typeface="Arial" panose="020B0604020202020204" pitchFamily="34" charset="0"/>
              <a:buNone/>
            </a:pPr>
            <a:r>
              <a:rPr lang="zh-CN" altLang="en-US" sz="2400" dirty="0"/>
              <a:t>查询执行</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标题 1"/>
          <p:cNvSpPr>
            <a:spLocks noGrp="1"/>
          </p:cNvSpPr>
          <p:nvPr>
            <p:ph type="title"/>
          </p:nvPr>
        </p:nvSpPr>
        <p:spPr/>
        <p:txBody>
          <a:bodyPr vert="horz" wrap="square" lIns="91440" tIns="45720" rIns="91440" bIns="45720" anchor="ctr" anchorCtr="0"/>
          <a:p>
            <a:r>
              <a:rPr lang="en-US" altLang="zh-CN" sz="3600" dirty="0"/>
              <a:t>10.6 </a:t>
            </a:r>
            <a:r>
              <a:rPr lang="zh-CN" altLang="en-US" sz="3600" dirty="0"/>
              <a:t>小  结</a:t>
            </a:r>
            <a:endParaRPr lang="zh-CN" altLang="en-US" sz="3600" dirty="0"/>
          </a:p>
        </p:txBody>
      </p:sp>
      <p:sp>
        <p:nvSpPr>
          <p:cNvPr id="109571" name="内容占位符 2"/>
          <p:cNvSpPr>
            <a:spLocks noGrp="1"/>
          </p:cNvSpPr>
          <p:nvPr>
            <p:ph idx="1"/>
          </p:nvPr>
        </p:nvSpPr>
        <p:spPr>
          <a:xfrm>
            <a:off x="1416050" y="1341438"/>
            <a:ext cx="10080625" cy="5095875"/>
          </a:xfrm>
        </p:spPr>
        <p:txBody>
          <a:bodyPr vert="horz" wrap="square" lIns="91440" tIns="45720" rIns="91440" bIns="45720" anchor="t" anchorCtr="0"/>
          <a:p>
            <a:pPr>
              <a:lnSpc>
                <a:spcPct val="120000"/>
              </a:lnSpc>
            </a:pPr>
            <a:r>
              <a:rPr lang="zh-CN" altLang="en-US" dirty="0"/>
              <a:t>查询处理是关系数据库管理系统的核心，查询优化技术是查询处理的关键技术 </a:t>
            </a:r>
            <a:endParaRPr lang="zh-CN" altLang="en-US" dirty="0"/>
          </a:p>
          <a:p>
            <a:pPr>
              <a:lnSpc>
                <a:spcPct val="120000"/>
              </a:lnSpc>
            </a:pPr>
            <a:r>
              <a:rPr lang="zh-CN" altLang="en-US" dirty="0"/>
              <a:t>本章主要内容</a:t>
            </a:r>
            <a:endParaRPr lang="en-US" altLang="zh-CN" dirty="0"/>
          </a:p>
          <a:p>
            <a:pPr lvl="1">
              <a:lnSpc>
                <a:spcPct val="120000"/>
              </a:lnSpc>
            </a:pPr>
            <a:r>
              <a:rPr lang="zh-CN" altLang="en-US" dirty="0"/>
              <a:t>查询处理过程</a:t>
            </a:r>
            <a:endParaRPr lang="en-US" altLang="zh-CN" dirty="0"/>
          </a:p>
          <a:p>
            <a:pPr lvl="1">
              <a:lnSpc>
                <a:spcPct val="120000"/>
              </a:lnSpc>
            </a:pPr>
            <a:r>
              <a:rPr lang="zh-CN" altLang="en-US" dirty="0"/>
              <a:t>查询优化</a:t>
            </a:r>
            <a:endParaRPr lang="en-US" altLang="zh-CN" dirty="0"/>
          </a:p>
          <a:p>
            <a:pPr lvl="2">
              <a:lnSpc>
                <a:spcPct val="120000"/>
              </a:lnSpc>
              <a:buSzPct val="87000"/>
              <a:buFont typeface="Wingdings" panose="05000000000000000000" pitchFamily="2" charset="2"/>
              <a:buChar char="l"/>
            </a:pPr>
            <a:r>
              <a:rPr lang="zh-CN" altLang="en-US" dirty="0"/>
              <a:t>代数优化</a:t>
            </a:r>
            <a:endParaRPr lang="en-US" altLang="zh-CN" dirty="0"/>
          </a:p>
          <a:p>
            <a:pPr lvl="2">
              <a:lnSpc>
                <a:spcPct val="120000"/>
              </a:lnSpc>
              <a:buSzPct val="87000"/>
              <a:buFont typeface="Wingdings" panose="05000000000000000000" pitchFamily="2" charset="2"/>
              <a:buChar char="l"/>
            </a:pPr>
            <a:r>
              <a:rPr lang="zh-CN" altLang="en-US" dirty="0"/>
              <a:t>物理优化</a:t>
            </a:r>
            <a:endParaRPr lang="en-US" altLang="zh-CN" dirty="0"/>
          </a:p>
          <a:p>
            <a:pPr lvl="1">
              <a:lnSpc>
                <a:spcPct val="120000"/>
              </a:lnSpc>
            </a:pPr>
            <a:r>
              <a:rPr lang="zh-CN" altLang="en-US" dirty="0"/>
              <a:t>查询执行</a:t>
            </a:r>
            <a:endParaRPr lang="zh-CN" altLang="en-US" dirty="0"/>
          </a:p>
          <a:p>
            <a:endParaRPr lang="zh-CN" altLang="en-US" dirty="0"/>
          </a:p>
        </p:txBody>
      </p:sp>
      <p:sp>
        <p:nvSpPr>
          <p:cNvPr id="109572" name="圆角矩形标注 5"/>
          <p:cNvSpPr/>
          <p:nvPr/>
        </p:nvSpPr>
        <p:spPr>
          <a:xfrm>
            <a:off x="4816475" y="3603625"/>
            <a:ext cx="2359025" cy="428625"/>
          </a:xfrm>
          <a:prstGeom prst="wedgeRoundRectCallout">
            <a:avLst>
              <a:gd name="adj1" fmla="val -88056"/>
              <a:gd name="adj2" fmla="val 112167"/>
              <a:gd name="adj3" fmla="val 16667"/>
            </a:avLst>
          </a:prstGeom>
          <a:gradFill rotWithShape="0">
            <a:gsLst>
              <a:gs pos="0">
                <a:srgbClr val="FFFFFF"/>
              </a:gs>
              <a:gs pos="100000">
                <a:srgbClr val="BBBBBB"/>
              </a:gs>
            </a:gsLst>
            <a:lin ang="5400000" scaled="1"/>
            <a:tileRect/>
          </a:gradFill>
          <a:ln w="25400" cap="flat" cmpd="sng">
            <a:solidFill>
              <a:schemeClr val="tx1"/>
            </a:solidFill>
            <a:prstDash val="solid"/>
            <a:round/>
            <a:headEnd type="none" w="med" len="med"/>
            <a:tailEnd type="none" w="med" len="med"/>
          </a:ln>
        </p:spPr>
        <p:txBody>
          <a:bodyPr wrap="none" tIns="288000"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3" indent="-342900" eaLnBrk="1" hangingPunct="1">
              <a:spcBef>
                <a:spcPct val="0"/>
              </a:spcBef>
              <a:buNone/>
            </a:pPr>
            <a:r>
              <a:rPr lang="zh-CN" altLang="en-US" sz="2400" dirty="0"/>
              <a:t>启发式代数优化</a:t>
            </a:r>
            <a:endParaRPr lang="zh-CN" altLang="en-US" sz="2400" dirty="0"/>
          </a:p>
          <a:p>
            <a:pPr marL="342900" lvl="0" indent="-342900" eaLnBrk="1" hangingPunct="1">
              <a:spcBef>
                <a:spcPct val="0"/>
              </a:spcBef>
              <a:buSzTx/>
              <a:buFont typeface="Arial" panose="020B0604020202020204" pitchFamily="34" charset="0"/>
              <a:buNone/>
            </a:pPr>
            <a:endParaRPr lang="zh-CN" altLang="en-US" sz="1800" b="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标题 1"/>
          <p:cNvSpPr>
            <a:spLocks noGrp="1"/>
          </p:cNvSpPr>
          <p:nvPr>
            <p:ph type="title"/>
          </p:nvPr>
        </p:nvSpPr>
        <p:spPr/>
        <p:txBody>
          <a:bodyPr vert="horz" wrap="square" lIns="91440" tIns="45720" rIns="91440" bIns="45720" anchor="ctr" anchorCtr="0"/>
          <a:p>
            <a:r>
              <a:rPr lang="en-US" altLang="zh-CN" sz="3600" dirty="0"/>
              <a:t>10.6 </a:t>
            </a:r>
            <a:r>
              <a:rPr lang="zh-CN" altLang="en-US" sz="3600" dirty="0"/>
              <a:t>小  结</a:t>
            </a:r>
            <a:endParaRPr lang="zh-CN" altLang="en-US" sz="3600" dirty="0"/>
          </a:p>
        </p:txBody>
      </p:sp>
      <p:sp>
        <p:nvSpPr>
          <p:cNvPr id="110595" name="内容占位符 2"/>
          <p:cNvSpPr>
            <a:spLocks noGrp="1"/>
          </p:cNvSpPr>
          <p:nvPr>
            <p:ph idx="1"/>
          </p:nvPr>
        </p:nvSpPr>
        <p:spPr>
          <a:xfrm>
            <a:off x="1200150" y="1173163"/>
            <a:ext cx="9288463" cy="5095875"/>
          </a:xfrm>
        </p:spPr>
        <p:txBody>
          <a:bodyPr vert="horz" wrap="square" lIns="91440" tIns="45720" rIns="91440" bIns="45720" anchor="t" anchorCtr="0"/>
          <a:p>
            <a:pPr>
              <a:lnSpc>
                <a:spcPct val="120000"/>
              </a:lnSpc>
            </a:pPr>
            <a:r>
              <a:rPr lang="zh-CN" altLang="en-US" dirty="0"/>
              <a:t>查询处理是关系数据库管理系统的核心，查询优化技术是查询处理的关键技术 </a:t>
            </a:r>
            <a:endParaRPr lang="zh-CN" altLang="en-US" dirty="0"/>
          </a:p>
          <a:p>
            <a:pPr>
              <a:lnSpc>
                <a:spcPct val="120000"/>
              </a:lnSpc>
            </a:pPr>
            <a:r>
              <a:rPr lang="zh-CN" altLang="en-US" dirty="0"/>
              <a:t>本章主要内容</a:t>
            </a:r>
            <a:endParaRPr lang="en-US" altLang="zh-CN" dirty="0"/>
          </a:p>
          <a:p>
            <a:pPr lvl="1">
              <a:lnSpc>
                <a:spcPct val="120000"/>
              </a:lnSpc>
            </a:pPr>
            <a:r>
              <a:rPr lang="zh-CN" altLang="en-US" dirty="0"/>
              <a:t>查询处理过程</a:t>
            </a:r>
            <a:endParaRPr lang="en-US" altLang="zh-CN" dirty="0"/>
          </a:p>
          <a:p>
            <a:pPr lvl="1">
              <a:lnSpc>
                <a:spcPct val="120000"/>
              </a:lnSpc>
            </a:pPr>
            <a:r>
              <a:rPr lang="zh-CN" altLang="en-US" dirty="0"/>
              <a:t>查询优化</a:t>
            </a:r>
            <a:endParaRPr lang="en-US" altLang="zh-CN" dirty="0"/>
          </a:p>
          <a:p>
            <a:pPr lvl="2">
              <a:lnSpc>
                <a:spcPct val="120000"/>
              </a:lnSpc>
              <a:buSzPct val="87000"/>
              <a:buFont typeface="Wingdings" panose="05000000000000000000" pitchFamily="2" charset="2"/>
              <a:buChar char="l"/>
            </a:pPr>
            <a:r>
              <a:rPr lang="zh-CN" altLang="en-US" dirty="0"/>
              <a:t>代数优化</a:t>
            </a:r>
            <a:endParaRPr lang="en-US" altLang="zh-CN" dirty="0"/>
          </a:p>
          <a:p>
            <a:pPr lvl="2">
              <a:lnSpc>
                <a:spcPct val="120000"/>
              </a:lnSpc>
              <a:buSzPct val="87000"/>
              <a:buFont typeface="Wingdings" panose="05000000000000000000" pitchFamily="2" charset="2"/>
              <a:buChar char="l"/>
            </a:pPr>
            <a:r>
              <a:rPr lang="zh-CN" altLang="en-US" dirty="0"/>
              <a:t>物理优化</a:t>
            </a:r>
            <a:endParaRPr lang="en-US" altLang="zh-CN" dirty="0"/>
          </a:p>
          <a:p>
            <a:pPr lvl="1">
              <a:lnSpc>
                <a:spcPct val="120000"/>
              </a:lnSpc>
            </a:pPr>
            <a:r>
              <a:rPr lang="zh-CN" altLang="en-US" dirty="0"/>
              <a:t>查询执行</a:t>
            </a:r>
            <a:endParaRPr lang="zh-CN" altLang="en-US" dirty="0"/>
          </a:p>
          <a:p>
            <a:endParaRPr lang="zh-CN" altLang="en-US" dirty="0"/>
          </a:p>
        </p:txBody>
      </p:sp>
      <p:sp>
        <p:nvSpPr>
          <p:cNvPr id="6" name="圆角矩形标注 5"/>
          <p:cNvSpPr/>
          <p:nvPr/>
        </p:nvSpPr>
        <p:spPr bwMode="auto">
          <a:xfrm>
            <a:off x="4656138" y="3357563"/>
            <a:ext cx="3643313" cy="1000125"/>
          </a:xfrm>
          <a:prstGeom prst="wedgeRoundRectCallout">
            <a:avLst>
              <a:gd name="adj1" fmla="val -76729"/>
              <a:gd name="adj2" fmla="val 78718"/>
              <a:gd name="adj3" fmla="val 16667"/>
            </a:avLst>
          </a:prstGeom>
          <a:gradFill rotWithShape="0">
            <a:gsLst>
              <a:gs pos="0">
                <a:srgbClr val="FFFFFF"/>
              </a:gs>
              <a:gs pos="100000">
                <a:srgbClr val="FFFFFF">
                  <a:gamma/>
                  <a:shade val="73333"/>
                  <a:invGamma/>
                </a:srgbClr>
              </a:gs>
            </a:gsLst>
            <a:lin ang="5400000" scaled="1"/>
          </a:gradFill>
          <a:ln w="25400" cap="flat" cmpd="sng" algn="ctr">
            <a:solidFill>
              <a:schemeClr val="tx1"/>
            </a:solidFill>
            <a:prstDash val="solid"/>
            <a:round/>
            <a:headEnd type="none" w="med" len="med"/>
            <a:tailEnd type="none" w="med" len="med"/>
          </a:ln>
          <a:effectLst/>
        </p:spPr>
        <p:txBody>
          <a:bodyPr wrap="none" tIns="540000" anchor="ctr"/>
          <a:lstStyle/>
          <a:p>
            <a:pPr marL="0" marR="0" lvl="3"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基于规则的存取路径优化</a:t>
            </a:r>
            <a:endParaRPr kumimoji="0" lang="zh-CN" altLang="en-US" sz="24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3" indent="-34290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基于代价的优化</a:t>
            </a:r>
            <a:endParaRPr kumimoji="0" lang="zh-CN" altLang="en-US" sz="24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3" indent="-34290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标题 1"/>
          <p:cNvSpPr>
            <a:spLocks noGrp="1"/>
          </p:cNvSpPr>
          <p:nvPr>
            <p:ph type="title"/>
          </p:nvPr>
        </p:nvSpPr>
        <p:spPr/>
        <p:txBody>
          <a:bodyPr vert="horz" wrap="square" lIns="91440" tIns="45720" rIns="91440" bIns="45720" anchor="ctr" anchorCtr="0"/>
          <a:p>
            <a:r>
              <a:rPr lang="en-US" altLang="zh-CN" sz="3600" dirty="0"/>
              <a:t>10.6 </a:t>
            </a:r>
            <a:r>
              <a:rPr lang="zh-CN" altLang="en-US" sz="3600" dirty="0"/>
              <a:t>小  结</a:t>
            </a:r>
            <a:endParaRPr lang="zh-CN" altLang="en-US" sz="3600" dirty="0"/>
          </a:p>
        </p:txBody>
      </p:sp>
      <p:sp>
        <p:nvSpPr>
          <p:cNvPr id="111619" name="内容占位符 2"/>
          <p:cNvSpPr>
            <a:spLocks noGrp="1"/>
          </p:cNvSpPr>
          <p:nvPr>
            <p:ph idx="1"/>
          </p:nvPr>
        </p:nvSpPr>
        <p:spPr>
          <a:xfrm>
            <a:off x="1127125" y="1268413"/>
            <a:ext cx="10225088" cy="5095875"/>
          </a:xfrm>
        </p:spPr>
        <p:txBody>
          <a:bodyPr vert="horz" wrap="square" lIns="91440" tIns="45720" rIns="91440" bIns="45720" anchor="t" anchorCtr="0"/>
          <a:p>
            <a:pPr>
              <a:lnSpc>
                <a:spcPct val="120000"/>
              </a:lnSpc>
            </a:pPr>
            <a:r>
              <a:rPr lang="zh-CN" altLang="en-US" dirty="0"/>
              <a:t>查询处理是关系数据库管理系统的核心，查询优化技术是查询处理的关键技术 </a:t>
            </a:r>
            <a:endParaRPr lang="zh-CN" altLang="en-US" dirty="0"/>
          </a:p>
          <a:p>
            <a:pPr>
              <a:lnSpc>
                <a:spcPct val="120000"/>
              </a:lnSpc>
            </a:pPr>
            <a:r>
              <a:rPr lang="zh-CN" altLang="en-US" dirty="0"/>
              <a:t>本章主要内容</a:t>
            </a:r>
            <a:endParaRPr lang="en-US" altLang="zh-CN" dirty="0"/>
          </a:p>
          <a:p>
            <a:pPr lvl="1">
              <a:lnSpc>
                <a:spcPct val="120000"/>
              </a:lnSpc>
            </a:pPr>
            <a:r>
              <a:rPr lang="zh-CN" altLang="en-US" dirty="0"/>
              <a:t>查询处理过程</a:t>
            </a:r>
            <a:endParaRPr lang="en-US" altLang="zh-CN" dirty="0"/>
          </a:p>
          <a:p>
            <a:pPr lvl="1">
              <a:lnSpc>
                <a:spcPct val="120000"/>
              </a:lnSpc>
            </a:pPr>
            <a:r>
              <a:rPr lang="zh-CN" altLang="en-US" dirty="0"/>
              <a:t>查询优化</a:t>
            </a:r>
            <a:endParaRPr lang="en-US" altLang="zh-CN" dirty="0"/>
          </a:p>
          <a:p>
            <a:pPr lvl="2">
              <a:lnSpc>
                <a:spcPct val="120000"/>
              </a:lnSpc>
              <a:buSzPct val="87000"/>
              <a:buFont typeface="Wingdings" panose="05000000000000000000" pitchFamily="2" charset="2"/>
              <a:buChar char="l"/>
            </a:pPr>
            <a:r>
              <a:rPr lang="zh-CN" altLang="en-US" dirty="0"/>
              <a:t>代数优化</a:t>
            </a:r>
            <a:endParaRPr lang="en-US" altLang="zh-CN" dirty="0"/>
          </a:p>
          <a:p>
            <a:pPr lvl="2">
              <a:lnSpc>
                <a:spcPct val="120000"/>
              </a:lnSpc>
              <a:buSzPct val="87000"/>
              <a:buFont typeface="Wingdings" panose="05000000000000000000" pitchFamily="2" charset="2"/>
              <a:buChar char="l"/>
            </a:pPr>
            <a:r>
              <a:rPr lang="zh-CN" altLang="en-US" dirty="0"/>
              <a:t>物理优化</a:t>
            </a:r>
            <a:endParaRPr lang="en-US" altLang="zh-CN" dirty="0"/>
          </a:p>
          <a:p>
            <a:pPr lvl="1">
              <a:lnSpc>
                <a:spcPct val="120000"/>
              </a:lnSpc>
            </a:pPr>
            <a:r>
              <a:rPr lang="zh-CN" altLang="en-US" dirty="0"/>
              <a:t>查询执行</a:t>
            </a:r>
            <a:endParaRPr lang="zh-CN" altLang="en-US" dirty="0"/>
          </a:p>
          <a:p>
            <a:endParaRPr lang="zh-CN" altLang="en-US" dirty="0"/>
          </a:p>
        </p:txBody>
      </p:sp>
      <p:sp>
        <p:nvSpPr>
          <p:cNvPr id="111620" name="圆角矩形标注 5"/>
          <p:cNvSpPr/>
          <p:nvPr/>
        </p:nvSpPr>
        <p:spPr>
          <a:xfrm>
            <a:off x="4079875" y="3933825"/>
            <a:ext cx="2879725" cy="1000125"/>
          </a:xfrm>
          <a:prstGeom prst="wedgeRoundRectCallout">
            <a:avLst>
              <a:gd name="adj1" fmla="val -76727"/>
              <a:gd name="adj2" fmla="val 78718"/>
              <a:gd name="adj3" fmla="val 16667"/>
            </a:avLst>
          </a:prstGeom>
          <a:gradFill rotWithShape="0">
            <a:gsLst>
              <a:gs pos="0">
                <a:srgbClr val="FFFFFF"/>
              </a:gs>
              <a:gs pos="100000">
                <a:srgbClr val="BBBBBB"/>
              </a:gs>
            </a:gsLst>
            <a:lin ang="5400000" scaled="1"/>
            <a:tileRect/>
          </a:gradFill>
          <a:ln w="25400" cap="flat" cmpd="sng">
            <a:solidFill>
              <a:schemeClr val="tx1"/>
            </a:solidFill>
            <a:prstDash val="solid"/>
            <a:round/>
            <a:headEnd type="none" w="med" len="med"/>
            <a:tailEnd type="none" w="med" len="med"/>
          </a:ln>
        </p:spPr>
        <p:txBody>
          <a:bodyPr wrap="none" tIns="540000"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3" indent="-342900" eaLnBrk="1" hangingPunct="1">
              <a:spcBef>
                <a:spcPct val="0"/>
              </a:spcBef>
              <a:buNone/>
            </a:pPr>
            <a:r>
              <a:rPr lang="zh-CN" altLang="en-US" sz="2400" dirty="0"/>
              <a:t>自顶向下执行方式</a:t>
            </a:r>
            <a:endParaRPr lang="en-US" altLang="zh-CN" sz="2400" dirty="0"/>
          </a:p>
          <a:p>
            <a:pPr marL="342900" lvl="3" indent="-342900" eaLnBrk="1" hangingPunct="1">
              <a:spcBef>
                <a:spcPct val="0"/>
              </a:spcBef>
              <a:buNone/>
            </a:pPr>
            <a:r>
              <a:rPr lang="zh-CN" altLang="en-US" sz="2400" dirty="0"/>
              <a:t>自底向上执行方式</a:t>
            </a:r>
            <a:endParaRPr lang="zh-CN" altLang="en-US" sz="2400" dirty="0"/>
          </a:p>
          <a:p>
            <a:pPr marL="342900" lvl="0" indent="-342900" eaLnBrk="1" hangingPunct="1">
              <a:spcBef>
                <a:spcPct val="0"/>
              </a:spcBef>
              <a:buSzTx/>
              <a:buFont typeface="Arial" panose="020B0604020202020204" pitchFamily="34" charset="0"/>
              <a:buNone/>
            </a:pPr>
            <a:endParaRPr lang="zh-CN" altLang="en-US" sz="1800" b="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标题 1"/>
          <p:cNvSpPr>
            <a:spLocks noGrp="1"/>
          </p:cNvSpPr>
          <p:nvPr>
            <p:ph type="title"/>
          </p:nvPr>
        </p:nvSpPr>
        <p:spPr/>
        <p:txBody>
          <a:bodyPr vert="horz" wrap="square" lIns="91440" tIns="45720" rIns="91440" bIns="45720" anchor="ctr" anchorCtr="0"/>
          <a:p>
            <a:r>
              <a:rPr lang="zh-CN" altLang="zh-CN" sz="3600" dirty="0"/>
              <a:t>小结（续）</a:t>
            </a:r>
            <a:endParaRPr lang="zh-CN" altLang="en-US" sz="3600" dirty="0"/>
          </a:p>
        </p:txBody>
      </p:sp>
      <p:sp>
        <p:nvSpPr>
          <p:cNvPr id="112643" name="内容占位符 2"/>
          <p:cNvSpPr>
            <a:spLocks noGrp="1"/>
          </p:cNvSpPr>
          <p:nvPr>
            <p:ph idx="1"/>
          </p:nvPr>
        </p:nvSpPr>
        <p:spPr>
          <a:xfrm>
            <a:off x="550863" y="1412875"/>
            <a:ext cx="10972800" cy="4854575"/>
          </a:xfrm>
        </p:spPr>
        <p:txBody>
          <a:bodyPr vert="horz" wrap="square" lIns="91440" tIns="45720" rIns="91440" bIns="45720" anchor="t" anchorCtr="0"/>
          <a:p>
            <a:pPr>
              <a:lnSpc>
                <a:spcPct val="120000"/>
              </a:lnSpc>
            </a:pPr>
            <a:r>
              <a:rPr lang="zh-CN" altLang="en-US" dirty="0"/>
              <a:t>比较复杂的查询，尤其是涉及连接和嵌套的查询</a:t>
            </a:r>
            <a:endParaRPr lang="zh-CN" altLang="en-US" dirty="0"/>
          </a:p>
          <a:p>
            <a:pPr lvl="1">
              <a:lnSpc>
                <a:spcPct val="120000"/>
              </a:lnSpc>
            </a:pPr>
            <a:r>
              <a:rPr lang="zh-CN" altLang="en-US" dirty="0"/>
              <a:t>不要把优化的任务全部放在关系数据库管理系统上</a:t>
            </a:r>
            <a:endParaRPr lang="zh-CN" altLang="en-US" dirty="0"/>
          </a:p>
          <a:p>
            <a:pPr lvl="1">
              <a:lnSpc>
                <a:spcPct val="120000"/>
              </a:lnSpc>
            </a:pPr>
            <a:r>
              <a:rPr lang="zh-CN" altLang="en-US" dirty="0"/>
              <a:t>应该找出关系数据库管理系统的优化规律，以写出适合关系数据库管理系统自动优化的</a:t>
            </a:r>
            <a:r>
              <a:rPr lang="en-US" altLang="zh-CN" dirty="0"/>
              <a:t>SQL</a:t>
            </a:r>
            <a:r>
              <a:rPr lang="zh-CN" altLang="en-US" dirty="0"/>
              <a:t>语句 </a:t>
            </a:r>
            <a:endParaRPr lang="zh-CN" altLang="en-US" dirty="0"/>
          </a:p>
          <a:p>
            <a:pPr lvl="1">
              <a:lnSpc>
                <a:spcPct val="120000"/>
              </a:lnSpc>
            </a:pPr>
            <a:endParaRPr lang="zh-CN" altLang="en-US" dirty="0"/>
          </a:p>
          <a:p>
            <a:pPr>
              <a:lnSpc>
                <a:spcPct val="120000"/>
              </a:lnSpc>
            </a:pPr>
            <a:r>
              <a:rPr lang="zh-CN" altLang="en-US" dirty="0"/>
              <a:t>对于关系数据库管理系统不能优化的查询需要重写查询语句，进行手工调整以优化性能 </a:t>
            </a:r>
            <a:endParaRPr lang="zh-CN" altLang="en-US" dirty="0"/>
          </a:p>
        </p:txBody>
      </p:sp>
    </p:spTree>
  </p:cSld>
  <p:clrMapOvr>
    <a:masterClrMapping/>
  </p:clrMapOvr>
</p:sld>
</file>

<file path=ppt/tags/tag1.xml><?xml version="1.0" encoding="utf-8"?>
<p:tagLst xmlns:p="http://schemas.openxmlformats.org/presentationml/2006/main">
  <p:tag name="TIMING" val="|11|1.1|2.4|0.9|2.2|3.3|7.4|1.1|2.4|1.9|2|7.6|3.7|6.6|3.1|1.8|2.5|8.6|1.2|2|1.6|2.1|3.5|1.9|0.8|0.8|1.3|1.3|1|0.7|1.4|0.6|0.8|1.5|0.8|1.4|0.6|0.6|1.6|1.5|1.4|1.6|1|2.8"/>
</p:tagLst>
</file>

<file path=ppt/tags/tag2.xml><?xml version="1.0" encoding="utf-8"?>
<p:tagLst xmlns:p="http://schemas.openxmlformats.org/presentationml/2006/main">
  <p:tag name="TIMING" val="|15.5|13.6|1.7|3.8|1.2|1.9|4.1|5.8|1.4|8.7|4.8|6.3|7.3|5.1|7.8|7.5|2.2|2.9|2.2|1.2|2|1.3|1.4|1.8|1.1|1.1|1.9|1|2.1|1|2.4|2.2"/>
</p:tagLst>
</file>

<file path=ppt/tags/tag3.xml><?xml version="1.0" encoding="utf-8"?>
<p:tagLst xmlns:p="http://schemas.openxmlformats.org/presentationml/2006/main">
  <p:tag name="TIMING" val="|8.2|1|6.2|2.3|10.4|1|9.8|3.7|1.9|3.5|3.2|3.3|2|1.1|1.5|0.7|0.8"/>
</p:tagLst>
</file>

<file path=ppt/tags/tag4.xml><?xml version="1.0" encoding="utf-8"?>
<p:tagLst xmlns:p="http://schemas.openxmlformats.org/presentationml/2006/main">
  <p:tag name="TIMING" val="|9|2.6|5.3|11.4|1.5|2|4.8|10.1|6.3|3.3|6.2|2.2|14.4|1.1|3|1.2|2.2|0.7|0.9|0.9|0.8|0.6|0.7|0.7|1|0.7|0.7|0.6|0.7"/>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commondata" val="eyJoZGlkIjoiYzFiMmY5NjgwNzk1ZWQ4YjczNmJjOGRhMTg3Mzg1NjcifQ=="/>
</p:tagLst>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16435</Words>
  <Application>WPS 演示</Application>
  <PresentationFormat>宽屏</PresentationFormat>
  <Paragraphs>1868</Paragraphs>
  <Slides>126</Slides>
  <Notes>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37</vt:i4>
      </vt:variant>
      <vt:variant>
        <vt:lpstr>幻灯片标题</vt:lpstr>
      </vt:variant>
      <vt:variant>
        <vt:i4>126</vt:i4>
      </vt:variant>
    </vt:vector>
  </HeadingPairs>
  <TitlesOfParts>
    <vt:vector size="179" baseType="lpstr">
      <vt:lpstr>Arial</vt:lpstr>
      <vt:lpstr>宋体</vt:lpstr>
      <vt:lpstr>Wingdings</vt:lpstr>
      <vt:lpstr>Calibri</vt:lpstr>
      <vt:lpstr>Times New Roman</vt:lpstr>
      <vt:lpstr>黑体</vt:lpstr>
      <vt:lpstr>Times-Roman</vt:lpstr>
      <vt:lpstr>隶书</vt:lpstr>
      <vt:lpstr>微软雅黑</vt:lpstr>
      <vt:lpstr>Arial Unicode MS</vt:lpstr>
      <vt:lpstr>Wingdings</vt:lpstr>
      <vt:lpstr>楷体_GB2312</vt:lpstr>
      <vt:lpstr>新宋体</vt:lpstr>
      <vt:lpstr>楷体_GB2312</vt:lpstr>
      <vt:lpstr>华文楷体</vt:lpstr>
      <vt:lpstr>数据库系统概论</vt:lpstr>
      <vt:lpstr>Photoshop.Image.7</vt:lpstr>
      <vt:lpstr>Equation.3</vt:lpstr>
      <vt:lpstr>Equation.3</vt:lpstr>
      <vt:lpstr>Equation.3</vt:lpstr>
      <vt:lpstr>Equation.3</vt:lpstr>
      <vt:lpstr>Equation.3</vt:lpstr>
      <vt:lpstr>Equation.3</vt:lpstr>
      <vt:lpstr>Equation.3</vt:lpstr>
      <vt:lpstr>Equation.3</vt:lpstr>
      <vt:lpstr>Equation.3</vt:lpstr>
      <vt:lpstr>Equation.3</vt:lpstr>
      <vt:lpstr>Photoshop.Image.7</vt:lpstr>
      <vt:lpstr>Equation.3</vt:lpstr>
      <vt:lpstr>Equation.3</vt:lpstr>
      <vt:lpstr>Equation.3</vt:lpstr>
      <vt:lpstr>Equation.3</vt:lpstr>
      <vt:lpstr>Equation.3</vt:lpstr>
      <vt:lpstr>Equation.3</vt:lpstr>
      <vt:lpstr>Equation.3</vt:lpstr>
      <vt:lpstr>Equation.3</vt:lpstr>
      <vt:lpstr>Equation.3</vt:lpstr>
      <vt:lpstr>Equation.3</vt:lpstr>
      <vt:lpstr>Photoshop.Image.7</vt:lpstr>
      <vt:lpstr>Equation.3</vt:lpstr>
      <vt:lpstr>Equation.3</vt:lpstr>
      <vt:lpstr>Equation.3</vt:lpstr>
      <vt:lpstr>Equation.3</vt:lpstr>
      <vt:lpstr>Equation.3</vt:lpstr>
      <vt:lpstr>Equation.3</vt:lpstr>
      <vt:lpstr>Equation.3</vt:lpstr>
      <vt:lpstr>Equation.3</vt:lpstr>
      <vt:lpstr>Photoshop.Image.7</vt:lpstr>
      <vt:lpstr>Equation.3</vt:lpstr>
      <vt:lpstr>Equation.3</vt:lpstr>
      <vt:lpstr>Equation.3</vt:lpstr>
      <vt:lpstr>Equation.3</vt:lpstr>
      <vt:lpstr>Equation.3</vt:lpstr>
      <vt:lpstr>PowerPoint 演示文稿</vt:lpstr>
      <vt:lpstr>第十章  关系查询处理和查询优化</vt:lpstr>
      <vt:lpstr>关系查询处理和查询优化（续）</vt:lpstr>
      <vt:lpstr>10.1 关系数据库系统的查询处理</vt:lpstr>
      <vt:lpstr>10.1.1  查询处理步骤</vt:lpstr>
      <vt:lpstr>查询处理步骤（续）</vt:lpstr>
      <vt:lpstr> 1. 查询分析</vt:lpstr>
      <vt:lpstr> 2. 查询检查 </vt:lpstr>
      <vt:lpstr> 2. 查询检查 </vt:lpstr>
      <vt:lpstr> 3. 查询优化</vt:lpstr>
      <vt:lpstr> 4. 查询执行 </vt:lpstr>
      <vt:lpstr>10.1 关系数据库系统的查询处理</vt:lpstr>
      <vt:lpstr>10.1.2  实现查询操作的算法示例 </vt:lpstr>
      <vt:lpstr>1.选择操作的实现</vt:lpstr>
      <vt:lpstr>选择操作的实现（续） </vt:lpstr>
      <vt:lpstr>选择操作的实现（续） </vt:lpstr>
      <vt:lpstr>选择操作的实现（续）</vt:lpstr>
      <vt:lpstr>选择操作的实现（续）</vt:lpstr>
      <vt:lpstr>选择操作的实现（续）</vt:lpstr>
      <vt:lpstr>选择操作的实现（续）</vt:lpstr>
      <vt:lpstr>思考</vt:lpstr>
      <vt:lpstr>索引扫描算法的代价估算</vt:lpstr>
      <vt:lpstr>索引扫描算法的代价估算（续） </vt:lpstr>
      <vt:lpstr>2.连接操作的实现 </vt:lpstr>
      <vt:lpstr>连接操作的实现（续）</vt:lpstr>
      <vt:lpstr>连接操作的实现（续）</vt:lpstr>
      <vt:lpstr>连接操作的实现（续）</vt:lpstr>
      <vt:lpstr>连接操作的实现（续）</vt:lpstr>
      <vt:lpstr>连接操作的实现（续）</vt:lpstr>
      <vt:lpstr>连接操作的实现（续）</vt:lpstr>
      <vt:lpstr>连接操作的实现（续）</vt:lpstr>
      <vt:lpstr>连接操作的实现（续）</vt:lpstr>
      <vt:lpstr>嵌套循环实例</vt:lpstr>
      <vt:lpstr>嵌套循环连接</vt:lpstr>
      <vt:lpstr>排序合并实例</vt:lpstr>
      <vt:lpstr>排序－合并连接方法</vt:lpstr>
      <vt:lpstr>索引连接实现过程</vt:lpstr>
      <vt:lpstr>索引连接</vt:lpstr>
      <vt:lpstr>散列连接实现过程</vt:lpstr>
      <vt:lpstr>散列连接（Hash Join）</vt:lpstr>
      <vt:lpstr>第十章  关系查询处理和查询优化</vt:lpstr>
      <vt:lpstr>10.2 关系数据库系统的查询优化</vt:lpstr>
      <vt:lpstr>10.2 关系数据库系统的查询优化</vt:lpstr>
      <vt:lpstr>10.2.1 查询优化概述</vt:lpstr>
      <vt:lpstr>查询优化概述（续）</vt:lpstr>
      <vt:lpstr>查询优化概述</vt:lpstr>
      <vt:lpstr>查询优化概述（续）</vt:lpstr>
      <vt:lpstr>查询优化概述（续）</vt:lpstr>
      <vt:lpstr>查询优化概述（续）</vt:lpstr>
      <vt:lpstr>10.2 关系数据库系统的查询优化</vt:lpstr>
      <vt:lpstr>10.2.2 一个实例</vt:lpstr>
      <vt:lpstr>一个实例（续）</vt:lpstr>
      <vt:lpstr>一个实例（续）</vt:lpstr>
      <vt:lpstr>一个实例（续）</vt:lpstr>
      <vt:lpstr>一个实例（续）</vt:lpstr>
      <vt:lpstr>一个实例（续）</vt:lpstr>
      <vt:lpstr>一个实例（续）</vt:lpstr>
      <vt:lpstr>一个实例（续）</vt:lpstr>
      <vt:lpstr>一个实例（续）</vt:lpstr>
      <vt:lpstr>一个实例（续）</vt:lpstr>
      <vt:lpstr>一个实例（续）</vt:lpstr>
      <vt:lpstr>一个实例（续）</vt:lpstr>
      <vt:lpstr>一个实例（续）</vt:lpstr>
      <vt:lpstr>实例: 小结</vt:lpstr>
      <vt:lpstr>第十章  关系查询处理和查询优化</vt:lpstr>
      <vt:lpstr>10.3 代 数 优 化</vt:lpstr>
      <vt:lpstr>10.3.1  关系代数表达式等价变换规则 </vt:lpstr>
      <vt:lpstr>关系代数表达式等价变换规则（续）</vt:lpstr>
      <vt:lpstr>关系代数表达式等价变换规则（续）</vt:lpstr>
      <vt:lpstr>关系代数表达式等价变换规则（续）</vt:lpstr>
      <vt:lpstr>关系代数表达式等价变换规则（续）</vt:lpstr>
      <vt:lpstr>关系代数表达式等价变换规则（续）</vt:lpstr>
      <vt:lpstr>关系代数表达式等价变换规则（续）</vt:lpstr>
      <vt:lpstr>10.3 代 数 优 化</vt:lpstr>
      <vt:lpstr>10.3.2  查询树的启发式优化 </vt:lpstr>
      <vt:lpstr>查询树的启发式优化（续）</vt:lpstr>
      <vt:lpstr>查询树的启发式优化（续）</vt:lpstr>
      <vt:lpstr>查询树的启发式优化（续）</vt:lpstr>
      <vt:lpstr>查询树的启发式优化（续）</vt:lpstr>
      <vt:lpstr>查询树的启发式优化（续）</vt:lpstr>
      <vt:lpstr>查询树的启发式优化（续）</vt:lpstr>
      <vt:lpstr>查询树的启发式优化（续）</vt:lpstr>
      <vt:lpstr>查询树的启发式优化（续）</vt:lpstr>
      <vt:lpstr>PowerPoint 演示文稿</vt:lpstr>
      <vt:lpstr>PowerPoint 演示文稿</vt:lpstr>
      <vt:lpstr>PowerPoint 演示文稿</vt:lpstr>
      <vt:lpstr>第十章  关系查询处理和查询优化</vt:lpstr>
      <vt:lpstr>10.4 物理优化</vt:lpstr>
      <vt:lpstr>物理优化（续）</vt:lpstr>
      <vt:lpstr>物理优化（续）</vt:lpstr>
      <vt:lpstr>10.4 物理优化</vt:lpstr>
      <vt:lpstr>10.4.1  基于启发式规则的存取路径选择优化</vt:lpstr>
      <vt:lpstr>基于启发式规则的存取路径选择优化（续）</vt:lpstr>
      <vt:lpstr>基于启发式规则的存取路径选择优化（续）</vt:lpstr>
      <vt:lpstr>基于启发式规则的存取路径选择优化（续）</vt:lpstr>
      <vt:lpstr>基于启发式规则的存取路径选择优化（续）</vt:lpstr>
      <vt:lpstr>基于启发式规则的存取路径选择优化（续）</vt:lpstr>
      <vt:lpstr>基于启发式规则的存取路径选择优化（续）</vt:lpstr>
      <vt:lpstr>10.4 物理优化</vt:lpstr>
      <vt:lpstr>10.4.2  基于代价的优化 </vt:lpstr>
      <vt:lpstr>基于代价的优化（续）</vt:lpstr>
      <vt:lpstr>基于代价的优化（续）</vt:lpstr>
      <vt:lpstr>基于代价的优化（续）</vt:lpstr>
      <vt:lpstr>基于代价的优化（续）</vt:lpstr>
      <vt:lpstr>基于代价的优化（续）</vt:lpstr>
      <vt:lpstr>基于代价的优化（续）</vt:lpstr>
      <vt:lpstr>基于代价的优化（续）</vt:lpstr>
      <vt:lpstr>基于代价的优化（续）</vt:lpstr>
      <vt:lpstr>基于代价的优化（续）</vt:lpstr>
      <vt:lpstr>基于代价的优化（续）</vt:lpstr>
      <vt:lpstr>PowerPoint 演示文稿</vt:lpstr>
      <vt:lpstr>PowerPoint 演示文稿</vt:lpstr>
      <vt:lpstr>PowerPoint 演示文稿</vt:lpstr>
      <vt:lpstr>PowerPoint 演示文稿</vt:lpstr>
      <vt:lpstr>如何根据统计信息来估计选择率</vt:lpstr>
      <vt:lpstr>第十章  关系查询处理和查询优化</vt:lpstr>
      <vt:lpstr>查询计划的执行（续）</vt:lpstr>
      <vt:lpstr>查询计划的执行（续）</vt:lpstr>
      <vt:lpstr>查询计划的执行（续）</vt:lpstr>
      <vt:lpstr>查询计划的执行（续）</vt:lpstr>
      <vt:lpstr>第十章  关系查询处理和查询优化</vt:lpstr>
      <vt:lpstr>10.6 小  结</vt:lpstr>
      <vt:lpstr>10.6 小  结</vt:lpstr>
      <vt:lpstr>10.6 小  结</vt:lpstr>
      <vt:lpstr>10.6 小  结</vt:lpstr>
      <vt:lpstr>小结（续）</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陈晋川</cp:lastModifiedBy>
  <cp:revision>249</cp:revision>
  <dcterms:created xsi:type="dcterms:W3CDTF">2023-11-22T12:26:00Z</dcterms:created>
  <dcterms:modified xsi:type="dcterms:W3CDTF">2024-11-28T01:29:39Z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17AEC265A17E4D45AED16D88642ECC31_12</vt:lpwstr>
  </property>
  <property fmtid="{D5CDD505-2E9C-101B-9397-08002B2CF9AE}" pid="3" name="KSOProductBuildVer">
    <vt:lpwstr>2052-12.1.0.19302</vt:lpwstr>
  </property>
</Properties>
</file>