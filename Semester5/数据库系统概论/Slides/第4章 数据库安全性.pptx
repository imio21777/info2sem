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sldIdLst>
    <p:sldId id="1150" r:id="rId3"/>
    <p:sldId id="390" r:id="rId5"/>
    <p:sldId id="506" r:id="rId6"/>
    <p:sldId id="1261" r:id="rId7"/>
    <p:sldId id="513" r:id="rId8"/>
    <p:sldId id="391" r:id="rId9"/>
    <p:sldId id="474" r:id="rId10"/>
    <p:sldId id="392" r:id="rId11"/>
    <p:sldId id="517" r:id="rId12"/>
    <p:sldId id="514" r:id="rId13"/>
    <p:sldId id="515" r:id="rId14"/>
    <p:sldId id="516" r:id="rId15"/>
    <p:sldId id="394" r:id="rId16"/>
    <p:sldId id="482" r:id="rId17"/>
    <p:sldId id="518" r:id="rId18"/>
    <p:sldId id="399" r:id="rId19"/>
    <p:sldId id="398" r:id="rId20"/>
    <p:sldId id="397" r:id="rId21"/>
    <p:sldId id="519" r:id="rId22"/>
    <p:sldId id="509" r:id="rId23"/>
    <p:sldId id="403" r:id="rId24"/>
    <p:sldId id="1366" r:id="rId25"/>
    <p:sldId id="404" r:id="rId26"/>
    <p:sldId id="406" r:id="rId27"/>
    <p:sldId id="493" r:id="rId28"/>
    <p:sldId id="473" r:id="rId29"/>
    <p:sldId id="510" r:id="rId30"/>
    <p:sldId id="408" r:id="rId31"/>
    <p:sldId id="409" r:id="rId32"/>
    <p:sldId id="410" r:id="rId33"/>
    <p:sldId id="520" r:id="rId34"/>
    <p:sldId id="521" r:id="rId35"/>
    <p:sldId id="1367" r:id="rId36"/>
    <p:sldId id="1262" r:id="rId37"/>
    <p:sldId id="1464" r:id="rId38"/>
    <p:sldId id="1465" r:id="rId39"/>
    <p:sldId id="1466" r:id="rId40"/>
    <p:sldId id="411" r:id="rId41"/>
    <p:sldId id="412" r:id="rId42"/>
    <p:sldId id="413" r:id="rId43"/>
    <p:sldId id="505"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433" r:id="rId64"/>
    <p:sldId id="434" r:id="rId65"/>
    <p:sldId id="495" r:id="rId66"/>
    <p:sldId id="496" r:id="rId67"/>
    <p:sldId id="523" r:id="rId68"/>
    <p:sldId id="522" r:id="rId69"/>
    <p:sldId id="436" r:id="rId70"/>
    <p:sldId id="437" r:id="rId71"/>
    <p:sldId id="438" r:id="rId72"/>
    <p:sldId id="439" r:id="rId73"/>
    <p:sldId id="497" r:id="rId74"/>
    <p:sldId id="440" r:id="rId75"/>
    <p:sldId id="441" r:id="rId76"/>
    <p:sldId id="442" r:id="rId77"/>
    <p:sldId id="443" r:id="rId78"/>
    <p:sldId id="1369" r:id="rId79"/>
    <p:sldId id="1370" r:id="rId80"/>
    <p:sldId id="1371" r:id="rId81"/>
    <p:sldId id="1373" r:id="rId82"/>
    <p:sldId id="1374" r:id="rId83"/>
    <p:sldId id="1375" r:id="rId84"/>
    <p:sldId id="1376" r:id="rId85"/>
    <p:sldId id="1472" r:id="rId86"/>
    <p:sldId id="1474" r:id="rId87"/>
    <p:sldId id="1379" r:id="rId88"/>
    <p:sldId id="444" r:id="rId89"/>
    <p:sldId id="445" r:id="rId90"/>
    <p:sldId id="446" r:id="rId91"/>
    <p:sldId id="447" r:id="rId92"/>
    <p:sldId id="448" r:id="rId93"/>
    <p:sldId id="449" r:id="rId94"/>
    <p:sldId id="451" r:id="rId95"/>
    <p:sldId id="1467" r:id="rId96"/>
    <p:sldId id="452" r:id="rId97"/>
    <p:sldId id="453" r:id="rId98"/>
    <p:sldId id="454" r:id="rId99"/>
    <p:sldId id="455" r:id="rId100"/>
    <p:sldId id="456" r:id="rId101"/>
    <p:sldId id="457" r:id="rId102"/>
    <p:sldId id="458" r:id="rId103"/>
    <p:sldId id="498" r:id="rId104"/>
    <p:sldId id="459" r:id="rId105"/>
    <p:sldId id="499" r:id="rId106"/>
    <p:sldId id="460" r:id="rId107"/>
    <p:sldId id="461" r:id="rId108"/>
    <p:sldId id="462" r:id="rId109"/>
    <p:sldId id="524" r:id="rId110"/>
    <p:sldId id="463" r:id="rId111"/>
    <p:sldId id="464" r:id="rId112"/>
    <p:sldId id="500" r:id="rId113"/>
    <p:sldId id="465" r:id="rId114"/>
    <p:sldId id="466" r:id="rId115"/>
    <p:sldId id="501" r:id="rId116"/>
    <p:sldId id="503" r:id="rId117"/>
    <p:sldId id="525" r:id="rId118"/>
    <p:sldId id="1468" r:id="rId119"/>
    <p:sldId id="1473" r:id="rId120"/>
    <p:sldId id="467" r:id="rId121"/>
    <p:sldId id="468" r:id="rId122"/>
    <p:sldId id="1471" r:id="rId123"/>
    <p:sldId id="504" r:id="rId124"/>
    <p:sldId id="511" r:id="rId125"/>
    <p:sldId id="1469" r:id="rId126"/>
    <p:sldId id="1470" r:id="rId127"/>
    <p:sldId id="469" r:id="rId128"/>
    <p:sldId id="470" r:id="rId129"/>
    <p:sldId id="471" r:id="rId130"/>
    <p:sldId id="512" r:id="rId131"/>
  </p:sldIdLst>
  <p:sldSz cx="12192000" cy="6858000"/>
  <p:notesSz cx="6833870" cy="9979025"/>
  <p:custDataLst>
    <p:tags r:id="rId13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EED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71"/>
    <p:restoredTop sz="94692"/>
  </p:normalViewPr>
  <p:slideViewPr>
    <p:cSldViewPr snapToObjects="1" showGuides="1">
      <p:cViewPr varScale="1">
        <p:scale>
          <a:sx n="69" d="100"/>
          <a:sy n="69" d="100"/>
        </p:scale>
        <p:origin x="708" y="66"/>
      </p:cViewPr>
      <p:guideLst>
        <p:guide orient="horz" pos="2178"/>
        <p:guide pos="3840"/>
      </p:guideLst>
    </p:cSldViewPr>
  </p:slideViewPr>
  <p:notesTextViewPr>
    <p:cViewPr>
      <p:scale>
        <a:sx n="100" d="100"/>
        <a:sy n="100" d="100"/>
      </p:scale>
      <p:origin x="0" y="0"/>
    </p:cViewPr>
  </p:notesTextViewPr>
  <p:sorterViewPr>
    <p:cViewPr>
      <p:scale>
        <a:sx n="66" d="100"/>
        <a:sy n="66" d="100"/>
      </p:scale>
      <p:origin x="0" y="1038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5" Type="http://schemas.openxmlformats.org/officeDocument/2006/relationships/tags" Target="tags/tag20.xml"/><Relationship Id="rId134" Type="http://schemas.openxmlformats.org/officeDocument/2006/relationships/tableStyles" Target="tableStyles.xml"/><Relationship Id="rId133" Type="http://schemas.openxmlformats.org/officeDocument/2006/relationships/viewProps" Target="viewProps.xml"/><Relationship Id="rId132" Type="http://schemas.openxmlformats.org/officeDocument/2006/relationships/presProps" Target="presProps.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92A026D6-4D49-2747-9F77-FD7618AC3D02}" type="datetimeFigureOut">
              <a:rPr lang="zh-CN" altLang="en-US"/>
            </a:fld>
            <a:endParaRPr lang="en-US"/>
          </a:p>
        </p:txBody>
      </p:sp>
      <p:sp>
        <p:nvSpPr>
          <p:cNvPr id="3076"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buFont typeface="Arial" panose="020B0604020202020204" pitchFamily="34" charset="0"/>
              <a:buNone/>
              <a:defRPr sz="1200"/>
            </a:lvl1pPr>
          </a:lstStyle>
          <a:p>
            <a:pPr>
              <a:defRPr/>
            </a:pPr>
            <a:fld id="{057464AA-51A8-5F4D-A176-626D56EA0F06}"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a:xfrm>
            <a:off x="90488" y="747713"/>
            <a:ext cx="6651625" cy="3741737"/>
          </a:xfrm>
        </p:spPr>
      </p:sp>
      <p:sp>
        <p:nvSpPr>
          <p:cNvPr id="399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399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DCDD137-A1B1-EC48-BB22-F494700C573A}"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p:txBody>
          <a:bodyPr wrap="square" lIns="91440" tIns="45720" rIns="91440" bIns="45720" anchor="ctr" anchorCtr="0"/>
          <a:p>
            <a:pPr lvl="0"/>
            <a:r>
              <a:rPr lang="zh-CN" altLang="en-US" dirty="0"/>
              <a:t>丰富一些</a:t>
            </a:r>
            <a:endParaRPr lang="zh-CN" altLang="en-US" dirty="0"/>
          </a:p>
        </p:txBody>
      </p:sp>
      <p:sp>
        <p:nvSpPr>
          <p:cNvPr id="93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6513"/>
            <a:ext cx="2743200" cy="62309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36513"/>
            <a:ext cx="8026400" cy="62309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609600" y="-36513"/>
            <a:ext cx="109728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dirty="0"/>
              <a:t>单击此处编辑母版标题样式</a:t>
            </a:r>
            <a:endParaRPr lang="zh-CN" altLang="zh-CN" dirty="0"/>
          </a:p>
        </p:txBody>
      </p:sp>
      <p:sp>
        <p:nvSpPr>
          <p:cNvPr id="1030" name="Rectangle 3"/>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31" name="Text Box 7"/>
          <p:cNvSpPr txBox="1">
            <a:spLocks noChangeArrowheads="1"/>
          </p:cNvSpPr>
          <p:nvPr userDrawn="1"/>
        </p:nvSpPr>
        <p:spPr bwMode="auto">
          <a:xfrm>
            <a:off x="7346951" y="6454775"/>
            <a:ext cx="5471583" cy="338554"/>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en-US" altLang="zh-CN" sz="1600" b="1">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baseline="0">
          <a:solidFill>
            <a:schemeClr val="tx1"/>
          </a:solidFill>
          <a:latin typeface="Arial" panose="020B0604020202020204" pitchFamily="34" charset="0"/>
          <a:ea typeface="宋体" panose="02010600030101010101" pitchFamily="2" charset="-122"/>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baseline="0">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20000"/>
        </a:spcBef>
        <a:spcAft>
          <a:spcPct val="0"/>
        </a:spcAft>
        <a:buFont typeface="Wingdings" panose="05000000000000000000" pitchFamily="2" charset="2"/>
        <a:buChar char="l"/>
        <a:defRPr sz="2200" b="1" baseline="0">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baike.baidu.com/item/%E6%95%B0%E6%8D%AE%E5%BA%93%E6%9C%8D%E5%8A%A1%E5%99%A8/613818"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2" Type="http://schemas.openxmlformats.org/officeDocument/2006/relationships/slideLayout" Target="../slideLayouts/slideLayout7.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xml"/><Relationship Id="rId1" Type="http://schemas.openxmlformats.org/officeDocument/2006/relationships/tags" Target="../tags/tag1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4.jpeg"/><Relationship Id="rId2" Type="http://schemas.openxmlformats.org/officeDocument/2006/relationships/image" Target="../media/image15.png"/><Relationship Id="rId1" Type="http://schemas.openxmlformats.org/officeDocument/2006/relationships/image" Target="../media/image13.jpe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854269" y="4293096"/>
            <a:ext cx="8418195" cy="1508105"/>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第四章 数据库安全性</a:t>
            </a:r>
            <a:endPar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p:cNvSpPr>
            <a:spLocks noGrp="1" noChangeArrowheads="1"/>
          </p:cNvSpPr>
          <p:nvPr>
            <p:ph type="title" idx="4294967295"/>
          </p:nvPr>
        </p:nvSpPr>
        <p:spPr>
          <a:xfrm>
            <a:off x="1981200" y="-36513"/>
            <a:ext cx="8229600" cy="944563"/>
          </a:xfrm>
        </p:spPr>
        <p:txBody>
          <a:bodyPr/>
          <a:lstStyle/>
          <a:p>
            <a:pPr eaLnBrk="1" hangingPunct="1"/>
            <a:r>
              <a:rPr lang="en-US" altLang="zh-CN" sz="3600">
                <a:latin typeface="宋体" panose="02010600030101010101" pitchFamily="2" charset="-122"/>
              </a:rPr>
              <a:t> </a:t>
            </a:r>
            <a:r>
              <a:rPr lang="zh-CN" altLang="en-US" sz="3600">
                <a:latin typeface="宋体" panose="02010600030101010101" pitchFamily="2" charset="-122"/>
              </a:rPr>
              <a:t>数据库安全性</a:t>
            </a:r>
            <a:endParaRPr lang="zh-CN" altLang="en-US" sz="3600">
              <a:latin typeface="宋体" panose="02010600030101010101" pitchFamily="2" charset="-122"/>
            </a:endParaRPr>
          </a:p>
        </p:txBody>
      </p:sp>
      <p:sp>
        <p:nvSpPr>
          <p:cNvPr id="4100" name="Rectangle 3"/>
          <p:cNvSpPr>
            <a:spLocks noGrp="1" noChangeArrowheads="1"/>
          </p:cNvSpPr>
          <p:nvPr>
            <p:ph type="body" idx="4294967295"/>
          </p:nvPr>
        </p:nvSpPr>
        <p:spPr>
          <a:xfrm>
            <a:off x="551384" y="1405705"/>
            <a:ext cx="10873208" cy="3607471"/>
          </a:xfrm>
        </p:spPr>
        <p:txBody>
          <a:bodyPr/>
          <a:lstStyle/>
          <a:p>
            <a:pPr algn="just" eaLnBrk="1" hangingPunct="1">
              <a:lnSpc>
                <a:spcPct val="120000"/>
              </a:lnSpc>
              <a:spcBef>
                <a:spcPct val="0"/>
              </a:spcBef>
            </a:pPr>
            <a:r>
              <a:rPr lang="en-US" altLang="zh-CN" dirty="0"/>
              <a:t> </a:t>
            </a:r>
            <a:r>
              <a:rPr lang="zh-CN" altLang="en-US" dirty="0"/>
              <a:t>问题的提出</a:t>
            </a:r>
            <a:endParaRPr lang="zh-CN" altLang="en-US" dirty="0">
              <a:solidFill>
                <a:srgbClr val="0070C0"/>
              </a:solidFill>
            </a:endParaRPr>
          </a:p>
          <a:p>
            <a:pPr lvl="1" algn="just" eaLnBrk="1" hangingPunct="1">
              <a:lnSpc>
                <a:spcPct val="120000"/>
              </a:lnSpc>
              <a:spcBef>
                <a:spcPct val="0"/>
              </a:spcBef>
            </a:pPr>
            <a:r>
              <a:rPr lang="zh-CN" altLang="en-US" dirty="0"/>
              <a:t>数据库的一大特点是数据可以共享</a:t>
            </a:r>
            <a:endParaRPr lang="zh-CN" altLang="en-US" dirty="0"/>
          </a:p>
          <a:p>
            <a:pPr lvl="1" algn="just" eaLnBrk="1" hangingPunct="1">
              <a:lnSpc>
                <a:spcPct val="120000"/>
              </a:lnSpc>
              <a:spcBef>
                <a:spcPct val="0"/>
              </a:spcBef>
            </a:pPr>
            <a:r>
              <a:rPr lang="zh-CN" altLang="en-US" dirty="0"/>
              <a:t>数据共享必然带来数据库的安全性问题</a:t>
            </a:r>
            <a:endParaRPr lang="zh-CN" altLang="en-US" dirty="0"/>
          </a:p>
          <a:p>
            <a:pPr lvl="1" algn="just" eaLnBrk="1" hangingPunct="1">
              <a:lnSpc>
                <a:spcPct val="120000"/>
              </a:lnSpc>
              <a:spcBef>
                <a:spcPct val="0"/>
              </a:spcBef>
            </a:pPr>
            <a:r>
              <a:rPr lang="zh-CN" altLang="en-US" dirty="0"/>
              <a:t>数据库系统中的数据共享不能是无条件的共享</a:t>
            </a:r>
            <a:endParaRPr lang="zh-CN" altLang="en-US" dirty="0"/>
          </a:p>
          <a:p>
            <a:pPr lvl="1" algn="just" eaLnBrk="1" hangingPunct="1">
              <a:lnSpc>
                <a:spcPct val="120000"/>
              </a:lnSpc>
              <a:spcBef>
                <a:spcPct val="0"/>
              </a:spcBef>
              <a:buFont typeface="Wingdings" panose="05000000000000000000" pitchFamily="2" charset="2"/>
              <a:buNone/>
            </a:pPr>
            <a:r>
              <a:rPr lang="zh-CN" altLang="en-US" sz="2200" dirty="0"/>
              <a:t>例： 军事秘密、国家机密、新产品实验数据、市场需求分析、市场营销策略、销售计划、客户档案、医疗档案、银行储蓄数据</a:t>
            </a:r>
            <a:endParaRPr lang="zh-CN" altLang="en-US" sz="2200" dirty="0"/>
          </a:p>
          <a:p>
            <a:pPr lvl="1" algn="just" eaLnBrk="1" hangingPunct="1">
              <a:lnSpc>
                <a:spcPct val="80000"/>
              </a:lnSpc>
              <a:buFont typeface="Wingdings" panose="05000000000000000000" pitchFamily="2" charset="2"/>
              <a:buNone/>
            </a:pPr>
            <a:endParaRPr lang="en-US" altLang="zh-CN" sz="2800" dirty="0"/>
          </a:p>
        </p:txBody>
      </p:sp>
      <p:grpSp>
        <p:nvGrpSpPr>
          <p:cNvPr id="2" name="Group 5"/>
          <p:cNvGrpSpPr/>
          <p:nvPr/>
        </p:nvGrpSpPr>
        <p:grpSpPr bwMode="auto">
          <a:xfrm>
            <a:off x="1847850" y="4655890"/>
            <a:ext cx="4968875" cy="576263"/>
            <a:chOff x="0" y="0"/>
            <a:chExt cx="3130" cy="363"/>
          </a:xfrm>
        </p:grpSpPr>
        <p:sp>
          <p:nvSpPr>
            <p:cNvPr id="4102" name="AutoShape 4"/>
            <p:cNvSpPr>
              <a:spLocks noChangeArrowheads="1"/>
            </p:cNvSpPr>
            <p:nvPr/>
          </p:nvSpPr>
          <p:spPr bwMode="auto">
            <a:xfrm>
              <a:off x="0" y="90"/>
              <a:ext cx="1270" cy="227"/>
            </a:xfrm>
            <a:prstGeom prst="rightArrow">
              <a:avLst>
                <a:gd name="adj1" fmla="val 50000"/>
                <a:gd name="adj2" fmla="val 139868"/>
              </a:avLst>
            </a:prstGeom>
            <a:gradFill rotWithShape="0">
              <a:gsLst>
                <a:gs pos="0">
                  <a:srgbClr val="FFFFFF"/>
                </a:gs>
                <a:gs pos="100000">
                  <a:srgbClr val="BBBBBB"/>
                </a:gs>
              </a:gsLst>
              <a:lin ang="5400000" scaled="1"/>
            </a:gradFill>
            <a:ln w="25400">
              <a:solidFill>
                <a:schemeClr val="tx1"/>
              </a:solidFill>
              <a:miter lim="800000"/>
            </a:ln>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4103" name="Rectangle 5"/>
            <p:cNvSpPr>
              <a:spLocks noChangeArrowheads="1"/>
            </p:cNvSpPr>
            <p:nvPr/>
          </p:nvSpPr>
          <p:spPr bwMode="auto">
            <a:xfrm>
              <a:off x="1406" y="0"/>
              <a:ext cx="172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a:latin typeface="Times New Roman" panose="02020603050405020304" pitchFamily="18" charset="0"/>
                </a:rPr>
                <a:t>数据库安全性</a:t>
              </a:r>
              <a:endParaRPr lang="zh-CN" altLang="en-US">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 name="文本框 4"/>
          <p:cNvSpPr txBox="1"/>
          <p:nvPr/>
        </p:nvSpPr>
        <p:spPr>
          <a:xfrm>
            <a:off x="660872" y="1484784"/>
            <a:ext cx="11017224" cy="3240311"/>
          </a:xfrm>
          <a:prstGeom prst="rect">
            <a:avLst/>
          </a:prstGeom>
          <a:noFill/>
        </p:spPr>
        <p:txBody>
          <a:bodyPr wrap="square">
            <a:spAutoFit/>
          </a:bodyPr>
          <a:lstStyle/>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数据库的安全性问题和计算机系统的安全性紧密联系</a:t>
            </a:r>
            <a:endParaRPr lang="en-US" altLang="zh-CN" sz="2800" b="1" dirty="0">
              <a:latin typeface="+mn-lt"/>
              <a:ea typeface="+mn-ea"/>
            </a:endParaRP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计算机系统的安全性问题可分技术安全类、管理安全类和政策法律类三大类安全性问题。</a:t>
            </a:r>
            <a:endParaRPr lang="zh-CN" altLang="en-US" sz="2800" b="1" dirty="0">
              <a:latin typeface="+mn-lt"/>
              <a:ea typeface="+mn-ea"/>
            </a:endParaRP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本章讨论</a:t>
            </a:r>
            <a:r>
              <a:rPr lang="zh-CN" altLang="en-US" sz="2800" b="1" dirty="0">
                <a:solidFill>
                  <a:srgbClr val="C00000"/>
                </a:solidFill>
                <a:latin typeface="+mn-lt"/>
                <a:ea typeface="+mn-ea"/>
              </a:rPr>
              <a:t>数据库技术安全类</a:t>
            </a:r>
            <a:r>
              <a:rPr lang="zh-CN" altLang="en-US" sz="2800" b="1" dirty="0">
                <a:latin typeface="+mn-lt"/>
                <a:ea typeface="+mn-ea"/>
              </a:rPr>
              <a:t>问题，即从技术上如何保证数据库系统的安全性</a:t>
            </a:r>
            <a:endParaRPr lang="zh-CN" altLang="en-US" sz="2800" b="1" dirty="0">
              <a:latin typeface="+mn-lt"/>
              <a:ea typeface="+mn-ea"/>
            </a:endParaRPr>
          </a:p>
        </p:txBody>
      </p:sp>
      <p:sp>
        <p:nvSpPr>
          <p:cNvPr id="6" name="Rectangle 2"/>
          <p:cNvSpPr txBox="1">
            <a:spLocks noChangeArrowheads="1"/>
          </p:cNvSpPr>
          <p:nvPr/>
        </p:nvSpPr>
        <p:spPr bwMode="auto">
          <a:xfrm>
            <a:off x="1981200" y="-36513"/>
            <a:ext cx="8229600" cy="9445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en-US" altLang="zh-CN" sz="3600" kern="0" dirty="0">
                <a:latin typeface="宋体" panose="02010600030101010101" pitchFamily="2" charset="-122"/>
              </a:rPr>
              <a:t> </a:t>
            </a:r>
            <a:r>
              <a:rPr lang="zh-CN" altLang="en-US" sz="3600" kern="0" dirty="0">
                <a:latin typeface="宋体" panose="02010600030101010101" pitchFamily="2" charset="-122"/>
              </a:rPr>
              <a:t>本章导读</a:t>
            </a:r>
            <a:endParaRPr lang="zh-CN" altLang="en-US" sz="3600" kern="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2"/>
          <p:cNvSpPr txBox="1">
            <a:spLocks noChangeArrowheads="1"/>
          </p:cNvSpPr>
          <p:nvPr>
            <p:custDataLst>
              <p:tags r:id="rId1"/>
            </p:custDataLst>
          </p:nvPr>
        </p:nvSpPr>
        <p:spPr bwMode="auto">
          <a:xfrm>
            <a:off x="1981200" y="-36513"/>
            <a:ext cx="8229600" cy="9445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zh-CN" altLang="en-US" sz="2800" kern="0" dirty="0">
                <a:latin typeface="宋体" panose="02010600030101010101" pitchFamily="2" charset="-122"/>
              </a:rPr>
              <a:t>但是，我们应该了解与数据库安全相关的法律法规</a:t>
            </a:r>
            <a:endParaRPr lang="zh-CN" altLang="en-US" sz="2800" kern="0" dirty="0">
              <a:latin typeface="宋体" panose="02010600030101010101" pitchFamily="2" charset="-122"/>
            </a:endParaRPr>
          </a:p>
        </p:txBody>
      </p:sp>
      <p:sp>
        <p:nvSpPr>
          <p:cNvPr id="2" name="文本框 1"/>
          <p:cNvSpPr txBox="1"/>
          <p:nvPr/>
        </p:nvSpPr>
        <p:spPr>
          <a:xfrm>
            <a:off x="551180" y="1124585"/>
            <a:ext cx="9220835" cy="4523105"/>
          </a:xfrm>
          <a:prstGeom prst="rect">
            <a:avLst/>
          </a:prstGeom>
          <a:noFill/>
        </p:spPr>
        <p:txBody>
          <a:bodyPr wrap="square" rtlCol="0" anchor="t">
            <a:spAutoFit/>
          </a:bodyPr>
          <a:p>
            <a:pPr marL="285750" indent="-285750">
              <a:buFont typeface="Arial" panose="020B0604020202020204" pitchFamily="34" charset="0"/>
              <a:buChar char="•"/>
            </a:pPr>
            <a:r>
              <a:rPr lang="zh-CN" altLang="en-US"/>
              <a:t>《中华人民共和国刑法》第二百八十六条【破坏计算机信息系统罪】</a:t>
            </a:r>
            <a:endParaRPr lang="zh-CN" altLang="en-US"/>
          </a:p>
          <a:p>
            <a:pPr marL="742950" lvl="1" indent="-285750">
              <a:buFont typeface="Arial" panose="020B0604020202020204" pitchFamily="34" charset="0"/>
              <a:buChar char="•"/>
            </a:pPr>
            <a:r>
              <a:rPr lang="zh-CN" altLang="en-US"/>
              <a:t>经查，犯罪嫌疑人通过之前从网上学来的黑客技术，</a:t>
            </a:r>
            <a:r>
              <a:rPr lang="zh-CN" altLang="en-US">
                <a:solidFill>
                  <a:srgbClr val="C00000"/>
                </a:solidFill>
              </a:rPr>
              <a:t>进入公司交易后台</a:t>
            </a:r>
            <a:r>
              <a:rPr lang="zh-CN" altLang="en-US"/>
              <a:t>，将自己在该公司平台抢购到的商品价格</a:t>
            </a:r>
            <a:r>
              <a:rPr lang="zh-CN" altLang="en-US">
                <a:solidFill>
                  <a:srgbClr val="C00000"/>
                </a:solidFill>
              </a:rPr>
              <a:t>恶意篡改</a:t>
            </a:r>
            <a:r>
              <a:rPr lang="zh-CN" altLang="en-US"/>
              <a:t>，次日再高价出手转卖</a:t>
            </a:r>
            <a:endParaRPr lang="zh-CN" altLang="en-US"/>
          </a:p>
          <a:p>
            <a:pPr marL="742950" lvl="1" indent="-285750">
              <a:buFont typeface="Arial" panose="020B0604020202020204" pitchFamily="34" charset="0"/>
              <a:buChar char="•"/>
            </a:pPr>
            <a:r>
              <a:rPr lang="zh-CN" altLang="en-US"/>
              <a:t>被告人宿某某发现该公司的烟尘在线监测设备中烟尘排放数据超标，后通过</a:t>
            </a:r>
            <a:r>
              <a:rPr lang="zh-CN" altLang="en-US">
                <a:solidFill>
                  <a:srgbClr val="C00000"/>
                </a:solidFill>
              </a:rPr>
              <a:t>进入固定污染源烟气在线监测设备系统，修改颗粒物量程30余次</a:t>
            </a:r>
            <a:r>
              <a:rPr lang="zh-CN" altLang="en-US"/>
              <a:t>，致使固定污染源烟气在线监测设备不能真实反映颗粒物排放情况</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《中华人民共和国数据安全法》</a:t>
            </a:r>
            <a:endParaRPr lang="zh-CN" altLang="en-US"/>
          </a:p>
          <a:p>
            <a:pPr marL="742950" lvl="1" indent="-285750">
              <a:buFont typeface="Arial" panose="020B0604020202020204" pitchFamily="34" charset="0"/>
              <a:buChar char="•"/>
            </a:pPr>
            <a:r>
              <a:rPr lang="zh-CN" altLang="en-US"/>
              <a:t>该公司在没有依法建立数据安全管理制度和操作规程等数据保护措施的前提下，对存储的公民敏感信息数据未采取去标识化和加密保护</a:t>
            </a:r>
            <a:endParaRPr lang="zh-CN" altLang="en-US"/>
          </a:p>
          <a:p>
            <a:pPr marL="742950" lvl="1" indent="-285750">
              <a:buFont typeface="Arial" panose="020B0604020202020204" pitchFamily="34" charset="0"/>
              <a:buChar char="•"/>
            </a:pPr>
            <a:r>
              <a:rPr lang="zh-CN" altLang="en-US"/>
              <a:t>上海某信息科技公司接受一境外公司委托，采集了我国铁路信号数据，并在数据采集设备上为该境外公司开通了远程登录端口，方便境外公司获取对应的测试数据</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《中华人民共和国个人信息保护法》</a:t>
            </a:r>
            <a:endParaRPr lang="zh-CN" altLang="en-US"/>
          </a:p>
          <a:p>
            <a:pPr marL="742950" lvl="1" indent="-285750">
              <a:buFont typeface="Arial" panose="020B0604020202020204" pitchFamily="34" charset="0"/>
              <a:buChar char="•"/>
            </a:pPr>
            <a:r>
              <a:rPr lang="zh-CN" altLang="en-US"/>
              <a:t>通信店出售客户“手机号+验证码”牟利，判处拘役五个月，缓刑六个月，并处罚金8000元</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linds(horizontal)">
                                      <p:cBhvr>
                                        <p:cTn id="7" dur="500"/>
                                        <p:tgtEl>
                                          <p:spTgt spid="2">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blinds(horizontal)">
                                      <p:cBhvr>
                                        <p:cTn id="10" dur="500"/>
                                        <p:tgtEl>
                                          <p:spTgt spid="2">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blinds(horizontal)">
                                      <p:cBhvr>
                                        <p:cTn id="13" dur="500"/>
                                        <p:tgtEl>
                                          <p:spTgt spid="2">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xEl>
                                              <p:pRg st="8" end="8"/>
                                            </p:txEl>
                                          </p:spTgt>
                                        </p:tgtEl>
                                        <p:attrNameLst>
                                          <p:attrName>style.visibility</p:attrName>
                                        </p:attrNameLst>
                                      </p:cBhvr>
                                      <p:to>
                                        <p:strVal val="visible"/>
                                      </p:to>
                                    </p:set>
                                    <p:animEffect transition="in" filter="blinds(horizontal)">
                                      <p:cBhvr>
                                        <p:cTn id="18" dur="500"/>
                                        <p:tgtEl>
                                          <p:spTgt spid="2">
                                            <p:txEl>
                                              <p:pRg st="8" end="8"/>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animEffect transition="in" filter="blinds(horizontal)">
                                      <p:cBhvr>
                                        <p:cTn id="21"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计算机系统的三类安全性问题</a:t>
            </a:r>
            <a:endParaRPr lang="zh-CN" altLang="en-US" sz="4400" b="1" kern="0" dirty="0">
              <a:highlight>
                <a:srgbClr val="FFFF00"/>
              </a:highlight>
              <a:latin typeface="+mn-lt"/>
              <a:ea typeface="+mn-ea"/>
            </a:endParaRPr>
          </a:p>
        </p:txBody>
      </p:sp>
      <p:sp>
        <p:nvSpPr>
          <p:cNvPr id="9" name="文本框 8"/>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宋体" panose="02010600030101010101" pitchFamily="2" charset="-122"/>
                <a:ea typeface="+mj-ea"/>
                <a:cs typeface="+mj-cs"/>
              </a:rPr>
              <a:t>4.1 </a:t>
            </a:r>
            <a:endParaRPr lang="zh-CN" altLang="en-US" sz="3600" b="1" dirty="0">
              <a:solidFill>
                <a:schemeClr val="bg1"/>
              </a:solidFill>
              <a:latin typeface="宋体" panose="02010600030101010101" pitchFamily="2" charset="-122"/>
              <a:ea typeface="+mj-ea"/>
              <a:cs typeface="+mj-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71"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7172" name="Rectangle 3"/>
          <p:cNvSpPr>
            <a:spLocks noGrp="1" noChangeArrowheads="1"/>
          </p:cNvSpPr>
          <p:nvPr>
            <p:ph type="body" idx="4294967295"/>
          </p:nvPr>
        </p:nvSpPr>
        <p:spPr>
          <a:xfrm>
            <a:off x="1271464" y="1268760"/>
            <a:ext cx="6923087" cy="4495800"/>
          </a:xfrm>
        </p:spPr>
        <p:txBody>
          <a:bodyPr/>
          <a:lstStyle/>
          <a:p>
            <a:pPr marL="342900" lvl="1" indent="-342900" algn="just" eaLnBrk="1" hangingPunct="1">
              <a:lnSpc>
                <a:spcPct val="130000"/>
              </a:lnSpc>
              <a:buNone/>
              <a:defRPr/>
            </a:pPr>
            <a:r>
              <a:rPr lang="en-US" altLang="zh-CN" sz="2800" dirty="0">
                <a:solidFill>
                  <a:srgbClr val="0066FF"/>
                </a:solidFill>
                <a:cs typeface="+mn-cs"/>
              </a:rPr>
              <a:t>4.1  </a:t>
            </a:r>
            <a:r>
              <a:rPr lang="zh-CN" altLang="en-US" sz="2800" dirty="0">
                <a:solidFill>
                  <a:srgbClr val="0066FF"/>
                </a:solidFill>
                <a:cs typeface="+mn-cs"/>
              </a:rPr>
              <a:t>数据库安全性概述</a:t>
            </a:r>
            <a:endParaRPr lang="en-US" altLang="zh-CN" sz="2800" dirty="0">
              <a:solidFill>
                <a:srgbClr val="0066FF"/>
              </a:solidFill>
              <a:cs typeface="+mn-cs"/>
            </a:endParaRPr>
          </a:p>
          <a:p>
            <a:pPr algn="just" eaLnBrk="1" hangingPunct="1">
              <a:lnSpc>
                <a:spcPct val="130000"/>
              </a:lnSpc>
              <a:buFont typeface="Wingdings" panose="05000000000000000000" pitchFamily="2" charset="2"/>
              <a:buNone/>
              <a:defRPr/>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defRPr/>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defRPr/>
            </a:pPr>
            <a:r>
              <a:rPr lang="en-US" altLang="zh-CN" dirty="0"/>
              <a:t>4.4  </a:t>
            </a:r>
            <a:r>
              <a:rPr lang="zh-CN" altLang="en-US" dirty="0"/>
              <a:t>审计（</a:t>
            </a:r>
            <a:r>
              <a:rPr lang="en-US" altLang="zh-CN" dirty="0"/>
              <a:t>Audit</a:t>
            </a:r>
            <a:r>
              <a:rPr lang="zh-CN" altLang="en-US" dirty="0"/>
              <a:t>）</a:t>
            </a:r>
            <a:endParaRPr lang="zh-CN" altLang="en-US" dirty="0"/>
          </a:p>
          <a:p>
            <a:pPr algn="just" eaLnBrk="1" hangingPunct="1">
              <a:lnSpc>
                <a:spcPct val="130000"/>
              </a:lnSpc>
              <a:buFont typeface="Wingdings" panose="05000000000000000000" pitchFamily="2" charset="2"/>
              <a:buNone/>
              <a:defRPr/>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defRPr/>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defRPr/>
            </a:pPr>
            <a:r>
              <a:rPr lang="en-US" altLang="zh-CN" dirty="0"/>
              <a:t>4.7  </a:t>
            </a:r>
            <a:r>
              <a:rPr lang="zh-CN" altLang="en-US" dirty="0"/>
              <a:t>小结</a:t>
            </a:r>
            <a:endParaRPr lang="zh-CN" altLang="en-US" dirty="0"/>
          </a:p>
          <a:p>
            <a:pPr eaLnBrk="1" hangingPunct="1">
              <a:defRPr/>
            </a:pPr>
            <a:endParaRPr lang="en-US" altLang="zh-C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txBox="1">
            <a:spLocks noChangeArrowheads="1"/>
          </p:cNvSpPr>
          <p:nvPr/>
        </p:nvSpPr>
        <p:spPr bwMode="auto">
          <a:xfrm>
            <a:off x="479376" y="1268760"/>
            <a:ext cx="10009360" cy="4783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gn="just">
              <a:lnSpc>
                <a:spcPct val="140000"/>
              </a:lnSpc>
            </a:pPr>
            <a:r>
              <a:rPr lang="zh-CN" altLang="en-US" dirty="0"/>
              <a:t>数据库的安全性是指保护数据库以防止不合法使用所造成的数据泄露、</a:t>
            </a:r>
            <a:r>
              <a:rPr lang="zh-CN" altLang="en-US" dirty="0">
                <a:solidFill>
                  <a:srgbClr val="0070C0"/>
                </a:solidFill>
              </a:rPr>
              <a:t>篡改</a:t>
            </a:r>
            <a:r>
              <a:rPr lang="zh-CN" altLang="en-US" dirty="0"/>
              <a:t>或破坏 。</a:t>
            </a:r>
            <a:endParaRPr lang="en-US" altLang="zh-CN" dirty="0"/>
          </a:p>
          <a:p>
            <a:pPr lvl="1" algn="just">
              <a:lnSpc>
                <a:spcPct val="140000"/>
              </a:lnSpc>
            </a:pPr>
            <a:r>
              <a:rPr lang="zh-CN" altLang="en-US" dirty="0"/>
              <a:t>数据成为一个部门、企业、乃至一个国家的重要资源，</a:t>
            </a:r>
            <a:r>
              <a:rPr lang="zh-CN" altLang="en-US" dirty="0">
                <a:solidFill>
                  <a:srgbClr val="FF00FF"/>
                </a:solidFill>
              </a:rPr>
              <a:t>系统安全保护措施</a:t>
            </a:r>
            <a:r>
              <a:rPr lang="zh-CN" altLang="en-US" dirty="0"/>
              <a:t>是否有效是数据库系统主要的性能指标之一。</a:t>
            </a:r>
            <a:endParaRPr lang="zh-CN" altLang="en-US" dirty="0"/>
          </a:p>
          <a:p>
            <a:pPr lvl="1" algn="just">
              <a:lnSpc>
                <a:spcPct val="140000"/>
              </a:lnSpc>
            </a:pPr>
            <a:endParaRPr lang="en-US" altLang="zh-CN" dirty="0"/>
          </a:p>
        </p:txBody>
      </p:sp>
      <p:sp>
        <p:nvSpPr>
          <p:cNvPr id="6" name="Rectangle 2"/>
          <p:cNvSpPr txBox="1">
            <a:spLocks noChangeArrowheads="1"/>
          </p:cNvSpPr>
          <p:nvPr/>
        </p:nvSpPr>
        <p:spPr bwMode="auto">
          <a:xfrm>
            <a:off x="1981200" y="-36513"/>
            <a:ext cx="8229600" cy="11350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en-US" altLang="zh-CN" sz="3600" kern="0" dirty="0"/>
              <a:t>4.1  </a:t>
            </a:r>
            <a:r>
              <a:rPr lang="zh-CN" altLang="en-US" sz="3600" kern="0" dirty="0"/>
              <a:t>数据库安全性概述</a:t>
            </a:r>
            <a:endParaRPr lang="zh-CN" altLang="en-US" sz="3600" kern="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9" name="Rectangle 2"/>
          <p:cNvSpPr>
            <a:spLocks noGrp="1" noChangeArrowheads="1"/>
          </p:cNvSpPr>
          <p:nvPr>
            <p:ph type="title" idx="4294967295"/>
          </p:nvPr>
        </p:nvSpPr>
        <p:spPr/>
        <p:txBody>
          <a:bodyPr/>
          <a:lstStyle/>
          <a:p>
            <a:pPr eaLnBrk="1" hangingPunct="1"/>
            <a:r>
              <a:rPr lang="en-US" altLang="zh-CN" sz="3600"/>
              <a:t>4.1  </a:t>
            </a:r>
            <a:r>
              <a:rPr lang="zh-CN" altLang="en-US" sz="3600"/>
              <a:t>数据库安全性概述</a:t>
            </a:r>
            <a:endParaRPr lang="zh-CN" altLang="en-US" sz="3600"/>
          </a:p>
        </p:txBody>
      </p:sp>
      <p:sp>
        <p:nvSpPr>
          <p:cNvPr id="9220" name="Rectangle 3"/>
          <p:cNvSpPr>
            <a:spLocks noGrp="1" noChangeArrowheads="1"/>
          </p:cNvSpPr>
          <p:nvPr>
            <p:ph type="body" idx="4294967295"/>
          </p:nvPr>
        </p:nvSpPr>
        <p:spPr>
          <a:xfrm>
            <a:off x="1415480" y="1296267"/>
            <a:ext cx="8229600" cy="4854575"/>
          </a:xfrm>
        </p:spPr>
        <p:txBody>
          <a:bodyPr/>
          <a:lstStyle/>
          <a:p>
            <a:pPr eaLnBrk="1" hangingPunct="1">
              <a:lnSpc>
                <a:spcPct val="210000"/>
              </a:lnSpc>
              <a:buFont typeface="Wingdings" panose="05000000000000000000" pitchFamily="2" charset="2"/>
              <a:buNone/>
            </a:pPr>
            <a:r>
              <a:rPr lang="en-US" altLang="zh-CN" dirty="0">
                <a:solidFill>
                  <a:srgbClr val="00B050"/>
                </a:solidFill>
              </a:rPr>
              <a:t>4.1.1  </a:t>
            </a:r>
            <a:r>
              <a:rPr lang="zh-CN" altLang="en-US" dirty="0">
                <a:solidFill>
                  <a:srgbClr val="00B050"/>
                </a:solidFill>
              </a:rPr>
              <a:t>数据库的不安全因素</a:t>
            </a:r>
            <a:endParaRPr lang="zh-CN" altLang="en-US" dirty="0">
              <a:solidFill>
                <a:srgbClr val="00B050"/>
              </a:solidFill>
            </a:endParaRPr>
          </a:p>
          <a:p>
            <a:pPr eaLnBrk="1" hangingPunct="1">
              <a:lnSpc>
                <a:spcPct val="210000"/>
              </a:lnSpc>
              <a:buFont typeface="Wingdings" panose="05000000000000000000" pitchFamily="2" charset="2"/>
              <a:buNone/>
            </a:pPr>
            <a:r>
              <a:rPr lang="en-US" altLang="zh-CN" dirty="0"/>
              <a:t>4.1.2  </a:t>
            </a:r>
            <a:r>
              <a:rPr lang="zh-CN" altLang="en-US" dirty="0"/>
              <a:t>安全标准简介</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p:cNvSpPr>
            <a:spLocks noGrp="1" noChangeArrowheads="1"/>
          </p:cNvSpPr>
          <p:nvPr>
            <p:ph idx="4294967295"/>
          </p:nvPr>
        </p:nvSpPr>
        <p:spPr>
          <a:xfrm>
            <a:off x="609600" y="1268760"/>
            <a:ext cx="10310936" cy="5112991"/>
          </a:xfrm>
        </p:spPr>
        <p:txBody>
          <a:bodyPr/>
          <a:lstStyle/>
          <a:p>
            <a:pPr eaLnBrk="1" hangingPunct="1">
              <a:lnSpc>
                <a:spcPct val="150000"/>
              </a:lnSpc>
              <a:buFont typeface="Wingdings" panose="05000000000000000000" pitchFamily="2" charset="2"/>
              <a:buNone/>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数据库的安全性事故频发</a:t>
            </a:r>
            <a:r>
              <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40000"/>
              </a:lnSpc>
            </a:pP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年初，某国家一所医院的计算机系统遭到黑客入侵</a:t>
            </a:r>
            <a:r>
              <a:rPr lang="zh-CN" altLang="en-US" kern="1200" dirty="0">
                <a:latin typeface="Arial" panose="020B0604020202020204" pitchFamily="34" charset="0"/>
                <a:ea typeface="宋体" panose="02010600030101010101" pitchFamily="2" charset="-122"/>
                <a:cs typeface="+mn-cs"/>
              </a:rPr>
              <a:t>。</a:t>
            </a:r>
            <a:r>
              <a:rPr lang="zh-CN" altLang="zh-CN" kern="1200" dirty="0">
                <a:latin typeface="Arial" panose="020B0604020202020204" pitchFamily="34" charset="0"/>
                <a:ea typeface="宋体" panose="02010600030101010101" pitchFamily="2" charset="-122"/>
                <a:cs typeface="+mn-cs"/>
              </a:rPr>
              <a:t>黑客便将医院计算机系统中的数据进行加密，并向医院索要三百四十万美金来解锁这些数据信息。</a:t>
            </a:r>
            <a:endParaRPr lang="en-US" altLang="zh-CN" kern="1200" dirty="0">
              <a:latin typeface="Arial" panose="020B0604020202020204" pitchFamily="34" charset="0"/>
              <a:ea typeface="宋体" panose="02010600030101010101" pitchFamily="2" charset="-122"/>
              <a:cs typeface="+mn-cs"/>
            </a:endParaRPr>
          </a:p>
          <a:p>
            <a:pPr lvl="1" algn="just">
              <a:lnSpc>
                <a:spcPct val="140000"/>
              </a:lnSpc>
            </a:pPr>
            <a:r>
              <a:rPr lang="zh-CN" altLang="zh-CN" kern="1200" dirty="0">
                <a:latin typeface="Arial" panose="020B0604020202020204" pitchFamily="34" charset="0"/>
                <a:ea typeface="宋体" panose="02010600030101010101" pitchFamily="2" charset="-122"/>
                <a:cs typeface="+mn-cs"/>
              </a:rPr>
              <a:t>截止到</a:t>
            </a: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a:t>
            </a:r>
            <a:r>
              <a:rPr lang="en-US" altLang="zh-CN" kern="1200" dirty="0">
                <a:latin typeface="Arial" panose="020B0604020202020204" pitchFamily="34" charset="0"/>
                <a:ea typeface="宋体" panose="02010600030101010101" pitchFamily="2" charset="-122"/>
                <a:cs typeface="+mn-cs"/>
              </a:rPr>
              <a:t>12</a:t>
            </a:r>
            <a:r>
              <a:rPr lang="zh-CN" altLang="zh-CN" kern="1200" dirty="0">
                <a:latin typeface="Arial" panose="020B0604020202020204" pitchFamily="34" charset="0"/>
                <a:ea typeface="宋体" panose="02010600030101010101" pitchFamily="2" charset="-122"/>
                <a:cs typeface="+mn-cs"/>
              </a:rPr>
              <a:t>月，总共有数十家医院遭受过勒索软件的侵害</a:t>
            </a:r>
            <a:endParaRPr lang="en-US" altLang="zh-CN" kern="1200" dirty="0">
              <a:latin typeface="Arial" panose="020B0604020202020204" pitchFamily="34" charset="0"/>
              <a:ea typeface="宋体" panose="02010600030101010101" pitchFamily="2" charset="-122"/>
              <a:cs typeface="+mn-cs"/>
            </a:endParaRPr>
          </a:p>
        </p:txBody>
      </p:sp>
      <p:sp>
        <p:nvSpPr>
          <p:cNvPr id="10243"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10244" name="Rectangle 2"/>
          <p:cNvSpPr>
            <a:spLocks noGrp="1" noChangeArrowheads="1"/>
          </p:cNvSpPr>
          <p:nvPr>
            <p:ph type="title" idx="4294967295"/>
          </p:nvPr>
        </p:nvSpPr>
        <p:spPr/>
        <p:txBody>
          <a:bodyPr/>
          <a:lstStyle/>
          <a:p>
            <a:pPr eaLnBrk="1" hangingPunct="1"/>
            <a:r>
              <a:rPr lang="en-US" altLang="zh-CN" sz="3600"/>
              <a:t>4.1.1 </a:t>
            </a:r>
            <a:r>
              <a:rPr lang="zh-CN" altLang="en-US" sz="3600"/>
              <a:t>数据库的不安全因素</a:t>
            </a:r>
            <a:endParaRPr lang="zh-CN" altLang="en-US" sz="3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p:cNvSpPr>
            <a:spLocks noGrp="1" noChangeArrowheads="1"/>
          </p:cNvSpPr>
          <p:nvPr>
            <p:ph idx="4294967295"/>
          </p:nvPr>
        </p:nvSpPr>
        <p:spPr>
          <a:xfrm>
            <a:off x="767408" y="1312863"/>
            <a:ext cx="10585176" cy="4924449"/>
          </a:xfrm>
        </p:spPr>
        <p:txBody>
          <a:bodyPr/>
          <a:lstStyle/>
          <a:p>
            <a:pPr eaLnBrk="1" hangingPunct="1">
              <a:lnSpc>
                <a:spcPct val="150000"/>
              </a:lnSpc>
              <a:buFont typeface="Wingdings" panose="05000000000000000000" pitchFamily="2" charset="2"/>
              <a:buNone/>
            </a:pPr>
            <a:r>
              <a:rPr lang="en-US" altLang="zh-CN" dirty="0"/>
              <a:t>1.</a:t>
            </a:r>
            <a:r>
              <a:rPr lang="zh-CN" altLang="en-US" dirty="0"/>
              <a:t>非授权用户对数据库的恶意存取和破坏</a:t>
            </a:r>
            <a:endParaRPr lang="en-US" altLang="zh-CN" dirty="0"/>
          </a:p>
          <a:p>
            <a:pPr lvl="1" eaLnBrk="1" hangingPunct="1">
              <a:lnSpc>
                <a:spcPct val="150000"/>
              </a:lnSpc>
            </a:pPr>
            <a:r>
              <a:rPr lang="zh-CN" altLang="zh-CN" dirty="0"/>
              <a:t>一些黑客（</a:t>
            </a:r>
            <a:r>
              <a:rPr lang="en-US" altLang="zh-CN" dirty="0"/>
              <a:t>hacker</a:t>
            </a:r>
            <a:r>
              <a:rPr lang="zh-CN" altLang="zh-CN" dirty="0"/>
              <a:t>）和犯罪分子在用户存取数据库时猎取用户名和用户口令，然后假冒合法用户偷取、修改甚至破坏用户数据。</a:t>
            </a:r>
            <a:endParaRPr lang="en-US" altLang="zh-CN" dirty="0"/>
          </a:p>
          <a:p>
            <a:pPr lvl="1" eaLnBrk="1" hangingPunct="1">
              <a:lnSpc>
                <a:spcPct val="150000"/>
              </a:lnSpc>
              <a:defRPr/>
            </a:pPr>
            <a:r>
              <a:rPr lang="zh-CN" altLang="en-US" dirty="0"/>
              <a:t>有的黑客还故意锁定并修改数据，进行勒索和破坏等犯罪活动</a:t>
            </a:r>
            <a:endParaRPr lang="en-US" altLang="zh-CN" dirty="0"/>
          </a:p>
          <a:p>
            <a:pPr lvl="1" eaLnBrk="1" hangingPunct="1">
              <a:lnSpc>
                <a:spcPct val="150000"/>
              </a:lnSpc>
              <a:defRPr/>
            </a:pPr>
            <a:r>
              <a:rPr lang="zh-CN" altLang="zh-CN" dirty="0">
                <a:solidFill>
                  <a:srgbClr val="0070C0"/>
                </a:solidFill>
              </a:rPr>
              <a:t>必须阻止有损数据库安全的非法操作</a:t>
            </a:r>
            <a:endParaRPr lang="en-US" altLang="zh-CN" dirty="0">
              <a:solidFill>
                <a:srgbClr val="0070C0"/>
              </a:solidFill>
            </a:endParaRPr>
          </a:p>
        </p:txBody>
      </p:sp>
      <p:sp>
        <p:nvSpPr>
          <p:cNvPr id="10243"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10244" name="Rectangle 2"/>
          <p:cNvSpPr>
            <a:spLocks noGrp="1" noChangeArrowheads="1"/>
          </p:cNvSpPr>
          <p:nvPr>
            <p:ph type="title" idx="4294967295"/>
          </p:nvPr>
        </p:nvSpPr>
        <p:spPr/>
        <p:txBody>
          <a:bodyPr/>
          <a:lstStyle/>
          <a:p>
            <a:pPr eaLnBrk="1" hangingPunct="1"/>
            <a:r>
              <a:rPr lang="zh-CN" altLang="en-US" sz="3600" dirty="0"/>
              <a:t>数据库的不安全因素（续）</a:t>
            </a:r>
            <a:endParaRPr lang="zh-CN" altLang="en-US" sz="36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bwMode="auto">
          <a:xfrm>
            <a:off x="911424" y="1286441"/>
            <a:ext cx="9865096" cy="4734847"/>
          </a:xfrm>
          <a:prstGeom prst="rect">
            <a:avLst/>
          </a:prstGeom>
          <a:noFill/>
          <a:ln w="9525">
            <a:noFill/>
            <a:miter lim="800000"/>
          </a:ln>
        </p:spPr>
        <p:txBody>
          <a:bodyPr/>
          <a:lstStyle/>
          <a:p>
            <a:pPr marL="342900" indent="-342900">
              <a:lnSpc>
                <a:spcPct val="150000"/>
              </a:lnSpc>
              <a:spcBef>
                <a:spcPct val="20000"/>
              </a:spcBef>
              <a:buSzPct val="100000"/>
              <a:defRPr/>
            </a:pPr>
            <a:r>
              <a:rPr lang="en-US" altLang="zh-CN" sz="2800" b="1" kern="0" dirty="0">
                <a:latin typeface="+mn-lt"/>
                <a:ea typeface="+mn-ea"/>
              </a:rPr>
              <a:t>2.</a:t>
            </a:r>
            <a:r>
              <a:rPr lang="zh-CN" altLang="en-US" sz="2800" b="1" kern="0" dirty="0">
                <a:latin typeface="+mn-lt"/>
                <a:ea typeface="+mn-ea"/>
              </a:rPr>
              <a:t>数据库中重要或敏感的数据被泄露</a:t>
            </a:r>
            <a:endParaRPr lang="en-US" altLang="zh-CN" sz="2800" b="1" kern="0" dirty="0">
              <a:latin typeface="+mn-lt"/>
              <a:ea typeface="+mn-ea"/>
            </a:endParaRPr>
          </a:p>
          <a:p>
            <a:pPr lvl="1" eaLnBrk="1" hangingPunct="1">
              <a:lnSpc>
                <a:spcPct val="150000"/>
              </a:lnSpc>
              <a:spcBef>
                <a:spcPct val="20000"/>
              </a:spcBef>
              <a:buSzPct val="100000"/>
              <a:buFont typeface="Wingdings" panose="05000000000000000000" pitchFamily="2" charset="2"/>
              <a:buChar char="n"/>
              <a:defRPr/>
            </a:pPr>
            <a:r>
              <a:rPr lang="zh-CN" altLang="zh-CN" sz="2400" b="1" dirty="0"/>
              <a:t>黑客和敌对分子千方百计盗窃数据库中的</a:t>
            </a:r>
            <a:r>
              <a:rPr lang="zh-CN" altLang="en-US" sz="2400" b="1" dirty="0">
                <a:solidFill>
                  <a:srgbClr val="0070C0"/>
                </a:solidFill>
              </a:rPr>
              <a:t>重要敏感的机密数据</a:t>
            </a:r>
            <a:r>
              <a:rPr lang="zh-CN" altLang="zh-CN" sz="2400" b="1" dirty="0">
                <a:solidFill>
                  <a:srgbClr val="0070C0"/>
                </a:solidFill>
              </a:rPr>
              <a:t>，</a:t>
            </a:r>
            <a:r>
              <a:rPr lang="zh-CN" altLang="en-US" sz="2400" b="1" dirty="0">
                <a:solidFill>
                  <a:srgbClr val="0070C0"/>
                </a:solidFill>
              </a:rPr>
              <a:t>造成数据泄露</a:t>
            </a:r>
            <a:r>
              <a:rPr lang="zh-CN" altLang="zh-CN" sz="2400" b="1" dirty="0"/>
              <a:t>。</a:t>
            </a:r>
            <a:endParaRPr lang="en-US" altLang="zh-CN" sz="2400" b="1" dirty="0">
              <a:solidFill>
                <a:srgbClr val="0070C0"/>
              </a:solidFill>
              <a:highlight>
                <a:srgbClr val="FFFF00"/>
              </a:highlight>
            </a:endParaRPr>
          </a:p>
          <a:p>
            <a:pPr lvl="1" eaLnBrk="1" hangingPunct="1">
              <a:lnSpc>
                <a:spcPct val="150000"/>
              </a:lnSpc>
              <a:spcBef>
                <a:spcPct val="20000"/>
              </a:spcBef>
              <a:buSzPct val="100000"/>
              <a:buFont typeface="Wingdings" panose="05000000000000000000" pitchFamily="2" charset="2"/>
              <a:buChar char="n"/>
              <a:defRPr/>
            </a:pPr>
            <a:r>
              <a:rPr lang="en-US" altLang="zh-CN" sz="2400" b="1" dirty="0"/>
              <a:t>SQL</a:t>
            </a:r>
            <a:r>
              <a:rPr lang="zh-CN" altLang="en-US" sz="2400" b="1" dirty="0"/>
              <a:t>注入导致数据库被破坏的相关例子</a:t>
            </a:r>
            <a:endParaRPr lang="en-US" altLang="zh-CN" sz="2400" b="1" dirty="0"/>
          </a:p>
          <a:p>
            <a:pPr lvl="2" eaLnBrk="1" hangingPunct="1">
              <a:lnSpc>
                <a:spcPct val="150000"/>
              </a:lnSpc>
              <a:spcBef>
                <a:spcPct val="20000"/>
              </a:spcBef>
              <a:buSzPct val="100000"/>
              <a:buFont typeface="Wingdings" panose="05000000000000000000" pitchFamily="2" charset="2"/>
              <a:buChar char="n"/>
              <a:defRPr/>
            </a:pPr>
            <a:r>
              <a:rPr lang="zh-CN" altLang="zh-CN" sz="2200" b="1" dirty="0"/>
              <a:t>攻击者利用</a:t>
            </a:r>
            <a:r>
              <a:rPr lang="en-US" altLang="zh-CN" sz="2200" b="1" dirty="0"/>
              <a:t>SQL</a:t>
            </a:r>
            <a:r>
              <a:rPr lang="zh-CN" altLang="zh-CN" sz="2200" b="1" dirty="0"/>
              <a:t>注入技术，在入侵检测不严的情况下欺骗</a:t>
            </a:r>
            <a:r>
              <a:rPr lang="en-US" altLang="zh-CN" sz="2200" b="1" dirty="0" err="1">
                <a:hlinkClick r:id="rId1"/>
              </a:rPr>
              <a:t>数据库服务器</a:t>
            </a:r>
            <a:r>
              <a:rPr lang="zh-CN" altLang="zh-CN" sz="2200" b="1" dirty="0"/>
              <a:t>执行非授权的查询和操作，使得机密数据被泄露、篡改或锁定</a:t>
            </a:r>
            <a:endParaRPr lang="zh-CN" altLang="en-US" sz="2200" b="1" dirty="0"/>
          </a:p>
        </p:txBody>
      </p:sp>
      <p:sp>
        <p:nvSpPr>
          <p:cNvPr id="11267"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4" name="Rectangle 2"/>
          <p:cNvSpPr txBox="1">
            <a:spLocks noChangeArrowheads="1"/>
          </p:cNvSpPr>
          <p:nvPr/>
        </p:nvSpPr>
        <p:spPr bwMode="auto">
          <a:xfrm>
            <a:off x="1981200" y="-36513"/>
            <a:ext cx="8229600" cy="1135063"/>
          </a:xfrm>
          <a:prstGeom prst="rect">
            <a:avLst/>
          </a:prstGeom>
          <a:noFill/>
          <a:ln w="9525">
            <a:noFill/>
            <a:miter lim="800000"/>
          </a:ln>
        </p:spPr>
        <p:txBody>
          <a:bodyPr anchor="ctr"/>
          <a:lstStyle/>
          <a:p>
            <a:pPr algn="ctr">
              <a:defRPr/>
            </a:pPr>
            <a:r>
              <a:rPr lang="zh-CN" altLang="en-US" sz="3600" b="1" kern="0" dirty="0">
                <a:solidFill>
                  <a:schemeClr val="bg1"/>
                </a:solidFill>
                <a:latin typeface="+mj-lt"/>
                <a:ea typeface="+mj-ea"/>
                <a:cs typeface="+mj-cs"/>
              </a:rPr>
              <a:t>数据库的不安全因素（续）</a:t>
            </a:r>
            <a:endParaRPr lang="zh-CN" altLang="en-US" sz="3600" b="1" kern="0" dirty="0">
              <a:solidFill>
                <a:schemeClr val="bg1"/>
              </a:solidFill>
              <a:latin typeface="+mj-lt"/>
              <a:ea typeface="+mj-ea"/>
              <a:cs typeface="+mj-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19514" y="115888"/>
            <a:ext cx="5743575" cy="646112"/>
          </a:xfrm>
          <a:prstGeom prst="rect">
            <a:avLst/>
          </a:prstGeom>
        </p:spPr>
        <p:txBody>
          <a:bodyPr wrap="none">
            <a:spAutoFit/>
          </a:bodyPr>
          <a:lstStyle/>
          <a:p>
            <a:pPr>
              <a:defRPr/>
            </a:pPr>
            <a:r>
              <a:rPr lang="zh-CN" altLang="en-US" sz="3600" b="1" dirty="0">
                <a:solidFill>
                  <a:schemeClr val="bg1"/>
                </a:solidFill>
                <a:latin typeface="+mj-lt"/>
                <a:ea typeface="+mj-ea"/>
                <a:cs typeface="+mj-cs"/>
              </a:rPr>
              <a:t>数据库的不安全因素（续）</a:t>
            </a:r>
            <a:endParaRPr lang="zh-CN" altLang="en-US" sz="3600" b="1" dirty="0">
              <a:solidFill>
                <a:schemeClr val="bg1"/>
              </a:solidFill>
              <a:latin typeface="+mj-lt"/>
              <a:ea typeface="+mj-ea"/>
              <a:cs typeface="+mj-cs"/>
            </a:endParaRPr>
          </a:p>
        </p:txBody>
      </p:sp>
      <p:sp>
        <p:nvSpPr>
          <p:cNvPr id="3" name="矩形 2"/>
          <p:cNvSpPr/>
          <p:nvPr/>
        </p:nvSpPr>
        <p:spPr>
          <a:xfrm>
            <a:off x="1487488" y="1412776"/>
            <a:ext cx="8280400" cy="2498184"/>
          </a:xfrm>
          <a:prstGeom prst="rect">
            <a:avLst/>
          </a:prstGeom>
        </p:spPr>
        <p:txBody>
          <a:bodyPr>
            <a:spAutoFit/>
          </a:bodyPr>
          <a:lstStyle/>
          <a:p>
            <a:pPr marL="342900" indent="-342900">
              <a:lnSpc>
                <a:spcPct val="150000"/>
              </a:lnSpc>
              <a:spcBef>
                <a:spcPct val="20000"/>
              </a:spcBef>
              <a:buSzPct val="100000"/>
              <a:defRPr/>
            </a:pPr>
            <a:r>
              <a:rPr lang="en-US" altLang="zh-CN" sz="2800" b="1" dirty="0" smtClean="0">
                <a:latin typeface="+mn-lt"/>
                <a:ea typeface="+mn-ea"/>
              </a:rPr>
              <a:t>3</a:t>
            </a:r>
            <a:r>
              <a:rPr lang="en-US" altLang="zh-CN" sz="2800" b="1" dirty="0">
                <a:latin typeface="+mn-lt"/>
                <a:ea typeface="+mn-ea"/>
              </a:rPr>
              <a:t>.</a:t>
            </a:r>
            <a:r>
              <a:rPr lang="zh-CN" altLang="en-US" sz="2800" b="1" dirty="0">
                <a:latin typeface="+mn-lt"/>
                <a:ea typeface="+mn-ea"/>
              </a:rPr>
              <a:t>安全环境的脆弱性</a:t>
            </a:r>
            <a:endParaRPr lang="en-US" altLang="zh-CN" sz="2800" b="1" dirty="0">
              <a:latin typeface="+mn-lt"/>
              <a:ea typeface="+mn-ea"/>
            </a:endParaRPr>
          </a:p>
          <a:p>
            <a:pPr marL="742950" lvl="1" indent="-285750">
              <a:lnSpc>
                <a:spcPct val="150000"/>
              </a:lnSpc>
              <a:spcBef>
                <a:spcPct val="20000"/>
              </a:spcBef>
              <a:buSzPct val="100000"/>
              <a:buFont typeface="Wingdings" panose="05000000000000000000" pitchFamily="2" charset="2"/>
              <a:buChar char="n"/>
              <a:defRPr/>
            </a:pPr>
            <a:r>
              <a:rPr lang="zh-CN" altLang="zh-CN" sz="2400" b="1" dirty="0">
                <a:latin typeface="+mn-lt"/>
                <a:ea typeface="+mn-ea"/>
              </a:rPr>
              <a:t>数据库的安全性与计算机系统的安全性</a:t>
            </a:r>
            <a:r>
              <a:rPr lang="zh-CN" altLang="zh-CN" sz="2400" b="1" dirty="0"/>
              <a:t>紧密联系</a:t>
            </a:r>
            <a:endParaRPr lang="en-US" altLang="zh-CN" sz="2400" b="1" dirty="0"/>
          </a:p>
          <a:p>
            <a:pPr marL="1200150" lvl="2" indent="-285750">
              <a:lnSpc>
                <a:spcPct val="150000"/>
              </a:lnSpc>
              <a:spcBef>
                <a:spcPct val="20000"/>
              </a:spcBef>
              <a:buSzPct val="87000"/>
              <a:buFont typeface="Wingdings" panose="05000000000000000000" pitchFamily="2" charset="2"/>
              <a:buChar char="l"/>
              <a:defRPr/>
            </a:pPr>
            <a:r>
              <a:rPr lang="zh-CN" altLang="zh-CN" sz="2200" b="1" dirty="0">
                <a:latin typeface="+mn-lt"/>
                <a:ea typeface="+mn-ea"/>
              </a:rPr>
              <a:t>计算机硬件、操作系统、网络系统等的安全性</a:t>
            </a:r>
            <a:endParaRPr lang="en-US" altLang="zh-CN" sz="2200" b="1" dirty="0">
              <a:latin typeface="+mn-lt"/>
              <a:ea typeface="+mn-ea"/>
            </a:endParaRPr>
          </a:p>
          <a:p>
            <a:pPr marL="742950" lvl="1" indent="-285750">
              <a:lnSpc>
                <a:spcPct val="150000"/>
              </a:lnSpc>
              <a:spcBef>
                <a:spcPct val="20000"/>
              </a:spcBef>
              <a:buSzPct val="100000"/>
              <a:buFont typeface="Wingdings" panose="05000000000000000000" pitchFamily="2" charset="2"/>
              <a:buChar char="n"/>
              <a:defRPr/>
            </a:pPr>
            <a:r>
              <a:rPr lang="zh-CN" altLang="zh-CN" sz="2400" b="1" dirty="0">
                <a:latin typeface="+mn-lt"/>
                <a:ea typeface="+mn-ea"/>
              </a:rPr>
              <a:t>建立一套可信（</a:t>
            </a:r>
            <a:r>
              <a:rPr lang="en-US" altLang="zh-CN" sz="2400" b="1" dirty="0">
                <a:latin typeface="+mn-lt"/>
                <a:ea typeface="+mn-ea"/>
              </a:rPr>
              <a:t>trusted</a:t>
            </a:r>
            <a:r>
              <a:rPr lang="zh-CN" altLang="zh-CN" sz="2400" b="1" dirty="0">
                <a:latin typeface="+mn-lt"/>
                <a:ea typeface="+mn-ea"/>
              </a:rPr>
              <a:t>）计算机系统的概念和标准</a:t>
            </a:r>
            <a:endParaRPr lang="en-US" altLang="zh-CN" sz="2400" b="1" dirty="0">
              <a:latin typeface="+mn-lt"/>
              <a:ea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p:cNvSpPr>
            <a:spLocks noGrp="1" noChangeArrowheads="1"/>
          </p:cNvSpPr>
          <p:nvPr>
            <p:ph type="title" idx="4294967295"/>
          </p:nvPr>
        </p:nvSpPr>
        <p:spPr/>
        <p:txBody>
          <a:bodyPr/>
          <a:lstStyle/>
          <a:p>
            <a:pPr eaLnBrk="1" hangingPunct="1"/>
            <a:r>
              <a:rPr lang="en-US" altLang="zh-CN" sz="3600"/>
              <a:t>4.1  </a:t>
            </a:r>
            <a:r>
              <a:rPr lang="zh-CN" altLang="en-US" sz="3600"/>
              <a:t>数据库安全性概述</a:t>
            </a:r>
            <a:endParaRPr lang="zh-CN" altLang="en-US" sz="3600"/>
          </a:p>
        </p:txBody>
      </p:sp>
      <p:sp>
        <p:nvSpPr>
          <p:cNvPr id="13316" name="Rectangle 3"/>
          <p:cNvSpPr>
            <a:spLocks noGrp="1" noChangeArrowheads="1"/>
          </p:cNvSpPr>
          <p:nvPr>
            <p:ph type="body" idx="4294967295"/>
          </p:nvPr>
        </p:nvSpPr>
        <p:spPr>
          <a:xfrm>
            <a:off x="1333501" y="1527176"/>
            <a:ext cx="8229600" cy="4854575"/>
          </a:xfrm>
        </p:spPr>
        <p:txBody>
          <a:bodyPr/>
          <a:lstStyle/>
          <a:p>
            <a:pPr eaLnBrk="1" hangingPunct="1">
              <a:lnSpc>
                <a:spcPct val="210000"/>
              </a:lnSpc>
              <a:buFont typeface="Wingdings" panose="05000000000000000000" pitchFamily="2" charset="2"/>
              <a:buNone/>
            </a:pPr>
            <a:r>
              <a:rPr lang="en-US" altLang="zh-CN" dirty="0"/>
              <a:t>4.1.1  </a:t>
            </a:r>
            <a:r>
              <a:rPr lang="zh-CN" altLang="en-US" dirty="0"/>
              <a:t>数据库的不安全因素</a:t>
            </a:r>
            <a:endParaRPr lang="zh-CN" altLang="en-US" dirty="0"/>
          </a:p>
          <a:p>
            <a:pPr eaLnBrk="1" hangingPunct="1">
              <a:lnSpc>
                <a:spcPct val="210000"/>
              </a:lnSpc>
              <a:buFont typeface="Wingdings" panose="05000000000000000000" pitchFamily="2" charset="2"/>
              <a:buNone/>
            </a:pPr>
            <a:r>
              <a:rPr lang="en-US" altLang="zh-CN" dirty="0">
                <a:solidFill>
                  <a:srgbClr val="00B050"/>
                </a:solidFill>
              </a:rPr>
              <a:t>4.1.2  </a:t>
            </a:r>
            <a:r>
              <a:rPr lang="zh-CN" altLang="en-US" dirty="0">
                <a:solidFill>
                  <a:srgbClr val="00B050"/>
                </a:solidFill>
              </a:rPr>
              <a:t>安全标准简介</a:t>
            </a:r>
            <a:endParaRPr lang="zh-CN" altLang="en-US" dirty="0">
              <a:solidFill>
                <a:srgbClr val="00B05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r>
              <a:rPr lang="en-US" altLang="zh-CN" sz="3600"/>
              <a:t>4.1.2  </a:t>
            </a:r>
            <a:r>
              <a:rPr lang="zh-CN" altLang="en-US" sz="3600"/>
              <a:t>安全标准简介</a:t>
            </a:r>
            <a:endParaRPr lang="zh-CN" altLang="en-US" sz="3600"/>
          </a:p>
        </p:txBody>
      </p:sp>
      <p:sp>
        <p:nvSpPr>
          <p:cNvPr id="14338" name="Rectangle 3"/>
          <p:cNvSpPr>
            <a:spLocks noGrp="1" noChangeArrowheads="1"/>
          </p:cNvSpPr>
          <p:nvPr>
            <p:ph type="body" idx="1"/>
          </p:nvPr>
        </p:nvSpPr>
        <p:spPr>
          <a:xfrm>
            <a:off x="1130896" y="1484784"/>
            <a:ext cx="10451504" cy="4591396"/>
          </a:xfrm>
        </p:spPr>
        <p:txBody>
          <a:bodyPr/>
          <a:lstStyle/>
          <a:p>
            <a:pPr>
              <a:lnSpc>
                <a:spcPct val="120000"/>
              </a:lnSpc>
              <a:defRPr/>
            </a:pPr>
            <a:r>
              <a:rPr lang="en-US" altLang="zh-CN" dirty="0"/>
              <a:t>1985</a:t>
            </a:r>
            <a:r>
              <a:rPr lang="zh-CN" altLang="en-US" dirty="0"/>
              <a:t>年美国国防部（</a:t>
            </a:r>
            <a:r>
              <a:rPr lang="en-US" altLang="zh-CN" dirty="0"/>
              <a:t>DoD</a:t>
            </a:r>
            <a:r>
              <a:rPr lang="zh-CN" altLang="en-US" dirty="0"/>
              <a:t>）正式颁布</a:t>
            </a:r>
            <a:r>
              <a:rPr lang="en-US" altLang="zh-CN" dirty="0"/>
              <a:t>《DoD</a:t>
            </a:r>
            <a:r>
              <a:rPr lang="zh-CN" altLang="en-US" dirty="0"/>
              <a:t>可信计算机系统评估准则</a:t>
            </a:r>
            <a:r>
              <a:rPr lang="en-US" altLang="zh-CN" dirty="0"/>
              <a:t>》</a:t>
            </a:r>
            <a:r>
              <a:rPr lang="zh-CN" altLang="en-US" dirty="0"/>
              <a:t>（简称</a:t>
            </a:r>
            <a:r>
              <a:rPr lang="en-US" altLang="zh-CN" dirty="0"/>
              <a:t>TCSEC</a:t>
            </a:r>
            <a:r>
              <a:rPr lang="zh-CN" altLang="en-US" dirty="0"/>
              <a:t>或</a:t>
            </a:r>
            <a:r>
              <a:rPr lang="en-US" altLang="zh-CN" dirty="0"/>
              <a:t>DoD85</a:t>
            </a:r>
            <a:r>
              <a:rPr lang="zh-CN" altLang="en-US" dirty="0"/>
              <a:t>）</a:t>
            </a:r>
            <a:endParaRPr lang="en-US" altLang="zh-CN" dirty="0"/>
          </a:p>
          <a:p>
            <a:pPr>
              <a:lnSpc>
                <a:spcPct val="120000"/>
              </a:lnSpc>
              <a:defRPr/>
            </a:pPr>
            <a:r>
              <a:rPr lang="en-US" altLang="zh-CN" dirty="0"/>
              <a:t>1991</a:t>
            </a:r>
            <a:r>
              <a:rPr lang="zh-CN" altLang="en-US" dirty="0"/>
              <a:t>年，颁布</a:t>
            </a:r>
            <a:r>
              <a:rPr lang="en-US" altLang="zh-CN" dirty="0"/>
              <a:t>TCSEC/TDI</a:t>
            </a:r>
            <a:r>
              <a:rPr lang="zh-CN" altLang="en-US" dirty="0"/>
              <a:t>，把</a:t>
            </a:r>
            <a:r>
              <a:rPr lang="en-US" altLang="zh-CN" dirty="0"/>
              <a:t>TCSEC</a:t>
            </a:r>
            <a:r>
              <a:rPr lang="zh-CN" altLang="en-US" dirty="0"/>
              <a:t>扩展到</a:t>
            </a:r>
            <a:r>
              <a:rPr lang="zh-CN" altLang="en-US" dirty="0" smtClean="0"/>
              <a:t>数据库系统</a:t>
            </a:r>
            <a:endParaRPr lang="en-US" altLang="zh-CN" dirty="0" smtClean="0"/>
          </a:p>
          <a:p>
            <a:pPr>
              <a:lnSpc>
                <a:spcPct val="120000"/>
              </a:lnSpc>
              <a:spcBef>
                <a:spcPct val="0"/>
              </a:spcBef>
              <a:defRPr/>
            </a:pPr>
            <a:r>
              <a:rPr lang="en-US" altLang="zh-CN" dirty="0"/>
              <a:t>1993</a:t>
            </a:r>
            <a:r>
              <a:rPr lang="zh-CN" altLang="en-US" dirty="0"/>
              <a:t>年起多个国家组织专门委员会开发了</a:t>
            </a:r>
            <a:r>
              <a:rPr lang="en-US" altLang="zh-CN" dirty="0"/>
              <a:t>IT</a:t>
            </a:r>
            <a:r>
              <a:rPr lang="zh-CN" altLang="en-US" dirty="0"/>
              <a:t>安全通用准则（</a:t>
            </a:r>
            <a:r>
              <a:rPr lang="en-US" altLang="zh-CN" dirty="0"/>
              <a:t>Common Criteria</a:t>
            </a:r>
            <a:r>
              <a:rPr lang="zh-CN" altLang="en-US" dirty="0"/>
              <a:t>，</a:t>
            </a:r>
            <a:r>
              <a:rPr lang="en-US" altLang="zh-CN" dirty="0"/>
              <a:t>CC</a:t>
            </a:r>
            <a:r>
              <a:rPr lang="zh-CN" altLang="en-US" dirty="0"/>
              <a:t>）</a:t>
            </a:r>
            <a:endParaRPr lang="zh-CN" altLang="en-US" dirty="0">
              <a:highlight>
                <a:srgbClr val="FFFF00"/>
              </a:highlight>
            </a:endParaRPr>
          </a:p>
          <a:p>
            <a:pPr>
              <a:lnSpc>
                <a:spcPct val="120000"/>
              </a:lnSpc>
              <a:spcBef>
                <a:spcPct val="0"/>
              </a:spcBef>
              <a:defRPr/>
            </a:pPr>
            <a:r>
              <a:rPr lang="en-US" altLang="zh-CN" dirty="0"/>
              <a:t>1999</a:t>
            </a:r>
            <a:r>
              <a:rPr lang="zh-CN" altLang="en-US" dirty="0"/>
              <a:t>年  </a:t>
            </a:r>
            <a:r>
              <a:rPr lang="en-US" altLang="zh-CN" dirty="0"/>
              <a:t>CC V2.1</a:t>
            </a:r>
            <a:r>
              <a:rPr lang="zh-CN" altLang="en-US" dirty="0"/>
              <a:t>版被</a:t>
            </a:r>
            <a:r>
              <a:rPr lang="en-US" altLang="zh-CN" dirty="0"/>
              <a:t>ISO</a:t>
            </a:r>
            <a:r>
              <a:rPr lang="zh-CN" altLang="en-US" dirty="0"/>
              <a:t>采用为国际标准</a:t>
            </a:r>
            <a:endParaRPr lang="zh-CN" altLang="en-US" dirty="0"/>
          </a:p>
          <a:p>
            <a:pPr>
              <a:lnSpc>
                <a:spcPct val="120000"/>
              </a:lnSpc>
              <a:spcBef>
                <a:spcPct val="0"/>
              </a:spcBef>
              <a:buNone/>
              <a:defRPr/>
            </a:pPr>
            <a:r>
              <a:rPr lang="zh-CN" altLang="en-US" dirty="0"/>
              <a:t>    </a:t>
            </a:r>
            <a:r>
              <a:rPr lang="en-US" altLang="zh-CN" dirty="0"/>
              <a:t>2001</a:t>
            </a:r>
            <a:r>
              <a:rPr lang="zh-CN" altLang="en-US" dirty="0"/>
              <a:t>年  </a:t>
            </a:r>
            <a:r>
              <a:rPr lang="en-US" altLang="zh-CN" dirty="0"/>
              <a:t>CC V2.1</a:t>
            </a:r>
            <a:r>
              <a:rPr lang="zh-CN" altLang="en-US" dirty="0"/>
              <a:t>版被我国采用为国家标准</a:t>
            </a:r>
            <a:endParaRPr lang="zh-CN" altLang="en-US" dirty="0"/>
          </a:p>
          <a:p>
            <a:pPr>
              <a:lnSpc>
                <a:spcPct val="130000"/>
              </a:lnSpc>
              <a:defRPr/>
            </a:pPr>
            <a:endParaRPr lang="zh-CN" altLang="en-US" dirty="0">
              <a:highlight>
                <a:srgbClr val="FFFF00"/>
              </a:highligh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信息安全标准发展简述</a:t>
            </a:r>
            <a:endParaRPr lang="zh-CN" altLang="en-US" sz="4400" b="1" kern="0" dirty="0">
              <a:highlight>
                <a:srgbClr val="FFFF00"/>
              </a:highlight>
              <a:latin typeface="+mn-lt"/>
              <a:ea typeface="+mn-ea"/>
            </a:endParaRPr>
          </a:p>
        </p:txBody>
      </p:sp>
      <p:sp>
        <p:nvSpPr>
          <p:cNvPr id="9" name="文本框 8"/>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mj-lt"/>
                <a:ea typeface="+mj-ea"/>
                <a:cs typeface="+mj-cs"/>
              </a:rPr>
              <a:t>4.2</a:t>
            </a:r>
            <a:r>
              <a:rPr lang="en-US" altLang="zh-CN" sz="3600" b="1" dirty="0">
                <a:solidFill>
                  <a:schemeClr val="bg1"/>
                </a:solidFill>
                <a:latin typeface="宋体" panose="02010600030101010101" pitchFamily="2" charset="-122"/>
                <a:ea typeface="+mj-ea"/>
                <a:cs typeface="+mj-cs"/>
              </a:rPr>
              <a:t> </a:t>
            </a:r>
            <a:endParaRPr lang="zh-CN" altLang="en-US" sz="3600" b="1" dirty="0">
              <a:solidFill>
                <a:schemeClr val="bg1"/>
              </a:solidFill>
              <a:latin typeface="宋体" panose="02010600030101010101" pitchFamily="2" charset="-122"/>
              <a:ea typeface="+mj-ea"/>
              <a:cs typeface="+mj-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p:cNvSpPr>
            <a:spLocks noGrp="1" noChangeArrowheads="1"/>
          </p:cNvSpPr>
          <p:nvPr>
            <p:ph type="title" idx="4294967295"/>
          </p:nvPr>
        </p:nvSpPr>
        <p:spPr/>
        <p:txBody>
          <a:bodyPr/>
          <a:lstStyle/>
          <a:p>
            <a:pPr eaLnBrk="1" hangingPunct="1"/>
            <a:r>
              <a:rPr lang="en-US" altLang="zh-CN" sz="3600" dirty="0"/>
              <a:t>TCSEC/TDI</a:t>
            </a:r>
            <a:r>
              <a:rPr lang="zh-CN" altLang="en-US" sz="3600" dirty="0"/>
              <a:t>安全级别划分</a:t>
            </a:r>
            <a:endParaRPr lang="zh-CN" altLang="en-US" sz="3600" dirty="0"/>
          </a:p>
        </p:txBody>
      </p:sp>
      <p:sp>
        <p:nvSpPr>
          <p:cNvPr id="19459" name="Rectangle 3"/>
          <p:cNvSpPr>
            <a:spLocks noGrp="1" noChangeArrowheads="1"/>
          </p:cNvSpPr>
          <p:nvPr>
            <p:ph type="body" idx="4294967295"/>
          </p:nvPr>
        </p:nvSpPr>
        <p:spPr>
          <a:xfrm>
            <a:off x="1199456" y="1483916"/>
            <a:ext cx="8064500" cy="4906963"/>
          </a:xfrm>
        </p:spPr>
        <p:txBody>
          <a:bodyPr/>
          <a:lstStyle/>
          <a:p>
            <a:pPr lvl="1">
              <a:lnSpc>
                <a:spcPct val="120000"/>
              </a:lnSpc>
            </a:pPr>
            <a:r>
              <a:rPr lang="zh-CN" altLang="en-US" dirty="0"/>
              <a:t>四组（</a:t>
            </a:r>
            <a:r>
              <a:rPr lang="en-US" altLang="zh-CN" dirty="0"/>
              <a:t>division</a:t>
            </a:r>
            <a:r>
              <a:rPr lang="zh-CN" altLang="en-US" dirty="0"/>
              <a:t>）七个等级</a:t>
            </a:r>
            <a:endParaRPr lang="zh-CN" altLang="en-US" dirty="0"/>
          </a:p>
          <a:p>
            <a:pPr lvl="2">
              <a:lnSpc>
                <a:spcPct val="120000"/>
              </a:lnSpc>
              <a:buSzPct val="87000"/>
              <a:buFont typeface="Wingdings" panose="05000000000000000000" pitchFamily="2" charset="2"/>
              <a:buChar char="l"/>
            </a:pPr>
            <a:r>
              <a:rPr lang="zh-CN" altLang="en-US" sz="2400" dirty="0"/>
              <a:t> </a:t>
            </a:r>
            <a:r>
              <a:rPr lang="en-US" altLang="zh-CN" sz="2400" dirty="0"/>
              <a:t>D</a:t>
            </a:r>
            <a:endParaRPr lang="en-US" altLang="zh-CN" sz="2400" dirty="0"/>
          </a:p>
          <a:p>
            <a:pPr lvl="2">
              <a:lnSpc>
                <a:spcPct val="120000"/>
              </a:lnSpc>
              <a:buSzPct val="87000"/>
              <a:buFont typeface="Wingdings" panose="05000000000000000000" pitchFamily="2" charset="2"/>
              <a:buChar char="l"/>
            </a:pPr>
            <a:r>
              <a:rPr lang="en-US" altLang="zh-CN" sz="2400" dirty="0"/>
              <a:t> C</a:t>
            </a:r>
            <a:r>
              <a:rPr lang="zh-CN" altLang="en-US" sz="2400" dirty="0"/>
              <a:t>（</a:t>
            </a:r>
            <a:r>
              <a:rPr lang="en-US" altLang="zh-CN" sz="2400" dirty="0"/>
              <a:t>C1</a:t>
            </a:r>
            <a:r>
              <a:rPr lang="zh-CN" altLang="en-US" sz="2400" dirty="0"/>
              <a:t>，</a:t>
            </a:r>
            <a:r>
              <a:rPr lang="en-US" altLang="zh-CN" sz="2400" dirty="0"/>
              <a:t>C2</a:t>
            </a:r>
            <a:r>
              <a:rPr lang="zh-CN" altLang="en-US" sz="2400" dirty="0"/>
              <a:t>）</a:t>
            </a:r>
            <a:endParaRPr lang="zh-CN" altLang="en-US" sz="2400" dirty="0"/>
          </a:p>
          <a:p>
            <a:pPr lvl="2">
              <a:lnSpc>
                <a:spcPct val="120000"/>
              </a:lnSpc>
              <a:buSzPct val="87000"/>
              <a:buFont typeface="Wingdings" panose="05000000000000000000" pitchFamily="2" charset="2"/>
              <a:buChar char="l"/>
            </a:pPr>
            <a:r>
              <a:rPr lang="zh-CN" altLang="en-US" sz="2400" dirty="0"/>
              <a:t> </a:t>
            </a:r>
            <a:r>
              <a:rPr lang="en-US" altLang="zh-CN" sz="2400" dirty="0"/>
              <a:t>B</a:t>
            </a:r>
            <a:r>
              <a:rPr lang="zh-CN" altLang="en-US" sz="2400" dirty="0"/>
              <a:t>（</a:t>
            </a:r>
            <a:r>
              <a:rPr lang="en-US" altLang="zh-CN" sz="2400" dirty="0"/>
              <a:t>B1</a:t>
            </a:r>
            <a:r>
              <a:rPr lang="zh-CN" altLang="en-US" sz="2400" dirty="0"/>
              <a:t>，</a:t>
            </a:r>
            <a:r>
              <a:rPr lang="en-US" altLang="zh-CN" sz="2400" dirty="0"/>
              <a:t>B2</a:t>
            </a:r>
            <a:r>
              <a:rPr lang="zh-CN" altLang="en-US" sz="2400" dirty="0"/>
              <a:t>，</a:t>
            </a:r>
            <a:r>
              <a:rPr lang="en-US" altLang="zh-CN" sz="2400" dirty="0"/>
              <a:t>B3</a:t>
            </a:r>
            <a:r>
              <a:rPr lang="zh-CN" altLang="en-US" sz="2400" dirty="0"/>
              <a:t>）</a:t>
            </a:r>
            <a:endParaRPr lang="zh-CN" altLang="en-US" sz="2400" dirty="0"/>
          </a:p>
          <a:p>
            <a:pPr lvl="2">
              <a:lnSpc>
                <a:spcPct val="120000"/>
              </a:lnSpc>
              <a:buSzPct val="87000"/>
              <a:buFont typeface="Wingdings" panose="05000000000000000000" pitchFamily="2" charset="2"/>
              <a:buChar char="l"/>
            </a:pPr>
            <a:r>
              <a:rPr lang="zh-CN" altLang="en-US" sz="2400" dirty="0"/>
              <a:t> </a:t>
            </a:r>
            <a:r>
              <a:rPr lang="en-US" altLang="zh-CN" sz="2400" dirty="0"/>
              <a:t>A</a:t>
            </a:r>
            <a:r>
              <a:rPr lang="zh-CN" altLang="en-US" sz="2400" dirty="0"/>
              <a:t>（</a:t>
            </a:r>
            <a:r>
              <a:rPr lang="en-US" altLang="zh-CN" sz="2400" dirty="0"/>
              <a:t>A1</a:t>
            </a:r>
            <a:r>
              <a:rPr lang="zh-CN" altLang="en-US" sz="2400" dirty="0"/>
              <a:t>）</a:t>
            </a:r>
            <a:endParaRPr lang="zh-CN" altLang="en-US" sz="2400" dirty="0"/>
          </a:p>
          <a:p>
            <a:pPr lvl="1">
              <a:lnSpc>
                <a:spcPct val="120000"/>
              </a:lnSpc>
            </a:pPr>
            <a:r>
              <a:rPr lang="zh-CN" altLang="en-US" dirty="0"/>
              <a:t>系统可靠或可信程度逐渐增高</a:t>
            </a:r>
            <a:endParaRPr lang="zh-CN" altLang="en-US" dirty="0"/>
          </a:p>
          <a:p>
            <a:pPr lvl="1" eaLnBrk="1" hangingPunct="1">
              <a:lnSpc>
                <a:spcPct val="110000"/>
              </a:lnSpc>
            </a:pPr>
            <a:endParaRPr lang="zh-CN" altLang="en-US" sz="2600" dirty="0"/>
          </a:p>
          <a:p>
            <a:pPr lvl="1" eaLnBrk="1" hangingPunct="1">
              <a:lnSpc>
                <a:spcPct val="110000"/>
              </a:lnSpc>
            </a:pPr>
            <a:endParaRPr lang="en-US" altLang="zh-CN" sz="26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4" name="Rectangle 2"/>
          <p:cNvSpPr>
            <a:spLocks noGrp="1" noChangeArrowheads="1"/>
          </p:cNvSpPr>
          <p:nvPr>
            <p:ph type="title" idx="4294967295"/>
          </p:nvPr>
        </p:nvSpPr>
        <p:spPr/>
        <p:txBody>
          <a:bodyPr/>
          <a:lstStyle/>
          <a:p>
            <a:pPr eaLnBrk="1" hangingPunct="1"/>
            <a:r>
              <a:rPr lang="en-US" altLang="zh-CN" sz="3600" dirty="0"/>
              <a:t>TCSEC/TDI</a:t>
            </a:r>
            <a:r>
              <a:rPr lang="zh-CN" altLang="en-US" sz="3600" dirty="0"/>
              <a:t>安全级别划分（续）</a:t>
            </a:r>
            <a:endParaRPr lang="zh-CN" altLang="en-US" sz="3600" dirty="0"/>
          </a:p>
        </p:txBody>
      </p:sp>
      <p:sp>
        <p:nvSpPr>
          <p:cNvPr id="18435" name="Rectangle 3"/>
          <p:cNvSpPr>
            <a:spLocks noGrp="1" noChangeArrowheads="1"/>
          </p:cNvSpPr>
          <p:nvPr>
            <p:ph type="body" idx="4294967295"/>
          </p:nvPr>
        </p:nvSpPr>
        <p:spPr/>
        <p:txBody>
          <a:bodyPr/>
          <a:lstStyle/>
          <a:p>
            <a:pPr eaLnBrk="1" hangingPunct="1"/>
            <a:r>
              <a:rPr lang="en-US" altLang="zh-CN" dirty="0"/>
              <a:t>TCSEC/TDI</a:t>
            </a:r>
            <a:r>
              <a:rPr lang="zh-CN" altLang="en-US" dirty="0"/>
              <a:t>安全级别划分</a:t>
            </a:r>
            <a:endParaRPr lang="zh-CN" altLang="en-US" dirty="0"/>
          </a:p>
          <a:p>
            <a:pPr eaLnBrk="1" hangingPunct="1"/>
            <a:endParaRPr lang="en-US" altLang="zh-CN" dirty="0"/>
          </a:p>
        </p:txBody>
      </p:sp>
      <p:grpSp>
        <p:nvGrpSpPr>
          <p:cNvPr id="18436" name="Group 5"/>
          <p:cNvGrpSpPr/>
          <p:nvPr/>
        </p:nvGrpSpPr>
        <p:grpSpPr bwMode="auto">
          <a:xfrm>
            <a:off x="1559496" y="1988840"/>
            <a:ext cx="8424292" cy="3645198"/>
            <a:chOff x="0" y="0"/>
            <a:chExt cx="3071" cy="3078"/>
          </a:xfrm>
        </p:grpSpPr>
        <p:grpSp>
          <p:nvGrpSpPr>
            <p:cNvPr id="18437" name="Group 6"/>
            <p:cNvGrpSpPr/>
            <p:nvPr/>
          </p:nvGrpSpPr>
          <p:grpSpPr bwMode="auto">
            <a:xfrm>
              <a:off x="3" y="3"/>
              <a:ext cx="3065" cy="3072"/>
              <a:chOff x="0" y="0"/>
              <a:chExt cx="3065" cy="3072"/>
            </a:xfrm>
          </p:grpSpPr>
          <p:grpSp>
            <p:nvGrpSpPr>
              <p:cNvPr id="18439" name="Group 7"/>
              <p:cNvGrpSpPr/>
              <p:nvPr/>
            </p:nvGrpSpPr>
            <p:grpSpPr bwMode="auto">
              <a:xfrm>
                <a:off x="0" y="0"/>
                <a:ext cx="709" cy="384"/>
                <a:chOff x="0" y="0"/>
                <a:chExt cx="709" cy="384"/>
              </a:xfrm>
            </p:grpSpPr>
            <p:sp>
              <p:nvSpPr>
                <p:cNvPr id="18485" name="Rectangle 7"/>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a:latin typeface="Times New Roman" panose="02020603050405020304" pitchFamily="18" charset="0"/>
                    </a:rPr>
                    <a:t>安 全 级 别</a:t>
                  </a:r>
                  <a:endParaRPr lang="zh-CN" altLang="en-US" sz="2200" b="0">
                    <a:latin typeface="Times New Roman" panose="02020603050405020304" pitchFamily="18" charset="0"/>
                  </a:endParaRPr>
                </a:p>
              </p:txBody>
            </p:sp>
            <p:sp>
              <p:nvSpPr>
                <p:cNvPr id="18486" name="Rectangle 8"/>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0" name="Group 10"/>
              <p:cNvGrpSpPr/>
              <p:nvPr/>
            </p:nvGrpSpPr>
            <p:grpSpPr bwMode="auto">
              <a:xfrm>
                <a:off x="709" y="0"/>
                <a:ext cx="2356" cy="384"/>
                <a:chOff x="0" y="0"/>
                <a:chExt cx="2356" cy="384"/>
              </a:xfrm>
            </p:grpSpPr>
            <p:sp>
              <p:nvSpPr>
                <p:cNvPr id="18483" name="Rectangle 10"/>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a:t>
                  </a:r>
                  <a:r>
                    <a:rPr lang="zh-CN" altLang="en-US" sz="2200">
                      <a:latin typeface="Times New Roman" panose="02020603050405020304" pitchFamily="18" charset="0"/>
                    </a:rPr>
                    <a:t>定        义</a:t>
                  </a:r>
                  <a:endParaRPr lang="zh-CN" altLang="en-US" sz="2200" b="0">
                    <a:latin typeface="Times New Roman" panose="02020603050405020304" pitchFamily="18" charset="0"/>
                  </a:endParaRPr>
                </a:p>
              </p:txBody>
            </p:sp>
            <p:sp>
              <p:nvSpPr>
                <p:cNvPr id="18484" name="Rectangle 11"/>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1" name="Group 13"/>
              <p:cNvGrpSpPr/>
              <p:nvPr/>
            </p:nvGrpSpPr>
            <p:grpSpPr bwMode="auto">
              <a:xfrm>
                <a:off x="0" y="384"/>
                <a:ext cx="709" cy="384"/>
                <a:chOff x="0" y="0"/>
                <a:chExt cx="709" cy="384"/>
              </a:xfrm>
            </p:grpSpPr>
            <p:sp>
              <p:nvSpPr>
                <p:cNvPr id="18481" name="Rectangle 13"/>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A1</a:t>
                  </a:r>
                  <a:endParaRPr lang="en-US" altLang="zh-CN" sz="2200" b="0" dirty="0">
                    <a:latin typeface="Times New Roman" panose="02020603050405020304" pitchFamily="18" charset="0"/>
                  </a:endParaRPr>
                </a:p>
              </p:txBody>
            </p:sp>
            <p:sp>
              <p:nvSpPr>
                <p:cNvPr id="18482" name="Rectangle 14"/>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2" name="Group 16"/>
              <p:cNvGrpSpPr/>
              <p:nvPr/>
            </p:nvGrpSpPr>
            <p:grpSpPr bwMode="auto">
              <a:xfrm>
                <a:off x="709" y="384"/>
                <a:ext cx="2356" cy="384"/>
                <a:chOff x="0" y="0"/>
                <a:chExt cx="2356" cy="384"/>
              </a:xfrm>
            </p:grpSpPr>
            <p:sp>
              <p:nvSpPr>
                <p:cNvPr id="18479" name="Rectangle 16"/>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验证设计（</a:t>
                  </a:r>
                  <a:r>
                    <a:rPr lang="en-US" altLang="zh-CN" sz="2200" dirty="0">
                      <a:latin typeface="Times New Roman" panose="02020603050405020304" pitchFamily="18" charset="0"/>
                    </a:rPr>
                    <a:t>verified design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80" name="Rectangle 17"/>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3" name="Group 19"/>
              <p:cNvGrpSpPr/>
              <p:nvPr/>
            </p:nvGrpSpPr>
            <p:grpSpPr bwMode="auto">
              <a:xfrm>
                <a:off x="0" y="768"/>
                <a:ext cx="709" cy="384"/>
                <a:chOff x="0" y="0"/>
                <a:chExt cx="709" cy="384"/>
              </a:xfrm>
            </p:grpSpPr>
            <p:sp>
              <p:nvSpPr>
                <p:cNvPr id="18477" name="Rectangle 19"/>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B3</a:t>
                  </a:r>
                  <a:endParaRPr lang="en-US" altLang="zh-CN" sz="2200" b="0" dirty="0">
                    <a:latin typeface="Times New Roman" panose="02020603050405020304" pitchFamily="18" charset="0"/>
                  </a:endParaRPr>
                </a:p>
              </p:txBody>
            </p:sp>
            <p:sp>
              <p:nvSpPr>
                <p:cNvPr id="18478" name="Rectangle 20"/>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4" name="Group 22"/>
              <p:cNvGrpSpPr/>
              <p:nvPr/>
            </p:nvGrpSpPr>
            <p:grpSpPr bwMode="auto">
              <a:xfrm>
                <a:off x="709" y="768"/>
                <a:ext cx="2356" cy="384"/>
                <a:chOff x="0" y="0"/>
                <a:chExt cx="2356" cy="384"/>
              </a:xfrm>
            </p:grpSpPr>
            <p:sp>
              <p:nvSpPr>
                <p:cNvPr id="18475" name="Rectangle 22"/>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安全域（</a:t>
                  </a:r>
                  <a:r>
                    <a:rPr lang="en-US" altLang="zh-CN" sz="2200" dirty="0">
                      <a:latin typeface="Times New Roman" panose="02020603050405020304" pitchFamily="18" charset="0"/>
                    </a:rPr>
                    <a:t>security domains</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76" name="Rectangle 23"/>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5" name="Group 25"/>
              <p:cNvGrpSpPr/>
              <p:nvPr/>
            </p:nvGrpSpPr>
            <p:grpSpPr bwMode="auto">
              <a:xfrm>
                <a:off x="0" y="1152"/>
                <a:ext cx="709" cy="384"/>
                <a:chOff x="0" y="0"/>
                <a:chExt cx="709" cy="384"/>
              </a:xfrm>
            </p:grpSpPr>
            <p:sp>
              <p:nvSpPr>
                <p:cNvPr id="18473" name="Rectangle 25"/>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B2</a:t>
                  </a:r>
                  <a:endParaRPr lang="en-US" altLang="zh-CN" sz="2200" b="0" dirty="0">
                    <a:latin typeface="Times New Roman" panose="02020603050405020304" pitchFamily="18" charset="0"/>
                  </a:endParaRPr>
                </a:p>
              </p:txBody>
            </p:sp>
            <p:sp>
              <p:nvSpPr>
                <p:cNvPr id="18474" name="Rectangle 26"/>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6" name="Group 28"/>
              <p:cNvGrpSpPr/>
              <p:nvPr/>
            </p:nvGrpSpPr>
            <p:grpSpPr bwMode="auto">
              <a:xfrm>
                <a:off x="709" y="1152"/>
                <a:ext cx="2356" cy="384"/>
                <a:chOff x="0" y="0"/>
                <a:chExt cx="2356" cy="384"/>
              </a:xfrm>
            </p:grpSpPr>
            <p:sp>
              <p:nvSpPr>
                <p:cNvPr id="18471" name="Rectangle 28"/>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结构化保护（</a:t>
                  </a:r>
                  <a:r>
                    <a:rPr lang="en-US" altLang="zh-CN" sz="2200" dirty="0">
                      <a:latin typeface="Times New Roman" panose="02020603050405020304" pitchFamily="18" charset="0"/>
                    </a:rPr>
                    <a:t>structural protection</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72" name="Rectangle 29"/>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7" name="Group 31"/>
              <p:cNvGrpSpPr/>
              <p:nvPr/>
            </p:nvGrpSpPr>
            <p:grpSpPr bwMode="auto">
              <a:xfrm>
                <a:off x="0" y="1536"/>
                <a:ext cx="709" cy="384"/>
                <a:chOff x="0" y="0"/>
                <a:chExt cx="709" cy="384"/>
              </a:xfrm>
            </p:grpSpPr>
            <p:sp>
              <p:nvSpPr>
                <p:cNvPr id="18469" name="Rectangle 31"/>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B1</a:t>
                  </a:r>
                  <a:endParaRPr lang="en-US" altLang="zh-CN" sz="2200" b="0">
                    <a:latin typeface="Times New Roman" panose="02020603050405020304" pitchFamily="18" charset="0"/>
                  </a:endParaRPr>
                </a:p>
              </p:txBody>
            </p:sp>
            <p:sp>
              <p:nvSpPr>
                <p:cNvPr id="18470" name="Rectangle 32"/>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8" name="Group 34"/>
              <p:cNvGrpSpPr/>
              <p:nvPr/>
            </p:nvGrpSpPr>
            <p:grpSpPr bwMode="auto">
              <a:xfrm>
                <a:off x="709" y="1536"/>
                <a:ext cx="2356" cy="384"/>
                <a:chOff x="0" y="0"/>
                <a:chExt cx="2356" cy="384"/>
              </a:xfrm>
            </p:grpSpPr>
            <p:sp>
              <p:nvSpPr>
                <p:cNvPr id="18467" name="Rectangle 34"/>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标记安全保护（</a:t>
                  </a:r>
                  <a:r>
                    <a:rPr lang="en-US" altLang="zh-CN" sz="2200" dirty="0">
                      <a:latin typeface="Times New Roman" panose="02020603050405020304" pitchFamily="18" charset="0"/>
                    </a:rPr>
                    <a:t>labeled security protection</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68" name="Rectangle 35"/>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9" name="Group 37"/>
              <p:cNvGrpSpPr/>
              <p:nvPr/>
            </p:nvGrpSpPr>
            <p:grpSpPr bwMode="auto">
              <a:xfrm>
                <a:off x="0" y="1920"/>
                <a:ext cx="709" cy="384"/>
                <a:chOff x="0" y="0"/>
                <a:chExt cx="709" cy="384"/>
              </a:xfrm>
            </p:grpSpPr>
            <p:sp>
              <p:nvSpPr>
                <p:cNvPr id="18465" name="Rectangle 37"/>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C2</a:t>
                  </a:r>
                  <a:endParaRPr lang="en-US" altLang="zh-CN" sz="2200" b="0">
                    <a:latin typeface="Times New Roman" panose="02020603050405020304" pitchFamily="18" charset="0"/>
                  </a:endParaRPr>
                </a:p>
              </p:txBody>
            </p:sp>
            <p:sp>
              <p:nvSpPr>
                <p:cNvPr id="18466" name="Rectangle 38"/>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0" name="Group 40"/>
              <p:cNvGrpSpPr/>
              <p:nvPr/>
            </p:nvGrpSpPr>
            <p:grpSpPr bwMode="auto">
              <a:xfrm>
                <a:off x="709" y="1920"/>
                <a:ext cx="2356" cy="384"/>
                <a:chOff x="0" y="0"/>
                <a:chExt cx="2356" cy="384"/>
              </a:xfrm>
            </p:grpSpPr>
            <p:sp>
              <p:nvSpPr>
                <p:cNvPr id="18463" name="Rectangle 40"/>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受控的存取保护（</a:t>
                  </a:r>
                  <a:r>
                    <a:rPr lang="en-US" altLang="zh-CN" sz="2200" dirty="0">
                      <a:latin typeface="Times New Roman" panose="02020603050405020304" pitchFamily="18" charset="0"/>
                    </a:rPr>
                    <a:t>controlled access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4" name="Rectangle 41"/>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1" name="Group 43"/>
              <p:cNvGrpSpPr/>
              <p:nvPr/>
            </p:nvGrpSpPr>
            <p:grpSpPr bwMode="auto">
              <a:xfrm>
                <a:off x="0" y="2304"/>
                <a:ext cx="709" cy="384"/>
                <a:chOff x="0" y="0"/>
                <a:chExt cx="709" cy="384"/>
              </a:xfrm>
            </p:grpSpPr>
            <p:sp>
              <p:nvSpPr>
                <p:cNvPr id="18461" name="Rectangle 43"/>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C1</a:t>
                  </a:r>
                  <a:endParaRPr lang="en-US" altLang="zh-CN" sz="2200" b="0" dirty="0">
                    <a:latin typeface="Times New Roman" panose="02020603050405020304" pitchFamily="18" charset="0"/>
                  </a:endParaRPr>
                </a:p>
              </p:txBody>
            </p:sp>
            <p:sp>
              <p:nvSpPr>
                <p:cNvPr id="18462" name="Rectangle 44"/>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2" name="Group 46"/>
              <p:cNvGrpSpPr/>
              <p:nvPr/>
            </p:nvGrpSpPr>
            <p:grpSpPr bwMode="auto">
              <a:xfrm>
                <a:off x="709" y="2304"/>
                <a:ext cx="2356" cy="384"/>
                <a:chOff x="0" y="0"/>
                <a:chExt cx="2356" cy="384"/>
              </a:xfrm>
            </p:grpSpPr>
            <p:sp>
              <p:nvSpPr>
                <p:cNvPr id="18459" name="Rectangle 46"/>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自主安全保护（</a:t>
                  </a:r>
                  <a:r>
                    <a:rPr lang="en-US" altLang="zh-CN" sz="2200" dirty="0">
                      <a:latin typeface="Times New Roman" panose="02020603050405020304" pitchFamily="18" charset="0"/>
                    </a:rPr>
                    <a:t>discretionary security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0" name="Rectangle 47"/>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3" name="Group 49"/>
              <p:cNvGrpSpPr/>
              <p:nvPr/>
            </p:nvGrpSpPr>
            <p:grpSpPr bwMode="auto">
              <a:xfrm>
                <a:off x="0" y="2688"/>
                <a:ext cx="709" cy="384"/>
                <a:chOff x="0" y="0"/>
                <a:chExt cx="709" cy="384"/>
              </a:xfrm>
            </p:grpSpPr>
            <p:sp>
              <p:nvSpPr>
                <p:cNvPr id="18457" name="Rectangle 49"/>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D</a:t>
                  </a:r>
                  <a:endParaRPr lang="en-US" altLang="zh-CN" sz="2200" b="0">
                    <a:latin typeface="Times New Roman" panose="02020603050405020304" pitchFamily="18" charset="0"/>
                  </a:endParaRPr>
                </a:p>
              </p:txBody>
            </p:sp>
            <p:sp>
              <p:nvSpPr>
                <p:cNvPr id="18458" name="Rectangle 50"/>
                <p:cNvSpPr>
                  <a:spLocks noChangeArrowheads="1"/>
                </p:cNvSpPr>
                <p:nvPr/>
              </p:nvSpPr>
              <p:spPr bwMode="auto">
                <a:xfrm>
                  <a:off x="0" y="0"/>
                  <a:ext cx="70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4" name="Group 52"/>
              <p:cNvGrpSpPr/>
              <p:nvPr/>
            </p:nvGrpSpPr>
            <p:grpSpPr bwMode="auto">
              <a:xfrm>
                <a:off x="709" y="2688"/>
                <a:ext cx="2356" cy="384"/>
                <a:chOff x="0" y="0"/>
                <a:chExt cx="2356" cy="384"/>
              </a:xfrm>
            </p:grpSpPr>
            <p:sp>
              <p:nvSpPr>
                <p:cNvPr id="18455" name="Rectangle 52"/>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最小保护（</a:t>
                  </a:r>
                  <a:r>
                    <a:rPr lang="en-US" altLang="zh-CN" sz="2200" dirty="0">
                      <a:latin typeface="Times New Roman" panose="02020603050405020304" pitchFamily="18" charset="0"/>
                    </a:rPr>
                    <a:t>minimal protection</a:t>
                  </a:r>
                  <a:r>
                    <a:rPr lang="zh-CN" altLang="en-US" sz="2200" dirty="0">
                      <a:latin typeface="Times New Roman" panose="02020603050405020304" pitchFamily="18" charset="0"/>
                    </a:rPr>
                    <a:t>）</a:t>
                  </a:r>
                  <a:endParaRPr lang="zh-CN" altLang="en-US" sz="2200" dirty="0">
                    <a:latin typeface="Times New Roman" panose="02020603050405020304" pitchFamily="18" charset="0"/>
                  </a:endParaRPr>
                </a:p>
              </p:txBody>
            </p:sp>
            <p:sp>
              <p:nvSpPr>
                <p:cNvPr id="18456" name="Rectangle 53"/>
                <p:cNvSpPr>
                  <a:spLocks noChangeArrowheads="1"/>
                </p:cNvSpPr>
                <p:nvPr/>
              </p:nvSpPr>
              <p:spPr bwMode="auto">
                <a:xfrm>
                  <a:off x="0" y="0"/>
                  <a:ext cx="235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sp>
          <p:nvSpPr>
            <p:cNvPr id="18438" name="Rectangle 54"/>
            <p:cNvSpPr>
              <a:spLocks noChangeArrowheads="1"/>
            </p:cNvSpPr>
            <p:nvPr/>
          </p:nvSpPr>
          <p:spPr bwMode="auto">
            <a:xfrm>
              <a:off x="0" y="0"/>
              <a:ext cx="3071" cy="3078"/>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7650" name="Rectangle 2"/>
          <p:cNvSpPr>
            <a:spLocks noGrp="1" noChangeArrowheads="1"/>
          </p:cNvSpPr>
          <p:nvPr>
            <p:ph type="title" idx="4294967295"/>
          </p:nvPr>
        </p:nvSpPr>
        <p:spPr/>
        <p:txBody>
          <a:bodyPr/>
          <a:lstStyle/>
          <a:p>
            <a:pPr eaLnBrk="1" hangingPunct="1"/>
            <a:r>
              <a:rPr lang="en-US" altLang="zh-CN" sz="3600"/>
              <a:t>TCSEC/TDI</a:t>
            </a:r>
            <a:r>
              <a:rPr lang="zh-CN" altLang="en-US" sz="3600"/>
              <a:t>安全级别划分（续）</a:t>
            </a:r>
            <a:endParaRPr lang="zh-CN" altLang="zh-CN" sz="3600"/>
          </a:p>
        </p:txBody>
      </p:sp>
      <p:sp>
        <p:nvSpPr>
          <p:cNvPr id="27651" name="Rectangle 3"/>
          <p:cNvSpPr>
            <a:spLocks noGrp="1" noChangeArrowheads="1"/>
          </p:cNvSpPr>
          <p:nvPr>
            <p:ph type="body" idx="4294967295"/>
          </p:nvPr>
        </p:nvSpPr>
        <p:spPr>
          <a:xfrm>
            <a:off x="911424" y="1339851"/>
            <a:ext cx="10972800" cy="4854575"/>
          </a:xfrm>
        </p:spPr>
        <p:txBody>
          <a:bodyPr/>
          <a:lstStyle/>
          <a:p>
            <a:pPr eaLnBrk="1" hangingPunct="1"/>
            <a:r>
              <a:rPr lang="en-US" altLang="zh-CN" dirty="0"/>
              <a:t>TDI</a:t>
            </a:r>
            <a:r>
              <a:rPr lang="zh-CN" altLang="en-US" dirty="0"/>
              <a:t>从四个方面来描述安全性级别划分的指标</a:t>
            </a:r>
            <a:endParaRPr lang="zh-CN" altLang="en-US" dirty="0"/>
          </a:p>
          <a:p>
            <a:pPr lvl="1" eaLnBrk="1" hangingPunct="1">
              <a:lnSpc>
                <a:spcPct val="110000"/>
              </a:lnSpc>
              <a:spcBef>
                <a:spcPct val="40000"/>
              </a:spcBef>
            </a:pPr>
            <a:r>
              <a:rPr lang="zh-CN" altLang="en-US" dirty="0"/>
              <a:t>安全策略</a:t>
            </a:r>
            <a:endParaRPr lang="en-US" altLang="zh-CN" dirty="0"/>
          </a:p>
          <a:p>
            <a:pPr lvl="1" eaLnBrk="1" hangingPunct="1">
              <a:lnSpc>
                <a:spcPct val="110000"/>
              </a:lnSpc>
              <a:spcBef>
                <a:spcPct val="40000"/>
              </a:spcBef>
            </a:pPr>
            <a:r>
              <a:rPr lang="zh-CN" altLang="en-US" dirty="0"/>
              <a:t>责任</a:t>
            </a:r>
            <a:endParaRPr lang="en-US" altLang="zh-CN" dirty="0"/>
          </a:p>
          <a:p>
            <a:pPr lvl="1" eaLnBrk="1" hangingPunct="1">
              <a:lnSpc>
                <a:spcPct val="110000"/>
              </a:lnSpc>
              <a:spcBef>
                <a:spcPct val="40000"/>
              </a:spcBef>
            </a:pPr>
            <a:r>
              <a:rPr lang="zh-CN" altLang="en-US" dirty="0"/>
              <a:t>保证</a:t>
            </a:r>
            <a:endParaRPr lang="en-US" altLang="zh-CN" dirty="0"/>
          </a:p>
          <a:p>
            <a:pPr lvl="1" eaLnBrk="1" hangingPunct="1">
              <a:lnSpc>
                <a:spcPct val="110000"/>
              </a:lnSpc>
              <a:spcBef>
                <a:spcPct val="40000"/>
              </a:spcBef>
            </a:pPr>
            <a:r>
              <a:rPr lang="zh-CN" altLang="en-US" dirty="0"/>
              <a:t>文档</a:t>
            </a:r>
            <a:endParaRPr lang="en-US" altLang="zh-C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p:cNvSpPr>
            <a:spLocks noGrp="1" noChangeArrowheads="1"/>
          </p:cNvSpPr>
          <p:nvPr>
            <p:ph type="title" idx="4294967295"/>
          </p:nvPr>
        </p:nvSpPr>
        <p:spPr/>
        <p:txBody>
          <a:bodyPr/>
          <a:lstStyle/>
          <a:p>
            <a:pPr eaLnBrk="1" hangingPunct="1">
              <a:defRPr/>
            </a:pPr>
            <a:r>
              <a:rPr lang="en-US" altLang="zh-CN" sz="3600" dirty="0"/>
              <a:t>TCSEC/TDI</a:t>
            </a:r>
            <a:r>
              <a:rPr lang="zh-CN" altLang="en-US" sz="3600" dirty="0"/>
              <a:t>安全级别划分（续）</a:t>
            </a:r>
            <a:endParaRPr lang="zh-CN" altLang="zh-CN" sz="3600" dirty="0">
              <a:solidFill>
                <a:schemeClr val="tx1"/>
              </a:solidFill>
              <a:highlight>
                <a:srgbClr val="FFFF00"/>
              </a:highlight>
            </a:endParaRPr>
          </a:p>
        </p:txBody>
      </p:sp>
      <p:pic>
        <p:nvPicPr>
          <p:cNvPr id="2" name="图片 1"/>
          <p:cNvPicPr>
            <a:picLocks noChangeAspect="1"/>
          </p:cNvPicPr>
          <p:nvPr/>
        </p:nvPicPr>
        <p:blipFill>
          <a:blip r:embed="rId1"/>
          <a:stretch>
            <a:fillRect/>
          </a:stretch>
        </p:blipFill>
        <p:spPr>
          <a:xfrm>
            <a:off x="2567608" y="986723"/>
            <a:ext cx="6912768" cy="4884555"/>
          </a:xfrm>
          <a:prstGeom prst="rect">
            <a:avLst/>
          </a:prstGeom>
        </p:spPr>
      </p:pic>
      <p:sp>
        <p:nvSpPr>
          <p:cNvPr id="6" name="矩形 8"/>
          <p:cNvSpPr>
            <a:spLocks noChangeArrowheads="1"/>
          </p:cNvSpPr>
          <p:nvPr/>
        </p:nvSpPr>
        <p:spPr bwMode="auto">
          <a:xfrm>
            <a:off x="4007768" y="5941847"/>
            <a:ext cx="4649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表 </a:t>
            </a:r>
            <a:r>
              <a:rPr lang="en-US" altLang="zh-CN" sz="1800"/>
              <a:t>4.2</a:t>
            </a:r>
            <a:r>
              <a:rPr lang="zh-CN" altLang="en-US" sz="1800"/>
              <a:t>  不同安全级别对安全指标的支持情况</a:t>
            </a:r>
            <a:endParaRPr lang="zh-CN" altLang="en-US" sz="18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p:cNvSpPr>
            <a:spLocks noGrp="1" noChangeArrowheads="1"/>
          </p:cNvSpPr>
          <p:nvPr>
            <p:ph type="title" idx="4294967295"/>
          </p:nvPr>
        </p:nvSpPr>
        <p:spPr>
          <a:xfrm>
            <a:off x="2438401" y="255588"/>
            <a:ext cx="7834313" cy="563562"/>
          </a:xfrm>
        </p:spPr>
        <p:txBody>
          <a:bodyPr/>
          <a:lstStyle/>
          <a:p>
            <a:pPr eaLnBrk="1" hangingPunct="1">
              <a:defRPr/>
            </a:pPr>
            <a:r>
              <a:rPr lang="en-US" altLang="zh-CN" sz="3600" dirty="0"/>
              <a:t>CC</a:t>
            </a:r>
            <a:endParaRPr lang="zh-CN" altLang="en-US" sz="3600" dirty="0">
              <a:solidFill>
                <a:schemeClr val="tx1"/>
              </a:solidFill>
              <a:highlight>
                <a:srgbClr val="FFFF00"/>
              </a:highlight>
            </a:endParaRPr>
          </a:p>
        </p:txBody>
      </p:sp>
      <p:sp>
        <p:nvSpPr>
          <p:cNvPr id="30723" name="Rectangle 3"/>
          <p:cNvSpPr>
            <a:spLocks noGrp="1" noChangeArrowheads="1"/>
          </p:cNvSpPr>
          <p:nvPr>
            <p:ph type="body" idx="4294967295"/>
          </p:nvPr>
        </p:nvSpPr>
        <p:spPr>
          <a:xfrm>
            <a:off x="1194284" y="1391265"/>
            <a:ext cx="9803432" cy="4680742"/>
          </a:xfrm>
        </p:spPr>
        <p:txBody>
          <a:bodyPr/>
          <a:lstStyle/>
          <a:p>
            <a:pPr eaLnBrk="1" hangingPunct="1">
              <a:defRPr/>
            </a:pPr>
            <a:r>
              <a:rPr lang="en-US" altLang="zh-CN" dirty="0"/>
              <a:t> CC</a:t>
            </a:r>
            <a:endParaRPr lang="zh-CN" altLang="en-US" dirty="0"/>
          </a:p>
          <a:p>
            <a:pPr lvl="1" eaLnBrk="1" hangingPunct="1">
              <a:lnSpc>
                <a:spcPct val="150000"/>
              </a:lnSpc>
              <a:spcBef>
                <a:spcPct val="0"/>
              </a:spcBef>
              <a:defRPr/>
            </a:pPr>
            <a:r>
              <a:rPr lang="en-US" altLang="zh-CN" sz="2200" dirty="0"/>
              <a:t>1999</a:t>
            </a:r>
            <a:r>
              <a:rPr lang="zh-CN" altLang="en-US" sz="2200" dirty="0"/>
              <a:t>年被</a:t>
            </a:r>
            <a:r>
              <a:rPr lang="en-US" altLang="zh-CN" sz="2200" dirty="0"/>
              <a:t>ISO</a:t>
            </a:r>
            <a:r>
              <a:rPr lang="zh-CN" altLang="en-US" sz="2200" dirty="0"/>
              <a:t>采用为国际标准</a:t>
            </a:r>
            <a:endParaRPr lang="en-US" altLang="zh-CN" sz="2200" dirty="0"/>
          </a:p>
          <a:p>
            <a:pPr lvl="1" eaLnBrk="1" hangingPunct="1">
              <a:lnSpc>
                <a:spcPct val="150000"/>
              </a:lnSpc>
              <a:spcBef>
                <a:spcPct val="0"/>
              </a:spcBef>
              <a:defRPr/>
            </a:pPr>
            <a:r>
              <a:rPr lang="zh-CN" altLang="en-US" dirty="0"/>
              <a:t>根据系统对安全保证要求的支持情况提出了评估保证级（</a:t>
            </a:r>
            <a:r>
              <a:rPr lang="en-US" altLang="zh-CN" dirty="0"/>
              <a:t>Evaluation</a:t>
            </a:r>
            <a:r>
              <a:rPr lang="zh-CN" altLang="en-US" dirty="0"/>
              <a:t> </a:t>
            </a:r>
            <a:r>
              <a:rPr lang="en-US" altLang="zh-CN" dirty="0"/>
              <a:t>Assurance</a:t>
            </a:r>
            <a:r>
              <a:rPr lang="zh-CN" altLang="en-US" dirty="0"/>
              <a:t> </a:t>
            </a:r>
            <a:r>
              <a:rPr lang="en-US" altLang="zh-CN" dirty="0"/>
              <a:t>Level</a:t>
            </a:r>
            <a:r>
              <a:rPr lang="zh-CN" altLang="en-US" dirty="0"/>
              <a:t>，</a:t>
            </a:r>
            <a:r>
              <a:rPr lang="en-US" altLang="zh-CN" dirty="0"/>
              <a:t>EAL</a:t>
            </a:r>
            <a:r>
              <a:rPr lang="zh-CN" altLang="en-US" dirty="0"/>
              <a:t>）</a:t>
            </a:r>
            <a:endParaRPr lang="en-US" altLang="zh-CN" dirty="0"/>
          </a:p>
          <a:p>
            <a:pPr lvl="2" eaLnBrk="1" hangingPunct="1">
              <a:lnSpc>
                <a:spcPct val="150000"/>
              </a:lnSpc>
              <a:spcBef>
                <a:spcPct val="0"/>
              </a:spcBef>
              <a:buSzPct val="87000"/>
              <a:buFont typeface="Wingdings" panose="05000000000000000000" pitchFamily="2" charset="2"/>
              <a:buChar char="l"/>
              <a:defRPr/>
            </a:pPr>
            <a:r>
              <a:rPr lang="zh-CN" altLang="zh-CN" sz="2200" dirty="0"/>
              <a:t>从</a:t>
            </a:r>
            <a:r>
              <a:rPr lang="en-US" altLang="zh-CN" sz="2200" dirty="0"/>
              <a:t>EAL1</a:t>
            </a:r>
            <a:r>
              <a:rPr lang="zh-CN" altLang="zh-CN" sz="2200" dirty="0"/>
              <a:t>至</a:t>
            </a:r>
            <a:r>
              <a:rPr lang="en-US" altLang="zh-CN" sz="2200" dirty="0"/>
              <a:t>EAL7</a:t>
            </a:r>
            <a:r>
              <a:rPr lang="zh-CN" altLang="zh-CN" sz="2200" dirty="0"/>
              <a:t>共分为七级</a:t>
            </a:r>
            <a:endParaRPr lang="en-US" altLang="zh-CN" sz="2200" dirty="0"/>
          </a:p>
          <a:p>
            <a:pPr lvl="2" eaLnBrk="1" hangingPunct="1">
              <a:lnSpc>
                <a:spcPct val="150000"/>
              </a:lnSpc>
              <a:spcBef>
                <a:spcPct val="0"/>
              </a:spcBef>
              <a:buSzPct val="87000"/>
              <a:buFont typeface="Wingdings" panose="05000000000000000000" pitchFamily="2" charset="2"/>
              <a:buChar char="l"/>
              <a:defRPr/>
            </a:pPr>
            <a:r>
              <a:rPr lang="zh-CN" altLang="en-US" sz="2200" dirty="0"/>
              <a:t>按保证程度逐渐增高</a:t>
            </a:r>
            <a:endParaRPr lang="en-US" altLang="zh-CN" sz="2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p:cNvSpPr>
            <a:spLocks noGrp="1" noChangeArrowheads="1"/>
          </p:cNvSpPr>
          <p:nvPr>
            <p:ph type="title" idx="4294967295"/>
          </p:nvPr>
        </p:nvSpPr>
        <p:spPr>
          <a:xfrm>
            <a:off x="2438400" y="255588"/>
            <a:ext cx="7905750" cy="563562"/>
          </a:xfrm>
        </p:spPr>
        <p:txBody>
          <a:bodyPr/>
          <a:lstStyle/>
          <a:p>
            <a:pPr eaLnBrk="1" hangingPunct="1"/>
            <a:r>
              <a:rPr lang="en-US" altLang="zh-CN" sz="3600"/>
              <a:t>CC</a:t>
            </a:r>
            <a:r>
              <a:rPr lang="zh-CN" altLang="en-US" sz="3600"/>
              <a:t>（续）</a:t>
            </a:r>
            <a:endParaRPr lang="zh-CN" altLang="en-US" sz="3600"/>
          </a:p>
        </p:txBody>
      </p:sp>
      <p:graphicFrame>
        <p:nvGraphicFramePr>
          <p:cNvPr id="17413" name="Group 5"/>
          <p:cNvGraphicFramePr>
            <a:graphicFrameLocks noGrp="1"/>
          </p:cNvGraphicFramePr>
          <p:nvPr>
            <p:ph sz="half" idx="4294967295"/>
          </p:nvPr>
        </p:nvGraphicFramePr>
        <p:xfrm>
          <a:off x="1379637" y="919119"/>
          <a:ext cx="9432726" cy="4998592"/>
        </p:xfrm>
        <a:graphic>
          <a:graphicData uri="http://schemas.openxmlformats.org/drawingml/2006/table">
            <a:tbl>
              <a:tblPr/>
              <a:tblGrid>
                <a:gridCol w="1470614"/>
                <a:gridCol w="5713484"/>
                <a:gridCol w="2248628"/>
              </a:tblGrid>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评估保证级</a:t>
                      </a: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定　　义</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TCSEC</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安全级别（近似相当）</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21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功能测试（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functionally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21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EAL2</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结构测试（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structurally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系统地测试和检查（</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methodically tested and checked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C2</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系统地设计、测试和复查（</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methodically designed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and reviewed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EAL5</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半形式化设计和测试（</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semiformally</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designed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EAL6</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半形式化验证的设计和测试（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semiformally verified design and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386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EAL7</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形式化验证的设计和测试（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formally verified design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r>
            </a:tbl>
          </a:graphicData>
        </a:graphic>
      </p:graphicFrame>
      <p:sp>
        <p:nvSpPr>
          <p:cNvPr id="6" name="Rectangle 5"/>
          <p:cNvSpPr>
            <a:spLocks noChangeArrowheads="1"/>
          </p:cNvSpPr>
          <p:nvPr/>
        </p:nvSpPr>
        <p:spPr bwMode="auto">
          <a:xfrm>
            <a:off x="3302128" y="5949280"/>
            <a:ext cx="6178294" cy="369332"/>
          </a:xfrm>
          <a:prstGeom prst="rect">
            <a:avLst/>
          </a:prstGeom>
          <a:noFill/>
          <a:ln>
            <a:noFill/>
          </a:ln>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defRPr/>
            </a:pPr>
            <a:r>
              <a:rPr lang="en-US" altLang="zh-CN" sz="1800" dirty="0">
                <a:latin typeface="Times New Roman" panose="02020603050405020304" pitchFamily="18" charset="0"/>
              </a:rPr>
              <a:t>CC</a:t>
            </a:r>
            <a:r>
              <a:rPr lang="zh-CN" altLang="en-US" sz="1800" dirty="0">
                <a:latin typeface="Times New Roman" panose="02020603050405020304" pitchFamily="18" charset="0"/>
              </a:rPr>
              <a:t>评估保证级（</a:t>
            </a:r>
            <a:r>
              <a:rPr lang="en-US" altLang="zh-CN" sz="1800" dirty="0">
                <a:latin typeface="Times New Roman" panose="02020603050405020304" pitchFamily="18" charset="0"/>
              </a:rPr>
              <a:t>EAL</a:t>
            </a:r>
            <a:r>
              <a:rPr lang="zh-CN" altLang="en-US" sz="1800" dirty="0">
                <a:latin typeface="Times New Roman" panose="02020603050405020304" pitchFamily="18" charset="0"/>
              </a:rPr>
              <a:t>）的划分及与</a:t>
            </a:r>
            <a:r>
              <a:rPr lang="en-US" altLang="zh-CN" sz="1800" dirty="0">
                <a:latin typeface="Times New Roman" panose="02020603050405020304" pitchFamily="18" charset="0"/>
              </a:rPr>
              <a:t>TCSEC</a:t>
            </a:r>
            <a:r>
              <a:rPr lang="zh-CN" altLang="en-US" sz="1800" dirty="0">
                <a:latin typeface="Times New Roman" panose="02020603050405020304" pitchFamily="18" charset="0"/>
              </a:rPr>
              <a:t>安全级别的对应</a:t>
            </a:r>
            <a:endParaRPr lang="zh-CN" altLang="en-US" sz="1800" dirty="0">
              <a:highlight>
                <a:srgbClr val="FFFF00"/>
              </a:highlight>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3"/>
          <p:cNvSpPr>
            <a:spLocks noGrp="1" noChangeArrowheads="1"/>
          </p:cNvSpPr>
          <p:nvPr>
            <p:custDataLst>
              <p:tags r:id="rId1"/>
            </p:custDataLst>
          </p:nvPr>
        </p:nvSpPr>
        <p:spPr>
          <a:xfrm>
            <a:off x="1194284" y="1391265"/>
            <a:ext cx="9803432" cy="4680742"/>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baseline="0">
                <a:solidFill>
                  <a:schemeClr val="tx1"/>
                </a:solidFill>
                <a:latin typeface="Arial" panose="020B0604020202020204" pitchFamily="34" charset="0"/>
                <a:ea typeface="宋体" panose="02010600030101010101" pitchFamily="2" charset="-122"/>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baseline="0">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20000"/>
              </a:spcBef>
              <a:spcAft>
                <a:spcPct val="0"/>
              </a:spcAft>
              <a:buFont typeface="Wingdings" panose="05000000000000000000" pitchFamily="2" charset="2"/>
              <a:buChar char="l"/>
              <a:defRPr sz="2200" b="1" baseline="0">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defRPr/>
            </a:pPr>
            <a:r>
              <a:rPr lang="en-US" altLang="zh-CN" dirty="0"/>
              <a:t>《信息安全技术—数据库管理系统安全技术要求》</a:t>
            </a:r>
            <a:endParaRPr lang="en-US" altLang="zh-CN" dirty="0"/>
          </a:p>
          <a:p>
            <a:pPr eaLnBrk="1" hangingPunct="1">
              <a:defRPr/>
            </a:pPr>
            <a:r>
              <a:rPr lang="en-US" altLang="zh-CN" dirty="0"/>
              <a:t>GB/T 20273-2006</a:t>
            </a:r>
            <a:endParaRPr lang="en-US" altLang="zh-CN" dirty="0"/>
          </a:p>
        </p:txBody>
      </p:sp>
      <p:sp>
        <p:nvSpPr>
          <p:cNvPr id="30722" name="Rectangle 2"/>
          <p:cNvSpPr>
            <a:spLocks noGrp="1" noChangeArrowheads="1"/>
          </p:cNvSpPr>
          <p:nvPr>
            <p:custDataLst>
              <p:tags r:id="rId2"/>
            </p:custDataLst>
          </p:nvPr>
        </p:nvSpPr>
        <p:spPr>
          <a:xfrm>
            <a:off x="2438401" y="255588"/>
            <a:ext cx="7834313" cy="563562"/>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defRPr/>
            </a:pPr>
            <a:r>
              <a:rPr lang="zh-CN" altLang="en-US" sz="3600" dirty="0"/>
              <a:t>我国数据库安全标准</a:t>
            </a:r>
            <a:r>
              <a:rPr lang="en-US" altLang="zh-CN" sz="3600" dirty="0"/>
              <a:t> * </a:t>
            </a:r>
            <a:endParaRPr lang="en-US" altLang="zh-CN" sz="3600" dirty="0"/>
          </a:p>
        </p:txBody>
      </p:sp>
      <p:pic>
        <p:nvPicPr>
          <p:cNvPr id="4" name="图片 4"/>
          <p:cNvPicPr>
            <a:picLocks noChangeAspect="1"/>
          </p:cNvPicPr>
          <p:nvPr>
            <p:custDataLst>
              <p:tags r:id="rId3"/>
            </p:custDataLst>
          </p:nvPr>
        </p:nvPicPr>
        <p:blipFill>
          <a:blip r:embed="rId4"/>
          <a:stretch>
            <a:fillRect/>
          </a:stretch>
        </p:blipFill>
        <p:spPr>
          <a:xfrm>
            <a:off x="2639060" y="2731135"/>
            <a:ext cx="7070090" cy="33407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1746"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31747" name="Rectangle 3"/>
          <p:cNvSpPr>
            <a:spLocks noGrp="1" noChangeArrowheads="1"/>
          </p:cNvSpPr>
          <p:nvPr>
            <p:ph type="body" idx="4294967295"/>
          </p:nvPr>
        </p:nvSpPr>
        <p:spPr>
          <a:xfrm>
            <a:off x="1343472" y="1492250"/>
            <a:ext cx="6069012"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4.2  </a:t>
            </a:r>
            <a:r>
              <a:rPr lang="zh-CN" altLang="en-US" dirty="0">
                <a:solidFill>
                  <a:srgbClr val="0066FF"/>
                </a:solidFill>
              </a:rPr>
              <a:t>数据库安全性控制</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r>
              <a:rPr lang="en-US" altLang="zh-CN" dirty="0"/>
              <a:t>Audit</a:t>
            </a:r>
            <a:r>
              <a:rPr lang="zh-CN" altLang="en-US" dirty="0"/>
              <a:t>）</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其他安全性</a:t>
            </a:r>
            <a:endParaRPr lang="zh-CN" altLang="en-US" dirty="0"/>
          </a:p>
          <a:p>
            <a:pPr algn="just" eaLnBrk="1" hangingPunct="1">
              <a:lnSpc>
                <a:spcPct val="130000"/>
              </a:lnSpc>
              <a:buFont typeface="Wingdings" panose="05000000000000000000" pitchFamily="2" charset="2"/>
              <a:buNone/>
            </a:pPr>
            <a:r>
              <a:rPr lang="en-US" altLang="zh-CN" dirty="0"/>
              <a:t>4.7  </a:t>
            </a:r>
            <a:r>
              <a:rPr lang="zh-CN" altLang="en-US" dirty="0"/>
              <a:t>小结</a:t>
            </a:r>
            <a:endParaRPr lang="zh-CN" altLang="en-US" dirty="0"/>
          </a:p>
          <a:p>
            <a:pPr eaLnBrk="1" hangingPunct="1">
              <a:lnSpc>
                <a:spcPct val="130000"/>
              </a:lnSpc>
            </a:pPr>
            <a:endParaRPr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4" name="Rectangle 2"/>
          <p:cNvSpPr>
            <a:spLocks noGrp="1" noChangeArrowheads="1"/>
          </p:cNvSpPr>
          <p:nvPr>
            <p:ph type="title" idx="4294967295"/>
          </p:nvPr>
        </p:nvSpPr>
        <p:spPr/>
        <p:txBody>
          <a:bodyPr/>
          <a:lstStyle/>
          <a:p>
            <a:pPr eaLnBrk="1" hangingPunct="1"/>
            <a:r>
              <a:rPr lang="en-US" altLang="zh-CN" sz="3600" dirty="0"/>
              <a:t>4.2</a:t>
            </a:r>
            <a:r>
              <a:rPr lang="zh-CN" altLang="zh-CN" sz="3600" dirty="0"/>
              <a:t>数据库安全性控制</a:t>
            </a:r>
            <a:endParaRPr lang="zh-CN" altLang="zh-CN" sz="3600" dirty="0"/>
          </a:p>
        </p:txBody>
      </p:sp>
      <p:sp>
        <p:nvSpPr>
          <p:cNvPr id="33795" name="Rectangle 3"/>
          <p:cNvSpPr>
            <a:spLocks noGrp="1" noChangeArrowheads="1"/>
          </p:cNvSpPr>
          <p:nvPr>
            <p:ph type="body" idx="4294967295"/>
          </p:nvPr>
        </p:nvSpPr>
        <p:spPr>
          <a:xfrm>
            <a:off x="771525" y="1700808"/>
            <a:ext cx="7772400" cy="4443412"/>
          </a:xfrm>
        </p:spPr>
        <p:txBody>
          <a:bodyPr/>
          <a:lstStyle/>
          <a:p>
            <a:pPr lvl="1" eaLnBrk="1" hangingPunct="1">
              <a:lnSpc>
                <a:spcPct val="90000"/>
              </a:lnSpc>
            </a:pPr>
            <a:r>
              <a:rPr lang="zh-CN" altLang="en-US" dirty="0"/>
              <a:t>计算机系统中，安全措施是一级一级层层设置</a:t>
            </a:r>
            <a:endParaRPr lang="en-US" altLang="zh-CN" sz="2000" dirty="0"/>
          </a:p>
        </p:txBody>
      </p:sp>
      <p:sp>
        <p:nvSpPr>
          <p:cNvPr id="33797" name="Rectangle 18"/>
          <p:cNvSpPr>
            <a:spLocks noChangeArrowheads="1"/>
          </p:cNvSpPr>
          <p:nvPr/>
        </p:nvSpPr>
        <p:spPr bwMode="auto">
          <a:xfrm>
            <a:off x="4727863" y="4725273"/>
            <a:ext cx="256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计算机系统的安全模型 </a:t>
            </a:r>
            <a:endParaRPr lang="zh-CN" altLang="en-US" sz="1800" dirty="0">
              <a:latin typeface="Times New Roman" panose="02020603050405020304" pitchFamily="18" charset="0"/>
            </a:endParaRPr>
          </a:p>
        </p:txBody>
      </p:sp>
      <p:sp>
        <p:nvSpPr>
          <p:cNvPr id="2" name="Rectangle 2"/>
          <p:cNvSpPr>
            <a:spLocks noChangeArrowheads="1"/>
          </p:cNvSpPr>
          <p:nvPr/>
        </p:nvSpPr>
        <p:spPr bwMode="auto">
          <a:xfrm>
            <a:off x="2855341" y="278753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073" name="图片 12" descr="4z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8925" y="3243580"/>
            <a:ext cx="8562340" cy="1227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r>
              <a:rPr lang="zh-CN" altLang="en-US" sz="3600"/>
              <a:t>数据库安全性控制（续）</a:t>
            </a:r>
            <a:endParaRPr lang="zh-CN" altLang="en-US" sz="3600"/>
          </a:p>
        </p:txBody>
      </p:sp>
      <p:sp>
        <p:nvSpPr>
          <p:cNvPr id="35842" name="Rectangle 3"/>
          <p:cNvSpPr>
            <a:spLocks noGrp="1" noChangeArrowheads="1"/>
          </p:cNvSpPr>
          <p:nvPr>
            <p:ph type="body" idx="1"/>
          </p:nvPr>
        </p:nvSpPr>
        <p:spPr>
          <a:xfrm>
            <a:off x="335360" y="1268760"/>
            <a:ext cx="11737304" cy="5040560"/>
          </a:xfrm>
        </p:spPr>
        <p:txBody>
          <a:bodyPr/>
          <a:lstStyle/>
          <a:p>
            <a:pPr lvl="1">
              <a:lnSpc>
                <a:spcPct val="160000"/>
              </a:lnSpc>
              <a:defRPr/>
            </a:pPr>
            <a:r>
              <a:rPr lang="zh-CN" altLang="en-US" dirty="0"/>
              <a:t>系统根据用户标识</a:t>
            </a:r>
            <a:r>
              <a:rPr lang="zh-CN" altLang="en-US" dirty="0">
                <a:solidFill>
                  <a:srgbClr val="C00000"/>
                </a:solidFill>
              </a:rPr>
              <a:t>鉴定用户身份</a:t>
            </a:r>
            <a:r>
              <a:rPr lang="zh-CN" altLang="en-US" dirty="0"/>
              <a:t>，合法用户才准许进入计算机系统</a:t>
            </a:r>
            <a:endParaRPr lang="zh-CN" altLang="en-US" dirty="0"/>
          </a:p>
          <a:p>
            <a:pPr lvl="1">
              <a:lnSpc>
                <a:spcPct val="160000"/>
              </a:lnSpc>
              <a:defRPr/>
            </a:pPr>
            <a:r>
              <a:rPr lang="en-US" altLang="zh-CN" dirty="0"/>
              <a:t>数据库管理系统要执行安全保护，包括：多种</a:t>
            </a:r>
            <a:r>
              <a:rPr lang="en-US" altLang="zh-CN" dirty="0">
                <a:solidFill>
                  <a:srgbClr val="C00000"/>
                </a:solidFill>
              </a:rPr>
              <a:t>存取控制</a:t>
            </a:r>
            <a:r>
              <a:rPr lang="zh-CN" altLang="en-US" dirty="0"/>
              <a:t>机制，目的是只允许用户执行合法操作</a:t>
            </a:r>
            <a:endParaRPr lang="en-US" altLang="zh-CN" dirty="0"/>
          </a:p>
          <a:p>
            <a:pPr lvl="1">
              <a:lnSpc>
                <a:spcPct val="160000"/>
              </a:lnSpc>
              <a:defRPr/>
            </a:pPr>
            <a:r>
              <a:rPr lang="zh-CN" altLang="en-US" dirty="0"/>
              <a:t>用户退出系统后根据情况进行</a:t>
            </a:r>
            <a:r>
              <a:rPr lang="zh-CN" altLang="en-US" dirty="0">
                <a:solidFill>
                  <a:srgbClr val="C00000"/>
                </a:solidFill>
              </a:rPr>
              <a:t>安全审计</a:t>
            </a:r>
            <a:endParaRPr lang="zh-CN" altLang="en-US" dirty="0"/>
          </a:p>
          <a:p>
            <a:pPr lvl="1">
              <a:lnSpc>
                <a:spcPct val="160000"/>
              </a:lnSpc>
              <a:defRPr/>
            </a:pPr>
            <a:r>
              <a:rPr lang="zh-CN" altLang="en-US" dirty="0">
                <a:solidFill>
                  <a:srgbClr val="C00000"/>
                </a:solidFill>
              </a:rPr>
              <a:t>操作系统</a:t>
            </a:r>
            <a:r>
              <a:rPr lang="zh-CN" altLang="en-US" dirty="0"/>
              <a:t>有自己的保护措施 </a:t>
            </a:r>
            <a:endParaRPr lang="zh-CN" altLang="en-US" dirty="0"/>
          </a:p>
          <a:p>
            <a:pPr lvl="1">
              <a:lnSpc>
                <a:spcPct val="160000"/>
              </a:lnSpc>
              <a:defRPr/>
            </a:pPr>
            <a:r>
              <a:rPr lang="zh-CN" altLang="zh-CN" dirty="0"/>
              <a:t>对敏感数据在传输过程中要进行</a:t>
            </a:r>
            <a:r>
              <a:rPr lang="zh-CN" altLang="zh-CN" dirty="0">
                <a:solidFill>
                  <a:srgbClr val="C00000"/>
                </a:solidFill>
              </a:rPr>
              <a:t>加密保护</a:t>
            </a:r>
            <a:r>
              <a:rPr lang="zh-CN" altLang="zh-CN" dirty="0"/>
              <a:t>，最后还应以密</a:t>
            </a:r>
            <a:r>
              <a:rPr lang="zh-CN" altLang="zh-CN" dirty="0"/>
              <a:t>文形式存储到数据库中</a:t>
            </a:r>
            <a:endParaRPr lang="zh-CN" altLang="en-US" sz="2000" dirty="0"/>
          </a:p>
          <a:p>
            <a:pPr lvl="1">
              <a:lnSpc>
                <a:spcPct val="90000"/>
              </a:lnSpc>
              <a:buFont typeface="Wingdings" panose="05000000000000000000" pitchFamily="2" charset="2"/>
              <a:buNone/>
              <a:defRPr/>
            </a:pPr>
            <a:endParaRPr lang="en-US" altLang="zh-CN" sz="20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2" name="Rectangle 2"/>
          <p:cNvSpPr>
            <a:spLocks noGrp="1" noChangeArrowheads="1"/>
          </p:cNvSpPr>
          <p:nvPr>
            <p:ph type="title" idx="4294967295"/>
          </p:nvPr>
        </p:nvSpPr>
        <p:spPr/>
        <p:txBody>
          <a:bodyPr/>
          <a:lstStyle/>
          <a:p>
            <a:pPr eaLnBrk="1" hangingPunct="1"/>
            <a:r>
              <a:rPr lang="zh-CN" altLang="zh-CN" sz="3600"/>
              <a:t>数据库安全性控制（续）</a:t>
            </a:r>
            <a:endParaRPr lang="zh-CN" altLang="zh-CN" sz="3600"/>
          </a:p>
        </p:txBody>
      </p:sp>
      <p:sp>
        <p:nvSpPr>
          <p:cNvPr id="35843" name="Rectangle 2"/>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5844" name="矩形 8"/>
          <p:cNvSpPr>
            <a:spLocks noChangeArrowheads="1"/>
          </p:cNvSpPr>
          <p:nvPr/>
        </p:nvSpPr>
        <p:spPr bwMode="auto">
          <a:xfrm>
            <a:off x="4295775" y="5648325"/>
            <a:ext cx="3416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数据库管理系统</a:t>
            </a:r>
            <a:r>
              <a:rPr lang="zh-CN" altLang="zh-CN" sz="1800" dirty="0"/>
              <a:t>安全性控制模型</a:t>
            </a:r>
            <a:endParaRPr lang="zh-CN" altLang="en-US" sz="1800" dirty="0"/>
          </a:p>
        </p:txBody>
      </p:sp>
      <p:pic>
        <p:nvPicPr>
          <p:cNvPr id="4099" name="图片 3"/>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2447019" y="1268762"/>
            <a:ext cx="7505826" cy="4014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矩形 1"/>
          <p:cNvSpPr>
            <a:spLocks noChangeArrowheads="1"/>
          </p:cNvSpPr>
          <p:nvPr/>
        </p:nvSpPr>
        <p:spPr bwMode="auto">
          <a:xfrm>
            <a:off x="983432" y="1340768"/>
            <a:ext cx="10585176" cy="3465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342900" indent="-3429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buFont typeface="Wingdings" panose="05000000000000000000" pitchFamily="2" charset="2"/>
              <a:buChar char="v"/>
            </a:pPr>
            <a:r>
              <a:rPr lang="zh-CN" altLang="zh-CN" sz="2800" kern="1050" dirty="0">
                <a:latin typeface="Times New Roman" panose="02020603050405020304" pitchFamily="18" charset="0"/>
                <a:cs typeface="Times New Roman" panose="02020603050405020304" pitchFamily="18" charset="0"/>
              </a:rPr>
              <a:t>数据库管理系统的安全性控制模型</a:t>
            </a:r>
            <a:endParaRPr lang="en-US" altLang="zh-CN" sz="2800" dirty="0"/>
          </a:p>
          <a:p>
            <a:pPr marL="742950" lvl="1" indent="-285750">
              <a:lnSpc>
                <a:spcPct val="150000"/>
              </a:lnSpc>
              <a:spcBef>
                <a:spcPts val="0"/>
              </a:spcBef>
              <a:defRPr/>
            </a:pPr>
            <a:r>
              <a:rPr lang="zh-CN" altLang="en-US" dirty="0">
                <a:latin typeface="+mn-lt"/>
                <a:ea typeface="+mn-ea"/>
              </a:rPr>
              <a:t>事前控制：</a:t>
            </a:r>
            <a:r>
              <a:rPr lang="zh-CN" altLang="zh-CN" kern="1050" dirty="0">
                <a:latin typeface="Times New Roman" panose="02020603050405020304" pitchFamily="18" charset="0"/>
                <a:cs typeface="Times New Roman" panose="02020603050405020304" pitchFamily="18" charset="0"/>
              </a:rPr>
              <a:t>通过身份鉴别和入侵检测共同实现</a:t>
            </a:r>
            <a:endParaRPr lang="en-US" altLang="zh-CN" dirty="0">
              <a:latin typeface="+mn-lt"/>
              <a:ea typeface="+mn-ea"/>
            </a:endParaRPr>
          </a:p>
          <a:p>
            <a:pPr marL="742950" lvl="1" indent="-285750">
              <a:lnSpc>
                <a:spcPct val="150000"/>
              </a:lnSpc>
              <a:spcBef>
                <a:spcPts val="0"/>
              </a:spcBef>
              <a:defRPr/>
            </a:pPr>
            <a:r>
              <a:rPr lang="zh-CN" altLang="en-US" dirty="0">
                <a:latin typeface="+mn-lt"/>
                <a:ea typeface="+mn-ea"/>
              </a:rPr>
              <a:t>事中控制：</a:t>
            </a:r>
            <a:r>
              <a:rPr lang="zh-CN" altLang="zh-CN" kern="1050" dirty="0">
                <a:latin typeface="Times New Roman" panose="02020603050405020304" pitchFamily="18" charset="0"/>
                <a:cs typeface="Times New Roman" panose="02020603050405020304" pitchFamily="18" charset="0"/>
              </a:rPr>
              <a:t>在</a:t>
            </a:r>
            <a:r>
              <a:rPr lang="en-US" altLang="zh-CN" kern="1050" dirty="0">
                <a:latin typeface="Times New Roman" panose="02020603050405020304" pitchFamily="18" charset="0"/>
              </a:rPr>
              <a:t>SQL</a:t>
            </a:r>
            <a:r>
              <a:rPr lang="zh-CN" altLang="zh-CN" kern="1050" dirty="0">
                <a:latin typeface="Times New Roman" panose="02020603050405020304" pitchFamily="18" charset="0"/>
                <a:cs typeface="Times New Roman" panose="02020603050405020304" pitchFamily="18" charset="0"/>
              </a:rPr>
              <a:t>处理层提供多层</a:t>
            </a:r>
            <a:r>
              <a:rPr lang="zh-CN" altLang="zh-CN" dirty="0">
                <a:cs typeface="宋体" panose="02010600030101010101" pitchFamily="2" charset="-122"/>
              </a:rPr>
              <a:t>访问控制</a:t>
            </a:r>
            <a:endParaRPr lang="en-US" altLang="zh-CN" dirty="0">
              <a:latin typeface="+mn-lt"/>
              <a:ea typeface="+mn-ea"/>
            </a:endParaRPr>
          </a:p>
          <a:p>
            <a:pPr marL="742950" lvl="1" indent="-285750">
              <a:lnSpc>
                <a:spcPct val="150000"/>
              </a:lnSpc>
              <a:spcBef>
                <a:spcPts val="0"/>
              </a:spcBef>
              <a:defRPr/>
            </a:pPr>
            <a:r>
              <a:rPr lang="zh-CN" altLang="en-US" dirty="0">
                <a:latin typeface="+mn-lt"/>
                <a:ea typeface="+mn-ea"/>
              </a:rPr>
              <a:t>事后控制：</a:t>
            </a:r>
            <a:r>
              <a:rPr lang="zh-CN" altLang="zh-CN" kern="1050" dirty="0">
                <a:latin typeface="Times New Roman" panose="02020603050405020304" pitchFamily="18" charset="0"/>
                <a:cs typeface="Times New Roman" panose="02020603050405020304" pitchFamily="18" charset="0"/>
              </a:rPr>
              <a:t>配置审计规则，对用户访问行为和系统关键操作进行审计</a:t>
            </a:r>
            <a:endParaRPr lang="en-US" altLang="zh-CN" dirty="0">
              <a:latin typeface="+mn-lt"/>
              <a:ea typeface="+mn-ea"/>
            </a:endParaRPr>
          </a:p>
          <a:p>
            <a:pPr marL="742950" lvl="1" indent="-285750">
              <a:lnSpc>
                <a:spcPct val="150000"/>
              </a:lnSpc>
              <a:spcBef>
                <a:spcPts val="0"/>
              </a:spcBef>
              <a:defRPr/>
            </a:pPr>
            <a:r>
              <a:rPr lang="zh-CN" altLang="en-US" dirty="0">
                <a:latin typeface="+mn-lt"/>
                <a:ea typeface="+mn-ea"/>
              </a:rPr>
              <a:t>存储保护：</a:t>
            </a:r>
            <a:r>
              <a:rPr lang="zh-CN" altLang="zh-CN" kern="1050" dirty="0">
                <a:latin typeface="Times New Roman" panose="02020603050405020304" pitchFamily="18" charset="0"/>
                <a:cs typeface="Times New Roman" panose="02020603050405020304" pitchFamily="18" charset="0"/>
              </a:rPr>
              <a:t>在数据存储层，对敏感数据、重要的</a:t>
            </a:r>
            <a:r>
              <a:rPr lang="zh-CN" altLang="zh-CN" dirty="0">
                <a:cs typeface="宋体" panose="02010600030101010101" pitchFamily="2" charset="-122"/>
              </a:rPr>
              <a:t>存储过程定义加密存储</a:t>
            </a:r>
            <a:endParaRPr lang="en-US" altLang="zh-CN" dirty="0">
              <a:latin typeface="+mn-lt"/>
              <a:ea typeface="+mn-ea"/>
            </a:endParaRPr>
          </a:p>
          <a:p>
            <a:pPr marL="742950" lvl="1" indent="-285750">
              <a:lnSpc>
                <a:spcPct val="150000"/>
              </a:lnSpc>
              <a:spcBef>
                <a:spcPts val="0"/>
              </a:spcBef>
              <a:defRPr/>
            </a:pPr>
            <a:r>
              <a:rPr lang="zh-CN" altLang="en-US" dirty="0">
                <a:latin typeface="+mn-lt"/>
                <a:ea typeface="+mn-ea"/>
              </a:rPr>
              <a:t>传输保护：</a:t>
            </a:r>
            <a:r>
              <a:rPr lang="zh-CN" altLang="zh-CN" kern="1050" dirty="0">
                <a:latin typeface="Times New Roman" panose="02020603050405020304" pitchFamily="18" charset="0"/>
                <a:cs typeface="Times New Roman" panose="02020603050405020304" pitchFamily="18" charset="0"/>
              </a:rPr>
              <a:t>提供了传输加密功能</a:t>
            </a:r>
            <a:endParaRPr lang="en-US" altLang="zh-CN" dirty="0">
              <a:latin typeface="+mn-lt"/>
              <a:ea typeface="+mn-ea"/>
            </a:endParaRPr>
          </a:p>
        </p:txBody>
      </p:sp>
      <p:sp>
        <p:nvSpPr>
          <p:cNvPr id="37890" name="Rectangle 2"/>
          <p:cNvSpPr txBox="1">
            <a:spLocks noChangeArrowheads="1"/>
          </p:cNvSpPr>
          <p:nvPr/>
        </p:nvSpPr>
        <p:spPr bwMode="auto">
          <a:xfrm>
            <a:off x="1981200" y="61690"/>
            <a:ext cx="8229600" cy="1135062"/>
          </a:xfrm>
          <a:prstGeom prst="rect">
            <a:avLst/>
          </a:prstGeom>
          <a:noFill/>
          <a:ln>
            <a:noFill/>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defRPr/>
            </a:pPr>
            <a:r>
              <a:rPr lang="zh-CN" altLang="en-US" sz="3600">
                <a:solidFill>
                  <a:schemeClr val="bg1"/>
                </a:solidFill>
              </a:rPr>
              <a:t>数据库安全性控制（续）</a:t>
            </a:r>
            <a:endParaRPr lang="zh-CN" altLang="en-US" sz="3600">
              <a:highlight>
                <a:srgbClr val="FFFF00"/>
              </a:highlight>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4"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38915" name="Rectangle 3"/>
          <p:cNvSpPr>
            <a:spLocks noGrp="1" noChangeArrowheads="1"/>
          </p:cNvSpPr>
          <p:nvPr>
            <p:ph type="body" idx="4294967295"/>
          </p:nvPr>
        </p:nvSpPr>
        <p:spPr>
          <a:xfrm>
            <a:off x="1415480" y="1016794"/>
            <a:ext cx="7473950" cy="4824412"/>
          </a:xfrm>
        </p:spPr>
        <p:txBody>
          <a:bodyPr/>
          <a:lstStyle/>
          <a:p>
            <a:pPr eaLnBrk="1" hangingPunct="1">
              <a:lnSpc>
                <a:spcPct val="170000"/>
              </a:lnSpc>
              <a:buFont typeface="Wingdings" panose="05000000000000000000" pitchFamily="2" charset="2"/>
              <a:buNone/>
            </a:pPr>
            <a:r>
              <a:rPr lang="en-US" altLang="zh-CN">
                <a:solidFill>
                  <a:srgbClr val="00B050"/>
                </a:solidFill>
              </a:rPr>
              <a:t>4.2.1 </a:t>
            </a:r>
            <a:r>
              <a:rPr lang="zh-CN" altLang="en-US">
                <a:solidFill>
                  <a:srgbClr val="00B050"/>
                </a:solidFill>
              </a:rPr>
              <a:t>用户身份鉴别</a:t>
            </a:r>
            <a:endParaRPr lang="zh-CN" altLang="en-US">
              <a:solidFill>
                <a:srgbClr val="00B050"/>
              </a:solidFill>
            </a:endParaRPr>
          </a:p>
          <a:p>
            <a:pPr eaLnBrk="1" hangingPunct="1">
              <a:lnSpc>
                <a:spcPct val="170000"/>
              </a:lnSpc>
              <a:buFont typeface="Wingdings" panose="05000000000000000000" pitchFamily="2" charset="2"/>
              <a:buNone/>
            </a:pPr>
            <a:r>
              <a:rPr lang="en-US" altLang="zh-CN"/>
              <a:t>4.2.2 </a:t>
            </a:r>
            <a:r>
              <a:rPr lang="zh-CN" altLang="en-US"/>
              <a:t>存取控制</a:t>
            </a:r>
            <a:endParaRPr lang="zh-CN" altLang="en-US"/>
          </a:p>
          <a:p>
            <a:pPr eaLnBrk="1" hangingPunct="1">
              <a:lnSpc>
                <a:spcPct val="170000"/>
              </a:lnSpc>
              <a:buFont typeface="Wingdings" panose="05000000000000000000" pitchFamily="2" charset="2"/>
              <a:buNone/>
            </a:pPr>
            <a:r>
              <a:rPr lang="en-US" altLang="zh-CN"/>
              <a:t>4.2.3 </a:t>
            </a:r>
            <a:r>
              <a:rPr lang="zh-CN" altLang="en-US"/>
              <a:t>自主存取控制方法</a:t>
            </a:r>
            <a:endParaRPr lang="zh-CN" altLang="en-US"/>
          </a:p>
          <a:p>
            <a:pPr eaLnBrk="1" hangingPunct="1">
              <a:lnSpc>
                <a:spcPct val="170000"/>
              </a:lnSpc>
              <a:buFont typeface="Wingdings" panose="05000000000000000000" pitchFamily="2" charset="2"/>
              <a:buNone/>
            </a:pPr>
            <a:r>
              <a:rPr lang="en-US" altLang="zh-CN"/>
              <a:t>4.2.4 </a:t>
            </a:r>
            <a:r>
              <a:rPr lang="zh-CN" altLang="en-US"/>
              <a:t>授权：授予与收回</a:t>
            </a:r>
            <a:endParaRPr lang="zh-CN" altLang="en-US"/>
          </a:p>
          <a:p>
            <a:pPr eaLnBrk="1" hangingPunct="1">
              <a:lnSpc>
                <a:spcPct val="170000"/>
              </a:lnSpc>
              <a:buFont typeface="Wingdings" panose="05000000000000000000" pitchFamily="2" charset="2"/>
              <a:buNone/>
            </a:pPr>
            <a:r>
              <a:rPr lang="en-US" altLang="zh-CN"/>
              <a:t>4.2.5 </a:t>
            </a:r>
            <a:r>
              <a:rPr lang="zh-CN" altLang="en-US"/>
              <a:t>数据库角色</a:t>
            </a:r>
            <a:endParaRPr lang="zh-CN" altLang="en-US"/>
          </a:p>
          <a:p>
            <a:pPr eaLnBrk="1" hangingPunct="1">
              <a:lnSpc>
                <a:spcPct val="170000"/>
              </a:lnSpc>
              <a:buFont typeface="Wingdings" panose="05000000000000000000" pitchFamily="2" charset="2"/>
              <a:buNone/>
            </a:pPr>
            <a:r>
              <a:rPr lang="en-US" altLang="zh-CN"/>
              <a:t>4.2.6 </a:t>
            </a:r>
            <a:r>
              <a:rPr lang="zh-CN" altLang="en-US"/>
              <a:t>强制存取控制方法</a:t>
            </a:r>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2" name="Rectangle 2"/>
          <p:cNvSpPr>
            <a:spLocks noGrp="1" noChangeArrowheads="1"/>
          </p:cNvSpPr>
          <p:nvPr>
            <p:ph type="title" idx="4294967295"/>
          </p:nvPr>
        </p:nvSpPr>
        <p:spPr/>
        <p:txBody>
          <a:bodyPr/>
          <a:lstStyle/>
          <a:p>
            <a:pPr eaLnBrk="1" hangingPunct="1"/>
            <a:r>
              <a:rPr lang="en-US" altLang="zh-CN" sz="3600"/>
              <a:t>4.2.1  </a:t>
            </a:r>
            <a:r>
              <a:rPr lang="zh-CN" altLang="en-US" sz="3600"/>
              <a:t>用户身份鉴别</a:t>
            </a:r>
            <a:endParaRPr lang="zh-CN" altLang="en-US" sz="3600"/>
          </a:p>
        </p:txBody>
      </p:sp>
      <p:sp>
        <p:nvSpPr>
          <p:cNvPr id="40963" name="Rectangle 3"/>
          <p:cNvSpPr>
            <a:spLocks noGrp="1" noChangeArrowheads="1"/>
          </p:cNvSpPr>
          <p:nvPr>
            <p:ph type="body" idx="4294967295"/>
          </p:nvPr>
        </p:nvSpPr>
        <p:spPr>
          <a:xfrm>
            <a:off x="983432" y="1159051"/>
            <a:ext cx="9557369" cy="4130650"/>
          </a:xfrm>
        </p:spPr>
        <p:txBody>
          <a:bodyPr/>
          <a:lstStyle/>
          <a:p>
            <a:pPr eaLnBrk="1" hangingPunct="1">
              <a:lnSpc>
                <a:spcPct val="150000"/>
              </a:lnSpc>
            </a:pPr>
            <a:r>
              <a:rPr lang="zh-CN" altLang="en-US" dirty="0"/>
              <a:t>用户身份鉴别</a:t>
            </a:r>
            <a:endParaRPr lang="zh-CN" altLang="en-US" dirty="0"/>
          </a:p>
          <a:p>
            <a:pPr lvl="1" eaLnBrk="1" hangingPunct="1">
              <a:lnSpc>
                <a:spcPct val="190000"/>
              </a:lnSpc>
            </a:pPr>
            <a:r>
              <a:rPr lang="zh-CN" altLang="en-US" dirty="0"/>
              <a:t>系统提供的最外层安全保护措施</a:t>
            </a:r>
            <a:endParaRPr lang="en-US" altLang="zh-CN" dirty="0"/>
          </a:p>
          <a:p>
            <a:pPr lvl="1" eaLnBrk="1" hangingPunct="1">
              <a:lnSpc>
                <a:spcPct val="150000"/>
              </a:lnSpc>
            </a:pPr>
            <a:r>
              <a:rPr lang="zh-CN" altLang="en-US" dirty="0"/>
              <a:t>用户标识：由用户名和用户标识号组成</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en-US" sz="2200" dirty="0"/>
              <a:t>用户标识号在系统整个生命周期内唯一</a:t>
            </a:r>
            <a:endParaRPr lang="zh-CN" altLang="en-US" sz="22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用户身份鉴别（续）</a:t>
            </a:r>
            <a:endParaRPr lang="zh-CN" altLang="zh-CN" sz="3600"/>
          </a:p>
        </p:txBody>
      </p:sp>
      <p:sp>
        <p:nvSpPr>
          <p:cNvPr id="41987" name="Rectangle 3"/>
          <p:cNvSpPr>
            <a:spLocks noGrp="1" noChangeArrowheads="1"/>
          </p:cNvSpPr>
          <p:nvPr>
            <p:ph type="body" idx="4294967295"/>
          </p:nvPr>
        </p:nvSpPr>
        <p:spPr>
          <a:xfrm>
            <a:off x="839416" y="1217628"/>
            <a:ext cx="10873208" cy="5164123"/>
          </a:xfrm>
        </p:spPr>
        <p:txBody>
          <a:bodyPr/>
          <a:lstStyle/>
          <a:p>
            <a:pPr eaLnBrk="1" hangingPunct="1">
              <a:lnSpc>
                <a:spcPct val="120000"/>
              </a:lnSpc>
              <a:spcBef>
                <a:spcPct val="0"/>
              </a:spcBef>
            </a:pPr>
            <a:r>
              <a:rPr lang="zh-CN" altLang="en-US" sz="2400" dirty="0">
                <a:solidFill>
                  <a:srgbClr val="0000FF"/>
                </a:solidFill>
              </a:rPr>
              <a:t>用户身份鉴别的方法</a:t>
            </a:r>
            <a:endParaRPr lang="en-US" altLang="zh-CN" sz="2400" dirty="0">
              <a:solidFill>
                <a:srgbClr val="0000FF"/>
              </a:solidFill>
            </a:endParaRPr>
          </a:p>
          <a:p>
            <a:pPr lvl="1" eaLnBrk="1" hangingPunct="1">
              <a:lnSpc>
                <a:spcPct val="120000"/>
              </a:lnSpc>
              <a:spcBef>
                <a:spcPct val="0"/>
              </a:spcBef>
              <a:buSzPct val="75000"/>
              <a:buFont typeface="Wingdings" panose="05000000000000000000" pitchFamily="2" charset="2"/>
              <a:buNone/>
            </a:pPr>
            <a:r>
              <a:rPr lang="en-US" altLang="zh-CN" dirty="0"/>
              <a:t>1.</a:t>
            </a:r>
            <a:r>
              <a:rPr lang="zh-CN" altLang="en-US" dirty="0"/>
              <a:t>静态口令鉴别</a:t>
            </a:r>
            <a:endParaRPr lang="en-US" altLang="zh-CN" dirty="0"/>
          </a:p>
          <a:p>
            <a:pPr lvl="2" eaLnBrk="1" hangingPunct="1">
              <a:lnSpc>
                <a:spcPct val="120000"/>
              </a:lnSpc>
              <a:spcBef>
                <a:spcPct val="0"/>
              </a:spcBef>
              <a:buSzPct val="87000"/>
              <a:buFont typeface="Wingdings" panose="05000000000000000000" pitchFamily="2" charset="2"/>
              <a:buChar char="l"/>
            </a:pPr>
            <a:r>
              <a:rPr lang="zh-CN" altLang="zh-CN" sz="2200" dirty="0"/>
              <a:t>静态口令一般由用户自己设定</a:t>
            </a:r>
            <a:r>
              <a:rPr lang="zh-CN" altLang="en-US" sz="2200" dirty="0"/>
              <a:t>，</a:t>
            </a:r>
            <a:r>
              <a:rPr lang="zh-CN" altLang="zh-CN" sz="2200" dirty="0"/>
              <a:t>这些口令静态不变</a:t>
            </a:r>
            <a:r>
              <a:rPr lang="zh-CN" altLang="en-US" sz="2200" dirty="0"/>
              <a:t>，</a:t>
            </a:r>
            <a:r>
              <a:rPr lang="zh-CN" altLang="zh-CN" sz="2200" dirty="0"/>
              <a:t>方式简单，易被攻击，安全性较低。</a:t>
            </a:r>
            <a:endParaRPr lang="zh-CN"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可</a:t>
            </a:r>
            <a:r>
              <a:rPr lang="zh-CN" altLang="zh-CN" sz="2200" dirty="0"/>
              <a:t>采用双因子鉴别，即口令</a:t>
            </a:r>
            <a:r>
              <a:rPr lang="en-US" altLang="zh-CN" sz="2200" dirty="0"/>
              <a:t>+</a:t>
            </a:r>
            <a:r>
              <a:rPr lang="zh-CN" altLang="zh-CN" sz="2200" dirty="0"/>
              <a:t>数字证书。</a:t>
            </a:r>
            <a:endParaRPr lang="zh-CN"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提供一套口令策略</a:t>
            </a:r>
            <a:endParaRPr lang="zh-CN"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用户身份鉴别可以重复多次</a:t>
            </a:r>
            <a:endParaRPr lang="en-US" altLang="zh-CN" sz="2200" dirty="0"/>
          </a:p>
          <a:p>
            <a:pPr lvl="1" eaLnBrk="1" hangingPunct="1">
              <a:lnSpc>
                <a:spcPct val="120000"/>
              </a:lnSpc>
              <a:spcBef>
                <a:spcPct val="0"/>
              </a:spcBef>
              <a:buSzPct val="75000"/>
              <a:buFont typeface="Wingdings" panose="05000000000000000000" pitchFamily="2" charset="2"/>
              <a:buNone/>
            </a:pPr>
            <a:r>
              <a:rPr lang="en-US" altLang="zh-CN" dirty="0"/>
              <a:t>2.</a:t>
            </a:r>
            <a:r>
              <a:rPr lang="zh-CN" altLang="en-US" dirty="0"/>
              <a:t>动态口令鉴别</a:t>
            </a:r>
            <a:endParaRPr lang="en-US" altLang="zh-CN" dirty="0"/>
          </a:p>
          <a:p>
            <a:pPr lvl="2" eaLnBrk="1" hangingPunct="1">
              <a:lnSpc>
                <a:spcPct val="120000"/>
              </a:lnSpc>
              <a:spcBef>
                <a:spcPct val="0"/>
              </a:spcBef>
              <a:buSzPct val="87000"/>
              <a:buFont typeface="Wingdings" panose="05000000000000000000" pitchFamily="2" charset="2"/>
              <a:buChar char="l"/>
            </a:pPr>
            <a:r>
              <a:rPr lang="zh-CN" altLang="zh-CN" sz="2200" dirty="0"/>
              <a:t>口令是动态变化的，采用一次一密的方法</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常用的方式</a:t>
            </a:r>
            <a:r>
              <a:rPr lang="zh-CN" altLang="en-US" sz="2200" dirty="0"/>
              <a:t>：</a:t>
            </a:r>
            <a:r>
              <a:rPr lang="zh-CN" altLang="zh-CN" sz="2200" dirty="0"/>
              <a:t>验证码和动态令牌方式</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zh-CN" sz="2200" dirty="0"/>
              <a:t>安全性相对高一些</a:t>
            </a:r>
            <a:endParaRPr lang="en-US" altLang="zh-CN" sz="22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用户身份鉴别（续）</a:t>
            </a:r>
            <a:endParaRPr lang="zh-CN" altLang="zh-CN" sz="3600"/>
          </a:p>
        </p:txBody>
      </p:sp>
      <p:sp>
        <p:nvSpPr>
          <p:cNvPr id="41987" name="Rectangle 3"/>
          <p:cNvSpPr>
            <a:spLocks noGrp="1" noChangeArrowheads="1"/>
          </p:cNvSpPr>
          <p:nvPr>
            <p:ph type="body" idx="4294967295"/>
          </p:nvPr>
        </p:nvSpPr>
        <p:spPr>
          <a:xfrm>
            <a:off x="625237" y="1300850"/>
            <a:ext cx="10367308" cy="5063924"/>
          </a:xfrm>
        </p:spPr>
        <p:txBody>
          <a:bodyPr/>
          <a:lstStyle/>
          <a:p>
            <a:pPr lvl="1" eaLnBrk="1" hangingPunct="1">
              <a:lnSpc>
                <a:spcPct val="150000"/>
              </a:lnSpc>
              <a:spcBef>
                <a:spcPct val="0"/>
              </a:spcBef>
              <a:buSzPct val="75000"/>
              <a:buFont typeface="Wingdings" panose="05000000000000000000" pitchFamily="2" charset="2"/>
              <a:buNone/>
            </a:pPr>
            <a:r>
              <a:rPr lang="en-US" altLang="zh-CN" dirty="0"/>
              <a:t>3.</a:t>
            </a:r>
            <a:r>
              <a:rPr lang="zh-CN" altLang="en-US" dirty="0"/>
              <a:t>生物特征鉴别</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通过生物特征进行认证的技术</a:t>
            </a:r>
            <a:r>
              <a:rPr lang="zh-CN" altLang="en-US" sz="2200" dirty="0"/>
              <a:t>，</a:t>
            </a:r>
            <a:r>
              <a:rPr lang="zh-CN" altLang="zh-CN" sz="2200" dirty="0"/>
              <a:t>生物特征如指纹、虹膜和掌纹等</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安全性较高</a:t>
            </a:r>
            <a:endParaRPr lang="en-US" altLang="zh-CN" sz="2200" dirty="0"/>
          </a:p>
          <a:p>
            <a:pPr lvl="1" eaLnBrk="1" hangingPunct="1">
              <a:lnSpc>
                <a:spcPct val="150000"/>
              </a:lnSpc>
              <a:spcBef>
                <a:spcPct val="0"/>
              </a:spcBef>
              <a:buSzPct val="75000"/>
              <a:buFont typeface="Wingdings" panose="05000000000000000000" pitchFamily="2" charset="2"/>
              <a:buNone/>
            </a:pPr>
            <a:r>
              <a:rPr lang="en-US" altLang="zh-CN" dirty="0"/>
              <a:t>4.</a:t>
            </a:r>
            <a:r>
              <a:rPr lang="zh-CN" altLang="en-US" dirty="0"/>
              <a:t>智能卡鉴别</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智能卡是一种不可复制的</a:t>
            </a:r>
            <a:r>
              <a:rPr lang="zh-CN" altLang="en-US" sz="2200" dirty="0"/>
              <a:t>硬件</a:t>
            </a:r>
            <a:r>
              <a:rPr lang="zh-CN" altLang="zh-CN" sz="2200" dirty="0"/>
              <a:t>，内置集成电路的芯片，具有硬件加密功能</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智能卡读取数据是静态的，通过内存扫描或网络监听等技术可能截取到用户的身份验证信息，存在安全隐患</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实际应用中一般采用个人身份识别码（</a:t>
            </a:r>
            <a:r>
              <a:rPr lang="en-US" altLang="zh-CN" sz="2200" dirty="0"/>
              <a:t>Personal Identification Number</a:t>
            </a:r>
            <a:r>
              <a:rPr lang="zh-CN" altLang="zh-CN" sz="2200" dirty="0"/>
              <a:t>，</a:t>
            </a:r>
            <a:r>
              <a:rPr lang="en-US" altLang="zh-CN" sz="2200" dirty="0"/>
              <a:t>PIN</a:t>
            </a:r>
            <a:r>
              <a:rPr lang="zh-CN" altLang="zh-CN" sz="2200" dirty="0"/>
              <a:t>）和智能卡相结合方式</a:t>
            </a:r>
            <a:endParaRPr lang="en-US" altLang="zh-CN" sz="22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用户身份鉴别（续）</a:t>
            </a:r>
            <a:endParaRPr lang="zh-CN" altLang="zh-CN" sz="3600"/>
          </a:p>
        </p:txBody>
      </p:sp>
      <p:sp>
        <p:nvSpPr>
          <p:cNvPr id="41987" name="Rectangle 3"/>
          <p:cNvSpPr>
            <a:spLocks noGrp="1" noChangeArrowheads="1"/>
          </p:cNvSpPr>
          <p:nvPr>
            <p:ph type="body" idx="4294967295"/>
          </p:nvPr>
        </p:nvSpPr>
        <p:spPr>
          <a:xfrm>
            <a:off x="699561" y="1117487"/>
            <a:ext cx="9865096" cy="4647083"/>
          </a:xfrm>
        </p:spPr>
        <p:txBody>
          <a:bodyPr/>
          <a:lstStyle/>
          <a:p>
            <a:pPr lvl="1" eaLnBrk="1" hangingPunct="1">
              <a:lnSpc>
                <a:spcPct val="150000"/>
              </a:lnSpc>
              <a:spcBef>
                <a:spcPct val="0"/>
              </a:spcBef>
              <a:buSzPct val="75000"/>
              <a:buFont typeface="Wingdings" panose="05000000000000000000" pitchFamily="2" charset="2"/>
              <a:buNone/>
            </a:pPr>
            <a:r>
              <a:rPr lang="en-US" altLang="zh-CN" dirty="0"/>
              <a:t>5.</a:t>
            </a:r>
            <a:r>
              <a:rPr lang="zh-CN" altLang="en-US" dirty="0"/>
              <a:t>入侵检测</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检测前，管理员按实际需求定义检测规则</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检测中，实时进行入侵分析</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zh-CN" sz="2200" dirty="0"/>
              <a:t>发现入侵情况，实时进行处理</a:t>
            </a:r>
            <a:endParaRPr lang="zh-CN" altLang="zh-CN" sz="2200" dirty="0"/>
          </a:p>
          <a:p>
            <a:pPr lvl="3" eaLnBrk="1" hangingPunct="1">
              <a:lnSpc>
                <a:spcPct val="150000"/>
              </a:lnSpc>
              <a:spcBef>
                <a:spcPct val="0"/>
              </a:spcBef>
              <a:buSzPct val="87000"/>
              <a:buFont typeface="Wingdings" panose="05000000000000000000" pitchFamily="2" charset="2"/>
              <a:buChar char="ü"/>
            </a:pPr>
            <a:r>
              <a:rPr lang="zh-CN" altLang="zh-CN" sz="2200" dirty="0"/>
              <a:t>通过邮件报警和断开会话连接、锁定用户进行处罚等</a:t>
            </a:r>
            <a:endParaRPr lang="en-US" altLang="zh-CN" sz="22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ChangeArrowheads="1"/>
          </p:cNvSpPr>
          <p:nvPr>
            <p:custDataLst>
              <p:tags r:id="rId1"/>
            </p:custDataLst>
          </p:nvPr>
        </p:nvSpPr>
        <p:spPr>
          <a:xfrm>
            <a:off x="609600" y="-36513"/>
            <a:ext cx="10972800" cy="1135063"/>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zh-CN" sz="3600"/>
              <a:t>思考：如何用</a:t>
            </a:r>
            <a:r>
              <a:rPr lang="zh-CN" altLang="zh-CN" sz="3600"/>
              <a:t>程序实现用户身份</a:t>
            </a:r>
            <a:r>
              <a:rPr lang="zh-CN" altLang="zh-CN" sz="3600"/>
              <a:t>识别</a:t>
            </a:r>
            <a:endParaRPr lang="zh-CN" altLang="zh-CN" sz="3600"/>
          </a:p>
        </p:txBody>
      </p:sp>
      <p:sp>
        <p:nvSpPr>
          <p:cNvPr id="3" name="笑脸 2"/>
          <p:cNvSpPr/>
          <p:nvPr/>
        </p:nvSpPr>
        <p:spPr>
          <a:xfrm>
            <a:off x="622935" y="1341120"/>
            <a:ext cx="517525" cy="504190"/>
          </a:xfrm>
          <a:prstGeom prst="smileyF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文本框 3"/>
          <p:cNvSpPr txBox="1"/>
          <p:nvPr/>
        </p:nvSpPr>
        <p:spPr>
          <a:xfrm>
            <a:off x="1931035" y="1098550"/>
            <a:ext cx="2430780" cy="368300"/>
          </a:xfrm>
          <a:prstGeom prst="rect">
            <a:avLst/>
          </a:prstGeom>
          <a:noFill/>
        </p:spPr>
        <p:txBody>
          <a:bodyPr wrap="square" rtlCol="0">
            <a:spAutoFit/>
          </a:bodyPr>
          <a:p>
            <a:r>
              <a:rPr lang="zh-CN" altLang="en-US"/>
              <a:t>键盘输入</a:t>
            </a:r>
            <a:r>
              <a:rPr lang="en-US" altLang="zh-CN"/>
              <a:t>user</a:t>
            </a:r>
            <a:r>
              <a:rPr lang="zh-CN" altLang="en-US"/>
              <a:t>和</a:t>
            </a:r>
            <a:r>
              <a:rPr lang="en-US" altLang="zh-CN"/>
              <a:t>pass</a:t>
            </a:r>
            <a:endParaRPr lang="en-US" altLang="zh-CN"/>
          </a:p>
        </p:txBody>
      </p:sp>
      <p:cxnSp>
        <p:nvCxnSpPr>
          <p:cNvPr id="5" name="直接箭头连接符 4"/>
          <p:cNvCxnSpPr/>
          <p:nvPr/>
        </p:nvCxnSpPr>
        <p:spPr>
          <a:xfrm flipV="1">
            <a:off x="1415415" y="1595120"/>
            <a:ext cx="3594735" cy="33655"/>
          </a:xfrm>
          <a:prstGeom prst="straightConnector1">
            <a:avLst/>
          </a:prstGeom>
          <a:noFill/>
          <a:ln w="9525" cap="flat" cmpd="sng" algn="ctr">
            <a:solidFill>
              <a:schemeClr val="tx1"/>
            </a:solidFill>
            <a:prstDash val="solid"/>
            <a:round/>
            <a:headEnd type="none" w="med" len="med"/>
            <a:tailEnd type="arrow" w="med" len="med"/>
          </a:ln>
        </p:spPr>
      </p:cxnSp>
      <p:sp>
        <p:nvSpPr>
          <p:cNvPr id="7" name="文本框 6"/>
          <p:cNvSpPr txBox="1"/>
          <p:nvPr/>
        </p:nvSpPr>
        <p:spPr>
          <a:xfrm>
            <a:off x="5303520" y="1124585"/>
            <a:ext cx="6224905" cy="922020"/>
          </a:xfrm>
          <a:prstGeom prst="rect">
            <a:avLst/>
          </a:prstGeom>
          <a:noFill/>
          <a:ln>
            <a:solidFill>
              <a:schemeClr val="tx1"/>
            </a:solidFill>
          </a:ln>
        </p:spPr>
        <p:txBody>
          <a:bodyPr wrap="square" rtlCol="0">
            <a:spAutoFit/>
          </a:bodyPr>
          <a:p>
            <a:r>
              <a:rPr lang="en-US" altLang="zh-CN"/>
              <a:t>1. </a:t>
            </a:r>
            <a:r>
              <a:rPr lang="zh-CN" altLang="en-US"/>
              <a:t>读入键盘输入</a:t>
            </a:r>
            <a:r>
              <a:rPr lang="en-US" altLang="zh-CN"/>
              <a:t> </a:t>
            </a:r>
            <a:endParaRPr lang="en-US" altLang="zh-CN"/>
          </a:p>
          <a:p>
            <a:r>
              <a:rPr lang="en-US" altLang="zh-CN"/>
              <a:t>2. </a:t>
            </a:r>
            <a:r>
              <a:rPr lang="zh-CN" altLang="en-US"/>
              <a:t>与程序中预存的</a:t>
            </a:r>
            <a:r>
              <a:rPr lang="en-US" altLang="zh-CN"/>
              <a:t>user </a:t>
            </a:r>
            <a:r>
              <a:rPr lang="zh-CN" altLang="en-US"/>
              <a:t>和</a:t>
            </a:r>
            <a:r>
              <a:rPr lang="en-US" altLang="zh-CN"/>
              <a:t> pass </a:t>
            </a:r>
            <a:r>
              <a:rPr lang="zh-CN" altLang="en-US"/>
              <a:t>比对</a:t>
            </a:r>
            <a:endParaRPr lang="zh-CN" altLang="en-US"/>
          </a:p>
          <a:p>
            <a:r>
              <a:rPr lang="en-US" altLang="zh-CN"/>
              <a:t>3. </a:t>
            </a:r>
            <a:r>
              <a:rPr lang="zh-CN" altLang="en-US"/>
              <a:t>如果匹配，则身份识别</a:t>
            </a:r>
            <a:r>
              <a:rPr lang="zh-CN" altLang="en-US"/>
              <a:t>成功。</a:t>
            </a:r>
            <a:endParaRPr lang="zh-CN" altLang="en-US"/>
          </a:p>
        </p:txBody>
      </p:sp>
      <p:sp>
        <p:nvSpPr>
          <p:cNvPr id="8" name="笑脸 7"/>
          <p:cNvSpPr/>
          <p:nvPr>
            <p:custDataLst>
              <p:tags r:id="rId2"/>
            </p:custDataLst>
          </p:nvPr>
        </p:nvSpPr>
        <p:spPr>
          <a:xfrm>
            <a:off x="695325" y="3645535"/>
            <a:ext cx="517525" cy="504190"/>
          </a:xfrm>
          <a:prstGeom prst="smileyF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 name="文本框 8"/>
          <p:cNvSpPr txBox="1"/>
          <p:nvPr>
            <p:custDataLst>
              <p:tags r:id="rId3"/>
            </p:custDataLst>
          </p:nvPr>
        </p:nvSpPr>
        <p:spPr>
          <a:xfrm>
            <a:off x="2003425" y="3402965"/>
            <a:ext cx="2430780" cy="368300"/>
          </a:xfrm>
          <a:prstGeom prst="rect">
            <a:avLst/>
          </a:prstGeom>
          <a:noFill/>
        </p:spPr>
        <p:txBody>
          <a:bodyPr wrap="square" rtlCol="0">
            <a:spAutoFit/>
          </a:bodyPr>
          <a:p>
            <a:r>
              <a:rPr lang="zh-CN" altLang="en-US"/>
              <a:t>键盘输入</a:t>
            </a:r>
            <a:r>
              <a:rPr lang="en-US" altLang="zh-CN"/>
              <a:t>user</a:t>
            </a:r>
            <a:r>
              <a:rPr lang="zh-CN" altLang="en-US"/>
              <a:t>和</a:t>
            </a:r>
            <a:r>
              <a:rPr lang="en-US" altLang="zh-CN"/>
              <a:t>pass</a:t>
            </a:r>
            <a:endParaRPr lang="en-US" altLang="zh-CN"/>
          </a:p>
        </p:txBody>
      </p:sp>
      <p:cxnSp>
        <p:nvCxnSpPr>
          <p:cNvPr id="10" name="直接箭头连接符 9"/>
          <p:cNvCxnSpPr/>
          <p:nvPr>
            <p:custDataLst>
              <p:tags r:id="rId4"/>
            </p:custDataLst>
          </p:nvPr>
        </p:nvCxnSpPr>
        <p:spPr>
          <a:xfrm flipV="1">
            <a:off x="1487805" y="3899535"/>
            <a:ext cx="3594735" cy="33655"/>
          </a:xfrm>
          <a:prstGeom prst="straightConnector1">
            <a:avLst/>
          </a:prstGeom>
          <a:noFill/>
          <a:ln w="9525" cap="flat" cmpd="sng" algn="ctr">
            <a:solidFill>
              <a:schemeClr val="tx1"/>
            </a:solidFill>
            <a:prstDash val="solid"/>
            <a:round/>
            <a:headEnd type="none" w="med" len="med"/>
            <a:tailEnd type="arrow" w="med" len="med"/>
          </a:ln>
        </p:spPr>
      </p:cxnSp>
      <p:sp>
        <p:nvSpPr>
          <p:cNvPr id="11" name="文本框 10"/>
          <p:cNvSpPr txBox="1"/>
          <p:nvPr>
            <p:custDataLst>
              <p:tags r:id="rId5"/>
            </p:custDataLst>
          </p:nvPr>
        </p:nvSpPr>
        <p:spPr>
          <a:xfrm>
            <a:off x="5304155" y="3429000"/>
            <a:ext cx="6165215" cy="922020"/>
          </a:xfrm>
          <a:prstGeom prst="rect">
            <a:avLst/>
          </a:prstGeom>
          <a:noFill/>
          <a:ln>
            <a:solidFill>
              <a:schemeClr val="tx1"/>
            </a:solidFill>
          </a:ln>
        </p:spPr>
        <p:txBody>
          <a:bodyPr wrap="square" rtlCol="0">
            <a:spAutoFit/>
          </a:bodyPr>
          <a:p>
            <a:r>
              <a:rPr lang="en-US" altLang="zh-CN"/>
              <a:t>1. </a:t>
            </a:r>
            <a:r>
              <a:rPr lang="zh-CN" altLang="en-US"/>
              <a:t>读入键盘输入</a:t>
            </a:r>
            <a:r>
              <a:rPr lang="en-US" altLang="zh-CN"/>
              <a:t> </a:t>
            </a:r>
            <a:endParaRPr lang="en-US" altLang="zh-CN"/>
          </a:p>
          <a:p>
            <a:r>
              <a:rPr lang="en-US" altLang="zh-CN"/>
              <a:t>2. </a:t>
            </a:r>
            <a:r>
              <a:rPr lang="zh-CN" altLang="en-US"/>
              <a:t>从文件（数据库）中读取相应的</a:t>
            </a:r>
            <a:r>
              <a:rPr lang="en-US" altLang="zh-CN"/>
              <a:t>user </a:t>
            </a:r>
            <a:r>
              <a:rPr lang="zh-CN" altLang="en-US"/>
              <a:t>和</a:t>
            </a:r>
            <a:r>
              <a:rPr lang="en-US" altLang="zh-CN"/>
              <a:t> pass </a:t>
            </a:r>
            <a:r>
              <a:rPr lang="zh-CN" altLang="en-US"/>
              <a:t>，</a:t>
            </a:r>
            <a:r>
              <a:rPr lang="zh-CN" altLang="en-US"/>
              <a:t>进行比对</a:t>
            </a:r>
            <a:endParaRPr lang="zh-CN" altLang="en-US"/>
          </a:p>
          <a:p>
            <a:r>
              <a:rPr lang="en-US" altLang="zh-CN"/>
              <a:t>3. </a:t>
            </a:r>
            <a:r>
              <a:rPr lang="zh-CN" altLang="en-US"/>
              <a:t>如果匹配，则身份识别</a:t>
            </a:r>
            <a:r>
              <a:rPr lang="zh-CN" altLang="en-US"/>
              <a:t>成功。</a:t>
            </a:r>
            <a:endParaRPr lang="zh-CN" altLang="en-US"/>
          </a:p>
        </p:txBody>
      </p:sp>
      <p:sp>
        <p:nvSpPr>
          <p:cNvPr id="12" name="燕尾形箭头 11"/>
          <p:cNvSpPr/>
          <p:nvPr/>
        </p:nvSpPr>
        <p:spPr>
          <a:xfrm rot="5400000">
            <a:off x="4989195" y="2446655"/>
            <a:ext cx="764540" cy="568325"/>
          </a:xfrm>
          <a:prstGeom prst="notchedRightArrow">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 name="文本框 12"/>
          <p:cNvSpPr txBox="1"/>
          <p:nvPr>
            <p:custDataLst>
              <p:tags r:id="rId6"/>
            </p:custDataLst>
          </p:nvPr>
        </p:nvSpPr>
        <p:spPr>
          <a:xfrm>
            <a:off x="767080" y="2360930"/>
            <a:ext cx="3836035" cy="645160"/>
          </a:xfrm>
          <a:prstGeom prst="rect">
            <a:avLst/>
          </a:prstGeom>
          <a:noFill/>
        </p:spPr>
        <p:txBody>
          <a:bodyPr wrap="square" rtlCol="0">
            <a:spAutoFit/>
          </a:bodyPr>
          <a:p>
            <a:r>
              <a:rPr lang="zh-CN" altLang="en-US">
                <a:solidFill>
                  <a:srgbClr val="C00000"/>
                </a:solidFill>
              </a:rPr>
              <a:t>如果有成千上万个</a:t>
            </a:r>
            <a:r>
              <a:rPr lang="en-US" altLang="zh-CN">
                <a:solidFill>
                  <a:srgbClr val="C00000"/>
                </a:solidFill>
              </a:rPr>
              <a:t>user</a:t>
            </a:r>
            <a:r>
              <a:rPr lang="zh-CN" altLang="en-US">
                <a:solidFill>
                  <a:srgbClr val="C00000"/>
                </a:solidFill>
              </a:rPr>
              <a:t>，可以将数据保存到文件（数据库）</a:t>
            </a:r>
            <a:r>
              <a:rPr lang="zh-CN" altLang="en-US">
                <a:solidFill>
                  <a:srgbClr val="C00000"/>
                </a:solidFill>
              </a:rPr>
              <a:t>中</a:t>
            </a:r>
            <a:endParaRPr lang="zh-CN" altLang="en-US">
              <a:solidFill>
                <a:srgbClr val="C00000"/>
              </a:solidFill>
            </a:endParaRPr>
          </a:p>
        </p:txBody>
      </p:sp>
      <p:sp>
        <p:nvSpPr>
          <p:cNvPr id="14" name="文本框 13"/>
          <p:cNvSpPr txBox="1"/>
          <p:nvPr>
            <p:custDataLst>
              <p:tags r:id="rId7"/>
            </p:custDataLst>
          </p:nvPr>
        </p:nvSpPr>
        <p:spPr>
          <a:xfrm>
            <a:off x="894080" y="4509135"/>
            <a:ext cx="3836035" cy="368300"/>
          </a:xfrm>
          <a:prstGeom prst="rect">
            <a:avLst/>
          </a:prstGeom>
          <a:noFill/>
        </p:spPr>
        <p:txBody>
          <a:bodyPr wrap="square" rtlCol="0">
            <a:spAutoFit/>
          </a:bodyPr>
          <a:p>
            <a:r>
              <a:rPr lang="zh-CN" altLang="en-US">
                <a:solidFill>
                  <a:srgbClr val="C00000"/>
                </a:solidFill>
              </a:rPr>
              <a:t>如果用户是通过网络来访问</a:t>
            </a:r>
            <a:r>
              <a:rPr lang="zh-CN" altLang="en-US">
                <a:solidFill>
                  <a:srgbClr val="C00000"/>
                </a:solidFill>
              </a:rPr>
              <a:t>呢？</a:t>
            </a:r>
            <a:endParaRPr lang="zh-CN" altLang="en-US">
              <a:solidFill>
                <a:srgbClr val="C00000"/>
              </a:solidFill>
            </a:endParaRPr>
          </a:p>
        </p:txBody>
      </p:sp>
      <p:sp>
        <p:nvSpPr>
          <p:cNvPr id="15" name="燕尾形箭头 14"/>
          <p:cNvSpPr/>
          <p:nvPr/>
        </p:nvSpPr>
        <p:spPr>
          <a:xfrm rot="5400000">
            <a:off x="5036820" y="4505960"/>
            <a:ext cx="644525" cy="568325"/>
          </a:xfrm>
          <a:prstGeom prst="notchedRightArrow">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 name="笑脸 15"/>
          <p:cNvSpPr/>
          <p:nvPr>
            <p:custDataLst>
              <p:tags r:id="rId8"/>
            </p:custDataLst>
          </p:nvPr>
        </p:nvSpPr>
        <p:spPr>
          <a:xfrm>
            <a:off x="759460" y="5445760"/>
            <a:ext cx="517525" cy="504190"/>
          </a:xfrm>
          <a:prstGeom prst="smileyF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 name="文本框 16"/>
          <p:cNvSpPr txBox="1"/>
          <p:nvPr>
            <p:custDataLst>
              <p:tags r:id="rId9"/>
            </p:custDataLst>
          </p:nvPr>
        </p:nvSpPr>
        <p:spPr>
          <a:xfrm>
            <a:off x="2067560" y="5203190"/>
            <a:ext cx="2430780" cy="368300"/>
          </a:xfrm>
          <a:prstGeom prst="rect">
            <a:avLst/>
          </a:prstGeom>
          <a:noFill/>
        </p:spPr>
        <p:txBody>
          <a:bodyPr wrap="square" rtlCol="0">
            <a:spAutoFit/>
          </a:bodyPr>
          <a:p>
            <a:r>
              <a:rPr lang="zh-CN" altLang="en-US"/>
              <a:t>键盘输入</a:t>
            </a:r>
            <a:r>
              <a:rPr lang="en-US" altLang="zh-CN"/>
              <a:t>user</a:t>
            </a:r>
            <a:r>
              <a:rPr lang="zh-CN" altLang="en-US"/>
              <a:t>和</a:t>
            </a:r>
            <a:r>
              <a:rPr lang="en-US" altLang="zh-CN"/>
              <a:t>pass</a:t>
            </a:r>
            <a:endParaRPr lang="en-US" altLang="zh-CN"/>
          </a:p>
        </p:txBody>
      </p:sp>
      <p:cxnSp>
        <p:nvCxnSpPr>
          <p:cNvPr id="18" name="直接箭头连接符 17"/>
          <p:cNvCxnSpPr/>
          <p:nvPr>
            <p:custDataLst>
              <p:tags r:id="rId10"/>
            </p:custDataLst>
          </p:nvPr>
        </p:nvCxnSpPr>
        <p:spPr>
          <a:xfrm flipV="1">
            <a:off x="1551940" y="5699760"/>
            <a:ext cx="3594735" cy="33655"/>
          </a:xfrm>
          <a:prstGeom prst="straightConnector1">
            <a:avLst/>
          </a:prstGeom>
          <a:noFill/>
          <a:ln w="9525" cap="flat" cmpd="sng" algn="ctr">
            <a:solidFill>
              <a:schemeClr val="tx1"/>
            </a:solidFill>
            <a:prstDash val="solid"/>
            <a:round/>
            <a:headEnd type="none" w="med" len="med"/>
            <a:tailEnd type="arrow" w="med" len="med"/>
          </a:ln>
        </p:spPr>
      </p:cxnSp>
      <p:sp>
        <p:nvSpPr>
          <p:cNvPr id="19" name="文本框 18"/>
          <p:cNvSpPr txBox="1"/>
          <p:nvPr>
            <p:custDataLst>
              <p:tags r:id="rId11"/>
            </p:custDataLst>
          </p:nvPr>
        </p:nvSpPr>
        <p:spPr>
          <a:xfrm>
            <a:off x="5296535" y="5229225"/>
            <a:ext cx="6144260" cy="922020"/>
          </a:xfrm>
          <a:prstGeom prst="rect">
            <a:avLst/>
          </a:prstGeom>
          <a:noFill/>
          <a:ln>
            <a:solidFill>
              <a:schemeClr val="tx1"/>
            </a:solidFill>
          </a:ln>
        </p:spPr>
        <p:txBody>
          <a:bodyPr wrap="square" rtlCol="0">
            <a:spAutoFit/>
          </a:bodyPr>
          <a:p>
            <a:r>
              <a:rPr lang="en-US" altLang="zh-CN"/>
              <a:t>1. </a:t>
            </a:r>
            <a:r>
              <a:rPr lang="zh-CN" altLang="en-US"/>
              <a:t>从网络请求（一般是</a:t>
            </a:r>
            <a:r>
              <a:rPr lang="en-US" altLang="zh-CN"/>
              <a:t>HTTP Request</a:t>
            </a:r>
            <a:r>
              <a:rPr lang="zh-CN" altLang="en-US"/>
              <a:t>）中</a:t>
            </a:r>
            <a:r>
              <a:rPr lang="zh-CN" altLang="en-US"/>
              <a:t>读取</a:t>
            </a:r>
            <a:r>
              <a:rPr lang="en-US" altLang="zh-CN"/>
              <a:t> </a:t>
            </a:r>
            <a:endParaRPr lang="en-US" altLang="zh-CN"/>
          </a:p>
          <a:p>
            <a:r>
              <a:rPr lang="en-US" altLang="zh-CN"/>
              <a:t>2. </a:t>
            </a:r>
            <a:r>
              <a:rPr lang="zh-CN" altLang="en-US"/>
              <a:t>从文件（数据库）中读取相应的</a:t>
            </a:r>
            <a:r>
              <a:rPr lang="en-US" altLang="zh-CN"/>
              <a:t>user </a:t>
            </a:r>
            <a:r>
              <a:rPr lang="zh-CN" altLang="en-US"/>
              <a:t>和</a:t>
            </a:r>
            <a:r>
              <a:rPr lang="en-US" altLang="zh-CN"/>
              <a:t> pass </a:t>
            </a:r>
            <a:r>
              <a:rPr lang="zh-CN" altLang="en-US"/>
              <a:t>，</a:t>
            </a:r>
            <a:r>
              <a:rPr lang="zh-CN" altLang="en-US"/>
              <a:t>进行比对</a:t>
            </a:r>
            <a:endParaRPr lang="zh-CN" altLang="en-US"/>
          </a:p>
          <a:p>
            <a:r>
              <a:rPr lang="en-US" altLang="zh-CN"/>
              <a:t>3. </a:t>
            </a:r>
            <a:r>
              <a:rPr lang="zh-CN" altLang="en-US"/>
              <a:t>如果匹配，则身份识别</a:t>
            </a:r>
            <a:r>
              <a:rPr lang="zh-CN" altLang="en-US"/>
              <a:t>成功。</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par>
                                <p:cTn id="35" presetID="3" presetClass="entr" presetSubtype="1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linds(horizontal)">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blinds(horizont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linds(horizontal)">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blinds(horizontal)">
                                      <p:cBhvr>
                                        <p:cTn id="55" dur="500"/>
                                        <p:tgtEl>
                                          <p:spTgt spid="16"/>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blinds(horizontal)">
                                      <p:cBhvr>
                                        <p:cTn id="58" dur="500"/>
                                        <p:tgtEl>
                                          <p:spTgt spid="17"/>
                                        </p:tgtEl>
                                      </p:cBhvr>
                                    </p:animEffect>
                                  </p:childTnLst>
                                </p:cTn>
                              </p:par>
                              <p:par>
                                <p:cTn id="59" presetID="3" presetClass="entr" presetSubtype="1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blinds(horizontal)">
                                      <p:cBhvr>
                                        <p:cTn id="61" dur="500"/>
                                        <p:tgtEl>
                                          <p:spTgt spid="18"/>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blinds(horizontal)">
                                      <p:cBhvr>
                                        <p:cTn id="6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7" grpId="0" bldLvl="0" animBg="1"/>
      <p:bldP spid="3" grpId="1" animBg="1"/>
      <p:bldP spid="4" grpId="1"/>
      <p:bldP spid="7" grpId="1" animBg="1"/>
      <p:bldP spid="8" grpId="0" bldLvl="0" animBg="1"/>
      <p:bldP spid="9" grpId="0"/>
      <p:bldP spid="11" grpId="0" bldLvl="0" animBg="1"/>
      <p:bldP spid="8" grpId="1" animBg="1"/>
      <p:bldP spid="9" grpId="1"/>
      <p:bldP spid="11" grpId="1" animBg="1"/>
      <p:bldP spid="13" grpId="0"/>
      <p:bldP spid="13" grpId="1"/>
      <p:bldP spid="14" grpId="0"/>
      <p:bldP spid="14" grpId="1"/>
      <p:bldP spid="16" grpId="0" bldLvl="0" animBg="1"/>
      <p:bldP spid="17" grpId="0"/>
      <p:bldP spid="19" grpId="0" bldLvl="0" animBg="1"/>
      <p:bldP spid="16" grpId="1" animBg="1"/>
      <p:bldP spid="17" grpId="1"/>
      <p:bldP spid="19" grpId="1" animBg="1"/>
      <p:bldP spid="12" grpId="0" animBg="1"/>
      <p:bldP spid="12" grpId="1" animBg="1"/>
      <p:bldP spid="15" grpId="0" animBg="1"/>
      <p:bldP spid="15"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p:cNvSpPr>
            <a:spLocks noGrp="1" noChangeArrowheads="1"/>
          </p:cNvSpPr>
          <p:nvPr>
            <p:ph type="title" idx="4294967295"/>
          </p:nvPr>
        </p:nvSpPr>
        <p:spPr/>
        <p:txBody>
          <a:bodyPr/>
          <a:lstStyle/>
          <a:p>
            <a:pPr eaLnBrk="1" hangingPunct="1"/>
            <a:r>
              <a:rPr lang="zh-CN" altLang="zh-CN" sz="3600"/>
              <a:t>基于密码学的</a:t>
            </a:r>
            <a:r>
              <a:rPr lang="zh-CN" altLang="zh-CN" sz="3600"/>
              <a:t>用户身份鉴别</a:t>
            </a:r>
            <a:r>
              <a:rPr lang="en-US" altLang="zh-CN" sz="3600"/>
              <a:t>*</a:t>
            </a:r>
            <a:endParaRPr lang="en-US" altLang="zh-CN" sz="3600"/>
          </a:p>
        </p:txBody>
      </p:sp>
      <p:sp>
        <p:nvSpPr>
          <p:cNvPr id="41987" name="Rectangle 3"/>
          <p:cNvSpPr>
            <a:spLocks noGrp="1" noChangeArrowheads="1"/>
          </p:cNvSpPr>
          <p:nvPr>
            <p:ph type="body" idx="4294967295"/>
          </p:nvPr>
        </p:nvSpPr>
        <p:spPr>
          <a:xfrm>
            <a:off x="699561" y="1117487"/>
            <a:ext cx="9865096" cy="4647083"/>
          </a:xfrm>
        </p:spPr>
        <p:txBody>
          <a:bodyPr/>
          <a:lstStyle/>
          <a:p>
            <a:pPr lvl="1" eaLnBrk="1" hangingPunct="1">
              <a:lnSpc>
                <a:spcPct val="150000"/>
              </a:lnSpc>
              <a:spcBef>
                <a:spcPct val="0"/>
              </a:spcBef>
              <a:buSzPct val="75000"/>
            </a:pPr>
            <a:r>
              <a:rPr lang="zh-CN" altLang="en-US" sz="2200" dirty="0"/>
              <a:t>在区块链（一种特殊的分布式数据库系统）中广泛</a:t>
            </a:r>
            <a:r>
              <a:rPr lang="zh-CN" altLang="en-US" sz="2200" dirty="0"/>
              <a:t>应用。</a:t>
            </a:r>
            <a:endParaRPr lang="zh-CN" altLang="en-US" sz="2200" dirty="0"/>
          </a:p>
          <a:p>
            <a:pPr lvl="1" eaLnBrk="1" hangingPunct="1">
              <a:lnSpc>
                <a:spcPct val="150000"/>
              </a:lnSpc>
              <a:spcBef>
                <a:spcPct val="0"/>
              </a:spcBef>
              <a:buSzPct val="75000"/>
            </a:pPr>
            <a:r>
              <a:rPr lang="zh-CN" altLang="en-US" sz="2200" dirty="0"/>
              <a:t>与前述方法不同在于，用户不是向系统证明自己的身份，而是向系统证明自己</a:t>
            </a:r>
            <a:r>
              <a:rPr lang="zh-CN" altLang="en-US" sz="2200" dirty="0"/>
              <a:t>拥有执行某个操作的</a:t>
            </a:r>
            <a:r>
              <a:rPr lang="zh-CN" altLang="en-US" sz="2200" dirty="0"/>
              <a:t>权利</a:t>
            </a:r>
            <a:endParaRPr lang="zh-CN" altLang="en-US" sz="2200" dirty="0"/>
          </a:p>
          <a:p>
            <a:pPr lvl="1" eaLnBrk="1" hangingPunct="1">
              <a:lnSpc>
                <a:spcPct val="150000"/>
              </a:lnSpc>
              <a:spcBef>
                <a:spcPct val="0"/>
              </a:spcBef>
              <a:buSzPct val="75000"/>
            </a:pPr>
            <a:r>
              <a:rPr lang="zh-CN" altLang="en-US" sz="2200" dirty="0"/>
              <a:t>前述方法或现有绝大部分信息系统中，都有</a:t>
            </a:r>
            <a:r>
              <a:rPr lang="en-US" altLang="zh-CN" sz="2200" dirty="0">
                <a:solidFill>
                  <a:srgbClr val="C00000"/>
                </a:solidFill>
              </a:rPr>
              <a:t>“</a:t>
            </a:r>
            <a:r>
              <a:rPr lang="zh-CN" altLang="en-US" sz="2200" dirty="0">
                <a:solidFill>
                  <a:srgbClr val="C00000"/>
                </a:solidFill>
              </a:rPr>
              <a:t>用户登录系统</a:t>
            </a:r>
            <a:r>
              <a:rPr lang="en-US" altLang="zh-CN" sz="2200" dirty="0">
                <a:solidFill>
                  <a:srgbClr val="C00000"/>
                </a:solidFill>
              </a:rPr>
              <a:t>”</a:t>
            </a:r>
            <a:r>
              <a:rPr lang="zh-CN" altLang="en-US" sz="2200" dirty="0"/>
              <a:t>的环节，一旦用户证明身份成功登录，系统就认可用户具备相应的</a:t>
            </a:r>
            <a:r>
              <a:rPr lang="zh-CN" altLang="en-US" sz="2200" dirty="0"/>
              <a:t>权限</a:t>
            </a:r>
            <a:endParaRPr lang="zh-CN" altLang="en-US" sz="2200" dirty="0"/>
          </a:p>
          <a:p>
            <a:pPr lvl="1" eaLnBrk="1" hangingPunct="1">
              <a:lnSpc>
                <a:spcPct val="150000"/>
              </a:lnSpc>
              <a:spcBef>
                <a:spcPct val="0"/>
              </a:spcBef>
              <a:buSzPct val="75000"/>
            </a:pPr>
            <a:r>
              <a:rPr lang="zh-CN" altLang="en-US" sz="2200" dirty="0"/>
              <a:t>在区块链等去中心化系统中，没有</a:t>
            </a:r>
            <a:r>
              <a:rPr lang="en-US" altLang="zh-CN" sz="2200" dirty="0"/>
              <a:t>“</a:t>
            </a:r>
            <a:r>
              <a:rPr lang="zh-CN" altLang="en-US" sz="2200" dirty="0"/>
              <a:t>用户登录</a:t>
            </a:r>
            <a:r>
              <a:rPr lang="en-US" altLang="zh-CN" sz="2200" dirty="0"/>
              <a:t>”</a:t>
            </a:r>
            <a:r>
              <a:rPr lang="zh-CN" altLang="en-US" sz="2200" dirty="0"/>
              <a:t>，用户发出的每一个操作指令，都要附带一个自己具备执行该指令的权利</a:t>
            </a:r>
            <a:r>
              <a:rPr lang="zh-CN" altLang="en-US" sz="2200" dirty="0"/>
              <a:t>证明</a:t>
            </a:r>
            <a:endParaRPr lang="zh-CN" altLang="en-US" sz="2200" dirty="0"/>
          </a:p>
          <a:p>
            <a:pPr lvl="1" eaLnBrk="1" hangingPunct="1">
              <a:lnSpc>
                <a:spcPct val="150000"/>
              </a:lnSpc>
              <a:spcBef>
                <a:spcPct val="0"/>
              </a:spcBef>
              <a:buSzPct val="75000"/>
            </a:pPr>
            <a:r>
              <a:rPr lang="zh-CN" altLang="en-US" sz="2200" dirty="0"/>
              <a:t>例如，用户</a:t>
            </a:r>
            <a:r>
              <a:rPr lang="en-US" altLang="zh-CN" sz="2200" dirty="0"/>
              <a:t>A</a:t>
            </a:r>
            <a:r>
              <a:rPr lang="zh-CN" altLang="en-US" sz="2200" dirty="0"/>
              <a:t>希望执行一个转账操作，</a:t>
            </a:r>
            <a:r>
              <a:rPr lang="en-US" altLang="zh-CN" sz="2200" dirty="0"/>
              <a:t>A</a:t>
            </a:r>
            <a:r>
              <a:rPr lang="zh-CN" altLang="en-US" sz="2200" dirty="0"/>
              <a:t>需要使用</a:t>
            </a:r>
            <a:r>
              <a:rPr lang="zh-CN" altLang="en-US" sz="2200" dirty="0">
                <a:solidFill>
                  <a:srgbClr val="C00000"/>
                </a:solidFill>
              </a:rPr>
              <a:t>私钥</a:t>
            </a:r>
            <a:r>
              <a:rPr lang="zh-CN" altLang="en-US" sz="2200" dirty="0"/>
              <a:t>对这个操作进行数字签名，系统可以基于</a:t>
            </a:r>
            <a:r>
              <a:rPr lang="en-US" altLang="zh-CN" sz="2200" dirty="0"/>
              <a:t>A</a:t>
            </a:r>
            <a:r>
              <a:rPr lang="zh-CN" altLang="en-US" sz="2200" dirty="0"/>
              <a:t>账户的</a:t>
            </a:r>
            <a:r>
              <a:rPr lang="zh-CN" altLang="en-US" sz="2200" dirty="0">
                <a:solidFill>
                  <a:srgbClr val="C00000"/>
                </a:solidFill>
              </a:rPr>
              <a:t>公钥</a:t>
            </a:r>
            <a:r>
              <a:rPr lang="zh-CN" altLang="en-US" sz="2200" dirty="0"/>
              <a:t>来判断该操作是否</a:t>
            </a:r>
            <a:r>
              <a:rPr lang="zh-CN" altLang="en-US" sz="2200" dirty="0"/>
              <a:t>合法</a:t>
            </a:r>
            <a:endParaRPr lang="zh-CN" altLang="en-US" sz="2200" dirty="0"/>
          </a:p>
          <a:p>
            <a:pPr lvl="1" eaLnBrk="1" hangingPunct="1">
              <a:lnSpc>
                <a:spcPct val="150000"/>
              </a:lnSpc>
              <a:spcBef>
                <a:spcPct val="0"/>
              </a:spcBef>
              <a:buSzPct val="75000"/>
            </a:pPr>
            <a:endParaRPr lang="zh-CN" altLang="en-US" sz="2200" dirty="0"/>
          </a:p>
          <a:p>
            <a:pPr lvl="1" eaLnBrk="1" hangingPunct="1">
              <a:lnSpc>
                <a:spcPct val="150000"/>
              </a:lnSpc>
              <a:spcBef>
                <a:spcPct val="0"/>
              </a:spcBef>
              <a:buSzPct val="75000"/>
            </a:pPr>
            <a:endParaRPr lang="en-US" altLang="zh-CN" sz="2200" dirty="0"/>
          </a:p>
          <a:p>
            <a:pPr lvl="1" eaLnBrk="1" hangingPunct="1">
              <a:lnSpc>
                <a:spcPct val="150000"/>
              </a:lnSpc>
              <a:spcBef>
                <a:spcPct val="0"/>
              </a:spcBef>
              <a:buSzPct val="75000"/>
              <a:buFont typeface="Wingdings" panose="05000000000000000000" pitchFamily="2" charset="2"/>
              <a:buNone/>
            </a:pPr>
            <a:endParaRPr lang="en-US" altLang="zh-CN" sz="22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ChangeArrowheads="1"/>
          </p:cNvSpPr>
          <p:nvPr>
            <p:custDataLst>
              <p:tags r:id="rId1"/>
            </p:custDataLst>
          </p:nvPr>
        </p:nvSpPr>
        <p:spPr>
          <a:xfrm>
            <a:off x="609600" y="-36513"/>
            <a:ext cx="10972800" cy="1135063"/>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eaLnBrk="1" hangingPunct="1"/>
            <a:r>
              <a:rPr lang="zh-CN" altLang="zh-CN" sz="3600"/>
              <a:t>用户身份鉴别</a:t>
            </a:r>
            <a:r>
              <a:rPr lang="zh-CN" altLang="zh-CN" sz="3600"/>
              <a:t>小结</a:t>
            </a:r>
            <a:endParaRPr lang="zh-CN" altLang="zh-CN" sz="3600"/>
          </a:p>
        </p:txBody>
      </p:sp>
      <p:sp>
        <p:nvSpPr>
          <p:cNvPr id="41987" name="Rectangle 3"/>
          <p:cNvSpPr>
            <a:spLocks noGrp="1" noChangeArrowheads="1"/>
          </p:cNvSpPr>
          <p:nvPr>
            <p:custDataLst>
              <p:tags r:id="rId2"/>
            </p:custDataLst>
          </p:nvPr>
        </p:nvSpPr>
        <p:spPr>
          <a:xfrm>
            <a:off x="340360" y="1124585"/>
            <a:ext cx="11193145" cy="506412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SzPct val="100000"/>
              <a:buFont typeface="Wingdings" panose="05000000000000000000" pitchFamily="2" charset="2"/>
              <a:buChar char="v"/>
              <a:defRPr sz="2800" b="1" baseline="0">
                <a:solidFill>
                  <a:schemeClr val="tx1"/>
                </a:solidFill>
                <a:latin typeface="Arial" panose="020B0604020202020204" pitchFamily="34" charset="0"/>
                <a:ea typeface="宋体" panose="02010600030101010101" pitchFamily="2" charset="-122"/>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baseline="0">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20000"/>
              </a:spcBef>
              <a:spcAft>
                <a:spcPct val="0"/>
              </a:spcAft>
              <a:buFont typeface="Wingdings" panose="05000000000000000000" pitchFamily="2" charset="2"/>
              <a:buChar char="l"/>
              <a:defRPr sz="2200" b="1" baseline="0">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lvl="1" eaLnBrk="1" hangingPunct="1">
              <a:lnSpc>
                <a:spcPct val="150000"/>
              </a:lnSpc>
              <a:spcBef>
                <a:spcPct val="0"/>
              </a:spcBef>
              <a:buSzPct val="75000"/>
            </a:pPr>
            <a:r>
              <a:rPr lang="zh-CN" altLang="en-US" dirty="0"/>
              <a:t>目前已有的身份鉴别方法，都各有利弊，暂时还没看到没有缺点的</a:t>
            </a:r>
            <a:r>
              <a:rPr lang="zh-CN" altLang="en-US" dirty="0"/>
              <a:t>方法</a:t>
            </a:r>
            <a:endParaRPr lang="zh-CN" altLang="en-US" dirty="0"/>
          </a:p>
          <a:p>
            <a:pPr lvl="2" eaLnBrk="1" hangingPunct="1">
              <a:lnSpc>
                <a:spcPct val="150000"/>
              </a:lnSpc>
              <a:spcBef>
                <a:spcPct val="0"/>
              </a:spcBef>
              <a:buSzPct val="75000"/>
            </a:pPr>
            <a:r>
              <a:rPr lang="zh-CN" altLang="en-US" dirty="0"/>
              <a:t>攻击和防御的</a:t>
            </a:r>
            <a:r>
              <a:rPr lang="zh-CN" altLang="en-US" dirty="0"/>
              <a:t>消长</a:t>
            </a:r>
            <a:endParaRPr lang="zh-CN" altLang="en-US" dirty="0"/>
          </a:p>
          <a:p>
            <a:pPr lvl="2" eaLnBrk="1" hangingPunct="1">
              <a:lnSpc>
                <a:spcPct val="150000"/>
              </a:lnSpc>
              <a:spcBef>
                <a:spcPct val="0"/>
              </a:spcBef>
              <a:buSzPct val="75000"/>
            </a:pPr>
            <a:r>
              <a:rPr lang="zh-CN" altLang="en-US" dirty="0"/>
              <a:t>便利和安全的</a:t>
            </a:r>
            <a:r>
              <a:rPr lang="zh-CN" altLang="en-US" dirty="0"/>
              <a:t>取舍</a:t>
            </a:r>
            <a:endParaRPr lang="zh-CN" altLang="en-US" dirty="0"/>
          </a:p>
          <a:p>
            <a:pPr lvl="1" eaLnBrk="1" hangingPunct="1">
              <a:lnSpc>
                <a:spcPct val="150000"/>
              </a:lnSpc>
              <a:spcBef>
                <a:spcPct val="0"/>
              </a:spcBef>
              <a:buSzPct val="75000"/>
            </a:pPr>
            <a:r>
              <a:rPr lang="zh-CN" altLang="en-US" dirty="0"/>
              <a:t>需要区分信息系统的身份和数据库管理系统的</a:t>
            </a:r>
            <a:r>
              <a:rPr lang="zh-CN" altLang="en-US" dirty="0"/>
              <a:t>身份</a:t>
            </a:r>
            <a:endParaRPr lang="zh-CN" altLang="en-US" dirty="0"/>
          </a:p>
          <a:p>
            <a:pPr lvl="2" eaLnBrk="1" hangingPunct="1">
              <a:lnSpc>
                <a:spcPct val="150000"/>
              </a:lnSpc>
              <a:spcBef>
                <a:spcPct val="0"/>
              </a:spcBef>
              <a:buSzPct val="75000"/>
            </a:pPr>
            <a:r>
              <a:rPr lang="en-US" altLang="zh-CN" dirty="0">
                <a:sym typeface="+mn-ea"/>
              </a:rPr>
              <a:t>DBMS</a:t>
            </a:r>
            <a:r>
              <a:rPr lang="zh-CN" altLang="en-US" dirty="0">
                <a:sym typeface="+mn-ea"/>
              </a:rPr>
              <a:t>识别身份的手段相对单一，一般就是用户名</a:t>
            </a:r>
            <a:r>
              <a:rPr lang="en-US" altLang="zh-CN" dirty="0">
                <a:sym typeface="+mn-ea"/>
              </a:rPr>
              <a:t>+</a:t>
            </a:r>
            <a:r>
              <a:rPr lang="zh-CN" altLang="en-US" dirty="0">
                <a:sym typeface="+mn-ea"/>
              </a:rPr>
              <a:t>密码</a:t>
            </a:r>
            <a:endParaRPr lang="zh-CN" altLang="en-US" dirty="0"/>
          </a:p>
          <a:p>
            <a:pPr lvl="2" eaLnBrk="1" hangingPunct="1">
              <a:lnSpc>
                <a:spcPct val="150000"/>
              </a:lnSpc>
              <a:spcBef>
                <a:spcPct val="0"/>
              </a:spcBef>
              <a:buSzPct val="75000"/>
            </a:pPr>
            <a:r>
              <a:rPr lang="zh-CN" altLang="en-US" dirty="0">
                <a:sym typeface="+mn-ea"/>
              </a:rPr>
              <a:t>信息系统则有五花八门的手段</a:t>
            </a:r>
            <a:endParaRPr lang="zh-CN" altLang="en-US" sz="2200" dirty="0"/>
          </a:p>
          <a:p>
            <a:pPr lvl="2" eaLnBrk="1" hangingPunct="1">
              <a:lnSpc>
                <a:spcPct val="150000"/>
              </a:lnSpc>
              <a:spcBef>
                <a:spcPct val="0"/>
              </a:spcBef>
              <a:buSzPct val="75000"/>
            </a:pPr>
            <a:r>
              <a:rPr lang="zh-CN" altLang="en-US" sz="2200" dirty="0"/>
              <a:t>对</a:t>
            </a:r>
            <a:r>
              <a:rPr lang="en-US" altLang="zh-CN" sz="2200" dirty="0"/>
              <a:t>DBMS</a:t>
            </a:r>
            <a:r>
              <a:rPr lang="zh-CN" altLang="en-US" sz="2200" dirty="0"/>
              <a:t>来说，应用程序和终端用户都是它的用户</a:t>
            </a:r>
            <a:endParaRPr lang="en-US" altLang="zh-CN" sz="2200" dirty="0"/>
          </a:p>
          <a:p>
            <a:pPr lvl="2" eaLnBrk="1" hangingPunct="1">
              <a:lnSpc>
                <a:spcPct val="150000"/>
              </a:lnSpc>
              <a:spcBef>
                <a:spcPct val="0"/>
              </a:spcBef>
              <a:buSzPct val="75000"/>
            </a:pPr>
            <a:r>
              <a:rPr lang="zh-CN" altLang="en-US" sz="2200" dirty="0"/>
              <a:t>很多程序员（</a:t>
            </a:r>
            <a:r>
              <a:rPr lang="zh-CN" altLang="en-US" sz="2200" dirty="0">
                <a:solidFill>
                  <a:srgbClr val="FF0000"/>
                </a:solidFill>
              </a:rPr>
              <a:t>包括你们</a:t>
            </a:r>
            <a:r>
              <a:rPr lang="zh-CN" altLang="en-US" sz="2200" dirty="0"/>
              <a:t>）都喜欢赋予程序</a:t>
            </a:r>
            <a:r>
              <a:rPr lang="en-US" altLang="zh-CN" sz="2200" dirty="0"/>
              <a:t>root</a:t>
            </a:r>
            <a:r>
              <a:rPr lang="zh-CN" altLang="en-US" sz="2200" dirty="0"/>
              <a:t>权限，但这显然是不安全</a:t>
            </a:r>
            <a:r>
              <a:rPr lang="zh-CN" altLang="en-US" sz="2200" dirty="0"/>
              <a:t>的</a:t>
            </a:r>
            <a:endParaRPr lang="zh-CN" altLang="en-US" sz="2200" dirty="0"/>
          </a:p>
          <a:p>
            <a:pPr lvl="2" eaLnBrk="1" hangingPunct="1">
              <a:lnSpc>
                <a:spcPct val="150000"/>
              </a:lnSpc>
              <a:spcBef>
                <a:spcPct val="0"/>
              </a:spcBef>
              <a:buSzPct val="75000"/>
            </a:pPr>
            <a:endParaRPr lang="zh-CN" altLang="en-US" dirty="0"/>
          </a:p>
          <a:p>
            <a:pPr lvl="1" eaLnBrk="1" hangingPunct="1">
              <a:lnSpc>
                <a:spcPct val="150000"/>
              </a:lnSpc>
              <a:spcBef>
                <a:spcPct val="0"/>
              </a:spcBef>
              <a:buSzPct val="75000"/>
              <a:buFont typeface="Wingdings" panose="05000000000000000000" pitchFamily="2" charset="2"/>
              <a:buNone/>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p:txBody>
          <a:bodyPr vert="horz" wrap="square" lIns="121920" tIns="60960" rIns="121920" bIns="60960" anchor="ctr" anchorCtr="0"/>
          <a:p>
            <a:r>
              <a:rPr lang="en-US" altLang="zh-CN" dirty="0"/>
              <a:t>SQL</a:t>
            </a:r>
            <a:r>
              <a:rPr lang="zh-CN" altLang="en-US" dirty="0"/>
              <a:t>注入</a:t>
            </a:r>
            <a:endParaRPr lang="zh-CN" altLang="en-US" dirty="0"/>
          </a:p>
        </p:txBody>
      </p:sp>
      <p:sp>
        <p:nvSpPr>
          <p:cNvPr id="34819" name="内容占位符 2"/>
          <p:cNvSpPr>
            <a:spLocks noGrp="1"/>
          </p:cNvSpPr>
          <p:nvPr>
            <p:ph idx="1"/>
          </p:nvPr>
        </p:nvSpPr>
        <p:spPr>
          <a:xfrm>
            <a:off x="118745" y="1268731"/>
            <a:ext cx="11425767" cy="5111749"/>
          </a:xfrm>
        </p:spPr>
        <p:txBody>
          <a:bodyPr vert="horz" wrap="square" lIns="121920" tIns="60960" rIns="121920" bIns="60960" anchor="t" anchorCtr="0"/>
          <a:p>
            <a:r>
              <a:rPr lang="zh-CN" altLang="en-US" dirty="0"/>
              <a:t>何为</a:t>
            </a:r>
            <a:r>
              <a:rPr lang="en-US" altLang="zh-CN" dirty="0"/>
              <a:t>SQL</a:t>
            </a:r>
            <a:r>
              <a:rPr lang="zh-CN" altLang="en-US" dirty="0"/>
              <a:t>注入？</a:t>
            </a:r>
            <a:endParaRPr lang="en-US" altLang="zh-CN" dirty="0"/>
          </a:p>
          <a:p>
            <a:r>
              <a:rPr lang="zh-CN" altLang="en-US" dirty="0"/>
              <a:t>如何防止？</a:t>
            </a:r>
            <a:endParaRPr lang="en-US" altLang="zh-CN" dirty="0"/>
          </a:p>
          <a:p>
            <a:r>
              <a:rPr lang="zh-CN" altLang="en-US" dirty="0"/>
              <a:t>例如：微人大</a:t>
            </a:r>
            <a:r>
              <a:rPr lang="zh-CN" altLang="en-US" dirty="0"/>
              <a:t>登录</a:t>
            </a:r>
            <a:endParaRPr lang="zh-CN" altLang="en-US" dirty="0"/>
          </a:p>
          <a:p>
            <a:endParaRPr lang="en-US" altLang="zh-CN" dirty="0"/>
          </a:p>
          <a:p>
            <a:pPr lvl="1"/>
            <a:r>
              <a:rPr lang="zh-CN" altLang="en-US" dirty="0"/>
              <a:t>假设正确密码是</a:t>
            </a:r>
            <a:r>
              <a:rPr lang="en-US" altLang="zh-CN" dirty="0"/>
              <a:t>123456</a:t>
            </a:r>
            <a:endParaRPr lang="en-US" altLang="zh-CN" dirty="0"/>
          </a:p>
          <a:p>
            <a:pPr lvl="1"/>
            <a:r>
              <a:rPr lang="zh-CN" altLang="en-US" dirty="0"/>
              <a:t>输入</a:t>
            </a:r>
            <a:r>
              <a:rPr lang="en-US" altLang="zh-CN" dirty="0"/>
              <a:t> </a:t>
            </a:r>
            <a:r>
              <a:rPr lang="en-US" altLang="zh-CN" dirty="0">
                <a:solidFill>
                  <a:srgbClr val="7030A0"/>
                </a:solidFill>
              </a:rPr>
              <a:t>20210001 </a:t>
            </a:r>
            <a:r>
              <a:rPr lang="zh-CN" altLang="en-US" dirty="0"/>
              <a:t>和</a:t>
            </a:r>
            <a:r>
              <a:rPr lang="en-US" altLang="zh-CN" dirty="0"/>
              <a:t> </a:t>
            </a:r>
            <a:r>
              <a:rPr lang="en-US" altLang="zh-CN" dirty="0">
                <a:solidFill>
                  <a:srgbClr val="7030A0"/>
                </a:solidFill>
              </a:rPr>
              <a:t>123456</a:t>
            </a:r>
            <a:r>
              <a:rPr lang="zh-CN" altLang="en-US" dirty="0"/>
              <a:t>，</a:t>
            </a:r>
            <a:endParaRPr lang="zh-CN" altLang="en-US" dirty="0"/>
          </a:p>
          <a:p>
            <a:pPr lvl="1"/>
            <a:r>
              <a:rPr lang="zh-CN" altLang="en-US" dirty="0">
                <a:sym typeface="+mn-ea"/>
              </a:rPr>
              <a:t>拼凑</a:t>
            </a:r>
            <a:r>
              <a:rPr lang="en-US" altLang="zh-CN" dirty="0">
                <a:sym typeface="+mn-ea"/>
              </a:rPr>
              <a:t>SQL</a:t>
            </a:r>
            <a:r>
              <a:rPr lang="zh-CN" altLang="en-US" dirty="0">
                <a:sym typeface="+mn-ea"/>
              </a:rPr>
              <a:t>：</a:t>
            </a:r>
            <a:r>
              <a:rPr lang="en-US" altLang="zh-CN" dirty="0">
                <a:sym typeface="+mn-ea"/>
              </a:rPr>
              <a:t>SELECT * from Student where sno=</a:t>
            </a:r>
            <a:r>
              <a:rPr lang="en-US" altLang="zh-CN" dirty="0">
                <a:solidFill>
                  <a:srgbClr val="FF0000"/>
                </a:solidFill>
                <a:sym typeface="+mn-ea"/>
              </a:rPr>
              <a:t>’</a:t>
            </a:r>
            <a:r>
              <a:rPr lang="en-US" altLang="zh-CN" dirty="0">
                <a:solidFill>
                  <a:srgbClr val="7030A0"/>
                </a:solidFill>
                <a:sym typeface="+mn-ea"/>
              </a:rPr>
              <a:t>20210001</a:t>
            </a:r>
            <a:r>
              <a:rPr lang="en-US" altLang="zh-CN" dirty="0">
                <a:solidFill>
                  <a:srgbClr val="FF0000"/>
                </a:solidFill>
                <a:sym typeface="+mn-ea"/>
              </a:rPr>
              <a:t>’ and pass=’</a:t>
            </a:r>
            <a:r>
              <a:rPr lang="en-US" altLang="zh-CN" dirty="0">
                <a:solidFill>
                  <a:srgbClr val="7030A0"/>
                </a:solidFill>
                <a:sym typeface="+mn-ea"/>
              </a:rPr>
              <a:t>123456</a:t>
            </a:r>
            <a:r>
              <a:rPr lang="en-US" altLang="zh-CN" dirty="0">
                <a:solidFill>
                  <a:srgbClr val="FF0000"/>
                </a:solidFill>
                <a:sym typeface="+mn-ea"/>
              </a:rPr>
              <a:t>’</a:t>
            </a:r>
            <a:r>
              <a:rPr lang="zh-CN" altLang="en-US" dirty="0">
                <a:solidFill>
                  <a:srgbClr val="FF0000"/>
                </a:solidFill>
                <a:sym typeface="+mn-ea"/>
              </a:rPr>
              <a:t>；</a:t>
            </a:r>
            <a:endParaRPr lang="en-US" altLang="zh-CN" dirty="0">
              <a:solidFill>
                <a:srgbClr val="FF0000"/>
              </a:solidFill>
            </a:endParaRPr>
          </a:p>
          <a:p>
            <a:pPr lvl="1"/>
            <a:r>
              <a:rPr lang="zh-CN" altLang="en-US" dirty="0"/>
              <a:t>输入</a:t>
            </a:r>
            <a:r>
              <a:rPr lang="en-US" altLang="zh-CN" dirty="0"/>
              <a:t> </a:t>
            </a:r>
            <a:r>
              <a:rPr lang="en-US" altLang="zh-CN" dirty="0">
                <a:solidFill>
                  <a:srgbClr val="7030A0"/>
                </a:solidFill>
              </a:rPr>
              <a:t>20210001’ or ‘1’=‘1</a:t>
            </a:r>
            <a:r>
              <a:rPr lang="en-US" altLang="zh-CN" dirty="0"/>
              <a:t> </a:t>
            </a:r>
            <a:r>
              <a:rPr lang="zh-CN" altLang="en-US" dirty="0"/>
              <a:t>和</a:t>
            </a:r>
            <a:r>
              <a:rPr lang="en-US" altLang="zh-CN" dirty="0"/>
              <a:t> </a:t>
            </a:r>
            <a:r>
              <a:rPr lang="en-US" altLang="zh-CN" dirty="0">
                <a:solidFill>
                  <a:srgbClr val="7030A0"/>
                </a:solidFill>
              </a:rPr>
              <a:t>123</a:t>
            </a:r>
            <a:endParaRPr lang="en-US" altLang="zh-CN" dirty="0">
              <a:solidFill>
                <a:srgbClr val="7030A0"/>
              </a:solidFill>
            </a:endParaRPr>
          </a:p>
          <a:p>
            <a:pPr lvl="1"/>
            <a:r>
              <a:rPr lang="zh-CN" altLang="en-US" dirty="0">
                <a:sym typeface="+mn-ea"/>
              </a:rPr>
              <a:t>拼凑</a:t>
            </a:r>
            <a:r>
              <a:rPr lang="en-US" altLang="zh-CN" dirty="0">
                <a:sym typeface="+mn-ea"/>
              </a:rPr>
              <a:t>SQL</a:t>
            </a:r>
            <a:r>
              <a:rPr lang="zh-CN" altLang="en-US" dirty="0"/>
              <a:t>：</a:t>
            </a:r>
            <a:r>
              <a:rPr lang="en-US" altLang="zh-CN" dirty="0"/>
              <a:t> SELECT * from Student where sno=</a:t>
            </a:r>
            <a:r>
              <a:rPr lang="en-US" altLang="zh-CN" dirty="0">
                <a:solidFill>
                  <a:srgbClr val="FF0000"/>
                </a:solidFill>
              </a:rPr>
              <a:t>’</a:t>
            </a:r>
            <a:r>
              <a:rPr lang="en-US" altLang="zh-CN" dirty="0">
                <a:solidFill>
                  <a:srgbClr val="7030A0"/>
                </a:solidFill>
              </a:rPr>
              <a:t>20210001’ or ‘1’=’1</a:t>
            </a:r>
            <a:r>
              <a:rPr lang="en-US" altLang="zh-CN" dirty="0">
                <a:solidFill>
                  <a:srgbClr val="FF0000"/>
                </a:solidFill>
                <a:sym typeface="+mn-ea"/>
              </a:rPr>
              <a:t>’ </a:t>
            </a:r>
            <a:r>
              <a:rPr lang="en-US" altLang="zh-CN" dirty="0">
                <a:solidFill>
                  <a:srgbClr val="FF0000"/>
                </a:solidFill>
              </a:rPr>
              <a:t> and </a:t>
            </a:r>
            <a:r>
              <a:rPr lang="en-US" altLang="zh-CN" dirty="0">
                <a:solidFill>
                  <a:srgbClr val="FF0000"/>
                </a:solidFill>
                <a:sym typeface="+mn-ea"/>
              </a:rPr>
              <a:t>pass=’</a:t>
            </a:r>
            <a:r>
              <a:rPr lang="en-US" altLang="zh-CN" dirty="0">
                <a:solidFill>
                  <a:srgbClr val="7030A0"/>
                </a:solidFill>
                <a:sym typeface="+mn-ea"/>
              </a:rPr>
              <a:t>123</a:t>
            </a:r>
            <a:r>
              <a:rPr lang="en-US" altLang="zh-CN" dirty="0">
                <a:solidFill>
                  <a:srgbClr val="FF0000"/>
                </a:solidFill>
                <a:sym typeface="+mn-ea"/>
              </a:rPr>
              <a:t>’</a:t>
            </a:r>
            <a:r>
              <a:rPr lang="zh-CN" altLang="en-US" dirty="0">
                <a:solidFill>
                  <a:srgbClr val="FF0000"/>
                </a:solidFill>
              </a:rPr>
              <a:t>；</a:t>
            </a:r>
            <a:endParaRPr lang="en-US" altLang="zh-CN" dirty="0">
              <a:solidFill>
                <a:srgbClr val="FF0000"/>
              </a:solidFill>
            </a:endParaRPr>
          </a:p>
        </p:txBody>
      </p:sp>
      <p:pic>
        <p:nvPicPr>
          <p:cNvPr id="2" name="图片 1"/>
          <p:cNvPicPr>
            <a:picLocks noChangeAspect="1"/>
          </p:cNvPicPr>
          <p:nvPr>
            <p:custDataLst>
              <p:tags r:id="rId1"/>
            </p:custDataLst>
          </p:nvPr>
        </p:nvPicPr>
        <p:blipFill>
          <a:blip r:embed="rId2"/>
          <a:stretch>
            <a:fillRect/>
          </a:stretch>
        </p:blipFill>
        <p:spPr>
          <a:xfrm>
            <a:off x="5087620" y="1098550"/>
            <a:ext cx="2319020" cy="2860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19">
                                            <p:txEl>
                                              <p:pRg st="7" end="7"/>
                                            </p:txEl>
                                          </p:spTgt>
                                        </p:tgtEl>
                                        <p:attrNameLst>
                                          <p:attrName>style.visibility</p:attrName>
                                        </p:attrNameLst>
                                      </p:cBhvr>
                                      <p:to>
                                        <p:strVal val="visible"/>
                                      </p:to>
                                    </p:set>
                                    <p:animEffect transition="in" filter="blinds(horizontal)">
                                      <p:cBhvr>
                                        <p:cTn id="7" dur="500"/>
                                        <p:tgtEl>
                                          <p:spTgt spid="34819">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4819">
                                            <p:txEl>
                                              <p:pRg st="8" end="8"/>
                                            </p:txEl>
                                          </p:spTgt>
                                        </p:tgtEl>
                                        <p:attrNameLst>
                                          <p:attrName>style.visibility</p:attrName>
                                        </p:attrNameLst>
                                      </p:cBhvr>
                                      <p:to>
                                        <p:strVal val="visible"/>
                                      </p:to>
                                    </p:set>
                                    <p:animEffect transition="in" filter="blinds(horizontal)">
                                      <p:cBhvr>
                                        <p:cTn id="10" dur="500"/>
                                        <p:tgtEl>
                                          <p:spTgt spid="348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a:t>危害非常</a:t>
            </a:r>
            <a:r>
              <a:rPr lang="zh-CN" altLang="en-US"/>
              <a:t>大</a:t>
            </a:r>
            <a:endParaRPr lang="zh-CN" altLang="en-US"/>
          </a:p>
          <a:p>
            <a:pPr lvl="1"/>
            <a:r>
              <a:rPr lang="zh-CN" altLang="en-US"/>
              <a:t>不用知道密码就可以登录任何人的</a:t>
            </a:r>
            <a:r>
              <a:rPr lang="zh-CN" altLang="en-US"/>
              <a:t>账号</a:t>
            </a:r>
            <a:endParaRPr lang="zh-CN" altLang="en-US"/>
          </a:p>
          <a:p>
            <a:pPr lvl="1"/>
            <a:r>
              <a:rPr lang="zh-CN" altLang="en-US"/>
              <a:t>可以让</a:t>
            </a:r>
            <a:r>
              <a:rPr lang="en-US" altLang="zh-CN"/>
              <a:t>DBMS</a:t>
            </a:r>
            <a:r>
              <a:rPr lang="zh-CN" altLang="en-US"/>
              <a:t>执行任意的</a:t>
            </a:r>
            <a:r>
              <a:rPr lang="en-US" altLang="zh-CN"/>
              <a:t>SQL</a:t>
            </a:r>
            <a:r>
              <a:rPr lang="zh-CN" altLang="en-US"/>
              <a:t>操作</a:t>
            </a:r>
            <a:endParaRPr lang="zh-CN" altLang="en-US"/>
          </a:p>
          <a:p>
            <a:pPr lvl="1"/>
            <a:r>
              <a:rPr lang="zh-CN" altLang="en-US"/>
              <a:t>如果程序在</a:t>
            </a:r>
            <a:r>
              <a:rPr lang="en-US" altLang="zh-CN"/>
              <a:t>DBMS</a:t>
            </a:r>
            <a:r>
              <a:rPr lang="zh-CN" altLang="en-US"/>
              <a:t>的身份是</a:t>
            </a:r>
            <a:r>
              <a:rPr lang="en-US" altLang="zh-CN"/>
              <a:t>root</a:t>
            </a:r>
            <a:r>
              <a:rPr lang="zh-CN" altLang="en-US"/>
              <a:t>。。。</a:t>
            </a:r>
            <a:endParaRPr lang="zh-CN" altLang="en-US"/>
          </a:p>
          <a:p>
            <a:pPr lvl="0"/>
            <a:r>
              <a:rPr lang="zh-CN" altLang="en-US" dirty="0">
                <a:sym typeface="+mn-ea"/>
              </a:rPr>
              <a:t>如何</a:t>
            </a:r>
            <a:r>
              <a:rPr lang="zh-CN" altLang="en-US" dirty="0">
                <a:sym typeface="+mn-ea"/>
              </a:rPr>
              <a:t>防范</a:t>
            </a:r>
            <a:endParaRPr lang="zh-CN" altLang="en-US" dirty="0">
              <a:sym typeface="+mn-ea"/>
            </a:endParaRPr>
          </a:p>
          <a:p>
            <a:pPr lvl="1"/>
            <a:r>
              <a:rPr lang="zh-CN" altLang="en-US" dirty="0">
                <a:sym typeface="+mn-ea"/>
              </a:rPr>
              <a:t>数据库用户的权限管理，不</a:t>
            </a:r>
            <a:r>
              <a:rPr lang="zh-CN" altLang="en-US" dirty="0">
                <a:sym typeface="+mn-ea"/>
              </a:rPr>
              <a:t>要图省事</a:t>
            </a:r>
            <a:endParaRPr lang="zh-CN" altLang="en-US" dirty="0">
              <a:sym typeface="+mn-ea"/>
            </a:endParaRPr>
          </a:p>
          <a:p>
            <a:pPr lvl="1"/>
            <a:r>
              <a:rPr lang="zh-CN" altLang="en-US" dirty="0">
                <a:sym typeface="+mn-ea"/>
              </a:rPr>
              <a:t>很多高级语言都提供检查机制，比如</a:t>
            </a:r>
            <a:r>
              <a:rPr lang="en-US" altLang="zh-CN" dirty="0">
                <a:sym typeface="+mn-ea"/>
              </a:rPr>
              <a:t>PreparedStatement</a:t>
            </a:r>
            <a:r>
              <a:rPr lang="zh-CN" altLang="en-US" dirty="0">
                <a:sym typeface="+mn-ea"/>
              </a:rPr>
              <a:t>，不要直接拼接字符串</a:t>
            </a:r>
            <a:endParaRPr lang="en-US" altLang="zh-CN" dirty="0"/>
          </a:p>
          <a:p>
            <a:pPr lvl="1"/>
            <a:r>
              <a:rPr lang="zh-CN" altLang="en-US" dirty="0">
                <a:sym typeface="+mn-ea"/>
              </a:rPr>
              <a:t>推荐阅读</a:t>
            </a:r>
            <a:endParaRPr lang="en-US" altLang="zh-CN" dirty="0"/>
          </a:p>
          <a:p>
            <a:pPr lvl="1"/>
            <a:r>
              <a:rPr lang="en-US" altLang="zh-CN" dirty="0">
                <a:sym typeface="+mn-ea"/>
              </a:rPr>
              <a:t>https://www.ptsecurity.com/ww-en/analytics/knowledge-base/how-to-prevent-sql-injection-attacks/</a:t>
            </a:r>
            <a:endParaRPr lang="zh-CN" altLang="en-US" dirty="0">
              <a:sym typeface="+mn-ea"/>
            </a:endParaRPr>
          </a:p>
        </p:txBody>
      </p:sp>
      <p:sp>
        <p:nvSpPr>
          <p:cNvPr id="4" name="标题 1"/>
          <p:cNvSpPr>
            <a:spLocks noGrp="1"/>
          </p:cNvSpPr>
          <p:nvPr>
            <p:ph type="title"/>
            <p:custDataLst>
              <p:tags r:id="rId1"/>
            </p:custDataLst>
          </p:nvPr>
        </p:nvSpPr>
        <p:spPr/>
        <p:txBody>
          <a:bodyPr vert="horz" wrap="square" lIns="121920" tIns="60960" rIns="121920" bIns="60960" anchor="ctr" anchorCtr="0"/>
          <a:p>
            <a:r>
              <a:rPr lang="en-US" altLang="zh-CN" dirty="0"/>
              <a:t>SQL</a:t>
            </a:r>
            <a:r>
              <a:rPr lang="zh-CN" altLang="en-US" dirty="0"/>
              <a:t>注入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linds(horizontal)">
                                      <p:cBhvr>
                                        <p:cTn id="13" dur="500"/>
                                        <p:tgtEl>
                                          <p:spTgt spid="3">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linds(horizontal)">
                                      <p:cBhvr>
                                        <p:cTn id="16" dur="500"/>
                                        <p:tgtEl>
                                          <p:spTgt spid="3">
                                            <p:txEl>
                                              <p:pRg st="7" end="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blinds(horizontal)">
                                      <p:cBhvr>
                                        <p:cTn id="1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0"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43011" name="Rectangle 3"/>
          <p:cNvSpPr>
            <a:spLocks noGrp="1" noChangeArrowheads="1"/>
          </p:cNvSpPr>
          <p:nvPr>
            <p:ph type="body" idx="4294967295"/>
          </p:nvPr>
        </p:nvSpPr>
        <p:spPr>
          <a:xfrm>
            <a:off x="1343472" y="1098550"/>
            <a:ext cx="7581900" cy="4854575"/>
          </a:xfrm>
        </p:spPr>
        <p:txBody>
          <a:bodyPr/>
          <a:lstStyle/>
          <a:p>
            <a:pPr eaLnBrk="1" hangingPunct="1">
              <a:lnSpc>
                <a:spcPct val="18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80000"/>
              </a:lnSpc>
              <a:buFont typeface="Wingdings" panose="05000000000000000000" pitchFamily="2" charset="2"/>
              <a:buNone/>
            </a:pPr>
            <a:r>
              <a:rPr lang="en-US" altLang="zh-CN" dirty="0">
                <a:solidFill>
                  <a:srgbClr val="00B050"/>
                </a:solidFill>
              </a:rPr>
              <a:t>4.2.2 </a:t>
            </a:r>
            <a:r>
              <a:rPr lang="zh-CN" altLang="en-US" dirty="0">
                <a:solidFill>
                  <a:srgbClr val="00B050"/>
                </a:solidFill>
              </a:rPr>
              <a:t>存取控制</a:t>
            </a:r>
            <a:endParaRPr lang="zh-CN" altLang="en-US" dirty="0">
              <a:solidFill>
                <a:srgbClr val="00B050"/>
              </a:solidFill>
            </a:endParaRPr>
          </a:p>
          <a:p>
            <a:pPr eaLnBrk="1" hangingPunct="1">
              <a:lnSpc>
                <a:spcPct val="18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80000"/>
              </a:lnSpc>
              <a:buFont typeface="Wingdings" panose="05000000000000000000" pitchFamily="2" charset="2"/>
              <a:buNone/>
            </a:pPr>
            <a:r>
              <a:rPr lang="en-US" altLang="zh-CN" dirty="0"/>
              <a:t>4.2.4 </a:t>
            </a:r>
            <a:r>
              <a:rPr lang="zh-CN" altLang="en-US" dirty="0"/>
              <a:t>授权：授予与收回</a:t>
            </a:r>
            <a:endParaRPr lang="zh-CN" altLang="en-US" dirty="0"/>
          </a:p>
          <a:p>
            <a:pPr eaLnBrk="1" hangingPunct="1">
              <a:lnSpc>
                <a:spcPct val="18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8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4" name="Rectangle 2"/>
          <p:cNvSpPr>
            <a:spLocks noGrp="1" noChangeArrowheads="1"/>
          </p:cNvSpPr>
          <p:nvPr>
            <p:ph type="title" idx="4294967295"/>
          </p:nvPr>
        </p:nvSpPr>
        <p:spPr/>
        <p:txBody>
          <a:bodyPr/>
          <a:lstStyle/>
          <a:p>
            <a:pPr eaLnBrk="1" hangingPunct="1"/>
            <a:r>
              <a:rPr lang="en-US" altLang="zh-CN" sz="3600"/>
              <a:t>4.2.2  </a:t>
            </a:r>
            <a:r>
              <a:rPr lang="zh-CN" altLang="en-US" sz="3600"/>
              <a:t>存取控制</a:t>
            </a:r>
            <a:endParaRPr lang="zh-CN" altLang="en-US" sz="3600"/>
          </a:p>
        </p:txBody>
      </p:sp>
      <p:sp>
        <p:nvSpPr>
          <p:cNvPr id="44035" name="Rectangle 3"/>
          <p:cNvSpPr>
            <a:spLocks noGrp="1" noChangeArrowheads="1"/>
          </p:cNvSpPr>
          <p:nvPr>
            <p:ph type="body" idx="4294967295"/>
          </p:nvPr>
        </p:nvSpPr>
        <p:spPr>
          <a:xfrm>
            <a:off x="489393" y="1098550"/>
            <a:ext cx="11089232" cy="4680520"/>
          </a:xfrm>
        </p:spPr>
        <p:txBody>
          <a:bodyPr/>
          <a:lstStyle/>
          <a:p>
            <a:pPr eaLnBrk="1" hangingPunct="1">
              <a:lnSpc>
                <a:spcPct val="120000"/>
              </a:lnSpc>
            </a:pPr>
            <a:r>
              <a:rPr lang="zh-CN" altLang="en-US" dirty="0"/>
              <a:t>存取控制机制组成</a:t>
            </a:r>
            <a:endParaRPr lang="zh-CN" altLang="en-US" dirty="0"/>
          </a:p>
          <a:p>
            <a:pPr lvl="1" eaLnBrk="1" hangingPunct="1">
              <a:lnSpc>
                <a:spcPct val="120000"/>
              </a:lnSpc>
            </a:pPr>
            <a:r>
              <a:rPr lang="zh-CN" altLang="en-US" dirty="0"/>
              <a:t>定义用户权限，</a:t>
            </a:r>
            <a:r>
              <a:rPr lang="zh-CN" altLang="zh-CN" dirty="0"/>
              <a:t>并将用户权限登记到</a:t>
            </a:r>
            <a:r>
              <a:rPr lang="zh-CN" altLang="zh-CN" dirty="0">
                <a:solidFill>
                  <a:srgbClr val="C00000"/>
                </a:solidFill>
              </a:rPr>
              <a:t>数据字典</a:t>
            </a:r>
            <a:r>
              <a:rPr lang="zh-CN" altLang="zh-CN" dirty="0"/>
              <a:t>中</a:t>
            </a:r>
            <a:endParaRPr lang="en-US" altLang="zh-CN" dirty="0"/>
          </a:p>
          <a:p>
            <a:pPr lvl="2">
              <a:lnSpc>
                <a:spcPct val="120000"/>
              </a:lnSpc>
              <a:buSzPct val="87000"/>
              <a:buFont typeface="Wingdings" panose="05000000000000000000" pitchFamily="2" charset="2"/>
              <a:buChar char="l"/>
            </a:pPr>
            <a:r>
              <a:rPr lang="zh-CN" altLang="en-US" sz="2200" dirty="0"/>
              <a:t>用户对某一数据对象的操作权力称为</a:t>
            </a:r>
            <a:r>
              <a:rPr lang="zh-CN" altLang="en-US" sz="2200" dirty="0">
                <a:solidFill>
                  <a:srgbClr val="FF00FF"/>
                </a:solidFill>
              </a:rPr>
              <a:t>权限</a:t>
            </a:r>
            <a:r>
              <a:rPr lang="zh-CN" altLang="en-US" sz="2200" dirty="0"/>
              <a:t> </a:t>
            </a:r>
            <a:endParaRPr lang="zh-CN" altLang="en-US" sz="2200" dirty="0"/>
          </a:p>
          <a:p>
            <a:pPr lvl="2">
              <a:lnSpc>
                <a:spcPct val="120000"/>
              </a:lnSpc>
              <a:buSzPct val="87000"/>
              <a:buFont typeface="Wingdings" panose="05000000000000000000" pitchFamily="2" charset="2"/>
              <a:buChar char="l"/>
            </a:pPr>
            <a:r>
              <a:rPr lang="en-US" altLang="zh-CN" sz="2200" dirty="0"/>
              <a:t>DBMS</a:t>
            </a:r>
            <a:r>
              <a:rPr lang="zh-CN" altLang="en-US" sz="2200" dirty="0"/>
              <a:t>提供适当的语言来定义用户权限，存放在数据字典中，称做安全规则或授权规则 </a:t>
            </a:r>
            <a:endParaRPr lang="zh-CN" altLang="en-US" sz="2200" dirty="0"/>
          </a:p>
          <a:p>
            <a:pPr lvl="1" eaLnBrk="1" hangingPunct="1">
              <a:lnSpc>
                <a:spcPct val="120000"/>
              </a:lnSpc>
              <a:spcBef>
                <a:spcPct val="0"/>
              </a:spcBef>
            </a:pPr>
            <a:r>
              <a:rPr lang="zh-CN" altLang="en-US" dirty="0"/>
              <a:t>合法权限检查 </a:t>
            </a:r>
            <a:endParaRPr lang="en-US" altLang="zh-CN" dirty="0"/>
          </a:p>
          <a:p>
            <a:pPr lvl="2">
              <a:lnSpc>
                <a:spcPct val="120000"/>
              </a:lnSpc>
              <a:buSzPct val="87000"/>
              <a:buFont typeface="Wingdings" panose="05000000000000000000" pitchFamily="2" charset="2"/>
              <a:buChar char="l"/>
            </a:pPr>
            <a:r>
              <a:rPr lang="zh-CN" altLang="en-US" sz="2200" dirty="0"/>
              <a:t>用户发出存取数据库操作请求</a:t>
            </a:r>
            <a:endParaRPr lang="zh-CN" altLang="en-US" sz="2200" dirty="0"/>
          </a:p>
          <a:p>
            <a:pPr lvl="2">
              <a:lnSpc>
                <a:spcPct val="120000"/>
              </a:lnSpc>
              <a:buSzPct val="87000"/>
              <a:buFont typeface="Wingdings" panose="05000000000000000000" pitchFamily="2" charset="2"/>
              <a:buChar char="l"/>
            </a:pPr>
            <a:r>
              <a:rPr lang="en-US" altLang="zh-CN" sz="2200" dirty="0"/>
              <a:t>DBMS</a:t>
            </a:r>
            <a:r>
              <a:rPr lang="zh-CN" altLang="en-US" sz="2200" dirty="0"/>
              <a:t>查找数据字典，进行合法权限检查</a:t>
            </a:r>
            <a:endParaRPr lang="zh-CN" altLang="en-US" sz="2200" dirty="0"/>
          </a:p>
          <a:p>
            <a:pPr eaLnBrk="1" hangingPunct="1">
              <a:lnSpc>
                <a:spcPct val="120000"/>
              </a:lnSpc>
            </a:pPr>
            <a:r>
              <a:rPr lang="zh-CN" altLang="en-US" dirty="0"/>
              <a:t>用户权限定义和合法权检查机制一起组成了数据库管理系统的存取控制子系统</a:t>
            </a:r>
            <a:endParaRPr lang="zh-CN" altLang="en-US" dirty="0"/>
          </a:p>
          <a:p>
            <a:pPr eaLnBrk="1" hangingPunct="1">
              <a:lnSpc>
                <a:spcPct val="140000"/>
              </a:lnSpc>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8" name="Rectangle 2"/>
          <p:cNvSpPr>
            <a:spLocks noGrp="1" noChangeArrowheads="1"/>
          </p:cNvSpPr>
          <p:nvPr>
            <p:ph type="title" idx="4294967295"/>
          </p:nvPr>
        </p:nvSpPr>
        <p:spPr/>
        <p:txBody>
          <a:bodyPr/>
          <a:lstStyle/>
          <a:p>
            <a:pPr eaLnBrk="1" hangingPunct="1"/>
            <a:r>
              <a:rPr lang="zh-CN" altLang="zh-CN" sz="3600"/>
              <a:t>存取控制（续）</a:t>
            </a:r>
            <a:endParaRPr lang="zh-CN" altLang="zh-CN" sz="3600"/>
          </a:p>
        </p:txBody>
      </p:sp>
      <p:sp>
        <p:nvSpPr>
          <p:cNvPr id="45059" name="Rectangle 3"/>
          <p:cNvSpPr>
            <a:spLocks noGrp="1" noChangeArrowheads="1"/>
          </p:cNvSpPr>
          <p:nvPr>
            <p:ph type="body" idx="4294967295"/>
          </p:nvPr>
        </p:nvSpPr>
        <p:spPr>
          <a:xfrm>
            <a:off x="839416" y="1132037"/>
            <a:ext cx="10657183" cy="5426075"/>
          </a:xfrm>
        </p:spPr>
        <p:txBody>
          <a:bodyPr/>
          <a:lstStyle/>
          <a:p>
            <a:pPr eaLnBrk="1" hangingPunct="1">
              <a:lnSpc>
                <a:spcPct val="120000"/>
              </a:lnSpc>
              <a:spcBef>
                <a:spcPct val="0"/>
              </a:spcBef>
            </a:pPr>
            <a:r>
              <a:rPr lang="zh-CN" altLang="en-US" dirty="0"/>
              <a:t>常用存取控制方法</a:t>
            </a:r>
            <a:endParaRPr lang="zh-CN" altLang="en-US" dirty="0"/>
          </a:p>
          <a:p>
            <a:pPr lvl="1" eaLnBrk="1" hangingPunct="1">
              <a:lnSpc>
                <a:spcPct val="120000"/>
              </a:lnSpc>
              <a:spcBef>
                <a:spcPct val="0"/>
              </a:spcBef>
            </a:pPr>
            <a:r>
              <a:rPr lang="zh-CN" altLang="en-US" dirty="0">
                <a:solidFill>
                  <a:srgbClr val="0000FF"/>
                </a:solidFill>
              </a:rPr>
              <a:t>自主存取控制</a:t>
            </a:r>
            <a:r>
              <a:rPr lang="zh-CN" altLang="en-US" dirty="0"/>
              <a:t>（</a:t>
            </a:r>
            <a:r>
              <a:rPr lang="en-US" altLang="zh-CN" dirty="0"/>
              <a:t>Discretionary Access Control </a:t>
            </a:r>
            <a:r>
              <a:rPr lang="zh-CN" altLang="en-US" dirty="0"/>
              <a:t>，</a:t>
            </a:r>
            <a:r>
              <a:rPr lang="en-US" altLang="zh-CN" dirty="0"/>
              <a:t>DAC</a:t>
            </a:r>
            <a:r>
              <a:rPr lang="zh-CN" altLang="en-US" dirty="0"/>
              <a:t>）</a:t>
            </a:r>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sz="2200" dirty="0"/>
              <a:t> </a:t>
            </a:r>
            <a:r>
              <a:rPr lang="en-US" altLang="zh-CN" sz="2200" dirty="0"/>
              <a:t>C2</a:t>
            </a:r>
            <a:r>
              <a:rPr lang="zh-CN" altLang="en-US" sz="2200" dirty="0"/>
              <a:t>级</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用户对不同的数据对象有不同的存取权限</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不同的用户对同一对象也有不同的权限</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用户还可将其拥有的存取权限转授给其他用户</a:t>
            </a:r>
            <a:endParaRPr lang="zh-CN" altLang="en-US" sz="22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2" name="Rectangle 2"/>
          <p:cNvSpPr>
            <a:spLocks noGrp="1" noChangeArrowheads="1"/>
          </p:cNvSpPr>
          <p:nvPr>
            <p:ph type="title" idx="4294967295"/>
          </p:nvPr>
        </p:nvSpPr>
        <p:spPr/>
        <p:txBody>
          <a:bodyPr/>
          <a:lstStyle/>
          <a:p>
            <a:pPr eaLnBrk="1" hangingPunct="1"/>
            <a:r>
              <a:rPr lang="zh-CN" altLang="zh-CN" sz="3600"/>
              <a:t>存取控制（续）</a:t>
            </a:r>
            <a:endParaRPr lang="zh-CN" altLang="zh-CN" sz="3600"/>
          </a:p>
        </p:txBody>
      </p:sp>
      <p:sp>
        <p:nvSpPr>
          <p:cNvPr id="46083" name="Rectangle 3"/>
          <p:cNvSpPr>
            <a:spLocks noGrp="1" noChangeArrowheads="1"/>
          </p:cNvSpPr>
          <p:nvPr>
            <p:ph type="body" idx="4294967295"/>
          </p:nvPr>
        </p:nvSpPr>
        <p:spPr>
          <a:xfrm>
            <a:off x="856362" y="1422111"/>
            <a:ext cx="10585176" cy="4167129"/>
          </a:xfrm>
        </p:spPr>
        <p:txBody>
          <a:bodyPr/>
          <a:lstStyle/>
          <a:p>
            <a:pPr eaLnBrk="1" hangingPunct="1">
              <a:lnSpc>
                <a:spcPct val="120000"/>
              </a:lnSpc>
              <a:spcBef>
                <a:spcPct val="0"/>
              </a:spcBef>
            </a:pPr>
            <a:r>
              <a:rPr lang="zh-CN" altLang="en-US" dirty="0"/>
              <a:t>常用存取控制方法（续）</a:t>
            </a:r>
            <a:endParaRPr lang="zh-CN" altLang="en-US" dirty="0"/>
          </a:p>
          <a:p>
            <a:pPr lvl="1" eaLnBrk="1" hangingPunct="1">
              <a:lnSpc>
                <a:spcPct val="120000"/>
              </a:lnSpc>
              <a:spcBef>
                <a:spcPct val="0"/>
              </a:spcBef>
            </a:pPr>
            <a:r>
              <a:rPr lang="zh-CN" altLang="en-US" dirty="0">
                <a:solidFill>
                  <a:srgbClr val="0000FF"/>
                </a:solidFill>
              </a:rPr>
              <a:t>强制存取控制</a:t>
            </a:r>
            <a:r>
              <a:rPr lang="zh-CN" altLang="en-US" dirty="0"/>
              <a:t>（</a:t>
            </a:r>
            <a:r>
              <a:rPr lang="en-US" altLang="zh-CN" dirty="0"/>
              <a:t>Mandatory Access Control</a:t>
            </a:r>
            <a:r>
              <a:rPr lang="zh-CN" altLang="en-US" dirty="0"/>
              <a:t>，</a:t>
            </a:r>
            <a:r>
              <a:rPr lang="en-US" altLang="zh-CN" dirty="0"/>
              <a:t>MAC</a:t>
            </a:r>
            <a:r>
              <a:rPr lang="zh-CN" altLang="en-US" dirty="0"/>
              <a:t>）</a:t>
            </a:r>
            <a:endParaRPr lang="zh-CN" altLang="en-US" dirty="0"/>
          </a:p>
          <a:p>
            <a:pPr lvl="2" eaLnBrk="1" hangingPunct="1">
              <a:lnSpc>
                <a:spcPct val="120000"/>
              </a:lnSpc>
              <a:spcBef>
                <a:spcPct val="0"/>
              </a:spcBef>
              <a:buSzPct val="87000"/>
              <a:buFont typeface="Wingdings" panose="05000000000000000000" pitchFamily="2" charset="2"/>
              <a:buChar char="l"/>
            </a:pPr>
            <a:r>
              <a:rPr lang="en-US" altLang="zh-CN" sz="2200" dirty="0"/>
              <a:t>B1</a:t>
            </a:r>
            <a:r>
              <a:rPr lang="zh-CN" altLang="en-US" sz="2200" dirty="0"/>
              <a:t>级</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每一个数据对象被标以一定的密级</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每一个用户也被授予某一个级别的许可证</a:t>
            </a:r>
            <a:endParaRPr lang="zh-CN" altLang="en-US" sz="2200" dirty="0"/>
          </a:p>
          <a:p>
            <a:pPr lvl="2">
              <a:lnSpc>
                <a:spcPct val="120000"/>
              </a:lnSpc>
              <a:spcBef>
                <a:spcPct val="0"/>
              </a:spcBef>
              <a:buSzPct val="87000"/>
              <a:buFont typeface="Wingdings" panose="05000000000000000000" pitchFamily="2" charset="2"/>
              <a:buChar char="l"/>
            </a:pPr>
            <a:r>
              <a:rPr lang="zh-CN" altLang="en-US" sz="2200" dirty="0"/>
              <a:t>对于任意一个对象，只有具有合法许可证的用户才可以存取</a:t>
            </a:r>
            <a:endParaRPr lang="zh-CN" altLang="en-US" sz="22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6"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47107" name="Rectangle 3"/>
          <p:cNvSpPr>
            <a:spLocks noGrp="1" noChangeArrowheads="1"/>
          </p:cNvSpPr>
          <p:nvPr>
            <p:ph type="body" idx="4294967295"/>
          </p:nvPr>
        </p:nvSpPr>
        <p:spPr>
          <a:xfrm>
            <a:off x="1055440" y="1181100"/>
            <a:ext cx="6130925" cy="4495800"/>
          </a:xfrm>
        </p:spPr>
        <p:txBody>
          <a:bodyPr/>
          <a:lstStyle/>
          <a:p>
            <a:pPr eaLnBrk="1" hangingPunct="1">
              <a:lnSpc>
                <a:spcPct val="17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7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4.2.3 </a:t>
            </a:r>
            <a:r>
              <a:rPr lang="zh-CN" altLang="en-US" dirty="0">
                <a:solidFill>
                  <a:srgbClr val="00B050"/>
                </a:solidFill>
              </a:rPr>
              <a:t>自主存取控制方法</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4.2.4 </a:t>
            </a:r>
            <a:r>
              <a:rPr lang="zh-CN" altLang="en-US" dirty="0"/>
              <a:t>授权：授予与收回</a:t>
            </a:r>
            <a:endParaRPr lang="zh-CN" altLang="en-US" dirty="0"/>
          </a:p>
          <a:p>
            <a:pPr eaLnBrk="1" hangingPunct="1">
              <a:lnSpc>
                <a:spcPct val="17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7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0" name="Rectangle 2"/>
          <p:cNvSpPr>
            <a:spLocks noGrp="1" noChangeArrowheads="1"/>
          </p:cNvSpPr>
          <p:nvPr>
            <p:ph type="title" idx="4294967295"/>
          </p:nvPr>
        </p:nvSpPr>
        <p:spPr/>
        <p:txBody>
          <a:bodyPr/>
          <a:lstStyle/>
          <a:p>
            <a:pPr eaLnBrk="1" hangingPunct="1"/>
            <a:r>
              <a:rPr lang="en-US" altLang="zh-CN" sz="3600"/>
              <a:t>4.2.3  </a:t>
            </a:r>
            <a:r>
              <a:rPr lang="zh-CN" altLang="en-US" sz="3600"/>
              <a:t>自主存取控制方法</a:t>
            </a:r>
            <a:endParaRPr lang="zh-CN" altLang="en-US" sz="3600"/>
          </a:p>
        </p:txBody>
      </p:sp>
      <p:sp>
        <p:nvSpPr>
          <p:cNvPr id="48131" name="Rectangle 3"/>
          <p:cNvSpPr>
            <a:spLocks noGrp="1" noChangeArrowheads="1"/>
          </p:cNvSpPr>
          <p:nvPr>
            <p:ph type="body" idx="4294967295"/>
          </p:nvPr>
        </p:nvSpPr>
        <p:spPr>
          <a:xfrm>
            <a:off x="1050268" y="1170770"/>
            <a:ext cx="10091464" cy="5138761"/>
          </a:xfrm>
        </p:spPr>
        <p:txBody>
          <a:bodyPr/>
          <a:lstStyle/>
          <a:p>
            <a:pPr eaLnBrk="1" hangingPunct="1">
              <a:lnSpc>
                <a:spcPct val="150000"/>
              </a:lnSpc>
              <a:spcBef>
                <a:spcPct val="0"/>
              </a:spcBef>
            </a:pPr>
            <a:r>
              <a:rPr lang="zh-CN" altLang="en-US" dirty="0"/>
              <a:t>通过 </a:t>
            </a:r>
            <a:r>
              <a:rPr lang="en-US" altLang="zh-CN" dirty="0"/>
              <a:t>SQL </a:t>
            </a:r>
            <a:r>
              <a:rPr lang="zh-CN" altLang="en-US" dirty="0"/>
              <a:t>的</a:t>
            </a:r>
            <a:r>
              <a:rPr lang="en-US" altLang="zh-CN" dirty="0">
                <a:solidFill>
                  <a:srgbClr val="FF00FF"/>
                </a:solidFill>
              </a:rPr>
              <a:t>GRANT</a:t>
            </a:r>
            <a:r>
              <a:rPr lang="en-US" altLang="zh-CN" dirty="0"/>
              <a:t> </a:t>
            </a:r>
            <a:r>
              <a:rPr lang="zh-CN" altLang="en-US" dirty="0"/>
              <a:t>语句和</a:t>
            </a:r>
            <a:r>
              <a:rPr lang="en-US" altLang="zh-CN" dirty="0">
                <a:solidFill>
                  <a:srgbClr val="FF00FF"/>
                </a:solidFill>
              </a:rPr>
              <a:t>REVOKE</a:t>
            </a:r>
            <a:r>
              <a:rPr lang="en-US" altLang="zh-CN" dirty="0"/>
              <a:t> </a:t>
            </a:r>
            <a:r>
              <a:rPr lang="zh-CN" altLang="en-US" dirty="0"/>
              <a:t>语句实现</a:t>
            </a:r>
            <a:endParaRPr lang="zh-CN" altLang="en-US" dirty="0"/>
          </a:p>
          <a:p>
            <a:pPr eaLnBrk="1" hangingPunct="1">
              <a:lnSpc>
                <a:spcPct val="150000"/>
              </a:lnSpc>
              <a:spcBef>
                <a:spcPct val="0"/>
              </a:spcBef>
            </a:pPr>
            <a:r>
              <a:rPr lang="zh-CN" altLang="en-US" dirty="0"/>
              <a:t>用户权限组成</a:t>
            </a:r>
            <a:endParaRPr lang="zh-CN" altLang="en-US" dirty="0"/>
          </a:p>
          <a:p>
            <a:pPr lvl="2" eaLnBrk="1" hangingPunct="1">
              <a:lnSpc>
                <a:spcPct val="150000"/>
              </a:lnSpc>
              <a:spcBef>
                <a:spcPct val="0"/>
              </a:spcBef>
              <a:buSzPct val="75000"/>
              <a:buFont typeface="Wingdings" panose="05000000000000000000" pitchFamily="2" charset="2"/>
              <a:buChar char="n"/>
            </a:pPr>
            <a:r>
              <a:rPr lang="zh-CN" altLang="en-US" sz="2400" dirty="0"/>
              <a:t>数据库对象</a:t>
            </a:r>
            <a:endParaRPr lang="zh-CN" altLang="en-US" sz="2400" dirty="0"/>
          </a:p>
          <a:p>
            <a:pPr lvl="2" eaLnBrk="1" hangingPunct="1">
              <a:lnSpc>
                <a:spcPct val="150000"/>
              </a:lnSpc>
              <a:spcBef>
                <a:spcPct val="0"/>
              </a:spcBef>
              <a:buSzPct val="75000"/>
              <a:buFont typeface="Wingdings" panose="05000000000000000000" pitchFamily="2" charset="2"/>
              <a:buChar char="n"/>
            </a:pPr>
            <a:r>
              <a:rPr lang="zh-CN" altLang="en-US" sz="2400" dirty="0"/>
              <a:t>操作类型</a:t>
            </a:r>
            <a:endParaRPr lang="zh-CN" altLang="en-US" sz="2400" dirty="0"/>
          </a:p>
          <a:p>
            <a:pPr eaLnBrk="1" hangingPunct="1">
              <a:lnSpc>
                <a:spcPct val="150000"/>
              </a:lnSpc>
            </a:pPr>
            <a:r>
              <a:rPr lang="zh-CN" altLang="en-US" dirty="0"/>
              <a:t>定义用户存取权限：定义用户可以在哪些数据库对象上进行哪些类型的操作</a:t>
            </a:r>
            <a:endParaRPr lang="zh-CN" altLang="en-US" dirty="0"/>
          </a:p>
          <a:p>
            <a:pPr eaLnBrk="1" hangingPunct="1">
              <a:lnSpc>
                <a:spcPct val="150000"/>
              </a:lnSpc>
            </a:pPr>
            <a:r>
              <a:rPr lang="zh-CN" altLang="en-US" dirty="0"/>
              <a:t>定义存取权限称为</a:t>
            </a:r>
            <a:r>
              <a:rPr lang="zh-CN" altLang="en-US" dirty="0">
                <a:solidFill>
                  <a:srgbClr val="FF00FF"/>
                </a:solidFill>
              </a:rPr>
              <a:t>授权</a:t>
            </a: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4" name="Rectangle 2"/>
          <p:cNvSpPr>
            <a:spLocks noGrp="1" noChangeArrowheads="1"/>
          </p:cNvSpPr>
          <p:nvPr>
            <p:ph type="title" idx="4294967295"/>
          </p:nvPr>
        </p:nvSpPr>
        <p:spPr/>
        <p:txBody>
          <a:bodyPr/>
          <a:lstStyle/>
          <a:p>
            <a:pPr eaLnBrk="1" hangingPunct="1"/>
            <a:r>
              <a:rPr lang="zh-CN" altLang="zh-CN" sz="3600"/>
              <a:t>自主存取控制方法（续）</a:t>
            </a:r>
            <a:endParaRPr lang="zh-CN" altLang="zh-CN" sz="3600"/>
          </a:p>
        </p:txBody>
      </p:sp>
      <p:sp>
        <p:nvSpPr>
          <p:cNvPr id="49155" name="Rectangle 3"/>
          <p:cNvSpPr>
            <a:spLocks noGrp="1" noChangeArrowheads="1"/>
          </p:cNvSpPr>
          <p:nvPr>
            <p:ph type="body" sz="half" idx="4294967295"/>
          </p:nvPr>
        </p:nvSpPr>
        <p:spPr>
          <a:xfrm>
            <a:off x="1981200" y="1125538"/>
            <a:ext cx="8218488" cy="1960562"/>
          </a:xfrm>
        </p:spPr>
        <p:txBody>
          <a:bodyPr/>
          <a:lstStyle/>
          <a:p>
            <a:pPr eaLnBrk="1" hangingPunct="1"/>
            <a:r>
              <a:rPr lang="zh-CN" altLang="zh-CN"/>
              <a:t>关系数据库系统中存取控制对象 </a:t>
            </a:r>
            <a:endParaRPr lang="zh-CN" altLang="zh-CN"/>
          </a:p>
        </p:txBody>
      </p:sp>
      <p:graphicFrame>
        <p:nvGraphicFramePr>
          <p:cNvPr id="30725" name="Group 5"/>
          <p:cNvGraphicFramePr>
            <a:graphicFrameLocks noGrp="1"/>
          </p:cNvGraphicFramePr>
          <p:nvPr>
            <p:ph sz="half" idx="4294967295"/>
          </p:nvPr>
        </p:nvGraphicFramePr>
        <p:xfrm>
          <a:off x="1343472" y="1844824"/>
          <a:ext cx="9289032" cy="3744416"/>
        </p:xfrm>
        <a:graphic>
          <a:graphicData uri="http://schemas.openxmlformats.org/drawingml/2006/table">
            <a:tbl>
              <a:tblPr/>
              <a:tblGrid>
                <a:gridCol w="1337318"/>
                <a:gridCol w="2104519"/>
                <a:gridCol w="5847195"/>
              </a:tblGrid>
              <a:tr h="706018">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对象类型</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操 作 类 型</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9070">
                <a:tc rowSpan="4">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和</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模式</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数据库和模式</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5682">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TABLE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ALTER TABLE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9070">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视图</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CREATE VIEW</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484">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索引</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INDEX</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046">
                <a:tc rowSpan="2">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基本表和视图</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DELETE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ALL PRIVILEGES</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046">
                <a:tc vMerge="1">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 PRIVILEGES</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9186" name="Rectangle 247"/>
          <p:cNvSpPr>
            <a:spLocks noChangeArrowheads="1"/>
          </p:cNvSpPr>
          <p:nvPr/>
        </p:nvSpPr>
        <p:spPr bwMode="auto">
          <a:xfrm>
            <a:off x="4223792" y="5730029"/>
            <a:ext cx="3338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pitchFamily="18" charset="0"/>
              </a:rPr>
              <a:t>关系数据库系统中主要的存取权限 </a:t>
            </a:r>
            <a:endParaRPr lang="zh-CN" altLang="en-US" sz="16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8"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50179" name="Rectangle 3"/>
          <p:cNvSpPr>
            <a:spLocks noGrp="1" noChangeArrowheads="1"/>
          </p:cNvSpPr>
          <p:nvPr>
            <p:ph type="body" idx="4294967295"/>
          </p:nvPr>
        </p:nvSpPr>
        <p:spPr>
          <a:xfrm>
            <a:off x="1271464" y="1181100"/>
            <a:ext cx="6553200" cy="4495800"/>
          </a:xfrm>
        </p:spPr>
        <p:txBody>
          <a:bodyPr/>
          <a:lstStyle/>
          <a:p>
            <a:pPr eaLnBrk="1" hangingPunct="1">
              <a:lnSpc>
                <a:spcPct val="16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6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6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60000"/>
              </a:lnSpc>
              <a:buFont typeface="Wingdings" panose="05000000000000000000" pitchFamily="2" charset="2"/>
              <a:buNone/>
            </a:pPr>
            <a:r>
              <a:rPr lang="en-US" altLang="zh-CN" dirty="0">
                <a:solidFill>
                  <a:srgbClr val="00B050"/>
                </a:solidFill>
              </a:rPr>
              <a:t>4.2.4 </a:t>
            </a:r>
            <a:r>
              <a:rPr lang="zh-CN" altLang="en-US" dirty="0">
                <a:solidFill>
                  <a:srgbClr val="00B050"/>
                </a:solidFill>
              </a:rPr>
              <a:t>授权：授予与收回</a:t>
            </a:r>
            <a:endParaRPr lang="zh-CN" altLang="en-US" dirty="0">
              <a:solidFill>
                <a:srgbClr val="00B050"/>
              </a:solidFill>
            </a:endParaRPr>
          </a:p>
          <a:p>
            <a:pPr eaLnBrk="1" hangingPunct="1">
              <a:lnSpc>
                <a:spcPct val="16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6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2" name="Rectangle 2"/>
          <p:cNvSpPr>
            <a:spLocks noGrp="1" noChangeArrowheads="1"/>
          </p:cNvSpPr>
          <p:nvPr>
            <p:ph type="title" idx="4294967295"/>
          </p:nvPr>
        </p:nvSpPr>
        <p:spPr/>
        <p:txBody>
          <a:bodyPr/>
          <a:lstStyle/>
          <a:p>
            <a:pPr eaLnBrk="1" hangingPunct="1"/>
            <a:r>
              <a:rPr lang="en-US" altLang="zh-CN" sz="3600"/>
              <a:t>4.2.4 </a:t>
            </a:r>
            <a:r>
              <a:rPr lang="zh-CN" altLang="en-US" sz="3600"/>
              <a:t>授权：授予与收回</a:t>
            </a:r>
            <a:endParaRPr lang="zh-CN" altLang="en-US" sz="3600"/>
          </a:p>
        </p:txBody>
      </p:sp>
      <p:sp>
        <p:nvSpPr>
          <p:cNvPr id="51203" name="Rectangle 3"/>
          <p:cNvSpPr>
            <a:spLocks noGrp="1" noChangeArrowheads="1"/>
          </p:cNvSpPr>
          <p:nvPr>
            <p:ph type="body" idx="4294967295"/>
          </p:nvPr>
        </p:nvSpPr>
        <p:spPr>
          <a:xfrm>
            <a:off x="1055440" y="1333500"/>
            <a:ext cx="9721080" cy="4759796"/>
          </a:xfrm>
        </p:spPr>
        <p:txBody>
          <a:bodyPr/>
          <a:lstStyle/>
          <a:p>
            <a:pPr algn="just" eaLnBrk="1" hangingPunct="1">
              <a:lnSpc>
                <a:spcPct val="110000"/>
              </a:lnSpc>
              <a:buFont typeface="Wingdings" panose="05000000000000000000" pitchFamily="2" charset="2"/>
              <a:buNone/>
            </a:pPr>
            <a:r>
              <a:rPr lang="en-US" altLang="zh-CN" dirty="0"/>
              <a:t>1.GRANT</a:t>
            </a:r>
            <a:endParaRPr lang="en-US" altLang="zh-CN" dirty="0"/>
          </a:p>
          <a:p>
            <a:pPr algn="just" eaLnBrk="1" hangingPunct="1">
              <a:lnSpc>
                <a:spcPct val="150000"/>
              </a:lnSpc>
            </a:pPr>
            <a:r>
              <a:rPr lang="en-US" altLang="zh-CN" sz="2400" dirty="0"/>
              <a:t>GRANT</a:t>
            </a:r>
            <a:r>
              <a:rPr lang="zh-CN" altLang="en-US" sz="2400" dirty="0"/>
              <a:t>语句的一般格式：</a:t>
            </a:r>
            <a:endParaRPr lang="zh-CN" altLang="en-US" sz="2400" dirty="0"/>
          </a:p>
          <a:p>
            <a:pPr algn="just" eaLnBrk="1" hangingPunct="1">
              <a:lnSpc>
                <a:spcPct val="150000"/>
              </a:lnSpc>
              <a:buFont typeface="Wingdings" panose="05000000000000000000" pitchFamily="2" charset="2"/>
              <a:buNone/>
            </a:pPr>
            <a:r>
              <a:rPr lang="zh-CN" altLang="en-US" sz="2400" dirty="0"/>
              <a:t>       </a:t>
            </a:r>
            <a:r>
              <a:rPr lang="en-US" altLang="zh-CN" sz="2400" dirty="0"/>
              <a:t>GRANT &lt;</a:t>
            </a:r>
            <a:r>
              <a:rPr lang="zh-CN" altLang="en-US" sz="2400" dirty="0"/>
              <a:t>权限</a:t>
            </a:r>
            <a:r>
              <a:rPr lang="en-US" altLang="zh-CN" sz="2400" dirty="0"/>
              <a:t>&gt;[,&lt;</a:t>
            </a:r>
            <a:r>
              <a:rPr lang="zh-CN" altLang="en-US" sz="2400" dirty="0"/>
              <a:t>权限</a:t>
            </a:r>
            <a:r>
              <a:rPr lang="en-US" altLang="zh-CN" sz="2400" dirty="0"/>
              <a:t>&gt;]... </a:t>
            </a:r>
            <a:endParaRPr lang="en-US" altLang="zh-CN" sz="2400" dirty="0"/>
          </a:p>
          <a:p>
            <a:pPr algn="just" eaLnBrk="1" hangingPunct="1">
              <a:lnSpc>
                <a:spcPct val="150000"/>
              </a:lnSpc>
              <a:buFont typeface="Wingdings" panose="05000000000000000000"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 &lt;</a:t>
            </a:r>
            <a:r>
              <a:rPr lang="zh-CN" altLang="en-US" sz="2400" dirty="0"/>
              <a:t>对象名</a:t>
            </a:r>
            <a:r>
              <a:rPr lang="en-US" altLang="zh-CN" sz="2400" dirty="0"/>
              <a:t>&gt;]…</a:t>
            </a:r>
            <a:endParaRPr lang="en-US" altLang="zh-CN" sz="2400" dirty="0"/>
          </a:p>
          <a:p>
            <a:pPr algn="just" eaLnBrk="1" hangingPunct="1">
              <a:lnSpc>
                <a:spcPct val="150000"/>
              </a:lnSpc>
              <a:buFont typeface="Wingdings" panose="05000000000000000000" pitchFamily="2" charset="2"/>
              <a:buNone/>
            </a:pPr>
            <a:r>
              <a:rPr lang="en-US" altLang="zh-CN" sz="2400" dirty="0"/>
              <a:t>       TO &lt;</a:t>
            </a:r>
            <a:r>
              <a:rPr lang="zh-CN" altLang="en-US" sz="2400" dirty="0"/>
              <a:t>用户</a:t>
            </a:r>
            <a:r>
              <a:rPr lang="en-US" altLang="zh-CN" sz="2400" dirty="0"/>
              <a:t>&gt;[,&lt;</a:t>
            </a:r>
            <a:r>
              <a:rPr lang="zh-CN" altLang="en-US" sz="2400" dirty="0"/>
              <a:t>用户</a:t>
            </a:r>
            <a:r>
              <a:rPr lang="en-US" altLang="zh-CN" sz="2400" dirty="0"/>
              <a:t>&gt;]...</a:t>
            </a:r>
            <a:endParaRPr lang="en-US" altLang="zh-CN" sz="2400" dirty="0"/>
          </a:p>
          <a:p>
            <a:pPr algn="just" eaLnBrk="1" hangingPunct="1">
              <a:lnSpc>
                <a:spcPct val="150000"/>
              </a:lnSpc>
              <a:buFont typeface="Wingdings" panose="05000000000000000000" pitchFamily="2" charset="2"/>
              <a:buNone/>
            </a:pPr>
            <a:r>
              <a:rPr lang="en-US" altLang="zh-CN" sz="2400" dirty="0"/>
              <a:t>       [WITH GRANT OPTION];</a:t>
            </a:r>
            <a:endParaRPr lang="en-US" altLang="zh-CN" sz="2400" dirty="0"/>
          </a:p>
          <a:p>
            <a:pPr algn="just" eaLnBrk="1" hangingPunct="1">
              <a:lnSpc>
                <a:spcPct val="150000"/>
              </a:lnSpc>
            </a:pPr>
            <a:r>
              <a:rPr lang="zh-CN" altLang="en-US" sz="2400" dirty="0"/>
              <a:t>语义：将对指定操作对象的指定操作权限授予指定的用户 </a:t>
            </a:r>
            <a:endParaRPr lang="zh-CN" altLang="en-US" sz="24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6"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en-US" sz="3600" dirty="0"/>
          </a:p>
        </p:txBody>
      </p:sp>
      <p:sp>
        <p:nvSpPr>
          <p:cNvPr id="52227" name="Rectangle 3"/>
          <p:cNvSpPr>
            <a:spLocks noGrp="1" noChangeArrowheads="1"/>
          </p:cNvSpPr>
          <p:nvPr>
            <p:ph type="body" idx="4294967295"/>
          </p:nvPr>
        </p:nvSpPr>
        <p:spPr>
          <a:xfrm>
            <a:off x="983432" y="1098550"/>
            <a:ext cx="8229600" cy="5095875"/>
          </a:xfrm>
        </p:spPr>
        <p:txBody>
          <a:bodyPr/>
          <a:lstStyle/>
          <a:p>
            <a:pPr lvl="1" eaLnBrk="1" hangingPunct="1">
              <a:lnSpc>
                <a:spcPct val="60000"/>
              </a:lnSpc>
              <a:spcBef>
                <a:spcPct val="60000"/>
              </a:spcBef>
            </a:pPr>
            <a:endParaRPr lang="en-US" altLang="zh-CN" sz="2600" dirty="0"/>
          </a:p>
          <a:p>
            <a:pPr lvl="1" eaLnBrk="1" hangingPunct="1">
              <a:lnSpc>
                <a:spcPct val="150000"/>
              </a:lnSpc>
              <a:spcBef>
                <a:spcPct val="0"/>
              </a:spcBef>
            </a:pPr>
            <a:r>
              <a:rPr lang="zh-CN" altLang="en-US" sz="2800" dirty="0"/>
              <a:t>发出</a:t>
            </a:r>
            <a:r>
              <a:rPr lang="en-US" altLang="zh-CN" sz="2800" dirty="0"/>
              <a:t>GRANT</a:t>
            </a:r>
            <a:r>
              <a:rPr lang="zh-CN" altLang="en-US" sz="2800" dirty="0"/>
              <a:t>：</a:t>
            </a:r>
            <a:endParaRPr lang="zh-CN" altLang="en-US" sz="2800" dirty="0"/>
          </a:p>
          <a:p>
            <a:pPr lvl="2" eaLnBrk="1" hangingPunct="1">
              <a:lnSpc>
                <a:spcPct val="150000"/>
              </a:lnSpc>
              <a:spcBef>
                <a:spcPct val="0"/>
              </a:spcBef>
              <a:buSzPct val="87000"/>
              <a:buFont typeface="Wingdings" panose="05000000000000000000" pitchFamily="2" charset="2"/>
              <a:buChar char="l"/>
            </a:pPr>
            <a:r>
              <a:rPr lang="zh-CN" altLang="en-US" sz="2200" dirty="0"/>
              <a:t>数据库管理员</a:t>
            </a:r>
            <a:endParaRPr lang="en-US" altLang="zh-CN" sz="2200" dirty="0"/>
          </a:p>
          <a:p>
            <a:pPr lvl="2" eaLnBrk="1" hangingPunct="1">
              <a:lnSpc>
                <a:spcPct val="150000"/>
              </a:lnSpc>
              <a:spcBef>
                <a:spcPct val="0"/>
              </a:spcBef>
              <a:buSzPct val="87000"/>
              <a:buFont typeface="Wingdings" panose="05000000000000000000" pitchFamily="2" charset="2"/>
              <a:buChar char="l"/>
            </a:pPr>
            <a:r>
              <a:rPr lang="zh-CN" altLang="en-US" sz="2200" dirty="0"/>
              <a:t>数据库对象创建者（即属主</a:t>
            </a:r>
            <a:r>
              <a:rPr lang="en-US" altLang="zh-CN" sz="2200" dirty="0"/>
              <a:t>owner</a:t>
            </a:r>
            <a:r>
              <a:rPr lang="zh-CN" altLang="en-US" sz="2200" dirty="0"/>
              <a:t>）</a:t>
            </a:r>
            <a:endParaRPr lang="zh-CN" altLang="en-US" sz="2200" dirty="0"/>
          </a:p>
          <a:p>
            <a:pPr lvl="2" eaLnBrk="1" hangingPunct="1">
              <a:lnSpc>
                <a:spcPct val="150000"/>
              </a:lnSpc>
              <a:spcBef>
                <a:spcPct val="0"/>
              </a:spcBef>
              <a:buSzPct val="87000"/>
              <a:buFont typeface="Wingdings" panose="05000000000000000000" pitchFamily="2" charset="2"/>
              <a:buChar char="l"/>
            </a:pPr>
            <a:r>
              <a:rPr lang="zh-CN" altLang="en-US" sz="2200" dirty="0"/>
              <a:t>拥有该权限的用户</a:t>
            </a:r>
            <a:endParaRPr lang="zh-CN" altLang="en-US" sz="2200" dirty="0"/>
          </a:p>
          <a:p>
            <a:pPr lvl="1" eaLnBrk="1" hangingPunct="1">
              <a:lnSpc>
                <a:spcPct val="150000"/>
              </a:lnSpc>
              <a:spcBef>
                <a:spcPct val="0"/>
              </a:spcBef>
            </a:pPr>
            <a:r>
              <a:rPr lang="zh-CN" altLang="en-US" sz="2800" dirty="0"/>
              <a:t>按受权限的用户 </a:t>
            </a:r>
            <a:endParaRPr lang="zh-CN" altLang="en-US" sz="2800" dirty="0"/>
          </a:p>
          <a:p>
            <a:pPr lvl="2" eaLnBrk="1" hangingPunct="1">
              <a:lnSpc>
                <a:spcPct val="150000"/>
              </a:lnSpc>
              <a:spcBef>
                <a:spcPct val="0"/>
              </a:spcBef>
              <a:buSzPct val="87000"/>
              <a:buFont typeface="Wingdings" panose="05000000000000000000" pitchFamily="2" charset="2"/>
              <a:buChar char="l"/>
            </a:pPr>
            <a:r>
              <a:rPr lang="zh-CN" altLang="en-US" sz="2200" dirty="0"/>
              <a:t>一个或多个具体用户</a:t>
            </a:r>
            <a:endParaRPr lang="zh-CN" altLang="en-US" sz="2200" dirty="0"/>
          </a:p>
          <a:p>
            <a:pPr lvl="2" eaLnBrk="1" hangingPunct="1">
              <a:lnSpc>
                <a:spcPct val="150000"/>
              </a:lnSpc>
              <a:spcBef>
                <a:spcPct val="0"/>
              </a:spcBef>
              <a:buSzPct val="87000"/>
              <a:buFont typeface="Wingdings" panose="05000000000000000000" pitchFamily="2" charset="2"/>
              <a:buChar char="l"/>
            </a:pPr>
            <a:r>
              <a:rPr lang="en-US" altLang="zh-CN" sz="2200" dirty="0"/>
              <a:t>PUBLIC</a:t>
            </a:r>
            <a:r>
              <a:rPr lang="zh-CN" altLang="en-US" sz="2200" dirty="0"/>
              <a:t>（即全体用户）  </a:t>
            </a:r>
            <a:endParaRPr lang="zh-CN" altLang="en-US" sz="2200" dirty="0"/>
          </a:p>
          <a:p>
            <a:pPr algn="just" eaLnBrk="1" hangingPunct="1">
              <a:lnSpc>
                <a:spcPct val="110000"/>
              </a:lnSpc>
            </a:pPr>
            <a:endParaRPr lang="zh-CN" altLang="en-US" sz="2600" dirty="0"/>
          </a:p>
          <a:p>
            <a:pPr eaLnBrk="1" hangingPunct="1"/>
            <a:endParaRPr lang="en-US" altLang="zh-CN"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0"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en-US" sz="3600" dirty="0"/>
          </a:p>
        </p:txBody>
      </p:sp>
      <p:sp>
        <p:nvSpPr>
          <p:cNvPr id="53251" name="Rectangle 3"/>
          <p:cNvSpPr>
            <a:spLocks noGrp="1" noChangeArrowheads="1"/>
          </p:cNvSpPr>
          <p:nvPr>
            <p:ph type="body" idx="4294967295"/>
          </p:nvPr>
        </p:nvSpPr>
        <p:spPr>
          <a:xfrm>
            <a:off x="1055440" y="1318691"/>
            <a:ext cx="7772400" cy="4443413"/>
          </a:xfrm>
        </p:spPr>
        <p:txBody>
          <a:bodyPr/>
          <a:lstStyle/>
          <a:p>
            <a:pPr eaLnBrk="1" hangingPunct="1">
              <a:lnSpc>
                <a:spcPct val="120000"/>
              </a:lnSpc>
            </a:pPr>
            <a:r>
              <a:rPr lang="en-US" altLang="zh-CN" dirty="0"/>
              <a:t>WITH GRANT OPTION</a:t>
            </a:r>
            <a:r>
              <a:rPr lang="zh-CN" altLang="en-US" dirty="0"/>
              <a:t>子句</a:t>
            </a:r>
            <a:r>
              <a:rPr lang="en-US" altLang="zh-CN" dirty="0"/>
              <a:t>:</a:t>
            </a:r>
            <a:endParaRPr lang="en-US" altLang="zh-CN" dirty="0"/>
          </a:p>
          <a:p>
            <a:pPr lvl="1" eaLnBrk="1" hangingPunct="1">
              <a:lnSpc>
                <a:spcPct val="120000"/>
              </a:lnSpc>
            </a:pPr>
            <a:r>
              <a:rPr lang="zh-CN" altLang="en-US" dirty="0"/>
              <a:t>指定：可以</a:t>
            </a:r>
            <a:r>
              <a:rPr lang="zh-CN" altLang="en-US" dirty="0">
                <a:solidFill>
                  <a:srgbClr val="E02920"/>
                </a:solidFill>
              </a:rPr>
              <a:t>再授予</a:t>
            </a:r>
            <a:endParaRPr lang="zh-CN" altLang="en-US" dirty="0">
              <a:solidFill>
                <a:srgbClr val="E02920"/>
              </a:solidFill>
            </a:endParaRPr>
          </a:p>
          <a:p>
            <a:pPr lvl="1" eaLnBrk="1" hangingPunct="1">
              <a:lnSpc>
                <a:spcPct val="120000"/>
              </a:lnSpc>
            </a:pPr>
            <a:r>
              <a:rPr lang="zh-CN" altLang="en-US" dirty="0"/>
              <a:t>没有指定：</a:t>
            </a:r>
            <a:r>
              <a:rPr lang="zh-CN" altLang="en-US" dirty="0">
                <a:solidFill>
                  <a:srgbClr val="E02920"/>
                </a:solidFill>
              </a:rPr>
              <a:t>不能传播</a:t>
            </a:r>
            <a:endParaRPr lang="zh-CN" altLang="en-US" dirty="0">
              <a:solidFill>
                <a:srgbClr val="E02920"/>
              </a:solidFill>
            </a:endParaRPr>
          </a:p>
          <a:p>
            <a:pPr lvl="1" eaLnBrk="1" hangingPunct="1">
              <a:lnSpc>
                <a:spcPct val="120000"/>
              </a:lnSpc>
            </a:pPr>
            <a:endParaRPr lang="zh-CN" altLang="en-US" sz="2000" dirty="0"/>
          </a:p>
          <a:p>
            <a:pPr eaLnBrk="1" hangingPunct="1">
              <a:lnSpc>
                <a:spcPct val="120000"/>
              </a:lnSpc>
            </a:pPr>
            <a:r>
              <a:rPr lang="zh-CN" altLang="en-US" dirty="0"/>
              <a:t>不允许循环授权</a:t>
            </a:r>
            <a:endParaRPr lang="zh-CN" altLang="en-US" dirty="0"/>
          </a:p>
        </p:txBody>
      </p:sp>
      <p:pic>
        <p:nvPicPr>
          <p:cNvPr id="5124" name="图片 6" descr="4z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2916" y="4509120"/>
            <a:ext cx="4248472" cy="7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4"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4275"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a:latin typeface="宋体" panose="02010600030101010101" pitchFamily="2" charset="-122"/>
              </a:rPr>
              <a:t> </a:t>
            </a:r>
            <a:r>
              <a:rPr lang="en-US" altLang="zh-CN"/>
              <a:t>[</a:t>
            </a:r>
            <a:r>
              <a:rPr lang="zh-CN" altLang="en-US">
                <a:latin typeface="宋体" panose="02010600030101010101" pitchFamily="2" charset="-122"/>
              </a:rPr>
              <a:t>例</a:t>
            </a:r>
            <a:r>
              <a:rPr lang="zh-CN" altLang="en-US">
                <a:ea typeface="Arial Unicode MS" panose="020B0604020202020204" pitchFamily="34" charset="-128"/>
                <a:cs typeface="Arial Unicode MS" panose="020B0604020202020204" pitchFamily="34" charset="-128"/>
              </a:rPr>
              <a:t>4.1</a:t>
            </a:r>
            <a:r>
              <a:rPr lang="en-US" altLang="zh-CN"/>
              <a:t>]</a:t>
            </a:r>
            <a:r>
              <a:rPr lang="en-US" altLang="zh-CN">
                <a:latin typeface="宋体" panose="02010600030101010101" pitchFamily="2" charset="-122"/>
              </a:rPr>
              <a:t> </a:t>
            </a:r>
            <a:r>
              <a:rPr lang="zh-CN" altLang="en-US">
                <a:latin typeface="宋体" panose="02010600030101010101" pitchFamily="2" charset="-122"/>
              </a:rPr>
              <a:t>把查询</a:t>
            </a:r>
            <a:r>
              <a:rPr lang="en-US" altLang="zh-CN"/>
              <a:t>Student</a:t>
            </a:r>
            <a:r>
              <a:rPr lang="zh-CN" altLang="en-US">
                <a:latin typeface="宋体" panose="02010600030101010101" pitchFamily="2" charset="-122"/>
              </a:rPr>
              <a:t>表权限授给用户</a:t>
            </a:r>
            <a:r>
              <a:rPr lang="en-US" altLang="zh-CN"/>
              <a:t>U1</a:t>
            </a:r>
            <a:endParaRPr lang="en-US" altLang="zh-CN"/>
          </a:p>
          <a:p>
            <a:pPr algn="just" eaLnBrk="1" hangingPunct="1">
              <a:buFont typeface="Wingdings" panose="05000000000000000000" pitchFamily="2" charset="2"/>
              <a:buNone/>
            </a:pPr>
            <a:endParaRPr lang="en-US" altLang="zh-CN">
              <a:latin typeface="宋体" panose="02010600030101010101" pitchFamily="2" charset="-122"/>
            </a:endParaRPr>
          </a:p>
          <a:p>
            <a:pPr algn="just" eaLnBrk="1" hangingPunct="1">
              <a:buFont typeface="Wingdings" panose="05000000000000000000" pitchFamily="2" charset="2"/>
              <a:buNone/>
            </a:pPr>
            <a:r>
              <a:rPr lang="en-US" altLang="zh-CN"/>
              <a:t>      GRANT   SELECT </a:t>
            </a:r>
            <a:endParaRPr lang="en-US" altLang="zh-CN"/>
          </a:p>
          <a:p>
            <a:pPr algn="just" eaLnBrk="1" hangingPunct="1">
              <a:buFont typeface="Wingdings" panose="05000000000000000000" pitchFamily="2" charset="2"/>
              <a:buNone/>
            </a:pPr>
            <a:r>
              <a:rPr lang="en-US" altLang="zh-CN"/>
              <a:t>      ON   TABLE   Student </a:t>
            </a:r>
            <a:endParaRPr lang="en-US" altLang="zh-CN"/>
          </a:p>
          <a:p>
            <a:pPr algn="just" eaLnBrk="1" hangingPunct="1">
              <a:buFont typeface="Wingdings" panose="05000000000000000000" pitchFamily="2" charset="2"/>
              <a:buNone/>
            </a:pPr>
            <a:r>
              <a:rPr lang="en-US" altLang="zh-CN"/>
              <a:t>      TO   U1;</a:t>
            </a:r>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5298"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5299"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dirty="0"/>
              <a:t>[</a:t>
            </a:r>
            <a:r>
              <a:rPr lang="zh-CN" altLang="en-US" dirty="0"/>
              <a:t>例4.</a:t>
            </a:r>
            <a:r>
              <a:rPr lang="en-US" altLang="zh-CN" dirty="0"/>
              <a:t>2] </a:t>
            </a:r>
            <a:r>
              <a:rPr lang="zh-CN" altLang="en-US" dirty="0"/>
              <a:t>把对</a:t>
            </a:r>
            <a:r>
              <a:rPr lang="en-US" altLang="zh-CN" dirty="0"/>
              <a:t>Student</a:t>
            </a:r>
            <a:r>
              <a:rPr lang="zh-CN" altLang="en-US" dirty="0"/>
              <a:t>表和</a:t>
            </a:r>
            <a:r>
              <a:rPr lang="en-US" altLang="zh-CN" dirty="0"/>
              <a:t>Course</a:t>
            </a:r>
            <a:r>
              <a:rPr lang="zh-CN" altLang="en-US" dirty="0"/>
              <a:t>表的全部操作权限授予用户</a:t>
            </a:r>
            <a:r>
              <a:rPr lang="en-US" altLang="zh-CN" dirty="0"/>
              <a:t>U2</a:t>
            </a:r>
            <a:r>
              <a:rPr lang="zh-CN" altLang="en-US" dirty="0"/>
              <a:t>和</a:t>
            </a:r>
            <a:r>
              <a:rPr lang="en-US" altLang="zh-CN" dirty="0"/>
              <a:t>U3</a:t>
            </a:r>
            <a:endParaRPr lang="en-US" altLang="zh-CN" dirty="0"/>
          </a:p>
          <a:p>
            <a:pPr algn="just" eaLnBrk="1" hangingPunct="1">
              <a:buFont typeface="Wingdings" panose="05000000000000000000" pitchFamily="2" charset="2"/>
              <a:buNone/>
            </a:pPr>
            <a:endParaRPr lang="en-US" altLang="zh-CN" dirty="0"/>
          </a:p>
          <a:p>
            <a:pPr algn="just" eaLnBrk="1" hangingPunct="1">
              <a:buFont typeface="Wingdings" panose="05000000000000000000" pitchFamily="2" charset="2"/>
              <a:buNone/>
            </a:pPr>
            <a:r>
              <a:rPr lang="en-US" altLang="zh-CN" dirty="0"/>
              <a:t>      GRANT </a:t>
            </a:r>
            <a:r>
              <a:rPr lang="en-US" altLang="zh-CN" dirty="0">
                <a:solidFill>
                  <a:srgbClr val="E02920"/>
                </a:solidFill>
              </a:rPr>
              <a:t>ALL PRIVILIGES</a:t>
            </a:r>
            <a:r>
              <a:rPr lang="en-US" altLang="zh-CN" dirty="0"/>
              <a:t> </a:t>
            </a:r>
            <a:endParaRPr lang="en-US" altLang="zh-CN" dirty="0"/>
          </a:p>
          <a:p>
            <a:pPr algn="just" eaLnBrk="1" hangingPunct="1">
              <a:buFont typeface="Wingdings" panose="05000000000000000000" pitchFamily="2" charset="2"/>
              <a:buNone/>
            </a:pPr>
            <a:r>
              <a:rPr lang="en-US" altLang="zh-CN" dirty="0"/>
              <a:t>      ON TABLE </a:t>
            </a:r>
            <a:r>
              <a:rPr lang="en-US" altLang="zh-CN" dirty="0" err="1"/>
              <a:t>Student,Course</a:t>
            </a:r>
            <a:r>
              <a:rPr lang="en-US" altLang="zh-CN" dirty="0"/>
              <a:t> </a:t>
            </a:r>
            <a:endParaRPr lang="en-US" altLang="zh-CN" dirty="0"/>
          </a:p>
          <a:p>
            <a:pPr algn="just" eaLnBrk="1" hangingPunct="1">
              <a:buFont typeface="Wingdings" panose="05000000000000000000" pitchFamily="2" charset="2"/>
              <a:buNone/>
            </a:pPr>
            <a:r>
              <a:rPr lang="en-US" altLang="zh-CN" dirty="0"/>
              <a:t>      TO U2,U3;</a:t>
            </a:r>
            <a:endParaRPr lang="en-US" altLang="zh-CN" dirty="0"/>
          </a:p>
          <a:p>
            <a:pPr eaLnBrk="1" hangingPunct="1"/>
            <a:endParaRPr lang="en-US" altLang="zh-CN"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6322"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6323"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a:t>[</a:t>
            </a:r>
            <a:r>
              <a:rPr lang="zh-CN" altLang="en-US"/>
              <a:t>例4.</a:t>
            </a:r>
            <a:r>
              <a:rPr lang="en-US" altLang="zh-CN"/>
              <a:t>3] </a:t>
            </a:r>
            <a:r>
              <a:rPr lang="zh-CN" altLang="en-US"/>
              <a:t>把对表</a:t>
            </a:r>
            <a:r>
              <a:rPr lang="en-US" altLang="zh-CN"/>
              <a:t>SC</a:t>
            </a:r>
            <a:r>
              <a:rPr lang="zh-CN" altLang="en-US"/>
              <a:t>的查询权限授予所有用户</a:t>
            </a:r>
            <a:endParaRPr lang="zh-CN" altLang="en-US"/>
          </a:p>
          <a:p>
            <a:pPr algn="just" eaLnBrk="1" hangingPunct="1">
              <a:buFont typeface="Wingdings" panose="05000000000000000000" pitchFamily="2" charset="2"/>
              <a:buNone/>
            </a:pPr>
            <a:endParaRPr lang="zh-CN" altLang="en-US"/>
          </a:p>
          <a:p>
            <a:pPr algn="just" eaLnBrk="1" hangingPunct="1">
              <a:lnSpc>
                <a:spcPct val="120000"/>
              </a:lnSpc>
              <a:buFont typeface="Wingdings" panose="05000000000000000000" pitchFamily="2" charset="2"/>
              <a:buNone/>
            </a:pPr>
            <a:r>
              <a:rPr lang="zh-CN" altLang="en-US"/>
              <a:t>     </a:t>
            </a:r>
            <a:r>
              <a:rPr lang="en-US" altLang="zh-CN"/>
              <a:t>GRANT SELECT </a:t>
            </a:r>
            <a:endParaRPr lang="en-US" altLang="zh-CN"/>
          </a:p>
          <a:p>
            <a:pPr algn="just" eaLnBrk="1" hangingPunct="1">
              <a:lnSpc>
                <a:spcPct val="120000"/>
              </a:lnSpc>
              <a:buFont typeface="Wingdings" panose="05000000000000000000" pitchFamily="2" charset="2"/>
              <a:buNone/>
            </a:pPr>
            <a:r>
              <a:rPr lang="en-US" altLang="zh-CN"/>
              <a:t>     ON TABLE SC </a:t>
            </a:r>
            <a:endParaRPr lang="en-US" altLang="zh-CN"/>
          </a:p>
          <a:p>
            <a:pPr algn="just" eaLnBrk="1" hangingPunct="1">
              <a:lnSpc>
                <a:spcPct val="120000"/>
              </a:lnSpc>
              <a:buFont typeface="Wingdings" panose="05000000000000000000" pitchFamily="2" charset="2"/>
              <a:buNone/>
            </a:pPr>
            <a:r>
              <a:rPr lang="en-US" altLang="zh-CN"/>
              <a:t>	  TO </a:t>
            </a:r>
            <a:r>
              <a:rPr lang="en-US" altLang="zh-CN">
                <a:solidFill>
                  <a:srgbClr val="E02920"/>
                </a:solidFill>
              </a:rPr>
              <a:t>PUBLIC</a:t>
            </a:r>
            <a:r>
              <a:rPr lang="en-US" altLang="zh-CN"/>
              <a:t>;</a:t>
            </a:r>
            <a:endParaRPr lang="en-US" altLang="zh-CN"/>
          </a:p>
          <a:p>
            <a:pPr eaLnBrk="1" hangingPunct="1">
              <a:buFont typeface="Wingdings" panose="05000000000000000000" pitchFamily="2" charset="2"/>
              <a:buNone/>
            </a:pPr>
            <a:endParaRPr lang="en-US" altLang="zh-C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7346"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7347" name="Rectangle 3"/>
          <p:cNvSpPr>
            <a:spLocks noGrp="1" noChangeArrowheads="1"/>
          </p:cNvSpPr>
          <p:nvPr>
            <p:ph type="body" idx="4294967295"/>
          </p:nvPr>
        </p:nvSpPr>
        <p:spPr>
          <a:xfrm>
            <a:off x="911424" y="1484784"/>
            <a:ext cx="9793088" cy="4454301"/>
          </a:xfrm>
        </p:spPr>
        <p:txBody>
          <a:bodyPr/>
          <a:lstStyle/>
          <a:p>
            <a:pPr algn="just" eaLnBrk="1" hangingPunct="1">
              <a:buFont typeface="Wingdings" panose="05000000000000000000" pitchFamily="2" charset="2"/>
              <a:buNone/>
            </a:pPr>
            <a:r>
              <a:rPr lang="en-US" altLang="zh-CN" dirty="0"/>
              <a:t>[</a:t>
            </a:r>
            <a:r>
              <a:rPr lang="zh-CN" altLang="en-US" dirty="0"/>
              <a:t>例4.</a:t>
            </a:r>
            <a:r>
              <a:rPr lang="en-US" altLang="zh-CN" dirty="0"/>
              <a:t>4] </a:t>
            </a:r>
            <a:r>
              <a:rPr lang="zh-CN" altLang="en-US" dirty="0"/>
              <a:t>把查询</a:t>
            </a:r>
            <a:r>
              <a:rPr lang="en-US" altLang="zh-CN" dirty="0"/>
              <a:t>Student</a:t>
            </a:r>
            <a:r>
              <a:rPr lang="zh-CN" altLang="en-US" dirty="0"/>
              <a:t>表和修改学生学号的权限授给用户</a:t>
            </a:r>
            <a:r>
              <a:rPr lang="en-US" altLang="zh-CN" dirty="0"/>
              <a:t>U4</a:t>
            </a:r>
            <a:endParaRPr lang="en-US" altLang="zh-CN" dirty="0"/>
          </a:p>
          <a:p>
            <a:pPr algn="just" eaLnBrk="1" hangingPunct="1">
              <a:buFont typeface="Wingdings" panose="05000000000000000000" pitchFamily="2" charset="2"/>
              <a:buNone/>
            </a:pPr>
            <a:r>
              <a:rPr lang="zh-CN" altLang="en-US" sz="2000" dirty="0"/>
              <a:t>　 </a:t>
            </a:r>
            <a:endParaRPr lang="zh-CN" altLang="en-US" sz="2000" dirty="0"/>
          </a:p>
          <a:p>
            <a:pPr algn="just" eaLnBrk="1" hangingPunct="1">
              <a:lnSpc>
                <a:spcPct val="120000"/>
              </a:lnSpc>
              <a:buFont typeface="Wingdings" panose="05000000000000000000" pitchFamily="2" charset="2"/>
              <a:buNone/>
            </a:pPr>
            <a:r>
              <a:rPr lang="zh-CN" altLang="en-US" sz="2000" dirty="0"/>
              <a:t>	  	</a:t>
            </a:r>
            <a:r>
              <a:rPr lang="en-US" altLang="zh-CN" dirty="0"/>
              <a:t>GRANT </a:t>
            </a:r>
            <a:r>
              <a:rPr lang="en-US" altLang="zh-CN" dirty="0">
                <a:solidFill>
                  <a:srgbClr val="E02920"/>
                </a:solidFill>
              </a:rPr>
              <a:t>UPDATE(</a:t>
            </a:r>
            <a:r>
              <a:rPr lang="en-US" altLang="zh-CN" dirty="0" err="1">
                <a:solidFill>
                  <a:srgbClr val="E02920"/>
                </a:solidFill>
              </a:rPr>
              <a:t>Sno</a:t>
            </a:r>
            <a:r>
              <a:rPr lang="en-US" altLang="zh-CN" dirty="0">
                <a:solidFill>
                  <a:srgbClr val="E02920"/>
                </a:solidFill>
              </a:rPr>
              <a:t>),</a:t>
            </a:r>
            <a:r>
              <a:rPr lang="en-US" altLang="zh-CN" dirty="0"/>
              <a:t> SELECT </a:t>
            </a:r>
            <a:endParaRPr lang="en-US" altLang="zh-CN" dirty="0"/>
          </a:p>
          <a:p>
            <a:pPr algn="just" eaLnBrk="1" hangingPunct="1">
              <a:lnSpc>
                <a:spcPct val="120000"/>
              </a:lnSpc>
              <a:buFont typeface="Wingdings" panose="05000000000000000000" pitchFamily="2" charset="2"/>
              <a:buNone/>
            </a:pPr>
            <a:r>
              <a:rPr lang="en-US" altLang="zh-CN" dirty="0"/>
              <a:t>		ON TABLE Student </a:t>
            </a:r>
            <a:endParaRPr lang="en-US" altLang="zh-CN" dirty="0"/>
          </a:p>
          <a:p>
            <a:pPr algn="just" eaLnBrk="1" hangingPunct="1">
              <a:lnSpc>
                <a:spcPct val="120000"/>
              </a:lnSpc>
              <a:buFont typeface="Wingdings" panose="05000000000000000000" pitchFamily="2" charset="2"/>
              <a:buNone/>
            </a:pPr>
            <a:r>
              <a:rPr lang="en-US" altLang="zh-CN" dirty="0"/>
              <a:t>		TO U4;</a:t>
            </a:r>
            <a:endParaRPr lang="en-US" altLang="zh-CN" dirty="0"/>
          </a:p>
          <a:p>
            <a:pPr algn="just" eaLnBrk="1" hangingPunct="1">
              <a:buFont typeface="Wingdings" panose="05000000000000000000" pitchFamily="2" charset="2"/>
              <a:buNone/>
            </a:pPr>
            <a:endParaRPr lang="en-US" altLang="zh-CN" dirty="0"/>
          </a:p>
          <a:p>
            <a:pPr eaLnBrk="1" hangingPunct="1"/>
            <a:r>
              <a:rPr lang="zh-CN" altLang="en-US" dirty="0"/>
              <a:t>对属性列的授权时必须明确指出相应属性列名 </a:t>
            </a:r>
            <a:endParaRPr lang="zh-CN"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8370"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8371" name="Rectangle 3"/>
          <p:cNvSpPr>
            <a:spLocks noGrp="1" noChangeArrowheads="1"/>
          </p:cNvSpPr>
          <p:nvPr>
            <p:ph type="body" idx="4294967295"/>
          </p:nvPr>
        </p:nvSpPr>
        <p:spPr>
          <a:xfrm>
            <a:off x="598148" y="1340768"/>
            <a:ext cx="10322387" cy="4392488"/>
          </a:xfrm>
        </p:spPr>
        <p:txBody>
          <a:bodyPr/>
          <a:lstStyle/>
          <a:p>
            <a:pPr algn="just" eaLnBrk="1" hangingPunct="1">
              <a:lnSpc>
                <a:spcPct val="140000"/>
              </a:lnSpc>
              <a:buFont typeface="Wingdings" panose="05000000000000000000" pitchFamily="2" charset="2"/>
              <a:buNone/>
            </a:pPr>
            <a:r>
              <a:rPr lang="en-US" altLang="zh-CN" dirty="0">
                <a:latin typeface="宋体" panose="02010600030101010101" pitchFamily="2" charset="-122"/>
              </a:rPr>
              <a:t> </a:t>
            </a:r>
            <a:r>
              <a:rPr lang="en-US" altLang="zh-CN" dirty="0"/>
              <a:t>[</a:t>
            </a:r>
            <a:r>
              <a:rPr lang="zh-CN" altLang="en-US" dirty="0"/>
              <a:t>例4.</a:t>
            </a:r>
            <a:r>
              <a:rPr lang="en-US" altLang="zh-CN" dirty="0"/>
              <a:t>5] </a:t>
            </a:r>
            <a:r>
              <a:rPr lang="zh-CN" altLang="en-US" dirty="0"/>
              <a:t>把对表</a:t>
            </a:r>
            <a:r>
              <a:rPr lang="en-US" altLang="zh-CN" dirty="0"/>
              <a:t>SC</a:t>
            </a:r>
            <a:r>
              <a:rPr lang="zh-CN" altLang="en-US" dirty="0"/>
              <a:t>的</a:t>
            </a:r>
            <a:r>
              <a:rPr lang="en-US" altLang="zh-CN" dirty="0"/>
              <a:t>INSERT</a:t>
            </a:r>
            <a:r>
              <a:rPr lang="zh-CN" altLang="en-US" dirty="0"/>
              <a:t>权限授予</a:t>
            </a:r>
            <a:r>
              <a:rPr lang="en-US" altLang="zh-CN" dirty="0"/>
              <a:t>U5</a:t>
            </a:r>
            <a:r>
              <a:rPr lang="zh-CN" altLang="en-US" dirty="0"/>
              <a:t>用户，并允许将此权限再授予其他用户</a:t>
            </a:r>
            <a:endParaRPr lang="zh-CN" altLang="en-US" dirty="0"/>
          </a:p>
          <a:p>
            <a:pPr algn="just" eaLnBrk="1" hangingPunct="1">
              <a:buFont typeface="Wingdings" panose="05000000000000000000" pitchFamily="2" charset="2"/>
              <a:buNone/>
            </a:pPr>
            <a:r>
              <a:rPr lang="zh-CN" altLang="en-US" dirty="0"/>
              <a:t>     </a:t>
            </a:r>
            <a:endParaRPr lang="zh-CN" altLang="en-US" dirty="0"/>
          </a:p>
          <a:p>
            <a:pPr algn="just" eaLnBrk="1" hangingPunct="1">
              <a:lnSpc>
                <a:spcPct val="120000"/>
              </a:lnSpc>
              <a:buFont typeface="Wingdings" panose="05000000000000000000" pitchFamily="2" charset="2"/>
              <a:buNone/>
            </a:pPr>
            <a:r>
              <a:rPr lang="zh-CN" altLang="en-US" dirty="0"/>
              <a:t>    </a:t>
            </a:r>
            <a:r>
              <a:rPr lang="en-US" altLang="zh-CN" dirty="0"/>
              <a:t>GRANT INSERT </a:t>
            </a:r>
            <a:endParaRPr lang="en-US" altLang="zh-CN" dirty="0"/>
          </a:p>
          <a:p>
            <a:pPr algn="just" eaLnBrk="1" hangingPunct="1">
              <a:lnSpc>
                <a:spcPct val="120000"/>
              </a:lnSpc>
              <a:buFont typeface="Wingdings" panose="05000000000000000000" pitchFamily="2" charset="2"/>
              <a:buNone/>
            </a:pPr>
            <a:r>
              <a:rPr lang="en-US" altLang="zh-CN" dirty="0"/>
              <a:t>    ON TABLE SC </a:t>
            </a:r>
            <a:endParaRPr lang="en-US" altLang="zh-CN" dirty="0"/>
          </a:p>
          <a:p>
            <a:pPr algn="just" eaLnBrk="1" hangingPunct="1">
              <a:lnSpc>
                <a:spcPct val="120000"/>
              </a:lnSpc>
              <a:buFont typeface="Wingdings" panose="05000000000000000000" pitchFamily="2" charset="2"/>
              <a:buNone/>
            </a:pPr>
            <a:r>
              <a:rPr lang="en-US" altLang="zh-CN" dirty="0"/>
              <a:t>    TO U5</a:t>
            </a:r>
            <a:endParaRPr lang="en-US" altLang="zh-CN" dirty="0"/>
          </a:p>
          <a:p>
            <a:pPr algn="just" eaLnBrk="1" hangingPunct="1">
              <a:lnSpc>
                <a:spcPct val="120000"/>
              </a:lnSpc>
              <a:buFont typeface="Wingdings" panose="05000000000000000000" pitchFamily="2" charset="2"/>
              <a:buNone/>
            </a:pPr>
            <a:r>
              <a:rPr lang="en-US" altLang="zh-CN" dirty="0"/>
              <a:t>    </a:t>
            </a:r>
            <a:r>
              <a:rPr lang="en-US" altLang="zh-CN" dirty="0">
                <a:solidFill>
                  <a:srgbClr val="E02920"/>
                </a:solidFill>
              </a:rPr>
              <a:t>WITH GRANT OPTION</a:t>
            </a:r>
            <a:r>
              <a:rPr lang="en-US" altLang="zh-CN" dirty="0"/>
              <a:t>;</a:t>
            </a:r>
            <a:endParaRPr lang="en-US" altLang="zh-CN"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9394"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59395" name="Rectangle 3"/>
          <p:cNvSpPr>
            <a:spLocks noGrp="1" noChangeArrowheads="1"/>
          </p:cNvSpPr>
          <p:nvPr>
            <p:ph type="body" idx="4294967295"/>
          </p:nvPr>
        </p:nvSpPr>
        <p:spPr>
          <a:xfrm>
            <a:off x="767408" y="1268760"/>
            <a:ext cx="10081120" cy="4830841"/>
          </a:xfrm>
        </p:spPr>
        <p:txBody>
          <a:bodyPr/>
          <a:lstStyle/>
          <a:p>
            <a:pPr algn="just" eaLnBrk="1" hangingPunct="1">
              <a:buFont typeface="Wingdings" panose="05000000000000000000" pitchFamily="2" charset="2"/>
              <a:buNone/>
            </a:pPr>
            <a:r>
              <a:rPr lang="zh-CN" altLang="en-US" sz="2400" dirty="0"/>
              <a:t>执行例4.</a:t>
            </a:r>
            <a:r>
              <a:rPr lang="en-US" altLang="zh-CN" sz="2400" dirty="0"/>
              <a:t>5</a:t>
            </a:r>
            <a:r>
              <a:rPr lang="zh-CN" altLang="en-US" sz="2400" dirty="0"/>
              <a:t>后，</a:t>
            </a:r>
            <a:r>
              <a:rPr lang="en-US" altLang="zh-CN" sz="2400" dirty="0"/>
              <a:t>U5</a:t>
            </a:r>
            <a:r>
              <a:rPr lang="zh-CN" altLang="en-US" sz="2400" dirty="0"/>
              <a:t>不仅拥有了对表</a:t>
            </a:r>
            <a:r>
              <a:rPr lang="en-US" altLang="zh-CN" sz="2400" dirty="0"/>
              <a:t>SC</a:t>
            </a:r>
            <a:r>
              <a:rPr lang="zh-CN" altLang="en-US" sz="2400" dirty="0"/>
              <a:t>的</a:t>
            </a:r>
            <a:r>
              <a:rPr lang="en-US" altLang="zh-CN" sz="2400" dirty="0"/>
              <a:t>INSERT</a:t>
            </a:r>
            <a:r>
              <a:rPr lang="zh-CN" altLang="en-US" sz="2400" dirty="0"/>
              <a:t>权限，还可以传播此权限</a:t>
            </a:r>
            <a:endParaRPr lang="zh-CN" altLang="en-US" sz="2400" dirty="0"/>
          </a:p>
          <a:p>
            <a:pPr algn="just" eaLnBrk="1" hangingPunct="1">
              <a:buFont typeface="Wingdings" panose="05000000000000000000" pitchFamily="2" charset="2"/>
              <a:buNone/>
            </a:pPr>
            <a:r>
              <a:rPr lang="zh-CN" altLang="en-US" sz="2400" dirty="0"/>
              <a:t> </a:t>
            </a:r>
            <a:r>
              <a:rPr lang="en-US" altLang="zh-CN" sz="2400" dirty="0"/>
              <a:t>[</a:t>
            </a:r>
            <a:r>
              <a:rPr lang="zh-CN" altLang="en-US" sz="2400" dirty="0"/>
              <a:t>例4.</a:t>
            </a:r>
            <a:r>
              <a:rPr lang="en-US" altLang="zh-CN" sz="2400" dirty="0"/>
              <a:t>6]</a:t>
            </a:r>
            <a:r>
              <a:rPr lang="zh-CN" altLang="en-US" sz="2400" dirty="0"/>
              <a:t> </a:t>
            </a:r>
            <a:r>
              <a:rPr lang="en-US" altLang="zh-CN" sz="2400" dirty="0"/>
              <a:t>GRANT INSERT </a:t>
            </a:r>
            <a:endParaRPr lang="en-US" altLang="zh-CN" sz="2400" dirty="0"/>
          </a:p>
          <a:p>
            <a:pPr algn="just" eaLnBrk="1" hangingPunct="1">
              <a:buFont typeface="Wingdings" panose="05000000000000000000" pitchFamily="2" charset="2"/>
              <a:buNone/>
            </a:pPr>
            <a:r>
              <a:rPr lang="en-US" altLang="zh-CN" sz="2400" dirty="0"/>
              <a:t>             ON TABLE SC </a:t>
            </a:r>
            <a:endParaRPr lang="en-US" altLang="zh-CN" sz="2400" dirty="0"/>
          </a:p>
          <a:p>
            <a:pPr algn="just" eaLnBrk="1" hangingPunct="1">
              <a:buFont typeface="Wingdings" panose="05000000000000000000" pitchFamily="2" charset="2"/>
              <a:buNone/>
            </a:pPr>
            <a:r>
              <a:rPr lang="en-US" altLang="zh-CN" sz="2400" dirty="0">
                <a:solidFill>
                  <a:srgbClr val="E02920"/>
                </a:solidFill>
              </a:rPr>
              <a:t>             TO U6</a:t>
            </a:r>
            <a:endParaRPr lang="en-US" altLang="zh-CN" dirty="0">
              <a:solidFill>
                <a:srgbClr val="E02920"/>
              </a:solidFill>
            </a:endParaRPr>
          </a:p>
          <a:p>
            <a:pPr algn="just" eaLnBrk="1" hangingPunct="1">
              <a:buFont typeface="Wingdings" panose="05000000000000000000" pitchFamily="2" charset="2"/>
              <a:buNone/>
            </a:pPr>
            <a:r>
              <a:rPr lang="en-US" altLang="zh-CN" sz="2400" dirty="0"/>
              <a:t>             </a:t>
            </a:r>
            <a:r>
              <a:rPr lang="en-US" altLang="zh-CN" sz="2400" dirty="0">
                <a:solidFill>
                  <a:srgbClr val="E02920"/>
                </a:solidFill>
              </a:rPr>
              <a:t>WITH GRANT OPTION</a:t>
            </a:r>
            <a:r>
              <a:rPr lang="en-US" altLang="zh-CN" sz="2400" dirty="0"/>
              <a:t>;</a:t>
            </a:r>
            <a:endParaRPr lang="en-US" altLang="zh-CN" sz="2400" dirty="0"/>
          </a:p>
          <a:p>
            <a:pPr algn="just" eaLnBrk="1" hangingPunct="1">
              <a:buFont typeface="Wingdings" panose="05000000000000000000" pitchFamily="2" charset="2"/>
              <a:buNone/>
            </a:pPr>
            <a:r>
              <a:rPr lang="en-US" altLang="zh-CN" sz="2400" dirty="0"/>
              <a:t>      </a:t>
            </a:r>
            <a:r>
              <a:rPr lang="zh-CN" altLang="en-US" sz="2400" dirty="0"/>
              <a:t>同样，</a:t>
            </a:r>
            <a:r>
              <a:rPr lang="en-US" altLang="zh-CN" sz="2400" dirty="0"/>
              <a:t>U6</a:t>
            </a:r>
            <a:r>
              <a:rPr lang="zh-CN" altLang="en-US" sz="2400" dirty="0"/>
              <a:t>还可以将此权限授予</a:t>
            </a:r>
            <a:r>
              <a:rPr lang="en-US" altLang="zh-CN" sz="2400" dirty="0"/>
              <a:t>U7</a:t>
            </a:r>
            <a:r>
              <a:rPr lang="zh-CN" altLang="en-US" sz="2400" dirty="0"/>
              <a:t>：</a:t>
            </a:r>
            <a:endParaRPr lang="zh-CN" altLang="en-US" sz="2400" dirty="0"/>
          </a:p>
          <a:p>
            <a:pPr algn="just" eaLnBrk="1" hangingPunct="1">
              <a:buFont typeface="Wingdings" panose="05000000000000000000" pitchFamily="2" charset="2"/>
              <a:buNone/>
            </a:pPr>
            <a:r>
              <a:rPr lang="zh-CN" altLang="en-US" sz="2400" dirty="0"/>
              <a:t> </a:t>
            </a:r>
            <a:r>
              <a:rPr lang="en-US" altLang="zh-CN" sz="2400" dirty="0"/>
              <a:t>[</a:t>
            </a:r>
            <a:r>
              <a:rPr lang="zh-CN" altLang="en-US" sz="2400" dirty="0"/>
              <a:t>例4.</a:t>
            </a:r>
            <a:r>
              <a:rPr lang="en-US" altLang="zh-CN" sz="2400" dirty="0"/>
              <a:t>7] GRANT INSERT </a:t>
            </a:r>
            <a:endParaRPr lang="en-US" altLang="zh-CN" sz="2400" dirty="0"/>
          </a:p>
          <a:p>
            <a:pPr algn="just" eaLnBrk="1" hangingPunct="1">
              <a:buFont typeface="Wingdings" panose="05000000000000000000" pitchFamily="2" charset="2"/>
              <a:buNone/>
            </a:pPr>
            <a:r>
              <a:rPr lang="en-US" altLang="zh-CN" sz="2400" dirty="0"/>
              <a:t>	         ON TABLE SC </a:t>
            </a:r>
            <a:endParaRPr lang="en-US" altLang="zh-CN" sz="2400" dirty="0"/>
          </a:p>
          <a:p>
            <a:pPr algn="just" eaLnBrk="1" hangingPunct="1">
              <a:buFont typeface="Wingdings" panose="05000000000000000000" pitchFamily="2" charset="2"/>
              <a:buNone/>
            </a:pPr>
            <a:r>
              <a:rPr lang="en-US" altLang="zh-CN" sz="2400" dirty="0">
                <a:solidFill>
                  <a:srgbClr val="E02920"/>
                </a:solidFill>
              </a:rPr>
              <a:t>             TO U7</a:t>
            </a:r>
            <a:r>
              <a:rPr lang="en-US" altLang="zh-CN" sz="2400" dirty="0"/>
              <a:t>;</a:t>
            </a:r>
            <a:endParaRPr lang="en-US" altLang="zh-CN" sz="2400" dirty="0"/>
          </a:p>
          <a:p>
            <a:pPr algn="just" eaLnBrk="1" hangingPunct="1">
              <a:buFont typeface="Wingdings" panose="05000000000000000000" pitchFamily="2" charset="2"/>
              <a:buNone/>
            </a:pPr>
            <a:r>
              <a:rPr lang="en-US" altLang="zh-CN" sz="2400" dirty="0"/>
              <a:t>      </a:t>
            </a:r>
            <a:r>
              <a:rPr lang="zh-CN" altLang="en-US" sz="2400" dirty="0"/>
              <a:t>但</a:t>
            </a:r>
            <a:r>
              <a:rPr lang="en-US" altLang="zh-CN" sz="2400" dirty="0"/>
              <a:t>U7</a:t>
            </a:r>
            <a:r>
              <a:rPr lang="zh-CN" altLang="en-US" sz="2400" dirty="0"/>
              <a:t>不能再传播此权限。</a:t>
            </a:r>
            <a:endParaRPr lang="zh-CN" altLang="en-US" sz="2400" dirty="0"/>
          </a:p>
          <a:p>
            <a:pPr algn="just" eaLnBrk="1" hangingPunct="1">
              <a:buFont typeface="Wingdings" panose="05000000000000000000" pitchFamily="2" charset="2"/>
              <a:buNone/>
            </a:pPr>
            <a:r>
              <a:rPr lang="zh-CN" altLang="en-US" sz="2400" dirty="0"/>
              <a:t>  </a:t>
            </a:r>
            <a:endParaRPr lang="zh-CN" altLang="en-US" sz="24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8" name="Rectangle 2"/>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60419" name="Rectangle 3"/>
          <p:cNvSpPr>
            <a:spLocks noGrp="1" noChangeArrowheads="1"/>
          </p:cNvSpPr>
          <p:nvPr>
            <p:ph type="body" sz="half" idx="4294967295"/>
          </p:nvPr>
        </p:nvSpPr>
        <p:spPr>
          <a:xfrm>
            <a:off x="1919288" y="1098550"/>
            <a:ext cx="8075612" cy="458788"/>
          </a:xfrm>
        </p:spPr>
        <p:txBody>
          <a:bodyPr/>
          <a:lstStyle/>
          <a:p>
            <a:pPr algn="ctr" eaLnBrk="1" hangingPunct="1">
              <a:lnSpc>
                <a:spcPct val="80000"/>
              </a:lnSpc>
              <a:buFont typeface="Wingdings" panose="05000000000000000000" pitchFamily="2" charset="2"/>
              <a:buNone/>
            </a:pPr>
            <a:r>
              <a:rPr lang="zh-CN" altLang="en-US" sz="1800" dirty="0"/>
              <a:t>执行了例4.</a:t>
            </a:r>
            <a:r>
              <a:rPr lang="en-US" altLang="zh-CN" sz="1800" dirty="0"/>
              <a:t>1~</a:t>
            </a:r>
            <a:r>
              <a:rPr lang="zh-CN" altLang="en-US" sz="1800" dirty="0"/>
              <a:t>例4.</a:t>
            </a:r>
            <a:r>
              <a:rPr lang="en-US" altLang="zh-CN" sz="1800" dirty="0"/>
              <a:t>7</a:t>
            </a:r>
            <a:r>
              <a:rPr lang="zh-CN" altLang="en-US" sz="1800" dirty="0"/>
              <a:t>语句后学生选课数据库的用户权限定义</a:t>
            </a:r>
            <a:endParaRPr lang="zh-CN" altLang="en-US" sz="1800" dirty="0"/>
          </a:p>
        </p:txBody>
      </p:sp>
      <p:graphicFrame>
        <p:nvGraphicFramePr>
          <p:cNvPr id="41989" name="Group 5"/>
          <p:cNvGraphicFramePr>
            <a:graphicFrameLocks noGrp="1"/>
          </p:cNvGraphicFramePr>
          <p:nvPr>
            <p:ph sz="half" idx="4294967295"/>
          </p:nvPr>
        </p:nvGraphicFramePr>
        <p:xfrm>
          <a:off x="1919288" y="1557338"/>
          <a:ext cx="8291512" cy="4664078"/>
        </p:xfrm>
        <a:graphic>
          <a:graphicData uri="http://schemas.openxmlformats.org/drawingml/2006/table">
            <a:tbl>
              <a:tblPr/>
              <a:tblGrid>
                <a:gridCol w="1436006"/>
                <a:gridCol w="1729697"/>
                <a:gridCol w="1802714"/>
                <a:gridCol w="1914674"/>
                <a:gridCol w="1408421"/>
              </a:tblGrid>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U3</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157">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Student.Sno</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81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U7</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endPar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2" name="Rectangle 2"/>
          <p:cNvSpPr>
            <a:spLocks noGrp="1" noChangeArrowheads="1"/>
          </p:cNvSpPr>
          <p:nvPr>
            <p:ph type="title" idx="4294967295"/>
          </p:nvPr>
        </p:nvSpPr>
        <p:spPr/>
        <p:txBody>
          <a:bodyPr/>
          <a:lstStyle/>
          <a:p>
            <a:pPr eaLnBrk="1" hangingPunct="1"/>
            <a:r>
              <a:rPr lang="zh-CN" altLang="zh-CN" sz="3600" dirty="0"/>
              <a:t>授权：授予与</a:t>
            </a:r>
            <a:r>
              <a:rPr lang="zh-CN" altLang="en-US" sz="3600" dirty="0"/>
              <a:t>收回</a:t>
            </a:r>
            <a:r>
              <a:rPr lang="zh-CN" altLang="zh-CN" sz="3600" dirty="0"/>
              <a:t>（续）</a:t>
            </a:r>
            <a:endParaRPr lang="zh-CN" altLang="zh-CN" sz="3600" dirty="0"/>
          </a:p>
        </p:txBody>
      </p:sp>
      <p:sp>
        <p:nvSpPr>
          <p:cNvPr id="61443" name="Rectangle 3"/>
          <p:cNvSpPr>
            <a:spLocks noGrp="1" noChangeArrowheads="1"/>
          </p:cNvSpPr>
          <p:nvPr>
            <p:ph type="body" idx="4294967295"/>
          </p:nvPr>
        </p:nvSpPr>
        <p:spPr>
          <a:xfrm>
            <a:off x="983432" y="1003301"/>
            <a:ext cx="10081120" cy="5089995"/>
          </a:xfrm>
        </p:spPr>
        <p:txBody>
          <a:bodyPr/>
          <a:lstStyle/>
          <a:p>
            <a:pPr algn="just" eaLnBrk="1" hangingPunct="1">
              <a:lnSpc>
                <a:spcPct val="120000"/>
              </a:lnSpc>
              <a:buFont typeface="Wingdings" panose="05000000000000000000" pitchFamily="2" charset="2"/>
              <a:buNone/>
            </a:pPr>
            <a:r>
              <a:rPr lang="en-US" altLang="zh-CN" dirty="0"/>
              <a:t>2.REVOKE</a:t>
            </a:r>
            <a:endParaRPr lang="en-US" altLang="zh-CN" dirty="0"/>
          </a:p>
          <a:p>
            <a:pPr algn="just" eaLnBrk="1" hangingPunct="1">
              <a:lnSpc>
                <a:spcPct val="120000"/>
              </a:lnSpc>
            </a:pPr>
            <a:r>
              <a:rPr lang="zh-CN" altLang="en-US" sz="2400" dirty="0"/>
              <a:t>授予的权限可以由数据库管理员或其他授权者用</a:t>
            </a:r>
            <a:r>
              <a:rPr lang="en-US" altLang="zh-CN" sz="2400" dirty="0"/>
              <a:t>REVOKE</a:t>
            </a:r>
            <a:r>
              <a:rPr lang="zh-CN" altLang="en-US" sz="2400" dirty="0"/>
              <a:t>语句收回</a:t>
            </a:r>
            <a:endParaRPr lang="en-US" altLang="zh-CN" sz="2400" dirty="0"/>
          </a:p>
          <a:p>
            <a:pPr algn="just" eaLnBrk="1" hangingPunct="1">
              <a:lnSpc>
                <a:spcPct val="120000"/>
              </a:lnSpc>
            </a:pPr>
            <a:r>
              <a:rPr lang="en-US" altLang="zh-CN" sz="2400" dirty="0"/>
              <a:t>REVOKE</a:t>
            </a:r>
            <a:r>
              <a:rPr lang="zh-CN" altLang="en-US" sz="2400" dirty="0"/>
              <a:t>语句的一般格式为：</a:t>
            </a:r>
            <a:endParaRPr lang="zh-CN" altLang="en-US" sz="2400" dirty="0"/>
          </a:p>
          <a:p>
            <a:pPr algn="just" eaLnBrk="1" hangingPunct="1">
              <a:lnSpc>
                <a:spcPct val="120000"/>
              </a:lnSpc>
              <a:buFont typeface="Wingdings" panose="05000000000000000000" pitchFamily="2" charset="2"/>
              <a:buNone/>
            </a:pPr>
            <a:r>
              <a:rPr lang="zh-CN" altLang="en-US" sz="2400" dirty="0"/>
              <a:t>    </a:t>
            </a:r>
            <a:r>
              <a:rPr lang="en-US" altLang="zh-CN" sz="2400" dirty="0"/>
              <a:t>REVOKE &lt;</a:t>
            </a:r>
            <a:r>
              <a:rPr lang="zh-CN" altLang="en-US" sz="2400" dirty="0"/>
              <a:t>权限</a:t>
            </a:r>
            <a:r>
              <a:rPr lang="en-US" altLang="zh-CN" sz="2400" dirty="0"/>
              <a:t>&gt;[,&lt;</a:t>
            </a:r>
            <a:r>
              <a:rPr lang="zh-CN" altLang="en-US" sz="2400" dirty="0"/>
              <a:t>权限</a:t>
            </a:r>
            <a:r>
              <a:rPr lang="en-US" altLang="zh-CN" sz="2400" dirty="0"/>
              <a:t>&gt;]... </a:t>
            </a:r>
            <a:endParaRPr lang="en-US" altLang="zh-CN" sz="2400" dirty="0"/>
          </a:p>
          <a:p>
            <a:pPr algn="just" eaLnBrk="1" hangingPunct="1">
              <a:lnSpc>
                <a:spcPct val="120000"/>
              </a:lnSpc>
              <a:buFont typeface="Wingdings" panose="05000000000000000000"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&gt;&lt;</a:t>
            </a:r>
            <a:r>
              <a:rPr lang="zh-CN" altLang="en-US" sz="2400" dirty="0"/>
              <a:t>对象名</a:t>
            </a:r>
            <a:r>
              <a:rPr lang="en-US" altLang="zh-CN" sz="2400" dirty="0"/>
              <a:t>&gt;]…</a:t>
            </a:r>
            <a:endParaRPr lang="en-US" altLang="zh-CN" sz="2400" dirty="0"/>
          </a:p>
          <a:p>
            <a:pPr algn="just" eaLnBrk="1" hangingPunct="1">
              <a:lnSpc>
                <a:spcPct val="120000"/>
              </a:lnSpc>
              <a:buFont typeface="Wingdings" panose="05000000000000000000" pitchFamily="2" charset="2"/>
              <a:buNone/>
            </a:pPr>
            <a:r>
              <a:rPr lang="en-US" altLang="zh-CN" sz="2400" dirty="0"/>
              <a:t>    FROM &lt;</a:t>
            </a:r>
            <a:r>
              <a:rPr lang="zh-CN" altLang="en-US" sz="2400" dirty="0"/>
              <a:t>用户</a:t>
            </a:r>
            <a:r>
              <a:rPr lang="en-US" altLang="zh-CN" sz="2400" dirty="0"/>
              <a:t>&gt;[,&lt;</a:t>
            </a:r>
            <a:r>
              <a:rPr lang="zh-CN" altLang="en-US" sz="2400" dirty="0"/>
              <a:t>用户</a:t>
            </a:r>
            <a:r>
              <a:rPr lang="en-US" altLang="zh-CN" sz="2400" dirty="0"/>
              <a:t>&gt;]...[CASCADE | RESTRICT];</a:t>
            </a:r>
            <a:endParaRPr lang="en-US" altLang="zh-CN" sz="2400" dirty="0"/>
          </a:p>
          <a:p>
            <a:pPr lvl="1" algn="just" eaLnBrk="1" hangingPunct="1">
              <a:lnSpc>
                <a:spcPct val="120000"/>
              </a:lnSpc>
            </a:pPr>
            <a:r>
              <a:rPr lang="zh-CN" altLang="en-US" sz="2000" dirty="0"/>
              <a:t>指定了</a:t>
            </a:r>
            <a:r>
              <a:rPr lang="en-US" altLang="zh-CN" sz="2000" dirty="0"/>
              <a:t>CASCADE</a:t>
            </a:r>
            <a:r>
              <a:rPr lang="zh-CN" altLang="en-US" sz="2000" dirty="0"/>
              <a:t>，则级联收回授予的权限</a:t>
            </a:r>
            <a:endParaRPr lang="en-US" altLang="zh-CN" sz="2000" dirty="0"/>
          </a:p>
          <a:p>
            <a:pPr lvl="1" algn="just" eaLnBrk="1" hangingPunct="1">
              <a:lnSpc>
                <a:spcPct val="120000"/>
              </a:lnSpc>
            </a:pPr>
            <a:r>
              <a:rPr lang="zh-CN" altLang="en-US" sz="2000" dirty="0"/>
              <a:t>指定了</a:t>
            </a:r>
            <a:r>
              <a:rPr lang="en-US" altLang="zh-CN" sz="2000" dirty="0"/>
              <a:t>RESTRICT</a:t>
            </a:r>
            <a:r>
              <a:rPr lang="zh-CN" altLang="en-US" sz="2000" dirty="0"/>
              <a:t>，如果转授了权限，则不能收回</a:t>
            </a:r>
            <a:endParaRPr lang="en-US" altLang="zh-CN" sz="2000" dirty="0"/>
          </a:p>
          <a:p>
            <a:pPr lvl="1" algn="just" eaLnBrk="1" hangingPunct="1">
              <a:lnSpc>
                <a:spcPct val="120000"/>
              </a:lnSpc>
            </a:pPr>
            <a:r>
              <a:rPr lang="zh-CN" altLang="en-US" sz="2000" dirty="0"/>
              <a:t>默认值为</a:t>
            </a:r>
            <a:r>
              <a:rPr lang="en-US" altLang="zh-CN" sz="2000" dirty="0"/>
              <a:t>RESTRICT</a:t>
            </a:r>
            <a:endParaRPr lang="en-US" altLang="zh-CN" sz="2000" dirty="0"/>
          </a:p>
          <a:p>
            <a:pPr eaLnBrk="1" hangingPunct="1"/>
            <a:endParaRPr lang="en-US" altLang="zh-CN"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6"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2467" name="Rectangle 3"/>
          <p:cNvSpPr>
            <a:spLocks noGrp="1" noChangeArrowheads="1"/>
          </p:cNvSpPr>
          <p:nvPr>
            <p:ph type="body" idx="4294967295"/>
          </p:nvPr>
        </p:nvSpPr>
        <p:spPr/>
        <p:txBody>
          <a:bodyPr/>
          <a:lstStyle/>
          <a:p>
            <a:pPr algn="just" eaLnBrk="1" hangingPunct="1">
              <a:buFont typeface="Wingdings" panose="05000000000000000000" pitchFamily="2" charset="2"/>
              <a:buNone/>
            </a:pPr>
            <a:r>
              <a:rPr lang="en-US" altLang="zh-CN" dirty="0"/>
              <a:t>[</a:t>
            </a:r>
            <a:r>
              <a:rPr lang="zh-CN" altLang="en-US" dirty="0"/>
              <a:t>例4.</a:t>
            </a:r>
            <a:r>
              <a:rPr lang="en-US" altLang="zh-CN" dirty="0"/>
              <a:t>8] </a:t>
            </a:r>
            <a:r>
              <a:rPr lang="zh-CN" altLang="en-US" dirty="0"/>
              <a:t>把用户</a:t>
            </a:r>
            <a:r>
              <a:rPr lang="en-US" altLang="zh-CN" dirty="0"/>
              <a:t>U4</a:t>
            </a:r>
            <a:r>
              <a:rPr lang="zh-CN" altLang="en-US" dirty="0"/>
              <a:t>修改学生学号的权限收回</a:t>
            </a:r>
            <a:endParaRPr lang="zh-CN" altLang="en-US" dirty="0"/>
          </a:p>
          <a:p>
            <a:pPr algn="just" eaLnBrk="1" hangingPunct="1">
              <a:buFont typeface="Wingdings" panose="05000000000000000000" pitchFamily="2" charset="2"/>
              <a:buNone/>
            </a:pPr>
            <a:endParaRPr lang="zh-CN" altLang="en-US" dirty="0"/>
          </a:p>
          <a:p>
            <a:pPr algn="just" eaLnBrk="1" hangingPunct="1">
              <a:lnSpc>
                <a:spcPct val="130000"/>
              </a:lnSpc>
              <a:buFont typeface="Wingdings" panose="05000000000000000000" pitchFamily="2" charset="2"/>
              <a:buNone/>
            </a:pPr>
            <a:r>
              <a:rPr lang="zh-CN" altLang="en-US" dirty="0"/>
              <a:t>		</a:t>
            </a:r>
            <a:r>
              <a:rPr lang="en-US" altLang="zh-CN" dirty="0"/>
              <a:t>REVOKE UPDATE(</a:t>
            </a:r>
            <a:r>
              <a:rPr lang="en-US" altLang="zh-CN" dirty="0" err="1"/>
              <a:t>Sno</a:t>
            </a:r>
            <a:r>
              <a:rPr lang="en-US" altLang="zh-CN" dirty="0"/>
              <a:t>)</a:t>
            </a:r>
            <a:endParaRPr lang="en-US" altLang="zh-CN" dirty="0"/>
          </a:p>
          <a:p>
            <a:pPr algn="just" eaLnBrk="1" hangingPunct="1">
              <a:lnSpc>
                <a:spcPct val="130000"/>
              </a:lnSpc>
              <a:buFont typeface="Wingdings" panose="05000000000000000000" pitchFamily="2" charset="2"/>
              <a:buNone/>
            </a:pPr>
            <a:r>
              <a:rPr lang="en-US" altLang="zh-CN" dirty="0"/>
              <a:t>		ON TABLE Student </a:t>
            </a:r>
            <a:endParaRPr lang="en-US" altLang="zh-CN" dirty="0"/>
          </a:p>
          <a:p>
            <a:pPr algn="just" eaLnBrk="1" hangingPunct="1">
              <a:lnSpc>
                <a:spcPct val="130000"/>
              </a:lnSpc>
              <a:buFont typeface="Wingdings" panose="05000000000000000000" pitchFamily="2" charset="2"/>
              <a:buNone/>
            </a:pPr>
            <a:r>
              <a:rPr lang="en-US" altLang="zh-CN" dirty="0"/>
              <a:t>		FROM U4;</a:t>
            </a:r>
            <a:endParaRPr lang="en-US" altLang="zh-CN"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0"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3491"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dirty="0"/>
              <a:t>[</a:t>
            </a:r>
            <a:r>
              <a:rPr lang="zh-CN" altLang="en-US" dirty="0"/>
              <a:t>例4.</a:t>
            </a:r>
            <a:r>
              <a:rPr lang="en-US" altLang="zh-CN" dirty="0"/>
              <a:t>9] </a:t>
            </a:r>
            <a:r>
              <a:rPr lang="zh-CN" altLang="en-US" dirty="0"/>
              <a:t>收回所有用户对表</a:t>
            </a:r>
            <a:r>
              <a:rPr lang="en-US" altLang="zh-CN" dirty="0"/>
              <a:t>SC</a:t>
            </a:r>
            <a:r>
              <a:rPr lang="zh-CN" altLang="en-US" dirty="0"/>
              <a:t>的查询权限</a:t>
            </a:r>
            <a:endParaRPr lang="zh-CN" altLang="en-US" dirty="0"/>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zh-CN" altLang="en-US" dirty="0"/>
              <a:t>		</a:t>
            </a:r>
            <a:r>
              <a:rPr lang="en-US" altLang="zh-CN" dirty="0"/>
              <a:t>REVOKE SELECT </a:t>
            </a:r>
            <a:endParaRPr lang="en-US" altLang="zh-CN" dirty="0"/>
          </a:p>
          <a:p>
            <a:pPr eaLnBrk="1" hangingPunct="1">
              <a:buFont typeface="Wingdings" panose="05000000000000000000" pitchFamily="2" charset="2"/>
              <a:buNone/>
            </a:pPr>
            <a:r>
              <a:rPr lang="en-US" altLang="zh-CN" dirty="0"/>
              <a:t>		ON TABLE SC </a:t>
            </a:r>
            <a:endParaRPr lang="en-US" altLang="zh-CN" dirty="0"/>
          </a:p>
          <a:p>
            <a:pPr eaLnBrk="1" hangingPunct="1">
              <a:buFont typeface="Wingdings" panose="05000000000000000000" pitchFamily="2" charset="2"/>
              <a:buNone/>
            </a:pPr>
            <a:r>
              <a:rPr lang="en-US" altLang="zh-CN" dirty="0"/>
              <a:t>		FROM </a:t>
            </a:r>
            <a:r>
              <a:rPr lang="en-US" altLang="zh-CN" dirty="0">
                <a:solidFill>
                  <a:srgbClr val="E02920"/>
                </a:solidFill>
              </a:rPr>
              <a:t>PUBLIC</a:t>
            </a:r>
            <a:r>
              <a:rPr lang="en-US" altLang="zh-CN" dirty="0"/>
              <a:t>;</a:t>
            </a:r>
            <a:endParaRPr lang="en-US" altLang="zh-CN" dirty="0"/>
          </a:p>
          <a:p>
            <a:pPr eaLnBrk="1" hangingPunct="1">
              <a:buFont typeface="Wingdings" panose="05000000000000000000" pitchFamily="2" charset="2"/>
              <a:buNone/>
            </a:pPr>
            <a:r>
              <a:rPr lang="en-US" altLang="zh-CN" dirty="0"/>
              <a:t>    </a:t>
            </a:r>
            <a:endParaRPr lang="en-US" altLang="zh-CN" dirty="0"/>
          </a:p>
          <a:p>
            <a:pPr eaLnBrk="1" hangingPunct="1"/>
            <a:endParaRPr lang="en-US" altLang="zh-CN"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4514"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4515" name="Rectangle 3"/>
          <p:cNvSpPr>
            <a:spLocks noGrp="1" noChangeArrowheads="1"/>
          </p:cNvSpPr>
          <p:nvPr>
            <p:ph type="body" idx="4294967295"/>
          </p:nvPr>
        </p:nvSpPr>
        <p:spPr>
          <a:xfrm>
            <a:off x="609600" y="1340768"/>
            <a:ext cx="10887000" cy="4536504"/>
          </a:xfrm>
        </p:spPr>
        <p:txBody>
          <a:bodyPr/>
          <a:lstStyle/>
          <a:p>
            <a:pPr eaLnBrk="1" hangingPunct="1">
              <a:buFont typeface="Wingdings" panose="05000000000000000000" pitchFamily="2" charset="2"/>
              <a:buNone/>
            </a:pPr>
            <a:r>
              <a:rPr lang="en-US" altLang="zh-CN" dirty="0"/>
              <a:t>[</a:t>
            </a:r>
            <a:r>
              <a:rPr lang="zh-CN" altLang="en-US" dirty="0"/>
              <a:t>例4.</a:t>
            </a:r>
            <a:r>
              <a:rPr lang="en-US" altLang="zh-CN" dirty="0"/>
              <a:t>10] </a:t>
            </a:r>
            <a:r>
              <a:rPr lang="zh-CN" altLang="en-US" dirty="0"/>
              <a:t>把用户</a:t>
            </a:r>
            <a:r>
              <a:rPr lang="en-US" altLang="zh-CN" dirty="0"/>
              <a:t>U5</a:t>
            </a:r>
            <a:r>
              <a:rPr lang="zh-CN" altLang="en-US" dirty="0"/>
              <a:t>对</a:t>
            </a:r>
            <a:r>
              <a:rPr lang="en-US" altLang="zh-CN" dirty="0"/>
              <a:t>SC</a:t>
            </a:r>
            <a:r>
              <a:rPr lang="zh-CN" altLang="en-US" dirty="0"/>
              <a:t>表的</a:t>
            </a:r>
            <a:r>
              <a:rPr lang="en-US" altLang="zh-CN" dirty="0"/>
              <a:t>INSERT</a:t>
            </a:r>
            <a:r>
              <a:rPr lang="zh-CN" altLang="en-US" dirty="0"/>
              <a:t>权限收回</a:t>
            </a:r>
            <a:endParaRPr lang="zh-CN" altLang="en-US" dirty="0"/>
          </a:p>
          <a:p>
            <a:pPr eaLnBrk="1" hangingPunct="1">
              <a:buFont typeface="Wingdings" panose="05000000000000000000" pitchFamily="2" charset="2"/>
              <a:buNone/>
            </a:pPr>
            <a:r>
              <a:rPr lang="zh-CN" altLang="en-US" dirty="0"/>
              <a:t>		</a:t>
            </a:r>
            <a:r>
              <a:rPr lang="en-US" altLang="zh-CN" sz="2400" dirty="0"/>
              <a:t>REVOKE INSERT </a:t>
            </a:r>
            <a:endParaRPr lang="en-US" altLang="zh-CN" sz="2400" dirty="0"/>
          </a:p>
          <a:p>
            <a:pPr eaLnBrk="1" hangingPunct="1">
              <a:buFont typeface="Wingdings" panose="05000000000000000000" pitchFamily="2" charset="2"/>
              <a:buNone/>
            </a:pPr>
            <a:r>
              <a:rPr lang="en-US" altLang="zh-CN" sz="2400" dirty="0"/>
              <a:t>		ON TABLE SC </a:t>
            </a:r>
            <a:endParaRPr lang="en-US" altLang="zh-CN" sz="2400" dirty="0"/>
          </a:p>
          <a:p>
            <a:pPr eaLnBrk="1" hangingPunct="1">
              <a:buFont typeface="Wingdings" panose="05000000000000000000" pitchFamily="2" charset="2"/>
              <a:buNone/>
            </a:pPr>
            <a:r>
              <a:rPr lang="en-US" altLang="zh-CN" sz="2400" dirty="0"/>
              <a:t>		FROM U5 CASCADE ;</a:t>
            </a:r>
            <a:endParaRPr lang="en-US" altLang="zh-CN" sz="2400" dirty="0"/>
          </a:p>
          <a:p>
            <a:pPr lvl="1" eaLnBrk="1" hangingPunct="1">
              <a:lnSpc>
                <a:spcPct val="150000"/>
              </a:lnSpc>
            </a:pPr>
            <a:endParaRPr lang="en-US" altLang="zh-CN" dirty="0"/>
          </a:p>
          <a:p>
            <a:pPr lvl="1" algn="just" eaLnBrk="1" hangingPunct="1">
              <a:lnSpc>
                <a:spcPct val="150000"/>
              </a:lnSpc>
            </a:pPr>
            <a:r>
              <a:rPr lang="zh-CN" altLang="en-US" dirty="0"/>
              <a:t>将用户</a:t>
            </a:r>
            <a:r>
              <a:rPr lang="en-US" altLang="zh-CN" dirty="0"/>
              <a:t>U5</a:t>
            </a:r>
            <a:r>
              <a:rPr lang="zh-CN" altLang="en-US" dirty="0"/>
              <a:t>的</a:t>
            </a:r>
            <a:r>
              <a:rPr lang="en-US" altLang="zh-CN" dirty="0"/>
              <a:t>INSERT</a:t>
            </a:r>
            <a:r>
              <a:rPr lang="zh-CN" altLang="en-US" dirty="0"/>
              <a:t>权限收回，同时级联也收回了</a:t>
            </a:r>
            <a:r>
              <a:rPr lang="en-US" altLang="zh-CN" dirty="0"/>
              <a:t>U6</a:t>
            </a:r>
            <a:r>
              <a:rPr lang="zh-CN" altLang="en-US" dirty="0"/>
              <a:t>和</a:t>
            </a:r>
            <a:r>
              <a:rPr lang="en-US" altLang="zh-CN" dirty="0"/>
              <a:t>U7</a:t>
            </a:r>
            <a:r>
              <a:rPr lang="zh-CN" altLang="en-US" dirty="0"/>
              <a:t>的</a:t>
            </a:r>
            <a:r>
              <a:rPr lang="en-US" altLang="zh-CN" dirty="0"/>
              <a:t>INSERT</a:t>
            </a:r>
            <a:r>
              <a:rPr lang="zh-CN" altLang="en-US" dirty="0"/>
              <a:t>权限</a:t>
            </a:r>
            <a:endParaRPr lang="zh-CN" altLang="en-US" dirty="0"/>
          </a:p>
          <a:p>
            <a:pPr lvl="1" algn="just" eaLnBrk="1" hangingPunct="1">
              <a:lnSpc>
                <a:spcPct val="150000"/>
              </a:lnSpc>
            </a:pPr>
            <a:r>
              <a:rPr lang="zh-CN" altLang="en-US" dirty="0"/>
              <a:t>如果</a:t>
            </a:r>
            <a:r>
              <a:rPr lang="en-US" altLang="zh-CN" dirty="0"/>
              <a:t>U6</a:t>
            </a:r>
            <a:r>
              <a:rPr lang="zh-CN" altLang="en-US" dirty="0"/>
              <a:t>或</a:t>
            </a:r>
            <a:r>
              <a:rPr lang="en-US" altLang="zh-CN" dirty="0"/>
              <a:t>U7</a:t>
            </a:r>
            <a:r>
              <a:rPr lang="zh-CN" altLang="en-US" dirty="0"/>
              <a:t>还从其他用户处获得对</a:t>
            </a:r>
            <a:r>
              <a:rPr lang="en-US" altLang="zh-CN" dirty="0"/>
              <a:t>SC</a:t>
            </a:r>
            <a:r>
              <a:rPr lang="zh-CN" altLang="en-US" dirty="0"/>
              <a:t>表的</a:t>
            </a:r>
            <a:r>
              <a:rPr lang="en-US" altLang="zh-CN" dirty="0"/>
              <a:t>INSERT</a:t>
            </a:r>
            <a:r>
              <a:rPr lang="zh-CN" altLang="en-US" dirty="0"/>
              <a:t>权限，则他们仍具有此权限，系统只收回直接或间接从</a:t>
            </a:r>
            <a:r>
              <a:rPr lang="en-US" altLang="zh-CN" dirty="0"/>
              <a:t>U5</a:t>
            </a:r>
            <a:r>
              <a:rPr lang="zh-CN" altLang="en-US" dirty="0"/>
              <a:t>处获得的权限 </a:t>
            </a:r>
            <a:endParaRPr lang="zh-CN" alt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5538" name="Rectangle 2"/>
          <p:cNvSpPr>
            <a:spLocks noGrp="1" noChangeArrowheads="1"/>
          </p:cNvSpPr>
          <p:nvPr>
            <p:ph type="title" idx="4294967295"/>
          </p:nvPr>
        </p:nvSpPr>
        <p:spPr/>
        <p:txBody>
          <a:bodyPr/>
          <a:lstStyle/>
          <a:p>
            <a:pPr eaLnBrk="1" hangingPunct="1"/>
            <a:r>
              <a:rPr lang="en-US" altLang="zh-CN" sz="3600"/>
              <a:t>REVOKE</a:t>
            </a:r>
            <a:r>
              <a:rPr lang="zh-CN" altLang="en-US" sz="3600"/>
              <a:t>（续）</a:t>
            </a:r>
            <a:endParaRPr lang="zh-CN" altLang="en-US" sz="3600"/>
          </a:p>
        </p:txBody>
      </p:sp>
      <p:sp>
        <p:nvSpPr>
          <p:cNvPr id="65539" name="Rectangle 3"/>
          <p:cNvSpPr>
            <a:spLocks noGrp="1" noChangeArrowheads="1"/>
          </p:cNvSpPr>
          <p:nvPr>
            <p:ph type="body" sz="half" idx="4294967295"/>
          </p:nvPr>
        </p:nvSpPr>
        <p:spPr>
          <a:xfrm>
            <a:off x="1307629" y="1379986"/>
            <a:ext cx="8578850" cy="588963"/>
          </a:xfrm>
        </p:spPr>
        <p:txBody>
          <a:bodyPr/>
          <a:lstStyle/>
          <a:p>
            <a:pPr algn="ctr" eaLnBrk="1" hangingPunct="1">
              <a:buFont typeface="Wingdings" panose="05000000000000000000" pitchFamily="2" charset="2"/>
              <a:buNone/>
            </a:pPr>
            <a:r>
              <a:rPr lang="en-US" altLang="zh-CN" sz="2000" dirty="0"/>
              <a:t>    </a:t>
            </a:r>
            <a:r>
              <a:rPr lang="zh-CN" altLang="en-US" sz="2400" dirty="0"/>
              <a:t>执行例4.</a:t>
            </a:r>
            <a:r>
              <a:rPr lang="en-US" altLang="zh-CN" sz="2400" dirty="0"/>
              <a:t>8~</a:t>
            </a:r>
            <a:r>
              <a:rPr lang="zh-CN" altLang="en-US" sz="2400" dirty="0"/>
              <a:t>4.</a:t>
            </a:r>
            <a:r>
              <a:rPr lang="en-US" altLang="zh-CN" sz="2400" dirty="0"/>
              <a:t>10</a:t>
            </a:r>
            <a:r>
              <a:rPr lang="zh-CN" altLang="en-US" sz="2400" dirty="0"/>
              <a:t>语句后学生选课数据库的用户权限定义</a:t>
            </a:r>
            <a:endParaRPr lang="zh-CN" altLang="en-US" sz="2400" dirty="0"/>
          </a:p>
        </p:txBody>
      </p:sp>
      <p:graphicFrame>
        <p:nvGraphicFramePr>
          <p:cNvPr id="47109" name="Group 5"/>
          <p:cNvGraphicFramePr>
            <a:graphicFrameLocks noGrp="1"/>
          </p:cNvGraphicFramePr>
          <p:nvPr>
            <p:ph sz="half" idx="4294967295"/>
          </p:nvPr>
        </p:nvGraphicFramePr>
        <p:xfrm>
          <a:off x="1055440" y="2060848"/>
          <a:ext cx="9659293" cy="3169068"/>
        </p:xfrm>
        <a:graphic>
          <a:graphicData uri="http://schemas.openxmlformats.org/drawingml/2006/table">
            <a:tbl>
              <a:tblPr/>
              <a:tblGrid>
                <a:gridCol w="1672069"/>
                <a:gridCol w="1977191"/>
                <a:gridCol w="2097496"/>
                <a:gridCol w="2291031"/>
                <a:gridCol w="1621506"/>
              </a:tblGrid>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72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endPar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endPar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anose="05000000000000000000" pitchFamily="2" charset="2"/>
                        <a:buNone/>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endPar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6562" name="Rectangle 2"/>
          <p:cNvSpPr>
            <a:spLocks noGrp="1" noChangeArrowheads="1"/>
          </p:cNvSpPr>
          <p:nvPr>
            <p:ph type="title" idx="4294967295"/>
          </p:nvPr>
        </p:nvSpPr>
        <p:spPr>
          <a:xfrm>
            <a:off x="2438400" y="-46038"/>
            <a:ext cx="7772400" cy="1139826"/>
          </a:xfrm>
        </p:spPr>
        <p:txBody>
          <a:bodyPr/>
          <a:lstStyle/>
          <a:p>
            <a:pPr eaLnBrk="1" hangingPunct="1"/>
            <a:r>
              <a:rPr lang="en-US" altLang="zh-CN" sz="3600" dirty="0"/>
              <a:t>SQL</a:t>
            </a:r>
            <a:r>
              <a:rPr lang="zh-CN" altLang="en-US" sz="3600" dirty="0">
                <a:latin typeface="宋体" panose="02010600030101010101" pitchFamily="2" charset="-122"/>
              </a:rPr>
              <a:t>灵活的授权机制</a:t>
            </a:r>
            <a:endParaRPr lang="zh-CN" altLang="en-US" sz="3600" dirty="0">
              <a:latin typeface="宋体" panose="02010600030101010101" pitchFamily="2" charset="-122"/>
            </a:endParaRPr>
          </a:p>
        </p:txBody>
      </p:sp>
      <p:sp>
        <p:nvSpPr>
          <p:cNvPr id="66563" name="Rectangle 3"/>
          <p:cNvSpPr>
            <a:spLocks noGrp="1" noChangeArrowheads="1"/>
          </p:cNvSpPr>
          <p:nvPr>
            <p:ph type="body" idx="4294967295"/>
          </p:nvPr>
        </p:nvSpPr>
        <p:spPr>
          <a:xfrm>
            <a:off x="695400" y="1196752"/>
            <a:ext cx="10441160" cy="5019476"/>
          </a:xfrm>
        </p:spPr>
        <p:txBody>
          <a:bodyPr/>
          <a:lstStyle/>
          <a:p>
            <a:pPr eaLnBrk="1" hangingPunct="1"/>
            <a:r>
              <a:rPr lang="zh-CN" altLang="en-US" dirty="0"/>
              <a:t>数据库管理员：</a:t>
            </a:r>
            <a:endParaRPr lang="en-US" altLang="zh-CN" dirty="0"/>
          </a:p>
          <a:p>
            <a:pPr lvl="1" eaLnBrk="1" hangingPunct="1"/>
            <a:r>
              <a:rPr lang="zh-CN" altLang="en-US" sz="2000" dirty="0"/>
              <a:t>拥有所有对象的所有权限</a:t>
            </a:r>
            <a:endParaRPr lang="zh-CN" altLang="en-US" sz="2000" dirty="0"/>
          </a:p>
          <a:p>
            <a:pPr lvl="1" eaLnBrk="1" hangingPunct="1"/>
            <a:r>
              <a:rPr lang="zh-CN" altLang="en-US" sz="2200" dirty="0"/>
              <a:t>根据实际情况不同的权限授予不同的用户</a:t>
            </a:r>
            <a:endParaRPr lang="zh-CN" altLang="en-US" sz="2200" dirty="0"/>
          </a:p>
          <a:p>
            <a:pPr algn="just" eaLnBrk="1" hangingPunct="1"/>
            <a:r>
              <a:rPr lang="zh-CN" altLang="en-US" dirty="0"/>
              <a:t>用户：</a:t>
            </a:r>
            <a:endParaRPr lang="en-US" altLang="zh-CN" dirty="0"/>
          </a:p>
          <a:p>
            <a:pPr lvl="1" algn="just" eaLnBrk="1" hangingPunct="1"/>
            <a:r>
              <a:rPr lang="zh-CN" altLang="en-US" sz="2000" dirty="0"/>
              <a:t>拥有自己建立的对象的全部的操作权限</a:t>
            </a:r>
            <a:endParaRPr lang="zh-CN" altLang="en-US" sz="2000" dirty="0"/>
          </a:p>
          <a:p>
            <a:pPr lvl="1" eaLnBrk="1" hangingPunct="1"/>
            <a:r>
              <a:rPr lang="zh-CN" altLang="en-US" sz="2200" dirty="0"/>
              <a:t>可以使用</a:t>
            </a:r>
            <a:r>
              <a:rPr lang="en-US" altLang="zh-CN" sz="2200" dirty="0"/>
              <a:t>GRANT</a:t>
            </a:r>
            <a:r>
              <a:rPr lang="zh-CN" altLang="en-US" sz="2200" dirty="0"/>
              <a:t>，把权限授予其他用户</a:t>
            </a:r>
            <a:endParaRPr lang="zh-CN" altLang="en-US" sz="2200" dirty="0"/>
          </a:p>
          <a:p>
            <a:pPr algn="just" eaLnBrk="1" hangingPunct="1"/>
            <a:r>
              <a:rPr lang="zh-CN" altLang="en-US" dirty="0"/>
              <a:t>被授权的用户</a:t>
            </a:r>
            <a:endParaRPr lang="zh-CN" altLang="en-US" dirty="0"/>
          </a:p>
          <a:p>
            <a:pPr lvl="1" eaLnBrk="1" hangingPunct="1"/>
            <a:r>
              <a:rPr lang="zh-CN" altLang="en-US" sz="2200" dirty="0"/>
              <a:t>如果具有</a:t>
            </a:r>
            <a:r>
              <a:rPr lang="en-US" altLang="zh-CN" sz="2200" dirty="0">
                <a:solidFill>
                  <a:srgbClr val="0070C0"/>
                </a:solidFill>
              </a:rPr>
              <a:t>WITH</a:t>
            </a:r>
            <a:r>
              <a:rPr lang="zh-CN" altLang="en-US" sz="2200" dirty="0">
                <a:solidFill>
                  <a:srgbClr val="0070C0"/>
                </a:solidFill>
              </a:rPr>
              <a:t> </a:t>
            </a:r>
            <a:r>
              <a:rPr lang="en-US" altLang="zh-CN" sz="2200" dirty="0">
                <a:solidFill>
                  <a:srgbClr val="0070C0"/>
                </a:solidFill>
              </a:rPr>
              <a:t>GRANT</a:t>
            </a:r>
            <a:r>
              <a:rPr lang="zh-CN" altLang="en-US" sz="2200" dirty="0">
                <a:solidFill>
                  <a:srgbClr val="0070C0"/>
                </a:solidFill>
              </a:rPr>
              <a:t> </a:t>
            </a:r>
            <a:r>
              <a:rPr lang="en-US" altLang="zh-CN" sz="2200" dirty="0">
                <a:solidFill>
                  <a:srgbClr val="0070C0"/>
                </a:solidFill>
              </a:rPr>
              <a:t>OPTION</a:t>
            </a:r>
            <a:r>
              <a:rPr lang="zh-CN" altLang="en-US" sz="2200" dirty="0"/>
              <a:t>的许可，可以把获得的权限再授予其他用户</a:t>
            </a:r>
            <a:endParaRPr lang="zh-CN" altLang="en-US" sz="2200" dirty="0"/>
          </a:p>
          <a:p>
            <a:pPr eaLnBrk="1" hangingPunct="1"/>
            <a:r>
              <a:rPr lang="zh-CN" altLang="en-US" dirty="0"/>
              <a:t>所有授予出去的权力在必要时又都可用</a:t>
            </a:r>
            <a:r>
              <a:rPr lang="en-US" altLang="zh-CN" dirty="0"/>
              <a:t>REVOKE</a:t>
            </a:r>
            <a:r>
              <a:rPr lang="zh-CN" altLang="en-US" dirty="0"/>
              <a:t>语句收回</a:t>
            </a:r>
            <a:endParaRPr lang="zh-CN" alt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页脚占位符 5"/>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7586" name="Rectangle 2"/>
          <p:cNvSpPr>
            <a:spLocks noGrp="1" noChangeArrowheads="1"/>
          </p:cNvSpPr>
          <p:nvPr>
            <p:ph type="title" idx="4294967295"/>
          </p:nvPr>
        </p:nvSpPr>
        <p:spPr/>
        <p:txBody>
          <a:bodyPr/>
          <a:lstStyle/>
          <a:p>
            <a:pPr eaLnBrk="1" hangingPunct="1">
              <a:defRPr/>
            </a:pPr>
            <a:r>
              <a:rPr lang="zh-CN" altLang="zh-CN" sz="3600" dirty="0"/>
              <a:t>授权：授予与</a:t>
            </a:r>
            <a:r>
              <a:rPr lang="zh-CN" altLang="en-US" sz="3600" dirty="0"/>
              <a:t>收回</a:t>
            </a:r>
            <a:r>
              <a:rPr lang="zh-CN" altLang="zh-CN" sz="3600" dirty="0"/>
              <a:t>（续）</a:t>
            </a:r>
            <a:endParaRPr lang="zh-CN" altLang="zh-CN" sz="3600" dirty="0">
              <a:solidFill>
                <a:schemeClr val="tx1"/>
              </a:solidFill>
              <a:highlight>
                <a:srgbClr val="FFFF00"/>
              </a:highlight>
            </a:endParaRPr>
          </a:p>
        </p:txBody>
      </p:sp>
      <p:sp>
        <p:nvSpPr>
          <p:cNvPr id="67587" name="Rectangle 3"/>
          <p:cNvSpPr>
            <a:spLocks noGrp="1" noChangeArrowheads="1"/>
          </p:cNvSpPr>
          <p:nvPr>
            <p:ph type="body" sz="half" idx="4294967295"/>
          </p:nvPr>
        </p:nvSpPr>
        <p:spPr>
          <a:xfrm>
            <a:off x="281354" y="1067954"/>
            <a:ext cx="10927214" cy="4795081"/>
          </a:xfrm>
        </p:spPr>
        <p:txBody>
          <a:bodyPr/>
          <a:lstStyle/>
          <a:p>
            <a:pPr eaLnBrk="1" hangingPunct="1">
              <a:lnSpc>
                <a:spcPct val="150000"/>
              </a:lnSpc>
              <a:buFont typeface="Wingdings" panose="05000000000000000000" pitchFamily="2" charset="2"/>
              <a:buNone/>
              <a:defRPr/>
            </a:pPr>
            <a:r>
              <a:rPr lang="en-US" altLang="zh-CN" dirty="0"/>
              <a:t>3.</a:t>
            </a:r>
            <a:r>
              <a:rPr lang="zh-CN" altLang="en-US" dirty="0"/>
              <a:t>创建数据库的权限</a:t>
            </a:r>
            <a:endParaRPr lang="zh-CN" altLang="en-US" sz="900" dirty="0"/>
          </a:p>
          <a:p>
            <a:pPr lvl="1" algn="just" eaLnBrk="1" hangingPunct="1">
              <a:lnSpc>
                <a:spcPct val="125000"/>
              </a:lnSpc>
              <a:defRPr/>
            </a:pPr>
            <a:r>
              <a:rPr lang="zh-CN" altLang="zh-CN" dirty="0"/>
              <a:t>创建数据库也需要进行安全控制，也是要授权</a:t>
            </a:r>
            <a:r>
              <a:rPr lang="zh-CN" altLang="en-US" dirty="0"/>
              <a:t>。</a:t>
            </a:r>
            <a:r>
              <a:rPr lang="zh-CN" altLang="zh-CN" dirty="0"/>
              <a:t>以金仓数据库</a:t>
            </a:r>
            <a:r>
              <a:rPr lang="en-US" altLang="zh-CN" dirty="0" err="1"/>
              <a:t>KingabseES</a:t>
            </a:r>
            <a:r>
              <a:rPr lang="zh-CN" altLang="zh-CN" dirty="0"/>
              <a:t>为例</a:t>
            </a:r>
            <a:endParaRPr lang="en-US" altLang="zh-CN" dirty="0"/>
          </a:p>
          <a:p>
            <a:pPr lvl="1" algn="just" eaLnBrk="1" hangingPunct="1">
              <a:lnSpc>
                <a:spcPct val="125000"/>
              </a:lnSpc>
              <a:defRPr/>
            </a:pPr>
            <a:r>
              <a:rPr lang="en-US" altLang="zh-CN" dirty="0"/>
              <a:t>CREATE USER</a:t>
            </a:r>
            <a:r>
              <a:rPr lang="zh-CN" altLang="zh-CN" dirty="0"/>
              <a:t>语句建立超级用户，再由超级用户创建具有</a:t>
            </a:r>
            <a:r>
              <a:rPr lang="en-US" altLang="zh-CN" dirty="0"/>
              <a:t>CREATE</a:t>
            </a:r>
            <a:r>
              <a:rPr lang="zh-CN" altLang="zh-CN" dirty="0"/>
              <a:t>数据库的用户</a:t>
            </a:r>
            <a:endParaRPr lang="en-US" altLang="zh-CN" dirty="0"/>
          </a:p>
          <a:p>
            <a:pPr lvl="1" algn="just" eaLnBrk="1" hangingPunct="1">
              <a:lnSpc>
                <a:spcPct val="125000"/>
              </a:lnSpc>
              <a:defRPr/>
            </a:pPr>
            <a:r>
              <a:rPr lang="en-US" altLang="zh-CN" dirty="0"/>
              <a:t>CREATE USER</a:t>
            </a:r>
            <a:r>
              <a:rPr lang="zh-CN" altLang="en-US" dirty="0"/>
              <a:t>语句格式</a:t>
            </a:r>
            <a:endParaRPr lang="zh-CN" altLang="en-US" dirty="0"/>
          </a:p>
          <a:p>
            <a:pPr marL="457200" lvl="1" indent="0" algn="just" eaLnBrk="1" hangingPunct="1">
              <a:lnSpc>
                <a:spcPct val="125000"/>
              </a:lnSpc>
              <a:buNone/>
              <a:defRPr/>
            </a:pPr>
            <a:r>
              <a:rPr lang="zh-CN" altLang="en-US" dirty="0"/>
              <a:t>           </a:t>
            </a:r>
            <a:r>
              <a:rPr lang="en-US" altLang="zh-CN" dirty="0"/>
              <a:t>CREATE  USER  &lt;username&gt;[WITH]         </a:t>
            </a:r>
            <a:endParaRPr lang="en-US" altLang="zh-CN" dirty="0"/>
          </a:p>
          <a:p>
            <a:pPr marL="457200" lvl="1" indent="0" algn="just" eaLnBrk="1" hangingPunct="1">
              <a:lnSpc>
                <a:spcPct val="125000"/>
              </a:lnSpc>
              <a:buNone/>
              <a:defRPr/>
            </a:pPr>
            <a:r>
              <a:rPr lang="en-US" altLang="zh-CN" dirty="0"/>
              <a:t>           [SUPERUSER|CREATEDB ]</a:t>
            </a:r>
            <a:endParaRPr lang="en-US" altLang="zh-CN" dirty="0"/>
          </a:p>
          <a:p>
            <a:pPr marL="457200" lvl="1" indent="0" algn="just" eaLnBrk="1" hangingPunct="1">
              <a:lnSpc>
                <a:spcPct val="125000"/>
              </a:lnSpc>
              <a:buNone/>
              <a:defRPr/>
            </a:pPr>
            <a:r>
              <a:rPr lang="en-US" altLang="zh-CN" dirty="0"/>
              <a:t>           |PASSWORD 'password';</a:t>
            </a:r>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351584"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479376" y="1340768"/>
            <a:ext cx="11233248" cy="4824536"/>
          </a:xfrm>
        </p:spPr>
        <p:txBody>
          <a:bodyPr/>
          <a:lstStyle/>
          <a:p>
            <a:r>
              <a:rPr lang="en-US" altLang="zh-CN" dirty="0"/>
              <a:t>CREATE USER</a:t>
            </a:r>
            <a:r>
              <a:rPr lang="zh-CN" altLang="en-US" dirty="0"/>
              <a:t>语句格式说明</a:t>
            </a:r>
            <a:endParaRPr lang="zh-CN" altLang="en-US" dirty="0"/>
          </a:p>
          <a:p>
            <a:pPr lvl="1">
              <a:lnSpc>
                <a:spcPct val="130000"/>
              </a:lnSpc>
            </a:pPr>
            <a:r>
              <a:rPr lang="zh-CN" altLang="en-US" dirty="0"/>
              <a:t>具有</a:t>
            </a:r>
            <a:r>
              <a:rPr lang="en-US" altLang="zh-CN" dirty="0"/>
              <a:t>SUPERUSER</a:t>
            </a:r>
            <a:r>
              <a:rPr lang="zh-CN" altLang="en-US" dirty="0"/>
              <a:t>权限的用户是系统的超级用户，可以执行任何操作</a:t>
            </a:r>
            <a:endParaRPr lang="zh-CN" altLang="en-US" dirty="0"/>
          </a:p>
          <a:p>
            <a:pPr lvl="1">
              <a:lnSpc>
                <a:spcPct val="130000"/>
              </a:lnSpc>
            </a:pPr>
            <a:r>
              <a:rPr lang="zh-CN" altLang="en-US" dirty="0"/>
              <a:t>具有</a:t>
            </a:r>
            <a:r>
              <a:rPr lang="en-US" altLang="zh-CN" dirty="0"/>
              <a:t>CREATEDB</a:t>
            </a:r>
            <a:r>
              <a:rPr lang="zh-CN" altLang="en-US" dirty="0"/>
              <a:t>权限的用户可以创建数据库，成为数据库的属主（</a:t>
            </a:r>
            <a:r>
              <a:rPr lang="en-US" altLang="zh-CN" dirty="0"/>
              <a:t>Owner</a:t>
            </a:r>
            <a:r>
              <a:rPr lang="zh-CN" altLang="en-US" dirty="0"/>
              <a:t>），具有在数据库上创建模式</a:t>
            </a:r>
            <a:r>
              <a:rPr lang="en-US" altLang="zh-CN" dirty="0"/>
              <a:t>schema</a:t>
            </a:r>
            <a:r>
              <a:rPr lang="zh-CN" altLang="en-US" dirty="0"/>
              <a:t>的权限，并可以把这些权限授予其他用户</a:t>
            </a:r>
            <a:endParaRPr lang="en-US" altLang="zh-CN" dirty="0"/>
          </a:p>
          <a:p>
            <a:pPr lvl="1">
              <a:lnSpc>
                <a:spcPct val="130000"/>
              </a:lnSpc>
            </a:pPr>
            <a:r>
              <a:rPr lang="zh-CN" altLang="zh-CN" dirty="0"/>
              <a:t>第一个超级用户是系统初始化时指定的。</a:t>
            </a:r>
            <a:endParaRPr lang="en-US" altLang="zh-CN" dirty="0"/>
          </a:p>
          <a:p>
            <a:pPr lvl="2" eaLnBrk="1" hangingPunct="1">
              <a:lnSpc>
                <a:spcPct val="150000"/>
              </a:lnSpc>
              <a:spcBef>
                <a:spcPct val="0"/>
              </a:spcBef>
              <a:buSzPct val="87000"/>
              <a:buFont typeface="Wingdings" panose="05000000000000000000" pitchFamily="2" charset="2"/>
              <a:buChar char="l"/>
            </a:pPr>
            <a:r>
              <a:rPr lang="zh-CN" altLang="zh-CN" sz="2200" dirty="0"/>
              <a:t>在安装系统时可以指定一个名称为</a:t>
            </a:r>
            <a:r>
              <a:rPr lang="en-US" altLang="zh-CN" sz="2200" dirty="0"/>
              <a:t>system</a:t>
            </a:r>
            <a:r>
              <a:rPr lang="zh-CN" altLang="zh-CN" sz="2200" dirty="0"/>
              <a:t>的超级用户 </a:t>
            </a:r>
            <a:endParaRPr lang="zh-CN" altLang="en-US" sz="22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279576"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623392" y="1124745"/>
            <a:ext cx="10297144" cy="4608512"/>
          </a:xfrm>
        </p:spPr>
        <p:txBody>
          <a:bodyPr/>
          <a:lstStyle/>
          <a:p>
            <a:pPr lvl="1">
              <a:lnSpc>
                <a:spcPct val="130000"/>
              </a:lnSpc>
            </a:pPr>
            <a:r>
              <a:rPr lang="en-US" altLang="zh-CN" sz="2800" dirty="0"/>
              <a:t>[</a:t>
            </a:r>
            <a:r>
              <a:rPr lang="zh-CN" altLang="en-US" sz="2800" dirty="0"/>
              <a:t>例4.</a:t>
            </a:r>
            <a:r>
              <a:rPr lang="en-US" altLang="zh-CN" sz="2800" dirty="0"/>
              <a:t>11]</a:t>
            </a:r>
            <a:r>
              <a:rPr lang="zh-CN" altLang="en-US" sz="2800" dirty="0"/>
              <a:t>创建超级用户</a:t>
            </a:r>
            <a:r>
              <a:rPr lang="en-US" altLang="zh-CN" sz="2800" dirty="0"/>
              <a:t>system2</a:t>
            </a:r>
            <a:endParaRPr lang="en-US" altLang="zh-CN" sz="2800" dirty="0"/>
          </a:p>
          <a:p>
            <a:pPr lvl="2">
              <a:lnSpc>
                <a:spcPct val="130000"/>
              </a:lnSpc>
              <a:buSzPct val="90000"/>
              <a:buFont typeface="Wingdings" panose="05000000000000000000" pitchFamily="2" charset="2"/>
              <a:buChar char="l"/>
            </a:pPr>
            <a:r>
              <a:rPr lang="zh-CN" altLang="en-US" sz="2400" dirty="0"/>
              <a:t>首先以超级用户</a:t>
            </a:r>
            <a:r>
              <a:rPr lang="en-US" altLang="zh-CN" sz="2400" dirty="0"/>
              <a:t>system</a:t>
            </a:r>
            <a:r>
              <a:rPr lang="zh-CN" altLang="en-US" sz="2400" dirty="0"/>
              <a:t>登录，然后创建</a:t>
            </a:r>
            <a:r>
              <a:rPr lang="en-US" altLang="zh-CN" sz="2400" dirty="0"/>
              <a:t>system2</a:t>
            </a:r>
            <a:endParaRPr lang="en-US" altLang="zh-CN" sz="2400" dirty="0"/>
          </a:p>
          <a:p>
            <a:pPr marL="914400" lvl="2" indent="0">
              <a:lnSpc>
                <a:spcPct val="130000"/>
              </a:lnSpc>
              <a:buNone/>
            </a:pPr>
            <a:r>
              <a:rPr lang="en-US" altLang="zh-CN" sz="2800" dirty="0"/>
              <a:t>    CREATE USER system2</a:t>
            </a:r>
            <a:endParaRPr lang="en-US" altLang="zh-CN" sz="2800" dirty="0"/>
          </a:p>
          <a:p>
            <a:pPr marL="914400" lvl="2" indent="0">
              <a:lnSpc>
                <a:spcPct val="130000"/>
              </a:lnSpc>
              <a:buNone/>
            </a:pPr>
            <a:r>
              <a:rPr lang="en-US" altLang="zh-CN" sz="2800" dirty="0"/>
              <a:t>    WITH SUPERUSER </a:t>
            </a:r>
            <a:endParaRPr lang="en-US" altLang="zh-CN" sz="2800" dirty="0"/>
          </a:p>
          <a:p>
            <a:pPr marL="914400" lvl="2" indent="0">
              <a:lnSpc>
                <a:spcPct val="130000"/>
              </a:lnSpc>
              <a:buNone/>
            </a:pPr>
            <a:r>
              <a:rPr lang="en-US" altLang="zh-CN" sz="2800" dirty="0"/>
              <a:t>    PASSWORD '123456’; </a:t>
            </a:r>
            <a:endParaRPr lang="en-US" altLang="zh-CN" sz="2800" dirty="0"/>
          </a:p>
          <a:p>
            <a:pPr lvl="2">
              <a:lnSpc>
                <a:spcPct val="130000"/>
              </a:lnSpc>
            </a:pPr>
            <a:endParaRPr lang="en-US" altLang="zh-CN"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400300" y="188641"/>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551384" y="1124745"/>
            <a:ext cx="10729192" cy="5112568"/>
          </a:xfrm>
        </p:spPr>
        <p:txBody>
          <a:bodyPr/>
          <a:lstStyle/>
          <a:p>
            <a:pPr lvl="1">
              <a:lnSpc>
                <a:spcPct val="130000"/>
              </a:lnSpc>
            </a:pPr>
            <a:r>
              <a:rPr lang="en-US" altLang="zh-CN" sz="2800" dirty="0"/>
              <a:t>[</a:t>
            </a:r>
            <a:r>
              <a:rPr lang="zh-CN" altLang="en-US" sz="2800" dirty="0"/>
              <a:t>例4.</a:t>
            </a:r>
            <a:r>
              <a:rPr lang="en-US" altLang="zh-CN" sz="2800" dirty="0"/>
              <a:t>12]</a:t>
            </a:r>
            <a:r>
              <a:rPr lang="zh-CN" altLang="en-US" sz="2800" dirty="0"/>
              <a:t>创建具有</a:t>
            </a:r>
            <a:r>
              <a:rPr lang="en-US" altLang="zh-CN" sz="2800" dirty="0"/>
              <a:t>CREATEDB</a:t>
            </a:r>
            <a:r>
              <a:rPr lang="zh-CN" altLang="en-US" sz="2800" dirty="0"/>
              <a:t>的用户</a:t>
            </a:r>
            <a:r>
              <a:rPr lang="en-US" altLang="zh-CN" sz="2800" dirty="0"/>
              <a:t>U1</a:t>
            </a:r>
            <a:r>
              <a:rPr lang="zh-CN" altLang="en-US" sz="2800" dirty="0"/>
              <a:t>和普通用户</a:t>
            </a:r>
            <a:r>
              <a:rPr lang="en-US" altLang="zh-CN" sz="2800" dirty="0"/>
              <a:t>U2</a:t>
            </a:r>
            <a:endParaRPr lang="en-US" altLang="zh-CN" sz="2800" dirty="0"/>
          </a:p>
          <a:p>
            <a:pPr lvl="2">
              <a:lnSpc>
                <a:spcPct val="130000"/>
              </a:lnSpc>
              <a:buSzPct val="80000"/>
              <a:buFont typeface="Wingdings" panose="05000000000000000000" pitchFamily="2" charset="2"/>
              <a:buChar char="l"/>
            </a:pPr>
            <a:r>
              <a:rPr lang="zh-CN" altLang="zh-CN" sz="2400" dirty="0"/>
              <a:t>以超级用户</a:t>
            </a:r>
            <a:r>
              <a:rPr lang="en-US" altLang="zh-CN" sz="2400" dirty="0"/>
              <a:t>system</a:t>
            </a:r>
            <a:r>
              <a:rPr lang="zh-CN" altLang="zh-CN" sz="2400" dirty="0"/>
              <a:t>登录，创建用户</a:t>
            </a:r>
            <a:r>
              <a:rPr lang="en-US" altLang="zh-CN" sz="2400" dirty="0"/>
              <a:t>U1</a:t>
            </a:r>
            <a:r>
              <a:rPr lang="zh-CN" altLang="zh-CN" sz="2400" dirty="0"/>
              <a:t>，</a:t>
            </a:r>
            <a:r>
              <a:rPr lang="en-US" altLang="zh-CN" sz="2400" dirty="0"/>
              <a:t>U2</a:t>
            </a:r>
            <a:endParaRPr lang="en-US" altLang="zh-CN" sz="2400" dirty="0"/>
          </a:p>
          <a:p>
            <a:pPr marL="914400" lvl="2" indent="0">
              <a:lnSpc>
                <a:spcPct val="130000"/>
              </a:lnSpc>
              <a:buNone/>
            </a:pPr>
            <a:r>
              <a:rPr lang="en-US" altLang="zh-CN" sz="2400" dirty="0"/>
              <a:t>CREATE USER U1 </a:t>
            </a:r>
            <a:endParaRPr lang="en-US" altLang="zh-CN" sz="2400" dirty="0"/>
          </a:p>
          <a:p>
            <a:pPr marL="914400" lvl="2" indent="0">
              <a:lnSpc>
                <a:spcPct val="130000"/>
              </a:lnSpc>
              <a:buNone/>
            </a:pPr>
            <a:r>
              <a:rPr lang="en-US" altLang="zh-CN" sz="2400" dirty="0"/>
              <a:t>WITH CREATEDB</a:t>
            </a:r>
            <a:endParaRPr lang="en-US" altLang="zh-CN" sz="2400" dirty="0"/>
          </a:p>
          <a:p>
            <a:pPr marL="914400" lvl="2" indent="0">
              <a:lnSpc>
                <a:spcPct val="130000"/>
              </a:lnSpc>
              <a:buNone/>
            </a:pPr>
            <a:r>
              <a:rPr lang="en-US" altLang="zh-CN" sz="2400" dirty="0"/>
              <a:t>PASSWORD ‘123456’; </a:t>
            </a:r>
            <a:r>
              <a:rPr lang="zh-CN" altLang="en-US" sz="2400" dirty="0"/>
              <a:t>    </a:t>
            </a:r>
            <a:r>
              <a:rPr lang="en-US" altLang="zh-CN" dirty="0"/>
              <a:t>/* U1</a:t>
            </a:r>
            <a:r>
              <a:rPr lang="zh-CN" altLang="en-US" dirty="0"/>
              <a:t>具有创建数据库的权限 *</a:t>
            </a:r>
            <a:r>
              <a:rPr lang="en-US" altLang="zh-CN" dirty="0"/>
              <a:t>/  </a:t>
            </a:r>
            <a:endParaRPr lang="en-US" altLang="zh-CN" dirty="0"/>
          </a:p>
          <a:p>
            <a:pPr marL="914400" lvl="2" indent="0">
              <a:lnSpc>
                <a:spcPct val="130000"/>
              </a:lnSpc>
              <a:buNone/>
            </a:pPr>
            <a:endParaRPr lang="en-US" altLang="zh-CN" dirty="0"/>
          </a:p>
          <a:p>
            <a:pPr marL="914400" lvl="2" indent="0">
              <a:lnSpc>
                <a:spcPct val="130000"/>
              </a:lnSpc>
              <a:buNone/>
            </a:pPr>
            <a:r>
              <a:rPr lang="en-US" altLang="zh-CN" sz="2400" dirty="0"/>
              <a:t>CREATE USER U2</a:t>
            </a:r>
            <a:endParaRPr lang="en-US" altLang="zh-CN" sz="2400" dirty="0"/>
          </a:p>
          <a:p>
            <a:pPr marL="914400" lvl="2" indent="0">
              <a:lnSpc>
                <a:spcPct val="130000"/>
              </a:lnSpc>
              <a:buNone/>
            </a:pPr>
            <a:r>
              <a:rPr lang="en-US" altLang="zh-CN" sz="2400" dirty="0"/>
              <a:t>PASSWORD ‘123456‘;</a:t>
            </a:r>
            <a:r>
              <a:rPr lang="zh-CN" altLang="en-US" sz="2400" dirty="0"/>
              <a:t>          </a:t>
            </a:r>
            <a:r>
              <a:rPr lang="en-US" altLang="zh-CN" dirty="0"/>
              <a:t>/* U2</a:t>
            </a:r>
            <a:r>
              <a:rPr lang="zh-CN" altLang="en-US" dirty="0"/>
              <a:t>是普通用户 *</a:t>
            </a:r>
            <a:r>
              <a:rPr lang="en-US" altLang="zh-CN" dirty="0"/>
              <a:t>/ </a:t>
            </a:r>
            <a:endParaRPr lang="en-US" altLang="zh-CN" dirty="0"/>
          </a:p>
          <a:p>
            <a:pPr lvl="2">
              <a:lnSpc>
                <a:spcPct val="130000"/>
              </a:lnSpc>
            </a:pPr>
            <a:endParaRPr lang="en-US" altLang="zh-CN"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2400300" y="18658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p:cNvSpPr>
            <a:spLocks noGrp="1" noChangeArrowheads="1"/>
          </p:cNvSpPr>
          <p:nvPr>
            <p:ph type="body" sz="half" idx="1"/>
          </p:nvPr>
        </p:nvSpPr>
        <p:spPr>
          <a:xfrm>
            <a:off x="983432" y="1124744"/>
            <a:ext cx="9865096" cy="5184353"/>
          </a:xfrm>
        </p:spPr>
        <p:txBody>
          <a:bodyPr/>
          <a:lstStyle/>
          <a:p>
            <a:pPr lvl="1">
              <a:lnSpc>
                <a:spcPct val="130000"/>
              </a:lnSpc>
            </a:pPr>
            <a:r>
              <a:rPr lang="en-US" altLang="zh-CN" sz="2800" dirty="0"/>
              <a:t>[</a:t>
            </a:r>
            <a:r>
              <a:rPr lang="zh-CN" altLang="en-US" sz="2800" dirty="0"/>
              <a:t>例4.</a:t>
            </a:r>
            <a:r>
              <a:rPr lang="en-US" altLang="zh-CN" sz="2800" dirty="0"/>
              <a:t>13]</a:t>
            </a:r>
            <a:r>
              <a:rPr lang="zh-CN" altLang="en-US" sz="2800" dirty="0"/>
              <a:t> 创建数据库</a:t>
            </a:r>
            <a:r>
              <a:rPr lang="en-US" altLang="zh-CN" sz="2800" dirty="0"/>
              <a:t>U1DB</a:t>
            </a:r>
            <a:endParaRPr lang="en-US" altLang="zh-CN" sz="2800" dirty="0"/>
          </a:p>
          <a:p>
            <a:pPr lvl="2">
              <a:lnSpc>
                <a:spcPct val="130000"/>
              </a:lnSpc>
              <a:buSzPct val="80000"/>
              <a:buFont typeface="Wingdings" panose="05000000000000000000" pitchFamily="2" charset="2"/>
              <a:buChar char="l"/>
            </a:pPr>
            <a:r>
              <a:rPr lang="zh-CN" altLang="en-US" sz="2400" dirty="0"/>
              <a:t>以</a:t>
            </a:r>
            <a:r>
              <a:rPr lang="en-US" altLang="zh-CN" sz="2400" dirty="0"/>
              <a:t>U1</a:t>
            </a:r>
            <a:r>
              <a:rPr lang="zh-CN" altLang="en-US" sz="2400" dirty="0"/>
              <a:t>用户登录，创建数据库</a:t>
            </a:r>
            <a:r>
              <a:rPr lang="en-US" altLang="zh-CN" sz="2400" dirty="0"/>
              <a:t>U1DB</a:t>
            </a:r>
            <a:endParaRPr lang="en-US" altLang="zh-CN" sz="2400" dirty="0"/>
          </a:p>
          <a:p>
            <a:pPr marL="914400" lvl="2" indent="0">
              <a:lnSpc>
                <a:spcPct val="130000"/>
              </a:lnSpc>
              <a:buNone/>
            </a:pPr>
            <a:r>
              <a:rPr lang="en-US" altLang="zh-CN" sz="2400" dirty="0"/>
              <a:t>CREATE DATABASE U1DB;         </a:t>
            </a:r>
            <a:r>
              <a:rPr lang="en-US" altLang="zh-CN" dirty="0"/>
              <a:t>/* U1</a:t>
            </a:r>
            <a:r>
              <a:rPr lang="zh-CN" altLang="en-US" dirty="0"/>
              <a:t>创建了数据库 *</a:t>
            </a:r>
            <a:r>
              <a:rPr lang="en-US" altLang="zh-CN" dirty="0"/>
              <a:t>/</a:t>
            </a:r>
            <a:endParaRPr lang="en-US" altLang="zh-CN" dirty="0"/>
          </a:p>
          <a:p>
            <a:pPr marL="914400" lvl="2" indent="0">
              <a:lnSpc>
                <a:spcPct val="130000"/>
              </a:lnSpc>
              <a:buNone/>
            </a:pPr>
            <a:endParaRPr lang="en-US" altLang="zh-CN" dirty="0"/>
          </a:p>
          <a:p>
            <a:pPr lvl="2">
              <a:lnSpc>
                <a:spcPct val="130000"/>
              </a:lnSpc>
              <a:buSzPct val="80000"/>
              <a:buFont typeface="Wingdings" panose="05000000000000000000" pitchFamily="2" charset="2"/>
              <a:buChar char="l"/>
            </a:pPr>
            <a:r>
              <a:rPr lang="en-US" altLang="zh-CN" sz="2400" dirty="0"/>
              <a:t>U1</a:t>
            </a:r>
            <a:r>
              <a:rPr lang="zh-CN" altLang="en-US" sz="2400" dirty="0"/>
              <a:t>成为数据库</a:t>
            </a:r>
            <a:r>
              <a:rPr lang="en-US" altLang="zh-CN" sz="2400" dirty="0"/>
              <a:t>U1DB</a:t>
            </a:r>
            <a:r>
              <a:rPr lang="zh-CN" altLang="en-US" sz="2400" dirty="0"/>
              <a:t>的属主</a:t>
            </a:r>
            <a:endParaRPr lang="en-US" altLang="zh-CN" sz="2400" dirty="0"/>
          </a:p>
          <a:p>
            <a:pPr lvl="2">
              <a:lnSpc>
                <a:spcPct val="130000"/>
              </a:lnSpc>
              <a:buSzPct val="80000"/>
              <a:buFont typeface="Wingdings" panose="05000000000000000000" pitchFamily="2" charset="2"/>
              <a:buChar char="l"/>
            </a:pPr>
            <a:r>
              <a:rPr lang="en-US" altLang="zh-CN" sz="2400" dirty="0"/>
              <a:t>U1</a:t>
            </a:r>
            <a:r>
              <a:rPr lang="zh-CN" altLang="en-US" sz="2400" dirty="0"/>
              <a:t>可以在</a:t>
            </a:r>
            <a:r>
              <a:rPr lang="en-US" altLang="zh-CN" sz="2400" dirty="0"/>
              <a:t>U1DB</a:t>
            </a:r>
            <a:r>
              <a:rPr lang="zh-CN" altLang="en-US" sz="2400" dirty="0"/>
              <a:t>数据库上创建</a:t>
            </a:r>
            <a:r>
              <a:rPr lang="en-US" altLang="zh-CN" sz="2400" dirty="0"/>
              <a:t>SCHEMA</a:t>
            </a:r>
            <a:endParaRPr lang="en-US" altLang="zh-CN" sz="24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2"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71683" name="Rectangle 3"/>
          <p:cNvSpPr>
            <a:spLocks noGrp="1" noChangeArrowheads="1"/>
          </p:cNvSpPr>
          <p:nvPr>
            <p:ph type="body" idx="4294967295"/>
          </p:nvPr>
        </p:nvSpPr>
        <p:spPr>
          <a:xfrm>
            <a:off x="1352925" y="1109282"/>
            <a:ext cx="8229600" cy="4495800"/>
          </a:xfrm>
        </p:spPr>
        <p:txBody>
          <a:bodyPr/>
          <a:lstStyle/>
          <a:p>
            <a:pPr eaLnBrk="1" hangingPunct="1">
              <a:lnSpc>
                <a:spcPct val="16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6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6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60000"/>
              </a:lnSpc>
              <a:buFont typeface="Wingdings" panose="05000000000000000000" pitchFamily="2" charset="2"/>
              <a:buNone/>
            </a:pPr>
            <a:r>
              <a:rPr lang="en-US" altLang="zh-CN" dirty="0"/>
              <a:t>4.2.4 </a:t>
            </a:r>
            <a:r>
              <a:rPr lang="zh-CN" altLang="en-US" dirty="0"/>
              <a:t>授权：授予与收回</a:t>
            </a:r>
            <a:endParaRPr lang="zh-CN" altLang="en-US" dirty="0"/>
          </a:p>
          <a:p>
            <a:pPr eaLnBrk="1" hangingPunct="1">
              <a:lnSpc>
                <a:spcPct val="160000"/>
              </a:lnSpc>
              <a:buFont typeface="Wingdings" panose="05000000000000000000" pitchFamily="2" charset="2"/>
              <a:buNone/>
            </a:pPr>
            <a:r>
              <a:rPr lang="en-US" altLang="zh-CN" dirty="0">
                <a:solidFill>
                  <a:srgbClr val="00B050"/>
                </a:solidFill>
              </a:rPr>
              <a:t>4.2.5 </a:t>
            </a:r>
            <a:r>
              <a:rPr lang="zh-CN" altLang="en-US" dirty="0">
                <a:solidFill>
                  <a:srgbClr val="00B050"/>
                </a:solidFill>
              </a:rPr>
              <a:t>数据库角色</a:t>
            </a:r>
            <a:endParaRPr lang="zh-CN" altLang="en-US" dirty="0">
              <a:solidFill>
                <a:srgbClr val="00B050"/>
              </a:solidFill>
            </a:endParaRPr>
          </a:p>
          <a:p>
            <a:pPr eaLnBrk="1" hangingPunct="1">
              <a:lnSpc>
                <a:spcPct val="160000"/>
              </a:lnSpc>
              <a:buFont typeface="Wingdings" panose="05000000000000000000" pitchFamily="2" charset="2"/>
              <a:buNone/>
            </a:pPr>
            <a:r>
              <a:rPr lang="en-US" altLang="zh-CN" dirty="0"/>
              <a:t>4.2.6 </a:t>
            </a:r>
            <a:r>
              <a:rPr lang="zh-CN" altLang="en-US" dirty="0"/>
              <a:t>强制存取控制方法</a:t>
            </a:r>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6" name="Rectangle 2"/>
          <p:cNvSpPr>
            <a:spLocks noGrp="1" noChangeArrowheads="1"/>
          </p:cNvSpPr>
          <p:nvPr>
            <p:ph type="title" idx="4294967295"/>
          </p:nvPr>
        </p:nvSpPr>
        <p:spPr/>
        <p:txBody>
          <a:bodyPr/>
          <a:lstStyle/>
          <a:p>
            <a:pPr eaLnBrk="1" hangingPunct="1"/>
            <a:r>
              <a:rPr lang="en-US" altLang="zh-CN" sz="3600"/>
              <a:t>4.2.5 </a:t>
            </a:r>
            <a:r>
              <a:rPr lang="zh-CN" altLang="en-US" sz="3600"/>
              <a:t>数据库角色</a:t>
            </a:r>
            <a:endParaRPr lang="zh-CN" altLang="en-US" sz="3600"/>
          </a:p>
        </p:txBody>
      </p:sp>
      <p:sp>
        <p:nvSpPr>
          <p:cNvPr id="72707" name="Rectangle 3"/>
          <p:cNvSpPr>
            <a:spLocks noGrp="1" noChangeArrowheads="1"/>
          </p:cNvSpPr>
          <p:nvPr>
            <p:ph type="body" idx="4294967295"/>
          </p:nvPr>
        </p:nvSpPr>
        <p:spPr/>
        <p:txBody>
          <a:bodyPr/>
          <a:lstStyle/>
          <a:p>
            <a:pPr eaLnBrk="1" hangingPunct="1">
              <a:lnSpc>
                <a:spcPct val="150000"/>
              </a:lnSpc>
            </a:pPr>
            <a:r>
              <a:rPr lang="zh-CN" altLang="en-US" dirty="0"/>
              <a:t>数据库角色：被命名的一组与数据库操作相关的权限</a:t>
            </a:r>
            <a:endParaRPr lang="zh-CN" altLang="en-US" dirty="0"/>
          </a:p>
          <a:p>
            <a:pPr lvl="1" eaLnBrk="1" hangingPunct="1">
              <a:lnSpc>
                <a:spcPct val="150000"/>
              </a:lnSpc>
            </a:pPr>
            <a:r>
              <a:rPr lang="zh-CN" altLang="en-US" dirty="0"/>
              <a:t>角色是</a:t>
            </a:r>
            <a:r>
              <a:rPr lang="zh-CN" altLang="en-US" dirty="0">
                <a:solidFill>
                  <a:srgbClr val="C00000"/>
                </a:solidFill>
              </a:rPr>
              <a:t>权限的集合</a:t>
            </a:r>
            <a:r>
              <a:rPr lang="zh-CN" altLang="en-US" dirty="0"/>
              <a:t> </a:t>
            </a:r>
            <a:endParaRPr lang="zh-CN" altLang="en-US" dirty="0"/>
          </a:p>
          <a:p>
            <a:pPr lvl="1" eaLnBrk="1" hangingPunct="1">
              <a:lnSpc>
                <a:spcPct val="150000"/>
              </a:lnSpc>
            </a:pPr>
            <a:r>
              <a:rPr lang="zh-CN" altLang="en-US" dirty="0"/>
              <a:t>可以为一组具有相同权限的用户创建一个角色</a:t>
            </a:r>
            <a:endParaRPr lang="zh-CN" altLang="en-US" dirty="0"/>
          </a:p>
          <a:p>
            <a:pPr lvl="1" eaLnBrk="1" hangingPunct="1">
              <a:lnSpc>
                <a:spcPct val="150000"/>
              </a:lnSpc>
            </a:pPr>
            <a:r>
              <a:rPr lang="zh-CN" altLang="en-US" dirty="0"/>
              <a:t>可以简化授权的过程</a:t>
            </a:r>
            <a:endParaRPr lang="zh-CN" altLang="en-US" dirty="0"/>
          </a:p>
          <a:p>
            <a:pPr eaLnBrk="1" hangingPunct="1"/>
            <a:endParaRPr lang="en-US" altLang="zh-CN" sz="32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0" name="Rectangle 2"/>
          <p:cNvSpPr>
            <a:spLocks noGrp="1" noChangeArrowheads="1"/>
          </p:cNvSpPr>
          <p:nvPr>
            <p:ph type="title" idx="4294967295"/>
          </p:nvPr>
        </p:nvSpPr>
        <p:spPr/>
        <p:txBody>
          <a:bodyPr/>
          <a:lstStyle/>
          <a:p>
            <a:pPr eaLnBrk="1" hangingPunct="1"/>
            <a:r>
              <a:rPr lang="zh-CN" altLang="zh-CN" sz="3600"/>
              <a:t>数据库角色</a:t>
            </a:r>
            <a:r>
              <a:rPr lang="zh-CN" altLang="en-US" sz="3600"/>
              <a:t>（续）</a:t>
            </a:r>
            <a:endParaRPr lang="zh-CN" altLang="zh-CN" sz="3600"/>
          </a:p>
        </p:txBody>
      </p:sp>
      <p:sp>
        <p:nvSpPr>
          <p:cNvPr id="73731" name="Rectangle 3"/>
          <p:cNvSpPr>
            <a:spLocks noGrp="1" noChangeArrowheads="1"/>
          </p:cNvSpPr>
          <p:nvPr>
            <p:ph type="body" idx="4294967295"/>
          </p:nvPr>
        </p:nvSpPr>
        <p:spPr>
          <a:xfrm>
            <a:off x="1992313" y="1268413"/>
            <a:ext cx="8229600" cy="4856162"/>
          </a:xfrm>
        </p:spPr>
        <p:txBody>
          <a:bodyPr/>
          <a:lstStyle/>
          <a:p>
            <a:pPr eaLnBrk="1" hangingPunct="1">
              <a:lnSpc>
                <a:spcPct val="120000"/>
              </a:lnSpc>
              <a:buFont typeface="Wingdings" panose="05000000000000000000" pitchFamily="2" charset="2"/>
              <a:buNone/>
            </a:pPr>
            <a:r>
              <a:rPr lang="en-US" altLang="zh-CN"/>
              <a:t>1.</a:t>
            </a:r>
            <a:r>
              <a:rPr lang="zh-CN" altLang="en-US"/>
              <a:t>角色的创建</a:t>
            </a:r>
            <a:endParaRPr lang="zh-CN" altLang="en-US"/>
          </a:p>
          <a:p>
            <a:pPr lvl="1" eaLnBrk="1" hangingPunct="1">
              <a:lnSpc>
                <a:spcPct val="120000"/>
              </a:lnSpc>
              <a:buFont typeface="Wingdings" panose="05000000000000000000" pitchFamily="2" charset="2"/>
              <a:buNone/>
            </a:pPr>
            <a:r>
              <a:rPr lang="en-US" altLang="zh-CN" sz="2800"/>
              <a:t>CREATE  ROLE  &lt;</a:t>
            </a:r>
            <a:r>
              <a:rPr lang="zh-CN" altLang="en-US" sz="2800"/>
              <a:t>角色名</a:t>
            </a:r>
            <a:r>
              <a:rPr lang="en-US" altLang="zh-CN" sz="2800"/>
              <a:t>&gt; </a:t>
            </a:r>
            <a:endParaRPr lang="en-US" altLang="zh-CN" sz="2800"/>
          </a:p>
          <a:p>
            <a:pPr lvl="1" eaLnBrk="1" hangingPunct="1">
              <a:lnSpc>
                <a:spcPct val="120000"/>
              </a:lnSpc>
              <a:buFont typeface="Wingdings" panose="05000000000000000000" pitchFamily="2" charset="2"/>
              <a:buNone/>
            </a:pPr>
            <a:endParaRPr lang="en-US" altLang="zh-CN" sz="2800"/>
          </a:p>
          <a:p>
            <a:pPr eaLnBrk="1" hangingPunct="1">
              <a:lnSpc>
                <a:spcPct val="120000"/>
              </a:lnSpc>
              <a:buFont typeface="Wingdings" panose="05000000000000000000" pitchFamily="2" charset="2"/>
              <a:buNone/>
            </a:pPr>
            <a:r>
              <a:rPr lang="en-US" altLang="zh-CN"/>
              <a:t>2.</a:t>
            </a:r>
            <a:r>
              <a:rPr lang="zh-CN" altLang="en-US"/>
              <a:t>给角色授权 </a:t>
            </a:r>
            <a:endParaRPr lang="zh-CN" altLang="en-US"/>
          </a:p>
          <a:p>
            <a:pPr lvl="1" eaLnBrk="1" hangingPunct="1">
              <a:lnSpc>
                <a:spcPct val="120000"/>
              </a:lnSpc>
              <a:buFont typeface="Wingdings" panose="05000000000000000000" pitchFamily="2" charset="2"/>
              <a:buNone/>
            </a:pPr>
            <a:r>
              <a:rPr lang="zh-CN" altLang="en-US" sz="2800"/>
              <a:t> </a:t>
            </a:r>
            <a:r>
              <a:rPr lang="en-US" altLang="zh-CN" sz="2800"/>
              <a:t>GRANT  &lt;</a:t>
            </a:r>
            <a:r>
              <a:rPr lang="zh-CN" altLang="en-US" sz="2800"/>
              <a:t>权限</a:t>
            </a:r>
            <a:r>
              <a:rPr lang="en-US" altLang="zh-CN" sz="2800"/>
              <a:t>&gt;[,&lt;</a:t>
            </a:r>
            <a:r>
              <a:rPr lang="zh-CN" altLang="en-US" sz="2800"/>
              <a:t>权限</a:t>
            </a:r>
            <a:r>
              <a:rPr lang="en-US" altLang="zh-CN" sz="2800"/>
              <a:t>&gt;]… </a:t>
            </a:r>
            <a:endParaRPr lang="en-US" altLang="zh-CN" sz="2800"/>
          </a:p>
          <a:p>
            <a:pPr lvl="1" eaLnBrk="1" hangingPunct="1">
              <a:lnSpc>
                <a:spcPct val="120000"/>
              </a:lnSpc>
              <a:buFont typeface="Wingdings" panose="05000000000000000000" pitchFamily="2" charset="2"/>
              <a:buNone/>
            </a:pPr>
            <a:r>
              <a:rPr lang="en-US" altLang="zh-CN" sz="2800"/>
              <a:t> ON &lt;</a:t>
            </a:r>
            <a:r>
              <a:rPr lang="zh-CN" altLang="en-US" sz="2800"/>
              <a:t>对象类型</a:t>
            </a:r>
            <a:r>
              <a:rPr lang="en-US" altLang="zh-CN" sz="2800"/>
              <a:t>&gt;</a:t>
            </a:r>
            <a:r>
              <a:rPr lang="zh-CN" altLang="en-US" sz="2800"/>
              <a:t>对象名  </a:t>
            </a:r>
            <a:endParaRPr lang="zh-CN" altLang="en-US" sz="2800"/>
          </a:p>
          <a:p>
            <a:pPr lvl="1" eaLnBrk="1" hangingPunct="1">
              <a:lnSpc>
                <a:spcPct val="120000"/>
              </a:lnSpc>
              <a:buFont typeface="Wingdings" panose="05000000000000000000" pitchFamily="2" charset="2"/>
              <a:buNone/>
            </a:pPr>
            <a:r>
              <a:rPr lang="zh-CN" altLang="en-US" sz="2800"/>
              <a:t> </a:t>
            </a:r>
            <a:r>
              <a:rPr lang="en-US" altLang="zh-CN" sz="2800"/>
              <a:t>TO &lt;</a:t>
            </a:r>
            <a:r>
              <a:rPr lang="zh-CN" altLang="en-US" sz="2800"/>
              <a:t>角色</a:t>
            </a:r>
            <a:r>
              <a:rPr lang="en-US" altLang="zh-CN" sz="2800"/>
              <a:t>&gt;[,&lt;</a:t>
            </a:r>
            <a:r>
              <a:rPr lang="zh-CN" altLang="en-US" sz="2800"/>
              <a:t>角色</a:t>
            </a:r>
            <a:r>
              <a:rPr lang="en-US" altLang="zh-CN" sz="2800"/>
              <a:t>&gt;]…</a:t>
            </a:r>
            <a:endParaRPr lang="en-US" altLang="zh-CN" sz="2800"/>
          </a:p>
          <a:p>
            <a:pPr lvl="1" eaLnBrk="1" hangingPunct="1">
              <a:lnSpc>
                <a:spcPct val="120000"/>
              </a:lnSpc>
              <a:buFont typeface="Wingdings" panose="05000000000000000000" pitchFamily="2" charset="2"/>
              <a:buNone/>
            </a:pPr>
            <a:endParaRPr lang="en-US" altLang="zh-CN" sz="220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4" name="Rectangle 2"/>
          <p:cNvSpPr>
            <a:spLocks noGrp="1" noChangeArrowheads="1"/>
          </p:cNvSpPr>
          <p:nvPr>
            <p:ph type="title" idx="4294967295"/>
          </p:nvPr>
        </p:nvSpPr>
        <p:spPr/>
        <p:txBody>
          <a:bodyPr/>
          <a:lstStyle/>
          <a:p>
            <a:pPr eaLnBrk="1" hangingPunct="1"/>
            <a:r>
              <a:rPr lang="zh-CN" altLang="zh-CN" sz="3600"/>
              <a:t>数据库角色</a:t>
            </a:r>
            <a:r>
              <a:rPr lang="zh-CN" altLang="en-US" sz="3600"/>
              <a:t>（续）</a:t>
            </a:r>
            <a:endParaRPr lang="zh-CN" altLang="zh-CN" sz="3600"/>
          </a:p>
        </p:txBody>
      </p:sp>
      <p:sp>
        <p:nvSpPr>
          <p:cNvPr id="74755" name="Rectangle 3"/>
          <p:cNvSpPr>
            <a:spLocks noGrp="1" noChangeArrowheads="1"/>
          </p:cNvSpPr>
          <p:nvPr>
            <p:ph type="body" idx="4294967295"/>
          </p:nvPr>
        </p:nvSpPr>
        <p:spPr>
          <a:xfrm>
            <a:off x="839416" y="1127566"/>
            <a:ext cx="10742984" cy="5109745"/>
          </a:xfrm>
        </p:spPr>
        <p:txBody>
          <a:bodyPr/>
          <a:lstStyle/>
          <a:p>
            <a:pPr eaLnBrk="1" hangingPunct="1">
              <a:buFont typeface="Wingdings" panose="05000000000000000000" pitchFamily="2" charset="2"/>
              <a:buNone/>
            </a:pPr>
            <a:r>
              <a:rPr lang="en-US" altLang="zh-CN" dirty="0"/>
              <a:t>3.</a:t>
            </a:r>
            <a:r>
              <a:rPr lang="zh-CN" altLang="en-US" dirty="0"/>
              <a:t>将一个角色授予其他的角色或用户</a:t>
            </a:r>
            <a:endParaRPr lang="zh-CN" altLang="en-US" dirty="0"/>
          </a:p>
          <a:p>
            <a:pPr lvl="1" eaLnBrk="1" hangingPunct="1">
              <a:buFont typeface="Wingdings" panose="05000000000000000000" pitchFamily="2" charset="2"/>
              <a:buNone/>
            </a:pPr>
            <a:r>
              <a:rPr lang="en-US" altLang="zh-CN" dirty="0"/>
              <a:t>GRANT  &lt;</a:t>
            </a:r>
            <a:r>
              <a:rPr lang="zh-CN" altLang="en-US" dirty="0"/>
              <a:t>角色</a:t>
            </a:r>
            <a:r>
              <a:rPr lang="en-US" altLang="zh-CN" dirty="0"/>
              <a:t>1&gt;[,&lt;</a:t>
            </a:r>
            <a:r>
              <a:rPr lang="zh-CN" altLang="en-US" dirty="0"/>
              <a:t>角色</a:t>
            </a:r>
            <a:r>
              <a:rPr lang="en-US" altLang="zh-CN" dirty="0"/>
              <a:t>2&gt;]…</a:t>
            </a:r>
            <a:endParaRPr lang="en-US" altLang="zh-CN" dirty="0"/>
          </a:p>
          <a:p>
            <a:pPr lvl="1" eaLnBrk="1" hangingPunct="1">
              <a:buFont typeface="Wingdings" panose="05000000000000000000" pitchFamily="2" charset="2"/>
              <a:buNone/>
            </a:pPr>
            <a:r>
              <a:rPr lang="en-US" altLang="zh-CN" dirty="0"/>
              <a:t>TO  &lt;</a:t>
            </a:r>
            <a:r>
              <a:rPr lang="zh-CN" altLang="en-US" dirty="0"/>
              <a:t>角色</a:t>
            </a:r>
            <a:r>
              <a:rPr lang="en-US" altLang="zh-CN" dirty="0"/>
              <a:t>3&gt;[,&lt;</a:t>
            </a:r>
            <a:r>
              <a:rPr lang="zh-CN" altLang="en-US" dirty="0"/>
              <a:t>用户</a:t>
            </a:r>
            <a:r>
              <a:rPr lang="en-US" altLang="zh-CN" dirty="0"/>
              <a:t>1&gt;]… </a:t>
            </a:r>
            <a:endParaRPr lang="en-US" altLang="zh-CN" dirty="0"/>
          </a:p>
          <a:p>
            <a:pPr lvl="1" eaLnBrk="1" hangingPunct="1">
              <a:buFont typeface="Wingdings" panose="05000000000000000000" pitchFamily="2" charset="2"/>
              <a:buNone/>
            </a:pPr>
            <a:r>
              <a:rPr lang="en-US" altLang="zh-CN" dirty="0"/>
              <a:t>[WITH ADMIN OPTION]</a:t>
            </a:r>
            <a:endParaRPr lang="en-US" altLang="zh-CN" dirty="0"/>
          </a:p>
          <a:p>
            <a:pPr lvl="1" eaLnBrk="1" hangingPunct="1">
              <a:buFont typeface="Wingdings" panose="05000000000000000000" pitchFamily="2" charset="2"/>
              <a:buNone/>
            </a:pPr>
            <a:endParaRPr lang="en-US" altLang="zh-CN" dirty="0"/>
          </a:p>
          <a:p>
            <a:pPr lvl="1"/>
            <a:r>
              <a:rPr lang="zh-CN" altLang="en-US" sz="2200" dirty="0"/>
              <a:t>该语句把角色授予某用户，或授予另一个角色</a:t>
            </a:r>
            <a:endParaRPr lang="zh-CN" altLang="en-US" sz="2200" dirty="0"/>
          </a:p>
          <a:p>
            <a:pPr lvl="1"/>
            <a:r>
              <a:rPr lang="zh-CN" altLang="en-US" sz="2200" dirty="0"/>
              <a:t>授予者是角色的创建者或拥有在这个角色上的</a:t>
            </a:r>
            <a:r>
              <a:rPr lang="en-US" altLang="zh-CN" sz="2200" dirty="0"/>
              <a:t>ADMIN OPTION</a:t>
            </a:r>
            <a:r>
              <a:rPr lang="zh-CN" altLang="en-US" sz="2200" dirty="0"/>
              <a:t>权限者</a:t>
            </a:r>
            <a:endParaRPr lang="en-US" altLang="zh-CN" sz="2200" dirty="0"/>
          </a:p>
          <a:p>
            <a:pPr lvl="1"/>
            <a:r>
              <a:rPr lang="zh-CN" altLang="en-US" sz="2200" dirty="0"/>
              <a:t>指定了</a:t>
            </a:r>
            <a:r>
              <a:rPr lang="en-US" altLang="zh-CN" sz="2200" dirty="0"/>
              <a:t>WITH ADMIN OPTION</a:t>
            </a:r>
            <a:r>
              <a:rPr lang="zh-CN" altLang="en-US" sz="2200" dirty="0"/>
              <a:t>可以把权限授予其他角色</a:t>
            </a:r>
            <a:endParaRPr lang="zh-CN" altLang="en-US" sz="2200" dirty="0"/>
          </a:p>
          <a:p>
            <a:pPr lvl="1">
              <a:buFont typeface="Wingdings" panose="05000000000000000000" pitchFamily="2" charset="2"/>
              <a:buNone/>
            </a:pPr>
            <a:endParaRPr lang="en-US" altLang="zh-CN" sz="2200" dirty="0"/>
          </a:p>
          <a:p>
            <a:pPr lvl="1">
              <a:buFont typeface="Wingdings" panose="05000000000000000000" pitchFamily="2" charset="2"/>
              <a:buNone/>
            </a:pPr>
            <a:r>
              <a:rPr lang="zh-CN" altLang="en-US" sz="2200" dirty="0"/>
              <a:t>一个角色的权限：直接授予这个角色的全部权限加上其他角色</a:t>
            </a:r>
            <a:endParaRPr lang="en-US" altLang="zh-CN" sz="2200" dirty="0"/>
          </a:p>
          <a:p>
            <a:pPr lvl="1">
              <a:buFont typeface="Wingdings" panose="05000000000000000000" pitchFamily="2" charset="2"/>
              <a:buNone/>
            </a:pPr>
            <a:r>
              <a:rPr lang="zh-CN" altLang="en-US" sz="2200" dirty="0"/>
              <a:t>授予这个角色的全部权限</a:t>
            </a:r>
            <a:endParaRPr lang="zh-CN" altLang="en-US" sz="2200" dirty="0"/>
          </a:p>
          <a:p>
            <a:pPr lvl="1" eaLnBrk="1" hangingPunct="1">
              <a:buFont typeface="Wingdings" panose="05000000000000000000" pitchFamily="2" charset="2"/>
              <a:buNone/>
            </a:pPr>
            <a:r>
              <a:rPr lang="zh-CN" altLang="en-US" dirty="0"/>
              <a:t> </a:t>
            </a:r>
            <a:endParaRPr lang="zh-CN" altLang="en-US" dirty="0"/>
          </a:p>
          <a:p>
            <a:pPr eaLnBrk="1" hangingPunct="1">
              <a:buFont typeface="Wingdings" panose="05000000000000000000" pitchFamily="2" charset="2"/>
              <a:buNone/>
            </a:pPr>
            <a:endParaRPr lang="zh-CN" altLang="en-US" sz="24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
          <p:cNvSpPr>
            <a:spLocks noChangeArrowheads="1"/>
          </p:cNvSpPr>
          <p:nvPr/>
        </p:nvSpPr>
        <p:spPr bwMode="auto">
          <a:xfrm>
            <a:off x="1092933" y="1196752"/>
            <a:ext cx="9433048" cy="458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dirty="0"/>
              <a:t>4.</a:t>
            </a:r>
            <a:r>
              <a:rPr lang="zh-CN" altLang="en-US" dirty="0"/>
              <a:t>角色权限的收回 </a:t>
            </a:r>
            <a:endParaRPr lang="zh-CN" altLang="en-US" dirty="0"/>
          </a:p>
          <a:p>
            <a:pPr lvl="1" eaLnBrk="1" hangingPunct="1">
              <a:lnSpc>
                <a:spcPct val="130000"/>
              </a:lnSpc>
              <a:buFont typeface="Wingdings" panose="05000000000000000000" pitchFamily="2" charset="2"/>
              <a:buNone/>
            </a:pPr>
            <a:r>
              <a:rPr lang="en-US" altLang="zh-CN" dirty="0"/>
              <a:t>REVOKE &lt;</a:t>
            </a:r>
            <a:r>
              <a:rPr lang="zh-CN" altLang="en-US" dirty="0"/>
              <a:t>权限</a:t>
            </a:r>
            <a:r>
              <a:rPr lang="en-US" altLang="zh-CN" dirty="0"/>
              <a:t>&gt;[,&lt;</a:t>
            </a:r>
            <a:r>
              <a:rPr lang="zh-CN" altLang="en-US" dirty="0"/>
              <a:t>权限</a:t>
            </a:r>
            <a:r>
              <a:rPr lang="en-US" altLang="zh-CN" dirty="0"/>
              <a:t>&gt;]…</a:t>
            </a:r>
            <a:endParaRPr lang="en-US" altLang="zh-CN" dirty="0"/>
          </a:p>
          <a:p>
            <a:pPr lvl="1" eaLnBrk="1" hangingPunct="1">
              <a:lnSpc>
                <a:spcPct val="130000"/>
              </a:lnSpc>
              <a:buFont typeface="Wingdings" panose="05000000000000000000" pitchFamily="2" charset="2"/>
              <a:buNone/>
            </a:pPr>
            <a:r>
              <a:rPr lang="en-US" altLang="zh-CN" dirty="0"/>
              <a:t>ON &lt;</a:t>
            </a:r>
            <a:r>
              <a:rPr lang="zh-CN" altLang="en-US" dirty="0"/>
              <a:t>对象类型</a:t>
            </a:r>
            <a:r>
              <a:rPr lang="en-US" altLang="zh-CN" dirty="0"/>
              <a:t>&gt; &lt;</a:t>
            </a:r>
            <a:r>
              <a:rPr lang="zh-CN" altLang="en-US" dirty="0"/>
              <a:t>对象名</a:t>
            </a:r>
            <a:r>
              <a:rPr lang="en-US" altLang="zh-CN" dirty="0"/>
              <a:t>&gt;</a:t>
            </a:r>
            <a:endParaRPr lang="en-US" altLang="zh-CN" dirty="0"/>
          </a:p>
          <a:p>
            <a:pPr lvl="1" eaLnBrk="1" hangingPunct="1">
              <a:lnSpc>
                <a:spcPct val="130000"/>
              </a:lnSpc>
              <a:buFont typeface="Wingdings" panose="05000000000000000000" pitchFamily="2" charset="2"/>
              <a:buNone/>
            </a:pPr>
            <a:r>
              <a:rPr lang="en-US" altLang="zh-CN" dirty="0"/>
              <a:t>FROM &lt;</a:t>
            </a:r>
            <a:r>
              <a:rPr lang="zh-CN" altLang="en-US" dirty="0"/>
              <a:t>角色</a:t>
            </a:r>
            <a:r>
              <a:rPr lang="en-US" altLang="zh-CN" dirty="0"/>
              <a:t>&gt;[,&lt;</a:t>
            </a:r>
            <a:r>
              <a:rPr lang="zh-CN" altLang="en-US" dirty="0"/>
              <a:t>角色</a:t>
            </a:r>
            <a:r>
              <a:rPr lang="en-US" altLang="zh-CN" dirty="0"/>
              <a:t>&gt;]…</a:t>
            </a:r>
            <a:endParaRPr lang="en-US" altLang="zh-CN" dirty="0"/>
          </a:p>
          <a:p>
            <a:pPr lvl="1">
              <a:lnSpc>
                <a:spcPct val="130000"/>
              </a:lnSpc>
            </a:pPr>
            <a:r>
              <a:rPr lang="zh-CN" altLang="en-US" sz="2200" dirty="0"/>
              <a:t>用户可以回收角色的权限，从而修改角色拥有的权限</a:t>
            </a:r>
            <a:endParaRPr lang="zh-CN" altLang="en-US" sz="2200" dirty="0"/>
          </a:p>
          <a:p>
            <a:pPr lvl="1">
              <a:lnSpc>
                <a:spcPct val="130000"/>
              </a:lnSpc>
            </a:pPr>
            <a:r>
              <a:rPr lang="en-US" altLang="zh-CN" sz="2200" dirty="0"/>
              <a:t>REVOKE</a:t>
            </a:r>
            <a:r>
              <a:rPr lang="zh-CN" altLang="en-US" sz="2200" dirty="0"/>
              <a:t>执行者是</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角色的创建者</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拥有在这个（些）角色上的</a:t>
            </a:r>
            <a:r>
              <a:rPr lang="en-US" altLang="zh-CN" sz="2200" dirty="0"/>
              <a:t>WITH ADMIN OPTION</a:t>
            </a:r>
            <a:r>
              <a:rPr lang="zh-CN" altLang="en-US" sz="2200" dirty="0"/>
              <a:t>权限者</a:t>
            </a:r>
            <a:endParaRPr lang="en-US" altLang="zh-CN" sz="2200" dirty="0"/>
          </a:p>
          <a:p>
            <a:pPr lvl="1" eaLnBrk="1" hangingPunct="1">
              <a:lnSpc>
                <a:spcPct val="130000"/>
              </a:lnSpc>
              <a:buFont typeface="Wingdings" panose="05000000000000000000" pitchFamily="2" charset="2"/>
              <a:buNone/>
            </a:pPr>
            <a:endParaRPr lang="en-US" altLang="zh-CN" dirty="0"/>
          </a:p>
        </p:txBody>
      </p:sp>
      <p:sp>
        <p:nvSpPr>
          <p:cNvPr id="75778" name="矩形 2"/>
          <p:cNvSpPr>
            <a:spLocks noChangeArrowheads="1"/>
          </p:cNvSpPr>
          <p:nvPr/>
        </p:nvSpPr>
        <p:spPr bwMode="auto">
          <a:xfrm>
            <a:off x="3863976" y="115888"/>
            <a:ext cx="38909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zh-CN" sz="3600">
                <a:solidFill>
                  <a:schemeClr val="bg1"/>
                </a:solidFill>
              </a:rPr>
              <a:t>数据库角色（续）</a:t>
            </a:r>
            <a:endParaRPr lang="zh-CN" altLang="en-US" sz="3600">
              <a:solidFill>
                <a:schemeClr val="bg1"/>
              </a:solidFill>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2"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6803" name="Rectangle 3"/>
          <p:cNvSpPr>
            <a:spLocks noGrp="1" noChangeArrowheads="1"/>
          </p:cNvSpPr>
          <p:nvPr>
            <p:ph type="body" idx="4294967295"/>
          </p:nvPr>
        </p:nvSpPr>
        <p:spPr>
          <a:xfrm>
            <a:off x="583160" y="1196752"/>
            <a:ext cx="10801200" cy="4729683"/>
          </a:xfrm>
        </p:spPr>
        <p:txBody>
          <a:bodyPr/>
          <a:lstStyle/>
          <a:p>
            <a:pPr lvl="1" eaLnBrk="1" hangingPunct="1">
              <a:lnSpc>
                <a:spcPct val="120000"/>
              </a:lnSpc>
              <a:buFont typeface="Wingdings" panose="05000000000000000000" pitchFamily="2" charset="2"/>
              <a:buNone/>
            </a:pPr>
            <a:r>
              <a:rPr lang="en-US" altLang="zh-CN" dirty="0"/>
              <a:t>[</a:t>
            </a:r>
            <a:r>
              <a:rPr lang="zh-CN" altLang="en-US" dirty="0"/>
              <a:t>例4.</a:t>
            </a:r>
            <a:r>
              <a:rPr lang="en-US" altLang="zh-CN" dirty="0"/>
              <a:t>14] </a:t>
            </a:r>
            <a:r>
              <a:rPr lang="zh-CN" altLang="en-US" dirty="0"/>
              <a:t>通过角色来实现将一组权限授予一个用户</a:t>
            </a:r>
            <a:endParaRPr lang="zh-CN" altLang="en-US" dirty="0"/>
          </a:p>
          <a:p>
            <a:pPr lvl="1" eaLnBrk="1" hangingPunct="1">
              <a:lnSpc>
                <a:spcPct val="120000"/>
              </a:lnSpc>
              <a:buFont typeface="Wingdings" panose="05000000000000000000" pitchFamily="2" charset="2"/>
              <a:buNone/>
            </a:pPr>
            <a:r>
              <a:rPr lang="zh-CN" altLang="en-US" sz="2200" dirty="0"/>
              <a:t>步骤如下：</a:t>
            </a:r>
            <a:endParaRPr lang="zh-CN" altLang="en-US" sz="2200" dirty="0"/>
          </a:p>
          <a:p>
            <a:pPr lvl="1" eaLnBrk="1" hangingPunct="1">
              <a:lnSpc>
                <a:spcPct val="120000"/>
              </a:lnSpc>
              <a:buFont typeface="Wingdings" panose="05000000000000000000" pitchFamily="2" charset="2"/>
              <a:buNone/>
            </a:pPr>
            <a:r>
              <a:rPr lang="zh-CN" altLang="en-US" sz="2200" dirty="0"/>
              <a:t>（</a:t>
            </a:r>
            <a:r>
              <a:rPr lang="en-US" altLang="zh-CN" sz="2200" dirty="0"/>
              <a:t>1</a:t>
            </a:r>
            <a:r>
              <a:rPr lang="zh-CN" altLang="en-US" sz="2200" dirty="0"/>
              <a:t>）首先创建一个角色 </a:t>
            </a:r>
            <a:r>
              <a:rPr lang="en-US" altLang="zh-CN" sz="2200" dirty="0"/>
              <a:t>R1</a:t>
            </a:r>
            <a:endParaRPr lang="en-US" altLang="zh-CN" sz="2200" dirty="0"/>
          </a:p>
          <a:p>
            <a:pPr lvl="1" eaLnBrk="1" hangingPunct="1">
              <a:lnSpc>
                <a:spcPct val="120000"/>
              </a:lnSpc>
              <a:buFont typeface="Wingdings" panose="05000000000000000000" pitchFamily="2" charset="2"/>
              <a:buNone/>
            </a:pPr>
            <a:r>
              <a:rPr lang="en-US" altLang="zh-CN" sz="2200" dirty="0"/>
              <a:t>    	  CREATE  ROLE  R1;</a:t>
            </a:r>
            <a:endParaRPr lang="en-US" altLang="zh-CN" sz="2200" dirty="0"/>
          </a:p>
          <a:p>
            <a:pPr lvl="1" eaLnBrk="1" hangingPunct="1">
              <a:lnSpc>
                <a:spcPct val="120000"/>
              </a:lnSpc>
              <a:buFont typeface="Wingdings" panose="05000000000000000000" pitchFamily="2" charset="2"/>
              <a:buNone/>
            </a:pPr>
            <a:endParaRPr lang="zh-CN" altLang="en-US" sz="2200" dirty="0"/>
          </a:p>
          <a:p>
            <a:pPr lvl="1" eaLnBrk="1" hangingPunct="1">
              <a:spcBef>
                <a:spcPct val="0"/>
              </a:spcBef>
              <a:buFont typeface="Wingdings" panose="05000000000000000000" pitchFamily="2" charset="2"/>
              <a:buNone/>
            </a:pPr>
            <a:r>
              <a:rPr lang="zh-CN" altLang="en-US" sz="2200" dirty="0"/>
              <a:t>（</a:t>
            </a:r>
            <a:r>
              <a:rPr lang="en-US" altLang="zh-CN" sz="2200" dirty="0"/>
              <a:t>2</a:t>
            </a:r>
            <a:r>
              <a:rPr lang="zh-CN" altLang="en-US" sz="2200" dirty="0"/>
              <a:t>）然后使用</a:t>
            </a:r>
            <a:r>
              <a:rPr lang="en-US" altLang="zh-CN" sz="2200" dirty="0"/>
              <a:t>GRANT</a:t>
            </a:r>
            <a:r>
              <a:rPr lang="zh-CN" altLang="en-US" sz="2200" dirty="0"/>
              <a:t>语句，使角色</a:t>
            </a:r>
            <a:r>
              <a:rPr lang="en-US" altLang="zh-CN" sz="2200" dirty="0"/>
              <a:t>R1</a:t>
            </a:r>
            <a:r>
              <a:rPr lang="zh-CN" altLang="en-US" sz="2200" dirty="0"/>
              <a:t>拥有</a:t>
            </a:r>
            <a:r>
              <a:rPr lang="en-US" altLang="zh-CN" sz="2200" dirty="0"/>
              <a:t>Student</a:t>
            </a:r>
            <a:r>
              <a:rPr lang="zh-CN" altLang="en-US" sz="2200" dirty="0"/>
              <a:t>表的</a:t>
            </a:r>
            <a:r>
              <a:rPr lang="en-US" altLang="zh-CN" sz="2200" dirty="0"/>
              <a:t>SELECT</a:t>
            </a:r>
            <a:r>
              <a:rPr lang="zh-CN" altLang="en-US" sz="2200" dirty="0"/>
              <a:t>、</a:t>
            </a:r>
            <a:r>
              <a:rPr lang="en-US" altLang="zh-CN" sz="2200" dirty="0"/>
              <a:t>UPDATE</a:t>
            </a:r>
            <a:r>
              <a:rPr lang="zh-CN" altLang="en-US" sz="2200" dirty="0"/>
              <a:t>、</a:t>
            </a:r>
            <a:r>
              <a:rPr lang="en-US" altLang="zh-CN" sz="2200" dirty="0"/>
              <a:t>INSERT</a:t>
            </a:r>
            <a:r>
              <a:rPr lang="zh-CN" altLang="en-US" sz="2200" dirty="0"/>
              <a:t>权限</a:t>
            </a:r>
            <a:br>
              <a:rPr lang="en-US" altLang="zh-CN" sz="2200" dirty="0"/>
            </a:br>
            <a:endParaRPr lang="zh-CN" altLang="en-US" sz="2200" dirty="0"/>
          </a:p>
          <a:p>
            <a:pPr lvl="1" eaLnBrk="1" hangingPunct="1">
              <a:lnSpc>
                <a:spcPct val="120000"/>
              </a:lnSpc>
              <a:buFont typeface="Wingdings" panose="05000000000000000000" pitchFamily="2" charset="2"/>
              <a:buNone/>
            </a:pPr>
            <a:r>
              <a:rPr lang="zh-CN" altLang="en-US" sz="2200" dirty="0"/>
              <a:t>       </a:t>
            </a:r>
            <a:r>
              <a:rPr lang="en-US" altLang="zh-CN" sz="2200" dirty="0"/>
              <a:t>GRANT SELECT, UPDATE, INSERT </a:t>
            </a:r>
            <a:endParaRPr lang="en-US" altLang="zh-CN" sz="2200" dirty="0"/>
          </a:p>
          <a:p>
            <a:pPr lvl="1" eaLnBrk="1" hangingPunct="1">
              <a:lnSpc>
                <a:spcPct val="120000"/>
              </a:lnSpc>
              <a:buFont typeface="Wingdings" panose="05000000000000000000" pitchFamily="2" charset="2"/>
              <a:buNone/>
            </a:pPr>
            <a:r>
              <a:rPr lang="en-US" altLang="zh-CN" sz="2200" dirty="0"/>
              <a:t>    	 ON TABLE Student </a:t>
            </a:r>
            <a:endParaRPr lang="en-US" altLang="zh-CN" sz="2200" dirty="0"/>
          </a:p>
          <a:p>
            <a:pPr lvl="1" eaLnBrk="1" hangingPunct="1">
              <a:lnSpc>
                <a:spcPct val="120000"/>
              </a:lnSpc>
              <a:buFont typeface="Wingdings" panose="05000000000000000000" pitchFamily="2" charset="2"/>
              <a:buNone/>
            </a:pPr>
            <a:r>
              <a:rPr lang="en-US" altLang="zh-CN" sz="2200" dirty="0"/>
              <a:t>    	 TO R1;</a:t>
            </a:r>
            <a:endParaRPr lang="zh-CN" altLang="en-US" sz="22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6"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7827" name="Rectangle 3"/>
          <p:cNvSpPr>
            <a:spLocks noGrp="1" noChangeArrowheads="1"/>
          </p:cNvSpPr>
          <p:nvPr>
            <p:ph type="body" idx="4294967295"/>
          </p:nvPr>
        </p:nvSpPr>
        <p:spPr>
          <a:xfrm>
            <a:off x="285947" y="1340768"/>
            <a:ext cx="10742984" cy="4385022"/>
          </a:xfrm>
        </p:spPr>
        <p:txBody>
          <a:bodyPr/>
          <a:lstStyle/>
          <a:p>
            <a:pPr lvl="1" eaLnBrk="1" hangingPunct="1">
              <a:lnSpc>
                <a:spcPct val="130000"/>
              </a:lnSpc>
              <a:buFont typeface="Wingdings" panose="05000000000000000000" pitchFamily="2" charset="2"/>
              <a:buNone/>
            </a:pPr>
            <a:r>
              <a:rPr lang="zh-CN" altLang="en-US" dirty="0"/>
              <a:t>（</a:t>
            </a:r>
            <a:r>
              <a:rPr lang="en-US" altLang="zh-CN" dirty="0"/>
              <a:t>3</a:t>
            </a:r>
            <a:r>
              <a:rPr lang="zh-CN" altLang="en-US" dirty="0"/>
              <a:t>）将这个角色授予王平，张明，赵玲，使他们具有角色</a:t>
            </a:r>
            <a:r>
              <a:rPr lang="en-US" altLang="zh-CN" dirty="0"/>
              <a:t>R1</a:t>
            </a:r>
            <a:r>
              <a:rPr lang="zh-CN" altLang="en-US" dirty="0"/>
              <a:t>所包含的全部权限</a:t>
            </a:r>
            <a:endParaRPr lang="zh-CN" altLang="en-US" dirty="0"/>
          </a:p>
          <a:p>
            <a:pPr lvl="1" eaLnBrk="1" hangingPunct="1">
              <a:lnSpc>
                <a:spcPct val="130000"/>
              </a:lnSpc>
              <a:buFont typeface="Wingdings" panose="05000000000000000000" pitchFamily="2" charset="2"/>
              <a:buNone/>
            </a:pPr>
            <a:r>
              <a:rPr lang="zh-CN" altLang="en-US" dirty="0"/>
              <a:t>    </a:t>
            </a:r>
            <a:r>
              <a:rPr lang="en-US" altLang="zh-CN" dirty="0"/>
              <a:t>	 GRANT  R1 </a:t>
            </a:r>
            <a:endParaRPr lang="en-US" altLang="zh-CN" dirty="0"/>
          </a:p>
          <a:p>
            <a:pPr lvl="1" eaLnBrk="1" hangingPunct="1">
              <a:lnSpc>
                <a:spcPct val="130000"/>
              </a:lnSpc>
              <a:buFont typeface="Wingdings" panose="05000000000000000000" pitchFamily="2" charset="2"/>
              <a:buNone/>
            </a:pPr>
            <a:r>
              <a:rPr lang="en-US" altLang="zh-CN" dirty="0"/>
              <a:t>    	 TO </a:t>
            </a:r>
            <a:r>
              <a:rPr lang="zh-CN" altLang="en-US" dirty="0"/>
              <a:t>王平</a:t>
            </a:r>
            <a:r>
              <a:rPr lang="en-US" altLang="zh-CN" dirty="0"/>
              <a:t>,</a:t>
            </a:r>
            <a:r>
              <a:rPr lang="zh-CN" altLang="en-US" dirty="0"/>
              <a:t>张明</a:t>
            </a:r>
            <a:r>
              <a:rPr lang="en-US" altLang="zh-CN" dirty="0"/>
              <a:t>,</a:t>
            </a:r>
            <a:r>
              <a:rPr lang="zh-CN" altLang="en-US" dirty="0"/>
              <a:t>赵玲</a:t>
            </a:r>
            <a:r>
              <a:rPr lang="en-US" altLang="zh-CN" dirty="0"/>
              <a:t>;</a:t>
            </a:r>
            <a:endParaRPr lang="zh-CN" altLang="en-US" dirty="0"/>
          </a:p>
          <a:p>
            <a:pPr lvl="1" eaLnBrk="1" hangingPunct="1">
              <a:lnSpc>
                <a:spcPct val="130000"/>
              </a:lnSpc>
              <a:buFont typeface="Wingdings" panose="05000000000000000000" pitchFamily="2" charset="2"/>
              <a:buNone/>
            </a:pPr>
            <a:r>
              <a:rPr lang="zh-CN" altLang="en-US" dirty="0"/>
              <a:t>（</a:t>
            </a:r>
            <a:r>
              <a:rPr lang="en-US" altLang="zh-CN" dirty="0"/>
              <a:t>4</a:t>
            </a:r>
            <a:r>
              <a:rPr lang="zh-CN" altLang="en-US" dirty="0"/>
              <a:t>）</a:t>
            </a:r>
            <a:r>
              <a:rPr lang="en-US" altLang="zh-CN" dirty="0"/>
              <a:t> </a:t>
            </a:r>
            <a:r>
              <a:rPr lang="zh-CN" altLang="en-US" dirty="0"/>
              <a:t>一次性通过</a:t>
            </a:r>
            <a:r>
              <a:rPr lang="en-US" altLang="zh-CN" dirty="0"/>
              <a:t>R1</a:t>
            </a:r>
            <a:r>
              <a:rPr lang="zh-CN" altLang="en-US" dirty="0"/>
              <a:t>来回收王平的这三个权限</a:t>
            </a:r>
            <a:endParaRPr lang="zh-CN" altLang="en-US" dirty="0"/>
          </a:p>
          <a:p>
            <a:pPr lvl="1" eaLnBrk="1" hangingPunct="1">
              <a:lnSpc>
                <a:spcPct val="130000"/>
              </a:lnSpc>
              <a:buFont typeface="Wingdings" panose="05000000000000000000" pitchFamily="2" charset="2"/>
              <a:buNone/>
            </a:pPr>
            <a:r>
              <a:rPr lang="zh-CN" altLang="en-US" dirty="0"/>
              <a:t>     </a:t>
            </a:r>
            <a:r>
              <a:rPr lang="en-US" altLang="zh-CN" dirty="0"/>
              <a:t>	  REVOKE  R1 </a:t>
            </a:r>
            <a:endParaRPr lang="en-US" altLang="zh-CN" dirty="0"/>
          </a:p>
          <a:p>
            <a:pPr lvl="1" eaLnBrk="1" hangingPunct="1">
              <a:lnSpc>
                <a:spcPct val="130000"/>
              </a:lnSpc>
              <a:buFont typeface="Wingdings" panose="05000000000000000000" pitchFamily="2" charset="2"/>
              <a:buNone/>
            </a:pPr>
            <a:r>
              <a:rPr lang="en-US" altLang="zh-CN" dirty="0"/>
              <a:t>     	  FROM </a:t>
            </a:r>
            <a:r>
              <a:rPr lang="zh-CN" altLang="en-US" dirty="0"/>
              <a:t>王平</a:t>
            </a:r>
            <a:r>
              <a:rPr lang="en-US" altLang="zh-CN" dirty="0"/>
              <a:t>;</a:t>
            </a:r>
            <a:endParaRPr lang="zh-CN" altLang="en-US" dirty="0"/>
          </a:p>
          <a:p>
            <a:pPr eaLnBrk="1" hangingPunct="1"/>
            <a:endParaRPr lang="en-US" altLang="zh-CN"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8850"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8851" name="Rectangle 3"/>
          <p:cNvSpPr>
            <a:spLocks noGrp="1" noChangeArrowheads="1"/>
          </p:cNvSpPr>
          <p:nvPr>
            <p:ph type="body" idx="4294967295"/>
          </p:nvPr>
        </p:nvSpPr>
        <p:spPr>
          <a:xfrm>
            <a:off x="1127448" y="1268760"/>
            <a:ext cx="8713788" cy="4855840"/>
          </a:xfrm>
        </p:spPr>
        <p:txBody>
          <a:bodyPr/>
          <a:lstStyle/>
          <a:p>
            <a:pPr lvl="1" eaLnBrk="1" hangingPunct="1">
              <a:buFont typeface="Wingdings" panose="05000000000000000000" pitchFamily="2" charset="2"/>
              <a:buNone/>
            </a:pPr>
            <a:r>
              <a:rPr lang="en-US" altLang="zh-CN" dirty="0"/>
              <a:t>[</a:t>
            </a:r>
            <a:r>
              <a:rPr lang="zh-CN" altLang="en-US" dirty="0"/>
              <a:t>例4.</a:t>
            </a:r>
            <a:r>
              <a:rPr lang="en-US" altLang="zh-CN" dirty="0"/>
              <a:t>15]</a:t>
            </a:r>
            <a:r>
              <a:rPr lang="zh-CN" altLang="en-US" dirty="0"/>
              <a:t> 给角色增加新的权限</a:t>
            </a:r>
            <a:endParaRPr lang="zh-CN" altLang="en-US" dirty="0"/>
          </a:p>
          <a:p>
            <a:pPr lvl="1" eaLnBrk="1" hangingPunct="1">
              <a:lnSpc>
                <a:spcPct val="120000"/>
              </a:lnSpc>
              <a:buFont typeface="Wingdings" panose="05000000000000000000" pitchFamily="2" charset="2"/>
              <a:buNone/>
            </a:pPr>
            <a:r>
              <a:rPr lang="zh-CN" altLang="en-US" dirty="0"/>
              <a:t>        </a:t>
            </a:r>
            <a:r>
              <a:rPr lang="en-US" altLang="zh-CN" dirty="0"/>
              <a:t>GRANT DELETE </a:t>
            </a:r>
            <a:endParaRPr lang="en-US" altLang="zh-CN" dirty="0"/>
          </a:p>
          <a:p>
            <a:pPr lvl="1" eaLnBrk="1" hangingPunct="1">
              <a:lnSpc>
                <a:spcPct val="120000"/>
              </a:lnSpc>
              <a:buFont typeface="Wingdings" panose="05000000000000000000" pitchFamily="2" charset="2"/>
              <a:buNone/>
            </a:pPr>
            <a:r>
              <a:rPr lang="en-US" altLang="zh-CN" dirty="0"/>
              <a:t>        ON TABLE Student</a:t>
            </a:r>
            <a:endParaRPr lang="en-US" altLang="zh-CN" dirty="0"/>
          </a:p>
          <a:p>
            <a:pPr lvl="1" eaLnBrk="1" hangingPunct="1">
              <a:lnSpc>
                <a:spcPct val="120000"/>
              </a:lnSpc>
              <a:buFont typeface="Wingdings" panose="05000000000000000000" pitchFamily="2" charset="2"/>
              <a:buNone/>
            </a:pPr>
            <a:r>
              <a:rPr lang="en-US" altLang="zh-CN" dirty="0"/>
              <a:t>        TO R1;</a:t>
            </a:r>
            <a:endParaRPr lang="en-US" altLang="zh-CN" dirty="0"/>
          </a:p>
          <a:p>
            <a:pPr lvl="1" eaLnBrk="1" hangingPunct="1">
              <a:lnSpc>
                <a:spcPct val="120000"/>
              </a:lnSpc>
              <a:buFont typeface="Wingdings" panose="05000000000000000000" pitchFamily="2" charset="2"/>
              <a:buNone/>
            </a:pPr>
            <a:r>
              <a:rPr lang="en-US" altLang="zh-CN" dirty="0"/>
              <a:t>   </a:t>
            </a:r>
            <a:endParaRPr lang="en-US" altLang="zh-CN" dirty="0"/>
          </a:p>
          <a:p>
            <a:pPr lvl="1" eaLnBrk="1" hangingPunct="1">
              <a:lnSpc>
                <a:spcPct val="120000"/>
              </a:lnSpc>
              <a:buFont typeface="Wingdings" panose="05000000000000000000" pitchFamily="2" charset="2"/>
              <a:buNone/>
            </a:pPr>
            <a:r>
              <a:rPr lang="en-US" altLang="zh-CN" dirty="0"/>
              <a:t>       </a:t>
            </a:r>
            <a:r>
              <a:rPr lang="zh-CN" altLang="en-US" dirty="0"/>
              <a:t>使</a:t>
            </a:r>
            <a:r>
              <a:rPr lang="zh-CN" altLang="zh-CN" dirty="0"/>
              <a:t>角色</a:t>
            </a:r>
            <a:r>
              <a:rPr lang="en-US" altLang="zh-CN" dirty="0"/>
              <a:t>R1</a:t>
            </a:r>
            <a:r>
              <a:rPr lang="zh-CN" altLang="zh-CN" dirty="0"/>
              <a:t>增加了</a:t>
            </a:r>
            <a:r>
              <a:rPr lang="en-US" altLang="zh-CN" dirty="0"/>
              <a:t>Student</a:t>
            </a:r>
            <a:r>
              <a:rPr lang="zh-CN" altLang="zh-CN" dirty="0"/>
              <a:t>表的</a:t>
            </a:r>
            <a:r>
              <a:rPr lang="en-US" altLang="zh-CN" dirty="0"/>
              <a:t>DELETE </a:t>
            </a:r>
            <a:r>
              <a:rPr lang="zh-CN" altLang="zh-CN" dirty="0"/>
              <a:t>权限</a:t>
            </a:r>
            <a:endParaRPr lang="en-US" altLang="zh-CN"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9874" name="Rectangle 2"/>
          <p:cNvSpPr>
            <a:spLocks noGrp="1" noChangeArrowheads="1"/>
          </p:cNvSpPr>
          <p:nvPr>
            <p:ph type="title" idx="4294967295"/>
          </p:nvPr>
        </p:nvSpPr>
        <p:spPr/>
        <p:txBody>
          <a:bodyPr/>
          <a:lstStyle/>
          <a:p>
            <a:pPr eaLnBrk="1" hangingPunct="1"/>
            <a:r>
              <a:rPr lang="zh-CN" altLang="zh-CN" sz="3600"/>
              <a:t>数据库角色（续）</a:t>
            </a:r>
            <a:endParaRPr lang="zh-CN" altLang="zh-CN" sz="3600"/>
          </a:p>
        </p:txBody>
      </p:sp>
      <p:sp>
        <p:nvSpPr>
          <p:cNvPr id="79875" name="Rectangle 3"/>
          <p:cNvSpPr>
            <a:spLocks noGrp="1" noChangeArrowheads="1"/>
          </p:cNvSpPr>
          <p:nvPr>
            <p:ph type="body" idx="4294967295"/>
          </p:nvPr>
        </p:nvSpPr>
        <p:spPr>
          <a:xfrm>
            <a:off x="1199456" y="1232462"/>
            <a:ext cx="9433048" cy="5051167"/>
          </a:xfrm>
        </p:spPr>
        <p:txBody>
          <a:bodyPr/>
          <a:lstStyle/>
          <a:p>
            <a:pPr lvl="1" eaLnBrk="1" hangingPunct="1">
              <a:lnSpc>
                <a:spcPct val="125000"/>
              </a:lnSpc>
              <a:buFont typeface="Wingdings" panose="05000000000000000000" pitchFamily="2" charset="2"/>
              <a:buNone/>
            </a:pPr>
            <a:r>
              <a:rPr lang="en-US" altLang="zh-CN" dirty="0"/>
              <a:t>[</a:t>
            </a:r>
            <a:r>
              <a:rPr lang="zh-CN" altLang="en-US" dirty="0"/>
              <a:t>例4.</a:t>
            </a:r>
            <a:r>
              <a:rPr lang="en-US" altLang="zh-CN" dirty="0"/>
              <a:t>16]</a:t>
            </a:r>
            <a:r>
              <a:rPr lang="zh-CN" altLang="en-US" dirty="0"/>
              <a:t> 减少角色的权限　</a:t>
            </a:r>
            <a:endParaRPr lang="zh-CN" altLang="en-US" dirty="0"/>
          </a:p>
          <a:p>
            <a:pPr lvl="1" eaLnBrk="1" hangingPunct="1">
              <a:lnSpc>
                <a:spcPct val="125000"/>
              </a:lnSpc>
              <a:buFont typeface="Wingdings" panose="05000000000000000000" pitchFamily="2" charset="2"/>
              <a:buNone/>
            </a:pPr>
            <a:r>
              <a:rPr lang="zh-CN" altLang="en-US" sz="2800" dirty="0"/>
              <a:t>   </a:t>
            </a:r>
            <a:r>
              <a:rPr lang="en-US" altLang="zh-CN" sz="2800" dirty="0"/>
              <a:t>	  </a:t>
            </a:r>
            <a:r>
              <a:rPr lang="en-US" altLang="zh-CN" dirty="0"/>
              <a:t>REVOKE SELECT </a:t>
            </a:r>
            <a:endParaRPr lang="en-US" altLang="zh-CN" dirty="0"/>
          </a:p>
          <a:p>
            <a:pPr lvl="1" eaLnBrk="1" hangingPunct="1">
              <a:lnSpc>
                <a:spcPct val="125000"/>
              </a:lnSpc>
              <a:buFont typeface="Wingdings" panose="05000000000000000000" pitchFamily="2" charset="2"/>
              <a:buNone/>
            </a:pPr>
            <a:r>
              <a:rPr lang="en-US" altLang="zh-CN" dirty="0"/>
              <a:t>        ON TABLE Student</a:t>
            </a:r>
            <a:endParaRPr lang="en-US" altLang="zh-CN" dirty="0"/>
          </a:p>
          <a:p>
            <a:pPr lvl="1" eaLnBrk="1" hangingPunct="1">
              <a:lnSpc>
                <a:spcPct val="125000"/>
              </a:lnSpc>
              <a:buFont typeface="Wingdings" panose="05000000000000000000" pitchFamily="2" charset="2"/>
              <a:buNone/>
            </a:pPr>
            <a:r>
              <a:rPr lang="en-US" altLang="zh-CN" dirty="0"/>
              <a:t>        FROM  R1</a:t>
            </a:r>
            <a:r>
              <a:rPr lang="zh-CN" altLang="en-US" dirty="0"/>
              <a:t>；</a:t>
            </a:r>
            <a:endParaRPr lang="en-US" altLang="zh-CN" dirty="0"/>
          </a:p>
          <a:p>
            <a:pPr lvl="1" eaLnBrk="1" hangingPunct="1">
              <a:lnSpc>
                <a:spcPct val="125000"/>
              </a:lnSpc>
              <a:buFont typeface="Wingdings" panose="05000000000000000000" pitchFamily="2" charset="2"/>
              <a:buNone/>
            </a:pPr>
            <a:r>
              <a:rPr lang="en-US" altLang="zh-CN" dirty="0"/>
              <a:t>       </a:t>
            </a:r>
            <a:r>
              <a:rPr lang="zh-CN" altLang="zh-CN" dirty="0"/>
              <a:t>使</a:t>
            </a:r>
            <a:r>
              <a:rPr lang="en-US" altLang="zh-CN" dirty="0"/>
              <a:t>R1</a:t>
            </a:r>
            <a:r>
              <a:rPr lang="zh-CN" altLang="zh-CN" dirty="0"/>
              <a:t>减少了</a:t>
            </a:r>
            <a:r>
              <a:rPr lang="en-US" altLang="zh-CN" dirty="0"/>
              <a:t>SELECT</a:t>
            </a:r>
            <a:r>
              <a:rPr lang="zh-CN" altLang="zh-CN" dirty="0"/>
              <a:t>权限</a:t>
            </a:r>
            <a:endParaRPr lang="en-US" altLang="zh-CN" dirty="0"/>
          </a:p>
          <a:p>
            <a:pPr lvl="1" eaLnBrk="1" hangingPunct="1">
              <a:lnSpc>
                <a:spcPct val="125000"/>
              </a:lnSpc>
              <a:buFont typeface="Wingdings" panose="05000000000000000000" pitchFamily="2" charset="2"/>
              <a:buNone/>
            </a:pPr>
            <a:endParaRPr lang="zh-CN" altLang="en-US" dirty="0"/>
          </a:p>
          <a:p>
            <a:pPr lvl="1" eaLnBrk="1" hangingPunct="1">
              <a:lnSpc>
                <a:spcPct val="125000"/>
              </a:lnSpc>
              <a:buFont typeface="Wingdings" panose="05000000000000000000" pitchFamily="2" charset="2"/>
              <a:buNone/>
            </a:pP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ctr" anchorCtr="0"/>
          <a:p>
            <a:r>
              <a:rPr lang="zh-CN" altLang="en-US" dirty="0"/>
              <a:t>关于权限 （</a:t>
            </a:r>
            <a:r>
              <a:rPr lang="en-US" altLang="zh-CN" dirty="0"/>
              <a:t>PG</a:t>
            </a:r>
            <a:r>
              <a:rPr lang="zh-CN" altLang="en-US" dirty="0"/>
              <a:t>）</a:t>
            </a:r>
            <a:endParaRPr lang="zh-CN" altLang="en-US" dirty="0"/>
          </a:p>
        </p:txBody>
      </p:sp>
      <p:sp>
        <p:nvSpPr>
          <p:cNvPr id="6147" name="内容占位符 2"/>
          <p:cNvSpPr>
            <a:spLocks noGrp="1"/>
          </p:cNvSpPr>
          <p:nvPr>
            <p:ph idx="1"/>
          </p:nvPr>
        </p:nvSpPr>
        <p:spPr>
          <a:xfrm>
            <a:off x="1981200" y="1001713"/>
            <a:ext cx="8229600" cy="4854575"/>
          </a:xfrm>
        </p:spPr>
        <p:txBody>
          <a:bodyPr vert="horz" wrap="square" lIns="91440" tIns="45720" rIns="91440" bIns="45720" anchor="t" anchorCtr="0"/>
          <a:p>
            <a:r>
              <a:rPr lang="en-US" altLang="zh-CN" sz="2400" dirty="0">
                <a:solidFill>
                  <a:srgbClr val="FF0000"/>
                </a:solidFill>
              </a:rPr>
              <a:t>SELECT</a:t>
            </a:r>
            <a:endParaRPr lang="en-US" altLang="zh-CN" sz="2400" dirty="0">
              <a:solidFill>
                <a:srgbClr val="FF0000"/>
              </a:solidFill>
            </a:endParaRPr>
          </a:p>
          <a:p>
            <a:r>
              <a:rPr lang="en-US" altLang="zh-CN" sz="2400" dirty="0">
                <a:solidFill>
                  <a:srgbClr val="FF0000"/>
                </a:solidFill>
              </a:rPr>
              <a:t>INSERT</a:t>
            </a:r>
            <a:endParaRPr lang="en-US" altLang="zh-CN" sz="2400" dirty="0">
              <a:solidFill>
                <a:srgbClr val="FF0000"/>
              </a:solidFill>
            </a:endParaRPr>
          </a:p>
          <a:p>
            <a:r>
              <a:rPr lang="en-US" altLang="zh-CN" sz="2400" dirty="0">
                <a:solidFill>
                  <a:srgbClr val="FF0000"/>
                </a:solidFill>
              </a:rPr>
              <a:t>UPDATE</a:t>
            </a:r>
            <a:endParaRPr lang="en-US" altLang="zh-CN" sz="2400" dirty="0">
              <a:solidFill>
                <a:srgbClr val="FF0000"/>
              </a:solidFill>
            </a:endParaRPr>
          </a:p>
          <a:p>
            <a:r>
              <a:rPr lang="en-US" altLang="zh-CN" sz="2400" dirty="0">
                <a:solidFill>
                  <a:srgbClr val="FF0000"/>
                </a:solidFill>
              </a:rPr>
              <a:t>DELETE</a:t>
            </a:r>
            <a:endParaRPr lang="en-US" altLang="zh-CN" sz="2400" dirty="0">
              <a:solidFill>
                <a:srgbClr val="FF0000"/>
              </a:solidFill>
            </a:endParaRPr>
          </a:p>
          <a:p>
            <a:r>
              <a:rPr lang="en-US" altLang="zh-CN" sz="2400" dirty="0"/>
              <a:t>TRUNCATE</a:t>
            </a:r>
            <a:endParaRPr lang="en-US" altLang="zh-CN" sz="2400" dirty="0"/>
          </a:p>
          <a:p>
            <a:r>
              <a:rPr lang="en-US" altLang="zh-CN" sz="2400" dirty="0">
                <a:solidFill>
                  <a:srgbClr val="FF0000"/>
                </a:solidFill>
              </a:rPr>
              <a:t>REFERENCES</a:t>
            </a:r>
            <a:endParaRPr lang="en-US" altLang="zh-CN" sz="2400" dirty="0">
              <a:solidFill>
                <a:srgbClr val="FF0000"/>
              </a:solidFill>
            </a:endParaRPr>
          </a:p>
          <a:p>
            <a:r>
              <a:rPr lang="en-US" altLang="zh-CN" sz="2400" dirty="0"/>
              <a:t>TRIGGER</a:t>
            </a:r>
            <a:endParaRPr lang="en-US" altLang="zh-CN" sz="2400" dirty="0"/>
          </a:p>
          <a:p>
            <a:r>
              <a:rPr lang="en-US" altLang="zh-CN" sz="2400" dirty="0"/>
              <a:t>CREATE</a:t>
            </a:r>
            <a:endParaRPr lang="en-US" altLang="zh-CN" sz="2400" dirty="0"/>
          </a:p>
          <a:p>
            <a:r>
              <a:rPr lang="en-US" altLang="zh-CN" sz="2400" dirty="0"/>
              <a:t>CONNECT</a:t>
            </a:r>
            <a:endParaRPr lang="en-US" altLang="zh-CN" sz="2400" dirty="0"/>
          </a:p>
          <a:p>
            <a:r>
              <a:rPr lang="en-US" altLang="zh-CN" sz="2400" dirty="0"/>
              <a:t>TEMPORARY</a:t>
            </a:r>
            <a:endParaRPr lang="en-US" altLang="zh-CN" sz="2400" dirty="0"/>
          </a:p>
          <a:p>
            <a:r>
              <a:rPr lang="en-US" altLang="zh-CN" sz="2400" dirty="0"/>
              <a:t>EXECUTE</a:t>
            </a:r>
            <a:endParaRPr lang="en-US" altLang="zh-CN" sz="2400" dirty="0"/>
          </a:p>
          <a:p>
            <a:r>
              <a:rPr lang="en-US" altLang="zh-CN" sz="2400" dirty="0">
                <a:solidFill>
                  <a:srgbClr val="FF0000"/>
                </a:solidFill>
              </a:rPr>
              <a:t>USAGE</a:t>
            </a:r>
            <a:endParaRPr lang="zh-CN" altLang="en-US" sz="2400" dirty="0">
              <a:solidFill>
                <a:srgbClr val="FF0000"/>
              </a:solidFill>
            </a:endParaRPr>
          </a:p>
        </p:txBody>
      </p:sp>
      <p:sp>
        <p:nvSpPr>
          <p:cNvPr id="6148" name="文本框 5"/>
          <p:cNvSpPr txBox="1"/>
          <p:nvPr/>
        </p:nvSpPr>
        <p:spPr>
          <a:xfrm>
            <a:off x="5862638" y="4581525"/>
            <a:ext cx="4319587" cy="46037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2400" b="0" dirty="0"/>
              <a:t>注意</a:t>
            </a:r>
            <a:r>
              <a:rPr lang="en-US" altLang="zh-CN" sz="2400" b="0" dirty="0"/>
              <a:t>USAGE</a:t>
            </a:r>
            <a:r>
              <a:rPr lang="zh-CN" altLang="en-US" sz="2400" b="0" dirty="0"/>
              <a:t>和</a:t>
            </a:r>
            <a:r>
              <a:rPr lang="en-US" altLang="zh-CN" sz="2400" b="0" dirty="0"/>
              <a:t>CONNECT</a:t>
            </a:r>
            <a:endParaRPr lang="zh-CN" altLang="en-US" sz="2400" b="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p:txBody>
          <a:bodyPr vert="horz" wrap="square" lIns="91440" tIns="45720" rIns="91440" bIns="45720" anchor="ctr" anchorCtr="0"/>
          <a:p>
            <a:r>
              <a:rPr lang="zh-CN" altLang="en-US" dirty="0"/>
              <a:t>关于对象（</a:t>
            </a:r>
            <a:r>
              <a:rPr lang="en-US" altLang="zh-CN" dirty="0"/>
              <a:t>PG</a:t>
            </a:r>
            <a:r>
              <a:rPr lang="zh-CN" altLang="en-US" dirty="0"/>
              <a:t>）</a:t>
            </a:r>
            <a:endParaRPr lang="zh-CN" altLang="en-US" dirty="0"/>
          </a:p>
        </p:txBody>
      </p:sp>
      <p:sp>
        <p:nvSpPr>
          <p:cNvPr id="7171" name="内容占位符 2"/>
          <p:cNvSpPr>
            <a:spLocks noGrp="1"/>
          </p:cNvSpPr>
          <p:nvPr>
            <p:ph idx="1"/>
          </p:nvPr>
        </p:nvSpPr>
        <p:spPr>
          <a:xfrm>
            <a:off x="1565275" y="836613"/>
            <a:ext cx="9083675" cy="4854575"/>
          </a:xfrm>
        </p:spPr>
        <p:txBody>
          <a:bodyPr vert="horz" wrap="square" lIns="91440" tIns="45720" rIns="91440" bIns="45720" anchor="t" anchorCtr="0"/>
          <a:p>
            <a:r>
              <a:rPr lang="en-US" altLang="zh-CN" dirty="0">
                <a:solidFill>
                  <a:srgbClr val="FF0000"/>
                </a:solidFill>
              </a:rPr>
              <a:t>TABLE </a:t>
            </a:r>
            <a:endParaRPr lang="en-US" altLang="zh-CN" dirty="0">
              <a:solidFill>
                <a:srgbClr val="FF0000"/>
              </a:solidFill>
            </a:endParaRPr>
          </a:p>
          <a:p>
            <a:r>
              <a:rPr lang="en-US" altLang="zh-CN" dirty="0">
                <a:solidFill>
                  <a:srgbClr val="FF0000"/>
                </a:solidFill>
              </a:rPr>
              <a:t>DOMAIN </a:t>
            </a:r>
            <a:endParaRPr lang="en-US" altLang="zh-CN" dirty="0">
              <a:solidFill>
                <a:srgbClr val="FF0000"/>
              </a:solidFill>
            </a:endParaRPr>
          </a:p>
          <a:p>
            <a:r>
              <a:rPr lang="en-US" altLang="zh-CN" dirty="0">
                <a:solidFill>
                  <a:srgbClr val="FF0000"/>
                </a:solidFill>
              </a:rPr>
              <a:t>COLLATION </a:t>
            </a:r>
            <a:endParaRPr lang="en-US" altLang="zh-CN" dirty="0">
              <a:solidFill>
                <a:srgbClr val="FF0000"/>
              </a:solidFill>
            </a:endParaRPr>
          </a:p>
          <a:p>
            <a:r>
              <a:rPr lang="en-US" altLang="zh-CN" dirty="0">
                <a:solidFill>
                  <a:srgbClr val="FF0000"/>
                </a:solidFill>
              </a:rPr>
              <a:t>CHARACTER SET </a:t>
            </a:r>
            <a:endParaRPr lang="en-US" altLang="zh-CN" dirty="0">
              <a:solidFill>
                <a:srgbClr val="FF0000"/>
              </a:solidFill>
            </a:endParaRPr>
          </a:p>
          <a:p>
            <a:r>
              <a:rPr lang="en-US" altLang="zh-CN" dirty="0">
                <a:solidFill>
                  <a:srgbClr val="FF0000"/>
                </a:solidFill>
              </a:rPr>
              <a:t>TRANSLATION</a:t>
            </a:r>
            <a:endParaRPr lang="en-US" altLang="zh-CN" dirty="0">
              <a:solidFill>
                <a:srgbClr val="FF0000"/>
              </a:solidFill>
            </a:endParaRPr>
          </a:p>
          <a:p>
            <a:r>
              <a:rPr lang="en-US" altLang="zh-CN" dirty="0"/>
              <a:t>SEQUENCE </a:t>
            </a:r>
            <a:endParaRPr lang="en-US" altLang="zh-CN" dirty="0"/>
          </a:p>
          <a:p>
            <a:r>
              <a:rPr lang="en-US" altLang="zh-CN" dirty="0"/>
              <a:t>DATABASE </a:t>
            </a:r>
            <a:endParaRPr lang="en-US" altLang="zh-CN" dirty="0"/>
          </a:p>
          <a:p>
            <a:r>
              <a:rPr lang="en-US" altLang="zh-CN" dirty="0"/>
              <a:t>FOREIGN DATA WRAPPER</a:t>
            </a:r>
            <a:endParaRPr lang="en-US" altLang="zh-CN" dirty="0"/>
          </a:p>
          <a:p>
            <a:r>
              <a:rPr lang="en-US" altLang="zh-CN" dirty="0"/>
              <a:t>FOREIGN SERVER</a:t>
            </a:r>
            <a:endParaRPr lang="en-US" altLang="zh-CN" dirty="0"/>
          </a:p>
          <a:p>
            <a:r>
              <a:rPr lang="en-US" altLang="zh-CN" dirty="0"/>
              <a:t>FUNCTION | PROCEDURE | ROUTINE</a:t>
            </a:r>
            <a:endParaRPr lang="en-US" altLang="zh-CN" dirty="0"/>
          </a:p>
          <a:p>
            <a:r>
              <a:rPr lang="en-US" altLang="zh-CN" dirty="0"/>
              <a:t>…… </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91440" tIns="45720" rIns="91440" bIns="45720" anchor="ctr" anchorCtr="0"/>
          <a:p>
            <a:pPr>
              <a:buNone/>
            </a:pPr>
            <a:r>
              <a:rPr lang="zh-CN" altLang="en-US" dirty="0"/>
              <a:t>关于权限和对象（</a:t>
            </a:r>
            <a:r>
              <a:rPr lang="en-US" altLang="zh-CN" dirty="0"/>
              <a:t>OpenGauss</a:t>
            </a:r>
            <a:r>
              <a:rPr lang="zh-CN" altLang="en-US" dirty="0"/>
              <a:t>）</a:t>
            </a:r>
            <a:endParaRPr lang="zh-CN" altLang="en-US" dirty="0"/>
          </a:p>
        </p:txBody>
      </p:sp>
      <p:pic>
        <p:nvPicPr>
          <p:cNvPr id="8196" name="图片 4"/>
          <p:cNvPicPr>
            <a:picLocks noChangeAspect="1"/>
          </p:cNvPicPr>
          <p:nvPr/>
        </p:nvPicPr>
        <p:blipFill>
          <a:blip r:embed="rId1"/>
          <a:stretch>
            <a:fillRect/>
          </a:stretch>
        </p:blipFill>
        <p:spPr>
          <a:xfrm>
            <a:off x="1524000" y="1330325"/>
            <a:ext cx="6124575" cy="3876675"/>
          </a:xfrm>
          <a:prstGeom prst="rect">
            <a:avLst/>
          </a:prstGeom>
          <a:noFill/>
          <a:ln w="9525">
            <a:noFill/>
          </a:ln>
        </p:spPr>
      </p:pic>
      <p:pic>
        <p:nvPicPr>
          <p:cNvPr id="8197" name="图片 6"/>
          <p:cNvPicPr>
            <a:picLocks noChangeAspect="1"/>
          </p:cNvPicPr>
          <p:nvPr/>
        </p:nvPicPr>
        <p:blipFill>
          <a:blip r:embed="rId2"/>
          <a:stretch>
            <a:fillRect/>
          </a:stretch>
        </p:blipFill>
        <p:spPr>
          <a:xfrm>
            <a:off x="8080375" y="1339850"/>
            <a:ext cx="2114550" cy="4076700"/>
          </a:xfrm>
          <a:prstGeom prst="rect">
            <a:avLst/>
          </a:prstGeom>
          <a:noFill/>
          <a:ln w="9525">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ctr" anchorCtr="0"/>
          <a:p>
            <a:r>
              <a:rPr lang="en-US" altLang="zh-CN" dirty="0"/>
              <a:t>With Grant Option</a:t>
            </a:r>
            <a:endParaRPr lang="zh-CN" altLang="en-US" dirty="0"/>
          </a:p>
        </p:txBody>
      </p:sp>
      <p:sp>
        <p:nvSpPr>
          <p:cNvPr id="10243" name="内容占位符 2"/>
          <p:cNvSpPr>
            <a:spLocks noGrp="1"/>
          </p:cNvSpPr>
          <p:nvPr>
            <p:ph idx="1"/>
          </p:nvPr>
        </p:nvSpPr>
        <p:spPr>
          <a:xfrm>
            <a:off x="1541463" y="1001713"/>
            <a:ext cx="9144000" cy="4854575"/>
          </a:xfrm>
        </p:spPr>
        <p:txBody>
          <a:bodyPr vert="horz" wrap="square" lIns="91440" tIns="45720" rIns="91440" bIns="45720" anchor="t" anchorCtr="0"/>
          <a:p>
            <a:r>
              <a:rPr lang="zh-CN" altLang="en-US" dirty="0"/>
              <a:t>教科书</a:t>
            </a:r>
            <a:endParaRPr lang="en-US" altLang="zh-CN" dirty="0"/>
          </a:p>
          <a:p>
            <a:pPr eaLnBrk="1" hangingPunct="1">
              <a:lnSpc>
                <a:spcPct val="120000"/>
              </a:lnSpc>
            </a:pPr>
            <a:r>
              <a:rPr lang="en-US" altLang="zh-CN" dirty="0"/>
              <a:t>WITH GRANT OPTION</a:t>
            </a:r>
            <a:r>
              <a:rPr lang="zh-CN" altLang="en-US" dirty="0"/>
              <a:t>子句</a:t>
            </a:r>
            <a:r>
              <a:rPr lang="en-US" altLang="zh-CN" dirty="0"/>
              <a:t>:</a:t>
            </a:r>
            <a:endParaRPr lang="en-US" altLang="zh-CN" dirty="0"/>
          </a:p>
          <a:p>
            <a:pPr lvl="1" eaLnBrk="1" hangingPunct="1">
              <a:lnSpc>
                <a:spcPct val="120000"/>
              </a:lnSpc>
            </a:pPr>
            <a:r>
              <a:rPr lang="zh-CN" altLang="en-US" dirty="0"/>
              <a:t>指定：可以</a:t>
            </a:r>
            <a:r>
              <a:rPr lang="zh-CN" altLang="en-US" dirty="0">
                <a:solidFill>
                  <a:srgbClr val="E02920"/>
                </a:solidFill>
              </a:rPr>
              <a:t>再授予</a:t>
            </a:r>
            <a:endParaRPr lang="zh-CN" altLang="en-US" dirty="0">
              <a:solidFill>
                <a:srgbClr val="E02920"/>
              </a:solidFill>
            </a:endParaRPr>
          </a:p>
          <a:p>
            <a:pPr lvl="1" eaLnBrk="1" hangingPunct="1">
              <a:lnSpc>
                <a:spcPct val="120000"/>
              </a:lnSpc>
            </a:pPr>
            <a:r>
              <a:rPr lang="zh-CN" altLang="en-US" dirty="0"/>
              <a:t>没有指定：</a:t>
            </a:r>
            <a:r>
              <a:rPr lang="zh-CN" altLang="en-US" dirty="0">
                <a:solidFill>
                  <a:srgbClr val="E02920"/>
                </a:solidFill>
              </a:rPr>
              <a:t>不能传播</a:t>
            </a:r>
            <a:endParaRPr lang="en-US" altLang="zh-CN" dirty="0"/>
          </a:p>
          <a:p>
            <a:r>
              <a:rPr lang="zh-CN" altLang="en-US" dirty="0"/>
              <a:t>将用户</a:t>
            </a:r>
            <a:r>
              <a:rPr lang="en-US" altLang="zh-CN" dirty="0"/>
              <a:t>U5</a:t>
            </a:r>
            <a:r>
              <a:rPr lang="zh-CN" altLang="en-US" dirty="0"/>
              <a:t>的</a:t>
            </a:r>
            <a:r>
              <a:rPr lang="en-US" altLang="zh-CN" dirty="0"/>
              <a:t>INSERT</a:t>
            </a:r>
            <a:r>
              <a:rPr lang="zh-CN" altLang="en-US" dirty="0"/>
              <a:t>权限收回的时候应该使用</a:t>
            </a:r>
            <a:r>
              <a:rPr lang="en-US" altLang="zh-CN" dirty="0"/>
              <a:t>CASCADE</a:t>
            </a:r>
            <a:r>
              <a:rPr lang="zh-CN" altLang="en-US" dirty="0"/>
              <a:t>，否则拒绝执行该语句 </a:t>
            </a:r>
            <a:endParaRPr lang="zh-CN" altLang="en-US" dirty="0"/>
          </a:p>
          <a:p>
            <a:endParaRPr lang="zh-CN"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ctr" anchorCtr="0"/>
          <a:p>
            <a:pPr>
              <a:buNone/>
            </a:pPr>
            <a:r>
              <a:rPr lang="en-US" altLang="zh-CN" dirty="0"/>
              <a:t>openGauss</a:t>
            </a:r>
            <a:endParaRPr lang="zh-CN" altLang="en-US" dirty="0"/>
          </a:p>
        </p:txBody>
      </p:sp>
      <p:sp>
        <p:nvSpPr>
          <p:cNvPr id="11267" name="内容占位符 2"/>
          <p:cNvSpPr>
            <a:spLocks noGrp="1"/>
          </p:cNvSpPr>
          <p:nvPr>
            <p:ph idx="1"/>
          </p:nvPr>
        </p:nvSpPr>
        <p:spPr>
          <a:xfrm>
            <a:off x="1981200" y="1339850"/>
            <a:ext cx="8507413" cy="4854575"/>
          </a:xfrm>
        </p:spPr>
        <p:txBody>
          <a:bodyPr vert="horz" wrap="square" lIns="91440" tIns="45720" rIns="91440" bIns="45720" anchor="t" anchorCtr="0"/>
          <a:p>
            <a:r>
              <a:rPr lang="zh-CN" altLang="en-US" dirty="0"/>
              <a:t>支持</a:t>
            </a:r>
            <a:r>
              <a:rPr lang="en-US" altLang="zh-CN" dirty="0"/>
              <a:t>with grant option</a:t>
            </a:r>
            <a:endParaRPr lang="en-US" altLang="zh-CN" dirty="0"/>
          </a:p>
          <a:p>
            <a:r>
              <a:rPr lang="zh-CN" altLang="en-US" dirty="0"/>
              <a:t>如果声明了</a:t>
            </a:r>
            <a:r>
              <a:rPr lang="en-US" altLang="zh-CN" dirty="0"/>
              <a:t>WITH GRANT OPTION</a:t>
            </a:r>
            <a:r>
              <a:rPr lang="zh-CN" altLang="en-US" dirty="0"/>
              <a:t>，则被授权的用户也可以将此权限赋予他人，否则就不能授权给他人。</a:t>
            </a:r>
            <a:endParaRPr lang="en-US" altLang="zh-CN" dirty="0"/>
          </a:p>
          <a:p>
            <a:r>
              <a:rPr lang="zh-CN" altLang="en-US" dirty="0"/>
              <a:t>当声明了</a:t>
            </a:r>
            <a:r>
              <a:rPr lang="en-US" altLang="zh-CN" dirty="0"/>
              <a:t>WITH ADMIN OPTION</a:t>
            </a:r>
            <a:r>
              <a:rPr lang="zh-CN" altLang="en-US" dirty="0"/>
              <a:t>，被授权的用户可以将该权限再次授予其他角色或用户，以及撤销所有由该角色或用户继承到的权限。当授权的角色或用户发生变更或被撤销时，所有继承该角色或用户权限的用户拥有的权限都会随之发生变更。</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en-US" altLang="zh-CN" dirty="0"/>
              <a:t>PG  </a:t>
            </a:r>
            <a:r>
              <a:rPr lang="en-US" altLang="zh-CN" dirty="0">
                <a:sym typeface="Wingdings" panose="05000000000000000000" pitchFamily="2" charset="2"/>
              </a:rPr>
              <a:t></a:t>
            </a:r>
            <a:endParaRPr lang="zh-CN" altLang="en-US" dirty="0"/>
          </a:p>
        </p:txBody>
      </p:sp>
      <p:sp>
        <p:nvSpPr>
          <p:cNvPr id="12291" name="内容占位符 2"/>
          <p:cNvSpPr>
            <a:spLocks noGrp="1"/>
          </p:cNvSpPr>
          <p:nvPr>
            <p:ph idx="1"/>
          </p:nvPr>
        </p:nvSpPr>
        <p:spPr/>
        <p:txBody>
          <a:bodyPr vert="horz" wrap="square" lIns="91440" tIns="45720" rIns="91440" bIns="45720" anchor="t" anchorCtr="0"/>
          <a:p>
            <a:r>
              <a:rPr lang="en-US" altLang="zh-CN" dirty="0"/>
              <a:t>PG </a:t>
            </a:r>
            <a:r>
              <a:rPr lang="zh-CN" altLang="en-US" dirty="0"/>
              <a:t>的做法同教科书</a:t>
            </a:r>
            <a:endParaRPr lang="en-US" altLang="zh-CN" dirty="0"/>
          </a:p>
          <a:p>
            <a:r>
              <a:rPr lang="en-US" altLang="zh-CN" dirty="0"/>
              <a:t>If the privilege or the grant option held by the first user is being revoked and dependent privileges exist, </a:t>
            </a:r>
            <a:r>
              <a:rPr lang="en-US" altLang="zh-CN" dirty="0">
                <a:solidFill>
                  <a:srgbClr val="FF0000"/>
                </a:solidFill>
              </a:rPr>
              <a:t>those dependent privileges are also revoked if CASCADE is specified; if it is not, the revoke action will fail.</a:t>
            </a:r>
            <a:endParaRPr lang="zh-CN" altLang="en-US" dirty="0">
              <a:solidFill>
                <a:srgbClr val="FF0000"/>
              </a:solidFill>
            </a:endParaRPr>
          </a:p>
          <a:p>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ctr" anchorCtr="0"/>
          <a:p>
            <a:r>
              <a:rPr lang="en-US" altLang="zh-CN" dirty="0"/>
              <a:t>MySQL </a:t>
            </a:r>
            <a:r>
              <a:rPr lang="en-US" altLang="zh-CN" dirty="0">
                <a:sym typeface="Wingdings" panose="05000000000000000000" pitchFamily="2" charset="2"/>
              </a:rPr>
              <a:t></a:t>
            </a:r>
            <a:endParaRPr lang="zh-CN" altLang="en-US" dirty="0"/>
          </a:p>
        </p:txBody>
      </p:sp>
      <p:sp>
        <p:nvSpPr>
          <p:cNvPr id="13315" name="内容占位符 2"/>
          <p:cNvSpPr>
            <a:spLocks noGrp="1"/>
          </p:cNvSpPr>
          <p:nvPr>
            <p:ph idx="1"/>
          </p:nvPr>
        </p:nvSpPr>
        <p:spPr/>
        <p:txBody>
          <a:bodyPr vert="horz" wrap="square" lIns="91440" tIns="45720" rIns="91440" bIns="45720" anchor="t" anchorCtr="0"/>
          <a:p>
            <a:r>
              <a:rPr lang="en-US" altLang="zh-CN" dirty="0"/>
              <a:t>Mysql </a:t>
            </a:r>
            <a:r>
              <a:rPr lang="zh-CN" altLang="en-US" dirty="0"/>
              <a:t>在</a:t>
            </a:r>
            <a:r>
              <a:rPr lang="en-US" altLang="zh-CN" dirty="0"/>
              <a:t>grant</a:t>
            </a:r>
            <a:r>
              <a:rPr lang="zh-CN" altLang="en-US" dirty="0"/>
              <a:t>语句部分，允许 </a:t>
            </a:r>
            <a:r>
              <a:rPr lang="en-US" altLang="zh-CN" dirty="0"/>
              <a:t>With Grant Option</a:t>
            </a:r>
            <a:endParaRPr lang="en-US" altLang="zh-CN" dirty="0"/>
          </a:p>
          <a:p>
            <a:endParaRPr lang="en-US" altLang="zh-CN" dirty="0"/>
          </a:p>
          <a:p>
            <a:r>
              <a:rPr lang="zh-CN" altLang="en-US" dirty="0"/>
              <a:t>但</a:t>
            </a:r>
            <a:r>
              <a:rPr lang="en-US" altLang="zh-CN" dirty="0"/>
              <a:t>revoke</a:t>
            </a:r>
            <a:r>
              <a:rPr lang="zh-CN" altLang="en-US" dirty="0"/>
              <a:t>有点奇妙</a:t>
            </a:r>
            <a:endParaRPr lang="en-US" altLang="zh-CN" dirty="0"/>
          </a:p>
          <a:p>
            <a:r>
              <a:rPr lang="zh-CN" altLang="en-US" dirty="0"/>
              <a:t>官网没有介绍，从第三方资料查到应该不支持</a:t>
            </a:r>
            <a:r>
              <a:rPr lang="en-US" altLang="zh-CN" dirty="0"/>
              <a:t>cascade</a:t>
            </a:r>
            <a:endParaRPr lang="en-US" altLang="zh-CN" dirty="0"/>
          </a:p>
          <a:p>
            <a:r>
              <a:rPr lang="zh-CN" altLang="en-US" dirty="0"/>
              <a:t>有个评论说</a:t>
            </a:r>
            <a:endParaRPr lang="en-US" altLang="zh-CN" dirty="0"/>
          </a:p>
          <a:p>
            <a:r>
              <a:rPr lang="en-US" altLang="zh-CN" b="0" dirty="0"/>
              <a:t>MySQL is not able to do such a thing, because it </a:t>
            </a:r>
            <a:r>
              <a:rPr lang="en-US" altLang="zh-CN" b="0" dirty="0">
                <a:solidFill>
                  <a:srgbClr val="C00000"/>
                </a:solidFill>
              </a:rPr>
              <a:t>doesn't record</a:t>
            </a:r>
            <a:r>
              <a:rPr lang="en-US" altLang="zh-CN" b="0" dirty="0"/>
              <a:t> the </a:t>
            </a:r>
            <a:r>
              <a:rPr lang="en-US" altLang="zh-CN" dirty="0"/>
              <a:t>grantor</a:t>
            </a:r>
            <a:r>
              <a:rPr lang="en-US" altLang="zh-CN" b="0" dirty="0"/>
              <a:t> of each privilege. </a:t>
            </a:r>
            <a:endParaRPr lang="en-US" altLang="zh-CN" b="0" dirty="0"/>
          </a:p>
          <a:p>
            <a:r>
              <a:rPr lang="zh-CN" altLang="en-US" b="0" dirty="0"/>
              <a:t>我比较赞同</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zh-CN" altLang="en-US" dirty="0">
                <a:sym typeface="+mn-ea"/>
              </a:rPr>
              <a:t>讨论</a:t>
            </a:r>
            <a:endParaRPr lang="zh-CN" altLang="en-US" dirty="0">
              <a:sym typeface="+mn-ea"/>
            </a:endParaRPr>
          </a:p>
        </p:txBody>
      </p:sp>
      <p:pic>
        <p:nvPicPr>
          <p:cNvPr id="17412" name="图片 3"/>
          <p:cNvPicPr>
            <a:picLocks noChangeAspect="1"/>
          </p:cNvPicPr>
          <p:nvPr/>
        </p:nvPicPr>
        <p:blipFill>
          <a:blip r:embed="rId1"/>
          <a:stretch>
            <a:fillRect/>
          </a:stretch>
        </p:blipFill>
        <p:spPr>
          <a:xfrm>
            <a:off x="1270635" y="938530"/>
            <a:ext cx="5012055" cy="2452370"/>
          </a:xfrm>
          <a:prstGeom prst="rect">
            <a:avLst/>
          </a:prstGeom>
          <a:noFill/>
          <a:ln w="9525">
            <a:noFill/>
          </a:ln>
        </p:spPr>
      </p:pic>
      <p:pic>
        <p:nvPicPr>
          <p:cNvPr id="17414" name="图片 5"/>
          <p:cNvPicPr>
            <a:picLocks noChangeAspect="1"/>
          </p:cNvPicPr>
          <p:nvPr/>
        </p:nvPicPr>
        <p:blipFill>
          <a:blip r:embed="rId2"/>
          <a:stretch>
            <a:fillRect/>
          </a:stretch>
        </p:blipFill>
        <p:spPr>
          <a:xfrm>
            <a:off x="1270635" y="3717290"/>
            <a:ext cx="5893435" cy="2404745"/>
          </a:xfrm>
          <a:prstGeom prst="rect">
            <a:avLst/>
          </a:prstGeom>
          <a:noFill/>
          <a:ln w="9525">
            <a:noFill/>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zh-CN" altLang="en-US" dirty="0">
                <a:sym typeface="+mn-ea"/>
              </a:rPr>
              <a:t>实验验证</a:t>
            </a:r>
            <a:endParaRPr lang="zh-CN" altLang="en-US" dirty="0"/>
          </a:p>
        </p:txBody>
      </p:sp>
      <p:pic>
        <p:nvPicPr>
          <p:cNvPr id="17412" name="图片 3"/>
          <p:cNvPicPr>
            <a:picLocks noChangeAspect="1"/>
          </p:cNvPicPr>
          <p:nvPr/>
        </p:nvPicPr>
        <p:blipFill>
          <a:blip r:embed="rId1"/>
          <a:stretch>
            <a:fillRect/>
          </a:stretch>
        </p:blipFill>
        <p:spPr>
          <a:xfrm>
            <a:off x="1524000" y="938213"/>
            <a:ext cx="3513138" cy="1719262"/>
          </a:xfrm>
          <a:prstGeom prst="rect">
            <a:avLst/>
          </a:prstGeom>
          <a:noFill/>
          <a:ln w="9525">
            <a:noFill/>
          </a:ln>
        </p:spPr>
      </p:pic>
      <p:pic>
        <p:nvPicPr>
          <p:cNvPr id="17413" name="图片 4"/>
          <p:cNvPicPr>
            <a:picLocks noChangeAspect="1"/>
          </p:cNvPicPr>
          <p:nvPr/>
        </p:nvPicPr>
        <p:blipFill>
          <a:blip r:embed="rId2"/>
          <a:stretch>
            <a:fillRect/>
          </a:stretch>
        </p:blipFill>
        <p:spPr>
          <a:xfrm>
            <a:off x="1524000" y="2828925"/>
            <a:ext cx="4921250" cy="3778250"/>
          </a:xfrm>
          <a:prstGeom prst="rect">
            <a:avLst/>
          </a:prstGeom>
          <a:noFill/>
          <a:ln w="9525">
            <a:noFill/>
          </a:ln>
        </p:spPr>
      </p:pic>
      <p:pic>
        <p:nvPicPr>
          <p:cNvPr id="17414" name="图片 5"/>
          <p:cNvPicPr>
            <a:picLocks noChangeAspect="1"/>
          </p:cNvPicPr>
          <p:nvPr/>
        </p:nvPicPr>
        <p:blipFill>
          <a:blip r:embed="rId3"/>
          <a:stretch>
            <a:fillRect/>
          </a:stretch>
        </p:blipFill>
        <p:spPr>
          <a:xfrm>
            <a:off x="6445250" y="1019175"/>
            <a:ext cx="4014788" cy="1638300"/>
          </a:xfrm>
          <a:prstGeom prst="rect">
            <a:avLst/>
          </a:prstGeom>
          <a:noFill/>
          <a:ln w="9525">
            <a:noFill/>
          </a:ln>
        </p:spPr>
      </p:pic>
      <p:pic>
        <p:nvPicPr>
          <p:cNvPr id="17415" name="图片 6"/>
          <p:cNvPicPr>
            <a:picLocks noChangeAspect="1"/>
          </p:cNvPicPr>
          <p:nvPr/>
        </p:nvPicPr>
        <p:blipFill>
          <a:blip r:embed="rId4"/>
          <a:stretch>
            <a:fillRect/>
          </a:stretch>
        </p:blipFill>
        <p:spPr>
          <a:xfrm>
            <a:off x="4191000" y="2828925"/>
            <a:ext cx="6143625" cy="2495550"/>
          </a:xfrm>
          <a:prstGeom prst="rect">
            <a:avLst/>
          </a:prstGeom>
          <a:noFill/>
          <a:ln w="9525">
            <a:noFill/>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ctr" anchorCtr="0"/>
          <a:p>
            <a:r>
              <a:rPr lang="zh-CN" altLang="en-US" dirty="0"/>
              <a:t>授权相关</a:t>
            </a:r>
            <a:endParaRPr lang="zh-CN" altLang="en-US" dirty="0"/>
          </a:p>
        </p:txBody>
      </p:sp>
      <p:sp>
        <p:nvSpPr>
          <p:cNvPr id="16387" name="内容占位符 2"/>
          <p:cNvSpPr>
            <a:spLocks noGrp="1"/>
          </p:cNvSpPr>
          <p:nvPr>
            <p:ph idx="1"/>
          </p:nvPr>
        </p:nvSpPr>
        <p:spPr/>
        <p:txBody>
          <a:bodyPr vert="horz" wrap="square" lIns="91440" tIns="45720" rIns="91440" bIns="45720" anchor="t" anchorCtr="0"/>
          <a:p>
            <a:r>
              <a:rPr lang="en-US" altLang="zh-CN" dirty="0"/>
              <a:t>PG</a:t>
            </a:r>
            <a:r>
              <a:rPr lang="zh-CN" altLang="en-US" dirty="0"/>
              <a:t>：权限记录在</a:t>
            </a:r>
            <a:r>
              <a:rPr lang="en-US" altLang="zh-CN" dirty="0"/>
              <a:t>table_privileges</a:t>
            </a:r>
            <a:r>
              <a:rPr lang="zh-CN" altLang="en-US" dirty="0"/>
              <a:t>中</a:t>
            </a:r>
            <a:endParaRPr lang="en-US" altLang="zh-CN" dirty="0"/>
          </a:p>
          <a:p>
            <a:r>
              <a:rPr lang="en-US" altLang="zh-CN" dirty="0"/>
              <a:t>PG</a:t>
            </a:r>
            <a:r>
              <a:rPr lang="zh-CN" altLang="en-US" dirty="0"/>
              <a:t>记录了权限的来源，可能允许独立授权和独立收回（需要实验验证）</a:t>
            </a:r>
            <a:endParaRPr lang="zh-CN" altLang="en-US" dirty="0"/>
          </a:p>
        </p:txBody>
      </p:sp>
      <p:pic>
        <p:nvPicPr>
          <p:cNvPr id="16388" name="图片 4"/>
          <p:cNvPicPr>
            <a:picLocks noChangeAspect="1"/>
          </p:cNvPicPr>
          <p:nvPr/>
        </p:nvPicPr>
        <p:blipFill>
          <a:blip r:embed="rId1"/>
          <a:stretch>
            <a:fillRect/>
          </a:stretch>
        </p:blipFill>
        <p:spPr>
          <a:xfrm>
            <a:off x="2079625" y="3003550"/>
            <a:ext cx="8229600" cy="2425700"/>
          </a:xfrm>
          <a:prstGeom prst="rect">
            <a:avLst/>
          </a:prstGeom>
          <a:noFill/>
          <a:ln w="9525">
            <a:noFill/>
          </a:ln>
        </p:spPr>
      </p:pic>
      <p:sp>
        <p:nvSpPr>
          <p:cNvPr id="16389" name="矩形 5"/>
          <p:cNvSpPr/>
          <p:nvPr/>
        </p:nvSpPr>
        <p:spPr>
          <a:xfrm>
            <a:off x="2097088" y="5640388"/>
            <a:ext cx="4572000" cy="82994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2400" b="0" dirty="0">
                <a:solidFill>
                  <a:srgbClr val="FF0000"/>
                </a:solidFill>
              </a:rPr>
              <a:t>DBA</a:t>
            </a:r>
            <a:r>
              <a:rPr lang="zh-CN" altLang="en-US" sz="2400" b="0" dirty="0">
                <a:solidFill>
                  <a:srgbClr val="FF0000"/>
                </a:solidFill>
              </a:rPr>
              <a:t>必须掌握查看权限的方法</a:t>
            </a:r>
            <a:endParaRPr lang="en-US" altLang="zh-CN" sz="2400" b="0" dirty="0">
              <a:solidFill>
                <a:srgbClr val="FF0000"/>
              </a:solidFill>
            </a:endParaRPr>
          </a:p>
          <a:p>
            <a:pPr marL="0" lvl="0" indent="0">
              <a:spcBef>
                <a:spcPct val="0"/>
              </a:spcBef>
              <a:buSzTx/>
              <a:buFontTx/>
              <a:buNone/>
            </a:pPr>
            <a:r>
              <a:rPr lang="zh-CN" altLang="en-US" sz="2400" b="0" dirty="0">
                <a:solidFill>
                  <a:srgbClr val="FF0000"/>
                </a:solidFill>
              </a:rPr>
              <a:t>也应该了解系统表（数据字典）</a:t>
            </a:r>
            <a:endParaRPr lang="zh-CN" altLang="en-US" sz="2400" b="0" dirty="0">
              <a:solidFill>
                <a:srgbClr val="FF000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0898" name="Rectangle 2"/>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endParaRPr lang="zh-CN" altLang="en-US" sz="3600"/>
          </a:p>
        </p:txBody>
      </p:sp>
      <p:sp>
        <p:nvSpPr>
          <p:cNvPr id="80899" name="Rectangle 3"/>
          <p:cNvSpPr>
            <a:spLocks noGrp="1" noChangeArrowheads="1"/>
          </p:cNvSpPr>
          <p:nvPr>
            <p:ph type="body" idx="4294967295"/>
          </p:nvPr>
        </p:nvSpPr>
        <p:spPr>
          <a:xfrm>
            <a:off x="1631504" y="1181100"/>
            <a:ext cx="7186612" cy="4495800"/>
          </a:xfrm>
        </p:spPr>
        <p:txBody>
          <a:bodyPr/>
          <a:lstStyle/>
          <a:p>
            <a:pPr eaLnBrk="1" hangingPunct="1">
              <a:lnSpc>
                <a:spcPct val="160000"/>
              </a:lnSpc>
              <a:buFont typeface="Wingdings" panose="05000000000000000000" pitchFamily="2" charset="2"/>
              <a:buNone/>
            </a:pPr>
            <a:r>
              <a:rPr lang="en-US" altLang="zh-CN" dirty="0"/>
              <a:t>4.2.1 </a:t>
            </a:r>
            <a:r>
              <a:rPr lang="zh-CN" altLang="en-US" dirty="0"/>
              <a:t>用户标识与鉴别</a:t>
            </a:r>
            <a:endParaRPr lang="zh-CN" altLang="en-US" dirty="0"/>
          </a:p>
          <a:p>
            <a:pPr eaLnBrk="1" hangingPunct="1">
              <a:lnSpc>
                <a:spcPct val="160000"/>
              </a:lnSpc>
              <a:buFont typeface="Wingdings" panose="05000000000000000000" pitchFamily="2" charset="2"/>
              <a:buNone/>
            </a:pPr>
            <a:r>
              <a:rPr lang="en-US" altLang="zh-CN" dirty="0"/>
              <a:t>4.2.2 </a:t>
            </a:r>
            <a:r>
              <a:rPr lang="zh-CN" altLang="en-US" dirty="0"/>
              <a:t>存取控制</a:t>
            </a:r>
            <a:endParaRPr lang="zh-CN" altLang="en-US" dirty="0"/>
          </a:p>
          <a:p>
            <a:pPr eaLnBrk="1" hangingPunct="1">
              <a:lnSpc>
                <a:spcPct val="160000"/>
              </a:lnSpc>
              <a:buFont typeface="Wingdings" panose="05000000000000000000" pitchFamily="2" charset="2"/>
              <a:buNone/>
            </a:pPr>
            <a:r>
              <a:rPr lang="en-US" altLang="zh-CN" dirty="0"/>
              <a:t>4.2.3 </a:t>
            </a:r>
            <a:r>
              <a:rPr lang="zh-CN" altLang="en-US" dirty="0"/>
              <a:t>自主存取控制方法</a:t>
            </a:r>
            <a:endParaRPr lang="zh-CN" altLang="en-US" dirty="0"/>
          </a:p>
          <a:p>
            <a:pPr eaLnBrk="1" hangingPunct="1">
              <a:lnSpc>
                <a:spcPct val="160000"/>
              </a:lnSpc>
              <a:buFont typeface="Wingdings" panose="05000000000000000000" pitchFamily="2" charset="2"/>
              <a:buNone/>
            </a:pPr>
            <a:r>
              <a:rPr lang="en-US" altLang="zh-CN" dirty="0"/>
              <a:t>4.2.4 </a:t>
            </a:r>
            <a:r>
              <a:rPr lang="zh-CN" altLang="en-US" dirty="0"/>
              <a:t>授权与收回</a:t>
            </a:r>
            <a:endParaRPr lang="zh-CN" altLang="en-US" dirty="0"/>
          </a:p>
          <a:p>
            <a:pPr eaLnBrk="1" hangingPunct="1">
              <a:lnSpc>
                <a:spcPct val="160000"/>
              </a:lnSpc>
              <a:buFont typeface="Wingdings" panose="05000000000000000000" pitchFamily="2" charset="2"/>
              <a:buNone/>
            </a:pPr>
            <a:r>
              <a:rPr lang="en-US" altLang="zh-CN" dirty="0"/>
              <a:t>4.2.5 </a:t>
            </a:r>
            <a:r>
              <a:rPr lang="zh-CN" altLang="en-US" dirty="0"/>
              <a:t>数据库角色</a:t>
            </a:r>
            <a:endParaRPr lang="zh-CN" altLang="en-US" dirty="0"/>
          </a:p>
          <a:p>
            <a:pPr eaLnBrk="1" hangingPunct="1">
              <a:lnSpc>
                <a:spcPct val="160000"/>
              </a:lnSpc>
              <a:buFont typeface="Wingdings" panose="05000000000000000000" pitchFamily="2" charset="2"/>
              <a:buNone/>
            </a:pPr>
            <a:r>
              <a:rPr lang="en-US" altLang="zh-CN" dirty="0">
                <a:solidFill>
                  <a:srgbClr val="00B050"/>
                </a:solidFill>
              </a:rPr>
              <a:t>4.2.6 </a:t>
            </a:r>
            <a:r>
              <a:rPr lang="zh-CN" altLang="en-US" dirty="0">
                <a:solidFill>
                  <a:srgbClr val="00B050"/>
                </a:solidFill>
              </a:rPr>
              <a:t>强制存取控制方法</a:t>
            </a:r>
            <a:endParaRPr lang="zh-CN" altLang="en-US" dirty="0">
              <a:solidFill>
                <a:srgbClr val="00B050"/>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1922" name="Rectangle 2"/>
          <p:cNvSpPr>
            <a:spLocks noGrp="1" noChangeArrowheads="1"/>
          </p:cNvSpPr>
          <p:nvPr>
            <p:ph type="title" idx="4294967295"/>
          </p:nvPr>
        </p:nvSpPr>
        <p:spPr/>
        <p:txBody>
          <a:bodyPr/>
          <a:lstStyle/>
          <a:p>
            <a:pPr eaLnBrk="1" hangingPunct="1"/>
            <a:r>
              <a:rPr lang="zh-CN" altLang="zh-CN" sz="3600"/>
              <a:t>自主存取控制缺点</a:t>
            </a:r>
            <a:endParaRPr lang="zh-CN" altLang="zh-CN" sz="3600"/>
          </a:p>
        </p:txBody>
      </p:sp>
      <p:sp>
        <p:nvSpPr>
          <p:cNvPr id="81923" name="Rectangle 3"/>
          <p:cNvSpPr>
            <a:spLocks noGrp="1" noChangeArrowheads="1"/>
          </p:cNvSpPr>
          <p:nvPr>
            <p:ph type="body" idx="4294967295"/>
          </p:nvPr>
        </p:nvSpPr>
        <p:spPr>
          <a:xfrm>
            <a:off x="868524" y="1556792"/>
            <a:ext cx="10454952" cy="4502844"/>
          </a:xfrm>
        </p:spPr>
        <p:txBody>
          <a:bodyPr/>
          <a:lstStyle/>
          <a:p>
            <a:pPr eaLnBrk="1" hangingPunct="1">
              <a:lnSpc>
                <a:spcPct val="160000"/>
              </a:lnSpc>
            </a:pPr>
            <a:r>
              <a:rPr lang="zh-CN" altLang="en-US" dirty="0"/>
              <a:t>可能存在数据的“无意泄露”</a:t>
            </a:r>
            <a:endParaRPr lang="zh-CN" altLang="en-US" dirty="0"/>
          </a:p>
          <a:p>
            <a:pPr eaLnBrk="1" hangingPunct="1">
              <a:lnSpc>
                <a:spcPct val="160000"/>
              </a:lnSpc>
            </a:pPr>
            <a:r>
              <a:rPr lang="zh-CN" altLang="en-US" dirty="0"/>
              <a:t>原因：这种机制仅仅通过对数据的存取权限来进行安全控制，而数据本身并无安全性标记</a:t>
            </a:r>
            <a:endParaRPr lang="zh-CN" altLang="en-US" dirty="0"/>
          </a:p>
          <a:p>
            <a:pPr eaLnBrk="1" hangingPunct="1">
              <a:lnSpc>
                <a:spcPct val="160000"/>
              </a:lnSpc>
            </a:pPr>
            <a:r>
              <a:rPr lang="zh-CN" altLang="en-US" dirty="0"/>
              <a:t>解决：对系统控制下的所有主客体实施强制存取控制策略</a:t>
            </a:r>
            <a:endParaRPr lang="zh-CN" altLang="en-US" dirty="0"/>
          </a:p>
          <a:p>
            <a:pPr lvl="2" eaLnBrk="1" hangingPunct="1">
              <a:spcBef>
                <a:spcPct val="60000"/>
              </a:spcBef>
              <a:buFont typeface="Arial" panose="020B0604020202020204" pitchFamily="34" charset="0"/>
              <a:buNone/>
            </a:pPr>
            <a:r>
              <a:rPr lang="zh-CN" altLang="en-US" sz="2400" dirty="0"/>
              <a:t>    </a:t>
            </a:r>
            <a:endParaRPr lang="zh-CN" altLang="en-US" sz="2400"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2946" name="Rectangle 2"/>
          <p:cNvSpPr>
            <a:spLocks noGrp="1" noChangeArrowheads="1"/>
          </p:cNvSpPr>
          <p:nvPr>
            <p:ph type="title" idx="4294967295"/>
          </p:nvPr>
        </p:nvSpPr>
        <p:spPr/>
        <p:txBody>
          <a:bodyPr/>
          <a:lstStyle/>
          <a:p>
            <a:pPr eaLnBrk="1" hangingPunct="1"/>
            <a:r>
              <a:rPr lang="en-US" altLang="zh-CN" sz="3600"/>
              <a:t>4.2.6  </a:t>
            </a:r>
            <a:r>
              <a:rPr lang="zh-CN" altLang="en-US" sz="3600"/>
              <a:t>强制存取控制方法</a:t>
            </a:r>
            <a:endParaRPr lang="zh-CN" altLang="en-US" sz="3600"/>
          </a:p>
        </p:txBody>
      </p:sp>
      <p:sp>
        <p:nvSpPr>
          <p:cNvPr id="82947" name="Rectangle 3"/>
          <p:cNvSpPr>
            <a:spLocks noGrp="1" noChangeArrowheads="1"/>
          </p:cNvSpPr>
          <p:nvPr>
            <p:ph type="body" idx="4294967295"/>
          </p:nvPr>
        </p:nvSpPr>
        <p:spPr/>
        <p:txBody>
          <a:bodyPr/>
          <a:lstStyle/>
          <a:p>
            <a:pPr eaLnBrk="1" hangingPunct="1">
              <a:lnSpc>
                <a:spcPct val="90000"/>
              </a:lnSpc>
            </a:pPr>
            <a:r>
              <a:rPr lang="zh-CN" altLang="en-US" dirty="0"/>
              <a:t>强制存取控制（</a:t>
            </a:r>
            <a:r>
              <a:rPr lang="en-US" altLang="zh-CN" dirty="0"/>
              <a:t>MAC</a:t>
            </a:r>
            <a:r>
              <a:rPr lang="zh-CN" altLang="en-US" dirty="0"/>
              <a:t>）</a:t>
            </a:r>
            <a:endParaRPr lang="en-US" altLang="zh-CN" dirty="0"/>
          </a:p>
          <a:p>
            <a:pPr lvl="1" eaLnBrk="1" hangingPunct="1">
              <a:lnSpc>
                <a:spcPct val="130000"/>
              </a:lnSpc>
            </a:pPr>
            <a:r>
              <a:rPr lang="zh-CN" altLang="en-US" dirty="0"/>
              <a:t>保证更高程度的安全性</a:t>
            </a:r>
            <a:endParaRPr lang="zh-CN" altLang="en-US" dirty="0"/>
          </a:p>
          <a:p>
            <a:pPr lvl="1" eaLnBrk="1" hangingPunct="1">
              <a:lnSpc>
                <a:spcPct val="130000"/>
              </a:lnSpc>
              <a:spcBef>
                <a:spcPct val="50000"/>
              </a:spcBef>
            </a:pPr>
            <a:r>
              <a:rPr lang="zh-CN" altLang="en-US" dirty="0"/>
              <a:t>用户不能直接感知或进行控制</a:t>
            </a:r>
            <a:endParaRPr lang="zh-CN" altLang="en-US" dirty="0"/>
          </a:p>
          <a:p>
            <a:pPr lvl="1" eaLnBrk="1" hangingPunct="1">
              <a:lnSpc>
                <a:spcPct val="130000"/>
              </a:lnSpc>
              <a:spcBef>
                <a:spcPct val="50000"/>
              </a:spcBef>
            </a:pPr>
            <a:r>
              <a:rPr lang="zh-CN" altLang="en-US" dirty="0"/>
              <a:t>适用于对数据有严格而固定密级分类的部门</a:t>
            </a:r>
            <a:endParaRPr lang="zh-CN" altLang="en-US" dirty="0"/>
          </a:p>
          <a:p>
            <a:pPr lvl="2" eaLnBrk="1" hangingPunct="1">
              <a:lnSpc>
                <a:spcPct val="130000"/>
              </a:lnSpc>
              <a:buSzPct val="87000"/>
              <a:buFont typeface="Wingdings" panose="05000000000000000000" pitchFamily="2" charset="2"/>
              <a:buChar char="l"/>
            </a:pPr>
            <a:r>
              <a:rPr lang="zh-CN" altLang="en-US" sz="2200" dirty="0"/>
              <a:t> 军事部门</a:t>
            </a:r>
            <a:endParaRPr lang="zh-CN" altLang="en-US" sz="2200" dirty="0"/>
          </a:p>
          <a:p>
            <a:pPr lvl="2" eaLnBrk="1" hangingPunct="1">
              <a:lnSpc>
                <a:spcPct val="130000"/>
              </a:lnSpc>
              <a:buSzPct val="87000"/>
              <a:buFont typeface="Wingdings" panose="05000000000000000000" pitchFamily="2" charset="2"/>
              <a:buChar char="l"/>
            </a:pPr>
            <a:r>
              <a:rPr lang="zh-CN" altLang="en-US" sz="2200" dirty="0"/>
              <a:t> 政府部门</a:t>
            </a:r>
            <a:endParaRPr lang="zh-CN" altLang="en-US" sz="2200"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3970" name="Rectangle 2"/>
          <p:cNvSpPr>
            <a:spLocks noGrp="1" noChangeArrowheads="1"/>
          </p:cNvSpPr>
          <p:nvPr>
            <p:ph type="title" idx="4294967295"/>
          </p:nvPr>
        </p:nvSpPr>
        <p:spPr/>
        <p:txBody>
          <a:bodyPr/>
          <a:lstStyle/>
          <a:p>
            <a:pPr eaLnBrk="1" hangingPunct="1"/>
            <a:r>
              <a:rPr lang="zh-CN" altLang="zh-CN" sz="3600"/>
              <a:t>强制存取控制方法（续）</a:t>
            </a:r>
            <a:endParaRPr lang="zh-CN" altLang="zh-CN" sz="3600"/>
          </a:p>
        </p:txBody>
      </p:sp>
      <p:sp>
        <p:nvSpPr>
          <p:cNvPr id="83971" name="Rectangle 3"/>
          <p:cNvSpPr>
            <a:spLocks noGrp="1" noChangeArrowheads="1"/>
          </p:cNvSpPr>
          <p:nvPr>
            <p:ph type="body" idx="4294967295"/>
          </p:nvPr>
        </p:nvSpPr>
        <p:spPr>
          <a:xfrm>
            <a:off x="868524" y="1454611"/>
            <a:ext cx="10454952" cy="4896544"/>
          </a:xfrm>
        </p:spPr>
        <p:txBody>
          <a:bodyPr/>
          <a:lstStyle/>
          <a:p>
            <a:pPr marL="342900" lvl="1" indent="-342900" eaLnBrk="1" hangingPunct="1">
              <a:lnSpc>
                <a:spcPct val="120000"/>
              </a:lnSpc>
              <a:buFont typeface="Wingdings" panose="05000000000000000000" pitchFamily="2" charset="2"/>
              <a:buChar char="v"/>
            </a:pPr>
            <a:r>
              <a:rPr lang="zh-CN" altLang="en-US" sz="2800" dirty="0"/>
              <a:t>在</a:t>
            </a:r>
            <a:r>
              <a:rPr lang="en-US" altLang="zh-CN" sz="2800" dirty="0"/>
              <a:t>MAC</a:t>
            </a:r>
            <a:r>
              <a:rPr lang="zh-CN" altLang="en-US" sz="2800" dirty="0"/>
              <a:t>中，</a:t>
            </a:r>
            <a:r>
              <a:rPr lang="en-US" altLang="zh-CN" sz="2800" dirty="0"/>
              <a:t>DBMS</a:t>
            </a:r>
            <a:r>
              <a:rPr lang="zh-CN" altLang="en-US" sz="2800" dirty="0"/>
              <a:t>所管理的全部实体分为主体和客体两大类</a:t>
            </a:r>
            <a:endParaRPr lang="en-US" altLang="zh-CN" sz="2800" dirty="0">
              <a:solidFill>
                <a:srgbClr val="FF66FF"/>
              </a:solidFill>
            </a:endParaRPr>
          </a:p>
          <a:p>
            <a:pPr eaLnBrk="1" hangingPunct="1">
              <a:lnSpc>
                <a:spcPct val="120000"/>
              </a:lnSpc>
            </a:pPr>
            <a:r>
              <a:rPr lang="zh-CN" altLang="en-US" dirty="0">
                <a:solidFill>
                  <a:srgbClr val="FF00FF"/>
                </a:solidFill>
              </a:rPr>
              <a:t>主体</a:t>
            </a:r>
            <a:r>
              <a:rPr lang="zh-CN" altLang="en-US" dirty="0"/>
              <a:t>是系统中的活动实体</a:t>
            </a:r>
            <a:endParaRPr lang="zh-CN" altLang="en-US" dirty="0"/>
          </a:p>
          <a:p>
            <a:pPr marL="342900" lvl="1" indent="-342900" eaLnBrk="1" hangingPunct="1">
              <a:lnSpc>
                <a:spcPct val="120000"/>
              </a:lnSpc>
              <a:buSzPct val="85000"/>
            </a:pPr>
            <a:r>
              <a:rPr lang="zh-CN" altLang="en-US" dirty="0"/>
              <a:t> </a:t>
            </a:r>
            <a:r>
              <a:rPr lang="en-US" altLang="zh-CN" dirty="0"/>
              <a:t>DBMS</a:t>
            </a:r>
            <a:r>
              <a:rPr lang="zh-CN" altLang="en-US" dirty="0"/>
              <a:t>所管理的实际用户</a:t>
            </a:r>
            <a:endParaRPr lang="zh-CN" altLang="en-US" dirty="0"/>
          </a:p>
          <a:p>
            <a:pPr marL="342900" lvl="1" indent="-342900" eaLnBrk="1" hangingPunct="1">
              <a:lnSpc>
                <a:spcPct val="120000"/>
              </a:lnSpc>
              <a:buSzPct val="85000"/>
            </a:pPr>
            <a:r>
              <a:rPr lang="zh-CN" altLang="en-US" dirty="0"/>
              <a:t> 代表用户的各进程</a:t>
            </a:r>
            <a:endParaRPr lang="zh-CN" altLang="en-US" dirty="0"/>
          </a:p>
          <a:p>
            <a:pPr marL="342900" lvl="1" indent="-342900" eaLnBrk="1" hangingPunct="1">
              <a:lnSpc>
                <a:spcPct val="120000"/>
              </a:lnSpc>
              <a:buNone/>
            </a:pPr>
            <a:endParaRPr lang="zh-CN" altLang="en-US" dirty="0"/>
          </a:p>
          <a:p>
            <a:pPr eaLnBrk="1" hangingPunct="1">
              <a:lnSpc>
                <a:spcPct val="120000"/>
              </a:lnSpc>
            </a:pPr>
            <a:r>
              <a:rPr lang="zh-CN" altLang="en-US" dirty="0">
                <a:solidFill>
                  <a:srgbClr val="FF00FF"/>
                </a:solidFill>
              </a:rPr>
              <a:t>客体</a:t>
            </a:r>
            <a:r>
              <a:rPr lang="zh-CN" altLang="en-US" dirty="0"/>
              <a:t>是系统中的被动实体，受主体操纵</a:t>
            </a:r>
            <a:endParaRPr lang="zh-CN" altLang="en-US" dirty="0"/>
          </a:p>
          <a:p>
            <a:pPr marL="342900" lvl="1" indent="-342900" eaLnBrk="1" hangingPunct="1">
              <a:lnSpc>
                <a:spcPct val="120000"/>
              </a:lnSpc>
              <a:buSzPct val="85000"/>
            </a:pPr>
            <a:r>
              <a:rPr lang="zh-CN" altLang="en-US" dirty="0"/>
              <a:t> 文件、基本表、索引、视图等</a:t>
            </a:r>
            <a:endParaRPr lang="zh-CN" alt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4994" name="Rectangle 2"/>
          <p:cNvSpPr>
            <a:spLocks noGrp="1" noChangeArrowheads="1"/>
          </p:cNvSpPr>
          <p:nvPr>
            <p:ph type="title" idx="4294967295"/>
          </p:nvPr>
        </p:nvSpPr>
        <p:spPr/>
        <p:txBody>
          <a:bodyPr/>
          <a:lstStyle/>
          <a:p>
            <a:pPr eaLnBrk="1" hangingPunct="1"/>
            <a:r>
              <a:rPr lang="zh-CN" altLang="zh-CN" sz="3600"/>
              <a:t>强制存取控制方法（续）</a:t>
            </a:r>
            <a:endParaRPr lang="zh-CN" altLang="zh-CN" sz="3600"/>
          </a:p>
        </p:txBody>
      </p:sp>
      <p:sp>
        <p:nvSpPr>
          <p:cNvPr id="84995" name="Rectangle 3"/>
          <p:cNvSpPr>
            <a:spLocks noGrp="1" noChangeArrowheads="1"/>
          </p:cNvSpPr>
          <p:nvPr>
            <p:ph type="body" idx="4294967295"/>
          </p:nvPr>
        </p:nvSpPr>
        <p:spPr>
          <a:xfrm>
            <a:off x="853208" y="1412776"/>
            <a:ext cx="10729192" cy="4842426"/>
          </a:xfrm>
        </p:spPr>
        <p:txBody>
          <a:bodyPr/>
          <a:lstStyle/>
          <a:p>
            <a:pPr eaLnBrk="1" hangingPunct="1">
              <a:lnSpc>
                <a:spcPct val="130000"/>
              </a:lnSpc>
              <a:spcBef>
                <a:spcPct val="0"/>
              </a:spcBef>
            </a:pPr>
            <a:r>
              <a:rPr lang="zh-CN" altLang="en-US" sz="2400" dirty="0"/>
              <a:t>敏感度标记（</a:t>
            </a:r>
            <a:r>
              <a:rPr lang="en-US" altLang="zh-CN" sz="2400" dirty="0"/>
              <a:t>Label</a:t>
            </a:r>
            <a:r>
              <a:rPr lang="zh-CN" altLang="en-US" sz="2400" dirty="0"/>
              <a:t>）</a:t>
            </a:r>
            <a:endParaRPr lang="zh-CN" altLang="en-US" sz="2400" dirty="0"/>
          </a:p>
          <a:p>
            <a:pPr lvl="1" eaLnBrk="1" hangingPunct="1">
              <a:lnSpc>
                <a:spcPct val="130000"/>
              </a:lnSpc>
              <a:spcBef>
                <a:spcPct val="0"/>
              </a:spcBef>
            </a:pPr>
            <a:r>
              <a:rPr lang="zh-CN" altLang="en-US" sz="2200" dirty="0"/>
              <a:t> 对于主体和客体，</a:t>
            </a:r>
            <a:r>
              <a:rPr lang="en-US" altLang="zh-CN" sz="2200" dirty="0"/>
              <a:t>DBMS</a:t>
            </a:r>
            <a:r>
              <a:rPr lang="zh-CN" altLang="en-US" sz="2200" dirty="0"/>
              <a:t>为它们每个实例（值）指派一个敏感度标记（</a:t>
            </a:r>
            <a:r>
              <a:rPr lang="en-US" altLang="zh-CN" sz="2200" dirty="0"/>
              <a:t>Label</a:t>
            </a:r>
            <a:r>
              <a:rPr lang="zh-CN" altLang="en-US" sz="2200" dirty="0"/>
              <a:t>）</a:t>
            </a:r>
            <a:endParaRPr lang="zh-CN" altLang="en-US" sz="2200" dirty="0"/>
          </a:p>
          <a:p>
            <a:pPr lvl="1" eaLnBrk="1" hangingPunct="1">
              <a:lnSpc>
                <a:spcPct val="130000"/>
              </a:lnSpc>
              <a:spcBef>
                <a:spcPct val="0"/>
              </a:spcBef>
            </a:pPr>
            <a:r>
              <a:rPr lang="zh-CN" altLang="en-US" sz="2200" dirty="0"/>
              <a:t> 敏感度标记分成若干级别</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绝密（</a:t>
            </a:r>
            <a:r>
              <a:rPr lang="en-US" altLang="zh-CN" sz="2200" dirty="0"/>
              <a:t>Top Secret</a:t>
            </a:r>
            <a:r>
              <a:rPr lang="zh-CN" altLang="en-US" sz="2200" dirty="0"/>
              <a:t>，</a:t>
            </a:r>
            <a:r>
              <a:rPr lang="en-US" altLang="zh-CN" sz="2200" dirty="0"/>
              <a:t>TS</a:t>
            </a:r>
            <a:r>
              <a:rPr lang="zh-CN" altLang="en-US" sz="2200" dirty="0"/>
              <a:t>）</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机密（</a:t>
            </a:r>
            <a:r>
              <a:rPr lang="en-US" altLang="zh-CN" sz="2200" dirty="0"/>
              <a:t>Secret</a:t>
            </a:r>
            <a:r>
              <a:rPr lang="zh-CN" altLang="en-US" sz="2200" dirty="0"/>
              <a:t>，</a:t>
            </a:r>
            <a:r>
              <a:rPr lang="en-US" altLang="zh-CN" sz="2200" dirty="0"/>
              <a:t>S</a:t>
            </a:r>
            <a:r>
              <a:rPr lang="zh-CN" altLang="en-US" sz="2200" dirty="0"/>
              <a:t>）</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可信（</a:t>
            </a:r>
            <a:r>
              <a:rPr lang="en-US" altLang="zh-CN" sz="2200" dirty="0"/>
              <a:t>Confidential</a:t>
            </a:r>
            <a:r>
              <a:rPr lang="zh-CN" altLang="en-US" sz="2200" dirty="0"/>
              <a:t>，</a:t>
            </a:r>
            <a:r>
              <a:rPr lang="en-US" altLang="zh-CN" sz="2200" dirty="0"/>
              <a:t>C</a:t>
            </a:r>
            <a:r>
              <a:rPr lang="zh-CN" altLang="en-US" sz="2200" dirty="0"/>
              <a:t>）</a:t>
            </a:r>
            <a:endParaRPr lang="zh-CN" altLang="en-US" sz="2200" dirty="0"/>
          </a:p>
          <a:p>
            <a:pPr lvl="2" eaLnBrk="1" hangingPunct="1">
              <a:lnSpc>
                <a:spcPct val="130000"/>
              </a:lnSpc>
              <a:spcBef>
                <a:spcPct val="0"/>
              </a:spcBef>
              <a:buSzPct val="87000"/>
              <a:buFont typeface="Wingdings" panose="05000000000000000000" pitchFamily="2" charset="2"/>
              <a:buChar char="l"/>
            </a:pPr>
            <a:r>
              <a:rPr lang="zh-CN" altLang="en-US" sz="2200" dirty="0"/>
              <a:t>公开（</a:t>
            </a:r>
            <a:r>
              <a:rPr lang="en-US" altLang="zh-CN" sz="2200" dirty="0"/>
              <a:t>Public</a:t>
            </a:r>
            <a:r>
              <a:rPr lang="zh-CN" altLang="en-US" sz="2200" dirty="0"/>
              <a:t>，</a:t>
            </a:r>
            <a:r>
              <a:rPr lang="en-US" altLang="zh-CN" sz="2200" dirty="0"/>
              <a:t>P</a:t>
            </a:r>
            <a:r>
              <a:rPr lang="zh-CN" altLang="en-US" sz="2200" dirty="0"/>
              <a:t>）</a:t>
            </a:r>
            <a:endParaRPr lang="en-US" altLang="zh-CN" sz="2200" dirty="0"/>
          </a:p>
          <a:p>
            <a:pPr lvl="2" eaLnBrk="1" hangingPunct="1">
              <a:lnSpc>
                <a:spcPct val="130000"/>
              </a:lnSpc>
              <a:spcBef>
                <a:spcPct val="0"/>
              </a:spcBef>
              <a:buSzPct val="87000"/>
              <a:buFont typeface="Wingdings" panose="05000000000000000000" pitchFamily="2" charset="2"/>
              <a:buChar char="l"/>
            </a:pPr>
            <a:r>
              <a:rPr lang="en-US" altLang="zh-CN" sz="2200" dirty="0"/>
              <a:t>TS&gt;=S&gt;=C&gt;=P</a:t>
            </a:r>
            <a:endParaRPr lang="zh-CN" altLang="en-US" sz="2200" dirty="0"/>
          </a:p>
          <a:p>
            <a:pPr eaLnBrk="1" hangingPunct="1">
              <a:lnSpc>
                <a:spcPct val="130000"/>
              </a:lnSpc>
              <a:spcBef>
                <a:spcPct val="0"/>
              </a:spcBef>
            </a:pPr>
            <a:r>
              <a:rPr lang="zh-CN" altLang="en-US" sz="2400" dirty="0"/>
              <a:t>主体的敏感度标记称为许可证级别（</a:t>
            </a:r>
            <a:r>
              <a:rPr lang="en-US" altLang="zh-CN" sz="2400" dirty="0"/>
              <a:t>Clearance Level</a:t>
            </a:r>
            <a:r>
              <a:rPr lang="zh-CN" altLang="en-US" sz="2400" dirty="0"/>
              <a:t>）</a:t>
            </a:r>
            <a:endParaRPr lang="zh-CN" altLang="en-US" sz="2400" dirty="0"/>
          </a:p>
          <a:p>
            <a:pPr eaLnBrk="1" hangingPunct="1">
              <a:lnSpc>
                <a:spcPct val="130000"/>
              </a:lnSpc>
              <a:spcBef>
                <a:spcPct val="0"/>
              </a:spcBef>
            </a:pPr>
            <a:r>
              <a:rPr lang="zh-CN" altLang="en-US" sz="2400" dirty="0"/>
              <a:t>客体的敏感度标记称为密级（</a:t>
            </a:r>
            <a:r>
              <a:rPr lang="en-US" altLang="zh-CN" sz="2400" dirty="0"/>
              <a:t>Classification Level</a:t>
            </a:r>
            <a:r>
              <a:rPr lang="zh-CN" altLang="en-US" sz="2400" dirty="0"/>
              <a:t>）</a:t>
            </a:r>
            <a:endParaRPr lang="en-US" altLang="zh-CN" sz="2400"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6018" name="Rectangle 2"/>
          <p:cNvSpPr>
            <a:spLocks noGrp="1" noChangeArrowheads="1"/>
          </p:cNvSpPr>
          <p:nvPr>
            <p:ph type="title" idx="4294967295"/>
          </p:nvPr>
        </p:nvSpPr>
        <p:spPr/>
        <p:txBody>
          <a:bodyPr/>
          <a:lstStyle/>
          <a:p>
            <a:pPr eaLnBrk="1" hangingPunct="1"/>
            <a:r>
              <a:rPr lang="zh-CN" altLang="zh-CN" sz="3600"/>
              <a:t>强制存取控制方法（续）</a:t>
            </a:r>
            <a:endParaRPr lang="zh-CN" altLang="zh-CN" sz="3600"/>
          </a:p>
        </p:txBody>
      </p:sp>
      <p:sp>
        <p:nvSpPr>
          <p:cNvPr id="86019" name="Rectangle 3"/>
          <p:cNvSpPr>
            <a:spLocks noGrp="1" noChangeArrowheads="1"/>
          </p:cNvSpPr>
          <p:nvPr>
            <p:ph type="body" idx="4294967295"/>
          </p:nvPr>
        </p:nvSpPr>
        <p:spPr>
          <a:xfrm>
            <a:off x="968660" y="1327398"/>
            <a:ext cx="10311916" cy="2736850"/>
          </a:xfrm>
        </p:spPr>
        <p:txBody>
          <a:bodyPr/>
          <a:lstStyle/>
          <a:p>
            <a:pPr eaLnBrk="1" hangingPunct="1">
              <a:lnSpc>
                <a:spcPct val="110000"/>
              </a:lnSpc>
            </a:pPr>
            <a:r>
              <a:rPr lang="en-US" altLang="zh-CN" dirty="0"/>
              <a:t> </a:t>
            </a:r>
            <a:r>
              <a:rPr lang="zh-CN" altLang="en-US" dirty="0"/>
              <a:t>强制存取控制规则</a:t>
            </a:r>
            <a:endParaRPr lang="zh-CN" altLang="en-US" dirty="0"/>
          </a:p>
          <a:p>
            <a:pPr lvl="1" eaLnBrk="1" hangingPunct="1">
              <a:lnSpc>
                <a:spcPct val="110000"/>
              </a:lnSpc>
              <a:spcBef>
                <a:spcPct val="60000"/>
              </a:spcBef>
              <a:buFont typeface="Wingdings" panose="05000000000000000000" pitchFamily="2" charset="2"/>
              <a:buNone/>
            </a:pPr>
            <a:r>
              <a:rPr lang="zh-CN" altLang="en-US" dirty="0"/>
              <a:t> （</a:t>
            </a:r>
            <a:r>
              <a:rPr lang="en-US" altLang="zh-CN" dirty="0"/>
              <a:t>1</a:t>
            </a:r>
            <a:r>
              <a:rPr lang="zh-CN" altLang="en-US" dirty="0"/>
              <a:t>）仅当主体的许可证级别</a:t>
            </a:r>
            <a:r>
              <a:rPr lang="zh-CN" altLang="en-US" dirty="0">
                <a:solidFill>
                  <a:srgbClr val="FF00FF"/>
                </a:solidFill>
              </a:rPr>
              <a:t>大于或等于</a:t>
            </a:r>
            <a:r>
              <a:rPr lang="zh-CN" altLang="en-US" dirty="0"/>
              <a:t>客体的密级时，该主体才能</a:t>
            </a:r>
            <a:r>
              <a:rPr lang="zh-CN" altLang="en-US" dirty="0">
                <a:solidFill>
                  <a:srgbClr val="FF00FF"/>
                </a:solidFill>
              </a:rPr>
              <a:t>读</a:t>
            </a:r>
            <a:r>
              <a:rPr lang="zh-CN" altLang="en-US" dirty="0"/>
              <a:t>取相应的客体</a:t>
            </a:r>
            <a:endParaRPr lang="zh-CN" altLang="en-US" dirty="0"/>
          </a:p>
          <a:p>
            <a:pPr lvl="1" eaLnBrk="1" hangingPunct="1">
              <a:lnSpc>
                <a:spcPct val="110000"/>
              </a:lnSpc>
              <a:spcBef>
                <a:spcPct val="60000"/>
              </a:spcBef>
              <a:buFont typeface="Wingdings" panose="05000000000000000000" pitchFamily="2" charset="2"/>
              <a:buNone/>
            </a:pPr>
            <a:r>
              <a:rPr lang="zh-CN" altLang="en-US" dirty="0"/>
              <a:t> （</a:t>
            </a:r>
            <a:r>
              <a:rPr lang="en-US" altLang="zh-CN" dirty="0"/>
              <a:t>2</a:t>
            </a:r>
            <a:r>
              <a:rPr lang="zh-CN" altLang="en-US" dirty="0"/>
              <a:t>）仅当主体的许可证级别</a:t>
            </a:r>
            <a:r>
              <a:rPr lang="zh-CN" altLang="en-US" dirty="0">
                <a:solidFill>
                  <a:srgbClr val="FF00FF"/>
                </a:solidFill>
              </a:rPr>
              <a:t>小于或等于</a:t>
            </a:r>
            <a:r>
              <a:rPr lang="zh-CN" altLang="en-US" dirty="0"/>
              <a:t>客体的密级时，该主体才能</a:t>
            </a:r>
            <a:r>
              <a:rPr lang="zh-CN" altLang="en-US" dirty="0">
                <a:solidFill>
                  <a:srgbClr val="FF00FF"/>
                </a:solidFill>
              </a:rPr>
              <a:t>写</a:t>
            </a:r>
            <a:r>
              <a:rPr lang="zh-CN" altLang="en-US" dirty="0"/>
              <a:t>相应的客体</a:t>
            </a:r>
            <a:endParaRPr lang="en-US" altLang="zh-CN" dirty="0"/>
          </a:p>
          <a:p>
            <a:pPr lvl="1" eaLnBrk="1" hangingPunct="1">
              <a:lnSpc>
                <a:spcPct val="110000"/>
              </a:lnSpc>
              <a:spcBef>
                <a:spcPct val="60000"/>
              </a:spcBef>
              <a:buFont typeface="Wingdings" panose="05000000000000000000" pitchFamily="2" charset="2"/>
              <a:buNone/>
            </a:pPr>
            <a:endParaRPr lang="zh-CN" altLang="en-US" dirty="0"/>
          </a:p>
          <a:p>
            <a:pPr lvl="1" eaLnBrk="1" hangingPunct="1">
              <a:buFont typeface="Wingdings" panose="05000000000000000000" pitchFamily="2" charset="2"/>
              <a:buNone/>
            </a:pPr>
            <a:endParaRPr lang="en-US" altLang="zh-CN" dirty="0"/>
          </a:p>
        </p:txBody>
      </p:sp>
      <p:sp>
        <p:nvSpPr>
          <p:cNvPr id="5" name="Rectangle 3"/>
          <p:cNvSpPr txBox="1">
            <a:spLocks noChangeArrowheads="1"/>
          </p:cNvSpPr>
          <p:nvPr/>
        </p:nvSpPr>
        <p:spPr bwMode="auto">
          <a:xfrm>
            <a:off x="983432" y="4293096"/>
            <a:ext cx="10153128" cy="2409330"/>
          </a:xfrm>
          <a:prstGeom prst="rect">
            <a:avLst/>
          </a:prstGeom>
          <a:noFill/>
          <a:ln>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eaLnBrk="1" hangingPunct="1">
              <a:lnSpc>
                <a:spcPct val="110000"/>
              </a:lnSpc>
              <a:defRPr/>
            </a:pPr>
            <a:r>
              <a:rPr lang="en-US" altLang="zh-CN" sz="2400" kern="0" dirty="0">
                <a:solidFill>
                  <a:srgbClr val="0070C0"/>
                </a:solidFill>
              </a:rPr>
              <a:t> </a:t>
            </a:r>
            <a:r>
              <a:rPr lang="zh-CN" altLang="en-US" sz="2400" kern="0" dirty="0">
                <a:solidFill>
                  <a:srgbClr val="0070C0"/>
                </a:solidFill>
              </a:rPr>
              <a:t>禁止拥有高许可证级别的主体更新低密级的数据对象，从而防止了敏感数据的泄露</a:t>
            </a:r>
            <a:endParaRPr lang="zh-CN" altLang="en-US" sz="2400" kern="0" dirty="0">
              <a:solidFill>
                <a:srgbClr val="0070C0"/>
              </a:solidFill>
            </a:endParaRPr>
          </a:p>
          <a:p>
            <a:pPr eaLnBrk="1" hangingPunct="1">
              <a:lnSpc>
                <a:spcPct val="110000"/>
              </a:lnSpc>
              <a:defRPr/>
            </a:pPr>
            <a:r>
              <a:rPr lang="zh-CN" altLang="en-US" sz="2400" kern="0" dirty="0">
                <a:solidFill>
                  <a:srgbClr val="0070C0"/>
                </a:solidFill>
              </a:rPr>
              <a:t>否则，高许可级别的主体可能将一个高度机密文件复制为低机密等级</a:t>
            </a:r>
            <a:r>
              <a:rPr lang="zh-CN" altLang="en-US" sz="2400" kern="0" dirty="0">
                <a:solidFill>
                  <a:srgbClr val="0070C0"/>
                </a:solidFill>
              </a:rPr>
              <a:t>文件</a:t>
            </a:r>
            <a:endParaRPr lang="zh-CN" altLang="en-US" sz="2400" kern="0" dirty="0">
              <a:solidFill>
                <a:srgbClr val="0070C0"/>
              </a:solidFill>
            </a:endParaRPr>
          </a:p>
          <a:p>
            <a:pPr lvl="1" eaLnBrk="1" hangingPunct="1">
              <a:buFont typeface="Wingdings" panose="05000000000000000000" pitchFamily="2" charset="2"/>
              <a:buNone/>
              <a:defRPr/>
            </a:pPr>
            <a:endParaRPr lang="en-US" altLang="zh-CN" kern="0"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7042" name="Rectangle 2"/>
          <p:cNvSpPr>
            <a:spLocks noGrp="1" noChangeArrowheads="1"/>
          </p:cNvSpPr>
          <p:nvPr>
            <p:ph type="title" idx="4294967295"/>
          </p:nvPr>
        </p:nvSpPr>
        <p:spPr/>
        <p:txBody>
          <a:bodyPr/>
          <a:lstStyle/>
          <a:p>
            <a:pPr eaLnBrk="1" hangingPunct="1"/>
            <a:r>
              <a:rPr lang="zh-CN" altLang="zh-CN" sz="3600"/>
              <a:t>强制存取控制方法（续）</a:t>
            </a:r>
            <a:endParaRPr lang="en-US" altLang="zh-CN" sz="3600"/>
          </a:p>
        </p:txBody>
      </p:sp>
      <p:sp>
        <p:nvSpPr>
          <p:cNvPr id="87043" name="Rectangle 3"/>
          <p:cNvSpPr>
            <a:spLocks noGrp="1" noChangeArrowheads="1"/>
          </p:cNvSpPr>
          <p:nvPr>
            <p:ph type="body" idx="4294967295"/>
          </p:nvPr>
        </p:nvSpPr>
        <p:spPr>
          <a:xfrm>
            <a:off x="609600" y="1600200"/>
            <a:ext cx="11305256" cy="4735412"/>
          </a:xfrm>
        </p:spPr>
        <p:txBody>
          <a:bodyPr/>
          <a:lstStyle/>
          <a:p>
            <a:pPr eaLnBrk="1" hangingPunct="1">
              <a:lnSpc>
                <a:spcPct val="150000"/>
              </a:lnSpc>
            </a:pPr>
            <a:r>
              <a:rPr lang="zh-CN" altLang="zh-CN" sz="2400" dirty="0"/>
              <a:t>强制存取控制（</a:t>
            </a:r>
            <a:r>
              <a:rPr lang="en-US" altLang="zh-CN" sz="2400" dirty="0"/>
              <a:t>MAC</a:t>
            </a:r>
            <a:r>
              <a:rPr lang="zh-CN" altLang="zh-CN" sz="2400" dirty="0"/>
              <a:t>）是对数据本身进行密级标记，无论数据如何复制，标记与数据是一个不可分的整体，只有符合密级标记要求的用户才可以操纵数据。</a:t>
            </a:r>
            <a:endParaRPr lang="en-US" altLang="zh-CN" sz="2400" dirty="0"/>
          </a:p>
          <a:p>
            <a:pPr eaLnBrk="1" hangingPunct="1">
              <a:lnSpc>
                <a:spcPct val="150000"/>
              </a:lnSpc>
            </a:pPr>
            <a:r>
              <a:rPr lang="zh-CN" altLang="en-US" sz="2400" dirty="0"/>
              <a:t>实现</a:t>
            </a:r>
            <a:r>
              <a:rPr lang="en-US" altLang="zh-CN" sz="2400" dirty="0">
                <a:solidFill>
                  <a:srgbClr val="0070C0"/>
                </a:solidFill>
              </a:rPr>
              <a:t>MAC</a:t>
            </a:r>
            <a:r>
              <a:rPr lang="zh-CN" altLang="en-US" sz="2400" dirty="0"/>
              <a:t>时要首先实现</a:t>
            </a:r>
            <a:r>
              <a:rPr lang="en-US" altLang="zh-CN" sz="2400" dirty="0">
                <a:solidFill>
                  <a:srgbClr val="0070C0"/>
                </a:solidFill>
              </a:rPr>
              <a:t>DAC</a:t>
            </a:r>
            <a:endParaRPr lang="en-US" altLang="zh-CN" sz="2400" dirty="0">
              <a:solidFill>
                <a:srgbClr val="0070C0"/>
              </a:solidFill>
            </a:endParaRPr>
          </a:p>
          <a:p>
            <a:pPr lvl="1" eaLnBrk="1" hangingPunct="1">
              <a:lnSpc>
                <a:spcPct val="150000"/>
              </a:lnSpc>
              <a:spcBef>
                <a:spcPct val="30000"/>
              </a:spcBef>
            </a:pPr>
            <a:r>
              <a:rPr lang="zh-CN" altLang="en-US" sz="2200" dirty="0"/>
              <a:t>原因：较高安全性级别提供的安全保护要包含较低级别的所有保护</a:t>
            </a:r>
            <a:endParaRPr lang="zh-CN" altLang="en-US" sz="2200" dirty="0"/>
          </a:p>
          <a:p>
            <a:pPr eaLnBrk="1" hangingPunct="1">
              <a:lnSpc>
                <a:spcPct val="150000"/>
              </a:lnSpc>
            </a:pPr>
            <a:r>
              <a:rPr lang="en-US" altLang="zh-CN" sz="2400" dirty="0"/>
              <a:t>DAC</a:t>
            </a:r>
            <a:r>
              <a:rPr lang="zh-CN" altLang="en-US" sz="2400" dirty="0"/>
              <a:t>与</a:t>
            </a:r>
            <a:r>
              <a:rPr lang="en-US" altLang="zh-CN" sz="2400" dirty="0"/>
              <a:t>MAC</a:t>
            </a:r>
            <a:r>
              <a:rPr lang="zh-CN" altLang="en-US" sz="2400" dirty="0"/>
              <a:t>共同构成</a:t>
            </a:r>
            <a:r>
              <a:rPr lang="en-US" altLang="zh-CN" sz="2400" dirty="0">
                <a:solidFill>
                  <a:srgbClr val="0070C0"/>
                </a:solidFill>
              </a:rPr>
              <a:t>DBMS</a:t>
            </a:r>
            <a:r>
              <a:rPr lang="zh-CN" altLang="en-US" sz="2400" dirty="0"/>
              <a:t>的安全机制</a:t>
            </a:r>
            <a:endParaRPr lang="zh-CN" altLang="en-US" sz="2400"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内容占位符 2"/>
          <p:cNvSpPr>
            <a:spLocks noGrp="1"/>
          </p:cNvSpPr>
          <p:nvPr>
            <p:ph idx="1"/>
          </p:nvPr>
        </p:nvSpPr>
        <p:spPr/>
        <p:txBody>
          <a:bodyPr vert="horz" wrap="square" lIns="121920" tIns="60960" rIns="121920" bIns="60960" anchor="t" anchorCtr="0"/>
          <a:p>
            <a:r>
              <a:rPr lang="en-US" altLang="zh-CN" sz="3200" dirty="0"/>
              <a:t>MAC</a:t>
            </a:r>
            <a:r>
              <a:rPr lang="zh-CN" altLang="en-US" sz="3200" dirty="0"/>
              <a:t>实质：单向信息流，信息只能由低等级向高等级流动</a:t>
            </a:r>
            <a:endParaRPr lang="en-US" altLang="zh-CN" sz="3200" dirty="0"/>
          </a:p>
          <a:p>
            <a:r>
              <a:rPr lang="en-US" altLang="zh-CN" sz="3200" dirty="0"/>
              <a:t>MAC</a:t>
            </a:r>
            <a:r>
              <a:rPr lang="zh-CN" altLang="en-US" sz="3200" dirty="0"/>
              <a:t>难点：如何确定主客体的密级？</a:t>
            </a:r>
            <a:endParaRPr lang="en-US" altLang="zh-CN" sz="3200" dirty="0"/>
          </a:p>
          <a:p>
            <a:endParaRPr lang="en-US" altLang="zh-CN" sz="3200" dirty="0"/>
          </a:p>
        </p:txBody>
      </p:sp>
      <p:sp>
        <p:nvSpPr>
          <p:cNvPr id="62467" name="标题 1"/>
          <p:cNvSpPr>
            <a:spLocks noGrp="1"/>
          </p:cNvSpPr>
          <p:nvPr>
            <p:ph type="title"/>
          </p:nvPr>
        </p:nvSpPr>
        <p:spPr/>
        <p:txBody>
          <a:bodyPr vert="horz" wrap="square" lIns="121920" tIns="60960" rIns="121920" bIns="60960" anchor="ctr" anchorCtr="0"/>
          <a:p>
            <a:r>
              <a:rPr lang="zh-CN" altLang="zh-CN" dirty="0"/>
              <a:t>强制存取控制方法（续）</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charRg st="63" end="9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charRg st="90" end="10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8066" name="Rectangle 2"/>
          <p:cNvSpPr>
            <a:spLocks noGrp="1" noChangeArrowheads="1"/>
          </p:cNvSpPr>
          <p:nvPr>
            <p:ph type="title" idx="4294967295"/>
          </p:nvPr>
        </p:nvSpPr>
        <p:spPr/>
        <p:txBody>
          <a:bodyPr/>
          <a:lstStyle/>
          <a:p>
            <a:pPr eaLnBrk="1" hangingPunct="1"/>
            <a:r>
              <a:rPr lang="en-US" altLang="zh-CN" sz="3600"/>
              <a:t>DAC + MAC</a:t>
            </a:r>
            <a:r>
              <a:rPr lang="zh-CN" altLang="en-US" sz="3600"/>
              <a:t>安全检查</a:t>
            </a:r>
            <a:endParaRPr lang="zh-CN" altLang="zh-CN" sz="3600"/>
          </a:p>
        </p:txBody>
      </p:sp>
      <p:sp>
        <p:nvSpPr>
          <p:cNvPr id="88067" name="Rectangle 3"/>
          <p:cNvSpPr>
            <a:spLocks noGrp="1" noChangeArrowheads="1"/>
          </p:cNvSpPr>
          <p:nvPr>
            <p:ph type="body" idx="4294967295"/>
          </p:nvPr>
        </p:nvSpPr>
        <p:spPr>
          <a:xfrm>
            <a:off x="1981200" y="1196975"/>
            <a:ext cx="7772400" cy="3671888"/>
          </a:xfrm>
        </p:spPr>
        <p:txBody>
          <a:bodyPr/>
          <a:lstStyle/>
          <a:p>
            <a:pPr lvl="1" algn="just" eaLnBrk="1" hangingPunct="1">
              <a:spcBef>
                <a:spcPct val="50000"/>
              </a:spcBef>
              <a:buFont typeface="Wingdings" panose="05000000000000000000" pitchFamily="2" charset="2"/>
              <a:buNone/>
            </a:pPr>
            <a:r>
              <a:rPr lang="zh-CN" altLang="en-US" dirty="0"/>
              <a:t>                </a:t>
            </a:r>
            <a:r>
              <a:rPr lang="en-US" altLang="zh-CN" dirty="0"/>
              <a:t>SQL</a:t>
            </a:r>
            <a:r>
              <a:rPr lang="zh-CN" altLang="en-US" dirty="0"/>
              <a:t>语法分析 </a:t>
            </a:r>
            <a:r>
              <a:rPr lang="en-US" altLang="zh-CN" dirty="0"/>
              <a:t>&amp; </a:t>
            </a:r>
            <a:r>
              <a:rPr lang="zh-CN" altLang="en-US" dirty="0"/>
              <a:t>语义检查</a:t>
            </a:r>
            <a:endParaRPr lang="zh-CN" altLang="en-US" dirty="0"/>
          </a:p>
          <a:p>
            <a:pPr lvl="1" algn="just" eaLnBrk="1" hangingPunct="1">
              <a:buFont typeface="Wingdings" panose="05000000000000000000" pitchFamily="2" charset="2"/>
              <a:buNone/>
            </a:pPr>
            <a:r>
              <a:rPr lang="zh-CN" altLang="en-US" dirty="0"/>
              <a:t>                             </a:t>
            </a:r>
            <a:endParaRPr lang="en-US" altLang="zh-CN" dirty="0"/>
          </a:p>
          <a:p>
            <a:pPr lvl="1" algn="just" eaLnBrk="1" hangingPunct="1">
              <a:buFont typeface="Wingdings" panose="05000000000000000000" pitchFamily="2" charset="2"/>
              <a:buNone/>
            </a:pPr>
            <a:r>
              <a:rPr lang="en-US" altLang="zh-CN" dirty="0"/>
              <a:t>                           </a:t>
            </a:r>
            <a:r>
              <a:rPr lang="zh-CN" altLang="en-US" dirty="0"/>
              <a:t>  </a:t>
            </a:r>
            <a:r>
              <a:rPr lang="en-US" altLang="zh-CN" dirty="0"/>
              <a:t>DAC </a:t>
            </a:r>
            <a:r>
              <a:rPr lang="zh-CN" altLang="en-US" dirty="0"/>
              <a:t>检 查</a:t>
            </a:r>
            <a:endParaRPr lang="zh-CN" altLang="en-US" dirty="0"/>
          </a:p>
          <a:p>
            <a:pPr lvl="1" algn="just" eaLnBrk="1" hangingPunct="1">
              <a:buFont typeface="Wingdings" panose="05000000000000000000" pitchFamily="2" charset="2"/>
              <a:buNone/>
            </a:pPr>
            <a:r>
              <a:rPr lang="zh-CN" altLang="en-US" dirty="0"/>
              <a:t>       安全检查</a:t>
            </a:r>
            <a:endParaRPr lang="en-US" altLang="zh-CN" dirty="0"/>
          </a:p>
          <a:p>
            <a:pPr lvl="1" algn="just" eaLnBrk="1" hangingPunct="1">
              <a:buFont typeface="Wingdings" panose="05000000000000000000" pitchFamily="2" charset="2"/>
              <a:buNone/>
            </a:pPr>
            <a:r>
              <a:rPr lang="en-US" altLang="zh-CN" dirty="0"/>
              <a:t>              </a:t>
            </a:r>
            <a:r>
              <a:rPr lang="zh-CN" altLang="en-US" dirty="0"/>
              <a:t>               </a:t>
            </a:r>
            <a:r>
              <a:rPr lang="en-US" altLang="zh-CN" dirty="0"/>
              <a:t>MAC </a:t>
            </a:r>
            <a:r>
              <a:rPr lang="zh-CN" altLang="en-US" dirty="0"/>
              <a:t>检 查</a:t>
            </a:r>
            <a:endParaRPr lang="zh-CN" altLang="en-US" dirty="0"/>
          </a:p>
          <a:p>
            <a:pPr lvl="1" algn="just" eaLnBrk="1" hangingPunct="1">
              <a:buFont typeface="Wingdings" panose="05000000000000000000" pitchFamily="2" charset="2"/>
              <a:buNone/>
            </a:pPr>
            <a:r>
              <a:rPr lang="zh-CN" altLang="en-US" dirty="0"/>
              <a:t>                             </a:t>
            </a:r>
            <a:endParaRPr lang="zh-CN" altLang="en-US" dirty="0"/>
          </a:p>
          <a:p>
            <a:pPr lvl="1" algn="just" eaLnBrk="1" hangingPunct="1">
              <a:buFont typeface="Wingdings" panose="05000000000000000000" pitchFamily="2" charset="2"/>
              <a:buNone/>
            </a:pPr>
            <a:r>
              <a:rPr lang="zh-CN" altLang="en-US" dirty="0"/>
              <a:t>                          </a:t>
            </a:r>
            <a:endParaRPr lang="zh-CN" altLang="en-US" dirty="0"/>
          </a:p>
          <a:p>
            <a:pPr lvl="1" algn="just" eaLnBrk="1" hangingPunct="1">
              <a:buFont typeface="Wingdings" panose="05000000000000000000" pitchFamily="2" charset="2"/>
              <a:buNone/>
            </a:pPr>
            <a:r>
              <a:rPr lang="zh-CN" altLang="en-US" dirty="0"/>
              <a:t>                          继续语义检查</a:t>
            </a:r>
            <a:endParaRPr lang="zh-CN" altLang="en-US" dirty="0"/>
          </a:p>
        </p:txBody>
      </p:sp>
      <p:sp>
        <p:nvSpPr>
          <p:cNvPr id="88068" name="Line 5"/>
          <p:cNvSpPr>
            <a:spLocks noChangeShapeType="1"/>
          </p:cNvSpPr>
          <p:nvPr/>
        </p:nvSpPr>
        <p:spPr bwMode="auto">
          <a:xfrm>
            <a:off x="5591175" y="3644901"/>
            <a:ext cx="0" cy="504825"/>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69" name="Line 6"/>
          <p:cNvSpPr>
            <a:spLocks noChangeShapeType="1"/>
          </p:cNvSpPr>
          <p:nvPr/>
        </p:nvSpPr>
        <p:spPr bwMode="auto">
          <a:xfrm>
            <a:off x="5591175" y="2492375"/>
            <a:ext cx="0" cy="5334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0" name="Rectangle 7"/>
          <p:cNvSpPr>
            <a:spLocks noChangeArrowheads="1"/>
          </p:cNvSpPr>
          <p:nvPr/>
        </p:nvSpPr>
        <p:spPr bwMode="auto">
          <a:xfrm>
            <a:off x="4511675" y="2009775"/>
            <a:ext cx="2305050" cy="151288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88071" name="Line 8"/>
          <p:cNvSpPr>
            <a:spLocks noChangeShapeType="1"/>
          </p:cNvSpPr>
          <p:nvPr/>
        </p:nvSpPr>
        <p:spPr bwMode="auto">
          <a:xfrm>
            <a:off x="5564188" y="1628775"/>
            <a:ext cx="0" cy="3810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2" name="Rectangle 9"/>
          <p:cNvSpPr>
            <a:spLocks noChangeArrowheads="1"/>
          </p:cNvSpPr>
          <p:nvPr/>
        </p:nvSpPr>
        <p:spPr bwMode="auto">
          <a:xfrm>
            <a:off x="1703512" y="4797425"/>
            <a:ext cx="8784976" cy="140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342900" lvl="1" indent="-342900" eaLnBrk="1" hangingPunct="1">
              <a:lnSpc>
                <a:spcPct val="120000"/>
              </a:lnSpc>
              <a:buSzPct val="85000"/>
            </a:pPr>
            <a:r>
              <a:rPr lang="zh-CN" altLang="en-US" sz="2200" dirty="0">
                <a:latin typeface="+mn-lt"/>
                <a:ea typeface="+mn-ea"/>
              </a:rPr>
              <a:t>先进行</a:t>
            </a:r>
            <a:r>
              <a:rPr lang="en-US" altLang="zh-CN" sz="2200" dirty="0">
                <a:latin typeface="+mn-lt"/>
                <a:ea typeface="+mn-ea"/>
              </a:rPr>
              <a:t>DAC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通过</a:t>
            </a:r>
            <a:r>
              <a:rPr lang="en-US" altLang="zh-CN" sz="2200" dirty="0">
                <a:latin typeface="+mn-lt"/>
                <a:ea typeface="+mn-ea"/>
              </a:rPr>
              <a:t>DAC</a:t>
            </a:r>
            <a:r>
              <a:rPr lang="zh-CN" altLang="en-US" sz="2200" dirty="0">
                <a:latin typeface="+mn-lt"/>
                <a:ea typeface="+mn-ea"/>
              </a:rPr>
              <a:t>检查的允许存取的数据对象再由系统自动进行</a:t>
            </a:r>
            <a:r>
              <a:rPr lang="en-US" altLang="zh-CN" sz="2200" dirty="0">
                <a:latin typeface="+mn-lt"/>
                <a:ea typeface="+mn-ea"/>
              </a:rPr>
              <a:t>MAC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只有通过</a:t>
            </a:r>
            <a:r>
              <a:rPr lang="en-US" altLang="zh-CN" sz="2200" dirty="0">
                <a:latin typeface="+mn-lt"/>
                <a:ea typeface="+mn-ea"/>
              </a:rPr>
              <a:t>MAC</a:t>
            </a:r>
            <a:r>
              <a:rPr lang="zh-CN" altLang="en-US" sz="2200" dirty="0">
                <a:latin typeface="+mn-lt"/>
                <a:ea typeface="+mn-ea"/>
              </a:rPr>
              <a:t>检查的数据对象方可存取</a:t>
            </a:r>
            <a:endParaRPr lang="zh-CN" altLang="en-US" sz="2200" dirty="0">
              <a:latin typeface="+mn-lt"/>
              <a:ea typeface="+mn-ea"/>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9090"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89091" name="Rectangle 3"/>
          <p:cNvSpPr>
            <a:spLocks noGrp="1" noChangeArrowheads="1"/>
          </p:cNvSpPr>
          <p:nvPr>
            <p:ph type="body" idx="4294967295"/>
          </p:nvPr>
        </p:nvSpPr>
        <p:spPr>
          <a:xfrm>
            <a:off x="1343472" y="1340768"/>
            <a:ext cx="7921625"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None/>
            </a:pPr>
            <a:r>
              <a:rPr lang="en-US" altLang="zh-CN" dirty="0">
                <a:solidFill>
                  <a:srgbClr val="0066FF"/>
                </a:solidFill>
              </a:rPr>
              <a:t>4.3  </a:t>
            </a:r>
            <a:r>
              <a:rPr lang="zh-CN" altLang="en-US" dirty="0">
                <a:solidFill>
                  <a:srgbClr val="0066FF"/>
                </a:solidFill>
              </a:rPr>
              <a:t>视图机制</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4.4  </a:t>
            </a:r>
            <a:r>
              <a:rPr lang="zh-CN" altLang="en-US" dirty="0"/>
              <a:t>审计（</a:t>
            </a:r>
            <a:r>
              <a:rPr lang="en-US" altLang="zh-CN" dirty="0"/>
              <a:t>Audit</a:t>
            </a:r>
            <a:r>
              <a:rPr lang="zh-CN" altLang="en-US" dirty="0"/>
              <a:t>）</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en-US" altLang="zh-CN" dirty="0"/>
              <a:t>4.7  </a:t>
            </a:r>
            <a:r>
              <a:rPr lang="zh-CN" altLang="en-US" dirty="0"/>
              <a:t>小结</a:t>
            </a:r>
            <a:endParaRPr lang="zh-CN" altLang="en-US" dirty="0"/>
          </a:p>
          <a:p>
            <a:pPr eaLnBrk="1" hangingPunct="1"/>
            <a:endParaRPr lang="en-US" altLang="zh-CN"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0114" name="Rectangle 2"/>
          <p:cNvSpPr>
            <a:spLocks noGrp="1" noChangeArrowheads="1"/>
          </p:cNvSpPr>
          <p:nvPr>
            <p:ph type="title" idx="4294967295"/>
          </p:nvPr>
        </p:nvSpPr>
        <p:spPr/>
        <p:txBody>
          <a:bodyPr/>
          <a:lstStyle/>
          <a:p>
            <a:pPr eaLnBrk="1" hangingPunct="1"/>
            <a:r>
              <a:rPr lang="en-US" altLang="zh-CN" sz="3600"/>
              <a:t>4.3  </a:t>
            </a:r>
            <a:r>
              <a:rPr lang="zh-CN" altLang="en-US" sz="3600"/>
              <a:t>视图机制</a:t>
            </a:r>
            <a:endParaRPr lang="zh-CN" altLang="en-US" sz="3600"/>
          </a:p>
        </p:txBody>
      </p:sp>
      <p:sp>
        <p:nvSpPr>
          <p:cNvPr id="90115" name="Rectangle 3"/>
          <p:cNvSpPr>
            <a:spLocks noGrp="1" noChangeArrowheads="1"/>
          </p:cNvSpPr>
          <p:nvPr>
            <p:ph type="body" idx="4294967295"/>
          </p:nvPr>
        </p:nvSpPr>
        <p:spPr/>
        <p:txBody>
          <a:bodyPr/>
          <a:lstStyle/>
          <a:p>
            <a:pPr eaLnBrk="1" hangingPunct="1">
              <a:lnSpc>
                <a:spcPct val="150000"/>
              </a:lnSpc>
            </a:pPr>
            <a:r>
              <a:rPr lang="zh-CN" altLang="en-US">
                <a:solidFill>
                  <a:srgbClr val="0070C0"/>
                </a:solidFill>
              </a:rPr>
              <a:t>通过视图机制，</a:t>
            </a:r>
            <a:r>
              <a:rPr lang="zh-CN" altLang="en-US"/>
              <a:t>把要保密的数据对无权存取这些数据的用户隐藏起来，对数据提供一定程度的安全保护</a:t>
            </a:r>
            <a:r>
              <a:rPr lang="zh-CN" altLang="en-US" sz="3200"/>
              <a:t> </a:t>
            </a:r>
            <a:endParaRPr lang="zh-CN" altLang="en-US"/>
          </a:p>
          <a:p>
            <a:pPr eaLnBrk="1" hangingPunct="1">
              <a:lnSpc>
                <a:spcPct val="200000"/>
              </a:lnSpc>
            </a:pPr>
            <a:r>
              <a:rPr lang="zh-CN" altLang="en-US">
                <a:solidFill>
                  <a:srgbClr val="0070C0"/>
                </a:solidFill>
              </a:rPr>
              <a:t>视图机制配合授权机制</a:t>
            </a:r>
            <a:r>
              <a:rPr lang="zh-CN" altLang="en-US"/>
              <a:t>，间接地实现支持存取谓词的用户权限定义</a:t>
            </a:r>
            <a:endParaRPr lang="zh-CN" alt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1138" name="Rectangle 2"/>
          <p:cNvSpPr>
            <a:spLocks noGrp="1" noChangeArrowheads="1"/>
          </p:cNvSpPr>
          <p:nvPr>
            <p:ph type="title" idx="4294967295"/>
          </p:nvPr>
        </p:nvSpPr>
        <p:spPr/>
        <p:txBody>
          <a:bodyPr/>
          <a:lstStyle/>
          <a:p>
            <a:pPr eaLnBrk="1" hangingPunct="1"/>
            <a:r>
              <a:rPr lang="zh-CN" altLang="zh-CN" sz="3600"/>
              <a:t>视图机制（续）</a:t>
            </a:r>
            <a:endParaRPr lang="zh-CN" altLang="zh-CN" sz="3600"/>
          </a:p>
        </p:txBody>
      </p:sp>
      <p:sp>
        <p:nvSpPr>
          <p:cNvPr id="91139" name="Rectangle 3"/>
          <p:cNvSpPr>
            <a:spLocks noGrp="1" noChangeArrowheads="1"/>
          </p:cNvSpPr>
          <p:nvPr>
            <p:ph type="body" idx="4294967295"/>
          </p:nvPr>
        </p:nvSpPr>
        <p:spPr>
          <a:xfrm>
            <a:off x="628800" y="1196952"/>
            <a:ext cx="10801200" cy="5184799"/>
          </a:xfrm>
        </p:spPr>
        <p:txBody>
          <a:bodyPr/>
          <a:lstStyle/>
          <a:p>
            <a:pPr eaLnBrk="1" hangingPunct="1">
              <a:lnSpc>
                <a:spcPct val="120000"/>
              </a:lnSpc>
              <a:spcBef>
                <a:spcPts val="0"/>
              </a:spcBef>
              <a:buNone/>
            </a:pPr>
            <a:r>
              <a:rPr lang="en-US" altLang="zh-CN" sz="2400" dirty="0"/>
              <a:t>[</a:t>
            </a:r>
            <a:r>
              <a:rPr lang="zh-CN" altLang="en-US" sz="2400" dirty="0"/>
              <a:t>例4.</a:t>
            </a:r>
            <a:r>
              <a:rPr lang="en-US" altLang="zh-CN" sz="2400" dirty="0"/>
              <a:t>14] </a:t>
            </a:r>
            <a:r>
              <a:rPr lang="zh-CN" altLang="en-US" sz="2400" dirty="0"/>
              <a:t>建立计算机科学与技术专业学生的视图，把对该视图的</a:t>
            </a:r>
            <a:r>
              <a:rPr lang="en-US" altLang="zh-CN" sz="2400" dirty="0"/>
              <a:t>SELECT</a:t>
            </a:r>
            <a:r>
              <a:rPr lang="zh-CN" altLang="en-US" sz="2400" dirty="0"/>
              <a:t>权限授于王平，把该视图上的所有操作权限授于张明 </a:t>
            </a:r>
            <a:endParaRPr lang="en-US" altLang="zh-CN" sz="2400" dirty="0"/>
          </a:p>
          <a:p>
            <a:pPr eaLnBrk="1" hangingPunct="1">
              <a:buFont typeface="Wingdings" panose="05000000000000000000" pitchFamily="2" charset="2"/>
              <a:buNone/>
            </a:pPr>
            <a:r>
              <a:rPr lang="en-US" altLang="zh-CN" sz="2500" dirty="0"/>
              <a:t>        </a:t>
            </a:r>
            <a:r>
              <a:rPr lang="en-US" altLang="zh-CN" sz="2400" dirty="0"/>
              <a:t>CREATE VIEW </a:t>
            </a:r>
            <a:r>
              <a:rPr lang="en-US" altLang="zh-CN" sz="2400" dirty="0" err="1"/>
              <a:t>CS_Student</a:t>
            </a:r>
            <a:r>
              <a:rPr lang="zh-CN" altLang="en-US" sz="2400" dirty="0"/>
              <a:t>   </a:t>
            </a:r>
            <a:r>
              <a:rPr lang="en-US" altLang="zh-CN" sz="2000" dirty="0"/>
              <a:t>/</a:t>
            </a:r>
            <a:r>
              <a:rPr lang="zh-CN" altLang="en-US" sz="2000" dirty="0"/>
              <a:t>*先建立视图</a:t>
            </a:r>
            <a:r>
              <a:rPr lang="en-US" altLang="zh-CN" sz="2000" dirty="0" err="1"/>
              <a:t>CS_Student</a:t>
            </a:r>
            <a:r>
              <a:rPr lang="zh-CN" altLang="en-US" sz="2000" dirty="0"/>
              <a:t>*</a:t>
            </a:r>
            <a:r>
              <a:rPr lang="en-US" altLang="zh-CN" sz="2000" dirty="0"/>
              <a:t>/</a:t>
            </a:r>
            <a:endParaRPr lang="en-US" altLang="zh-CN" sz="2000" dirty="0"/>
          </a:p>
          <a:p>
            <a:pPr eaLnBrk="1" hangingPunct="1">
              <a:buFont typeface="Wingdings" panose="05000000000000000000" pitchFamily="2" charset="2"/>
              <a:buNone/>
            </a:pPr>
            <a:r>
              <a:rPr lang="zh-CN" altLang="en-US" sz="2000" dirty="0"/>
              <a:t>          </a:t>
            </a:r>
            <a:r>
              <a:rPr lang="en-US" altLang="zh-CN" sz="2200" dirty="0"/>
              <a:t>AS </a:t>
            </a:r>
            <a:endParaRPr lang="en-US" altLang="zh-CN" sz="2200" dirty="0"/>
          </a:p>
          <a:p>
            <a:pPr eaLnBrk="1" hangingPunct="1">
              <a:buFont typeface="Wingdings" panose="05000000000000000000" pitchFamily="2" charset="2"/>
              <a:buNone/>
            </a:pPr>
            <a:r>
              <a:rPr lang="zh-CN" altLang="en-US" sz="2200" dirty="0"/>
              <a:t>         </a:t>
            </a:r>
            <a:r>
              <a:rPr lang="en-US" altLang="zh-CN" sz="2200" dirty="0"/>
              <a:t>SELECT  *</a:t>
            </a:r>
            <a:endParaRPr lang="en-US" altLang="zh-CN" sz="2200" baseline="-16000" dirty="0"/>
          </a:p>
          <a:p>
            <a:pPr eaLnBrk="1" hangingPunct="1">
              <a:buFont typeface="Wingdings" panose="05000000000000000000" pitchFamily="2" charset="2"/>
              <a:buNone/>
            </a:pPr>
            <a:r>
              <a:rPr lang="zh-CN" altLang="en-US" sz="2200" baseline="-16000" dirty="0"/>
              <a:t>             </a:t>
            </a:r>
            <a:r>
              <a:rPr lang="en-US" altLang="zh-CN" sz="2200" dirty="0"/>
              <a:t>FROM   Student</a:t>
            </a:r>
            <a:endParaRPr lang="en-US" altLang="zh-CN" sz="2200" dirty="0"/>
          </a:p>
          <a:p>
            <a:pPr eaLnBrk="1" hangingPunct="1">
              <a:buFont typeface="Wingdings" panose="05000000000000000000" pitchFamily="2" charset="2"/>
              <a:buNone/>
            </a:pPr>
            <a:r>
              <a:rPr lang="zh-CN" altLang="en-US" sz="2200" dirty="0"/>
              <a:t>         </a:t>
            </a:r>
            <a:r>
              <a:rPr lang="en-US" altLang="zh-CN" sz="2200" dirty="0"/>
              <a:t>WHERE  </a:t>
            </a:r>
            <a:r>
              <a:rPr lang="en-US" altLang="zh-CN" sz="2200" dirty="0" err="1"/>
              <a:t>Smajor</a:t>
            </a:r>
            <a:r>
              <a:rPr lang="en-US" altLang="zh-CN" sz="2200" dirty="0"/>
              <a:t>=‘</a:t>
            </a:r>
            <a:r>
              <a:rPr lang="zh-CN" altLang="en-US" sz="2200" dirty="0"/>
              <a:t>计算机科学与技术</a:t>
            </a:r>
            <a:r>
              <a:rPr lang="en-US" altLang="zh-CN" sz="2200" dirty="0"/>
              <a:t>’</a:t>
            </a:r>
            <a:endParaRPr lang="en-US" altLang="zh-CN" sz="2200" dirty="0"/>
          </a:p>
          <a:p>
            <a:pPr eaLnBrk="1" hangingPunct="1">
              <a:buFont typeface="Wingdings" panose="05000000000000000000" pitchFamily="2" charset="2"/>
              <a:buNone/>
            </a:pPr>
            <a:r>
              <a:rPr lang="zh-CN" altLang="en-US" sz="2200" dirty="0"/>
              <a:t>         </a:t>
            </a:r>
            <a:r>
              <a:rPr lang="en-US" altLang="zh-CN" sz="2200" dirty="0"/>
              <a:t>WITH</a:t>
            </a:r>
            <a:r>
              <a:rPr lang="zh-CN" altLang="en-US" sz="2200" dirty="0"/>
              <a:t> </a:t>
            </a:r>
            <a:r>
              <a:rPr lang="en-US" altLang="zh-CN" sz="2200" dirty="0"/>
              <a:t>CHECK</a:t>
            </a:r>
            <a:r>
              <a:rPr lang="zh-CN" altLang="en-US" sz="2200" dirty="0"/>
              <a:t> </a:t>
            </a:r>
            <a:r>
              <a:rPr lang="en-US" altLang="zh-CN" sz="2200" dirty="0"/>
              <a:t>OPTION</a:t>
            </a:r>
            <a:endParaRPr lang="en-US" altLang="zh-CN" sz="2200" dirty="0"/>
          </a:p>
          <a:p>
            <a:pPr eaLnBrk="1" hangingPunct="1">
              <a:buFont typeface="Wingdings" panose="05000000000000000000" pitchFamily="2" charset="2"/>
              <a:buNone/>
            </a:pPr>
            <a:r>
              <a:rPr lang="zh-CN" altLang="en-US" sz="2200" dirty="0"/>
              <a:t>                             </a:t>
            </a:r>
            <a:r>
              <a:rPr lang="en-US" altLang="zh-CN" sz="2000" dirty="0"/>
              <a:t>/</a:t>
            </a:r>
            <a:r>
              <a:rPr lang="zh-CN" altLang="en-US" sz="2000" dirty="0"/>
              <a:t>*对该视图进行增删改时，必须满足</a:t>
            </a:r>
            <a:r>
              <a:rPr lang="en-US" altLang="zh-CN" sz="2000" dirty="0" err="1"/>
              <a:t>Smajor</a:t>
            </a:r>
            <a:r>
              <a:rPr lang="en-US" altLang="zh-CN" sz="2000" dirty="0"/>
              <a:t>=‘</a:t>
            </a:r>
            <a:r>
              <a:rPr lang="zh-CN" altLang="en-US" sz="2000" dirty="0"/>
              <a:t>计算机科学与技术</a:t>
            </a:r>
            <a:r>
              <a:rPr lang="en-US" altLang="zh-CN" sz="2000" dirty="0"/>
              <a:t>’</a:t>
            </a:r>
            <a:r>
              <a:rPr lang="zh-CN" altLang="en-US" sz="2000" dirty="0"/>
              <a:t>的条件*</a:t>
            </a:r>
            <a:r>
              <a:rPr lang="en-US" altLang="zh-CN" sz="2000" dirty="0"/>
              <a:t>/</a:t>
            </a:r>
            <a:endParaRPr lang="en-US" altLang="zh-CN" sz="2000"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62" name="Rectangle 2"/>
          <p:cNvSpPr>
            <a:spLocks noGrp="1" noChangeArrowheads="1"/>
          </p:cNvSpPr>
          <p:nvPr>
            <p:ph type="title" idx="4294967295"/>
          </p:nvPr>
        </p:nvSpPr>
        <p:spPr/>
        <p:txBody>
          <a:bodyPr/>
          <a:lstStyle/>
          <a:p>
            <a:pPr eaLnBrk="1" hangingPunct="1"/>
            <a:r>
              <a:rPr lang="zh-CN" altLang="zh-CN" sz="3600"/>
              <a:t>视图机制（续）</a:t>
            </a:r>
            <a:endParaRPr lang="zh-CN" altLang="zh-CN" sz="3600"/>
          </a:p>
        </p:txBody>
      </p:sp>
      <p:sp>
        <p:nvSpPr>
          <p:cNvPr id="92163" name="Rectangle 3"/>
          <p:cNvSpPr>
            <a:spLocks noGrp="1" noChangeArrowheads="1"/>
          </p:cNvSpPr>
          <p:nvPr>
            <p:ph type="body" idx="4294967295"/>
          </p:nvPr>
        </p:nvSpPr>
        <p:spPr>
          <a:xfrm>
            <a:off x="335360" y="1001713"/>
            <a:ext cx="11856640" cy="4803552"/>
          </a:xfrm>
        </p:spPr>
        <p:txBody>
          <a:bodyPr/>
          <a:lstStyle/>
          <a:p>
            <a:pPr lvl="2" eaLnBrk="1" hangingPunct="1">
              <a:lnSpc>
                <a:spcPct val="200000"/>
              </a:lnSpc>
              <a:buFont typeface="Arial" panose="020B0604020202020204" pitchFamily="34" charset="0"/>
              <a:buNone/>
            </a:pPr>
            <a:r>
              <a:rPr lang="zh-CN" altLang="en-US" sz="2400" dirty="0"/>
              <a:t>在视图上进一步定义存取权限</a:t>
            </a:r>
            <a:endParaRPr lang="en-US" altLang="zh-CN" sz="2400" dirty="0"/>
          </a:p>
          <a:p>
            <a:pPr lvl="2" eaLnBrk="1" hangingPunct="1">
              <a:lnSpc>
                <a:spcPct val="200000"/>
              </a:lnSpc>
              <a:buFont typeface="Arial" panose="020B0604020202020204" pitchFamily="34" charset="0"/>
              <a:buNone/>
            </a:pPr>
            <a:r>
              <a:rPr lang="en-US" altLang="zh-CN" sz="2400" dirty="0"/>
              <a:t>GRANT  SELECT</a:t>
            </a:r>
            <a:r>
              <a:rPr lang="zh-CN" altLang="en-US" sz="2400" dirty="0"/>
              <a:t>  </a:t>
            </a:r>
            <a:r>
              <a:rPr lang="en-US" altLang="zh-CN" dirty="0"/>
              <a:t>/</a:t>
            </a:r>
            <a:r>
              <a:rPr lang="zh-CN" altLang="en-US" dirty="0"/>
              <a:t>*王平老师只能检索计算机科学与技术学生的信息*</a:t>
            </a:r>
            <a:r>
              <a:rPr lang="en-US" altLang="zh-CN" dirty="0"/>
              <a:t>/</a:t>
            </a:r>
            <a:endParaRPr lang="en-US" altLang="zh-CN" dirty="0"/>
          </a:p>
          <a:p>
            <a:pPr lvl="2" eaLnBrk="1" hangingPunct="1">
              <a:lnSpc>
                <a:spcPct val="120000"/>
              </a:lnSpc>
              <a:buFont typeface="Arial" panose="020B0604020202020204" pitchFamily="34" charset="0"/>
              <a:buNone/>
            </a:pPr>
            <a:r>
              <a:rPr lang="en-US" altLang="zh-CN" sz="2400" dirty="0"/>
              <a:t>ON  </a:t>
            </a:r>
            <a:r>
              <a:rPr lang="en-US" altLang="zh-CN" sz="2400" dirty="0" err="1"/>
              <a:t>CS_Student</a:t>
            </a:r>
            <a:r>
              <a:rPr lang="en-US" altLang="zh-CN" sz="2400" dirty="0"/>
              <a:t>  </a:t>
            </a:r>
            <a:endParaRPr lang="en-US" altLang="zh-CN" sz="2400" dirty="0"/>
          </a:p>
          <a:p>
            <a:pPr lvl="2" eaLnBrk="1" hangingPunct="1">
              <a:lnSpc>
                <a:spcPct val="120000"/>
              </a:lnSpc>
              <a:buFont typeface="Arial" panose="020B0604020202020204" pitchFamily="34" charset="0"/>
              <a:buNone/>
            </a:pPr>
            <a:r>
              <a:rPr lang="en-US" altLang="zh-CN" sz="2400" dirty="0"/>
              <a:t>TO </a:t>
            </a:r>
            <a:r>
              <a:rPr lang="zh-CN" altLang="en-US" sz="2400" dirty="0"/>
              <a:t>王平</a:t>
            </a:r>
            <a:r>
              <a:rPr lang="en-US" altLang="zh-CN" sz="2400" dirty="0"/>
              <a:t>;</a:t>
            </a:r>
            <a:endParaRPr lang="zh-CN" altLang="en-US" sz="2400" dirty="0"/>
          </a:p>
          <a:p>
            <a:pPr lvl="2" eaLnBrk="1" hangingPunct="1">
              <a:buFont typeface="Arial" panose="020B0604020202020204" pitchFamily="34" charset="0"/>
              <a:buNone/>
            </a:pPr>
            <a:r>
              <a:rPr lang="zh-CN" altLang="en-US" sz="2400" dirty="0"/>
              <a:t>     </a:t>
            </a:r>
            <a:endParaRPr lang="zh-CN" altLang="en-US" sz="2400" dirty="0"/>
          </a:p>
          <a:p>
            <a:pPr lvl="2" eaLnBrk="1" hangingPunct="1">
              <a:buFont typeface="Arial" panose="020B0604020202020204" pitchFamily="34" charset="0"/>
              <a:buNone/>
            </a:pPr>
            <a:r>
              <a:rPr lang="en-US" altLang="zh-CN" sz="2400" dirty="0"/>
              <a:t>GRANT ALL PRIVILIGES</a:t>
            </a:r>
            <a:r>
              <a:rPr lang="zh-CN" altLang="en-US" sz="2400" dirty="0"/>
              <a:t>  </a:t>
            </a:r>
            <a:r>
              <a:rPr lang="en-US" altLang="zh-CN" dirty="0"/>
              <a:t>/</a:t>
            </a:r>
            <a:r>
              <a:rPr lang="zh-CN" altLang="en-US" dirty="0"/>
              <a:t>*专业负责人张明具有检索和增删改该视图的所有权限*</a:t>
            </a:r>
            <a:r>
              <a:rPr lang="en-US" altLang="zh-CN" dirty="0"/>
              <a:t>/</a:t>
            </a:r>
            <a:endParaRPr lang="en-US" altLang="zh-CN" dirty="0"/>
          </a:p>
          <a:p>
            <a:pPr lvl="2" eaLnBrk="1" hangingPunct="1">
              <a:buFont typeface="Arial" panose="020B0604020202020204" pitchFamily="34" charset="0"/>
              <a:buNone/>
            </a:pPr>
            <a:r>
              <a:rPr lang="en-US" altLang="zh-CN" sz="2400" dirty="0"/>
              <a:t>ON  </a:t>
            </a:r>
            <a:r>
              <a:rPr lang="en-US" altLang="zh-CN" sz="2400" dirty="0" err="1"/>
              <a:t>CS_Student</a:t>
            </a:r>
            <a:r>
              <a:rPr lang="en-US" altLang="zh-CN" sz="2400" dirty="0"/>
              <a:t>  </a:t>
            </a:r>
            <a:endParaRPr lang="en-US" altLang="zh-CN" sz="2400" dirty="0"/>
          </a:p>
          <a:p>
            <a:pPr lvl="2" eaLnBrk="1" hangingPunct="1">
              <a:buFont typeface="Arial" panose="020B0604020202020204" pitchFamily="34" charset="0"/>
              <a:buNone/>
            </a:pPr>
            <a:r>
              <a:rPr lang="en-US" altLang="zh-CN" sz="2400" dirty="0"/>
              <a:t>TO  </a:t>
            </a:r>
            <a:r>
              <a:rPr lang="zh-CN" altLang="en-US" sz="2400" dirty="0"/>
              <a:t>张明</a:t>
            </a:r>
            <a:r>
              <a:rPr lang="en-US" altLang="zh-CN" sz="2400" dirty="0"/>
              <a:t>;</a:t>
            </a:r>
            <a:r>
              <a:rPr lang="zh-CN" altLang="en-US" sz="2400" dirty="0"/>
              <a:t> </a:t>
            </a:r>
            <a:endParaRPr lang="zh-CN" altLang="en-US" sz="2400"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3186"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93187" name="Rectangle 3"/>
          <p:cNvSpPr>
            <a:spLocks noGrp="1" noChangeArrowheads="1"/>
          </p:cNvSpPr>
          <p:nvPr>
            <p:ph type="body" idx="4294967295"/>
          </p:nvPr>
        </p:nvSpPr>
        <p:spPr>
          <a:xfrm>
            <a:off x="1199456" y="1340768"/>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None/>
            </a:pPr>
            <a:r>
              <a:rPr lang="en-US" altLang="zh-CN" dirty="0">
                <a:solidFill>
                  <a:srgbClr val="0066FF"/>
                </a:solidFill>
              </a:rPr>
              <a:t>4.4  </a:t>
            </a:r>
            <a:r>
              <a:rPr lang="zh-CN" altLang="en-US" dirty="0">
                <a:solidFill>
                  <a:srgbClr val="0066FF"/>
                </a:solidFill>
              </a:rPr>
              <a:t>审计（</a:t>
            </a:r>
            <a:r>
              <a:rPr lang="en-US" altLang="zh-CN" dirty="0">
                <a:solidFill>
                  <a:srgbClr val="0066FF"/>
                </a:solidFill>
              </a:rPr>
              <a:t>Audit</a:t>
            </a:r>
            <a:r>
              <a:rPr lang="zh-CN" altLang="en-US" dirty="0">
                <a:solidFill>
                  <a:srgbClr val="0066FF"/>
                </a:solidFill>
              </a:rPr>
              <a:t>）</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en-US" altLang="zh-CN" dirty="0"/>
              <a:t>4.7  </a:t>
            </a:r>
            <a:r>
              <a:rPr lang="zh-CN" altLang="en-US" dirty="0"/>
              <a:t>小结</a:t>
            </a:r>
            <a:endParaRPr lang="zh-CN" altLang="en-US" dirty="0"/>
          </a:p>
          <a:p>
            <a:pPr eaLnBrk="1" hangingPunct="1">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4210" name="Rectangle 2"/>
          <p:cNvSpPr>
            <a:spLocks noGrp="1" noChangeArrowheads="1"/>
          </p:cNvSpPr>
          <p:nvPr>
            <p:ph type="title" idx="4294967295"/>
          </p:nvPr>
        </p:nvSpPr>
        <p:spPr/>
        <p:txBody>
          <a:bodyPr/>
          <a:lstStyle/>
          <a:p>
            <a:pPr eaLnBrk="1" hangingPunct="1"/>
            <a:r>
              <a:rPr lang="en-US" altLang="zh-CN" sz="3600"/>
              <a:t>4.4  </a:t>
            </a:r>
            <a:r>
              <a:rPr lang="zh-CN" altLang="en-US" sz="3600"/>
              <a:t>审计</a:t>
            </a:r>
            <a:endParaRPr lang="zh-CN" altLang="en-US" sz="3600"/>
          </a:p>
        </p:txBody>
      </p:sp>
      <p:sp>
        <p:nvSpPr>
          <p:cNvPr id="94211" name="Rectangle 3"/>
          <p:cNvSpPr>
            <a:spLocks noGrp="1" noChangeArrowheads="1"/>
          </p:cNvSpPr>
          <p:nvPr>
            <p:ph type="body" idx="4294967295"/>
          </p:nvPr>
        </p:nvSpPr>
        <p:spPr/>
        <p:txBody>
          <a:bodyPr/>
          <a:lstStyle/>
          <a:p>
            <a:pPr eaLnBrk="1" hangingPunct="1">
              <a:lnSpc>
                <a:spcPct val="90000"/>
              </a:lnSpc>
            </a:pPr>
            <a:r>
              <a:rPr lang="zh-CN" altLang="en-US" sz="3200" dirty="0"/>
              <a:t>审计</a:t>
            </a:r>
            <a:endParaRPr lang="zh-CN" altLang="en-US" sz="3200" dirty="0"/>
          </a:p>
          <a:p>
            <a:pPr lvl="1" eaLnBrk="1" hangingPunct="1">
              <a:spcBef>
                <a:spcPct val="60000"/>
              </a:spcBef>
            </a:pPr>
            <a:r>
              <a:rPr lang="zh-CN" altLang="en-US" dirty="0"/>
              <a:t>启用一个专用的审计日志（</a:t>
            </a:r>
            <a:r>
              <a:rPr lang="en-US" altLang="zh-CN" dirty="0"/>
              <a:t>Audit Log</a:t>
            </a:r>
            <a:r>
              <a:rPr lang="zh-CN" altLang="en-US" dirty="0"/>
              <a:t>）</a:t>
            </a:r>
            <a:endParaRPr lang="zh-CN" altLang="en-US" dirty="0"/>
          </a:p>
          <a:p>
            <a:pPr lvl="1" eaLnBrk="1" hangingPunct="1">
              <a:spcBef>
                <a:spcPct val="60000"/>
              </a:spcBef>
              <a:buFont typeface="Wingdings" panose="05000000000000000000" pitchFamily="2" charset="2"/>
              <a:buNone/>
            </a:pPr>
            <a:r>
              <a:rPr lang="zh-CN" altLang="en-US" dirty="0"/>
              <a:t>   把用户对数据库的所有操作自动记录放入审计日志</a:t>
            </a:r>
            <a:endParaRPr lang="zh-CN" altLang="en-US" dirty="0"/>
          </a:p>
          <a:p>
            <a:pPr lvl="1" eaLnBrk="1" hangingPunct="1">
              <a:spcBef>
                <a:spcPct val="60000"/>
              </a:spcBef>
            </a:pPr>
            <a:r>
              <a:rPr lang="zh-CN" altLang="en-US" dirty="0"/>
              <a:t>审计员利用审计日志</a:t>
            </a:r>
            <a:endParaRPr lang="zh-CN" altLang="en-US" dirty="0"/>
          </a:p>
          <a:p>
            <a:pPr lvl="1" eaLnBrk="1" hangingPunct="1">
              <a:spcBef>
                <a:spcPct val="60000"/>
              </a:spcBef>
              <a:buFont typeface="Wingdings" panose="05000000000000000000" pitchFamily="2" charset="2"/>
              <a:buNone/>
            </a:pPr>
            <a:r>
              <a:rPr lang="zh-CN" altLang="zh-CN" dirty="0"/>
              <a:t>监控数据库中的各种行为</a:t>
            </a:r>
            <a:r>
              <a:rPr lang="zh-CN" altLang="en-US" dirty="0"/>
              <a:t>，找出非法存取数据的人、时间和内容</a:t>
            </a:r>
            <a:endParaRPr lang="zh-CN" altLang="en-US" dirty="0"/>
          </a:p>
          <a:p>
            <a:pPr lvl="1" eaLnBrk="1" hangingPunct="1">
              <a:spcBef>
                <a:spcPct val="60000"/>
              </a:spcBef>
            </a:pPr>
            <a:r>
              <a:rPr lang="en-US" altLang="zh-CN" dirty="0"/>
              <a:t>C2</a:t>
            </a:r>
            <a:r>
              <a:rPr lang="zh-CN" altLang="en-US" dirty="0"/>
              <a:t>以上安全级别的</a:t>
            </a:r>
            <a:r>
              <a:rPr lang="en-US" altLang="zh-CN" dirty="0"/>
              <a:t>DBMS</a:t>
            </a:r>
            <a:r>
              <a:rPr lang="zh-CN" altLang="en-US" dirty="0"/>
              <a:t>必须具有审计功能</a:t>
            </a:r>
            <a:endParaRPr lang="zh-CN" alt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sz="3600"/>
              <a:t>审计（续）</a:t>
            </a:r>
            <a:endParaRPr lang="zh-CN" altLang="en-US" sz="3600"/>
          </a:p>
        </p:txBody>
      </p:sp>
      <p:sp>
        <p:nvSpPr>
          <p:cNvPr id="95235" name="Rectangle 3"/>
          <p:cNvSpPr>
            <a:spLocks noGrp="1" noChangeArrowheads="1"/>
          </p:cNvSpPr>
          <p:nvPr>
            <p:ph type="body" idx="1"/>
          </p:nvPr>
        </p:nvSpPr>
        <p:spPr/>
        <p:txBody>
          <a:bodyPr/>
          <a:lstStyle/>
          <a:p>
            <a:r>
              <a:rPr lang="zh-CN" altLang="en-US" dirty="0"/>
              <a:t>审计功能的可选性</a:t>
            </a:r>
            <a:endParaRPr lang="zh-CN" altLang="en-US" dirty="0"/>
          </a:p>
          <a:p>
            <a:pPr lvl="1">
              <a:lnSpc>
                <a:spcPct val="160000"/>
              </a:lnSpc>
            </a:pPr>
            <a:r>
              <a:rPr lang="zh-CN" altLang="en-US" dirty="0"/>
              <a:t>审计很费时间和空间</a:t>
            </a:r>
            <a:endParaRPr lang="zh-CN" altLang="en-US" dirty="0"/>
          </a:p>
          <a:p>
            <a:pPr lvl="1">
              <a:lnSpc>
                <a:spcPct val="160000"/>
              </a:lnSpc>
            </a:pPr>
            <a:r>
              <a:rPr lang="en-US" altLang="zh-CN" dirty="0"/>
              <a:t>DBA</a:t>
            </a:r>
            <a:r>
              <a:rPr lang="zh-CN" altLang="en-US" dirty="0"/>
              <a:t>可以根据应用对安全性的要求，灵活地打开或关闭审计功能</a:t>
            </a:r>
            <a:endParaRPr lang="zh-CN" altLang="en-US" dirty="0"/>
          </a:p>
          <a:p>
            <a:pPr lvl="1">
              <a:lnSpc>
                <a:spcPct val="160000"/>
              </a:lnSpc>
            </a:pPr>
            <a:r>
              <a:rPr lang="zh-CN" altLang="en-US" dirty="0"/>
              <a:t>审计功能主要用于安全性要求较高的部门</a:t>
            </a:r>
            <a:endParaRPr lang="zh-CN" alt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6258"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96259" name="Rectangle 3"/>
          <p:cNvSpPr>
            <a:spLocks noGrp="1" noChangeArrowheads="1"/>
          </p:cNvSpPr>
          <p:nvPr>
            <p:ph type="body" idx="4294967295"/>
          </p:nvPr>
        </p:nvSpPr>
        <p:spPr>
          <a:xfrm>
            <a:off x="1199456" y="1384079"/>
            <a:ext cx="9865096" cy="4853234"/>
          </a:xfrm>
        </p:spPr>
        <p:txBody>
          <a:bodyPr/>
          <a:lstStyle/>
          <a:p>
            <a:pPr eaLnBrk="1" hangingPunct="1">
              <a:lnSpc>
                <a:spcPct val="80000"/>
              </a:lnSpc>
              <a:buFont typeface="Wingdings" panose="05000000000000000000" pitchFamily="2" charset="2"/>
              <a:buNone/>
            </a:pPr>
            <a:r>
              <a:rPr lang="en-US" altLang="zh-CN" dirty="0"/>
              <a:t>1.</a:t>
            </a:r>
            <a:r>
              <a:rPr lang="zh-CN" altLang="en-US" dirty="0"/>
              <a:t>审计事件</a:t>
            </a:r>
            <a:endParaRPr lang="en-US" altLang="zh-CN" dirty="0"/>
          </a:p>
          <a:p>
            <a:pPr lvl="1" eaLnBrk="1" hangingPunct="1">
              <a:buSzPct val="85000"/>
            </a:pPr>
            <a:r>
              <a:rPr lang="zh-CN" altLang="en-US" dirty="0"/>
              <a:t>服务器事件</a:t>
            </a:r>
            <a:endParaRPr lang="en-US" altLang="zh-CN" dirty="0"/>
          </a:p>
          <a:p>
            <a:pPr lvl="2" eaLnBrk="1" hangingPunct="1">
              <a:buSzPct val="87000"/>
              <a:buFont typeface="Wingdings" panose="05000000000000000000" pitchFamily="2" charset="2"/>
              <a:buChar char="l"/>
            </a:pPr>
            <a:r>
              <a:rPr lang="zh-CN" altLang="zh-CN" sz="2200" dirty="0"/>
              <a:t>审计数据库服务器发生的事件</a:t>
            </a:r>
            <a:endParaRPr lang="en-US" altLang="zh-CN" sz="2200" dirty="0"/>
          </a:p>
          <a:p>
            <a:pPr lvl="1" eaLnBrk="1" hangingPunct="1">
              <a:buSzPct val="85000"/>
            </a:pPr>
            <a:r>
              <a:rPr lang="zh-CN" altLang="en-US" dirty="0"/>
              <a:t>系统权限</a:t>
            </a:r>
            <a:endParaRPr lang="en-US" altLang="zh-CN" dirty="0"/>
          </a:p>
          <a:p>
            <a:pPr lvl="2" eaLnBrk="1" hangingPunct="1">
              <a:buSzPct val="87000"/>
              <a:buFont typeface="Wingdings" panose="05000000000000000000" pitchFamily="2" charset="2"/>
              <a:buChar char="l"/>
            </a:pPr>
            <a:r>
              <a:rPr lang="zh-CN" altLang="zh-CN" sz="2200" dirty="0"/>
              <a:t>对系统拥有的结构或模式对象进行操作的审计</a:t>
            </a:r>
            <a:endParaRPr lang="en-US" altLang="zh-CN" sz="2200" dirty="0"/>
          </a:p>
          <a:p>
            <a:pPr lvl="2" eaLnBrk="1" hangingPunct="1">
              <a:buSzPct val="87000"/>
              <a:buFont typeface="Wingdings" panose="05000000000000000000" pitchFamily="2" charset="2"/>
              <a:buChar char="l"/>
            </a:pPr>
            <a:r>
              <a:rPr lang="zh-CN" altLang="zh-CN" sz="2200" dirty="0"/>
              <a:t>要求该操作的权限是通过系统权限获得的</a:t>
            </a:r>
            <a:endParaRPr lang="zh-CN" altLang="zh-CN" sz="2200" dirty="0"/>
          </a:p>
          <a:p>
            <a:pPr lvl="1" eaLnBrk="1" hangingPunct="1">
              <a:buSzPct val="85000"/>
            </a:pPr>
            <a:r>
              <a:rPr lang="zh-CN" altLang="en-US" dirty="0"/>
              <a:t>语句事件</a:t>
            </a:r>
            <a:endParaRPr lang="en-US" altLang="zh-CN" dirty="0"/>
          </a:p>
          <a:p>
            <a:pPr lvl="2" eaLnBrk="1" hangingPunct="1">
              <a:buSzPct val="87000"/>
              <a:buFont typeface="Wingdings" panose="05000000000000000000" pitchFamily="2" charset="2"/>
              <a:buChar char="l"/>
            </a:pPr>
            <a:r>
              <a:rPr lang="zh-CN" altLang="zh-CN" sz="2200" dirty="0"/>
              <a:t>对</a:t>
            </a:r>
            <a:r>
              <a:rPr lang="en-US" altLang="zh-CN" sz="2200" dirty="0"/>
              <a:t>SQL</a:t>
            </a:r>
            <a:r>
              <a:rPr lang="zh-CN" altLang="zh-CN" sz="2200" dirty="0"/>
              <a:t>语句，如</a:t>
            </a:r>
            <a:r>
              <a:rPr lang="en-US" altLang="zh-CN" sz="2200" dirty="0"/>
              <a:t>DDL</a:t>
            </a:r>
            <a:r>
              <a:rPr lang="zh-CN" altLang="zh-CN" sz="2200" dirty="0"/>
              <a:t>、</a:t>
            </a:r>
            <a:r>
              <a:rPr lang="en-US" altLang="zh-CN" sz="2200" dirty="0"/>
              <a:t>DML</a:t>
            </a:r>
            <a:r>
              <a:rPr lang="zh-CN" altLang="zh-CN" sz="2200" dirty="0"/>
              <a:t>及</a:t>
            </a:r>
            <a:r>
              <a:rPr lang="en-US" altLang="zh-CN" sz="2200" dirty="0"/>
              <a:t>DCL</a:t>
            </a:r>
            <a:r>
              <a:rPr lang="zh-CN" altLang="zh-CN" sz="2200" dirty="0"/>
              <a:t>语句的审计</a:t>
            </a:r>
            <a:endParaRPr lang="en-US" altLang="zh-CN" sz="2200" dirty="0"/>
          </a:p>
          <a:p>
            <a:pPr lvl="1" eaLnBrk="1" hangingPunct="1">
              <a:buSzPct val="85000"/>
            </a:pPr>
            <a:r>
              <a:rPr lang="zh-CN" altLang="en-US" dirty="0"/>
              <a:t>模式对象事件</a:t>
            </a:r>
            <a:endParaRPr lang="en-US" altLang="zh-CN" dirty="0"/>
          </a:p>
          <a:p>
            <a:pPr lvl="2" eaLnBrk="1" hangingPunct="1">
              <a:buSzPct val="87000"/>
              <a:buFont typeface="Wingdings" panose="05000000000000000000" pitchFamily="2" charset="2"/>
              <a:buChar char="l"/>
            </a:pPr>
            <a:r>
              <a:rPr lang="zh-CN" altLang="zh-CN" sz="2200" dirty="0"/>
              <a:t>对特定模式对象上进行的</a:t>
            </a:r>
            <a:r>
              <a:rPr lang="en-US" altLang="zh-CN" sz="2200" dirty="0"/>
              <a:t>SELECT</a:t>
            </a:r>
            <a:r>
              <a:rPr lang="zh-CN" altLang="zh-CN" sz="2200" dirty="0"/>
              <a:t>或</a:t>
            </a:r>
            <a:r>
              <a:rPr lang="en-US" altLang="zh-CN" sz="2200" dirty="0"/>
              <a:t>DML</a:t>
            </a:r>
            <a:r>
              <a:rPr lang="zh-CN" altLang="zh-CN" sz="2200" dirty="0"/>
              <a:t>操作的审计 </a:t>
            </a:r>
            <a:r>
              <a:rPr lang="en-US" altLang="zh-CN" sz="1600" dirty="0"/>
              <a:t>	</a:t>
            </a:r>
            <a:endParaRPr lang="en-US" altLang="zh-CN" sz="1600" dirty="0"/>
          </a:p>
          <a:p>
            <a:pPr lvl="1" eaLnBrk="1" hangingPunct="1">
              <a:buFont typeface="Wingdings" panose="05000000000000000000" pitchFamily="2" charset="2"/>
              <a:buNone/>
            </a:pPr>
            <a:r>
              <a:rPr lang="zh-CN" altLang="en-US" sz="2000" dirty="0"/>
              <a:t>　</a:t>
            </a:r>
            <a:endParaRPr lang="en-US" altLang="zh-CN"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7282" name="Rectangle 2"/>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审计（续）</a:t>
            </a:r>
            <a:endParaRPr lang="zh-CN" altLang="zh-CN" sz="3600">
              <a:solidFill>
                <a:schemeClr val="bg1"/>
              </a:solidFill>
            </a:endParaRPr>
          </a:p>
        </p:txBody>
      </p:sp>
      <p:sp>
        <p:nvSpPr>
          <p:cNvPr id="97283" name="Rectangle 3"/>
          <p:cNvSpPr txBox="1">
            <a:spLocks noChangeArrowheads="1"/>
          </p:cNvSpPr>
          <p:nvPr/>
        </p:nvSpPr>
        <p:spPr bwMode="auto">
          <a:xfrm>
            <a:off x="623392" y="836713"/>
            <a:ext cx="11161240" cy="531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0"/>
              </a:spcBef>
              <a:buNone/>
            </a:pPr>
            <a:r>
              <a:rPr lang="en-US" altLang="zh-CN" sz="2600" dirty="0"/>
              <a:t>2.</a:t>
            </a:r>
            <a:r>
              <a:rPr lang="zh-CN" altLang="en-US" sz="2600" dirty="0"/>
              <a:t>审计功能</a:t>
            </a:r>
            <a:endParaRPr lang="zh-CN" altLang="en-US" sz="2600" dirty="0"/>
          </a:p>
          <a:p>
            <a:pPr lvl="1" eaLnBrk="1" hangingPunct="1">
              <a:lnSpc>
                <a:spcPct val="130000"/>
              </a:lnSpc>
              <a:spcBef>
                <a:spcPts val="0"/>
              </a:spcBef>
            </a:pPr>
            <a:r>
              <a:rPr lang="zh-CN" altLang="en-US" dirty="0"/>
              <a:t>基本功能</a:t>
            </a:r>
            <a:endParaRPr lang="en-US" altLang="zh-CN" dirty="0"/>
          </a:p>
          <a:p>
            <a:pPr lvl="2" eaLnBrk="1" hangingPunct="1">
              <a:lnSpc>
                <a:spcPct val="130000"/>
              </a:lnSpc>
              <a:spcBef>
                <a:spcPts val="0"/>
              </a:spcBef>
              <a:buSzPct val="87000"/>
              <a:buFont typeface="Wingdings" panose="05000000000000000000" pitchFamily="2" charset="2"/>
              <a:buChar char="l"/>
            </a:pPr>
            <a:r>
              <a:rPr lang="zh-CN" altLang="zh-CN" sz="2200" dirty="0"/>
              <a:t>提供多种审计查阅方式提供多种审计查阅方式</a:t>
            </a:r>
            <a:endParaRPr lang="en-US" altLang="zh-CN" sz="2200" dirty="0"/>
          </a:p>
          <a:p>
            <a:pPr lvl="1" eaLnBrk="1" hangingPunct="1">
              <a:lnSpc>
                <a:spcPct val="130000"/>
              </a:lnSpc>
              <a:spcBef>
                <a:spcPts val="0"/>
              </a:spcBef>
            </a:pPr>
            <a:r>
              <a:rPr lang="zh-CN" altLang="en-US" dirty="0"/>
              <a:t>多套审计规则：一般在初始化设定</a:t>
            </a:r>
            <a:endParaRPr lang="en-US" altLang="zh-CN" dirty="0"/>
          </a:p>
          <a:p>
            <a:pPr lvl="1" eaLnBrk="1" hangingPunct="1">
              <a:lnSpc>
                <a:spcPct val="130000"/>
              </a:lnSpc>
              <a:spcBef>
                <a:spcPts val="0"/>
              </a:spcBef>
            </a:pPr>
            <a:r>
              <a:rPr lang="zh-CN" altLang="en-US" dirty="0"/>
              <a:t>提供审计分析和报表功能</a:t>
            </a:r>
            <a:endParaRPr lang="en-US" altLang="zh-CN" dirty="0"/>
          </a:p>
          <a:p>
            <a:pPr lvl="1" eaLnBrk="1" hangingPunct="1">
              <a:lnSpc>
                <a:spcPct val="130000"/>
              </a:lnSpc>
              <a:spcBef>
                <a:spcPts val="0"/>
              </a:spcBef>
            </a:pPr>
            <a:r>
              <a:rPr lang="zh-CN" altLang="en-US" dirty="0"/>
              <a:t>审计日志管理功能</a:t>
            </a:r>
            <a:endParaRPr lang="en-US" altLang="zh-CN" dirty="0"/>
          </a:p>
          <a:p>
            <a:pPr lvl="2" eaLnBrk="1" hangingPunct="1">
              <a:lnSpc>
                <a:spcPct val="130000"/>
              </a:lnSpc>
              <a:spcBef>
                <a:spcPts val="0"/>
              </a:spcBef>
              <a:buSzPct val="87000"/>
              <a:buFont typeface="Wingdings" panose="05000000000000000000" pitchFamily="2" charset="2"/>
              <a:buChar char="l"/>
            </a:pPr>
            <a:r>
              <a:rPr lang="zh-CN" altLang="zh-CN" sz="2200" dirty="0"/>
              <a:t>防止审计员误删审计记录，审计日志必须先转储后删除</a:t>
            </a:r>
            <a:endParaRPr lang="en-US" altLang="zh-CN" sz="2200" dirty="0"/>
          </a:p>
          <a:p>
            <a:pPr lvl="2" eaLnBrk="1" hangingPunct="1">
              <a:lnSpc>
                <a:spcPct val="130000"/>
              </a:lnSpc>
              <a:spcBef>
                <a:spcPts val="0"/>
              </a:spcBef>
              <a:buSzPct val="87000"/>
              <a:buFont typeface="Wingdings" panose="05000000000000000000" pitchFamily="2" charset="2"/>
              <a:buChar char="l"/>
            </a:pPr>
            <a:r>
              <a:rPr lang="zh-CN" altLang="zh-CN" sz="2200" dirty="0"/>
              <a:t>对转储的审计记录文件提供完整性和保密性保护</a:t>
            </a:r>
            <a:endParaRPr lang="en-US" altLang="zh-CN" sz="2200" dirty="0"/>
          </a:p>
          <a:p>
            <a:pPr lvl="2" eaLnBrk="1" hangingPunct="1">
              <a:lnSpc>
                <a:spcPct val="130000"/>
              </a:lnSpc>
              <a:spcBef>
                <a:spcPts val="0"/>
              </a:spcBef>
              <a:buSzPct val="87000"/>
              <a:buFont typeface="Wingdings" panose="05000000000000000000" pitchFamily="2" charset="2"/>
              <a:buChar char="l"/>
            </a:pPr>
            <a:r>
              <a:rPr lang="zh-CN" altLang="zh-CN" sz="2200" dirty="0"/>
              <a:t>只允许审计员查阅和转储审计记录</a:t>
            </a:r>
            <a:r>
              <a:rPr lang="zh-CN" altLang="en-US" sz="2200" dirty="0"/>
              <a:t>，</a:t>
            </a:r>
            <a:r>
              <a:rPr lang="zh-CN" altLang="zh-CN" sz="2200" dirty="0"/>
              <a:t>不允许任何用户新增和修改审计记录等</a:t>
            </a:r>
            <a:endParaRPr lang="en-US" altLang="zh-CN" sz="2200" dirty="0"/>
          </a:p>
          <a:p>
            <a:pPr lvl="1" eaLnBrk="1" hangingPunct="1">
              <a:lnSpc>
                <a:spcPct val="130000"/>
              </a:lnSpc>
              <a:spcBef>
                <a:spcPts val="0"/>
              </a:spcBef>
            </a:pPr>
            <a:r>
              <a:rPr lang="zh-CN" altLang="en-US" dirty="0"/>
              <a:t>提供查询审计设置及审计记录信息的专门视图</a:t>
            </a:r>
            <a:endParaRPr lang="en-US" altLang="zh-CN" dirty="0"/>
          </a:p>
          <a:p>
            <a:pPr lvl="1" eaLnBrk="1" hangingPunct="1">
              <a:lnSpc>
                <a:spcPct val="130000"/>
              </a:lnSpc>
            </a:pPr>
            <a:endParaRPr lang="zh-CN" altLang="en-US" sz="2000"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8306"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98307" name="Rectangle 3"/>
          <p:cNvSpPr>
            <a:spLocks noGrp="1" noChangeArrowheads="1"/>
          </p:cNvSpPr>
          <p:nvPr>
            <p:ph type="body" idx="4294967295"/>
          </p:nvPr>
        </p:nvSpPr>
        <p:spPr>
          <a:xfrm>
            <a:off x="1199456" y="1326165"/>
            <a:ext cx="8229600" cy="4854575"/>
          </a:xfrm>
        </p:spPr>
        <p:txBody>
          <a:bodyPr/>
          <a:lstStyle/>
          <a:p>
            <a:pPr eaLnBrk="1" hangingPunct="1">
              <a:lnSpc>
                <a:spcPct val="170000"/>
              </a:lnSpc>
              <a:buFont typeface="Wingdings" panose="05000000000000000000" pitchFamily="2" charset="2"/>
              <a:buNone/>
            </a:pPr>
            <a:r>
              <a:rPr lang="en-US" altLang="zh-CN" dirty="0"/>
              <a:t>3. AUDIT</a:t>
            </a:r>
            <a:r>
              <a:rPr lang="zh-CN" altLang="en-US" dirty="0"/>
              <a:t>语句和</a:t>
            </a:r>
            <a:r>
              <a:rPr lang="en-US" altLang="zh-CN" dirty="0"/>
              <a:t>NOAUDIT</a:t>
            </a:r>
            <a:r>
              <a:rPr lang="zh-CN" altLang="en-US" dirty="0"/>
              <a:t>语句</a:t>
            </a:r>
            <a:endParaRPr lang="en-US" altLang="zh-CN" dirty="0"/>
          </a:p>
          <a:p>
            <a:pPr lvl="1" eaLnBrk="1" hangingPunct="1">
              <a:lnSpc>
                <a:spcPct val="170000"/>
              </a:lnSpc>
            </a:pPr>
            <a:r>
              <a:rPr lang="en-US" altLang="zh-CN" dirty="0"/>
              <a:t>AUDIT</a:t>
            </a:r>
            <a:r>
              <a:rPr lang="zh-CN" altLang="en-US" dirty="0"/>
              <a:t>语句：设置审计功能 </a:t>
            </a:r>
            <a:endParaRPr lang="zh-CN" altLang="en-US" dirty="0"/>
          </a:p>
          <a:p>
            <a:pPr lvl="1" eaLnBrk="1" hangingPunct="1">
              <a:lnSpc>
                <a:spcPct val="170000"/>
              </a:lnSpc>
            </a:pPr>
            <a:r>
              <a:rPr lang="en-US" altLang="zh-CN" dirty="0"/>
              <a:t>NOAUDIT</a:t>
            </a:r>
            <a:r>
              <a:rPr lang="zh-CN" altLang="en-US" dirty="0"/>
              <a:t>语句：取消审计功能 </a:t>
            </a:r>
            <a:endParaRPr lang="zh-CN" alt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内容占位符 2"/>
          <p:cNvSpPr>
            <a:spLocks noGrp="1" noChangeArrowheads="1"/>
          </p:cNvSpPr>
          <p:nvPr>
            <p:ph idx="4294967295"/>
          </p:nvPr>
        </p:nvSpPr>
        <p:spPr/>
        <p:txBody>
          <a:bodyPr/>
          <a:lstStyle/>
          <a:p>
            <a:pPr eaLnBrk="1" hangingPunct="1"/>
            <a:r>
              <a:rPr lang="zh-CN" altLang="en-US" dirty="0"/>
              <a:t>用户级审计</a:t>
            </a:r>
            <a:endParaRPr lang="en-US" altLang="zh-CN" dirty="0"/>
          </a:p>
          <a:p>
            <a:pPr lvl="1">
              <a:lnSpc>
                <a:spcPct val="150000"/>
              </a:lnSpc>
              <a:buSzPct val="85000"/>
            </a:pPr>
            <a:r>
              <a:rPr lang="zh-CN" altLang="en-US" dirty="0"/>
              <a:t>任何用户可设置的审计</a:t>
            </a:r>
            <a:endParaRPr lang="en-US" altLang="zh-CN" dirty="0"/>
          </a:p>
          <a:p>
            <a:pPr lvl="1">
              <a:lnSpc>
                <a:spcPct val="150000"/>
              </a:lnSpc>
              <a:buSzPct val="85000"/>
            </a:pPr>
            <a:r>
              <a:rPr lang="zh-CN" altLang="en-US" dirty="0"/>
              <a:t>用户针对自己创建的数据库表和视图进行审计</a:t>
            </a:r>
            <a:endParaRPr lang="en-US" altLang="zh-CN" dirty="0"/>
          </a:p>
          <a:p>
            <a:pPr lvl="1">
              <a:buFont typeface="Arial" panose="020B0604020202020204" pitchFamily="34" charset="0"/>
              <a:buChar char="•"/>
            </a:pPr>
            <a:endParaRPr lang="en-US" altLang="zh-CN" dirty="0"/>
          </a:p>
          <a:p>
            <a:pPr eaLnBrk="1" hangingPunct="1"/>
            <a:r>
              <a:rPr lang="zh-CN" altLang="en-US" dirty="0"/>
              <a:t>系统级审计</a:t>
            </a:r>
            <a:endParaRPr lang="en-US" altLang="zh-CN" dirty="0"/>
          </a:p>
          <a:p>
            <a:pPr lvl="1">
              <a:lnSpc>
                <a:spcPct val="150000"/>
              </a:lnSpc>
              <a:buSzPct val="85000"/>
            </a:pPr>
            <a:r>
              <a:rPr lang="zh-CN" altLang="en-US" dirty="0"/>
              <a:t>只能由数据库管理员设置</a:t>
            </a:r>
            <a:endParaRPr lang="en-US" altLang="zh-CN" dirty="0"/>
          </a:p>
          <a:p>
            <a:pPr lvl="1">
              <a:lnSpc>
                <a:spcPct val="150000"/>
              </a:lnSpc>
              <a:buSzPct val="85000"/>
            </a:pPr>
            <a:r>
              <a:rPr lang="zh-CN" altLang="en-US" dirty="0"/>
              <a:t>监测成功或失败的登录要求、监测授权和收回操作以及其他数据库级权限下的操作</a:t>
            </a:r>
            <a:endParaRPr lang="en-US" altLang="zh-CN" dirty="0"/>
          </a:p>
        </p:txBody>
      </p:sp>
      <p:sp>
        <p:nvSpPr>
          <p:cNvPr id="99330"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9331" name="Rectangle 2"/>
          <p:cNvSpPr txBox="1">
            <a:spLocks noChangeArrowheads="1"/>
          </p:cNvSpPr>
          <p:nvPr/>
        </p:nvSpPr>
        <p:spPr bwMode="auto">
          <a:xfrm>
            <a:off x="2566988" y="261938"/>
            <a:ext cx="73914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审计（续）</a:t>
            </a:r>
            <a:endParaRPr lang="zh-CN" altLang="en-US" sz="3600">
              <a:solidFill>
                <a:schemeClr val="bg1"/>
              </a:solidFill>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100355" name="Rectangle 3"/>
          <p:cNvSpPr>
            <a:spLocks noGrp="1" noChangeArrowheads="1"/>
          </p:cNvSpPr>
          <p:nvPr>
            <p:ph type="body" idx="4294967295"/>
          </p:nvPr>
        </p:nvSpPr>
        <p:spPr>
          <a:xfrm>
            <a:off x="839416" y="1258888"/>
            <a:ext cx="8686800" cy="5283200"/>
          </a:xfrm>
        </p:spPr>
        <p:txBody>
          <a:bodyPr/>
          <a:lstStyle/>
          <a:p>
            <a:pPr eaLnBrk="1" hangingPunct="1">
              <a:lnSpc>
                <a:spcPct val="130000"/>
              </a:lnSpc>
              <a:buFont typeface="Wingdings" panose="05000000000000000000" pitchFamily="2" charset="2"/>
              <a:buNone/>
            </a:pPr>
            <a:r>
              <a:rPr lang="en-US" altLang="zh-CN" sz="2400" dirty="0"/>
              <a:t>[</a:t>
            </a:r>
            <a:r>
              <a:rPr lang="zh-CN" altLang="en-US" sz="2400" dirty="0"/>
              <a:t>例4.</a:t>
            </a:r>
            <a:r>
              <a:rPr lang="en-US" altLang="zh-CN" sz="2400" dirty="0"/>
              <a:t>18] </a:t>
            </a:r>
            <a:r>
              <a:rPr lang="zh-CN" altLang="en-US" sz="2400" dirty="0"/>
              <a:t>对修改</a:t>
            </a:r>
            <a:r>
              <a:rPr lang="en-US" altLang="zh-CN" sz="2400" dirty="0"/>
              <a:t>SC</a:t>
            </a:r>
            <a:r>
              <a:rPr lang="zh-CN" altLang="en-US" sz="2400" dirty="0"/>
              <a:t>表结构或修改</a:t>
            </a:r>
            <a:r>
              <a:rPr lang="en-US" altLang="zh-CN" sz="2400" dirty="0"/>
              <a:t>SC</a:t>
            </a:r>
            <a:r>
              <a:rPr lang="zh-CN" altLang="en-US" sz="2400" dirty="0"/>
              <a:t>表数据的操作进行审计</a:t>
            </a:r>
            <a:endParaRPr lang="zh-CN" altLang="en-US" sz="2400" dirty="0"/>
          </a:p>
          <a:p>
            <a:pPr eaLnBrk="1" hangingPunct="1">
              <a:lnSpc>
                <a:spcPct val="130000"/>
              </a:lnSpc>
              <a:buFont typeface="Wingdings" panose="05000000000000000000" pitchFamily="2" charset="2"/>
              <a:buNone/>
            </a:pPr>
            <a:r>
              <a:rPr lang="zh-CN" altLang="en-US" sz="2400" dirty="0"/>
              <a:t>           </a:t>
            </a:r>
            <a:r>
              <a:rPr lang="en-US" altLang="zh-CN" sz="2400" dirty="0"/>
              <a:t>(1)</a:t>
            </a:r>
            <a:r>
              <a:rPr lang="zh-CN" altLang="en-US" sz="2400" dirty="0"/>
              <a:t> 先显示当前审计开关状态</a:t>
            </a:r>
            <a:endParaRPr lang="en-US" altLang="zh-CN" sz="2400" dirty="0"/>
          </a:p>
          <a:p>
            <a:pPr eaLnBrk="1" hangingPunct="1">
              <a:lnSpc>
                <a:spcPct val="130000"/>
              </a:lnSpc>
              <a:buFont typeface="Wingdings" panose="05000000000000000000" pitchFamily="2" charset="2"/>
              <a:buNone/>
            </a:pPr>
            <a:r>
              <a:rPr lang="en-US" altLang="zh-CN" sz="2400" dirty="0"/>
              <a:t>		</a:t>
            </a:r>
            <a:r>
              <a:rPr lang="zh-CN" altLang="en-US" sz="2400" dirty="0"/>
              <a:t>      </a:t>
            </a:r>
            <a:r>
              <a:rPr lang="en-US" altLang="zh-CN" sz="2400" dirty="0"/>
              <a:t>SHOW</a:t>
            </a:r>
            <a:r>
              <a:rPr lang="zh-CN" altLang="en-US" sz="2400" dirty="0"/>
              <a:t> </a:t>
            </a:r>
            <a:r>
              <a:rPr lang="en-US" altLang="zh-CN" sz="2400" dirty="0"/>
              <a:t>AUDIT_TRAIL;</a:t>
            </a:r>
            <a:endParaRPr lang="zh-CN" altLang="en-US" sz="2400" dirty="0"/>
          </a:p>
          <a:p>
            <a:pPr eaLnBrk="1" hangingPunct="1">
              <a:lnSpc>
                <a:spcPct val="130000"/>
              </a:lnSpc>
              <a:buFont typeface="Wingdings" panose="05000000000000000000" pitchFamily="2" charset="2"/>
              <a:buNone/>
            </a:pPr>
            <a:r>
              <a:rPr lang="zh-CN" altLang="en-US" sz="2400" dirty="0"/>
              <a:t>           </a:t>
            </a:r>
            <a:r>
              <a:rPr lang="en-US" altLang="zh-CN" sz="2400" dirty="0"/>
              <a:t>(2)</a:t>
            </a:r>
            <a:r>
              <a:rPr lang="zh-CN" altLang="en-US" sz="2400" dirty="0"/>
              <a:t> 打开审计开关</a:t>
            </a:r>
            <a:endParaRPr lang="en-US" altLang="zh-CN" sz="2400" dirty="0"/>
          </a:p>
          <a:p>
            <a:pPr eaLnBrk="1" hangingPunct="1">
              <a:lnSpc>
                <a:spcPct val="130000"/>
              </a:lnSpc>
              <a:buFont typeface="Wingdings" panose="05000000000000000000" pitchFamily="2" charset="2"/>
              <a:buNone/>
            </a:pPr>
            <a:r>
              <a:rPr lang="en-US" altLang="zh-CN" sz="2400" dirty="0"/>
              <a:t>		</a:t>
            </a:r>
            <a:r>
              <a:rPr lang="zh-CN" altLang="en-US" sz="2400" dirty="0"/>
              <a:t>      </a:t>
            </a:r>
            <a:r>
              <a:rPr lang="en-US" altLang="zh-CN" sz="2400" dirty="0"/>
              <a:t>SET</a:t>
            </a:r>
            <a:r>
              <a:rPr lang="zh-CN" altLang="en-US" sz="2400" dirty="0"/>
              <a:t> </a:t>
            </a:r>
            <a:r>
              <a:rPr lang="en-US" altLang="zh-CN" sz="2400" dirty="0"/>
              <a:t>AUDIT_TRAIL</a:t>
            </a:r>
            <a:r>
              <a:rPr lang="zh-CN" altLang="en-US" sz="2400" dirty="0"/>
              <a:t> </a:t>
            </a:r>
            <a:r>
              <a:rPr lang="en-US" altLang="zh-CN" sz="2400" dirty="0"/>
              <a:t>TO</a:t>
            </a:r>
            <a:r>
              <a:rPr lang="zh-CN" altLang="en-US" sz="2400" dirty="0"/>
              <a:t> </a:t>
            </a:r>
            <a:r>
              <a:rPr lang="en-US" altLang="zh-CN" sz="2400" dirty="0"/>
              <a:t>ON;</a:t>
            </a:r>
            <a:endParaRPr lang="en-US" altLang="zh-CN" sz="2400" dirty="0"/>
          </a:p>
          <a:p>
            <a:pPr eaLnBrk="1" hangingPunct="1">
              <a:lnSpc>
                <a:spcPct val="130000"/>
              </a:lnSpc>
              <a:buFont typeface="Wingdings" panose="05000000000000000000" pitchFamily="2" charset="2"/>
              <a:buNone/>
            </a:pPr>
            <a:r>
              <a:rPr lang="en-US" altLang="zh-CN" sz="2400" dirty="0"/>
              <a:t>		(3)</a:t>
            </a:r>
            <a:r>
              <a:rPr lang="zh-CN" altLang="en-US" sz="2400" dirty="0"/>
              <a:t> 对</a:t>
            </a:r>
            <a:r>
              <a:rPr lang="en-US" altLang="zh-CN" sz="2400" dirty="0"/>
              <a:t>SC</a:t>
            </a:r>
            <a:r>
              <a:rPr lang="zh-CN" altLang="en-US" sz="2400" dirty="0"/>
              <a:t>表设置审计</a:t>
            </a:r>
            <a:endParaRPr lang="en-US" altLang="zh-CN" sz="2400" dirty="0"/>
          </a:p>
          <a:p>
            <a:pPr eaLnBrk="1" hangingPunct="1">
              <a:lnSpc>
                <a:spcPct val="130000"/>
              </a:lnSpc>
              <a:buFont typeface="Wingdings" panose="05000000000000000000" pitchFamily="2" charset="2"/>
              <a:buNone/>
            </a:pPr>
            <a:r>
              <a:rPr lang="zh-CN" altLang="en-US" sz="2400" dirty="0"/>
              <a:t>                 </a:t>
            </a:r>
            <a:r>
              <a:rPr lang="en-US" altLang="zh-CN" sz="2400" dirty="0"/>
              <a:t>AUDITALTER,UPDATE</a:t>
            </a:r>
            <a:r>
              <a:rPr lang="zh-CN" altLang="en-US" sz="2400" dirty="0"/>
              <a:t> </a:t>
            </a:r>
            <a:r>
              <a:rPr lang="en-US" altLang="zh-CN" sz="2400" dirty="0"/>
              <a:t>ON</a:t>
            </a:r>
            <a:r>
              <a:rPr lang="zh-CN" altLang="en-US" sz="2400" dirty="0"/>
              <a:t> </a:t>
            </a:r>
            <a:r>
              <a:rPr lang="en-US" altLang="zh-CN" sz="2400" dirty="0"/>
              <a:t>SC</a:t>
            </a:r>
            <a:r>
              <a:rPr lang="zh-CN" altLang="en-US" sz="2400" dirty="0"/>
              <a:t> </a:t>
            </a:r>
            <a:r>
              <a:rPr lang="en-US" altLang="zh-CN" sz="2400" dirty="0"/>
              <a:t>BY</a:t>
            </a:r>
            <a:r>
              <a:rPr lang="zh-CN" altLang="en-US" sz="2400" dirty="0"/>
              <a:t> </a:t>
            </a:r>
            <a:r>
              <a:rPr lang="en-US" altLang="zh-CN" sz="2400" dirty="0"/>
              <a:t>ACCESS;</a:t>
            </a:r>
            <a:endParaRPr lang="zh-CN" altLang="en-US" sz="2400" dirty="0"/>
          </a:p>
          <a:p>
            <a:pPr eaLnBrk="1" hangingPunct="1">
              <a:lnSpc>
                <a:spcPct val="130000"/>
              </a:lnSpc>
              <a:buFont typeface="Wingdings" panose="05000000000000000000" pitchFamily="2" charset="2"/>
              <a:buNone/>
            </a:pPr>
            <a:endParaRPr lang="zh-CN" altLang="en-US" sz="2400" dirty="0">
              <a:solidFill>
                <a:srgbClr val="0070C0"/>
              </a:solidFill>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p:cNvSpPr>
            <a:spLocks noGrp="1" noChangeArrowheads="1"/>
          </p:cNvSpPr>
          <p:nvPr>
            <p:ph type="title" idx="4294967295"/>
          </p:nvPr>
        </p:nvSpPr>
        <p:spPr/>
        <p:txBody>
          <a:bodyPr/>
          <a:lstStyle/>
          <a:p>
            <a:pPr eaLnBrk="1" hangingPunct="1"/>
            <a:r>
              <a:rPr lang="zh-CN" altLang="zh-CN" sz="3600"/>
              <a:t>审计（续）</a:t>
            </a:r>
            <a:endParaRPr lang="zh-CN" altLang="zh-CN" sz="3600"/>
          </a:p>
        </p:txBody>
      </p:sp>
      <p:sp>
        <p:nvSpPr>
          <p:cNvPr id="100355" name="Rectangle 3"/>
          <p:cNvSpPr>
            <a:spLocks noGrp="1" noChangeArrowheads="1"/>
          </p:cNvSpPr>
          <p:nvPr>
            <p:ph type="body" idx="4294967295"/>
          </p:nvPr>
        </p:nvSpPr>
        <p:spPr>
          <a:xfrm>
            <a:off x="983432" y="1258888"/>
            <a:ext cx="8686800" cy="5283200"/>
          </a:xfrm>
        </p:spPr>
        <p:txBody>
          <a:bodyPr/>
          <a:lstStyle/>
          <a:p>
            <a:pPr eaLnBrk="1" hangingPunct="1">
              <a:lnSpc>
                <a:spcPct val="130000"/>
              </a:lnSpc>
              <a:buFont typeface="Wingdings" panose="05000000000000000000" pitchFamily="2" charset="2"/>
              <a:buNone/>
            </a:pPr>
            <a:r>
              <a:rPr lang="en-US" altLang="zh-CN" sz="2400" dirty="0"/>
              <a:t>[</a:t>
            </a:r>
            <a:r>
              <a:rPr lang="zh-CN" altLang="en-US" sz="2400" dirty="0"/>
              <a:t>例4.</a:t>
            </a:r>
            <a:r>
              <a:rPr lang="en-US" altLang="zh-CN" sz="2400" dirty="0"/>
              <a:t>19] </a:t>
            </a:r>
            <a:r>
              <a:rPr lang="zh-CN" altLang="en-US" sz="2400" dirty="0"/>
              <a:t>取消对</a:t>
            </a:r>
            <a:r>
              <a:rPr lang="en-US" altLang="zh-CN" sz="2400" dirty="0"/>
              <a:t>SC</a:t>
            </a:r>
            <a:r>
              <a:rPr lang="zh-CN" altLang="en-US" sz="2400" dirty="0"/>
              <a:t>表的</a:t>
            </a:r>
            <a:r>
              <a:rPr lang="en-US" altLang="zh-CN" sz="2400" dirty="0"/>
              <a:t>ALTER</a:t>
            </a:r>
            <a:r>
              <a:rPr lang="zh-CN" altLang="en-US" sz="2400" dirty="0"/>
              <a:t>和</a:t>
            </a:r>
            <a:r>
              <a:rPr lang="en-US" altLang="zh-CN" sz="2400" dirty="0"/>
              <a:t>UPDATE</a:t>
            </a:r>
            <a:r>
              <a:rPr lang="zh-CN" altLang="en-US" sz="2400" dirty="0"/>
              <a:t>操作审计</a:t>
            </a:r>
            <a:endParaRPr lang="zh-CN" altLang="en-US" sz="2400" dirty="0"/>
          </a:p>
          <a:p>
            <a:pPr eaLnBrk="1" hangingPunct="1">
              <a:lnSpc>
                <a:spcPct val="130000"/>
              </a:lnSpc>
              <a:buFont typeface="Wingdings" panose="05000000000000000000" pitchFamily="2" charset="2"/>
              <a:buNone/>
            </a:pPr>
            <a:r>
              <a:rPr lang="zh-CN" altLang="en-US" sz="2400" dirty="0"/>
              <a:t>           </a:t>
            </a:r>
            <a:r>
              <a:rPr lang="en-US" altLang="zh-CN" sz="2400" dirty="0"/>
              <a:t>NOAUDIT  ALTER,UPDATE  ON  SC;</a:t>
            </a:r>
            <a:endParaRPr lang="en-US" altLang="zh-CN" sz="2400" dirty="0"/>
          </a:p>
          <a:p>
            <a:pPr lvl="1">
              <a:lnSpc>
                <a:spcPct val="150000"/>
              </a:lnSpc>
              <a:buSzPct val="85000"/>
            </a:pPr>
            <a:endParaRPr lang="en-US" altLang="zh-CN" dirty="0"/>
          </a:p>
          <a:p>
            <a:pPr lvl="1">
              <a:lnSpc>
                <a:spcPct val="150000"/>
              </a:lnSpc>
              <a:buSzPct val="85000"/>
            </a:pPr>
            <a:r>
              <a:rPr lang="zh-CN" altLang="zh-CN" dirty="0"/>
              <a:t>审计设置以及审计日志一般都存储在数据字典中</a:t>
            </a:r>
            <a:endParaRPr lang="en-US" altLang="zh-CN" dirty="0"/>
          </a:p>
          <a:p>
            <a:pPr lvl="1">
              <a:lnSpc>
                <a:spcPct val="150000"/>
              </a:lnSpc>
              <a:buSzPct val="85000"/>
            </a:pPr>
            <a:r>
              <a:rPr lang="zh-CN" altLang="zh-CN" dirty="0"/>
              <a:t>必须把审计开关打开，才可以在系统表</a:t>
            </a:r>
            <a:r>
              <a:rPr lang="en-US" altLang="zh-CN" dirty="0"/>
              <a:t>SYS_AUDITTRAIL</a:t>
            </a:r>
            <a:r>
              <a:rPr lang="zh-CN" altLang="zh-CN" dirty="0"/>
              <a:t>中查看到审计信息</a:t>
            </a:r>
            <a:endParaRPr lang="zh-CN" alt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1378"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101379" name="Rectangle 3"/>
          <p:cNvSpPr>
            <a:spLocks noGrp="1" noChangeArrowheads="1"/>
          </p:cNvSpPr>
          <p:nvPr>
            <p:ph type="body" idx="4294967295"/>
          </p:nvPr>
        </p:nvSpPr>
        <p:spPr>
          <a:xfrm>
            <a:off x="983432" y="1340768"/>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r>
              <a:rPr lang="en-US" altLang="zh-CN" dirty="0"/>
              <a:t>Audit</a:t>
            </a:r>
            <a:r>
              <a:rPr lang="zh-CN" altLang="en-US" dirty="0"/>
              <a:t>）</a:t>
            </a:r>
            <a:endParaRPr lang="zh-CN" altLang="en-US" dirty="0"/>
          </a:p>
          <a:p>
            <a:pPr algn="just" eaLnBrk="1" hangingPunct="1">
              <a:lnSpc>
                <a:spcPct val="130000"/>
              </a:lnSpc>
              <a:buNone/>
            </a:pPr>
            <a:r>
              <a:rPr lang="en-US" altLang="zh-CN" dirty="0">
                <a:solidFill>
                  <a:srgbClr val="0066FF"/>
                </a:solidFill>
              </a:rPr>
              <a:t>4.5  </a:t>
            </a:r>
            <a:r>
              <a:rPr lang="zh-CN" altLang="en-US" dirty="0">
                <a:solidFill>
                  <a:srgbClr val="0066FF"/>
                </a:solidFill>
              </a:rPr>
              <a:t>数据加密</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4.6  </a:t>
            </a:r>
            <a:r>
              <a:rPr lang="zh-CN" altLang="en-US" dirty="0"/>
              <a:t>其他安全性保护</a:t>
            </a:r>
            <a:endParaRPr lang="zh-CN" altLang="en-US" dirty="0"/>
          </a:p>
          <a:p>
            <a:pPr algn="just" eaLnBrk="1" hangingPunct="1">
              <a:lnSpc>
                <a:spcPct val="130000"/>
              </a:lnSpc>
              <a:buFont typeface="Wingdings" panose="05000000000000000000" pitchFamily="2" charset="2"/>
              <a:buNone/>
            </a:pPr>
            <a:r>
              <a:rPr lang="en-US" altLang="zh-CN" dirty="0"/>
              <a:t>4.7  </a:t>
            </a:r>
            <a:r>
              <a:rPr lang="zh-CN" altLang="en-US" dirty="0"/>
              <a:t>小结</a:t>
            </a:r>
            <a:endParaRPr lang="zh-CN" altLang="en-US" dirty="0"/>
          </a:p>
          <a:p>
            <a:pPr eaLnBrk="1" hangingPunct="1">
              <a:buFont typeface="Wingdings" panose="05000000000000000000" pitchFamily="2" charset="2"/>
              <a:buNone/>
            </a:pPr>
            <a:endParaRPr lang="en-US" altLang="zh-CN"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02" name="Rectangle 2"/>
          <p:cNvSpPr>
            <a:spLocks noGrp="1" noChangeArrowheads="1"/>
          </p:cNvSpPr>
          <p:nvPr>
            <p:ph type="title" idx="4294967295"/>
          </p:nvPr>
        </p:nvSpPr>
        <p:spPr/>
        <p:txBody>
          <a:bodyPr/>
          <a:lstStyle/>
          <a:p>
            <a:pPr eaLnBrk="1" hangingPunct="1"/>
            <a:r>
              <a:rPr lang="en-US" altLang="zh-CN" sz="3600"/>
              <a:t>4.5  </a:t>
            </a:r>
            <a:r>
              <a:rPr lang="zh-CN" altLang="en-US" sz="3600"/>
              <a:t>数据加密</a:t>
            </a:r>
            <a:endParaRPr lang="zh-CN" altLang="en-US" sz="3600"/>
          </a:p>
        </p:txBody>
      </p:sp>
      <p:sp>
        <p:nvSpPr>
          <p:cNvPr id="102403" name="Rectangle 3"/>
          <p:cNvSpPr>
            <a:spLocks noGrp="1" noChangeArrowheads="1"/>
          </p:cNvSpPr>
          <p:nvPr>
            <p:ph type="body" idx="4294967295"/>
          </p:nvPr>
        </p:nvSpPr>
        <p:spPr>
          <a:xfrm>
            <a:off x="580129" y="1098550"/>
            <a:ext cx="11305256" cy="4972626"/>
          </a:xfrm>
        </p:spPr>
        <p:txBody>
          <a:bodyPr/>
          <a:lstStyle/>
          <a:p>
            <a:pPr eaLnBrk="1" hangingPunct="1">
              <a:lnSpc>
                <a:spcPct val="120000"/>
              </a:lnSpc>
            </a:pPr>
            <a:r>
              <a:rPr lang="zh-CN" altLang="en-US" dirty="0"/>
              <a:t>数据加密</a:t>
            </a:r>
            <a:endParaRPr lang="zh-CN" altLang="en-US" dirty="0"/>
          </a:p>
          <a:p>
            <a:pPr lvl="1" eaLnBrk="1" hangingPunct="1">
              <a:lnSpc>
                <a:spcPct val="120000"/>
              </a:lnSpc>
            </a:pPr>
            <a:r>
              <a:rPr lang="zh-CN" altLang="en-US" dirty="0"/>
              <a:t>防止数据库中数据在存储和传输中失密的有效手段</a:t>
            </a:r>
            <a:endParaRPr lang="zh-CN" altLang="en-US" dirty="0"/>
          </a:p>
          <a:p>
            <a:pPr lvl="1" eaLnBrk="1" hangingPunct="1">
              <a:lnSpc>
                <a:spcPct val="120000"/>
              </a:lnSpc>
            </a:pPr>
            <a:endParaRPr lang="zh-CN" altLang="en-US" sz="1200" dirty="0"/>
          </a:p>
          <a:p>
            <a:pPr eaLnBrk="1" hangingPunct="1">
              <a:lnSpc>
                <a:spcPct val="120000"/>
              </a:lnSpc>
            </a:pPr>
            <a:r>
              <a:rPr lang="zh-CN" altLang="en-US" dirty="0"/>
              <a:t>加密的基本思想</a:t>
            </a:r>
            <a:endParaRPr lang="en-US" altLang="zh-CN" dirty="0"/>
          </a:p>
          <a:p>
            <a:pPr lvl="1" eaLnBrk="1" hangingPunct="1">
              <a:lnSpc>
                <a:spcPct val="120000"/>
              </a:lnSpc>
            </a:pPr>
            <a:r>
              <a:rPr lang="zh-CN" altLang="zh-CN" dirty="0"/>
              <a:t>根据一定的算法将原始数据</a:t>
            </a:r>
            <a:r>
              <a:rPr lang="en-US" altLang="zh-CN" dirty="0"/>
              <a:t>—</a:t>
            </a:r>
            <a:r>
              <a:rPr lang="zh-CN" altLang="zh-CN" dirty="0"/>
              <a:t>明文（</a:t>
            </a:r>
            <a:r>
              <a:rPr lang="en-US" altLang="zh-CN" dirty="0"/>
              <a:t>plain text</a:t>
            </a:r>
            <a:r>
              <a:rPr lang="zh-CN" altLang="zh-CN" dirty="0"/>
              <a:t>）</a:t>
            </a:r>
            <a:r>
              <a:rPr lang="zh-CN" altLang="en-US" dirty="0">
                <a:solidFill>
                  <a:srgbClr val="0070C0"/>
                </a:solidFill>
              </a:rPr>
              <a:t>经过一系列复杂计算</a:t>
            </a:r>
            <a:r>
              <a:rPr lang="zh-CN" altLang="en-US" dirty="0"/>
              <a:t>，</a:t>
            </a:r>
            <a:r>
              <a:rPr lang="zh-CN" altLang="zh-CN" dirty="0"/>
              <a:t>变换为不可直接识别的格式</a:t>
            </a:r>
            <a:r>
              <a:rPr lang="en-US" altLang="zh-CN" dirty="0"/>
              <a:t>­</a:t>
            </a:r>
            <a:r>
              <a:rPr lang="zh-CN" altLang="zh-CN" dirty="0"/>
              <a:t>—密文（</a:t>
            </a:r>
            <a:r>
              <a:rPr lang="en-US" altLang="zh-CN" dirty="0"/>
              <a:t>cipher text</a:t>
            </a:r>
            <a:r>
              <a:rPr lang="zh-CN" altLang="zh-CN" dirty="0"/>
              <a:t>）</a:t>
            </a:r>
            <a:endParaRPr lang="zh-CN" altLang="en-US" dirty="0"/>
          </a:p>
          <a:p>
            <a:pPr lvl="1" eaLnBrk="1" hangingPunct="1">
              <a:lnSpc>
                <a:spcPct val="120000"/>
              </a:lnSpc>
            </a:pPr>
            <a:endParaRPr lang="zh-CN" altLang="en-US" sz="1200" dirty="0"/>
          </a:p>
          <a:p>
            <a:pPr eaLnBrk="1" hangingPunct="1">
              <a:lnSpc>
                <a:spcPct val="120000"/>
              </a:lnSpc>
            </a:pPr>
            <a:r>
              <a:rPr lang="zh-CN" altLang="en-US" dirty="0"/>
              <a:t>加密方法</a:t>
            </a:r>
            <a:endParaRPr lang="zh-CN" altLang="en-US" dirty="0"/>
          </a:p>
          <a:p>
            <a:pPr lvl="1" eaLnBrk="1" hangingPunct="1">
              <a:lnSpc>
                <a:spcPct val="120000"/>
              </a:lnSpc>
            </a:pPr>
            <a:r>
              <a:rPr lang="zh-CN" altLang="en-US" dirty="0"/>
              <a:t>存储加密</a:t>
            </a:r>
            <a:endParaRPr lang="en-US" altLang="zh-CN" dirty="0"/>
          </a:p>
          <a:p>
            <a:pPr lvl="1" eaLnBrk="1" hangingPunct="1">
              <a:lnSpc>
                <a:spcPct val="120000"/>
              </a:lnSpc>
            </a:pPr>
            <a:r>
              <a:rPr lang="zh-CN" altLang="en-US" dirty="0"/>
              <a:t>传输加密</a:t>
            </a:r>
            <a:endParaRPr lang="en-US" altLang="zh-CN" dirty="0"/>
          </a:p>
          <a:p>
            <a:pPr lvl="1" eaLnBrk="1" hangingPunct="1">
              <a:lnSpc>
                <a:spcPct val="120000"/>
              </a:lnSpc>
            </a:pPr>
            <a:endParaRPr lang="zh-CN" altLang="en-US" sz="1200" dirty="0">
              <a:solidFill>
                <a:srgbClr val="FF66FF"/>
              </a:solidFill>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3426" name="内容占位符 2"/>
          <p:cNvSpPr txBox="1">
            <a:spLocks noChangeArrowheads="1"/>
          </p:cNvSpPr>
          <p:nvPr/>
        </p:nvSpPr>
        <p:spPr bwMode="auto">
          <a:xfrm>
            <a:off x="263352" y="1284219"/>
            <a:ext cx="11809312"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0010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pPr>
            <a:r>
              <a:rPr lang="zh-CN" altLang="en-US" dirty="0"/>
              <a:t>存储加密</a:t>
            </a:r>
            <a:endParaRPr lang="en-US" altLang="zh-CN" dirty="0"/>
          </a:p>
          <a:p>
            <a:pPr lvl="1">
              <a:lnSpc>
                <a:spcPct val="130000"/>
              </a:lnSpc>
              <a:spcBef>
                <a:spcPct val="0"/>
              </a:spcBef>
              <a:buSzTx/>
            </a:pPr>
            <a:r>
              <a:rPr lang="zh-CN" altLang="zh-CN" dirty="0"/>
              <a:t>透明存储加密</a:t>
            </a:r>
            <a:endParaRPr lang="en-US" altLang="zh-CN" dirty="0"/>
          </a:p>
          <a:p>
            <a:pPr lvl="2">
              <a:lnSpc>
                <a:spcPct val="130000"/>
              </a:lnSpc>
              <a:spcBef>
                <a:spcPct val="0"/>
              </a:spcBef>
              <a:buSzPct val="87000"/>
              <a:buFont typeface="Wingdings" panose="05000000000000000000" pitchFamily="2" charset="2"/>
              <a:buChar char="l"/>
            </a:pPr>
            <a:r>
              <a:rPr lang="zh-CN" altLang="zh-CN" sz="2200" dirty="0"/>
              <a:t>内核级加密保护方式，对用户完全透明</a:t>
            </a:r>
            <a:endParaRPr lang="en-US" altLang="zh-CN" sz="2200" dirty="0"/>
          </a:p>
          <a:p>
            <a:pPr lvl="2">
              <a:lnSpc>
                <a:spcPct val="130000"/>
              </a:lnSpc>
              <a:spcBef>
                <a:spcPct val="0"/>
              </a:spcBef>
              <a:buSzPct val="87000"/>
              <a:buFont typeface="Wingdings" panose="05000000000000000000" pitchFamily="2" charset="2"/>
              <a:buChar char="l"/>
            </a:pPr>
            <a:r>
              <a:rPr lang="zh-CN" altLang="zh-CN" sz="2200" dirty="0"/>
              <a:t>数据在写到磁盘时对数据进行加密</a:t>
            </a:r>
            <a:r>
              <a:rPr lang="zh-CN" altLang="en-US" sz="2200" dirty="0"/>
              <a:t>，</a:t>
            </a:r>
            <a:r>
              <a:rPr lang="zh-CN" altLang="zh-CN" sz="2200" dirty="0"/>
              <a:t>授权用户读取数据时再对其进行解密</a:t>
            </a:r>
            <a:endParaRPr lang="en-US" altLang="zh-CN" sz="2200" dirty="0"/>
          </a:p>
          <a:p>
            <a:pPr lvl="2">
              <a:lnSpc>
                <a:spcPct val="130000"/>
              </a:lnSpc>
              <a:spcBef>
                <a:spcPct val="0"/>
              </a:spcBef>
              <a:buSzPct val="87000"/>
              <a:buFont typeface="Wingdings" panose="05000000000000000000" pitchFamily="2" charset="2"/>
              <a:buChar char="l"/>
            </a:pPr>
            <a:r>
              <a:rPr lang="zh-CN" altLang="zh-CN" sz="2200" dirty="0"/>
              <a:t>数据库的应用程序不需要做任何修改，只需在创建表语句中说明需加密的字段即可</a:t>
            </a:r>
            <a:endParaRPr lang="en-US" altLang="zh-CN" sz="2200" dirty="0"/>
          </a:p>
          <a:p>
            <a:pPr lvl="2">
              <a:lnSpc>
                <a:spcPct val="130000"/>
              </a:lnSpc>
              <a:spcBef>
                <a:spcPct val="0"/>
              </a:spcBef>
              <a:buSzPct val="87000"/>
              <a:buFont typeface="Arial" panose="020B0604020202020204" pitchFamily="34" charset="0"/>
              <a:buNone/>
            </a:pPr>
            <a:r>
              <a:rPr lang="zh-CN" altLang="zh-CN" sz="2200" dirty="0">
                <a:solidFill>
                  <a:srgbClr val="FF66FF"/>
                </a:solidFill>
              </a:rPr>
              <a:t>内核级加密</a:t>
            </a:r>
            <a:r>
              <a:rPr lang="zh-CN" altLang="en-US" sz="2200" dirty="0">
                <a:solidFill>
                  <a:srgbClr val="FF66FF"/>
                </a:solidFill>
              </a:rPr>
              <a:t>方法</a:t>
            </a:r>
            <a:r>
              <a:rPr lang="en-US" altLang="zh-CN" sz="2200" dirty="0">
                <a:solidFill>
                  <a:srgbClr val="FF66FF"/>
                </a:solidFill>
              </a:rPr>
              <a:t>:</a:t>
            </a:r>
            <a:r>
              <a:rPr lang="zh-CN" altLang="en-US" sz="2200" dirty="0">
                <a:solidFill>
                  <a:srgbClr val="FF66FF"/>
                </a:solidFill>
              </a:rPr>
              <a:t> 性能较好，安全完备性较高</a:t>
            </a:r>
            <a:endParaRPr lang="en-US" altLang="zh-CN" sz="2200" dirty="0">
              <a:solidFill>
                <a:srgbClr val="FF66FF"/>
              </a:solidFill>
            </a:endParaRPr>
          </a:p>
          <a:p>
            <a:pPr lvl="1">
              <a:lnSpc>
                <a:spcPct val="130000"/>
              </a:lnSpc>
              <a:spcBef>
                <a:spcPct val="0"/>
              </a:spcBef>
              <a:buSzTx/>
            </a:pPr>
            <a:r>
              <a:rPr lang="zh-CN" altLang="zh-CN" dirty="0"/>
              <a:t>非透明存储加密</a:t>
            </a:r>
            <a:endParaRPr lang="en-US" altLang="zh-CN" dirty="0"/>
          </a:p>
          <a:p>
            <a:pPr lvl="2">
              <a:lnSpc>
                <a:spcPct val="130000"/>
              </a:lnSpc>
              <a:spcBef>
                <a:spcPct val="0"/>
              </a:spcBef>
              <a:buSzPct val="87000"/>
              <a:buFont typeface="Wingdings" panose="05000000000000000000" pitchFamily="2" charset="2"/>
              <a:buChar char="l"/>
            </a:pPr>
            <a:r>
              <a:rPr lang="zh-CN" altLang="zh-CN" sz="2200" dirty="0"/>
              <a:t>通过多个加密函数实现</a:t>
            </a:r>
            <a:endParaRPr lang="en-US" altLang="zh-CN" sz="2200" dirty="0">
              <a:latin typeface="宋体" panose="02010600030101010101" pitchFamily="2" charset="-122"/>
            </a:endParaRPr>
          </a:p>
          <a:p>
            <a:pPr lvl="2">
              <a:lnSpc>
                <a:spcPct val="150000"/>
              </a:lnSpc>
              <a:buFont typeface="Wingdings" panose="05000000000000000000" pitchFamily="2" charset="2"/>
              <a:buChar char="n"/>
            </a:pPr>
            <a:endParaRPr lang="en-US" altLang="zh-CN" sz="1600" dirty="0">
              <a:latin typeface="宋体" panose="02010600030101010101" pitchFamily="2" charset="-122"/>
            </a:endParaRPr>
          </a:p>
          <a:p>
            <a:pPr lvl="2">
              <a:buFont typeface="Wingdings" panose="05000000000000000000" pitchFamily="2" charset="2"/>
              <a:buChar char="n"/>
            </a:pPr>
            <a:endParaRPr lang="zh-CN" altLang="en-US" sz="1600" dirty="0">
              <a:latin typeface="宋体" panose="02010600030101010101" pitchFamily="2" charset="-122"/>
            </a:endParaRPr>
          </a:p>
        </p:txBody>
      </p:sp>
      <p:sp>
        <p:nvSpPr>
          <p:cNvPr id="103427"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pPr eaLnBrk="1" hangingPunct="1"/>
            <a:r>
              <a:rPr lang="zh-CN" altLang="zh-CN" sz="3600"/>
              <a:t>数据加密（续）</a:t>
            </a:r>
            <a:endParaRPr lang="zh-CN" altLang="zh-CN" sz="3600"/>
          </a:p>
        </p:txBody>
      </p:sp>
      <p:sp>
        <p:nvSpPr>
          <p:cNvPr id="104450" name="内容占位符 2"/>
          <p:cNvSpPr>
            <a:spLocks noGrp="1" noChangeArrowheads="1"/>
          </p:cNvSpPr>
          <p:nvPr>
            <p:ph idx="4294967295"/>
          </p:nvPr>
        </p:nvSpPr>
        <p:spPr>
          <a:xfrm>
            <a:off x="911424" y="1084523"/>
            <a:ext cx="9577064" cy="5080782"/>
          </a:xfrm>
        </p:spPr>
        <p:txBody>
          <a:bodyPr/>
          <a:lstStyle/>
          <a:p>
            <a:pPr eaLnBrk="1" hangingPunct="1">
              <a:spcBef>
                <a:spcPct val="0"/>
              </a:spcBef>
            </a:pPr>
            <a:r>
              <a:rPr lang="zh-CN" altLang="en-US" dirty="0"/>
              <a:t>传输加密</a:t>
            </a:r>
            <a:endParaRPr lang="en-US" altLang="zh-CN" dirty="0"/>
          </a:p>
          <a:p>
            <a:pPr marL="857250" lvl="1" indent="-457200">
              <a:lnSpc>
                <a:spcPct val="150000"/>
              </a:lnSpc>
              <a:spcBef>
                <a:spcPct val="0"/>
              </a:spcBef>
              <a:buSzPct val="85000"/>
            </a:pPr>
            <a:r>
              <a:rPr lang="zh-CN" altLang="en-US" dirty="0">
                <a:latin typeface="宋体" panose="02010600030101010101" pitchFamily="2" charset="-122"/>
              </a:rPr>
              <a:t>链路加密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在链路层进行加密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传输信息由报头和报文两部分组成</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zh-CN" sz="2200" dirty="0"/>
              <a:t>报文和报头均加密</a:t>
            </a:r>
            <a:endParaRPr lang="en-US" altLang="zh-CN" sz="2200" dirty="0">
              <a:latin typeface="宋体" panose="02010600030101010101" pitchFamily="2" charset="-122"/>
            </a:endParaRPr>
          </a:p>
          <a:p>
            <a:pPr marL="857250" lvl="1" indent="-457200">
              <a:lnSpc>
                <a:spcPct val="150000"/>
              </a:lnSpc>
              <a:spcBef>
                <a:spcPct val="0"/>
              </a:spcBef>
              <a:buSzPct val="85000"/>
            </a:pPr>
            <a:r>
              <a:rPr lang="zh-CN" altLang="en-US" dirty="0">
                <a:latin typeface="宋体" panose="02010600030101010101" pitchFamily="2" charset="-122"/>
              </a:rPr>
              <a:t>端到端加密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在发送端加密，接收端解密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en-US" sz="2200" dirty="0">
                <a:latin typeface="宋体" panose="02010600030101010101" pitchFamily="2" charset="-122"/>
              </a:rPr>
              <a:t>只加密报文</a:t>
            </a:r>
            <a:r>
              <a:rPr lang="en-US" altLang="zh-CN" sz="2200" dirty="0">
                <a:latin typeface="宋体" panose="02010600030101010101" pitchFamily="2" charset="-122"/>
              </a:rPr>
              <a:t>,</a:t>
            </a:r>
            <a:r>
              <a:rPr lang="zh-CN" altLang="en-US" sz="2200" dirty="0">
                <a:latin typeface="宋体" panose="02010600030101010101" pitchFamily="2" charset="-122"/>
              </a:rPr>
              <a:t>不加密报头</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zh-CN" sz="2200" dirty="0">
                <a:latin typeface="宋体" panose="02010600030101010101" pitchFamily="2" charset="-122"/>
              </a:rPr>
              <a:t>发送端和接收端需要密码设备，中间节点不需要密码设备</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anose="05000000000000000000" pitchFamily="2" charset="2"/>
              <a:buChar char="l"/>
            </a:pPr>
            <a:r>
              <a:rPr lang="zh-CN" altLang="zh-CN" sz="2200" dirty="0"/>
              <a:t>所需密码设备相对较少</a:t>
            </a:r>
            <a:r>
              <a:rPr lang="zh-CN" altLang="en-US" sz="2200" dirty="0"/>
              <a:t>，</a:t>
            </a:r>
            <a:r>
              <a:rPr lang="zh-CN" altLang="zh-CN" sz="2200" dirty="0"/>
              <a:t>容易被非法监听者获取敏感信息</a:t>
            </a:r>
            <a:endParaRPr lang="en-US" altLang="zh-CN" sz="2200" dirty="0">
              <a:latin typeface="宋体" panose="02010600030101010101" pitchFamily="2" charset="-122"/>
            </a:endParaRPr>
          </a:p>
          <a:p>
            <a:pPr marL="1257300" lvl="2" indent="-457200">
              <a:lnSpc>
                <a:spcPct val="150000"/>
              </a:lnSpc>
              <a:buFont typeface="Wingdings" panose="05000000000000000000" pitchFamily="2" charset="2"/>
              <a:buChar char="Ø"/>
            </a:pPr>
            <a:endParaRPr lang="en-US" altLang="zh-CN" sz="1600" dirty="0">
              <a:latin typeface="宋体" panose="02010600030101010101" pitchFamily="2" charset="-122"/>
            </a:endParaRPr>
          </a:p>
          <a:p>
            <a:pPr marL="1257300" lvl="2" indent="-457200">
              <a:buFont typeface="Wingdings" panose="05000000000000000000" pitchFamily="2" charset="2"/>
              <a:buChar char="Ø"/>
            </a:pPr>
            <a:endParaRPr lang="zh-CN" altLang="en-US" sz="1600" dirty="0">
              <a:latin typeface="宋体" panose="02010600030101010101" pitchFamily="2" charset="-122"/>
            </a:endParaRPr>
          </a:p>
        </p:txBody>
      </p:sp>
      <p:sp>
        <p:nvSpPr>
          <p:cNvPr id="104451" name="页脚占位符 3"/>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pPr eaLnBrk="1" hangingPunct="1"/>
            <a:r>
              <a:rPr lang="zh-CN" altLang="zh-CN" sz="3600"/>
              <a:t>数据加密（续）</a:t>
            </a:r>
            <a:endParaRPr lang="zh-CN" altLang="zh-CN" sz="3600"/>
          </a:p>
        </p:txBody>
      </p:sp>
      <p:sp>
        <p:nvSpPr>
          <p:cNvPr id="105474" name="页脚占位符 3"/>
          <p:cNvSpPr txBox="1">
            <a:spLocks noGrp="1" noChangeArrowheads="1"/>
          </p:cNvSpPr>
          <p:nvPr/>
        </p:nvSpPr>
        <p:spPr bwMode="auto">
          <a:xfrm>
            <a:off x="6816706" y="6445317"/>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5475" name="TextBox 15"/>
          <p:cNvSpPr txBox="1">
            <a:spLocks noChangeArrowheads="1"/>
          </p:cNvSpPr>
          <p:nvPr/>
        </p:nvSpPr>
        <p:spPr bwMode="auto">
          <a:xfrm>
            <a:off x="4081444" y="5354705"/>
            <a:ext cx="3816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a:latin typeface="Times New Roman" panose="02020603050405020304" pitchFamily="18" charset="0"/>
              </a:rPr>
              <a:t>数据库管理系统可信传输示意图</a:t>
            </a:r>
            <a:endParaRPr lang="zh-CN" altLang="en-US" sz="1800">
              <a:latin typeface="Times New Roman" panose="02020603050405020304" pitchFamily="18" charset="0"/>
            </a:endParaRPr>
          </a:p>
        </p:txBody>
      </p:sp>
      <p:pic>
        <p:nvPicPr>
          <p:cNvPr id="105476"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4957" y="2628966"/>
            <a:ext cx="91281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4294" y="2484504"/>
            <a:ext cx="9525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左右箭头 18"/>
          <p:cNvSpPr>
            <a:spLocks noChangeArrowheads="1"/>
          </p:cNvSpPr>
          <p:nvPr/>
        </p:nvSpPr>
        <p:spPr bwMode="auto">
          <a:xfrm>
            <a:off x="3635357" y="2619441"/>
            <a:ext cx="4837113" cy="46038"/>
          </a:xfrm>
          <a:prstGeom prst="leftRightArrow">
            <a:avLst>
              <a:gd name="adj1" fmla="val 50000"/>
              <a:gd name="adj2" fmla="val 4961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79" name="左右箭头 19"/>
          <p:cNvSpPr>
            <a:spLocks noChangeArrowheads="1"/>
          </p:cNvSpPr>
          <p:nvPr/>
        </p:nvSpPr>
        <p:spPr bwMode="auto">
          <a:xfrm>
            <a:off x="3635357" y="1763779"/>
            <a:ext cx="3973513" cy="144462"/>
          </a:xfrm>
          <a:prstGeom prst="leftRightArrow">
            <a:avLst>
              <a:gd name="adj1" fmla="val 50000"/>
              <a:gd name="adj2" fmla="val 4979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80" name="左右箭头 20"/>
          <p:cNvSpPr>
            <a:spLocks noChangeArrowheads="1"/>
          </p:cNvSpPr>
          <p:nvPr/>
        </p:nvSpPr>
        <p:spPr bwMode="auto">
          <a:xfrm>
            <a:off x="2713020" y="1260542"/>
            <a:ext cx="5616575" cy="144463"/>
          </a:xfrm>
          <a:prstGeom prst="leftRightArrow">
            <a:avLst>
              <a:gd name="adj1" fmla="val 50000"/>
              <a:gd name="adj2" fmla="val 4985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nvGrpSpPr>
          <p:cNvPr id="105481" name="组合 22"/>
          <p:cNvGrpSpPr/>
          <p:nvPr/>
        </p:nvGrpSpPr>
        <p:grpSpPr bwMode="auto">
          <a:xfrm>
            <a:off x="2568556" y="1574867"/>
            <a:ext cx="6408738" cy="3573463"/>
            <a:chOff x="467544" y="509235"/>
            <a:chExt cx="6408712" cy="3575349"/>
          </a:xfrm>
        </p:grpSpPr>
        <p:grpSp>
          <p:nvGrpSpPr>
            <p:cNvPr id="105484" name="Group 5"/>
            <p:cNvGrpSpPr/>
            <p:nvPr/>
          </p:nvGrpSpPr>
          <p:grpSpPr bwMode="auto">
            <a:xfrm>
              <a:off x="467544" y="509235"/>
              <a:ext cx="6408712" cy="3575349"/>
              <a:chOff x="0" y="0"/>
              <a:chExt cx="8496944" cy="4048049"/>
            </a:xfrm>
          </p:grpSpPr>
          <p:grpSp>
            <p:nvGrpSpPr>
              <p:cNvPr id="105486" name="Group 6"/>
              <p:cNvGrpSpPr/>
              <p:nvPr/>
            </p:nvGrpSpPr>
            <p:grpSpPr bwMode="auto">
              <a:xfrm>
                <a:off x="0" y="0"/>
                <a:ext cx="8496944" cy="3555707"/>
                <a:chOff x="0" y="0"/>
                <a:chExt cx="8352928" cy="2844568"/>
              </a:xfrm>
            </p:grpSpPr>
            <p:sp>
              <p:nvSpPr>
                <p:cNvPr id="105489" name="TextBox 5"/>
                <p:cNvSpPr txBox="1">
                  <a:spLocks noChangeArrowheads="1"/>
                </p:cNvSpPr>
                <p:nvPr/>
              </p:nvSpPr>
              <p:spPr bwMode="auto">
                <a:xfrm>
                  <a:off x="0" y="0"/>
                  <a:ext cx="8352928" cy="284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第一步：创建可信连接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第二步：确认通信双方端点的可靠性</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第三步：协商加密算法和密钥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第四步：可信传输数据</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第五步：关闭可信连接</a:t>
                  </a:r>
                  <a:endParaRPr lang="zh-CN" altLang="en-US" sz="2200" dirty="0">
                    <a:latin typeface="Times New Roman" panose="02020603050405020304" pitchFamily="18" charset="0"/>
                  </a:endParaRPr>
                </a:p>
              </p:txBody>
            </p:sp>
            <p:cxnSp>
              <p:nvCxnSpPr>
                <p:cNvPr id="105490" name="直接箭头连接符 6"/>
                <p:cNvCxnSpPr>
                  <a:cxnSpLocks noChangeShapeType="1"/>
                </p:cNvCxnSpPr>
                <p:nvPr/>
              </p:nvCxnSpPr>
              <p:spPr bwMode="auto">
                <a:xfrm>
                  <a:off x="920238" y="345638"/>
                  <a:ext cx="6552728"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1" name="直接箭头连接符 7"/>
                <p:cNvCxnSpPr>
                  <a:cxnSpLocks noChangeShapeType="1"/>
                </p:cNvCxnSpPr>
                <p:nvPr/>
              </p:nvCxnSpPr>
              <p:spPr bwMode="auto">
                <a:xfrm>
                  <a:off x="920239" y="95479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2" name="直接箭头连接符 8"/>
                <p:cNvCxnSpPr>
                  <a:cxnSpLocks noChangeShapeType="1"/>
                </p:cNvCxnSpPr>
                <p:nvPr/>
              </p:nvCxnSpPr>
              <p:spPr bwMode="auto">
                <a:xfrm>
                  <a:off x="920239" y="278171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3" name="直接箭头连接符 9"/>
                <p:cNvCxnSpPr>
                  <a:cxnSpLocks noChangeShapeType="1"/>
                </p:cNvCxnSpPr>
                <p:nvPr/>
              </p:nvCxnSpPr>
              <p:spPr bwMode="auto">
                <a:xfrm>
                  <a:off x="920239" y="2129241"/>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7" name="矩形 12"/>
              <p:cNvSpPr>
                <a:spLocks noChangeArrowheads="1"/>
              </p:cNvSpPr>
              <p:nvPr/>
            </p:nvSpPr>
            <p:spPr bwMode="auto">
              <a:xfrm>
                <a:off x="191536" y="1"/>
                <a:ext cx="744569" cy="4048048"/>
              </a:xfrm>
              <a:prstGeom prst="rect">
                <a:avLst/>
              </a:prstGeom>
              <a:gradFill rotWithShape="0">
                <a:gsLst>
                  <a:gs pos="0">
                    <a:srgbClr val="FFFFFF"/>
                  </a:gs>
                  <a:gs pos="100000">
                    <a:srgbClr val="BBBBBB"/>
                  </a:gs>
                </a:gsLst>
                <a:lin ang="5400000" scaled="1"/>
              </a:gradFill>
              <a:ln w="25400">
                <a:solidFill>
                  <a:schemeClr val="tx1"/>
                </a:solidFill>
                <a:miter lim="800000"/>
              </a:ln>
            </p:spPr>
            <p:txBody>
              <a:bodyPr wrap="none"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可</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信</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通</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讯</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模</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块</a:t>
                </a:r>
                <a:endParaRPr lang="zh-CN" altLang="en-US" sz="2200">
                  <a:latin typeface="Times New Roman" panose="02020603050405020304" pitchFamily="18" charset="0"/>
                </a:endParaRPr>
              </a:p>
            </p:txBody>
          </p:sp>
          <p:sp>
            <p:nvSpPr>
              <p:cNvPr id="105488" name="矩形 13"/>
              <p:cNvSpPr>
                <a:spLocks noChangeArrowheads="1"/>
              </p:cNvSpPr>
              <p:nvPr/>
            </p:nvSpPr>
            <p:spPr bwMode="auto">
              <a:xfrm>
                <a:off x="7632848" y="72008"/>
                <a:ext cx="672561" cy="3976041"/>
              </a:xfrm>
              <a:prstGeom prst="rect">
                <a:avLst/>
              </a:prstGeom>
              <a:gradFill rotWithShape="0">
                <a:gsLst>
                  <a:gs pos="0">
                    <a:srgbClr val="FFFFFF"/>
                  </a:gs>
                  <a:gs pos="100000">
                    <a:srgbClr val="BBBBBB"/>
                  </a:gs>
                </a:gsLst>
                <a:lin ang="5400000" scaled="1"/>
              </a:gradFill>
              <a:ln w="25400">
                <a:solidFill>
                  <a:schemeClr val="tx1"/>
                </a:solidFill>
                <a:miter lim="800000"/>
              </a:ln>
            </p:spPr>
            <p:txBody>
              <a:bodyPr wrap="none"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可</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信</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通</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讯</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模</a:t>
                </a:r>
                <a:endParaRPr lang="en-US" altLang="zh-CN" sz="220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a:latin typeface="Times New Roman" panose="02020603050405020304" pitchFamily="18" charset="0"/>
                  </a:rPr>
                  <a:t>块</a:t>
                </a:r>
                <a:endParaRPr lang="zh-CN" altLang="en-US" sz="2200">
                  <a:latin typeface="Times New Roman" panose="02020603050405020304" pitchFamily="18" charset="0"/>
                </a:endParaRPr>
              </a:p>
            </p:txBody>
          </p:sp>
        </p:grpSp>
        <p:cxnSp>
          <p:nvCxnSpPr>
            <p:cNvPr id="105485" name="直接箭头连接符 9"/>
            <p:cNvCxnSpPr>
              <a:cxnSpLocks noChangeShapeType="1"/>
            </p:cNvCxnSpPr>
            <p:nvPr/>
          </p:nvCxnSpPr>
          <p:spPr bwMode="auto">
            <a:xfrm>
              <a:off x="1187624" y="2211673"/>
              <a:ext cx="502752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2" name="TextBox 23"/>
          <p:cNvSpPr txBox="1">
            <a:spLocks noChangeArrowheads="1"/>
          </p:cNvSpPr>
          <p:nvPr/>
        </p:nvSpPr>
        <p:spPr bwMode="auto">
          <a:xfrm>
            <a:off x="1776395" y="3637029"/>
            <a:ext cx="752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用户</a:t>
            </a:r>
            <a:endParaRPr lang="zh-CN" altLang="en-US" sz="2200"/>
          </a:p>
        </p:txBody>
      </p:sp>
      <p:sp>
        <p:nvSpPr>
          <p:cNvPr id="105483" name="TextBox 24"/>
          <p:cNvSpPr txBox="1">
            <a:spLocks noChangeArrowheads="1"/>
          </p:cNvSpPr>
          <p:nvPr/>
        </p:nvSpPr>
        <p:spPr bwMode="auto">
          <a:xfrm>
            <a:off x="8853470" y="3779904"/>
            <a:ext cx="18875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数据库服务器</a:t>
            </a:r>
            <a:endParaRPr lang="zh-CN" altLang="en-US" sz="220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6498" name="内容占位符 2"/>
          <p:cNvSpPr txBox="1">
            <a:spLocks noChangeArrowheads="1"/>
          </p:cNvSpPr>
          <p:nvPr/>
        </p:nvSpPr>
        <p:spPr bwMode="auto">
          <a:xfrm>
            <a:off x="479376" y="1268760"/>
            <a:ext cx="10945216"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zh-CN" dirty="0"/>
              <a:t>基于安全套接层协议</a:t>
            </a:r>
            <a:r>
              <a:rPr lang="en-US" altLang="zh-CN" dirty="0"/>
              <a:t>SSL</a:t>
            </a:r>
            <a:r>
              <a:rPr lang="zh-CN" altLang="en-US" dirty="0"/>
              <a:t>传输方案的实现思路：</a:t>
            </a:r>
            <a:endParaRPr lang="en-US" altLang="zh-CN" dirty="0"/>
          </a:p>
          <a:p>
            <a:pPr lvl="1">
              <a:lnSpc>
                <a:spcPct val="150000"/>
              </a:lnSpc>
              <a:spcBef>
                <a:spcPct val="0"/>
              </a:spcBef>
              <a:buSzPct val="85000"/>
              <a:buFont typeface="Arial" panose="020B0604020202020204" pitchFamily="34" charset="0"/>
              <a:buNone/>
            </a:pPr>
            <a:r>
              <a:rPr lang="zh-CN" altLang="en-US" dirty="0"/>
              <a:t>（</a:t>
            </a:r>
            <a:r>
              <a:rPr lang="en-US" altLang="zh-CN" dirty="0"/>
              <a:t>1</a:t>
            </a:r>
            <a:r>
              <a:rPr lang="zh-CN" altLang="en-US" dirty="0"/>
              <a:t>）</a:t>
            </a:r>
            <a:r>
              <a:rPr lang="zh-CN" altLang="zh-CN" dirty="0"/>
              <a:t>确认通信双方端点的可靠性</a:t>
            </a:r>
            <a:endParaRPr lang="en-US" altLang="zh-CN" dirty="0">
              <a:latin typeface="宋体" panose="02010600030101010101" pitchFamily="2" charset="-122"/>
            </a:endParaRPr>
          </a:p>
          <a:p>
            <a:pPr lvl="2">
              <a:lnSpc>
                <a:spcPct val="150000"/>
              </a:lnSpc>
              <a:spcBef>
                <a:spcPct val="0"/>
              </a:spcBef>
              <a:buSzPct val="87000"/>
              <a:buFont typeface="Wingdings" panose="05000000000000000000" pitchFamily="2" charset="2"/>
              <a:buChar char="l"/>
            </a:pPr>
            <a:r>
              <a:rPr lang="zh-CN" altLang="en-US" sz="2200" dirty="0"/>
              <a:t>采用</a:t>
            </a:r>
            <a:r>
              <a:rPr lang="zh-CN" altLang="zh-CN" sz="2200" dirty="0"/>
              <a:t>基于</a:t>
            </a:r>
            <a:r>
              <a:rPr lang="zh-CN" altLang="zh-CN" sz="2200" dirty="0">
                <a:solidFill>
                  <a:srgbClr val="FF00FF"/>
                </a:solidFill>
              </a:rPr>
              <a:t>数字证书</a:t>
            </a:r>
            <a:r>
              <a:rPr lang="zh-CN" altLang="zh-CN" sz="2200" dirty="0"/>
              <a:t>的服务器和客户端认证方式</a:t>
            </a:r>
            <a:endParaRPr lang="en-US" altLang="zh-CN" sz="2200" dirty="0"/>
          </a:p>
          <a:p>
            <a:pPr lvl="2">
              <a:lnSpc>
                <a:spcPct val="150000"/>
              </a:lnSpc>
              <a:spcBef>
                <a:spcPct val="0"/>
              </a:spcBef>
              <a:buSzPct val="87000"/>
              <a:buFont typeface="Wingdings" panose="05000000000000000000" pitchFamily="2" charset="2"/>
              <a:buChar char="l"/>
            </a:pPr>
            <a:r>
              <a:rPr lang="zh-CN" altLang="zh-CN" sz="2200" dirty="0"/>
              <a:t>通信时均首先向对方提供己方证书，然后使用本地的</a:t>
            </a:r>
            <a:r>
              <a:rPr lang="en-US" altLang="zh-CN" sz="2200" dirty="0"/>
              <a:t>CA </a:t>
            </a:r>
            <a:r>
              <a:rPr lang="zh-CN" altLang="zh-CN" sz="2200" dirty="0"/>
              <a:t>信任列表和证书撤销列表对接收到的对方证书进行验证</a:t>
            </a:r>
            <a:endParaRPr lang="en-US" altLang="zh-CN" sz="2200" dirty="0">
              <a:latin typeface="宋体" panose="02010600030101010101" pitchFamily="2" charset="-122"/>
            </a:endParaRPr>
          </a:p>
          <a:p>
            <a:pPr lvl="1">
              <a:lnSpc>
                <a:spcPct val="150000"/>
              </a:lnSpc>
              <a:spcBef>
                <a:spcPct val="0"/>
              </a:spcBef>
              <a:buSzPct val="85000"/>
              <a:buFont typeface="Arial" panose="020B0604020202020204" pitchFamily="34" charset="0"/>
              <a:buNone/>
            </a:pPr>
            <a:r>
              <a:rPr lang="zh-CN" altLang="en-US" dirty="0"/>
              <a:t>（</a:t>
            </a:r>
            <a:r>
              <a:rPr lang="en-US" altLang="zh-CN" dirty="0"/>
              <a:t>2</a:t>
            </a:r>
            <a:r>
              <a:rPr lang="zh-CN" altLang="en-US" dirty="0"/>
              <a:t>）</a:t>
            </a:r>
            <a:r>
              <a:rPr lang="zh-CN" altLang="zh-CN" dirty="0"/>
              <a:t>协商加密算法和密钥</a:t>
            </a:r>
            <a:endParaRPr lang="en-US" altLang="zh-CN" dirty="0">
              <a:latin typeface="宋体" panose="02010600030101010101" pitchFamily="2" charset="-122"/>
            </a:endParaRPr>
          </a:p>
          <a:p>
            <a:pPr lvl="2">
              <a:lnSpc>
                <a:spcPct val="150000"/>
              </a:lnSpc>
              <a:spcBef>
                <a:spcPct val="0"/>
              </a:spcBef>
              <a:buSzPct val="87000"/>
              <a:buFont typeface="Wingdings" panose="05000000000000000000" pitchFamily="2" charset="2"/>
              <a:buChar char="l"/>
            </a:pPr>
            <a:r>
              <a:rPr lang="zh-CN" altLang="zh-CN" sz="2200" dirty="0"/>
              <a:t>确认双方端点的可靠性后，通信双方协商本次会话的加密算法与密钥</a:t>
            </a:r>
            <a:endParaRPr lang="en-US" altLang="zh-CN" sz="2200" dirty="0"/>
          </a:p>
          <a:p>
            <a:pPr lvl="2">
              <a:lnSpc>
                <a:spcPct val="150000"/>
              </a:lnSpc>
              <a:spcBef>
                <a:spcPct val="0"/>
              </a:spcBef>
              <a:buSzPct val="87000"/>
              <a:buFont typeface="Wingdings" panose="05000000000000000000" pitchFamily="2" charset="2"/>
              <a:buChar char="l"/>
            </a:pPr>
            <a:r>
              <a:rPr lang="zh-CN" altLang="zh-CN" sz="2200" dirty="0"/>
              <a:t>利用公钥基础设施方式</a:t>
            </a:r>
            <a:endParaRPr lang="en-US" altLang="zh-CN" sz="2200" dirty="0"/>
          </a:p>
          <a:p>
            <a:pPr lvl="2">
              <a:spcBef>
                <a:spcPct val="0"/>
              </a:spcBef>
              <a:buFont typeface="Wingdings" panose="05000000000000000000" pitchFamily="2" charset="2"/>
              <a:buChar char="Ø"/>
            </a:pPr>
            <a:endParaRPr lang="en-US" altLang="zh-CN" dirty="0">
              <a:latin typeface="宋体" panose="02010600030101010101" pitchFamily="2" charset="-122"/>
            </a:endParaRPr>
          </a:p>
          <a:p>
            <a:pPr lvl="2">
              <a:spcBef>
                <a:spcPct val="0"/>
              </a:spcBef>
              <a:buFont typeface="Wingdings" panose="05000000000000000000" pitchFamily="2" charset="2"/>
              <a:buChar char="Ø"/>
            </a:pPr>
            <a:endParaRPr lang="en-US" altLang="zh-CN" sz="1600" dirty="0">
              <a:latin typeface="宋体" panose="02010600030101010101" pitchFamily="2" charset="-122"/>
            </a:endParaRPr>
          </a:p>
          <a:p>
            <a:pPr lvl="2">
              <a:spcBef>
                <a:spcPct val="0"/>
              </a:spcBef>
              <a:buFont typeface="Wingdings" panose="05000000000000000000" pitchFamily="2" charset="2"/>
              <a:buChar char="Ø"/>
            </a:pPr>
            <a:endParaRPr lang="zh-CN" altLang="en-US" sz="16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7522" name="内容占位符 2"/>
          <p:cNvSpPr txBox="1">
            <a:spLocks noChangeArrowheads="1"/>
          </p:cNvSpPr>
          <p:nvPr/>
        </p:nvSpPr>
        <p:spPr bwMode="auto">
          <a:xfrm>
            <a:off x="263352" y="1628800"/>
            <a:ext cx="11377264"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nSpc>
                <a:spcPct val="150000"/>
              </a:lnSpc>
              <a:spcBef>
                <a:spcPct val="0"/>
              </a:spcBef>
              <a:buSzPct val="85000"/>
              <a:buFont typeface="Arial" panose="020B0604020202020204" pitchFamily="34" charset="0"/>
              <a:buNone/>
            </a:pPr>
            <a:r>
              <a:rPr lang="zh-CN" altLang="en-US" sz="2800" dirty="0"/>
              <a:t>（</a:t>
            </a:r>
            <a:r>
              <a:rPr lang="en-US" altLang="zh-CN" sz="2800" dirty="0"/>
              <a:t>3</a:t>
            </a:r>
            <a:r>
              <a:rPr lang="zh-CN" altLang="en-US" sz="2800" dirty="0"/>
              <a:t>）</a:t>
            </a:r>
            <a:r>
              <a:rPr lang="zh-CN" altLang="zh-CN" sz="2800" dirty="0"/>
              <a:t>可信数据传输</a:t>
            </a:r>
            <a:endParaRPr lang="en-US" altLang="zh-CN" sz="2800" dirty="0"/>
          </a:p>
          <a:p>
            <a:pPr lvl="2">
              <a:lnSpc>
                <a:spcPct val="150000"/>
              </a:lnSpc>
              <a:spcBef>
                <a:spcPct val="0"/>
              </a:spcBef>
              <a:buSzPct val="87000"/>
              <a:buFont typeface="Wingdings" panose="05000000000000000000" pitchFamily="2" charset="2"/>
              <a:buChar char="l"/>
            </a:pPr>
            <a:r>
              <a:rPr lang="zh-CN" altLang="zh-CN" sz="2400" dirty="0"/>
              <a:t>业务数据在被发送之前将被用某一组特定的密钥进行加密和消息摘要计算，以</a:t>
            </a:r>
            <a:r>
              <a:rPr lang="zh-CN" altLang="zh-CN" sz="2400" dirty="0">
                <a:solidFill>
                  <a:srgbClr val="FF00FF"/>
                </a:solidFill>
              </a:rPr>
              <a:t>密文</a:t>
            </a:r>
            <a:r>
              <a:rPr lang="zh-CN" altLang="zh-CN" sz="2400" dirty="0"/>
              <a:t>形式在网络上传输</a:t>
            </a:r>
            <a:endParaRPr lang="en-US" altLang="zh-CN" sz="2400" dirty="0"/>
          </a:p>
          <a:p>
            <a:pPr lvl="2">
              <a:lnSpc>
                <a:spcPct val="150000"/>
              </a:lnSpc>
              <a:spcBef>
                <a:spcPct val="0"/>
              </a:spcBef>
              <a:buSzPct val="87000"/>
              <a:buFont typeface="Wingdings" panose="05000000000000000000" pitchFamily="2" charset="2"/>
              <a:buChar char="l"/>
            </a:pPr>
            <a:r>
              <a:rPr lang="zh-CN" altLang="zh-CN" sz="2400" dirty="0"/>
              <a:t>当业务数据被接收的时候，需用相同一组特定的密钥进行解密和摘要计算</a:t>
            </a:r>
            <a:endParaRPr lang="en-US" altLang="zh-CN" sz="2400" dirty="0"/>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特定的密钥是由通信双方磋商决定的，为且仅为双方共享</a:t>
            </a:r>
            <a:endParaRPr lang="en-US" altLang="zh-CN" sz="2200" dirty="0">
              <a:latin typeface="Times New Roman" panose="02020603050405020304" pitchFamily="18" charset="0"/>
              <a:cs typeface="Times New Roman" panose="02020603050405020304" pitchFamily="18" charset="0"/>
            </a:endParaRPr>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会话密钥的生命周期仅限于本次通信</a:t>
            </a:r>
            <a:endParaRPr lang="en-US" altLang="zh-CN" sz="2200" dirty="0"/>
          </a:p>
          <a:p>
            <a:pPr lvl="2">
              <a:spcBef>
                <a:spcPct val="0"/>
              </a:spcBef>
              <a:buFont typeface="Wingdings" panose="05000000000000000000" pitchFamily="2" charset="2"/>
              <a:buChar char="Ø"/>
            </a:pPr>
            <a:endParaRPr lang="en-US" altLang="zh-CN" dirty="0">
              <a:latin typeface="宋体" panose="02010600030101010101" pitchFamily="2" charset="-122"/>
            </a:endParaRPr>
          </a:p>
          <a:p>
            <a:pPr lvl="2">
              <a:spcBef>
                <a:spcPct val="0"/>
              </a:spcBef>
              <a:buFont typeface="Wingdings" panose="05000000000000000000" pitchFamily="2" charset="2"/>
              <a:buChar char="Ø"/>
            </a:pPr>
            <a:endParaRPr lang="en-US" altLang="zh-CN" sz="1600" dirty="0">
              <a:latin typeface="宋体" panose="02010600030101010101" pitchFamily="2" charset="-122"/>
            </a:endParaRPr>
          </a:p>
          <a:p>
            <a:pPr lvl="2">
              <a:spcBef>
                <a:spcPct val="0"/>
              </a:spcBef>
              <a:buFont typeface="Wingdings" panose="05000000000000000000" pitchFamily="2" charset="2"/>
              <a:buChar char="Ø"/>
            </a:pPr>
            <a:endParaRPr lang="zh-CN" altLang="en-US" sz="1600" dirty="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endParaRPr lang="zh-CN" altLang="zh-CN" sz="3600">
              <a:solidFill>
                <a:schemeClr val="bg1"/>
              </a:solidFill>
            </a:endParaRPr>
          </a:p>
        </p:txBody>
      </p:sp>
      <p:sp>
        <p:nvSpPr>
          <p:cNvPr id="107522" name="内容占位符 2"/>
          <p:cNvSpPr txBox="1">
            <a:spLocks noChangeArrowheads="1"/>
          </p:cNvSpPr>
          <p:nvPr/>
        </p:nvSpPr>
        <p:spPr bwMode="auto">
          <a:xfrm>
            <a:off x="1055440" y="1340768"/>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zh-CN" dirty="0">
                <a:latin typeface="+mn-lt"/>
                <a:ea typeface="+mn-ea"/>
              </a:rPr>
              <a:t>数据加密算法</a:t>
            </a:r>
            <a:endParaRPr lang="en-US" altLang="zh-CN" dirty="0">
              <a:latin typeface="+mn-lt"/>
              <a:ea typeface="+mn-ea"/>
            </a:endParaRPr>
          </a:p>
          <a:p>
            <a:pPr lvl="1">
              <a:lnSpc>
                <a:spcPct val="150000"/>
              </a:lnSpc>
              <a:spcBef>
                <a:spcPct val="0"/>
              </a:spcBef>
              <a:buSzPct val="85000"/>
            </a:pPr>
            <a:r>
              <a:rPr lang="zh-CN" altLang="zh-CN" dirty="0">
                <a:latin typeface="宋体" panose="02010600030101010101" pitchFamily="2" charset="-122"/>
                <a:ea typeface="+mn-ea"/>
              </a:rPr>
              <a:t>对称算法加密</a:t>
            </a:r>
            <a:r>
              <a:rPr lang="en-US" altLang="zh-CN" dirty="0">
                <a:latin typeface="宋体" panose="02010600030101010101" pitchFamily="2" charset="-122"/>
                <a:ea typeface="+mn-ea"/>
              </a:rPr>
              <a:t>:AES</a:t>
            </a:r>
            <a:r>
              <a:rPr lang="zh-CN" altLang="zh-CN" dirty="0">
                <a:latin typeface="宋体" panose="02010600030101010101" pitchFamily="2" charset="-122"/>
                <a:ea typeface="+mn-ea"/>
              </a:rPr>
              <a:t>算法</a:t>
            </a:r>
            <a:endParaRPr lang="en-US" altLang="zh-CN" dirty="0">
              <a:latin typeface="宋体" panose="02010600030101010101" pitchFamily="2" charset="-122"/>
              <a:ea typeface="+mn-ea"/>
            </a:endParaRPr>
          </a:p>
          <a:p>
            <a:pPr lvl="1">
              <a:lnSpc>
                <a:spcPct val="150000"/>
              </a:lnSpc>
              <a:spcBef>
                <a:spcPct val="0"/>
              </a:spcBef>
              <a:buSzPct val="85000"/>
            </a:pPr>
            <a:r>
              <a:rPr lang="zh-CN" altLang="zh-CN" dirty="0">
                <a:latin typeface="宋体" panose="02010600030101010101" pitchFamily="2" charset="-122"/>
                <a:ea typeface="+mn-ea"/>
              </a:rPr>
              <a:t>非对称加密算法</a:t>
            </a:r>
            <a:r>
              <a:rPr lang="en-US" altLang="zh-CN" dirty="0">
                <a:latin typeface="宋体" panose="02010600030101010101" pitchFamily="2" charset="-122"/>
                <a:ea typeface="+mn-ea"/>
              </a:rPr>
              <a:t>:RSA</a:t>
            </a:r>
            <a:r>
              <a:rPr lang="zh-CN" altLang="zh-CN" dirty="0">
                <a:latin typeface="宋体" panose="02010600030101010101" pitchFamily="2" charset="-122"/>
                <a:ea typeface="+mn-ea"/>
              </a:rPr>
              <a:t>算法</a:t>
            </a:r>
            <a:endParaRPr lang="en-US" altLang="zh-CN" dirty="0">
              <a:latin typeface="宋体" panose="02010600030101010101" pitchFamily="2" charset="-122"/>
              <a:ea typeface="+mn-ea"/>
            </a:endParaRPr>
          </a:p>
          <a:p>
            <a:pPr lvl="1">
              <a:lnSpc>
                <a:spcPct val="150000"/>
              </a:lnSpc>
              <a:spcBef>
                <a:spcPct val="0"/>
              </a:spcBef>
              <a:buSzPct val="85000"/>
            </a:pPr>
            <a:r>
              <a:rPr lang="en-US" altLang="zh-CN" dirty="0">
                <a:latin typeface="宋体" panose="02010600030101010101" pitchFamily="2" charset="-122"/>
                <a:ea typeface="+mn-ea"/>
              </a:rPr>
              <a:t>DBMS</a:t>
            </a:r>
            <a:r>
              <a:rPr lang="zh-CN" altLang="zh-CN" dirty="0">
                <a:latin typeface="宋体" panose="02010600030101010101" pitchFamily="2" charset="-122"/>
                <a:ea typeface="+mn-ea"/>
              </a:rPr>
              <a:t>特定的加密算法</a:t>
            </a:r>
            <a:endParaRPr lang="en-US" altLang="zh-CN" dirty="0">
              <a:latin typeface="宋体" panose="02010600030101010101" pitchFamily="2" charset="-122"/>
              <a:ea typeface="+mn-ea"/>
            </a:endParaRPr>
          </a:p>
          <a:p>
            <a:pPr lvl="1">
              <a:lnSpc>
                <a:spcPct val="150000"/>
              </a:lnSpc>
              <a:spcBef>
                <a:spcPct val="0"/>
              </a:spcBef>
              <a:buSzPct val="85000"/>
            </a:pPr>
            <a:endParaRPr lang="en-US" altLang="zh-CN" dirty="0">
              <a:latin typeface="宋体" panose="02010600030101010101" pitchFamily="2" charset="-122"/>
              <a:ea typeface="+mn-ea"/>
            </a:endParaRPr>
          </a:p>
          <a:p>
            <a:pPr eaLnBrk="1" hangingPunct="1">
              <a:spcBef>
                <a:spcPct val="0"/>
              </a:spcBef>
            </a:pPr>
            <a:r>
              <a:rPr lang="zh-CN" altLang="en-US" dirty="0">
                <a:latin typeface="+mn-lt"/>
                <a:ea typeface="+mn-ea"/>
              </a:rPr>
              <a:t>数据加密优缺点</a:t>
            </a:r>
            <a:endParaRPr lang="en-US" altLang="zh-CN" dirty="0">
              <a:latin typeface="+mn-lt"/>
              <a:ea typeface="+mn-ea"/>
            </a:endParaRPr>
          </a:p>
          <a:p>
            <a:pPr lvl="1">
              <a:lnSpc>
                <a:spcPct val="150000"/>
              </a:lnSpc>
              <a:spcBef>
                <a:spcPct val="0"/>
              </a:spcBef>
              <a:buSzPct val="85000"/>
            </a:pPr>
            <a:r>
              <a:rPr lang="zh-CN" altLang="zh-CN" dirty="0">
                <a:latin typeface="宋体" panose="02010600030101010101" pitchFamily="2" charset="-122"/>
                <a:ea typeface="+mn-ea"/>
              </a:rPr>
              <a:t>数据安全性进一步提高</a:t>
            </a:r>
            <a:endParaRPr lang="en-US" altLang="zh-CN" dirty="0">
              <a:latin typeface="宋体" panose="02010600030101010101" pitchFamily="2" charset="-122"/>
              <a:ea typeface="+mn-ea"/>
            </a:endParaRPr>
          </a:p>
          <a:p>
            <a:pPr lvl="1">
              <a:lnSpc>
                <a:spcPct val="150000"/>
              </a:lnSpc>
              <a:spcBef>
                <a:spcPct val="0"/>
              </a:spcBef>
              <a:buSzPct val="85000"/>
            </a:pPr>
            <a:r>
              <a:rPr lang="zh-CN" altLang="zh-CN" dirty="0">
                <a:latin typeface="宋体" panose="02010600030101010101" pitchFamily="2" charset="-122"/>
                <a:ea typeface="+mn-ea"/>
              </a:rPr>
              <a:t>增加查询处理复杂性，查询效率受到影响</a:t>
            </a:r>
            <a:endParaRPr lang="zh-CN" altLang="en-US" dirty="0">
              <a:latin typeface="宋体" panose="02010600030101010101" pitchFamily="2" charset="-122"/>
              <a:ea typeface="+mn-ea"/>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p:txBody>
          <a:bodyPr vert="horz" wrap="square" lIns="121920" tIns="60960" rIns="121920" bIns="60960" anchor="ctr" anchorCtr="0"/>
          <a:p>
            <a:r>
              <a:rPr lang="zh-CN" altLang="en-US" dirty="0"/>
              <a:t>数据加密的另一个场景：</a:t>
            </a:r>
            <a:r>
              <a:rPr lang="en-US" altLang="zh-CN" dirty="0"/>
              <a:t>DaaS</a:t>
            </a:r>
            <a:endParaRPr lang="zh-CN" altLang="en-US" dirty="0"/>
          </a:p>
        </p:txBody>
      </p:sp>
      <p:sp>
        <p:nvSpPr>
          <p:cNvPr id="69635" name="内容占位符 2"/>
          <p:cNvSpPr>
            <a:spLocks noGrp="1"/>
          </p:cNvSpPr>
          <p:nvPr>
            <p:ph idx="1"/>
          </p:nvPr>
        </p:nvSpPr>
        <p:spPr/>
        <p:txBody>
          <a:bodyPr vert="horz" wrap="square" lIns="121920" tIns="60960" rIns="121920" bIns="60960" anchor="t" anchorCtr="0"/>
          <a:p>
            <a:r>
              <a:rPr lang="zh-CN" altLang="en-US" dirty="0"/>
              <a:t>数据即服务</a:t>
            </a:r>
            <a:r>
              <a:rPr lang="en-US" altLang="zh-CN" dirty="0"/>
              <a:t>(Data-as-a-Service,DaaS)</a:t>
            </a:r>
            <a:r>
              <a:rPr lang="zh-CN" altLang="en-US" dirty="0"/>
              <a:t>，或者云原生数据库，将数据库托管在云平台，由专门的机构来管理数据</a:t>
            </a:r>
            <a:endParaRPr lang="en-US" altLang="zh-CN" dirty="0"/>
          </a:p>
          <a:p>
            <a:endParaRPr lang="en-US" altLang="zh-CN" dirty="0"/>
          </a:p>
          <a:p>
            <a:r>
              <a:rPr lang="zh-CN" altLang="en-US" dirty="0"/>
              <a:t>如果数据涉及企业秘密，云数据库值得信任吗？</a:t>
            </a:r>
            <a:endParaRPr lang="en-US" altLang="zh-CN" dirty="0"/>
          </a:p>
          <a:p>
            <a:pPr lvl="1"/>
            <a:r>
              <a:rPr lang="zh-CN" altLang="en-US" dirty="0"/>
              <a:t>将数据加密后再进行托管</a:t>
            </a:r>
            <a:endParaRPr lang="en-US" altLang="zh-CN" dirty="0"/>
          </a:p>
          <a:p>
            <a:pPr lvl="1"/>
            <a:r>
              <a:rPr lang="zh-CN" altLang="en-US" dirty="0"/>
              <a:t>性能是一个大问题</a:t>
            </a:r>
            <a:endParaRPr lang="zh-CN" altLang="en-US" dirty="0"/>
          </a:p>
          <a:p>
            <a:pPr lvl="1"/>
            <a:r>
              <a:rPr lang="zh-CN" altLang="en-US" dirty="0"/>
              <a:t>查询结果的正确性和完整性是另一个</a:t>
            </a:r>
            <a:r>
              <a:rPr lang="zh-CN" altLang="en-US" dirty="0"/>
              <a:t>问题</a:t>
            </a:r>
            <a:endParaRPr lang="zh-CN" altLang="en-US" dirty="0"/>
          </a:p>
          <a:p>
            <a:pPr lvl="0"/>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跨域数据使用中数据加密的作用</a:t>
            </a:r>
            <a:r>
              <a:rPr lang="en-US" altLang="zh-CN"/>
              <a:t>*</a:t>
            </a:r>
            <a:endParaRPr lang="en-US" altLang="zh-CN"/>
          </a:p>
        </p:txBody>
      </p:sp>
      <p:sp>
        <p:nvSpPr>
          <p:cNvPr id="3" name="内容占位符 2"/>
          <p:cNvSpPr>
            <a:spLocks noGrp="1"/>
          </p:cNvSpPr>
          <p:nvPr>
            <p:ph idx="1"/>
          </p:nvPr>
        </p:nvSpPr>
        <p:spPr/>
        <p:txBody>
          <a:bodyPr/>
          <a:p>
            <a:r>
              <a:rPr lang="zh-CN" altLang="en-US"/>
              <a:t>国家标准《信息技术</a:t>
            </a:r>
            <a:r>
              <a:rPr lang="en-US" altLang="zh-CN"/>
              <a:t> </a:t>
            </a:r>
            <a:r>
              <a:rPr lang="zh-CN" altLang="en-US"/>
              <a:t>大数据</a:t>
            </a:r>
            <a:r>
              <a:rPr lang="en-US" altLang="zh-CN"/>
              <a:t> </a:t>
            </a:r>
            <a:r>
              <a:rPr lang="zh-CN" altLang="en-US"/>
              <a:t>跨域数据可信共享参考架构》</a:t>
            </a:r>
            <a:endParaRPr lang="zh-CN" altLang="en-US"/>
          </a:p>
        </p:txBody>
      </p:sp>
      <p:pic>
        <p:nvPicPr>
          <p:cNvPr id="9" name="图片 5"/>
          <p:cNvPicPr>
            <a:picLocks noChangeAspect="1"/>
          </p:cNvPicPr>
          <p:nvPr/>
        </p:nvPicPr>
        <p:blipFill>
          <a:blip r:embed="rId1"/>
          <a:stretch>
            <a:fillRect/>
          </a:stretch>
        </p:blipFill>
        <p:spPr>
          <a:xfrm>
            <a:off x="2423160" y="1867535"/>
            <a:ext cx="7263765" cy="3759200"/>
          </a:xfrm>
          <a:prstGeom prst="rect">
            <a:avLst/>
          </a:prstGeom>
          <a:noFill/>
          <a:ln>
            <a:noFill/>
          </a:ln>
        </p:spPr>
      </p:pic>
      <p:sp>
        <p:nvSpPr>
          <p:cNvPr id="4" name="文本框 3"/>
          <p:cNvSpPr txBox="1"/>
          <p:nvPr/>
        </p:nvSpPr>
        <p:spPr>
          <a:xfrm>
            <a:off x="675005" y="5626735"/>
            <a:ext cx="11051540" cy="706755"/>
          </a:xfrm>
          <a:prstGeom prst="rect">
            <a:avLst/>
          </a:prstGeom>
        </p:spPr>
        <p:txBody>
          <a:bodyPr wrap="square">
            <a:spAutoFit/>
          </a:bodyPr>
          <a:p>
            <a:pPr marL="0" indent="0" algn="just" defTabSz="266700">
              <a:spcBef>
                <a:spcPct val="0"/>
              </a:spcBef>
              <a:spcAft>
                <a:spcPct val="0"/>
              </a:spcAft>
            </a:pPr>
            <a:r>
              <a:rPr lang="zh-CN" altLang="en-US" sz="2000">
                <a:latin typeface="宋体" panose="02010600030101010101" pitchFamily="2" charset="-122"/>
                <a:ea typeface="宋体" panose="02010600030101010101" pitchFamily="2" charset="-122"/>
              </a:rPr>
              <a:t>支持利用多方安全计算、同态加密、匿名化等密态计算技术进行联合分析，防止有未经数据提供方知晓的数据信息泄露、修改或删除等</a:t>
            </a:r>
            <a:endParaRPr lang="zh-CN" altLang="en-US" sz="2000">
              <a:latin typeface="宋体" panose="02010600030101010101" pitchFamily="2" charset="-122"/>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8546"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108547" name="Rectangle 3"/>
          <p:cNvSpPr>
            <a:spLocks noGrp="1" noChangeArrowheads="1"/>
          </p:cNvSpPr>
          <p:nvPr>
            <p:ph type="body" idx="4294967295"/>
          </p:nvPr>
        </p:nvSpPr>
        <p:spPr>
          <a:xfrm>
            <a:off x="1415480" y="1512139"/>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计算机安全性概述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r>
              <a:rPr lang="en-US" altLang="zh-CN" dirty="0"/>
              <a:t>Audit</a:t>
            </a:r>
            <a:r>
              <a:rPr lang="zh-CN" altLang="en-US" dirty="0"/>
              <a:t>）</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None/>
            </a:pPr>
            <a:r>
              <a:rPr lang="en-US" altLang="zh-CN" dirty="0">
                <a:solidFill>
                  <a:srgbClr val="0066FF"/>
                </a:solidFill>
              </a:rPr>
              <a:t>4.6  </a:t>
            </a:r>
            <a:r>
              <a:rPr lang="zh-CN" altLang="en-US" dirty="0">
                <a:solidFill>
                  <a:srgbClr val="0066FF"/>
                </a:solidFill>
              </a:rPr>
              <a:t>其他安全性保护</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4.7  </a:t>
            </a:r>
            <a:r>
              <a:rPr lang="zh-CN" altLang="en-US" dirty="0"/>
              <a:t>小结</a:t>
            </a:r>
            <a:endParaRPr lang="zh-CN" altLang="en-US"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9570" name="Rectangle 2"/>
          <p:cNvSpPr>
            <a:spLocks noGrp="1" noChangeArrowheads="1"/>
          </p:cNvSpPr>
          <p:nvPr>
            <p:ph type="title" idx="4294967295"/>
          </p:nvPr>
        </p:nvSpPr>
        <p:spPr/>
        <p:txBody>
          <a:bodyPr/>
          <a:lstStyle/>
          <a:p>
            <a:pPr eaLnBrk="1" hangingPunct="1"/>
            <a:r>
              <a:rPr lang="en-US" altLang="zh-CN" sz="3600"/>
              <a:t>4.6  </a:t>
            </a:r>
            <a:r>
              <a:rPr lang="zh-CN" altLang="en-US" sz="3600"/>
              <a:t>其他安全性保护</a:t>
            </a:r>
            <a:endParaRPr lang="zh-CN" altLang="en-US" sz="3600"/>
          </a:p>
        </p:txBody>
      </p:sp>
      <p:sp>
        <p:nvSpPr>
          <p:cNvPr id="109571" name="Rectangle 3"/>
          <p:cNvSpPr>
            <a:spLocks noGrp="1" noChangeArrowheads="1"/>
          </p:cNvSpPr>
          <p:nvPr>
            <p:ph type="body" idx="4294967295"/>
          </p:nvPr>
        </p:nvSpPr>
        <p:spPr>
          <a:xfrm>
            <a:off x="1055440" y="1358900"/>
            <a:ext cx="8229600" cy="5499100"/>
          </a:xfrm>
        </p:spPr>
        <p:txBody>
          <a:bodyPr/>
          <a:lstStyle/>
          <a:p>
            <a:pPr eaLnBrk="1" hangingPunct="1">
              <a:lnSpc>
                <a:spcPct val="120000"/>
              </a:lnSpc>
              <a:spcBef>
                <a:spcPct val="0"/>
              </a:spcBef>
            </a:pPr>
            <a:r>
              <a:rPr lang="zh-CN" altLang="en-US" dirty="0"/>
              <a:t>推理控制</a:t>
            </a:r>
            <a:endParaRPr lang="zh-CN" altLang="en-US" dirty="0"/>
          </a:p>
          <a:p>
            <a:pPr lvl="1" eaLnBrk="1" hangingPunct="1">
              <a:lnSpc>
                <a:spcPct val="120000"/>
              </a:lnSpc>
              <a:spcBef>
                <a:spcPct val="0"/>
              </a:spcBef>
            </a:pPr>
            <a:r>
              <a:rPr lang="zh-CN" altLang="en-US" dirty="0"/>
              <a:t>处理强制存取控制未解决的问题</a:t>
            </a:r>
            <a:endParaRPr lang="zh-CN" altLang="en-US" dirty="0"/>
          </a:p>
          <a:p>
            <a:pPr lvl="1" eaLnBrk="1" hangingPunct="1">
              <a:lnSpc>
                <a:spcPct val="120000"/>
              </a:lnSpc>
              <a:spcBef>
                <a:spcPct val="0"/>
              </a:spcBef>
            </a:pPr>
            <a:r>
              <a:rPr lang="zh-CN" altLang="en-US" dirty="0"/>
              <a:t>避免用户利用能够访问的数据推知更高密级的数据</a:t>
            </a:r>
            <a:endParaRPr lang="en-US" altLang="zh-CN" dirty="0"/>
          </a:p>
          <a:p>
            <a:pPr lvl="1" eaLnBrk="1" hangingPunct="1">
              <a:lnSpc>
                <a:spcPct val="120000"/>
              </a:lnSpc>
              <a:spcBef>
                <a:spcPct val="0"/>
              </a:spcBef>
            </a:pPr>
            <a:r>
              <a:rPr lang="zh-CN" altLang="en-US" dirty="0"/>
              <a:t>常用方法</a:t>
            </a:r>
            <a:endParaRPr lang="en-US" altLang="zh-CN" dirty="0"/>
          </a:p>
          <a:p>
            <a:pPr lvl="2" eaLnBrk="1" hangingPunct="1">
              <a:lnSpc>
                <a:spcPct val="120000"/>
              </a:lnSpc>
              <a:spcBef>
                <a:spcPct val="0"/>
              </a:spcBef>
              <a:buSzPct val="87000"/>
              <a:buFont typeface="Wingdings" panose="05000000000000000000" pitchFamily="2" charset="2"/>
              <a:buChar char="l"/>
            </a:pPr>
            <a:r>
              <a:rPr lang="zh-CN" altLang="en-US" sz="2200" dirty="0"/>
              <a:t>基于函数依赖的推理控制</a:t>
            </a:r>
            <a:endParaRPr lang="en-US" altLang="zh-CN" sz="2200" dirty="0"/>
          </a:p>
          <a:p>
            <a:pPr lvl="2" eaLnBrk="1" hangingPunct="1">
              <a:lnSpc>
                <a:spcPct val="120000"/>
              </a:lnSpc>
              <a:spcBef>
                <a:spcPct val="0"/>
              </a:spcBef>
              <a:buSzPct val="87000"/>
              <a:buFont typeface="Wingdings" panose="05000000000000000000" pitchFamily="2" charset="2"/>
              <a:buChar char="l"/>
            </a:pPr>
            <a:r>
              <a:rPr lang="zh-CN" altLang="en-US" sz="2200" dirty="0"/>
              <a:t>基于敏感关联的推理控制</a:t>
            </a:r>
            <a:endParaRPr lang="en-US" altLang="zh-CN" sz="2200" dirty="0"/>
          </a:p>
          <a:p>
            <a:pPr eaLnBrk="1" hangingPunct="1">
              <a:lnSpc>
                <a:spcPct val="120000"/>
              </a:lnSpc>
              <a:spcBef>
                <a:spcPct val="0"/>
              </a:spcBef>
            </a:pPr>
            <a:r>
              <a:rPr lang="zh-CN" altLang="en-US" dirty="0"/>
              <a:t>隐蔽信道</a:t>
            </a:r>
            <a:endParaRPr lang="en-US" altLang="zh-CN" dirty="0"/>
          </a:p>
          <a:p>
            <a:pPr lvl="1" eaLnBrk="1" hangingPunct="1">
              <a:lnSpc>
                <a:spcPct val="120000"/>
              </a:lnSpc>
              <a:spcBef>
                <a:spcPct val="0"/>
              </a:spcBef>
            </a:pPr>
            <a:r>
              <a:rPr lang="zh-CN" altLang="zh-CN" dirty="0"/>
              <a:t>处理</a:t>
            </a:r>
            <a:r>
              <a:rPr lang="zh-CN" altLang="en-US" dirty="0"/>
              <a:t>强制存取控制</a:t>
            </a:r>
            <a:r>
              <a:rPr lang="zh-CN" altLang="zh-CN" dirty="0"/>
              <a:t>未解决的问题</a:t>
            </a:r>
            <a:endParaRPr lang="en-US" altLang="zh-CN"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nvSpPr>
        <p:spPr>
          <a:xfrm>
            <a:off x="6959600" y="6381751"/>
            <a:ext cx="4800600" cy="321733"/>
          </a:xfrm>
          <a:prstGeom prst="rect">
            <a:avLst/>
          </a:prstGeom>
          <a:noFill/>
          <a:ln w="9525">
            <a:noFill/>
          </a:ln>
        </p:spPr>
        <p:txBody>
          <a:bodyPr/>
          <a:p>
            <a:pPr algn="ctr"/>
            <a:endParaRPr lang="en-US" altLang="zh-CN" sz="1865" b="1" dirty="0">
              <a:solidFill>
                <a:srgbClr val="F03628"/>
              </a:solidFill>
              <a:latin typeface="Arial" panose="020B0604020202020204" pitchFamily="34" charset="0"/>
            </a:endParaRPr>
          </a:p>
        </p:txBody>
      </p:sp>
      <p:sp>
        <p:nvSpPr>
          <p:cNvPr id="83971" name="Rectangle 2"/>
          <p:cNvSpPr>
            <a:spLocks noGrp="1"/>
          </p:cNvSpPr>
          <p:nvPr>
            <p:ph type="title" idx="4294967295"/>
          </p:nvPr>
        </p:nvSpPr>
        <p:spPr/>
        <p:txBody>
          <a:bodyPr vert="horz" wrap="square" lIns="121920" tIns="60960" rIns="121920" bIns="60960" anchor="ctr" anchorCtr="0"/>
          <a:p>
            <a:pPr eaLnBrk="1" hangingPunct="1"/>
            <a:r>
              <a:rPr lang="zh-CN" altLang="en-US" sz="4800" dirty="0"/>
              <a:t>统计推断</a:t>
            </a:r>
            <a:endParaRPr lang="zh-CN" altLang="en-US" sz="4800" dirty="0"/>
          </a:p>
        </p:txBody>
      </p:sp>
      <p:sp>
        <p:nvSpPr>
          <p:cNvPr id="83972" name="Rectangle 3"/>
          <p:cNvSpPr>
            <a:spLocks noGrp="1"/>
          </p:cNvSpPr>
          <p:nvPr>
            <p:ph type="body" idx="4294967295"/>
          </p:nvPr>
        </p:nvSpPr>
        <p:spPr>
          <a:xfrm>
            <a:off x="609600" y="1098551"/>
            <a:ext cx="10972800" cy="603249"/>
          </a:xfrm>
        </p:spPr>
        <p:txBody>
          <a:bodyPr vert="horz" wrap="square" lIns="121920" tIns="60960" rIns="121920" bIns="60960" anchor="t" anchorCtr="0"/>
          <a:p>
            <a:pPr eaLnBrk="1" hangingPunct="1"/>
            <a:r>
              <a:rPr lang="zh-CN" altLang="en-US" sz="3200" dirty="0"/>
              <a:t>通过若干个合法的查询结果，推断出需要保密的信息</a:t>
            </a:r>
            <a:endParaRPr lang="zh-CN" altLang="en-US" sz="3200" dirty="0"/>
          </a:p>
        </p:txBody>
      </p:sp>
      <p:sp>
        <p:nvSpPr>
          <p:cNvPr id="5" name="Rectangle 3"/>
          <p:cNvSpPr txBox="1">
            <a:spLocks noChangeArrowheads="1"/>
          </p:cNvSpPr>
          <p:nvPr/>
        </p:nvSpPr>
        <p:spPr bwMode="auto">
          <a:xfrm>
            <a:off x="609600" y="2084917"/>
            <a:ext cx="10972800" cy="3191933"/>
          </a:xfrm>
          <a:prstGeom prst="rect">
            <a:avLst/>
          </a:prstGeom>
          <a:noFill/>
          <a:ln w="9525">
            <a:noFill/>
            <a:miter lim="800000"/>
          </a:ln>
        </p:spPr>
        <p:txBody>
          <a:bodyPr/>
          <a:lstStyle/>
          <a:p>
            <a:pPr marL="342900" marR="0" indent="-342900" defTabSz="914400">
              <a:spcBef>
                <a:spcPct val="20000"/>
              </a:spcBef>
              <a:buClrTx/>
              <a:buSzPct val="100000"/>
              <a:buFont typeface="Wingdings" panose="05000000000000000000" pitchFamily="2" charset="2"/>
              <a:buNone/>
              <a:defRPr/>
            </a:pPr>
            <a:r>
              <a:rPr kumimoji="0" lang="zh-CN" altLang="en-US" sz="2665" b="1" kern="0" cap="none" spc="0" normalizeH="0" baseline="0" noProof="0" dirty="0">
                <a:latin typeface="+mn-lt"/>
                <a:ea typeface="+mn-ea"/>
                <a:cs typeface="+mn-cs"/>
              </a:rPr>
              <a:t>例如，数据库规定不能查询除了自己（</a:t>
            </a:r>
            <a:r>
              <a:rPr kumimoji="0" lang="en-US" altLang="zh-CN" sz="2665" b="1" kern="0" cap="none" spc="0" normalizeH="0" baseline="0" noProof="0" dirty="0">
                <a:latin typeface="+mn-lt"/>
                <a:ea typeface="+mn-ea"/>
                <a:cs typeface="+mn-cs"/>
              </a:rPr>
              <a:t>me</a:t>
            </a:r>
            <a:r>
              <a:rPr kumimoji="0" lang="zh-CN" altLang="en-US" sz="2665" b="1" kern="0" cap="none" spc="0" normalizeH="0" baseline="0" noProof="0" dirty="0">
                <a:latin typeface="+mn-lt"/>
                <a:ea typeface="+mn-ea"/>
                <a:cs typeface="+mn-cs"/>
              </a:rPr>
              <a:t>）之外的某个特定学生（</a:t>
            </a:r>
            <a:r>
              <a:rPr kumimoji="0" lang="en-US" altLang="zh-CN" sz="2665" b="1" kern="0" cap="none" spc="0" normalizeH="0" baseline="0" noProof="0" dirty="0">
                <a:latin typeface="+mn-lt"/>
                <a:ea typeface="+mn-ea"/>
                <a:cs typeface="+mn-cs"/>
              </a:rPr>
              <a:t>x</a:t>
            </a:r>
            <a:r>
              <a:rPr kumimoji="0" lang="zh-CN" altLang="en-US" sz="2665" b="1" kern="0" cap="none" spc="0" normalizeH="0" baseline="0" noProof="0" dirty="0">
                <a:latin typeface="+mn-lt"/>
                <a:ea typeface="+mn-ea"/>
                <a:cs typeface="+mn-cs"/>
              </a:rPr>
              <a:t>）的成绩，但是可以查询总成绩</a:t>
            </a:r>
            <a:endParaRPr kumimoji="0" lang="en-US" altLang="zh-CN" sz="2665" b="1" kern="0" cap="none" spc="0" normalizeH="0" baseline="0" noProof="0" dirty="0">
              <a:latin typeface="+mn-lt"/>
              <a:ea typeface="+mn-ea"/>
              <a:cs typeface="+mn-cs"/>
            </a:endParaRPr>
          </a:p>
          <a:p>
            <a:pPr marL="342900" marR="0" indent="-342900" defTabSz="914400">
              <a:spcBef>
                <a:spcPct val="20000"/>
              </a:spcBef>
              <a:buClrTx/>
              <a:buSzPct val="100000"/>
              <a:buFont typeface="Wingdings" panose="05000000000000000000" pitchFamily="2" charset="2"/>
              <a:buNone/>
              <a:defRPr/>
            </a:pPr>
            <a:r>
              <a:rPr kumimoji="0" lang="zh-CN" altLang="en-US" sz="2665" b="1" kern="0" cap="none" spc="0" normalizeH="0" baseline="0" noProof="0" dirty="0">
                <a:latin typeface="+mn-lt"/>
                <a:ea typeface="+mn-ea"/>
                <a:cs typeface="+mn-cs"/>
              </a:rPr>
              <a:t>查询</a:t>
            </a:r>
            <a:r>
              <a:rPr kumimoji="0" lang="en-US" altLang="zh-CN" sz="2665" b="1" kern="0" cap="none" spc="0" normalizeH="0" baseline="0" noProof="0" dirty="0">
                <a:latin typeface="+mn-lt"/>
                <a:ea typeface="+mn-ea"/>
                <a:cs typeface="+mn-cs"/>
              </a:rPr>
              <a:t>1 </a:t>
            </a:r>
            <a:r>
              <a:rPr kumimoji="0" lang="zh-CN" altLang="en-US" sz="2665" b="1" kern="0" cap="none" spc="0" normalizeH="0" baseline="0" noProof="0" dirty="0">
                <a:latin typeface="+mn-lt"/>
                <a:ea typeface="+mn-ea"/>
                <a:cs typeface="+mn-cs"/>
              </a:rPr>
              <a:t>：查询全部学生的总成绩，</a:t>
            </a:r>
            <a:r>
              <a:rPr kumimoji="0" lang="en-US" altLang="zh-CN" sz="2665" b="1" kern="0" cap="none" spc="0" normalizeH="0" baseline="0" noProof="0" dirty="0">
                <a:latin typeface="+mn-lt"/>
                <a:ea typeface="+mn-ea"/>
                <a:cs typeface="+mn-cs"/>
              </a:rPr>
              <a:t>S1</a:t>
            </a:r>
            <a:endParaRPr kumimoji="0" lang="en-US" altLang="zh-CN" sz="2665" b="1" kern="0" cap="none" spc="0" normalizeH="0" baseline="0" noProof="0" dirty="0">
              <a:latin typeface="+mn-lt"/>
              <a:ea typeface="+mn-ea"/>
              <a:cs typeface="+mn-cs"/>
            </a:endParaRPr>
          </a:p>
          <a:p>
            <a:pPr marL="342900" marR="0" indent="-342900" defTabSz="914400">
              <a:spcBef>
                <a:spcPct val="20000"/>
              </a:spcBef>
              <a:buClrTx/>
              <a:buSzPct val="100000"/>
              <a:buFont typeface="Wingdings" panose="05000000000000000000" pitchFamily="2" charset="2"/>
              <a:buNone/>
              <a:defRPr/>
            </a:pPr>
            <a:r>
              <a:rPr kumimoji="0" lang="zh-CN" altLang="en-US" sz="2665" b="1" kern="0" cap="none" spc="0" normalizeH="0" baseline="0" noProof="0" dirty="0">
                <a:latin typeface="+mn-lt"/>
                <a:ea typeface="+mn-ea"/>
                <a:cs typeface="+mn-cs"/>
              </a:rPr>
              <a:t>查询</a:t>
            </a:r>
            <a:r>
              <a:rPr kumimoji="0" lang="en-US" altLang="zh-CN" sz="2665" b="1" kern="0" cap="none" spc="0" normalizeH="0" baseline="0" noProof="0" dirty="0">
                <a:latin typeface="+mn-lt"/>
                <a:ea typeface="+mn-ea"/>
                <a:cs typeface="+mn-cs"/>
              </a:rPr>
              <a:t>2</a:t>
            </a:r>
            <a:r>
              <a:rPr kumimoji="0" lang="zh-CN" altLang="en-US" sz="2665" b="1" kern="0" cap="none" spc="0" normalizeH="0" baseline="0" noProof="0" dirty="0">
                <a:latin typeface="+mn-lt"/>
                <a:ea typeface="+mn-ea"/>
                <a:cs typeface="+mn-cs"/>
              </a:rPr>
              <a:t>：查询全部学生（除了</a:t>
            </a:r>
            <a:r>
              <a:rPr kumimoji="0" lang="en-US" altLang="zh-CN" sz="2665" b="1" kern="0" cap="none" spc="0" normalizeH="0" baseline="0" noProof="0" dirty="0">
                <a:latin typeface="+mn-lt"/>
                <a:ea typeface="+mn-ea"/>
                <a:cs typeface="+mn-cs"/>
              </a:rPr>
              <a:t>x</a:t>
            </a:r>
            <a:r>
              <a:rPr kumimoji="0" lang="zh-CN" altLang="en-US" sz="2665" b="1" kern="0" cap="none" spc="0" normalizeH="0" baseline="0" noProof="0" dirty="0">
                <a:latin typeface="+mn-lt"/>
                <a:ea typeface="+mn-ea"/>
                <a:cs typeface="+mn-cs"/>
              </a:rPr>
              <a:t>）的总成绩，</a:t>
            </a:r>
            <a:r>
              <a:rPr kumimoji="0" lang="en-US" altLang="zh-CN" sz="2665" b="1" kern="0" cap="none" spc="0" normalizeH="0" baseline="0" noProof="0" dirty="0">
                <a:latin typeface="+mn-lt"/>
                <a:ea typeface="+mn-ea"/>
                <a:cs typeface="+mn-cs"/>
              </a:rPr>
              <a:t>S2</a:t>
            </a:r>
            <a:endParaRPr kumimoji="0" lang="en-US" altLang="zh-CN" sz="2665" b="1" kern="0" cap="none" spc="0" normalizeH="0" baseline="0" noProof="0" dirty="0">
              <a:latin typeface="+mn-lt"/>
              <a:ea typeface="+mn-ea"/>
              <a:cs typeface="+mn-cs"/>
            </a:endParaRPr>
          </a:p>
          <a:p>
            <a:pPr marL="342900" marR="0" indent="-342900" defTabSz="914400">
              <a:spcBef>
                <a:spcPct val="20000"/>
              </a:spcBef>
              <a:buClrTx/>
              <a:buSzPct val="100000"/>
              <a:buFont typeface="Wingdings" panose="05000000000000000000" pitchFamily="2" charset="2"/>
              <a:buNone/>
              <a:defRPr/>
            </a:pPr>
            <a:r>
              <a:rPr kumimoji="0" lang="zh-CN" altLang="en-US" sz="2665" b="1" kern="0" cap="none" spc="0" normalizeH="0" baseline="0" noProof="0" dirty="0">
                <a:latin typeface="+mn-lt"/>
                <a:ea typeface="+mn-ea"/>
                <a:cs typeface="+mn-cs"/>
              </a:rPr>
              <a:t>那么</a:t>
            </a:r>
            <a:r>
              <a:rPr kumimoji="0" lang="en-US" altLang="zh-CN" sz="2665" b="1" kern="0" cap="none" spc="0" normalizeH="0" baseline="0" noProof="0" dirty="0">
                <a:latin typeface="+mn-lt"/>
                <a:ea typeface="+mn-ea"/>
                <a:cs typeface="+mn-cs"/>
              </a:rPr>
              <a:t>x</a:t>
            </a:r>
            <a:r>
              <a:rPr kumimoji="0" lang="zh-CN" altLang="en-US" sz="2665" b="1" kern="0" cap="none" spc="0" normalizeH="0" baseline="0" noProof="0" dirty="0">
                <a:latin typeface="+mn-lt"/>
                <a:ea typeface="+mn-ea"/>
                <a:cs typeface="+mn-cs"/>
              </a:rPr>
              <a:t>的成绩</a:t>
            </a:r>
            <a:r>
              <a:rPr kumimoji="0" lang="en-US" altLang="zh-CN" sz="2665" b="1" kern="0" cap="none" spc="0" normalizeH="0" baseline="0" noProof="0" dirty="0">
                <a:latin typeface="+mn-lt"/>
                <a:ea typeface="+mn-ea"/>
                <a:cs typeface="+mn-cs"/>
              </a:rPr>
              <a:t>= S2-S1</a:t>
            </a:r>
            <a:endParaRPr kumimoji="0" lang="zh-CN" altLang="en-US" sz="2665" b="1" kern="0" cap="none" spc="0" normalizeH="0" baseline="0" noProof="0" dirty="0">
              <a:latin typeface="+mn-lt"/>
              <a:ea typeface="+mn-ea"/>
              <a:cs typeface="+mn-cs"/>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0594" name="Rectangle 2"/>
          <p:cNvSpPr>
            <a:spLocks noGrp="1" noChangeArrowheads="1"/>
          </p:cNvSpPr>
          <p:nvPr>
            <p:ph type="title" idx="4294967295"/>
          </p:nvPr>
        </p:nvSpPr>
        <p:spPr/>
        <p:txBody>
          <a:bodyPr/>
          <a:lstStyle/>
          <a:p>
            <a:pPr eaLnBrk="1" hangingPunct="1"/>
            <a:r>
              <a:rPr lang="zh-CN" altLang="en-US" sz="3600"/>
              <a:t>其他安全性保护（续）</a:t>
            </a:r>
            <a:endParaRPr lang="zh-CN" altLang="en-US" sz="3600"/>
          </a:p>
        </p:txBody>
      </p:sp>
      <p:sp>
        <p:nvSpPr>
          <p:cNvPr id="110595" name="Rectangle 3"/>
          <p:cNvSpPr>
            <a:spLocks noGrp="1" noChangeArrowheads="1"/>
          </p:cNvSpPr>
          <p:nvPr>
            <p:ph type="body" idx="4294967295"/>
          </p:nvPr>
        </p:nvSpPr>
        <p:spPr>
          <a:xfrm>
            <a:off x="695400" y="1700808"/>
            <a:ext cx="10801200" cy="4087018"/>
          </a:xfrm>
        </p:spPr>
        <p:txBody>
          <a:bodyPr/>
          <a:lstStyle/>
          <a:p>
            <a:pPr eaLnBrk="1" hangingPunct="1">
              <a:lnSpc>
                <a:spcPct val="120000"/>
              </a:lnSpc>
              <a:spcBef>
                <a:spcPct val="0"/>
              </a:spcBef>
              <a:defRPr/>
            </a:pPr>
            <a:r>
              <a:rPr lang="zh-CN" altLang="en-US" dirty="0"/>
              <a:t>数据隐私保护</a:t>
            </a:r>
            <a:endParaRPr lang="en-US" altLang="zh-CN" dirty="0"/>
          </a:p>
          <a:p>
            <a:pPr lvl="1" eaLnBrk="1" hangingPunct="1">
              <a:lnSpc>
                <a:spcPct val="120000"/>
              </a:lnSpc>
              <a:spcBef>
                <a:spcPct val="0"/>
              </a:spcBef>
              <a:defRPr/>
            </a:pPr>
            <a:r>
              <a:rPr lang="zh-CN" altLang="zh-CN" dirty="0"/>
              <a:t>控制不愿他人知道或他人不便知道的个人数据的能力</a:t>
            </a:r>
            <a:endParaRPr lang="en-US" altLang="zh-CN" dirty="0"/>
          </a:p>
          <a:p>
            <a:pPr lvl="1" eaLnBrk="1" hangingPunct="1">
              <a:lnSpc>
                <a:spcPct val="120000"/>
              </a:lnSpc>
              <a:spcBef>
                <a:spcPct val="0"/>
              </a:spcBef>
              <a:defRPr/>
            </a:pPr>
            <a:r>
              <a:rPr lang="zh-CN" altLang="zh-CN" dirty="0"/>
              <a:t>范围很广</a:t>
            </a:r>
            <a:r>
              <a:rPr lang="zh-CN" altLang="en-US" dirty="0"/>
              <a:t>：</a:t>
            </a:r>
            <a:r>
              <a:rPr lang="zh-CN" altLang="zh-CN" dirty="0"/>
              <a:t>数据收集、数据存储、数据处理和数据发布等各个阶段</a:t>
            </a:r>
            <a:endParaRPr lang="zh-CN" altLang="zh-CN" dirty="0"/>
          </a:p>
          <a:p>
            <a:pPr lvl="1" eaLnBrk="1" hangingPunct="1">
              <a:lnSpc>
                <a:spcPct val="120000"/>
              </a:lnSpc>
              <a:spcBef>
                <a:spcPct val="0"/>
              </a:spcBef>
              <a:defRPr/>
            </a:pPr>
            <a:r>
              <a:rPr lang="zh-CN" altLang="zh-CN" dirty="0"/>
              <a:t>强调数据</a:t>
            </a:r>
            <a:r>
              <a:rPr lang="en-US" altLang="zh-CN" dirty="0"/>
              <a:t>“</a:t>
            </a:r>
            <a:r>
              <a:rPr lang="zh-CN" altLang="zh-CN" dirty="0"/>
              <a:t>可用不可见</a:t>
            </a:r>
            <a:r>
              <a:rPr lang="en-US" altLang="zh-CN" dirty="0"/>
              <a:t>”</a:t>
            </a:r>
            <a:endParaRPr lang="en-US" altLang="zh-CN" dirty="0"/>
          </a:p>
          <a:p>
            <a:pPr lvl="1" eaLnBrk="1" hangingPunct="1">
              <a:lnSpc>
                <a:spcPct val="120000"/>
              </a:lnSpc>
              <a:spcBef>
                <a:spcPct val="0"/>
              </a:spcBef>
              <a:defRPr/>
            </a:pPr>
            <a:endParaRPr lang="en-US" altLang="zh-CN" dirty="0"/>
          </a:p>
          <a:p>
            <a:pPr eaLnBrk="1" hangingPunct="1">
              <a:lnSpc>
                <a:spcPct val="120000"/>
              </a:lnSpc>
              <a:spcBef>
                <a:spcPct val="0"/>
              </a:spcBef>
              <a:defRPr/>
            </a:pPr>
            <a:r>
              <a:rPr lang="zh-CN" altLang="en-US" dirty="0"/>
              <a:t>“三权分立”的安全管理机制</a:t>
            </a:r>
            <a:endParaRPr lang="en-US" altLang="zh-CN" dirty="0"/>
          </a:p>
          <a:p>
            <a:pPr lvl="1" eaLnBrk="1" hangingPunct="1">
              <a:lnSpc>
                <a:spcPct val="120000"/>
              </a:lnSpc>
              <a:spcBef>
                <a:spcPct val="0"/>
              </a:spcBef>
              <a:defRPr/>
            </a:pPr>
            <a:r>
              <a:rPr lang="zh-CN" altLang="en-US" dirty="0"/>
              <a:t>解决数据库管理员权限过于集中的问题，遵照</a:t>
            </a:r>
            <a:r>
              <a:rPr lang="en-US" altLang="zh-CN" dirty="0"/>
              <a:t>GB/T20273-2019</a:t>
            </a:r>
            <a:r>
              <a:rPr lang="zh-CN" altLang="en-US" dirty="0"/>
              <a:t>，引进“三权分立”的安全管理机制</a:t>
            </a:r>
            <a:endParaRPr lang="en-US" altLang="zh-CN" dirty="0"/>
          </a:p>
          <a:p>
            <a:pPr marL="457200" lvl="1" indent="0" eaLnBrk="1" hangingPunct="1">
              <a:lnSpc>
                <a:spcPct val="120000"/>
              </a:lnSpc>
              <a:spcBef>
                <a:spcPct val="0"/>
              </a:spcBef>
              <a:buNone/>
              <a:defRPr/>
            </a:pPr>
            <a:endParaRPr lang="en-US" altLang="zh-CN" dirty="0"/>
          </a:p>
          <a:p>
            <a:pPr marL="457200" lvl="1" indent="0" eaLnBrk="1" hangingPunct="1">
              <a:lnSpc>
                <a:spcPct val="120000"/>
              </a:lnSpc>
              <a:spcBef>
                <a:spcPct val="0"/>
              </a:spcBef>
              <a:buNone/>
              <a:defRPr/>
            </a:pPr>
            <a:endParaRPr lang="en-US" altLang="zh-CN" dirty="0"/>
          </a:p>
          <a:p>
            <a:pPr lvl="1" eaLnBrk="1" hangingPunct="1">
              <a:lnSpc>
                <a:spcPct val="120000"/>
              </a:lnSpc>
              <a:spcBef>
                <a:spcPct val="0"/>
              </a:spcBef>
              <a:defRPr/>
            </a:pPr>
            <a:endParaRPr lang="en-US" altLang="zh-CN" dirty="0"/>
          </a:p>
          <a:p>
            <a:pPr marL="457200" lvl="1" indent="0" eaLnBrk="1" hangingPunct="1">
              <a:lnSpc>
                <a:spcPct val="120000"/>
              </a:lnSpc>
              <a:spcBef>
                <a:spcPct val="0"/>
              </a:spcBef>
              <a:buNone/>
              <a:defRPr/>
            </a:pPr>
            <a:endParaRPr lang="en-US" altLang="zh-CN"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1618" name="Rectangle 2"/>
          <p:cNvSpPr>
            <a:spLocks noGrp="1" noChangeArrowheads="1"/>
          </p:cNvSpPr>
          <p:nvPr>
            <p:ph type="title" idx="4294967295"/>
          </p:nvPr>
        </p:nvSpPr>
        <p:spPr/>
        <p:txBody>
          <a:bodyPr/>
          <a:lstStyle/>
          <a:p>
            <a:pPr algn="ctr" eaLnBrk="1" hangingPunct="1">
              <a:defRPr/>
            </a:pPr>
            <a:r>
              <a:rPr lang="zh-CN" altLang="en-US" sz="3600" dirty="0">
                <a:latin typeface="宋体" panose="02010600030101010101" pitchFamily="2" charset="-122"/>
              </a:rPr>
              <a:t>二维码</a:t>
            </a:r>
            <a:r>
              <a:rPr lang="en-US" altLang="zh-CN" sz="3600" dirty="0">
                <a:latin typeface="宋体" panose="02010600030101010101" pitchFamily="2" charset="-122"/>
              </a:rPr>
              <a:t>4.3</a:t>
            </a:r>
            <a:endParaRPr lang="zh-CN" altLang="en-US" sz="3600" dirty="0">
              <a:latin typeface="宋体" panose="02010600030101010101" pitchFamily="2" charset="-122"/>
            </a:endParaRPr>
          </a:p>
        </p:txBody>
      </p:sp>
      <p:sp>
        <p:nvSpPr>
          <p:cNvPr id="111619" name="Rectangle 3"/>
          <p:cNvSpPr>
            <a:spLocks noGrp="1" noChangeArrowheads="1"/>
          </p:cNvSpPr>
          <p:nvPr>
            <p:ph type="body" idx="4294967295"/>
          </p:nvPr>
        </p:nvSpPr>
        <p:spPr>
          <a:xfrm>
            <a:off x="1981200" y="1196975"/>
            <a:ext cx="8229600" cy="4895850"/>
          </a:xfrm>
        </p:spPr>
        <p:txBody>
          <a:bodyPr/>
          <a:lstStyle/>
          <a:p>
            <a:pPr marL="457200" lvl="1" indent="0" eaLnBrk="1" hangingPunct="1">
              <a:lnSpc>
                <a:spcPct val="120000"/>
              </a:lnSpc>
              <a:spcBef>
                <a:spcPct val="0"/>
              </a:spcBef>
              <a:buNone/>
            </a:pPr>
            <a:r>
              <a:rPr lang="zh-CN" altLang="en-US" dirty="0"/>
              <a:t>  </a:t>
            </a:r>
            <a:endParaRPr lang="en-US" altLang="zh-CN" dirty="0"/>
          </a:p>
        </p:txBody>
      </p:sp>
      <p:sp>
        <p:nvSpPr>
          <p:cNvPr id="7" name="文本框 6"/>
          <p:cNvSpPr txBox="1"/>
          <p:nvPr/>
        </p:nvSpPr>
        <p:spPr>
          <a:xfrm>
            <a:off x="3863752" y="1988840"/>
            <a:ext cx="4815840" cy="2127570"/>
          </a:xfrm>
          <a:prstGeom prst="rect">
            <a:avLst/>
          </a:prstGeom>
          <a:noFill/>
        </p:spPr>
        <p:txBody>
          <a:bodyPr wrap="square">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三权分立的安全</a:t>
            </a:r>
            <a:endParaRPr lang="en-US" altLang="zh-CN" sz="4400" b="1" kern="0" dirty="0">
              <a:highlight>
                <a:srgbClr val="FFFF00"/>
              </a:highlight>
              <a:latin typeface="+mn-lt"/>
              <a:ea typeface="+mn-ea"/>
            </a:endParaRPr>
          </a:p>
          <a:p>
            <a:pPr algn="ctr" eaLnBrk="1" hangingPunct="1">
              <a:lnSpc>
                <a:spcPct val="150000"/>
              </a:lnSpc>
              <a:spcBef>
                <a:spcPct val="20000"/>
              </a:spcBef>
              <a:defRPr/>
            </a:pPr>
            <a:r>
              <a:rPr lang="zh-CN" altLang="en-US" sz="4400" b="1" kern="0" dirty="0">
                <a:highlight>
                  <a:srgbClr val="FFFF00"/>
                </a:highlight>
                <a:latin typeface="+mn-lt"/>
                <a:ea typeface="+mn-ea"/>
              </a:rPr>
              <a:t>管理制度</a:t>
            </a:r>
            <a:endParaRPr lang="zh-CN" altLang="en-US" sz="4400" b="1" kern="0" dirty="0">
              <a:highlight>
                <a:srgbClr val="FFFF00"/>
              </a:highlight>
              <a:latin typeface="+mn-lt"/>
              <a:ea typeface="+mn-ea"/>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vert="horz" wrap="square" lIns="121920" tIns="60960" rIns="121920" bIns="6096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3735" b="1" i="0" u="none" strike="noStrike" kern="0" cap="none" spc="0" normalizeH="0" baseline="0" noProof="0" dirty="0" smtClean="0">
                <a:ln>
                  <a:noFill/>
                </a:ln>
                <a:solidFill>
                  <a:schemeClr val="tx1"/>
                </a:solidFill>
                <a:effectLst/>
                <a:uLnTx/>
                <a:uFillTx/>
                <a:latin typeface="+mn-lt"/>
                <a:ea typeface="+mn-ea"/>
                <a:cs typeface="+mn-cs"/>
              </a:rPr>
              <a:t>DBA</a:t>
            </a: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在数据库系统中是“上帝”的存在，如果</a:t>
            </a:r>
            <a:r>
              <a:rPr kumimoji="0" lang="en-US" altLang="zh-CN" sz="3735" b="1" i="0" u="none" strike="noStrike" kern="0" cap="none" spc="0" normalizeH="0" baseline="0" noProof="0" dirty="0" smtClean="0">
                <a:ln>
                  <a:noFill/>
                </a:ln>
                <a:solidFill>
                  <a:schemeClr val="tx1"/>
                </a:solidFill>
                <a:effectLst/>
                <a:uLnTx/>
                <a:uFillTx/>
                <a:latin typeface="+mn-lt"/>
                <a:ea typeface="+mn-ea"/>
                <a:cs typeface="+mn-cs"/>
              </a:rPr>
              <a:t>DBA</a:t>
            </a: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不被信任，怎么办？</a:t>
            </a:r>
            <a:endParaRPr kumimoji="0" lang="en-US" altLang="zh-CN" sz="3735"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en-US" altLang="zh-CN" sz="3735"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场景</a:t>
            </a:r>
            <a:r>
              <a:rPr kumimoji="0" lang="en-US" altLang="zh-CN" sz="3735" b="1"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：上市公司的信息披露</a:t>
            </a:r>
            <a:endParaRPr kumimoji="0" lang="en-US" altLang="zh-CN" sz="3735"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 场景</a:t>
            </a:r>
            <a:r>
              <a:rPr kumimoji="0" lang="en-US" altLang="zh-CN" sz="3735" b="1" i="0" u="none" strike="noStrike" kern="0" cap="none" spc="0" normalizeH="0" baseline="0" noProof="0" dirty="0" smtClean="0">
                <a:ln>
                  <a:noFill/>
                </a:ln>
                <a:solidFill>
                  <a:schemeClr val="tx1"/>
                </a:solidFill>
                <a:effectLst/>
                <a:uLnTx/>
                <a:uFillTx/>
                <a:latin typeface="+mn-lt"/>
                <a:ea typeface="+mn-ea"/>
                <a:cs typeface="+mn-cs"/>
              </a:rPr>
              <a:t>2</a:t>
            </a: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：学生成绩查询和问答系统（学生开发）</a:t>
            </a:r>
            <a:endParaRPr kumimoji="0" lang="en-US" altLang="zh-CN" sz="3735"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en-US" altLang="zh-CN" sz="3735"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0" lang="zh-CN" altLang="en-US" sz="3735" b="1" i="0" u="none" strike="noStrike" kern="0" cap="none" spc="0" normalizeH="0" baseline="0" noProof="0" dirty="0" smtClean="0">
                <a:ln>
                  <a:noFill/>
                </a:ln>
                <a:solidFill>
                  <a:schemeClr val="tx1"/>
                </a:solidFill>
                <a:effectLst/>
                <a:uLnTx/>
                <a:uFillTx/>
                <a:latin typeface="+mn-lt"/>
                <a:ea typeface="+mn-ea"/>
                <a:cs typeface="+mn-cs"/>
              </a:rPr>
              <a:t>你觉得有什么好办法吗</a:t>
            </a:r>
            <a:r>
              <a:rPr kumimoji="0" lang="en-US" altLang="zh-CN" sz="3735"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3735"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735" b="1" i="0" u="none" strike="noStrike" kern="0" cap="none" spc="0" normalizeH="0" baseline="0" noProof="0" dirty="0">
              <a:ln>
                <a:noFill/>
              </a:ln>
              <a:solidFill>
                <a:schemeClr val="tx1"/>
              </a:solidFill>
              <a:effectLst/>
              <a:uLnTx/>
              <a:uFillTx/>
              <a:latin typeface="+mn-lt"/>
              <a:ea typeface="+mn-ea"/>
              <a:cs typeface="+mn-cs"/>
            </a:endParaRPr>
          </a:p>
        </p:txBody>
      </p:sp>
      <p:sp>
        <p:nvSpPr>
          <p:cNvPr id="78851" name="标题 1"/>
          <p:cNvSpPr>
            <a:spLocks noGrp="1"/>
          </p:cNvSpPr>
          <p:nvPr>
            <p:ph type="title"/>
          </p:nvPr>
        </p:nvSpPr>
        <p:spPr/>
        <p:txBody>
          <a:bodyPr vert="horz" wrap="square" lIns="121920" tIns="60960" rIns="121920" bIns="60960" anchor="ctr" anchorCtr="0"/>
          <a:p>
            <a:r>
              <a:rPr lang="zh-CN" altLang="en-US" dirty="0"/>
              <a:t>讨论：</a:t>
            </a:r>
            <a:r>
              <a:rPr lang="en-US" altLang="zh-CN" dirty="0"/>
              <a:t>DBA</a:t>
            </a:r>
            <a:r>
              <a:rPr lang="zh-CN" altLang="en-US" dirty="0"/>
              <a:t>与数据库安全</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2"/>
          <p:cNvSpPr>
            <a:spLocks noGrp="1"/>
          </p:cNvSpPr>
          <p:nvPr>
            <p:ph idx="1"/>
          </p:nvPr>
        </p:nvSpPr>
        <p:spPr>
          <a:xfrm>
            <a:off x="609600" y="1339851"/>
            <a:ext cx="11247967" cy="4855633"/>
          </a:xfrm>
        </p:spPr>
        <p:txBody>
          <a:bodyPr vert="horz" wrap="square" lIns="121920" tIns="60960" rIns="121920" bIns="60960" anchor="t" anchorCtr="0"/>
          <a:p>
            <a:r>
              <a:rPr lang="zh-CN" altLang="en-US" dirty="0"/>
              <a:t>方案</a:t>
            </a:r>
            <a:r>
              <a:rPr lang="en-US" altLang="zh-CN" dirty="0"/>
              <a:t>1</a:t>
            </a:r>
            <a:r>
              <a:rPr lang="zh-CN" altLang="en-US" dirty="0"/>
              <a:t>：数据加密存储。</a:t>
            </a:r>
            <a:endParaRPr lang="en-US" altLang="zh-CN" dirty="0"/>
          </a:p>
          <a:p>
            <a:pPr lvl="1"/>
            <a:r>
              <a:rPr lang="zh-CN" altLang="en-US" dirty="0"/>
              <a:t>对</a:t>
            </a:r>
            <a:r>
              <a:rPr lang="en-US" altLang="zh-CN" dirty="0"/>
              <a:t>DBA</a:t>
            </a:r>
            <a:r>
              <a:rPr lang="zh-CN" altLang="en-US" dirty="0"/>
              <a:t>这没有用！</a:t>
            </a:r>
            <a:endParaRPr lang="en-US" altLang="zh-CN" dirty="0"/>
          </a:p>
          <a:p>
            <a:r>
              <a:rPr lang="zh-CN" altLang="en-US" dirty="0"/>
              <a:t>方案</a:t>
            </a:r>
            <a:r>
              <a:rPr lang="en-US" altLang="zh-CN" dirty="0"/>
              <a:t>2</a:t>
            </a:r>
            <a:r>
              <a:rPr lang="zh-CN" altLang="en-US" dirty="0"/>
              <a:t>：打开审计功能，记录</a:t>
            </a:r>
            <a:r>
              <a:rPr lang="en-US" altLang="zh-CN" dirty="0"/>
              <a:t>DBA </a:t>
            </a:r>
            <a:r>
              <a:rPr lang="zh-CN" altLang="en-US" dirty="0"/>
              <a:t>行为。</a:t>
            </a:r>
            <a:endParaRPr lang="en-US" altLang="zh-CN" dirty="0"/>
          </a:p>
          <a:p>
            <a:pPr lvl="1"/>
            <a:r>
              <a:rPr lang="zh-CN" altLang="en-US" dirty="0"/>
              <a:t>可以发现问题，但是不可避免问题</a:t>
            </a:r>
            <a:endParaRPr lang="en-US" altLang="zh-CN" dirty="0"/>
          </a:p>
          <a:p>
            <a:r>
              <a:rPr lang="zh-CN" altLang="en-US" dirty="0"/>
              <a:t>方案</a:t>
            </a:r>
            <a:r>
              <a:rPr lang="en-US" altLang="zh-CN" dirty="0"/>
              <a:t>3</a:t>
            </a:r>
            <a:r>
              <a:rPr lang="zh-CN" altLang="en-US" dirty="0"/>
              <a:t>：“三权分立”：管理员，安全员，审计员（需要数据库管理系统支持）</a:t>
            </a:r>
            <a:endParaRPr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42" name="Rectangle 2"/>
          <p:cNvSpPr>
            <a:spLocks noGrp="1" noChangeArrowheads="1"/>
          </p:cNvSpPr>
          <p:nvPr>
            <p:ph type="title" idx="4294967295"/>
          </p:nvPr>
        </p:nvSpPr>
        <p:spPr/>
        <p:txBody>
          <a:bodyPr/>
          <a:lstStyle/>
          <a:p>
            <a:pPr eaLnBrk="1" hangingPunct="1"/>
            <a:r>
              <a:rPr lang="zh-CN" altLang="zh-CN" sz="3600"/>
              <a:t>第四章  数据库安全性</a:t>
            </a:r>
            <a:endParaRPr lang="zh-CN" altLang="zh-CN" sz="3600"/>
          </a:p>
        </p:txBody>
      </p:sp>
      <p:sp>
        <p:nvSpPr>
          <p:cNvPr id="112643" name="Rectangle 3"/>
          <p:cNvSpPr>
            <a:spLocks noGrp="1" noChangeArrowheads="1"/>
          </p:cNvSpPr>
          <p:nvPr>
            <p:ph type="body" idx="4294967295"/>
          </p:nvPr>
        </p:nvSpPr>
        <p:spPr>
          <a:xfrm>
            <a:off x="1055440" y="1340768"/>
            <a:ext cx="8229600" cy="4495800"/>
          </a:xfrm>
        </p:spPr>
        <p:txBody>
          <a:bodyPr/>
          <a:lstStyle/>
          <a:p>
            <a:pPr algn="just" eaLnBrk="1" hangingPunct="1">
              <a:lnSpc>
                <a:spcPct val="130000"/>
              </a:lnSpc>
              <a:buFont typeface="Wingdings" panose="05000000000000000000" pitchFamily="2" charset="2"/>
              <a:buNone/>
            </a:pPr>
            <a:r>
              <a:rPr lang="en-US" altLang="zh-CN" dirty="0"/>
              <a:t>4.1  </a:t>
            </a:r>
            <a:r>
              <a:rPr lang="zh-CN" altLang="en-US" dirty="0"/>
              <a:t>数据库安全性概述</a:t>
            </a:r>
            <a:endParaRPr lang="zh-CN" altLang="en-US" dirty="0"/>
          </a:p>
          <a:p>
            <a:pPr algn="just" eaLnBrk="1" hangingPunct="1">
              <a:lnSpc>
                <a:spcPct val="130000"/>
              </a:lnSpc>
              <a:buFont typeface="Wingdings" panose="05000000000000000000" pitchFamily="2" charset="2"/>
              <a:buNone/>
            </a:pPr>
            <a:r>
              <a:rPr lang="en-US" altLang="zh-CN" dirty="0"/>
              <a:t>4.2  </a:t>
            </a:r>
            <a:r>
              <a:rPr lang="zh-CN" altLang="en-US" dirty="0"/>
              <a:t>数据库安全性控制</a:t>
            </a:r>
            <a:endParaRPr lang="zh-CN" altLang="en-US" dirty="0"/>
          </a:p>
          <a:p>
            <a:pPr algn="just" eaLnBrk="1" hangingPunct="1">
              <a:lnSpc>
                <a:spcPct val="130000"/>
              </a:lnSpc>
              <a:buFont typeface="Wingdings" panose="05000000000000000000" pitchFamily="2" charset="2"/>
              <a:buNone/>
            </a:pPr>
            <a:r>
              <a:rPr lang="en-US" altLang="zh-CN" dirty="0"/>
              <a:t>4.3  </a:t>
            </a:r>
            <a:r>
              <a:rPr lang="zh-CN" altLang="en-US" dirty="0"/>
              <a:t>视图机制</a:t>
            </a:r>
            <a:endParaRPr lang="zh-CN" altLang="en-US" dirty="0"/>
          </a:p>
          <a:p>
            <a:pPr algn="just" eaLnBrk="1" hangingPunct="1">
              <a:lnSpc>
                <a:spcPct val="130000"/>
              </a:lnSpc>
              <a:buFont typeface="Wingdings" panose="05000000000000000000" pitchFamily="2" charset="2"/>
              <a:buNone/>
            </a:pPr>
            <a:r>
              <a:rPr lang="en-US" altLang="zh-CN" dirty="0"/>
              <a:t>4.4  </a:t>
            </a:r>
            <a:r>
              <a:rPr lang="zh-CN" altLang="en-US" dirty="0"/>
              <a:t>审计（</a:t>
            </a:r>
            <a:r>
              <a:rPr lang="en-US" altLang="zh-CN" dirty="0"/>
              <a:t>Audit</a:t>
            </a:r>
            <a:r>
              <a:rPr lang="zh-CN" altLang="en-US" dirty="0"/>
              <a:t>）</a:t>
            </a:r>
            <a:endParaRPr lang="zh-CN" altLang="en-US" dirty="0"/>
          </a:p>
          <a:p>
            <a:pPr algn="just" eaLnBrk="1" hangingPunct="1">
              <a:lnSpc>
                <a:spcPct val="130000"/>
              </a:lnSpc>
              <a:buFont typeface="Wingdings" panose="05000000000000000000" pitchFamily="2" charset="2"/>
              <a:buNone/>
            </a:pPr>
            <a:r>
              <a:rPr lang="en-US" altLang="zh-CN" dirty="0"/>
              <a:t>4.5  </a:t>
            </a:r>
            <a:r>
              <a:rPr lang="zh-CN" altLang="en-US" dirty="0"/>
              <a:t>数据加密</a:t>
            </a:r>
            <a:endParaRPr lang="zh-CN" altLang="en-US" dirty="0"/>
          </a:p>
          <a:p>
            <a:pPr algn="just" eaLnBrk="1" hangingPunct="1">
              <a:lnSpc>
                <a:spcPct val="130000"/>
              </a:lnSpc>
              <a:buFont typeface="Wingdings" panose="05000000000000000000" pitchFamily="2" charset="2"/>
              <a:buNone/>
            </a:pPr>
            <a:r>
              <a:rPr lang="en-US" altLang="zh-CN" dirty="0"/>
              <a:t>4.6  </a:t>
            </a:r>
            <a:r>
              <a:rPr lang="zh-CN" altLang="en-US" dirty="0"/>
              <a:t>其他安全 性保护</a:t>
            </a:r>
            <a:endParaRPr lang="zh-CN" altLang="en-US" dirty="0"/>
          </a:p>
          <a:p>
            <a:pPr algn="just" eaLnBrk="1" hangingPunct="1">
              <a:lnSpc>
                <a:spcPct val="130000"/>
              </a:lnSpc>
              <a:buNone/>
            </a:pPr>
            <a:r>
              <a:rPr lang="en-US" altLang="zh-CN" dirty="0">
                <a:solidFill>
                  <a:srgbClr val="0066FF"/>
                </a:solidFill>
              </a:rPr>
              <a:t>4.7  </a:t>
            </a:r>
            <a:r>
              <a:rPr lang="zh-CN" altLang="en-US" dirty="0">
                <a:solidFill>
                  <a:srgbClr val="0066FF"/>
                </a:solidFill>
              </a:rPr>
              <a:t>小结</a:t>
            </a:r>
            <a:endParaRPr lang="zh-CN" altLang="en-US" dirty="0">
              <a:solidFill>
                <a:srgbClr val="0066FF"/>
              </a:solidFill>
            </a:endParaRPr>
          </a:p>
          <a:p>
            <a:pPr eaLnBrk="1" hangingPunct="1"/>
            <a:endParaRPr lang="en-US" altLang="zh-CN" dirty="0">
              <a:solidFill>
                <a:schemeClr val="accent2"/>
              </a:solidFill>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3666" name="Rectangle 2"/>
          <p:cNvSpPr>
            <a:spLocks noGrp="1" noChangeArrowheads="1"/>
          </p:cNvSpPr>
          <p:nvPr>
            <p:ph type="title" idx="4294967295"/>
          </p:nvPr>
        </p:nvSpPr>
        <p:spPr/>
        <p:txBody>
          <a:bodyPr/>
          <a:lstStyle/>
          <a:p>
            <a:pPr eaLnBrk="1" hangingPunct="1"/>
            <a:r>
              <a:rPr lang="en-US" altLang="zh-CN" sz="3600"/>
              <a:t>4.7 </a:t>
            </a:r>
            <a:r>
              <a:rPr lang="zh-CN" altLang="en-US" sz="3600"/>
              <a:t>小结</a:t>
            </a:r>
            <a:endParaRPr lang="zh-CN" altLang="en-US" sz="3600"/>
          </a:p>
        </p:txBody>
      </p:sp>
      <p:sp>
        <p:nvSpPr>
          <p:cNvPr id="113667" name="Rectangle 3"/>
          <p:cNvSpPr>
            <a:spLocks noGrp="1" noChangeArrowheads="1"/>
          </p:cNvSpPr>
          <p:nvPr>
            <p:ph type="body" idx="4294967295"/>
          </p:nvPr>
        </p:nvSpPr>
        <p:spPr>
          <a:xfrm>
            <a:off x="921488" y="1561594"/>
            <a:ext cx="10349024" cy="4820157"/>
          </a:xfrm>
        </p:spPr>
        <p:txBody>
          <a:bodyPr/>
          <a:lstStyle/>
          <a:p>
            <a:pPr eaLnBrk="1" hangingPunct="1">
              <a:lnSpc>
                <a:spcPct val="160000"/>
              </a:lnSpc>
              <a:spcBef>
                <a:spcPct val="80000"/>
              </a:spcBef>
            </a:pPr>
            <a:r>
              <a:rPr lang="zh-CN" altLang="en-US" dirty="0"/>
              <a:t>数据库应用的日益广泛，计算机网络的发展，数据的安全保密越来越重要。</a:t>
            </a:r>
            <a:endParaRPr lang="en-US" altLang="zh-CN" dirty="0"/>
          </a:p>
          <a:p>
            <a:pPr eaLnBrk="1" hangingPunct="1">
              <a:lnSpc>
                <a:spcPct val="160000"/>
              </a:lnSpc>
              <a:spcBef>
                <a:spcPct val="80000"/>
              </a:spcBef>
            </a:pPr>
            <a:r>
              <a:rPr lang="zh-CN" altLang="en-US" dirty="0"/>
              <a:t>数据库管理系统是管理数据的核心，因而其自身必须具有一整套完整而有效的安全性机制。</a:t>
            </a:r>
            <a:endParaRPr lang="zh-CN" altLang="en-US"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4690" name="Rectangle 2"/>
          <p:cNvSpPr>
            <a:spLocks noGrp="1" noChangeArrowheads="1"/>
          </p:cNvSpPr>
          <p:nvPr>
            <p:ph type="title" idx="4294967295"/>
          </p:nvPr>
        </p:nvSpPr>
        <p:spPr/>
        <p:txBody>
          <a:bodyPr/>
          <a:lstStyle/>
          <a:p>
            <a:pPr eaLnBrk="1" hangingPunct="1"/>
            <a:r>
              <a:rPr lang="zh-CN" altLang="zh-CN" sz="3600"/>
              <a:t>小结（续）</a:t>
            </a:r>
            <a:endParaRPr lang="zh-CN" altLang="zh-CN" sz="3600"/>
          </a:p>
        </p:txBody>
      </p:sp>
      <p:sp>
        <p:nvSpPr>
          <p:cNvPr id="114691" name="Rectangle 3"/>
          <p:cNvSpPr>
            <a:spLocks noGrp="1" noChangeArrowheads="1"/>
          </p:cNvSpPr>
          <p:nvPr>
            <p:ph type="body" idx="4294967295"/>
          </p:nvPr>
        </p:nvSpPr>
        <p:spPr>
          <a:xfrm>
            <a:off x="1127448" y="1268760"/>
            <a:ext cx="8208962" cy="4678363"/>
          </a:xfrm>
        </p:spPr>
        <p:txBody>
          <a:bodyPr/>
          <a:lstStyle/>
          <a:p>
            <a:pPr eaLnBrk="1" hangingPunct="1">
              <a:lnSpc>
                <a:spcPct val="150000"/>
              </a:lnSpc>
            </a:pPr>
            <a:r>
              <a:rPr lang="zh-CN" altLang="en-US" dirty="0"/>
              <a:t>实现数据库系统安全性的技术和方法</a:t>
            </a:r>
            <a:endParaRPr lang="zh-CN" altLang="en-US" dirty="0"/>
          </a:p>
          <a:p>
            <a:pPr lvl="1" eaLnBrk="1" hangingPunct="1">
              <a:lnSpc>
                <a:spcPct val="150000"/>
              </a:lnSpc>
            </a:pPr>
            <a:r>
              <a:rPr lang="zh-CN" altLang="en-US" dirty="0"/>
              <a:t>用户身份鉴别</a:t>
            </a:r>
            <a:endParaRPr lang="zh-CN" altLang="en-US" dirty="0"/>
          </a:p>
          <a:p>
            <a:pPr lvl="1" eaLnBrk="1" hangingPunct="1">
              <a:lnSpc>
                <a:spcPct val="150000"/>
              </a:lnSpc>
            </a:pPr>
            <a:r>
              <a:rPr lang="zh-CN" altLang="en-US" dirty="0"/>
              <a:t>存取控制技术：自主存取控制和强制存取控制</a:t>
            </a:r>
            <a:endParaRPr lang="zh-CN" altLang="en-US" dirty="0"/>
          </a:p>
          <a:p>
            <a:pPr lvl="1" eaLnBrk="1" hangingPunct="1">
              <a:lnSpc>
                <a:spcPct val="150000"/>
              </a:lnSpc>
            </a:pPr>
            <a:r>
              <a:rPr lang="zh-CN" altLang="en-US" dirty="0"/>
              <a:t>视图技术</a:t>
            </a:r>
            <a:endParaRPr lang="zh-CN" altLang="en-US" dirty="0"/>
          </a:p>
          <a:p>
            <a:pPr lvl="1" eaLnBrk="1" hangingPunct="1">
              <a:lnSpc>
                <a:spcPct val="150000"/>
              </a:lnSpc>
            </a:pPr>
            <a:r>
              <a:rPr lang="zh-CN" altLang="en-US" dirty="0"/>
              <a:t>审计技术</a:t>
            </a:r>
            <a:endParaRPr lang="en-US" altLang="zh-CN" dirty="0"/>
          </a:p>
          <a:p>
            <a:pPr lvl="1" eaLnBrk="1" hangingPunct="1">
              <a:lnSpc>
                <a:spcPct val="150000"/>
              </a:lnSpc>
            </a:pPr>
            <a:r>
              <a:rPr lang="zh-CN" altLang="en-US" dirty="0"/>
              <a:t>数据加密存储和加密传输</a:t>
            </a:r>
            <a:endParaRPr lang="zh-CN" altLang="en-US"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5714" name="Rectangle 2"/>
          <p:cNvSpPr>
            <a:spLocks noGrp="1" noChangeArrowheads="1"/>
          </p:cNvSpPr>
          <p:nvPr>
            <p:ph type="title" idx="4294967295"/>
          </p:nvPr>
        </p:nvSpPr>
        <p:spPr/>
        <p:txBody>
          <a:bodyPr/>
          <a:lstStyle/>
          <a:p>
            <a:pPr eaLnBrk="1" hangingPunct="1"/>
            <a:r>
              <a:rPr lang="zh-CN" altLang="zh-CN" sz="3600"/>
              <a:t>小结（续）</a:t>
            </a:r>
            <a:endParaRPr lang="zh-CN" altLang="zh-CN" sz="3600"/>
          </a:p>
        </p:txBody>
      </p:sp>
      <p:sp>
        <p:nvSpPr>
          <p:cNvPr id="115715" name="Rectangle 3"/>
          <p:cNvSpPr>
            <a:spLocks noGrp="1" noChangeArrowheads="1"/>
          </p:cNvSpPr>
          <p:nvPr>
            <p:ph type="body" idx="4294967295"/>
          </p:nvPr>
        </p:nvSpPr>
        <p:spPr>
          <a:xfrm>
            <a:off x="640468" y="1340768"/>
            <a:ext cx="10382944" cy="4719838"/>
          </a:xfrm>
        </p:spPr>
        <p:txBody>
          <a:bodyPr/>
          <a:lstStyle/>
          <a:p>
            <a:pPr eaLnBrk="1" hangingPunct="1">
              <a:lnSpc>
                <a:spcPct val="150000"/>
              </a:lnSpc>
            </a:pPr>
            <a:r>
              <a:rPr lang="zh-CN" altLang="en-US" dirty="0"/>
              <a:t>大数据技术、云计算技术、移动互联、物联网、区块链等推动了数据库新技术的发展和应用</a:t>
            </a:r>
            <a:endParaRPr lang="en-US" altLang="zh-CN" dirty="0"/>
          </a:p>
          <a:p>
            <a:pPr eaLnBrk="1" hangingPunct="1">
              <a:lnSpc>
                <a:spcPct val="150000"/>
              </a:lnSpc>
            </a:pPr>
            <a:r>
              <a:rPr lang="zh-CN" altLang="en-US" dirty="0"/>
              <a:t>数据库安全性面临新的挑战</a:t>
            </a:r>
            <a:endParaRPr lang="en-US" altLang="zh-CN" dirty="0"/>
          </a:p>
          <a:p>
            <a:pPr lvl="1" eaLnBrk="1" hangingPunct="1">
              <a:lnSpc>
                <a:spcPct val="150000"/>
              </a:lnSpc>
            </a:pPr>
            <a:r>
              <a:rPr lang="zh-CN" altLang="en-US" dirty="0"/>
              <a:t>如云数据存储服务安全可信技术</a:t>
            </a:r>
            <a:endParaRPr lang="en-US" altLang="zh-CN" dirty="0"/>
          </a:p>
          <a:p>
            <a:pPr lvl="1" eaLnBrk="1" hangingPunct="1">
              <a:lnSpc>
                <a:spcPct val="150000"/>
              </a:lnSpc>
            </a:pPr>
            <a:r>
              <a:rPr lang="zh-CN" altLang="en-US" dirty="0"/>
              <a:t>分布数据访问控制技术</a:t>
            </a:r>
            <a:endParaRPr lang="en-US" altLang="zh-CN" dirty="0"/>
          </a:p>
          <a:p>
            <a:pPr lvl="1" eaLnBrk="1" hangingPunct="1">
              <a:lnSpc>
                <a:spcPct val="150000"/>
              </a:lnSpc>
            </a:pPr>
            <a:r>
              <a:rPr lang="zh-CN" altLang="en-US" dirty="0"/>
              <a:t>隐私保护统计数据发布技术等</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16427</Words>
  <Application>WPS 演示</Application>
  <PresentationFormat>宽屏</PresentationFormat>
  <Paragraphs>1526</Paragraphs>
  <Slides>128</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128</vt:i4>
      </vt:variant>
    </vt:vector>
  </HeadingPairs>
  <TitlesOfParts>
    <vt:vector size="141" baseType="lpstr">
      <vt:lpstr>Arial</vt:lpstr>
      <vt:lpstr>宋体</vt:lpstr>
      <vt:lpstr>Wingdings</vt:lpstr>
      <vt:lpstr>Calibri</vt:lpstr>
      <vt:lpstr>Times New Roman</vt:lpstr>
      <vt:lpstr>黑体</vt:lpstr>
      <vt:lpstr>Times-Roman</vt:lpstr>
      <vt:lpstr>隶书</vt:lpstr>
      <vt:lpstr>微软雅黑</vt:lpstr>
      <vt:lpstr>Arial Unicode MS</vt:lpstr>
      <vt:lpstr>Arial Unicode MS</vt:lpstr>
      <vt:lpstr>Therese</vt:lpstr>
      <vt:lpstr>数据库系统概论</vt:lpstr>
      <vt:lpstr>PowerPoint 演示文稿</vt:lpstr>
      <vt:lpstr> 数据库安全性</vt:lpstr>
      <vt:lpstr>PowerPoint 演示文稿</vt:lpstr>
      <vt:lpstr>PowerPoint 演示文稿</vt:lpstr>
      <vt:lpstr>PowerPoint 演示文稿</vt:lpstr>
      <vt:lpstr>第四章  数据库安全性</vt:lpstr>
      <vt:lpstr>PowerPoint 演示文稿</vt:lpstr>
      <vt:lpstr>4.1  数据库安全性概述</vt:lpstr>
      <vt:lpstr>4.1.1 数据库的不安全因素</vt:lpstr>
      <vt:lpstr>数据库的不安全因素（续）</vt:lpstr>
      <vt:lpstr>PowerPoint 演示文稿</vt:lpstr>
      <vt:lpstr>PowerPoint 演示文稿</vt:lpstr>
      <vt:lpstr>4.1  数据库安全性概述</vt:lpstr>
      <vt:lpstr>4.1.2  安全标准简介</vt:lpstr>
      <vt:lpstr>PowerPoint 演示文稿</vt:lpstr>
      <vt:lpstr>TCSEC/TDI安全级别划分</vt:lpstr>
      <vt:lpstr>TCSEC/TDI安全级别划分（续）</vt:lpstr>
      <vt:lpstr>TCSEC/TDI安全级别划分（续）</vt:lpstr>
      <vt:lpstr>TCSEC/TDI安全级别划分（续）</vt:lpstr>
      <vt:lpstr>CC</vt:lpstr>
      <vt:lpstr>CC（续）</vt:lpstr>
      <vt:lpstr>PowerPoint 演示文稿</vt:lpstr>
      <vt:lpstr>第四章  数据库安全性</vt:lpstr>
      <vt:lpstr>4.2数据库安全性控制</vt:lpstr>
      <vt:lpstr>数据库安全性控制（续）</vt:lpstr>
      <vt:lpstr>数据库安全性控制（续）</vt:lpstr>
      <vt:lpstr>PowerPoint 演示文稿</vt:lpstr>
      <vt:lpstr>4.2  数据库安全性控制</vt:lpstr>
      <vt:lpstr>4.2.1  用户身份鉴别</vt:lpstr>
      <vt:lpstr>用户身份鉴别（续）</vt:lpstr>
      <vt:lpstr>用户身份鉴别（续）</vt:lpstr>
      <vt:lpstr>用户身份鉴别（续）</vt:lpstr>
      <vt:lpstr>PowerPoint 演示文稿</vt:lpstr>
      <vt:lpstr>基于密码学的用户身份鉴别*</vt:lpstr>
      <vt:lpstr>PowerPoint 演示文稿</vt:lpstr>
      <vt:lpstr>SQL注入</vt:lpstr>
      <vt:lpstr>SQL注入</vt:lpstr>
      <vt:lpstr>4.2  数据库安全性控制</vt:lpstr>
      <vt:lpstr>4.2.2  存取控制</vt:lpstr>
      <vt:lpstr>存取控制（续）</vt:lpstr>
      <vt:lpstr>存取控制（续）</vt:lpstr>
      <vt:lpstr>4.2  数据库安全性控制</vt:lpstr>
      <vt:lpstr>4.2.3  自主存取控制方法</vt:lpstr>
      <vt:lpstr>自主存取控制方法（续）</vt:lpstr>
      <vt:lpstr>4.2  数据库安全性控制</vt:lpstr>
      <vt:lpstr>4.2.4 授权：授予与收回</vt:lpstr>
      <vt:lpstr>GRANT（续）</vt:lpstr>
      <vt:lpstr>GRANT（续）</vt:lpstr>
      <vt:lpstr>GRANT（续）</vt:lpstr>
      <vt:lpstr>GRANT（续）</vt:lpstr>
      <vt:lpstr>GRANT（续）</vt:lpstr>
      <vt:lpstr>GRANT（续）</vt:lpstr>
      <vt:lpstr>GRANT（续）</vt:lpstr>
      <vt:lpstr>GRANT（续）</vt:lpstr>
      <vt:lpstr>GRANT（续）</vt:lpstr>
      <vt:lpstr>授权：授予与收回（续）</vt:lpstr>
      <vt:lpstr>REVOKE（续）</vt:lpstr>
      <vt:lpstr>REVOKE（续）</vt:lpstr>
      <vt:lpstr>REVOKE（续）</vt:lpstr>
      <vt:lpstr>REVOKE（续）</vt:lpstr>
      <vt:lpstr>SQL灵活的授权机制</vt:lpstr>
      <vt:lpstr>授权：授予与收回（续）</vt:lpstr>
      <vt:lpstr>创建数据库的权限（续）</vt:lpstr>
      <vt:lpstr>创建数据库的权限（续）</vt:lpstr>
      <vt:lpstr>创建数据库的权限（续）</vt:lpstr>
      <vt:lpstr>创建数据库的权限（续）</vt:lpstr>
      <vt:lpstr>4.2  数据库安全性控制</vt:lpstr>
      <vt:lpstr>4.2.5 数据库角色</vt:lpstr>
      <vt:lpstr>数据库角色（续）</vt:lpstr>
      <vt:lpstr>数据库角色（续）</vt:lpstr>
      <vt:lpstr>PowerPoint 演示文稿</vt:lpstr>
      <vt:lpstr>数据库角色（续）</vt:lpstr>
      <vt:lpstr>数据库角色（续）</vt:lpstr>
      <vt:lpstr>数据库角色（续）</vt:lpstr>
      <vt:lpstr>数据库角色（续）</vt:lpstr>
      <vt:lpstr>关于权限 （PG）</vt:lpstr>
      <vt:lpstr>关于对象（PG）</vt:lpstr>
      <vt:lpstr>关于权限和对象（OpenGauss）</vt:lpstr>
      <vt:lpstr>With Grant Option</vt:lpstr>
      <vt:lpstr>openGauss</vt:lpstr>
      <vt:lpstr>PG  </vt:lpstr>
      <vt:lpstr>MySQL </vt:lpstr>
      <vt:lpstr>优秀的问题</vt:lpstr>
      <vt:lpstr>提出问题，实验验证</vt:lpstr>
      <vt:lpstr>授权相关</vt:lpstr>
      <vt:lpstr>4.2  数据库安全性控制</vt:lpstr>
      <vt:lpstr>自主存取控制缺点</vt:lpstr>
      <vt:lpstr>4.2.6  强制存取控制方法</vt:lpstr>
      <vt:lpstr>强制存取控制方法（续）</vt:lpstr>
      <vt:lpstr>强制存取控制方法（续）</vt:lpstr>
      <vt:lpstr>强制存取控制方法（续）</vt:lpstr>
      <vt:lpstr>强制存取控制方法（续）</vt:lpstr>
      <vt:lpstr>强制存取控制方法（续）</vt:lpstr>
      <vt:lpstr>DAC + MAC安全检查</vt:lpstr>
      <vt:lpstr>第四章  数据库安全性</vt:lpstr>
      <vt:lpstr>4.3  视图机制</vt:lpstr>
      <vt:lpstr>视图机制（续）</vt:lpstr>
      <vt:lpstr>视图机制（续）</vt:lpstr>
      <vt:lpstr>第四章  数据库安全性</vt:lpstr>
      <vt:lpstr>4.4  审计</vt:lpstr>
      <vt:lpstr>审计（续）</vt:lpstr>
      <vt:lpstr>审计（续）</vt:lpstr>
      <vt:lpstr>PowerPoint 演示文稿</vt:lpstr>
      <vt:lpstr>审计（续）</vt:lpstr>
      <vt:lpstr>PowerPoint 演示文稿</vt:lpstr>
      <vt:lpstr>审计（续）</vt:lpstr>
      <vt:lpstr>审计（续）</vt:lpstr>
      <vt:lpstr>第四章  数据库安全性</vt:lpstr>
      <vt:lpstr>4.5  数据加密</vt:lpstr>
      <vt:lpstr>PowerPoint 演示文稿</vt:lpstr>
      <vt:lpstr>数据加密（续）</vt:lpstr>
      <vt:lpstr>数据加密（续）</vt:lpstr>
      <vt:lpstr>PowerPoint 演示文稿</vt:lpstr>
      <vt:lpstr>PowerPoint 演示文稿</vt:lpstr>
      <vt:lpstr>PowerPoint 演示文稿</vt:lpstr>
      <vt:lpstr>数据加密的另一个场景：DaaS</vt:lpstr>
      <vt:lpstr>PowerPoint 演示文稿</vt:lpstr>
      <vt:lpstr>第四章  数据库安全性</vt:lpstr>
      <vt:lpstr>4.6  其他安全性保护</vt:lpstr>
      <vt:lpstr>统计推断</vt:lpstr>
      <vt:lpstr>其他安全性保护（续）</vt:lpstr>
      <vt:lpstr>二维码4.3</vt:lpstr>
      <vt:lpstr>讨论：DBA与数据库安全</vt:lpstr>
      <vt:lpstr>PowerPoint 演示文稿</vt:lpstr>
      <vt:lpstr>第四章  数据库安全性</vt:lpstr>
      <vt:lpstr>4.7 小结</vt:lpstr>
      <vt:lpstr>小结（续）</vt:lpstr>
      <vt:lpstr>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陈晋川</cp:lastModifiedBy>
  <cp:revision>275</cp:revision>
  <dcterms:created xsi:type="dcterms:W3CDTF">2023-10-09T08:46:00Z</dcterms:created>
  <dcterms:modified xsi:type="dcterms:W3CDTF">2025-10-14T01:29:47Z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E1FBF14C73C14868B2F36B29BB915371_12</vt:lpwstr>
  </property>
  <property fmtid="{D5CDD505-2E9C-101B-9397-08002B2CF9AE}" pid="3" name="KSOProductBuildVer">
    <vt:lpwstr>2052-12.1.0.23125</vt:lpwstr>
  </property>
</Properties>
</file>