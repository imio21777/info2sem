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149" r:id="rId3"/>
    <p:sldId id="472" r:id="rId5"/>
    <p:sldId id="392" r:id="rId6"/>
    <p:sldId id="468" r:id="rId7"/>
    <p:sldId id="393" r:id="rId8"/>
    <p:sldId id="454" r:id="rId9"/>
    <p:sldId id="470" r:id="rId10"/>
    <p:sldId id="473" r:id="rId11"/>
    <p:sldId id="395" r:id="rId12"/>
    <p:sldId id="396" r:id="rId13"/>
    <p:sldId id="397" r:id="rId14"/>
    <p:sldId id="398" r:id="rId15"/>
    <p:sldId id="399" r:id="rId16"/>
    <p:sldId id="400" r:id="rId17"/>
    <p:sldId id="401" r:id="rId18"/>
    <p:sldId id="402" r:id="rId19"/>
    <p:sldId id="455" r:id="rId20"/>
    <p:sldId id="403" r:id="rId21"/>
    <p:sldId id="474" r:id="rId22"/>
    <p:sldId id="405" r:id="rId23"/>
    <p:sldId id="406" r:id="rId24"/>
    <p:sldId id="407" r:id="rId25"/>
    <p:sldId id="408" r:id="rId26"/>
    <p:sldId id="456" r:id="rId27"/>
    <p:sldId id="457" r:id="rId28"/>
    <p:sldId id="469" r:id="rId29"/>
    <p:sldId id="409" r:id="rId30"/>
    <p:sldId id="410" r:id="rId31"/>
    <p:sldId id="458" r:id="rId32"/>
    <p:sldId id="471" r:id="rId33"/>
    <p:sldId id="411" r:id="rId34"/>
    <p:sldId id="475" r:id="rId35"/>
    <p:sldId id="413" r:id="rId36"/>
    <p:sldId id="414" r:id="rId37"/>
    <p:sldId id="415" r:id="rId38"/>
    <p:sldId id="416" r:id="rId39"/>
    <p:sldId id="417" r:id="rId40"/>
    <p:sldId id="418" r:id="rId41"/>
    <p:sldId id="459" r:id="rId42"/>
    <p:sldId id="419" r:id="rId43"/>
    <p:sldId id="420" r:id="rId44"/>
    <p:sldId id="421" r:id="rId45"/>
    <p:sldId id="422" r:id="rId46"/>
    <p:sldId id="423" r:id="rId47"/>
    <p:sldId id="1224" r:id="rId48"/>
    <p:sldId id="476" r:id="rId49"/>
    <p:sldId id="425" r:id="rId50"/>
    <p:sldId id="426" r:id="rId51"/>
    <p:sldId id="451" r:id="rId52"/>
    <p:sldId id="427" r:id="rId53"/>
    <p:sldId id="428" r:id="rId54"/>
    <p:sldId id="480" r:id="rId55"/>
    <p:sldId id="481" r:id="rId56"/>
    <p:sldId id="482" r:id="rId57"/>
    <p:sldId id="479" r:id="rId58"/>
    <p:sldId id="483" r:id="rId59"/>
    <p:sldId id="513" r:id="rId60"/>
    <p:sldId id="477" r:id="rId61"/>
    <p:sldId id="437" r:id="rId62"/>
    <p:sldId id="438" r:id="rId63"/>
    <p:sldId id="439" r:id="rId64"/>
    <p:sldId id="463" r:id="rId65"/>
    <p:sldId id="464" r:id="rId66"/>
    <p:sldId id="465" r:id="rId67"/>
    <p:sldId id="466" r:id="rId68"/>
    <p:sldId id="467" r:id="rId69"/>
    <p:sldId id="452" r:id="rId70"/>
    <p:sldId id="444" r:id="rId71"/>
    <p:sldId id="453" r:id="rId72"/>
    <p:sldId id="445" r:id="rId73"/>
    <p:sldId id="446" r:id="rId74"/>
    <p:sldId id="447" r:id="rId75"/>
    <p:sldId id="448" r:id="rId76"/>
    <p:sldId id="1226" r:id="rId77"/>
    <p:sldId id="1227" r:id="rId78"/>
    <p:sldId id="1228" r:id="rId79"/>
    <p:sldId id="1229" r:id="rId80"/>
    <p:sldId id="1230" r:id="rId81"/>
    <p:sldId id="1234" r:id="rId82"/>
    <p:sldId id="1237" r:id="rId83"/>
    <p:sldId id="1241" r:id="rId84"/>
    <p:sldId id="1265" r:id="rId85"/>
    <p:sldId id="1247" r:id="rId86"/>
    <p:sldId id="478" r:id="rId87"/>
    <p:sldId id="1264" r:id="rId88"/>
    <p:sldId id="450" r:id="rId89"/>
  </p:sldIdLst>
  <p:sldSz cx="12192000" cy="6858000"/>
  <p:notesSz cx="6797675" cy="9926320"/>
  <p:custDataLst>
    <p:tags r:id="rId93"/>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32"/>
  </p:normalViewPr>
  <p:slideViewPr>
    <p:cSldViewPr snapToObjects="1" showGuides="1">
      <p:cViewPr varScale="1">
        <p:scale>
          <a:sx n="69" d="100"/>
          <a:sy n="69" d="100"/>
        </p:scale>
        <p:origin x="756" y="60"/>
      </p:cViewPr>
      <p:guideLst>
        <p:guide orient="horz" pos="2170"/>
        <p:guide pos="3840"/>
      </p:guideLst>
    </p:cSldViewPr>
  </p:slideViewPr>
  <p:notesTextViewPr>
    <p:cViewPr>
      <p:scale>
        <a:sx n="1" d="1"/>
        <a:sy n="1" d="1"/>
      </p:scale>
      <p:origin x="0" y="0"/>
    </p:cViewPr>
  </p:notesTextViewPr>
  <p:sorterViewPr>
    <p:cViewPr>
      <p:scale>
        <a:sx n="100" d="100"/>
        <a:sy n="100" d="100"/>
      </p:scale>
      <p:origin x="0" y="21318"/>
    </p:cViewPr>
  </p:sorter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tags" Target="tags/tag2.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44813" cy="495300"/>
          </a:xfrm>
          <a:prstGeom prst="rect">
            <a:avLst/>
          </a:prstGeom>
          <a:noFill/>
          <a:ln>
            <a:noFill/>
          </a:ln>
        </p:spPr>
        <p:txBody>
          <a:bodyPr vert="horz" wrap="square" lIns="90955" tIns="45478" rIns="90955" bIns="45478"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49688" y="0"/>
            <a:ext cx="2946400" cy="495300"/>
          </a:xfrm>
          <a:prstGeom prst="rect">
            <a:avLst/>
          </a:prstGeom>
          <a:noFill/>
          <a:ln>
            <a:noFill/>
          </a:ln>
        </p:spPr>
        <p:txBody>
          <a:bodyPr vert="horz" wrap="square" lIns="90955" tIns="45478" rIns="90955" bIns="45478" numCol="1" anchor="t" anchorCtr="0" compatLnSpc="1"/>
          <a:lstStyle>
            <a:lvl1pPr algn="r" eaLnBrk="0" hangingPunct="0">
              <a:buFont typeface="Arial" panose="020B0604020202020204" pitchFamily="34" charset="0"/>
              <a:buNone/>
              <a:defRPr sz="1200"/>
            </a:lvl1pPr>
          </a:lstStyle>
          <a:p>
            <a:pPr>
              <a:defRPr/>
            </a:pPr>
            <a:fld id="{10BF39CC-861F-2747-BB71-D6CEA203764E}" type="datetimeFigureOut">
              <a:rPr lang="zh-CN" altLang="en-US"/>
            </a:fld>
            <a:endParaRPr lang="en-US"/>
          </a:p>
        </p:txBody>
      </p:sp>
      <p:sp>
        <p:nvSpPr>
          <p:cNvPr id="2052" name="Rectangle 4"/>
          <p:cNvSpPr>
            <a:spLocks noGrp="1" noRot="1" noChangeAspect="1" noChangeArrowheads="1"/>
          </p:cNvSpPr>
          <p:nvPr>
            <p:ph type="sldImg" idx="2"/>
          </p:nvPr>
        </p:nvSpPr>
        <p:spPr bwMode="auto">
          <a:xfrm>
            <a:off x="90488" y="744538"/>
            <a:ext cx="6615112"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79450" y="4714875"/>
            <a:ext cx="5437188" cy="4465638"/>
          </a:xfrm>
          <a:prstGeom prst="rect">
            <a:avLst/>
          </a:prstGeom>
          <a:noFill/>
          <a:ln>
            <a:noFill/>
          </a:ln>
        </p:spPr>
        <p:txBody>
          <a:bodyPr vert="horz" wrap="square" lIns="90955" tIns="45478" rIns="90955" bIns="45478"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054" name="Rectangle 6"/>
          <p:cNvSpPr>
            <a:spLocks noGrp="1" noChangeArrowheads="1"/>
          </p:cNvSpPr>
          <p:nvPr>
            <p:ph type="ftr" sz="quarter" idx="4"/>
          </p:nvPr>
        </p:nvSpPr>
        <p:spPr bwMode="auto">
          <a:xfrm>
            <a:off x="0" y="9428163"/>
            <a:ext cx="2944813" cy="496887"/>
          </a:xfrm>
          <a:prstGeom prst="rect">
            <a:avLst/>
          </a:prstGeom>
          <a:noFill/>
          <a:ln>
            <a:noFill/>
          </a:ln>
        </p:spPr>
        <p:txBody>
          <a:bodyPr vert="horz" wrap="square" lIns="90955" tIns="45478" rIns="90955" bIns="45478"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49688" y="9428163"/>
            <a:ext cx="2946400" cy="496887"/>
          </a:xfrm>
          <a:prstGeom prst="rect">
            <a:avLst/>
          </a:prstGeom>
          <a:noFill/>
          <a:ln>
            <a:noFill/>
          </a:ln>
        </p:spPr>
        <p:txBody>
          <a:bodyPr vert="horz" wrap="square" lIns="90955" tIns="45478" rIns="90955" bIns="45478" numCol="1" anchor="b" anchorCtr="0" compatLnSpc="1"/>
          <a:lstStyle>
            <a:lvl1pPr algn="r">
              <a:buFont typeface="Arial" panose="020B0604020202020204" pitchFamily="34" charset="0"/>
              <a:buNone/>
              <a:defRPr sz="1200"/>
            </a:lvl1pPr>
          </a:lstStyle>
          <a:p>
            <a:fld id="{7E40C4E0-CC78-9545-8251-38CAF8FFF345}"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幻灯片图像占位符 1"/>
          <p:cNvSpPr>
            <a:spLocks noGrp="1" noRot="1" noChangeAspect="1" noTextEdit="1"/>
          </p:cNvSpPr>
          <p:nvPr>
            <p:ph type="sldImg"/>
          </p:nvPr>
        </p:nvSpPr>
        <p:spPr/>
      </p:sp>
      <p:sp>
        <p:nvSpPr>
          <p:cNvPr id="28675" name="备注占位符 2"/>
          <p:cNvSpPr>
            <a:spLocks noGrp="1"/>
          </p:cNvSpPr>
          <p:nvPr>
            <p:ph type="body" idx="1"/>
          </p:nvPr>
        </p:nvSpPr>
        <p:spPr/>
        <p:txBody>
          <a:bodyPr wrap="square" lIns="91440" tIns="45720" rIns="91440" bIns="45720" anchor="ctr" anchorCtr="0"/>
          <a:p>
            <a:pPr lvl="0"/>
            <a:r>
              <a:rPr lang="en-US" altLang="zh-CN" dirty="0"/>
              <a:t>1</a:t>
            </a:r>
            <a:r>
              <a:rPr lang="zh-CN" altLang="en-US" dirty="0"/>
              <a:t>、领域专家</a:t>
            </a:r>
            <a:endParaRPr lang="en-US" altLang="zh-CN" dirty="0"/>
          </a:p>
          <a:p>
            <a:pPr lvl="0"/>
            <a:r>
              <a:rPr lang="en-US" altLang="zh-CN" dirty="0"/>
              <a:t>2</a:t>
            </a:r>
            <a:r>
              <a:rPr lang="zh-CN" altLang="en-US" dirty="0"/>
              <a:t>、若有大量数据，可以用统计或者机器学习的方法，比如用统计的方法找出绝大多数数据的范围。</a:t>
            </a:r>
            <a:endParaRPr lang="zh-CN" altLang="en-US" dirty="0"/>
          </a:p>
        </p:txBody>
      </p:sp>
      <p:sp>
        <p:nvSpPr>
          <p:cNvPr id="28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8575"/>
            <a:ext cx="2743200" cy="6223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8575"/>
            <a:ext cx="8026400" cy="6223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609600" y="-28575"/>
            <a:ext cx="109728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1031" name="Text Box 7"/>
          <p:cNvSpPr txBox="1">
            <a:spLocks noChangeArrowheads="1"/>
          </p:cNvSpPr>
          <p:nvPr userDrawn="1"/>
        </p:nvSpPr>
        <p:spPr bwMode="auto">
          <a:xfrm>
            <a:off x="7346951" y="6454775"/>
            <a:ext cx="5471583" cy="338554"/>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en-US" sz="1600" b="1" dirty="0">
              <a:solidFill>
                <a:schemeClr val="bg1"/>
              </a:solidFill>
            </a:endParaRPr>
          </a:p>
        </p:txBody>
      </p:sp>
      <p:sp>
        <p:nvSpPr>
          <p:cNvPr id="1034" name="Text Box 10"/>
          <p:cNvSpPr txBox="1">
            <a:spLocks noChangeArrowheads="1"/>
          </p:cNvSpPr>
          <p:nvPr userDrawn="1"/>
        </p:nvSpPr>
        <p:spPr bwMode="auto">
          <a:xfrm>
            <a:off x="7287685" y="6516688"/>
            <a:ext cx="5471583" cy="338554"/>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en-US" sz="1600" b="1">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854269" y="4293096"/>
            <a:ext cx="8418195" cy="830997"/>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第五章 数据库完整性</a:t>
            </a:r>
            <a:endPar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9" name="Rectangle 2"/>
          <p:cNvSpPr>
            <a:spLocks noGrp="1" noChangeArrowheads="1"/>
          </p:cNvSpPr>
          <p:nvPr>
            <p:ph type="title" idx="4294967295"/>
          </p:nvPr>
        </p:nvSpPr>
        <p:spPr/>
        <p:txBody>
          <a:bodyPr/>
          <a:lstStyle/>
          <a:p>
            <a:pPr eaLnBrk="1" hangingPunct="1"/>
            <a:r>
              <a:rPr lang="zh-CN" altLang="zh-CN" sz="3600"/>
              <a:t>第五章 数据库完整性</a:t>
            </a:r>
            <a:endParaRPr lang="zh-CN" altLang="zh-CN" sz="3600"/>
          </a:p>
        </p:txBody>
      </p:sp>
      <p:sp>
        <p:nvSpPr>
          <p:cNvPr id="4100" name="Rectangle 3"/>
          <p:cNvSpPr>
            <a:spLocks noGrp="1" noChangeArrowheads="1"/>
          </p:cNvSpPr>
          <p:nvPr>
            <p:ph type="body" idx="4294967295"/>
          </p:nvPr>
        </p:nvSpPr>
        <p:spPr>
          <a:xfrm>
            <a:off x="1343472" y="1063457"/>
            <a:ext cx="7859712" cy="5329237"/>
          </a:xfrm>
        </p:spPr>
        <p:txBody>
          <a:bodyPr/>
          <a:lstStyle/>
          <a:p>
            <a:pPr eaLnBrk="1" hangingPunct="1">
              <a:lnSpc>
                <a:spcPct val="130000"/>
              </a:lnSpc>
              <a:buFont typeface="Wingdings" panose="05000000000000000000" pitchFamily="2" charset="2"/>
              <a:buNone/>
            </a:pPr>
            <a:r>
              <a:rPr lang="en-US" altLang="zh-CN" dirty="0">
                <a:solidFill>
                  <a:srgbClr val="0066FF"/>
                </a:solidFill>
              </a:rPr>
              <a:t>5.1 </a:t>
            </a:r>
            <a:r>
              <a:rPr lang="zh-CN" altLang="en-US" dirty="0">
                <a:solidFill>
                  <a:srgbClr val="0066FF"/>
                </a:solidFill>
              </a:rPr>
              <a:t>数据库完整性概述</a:t>
            </a:r>
            <a:endParaRPr lang="en-US" altLang="zh-CN" dirty="0">
              <a:solidFill>
                <a:srgbClr val="0066FF"/>
              </a:solidFill>
            </a:endParaRPr>
          </a:p>
          <a:p>
            <a:pPr eaLnBrk="1" hangingPunct="1">
              <a:lnSpc>
                <a:spcPct val="130000"/>
              </a:lnSpc>
              <a:buFont typeface="Wingdings" panose="05000000000000000000" pitchFamily="2" charset="2"/>
              <a:buNone/>
            </a:pPr>
            <a:r>
              <a:rPr lang="en-US" altLang="zh-CN" dirty="0"/>
              <a:t>5.2 </a:t>
            </a:r>
            <a:r>
              <a:rPr lang="zh-CN" altLang="en-US" dirty="0"/>
              <a:t>实体完整性</a:t>
            </a:r>
            <a:endParaRPr lang="zh-CN" altLang="en-US" dirty="0"/>
          </a:p>
          <a:p>
            <a:pPr eaLnBrk="1" hangingPunct="1">
              <a:lnSpc>
                <a:spcPct val="130000"/>
              </a:lnSpc>
              <a:buFont typeface="Wingdings" panose="05000000000000000000" pitchFamily="2" charset="2"/>
              <a:buNone/>
            </a:pPr>
            <a:r>
              <a:rPr lang="en-US" altLang="zh-CN" dirty="0"/>
              <a:t>5.3 </a:t>
            </a:r>
            <a:r>
              <a:rPr lang="zh-CN" altLang="en-US" dirty="0"/>
              <a:t>参照完整性</a:t>
            </a:r>
            <a:endParaRPr lang="zh-CN" altLang="en-US" dirty="0"/>
          </a:p>
          <a:p>
            <a:pPr eaLnBrk="1" hangingPunct="1">
              <a:lnSpc>
                <a:spcPct val="130000"/>
              </a:lnSpc>
              <a:buFont typeface="Wingdings" panose="05000000000000000000" pitchFamily="2" charset="2"/>
              <a:buNone/>
            </a:pPr>
            <a:r>
              <a:rPr lang="en-US" altLang="zh-CN" dirty="0"/>
              <a:t>5.4 </a:t>
            </a:r>
            <a:r>
              <a:rPr lang="zh-CN" altLang="en-US" dirty="0"/>
              <a:t>用户定义的完整性</a:t>
            </a:r>
            <a:endParaRPr lang="zh-CN" altLang="en-US" dirty="0"/>
          </a:p>
          <a:p>
            <a:pPr eaLnBrk="1" hangingPunct="1">
              <a:lnSpc>
                <a:spcPct val="130000"/>
              </a:lnSpc>
              <a:buFont typeface="Wingdings" panose="05000000000000000000" pitchFamily="2" charset="2"/>
              <a:buNone/>
            </a:pPr>
            <a:r>
              <a:rPr lang="en-US" altLang="zh-CN" dirty="0"/>
              <a:t>5.5 </a:t>
            </a:r>
            <a:r>
              <a:rPr lang="zh-CN" altLang="en-US" dirty="0"/>
              <a:t>完整性约束命名子句</a:t>
            </a:r>
            <a:endParaRPr lang="zh-CN" altLang="en-US" dirty="0"/>
          </a:p>
          <a:p>
            <a:pPr eaLnBrk="1" hangingPunct="1">
              <a:lnSpc>
                <a:spcPct val="130000"/>
              </a:lnSpc>
              <a:buFont typeface="Wingdings" panose="05000000000000000000" pitchFamily="2" charset="2"/>
              <a:buNone/>
            </a:pPr>
            <a:r>
              <a:rPr lang="zh-CN" altLang="en-US" dirty="0"/>
              <a:t>*</a:t>
            </a:r>
            <a:r>
              <a:rPr lang="en-US" altLang="zh-CN" dirty="0"/>
              <a:t>5.6 </a:t>
            </a:r>
            <a:r>
              <a:rPr lang="zh-CN" altLang="en-US" dirty="0"/>
              <a:t>域中的完整性限制</a:t>
            </a:r>
            <a:endParaRPr lang="en-US" altLang="zh-CN" dirty="0"/>
          </a:p>
          <a:p>
            <a:pPr eaLnBrk="1" hangingPunct="1">
              <a:lnSpc>
                <a:spcPct val="130000"/>
              </a:lnSpc>
              <a:buFont typeface="Wingdings" panose="05000000000000000000" pitchFamily="2" charset="2"/>
              <a:buNone/>
            </a:pPr>
            <a:r>
              <a:rPr lang="en-US" altLang="zh-CN" dirty="0"/>
              <a:t>5.7 </a:t>
            </a:r>
            <a:r>
              <a:rPr lang="zh-CN" altLang="en-US" dirty="0"/>
              <a:t>触发器</a:t>
            </a:r>
            <a:endParaRPr lang="en-US" altLang="zh-CN" dirty="0"/>
          </a:p>
          <a:p>
            <a:pPr eaLnBrk="1" hangingPunct="1">
              <a:lnSpc>
                <a:spcPct val="130000"/>
              </a:lnSpc>
              <a:buFont typeface="Wingdings" panose="05000000000000000000" pitchFamily="2" charset="2"/>
              <a:buNone/>
            </a:pPr>
            <a:r>
              <a:rPr lang="en-US" altLang="zh-CN" dirty="0"/>
              <a:t>5.8 </a:t>
            </a:r>
            <a:r>
              <a:rPr lang="zh-CN" altLang="en-US" dirty="0"/>
              <a:t>小结</a:t>
            </a:r>
            <a:endParaRPr lang="zh-CN" altLang="en-US" dirty="0"/>
          </a:p>
          <a:p>
            <a:pPr eaLnBrk="1" hangingPunct="1"/>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p:txBody>
          <a:bodyPr/>
          <a:lstStyle/>
          <a:p>
            <a:pPr eaLnBrk="1" hangingPunct="1"/>
            <a:r>
              <a:rPr lang="en-US" altLang="zh-CN" sz="3600"/>
              <a:t>5.1</a:t>
            </a:r>
            <a:r>
              <a:rPr lang="zh-CN" altLang="zh-CN" sz="3600"/>
              <a:t>数据库完整性</a:t>
            </a:r>
            <a:endParaRPr lang="zh-CN" altLang="zh-CN" sz="3600"/>
          </a:p>
        </p:txBody>
      </p:sp>
      <p:sp>
        <p:nvSpPr>
          <p:cNvPr id="5123" name="Rectangle 3"/>
          <p:cNvSpPr>
            <a:spLocks noGrp="1" noChangeArrowheads="1"/>
          </p:cNvSpPr>
          <p:nvPr>
            <p:ph type="body" idx="4294967295"/>
          </p:nvPr>
        </p:nvSpPr>
        <p:spPr>
          <a:xfrm>
            <a:off x="767408" y="1340768"/>
            <a:ext cx="10081120" cy="4824536"/>
          </a:xfrm>
        </p:spPr>
        <p:txBody>
          <a:bodyPr/>
          <a:lstStyle/>
          <a:p>
            <a:pPr eaLnBrk="1" hangingPunct="1">
              <a:lnSpc>
                <a:spcPct val="120000"/>
              </a:lnSpc>
              <a:spcBef>
                <a:spcPct val="0"/>
              </a:spcBef>
            </a:pPr>
            <a:r>
              <a:rPr lang="zh-CN" altLang="en-US" dirty="0"/>
              <a:t>数据库的完整性</a:t>
            </a:r>
            <a:endParaRPr lang="zh-CN" altLang="en-US" dirty="0"/>
          </a:p>
          <a:p>
            <a:pPr lvl="1" eaLnBrk="1" hangingPunct="1">
              <a:lnSpc>
                <a:spcPct val="120000"/>
              </a:lnSpc>
              <a:spcBef>
                <a:spcPct val="0"/>
              </a:spcBef>
            </a:pPr>
            <a:r>
              <a:rPr lang="zh-CN" altLang="en-US" dirty="0"/>
              <a:t>数据的</a:t>
            </a:r>
            <a:r>
              <a:rPr lang="zh-CN" altLang="en-US" dirty="0">
                <a:solidFill>
                  <a:srgbClr val="FF00FF"/>
                </a:solidFill>
              </a:rPr>
              <a:t>正确性</a:t>
            </a:r>
            <a:endParaRPr lang="en-US" altLang="zh-CN" dirty="0">
              <a:solidFill>
                <a:srgbClr val="FF00FF"/>
              </a:solidFill>
            </a:endParaRPr>
          </a:p>
          <a:p>
            <a:pPr lvl="2" eaLnBrk="1" hangingPunct="1">
              <a:lnSpc>
                <a:spcPct val="120000"/>
              </a:lnSpc>
              <a:spcBef>
                <a:spcPct val="0"/>
              </a:spcBef>
              <a:buSzPct val="87000"/>
              <a:buFont typeface="Wingdings" panose="05000000000000000000" pitchFamily="2" charset="2"/>
              <a:buChar char="l"/>
            </a:pPr>
            <a:r>
              <a:rPr lang="zh-CN" altLang="en-US" sz="2200" dirty="0"/>
              <a:t>数据是符合现实世界语义，反映了当前的实际状况</a:t>
            </a:r>
            <a:endParaRPr lang="zh-CN" altLang="en-US" sz="2200" dirty="0"/>
          </a:p>
          <a:p>
            <a:pPr lvl="1" eaLnBrk="1" hangingPunct="1">
              <a:lnSpc>
                <a:spcPct val="120000"/>
              </a:lnSpc>
              <a:spcBef>
                <a:spcPct val="0"/>
              </a:spcBef>
            </a:pPr>
            <a:r>
              <a:rPr lang="zh-CN" altLang="en-US" dirty="0"/>
              <a:t>数据的</a:t>
            </a:r>
            <a:r>
              <a:rPr lang="zh-CN" altLang="en-US" dirty="0">
                <a:solidFill>
                  <a:srgbClr val="FF00FF"/>
                </a:solidFill>
              </a:rPr>
              <a:t>相容性</a:t>
            </a:r>
            <a:endParaRPr lang="en-US" altLang="zh-CN" dirty="0">
              <a:solidFill>
                <a:srgbClr val="FF00FF"/>
              </a:solidFill>
            </a:endParaRPr>
          </a:p>
          <a:p>
            <a:pPr lvl="2" eaLnBrk="1" hangingPunct="1">
              <a:lnSpc>
                <a:spcPct val="120000"/>
              </a:lnSpc>
              <a:spcBef>
                <a:spcPct val="0"/>
              </a:spcBef>
              <a:buSzPct val="87000"/>
              <a:buFont typeface="Wingdings" panose="05000000000000000000" pitchFamily="2" charset="2"/>
              <a:buChar char="l"/>
            </a:pPr>
            <a:r>
              <a:rPr lang="zh-CN" altLang="en-US" sz="2200" dirty="0"/>
              <a:t>数据库同一对象在不同关系表中的数据是相同的</a:t>
            </a:r>
            <a:endParaRPr lang="en-US" altLang="zh-CN" sz="2200" dirty="0"/>
          </a:p>
          <a:p>
            <a:pPr lvl="1" eaLnBrk="1" hangingPunct="1">
              <a:lnSpc>
                <a:spcPct val="120000"/>
              </a:lnSpc>
              <a:spcBef>
                <a:spcPct val="0"/>
              </a:spcBef>
              <a:buFont typeface="Wingdings" panose="05000000000000000000" pitchFamily="2" charset="2"/>
              <a:buNone/>
            </a:pPr>
            <a:r>
              <a:rPr lang="zh-CN" altLang="en-US" sz="2200" dirty="0"/>
              <a:t>例如：</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学生的学号必须唯一</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百分制的课程成绩取值范围为</a:t>
            </a:r>
            <a:r>
              <a:rPr lang="en-US" altLang="zh-CN" sz="2200" dirty="0"/>
              <a:t>0-100</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学生所选的课程必须是学校开设的课程</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学生所在的院系必须是学校已成立的院系等</a:t>
            </a:r>
            <a:endParaRPr lang="zh-CN" alt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lstStyle/>
          <a:p>
            <a:pPr eaLnBrk="1" hangingPunct="1"/>
            <a:r>
              <a:rPr lang="zh-CN" altLang="en-US" sz="3600"/>
              <a:t>数据库完整性（续）</a:t>
            </a:r>
            <a:endParaRPr lang="zh-CN" altLang="en-US" sz="3600"/>
          </a:p>
        </p:txBody>
      </p:sp>
      <p:sp>
        <p:nvSpPr>
          <p:cNvPr id="6147" name="Rectangle 3"/>
          <p:cNvSpPr>
            <a:spLocks noGrp="1" noChangeArrowheads="1"/>
          </p:cNvSpPr>
          <p:nvPr>
            <p:ph type="body" idx="4294967295"/>
          </p:nvPr>
        </p:nvSpPr>
        <p:spPr>
          <a:xfrm>
            <a:off x="767408" y="1340768"/>
            <a:ext cx="10297144" cy="5040560"/>
          </a:xfrm>
        </p:spPr>
        <p:txBody>
          <a:bodyPr/>
          <a:lstStyle/>
          <a:p>
            <a:pPr eaLnBrk="1" hangingPunct="1">
              <a:lnSpc>
                <a:spcPct val="150000"/>
              </a:lnSpc>
              <a:spcBef>
                <a:spcPct val="0"/>
              </a:spcBef>
            </a:pPr>
            <a:r>
              <a:rPr lang="zh-CN" altLang="en-US" dirty="0"/>
              <a:t>数据的完整性和数据库的安全性有联系又不尽相同</a:t>
            </a:r>
            <a:endParaRPr lang="zh-CN" altLang="en-US" dirty="0"/>
          </a:p>
          <a:p>
            <a:pPr lvl="1" eaLnBrk="1" hangingPunct="1">
              <a:lnSpc>
                <a:spcPct val="150000"/>
              </a:lnSpc>
              <a:spcBef>
                <a:spcPct val="0"/>
              </a:spcBef>
            </a:pPr>
            <a:r>
              <a:rPr lang="zh-CN" altLang="en-US" dirty="0"/>
              <a:t>数据的完整性</a:t>
            </a:r>
            <a:endParaRPr lang="zh-CN" altLang="en-US" dirty="0"/>
          </a:p>
          <a:p>
            <a:pPr lvl="2" eaLnBrk="1" hangingPunct="1">
              <a:lnSpc>
                <a:spcPct val="150000"/>
              </a:lnSpc>
              <a:spcBef>
                <a:spcPct val="0"/>
              </a:spcBef>
              <a:buSzPct val="87000"/>
              <a:buFont typeface="Wingdings" panose="05000000000000000000" pitchFamily="2" charset="2"/>
              <a:buChar char="l"/>
            </a:pPr>
            <a:r>
              <a:rPr lang="zh-CN" altLang="en-US" sz="2200" dirty="0"/>
              <a:t>防止数据库中存在不符合语义的数据，防止数据库中存在不正确的数据</a:t>
            </a:r>
            <a:endParaRPr lang="zh-CN" altLang="en-US" sz="2200" dirty="0"/>
          </a:p>
          <a:p>
            <a:pPr lvl="2" eaLnBrk="1" hangingPunct="1">
              <a:lnSpc>
                <a:spcPct val="150000"/>
              </a:lnSpc>
              <a:spcBef>
                <a:spcPct val="0"/>
              </a:spcBef>
              <a:buSzPct val="87000"/>
              <a:buFont typeface="Wingdings" panose="05000000000000000000" pitchFamily="2" charset="2"/>
              <a:buChar char="l"/>
            </a:pPr>
            <a:r>
              <a:rPr lang="zh-CN" altLang="en-US" sz="2200" dirty="0"/>
              <a:t>防范对象：不合语义的、不正确的数据</a:t>
            </a:r>
            <a:endParaRPr lang="zh-CN" altLang="en-US" sz="2200" dirty="0"/>
          </a:p>
          <a:p>
            <a:pPr lvl="1" eaLnBrk="1" hangingPunct="1">
              <a:lnSpc>
                <a:spcPct val="150000"/>
              </a:lnSpc>
              <a:spcBef>
                <a:spcPct val="0"/>
              </a:spcBef>
            </a:pPr>
            <a:r>
              <a:rPr lang="zh-CN" altLang="en-US" dirty="0"/>
              <a:t>数据的安全性</a:t>
            </a:r>
            <a:endParaRPr lang="zh-CN" altLang="en-US" dirty="0"/>
          </a:p>
          <a:p>
            <a:pPr lvl="2" eaLnBrk="1" hangingPunct="1">
              <a:lnSpc>
                <a:spcPct val="150000"/>
              </a:lnSpc>
              <a:spcBef>
                <a:spcPct val="0"/>
              </a:spcBef>
              <a:buSzPct val="87000"/>
              <a:buFont typeface="Wingdings" panose="05000000000000000000" pitchFamily="2" charset="2"/>
              <a:buChar char="l"/>
            </a:pPr>
            <a:r>
              <a:rPr lang="zh-CN" altLang="en-US" sz="2200" dirty="0"/>
              <a:t>保护数据库防止恶意的破坏和非法的存取</a:t>
            </a:r>
            <a:endParaRPr lang="zh-CN" altLang="en-US" sz="2200" dirty="0"/>
          </a:p>
          <a:p>
            <a:pPr lvl="2" eaLnBrk="1" hangingPunct="1">
              <a:lnSpc>
                <a:spcPct val="150000"/>
              </a:lnSpc>
              <a:spcBef>
                <a:spcPct val="0"/>
              </a:spcBef>
              <a:buSzPct val="87000"/>
              <a:buFont typeface="Wingdings" panose="05000000000000000000" pitchFamily="2" charset="2"/>
              <a:buChar char="l"/>
            </a:pPr>
            <a:r>
              <a:rPr lang="zh-CN" altLang="en-US" sz="2200" dirty="0"/>
              <a:t>防范对象：非法用户和非法操作</a:t>
            </a:r>
            <a:endParaRPr lang="zh-CN" alt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pPr eaLnBrk="1" hangingPunct="1"/>
            <a:r>
              <a:rPr lang="zh-CN" altLang="en-US" sz="3600"/>
              <a:t>数据库完整性</a:t>
            </a:r>
            <a:r>
              <a:rPr lang="en-US" altLang="zh-CN" sz="3600"/>
              <a:t>（</a:t>
            </a:r>
            <a:r>
              <a:rPr lang="zh-CN" altLang="en-US" sz="3600"/>
              <a:t>续</a:t>
            </a:r>
            <a:r>
              <a:rPr lang="en-US" altLang="zh-CN" sz="3600"/>
              <a:t>）</a:t>
            </a:r>
            <a:endParaRPr lang="en-US" altLang="zh-CN" sz="3600"/>
          </a:p>
        </p:txBody>
      </p:sp>
      <p:sp>
        <p:nvSpPr>
          <p:cNvPr id="7171" name="Rectangle 3"/>
          <p:cNvSpPr>
            <a:spLocks noGrp="1" noChangeArrowheads="1"/>
          </p:cNvSpPr>
          <p:nvPr>
            <p:ph type="body" idx="4294967295"/>
          </p:nvPr>
        </p:nvSpPr>
        <p:spPr>
          <a:xfrm>
            <a:off x="602285" y="1268760"/>
            <a:ext cx="10972800" cy="4680520"/>
          </a:xfrm>
        </p:spPr>
        <p:txBody>
          <a:bodyPr/>
          <a:lstStyle/>
          <a:p>
            <a:pPr eaLnBrk="1" hangingPunct="1">
              <a:lnSpc>
                <a:spcPct val="150000"/>
              </a:lnSpc>
              <a:spcBef>
                <a:spcPct val="0"/>
              </a:spcBef>
            </a:pPr>
            <a:r>
              <a:rPr lang="zh-CN" altLang="en-US" dirty="0"/>
              <a:t>为维护数据库的完整性，</a:t>
            </a:r>
            <a:r>
              <a:rPr lang="en-US" altLang="zh-CN" dirty="0"/>
              <a:t>RDBMS</a:t>
            </a:r>
            <a:r>
              <a:rPr lang="zh-CN" altLang="en-US" dirty="0"/>
              <a:t>必须：</a:t>
            </a:r>
            <a:endParaRPr lang="zh-CN" altLang="en-US" dirty="0"/>
          </a:p>
          <a:p>
            <a:pPr lvl="1" eaLnBrk="1" hangingPunct="1">
              <a:lnSpc>
                <a:spcPct val="150000"/>
              </a:lnSpc>
              <a:spcBef>
                <a:spcPct val="0"/>
              </a:spcBef>
              <a:buFont typeface="Wingdings" panose="05000000000000000000" pitchFamily="2" charset="2"/>
              <a:buNone/>
            </a:pPr>
            <a:r>
              <a:rPr lang="en-US" altLang="zh-CN" dirty="0"/>
              <a:t>1.</a:t>
            </a:r>
            <a:r>
              <a:rPr lang="zh-CN" altLang="en-US" dirty="0"/>
              <a:t>提供定义完整性约束的机制</a:t>
            </a:r>
            <a:endParaRPr lang="en-US" altLang="zh-CN" dirty="0"/>
          </a:p>
          <a:p>
            <a:pPr lvl="2">
              <a:lnSpc>
                <a:spcPct val="150000"/>
              </a:lnSpc>
              <a:spcBef>
                <a:spcPct val="0"/>
              </a:spcBef>
              <a:buSzPct val="87000"/>
              <a:buFont typeface="Wingdings" panose="05000000000000000000" pitchFamily="2" charset="2"/>
              <a:buChar char="l"/>
            </a:pPr>
            <a:r>
              <a:rPr lang="zh-CN" altLang="en-US" sz="2200" dirty="0"/>
              <a:t>完整性约束也称为完整性规则，是数据库中的数据必须满足的语义约束</a:t>
            </a:r>
            <a:endParaRPr lang="zh-CN" altLang="en-US" sz="2200" dirty="0"/>
          </a:p>
          <a:p>
            <a:pPr lvl="2">
              <a:lnSpc>
                <a:spcPct val="150000"/>
              </a:lnSpc>
              <a:spcBef>
                <a:spcPct val="0"/>
              </a:spcBef>
              <a:buSzPct val="87000"/>
              <a:buFont typeface="Wingdings" panose="05000000000000000000" pitchFamily="2" charset="2"/>
              <a:buChar char="l"/>
            </a:pPr>
            <a:r>
              <a:rPr lang="en-US" altLang="zh-CN" sz="2200" dirty="0"/>
              <a:t>SQL</a:t>
            </a:r>
            <a:r>
              <a:rPr lang="zh-CN" altLang="en-US" sz="2200" dirty="0"/>
              <a:t>标准使用了一系列概念来描述完整性，包括关系模型的实体完整性、参照完整性和用户定义完整性</a:t>
            </a:r>
            <a:endParaRPr lang="zh-CN" altLang="en-US" sz="2200" dirty="0"/>
          </a:p>
          <a:p>
            <a:pPr lvl="2">
              <a:lnSpc>
                <a:spcPct val="150000"/>
              </a:lnSpc>
              <a:spcBef>
                <a:spcPct val="0"/>
              </a:spcBef>
              <a:buSzPct val="87000"/>
              <a:buFont typeface="Wingdings" panose="05000000000000000000" pitchFamily="2" charset="2"/>
              <a:buChar char="l"/>
            </a:pPr>
            <a:r>
              <a:rPr lang="zh-CN" altLang="en-US" sz="2200" dirty="0"/>
              <a:t>这些完整性约束一般由</a:t>
            </a:r>
            <a:r>
              <a:rPr lang="en-US" altLang="zh-CN" sz="2200" dirty="0"/>
              <a:t>SQL</a:t>
            </a:r>
            <a:r>
              <a:rPr lang="zh-CN" altLang="en-US" sz="2200" dirty="0"/>
              <a:t>的</a:t>
            </a:r>
            <a:r>
              <a:rPr lang="en-US" altLang="zh-CN" sz="2200" dirty="0"/>
              <a:t>DDL</a:t>
            </a:r>
            <a:r>
              <a:rPr lang="zh-CN" altLang="en-US" sz="2200" dirty="0"/>
              <a:t>语句来实现 </a:t>
            </a:r>
            <a:endParaRPr lang="zh-CN" altLang="en-US" sz="2200" dirty="0"/>
          </a:p>
          <a:p>
            <a:pPr lvl="1" eaLnBrk="1" hangingPunct="1">
              <a:lnSpc>
                <a:spcPct val="250000"/>
              </a:lnSpc>
            </a:pPr>
            <a:endParaRPr lang="zh-CN" alt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数据库完整性</a:t>
            </a:r>
            <a:r>
              <a:rPr lang="en-US" altLang="zh-CN" sz="3600">
                <a:solidFill>
                  <a:schemeClr val="bg1"/>
                </a:solidFill>
              </a:rPr>
              <a:t>（</a:t>
            </a:r>
            <a:r>
              <a:rPr lang="zh-CN" altLang="en-US" sz="3600">
                <a:solidFill>
                  <a:schemeClr val="bg1"/>
                </a:solidFill>
              </a:rPr>
              <a:t>续</a:t>
            </a:r>
            <a:r>
              <a:rPr lang="en-US" altLang="zh-CN" sz="3600">
                <a:solidFill>
                  <a:schemeClr val="bg1"/>
                </a:solidFill>
              </a:rPr>
              <a:t>）</a:t>
            </a:r>
            <a:endParaRPr lang="en-US" altLang="zh-CN" sz="3600">
              <a:solidFill>
                <a:schemeClr val="bg1"/>
              </a:solidFill>
            </a:endParaRPr>
          </a:p>
        </p:txBody>
      </p:sp>
      <p:sp>
        <p:nvSpPr>
          <p:cNvPr id="6147" name="Rectangle 3"/>
          <p:cNvSpPr txBox="1">
            <a:spLocks noChangeArrowheads="1"/>
          </p:cNvSpPr>
          <p:nvPr/>
        </p:nvSpPr>
        <p:spPr bwMode="auto">
          <a:xfrm>
            <a:off x="330068" y="1196752"/>
            <a:ext cx="11377264" cy="4680520"/>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150000"/>
              </a:lnSpc>
              <a:buFont typeface="Arial" panose="020B0604020202020204" pitchFamily="34" charset="0"/>
              <a:buNone/>
            </a:pPr>
            <a:r>
              <a:rPr lang="en-US" altLang="zh-CN" sz="2400" b="1" dirty="0"/>
              <a:t>2.</a:t>
            </a:r>
            <a:r>
              <a:rPr lang="zh-CN" altLang="en-US" sz="2400" b="1" dirty="0"/>
              <a:t>提供检查完整性约束的方法</a:t>
            </a:r>
            <a:endParaRPr lang="zh-CN" altLang="en-US" sz="2400" b="1" dirty="0"/>
          </a:p>
          <a:p>
            <a:pPr lvl="2">
              <a:lnSpc>
                <a:spcPct val="150000"/>
              </a:lnSpc>
              <a:buSzPct val="87000"/>
              <a:buFont typeface="Wingdings" panose="05000000000000000000" pitchFamily="2" charset="2"/>
              <a:buChar char="l"/>
            </a:pPr>
            <a:r>
              <a:rPr lang="en-US" altLang="zh-CN" sz="2200" b="1" dirty="0"/>
              <a:t>RDBMS</a:t>
            </a:r>
            <a:r>
              <a:rPr lang="zh-CN" altLang="en-US" sz="2200" b="1" dirty="0"/>
              <a:t>中检查数据是否满足完整性约束的机制称为完整性检查。</a:t>
            </a:r>
            <a:endParaRPr lang="zh-CN" altLang="en-US" sz="2200" b="1" dirty="0"/>
          </a:p>
          <a:p>
            <a:pPr lvl="2">
              <a:lnSpc>
                <a:spcPct val="150000"/>
              </a:lnSpc>
              <a:buSzPct val="87000"/>
              <a:buFont typeface="Wingdings" panose="05000000000000000000" pitchFamily="2" charset="2"/>
              <a:buChar char="l"/>
            </a:pPr>
            <a:r>
              <a:rPr lang="zh-CN" altLang="en-US" sz="2200" b="1" dirty="0"/>
              <a:t>一般在</a:t>
            </a:r>
            <a:r>
              <a:rPr lang="en-US" altLang="zh-CN" sz="2200" b="1" dirty="0"/>
              <a:t>INSERT</a:t>
            </a:r>
            <a:r>
              <a:rPr lang="zh-CN" altLang="en-US" sz="2200" b="1" dirty="0"/>
              <a:t>、</a:t>
            </a:r>
            <a:r>
              <a:rPr lang="en-US" altLang="zh-CN" sz="2200" b="1" dirty="0"/>
              <a:t>UPDATE</a:t>
            </a:r>
            <a:r>
              <a:rPr lang="zh-CN" altLang="en-US" sz="2200" b="1" dirty="0"/>
              <a:t>、</a:t>
            </a:r>
            <a:r>
              <a:rPr lang="en-US" altLang="zh-CN" sz="2200" b="1" dirty="0"/>
              <a:t>DELETE</a:t>
            </a:r>
            <a:r>
              <a:rPr lang="zh-CN" altLang="en-US" sz="2200" b="1" dirty="0"/>
              <a:t>语句执行后开始检查，也可以在事务提交时检查 </a:t>
            </a:r>
            <a:endParaRPr lang="zh-CN" altLang="en-US" sz="22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数据库完整性</a:t>
            </a:r>
            <a:r>
              <a:rPr lang="en-US" altLang="zh-CN" sz="3600">
                <a:solidFill>
                  <a:schemeClr val="bg1"/>
                </a:solidFill>
              </a:rPr>
              <a:t>（</a:t>
            </a:r>
            <a:r>
              <a:rPr lang="zh-CN" altLang="en-US" sz="3600">
                <a:solidFill>
                  <a:schemeClr val="bg1"/>
                </a:solidFill>
              </a:rPr>
              <a:t>续</a:t>
            </a:r>
            <a:r>
              <a:rPr lang="en-US" altLang="zh-CN" sz="3600">
                <a:solidFill>
                  <a:schemeClr val="bg1"/>
                </a:solidFill>
              </a:rPr>
              <a:t>）</a:t>
            </a:r>
            <a:endParaRPr lang="en-US" altLang="zh-CN" sz="3600">
              <a:solidFill>
                <a:schemeClr val="bg1"/>
              </a:solidFill>
            </a:endParaRPr>
          </a:p>
        </p:txBody>
      </p:sp>
      <p:sp>
        <p:nvSpPr>
          <p:cNvPr id="6147" name="Rectangle 3"/>
          <p:cNvSpPr txBox="1">
            <a:spLocks noChangeArrowheads="1"/>
          </p:cNvSpPr>
          <p:nvPr/>
        </p:nvSpPr>
        <p:spPr bwMode="auto">
          <a:xfrm>
            <a:off x="532950" y="1340768"/>
            <a:ext cx="11017224" cy="4608512"/>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150000"/>
              </a:lnSpc>
              <a:buFont typeface="Arial" panose="020B0604020202020204" pitchFamily="34" charset="0"/>
              <a:buNone/>
            </a:pPr>
            <a:r>
              <a:rPr lang="en-US" altLang="zh-CN" sz="2400" b="1" dirty="0"/>
              <a:t>3.</a:t>
            </a:r>
            <a:r>
              <a:rPr lang="zh-CN" altLang="en-US" sz="2400" b="1" dirty="0"/>
              <a:t>提供完整性违约处理的方法 </a:t>
            </a:r>
            <a:endParaRPr lang="zh-CN" altLang="en-US" sz="2400" b="1" dirty="0"/>
          </a:p>
          <a:p>
            <a:pPr lvl="2">
              <a:lnSpc>
                <a:spcPct val="150000"/>
              </a:lnSpc>
              <a:buSzPct val="87000"/>
              <a:buFont typeface="Wingdings" panose="05000000000000000000" pitchFamily="2" charset="2"/>
              <a:buChar char="l"/>
            </a:pPr>
            <a:r>
              <a:rPr lang="en-US" altLang="zh-CN" sz="2200" b="1" dirty="0"/>
              <a:t>RDBMS</a:t>
            </a:r>
            <a:r>
              <a:rPr lang="zh-CN" altLang="en-US" sz="2200" b="1" dirty="0"/>
              <a:t>若发现用户的操作违背了完整性约束，就采取一定的动作</a:t>
            </a:r>
            <a:endParaRPr lang="zh-CN" altLang="en-US" sz="2200" b="1" dirty="0"/>
          </a:p>
          <a:p>
            <a:pPr lvl="3" eaLnBrk="1" hangingPunct="1">
              <a:lnSpc>
                <a:spcPct val="150000"/>
              </a:lnSpc>
              <a:buFont typeface="Wingdings" panose="05000000000000000000" pitchFamily="2" charset="2"/>
              <a:buChar char="Ø"/>
            </a:pPr>
            <a:r>
              <a:rPr lang="zh-CN" altLang="en-US" sz="2200" b="1" dirty="0"/>
              <a:t>拒绝</a:t>
            </a:r>
            <a:r>
              <a:rPr lang="en-US" altLang="zh-CN" sz="2200" b="1" dirty="0"/>
              <a:t>（NO ACTION）</a:t>
            </a:r>
            <a:r>
              <a:rPr lang="zh-CN" altLang="en-US" sz="2200" b="1" dirty="0"/>
              <a:t>执行该操作</a:t>
            </a:r>
            <a:endParaRPr lang="zh-CN" altLang="en-US" sz="2200" b="1" dirty="0"/>
          </a:p>
          <a:p>
            <a:pPr lvl="3" eaLnBrk="1" hangingPunct="1">
              <a:lnSpc>
                <a:spcPct val="150000"/>
              </a:lnSpc>
              <a:buFont typeface="Wingdings" panose="05000000000000000000" pitchFamily="2" charset="2"/>
              <a:buChar char="Ø"/>
            </a:pPr>
            <a:r>
              <a:rPr lang="zh-CN" altLang="en-US" sz="2200" b="1" dirty="0"/>
              <a:t>级连</a:t>
            </a:r>
            <a:r>
              <a:rPr lang="en-US" altLang="zh-CN" sz="2200" b="1" dirty="0"/>
              <a:t>（CASCADE）</a:t>
            </a:r>
            <a:r>
              <a:rPr lang="zh-CN" altLang="en-US" sz="2200" b="1" dirty="0"/>
              <a:t>执行其他操作</a:t>
            </a:r>
            <a:endParaRPr lang="zh-CN" altLang="en-US" sz="22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243" name="Rectangle 2"/>
          <p:cNvSpPr>
            <a:spLocks noGrp="1" noChangeArrowheads="1"/>
          </p:cNvSpPr>
          <p:nvPr>
            <p:ph type="title" idx="4294967295"/>
          </p:nvPr>
        </p:nvSpPr>
        <p:spPr/>
        <p:txBody>
          <a:bodyPr/>
          <a:lstStyle/>
          <a:p>
            <a:pPr eaLnBrk="1" hangingPunct="1"/>
            <a:r>
              <a:rPr lang="zh-CN" altLang="zh-CN" sz="3600"/>
              <a:t>第五章 数据库完整性</a:t>
            </a:r>
            <a:endParaRPr lang="zh-CN" altLang="zh-CN" sz="3600"/>
          </a:p>
        </p:txBody>
      </p:sp>
      <p:sp>
        <p:nvSpPr>
          <p:cNvPr id="10244" name="Rectangle 3"/>
          <p:cNvSpPr>
            <a:spLocks noGrp="1" noChangeArrowheads="1"/>
          </p:cNvSpPr>
          <p:nvPr>
            <p:ph type="body" idx="4294967295"/>
          </p:nvPr>
        </p:nvSpPr>
        <p:spPr>
          <a:xfrm>
            <a:off x="1518445" y="1052514"/>
            <a:ext cx="7859712" cy="5329237"/>
          </a:xfrm>
        </p:spPr>
        <p:txBody>
          <a:bodyPr/>
          <a:lstStyle/>
          <a:p>
            <a:pPr eaLnBrk="1" hangingPunct="1">
              <a:lnSpc>
                <a:spcPct val="130000"/>
              </a:lnSpc>
              <a:buFont typeface="Wingdings" panose="05000000000000000000"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anose="05000000000000000000" pitchFamily="2" charset="2"/>
              <a:buNone/>
            </a:pPr>
            <a:r>
              <a:rPr lang="en-US" altLang="zh-CN" dirty="0">
                <a:solidFill>
                  <a:srgbClr val="0066FF"/>
                </a:solidFill>
              </a:rPr>
              <a:t>5.2 </a:t>
            </a:r>
            <a:r>
              <a:rPr lang="zh-CN" altLang="en-US" dirty="0">
                <a:solidFill>
                  <a:srgbClr val="0066FF"/>
                </a:solidFill>
              </a:rPr>
              <a:t>实体完整性</a:t>
            </a:r>
            <a:endParaRPr lang="zh-CN" altLang="en-US" dirty="0">
              <a:solidFill>
                <a:srgbClr val="0066FF"/>
              </a:solidFill>
            </a:endParaRPr>
          </a:p>
          <a:p>
            <a:pPr eaLnBrk="1" hangingPunct="1">
              <a:lnSpc>
                <a:spcPct val="130000"/>
              </a:lnSpc>
              <a:buFont typeface="Wingdings" panose="05000000000000000000" pitchFamily="2" charset="2"/>
              <a:buNone/>
            </a:pPr>
            <a:r>
              <a:rPr lang="en-US" altLang="zh-CN" dirty="0"/>
              <a:t>5.3 </a:t>
            </a:r>
            <a:r>
              <a:rPr lang="zh-CN" altLang="en-US" dirty="0"/>
              <a:t>参照完整性</a:t>
            </a:r>
            <a:endParaRPr lang="zh-CN" altLang="en-US" dirty="0"/>
          </a:p>
          <a:p>
            <a:pPr eaLnBrk="1" hangingPunct="1">
              <a:lnSpc>
                <a:spcPct val="130000"/>
              </a:lnSpc>
              <a:buFont typeface="Wingdings" panose="05000000000000000000" pitchFamily="2" charset="2"/>
              <a:buNone/>
            </a:pPr>
            <a:r>
              <a:rPr lang="en-US" altLang="zh-CN" dirty="0"/>
              <a:t>5.4 </a:t>
            </a:r>
            <a:r>
              <a:rPr lang="zh-CN" altLang="en-US" dirty="0"/>
              <a:t>用户定义的完整性</a:t>
            </a:r>
            <a:endParaRPr lang="zh-CN" altLang="en-US" dirty="0"/>
          </a:p>
          <a:p>
            <a:pPr eaLnBrk="1" hangingPunct="1">
              <a:lnSpc>
                <a:spcPct val="130000"/>
              </a:lnSpc>
              <a:buFont typeface="Wingdings" panose="05000000000000000000" pitchFamily="2" charset="2"/>
              <a:buNone/>
            </a:pPr>
            <a:r>
              <a:rPr lang="en-US" altLang="zh-CN" dirty="0"/>
              <a:t>5.5 </a:t>
            </a:r>
            <a:r>
              <a:rPr lang="zh-CN" altLang="en-US" dirty="0"/>
              <a:t>完整性约束命名子句</a:t>
            </a:r>
            <a:endParaRPr lang="zh-CN" altLang="en-US" dirty="0"/>
          </a:p>
          <a:p>
            <a:pPr eaLnBrk="1" hangingPunct="1">
              <a:lnSpc>
                <a:spcPct val="130000"/>
              </a:lnSpc>
              <a:buFont typeface="Wingdings" panose="05000000000000000000" pitchFamily="2" charset="2"/>
              <a:buNone/>
            </a:pPr>
            <a:r>
              <a:rPr lang="zh-CN" altLang="en-US" dirty="0"/>
              <a:t>*</a:t>
            </a:r>
            <a:r>
              <a:rPr lang="en-US" altLang="zh-CN" dirty="0"/>
              <a:t>5.6 </a:t>
            </a:r>
            <a:r>
              <a:rPr lang="zh-CN" altLang="en-US" dirty="0"/>
              <a:t>域中的完整性限制</a:t>
            </a:r>
            <a:endParaRPr lang="en-US" altLang="zh-CN" dirty="0"/>
          </a:p>
          <a:p>
            <a:pPr eaLnBrk="1" hangingPunct="1">
              <a:lnSpc>
                <a:spcPct val="130000"/>
              </a:lnSpc>
              <a:buFont typeface="Wingdings" panose="05000000000000000000" pitchFamily="2" charset="2"/>
              <a:buNone/>
            </a:pPr>
            <a:r>
              <a:rPr lang="en-US" altLang="zh-CN" dirty="0"/>
              <a:t>5.7 </a:t>
            </a:r>
            <a:r>
              <a:rPr lang="zh-CN" altLang="en-US" dirty="0"/>
              <a:t>触发器</a:t>
            </a:r>
            <a:endParaRPr lang="en-US" altLang="zh-CN" dirty="0"/>
          </a:p>
          <a:p>
            <a:pPr eaLnBrk="1" hangingPunct="1">
              <a:lnSpc>
                <a:spcPct val="130000"/>
              </a:lnSpc>
              <a:buFont typeface="Wingdings" panose="05000000000000000000" pitchFamily="2" charset="2"/>
              <a:buNone/>
            </a:pPr>
            <a:r>
              <a:rPr lang="en-US" altLang="zh-CN" dirty="0"/>
              <a:t>5.8 </a:t>
            </a:r>
            <a:r>
              <a:rPr lang="zh-CN" altLang="en-US" dirty="0"/>
              <a:t>小结</a:t>
            </a:r>
            <a:endParaRPr lang="zh-CN" altLang="en-US" dirty="0"/>
          </a:p>
          <a:p>
            <a:pPr eaLnBrk="1" hangingPunct="1"/>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267" name="Rectangle 2"/>
          <p:cNvSpPr>
            <a:spLocks noGrp="1" noChangeArrowheads="1"/>
          </p:cNvSpPr>
          <p:nvPr>
            <p:ph type="title" idx="4294967295"/>
          </p:nvPr>
        </p:nvSpPr>
        <p:spPr/>
        <p:txBody>
          <a:bodyPr/>
          <a:lstStyle/>
          <a:p>
            <a:pPr eaLnBrk="1" hangingPunct="1"/>
            <a:r>
              <a:rPr lang="en-US" altLang="zh-CN" sz="3600"/>
              <a:t>5.2 </a:t>
            </a:r>
            <a:r>
              <a:rPr lang="zh-CN" altLang="en-US" sz="3600"/>
              <a:t>实体完整性</a:t>
            </a:r>
            <a:endParaRPr lang="zh-CN" altLang="en-US" sz="3600"/>
          </a:p>
        </p:txBody>
      </p:sp>
      <p:sp>
        <p:nvSpPr>
          <p:cNvPr id="11268" name="Rectangle 3"/>
          <p:cNvSpPr>
            <a:spLocks noGrp="1" noChangeArrowheads="1"/>
          </p:cNvSpPr>
          <p:nvPr>
            <p:ph type="body" idx="4294967295"/>
          </p:nvPr>
        </p:nvSpPr>
        <p:spPr>
          <a:xfrm>
            <a:off x="1055440" y="1527176"/>
            <a:ext cx="8229600" cy="4854575"/>
          </a:xfrm>
        </p:spPr>
        <p:txBody>
          <a:bodyPr/>
          <a:lstStyle/>
          <a:p>
            <a:pPr marL="0" indent="0" eaLnBrk="1" hangingPunct="1">
              <a:lnSpc>
                <a:spcPct val="190000"/>
              </a:lnSpc>
              <a:buNone/>
            </a:pPr>
            <a:r>
              <a:rPr lang="en-US" altLang="zh-CN" dirty="0">
                <a:solidFill>
                  <a:srgbClr val="00B050"/>
                </a:solidFill>
              </a:rPr>
              <a:t>5.2.1 </a:t>
            </a:r>
            <a:r>
              <a:rPr lang="zh-CN" altLang="en-US" dirty="0">
                <a:solidFill>
                  <a:srgbClr val="00B050"/>
                </a:solidFill>
              </a:rPr>
              <a:t>定义实体完整性</a:t>
            </a:r>
            <a:endParaRPr lang="en-US" altLang="zh-CN" dirty="0">
              <a:solidFill>
                <a:srgbClr val="00B050"/>
              </a:solidFill>
            </a:endParaRPr>
          </a:p>
          <a:p>
            <a:pPr marL="0" indent="0" eaLnBrk="1" hangingPunct="1">
              <a:lnSpc>
                <a:spcPct val="190000"/>
              </a:lnSpc>
              <a:buNone/>
            </a:pPr>
            <a:r>
              <a:rPr lang="en-US" altLang="zh-CN" dirty="0"/>
              <a:t>5.2.2 </a:t>
            </a:r>
            <a:r>
              <a:rPr lang="zh-CN" altLang="en-US" dirty="0"/>
              <a:t>实体完整性检查和违约处理</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2291" name="Rectangle 2"/>
          <p:cNvSpPr>
            <a:spLocks noGrp="1" noChangeArrowheads="1"/>
          </p:cNvSpPr>
          <p:nvPr>
            <p:ph type="title" idx="4294967295"/>
          </p:nvPr>
        </p:nvSpPr>
        <p:spPr/>
        <p:txBody>
          <a:bodyPr/>
          <a:lstStyle/>
          <a:p>
            <a:pPr eaLnBrk="1" hangingPunct="1"/>
            <a:r>
              <a:rPr lang="en-US" altLang="zh-CN" sz="3600"/>
              <a:t>5.2.1 </a:t>
            </a:r>
            <a:r>
              <a:rPr lang="zh-CN" altLang="en-US" sz="3600"/>
              <a:t>实体完整性定义</a:t>
            </a:r>
            <a:endParaRPr lang="zh-CN" altLang="en-US" sz="3600"/>
          </a:p>
        </p:txBody>
      </p:sp>
      <p:sp>
        <p:nvSpPr>
          <p:cNvPr id="12292" name="Rectangle 3"/>
          <p:cNvSpPr>
            <a:spLocks noGrp="1" noChangeArrowheads="1"/>
          </p:cNvSpPr>
          <p:nvPr>
            <p:ph type="body" idx="4294967295"/>
          </p:nvPr>
        </p:nvSpPr>
        <p:spPr>
          <a:xfrm>
            <a:off x="1127448" y="1201160"/>
            <a:ext cx="8229600" cy="5095875"/>
          </a:xfrm>
        </p:spPr>
        <p:txBody>
          <a:bodyPr/>
          <a:lstStyle/>
          <a:p>
            <a:pPr eaLnBrk="1" hangingPunct="1">
              <a:lnSpc>
                <a:spcPct val="140000"/>
              </a:lnSpc>
            </a:pPr>
            <a:r>
              <a:rPr lang="zh-CN" altLang="en-US" dirty="0"/>
              <a:t>关系模型的实体完整性</a:t>
            </a:r>
            <a:endParaRPr lang="zh-CN" altLang="en-US" dirty="0"/>
          </a:p>
          <a:p>
            <a:pPr lvl="1" eaLnBrk="1" hangingPunct="1">
              <a:lnSpc>
                <a:spcPct val="140000"/>
              </a:lnSpc>
            </a:pPr>
            <a:r>
              <a:rPr lang="en-US" altLang="zh-CN" dirty="0"/>
              <a:t>CREATE  TABLE</a:t>
            </a:r>
            <a:r>
              <a:rPr lang="zh-CN" altLang="en-US" dirty="0"/>
              <a:t>中用</a:t>
            </a:r>
            <a:r>
              <a:rPr lang="en-US" altLang="zh-CN" dirty="0"/>
              <a:t>PRIMARY KEY</a:t>
            </a:r>
            <a:r>
              <a:rPr lang="zh-CN" altLang="en-US" dirty="0"/>
              <a:t>定义</a:t>
            </a:r>
            <a:endParaRPr lang="zh-CN" altLang="en-US" dirty="0"/>
          </a:p>
          <a:p>
            <a:pPr eaLnBrk="1" hangingPunct="1">
              <a:lnSpc>
                <a:spcPct val="140000"/>
              </a:lnSpc>
            </a:pPr>
            <a:r>
              <a:rPr lang="zh-CN" altLang="en-US" dirty="0"/>
              <a:t>单属性构成的码有两种说明方法 </a:t>
            </a:r>
            <a:endParaRPr lang="zh-CN" altLang="en-US" dirty="0"/>
          </a:p>
          <a:p>
            <a:pPr lvl="1" eaLnBrk="1" hangingPunct="1">
              <a:lnSpc>
                <a:spcPct val="140000"/>
              </a:lnSpc>
            </a:pPr>
            <a:r>
              <a:rPr lang="zh-CN" altLang="en-US" dirty="0"/>
              <a:t>定义为列级约束条件</a:t>
            </a:r>
            <a:endParaRPr lang="zh-CN" altLang="en-US" dirty="0"/>
          </a:p>
          <a:p>
            <a:pPr lvl="1" eaLnBrk="1" hangingPunct="1">
              <a:lnSpc>
                <a:spcPct val="140000"/>
              </a:lnSpc>
            </a:pPr>
            <a:r>
              <a:rPr lang="zh-CN" altLang="en-US" dirty="0"/>
              <a:t>定义为表级约束条件</a:t>
            </a:r>
            <a:endParaRPr lang="zh-CN" altLang="en-US" dirty="0"/>
          </a:p>
          <a:p>
            <a:pPr eaLnBrk="1" hangingPunct="1">
              <a:lnSpc>
                <a:spcPct val="140000"/>
              </a:lnSpc>
            </a:pPr>
            <a:r>
              <a:rPr lang="zh-CN" altLang="en-US" dirty="0"/>
              <a:t>对多个属性构成的码只有一种说明方法</a:t>
            </a:r>
            <a:endParaRPr lang="zh-CN" altLang="en-US" dirty="0"/>
          </a:p>
          <a:p>
            <a:pPr lvl="1" eaLnBrk="1" hangingPunct="1">
              <a:lnSpc>
                <a:spcPct val="140000"/>
              </a:lnSpc>
            </a:pPr>
            <a:r>
              <a:rPr lang="zh-CN" altLang="en-US" dirty="0"/>
              <a:t>定义为表级约束条件 </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3315" name="Rectangle 2"/>
          <p:cNvSpPr>
            <a:spLocks noGrp="1" noChangeArrowheads="1"/>
          </p:cNvSpPr>
          <p:nvPr>
            <p:ph type="title" idx="4294967295"/>
          </p:nvPr>
        </p:nvSpPr>
        <p:spPr/>
        <p:txBody>
          <a:bodyPr/>
          <a:lstStyle/>
          <a:p>
            <a:pPr eaLnBrk="1" hangingPunct="1"/>
            <a:r>
              <a:rPr lang="zh-CN" altLang="en-US" sz="3600"/>
              <a:t>实体完整性定义</a:t>
            </a:r>
            <a:r>
              <a:rPr lang="en-US" altLang="zh-CN" sz="3600"/>
              <a:t>（</a:t>
            </a:r>
            <a:r>
              <a:rPr lang="zh-CN" altLang="en-US" sz="3600"/>
              <a:t>续</a:t>
            </a:r>
            <a:r>
              <a:rPr lang="en-US" altLang="zh-CN" sz="3600"/>
              <a:t>）</a:t>
            </a:r>
            <a:endParaRPr lang="en-US" altLang="zh-CN" sz="3600"/>
          </a:p>
        </p:txBody>
      </p:sp>
      <p:sp>
        <p:nvSpPr>
          <p:cNvPr id="13316" name="Rectangle 3"/>
          <p:cNvSpPr>
            <a:spLocks noGrp="1" noChangeArrowheads="1"/>
          </p:cNvSpPr>
          <p:nvPr>
            <p:ph type="body" idx="4294967295"/>
          </p:nvPr>
        </p:nvSpPr>
        <p:spPr>
          <a:xfrm>
            <a:off x="767408" y="1150649"/>
            <a:ext cx="10972800" cy="4854575"/>
          </a:xfrm>
        </p:spPr>
        <p:txBody>
          <a:bodyPr/>
          <a:lstStyle/>
          <a:p>
            <a:pPr eaLnBrk="1" hangingPunct="1">
              <a:buFont typeface="Wingdings" panose="05000000000000000000" pitchFamily="2" charset="2"/>
              <a:buNone/>
            </a:pPr>
            <a:r>
              <a:rPr lang="en-US" altLang="zh-CN" sz="2400" dirty="0"/>
              <a:t>[</a:t>
            </a:r>
            <a:r>
              <a:rPr lang="zh-CN" altLang="en-US" sz="2400" dirty="0" smtClean="0"/>
              <a:t>例</a:t>
            </a:r>
            <a:r>
              <a:rPr lang="en-US" altLang="zh-CN" sz="2400" dirty="0" smtClean="0"/>
              <a:t>5.1]</a:t>
            </a:r>
            <a:r>
              <a:rPr lang="zh-CN" altLang="en-US" sz="2400" dirty="0" smtClean="0"/>
              <a:t> </a:t>
            </a:r>
            <a:r>
              <a:rPr lang="zh-CN" altLang="en-US" sz="2400" dirty="0"/>
              <a:t>创建学生表</a:t>
            </a:r>
            <a:r>
              <a:rPr lang="en-US" altLang="zh-CN" sz="2400" dirty="0"/>
              <a:t>Student</a:t>
            </a:r>
            <a:r>
              <a:rPr lang="zh-CN" altLang="en-US" sz="2400" dirty="0"/>
              <a:t>，将</a:t>
            </a:r>
            <a:r>
              <a:rPr lang="en-US" altLang="zh-CN" sz="2400" dirty="0" err="1"/>
              <a:t>Sno</a:t>
            </a:r>
            <a:r>
              <a:rPr lang="zh-CN" altLang="en-US" sz="2400" dirty="0"/>
              <a:t>属性定义为主码</a:t>
            </a:r>
            <a:endParaRPr lang="zh-CN" altLang="en-US" sz="2400" dirty="0"/>
          </a:p>
          <a:p>
            <a:pPr eaLnBrk="1" hangingPunct="1">
              <a:buFont typeface="Wingdings" panose="05000000000000000000" pitchFamily="2" charset="2"/>
              <a:buNone/>
            </a:pPr>
            <a:r>
              <a:rPr lang="en-US" altLang="zh-CN" sz="2400" dirty="0"/>
              <a:t>	CREATE TABLE Student          </a:t>
            </a:r>
            <a:endParaRPr lang="en-US" altLang="zh-CN" sz="2400" dirty="0"/>
          </a:p>
          <a:p>
            <a:pPr eaLnBrk="1" hangingPunct="1">
              <a:buFont typeface="Wingdings" panose="05000000000000000000" pitchFamily="2" charset="2"/>
              <a:buNone/>
            </a:pPr>
            <a:r>
              <a:rPr lang="en-US" altLang="zh-CN" sz="2400" dirty="0"/>
              <a:t>  		(</a:t>
            </a:r>
            <a:r>
              <a:rPr lang="en-US" altLang="zh-CN" sz="2400" dirty="0" err="1"/>
              <a:t>Sno</a:t>
            </a:r>
            <a:r>
              <a:rPr lang="en-US" altLang="zh-CN" sz="2400" dirty="0"/>
              <a:t>  CHAR(8)  PRIMARY KEY,	    </a:t>
            </a:r>
            <a:r>
              <a:rPr lang="en-US" altLang="zh-CN" sz="2000" dirty="0"/>
              <a:t> </a:t>
            </a:r>
            <a:r>
              <a:rPr lang="en-US" altLang="zh-CN" sz="1800" dirty="0"/>
              <a:t>/*</a:t>
            </a:r>
            <a:r>
              <a:rPr lang="zh-CN" altLang="en-US" sz="1800" dirty="0"/>
              <a:t>在列级定义主码*</a:t>
            </a:r>
            <a:r>
              <a:rPr lang="en-US" altLang="zh-CN" sz="1800" dirty="0"/>
              <a:t>/</a:t>
            </a:r>
            <a:endParaRPr lang="en-US" altLang="zh-CN" sz="1800" dirty="0"/>
          </a:p>
          <a:p>
            <a:pPr eaLnBrk="1" hangingPunct="1">
              <a:buFont typeface="Wingdings" panose="05000000000000000000" pitchFamily="2" charset="2"/>
              <a:buNone/>
            </a:pPr>
            <a:r>
              <a:rPr lang="en-US" altLang="zh-CN" sz="2400" dirty="0"/>
              <a:t>  		 </a:t>
            </a:r>
            <a:r>
              <a:rPr lang="en-US" altLang="zh-CN" sz="2400" dirty="0" err="1"/>
              <a:t>Sname</a:t>
            </a:r>
            <a:r>
              <a:rPr lang="en-US" altLang="zh-CN" sz="2400" dirty="0"/>
              <a:t> CHAR(20)  UNIQUE,</a:t>
            </a:r>
            <a:endParaRPr lang="en-US" altLang="zh-CN" sz="2400" dirty="0"/>
          </a:p>
          <a:p>
            <a:pPr eaLnBrk="1" hangingPunct="1">
              <a:buFont typeface="Wingdings" panose="05000000000000000000" pitchFamily="2" charset="2"/>
              <a:buNone/>
            </a:pPr>
            <a:r>
              <a:rPr lang="en-US" altLang="zh-CN" sz="2400" dirty="0"/>
              <a:t>  		 </a:t>
            </a:r>
            <a:r>
              <a:rPr lang="en-US" altLang="zh-CN" sz="2400" dirty="0" err="1"/>
              <a:t>Ssex</a:t>
            </a:r>
            <a:r>
              <a:rPr lang="en-US" altLang="zh-CN" sz="2400" dirty="0"/>
              <a:t>   CHAR(6),</a:t>
            </a:r>
            <a:endParaRPr lang="en-US" altLang="zh-CN" sz="2400" dirty="0"/>
          </a:p>
          <a:p>
            <a:pPr eaLnBrk="1" hangingPunct="1">
              <a:buFont typeface="Wingdings" panose="05000000000000000000" pitchFamily="2" charset="2"/>
              <a:buNone/>
            </a:pPr>
            <a:r>
              <a:rPr lang="en-US" altLang="zh-CN" sz="2400" dirty="0"/>
              <a:t>  		 </a:t>
            </a:r>
            <a:r>
              <a:rPr lang="en-US" altLang="zh-CN" sz="2400" dirty="0" err="1"/>
              <a:t>Sbirthdate</a:t>
            </a:r>
            <a:r>
              <a:rPr lang="en-US" altLang="zh-CN" sz="2400" dirty="0"/>
              <a:t> Date, </a:t>
            </a:r>
            <a:endParaRPr lang="en-US" altLang="zh-CN" sz="2400" dirty="0"/>
          </a:p>
          <a:p>
            <a:pPr eaLnBrk="1" hangingPunct="1">
              <a:buFont typeface="Wingdings" panose="05000000000000000000" pitchFamily="2" charset="2"/>
              <a:buNone/>
            </a:pPr>
            <a:r>
              <a:rPr lang="en-US" altLang="zh-CN" sz="2400" dirty="0"/>
              <a:t> 		 </a:t>
            </a:r>
            <a:r>
              <a:rPr lang="en-US" altLang="zh-CN" sz="2400" dirty="0" err="1"/>
              <a:t>Smajor</a:t>
            </a:r>
            <a:r>
              <a:rPr lang="en-US" altLang="zh-CN" sz="2400" dirty="0"/>
              <a:t>  VARCHAR(40)</a:t>
            </a:r>
            <a:endParaRPr lang="en-US" altLang="zh-CN" sz="2400" dirty="0"/>
          </a:p>
          <a:p>
            <a:pPr eaLnBrk="1" hangingPunct="1">
              <a:buFont typeface="Wingdings" panose="05000000000000000000" pitchFamily="2" charset="2"/>
              <a:buNone/>
            </a:pPr>
            <a:r>
              <a:rPr lang="en-US" altLang="zh-CN" sz="2400" dirty="0"/>
              <a:t>		 )</a:t>
            </a:r>
            <a:r>
              <a:rPr lang="zh-CN" altLang="en-US" sz="2400" dirty="0"/>
              <a:t>；</a:t>
            </a:r>
            <a:endParaRPr lang="zh-CN"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4339" name="Rectangle 2"/>
          <p:cNvSpPr>
            <a:spLocks noGrp="1" noChangeArrowheads="1"/>
          </p:cNvSpPr>
          <p:nvPr>
            <p:ph type="title" idx="4294967295"/>
          </p:nvPr>
        </p:nvSpPr>
        <p:spPr/>
        <p:txBody>
          <a:bodyPr/>
          <a:lstStyle/>
          <a:p>
            <a:pPr eaLnBrk="1" hangingPunct="1"/>
            <a:r>
              <a:rPr lang="zh-CN" altLang="en-US" sz="3600"/>
              <a:t>实体完整性定义</a:t>
            </a:r>
            <a:r>
              <a:rPr lang="en-US" altLang="zh-CN" sz="3600"/>
              <a:t>（</a:t>
            </a:r>
            <a:r>
              <a:rPr lang="zh-CN" altLang="en-US" sz="3600"/>
              <a:t>续</a:t>
            </a:r>
            <a:r>
              <a:rPr lang="en-US" altLang="zh-CN" sz="3600"/>
              <a:t>）</a:t>
            </a:r>
            <a:endParaRPr lang="en-US" altLang="zh-CN" sz="3600"/>
          </a:p>
        </p:txBody>
      </p:sp>
      <p:sp>
        <p:nvSpPr>
          <p:cNvPr id="14340" name="Rectangle 3"/>
          <p:cNvSpPr>
            <a:spLocks noGrp="1" noChangeArrowheads="1"/>
          </p:cNvSpPr>
          <p:nvPr>
            <p:ph type="body" idx="4294967295"/>
          </p:nvPr>
        </p:nvSpPr>
        <p:spPr>
          <a:xfrm>
            <a:off x="1055440" y="1312895"/>
            <a:ext cx="8229600" cy="5213350"/>
          </a:xfrm>
        </p:spPr>
        <p:txBody>
          <a:bodyPr/>
          <a:lstStyle/>
          <a:p>
            <a:pPr eaLnBrk="1" hangingPunct="1">
              <a:buFont typeface="Wingdings" panose="05000000000000000000" pitchFamily="2" charset="2"/>
              <a:buNone/>
            </a:pPr>
            <a:r>
              <a:rPr lang="en-US" altLang="zh-CN" sz="2400" dirty="0"/>
              <a:t>（2）</a:t>
            </a:r>
            <a:r>
              <a:rPr lang="zh-CN" altLang="en-US" sz="2400" dirty="0"/>
              <a:t>在表级定义主码</a:t>
            </a:r>
            <a:endParaRPr lang="zh-CN" altLang="en-US" sz="2400" dirty="0"/>
          </a:p>
          <a:p>
            <a:pPr lvl="1" eaLnBrk="1" hangingPunct="1">
              <a:buFont typeface="Wingdings" panose="05000000000000000000" pitchFamily="2" charset="2"/>
              <a:buNone/>
            </a:pPr>
            <a:r>
              <a:rPr lang="en-US" altLang="zh-CN" dirty="0"/>
              <a:t>CREATE TABLE Student </a:t>
            </a:r>
            <a:endParaRPr lang="en-US" altLang="zh-CN" dirty="0"/>
          </a:p>
          <a:p>
            <a:pPr lvl="1" eaLnBrk="1" hangingPunct="1">
              <a:buFont typeface="Wingdings" panose="05000000000000000000" pitchFamily="2" charset="2"/>
              <a:buNone/>
            </a:pPr>
            <a:r>
              <a:rPr lang="en-US" altLang="zh-CN" dirty="0"/>
              <a:t>  (</a:t>
            </a:r>
            <a:r>
              <a:rPr lang="en-US" altLang="zh-CN" dirty="0" err="1"/>
              <a:t>Sno</a:t>
            </a:r>
            <a:r>
              <a:rPr lang="en-US" altLang="zh-CN" dirty="0"/>
              <a:t>  CHAR(8),</a:t>
            </a:r>
            <a:endParaRPr lang="en-US" altLang="zh-CN" dirty="0"/>
          </a:p>
          <a:p>
            <a:pPr lvl="1" eaLnBrk="1" hangingPunct="1">
              <a:buFont typeface="Wingdings" panose="05000000000000000000" pitchFamily="2" charset="2"/>
              <a:buNone/>
            </a:pPr>
            <a:r>
              <a:rPr lang="en-US" altLang="zh-CN" dirty="0"/>
              <a:t>   </a:t>
            </a:r>
            <a:r>
              <a:rPr lang="en-US" altLang="zh-CN" dirty="0" err="1"/>
              <a:t>Sname</a:t>
            </a:r>
            <a:r>
              <a:rPr lang="en-US" altLang="zh-CN" dirty="0"/>
              <a:t> CHAR(20) UNIQUE,</a:t>
            </a:r>
            <a:endParaRPr lang="en-US" altLang="zh-CN" dirty="0"/>
          </a:p>
          <a:p>
            <a:pPr lvl="1" eaLnBrk="1" hangingPunct="1">
              <a:buFont typeface="Wingdings" panose="05000000000000000000" pitchFamily="2" charset="2"/>
              <a:buNone/>
            </a:pPr>
            <a:r>
              <a:rPr lang="en-US" altLang="zh-CN" dirty="0"/>
              <a:t>   </a:t>
            </a:r>
            <a:r>
              <a:rPr lang="en-US" altLang="zh-CN" dirty="0" err="1"/>
              <a:t>Ssex</a:t>
            </a:r>
            <a:r>
              <a:rPr lang="en-US" altLang="zh-CN" dirty="0"/>
              <a:t>   CHAR(6),</a:t>
            </a:r>
            <a:endParaRPr lang="en-US" altLang="zh-CN" dirty="0"/>
          </a:p>
          <a:p>
            <a:pPr lvl="1" eaLnBrk="1" hangingPunct="1">
              <a:buFont typeface="Wingdings" panose="05000000000000000000" pitchFamily="2" charset="2"/>
              <a:buNone/>
            </a:pPr>
            <a:r>
              <a:rPr lang="en-US" altLang="zh-CN" dirty="0"/>
              <a:t>   </a:t>
            </a:r>
            <a:r>
              <a:rPr lang="en-US" altLang="zh-CN" dirty="0" err="1"/>
              <a:t>Sbirthdate</a:t>
            </a:r>
            <a:r>
              <a:rPr lang="en-US" altLang="zh-CN" dirty="0"/>
              <a:t> Date, </a:t>
            </a:r>
            <a:endParaRPr lang="en-US" altLang="zh-CN" dirty="0"/>
          </a:p>
          <a:p>
            <a:pPr lvl="1" eaLnBrk="1" hangingPunct="1">
              <a:buFont typeface="Wingdings" panose="05000000000000000000" pitchFamily="2" charset="2"/>
              <a:buNone/>
            </a:pPr>
            <a:r>
              <a:rPr lang="en-US" altLang="zh-CN" dirty="0"/>
              <a:t>   </a:t>
            </a:r>
            <a:r>
              <a:rPr lang="en-US" altLang="zh-CN" dirty="0" err="1"/>
              <a:t>Smajor</a:t>
            </a:r>
            <a:r>
              <a:rPr lang="en-US" altLang="zh-CN" dirty="0"/>
              <a:t>  VARCHAR(40),</a:t>
            </a:r>
            <a:endParaRPr lang="en-US" altLang="zh-CN" dirty="0"/>
          </a:p>
          <a:p>
            <a:pPr lvl="1" eaLnBrk="1" hangingPunct="1">
              <a:buFont typeface="Wingdings" panose="05000000000000000000" pitchFamily="2" charset="2"/>
              <a:buNone/>
            </a:pPr>
            <a:r>
              <a:rPr lang="en-US" altLang="zh-CN" dirty="0"/>
              <a:t>   PRIMARY KEY (</a:t>
            </a:r>
            <a:r>
              <a:rPr lang="en-US" altLang="zh-CN" dirty="0" err="1"/>
              <a:t>Sno</a:t>
            </a:r>
            <a:r>
              <a:rPr lang="en-US" altLang="zh-CN" dirty="0"/>
              <a:t>)                </a:t>
            </a:r>
            <a:r>
              <a:rPr lang="en-US" altLang="zh-CN" sz="1800" dirty="0"/>
              <a:t>/*</a:t>
            </a:r>
            <a:r>
              <a:rPr lang="zh-CN" altLang="en-US" sz="1800" dirty="0"/>
              <a:t>在表级定义主码*</a:t>
            </a:r>
            <a:r>
              <a:rPr lang="en-US" altLang="zh-CN" sz="1800" dirty="0"/>
              <a:t>/</a:t>
            </a:r>
            <a:endParaRPr lang="en-US" altLang="zh-CN" dirty="0"/>
          </a:p>
          <a:p>
            <a:pPr lvl="1" eaLnBrk="1" hangingPunct="1">
              <a:buFont typeface="Wingdings" panose="05000000000000000000" pitchFamily="2" charset="2"/>
              <a:buNone/>
            </a:pPr>
            <a:r>
              <a:rPr lang="en-US" altLang="zh-CN" dirty="0"/>
              <a:t>    ); </a:t>
            </a:r>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5363" name="Rectangle 2"/>
          <p:cNvSpPr>
            <a:spLocks noGrp="1" noChangeArrowheads="1"/>
          </p:cNvSpPr>
          <p:nvPr>
            <p:ph type="title" idx="4294967295"/>
          </p:nvPr>
        </p:nvSpPr>
        <p:spPr/>
        <p:txBody>
          <a:bodyPr/>
          <a:lstStyle/>
          <a:p>
            <a:pPr eaLnBrk="1" hangingPunct="1"/>
            <a:r>
              <a:rPr lang="zh-CN" altLang="en-US" sz="3600"/>
              <a:t>实体完整性定义</a:t>
            </a:r>
            <a:r>
              <a:rPr lang="en-US" altLang="zh-CN" sz="3600"/>
              <a:t>（</a:t>
            </a:r>
            <a:r>
              <a:rPr lang="zh-CN" altLang="en-US" sz="3600"/>
              <a:t>续</a:t>
            </a:r>
            <a:r>
              <a:rPr lang="en-US" altLang="zh-CN" sz="3600"/>
              <a:t>）</a:t>
            </a:r>
            <a:endParaRPr lang="en-US" altLang="zh-CN" sz="3600"/>
          </a:p>
        </p:txBody>
      </p:sp>
      <p:sp>
        <p:nvSpPr>
          <p:cNvPr id="15364" name="Rectangle 3"/>
          <p:cNvSpPr>
            <a:spLocks noGrp="1" noChangeArrowheads="1"/>
          </p:cNvSpPr>
          <p:nvPr>
            <p:ph type="body" idx="4294967295"/>
          </p:nvPr>
        </p:nvSpPr>
        <p:spPr>
          <a:xfrm>
            <a:off x="911424" y="1268760"/>
            <a:ext cx="10297144" cy="5112991"/>
          </a:xfrm>
        </p:spPr>
        <p:txBody>
          <a:bodyPr/>
          <a:lstStyle/>
          <a:p>
            <a:pPr eaLnBrk="1" hangingPunct="1">
              <a:buNone/>
            </a:pPr>
            <a:r>
              <a:rPr lang="en-US" altLang="zh-CN" sz="2400" dirty="0"/>
              <a:t>[</a:t>
            </a:r>
            <a:r>
              <a:rPr lang="zh-CN" altLang="en-US" sz="2400" dirty="0"/>
              <a:t>例</a:t>
            </a:r>
            <a:r>
              <a:rPr lang="en-US" altLang="zh-CN" sz="2400" dirty="0" smtClean="0"/>
              <a:t>5.2]</a:t>
            </a:r>
            <a:r>
              <a:rPr lang="zh-CN" altLang="en-US" sz="2400" dirty="0" smtClean="0"/>
              <a:t>创建</a:t>
            </a:r>
            <a:r>
              <a:rPr lang="en-US" altLang="zh-CN" sz="2400" dirty="0"/>
              <a:t>SC</a:t>
            </a:r>
            <a:r>
              <a:rPr lang="zh-CN" altLang="en-US" sz="2400" dirty="0"/>
              <a:t>表，将（</a:t>
            </a:r>
            <a:r>
              <a:rPr lang="en-US" altLang="zh-CN" sz="2400" dirty="0" err="1"/>
              <a:t>Sno</a:t>
            </a:r>
            <a:r>
              <a:rPr lang="zh-CN" altLang="en-US" sz="2400" dirty="0"/>
              <a:t>、</a:t>
            </a:r>
            <a:r>
              <a:rPr lang="en-US" altLang="zh-CN" sz="2400" dirty="0" err="1"/>
              <a:t>Cno</a:t>
            </a:r>
            <a:r>
              <a:rPr lang="zh-CN" altLang="en-US" sz="2400" dirty="0"/>
              <a:t>）属性组定义为主</a:t>
            </a:r>
            <a:r>
              <a:rPr lang="zh-CN" altLang="en-US" sz="2400" dirty="0" smtClean="0"/>
              <a:t>码</a:t>
            </a:r>
            <a:endParaRPr lang="zh-CN" altLang="en-US" sz="2400" dirty="0"/>
          </a:p>
          <a:p>
            <a:pPr lvl="1" eaLnBrk="1" hangingPunct="1">
              <a:buFont typeface="Wingdings" panose="05000000000000000000" pitchFamily="2" charset="2"/>
              <a:buNone/>
            </a:pPr>
            <a:endParaRPr lang="en-US" altLang="zh-CN" sz="2000" dirty="0"/>
          </a:p>
          <a:p>
            <a:pPr lvl="1" eaLnBrk="1" hangingPunct="1">
              <a:buFont typeface="Wingdings" panose="05000000000000000000" pitchFamily="2" charset="2"/>
              <a:buNone/>
            </a:pPr>
            <a:r>
              <a:rPr lang="en-US" altLang="zh-CN" sz="2000" dirty="0"/>
              <a:t>CREATE TABLE SC</a:t>
            </a:r>
            <a:endParaRPr lang="en-US" altLang="zh-CN" sz="2000" dirty="0"/>
          </a:p>
          <a:p>
            <a:pPr lvl="1" eaLnBrk="1" hangingPunct="1">
              <a:buFont typeface="Wingdings" panose="05000000000000000000" pitchFamily="2" charset="2"/>
              <a:buNone/>
            </a:pPr>
            <a:r>
              <a:rPr lang="en-US" altLang="zh-CN" sz="2000" dirty="0"/>
              <a:t>  (</a:t>
            </a:r>
            <a:r>
              <a:rPr lang="en-US" altLang="zh-CN" sz="2000" dirty="0" err="1"/>
              <a:t>Sno</a:t>
            </a:r>
            <a:r>
              <a:rPr lang="en-US" altLang="zh-CN" sz="2000" dirty="0"/>
              <a:t>   CHAR(8),</a:t>
            </a:r>
            <a:endParaRPr lang="en-US" altLang="zh-CN" sz="2000" dirty="0"/>
          </a:p>
          <a:p>
            <a:pPr lvl="1" eaLnBrk="1" hangingPunct="1">
              <a:buFont typeface="Wingdings" panose="05000000000000000000" pitchFamily="2" charset="2"/>
              <a:buNone/>
            </a:pPr>
            <a:r>
              <a:rPr lang="en-US" altLang="zh-CN" sz="2000" dirty="0"/>
              <a:t>   </a:t>
            </a:r>
            <a:r>
              <a:rPr lang="en-US" altLang="zh-CN" sz="2000" dirty="0" err="1"/>
              <a:t>Cno</a:t>
            </a:r>
            <a:r>
              <a:rPr lang="en-US" altLang="zh-CN" sz="2000" dirty="0"/>
              <a:t>  CHAR(5),</a:t>
            </a:r>
            <a:endParaRPr lang="en-US" altLang="zh-CN" sz="2000" dirty="0"/>
          </a:p>
          <a:p>
            <a:pPr lvl="1" eaLnBrk="1" hangingPunct="1">
              <a:buFont typeface="Wingdings" panose="05000000000000000000" pitchFamily="2" charset="2"/>
              <a:buNone/>
            </a:pPr>
            <a:r>
              <a:rPr lang="en-US" altLang="zh-CN" sz="2000" dirty="0"/>
              <a:t>   Grade  SMALLINT,                 </a:t>
            </a:r>
            <a:endParaRPr lang="en-US" altLang="zh-CN" sz="2000" dirty="0"/>
          </a:p>
          <a:p>
            <a:pPr lvl="1" eaLnBrk="1" hangingPunct="1">
              <a:buFont typeface="Wingdings" panose="05000000000000000000" pitchFamily="2" charset="2"/>
              <a:buNone/>
            </a:pPr>
            <a:r>
              <a:rPr lang="en-US" altLang="zh-CN" sz="2000" dirty="0"/>
              <a:t>   Semester      CHAR(5),           /*</a:t>
            </a:r>
            <a:r>
              <a:rPr lang="zh-CN" altLang="en-US" sz="2000" dirty="0"/>
              <a:t>选课学期*</a:t>
            </a:r>
            <a:r>
              <a:rPr lang="en-US" altLang="zh-CN" sz="2000" dirty="0"/>
              <a:t>/           </a:t>
            </a:r>
            <a:endParaRPr lang="en-US" altLang="zh-CN" sz="2000" dirty="0"/>
          </a:p>
          <a:p>
            <a:pPr lvl="1" eaLnBrk="1" hangingPunct="1">
              <a:buFont typeface="Wingdings" panose="05000000000000000000" pitchFamily="2" charset="2"/>
              <a:buNone/>
            </a:pPr>
            <a:r>
              <a:rPr lang="en-US" altLang="zh-CN" sz="2000" dirty="0"/>
              <a:t>   </a:t>
            </a:r>
            <a:r>
              <a:rPr lang="en-US" altLang="zh-CN" sz="2000" dirty="0" err="1"/>
              <a:t>Teachingclass</a:t>
            </a:r>
            <a:r>
              <a:rPr lang="en-US" altLang="zh-CN" sz="2000" dirty="0"/>
              <a:t>   CHAR(8),     </a:t>
            </a:r>
            <a:r>
              <a:rPr lang="en-US" altLang="zh-CN" sz="1800" dirty="0"/>
              <a:t>/*</a:t>
            </a:r>
            <a:r>
              <a:rPr lang="zh-CN" altLang="en-US" sz="1800" dirty="0"/>
              <a:t>学生选修某一门课所在的教学班*</a:t>
            </a:r>
            <a:r>
              <a:rPr lang="en-US" altLang="zh-CN" sz="1800" dirty="0"/>
              <a:t>/      </a:t>
            </a:r>
            <a:endParaRPr lang="en-US" altLang="zh-CN" sz="1800" dirty="0"/>
          </a:p>
          <a:p>
            <a:pPr lvl="1" eaLnBrk="1" hangingPunct="1">
              <a:buFont typeface="Wingdings" panose="05000000000000000000" pitchFamily="2" charset="2"/>
              <a:buNone/>
            </a:pPr>
            <a:r>
              <a:rPr lang="en-US" altLang="zh-CN" sz="2000" dirty="0"/>
              <a:t>   PRIMARY KEY (</a:t>
            </a:r>
            <a:r>
              <a:rPr lang="en-US" altLang="zh-CN" sz="2000" dirty="0" err="1"/>
              <a:t>Sno,Cno</a:t>
            </a:r>
            <a:r>
              <a:rPr lang="en-US" altLang="zh-CN" sz="2000" dirty="0"/>
              <a:t>)      </a:t>
            </a:r>
            <a:r>
              <a:rPr lang="en-US" altLang="zh-CN" sz="1600" dirty="0"/>
              <a:t>/*</a:t>
            </a:r>
            <a:r>
              <a:rPr lang="zh-CN" altLang="en-US" sz="1600" dirty="0"/>
              <a:t>主码由两个属性构成，必须在表级定义主码*</a:t>
            </a:r>
            <a:r>
              <a:rPr lang="en-US" altLang="zh-CN" sz="1600" dirty="0"/>
              <a:t>/</a:t>
            </a:r>
            <a:endParaRPr lang="en-US" altLang="zh-CN" sz="2000" dirty="0"/>
          </a:p>
          <a:p>
            <a:pPr lvl="1" eaLnBrk="1" hangingPunct="1">
              <a:buFont typeface="Wingdings" panose="05000000000000000000" pitchFamily="2" charset="2"/>
              <a:buNone/>
            </a:pPr>
            <a:r>
              <a:rPr lang="en-US" altLang="zh-CN" sz="2000" dirty="0"/>
              <a:t>);</a:t>
            </a:r>
            <a:endParaRPr lang="en-US" altLang="zh-CN"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6387" name="Rectangle 2"/>
          <p:cNvSpPr>
            <a:spLocks noGrp="1" noChangeArrowheads="1"/>
          </p:cNvSpPr>
          <p:nvPr>
            <p:ph type="title" idx="4294967295"/>
          </p:nvPr>
        </p:nvSpPr>
        <p:spPr/>
        <p:txBody>
          <a:bodyPr/>
          <a:lstStyle/>
          <a:p>
            <a:pPr eaLnBrk="1" hangingPunct="1"/>
            <a:r>
              <a:rPr lang="en-US" altLang="zh-CN" sz="3600"/>
              <a:t>5.2 </a:t>
            </a:r>
            <a:r>
              <a:rPr lang="zh-CN" altLang="en-US" sz="3600"/>
              <a:t>实体完整性</a:t>
            </a:r>
            <a:endParaRPr lang="zh-CN" altLang="en-US" sz="3600"/>
          </a:p>
        </p:txBody>
      </p:sp>
      <p:sp>
        <p:nvSpPr>
          <p:cNvPr id="16388" name="Rectangle 3"/>
          <p:cNvSpPr>
            <a:spLocks noGrp="1" noChangeArrowheads="1"/>
          </p:cNvSpPr>
          <p:nvPr>
            <p:ph type="body" idx="4294967295"/>
          </p:nvPr>
        </p:nvSpPr>
        <p:spPr>
          <a:xfrm>
            <a:off x="1055440" y="1312863"/>
            <a:ext cx="9288710" cy="4854575"/>
          </a:xfrm>
        </p:spPr>
        <p:txBody>
          <a:bodyPr/>
          <a:lstStyle/>
          <a:p>
            <a:pPr marL="0" indent="0" eaLnBrk="1" hangingPunct="1">
              <a:lnSpc>
                <a:spcPct val="190000"/>
              </a:lnSpc>
              <a:buNone/>
            </a:pPr>
            <a:r>
              <a:rPr lang="en-US" altLang="zh-CN" dirty="0"/>
              <a:t>5.2.1 </a:t>
            </a:r>
            <a:r>
              <a:rPr lang="zh-CN" altLang="en-US" dirty="0"/>
              <a:t>实体完整性定义</a:t>
            </a:r>
            <a:endParaRPr lang="zh-CN" altLang="en-US" dirty="0"/>
          </a:p>
          <a:p>
            <a:pPr marL="0" indent="0" eaLnBrk="1" hangingPunct="1">
              <a:lnSpc>
                <a:spcPct val="190000"/>
              </a:lnSpc>
              <a:buNone/>
            </a:pPr>
            <a:r>
              <a:rPr lang="en-US" altLang="zh-CN" dirty="0">
                <a:solidFill>
                  <a:srgbClr val="00B050"/>
                </a:solidFill>
              </a:rPr>
              <a:t>5.2.2 </a:t>
            </a:r>
            <a:r>
              <a:rPr lang="zh-CN" altLang="en-US" dirty="0">
                <a:solidFill>
                  <a:srgbClr val="00B050"/>
                </a:solidFill>
              </a:rPr>
              <a:t>实体完整性检查和违约处理</a:t>
            </a:r>
            <a:endParaRPr lang="zh-CN" altLang="en-US" dirty="0">
              <a:solidFill>
                <a:srgbClr val="00B05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7411" name="Rectangle 2"/>
          <p:cNvSpPr>
            <a:spLocks noGrp="1" noChangeArrowheads="1"/>
          </p:cNvSpPr>
          <p:nvPr>
            <p:ph type="title" idx="4294967295"/>
          </p:nvPr>
        </p:nvSpPr>
        <p:spPr/>
        <p:txBody>
          <a:bodyPr/>
          <a:lstStyle/>
          <a:p>
            <a:pPr eaLnBrk="1" hangingPunct="1"/>
            <a:r>
              <a:rPr lang="en-US" altLang="zh-CN" sz="3600"/>
              <a:t>5.2.2 </a:t>
            </a:r>
            <a:r>
              <a:rPr lang="zh-CN" altLang="en-US" sz="3600"/>
              <a:t>实体完整性检查和违约处理</a:t>
            </a:r>
            <a:endParaRPr lang="zh-CN" altLang="en-US" sz="3600"/>
          </a:p>
        </p:txBody>
      </p:sp>
      <p:sp>
        <p:nvSpPr>
          <p:cNvPr id="17412" name="Rectangle 3"/>
          <p:cNvSpPr>
            <a:spLocks noGrp="1" noChangeArrowheads="1"/>
          </p:cNvSpPr>
          <p:nvPr>
            <p:ph type="body" idx="4294967295"/>
          </p:nvPr>
        </p:nvSpPr>
        <p:spPr>
          <a:xfrm>
            <a:off x="641739" y="1268760"/>
            <a:ext cx="10513168" cy="5223570"/>
          </a:xfrm>
        </p:spPr>
        <p:txBody>
          <a:bodyPr/>
          <a:lstStyle/>
          <a:p>
            <a:pPr eaLnBrk="1" hangingPunct="1">
              <a:lnSpc>
                <a:spcPct val="180000"/>
              </a:lnSpc>
            </a:pPr>
            <a:r>
              <a:rPr lang="zh-CN" altLang="en-US" dirty="0"/>
              <a:t>插入或对主码列进行更新操作时，</a:t>
            </a:r>
            <a:r>
              <a:rPr lang="en-US" altLang="zh-CN" dirty="0"/>
              <a:t>RDBMS</a:t>
            </a:r>
            <a:r>
              <a:rPr lang="zh-CN" altLang="en-US" dirty="0"/>
              <a:t>按照实体完整性规则自动进行检查。</a:t>
            </a:r>
            <a:endParaRPr lang="zh-CN" altLang="en-US" dirty="0"/>
          </a:p>
          <a:p>
            <a:pPr lvl="1" eaLnBrk="1" hangingPunct="1">
              <a:lnSpc>
                <a:spcPct val="120000"/>
              </a:lnSpc>
            </a:pPr>
            <a:r>
              <a:rPr lang="zh-CN" altLang="en-US" dirty="0"/>
              <a:t>检查主码值是否唯一，如果不唯一则拒绝插入或修改</a:t>
            </a:r>
            <a:endParaRPr lang="zh-CN" altLang="en-US" dirty="0"/>
          </a:p>
          <a:p>
            <a:pPr lvl="1" eaLnBrk="1" hangingPunct="1">
              <a:lnSpc>
                <a:spcPct val="120000"/>
              </a:lnSpc>
            </a:pPr>
            <a:r>
              <a:rPr lang="zh-CN" altLang="en-US" dirty="0"/>
              <a:t>检查主码的各个属性是否为空，只要有一个为空就拒绝插入或修改</a:t>
            </a:r>
            <a:endParaRPr lang="zh-CN" altLang="en-US" dirty="0"/>
          </a:p>
          <a:p>
            <a:pPr eaLnBrk="1" hangingPunct="1"/>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8435" name="Rectangle 2"/>
          <p:cNvSpPr>
            <a:spLocks noGrp="1" noChangeArrowheads="1"/>
          </p:cNvSpPr>
          <p:nvPr>
            <p:ph type="title" idx="4294967295"/>
          </p:nvPr>
        </p:nvSpPr>
        <p:spPr/>
        <p:txBody>
          <a:bodyPr/>
          <a:lstStyle/>
          <a:p>
            <a:pPr eaLnBrk="1" hangingPunct="1"/>
            <a:r>
              <a:rPr lang="zh-CN" altLang="en-US" sz="3600"/>
              <a:t>实体完整性检查和违约处理</a:t>
            </a:r>
            <a:r>
              <a:rPr lang="en-US" altLang="zh-CN" sz="3600"/>
              <a:t>（</a:t>
            </a:r>
            <a:r>
              <a:rPr lang="zh-CN" altLang="en-US" sz="3600"/>
              <a:t>续</a:t>
            </a:r>
            <a:r>
              <a:rPr lang="en-US" altLang="zh-CN" sz="3600"/>
              <a:t>）</a:t>
            </a:r>
            <a:endParaRPr lang="en-US" altLang="zh-CN" sz="3600"/>
          </a:p>
        </p:txBody>
      </p:sp>
      <p:sp>
        <p:nvSpPr>
          <p:cNvPr id="18436" name="Rectangle 3"/>
          <p:cNvSpPr>
            <a:spLocks noGrp="1" noChangeArrowheads="1"/>
          </p:cNvSpPr>
          <p:nvPr>
            <p:ph type="body" idx="4294967295"/>
          </p:nvPr>
        </p:nvSpPr>
        <p:spPr>
          <a:xfrm>
            <a:off x="907839" y="1101273"/>
            <a:ext cx="10804785" cy="1823672"/>
          </a:xfrm>
        </p:spPr>
        <p:txBody>
          <a:bodyPr/>
          <a:lstStyle/>
          <a:p>
            <a:pPr eaLnBrk="1" hangingPunct="1"/>
            <a:r>
              <a:rPr lang="zh-CN" altLang="en-US" dirty="0"/>
              <a:t>检查记录中主码值是否唯一的方法是进行</a:t>
            </a:r>
            <a:r>
              <a:rPr lang="zh-CN" altLang="en-US" dirty="0">
                <a:solidFill>
                  <a:srgbClr val="FF00FF"/>
                </a:solidFill>
              </a:rPr>
              <a:t>全表扫描</a:t>
            </a:r>
            <a:endParaRPr lang="en-US" altLang="zh-CN" sz="3200" dirty="0">
              <a:solidFill>
                <a:srgbClr val="FF00FF"/>
              </a:solidFill>
            </a:endParaRPr>
          </a:p>
          <a:p>
            <a:pPr marL="742950" lvl="2" indent="-342900" eaLnBrk="1" hangingPunct="1">
              <a:buFont typeface="Wingdings" panose="05000000000000000000" pitchFamily="2" charset="2"/>
              <a:buChar char="n"/>
            </a:pPr>
            <a:r>
              <a:rPr lang="zh-CN" altLang="en-US" sz="2400" dirty="0"/>
              <a:t>依次判断表中每一条记录的主码值与将插入记录上的主码值（或者修改的新主码值）是否相同 </a:t>
            </a:r>
            <a:endParaRPr lang="zh-CN" altLang="en-US" sz="2400" dirty="0">
              <a:solidFill>
                <a:srgbClr val="FF00FF"/>
              </a:solidFill>
            </a:endParaRPr>
          </a:p>
        </p:txBody>
      </p:sp>
      <p:pic>
        <p:nvPicPr>
          <p:cNvPr id="18437"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40014" y="2565401"/>
            <a:ext cx="6669087"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文本框 6"/>
          <p:cNvSpPr txBox="1">
            <a:spLocks noChangeArrowheads="1"/>
          </p:cNvSpPr>
          <p:nvPr/>
        </p:nvSpPr>
        <p:spPr bwMode="auto">
          <a:xfrm>
            <a:off x="4295776" y="5876925"/>
            <a:ext cx="3095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600"/>
              <a:t>用全表扫描方法检查主码唯一性</a:t>
            </a:r>
            <a:endParaRPr lang="zh-CN" altLang="en-US"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9" name="Rectangle 2"/>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实体完整性检查和违约处理</a:t>
            </a:r>
            <a:r>
              <a:rPr lang="en-US" altLang="zh-CN" sz="3600">
                <a:solidFill>
                  <a:schemeClr val="bg1"/>
                </a:solidFill>
              </a:rPr>
              <a:t>（</a:t>
            </a:r>
            <a:r>
              <a:rPr lang="zh-CN" altLang="en-US" sz="3600">
                <a:solidFill>
                  <a:schemeClr val="bg1"/>
                </a:solidFill>
              </a:rPr>
              <a:t>续</a:t>
            </a:r>
            <a:r>
              <a:rPr lang="en-US" altLang="zh-CN" sz="3600">
                <a:solidFill>
                  <a:schemeClr val="bg1"/>
                </a:solidFill>
              </a:rPr>
              <a:t>）</a:t>
            </a:r>
            <a:endParaRPr lang="en-US" altLang="zh-CN" sz="3600">
              <a:solidFill>
                <a:schemeClr val="bg1"/>
              </a:solidFill>
            </a:endParaRPr>
          </a:p>
        </p:txBody>
      </p:sp>
      <p:sp>
        <p:nvSpPr>
          <p:cNvPr id="19460" name="Rectangle 3"/>
          <p:cNvSpPr txBox="1">
            <a:spLocks noChangeArrowheads="1"/>
          </p:cNvSpPr>
          <p:nvPr/>
        </p:nvSpPr>
        <p:spPr bwMode="auto">
          <a:xfrm>
            <a:off x="983432" y="1278506"/>
            <a:ext cx="82296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742950" indent="-3429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a:t>全表扫描十分耗时</a:t>
            </a:r>
            <a:endParaRPr lang="en-US" altLang="zh-CN"/>
          </a:p>
          <a:p>
            <a:pPr eaLnBrk="1" hangingPunct="1">
              <a:lnSpc>
                <a:spcPct val="150000"/>
              </a:lnSpc>
            </a:pPr>
            <a:r>
              <a:rPr lang="en-US" altLang="zh-CN"/>
              <a:t>RDBMS</a:t>
            </a:r>
            <a:r>
              <a:rPr lang="zh-CN" altLang="en-US"/>
              <a:t>一般都在主码上自动建立一个</a:t>
            </a:r>
            <a:r>
              <a:rPr lang="zh-CN" altLang="en-US">
                <a:solidFill>
                  <a:srgbClr val="FF00FF"/>
                </a:solidFill>
              </a:rPr>
              <a:t>索引 </a:t>
            </a:r>
            <a:endParaRPr lang="zh-CN" altLang="en-US">
              <a:solidFill>
                <a:srgbClr val="FF00FF"/>
              </a:solidFill>
            </a:endParaRPr>
          </a:p>
          <a:p>
            <a:pPr eaLnBrk="1" hangingPunct="1">
              <a:lnSpc>
                <a:spcPct val="150000"/>
              </a:lnSpc>
            </a:pPr>
            <a:endParaRPr lang="en-US" altLang="zh-CN" sz="2400">
              <a:solidFill>
                <a:srgbClr val="FF00FF"/>
              </a:solidFill>
            </a:endParaRPr>
          </a:p>
          <a:p>
            <a:pPr lvl="2" eaLnBrk="1" hangingPunct="1">
              <a:lnSpc>
                <a:spcPct val="150000"/>
              </a:lnSpc>
              <a:buSzPct val="85000"/>
              <a:buFont typeface="Wingdings" panose="05000000000000000000" pitchFamily="2" charset="2"/>
              <a:buChar char="n"/>
            </a:pPr>
            <a:endParaRPr lang="zh-CN" altLang="en-US" b="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0483" name="Rectangle 2"/>
          <p:cNvSpPr>
            <a:spLocks noGrp="1" noChangeArrowheads="1"/>
          </p:cNvSpPr>
          <p:nvPr>
            <p:ph type="title" idx="4294967295"/>
          </p:nvPr>
        </p:nvSpPr>
        <p:spPr/>
        <p:txBody>
          <a:bodyPr/>
          <a:lstStyle/>
          <a:p>
            <a:pPr eaLnBrk="1" hangingPunct="1"/>
            <a:r>
              <a:rPr lang="zh-CN" altLang="en-US" sz="3600"/>
              <a:t>实体完整性检查和违约处理</a:t>
            </a:r>
            <a:r>
              <a:rPr lang="en-US" altLang="zh-CN" sz="3600"/>
              <a:t>（</a:t>
            </a:r>
            <a:r>
              <a:rPr lang="zh-CN" altLang="en-US" sz="3600"/>
              <a:t>续</a:t>
            </a:r>
            <a:r>
              <a:rPr lang="en-US" altLang="zh-CN" sz="3600"/>
              <a:t>）</a:t>
            </a:r>
            <a:endParaRPr lang="en-US" altLang="zh-CN" sz="3600"/>
          </a:p>
        </p:txBody>
      </p:sp>
      <p:sp>
        <p:nvSpPr>
          <p:cNvPr id="20484" name="Rectangle 3"/>
          <p:cNvSpPr>
            <a:spLocks noGrp="1" noChangeArrowheads="1"/>
          </p:cNvSpPr>
          <p:nvPr>
            <p:ph type="body" idx="4294967295"/>
          </p:nvPr>
        </p:nvSpPr>
        <p:spPr>
          <a:xfrm>
            <a:off x="636912" y="927099"/>
            <a:ext cx="11291736" cy="5166197"/>
          </a:xfrm>
        </p:spPr>
        <p:txBody>
          <a:bodyPr/>
          <a:lstStyle/>
          <a:p>
            <a:pPr eaLnBrk="1" hangingPunct="1">
              <a:lnSpc>
                <a:spcPct val="140000"/>
              </a:lnSpc>
            </a:pPr>
            <a:r>
              <a:rPr lang="en-US" altLang="zh-CN" sz="2400" dirty="0">
                <a:solidFill>
                  <a:srgbClr val="FF00FF"/>
                </a:solidFill>
              </a:rPr>
              <a:t>B+</a:t>
            </a:r>
            <a:r>
              <a:rPr lang="zh-CN" altLang="en-US" sz="2400" dirty="0">
                <a:solidFill>
                  <a:srgbClr val="FF00FF"/>
                </a:solidFill>
              </a:rPr>
              <a:t>树索引</a:t>
            </a:r>
            <a:endParaRPr lang="en-US" altLang="zh-CN" sz="2400"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lvl="1">
              <a:spcBef>
                <a:spcPct val="0"/>
              </a:spcBef>
              <a:buFont typeface="Wingdings" panose="05000000000000000000" pitchFamily="2" charset="2"/>
              <a:buNone/>
            </a:pPr>
            <a:r>
              <a:rPr lang="zh-CN" altLang="en-US" dirty="0"/>
              <a:t>例如，</a:t>
            </a:r>
            <a:endParaRPr lang="en-US" altLang="zh-CN" dirty="0"/>
          </a:p>
          <a:p>
            <a:pPr lvl="1">
              <a:spcBef>
                <a:spcPct val="0"/>
              </a:spcBef>
            </a:pPr>
            <a:r>
              <a:rPr lang="zh-CN" altLang="en-US" dirty="0"/>
              <a:t>新插入记录的主码值是</a:t>
            </a:r>
            <a:r>
              <a:rPr lang="en-US" altLang="zh-CN" dirty="0"/>
              <a:t>25</a:t>
            </a:r>
            <a:endParaRPr lang="en-US" altLang="zh-CN" dirty="0"/>
          </a:p>
          <a:p>
            <a:pPr lvl="2">
              <a:spcBef>
                <a:spcPct val="0"/>
              </a:spcBef>
              <a:buSzPct val="87000"/>
              <a:buFont typeface="Wingdings" panose="05000000000000000000" pitchFamily="2" charset="2"/>
              <a:buChar char="l"/>
            </a:pPr>
            <a:r>
              <a:rPr lang="zh-CN" altLang="en-US" sz="2200" dirty="0"/>
              <a:t>通过主码索引，从</a:t>
            </a:r>
            <a:r>
              <a:rPr lang="en-US" altLang="zh-CN" sz="2200" dirty="0"/>
              <a:t>B+</a:t>
            </a:r>
            <a:r>
              <a:rPr lang="zh-CN" altLang="en-US" sz="2200" dirty="0"/>
              <a:t>树的根结点开始查找</a:t>
            </a:r>
            <a:endParaRPr lang="zh-CN" altLang="en-US" sz="2200" dirty="0"/>
          </a:p>
          <a:p>
            <a:pPr lvl="2">
              <a:spcBef>
                <a:spcPct val="0"/>
              </a:spcBef>
              <a:buSzPct val="87000"/>
              <a:buFont typeface="Wingdings" panose="05000000000000000000" pitchFamily="2" charset="2"/>
              <a:buChar char="l"/>
            </a:pPr>
            <a:r>
              <a:rPr lang="zh-CN" altLang="en-US" sz="2200" dirty="0"/>
              <a:t>读取</a:t>
            </a:r>
            <a:r>
              <a:rPr lang="en-US" altLang="zh-CN" sz="2200" dirty="0"/>
              <a:t>3</a:t>
            </a:r>
            <a:r>
              <a:rPr lang="zh-CN" altLang="en-US" sz="2200" dirty="0"/>
              <a:t>个结点：根结点（</a:t>
            </a:r>
            <a:r>
              <a:rPr lang="en-US" altLang="zh-CN" sz="2200" dirty="0"/>
              <a:t>51</a:t>
            </a:r>
            <a:r>
              <a:rPr lang="zh-CN" altLang="en-US" sz="2200" dirty="0"/>
              <a:t>）、中间结点（</a:t>
            </a:r>
            <a:r>
              <a:rPr lang="en-US" altLang="zh-CN" sz="2200" dirty="0"/>
              <a:t>12 30</a:t>
            </a:r>
            <a:r>
              <a:rPr lang="zh-CN" altLang="en-US" sz="2200" dirty="0"/>
              <a:t>）、叶结点（</a:t>
            </a:r>
            <a:r>
              <a:rPr lang="en-US" altLang="zh-CN" sz="2200" dirty="0"/>
              <a:t>15 20 25</a:t>
            </a:r>
            <a:r>
              <a:rPr lang="zh-CN" altLang="en-US" sz="2200" dirty="0"/>
              <a:t>）</a:t>
            </a:r>
            <a:endParaRPr lang="zh-CN" altLang="en-US" sz="2200" dirty="0"/>
          </a:p>
          <a:p>
            <a:pPr lvl="2">
              <a:spcBef>
                <a:spcPct val="0"/>
              </a:spcBef>
              <a:buSzPct val="87000"/>
              <a:buFont typeface="Wingdings" panose="05000000000000000000" pitchFamily="2" charset="2"/>
              <a:buChar char="l"/>
            </a:pPr>
            <a:r>
              <a:rPr lang="zh-CN" altLang="en-US" sz="2200" dirty="0"/>
              <a:t>该主码值已经存在，不能插入这条记录</a:t>
            </a:r>
            <a:endParaRPr lang="zh-CN" altLang="en-US" sz="2200" dirty="0"/>
          </a:p>
          <a:p>
            <a:pPr eaLnBrk="1" hangingPunct="1">
              <a:lnSpc>
                <a:spcPct val="140000"/>
              </a:lnSpc>
              <a:buFont typeface="Wingdings" panose="05000000000000000000" pitchFamily="2" charset="2"/>
              <a:buNone/>
            </a:pPr>
            <a:endParaRPr lang="zh-CN" altLang="en-US" dirty="0">
              <a:solidFill>
                <a:srgbClr val="FF00FF"/>
              </a:solidFill>
            </a:endParaRPr>
          </a:p>
        </p:txBody>
      </p:sp>
      <p:pic>
        <p:nvPicPr>
          <p:cNvPr id="20485"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99656" y="1546226"/>
            <a:ext cx="56864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1507" name="Rectangle 2"/>
          <p:cNvSpPr>
            <a:spLocks noGrp="1" noChangeArrowheads="1"/>
          </p:cNvSpPr>
          <p:nvPr>
            <p:ph type="title" idx="4294967295"/>
          </p:nvPr>
        </p:nvSpPr>
        <p:spPr/>
        <p:txBody>
          <a:bodyPr/>
          <a:lstStyle/>
          <a:p>
            <a:pPr eaLnBrk="1" hangingPunct="1"/>
            <a:r>
              <a:rPr lang="zh-CN" altLang="zh-CN" sz="3600"/>
              <a:t>第五章 数据库完整性</a:t>
            </a:r>
            <a:endParaRPr lang="zh-CN" altLang="zh-CN" sz="3600"/>
          </a:p>
        </p:txBody>
      </p:sp>
      <p:sp>
        <p:nvSpPr>
          <p:cNvPr id="21508" name="Rectangle 3"/>
          <p:cNvSpPr>
            <a:spLocks noGrp="1" noChangeArrowheads="1"/>
          </p:cNvSpPr>
          <p:nvPr>
            <p:ph type="body" idx="4294967295"/>
          </p:nvPr>
        </p:nvSpPr>
        <p:spPr>
          <a:xfrm>
            <a:off x="1415480" y="1052514"/>
            <a:ext cx="7859712" cy="5329237"/>
          </a:xfrm>
        </p:spPr>
        <p:txBody>
          <a:bodyPr/>
          <a:lstStyle/>
          <a:p>
            <a:pPr eaLnBrk="1" hangingPunct="1">
              <a:lnSpc>
                <a:spcPct val="130000"/>
              </a:lnSpc>
              <a:buFont typeface="Wingdings" panose="05000000000000000000"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anose="05000000000000000000" pitchFamily="2" charset="2"/>
              <a:buNone/>
            </a:pPr>
            <a:r>
              <a:rPr lang="en-US" altLang="zh-CN" dirty="0"/>
              <a:t>5.2 </a:t>
            </a:r>
            <a:r>
              <a:rPr lang="zh-CN" altLang="en-US" dirty="0"/>
              <a:t>实体完整性</a:t>
            </a:r>
            <a:endParaRPr lang="zh-CN" altLang="en-US" dirty="0"/>
          </a:p>
          <a:p>
            <a:pPr eaLnBrk="1" hangingPunct="1">
              <a:lnSpc>
                <a:spcPct val="130000"/>
              </a:lnSpc>
              <a:buFont typeface="Wingdings" panose="05000000000000000000" pitchFamily="2" charset="2"/>
              <a:buNone/>
            </a:pPr>
            <a:r>
              <a:rPr lang="en-US" altLang="zh-CN" dirty="0">
                <a:solidFill>
                  <a:srgbClr val="0066FF"/>
                </a:solidFill>
              </a:rPr>
              <a:t>5.3 </a:t>
            </a:r>
            <a:r>
              <a:rPr lang="zh-CN" altLang="en-US" dirty="0">
                <a:solidFill>
                  <a:srgbClr val="0066FF"/>
                </a:solidFill>
              </a:rPr>
              <a:t>参照完整性</a:t>
            </a:r>
            <a:endParaRPr lang="zh-CN" altLang="en-US" dirty="0">
              <a:solidFill>
                <a:srgbClr val="0066FF"/>
              </a:solidFill>
            </a:endParaRPr>
          </a:p>
          <a:p>
            <a:pPr eaLnBrk="1" hangingPunct="1">
              <a:lnSpc>
                <a:spcPct val="130000"/>
              </a:lnSpc>
              <a:buFont typeface="Wingdings" panose="05000000000000000000" pitchFamily="2" charset="2"/>
              <a:buNone/>
            </a:pPr>
            <a:r>
              <a:rPr lang="en-US" altLang="zh-CN" dirty="0"/>
              <a:t>5.4 </a:t>
            </a:r>
            <a:r>
              <a:rPr lang="zh-CN" altLang="en-US" dirty="0"/>
              <a:t>用户定义的完整性</a:t>
            </a:r>
            <a:endParaRPr lang="zh-CN" altLang="en-US" dirty="0"/>
          </a:p>
          <a:p>
            <a:pPr eaLnBrk="1" hangingPunct="1">
              <a:lnSpc>
                <a:spcPct val="130000"/>
              </a:lnSpc>
              <a:buFont typeface="Wingdings" panose="05000000000000000000" pitchFamily="2" charset="2"/>
              <a:buNone/>
            </a:pPr>
            <a:r>
              <a:rPr lang="en-US" altLang="zh-CN" dirty="0"/>
              <a:t>5.5 </a:t>
            </a:r>
            <a:r>
              <a:rPr lang="zh-CN" altLang="en-US" dirty="0"/>
              <a:t>完整性约束命名子句</a:t>
            </a:r>
            <a:endParaRPr lang="zh-CN" altLang="en-US" dirty="0"/>
          </a:p>
          <a:p>
            <a:pPr eaLnBrk="1" hangingPunct="1">
              <a:lnSpc>
                <a:spcPct val="130000"/>
              </a:lnSpc>
              <a:buFont typeface="Wingdings" panose="05000000000000000000" pitchFamily="2" charset="2"/>
              <a:buNone/>
            </a:pPr>
            <a:r>
              <a:rPr lang="zh-CN" altLang="en-US" dirty="0"/>
              <a:t>*</a:t>
            </a:r>
            <a:r>
              <a:rPr lang="en-US" altLang="zh-CN" dirty="0"/>
              <a:t>5.6 </a:t>
            </a:r>
            <a:r>
              <a:rPr lang="zh-CN" altLang="en-US" dirty="0"/>
              <a:t>域中的完整性限制</a:t>
            </a:r>
            <a:endParaRPr lang="en-US" altLang="zh-CN" dirty="0"/>
          </a:p>
          <a:p>
            <a:pPr eaLnBrk="1" hangingPunct="1">
              <a:lnSpc>
                <a:spcPct val="130000"/>
              </a:lnSpc>
              <a:buFont typeface="Wingdings" panose="05000000000000000000" pitchFamily="2" charset="2"/>
              <a:buNone/>
            </a:pPr>
            <a:r>
              <a:rPr lang="en-US" altLang="zh-CN" dirty="0"/>
              <a:t>5.7 </a:t>
            </a:r>
            <a:r>
              <a:rPr lang="zh-CN" altLang="en-US" dirty="0"/>
              <a:t>触发器</a:t>
            </a:r>
            <a:endParaRPr lang="en-US" altLang="zh-CN" dirty="0"/>
          </a:p>
          <a:p>
            <a:pPr eaLnBrk="1" hangingPunct="1">
              <a:lnSpc>
                <a:spcPct val="130000"/>
              </a:lnSpc>
              <a:buFont typeface="Wingdings" panose="05000000000000000000" pitchFamily="2" charset="2"/>
              <a:buNone/>
            </a:pPr>
            <a:r>
              <a:rPr lang="en-US" altLang="zh-CN" dirty="0"/>
              <a:t>5.8 </a:t>
            </a:r>
            <a:r>
              <a:rPr lang="zh-CN" altLang="en-US" dirty="0"/>
              <a:t>小结</a:t>
            </a:r>
            <a:endParaRPr lang="zh-CN" altLang="en-US" dirty="0"/>
          </a:p>
          <a:p>
            <a:pPr eaLnBrk="1" hangingPunct="1"/>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2531" name="Rectangle 2"/>
          <p:cNvSpPr>
            <a:spLocks noGrp="1" noChangeArrowheads="1"/>
          </p:cNvSpPr>
          <p:nvPr>
            <p:ph type="title" idx="4294967295"/>
          </p:nvPr>
        </p:nvSpPr>
        <p:spPr/>
        <p:txBody>
          <a:bodyPr/>
          <a:lstStyle/>
          <a:p>
            <a:pPr eaLnBrk="1" hangingPunct="1"/>
            <a:r>
              <a:rPr lang="en-US" altLang="zh-CN" sz="3600"/>
              <a:t>5.3  </a:t>
            </a:r>
            <a:r>
              <a:rPr lang="zh-CN" altLang="en-US" sz="3600"/>
              <a:t>参照完整性</a:t>
            </a:r>
            <a:endParaRPr lang="zh-CN" altLang="en-US" sz="3600"/>
          </a:p>
        </p:txBody>
      </p:sp>
      <p:sp>
        <p:nvSpPr>
          <p:cNvPr id="20484" name="Rectangle 3"/>
          <p:cNvSpPr>
            <a:spLocks noGrp="1" noChangeArrowheads="1"/>
          </p:cNvSpPr>
          <p:nvPr>
            <p:ph type="body" idx="4294967295"/>
          </p:nvPr>
        </p:nvSpPr>
        <p:spPr>
          <a:xfrm>
            <a:off x="1271464" y="1493803"/>
            <a:ext cx="8229600" cy="4854575"/>
          </a:xfrm>
        </p:spPr>
        <p:txBody>
          <a:bodyPr/>
          <a:lstStyle/>
          <a:p>
            <a:pPr marL="0" indent="0" eaLnBrk="1" hangingPunct="1">
              <a:lnSpc>
                <a:spcPct val="190000"/>
              </a:lnSpc>
              <a:buNone/>
            </a:pPr>
            <a:r>
              <a:rPr lang="en-US" altLang="zh-CN" dirty="0">
                <a:solidFill>
                  <a:srgbClr val="00B050"/>
                </a:solidFill>
              </a:rPr>
              <a:t>5.3.1 </a:t>
            </a:r>
            <a:r>
              <a:rPr lang="zh-CN" altLang="en-US" dirty="0">
                <a:solidFill>
                  <a:srgbClr val="00B050"/>
                </a:solidFill>
              </a:rPr>
              <a:t>定义参照完整性</a:t>
            </a:r>
            <a:endParaRPr lang="zh-CN" altLang="en-US" dirty="0">
              <a:solidFill>
                <a:srgbClr val="00B050"/>
              </a:solidFill>
            </a:endParaRPr>
          </a:p>
          <a:p>
            <a:pPr marL="0" indent="0" eaLnBrk="1" hangingPunct="1">
              <a:lnSpc>
                <a:spcPct val="190000"/>
              </a:lnSpc>
              <a:buNone/>
            </a:pPr>
            <a:r>
              <a:rPr lang="en-US" altLang="zh-CN" dirty="0"/>
              <a:t>5.3.2 </a:t>
            </a:r>
            <a:r>
              <a:rPr lang="zh-CN" altLang="en-US" dirty="0"/>
              <a:t>参照完整性检查和违约处理</a:t>
            </a:r>
            <a:endParaRPr lang="zh-CN" altLang="en-US" dirty="0"/>
          </a:p>
          <a:p>
            <a:pPr marL="0" indent="0" eaLnBrk="1" hangingPunct="1"/>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3555" name="Rectangle 2"/>
          <p:cNvSpPr>
            <a:spLocks noGrp="1" noChangeArrowheads="1"/>
          </p:cNvSpPr>
          <p:nvPr>
            <p:ph type="title" idx="4294967295"/>
          </p:nvPr>
        </p:nvSpPr>
        <p:spPr/>
        <p:txBody>
          <a:bodyPr/>
          <a:lstStyle/>
          <a:p>
            <a:pPr eaLnBrk="1" hangingPunct="1"/>
            <a:r>
              <a:rPr lang="en-US" altLang="zh-CN" sz="3600"/>
              <a:t>5.3.1 </a:t>
            </a:r>
            <a:r>
              <a:rPr lang="zh-CN" altLang="en-US" sz="3600"/>
              <a:t>参照完整性定义</a:t>
            </a:r>
            <a:endParaRPr lang="zh-CN" altLang="en-US" sz="3600"/>
          </a:p>
        </p:txBody>
      </p:sp>
      <p:sp>
        <p:nvSpPr>
          <p:cNvPr id="23556" name="Rectangle 3"/>
          <p:cNvSpPr>
            <a:spLocks noGrp="1" noChangeArrowheads="1"/>
          </p:cNvSpPr>
          <p:nvPr>
            <p:ph type="body" idx="4294967295"/>
          </p:nvPr>
        </p:nvSpPr>
        <p:spPr>
          <a:xfrm>
            <a:off x="644383" y="1098550"/>
            <a:ext cx="10972800" cy="4854575"/>
          </a:xfrm>
        </p:spPr>
        <p:txBody>
          <a:bodyPr/>
          <a:lstStyle/>
          <a:p>
            <a:pPr eaLnBrk="1" hangingPunct="1">
              <a:lnSpc>
                <a:spcPct val="180000"/>
              </a:lnSpc>
            </a:pPr>
            <a:r>
              <a:rPr lang="zh-CN" altLang="en-US" dirty="0"/>
              <a:t>关系模型的参照完整性定义</a:t>
            </a:r>
            <a:endParaRPr lang="zh-CN" altLang="en-US" dirty="0"/>
          </a:p>
          <a:p>
            <a:pPr lvl="1" eaLnBrk="1" hangingPunct="1">
              <a:lnSpc>
                <a:spcPct val="180000"/>
              </a:lnSpc>
            </a:pPr>
            <a:r>
              <a:rPr lang="zh-CN" altLang="en-US" dirty="0"/>
              <a:t>在</a:t>
            </a:r>
            <a:r>
              <a:rPr lang="en-US" altLang="zh-CN" dirty="0"/>
              <a:t>CREATE  TABLE</a:t>
            </a:r>
            <a:r>
              <a:rPr lang="zh-CN" altLang="en-US" dirty="0"/>
              <a:t>中用</a:t>
            </a:r>
            <a:r>
              <a:rPr lang="en-US" altLang="zh-CN" dirty="0">
                <a:solidFill>
                  <a:srgbClr val="FF00FF"/>
                </a:solidFill>
              </a:rPr>
              <a:t>FOREIGN KEY</a:t>
            </a:r>
            <a:r>
              <a:rPr lang="zh-CN" altLang="en-US" dirty="0"/>
              <a:t>短语定义哪些列为外码</a:t>
            </a:r>
            <a:endParaRPr lang="zh-CN" altLang="en-US" dirty="0"/>
          </a:p>
          <a:p>
            <a:pPr lvl="1" eaLnBrk="1" hangingPunct="1">
              <a:lnSpc>
                <a:spcPct val="180000"/>
              </a:lnSpc>
            </a:pPr>
            <a:r>
              <a:rPr lang="zh-CN" altLang="en-US" dirty="0"/>
              <a:t>用</a:t>
            </a:r>
            <a:r>
              <a:rPr lang="en-US" altLang="zh-CN" dirty="0">
                <a:solidFill>
                  <a:srgbClr val="FF00FF"/>
                </a:solidFill>
              </a:rPr>
              <a:t>REFERENCES</a:t>
            </a:r>
            <a:r>
              <a:rPr lang="zh-CN" altLang="en-US" dirty="0"/>
              <a:t>短语指明这些外码参照哪些表的主码 </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4579" name="Rectangle 2"/>
          <p:cNvSpPr>
            <a:spLocks noGrp="1" noChangeArrowheads="1"/>
          </p:cNvSpPr>
          <p:nvPr>
            <p:ph type="title" idx="4294967295"/>
          </p:nvPr>
        </p:nvSpPr>
        <p:spPr/>
        <p:txBody>
          <a:bodyPr/>
          <a:lstStyle/>
          <a:p>
            <a:pPr eaLnBrk="1" hangingPunct="1"/>
            <a:r>
              <a:rPr lang="zh-CN" altLang="en-US" sz="3600"/>
              <a:t>参照完整性定义</a:t>
            </a:r>
            <a:r>
              <a:rPr lang="en-US" altLang="zh-CN" sz="3600"/>
              <a:t>（</a:t>
            </a:r>
            <a:r>
              <a:rPr lang="zh-CN" altLang="en-US" sz="3600"/>
              <a:t>续</a:t>
            </a:r>
            <a:r>
              <a:rPr lang="en-US" altLang="zh-CN" sz="3600"/>
              <a:t>）</a:t>
            </a:r>
            <a:endParaRPr lang="en-US" altLang="zh-CN" sz="3600"/>
          </a:p>
        </p:txBody>
      </p:sp>
      <p:sp>
        <p:nvSpPr>
          <p:cNvPr id="24580" name="Rectangle 3"/>
          <p:cNvSpPr>
            <a:spLocks noGrp="1" noChangeArrowheads="1"/>
          </p:cNvSpPr>
          <p:nvPr>
            <p:ph type="body" idx="4294967295"/>
          </p:nvPr>
        </p:nvSpPr>
        <p:spPr>
          <a:xfrm>
            <a:off x="191344" y="908720"/>
            <a:ext cx="12000656" cy="5616624"/>
          </a:xfrm>
        </p:spPr>
        <p:txBody>
          <a:bodyPr/>
          <a:lstStyle/>
          <a:p>
            <a:pPr eaLnBrk="1" hangingPunct="1">
              <a:buFont typeface="Wingdings" panose="05000000000000000000" pitchFamily="2" charset="2"/>
              <a:buNone/>
            </a:pPr>
            <a:r>
              <a:rPr lang="zh-CN" altLang="en-US" sz="2200" dirty="0"/>
              <a:t>例如，关系</a:t>
            </a:r>
            <a:r>
              <a:rPr lang="en-US" altLang="zh-CN" sz="2200" dirty="0"/>
              <a:t>SC</a:t>
            </a:r>
            <a:r>
              <a:rPr lang="zh-CN" altLang="en-US" sz="2200" dirty="0"/>
              <a:t>中（</a:t>
            </a:r>
            <a:r>
              <a:rPr lang="en-US" altLang="zh-CN" sz="2200" dirty="0" err="1"/>
              <a:t>Sno</a:t>
            </a:r>
            <a:r>
              <a:rPr lang="zh-CN" altLang="en-US" sz="2200" dirty="0"/>
              <a:t>，</a:t>
            </a:r>
            <a:r>
              <a:rPr lang="en-US" altLang="zh-CN" sz="2200" dirty="0" err="1"/>
              <a:t>Cno</a:t>
            </a:r>
            <a:r>
              <a:rPr lang="zh-CN" altLang="en-US" sz="2200" dirty="0"/>
              <a:t>）是主码，</a:t>
            </a:r>
            <a:r>
              <a:rPr lang="en-US" altLang="zh-CN" sz="2200" dirty="0" err="1"/>
              <a:t>Sno</a:t>
            </a:r>
            <a:r>
              <a:rPr lang="zh-CN" altLang="en-US" sz="2200" dirty="0"/>
              <a:t>、</a:t>
            </a:r>
            <a:r>
              <a:rPr lang="en-US" altLang="zh-CN" sz="2200" dirty="0" err="1"/>
              <a:t>Cno</a:t>
            </a:r>
            <a:r>
              <a:rPr lang="zh-CN" altLang="en-US" sz="2200" dirty="0"/>
              <a:t>分别参照</a:t>
            </a:r>
            <a:r>
              <a:rPr lang="en-US" altLang="zh-CN" sz="2200" dirty="0"/>
              <a:t>Student</a:t>
            </a:r>
            <a:r>
              <a:rPr lang="zh-CN" altLang="en-US" sz="2200" dirty="0"/>
              <a:t>表的主码和</a:t>
            </a:r>
            <a:r>
              <a:rPr lang="en-US" altLang="zh-CN" sz="2200" dirty="0"/>
              <a:t>Course</a:t>
            </a:r>
            <a:r>
              <a:rPr lang="zh-CN" altLang="en-US" sz="2200" dirty="0"/>
              <a:t>表的主码 </a:t>
            </a:r>
            <a:endParaRPr lang="zh-CN" altLang="en-US" sz="2200" dirty="0"/>
          </a:p>
          <a:p>
            <a:pPr lvl="1" eaLnBrk="1" hangingPunct="1">
              <a:lnSpc>
                <a:spcPct val="110000"/>
              </a:lnSpc>
              <a:spcBef>
                <a:spcPts val="0"/>
              </a:spcBef>
              <a:buNone/>
            </a:pPr>
            <a:r>
              <a:rPr lang="en-US" altLang="zh-CN" sz="2200" dirty="0"/>
              <a:t>[</a:t>
            </a:r>
            <a:r>
              <a:rPr lang="zh-CN" altLang="en-US" sz="2200" dirty="0"/>
              <a:t>例</a:t>
            </a:r>
            <a:r>
              <a:rPr lang="en-US" altLang="zh-CN" sz="2200" dirty="0" smtClean="0"/>
              <a:t>5.3]</a:t>
            </a:r>
            <a:r>
              <a:rPr lang="zh-CN" altLang="en-US" sz="2200" dirty="0" smtClean="0"/>
              <a:t>定义</a:t>
            </a:r>
            <a:r>
              <a:rPr lang="en-US" altLang="zh-CN" sz="2200" dirty="0"/>
              <a:t>SC</a:t>
            </a:r>
            <a:r>
              <a:rPr lang="zh-CN" altLang="en-US" sz="2200" dirty="0"/>
              <a:t>中的参照完整性</a:t>
            </a:r>
            <a:endParaRPr lang="zh-CN" altLang="en-US" sz="2200" dirty="0"/>
          </a:p>
          <a:p>
            <a:pPr lvl="1" eaLnBrk="1" hangingPunct="1">
              <a:lnSpc>
                <a:spcPct val="110000"/>
              </a:lnSpc>
              <a:spcBef>
                <a:spcPts val="0"/>
              </a:spcBef>
              <a:buFont typeface="Wingdings" panose="05000000000000000000" pitchFamily="2" charset="2"/>
              <a:buNone/>
            </a:pPr>
            <a:r>
              <a:rPr lang="en-US" altLang="zh-CN" sz="2200" dirty="0"/>
              <a:t>CREATE TABLE SC</a:t>
            </a:r>
            <a:endParaRPr lang="en-US" altLang="zh-CN" sz="2200" dirty="0"/>
          </a:p>
          <a:p>
            <a:pPr lvl="1" eaLnBrk="1" hangingPunct="1">
              <a:lnSpc>
                <a:spcPct val="110000"/>
              </a:lnSpc>
              <a:spcBef>
                <a:spcPts val="0"/>
              </a:spcBef>
              <a:buFont typeface="Wingdings" panose="05000000000000000000" pitchFamily="2" charset="2"/>
              <a:buNone/>
            </a:pPr>
            <a:r>
              <a:rPr lang="en-US" altLang="zh-CN" sz="2200" dirty="0"/>
              <a:t>  (</a:t>
            </a:r>
            <a:r>
              <a:rPr lang="en-US" altLang="zh-CN" sz="2200" dirty="0" err="1"/>
              <a:t>Sno</a:t>
            </a:r>
            <a:r>
              <a:rPr lang="en-US" altLang="zh-CN" sz="2200" dirty="0"/>
              <a:t>   CHAR(8),</a:t>
            </a:r>
            <a:endParaRPr lang="en-US" altLang="zh-CN" sz="2200" dirty="0"/>
          </a:p>
          <a:p>
            <a:pPr lvl="1" eaLnBrk="1" hangingPunct="1">
              <a:lnSpc>
                <a:spcPct val="110000"/>
              </a:lnSpc>
              <a:spcBef>
                <a:spcPts val="0"/>
              </a:spcBef>
              <a:buFont typeface="Wingdings" panose="05000000000000000000" pitchFamily="2" charset="2"/>
              <a:buNone/>
            </a:pPr>
            <a:r>
              <a:rPr lang="en-US" altLang="zh-CN" sz="2200" dirty="0"/>
              <a:t>   </a:t>
            </a:r>
            <a:r>
              <a:rPr lang="en-US" altLang="zh-CN" sz="2200" dirty="0" err="1"/>
              <a:t>Cno</a:t>
            </a:r>
            <a:r>
              <a:rPr lang="en-US" altLang="zh-CN" sz="2200" dirty="0"/>
              <a:t>   CHAR(5),</a:t>
            </a:r>
            <a:endParaRPr lang="en-US" altLang="zh-CN" sz="2200" dirty="0"/>
          </a:p>
          <a:p>
            <a:pPr lvl="1" eaLnBrk="1" hangingPunct="1">
              <a:lnSpc>
                <a:spcPct val="110000"/>
              </a:lnSpc>
              <a:spcBef>
                <a:spcPts val="0"/>
              </a:spcBef>
              <a:buFont typeface="Wingdings" panose="05000000000000000000" pitchFamily="2" charset="2"/>
              <a:buNone/>
            </a:pPr>
            <a:r>
              <a:rPr lang="en-US" altLang="zh-CN" sz="2200" dirty="0"/>
              <a:t>   Grade  SMALLINT, </a:t>
            </a:r>
            <a:endParaRPr lang="en-US" altLang="zh-CN" sz="2200" dirty="0"/>
          </a:p>
          <a:p>
            <a:pPr lvl="1" eaLnBrk="1" hangingPunct="1">
              <a:lnSpc>
                <a:spcPct val="110000"/>
              </a:lnSpc>
              <a:spcBef>
                <a:spcPts val="0"/>
              </a:spcBef>
              <a:buFont typeface="Wingdings" panose="05000000000000000000" pitchFamily="2" charset="2"/>
              <a:buNone/>
            </a:pPr>
            <a:r>
              <a:rPr lang="en-US" altLang="zh-CN" sz="2200" dirty="0"/>
              <a:t>   Semester      CHAR(5), </a:t>
            </a:r>
            <a:endParaRPr lang="en-US" altLang="zh-CN" sz="2200" dirty="0"/>
          </a:p>
          <a:p>
            <a:pPr lvl="1" eaLnBrk="1" hangingPunct="1">
              <a:lnSpc>
                <a:spcPct val="110000"/>
              </a:lnSpc>
              <a:spcBef>
                <a:spcPts val="0"/>
              </a:spcBef>
              <a:buFont typeface="Wingdings" panose="05000000000000000000" pitchFamily="2" charset="2"/>
              <a:buNone/>
            </a:pPr>
            <a:r>
              <a:rPr lang="en-US" altLang="zh-CN" sz="2200" dirty="0"/>
              <a:t>   </a:t>
            </a:r>
            <a:r>
              <a:rPr lang="en-US" altLang="zh-CN" sz="2200" dirty="0" err="1"/>
              <a:t>Teachingclass</a:t>
            </a:r>
            <a:r>
              <a:rPr lang="en-US" altLang="zh-CN" sz="2200" dirty="0"/>
              <a:t>   CHAR(8), </a:t>
            </a:r>
            <a:endParaRPr lang="en-US" altLang="zh-CN" sz="2200" dirty="0"/>
          </a:p>
          <a:p>
            <a:pPr lvl="1" eaLnBrk="1" hangingPunct="1">
              <a:lnSpc>
                <a:spcPct val="110000"/>
              </a:lnSpc>
              <a:spcBef>
                <a:spcPts val="0"/>
              </a:spcBef>
              <a:buFont typeface="Wingdings" panose="05000000000000000000" pitchFamily="2" charset="2"/>
              <a:buNone/>
            </a:pPr>
            <a:r>
              <a:rPr lang="en-US" altLang="zh-CN" sz="2200" dirty="0"/>
              <a:t>   PRIMARY KEY (</a:t>
            </a:r>
            <a:r>
              <a:rPr lang="en-US" altLang="zh-CN" sz="2200" dirty="0" err="1"/>
              <a:t>Sno</a:t>
            </a:r>
            <a:r>
              <a:rPr lang="en-US" altLang="zh-CN" sz="2200" dirty="0"/>
              <a:t>, </a:t>
            </a:r>
            <a:r>
              <a:rPr lang="en-US" altLang="zh-CN" sz="2200" dirty="0" err="1"/>
              <a:t>Cno</a:t>
            </a:r>
            <a:r>
              <a:rPr lang="en-US" altLang="zh-CN" sz="2200" dirty="0"/>
              <a:t>),			</a:t>
            </a:r>
            <a:r>
              <a:rPr lang="en-US" altLang="zh-CN" sz="2000" dirty="0"/>
              <a:t>/*</a:t>
            </a:r>
            <a:r>
              <a:rPr lang="zh-CN" altLang="en-US" sz="2000" dirty="0"/>
              <a:t>在表级定义实体完整性*</a:t>
            </a:r>
            <a:r>
              <a:rPr lang="en-US" altLang="zh-CN" sz="2000" dirty="0"/>
              <a:t>/</a:t>
            </a:r>
            <a:endParaRPr lang="en-US" altLang="zh-CN" sz="2000" dirty="0"/>
          </a:p>
          <a:p>
            <a:pPr lvl="1" eaLnBrk="1" hangingPunct="1">
              <a:lnSpc>
                <a:spcPct val="110000"/>
              </a:lnSpc>
              <a:spcBef>
                <a:spcPts val="0"/>
              </a:spcBef>
              <a:buFont typeface="Wingdings" panose="05000000000000000000" pitchFamily="2" charset="2"/>
              <a:buNone/>
            </a:pPr>
            <a:r>
              <a:rPr lang="en-US" altLang="zh-CN" sz="2200" dirty="0"/>
              <a:t>   FOREIGN KEY (</a:t>
            </a:r>
            <a:r>
              <a:rPr lang="en-US" altLang="zh-CN" sz="2200" dirty="0" err="1"/>
              <a:t>Sno</a:t>
            </a:r>
            <a:r>
              <a:rPr lang="en-US" altLang="zh-CN" sz="2200" dirty="0"/>
              <a:t>) REFERENCES Student(</a:t>
            </a:r>
            <a:r>
              <a:rPr lang="en-US" altLang="zh-CN" sz="2200" dirty="0" err="1"/>
              <a:t>Sno</a:t>
            </a:r>
            <a:r>
              <a:rPr lang="en-US" altLang="zh-CN" sz="2200" dirty="0"/>
              <a:t>),	</a:t>
            </a:r>
            <a:endParaRPr lang="en-US" altLang="zh-CN" sz="2200" dirty="0"/>
          </a:p>
          <a:p>
            <a:pPr lvl="1" eaLnBrk="1" hangingPunct="1">
              <a:lnSpc>
                <a:spcPct val="110000"/>
              </a:lnSpc>
              <a:spcBef>
                <a:spcPts val="0"/>
              </a:spcBef>
              <a:buFont typeface="Wingdings" panose="05000000000000000000" pitchFamily="2" charset="2"/>
              <a:buNone/>
            </a:pPr>
            <a:r>
              <a:rPr lang="en-US" altLang="zh-CN" sz="2000" dirty="0"/>
              <a:t>                                 </a:t>
            </a:r>
            <a:r>
              <a:rPr lang="en-US" altLang="zh-CN" sz="2000" dirty="0" smtClean="0"/>
              <a:t>               </a:t>
            </a:r>
            <a:r>
              <a:rPr lang="en-US" altLang="zh-CN" sz="2000" dirty="0"/>
              <a:t>/*</a:t>
            </a:r>
            <a:r>
              <a:rPr lang="zh-CN" altLang="en-US" sz="2000" dirty="0"/>
              <a:t>在表级定义参照完整性，</a:t>
            </a:r>
            <a:r>
              <a:rPr lang="en-US" altLang="zh-CN" sz="2000" dirty="0" err="1"/>
              <a:t>Sno</a:t>
            </a:r>
            <a:r>
              <a:rPr lang="zh-CN" altLang="en-US" sz="2000" dirty="0"/>
              <a:t>是外码，被参照表是</a:t>
            </a:r>
            <a:r>
              <a:rPr lang="en-US" altLang="zh-CN" sz="2000" dirty="0"/>
              <a:t>Student */</a:t>
            </a:r>
            <a:endParaRPr lang="en-US" altLang="zh-CN" sz="2000" dirty="0"/>
          </a:p>
          <a:p>
            <a:pPr lvl="1" eaLnBrk="1" hangingPunct="1">
              <a:lnSpc>
                <a:spcPct val="110000"/>
              </a:lnSpc>
              <a:spcBef>
                <a:spcPts val="0"/>
              </a:spcBef>
              <a:buFont typeface="Wingdings" panose="05000000000000000000" pitchFamily="2" charset="2"/>
              <a:buNone/>
            </a:pPr>
            <a:r>
              <a:rPr lang="en-US" altLang="zh-CN" sz="2200" dirty="0"/>
              <a:t>    FOREIGN KEY (</a:t>
            </a:r>
            <a:r>
              <a:rPr lang="en-US" altLang="zh-CN" sz="2200" dirty="0" err="1"/>
              <a:t>Cno</a:t>
            </a:r>
            <a:r>
              <a:rPr lang="en-US" altLang="zh-CN" sz="2200" dirty="0"/>
              <a:t>) REFERENCES Course(</a:t>
            </a:r>
            <a:r>
              <a:rPr lang="en-US" altLang="zh-CN" sz="2200" dirty="0" err="1"/>
              <a:t>Cno</a:t>
            </a:r>
            <a:r>
              <a:rPr lang="en-US" altLang="zh-CN" sz="2200" dirty="0"/>
              <a:t>)   </a:t>
            </a:r>
            <a:endParaRPr lang="en-US" altLang="zh-CN" sz="2200" dirty="0"/>
          </a:p>
          <a:p>
            <a:pPr lvl="1" eaLnBrk="1" hangingPunct="1">
              <a:lnSpc>
                <a:spcPct val="110000"/>
              </a:lnSpc>
              <a:spcBef>
                <a:spcPts val="0"/>
              </a:spcBef>
              <a:buFont typeface="Wingdings" panose="05000000000000000000" pitchFamily="2" charset="2"/>
              <a:buNone/>
            </a:pPr>
            <a:r>
              <a:rPr lang="en-US" altLang="zh-CN" sz="2000" dirty="0"/>
              <a:t>                                     /*</a:t>
            </a:r>
            <a:r>
              <a:rPr lang="zh-CN" altLang="en-US" sz="2000" dirty="0"/>
              <a:t>在表级定义参照完整性，</a:t>
            </a:r>
            <a:r>
              <a:rPr lang="en-US" altLang="zh-CN" sz="2000" dirty="0" err="1"/>
              <a:t>Cno</a:t>
            </a:r>
            <a:r>
              <a:rPr lang="zh-CN" altLang="en-US" sz="2000" dirty="0"/>
              <a:t>是外码，被参照表是</a:t>
            </a:r>
            <a:r>
              <a:rPr lang="en-US" altLang="zh-CN" sz="2000" dirty="0"/>
              <a:t>Course */</a:t>
            </a:r>
            <a:endParaRPr lang="en-US" altLang="zh-CN" sz="2000" dirty="0"/>
          </a:p>
          <a:p>
            <a:pPr lvl="1" eaLnBrk="1" hangingPunct="1">
              <a:lnSpc>
                <a:spcPct val="110000"/>
              </a:lnSpc>
              <a:spcBef>
                <a:spcPts val="0"/>
              </a:spcBef>
              <a:buFont typeface="Wingdings" panose="05000000000000000000" pitchFamily="2" charset="2"/>
              <a:buNone/>
            </a:pPr>
            <a:r>
              <a:rPr lang="en-US" altLang="zh-CN" sz="2000" dirty="0"/>
              <a:t>   );</a:t>
            </a:r>
            <a:endParaRPr lang="en-US" altLang="zh-CN"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5603" name="Rectangle 2"/>
          <p:cNvSpPr>
            <a:spLocks noGrp="1" noChangeArrowheads="1"/>
          </p:cNvSpPr>
          <p:nvPr>
            <p:ph type="title" idx="4294967295"/>
          </p:nvPr>
        </p:nvSpPr>
        <p:spPr/>
        <p:txBody>
          <a:bodyPr/>
          <a:lstStyle/>
          <a:p>
            <a:pPr eaLnBrk="1" hangingPunct="1"/>
            <a:r>
              <a:rPr lang="en-US" altLang="zh-CN" sz="3600"/>
              <a:t>5.3  </a:t>
            </a:r>
            <a:r>
              <a:rPr lang="zh-CN" altLang="en-US" sz="3600"/>
              <a:t>参照完整性</a:t>
            </a:r>
            <a:endParaRPr lang="zh-CN" altLang="en-US" sz="3600"/>
          </a:p>
        </p:txBody>
      </p:sp>
      <p:sp>
        <p:nvSpPr>
          <p:cNvPr id="23556" name="Rectangle 3"/>
          <p:cNvSpPr>
            <a:spLocks noGrp="1" noChangeArrowheads="1"/>
          </p:cNvSpPr>
          <p:nvPr>
            <p:ph type="body" idx="4294967295"/>
          </p:nvPr>
        </p:nvSpPr>
        <p:spPr>
          <a:xfrm>
            <a:off x="1127448" y="1301376"/>
            <a:ext cx="8229600" cy="4854575"/>
          </a:xfrm>
        </p:spPr>
        <p:txBody>
          <a:bodyPr/>
          <a:lstStyle/>
          <a:p>
            <a:pPr marL="0" indent="0" eaLnBrk="1" hangingPunct="1">
              <a:lnSpc>
                <a:spcPct val="190000"/>
              </a:lnSpc>
              <a:buNone/>
            </a:pPr>
            <a:r>
              <a:rPr lang="en-US" altLang="zh-CN" dirty="0"/>
              <a:t>5.3.1 </a:t>
            </a:r>
            <a:r>
              <a:rPr lang="zh-CN" altLang="en-US" dirty="0"/>
              <a:t>参照完整性定义</a:t>
            </a:r>
            <a:endParaRPr lang="zh-CN" altLang="en-US" dirty="0"/>
          </a:p>
          <a:p>
            <a:pPr marL="0" indent="0" eaLnBrk="1" hangingPunct="1">
              <a:lnSpc>
                <a:spcPct val="190000"/>
              </a:lnSpc>
              <a:buNone/>
            </a:pPr>
            <a:r>
              <a:rPr lang="en-US" altLang="zh-CN" dirty="0">
                <a:solidFill>
                  <a:srgbClr val="00B050"/>
                </a:solidFill>
              </a:rPr>
              <a:t>5.3.2 </a:t>
            </a:r>
            <a:r>
              <a:rPr lang="zh-CN" altLang="en-US" dirty="0">
                <a:solidFill>
                  <a:srgbClr val="00B050"/>
                </a:solidFill>
              </a:rPr>
              <a:t>参照完整性检查和违约处理</a:t>
            </a:r>
            <a:endParaRPr lang="zh-CN" altLang="en-US" dirty="0">
              <a:solidFill>
                <a:srgbClr val="00B050"/>
              </a:solidFill>
            </a:endParaRPr>
          </a:p>
          <a:p>
            <a:pPr marL="0" indent="0" eaLnBrk="1" hangingPunct="1"/>
            <a:endParaRPr lang="en-US" altLang="zh-CN" dirty="0">
              <a:solidFill>
                <a:srgbClr val="3333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r>
              <a:rPr lang="en-US" altLang="zh-CN" sz="3600"/>
              <a:t>5.3.2</a:t>
            </a:r>
            <a:r>
              <a:rPr lang="zh-CN" altLang="en-US" sz="3600"/>
              <a:t>参照完整性检查和违约处理</a:t>
            </a:r>
            <a:endParaRPr lang="zh-CN" altLang="en-US" sz="3600"/>
          </a:p>
        </p:txBody>
      </p:sp>
      <p:sp>
        <p:nvSpPr>
          <p:cNvPr id="26627" name="Rectangle 3"/>
          <p:cNvSpPr>
            <a:spLocks noGrp="1" noChangeArrowheads="1"/>
          </p:cNvSpPr>
          <p:nvPr>
            <p:ph type="body" idx="4294967295"/>
          </p:nvPr>
        </p:nvSpPr>
        <p:spPr>
          <a:xfrm>
            <a:off x="609600" y="1412776"/>
            <a:ext cx="11352584" cy="4608512"/>
          </a:xfrm>
        </p:spPr>
        <p:txBody>
          <a:bodyPr/>
          <a:lstStyle/>
          <a:p>
            <a:pPr>
              <a:lnSpc>
                <a:spcPct val="180000"/>
              </a:lnSpc>
            </a:pPr>
            <a:r>
              <a:rPr lang="zh-CN" altLang="en-US" dirty="0"/>
              <a:t>一个参照完整性将两个表中的相应元组联系起来</a:t>
            </a:r>
            <a:endParaRPr lang="zh-CN" altLang="en-US" dirty="0"/>
          </a:p>
          <a:p>
            <a:pPr>
              <a:lnSpc>
                <a:spcPct val="180000"/>
              </a:lnSpc>
            </a:pPr>
            <a:r>
              <a:rPr lang="zh-CN" altLang="en-US" dirty="0"/>
              <a:t>对被参照表和参照表进行增删改操作时有可能破坏参照完整性，必须进行检查 </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p:txBody>
          <a:bodyPr/>
          <a:lstStyle/>
          <a:p>
            <a:r>
              <a:rPr lang="zh-CN" altLang="en-US" sz="3600"/>
              <a:t>参照完整性检查和违约处理</a:t>
            </a:r>
            <a:r>
              <a:rPr lang="en-US" altLang="zh-CN" sz="3600"/>
              <a:t>（</a:t>
            </a:r>
            <a:r>
              <a:rPr lang="zh-CN" altLang="en-US" sz="3600"/>
              <a:t>续</a:t>
            </a:r>
            <a:r>
              <a:rPr lang="en-US" altLang="zh-CN" sz="3600"/>
              <a:t>）</a:t>
            </a:r>
            <a:endParaRPr lang="en-US" altLang="zh-CN" sz="3600"/>
          </a:p>
        </p:txBody>
      </p:sp>
      <p:sp>
        <p:nvSpPr>
          <p:cNvPr id="27651" name="Rectangle 3"/>
          <p:cNvSpPr>
            <a:spLocks noGrp="1" noChangeArrowheads="1"/>
          </p:cNvSpPr>
          <p:nvPr>
            <p:ph type="body" idx="4294967295"/>
          </p:nvPr>
        </p:nvSpPr>
        <p:spPr>
          <a:xfrm>
            <a:off x="479376" y="1268761"/>
            <a:ext cx="10585176" cy="4824536"/>
          </a:xfrm>
        </p:spPr>
        <p:txBody>
          <a:bodyPr/>
          <a:lstStyle/>
          <a:p>
            <a:pPr>
              <a:lnSpc>
                <a:spcPct val="150000"/>
              </a:lnSpc>
              <a:spcBef>
                <a:spcPct val="0"/>
              </a:spcBef>
            </a:pPr>
            <a:r>
              <a:rPr lang="zh-CN" altLang="en-US" dirty="0"/>
              <a:t>例如，对表</a:t>
            </a:r>
            <a:r>
              <a:rPr lang="en-US" altLang="zh-CN" dirty="0"/>
              <a:t>SC</a:t>
            </a:r>
            <a:r>
              <a:rPr lang="zh-CN" altLang="en-US" dirty="0"/>
              <a:t>和</a:t>
            </a:r>
            <a:r>
              <a:rPr lang="en-US" altLang="zh-CN" dirty="0"/>
              <a:t>Student</a:t>
            </a:r>
            <a:r>
              <a:rPr lang="zh-CN" altLang="en-US" dirty="0"/>
              <a:t>有四种可能破坏参照完整性的情况 :</a:t>
            </a:r>
            <a:endParaRPr lang="zh-CN" altLang="en-US" dirty="0"/>
          </a:p>
          <a:p>
            <a:pPr lvl="1">
              <a:lnSpc>
                <a:spcPct val="150000"/>
              </a:lnSpc>
              <a:spcBef>
                <a:spcPct val="0"/>
              </a:spcBef>
            </a:pPr>
            <a:r>
              <a:rPr lang="en-US" altLang="zh-CN" dirty="0">
                <a:solidFill>
                  <a:srgbClr val="FF00FF"/>
                </a:solidFill>
              </a:rPr>
              <a:t>SC</a:t>
            </a:r>
            <a:r>
              <a:rPr lang="zh-CN" altLang="en-US" dirty="0">
                <a:solidFill>
                  <a:srgbClr val="FF00FF"/>
                </a:solidFill>
              </a:rPr>
              <a:t>表中增加一个元组</a:t>
            </a:r>
            <a:r>
              <a:rPr lang="zh-CN" altLang="en-US" dirty="0"/>
              <a:t>，该元组的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endParaRPr lang="zh-CN" altLang="en-US" dirty="0"/>
          </a:p>
          <a:p>
            <a:pPr lvl="1">
              <a:lnSpc>
                <a:spcPct val="150000"/>
              </a:lnSpc>
              <a:spcBef>
                <a:spcPct val="0"/>
              </a:spcBef>
            </a:pPr>
            <a:r>
              <a:rPr lang="zh-CN" altLang="en-US" dirty="0">
                <a:solidFill>
                  <a:srgbClr val="FF00FF"/>
                </a:solidFill>
              </a:rPr>
              <a:t>修改</a:t>
            </a:r>
            <a:r>
              <a:rPr lang="en-US" altLang="zh-CN" dirty="0">
                <a:solidFill>
                  <a:srgbClr val="FF00FF"/>
                </a:solidFill>
              </a:rPr>
              <a:t>SC</a:t>
            </a:r>
            <a:r>
              <a:rPr lang="zh-CN" altLang="en-US" dirty="0">
                <a:solidFill>
                  <a:srgbClr val="FF00FF"/>
                </a:solidFill>
              </a:rPr>
              <a:t>表中的一个元组</a:t>
            </a:r>
            <a:r>
              <a:rPr lang="zh-CN" altLang="en-US" dirty="0"/>
              <a:t>，修改后该元组的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a:lstStyle/>
          <a:p>
            <a:r>
              <a:rPr lang="zh-CN" altLang="en-US" sz="3600"/>
              <a:t>参照完整性检查和违约处理</a:t>
            </a:r>
            <a:r>
              <a:rPr lang="en-US" altLang="zh-CN" sz="3600"/>
              <a:t>（</a:t>
            </a:r>
            <a:r>
              <a:rPr lang="zh-CN" altLang="en-US" sz="3600"/>
              <a:t>续</a:t>
            </a:r>
            <a:r>
              <a:rPr lang="en-US" altLang="zh-CN" sz="3600"/>
              <a:t>）</a:t>
            </a:r>
            <a:endParaRPr lang="en-US" altLang="zh-CN" sz="3600"/>
          </a:p>
        </p:txBody>
      </p:sp>
      <p:sp>
        <p:nvSpPr>
          <p:cNvPr id="28675" name="Rectangle 3"/>
          <p:cNvSpPr>
            <a:spLocks noGrp="1" noChangeArrowheads="1"/>
          </p:cNvSpPr>
          <p:nvPr>
            <p:ph type="body" idx="4294967295"/>
          </p:nvPr>
        </p:nvSpPr>
        <p:spPr>
          <a:xfrm>
            <a:off x="436476" y="1268760"/>
            <a:ext cx="11319048" cy="5949280"/>
          </a:xfrm>
        </p:spPr>
        <p:txBody>
          <a:bodyPr/>
          <a:lstStyle/>
          <a:p>
            <a:pPr>
              <a:lnSpc>
                <a:spcPct val="150000"/>
              </a:lnSpc>
              <a:spcBef>
                <a:spcPct val="0"/>
              </a:spcBef>
            </a:pPr>
            <a:r>
              <a:rPr lang="zh-CN" altLang="en-US" dirty="0"/>
              <a:t>例如，对表</a:t>
            </a:r>
            <a:r>
              <a:rPr lang="en-US" altLang="zh-CN" dirty="0"/>
              <a:t>SC</a:t>
            </a:r>
            <a:r>
              <a:rPr lang="zh-CN" altLang="en-US" dirty="0"/>
              <a:t>和</a:t>
            </a:r>
            <a:r>
              <a:rPr lang="en-US" altLang="zh-CN" dirty="0"/>
              <a:t>Student</a:t>
            </a:r>
            <a:r>
              <a:rPr lang="zh-CN" altLang="en-US" dirty="0"/>
              <a:t>有四种可能破坏参照完整性的情况 （续）:</a:t>
            </a:r>
            <a:endParaRPr lang="zh-CN" altLang="en-US" dirty="0"/>
          </a:p>
          <a:p>
            <a:pPr lvl="1">
              <a:lnSpc>
                <a:spcPct val="150000"/>
              </a:lnSpc>
              <a:spcBef>
                <a:spcPct val="0"/>
              </a:spcBef>
            </a:pPr>
            <a:r>
              <a:rPr lang="zh-CN" altLang="en-US" dirty="0">
                <a:solidFill>
                  <a:srgbClr val="FF00FF"/>
                </a:solidFill>
              </a:rPr>
              <a:t>从</a:t>
            </a:r>
            <a:r>
              <a:rPr lang="en-US" altLang="zh-CN" dirty="0">
                <a:solidFill>
                  <a:srgbClr val="FF00FF"/>
                </a:solidFill>
              </a:rPr>
              <a:t>Student</a:t>
            </a:r>
            <a:r>
              <a:rPr lang="zh-CN" altLang="en-US" dirty="0">
                <a:solidFill>
                  <a:srgbClr val="FF00FF"/>
                </a:solidFill>
              </a:rPr>
              <a:t>表中删除一个元组</a:t>
            </a:r>
            <a:r>
              <a:rPr lang="zh-CN" altLang="en-US" dirty="0"/>
              <a:t>，造成</a:t>
            </a:r>
            <a:r>
              <a:rPr lang="en-US" altLang="zh-CN" dirty="0"/>
              <a:t>SC</a:t>
            </a:r>
            <a:r>
              <a:rPr lang="zh-CN" altLang="en-US" dirty="0"/>
              <a:t>表中某些元组的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endParaRPr lang="zh-CN" altLang="en-US" dirty="0"/>
          </a:p>
          <a:p>
            <a:pPr lvl="1">
              <a:lnSpc>
                <a:spcPct val="150000"/>
              </a:lnSpc>
              <a:spcBef>
                <a:spcPct val="0"/>
              </a:spcBef>
            </a:pPr>
            <a:r>
              <a:rPr lang="zh-CN" altLang="en-US" dirty="0">
                <a:solidFill>
                  <a:srgbClr val="FF00FF"/>
                </a:solidFill>
              </a:rPr>
              <a:t>修改</a:t>
            </a:r>
            <a:r>
              <a:rPr lang="en-US" altLang="zh-CN" dirty="0">
                <a:solidFill>
                  <a:srgbClr val="FF00FF"/>
                </a:solidFill>
              </a:rPr>
              <a:t>Student</a:t>
            </a:r>
            <a:r>
              <a:rPr lang="zh-CN" altLang="en-US" dirty="0">
                <a:solidFill>
                  <a:srgbClr val="FF00FF"/>
                </a:solidFill>
              </a:rPr>
              <a:t>表中一个元组的</a:t>
            </a:r>
            <a:r>
              <a:rPr lang="en-US" altLang="zh-CN" dirty="0" err="1">
                <a:solidFill>
                  <a:srgbClr val="FF00FF"/>
                </a:solidFill>
              </a:rPr>
              <a:t>Sno</a:t>
            </a:r>
            <a:r>
              <a:rPr lang="zh-CN" altLang="en-US" dirty="0">
                <a:solidFill>
                  <a:srgbClr val="FF00FF"/>
                </a:solidFill>
              </a:rPr>
              <a:t>属性</a:t>
            </a:r>
            <a:r>
              <a:rPr lang="zh-CN" altLang="en-US" dirty="0"/>
              <a:t>，造成</a:t>
            </a:r>
            <a:r>
              <a:rPr lang="en-US" altLang="zh-CN" dirty="0"/>
              <a:t>SC</a:t>
            </a:r>
            <a:r>
              <a:rPr lang="zh-CN" altLang="en-US" dirty="0"/>
              <a:t>表中某些元组的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 。</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endParaRPr lang="en-US" altLang="zh-CN" sz="3600"/>
          </a:p>
        </p:txBody>
      </p:sp>
      <p:sp>
        <p:nvSpPr>
          <p:cNvPr id="29699" name="Rectangle 8"/>
          <p:cNvSpPr>
            <a:spLocks noChangeArrowheads="1"/>
          </p:cNvSpPr>
          <p:nvPr/>
        </p:nvSpPr>
        <p:spPr bwMode="auto">
          <a:xfrm>
            <a:off x="3415836" y="1339028"/>
            <a:ext cx="5315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000" dirty="0">
                <a:latin typeface="宋体" panose="02010600030101010101" pitchFamily="2" charset="-122"/>
              </a:rPr>
              <a:t>表</a:t>
            </a:r>
            <a:r>
              <a:rPr lang="en-US" altLang="zh-CN" sz="2000" dirty="0"/>
              <a:t>5.1</a:t>
            </a:r>
            <a:r>
              <a:rPr lang="en-US" altLang="zh-CN" sz="2000" dirty="0">
                <a:latin typeface="宋体" panose="02010600030101010101" pitchFamily="2" charset="-122"/>
              </a:rPr>
              <a:t> </a:t>
            </a:r>
            <a:r>
              <a:rPr lang="zh-CN" altLang="en-US" sz="2000" dirty="0">
                <a:latin typeface="宋体" panose="02010600030101010101" pitchFamily="2" charset="-122"/>
              </a:rPr>
              <a:t>可能破坏参照完整性的情况及违约处理</a:t>
            </a:r>
            <a:endParaRPr lang="zh-CN" altLang="en-US" sz="2000" dirty="0">
              <a:latin typeface="宋体" panose="02010600030101010101" pitchFamily="2" charset="-122"/>
            </a:endParaRPr>
          </a:p>
        </p:txBody>
      </p:sp>
      <p:sp>
        <p:nvSpPr>
          <p:cNvPr id="29700" name="Rectangle 12"/>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1" name="Rectangle 16"/>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2" name="Rectangle 20"/>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3" name="Rectangle 24"/>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graphicFrame>
        <p:nvGraphicFramePr>
          <p:cNvPr id="26632" name="Group 8"/>
          <p:cNvGraphicFramePr>
            <a:graphicFrameLocks noGrp="1"/>
          </p:cNvGraphicFramePr>
          <p:nvPr/>
        </p:nvGraphicFramePr>
        <p:xfrm>
          <a:off x="1847851" y="1916114"/>
          <a:ext cx="8632825" cy="3652839"/>
        </p:xfrm>
        <a:graphic>
          <a:graphicData uri="http://schemas.openxmlformats.org/drawingml/2006/table">
            <a:tbl>
              <a:tblPr/>
              <a:tblGrid>
                <a:gridCol w="3136900"/>
                <a:gridCol w="2638425"/>
                <a:gridCol w="2857500"/>
              </a:tblGrid>
              <a:tr h="88741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被参照表（例如</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Student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参照表（例如</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SC</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违约处理</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238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可能破坏参照完整性</a:t>
                      </a:r>
                      <a:endPar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插入元组</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拒绝</a:t>
                      </a:r>
                      <a:endPar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可能破坏参照完整性</a:t>
                      </a:r>
                      <a:endPar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修改外码值</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endPar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9216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删除元组</a:t>
                      </a:r>
                      <a:endPar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可能破坏参照完整性</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级联删除</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设置为空值</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67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修改主码值</a:t>
                      </a:r>
                      <a:endPar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可能破坏参照完整性</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级联修改</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设置为空值</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9730" name="Line 125"/>
          <p:cNvSpPr>
            <a:spLocks noChangeShapeType="1"/>
          </p:cNvSpPr>
          <p:nvPr/>
        </p:nvSpPr>
        <p:spPr bwMode="auto">
          <a:xfrm flipH="1">
            <a:off x="4511675" y="3717925"/>
            <a:ext cx="6492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1" name="Line 126"/>
          <p:cNvSpPr>
            <a:spLocks noChangeShapeType="1"/>
          </p:cNvSpPr>
          <p:nvPr/>
        </p:nvSpPr>
        <p:spPr bwMode="auto">
          <a:xfrm>
            <a:off x="4511675" y="4365625"/>
            <a:ext cx="6492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2" name="Line 127"/>
          <p:cNvSpPr>
            <a:spLocks noChangeShapeType="1"/>
          </p:cNvSpPr>
          <p:nvPr/>
        </p:nvSpPr>
        <p:spPr bwMode="auto">
          <a:xfrm>
            <a:off x="4511675" y="5157788"/>
            <a:ext cx="64770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3" name="Line 125"/>
          <p:cNvSpPr>
            <a:spLocks noChangeShapeType="1"/>
          </p:cNvSpPr>
          <p:nvPr/>
        </p:nvSpPr>
        <p:spPr bwMode="auto">
          <a:xfrm flipH="1">
            <a:off x="4511675" y="3068638"/>
            <a:ext cx="6492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3" name="Rectangle 2"/>
          <p:cNvSpPr>
            <a:spLocks noGrp="1" noChangeArrowheads="1"/>
          </p:cNvSpPr>
          <p:nvPr>
            <p:ph type="title" idx="4294967295"/>
          </p:nvPr>
        </p:nvSpPr>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endParaRPr lang="en-US" altLang="zh-CN" sz="3600"/>
          </a:p>
        </p:txBody>
      </p:sp>
      <p:sp>
        <p:nvSpPr>
          <p:cNvPr id="30724" name="Rectangle 3"/>
          <p:cNvSpPr>
            <a:spLocks noGrp="1" noChangeArrowheads="1"/>
          </p:cNvSpPr>
          <p:nvPr>
            <p:ph type="body" idx="4294967295"/>
          </p:nvPr>
        </p:nvSpPr>
        <p:spPr>
          <a:xfrm>
            <a:off x="609600" y="1196752"/>
            <a:ext cx="10972800" cy="5384354"/>
          </a:xfrm>
        </p:spPr>
        <p:txBody>
          <a:bodyPr/>
          <a:lstStyle/>
          <a:p>
            <a:pPr eaLnBrk="1" hangingPunct="1">
              <a:lnSpc>
                <a:spcPct val="150000"/>
              </a:lnSpc>
              <a:spcBef>
                <a:spcPct val="0"/>
              </a:spcBef>
            </a:pPr>
            <a:r>
              <a:rPr lang="zh-CN" altLang="en-US" dirty="0"/>
              <a:t>参照完整性违约处理</a:t>
            </a:r>
            <a:endParaRPr lang="zh-CN" altLang="en-US" dirty="0"/>
          </a:p>
          <a:p>
            <a:pPr lvl="1" eaLnBrk="1" hangingPunct="1">
              <a:lnSpc>
                <a:spcPct val="150000"/>
              </a:lnSpc>
              <a:spcBef>
                <a:spcPct val="0"/>
              </a:spcBef>
              <a:buFont typeface="Wingdings" panose="05000000000000000000" pitchFamily="2" charset="2"/>
              <a:buNone/>
            </a:pPr>
            <a:r>
              <a:rPr lang="zh-CN" altLang="en-US" dirty="0"/>
              <a:t>（</a:t>
            </a:r>
            <a:r>
              <a:rPr lang="en-US" altLang="zh-CN" dirty="0"/>
              <a:t>1</a:t>
            </a:r>
            <a:r>
              <a:rPr lang="zh-CN" altLang="en-US" dirty="0"/>
              <a:t>）</a:t>
            </a:r>
            <a:r>
              <a:rPr lang="en-US" altLang="zh-CN" dirty="0"/>
              <a:t> </a:t>
            </a:r>
            <a:r>
              <a:rPr lang="zh-CN" altLang="en-US" dirty="0"/>
              <a:t>拒绝</a:t>
            </a:r>
            <a:r>
              <a:rPr lang="en-US" altLang="zh-CN" dirty="0"/>
              <a:t>（NO ACTION）</a:t>
            </a:r>
            <a:r>
              <a:rPr lang="zh-CN" altLang="en-US" dirty="0"/>
              <a:t>执行</a:t>
            </a:r>
            <a:endParaRPr lang="zh-CN" altLang="en-US" dirty="0"/>
          </a:p>
          <a:p>
            <a:pPr lvl="2" eaLnBrk="1" hangingPunct="1">
              <a:lnSpc>
                <a:spcPct val="150000"/>
              </a:lnSpc>
              <a:spcBef>
                <a:spcPct val="0"/>
              </a:spcBef>
              <a:buSzPct val="87000"/>
              <a:buFont typeface="Wingdings" panose="05000000000000000000" pitchFamily="2" charset="2"/>
              <a:buChar char="l"/>
            </a:pPr>
            <a:r>
              <a:rPr lang="zh-CN" altLang="en-US" sz="2200" dirty="0"/>
              <a:t>不允许该操作执行。该策略一般设置为默认策略</a:t>
            </a:r>
            <a:endParaRPr lang="zh-CN" altLang="en-US" sz="2200" dirty="0"/>
          </a:p>
          <a:p>
            <a:pPr lvl="1" eaLnBrk="1" hangingPunct="1">
              <a:lnSpc>
                <a:spcPct val="150000"/>
              </a:lnSpc>
              <a:spcBef>
                <a:spcPct val="0"/>
              </a:spcBef>
              <a:buFont typeface="Wingdings" panose="05000000000000000000" pitchFamily="2" charset="2"/>
              <a:buNone/>
            </a:pPr>
            <a:r>
              <a:rPr lang="zh-CN" altLang="en-US" dirty="0"/>
              <a:t>（</a:t>
            </a:r>
            <a:r>
              <a:rPr lang="en-US" altLang="zh-CN" dirty="0"/>
              <a:t>2</a:t>
            </a:r>
            <a:r>
              <a:rPr lang="zh-CN" altLang="en-US" dirty="0"/>
              <a:t>）</a:t>
            </a:r>
            <a:r>
              <a:rPr lang="en-US" altLang="zh-CN" dirty="0"/>
              <a:t> </a:t>
            </a:r>
            <a:r>
              <a:rPr lang="zh-CN" altLang="en-US" dirty="0"/>
              <a:t>级联</a:t>
            </a:r>
            <a:r>
              <a:rPr lang="en-US" altLang="zh-CN" dirty="0"/>
              <a:t>（CASCADE）</a:t>
            </a:r>
            <a:r>
              <a:rPr lang="zh-CN" altLang="en-US" dirty="0"/>
              <a:t>操作</a:t>
            </a:r>
            <a:endParaRPr lang="zh-CN" altLang="en-US" sz="2800" dirty="0"/>
          </a:p>
          <a:p>
            <a:pPr lvl="2" eaLnBrk="1" hangingPunct="1">
              <a:lnSpc>
                <a:spcPct val="150000"/>
              </a:lnSpc>
              <a:spcBef>
                <a:spcPct val="0"/>
              </a:spcBef>
              <a:buSzPct val="87000"/>
              <a:buFont typeface="Wingdings" panose="05000000000000000000" pitchFamily="2" charset="2"/>
              <a:buChar char="l"/>
            </a:pPr>
            <a:r>
              <a:rPr lang="zh-CN" altLang="en-US" sz="2200" dirty="0"/>
              <a:t>当删除或修改被参照表</a:t>
            </a:r>
            <a:r>
              <a:rPr lang="en-US" altLang="zh-CN" sz="2200" dirty="0"/>
              <a:t>（Student）</a:t>
            </a:r>
            <a:r>
              <a:rPr lang="zh-CN" altLang="en-US" sz="2200" dirty="0"/>
              <a:t>的一个元组导致与参照表</a:t>
            </a:r>
            <a:r>
              <a:rPr lang="en-US" altLang="zh-CN" sz="2200" dirty="0"/>
              <a:t>（SC）</a:t>
            </a:r>
            <a:r>
              <a:rPr lang="zh-CN" altLang="en-US" sz="2200" dirty="0"/>
              <a:t>的不一致，则删除或修改参照表中的所有导致不一致的元组（</a:t>
            </a:r>
            <a:r>
              <a:rPr lang="zh-CN" altLang="en-US" sz="2200" dirty="0">
                <a:solidFill>
                  <a:srgbClr val="FF0000"/>
                </a:solidFill>
              </a:rPr>
              <a:t>慎重！</a:t>
            </a:r>
            <a:r>
              <a:rPr lang="zh-CN" altLang="en-US" sz="2200" dirty="0"/>
              <a:t>）</a:t>
            </a:r>
            <a:endParaRPr lang="zh-CN" altLang="en-US" sz="2200" dirty="0"/>
          </a:p>
          <a:p>
            <a:pPr lvl="1" eaLnBrk="1" hangingPunct="1">
              <a:lnSpc>
                <a:spcPct val="150000"/>
              </a:lnSpc>
              <a:spcBef>
                <a:spcPct val="0"/>
              </a:spcBef>
              <a:buFont typeface="Wingdings" panose="05000000000000000000" pitchFamily="2" charset="2"/>
              <a:buNone/>
            </a:pPr>
            <a:r>
              <a:rPr lang="zh-CN" altLang="en-US" dirty="0"/>
              <a:t>（</a:t>
            </a:r>
            <a:r>
              <a:rPr lang="en-US" altLang="zh-CN" dirty="0"/>
              <a:t>3</a:t>
            </a:r>
            <a:r>
              <a:rPr lang="zh-CN" altLang="en-US" dirty="0"/>
              <a:t>）设置为空值（</a:t>
            </a:r>
            <a:r>
              <a:rPr lang="en-US" altLang="zh-CN" dirty="0"/>
              <a:t>SET-NULL</a:t>
            </a:r>
            <a:r>
              <a:rPr lang="zh-CN" altLang="en-US" dirty="0"/>
              <a:t>）</a:t>
            </a:r>
            <a:endParaRPr lang="zh-CN" altLang="en-US" dirty="0"/>
          </a:p>
          <a:p>
            <a:pPr lvl="2">
              <a:lnSpc>
                <a:spcPct val="150000"/>
              </a:lnSpc>
              <a:spcBef>
                <a:spcPct val="0"/>
              </a:spcBef>
              <a:buSzPct val="87000"/>
              <a:buFont typeface="Wingdings" panose="05000000000000000000" pitchFamily="2" charset="2"/>
              <a:buChar char="l"/>
            </a:pPr>
            <a:r>
              <a:rPr lang="zh-CN" altLang="en-US" sz="2200" dirty="0"/>
              <a:t>当删除或修改被参照表的一个元组时造成了不一致，则将参照表中的所有造成不一致的元组的对应属性设置为空值。</a:t>
            </a:r>
            <a:endParaRPr lang="zh-CN" alt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p:txBody>
          <a:bodyPr/>
          <a:lstStyle/>
          <a:p>
            <a:r>
              <a:rPr lang="zh-CN" altLang="en-US" sz="3600"/>
              <a:t>参照完整性检查和违约处理</a:t>
            </a:r>
            <a:r>
              <a:rPr lang="en-US" altLang="zh-CN" sz="3600"/>
              <a:t>（</a:t>
            </a:r>
            <a:r>
              <a:rPr lang="zh-CN" altLang="en-US" sz="3600"/>
              <a:t>续</a:t>
            </a:r>
            <a:r>
              <a:rPr lang="en-US" altLang="zh-CN" sz="3600"/>
              <a:t>）</a:t>
            </a:r>
            <a:endParaRPr lang="en-US" altLang="zh-CN" sz="3600"/>
          </a:p>
        </p:txBody>
      </p:sp>
      <p:sp>
        <p:nvSpPr>
          <p:cNvPr id="31747" name="Rectangle 3"/>
          <p:cNvSpPr>
            <a:spLocks noGrp="1" noChangeArrowheads="1"/>
          </p:cNvSpPr>
          <p:nvPr>
            <p:ph type="body" idx="4294967295"/>
          </p:nvPr>
        </p:nvSpPr>
        <p:spPr>
          <a:xfrm>
            <a:off x="839416" y="1484784"/>
            <a:ext cx="11103024" cy="4824536"/>
          </a:xfrm>
        </p:spPr>
        <p:txBody>
          <a:bodyPr/>
          <a:lstStyle/>
          <a:p>
            <a:pPr lvl="1">
              <a:lnSpc>
                <a:spcPct val="120000"/>
              </a:lnSpc>
              <a:buFont typeface="Wingdings" panose="05000000000000000000" pitchFamily="2" charset="2"/>
              <a:buNone/>
            </a:pPr>
            <a:r>
              <a:rPr lang="zh-CN" altLang="en-US" dirty="0"/>
              <a:t>例如，有下面</a:t>
            </a:r>
            <a:r>
              <a:rPr lang="en-US" altLang="zh-CN" dirty="0"/>
              <a:t>2</a:t>
            </a:r>
            <a:r>
              <a:rPr lang="zh-CN" altLang="en-US" dirty="0"/>
              <a:t>个关系</a:t>
            </a:r>
            <a:endParaRPr lang="zh-CN" altLang="en-US" dirty="0"/>
          </a:p>
          <a:p>
            <a:pPr lvl="1">
              <a:lnSpc>
                <a:spcPct val="120000"/>
              </a:lnSpc>
              <a:buFont typeface="Wingdings" panose="05000000000000000000" pitchFamily="2" charset="2"/>
              <a:buNone/>
            </a:pPr>
            <a:r>
              <a:rPr lang="zh-CN" altLang="en-US" dirty="0"/>
              <a:t>    学生（</a:t>
            </a:r>
            <a:r>
              <a:rPr lang="zh-CN" altLang="en-US" u="sng" dirty="0"/>
              <a:t>学号</a:t>
            </a:r>
            <a:r>
              <a:rPr lang="zh-CN" altLang="en-US" dirty="0"/>
              <a:t>，姓名，性别，出生日期，主修专业）</a:t>
            </a:r>
            <a:endParaRPr lang="zh-CN" altLang="en-US" dirty="0"/>
          </a:p>
          <a:p>
            <a:pPr lvl="1">
              <a:lnSpc>
                <a:spcPct val="120000"/>
              </a:lnSpc>
              <a:buFont typeface="Wingdings" panose="05000000000000000000" pitchFamily="2" charset="2"/>
              <a:buNone/>
            </a:pPr>
            <a:r>
              <a:rPr lang="zh-CN" altLang="en-US" dirty="0"/>
              <a:t>    专业（</a:t>
            </a:r>
            <a:r>
              <a:rPr lang="zh-CN" altLang="en-US" u="sng" dirty="0"/>
              <a:t>专业号</a:t>
            </a:r>
            <a:r>
              <a:rPr lang="zh-CN" altLang="en-US" dirty="0"/>
              <a:t>，专业编码）</a:t>
            </a:r>
            <a:endParaRPr lang="en-US" altLang="zh-CN" dirty="0"/>
          </a:p>
          <a:p>
            <a:pPr lvl="1">
              <a:lnSpc>
                <a:spcPct val="120000"/>
              </a:lnSpc>
              <a:buFont typeface="Wingdings" panose="05000000000000000000" pitchFamily="2" charset="2"/>
              <a:buNone/>
            </a:pPr>
            <a:endParaRPr lang="zh-CN" altLang="en-US" dirty="0"/>
          </a:p>
          <a:p>
            <a:pPr lvl="2">
              <a:lnSpc>
                <a:spcPct val="120000"/>
              </a:lnSpc>
              <a:buSzPct val="87000"/>
              <a:buFont typeface="Wingdings" panose="05000000000000000000" pitchFamily="2" charset="2"/>
              <a:buChar char="l"/>
            </a:pPr>
            <a:r>
              <a:rPr lang="zh-CN" altLang="en-US" sz="2200" dirty="0"/>
              <a:t>假设</a:t>
            </a:r>
            <a:r>
              <a:rPr lang="zh-CN" altLang="zh-CN" sz="2200" dirty="0">
                <a:latin typeface="Calibri" panose="020F0502020204030204" pitchFamily="34" charset="0"/>
                <a:cs typeface="Times New Roman" panose="02020603050405020304" pitchFamily="18" charset="0"/>
              </a:rPr>
              <a:t>专业表中专业名为计算机科学与技术的元组被删除</a:t>
            </a:r>
            <a:endParaRPr lang="en-US" altLang="zh-CN" sz="2200" dirty="0"/>
          </a:p>
          <a:p>
            <a:pPr lvl="2">
              <a:lnSpc>
                <a:spcPct val="120000"/>
              </a:lnSpc>
              <a:buSzPct val="87000"/>
              <a:buFont typeface="Wingdings" panose="05000000000000000000" pitchFamily="2" charset="2"/>
              <a:buChar char="l"/>
            </a:pPr>
            <a:r>
              <a:rPr lang="zh-CN" altLang="zh-CN" sz="2200" dirty="0">
                <a:latin typeface="Calibri" panose="020F0502020204030204" pitchFamily="34" charset="0"/>
                <a:cs typeface="Times New Roman" panose="02020603050405020304" pitchFamily="18" charset="0"/>
              </a:rPr>
              <a:t>把学生表中主修专业</a:t>
            </a:r>
            <a:r>
              <a:rPr lang="en-US" altLang="zh-CN" sz="2200" dirty="0">
                <a:latin typeface="Calibri" panose="020F0502020204030204" pitchFamily="34" charset="0"/>
                <a:cs typeface="Times New Roman" panose="02020603050405020304" pitchFamily="18" charset="0"/>
              </a:rPr>
              <a:t>=</a:t>
            </a:r>
            <a:r>
              <a:rPr lang="en-US" altLang="zh-CN" sz="2200" dirty="0">
                <a:solidFill>
                  <a:srgbClr val="000000"/>
                </a:solidFill>
                <a:latin typeface="Calibri" panose="020F0502020204030204" pitchFamily="34" charset="0"/>
                <a:cs typeface="Times New Roman" panose="02020603050405020304" pitchFamily="18" charset="0"/>
              </a:rPr>
              <a:t>'</a:t>
            </a:r>
            <a:r>
              <a:rPr lang="zh-CN" altLang="zh-CN" sz="2200" dirty="0">
                <a:latin typeface="Calibri" panose="020F0502020204030204" pitchFamily="34" charset="0"/>
                <a:cs typeface="Times New Roman" panose="02020603050405020304" pitchFamily="18" charset="0"/>
              </a:rPr>
              <a:t>计算机科学与技术</a:t>
            </a:r>
            <a:r>
              <a:rPr lang="en-US" altLang="zh-CN" sz="2200" dirty="0">
                <a:solidFill>
                  <a:srgbClr val="000000"/>
                </a:solidFill>
                <a:latin typeface="Calibri" panose="020F0502020204030204" pitchFamily="34" charset="0"/>
                <a:cs typeface="Times New Roman" panose="02020603050405020304" pitchFamily="18" charset="0"/>
              </a:rPr>
              <a:t>'</a:t>
            </a:r>
            <a:r>
              <a:rPr lang="zh-CN" altLang="zh-CN" sz="2200" dirty="0">
                <a:latin typeface="Calibri" panose="020F0502020204030204" pitchFamily="34" charset="0"/>
                <a:cs typeface="Times New Roman" panose="02020603050405020304" pitchFamily="18" charset="0"/>
              </a:rPr>
              <a:t>的所有元组的主修专业设置为空值</a:t>
            </a:r>
            <a:endParaRPr lang="zh-CN" altLang="en-US" sz="2200" dirty="0"/>
          </a:p>
          <a:p>
            <a:pPr lvl="2">
              <a:lnSpc>
                <a:spcPct val="120000"/>
              </a:lnSpc>
              <a:buSzPct val="87000"/>
              <a:buFont typeface="Wingdings" panose="05000000000000000000" pitchFamily="2" charset="2"/>
              <a:buChar char="l"/>
            </a:pPr>
            <a:r>
              <a:rPr lang="zh-CN" altLang="en-US" sz="2200" dirty="0"/>
              <a:t>语义：</a:t>
            </a:r>
            <a:r>
              <a:rPr lang="zh-CN" altLang="zh-CN" sz="2200" dirty="0">
                <a:latin typeface="Calibri" panose="020F0502020204030204" pitchFamily="34" charset="0"/>
                <a:cs typeface="Times New Roman" panose="02020603050405020304" pitchFamily="18" charset="0"/>
              </a:rPr>
              <a:t>某个专业删除了，则选择该专业为主修专业的所有学生就要等待重新选择主修专业</a:t>
            </a:r>
            <a:endParaRPr lang="en-US" altLang="zh-CN" sz="2200" dirty="0"/>
          </a:p>
          <a:p>
            <a:pPr lvl="2">
              <a:lnSpc>
                <a:spcPct val="110000"/>
              </a:lnSpc>
              <a:buSzPct val="85000"/>
              <a:buFont typeface="Wingdings" panose="05000000000000000000" pitchFamily="2" charset="2"/>
              <a:buChar char="n"/>
            </a:pPr>
            <a:endParaRPr lang="zh-CN" altLang="en-US" sz="1900" dirty="0"/>
          </a:p>
        </p:txBody>
      </p:sp>
      <p:sp>
        <p:nvSpPr>
          <p:cNvPr id="31748" name="AutoShape 4"/>
          <p:cNvSpPr>
            <a:spLocks noChangeArrowheads="1"/>
          </p:cNvSpPr>
          <p:nvPr/>
        </p:nvSpPr>
        <p:spPr bwMode="auto">
          <a:xfrm>
            <a:off x="6816080" y="1098550"/>
            <a:ext cx="1057275" cy="504825"/>
          </a:xfrm>
          <a:prstGeom prst="wedgeEllipseCallout">
            <a:avLst>
              <a:gd name="adj1" fmla="val 18625"/>
              <a:gd name="adj2" fmla="val 105222"/>
            </a:avLst>
          </a:prstGeom>
          <a:gradFill rotWithShape="0">
            <a:gsLst>
              <a:gs pos="0">
                <a:srgbClr val="FFFFFF"/>
              </a:gs>
              <a:gs pos="100000">
                <a:srgbClr val="BBBBBB"/>
              </a:gs>
            </a:gsLst>
            <a:lin ang="5400000" scaled="1"/>
          </a:gradFill>
          <a:ln w="25400">
            <a:solidFill>
              <a:schemeClr val="tx1"/>
            </a:solidFill>
            <a:miter lim="800000"/>
          </a:ln>
        </p:spPr>
        <p:txBody>
          <a:bodyPr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外码</a:t>
            </a:r>
            <a:endParaRPr lang="zh-CN" altLang="en-US"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p:txBody>
          <a:bodyPr/>
          <a:lstStyle/>
          <a:p>
            <a:r>
              <a:rPr lang="zh-CN" altLang="en-US" sz="3600"/>
              <a:t>参照完整性检查和违约处理</a:t>
            </a:r>
            <a:r>
              <a:rPr lang="en-US" altLang="zh-CN" sz="3600"/>
              <a:t>（</a:t>
            </a:r>
            <a:r>
              <a:rPr lang="zh-CN" altLang="en-US" sz="3600"/>
              <a:t>续</a:t>
            </a:r>
            <a:r>
              <a:rPr lang="en-US" altLang="zh-CN" sz="3600"/>
              <a:t>）</a:t>
            </a:r>
            <a:endParaRPr lang="en-US" altLang="zh-CN" sz="3600"/>
          </a:p>
        </p:txBody>
      </p:sp>
      <p:sp>
        <p:nvSpPr>
          <p:cNvPr id="32771" name="Rectangle 3"/>
          <p:cNvSpPr>
            <a:spLocks noGrp="1" noChangeArrowheads="1"/>
          </p:cNvSpPr>
          <p:nvPr>
            <p:ph type="body" idx="4294967295"/>
          </p:nvPr>
        </p:nvSpPr>
        <p:spPr>
          <a:xfrm>
            <a:off x="904528" y="1556793"/>
            <a:ext cx="10382944" cy="4320479"/>
          </a:xfrm>
        </p:spPr>
        <p:txBody>
          <a:bodyPr/>
          <a:lstStyle/>
          <a:p>
            <a:pPr lvl="1">
              <a:lnSpc>
                <a:spcPct val="120000"/>
              </a:lnSpc>
              <a:buSzPct val="85000"/>
            </a:pPr>
            <a:r>
              <a:rPr lang="zh-CN" altLang="en-US" dirty="0"/>
              <a:t>对于参照完整性，除了应该定义外码，还应定义</a:t>
            </a:r>
            <a:r>
              <a:rPr lang="zh-CN" altLang="en-US" dirty="0">
                <a:solidFill>
                  <a:srgbClr val="FF00FF"/>
                </a:solidFill>
              </a:rPr>
              <a:t>外码列是否允许空值 </a:t>
            </a:r>
            <a:endParaRPr lang="en-US" altLang="zh-CN" dirty="0">
              <a:solidFill>
                <a:srgbClr val="FF0000"/>
              </a:solidFill>
            </a:endParaRPr>
          </a:p>
          <a:p>
            <a:pPr lvl="1">
              <a:lnSpc>
                <a:spcPct val="120000"/>
              </a:lnSpc>
              <a:buSzPct val="85000"/>
            </a:pPr>
            <a:r>
              <a:rPr lang="zh-CN" altLang="en-US" dirty="0">
                <a:solidFill>
                  <a:srgbClr val="FF0000"/>
                </a:solidFill>
                <a:latin typeface="宋体" panose="02010600030101010101" pitchFamily="2" charset="-122"/>
              </a:rPr>
              <a:t>参见爱课程网数据库系统概论</a:t>
            </a:r>
            <a:r>
              <a:rPr lang="en-US" altLang="zh-CN" dirty="0">
                <a:solidFill>
                  <a:srgbClr val="FF0000"/>
                </a:solidFill>
              </a:rPr>
              <a:t>5.2</a:t>
            </a:r>
            <a:r>
              <a:rPr lang="zh-CN" altLang="en-US" dirty="0">
                <a:solidFill>
                  <a:srgbClr val="FF0000"/>
                </a:solidFill>
              </a:rPr>
              <a:t>节</a:t>
            </a:r>
            <a:r>
              <a:rPr lang="zh-CN" altLang="en-US" dirty="0">
                <a:solidFill>
                  <a:srgbClr val="FF0000"/>
                </a:solidFill>
                <a:latin typeface="宋体" panose="02010600030101010101" pitchFamily="2" charset="-122"/>
              </a:rPr>
              <a:t>动画</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参照完整性</a:t>
            </a:r>
            <a:r>
              <a:rPr lang="en-US" altLang="zh-CN" dirty="0">
                <a:solidFill>
                  <a:srgbClr val="FF0000"/>
                </a:solidFill>
                <a:latin typeface="宋体" panose="02010600030101010101" pitchFamily="2" charset="-122"/>
              </a:rPr>
              <a:t>》</a:t>
            </a:r>
            <a:endParaRPr lang="en-US" altLang="zh-CN" dirty="0">
              <a:solidFill>
                <a:srgbClr val="FF0000"/>
              </a:solidFill>
              <a:latin typeface="宋体" panose="02010600030101010101" pitchFamily="2" charset="-122"/>
            </a:endParaRPr>
          </a:p>
          <a:p>
            <a:pPr lvl="1">
              <a:lnSpc>
                <a:spcPct val="110000"/>
              </a:lnSpc>
              <a:buSzPct val="85000"/>
            </a:pPr>
            <a:endParaRPr lang="zh-CN" altLang="en-US" dirty="0">
              <a:solidFill>
                <a:srgbClr val="FF00FF"/>
              </a:solidFill>
            </a:endParaRPr>
          </a:p>
          <a:p>
            <a:pPr lvl="2">
              <a:lnSpc>
                <a:spcPct val="110000"/>
              </a:lnSpc>
              <a:buSzPct val="85000"/>
              <a:buFont typeface="Wingdings" panose="05000000000000000000" pitchFamily="2" charset="2"/>
              <a:buChar char="n"/>
            </a:pPr>
            <a:endParaRPr lang="zh-CN" alt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3795" name="Rectangle 2"/>
          <p:cNvSpPr>
            <a:spLocks noGrp="1" noChangeArrowheads="1"/>
          </p:cNvSpPr>
          <p:nvPr>
            <p:ph type="title" idx="4294967295"/>
          </p:nvPr>
        </p:nvSpPr>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endParaRPr lang="en-US" altLang="zh-CN" sz="3600"/>
          </a:p>
        </p:txBody>
      </p:sp>
      <p:sp>
        <p:nvSpPr>
          <p:cNvPr id="33796" name="Rectangle 3"/>
          <p:cNvSpPr>
            <a:spLocks noGrp="1" noChangeArrowheads="1"/>
          </p:cNvSpPr>
          <p:nvPr>
            <p:ph type="body" idx="4294967295"/>
          </p:nvPr>
        </p:nvSpPr>
        <p:spPr>
          <a:xfrm>
            <a:off x="990600" y="1103565"/>
            <a:ext cx="10591800" cy="5421780"/>
          </a:xfrm>
        </p:spPr>
        <p:txBody>
          <a:bodyPr/>
          <a:lstStyle/>
          <a:p>
            <a:pPr eaLnBrk="1" hangingPunct="1">
              <a:lnSpc>
                <a:spcPct val="90000"/>
              </a:lnSpc>
              <a:buFont typeface="Wingdings" panose="05000000000000000000" pitchFamily="2" charset="2"/>
              <a:buNone/>
            </a:pPr>
            <a:r>
              <a:rPr lang="en-US" altLang="zh-CN" sz="2400" dirty="0"/>
              <a:t>[</a:t>
            </a:r>
            <a:r>
              <a:rPr lang="zh-CN" altLang="en-US" sz="2400" dirty="0" smtClean="0"/>
              <a:t>例</a:t>
            </a:r>
            <a:r>
              <a:rPr lang="en-US" altLang="zh-CN" sz="2400" dirty="0" smtClean="0"/>
              <a:t>5.4]</a:t>
            </a:r>
            <a:r>
              <a:rPr lang="zh-CN" altLang="en-US" sz="2400" dirty="0" smtClean="0"/>
              <a:t> </a:t>
            </a:r>
            <a:r>
              <a:rPr lang="zh-CN" altLang="en-US" sz="2400" dirty="0"/>
              <a:t>显式说明参照完整性的违约处理示例</a:t>
            </a:r>
            <a:endParaRPr lang="zh-CN" altLang="en-US" sz="2400" dirty="0"/>
          </a:p>
          <a:p>
            <a:pPr eaLnBrk="1" hangingPunct="1">
              <a:lnSpc>
                <a:spcPct val="90000"/>
              </a:lnSpc>
              <a:buFont typeface="Wingdings" panose="05000000000000000000" pitchFamily="2" charset="2"/>
              <a:buNone/>
            </a:pPr>
            <a:r>
              <a:rPr lang="en-US" altLang="zh-CN" sz="2000" dirty="0"/>
              <a:t>CREATE TABLE SC</a:t>
            </a:r>
            <a:endParaRPr lang="en-US" altLang="zh-CN" sz="2000" dirty="0"/>
          </a:p>
          <a:p>
            <a:pPr eaLnBrk="1" hangingPunct="1">
              <a:lnSpc>
                <a:spcPct val="90000"/>
              </a:lnSpc>
              <a:buFont typeface="Wingdings" panose="05000000000000000000" pitchFamily="2" charset="2"/>
              <a:buNone/>
            </a:pPr>
            <a:r>
              <a:rPr lang="en-US" altLang="zh-CN" sz="2000" dirty="0"/>
              <a:t>	( </a:t>
            </a:r>
            <a:r>
              <a:rPr lang="en-US" altLang="zh-CN" sz="2000" dirty="0" err="1"/>
              <a:t>Sno</a:t>
            </a:r>
            <a:r>
              <a:rPr lang="en-US" altLang="zh-CN" sz="2000" dirty="0"/>
              <a:t>   CHAR(8),</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err="1"/>
              <a:t>Cno</a:t>
            </a:r>
            <a:r>
              <a:rPr lang="en-US" altLang="zh-CN" sz="2000" dirty="0"/>
              <a:t>  CHAR(5),</a:t>
            </a:r>
            <a:endParaRPr lang="en-US" altLang="zh-CN" sz="2000" dirty="0"/>
          </a:p>
          <a:p>
            <a:pPr eaLnBrk="1" hangingPunct="1">
              <a:lnSpc>
                <a:spcPct val="90000"/>
              </a:lnSpc>
              <a:buFont typeface="Wingdings" panose="05000000000000000000" pitchFamily="2" charset="2"/>
              <a:buNone/>
            </a:pPr>
            <a:r>
              <a:rPr lang="en-US" altLang="zh-CN" sz="2000" dirty="0"/>
              <a:t>	  Grade  SMALLINT</a:t>
            </a:r>
            <a:r>
              <a:rPr lang="en-US" altLang="zh-CN" sz="1600" dirty="0"/>
              <a:t>,                   /*</a:t>
            </a:r>
            <a:r>
              <a:rPr lang="zh-CN" altLang="en-US" sz="1600" dirty="0"/>
              <a:t>成绩*</a:t>
            </a:r>
            <a:r>
              <a:rPr lang="en-US" altLang="zh-CN" sz="1600" dirty="0"/>
              <a:t>/ </a:t>
            </a:r>
            <a:endParaRPr lang="en-US" altLang="zh-CN" sz="2000" dirty="0"/>
          </a:p>
          <a:p>
            <a:pPr eaLnBrk="1" hangingPunct="1">
              <a:lnSpc>
                <a:spcPct val="90000"/>
              </a:lnSpc>
              <a:buFont typeface="Wingdings" panose="05000000000000000000" pitchFamily="2" charset="2"/>
              <a:buNone/>
            </a:pPr>
            <a:r>
              <a:rPr lang="en-US" altLang="zh-CN" sz="2000" dirty="0"/>
              <a:t>	  Semester      CHAR(5),           </a:t>
            </a:r>
            <a:r>
              <a:rPr lang="en-US" altLang="zh-CN" sz="1600" dirty="0"/>
              <a:t>/*</a:t>
            </a:r>
            <a:r>
              <a:rPr lang="zh-CN" altLang="en-US" sz="1600" dirty="0"/>
              <a:t>选课学期*</a:t>
            </a:r>
            <a:r>
              <a:rPr lang="en-US" altLang="zh-CN" sz="1600" dirty="0"/>
              <a:t>/ </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err="1"/>
              <a:t>Teachingclass</a:t>
            </a:r>
            <a:r>
              <a:rPr lang="en-US" altLang="zh-CN" sz="2000" dirty="0"/>
              <a:t>   CHAR(8),           </a:t>
            </a:r>
            <a:r>
              <a:rPr lang="en-US" altLang="zh-CN" sz="1600" dirty="0"/>
              <a:t>/*</a:t>
            </a:r>
            <a:r>
              <a:rPr lang="zh-CN" altLang="en-US" sz="1600" dirty="0"/>
              <a:t>学生选修某一门课所在的教学班*</a:t>
            </a:r>
            <a:r>
              <a:rPr lang="en-US" altLang="zh-CN" sz="1600" dirty="0"/>
              <a:t>/ </a:t>
            </a:r>
            <a:endParaRPr lang="en-US" altLang="zh-CN" sz="1600" dirty="0"/>
          </a:p>
          <a:p>
            <a:pPr eaLnBrk="1" hangingPunct="1">
              <a:lnSpc>
                <a:spcPct val="90000"/>
              </a:lnSpc>
              <a:buFont typeface="Wingdings" panose="05000000000000000000" pitchFamily="2" charset="2"/>
              <a:buNone/>
            </a:pPr>
            <a:r>
              <a:rPr lang="en-US" altLang="zh-CN" sz="2000" dirty="0"/>
              <a:t>	  PRIMARY KEY(</a:t>
            </a:r>
            <a:r>
              <a:rPr lang="en-US" altLang="zh-CN" sz="2000" dirty="0" err="1"/>
              <a:t>Sno,Cno</a:t>
            </a:r>
            <a:r>
              <a:rPr lang="en-US" altLang="zh-CN" sz="2000" dirty="0"/>
              <a:t>),      </a:t>
            </a:r>
            <a:r>
              <a:rPr lang="en-US" altLang="zh-CN" sz="1600" dirty="0"/>
              <a:t>/*</a:t>
            </a:r>
            <a:r>
              <a:rPr lang="zh-CN" altLang="en-US" sz="1600" dirty="0"/>
              <a:t>在表级定义实体完整性，</a:t>
            </a:r>
            <a:r>
              <a:rPr lang="en-US" altLang="zh-CN" sz="1600" dirty="0" err="1"/>
              <a:t>Sno</a:t>
            </a:r>
            <a:r>
              <a:rPr lang="zh-CN" altLang="en-US" sz="1600" dirty="0"/>
              <a:t>、</a:t>
            </a:r>
            <a:r>
              <a:rPr lang="en-US" altLang="zh-CN" sz="1600" dirty="0" err="1"/>
              <a:t>Cno</a:t>
            </a:r>
            <a:r>
              <a:rPr lang="zh-CN" altLang="en-US" sz="1600" dirty="0"/>
              <a:t>都不能取空值*</a:t>
            </a:r>
            <a:r>
              <a:rPr lang="en-US" altLang="zh-CN" sz="1600" dirty="0"/>
              <a:t>/</a:t>
            </a:r>
            <a:endParaRPr lang="en-US" altLang="zh-CN" sz="2000" dirty="0"/>
          </a:p>
          <a:p>
            <a:pPr eaLnBrk="1" hangingPunct="1">
              <a:lnSpc>
                <a:spcPct val="90000"/>
              </a:lnSpc>
              <a:buFont typeface="Wingdings" panose="05000000000000000000" pitchFamily="2" charset="2"/>
              <a:buNone/>
            </a:pPr>
            <a:r>
              <a:rPr lang="en-US" altLang="zh-CN" sz="2000" dirty="0"/>
              <a:t>	  FOREIGN KEY (</a:t>
            </a:r>
            <a:r>
              <a:rPr lang="en-US" altLang="zh-CN" sz="2000" dirty="0" err="1"/>
              <a:t>Sno</a:t>
            </a:r>
            <a:r>
              <a:rPr lang="en-US" altLang="zh-CN" sz="2000" dirty="0"/>
              <a:t>) REFERENCES Student(</a:t>
            </a:r>
            <a:r>
              <a:rPr lang="en-US" altLang="zh-CN" sz="2000" dirty="0" err="1"/>
              <a:t>Sno</a:t>
            </a:r>
            <a:r>
              <a:rPr lang="en-US" altLang="zh-CN" sz="2000" dirty="0"/>
              <a:t>) </a:t>
            </a:r>
            <a:r>
              <a:rPr lang="en-US" altLang="zh-CN" sz="1600" dirty="0"/>
              <a:t> /*</a:t>
            </a:r>
            <a:r>
              <a:rPr lang="zh-CN" altLang="en-US" sz="1600" dirty="0"/>
              <a:t>在表级定义参照完整性*</a:t>
            </a:r>
            <a:r>
              <a:rPr lang="en-US" altLang="zh-CN" sz="1600" dirty="0"/>
              <a:t>/</a:t>
            </a:r>
            <a:endParaRPr lang="en-US" altLang="zh-CN" sz="1600" dirty="0"/>
          </a:p>
          <a:p>
            <a:pPr eaLnBrk="1" hangingPunct="1">
              <a:lnSpc>
                <a:spcPct val="90000"/>
              </a:lnSpc>
              <a:buFont typeface="Wingdings" panose="05000000000000000000" pitchFamily="2" charset="2"/>
              <a:buNone/>
            </a:pPr>
            <a:r>
              <a:rPr lang="en-US" altLang="zh-CN" sz="2000" dirty="0"/>
              <a:t>        ON DELETE CASCADE</a:t>
            </a:r>
            <a:r>
              <a:rPr lang="zh-CN" altLang="en-US" sz="2000" dirty="0"/>
              <a:t> </a:t>
            </a:r>
            <a:r>
              <a:rPr lang="en-US" altLang="zh-CN" sz="2000" dirty="0"/>
              <a:t>	</a:t>
            </a:r>
            <a:r>
              <a:rPr lang="en-US" altLang="zh-CN" sz="1600" dirty="0"/>
              <a:t>/*</a:t>
            </a:r>
            <a:r>
              <a:rPr lang="zh-CN" altLang="en-US" sz="1600" dirty="0"/>
              <a:t>当删除</a:t>
            </a:r>
            <a:r>
              <a:rPr lang="en-US" altLang="zh-CN" sz="1600" dirty="0"/>
              <a:t>Student</a:t>
            </a:r>
            <a:r>
              <a:rPr lang="zh-CN" altLang="en-US" sz="1600" dirty="0"/>
              <a:t>表中的元组时，级联删除</a:t>
            </a:r>
            <a:r>
              <a:rPr lang="en-US" altLang="zh-CN" sz="1600" dirty="0"/>
              <a:t>SC</a:t>
            </a:r>
            <a:r>
              <a:rPr lang="zh-CN" altLang="en-US" sz="1600" dirty="0"/>
              <a:t>表中相应的元组*</a:t>
            </a:r>
            <a:r>
              <a:rPr lang="en-US" altLang="zh-CN" sz="1600" dirty="0"/>
              <a:t>/</a:t>
            </a:r>
            <a:endParaRPr lang="en-US" altLang="zh-CN" sz="1600" dirty="0"/>
          </a:p>
          <a:p>
            <a:pPr eaLnBrk="1" hangingPunct="1">
              <a:lnSpc>
                <a:spcPct val="90000"/>
              </a:lnSpc>
              <a:buFont typeface="Wingdings" panose="05000000000000000000" pitchFamily="2" charset="2"/>
              <a:buNone/>
            </a:pPr>
            <a:r>
              <a:rPr lang="en-US" altLang="zh-CN" sz="2000" dirty="0"/>
              <a:t>        ON UPDATE CASCADE, </a:t>
            </a:r>
            <a:r>
              <a:rPr lang="zh-CN" altLang="en-US" sz="2000" dirty="0"/>
              <a:t> </a:t>
            </a:r>
            <a:r>
              <a:rPr lang="en-US" altLang="zh-CN" sz="2000" dirty="0"/>
              <a:t>	</a:t>
            </a:r>
            <a:r>
              <a:rPr lang="en-US" altLang="zh-CN" sz="1600" dirty="0"/>
              <a:t>/*</a:t>
            </a:r>
            <a:r>
              <a:rPr lang="zh-CN" altLang="en-US" sz="1600" dirty="0"/>
              <a:t>当更新</a:t>
            </a:r>
            <a:r>
              <a:rPr lang="en-US" altLang="zh-CN" sz="1600" dirty="0"/>
              <a:t>Student</a:t>
            </a:r>
            <a:r>
              <a:rPr lang="zh-CN" altLang="en-US" sz="1600" dirty="0"/>
              <a:t>表中的</a:t>
            </a:r>
            <a:r>
              <a:rPr lang="en-US" altLang="zh-CN" sz="1600" dirty="0" err="1"/>
              <a:t>sno</a:t>
            </a:r>
            <a:r>
              <a:rPr lang="zh-CN" altLang="en-US" sz="1600" dirty="0"/>
              <a:t>时，级联更新</a:t>
            </a:r>
            <a:r>
              <a:rPr lang="en-US" altLang="zh-CN" sz="1600" dirty="0"/>
              <a:t>SC</a:t>
            </a:r>
            <a:r>
              <a:rPr lang="zh-CN" altLang="en-US" sz="1600" dirty="0"/>
              <a:t>表中相应的元组*</a:t>
            </a:r>
            <a:r>
              <a:rPr lang="en-US" altLang="zh-CN" sz="1600" dirty="0"/>
              <a:t>/</a:t>
            </a:r>
            <a:endParaRPr lang="en-US" altLang="zh-CN" sz="2000" dirty="0"/>
          </a:p>
          <a:p>
            <a:pPr eaLnBrk="1" hangingPunct="1">
              <a:lnSpc>
                <a:spcPct val="90000"/>
              </a:lnSpc>
              <a:buFont typeface="Wingdings" panose="05000000000000000000" pitchFamily="2" charset="2"/>
              <a:buNone/>
            </a:pPr>
            <a:r>
              <a:rPr lang="en-US" altLang="zh-CN" sz="2000" dirty="0"/>
              <a:t>	  FOREIGN KEY (</a:t>
            </a:r>
            <a:r>
              <a:rPr lang="en-US" altLang="zh-CN" sz="2000" dirty="0" err="1"/>
              <a:t>Cno</a:t>
            </a:r>
            <a:r>
              <a:rPr lang="en-US" altLang="zh-CN" sz="2000" dirty="0"/>
              <a:t>) REFERENCES Course(</a:t>
            </a:r>
            <a:r>
              <a:rPr lang="en-US" altLang="zh-CN" sz="2000" dirty="0" err="1"/>
              <a:t>Cno</a:t>
            </a:r>
            <a:r>
              <a:rPr lang="en-US" altLang="zh-CN" sz="2000" dirty="0"/>
              <a:t>) 	</a:t>
            </a:r>
            <a:r>
              <a:rPr lang="en-US" altLang="zh-CN" sz="1600" dirty="0"/>
              <a:t> /*</a:t>
            </a:r>
            <a:r>
              <a:rPr lang="zh-CN" altLang="en-US" sz="1600" dirty="0"/>
              <a:t>在表级定义参照完整性*</a:t>
            </a:r>
            <a:r>
              <a:rPr lang="en-US" altLang="zh-CN" sz="1600" dirty="0"/>
              <a:t>/</a:t>
            </a:r>
            <a:endParaRPr lang="en-US" altLang="zh-CN" sz="1600" dirty="0"/>
          </a:p>
          <a:p>
            <a:pPr eaLnBrk="1" hangingPunct="1">
              <a:lnSpc>
                <a:spcPct val="90000"/>
              </a:lnSpc>
              <a:buFont typeface="Wingdings" panose="05000000000000000000" pitchFamily="2" charset="2"/>
              <a:buNone/>
            </a:pPr>
            <a:r>
              <a:rPr lang="en-US" altLang="zh-CN" sz="2000" dirty="0"/>
              <a:t>        </a:t>
            </a:r>
            <a:r>
              <a:rPr lang="en-US" altLang="zh-CN" sz="2000" dirty="0">
                <a:solidFill>
                  <a:srgbClr val="C00000"/>
                </a:solidFill>
              </a:rPr>
              <a:t>ON DELETE NO ACTION</a:t>
            </a:r>
            <a:r>
              <a:rPr lang="en-US" altLang="zh-CN" sz="2000" dirty="0"/>
              <a:t> </a:t>
            </a:r>
            <a:r>
              <a:rPr lang="zh-CN" altLang="en-US" sz="2000" dirty="0"/>
              <a:t> </a:t>
            </a:r>
            <a:r>
              <a:rPr lang="en-US" altLang="zh-CN" sz="2000" dirty="0"/>
              <a:t>		</a:t>
            </a:r>
            <a:r>
              <a:rPr lang="en-US" altLang="zh-CN" sz="1600" dirty="0"/>
              <a:t>/*</a:t>
            </a:r>
            <a:r>
              <a:rPr lang="zh-CN" altLang="en-US" sz="1600" dirty="0"/>
              <a:t>当删除</a:t>
            </a:r>
            <a:r>
              <a:rPr lang="en-US" altLang="zh-CN" sz="1600" dirty="0"/>
              <a:t>Course </a:t>
            </a:r>
            <a:r>
              <a:rPr lang="zh-CN" altLang="en-US" sz="1600" dirty="0"/>
              <a:t>表中的元组造成与</a:t>
            </a:r>
            <a:r>
              <a:rPr lang="en-US" altLang="zh-CN" sz="1600" dirty="0"/>
              <a:t>SC</a:t>
            </a:r>
            <a:r>
              <a:rPr lang="zh-CN" altLang="en-US" sz="1600" dirty="0"/>
              <a:t>表不一致时，拒绝删除*</a:t>
            </a:r>
            <a:r>
              <a:rPr lang="en-US" altLang="zh-CN" sz="1600" dirty="0"/>
              <a:t>/</a:t>
            </a:r>
            <a:endParaRPr lang="en-US" altLang="zh-CN" sz="1600" dirty="0"/>
          </a:p>
          <a:p>
            <a:pPr eaLnBrk="1" hangingPunct="1">
              <a:lnSpc>
                <a:spcPct val="90000"/>
              </a:lnSpc>
              <a:buFont typeface="Wingdings" panose="05000000000000000000" pitchFamily="2" charset="2"/>
              <a:buNone/>
            </a:pPr>
            <a:r>
              <a:rPr lang="en-US" altLang="zh-CN" sz="2000" dirty="0"/>
              <a:t>       </a:t>
            </a:r>
            <a:r>
              <a:rPr lang="en-US" altLang="zh-CN" sz="2000" dirty="0">
                <a:solidFill>
                  <a:srgbClr val="C00000"/>
                </a:solidFill>
              </a:rPr>
              <a:t> ON UPDATE CASCADE</a:t>
            </a:r>
            <a:r>
              <a:rPr lang="en-US" altLang="zh-CN" sz="2000" dirty="0"/>
              <a:t> 	</a:t>
            </a:r>
            <a:r>
              <a:rPr lang="zh-CN" altLang="en-US" sz="2000" dirty="0"/>
              <a:t> </a:t>
            </a:r>
            <a:r>
              <a:rPr lang="en-US" altLang="zh-CN" sz="1600" dirty="0"/>
              <a:t>/*</a:t>
            </a:r>
            <a:r>
              <a:rPr lang="zh-CN" altLang="en-US" sz="1600" dirty="0"/>
              <a:t>当更新</a:t>
            </a:r>
            <a:r>
              <a:rPr lang="en-US" altLang="zh-CN" sz="1600" dirty="0"/>
              <a:t>Course</a:t>
            </a:r>
            <a:r>
              <a:rPr lang="zh-CN" altLang="en-US" sz="1600" dirty="0"/>
              <a:t>表中的</a:t>
            </a:r>
            <a:r>
              <a:rPr lang="en-US" altLang="zh-CN" sz="1600" dirty="0" err="1"/>
              <a:t>cno</a:t>
            </a:r>
            <a:r>
              <a:rPr lang="zh-CN" altLang="en-US" sz="1600" dirty="0"/>
              <a:t>时，级联更新</a:t>
            </a:r>
            <a:r>
              <a:rPr lang="en-US" altLang="zh-CN" sz="1600" dirty="0"/>
              <a:t>SC</a:t>
            </a:r>
            <a:r>
              <a:rPr lang="zh-CN" altLang="en-US" sz="1600" dirty="0"/>
              <a:t>表中相应的元组*</a:t>
            </a:r>
            <a:r>
              <a:rPr lang="en-US" altLang="zh-CN" sz="1600" dirty="0"/>
              <a:t>/</a:t>
            </a:r>
            <a:endParaRPr lang="en-US" altLang="zh-CN" sz="2000" dirty="0"/>
          </a:p>
          <a:p>
            <a:pPr eaLnBrk="1" hangingPunct="1">
              <a:lnSpc>
                <a:spcPct val="90000"/>
              </a:lnSpc>
              <a:buFont typeface="Wingdings" panose="05000000000000000000" pitchFamily="2" charset="2"/>
              <a:buNone/>
            </a:pPr>
            <a:r>
              <a:rPr lang="en-US" altLang="zh-CN" sz="2000" dirty="0"/>
              <a:t>   );</a:t>
            </a:r>
            <a:endParaRPr lang="en-US" altLang="zh-CN"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4819" name="Rectangle 2"/>
          <p:cNvSpPr>
            <a:spLocks noGrp="1" noChangeArrowheads="1"/>
          </p:cNvSpPr>
          <p:nvPr>
            <p:ph type="title" idx="4294967295"/>
          </p:nvPr>
        </p:nvSpPr>
        <p:spPr/>
        <p:txBody>
          <a:bodyPr/>
          <a:lstStyle/>
          <a:p>
            <a:pPr eaLnBrk="1" hangingPunct="1"/>
            <a:r>
              <a:rPr lang="zh-CN" altLang="zh-CN" sz="3600"/>
              <a:t>第五章 数据库完整性</a:t>
            </a:r>
            <a:endParaRPr lang="zh-CN" altLang="zh-CN" sz="3600"/>
          </a:p>
        </p:txBody>
      </p:sp>
      <p:sp>
        <p:nvSpPr>
          <p:cNvPr id="34820" name="Rectangle 3"/>
          <p:cNvSpPr>
            <a:spLocks noGrp="1" noChangeArrowheads="1"/>
          </p:cNvSpPr>
          <p:nvPr>
            <p:ph type="body" idx="4294967295"/>
          </p:nvPr>
        </p:nvSpPr>
        <p:spPr>
          <a:xfrm>
            <a:off x="1199456" y="1098550"/>
            <a:ext cx="7859712" cy="5329237"/>
          </a:xfrm>
        </p:spPr>
        <p:txBody>
          <a:bodyPr/>
          <a:lstStyle/>
          <a:p>
            <a:pPr eaLnBrk="1" hangingPunct="1">
              <a:lnSpc>
                <a:spcPct val="130000"/>
              </a:lnSpc>
              <a:buFont typeface="Wingdings" panose="05000000000000000000"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anose="05000000000000000000" pitchFamily="2" charset="2"/>
              <a:buNone/>
            </a:pPr>
            <a:r>
              <a:rPr lang="en-US" altLang="zh-CN" dirty="0"/>
              <a:t>5.2 </a:t>
            </a:r>
            <a:r>
              <a:rPr lang="zh-CN" altLang="en-US" dirty="0"/>
              <a:t>实体完整性</a:t>
            </a:r>
            <a:endParaRPr lang="zh-CN" altLang="en-US" dirty="0"/>
          </a:p>
          <a:p>
            <a:pPr eaLnBrk="1" hangingPunct="1">
              <a:lnSpc>
                <a:spcPct val="130000"/>
              </a:lnSpc>
              <a:buFont typeface="Wingdings" panose="05000000000000000000" pitchFamily="2" charset="2"/>
              <a:buNone/>
            </a:pPr>
            <a:r>
              <a:rPr lang="en-US" altLang="zh-CN" dirty="0"/>
              <a:t>5.3 </a:t>
            </a:r>
            <a:r>
              <a:rPr lang="zh-CN" altLang="en-US" dirty="0"/>
              <a:t>参照完整性</a:t>
            </a:r>
            <a:endParaRPr lang="zh-CN" altLang="en-US" dirty="0"/>
          </a:p>
          <a:p>
            <a:pPr eaLnBrk="1" hangingPunct="1">
              <a:lnSpc>
                <a:spcPct val="130000"/>
              </a:lnSpc>
              <a:buFont typeface="Wingdings" panose="05000000000000000000" pitchFamily="2" charset="2"/>
              <a:buNone/>
            </a:pPr>
            <a:r>
              <a:rPr lang="en-US" altLang="zh-CN" dirty="0">
                <a:solidFill>
                  <a:srgbClr val="0066FF"/>
                </a:solidFill>
              </a:rPr>
              <a:t>5.4 </a:t>
            </a:r>
            <a:r>
              <a:rPr lang="zh-CN" altLang="en-US" dirty="0">
                <a:solidFill>
                  <a:srgbClr val="0066FF"/>
                </a:solidFill>
              </a:rPr>
              <a:t>用户定义的完整性</a:t>
            </a:r>
            <a:endParaRPr lang="zh-CN" altLang="en-US" dirty="0">
              <a:solidFill>
                <a:srgbClr val="0066FF"/>
              </a:solidFill>
            </a:endParaRPr>
          </a:p>
          <a:p>
            <a:pPr eaLnBrk="1" hangingPunct="1">
              <a:lnSpc>
                <a:spcPct val="130000"/>
              </a:lnSpc>
              <a:buFont typeface="Wingdings" panose="05000000000000000000" pitchFamily="2" charset="2"/>
              <a:buNone/>
            </a:pPr>
            <a:r>
              <a:rPr lang="en-US" altLang="zh-CN" dirty="0"/>
              <a:t>5.5 </a:t>
            </a:r>
            <a:r>
              <a:rPr lang="zh-CN" altLang="en-US" dirty="0"/>
              <a:t>完整性约束命名子句</a:t>
            </a:r>
            <a:endParaRPr lang="zh-CN" altLang="en-US" dirty="0"/>
          </a:p>
          <a:p>
            <a:pPr eaLnBrk="1" hangingPunct="1">
              <a:lnSpc>
                <a:spcPct val="130000"/>
              </a:lnSpc>
              <a:buFont typeface="Wingdings" panose="05000000000000000000" pitchFamily="2" charset="2"/>
              <a:buNone/>
            </a:pPr>
            <a:r>
              <a:rPr lang="zh-CN" altLang="en-US" dirty="0"/>
              <a:t>*</a:t>
            </a:r>
            <a:r>
              <a:rPr lang="en-US" altLang="zh-CN" dirty="0"/>
              <a:t>5.6 </a:t>
            </a:r>
            <a:r>
              <a:rPr lang="zh-CN" altLang="en-US" dirty="0"/>
              <a:t>域中的完整性限制</a:t>
            </a:r>
            <a:endParaRPr lang="en-US" altLang="zh-CN" dirty="0"/>
          </a:p>
          <a:p>
            <a:pPr eaLnBrk="1" hangingPunct="1">
              <a:lnSpc>
                <a:spcPct val="130000"/>
              </a:lnSpc>
              <a:buFont typeface="Wingdings" panose="05000000000000000000" pitchFamily="2" charset="2"/>
              <a:buNone/>
            </a:pPr>
            <a:r>
              <a:rPr lang="en-US" altLang="zh-CN" dirty="0"/>
              <a:t>5.7 </a:t>
            </a:r>
            <a:r>
              <a:rPr lang="zh-CN" altLang="en-US" dirty="0"/>
              <a:t>触发器</a:t>
            </a:r>
            <a:endParaRPr lang="en-US" altLang="zh-CN" dirty="0"/>
          </a:p>
          <a:p>
            <a:pPr eaLnBrk="1" hangingPunct="1">
              <a:lnSpc>
                <a:spcPct val="130000"/>
              </a:lnSpc>
              <a:buFont typeface="Wingdings" panose="05000000000000000000" pitchFamily="2" charset="2"/>
              <a:buNone/>
            </a:pPr>
            <a:r>
              <a:rPr lang="en-US" altLang="zh-CN" dirty="0"/>
              <a:t>5.8 </a:t>
            </a:r>
            <a:r>
              <a:rPr lang="zh-CN" altLang="en-US" dirty="0"/>
              <a:t>小结</a:t>
            </a:r>
            <a:endParaRPr lang="zh-CN" altLang="en-US" dirty="0"/>
          </a:p>
          <a:p>
            <a:pPr eaLnBrk="1" hangingPunct="1"/>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5843" name="Rectangle 2"/>
          <p:cNvSpPr>
            <a:spLocks noGrp="1" noChangeArrowheads="1"/>
          </p:cNvSpPr>
          <p:nvPr>
            <p:ph type="title" idx="4294967295"/>
          </p:nvPr>
        </p:nvSpPr>
        <p:spPr/>
        <p:txBody>
          <a:bodyPr/>
          <a:lstStyle/>
          <a:p>
            <a:pPr eaLnBrk="1" hangingPunct="1"/>
            <a:r>
              <a:rPr lang="en-US" altLang="zh-CN" sz="3600"/>
              <a:t>5.4  </a:t>
            </a:r>
            <a:r>
              <a:rPr lang="zh-CN" altLang="en-US" sz="3600"/>
              <a:t>用户定义的完整性</a:t>
            </a:r>
            <a:endParaRPr lang="zh-CN" altLang="en-US" sz="3600"/>
          </a:p>
        </p:txBody>
      </p:sp>
      <p:sp>
        <p:nvSpPr>
          <p:cNvPr id="35844" name="Rectangle 3"/>
          <p:cNvSpPr>
            <a:spLocks noGrp="1" noChangeArrowheads="1"/>
          </p:cNvSpPr>
          <p:nvPr>
            <p:ph type="body" idx="4294967295"/>
          </p:nvPr>
        </p:nvSpPr>
        <p:spPr>
          <a:xfrm>
            <a:off x="400472" y="1673644"/>
            <a:ext cx="11391056" cy="4897461"/>
          </a:xfrm>
        </p:spPr>
        <p:txBody>
          <a:bodyPr/>
          <a:lstStyle/>
          <a:p>
            <a:pPr eaLnBrk="1" hangingPunct="1">
              <a:lnSpc>
                <a:spcPct val="170000"/>
              </a:lnSpc>
            </a:pPr>
            <a:r>
              <a:rPr lang="zh-CN" altLang="en-US" dirty="0"/>
              <a:t>用户定义的完整性是：针对</a:t>
            </a:r>
            <a:r>
              <a:rPr lang="zh-CN" altLang="en-US" dirty="0">
                <a:solidFill>
                  <a:srgbClr val="FF00FF"/>
                </a:solidFill>
              </a:rPr>
              <a:t>某一具体应用</a:t>
            </a:r>
            <a:r>
              <a:rPr lang="zh-CN" altLang="en-US" dirty="0"/>
              <a:t>的数据必须满足的语义要求 </a:t>
            </a:r>
            <a:endParaRPr lang="zh-CN" altLang="en-US" dirty="0"/>
          </a:p>
          <a:p>
            <a:pPr eaLnBrk="1" hangingPunct="1">
              <a:lnSpc>
                <a:spcPct val="170000"/>
              </a:lnSpc>
            </a:pPr>
            <a:r>
              <a:rPr lang="en-US" altLang="zh-CN" dirty="0"/>
              <a:t>RDBMS</a:t>
            </a:r>
            <a:r>
              <a:rPr lang="zh-CN" altLang="en-US" dirty="0"/>
              <a:t>提供了定义和检验这类完整性的机制，不必由应用程序承担</a:t>
            </a:r>
            <a:endParaRPr lang="zh-CN" altLang="en-US" sz="3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6867" name="Rectangle 2"/>
          <p:cNvSpPr>
            <a:spLocks noGrp="1" noChangeArrowheads="1"/>
          </p:cNvSpPr>
          <p:nvPr>
            <p:ph type="title" idx="4294967295"/>
          </p:nvPr>
        </p:nvSpPr>
        <p:spPr/>
        <p:txBody>
          <a:bodyPr/>
          <a:lstStyle/>
          <a:p>
            <a:pPr eaLnBrk="1" hangingPunct="1"/>
            <a:r>
              <a:rPr lang="en-US" altLang="zh-CN" sz="3600"/>
              <a:t>5.4  </a:t>
            </a:r>
            <a:r>
              <a:rPr lang="zh-CN" altLang="en-US" sz="3600"/>
              <a:t>用户定义的完整性</a:t>
            </a:r>
            <a:endParaRPr lang="zh-CN" altLang="en-US" sz="3600"/>
          </a:p>
        </p:txBody>
      </p:sp>
      <p:sp>
        <p:nvSpPr>
          <p:cNvPr id="32772" name="Rectangle 3"/>
          <p:cNvSpPr>
            <a:spLocks noGrp="1" noChangeArrowheads="1"/>
          </p:cNvSpPr>
          <p:nvPr>
            <p:ph type="body" idx="4294967295"/>
          </p:nvPr>
        </p:nvSpPr>
        <p:spPr>
          <a:xfrm>
            <a:off x="1055440" y="1527176"/>
            <a:ext cx="8229600" cy="4854575"/>
          </a:xfrm>
        </p:spPr>
        <p:txBody>
          <a:bodyPr/>
          <a:lstStyle/>
          <a:p>
            <a:pPr marL="0" indent="0" eaLnBrk="1" hangingPunct="1">
              <a:lnSpc>
                <a:spcPct val="190000"/>
              </a:lnSpc>
              <a:buNone/>
            </a:pPr>
            <a:r>
              <a:rPr lang="en-US" altLang="zh-CN" dirty="0">
                <a:solidFill>
                  <a:srgbClr val="00B050"/>
                </a:solidFill>
              </a:rPr>
              <a:t>5.4.1 </a:t>
            </a:r>
            <a:r>
              <a:rPr lang="zh-CN" altLang="en-US" dirty="0">
                <a:solidFill>
                  <a:srgbClr val="00B050"/>
                </a:solidFill>
              </a:rPr>
              <a:t>属性上的约束</a:t>
            </a:r>
            <a:endParaRPr lang="zh-CN" altLang="en-US" dirty="0">
              <a:solidFill>
                <a:srgbClr val="00B050"/>
              </a:solidFill>
            </a:endParaRPr>
          </a:p>
          <a:p>
            <a:pPr marL="0" indent="0" eaLnBrk="1" hangingPunct="1">
              <a:lnSpc>
                <a:spcPct val="190000"/>
              </a:lnSpc>
              <a:buNone/>
            </a:pPr>
            <a:r>
              <a:rPr lang="en-US" altLang="zh-CN" dirty="0"/>
              <a:t>5.4.2 </a:t>
            </a:r>
            <a:r>
              <a:rPr lang="zh-CN" altLang="en-US" dirty="0"/>
              <a:t>元组上的约束 </a:t>
            </a:r>
            <a:endParaRPr lang="zh-CN" altLang="en-US" dirty="0">
              <a:solidFill>
                <a:srgbClr val="3333FF"/>
              </a:solidFill>
            </a:endParaRPr>
          </a:p>
          <a:p>
            <a:pPr marL="0" indent="0" eaLnBrk="1" hangingPunct="1"/>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7891" name="Rectangle 2"/>
          <p:cNvSpPr>
            <a:spLocks noGrp="1" noChangeArrowheads="1"/>
          </p:cNvSpPr>
          <p:nvPr>
            <p:ph type="title" idx="4294967295"/>
          </p:nvPr>
        </p:nvSpPr>
        <p:spPr/>
        <p:txBody>
          <a:bodyPr/>
          <a:lstStyle/>
          <a:p>
            <a:pPr eaLnBrk="1" hangingPunct="1"/>
            <a:r>
              <a:rPr lang="en-US" altLang="zh-CN" sz="3600"/>
              <a:t>5.4.1</a:t>
            </a:r>
            <a:r>
              <a:rPr lang="zh-CN" altLang="en-US" sz="3600"/>
              <a:t>属性上的约束</a:t>
            </a:r>
            <a:endParaRPr lang="zh-CN" altLang="en-US" sz="3600"/>
          </a:p>
        </p:txBody>
      </p:sp>
      <p:sp>
        <p:nvSpPr>
          <p:cNvPr id="37892" name="Rectangle 3"/>
          <p:cNvSpPr>
            <a:spLocks noGrp="1" noChangeArrowheads="1"/>
          </p:cNvSpPr>
          <p:nvPr>
            <p:ph type="body" idx="4294967295"/>
          </p:nvPr>
        </p:nvSpPr>
        <p:spPr/>
        <p:txBody>
          <a:bodyPr/>
          <a:lstStyle/>
          <a:p>
            <a:pPr eaLnBrk="1" hangingPunct="1">
              <a:lnSpc>
                <a:spcPct val="150000"/>
              </a:lnSpc>
            </a:pPr>
            <a:r>
              <a:rPr lang="en-US" altLang="zh-CN"/>
              <a:t>1. </a:t>
            </a:r>
            <a:r>
              <a:rPr lang="zh-CN" altLang="en-US"/>
              <a:t>属性上约束的定义</a:t>
            </a:r>
            <a:endParaRPr lang="en-US" altLang="zh-CN"/>
          </a:p>
          <a:p>
            <a:pPr eaLnBrk="1" hangingPunct="1">
              <a:lnSpc>
                <a:spcPct val="150000"/>
              </a:lnSpc>
            </a:pPr>
            <a:r>
              <a:rPr lang="en-US" altLang="zh-CN"/>
              <a:t>CREATE TABLE</a:t>
            </a:r>
            <a:r>
              <a:rPr lang="zh-CN" altLang="en-US"/>
              <a:t>中</a:t>
            </a:r>
            <a:r>
              <a:rPr lang="zh-CN" altLang="en-US">
                <a:solidFill>
                  <a:srgbClr val="FF00FF"/>
                </a:solidFill>
              </a:rPr>
              <a:t>定义属性上的约束</a:t>
            </a:r>
            <a:endParaRPr lang="zh-CN" altLang="en-US"/>
          </a:p>
          <a:p>
            <a:pPr lvl="1" eaLnBrk="1" hangingPunct="1">
              <a:lnSpc>
                <a:spcPct val="150000"/>
              </a:lnSpc>
            </a:pPr>
            <a:r>
              <a:rPr lang="zh-CN" altLang="en-US"/>
              <a:t>列值非空（</a:t>
            </a:r>
            <a:r>
              <a:rPr lang="en-US" altLang="zh-CN"/>
              <a:t>NOT NULL</a:t>
            </a:r>
            <a:r>
              <a:rPr lang="zh-CN" altLang="en-US"/>
              <a:t>）</a:t>
            </a:r>
            <a:endParaRPr lang="zh-CN" altLang="en-US"/>
          </a:p>
          <a:p>
            <a:pPr lvl="1" eaLnBrk="1" hangingPunct="1">
              <a:lnSpc>
                <a:spcPct val="150000"/>
              </a:lnSpc>
            </a:pPr>
            <a:r>
              <a:rPr lang="zh-CN" altLang="en-US"/>
              <a:t>列值唯一（</a:t>
            </a:r>
            <a:r>
              <a:rPr lang="en-US" altLang="zh-CN"/>
              <a:t>UNIQUE</a:t>
            </a:r>
            <a:r>
              <a:rPr lang="zh-CN" altLang="en-US"/>
              <a:t>）</a:t>
            </a:r>
            <a:endParaRPr lang="zh-CN" altLang="en-US"/>
          </a:p>
          <a:p>
            <a:pPr lvl="1" eaLnBrk="1" hangingPunct="1">
              <a:lnSpc>
                <a:spcPct val="150000"/>
              </a:lnSpc>
            </a:pPr>
            <a:r>
              <a:rPr lang="zh-CN" altLang="en-US"/>
              <a:t>检查列值是否满足一个条件表达式（</a:t>
            </a:r>
            <a:r>
              <a:rPr lang="en-US" altLang="zh-CN"/>
              <a:t>CHECK</a:t>
            </a:r>
            <a:r>
              <a:rPr lang="zh-CN" altLang="en-US"/>
              <a:t>短语）</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8915" name="Rectangle 2"/>
          <p:cNvSpPr>
            <a:spLocks noGrp="1" noChangeArrowheads="1"/>
          </p:cNvSpPr>
          <p:nvPr>
            <p:ph type="title" idx="4294967295"/>
          </p:nvPr>
        </p:nvSpPr>
        <p:spPr/>
        <p:txBody>
          <a:bodyPr/>
          <a:lstStyle/>
          <a:p>
            <a:pPr eaLnBrk="1" hangingPunct="1"/>
            <a:r>
              <a:rPr lang="zh-CN" altLang="en-US" sz="3600"/>
              <a:t>属性上的约束</a:t>
            </a:r>
            <a:r>
              <a:rPr lang="en-US" altLang="zh-CN" sz="3600"/>
              <a:t>（</a:t>
            </a:r>
            <a:r>
              <a:rPr lang="zh-CN" altLang="en-US" sz="3600"/>
              <a:t>续</a:t>
            </a:r>
            <a:r>
              <a:rPr lang="en-US" altLang="zh-CN" sz="3600"/>
              <a:t>）</a:t>
            </a:r>
            <a:endParaRPr lang="en-US" altLang="zh-CN" sz="3600"/>
          </a:p>
        </p:txBody>
      </p:sp>
      <p:sp>
        <p:nvSpPr>
          <p:cNvPr id="38916" name="Rectangle 3"/>
          <p:cNvSpPr>
            <a:spLocks noGrp="1" noChangeArrowheads="1"/>
          </p:cNvSpPr>
          <p:nvPr>
            <p:ph type="body" idx="4294967295"/>
          </p:nvPr>
        </p:nvSpPr>
        <p:spPr>
          <a:xfrm>
            <a:off x="1055440" y="1098550"/>
            <a:ext cx="10657184" cy="5138761"/>
          </a:xfrm>
        </p:spPr>
        <p:txBody>
          <a:bodyPr/>
          <a:lstStyle/>
          <a:p>
            <a:pPr eaLnBrk="1" hangingPunct="1">
              <a:buFont typeface="Wingdings" panose="05000000000000000000" pitchFamily="2" charset="2"/>
              <a:buNone/>
            </a:pPr>
            <a:r>
              <a:rPr lang="en-US" altLang="zh-CN" dirty="0"/>
              <a:t>（1）</a:t>
            </a:r>
            <a:r>
              <a:rPr lang="zh-CN" altLang="en-US" dirty="0"/>
              <a:t>不允许取空值 </a:t>
            </a:r>
            <a:endParaRPr lang="zh-CN" altLang="en-US" dirty="0"/>
          </a:p>
          <a:p>
            <a:pPr eaLnBrk="1" hangingPunct="1">
              <a:lnSpc>
                <a:spcPct val="120000"/>
              </a:lnSpc>
              <a:spcBef>
                <a:spcPts val="0"/>
              </a:spcBef>
              <a:buFont typeface="Wingdings" panose="05000000000000000000" pitchFamily="2" charset="2"/>
              <a:buNone/>
            </a:pPr>
            <a:r>
              <a:rPr lang="en-US" altLang="zh-CN" sz="2200" dirty="0"/>
              <a:t>[</a:t>
            </a:r>
            <a:r>
              <a:rPr lang="zh-CN" altLang="en-US" sz="2200" dirty="0" smtClean="0"/>
              <a:t>例</a:t>
            </a:r>
            <a:r>
              <a:rPr lang="en-US" altLang="zh-CN" sz="2200" dirty="0" smtClean="0"/>
              <a:t>5.5]</a:t>
            </a:r>
            <a:r>
              <a:rPr lang="zh-CN" altLang="en-US" sz="2200" dirty="0" smtClean="0"/>
              <a:t> </a:t>
            </a:r>
            <a:r>
              <a:rPr lang="zh-CN" altLang="en-US" sz="2200" dirty="0"/>
              <a:t>在定义</a:t>
            </a:r>
            <a:r>
              <a:rPr lang="en-US" altLang="zh-CN" sz="2200" dirty="0"/>
              <a:t>SC</a:t>
            </a:r>
            <a:r>
              <a:rPr lang="zh-CN" altLang="en-US" sz="2200" dirty="0"/>
              <a:t>表时，说明</a:t>
            </a:r>
            <a:r>
              <a:rPr lang="en-US" altLang="zh-CN" sz="2200" dirty="0" err="1"/>
              <a:t>Sno</a:t>
            </a:r>
            <a:r>
              <a:rPr lang="zh-CN" altLang="en-US" sz="2200" dirty="0"/>
              <a:t>、</a:t>
            </a:r>
            <a:r>
              <a:rPr lang="en-US" altLang="zh-CN" sz="2200" dirty="0" err="1"/>
              <a:t>Cno</a:t>
            </a:r>
            <a:r>
              <a:rPr lang="zh-CN" altLang="en-US" sz="2200" dirty="0"/>
              <a:t>、</a:t>
            </a:r>
            <a:r>
              <a:rPr lang="en-US" altLang="zh-CN" sz="2200" dirty="0"/>
              <a:t>Grade</a:t>
            </a:r>
            <a:r>
              <a:rPr lang="zh-CN" altLang="en-US" sz="2200" dirty="0"/>
              <a:t>属性不允许取空值</a:t>
            </a:r>
            <a:endParaRPr lang="zh-CN" altLang="en-US" sz="2200" dirty="0"/>
          </a:p>
          <a:p>
            <a:pPr eaLnBrk="1" hangingPunct="1">
              <a:lnSpc>
                <a:spcPct val="120000"/>
              </a:lnSpc>
              <a:spcBef>
                <a:spcPts val="0"/>
              </a:spcBef>
              <a:buFont typeface="Wingdings" panose="05000000000000000000" pitchFamily="2" charset="2"/>
              <a:buNone/>
            </a:pPr>
            <a:r>
              <a:rPr lang="en-US" altLang="zh-CN" sz="2200" dirty="0"/>
              <a:t>CREATE TABLE SC</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 </a:t>
            </a:r>
            <a:r>
              <a:rPr lang="en-US" altLang="zh-CN" sz="2200" dirty="0" err="1"/>
              <a:t>Sno</a:t>
            </a:r>
            <a:r>
              <a:rPr lang="en-US" altLang="zh-CN" sz="2200" dirty="0"/>
              <a:t> CHAR(8) NOT NULL,		</a:t>
            </a:r>
            <a:r>
              <a:rPr lang="en-US" altLang="zh-CN" sz="1800" dirty="0"/>
              <a:t>/*</a:t>
            </a:r>
            <a:r>
              <a:rPr lang="en-US" altLang="zh-CN" sz="1800" dirty="0" err="1"/>
              <a:t>Sno</a:t>
            </a:r>
            <a:r>
              <a:rPr lang="zh-CN" altLang="en-US" sz="1800" dirty="0"/>
              <a:t>属性不允许取空值*</a:t>
            </a:r>
            <a:r>
              <a:rPr lang="en-US" altLang="zh-CN" sz="1800" dirty="0"/>
              <a:t>/</a:t>
            </a:r>
            <a:endParaRPr lang="en-US" altLang="zh-CN" sz="1800" dirty="0"/>
          </a:p>
          <a:p>
            <a:pPr eaLnBrk="1" hangingPunct="1">
              <a:lnSpc>
                <a:spcPct val="120000"/>
              </a:lnSpc>
              <a:spcBef>
                <a:spcPts val="0"/>
              </a:spcBef>
              <a:buFont typeface="Wingdings" panose="05000000000000000000" pitchFamily="2" charset="2"/>
              <a:buNone/>
            </a:pPr>
            <a:r>
              <a:rPr lang="en-US" altLang="zh-CN" sz="2200" dirty="0"/>
              <a:t>       </a:t>
            </a:r>
            <a:r>
              <a:rPr lang="en-US" altLang="zh-CN" sz="2200" dirty="0" err="1"/>
              <a:t>Cno</a:t>
            </a:r>
            <a:r>
              <a:rPr lang="en-US" altLang="zh-CN" sz="2200" dirty="0"/>
              <a:t> CHAR(5) NOT NULL,		</a:t>
            </a:r>
            <a:r>
              <a:rPr lang="en-US" altLang="zh-CN" sz="1800" dirty="0"/>
              <a:t>/* </a:t>
            </a:r>
            <a:r>
              <a:rPr lang="en-US" altLang="zh-CN" sz="1800" dirty="0" err="1"/>
              <a:t>Cno</a:t>
            </a:r>
            <a:r>
              <a:rPr lang="zh-CN" altLang="en-US" sz="1800" dirty="0"/>
              <a:t>属性不允许取空值*</a:t>
            </a:r>
            <a:r>
              <a:rPr lang="en-US" altLang="zh-CN" sz="1800" dirty="0"/>
              <a:t>/</a:t>
            </a:r>
            <a:endParaRPr lang="en-US" altLang="zh-CN" sz="1800" dirty="0"/>
          </a:p>
          <a:p>
            <a:pPr eaLnBrk="1" hangingPunct="1">
              <a:lnSpc>
                <a:spcPct val="120000"/>
              </a:lnSpc>
              <a:spcBef>
                <a:spcPts val="0"/>
              </a:spcBef>
              <a:buFont typeface="Wingdings" panose="05000000000000000000" pitchFamily="2" charset="2"/>
              <a:buNone/>
            </a:pPr>
            <a:r>
              <a:rPr lang="en-US" altLang="zh-CN" sz="2200" dirty="0"/>
              <a:t>       Grade SMALLINT NOT NULL,  </a:t>
            </a:r>
            <a:r>
              <a:rPr lang="en-US" altLang="zh-CN" sz="1800" dirty="0"/>
              <a:t>	</a:t>
            </a:r>
            <a:r>
              <a:rPr lang="en-US" altLang="zh-CN" sz="1800" dirty="0" smtClean="0"/>
              <a:t>              /* </a:t>
            </a:r>
            <a:r>
              <a:rPr lang="en-US" altLang="zh-CN" sz="1800" dirty="0"/>
              <a:t>Grade</a:t>
            </a:r>
            <a:r>
              <a:rPr lang="zh-CN" altLang="en-US" sz="1800" dirty="0"/>
              <a:t>属性不允许取空值*</a:t>
            </a:r>
            <a:r>
              <a:rPr lang="en-US" altLang="zh-CN" sz="1800" dirty="0"/>
              <a:t>/</a:t>
            </a:r>
            <a:endParaRPr lang="en-US" altLang="zh-CN" sz="1800" dirty="0"/>
          </a:p>
          <a:p>
            <a:pPr eaLnBrk="1" hangingPunct="1">
              <a:lnSpc>
                <a:spcPct val="120000"/>
              </a:lnSpc>
              <a:spcBef>
                <a:spcPts val="0"/>
              </a:spcBef>
              <a:buFont typeface="Wingdings" panose="05000000000000000000" pitchFamily="2" charset="2"/>
              <a:buNone/>
            </a:pPr>
            <a:r>
              <a:rPr lang="en-US" altLang="zh-CN" sz="2200" dirty="0"/>
              <a:t>       Semester  CHAR(5),                            </a:t>
            </a:r>
            <a:r>
              <a:rPr lang="en-US" altLang="zh-CN" sz="1800" dirty="0"/>
              <a:t>  /*</a:t>
            </a:r>
            <a:r>
              <a:rPr lang="zh-CN" altLang="en-US" sz="1800" dirty="0"/>
              <a:t>选课学期*</a:t>
            </a:r>
            <a:r>
              <a:rPr lang="en-US" altLang="zh-CN" sz="1800" dirty="0"/>
              <a:t>/</a:t>
            </a:r>
            <a:r>
              <a:rPr lang="en-US" altLang="zh-CN" sz="2200" dirty="0"/>
              <a:t> </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a:t>
            </a:r>
            <a:r>
              <a:rPr lang="en-US" altLang="zh-CN" sz="2200" dirty="0" err="1"/>
              <a:t>Teachingclass</a:t>
            </a:r>
            <a:r>
              <a:rPr lang="en-US" altLang="zh-CN" sz="2200" dirty="0"/>
              <a:t>   CHAR(8),                     </a:t>
            </a:r>
            <a:r>
              <a:rPr lang="en-US" altLang="zh-CN" sz="1800" dirty="0"/>
              <a:t>/*</a:t>
            </a:r>
            <a:r>
              <a:rPr lang="zh-CN" altLang="en-US" sz="1800" dirty="0"/>
              <a:t>学生选修某一门课所在的教学班*</a:t>
            </a:r>
            <a:r>
              <a:rPr lang="en-US" altLang="zh-CN" sz="1800" dirty="0"/>
              <a:t>/ </a:t>
            </a:r>
            <a:endParaRPr lang="en-US" altLang="zh-CN" sz="1800" dirty="0"/>
          </a:p>
          <a:p>
            <a:pPr eaLnBrk="1" hangingPunct="1">
              <a:lnSpc>
                <a:spcPct val="120000"/>
              </a:lnSpc>
              <a:spcBef>
                <a:spcPts val="0"/>
              </a:spcBef>
              <a:buFont typeface="Wingdings" panose="05000000000000000000" pitchFamily="2" charset="2"/>
              <a:buNone/>
            </a:pPr>
            <a:r>
              <a:rPr lang="en-US" altLang="zh-CN" sz="2200" dirty="0"/>
              <a:t>      PRIMARY KEY (</a:t>
            </a:r>
            <a:r>
              <a:rPr lang="en-US" altLang="zh-CN" sz="2200" dirty="0" err="1"/>
              <a:t>Sno</a:t>
            </a:r>
            <a:r>
              <a:rPr lang="en-US" altLang="zh-CN" sz="2200" dirty="0"/>
              <a:t>, </a:t>
            </a:r>
            <a:r>
              <a:rPr lang="en-US" altLang="zh-CN" sz="2200" dirty="0" err="1"/>
              <a:t>Cno</a:t>
            </a:r>
            <a:r>
              <a:rPr lang="en-US" altLang="zh-CN" sz="2200" dirty="0"/>
              <a:t>), </a:t>
            </a:r>
            <a:endParaRPr lang="en-US" altLang="zh-CN" sz="2200" dirty="0"/>
          </a:p>
          <a:p>
            <a:pPr eaLnBrk="1" hangingPunct="1">
              <a:lnSpc>
                <a:spcPct val="120000"/>
              </a:lnSpc>
              <a:spcBef>
                <a:spcPts val="0"/>
              </a:spcBef>
              <a:buFont typeface="Wingdings" panose="05000000000000000000" pitchFamily="2" charset="2"/>
              <a:buNone/>
            </a:pPr>
            <a:r>
              <a:rPr lang="en-US" altLang="zh-CN" sz="1800" dirty="0"/>
              <a:t>        /*</a:t>
            </a:r>
            <a:r>
              <a:rPr lang="zh-CN" altLang="en-US" sz="1800" dirty="0"/>
              <a:t>在表级定义实体完整性</a:t>
            </a:r>
            <a:r>
              <a:rPr lang="en-US" altLang="zh-CN" sz="1800" dirty="0"/>
              <a:t>,</a:t>
            </a:r>
            <a:r>
              <a:rPr lang="zh-CN" altLang="en-US" sz="1800" dirty="0"/>
              <a:t>隐含了</a:t>
            </a:r>
            <a:r>
              <a:rPr lang="en-US" altLang="zh-CN" sz="1800" dirty="0" err="1"/>
              <a:t>Sno</a:t>
            </a:r>
            <a:r>
              <a:rPr lang="zh-CN" altLang="en-US" sz="1800" dirty="0"/>
              <a:t>、</a:t>
            </a:r>
            <a:r>
              <a:rPr lang="en-US" altLang="zh-CN" sz="1800" dirty="0" err="1"/>
              <a:t>Cno</a:t>
            </a:r>
            <a:r>
              <a:rPr lang="zh-CN" altLang="en-US" sz="1800" dirty="0"/>
              <a:t>不允许取空值</a:t>
            </a:r>
            <a:r>
              <a:rPr lang="en-US" altLang="zh-CN" sz="1800" dirty="0"/>
              <a:t>,</a:t>
            </a:r>
            <a:r>
              <a:rPr lang="zh-CN" altLang="en-US" sz="1800" dirty="0"/>
              <a:t>在列级不允许取空值的定义也可不写*</a:t>
            </a:r>
            <a:r>
              <a:rPr lang="en-US" altLang="zh-CN" sz="1800" dirty="0"/>
              <a:t>/                      </a:t>
            </a:r>
            <a:endParaRPr lang="en-US" altLang="zh-CN" sz="1800" dirty="0"/>
          </a:p>
          <a:p>
            <a:pPr eaLnBrk="1" hangingPunct="1">
              <a:lnSpc>
                <a:spcPct val="120000"/>
              </a:lnSpc>
              <a:spcBef>
                <a:spcPts val="0"/>
              </a:spcBef>
              <a:buFont typeface="Wingdings" panose="05000000000000000000" pitchFamily="2" charset="2"/>
              <a:buNone/>
            </a:pPr>
            <a:r>
              <a:rPr lang="en-US" altLang="zh-CN" sz="2200" dirty="0"/>
              <a:t>    );</a:t>
            </a:r>
            <a:endParaRPr lang="en-US" altLang="zh-CN"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9939" name="Rectangle 2"/>
          <p:cNvSpPr>
            <a:spLocks noGrp="1" noChangeArrowheads="1"/>
          </p:cNvSpPr>
          <p:nvPr>
            <p:ph type="title" idx="4294967295"/>
          </p:nvPr>
        </p:nvSpPr>
        <p:spPr/>
        <p:txBody>
          <a:bodyPr/>
          <a:lstStyle/>
          <a:p>
            <a:pPr eaLnBrk="1" hangingPunct="1"/>
            <a:r>
              <a:rPr lang="zh-CN" altLang="en-US" sz="3600"/>
              <a:t>属性上的约束</a:t>
            </a:r>
            <a:r>
              <a:rPr lang="en-US" altLang="zh-CN" sz="3600"/>
              <a:t>（</a:t>
            </a:r>
            <a:r>
              <a:rPr lang="zh-CN" altLang="en-US" sz="3600"/>
              <a:t>续</a:t>
            </a:r>
            <a:r>
              <a:rPr lang="en-US" altLang="zh-CN" sz="3600"/>
              <a:t>）</a:t>
            </a:r>
            <a:endParaRPr lang="en-US" altLang="zh-CN" sz="3600"/>
          </a:p>
        </p:txBody>
      </p:sp>
      <p:sp>
        <p:nvSpPr>
          <p:cNvPr id="39940" name="Rectangle 3"/>
          <p:cNvSpPr>
            <a:spLocks noGrp="1" noChangeArrowheads="1"/>
          </p:cNvSpPr>
          <p:nvPr>
            <p:ph type="body" idx="4294967295"/>
          </p:nvPr>
        </p:nvSpPr>
        <p:spPr/>
        <p:txBody>
          <a:bodyPr/>
          <a:lstStyle/>
          <a:p>
            <a:pPr eaLnBrk="1" hangingPunct="1">
              <a:lnSpc>
                <a:spcPct val="90000"/>
              </a:lnSpc>
              <a:buFont typeface="Wingdings" panose="05000000000000000000" pitchFamily="2" charset="2"/>
              <a:buNone/>
            </a:pPr>
            <a:r>
              <a:rPr lang="en-US" altLang="zh-CN" dirty="0"/>
              <a:t>（2）</a:t>
            </a:r>
            <a:r>
              <a:rPr lang="zh-CN" altLang="en-US" dirty="0"/>
              <a:t>列值唯一 </a:t>
            </a:r>
            <a:endParaRPr lang="zh-CN" altLang="en-US" sz="2400" dirty="0"/>
          </a:p>
          <a:p>
            <a:pPr eaLnBrk="1" hangingPunct="1">
              <a:lnSpc>
                <a:spcPct val="90000"/>
              </a:lnSpc>
              <a:buFont typeface="Wingdings" panose="05000000000000000000" pitchFamily="2" charset="2"/>
              <a:buNone/>
            </a:pPr>
            <a:r>
              <a:rPr lang="en-US" altLang="zh-CN" sz="2400" dirty="0"/>
              <a:t>[</a:t>
            </a:r>
            <a:r>
              <a:rPr lang="zh-CN" altLang="en-US" sz="2400" dirty="0" smtClean="0"/>
              <a:t>例 </a:t>
            </a:r>
            <a:r>
              <a:rPr lang="en-US" altLang="zh-CN" sz="2400" dirty="0" smtClean="0"/>
              <a:t>5.6]</a:t>
            </a:r>
            <a:r>
              <a:rPr lang="zh-CN" altLang="en-US" sz="2400" dirty="0" smtClean="0"/>
              <a:t> </a:t>
            </a:r>
            <a:r>
              <a:rPr lang="zh-CN" altLang="en-US" sz="2400" dirty="0"/>
              <a:t>建立学校学院表</a:t>
            </a:r>
            <a:r>
              <a:rPr lang="en-US" altLang="zh-CN" sz="2400" dirty="0"/>
              <a:t>School</a:t>
            </a:r>
            <a:r>
              <a:rPr lang="zh-CN" altLang="en-US" sz="2400" dirty="0"/>
              <a:t>，要求学院名称</a:t>
            </a:r>
            <a:r>
              <a:rPr lang="en-US" altLang="zh-CN" sz="2400" dirty="0" err="1"/>
              <a:t>Schoolname</a:t>
            </a:r>
            <a:r>
              <a:rPr lang="zh-CN" altLang="en-US" sz="2400" dirty="0"/>
              <a:t>列取值唯一，学院编号</a:t>
            </a:r>
            <a:r>
              <a:rPr lang="en-US" altLang="zh-CN" sz="2400" dirty="0" err="1"/>
              <a:t>Schoolno</a:t>
            </a:r>
            <a:r>
              <a:rPr lang="zh-CN" altLang="en-US" sz="2400" dirty="0"/>
              <a:t>列为主码。</a:t>
            </a:r>
            <a:endParaRPr lang="zh-CN" altLang="en-US" sz="2400" dirty="0"/>
          </a:p>
          <a:p>
            <a:pPr eaLnBrk="1" hangingPunct="1">
              <a:lnSpc>
                <a:spcPct val="90000"/>
              </a:lnSpc>
              <a:buFont typeface="Wingdings" panose="05000000000000000000" pitchFamily="2" charset="2"/>
              <a:buNone/>
            </a:pPr>
            <a:endParaRPr lang="en-US" altLang="zh-CN" sz="2000" dirty="0"/>
          </a:p>
          <a:p>
            <a:pPr eaLnBrk="1" hangingPunct="1">
              <a:lnSpc>
                <a:spcPct val="150000"/>
              </a:lnSpc>
              <a:buFont typeface="Wingdings" panose="05000000000000000000" pitchFamily="2" charset="2"/>
              <a:buNone/>
            </a:pPr>
            <a:r>
              <a:rPr lang="en-US" altLang="zh-CN" sz="2200" dirty="0"/>
              <a:t>CREATE TABLE School</a:t>
            </a:r>
            <a:endParaRPr lang="en-US" altLang="zh-CN" sz="2200" dirty="0"/>
          </a:p>
          <a:p>
            <a:pPr eaLnBrk="1" hangingPunct="1">
              <a:lnSpc>
                <a:spcPct val="150000"/>
              </a:lnSpc>
              <a:buFont typeface="Wingdings" panose="05000000000000000000" pitchFamily="2" charset="2"/>
              <a:buNone/>
            </a:pPr>
            <a:r>
              <a:rPr lang="en-US" altLang="zh-CN" sz="2200" dirty="0"/>
              <a:t>      ( </a:t>
            </a:r>
            <a:r>
              <a:rPr lang="en-US" altLang="zh-CN" sz="2200" dirty="0" err="1"/>
              <a:t>Schoolno</a:t>
            </a:r>
            <a:r>
              <a:rPr lang="en-US" altLang="zh-CN" sz="2200" dirty="0"/>
              <a:t>  CHAR(8)  PRIMARY KEY</a:t>
            </a:r>
            <a:r>
              <a:rPr lang="en-US" altLang="zh-CN" sz="2000" dirty="0"/>
              <a:t>,      /*</a:t>
            </a:r>
            <a:r>
              <a:rPr lang="zh-CN" altLang="en-US" sz="2000" dirty="0"/>
              <a:t>学院编号</a:t>
            </a:r>
            <a:r>
              <a:rPr lang="en-US" altLang="zh-CN" sz="2000" dirty="0" err="1"/>
              <a:t>Schoolno</a:t>
            </a:r>
            <a:r>
              <a:rPr lang="zh-CN" altLang="en-US" sz="2000" dirty="0"/>
              <a:t>列为主码*</a:t>
            </a:r>
            <a:r>
              <a:rPr lang="en-US" altLang="zh-CN" sz="2000" dirty="0"/>
              <a:t>/</a:t>
            </a:r>
            <a:endParaRPr lang="en-US" altLang="zh-CN" sz="2000" dirty="0"/>
          </a:p>
          <a:p>
            <a:pPr eaLnBrk="1" hangingPunct="1">
              <a:lnSpc>
                <a:spcPct val="150000"/>
              </a:lnSpc>
              <a:buFont typeface="Wingdings" panose="05000000000000000000" pitchFamily="2" charset="2"/>
              <a:buNone/>
            </a:pPr>
            <a:r>
              <a:rPr lang="en-US" altLang="zh-CN" sz="2200" dirty="0"/>
              <a:t>       </a:t>
            </a:r>
            <a:r>
              <a:rPr lang="en-US" altLang="zh-CN" sz="2200" dirty="0" err="1"/>
              <a:t>Schoolname</a:t>
            </a:r>
            <a:r>
              <a:rPr lang="en-US" altLang="zh-CN" sz="2200" dirty="0"/>
              <a:t> VARCHAR(40)  UNIQUE ,    </a:t>
            </a:r>
            <a:r>
              <a:rPr lang="en-US" altLang="zh-CN" sz="2000" dirty="0"/>
              <a:t>/*</a:t>
            </a:r>
            <a:r>
              <a:rPr lang="zh-CN" altLang="en-US" sz="2000" dirty="0"/>
              <a:t>要求学院名称列值唯一*</a:t>
            </a:r>
            <a:r>
              <a:rPr lang="en-US" altLang="zh-CN" sz="2000" dirty="0"/>
              <a:t>/</a:t>
            </a:r>
            <a:endParaRPr lang="en-US" altLang="zh-CN" sz="2000" dirty="0"/>
          </a:p>
          <a:p>
            <a:pPr eaLnBrk="1" hangingPunct="1">
              <a:lnSpc>
                <a:spcPct val="150000"/>
              </a:lnSpc>
              <a:buFont typeface="Wingdings" panose="05000000000000000000" pitchFamily="2" charset="2"/>
              <a:buNone/>
            </a:pPr>
            <a:r>
              <a:rPr lang="en-US" altLang="zh-CN" sz="2200" dirty="0"/>
              <a:t>       </a:t>
            </a:r>
            <a:r>
              <a:rPr lang="en-US" altLang="zh-CN" sz="2200" dirty="0" err="1"/>
              <a:t>Establishmentdate</a:t>
            </a:r>
            <a:r>
              <a:rPr lang="en-US" altLang="zh-CN" sz="2200" dirty="0"/>
              <a:t>  Date                          </a:t>
            </a:r>
            <a:r>
              <a:rPr lang="en-US" altLang="zh-CN" sz="2000" dirty="0"/>
              <a:t>/*</a:t>
            </a:r>
            <a:r>
              <a:rPr lang="zh-CN" altLang="en-US" sz="2000" dirty="0"/>
              <a:t>学院创建日期*</a:t>
            </a:r>
            <a:r>
              <a:rPr lang="en-US" altLang="zh-CN" sz="2000" dirty="0"/>
              <a:t>/      </a:t>
            </a:r>
            <a:endParaRPr lang="en-US" altLang="zh-CN" sz="2200" dirty="0"/>
          </a:p>
          <a:p>
            <a:pPr eaLnBrk="1" hangingPunct="1">
              <a:lnSpc>
                <a:spcPct val="150000"/>
              </a:lnSpc>
              <a:buFont typeface="Wingdings" panose="05000000000000000000" pitchFamily="2" charset="2"/>
              <a:buNone/>
            </a:pPr>
            <a:r>
              <a:rPr lang="en-US" altLang="zh-CN" sz="2200" dirty="0"/>
              <a:t>       );</a:t>
            </a:r>
            <a:endParaRPr lang="en-US" altLang="zh-CN"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63" name="Rectangle 2"/>
          <p:cNvSpPr>
            <a:spLocks noGrp="1" noChangeArrowheads="1"/>
          </p:cNvSpPr>
          <p:nvPr>
            <p:ph type="title" idx="4294967295"/>
          </p:nvPr>
        </p:nvSpPr>
        <p:spPr/>
        <p:txBody>
          <a:bodyPr/>
          <a:lstStyle/>
          <a:p>
            <a:pPr eaLnBrk="1" hangingPunct="1"/>
            <a:r>
              <a:rPr lang="zh-CN" altLang="en-US" sz="3600"/>
              <a:t>属性上的约束</a:t>
            </a:r>
            <a:r>
              <a:rPr lang="en-US" altLang="zh-CN" sz="3600"/>
              <a:t>（</a:t>
            </a:r>
            <a:r>
              <a:rPr lang="zh-CN" altLang="en-US" sz="3600"/>
              <a:t>续</a:t>
            </a:r>
            <a:r>
              <a:rPr lang="en-US" altLang="zh-CN" sz="3600"/>
              <a:t>）</a:t>
            </a:r>
            <a:endParaRPr lang="en-US" altLang="zh-CN" sz="3600"/>
          </a:p>
        </p:txBody>
      </p:sp>
      <p:sp>
        <p:nvSpPr>
          <p:cNvPr id="40964" name="Rectangle 3"/>
          <p:cNvSpPr>
            <a:spLocks noGrp="1" noChangeArrowheads="1"/>
          </p:cNvSpPr>
          <p:nvPr>
            <p:ph type="body" idx="4294967295"/>
          </p:nvPr>
        </p:nvSpPr>
        <p:spPr>
          <a:xfrm>
            <a:off x="1055440" y="1192213"/>
            <a:ext cx="9577064" cy="5189538"/>
          </a:xfrm>
        </p:spPr>
        <p:txBody>
          <a:bodyPr/>
          <a:lstStyle/>
          <a:p>
            <a:pPr eaLnBrk="1" hangingPunct="1">
              <a:lnSpc>
                <a:spcPct val="80000"/>
              </a:lnSpc>
              <a:buFont typeface="Wingdings" panose="05000000000000000000" pitchFamily="2" charset="2"/>
              <a:buNone/>
            </a:pPr>
            <a:r>
              <a:rPr lang="en-US" altLang="zh-CN" dirty="0"/>
              <a:t>（3）</a:t>
            </a:r>
            <a:r>
              <a:rPr lang="zh-CN" altLang="en-US" dirty="0"/>
              <a:t>用</a:t>
            </a:r>
            <a:r>
              <a:rPr lang="en-US" altLang="zh-CN" dirty="0"/>
              <a:t>CHECK</a:t>
            </a:r>
            <a:r>
              <a:rPr lang="zh-CN" altLang="en-US" dirty="0"/>
              <a:t>短语指定列值应该满足的条件</a:t>
            </a:r>
            <a:endParaRPr lang="en-US" altLang="zh-CN" dirty="0"/>
          </a:p>
          <a:p>
            <a:pPr eaLnBrk="1" hangingPunct="1">
              <a:lnSpc>
                <a:spcPct val="80000"/>
              </a:lnSpc>
              <a:buFont typeface="Wingdings" panose="05000000000000000000" pitchFamily="2" charset="2"/>
              <a:buNone/>
            </a:pPr>
            <a:endParaRPr lang="zh-CN" altLang="en-US" sz="2400" dirty="0"/>
          </a:p>
          <a:p>
            <a:pPr eaLnBrk="1" hangingPunct="1">
              <a:lnSpc>
                <a:spcPct val="80000"/>
              </a:lnSpc>
              <a:buFont typeface="Wingdings" panose="05000000000000000000" pitchFamily="2" charset="2"/>
              <a:buNone/>
            </a:pPr>
            <a:r>
              <a:rPr lang="en-US" altLang="zh-CN" sz="2400" dirty="0"/>
              <a:t>[</a:t>
            </a:r>
            <a:r>
              <a:rPr lang="zh-CN" altLang="en-US" sz="2400" dirty="0" smtClean="0"/>
              <a:t>例</a:t>
            </a:r>
            <a:r>
              <a:rPr lang="en-US" altLang="zh-CN" sz="2400" dirty="0" smtClean="0"/>
              <a:t>5.7]</a:t>
            </a:r>
            <a:r>
              <a:rPr lang="zh-CN" altLang="en-US" sz="2400" dirty="0" smtClean="0"/>
              <a:t> </a:t>
            </a:r>
            <a:r>
              <a:rPr lang="en-US" altLang="zh-CN" sz="2400" dirty="0"/>
              <a:t>Student</a:t>
            </a:r>
            <a:r>
              <a:rPr lang="zh-CN" altLang="en-US" sz="2400" dirty="0"/>
              <a:t>表的</a:t>
            </a:r>
            <a:r>
              <a:rPr lang="en-US" altLang="zh-CN" sz="2400" dirty="0" err="1"/>
              <a:t>Ssex</a:t>
            </a:r>
            <a:r>
              <a:rPr lang="zh-CN" altLang="en-US" sz="2400" dirty="0"/>
              <a:t>只允许取“男”或“女”。</a:t>
            </a:r>
            <a:endParaRPr lang="en-US" altLang="zh-CN" sz="2400" dirty="0"/>
          </a:p>
          <a:p>
            <a:pPr eaLnBrk="1" hangingPunct="1">
              <a:lnSpc>
                <a:spcPct val="80000"/>
              </a:lnSpc>
              <a:buFont typeface="Wingdings" panose="05000000000000000000" pitchFamily="2" charset="2"/>
              <a:buNone/>
            </a:pPr>
            <a:endParaRPr lang="zh-CN" altLang="en-US" sz="2400" dirty="0"/>
          </a:p>
          <a:p>
            <a:pPr eaLnBrk="1" hangingPunct="1">
              <a:lnSpc>
                <a:spcPct val="120000"/>
              </a:lnSpc>
              <a:spcBef>
                <a:spcPct val="0"/>
              </a:spcBef>
              <a:buFont typeface="Wingdings" panose="05000000000000000000" pitchFamily="2" charset="2"/>
              <a:buNone/>
            </a:pPr>
            <a:r>
              <a:rPr lang="en-US" altLang="zh-CN" sz="2200" dirty="0"/>
              <a:t>CREATE TABLE Student</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a:t>
            </a:r>
            <a:r>
              <a:rPr lang="en-US" altLang="zh-CN" sz="2200" dirty="0" err="1"/>
              <a:t>Sno</a:t>
            </a:r>
            <a:r>
              <a:rPr lang="en-US" altLang="zh-CN" sz="2200" dirty="0"/>
              <a:t> CHAR(8)  PRIMARY KEY,     </a:t>
            </a:r>
            <a:r>
              <a:rPr lang="en-US" altLang="zh-CN" sz="1400" dirty="0"/>
              <a:t>/*</a:t>
            </a:r>
            <a:r>
              <a:rPr lang="zh-CN" altLang="en-US" sz="1400" dirty="0"/>
              <a:t>在列级定义主码*</a:t>
            </a:r>
            <a:r>
              <a:rPr lang="en-US" altLang="zh-CN" sz="1400" dirty="0"/>
              <a:t>/</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a:t>
            </a:r>
            <a:r>
              <a:rPr lang="en-US" altLang="zh-CN" sz="2200" dirty="0" err="1"/>
              <a:t>Sname</a:t>
            </a:r>
            <a:r>
              <a:rPr lang="en-US" altLang="zh-CN" sz="2200" dirty="0"/>
              <a:t> CHAR(20)  NOT NULL</a:t>
            </a:r>
            <a:r>
              <a:rPr lang="en-US" altLang="zh-CN" sz="1400" dirty="0"/>
              <a:t>,         /* </a:t>
            </a:r>
            <a:r>
              <a:rPr lang="en-US" altLang="zh-CN" sz="1400" dirty="0" err="1"/>
              <a:t>Sname</a:t>
            </a:r>
            <a:r>
              <a:rPr lang="zh-CN" altLang="en-US" sz="1400" dirty="0"/>
              <a:t>属性不允许取空值*</a:t>
            </a:r>
            <a:r>
              <a:rPr lang="en-US" altLang="zh-CN" sz="1400" dirty="0"/>
              <a:t>/</a:t>
            </a:r>
            <a:endParaRPr lang="en-US" altLang="zh-CN" sz="1400" dirty="0"/>
          </a:p>
          <a:p>
            <a:pPr eaLnBrk="1" hangingPunct="1">
              <a:lnSpc>
                <a:spcPct val="120000"/>
              </a:lnSpc>
              <a:spcBef>
                <a:spcPct val="0"/>
              </a:spcBef>
              <a:buFont typeface="Wingdings" panose="05000000000000000000" pitchFamily="2" charset="2"/>
              <a:buNone/>
            </a:pPr>
            <a:r>
              <a:rPr lang="en-US" altLang="zh-CN" sz="2200" dirty="0"/>
              <a:t>     </a:t>
            </a:r>
            <a:r>
              <a:rPr lang="en-US" altLang="zh-CN" sz="2200" dirty="0" err="1"/>
              <a:t>Ssex</a:t>
            </a:r>
            <a:r>
              <a:rPr lang="en-US" altLang="zh-CN" sz="2200" dirty="0"/>
              <a:t>  CHAR(6)  CHECK (</a:t>
            </a:r>
            <a:r>
              <a:rPr lang="en-US" altLang="zh-CN" sz="2200" dirty="0" err="1"/>
              <a:t>Ssex</a:t>
            </a:r>
            <a:r>
              <a:rPr lang="en-US" altLang="zh-CN" sz="2200" dirty="0"/>
              <a:t> IN ('</a:t>
            </a:r>
            <a:r>
              <a:rPr lang="zh-CN" altLang="en-US" sz="2200" dirty="0"/>
              <a:t>男</a:t>
            </a:r>
            <a:r>
              <a:rPr lang="en-US" altLang="zh-CN" sz="2200" dirty="0"/>
              <a:t>','</a:t>
            </a:r>
            <a:r>
              <a:rPr lang="zh-CN" altLang="en-US" sz="2200" dirty="0"/>
              <a:t>女</a:t>
            </a:r>
            <a:r>
              <a:rPr lang="en-US" altLang="zh-CN" sz="2200" dirty="0"/>
              <a:t>') ),    </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a:t>
            </a:r>
            <a:r>
              <a:rPr lang="en-US" altLang="zh-CN" sz="1400" dirty="0"/>
              <a:t>/*</a:t>
            </a:r>
            <a:r>
              <a:rPr lang="zh-CN" altLang="en-US" sz="1400" dirty="0"/>
              <a:t>性别属性</a:t>
            </a:r>
            <a:r>
              <a:rPr lang="en-US" altLang="zh-CN" sz="1400" dirty="0" err="1"/>
              <a:t>Ssex</a:t>
            </a:r>
            <a:r>
              <a:rPr lang="zh-CN" altLang="en-US" sz="1400" dirty="0"/>
              <a:t>只允许取</a:t>
            </a:r>
            <a:r>
              <a:rPr lang="en-US" altLang="zh-CN" sz="1400" dirty="0"/>
              <a:t>'</a:t>
            </a:r>
            <a:r>
              <a:rPr lang="zh-CN" altLang="en-US" sz="1400" dirty="0"/>
              <a:t>男</a:t>
            </a:r>
            <a:r>
              <a:rPr lang="en-US" altLang="zh-CN" sz="1400" dirty="0"/>
              <a:t>'</a:t>
            </a:r>
            <a:r>
              <a:rPr lang="zh-CN" altLang="en-US" sz="1400" dirty="0"/>
              <a:t>或</a:t>
            </a:r>
            <a:r>
              <a:rPr lang="en-US" altLang="zh-CN" sz="1400" dirty="0"/>
              <a:t>'</a:t>
            </a:r>
            <a:r>
              <a:rPr lang="zh-CN" altLang="en-US" sz="1400" dirty="0"/>
              <a:t>女</a:t>
            </a:r>
            <a:r>
              <a:rPr lang="en-US" altLang="zh-CN" sz="1400" dirty="0"/>
              <a:t>' */</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a:t>
            </a:r>
            <a:r>
              <a:rPr lang="en-US" altLang="zh-CN" sz="2200" dirty="0" err="1"/>
              <a:t>Sbirthdate</a:t>
            </a:r>
            <a:r>
              <a:rPr lang="en-US" altLang="zh-CN" sz="2200" dirty="0"/>
              <a:t> Date, </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a:t>
            </a:r>
            <a:r>
              <a:rPr lang="en-US" altLang="zh-CN" sz="2200" dirty="0" err="1"/>
              <a:t>Smajor</a:t>
            </a:r>
            <a:r>
              <a:rPr lang="en-US" altLang="zh-CN" sz="2200" dirty="0"/>
              <a:t>  VARCHAR(40)</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a:t>
            </a:r>
            <a:endParaRPr lang="en-US" altLang="zh-CN"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7" name="Rectangle 2"/>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属性上的约束</a:t>
            </a:r>
            <a:r>
              <a:rPr lang="en-US" altLang="zh-CN" sz="3600">
                <a:solidFill>
                  <a:schemeClr val="bg1"/>
                </a:solidFill>
              </a:rPr>
              <a:t>（</a:t>
            </a:r>
            <a:r>
              <a:rPr lang="zh-CN" altLang="en-US" sz="3600">
                <a:solidFill>
                  <a:schemeClr val="bg1"/>
                </a:solidFill>
              </a:rPr>
              <a:t>续</a:t>
            </a:r>
            <a:r>
              <a:rPr lang="en-US" altLang="zh-CN" sz="3600">
                <a:solidFill>
                  <a:schemeClr val="bg1"/>
                </a:solidFill>
              </a:rPr>
              <a:t>）</a:t>
            </a:r>
            <a:endParaRPr lang="en-US" altLang="zh-CN" sz="3600">
              <a:solidFill>
                <a:schemeClr val="bg1"/>
              </a:solidFill>
            </a:endParaRPr>
          </a:p>
        </p:txBody>
      </p:sp>
      <p:sp>
        <p:nvSpPr>
          <p:cNvPr id="41988" name="Rectangle 3"/>
          <p:cNvSpPr txBox="1">
            <a:spLocks noChangeArrowheads="1"/>
          </p:cNvSpPr>
          <p:nvPr/>
        </p:nvSpPr>
        <p:spPr bwMode="auto">
          <a:xfrm>
            <a:off x="911424" y="1268760"/>
            <a:ext cx="10794810"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dirty="0"/>
              <a:t>[</a:t>
            </a:r>
            <a:r>
              <a:rPr lang="zh-CN" altLang="en-US" sz="2400" dirty="0" smtClean="0"/>
              <a:t>例</a:t>
            </a:r>
            <a:r>
              <a:rPr lang="en-US" altLang="zh-CN" sz="2400" dirty="0" smtClean="0"/>
              <a:t>5.8]</a:t>
            </a:r>
            <a:r>
              <a:rPr lang="zh-CN" altLang="en-US" sz="2400" dirty="0" smtClean="0"/>
              <a:t> </a:t>
            </a:r>
            <a:r>
              <a:rPr lang="en-US" altLang="zh-CN" sz="2400" dirty="0"/>
              <a:t>SC</a:t>
            </a:r>
            <a:r>
              <a:rPr lang="zh-CN" altLang="en-US" sz="2400" dirty="0"/>
              <a:t>表的</a:t>
            </a:r>
            <a:r>
              <a:rPr lang="en-US" altLang="zh-CN" sz="2400" dirty="0"/>
              <a:t>Grade</a:t>
            </a:r>
            <a:r>
              <a:rPr lang="zh-CN" altLang="en-US" sz="2400" dirty="0"/>
              <a:t>的值应该在</a:t>
            </a:r>
            <a:r>
              <a:rPr lang="en-US" altLang="zh-CN" sz="2400" dirty="0"/>
              <a:t>0</a:t>
            </a:r>
            <a:r>
              <a:rPr lang="zh-CN" altLang="en-US" sz="2400" dirty="0"/>
              <a:t>和</a:t>
            </a:r>
            <a:r>
              <a:rPr lang="en-US" altLang="zh-CN" sz="2400" dirty="0"/>
              <a:t>100</a:t>
            </a:r>
            <a:r>
              <a:rPr lang="zh-CN" altLang="en-US" sz="2400" dirty="0"/>
              <a:t>之间。</a:t>
            </a:r>
            <a:endParaRPr lang="zh-CN" altLang="en-US" sz="2400" dirty="0"/>
          </a:p>
          <a:p>
            <a:pPr eaLnBrk="1" hangingPunct="1">
              <a:spcBef>
                <a:spcPct val="0"/>
              </a:spcBef>
              <a:buSzTx/>
              <a:buFont typeface="Arial" panose="020B0604020202020204" pitchFamily="34" charset="0"/>
              <a:buNone/>
            </a:pPr>
            <a:endParaRPr lang="en-US" altLang="zh-CN" sz="2000" dirty="0"/>
          </a:p>
          <a:p>
            <a:pPr eaLnBrk="1" hangingPunct="1">
              <a:lnSpc>
                <a:spcPct val="120000"/>
              </a:lnSpc>
              <a:spcBef>
                <a:spcPct val="0"/>
              </a:spcBef>
              <a:buSzTx/>
              <a:buFont typeface="Arial" panose="020B0604020202020204" pitchFamily="34" charset="0"/>
              <a:buNone/>
            </a:pPr>
            <a:r>
              <a:rPr lang="en-US" altLang="zh-CN" sz="2200" dirty="0"/>
              <a:t>CREATE TABLE SC</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 </a:t>
            </a:r>
            <a:r>
              <a:rPr lang="en-US" altLang="zh-CN" sz="2200" dirty="0" err="1"/>
              <a:t>Sno</a:t>
            </a:r>
            <a:r>
              <a:rPr lang="en-US" altLang="zh-CN" sz="2200" dirty="0"/>
              <a:t> CHAR(8),</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a:t>
            </a:r>
            <a:r>
              <a:rPr lang="en-US" altLang="zh-CN" sz="2200" dirty="0" err="1"/>
              <a:t>Cno</a:t>
            </a:r>
            <a:r>
              <a:rPr lang="en-US" altLang="zh-CN" sz="2200" dirty="0"/>
              <a:t> CHAR(5),</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Grade SMALLINT CHECK (Grade&gt;=0 AND Grade &lt;=100), </a:t>
            </a:r>
            <a:endParaRPr lang="en-US" altLang="zh-CN" sz="2200" dirty="0"/>
          </a:p>
          <a:p>
            <a:pPr eaLnBrk="1" hangingPunct="1">
              <a:lnSpc>
                <a:spcPct val="120000"/>
              </a:lnSpc>
              <a:spcBef>
                <a:spcPct val="0"/>
              </a:spcBef>
              <a:buSzTx/>
              <a:buFont typeface="Arial" panose="020B0604020202020204" pitchFamily="34" charset="0"/>
              <a:buNone/>
            </a:pPr>
            <a:r>
              <a:rPr lang="en-US" altLang="zh-CN" sz="1400" dirty="0"/>
              <a:t>                                                                                                           /*Grade</a:t>
            </a:r>
            <a:r>
              <a:rPr lang="zh-CN" altLang="en-US" sz="1400" dirty="0"/>
              <a:t>取值范围是</a:t>
            </a:r>
            <a:r>
              <a:rPr lang="en-US" altLang="zh-CN" sz="1400" dirty="0"/>
              <a:t>0</a:t>
            </a:r>
            <a:r>
              <a:rPr lang="zh-CN" altLang="en-US" sz="1400" dirty="0"/>
              <a:t>到</a:t>
            </a:r>
            <a:r>
              <a:rPr lang="en-US" altLang="zh-CN" sz="1400" dirty="0"/>
              <a:t>100*/</a:t>
            </a:r>
            <a:endParaRPr lang="en-US" altLang="zh-CN" sz="1400" dirty="0"/>
          </a:p>
          <a:p>
            <a:pPr eaLnBrk="1" hangingPunct="1">
              <a:lnSpc>
                <a:spcPct val="120000"/>
              </a:lnSpc>
              <a:spcBef>
                <a:spcPct val="0"/>
              </a:spcBef>
              <a:buSzTx/>
              <a:buFont typeface="Arial" panose="020B0604020202020204" pitchFamily="34" charset="0"/>
              <a:buNone/>
            </a:pPr>
            <a:r>
              <a:rPr lang="en-US" altLang="zh-CN" sz="2200" dirty="0"/>
              <a:t>       Semester           CHAR(5), </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a:t>
            </a:r>
            <a:r>
              <a:rPr lang="en-US" altLang="zh-CN" sz="2200" dirty="0" err="1"/>
              <a:t>Teachingclass</a:t>
            </a:r>
            <a:r>
              <a:rPr lang="en-US" altLang="zh-CN" sz="2200" dirty="0"/>
              <a:t>   CHAR(8), </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PRIMARY KEY (</a:t>
            </a:r>
            <a:r>
              <a:rPr lang="en-US" altLang="zh-CN" sz="2200" dirty="0" err="1"/>
              <a:t>Sno</a:t>
            </a:r>
            <a:r>
              <a:rPr lang="en-US" altLang="zh-CN" sz="2200" dirty="0"/>
              <a:t>, </a:t>
            </a:r>
            <a:r>
              <a:rPr lang="en-US" altLang="zh-CN" sz="2200" dirty="0" err="1"/>
              <a:t>Cno</a:t>
            </a:r>
            <a:r>
              <a:rPr lang="en-US" altLang="zh-CN" sz="2200" dirty="0"/>
              <a:t>),</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FOREIGN KEY (</a:t>
            </a:r>
            <a:r>
              <a:rPr lang="en-US" altLang="zh-CN" sz="2200" dirty="0" err="1"/>
              <a:t>Sno</a:t>
            </a:r>
            <a:r>
              <a:rPr lang="en-US" altLang="zh-CN" sz="2200" dirty="0"/>
              <a:t>) REFERENCES Student(</a:t>
            </a:r>
            <a:r>
              <a:rPr lang="en-US" altLang="zh-CN" sz="2200" dirty="0" err="1"/>
              <a:t>Sno</a:t>
            </a:r>
            <a:r>
              <a:rPr lang="en-US" altLang="zh-CN" sz="2200" dirty="0"/>
              <a:t>),</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FOREIGN KEY (</a:t>
            </a:r>
            <a:r>
              <a:rPr lang="en-US" altLang="zh-CN" sz="2200" dirty="0" err="1"/>
              <a:t>Cno</a:t>
            </a:r>
            <a:r>
              <a:rPr lang="en-US" altLang="zh-CN" sz="2200" dirty="0"/>
              <a:t>) REFERENCES Course(</a:t>
            </a:r>
            <a:r>
              <a:rPr lang="en-US" altLang="zh-CN" sz="2200" dirty="0" err="1"/>
              <a:t>Cno</a:t>
            </a:r>
            <a:r>
              <a:rPr lang="en-US" altLang="zh-CN" sz="2200" dirty="0"/>
              <a:t>)</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a:t>
            </a:r>
            <a:endParaRPr lang="en-US" altLang="zh-CN" sz="2200" dirty="0"/>
          </a:p>
          <a:p>
            <a:pPr eaLnBrk="1" hangingPunct="1">
              <a:lnSpc>
                <a:spcPct val="120000"/>
              </a:lnSpc>
              <a:buFont typeface="Wingdings" panose="05000000000000000000" pitchFamily="2" charset="2"/>
              <a:buNone/>
            </a:pPr>
            <a:endParaRPr lang="en-US" altLang="zh-CN"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3011" name="Rectangle 3"/>
          <p:cNvSpPr>
            <a:spLocks noGrp="1" noChangeArrowheads="1"/>
          </p:cNvSpPr>
          <p:nvPr>
            <p:ph type="body" idx="4294967295"/>
          </p:nvPr>
        </p:nvSpPr>
        <p:spPr/>
        <p:txBody>
          <a:bodyPr/>
          <a:lstStyle/>
          <a:p>
            <a:pPr eaLnBrk="1" hangingPunct="1">
              <a:lnSpc>
                <a:spcPct val="150000"/>
              </a:lnSpc>
              <a:spcBef>
                <a:spcPct val="0"/>
              </a:spcBef>
            </a:pPr>
            <a:r>
              <a:rPr lang="en-US" altLang="zh-CN"/>
              <a:t>2. </a:t>
            </a:r>
            <a:r>
              <a:rPr lang="zh-CN" altLang="en-US"/>
              <a:t>属性上约束的检查和违约处理</a:t>
            </a:r>
            <a:endParaRPr lang="en-US" altLang="zh-CN"/>
          </a:p>
          <a:p>
            <a:pPr lvl="1" eaLnBrk="1" hangingPunct="1">
              <a:lnSpc>
                <a:spcPct val="150000"/>
              </a:lnSpc>
              <a:spcBef>
                <a:spcPct val="0"/>
              </a:spcBef>
              <a:buSzPct val="85000"/>
            </a:pPr>
            <a:r>
              <a:rPr lang="zh-CN" altLang="en-US"/>
              <a:t>插入元组或修改属性值时，</a:t>
            </a:r>
            <a:r>
              <a:rPr lang="en-US" altLang="zh-CN"/>
              <a:t>RDBMS</a:t>
            </a:r>
            <a:r>
              <a:rPr lang="zh-CN" altLang="en-US"/>
              <a:t>检查属性上的约束是否被满足</a:t>
            </a:r>
            <a:endParaRPr lang="zh-CN" altLang="en-US"/>
          </a:p>
          <a:p>
            <a:pPr lvl="1" eaLnBrk="1" hangingPunct="1">
              <a:lnSpc>
                <a:spcPct val="150000"/>
              </a:lnSpc>
              <a:spcBef>
                <a:spcPct val="0"/>
              </a:spcBef>
              <a:buSzPct val="85000"/>
            </a:pPr>
            <a:r>
              <a:rPr lang="zh-CN" altLang="en-US"/>
              <a:t>如果不满足则操作被拒绝执行 </a:t>
            </a:r>
            <a:endParaRPr lang="zh-CN" altLang="en-US"/>
          </a:p>
        </p:txBody>
      </p:sp>
      <p:sp>
        <p:nvSpPr>
          <p:cNvPr id="43012" name="Rectangle 2"/>
          <p:cNvSpPr>
            <a:spLocks noGrp="1" noChangeArrowheads="1"/>
          </p:cNvSpPr>
          <p:nvPr>
            <p:ph type="title" idx="4294967295"/>
          </p:nvPr>
        </p:nvSpPr>
        <p:spPr>
          <a:xfrm>
            <a:off x="1981200" y="-242888"/>
            <a:ext cx="8686800" cy="981076"/>
          </a:xfrm>
        </p:spPr>
        <p:txBody>
          <a:bodyPr/>
          <a:lstStyle/>
          <a:p>
            <a:pPr eaLnBrk="1" hangingPunct="1">
              <a:lnSpc>
                <a:spcPct val="220000"/>
              </a:lnSpc>
            </a:pPr>
            <a:r>
              <a:rPr lang="zh-CN" altLang="en-US" sz="3600"/>
              <a:t>属性上的约束</a:t>
            </a:r>
            <a:r>
              <a:rPr lang="en-US" altLang="zh-CN" sz="3600"/>
              <a:t>（</a:t>
            </a:r>
            <a:r>
              <a:rPr lang="zh-CN" altLang="en-US" sz="3600"/>
              <a:t>续</a:t>
            </a:r>
            <a:r>
              <a:rPr lang="en-US" altLang="zh-CN" sz="3600"/>
              <a:t>）</a:t>
            </a:r>
            <a:endParaRPr lang="en-US" altLang="zh-CN" sz="36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4035" name="Rectangle 2"/>
          <p:cNvSpPr>
            <a:spLocks noGrp="1" noChangeArrowheads="1"/>
          </p:cNvSpPr>
          <p:nvPr>
            <p:ph type="title" idx="4294967295"/>
          </p:nvPr>
        </p:nvSpPr>
        <p:spPr/>
        <p:txBody>
          <a:bodyPr/>
          <a:lstStyle/>
          <a:p>
            <a:pPr eaLnBrk="1" hangingPunct="1"/>
            <a:r>
              <a:rPr lang="en-US" altLang="zh-CN" sz="3600"/>
              <a:t>5.4  </a:t>
            </a:r>
            <a:r>
              <a:rPr lang="zh-CN" altLang="en-US" sz="3600"/>
              <a:t>用户定义的完整性</a:t>
            </a:r>
            <a:endParaRPr lang="zh-CN" altLang="en-US" sz="3600"/>
          </a:p>
        </p:txBody>
      </p:sp>
      <p:sp>
        <p:nvSpPr>
          <p:cNvPr id="38916" name="Rectangle 3"/>
          <p:cNvSpPr>
            <a:spLocks noGrp="1" noChangeArrowheads="1"/>
          </p:cNvSpPr>
          <p:nvPr>
            <p:ph type="body" idx="4294967295"/>
          </p:nvPr>
        </p:nvSpPr>
        <p:spPr>
          <a:xfrm>
            <a:off x="1127448" y="1312863"/>
            <a:ext cx="8229600" cy="4854575"/>
          </a:xfrm>
        </p:spPr>
        <p:txBody>
          <a:bodyPr/>
          <a:lstStyle/>
          <a:p>
            <a:pPr marL="0" indent="0" eaLnBrk="1" hangingPunct="1">
              <a:lnSpc>
                <a:spcPct val="190000"/>
              </a:lnSpc>
              <a:buNone/>
            </a:pPr>
            <a:r>
              <a:rPr lang="en-US" altLang="zh-CN" dirty="0"/>
              <a:t>5.4.1 </a:t>
            </a:r>
            <a:r>
              <a:rPr lang="zh-CN" altLang="en-US" dirty="0"/>
              <a:t>属性上的约束条件</a:t>
            </a:r>
            <a:endParaRPr lang="zh-CN" altLang="en-US" dirty="0"/>
          </a:p>
          <a:p>
            <a:pPr marL="0" indent="0" eaLnBrk="1" hangingPunct="1">
              <a:lnSpc>
                <a:spcPct val="190000"/>
              </a:lnSpc>
              <a:buNone/>
            </a:pPr>
            <a:r>
              <a:rPr lang="en-US" altLang="zh-CN" dirty="0">
                <a:solidFill>
                  <a:srgbClr val="00B050"/>
                </a:solidFill>
              </a:rPr>
              <a:t>5.4.2 </a:t>
            </a:r>
            <a:r>
              <a:rPr lang="zh-CN" altLang="en-US" dirty="0">
                <a:solidFill>
                  <a:srgbClr val="00B050"/>
                </a:solidFill>
              </a:rPr>
              <a:t>元组上的约束</a:t>
            </a:r>
            <a:endParaRPr lang="zh-CN" altLang="en-US" dirty="0">
              <a:solidFill>
                <a:srgbClr val="00B050"/>
              </a:solidFill>
            </a:endParaRPr>
          </a:p>
          <a:p>
            <a:pPr marL="0" indent="0" eaLnBrk="1" hangingPunct="1"/>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5059" name="Rectangle 2"/>
          <p:cNvSpPr>
            <a:spLocks noGrp="1" noChangeArrowheads="1"/>
          </p:cNvSpPr>
          <p:nvPr>
            <p:ph type="title" idx="4294967295"/>
          </p:nvPr>
        </p:nvSpPr>
        <p:spPr/>
        <p:txBody>
          <a:bodyPr/>
          <a:lstStyle/>
          <a:p>
            <a:pPr eaLnBrk="1" hangingPunct="1"/>
            <a:r>
              <a:rPr lang="en-US" altLang="zh-CN" sz="3600"/>
              <a:t>5.4.2 </a:t>
            </a:r>
            <a:r>
              <a:rPr lang="zh-CN" altLang="en-US" sz="3600"/>
              <a:t>元组上的约束</a:t>
            </a:r>
            <a:endParaRPr lang="zh-CN" altLang="en-US" sz="3600"/>
          </a:p>
        </p:txBody>
      </p:sp>
      <p:sp>
        <p:nvSpPr>
          <p:cNvPr id="45060" name="Rectangle 3"/>
          <p:cNvSpPr>
            <a:spLocks noGrp="1" noChangeArrowheads="1"/>
          </p:cNvSpPr>
          <p:nvPr>
            <p:ph type="body" idx="4294967295"/>
          </p:nvPr>
        </p:nvSpPr>
        <p:spPr>
          <a:xfrm>
            <a:off x="767408" y="1340768"/>
            <a:ext cx="10972800" cy="4866106"/>
          </a:xfrm>
        </p:spPr>
        <p:txBody>
          <a:bodyPr/>
          <a:lstStyle/>
          <a:p>
            <a:pPr eaLnBrk="1" hangingPunct="1">
              <a:lnSpc>
                <a:spcPct val="170000"/>
              </a:lnSpc>
            </a:pPr>
            <a:r>
              <a:rPr lang="en-US" altLang="zh-CN" dirty="0"/>
              <a:t>1. </a:t>
            </a:r>
            <a:r>
              <a:rPr lang="zh-CN" altLang="en-US" dirty="0"/>
              <a:t>元组上约束的定义</a:t>
            </a:r>
            <a:endParaRPr lang="en-US" altLang="zh-CN" dirty="0"/>
          </a:p>
          <a:p>
            <a:pPr eaLnBrk="1" hangingPunct="1">
              <a:lnSpc>
                <a:spcPct val="170000"/>
              </a:lnSpc>
            </a:pPr>
            <a:r>
              <a:rPr lang="zh-CN" altLang="en-US" dirty="0"/>
              <a:t>在</a:t>
            </a:r>
            <a:r>
              <a:rPr lang="en-US" altLang="zh-CN" dirty="0"/>
              <a:t>CREATE TABLE</a:t>
            </a:r>
            <a:r>
              <a:rPr lang="zh-CN" altLang="en-US" dirty="0"/>
              <a:t>语句中可以用</a:t>
            </a:r>
            <a:r>
              <a:rPr lang="en-US" altLang="zh-CN" dirty="0">
                <a:solidFill>
                  <a:srgbClr val="FF00FF"/>
                </a:solidFill>
              </a:rPr>
              <a:t>CHECK</a:t>
            </a:r>
            <a:r>
              <a:rPr lang="zh-CN" altLang="en-US" dirty="0"/>
              <a:t>短语定义元组上的约束，即</a:t>
            </a:r>
            <a:r>
              <a:rPr lang="zh-CN" altLang="en-US" dirty="0">
                <a:solidFill>
                  <a:srgbClr val="FF00FF"/>
                </a:solidFill>
              </a:rPr>
              <a:t>元组级的限制</a:t>
            </a:r>
            <a:endParaRPr lang="zh-CN" altLang="en-US" dirty="0">
              <a:solidFill>
                <a:srgbClr val="FF00FF"/>
              </a:solidFill>
            </a:endParaRPr>
          </a:p>
          <a:p>
            <a:pPr eaLnBrk="1" hangingPunct="1">
              <a:lnSpc>
                <a:spcPct val="170000"/>
              </a:lnSpc>
            </a:pPr>
            <a:r>
              <a:rPr lang="zh-CN" altLang="en-US" dirty="0"/>
              <a:t>同属性值限制相比，元组级的限制可以设置不同属性之间的取值的相互约束</a:t>
            </a:r>
            <a:r>
              <a:rPr lang="zh-CN" altLang="en-US" sz="3200" dirty="0"/>
              <a:t> </a:t>
            </a:r>
            <a:endParaRPr lang="zh-CN" altLang="en-US" sz="3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6083" name="Rectangle 2"/>
          <p:cNvSpPr>
            <a:spLocks noGrp="1" noChangeArrowheads="1"/>
          </p:cNvSpPr>
          <p:nvPr>
            <p:ph type="title" idx="4294967295"/>
          </p:nvPr>
        </p:nvSpPr>
        <p:spPr/>
        <p:txBody>
          <a:bodyPr/>
          <a:lstStyle/>
          <a:p>
            <a:pPr eaLnBrk="1" hangingPunct="1"/>
            <a:r>
              <a:rPr lang="zh-CN" altLang="en-US" sz="3600"/>
              <a:t>元组上的约束</a:t>
            </a:r>
            <a:r>
              <a:rPr lang="en-US" altLang="zh-CN" sz="3600"/>
              <a:t>（</a:t>
            </a:r>
            <a:r>
              <a:rPr lang="zh-CN" altLang="en-US" sz="3600"/>
              <a:t>续</a:t>
            </a:r>
            <a:r>
              <a:rPr lang="en-US" altLang="zh-CN" sz="3600"/>
              <a:t>）</a:t>
            </a:r>
            <a:endParaRPr lang="en-US" altLang="zh-CN" sz="3600"/>
          </a:p>
        </p:txBody>
      </p:sp>
      <p:sp>
        <p:nvSpPr>
          <p:cNvPr id="46084" name="Rectangle 3"/>
          <p:cNvSpPr>
            <a:spLocks noGrp="1" noChangeArrowheads="1"/>
          </p:cNvSpPr>
          <p:nvPr>
            <p:ph type="body" idx="4294967295"/>
          </p:nvPr>
        </p:nvSpPr>
        <p:spPr>
          <a:xfrm>
            <a:off x="1127448" y="980728"/>
            <a:ext cx="9865096" cy="5213350"/>
          </a:xfrm>
        </p:spPr>
        <p:txBody>
          <a:bodyPr/>
          <a:lstStyle/>
          <a:p>
            <a:pPr eaLnBrk="1" hangingPunct="1">
              <a:buFont typeface="Wingdings" panose="05000000000000000000" pitchFamily="2" charset="2"/>
              <a:buNone/>
            </a:pPr>
            <a:r>
              <a:rPr lang="en-US" altLang="zh-CN" sz="2400" dirty="0"/>
              <a:t>[</a:t>
            </a:r>
            <a:r>
              <a:rPr lang="zh-CN" altLang="en-US" sz="2400" dirty="0"/>
              <a:t>例5.</a:t>
            </a:r>
            <a:r>
              <a:rPr lang="en-US" altLang="zh-CN" sz="2400" dirty="0"/>
              <a:t>9]</a:t>
            </a:r>
            <a:r>
              <a:rPr lang="zh-CN" altLang="en-US" sz="2400" dirty="0"/>
              <a:t>当学生的性别是男时，其名字不能以</a:t>
            </a:r>
            <a:r>
              <a:rPr lang="en-US" altLang="zh-CN" sz="2400" dirty="0"/>
              <a:t>Ms.</a:t>
            </a:r>
            <a:r>
              <a:rPr lang="zh-CN" altLang="en-US" sz="2400" dirty="0"/>
              <a:t>打头（逻辑</a:t>
            </a:r>
            <a:r>
              <a:rPr lang="zh-CN" altLang="en-US" sz="2400" dirty="0"/>
              <a:t>蕴含）</a:t>
            </a:r>
            <a:endParaRPr lang="zh-CN" altLang="en-US" sz="2400" dirty="0"/>
          </a:p>
          <a:p>
            <a:pPr eaLnBrk="1" hangingPunct="1">
              <a:buFont typeface="Wingdings" panose="05000000000000000000" pitchFamily="2" charset="2"/>
              <a:buNone/>
            </a:pPr>
            <a:r>
              <a:rPr lang="en-US" altLang="zh-CN" sz="2000" dirty="0"/>
              <a:t> </a:t>
            </a:r>
            <a:r>
              <a:rPr lang="en-US" altLang="zh-CN" sz="2200" dirty="0"/>
              <a:t>CREATE TABLE Student</a:t>
            </a:r>
            <a:endParaRPr lang="en-US" altLang="zh-CN" sz="2200" dirty="0"/>
          </a:p>
          <a:p>
            <a:pPr eaLnBrk="1" hangingPunct="1">
              <a:buFont typeface="Wingdings" panose="05000000000000000000" pitchFamily="2" charset="2"/>
              <a:buNone/>
            </a:pPr>
            <a:r>
              <a:rPr lang="en-US" altLang="zh-CN" sz="2200" dirty="0"/>
              <a:t>      ( </a:t>
            </a:r>
            <a:r>
              <a:rPr lang="en-US" altLang="zh-CN" sz="2200" dirty="0" err="1"/>
              <a:t>Sno</a:t>
            </a:r>
            <a:r>
              <a:rPr lang="en-US" altLang="zh-CN" sz="2200" dirty="0"/>
              <a:t> CHAR(8),</a:t>
            </a:r>
            <a:endParaRPr lang="en-US" altLang="zh-CN" sz="2200" dirty="0"/>
          </a:p>
          <a:p>
            <a:pPr eaLnBrk="1" hangingPunct="1">
              <a:buFont typeface="Wingdings" panose="05000000000000000000" pitchFamily="2" charset="2"/>
              <a:buNone/>
            </a:pPr>
            <a:r>
              <a:rPr lang="en-US" altLang="zh-CN" sz="2200" dirty="0"/>
              <a:t>        </a:t>
            </a:r>
            <a:r>
              <a:rPr lang="en-US" altLang="zh-CN" sz="2200" dirty="0" err="1"/>
              <a:t>Sname</a:t>
            </a:r>
            <a:r>
              <a:rPr lang="en-US" altLang="zh-CN" sz="2200" dirty="0"/>
              <a:t> CHAR(20) NOT NULL,</a:t>
            </a:r>
            <a:endParaRPr lang="en-US" altLang="zh-CN" sz="2200" dirty="0"/>
          </a:p>
          <a:p>
            <a:pPr eaLnBrk="1" hangingPunct="1">
              <a:buFont typeface="Wingdings" panose="05000000000000000000" pitchFamily="2" charset="2"/>
              <a:buNone/>
            </a:pPr>
            <a:r>
              <a:rPr lang="en-US" altLang="zh-CN" sz="2200" dirty="0"/>
              <a:t>        </a:t>
            </a:r>
            <a:r>
              <a:rPr lang="en-US" altLang="zh-CN" sz="2200" dirty="0" err="1"/>
              <a:t>Ssex</a:t>
            </a:r>
            <a:r>
              <a:rPr lang="en-US" altLang="zh-CN" sz="2200" dirty="0"/>
              <a:t> CHAR(6),</a:t>
            </a:r>
            <a:endParaRPr lang="en-US" altLang="zh-CN" sz="2200" dirty="0"/>
          </a:p>
          <a:p>
            <a:pPr eaLnBrk="1" hangingPunct="1">
              <a:buFont typeface="Wingdings" panose="05000000000000000000" pitchFamily="2" charset="2"/>
              <a:buNone/>
            </a:pPr>
            <a:r>
              <a:rPr lang="en-US" altLang="zh-CN" sz="2200" dirty="0"/>
              <a:t>        </a:t>
            </a:r>
            <a:r>
              <a:rPr lang="en-US" altLang="zh-CN" sz="2200" dirty="0" err="1"/>
              <a:t>Sbirthdate</a:t>
            </a:r>
            <a:r>
              <a:rPr lang="en-US" altLang="zh-CN" sz="2200" dirty="0"/>
              <a:t> Date, </a:t>
            </a:r>
            <a:endParaRPr lang="en-US" altLang="zh-CN" sz="2200" dirty="0"/>
          </a:p>
          <a:p>
            <a:pPr eaLnBrk="1" hangingPunct="1">
              <a:buFont typeface="Wingdings" panose="05000000000000000000" pitchFamily="2" charset="2"/>
              <a:buNone/>
            </a:pPr>
            <a:r>
              <a:rPr lang="en-US" altLang="zh-CN" sz="2200" dirty="0"/>
              <a:t>        </a:t>
            </a:r>
            <a:r>
              <a:rPr lang="en-US" altLang="zh-CN" sz="2200" dirty="0" err="1"/>
              <a:t>Smajor</a:t>
            </a:r>
            <a:r>
              <a:rPr lang="en-US" altLang="zh-CN" sz="2200" dirty="0"/>
              <a:t>  VARCHAR(40),</a:t>
            </a:r>
            <a:endParaRPr lang="en-US" altLang="zh-CN" sz="2200" dirty="0"/>
          </a:p>
          <a:p>
            <a:pPr eaLnBrk="1" hangingPunct="1">
              <a:buFont typeface="Wingdings" panose="05000000000000000000" pitchFamily="2" charset="2"/>
              <a:buNone/>
            </a:pPr>
            <a:r>
              <a:rPr lang="en-US" altLang="zh-CN" sz="2200" dirty="0"/>
              <a:t>        PRIMARY KEY (</a:t>
            </a:r>
            <a:r>
              <a:rPr lang="en-US" altLang="zh-CN" sz="2200" dirty="0" err="1"/>
              <a:t>Sno</a:t>
            </a:r>
            <a:r>
              <a:rPr lang="en-US" altLang="zh-CN" sz="2200" dirty="0"/>
              <a:t>),</a:t>
            </a:r>
            <a:endParaRPr lang="en-US" altLang="zh-CN" sz="2200" dirty="0"/>
          </a:p>
          <a:p>
            <a:pPr eaLnBrk="1" hangingPunct="1">
              <a:buFont typeface="Wingdings" panose="05000000000000000000" pitchFamily="2" charset="2"/>
              <a:buNone/>
            </a:pPr>
            <a:r>
              <a:rPr lang="en-US" altLang="zh-CN" sz="2200" dirty="0"/>
              <a:t>        CHECK (</a:t>
            </a:r>
            <a:r>
              <a:rPr lang="en-US" altLang="zh-CN" sz="2200" dirty="0" err="1"/>
              <a:t>Ssex</a:t>
            </a:r>
            <a:r>
              <a:rPr lang="en-US" altLang="zh-CN" sz="2200" dirty="0"/>
              <a:t>='</a:t>
            </a:r>
            <a:r>
              <a:rPr lang="zh-CN" altLang="en-US" sz="2200" dirty="0"/>
              <a:t>女</a:t>
            </a:r>
            <a:r>
              <a:rPr lang="en-US" altLang="zh-CN" sz="2200" dirty="0"/>
              <a:t>' OR </a:t>
            </a:r>
            <a:r>
              <a:rPr lang="en-US" altLang="zh-CN" sz="2200" dirty="0" err="1"/>
              <a:t>Sname</a:t>
            </a:r>
            <a:r>
              <a:rPr lang="en-US" altLang="zh-CN" sz="2200" dirty="0"/>
              <a:t> NOT LIKE 'Ms.%')</a:t>
            </a:r>
            <a:endParaRPr lang="en-US" altLang="zh-CN" sz="2200" dirty="0"/>
          </a:p>
          <a:p>
            <a:pPr eaLnBrk="1" hangingPunct="1">
              <a:buFont typeface="Wingdings" panose="05000000000000000000" pitchFamily="2" charset="2"/>
              <a:buNone/>
            </a:pPr>
            <a:r>
              <a:rPr lang="en-US" altLang="zh-CN" sz="2200" dirty="0"/>
              <a:t>   );                     </a:t>
            </a:r>
            <a:r>
              <a:rPr lang="en-US" altLang="zh-CN" sz="1600" dirty="0"/>
              <a:t> </a:t>
            </a:r>
            <a:r>
              <a:rPr lang="en-US" altLang="zh-CN" sz="1800" dirty="0"/>
              <a:t>/*</a:t>
            </a:r>
            <a:r>
              <a:rPr lang="zh-CN" altLang="en-US" sz="1800" dirty="0"/>
              <a:t>定义了元组中</a:t>
            </a:r>
            <a:r>
              <a:rPr lang="en-US" altLang="zh-CN" sz="1800" dirty="0" err="1"/>
              <a:t>Sname</a:t>
            </a:r>
            <a:r>
              <a:rPr lang="zh-CN" altLang="en-US" sz="1800" dirty="0"/>
              <a:t>和 </a:t>
            </a:r>
            <a:r>
              <a:rPr lang="en-US" altLang="zh-CN" sz="1800" dirty="0" err="1"/>
              <a:t>Ssex</a:t>
            </a:r>
            <a:r>
              <a:rPr lang="zh-CN" altLang="en-US" sz="1800" dirty="0"/>
              <a:t>两个属性值之间的约束条件*</a:t>
            </a:r>
            <a:r>
              <a:rPr lang="en-US" altLang="zh-CN" sz="1800" dirty="0"/>
              <a:t>/</a:t>
            </a:r>
            <a:endParaRPr lang="en-US" altLang="zh-CN" sz="1800" dirty="0"/>
          </a:p>
          <a:p>
            <a:pPr eaLnBrk="1" hangingPunct="1">
              <a:buFont typeface="Wingdings" panose="05000000000000000000" pitchFamily="2" charset="2"/>
              <a:buNone/>
            </a:pPr>
            <a:endParaRPr lang="en-US" altLang="zh-CN" sz="2200" dirty="0"/>
          </a:p>
          <a:p>
            <a:pPr lvl="1" eaLnBrk="1" hangingPunct="1">
              <a:buFont typeface="Wingdings" panose="05000000000000000000" pitchFamily="2" charset="2"/>
              <a:buChar char="Ø"/>
            </a:pPr>
            <a:r>
              <a:rPr lang="zh-CN" altLang="en-US" sz="2200" dirty="0"/>
              <a:t>性别是女性的元组都能通过该项</a:t>
            </a:r>
            <a:r>
              <a:rPr lang="en-US" altLang="zh-CN" sz="2200" dirty="0"/>
              <a:t>CHECK</a:t>
            </a:r>
            <a:r>
              <a:rPr lang="zh-CN" altLang="en-US" sz="2200" dirty="0"/>
              <a:t>检查;</a:t>
            </a:r>
            <a:endParaRPr lang="zh-CN" altLang="en-US" sz="2200" dirty="0"/>
          </a:p>
          <a:p>
            <a:pPr lvl="1" eaLnBrk="1" hangingPunct="1">
              <a:buFont typeface="Wingdings" panose="05000000000000000000" pitchFamily="2" charset="2"/>
              <a:buChar char="Ø"/>
            </a:pPr>
            <a:r>
              <a:rPr lang="zh-CN" altLang="en-US" sz="2200" dirty="0"/>
              <a:t>当性别是男性时，要通过检查则名字一定不能以</a:t>
            </a:r>
            <a:r>
              <a:rPr lang="en-US" altLang="zh-CN" sz="2200" dirty="0"/>
              <a:t>’Ms.’</a:t>
            </a:r>
            <a:r>
              <a:rPr lang="zh-CN" altLang="en-US" sz="2200" dirty="0"/>
              <a:t>打头</a:t>
            </a:r>
            <a:endParaRPr lang="zh-CN" alt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7107" name="Rectangle 3"/>
          <p:cNvSpPr>
            <a:spLocks noGrp="1" noChangeArrowheads="1"/>
          </p:cNvSpPr>
          <p:nvPr>
            <p:ph type="body" idx="4294967295"/>
          </p:nvPr>
        </p:nvSpPr>
        <p:spPr>
          <a:xfrm>
            <a:off x="1127448" y="1289707"/>
            <a:ext cx="10081120" cy="4854575"/>
          </a:xfrm>
        </p:spPr>
        <p:txBody>
          <a:bodyPr/>
          <a:lstStyle/>
          <a:p>
            <a:pPr eaLnBrk="1" hangingPunct="1">
              <a:lnSpc>
                <a:spcPct val="180000"/>
              </a:lnSpc>
            </a:pPr>
            <a:r>
              <a:rPr lang="zh-CN" altLang="en-US" dirty="0"/>
              <a:t>元组上约束的检查和违约处理</a:t>
            </a:r>
            <a:endParaRPr lang="en-US" altLang="zh-CN" dirty="0"/>
          </a:p>
          <a:p>
            <a:pPr lvl="1" eaLnBrk="1" hangingPunct="1">
              <a:lnSpc>
                <a:spcPct val="180000"/>
              </a:lnSpc>
              <a:buSzPct val="85000"/>
            </a:pPr>
            <a:r>
              <a:rPr lang="zh-CN" altLang="en-US" dirty="0"/>
              <a:t>插入元组或修改属性的值时，</a:t>
            </a:r>
            <a:r>
              <a:rPr lang="en-US" altLang="zh-CN" dirty="0"/>
              <a:t>RDBMS</a:t>
            </a:r>
            <a:r>
              <a:rPr lang="zh-CN" altLang="en-US" dirty="0"/>
              <a:t>检查元组上的约束是否被满足</a:t>
            </a:r>
            <a:endParaRPr lang="zh-CN" altLang="en-US" dirty="0"/>
          </a:p>
          <a:p>
            <a:pPr lvl="1" eaLnBrk="1" hangingPunct="1">
              <a:lnSpc>
                <a:spcPct val="180000"/>
              </a:lnSpc>
              <a:buSzPct val="85000"/>
            </a:pPr>
            <a:r>
              <a:rPr lang="zh-CN" altLang="en-US" dirty="0"/>
              <a:t>如果不满足则操作被拒绝执行 </a:t>
            </a:r>
            <a:endParaRPr lang="zh-CN" altLang="en-US" dirty="0"/>
          </a:p>
        </p:txBody>
      </p:sp>
      <p:sp>
        <p:nvSpPr>
          <p:cNvPr id="47108" name="Rectangle 2"/>
          <p:cNvSpPr>
            <a:spLocks noGrp="1" noChangeArrowheads="1"/>
          </p:cNvSpPr>
          <p:nvPr>
            <p:ph type="title" idx="4294967295"/>
          </p:nvPr>
        </p:nvSpPr>
        <p:spPr/>
        <p:txBody>
          <a:bodyPr/>
          <a:lstStyle/>
          <a:p>
            <a:pPr eaLnBrk="1" hangingPunct="1"/>
            <a:r>
              <a:rPr lang="zh-CN" altLang="en-US" sz="3600"/>
              <a:t>元组上的约束</a:t>
            </a:r>
            <a:r>
              <a:rPr lang="en-US" altLang="zh-CN" sz="3600"/>
              <a:t>（</a:t>
            </a:r>
            <a:r>
              <a:rPr lang="zh-CN" altLang="en-US" sz="3600"/>
              <a:t>续</a:t>
            </a:r>
            <a:r>
              <a:rPr lang="en-US" altLang="zh-CN" sz="3600"/>
              <a:t>）</a:t>
            </a:r>
            <a:endParaRPr lang="zh-CN" altLang="en-US" sz="36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Rectangle 2"/>
          <p:cNvSpPr>
            <a:spLocks noGrp="1" noChangeArrowheads="1"/>
          </p:cNvSpPr>
          <p:nvPr>
            <p:custDataLst>
              <p:tags r:id="rId1"/>
            </p:custDataLst>
          </p:nvPr>
        </p:nvSpPr>
        <p:spPr>
          <a:xfrm>
            <a:off x="609600" y="-28575"/>
            <a:ext cx="10972800" cy="112712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完整性检查也可能严重影响</a:t>
            </a:r>
            <a:r>
              <a:rPr lang="zh-CN" altLang="en-US" sz="3600"/>
              <a:t>性能</a:t>
            </a:r>
            <a:endParaRPr lang="zh-CN" altLang="en-US" sz="3600"/>
          </a:p>
        </p:txBody>
      </p:sp>
      <p:sp>
        <p:nvSpPr>
          <p:cNvPr id="19460" name="Rectangle 3"/>
          <p:cNvSpPr txBox="1">
            <a:spLocks noChangeArrowheads="1"/>
          </p:cNvSpPr>
          <p:nvPr/>
        </p:nvSpPr>
        <p:spPr bwMode="auto">
          <a:xfrm>
            <a:off x="983615" y="1278255"/>
            <a:ext cx="1007173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742950" indent="-3429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a:solidFill>
                  <a:schemeClr val="tx1"/>
                </a:solidFill>
              </a:rPr>
              <a:t>运营电子邮件的公司，需要根据用户的要求过滤垃圾</a:t>
            </a:r>
            <a:r>
              <a:rPr lang="zh-CN" altLang="en-US">
                <a:solidFill>
                  <a:schemeClr val="tx1"/>
                </a:solidFill>
              </a:rPr>
              <a:t>邮件</a:t>
            </a:r>
            <a:endParaRPr lang="zh-CN" altLang="en-US">
              <a:solidFill>
                <a:schemeClr val="tx1"/>
              </a:solidFill>
            </a:endParaRPr>
          </a:p>
          <a:p>
            <a:pPr eaLnBrk="1" hangingPunct="1">
              <a:lnSpc>
                <a:spcPct val="150000"/>
              </a:lnSpc>
            </a:pPr>
            <a:r>
              <a:rPr lang="zh-CN" altLang="en-US">
                <a:solidFill>
                  <a:schemeClr val="tx1"/>
                </a:solidFill>
              </a:rPr>
              <a:t>最常见就算关键词过滤，比如包含</a:t>
            </a:r>
            <a:r>
              <a:rPr lang="en-US" altLang="zh-CN">
                <a:solidFill>
                  <a:schemeClr val="tx1"/>
                </a:solidFill>
              </a:rPr>
              <a:t>“</a:t>
            </a:r>
            <a:r>
              <a:rPr lang="zh-CN" altLang="en-US">
                <a:solidFill>
                  <a:schemeClr val="tx1"/>
                </a:solidFill>
              </a:rPr>
              <a:t>发票</a:t>
            </a:r>
            <a:r>
              <a:rPr lang="en-US" altLang="zh-CN">
                <a:solidFill>
                  <a:schemeClr val="tx1"/>
                </a:solidFill>
              </a:rPr>
              <a:t>”</a:t>
            </a:r>
            <a:r>
              <a:rPr lang="zh-CN" altLang="en-US">
                <a:solidFill>
                  <a:schemeClr val="tx1"/>
                </a:solidFill>
              </a:rPr>
              <a:t>、</a:t>
            </a:r>
            <a:r>
              <a:rPr lang="en-US" altLang="zh-CN">
                <a:solidFill>
                  <a:schemeClr val="tx1"/>
                </a:solidFill>
              </a:rPr>
              <a:t>“</a:t>
            </a:r>
            <a:r>
              <a:rPr lang="zh-CN" altLang="en-US">
                <a:solidFill>
                  <a:schemeClr val="tx1"/>
                </a:solidFill>
              </a:rPr>
              <a:t>海景房</a:t>
            </a:r>
            <a:r>
              <a:rPr lang="en-US" altLang="zh-CN">
                <a:solidFill>
                  <a:schemeClr val="tx1"/>
                </a:solidFill>
              </a:rPr>
              <a:t>”</a:t>
            </a:r>
            <a:r>
              <a:rPr lang="zh-CN" altLang="en-US">
                <a:solidFill>
                  <a:schemeClr val="tx1"/>
                </a:solidFill>
              </a:rPr>
              <a:t> 的邮件一律作为垃圾邮件，拒绝存入邮件表</a:t>
            </a:r>
            <a:r>
              <a:rPr lang="zh-CN" altLang="en-US">
                <a:solidFill>
                  <a:schemeClr val="tx1"/>
                </a:solidFill>
              </a:rPr>
              <a:t>中</a:t>
            </a:r>
            <a:endParaRPr lang="zh-CN" altLang="en-US">
              <a:solidFill>
                <a:schemeClr val="tx1"/>
              </a:solidFill>
            </a:endParaRPr>
          </a:p>
          <a:p>
            <a:pPr eaLnBrk="1" hangingPunct="1">
              <a:lnSpc>
                <a:spcPct val="150000"/>
              </a:lnSpc>
            </a:pPr>
            <a:r>
              <a:rPr lang="zh-CN" altLang="en-US">
                <a:solidFill>
                  <a:schemeClr val="tx1"/>
                </a:solidFill>
              </a:rPr>
              <a:t>那么，如果用户设置了</a:t>
            </a:r>
            <a:r>
              <a:rPr lang="en-US" altLang="zh-CN">
                <a:solidFill>
                  <a:srgbClr val="C00000"/>
                </a:solidFill>
              </a:rPr>
              <a:t>10000</a:t>
            </a:r>
            <a:r>
              <a:rPr lang="zh-CN" altLang="en-US">
                <a:solidFill>
                  <a:schemeClr val="tx1"/>
                </a:solidFill>
              </a:rPr>
              <a:t>个关键词</a:t>
            </a:r>
            <a:r>
              <a:rPr lang="zh-CN" altLang="en-US">
                <a:solidFill>
                  <a:schemeClr val="tx1"/>
                </a:solidFill>
              </a:rPr>
              <a:t>怎么办？</a:t>
            </a:r>
            <a:endParaRPr lang="zh-CN" altLang="en-US">
              <a:solidFill>
                <a:schemeClr val="tx1"/>
              </a:solidFill>
            </a:endParaRPr>
          </a:p>
          <a:p>
            <a:pPr eaLnBrk="1" hangingPunct="1">
              <a:lnSpc>
                <a:spcPct val="150000"/>
              </a:lnSpc>
            </a:pPr>
            <a:endParaRPr lang="en-US" altLang="zh-CN" sz="2400">
              <a:solidFill>
                <a:schemeClr val="tx1"/>
              </a:solidFill>
            </a:endParaRPr>
          </a:p>
          <a:p>
            <a:pPr lvl="2" eaLnBrk="1" hangingPunct="1">
              <a:lnSpc>
                <a:spcPct val="150000"/>
              </a:lnSpc>
              <a:buSzPct val="85000"/>
              <a:buFont typeface="Wingdings" panose="05000000000000000000" pitchFamily="2" charset="2"/>
              <a:buChar char="n"/>
            </a:pPr>
            <a:endParaRPr lang="en-US" altLang="zh-CN" sz="2400" b="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0">
                                            <p:txEl>
                                              <p:pRg st="2" end="2"/>
                                            </p:txEl>
                                          </p:spTgt>
                                        </p:tgtEl>
                                        <p:attrNameLst>
                                          <p:attrName>style.visibility</p:attrName>
                                        </p:attrNameLst>
                                      </p:cBhvr>
                                      <p:to>
                                        <p:strVal val="visible"/>
                                      </p:to>
                                    </p:set>
                                    <p:animEffect transition="in" filter="blinds(horizontal)">
                                      <p:cBhvr>
                                        <p:cTn id="7" dur="500"/>
                                        <p:tgtEl>
                                          <p:spTgt spid="194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8131" name="Rectangle 2"/>
          <p:cNvSpPr>
            <a:spLocks noGrp="1" noChangeArrowheads="1"/>
          </p:cNvSpPr>
          <p:nvPr>
            <p:ph type="title" idx="4294967295"/>
          </p:nvPr>
        </p:nvSpPr>
        <p:spPr/>
        <p:txBody>
          <a:bodyPr/>
          <a:lstStyle/>
          <a:p>
            <a:pPr eaLnBrk="1" hangingPunct="1"/>
            <a:r>
              <a:rPr lang="zh-CN" altLang="zh-CN" sz="3600"/>
              <a:t>第五章 数据库完整性</a:t>
            </a:r>
            <a:endParaRPr lang="zh-CN" altLang="zh-CN" sz="3600"/>
          </a:p>
        </p:txBody>
      </p:sp>
      <p:sp>
        <p:nvSpPr>
          <p:cNvPr id="48132" name="Rectangle 3"/>
          <p:cNvSpPr>
            <a:spLocks noGrp="1" noChangeArrowheads="1"/>
          </p:cNvSpPr>
          <p:nvPr>
            <p:ph type="body" idx="4294967295"/>
          </p:nvPr>
        </p:nvSpPr>
        <p:spPr>
          <a:xfrm>
            <a:off x="1127448" y="1049792"/>
            <a:ext cx="7859712" cy="5329237"/>
          </a:xfrm>
        </p:spPr>
        <p:txBody>
          <a:bodyPr/>
          <a:lstStyle/>
          <a:p>
            <a:pPr eaLnBrk="1" hangingPunct="1">
              <a:lnSpc>
                <a:spcPct val="130000"/>
              </a:lnSpc>
              <a:buFont typeface="Wingdings" panose="05000000000000000000"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anose="05000000000000000000" pitchFamily="2" charset="2"/>
              <a:buNone/>
            </a:pPr>
            <a:r>
              <a:rPr lang="en-US" altLang="zh-CN" dirty="0"/>
              <a:t>5.2 </a:t>
            </a:r>
            <a:r>
              <a:rPr lang="zh-CN" altLang="en-US" dirty="0"/>
              <a:t>实体完整性</a:t>
            </a:r>
            <a:endParaRPr lang="zh-CN" altLang="en-US" dirty="0"/>
          </a:p>
          <a:p>
            <a:pPr eaLnBrk="1" hangingPunct="1">
              <a:lnSpc>
                <a:spcPct val="130000"/>
              </a:lnSpc>
              <a:buFont typeface="Wingdings" panose="05000000000000000000" pitchFamily="2" charset="2"/>
              <a:buNone/>
            </a:pPr>
            <a:r>
              <a:rPr lang="en-US" altLang="zh-CN" dirty="0"/>
              <a:t>5.3 </a:t>
            </a:r>
            <a:r>
              <a:rPr lang="zh-CN" altLang="en-US" dirty="0"/>
              <a:t>参照完整性</a:t>
            </a:r>
            <a:endParaRPr lang="zh-CN" altLang="en-US" dirty="0"/>
          </a:p>
          <a:p>
            <a:pPr eaLnBrk="1" hangingPunct="1">
              <a:lnSpc>
                <a:spcPct val="130000"/>
              </a:lnSpc>
              <a:buFont typeface="Wingdings" panose="05000000000000000000" pitchFamily="2" charset="2"/>
              <a:buNone/>
            </a:pPr>
            <a:r>
              <a:rPr lang="en-US" altLang="zh-CN" dirty="0"/>
              <a:t>5.4 </a:t>
            </a:r>
            <a:r>
              <a:rPr lang="zh-CN" altLang="en-US" dirty="0"/>
              <a:t>用户定义的完整性</a:t>
            </a:r>
            <a:endParaRPr lang="zh-CN" altLang="en-US" dirty="0"/>
          </a:p>
          <a:p>
            <a:pPr eaLnBrk="1" hangingPunct="1">
              <a:lnSpc>
                <a:spcPct val="130000"/>
              </a:lnSpc>
              <a:buFont typeface="Wingdings" panose="05000000000000000000" pitchFamily="2" charset="2"/>
              <a:buNone/>
            </a:pPr>
            <a:r>
              <a:rPr lang="en-US" altLang="zh-CN" dirty="0">
                <a:solidFill>
                  <a:srgbClr val="0066FF"/>
                </a:solidFill>
              </a:rPr>
              <a:t>5.5 </a:t>
            </a:r>
            <a:r>
              <a:rPr lang="zh-CN" altLang="en-US" dirty="0">
                <a:solidFill>
                  <a:srgbClr val="0066FF"/>
                </a:solidFill>
              </a:rPr>
              <a:t>完整性约束命名子句</a:t>
            </a:r>
            <a:endParaRPr lang="zh-CN" altLang="en-US" dirty="0">
              <a:solidFill>
                <a:srgbClr val="0066FF"/>
              </a:solidFill>
            </a:endParaRPr>
          </a:p>
          <a:p>
            <a:pPr eaLnBrk="1" hangingPunct="1">
              <a:lnSpc>
                <a:spcPct val="130000"/>
              </a:lnSpc>
              <a:buFont typeface="Wingdings" panose="05000000000000000000" pitchFamily="2" charset="2"/>
              <a:buNone/>
            </a:pPr>
            <a:r>
              <a:rPr lang="zh-CN" altLang="en-US" dirty="0"/>
              <a:t>*</a:t>
            </a:r>
            <a:r>
              <a:rPr lang="en-US" altLang="zh-CN" dirty="0"/>
              <a:t>5.6 </a:t>
            </a:r>
            <a:r>
              <a:rPr lang="zh-CN" altLang="en-US" dirty="0"/>
              <a:t>域中的完整性限制</a:t>
            </a:r>
            <a:endParaRPr lang="en-US" altLang="zh-CN" dirty="0"/>
          </a:p>
          <a:p>
            <a:pPr eaLnBrk="1" hangingPunct="1">
              <a:lnSpc>
                <a:spcPct val="130000"/>
              </a:lnSpc>
              <a:buFont typeface="Wingdings" panose="05000000000000000000" pitchFamily="2" charset="2"/>
              <a:buNone/>
            </a:pPr>
            <a:r>
              <a:rPr lang="en-US" altLang="zh-CN" dirty="0"/>
              <a:t>5.7 </a:t>
            </a:r>
            <a:r>
              <a:rPr lang="zh-CN" altLang="en-US" dirty="0"/>
              <a:t>触发器</a:t>
            </a:r>
            <a:endParaRPr lang="en-US" altLang="zh-CN" dirty="0"/>
          </a:p>
          <a:p>
            <a:pPr eaLnBrk="1" hangingPunct="1">
              <a:lnSpc>
                <a:spcPct val="130000"/>
              </a:lnSpc>
              <a:buFont typeface="Wingdings" panose="05000000000000000000" pitchFamily="2" charset="2"/>
              <a:buNone/>
            </a:pPr>
            <a:r>
              <a:rPr lang="en-US" altLang="zh-CN" dirty="0"/>
              <a:t>5.8 </a:t>
            </a:r>
            <a:r>
              <a:rPr lang="zh-CN" altLang="en-US" dirty="0"/>
              <a:t>小结</a:t>
            </a:r>
            <a:endParaRPr lang="zh-CN" altLang="en-US" dirty="0"/>
          </a:p>
          <a:p>
            <a:pPr eaLnBrk="1" hangingPunct="1"/>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9155" name="Rectangle 2"/>
          <p:cNvSpPr>
            <a:spLocks noGrp="1" noChangeArrowheads="1"/>
          </p:cNvSpPr>
          <p:nvPr>
            <p:ph type="title" idx="4294967295"/>
          </p:nvPr>
        </p:nvSpPr>
        <p:spPr/>
        <p:txBody>
          <a:bodyPr/>
          <a:lstStyle/>
          <a:p>
            <a:pPr eaLnBrk="1" hangingPunct="1"/>
            <a:r>
              <a:rPr lang="en-US" altLang="zh-CN" sz="3600"/>
              <a:t>5.5  </a:t>
            </a:r>
            <a:r>
              <a:rPr lang="zh-CN" altLang="en-US" sz="3600"/>
              <a:t>完整性约束命名子句</a:t>
            </a:r>
            <a:endParaRPr lang="zh-CN" altLang="en-US" sz="3600"/>
          </a:p>
        </p:txBody>
      </p:sp>
      <p:sp>
        <p:nvSpPr>
          <p:cNvPr id="49156" name="Rectangle 3"/>
          <p:cNvSpPr>
            <a:spLocks noGrp="1" noChangeArrowheads="1"/>
          </p:cNvSpPr>
          <p:nvPr>
            <p:ph type="body" idx="4294967295"/>
          </p:nvPr>
        </p:nvSpPr>
        <p:spPr/>
        <p:txBody>
          <a:bodyPr/>
          <a:lstStyle/>
          <a:p>
            <a:pPr eaLnBrk="1" hangingPunct="1">
              <a:lnSpc>
                <a:spcPct val="150000"/>
              </a:lnSpc>
              <a:buFont typeface="Wingdings" panose="05000000000000000000" pitchFamily="2" charset="2"/>
              <a:buNone/>
            </a:pPr>
            <a:r>
              <a:rPr lang="en-US" altLang="zh-CN" dirty="0"/>
              <a:t>1.</a:t>
            </a:r>
            <a:r>
              <a:rPr lang="zh-CN" altLang="en-US" dirty="0"/>
              <a:t>完整性约束命名子句</a:t>
            </a:r>
            <a:endParaRPr lang="en-US" altLang="zh-CN" dirty="0"/>
          </a:p>
          <a:p>
            <a:pPr lvl="1" eaLnBrk="1" hangingPunct="1">
              <a:lnSpc>
                <a:spcPct val="150000"/>
              </a:lnSpc>
              <a:buFont typeface="Wingdings" panose="05000000000000000000" pitchFamily="2" charset="2"/>
              <a:buNone/>
            </a:pPr>
            <a:r>
              <a:rPr lang="en-US" altLang="zh-CN" dirty="0"/>
              <a:t>CONSTRAINT &lt;</a:t>
            </a:r>
            <a:r>
              <a:rPr lang="zh-CN" altLang="en-US" dirty="0"/>
              <a:t>完整性约束名</a:t>
            </a:r>
            <a:r>
              <a:rPr lang="en-US" altLang="zh-CN" dirty="0"/>
              <a:t>&gt;&lt;</a:t>
            </a:r>
            <a:r>
              <a:rPr lang="zh-CN" altLang="en-US" dirty="0"/>
              <a:t>完整性约束</a:t>
            </a:r>
            <a:r>
              <a:rPr lang="en-US" altLang="zh-CN" dirty="0"/>
              <a:t>&gt;</a:t>
            </a:r>
            <a:endParaRPr lang="en-US" altLang="zh-CN" dirty="0"/>
          </a:p>
          <a:p>
            <a:pPr lvl="1" eaLnBrk="1" hangingPunct="1">
              <a:lnSpc>
                <a:spcPct val="150000"/>
              </a:lnSpc>
              <a:buSzPct val="85000"/>
            </a:pPr>
            <a:r>
              <a:rPr lang="en-US" altLang="zh-CN" dirty="0"/>
              <a:t>&lt;</a:t>
            </a:r>
            <a:r>
              <a:rPr lang="zh-CN" altLang="en-US" dirty="0"/>
              <a:t>完整性约束</a:t>
            </a:r>
            <a:r>
              <a:rPr lang="en-US" altLang="zh-CN" dirty="0"/>
              <a:t>&gt;</a:t>
            </a:r>
            <a:r>
              <a:rPr lang="zh-CN" altLang="en-US" dirty="0"/>
              <a:t>包括</a:t>
            </a:r>
            <a:r>
              <a:rPr lang="en-US" altLang="zh-CN" dirty="0"/>
              <a:t>NOT NULL</a:t>
            </a:r>
            <a:r>
              <a:rPr lang="zh-CN" altLang="en-US" dirty="0"/>
              <a:t>、</a:t>
            </a:r>
            <a:r>
              <a:rPr lang="en-US" altLang="zh-CN" dirty="0"/>
              <a:t>UNIQUE</a:t>
            </a:r>
            <a:r>
              <a:rPr lang="zh-CN" altLang="en-US" dirty="0"/>
              <a:t>、</a:t>
            </a:r>
            <a:r>
              <a:rPr lang="en-US" altLang="zh-CN" dirty="0"/>
              <a:t>PRIMARY KEY</a:t>
            </a:r>
            <a:r>
              <a:rPr lang="zh-CN" altLang="en-US" dirty="0"/>
              <a:t>、</a:t>
            </a:r>
            <a:r>
              <a:rPr lang="en-US" altLang="zh-CN" dirty="0"/>
              <a:t>FOREIGN KEY</a:t>
            </a:r>
            <a:r>
              <a:rPr lang="zh-CN" altLang="en-US" dirty="0"/>
              <a:t>、</a:t>
            </a:r>
            <a:r>
              <a:rPr lang="en-US" altLang="zh-CN" dirty="0"/>
              <a:t>CHECK</a:t>
            </a:r>
            <a:r>
              <a:rPr lang="zh-CN" altLang="en-US" dirty="0"/>
              <a:t>短语等</a:t>
            </a:r>
            <a:endParaRPr lang="en-US"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0179" name="Rectangle 2"/>
          <p:cNvSpPr>
            <a:spLocks noGrp="1" noChangeArrowheads="1"/>
          </p:cNvSpPr>
          <p:nvPr>
            <p:ph type="title" idx="4294967295"/>
          </p:nvPr>
        </p:nvSpPr>
        <p:spPr/>
        <p:txBody>
          <a:bodyPr/>
          <a:lstStyle/>
          <a:p>
            <a:pPr eaLnBrk="1" hangingPunct="1"/>
            <a:r>
              <a:rPr lang="zh-CN" altLang="en-US" sz="3600"/>
              <a:t>完整性约束命名子句</a:t>
            </a:r>
            <a:r>
              <a:rPr lang="en-US" altLang="zh-CN" sz="3600"/>
              <a:t>（</a:t>
            </a:r>
            <a:r>
              <a:rPr lang="zh-CN" altLang="en-US" sz="3600"/>
              <a:t>续</a:t>
            </a:r>
            <a:r>
              <a:rPr lang="en-US" altLang="zh-CN" sz="3600"/>
              <a:t>）</a:t>
            </a:r>
            <a:endParaRPr lang="en-US" altLang="zh-CN" sz="3600"/>
          </a:p>
        </p:txBody>
      </p:sp>
      <p:sp>
        <p:nvSpPr>
          <p:cNvPr id="50180" name="Rectangle 3"/>
          <p:cNvSpPr>
            <a:spLocks noGrp="1" noChangeArrowheads="1"/>
          </p:cNvSpPr>
          <p:nvPr>
            <p:ph type="body" idx="4294967295"/>
          </p:nvPr>
        </p:nvSpPr>
        <p:spPr>
          <a:xfrm>
            <a:off x="1055440" y="1098550"/>
            <a:ext cx="10441160" cy="5283200"/>
          </a:xfrm>
        </p:spPr>
        <p:txBody>
          <a:bodyPr/>
          <a:lstStyle/>
          <a:p>
            <a:pPr eaLnBrk="1" hangingPunct="1">
              <a:lnSpc>
                <a:spcPct val="90000"/>
              </a:lnSpc>
              <a:buFont typeface="Wingdings" panose="05000000000000000000" pitchFamily="2" charset="2"/>
              <a:buNone/>
            </a:pPr>
            <a:r>
              <a:rPr lang="en-US" altLang="zh-CN" sz="2400" dirty="0"/>
              <a:t>[</a:t>
            </a:r>
            <a:r>
              <a:rPr lang="zh-CN" altLang="en-US" sz="2400" dirty="0" smtClean="0"/>
              <a:t>例</a:t>
            </a:r>
            <a:r>
              <a:rPr lang="en-US" altLang="zh-CN" sz="2400" dirty="0" smtClean="0"/>
              <a:t>5.10]</a:t>
            </a:r>
            <a:r>
              <a:rPr lang="zh-CN" altLang="en-US" sz="2400" dirty="0" smtClean="0"/>
              <a:t> </a:t>
            </a:r>
            <a:r>
              <a:rPr lang="zh-CN" altLang="en-US" sz="2400" dirty="0"/>
              <a:t>建立学生登记表</a:t>
            </a:r>
            <a:r>
              <a:rPr lang="en-US" altLang="zh-CN" sz="2400" dirty="0"/>
              <a:t>Student</a:t>
            </a:r>
            <a:r>
              <a:rPr lang="zh-CN" altLang="en-US" sz="2400" dirty="0"/>
              <a:t>，要求学号在</a:t>
            </a:r>
            <a:r>
              <a:rPr lang="en-US" altLang="zh-CN" sz="2400" dirty="0"/>
              <a:t>10000000</a:t>
            </a:r>
            <a:r>
              <a:rPr lang="zh-CN" altLang="en-US" sz="2400" dirty="0"/>
              <a:t>～</a:t>
            </a:r>
            <a:r>
              <a:rPr lang="en-US" altLang="zh-CN" sz="2400" dirty="0"/>
              <a:t>29999999</a:t>
            </a:r>
            <a:r>
              <a:rPr lang="zh-CN" altLang="en-US" sz="2400" dirty="0"/>
              <a:t>之间，姓名不能取空值，出生日期在</a:t>
            </a:r>
            <a:r>
              <a:rPr lang="en-US" altLang="zh-CN" sz="2400" dirty="0"/>
              <a:t>1980</a:t>
            </a:r>
            <a:r>
              <a:rPr lang="zh-CN" altLang="en-US" sz="2400" dirty="0"/>
              <a:t>年之后，性别只能是“男”或“女”。</a:t>
            </a:r>
            <a:endParaRPr lang="zh-CN" altLang="en-US" sz="2400" dirty="0"/>
          </a:p>
          <a:p>
            <a:pPr eaLnBrk="1" hangingPunct="1">
              <a:lnSpc>
                <a:spcPct val="90000"/>
              </a:lnSpc>
              <a:buFont typeface="Wingdings" panose="05000000000000000000" pitchFamily="2" charset="2"/>
              <a:buNone/>
            </a:pPr>
            <a:r>
              <a:rPr lang="en-US" altLang="zh-CN" sz="2200" dirty="0"/>
              <a:t>CREATE TABLE Student</a:t>
            </a:r>
            <a:endParaRPr lang="en-US" altLang="zh-CN" sz="2200" dirty="0"/>
          </a:p>
          <a:p>
            <a:pPr eaLnBrk="1" hangingPunct="1">
              <a:lnSpc>
                <a:spcPct val="90000"/>
              </a:lnSpc>
              <a:buFont typeface="Wingdings" panose="05000000000000000000" pitchFamily="2" charset="2"/>
              <a:buNone/>
            </a:pPr>
            <a:r>
              <a:rPr lang="en-US" altLang="zh-CN" sz="2200" dirty="0"/>
              <a:t>	(</a:t>
            </a:r>
            <a:r>
              <a:rPr lang="en-US" altLang="zh-CN" sz="2200" dirty="0" err="1"/>
              <a:t>Sno</a:t>
            </a:r>
            <a:r>
              <a:rPr lang="en-US" altLang="zh-CN" sz="2200" dirty="0"/>
              <a:t> CHAR(8)</a:t>
            </a:r>
            <a:endParaRPr lang="en-US" altLang="zh-CN" sz="2200" dirty="0"/>
          </a:p>
          <a:p>
            <a:pPr eaLnBrk="1" hangingPunct="1">
              <a:lnSpc>
                <a:spcPct val="90000"/>
              </a:lnSpc>
              <a:buFont typeface="Wingdings" panose="05000000000000000000" pitchFamily="2" charset="2"/>
              <a:buNone/>
            </a:pPr>
            <a:r>
              <a:rPr lang="en-US" altLang="zh-CN" sz="2200" dirty="0"/>
              <a:t>	CONSTRAINT C1 CHECK (</a:t>
            </a:r>
            <a:r>
              <a:rPr lang="en-US" altLang="zh-CN" sz="2200" dirty="0" err="1"/>
              <a:t>Sno</a:t>
            </a:r>
            <a:r>
              <a:rPr lang="en-US" altLang="zh-CN" sz="2200" dirty="0"/>
              <a:t> BETWEEN '10000000' AND '29999999'),</a:t>
            </a:r>
            <a:endParaRPr lang="en-US" altLang="zh-CN" sz="2200" dirty="0"/>
          </a:p>
          <a:p>
            <a:pPr eaLnBrk="1" hangingPunct="1">
              <a:lnSpc>
                <a:spcPct val="90000"/>
              </a:lnSpc>
              <a:buFont typeface="Wingdings" panose="05000000000000000000" pitchFamily="2" charset="2"/>
              <a:buNone/>
            </a:pPr>
            <a:r>
              <a:rPr lang="en-US" altLang="zh-CN" sz="2200" dirty="0"/>
              <a:t>  	</a:t>
            </a:r>
            <a:r>
              <a:rPr lang="en-US" altLang="zh-CN" sz="2200" dirty="0" err="1"/>
              <a:t>Sname</a:t>
            </a:r>
            <a:r>
              <a:rPr lang="en-US" altLang="zh-CN" sz="2200" dirty="0"/>
              <a:t> CHAR(20)  </a:t>
            </a:r>
            <a:endParaRPr lang="en-US" altLang="zh-CN" sz="2200" dirty="0"/>
          </a:p>
          <a:p>
            <a:pPr eaLnBrk="1" hangingPunct="1">
              <a:lnSpc>
                <a:spcPct val="90000"/>
              </a:lnSpc>
              <a:buFont typeface="Wingdings" panose="05000000000000000000" pitchFamily="2" charset="2"/>
              <a:buNone/>
            </a:pPr>
            <a:r>
              <a:rPr lang="en-US" altLang="zh-CN" sz="2200" dirty="0"/>
              <a:t>    	CONSTRAINT C2 NOT NULL,</a:t>
            </a:r>
            <a:endParaRPr lang="en-US" altLang="zh-CN" sz="2200" dirty="0"/>
          </a:p>
          <a:p>
            <a:pPr eaLnBrk="1" hangingPunct="1">
              <a:lnSpc>
                <a:spcPct val="90000"/>
              </a:lnSpc>
              <a:buFont typeface="Wingdings" panose="05000000000000000000" pitchFamily="2" charset="2"/>
              <a:buNone/>
            </a:pPr>
            <a:r>
              <a:rPr lang="en-US" altLang="zh-CN" sz="2200" dirty="0"/>
              <a:t>  	</a:t>
            </a:r>
            <a:r>
              <a:rPr lang="en-US" altLang="zh-CN" sz="2200" dirty="0" err="1"/>
              <a:t>Sbirthdate</a:t>
            </a:r>
            <a:r>
              <a:rPr lang="en-US" altLang="zh-CN" sz="2200" dirty="0"/>
              <a:t> Date</a:t>
            </a:r>
            <a:endParaRPr lang="en-US" altLang="zh-CN" sz="2200" dirty="0"/>
          </a:p>
          <a:p>
            <a:pPr eaLnBrk="1" hangingPunct="1">
              <a:lnSpc>
                <a:spcPct val="90000"/>
              </a:lnSpc>
              <a:buFont typeface="Wingdings" panose="05000000000000000000" pitchFamily="2" charset="2"/>
              <a:buNone/>
            </a:pPr>
            <a:r>
              <a:rPr lang="en-US" altLang="zh-CN" sz="2200" dirty="0"/>
              <a:t>    	CONSTRAINT C3 CHECK (</a:t>
            </a:r>
            <a:r>
              <a:rPr lang="en-US" altLang="zh-CN" sz="2200" dirty="0" err="1"/>
              <a:t>Sbirthdate</a:t>
            </a:r>
            <a:r>
              <a:rPr lang="en-US" altLang="zh-CN" sz="2200" dirty="0"/>
              <a:t> &gt;'1980-1-1'),</a:t>
            </a:r>
            <a:endParaRPr lang="en-US" altLang="zh-CN" sz="2200" dirty="0"/>
          </a:p>
          <a:p>
            <a:pPr eaLnBrk="1" hangingPunct="1">
              <a:lnSpc>
                <a:spcPct val="90000"/>
              </a:lnSpc>
              <a:buFont typeface="Wingdings" panose="05000000000000000000" pitchFamily="2" charset="2"/>
              <a:buNone/>
            </a:pPr>
            <a:r>
              <a:rPr lang="en-US" altLang="zh-CN" sz="2200" dirty="0"/>
              <a:t>  	</a:t>
            </a:r>
            <a:r>
              <a:rPr lang="en-US" altLang="zh-CN" sz="2200" dirty="0" err="1"/>
              <a:t>Ssex</a:t>
            </a:r>
            <a:r>
              <a:rPr lang="en-US" altLang="zh-CN" sz="2200" dirty="0"/>
              <a:t> CHAR(6)</a:t>
            </a:r>
            <a:endParaRPr lang="en-US" altLang="zh-CN" sz="2200" dirty="0"/>
          </a:p>
          <a:p>
            <a:pPr eaLnBrk="1" hangingPunct="1">
              <a:lnSpc>
                <a:spcPct val="90000"/>
              </a:lnSpc>
              <a:buFont typeface="Wingdings" panose="05000000000000000000" pitchFamily="2" charset="2"/>
              <a:buNone/>
            </a:pPr>
            <a:r>
              <a:rPr lang="en-US" altLang="zh-CN" sz="2200" dirty="0"/>
              <a:t>    	CONSTRAINT C4 CHECK (</a:t>
            </a:r>
            <a:r>
              <a:rPr lang="en-US" altLang="zh-CN" sz="2200" dirty="0" err="1"/>
              <a:t>Ssex</a:t>
            </a:r>
            <a:r>
              <a:rPr lang="en-US" altLang="zh-CN" sz="2200" dirty="0"/>
              <a:t> IN ( '</a:t>
            </a:r>
            <a:r>
              <a:rPr lang="zh-CN" altLang="en-US" sz="2200" dirty="0"/>
              <a:t>男</a:t>
            </a:r>
            <a:r>
              <a:rPr lang="en-US" altLang="zh-CN" sz="2200" dirty="0"/>
              <a:t>','</a:t>
            </a:r>
            <a:r>
              <a:rPr lang="zh-CN" altLang="en-US" sz="2200" dirty="0"/>
              <a:t>女</a:t>
            </a:r>
            <a:r>
              <a:rPr lang="en-US" altLang="zh-CN" sz="2200" dirty="0"/>
              <a:t>')),    </a:t>
            </a:r>
            <a:endParaRPr lang="en-US" altLang="zh-CN" sz="2200" dirty="0"/>
          </a:p>
          <a:p>
            <a:pPr eaLnBrk="1" hangingPunct="1">
              <a:lnSpc>
                <a:spcPct val="90000"/>
              </a:lnSpc>
              <a:buFont typeface="Wingdings" panose="05000000000000000000" pitchFamily="2" charset="2"/>
              <a:buNone/>
            </a:pPr>
            <a:r>
              <a:rPr lang="en-US" altLang="zh-CN" sz="2200" dirty="0"/>
              <a:t>	</a:t>
            </a:r>
            <a:r>
              <a:rPr lang="en-US" altLang="zh-CN" sz="2200" dirty="0" err="1"/>
              <a:t>Smajor</a:t>
            </a:r>
            <a:r>
              <a:rPr lang="en-US" altLang="zh-CN" sz="2200" dirty="0"/>
              <a:t>  VARCHAR(40),</a:t>
            </a:r>
            <a:endParaRPr lang="en-US" altLang="zh-CN" sz="2200" dirty="0"/>
          </a:p>
          <a:p>
            <a:pPr eaLnBrk="1" hangingPunct="1">
              <a:lnSpc>
                <a:spcPct val="90000"/>
              </a:lnSpc>
              <a:buFont typeface="Wingdings" panose="05000000000000000000" pitchFamily="2" charset="2"/>
              <a:buNone/>
            </a:pPr>
            <a:r>
              <a:rPr lang="en-US" altLang="zh-CN" sz="2200" dirty="0"/>
              <a:t>	CONSTRAINT </a:t>
            </a:r>
            <a:r>
              <a:rPr lang="en-US" altLang="zh-CN" sz="2200" dirty="0" err="1"/>
              <a:t>StudentKey</a:t>
            </a:r>
            <a:r>
              <a:rPr lang="en-US" altLang="zh-CN" sz="2200" dirty="0"/>
              <a:t> PRIMARY KEY(</a:t>
            </a:r>
            <a:r>
              <a:rPr lang="en-US" altLang="zh-CN" sz="2200" dirty="0" err="1"/>
              <a:t>Sno</a:t>
            </a:r>
            <a:r>
              <a:rPr lang="en-US" altLang="zh-CN" sz="2200" dirty="0"/>
              <a:t>)</a:t>
            </a:r>
            <a:endParaRPr lang="en-US" altLang="zh-CN" sz="2200" dirty="0"/>
          </a:p>
          <a:p>
            <a:pPr eaLnBrk="1" hangingPunct="1">
              <a:lnSpc>
                <a:spcPct val="90000"/>
              </a:lnSpc>
              <a:buFont typeface="Wingdings" panose="05000000000000000000" pitchFamily="2" charset="2"/>
              <a:buNone/>
            </a:pPr>
            <a:r>
              <a:rPr lang="en-US" altLang="zh-CN" sz="2200" dirty="0"/>
              <a:t>	);</a:t>
            </a:r>
            <a:endParaRPr lang="en-US" altLang="zh-CN" sz="2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1203" name="Rectangle 2"/>
          <p:cNvSpPr>
            <a:spLocks noGrp="1" noChangeArrowheads="1"/>
          </p:cNvSpPr>
          <p:nvPr>
            <p:ph type="title" idx="4294967295"/>
          </p:nvPr>
        </p:nvSpPr>
        <p:spPr/>
        <p:txBody>
          <a:bodyPr/>
          <a:lstStyle/>
          <a:p>
            <a:pPr eaLnBrk="1" hangingPunct="1"/>
            <a:r>
              <a:rPr lang="zh-CN" altLang="en-US" sz="3600"/>
              <a:t>完整性约束命名子句</a:t>
            </a:r>
            <a:r>
              <a:rPr lang="en-US" altLang="zh-CN" sz="3600"/>
              <a:t>（</a:t>
            </a:r>
            <a:r>
              <a:rPr lang="zh-CN" altLang="en-US" sz="3600"/>
              <a:t>续</a:t>
            </a:r>
            <a:r>
              <a:rPr lang="en-US" altLang="zh-CN" sz="3600"/>
              <a:t>）</a:t>
            </a:r>
            <a:endParaRPr lang="en-US" altLang="zh-CN" sz="3600"/>
          </a:p>
        </p:txBody>
      </p:sp>
      <p:sp>
        <p:nvSpPr>
          <p:cNvPr id="51204" name="Rectangle 3"/>
          <p:cNvSpPr>
            <a:spLocks noGrp="1" noChangeArrowheads="1"/>
          </p:cNvSpPr>
          <p:nvPr>
            <p:ph type="body" idx="4294967295"/>
          </p:nvPr>
        </p:nvSpPr>
        <p:spPr>
          <a:xfrm>
            <a:off x="767408" y="908720"/>
            <a:ext cx="10513168" cy="5473031"/>
          </a:xfrm>
        </p:spPr>
        <p:txBody>
          <a:bodyPr/>
          <a:lstStyle/>
          <a:p>
            <a:pPr eaLnBrk="1" hangingPunct="1">
              <a:buFont typeface="Wingdings" panose="05000000000000000000" pitchFamily="2" charset="2"/>
              <a:buNone/>
            </a:pPr>
            <a:r>
              <a:rPr lang="en-US" altLang="zh-CN" sz="2200" dirty="0"/>
              <a:t>[</a:t>
            </a:r>
            <a:r>
              <a:rPr lang="zh-CN" altLang="en-US" sz="2200" dirty="0" smtClean="0"/>
              <a:t>例</a:t>
            </a:r>
            <a:r>
              <a:rPr lang="en-US" altLang="zh-CN" sz="2200" dirty="0" smtClean="0"/>
              <a:t>5.11]</a:t>
            </a:r>
            <a:r>
              <a:rPr lang="zh-CN" altLang="en-US" sz="2200" dirty="0" smtClean="0"/>
              <a:t>建立</a:t>
            </a:r>
            <a:r>
              <a:rPr lang="zh-CN" altLang="en-US" sz="2200" dirty="0"/>
              <a:t>教师表</a:t>
            </a:r>
            <a:r>
              <a:rPr lang="en-US" altLang="zh-CN" sz="2200" dirty="0"/>
              <a:t>TEACHER</a:t>
            </a:r>
            <a:r>
              <a:rPr lang="zh-CN" altLang="en-US" sz="2200" dirty="0"/>
              <a:t>，要求每个教师的应发工资（每月）不低于</a:t>
            </a:r>
            <a:r>
              <a:rPr lang="en-US" altLang="zh-CN" sz="2200" dirty="0" smtClean="0"/>
              <a:t>3000</a:t>
            </a:r>
            <a:r>
              <a:rPr lang="zh-CN" altLang="en-US" sz="2200" dirty="0"/>
              <a:t>元。应发工资是工资列</a:t>
            </a:r>
            <a:r>
              <a:rPr lang="en-US" altLang="zh-CN" sz="2200" dirty="0"/>
              <a:t>Sal</a:t>
            </a:r>
            <a:r>
              <a:rPr lang="zh-CN" altLang="en-US" sz="2200" dirty="0"/>
              <a:t>与扣除项</a:t>
            </a:r>
            <a:r>
              <a:rPr lang="en-US" altLang="zh-CN" sz="2200" dirty="0"/>
              <a:t>Deduct</a:t>
            </a:r>
            <a:r>
              <a:rPr lang="zh-CN" altLang="en-US" sz="2200" dirty="0"/>
              <a:t>之和。</a:t>
            </a:r>
            <a:endParaRPr lang="en-US" altLang="zh-CN" sz="2200" dirty="0"/>
          </a:p>
          <a:p>
            <a:pPr eaLnBrk="1" hangingPunct="1">
              <a:buFont typeface="Wingdings" panose="05000000000000000000" pitchFamily="2" charset="2"/>
              <a:buNone/>
            </a:pPr>
            <a:endParaRPr lang="zh-CN" altLang="en-US" sz="2200" dirty="0"/>
          </a:p>
          <a:p>
            <a:pPr eaLnBrk="1" hangingPunct="1">
              <a:buFont typeface="Wingdings" panose="05000000000000000000" pitchFamily="2" charset="2"/>
              <a:buNone/>
            </a:pPr>
            <a:r>
              <a:rPr lang="en-US" altLang="zh-CN" sz="2200" dirty="0"/>
              <a:t>CREATE TABLE TEACHER</a:t>
            </a:r>
            <a:endParaRPr lang="en-US" altLang="zh-CN" sz="2200" dirty="0"/>
          </a:p>
          <a:p>
            <a:pPr eaLnBrk="1" hangingPunct="1">
              <a:buFont typeface="Wingdings" panose="05000000000000000000" pitchFamily="2" charset="2"/>
              <a:buNone/>
            </a:pPr>
            <a:r>
              <a:rPr lang="en-US" altLang="zh-CN" sz="2200" dirty="0"/>
              <a:t>  ( Eno CHAR(8)  PRIMARY KEY,      </a:t>
            </a:r>
            <a:r>
              <a:rPr lang="en-US" altLang="zh-CN" sz="1800" dirty="0"/>
              <a:t>/*</a:t>
            </a:r>
            <a:r>
              <a:rPr lang="zh-CN" altLang="en-US" sz="1800" dirty="0"/>
              <a:t>在列级定义主码*</a:t>
            </a:r>
            <a:r>
              <a:rPr lang="en-US" altLang="zh-CN" sz="1800" dirty="0"/>
              <a:t>/</a:t>
            </a:r>
            <a:endParaRPr lang="en-US" altLang="zh-CN" sz="2200" dirty="0"/>
          </a:p>
          <a:p>
            <a:pPr eaLnBrk="1" hangingPunct="1">
              <a:buFont typeface="Wingdings" panose="05000000000000000000" pitchFamily="2" charset="2"/>
              <a:buNone/>
            </a:pPr>
            <a:r>
              <a:rPr lang="en-US" altLang="zh-CN" sz="2200" dirty="0"/>
              <a:t>    </a:t>
            </a:r>
            <a:r>
              <a:rPr lang="en-US" altLang="zh-CN" sz="2200" dirty="0" err="1"/>
              <a:t>Ename</a:t>
            </a:r>
            <a:r>
              <a:rPr lang="en-US" altLang="zh-CN" sz="2200" dirty="0"/>
              <a:t> VARCHAR(20),</a:t>
            </a:r>
            <a:endParaRPr lang="en-US" altLang="zh-CN" sz="2200" dirty="0"/>
          </a:p>
          <a:p>
            <a:pPr eaLnBrk="1" hangingPunct="1">
              <a:buFont typeface="Wingdings" panose="05000000000000000000" pitchFamily="2" charset="2"/>
              <a:buNone/>
            </a:pPr>
            <a:r>
              <a:rPr lang="en-US" altLang="zh-CN" sz="2200" dirty="0"/>
              <a:t>    Job CHAR(8),</a:t>
            </a:r>
            <a:endParaRPr lang="en-US" altLang="zh-CN" sz="2200" dirty="0"/>
          </a:p>
          <a:p>
            <a:pPr eaLnBrk="1" hangingPunct="1">
              <a:buFont typeface="Wingdings" panose="05000000000000000000" pitchFamily="2" charset="2"/>
              <a:buNone/>
            </a:pPr>
            <a:r>
              <a:rPr lang="en-US" altLang="zh-CN" sz="2200" dirty="0"/>
              <a:t>    Sal NUMERIC(7,2),                         </a:t>
            </a:r>
            <a:r>
              <a:rPr lang="en-US" altLang="zh-CN" sz="1800" dirty="0"/>
              <a:t>/*</a:t>
            </a:r>
            <a:r>
              <a:rPr lang="zh-CN" altLang="en-US" sz="1800" dirty="0"/>
              <a:t>每月工资*</a:t>
            </a:r>
            <a:r>
              <a:rPr lang="en-US" altLang="zh-CN" sz="1800" dirty="0"/>
              <a:t>/</a:t>
            </a:r>
            <a:endParaRPr lang="en-US" altLang="zh-CN" sz="1800" dirty="0"/>
          </a:p>
          <a:p>
            <a:pPr eaLnBrk="1" hangingPunct="1">
              <a:buFont typeface="Wingdings" panose="05000000000000000000" pitchFamily="2" charset="2"/>
              <a:buNone/>
            </a:pPr>
            <a:r>
              <a:rPr lang="en-US" altLang="zh-CN" sz="2200" dirty="0"/>
              <a:t>    Deduct NUMERIC(7,2),                  </a:t>
            </a:r>
            <a:r>
              <a:rPr lang="en-US" altLang="zh-CN" sz="1800" dirty="0"/>
              <a:t>/*</a:t>
            </a:r>
            <a:r>
              <a:rPr lang="zh-CN" altLang="en-US" sz="1800" dirty="0"/>
              <a:t>每月扣除项*</a:t>
            </a:r>
            <a:r>
              <a:rPr lang="en-US" altLang="zh-CN" sz="1800" dirty="0"/>
              <a:t>/</a:t>
            </a:r>
            <a:endParaRPr lang="en-US" altLang="zh-CN" sz="1800" dirty="0"/>
          </a:p>
          <a:p>
            <a:pPr eaLnBrk="1" hangingPunct="1">
              <a:buFont typeface="Wingdings" panose="05000000000000000000" pitchFamily="2" charset="2"/>
              <a:buNone/>
            </a:pPr>
            <a:r>
              <a:rPr lang="en-US" altLang="zh-CN" sz="2200" dirty="0"/>
              <a:t>    </a:t>
            </a:r>
            <a:r>
              <a:rPr lang="en-US" altLang="zh-CN" sz="2200" dirty="0" err="1"/>
              <a:t>Schoolno</a:t>
            </a:r>
            <a:r>
              <a:rPr lang="en-US" altLang="zh-CN" sz="2200" dirty="0"/>
              <a:t> CHAR(8),                       </a:t>
            </a:r>
            <a:r>
              <a:rPr lang="en-US" altLang="zh-CN" sz="1800" dirty="0"/>
              <a:t>/*</a:t>
            </a:r>
            <a:r>
              <a:rPr lang="zh-CN" altLang="en-US" sz="1800" dirty="0"/>
              <a:t>教师所在的学院编号*</a:t>
            </a:r>
            <a:r>
              <a:rPr lang="en-US" altLang="zh-CN" sz="1800" dirty="0"/>
              <a:t>/</a:t>
            </a:r>
            <a:endParaRPr lang="en-US" altLang="zh-CN" sz="1800" dirty="0"/>
          </a:p>
          <a:p>
            <a:pPr eaLnBrk="1" hangingPunct="1">
              <a:buFont typeface="Wingdings" panose="05000000000000000000" pitchFamily="2" charset="2"/>
              <a:buNone/>
            </a:pPr>
            <a:r>
              <a:rPr lang="en-US" altLang="zh-CN" sz="2200" dirty="0"/>
              <a:t>    CONSTRAINT </a:t>
            </a:r>
            <a:r>
              <a:rPr lang="en-US" altLang="zh-CN" sz="2200" dirty="0" err="1"/>
              <a:t>TEACHERFKey</a:t>
            </a:r>
            <a:r>
              <a:rPr lang="en-US" altLang="zh-CN" sz="2200" dirty="0"/>
              <a:t> FOREIGN KEY (</a:t>
            </a:r>
            <a:r>
              <a:rPr lang="en-US" altLang="zh-CN" sz="2200" dirty="0" err="1"/>
              <a:t>Schoolno</a:t>
            </a:r>
            <a:r>
              <a:rPr lang="en-US" altLang="zh-CN" sz="2200" dirty="0"/>
              <a:t>) REFERENCES School(</a:t>
            </a:r>
            <a:r>
              <a:rPr lang="en-US" altLang="zh-CN" sz="2200" dirty="0" err="1"/>
              <a:t>Schoolno</a:t>
            </a:r>
            <a:r>
              <a:rPr lang="en-US" altLang="zh-CN" sz="2200" dirty="0"/>
              <a:t>),  </a:t>
            </a:r>
            <a:r>
              <a:rPr lang="en-US" altLang="zh-CN" sz="1800" dirty="0" smtClean="0"/>
              <a:t>                           </a:t>
            </a:r>
            <a:r>
              <a:rPr lang="en-US" altLang="zh-CN" sz="1800" dirty="0"/>
              <a:t>/*</a:t>
            </a:r>
            <a:r>
              <a:rPr lang="zh-CN" altLang="en-US" sz="1800" dirty="0"/>
              <a:t>外码约束（命名为</a:t>
            </a:r>
            <a:r>
              <a:rPr lang="en-US" altLang="zh-CN" sz="1800" dirty="0" err="1" smtClean="0"/>
              <a:t>TEACHERFKey</a:t>
            </a:r>
            <a:r>
              <a:rPr lang="zh-CN" altLang="en-US" sz="1800" dirty="0"/>
              <a:t>）*</a:t>
            </a:r>
            <a:r>
              <a:rPr lang="en-US" altLang="zh-CN" sz="1800" dirty="0"/>
              <a:t>/</a:t>
            </a:r>
            <a:endParaRPr lang="en-US" altLang="zh-CN" sz="1800" dirty="0"/>
          </a:p>
          <a:p>
            <a:pPr eaLnBrk="1" hangingPunct="1">
              <a:buFont typeface="Wingdings" panose="05000000000000000000" pitchFamily="2" charset="2"/>
              <a:buNone/>
            </a:pPr>
            <a:r>
              <a:rPr lang="en-US" altLang="zh-CN" sz="2200" dirty="0"/>
              <a:t>    CONSTRAINT C1 CHECK (Sal + Deduct &gt;= 3000)  </a:t>
            </a:r>
            <a:r>
              <a:rPr lang="en-US" altLang="zh-CN" sz="1800" dirty="0"/>
              <a:t>/*</a:t>
            </a:r>
            <a:r>
              <a:rPr lang="zh-CN" altLang="en-US" sz="1800" dirty="0"/>
              <a:t>应发工资的约束条件</a:t>
            </a:r>
            <a:r>
              <a:rPr lang="en-US" altLang="zh-CN" sz="1800" dirty="0"/>
              <a:t>C1*/</a:t>
            </a:r>
            <a:endParaRPr lang="en-US" altLang="zh-CN" sz="2200" dirty="0"/>
          </a:p>
          <a:p>
            <a:pPr eaLnBrk="1" hangingPunct="1">
              <a:buFont typeface="Wingdings" panose="05000000000000000000" pitchFamily="2" charset="2"/>
              <a:buNone/>
            </a:pPr>
            <a:r>
              <a:rPr lang="en-US" altLang="zh-CN" sz="2200" dirty="0"/>
              <a:t>  );</a:t>
            </a:r>
            <a:endParaRPr lang="en-US" altLang="zh-CN" sz="2200" dirty="0"/>
          </a:p>
          <a:p>
            <a:pPr eaLnBrk="1" hangingPunct="1">
              <a:buFont typeface="Wingdings" panose="05000000000000000000" pitchFamily="2" charset="2"/>
              <a:buNone/>
            </a:pPr>
            <a:endParaRPr lang="zh-CN" alt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2227" name="Rectangle 2"/>
          <p:cNvSpPr>
            <a:spLocks noGrp="1" noChangeArrowheads="1"/>
          </p:cNvSpPr>
          <p:nvPr>
            <p:ph type="title" idx="4294967295"/>
          </p:nvPr>
        </p:nvSpPr>
        <p:spPr/>
        <p:txBody>
          <a:bodyPr/>
          <a:lstStyle/>
          <a:p>
            <a:pPr eaLnBrk="1" hangingPunct="1"/>
            <a:r>
              <a:rPr lang="zh-CN" altLang="en-US" sz="3600"/>
              <a:t>完整性约束命名子句</a:t>
            </a:r>
            <a:r>
              <a:rPr lang="en-US" altLang="zh-CN" sz="3600"/>
              <a:t>（</a:t>
            </a:r>
            <a:r>
              <a:rPr lang="zh-CN" altLang="en-US" sz="3600"/>
              <a:t>续</a:t>
            </a:r>
            <a:r>
              <a:rPr lang="en-US" altLang="zh-CN" sz="3600"/>
              <a:t>）</a:t>
            </a:r>
            <a:endParaRPr lang="en-US" altLang="zh-CN" sz="3600"/>
          </a:p>
        </p:txBody>
      </p:sp>
      <p:sp>
        <p:nvSpPr>
          <p:cNvPr id="52228" name="Rectangle 3"/>
          <p:cNvSpPr>
            <a:spLocks noGrp="1" noChangeArrowheads="1"/>
          </p:cNvSpPr>
          <p:nvPr>
            <p:ph type="body" idx="4294967295"/>
          </p:nvPr>
        </p:nvSpPr>
        <p:spPr>
          <a:xfrm>
            <a:off x="1271464" y="1289707"/>
            <a:ext cx="10009112" cy="4854575"/>
          </a:xfrm>
        </p:spPr>
        <p:txBody>
          <a:bodyPr/>
          <a:lstStyle/>
          <a:p>
            <a:pPr eaLnBrk="1" hangingPunct="1">
              <a:lnSpc>
                <a:spcPct val="160000"/>
              </a:lnSpc>
              <a:buFont typeface="Wingdings" panose="05000000000000000000" pitchFamily="2" charset="2"/>
              <a:buNone/>
            </a:pPr>
            <a:r>
              <a:rPr lang="en-US" altLang="zh-CN" dirty="0"/>
              <a:t>2. </a:t>
            </a:r>
            <a:r>
              <a:rPr lang="zh-CN" altLang="en-US" dirty="0"/>
              <a:t>修改表中的完整性限制</a:t>
            </a:r>
            <a:endParaRPr lang="zh-CN" altLang="en-US" dirty="0"/>
          </a:p>
          <a:p>
            <a:pPr lvl="1" eaLnBrk="1" hangingPunct="1">
              <a:lnSpc>
                <a:spcPct val="150000"/>
              </a:lnSpc>
            </a:pPr>
            <a:r>
              <a:rPr lang="zh-CN" altLang="en-US" dirty="0"/>
              <a:t>使用</a:t>
            </a:r>
            <a:r>
              <a:rPr lang="en-US" altLang="zh-CN" dirty="0"/>
              <a:t>ALTER TABLE</a:t>
            </a:r>
            <a:r>
              <a:rPr lang="zh-CN" altLang="en-US" dirty="0"/>
              <a:t>语句修改表中的完整性约束</a:t>
            </a:r>
            <a:endParaRPr lang="en-US" altLang="zh-CN" dirty="0"/>
          </a:p>
          <a:p>
            <a:pPr lvl="1" eaLnBrk="1" hangingPunct="1">
              <a:lnSpc>
                <a:spcPct val="150000"/>
              </a:lnSpc>
            </a:pPr>
            <a:endParaRPr lang="en-US" altLang="zh-CN" sz="2600" dirty="0"/>
          </a:p>
          <a:p>
            <a:pPr eaLnBrk="1" hangingPunct="1">
              <a:lnSpc>
                <a:spcPct val="150000"/>
              </a:lnSpc>
              <a:buFont typeface="Wingdings" panose="05000000000000000000" pitchFamily="2" charset="2"/>
              <a:buNone/>
            </a:pPr>
            <a:r>
              <a:rPr lang="en-US" altLang="zh-CN" sz="2400" dirty="0"/>
              <a:t>[</a:t>
            </a:r>
            <a:r>
              <a:rPr lang="zh-CN" altLang="en-US" sz="2400" dirty="0" smtClean="0"/>
              <a:t>例</a:t>
            </a:r>
            <a:r>
              <a:rPr lang="en-US" altLang="zh-CN" sz="2400" dirty="0" smtClean="0"/>
              <a:t>5.12]</a:t>
            </a:r>
            <a:r>
              <a:rPr lang="zh-CN" altLang="en-US" sz="2400" dirty="0" smtClean="0"/>
              <a:t>去掉</a:t>
            </a:r>
            <a:r>
              <a:rPr lang="zh-CN" altLang="en-US" sz="2400" dirty="0"/>
              <a:t>例</a:t>
            </a:r>
            <a:r>
              <a:rPr lang="en-US" altLang="zh-CN" sz="2400" dirty="0"/>
              <a:t>5.10 Student</a:t>
            </a:r>
            <a:r>
              <a:rPr lang="zh-CN" altLang="en-US" sz="2400" dirty="0"/>
              <a:t>表中对出生日期的限制</a:t>
            </a:r>
            <a:endParaRPr lang="zh-CN" altLang="en-US" sz="2400" dirty="0"/>
          </a:p>
          <a:p>
            <a:pPr eaLnBrk="1" hangingPunct="1">
              <a:lnSpc>
                <a:spcPct val="150000"/>
              </a:lnSpc>
              <a:buFont typeface="Wingdings" panose="05000000000000000000" pitchFamily="2" charset="2"/>
              <a:buNone/>
            </a:pPr>
            <a:r>
              <a:rPr lang="en-US" altLang="zh-CN" sz="2400" dirty="0"/>
              <a:t>	ALTER TABLE Student </a:t>
            </a:r>
            <a:endParaRPr lang="en-US" altLang="zh-CN" sz="2400" dirty="0"/>
          </a:p>
          <a:p>
            <a:pPr eaLnBrk="1" hangingPunct="1">
              <a:lnSpc>
                <a:spcPct val="150000"/>
              </a:lnSpc>
              <a:buFont typeface="Wingdings" panose="05000000000000000000" pitchFamily="2" charset="2"/>
              <a:buNone/>
            </a:pPr>
            <a:r>
              <a:rPr lang="en-US" altLang="zh-CN" sz="2400" dirty="0"/>
              <a:t>     	DROP CONSTRAINT C3;</a:t>
            </a:r>
            <a:endParaRPr lang="en-US" altLang="zh-CN" sz="2400" dirty="0"/>
          </a:p>
          <a:p>
            <a:pPr lvl="1" eaLnBrk="1" hangingPunct="1">
              <a:lnSpc>
                <a:spcPct val="150000"/>
              </a:lnSpc>
            </a:pP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3251" name="Rectangle 2"/>
          <p:cNvSpPr>
            <a:spLocks noGrp="1" noChangeArrowheads="1"/>
          </p:cNvSpPr>
          <p:nvPr>
            <p:ph type="title" idx="4294967295"/>
          </p:nvPr>
        </p:nvSpPr>
        <p:spPr/>
        <p:txBody>
          <a:bodyPr/>
          <a:lstStyle/>
          <a:p>
            <a:pPr eaLnBrk="1" hangingPunct="1"/>
            <a:r>
              <a:rPr lang="zh-CN" altLang="en-US" sz="3600"/>
              <a:t>完整性约束命名子句</a:t>
            </a:r>
            <a:r>
              <a:rPr lang="en-US" altLang="zh-CN" sz="3600"/>
              <a:t>（</a:t>
            </a:r>
            <a:r>
              <a:rPr lang="zh-CN" altLang="en-US" sz="3600"/>
              <a:t>续</a:t>
            </a:r>
            <a:r>
              <a:rPr lang="en-US" altLang="zh-CN" sz="3600"/>
              <a:t>）</a:t>
            </a:r>
            <a:endParaRPr lang="en-US" altLang="zh-CN" sz="3600"/>
          </a:p>
        </p:txBody>
      </p:sp>
      <p:sp>
        <p:nvSpPr>
          <p:cNvPr id="53252" name="Rectangle 3"/>
          <p:cNvSpPr>
            <a:spLocks noGrp="1" noChangeArrowheads="1"/>
          </p:cNvSpPr>
          <p:nvPr>
            <p:ph type="body" idx="4294967295"/>
          </p:nvPr>
        </p:nvSpPr>
        <p:spPr>
          <a:xfrm>
            <a:off x="1199456" y="1098550"/>
            <a:ext cx="10382944" cy="5689600"/>
          </a:xfrm>
        </p:spPr>
        <p:txBody>
          <a:bodyPr/>
          <a:lstStyle/>
          <a:p>
            <a:pPr eaLnBrk="1" hangingPunct="1">
              <a:lnSpc>
                <a:spcPct val="120000"/>
              </a:lnSpc>
              <a:buFont typeface="Wingdings" panose="05000000000000000000" pitchFamily="2" charset="2"/>
              <a:buNone/>
            </a:pPr>
            <a:r>
              <a:rPr lang="en-US" altLang="zh-CN" sz="2400" dirty="0"/>
              <a:t>[</a:t>
            </a:r>
            <a:r>
              <a:rPr lang="zh-CN" altLang="en-US" sz="2400" dirty="0" smtClean="0"/>
              <a:t>例</a:t>
            </a:r>
            <a:r>
              <a:rPr lang="en-US" altLang="zh-CN" sz="2400" dirty="0" smtClean="0"/>
              <a:t>5.13]</a:t>
            </a:r>
            <a:r>
              <a:rPr lang="zh-CN" altLang="en-US" sz="2400" dirty="0" smtClean="0"/>
              <a:t> </a:t>
            </a:r>
            <a:r>
              <a:rPr lang="zh-CN" altLang="en-US" sz="2400" dirty="0"/>
              <a:t>修改表</a:t>
            </a:r>
            <a:r>
              <a:rPr lang="en-US" altLang="zh-CN" sz="2400" dirty="0"/>
              <a:t>Student</a:t>
            </a:r>
            <a:r>
              <a:rPr lang="zh-CN" altLang="en-US" sz="2400" dirty="0"/>
              <a:t>中的约束条件，要求学号改为在</a:t>
            </a:r>
            <a:r>
              <a:rPr lang="en-US" altLang="zh-CN" sz="2400" dirty="0"/>
              <a:t>[900 000, 999999]</a:t>
            </a:r>
            <a:r>
              <a:rPr lang="zh-CN" altLang="en-US" sz="2400" dirty="0"/>
              <a:t>，出生日期改为</a:t>
            </a:r>
            <a:r>
              <a:rPr lang="en-US" altLang="zh-CN" sz="2400" dirty="0"/>
              <a:t>1970</a:t>
            </a:r>
            <a:r>
              <a:rPr lang="zh-CN" altLang="en-US" sz="2400" dirty="0"/>
              <a:t>年之后。</a:t>
            </a:r>
            <a:endParaRPr lang="zh-CN" altLang="en-US" sz="2400" dirty="0"/>
          </a:p>
          <a:p>
            <a:pPr eaLnBrk="1" hangingPunct="1">
              <a:lnSpc>
                <a:spcPct val="120000"/>
              </a:lnSpc>
              <a:buFont typeface="Wingdings" panose="05000000000000000000" pitchFamily="2" charset="2"/>
              <a:buNone/>
            </a:pPr>
            <a:r>
              <a:rPr lang="zh-CN" altLang="en-US" sz="2400" dirty="0"/>
              <a:t>可以先删除原来的约束条件，再增加新的约束条件。</a:t>
            </a:r>
            <a:endParaRPr lang="zh-CN" altLang="en-US" sz="2400" dirty="0"/>
          </a:p>
          <a:p>
            <a:pPr eaLnBrk="1" hangingPunct="1">
              <a:lnSpc>
                <a:spcPct val="120000"/>
              </a:lnSpc>
              <a:spcBef>
                <a:spcPts val="0"/>
              </a:spcBef>
              <a:buFont typeface="Wingdings" panose="05000000000000000000" pitchFamily="2" charset="2"/>
              <a:buNone/>
            </a:pPr>
            <a:r>
              <a:rPr lang="en-US" altLang="zh-CN" sz="2000" dirty="0"/>
              <a:t>	</a:t>
            </a:r>
            <a:r>
              <a:rPr lang="en-US" altLang="zh-CN" sz="2200" dirty="0"/>
              <a:t>ALTER TABLE Student</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DROP CONSTRAINT C1;</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ALTER TABLE Student</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ADD CONSTRAINT C1 CHECK (</a:t>
            </a:r>
            <a:r>
              <a:rPr lang="en-US" altLang="zh-CN" sz="2200" dirty="0" err="1"/>
              <a:t>Sno</a:t>
            </a:r>
            <a:r>
              <a:rPr lang="en-US" altLang="zh-CN" sz="2200" dirty="0"/>
              <a:t> BETWEEN '900000' AND '999999’);</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ALTER TABLE Student</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DROP CONSTRAINT C3;</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ALTER TABLE Student</a:t>
            </a:r>
            <a:endParaRPr lang="en-US" altLang="zh-CN" sz="2200" dirty="0"/>
          </a:p>
          <a:p>
            <a:pPr eaLnBrk="1" hangingPunct="1">
              <a:lnSpc>
                <a:spcPct val="120000"/>
              </a:lnSpc>
              <a:spcBef>
                <a:spcPts val="0"/>
              </a:spcBef>
              <a:buFont typeface="Wingdings" panose="05000000000000000000" pitchFamily="2" charset="2"/>
              <a:buNone/>
            </a:pPr>
            <a:r>
              <a:rPr lang="en-US" altLang="zh-CN" sz="2200" dirty="0"/>
              <a:t>     	ADD CONSTRAINT C3 CHECK (</a:t>
            </a:r>
            <a:r>
              <a:rPr lang="en-US" altLang="zh-CN" sz="2200" dirty="0" err="1"/>
              <a:t>Sbirthdate</a:t>
            </a:r>
            <a:r>
              <a:rPr lang="en-US" altLang="zh-CN" sz="2200" dirty="0"/>
              <a:t> &gt;'1970-1-1');</a:t>
            </a:r>
            <a:endParaRPr lang="en-US" altLang="zh-CN" sz="2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4275" name="Rectangle 2"/>
          <p:cNvSpPr>
            <a:spLocks noGrp="1" noChangeArrowheads="1"/>
          </p:cNvSpPr>
          <p:nvPr>
            <p:ph type="title" idx="4294967295"/>
          </p:nvPr>
        </p:nvSpPr>
        <p:spPr/>
        <p:txBody>
          <a:bodyPr/>
          <a:lstStyle/>
          <a:p>
            <a:pPr eaLnBrk="1" hangingPunct="1"/>
            <a:r>
              <a:rPr lang="zh-CN" altLang="zh-CN" sz="3600"/>
              <a:t>第五章 数据库完整性</a:t>
            </a:r>
            <a:endParaRPr lang="zh-CN" altLang="zh-CN" sz="3600"/>
          </a:p>
        </p:txBody>
      </p:sp>
      <p:sp>
        <p:nvSpPr>
          <p:cNvPr id="54276" name="Rectangle 3"/>
          <p:cNvSpPr>
            <a:spLocks noGrp="1" noChangeArrowheads="1"/>
          </p:cNvSpPr>
          <p:nvPr>
            <p:ph type="body" idx="4294967295"/>
          </p:nvPr>
        </p:nvSpPr>
        <p:spPr>
          <a:xfrm>
            <a:off x="1415480" y="1052514"/>
            <a:ext cx="7859712" cy="5329237"/>
          </a:xfrm>
        </p:spPr>
        <p:txBody>
          <a:bodyPr/>
          <a:lstStyle/>
          <a:p>
            <a:pPr eaLnBrk="1" hangingPunct="1">
              <a:lnSpc>
                <a:spcPct val="130000"/>
              </a:lnSpc>
              <a:buFont typeface="Wingdings" panose="05000000000000000000"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anose="05000000000000000000" pitchFamily="2" charset="2"/>
              <a:buNone/>
            </a:pPr>
            <a:r>
              <a:rPr lang="en-US" altLang="zh-CN" dirty="0"/>
              <a:t>5.2 </a:t>
            </a:r>
            <a:r>
              <a:rPr lang="zh-CN" altLang="en-US" dirty="0"/>
              <a:t>实体完整性</a:t>
            </a:r>
            <a:endParaRPr lang="zh-CN" altLang="en-US" dirty="0"/>
          </a:p>
          <a:p>
            <a:pPr eaLnBrk="1" hangingPunct="1">
              <a:lnSpc>
                <a:spcPct val="130000"/>
              </a:lnSpc>
              <a:buFont typeface="Wingdings" panose="05000000000000000000" pitchFamily="2" charset="2"/>
              <a:buNone/>
            </a:pPr>
            <a:r>
              <a:rPr lang="en-US" altLang="zh-CN" dirty="0"/>
              <a:t>5.3 </a:t>
            </a:r>
            <a:r>
              <a:rPr lang="zh-CN" altLang="en-US" dirty="0"/>
              <a:t>参照完整性</a:t>
            </a:r>
            <a:endParaRPr lang="zh-CN" altLang="en-US" dirty="0"/>
          </a:p>
          <a:p>
            <a:pPr eaLnBrk="1" hangingPunct="1">
              <a:lnSpc>
                <a:spcPct val="130000"/>
              </a:lnSpc>
              <a:buFont typeface="Wingdings" panose="05000000000000000000" pitchFamily="2" charset="2"/>
              <a:buNone/>
            </a:pPr>
            <a:r>
              <a:rPr lang="en-US" altLang="zh-CN" dirty="0"/>
              <a:t>5.4 </a:t>
            </a:r>
            <a:r>
              <a:rPr lang="zh-CN" altLang="en-US" dirty="0"/>
              <a:t>用户定义的完整性</a:t>
            </a:r>
            <a:endParaRPr lang="zh-CN" altLang="en-US" dirty="0"/>
          </a:p>
          <a:p>
            <a:pPr eaLnBrk="1" hangingPunct="1">
              <a:lnSpc>
                <a:spcPct val="130000"/>
              </a:lnSpc>
              <a:buFont typeface="Wingdings" panose="05000000000000000000" pitchFamily="2" charset="2"/>
              <a:buNone/>
            </a:pPr>
            <a:r>
              <a:rPr lang="en-US" altLang="zh-CN" dirty="0"/>
              <a:t>5.5 </a:t>
            </a:r>
            <a:r>
              <a:rPr lang="zh-CN" altLang="en-US" dirty="0"/>
              <a:t>完整性约束命名子句</a:t>
            </a:r>
            <a:endParaRPr lang="zh-CN" altLang="en-US" dirty="0"/>
          </a:p>
          <a:p>
            <a:pPr eaLnBrk="1" hangingPunct="1">
              <a:lnSpc>
                <a:spcPct val="130000"/>
              </a:lnSpc>
              <a:buFont typeface="Wingdings" panose="05000000000000000000" pitchFamily="2" charset="2"/>
              <a:buNone/>
            </a:pPr>
            <a:r>
              <a:rPr lang="zh-CN" altLang="en-US" dirty="0">
                <a:solidFill>
                  <a:srgbClr val="0066FF"/>
                </a:solidFill>
              </a:rPr>
              <a:t>*</a:t>
            </a:r>
            <a:r>
              <a:rPr lang="en-US" altLang="zh-CN" dirty="0">
                <a:solidFill>
                  <a:srgbClr val="0066FF"/>
                </a:solidFill>
              </a:rPr>
              <a:t>5.6 </a:t>
            </a:r>
            <a:r>
              <a:rPr lang="zh-CN" altLang="en-US" dirty="0">
                <a:solidFill>
                  <a:srgbClr val="0066FF"/>
                </a:solidFill>
              </a:rPr>
              <a:t>域中的完整性限制</a:t>
            </a:r>
            <a:endParaRPr lang="en-US" altLang="zh-CN" dirty="0">
              <a:solidFill>
                <a:srgbClr val="0066FF"/>
              </a:solidFill>
            </a:endParaRPr>
          </a:p>
          <a:p>
            <a:pPr eaLnBrk="1" hangingPunct="1">
              <a:lnSpc>
                <a:spcPct val="130000"/>
              </a:lnSpc>
              <a:buFont typeface="Wingdings" panose="05000000000000000000" pitchFamily="2" charset="2"/>
              <a:buNone/>
            </a:pPr>
            <a:r>
              <a:rPr lang="en-US" altLang="zh-CN" dirty="0"/>
              <a:t>5.7 </a:t>
            </a:r>
            <a:r>
              <a:rPr lang="zh-CN" altLang="en-US" dirty="0"/>
              <a:t>触发器</a:t>
            </a:r>
            <a:endParaRPr lang="en-US" altLang="zh-CN" dirty="0"/>
          </a:p>
          <a:p>
            <a:pPr eaLnBrk="1" hangingPunct="1">
              <a:lnSpc>
                <a:spcPct val="130000"/>
              </a:lnSpc>
              <a:buFont typeface="Wingdings" panose="05000000000000000000" pitchFamily="2" charset="2"/>
              <a:buNone/>
            </a:pPr>
            <a:r>
              <a:rPr lang="en-US" altLang="zh-CN" dirty="0"/>
              <a:t>5.8 </a:t>
            </a:r>
            <a:r>
              <a:rPr lang="zh-CN" altLang="en-US" dirty="0"/>
              <a:t>小结</a:t>
            </a:r>
            <a:endParaRPr lang="zh-CN" altLang="en-US" dirty="0"/>
          </a:p>
          <a:p>
            <a:pPr eaLnBrk="1" hangingPunct="1"/>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981200" y="-28575"/>
            <a:ext cx="8229600" cy="1127125"/>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defRPr/>
            </a:pPr>
            <a:r>
              <a:rPr lang="zh-CN" altLang="en-US" sz="3600" kern="0" dirty="0"/>
              <a:t>*</a:t>
            </a:r>
            <a:r>
              <a:rPr lang="en-US" altLang="zh-CN" sz="3600" kern="0" dirty="0"/>
              <a:t>5.6</a:t>
            </a:r>
            <a:r>
              <a:rPr lang="zh-CN" altLang="en-US" sz="3600" kern="0" dirty="0"/>
              <a:t>域中的完整性限制</a:t>
            </a:r>
            <a:endParaRPr lang="zh-CN" altLang="zh-CN" sz="3600" kern="0" dirty="0"/>
          </a:p>
        </p:txBody>
      </p:sp>
      <p:sp>
        <p:nvSpPr>
          <p:cNvPr id="3" name="文本框 2"/>
          <p:cNvSpPr txBox="1"/>
          <p:nvPr/>
        </p:nvSpPr>
        <p:spPr>
          <a:xfrm>
            <a:off x="1055440" y="937043"/>
            <a:ext cx="10729192" cy="5441490"/>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SzPct val="100000"/>
              <a:buFont typeface="Wingdings" panose="05000000000000000000" pitchFamily="2" charset="2"/>
              <a:buChar char="v"/>
            </a:pPr>
            <a:r>
              <a:rPr lang="zh-CN" altLang="en-US" sz="2800" b="1" dirty="0"/>
              <a:t>域</a:t>
            </a:r>
            <a:endParaRPr lang="en-US" altLang="zh-CN" sz="2800" b="1" dirty="0"/>
          </a:p>
          <a:p>
            <a:pPr lvl="1">
              <a:lnSpc>
                <a:spcPct val="120000"/>
              </a:lnSpc>
              <a:buSzPct val="85000"/>
              <a:buFont typeface="Wingdings" panose="05000000000000000000" pitchFamily="2" charset="2"/>
              <a:buChar char="n"/>
            </a:pPr>
            <a:r>
              <a:rPr lang="zh-CN" altLang="en-US" sz="2400" b="1" dirty="0"/>
              <a:t>一组具有相同数据类型的值的集合。</a:t>
            </a:r>
            <a:endParaRPr lang="en-US" altLang="zh-CN" sz="2400" b="1" dirty="0"/>
          </a:p>
          <a:p>
            <a:pPr lvl="1">
              <a:lnSpc>
                <a:spcPct val="120000"/>
              </a:lnSpc>
              <a:buSzPct val="85000"/>
              <a:buFont typeface="Wingdings" panose="05000000000000000000" pitchFamily="2" charset="2"/>
              <a:buChar char="n"/>
            </a:pPr>
            <a:r>
              <a:rPr lang="zh-CN" altLang="en-US" sz="2400" b="1" dirty="0"/>
              <a:t>用</a:t>
            </a:r>
            <a:r>
              <a:rPr lang="en-US" altLang="zh-CN" sz="2400" b="1" dirty="0"/>
              <a:t>CREATE DOMAIN</a:t>
            </a:r>
            <a:r>
              <a:rPr lang="zh-CN" altLang="en-US" sz="2400" b="1" dirty="0"/>
              <a:t>语句建立一个域以及域应满足的完整性约束</a:t>
            </a:r>
            <a:endParaRPr lang="en-US" altLang="zh-CN" sz="2400" b="1" dirty="0"/>
          </a:p>
          <a:p>
            <a:pPr lvl="1">
              <a:lnSpc>
                <a:spcPct val="120000"/>
              </a:lnSpc>
              <a:buSzPct val="85000"/>
              <a:buFont typeface="Wingdings" panose="05000000000000000000" pitchFamily="2" charset="2"/>
              <a:buChar char="n"/>
            </a:pPr>
            <a:r>
              <a:rPr lang="zh-CN" altLang="en-US" sz="2400" b="1" dirty="0"/>
              <a:t>用域来定义属性</a:t>
            </a:r>
            <a:endParaRPr lang="en-US" altLang="zh-CN" sz="2400" b="1" dirty="0"/>
          </a:p>
          <a:p>
            <a:pPr lvl="1">
              <a:lnSpc>
                <a:spcPct val="120000"/>
              </a:lnSpc>
              <a:buSzPct val="85000"/>
              <a:buFont typeface="Wingdings" panose="05000000000000000000" pitchFamily="2" charset="2"/>
              <a:buChar char="n"/>
            </a:pPr>
            <a:r>
              <a:rPr lang="zh-CN" altLang="en-US" sz="2400" b="1" dirty="0"/>
              <a:t>优点：不同属性可以来自同一个域，域上的完整性约束改变时只要改变域的定义即可。</a:t>
            </a:r>
            <a:endParaRPr lang="en-US" altLang="zh-CN" sz="2400" b="1" dirty="0"/>
          </a:p>
          <a:p>
            <a:pPr>
              <a:lnSpc>
                <a:spcPct val="120000"/>
              </a:lnSpc>
            </a:pPr>
            <a:r>
              <a:rPr lang="en-US" altLang="zh-CN" sz="2200" b="1" dirty="0"/>
              <a:t>[</a:t>
            </a:r>
            <a:r>
              <a:rPr lang="zh-CN" altLang="en-US" sz="2200" b="1" dirty="0" smtClean="0"/>
              <a:t>例</a:t>
            </a:r>
            <a:r>
              <a:rPr lang="en-US" altLang="zh-CN" sz="2200" b="1" dirty="0" smtClean="0"/>
              <a:t>5.14]</a:t>
            </a:r>
            <a:r>
              <a:rPr lang="zh-CN" altLang="en-US" sz="2200" b="1" dirty="0" smtClean="0"/>
              <a:t> </a:t>
            </a:r>
            <a:r>
              <a:rPr lang="zh-CN" altLang="en-US" sz="2200" b="1" dirty="0"/>
              <a:t>建立一个性别域，并声明性别域的取值范围</a:t>
            </a:r>
            <a:endParaRPr lang="en-US" altLang="zh-CN" sz="2200" b="1" dirty="0"/>
          </a:p>
          <a:p>
            <a:pPr>
              <a:lnSpc>
                <a:spcPct val="120000"/>
              </a:lnSpc>
            </a:pPr>
            <a:r>
              <a:rPr lang="en-US" altLang="zh-CN" sz="2200" b="1" dirty="0"/>
              <a:t>        CREATE DOMAIN </a:t>
            </a:r>
            <a:r>
              <a:rPr lang="en-US" altLang="zh-CN" sz="2200" b="1" dirty="0" err="1"/>
              <a:t>GenderDomain</a:t>
            </a:r>
            <a:r>
              <a:rPr lang="en-US" altLang="zh-CN" sz="2200" b="1" dirty="0"/>
              <a:t> CHAR(6)</a:t>
            </a:r>
            <a:endParaRPr lang="en-US" altLang="zh-CN" sz="2200" b="1" dirty="0"/>
          </a:p>
          <a:p>
            <a:pPr>
              <a:lnSpc>
                <a:spcPct val="120000"/>
              </a:lnSpc>
            </a:pPr>
            <a:r>
              <a:rPr lang="en-US" altLang="zh-CN" sz="2200" b="1" dirty="0"/>
              <a:t>     	CHECK (VALUE IN ('</a:t>
            </a:r>
            <a:r>
              <a:rPr lang="zh-CN" altLang="en-US" sz="2200" b="1" dirty="0"/>
              <a:t>男</a:t>
            </a:r>
            <a:r>
              <a:rPr lang="en-US" altLang="zh-CN" sz="2200" b="1" dirty="0"/>
              <a:t>'</a:t>
            </a:r>
            <a:r>
              <a:rPr lang="zh-CN" altLang="en-US" sz="2200" b="1" dirty="0"/>
              <a:t>，</a:t>
            </a:r>
            <a:r>
              <a:rPr lang="en-US" altLang="zh-CN" sz="2200" b="1" dirty="0"/>
              <a:t>'</a:t>
            </a:r>
            <a:r>
              <a:rPr lang="zh-CN" altLang="en-US" sz="2200" b="1" dirty="0"/>
              <a:t>女</a:t>
            </a:r>
            <a:r>
              <a:rPr lang="en-US" altLang="zh-CN" sz="2200" b="1" dirty="0"/>
              <a:t>') );</a:t>
            </a:r>
            <a:endParaRPr lang="en-US" altLang="zh-CN" sz="2200" b="1" dirty="0"/>
          </a:p>
          <a:p>
            <a:pPr lvl="1">
              <a:lnSpc>
                <a:spcPct val="120000"/>
              </a:lnSpc>
            </a:pPr>
            <a:r>
              <a:rPr lang="zh-CN" altLang="en-US" sz="2200" b="1" dirty="0"/>
              <a:t>  这样例</a:t>
            </a:r>
            <a:r>
              <a:rPr lang="en-US" altLang="zh-CN" sz="2200" b="1" dirty="0"/>
              <a:t>5.10</a:t>
            </a:r>
            <a:r>
              <a:rPr lang="zh-CN" altLang="en-US" sz="2200" b="1" dirty="0"/>
              <a:t>中对</a:t>
            </a:r>
            <a:r>
              <a:rPr lang="en-US" altLang="zh-CN" sz="2200" b="1" dirty="0" err="1"/>
              <a:t>Ssex</a:t>
            </a:r>
            <a:r>
              <a:rPr lang="zh-CN" altLang="en-US" sz="2200" b="1" dirty="0"/>
              <a:t>的说明可以改写为：</a:t>
            </a:r>
            <a:endParaRPr lang="zh-CN" altLang="en-US" sz="2200" b="1" dirty="0"/>
          </a:p>
          <a:p>
            <a:pPr lvl="1">
              <a:lnSpc>
                <a:spcPct val="120000"/>
              </a:lnSpc>
            </a:pPr>
            <a:r>
              <a:rPr lang="en-US" altLang="zh-CN" sz="2200" b="1" dirty="0"/>
              <a:t>  </a:t>
            </a:r>
            <a:r>
              <a:rPr lang="en-US" altLang="zh-CN" sz="2200" b="1" dirty="0" err="1" smtClean="0"/>
              <a:t>Ssex</a:t>
            </a:r>
            <a:r>
              <a:rPr lang="en-US" altLang="zh-CN" sz="2200" b="1" dirty="0" smtClean="0"/>
              <a:t> </a:t>
            </a:r>
            <a:r>
              <a:rPr lang="en-US" altLang="zh-CN" sz="2200" b="1" dirty="0" err="1"/>
              <a:t>GenderDomain</a:t>
            </a:r>
            <a:endParaRPr lang="en-US" altLang="zh-CN" sz="2200" dirty="0"/>
          </a:p>
          <a:p>
            <a:endParaRPr lang="en-US" altLang="zh-CN" sz="2000" dirty="0"/>
          </a:p>
          <a:p>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a:solidFill>
                  <a:schemeClr val="bg1"/>
                </a:solidFill>
              </a:rPr>
              <a:t>域中的完整性限制（续）</a:t>
            </a:r>
            <a:endParaRPr lang="zh-CN" altLang="zh-CN" sz="3600">
              <a:solidFill>
                <a:schemeClr val="bg1"/>
              </a:solidFill>
            </a:endParaRPr>
          </a:p>
        </p:txBody>
      </p:sp>
      <p:sp>
        <p:nvSpPr>
          <p:cNvPr id="3" name="文本框 2"/>
          <p:cNvSpPr txBox="1"/>
          <p:nvPr/>
        </p:nvSpPr>
        <p:spPr>
          <a:xfrm>
            <a:off x="1127448" y="1098550"/>
            <a:ext cx="10225136" cy="4247317"/>
          </a:xfrm>
          <a:prstGeom prst="rect">
            <a:avLst/>
          </a:prstGeom>
          <a:noFill/>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a:t>
            </a:r>
            <a:r>
              <a:rPr lang="zh-CN" altLang="zh-CN" sz="2400" b="1" dirty="0" smtClean="0">
                <a:cs typeface="Times New Roman" panose="02020603050405020304" pitchFamily="18" charset="0"/>
              </a:rPr>
              <a:t>例</a:t>
            </a:r>
            <a:r>
              <a:rPr lang="en-US" altLang="zh-CN" sz="2400" b="1" dirty="0" smtClean="0">
                <a:cs typeface="Times New Roman" panose="02020603050405020304" pitchFamily="18" charset="0"/>
              </a:rPr>
              <a:t>5.15]</a:t>
            </a:r>
            <a:r>
              <a:rPr lang="zh-CN" altLang="zh-CN" sz="2400" b="1" dirty="0" smtClean="0">
                <a:cs typeface="Times New Roman" panose="02020603050405020304" pitchFamily="18" charset="0"/>
              </a:rPr>
              <a:t>建立</a:t>
            </a:r>
            <a:r>
              <a:rPr lang="zh-CN" altLang="zh-CN" sz="2400" b="1" dirty="0">
                <a:cs typeface="Times New Roman" panose="02020603050405020304" pitchFamily="18" charset="0"/>
              </a:rPr>
              <a:t>一个性别域</a:t>
            </a:r>
            <a:r>
              <a:rPr lang="en-US" altLang="zh-CN" sz="2400" b="1" dirty="0" err="1">
                <a:cs typeface="Times New Roman" panose="02020603050405020304" pitchFamily="18" charset="0"/>
              </a:rPr>
              <a:t>GenderDomain</a:t>
            </a:r>
            <a:r>
              <a:rPr lang="zh-CN" altLang="zh-CN" sz="2400" b="1" dirty="0">
                <a:cs typeface="Times New Roman" panose="02020603050405020304" pitchFamily="18" charset="0"/>
              </a:rPr>
              <a:t>，并对其中的限制</a:t>
            </a:r>
            <a:r>
              <a:rPr lang="zh-CN" altLang="zh-CN" sz="2400" b="1" dirty="0" smtClean="0">
                <a:cs typeface="Times New Roman" panose="02020603050405020304" pitchFamily="18" charset="0"/>
              </a:rPr>
              <a:t>命名</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CREATE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CHAR(6)</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CONSTRAINT GD CHECK ( VALUE IN ('</a:t>
            </a:r>
            <a:r>
              <a:rPr lang="zh-CN" altLang="zh-CN" sz="2400" b="1" dirty="0">
                <a:cs typeface="Times New Roman" panose="02020603050405020304" pitchFamily="18" charset="0"/>
              </a:rPr>
              <a:t>男</a:t>
            </a:r>
            <a:r>
              <a:rPr lang="en-US" altLang="zh-CN" sz="2400" b="1" dirty="0">
                <a:cs typeface="Times New Roman" panose="02020603050405020304" pitchFamily="18" charset="0"/>
              </a:rPr>
              <a:t>'</a:t>
            </a:r>
            <a:r>
              <a:rPr lang="zh-CN" altLang="zh-CN" sz="2400" b="1" dirty="0">
                <a:cs typeface="Times New Roman" panose="02020603050405020304" pitchFamily="18" charset="0"/>
              </a:rPr>
              <a:t>，</a:t>
            </a:r>
            <a:r>
              <a:rPr lang="en-US" altLang="zh-CN" sz="2400" b="1" dirty="0">
                <a:cs typeface="Times New Roman" panose="02020603050405020304" pitchFamily="18" charset="0"/>
              </a:rPr>
              <a:t>'</a:t>
            </a:r>
            <a:r>
              <a:rPr lang="zh-CN" altLang="zh-CN" sz="2400" b="1" dirty="0">
                <a:cs typeface="Times New Roman" panose="02020603050405020304" pitchFamily="18" charset="0"/>
              </a:rPr>
              <a:t>女</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nSpc>
                <a:spcPct val="150000"/>
              </a:lnSpc>
            </a:pPr>
            <a:endParaRPr lang="en-US" altLang="zh-CN" sz="2400" dirty="0"/>
          </a:p>
          <a:p>
            <a:pPr algn="just">
              <a:lnSpc>
                <a:spcPct val="150000"/>
              </a:lnSpc>
            </a:pPr>
            <a:r>
              <a:rPr lang="en-US" altLang="zh-CN" sz="2400" b="1" dirty="0">
                <a:cs typeface="Times New Roman" panose="02020603050405020304" pitchFamily="18" charset="0"/>
              </a:rPr>
              <a:t>[</a:t>
            </a:r>
            <a:r>
              <a:rPr lang="zh-CN" altLang="zh-CN" sz="2400" b="1" dirty="0" smtClean="0">
                <a:cs typeface="Times New Roman" panose="02020603050405020304" pitchFamily="18" charset="0"/>
              </a:rPr>
              <a:t>例</a:t>
            </a:r>
            <a:r>
              <a:rPr lang="en-US" altLang="zh-CN" sz="2400" b="1" dirty="0" smtClean="0">
                <a:cs typeface="Times New Roman" panose="02020603050405020304" pitchFamily="18" charset="0"/>
              </a:rPr>
              <a:t>5.16]</a:t>
            </a:r>
            <a:r>
              <a:rPr lang="zh-CN" altLang="zh-CN" sz="2400" b="1" dirty="0" smtClean="0">
                <a:cs typeface="Times New Roman" panose="02020603050405020304" pitchFamily="18" charset="0"/>
              </a:rPr>
              <a:t> </a:t>
            </a:r>
            <a:r>
              <a:rPr lang="zh-CN" altLang="zh-CN" sz="2400" b="1" dirty="0">
                <a:cs typeface="Times New Roman" panose="02020603050405020304" pitchFamily="18" charset="0"/>
              </a:rPr>
              <a:t>删除域</a:t>
            </a:r>
            <a:r>
              <a:rPr lang="en-US" altLang="zh-CN" sz="2400" b="1" dirty="0" err="1" smtClean="0">
                <a:cs typeface="Times New Roman" panose="02020603050405020304" pitchFamily="18" charset="0"/>
              </a:rPr>
              <a:t>GenderDomain</a:t>
            </a:r>
            <a:r>
              <a:rPr lang="zh-CN" altLang="zh-CN" sz="2400" b="1" dirty="0">
                <a:cs typeface="Times New Roman" panose="02020603050405020304" pitchFamily="18" charset="0"/>
              </a:rPr>
              <a:t>的限制条件</a:t>
            </a:r>
            <a:r>
              <a:rPr lang="en-US" altLang="zh-CN" sz="2400" b="1" dirty="0">
                <a:cs typeface="Times New Roman" panose="02020603050405020304" pitchFamily="18" charset="0"/>
              </a:rPr>
              <a:t>GD</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ALTER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DROP CONSTRAINT GD;</a:t>
            </a:r>
            <a:endParaRPr lang="zh-CN" altLang="zh-CN" sz="2400" b="1" dirty="0">
              <a:cs typeface="Times New Roman" panose="02020603050405020304" pitchFamily="18" charset="0"/>
            </a:endParaRPr>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a:solidFill>
                  <a:schemeClr val="bg1"/>
                </a:solidFill>
              </a:rPr>
              <a:t>域中的完整性限制（续）</a:t>
            </a:r>
            <a:endParaRPr lang="zh-CN" altLang="zh-CN" sz="3600">
              <a:solidFill>
                <a:schemeClr val="bg1"/>
              </a:solidFill>
            </a:endParaRPr>
          </a:p>
        </p:txBody>
      </p:sp>
      <p:sp>
        <p:nvSpPr>
          <p:cNvPr id="3" name="文本框 2"/>
          <p:cNvSpPr txBox="1"/>
          <p:nvPr/>
        </p:nvSpPr>
        <p:spPr>
          <a:xfrm>
            <a:off x="983432" y="1136813"/>
            <a:ext cx="9361488" cy="2862263"/>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a:t>
            </a:r>
            <a:r>
              <a:rPr lang="zh-CN" altLang="zh-CN" sz="2400" b="1" dirty="0" smtClean="0">
                <a:cs typeface="Times New Roman" panose="02020603050405020304" pitchFamily="18" charset="0"/>
              </a:rPr>
              <a:t>例</a:t>
            </a:r>
            <a:r>
              <a:rPr lang="en-US" altLang="zh-CN" sz="2400" b="1" dirty="0" smtClean="0">
                <a:cs typeface="Times New Roman" panose="02020603050405020304" pitchFamily="18" charset="0"/>
              </a:rPr>
              <a:t>5.17]</a:t>
            </a:r>
            <a:r>
              <a:rPr lang="zh-CN" altLang="zh-CN" sz="2400" b="1" dirty="0" smtClean="0">
                <a:cs typeface="Times New Roman" panose="02020603050405020304" pitchFamily="18" charset="0"/>
              </a:rPr>
              <a:t>在</a:t>
            </a:r>
            <a:r>
              <a:rPr lang="zh-CN" altLang="zh-CN" sz="2400" b="1" dirty="0">
                <a:cs typeface="Times New Roman" panose="02020603050405020304" pitchFamily="18" charset="0"/>
              </a:rPr>
              <a:t>域</a:t>
            </a:r>
            <a:r>
              <a:rPr lang="en-US" altLang="zh-CN" sz="2400" b="1" dirty="0" err="1">
                <a:cs typeface="Times New Roman" panose="02020603050405020304" pitchFamily="18" charset="0"/>
              </a:rPr>
              <a:t>GenderDomain</a:t>
            </a:r>
            <a:r>
              <a:rPr lang="zh-CN" altLang="zh-CN" sz="2400" b="1" dirty="0">
                <a:cs typeface="Times New Roman" panose="02020603050405020304" pitchFamily="18" charset="0"/>
              </a:rPr>
              <a:t>上增加性别的限制条件</a:t>
            </a:r>
            <a:r>
              <a:rPr lang="en-US" altLang="zh-CN" sz="2400" b="1" dirty="0">
                <a:cs typeface="Times New Roman" panose="02020603050405020304" pitchFamily="18" charset="0"/>
              </a:rPr>
              <a:t>GDD</a:t>
            </a:r>
            <a:endParaRPr lang="en-US" altLang="zh-CN" sz="2400" b="1" dirty="0">
              <a:cs typeface="Times New Roman" panose="02020603050405020304" pitchFamily="18" charset="0"/>
            </a:endParaRPr>
          </a:p>
          <a:p>
            <a:pPr algn="just">
              <a:lnSpc>
                <a:spcPct val="150000"/>
              </a:lnSpc>
            </a:pP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ALTER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ADD CONSTRAINT GDD CHECK (VALUE IN ( '1'</a:t>
            </a:r>
            <a:r>
              <a:rPr lang="zh-CN" altLang="zh-CN" sz="2400" b="1" dirty="0">
                <a:cs typeface="Times New Roman" panose="02020603050405020304" pitchFamily="18" charset="0"/>
              </a:rPr>
              <a:t>，</a:t>
            </a:r>
            <a:r>
              <a:rPr lang="en-US" altLang="zh-CN" sz="2400" b="1" dirty="0">
                <a:cs typeface="Times New Roman" panose="02020603050405020304" pitchFamily="18" charset="0"/>
              </a:rPr>
              <a:t>'0') ); </a:t>
            </a:r>
            <a:endParaRPr lang="en-US" altLang="zh-CN" sz="2400" b="1" dirty="0">
              <a:cs typeface="Times New Roman" panose="02020603050405020304" pitchFamily="18" charset="0"/>
            </a:endParaRPr>
          </a:p>
          <a:p>
            <a:pPr algn="just"/>
            <a:endParaRPr lang="zh-CN" altLang="zh-CN" b="1" dirty="0">
              <a:latin typeface="Calibri" panose="020F0502020204030204" pitchFamily="34" charset="0"/>
              <a:cs typeface="Times New Roman" panose="02020603050405020304" pitchFamily="18" charset="0"/>
            </a:endParaRPr>
          </a:p>
          <a:p>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a:solidFill>
                  <a:schemeClr val="bg1"/>
                </a:solidFill>
              </a:rPr>
              <a:t>域中的完整性限制（续）</a:t>
            </a:r>
            <a:endParaRPr lang="zh-CN" altLang="zh-CN" sz="3600">
              <a:solidFill>
                <a:schemeClr val="bg1"/>
              </a:solidFill>
            </a:endParaRPr>
          </a:p>
        </p:txBody>
      </p:sp>
      <p:sp>
        <p:nvSpPr>
          <p:cNvPr id="3" name="文本框 2"/>
          <p:cNvSpPr txBox="1"/>
          <p:nvPr/>
        </p:nvSpPr>
        <p:spPr>
          <a:xfrm>
            <a:off x="695400" y="1340768"/>
            <a:ext cx="10729192" cy="3231654"/>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100000"/>
              <a:buFont typeface="Wingdings" panose="05000000000000000000" pitchFamily="2" charset="2"/>
              <a:buChar char="v"/>
            </a:pPr>
            <a:r>
              <a:rPr lang="en-US" altLang="zh-CN" sz="2800" b="1" dirty="0"/>
              <a:t>SQL</a:t>
            </a:r>
            <a:r>
              <a:rPr lang="zh-CN" altLang="zh-CN" sz="2800" b="1" dirty="0"/>
              <a:t>标准支持数据库完整性断言（</a:t>
            </a:r>
            <a:r>
              <a:rPr lang="en-US" altLang="zh-CN" sz="2800" b="1" dirty="0"/>
              <a:t>ASSERTION</a:t>
            </a:r>
            <a:r>
              <a:rPr lang="zh-CN" altLang="zh-CN" sz="2800" b="1" dirty="0"/>
              <a:t>）功能</a:t>
            </a:r>
            <a:endParaRPr lang="en-US" altLang="zh-CN" sz="2800" b="1" dirty="0"/>
          </a:p>
          <a:p>
            <a:pPr eaLnBrk="1" hangingPunct="1">
              <a:lnSpc>
                <a:spcPct val="150000"/>
              </a:lnSpc>
              <a:buSzPct val="100000"/>
              <a:buFont typeface="Wingdings" panose="05000000000000000000" pitchFamily="2" charset="2"/>
              <a:buChar char="v"/>
            </a:pPr>
            <a:r>
              <a:rPr lang="zh-CN" altLang="zh-CN" sz="2800" b="1" dirty="0"/>
              <a:t>可以使用</a:t>
            </a:r>
            <a:r>
              <a:rPr lang="en-US" altLang="zh-CN" sz="2800" b="1" dirty="0"/>
              <a:t>DDL</a:t>
            </a:r>
            <a:r>
              <a:rPr lang="zh-CN" altLang="zh-CN" sz="2800" b="1" dirty="0"/>
              <a:t>中的</a:t>
            </a:r>
            <a:r>
              <a:rPr lang="en-US" altLang="zh-CN" sz="2800" b="1" dirty="0"/>
              <a:t>CREATE ASSERTION </a:t>
            </a:r>
            <a:r>
              <a:rPr lang="zh-CN" altLang="zh-CN" sz="2800" b="1" dirty="0"/>
              <a:t>语句，通过声明性断言（</a:t>
            </a:r>
            <a:r>
              <a:rPr lang="en-US" altLang="zh-CN" sz="2800" b="1" dirty="0"/>
              <a:t>declarative assertions</a:t>
            </a:r>
            <a:r>
              <a:rPr lang="zh-CN" altLang="zh-CN" sz="2800" b="1" dirty="0"/>
              <a:t>）来指定更具一般性的完整性约束</a:t>
            </a:r>
            <a:endParaRPr lang="en-US" altLang="zh-CN" sz="2800" b="1" dirty="0"/>
          </a:p>
          <a:p>
            <a:pPr eaLnBrk="1" hangingPunct="1">
              <a:lnSpc>
                <a:spcPct val="150000"/>
              </a:lnSpc>
              <a:buSzPct val="100000"/>
              <a:buFont typeface="Wingdings" panose="05000000000000000000" pitchFamily="2" charset="2"/>
              <a:buChar char="v"/>
            </a:pPr>
            <a:r>
              <a:rPr lang="zh-CN" altLang="zh-CN" sz="2800" b="1" dirty="0"/>
              <a:t>可以定义涉及多个表或聚集操作的比较复杂的完整性约束</a:t>
            </a:r>
            <a:endParaRPr lang="zh-CN" altLang="zh-CN" sz="2800" b="1" dirty="0"/>
          </a:p>
          <a:p>
            <a:pPr algn="just"/>
            <a:endParaRPr lang="zh-CN" altLang="zh-CN" b="1" dirty="0">
              <a:latin typeface="Calibri" panose="020F0502020204030204" pitchFamily="34" charset="0"/>
              <a:cs typeface="Times New Roman" panose="02020603050405020304" pitchFamily="18" charset="0"/>
            </a:endParaRPr>
          </a:p>
          <a:p>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19736" y="1556792"/>
            <a:ext cx="4815840" cy="976486"/>
          </a:xfrm>
          <a:prstGeom prst="rect">
            <a:avLst/>
          </a:prstGeom>
          <a:noFill/>
        </p:spPr>
        <p:txBody>
          <a:bodyPr>
            <a:spAutoFit/>
          </a:bodyPr>
          <a:lstStyle/>
          <a:p>
            <a:pPr algn="ctr" eaLnBrk="1" hangingPunct="1">
              <a:lnSpc>
                <a:spcPct val="150000"/>
              </a:lnSpc>
              <a:spcBef>
                <a:spcPct val="20000"/>
              </a:spcBef>
              <a:defRPr/>
            </a:pPr>
            <a:r>
              <a:rPr lang="en-US" altLang="zh-CN" sz="4400" b="1" kern="0" dirty="0">
                <a:highlight>
                  <a:srgbClr val="FFFF00"/>
                </a:highlight>
                <a:latin typeface="+mn-lt"/>
                <a:ea typeface="+mn-ea"/>
              </a:rPr>
              <a:t>SQL</a:t>
            </a:r>
            <a:r>
              <a:rPr lang="zh-CN" altLang="en-US" sz="4400" b="1" kern="0" dirty="0">
                <a:highlight>
                  <a:srgbClr val="FFFF00"/>
                </a:highlight>
                <a:latin typeface="+mn-lt"/>
                <a:ea typeface="+mn-ea"/>
              </a:rPr>
              <a:t>断言</a:t>
            </a:r>
            <a:endParaRPr lang="zh-CN" altLang="en-US" sz="4400" b="1" kern="0" dirty="0">
              <a:highlight>
                <a:srgbClr val="FFFF00"/>
              </a:highlight>
              <a:latin typeface="+mn-lt"/>
              <a:ea typeface="+mn-ea"/>
            </a:endParaRPr>
          </a:p>
        </p:txBody>
      </p:sp>
      <p:sp>
        <p:nvSpPr>
          <p:cNvPr id="9" name="文本框 8"/>
          <p:cNvSpPr txBox="1"/>
          <p:nvPr/>
        </p:nvSpPr>
        <p:spPr>
          <a:xfrm>
            <a:off x="3432175" y="115888"/>
            <a:ext cx="4814888" cy="647700"/>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b="1">
                <a:solidFill>
                  <a:schemeClr val="bg1"/>
                </a:solidFill>
                <a:latin typeface="宋体" panose="02010600030101010101" pitchFamily="2" charset="-122"/>
              </a:rPr>
              <a:t>扩展阅读二维码</a:t>
            </a:r>
            <a:r>
              <a:rPr lang="en-US" altLang="zh-CN" sz="3600" b="1">
                <a:solidFill>
                  <a:schemeClr val="bg1"/>
                </a:solidFill>
                <a:latin typeface="宋体" panose="02010600030101010101" pitchFamily="2" charset="-122"/>
              </a:rPr>
              <a:t> </a:t>
            </a:r>
            <a:endParaRPr lang="zh-CN" altLang="en-US" sz="3600" b="1">
              <a:solidFill>
                <a:schemeClr val="bg1"/>
              </a:solidFill>
              <a:latin typeface="宋体" panose="02010600030101010101" pitchFamily="2" charset="-122"/>
            </a:endParaRPr>
          </a:p>
        </p:txBody>
      </p:sp>
      <p:sp>
        <p:nvSpPr>
          <p:cNvPr id="2" name="文本框 1"/>
          <p:cNvSpPr txBox="1"/>
          <p:nvPr/>
        </p:nvSpPr>
        <p:spPr>
          <a:xfrm>
            <a:off x="982980" y="3011170"/>
            <a:ext cx="10482580" cy="1783080"/>
          </a:xfrm>
          <a:prstGeom prst="rect">
            <a:avLst/>
          </a:prstGeom>
          <a:noFill/>
        </p:spPr>
        <p:txBody>
          <a:bodyPr wrap="square" rtlCol="0" anchor="t">
            <a:noAutofit/>
          </a:bodyPr>
          <a:p>
            <a:r>
              <a:rPr lang="en-US" altLang="zh-CN" sz="2800"/>
              <a:t>SQL</a:t>
            </a:r>
            <a:r>
              <a:rPr lang="zh-CN" altLang="en-US" sz="2800"/>
              <a:t> 标准支持数据库完整性断言（</a:t>
            </a:r>
            <a:r>
              <a:rPr lang="en-US" altLang="zh-CN" sz="2800"/>
              <a:t>ASSERTION</a:t>
            </a:r>
            <a:r>
              <a:rPr lang="zh-CN" altLang="en-US" sz="2800"/>
              <a:t>）功能。 用户可以使用 </a:t>
            </a:r>
            <a:r>
              <a:rPr lang="en-US" altLang="zh-CN" sz="2800"/>
              <a:t>DDL</a:t>
            </a:r>
            <a:r>
              <a:rPr lang="zh-CN" altLang="en-US" sz="2800"/>
              <a:t> 中的 </a:t>
            </a:r>
            <a:r>
              <a:rPr lang="en-US" altLang="zh-CN" sz="2800"/>
              <a:t>CREATE ASSERTION</a:t>
            </a:r>
            <a:r>
              <a:rPr lang="zh-CN" altLang="en-US" sz="2800"/>
              <a:t>语句， 通过声明性断言（ </a:t>
            </a:r>
            <a:r>
              <a:rPr lang="en-US" altLang="zh-CN" sz="2800"/>
              <a:t>declarative assertion</a:t>
            </a:r>
            <a:r>
              <a:rPr lang="zh-CN" altLang="en-US" sz="2800"/>
              <a:t>）来指定更具一般性的完整性约束， 可以定义涉及多个表或聚集操作的比较复杂的完整性约束。</a:t>
            </a:r>
            <a:endParaRPr lang="zh-CN" altLang="en-US" sz="28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0419" name="Rectangle 2"/>
          <p:cNvSpPr>
            <a:spLocks noGrp="1" noChangeArrowheads="1"/>
          </p:cNvSpPr>
          <p:nvPr>
            <p:ph type="title" idx="4294967295"/>
          </p:nvPr>
        </p:nvSpPr>
        <p:spPr/>
        <p:txBody>
          <a:bodyPr/>
          <a:lstStyle/>
          <a:p>
            <a:pPr eaLnBrk="1" hangingPunct="1"/>
            <a:r>
              <a:rPr lang="zh-CN" altLang="zh-CN" sz="3600"/>
              <a:t>第五章 数据库完整性</a:t>
            </a:r>
            <a:endParaRPr lang="zh-CN" altLang="zh-CN" sz="3600"/>
          </a:p>
        </p:txBody>
      </p:sp>
      <p:sp>
        <p:nvSpPr>
          <p:cNvPr id="60420" name="Rectangle 3"/>
          <p:cNvSpPr>
            <a:spLocks noGrp="1" noChangeArrowheads="1"/>
          </p:cNvSpPr>
          <p:nvPr>
            <p:ph type="body" idx="4294967295"/>
          </p:nvPr>
        </p:nvSpPr>
        <p:spPr>
          <a:xfrm>
            <a:off x="1518445" y="1075532"/>
            <a:ext cx="7859712" cy="5329237"/>
          </a:xfrm>
        </p:spPr>
        <p:txBody>
          <a:bodyPr/>
          <a:lstStyle/>
          <a:p>
            <a:pPr eaLnBrk="1" hangingPunct="1">
              <a:lnSpc>
                <a:spcPct val="130000"/>
              </a:lnSpc>
              <a:buFont typeface="Wingdings" panose="05000000000000000000"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anose="05000000000000000000" pitchFamily="2" charset="2"/>
              <a:buNone/>
            </a:pPr>
            <a:r>
              <a:rPr lang="en-US" altLang="zh-CN" dirty="0"/>
              <a:t>5.2 </a:t>
            </a:r>
            <a:r>
              <a:rPr lang="zh-CN" altLang="en-US" dirty="0"/>
              <a:t>实体完整性</a:t>
            </a:r>
            <a:endParaRPr lang="zh-CN" altLang="en-US" dirty="0"/>
          </a:p>
          <a:p>
            <a:pPr eaLnBrk="1" hangingPunct="1">
              <a:lnSpc>
                <a:spcPct val="130000"/>
              </a:lnSpc>
              <a:buFont typeface="Wingdings" panose="05000000000000000000" pitchFamily="2" charset="2"/>
              <a:buNone/>
            </a:pPr>
            <a:r>
              <a:rPr lang="en-US" altLang="zh-CN" dirty="0"/>
              <a:t>5.3 </a:t>
            </a:r>
            <a:r>
              <a:rPr lang="zh-CN" altLang="en-US" dirty="0"/>
              <a:t>参照完整性</a:t>
            </a:r>
            <a:endParaRPr lang="zh-CN" altLang="en-US" dirty="0"/>
          </a:p>
          <a:p>
            <a:pPr eaLnBrk="1" hangingPunct="1">
              <a:lnSpc>
                <a:spcPct val="130000"/>
              </a:lnSpc>
              <a:buFont typeface="Wingdings" panose="05000000000000000000" pitchFamily="2" charset="2"/>
              <a:buNone/>
            </a:pPr>
            <a:r>
              <a:rPr lang="en-US" altLang="zh-CN" dirty="0"/>
              <a:t>5.4 </a:t>
            </a:r>
            <a:r>
              <a:rPr lang="zh-CN" altLang="en-US" dirty="0"/>
              <a:t>用户定义的完整性</a:t>
            </a:r>
            <a:endParaRPr lang="zh-CN" altLang="en-US" dirty="0"/>
          </a:p>
          <a:p>
            <a:pPr eaLnBrk="1" hangingPunct="1">
              <a:lnSpc>
                <a:spcPct val="130000"/>
              </a:lnSpc>
              <a:buFont typeface="Wingdings" panose="05000000000000000000" pitchFamily="2" charset="2"/>
              <a:buNone/>
            </a:pPr>
            <a:r>
              <a:rPr lang="en-US" altLang="zh-CN" dirty="0"/>
              <a:t>5.5 </a:t>
            </a:r>
            <a:r>
              <a:rPr lang="zh-CN" altLang="en-US" dirty="0"/>
              <a:t>完整性约束命名子句</a:t>
            </a:r>
            <a:endParaRPr lang="zh-CN" altLang="en-US" dirty="0"/>
          </a:p>
          <a:p>
            <a:pPr eaLnBrk="1" hangingPunct="1">
              <a:lnSpc>
                <a:spcPct val="130000"/>
              </a:lnSpc>
              <a:buFont typeface="Wingdings" panose="05000000000000000000" pitchFamily="2" charset="2"/>
              <a:buNone/>
            </a:pPr>
            <a:r>
              <a:rPr lang="zh-CN" altLang="en-US" dirty="0"/>
              <a:t>*</a:t>
            </a:r>
            <a:r>
              <a:rPr lang="en-US" altLang="zh-CN" dirty="0"/>
              <a:t>5.6 </a:t>
            </a:r>
            <a:r>
              <a:rPr lang="zh-CN" altLang="en-US" dirty="0"/>
              <a:t>域中的完整性限制</a:t>
            </a:r>
            <a:endParaRPr lang="en-US" altLang="zh-CN" dirty="0"/>
          </a:p>
          <a:p>
            <a:pPr eaLnBrk="1" hangingPunct="1">
              <a:lnSpc>
                <a:spcPct val="130000"/>
              </a:lnSpc>
              <a:buFont typeface="Wingdings" panose="05000000000000000000" pitchFamily="2" charset="2"/>
              <a:buNone/>
            </a:pPr>
            <a:r>
              <a:rPr lang="en-US" altLang="zh-CN" dirty="0">
                <a:solidFill>
                  <a:srgbClr val="0066FF"/>
                </a:solidFill>
              </a:rPr>
              <a:t>5.7 </a:t>
            </a:r>
            <a:r>
              <a:rPr lang="zh-CN" altLang="en-US" dirty="0">
                <a:solidFill>
                  <a:srgbClr val="0066FF"/>
                </a:solidFill>
              </a:rPr>
              <a:t>触发器</a:t>
            </a:r>
            <a:endParaRPr lang="en-US" altLang="zh-CN" dirty="0">
              <a:solidFill>
                <a:srgbClr val="0066FF"/>
              </a:solidFill>
            </a:endParaRPr>
          </a:p>
          <a:p>
            <a:pPr eaLnBrk="1" hangingPunct="1">
              <a:lnSpc>
                <a:spcPct val="130000"/>
              </a:lnSpc>
              <a:buFont typeface="Wingdings" panose="05000000000000000000" pitchFamily="2" charset="2"/>
              <a:buNone/>
            </a:pPr>
            <a:r>
              <a:rPr lang="en-US" altLang="zh-CN" dirty="0"/>
              <a:t>5.8 </a:t>
            </a:r>
            <a:r>
              <a:rPr lang="zh-CN" altLang="en-US" dirty="0"/>
              <a:t>小结</a:t>
            </a:r>
            <a:endParaRPr lang="zh-CN" altLang="en-US" dirty="0"/>
          </a:p>
          <a:p>
            <a:pPr eaLnBrk="1" hangingPunct="1"/>
            <a:endParaRPr lang="en-US"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1443" name="Rectangle 2"/>
          <p:cNvSpPr>
            <a:spLocks noGrp="1" noChangeArrowheads="1"/>
          </p:cNvSpPr>
          <p:nvPr>
            <p:ph type="title" idx="4294967295"/>
          </p:nvPr>
        </p:nvSpPr>
        <p:spPr/>
        <p:txBody>
          <a:bodyPr/>
          <a:lstStyle/>
          <a:p>
            <a:pPr eaLnBrk="1" hangingPunct="1"/>
            <a:r>
              <a:rPr lang="zh-CN" altLang="zh-CN" sz="3600"/>
              <a:t>触发器</a:t>
            </a:r>
            <a:endParaRPr lang="zh-CN" altLang="zh-CN" sz="3600"/>
          </a:p>
        </p:txBody>
      </p:sp>
      <p:sp>
        <p:nvSpPr>
          <p:cNvPr id="61444" name="Rectangle 3"/>
          <p:cNvSpPr>
            <a:spLocks noGrp="1" noChangeArrowheads="1"/>
          </p:cNvSpPr>
          <p:nvPr>
            <p:ph type="body" idx="4294967295"/>
          </p:nvPr>
        </p:nvSpPr>
        <p:spPr>
          <a:xfrm>
            <a:off x="695400" y="1109282"/>
            <a:ext cx="10801200" cy="4652804"/>
          </a:xfrm>
        </p:spPr>
        <p:txBody>
          <a:bodyPr/>
          <a:lstStyle/>
          <a:p>
            <a:pPr eaLnBrk="1" hangingPunct="1">
              <a:lnSpc>
                <a:spcPct val="130000"/>
              </a:lnSpc>
            </a:pPr>
            <a:r>
              <a:rPr lang="zh-CN" altLang="en-US" dirty="0"/>
              <a:t>触发器（</a:t>
            </a:r>
            <a:r>
              <a:rPr lang="en-US" altLang="zh-CN" dirty="0"/>
              <a:t>trigger</a:t>
            </a:r>
            <a:r>
              <a:rPr lang="zh-CN" altLang="en-US" dirty="0"/>
              <a:t>）是用户定义在关系表上的一类由</a:t>
            </a:r>
            <a:r>
              <a:rPr lang="zh-CN" altLang="en-US" dirty="0">
                <a:solidFill>
                  <a:srgbClr val="FF00FF"/>
                </a:solidFill>
              </a:rPr>
              <a:t>事件驱动</a:t>
            </a:r>
            <a:r>
              <a:rPr lang="zh-CN" altLang="en-US" dirty="0"/>
              <a:t>的特殊过程</a:t>
            </a:r>
            <a:endParaRPr lang="zh-CN" altLang="en-US" dirty="0"/>
          </a:p>
          <a:p>
            <a:pPr lvl="1" eaLnBrk="1" hangingPunct="1">
              <a:lnSpc>
                <a:spcPct val="120000"/>
              </a:lnSpc>
            </a:pPr>
            <a:r>
              <a:rPr lang="zh-CN" altLang="en-US" dirty="0"/>
              <a:t>触发器可以实施更为复杂的检查和操作，具有更精细和更强大的数据控制能力 </a:t>
            </a:r>
            <a:endParaRPr lang="zh-CN" altLang="en-US" dirty="0"/>
          </a:p>
          <a:p>
            <a:pPr lvl="1" eaLnBrk="1" hangingPunct="1">
              <a:lnSpc>
                <a:spcPct val="120000"/>
              </a:lnSpc>
            </a:pPr>
            <a:r>
              <a:rPr lang="zh-CN" altLang="en-US" dirty="0"/>
              <a:t>触发器保存在数据库服务器中</a:t>
            </a:r>
            <a:endParaRPr lang="en-US" altLang="zh-CN" dirty="0"/>
          </a:p>
          <a:p>
            <a:pPr lvl="1" eaLnBrk="1" hangingPunct="1">
              <a:lnSpc>
                <a:spcPct val="120000"/>
              </a:lnSpc>
            </a:pPr>
            <a:r>
              <a:rPr lang="zh-CN" altLang="en-US" dirty="0"/>
              <a:t>任何用户对表的增、删、改操作均由服务器自动激活相应的触发器，</a:t>
            </a:r>
            <a:r>
              <a:rPr lang="zh-CN" altLang="zh-CN" dirty="0"/>
              <a:t>在</a:t>
            </a:r>
            <a:r>
              <a:rPr lang="en-US" altLang="zh-CN" dirty="0"/>
              <a:t>RDBMS</a:t>
            </a:r>
            <a:r>
              <a:rPr lang="zh-CN" altLang="zh-CN" dirty="0"/>
              <a:t>核心层进行集中的完整性控制</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2467" name="Rectangle 2"/>
          <p:cNvSpPr>
            <a:spLocks noGrp="1" noChangeArrowheads="1"/>
          </p:cNvSpPr>
          <p:nvPr>
            <p:ph type="title" idx="4294967295"/>
          </p:nvPr>
        </p:nvSpPr>
        <p:spPr/>
        <p:txBody>
          <a:bodyPr/>
          <a:lstStyle/>
          <a:p>
            <a:pPr eaLnBrk="1" hangingPunct="1"/>
            <a:r>
              <a:rPr lang="en-US" altLang="zh-CN" sz="3600"/>
              <a:t>5.7  </a:t>
            </a:r>
            <a:r>
              <a:rPr lang="zh-CN" altLang="en-US" sz="3600"/>
              <a:t>触发器</a:t>
            </a:r>
            <a:endParaRPr lang="zh-CN" altLang="en-US" sz="3600"/>
          </a:p>
        </p:txBody>
      </p:sp>
      <p:sp>
        <p:nvSpPr>
          <p:cNvPr id="60420" name="Rectangle 3"/>
          <p:cNvSpPr>
            <a:spLocks noGrp="1" noChangeArrowheads="1"/>
          </p:cNvSpPr>
          <p:nvPr>
            <p:ph type="body" idx="4294967295"/>
          </p:nvPr>
        </p:nvSpPr>
        <p:spPr>
          <a:xfrm>
            <a:off x="1343489" y="1098550"/>
            <a:ext cx="8229600" cy="4854575"/>
          </a:xfrm>
        </p:spPr>
        <p:txBody>
          <a:bodyPr/>
          <a:lstStyle/>
          <a:p>
            <a:pPr marL="0" indent="0" eaLnBrk="1" hangingPunct="1">
              <a:lnSpc>
                <a:spcPct val="190000"/>
              </a:lnSpc>
              <a:buNone/>
            </a:pPr>
            <a:r>
              <a:rPr lang="en-US" altLang="zh-CN" dirty="0">
                <a:solidFill>
                  <a:srgbClr val="00B050"/>
                </a:solidFill>
              </a:rPr>
              <a:t>5.7.1 </a:t>
            </a:r>
            <a:r>
              <a:rPr lang="zh-CN" altLang="en-US" dirty="0">
                <a:solidFill>
                  <a:srgbClr val="00B050"/>
                </a:solidFill>
              </a:rPr>
              <a:t>定义触发器 </a:t>
            </a:r>
            <a:endParaRPr lang="zh-CN" altLang="en-US" dirty="0">
              <a:solidFill>
                <a:srgbClr val="00B050"/>
              </a:solidFill>
            </a:endParaRPr>
          </a:p>
          <a:p>
            <a:pPr marL="0" indent="0" eaLnBrk="1" hangingPunct="1">
              <a:lnSpc>
                <a:spcPct val="190000"/>
              </a:lnSpc>
              <a:buNone/>
            </a:pPr>
            <a:r>
              <a:rPr lang="en-US" altLang="zh-CN" dirty="0"/>
              <a:t>5.7.2 </a:t>
            </a:r>
            <a:r>
              <a:rPr lang="zh-CN" altLang="en-US" dirty="0"/>
              <a:t>执行触发器 </a:t>
            </a:r>
            <a:endParaRPr lang="zh-CN" altLang="en-US" dirty="0"/>
          </a:p>
          <a:p>
            <a:pPr marL="0" indent="0" eaLnBrk="1" hangingPunct="1">
              <a:lnSpc>
                <a:spcPct val="190000"/>
              </a:lnSpc>
              <a:buNone/>
            </a:pPr>
            <a:r>
              <a:rPr lang="en-US" altLang="zh-CN" dirty="0"/>
              <a:t>5.7.3 </a:t>
            </a:r>
            <a:r>
              <a:rPr lang="zh-CN" altLang="en-US" dirty="0"/>
              <a:t>删除触发器 </a:t>
            </a:r>
            <a:endParaRPr lang="zh-CN" altLang="en-US" dirty="0"/>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3491" name="Rectangle 2"/>
          <p:cNvSpPr>
            <a:spLocks noGrp="1" noChangeArrowheads="1"/>
          </p:cNvSpPr>
          <p:nvPr>
            <p:ph type="title" idx="4294967295"/>
          </p:nvPr>
        </p:nvSpPr>
        <p:spPr/>
        <p:txBody>
          <a:bodyPr/>
          <a:lstStyle/>
          <a:p>
            <a:pPr eaLnBrk="1" hangingPunct="1"/>
            <a:r>
              <a:rPr lang="en-US" altLang="zh-CN" sz="3600"/>
              <a:t>5.7.1 </a:t>
            </a:r>
            <a:r>
              <a:rPr lang="zh-CN" altLang="en-US" sz="3600"/>
              <a:t>定义触发器</a:t>
            </a:r>
            <a:endParaRPr lang="zh-CN" altLang="en-US" sz="3600"/>
          </a:p>
        </p:txBody>
      </p:sp>
      <p:sp>
        <p:nvSpPr>
          <p:cNvPr id="63492" name="Rectangle 3"/>
          <p:cNvSpPr>
            <a:spLocks noGrp="1" noChangeArrowheads="1"/>
          </p:cNvSpPr>
          <p:nvPr>
            <p:ph type="body" idx="4294967295"/>
          </p:nvPr>
        </p:nvSpPr>
        <p:spPr>
          <a:xfrm>
            <a:off x="839416" y="1098551"/>
            <a:ext cx="10585176" cy="5066754"/>
          </a:xfrm>
        </p:spPr>
        <p:txBody>
          <a:bodyPr/>
          <a:lstStyle/>
          <a:p>
            <a:pPr eaLnBrk="1" hangingPunct="1">
              <a:lnSpc>
                <a:spcPct val="120000"/>
              </a:lnSpc>
            </a:pPr>
            <a:r>
              <a:rPr lang="zh-CN" altLang="en-US" sz="2600" dirty="0"/>
              <a:t>触发器：做事件</a:t>
            </a:r>
            <a:r>
              <a:rPr lang="en-US" altLang="zh-CN" sz="2600" dirty="0"/>
              <a:t>-</a:t>
            </a:r>
            <a:r>
              <a:rPr lang="zh-CN" altLang="en-US" sz="2600" dirty="0"/>
              <a:t>条件</a:t>
            </a:r>
            <a:r>
              <a:rPr lang="en-US" altLang="zh-CN" sz="2600" dirty="0"/>
              <a:t>-</a:t>
            </a:r>
            <a:r>
              <a:rPr lang="zh-CN" altLang="en-US" sz="2600" dirty="0"/>
              <a:t>动作（</a:t>
            </a:r>
            <a:r>
              <a:rPr lang="en-US" altLang="zh-CN" sz="2600" dirty="0"/>
              <a:t>Event-Condition-Action, ECA</a:t>
            </a:r>
            <a:r>
              <a:rPr lang="zh-CN" altLang="en-US" sz="2600" dirty="0"/>
              <a:t>）规则。</a:t>
            </a:r>
            <a:endParaRPr lang="en-US" altLang="zh-CN" sz="2600" dirty="0"/>
          </a:p>
          <a:p>
            <a:pPr lvl="1" eaLnBrk="1" hangingPunct="1">
              <a:lnSpc>
                <a:spcPct val="120000"/>
              </a:lnSpc>
            </a:pPr>
            <a:r>
              <a:rPr lang="zh-CN" altLang="en-US" sz="2200" dirty="0"/>
              <a:t>当特定的系统事件发生时，对规则的条件进行检查</a:t>
            </a:r>
            <a:endParaRPr lang="en-US" altLang="zh-CN" sz="2200" dirty="0"/>
          </a:p>
          <a:p>
            <a:pPr lvl="1" eaLnBrk="1" hangingPunct="1">
              <a:lnSpc>
                <a:spcPct val="120000"/>
              </a:lnSpc>
            </a:pPr>
            <a:r>
              <a:rPr lang="zh-CN" altLang="en-US" sz="2200" dirty="0"/>
              <a:t>如果条件成立则执行规则中的动作，否则不执行该动作</a:t>
            </a:r>
            <a:endParaRPr lang="en-US" altLang="zh-CN" sz="2200" dirty="0"/>
          </a:p>
          <a:p>
            <a:pPr lvl="1" eaLnBrk="1" hangingPunct="1">
              <a:lnSpc>
                <a:spcPct val="120000"/>
              </a:lnSpc>
            </a:pPr>
            <a:r>
              <a:rPr lang="zh-CN" altLang="en-US" sz="2200" dirty="0"/>
              <a:t>规则中的动作体可以很复杂，通常是一段</a:t>
            </a:r>
            <a:r>
              <a:rPr lang="en-US" altLang="zh-CN" sz="2200" dirty="0"/>
              <a:t>SQL</a:t>
            </a:r>
            <a:r>
              <a:rPr lang="zh-CN" altLang="en-US" sz="2200" dirty="0"/>
              <a:t>存储过程</a:t>
            </a:r>
            <a:endParaRPr lang="en-US" altLang="zh-CN" sz="2200" dirty="0"/>
          </a:p>
          <a:p>
            <a:pPr eaLnBrk="1" hangingPunct="1">
              <a:lnSpc>
                <a:spcPct val="140000"/>
              </a:lnSpc>
            </a:pPr>
            <a:r>
              <a:rPr lang="en-US" altLang="zh-CN" sz="2400" dirty="0"/>
              <a:t>CREATE TRIGGER</a:t>
            </a:r>
            <a:r>
              <a:rPr lang="zh-CN" altLang="en-US" sz="2400" dirty="0"/>
              <a:t>语法格式</a:t>
            </a:r>
            <a:endParaRPr lang="zh-CN" altLang="en-US" sz="2400" dirty="0"/>
          </a:p>
          <a:p>
            <a:pPr eaLnBrk="1" hangingPunct="1">
              <a:lnSpc>
                <a:spcPct val="140000"/>
              </a:lnSpc>
              <a:buFont typeface="Wingdings" panose="05000000000000000000" pitchFamily="2" charset="2"/>
              <a:buNone/>
            </a:pPr>
            <a:r>
              <a:rPr lang="zh-CN" altLang="en-US" sz="900" dirty="0"/>
              <a:t>	   </a:t>
            </a:r>
            <a:r>
              <a:rPr lang="en-US" altLang="zh-CN" sz="2000" dirty="0"/>
              <a:t>CREATE TRIGGER &lt;</a:t>
            </a:r>
            <a:r>
              <a:rPr lang="zh-CN" altLang="en-US" sz="2000" dirty="0"/>
              <a:t>触发器名</a:t>
            </a:r>
            <a:r>
              <a:rPr lang="en-US" altLang="zh-CN" sz="2000" dirty="0"/>
              <a:t>&gt;  </a:t>
            </a:r>
            <a:endParaRPr lang="en-US" altLang="zh-CN" sz="2000" dirty="0"/>
          </a:p>
          <a:p>
            <a:pPr eaLnBrk="1" hangingPunct="1">
              <a:lnSpc>
                <a:spcPct val="120000"/>
              </a:lnSpc>
              <a:buFont typeface="Wingdings" panose="05000000000000000000" pitchFamily="2" charset="2"/>
              <a:buNone/>
            </a:pPr>
            <a:r>
              <a:rPr lang="en-US" altLang="zh-CN" sz="2000" dirty="0"/>
              <a:t>       {BEFORE | AFTER} &lt;</a:t>
            </a:r>
            <a:r>
              <a:rPr lang="zh-CN" altLang="en-US" sz="2000" dirty="0"/>
              <a:t>触发事件</a:t>
            </a:r>
            <a:r>
              <a:rPr lang="en-US" altLang="zh-CN" sz="2000" dirty="0"/>
              <a:t>&gt; ON &lt;</a:t>
            </a:r>
            <a:r>
              <a:rPr lang="zh-CN" altLang="en-US" sz="2000" dirty="0"/>
              <a:t>表名</a:t>
            </a:r>
            <a:r>
              <a:rPr lang="en-US" altLang="zh-CN" sz="2000" dirty="0"/>
              <a:t>&gt;</a:t>
            </a:r>
            <a:endParaRPr lang="en-US" altLang="zh-CN" sz="2000" dirty="0"/>
          </a:p>
          <a:p>
            <a:pPr eaLnBrk="1" hangingPunct="1">
              <a:lnSpc>
                <a:spcPct val="120000"/>
              </a:lnSpc>
              <a:buFont typeface="Wingdings" panose="05000000000000000000" pitchFamily="2" charset="2"/>
              <a:buNone/>
            </a:pPr>
            <a:r>
              <a:rPr lang="en-US" altLang="zh-CN" sz="2000" dirty="0"/>
              <a:t>       REFERENCING NEW|OLD ROW AS&lt;</a:t>
            </a:r>
            <a:r>
              <a:rPr lang="zh-CN" altLang="en-US" sz="2000" dirty="0"/>
              <a:t>变量</a:t>
            </a:r>
            <a:r>
              <a:rPr lang="en-US" altLang="zh-CN" sz="2000" dirty="0"/>
              <a:t>&gt;</a:t>
            </a:r>
            <a:endParaRPr lang="zh-CN" altLang="en-US" sz="2000" dirty="0"/>
          </a:p>
          <a:p>
            <a:pPr eaLnBrk="1" hangingPunct="1">
              <a:lnSpc>
                <a:spcPct val="120000"/>
              </a:lnSpc>
              <a:buFont typeface="Wingdings" panose="05000000000000000000" pitchFamily="2" charset="2"/>
              <a:buNone/>
            </a:pPr>
            <a:r>
              <a:rPr lang="en-US" altLang="zh-CN" sz="2000" dirty="0"/>
              <a:t>       FOR EACH  {ROW | STATEMENT}</a:t>
            </a:r>
            <a:endParaRPr lang="en-US" altLang="zh-CN" sz="2000" dirty="0"/>
          </a:p>
          <a:p>
            <a:pPr eaLnBrk="1" hangingPunct="1">
              <a:lnSpc>
                <a:spcPct val="120000"/>
              </a:lnSpc>
              <a:buFont typeface="Wingdings" panose="05000000000000000000" pitchFamily="2" charset="2"/>
              <a:buNone/>
            </a:pPr>
            <a:r>
              <a:rPr lang="en-US" altLang="zh-CN" sz="2000" dirty="0"/>
              <a:t>       [WHEN &lt;</a:t>
            </a:r>
            <a:r>
              <a:rPr lang="zh-CN" altLang="en-US" sz="2000" dirty="0"/>
              <a:t>触发条件</a:t>
            </a:r>
            <a:r>
              <a:rPr lang="en-US" altLang="zh-CN" sz="2000" dirty="0"/>
              <a:t>&gt;]&lt;</a:t>
            </a:r>
            <a:r>
              <a:rPr lang="zh-CN" altLang="en-US" sz="2000" dirty="0"/>
              <a:t>触发动作体</a:t>
            </a:r>
            <a:r>
              <a:rPr lang="en-US" altLang="zh-CN" sz="2000" dirty="0"/>
              <a:t>&gt;</a:t>
            </a:r>
            <a:endParaRPr lang="en-US" altLang="zh-CN"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p:txBody>
          <a:bodyPr/>
          <a:lstStyle/>
          <a:p>
            <a:r>
              <a:rPr lang="zh-CN" altLang="en-US" sz="3600"/>
              <a:t>定义触发器</a:t>
            </a:r>
            <a:r>
              <a:rPr lang="en-US" altLang="zh-CN" sz="3600"/>
              <a:t>（</a:t>
            </a:r>
            <a:r>
              <a:rPr lang="zh-CN" altLang="en-US" sz="3600"/>
              <a:t>续</a:t>
            </a:r>
            <a:r>
              <a:rPr lang="en-US" altLang="zh-CN" sz="3600"/>
              <a:t>）</a:t>
            </a:r>
            <a:endParaRPr lang="en-US" altLang="zh-CN" sz="3600"/>
          </a:p>
        </p:txBody>
      </p:sp>
      <p:sp>
        <p:nvSpPr>
          <p:cNvPr id="64515" name="Rectangle 3"/>
          <p:cNvSpPr>
            <a:spLocks noGrp="1" noChangeArrowheads="1"/>
          </p:cNvSpPr>
          <p:nvPr>
            <p:ph type="body" idx="4294967295"/>
          </p:nvPr>
        </p:nvSpPr>
        <p:spPr>
          <a:xfrm>
            <a:off x="839416" y="1340769"/>
            <a:ext cx="10972800" cy="5040560"/>
          </a:xfrm>
        </p:spPr>
        <p:txBody>
          <a:bodyPr/>
          <a:lstStyle/>
          <a:p>
            <a:r>
              <a:rPr lang="zh-CN" altLang="en-US" dirty="0"/>
              <a:t>定义触发器的语法说明</a:t>
            </a:r>
            <a:endParaRPr lang="en-US" altLang="zh-CN" dirty="0"/>
          </a:p>
          <a:p>
            <a:pPr lvl="1">
              <a:buFont typeface="Wingdings" panose="05000000000000000000" pitchFamily="2" charset="2"/>
              <a:buNone/>
            </a:pPr>
            <a:r>
              <a:rPr lang="zh-CN" altLang="en-US" dirty="0"/>
              <a:t>（</a:t>
            </a:r>
            <a:r>
              <a:rPr lang="en-US" altLang="zh-CN" dirty="0"/>
              <a:t>1</a:t>
            </a:r>
            <a:r>
              <a:rPr lang="zh-CN" altLang="en-US" dirty="0"/>
              <a:t>）表的</a:t>
            </a:r>
            <a:r>
              <a:rPr lang="zh-CN" altLang="en-US" dirty="0">
                <a:solidFill>
                  <a:srgbClr val="FF00FF"/>
                </a:solidFill>
              </a:rPr>
              <a:t>拥有者</a:t>
            </a:r>
            <a:r>
              <a:rPr lang="zh-CN" altLang="en-US" dirty="0"/>
              <a:t>才可以在表上创建触发器</a:t>
            </a:r>
            <a:endParaRPr lang="zh-CN" altLang="en-US" dirty="0"/>
          </a:p>
          <a:p>
            <a:pPr lvl="1">
              <a:buFont typeface="Wingdings" panose="05000000000000000000" pitchFamily="2" charset="2"/>
              <a:buNone/>
            </a:pPr>
            <a:r>
              <a:rPr lang="zh-CN" altLang="en-US" dirty="0"/>
              <a:t>（</a:t>
            </a:r>
            <a:r>
              <a:rPr lang="en-US" altLang="zh-CN" dirty="0"/>
              <a:t>2</a:t>
            </a:r>
            <a:r>
              <a:rPr lang="zh-CN" altLang="en-US" dirty="0"/>
              <a:t>）触发器名</a:t>
            </a:r>
            <a:endParaRPr lang="zh-CN" altLang="en-US" dirty="0"/>
          </a:p>
          <a:p>
            <a:pPr lvl="2">
              <a:buSzPct val="87000"/>
              <a:buFont typeface="Wingdings" panose="05000000000000000000" pitchFamily="2" charset="2"/>
              <a:buChar char="l"/>
            </a:pPr>
            <a:r>
              <a:rPr lang="zh-CN" altLang="en-US" sz="2200" dirty="0"/>
              <a:t>可以包含模式名，也可以不包含模式名</a:t>
            </a:r>
            <a:endParaRPr lang="zh-CN" altLang="en-US" sz="2200" dirty="0"/>
          </a:p>
          <a:p>
            <a:pPr lvl="2">
              <a:buSzPct val="87000"/>
              <a:buFont typeface="Wingdings" panose="05000000000000000000" pitchFamily="2" charset="2"/>
              <a:buChar char="l"/>
            </a:pPr>
            <a:r>
              <a:rPr lang="zh-CN" altLang="en-US" sz="2200" dirty="0"/>
              <a:t>同一模式下，触发器名必须是唯一的</a:t>
            </a:r>
            <a:endParaRPr lang="zh-CN" altLang="en-US" sz="2200" dirty="0"/>
          </a:p>
          <a:p>
            <a:pPr lvl="2">
              <a:buSzPct val="87000"/>
              <a:buFont typeface="Wingdings" panose="05000000000000000000" pitchFamily="2" charset="2"/>
              <a:buChar char="l"/>
            </a:pPr>
            <a:r>
              <a:rPr lang="zh-CN" altLang="en-US" sz="2200" dirty="0"/>
              <a:t>触发器名和表名必须在同一模式下</a:t>
            </a:r>
            <a:endParaRPr lang="zh-CN" altLang="en-US" sz="2200" dirty="0"/>
          </a:p>
          <a:p>
            <a:pPr lvl="1">
              <a:buFont typeface="Wingdings" panose="05000000000000000000" pitchFamily="2" charset="2"/>
              <a:buNone/>
            </a:pPr>
            <a:r>
              <a:rPr lang="zh-CN" altLang="en-US" dirty="0"/>
              <a:t>（</a:t>
            </a:r>
            <a:r>
              <a:rPr lang="en-US" altLang="zh-CN" dirty="0"/>
              <a:t>3</a:t>
            </a:r>
            <a:r>
              <a:rPr lang="zh-CN" altLang="en-US" dirty="0"/>
              <a:t>）表名</a:t>
            </a:r>
            <a:endParaRPr lang="zh-CN" altLang="en-US" dirty="0"/>
          </a:p>
          <a:p>
            <a:pPr lvl="2">
              <a:buSzPct val="87000"/>
              <a:buFont typeface="Wingdings" panose="05000000000000000000" pitchFamily="2" charset="2"/>
              <a:buChar char="l"/>
            </a:pPr>
            <a:r>
              <a:rPr lang="zh-CN" altLang="en-US" sz="2200" dirty="0"/>
              <a:t>触发器只能定义在基本表上，不能定义在视图上</a:t>
            </a:r>
            <a:endParaRPr lang="en-US" altLang="zh-CN" sz="2200" dirty="0"/>
          </a:p>
          <a:p>
            <a:pPr lvl="2">
              <a:buSzPct val="87000"/>
              <a:buFont typeface="Wingdings" panose="05000000000000000000" pitchFamily="2" charset="2"/>
              <a:buChar char="l"/>
            </a:pPr>
            <a:r>
              <a:rPr lang="zh-CN" altLang="en-US" sz="2200" dirty="0"/>
              <a:t>当基本表的数据发生变化时，将激活定义在该表上相应触发事件的触发器</a:t>
            </a:r>
            <a:endParaRPr lang="zh-CN" alt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p:txBody>
          <a:bodyPr/>
          <a:lstStyle/>
          <a:p>
            <a:r>
              <a:rPr lang="zh-CN" altLang="en-US" sz="3600"/>
              <a:t>定义触发器</a:t>
            </a:r>
            <a:r>
              <a:rPr lang="en-US" altLang="zh-CN" sz="3600"/>
              <a:t>（</a:t>
            </a:r>
            <a:r>
              <a:rPr lang="zh-CN" altLang="en-US" sz="3600"/>
              <a:t>续</a:t>
            </a:r>
            <a:r>
              <a:rPr lang="en-US" altLang="zh-CN" sz="3600"/>
              <a:t>）</a:t>
            </a:r>
            <a:endParaRPr lang="en-US" altLang="zh-CN" sz="3600"/>
          </a:p>
        </p:txBody>
      </p:sp>
      <p:sp>
        <p:nvSpPr>
          <p:cNvPr id="65539" name="Rectangle 3"/>
          <p:cNvSpPr>
            <a:spLocks noGrp="1" noChangeArrowheads="1"/>
          </p:cNvSpPr>
          <p:nvPr>
            <p:ph type="body" idx="4294967295"/>
          </p:nvPr>
        </p:nvSpPr>
        <p:spPr>
          <a:xfrm>
            <a:off x="407268" y="1123136"/>
            <a:ext cx="11165795" cy="4994746"/>
          </a:xfrm>
        </p:spPr>
        <p:txBody>
          <a:bodyPr/>
          <a:lstStyle/>
          <a:p>
            <a:pPr lvl="1">
              <a:lnSpc>
                <a:spcPct val="150000"/>
              </a:lnSpc>
              <a:buFont typeface="Wingdings" panose="05000000000000000000" pitchFamily="2" charset="2"/>
              <a:buNone/>
            </a:pPr>
            <a:r>
              <a:rPr lang="zh-CN" altLang="en-US" dirty="0"/>
              <a:t>（</a:t>
            </a:r>
            <a:r>
              <a:rPr lang="en-US" altLang="zh-CN" dirty="0"/>
              <a:t>4</a:t>
            </a:r>
            <a:r>
              <a:rPr lang="zh-CN" altLang="en-US" dirty="0"/>
              <a:t>）触发事件</a:t>
            </a:r>
            <a:endParaRPr lang="zh-CN" altLang="en-US" dirty="0"/>
          </a:p>
          <a:p>
            <a:pPr lvl="2">
              <a:lnSpc>
                <a:spcPct val="150000"/>
              </a:lnSpc>
              <a:buSzPct val="87000"/>
              <a:buFont typeface="Wingdings" panose="05000000000000000000" pitchFamily="2" charset="2"/>
              <a:buChar char="l"/>
            </a:pPr>
            <a:r>
              <a:rPr lang="zh-CN" altLang="en-US" sz="2200" dirty="0"/>
              <a:t>触发事件可以是</a:t>
            </a:r>
            <a:r>
              <a:rPr lang="en-US" altLang="zh-CN" sz="2200" dirty="0"/>
              <a:t>INSERT</a:t>
            </a:r>
            <a:r>
              <a:rPr lang="zh-CN" altLang="en-US" sz="2200" dirty="0"/>
              <a:t>、</a:t>
            </a:r>
            <a:r>
              <a:rPr lang="en-US" altLang="zh-CN" sz="2200" dirty="0"/>
              <a:t>DELETE</a:t>
            </a:r>
            <a:r>
              <a:rPr lang="zh-CN" altLang="en-US" sz="2200" dirty="0"/>
              <a:t>或</a:t>
            </a:r>
            <a:r>
              <a:rPr lang="en-US" altLang="zh-CN" sz="2200" dirty="0"/>
              <a:t>UPDATE</a:t>
            </a:r>
            <a:endParaRPr lang="en-US" altLang="zh-CN" sz="2200" dirty="0"/>
          </a:p>
          <a:p>
            <a:pPr lvl="2">
              <a:lnSpc>
                <a:spcPct val="150000"/>
              </a:lnSpc>
              <a:buSzPct val="87000"/>
              <a:buFont typeface="Arial" panose="020B0604020202020204" pitchFamily="34" charset="0"/>
              <a:buNone/>
            </a:pPr>
            <a:r>
              <a:rPr lang="zh-CN" altLang="en-US" sz="2200" dirty="0"/>
              <a:t>   也可以是这几个事件的组合</a:t>
            </a:r>
            <a:endParaRPr lang="zh-CN" altLang="en-US" sz="2200" dirty="0"/>
          </a:p>
          <a:p>
            <a:pPr lvl="2">
              <a:lnSpc>
                <a:spcPct val="150000"/>
              </a:lnSpc>
              <a:buSzPct val="87000"/>
              <a:buFont typeface="Wingdings" panose="05000000000000000000" pitchFamily="2" charset="2"/>
              <a:buChar char="l"/>
            </a:pPr>
            <a:r>
              <a:rPr lang="zh-CN" altLang="en-US" sz="2200" dirty="0"/>
              <a:t>还可以</a:t>
            </a:r>
            <a:r>
              <a:rPr lang="en-US" altLang="zh-CN" sz="2200" dirty="0"/>
              <a:t>UPDATE OF&lt;</a:t>
            </a:r>
            <a:r>
              <a:rPr lang="zh-CN" altLang="en-US" sz="2200" dirty="0"/>
              <a:t>触发列，</a:t>
            </a:r>
            <a:r>
              <a:rPr lang="en-US" altLang="zh-CN" sz="2200" dirty="0"/>
              <a:t>...&gt;</a:t>
            </a:r>
            <a:r>
              <a:rPr lang="zh-CN" altLang="en-US" sz="2200" dirty="0"/>
              <a:t>，即进一步指明修改哪些列时激活触发器</a:t>
            </a:r>
            <a:endParaRPr lang="en-US" altLang="en-US" sz="2200" dirty="0"/>
          </a:p>
          <a:p>
            <a:pPr lvl="2">
              <a:lnSpc>
                <a:spcPct val="150000"/>
              </a:lnSpc>
              <a:buSzPct val="87000"/>
              <a:buFont typeface="Wingdings" panose="05000000000000000000" pitchFamily="2" charset="2"/>
              <a:buChar char="l"/>
            </a:pPr>
            <a:r>
              <a:rPr lang="en-US" altLang="zh-CN" sz="2200" dirty="0"/>
              <a:t>AFTER/BEFORE</a:t>
            </a:r>
            <a:r>
              <a:rPr lang="zh-CN" altLang="en-US" sz="2200" dirty="0"/>
              <a:t>是触发的时机</a:t>
            </a:r>
            <a:endParaRPr lang="en-US" altLang="en-US" sz="2200" dirty="0"/>
          </a:p>
          <a:p>
            <a:pPr lvl="3">
              <a:lnSpc>
                <a:spcPct val="150000"/>
              </a:lnSpc>
              <a:buFont typeface="Wingdings" panose="05000000000000000000" pitchFamily="2" charset="2"/>
              <a:buChar char="Ø"/>
            </a:pPr>
            <a:r>
              <a:rPr lang="en-US" altLang="zh-CN" sz="2200" dirty="0"/>
              <a:t>AFTER</a:t>
            </a:r>
            <a:r>
              <a:rPr lang="zh-CN" altLang="en-US" sz="2200" dirty="0"/>
              <a:t>表示在触发事件的操作执行之后激活触发器</a:t>
            </a:r>
            <a:endParaRPr lang="en-US" altLang="zh-CN" sz="2200" dirty="0"/>
          </a:p>
          <a:p>
            <a:pPr lvl="3">
              <a:lnSpc>
                <a:spcPct val="150000"/>
              </a:lnSpc>
              <a:buFont typeface="Wingdings" panose="05000000000000000000" pitchFamily="2" charset="2"/>
              <a:buChar char="Ø"/>
            </a:pPr>
            <a:r>
              <a:rPr lang="en-US" altLang="zh-CN" sz="2200" dirty="0"/>
              <a:t>BEFORE</a:t>
            </a:r>
            <a:r>
              <a:rPr lang="zh-CN" altLang="en-US" sz="2200" dirty="0"/>
              <a:t>表示在触发事件的操作执行之前激活触发器</a:t>
            </a:r>
            <a:endParaRPr lang="zh-CN" altLang="en-US" sz="2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p:txBody>
          <a:bodyPr/>
          <a:lstStyle/>
          <a:p>
            <a:r>
              <a:rPr lang="zh-CN" altLang="en-US" sz="3600"/>
              <a:t>定义触发器</a:t>
            </a:r>
            <a:r>
              <a:rPr lang="en-US" altLang="zh-CN" sz="3600"/>
              <a:t>（</a:t>
            </a:r>
            <a:r>
              <a:rPr lang="zh-CN" altLang="en-US" sz="3600"/>
              <a:t>续</a:t>
            </a:r>
            <a:r>
              <a:rPr lang="en-US" altLang="zh-CN" sz="3600"/>
              <a:t>）</a:t>
            </a:r>
            <a:endParaRPr lang="en-US" altLang="zh-CN" sz="3600"/>
          </a:p>
        </p:txBody>
      </p:sp>
      <p:sp>
        <p:nvSpPr>
          <p:cNvPr id="63491" name="Rectangle 3"/>
          <p:cNvSpPr>
            <a:spLocks noGrp="1" noChangeArrowheads="1"/>
          </p:cNvSpPr>
          <p:nvPr>
            <p:ph type="body" idx="4294967295"/>
          </p:nvPr>
        </p:nvSpPr>
        <p:spPr>
          <a:xfrm>
            <a:off x="407368" y="1098550"/>
            <a:ext cx="11305256" cy="5138762"/>
          </a:xfrm>
        </p:spPr>
        <p:txBody>
          <a:bodyPr/>
          <a:lstStyle/>
          <a:p>
            <a:pPr lvl="1">
              <a:lnSpc>
                <a:spcPct val="120000"/>
              </a:lnSpc>
              <a:spcBef>
                <a:spcPct val="0"/>
              </a:spcBef>
              <a:buFont typeface="Wingdings" panose="05000000000000000000" pitchFamily="2" charset="2"/>
              <a:buNone/>
            </a:pPr>
            <a:r>
              <a:rPr lang="zh-CN" altLang="en-US" dirty="0"/>
              <a:t>（</a:t>
            </a:r>
            <a:r>
              <a:rPr lang="en-US" altLang="zh-CN" dirty="0"/>
              <a:t>5</a:t>
            </a:r>
            <a:r>
              <a:rPr lang="zh-CN" altLang="en-US" dirty="0"/>
              <a:t>）触发器类型</a:t>
            </a:r>
            <a:endParaRPr lang="zh-CN" altLang="en-US" dirty="0"/>
          </a:p>
          <a:p>
            <a:pPr lvl="2">
              <a:lnSpc>
                <a:spcPct val="120000"/>
              </a:lnSpc>
              <a:spcBef>
                <a:spcPct val="0"/>
              </a:spcBef>
              <a:buFont typeface="Wingdings" panose="05000000000000000000" pitchFamily="2" charset="2"/>
              <a:buChar char="Ø"/>
            </a:pPr>
            <a:r>
              <a:rPr lang="zh-CN" altLang="en-US" sz="2200" dirty="0"/>
              <a:t>行级触发器（</a:t>
            </a:r>
            <a:r>
              <a:rPr lang="en-US" altLang="zh-CN" sz="2200" dirty="0"/>
              <a:t>FOR EACH ROW</a:t>
            </a:r>
            <a:r>
              <a:rPr lang="zh-CN" altLang="en-US" sz="2200" dirty="0"/>
              <a:t>）</a:t>
            </a:r>
            <a:endParaRPr lang="zh-CN" altLang="en-US" sz="2200" dirty="0"/>
          </a:p>
          <a:p>
            <a:pPr lvl="2">
              <a:lnSpc>
                <a:spcPct val="120000"/>
              </a:lnSpc>
              <a:spcBef>
                <a:spcPct val="0"/>
              </a:spcBef>
              <a:buFont typeface="Wingdings" panose="05000000000000000000" pitchFamily="2" charset="2"/>
              <a:buChar char="Ø"/>
            </a:pPr>
            <a:r>
              <a:rPr lang="zh-CN" altLang="en-US" sz="2200" dirty="0"/>
              <a:t>语句级触发器（</a:t>
            </a:r>
            <a:r>
              <a:rPr lang="en-US" altLang="zh-CN" sz="2200" dirty="0"/>
              <a:t>FOR EACH STATEMENT</a:t>
            </a:r>
            <a:r>
              <a:rPr lang="zh-CN" altLang="en-US" sz="2200" dirty="0"/>
              <a:t>）</a:t>
            </a:r>
            <a:endParaRPr lang="en-US" altLang="zh-CN" sz="2200" dirty="0"/>
          </a:p>
          <a:p>
            <a:pPr lvl="1">
              <a:lnSpc>
                <a:spcPct val="120000"/>
              </a:lnSpc>
              <a:spcBef>
                <a:spcPct val="0"/>
              </a:spcBef>
              <a:buFont typeface="Wingdings" panose="05000000000000000000" pitchFamily="2" charset="2"/>
              <a:buNone/>
            </a:pPr>
            <a:r>
              <a:rPr lang="zh-CN" altLang="en-US" sz="2000" dirty="0"/>
              <a:t>    </a:t>
            </a:r>
            <a:endParaRPr lang="en-US" altLang="zh-CN" sz="2000" dirty="0"/>
          </a:p>
          <a:p>
            <a:pPr lvl="1">
              <a:lnSpc>
                <a:spcPct val="150000"/>
              </a:lnSpc>
              <a:spcBef>
                <a:spcPct val="0"/>
              </a:spcBef>
              <a:buFont typeface="Wingdings" panose="05000000000000000000" pitchFamily="2" charset="2"/>
              <a:buNone/>
            </a:pPr>
            <a:r>
              <a:rPr lang="en-US" altLang="zh-CN" sz="2200" dirty="0"/>
              <a:t>    </a:t>
            </a:r>
            <a:r>
              <a:rPr lang="zh-CN" altLang="en-US" sz="2200" dirty="0"/>
              <a:t>例如</a:t>
            </a:r>
            <a:r>
              <a:rPr lang="en-US" altLang="zh-CN" sz="2200" dirty="0"/>
              <a:t>,</a:t>
            </a:r>
            <a:r>
              <a:rPr lang="zh-CN" altLang="en-US" sz="2200" dirty="0"/>
              <a:t>在例</a:t>
            </a:r>
            <a:r>
              <a:rPr lang="en-US" altLang="zh-CN" sz="2200" dirty="0"/>
              <a:t>5.11</a:t>
            </a:r>
            <a:r>
              <a:rPr lang="zh-CN" altLang="en-US" sz="2200" dirty="0"/>
              <a:t>的</a:t>
            </a:r>
            <a:r>
              <a:rPr lang="en-US" altLang="zh-CN" sz="2200" dirty="0"/>
              <a:t>TEACHER</a:t>
            </a:r>
            <a:r>
              <a:rPr lang="zh-CN" altLang="en-US" sz="2200" dirty="0"/>
              <a:t>表上创建一个</a:t>
            </a:r>
            <a:r>
              <a:rPr lang="en-US" altLang="zh-CN" sz="2200" dirty="0"/>
              <a:t>AFTER UPDATE</a:t>
            </a:r>
            <a:r>
              <a:rPr lang="zh-CN" altLang="en-US" sz="2200" dirty="0"/>
              <a:t>触发器，触发事件是</a:t>
            </a:r>
            <a:r>
              <a:rPr lang="en-US" altLang="zh-CN" sz="2200" dirty="0"/>
              <a:t>UPDATE</a:t>
            </a:r>
            <a:r>
              <a:rPr lang="zh-CN" altLang="en-US" sz="2200" dirty="0"/>
              <a:t>语句：</a:t>
            </a:r>
            <a:endParaRPr lang="zh-CN" altLang="en-US" sz="2200" dirty="0"/>
          </a:p>
          <a:p>
            <a:pPr indent="0" algn="just">
              <a:lnSpc>
                <a:spcPct val="150000"/>
              </a:lnSpc>
              <a:spcBef>
                <a:spcPct val="0"/>
              </a:spcBef>
              <a:buNone/>
            </a:pPr>
            <a:r>
              <a:rPr lang="en-US" altLang="zh-CN" sz="2200" dirty="0">
                <a:latin typeface="Calibri" panose="020F0502020204030204" pitchFamily="34" charset="0"/>
                <a:cs typeface="Times New Roman" panose="02020603050405020304" pitchFamily="18" charset="0"/>
              </a:rPr>
              <a:t>        UPDATE </a:t>
            </a:r>
            <a:r>
              <a:rPr lang="en-US" altLang="zh-CN" sz="2200" dirty="0" err="1">
                <a:latin typeface="Calibri" panose="020F0502020204030204" pitchFamily="34" charset="0"/>
                <a:cs typeface="Times New Roman" panose="02020603050405020304" pitchFamily="18" charset="0"/>
              </a:rPr>
              <a:t>TeacherEACHER</a:t>
            </a:r>
            <a:r>
              <a:rPr lang="en-US" altLang="zh-CN" sz="2200" dirty="0">
                <a:latin typeface="Calibri" panose="020F0502020204030204" pitchFamily="34" charset="0"/>
                <a:cs typeface="Times New Roman" panose="02020603050405020304" pitchFamily="18" charset="0"/>
              </a:rPr>
              <a:t> SET </a:t>
            </a:r>
            <a:r>
              <a:rPr lang="en-US" altLang="zh-CN" sz="2200" dirty="0" err="1">
                <a:latin typeface="Calibri" panose="020F0502020204030204" pitchFamily="34" charset="0"/>
                <a:cs typeface="Times New Roman" panose="02020603050405020304" pitchFamily="18" charset="0"/>
              </a:rPr>
              <a:t>Schoolno</a:t>
            </a:r>
            <a:r>
              <a:rPr lang="en-US" altLang="zh-CN" sz="2200" dirty="0">
                <a:latin typeface="Calibri" panose="020F0502020204030204" pitchFamily="34" charset="0"/>
                <a:cs typeface="Times New Roman" panose="02020603050405020304" pitchFamily="18" charset="0"/>
              </a:rPr>
              <a:t>=’19780015’ WHERE </a:t>
            </a:r>
            <a:r>
              <a:rPr lang="en-US" altLang="zh-CN" sz="2200" dirty="0" err="1">
                <a:latin typeface="Calibri" panose="020F0502020204030204" pitchFamily="34" charset="0"/>
                <a:cs typeface="Times New Roman" panose="02020603050405020304" pitchFamily="18" charset="0"/>
              </a:rPr>
              <a:t>Schoolno</a:t>
            </a:r>
            <a:r>
              <a:rPr lang="en-US" altLang="zh-CN" sz="2200" dirty="0">
                <a:latin typeface="Calibri" panose="020F0502020204030204" pitchFamily="34" charset="0"/>
                <a:cs typeface="Times New Roman" panose="02020603050405020304" pitchFamily="18" charset="0"/>
              </a:rPr>
              <a:t>=’19800015’; </a:t>
            </a:r>
            <a:endParaRPr lang="zh-CN" altLang="zh-CN" sz="2200" dirty="0">
              <a:latin typeface="Calibri" panose="020F0502020204030204" pitchFamily="34" charset="0"/>
              <a:cs typeface="Times New Roman" panose="02020603050405020304" pitchFamily="18" charset="0"/>
            </a:endParaRPr>
          </a:p>
          <a:p>
            <a:pPr lvl="1">
              <a:lnSpc>
                <a:spcPct val="150000"/>
              </a:lnSpc>
              <a:spcBef>
                <a:spcPct val="0"/>
              </a:spcBef>
              <a:buFont typeface="Wingdings" panose="05000000000000000000" pitchFamily="2" charset="2"/>
              <a:buNone/>
            </a:pPr>
            <a:r>
              <a:rPr lang="zh-CN" altLang="en-US" sz="2200" dirty="0"/>
              <a:t>    假设表</a:t>
            </a:r>
            <a:r>
              <a:rPr lang="en-US" altLang="zh-CN" sz="2200" dirty="0"/>
              <a:t>TEACHER</a:t>
            </a:r>
            <a:r>
              <a:rPr lang="zh-CN" altLang="en-US" sz="2200" dirty="0"/>
              <a:t>有</a:t>
            </a:r>
            <a:r>
              <a:rPr lang="en-US" altLang="zh-CN" sz="2200" dirty="0"/>
              <a:t>1000</a:t>
            </a:r>
            <a:r>
              <a:rPr lang="zh-CN" altLang="en-US" sz="2200" dirty="0"/>
              <a:t>行</a:t>
            </a:r>
            <a:endParaRPr lang="en-US" altLang="zh-CN" sz="2200" dirty="0"/>
          </a:p>
          <a:p>
            <a:pPr lvl="2">
              <a:lnSpc>
                <a:spcPct val="120000"/>
              </a:lnSpc>
              <a:spcBef>
                <a:spcPct val="0"/>
              </a:spcBef>
              <a:buFont typeface="Arial" panose="020B0604020202020204" pitchFamily="34" charset="0"/>
              <a:buNone/>
            </a:pPr>
            <a:r>
              <a:rPr lang="en-US" altLang="zh-CN" sz="1800" dirty="0"/>
              <a:t>  </a:t>
            </a:r>
            <a:endParaRPr lang="en-US" altLang="zh-CN" sz="1800" dirty="0"/>
          </a:p>
          <a:p>
            <a:pPr lvl="2">
              <a:lnSpc>
                <a:spcPct val="120000"/>
              </a:lnSpc>
              <a:spcBef>
                <a:spcPct val="0"/>
              </a:spcBef>
              <a:buFont typeface="Wingdings" panose="05000000000000000000" pitchFamily="2" charset="2"/>
              <a:buChar char="l"/>
            </a:pPr>
            <a:r>
              <a:rPr lang="zh-CN" altLang="en-US" sz="2200" dirty="0"/>
              <a:t>如果是</a:t>
            </a:r>
            <a:r>
              <a:rPr lang="zh-CN" altLang="en-US" sz="2200" dirty="0">
                <a:solidFill>
                  <a:srgbClr val="FF00FF"/>
                </a:solidFill>
              </a:rPr>
              <a:t>语句</a:t>
            </a:r>
            <a:r>
              <a:rPr lang="zh-CN" altLang="en-US" sz="2200" dirty="0"/>
              <a:t>级触发器，执行完</a:t>
            </a:r>
            <a:r>
              <a:rPr lang="en-US" altLang="zh-CN" sz="2200" dirty="0"/>
              <a:t>UPDATE</a:t>
            </a:r>
            <a:r>
              <a:rPr lang="zh-CN" altLang="en-US" sz="2200" dirty="0"/>
              <a:t>语句后触发动作体将执行一次</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如果是</a:t>
            </a:r>
            <a:r>
              <a:rPr lang="zh-CN" altLang="en-US" sz="2200" dirty="0">
                <a:solidFill>
                  <a:srgbClr val="FF00FF"/>
                </a:solidFill>
              </a:rPr>
              <a:t>行级</a:t>
            </a:r>
            <a:r>
              <a:rPr lang="zh-CN" altLang="en-US" sz="2200" dirty="0"/>
              <a:t>触发器，</a:t>
            </a:r>
            <a:r>
              <a:rPr lang="en-US" altLang="zh-CN" sz="2200" dirty="0"/>
              <a:t>UPDATE </a:t>
            </a:r>
            <a:r>
              <a:rPr lang="zh-CN" altLang="zh-CN" sz="2200" dirty="0"/>
              <a:t>语句影响多少行，就触发多少次</a:t>
            </a:r>
            <a:endParaRPr lang="en-US" altLang="zh-CN" sz="2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p:txBody>
          <a:bodyPr/>
          <a:lstStyle/>
          <a:p>
            <a:r>
              <a:rPr lang="zh-CN" altLang="en-US" sz="3600"/>
              <a:t>定义触发器</a:t>
            </a:r>
            <a:r>
              <a:rPr lang="en-US" altLang="zh-CN" sz="3600"/>
              <a:t>（</a:t>
            </a:r>
            <a:r>
              <a:rPr lang="zh-CN" altLang="en-US" sz="3600"/>
              <a:t>续</a:t>
            </a:r>
            <a:r>
              <a:rPr lang="en-US" altLang="zh-CN" sz="3600"/>
              <a:t>）</a:t>
            </a:r>
            <a:endParaRPr lang="en-US" altLang="zh-CN" sz="3600"/>
          </a:p>
        </p:txBody>
      </p:sp>
      <p:sp>
        <p:nvSpPr>
          <p:cNvPr id="67587" name="Rectangle 3"/>
          <p:cNvSpPr>
            <a:spLocks noGrp="1" noChangeArrowheads="1"/>
          </p:cNvSpPr>
          <p:nvPr>
            <p:ph type="body" idx="4294967295"/>
          </p:nvPr>
        </p:nvSpPr>
        <p:spPr>
          <a:xfrm>
            <a:off x="590265" y="1268760"/>
            <a:ext cx="10964960" cy="4896544"/>
          </a:xfrm>
        </p:spPr>
        <p:txBody>
          <a:bodyPr/>
          <a:lstStyle/>
          <a:p>
            <a:pPr>
              <a:lnSpc>
                <a:spcPct val="170000"/>
              </a:lnSpc>
              <a:buSzPct val="85000"/>
              <a:buFont typeface="Wingdings" panose="05000000000000000000" pitchFamily="2" charset="2"/>
              <a:buNone/>
            </a:pPr>
            <a:r>
              <a:rPr lang="zh-CN" altLang="en-US" sz="2400" dirty="0"/>
              <a:t>（</a:t>
            </a:r>
            <a:r>
              <a:rPr lang="en-US" altLang="zh-CN" sz="2400" dirty="0"/>
              <a:t>6</a:t>
            </a:r>
            <a:r>
              <a:rPr lang="zh-CN" altLang="en-US" sz="2400" dirty="0"/>
              <a:t>）触发条件</a:t>
            </a:r>
            <a:endParaRPr lang="zh-CN" altLang="en-US" sz="2400" dirty="0"/>
          </a:p>
          <a:p>
            <a:pPr lvl="1">
              <a:lnSpc>
                <a:spcPct val="120000"/>
              </a:lnSpc>
              <a:buSzPct val="87000"/>
              <a:buFont typeface="Wingdings" panose="05000000000000000000" pitchFamily="2" charset="2"/>
              <a:buChar char="l"/>
            </a:pPr>
            <a:r>
              <a:rPr lang="zh-CN" altLang="en-US" sz="2200" dirty="0"/>
              <a:t>触发器被激活时，只有当触发条件为真时触发动作体才执行;否则触发动作体不执行。</a:t>
            </a:r>
            <a:endParaRPr lang="zh-CN" altLang="en-US" sz="2200" dirty="0"/>
          </a:p>
          <a:p>
            <a:pPr lvl="1">
              <a:lnSpc>
                <a:spcPct val="120000"/>
              </a:lnSpc>
              <a:buSzPct val="87000"/>
              <a:buFont typeface="Wingdings" panose="05000000000000000000" pitchFamily="2" charset="2"/>
              <a:buChar char="l"/>
            </a:pPr>
            <a:r>
              <a:rPr lang="zh-CN" altLang="en-US" sz="2200" dirty="0"/>
              <a:t>如果省略</a:t>
            </a:r>
            <a:r>
              <a:rPr lang="en-US" altLang="zh-CN" sz="2200" dirty="0"/>
              <a:t>WHEN</a:t>
            </a:r>
            <a:r>
              <a:rPr lang="zh-CN" altLang="en-US" sz="2200" dirty="0"/>
              <a:t>触发条件，则触发动作体在触发器激活后立即执行</a:t>
            </a:r>
            <a:endParaRPr lang="zh-CN" altLang="en-US" sz="2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1981200" y="-28575"/>
            <a:ext cx="8229600" cy="936625"/>
          </a:xfrm>
        </p:spPr>
        <p:txBody>
          <a:bodyPr/>
          <a:lstStyle/>
          <a:p>
            <a:r>
              <a:rPr lang="zh-CN" altLang="en-US" sz="3600"/>
              <a:t>定义触发器</a:t>
            </a:r>
            <a:r>
              <a:rPr lang="en-US" altLang="zh-CN" sz="3600"/>
              <a:t>（</a:t>
            </a:r>
            <a:r>
              <a:rPr lang="zh-CN" altLang="en-US" sz="3600"/>
              <a:t>续</a:t>
            </a:r>
            <a:r>
              <a:rPr lang="en-US" altLang="zh-CN" sz="3600"/>
              <a:t>）</a:t>
            </a:r>
            <a:endParaRPr lang="en-US" altLang="zh-CN" sz="3600"/>
          </a:p>
        </p:txBody>
      </p:sp>
      <p:sp>
        <p:nvSpPr>
          <p:cNvPr id="65539" name="Rectangle 3"/>
          <p:cNvSpPr>
            <a:spLocks noGrp="1" noChangeArrowheads="1"/>
          </p:cNvSpPr>
          <p:nvPr>
            <p:ph type="body" idx="4294967295"/>
          </p:nvPr>
        </p:nvSpPr>
        <p:spPr>
          <a:xfrm>
            <a:off x="587388" y="1196752"/>
            <a:ext cx="11017224" cy="4824536"/>
          </a:xfrm>
        </p:spPr>
        <p:txBody>
          <a:bodyPr/>
          <a:lstStyle/>
          <a:p>
            <a:pPr>
              <a:lnSpc>
                <a:spcPct val="150000"/>
              </a:lnSpc>
              <a:spcBef>
                <a:spcPts val="0"/>
              </a:spcBef>
              <a:buSzPct val="85000"/>
              <a:buFont typeface="Wingdings" panose="05000000000000000000" pitchFamily="2" charset="2"/>
              <a:buNone/>
            </a:pPr>
            <a:r>
              <a:rPr lang="zh-CN" altLang="en-US" sz="2400" dirty="0"/>
              <a:t>（</a:t>
            </a:r>
            <a:r>
              <a:rPr lang="en-US" altLang="zh-CN" sz="2400" dirty="0"/>
              <a:t>7</a:t>
            </a:r>
            <a:r>
              <a:rPr lang="zh-CN" altLang="en-US" sz="2400" dirty="0"/>
              <a:t>）触发动作体</a:t>
            </a:r>
            <a:endParaRPr lang="zh-CN" altLang="en-US" sz="2400" dirty="0"/>
          </a:p>
          <a:p>
            <a:pPr lvl="1">
              <a:lnSpc>
                <a:spcPct val="150000"/>
              </a:lnSpc>
              <a:spcBef>
                <a:spcPts val="0"/>
              </a:spcBef>
              <a:buSzPct val="87000"/>
              <a:buFont typeface="Wingdings" panose="05000000000000000000" pitchFamily="2" charset="2"/>
              <a:buChar char="l"/>
            </a:pPr>
            <a:r>
              <a:rPr lang="zh-CN" altLang="en-US" sz="2200" dirty="0"/>
              <a:t>触发动作体可以是一个匿名</a:t>
            </a:r>
            <a:r>
              <a:rPr lang="en-US" altLang="zh-CN" sz="2200" dirty="0"/>
              <a:t>PL/SQL</a:t>
            </a:r>
            <a:r>
              <a:rPr lang="zh-CN" altLang="en-US" sz="2200" dirty="0"/>
              <a:t>过程块</a:t>
            </a:r>
            <a:endParaRPr lang="zh-CN" altLang="en-US" sz="2200" dirty="0"/>
          </a:p>
          <a:p>
            <a:pPr lvl="1">
              <a:lnSpc>
                <a:spcPct val="150000"/>
              </a:lnSpc>
              <a:spcBef>
                <a:spcPts val="0"/>
              </a:spcBef>
              <a:buSzPct val="87000"/>
              <a:buFont typeface="Wingdings" panose="05000000000000000000" pitchFamily="2" charset="2"/>
              <a:buNone/>
            </a:pPr>
            <a:r>
              <a:rPr lang="zh-CN" altLang="en-US" sz="2200" dirty="0"/>
              <a:t>    也可以是对已创建存储过程的调用</a:t>
            </a:r>
            <a:endParaRPr lang="zh-CN" altLang="en-US" sz="2200" dirty="0"/>
          </a:p>
          <a:p>
            <a:pPr lvl="1">
              <a:lnSpc>
                <a:spcPct val="150000"/>
              </a:lnSpc>
              <a:spcBef>
                <a:spcPts val="0"/>
              </a:spcBef>
              <a:buSzPct val="87000"/>
              <a:buFont typeface="Wingdings" panose="05000000000000000000" pitchFamily="2" charset="2"/>
              <a:buChar char="l"/>
            </a:pPr>
            <a:r>
              <a:rPr lang="zh-CN" altLang="en-US" sz="2200" dirty="0"/>
              <a:t>如果是行级触发器，用户可以在过程体中使用</a:t>
            </a:r>
            <a:r>
              <a:rPr lang="en-US" altLang="zh-CN" sz="2200" dirty="0"/>
              <a:t>NEW</a:t>
            </a:r>
            <a:r>
              <a:rPr lang="zh-CN" altLang="en-US" sz="2200" dirty="0"/>
              <a:t>和</a:t>
            </a:r>
            <a:r>
              <a:rPr lang="en-US" altLang="zh-CN" sz="2200" dirty="0"/>
              <a:t>OLD</a:t>
            </a:r>
            <a:r>
              <a:rPr lang="zh-CN" altLang="en-US" sz="2200" dirty="0"/>
              <a:t>引用</a:t>
            </a:r>
            <a:r>
              <a:rPr lang="en-US" altLang="zh-CN" sz="2200" dirty="0">
                <a:latin typeface="Calibri" panose="020F0502020204030204" pitchFamily="34" charset="0"/>
                <a:cs typeface="Times New Roman" panose="02020603050405020304" pitchFamily="18" charset="0"/>
              </a:rPr>
              <a:t>UPDATE/INSERT</a:t>
            </a:r>
            <a:r>
              <a:rPr lang="zh-CN" altLang="en-US" sz="2200" dirty="0"/>
              <a:t>事件之后的新值和</a:t>
            </a:r>
            <a:r>
              <a:rPr lang="en-US" altLang="zh-CN" sz="2200" dirty="0">
                <a:latin typeface="Calibri" panose="020F0502020204030204" pitchFamily="34" charset="0"/>
                <a:cs typeface="Times New Roman" panose="02020603050405020304" pitchFamily="18" charset="0"/>
              </a:rPr>
              <a:t>UPDATE/DELETE</a:t>
            </a:r>
            <a:r>
              <a:rPr lang="zh-CN" altLang="en-US" sz="2200" dirty="0"/>
              <a:t>事件之前的旧值</a:t>
            </a:r>
            <a:endParaRPr lang="zh-CN" altLang="en-US" sz="2200" dirty="0"/>
          </a:p>
          <a:p>
            <a:pPr lvl="1">
              <a:lnSpc>
                <a:spcPct val="150000"/>
              </a:lnSpc>
              <a:spcBef>
                <a:spcPts val="0"/>
              </a:spcBef>
              <a:buSzPct val="87000"/>
              <a:buFont typeface="Wingdings" panose="05000000000000000000" pitchFamily="2" charset="2"/>
              <a:buChar char="l"/>
            </a:pPr>
            <a:r>
              <a:rPr lang="zh-CN" altLang="en-US" sz="2200" dirty="0"/>
              <a:t>如果是语句级触发器，不能在触发动作体中使用</a:t>
            </a:r>
            <a:r>
              <a:rPr lang="en-US" altLang="zh-CN" sz="2200" dirty="0"/>
              <a:t>NEW</a:t>
            </a:r>
            <a:r>
              <a:rPr lang="zh-CN" altLang="en-US" sz="2200" dirty="0"/>
              <a:t>或</a:t>
            </a:r>
            <a:r>
              <a:rPr lang="en-US" altLang="zh-CN" sz="2200" dirty="0"/>
              <a:t>OLD</a:t>
            </a:r>
            <a:r>
              <a:rPr lang="zh-CN" altLang="en-US" sz="2200" dirty="0"/>
              <a:t>进行引用</a:t>
            </a:r>
            <a:endParaRPr lang="zh-CN" altLang="en-US" sz="2200" dirty="0"/>
          </a:p>
          <a:p>
            <a:pPr lvl="1">
              <a:lnSpc>
                <a:spcPct val="150000"/>
              </a:lnSpc>
              <a:spcBef>
                <a:spcPts val="0"/>
              </a:spcBef>
              <a:buSzPct val="87000"/>
              <a:buFont typeface="Wingdings" panose="05000000000000000000" pitchFamily="2" charset="2"/>
              <a:buChar char="l"/>
            </a:pPr>
            <a:r>
              <a:rPr lang="zh-CN" altLang="en-US" sz="2200" dirty="0"/>
              <a:t>如果触发动作体执行失败，激活触发器的事件就会终止执行，触发器的目标表或触发器可能影响的其他对象不发生任何变化 </a:t>
            </a:r>
            <a:endParaRPr lang="zh-CN" altLang="en-US"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9635" name="Rectangle 2"/>
          <p:cNvSpPr>
            <a:spLocks noGrp="1" noChangeArrowheads="1"/>
          </p:cNvSpPr>
          <p:nvPr>
            <p:ph type="title" idx="4294967295"/>
          </p:nvPr>
        </p:nvSpPr>
        <p:spPr/>
        <p:txBody>
          <a:bodyPr/>
          <a:lstStyle/>
          <a:p>
            <a:pPr eaLnBrk="1" hangingPunct="1"/>
            <a:r>
              <a:rPr lang="zh-CN" altLang="en-US" sz="3600"/>
              <a:t>定义触发器</a:t>
            </a:r>
            <a:r>
              <a:rPr lang="en-US" altLang="zh-CN" sz="3600"/>
              <a:t>（</a:t>
            </a:r>
            <a:r>
              <a:rPr lang="zh-CN" altLang="en-US" sz="3600"/>
              <a:t>续</a:t>
            </a:r>
            <a:r>
              <a:rPr lang="en-US" altLang="zh-CN" sz="3600"/>
              <a:t>）</a:t>
            </a:r>
            <a:endParaRPr lang="en-US" altLang="zh-CN" sz="3600"/>
          </a:p>
        </p:txBody>
      </p:sp>
      <p:sp>
        <p:nvSpPr>
          <p:cNvPr id="69636" name="Rectangle 3"/>
          <p:cNvSpPr>
            <a:spLocks noGrp="1" noChangeArrowheads="1"/>
          </p:cNvSpPr>
          <p:nvPr>
            <p:ph type="body" idx="4294967295"/>
          </p:nvPr>
        </p:nvSpPr>
        <p:spPr>
          <a:xfrm>
            <a:off x="609600" y="932063"/>
            <a:ext cx="10972800" cy="5449688"/>
          </a:xfrm>
        </p:spPr>
        <p:txBody>
          <a:bodyPr/>
          <a:lstStyle/>
          <a:p>
            <a:pPr eaLnBrk="1" hangingPunct="1">
              <a:lnSpc>
                <a:spcPct val="120000"/>
              </a:lnSpc>
              <a:spcBef>
                <a:spcPct val="0"/>
              </a:spcBef>
              <a:buFont typeface="Wingdings" panose="05000000000000000000" pitchFamily="2" charset="2"/>
              <a:buNone/>
            </a:pPr>
            <a:r>
              <a:rPr lang="en-US" altLang="zh-CN" sz="2400" dirty="0"/>
              <a:t>[</a:t>
            </a:r>
            <a:r>
              <a:rPr lang="zh-CN" altLang="en-US" sz="2400" dirty="0" smtClean="0"/>
              <a:t>例</a:t>
            </a:r>
            <a:r>
              <a:rPr lang="en-US" altLang="zh-CN" sz="2400" dirty="0" smtClean="0"/>
              <a:t>5.18]</a:t>
            </a:r>
            <a:r>
              <a:rPr lang="zh-CN" altLang="en-US" sz="2400" dirty="0" smtClean="0"/>
              <a:t> </a:t>
            </a:r>
            <a:r>
              <a:rPr lang="zh-CN" altLang="en-US" sz="2000" dirty="0"/>
              <a:t>当对表</a:t>
            </a:r>
            <a:r>
              <a:rPr lang="en-US" altLang="zh-CN" sz="2000" dirty="0"/>
              <a:t>SC</a:t>
            </a:r>
            <a:r>
              <a:rPr lang="zh-CN" altLang="en-US" sz="2000" dirty="0"/>
              <a:t>的</a:t>
            </a:r>
            <a:r>
              <a:rPr lang="en-US" altLang="zh-CN" sz="2000" dirty="0"/>
              <a:t>Grade</a:t>
            </a:r>
            <a:r>
              <a:rPr lang="zh-CN" altLang="en-US" sz="2000" dirty="0"/>
              <a:t>属性进行修改时，若分数增加了</a:t>
            </a:r>
            <a:r>
              <a:rPr lang="en-US" altLang="zh-CN" sz="2000" dirty="0"/>
              <a:t>10%</a:t>
            </a:r>
            <a:r>
              <a:rPr lang="zh-CN" altLang="en-US" sz="2000" dirty="0"/>
              <a:t>，则将此次操作记录到另一个表</a:t>
            </a:r>
            <a:r>
              <a:rPr lang="en-US" altLang="zh-CN" sz="2000" dirty="0"/>
              <a:t>SC_U</a:t>
            </a:r>
            <a:r>
              <a:rPr lang="zh-CN" altLang="en-US" sz="2000" dirty="0"/>
              <a:t>（</a:t>
            </a:r>
            <a:r>
              <a:rPr lang="en-US" altLang="zh-CN" sz="2000" dirty="0" err="1"/>
              <a:t>Sno</a:t>
            </a:r>
            <a:r>
              <a:rPr lang="zh-CN" altLang="en-US" sz="2000" dirty="0"/>
              <a:t>、</a:t>
            </a:r>
            <a:r>
              <a:rPr lang="en-US" altLang="zh-CN" sz="2000" dirty="0" err="1"/>
              <a:t>Cno</a:t>
            </a:r>
            <a:r>
              <a:rPr lang="zh-CN" altLang="en-US" sz="2000" dirty="0"/>
              <a:t>、</a:t>
            </a:r>
            <a:r>
              <a:rPr lang="en-US" altLang="zh-CN" sz="2000" dirty="0" err="1"/>
              <a:t>Oldgrade</a:t>
            </a:r>
            <a:r>
              <a:rPr lang="zh-CN" altLang="en-US" sz="2000" dirty="0"/>
              <a:t>、</a:t>
            </a:r>
            <a:r>
              <a:rPr lang="en-US" altLang="zh-CN" sz="2000" dirty="0" err="1"/>
              <a:t>Newgrade</a:t>
            </a:r>
            <a:r>
              <a:rPr lang="zh-CN" altLang="en-US" sz="2000" dirty="0"/>
              <a:t>）中，其中</a:t>
            </a:r>
            <a:r>
              <a:rPr lang="en-US" altLang="zh-CN" sz="2000" dirty="0" err="1"/>
              <a:t>Oldgrade</a:t>
            </a:r>
            <a:r>
              <a:rPr lang="zh-CN" altLang="en-US" sz="2000" dirty="0"/>
              <a:t>是修改前的分数，</a:t>
            </a:r>
            <a:r>
              <a:rPr lang="en-US" altLang="zh-CN" sz="2000" dirty="0" err="1"/>
              <a:t>Newgrade</a:t>
            </a:r>
            <a:r>
              <a:rPr lang="zh-CN" altLang="en-US" sz="2000" dirty="0"/>
              <a:t>是修改后的分数</a:t>
            </a:r>
            <a:endParaRPr lang="zh-CN" altLang="en-US" sz="2000" dirty="0"/>
          </a:p>
          <a:p>
            <a:pPr eaLnBrk="1" hangingPunct="1">
              <a:lnSpc>
                <a:spcPct val="120000"/>
              </a:lnSpc>
              <a:spcBef>
                <a:spcPct val="0"/>
              </a:spcBef>
              <a:buFont typeface="Wingdings" panose="05000000000000000000" pitchFamily="2" charset="2"/>
              <a:buNone/>
            </a:pPr>
            <a:r>
              <a:rPr lang="en-US" altLang="zh-CN" sz="2000" dirty="0"/>
              <a:t>     </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CREATE TRIGGER SC_T		</a:t>
            </a:r>
            <a:r>
              <a:rPr lang="en-US" altLang="zh-CN" sz="1400" dirty="0"/>
              <a:t>/*SC_T</a:t>
            </a:r>
            <a:r>
              <a:rPr lang="zh-CN" altLang="en-US" sz="1400" dirty="0"/>
              <a:t>是触发器的名字*</a:t>
            </a:r>
            <a:r>
              <a:rPr lang="en-US" altLang="zh-CN" sz="1400" dirty="0"/>
              <a:t>/</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AFTER UPDATE OF Grade ON SC     </a:t>
            </a:r>
            <a:r>
              <a:rPr lang="en-US" altLang="zh-CN" sz="1400" dirty="0"/>
              <a:t>/*UPDATE OF Grade ON SC</a:t>
            </a:r>
            <a:r>
              <a:rPr lang="zh-CN" altLang="en-US" sz="1400" dirty="0"/>
              <a:t>是触发事件*</a:t>
            </a:r>
            <a:r>
              <a:rPr lang="en-US" altLang="zh-CN" sz="1400" dirty="0"/>
              <a:t>/</a:t>
            </a:r>
            <a:endParaRPr lang="en-US" altLang="zh-CN" sz="1400" dirty="0"/>
          </a:p>
          <a:p>
            <a:pPr eaLnBrk="1" hangingPunct="1">
              <a:lnSpc>
                <a:spcPct val="110000"/>
              </a:lnSpc>
              <a:spcBef>
                <a:spcPct val="0"/>
              </a:spcBef>
              <a:buFont typeface="Wingdings" panose="05000000000000000000" pitchFamily="2" charset="2"/>
              <a:buNone/>
            </a:pPr>
            <a:r>
              <a:rPr lang="en-US" altLang="zh-CN" sz="2000" dirty="0"/>
              <a:t>	                       </a:t>
            </a:r>
            <a:r>
              <a:rPr lang="en-US" altLang="zh-CN" sz="1400" dirty="0"/>
              <a:t>/* AFTER</a:t>
            </a:r>
            <a:r>
              <a:rPr lang="zh-CN" altLang="en-US" sz="1400" dirty="0"/>
              <a:t>是触发的时机，表示当对</a:t>
            </a:r>
            <a:r>
              <a:rPr lang="en-US" altLang="zh-CN" sz="1400" dirty="0"/>
              <a:t>SC</a:t>
            </a:r>
            <a:r>
              <a:rPr lang="zh-CN" altLang="en-US" sz="1400" dirty="0"/>
              <a:t>的</a:t>
            </a:r>
            <a:r>
              <a:rPr lang="en-US" altLang="zh-CN" sz="1400" dirty="0"/>
              <a:t>Grade</a:t>
            </a:r>
            <a:r>
              <a:rPr lang="zh-CN" altLang="en-US" sz="1400" dirty="0"/>
              <a:t>属性修改完后再触发下面的规则*</a:t>
            </a:r>
            <a:r>
              <a:rPr lang="en-US" altLang="zh-CN" sz="1400" dirty="0"/>
              <a:t>/</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REFERENCING </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a:t>
            </a:r>
            <a:r>
              <a:rPr lang="en-US" altLang="zh-CN" sz="2000" dirty="0">
                <a:solidFill>
                  <a:srgbClr val="C00000"/>
                </a:solidFill>
              </a:rPr>
              <a:t>OLDROW </a:t>
            </a:r>
            <a:r>
              <a:rPr lang="en-US" altLang="zh-CN" sz="2000" dirty="0"/>
              <a:t>AS </a:t>
            </a:r>
            <a:r>
              <a:rPr lang="en-US" altLang="zh-CN" sz="2000" dirty="0" err="1"/>
              <a:t>OldTuple</a:t>
            </a:r>
            <a:r>
              <a:rPr lang="en-US" altLang="zh-CN" sz="2000" dirty="0"/>
              <a:t>,</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a:t>
            </a:r>
            <a:r>
              <a:rPr lang="en-US" altLang="zh-CN" sz="2000" dirty="0">
                <a:solidFill>
                  <a:srgbClr val="C00000"/>
                </a:solidFill>
              </a:rPr>
              <a:t>NEWROW </a:t>
            </a:r>
            <a:r>
              <a:rPr lang="en-US" altLang="zh-CN" sz="2000" dirty="0"/>
              <a:t>AS </a:t>
            </a:r>
            <a:r>
              <a:rPr lang="en-US" altLang="zh-CN" sz="2000" dirty="0" err="1"/>
              <a:t>NewTuple</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FOR EACH ROW     </a:t>
            </a:r>
            <a:r>
              <a:rPr lang="en-US" altLang="zh-CN" sz="1400" dirty="0"/>
              <a:t>/*</a:t>
            </a:r>
            <a:r>
              <a:rPr lang="zh-CN" altLang="en-US" sz="1400" dirty="0"/>
              <a:t>行级触发器，即每执行一次</a:t>
            </a:r>
            <a:r>
              <a:rPr lang="en-US" altLang="zh-CN" sz="1400" dirty="0"/>
              <a:t>Grade</a:t>
            </a:r>
            <a:r>
              <a:rPr lang="zh-CN" altLang="en-US" sz="1400" dirty="0"/>
              <a:t>的更新，下面的规则就执行一次*</a:t>
            </a:r>
            <a:r>
              <a:rPr lang="en-US" altLang="zh-CN" sz="1400" dirty="0"/>
              <a:t>/</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WHEN (</a:t>
            </a:r>
            <a:r>
              <a:rPr lang="en-US" altLang="zh-CN" sz="2000" dirty="0" err="1"/>
              <a:t>NewTuple.Grade</a:t>
            </a:r>
            <a:r>
              <a:rPr lang="en-US" altLang="zh-CN" sz="2000" dirty="0"/>
              <a:t> &gt;= 1.1 * </a:t>
            </a:r>
            <a:r>
              <a:rPr lang="en-US" altLang="zh-CN" sz="2000" dirty="0" err="1"/>
              <a:t>OldTuple.Grade</a:t>
            </a:r>
            <a:r>
              <a:rPr lang="en-US" altLang="zh-CN" sz="2000" dirty="0"/>
              <a:t>)   </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a:t>
            </a:r>
            <a:r>
              <a:rPr lang="en-US" altLang="zh-CN" sz="1400" dirty="0"/>
              <a:t>/*</a:t>
            </a:r>
            <a:r>
              <a:rPr lang="zh-CN" altLang="en-US" sz="1400" dirty="0"/>
              <a:t>触发条件，只有该条件为真时才执行*</a:t>
            </a:r>
            <a:r>
              <a:rPr lang="en-US" altLang="zh-CN" sz="1400" dirty="0"/>
              <a:t>/</a:t>
            </a:r>
            <a:endParaRPr lang="en-US" altLang="zh-CN" sz="2000" dirty="0"/>
          </a:p>
          <a:p>
            <a:pPr eaLnBrk="1" hangingPunct="1">
              <a:lnSpc>
                <a:spcPct val="110000"/>
              </a:lnSpc>
              <a:spcBef>
                <a:spcPct val="0"/>
              </a:spcBef>
              <a:buFont typeface="Wingdings" panose="05000000000000000000" pitchFamily="2" charset="2"/>
              <a:buNone/>
            </a:pPr>
            <a:r>
              <a:rPr lang="en-US" altLang="zh-CN" sz="2000" dirty="0"/>
              <a:t>     INSERT INTO SC_U (</a:t>
            </a:r>
            <a:r>
              <a:rPr lang="en-US" altLang="zh-CN" sz="2000" dirty="0" err="1"/>
              <a:t>Sno,Cno,OldGrade,NewGrade</a:t>
            </a:r>
            <a:r>
              <a:rPr lang="en-US" altLang="zh-CN" sz="2000" dirty="0"/>
              <a:t>)       </a:t>
            </a:r>
            <a:r>
              <a:rPr lang="en-US" altLang="zh-CN" sz="1400" dirty="0"/>
              <a:t>/*</a:t>
            </a:r>
            <a:r>
              <a:rPr lang="zh-CN" altLang="en-US" sz="1400" dirty="0"/>
              <a:t>下面的</a:t>
            </a:r>
            <a:r>
              <a:rPr lang="en-US" altLang="zh-CN" sz="1400" dirty="0"/>
              <a:t>insert</a:t>
            </a:r>
            <a:r>
              <a:rPr lang="zh-CN" altLang="en-US" sz="1400" dirty="0"/>
              <a:t>操作*</a:t>
            </a:r>
            <a:r>
              <a:rPr lang="en-US" altLang="zh-CN" sz="1400" dirty="0"/>
              <a:t>/</a:t>
            </a:r>
            <a:r>
              <a:rPr lang="en-US" altLang="zh-CN" sz="2000" dirty="0"/>
              <a:t>     </a:t>
            </a:r>
            <a:r>
              <a:rPr lang="en-US" altLang="zh-CN" sz="1900" dirty="0"/>
              <a:t>VALUES(</a:t>
            </a:r>
            <a:r>
              <a:rPr lang="en-US" altLang="zh-CN" sz="1900" dirty="0" err="1"/>
              <a:t>OldTuple.Sno,OldTuple.Cno,OldTuple.Grade,NewTuple.Grade</a:t>
            </a:r>
            <a:r>
              <a:rPr lang="en-US" altLang="zh-CN" sz="1900" dirty="0"/>
              <a:t>)</a:t>
            </a:r>
            <a:endParaRPr lang="en-US" altLang="zh-CN" sz="1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0659" name="Rectangle 2"/>
          <p:cNvSpPr>
            <a:spLocks noGrp="1" noChangeArrowheads="1"/>
          </p:cNvSpPr>
          <p:nvPr>
            <p:ph type="title" idx="4294967295"/>
          </p:nvPr>
        </p:nvSpPr>
        <p:spPr/>
        <p:txBody>
          <a:bodyPr/>
          <a:lstStyle/>
          <a:p>
            <a:pPr eaLnBrk="1" hangingPunct="1"/>
            <a:r>
              <a:rPr lang="zh-CN" altLang="en-US" sz="3600"/>
              <a:t>定义触发器</a:t>
            </a:r>
            <a:r>
              <a:rPr lang="en-US" altLang="zh-CN" sz="3600"/>
              <a:t>（</a:t>
            </a:r>
            <a:r>
              <a:rPr lang="zh-CN" altLang="en-US" sz="3600"/>
              <a:t>续</a:t>
            </a:r>
            <a:r>
              <a:rPr lang="en-US" altLang="zh-CN" sz="3600"/>
              <a:t>）</a:t>
            </a:r>
            <a:endParaRPr lang="en-US" altLang="zh-CN" sz="3600"/>
          </a:p>
        </p:txBody>
      </p:sp>
      <p:sp>
        <p:nvSpPr>
          <p:cNvPr id="70660" name="Rectangle 3"/>
          <p:cNvSpPr>
            <a:spLocks noGrp="1" noChangeArrowheads="1"/>
          </p:cNvSpPr>
          <p:nvPr>
            <p:ph type="body" idx="4294967295"/>
          </p:nvPr>
        </p:nvSpPr>
        <p:spPr>
          <a:xfrm>
            <a:off x="983432" y="1125393"/>
            <a:ext cx="9577064" cy="4678263"/>
          </a:xfrm>
        </p:spPr>
        <p:txBody>
          <a:bodyPr/>
          <a:lstStyle/>
          <a:p>
            <a:pPr eaLnBrk="1" hangingPunct="1">
              <a:buFont typeface="Wingdings" panose="05000000000000000000" pitchFamily="2" charset="2"/>
              <a:buNone/>
            </a:pPr>
            <a:r>
              <a:rPr lang="en-US" altLang="zh-CN" sz="2400" dirty="0"/>
              <a:t>[</a:t>
            </a:r>
            <a:r>
              <a:rPr lang="zh-CN" altLang="en-US" sz="2400" dirty="0" smtClean="0"/>
              <a:t>例 </a:t>
            </a:r>
            <a:r>
              <a:rPr lang="en-US" altLang="zh-CN" sz="2400" dirty="0" smtClean="0"/>
              <a:t>5.19]</a:t>
            </a:r>
            <a:r>
              <a:rPr lang="zh-CN" altLang="en-US" sz="2400" dirty="0" smtClean="0"/>
              <a:t>将</a:t>
            </a:r>
            <a:r>
              <a:rPr lang="zh-CN" altLang="en-US" sz="2400" dirty="0"/>
              <a:t>每次对表</a:t>
            </a:r>
            <a:r>
              <a:rPr lang="en-US" altLang="zh-CN" sz="2400" dirty="0"/>
              <a:t>Student</a:t>
            </a:r>
            <a:r>
              <a:rPr lang="zh-CN" altLang="en-US" sz="2400" dirty="0"/>
              <a:t>的插入操作所增加的学生个数记录到表</a:t>
            </a:r>
            <a:r>
              <a:rPr lang="en-US" altLang="zh-CN" sz="2400" dirty="0"/>
              <a:t>Student- </a:t>
            </a:r>
            <a:r>
              <a:rPr lang="en-US" altLang="zh-CN" sz="2400" dirty="0" err="1"/>
              <a:t>InsertLog</a:t>
            </a:r>
            <a:r>
              <a:rPr lang="zh-CN" altLang="en-US" sz="2400" dirty="0"/>
              <a:t>中</a:t>
            </a:r>
            <a:endParaRPr lang="en-US" altLang="zh-CN" sz="2400" dirty="0"/>
          </a:p>
          <a:p>
            <a:pPr eaLnBrk="1" hangingPunct="1">
              <a:buFont typeface="Wingdings" panose="05000000000000000000" pitchFamily="2" charset="2"/>
              <a:buNone/>
            </a:pPr>
            <a:endParaRPr lang="zh-CN" altLang="en-US" sz="2400" dirty="0"/>
          </a:p>
          <a:p>
            <a:pPr eaLnBrk="1" hangingPunct="1">
              <a:lnSpc>
                <a:spcPct val="120000"/>
              </a:lnSpc>
              <a:spcBef>
                <a:spcPct val="0"/>
              </a:spcBef>
              <a:buFont typeface="Wingdings" panose="05000000000000000000" pitchFamily="2" charset="2"/>
              <a:buNone/>
            </a:pPr>
            <a:r>
              <a:rPr lang="en-US" altLang="zh-CN" sz="2200" dirty="0"/>
              <a:t>CREATE TRIGGER </a:t>
            </a:r>
            <a:r>
              <a:rPr lang="en-US" altLang="zh-CN" sz="2200" dirty="0" err="1"/>
              <a:t>Student_Count</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AFTER INSERT ON Student         </a:t>
            </a:r>
            <a:r>
              <a:rPr lang="en-US" altLang="zh-CN" sz="1400" dirty="0"/>
              <a:t>/*</a:t>
            </a:r>
            <a:r>
              <a:rPr lang="zh-CN" altLang="en-US" sz="1400" dirty="0"/>
              <a:t>指明触发器激活的时间是在执行</a:t>
            </a:r>
            <a:r>
              <a:rPr lang="en-US" altLang="zh-CN" sz="1400" dirty="0"/>
              <a:t>INSERT</a:t>
            </a:r>
            <a:r>
              <a:rPr lang="zh-CN" altLang="en-US" sz="1400" dirty="0"/>
              <a:t>后*</a:t>
            </a:r>
            <a:r>
              <a:rPr lang="en-US" altLang="zh-CN" sz="1400" dirty="0"/>
              <a:t>/</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REFERENCING</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a:t>
            </a:r>
            <a:r>
              <a:rPr lang="en-US" altLang="zh-CN" sz="2200" dirty="0">
                <a:solidFill>
                  <a:srgbClr val="C00000"/>
                </a:solidFill>
              </a:rPr>
              <a:t>NEWTABLE </a:t>
            </a:r>
            <a:r>
              <a:rPr lang="en-US" altLang="zh-CN" sz="2200" dirty="0"/>
              <a:t>AS Delta</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FOR EACH STATEMENT </a:t>
            </a:r>
            <a:r>
              <a:rPr lang="zh-CN" altLang="en-US" sz="2200" dirty="0"/>
              <a:t>  </a:t>
            </a:r>
            <a:r>
              <a:rPr lang="en-US" altLang="zh-CN" sz="1400" dirty="0"/>
              <a:t>/*</a:t>
            </a:r>
            <a:r>
              <a:rPr lang="zh-CN" altLang="en-US" sz="1400" dirty="0"/>
              <a:t>语句级触发器，即执行完</a:t>
            </a:r>
            <a:r>
              <a:rPr lang="en-US" altLang="zh-CN" sz="1400" dirty="0"/>
              <a:t>INSERT</a:t>
            </a:r>
            <a:r>
              <a:rPr lang="zh-CN" altLang="en-US" sz="1400" dirty="0"/>
              <a:t>语句后下面的触发动作体才执行一次*</a:t>
            </a:r>
            <a:r>
              <a:rPr lang="en-US" altLang="zh-CN" sz="1400" dirty="0"/>
              <a:t>/</a:t>
            </a:r>
            <a:endParaRPr lang="en-US" altLang="zh-CN" sz="1400" dirty="0"/>
          </a:p>
          <a:p>
            <a:pPr eaLnBrk="1" hangingPunct="1">
              <a:lnSpc>
                <a:spcPct val="120000"/>
              </a:lnSpc>
              <a:spcBef>
                <a:spcPct val="0"/>
              </a:spcBef>
              <a:buFont typeface="Wingdings" panose="05000000000000000000" pitchFamily="2" charset="2"/>
              <a:buNone/>
            </a:pPr>
            <a:r>
              <a:rPr lang="en-US" altLang="zh-CN" sz="2200" dirty="0"/>
              <a:t>         INSERT INTO </a:t>
            </a:r>
            <a:r>
              <a:rPr lang="en-US" altLang="zh-CN" sz="2200" dirty="0" err="1"/>
              <a:t>StudentInsertLog</a:t>
            </a:r>
            <a:r>
              <a:rPr lang="en-US" altLang="zh-CN" sz="2200" dirty="0"/>
              <a:t> (Numbers)</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SELECT COUNT(*) FROM Delta</a:t>
            </a:r>
            <a:endParaRPr lang="en-US" altLang="zh-CN" sz="2200" dirty="0"/>
          </a:p>
          <a:p>
            <a:pPr eaLnBrk="1" hangingPunct="1">
              <a:lnSpc>
                <a:spcPct val="130000"/>
              </a:lnSpc>
              <a:buFont typeface="Wingdings" panose="05000000000000000000" pitchFamily="2" charset="2"/>
              <a:buNone/>
            </a:pPr>
            <a:endParaRPr lang="en-US" altLang="zh-CN" sz="2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683" name="Rectangle 2"/>
          <p:cNvSpPr>
            <a:spLocks noGrp="1" noChangeArrowheads="1"/>
          </p:cNvSpPr>
          <p:nvPr>
            <p:ph type="title" idx="4294967295"/>
          </p:nvPr>
        </p:nvSpPr>
        <p:spPr/>
        <p:txBody>
          <a:bodyPr/>
          <a:lstStyle/>
          <a:p>
            <a:pPr eaLnBrk="1" hangingPunct="1"/>
            <a:r>
              <a:rPr lang="zh-CN" altLang="en-US" sz="3600"/>
              <a:t>定义触发器</a:t>
            </a:r>
            <a:r>
              <a:rPr lang="en-US" altLang="zh-CN" sz="3600"/>
              <a:t>（</a:t>
            </a:r>
            <a:r>
              <a:rPr lang="zh-CN" altLang="en-US" sz="3600"/>
              <a:t>续</a:t>
            </a:r>
            <a:r>
              <a:rPr lang="en-US" altLang="zh-CN" sz="3600"/>
              <a:t>）</a:t>
            </a:r>
            <a:endParaRPr lang="en-US" altLang="zh-CN" sz="3600"/>
          </a:p>
        </p:txBody>
      </p:sp>
      <p:sp>
        <p:nvSpPr>
          <p:cNvPr id="71684" name="Rectangle 3"/>
          <p:cNvSpPr>
            <a:spLocks noGrp="1" noChangeArrowheads="1"/>
          </p:cNvSpPr>
          <p:nvPr>
            <p:ph type="body" idx="4294967295"/>
          </p:nvPr>
        </p:nvSpPr>
        <p:spPr>
          <a:xfrm>
            <a:off x="731404" y="1069975"/>
            <a:ext cx="11125236" cy="5472113"/>
          </a:xfrm>
        </p:spPr>
        <p:txBody>
          <a:bodyPr/>
          <a:lstStyle/>
          <a:p>
            <a:pPr eaLnBrk="1" hangingPunct="1">
              <a:lnSpc>
                <a:spcPct val="130000"/>
              </a:lnSpc>
              <a:buFont typeface="Wingdings" panose="05000000000000000000" pitchFamily="2" charset="2"/>
              <a:buNone/>
            </a:pPr>
            <a:r>
              <a:rPr lang="en-US" altLang="zh-CN" sz="2200" dirty="0"/>
              <a:t>[</a:t>
            </a:r>
            <a:r>
              <a:rPr lang="zh-CN" altLang="en-US" sz="2200" dirty="0"/>
              <a:t>例5.</a:t>
            </a:r>
            <a:r>
              <a:rPr lang="en-US" altLang="zh-CN" sz="2200" dirty="0"/>
              <a:t>20] </a:t>
            </a:r>
            <a:r>
              <a:rPr lang="zh-CN" altLang="en-US" sz="2200" dirty="0"/>
              <a:t>定义一个</a:t>
            </a:r>
            <a:r>
              <a:rPr lang="en-US" altLang="zh-CN" sz="2200" dirty="0"/>
              <a:t>BEFORE</a:t>
            </a:r>
            <a:r>
              <a:rPr lang="zh-CN" altLang="en-US" sz="2200" dirty="0"/>
              <a:t>行级触发器，为教师表</a:t>
            </a:r>
            <a:r>
              <a:rPr lang="en-US" altLang="zh-CN" sz="2200" dirty="0"/>
              <a:t>Teacher</a:t>
            </a:r>
            <a:r>
              <a:rPr lang="zh-CN" altLang="en-US" sz="2200" dirty="0"/>
              <a:t>定义完整性规则“教授的工资不得低于</a:t>
            </a:r>
            <a:r>
              <a:rPr lang="en-US" altLang="zh-CN" sz="2200" dirty="0"/>
              <a:t>4000</a:t>
            </a:r>
            <a:r>
              <a:rPr lang="zh-CN" altLang="en-US" sz="2200" dirty="0"/>
              <a:t>元，如果低于</a:t>
            </a:r>
            <a:r>
              <a:rPr lang="en-US" altLang="zh-CN" sz="2200" dirty="0"/>
              <a:t>4000</a:t>
            </a:r>
            <a:r>
              <a:rPr lang="zh-CN" altLang="en-US" sz="2200" dirty="0"/>
              <a:t>元，自动改为</a:t>
            </a:r>
            <a:r>
              <a:rPr lang="en-US" altLang="zh-CN" sz="2200" dirty="0"/>
              <a:t>4000</a:t>
            </a:r>
            <a:r>
              <a:rPr lang="zh-CN" altLang="en-US" sz="2200" dirty="0"/>
              <a:t>元”。</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CREATE TRIGGER </a:t>
            </a:r>
            <a:r>
              <a:rPr lang="en-US" altLang="zh-CN" sz="2200" dirty="0" err="1"/>
              <a:t>Insert_Or_Update_Sal</a:t>
            </a:r>
            <a:r>
              <a:rPr lang="en-US" altLang="zh-CN" sz="2200" dirty="0"/>
              <a:t> 	</a:t>
            </a:r>
            <a:r>
              <a:rPr lang="en-US" altLang="zh-CN" sz="1800" dirty="0"/>
              <a:t>/*</a:t>
            </a:r>
            <a:r>
              <a:rPr lang="zh-CN" altLang="en-US" sz="1800" dirty="0"/>
              <a:t>对教师表插入或更新时激活触发器*</a:t>
            </a:r>
            <a:r>
              <a:rPr lang="en-US" altLang="zh-CN" sz="1800" dirty="0"/>
              <a:t>/</a:t>
            </a:r>
            <a:endParaRPr lang="en-US" altLang="zh-CN" sz="1800" dirty="0"/>
          </a:p>
          <a:p>
            <a:pPr eaLnBrk="1" hangingPunct="1">
              <a:lnSpc>
                <a:spcPct val="120000"/>
              </a:lnSpc>
              <a:spcBef>
                <a:spcPct val="0"/>
              </a:spcBef>
              <a:buFont typeface="Wingdings" panose="05000000000000000000" pitchFamily="2" charset="2"/>
              <a:buNone/>
            </a:pPr>
            <a:r>
              <a:rPr lang="en-US" altLang="zh-CN" sz="2200" dirty="0"/>
              <a:t>BEFORE INSERT OR UPDATE ON Teacher   	</a:t>
            </a:r>
            <a:r>
              <a:rPr lang="en-US" altLang="zh-CN" sz="1800" dirty="0"/>
              <a:t>/*BEFORE</a:t>
            </a:r>
            <a:r>
              <a:rPr lang="zh-CN" altLang="en-US" sz="1800" dirty="0"/>
              <a:t>触发事件*</a:t>
            </a:r>
            <a:r>
              <a:rPr lang="en-US" altLang="zh-CN" sz="1800" dirty="0"/>
              <a:t>/</a:t>
            </a:r>
            <a:endParaRPr lang="en-US" altLang="zh-CN" sz="1800" dirty="0"/>
          </a:p>
          <a:p>
            <a:pPr eaLnBrk="1" hangingPunct="1">
              <a:lnSpc>
                <a:spcPct val="120000"/>
              </a:lnSpc>
              <a:spcBef>
                <a:spcPct val="0"/>
              </a:spcBef>
              <a:buFont typeface="Wingdings" panose="05000000000000000000" pitchFamily="2" charset="2"/>
              <a:buNone/>
            </a:pPr>
            <a:r>
              <a:rPr lang="en-US" altLang="zh-CN" sz="2200" dirty="0"/>
              <a:t>REFERENCING NEWROW AS </a:t>
            </a:r>
            <a:r>
              <a:rPr lang="en-US" altLang="zh-CN" sz="2200" dirty="0" err="1"/>
              <a:t>newTuple</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FOR EACH ROW  	 			</a:t>
            </a:r>
            <a:r>
              <a:rPr lang="en-US" altLang="zh-CN" sz="2200" dirty="0" smtClean="0"/>
              <a:t>           </a:t>
            </a:r>
            <a:r>
              <a:rPr lang="en-US" altLang="zh-CN" sz="1800" dirty="0" smtClean="0"/>
              <a:t>/*</a:t>
            </a:r>
            <a:r>
              <a:rPr lang="zh-CN" altLang="en-US" sz="1800" dirty="0"/>
              <a:t>这是行级触发器*</a:t>
            </a:r>
            <a:r>
              <a:rPr lang="en-US" altLang="zh-CN" sz="1800" dirty="0"/>
              <a:t>/</a:t>
            </a:r>
            <a:endParaRPr lang="en-US" altLang="zh-CN" sz="1800" dirty="0"/>
          </a:p>
          <a:p>
            <a:pPr eaLnBrk="1" hangingPunct="1">
              <a:lnSpc>
                <a:spcPct val="120000"/>
              </a:lnSpc>
              <a:spcBef>
                <a:spcPct val="0"/>
              </a:spcBef>
              <a:buFont typeface="Wingdings" panose="05000000000000000000" pitchFamily="2" charset="2"/>
              <a:buNone/>
            </a:pPr>
            <a:r>
              <a:rPr lang="en-US" altLang="zh-CN" sz="2200" dirty="0"/>
              <a:t>BEGIN                 	</a:t>
            </a:r>
            <a:r>
              <a:rPr lang="en-US" altLang="zh-CN" sz="1800" dirty="0"/>
              <a:t> </a:t>
            </a:r>
            <a:r>
              <a:rPr lang="en-US" altLang="zh-CN" sz="1800" dirty="0" smtClean="0"/>
              <a:t>                                                </a:t>
            </a:r>
            <a:r>
              <a:rPr lang="en-US" altLang="zh-CN" sz="1800" dirty="0"/>
              <a:t>/*</a:t>
            </a:r>
            <a:r>
              <a:rPr lang="zh-CN" altLang="en-US" sz="1800" dirty="0"/>
              <a:t>定义触发动作体，这是一个</a:t>
            </a:r>
            <a:r>
              <a:rPr lang="en-US" altLang="zh-CN" sz="1800" dirty="0"/>
              <a:t>PL/SQL</a:t>
            </a:r>
            <a:r>
              <a:rPr lang="zh-CN" altLang="en-US" sz="1800" dirty="0"/>
              <a:t>过程块*</a:t>
            </a:r>
            <a:r>
              <a:rPr lang="en-US" altLang="zh-CN" sz="1800" dirty="0"/>
              <a:t>/</a:t>
            </a:r>
            <a:endParaRPr lang="en-US" altLang="zh-CN" sz="1800" dirty="0"/>
          </a:p>
          <a:p>
            <a:pPr eaLnBrk="1" hangingPunct="1">
              <a:lnSpc>
                <a:spcPct val="120000"/>
              </a:lnSpc>
              <a:spcBef>
                <a:spcPct val="0"/>
              </a:spcBef>
              <a:buFont typeface="Wingdings" panose="05000000000000000000" pitchFamily="2" charset="2"/>
              <a:buNone/>
            </a:pPr>
            <a:r>
              <a:rPr lang="en-US" altLang="zh-CN" sz="2200" dirty="0"/>
              <a:t>     IF (</a:t>
            </a:r>
            <a:r>
              <a:rPr lang="en-US" altLang="zh-CN" sz="2200" dirty="0" err="1"/>
              <a:t>newTuple.job</a:t>
            </a:r>
            <a:r>
              <a:rPr lang="en-US" altLang="zh-CN" sz="2200" dirty="0"/>
              <a:t>=‘</a:t>
            </a:r>
            <a:r>
              <a:rPr lang="zh-CN" altLang="en-US" sz="2200" dirty="0"/>
              <a:t>教授</a:t>
            </a:r>
            <a:r>
              <a:rPr lang="en-US" altLang="zh-CN" sz="2200" dirty="0"/>
              <a:t>’) AND (</a:t>
            </a:r>
            <a:r>
              <a:rPr lang="en-US" altLang="zh-CN" sz="2200" dirty="0" err="1"/>
              <a:t>newTuple.sal</a:t>
            </a:r>
            <a:r>
              <a:rPr lang="en-US" altLang="zh-CN" sz="2200" dirty="0"/>
              <a:t> &lt; 4000)</a:t>
            </a:r>
            <a:r>
              <a:rPr lang="zh-CN" altLang="en-US" sz="2200" dirty="0"/>
              <a:t>  </a:t>
            </a:r>
            <a:r>
              <a:rPr lang="en-US" altLang="zh-CN" sz="1400" dirty="0"/>
              <a:t>/*</a:t>
            </a:r>
            <a:r>
              <a:rPr lang="zh-CN" altLang="en-US" sz="1400" dirty="0"/>
              <a:t>因为是行级触发器，可在过程体中*</a:t>
            </a:r>
            <a:r>
              <a:rPr lang="en-US" altLang="zh-CN" sz="1400" dirty="0"/>
              <a:t>/</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         THEN </a:t>
            </a:r>
            <a:r>
              <a:rPr lang="en-US" altLang="zh-CN" sz="2200" dirty="0" err="1"/>
              <a:t>newTuple.sal</a:t>
            </a:r>
            <a:r>
              <a:rPr lang="en-US" altLang="zh-CN" sz="2200" dirty="0"/>
              <a:t> :=4000</a:t>
            </a:r>
            <a:r>
              <a:rPr lang="en-US" altLang="zh-CN" sz="1800" dirty="0"/>
              <a:t>;  </a:t>
            </a:r>
            <a:r>
              <a:rPr lang="en-US" altLang="zh-CN" sz="1800" dirty="0" smtClean="0"/>
              <a:t>                             </a:t>
            </a:r>
            <a:r>
              <a:rPr lang="en-US" altLang="zh-CN" sz="1800" dirty="0"/>
              <a:t>/*</a:t>
            </a:r>
            <a:r>
              <a:rPr lang="zh-CN" altLang="en-US" sz="1800" dirty="0"/>
              <a:t>使用插入或更新操作后的新值*</a:t>
            </a:r>
            <a:r>
              <a:rPr lang="en-US" altLang="zh-CN" sz="1800" dirty="0"/>
              <a:t>/</a:t>
            </a:r>
            <a:endParaRPr lang="en-US" altLang="zh-CN" sz="1800" dirty="0"/>
          </a:p>
          <a:p>
            <a:pPr eaLnBrk="1" hangingPunct="1">
              <a:lnSpc>
                <a:spcPct val="120000"/>
              </a:lnSpc>
              <a:spcBef>
                <a:spcPct val="0"/>
              </a:spcBef>
              <a:buFont typeface="Wingdings" panose="05000000000000000000" pitchFamily="2" charset="2"/>
              <a:buNone/>
            </a:pPr>
            <a:r>
              <a:rPr lang="en-US" altLang="zh-CN" sz="2200" dirty="0"/>
              <a:t>     END IF;</a:t>
            </a:r>
            <a:endParaRPr lang="en-US" altLang="zh-CN" sz="2200" dirty="0"/>
          </a:p>
          <a:p>
            <a:pPr eaLnBrk="1" hangingPunct="1">
              <a:lnSpc>
                <a:spcPct val="120000"/>
              </a:lnSpc>
              <a:spcBef>
                <a:spcPct val="0"/>
              </a:spcBef>
              <a:buFont typeface="Wingdings" panose="05000000000000000000" pitchFamily="2" charset="2"/>
              <a:buNone/>
            </a:pPr>
            <a:r>
              <a:rPr lang="en-US" altLang="zh-CN" sz="2200" dirty="0"/>
              <a:t>END;                            		</a:t>
            </a:r>
            <a:r>
              <a:rPr lang="en-US" altLang="zh-CN" sz="2200" dirty="0" smtClean="0"/>
              <a:t>                         </a:t>
            </a:r>
            <a:r>
              <a:rPr lang="en-US" altLang="zh-CN" sz="1800" dirty="0" smtClean="0"/>
              <a:t>/*</a:t>
            </a:r>
            <a:r>
              <a:rPr lang="zh-CN" altLang="en-US" sz="1800" dirty="0"/>
              <a:t>触发动作体结束*</a:t>
            </a:r>
            <a:r>
              <a:rPr lang="en-US" altLang="zh-CN" sz="1800" dirty="0" smtClean="0"/>
              <a:t>/ </a:t>
            </a:r>
            <a:endParaRPr lang="en-US" altLang="zh-CN"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2707" name="Rectangle 2"/>
          <p:cNvSpPr>
            <a:spLocks noGrp="1" noChangeArrowheads="1"/>
          </p:cNvSpPr>
          <p:nvPr>
            <p:ph type="title" idx="4294967295"/>
          </p:nvPr>
        </p:nvSpPr>
        <p:spPr/>
        <p:txBody>
          <a:bodyPr/>
          <a:lstStyle/>
          <a:p>
            <a:pPr eaLnBrk="1" hangingPunct="1"/>
            <a:r>
              <a:rPr lang="en-US" altLang="zh-CN" sz="3600"/>
              <a:t>5.7  </a:t>
            </a:r>
            <a:r>
              <a:rPr lang="zh-CN" altLang="en-US" sz="3600"/>
              <a:t>触发器</a:t>
            </a:r>
            <a:endParaRPr lang="zh-CN" altLang="en-US" sz="3600"/>
          </a:p>
        </p:txBody>
      </p:sp>
      <p:sp>
        <p:nvSpPr>
          <p:cNvPr id="70660" name="Rectangle 3"/>
          <p:cNvSpPr>
            <a:spLocks noGrp="1" noChangeArrowheads="1"/>
          </p:cNvSpPr>
          <p:nvPr>
            <p:ph type="body" idx="4294967295"/>
          </p:nvPr>
        </p:nvSpPr>
        <p:spPr>
          <a:xfrm>
            <a:off x="1271464" y="1515689"/>
            <a:ext cx="8229600" cy="4854575"/>
          </a:xfrm>
        </p:spPr>
        <p:txBody>
          <a:bodyPr/>
          <a:lstStyle/>
          <a:p>
            <a:pPr marL="0" indent="0" eaLnBrk="1" hangingPunct="1">
              <a:lnSpc>
                <a:spcPct val="190000"/>
              </a:lnSpc>
              <a:buNone/>
            </a:pPr>
            <a:r>
              <a:rPr lang="en-US" altLang="zh-CN" dirty="0"/>
              <a:t>5.7.1 </a:t>
            </a:r>
            <a:r>
              <a:rPr lang="zh-CN" altLang="en-US" dirty="0"/>
              <a:t>定义触发器 </a:t>
            </a:r>
            <a:endParaRPr lang="zh-CN" altLang="en-US" dirty="0"/>
          </a:p>
          <a:p>
            <a:pPr marL="0" indent="0" eaLnBrk="1" hangingPunct="1">
              <a:lnSpc>
                <a:spcPct val="190000"/>
              </a:lnSpc>
              <a:buNone/>
            </a:pPr>
            <a:r>
              <a:rPr lang="en-US" altLang="zh-CN" dirty="0">
                <a:solidFill>
                  <a:srgbClr val="00B050"/>
                </a:solidFill>
              </a:rPr>
              <a:t>5.7.2 </a:t>
            </a:r>
            <a:r>
              <a:rPr lang="zh-CN" altLang="en-US" dirty="0">
                <a:solidFill>
                  <a:srgbClr val="00B050"/>
                </a:solidFill>
              </a:rPr>
              <a:t>执行触发器 </a:t>
            </a:r>
            <a:endParaRPr lang="zh-CN" altLang="en-US" dirty="0">
              <a:solidFill>
                <a:srgbClr val="00B050"/>
              </a:solidFill>
            </a:endParaRPr>
          </a:p>
          <a:p>
            <a:pPr marL="0" indent="0" eaLnBrk="1" hangingPunct="1">
              <a:lnSpc>
                <a:spcPct val="190000"/>
              </a:lnSpc>
              <a:buNone/>
            </a:pPr>
            <a:r>
              <a:rPr lang="en-US" altLang="zh-CN" dirty="0"/>
              <a:t>5.7.3 </a:t>
            </a:r>
            <a:r>
              <a:rPr lang="zh-CN" altLang="en-US" dirty="0"/>
              <a:t>删除触发器 </a:t>
            </a:r>
            <a:endParaRPr lang="zh-CN" altLang="en-US" dirty="0"/>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3731" name="Rectangle 2"/>
          <p:cNvSpPr>
            <a:spLocks noGrp="1" noChangeArrowheads="1"/>
          </p:cNvSpPr>
          <p:nvPr>
            <p:ph type="title" idx="4294967295"/>
          </p:nvPr>
        </p:nvSpPr>
        <p:spPr/>
        <p:txBody>
          <a:bodyPr/>
          <a:lstStyle/>
          <a:p>
            <a:pPr eaLnBrk="1" hangingPunct="1"/>
            <a:r>
              <a:rPr lang="en-US" altLang="zh-CN" sz="3600"/>
              <a:t>5.7.2 </a:t>
            </a:r>
            <a:r>
              <a:rPr lang="zh-CN" altLang="en-US" sz="3600"/>
              <a:t>执行触发器</a:t>
            </a:r>
            <a:endParaRPr lang="zh-CN" altLang="en-US" sz="3600"/>
          </a:p>
        </p:txBody>
      </p:sp>
      <p:sp>
        <p:nvSpPr>
          <p:cNvPr id="73732" name="Rectangle 3"/>
          <p:cNvSpPr>
            <a:spLocks noGrp="1" noChangeArrowheads="1"/>
          </p:cNvSpPr>
          <p:nvPr>
            <p:ph type="body" idx="4294967295"/>
          </p:nvPr>
        </p:nvSpPr>
        <p:spPr/>
        <p:txBody>
          <a:bodyPr/>
          <a:lstStyle/>
          <a:p>
            <a:pPr eaLnBrk="1" hangingPunct="1">
              <a:lnSpc>
                <a:spcPct val="130000"/>
              </a:lnSpc>
            </a:pPr>
            <a:r>
              <a:rPr lang="zh-CN" altLang="en-US"/>
              <a:t>触发器的执行，是由</a:t>
            </a:r>
            <a:r>
              <a:rPr lang="zh-CN" altLang="en-US">
                <a:solidFill>
                  <a:srgbClr val="FF00FF"/>
                </a:solidFill>
              </a:rPr>
              <a:t>触发事件激活</a:t>
            </a:r>
            <a:r>
              <a:rPr lang="zh-CN" altLang="en-US"/>
              <a:t>，并由数据库服务器自动执行</a:t>
            </a:r>
            <a:endParaRPr lang="zh-CN" altLang="en-US"/>
          </a:p>
          <a:p>
            <a:pPr eaLnBrk="1" hangingPunct="1">
              <a:lnSpc>
                <a:spcPct val="130000"/>
              </a:lnSpc>
            </a:pPr>
            <a:r>
              <a:rPr lang="zh-CN" altLang="en-US"/>
              <a:t>一个数据表上可能定义了</a:t>
            </a:r>
            <a:r>
              <a:rPr lang="zh-CN" altLang="en-US">
                <a:solidFill>
                  <a:srgbClr val="FF00FF"/>
                </a:solidFill>
              </a:rPr>
              <a:t>多个触发器</a:t>
            </a:r>
            <a:r>
              <a:rPr lang="zh-CN" altLang="en-US"/>
              <a:t>，遵循执行顺序</a:t>
            </a:r>
            <a:r>
              <a:rPr lang="en-US" altLang="zh-CN" sz="2400"/>
              <a:t>:</a:t>
            </a:r>
            <a:endParaRPr lang="zh-CN" altLang="en-US" sz="2000"/>
          </a:p>
          <a:p>
            <a:pPr lvl="2" eaLnBrk="1" hangingPunct="1">
              <a:lnSpc>
                <a:spcPct val="130000"/>
              </a:lnSpc>
              <a:buFont typeface="Arial" panose="020B0604020202020204" pitchFamily="34" charset="0"/>
              <a:buNone/>
            </a:pPr>
            <a:r>
              <a:rPr lang="zh-CN" altLang="en-US" sz="2400"/>
              <a:t>（</a:t>
            </a:r>
            <a:r>
              <a:rPr lang="en-US" altLang="zh-CN" sz="2400"/>
              <a:t>1</a:t>
            </a:r>
            <a:r>
              <a:rPr lang="zh-CN" altLang="en-US" sz="2400"/>
              <a:t>） 执行该表上的</a:t>
            </a:r>
            <a:r>
              <a:rPr lang="en-US" altLang="zh-CN" sz="2400"/>
              <a:t>BEFORE</a:t>
            </a:r>
            <a:r>
              <a:rPr lang="zh-CN" altLang="en-US" sz="2400"/>
              <a:t>触发器</a:t>
            </a:r>
            <a:endParaRPr lang="zh-CN" altLang="en-US" sz="2400"/>
          </a:p>
          <a:p>
            <a:pPr lvl="2" eaLnBrk="1" hangingPunct="1">
              <a:lnSpc>
                <a:spcPct val="130000"/>
              </a:lnSpc>
              <a:buFont typeface="Arial" panose="020B0604020202020204" pitchFamily="34" charset="0"/>
              <a:buNone/>
            </a:pPr>
            <a:r>
              <a:rPr lang="zh-CN" altLang="en-US" sz="2400"/>
              <a:t>（</a:t>
            </a:r>
            <a:r>
              <a:rPr lang="en-US" altLang="zh-CN" sz="2400"/>
              <a:t>2</a:t>
            </a:r>
            <a:r>
              <a:rPr lang="zh-CN" altLang="en-US" sz="2400"/>
              <a:t>） 激活触发器的</a:t>
            </a:r>
            <a:r>
              <a:rPr lang="en-US" altLang="zh-CN" sz="2400"/>
              <a:t>SQL</a:t>
            </a:r>
            <a:r>
              <a:rPr lang="zh-CN" altLang="en-US" sz="2400"/>
              <a:t>语句</a:t>
            </a:r>
            <a:endParaRPr lang="zh-CN" altLang="en-US" sz="2400"/>
          </a:p>
          <a:p>
            <a:pPr lvl="2" eaLnBrk="1" hangingPunct="1">
              <a:lnSpc>
                <a:spcPct val="130000"/>
              </a:lnSpc>
              <a:buFont typeface="Arial" panose="020B0604020202020204" pitchFamily="34" charset="0"/>
              <a:buNone/>
            </a:pPr>
            <a:r>
              <a:rPr lang="zh-CN" altLang="en-US" sz="2400"/>
              <a:t>（</a:t>
            </a:r>
            <a:r>
              <a:rPr lang="en-US" altLang="zh-CN" sz="2400"/>
              <a:t>3</a:t>
            </a:r>
            <a:r>
              <a:rPr lang="zh-CN" altLang="en-US" sz="2400"/>
              <a:t>） 执行该表上的</a:t>
            </a:r>
            <a:r>
              <a:rPr lang="en-US" altLang="zh-CN" sz="2400"/>
              <a:t>AFTER</a:t>
            </a:r>
            <a:r>
              <a:rPr lang="zh-CN" altLang="en-US" sz="2400"/>
              <a:t>触发器</a:t>
            </a:r>
            <a:endParaRPr lang="zh-CN" altLang="en-US" sz="24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4755" name="Rectangle 2"/>
          <p:cNvSpPr>
            <a:spLocks noGrp="1" noChangeArrowheads="1"/>
          </p:cNvSpPr>
          <p:nvPr>
            <p:ph type="title" idx="4294967295"/>
          </p:nvPr>
        </p:nvSpPr>
        <p:spPr/>
        <p:txBody>
          <a:bodyPr/>
          <a:lstStyle/>
          <a:p>
            <a:pPr eaLnBrk="1" hangingPunct="1"/>
            <a:r>
              <a:rPr lang="en-US" altLang="zh-CN" sz="3600"/>
              <a:t>5.7  </a:t>
            </a:r>
            <a:r>
              <a:rPr lang="zh-CN" altLang="en-US" sz="3600"/>
              <a:t>触发器</a:t>
            </a:r>
            <a:endParaRPr lang="zh-CN" altLang="en-US" sz="3600"/>
          </a:p>
        </p:txBody>
      </p:sp>
      <p:sp>
        <p:nvSpPr>
          <p:cNvPr id="72708" name="Rectangle 3"/>
          <p:cNvSpPr>
            <a:spLocks noGrp="1" noChangeArrowheads="1"/>
          </p:cNvSpPr>
          <p:nvPr>
            <p:ph type="body" idx="4294967295"/>
          </p:nvPr>
        </p:nvSpPr>
        <p:spPr>
          <a:xfrm>
            <a:off x="1199456" y="1527176"/>
            <a:ext cx="8229600" cy="4854575"/>
          </a:xfrm>
        </p:spPr>
        <p:txBody>
          <a:bodyPr/>
          <a:lstStyle/>
          <a:p>
            <a:pPr marL="0" indent="0" eaLnBrk="1" hangingPunct="1">
              <a:lnSpc>
                <a:spcPct val="190000"/>
              </a:lnSpc>
              <a:buNone/>
            </a:pPr>
            <a:r>
              <a:rPr lang="en-US" altLang="zh-CN" dirty="0"/>
              <a:t>5.7.1 </a:t>
            </a:r>
            <a:r>
              <a:rPr lang="zh-CN" altLang="en-US" dirty="0"/>
              <a:t>定义触发器 </a:t>
            </a:r>
            <a:endParaRPr lang="zh-CN" altLang="en-US" dirty="0"/>
          </a:p>
          <a:p>
            <a:pPr marL="0" indent="0" eaLnBrk="1" hangingPunct="1">
              <a:lnSpc>
                <a:spcPct val="190000"/>
              </a:lnSpc>
              <a:buNone/>
            </a:pPr>
            <a:r>
              <a:rPr lang="en-US" altLang="zh-CN" dirty="0"/>
              <a:t>5.7.2 </a:t>
            </a:r>
            <a:r>
              <a:rPr lang="zh-CN" altLang="en-US" dirty="0"/>
              <a:t>执行触发器 </a:t>
            </a:r>
            <a:endParaRPr lang="zh-CN" altLang="en-US" dirty="0"/>
          </a:p>
          <a:p>
            <a:pPr marL="0" indent="0" eaLnBrk="1" hangingPunct="1">
              <a:lnSpc>
                <a:spcPct val="190000"/>
              </a:lnSpc>
              <a:buNone/>
            </a:pPr>
            <a:r>
              <a:rPr lang="en-US" altLang="zh-CN" dirty="0">
                <a:solidFill>
                  <a:srgbClr val="00B050"/>
                </a:solidFill>
              </a:rPr>
              <a:t>5.7.3 </a:t>
            </a:r>
            <a:r>
              <a:rPr lang="zh-CN" altLang="en-US" dirty="0">
                <a:solidFill>
                  <a:srgbClr val="00B050"/>
                </a:solidFill>
              </a:rPr>
              <a:t>删除触发器 </a:t>
            </a:r>
            <a:endParaRPr lang="zh-CN" altLang="en-US" dirty="0">
              <a:solidFill>
                <a:srgbClr val="00B050"/>
              </a:solidFill>
            </a:endParaRPr>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5779" name="Rectangle 2"/>
          <p:cNvSpPr>
            <a:spLocks noGrp="1" noChangeArrowheads="1"/>
          </p:cNvSpPr>
          <p:nvPr>
            <p:ph type="title" idx="4294967295"/>
          </p:nvPr>
        </p:nvSpPr>
        <p:spPr/>
        <p:txBody>
          <a:bodyPr/>
          <a:lstStyle/>
          <a:p>
            <a:pPr eaLnBrk="1" hangingPunct="1"/>
            <a:r>
              <a:rPr lang="en-US" altLang="zh-CN" sz="3600"/>
              <a:t>5.7.3 </a:t>
            </a:r>
            <a:r>
              <a:rPr lang="zh-CN" altLang="en-US" sz="3600"/>
              <a:t>删除触发器</a:t>
            </a:r>
            <a:endParaRPr lang="zh-CN" altLang="en-US" sz="3600"/>
          </a:p>
        </p:txBody>
      </p:sp>
      <p:sp>
        <p:nvSpPr>
          <p:cNvPr id="75780" name="Rectangle 3"/>
          <p:cNvSpPr>
            <a:spLocks noGrp="1" noChangeArrowheads="1"/>
          </p:cNvSpPr>
          <p:nvPr>
            <p:ph type="body" idx="4294967295"/>
          </p:nvPr>
        </p:nvSpPr>
        <p:spPr>
          <a:xfrm>
            <a:off x="407368" y="1705511"/>
            <a:ext cx="11895112" cy="4825453"/>
          </a:xfrm>
        </p:spPr>
        <p:txBody>
          <a:bodyPr/>
          <a:lstStyle/>
          <a:p>
            <a:pPr eaLnBrk="1" hangingPunct="1">
              <a:lnSpc>
                <a:spcPct val="160000"/>
              </a:lnSpc>
            </a:pPr>
            <a:r>
              <a:rPr lang="zh-CN" altLang="en-US" dirty="0"/>
              <a:t>删除触发器的</a:t>
            </a:r>
            <a:r>
              <a:rPr lang="en-US" altLang="zh-CN" dirty="0"/>
              <a:t>SQL</a:t>
            </a:r>
            <a:r>
              <a:rPr lang="zh-CN" altLang="en-US" dirty="0"/>
              <a:t>语法：</a:t>
            </a:r>
            <a:endParaRPr lang="zh-CN" altLang="en-US" dirty="0"/>
          </a:p>
          <a:p>
            <a:pPr eaLnBrk="1" hangingPunct="1">
              <a:lnSpc>
                <a:spcPct val="160000"/>
              </a:lnSpc>
              <a:buFont typeface="Wingdings" panose="05000000000000000000" pitchFamily="2" charset="2"/>
              <a:buNone/>
            </a:pPr>
            <a:r>
              <a:rPr lang="zh-CN" altLang="en-US" sz="2400" dirty="0"/>
              <a:t>     </a:t>
            </a:r>
            <a:r>
              <a:rPr lang="en-US" altLang="zh-CN" sz="2400" dirty="0"/>
              <a:t>DROP TRIGGER &lt;</a:t>
            </a:r>
            <a:r>
              <a:rPr lang="zh-CN" altLang="en-US" sz="2400" dirty="0"/>
              <a:t>触发器名</a:t>
            </a:r>
            <a:r>
              <a:rPr lang="en-US" altLang="zh-CN" sz="2400" dirty="0"/>
              <a:t>&gt; ON &lt;</a:t>
            </a:r>
            <a:r>
              <a:rPr lang="zh-CN" altLang="en-US" sz="2400" dirty="0"/>
              <a:t>表名</a:t>
            </a:r>
            <a:r>
              <a:rPr lang="en-US" altLang="zh-CN" sz="2400" dirty="0"/>
              <a:t>&gt;;</a:t>
            </a:r>
            <a:endParaRPr lang="en-US" altLang="zh-CN" sz="2400" dirty="0"/>
          </a:p>
          <a:p>
            <a:pPr eaLnBrk="1" hangingPunct="1">
              <a:lnSpc>
                <a:spcPct val="160000"/>
              </a:lnSpc>
            </a:pPr>
            <a:r>
              <a:rPr lang="zh-CN" altLang="en-US" dirty="0"/>
              <a:t>触发器必须是一个已经创建的触发器，只能由具有相应权限的用户删除。</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91440" tIns="45720" rIns="91440" bIns="45720" anchor="ctr" anchorCtr="0"/>
          <a:p>
            <a:r>
              <a:rPr lang="zh-CN" altLang="en-US" dirty="0">
                <a:sym typeface="+mn-ea"/>
              </a:rPr>
              <a:t>关于触发器的问题（</a:t>
            </a:r>
            <a:r>
              <a:rPr lang="en-US" altLang="zh-CN" dirty="0">
                <a:sym typeface="+mn-ea"/>
              </a:rPr>
              <a:t>1</a:t>
            </a:r>
            <a:r>
              <a:rPr lang="zh-CN" altLang="en-US" dirty="0">
                <a:sym typeface="+mn-ea"/>
              </a:rPr>
              <a:t>）</a:t>
            </a:r>
            <a:endParaRPr lang="zh-CN" altLang="en-US" dirty="0"/>
          </a:p>
        </p:txBody>
      </p:sp>
      <p:sp>
        <p:nvSpPr>
          <p:cNvPr id="6147" name="内容占位符 2"/>
          <p:cNvSpPr>
            <a:spLocks noGrp="1"/>
          </p:cNvSpPr>
          <p:nvPr>
            <p:ph idx="1"/>
          </p:nvPr>
        </p:nvSpPr>
        <p:spPr>
          <a:xfrm>
            <a:off x="609600" y="1339850"/>
            <a:ext cx="11369040" cy="4854575"/>
          </a:xfrm>
        </p:spPr>
        <p:txBody>
          <a:bodyPr vert="horz" wrap="square" lIns="91440" tIns="45720" rIns="91440" bIns="45720" anchor="t" anchorCtr="0"/>
          <a:p>
            <a:r>
              <a:rPr lang="en-US" altLang="zh-CN" dirty="0"/>
              <a:t>trigger</a:t>
            </a:r>
            <a:r>
              <a:rPr lang="zh-CN" altLang="en-US" dirty="0"/>
              <a:t>是否能够代替</a:t>
            </a:r>
            <a:r>
              <a:rPr lang="en-US" altLang="zh-CN" dirty="0"/>
              <a:t>constraint-check</a:t>
            </a:r>
            <a:r>
              <a:rPr lang="zh-CN" altLang="en-US" dirty="0"/>
              <a:t>的功能？</a:t>
            </a:r>
            <a:endParaRPr lang="en-US" altLang="zh-CN" dirty="0"/>
          </a:p>
          <a:p>
            <a:endParaRPr lang="en-US" altLang="zh-CN" dirty="0"/>
          </a:p>
          <a:p>
            <a:r>
              <a:rPr lang="zh-CN" altLang="en-US" dirty="0"/>
              <a:t>肯定可以</a:t>
            </a:r>
            <a:endParaRPr lang="en-US" altLang="zh-CN" dirty="0"/>
          </a:p>
          <a:p>
            <a:r>
              <a:rPr lang="en-US" altLang="zh-CN" dirty="0"/>
              <a:t>trigger</a:t>
            </a:r>
            <a:r>
              <a:rPr lang="zh-CN" altLang="en-US" dirty="0"/>
              <a:t>功能更强大，但可能更昂贵</a:t>
            </a:r>
            <a:endParaRPr lang="en-US" altLang="zh-CN" dirty="0"/>
          </a:p>
          <a:p>
            <a:r>
              <a:rPr lang="en-US" altLang="zh-CN" dirty="0"/>
              <a:t>constraint </a:t>
            </a:r>
            <a:r>
              <a:rPr lang="zh-CN" altLang="en-US" dirty="0"/>
              <a:t>的逻辑由</a:t>
            </a:r>
            <a:r>
              <a:rPr lang="en-US" altLang="zh-CN" dirty="0"/>
              <a:t>DBMS</a:t>
            </a:r>
            <a:r>
              <a:rPr lang="zh-CN" altLang="en-US" dirty="0"/>
              <a:t>来实现，</a:t>
            </a:r>
            <a:r>
              <a:rPr lang="en-US" altLang="zh-CN" dirty="0"/>
              <a:t>trigger</a:t>
            </a:r>
            <a:r>
              <a:rPr lang="zh-CN" altLang="en-US" dirty="0"/>
              <a:t>需要</a:t>
            </a:r>
            <a:r>
              <a:rPr lang="en-US" altLang="zh-CN" dirty="0"/>
              <a:t>DBA/</a:t>
            </a:r>
            <a:r>
              <a:rPr lang="zh-CN" altLang="en-US" dirty="0"/>
              <a:t>程序员来实现</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7" dur="500"/>
                                        <p:tgtEl>
                                          <p:spTgt spid="6147">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0" dur="500"/>
                                        <p:tgtEl>
                                          <p:spTgt spid="6147">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147">
                                            <p:txEl>
                                              <p:pRg st="4" end="4"/>
                                            </p:txEl>
                                          </p:spTgt>
                                        </p:tgtEl>
                                        <p:attrNameLst>
                                          <p:attrName>style.visibility</p:attrName>
                                        </p:attrNameLst>
                                      </p:cBhvr>
                                      <p:to>
                                        <p:strVal val="visible"/>
                                      </p:to>
                                    </p:set>
                                    <p:animEffect transition="in" filter="blinds(horizontal)">
                                      <p:cBhvr>
                                        <p:cTn id="13" dur="500"/>
                                        <p:tgtEl>
                                          <p:spTgt spid="6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p:txBody>
          <a:bodyPr vert="horz" wrap="square" lIns="91440" tIns="45720" rIns="91440" bIns="45720" anchor="ctr" anchorCtr="0"/>
          <a:p>
            <a:r>
              <a:rPr lang="zh-CN" altLang="en-US" dirty="0">
                <a:sym typeface="+mn-ea"/>
              </a:rPr>
              <a:t>关于触发器的问题（</a:t>
            </a:r>
            <a:r>
              <a:rPr lang="en-US" altLang="zh-CN" dirty="0">
                <a:sym typeface="+mn-ea"/>
              </a:rPr>
              <a:t>2</a:t>
            </a:r>
            <a:r>
              <a:rPr lang="zh-CN" altLang="en-US" dirty="0">
                <a:sym typeface="+mn-ea"/>
              </a:rPr>
              <a:t>）</a:t>
            </a:r>
            <a:endParaRPr lang="zh-CN" altLang="en-US" dirty="0"/>
          </a:p>
        </p:txBody>
      </p:sp>
      <p:sp>
        <p:nvSpPr>
          <p:cNvPr id="7171" name="内容占位符 2"/>
          <p:cNvSpPr>
            <a:spLocks noGrp="1"/>
          </p:cNvSpPr>
          <p:nvPr>
            <p:ph idx="1"/>
          </p:nvPr>
        </p:nvSpPr>
        <p:spPr/>
        <p:txBody>
          <a:bodyPr vert="horz" wrap="square" lIns="91440" tIns="45720" rIns="91440" bIns="45720" anchor="t" anchorCtr="0"/>
          <a:p>
            <a:r>
              <a:rPr lang="zh-CN" altLang="en-US" dirty="0"/>
              <a:t>触发器会出现循环触发的情况吗？如果出现，数据库应该如何阻止</a:t>
            </a:r>
            <a:endParaRPr lang="en-US" altLang="zh-CN" dirty="0"/>
          </a:p>
          <a:p>
            <a:endParaRPr lang="en-US" altLang="zh-CN" dirty="0"/>
          </a:p>
          <a:p>
            <a:r>
              <a:rPr lang="zh-CN" altLang="en-US" dirty="0"/>
              <a:t>有可能！</a:t>
            </a:r>
            <a:endParaRPr lang="en-US" altLang="zh-CN" dirty="0"/>
          </a:p>
          <a:p>
            <a:r>
              <a:rPr lang="zh-CN" altLang="en-US" dirty="0"/>
              <a:t>可以很容易构造这样的例子</a:t>
            </a:r>
            <a:endParaRPr lang="en-US" altLang="zh-CN" dirty="0"/>
          </a:p>
          <a:p>
            <a:r>
              <a:rPr lang="en-US" altLang="zh-CN" dirty="0"/>
              <a:t>DBMS</a:t>
            </a:r>
            <a:r>
              <a:rPr lang="zh-CN" altLang="en-US" dirty="0"/>
              <a:t>通常会进行检查，避免此类情况</a:t>
            </a:r>
            <a:endParaRPr lang="en-US" altLang="zh-CN" dirty="0"/>
          </a:p>
          <a:p>
            <a:r>
              <a:rPr lang="zh-CN" altLang="en-US" dirty="0"/>
              <a:t>比如，触发器不能执行引起触发自己的操作，触发器引发的操作不能触发当前事件等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animEffect transition="in" filter="blinds(horizontal)">
                                      <p:cBhvr>
                                        <p:cTn id="7" dur="500"/>
                                        <p:tgtEl>
                                          <p:spTgt spid="717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71">
                                            <p:txEl>
                                              <p:pRg st="3" end="3"/>
                                            </p:txEl>
                                          </p:spTgt>
                                        </p:tgtEl>
                                        <p:attrNameLst>
                                          <p:attrName>style.visibility</p:attrName>
                                        </p:attrNameLst>
                                      </p:cBhvr>
                                      <p:to>
                                        <p:strVal val="visible"/>
                                      </p:to>
                                    </p:set>
                                    <p:animEffect transition="in" filter="blinds(horizontal)">
                                      <p:cBhvr>
                                        <p:cTn id="10" dur="500"/>
                                        <p:tgtEl>
                                          <p:spTgt spid="717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animEffect transition="in" filter="blinds(horizontal)">
                                      <p:cBhvr>
                                        <p:cTn id="13" dur="500"/>
                                        <p:tgtEl>
                                          <p:spTgt spid="7171">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171">
                                            <p:txEl>
                                              <p:pRg st="5" end="5"/>
                                            </p:txEl>
                                          </p:spTgt>
                                        </p:tgtEl>
                                        <p:attrNameLst>
                                          <p:attrName>style.visibility</p:attrName>
                                        </p:attrNameLst>
                                      </p:cBhvr>
                                      <p:to>
                                        <p:strVal val="visible"/>
                                      </p:to>
                                    </p:set>
                                    <p:animEffect transition="in" filter="blinds(horizontal)">
                                      <p:cBhvr>
                                        <p:cTn id="16" dur="5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p:txBody>
          <a:bodyPr vert="horz" wrap="square" lIns="91440" tIns="45720" rIns="91440" bIns="45720" anchor="ctr" anchorCtr="0"/>
          <a:p>
            <a:r>
              <a:rPr lang="zh-CN" altLang="en-US" dirty="0">
                <a:sym typeface="+mn-ea"/>
              </a:rPr>
              <a:t>关于触发器的问题（</a:t>
            </a:r>
            <a:r>
              <a:rPr lang="en-US" altLang="zh-CN" dirty="0">
                <a:sym typeface="+mn-ea"/>
              </a:rPr>
              <a:t>2</a:t>
            </a:r>
            <a:r>
              <a:rPr lang="zh-CN" altLang="en-US" dirty="0">
                <a:sym typeface="+mn-ea"/>
              </a:rPr>
              <a:t>）</a:t>
            </a:r>
            <a:endParaRPr lang="zh-CN" altLang="en-US" dirty="0"/>
          </a:p>
        </p:txBody>
      </p:sp>
      <p:sp>
        <p:nvSpPr>
          <p:cNvPr id="3" name="内容占位符 2"/>
          <p:cNvSpPr>
            <a:spLocks noGrp="1"/>
          </p:cNvSpPr>
          <p:nvPr>
            <p:ph idx="1"/>
          </p:nvPr>
        </p:nvSpPr>
        <p:spPr/>
        <p:txBody>
          <a:bodyPr vert="horz" wrap="square" lIns="91440" tIns="45720" rIns="91440" bIns="45720" anchor="t" anchorCtr="0"/>
          <a:p>
            <a:r>
              <a:rPr lang="zh-CN" altLang="zh-CN" dirty="0"/>
              <a:t>例如：</a:t>
            </a:r>
            <a:r>
              <a:rPr lang="en-US" altLang="zh-CN" dirty="0"/>
              <a:t>A</a:t>
            </a:r>
            <a:r>
              <a:rPr lang="zh-CN" altLang="zh-CN" dirty="0"/>
              <a:t>表的触发器</a:t>
            </a:r>
            <a:r>
              <a:rPr lang="en-US" altLang="zh-CN" dirty="0"/>
              <a:t>trigger_A</a:t>
            </a:r>
            <a:r>
              <a:rPr lang="zh-CN" altLang="zh-CN" dirty="0"/>
              <a:t>对</a:t>
            </a:r>
            <a:r>
              <a:rPr lang="en-US" altLang="zh-CN" dirty="0"/>
              <a:t>B</a:t>
            </a:r>
            <a:r>
              <a:rPr lang="zh-CN" altLang="zh-CN" dirty="0"/>
              <a:t>表进行了操作，该操作同时引发</a:t>
            </a:r>
            <a:r>
              <a:rPr lang="en-US" altLang="zh-CN" dirty="0"/>
              <a:t>B</a:t>
            </a:r>
            <a:r>
              <a:rPr lang="zh-CN" altLang="zh-CN" dirty="0"/>
              <a:t>表的触发器</a:t>
            </a:r>
            <a:r>
              <a:rPr lang="en-US" altLang="zh-CN" dirty="0"/>
              <a:t>trigger_B</a:t>
            </a:r>
            <a:r>
              <a:rPr lang="zh-CN" altLang="zh-CN" dirty="0"/>
              <a:t>。</a:t>
            </a:r>
            <a:endParaRPr lang="en-US" altLang="zh-CN" dirty="0"/>
          </a:p>
          <a:p>
            <a:r>
              <a:rPr lang="zh-CN" altLang="zh-CN" dirty="0"/>
              <a:t>报错：</a:t>
            </a:r>
            <a:r>
              <a:rPr lang="en-US" altLang="zh-CN" dirty="0"/>
              <a:t>1442 - Can't update table 'trigger_b' in stored function/trigger because it is already used by statement which invoked this stored function/trigger.</a:t>
            </a:r>
            <a:endParaRPr lang="en-US" altLang="zh-CN" dirty="0"/>
          </a:p>
          <a:p>
            <a:r>
              <a:rPr lang="zh-CN" altLang="en-US" dirty="0"/>
              <a:t>评论：触发器是比较“危险”的，可能在程序员没有感知的情况下自发修改数据。</a:t>
            </a:r>
            <a:endParaRPr lang="en-US" altLang="zh-CN" dirty="0"/>
          </a:p>
          <a:p>
            <a:r>
              <a:rPr lang="zh-CN" altLang="en-US" dirty="0"/>
              <a:t>业务逻辑尽量在程序中定义</a:t>
            </a:r>
            <a:endParaRPr lang="en-US" altLang="zh-CN" dirty="0"/>
          </a:p>
          <a:p>
            <a:r>
              <a:rPr lang="zh-CN" altLang="en-US" dirty="0"/>
              <a:t>或者采用存储过程来进行保护，至少有明确反馈</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p:txBody>
          <a:bodyPr vert="horz" wrap="square" lIns="91440" tIns="45720" rIns="91440" bIns="45720" anchor="ctr" anchorCtr="0"/>
          <a:p>
            <a:r>
              <a:rPr lang="zh-CN" altLang="en-US" dirty="0">
                <a:sym typeface="+mn-ea"/>
              </a:rPr>
              <a:t>关于触发器的问题（</a:t>
            </a:r>
            <a:r>
              <a:rPr lang="en-US" altLang="zh-CN" dirty="0">
                <a:sym typeface="+mn-ea"/>
              </a:rPr>
              <a:t>3</a:t>
            </a:r>
            <a:r>
              <a:rPr lang="zh-CN" altLang="en-US" dirty="0">
                <a:sym typeface="+mn-ea"/>
              </a:rPr>
              <a:t>）</a:t>
            </a:r>
            <a:endParaRPr lang="zh-CN" altLang="en-US" dirty="0"/>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我们如何用触发器实现持续性行为的记录，比如：若分数修改了</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5</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次，则将此次操作记录到下面表中</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在一个特定表中记录分数修改次数，每次分数修改通过触发器去记录。当次数可以整除</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5</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时，就触发上面的操作</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触发器本身没有状态，但我们可以利用数据库来保存状态</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但是这样做也有漏洞，因为还需要保证这个表不被别的操作修改</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一般而言，较为复杂的应用逻辑最好</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是在程序中实现</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1440" tIns="45720" rIns="91440" bIns="45720" anchor="ctr" anchorCtr="0"/>
          <a:p>
            <a:r>
              <a:rPr lang="zh-CN" altLang="en-US" dirty="0">
                <a:sym typeface="+mn-ea"/>
              </a:rPr>
              <a:t>关于触发器的问题（</a:t>
            </a:r>
            <a:r>
              <a:rPr lang="en-US" altLang="zh-CN" dirty="0">
                <a:sym typeface="+mn-ea"/>
              </a:rPr>
              <a:t>4</a:t>
            </a:r>
            <a:r>
              <a:rPr lang="zh-CN" altLang="en-US" dirty="0">
                <a:sym typeface="+mn-ea"/>
              </a:rPr>
              <a:t>）</a:t>
            </a:r>
            <a:endParaRPr lang="zh-CN" altLang="en-US" dirty="0"/>
          </a:p>
        </p:txBody>
      </p:sp>
      <p:sp>
        <p:nvSpPr>
          <p:cNvPr id="10243" name="内容占位符 2"/>
          <p:cNvSpPr>
            <a:spLocks noGrp="1"/>
          </p:cNvSpPr>
          <p:nvPr>
            <p:ph idx="1"/>
          </p:nvPr>
        </p:nvSpPr>
        <p:spPr>
          <a:xfrm>
            <a:off x="551180" y="1052195"/>
            <a:ext cx="11225530" cy="4854575"/>
          </a:xfrm>
        </p:spPr>
        <p:txBody>
          <a:bodyPr vert="horz" wrap="square" lIns="91440" tIns="45720" rIns="91440" bIns="45720" anchor="t" anchorCtr="0"/>
          <a:p>
            <a:r>
              <a:rPr lang="zh-CN" altLang="zh-CN" dirty="0"/>
              <a:t>《阿里巴巴</a:t>
            </a:r>
            <a:r>
              <a:rPr lang="en-US" altLang="zh-CN" dirty="0"/>
              <a:t>java</a:t>
            </a:r>
            <a:r>
              <a:rPr lang="zh-CN" altLang="zh-CN" dirty="0"/>
              <a:t>开发手册》规定</a:t>
            </a:r>
            <a:r>
              <a:rPr lang="en-US" altLang="zh-CN" dirty="0"/>
              <a:t>[</a:t>
            </a:r>
            <a:r>
              <a:rPr lang="zh-CN" altLang="zh-CN" dirty="0"/>
              <a:t>强制</a:t>
            </a:r>
            <a:r>
              <a:rPr lang="en-US" altLang="zh-CN" dirty="0"/>
              <a:t>]</a:t>
            </a:r>
            <a:r>
              <a:rPr lang="zh-CN" altLang="zh-CN" dirty="0"/>
              <a:t>禁止使用存储过程，存储过程难以调试和扩展，更没有移植性。</a:t>
            </a:r>
            <a:r>
              <a:rPr lang="zh-CN" altLang="zh-CN" dirty="0"/>
              <a:t>如何理解？！</a:t>
            </a:r>
            <a:endParaRPr lang="en-US" altLang="zh-CN" dirty="0"/>
          </a:p>
          <a:p>
            <a:endParaRPr lang="en-US" altLang="zh-CN" dirty="0"/>
          </a:p>
          <a:p>
            <a:r>
              <a:rPr lang="zh-CN" altLang="en-US" dirty="0"/>
              <a:t>互联网时代，很多新的应用如雨后春笋涌现</a:t>
            </a:r>
            <a:endParaRPr lang="zh-CN" altLang="en-US" dirty="0"/>
          </a:p>
          <a:p>
            <a:r>
              <a:rPr lang="zh-CN" altLang="en-US" dirty="0"/>
              <a:t>对于这样的应用，重在快！快速开发，快速</a:t>
            </a:r>
            <a:r>
              <a:rPr lang="zh-CN" altLang="en-US" dirty="0"/>
              <a:t>迭代</a:t>
            </a:r>
            <a:endParaRPr lang="zh-CN" altLang="en-US" dirty="0"/>
          </a:p>
          <a:p>
            <a:r>
              <a:rPr lang="zh-CN" altLang="en-US" dirty="0"/>
              <a:t>很多时候不可能有完整的团队（比如配备</a:t>
            </a:r>
            <a:r>
              <a:rPr lang="en-US" altLang="zh-CN" dirty="0"/>
              <a:t>DBA</a:t>
            </a:r>
            <a:r>
              <a:rPr lang="zh-CN" altLang="en-US" dirty="0"/>
              <a:t>）</a:t>
            </a:r>
            <a:endParaRPr lang="zh-CN" altLang="en-US" dirty="0"/>
          </a:p>
          <a:p>
            <a:r>
              <a:rPr lang="en-US" altLang="zh-CN" dirty="0"/>
              <a:t>“</a:t>
            </a:r>
            <a:r>
              <a:rPr lang="zh-CN" altLang="en-US" dirty="0"/>
              <a:t>全栈工程师</a:t>
            </a:r>
            <a:r>
              <a:rPr lang="en-US" altLang="zh-CN" dirty="0"/>
              <a:t>”</a:t>
            </a:r>
            <a:r>
              <a:rPr lang="zh-CN" altLang="en-US" dirty="0"/>
              <a:t>可以了解一下</a:t>
            </a:r>
            <a:endParaRPr lang="en-US" altLang="zh-CN" dirty="0"/>
          </a:p>
          <a:p>
            <a:r>
              <a:rPr lang="en-US" altLang="zh-CN" dirty="0"/>
              <a:t>DBMS</a:t>
            </a:r>
            <a:r>
              <a:rPr lang="zh-CN" altLang="en-US" dirty="0"/>
              <a:t>在这样的场景下几乎可以被</a:t>
            </a:r>
            <a:r>
              <a:rPr lang="en-US" altLang="zh-CN" dirty="0"/>
              <a:t>excel+pandas</a:t>
            </a:r>
            <a:r>
              <a:rPr lang="zh-CN" altLang="en-US" dirty="0"/>
              <a:t>替代</a:t>
            </a:r>
            <a:endParaRPr lang="zh-CN" altLang="en-US" dirty="0"/>
          </a:p>
          <a:p>
            <a:r>
              <a:rPr lang="zh-CN" altLang="en-US" dirty="0"/>
              <a:t>然而，当应用发展到一定规模，存取性能、数据质量、数据安全成为重要的问题，必然要求增强对</a:t>
            </a:r>
            <a:r>
              <a:rPr lang="en-US" altLang="zh-CN" dirty="0"/>
              <a:t>DBMS</a:t>
            </a:r>
            <a:r>
              <a:rPr lang="zh-CN" altLang="en-US" dirty="0"/>
              <a:t>的使用</a:t>
            </a:r>
            <a:endParaRPr lang="zh-CN" altLang="en-US" dirty="0"/>
          </a:p>
          <a:p>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wrap="square" lIns="91440" tIns="45720" rIns="91440" bIns="45720" anchor="ctr" anchorCtr="0"/>
          <a:p>
            <a:r>
              <a:rPr lang="zh-CN" altLang="en-US" dirty="0">
                <a:sym typeface="+mn-ea"/>
              </a:rPr>
              <a:t>关于触发器的问题（</a:t>
            </a:r>
            <a:r>
              <a:rPr lang="en-US" altLang="zh-CN" dirty="0">
                <a:sym typeface="+mn-ea"/>
              </a:rPr>
              <a:t>5</a:t>
            </a:r>
            <a:r>
              <a:rPr lang="zh-CN" altLang="en-US" dirty="0">
                <a:sym typeface="+mn-ea"/>
              </a:rPr>
              <a:t>）</a:t>
            </a:r>
            <a:endParaRPr lang="zh-CN" altLang="en-US" dirty="0"/>
          </a:p>
        </p:txBody>
      </p:sp>
      <p:sp>
        <p:nvSpPr>
          <p:cNvPr id="14339" name="内容占位符 2"/>
          <p:cNvSpPr>
            <a:spLocks noGrp="1"/>
          </p:cNvSpPr>
          <p:nvPr>
            <p:ph idx="1"/>
          </p:nvPr>
        </p:nvSpPr>
        <p:spPr/>
        <p:txBody>
          <a:bodyPr vert="horz" wrap="square" lIns="91440" tIns="45720" rIns="91440" bIns="45720" anchor="t" anchorCtr="0"/>
          <a:p>
            <a:r>
              <a:rPr lang="en-US" altLang="zh-CN" dirty="0"/>
              <a:t>mysql</a:t>
            </a:r>
            <a:r>
              <a:rPr lang="zh-CN" altLang="zh-CN" dirty="0"/>
              <a:t>是否支持语句级触发器</a:t>
            </a:r>
            <a:r>
              <a:rPr lang="en-US" altLang="zh-CN" dirty="0"/>
              <a:t>?</a:t>
            </a:r>
            <a:r>
              <a:rPr lang="zh-CN" altLang="zh-CN" dirty="0"/>
              <a:t>如果不支持，那么是否意味着行级触发器可以支持做到所有语句级触发器能做到的事呢</a:t>
            </a:r>
            <a:r>
              <a:rPr lang="en-US" altLang="zh-CN" dirty="0"/>
              <a:t>?</a:t>
            </a:r>
            <a:endParaRPr lang="en-US" altLang="zh-CN" dirty="0"/>
          </a:p>
          <a:p>
            <a:endParaRPr lang="en-US" altLang="zh-CN" dirty="0"/>
          </a:p>
          <a:p>
            <a:r>
              <a:rPr lang="zh-CN" altLang="en-US" dirty="0"/>
              <a:t>根据查阅到的资料，</a:t>
            </a:r>
            <a:r>
              <a:rPr lang="en-US" altLang="zh-CN" dirty="0"/>
              <a:t>MySQL</a:t>
            </a:r>
            <a:r>
              <a:rPr lang="zh-CN" altLang="en-US" dirty="0"/>
              <a:t>只支持行级触发</a:t>
            </a:r>
            <a:endParaRPr lang="en-US" altLang="zh-CN" dirty="0"/>
          </a:p>
          <a:p>
            <a:r>
              <a:rPr lang="zh-CN" altLang="en-US" dirty="0"/>
              <a:t>我认为可以，非严格证明。也可能</a:t>
            </a:r>
            <a:r>
              <a:rPr lang="en-US" altLang="zh-CN" dirty="0"/>
              <a:t>MySQL</a:t>
            </a:r>
            <a:r>
              <a:rPr lang="zh-CN" altLang="en-US" dirty="0"/>
              <a:t>只是</a:t>
            </a:r>
            <a:r>
              <a:rPr lang="en-US" altLang="zh-CN" dirty="0"/>
              <a:t>“</a:t>
            </a:r>
            <a:r>
              <a:rPr lang="zh-CN" altLang="en-US" dirty="0"/>
              <a:t>懒</a:t>
            </a:r>
            <a:r>
              <a:rPr lang="en-US" altLang="zh-CN"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7" dur="500"/>
                                        <p:tgtEl>
                                          <p:spTgt spid="1433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10" dur="500"/>
                                        <p:tgtEl>
                                          <p:spTgt spid="14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ctr" anchorCtr="0"/>
          <a:p>
            <a:r>
              <a:rPr lang="zh-CN" altLang="en-US" dirty="0"/>
              <a:t>关于约束检查的</a:t>
            </a:r>
            <a:r>
              <a:rPr lang="zh-CN" altLang="en-US" dirty="0"/>
              <a:t>问题（</a:t>
            </a:r>
            <a:r>
              <a:rPr lang="en-US" altLang="zh-CN" dirty="0"/>
              <a:t>1</a:t>
            </a:r>
            <a:r>
              <a:rPr lang="zh-CN" altLang="en-US" dirty="0"/>
              <a:t>）</a:t>
            </a:r>
            <a:endParaRPr lang="zh-CN" altLang="en-US" dirty="0"/>
          </a:p>
        </p:txBody>
      </p:sp>
      <p:sp>
        <p:nvSpPr>
          <p:cNvPr id="3" name="内容占位符 2"/>
          <p:cNvSpPr>
            <a:spLocks noGrp="1"/>
          </p:cNvSpPr>
          <p:nvPr>
            <p:ph idx="1"/>
          </p:nvPr>
        </p:nvSpPr>
        <p:spPr/>
        <p:txBody>
          <a:bodyPr vert="horz" wrap="square" lIns="91440" tIns="45720" rIns="91440" bIns="45720" anchor="t" anchorCtr="0"/>
          <a:p>
            <a:r>
              <a:rPr lang="en-US" altLang="zh-CN" dirty="0"/>
              <a:t>1.	</a:t>
            </a:r>
            <a:r>
              <a:rPr lang="zh-CN" altLang="en-US" dirty="0"/>
              <a:t>数据库的回滚机制是对数据进行“逆操作”，那么是否所有的原子操作都是可逆的呢</a:t>
            </a:r>
            <a:endParaRPr lang="zh-CN" altLang="en-US" dirty="0"/>
          </a:p>
          <a:p>
            <a:endParaRPr lang="en-US" altLang="zh-CN" dirty="0"/>
          </a:p>
          <a:p>
            <a:r>
              <a:rPr lang="zh-CN" altLang="en-US" dirty="0"/>
              <a:t>系统层面上的回滚（比如后面讲到的数据恢复），肯定可以，上述动作等价于</a:t>
            </a:r>
            <a:r>
              <a:rPr lang="en-US" altLang="zh-CN" dirty="0"/>
              <a:t>UNDO</a:t>
            </a:r>
            <a:r>
              <a:rPr lang="zh-CN" altLang="en-US" dirty="0"/>
              <a:t>一个对系统表（数据字典）的删除操作</a:t>
            </a:r>
            <a:endParaRPr lang="en-US" altLang="zh-CN"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159" end="20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p:txBody>
          <a:bodyPr vert="horz" wrap="square" lIns="91440" tIns="45720" rIns="91440" bIns="45720" anchor="ctr" anchorCtr="0"/>
          <a:p>
            <a:r>
              <a:rPr lang="zh-CN" altLang="en-US" dirty="0"/>
              <a:t>关于约束检查</a:t>
            </a:r>
            <a:r>
              <a:rPr lang="zh-CN" altLang="en-US" dirty="0">
                <a:sym typeface="+mn-ea"/>
              </a:rPr>
              <a:t>的问题（</a:t>
            </a:r>
            <a:r>
              <a:rPr lang="en-US" altLang="zh-CN" dirty="0">
                <a:sym typeface="+mn-ea"/>
              </a:rPr>
              <a:t>2</a:t>
            </a:r>
            <a:r>
              <a:rPr lang="zh-CN" altLang="en-US" dirty="0">
                <a:sym typeface="+mn-ea"/>
              </a:rPr>
              <a:t>）</a:t>
            </a:r>
            <a:endParaRPr lang="zh-CN" altLang="en-US" dirty="0"/>
          </a:p>
        </p:txBody>
      </p:sp>
      <p:sp>
        <p:nvSpPr>
          <p:cNvPr id="21507" name="内容占位符 2"/>
          <p:cNvSpPr>
            <a:spLocks noGrp="1"/>
          </p:cNvSpPr>
          <p:nvPr>
            <p:ph idx="1"/>
          </p:nvPr>
        </p:nvSpPr>
        <p:spPr/>
        <p:txBody>
          <a:bodyPr vert="horz" wrap="square" lIns="91440" tIns="45720" rIns="91440" bIns="45720" anchor="t" anchorCtr="0"/>
          <a:p>
            <a:r>
              <a:rPr lang="zh-CN" altLang="zh-CN" dirty="0"/>
              <a:t>数据库不支持的完整性条件有哪些，能否举例说明，又要怎么走</a:t>
            </a:r>
            <a:r>
              <a:rPr lang="en-US" altLang="zh-CN" dirty="0"/>
              <a:t>“</a:t>
            </a:r>
            <a:r>
              <a:rPr lang="zh-CN" altLang="zh-CN" dirty="0"/>
              <a:t>旁路</a:t>
            </a:r>
            <a:r>
              <a:rPr lang="en-US" altLang="zh-CN" dirty="0"/>
              <a:t>”</a:t>
            </a:r>
            <a:r>
              <a:rPr lang="zh-CN" altLang="zh-CN" dirty="0"/>
              <a:t>应用？</a:t>
            </a:r>
            <a:endParaRPr lang="en-US" altLang="zh-CN" dirty="0"/>
          </a:p>
          <a:p>
            <a:endParaRPr lang="en-US" altLang="zh-CN" dirty="0"/>
          </a:p>
          <a:p>
            <a:r>
              <a:rPr lang="zh-CN" altLang="en-US" dirty="0"/>
              <a:t>一个可能不是很典型的例子</a:t>
            </a:r>
            <a:endParaRPr lang="en-US" altLang="zh-CN" dirty="0"/>
          </a:p>
          <a:p>
            <a:r>
              <a:rPr lang="en-US" altLang="zh-CN" dirty="0"/>
              <a:t> </a:t>
            </a:r>
            <a:r>
              <a:rPr lang="zh-CN" altLang="en-US" dirty="0"/>
              <a:t>假设使用数据库来保存图片</a:t>
            </a:r>
            <a:endParaRPr lang="en-US" altLang="zh-CN" dirty="0"/>
          </a:p>
          <a:p>
            <a:r>
              <a:rPr lang="zh-CN" altLang="en-US" dirty="0"/>
              <a:t>图片中可能隐藏有恶意信息，甚至病毒（图像隐写）</a:t>
            </a:r>
            <a:endParaRPr lang="en-US" altLang="zh-CN" dirty="0"/>
          </a:p>
          <a:p>
            <a:r>
              <a:rPr lang="zh-CN" altLang="en-US" dirty="0"/>
              <a:t>检测图片数据是否包含隐写信息可能需要调用神经网络模型，普通</a:t>
            </a:r>
            <a:r>
              <a:rPr lang="en-US" altLang="zh-CN" dirty="0"/>
              <a:t>DBMS</a:t>
            </a:r>
            <a:r>
              <a:rPr lang="zh-CN" altLang="en-US" dirty="0"/>
              <a:t>不支持定义这样的完整性约束定义</a:t>
            </a:r>
            <a:endParaRPr lang="en-US" altLang="zh-CN" dirty="0"/>
          </a:p>
          <a:p>
            <a:endParaRPr lang="en-US" altLang="zh-CN" dirty="0"/>
          </a:p>
          <a:p>
            <a:endParaRPr lang="zh-CN" altLang="zh-CN" dirty="0"/>
          </a:p>
          <a:p>
            <a:endParaRPr lang="zh-CN" altLang="en-US" dirty="0"/>
          </a:p>
        </p:txBody>
      </p:sp>
      <p:pic>
        <p:nvPicPr>
          <p:cNvPr id="6" name="图片 5"/>
          <p:cNvPicPr>
            <a:picLocks noChangeAspect="1"/>
          </p:cNvPicPr>
          <p:nvPr/>
        </p:nvPicPr>
        <p:blipFill>
          <a:blip r:embed="rId1"/>
          <a:stretch>
            <a:fillRect/>
          </a:stretch>
        </p:blipFill>
        <p:spPr>
          <a:xfrm>
            <a:off x="3167063" y="942975"/>
            <a:ext cx="5857875" cy="49720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7" dur="500"/>
                                        <p:tgtEl>
                                          <p:spTgt spid="21507">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10" dur="500"/>
                                        <p:tgtEl>
                                          <p:spTgt spid="21507">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13" dur="500"/>
                                        <p:tgtEl>
                                          <p:spTgt spid="21507">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16" dur="500"/>
                                        <p:tgtEl>
                                          <p:spTgt spid="21507">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关于参照</a:t>
            </a:r>
            <a:r>
              <a:rPr lang="zh-CN" altLang="en-US"/>
              <a:t>完整性</a:t>
            </a:r>
            <a:endParaRPr lang="zh-CN" altLang="en-US"/>
          </a:p>
        </p:txBody>
      </p:sp>
      <p:sp>
        <p:nvSpPr>
          <p:cNvPr id="3" name="内容占位符 2"/>
          <p:cNvSpPr>
            <a:spLocks noGrp="1"/>
          </p:cNvSpPr>
          <p:nvPr>
            <p:ph idx="1"/>
          </p:nvPr>
        </p:nvSpPr>
        <p:spPr/>
        <p:txBody>
          <a:bodyPr/>
          <a:p>
            <a:r>
              <a:rPr lang="zh-CN" altLang="en-US"/>
              <a:t>据说互联网大厂不允许定义外码，为什么</a:t>
            </a:r>
            <a:r>
              <a:rPr lang="zh-CN" altLang="en-US"/>
              <a:t>呢</a:t>
            </a:r>
            <a:endParaRPr lang="zh-CN" altLang="en-US"/>
          </a:p>
          <a:p>
            <a:endParaRPr lang="zh-CN" altLang="en-US"/>
          </a:p>
          <a:p>
            <a:endParaRPr lang="zh-CN" altLang="en-US"/>
          </a:p>
          <a:p>
            <a:r>
              <a:rPr lang="zh-CN" altLang="en-US"/>
              <a:t>定义外码之后，修改表会带来额外的开销，以维护完整性。此外如果数据存储在多个服务器，外码也</a:t>
            </a:r>
            <a:r>
              <a:rPr lang="zh-CN" altLang="en-US"/>
              <a:t>失效。</a:t>
            </a:r>
            <a:endParaRPr lang="zh-CN" altLang="en-US"/>
          </a:p>
          <a:p>
            <a:endParaRPr lang="zh-CN" altLang="en-US"/>
          </a:p>
          <a:p>
            <a:r>
              <a:rPr lang="zh-CN" altLang="en-US"/>
              <a:t>因此，对于涉及海量数据且对性能要求很高的应用，比如互联网应用，更倾向于通过应用程序来管理数据完整性，而不是</a:t>
            </a:r>
            <a:r>
              <a:rPr lang="zh-CN" altLang="en-US"/>
              <a:t>外码。</a:t>
            </a:r>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p:txBody>
          <a:bodyPr vert="horz" wrap="square" lIns="91440" tIns="45720" rIns="91440" bIns="45720" anchor="ctr" anchorCtr="0"/>
          <a:p>
            <a:r>
              <a:rPr lang="zh-CN" altLang="en-US" dirty="0"/>
              <a:t>其他</a:t>
            </a:r>
            <a:endParaRPr lang="zh-CN" altLang="en-US" dirty="0"/>
          </a:p>
        </p:txBody>
      </p:sp>
      <p:sp>
        <p:nvSpPr>
          <p:cNvPr id="27651" name="内容占位符 2"/>
          <p:cNvSpPr>
            <a:spLocks noGrp="1"/>
          </p:cNvSpPr>
          <p:nvPr>
            <p:ph idx="1"/>
          </p:nvPr>
        </p:nvSpPr>
        <p:spPr/>
        <p:txBody>
          <a:bodyPr vert="horz" wrap="square" lIns="91440" tIns="45720" rIns="91440" bIns="45720" anchor="t" anchorCtr="0"/>
          <a:p>
            <a:r>
              <a:rPr lang="zh-CN" altLang="en-US" dirty="0"/>
              <a:t>在设计数据库时，如何确定完整性约束条件？</a:t>
            </a:r>
            <a:endParaRPr lang="en-US" altLang="zh-CN" dirty="0"/>
          </a:p>
          <a:p>
            <a:r>
              <a:rPr lang="zh-CN" altLang="en-US" dirty="0"/>
              <a:t>比如下图是中国城市的信息，如果想给人口（</a:t>
            </a:r>
            <a:r>
              <a:rPr lang="en-US" altLang="zh-CN" dirty="0"/>
              <a:t>population</a:t>
            </a:r>
            <a:r>
              <a:rPr lang="zh-CN" altLang="en-US" dirty="0"/>
              <a:t>）加一个约束条件，限定其合理的数据范围。应该怎么做呢？</a:t>
            </a:r>
            <a:endParaRPr lang="en-US" altLang="zh-CN" dirty="0"/>
          </a:p>
          <a:p>
            <a:endParaRPr lang="en-US" altLang="zh-CN" dirty="0"/>
          </a:p>
          <a:p>
            <a:endParaRPr lang="zh-CN" altLang="en-US" dirty="0"/>
          </a:p>
        </p:txBody>
      </p:sp>
      <p:pic>
        <p:nvPicPr>
          <p:cNvPr id="27652" name="图片 2"/>
          <p:cNvPicPr>
            <a:picLocks noChangeAspect="1"/>
          </p:cNvPicPr>
          <p:nvPr/>
        </p:nvPicPr>
        <p:blipFill>
          <a:blip r:embed="rId1"/>
          <a:stretch>
            <a:fillRect/>
          </a:stretch>
        </p:blipFill>
        <p:spPr>
          <a:xfrm>
            <a:off x="3432175" y="3311525"/>
            <a:ext cx="5634038" cy="2997200"/>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6803" name="Rectangle 2"/>
          <p:cNvSpPr>
            <a:spLocks noGrp="1" noChangeArrowheads="1"/>
          </p:cNvSpPr>
          <p:nvPr>
            <p:ph type="title" idx="4294967295"/>
          </p:nvPr>
        </p:nvSpPr>
        <p:spPr/>
        <p:txBody>
          <a:bodyPr/>
          <a:lstStyle/>
          <a:p>
            <a:pPr eaLnBrk="1" hangingPunct="1"/>
            <a:r>
              <a:rPr lang="zh-CN" altLang="zh-CN" sz="3600"/>
              <a:t>第五章 数据库完整性</a:t>
            </a:r>
            <a:endParaRPr lang="zh-CN" altLang="zh-CN" sz="3600"/>
          </a:p>
        </p:txBody>
      </p:sp>
      <p:sp>
        <p:nvSpPr>
          <p:cNvPr id="76804" name="Rectangle 3"/>
          <p:cNvSpPr>
            <a:spLocks noGrp="1" noChangeArrowheads="1"/>
          </p:cNvSpPr>
          <p:nvPr>
            <p:ph type="body" idx="4294967295"/>
          </p:nvPr>
        </p:nvSpPr>
        <p:spPr>
          <a:xfrm>
            <a:off x="1518445" y="1052514"/>
            <a:ext cx="7859712" cy="5329237"/>
          </a:xfrm>
        </p:spPr>
        <p:txBody>
          <a:bodyPr/>
          <a:lstStyle/>
          <a:p>
            <a:pPr eaLnBrk="1" hangingPunct="1">
              <a:lnSpc>
                <a:spcPct val="130000"/>
              </a:lnSpc>
              <a:buFont typeface="Wingdings" panose="05000000000000000000"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anose="05000000000000000000" pitchFamily="2" charset="2"/>
              <a:buNone/>
            </a:pPr>
            <a:r>
              <a:rPr lang="en-US" altLang="zh-CN" dirty="0"/>
              <a:t>5.2 </a:t>
            </a:r>
            <a:r>
              <a:rPr lang="zh-CN" altLang="en-US" dirty="0"/>
              <a:t>实体完整性</a:t>
            </a:r>
            <a:endParaRPr lang="zh-CN" altLang="en-US" dirty="0"/>
          </a:p>
          <a:p>
            <a:pPr eaLnBrk="1" hangingPunct="1">
              <a:lnSpc>
                <a:spcPct val="130000"/>
              </a:lnSpc>
              <a:buFont typeface="Wingdings" panose="05000000000000000000" pitchFamily="2" charset="2"/>
              <a:buNone/>
            </a:pPr>
            <a:r>
              <a:rPr lang="en-US" altLang="zh-CN" dirty="0"/>
              <a:t>5.3 </a:t>
            </a:r>
            <a:r>
              <a:rPr lang="zh-CN" altLang="en-US" dirty="0"/>
              <a:t>参照完整性</a:t>
            </a:r>
            <a:endParaRPr lang="zh-CN" altLang="en-US" dirty="0"/>
          </a:p>
          <a:p>
            <a:pPr eaLnBrk="1" hangingPunct="1">
              <a:lnSpc>
                <a:spcPct val="130000"/>
              </a:lnSpc>
              <a:buFont typeface="Wingdings" panose="05000000000000000000" pitchFamily="2" charset="2"/>
              <a:buNone/>
            </a:pPr>
            <a:r>
              <a:rPr lang="en-US" altLang="zh-CN" dirty="0"/>
              <a:t>5.4 </a:t>
            </a:r>
            <a:r>
              <a:rPr lang="zh-CN" altLang="en-US" dirty="0"/>
              <a:t>用户定义的完整性</a:t>
            </a:r>
            <a:endParaRPr lang="zh-CN" altLang="en-US" dirty="0"/>
          </a:p>
          <a:p>
            <a:pPr eaLnBrk="1" hangingPunct="1">
              <a:lnSpc>
                <a:spcPct val="130000"/>
              </a:lnSpc>
              <a:buFont typeface="Wingdings" panose="05000000000000000000" pitchFamily="2" charset="2"/>
              <a:buNone/>
            </a:pPr>
            <a:r>
              <a:rPr lang="en-US" altLang="zh-CN" dirty="0"/>
              <a:t>5.5 </a:t>
            </a:r>
            <a:r>
              <a:rPr lang="zh-CN" altLang="en-US" dirty="0"/>
              <a:t>完整性约束命名子句</a:t>
            </a:r>
            <a:endParaRPr lang="zh-CN" altLang="en-US" dirty="0"/>
          </a:p>
          <a:p>
            <a:pPr eaLnBrk="1" hangingPunct="1">
              <a:lnSpc>
                <a:spcPct val="130000"/>
              </a:lnSpc>
              <a:buFont typeface="Wingdings" panose="05000000000000000000" pitchFamily="2" charset="2"/>
              <a:buNone/>
            </a:pPr>
            <a:r>
              <a:rPr lang="zh-CN" altLang="en-US" dirty="0"/>
              <a:t>*</a:t>
            </a:r>
            <a:r>
              <a:rPr lang="en-US" altLang="zh-CN" dirty="0"/>
              <a:t>5.6 </a:t>
            </a:r>
            <a:r>
              <a:rPr lang="zh-CN" altLang="en-US" dirty="0"/>
              <a:t>域中的完整性限制</a:t>
            </a:r>
            <a:endParaRPr lang="en-US" altLang="zh-CN" dirty="0"/>
          </a:p>
          <a:p>
            <a:pPr eaLnBrk="1" hangingPunct="1">
              <a:lnSpc>
                <a:spcPct val="130000"/>
              </a:lnSpc>
              <a:buFont typeface="Wingdings" panose="05000000000000000000" pitchFamily="2" charset="2"/>
              <a:buNone/>
            </a:pPr>
            <a:r>
              <a:rPr lang="en-US" altLang="zh-CN" dirty="0"/>
              <a:t>5.7 </a:t>
            </a:r>
            <a:r>
              <a:rPr lang="zh-CN" altLang="en-US" dirty="0"/>
              <a:t>触发器</a:t>
            </a:r>
            <a:endParaRPr lang="en-US" altLang="zh-CN" dirty="0"/>
          </a:p>
          <a:p>
            <a:pPr eaLnBrk="1" hangingPunct="1">
              <a:lnSpc>
                <a:spcPct val="130000"/>
              </a:lnSpc>
              <a:buFont typeface="Wingdings" panose="05000000000000000000" pitchFamily="2" charset="2"/>
              <a:buNone/>
            </a:pPr>
            <a:r>
              <a:rPr lang="en-US" altLang="zh-CN" dirty="0">
                <a:solidFill>
                  <a:srgbClr val="0066FF"/>
                </a:solidFill>
              </a:rPr>
              <a:t>5.8 </a:t>
            </a:r>
            <a:r>
              <a:rPr lang="zh-CN" altLang="en-US" dirty="0">
                <a:solidFill>
                  <a:srgbClr val="0066FF"/>
                </a:solidFill>
              </a:rPr>
              <a:t>小结</a:t>
            </a:r>
            <a:endParaRPr lang="zh-CN" altLang="en-US" dirty="0">
              <a:solidFill>
                <a:srgbClr val="0066FF"/>
              </a:solidFill>
            </a:endParaRPr>
          </a:p>
          <a:p>
            <a:pPr eaLnBrk="1" hangingPunct="1"/>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6" name="Rectangle 3"/>
          <p:cNvSpPr>
            <a:spLocks noGrp="1" noChangeArrowheads="1"/>
          </p:cNvSpPr>
          <p:nvPr/>
        </p:nvSpPr>
        <p:spPr>
          <a:xfrm>
            <a:off x="911424" y="1122219"/>
            <a:ext cx="10972800" cy="485457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lnSpc>
                <a:spcPct val="120000"/>
              </a:lnSpc>
            </a:pPr>
            <a:r>
              <a:rPr lang="zh-CN" altLang="en-US" dirty="0"/>
              <a:t>请用触发器实现：</a:t>
            </a:r>
            <a:br>
              <a:rPr lang="zh-CN" altLang="en-US" dirty="0"/>
            </a:br>
            <a:br>
              <a:rPr lang="zh-CN" altLang="en-US" dirty="0"/>
            </a:br>
            <a:r>
              <a:rPr lang="zh-CN" altLang="en-US" dirty="0"/>
              <a:t>当在</a:t>
            </a:r>
            <a:r>
              <a:rPr lang="en-US" altLang="zh-CN" dirty="0"/>
              <a:t>SC</a:t>
            </a:r>
            <a:r>
              <a:rPr lang="zh-CN" altLang="en-US" dirty="0"/>
              <a:t>表插入一条元组时，该元组的</a:t>
            </a:r>
            <a:r>
              <a:rPr lang="en-US" altLang="zh-CN" dirty="0"/>
              <a:t>sno</a:t>
            </a:r>
            <a:r>
              <a:rPr lang="zh-CN" altLang="en-US" dirty="0"/>
              <a:t>值必须等于</a:t>
            </a:r>
            <a:r>
              <a:rPr lang="en-US" altLang="zh-CN" dirty="0"/>
              <a:t>student</a:t>
            </a:r>
            <a:r>
              <a:rPr lang="zh-CN" altLang="en-US" dirty="0"/>
              <a:t>表中某个元组的</a:t>
            </a:r>
            <a:r>
              <a:rPr lang="en-US" altLang="zh-CN" dirty="0"/>
              <a:t>sno</a:t>
            </a:r>
            <a:r>
              <a:rPr lang="zh-CN" altLang="en-US" dirty="0"/>
              <a:t>值。否则，拒绝插入（</a:t>
            </a:r>
            <a:r>
              <a:rPr lang="en-US" altLang="zh-CN" dirty="0"/>
              <a:t>ROLLBACK</a:t>
            </a:r>
            <a:r>
              <a:rPr lang="zh-CN" altLang="en-US" dirty="0"/>
              <a:t>）。</a:t>
            </a:r>
            <a:endParaRPr lang="zh-CN" altLang="en-US" dirty="0"/>
          </a:p>
          <a:p>
            <a:pPr eaLnBrk="1" hangingPunct="1">
              <a:lnSpc>
                <a:spcPct val="120000"/>
              </a:lnSpc>
            </a:pPr>
            <a:endParaRPr lang="zh-CN" altLang="en-US" dirty="0"/>
          </a:p>
          <a:p>
            <a:pPr eaLnBrk="1" hangingPunct="1">
              <a:lnSpc>
                <a:spcPct val="120000"/>
              </a:lnSpc>
            </a:pPr>
            <a:r>
              <a:rPr lang="zh-CN" altLang="en-US" dirty="0"/>
              <a:t>说明：</a:t>
            </a:r>
            <a:endParaRPr lang="zh-CN" altLang="en-US" dirty="0"/>
          </a:p>
          <a:p>
            <a:pPr eaLnBrk="1" hangingPunct="1">
              <a:lnSpc>
                <a:spcPct val="120000"/>
              </a:lnSpc>
            </a:pPr>
            <a:r>
              <a:rPr lang="en-US" altLang="zh-CN" dirty="0"/>
              <a:t>1.</a:t>
            </a:r>
            <a:r>
              <a:rPr lang="zh-CN" altLang="en-US" dirty="0"/>
              <a:t>假设</a:t>
            </a:r>
            <a:r>
              <a:rPr lang="en-US" altLang="zh-CN" dirty="0"/>
              <a:t>SC</a:t>
            </a:r>
            <a:r>
              <a:rPr lang="zh-CN" altLang="en-US" dirty="0"/>
              <a:t>表没有指定</a:t>
            </a:r>
            <a:r>
              <a:rPr lang="zh-CN" altLang="en-US" dirty="0"/>
              <a:t>外码</a:t>
            </a:r>
            <a:endParaRPr lang="zh-CN" altLang="en-US" dirty="0"/>
          </a:p>
          <a:p>
            <a:pPr eaLnBrk="1" hangingPunct="1">
              <a:lnSpc>
                <a:spcPct val="120000"/>
              </a:lnSpc>
            </a:pPr>
            <a:r>
              <a:rPr lang="en-US" altLang="zh-CN" dirty="0"/>
              <a:t>2. </a:t>
            </a:r>
            <a:r>
              <a:rPr lang="zh-CN" altLang="en-US" dirty="0"/>
              <a:t>拒绝插入可以用</a:t>
            </a:r>
            <a:r>
              <a:rPr lang="en-US" altLang="zh-CN" dirty="0"/>
              <a:t> </a:t>
            </a:r>
            <a:r>
              <a:rPr lang="en-US" altLang="zh-CN" dirty="0">
                <a:sym typeface="+mn-ea"/>
              </a:rPr>
              <a:t>ROLLBACK TRANSACTION</a:t>
            </a:r>
            <a:r>
              <a:rPr lang="zh-CN" altLang="en-US" dirty="0">
                <a:sym typeface="+mn-ea"/>
              </a:rPr>
              <a:t>；</a:t>
            </a:r>
            <a:endParaRPr lang="zh-CN" altLang="en-US" dirty="0"/>
          </a:p>
          <a:p>
            <a:pPr eaLnBrk="1" hangingPunct="1">
              <a:lnSpc>
                <a:spcPct val="120000"/>
              </a:lnSpc>
            </a:pP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7827" name="Rectangle 2"/>
          <p:cNvSpPr>
            <a:spLocks noGrp="1" noChangeArrowheads="1"/>
          </p:cNvSpPr>
          <p:nvPr>
            <p:ph type="title" idx="4294967295"/>
          </p:nvPr>
        </p:nvSpPr>
        <p:spPr/>
        <p:txBody>
          <a:bodyPr/>
          <a:lstStyle/>
          <a:p>
            <a:pPr eaLnBrk="1" hangingPunct="1"/>
            <a:r>
              <a:rPr lang="en-US" altLang="zh-CN" sz="3600"/>
              <a:t>5.8  </a:t>
            </a:r>
            <a:r>
              <a:rPr lang="zh-CN" altLang="en-US" sz="3600"/>
              <a:t>小结</a:t>
            </a:r>
            <a:endParaRPr lang="zh-CN" altLang="en-US" sz="3600"/>
          </a:p>
        </p:txBody>
      </p:sp>
      <p:sp>
        <p:nvSpPr>
          <p:cNvPr id="74756" name="Rectangle 3"/>
          <p:cNvSpPr>
            <a:spLocks noGrp="1" noChangeArrowheads="1"/>
          </p:cNvSpPr>
          <p:nvPr>
            <p:ph type="body" idx="4294967295"/>
          </p:nvPr>
        </p:nvSpPr>
        <p:spPr>
          <a:xfrm>
            <a:off x="911424" y="1122219"/>
            <a:ext cx="10972800" cy="4854575"/>
          </a:xfrm>
        </p:spPr>
        <p:txBody>
          <a:bodyPr/>
          <a:lstStyle/>
          <a:p>
            <a:pPr eaLnBrk="1" hangingPunct="1">
              <a:lnSpc>
                <a:spcPct val="120000"/>
              </a:lnSpc>
            </a:pPr>
            <a:r>
              <a:rPr lang="en-US" altLang="zh-CN" dirty="0"/>
              <a:t>RDBMS</a:t>
            </a:r>
            <a:r>
              <a:rPr lang="zh-CN" altLang="en-US" dirty="0"/>
              <a:t>完整性实现的机制</a:t>
            </a:r>
            <a:endParaRPr lang="zh-CN" altLang="en-US" dirty="0"/>
          </a:p>
          <a:p>
            <a:pPr lvl="1" eaLnBrk="1" hangingPunct="1">
              <a:lnSpc>
                <a:spcPct val="120000"/>
              </a:lnSpc>
            </a:pPr>
            <a:r>
              <a:rPr lang="zh-CN" altLang="en-US" dirty="0"/>
              <a:t>完整性约束的定义机制</a:t>
            </a:r>
            <a:endParaRPr lang="zh-CN" altLang="en-US" dirty="0"/>
          </a:p>
          <a:p>
            <a:pPr lvl="1" eaLnBrk="1" hangingPunct="1">
              <a:lnSpc>
                <a:spcPct val="120000"/>
              </a:lnSpc>
            </a:pPr>
            <a:r>
              <a:rPr lang="zh-CN" altLang="en-US" dirty="0"/>
              <a:t>完整性约束的检查方法</a:t>
            </a:r>
            <a:endParaRPr lang="zh-CN" altLang="en-US" dirty="0"/>
          </a:p>
          <a:p>
            <a:pPr lvl="1" eaLnBrk="1" hangingPunct="1">
              <a:lnSpc>
                <a:spcPct val="120000"/>
              </a:lnSpc>
            </a:pPr>
            <a:r>
              <a:rPr lang="zh-CN" altLang="en-US" dirty="0"/>
              <a:t>违背完整性约束时应采取的动作</a:t>
            </a:r>
            <a:endParaRPr lang="en-US" altLang="zh-CN" dirty="0"/>
          </a:p>
          <a:p>
            <a:pPr eaLnBrk="1" hangingPunct="1">
              <a:lnSpc>
                <a:spcPct val="120000"/>
              </a:lnSpc>
            </a:pPr>
            <a:r>
              <a:rPr lang="zh-CN" altLang="zh-CN" sz="2200" dirty="0">
                <a:latin typeface="Calibri" panose="020F0502020204030204" pitchFamily="34" charset="0"/>
                <a:cs typeface="Times New Roman" panose="02020603050405020304" pitchFamily="18" charset="0"/>
              </a:rPr>
              <a:t>触发器</a:t>
            </a:r>
            <a:endParaRPr lang="en-US" altLang="zh-CN" sz="2200" dirty="0">
              <a:latin typeface="Calibri" panose="020F0502020204030204" pitchFamily="34" charset="0"/>
              <a:cs typeface="Times New Roman" panose="02020603050405020304" pitchFamily="18" charset="0"/>
            </a:endParaRPr>
          </a:p>
          <a:p>
            <a:pPr lvl="1" eaLnBrk="1" hangingPunct="1">
              <a:lnSpc>
                <a:spcPct val="120000"/>
              </a:lnSpc>
            </a:pPr>
            <a:r>
              <a:rPr lang="zh-CN" altLang="zh-CN" dirty="0"/>
              <a:t>可以实施更为复杂的完整性定义、检查和违约操作</a:t>
            </a:r>
            <a:endParaRPr lang="en-US" altLang="zh-CN" dirty="0"/>
          </a:p>
          <a:p>
            <a:pPr lvl="1" eaLnBrk="1" hangingPunct="1">
              <a:lnSpc>
                <a:spcPct val="120000"/>
              </a:lnSpc>
            </a:pPr>
            <a:r>
              <a:rPr lang="zh-CN" altLang="zh-CN" dirty="0"/>
              <a:t>具有更精细和更强大的数据控制能力</a:t>
            </a:r>
            <a:endParaRPr lang="en-US" altLang="zh-CN" dirty="0"/>
          </a:p>
          <a:p>
            <a:pPr lvl="1" eaLnBrk="1" hangingPunct="1">
              <a:lnSpc>
                <a:spcPct val="120000"/>
              </a:lnSpc>
            </a:pPr>
            <a:r>
              <a:rPr lang="zh-CN" altLang="zh-CN" dirty="0"/>
              <a:t>触发器规则中的动作体可以很复杂，通常是一段过程化</a:t>
            </a:r>
            <a:r>
              <a:rPr lang="en-US" altLang="zh-CN" dirty="0"/>
              <a:t>SQL</a:t>
            </a:r>
            <a:endParaRPr lang="zh-CN" altLang="en-US"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15001</Words>
  <Application>WPS 演示</Application>
  <PresentationFormat>宽屏</PresentationFormat>
  <Paragraphs>861</Paragraphs>
  <Slides>86</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86</vt:i4>
      </vt:variant>
    </vt:vector>
  </HeadingPairs>
  <TitlesOfParts>
    <vt:vector size="98" baseType="lpstr">
      <vt:lpstr>Arial</vt:lpstr>
      <vt:lpstr>宋体</vt:lpstr>
      <vt:lpstr>Wingdings</vt:lpstr>
      <vt:lpstr>Calibri</vt:lpstr>
      <vt:lpstr>Times New Roman</vt:lpstr>
      <vt:lpstr>黑体</vt:lpstr>
      <vt:lpstr>Times-Roman</vt:lpstr>
      <vt:lpstr>隶书</vt:lpstr>
      <vt:lpstr>微软雅黑</vt:lpstr>
      <vt:lpstr>Arial Unicode MS</vt:lpstr>
      <vt:lpstr>Therese</vt:lpstr>
      <vt:lpstr>数据库系统概论</vt:lpstr>
      <vt:lpstr>PowerPoint 演示文稿</vt:lpstr>
      <vt:lpstr>第五章 数据库完整性</vt:lpstr>
      <vt:lpstr>5.1数据库完整性</vt:lpstr>
      <vt:lpstr>数据库完整性（续）</vt:lpstr>
      <vt:lpstr>数据库完整性（续）</vt:lpstr>
      <vt:lpstr>PowerPoint 演示文稿</vt:lpstr>
      <vt:lpstr>PowerPoint 演示文稿</vt:lpstr>
      <vt:lpstr>第五章 数据库完整性</vt:lpstr>
      <vt:lpstr>5.2 实体完整性</vt:lpstr>
      <vt:lpstr>5.2.1 实体完整性定义</vt:lpstr>
      <vt:lpstr>实体完整性定义（续）</vt:lpstr>
      <vt:lpstr>实体完整性定义（续）</vt:lpstr>
      <vt:lpstr>实体完整性定义（续）</vt:lpstr>
      <vt:lpstr>5.2 实体完整性</vt:lpstr>
      <vt:lpstr>5.2.2 实体完整性检查和违约处理</vt:lpstr>
      <vt:lpstr>实体完整性检查和违约处理（续）</vt:lpstr>
      <vt:lpstr>PowerPoint 演示文稿</vt:lpstr>
      <vt:lpstr>实体完整性检查和违约处理（续）</vt:lpstr>
      <vt:lpstr>第五章 数据库完整性</vt:lpstr>
      <vt:lpstr>5.3  参照完整性</vt:lpstr>
      <vt:lpstr>5.3.1 参照完整性定义</vt:lpstr>
      <vt:lpstr>参照完整性定义（续）</vt:lpstr>
      <vt:lpstr>5.3  参照完整性</vt:lpstr>
      <vt:lpstr>5.3.2参照完整性检查和违约处理</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第五章 数据库完整性</vt:lpstr>
      <vt:lpstr>5.4  用户定义的完整性</vt:lpstr>
      <vt:lpstr>5.4  用户定义的完整性</vt:lpstr>
      <vt:lpstr>5.4.1属性上的约束</vt:lpstr>
      <vt:lpstr>属性上的约束（续）</vt:lpstr>
      <vt:lpstr>属性上的约束（续）</vt:lpstr>
      <vt:lpstr>属性上的约束（续）</vt:lpstr>
      <vt:lpstr>PowerPoint 演示文稿</vt:lpstr>
      <vt:lpstr>属性上的约束（续）</vt:lpstr>
      <vt:lpstr>5.4  用户定义的完整性</vt:lpstr>
      <vt:lpstr>5.4.2 元组上的约束</vt:lpstr>
      <vt:lpstr>元组上的约束（续）</vt:lpstr>
      <vt:lpstr>元组上的约束（续）</vt:lpstr>
      <vt:lpstr>PowerPoint 演示文稿</vt:lpstr>
      <vt:lpstr>第五章 数据库完整性</vt:lpstr>
      <vt:lpstr>5.5  完整性约束命名子句</vt:lpstr>
      <vt:lpstr>完整性约束命名子句（续）</vt:lpstr>
      <vt:lpstr>完整性约束命名子句（续）</vt:lpstr>
      <vt:lpstr>完整性约束命名子句（续）</vt:lpstr>
      <vt:lpstr>完整性约束命名子句（续）</vt:lpstr>
      <vt:lpstr>第五章 数据库完整性</vt:lpstr>
      <vt:lpstr>PowerPoint 演示文稿</vt:lpstr>
      <vt:lpstr>PowerPoint 演示文稿</vt:lpstr>
      <vt:lpstr>PowerPoint 演示文稿</vt:lpstr>
      <vt:lpstr>PowerPoint 演示文稿</vt:lpstr>
      <vt:lpstr>PowerPoint 演示文稿</vt:lpstr>
      <vt:lpstr>第五章 数据库完整性</vt:lpstr>
      <vt:lpstr>触发器</vt:lpstr>
      <vt:lpstr>5.7  触发器</vt:lpstr>
      <vt:lpstr>5.7.1 定义触发器</vt:lpstr>
      <vt:lpstr>定义触发器（续）</vt:lpstr>
      <vt:lpstr>定义触发器（续）</vt:lpstr>
      <vt:lpstr>定义触发器（续）</vt:lpstr>
      <vt:lpstr>定义触发器（续）</vt:lpstr>
      <vt:lpstr>定义触发器（续）</vt:lpstr>
      <vt:lpstr>定义触发器（续）</vt:lpstr>
      <vt:lpstr>定义触发器（续）</vt:lpstr>
      <vt:lpstr>定义触发器（续）</vt:lpstr>
      <vt:lpstr>5.7  触发器</vt:lpstr>
      <vt:lpstr>5.7.2 执行触发器</vt:lpstr>
      <vt:lpstr>5.7  触发器</vt:lpstr>
      <vt:lpstr>5.7.3 删除触发器</vt:lpstr>
      <vt:lpstr>关于触发器的问题（1）</vt:lpstr>
      <vt:lpstr>关于触发器的问题（2）</vt:lpstr>
      <vt:lpstr>关于触发器的问题（2）</vt:lpstr>
      <vt:lpstr>关于触发器的问题（3）</vt:lpstr>
      <vt:lpstr>关于触发器的问题（4）</vt:lpstr>
      <vt:lpstr>关于触发器的问题（5）</vt:lpstr>
      <vt:lpstr>关于约束检查的问题（1）</vt:lpstr>
      <vt:lpstr>关于约束检查的问题（2）</vt:lpstr>
      <vt:lpstr>关于参照完整性</vt:lpstr>
      <vt:lpstr>其他</vt:lpstr>
      <vt:lpstr>第五章 数据库完整性</vt:lpstr>
      <vt:lpstr>PowerPoint 演示文稿</vt:lpstr>
      <vt:lpstr>5.8  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guixiang</dc:creator>
  <cp:lastModifiedBy>陈晋川</cp:lastModifiedBy>
  <cp:revision>256</cp:revision>
  <cp:lastPrinted>2021-12-14T01:58:00Z</cp:lastPrinted>
  <dcterms:created xsi:type="dcterms:W3CDTF">2014-10-23T05:39:00Z</dcterms:created>
  <dcterms:modified xsi:type="dcterms:W3CDTF">2025-10-15T13:08:51Z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E785CAD6E34A4076940FED88B1CD8D13_12</vt:lpwstr>
  </property>
</Properties>
</file>