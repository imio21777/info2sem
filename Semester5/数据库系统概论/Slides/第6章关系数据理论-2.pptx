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149" r:id="rId3"/>
    <p:sldId id="686" r:id="rId5"/>
    <p:sldId id="687" r:id="rId6"/>
    <p:sldId id="1432" r:id="rId7"/>
    <p:sldId id="688" r:id="rId8"/>
    <p:sldId id="875" r:id="rId9"/>
    <p:sldId id="695" r:id="rId10"/>
    <p:sldId id="696" r:id="rId11"/>
    <p:sldId id="697" r:id="rId12"/>
    <p:sldId id="698" r:id="rId13"/>
    <p:sldId id="701" r:id="rId14"/>
    <p:sldId id="702" r:id="rId15"/>
    <p:sldId id="1301" r:id="rId16"/>
    <p:sldId id="1302" r:id="rId17"/>
    <p:sldId id="1303" r:id="rId18"/>
    <p:sldId id="1304" r:id="rId19"/>
    <p:sldId id="1305" r:id="rId20"/>
    <p:sldId id="1306" r:id="rId21"/>
    <p:sldId id="1307" r:id="rId22"/>
    <p:sldId id="1308" r:id="rId23"/>
    <p:sldId id="1299" r:id="rId24"/>
    <p:sldId id="703" r:id="rId25"/>
    <p:sldId id="704" r:id="rId26"/>
    <p:sldId id="705" r:id="rId27"/>
    <p:sldId id="1395" r:id="rId28"/>
    <p:sldId id="706" r:id="rId29"/>
    <p:sldId id="707" r:id="rId30"/>
    <p:sldId id="708" r:id="rId31"/>
    <p:sldId id="709" r:id="rId32"/>
    <p:sldId id="710" r:id="rId33"/>
    <p:sldId id="711" r:id="rId34"/>
    <p:sldId id="712" r:id="rId35"/>
    <p:sldId id="713" r:id="rId36"/>
    <p:sldId id="714" r:id="rId37"/>
    <p:sldId id="715" r:id="rId38"/>
    <p:sldId id="716" r:id="rId39"/>
    <p:sldId id="717" r:id="rId40"/>
    <p:sldId id="718" r:id="rId41"/>
    <p:sldId id="719" r:id="rId42"/>
    <p:sldId id="720" r:id="rId43"/>
    <p:sldId id="721" r:id="rId44"/>
    <p:sldId id="722" r:id="rId45"/>
    <p:sldId id="724" r:id="rId46"/>
    <p:sldId id="1377" r:id="rId47"/>
    <p:sldId id="1378" r:id="rId48"/>
    <p:sldId id="725" r:id="rId49"/>
    <p:sldId id="726" r:id="rId50"/>
    <p:sldId id="727" r:id="rId51"/>
    <p:sldId id="729" r:id="rId52"/>
    <p:sldId id="1379" r:id="rId53"/>
    <p:sldId id="730" r:id="rId54"/>
    <p:sldId id="1370" r:id="rId55"/>
    <p:sldId id="1371" r:id="rId56"/>
    <p:sldId id="744" r:id="rId57"/>
    <p:sldId id="745" r:id="rId58"/>
    <p:sldId id="1380" r:id="rId59"/>
    <p:sldId id="1381" r:id="rId60"/>
    <p:sldId id="1372" r:id="rId61"/>
    <p:sldId id="1374" r:id="rId62"/>
    <p:sldId id="1382" r:id="rId63"/>
    <p:sldId id="1383" r:id="rId64"/>
  </p:sldIdLst>
  <p:sldSz cx="9144000" cy="5143500" type="screen16x9"/>
  <p:notesSz cx="6833870" cy="9979025"/>
  <p:custDataLst>
    <p:tags r:id="rId6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OVO" initials="L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31" autoAdjust="0"/>
    <p:restoredTop sz="75171" autoAdjust="0"/>
  </p:normalViewPr>
  <p:slideViewPr>
    <p:cSldViewPr snapToObjects="1" showGuides="1">
      <p:cViewPr varScale="1">
        <p:scale>
          <a:sx n="96" d="100"/>
          <a:sy n="96" d="100"/>
        </p:scale>
        <p:origin x="960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5412"/>
    </p:cViewPr>
  </p:outlin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" d="1"/>
        <a:sy n="1" d="1"/>
      </p:scale>
      <p:origin x="0" y="-258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9" Type="http://schemas.openxmlformats.org/officeDocument/2006/relationships/tags" Target="tags/tag20.xml"/><Relationship Id="rId68" Type="http://schemas.openxmlformats.org/officeDocument/2006/relationships/commentAuthors" Target="commentAuthors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98D9254D-DD28-4882-BE16-AE0C7916E424}" type="datetimeFigureOut">
              <a:rPr lang="zh-CN" altLang="en-US"/>
            </a:fld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0488" y="747713"/>
            <a:ext cx="6651625" cy="3741737"/>
          </a:xfrm>
          <a:prstGeom prst="rect">
            <a:avLst/>
          </a:prstGeom>
          <a:noFill/>
          <a:ln w="9525">
            <a:noFill/>
            <a:miter lim="800000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2625" y="4740275"/>
            <a:ext cx="5467350" cy="4489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7375"/>
            <a:ext cx="2960688" cy="5000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9477375"/>
            <a:ext cx="2962275" cy="5000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F7257DD1-BACB-4FE7-9A96-B83AEB9C3360}" type="slidenum">
              <a:rPr lang="zh-CN" alt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证明</a:t>
            </a:r>
            <a:r>
              <a:rPr lang="en-US" altLang="zh-CN"/>
              <a:t> A \in X_F^+</a:t>
            </a:r>
            <a:r>
              <a:rPr lang="zh-CN" altLang="en-US"/>
              <a:t>，核心在于证明</a:t>
            </a:r>
            <a:r>
              <a:rPr lang="en-US" altLang="zh-CN"/>
              <a:t>  X-&gt;A </a:t>
            </a:r>
            <a:r>
              <a:rPr lang="zh-CN" altLang="en-US"/>
              <a:t>被</a:t>
            </a:r>
            <a:r>
              <a:rPr lang="en-US" altLang="zh-CN"/>
              <a:t>F</a:t>
            </a:r>
            <a:r>
              <a:rPr lang="zh-CN" altLang="en-US"/>
              <a:t>所</a:t>
            </a:r>
            <a:r>
              <a:rPr lang="zh-CN" altLang="en-US"/>
              <a:t>蕴含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思路，</a:t>
            </a: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en-US" altLang="zh-CN"/>
              <a:t>XF+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DDD29BF-5B35-4C99-942F-FC4DE59A9E1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0034" y="1071552"/>
            <a:ext cx="7772400" cy="110251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4414" y="2643188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5720" y="-29766"/>
            <a:ext cx="8401080" cy="853679"/>
          </a:xfrm>
        </p:spPr>
        <p:txBody>
          <a:bodyPr/>
          <a:lstStyle>
            <a:lvl1pPr>
              <a:defRPr sz="3600" baseline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1004888"/>
            <a:ext cx="8401080" cy="364093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004888"/>
            <a:ext cx="4038600" cy="36409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04888"/>
            <a:ext cx="4038600" cy="36409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-29766"/>
            <a:ext cx="2057400" cy="467558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-29766"/>
            <a:ext cx="6019800" cy="467558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4351"/>
            <a:ext cx="7391400" cy="422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371600"/>
            <a:ext cx="4038600" cy="3371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71600"/>
            <a:ext cx="4038600" cy="1628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114675"/>
            <a:ext cx="4038600" cy="1628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800600"/>
            <a:ext cx="21336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ftr" sz="quarter" idx="11"/>
          </p:nvPr>
        </p:nvSpPr>
        <p:spPr>
          <a:xfrm>
            <a:off x="5219700" y="4786313"/>
            <a:ext cx="360045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-30163"/>
            <a:ext cx="8229600" cy="8540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04888"/>
            <a:ext cx="8229600" cy="3641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.xml"/><Relationship Id="rId2" Type="http://schemas.openxmlformats.org/officeDocument/2006/relationships/image" Target="../media/image18.png"/><Relationship Id="rId1" Type="http://schemas.openxmlformats.org/officeDocument/2006/relationships/tags" Target="../tags/tag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22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image" Target="../media/image24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5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" Target="slide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7.png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13000"/>
                    </a14:imgEffect>
                    <a14:imgEffect>
                      <a14:colorTemperature colorTemp="5050"/>
                    </a14:imgEffect>
                    <a14:imgEffect>
                      <a14:saturation sat="1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2"/>
            <a:ext cx="9385063" cy="514350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0"/>
          </a:effectLst>
        </p:spPr>
      </p:pic>
      <p:sp>
        <p:nvSpPr>
          <p:cNvPr id="7" name="文本框 6"/>
          <p:cNvSpPr txBox="1"/>
          <p:nvPr/>
        </p:nvSpPr>
        <p:spPr>
          <a:xfrm>
            <a:off x="461711" y="1674674"/>
            <a:ext cx="8220575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38100" h="38100"/>
            </a:sp3d>
          </a:bodyPr>
          <a:lstStyle/>
          <a:p>
            <a:pPr algn="ctr">
              <a:buFont typeface="Arial" panose="020B0604020202020204" pitchFamily="34" charset="0"/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Introduction to Database Systems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</a:t>
            </a:r>
            <a:endParaRPr lang="en-US" altLang="zh-CN" sz="3600" b="1" dirty="0">
              <a:solidFill>
                <a:schemeClr val="bg1"/>
              </a:solidFill>
              <a:latin typeface="Times New Roman" panose="02020603050405020304" pitchFamily="18" charset="0"/>
              <a:sym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 rot="18900000">
            <a:off x="4465168" y="2399978"/>
            <a:ext cx="213665" cy="213663"/>
          </a:xfrm>
          <a:prstGeom prst="rect">
            <a:avLst/>
          </a:prstGeom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 contourW="12700">
            <a:bevelB/>
            <a:contourClr>
              <a:schemeClr val="bg1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1800225" y="2517744"/>
            <a:ext cx="5543550" cy="274344"/>
            <a:chOff x="2400300" y="3894867"/>
            <a:chExt cx="7391400" cy="365792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2400300" y="3910260"/>
              <a:ext cx="33687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 contourW="12700">
              <a:bevelB/>
              <a:contourClr>
                <a:schemeClr val="bg1"/>
              </a:contourClr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6422934" y="3910260"/>
              <a:ext cx="3368766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 contourW="12700">
              <a:bevelB/>
              <a:contourClr>
                <a:schemeClr val="bg1"/>
              </a:contourClr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rcRect t="50000"/>
            <a:stretch>
              <a:fillRect/>
            </a:stretch>
          </p:blipFill>
          <p:spPr>
            <a:xfrm>
              <a:off x="5730208" y="3894867"/>
              <a:ext cx="731583" cy="365792"/>
            </a:xfrm>
            <a:custGeom>
              <a:avLst/>
              <a:gdLst>
                <a:gd name="connsiteX0" fmla="*/ 0 w 731583"/>
                <a:gd name="connsiteY0" fmla="*/ 0 h 365792"/>
                <a:gd name="connsiteX1" fmla="*/ 731583 w 731583"/>
                <a:gd name="connsiteY1" fmla="*/ 0 h 365792"/>
                <a:gd name="connsiteX2" fmla="*/ 731583 w 731583"/>
                <a:gd name="connsiteY2" fmla="*/ 365792 h 365792"/>
                <a:gd name="connsiteX3" fmla="*/ 0 w 731583"/>
                <a:gd name="connsiteY3" fmla="*/ 365792 h 36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1583" h="365792">
                  <a:moveTo>
                    <a:pt x="0" y="0"/>
                  </a:moveTo>
                  <a:lnTo>
                    <a:pt x="731583" y="0"/>
                  </a:lnTo>
                  <a:lnTo>
                    <a:pt x="731583" y="365792"/>
                  </a:lnTo>
                  <a:lnTo>
                    <a:pt x="0" y="365792"/>
                  </a:lnTo>
                  <a:close/>
                </a:path>
              </a:pathLst>
            </a:custGeom>
          </p:spPr>
        </p:pic>
      </p:grpSp>
      <p:sp>
        <p:nvSpPr>
          <p:cNvPr id="12" name="矩形 11"/>
          <p:cNvSpPr/>
          <p:nvPr/>
        </p:nvSpPr>
        <p:spPr>
          <a:xfrm>
            <a:off x="3383868" y="4299942"/>
            <a:ext cx="2825630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ClrTx/>
              <a:buFont typeface="Wingdings" panose="05000000000000000000" pitchFamily="2" charset="2"/>
            </a:pPr>
            <a:r>
              <a:rPr lang="zh-CN" altLang="en-US" b="1" dirty="0">
                <a:solidFill>
                  <a:schemeClr val="bg1"/>
                </a:solidFill>
                <a:latin typeface="Times-Roman" charset="0"/>
                <a:ea typeface="隶书" panose="02010509060101010101" pitchFamily="49" charset="-122"/>
              </a:rPr>
              <a:t>中国人民大学信息学院</a:t>
            </a:r>
            <a:endParaRPr lang="zh-CN" altLang="en-US" b="1" dirty="0">
              <a:solidFill>
                <a:schemeClr val="bg1"/>
              </a:solidFill>
              <a:latin typeface="Times-Roman" charset="0"/>
              <a:ea typeface="隶书" panose="020105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66363" y="784564"/>
            <a:ext cx="6709109" cy="8540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38100" h="38100"/>
            </a:sp3d>
          </a:bodyPr>
          <a:lstStyle/>
          <a:p>
            <a:pPr algn="ctr">
              <a:buFont typeface="Arial" panose="020B0604020202020204" pitchFamily="34" charset="0"/>
            </a:pPr>
            <a:r>
              <a:rPr lang="zh-CN" altLang="en-US" sz="495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数据库系统概论</a:t>
            </a:r>
            <a:endParaRPr lang="en-US" altLang="zh-CN" sz="495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90702" y="3219823"/>
            <a:ext cx="63136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第六章 关系数据</a:t>
            </a:r>
            <a:r>
              <a:rPr lang="zh-CN" altLang="en-US" sz="36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理论</a:t>
            </a:r>
            <a:endParaRPr lang="zh-CN" altLang="en-US" sz="3300" b="1" dirty="0">
              <a:solidFill>
                <a:schemeClr val="bg1"/>
              </a:solidFill>
              <a:latin typeface="Times-Roman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第六章 关系数据理论</a:t>
            </a:r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6.1 </a:t>
            </a:r>
            <a:r>
              <a:rPr lang="zh-CN" altLang="en-US" dirty="0"/>
              <a:t>问题的提出</a:t>
            </a:r>
            <a:endParaRPr lang="zh-CN" altLang="en-US" dirty="0"/>
          </a:p>
          <a:p>
            <a:r>
              <a:rPr lang="en-US" altLang="zh-CN" dirty="0"/>
              <a:t>6.2 </a:t>
            </a:r>
            <a:r>
              <a:rPr lang="zh-CN" altLang="en-US" dirty="0"/>
              <a:t>规范化</a:t>
            </a:r>
            <a:endParaRPr lang="zh-CN" altLang="en-US" dirty="0"/>
          </a:p>
          <a:p>
            <a:r>
              <a:rPr lang="en-US" altLang="zh-CN" dirty="0">
                <a:solidFill>
                  <a:srgbClr val="C00000"/>
                </a:solidFill>
              </a:rPr>
              <a:t>6.3 </a:t>
            </a:r>
            <a:r>
              <a:rPr lang="zh-CN" altLang="en-US" dirty="0">
                <a:solidFill>
                  <a:srgbClr val="C00000"/>
                </a:solidFill>
              </a:rPr>
              <a:t>数据依赖的公理系统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en-US" altLang="zh-CN" dirty="0"/>
              <a:t>6.4 </a:t>
            </a:r>
            <a:r>
              <a:rPr lang="zh-CN" altLang="en-US" dirty="0"/>
              <a:t>模式的分解</a:t>
            </a:r>
            <a:endParaRPr lang="zh-CN" altLang="en-US" dirty="0"/>
          </a:p>
        </p:txBody>
      </p:sp>
    </p:spTree>
  </p:cSld>
  <p:clrMapOvr>
    <a:masterClrMapping/>
  </p:clrMapOvr>
  <p:transition spd="slow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-71456"/>
            <a:ext cx="8401080" cy="853679"/>
          </a:xfrm>
        </p:spPr>
        <p:txBody>
          <a:bodyPr/>
          <a:lstStyle/>
          <a:p>
            <a:pPr eaLnBrk="1" hangingPunct="1"/>
            <a:r>
              <a:rPr lang="en-US" altLang="zh-CN" sz="3600" dirty="0"/>
              <a:t>6.3  </a:t>
            </a:r>
            <a:r>
              <a:rPr lang="zh-CN" altLang="en-US" sz="3600" dirty="0"/>
              <a:t>数据依赖的公理系统</a:t>
            </a:r>
            <a:endParaRPr lang="zh-CN" altLang="en-US" sz="3600" dirty="0"/>
          </a:p>
        </p:txBody>
      </p:sp>
      <p:sp>
        <p:nvSpPr>
          <p:cNvPr id="131075" name="Rectangle 3"/>
          <p:cNvSpPr>
            <a:spLocks noGrp="1" noChangeArrowheads="1"/>
          </p:cNvSpPr>
          <p:nvPr>
            <p:ph idx="1"/>
          </p:nvPr>
        </p:nvSpPr>
        <p:spPr>
          <a:xfrm>
            <a:off x="214282" y="857238"/>
            <a:ext cx="8401080" cy="3640931"/>
          </a:xfrm>
        </p:spPr>
        <p:txBody>
          <a:bodyPr/>
          <a:lstStyle/>
          <a:p>
            <a:pPr eaLnBrk="1" hangingPunct="1"/>
            <a:r>
              <a:rPr lang="zh-CN" altLang="en-US" sz="2000" dirty="0">
                <a:solidFill>
                  <a:srgbClr val="FF0000"/>
                </a:solidFill>
              </a:rPr>
              <a:t>数据依赖</a:t>
            </a:r>
            <a:r>
              <a:rPr lang="zh-CN" altLang="en-US" sz="2000" dirty="0"/>
              <a:t>的公理系统是模式分解算法的理论基础。</a:t>
            </a:r>
            <a:endParaRPr lang="en-US" altLang="zh-CN" sz="2000" dirty="0"/>
          </a:p>
          <a:p>
            <a:pPr eaLnBrk="1" hangingPunct="1"/>
            <a:r>
              <a:rPr lang="zh-CN" altLang="en-US" sz="2000" dirty="0">
                <a:solidFill>
                  <a:srgbClr val="FF0000"/>
                </a:solidFill>
              </a:rPr>
              <a:t>函数依赖</a:t>
            </a:r>
            <a:r>
              <a:rPr lang="zh-CN" altLang="en-US" sz="2000" dirty="0"/>
              <a:t>的一个有效而完备的公理系统</a:t>
            </a:r>
            <a:r>
              <a:rPr lang="en-US" altLang="zh-CN" sz="2000" dirty="0"/>
              <a:t>——</a:t>
            </a:r>
            <a:r>
              <a:rPr lang="en-US" sz="2000" dirty="0"/>
              <a:t>Armstrong</a:t>
            </a:r>
            <a:r>
              <a:rPr lang="zh-CN" altLang="en-US" sz="2000" dirty="0"/>
              <a:t>公理系统。</a:t>
            </a:r>
            <a:endParaRPr lang="en-US" altLang="zh-CN" sz="2000" dirty="0"/>
          </a:p>
          <a:p>
            <a:pPr eaLnBrk="1" hangingPunct="1">
              <a:spcAft>
                <a:spcPct val="40000"/>
              </a:spcAft>
              <a:buNone/>
            </a:pPr>
            <a:r>
              <a:rPr lang="zh-CN" altLang="en-US" sz="1800" dirty="0"/>
              <a:t>      </a:t>
            </a:r>
            <a:r>
              <a:rPr lang="zh-CN" altLang="en-US" sz="2000" dirty="0"/>
              <a:t>一套推理规则，是模式分解算法的理论基础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用途</a:t>
            </a:r>
            <a:endParaRPr lang="zh-CN" altLang="en-US" sz="2000" dirty="0"/>
          </a:p>
          <a:p>
            <a:pPr lvl="1" eaLnBrk="1" hangingPunct="1"/>
            <a:r>
              <a:rPr lang="zh-CN" altLang="en-US" sz="2000" dirty="0">
                <a:cs typeface="+mn-cs"/>
              </a:rPr>
              <a:t>求给定关系模式的码</a:t>
            </a:r>
            <a:endParaRPr lang="zh-CN" altLang="en-US" sz="2000" dirty="0">
              <a:cs typeface="+mn-cs"/>
            </a:endParaRPr>
          </a:p>
          <a:p>
            <a:pPr lvl="1" eaLnBrk="1" hangingPunct="1"/>
            <a:r>
              <a:rPr lang="zh-CN" altLang="en-US" sz="2000" dirty="0">
                <a:cs typeface="+mn-cs"/>
              </a:rPr>
              <a:t>从一组函数依赖求得</a:t>
            </a:r>
            <a:r>
              <a:rPr lang="zh-CN" altLang="en-US" sz="2000" dirty="0">
                <a:solidFill>
                  <a:srgbClr val="FF0000"/>
                </a:solidFill>
                <a:cs typeface="+mn-cs"/>
              </a:rPr>
              <a:t>蕴含的函数依赖</a:t>
            </a:r>
            <a:endParaRPr lang="zh-CN" altLang="en-US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</a:pPr>
            <a:endParaRPr lang="zh-CN" altLang="en-US" sz="2000" dirty="0"/>
          </a:p>
        </p:txBody>
      </p:sp>
    </p:spTree>
  </p:cSld>
  <p:clrMapOvr>
    <a:masterClrMapping/>
  </p:clrMapOvr>
  <p:transition spd="slow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-71456"/>
            <a:ext cx="8401080" cy="853679"/>
          </a:xfrm>
        </p:spPr>
        <p:txBody>
          <a:bodyPr/>
          <a:lstStyle/>
          <a:p>
            <a:pPr eaLnBrk="1" hangingPunct="1"/>
            <a:r>
              <a:rPr lang="en-US" altLang="zh-CN" sz="3600" dirty="0"/>
              <a:t>6.3  </a:t>
            </a:r>
            <a:r>
              <a:rPr lang="zh-CN" altLang="en-US" sz="3600" dirty="0"/>
              <a:t>数据依赖的公理系统</a:t>
            </a:r>
            <a:endParaRPr lang="zh-CN" altLang="en-US" sz="3600" dirty="0"/>
          </a:p>
        </p:txBody>
      </p:sp>
      <p:sp>
        <p:nvSpPr>
          <p:cNvPr id="131075" name="Rectangle 3"/>
          <p:cNvSpPr>
            <a:spLocks noGrp="1" noChangeArrowheads="1"/>
          </p:cNvSpPr>
          <p:nvPr>
            <p:ph idx="1"/>
          </p:nvPr>
        </p:nvSpPr>
        <p:spPr>
          <a:xfrm>
            <a:off x="214282" y="857238"/>
            <a:ext cx="8401080" cy="3640931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000" dirty="0"/>
              <a:t>逻辑蕴含</a:t>
            </a:r>
            <a:endParaRPr lang="zh-CN" altLang="en-US" sz="2000" dirty="0"/>
          </a:p>
          <a:p>
            <a:pPr eaLnBrk="1" hangingPunct="1">
              <a:lnSpc>
                <a:spcPct val="120000"/>
              </a:lnSpc>
              <a:buFont typeface="Monotype Sorts" pitchFamily="2" charset="2"/>
              <a:buNone/>
            </a:pPr>
            <a:r>
              <a:rPr lang="zh-CN" altLang="en-US" sz="2000" dirty="0"/>
              <a:t>	定义</a:t>
            </a:r>
            <a:r>
              <a:rPr lang="en-US" altLang="zh-CN" sz="2000" dirty="0"/>
              <a:t>6.11  </a:t>
            </a:r>
            <a:r>
              <a:rPr lang="zh-CN" altLang="en-US" sz="2000" dirty="0"/>
              <a:t>对于满足一组</a:t>
            </a:r>
            <a:r>
              <a:rPr lang="zh-CN" altLang="en-US" sz="2000" dirty="0">
                <a:solidFill>
                  <a:srgbClr val="6600FF"/>
                </a:solidFill>
              </a:rPr>
              <a:t>函数依赖</a:t>
            </a:r>
            <a:r>
              <a:rPr lang="en-US" altLang="zh-CN" sz="2000" i="1" dirty="0"/>
              <a:t>F</a:t>
            </a:r>
            <a:r>
              <a:rPr lang="zh-CN" altLang="en-US" sz="2000" dirty="0"/>
              <a:t>的关系模式</a:t>
            </a:r>
            <a:r>
              <a:rPr lang="en-US" altLang="zh-CN" sz="2000" i="1" dirty="0"/>
              <a:t>R</a:t>
            </a:r>
            <a:r>
              <a:rPr lang="en-US" altLang="zh-CN" sz="2000" dirty="0"/>
              <a:t> &lt;</a:t>
            </a:r>
            <a:r>
              <a:rPr lang="en-US" altLang="zh-CN" sz="2000" i="1" dirty="0"/>
              <a:t>U</a:t>
            </a:r>
            <a:r>
              <a:rPr lang="zh-CN" altLang="en-US" sz="2000" i="1" dirty="0"/>
              <a:t>，</a:t>
            </a:r>
            <a:r>
              <a:rPr lang="en-US" altLang="zh-CN" sz="2000" i="1" dirty="0"/>
              <a:t>F</a:t>
            </a:r>
            <a:r>
              <a:rPr lang="en-US" altLang="zh-CN" sz="2000" dirty="0"/>
              <a:t>&gt;</a:t>
            </a:r>
            <a:r>
              <a:rPr lang="zh-CN" altLang="en-US" sz="2000" dirty="0"/>
              <a:t>，其任何一个关系</a:t>
            </a:r>
            <a:r>
              <a:rPr lang="en-US" altLang="zh-CN" sz="2000" i="1" dirty="0"/>
              <a:t>r</a:t>
            </a:r>
            <a:r>
              <a:rPr lang="zh-CN" altLang="en-US" sz="2000" dirty="0"/>
              <a:t>，若函数依赖</a:t>
            </a:r>
            <a:r>
              <a:rPr lang="en-US" altLang="zh-CN" sz="2000" i="1" dirty="0"/>
              <a:t>X→Y</a:t>
            </a:r>
            <a:r>
              <a:rPr lang="zh-CN" altLang="en-US" sz="2000" dirty="0"/>
              <a:t>都成立（即</a:t>
            </a:r>
            <a:r>
              <a:rPr lang="en-US" altLang="zh-CN" sz="2000" dirty="0"/>
              <a:t>r</a:t>
            </a:r>
            <a:r>
              <a:rPr lang="zh-CN" altLang="en-US" sz="2000" dirty="0"/>
              <a:t>中任意两元组</a:t>
            </a:r>
            <a:r>
              <a:rPr lang="en-US" altLang="zh-CN" sz="2000" i="1" dirty="0"/>
              <a:t>t</a:t>
            </a:r>
            <a:r>
              <a:rPr lang="zh-CN" altLang="en-US" sz="2000" dirty="0"/>
              <a:t>，</a:t>
            </a:r>
            <a:r>
              <a:rPr lang="en-US" altLang="zh-CN" sz="2000" i="1" dirty="0"/>
              <a:t>s</a:t>
            </a:r>
            <a:r>
              <a:rPr lang="zh-CN" altLang="en-US" sz="2000" dirty="0"/>
              <a:t>，若</a:t>
            </a:r>
            <a:r>
              <a:rPr lang="en-US" altLang="zh-CN" sz="2000" i="1" dirty="0"/>
              <a:t>t </a:t>
            </a:r>
            <a:r>
              <a:rPr lang="en-US" altLang="zh-CN" sz="2000" dirty="0"/>
              <a:t>[</a:t>
            </a:r>
            <a:r>
              <a:rPr lang="en-US" altLang="zh-CN" sz="2000" i="1" dirty="0"/>
              <a:t>X</a:t>
            </a:r>
            <a:r>
              <a:rPr lang="en-US" altLang="zh-CN" sz="2000" dirty="0"/>
              <a:t>]=</a:t>
            </a:r>
            <a:r>
              <a:rPr lang="en-US" altLang="zh-CN" sz="2000" i="1" dirty="0"/>
              <a:t>s </a:t>
            </a:r>
            <a:r>
              <a:rPr lang="en-US" altLang="zh-CN" sz="2000" dirty="0"/>
              <a:t>[</a:t>
            </a:r>
            <a:r>
              <a:rPr lang="en-US" altLang="zh-CN" sz="2000" i="1" dirty="0"/>
              <a:t>X</a:t>
            </a:r>
            <a:r>
              <a:rPr lang="en-US" altLang="zh-CN" sz="2000" dirty="0"/>
              <a:t>]</a:t>
            </a:r>
            <a:r>
              <a:rPr lang="zh-CN" altLang="en-US" sz="2000" dirty="0"/>
              <a:t>，则 </a:t>
            </a:r>
            <a:r>
              <a:rPr lang="en-US" altLang="zh-CN" sz="2000" i="1" dirty="0"/>
              <a:t>t </a:t>
            </a:r>
            <a:r>
              <a:rPr lang="en-US" altLang="zh-CN" sz="2000" dirty="0"/>
              <a:t>[</a:t>
            </a:r>
            <a:r>
              <a:rPr lang="en-US" altLang="zh-CN" sz="2000" i="1" dirty="0"/>
              <a:t>Y </a:t>
            </a:r>
            <a:r>
              <a:rPr lang="en-US" altLang="zh-CN" sz="2000" dirty="0"/>
              <a:t>]</a:t>
            </a:r>
            <a:r>
              <a:rPr lang="en-US" altLang="zh-CN" sz="2000" i="1" dirty="0"/>
              <a:t> </a:t>
            </a:r>
            <a:r>
              <a:rPr lang="en-US" altLang="zh-CN" sz="2000" dirty="0"/>
              <a:t>= </a:t>
            </a:r>
            <a:r>
              <a:rPr lang="en-US" altLang="zh-CN" sz="2000" i="1" dirty="0"/>
              <a:t>s </a:t>
            </a:r>
            <a:r>
              <a:rPr lang="en-US" altLang="zh-CN" sz="2000" dirty="0"/>
              <a:t>[</a:t>
            </a:r>
            <a:r>
              <a:rPr lang="en-US" altLang="zh-CN" sz="2000" i="1" dirty="0"/>
              <a:t>Y</a:t>
            </a:r>
            <a:r>
              <a:rPr lang="en-US" altLang="zh-CN" sz="2000" dirty="0"/>
              <a:t>]</a:t>
            </a:r>
            <a:r>
              <a:rPr lang="zh-CN" altLang="en-US" sz="2000" dirty="0"/>
              <a:t>），则称</a:t>
            </a:r>
            <a:r>
              <a:rPr lang="en-US" altLang="zh-CN" sz="2000" i="1" dirty="0"/>
              <a:t>F</a:t>
            </a:r>
            <a:r>
              <a:rPr lang="zh-CN" altLang="en-US" sz="2000" dirty="0">
                <a:solidFill>
                  <a:schemeClr val="accent2"/>
                </a:solidFill>
              </a:rPr>
              <a:t>逻辑蕴含</a:t>
            </a:r>
            <a:r>
              <a:rPr lang="en-US" altLang="zh-CN" sz="2000" i="1" dirty="0"/>
              <a:t>X →Y</a:t>
            </a:r>
            <a:r>
              <a:rPr lang="zh-CN" altLang="en-US" sz="2000" dirty="0"/>
              <a:t>。</a:t>
            </a:r>
            <a:endParaRPr lang="zh-CN" altLang="en-US" sz="2000" dirty="0"/>
          </a:p>
        </p:txBody>
      </p:sp>
    </p:spTree>
  </p:cSld>
  <p:clrMapOvr>
    <a:masterClrMapping/>
  </p:clrMapOvr>
  <p:transition spd="slow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CN" sz="3200" dirty="0"/>
              <a:t>1.  Armstrong</a:t>
            </a:r>
            <a:r>
              <a:rPr lang="zh-CN" altLang="en-US" sz="3200" dirty="0"/>
              <a:t>公理系统</a:t>
            </a:r>
            <a:endParaRPr lang="zh-CN" altLang="en-US" sz="3200" dirty="0"/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>
          <a:xfrm>
            <a:off x="250248" y="823913"/>
            <a:ext cx="8786247" cy="3640931"/>
          </a:xfrm>
        </p:spPr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Armstrong</a:t>
            </a:r>
            <a:r>
              <a:rPr lang="zh-CN" altLang="en-US" sz="2400" dirty="0">
                <a:solidFill>
                  <a:srgbClr val="FF0000"/>
                </a:solidFill>
              </a:rPr>
              <a:t>公理系统  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1800" dirty="0"/>
              <a:t>设</a:t>
            </a:r>
            <a:r>
              <a:rPr lang="en-US" altLang="zh-CN" sz="1800" i="1" dirty="0"/>
              <a:t>U</a:t>
            </a:r>
            <a:r>
              <a:rPr lang="zh-CN" altLang="en-US" sz="1800" dirty="0"/>
              <a:t>为属性集总体，</a:t>
            </a:r>
            <a:r>
              <a:rPr lang="en-US" altLang="zh-CN" sz="1800" i="1" dirty="0"/>
              <a:t>F</a:t>
            </a:r>
            <a:r>
              <a:rPr lang="zh-CN" altLang="en-US" sz="1800" dirty="0"/>
              <a:t>是</a:t>
            </a:r>
            <a:r>
              <a:rPr lang="en-US" altLang="zh-CN" sz="1800" i="1" dirty="0"/>
              <a:t>U</a:t>
            </a:r>
            <a:r>
              <a:rPr lang="zh-CN" altLang="en-US" sz="1800" dirty="0"/>
              <a:t>上的一组函数依赖， 于是有关系模式</a:t>
            </a:r>
            <a:r>
              <a:rPr lang="en-US" altLang="zh-CN" sz="1800" i="1" dirty="0"/>
              <a:t>R &lt;U</a:t>
            </a:r>
            <a:r>
              <a:rPr lang="zh-CN" altLang="en-US" sz="1800" i="1" dirty="0"/>
              <a:t>，</a:t>
            </a:r>
            <a:r>
              <a:rPr lang="en-US" altLang="zh-CN" sz="1800" i="1" dirty="0"/>
              <a:t>F &gt;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1800" dirty="0"/>
              <a:t>对</a:t>
            </a:r>
            <a:r>
              <a:rPr lang="en-US" altLang="zh-CN" sz="1800" i="1" dirty="0"/>
              <a:t>R &lt;U</a:t>
            </a:r>
            <a:r>
              <a:rPr lang="zh-CN" altLang="en-US" sz="1800" i="1" dirty="0"/>
              <a:t>，</a:t>
            </a:r>
            <a:r>
              <a:rPr lang="en-US" altLang="zh-CN" sz="1800" i="1" dirty="0"/>
              <a:t>F&gt;</a:t>
            </a:r>
            <a:r>
              <a:rPr lang="en-US" altLang="zh-CN" sz="1800" dirty="0"/>
              <a:t> </a:t>
            </a:r>
            <a:r>
              <a:rPr lang="zh-CN" altLang="en-US" sz="1800" dirty="0"/>
              <a:t>来说有以下的推理规则：</a:t>
            </a:r>
            <a:endParaRPr lang="zh-CN" altLang="en-US" sz="1800" dirty="0"/>
          </a:p>
          <a:p>
            <a:pPr lvl="1" eaLnBrk="1" hangingPunct="1"/>
            <a:r>
              <a:rPr lang="en-US" altLang="zh-CN" sz="1800" dirty="0"/>
              <a:t>Al.</a:t>
            </a:r>
            <a:r>
              <a:rPr lang="zh-CN" altLang="en-US" sz="1800" dirty="0">
                <a:solidFill>
                  <a:schemeClr val="accent2"/>
                </a:solidFill>
              </a:rPr>
              <a:t>自反律</a:t>
            </a:r>
            <a:r>
              <a:rPr lang="en-US" altLang="zh-CN" sz="1800" dirty="0"/>
              <a:t>(Reflexivity)</a:t>
            </a:r>
            <a:r>
              <a:rPr lang="zh-CN" altLang="en-US" sz="1800" dirty="0"/>
              <a:t>：若</a:t>
            </a:r>
            <a:r>
              <a:rPr lang="en-US" altLang="zh-CN" sz="1800" i="1" dirty="0"/>
              <a:t>Y </a:t>
            </a:r>
            <a:r>
              <a:rPr lang="en-US" altLang="zh-CN" sz="1800" dirty="0">
                <a:sym typeface="Symbol" panose="05050102010706020507" pitchFamily="18" charset="2"/>
              </a:rPr>
              <a:t></a:t>
            </a:r>
            <a:r>
              <a:rPr lang="en-US" altLang="zh-CN" sz="1800" dirty="0"/>
              <a:t> </a:t>
            </a:r>
            <a:r>
              <a:rPr lang="en-US" altLang="zh-CN" sz="1800" i="1" dirty="0"/>
              <a:t>X</a:t>
            </a:r>
            <a:r>
              <a:rPr lang="en-US" altLang="zh-CN" sz="1800" dirty="0"/>
              <a:t> </a:t>
            </a:r>
            <a:r>
              <a:rPr lang="en-US" altLang="zh-CN" sz="1800" dirty="0">
                <a:sym typeface="Symbol" panose="05050102010706020507" pitchFamily="18" charset="2"/>
              </a:rPr>
              <a:t></a:t>
            </a:r>
            <a:r>
              <a:rPr lang="en-US" altLang="zh-CN" sz="1800" dirty="0"/>
              <a:t> </a:t>
            </a:r>
            <a:r>
              <a:rPr lang="en-US" altLang="zh-CN" sz="1800" i="1" dirty="0"/>
              <a:t>U</a:t>
            </a:r>
            <a:r>
              <a:rPr lang="zh-CN" altLang="en-US" sz="1800" dirty="0"/>
              <a:t>，则</a:t>
            </a:r>
            <a:r>
              <a:rPr lang="en-US" altLang="zh-CN" sz="1800" i="1" dirty="0"/>
              <a:t>X </a:t>
            </a:r>
            <a:r>
              <a:rPr lang="en-US" altLang="zh-CN" sz="1800" dirty="0"/>
              <a:t>→</a:t>
            </a:r>
            <a:r>
              <a:rPr lang="en-US" altLang="zh-CN" sz="1800" i="1" dirty="0"/>
              <a:t>Y</a:t>
            </a:r>
            <a:r>
              <a:rPr lang="zh-CN" altLang="en-US" sz="1800" dirty="0"/>
              <a:t>为</a:t>
            </a:r>
            <a:r>
              <a:rPr lang="en-US" altLang="zh-CN" sz="1800" i="1" dirty="0"/>
              <a:t>F</a:t>
            </a:r>
            <a:r>
              <a:rPr lang="zh-CN" altLang="en-US" sz="1800" dirty="0"/>
              <a:t>所蕴含。</a:t>
            </a:r>
            <a:endParaRPr lang="zh-CN" altLang="en-US" sz="1800" dirty="0"/>
          </a:p>
          <a:p>
            <a:pPr lvl="1" eaLnBrk="1" hangingPunct="1"/>
            <a:r>
              <a:rPr lang="en-US" altLang="zh-CN" sz="1800" dirty="0"/>
              <a:t>A2.</a:t>
            </a:r>
            <a:r>
              <a:rPr lang="zh-CN" altLang="en-US" sz="1800" dirty="0">
                <a:solidFill>
                  <a:schemeClr val="accent2"/>
                </a:solidFill>
              </a:rPr>
              <a:t>增广律</a:t>
            </a:r>
            <a:r>
              <a:rPr lang="en-US" altLang="zh-CN" sz="1800" dirty="0"/>
              <a:t>(Augmentation)</a:t>
            </a:r>
            <a:r>
              <a:rPr lang="zh-CN" altLang="en-US" sz="1800" dirty="0"/>
              <a:t>：若</a:t>
            </a:r>
            <a:r>
              <a:rPr lang="en-US" altLang="zh-CN" sz="1800" i="1" dirty="0"/>
              <a:t>X</a:t>
            </a:r>
            <a:r>
              <a:rPr lang="en-US" altLang="zh-CN" sz="1800" dirty="0"/>
              <a:t>→</a:t>
            </a:r>
            <a:r>
              <a:rPr lang="en-US" altLang="zh-CN" sz="1800" i="1" dirty="0"/>
              <a:t>Y</a:t>
            </a:r>
            <a:r>
              <a:rPr lang="zh-CN" altLang="en-US" sz="1800" dirty="0"/>
              <a:t>为</a:t>
            </a:r>
            <a:r>
              <a:rPr lang="en-US" altLang="zh-CN" sz="1800" i="1" dirty="0"/>
              <a:t>F</a:t>
            </a:r>
            <a:r>
              <a:rPr lang="zh-CN" altLang="en-US" sz="1800" dirty="0"/>
              <a:t>所蕴含，且</a:t>
            </a:r>
            <a:r>
              <a:rPr lang="en-US" altLang="zh-CN" sz="1800" i="1" dirty="0"/>
              <a:t>Z</a:t>
            </a:r>
            <a:r>
              <a:rPr lang="en-US" altLang="zh-CN" sz="1800" dirty="0"/>
              <a:t> </a:t>
            </a:r>
            <a:r>
              <a:rPr lang="en-US" altLang="zh-CN" sz="1800" dirty="0">
                <a:sym typeface="Symbol" panose="05050102010706020507" pitchFamily="18" charset="2"/>
              </a:rPr>
              <a:t></a:t>
            </a:r>
            <a:r>
              <a:rPr lang="en-US" altLang="zh-CN" sz="1800" dirty="0"/>
              <a:t> </a:t>
            </a:r>
            <a:r>
              <a:rPr lang="en-US" altLang="zh-CN" sz="1800" i="1" dirty="0"/>
              <a:t>U</a:t>
            </a:r>
            <a:r>
              <a:rPr lang="zh-CN" altLang="en-US" sz="1800" dirty="0"/>
              <a:t>，则</a:t>
            </a:r>
            <a:r>
              <a:rPr lang="en-US" altLang="zh-CN" sz="1800" i="1" dirty="0"/>
              <a:t>XZ</a:t>
            </a:r>
            <a:r>
              <a:rPr lang="en-US" altLang="zh-CN" sz="1800" dirty="0"/>
              <a:t>→</a:t>
            </a:r>
            <a:r>
              <a:rPr lang="en-US" altLang="zh-CN" sz="1800" i="1" dirty="0"/>
              <a:t>YZ</a:t>
            </a:r>
            <a:r>
              <a:rPr lang="zh-CN" altLang="en-US" sz="1800" dirty="0"/>
              <a:t>为</a:t>
            </a:r>
            <a:r>
              <a:rPr lang="en-US" altLang="zh-CN" sz="1800" i="1" dirty="0"/>
              <a:t>F</a:t>
            </a:r>
            <a:r>
              <a:rPr lang="zh-CN" altLang="en-US" sz="1800" dirty="0"/>
              <a:t>所蕴含。</a:t>
            </a:r>
            <a:endParaRPr lang="zh-CN" altLang="en-US" sz="1800" dirty="0"/>
          </a:p>
          <a:p>
            <a:pPr lvl="1" eaLnBrk="1" hangingPunct="1"/>
            <a:r>
              <a:rPr lang="en-US" altLang="zh-CN" sz="1800" dirty="0"/>
              <a:t>A3.</a:t>
            </a:r>
            <a:r>
              <a:rPr lang="zh-CN" altLang="en-US" sz="1800" dirty="0">
                <a:solidFill>
                  <a:schemeClr val="accent2"/>
                </a:solidFill>
              </a:rPr>
              <a:t>传递律</a:t>
            </a:r>
            <a:r>
              <a:rPr lang="en-US" altLang="zh-CN" sz="1800" dirty="0"/>
              <a:t>(Transitivity)</a:t>
            </a:r>
            <a:r>
              <a:rPr lang="zh-CN" altLang="en-US" sz="1800" dirty="0"/>
              <a:t>：若</a:t>
            </a:r>
            <a:r>
              <a:rPr lang="en-US" altLang="zh-CN" sz="1800" i="1" dirty="0"/>
              <a:t>X</a:t>
            </a:r>
            <a:r>
              <a:rPr lang="en-US" altLang="zh-CN" sz="1800" dirty="0"/>
              <a:t>→</a:t>
            </a:r>
            <a:r>
              <a:rPr lang="en-US" altLang="zh-CN" sz="1800" i="1" dirty="0"/>
              <a:t>Y</a:t>
            </a:r>
            <a:r>
              <a:rPr lang="zh-CN" altLang="en-US" sz="1800" dirty="0"/>
              <a:t>及</a:t>
            </a:r>
            <a:r>
              <a:rPr lang="en-US" altLang="zh-CN" sz="1800" i="1" dirty="0"/>
              <a:t>Y</a:t>
            </a:r>
            <a:r>
              <a:rPr lang="en-US" altLang="zh-CN" sz="1800" dirty="0"/>
              <a:t>→</a:t>
            </a:r>
            <a:r>
              <a:rPr lang="en-US" altLang="zh-CN" sz="1800" i="1" dirty="0"/>
              <a:t>Z</a:t>
            </a:r>
            <a:r>
              <a:rPr lang="zh-CN" altLang="en-US" sz="1800" dirty="0"/>
              <a:t>为</a:t>
            </a:r>
            <a:r>
              <a:rPr lang="en-US" altLang="zh-CN" sz="1800" i="1" dirty="0"/>
              <a:t>F</a:t>
            </a:r>
            <a:r>
              <a:rPr lang="zh-CN" altLang="en-US" sz="1800" dirty="0"/>
              <a:t>所蕴含，则</a:t>
            </a:r>
            <a:r>
              <a:rPr lang="en-US" altLang="zh-CN" sz="1800" i="1" dirty="0"/>
              <a:t>X</a:t>
            </a:r>
            <a:r>
              <a:rPr lang="en-US" altLang="zh-CN" sz="1800" dirty="0"/>
              <a:t>→</a:t>
            </a:r>
            <a:r>
              <a:rPr lang="en-US" altLang="zh-CN" sz="1800" i="1" dirty="0"/>
              <a:t>Z</a:t>
            </a:r>
            <a:r>
              <a:rPr lang="zh-CN" altLang="en-US" sz="1800" dirty="0"/>
              <a:t>为</a:t>
            </a:r>
            <a:r>
              <a:rPr lang="en-US" altLang="zh-CN" sz="1800" i="1" dirty="0"/>
              <a:t>F</a:t>
            </a:r>
            <a:r>
              <a:rPr lang="zh-CN" altLang="en-US" sz="1800" dirty="0"/>
              <a:t>所蕴含。</a:t>
            </a:r>
            <a:endParaRPr lang="zh-CN" altLang="en-US" sz="1800" dirty="0"/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1800" dirty="0"/>
              <a:t>	</a:t>
            </a:r>
            <a:endParaRPr lang="en-US" altLang="zh-CN" sz="1800" dirty="0"/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1800" dirty="0"/>
              <a:t>注意：由自反律所得到的函数依赖均是平凡的函数依赖</a:t>
            </a:r>
            <a:endParaRPr lang="en-US" altLang="zh-CN" sz="1800" dirty="0"/>
          </a:p>
          <a:p>
            <a:pPr eaLnBrk="1" hangingPunct="1">
              <a:buNone/>
            </a:pPr>
            <a:r>
              <a:rPr lang="zh-CN" altLang="en-US" sz="1800" dirty="0">
                <a:solidFill>
                  <a:schemeClr val="accent2"/>
                </a:solidFill>
              </a:rPr>
              <a:t>定理</a:t>
            </a:r>
            <a:r>
              <a:rPr lang="en-US" altLang="zh-CN" sz="1800" dirty="0">
                <a:solidFill>
                  <a:schemeClr val="accent2"/>
                </a:solidFill>
              </a:rPr>
              <a:t>6.l  Armstrong</a:t>
            </a:r>
            <a:r>
              <a:rPr lang="zh-CN" altLang="en-US" sz="1800" dirty="0">
                <a:solidFill>
                  <a:schemeClr val="accent2"/>
                </a:solidFill>
              </a:rPr>
              <a:t>推理规则是正确的。</a:t>
            </a:r>
            <a:endParaRPr lang="en-US" altLang="zh-CN" sz="1800" dirty="0">
              <a:solidFill>
                <a:schemeClr val="accent2"/>
              </a:solidFill>
            </a:endParaRPr>
          </a:p>
          <a:p>
            <a:pPr eaLnBrk="1" hangingPunct="1">
              <a:buNone/>
            </a:pPr>
            <a:r>
              <a:rPr lang="zh-CN" altLang="en-US" sz="1800" dirty="0">
                <a:solidFill>
                  <a:schemeClr val="accent2"/>
                </a:solidFill>
              </a:rPr>
              <a:t>   （证明略）</a:t>
            </a:r>
            <a:endParaRPr lang="en-US" altLang="zh-CN" sz="1800" dirty="0">
              <a:solidFill>
                <a:schemeClr val="accent2"/>
              </a:solidFill>
            </a:endParaRPr>
          </a:p>
          <a:p>
            <a:pPr eaLnBrk="1" hangingPunct="1">
              <a:buFont typeface="Monotype Sorts" pitchFamily="2" charset="2"/>
              <a:buNone/>
            </a:pPr>
            <a:endParaRPr lang="zh-CN" altLang="en-US" sz="1800" dirty="0"/>
          </a:p>
          <a:p>
            <a:pPr eaLnBrk="1" hangingPunct="1">
              <a:spcBef>
                <a:spcPct val="60000"/>
              </a:spcBef>
            </a:pPr>
            <a:endParaRPr lang="zh-CN" altLang="en-US" sz="1800" dirty="0"/>
          </a:p>
        </p:txBody>
      </p:sp>
    </p:spTree>
  </p:cSld>
  <p:clrMapOvr>
    <a:masterClrMapping/>
  </p:clrMapOvr>
  <p:transition spd="slow"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CN" sz="3200" dirty="0"/>
              <a:t>2. </a:t>
            </a:r>
            <a:r>
              <a:rPr lang="zh-CN" altLang="en-US" sz="3200" dirty="0"/>
              <a:t>导出规则</a:t>
            </a:r>
            <a:endParaRPr lang="zh-CN" altLang="en-US" sz="3200" dirty="0"/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>
          <a:xfrm>
            <a:off x="285720" y="714362"/>
            <a:ext cx="8401080" cy="3640931"/>
          </a:xfrm>
        </p:spPr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zh-CN" sz="2000" dirty="0"/>
              <a:t>1.</a:t>
            </a:r>
            <a:r>
              <a:rPr lang="zh-CN" altLang="en-US" sz="2000" dirty="0"/>
              <a:t>根据</a:t>
            </a:r>
            <a:r>
              <a:rPr lang="en-US" altLang="zh-CN" sz="2000" dirty="0"/>
              <a:t>A1</a:t>
            </a:r>
            <a:r>
              <a:rPr lang="zh-CN" altLang="en-US" sz="2000" dirty="0"/>
              <a:t>，</a:t>
            </a:r>
            <a:r>
              <a:rPr lang="en-US" altLang="zh-CN" sz="2000" dirty="0"/>
              <a:t>A2</a:t>
            </a:r>
            <a:r>
              <a:rPr lang="zh-CN" altLang="en-US" sz="2000" dirty="0"/>
              <a:t>，</a:t>
            </a:r>
            <a:r>
              <a:rPr lang="en-US" altLang="zh-CN" sz="2000" dirty="0"/>
              <a:t>A3</a:t>
            </a:r>
            <a:r>
              <a:rPr lang="zh-CN" altLang="en-US" sz="2000" dirty="0"/>
              <a:t>这三条推理规则可以得到下面三条推理规则：</a:t>
            </a:r>
            <a:endParaRPr lang="zh-CN" altLang="en-US" sz="2000" dirty="0"/>
          </a:p>
          <a:p>
            <a:pPr lvl="1" eaLnBrk="1" hangingPunct="1">
              <a:lnSpc>
                <a:spcPct val="140000"/>
              </a:lnSpc>
            </a:pPr>
            <a:r>
              <a:rPr lang="zh-CN" altLang="en-US" sz="1800" dirty="0"/>
              <a:t> </a:t>
            </a:r>
            <a:r>
              <a:rPr lang="zh-CN" altLang="en-US" sz="1800" dirty="0">
                <a:solidFill>
                  <a:schemeClr val="accent2"/>
                </a:solidFill>
              </a:rPr>
              <a:t>合并规则</a:t>
            </a:r>
            <a:r>
              <a:rPr lang="zh-CN" altLang="en-US" sz="1800" dirty="0"/>
              <a:t>：由</a:t>
            </a:r>
            <a:r>
              <a:rPr lang="en-US" altLang="zh-CN" sz="1800" i="1" dirty="0"/>
              <a:t>X</a:t>
            </a:r>
            <a:r>
              <a:rPr lang="en-US" altLang="zh-CN" sz="1800" dirty="0"/>
              <a:t>→</a:t>
            </a:r>
            <a:r>
              <a:rPr lang="en-US" altLang="zh-CN" sz="1800" i="1" dirty="0"/>
              <a:t>Y</a:t>
            </a:r>
            <a:r>
              <a:rPr lang="zh-CN" altLang="en-US" sz="1800" dirty="0"/>
              <a:t>，</a:t>
            </a:r>
            <a:r>
              <a:rPr lang="en-US" altLang="zh-CN" sz="1800" i="1" dirty="0"/>
              <a:t>X</a:t>
            </a:r>
            <a:r>
              <a:rPr lang="en-US" altLang="zh-CN" sz="1800" dirty="0"/>
              <a:t>→</a:t>
            </a:r>
            <a:r>
              <a:rPr lang="en-US" altLang="zh-CN" sz="1800" i="1" dirty="0"/>
              <a:t>Z</a:t>
            </a:r>
            <a:r>
              <a:rPr lang="zh-CN" altLang="en-US" sz="1800" dirty="0"/>
              <a:t>，有</a:t>
            </a:r>
            <a:r>
              <a:rPr lang="en-US" altLang="zh-CN" sz="1800" i="1" dirty="0"/>
              <a:t>X</a:t>
            </a:r>
            <a:r>
              <a:rPr lang="en-US" altLang="zh-CN" sz="1800" dirty="0"/>
              <a:t>→</a:t>
            </a:r>
            <a:r>
              <a:rPr lang="en-US" altLang="zh-CN" sz="1800" i="1" dirty="0"/>
              <a:t>YZ</a:t>
            </a:r>
            <a:r>
              <a:rPr lang="zh-CN" altLang="en-US" sz="1800" dirty="0"/>
              <a:t>。</a:t>
            </a:r>
            <a:endParaRPr lang="zh-CN" altLang="en-US" sz="1800" dirty="0"/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1600" dirty="0"/>
              <a:t>       （</a:t>
            </a:r>
            <a:r>
              <a:rPr lang="en-US" altLang="zh-CN" sz="1600" dirty="0"/>
              <a:t>A2</a:t>
            </a:r>
            <a:r>
              <a:rPr lang="zh-CN" altLang="en-US" sz="1600" dirty="0"/>
              <a:t>， </a:t>
            </a:r>
            <a:r>
              <a:rPr lang="en-US" altLang="zh-CN" sz="1600" dirty="0"/>
              <a:t>A3</a:t>
            </a:r>
            <a:r>
              <a:rPr lang="zh-CN" altLang="en-US" sz="1600" dirty="0"/>
              <a:t>） </a:t>
            </a:r>
            <a:r>
              <a:rPr lang="en-US" altLang="zh-CN" sz="1600" i="1" dirty="0"/>
              <a:t>X</a:t>
            </a:r>
            <a:r>
              <a:rPr lang="en-US" altLang="zh-CN" sz="1600" dirty="0"/>
              <a:t>→</a:t>
            </a:r>
            <a:r>
              <a:rPr lang="en-US" altLang="zh-CN" sz="1600" i="1" dirty="0"/>
              <a:t>Y X </a:t>
            </a:r>
            <a:r>
              <a:rPr lang="zh-CN" altLang="en-US" sz="1600" dirty="0"/>
              <a:t>，</a:t>
            </a:r>
            <a:r>
              <a:rPr lang="en-US" altLang="zh-CN" sz="1600" i="1" dirty="0"/>
              <a:t>XY </a:t>
            </a:r>
            <a:r>
              <a:rPr lang="en-US" altLang="zh-CN" sz="1600" dirty="0"/>
              <a:t>→</a:t>
            </a:r>
            <a:r>
              <a:rPr lang="en-US" altLang="zh-CN" sz="1600" i="1" dirty="0"/>
              <a:t>ZY</a:t>
            </a:r>
            <a:r>
              <a:rPr lang="en-US" altLang="zh-CN" sz="1800" i="1" dirty="0"/>
              <a:t> </a:t>
            </a:r>
            <a:endParaRPr lang="en-US" altLang="zh-CN" sz="1800" dirty="0"/>
          </a:p>
          <a:p>
            <a:pPr lvl="1" eaLnBrk="1" hangingPunct="1">
              <a:lnSpc>
                <a:spcPct val="140000"/>
              </a:lnSpc>
            </a:pPr>
            <a:r>
              <a:rPr lang="en-US" altLang="zh-CN" sz="1800" dirty="0"/>
              <a:t> </a:t>
            </a:r>
            <a:r>
              <a:rPr lang="zh-CN" altLang="en-US" sz="1800" dirty="0">
                <a:solidFill>
                  <a:schemeClr val="accent2"/>
                </a:solidFill>
              </a:rPr>
              <a:t>伪传递规则</a:t>
            </a:r>
            <a:r>
              <a:rPr lang="zh-CN" altLang="en-US" sz="1800" dirty="0"/>
              <a:t>：由</a:t>
            </a:r>
            <a:r>
              <a:rPr lang="en-US" altLang="zh-CN" sz="1800" i="1" dirty="0"/>
              <a:t>X</a:t>
            </a:r>
            <a:r>
              <a:rPr lang="en-US" altLang="zh-CN" sz="1800" dirty="0"/>
              <a:t>→</a:t>
            </a:r>
            <a:r>
              <a:rPr lang="en-US" altLang="zh-CN" sz="1800" i="1" dirty="0"/>
              <a:t>Y</a:t>
            </a:r>
            <a:r>
              <a:rPr lang="zh-CN" altLang="en-US" sz="1800" dirty="0"/>
              <a:t>，</a:t>
            </a:r>
            <a:r>
              <a:rPr lang="en-US" altLang="zh-CN" sz="1800" i="1" dirty="0"/>
              <a:t>WY</a:t>
            </a:r>
            <a:r>
              <a:rPr lang="en-US" altLang="zh-CN" sz="1800" dirty="0"/>
              <a:t>→</a:t>
            </a:r>
            <a:r>
              <a:rPr lang="en-US" altLang="zh-CN" sz="1800" i="1" dirty="0"/>
              <a:t>Z</a:t>
            </a:r>
            <a:r>
              <a:rPr lang="zh-CN" altLang="en-US" sz="1800" dirty="0"/>
              <a:t>，有</a:t>
            </a:r>
            <a:r>
              <a:rPr lang="en-US" altLang="zh-CN" sz="1800" i="1" dirty="0"/>
              <a:t>XW</a:t>
            </a:r>
            <a:r>
              <a:rPr lang="en-US" altLang="zh-CN" sz="1800" dirty="0"/>
              <a:t>→</a:t>
            </a:r>
            <a:r>
              <a:rPr lang="en-US" altLang="zh-CN" sz="1800" i="1" dirty="0"/>
              <a:t>Z</a:t>
            </a:r>
            <a:r>
              <a:rPr lang="zh-CN" altLang="en-US" sz="1800" dirty="0"/>
              <a:t>。</a:t>
            </a:r>
            <a:endParaRPr lang="zh-CN" altLang="en-US" sz="1800" dirty="0"/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/>
              <a:t>       </a:t>
            </a:r>
            <a:r>
              <a:rPr lang="zh-CN" altLang="en-US" sz="1600" dirty="0"/>
              <a:t>（</a:t>
            </a:r>
            <a:r>
              <a:rPr lang="en-US" altLang="zh-CN" sz="1600" dirty="0"/>
              <a:t>A2</a:t>
            </a:r>
            <a:r>
              <a:rPr lang="zh-CN" altLang="en-US" sz="1600" dirty="0"/>
              <a:t>， </a:t>
            </a:r>
            <a:r>
              <a:rPr lang="en-US" altLang="zh-CN" sz="1600" dirty="0"/>
              <a:t>A3</a:t>
            </a:r>
            <a:r>
              <a:rPr lang="zh-CN" altLang="en-US" sz="1600" dirty="0"/>
              <a:t>） </a:t>
            </a:r>
            <a:r>
              <a:rPr lang="en-US" altLang="zh-CN" sz="1600" dirty="0"/>
              <a:t>XW→YW</a:t>
            </a:r>
            <a:endParaRPr lang="en-US" altLang="zh-CN" sz="1600" dirty="0"/>
          </a:p>
          <a:p>
            <a:pPr lvl="1" eaLnBrk="1" hangingPunct="1">
              <a:lnSpc>
                <a:spcPct val="140000"/>
              </a:lnSpc>
            </a:pPr>
            <a:r>
              <a:rPr lang="en-US" altLang="zh-CN" sz="1800" dirty="0"/>
              <a:t> </a:t>
            </a:r>
            <a:r>
              <a:rPr lang="zh-CN" altLang="en-US" sz="1800" dirty="0">
                <a:solidFill>
                  <a:schemeClr val="accent2"/>
                </a:solidFill>
              </a:rPr>
              <a:t>分解规则</a:t>
            </a:r>
            <a:r>
              <a:rPr lang="zh-CN" altLang="en-US" sz="1800" dirty="0"/>
              <a:t>：由</a:t>
            </a:r>
            <a:r>
              <a:rPr lang="en-US" altLang="zh-CN" sz="1800" i="1" dirty="0"/>
              <a:t>X</a:t>
            </a:r>
            <a:r>
              <a:rPr lang="en-US" altLang="zh-CN" sz="1800" dirty="0"/>
              <a:t>→</a:t>
            </a:r>
            <a:r>
              <a:rPr lang="en-US" altLang="zh-CN" sz="1800" i="1" dirty="0"/>
              <a:t>Y</a:t>
            </a:r>
            <a:r>
              <a:rPr lang="zh-CN" altLang="en-US" sz="1800" dirty="0"/>
              <a:t>及</a:t>
            </a:r>
            <a:r>
              <a:rPr lang="en-US" altLang="zh-CN" sz="1800" i="1" dirty="0"/>
              <a:t>Z</a:t>
            </a:r>
            <a:r>
              <a:rPr lang="en-US" altLang="zh-CN" sz="1800" dirty="0">
                <a:sym typeface="Symbol" panose="05050102010706020507" pitchFamily="18" charset="2"/>
              </a:rPr>
              <a:t></a:t>
            </a:r>
            <a:r>
              <a:rPr lang="en-US" altLang="zh-CN" sz="1800" i="1" dirty="0"/>
              <a:t>Y</a:t>
            </a:r>
            <a:r>
              <a:rPr lang="zh-CN" altLang="en-US" sz="1800" dirty="0"/>
              <a:t>，有</a:t>
            </a:r>
            <a:r>
              <a:rPr lang="en-US" altLang="zh-CN" sz="1800" i="1" dirty="0"/>
              <a:t>X</a:t>
            </a:r>
            <a:r>
              <a:rPr lang="en-US" altLang="zh-CN" sz="1800" dirty="0"/>
              <a:t>→</a:t>
            </a:r>
            <a:r>
              <a:rPr lang="en-US" altLang="zh-CN" sz="1800" i="1" dirty="0"/>
              <a:t>Z</a:t>
            </a:r>
            <a:r>
              <a:rPr lang="zh-CN" altLang="en-US" sz="1800" dirty="0"/>
              <a:t>。</a:t>
            </a:r>
            <a:endParaRPr lang="zh-CN" altLang="en-US" sz="1800" dirty="0"/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/>
              <a:t>       </a:t>
            </a:r>
            <a:r>
              <a:rPr lang="zh-CN" altLang="en-US" sz="1600" dirty="0"/>
              <a:t>（</a:t>
            </a:r>
            <a:r>
              <a:rPr lang="en-US" altLang="zh-CN" sz="1600" dirty="0"/>
              <a:t>A1</a:t>
            </a:r>
            <a:r>
              <a:rPr lang="zh-CN" altLang="en-US" sz="1600" dirty="0"/>
              <a:t>， </a:t>
            </a:r>
            <a:r>
              <a:rPr lang="en-US" altLang="zh-CN" sz="1600" dirty="0"/>
              <a:t>A3</a:t>
            </a:r>
            <a:r>
              <a:rPr lang="zh-CN" altLang="en-US" sz="1600" dirty="0"/>
              <a:t>） </a:t>
            </a:r>
            <a:r>
              <a:rPr lang="en-US" altLang="zh-CN" sz="1600" dirty="0"/>
              <a:t>Z</a:t>
            </a:r>
            <a:r>
              <a:rPr lang="en-US" altLang="zh-CN" sz="1600" dirty="0">
                <a:sym typeface="Symbol" panose="05050102010706020507" pitchFamily="18" charset="2"/>
              </a:rPr>
              <a:t></a:t>
            </a:r>
            <a:r>
              <a:rPr lang="en-US" altLang="zh-CN" sz="1600" dirty="0"/>
              <a:t>Y</a:t>
            </a:r>
            <a:r>
              <a:rPr lang="zh-CN" altLang="en-US" sz="1600" dirty="0"/>
              <a:t>，</a:t>
            </a:r>
            <a:r>
              <a:rPr lang="en-US" altLang="zh-CN" sz="1600" dirty="0"/>
              <a:t>Y→Z</a:t>
            </a:r>
            <a:endParaRPr lang="en-US" altLang="zh-CN" sz="1600" dirty="0"/>
          </a:p>
          <a:p>
            <a:pPr eaLnBrk="1" hangingPunct="1">
              <a:buFont typeface="Monotype Sorts" pitchFamily="2" charset="2"/>
              <a:buNone/>
            </a:pPr>
            <a:r>
              <a:rPr lang="en-US" altLang="zh-CN" sz="1800" dirty="0"/>
              <a:t>2.</a:t>
            </a:r>
            <a:r>
              <a:rPr lang="zh-CN" altLang="en-US" sz="1800" dirty="0"/>
              <a:t>根据合并规则和分解规则，可得引理</a:t>
            </a:r>
            <a:r>
              <a:rPr lang="en-US" altLang="zh-CN" sz="1800" dirty="0"/>
              <a:t>6.1</a:t>
            </a:r>
            <a:endParaRPr lang="en-US" altLang="zh-CN" sz="1800" dirty="0"/>
          </a:p>
          <a:p>
            <a:pPr eaLnBrk="1" hangingPunct="1">
              <a:buFont typeface="Monotype Sorts" pitchFamily="2" charset="2"/>
              <a:buNone/>
            </a:pPr>
            <a:r>
              <a:rPr lang="en-US" altLang="zh-CN" sz="1800" dirty="0"/>
              <a:t>   </a:t>
            </a:r>
            <a:r>
              <a:rPr lang="zh-CN" altLang="en-US" sz="2000" dirty="0">
                <a:solidFill>
                  <a:srgbClr val="FF0000"/>
                </a:solidFill>
              </a:rPr>
              <a:t>引理</a:t>
            </a:r>
            <a:r>
              <a:rPr lang="en-US" altLang="zh-CN" sz="2000" dirty="0">
                <a:solidFill>
                  <a:srgbClr val="FF0000"/>
                </a:solidFill>
              </a:rPr>
              <a:t>6.l  </a:t>
            </a:r>
            <a:r>
              <a:rPr lang="en-US" altLang="zh-CN" sz="2000" i="1" dirty="0">
                <a:solidFill>
                  <a:srgbClr val="FF0000"/>
                </a:solidFill>
              </a:rPr>
              <a:t>X</a:t>
            </a:r>
            <a:r>
              <a:rPr lang="en-US" altLang="zh-CN" sz="2000" dirty="0">
                <a:solidFill>
                  <a:srgbClr val="FF0000"/>
                </a:solidFill>
              </a:rPr>
              <a:t>→</a:t>
            </a:r>
            <a:r>
              <a:rPr lang="en-US" altLang="zh-CN" sz="2000" i="1" dirty="0">
                <a:solidFill>
                  <a:srgbClr val="FF0000"/>
                </a:solidFill>
              </a:rPr>
              <a:t>A</a:t>
            </a:r>
            <a:r>
              <a:rPr lang="en-US" altLang="zh-CN" sz="2000" i="1" baseline="-25000" dirty="0">
                <a:solidFill>
                  <a:srgbClr val="FF0000"/>
                </a:solidFill>
              </a:rPr>
              <a:t>1</a:t>
            </a:r>
            <a:r>
              <a:rPr lang="en-US" altLang="zh-CN" sz="2000" i="1" dirty="0">
                <a:solidFill>
                  <a:srgbClr val="FF0000"/>
                </a:solidFill>
              </a:rPr>
              <a:t> A</a:t>
            </a:r>
            <a:r>
              <a:rPr lang="en-US" altLang="zh-CN" sz="2000" i="1" baseline="-25000" dirty="0">
                <a:solidFill>
                  <a:srgbClr val="FF0000"/>
                </a:solidFill>
              </a:rPr>
              <a:t>2</a:t>
            </a:r>
            <a:r>
              <a:rPr lang="en-US" altLang="zh-CN" sz="2000" i="1" dirty="0">
                <a:solidFill>
                  <a:srgbClr val="FF0000"/>
                </a:solidFill>
              </a:rPr>
              <a:t>…</a:t>
            </a:r>
            <a:r>
              <a:rPr lang="en-US" altLang="zh-CN" sz="2000" i="1" dirty="0" err="1">
                <a:solidFill>
                  <a:srgbClr val="FF0000"/>
                </a:solidFill>
              </a:rPr>
              <a:t>A</a:t>
            </a:r>
            <a:r>
              <a:rPr lang="en-US" altLang="zh-CN" sz="2000" i="1" baseline="-25000" dirty="0" err="1">
                <a:solidFill>
                  <a:srgbClr val="FF0000"/>
                </a:solidFill>
              </a:rPr>
              <a:t>k</a:t>
            </a:r>
            <a:r>
              <a:rPr lang="zh-CN" altLang="en-US" sz="2000" dirty="0">
                <a:solidFill>
                  <a:srgbClr val="FF0000"/>
                </a:solidFill>
              </a:rPr>
              <a:t>成立的充分必要条件是</a:t>
            </a:r>
            <a:r>
              <a:rPr lang="en-US" altLang="zh-CN" sz="2000" i="1" dirty="0" err="1">
                <a:solidFill>
                  <a:srgbClr val="FF0000"/>
                </a:solidFill>
              </a:rPr>
              <a:t>X</a:t>
            </a:r>
            <a:r>
              <a:rPr lang="en-US" altLang="zh-CN" sz="2000" dirty="0" err="1">
                <a:solidFill>
                  <a:srgbClr val="FF0000"/>
                </a:solidFill>
              </a:rPr>
              <a:t>→</a:t>
            </a:r>
            <a:r>
              <a:rPr lang="en-US" altLang="zh-CN" sz="2000" i="1" dirty="0" err="1">
                <a:solidFill>
                  <a:srgbClr val="FF0000"/>
                </a:solidFill>
              </a:rPr>
              <a:t>A</a:t>
            </a:r>
            <a:r>
              <a:rPr lang="en-US" altLang="zh-CN" sz="2000" i="1" baseline="-25000" dirty="0" err="1">
                <a:solidFill>
                  <a:srgbClr val="FF0000"/>
                </a:solidFill>
              </a:rPr>
              <a:t>i</a:t>
            </a:r>
            <a:r>
              <a:rPr lang="zh-CN" altLang="en-US" sz="2000" dirty="0">
                <a:solidFill>
                  <a:srgbClr val="FF0000"/>
                </a:solidFill>
              </a:rPr>
              <a:t>成立（</a:t>
            </a:r>
            <a:r>
              <a:rPr lang="en-US" altLang="zh-CN" sz="2000" i="1" dirty="0" err="1">
                <a:solidFill>
                  <a:srgbClr val="FF0000"/>
                </a:solidFill>
              </a:rPr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=l</a:t>
            </a:r>
            <a:r>
              <a:rPr lang="zh-CN" altLang="en-US" sz="2000" dirty="0">
                <a:solidFill>
                  <a:srgbClr val="FF0000"/>
                </a:solidFill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</a:rPr>
              <a:t>2</a:t>
            </a:r>
            <a:r>
              <a:rPr lang="zh-CN" altLang="en-US" sz="2000" dirty="0">
                <a:solidFill>
                  <a:srgbClr val="FF0000"/>
                </a:solidFill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</a:rPr>
              <a:t>…</a:t>
            </a:r>
            <a:r>
              <a:rPr lang="zh-CN" altLang="en-US" sz="2000" dirty="0">
                <a:solidFill>
                  <a:srgbClr val="FF0000"/>
                </a:solidFill>
              </a:rPr>
              <a:t>，</a:t>
            </a:r>
            <a:r>
              <a:rPr lang="en-US" altLang="zh-CN" sz="2000" i="1" dirty="0">
                <a:solidFill>
                  <a:srgbClr val="FF0000"/>
                </a:solidFill>
              </a:rPr>
              <a:t>k</a:t>
            </a:r>
            <a:r>
              <a:rPr lang="zh-CN" altLang="en-US" sz="2000" dirty="0">
                <a:solidFill>
                  <a:srgbClr val="FF0000"/>
                </a:solidFill>
              </a:rPr>
              <a:t>）。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endParaRPr lang="en-US" altLang="zh-CN" sz="1600" dirty="0"/>
          </a:p>
          <a:p>
            <a:pPr eaLnBrk="1" hangingPunct="1">
              <a:buFont typeface="Monotype Sorts" pitchFamily="2" charset="2"/>
              <a:buNone/>
            </a:pPr>
            <a:endParaRPr lang="zh-CN" altLang="en-US" sz="2400" dirty="0">
              <a:solidFill>
                <a:schemeClr val="accent2"/>
              </a:solidFill>
            </a:endParaRPr>
          </a:p>
          <a:p>
            <a:pPr eaLnBrk="1" hangingPunct="1">
              <a:spcBef>
                <a:spcPct val="60000"/>
              </a:spcBef>
            </a:pPr>
            <a:endParaRPr lang="zh-CN" altLang="en-US" sz="1800" dirty="0"/>
          </a:p>
        </p:txBody>
      </p:sp>
    </p:spTree>
  </p:cSld>
  <p:clrMapOvr>
    <a:masterClrMapping/>
  </p:clrMapOvr>
  <p:transition spd="slow"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</a:t>
            </a:r>
            <a:r>
              <a:rPr lang="zh-CN" altLang="en-US" dirty="0"/>
              <a:t>函数依赖闭包</a:t>
            </a:r>
            <a:endParaRPr lang="zh-CN" altLang="en-US" dirty="0"/>
          </a:p>
        </p:txBody>
      </p:sp>
      <p:sp>
        <p:nvSpPr>
          <p:cNvPr id="139267" name="Rectangle 3"/>
          <p:cNvSpPr>
            <a:spLocks noGrp="1" noChangeArrowheads="1"/>
          </p:cNvSpPr>
          <p:nvPr>
            <p:ph idx="1"/>
          </p:nvPr>
        </p:nvSpPr>
        <p:spPr>
          <a:xfrm>
            <a:off x="285720" y="823913"/>
            <a:ext cx="8401080" cy="3640931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闭包</a:t>
            </a:r>
            <a:endParaRPr lang="zh-CN" altLang="en-US" sz="2400" dirty="0"/>
          </a:p>
          <a:p>
            <a:pPr eaLnBrk="1" hangingPunct="1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400" dirty="0"/>
              <a:t>	定义</a:t>
            </a:r>
            <a:r>
              <a:rPr lang="en-US" altLang="zh-CN" sz="2400" dirty="0"/>
              <a:t>6.l2  </a:t>
            </a:r>
            <a:r>
              <a:rPr lang="zh-CN" altLang="en-US" sz="2400" dirty="0"/>
              <a:t>在关系模式</a:t>
            </a:r>
            <a:r>
              <a:rPr lang="en-US" altLang="zh-CN" sz="2400" i="1" dirty="0"/>
              <a:t>R&lt;U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F&gt;</a:t>
            </a:r>
            <a:r>
              <a:rPr lang="zh-CN" altLang="en-US" sz="2400" dirty="0"/>
              <a:t>中为</a:t>
            </a:r>
            <a:r>
              <a:rPr lang="en-US" altLang="zh-CN" sz="2400" i="1" dirty="0"/>
              <a:t>F</a:t>
            </a:r>
            <a:r>
              <a:rPr lang="zh-CN" altLang="en-US" sz="2400" dirty="0"/>
              <a:t>所逻辑蕴含的函数依赖的全体叫作</a:t>
            </a:r>
            <a:r>
              <a:rPr lang="en-US" altLang="zh-CN" sz="2400" i="1" dirty="0">
                <a:solidFill>
                  <a:schemeClr val="accent2"/>
                </a:solidFill>
              </a:rPr>
              <a:t>F</a:t>
            </a:r>
            <a:r>
              <a:rPr lang="zh-CN" altLang="en-US" sz="2400" dirty="0">
                <a:solidFill>
                  <a:schemeClr val="accent2"/>
                </a:solidFill>
              </a:rPr>
              <a:t>的闭包</a:t>
            </a:r>
            <a:r>
              <a:rPr lang="zh-CN" altLang="en-US" sz="2400" dirty="0"/>
              <a:t>，记为</a:t>
            </a:r>
            <a:r>
              <a:rPr lang="en-US" altLang="zh-CN" sz="2400" i="1" dirty="0"/>
              <a:t>F </a:t>
            </a:r>
            <a:r>
              <a:rPr lang="en-US" altLang="zh-CN" sz="2400" baseline="30000" dirty="0"/>
              <a:t>+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eaLnBrk="1" hangingPunct="1">
              <a:buFont typeface="Monotype Sorts" pitchFamily="2" charset="2"/>
              <a:buNone/>
            </a:pPr>
            <a:endParaRPr lang="zh-CN" altLang="en-US" sz="2400" dirty="0"/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2400" dirty="0"/>
              <a:t>	定义</a:t>
            </a:r>
            <a:r>
              <a:rPr lang="en-US" altLang="zh-CN" sz="2400" dirty="0"/>
              <a:t>6.13  </a:t>
            </a:r>
            <a:r>
              <a:rPr lang="zh-CN" altLang="en-US" sz="2400" dirty="0"/>
              <a:t>设</a:t>
            </a:r>
            <a:r>
              <a:rPr lang="en-US" altLang="zh-CN" sz="2400" i="1" dirty="0"/>
              <a:t>F</a:t>
            </a:r>
            <a:r>
              <a:rPr lang="zh-CN" altLang="en-US" sz="2400" dirty="0"/>
              <a:t>为属性集</a:t>
            </a:r>
            <a:r>
              <a:rPr lang="en-US" altLang="zh-CN" sz="2400" i="1" dirty="0"/>
              <a:t>U</a:t>
            </a:r>
            <a:r>
              <a:rPr lang="zh-CN" altLang="en-US" sz="2400" dirty="0"/>
              <a:t>上的一组函数依赖，</a:t>
            </a:r>
            <a:r>
              <a:rPr lang="en-US" altLang="zh-CN" sz="2400" i="1" dirty="0"/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i="1" dirty="0"/>
              <a:t>U</a:t>
            </a:r>
            <a:r>
              <a:rPr lang="zh-CN" altLang="en-US" sz="2400" dirty="0"/>
              <a:t>， 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F</a:t>
            </a:r>
            <a:r>
              <a:rPr lang="en-US" altLang="zh-CN" sz="2400" baseline="30000" dirty="0"/>
              <a:t>+</a:t>
            </a:r>
            <a:r>
              <a:rPr lang="en-US" altLang="zh-CN" sz="2400" dirty="0"/>
              <a:t> ={ </a:t>
            </a:r>
            <a:r>
              <a:rPr lang="en-US" altLang="zh-CN" sz="2400" i="1" dirty="0"/>
              <a:t>A|X</a:t>
            </a:r>
            <a:r>
              <a:rPr lang="en-US" altLang="zh-CN" sz="2400" dirty="0"/>
              <a:t>→</a:t>
            </a:r>
            <a:r>
              <a:rPr lang="en-US" altLang="zh-CN" sz="2400" i="1" dirty="0"/>
              <a:t>A</a:t>
            </a:r>
            <a:r>
              <a:rPr lang="zh-CN" altLang="en-US" sz="2400" dirty="0"/>
              <a:t>能由</a:t>
            </a:r>
            <a:r>
              <a:rPr lang="en-US" altLang="zh-CN" sz="2400" i="1" dirty="0"/>
              <a:t>F</a:t>
            </a:r>
            <a:r>
              <a:rPr lang="zh-CN" altLang="en-US" sz="2400" dirty="0"/>
              <a:t>根据</a:t>
            </a:r>
            <a:r>
              <a:rPr lang="en-US" altLang="zh-CN" sz="2400" dirty="0"/>
              <a:t>Armstrong</a:t>
            </a:r>
            <a:r>
              <a:rPr lang="zh-CN" altLang="en-US" sz="2400" dirty="0"/>
              <a:t>公理导出</a:t>
            </a:r>
            <a:r>
              <a:rPr lang="en-US" altLang="zh-CN" sz="2400" dirty="0"/>
              <a:t>}</a:t>
            </a:r>
            <a:r>
              <a:rPr lang="zh-CN" altLang="en-US" sz="2400" dirty="0"/>
              <a:t>，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F</a:t>
            </a:r>
            <a:r>
              <a:rPr lang="en-US" altLang="zh-CN" sz="2400" baseline="30000" dirty="0"/>
              <a:t>+</a:t>
            </a:r>
            <a:r>
              <a:rPr lang="zh-CN" altLang="en-US" sz="2400" dirty="0"/>
              <a:t>称为属性集</a:t>
            </a:r>
            <a:r>
              <a:rPr lang="en-US" altLang="zh-CN" sz="2400" i="1" dirty="0">
                <a:solidFill>
                  <a:schemeClr val="accent2"/>
                </a:solidFill>
              </a:rPr>
              <a:t>X</a:t>
            </a:r>
            <a:r>
              <a:rPr lang="zh-CN" altLang="en-US" sz="2400" dirty="0">
                <a:solidFill>
                  <a:schemeClr val="accent2"/>
                </a:solidFill>
              </a:rPr>
              <a:t>关于函数依赖集</a:t>
            </a:r>
            <a:r>
              <a:rPr lang="en-US" altLang="zh-CN" sz="2400" i="1" dirty="0">
                <a:solidFill>
                  <a:schemeClr val="accent2"/>
                </a:solidFill>
              </a:rPr>
              <a:t>F</a:t>
            </a:r>
            <a:r>
              <a:rPr lang="zh-CN" altLang="en-US" sz="2400" dirty="0">
                <a:solidFill>
                  <a:schemeClr val="accent2"/>
                </a:solidFill>
              </a:rPr>
              <a:t>的闭包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</p:spTree>
  </p:cSld>
  <p:clrMapOvr>
    <a:masterClrMapping/>
  </p:clrMapOvr>
  <p:transition spd="slow"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F</a:t>
            </a:r>
            <a:r>
              <a:rPr lang="zh-CN" altLang="en-US" sz="3600"/>
              <a:t>的闭包</a:t>
            </a:r>
            <a:endParaRPr lang="zh-CN" altLang="en-US" sz="3600"/>
          </a:p>
        </p:txBody>
      </p:sp>
      <p:sp>
        <p:nvSpPr>
          <p:cNvPr id="140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000" i="1" dirty="0"/>
              <a:t>F</a:t>
            </a:r>
            <a:r>
              <a:rPr lang="en-US" altLang="zh-CN" sz="2000" dirty="0"/>
              <a:t>={ X→Y,Y→Z }, 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000" i="1" dirty="0"/>
              <a:t>F </a:t>
            </a:r>
            <a:r>
              <a:rPr lang="en-US" altLang="zh-CN" sz="2000" baseline="30000" dirty="0"/>
              <a:t>+ </a:t>
            </a:r>
            <a:r>
              <a:rPr lang="en-US" altLang="zh-CN" sz="2000" dirty="0"/>
              <a:t>= {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000" dirty="0" err="1"/>
              <a:t>X→φ</a:t>
            </a:r>
            <a:r>
              <a:rPr lang="en-US" altLang="zh-CN" sz="2000" dirty="0"/>
              <a:t>, 	</a:t>
            </a:r>
            <a:r>
              <a:rPr lang="en-US" altLang="zh-CN" sz="2000" dirty="0" err="1"/>
              <a:t>Y→φ</a:t>
            </a:r>
            <a:r>
              <a:rPr lang="en-US" altLang="zh-CN" sz="2000" dirty="0"/>
              <a:t>,	</a:t>
            </a:r>
            <a:r>
              <a:rPr lang="en-US" altLang="zh-CN" sz="2000" dirty="0" err="1"/>
              <a:t>Z→φ</a:t>
            </a:r>
            <a:r>
              <a:rPr lang="en-US" altLang="zh-CN" sz="2000" dirty="0"/>
              <a:t>,  	</a:t>
            </a:r>
            <a:r>
              <a:rPr lang="en-US" altLang="zh-CN" sz="2000" dirty="0" err="1"/>
              <a:t>XY→φ</a:t>
            </a:r>
            <a:r>
              <a:rPr lang="en-US" altLang="zh-CN" sz="2000" dirty="0"/>
              <a:t>,      XZ →φ,   YZ →φ,    XYZ →φ, 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000" dirty="0"/>
              <a:t>X →X, 	Y→Y, 	Z→Z,   	XY → X,     XZ→X,      YZ→Y,      XYZ→X,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000" dirty="0"/>
              <a:t>X → Y, 	Y → Z ,         	XY → Y,     XZ→Y,      YZ →Z,     XYZ → Y,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000" dirty="0"/>
              <a:t>X → Z, 	Y → YZ,        	XY → Z,     XZ→Z,       YZ →YZ,  XYZ → Z,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000" dirty="0"/>
              <a:t>X → XY,                 	XY → XY,  XZ → XY,                     XYZ → XY, 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000" dirty="0"/>
              <a:t>X → XZ,                 	XY → YZ,  XZ → XZ,                      XYZ → YZ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000" dirty="0"/>
              <a:t>X → YZ,                 	XY → XZ,  XZ → XY,                      XYZ → XZ,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000" dirty="0"/>
              <a:t>                               	XY → XYZ, XZ → XYZ,                 XYZ → XYZ 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000" dirty="0"/>
              <a:t>}</a:t>
            </a:r>
            <a:endParaRPr lang="en-US" altLang="zh-CN" sz="2000" dirty="0"/>
          </a:p>
        </p:txBody>
      </p:sp>
    </p:spTree>
  </p:cSld>
  <p:clrMapOvr>
    <a:masterClrMapping/>
  </p:clrMapOvr>
  <p:transition spd="slow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 </a:t>
            </a:r>
            <a:r>
              <a:rPr lang="zh-CN" altLang="en-US" dirty="0"/>
              <a:t>函数依赖闭包</a:t>
            </a:r>
            <a:endParaRPr lang="zh-CN" altLang="en-US" dirty="0"/>
          </a:p>
        </p:txBody>
      </p:sp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关于闭包的引理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Monotype Sorts" pitchFamily="2" charset="2"/>
              <a:buNone/>
            </a:pPr>
            <a:r>
              <a:rPr lang="zh-CN" altLang="en-US" sz="2400" dirty="0"/>
              <a:t>	</a:t>
            </a:r>
            <a:r>
              <a:rPr lang="zh-CN" altLang="en-US" sz="2400" dirty="0">
                <a:solidFill>
                  <a:srgbClr val="FF0000"/>
                </a:solidFill>
              </a:rPr>
              <a:t>引理</a:t>
            </a:r>
            <a:r>
              <a:rPr lang="en-US" altLang="zh-CN" sz="2400" dirty="0">
                <a:solidFill>
                  <a:srgbClr val="FF0000"/>
                </a:solidFill>
              </a:rPr>
              <a:t>6.2  </a:t>
            </a:r>
            <a:r>
              <a:rPr lang="zh-CN" altLang="en-US" sz="2400" dirty="0"/>
              <a:t>设</a:t>
            </a:r>
            <a:r>
              <a:rPr lang="en-US" altLang="zh-CN" sz="2400" i="1" dirty="0"/>
              <a:t>F</a:t>
            </a:r>
            <a:r>
              <a:rPr lang="zh-CN" altLang="en-US" sz="2400" dirty="0"/>
              <a:t>为属性集</a:t>
            </a:r>
            <a:r>
              <a:rPr lang="en-US" altLang="zh-CN" sz="2400" i="1" dirty="0"/>
              <a:t>U</a:t>
            </a:r>
            <a:r>
              <a:rPr lang="zh-CN" altLang="en-US" sz="2400" dirty="0"/>
              <a:t>上的一组函数依赖，</a:t>
            </a:r>
            <a:r>
              <a:rPr lang="en-US" altLang="zh-CN" sz="2400" i="1" dirty="0"/>
              <a:t>X</a:t>
            </a:r>
            <a:r>
              <a:rPr lang="zh-CN" altLang="en-US" sz="2400" dirty="0"/>
              <a:t>，</a:t>
            </a:r>
            <a:r>
              <a:rPr lang="en-US" altLang="zh-CN" sz="2400" i="1" dirty="0"/>
              <a:t>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</a:t>
            </a:r>
            <a:r>
              <a:rPr lang="en-US" altLang="zh-CN" sz="2400" i="1" dirty="0"/>
              <a:t>U</a:t>
            </a:r>
            <a:r>
              <a:rPr lang="zh-CN" altLang="en-US" sz="2400" dirty="0"/>
              <a:t>，</a:t>
            </a:r>
            <a:r>
              <a:rPr lang="en-US" altLang="zh-CN" sz="2400" i="1" dirty="0"/>
              <a:t>X</a:t>
            </a:r>
            <a:r>
              <a:rPr lang="en-US" altLang="zh-CN" sz="2400" dirty="0"/>
              <a:t>→</a:t>
            </a:r>
            <a:r>
              <a:rPr lang="en-US" altLang="zh-CN" sz="2400" i="1" dirty="0"/>
              <a:t>Y</a:t>
            </a:r>
            <a:r>
              <a:rPr lang="zh-CN" altLang="en-US" sz="2400" dirty="0"/>
              <a:t>能由</a:t>
            </a:r>
            <a:r>
              <a:rPr lang="en-US" altLang="zh-CN" sz="2400" i="1" dirty="0"/>
              <a:t>F</a:t>
            </a:r>
            <a:r>
              <a:rPr lang="zh-CN" altLang="en-US" sz="2400" dirty="0"/>
              <a:t>根据</a:t>
            </a:r>
            <a:r>
              <a:rPr lang="en-US" altLang="zh-CN" sz="2400" dirty="0"/>
              <a:t>Armstrong</a:t>
            </a:r>
            <a:r>
              <a:rPr lang="zh-CN" altLang="en-US" sz="2400" dirty="0"/>
              <a:t>公理导出的充分必要条件是</a:t>
            </a:r>
            <a:r>
              <a:rPr lang="en-US" altLang="zh-CN" sz="2400" i="1" dirty="0"/>
              <a:t>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F</a:t>
            </a:r>
            <a:r>
              <a:rPr lang="en-US" altLang="zh-CN" sz="2400" baseline="30000" dirty="0"/>
              <a:t>+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zh-CN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引理</a:t>
            </a:r>
            <a:r>
              <a:rPr lang="en-US" altLang="zh-CN" dirty="0">
                <a:solidFill>
                  <a:srgbClr val="FF0000"/>
                </a:solidFill>
              </a:rPr>
              <a:t>6.2</a:t>
            </a:r>
            <a:r>
              <a:rPr lang="zh-CN" altLang="en-US" dirty="0">
                <a:solidFill>
                  <a:srgbClr val="FF0000"/>
                </a:solidFill>
              </a:rPr>
              <a:t>的用途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/>
              <a:t>将判定</a:t>
            </a:r>
            <a:r>
              <a:rPr lang="en-US" altLang="zh-CN" i="1" dirty="0"/>
              <a:t>X</a:t>
            </a:r>
            <a:r>
              <a:rPr lang="en-US" altLang="zh-CN" dirty="0"/>
              <a:t>→</a:t>
            </a:r>
            <a:r>
              <a:rPr lang="en-US" altLang="zh-CN" i="1" dirty="0"/>
              <a:t>Y</a:t>
            </a:r>
            <a:r>
              <a:rPr lang="zh-CN" altLang="en-US" dirty="0"/>
              <a:t>是否能由</a:t>
            </a:r>
            <a:r>
              <a:rPr lang="en-US" altLang="zh-CN" i="1" dirty="0"/>
              <a:t>F</a:t>
            </a:r>
            <a:r>
              <a:rPr lang="zh-CN" altLang="en-US" dirty="0"/>
              <a:t>根据</a:t>
            </a:r>
            <a:r>
              <a:rPr lang="en-US" altLang="zh-CN" dirty="0"/>
              <a:t>Armstrong</a:t>
            </a:r>
            <a:r>
              <a:rPr lang="zh-CN" altLang="en-US" dirty="0"/>
              <a:t>公理导出的问题，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/>
              <a:t>就转化为求出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F</a:t>
            </a:r>
            <a:r>
              <a:rPr lang="en-US" altLang="zh-CN" baseline="30000" dirty="0"/>
              <a:t>+</a:t>
            </a:r>
            <a:r>
              <a:rPr lang="en-US" altLang="zh-CN" dirty="0"/>
              <a:t> </a:t>
            </a:r>
            <a:r>
              <a:rPr lang="zh-CN" altLang="en-US" dirty="0"/>
              <a:t>，判定</a:t>
            </a:r>
            <a:r>
              <a:rPr lang="en-US" altLang="zh-CN" i="1" dirty="0"/>
              <a:t>Y</a:t>
            </a:r>
            <a:r>
              <a:rPr lang="zh-CN" altLang="en-US" dirty="0"/>
              <a:t>是否为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F</a:t>
            </a:r>
            <a:r>
              <a:rPr lang="en-US" altLang="zh-CN" baseline="30000" dirty="0"/>
              <a:t>+</a:t>
            </a:r>
            <a:r>
              <a:rPr lang="zh-CN" altLang="en-US" dirty="0"/>
              <a:t>的子集的问题。</a:t>
            </a:r>
            <a:endParaRPr lang="zh-CN" altLang="en-US" dirty="0"/>
          </a:p>
        </p:txBody>
      </p:sp>
    </p:spTree>
  </p:cSld>
  <p:clrMapOvr>
    <a:masterClrMapping/>
  </p:clrMapOvr>
  <p:transition spd="slow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</a:t>
            </a:r>
            <a:r>
              <a:rPr lang="zh-CN" altLang="en-US" dirty="0"/>
              <a:t>函数依赖闭包</a:t>
            </a:r>
            <a:endParaRPr lang="zh-CN" altLang="en-US" dirty="0"/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155561" y="823913"/>
            <a:ext cx="8401080" cy="3640931"/>
          </a:xfrm>
        </p:spPr>
        <p:txBody>
          <a:bodyPr/>
          <a:lstStyle/>
          <a:p>
            <a:pPr marL="485775" indent="-485775" eaLnBrk="1" hangingPunct="1">
              <a:lnSpc>
                <a:spcPct val="90000"/>
              </a:lnSpc>
            </a:pPr>
            <a:r>
              <a:rPr lang="zh-CN" altLang="en-US" sz="2000"/>
              <a:t>求闭包的算法</a:t>
            </a:r>
            <a:endParaRPr lang="zh-CN" altLang="en-US" sz="2000"/>
          </a:p>
          <a:p>
            <a:pPr marL="485775" indent="-485775" eaLnBrk="1" hangingPunct="1">
              <a:lnSpc>
                <a:spcPct val="90000"/>
              </a:lnSpc>
              <a:spcBef>
                <a:spcPct val="60000"/>
              </a:spcBef>
              <a:buFont typeface="Monotype Sorts" pitchFamily="2" charset="2"/>
              <a:buNone/>
            </a:pPr>
            <a:r>
              <a:rPr lang="zh-CN" altLang="en-US" sz="1600"/>
              <a:t>算法</a:t>
            </a:r>
            <a:r>
              <a:rPr lang="en-US" altLang="zh-CN" sz="1600" dirty="0"/>
              <a:t>6.l  </a:t>
            </a:r>
            <a:r>
              <a:rPr lang="zh-CN" altLang="en-US" sz="1600" dirty="0"/>
              <a:t>求属性集</a:t>
            </a:r>
            <a:r>
              <a:rPr lang="en-US" altLang="zh-CN" sz="1600" i="1" dirty="0"/>
              <a:t>X</a:t>
            </a:r>
            <a:r>
              <a:rPr lang="zh-CN" altLang="en-US" sz="1600" dirty="0"/>
              <a:t>（</a:t>
            </a:r>
            <a:r>
              <a:rPr lang="en-US" altLang="zh-CN" sz="1600" i="1" dirty="0"/>
              <a:t>X</a:t>
            </a:r>
            <a:r>
              <a:rPr lang="en-US" altLang="zh-CN" sz="1600" dirty="0"/>
              <a:t> </a:t>
            </a:r>
            <a:r>
              <a:rPr lang="en-US" altLang="zh-CN" sz="1600" dirty="0">
                <a:sym typeface="Symbol" panose="05050102010706020507" pitchFamily="18" charset="2"/>
              </a:rPr>
              <a:t></a:t>
            </a:r>
            <a:r>
              <a:rPr lang="en-US" altLang="zh-CN" sz="1600" dirty="0"/>
              <a:t> </a:t>
            </a:r>
            <a:r>
              <a:rPr lang="en-US" altLang="zh-CN" sz="1600" i="1" dirty="0"/>
              <a:t>U</a:t>
            </a:r>
            <a:r>
              <a:rPr lang="zh-CN" altLang="en-US" sz="1600" dirty="0"/>
              <a:t>）关于</a:t>
            </a:r>
            <a:r>
              <a:rPr lang="en-US" altLang="zh-CN" sz="1600" i="1" dirty="0"/>
              <a:t>U</a:t>
            </a:r>
            <a:r>
              <a:rPr lang="zh-CN" altLang="en-US" sz="1600" dirty="0"/>
              <a:t>上的函数依赖集</a:t>
            </a:r>
            <a:r>
              <a:rPr lang="en-US" altLang="zh-CN" sz="1600" i="1" dirty="0"/>
              <a:t>F</a:t>
            </a:r>
            <a:r>
              <a:rPr lang="zh-CN" altLang="en-US" sz="1600" dirty="0"/>
              <a:t>的闭包</a:t>
            </a:r>
            <a:r>
              <a:rPr lang="en-US" altLang="zh-CN" sz="1600" i="1" dirty="0"/>
              <a:t>X</a:t>
            </a:r>
            <a:r>
              <a:rPr lang="en-US" altLang="zh-CN" sz="1600" i="1" baseline="-25000" dirty="0"/>
              <a:t>F</a:t>
            </a:r>
            <a:r>
              <a:rPr lang="en-US" altLang="zh-CN" sz="1600" baseline="30000" dirty="0"/>
              <a:t>+</a:t>
            </a:r>
            <a:r>
              <a:rPr lang="en-US" altLang="zh-CN" sz="1600" dirty="0"/>
              <a:t> </a:t>
            </a:r>
            <a:r>
              <a:rPr lang="zh-CN" altLang="en-US" sz="1600" dirty="0"/>
              <a:t>。              </a:t>
            </a:r>
            <a:endParaRPr lang="zh-CN" altLang="en-US" sz="1600" dirty="0"/>
          </a:p>
          <a:p>
            <a:pPr marL="485775" indent="-485775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1600" dirty="0"/>
              <a:t>输入：</a:t>
            </a:r>
            <a:r>
              <a:rPr lang="en-US" altLang="zh-CN" sz="1600" i="1" dirty="0"/>
              <a:t>X</a:t>
            </a:r>
            <a:r>
              <a:rPr lang="zh-CN" altLang="en-US" sz="1600" dirty="0"/>
              <a:t>，</a:t>
            </a:r>
            <a:r>
              <a:rPr lang="en-US" altLang="zh-CN" sz="1600" i="1" dirty="0"/>
              <a:t>F</a:t>
            </a:r>
            <a:endParaRPr lang="en-US" altLang="zh-CN" sz="1600" i="1" dirty="0"/>
          </a:p>
          <a:p>
            <a:pPr marL="485775" indent="-485775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1600" dirty="0"/>
              <a:t>输出：</a:t>
            </a:r>
            <a:r>
              <a:rPr lang="en-US" altLang="zh-CN" sz="1600" i="1" dirty="0"/>
              <a:t>X</a:t>
            </a:r>
            <a:r>
              <a:rPr lang="en-US" altLang="zh-CN" sz="1600" i="1" baseline="-25000" dirty="0"/>
              <a:t>F</a:t>
            </a:r>
            <a:r>
              <a:rPr lang="en-US" altLang="zh-CN" sz="1600" baseline="30000" dirty="0"/>
              <a:t>+</a:t>
            </a:r>
            <a:endParaRPr lang="en-US" altLang="zh-CN" sz="1600" baseline="30000" dirty="0"/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1600" dirty="0"/>
              <a:t>步骤：</a:t>
            </a:r>
            <a:endParaRPr lang="en-US" altLang="zh-CN" sz="1600" dirty="0"/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1600" dirty="0"/>
              <a:t>（</a:t>
            </a:r>
            <a:r>
              <a:rPr lang="en-US" altLang="zh-CN" sz="1600" dirty="0"/>
              <a:t>1</a:t>
            </a:r>
            <a:r>
              <a:rPr lang="zh-CN" altLang="en-US" sz="1600" dirty="0"/>
              <a:t>）令</a:t>
            </a:r>
            <a:r>
              <a:rPr lang="en-US" altLang="zh-CN" sz="1600" i="1" dirty="0"/>
              <a:t>X</a:t>
            </a:r>
            <a:r>
              <a:rPr lang="zh-CN" altLang="en-US" sz="1600" baseline="30000" dirty="0"/>
              <a:t>（</a:t>
            </a:r>
            <a:r>
              <a:rPr lang="en-US" altLang="zh-CN" sz="1600" baseline="30000" dirty="0"/>
              <a:t>0</a:t>
            </a:r>
            <a:r>
              <a:rPr lang="zh-CN" altLang="en-US" sz="1600" baseline="30000" dirty="0"/>
              <a:t>）</a:t>
            </a:r>
            <a:r>
              <a:rPr lang="en-US" altLang="zh-CN" sz="1600" dirty="0"/>
              <a:t>=</a:t>
            </a:r>
            <a:r>
              <a:rPr lang="en-US" altLang="zh-CN" sz="1600" i="1" dirty="0"/>
              <a:t>X</a:t>
            </a:r>
            <a:r>
              <a:rPr lang="zh-CN" altLang="en-US" sz="1600" dirty="0"/>
              <a:t>，</a:t>
            </a:r>
            <a:r>
              <a:rPr lang="en-US" altLang="zh-CN" sz="1600" i="1" dirty="0" err="1"/>
              <a:t>i</a:t>
            </a:r>
            <a:r>
              <a:rPr lang="en-US" altLang="zh-CN" sz="1600" i="1" dirty="0"/>
              <a:t> </a:t>
            </a:r>
            <a:r>
              <a:rPr lang="en-US" altLang="zh-CN" sz="1600" dirty="0"/>
              <a:t>=0</a:t>
            </a:r>
            <a:endParaRPr lang="en-US" altLang="zh-CN" sz="1600" dirty="0"/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1600" dirty="0"/>
              <a:t>（</a:t>
            </a:r>
            <a:r>
              <a:rPr lang="en-US" altLang="zh-CN" sz="1600" dirty="0"/>
              <a:t>2</a:t>
            </a:r>
            <a:r>
              <a:rPr lang="zh-CN" altLang="en-US" sz="1600" dirty="0"/>
              <a:t>）求</a:t>
            </a:r>
            <a:r>
              <a:rPr lang="en-US" altLang="zh-CN" sz="1600" i="1" dirty="0"/>
              <a:t>B</a:t>
            </a:r>
            <a:r>
              <a:rPr lang="zh-CN" altLang="en-US" sz="1600" dirty="0"/>
              <a:t>，这里</a:t>
            </a:r>
            <a:r>
              <a:rPr lang="en-US" altLang="zh-CN" sz="1600" i="1" dirty="0"/>
              <a:t>B</a:t>
            </a:r>
            <a:r>
              <a:rPr lang="en-US" altLang="zh-CN" sz="1600" dirty="0"/>
              <a:t> = { </a:t>
            </a:r>
            <a:r>
              <a:rPr lang="en-US" altLang="zh-CN" sz="1600" i="1" dirty="0"/>
              <a:t>A</a:t>
            </a:r>
            <a:r>
              <a:rPr lang="en-US" altLang="zh-CN" sz="1600" dirty="0"/>
              <a:t> |(</a:t>
            </a:r>
            <a:r>
              <a:rPr lang="en-US" altLang="zh-CN" sz="1600" dirty="0">
                <a:sym typeface="Symbol" panose="05050102010706020507" pitchFamily="18" charset="2"/>
              </a:rPr>
              <a:t></a:t>
            </a:r>
            <a:r>
              <a:rPr lang="en-US" altLang="zh-CN" sz="1600" dirty="0"/>
              <a:t> </a:t>
            </a:r>
            <a:r>
              <a:rPr lang="en-US" altLang="zh-CN" sz="1600" i="1" dirty="0"/>
              <a:t>V)(</a:t>
            </a:r>
            <a:r>
              <a:rPr lang="en-US" altLang="zh-CN" sz="1600" dirty="0"/>
              <a:t> </a:t>
            </a:r>
            <a:r>
              <a:rPr lang="en-US" altLang="zh-CN" sz="1600" dirty="0">
                <a:sym typeface="Symbol" panose="05050102010706020507" pitchFamily="18" charset="2"/>
              </a:rPr>
              <a:t></a:t>
            </a:r>
            <a:r>
              <a:rPr lang="en-US" altLang="zh-CN" sz="1600" dirty="0"/>
              <a:t> </a:t>
            </a:r>
            <a:r>
              <a:rPr lang="en-US" altLang="zh-CN" sz="1600" i="1" dirty="0"/>
              <a:t>W</a:t>
            </a:r>
            <a:r>
              <a:rPr lang="en-US" altLang="zh-CN" sz="1600" dirty="0"/>
              <a:t>)(</a:t>
            </a:r>
            <a:r>
              <a:rPr lang="en-US" altLang="zh-CN" sz="1600" i="1" dirty="0"/>
              <a:t>V</a:t>
            </a:r>
            <a:r>
              <a:rPr lang="en-US" altLang="zh-CN" sz="1600" dirty="0"/>
              <a:t>→</a:t>
            </a:r>
            <a:r>
              <a:rPr lang="en-US" altLang="zh-CN" sz="1600" i="1" dirty="0"/>
              <a:t>W</a:t>
            </a:r>
            <a:r>
              <a:rPr lang="en-US" altLang="zh-CN" sz="1600" dirty="0">
                <a:sym typeface="Symbol" panose="05050102010706020507" pitchFamily="18" charset="2"/>
              </a:rPr>
              <a:t></a:t>
            </a:r>
            <a:r>
              <a:rPr lang="en-US" altLang="zh-CN" sz="1600" i="1" dirty="0"/>
              <a:t>F</a:t>
            </a:r>
            <a:endParaRPr lang="en-US" altLang="zh-CN" sz="1600" dirty="0"/>
          </a:p>
          <a:p>
            <a:pPr eaLnBrk="1" hangingPunct="1">
              <a:buFont typeface="Monotype Sorts" pitchFamily="2" charset="2"/>
              <a:buNone/>
            </a:pPr>
            <a:r>
              <a:rPr lang="en-US" altLang="zh-CN" sz="1600" dirty="0"/>
              <a:t>                                           ∧</a:t>
            </a:r>
            <a:r>
              <a:rPr lang="en-US" altLang="zh-CN" sz="1600" i="1" dirty="0"/>
              <a:t>V </a:t>
            </a:r>
            <a:r>
              <a:rPr lang="en-US" altLang="zh-CN" sz="1600" dirty="0">
                <a:sym typeface="Symbol" panose="05050102010706020507" pitchFamily="18" charset="2"/>
              </a:rPr>
              <a:t></a:t>
            </a:r>
            <a:r>
              <a:rPr lang="en-US" altLang="zh-CN" sz="1600" i="1" dirty="0"/>
              <a:t> X</a:t>
            </a:r>
            <a:r>
              <a:rPr lang="zh-CN" altLang="en-US" sz="1600" baseline="30000" dirty="0"/>
              <a:t>（</a:t>
            </a:r>
            <a:r>
              <a:rPr lang="en-US" altLang="zh-CN" sz="1600" baseline="30000" dirty="0" err="1"/>
              <a:t>i</a:t>
            </a:r>
            <a:r>
              <a:rPr lang="zh-CN" altLang="en-US" sz="1600" baseline="30000" dirty="0"/>
              <a:t>）</a:t>
            </a:r>
            <a:r>
              <a:rPr lang="zh-CN" altLang="en-US" sz="1600" dirty="0"/>
              <a:t>∧</a:t>
            </a:r>
            <a:r>
              <a:rPr lang="en-US" altLang="zh-CN" sz="1600" i="1" dirty="0"/>
              <a:t>A</a:t>
            </a:r>
            <a:r>
              <a:rPr lang="en-US" altLang="zh-CN" sz="1600" dirty="0">
                <a:sym typeface="Symbol" panose="05050102010706020507" pitchFamily="18" charset="2"/>
              </a:rPr>
              <a:t></a:t>
            </a:r>
            <a:r>
              <a:rPr lang="en-US" altLang="zh-CN" sz="1600" dirty="0"/>
              <a:t> </a:t>
            </a:r>
            <a:r>
              <a:rPr lang="en-US" altLang="zh-CN" sz="1600" i="1" dirty="0"/>
              <a:t>W)</a:t>
            </a:r>
            <a:r>
              <a:rPr lang="en-US" altLang="zh-CN" sz="1600" dirty="0"/>
              <a:t>}</a:t>
            </a:r>
            <a:r>
              <a:rPr lang="zh-CN" altLang="en-US" sz="1600" dirty="0"/>
              <a:t>；</a:t>
            </a:r>
            <a:endParaRPr lang="zh-CN" altLang="en-US" sz="1600" dirty="0"/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1600" dirty="0"/>
              <a:t>（</a:t>
            </a:r>
            <a:r>
              <a:rPr lang="en-US" altLang="zh-CN" sz="1600" dirty="0"/>
              <a:t>3</a:t>
            </a:r>
            <a:r>
              <a:rPr lang="zh-CN" altLang="en-US" sz="1600" dirty="0"/>
              <a:t>）</a:t>
            </a:r>
            <a:r>
              <a:rPr lang="en-US" altLang="zh-CN" sz="1600" i="1" dirty="0"/>
              <a:t>X</a:t>
            </a:r>
            <a:r>
              <a:rPr lang="zh-CN" altLang="en-US" sz="1600" baseline="30000" dirty="0"/>
              <a:t>（</a:t>
            </a:r>
            <a:r>
              <a:rPr lang="en-US" altLang="zh-CN" sz="1600" baseline="30000" dirty="0"/>
              <a:t>i+1</a:t>
            </a:r>
            <a:r>
              <a:rPr lang="zh-CN" altLang="en-US" sz="1600" baseline="30000" dirty="0"/>
              <a:t>）</a:t>
            </a:r>
            <a:r>
              <a:rPr lang="en-US" altLang="zh-CN" sz="1600" dirty="0"/>
              <a:t>=</a:t>
            </a:r>
            <a:r>
              <a:rPr lang="en-US" altLang="zh-CN" sz="1600" i="1" dirty="0"/>
              <a:t>B </a:t>
            </a:r>
            <a:r>
              <a:rPr lang="en-US" altLang="zh-CN" sz="1600" dirty="0"/>
              <a:t>∪</a:t>
            </a:r>
            <a:r>
              <a:rPr lang="en-US" altLang="zh-CN" sz="1600" i="1" dirty="0"/>
              <a:t>X</a:t>
            </a:r>
            <a:r>
              <a:rPr lang="zh-CN" altLang="en-US" sz="1600" baseline="30000" dirty="0"/>
              <a:t>（</a:t>
            </a:r>
            <a:r>
              <a:rPr lang="en-US" altLang="zh-CN" sz="1600" baseline="30000" dirty="0" err="1"/>
              <a:t>i</a:t>
            </a:r>
            <a:r>
              <a:rPr lang="zh-CN" altLang="en-US" sz="1600" baseline="30000" dirty="0"/>
              <a:t>）</a:t>
            </a:r>
            <a:r>
              <a:rPr lang="zh-CN" altLang="en-US" sz="1600" dirty="0"/>
              <a:t> </a:t>
            </a:r>
            <a:endParaRPr lang="zh-CN" altLang="en-US" sz="1600" dirty="0"/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1600" dirty="0"/>
              <a:t>（</a:t>
            </a:r>
            <a:r>
              <a:rPr lang="en-US" altLang="zh-CN" sz="1600" dirty="0"/>
              <a:t>4</a:t>
            </a:r>
            <a:r>
              <a:rPr lang="zh-CN" altLang="en-US" sz="1600" dirty="0"/>
              <a:t>）判断</a:t>
            </a:r>
            <a:r>
              <a:rPr lang="en-US" altLang="zh-CN" sz="1600" i="1" dirty="0"/>
              <a:t>X</a:t>
            </a:r>
            <a:r>
              <a:rPr lang="zh-CN" altLang="en-US" sz="1600" baseline="30000" dirty="0"/>
              <a:t>（</a:t>
            </a:r>
            <a:r>
              <a:rPr lang="en-US" altLang="zh-CN" sz="1600" baseline="30000" dirty="0"/>
              <a:t>i+1</a:t>
            </a:r>
            <a:r>
              <a:rPr lang="zh-CN" altLang="en-US" sz="1600" baseline="30000" dirty="0"/>
              <a:t>）</a:t>
            </a:r>
            <a:r>
              <a:rPr lang="en-US" altLang="zh-CN" sz="1600" dirty="0"/>
              <a:t>= </a:t>
            </a:r>
            <a:r>
              <a:rPr lang="en-US" altLang="zh-CN" sz="1600" i="1" dirty="0"/>
              <a:t>X</a:t>
            </a:r>
            <a:r>
              <a:rPr lang="en-US" altLang="zh-CN" sz="1600" dirty="0"/>
              <a:t> </a:t>
            </a:r>
            <a:r>
              <a:rPr lang="zh-CN" altLang="en-US" sz="1600" baseline="30000" dirty="0"/>
              <a:t>（</a:t>
            </a:r>
            <a:r>
              <a:rPr lang="en-US" altLang="zh-CN" sz="1600" baseline="30000" dirty="0" err="1"/>
              <a:t>i</a:t>
            </a:r>
            <a:r>
              <a:rPr lang="zh-CN" altLang="en-US" sz="1600" baseline="30000" dirty="0"/>
              <a:t>）</a:t>
            </a:r>
            <a:r>
              <a:rPr lang="zh-CN" altLang="en-US" sz="1600" dirty="0"/>
              <a:t>吗</a:t>
            </a:r>
            <a:r>
              <a:rPr lang="en-US" altLang="zh-CN" sz="1600" dirty="0"/>
              <a:t>?</a:t>
            </a:r>
            <a:endParaRPr lang="en-US" altLang="zh-CN" sz="1600" dirty="0"/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1600" dirty="0"/>
              <a:t>（</a:t>
            </a:r>
            <a:r>
              <a:rPr lang="en-US" altLang="zh-CN" sz="1600" dirty="0"/>
              <a:t>5</a:t>
            </a:r>
            <a:r>
              <a:rPr lang="zh-CN" altLang="en-US" sz="1600" dirty="0"/>
              <a:t>）若相等或</a:t>
            </a:r>
            <a:r>
              <a:rPr lang="en-US" altLang="zh-CN" sz="1600" i="1" dirty="0"/>
              <a:t>X</a:t>
            </a:r>
            <a:r>
              <a:rPr lang="zh-CN" altLang="en-US" sz="1600" baseline="30000" dirty="0"/>
              <a:t>（</a:t>
            </a:r>
            <a:r>
              <a:rPr lang="en-US" altLang="zh-CN" sz="1600" baseline="30000" dirty="0" err="1"/>
              <a:t>i</a:t>
            </a:r>
            <a:r>
              <a:rPr lang="zh-CN" altLang="en-US" sz="1600" baseline="30000" dirty="0"/>
              <a:t>）</a:t>
            </a:r>
            <a:r>
              <a:rPr lang="en-US" altLang="zh-CN" sz="1600" dirty="0"/>
              <a:t>=</a:t>
            </a:r>
            <a:r>
              <a:rPr lang="en-US" altLang="zh-CN" sz="1600" i="1" dirty="0"/>
              <a:t>U , </a:t>
            </a:r>
            <a:r>
              <a:rPr lang="zh-CN" altLang="en-US" sz="1600" dirty="0"/>
              <a:t>则</a:t>
            </a:r>
            <a:r>
              <a:rPr lang="en-US" altLang="zh-CN" sz="1600" i="1" dirty="0"/>
              <a:t>X</a:t>
            </a:r>
            <a:r>
              <a:rPr lang="zh-CN" altLang="en-US" sz="1600" baseline="30000" dirty="0"/>
              <a:t>（</a:t>
            </a:r>
            <a:r>
              <a:rPr lang="en-US" altLang="zh-CN" sz="1600" baseline="30000" dirty="0" err="1"/>
              <a:t>i</a:t>
            </a:r>
            <a:r>
              <a:rPr lang="zh-CN" altLang="en-US" sz="1600" baseline="30000" dirty="0"/>
              <a:t>）</a:t>
            </a:r>
            <a:r>
              <a:rPr lang="zh-CN" altLang="en-US" sz="1600" dirty="0"/>
              <a:t>就是</a:t>
            </a:r>
            <a:r>
              <a:rPr lang="en-US" altLang="zh-CN" sz="1600" i="1" dirty="0"/>
              <a:t>X</a:t>
            </a:r>
            <a:r>
              <a:rPr lang="en-US" altLang="zh-CN" sz="1600" i="1" baseline="-25000" dirty="0"/>
              <a:t>F</a:t>
            </a:r>
            <a:r>
              <a:rPr lang="en-US" altLang="zh-CN" sz="1600" baseline="30000" dirty="0"/>
              <a:t>+</a:t>
            </a:r>
            <a:r>
              <a:rPr lang="en-US" altLang="zh-CN" sz="1600" dirty="0"/>
              <a:t> , </a:t>
            </a:r>
            <a:endParaRPr lang="en-US" altLang="zh-CN" sz="1600" dirty="0"/>
          </a:p>
          <a:p>
            <a:pPr eaLnBrk="1" hangingPunct="1">
              <a:buFont typeface="Monotype Sorts" pitchFamily="2" charset="2"/>
              <a:buNone/>
            </a:pPr>
            <a:r>
              <a:rPr lang="en-US" altLang="zh-CN" sz="1600" dirty="0"/>
              <a:t>          </a:t>
            </a:r>
            <a:r>
              <a:rPr lang="zh-CN" altLang="en-US" sz="1600" dirty="0"/>
              <a:t>算法终止。</a:t>
            </a:r>
            <a:endParaRPr lang="zh-CN" altLang="en-US" sz="1600" dirty="0"/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1600" dirty="0"/>
              <a:t>（</a:t>
            </a:r>
            <a:r>
              <a:rPr lang="en-US" altLang="zh-CN" sz="1600" dirty="0"/>
              <a:t>6</a:t>
            </a:r>
            <a:r>
              <a:rPr lang="zh-CN" altLang="en-US" sz="1600" dirty="0"/>
              <a:t>）若否，则</a:t>
            </a:r>
            <a:r>
              <a:rPr lang="en-US" altLang="zh-CN" sz="1600" i="1" dirty="0" err="1"/>
              <a:t>i</a:t>
            </a:r>
            <a:r>
              <a:rPr lang="en-US" altLang="zh-CN" sz="1600" i="1" dirty="0"/>
              <a:t> </a:t>
            </a:r>
            <a:r>
              <a:rPr lang="en-US" altLang="zh-CN" sz="1600" dirty="0"/>
              <a:t>=</a:t>
            </a:r>
            <a:r>
              <a:rPr lang="en-US" altLang="zh-CN" sz="1600" i="1" dirty="0" err="1"/>
              <a:t>i</a:t>
            </a:r>
            <a:r>
              <a:rPr lang="en-US" altLang="zh-CN" sz="1600" i="1" dirty="0"/>
              <a:t> </a:t>
            </a:r>
            <a:r>
              <a:rPr lang="en-US" altLang="zh-CN" sz="1600" dirty="0"/>
              <a:t>+l</a:t>
            </a:r>
            <a:r>
              <a:rPr lang="zh-CN" altLang="en-US" sz="1600" dirty="0"/>
              <a:t>，返回第（</a:t>
            </a:r>
            <a:r>
              <a:rPr lang="en-US" altLang="zh-CN" sz="1600" dirty="0"/>
              <a:t>2</a:t>
            </a:r>
            <a:r>
              <a:rPr lang="zh-CN" altLang="en-US" sz="1600" dirty="0"/>
              <a:t>）步。</a:t>
            </a:r>
            <a:endParaRPr lang="zh-CN" altLang="en-US" sz="1600" dirty="0"/>
          </a:p>
          <a:p>
            <a:pPr marL="485775" indent="-485775" eaLnBrk="1" hangingPunct="1">
              <a:lnSpc>
                <a:spcPct val="90000"/>
              </a:lnSpc>
              <a:buFont typeface="Monotype Sorts" pitchFamily="2" charset="2"/>
              <a:buNone/>
            </a:pPr>
            <a:endParaRPr lang="zh-CN" altLang="en-US" sz="1600" dirty="0"/>
          </a:p>
          <a:p>
            <a:pPr marL="485775" indent="-485775" eaLnBrk="1" hangingPunct="1">
              <a:lnSpc>
                <a:spcPct val="90000"/>
              </a:lnSpc>
              <a:buFont typeface="Monotype Sorts" pitchFamily="2" charset="2"/>
              <a:buNone/>
            </a:pPr>
            <a:endParaRPr lang="en-US" altLang="zh-CN" sz="1600" dirty="0"/>
          </a:p>
        </p:txBody>
      </p:sp>
      <p:sp>
        <p:nvSpPr>
          <p:cNvPr id="553989" name="AutoShape 5"/>
          <p:cNvSpPr>
            <a:spLocks noChangeArrowheads="1"/>
          </p:cNvSpPr>
          <p:nvPr/>
        </p:nvSpPr>
        <p:spPr bwMode="auto">
          <a:xfrm>
            <a:off x="6715140" y="928676"/>
            <a:ext cx="1439863" cy="917972"/>
          </a:xfrm>
          <a:prstGeom prst="star16">
            <a:avLst>
              <a:gd name="adj" fmla="val 37500"/>
            </a:avLst>
          </a:prstGeom>
          <a:solidFill>
            <a:srgbClr val="EEE678"/>
          </a:solidFill>
          <a:ln w="28575">
            <a:solidFill>
              <a:schemeClr val="tx1"/>
            </a:solidFill>
            <a:miter lim="800000"/>
          </a:ln>
        </p:spPr>
        <p:txBody>
          <a:bodyPr wrap="none" lIns="90000" tIns="46800" rIns="90000" bIns="46800" anchor="ctr"/>
          <a:lstStyle>
            <a:lvl1pPr algn="l" eaLnBrk="0" hangingPunct="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l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/>
              <a:t>迭代</a:t>
            </a:r>
            <a:endParaRPr lang="zh-CN" altLang="en-US" dirty="0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2214546" y="1653778"/>
            <a:ext cx="4248150" cy="560782"/>
          </a:xfrm>
          <a:prstGeom prst="wedgeRoundRectCallout">
            <a:avLst>
              <a:gd name="adj1" fmla="val -46486"/>
              <a:gd name="adj2" fmla="val 96764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0000" tIns="46800" rIns="90000" bIns="46800" anchor="ctr"/>
          <a:lstStyle>
            <a:lvl1pPr algn="l" eaLnBrk="0" hangingPunct="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l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对</a:t>
            </a:r>
            <a:r>
              <a:rPr lang="en-US" altLang="zh-CN" sz="1600" i="1" dirty="0"/>
              <a:t>X</a:t>
            </a:r>
            <a:r>
              <a:rPr lang="en-US" altLang="zh-CN" sz="1600" i="1" baseline="60000" dirty="0"/>
              <a:t>(</a:t>
            </a:r>
            <a:r>
              <a:rPr lang="en-US" altLang="zh-CN" sz="1600" baseline="60000" dirty="0" err="1"/>
              <a:t>i</a:t>
            </a:r>
            <a:r>
              <a:rPr lang="en-US" altLang="zh-CN" sz="1600" baseline="60000" dirty="0"/>
              <a:t>)</a:t>
            </a:r>
            <a:r>
              <a:rPr lang="zh-CN" altLang="en-US" sz="1800" dirty="0"/>
              <a:t>中的每个元素，依次检查相应的函数依赖</a:t>
            </a:r>
            <a:r>
              <a:rPr lang="en-US" altLang="zh-CN" sz="1800" dirty="0"/>
              <a:t>,</a:t>
            </a:r>
            <a:r>
              <a:rPr lang="zh-CN" altLang="en-US" sz="1800" dirty="0"/>
              <a:t>将依赖它的属性加入</a:t>
            </a:r>
            <a:r>
              <a:rPr lang="en-US" altLang="zh-CN" sz="1800" dirty="0"/>
              <a:t>B </a:t>
            </a:r>
            <a:endParaRPr lang="en-US" altLang="zh-CN" sz="18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829148" y="3464725"/>
            <a:ext cx="3857652" cy="107156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对于算法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6.l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 令</a:t>
            </a:r>
            <a:r>
              <a:rPr kumimoji="0" lang="en-US" altLang="zh-CN" sz="1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1400" b="1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=|</a:t>
            </a:r>
            <a:r>
              <a:rPr kumimoji="0" lang="en-US" altLang="zh-CN" sz="1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en-US" sz="14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1400" b="1" i="0" u="none" strike="noStrike" kern="0" cap="none" spc="0" normalizeH="0" baseline="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en-US" sz="14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14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1400" b="1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形成一个步长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大于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的严格递增的序列，序列的上界是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</a:t>
            </a:r>
            <a:r>
              <a:rPr kumimoji="0" lang="en-US" altLang="zh-CN" sz="1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因此该算法最多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en-US" altLang="zh-CN" sz="1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- </a:t>
            </a:r>
            <a:r>
              <a:rPr kumimoji="0" lang="en-US" altLang="zh-CN" sz="1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|X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次循环就会终止。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89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</a:t>
            </a:r>
            <a:r>
              <a:rPr lang="zh-CN" altLang="en-US" dirty="0"/>
              <a:t>函数依赖闭包 </a:t>
            </a:r>
            <a:endParaRPr lang="zh-CN" altLang="en-US" dirty="0"/>
          </a:p>
        </p:txBody>
      </p:sp>
      <p:sp>
        <p:nvSpPr>
          <p:cNvPr id="145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/>
              <a:t>[</a:t>
            </a:r>
            <a:r>
              <a:rPr lang="zh-CN" altLang="en-US" sz="2800"/>
              <a:t>例</a:t>
            </a:r>
            <a:r>
              <a:rPr lang="en-US" altLang="zh-CN" sz="2800"/>
              <a:t>1]  </a:t>
            </a:r>
            <a:r>
              <a:rPr lang="zh-CN" altLang="en-US" sz="2800"/>
              <a:t>已知关系模式</a:t>
            </a:r>
            <a:r>
              <a:rPr lang="en-US" altLang="zh-CN" sz="2800" i="1"/>
              <a:t>R</a:t>
            </a:r>
            <a:r>
              <a:rPr lang="en-US" altLang="zh-CN" sz="2800"/>
              <a:t>&lt;</a:t>
            </a:r>
            <a:r>
              <a:rPr lang="en-US" altLang="zh-CN" sz="2800" i="1"/>
              <a:t>U</a:t>
            </a:r>
            <a:r>
              <a:rPr lang="zh-CN" altLang="en-US" sz="2800"/>
              <a:t>，</a:t>
            </a:r>
            <a:r>
              <a:rPr lang="en-US" altLang="zh-CN" sz="2800" i="1"/>
              <a:t>F</a:t>
            </a:r>
            <a:r>
              <a:rPr lang="en-US" altLang="zh-CN" sz="2800"/>
              <a:t>&gt;</a:t>
            </a:r>
            <a:r>
              <a:rPr lang="zh-CN" altLang="en-US" sz="2800"/>
              <a:t>，其中</a:t>
            </a:r>
            <a:endParaRPr lang="zh-CN" altLang="en-US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i="1"/>
              <a:t>U</a:t>
            </a:r>
            <a:r>
              <a:rPr lang="en-US" altLang="zh-CN"/>
              <a:t>={</a:t>
            </a:r>
            <a:r>
              <a:rPr lang="en-US" altLang="zh-CN" i="1"/>
              <a:t>A</a:t>
            </a:r>
            <a:r>
              <a:rPr lang="zh-CN" altLang="en-US" i="1"/>
              <a:t>，</a:t>
            </a:r>
            <a:r>
              <a:rPr lang="en-US" altLang="zh-CN" i="1"/>
              <a:t>B</a:t>
            </a:r>
            <a:r>
              <a:rPr lang="zh-CN" altLang="en-US" i="1"/>
              <a:t>，</a:t>
            </a:r>
            <a:r>
              <a:rPr lang="en-US" altLang="zh-CN" i="1"/>
              <a:t>C</a:t>
            </a:r>
            <a:r>
              <a:rPr lang="zh-CN" altLang="en-US" i="1"/>
              <a:t>，</a:t>
            </a:r>
            <a:r>
              <a:rPr lang="en-US" altLang="zh-CN" i="1"/>
              <a:t>D</a:t>
            </a:r>
            <a:r>
              <a:rPr lang="zh-CN" altLang="en-US" i="1"/>
              <a:t>，</a:t>
            </a:r>
            <a:r>
              <a:rPr lang="en-US" altLang="zh-CN" i="1"/>
              <a:t>E</a:t>
            </a:r>
            <a:r>
              <a:rPr lang="en-US" altLang="zh-CN"/>
              <a:t>}</a:t>
            </a:r>
            <a:r>
              <a:rPr lang="zh-CN" altLang="en-US"/>
              <a:t>；</a:t>
            </a:r>
            <a:endParaRPr lang="zh-CN" altLang="en-US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i="1"/>
              <a:t>F</a:t>
            </a:r>
            <a:r>
              <a:rPr lang="en-US" altLang="zh-CN"/>
              <a:t>={</a:t>
            </a:r>
            <a:r>
              <a:rPr lang="en-US" altLang="zh-CN" i="1"/>
              <a:t>AB</a:t>
            </a:r>
            <a:r>
              <a:rPr lang="en-US" altLang="zh-CN"/>
              <a:t>→</a:t>
            </a:r>
            <a:r>
              <a:rPr lang="en-US" altLang="zh-CN" i="1"/>
              <a:t>C</a:t>
            </a:r>
            <a:r>
              <a:rPr lang="zh-CN" altLang="en-US"/>
              <a:t>，</a:t>
            </a:r>
            <a:r>
              <a:rPr lang="en-US" altLang="zh-CN" i="1"/>
              <a:t>B</a:t>
            </a:r>
            <a:r>
              <a:rPr lang="en-US" altLang="zh-CN"/>
              <a:t>→</a:t>
            </a:r>
            <a:r>
              <a:rPr lang="en-US" altLang="zh-CN" i="1"/>
              <a:t>D</a:t>
            </a:r>
            <a:r>
              <a:rPr lang="zh-CN" altLang="en-US"/>
              <a:t>，</a:t>
            </a:r>
            <a:r>
              <a:rPr lang="en-US" altLang="zh-CN" i="1"/>
              <a:t>C</a:t>
            </a:r>
            <a:r>
              <a:rPr lang="en-US" altLang="zh-CN"/>
              <a:t>→</a:t>
            </a:r>
            <a:r>
              <a:rPr lang="en-US" altLang="zh-CN" i="1"/>
              <a:t>E</a:t>
            </a:r>
            <a:r>
              <a:rPr lang="zh-CN" altLang="en-US"/>
              <a:t>，</a:t>
            </a:r>
            <a:r>
              <a:rPr lang="en-US" altLang="zh-CN" i="1"/>
              <a:t>EC</a:t>
            </a:r>
            <a:r>
              <a:rPr lang="en-US" altLang="zh-CN"/>
              <a:t>→</a:t>
            </a:r>
            <a:r>
              <a:rPr lang="en-US" altLang="zh-CN" i="1"/>
              <a:t>B</a:t>
            </a:r>
            <a:r>
              <a:rPr lang="zh-CN" altLang="en-US"/>
              <a:t>，</a:t>
            </a:r>
            <a:r>
              <a:rPr lang="en-US" altLang="zh-CN" i="1"/>
              <a:t>AC</a:t>
            </a:r>
            <a:r>
              <a:rPr lang="en-US" altLang="zh-CN"/>
              <a:t>→</a:t>
            </a:r>
            <a:r>
              <a:rPr lang="en-US" altLang="zh-CN" i="1"/>
              <a:t>B</a:t>
            </a:r>
            <a:r>
              <a:rPr lang="en-US" altLang="zh-CN"/>
              <a:t>}</a:t>
            </a:r>
            <a:r>
              <a:rPr lang="zh-CN" altLang="en-US"/>
              <a:t>。</a:t>
            </a:r>
            <a:endParaRPr lang="zh-CN" altLang="en-US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求（</a:t>
            </a:r>
            <a:r>
              <a:rPr lang="en-US" altLang="zh-CN" i="1"/>
              <a:t>AB</a:t>
            </a:r>
            <a:r>
              <a:rPr lang="zh-CN" altLang="en-US"/>
              <a:t>）</a:t>
            </a:r>
            <a:r>
              <a:rPr lang="en-US" altLang="zh-CN" i="1" baseline="-25000"/>
              <a:t>F</a:t>
            </a:r>
            <a:r>
              <a:rPr lang="en-US" altLang="zh-CN" i="1" baseline="30000"/>
              <a:t>+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lnSpc>
                <a:spcPct val="110000"/>
              </a:lnSpc>
              <a:spcBef>
                <a:spcPct val="60000"/>
              </a:spcBef>
              <a:buFont typeface="Monotype Sorts" pitchFamily="2" charset="2"/>
              <a:buNone/>
            </a:pPr>
            <a:r>
              <a:rPr lang="zh-CN" altLang="en-US" sz="2800"/>
              <a:t>解  设</a:t>
            </a:r>
            <a:r>
              <a:rPr lang="en-US" altLang="zh-CN" sz="2800" i="1"/>
              <a:t>X</a:t>
            </a:r>
            <a:r>
              <a:rPr lang="zh-CN" altLang="en-US" sz="2800" i="1" baseline="30000"/>
              <a:t>（</a:t>
            </a:r>
            <a:r>
              <a:rPr lang="en-US" altLang="zh-CN" sz="2800" i="1" baseline="30000"/>
              <a:t>0</a:t>
            </a:r>
            <a:r>
              <a:rPr lang="zh-CN" altLang="en-US" sz="2800" i="1" baseline="30000"/>
              <a:t>）</a:t>
            </a:r>
            <a:r>
              <a:rPr lang="en-US" altLang="zh-CN" sz="2800"/>
              <a:t>=</a:t>
            </a:r>
            <a:r>
              <a:rPr lang="en-US" altLang="zh-CN" sz="2800" i="1"/>
              <a:t>AB</a:t>
            </a:r>
            <a:r>
              <a:rPr lang="zh-CN" altLang="en-US" sz="2800"/>
              <a:t>；</a:t>
            </a:r>
            <a:endParaRPr lang="zh-CN" altLang="en-US"/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zh-CN"/>
              <a:t>(1)</a:t>
            </a:r>
            <a:r>
              <a:rPr lang="zh-CN" altLang="en-US"/>
              <a:t>计算</a:t>
            </a:r>
            <a:r>
              <a:rPr lang="en-US" altLang="zh-CN" i="1"/>
              <a:t>X</a:t>
            </a:r>
            <a:r>
              <a:rPr lang="zh-CN" altLang="en-US" i="1" baseline="30000"/>
              <a:t>（</a:t>
            </a:r>
            <a:r>
              <a:rPr lang="en-US" altLang="zh-CN" i="1" baseline="30000"/>
              <a:t>1</a:t>
            </a:r>
            <a:r>
              <a:rPr lang="zh-CN" altLang="en-US" i="1" baseline="30000"/>
              <a:t>）</a:t>
            </a:r>
            <a:r>
              <a:rPr lang="en-US" altLang="zh-CN"/>
              <a:t>: </a:t>
            </a:r>
            <a:r>
              <a:rPr lang="zh-CN" altLang="en-US"/>
              <a:t>逐一的扫描</a:t>
            </a:r>
            <a:r>
              <a:rPr lang="en-US" altLang="zh-CN" i="1"/>
              <a:t>F</a:t>
            </a:r>
            <a:r>
              <a:rPr lang="zh-CN" altLang="en-US"/>
              <a:t>集合中各个函数依赖，找左部为</a:t>
            </a:r>
            <a:r>
              <a:rPr lang="en-US" altLang="zh-CN" i="1"/>
              <a:t>A</a:t>
            </a:r>
            <a:r>
              <a:rPr lang="zh-CN" altLang="en-US"/>
              <a:t>，</a:t>
            </a:r>
            <a:r>
              <a:rPr lang="en-US" altLang="zh-CN" i="1"/>
              <a:t>B</a:t>
            </a:r>
            <a:r>
              <a:rPr lang="zh-CN" altLang="en-US"/>
              <a:t>或</a:t>
            </a:r>
            <a:r>
              <a:rPr lang="en-US" altLang="zh-CN" i="1"/>
              <a:t>AB</a:t>
            </a:r>
            <a:r>
              <a:rPr lang="zh-CN" altLang="en-US"/>
              <a:t>的函数依赖。得到两个：</a:t>
            </a:r>
            <a:r>
              <a:rPr lang="en-US" altLang="zh-CN" i="1"/>
              <a:t>AB</a:t>
            </a:r>
            <a:r>
              <a:rPr lang="en-US" altLang="zh-CN"/>
              <a:t>→</a:t>
            </a:r>
            <a:r>
              <a:rPr lang="en-US" altLang="zh-CN" i="1"/>
              <a:t>C</a:t>
            </a:r>
            <a:r>
              <a:rPr lang="zh-CN" altLang="en-US"/>
              <a:t>，</a:t>
            </a:r>
            <a:r>
              <a:rPr lang="en-US" altLang="zh-CN" i="1"/>
              <a:t>B</a:t>
            </a:r>
            <a:r>
              <a:rPr lang="en-US" altLang="zh-CN"/>
              <a:t>→</a:t>
            </a:r>
            <a:r>
              <a:rPr lang="en-US" altLang="zh-CN" i="1"/>
              <a:t>D</a:t>
            </a:r>
            <a:r>
              <a:rPr lang="zh-CN" altLang="en-US"/>
              <a:t>。</a:t>
            </a:r>
            <a:endParaRPr lang="zh-CN" altLang="en-US"/>
          </a:p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zh-CN" altLang="en-US"/>
              <a:t>   于是</a:t>
            </a:r>
            <a:r>
              <a:rPr lang="en-US" altLang="zh-CN" i="1"/>
              <a:t>X</a:t>
            </a:r>
            <a:r>
              <a:rPr lang="zh-CN" altLang="en-US" i="1" baseline="30000"/>
              <a:t>（</a:t>
            </a:r>
            <a:r>
              <a:rPr lang="en-US" altLang="zh-CN" i="1" baseline="30000"/>
              <a:t>1</a:t>
            </a:r>
            <a:r>
              <a:rPr lang="zh-CN" altLang="en-US" i="1" baseline="30000"/>
              <a:t>）</a:t>
            </a:r>
            <a:r>
              <a:rPr lang="en-US" altLang="zh-CN"/>
              <a:t>=</a:t>
            </a:r>
            <a:r>
              <a:rPr lang="en-US" altLang="zh-CN" i="1"/>
              <a:t>AB</a:t>
            </a:r>
            <a:r>
              <a:rPr lang="en-US" altLang="zh-CN"/>
              <a:t>∪</a:t>
            </a:r>
            <a:r>
              <a:rPr lang="en-US" altLang="zh-CN" i="1"/>
              <a:t>CD</a:t>
            </a:r>
            <a:r>
              <a:rPr lang="en-US" altLang="zh-CN"/>
              <a:t>=</a:t>
            </a:r>
            <a:r>
              <a:rPr lang="en-US" altLang="zh-CN" i="1"/>
              <a:t>ABCD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3.</a:t>
            </a:r>
            <a:r>
              <a:rPr lang="zh-CN" altLang="en-US" dirty="0"/>
              <a:t>函数依赖闭包</a:t>
            </a:r>
            <a:endParaRPr lang="zh-CN" altLang="en-US" dirty="0"/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>
          <a:xfrm>
            <a:off x="285720" y="854766"/>
            <a:ext cx="8401080" cy="394923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buFont typeface="Monotype Sorts" pitchFamily="2" charset="2"/>
              <a:buNone/>
            </a:pPr>
            <a:r>
              <a:rPr lang="en-US" altLang="zh-CN" sz="2800" dirty="0"/>
              <a:t>(2)</a:t>
            </a:r>
            <a:r>
              <a:rPr lang="zh-CN" altLang="en-US" sz="2800" dirty="0"/>
              <a:t>因为</a:t>
            </a:r>
            <a:r>
              <a:rPr lang="en-US" altLang="zh-CN" sz="2800" dirty="0"/>
              <a:t>X</a:t>
            </a:r>
            <a:r>
              <a:rPr lang="zh-CN" altLang="en-US" sz="2800" i="1" baseline="30000" dirty="0"/>
              <a:t>（</a:t>
            </a:r>
            <a:r>
              <a:rPr lang="en-US" altLang="zh-CN" sz="2800" i="1" baseline="30000" dirty="0"/>
              <a:t>0</a:t>
            </a:r>
            <a:r>
              <a:rPr lang="zh-CN" altLang="en-US" sz="2800" i="1" baseline="30000" dirty="0"/>
              <a:t>）</a:t>
            </a:r>
            <a:r>
              <a:rPr lang="zh-CN" altLang="en-US" sz="2800" dirty="0"/>
              <a:t>≠ </a:t>
            </a:r>
            <a:r>
              <a:rPr lang="en-US" altLang="zh-CN" sz="2800" i="1" dirty="0"/>
              <a:t>X</a:t>
            </a:r>
            <a:r>
              <a:rPr lang="zh-CN" altLang="en-US" sz="2800" i="1" baseline="30000" dirty="0"/>
              <a:t>（</a:t>
            </a:r>
            <a:r>
              <a:rPr lang="en-US" altLang="zh-CN" sz="2800" i="1" baseline="30000" dirty="0"/>
              <a:t>1</a:t>
            </a:r>
            <a:r>
              <a:rPr lang="zh-CN" altLang="en-US" sz="2800" i="1" baseline="30000" dirty="0"/>
              <a:t>）</a:t>
            </a:r>
            <a:r>
              <a:rPr lang="zh-CN" altLang="en-US" sz="2800" dirty="0"/>
              <a:t> ，所以再找出左部为</a:t>
            </a:r>
            <a:r>
              <a:rPr lang="en-US" altLang="zh-CN" sz="2800" i="1" dirty="0"/>
              <a:t>ABCD</a:t>
            </a:r>
            <a:r>
              <a:rPr lang="zh-CN" altLang="en-US" sz="2800" dirty="0"/>
              <a:t>子集的那些函数依赖，又得到</a:t>
            </a:r>
            <a:r>
              <a:rPr lang="en-US" altLang="zh-CN" sz="2800" i="1" dirty="0"/>
              <a:t>AB</a:t>
            </a:r>
            <a:r>
              <a:rPr lang="en-US" altLang="zh-CN" sz="2800" dirty="0"/>
              <a:t>→</a:t>
            </a:r>
            <a:r>
              <a:rPr lang="en-US" altLang="zh-CN" sz="2800" i="1" dirty="0"/>
              <a:t>C</a:t>
            </a:r>
            <a:r>
              <a:rPr lang="zh-CN" altLang="en-US" sz="2800" dirty="0"/>
              <a:t>，</a:t>
            </a:r>
            <a:r>
              <a:rPr lang="en-US" altLang="zh-CN" sz="2800" i="1" dirty="0"/>
              <a:t>B</a:t>
            </a:r>
            <a:r>
              <a:rPr lang="en-US" altLang="zh-CN" sz="2800" dirty="0"/>
              <a:t>→</a:t>
            </a:r>
            <a:r>
              <a:rPr lang="en-US" altLang="zh-CN" sz="2800" i="1" dirty="0"/>
              <a:t>D</a:t>
            </a:r>
            <a:r>
              <a:rPr lang="zh-CN" altLang="en-US" sz="2800" dirty="0"/>
              <a:t>， </a:t>
            </a:r>
            <a:r>
              <a:rPr lang="en-US" altLang="zh-CN" sz="2800" i="1" dirty="0"/>
              <a:t>C</a:t>
            </a:r>
            <a:r>
              <a:rPr lang="en-US" altLang="zh-CN" sz="2800" dirty="0"/>
              <a:t>→</a:t>
            </a:r>
            <a:r>
              <a:rPr lang="en-US" altLang="zh-CN" sz="2800" i="1" dirty="0"/>
              <a:t>E</a:t>
            </a:r>
            <a:r>
              <a:rPr lang="zh-CN" altLang="en-US" sz="2800" dirty="0"/>
              <a:t>，</a:t>
            </a:r>
            <a:r>
              <a:rPr lang="en-US" altLang="zh-CN" sz="2800" i="1" dirty="0"/>
              <a:t>AC</a:t>
            </a:r>
            <a:r>
              <a:rPr lang="en-US" altLang="zh-CN" sz="2800" dirty="0"/>
              <a:t>→</a:t>
            </a:r>
            <a:r>
              <a:rPr lang="en-US" altLang="zh-CN" sz="2800" i="1" dirty="0"/>
              <a:t>B</a:t>
            </a:r>
            <a:r>
              <a:rPr lang="zh-CN" altLang="en-US" sz="2800" dirty="0" smtClean="0"/>
              <a:t>，</a:t>
            </a:r>
            <a:endParaRPr lang="en-US" altLang="zh-CN" sz="2800" dirty="0" smtClean="0"/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Monotype Sorts" pitchFamily="2" charset="2"/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  <a:r>
              <a:rPr lang="zh-CN" altLang="en-US" sz="2800" dirty="0" smtClean="0"/>
              <a:t>于是</a:t>
            </a:r>
            <a:r>
              <a:rPr lang="en-US" altLang="zh-CN" sz="2800" i="1" dirty="0"/>
              <a:t>X</a:t>
            </a:r>
            <a:r>
              <a:rPr lang="zh-CN" altLang="en-US" sz="2800" i="1" baseline="30000" dirty="0"/>
              <a:t>（</a:t>
            </a:r>
            <a:r>
              <a:rPr lang="en-US" altLang="zh-CN" sz="2800" i="1" baseline="30000" dirty="0"/>
              <a:t>2</a:t>
            </a:r>
            <a:r>
              <a:rPr lang="zh-CN" altLang="en-US" sz="2800" i="1" baseline="30000" dirty="0"/>
              <a:t>）</a:t>
            </a:r>
            <a:r>
              <a:rPr lang="en-US" altLang="zh-CN" sz="2800" dirty="0"/>
              <a:t>=</a:t>
            </a:r>
            <a:r>
              <a:rPr lang="en-US" altLang="zh-CN" sz="2800" i="1" dirty="0"/>
              <a:t>X</a:t>
            </a:r>
            <a:r>
              <a:rPr lang="zh-CN" altLang="en-US" sz="2800" i="1" baseline="30000" dirty="0"/>
              <a:t>（</a:t>
            </a:r>
            <a:r>
              <a:rPr lang="en-US" altLang="zh-CN" sz="2800" i="1" baseline="30000" dirty="0"/>
              <a:t>1</a:t>
            </a:r>
            <a:r>
              <a:rPr lang="zh-CN" altLang="en-US" sz="2800" i="1" baseline="30000" dirty="0"/>
              <a:t>）</a:t>
            </a:r>
            <a:r>
              <a:rPr lang="zh-CN" altLang="en-US" sz="2800" dirty="0"/>
              <a:t>∪</a:t>
            </a:r>
            <a:r>
              <a:rPr lang="en-US" altLang="zh-CN" sz="2800" i="1" dirty="0"/>
              <a:t>BCDE</a:t>
            </a:r>
            <a:r>
              <a:rPr lang="en-US" altLang="zh-CN" sz="2800" dirty="0"/>
              <a:t>=</a:t>
            </a:r>
            <a:r>
              <a:rPr lang="en-US" altLang="zh-CN" sz="2800" i="1" dirty="0"/>
              <a:t>ABCDE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Monotype Sorts" pitchFamily="2" charset="2"/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因为</a:t>
            </a:r>
            <a:r>
              <a:rPr lang="en-US" altLang="zh-CN" sz="2800" i="1" dirty="0"/>
              <a:t>X</a:t>
            </a:r>
            <a:r>
              <a:rPr lang="zh-CN" altLang="en-US" sz="2800" i="1" baseline="30000" dirty="0"/>
              <a:t>（</a:t>
            </a:r>
            <a:r>
              <a:rPr lang="en-US" altLang="zh-CN" sz="2800" i="1" baseline="30000" dirty="0"/>
              <a:t>2</a:t>
            </a:r>
            <a:r>
              <a:rPr lang="zh-CN" altLang="en-US" sz="2800" i="1" baseline="30000" dirty="0"/>
              <a:t>）</a:t>
            </a:r>
            <a:r>
              <a:rPr lang="en-US" altLang="zh-CN" sz="2800" dirty="0"/>
              <a:t>=</a:t>
            </a:r>
            <a:r>
              <a:rPr lang="en-US" altLang="zh-CN" sz="2800" i="1" dirty="0"/>
              <a:t>U</a:t>
            </a:r>
            <a:r>
              <a:rPr lang="zh-CN" altLang="en-US" sz="2800" dirty="0"/>
              <a:t>，算法终止</a:t>
            </a:r>
            <a:endParaRPr lang="zh-CN" altLang="en-US" sz="2800" dirty="0"/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Monotype Sorts" pitchFamily="2" charset="2"/>
              <a:buNone/>
            </a:pPr>
            <a:r>
              <a:rPr lang="zh-CN" altLang="en-US" sz="2800" dirty="0"/>
              <a:t>所以（</a:t>
            </a:r>
            <a:r>
              <a:rPr lang="en-US" altLang="zh-CN" sz="2800" i="1" dirty="0"/>
              <a:t>AB</a:t>
            </a:r>
            <a:r>
              <a:rPr lang="zh-CN" altLang="en-US" sz="2800" dirty="0"/>
              <a:t>）</a:t>
            </a:r>
            <a:r>
              <a:rPr lang="en-US" altLang="zh-CN" sz="2800" i="1" baseline="-25000" dirty="0"/>
              <a:t>F</a:t>
            </a:r>
            <a:r>
              <a:rPr lang="en-US" altLang="zh-CN" sz="2800" i="1" baseline="30000" dirty="0"/>
              <a:t>+</a:t>
            </a:r>
            <a:r>
              <a:rPr lang="en-US" altLang="zh-CN" sz="2800" dirty="0"/>
              <a:t> =</a:t>
            </a:r>
            <a:r>
              <a:rPr lang="en-US" altLang="zh-CN" sz="2800" i="1" dirty="0"/>
              <a:t>ABCDE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>
              <a:lnSpc>
                <a:spcPct val="120000"/>
              </a:lnSpc>
              <a:buFont typeface="Monotype Sorts" pitchFamily="2" charset="2"/>
              <a:buNone/>
            </a:pPr>
            <a:endParaRPr lang="en-US" altLang="zh-CN" sz="2800" dirty="0"/>
          </a:p>
        </p:txBody>
      </p:sp>
    </p:spTree>
  </p:cSld>
  <p:clrMapOvr>
    <a:masterClrMapping/>
  </p:clrMapOvr>
  <p:transition spd="slow"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i="1"/>
              <a:t>X</a:t>
            </a:r>
            <a:r>
              <a:rPr lang="en-US" altLang="zh-CN" i="1" baseline="-25000"/>
              <a:t>F</a:t>
            </a:r>
            <a:r>
              <a:rPr lang="en-US" altLang="zh-CN" baseline="30000"/>
              <a:t>+ </a:t>
            </a:r>
            <a:r>
              <a:rPr lang="zh-CN" altLang="en-US"/>
              <a:t>的用处：证明</a:t>
            </a:r>
            <a:r>
              <a:rPr lang="en-US" altLang="zh-CN"/>
              <a:t>Armstrong</a:t>
            </a:r>
            <a:r>
              <a:rPr lang="zh-CN" altLang="en-US"/>
              <a:t>公理</a:t>
            </a: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612140" y="915670"/>
            <a:ext cx="7901305" cy="273113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zh-CN" altLang="en-US" sz="1800">
                <a:solidFill>
                  <a:srgbClr val="FF0000"/>
                </a:solidFill>
              </a:rPr>
              <a:t>引理</a:t>
            </a:r>
            <a:r>
              <a:rPr lang="en-US" altLang="zh-CN" sz="1800">
                <a:solidFill>
                  <a:srgbClr val="FF0000"/>
                </a:solidFill>
              </a:rPr>
              <a:t>6.2  </a:t>
            </a:r>
            <a:r>
              <a:rPr lang="zh-CN" altLang="en-US" sz="1800"/>
              <a:t>设</a:t>
            </a:r>
            <a:r>
              <a:rPr lang="en-US" altLang="zh-CN" sz="1800" i="1"/>
              <a:t>F</a:t>
            </a:r>
            <a:r>
              <a:rPr lang="zh-CN" altLang="en-US" sz="1800"/>
              <a:t>为属性集</a:t>
            </a:r>
            <a:r>
              <a:rPr lang="en-US" altLang="zh-CN" sz="1800" i="1"/>
              <a:t>U</a:t>
            </a:r>
            <a:r>
              <a:rPr lang="zh-CN" altLang="en-US" sz="1800"/>
              <a:t>上的一组函数依赖，</a:t>
            </a:r>
            <a:r>
              <a:rPr lang="en-US" altLang="zh-CN" sz="1800" i="1"/>
              <a:t>X</a:t>
            </a:r>
            <a:r>
              <a:rPr lang="zh-CN" altLang="en-US" sz="1800"/>
              <a:t>，</a:t>
            </a:r>
            <a:r>
              <a:rPr lang="en-US" altLang="zh-CN" sz="1800" i="1"/>
              <a:t>Y</a:t>
            </a:r>
            <a:r>
              <a:rPr lang="en-US" altLang="zh-CN" sz="1800"/>
              <a:t> </a:t>
            </a:r>
            <a:r>
              <a:rPr lang="en-US" altLang="zh-CN" sz="1800">
                <a:sym typeface="Symbol" panose="05050102010706020507" pitchFamily="18" charset="2"/>
              </a:rPr>
              <a:t></a:t>
            </a:r>
            <a:r>
              <a:rPr lang="en-US" altLang="zh-CN" sz="1800"/>
              <a:t> </a:t>
            </a:r>
            <a:r>
              <a:rPr lang="en-US" altLang="zh-CN" sz="1800" i="1"/>
              <a:t>U</a:t>
            </a:r>
            <a:r>
              <a:rPr lang="zh-CN" altLang="en-US" sz="1800"/>
              <a:t>，</a:t>
            </a:r>
            <a:endParaRPr lang="en-US" altLang="zh-CN" sz="1800"/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CN" sz="1800" i="1"/>
              <a:t>      X</a:t>
            </a:r>
            <a:r>
              <a:rPr lang="en-US" altLang="zh-CN" sz="1800"/>
              <a:t>→</a:t>
            </a:r>
            <a:r>
              <a:rPr lang="en-US" altLang="zh-CN" sz="1800" i="1"/>
              <a:t>Y</a:t>
            </a:r>
            <a:r>
              <a:rPr lang="zh-CN" altLang="en-US" sz="1800"/>
              <a:t>能由</a:t>
            </a:r>
            <a:r>
              <a:rPr lang="en-US" altLang="zh-CN" sz="1800" i="1"/>
              <a:t>F</a:t>
            </a:r>
            <a:r>
              <a:rPr lang="zh-CN" altLang="en-US" sz="1800"/>
              <a:t>根据</a:t>
            </a:r>
            <a:r>
              <a:rPr lang="en-US" altLang="zh-CN" sz="1800"/>
              <a:t>Armstrong</a:t>
            </a:r>
            <a:r>
              <a:rPr lang="zh-CN" altLang="en-US" sz="1800"/>
              <a:t>公理导出的充分必要条件是</a:t>
            </a:r>
            <a:r>
              <a:rPr lang="en-US" altLang="zh-CN" sz="1800" i="1"/>
              <a:t>Y</a:t>
            </a:r>
            <a:r>
              <a:rPr lang="en-US" altLang="zh-CN" sz="1800"/>
              <a:t> </a:t>
            </a:r>
            <a:r>
              <a:rPr lang="en-US" altLang="zh-CN" sz="1800">
                <a:sym typeface="Symbol" panose="05050102010706020507" pitchFamily="18" charset="2"/>
              </a:rPr>
              <a:t></a:t>
            </a:r>
            <a:r>
              <a:rPr lang="en-US" altLang="zh-CN" sz="1800" i="1"/>
              <a:t>X</a:t>
            </a:r>
            <a:r>
              <a:rPr lang="en-US" altLang="zh-CN" sz="1800" i="1" baseline="-25000"/>
              <a:t>F</a:t>
            </a:r>
            <a:r>
              <a:rPr lang="en-US" altLang="zh-CN" sz="1800" baseline="30000"/>
              <a:t>+</a:t>
            </a:r>
            <a:r>
              <a:rPr lang="zh-CN" altLang="en-US" sz="1800"/>
              <a:t>。</a:t>
            </a:r>
            <a:endParaRPr lang="zh-CN" altLang="en-US" sz="1800"/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zh-CN" altLang="en-US" sz="1800"/>
          </a:p>
          <a:p>
            <a:pPr eaLnBrk="1" hangingPunct="1">
              <a:lnSpc>
                <a:spcPct val="90000"/>
              </a:lnSpc>
            </a:pPr>
            <a:r>
              <a:rPr lang="zh-CN" altLang="en-US" sz="1800">
                <a:solidFill>
                  <a:srgbClr val="FF0000"/>
                </a:solidFill>
              </a:rPr>
              <a:t>引理</a:t>
            </a:r>
            <a:r>
              <a:rPr lang="en-US" altLang="zh-CN" sz="1800">
                <a:solidFill>
                  <a:srgbClr val="FF0000"/>
                </a:solidFill>
              </a:rPr>
              <a:t>6.2</a:t>
            </a:r>
            <a:r>
              <a:rPr lang="zh-CN" altLang="en-US" sz="1800">
                <a:solidFill>
                  <a:srgbClr val="FF0000"/>
                </a:solidFill>
              </a:rPr>
              <a:t>的用途</a:t>
            </a:r>
            <a:endParaRPr lang="zh-CN" altLang="en-US" sz="180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/>
              <a:t>将判定</a:t>
            </a:r>
            <a:r>
              <a:rPr lang="en-US" altLang="zh-CN" i="1"/>
              <a:t>X</a:t>
            </a:r>
            <a:r>
              <a:rPr lang="en-US" altLang="zh-CN"/>
              <a:t>→</a:t>
            </a:r>
            <a:r>
              <a:rPr lang="en-US" altLang="zh-CN" i="1"/>
              <a:t>Y</a:t>
            </a:r>
            <a:r>
              <a:rPr lang="zh-CN" altLang="en-US"/>
              <a:t>是否能由</a:t>
            </a:r>
            <a:r>
              <a:rPr lang="en-US" altLang="zh-CN" i="1"/>
              <a:t>F</a:t>
            </a:r>
            <a:r>
              <a:rPr lang="zh-CN" altLang="en-US"/>
              <a:t>根据</a:t>
            </a:r>
            <a:r>
              <a:rPr lang="en-US" altLang="zh-CN"/>
              <a:t>Armstrong</a:t>
            </a:r>
            <a:r>
              <a:rPr lang="zh-CN" altLang="en-US"/>
              <a:t>公理导出的问题，</a:t>
            </a:r>
            <a:endParaRPr lang="en-US" altLang="zh-CN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/>
              <a:t>就转化为求出</a:t>
            </a:r>
            <a:r>
              <a:rPr lang="en-US" altLang="zh-CN" i="1"/>
              <a:t>X</a:t>
            </a:r>
            <a:r>
              <a:rPr lang="en-US" altLang="zh-CN" i="1" baseline="-25000"/>
              <a:t>F</a:t>
            </a:r>
            <a:r>
              <a:rPr lang="en-US" altLang="zh-CN" baseline="30000"/>
              <a:t>+</a:t>
            </a:r>
            <a:r>
              <a:rPr lang="en-US" altLang="zh-CN"/>
              <a:t> </a:t>
            </a:r>
            <a:r>
              <a:rPr lang="zh-CN" altLang="en-US"/>
              <a:t>，判定</a:t>
            </a:r>
            <a:r>
              <a:rPr lang="en-US" altLang="zh-CN" i="1"/>
              <a:t>Y</a:t>
            </a:r>
            <a:r>
              <a:rPr lang="zh-CN" altLang="en-US"/>
              <a:t>是否为</a:t>
            </a:r>
            <a:r>
              <a:rPr lang="en-US" altLang="zh-CN" i="1"/>
              <a:t>X</a:t>
            </a:r>
            <a:r>
              <a:rPr lang="en-US" altLang="zh-CN" i="1" baseline="-25000"/>
              <a:t>F</a:t>
            </a:r>
            <a:r>
              <a:rPr lang="en-US" altLang="zh-CN" baseline="30000"/>
              <a:t>+</a:t>
            </a:r>
            <a:r>
              <a:rPr lang="zh-CN" altLang="en-US"/>
              <a:t>的子集的问题。</a:t>
            </a:r>
            <a:endParaRPr lang="en-US" altLang="zh-CN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/>
              <a:t>这样就可以由</a:t>
            </a:r>
            <a:r>
              <a:rPr lang="en-US" altLang="zh-CN" i="1"/>
              <a:t>X</a:t>
            </a:r>
            <a:r>
              <a:rPr lang="en-US" altLang="zh-CN" i="1" baseline="-25000"/>
              <a:t>F</a:t>
            </a:r>
            <a:r>
              <a:rPr lang="en-US" altLang="zh-CN" baseline="30000"/>
              <a:t>+</a:t>
            </a:r>
            <a:r>
              <a:rPr lang="en-US" altLang="zh-CN"/>
              <a:t> </a:t>
            </a:r>
            <a:r>
              <a:rPr lang="zh-CN" altLang="en-US"/>
              <a:t>构造出</a:t>
            </a:r>
            <a:r>
              <a:rPr lang="en-US" altLang="zh-CN"/>
              <a:t>F</a:t>
            </a:r>
            <a:r>
              <a:rPr lang="en-US" altLang="zh-CN" baseline="-25000"/>
              <a:t>R</a:t>
            </a:r>
            <a:r>
              <a:rPr lang="en-US" altLang="zh-CN" baseline="30000"/>
              <a:t>+</a:t>
            </a:r>
            <a:endParaRPr lang="zh-CN" altLang="en-US"/>
          </a:p>
          <a:p>
            <a:pPr eaLnBrk="1" hangingPunct="1">
              <a:spcBef>
                <a:spcPct val="50000"/>
              </a:spcBef>
            </a:pPr>
            <a:endParaRPr lang="zh-CN" altLang="en-US" sz="150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Rot="1" noChangeAspect="1" noMove="1" noResize="1" noEditPoints="1" noAdjustHandles="1" noChangeArrowheads="1" noChangeShapeType="1" noTextEdit="1"/>
          </p:cNvSpPr>
          <p:nvPr>
            <p:ph type="title"/>
          </p:nvPr>
        </p:nvSpPr>
        <p:spPr>
          <a:blipFill>
            <a:blip r:embed="rId1"/>
            <a:stretch>
              <a:fillRect b="-161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3" name="内容占位符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285750" y="1005205"/>
            <a:ext cx="8401050" cy="3887470"/>
          </a:xfrm>
          <a:blipFill>
            <a:blip r:embed="rId2"/>
            <a:stretch>
              <a:fillRect l="-1259" t="-175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求</a:t>
            </a:r>
            <a:r>
              <a:rPr lang="en-US" altLang="zh-CN"/>
              <a:t>R</a:t>
            </a:r>
            <a:r>
              <a:rPr lang="zh-CN" altLang="en-US"/>
              <a:t>的候选码</a:t>
            </a:r>
            <a:endParaRPr lang="zh-CN" altLang="en-US"/>
          </a:p>
        </p:txBody>
      </p:sp>
      <p:sp>
        <p:nvSpPr>
          <p:cNvPr id="3" name="内容占位符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419100" y="824230"/>
            <a:ext cx="7982585" cy="3641090"/>
          </a:xfrm>
          <a:blipFill>
            <a:blip r:embed="rId1"/>
            <a:stretch>
              <a:fillRect l="-1333" t="-1255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4" name="矩形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9750" y="2715895"/>
            <a:ext cx="7198995" cy="2065655"/>
          </a:xfrm>
          <a:prstGeom prst="rect">
            <a:avLst/>
          </a:prstGeom>
          <a:blipFill>
            <a:blip r:embed="rId2"/>
            <a:stretch>
              <a:fillRect l="-1175" t="-1991" b="-4425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sz="100">
                <a:noFill/>
              </a:rPr>
              <a:t> </a:t>
            </a:r>
            <a:endParaRPr lang="zh-CN" altLang="en-US" sz="100">
              <a:noFill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0155" y="4300379"/>
            <a:ext cx="5014913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179705" y="915670"/>
            <a:ext cx="8401050" cy="3952240"/>
          </a:xfrm>
          <a:blipFill>
            <a:blip r:embed="rId1"/>
            <a:stretch>
              <a:fillRect l="-1259" t="-175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395605" y="771525"/>
            <a:ext cx="7679690" cy="3641090"/>
          </a:xfrm>
          <a:blipFill>
            <a:blip r:embed="rId1"/>
            <a:stretch>
              <a:fillRect l="-1193" t="-163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Rot="1" noChangeAspect="1" noMove="1" noResize="1" noEditPoints="1" noAdjustHandles="1" noChangeArrowheads="1" noChangeShapeType="1" noTextEdit="1"/>
          </p:cNvSpPr>
          <p:nvPr>
            <p:ph type="title"/>
          </p:nvPr>
        </p:nvSpPr>
        <p:spPr>
          <a:blipFill>
            <a:blip r:embed="rId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3" name="内容占位符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635000" y="1005840"/>
            <a:ext cx="6998970" cy="2289810"/>
          </a:xfrm>
          <a:blipFill>
            <a:blip r:embed="rId2"/>
            <a:stretch>
              <a:fillRect l="-1333" t="-2794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22532" name="文本框 3"/>
          <p:cNvSpPr txBox="1">
            <a:spLocks noChangeArrowheads="1"/>
          </p:cNvSpPr>
          <p:nvPr/>
        </p:nvSpPr>
        <p:spPr bwMode="auto">
          <a:xfrm>
            <a:off x="1115616" y="1635999"/>
            <a:ext cx="2593181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100" b="1"/>
              <a:t>（自反律）</a:t>
            </a:r>
            <a:endParaRPr lang="zh-CN" altLang="en-US" sz="2100" b="1"/>
          </a:p>
        </p:txBody>
      </p:sp>
    </p:spTree>
  </p:cSld>
  <p:clrMapOvr>
    <a:masterClrMapping/>
  </p:clrMapOvr>
  <p:transition spd="slow"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Rot="1" noChangeAspect="1" noMove="1" noResize="1" noEditPoints="1" noAdjustHandles="1" noChangeArrowheads="1" noChangeShapeType="1" noTextEdit="1"/>
          </p:cNvSpPr>
          <p:nvPr>
            <p:ph type="title"/>
          </p:nvPr>
        </p:nvSpPr>
        <p:spPr>
          <a:blipFill>
            <a:blip r:embed="rId1"/>
            <a:stretch>
              <a:fillRect b="-376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3" name="内容占位符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482600" y="862965"/>
            <a:ext cx="8171815" cy="3641090"/>
          </a:xfrm>
          <a:blipFill>
            <a:blip r:embed="rId2"/>
            <a:stretch>
              <a:fillRect l="-1202" t="-1759" b="-3894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Rot="1" noChangeAspect="1" noMove="1" noResize="1" noEditPoints="1" noAdjustHandles="1" noChangeArrowheads="1" noChangeShapeType="1" noTextEdit="1"/>
          </p:cNvSpPr>
          <p:nvPr>
            <p:ph type="title"/>
          </p:nvPr>
        </p:nvSpPr>
        <p:spPr>
          <a:xfrm>
            <a:off x="2519772" y="0"/>
            <a:ext cx="2985846" cy="852488"/>
          </a:xfrm>
          <a:blipFill>
            <a:blip r:embed="rId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3" name="内容占位符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>
            <a:blip r:embed="rId2"/>
            <a:stretch>
              <a:fillRect l="-1259" t="-175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内容占位符 2"/>
          <p:cNvSpPr>
            <a:spLocks noGrp="1"/>
          </p:cNvSpPr>
          <p:nvPr>
            <p:ph idx="1"/>
          </p:nvPr>
        </p:nvSpPr>
        <p:spPr>
          <a:xfrm>
            <a:off x="107315" y="824230"/>
            <a:ext cx="8969375" cy="3641090"/>
          </a:xfrm>
        </p:spPr>
        <p:txBody>
          <a:bodyPr/>
          <a:lstStyle/>
          <a:p>
            <a:r>
              <a:rPr lang="zh-CN" altLang="en-US" dirty="0"/>
              <a:t>将“蕴涵”转换成“推导”问题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将由 </a:t>
            </a:r>
            <a:r>
              <a:rPr lang="en-US" altLang="zh-CN" dirty="0"/>
              <a:t>Armstrong </a:t>
            </a:r>
            <a:r>
              <a:rPr lang="zh-CN" altLang="en-US" dirty="0"/>
              <a:t>公理系统导出的全部</a:t>
            </a:r>
            <a:r>
              <a:rPr lang="en-US" altLang="zh-CN" dirty="0"/>
              <a:t>FD</a:t>
            </a:r>
            <a:r>
              <a:rPr lang="zh-CN" altLang="en-US" dirty="0"/>
              <a:t>的集合为</a:t>
            </a:r>
            <a:r>
              <a:rPr lang="en-US" altLang="zh-CN" dirty="0"/>
              <a:t>F</a:t>
            </a:r>
            <a:r>
              <a:rPr lang="en-US" altLang="zh-CN" baseline="-25000" dirty="0"/>
              <a:t>R</a:t>
            </a:r>
            <a:r>
              <a:rPr lang="en-US" altLang="zh-CN" baseline="30000" dirty="0"/>
              <a:t>+</a:t>
            </a:r>
            <a:endParaRPr lang="en-US" altLang="zh-CN" baseline="30000" dirty="0"/>
          </a:p>
          <a:p>
            <a:pPr eaLnBrk="1" hangingPunct="1">
              <a:lnSpc>
                <a:spcPct val="90000"/>
              </a:lnSpc>
            </a:pPr>
            <a:endParaRPr lang="en-US" altLang="zh-CN" baseline="30000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F</a:t>
            </a:r>
            <a:r>
              <a:rPr lang="en-US" altLang="zh-CN" baseline="-25000" dirty="0"/>
              <a:t>R</a:t>
            </a:r>
            <a:r>
              <a:rPr lang="en-US" altLang="zh-CN" baseline="30000" dirty="0"/>
              <a:t>+</a:t>
            </a:r>
            <a:r>
              <a:rPr lang="en-US" altLang="zh-CN" dirty="0"/>
              <a:t> = F</a:t>
            </a:r>
            <a:r>
              <a:rPr lang="en-US" altLang="zh-CN" baseline="30000" dirty="0"/>
              <a:t>+</a:t>
            </a:r>
            <a:r>
              <a:rPr lang="en-US" altLang="zh-CN" dirty="0"/>
              <a:t> </a:t>
            </a:r>
            <a:r>
              <a:rPr lang="zh-CN" altLang="en-US" dirty="0"/>
              <a:t>？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如果成立，则我们就可以通过推导来代替蕴涵，得到可操作的算法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这就是这一节的重点内容：有效性和完备性</a:t>
            </a:r>
            <a:endParaRPr lang="en-US" altLang="zh-CN" dirty="0"/>
          </a:p>
        </p:txBody>
      </p:sp>
      <p:sp>
        <p:nvSpPr>
          <p:cNvPr id="819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从逻辑蕴涵到推导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200" dirty="0"/>
              <a:t>4. Armstrong</a:t>
            </a:r>
            <a:r>
              <a:rPr lang="zh-CN" altLang="en-US" sz="3200" dirty="0"/>
              <a:t>公理系统的有效性与完备性</a:t>
            </a:r>
            <a:endParaRPr lang="zh-CN" altLang="en-US" sz="3200" dirty="0"/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有效性与完备性的含义</a:t>
            </a:r>
            <a:endParaRPr lang="zh-CN" altLang="en-US" dirty="0"/>
          </a:p>
          <a:p>
            <a:pPr lvl="4" eaLnBrk="1" hangingPunct="1">
              <a:lnSpc>
                <a:spcPct val="90000"/>
              </a:lnSpc>
            </a:pPr>
            <a:endParaRPr lang="zh-CN" altLang="en-US" sz="18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有效性</a:t>
            </a:r>
            <a:r>
              <a:rPr lang="zh-CN" altLang="en-US" dirty="0"/>
              <a:t>：由</a:t>
            </a:r>
            <a:r>
              <a:rPr lang="en-US" altLang="zh-CN" i="1" dirty="0"/>
              <a:t>F </a:t>
            </a:r>
            <a:r>
              <a:rPr lang="zh-CN" altLang="en-US" dirty="0"/>
              <a:t>出发根据</a:t>
            </a:r>
            <a:r>
              <a:rPr lang="en-US" altLang="zh-CN" dirty="0"/>
              <a:t>Armstrong</a:t>
            </a:r>
            <a:r>
              <a:rPr lang="zh-CN" altLang="en-US" dirty="0"/>
              <a:t>公理推导出来的每一个函数依赖一定在</a:t>
            </a:r>
            <a:r>
              <a:rPr lang="en-US" altLang="zh-CN" i="1" dirty="0"/>
              <a:t>F</a:t>
            </a:r>
            <a:r>
              <a:rPr lang="en-US" altLang="zh-CN" sz="1200" i="1" dirty="0"/>
              <a:t> </a:t>
            </a:r>
            <a:r>
              <a:rPr lang="en-US" altLang="zh-CN" baseline="30000" dirty="0"/>
              <a:t>+</a:t>
            </a:r>
            <a:r>
              <a:rPr lang="zh-CN" altLang="en-US" dirty="0"/>
              <a:t>中</a:t>
            </a:r>
            <a:endParaRPr lang="zh-CN" altLang="en-US" dirty="0"/>
          </a:p>
          <a:p>
            <a:pPr lvl="4" eaLnBrk="1" hangingPunct="1">
              <a:lnSpc>
                <a:spcPct val="90000"/>
              </a:lnSpc>
            </a:pPr>
            <a:endParaRPr lang="zh-CN" altLang="en-US" sz="18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完备性</a:t>
            </a:r>
            <a:r>
              <a:rPr lang="zh-CN" altLang="en-US" dirty="0"/>
              <a:t>：</a:t>
            </a:r>
            <a:r>
              <a:rPr lang="en-US" altLang="zh-CN" i="1" dirty="0"/>
              <a:t>F</a:t>
            </a:r>
            <a:r>
              <a:rPr lang="en-US" altLang="zh-CN" sz="1200" i="1" dirty="0"/>
              <a:t> </a:t>
            </a:r>
            <a:r>
              <a:rPr lang="en-US" altLang="zh-CN" baseline="30000" dirty="0"/>
              <a:t>+</a:t>
            </a:r>
            <a:r>
              <a:rPr lang="zh-CN" altLang="en-US" dirty="0"/>
              <a:t>中的每一个函数依赖，必定可以由</a:t>
            </a:r>
            <a:r>
              <a:rPr lang="en-US" altLang="zh-CN" i="1" dirty="0"/>
              <a:t>F</a:t>
            </a:r>
            <a:r>
              <a:rPr lang="zh-CN" altLang="en-US" dirty="0"/>
              <a:t>出发根据</a:t>
            </a:r>
            <a:r>
              <a:rPr lang="en-US" altLang="zh-CN" dirty="0"/>
              <a:t>Armstrong</a:t>
            </a:r>
            <a:r>
              <a:rPr lang="zh-CN" altLang="en-US" dirty="0"/>
              <a:t>公理推导出来</a:t>
            </a:r>
            <a:endParaRPr lang="zh-CN" altLang="en-US" dirty="0"/>
          </a:p>
        </p:txBody>
      </p:sp>
    </p:spTree>
  </p:cSld>
  <p:clrMapOvr>
    <a:masterClrMapping/>
  </p:clrMapOvr>
  <p:transition spd="slow">
    <p:wipe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200" dirty="0"/>
              <a:t>4. Armstrong</a:t>
            </a:r>
            <a:r>
              <a:rPr lang="zh-CN" altLang="en-US" sz="3200" dirty="0"/>
              <a:t>公理系统的有效性与完备性</a:t>
            </a:r>
            <a:endParaRPr lang="en-US" altLang="zh-CN" sz="2800" dirty="0"/>
          </a:p>
        </p:txBody>
      </p:sp>
      <p:sp>
        <p:nvSpPr>
          <p:cNvPr id="148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dirty="0"/>
              <a:t>有效性与完备性的证明</a:t>
            </a:r>
            <a:endParaRPr lang="zh-CN" altLang="en-US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sz="2800" dirty="0"/>
              <a:t>定理</a:t>
            </a:r>
            <a:r>
              <a:rPr lang="en-US" altLang="zh-CN" sz="2800" dirty="0"/>
              <a:t>6.2 Armstrong</a:t>
            </a:r>
            <a:r>
              <a:rPr lang="zh-CN" altLang="en-US" sz="2800" dirty="0"/>
              <a:t>公理系统是有效的、完备的。</a:t>
            </a:r>
            <a:endParaRPr lang="zh-CN" altLang="en-US" sz="2800" dirty="0"/>
          </a:p>
          <a:p>
            <a:pPr algn="just" eaLnBrk="1" hangingPunct="1">
              <a:buFont typeface="Monotype Sorts" pitchFamily="2" charset="2"/>
              <a:buNone/>
            </a:pPr>
            <a:endParaRPr lang="zh-CN" altLang="en-US" sz="2800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证明：	</a:t>
            </a:r>
            <a:endParaRPr lang="zh-CN" altLang="en-US" sz="2800" b="1" dirty="0">
              <a:latin typeface="+mn-ea"/>
              <a:ea typeface="+mn-ea"/>
            </a:endParaRPr>
          </a:p>
          <a:p>
            <a:pPr algn="just" eaLnBrk="1" hangingPunct="1">
              <a:buFont typeface="Monotype Sorts" pitchFamily="2" charset="2"/>
              <a:buNone/>
            </a:pPr>
            <a:r>
              <a:rPr lang="en-US" altLang="zh-CN" dirty="0"/>
              <a:t>1. </a:t>
            </a:r>
            <a:r>
              <a:rPr lang="zh-CN" altLang="en-US" sz="2800" b="1" dirty="0">
                <a:latin typeface="+mn-ea"/>
                <a:ea typeface="+mn-ea"/>
              </a:rPr>
              <a:t>有效性</a:t>
            </a:r>
            <a:endParaRPr lang="zh-CN" altLang="en-US" sz="2800" b="1" dirty="0">
              <a:latin typeface="+mn-ea"/>
              <a:ea typeface="+mn-ea"/>
            </a:endParaRPr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	 有效性实际上是“正确性”</a:t>
            </a:r>
            <a:endParaRPr lang="zh-CN" altLang="en-US" sz="2800" b="1" dirty="0">
              <a:latin typeface="+mn-ea"/>
              <a:ea typeface="+mn-ea"/>
            </a:endParaRPr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     可由定理</a:t>
            </a:r>
            <a:r>
              <a:rPr lang="en-US" altLang="zh-CN" sz="2800" b="1" dirty="0">
                <a:latin typeface="+mj-lt"/>
                <a:ea typeface="+mn-ea"/>
              </a:rPr>
              <a:t>6.l</a:t>
            </a:r>
            <a:r>
              <a:rPr lang="zh-CN" altLang="en-US" sz="2800" b="1" dirty="0">
                <a:latin typeface="+mn-ea"/>
                <a:ea typeface="+mn-ea"/>
              </a:rPr>
              <a:t>得证</a:t>
            </a:r>
            <a:endParaRPr lang="zh-CN" altLang="en-US" sz="2800" b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200" dirty="0"/>
              <a:t>4. Armstrong</a:t>
            </a:r>
            <a:r>
              <a:rPr lang="zh-CN" altLang="en-US" sz="3200" dirty="0"/>
              <a:t>公理系统的有效性与完备性</a:t>
            </a:r>
            <a:endParaRPr lang="en-US" altLang="zh-CN" sz="2800" dirty="0"/>
          </a:p>
        </p:txBody>
      </p:sp>
      <p:sp>
        <p:nvSpPr>
          <p:cNvPr id="14950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 typeface="Monotype Sorts" pitchFamily="2" charset="2"/>
              <a:buNone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2.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完备性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buFont typeface="Monotype Sorts" pitchFamily="2" charset="2"/>
              <a:buNone/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只需证明</a:t>
            </a: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逆否命题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: 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若函数依赖</a:t>
            </a:r>
            <a:r>
              <a:rPr lang="en-US" altLang="zh-CN" sz="2800" b="1" i="1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→</a:t>
            </a:r>
            <a:r>
              <a:rPr lang="en-US" altLang="zh-CN" sz="2800" b="1" i="1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不能由</a:t>
            </a:r>
            <a:r>
              <a:rPr lang="en-US" altLang="zh-CN" sz="2800" b="1" i="1" dirty="0"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从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Armstrong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公理导出，那么它必然不为</a:t>
            </a:r>
            <a:r>
              <a:rPr lang="en-US" altLang="zh-CN" sz="2800" b="1" i="1" dirty="0">
                <a:latin typeface="Arial" panose="020B0604020202020204" pitchFamily="34" charset="0"/>
                <a:ea typeface="宋体" panose="02010600030101010101" pitchFamily="2" charset="-122"/>
              </a:rPr>
              <a:t>F 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所蕴含。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buFont typeface="Monotype Sorts" pitchFamily="2" charset="2"/>
              <a:buNone/>
            </a:pP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35560" y="2643505"/>
            <a:ext cx="877125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eaLnBrk="1" hangingPunct="1">
              <a:lnSpc>
                <a:spcPct val="120000"/>
              </a:lnSpc>
              <a:buFont typeface="Monotype Sorts" pitchFamily="2" charset="2"/>
              <a:buNone/>
            </a:pPr>
            <a:r>
              <a:rPr lang="zh-CN" altLang="en-US" sz="2000" b="1" dirty="0">
                <a:sym typeface="+mn-ea"/>
              </a:rPr>
              <a:t>证明思路：</a:t>
            </a:r>
            <a:endParaRPr lang="zh-CN" altLang="en-US" sz="2000" b="1" dirty="0">
              <a:sym typeface="+mn-ea"/>
            </a:endParaRPr>
          </a:p>
          <a:p>
            <a:pPr algn="just" eaLnBrk="1" hangingPunct="1">
              <a:lnSpc>
                <a:spcPct val="120000"/>
              </a:lnSpc>
              <a:buFont typeface="Monotype Sorts" pitchFamily="2" charset="2"/>
              <a:buNone/>
            </a:pPr>
            <a:r>
              <a:rPr lang="zh-CN" altLang="en-US" sz="2000" b="1" dirty="0">
                <a:sym typeface="+mn-ea"/>
              </a:rPr>
              <a:t>不能被</a:t>
            </a:r>
            <a:r>
              <a:rPr lang="en-US" altLang="zh-CN" sz="2000" b="1" i="1" dirty="0">
                <a:sym typeface="+mn-ea"/>
              </a:rPr>
              <a:t>F</a:t>
            </a:r>
            <a:r>
              <a:rPr lang="zh-CN" altLang="en-US" sz="2000" b="1" dirty="0">
                <a:sym typeface="+mn-ea"/>
              </a:rPr>
              <a:t>所蕴含，则由定义必然存在一个</a:t>
            </a:r>
            <a:r>
              <a:rPr lang="en-US" altLang="zh-CN" sz="2000" i="1" dirty="0">
                <a:sym typeface="+mn-ea"/>
              </a:rPr>
              <a:t>r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∈</a:t>
            </a:r>
            <a:r>
              <a:rPr lang="en-US" altLang="zh-CN" sz="2000" i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，且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X-&gt;Y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en-US" altLang="zh-CN" sz="2000" i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中不成立。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just" eaLnBrk="1" hangingPunct="1">
              <a:lnSpc>
                <a:spcPct val="120000"/>
              </a:lnSpc>
              <a:buFont typeface="Monotype Sorts" pitchFamily="2" charset="2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核心在于构造一个特殊</a:t>
            </a:r>
            <a:r>
              <a:rPr lang="en-US" altLang="zh-CN" sz="2000" i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，满足</a:t>
            </a:r>
            <a:r>
              <a:rPr lang="en-US" altLang="zh-CN" sz="2000" i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F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中所有函数依赖，由此说明</a:t>
            </a:r>
            <a:r>
              <a:rPr lang="en-US" altLang="zh-CN" sz="2000" i="1" dirty="0">
                <a:sym typeface="+mn-ea"/>
              </a:rPr>
              <a:t>r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∈</a:t>
            </a:r>
            <a:r>
              <a:rPr lang="en-US" altLang="zh-CN" sz="2000" i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just" eaLnBrk="1" hangingPunct="1">
              <a:lnSpc>
                <a:spcPct val="120000"/>
              </a:lnSpc>
              <a:buFont typeface="Monotype Sorts" pitchFamily="2" charset="2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然后由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X-&gt;Y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en-US" altLang="zh-CN" sz="2000" i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中不成立推出一个矛盾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结论。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200" dirty="0"/>
              <a:t>4. Armstrong</a:t>
            </a:r>
            <a:r>
              <a:rPr lang="zh-CN" altLang="en-US" sz="3200" dirty="0"/>
              <a:t>公理系统的有效性与完备性</a:t>
            </a:r>
            <a:endParaRPr lang="en-US" altLang="zh-CN" sz="2800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99795" y="987425"/>
            <a:ext cx="3057525" cy="12287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9545" y="2499995"/>
            <a:ext cx="8484870" cy="2209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 b="1" dirty="0">
                <a:sym typeface="+mn-ea"/>
              </a:rPr>
              <a:t>上面</a:t>
            </a:r>
            <a:r>
              <a:rPr lang="en-US" altLang="zh-CN" sz="1800" b="1" dirty="0">
                <a:sym typeface="+mn-ea"/>
              </a:rPr>
              <a:t>X</a:t>
            </a:r>
            <a:r>
              <a:rPr lang="zh-CN" altLang="en-US" sz="1800" b="1" dirty="0">
                <a:sym typeface="+mn-ea"/>
              </a:rPr>
              <a:t>是</a:t>
            </a:r>
            <a:r>
              <a:rPr lang="en-US" altLang="zh-CN" sz="1800" b="1" dirty="0">
                <a:sym typeface="+mn-ea"/>
              </a:rPr>
              <a:t>U</a:t>
            </a:r>
            <a:r>
              <a:rPr lang="zh-CN" altLang="en-US" sz="1800" b="1" dirty="0">
                <a:sym typeface="+mn-ea"/>
              </a:rPr>
              <a:t>的任意子集，该关系只有两个元组。</a:t>
            </a:r>
            <a:endParaRPr lang="zh-CN" altLang="en-US" sz="1800" b="1" dirty="0">
              <a:sym typeface="+mn-ea"/>
            </a:endParaRPr>
          </a:p>
          <a:p>
            <a:endParaRPr lang="zh-CN" altLang="en-US" sz="1800" dirty="0">
              <a:sym typeface="+mn-ea"/>
            </a:endParaRPr>
          </a:p>
          <a:p>
            <a:r>
              <a:rPr lang="zh-CN" altLang="en-US" sz="1800" dirty="0">
                <a:sym typeface="+mn-ea"/>
              </a:rPr>
              <a:t>证明</a:t>
            </a:r>
            <a:r>
              <a:rPr lang="en-US" altLang="zh-CN" sz="1800" dirty="0">
                <a:sym typeface="+mn-ea"/>
              </a:rPr>
              <a:t>r</a:t>
            </a:r>
            <a:r>
              <a:rPr lang="zh-CN" altLang="en-US" sz="1800" dirty="0">
                <a:sym typeface="+mn-ea"/>
              </a:rPr>
              <a:t>必然是</a:t>
            </a:r>
            <a:r>
              <a:rPr lang="en-US" altLang="zh-CN" sz="1800" dirty="0">
                <a:sym typeface="+mn-ea"/>
              </a:rPr>
              <a:t>R</a:t>
            </a:r>
            <a:r>
              <a:rPr lang="zh-CN" altLang="en-US" sz="1800" dirty="0">
                <a:sym typeface="+mn-ea"/>
              </a:rPr>
              <a:t>（</a:t>
            </a:r>
            <a:r>
              <a:rPr lang="en-US" altLang="zh-CN" sz="1800" dirty="0">
                <a:sym typeface="+mn-ea"/>
              </a:rPr>
              <a:t>U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</a:t>
            </a:r>
            <a:r>
              <a:rPr lang="zh-CN" altLang="en-US" sz="1800" dirty="0">
                <a:sym typeface="+mn-ea"/>
              </a:rPr>
              <a:t>）的关系：</a:t>
            </a:r>
            <a:endParaRPr lang="zh-CN" altLang="en-US" sz="1800" b="1" dirty="0">
              <a:sym typeface="+mn-ea"/>
            </a:endParaRPr>
          </a:p>
          <a:p>
            <a:r>
              <a:rPr lang="zh-CN" altLang="en-US" sz="1800" dirty="0">
                <a:ea typeface="+mn-ea"/>
                <a:sym typeface="+mn-ea"/>
              </a:rPr>
              <a:t>若</a:t>
            </a:r>
            <a:r>
              <a:rPr lang="en-US" altLang="zh-CN" sz="1800" i="1" dirty="0">
                <a:ea typeface="+mn-ea"/>
                <a:sym typeface="+mn-ea"/>
              </a:rPr>
              <a:t>r </a:t>
            </a:r>
            <a:r>
              <a:rPr lang="zh-CN" altLang="en-US" sz="1800" dirty="0">
                <a:ea typeface="+mn-ea"/>
                <a:sym typeface="+mn-ea"/>
              </a:rPr>
              <a:t>不是</a:t>
            </a:r>
            <a:r>
              <a:rPr lang="en-US" altLang="zh-CN" sz="1800" i="1" dirty="0">
                <a:ea typeface="+mn-ea"/>
                <a:sym typeface="+mn-ea"/>
              </a:rPr>
              <a:t>R</a:t>
            </a:r>
            <a:r>
              <a:rPr lang="en-US" altLang="zh-CN" sz="1800" dirty="0">
                <a:ea typeface="+mn-ea"/>
                <a:sym typeface="+mn-ea"/>
              </a:rPr>
              <a:t>&lt;</a:t>
            </a:r>
            <a:r>
              <a:rPr lang="en-US" altLang="zh-CN" sz="1800" i="1" dirty="0">
                <a:ea typeface="+mn-ea"/>
                <a:sym typeface="+mn-ea"/>
              </a:rPr>
              <a:t>U</a:t>
            </a:r>
            <a:r>
              <a:rPr lang="zh-CN" altLang="en-US" sz="1800" dirty="0">
                <a:ea typeface="+mn-ea"/>
                <a:sym typeface="+mn-ea"/>
              </a:rPr>
              <a:t>，</a:t>
            </a:r>
            <a:r>
              <a:rPr lang="en-US" altLang="zh-CN" sz="1800" i="1" dirty="0">
                <a:ea typeface="+mn-ea"/>
                <a:sym typeface="+mn-ea"/>
              </a:rPr>
              <a:t>F</a:t>
            </a:r>
            <a:r>
              <a:rPr lang="en-US" altLang="zh-CN" sz="1800" dirty="0">
                <a:ea typeface="+mn-ea"/>
                <a:sym typeface="+mn-ea"/>
              </a:rPr>
              <a:t>&gt; </a:t>
            </a:r>
            <a:r>
              <a:rPr lang="zh-CN" altLang="en-US" sz="1800" dirty="0">
                <a:ea typeface="+mn-ea"/>
                <a:sym typeface="+mn-ea"/>
              </a:rPr>
              <a:t>的关系，则</a:t>
            </a:r>
            <a:r>
              <a:rPr lang="en-US" altLang="zh-CN" sz="1800" i="1" dirty="0">
                <a:ea typeface="+mn-ea"/>
                <a:sym typeface="+mn-ea"/>
              </a:rPr>
              <a:t>F</a:t>
            </a:r>
            <a:r>
              <a:rPr lang="zh-CN" altLang="en-US" sz="1800" dirty="0">
                <a:ea typeface="+mn-ea"/>
                <a:sym typeface="+mn-ea"/>
              </a:rPr>
              <a:t>中必然有函数依赖</a:t>
            </a:r>
            <a:r>
              <a:rPr lang="en-US" altLang="zh-CN" sz="1800" i="1" dirty="0">
                <a:ea typeface="+mn-ea"/>
                <a:sym typeface="+mn-ea"/>
              </a:rPr>
              <a:t>V</a:t>
            </a:r>
            <a:r>
              <a:rPr lang="en-US" altLang="zh-CN" sz="1800" dirty="0">
                <a:ea typeface="+mn-ea"/>
                <a:sym typeface="+mn-ea"/>
              </a:rPr>
              <a:t>→</a:t>
            </a:r>
            <a:r>
              <a:rPr lang="en-US" altLang="zh-CN" sz="1800" i="1" dirty="0">
                <a:ea typeface="+mn-ea"/>
                <a:sym typeface="+mn-ea"/>
              </a:rPr>
              <a:t>W</a:t>
            </a:r>
            <a:r>
              <a:rPr lang="zh-CN" altLang="en-US" sz="1800" dirty="0">
                <a:ea typeface="+mn-ea"/>
                <a:sym typeface="+mn-ea"/>
              </a:rPr>
              <a:t>在</a:t>
            </a:r>
            <a:r>
              <a:rPr lang="en-US" altLang="zh-CN" sz="1800" i="1" dirty="0">
                <a:ea typeface="+mn-ea"/>
                <a:sym typeface="+mn-ea"/>
              </a:rPr>
              <a:t>r</a:t>
            </a:r>
            <a:r>
              <a:rPr lang="zh-CN" altLang="en-US" sz="1800" dirty="0">
                <a:ea typeface="+mn-ea"/>
                <a:sym typeface="+mn-ea"/>
              </a:rPr>
              <a:t>上不成立。也就是</a:t>
            </a:r>
            <a:r>
              <a:rPr lang="en-US" altLang="zh-CN" sz="1800" i="1" dirty="0">
                <a:ea typeface="+mn-ea"/>
                <a:sym typeface="+mn-ea"/>
              </a:rPr>
              <a:t>t</a:t>
            </a:r>
            <a:r>
              <a:rPr lang="en-US" altLang="zh-CN" sz="1800" i="1" baseline="-25000" dirty="0">
                <a:ea typeface="+mn-ea"/>
                <a:sym typeface="+mn-ea"/>
              </a:rPr>
              <a:t>1</a:t>
            </a:r>
            <a:r>
              <a:rPr lang="en-US" altLang="zh-CN" sz="1800" dirty="0">
                <a:ea typeface="+mn-ea"/>
                <a:sym typeface="+mn-ea"/>
              </a:rPr>
              <a:t>[</a:t>
            </a:r>
            <a:r>
              <a:rPr lang="en-US" altLang="zh-CN" sz="1800" i="1" dirty="0">
                <a:ea typeface="+mn-ea"/>
                <a:sym typeface="+mn-ea"/>
              </a:rPr>
              <a:t>V</a:t>
            </a:r>
            <a:r>
              <a:rPr lang="en-US" altLang="zh-CN" sz="1800" dirty="0">
                <a:ea typeface="+mn-ea"/>
                <a:sym typeface="+mn-ea"/>
              </a:rPr>
              <a:t>]=</a:t>
            </a:r>
            <a:r>
              <a:rPr lang="en-US" altLang="zh-CN" sz="1800" i="1" dirty="0">
                <a:ea typeface="+mn-ea"/>
                <a:sym typeface="+mn-ea"/>
              </a:rPr>
              <a:t>t</a:t>
            </a:r>
            <a:r>
              <a:rPr lang="en-US" altLang="zh-CN" sz="1800" i="1" baseline="-25000" dirty="0">
                <a:ea typeface="+mn-ea"/>
                <a:sym typeface="+mn-ea"/>
              </a:rPr>
              <a:t>2</a:t>
            </a:r>
            <a:r>
              <a:rPr lang="en-US" altLang="zh-CN" sz="1800" dirty="0">
                <a:ea typeface="+mn-ea"/>
                <a:sym typeface="+mn-ea"/>
              </a:rPr>
              <a:t>[</a:t>
            </a:r>
            <a:r>
              <a:rPr lang="en-US" altLang="zh-CN" sz="1800" i="1" dirty="0">
                <a:ea typeface="+mn-ea"/>
                <a:sym typeface="+mn-ea"/>
              </a:rPr>
              <a:t>V</a:t>
            </a:r>
            <a:r>
              <a:rPr lang="en-US" altLang="zh-CN" sz="1800" dirty="0">
                <a:ea typeface="+mn-ea"/>
                <a:sym typeface="+mn-ea"/>
              </a:rPr>
              <a:t>]</a:t>
            </a:r>
            <a:r>
              <a:rPr lang="zh-CN" altLang="en-US" sz="1800" dirty="0">
                <a:ea typeface="+mn-ea"/>
                <a:sym typeface="+mn-ea"/>
              </a:rPr>
              <a:t>，但</a:t>
            </a:r>
            <a:r>
              <a:rPr lang="en-US" altLang="zh-CN" sz="1800" i="1" dirty="0">
                <a:ea typeface="+mn-ea"/>
                <a:sym typeface="+mn-ea"/>
              </a:rPr>
              <a:t>t</a:t>
            </a:r>
            <a:r>
              <a:rPr lang="en-US" altLang="zh-CN" sz="1800" i="1" baseline="-25000" dirty="0">
                <a:ea typeface="+mn-ea"/>
                <a:sym typeface="+mn-ea"/>
              </a:rPr>
              <a:t>1</a:t>
            </a:r>
            <a:r>
              <a:rPr lang="en-US" altLang="zh-CN" sz="1800" dirty="0">
                <a:ea typeface="+mn-ea"/>
                <a:sym typeface="+mn-ea"/>
              </a:rPr>
              <a:t>[</a:t>
            </a:r>
            <a:r>
              <a:rPr lang="en-US" altLang="zh-CN" sz="1800" i="1" dirty="0">
                <a:ea typeface="+mn-ea"/>
                <a:sym typeface="+mn-ea"/>
              </a:rPr>
              <a:t>W</a:t>
            </a:r>
            <a:r>
              <a:rPr lang="en-US" altLang="zh-CN" sz="1800" dirty="0">
                <a:ea typeface="+mn-ea"/>
                <a:sym typeface="+mn-ea"/>
              </a:rPr>
              <a:t>]!=</a:t>
            </a:r>
            <a:r>
              <a:rPr lang="en-US" altLang="zh-CN" sz="1800" i="1" dirty="0">
                <a:ea typeface="+mn-ea"/>
                <a:sym typeface="+mn-ea"/>
              </a:rPr>
              <a:t>t</a:t>
            </a:r>
            <a:r>
              <a:rPr lang="en-US" altLang="zh-CN" sz="1800" i="1" baseline="-25000" dirty="0">
                <a:ea typeface="+mn-ea"/>
                <a:sym typeface="+mn-ea"/>
              </a:rPr>
              <a:t>2</a:t>
            </a:r>
            <a:r>
              <a:rPr lang="en-US" altLang="zh-CN" sz="1800" dirty="0">
                <a:ea typeface="+mn-ea"/>
                <a:sym typeface="+mn-ea"/>
              </a:rPr>
              <a:t>[</a:t>
            </a:r>
            <a:r>
              <a:rPr lang="en-US" altLang="zh-CN" sz="1800" i="1" dirty="0">
                <a:ea typeface="+mn-ea"/>
                <a:sym typeface="+mn-ea"/>
              </a:rPr>
              <a:t>W</a:t>
            </a:r>
            <a:r>
              <a:rPr lang="en-US" altLang="zh-CN" sz="1800" dirty="0">
                <a:ea typeface="+mn-ea"/>
                <a:sym typeface="+mn-ea"/>
              </a:rPr>
              <a:t>]</a:t>
            </a:r>
            <a:r>
              <a:rPr lang="zh-CN" altLang="en-US" sz="1800" dirty="0">
                <a:ea typeface="+mn-ea"/>
                <a:sym typeface="+mn-ea"/>
              </a:rPr>
              <a:t>。</a:t>
            </a:r>
            <a:endParaRPr lang="zh-CN" altLang="en-US" sz="1800" dirty="0">
              <a:ea typeface="+mn-ea"/>
              <a:sym typeface="+mn-ea"/>
            </a:endParaRPr>
          </a:p>
          <a:p>
            <a:r>
              <a:rPr lang="zh-CN" altLang="en-US" sz="1800" dirty="0">
                <a:ea typeface="+mn-ea"/>
                <a:sym typeface="+mn-ea"/>
              </a:rPr>
              <a:t>由</a:t>
            </a:r>
            <a:r>
              <a:rPr lang="en-US" altLang="zh-CN" sz="1800" i="1" dirty="0">
                <a:ea typeface="+mn-ea"/>
                <a:sym typeface="+mn-ea"/>
              </a:rPr>
              <a:t>r </a:t>
            </a:r>
            <a:r>
              <a:rPr lang="zh-CN" altLang="en-US" sz="1800" dirty="0">
                <a:ea typeface="+mn-ea"/>
                <a:sym typeface="+mn-ea"/>
              </a:rPr>
              <a:t>的构成可知，</a:t>
            </a:r>
            <a:r>
              <a:rPr lang="en-US" altLang="zh-CN" sz="1800" i="1" dirty="0">
                <a:ea typeface="+mn-ea"/>
                <a:sym typeface="+mn-ea"/>
              </a:rPr>
              <a:t>V </a:t>
            </a:r>
            <a:r>
              <a:rPr lang="zh-CN" altLang="en-US" sz="1800" dirty="0">
                <a:ea typeface="+mn-ea"/>
                <a:sym typeface="+mn-ea"/>
              </a:rPr>
              <a:t>必定是</a:t>
            </a:r>
            <a:r>
              <a:rPr lang="en-US" altLang="zh-CN" sz="1800" i="1" dirty="0">
                <a:ea typeface="+mn-ea"/>
                <a:sym typeface="+mn-ea"/>
              </a:rPr>
              <a:t>X</a:t>
            </a:r>
            <a:r>
              <a:rPr lang="en-US" altLang="zh-CN" sz="1800" i="1" baseline="-30000" dirty="0">
                <a:ea typeface="+mn-ea"/>
                <a:sym typeface="+mn-ea"/>
              </a:rPr>
              <a:t>F</a:t>
            </a:r>
            <a:r>
              <a:rPr lang="en-US" altLang="zh-CN" sz="1800" baseline="30000" dirty="0">
                <a:ea typeface="+mn-ea"/>
                <a:sym typeface="+mn-ea"/>
              </a:rPr>
              <a:t>+ </a:t>
            </a:r>
            <a:r>
              <a:rPr lang="zh-CN" altLang="en-US" sz="1800" dirty="0">
                <a:ea typeface="+mn-ea"/>
                <a:sym typeface="+mn-ea"/>
              </a:rPr>
              <a:t>的子集，而</a:t>
            </a:r>
            <a:r>
              <a:rPr lang="en-US" altLang="zh-CN" sz="1800" i="1" dirty="0">
                <a:ea typeface="+mn-ea"/>
                <a:sym typeface="+mn-ea"/>
              </a:rPr>
              <a:t>W </a:t>
            </a:r>
            <a:r>
              <a:rPr lang="zh-CN" altLang="en-US" sz="1800" dirty="0">
                <a:ea typeface="+mn-ea"/>
                <a:sym typeface="+mn-ea"/>
              </a:rPr>
              <a:t>不是</a:t>
            </a:r>
            <a:r>
              <a:rPr lang="en-US" altLang="zh-CN" sz="1800" i="1" dirty="0">
                <a:ea typeface="+mn-ea"/>
                <a:sym typeface="+mn-ea"/>
              </a:rPr>
              <a:t>X</a:t>
            </a:r>
            <a:r>
              <a:rPr lang="en-US" altLang="zh-CN" sz="1800" i="1" baseline="-30000" dirty="0">
                <a:ea typeface="+mn-ea"/>
                <a:sym typeface="+mn-ea"/>
              </a:rPr>
              <a:t>F</a:t>
            </a:r>
            <a:r>
              <a:rPr lang="en-US" altLang="zh-CN" sz="1800" baseline="30000" dirty="0">
                <a:ea typeface="+mn-ea"/>
                <a:sym typeface="+mn-ea"/>
              </a:rPr>
              <a:t>+ </a:t>
            </a:r>
            <a:r>
              <a:rPr lang="zh-CN" altLang="en-US" sz="1800" dirty="0">
                <a:ea typeface="+mn-ea"/>
                <a:sym typeface="+mn-ea"/>
              </a:rPr>
              <a:t>的子集。</a:t>
            </a:r>
            <a:endParaRPr lang="zh-CN" altLang="en-US" sz="1800" dirty="0">
              <a:ea typeface="+mn-ea"/>
              <a:sym typeface="+mn-ea"/>
            </a:endParaRPr>
          </a:p>
          <a:p>
            <a:r>
              <a:rPr lang="zh-CN" altLang="en-US" sz="1800" b="1" dirty="0">
                <a:sym typeface="+mn-ea"/>
              </a:rPr>
              <a:t>故而我们需要一个引理：</a:t>
            </a:r>
            <a:r>
              <a:rPr lang="zh-CN" altLang="en-US" sz="1800" dirty="0">
                <a:sym typeface="+mn-ea"/>
              </a:rPr>
              <a:t>若</a:t>
            </a:r>
            <a:r>
              <a:rPr lang="en-US" altLang="zh-CN" sz="1800" i="1" dirty="0">
                <a:sym typeface="+mn-ea"/>
              </a:rPr>
              <a:t>V</a:t>
            </a:r>
            <a:r>
              <a:rPr lang="en-US" altLang="zh-CN" sz="1800" dirty="0">
                <a:sym typeface="+mn-ea"/>
              </a:rPr>
              <a:t>→</a:t>
            </a:r>
            <a:r>
              <a:rPr lang="en-US" altLang="zh-CN" sz="1800" i="1" dirty="0">
                <a:sym typeface="+mn-ea"/>
              </a:rPr>
              <a:t>W</a:t>
            </a:r>
            <a:r>
              <a:rPr lang="zh-CN" altLang="en-US" sz="1800" dirty="0">
                <a:sym typeface="+mn-ea"/>
              </a:rPr>
              <a:t>成立，且</a:t>
            </a:r>
            <a:r>
              <a:rPr lang="en-US" altLang="zh-CN" sz="1800" i="1" dirty="0">
                <a:sym typeface="+mn-ea"/>
              </a:rPr>
              <a:t>V</a:t>
            </a:r>
            <a:r>
              <a:rPr lang="en-US" altLang="zh-CN" sz="1800" dirty="0">
                <a:sym typeface="+mn-ea"/>
              </a:rPr>
              <a:t> </a:t>
            </a:r>
            <a:r>
              <a:rPr lang="en-US" altLang="zh-CN" sz="1800" dirty="0">
                <a:sym typeface="Symbol" panose="05050102010706020507" pitchFamily="18" charset="2"/>
              </a:rPr>
              <a:t></a:t>
            </a:r>
            <a:r>
              <a:rPr lang="en-US" altLang="zh-CN" sz="1800" dirty="0">
                <a:sym typeface="+mn-ea"/>
              </a:rPr>
              <a:t> </a:t>
            </a:r>
            <a:r>
              <a:rPr lang="en-US" altLang="zh-CN" sz="1800" i="1" dirty="0">
                <a:sym typeface="+mn-ea"/>
              </a:rPr>
              <a:t>X</a:t>
            </a:r>
            <a:r>
              <a:rPr lang="en-US" altLang="zh-CN" sz="1800" i="1" baseline="-30000" dirty="0">
                <a:sym typeface="+mn-ea"/>
              </a:rPr>
              <a:t>F</a:t>
            </a:r>
            <a:r>
              <a:rPr lang="en-US" altLang="zh-CN" sz="1800" baseline="30000" dirty="0">
                <a:sym typeface="+mn-ea"/>
              </a:rPr>
              <a:t>+</a:t>
            </a:r>
            <a:r>
              <a:rPr lang="zh-CN" altLang="en-US" sz="1800" dirty="0">
                <a:sym typeface="+mn-ea"/>
              </a:rPr>
              <a:t>，则</a:t>
            </a:r>
            <a:r>
              <a:rPr lang="en-US" altLang="zh-CN" sz="1800" i="1" dirty="0">
                <a:sym typeface="+mn-ea"/>
              </a:rPr>
              <a:t>W</a:t>
            </a:r>
            <a:r>
              <a:rPr lang="en-US" altLang="zh-CN" sz="1800" dirty="0">
                <a:sym typeface="+mn-ea"/>
              </a:rPr>
              <a:t> </a:t>
            </a:r>
            <a:r>
              <a:rPr lang="en-US" altLang="zh-CN" sz="1800" dirty="0">
                <a:sym typeface="Symbol" panose="05050102010706020507" pitchFamily="18" charset="2"/>
              </a:rPr>
              <a:t></a:t>
            </a:r>
            <a:r>
              <a:rPr lang="en-US" altLang="zh-CN" sz="1800" dirty="0">
                <a:sym typeface="+mn-ea"/>
              </a:rPr>
              <a:t> </a:t>
            </a:r>
            <a:r>
              <a:rPr lang="en-US" altLang="zh-CN" sz="1800" i="1" dirty="0">
                <a:sym typeface="+mn-ea"/>
              </a:rPr>
              <a:t>X</a:t>
            </a:r>
            <a:r>
              <a:rPr lang="en-US" altLang="zh-CN" sz="1800" i="1" baseline="-30000" dirty="0">
                <a:sym typeface="+mn-ea"/>
              </a:rPr>
              <a:t>F</a:t>
            </a:r>
            <a:r>
              <a:rPr lang="en-US" altLang="zh-CN" sz="1800" baseline="30000" dirty="0">
                <a:sym typeface="+mn-ea"/>
              </a:rPr>
              <a:t>+</a:t>
            </a:r>
            <a:endParaRPr lang="en-US" altLang="zh-CN" sz="1800" baseline="30000" dirty="0">
              <a:sym typeface="+mn-ea"/>
            </a:endParaRPr>
          </a:p>
          <a:p>
            <a:endParaRPr lang="zh-CN" altLang="en-US" sz="1800" b="1" baseline="30000" dirty="0"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3"/>
            </p:custDataLst>
          </p:nvPr>
        </p:nvGraphicFramePr>
        <p:xfrm>
          <a:off x="169545" y="986790"/>
          <a:ext cx="4536440" cy="1322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220"/>
                <a:gridCol w="2268220"/>
              </a:tblGrid>
              <a:tr h="44069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noFill/>
                  </a:tcPr>
                </a:tc>
              </a:tr>
              <a:tr h="44069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noFill/>
                  </a:tcPr>
                </a:tc>
              </a:tr>
              <a:tr h="44069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715510" y="771525"/>
            <a:ext cx="443293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dirty="0">
                <a:sym typeface="+mn-ea"/>
              </a:rPr>
              <a:t>第一，</a:t>
            </a:r>
            <a:r>
              <a:rPr lang="en-US" altLang="zh-CN" sz="1600" dirty="0">
                <a:sym typeface="+mn-ea"/>
              </a:rPr>
              <a:t>r</a:t>
            </a:r>
            <a:r>
              <a:rPr lang="zh-CN" altLang="en-US" sz="1600" dirty="0">
                <a:sym typeface="+mn-ea"/>
              </a:rPr>
              <a:t>必然是</a:t>
            </a:r>
            <a:r>
              <a:rPr lang="en-US" altLang="zh-CN" sz="1600" dirty="0">
                <a:sym typeface="+mn-ea"/>
              </a:rPr>
              <a:t>R</a:t>
            </a:r>
            <a:r>
              <a:rPr lang="zh-CN" altLang="en-US" sz="1600" dirty="0">
                <a:sym typeface="+mn-ea"/>
              </a:rPr>
              <a:t>（</a:t>
            </a:r>
            <a:r>
              <a:rPr lang="en-US" altLang="zh-CN" sz="1600" dirty="0">
                <a:sym typeface="+mn-ea"/>
              </a:rPr>
              <a:t>U</a:t>
            </a:r>
            <a:r>
              <a:rPr lang="zh-CN" altLang="en-US" sz="1600" dirty="0">
                <a:sym typeface="+mn-ea"/>
              </a:rPr>
              <a:t>，</a:t>
            </a:r>
            <a:r>
              <a:rPr lang="en-US" altLang="zh-CN" sz="1600" dirty="0">
                <a:sym typeface="+mn-ea"/>
              </a:rPr>
              <a:t>F</a:t>
            </a:r>
            <a:r>
              <a:rPr lang="zh-CN" altLang="en-US" sz="1600" dirty="0">
                <a:sym typeface="+mn-ea"/>
              </a:rPr>
              <a:t>）的关系，即</a:t>
            </a:r>
            <a:r>
              <a:rPr lang="en-US" altLang="zh-CN" sz="1600" dirty="0">
                <a:sym typeface="+mn-ea"/>
              </a:rPr>
              <a:t>F</a:t>
            </a:r>
            <a:r>
              <a:rPr lang="zh-CN" altLang="en-US" sz="1600" dirty="0">
                <a:sym typeface="+mn-ea"/>
              </a:rPr>
              <a:t>中全部函数依赖在</a:t>
            </a:r>
            <a:r>
              <a:rPr lang="en-US" altLang="zh-CN" sz="1600" dirty="0">
                <a:sym typeface="+mn-ea"/>
              </a:rPr>
              <a:t>r</a:t>
            </a:r>
            <a:r>
              <a:rPr lang="zh-CN" altLang="en-US" sz="1600" dirty="0">
                <a:sym typeface="+mn-ea"/>
              </a:rPr>
              <a:t>上均成立。</a:t>
            </a:r>
            <a:endParaRPr lang="zh-CN" altLang="en-US" sz="1600" dirty="0">
              <a:sym typeface="+mn-ea"/>
            </a:endParaRPr>
          </a:p>
          <a:p>
            <a:r>
              <a:rPr lang="zh-CN" altLang="en-US" sz="1600" dirty="0">
                <a:sym typeface="+mn-ea"/>
              </a:rPr>
              <a:t>第二，</a:t>
            </a:r>
            <a:r>
              <a:rPr lang="zh-CN" altLang="en-US" sz="1600" dirty="0">
                <a:sym typeface="+mn-ea"/>
              </a:rPr>
              <a:t>观察</a:t>
            </a:r>
            <a:r>
              <a:rPr lang="en-US" altLang="zh-CN" sz="1600" i="1" dirty="0">
                <a:sym typeface="+mn-ea"/>
              </a:rPr>
              <a:t>r</a:t>
            </a:r>
            <a:r>
              <a:rPr lang="zh-CN" altLang="en-US" sz="1600" dirty="0">
                <a:sym typeface="+mn-ea"/>
              </a:rPr>
              <a:t>，若</a:t>
            </a:r>
            <a:r>
              <a:rPr lang="en-US" altLang="zh-CN" sz="1600" i="1" dirty="0">
                <a:sym typeface="+mn-ea"/>
              </a:rPr>
              <a:t>X</a:t>
            </a:r>
            <a:r>
              <a:rPr lang="en-US" altLang="zh-CN" sz="1600" dirty="0">
                <a:sym typeface="+mn-ea"/>
              </a:rPr>
              <a:t>→</a:t>
            </a:r>
            <a:r>
              <a:rPr lang="en-US" altLang="zh-CN" sz="1600" i="1" dirty="0">
                <a:sym typeface="+mn-ea"/>
              </a:rPr>
              <a:t>Y</a:t>
            </a:r>
            <a:r>
              <a:rPr lang="zh-CN" altLang="en-US" sz="1600" dirty="0">
                <a:sym typeface="+mn-ea"/>
              </a:rPr>
              <a:t>不能由</a:t>
            </a:r>
            <a:r>
              <a:rPr lang="en-US" altLang="zh-CN" sz="1600" i="1" dirty="0">
                <a:sym typeface="+mn-ea"/>
              </a:rPr>
              <a:t>F</a:t>
            </a:r>
            <a:r>
              <a:rPr lang="zh-CN" altLang="en-US" sz="1600" dirty="0">
                <a:sym typeface="+mn-ea"/>
              </a:rPr>
              <a:t>从</a:t>
            </a:r>
            <a:r>
              <a:rPr lang="en-US" altLang="zh-CN" sz="1600" dirty="0">
                <a:sym typeface="+mn-ea"/>
              </a:rPr>
              <a:t>Armstrong</a:t>
            </a:r>
            <a:r>
              <a:rPr lang="zh-CN" altLang="en-US" sz="1600" dirty="0">
                <a:sym typeface="+mn-ea"/>
              </a:rPr>
              <a:t>公理导出，则</a:t>
            </a:r>
            <a:r>
              <a:rPr lang="en-US" altLang="zh-CN" sz="1600" dirty="0">
                <a:sym typeface="+mn-ea"/>
              </a:rPr>
              <a:t>Y</a:t>
            </a:r>
            <a:r>
              <a:rPr lang="zh-CN" altLang="en-US" sz="1600" dirty="0">
                <a:sym typeface="+mn-ea"/>
              </a:rPr>
              <a:t>不是</a:t>
            </a:r>
            <a:r>
              <a:rPr lang="en-US" altLang="zh-CN" sz="1600" i="1" dirty="0">
                <a:sym typeface="+mn-ea"/>
              </a:rPr>
              <a:t>X</a:t>
            </a:r>
            <a:r>
              <a:rPr lang="en-US" altLang="zh-CN" sz="1600" i="1" baseline="-30000" dirty="0">
                <a:sym typeface="+mn-ea"/>
              </a:rPr>
              <a:t>F</a:t>
            </a:r>
            <a:r>
              <a:rPr lang="en-US" altLang="zh-CN" sz="1600" baseline="30000" dirty="0">
                <a:sym typeface="+mn-ea"/>
              </a:rPr>
              <a:t>+</a:t>
            </a:r>
            <a:r>
              <a:rPr lang="zh-CN" altLang="en-US" sz="1600" dirty="0">
                <a:sym typeface="+mn-ea"/>
              </a:rPr>
              <a:t>的子集，</a:t>
            </a:r>
            <a:r>
              <a:rPr lang="zh-CN" altLang="en-US" sz="1600" dirty="0">
                <a:sym typeface="+mn-ea"/>
              </a:rPr>
              <a:t>必有</a:t>
            </a:r>
            <a:r>
              <a:rPr lang="en-US" altLang="zh-CN" sz="1600" i="1" dirty="0">
                <a:sym typeface="+mn-ea"/>
              </a:rPr>
              <a:t>Y</a:t>
            </a:r>
            <a:r>
              <a:rPr lang="zh-CN" altLang="en-US" sz="1600" dirty="0">
                <a:sym typeface="+mn-ea"/>
              </a:rPr>
              <a:t>的子集</a:t>
            </a:r>
            <a:r>
              <a:rPr lang="en-US" altLang="zh-CN" sz="1600" i="1" dirty="0">
                <a:sym typeface="+mn-ea"/>
              </a:rPr>
              <a:t>Y’ </a:t>
            </a:r>
            <a:r>
              <a:rPr lang="zh-CN" altLang="en-US" sz="1600" dirty="0">
                <a:sym typeface="+mn-ea"/>
              </a:rPr>
              <a:t>满足</a:t>
            </a:r>
            <a:r>
              <a:rPr lang="en-US" altLang="zh-CN" sz="1600" i="1" dirty="0">
                <a:sym typeface="+mn-ea"/>
              </a:rPr>
              <a:t>Y’</a:t>
            </a:r>
            <a:r>
              <a:rPr lang="en-US" altLang="zh-CN" sz="1600" dirty="0">
                <a:sym typeface="Symbol" panose="05050102010706020507" pitchFamily="18" charset="2"/>
              </a:rPr>
              <a:t></a:t>
            </a:r>
            <a:r>
              <a:rPr lang="en-US" altLang="zh-CN" sz="1600" i="1" dirty="0">
                <a:sym typeface="+mn-ea"/>
              </a:rPr>
              <a:t>U</a:t>
            </a:r>
            <a:r>
              <a:rPr lang="en-US" altLang="zh-CN" sz="1600" dirty="0">
                <a:sym typeface="+mn-ea"/>
              </a:rPr>
              <a:t>-</a:t>
            </a:r>
            <a:r>
              <a:rPr lang="en-US" altLang="zh-CN" sz="1600" i="1" dirty="0">
                <a:sym typeface="+mn-ea"/>
              </a:rPr>
              <a:t>X</a:t>
            </a:r>
            <a:r>
              <a:rPr lang="en-US" altLang="zh-CN" sz="1600" i="1" baseline="-30000" dirty="0">
                <a:sym typeface="+mn-ea"/>
              </a:rPr>
              <a:t>F</a:t>
            </a:r>
            <a:r>
              <a:rPr lang="en-US" altLang="zh-CN" sz="1600" baseline="30000" dirty="0">
                <a:sym typeface="+mn-ea"/>
              </a:rPr>
              <a:t>+</a:t>
            </a:r>
            <a:r>
              <a:rPr lang="zh-CN" altLang="en-US" sz="1600" dirty="0">
                <a:sym typeface="+mn-ea"/>
              </a:rPr>
              <a:t>，则</a:t>
            </a:r>
            <a:r>
              <a:rPr lang="en-US" altLang="zh-CN" sz="1600" i="1" dirty="0">
                <a:sym typeface="+mn-ea"/>
              </a:rPr>
              <a:t>X</a:t>
            </a:r>
            <a:r>
              <a:rPr lang="en-US" altLang="zh-CN" sz="1600" dirty="0">
                <a:sym typeface="+mn-ea"/>
              </a:rPr>
              <a:t>→</a:t>
            </a:r>
            <a:r>
              <a:rPr lang="en-US" altLang="zh-CN" sz="1600" i="1" dirty="0">
                <a:sym typeface="+mn-ea"/>
              </a:rPr>
              <a:t>Y </a:t>
            </a:r>
            <a:r>
              <a:rPr lang="zh-CN" altLang="en-US" sz="1600" dirty="0">
                <a:sym typeface="+mn-ea"/>
              </a:rPr>
              <a:t>在 </a:t>
            </a:r>
            <a:r>
              <a:rPr lang="en-US" altLang="zh-CN" sz="1600" i="1" dirty="0">
                <a:sym typeface="+mn-ea"/>
              </a:rPr>
              <a:t>r </a:t>
            </a:r>
            <a:r>
              <a:rPr lang="zh-CN" altLang="en-US" sz="1600" dirty="0">
                <a:sym typeface="+mn-ea"/>
              </a:rPr>
              <a:t>中不成立。即</a:t>
            </a:r>
            <a:r>
              <a:rPr lang="en-US" altLang="zh-CN" sz="1600" i="1" dirty="0">
                <a:sym typeface="+mn-ea"/>
              </a:rPr>
              <a:t>X</a:t>
            </a:r>
            <a:r>
              <a:rPr lang="en-US" altLang="zh-CN" sz="1600" dirty="0">
                <a:sym typeface="+mn-ea"/>
              </a:rPr>
              <a:t>→</a:t>
            </a:r>
            <a:r>
              <a:rPr lang="en-US" altLang="zh-CN" sz="1600" i="1" dirty="0">
                <a:sym typeface="+mn-ea"/>
              </a:rPr>
              <a:t>Y </a:t>
            </a:r>
            <a:r>
              <a:rPr lang="zh-CN" altLang="en-US" sz="1600" dirty="0">
                <a:sym typeface="+mn-ea"/>
              </a:rPr>
              <a:t>必不为</a:t>
            </a:r>
            <a:r>
              <a:rPr lang="en-US" altLang="zh-CN" sz="1600" i="1" dirty="0">
                <a:sym typeface="+mn-ea"/>
              </a:rPr>
              <a:t>R</a:t>
            </a:r>
            <a:r>
              <a:rPr lang="en-US" altLang="zh-CN" sz="1600" dirty="0">
                <a:sym typeface="+mn-ea"/>
              </a:rPr>
              <a:t>&lt;</a:t>
            </a:r>
            <a:r>
              <a:rPr lang="en-US" altLang="zh-CN" sz="1600" i="1" dirty="0">
                <a:sym typeface="+mn-ea"/>
              </a:rPr>
              <a:t>U</a:t>
            </a:r>
            <a:r>
              <a:rPr lang="zh-CN" altLang="en-US" sz="1600" dirty="0">
                <a:sym typeface="+mn-ea"/>
              </a:rPr>
              <a:t>，</a:t>
            </a:r>
            <a:r>
              <a:rPr lang="en-US" altLang="zh-CN" sz="1600" i="1" dirty="0">
                <a:sym typeface="+mn-ea"/>
              </a:rPr>
              <a:t>F</a:t>
            </a:r>
            <a:r>
              <a:rPr lang="en-US" altLang="zh-CN" sz="1600" dirty="0">
                <a:sym typeface="+mn-ea"/>
              </a:rPr>
              <a:t>&gt; </a:t>
            </a:r>
            <a:r>
              <a:rPr lang="zh-CN" altLang="en-US" sz="1600" dirty="0">
                <a:sym typeface="+mn-ea"/>
              </a:rPr>
              <a:t>蕴含。</a:t>
            </a:r>
            <a:endParaRPr lang="zh-CN" altLang="en-US" sz="1600" b="1" dirty="0">
              <a:sym typeface="+mn-ea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200" dirty="0"/>
              <a:t>4. Armstrong</a:t>
            </a:r>
            <a:r>
              <a:rPr lang="zh-CN" altLang="en-US" sz="3200" dirty="0"/>
              <a:t>公理系统的有效性与完备性</a:t>
            </a:r>
            <a:endParaRPr lang="en-US" altLang="zh-CN" sz="3200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 typeface="Monotype Sorts" pitchFamily="2" charset="2"/>
              <a:buNone/>
            </a:pPr>
            <a:r>
              <a:rPr lang="en-US" altLang="zh-CN" dirty="0"/>
              <a:t>(1) </a:t>
            </a:r>
            <a:r>
              <a:rPr lang="zh-CN" altLang="en-US" dirty="0"/>
              <a:t>若</a:t>
            </a:r>
            <a:r>
              <a:rPr lang="en-US" altLang="zh-CN" i="1" dirty="0"/>
              <a:t>V</a:t>
            </a:r>
            <a:r>
              <a:rPr lang="en-US" altLang="zh-CN" dirty="0"/>
              <a:t>→</a:t>
            </a:r>
            <a:r>
              <a:rPr lang="en-US" altLang="zh-CN" i="1" dirty="0"/>
              <a:t>W</a:t>
            </a:r>
            <a:r>
              <a:rPr lang="zh-CN" altLang="en-US" dirty="0"/>
              <a:t>成立，且</a:t>
            </a:r>
            <a:r>
              <a:rPr lang="en-US" altLang="zh-CN" i="1" dirty="0"/>
              <a:t>V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i="1" baseline="-30000" dirty="0"/>
              <a:t>F</a:t>
            </a:r>
            <a:r>
              <a:rPr lang="en-US" altLang="zh-CN" baseline="30000" dirty="0"/>
              <a:t>+</a:t>
            </a:r>
            <a:r>
              <a:rPr lang="zh-CN" altLang="en-US" dirty="0"/>
              <a:t>，则</a:t>
            </a:r>
            <a:r>
              <a:rPr lang="en-US" altLang="zh-CN" i="1" dirty="0"/>
              <a:t>W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i="1" baseline="-30000" dirty="0"/>
              <a:t>F</a:t>
            </a:r>
            <a:r>
              <a:rPr lang="en-US" altLang="zh-CN" baseline="30000" dirty="0"/>
              <a:t>+ </a:t>
            </a:r>
            <a:endParaRPr lang="en-US" altLang="zh-CN" dirty="0"/>
          </a:p>
          <a:p>
            <a:pPr lvl="1" algn="just" eaLnBrk="1" hangingPunct="1">
              <a:buFontTx/>
              <a:buNone/>
            </a:pPr>
            <a:r>
              <a:rPr lang="zh-CN" altLang="en-US" dirty="0"/>
              <a:t>证  因为 </a:t>
            </a:r>
            <a:r>
              <a:rPr lang="en-US" altLang="zh-CN" i="1" dirty="0"/>
              <a:t>V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i="1" baseline="-30000" dirty="0"/>
              <a:t>F</a:t>
            </a:r>
            <a:r>
              <a:rPr lang="en-US" altLang="zh-CN" baseline="30000" dirty="0"/>
              <a:t>+ </a:t>
            </a:r>
            <a:r>
              <a:rPr lang="zh-CN" altLang="en-US" dirty="0"/>
              <a:t>，所以有</a:t>
            </a:r>
            <a:r>
              <a:rPr lang="en-US" altLang="zh-CN" i="1" dirty="0"/>
              <a:t>X</a:t>
            </a:r>
            <a:r>
              <a:rPr lang="en-US" altLang="zh-CN" dirty="0"/>
              <a:t>→</a:t>
            </a:r>
            <a:r>
              <a:rPr lang="en-US" altLang="zh-CN" i="1" dirty="0"/>
              <a:t>V</a:t>
            </a:r>
            <a:r>
              <a:rPr lang="zh-CN" altLang="en-US" dirty="0"/>
              <a:t>成立；</a:t>
            </a:r>
            <a:endParaRPr lang="zh-CN" altLang="en-US" dirty="0"/>
          </a:p>
          <a:p>
            <a:pPr lvl="1" eaLnBrk="1" hangingPunct="1">
              <a:buFontTx/>
              <a:buNone/>
            </a:pPr>
            <a:r>
              <a:rPr lang="zh-CN" altLang="en-US" dirty="0"/>
              <a:t>      因为</a:t>
            </a:r>
            <a:r>
              <a:rPr lang="en-US" altLang="zh-CN" i="1" dirty="0"/>
              <a:t>X </a:t>
            </a:r>
            <a:r>
              <a:rPr lang="en-US" altLang="zh-CN" dirty="0"/>
              <a:t>→</a:t>
            </a:r>
            <a:r>
              <a:rPr lang="en-US" altLang="zh-CN" i="1" dirty="0"/>
              <a:t>V</a:t>
            </a:r>
            <a:r>
              <a:rPr lang="zh-CN" altLang="en-US" dirty="0"/>
              <a:t>，</a:t>
            </a:r>
            <a:r>
              <a:rPr lang="en-US" altLang="zh-CN" i="1" dirty="0"/>
              <a:t>V</a:t>
            </a:r>
            <a:r>
              <a:rPr lang="en-US" altLang="zh-CN" dirty="0"/>
              <a:t>→</a:t>
            </a:r>
            <a:r>
              <a:rPr lang="en-US" altLang="zh-CN" i="1" dirty="0"/>
              <a:t>W</a:t>
            </a:r>
            <a:r>
              <a:rPr lang="zh-CN" altLang="en-US" dirty="0"/>
              <a:t>，于是</a:t>
            </a:r>
            <a:r>
              <a:rPr lang="en-US" altLang="zh-CN" i="1" dirty="0"/>
              <a:t>X</a:t>
            </a:r>
            <a:r>
              <a:rPr lang="en-US" altLang="zh-CN" dirty="0"/>
              <a:t>→</a:t>
            </a:r>
            <a:r>
              <a:rPr lang="en-US" altLang="zh-CN" i="1" dirty="0"/>
              <a:t>W </a:t>
            </a:r>
            <a:r>
              <a:rPr lang="zh-CN" altLang="en-US" dirty="0"/>
              <a:t>成立</a:t>
            </a:r>
            <a:endParaRPr lang="zh-CN" altLang="en-US" dirty="0"/>
          </a:p>
          <a:p>
            <a:pPr lvl="1" eaLnBrk="1" hangingPunct="1">
              <a:buFontTx/>
              <a:buNone/>
            </a:pPr>
            <a:r>
              <a:rPr lang="zh-CN" altLang="en-US" dirty="0"/>
              <a:t>      所以</a:t>
            </a:r>
            <a:r>
              <a:rPr lang="en-US" altLang="zh-CN" i="1" dirty="0"/>
              <a:t>W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i="1" baseline="-30000" dirty="0"/>
              <a:t>F</a:t>
            </a:r>
            <a:r>
              <a:rPr lang="en-US" altLang="zh-CN" baseline="30000" dirty="0"/>
              <a:t>+ </a:t>
            </a:r>
            <a:r>
              <a:rPr lang="zh-CN" altLang="en-US" dirty="0"/>
              <a:t>。 </a:t>
            </a:r>
            <a:endParaRPr lang="zh-CN" altLang="en-US" dirty="0"/>
          </a:p>
        </p:txBody>
      </p:sp>
    </p:spTree>
  </p:cSld>
  <p:clrMapOvr>
    <a:masterClrMapping/>
  </p:clrMapOvr>
  <p:transition spd="slow"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200" dirty="0"/>
              <a:t>4. Armstrong</a:t>
            </a:r>
            <a:r>
              <a:rPr lang="zh-CN" altLang="en-US" sz="3200" dirty="0"/>
              <a:t>公理系统的有效性与完备性</a:t>
            </a:r>
            <a:endParaRPr lang="en-US" altLang="zh-CN" sz="3200" dirty="0"/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844154"/>
            <a:ext cx="8329642" cy="4138629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800" dirty="0"/>
              <a:t>(2) </a:t>
            </a:r>
            <a:r>
              <a:rPr lang="zh-CN" altLang="en-US" sz="2800" dirty="0"/>
              <a:t>构造一张二维表</a:t>
            </a:r>
            <a:r>
              <a:rPr lang="en-US" altLang="zh-CN" sz="2800" i="1" dirty="0"/>
              <a:t>r</a:t>
            </a:r>
            <a:r>
              <a:rPr lang="zh-CN" altLang="en-US" sz="2800" dirty="0"/>
              <a:t>，它由下列两个元组构成，可以证明</a:t>
            </a:r>
            <a:r>
              <a:rPr lang="en-US" altLang="zh-CN" sz="2800" i="1" dirty="0"/>
              <a:t>r </a:t>
            </a:r>
            <a:r>
              <a:rPr lang="zh-CN" altLang="en-US" sz="2800" dirty="0"/>
              <a:t>必是</a:t>
            </a:r>
            <a:r>
              <a:rPr lang="en-US" altLang="zh-CN" sz="2800" i="1" dirty="0"/>
              <a:t>R</a:t>
            </a:r>
            <a:r>
              <a:rPr lang="en-US" altLang="zh-CN" sz="2800" dirty="0"/>
              <a:t>&lt;</a:t>
            </a:r>
            <a:r>
              <a:rPr lang="en-US" altLang="zh-CN" sz="2800" i="1" dirty="0"/>
              <a:t>U</a:t>
            </a:r>
            <a:r>
              <a:rPr lang="zh-CN" altLang="en-US" sz="2800" dirty="0"/>
              <a:t>，</a:t>
            </a:r>
            <a:r>
              <a:rPr lang="en-US" altLang="zh-CN" sz="2800" i="1" dirty="0"/>
              <a:t>F&gt;</a:t>
            </a:r>
            <a:r>
              <a:rPr lang="zh-CN" altLang="en-US" sz="2800" dirty="0"/>
              <a:t>的一个关系，即</a:t>
            </a:r>
            <a:r>
              <a:rPr lang="en-US" altLang="zh-CN" sz="2800" i="1" dirty="0"/>
              <a:t>F</a:t>
            </a:r>
            <a:r>
              <a:rPr lang="zh-CN" altLang="en-US" sz="2800" dirty="0"/>
              <a:t>中的全部函数依赖在 </a:t>
            </a:r>
            <a:r>
              <a:rPr lang="en-US" altLang="zh-CN" sz="2800" i="1" dirty="0"/>
              <a:t>r</a:t>
            </a:r>
            <a:r>
              <a:rPr lang="zh-CN" altLang="en-US" sz="2800" dirty="0"/>
              <a:t>上成立。 </a:t>
            </a:r>
            <a:endParaRPr lang="zh-CN" altLang="en-US" sz="2800" dirty="0"/>
          </a:p>
          <a:p>
            <a:pPr algn="just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i="1" dirty="0"/>
              <a:t>			       X</a:t>
            </a:r>
            <a:r>
              <a:rPr lang="en-US" altLang="zh-CN" sz="2800" i="1" baseline="-30000" dirty="0"/>
              <a:t>F</a:t>
            </a:r>
            <a:r>
              <a:rPr lang="en-US" altLang="zh-CN" sz="2800" baseline="30000" dirty="0"/>
              <a:t>+</a:t>
            </a:r>
            <a:r>
              <a:rPr lang="en-US" altLang="zh-CN" sz="2800" dirty="0"/>
              <a:t>    		</a:t>
            </a:r>
            <a:r>
              <a:rPr lang="en-US" altLang="zh-CN" sz="2800" i="1" dirty="0"/>
              <a:t>U </a:t>
            </a:r>
            <a:r>
              <a:rPr lang="en-US" altLang="zh-CN" sz="2800" dirty="0"/>
              <a:t>- </a:t>
            </a:r>
            <a:r>
              <a:rPr lang="en-US" altLang="zh-CN" sz="2800" i="1" dirty="0"/>
              <a:t>X</a:t>
            </a:r>
            <a:r>
              <a:rPr lang="en-US" altLang="zh-CN" sz="2800" i="1" baseline="-30000" dirty="0"/>
              <a:t>F</a:t>
            </a:r>
            <a:r>
              <a:rPr lang="en-US" altLang="zh-CN" sz="2800" baseline="30000" dirty="0"/>
              <a:t>+</a:t>
            </a:r>
            <a:r>
              <a:rPr lang="en-US" altLang="zh-CN" sz="2800" dirty="0"/>
              <a:t>	</a:t>
            </a:r>
            <a:endParaRPr lang="en-US" altLang="zh-CN" sz="2800" dirty="0"/>
          </a:p>
          <a:p>
            <a:pPr algn="just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dirty="0"/>
              <a:t>                      11......1		00......0  </a:t>
            </a:r>
            <a:endParaRPr lang="en-US" altLang="zh-CN" sz="2800" dirty="0"/>
          </a:p>
          <a:p>
            <a:pPr algn="just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800" dirty="0"/>
              <a:t>                      11......1		11......1  </a:t>
            </a:r>
            <a:r>
              <a:rPr lang="en-US" altLang="zh-CN" sz="1800" dirty="0"/>
              <a:t>	</a:t>
            </a:r>
            <a:endParaRPr lang="en-US" altLang="zh-CN" sz="1800" dirty="0"/>
          </a:p>
          <a:p>
            <a:pPr algn="just" eaLnBrk="1" hangingPunct="1">
              <a:lnSpc>
                <a:spcPct val="110000"/>
              </a:lnSpc>
              <a:buFont typeface="Monotype Sorts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  </a:t>
            </a:r>
            <a:r>
              <a:rPr lang="zh-CN" altLang="en-US" sz="2000" dirty="0">
                <a:latin typeface="Arial" panose="020B0604020202020204" pitchFamily="34" charset="0"/>
                <a:ea typeface="+mn-ea"/>
              </a:rPr>
              <a:t>若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r </a:t>
            </a:r>
            <a:r>
              <a:rPr lang="zh-CN" altLang="en-US" sz="2000" dirty="0">
                <a:latin typeface="Arial" panose="020B0604020202020204" pitchFamily="34" charset="0"/>
                <a:ea typeface="+mn-ea"/>
              </a:rPr>
              <a:t>不是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R</a:t>
            </a:r>
            <a:r>
              <a:rPr lang="en-US" altLang="zh-CN" sz="2000" dirty="0">
                <a:latin typeface="Arial" panose="020B0604020202020204" pitchFamily="34" charset="0"/>
                <a:ea typeface="+mn-ea"/>
              </a:rPr>
              <a:t>&lt;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U</a:t>
            </a:r>
            <a:r>
              <a:rPr lang="zh-CN" altLang="en-US" sz="2000" dirty="0">
                <a:latin typeface="Arial" panose="020B0604020202020204" pitchFamily="34" charset="0"/>
                <a:ea typeface="+mn-ea"/>
              </a:rPr>
              <a:t>，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F</a:t>
            </a:r>
            <a:r>
              <a:rPr lang="en-US" altLang="zh-CN" sz="2000" dirty="0">
                <a:latin typeface="Arial" panose="020B0604020202020204" pitchFamily="34" charset="0"/>
                <a:ea typeface="+mn-ea"/>
              </a:rPr>
              <a:t>&gt; </a:t>
            </a:r>
            <a:r>
              <a:rPr lang="zh-CN" altLang="en-US" sz="2000" dirty="0">
                <a:latin typeface="Arial" panose="020B0604020202020204" pitchFamily="34" charset="0"/>
                <a:ea typeface="+mn-ea"/>
              </a:rPr>
              <a:t>的关系，则必由于</a:t>
            </a:r>
            <a:r>
              <a:rPr lang="en-US" altLang="zh-CN" sz="2000" dirty="0">
                <a:latin typeface="Arial" panose="020B0604020202020204" pitchFamily="34" charset="0"/>
                <a:ea typeface="+mn-ea"/>
              </a:rPr>
              <a:t>F</a:t>
            </a:r>
            <a:r>
              <a:rPr lang="zh-CN" altLang="en-US" sz="2000" dirty="0">
                <a:latin typeface="Arial" panose="020B0604020202020204" pitchFamily="34" charset="0"/>
                <a:ea typeface="+mn-ea"/>
              </a:rPr>
              <a:t>中有函数依赖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V</a:t>
            </a:r>
            <a:r>
              <a:rPr lang="en-US" altLang="zh-CN" sz="2000" dirty="0">
                <a:latin typeface="Arial" panose="020B0604020202020204" pitchFamily="34" charset="0"/>
                <a:ea typeface="+mn-ea"/>
              </a:rPr>
              <a:t>→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W</a:t>
            </a:r>
            <a:r>
              <a:rPr lang="zh-CN" altLang="en-US" sz="2000" dirty="0">
                <a:latin typeface="Arial" panose="020B0604020202020204" pitchFamily="34" charset="0"/>
                <a:ea typeface="+mn-ea"/>
              </a:rPr>
              <a:t>在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r</a:t>
            </a:r>
            <a:r>
              <a:rPr lang="zh-CN" altLang="en-US" sz="2000" dirty="0">
                <a:latin typeface="Arial" panose="020B0604020202020204" pitchFamily="34" charset="0"/>
                <a:ea typeface="+mn-ea"/>
              </a:rPr>
              <a:t>上不成立所致。由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r </a:t>
            </a:r>
            <a:r>
              <a:rPr lang="zh-CN" altLang="en-US" sz="2000" dirty="0">
                <a:latin typeface="Arial" panose="020B0604020202020204" pitchFamily="34" charset="0"/>
                <a:ea typeface="+mn-ea"/>
              </a:rPr>
              <a:t>的构成可知，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V </a:t>
            </a:r>
            <a:r>
              <a:rPr lang="zh-CN" altLang="en-US" sz="2000" dirty="0">
                <a:latin typeface="Arial" panose="020B0604020202020204" pitchFamily="34" charset="0"/>
                <a:ea typeface="+mn-ea"/>
              </a:rPr>
              <a:t>必定是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X</a:t>
            </a:r>
            <a:r>
              <a:rPr lang="en-US" altLang="zh-CN" sz="2000" i="1" baseline="-30000" dirty="0">
                <a:latin typeface="Arial" panose="020B0604020202020204" pitchFamily="34" charset="0"/>
                <a:ea typeface="+mn-ea"/>
              </a:rPr>
              <a:t>F</a:t>
            </a:r>
            <a:r>
              <a:rPr lang="en-US" altLang="zh-CN" sz="2000" baseline="30000" dirty="0">
                <a:latin typeface="Arial" panose="020B0604020202020204" pitchFamily="34" charset="0"/>
                <a:ea typeface="+mn-ea"/>
              </a:rPr>
              <a:t>+ </a:t>
            </a:r>
            <a:r>
              <a:rPr lang="zh-CN" altLang="en-US" sz="2000" dirty="0">
                <a:latin typeface="Arial" panose="020B0604020202020204" pitchFamily="34" charset="0"/>
                <a:ea typeface="+mn-ea"/>
              </a:rPr>
              <a:t>的子集，而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W </a:t>
            </a:r>
            <a:r>
              <a:rPr lang="zh-CN" altLang="en-US" sz="2000" dirty="0">
                <a:latin typeface="Arial" panose="020B0604020202020204" pitchFamily="34" charset="0"/>
                <a:ea typeface="+mn-ea"/>
              </a:rPr>
              <a:t>不是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X</a:t>
            </a:r>
            <a:r>
              <a:rPr lang="en-US" altLang="zh-CN" sz="2000" i="1" baseline="-30000" dirty="0">
                <a:latin typeface="Arial" panose="020B0604020202020204" pitchFamily="34" charset="0"/>
                <a:ea typeface="+mn-ea"/>
              </a:rPr>
              <a:t>F</a:t>
            </a:r>
            <a:r>
              <a:rPr lang="en-US" altLang="zh-CN" sz="2000" baseline="30000" dirty="0">
                <a:latin typeface="Arial" panose="020B0604020202020204" pitchFamily="34" charset="0"/>
                <a:ea typeface="+mn-ea"/>
              </a:rPr>
              <a:t>+ </a:t>
            </a:r>
            <a:r>
              <a:rPr lang="zh-CN" altLang="en-US" sz="2000" dirty="0">
                <a:latin typeface="Arial" panose="020B0604020202020204" pitchFamily="34" charset="0"/>
                <a:ea typeface="+mn-ea"/>
              </a:rPr>
              <a:t>的子集，可是由第（</a:t>
            </a:r>
            <a:r>
              <a:rPr lang="en-US" altLang="zh-CN" sz="2000" dirty="0">
                <a:latin typeface="Arial" panose="020B0604020202020204" pitchFamily="34" charset="0"/>
                <a:ea typeface="+mn-ea"/>
              </a:rPr>
              <a:t>1</a:t>
            </a:r>
            <a:r>
              <a:rPr lang="zh-CN" altLang="en-US" sz="2000" dirty="0">
                <a:latin typeface="Arial" panose="020B0604020202020204" pitchFamily="34" charset="0"/>
                <a:ea typeface="+mn-ea"/>
              </a:rPr>
              <a:t>）步，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W</a:t>
            </a:r>
            <a:r>
              <a:rPr lang="en-US" altLang="zh-CN" sz="2000" dirty="0">
                <a:latin typeface="Arial" panose="020B0604020202020204" pitchFamily="34" charset="0"/>
                <a:ea typeface="+mn-ea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</a:t>
            </a:r>
            <a:r>
              <a:rPr lang="en-US" altLang="zh-CN" sz="2000" dirty="0">
                <a:latin typeface="Arial" panose="020B0604020202020204" pitchFamily="34" charset="0"/>
                <a:ea typeface="+mn-ea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X</a:t>
            </a:r>
            <a:r>
              <a:rPr lang="en-US" altLang="zh-CN" sz="2000" i="1" baseline="-30000" dirty="0">
                <a:latin typeface="Arial" panose="020B0604020202020204" pitchFamily="34" charset="0"/>
                <a:ea typeface="+mn-ea"/>
              </a:rPr>
              <a:t>F</a:t>
            </a:r>
            <a:r>
              <a:rPr lang="en-US" altLang="zh-CN" sz="2000" baseline="30000" dirty="0">
                <a:latin typeface="Arial" panose="020B0604020202020204" pitchFamily="34" charset="0"/>
                <a:ea typeface="+mn-ea"/>
              </a:rPr>
              <a:t>+</a:t>
            </a:r>
            <a:r>
              <a:rPr lang="zh-CN" altLang="en-US" sz="2000" dirty="0">
                <a:latin typeface="Arial" panose="020B0604020202020204" pitchFamily="34" charset="0"/>
                <a:ea typeface="+mn-ea"/>
              </a:rPr>
              <a:t>，矛盾。所以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r </a:t>
            </a:r>
            <a:r>
              <a:rPr lang="zh-CN" altLang="en-US" sz="2000" dirty="0">
                <a:latin typeface="Arial" panose="020B0604020202020204" pitchFamily="34" charset="0"/>
                <a:ea typeface="+mn-ea"/>
              </a:rPr>
              <a:t>必是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R</a:t>
            </a:r>
            <a:r>
              <a:rPr lang="en-US" altLang="zh-CN" sz="2000" dirty="0">
                <a:latin typeface="Arial" panose="020B0604020202020204" pitchFamily="34" charset="0"/>
                <a:ea typeface="+mn-ea"/>
              </a:rPr>
              <a:t>&lt;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U</a:t>
            </a:r>
            <a:r>
              <a:rPr lang="zh-CN" altLang="en-US" sz="2000" dirty="0">
                <a:latin typeface="Arial" panose="020B0604020202020204" pitchFamily="34" charset="0"/>
                <a:ea typeface="+mn-ea"/>
              </a:rPr>
              <a:t>，</a:t>
            </a:r>
            <a:r>
              <a:rPr lang="en-US" altLang="zh-CN" sz="2000" i="1" dirty="0">
                <a:latin typeface="Arial" panose="020B0604020202020204" pitchFamily="34" charset="0"/>
                <a:ea typeface="+mn-ea"/>
              </a:rPr>
              <a:t>F</a:t>
            </a:r>
            <a:r>
              <a:rPr lang="en-US" altLang="zh-CN" sz="2000" dirty="0">
                <a:latin typeface="Arial" panose="020B0604020202020204" pitchFamily="34" charset="0"/>
                <a:ea typeface="+mn-ea"/>
              </a:rPr>
              <a:t>&gt;</a:t>
            </a:r>
            <a:r>
              <a:rPr lang="zh-CN" altLang="en-US" sz="2000" dirty="0">
                <a:latin typeface="Arial" panose="020B0604020202020204" pitchFamily="34" charset="0"/>
                <a:ea typeface="+mn-ea"/>
              </a:rPr>
              <a:t>的一个关系。 </a:t>
            </a:r>
            <a:endParaRPr lang="zh-CN" altLang="en-US" sz="2000" dirty="0">
              <a:latin typeface="Arial" panose="020B0604020202020204" pitchFamily="34" charset="0"/>
              <a:ea typeface="+mn-ea"/>
            </a:endParaRPr>
          </a:p>
        </p:txBody>
      </p:sp>
      <p:sp>
        <p:nvSpPr>
          <p:cNvPr id="151556" name="AutoShape 4"/>
          <p:cNvSpPr/>
          <p:nvPr/>
        </p:nvSpPr>
        <p:spPr bwMode="auto">
          <a:xfrm rot="5400000">
            <a:off x="3257538" y="1625352"/>
            <a:ext cx="1143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63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l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  <p:sp>
        <p:nvSpPr>
          <p:cNvPr id="151557" name="AutoShape 5"/>
          <p:cNvSpPr/>
          <p:nvPr/>
        </p:nvSpPr>
        <p:spPr bwMode="auto">
          <a:xfrm rot="5400000">
            <a:off x="5657826" y="1588490"/>
            <a:ext cx="1143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63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l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</p:spTree>
  </p:cSld>
  <p:clrMapOvr>
    <a:masterClrMapping/>
  </p:clrMapOvr>
  <p:transition spd="slow"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200" dirty="0"/>
              <a:t>4. Armstrong</a:t>
            </a:r>
            <a:r>
              <a:rPr lang="zh-CN" altLang="en-US" sz="3200" dirty="0"/>
              <a:t>公理系统的有效性与完备性</a:t>
            </a:r>
            <a:endParaRPr lang="en-US" altLang="zh-CN" sz="3200" dirty="0"/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  <a:buFont typeface="Monotype Sorts" pitchFamily="2" charset="2"/>
              <a:buNone/>
            </a:pPr>
            <a:r>
              <a:rPr lang="en-US" altLang="zh-CN" dirty="0"/>
              <a:t>(3)</a:t>
            </a:r>
            <a:r>
              <a:rPr lang="zh-CN" altLang="en-US" dirty="0"/>
              <a:t>若</a:t>
            </a:r>
            <a:r>
              <a:rPr lang="en-US" altLang="zh-CN" i="1" dirty="0"/>
              <a:t>X</a:t>
            </a:r>
            <a:r>
              <a:rPr lang="en-US" altLang="zh-CN" dirty="0"/>
              <a:t>→</a:t>
            </a:r>
            <a:r>
              <a:rPr lang="en-US" altLang="zh-CN" i="1" dirty="0"/>
              <a:t>Y</a:t>
            </a:r>
            <a:r>
              <a:rPr lang="zh-CN" altLang="en-US" dirty="0"/>
              <a:t>不能由</a:t>
            </a:r>
            <a:r>
              <a:rPr lang="en-US" altLang="zh-CN" i="1" dirty="0"/>
              <a:t>F</a:t>
            </a:r>
            <a:r>
              <a:rPr lang="zh-CN" altLang="en-US" dirty="0"/>
              <a:t>从</a:t>
            </a:r>
            <a:r>
              <a:rPr lang="en-US" altLang="zh-CN" dirty="0"/>
              <a:t>Armstrong</a:t>
            </a:r>
            <a:r>
              <a:rPr lang="zh-CN" altLang="en-US" dirty="0"/>
              <a:t>公理导出，则</a:t>
            </a:r>
            <a:r>
              <a:rPr lang="en-US" altLang="zh-CN" i="1" dirty="0"/>
              <a:t>Y</a:t>
            </a:r>
            <a:r>
              <a:rPr lang="zh-CN" altLang="en-US" dirty="0"/>
              <a:t>不是</a:t>
            </a:r>
            <a:r>
              <a:rPr lang="en-US" altLang="zh-CN" i="1" dirty="0"/>
              <a:t>X</a:t>
            </a:r>
            <a:r>
              <a:rPr lang="en-US" altLang="zh-CN" i="1" baseline="-30000" dirty="0"/>
              <a:t>F</a:t>
            </a:r>
            <a:r>
              <a:rPr lang="en-US" altLang="zh-CN" baseline="30000" dirty="0"/>
              <a:t>+</a:t>
            </a:r>
            <a:r>
              <a:rPr lang="zh-CN" altLang="en-US" dirty="0"/>
              <a:t>的子集。（引理</a:t>
            </a:r>
            <a:r>
              <a:rPr lang="en-US" altLang="zh-CN" dirty="0"/>
              <a:t>6.2</a:t>
            </a:r>
            <a:r>
              <a:rPr lang="zh-CN" altLang="en-US" dirty="0"/>
              <a:t>）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Font typeface="Monotype Sorts" pitchFamily="2" charset="2"/>
              <a:buNone/>
            </a:pPr>
            <a:r>
              <a:rPr lang="zh-CN" altLang="en-US" dirty="0"/>
              <a:t>   因此必有</a:t>
            </a:r>
            <a:r>
              <a:rPr lang="en-US" altLang="zh-CN" i="1" dirty="0"/>
              <a:t>Y</a:t>
            </a:r>
            <a:r>
              <a:rPr lang="zh-CN" altLang="en-US" dirty="0"/>
              <a:t>的子集</a:t>
            </a:r>
            <a:r>
              <a:rPr lang="en-US" altLang="zh-CN" i="1" dirty="0"/>
              <a:t>Y’ </a:t>
            </a:r>
            <a:r>
              <a:rPr lang="zh-CN" altLang="en-US" dirty="0"/>
              <a:t>满足</a:t>
            </a:r>
            <a:r>
              <a:rPr lang="en-US" altLang="zh-CN" i="1" dirty="0"/>
              <a:t>Y’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U</a:t>
            </a:r>
            <a:r>
              <a:rPr lang="en-US" altLang="zh-CN" dirty="0"/>
              <a:t>-</a:t>
            </a:r>
            <a:r>
              <a:rPr lang="en-US" altLang="zh-CN" i="1" dirty="0"/>
              <a:t>X</a:t>
            </a:r>
            <a:r>
              <a:rPr lang="en-US" altLang="zh-CN" i="1" baseline="-30000" dirty="0"/>
              <a:t>F</a:t>
            </a:r>
            <a:r>
              <a:rPr lang="en-US" altLang="zh-CN" baseline="30000" dirty="0"/>
              <a:t>+</a:t>
            </a:r>
            <a:r>
              <a:rPr lang="zh-CN" altLang="en-US" dirty="0"/>
              <a:t>，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buFont typeface="Monotype Sorts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则</a:t>
            </a:r>
            <a:r>
              <a:rPr lang="en-US" altLang="zh-CN" i="1" dirty="0"/>
              <a:t>X</a:t>
            </a:r>
            <a:r>
              <a:rPr lang="en-US" altLang="zh-CN" dirty="0"/>
              <a:t>→</a:t>
            </a:r>
            <a:r>
              <a:rPr lang="en-US" altLang="zh-CN" i="1" dirty="0"/>
              <a:t>Y </a:t>
            </a:r>
            <a:r>
              <a:rPr lang="zh-CN" altLang="en-US" dirty="0"/>
              <a:t>在 </a:t>
            </a:r>
            <a:r>
              <a:rPr lang="en-US" altLang="zh-CN" i="1" dirty="0"/>
              <a:t>r </a:t>
            </a:r>
            <a:r>
              <a:rPr lang="zh-CN" altLang="en-US" dirty="0"/>
              <a:t>中不成立，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buFont typeface="Monotype Sorts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即</a:t>
            </a:r>
            <a:r>
              <a:rPr lang="en-US" altLang="zh-CN" i="1" dirty="0"/>
              <a:t>X</a:t>
            </a:r>
            <a:r>
              <a:rPr lang="en-US" altLang="zh-CN" dirty="0"/>
              <a:t>→</a:t>
            </a:r>
            <a:r>
              <a:rPr lang="en-US" altLang="zh-CN" i="1" dirty="0"/>
              <a:t>Y </a:t>
            </a:r>
            <a:r>
              <a:rPr lang="zh-CN" altLang="en-US" dirty="0"/>
              <a:t>必不为</a:t>
            </a:r>
            <a:r>
              <a:rPr lang="en-US" altLang="zh-CN" i="1" dirty="0"/>
              <a:t>R</a:t>
            </a:r>
            <a:r>
              <a:rPr lang="en-US" altLang="zh-CN" dirty="0"/>
              <a:t>&lt;</a:t>
            </a:r>
            <a:r>
              <a:rPr lang="en-US" altLang="zh-CN" i="1" dirty="0"/>
              <a:t>U</a:t>
            </a:r>
            <a:r>
              <a:rPr lang="zh-CN" altLang="en-US" dirty="0"/>
              <a:t>，</a:t>
            </a:r>
            <a:r>
              <a:rPr lang="en-US" altLang="zh-CN" i="1" dirty="0"/>
              <a:t>F</a:t>
            </a:r>
            <a:r>
              <a:rPr lang="en-US" altLang="zh-CN" dirty="0"/>
              <a:t>&gt; </a:t>
            </a:r>
            <a:r>
              <a:rPr lang="zh-CN" altLang="en-US" dirty="0"/>
              <a:t>蕴含。</a:t>
            </a:r>
            <a:endParaRPr lang="zh-CN" altLang="en-US" dirty="0"/>
          </a:p>
        </p:txBody>
      </p:sp>
    </p:spTree>
  </p:cSld>
  <p:clrMapOvr>
    <a:masterClrMapping/>
  </p:clrMapOvr>
  <p:transition spd="slow"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200" dirty="0"/>
              <a:t>4. Armstrong</a:t>
            </a:r>
            <a:r>
              <a:rPr lang="zh-CN" altLang="en-US" sz="3200" dirty="0"/>
              <a:t>公理系统的有效性与完备性</a:t>
            </a:r>
            <a:endParaRPr lang="en-US" altLang="zh-CN" sz="3200" dirty="0"/>
          </a:p>
        </p:txBody>
      </p:sp>
      <p:sp>
        <p:nvSpPr>
          <p:cNvPr id="6195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150000"/>
              </a:lnSpc>
              <a:buFont typeface="Monotype Sorts" pitchFamily="2" charset="2"/>
              <a:buNone/>
              <a:defRPr/>
            </a:pPr>
            <a:r>
              <a:rPr lang="en-US" altLang="zh-CN" sz="2800" dirty="0"/>
              <a:t>Armstrong</a:t>
            </a:r>
            <a:r>
              <a:rPr lang="zh-CN" altLang="en-US" sz="2800" dirty="0"/>
              <a:t>公理的完备性及有效性说明</a:t>
            </a:r>
            <a:r>
              <a:rPr lang="en-US" altLang="zh-CN" sz="2800" dirty="0"/>
              <a:t>:</a:t>
            </a:r>
            <a:endParaRPr lang="en-US" altLang="zh-CN" sz="2800" dirty="0"/>
          </a:p>
          <a:p>
            <a:pPr marL="609600" indent="-609600" eaLnBrk="1" hangingPunct="1">
              <a:lnSpc>
                <a:spcPct val="150000"/>
              </a:lnSpc>
              <a:buSzPct val="75000"/>
              <a:buFont typeface="Wingdings" panose="05000000000000000000" pitchFamily="2" charset="2"/>
              <a:buAutoNum type="arabicPeriod"/>
              <a:defRPr/>
            </a:pPr>
            <a:r>
              <a:rPr lang="en-US" altLang="zh-CN" sz="24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/>
              </a:rPr>
              <a:t>“</a:t>
            </a:r>
            <a:r>
              <a:rPr lang="zh-CN" altLang="en-US" sz="24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蕴含</a:t>
            </a:r>
            <a:r>
              <a:rPr lang="zh-CN" altLang="en-US" sz="24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/>
              </a:rPr>
              <a:t>”</a:t>
            </a:r>
            <a:r>
              <a:rPr lang="zh-CN" altLang="en-US" sz="24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24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== </a:t>
            </a:r>
            <a:r>
              <a:rPr lang="en-US" altLang="zh-CN" sz="24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/>
              </a:rPr>
              <a:t>“</a:t>
            </a:r>
            <a:r>
              <a:rPr lang="zh-CN" altLang="en-US" sz="24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导出</a:t>
            </a:r>
            <a:r>
              <a:rPr lang="zh-CN" altLang="en-US" sz="24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/>
              </a:rPr>
              <a:t>”</a:t>
            </a:r>
            <a:r>
              <a:rPr lang="zh-CN" altLang="en-US" sz="24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是等价的概念</a:t>
            </a:r>
            <a:endParaRPr lang="zh-CN" altLang="en-US" sz="2400" dirty="0">
              <a:solidFill>
                <a:srgbClr val="CC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609600" indent="-609600" eaLnBrk="1" hangingPunct="1">
              <a:lnSpc>
                <a:spcPct val="150000"/>
              </a:lnSpc>
              <a:buSzPct val="75000"/>
              <a:buFont typeface="Wingdings" panose="05000000000000000000" pitchFamily="2" charset="2"/>
              <a:buAutoNum type="arabicPeriod"/>
              <a:defRPr/>
            </a:pPr>
            <a:endParaRPr lang="en-US" altLang="zh-CN" sz="2400" i="1" dirty="0"/>
          </a:p>
          <a:p>
            <a:pPr marL="609600" indent="-609600" eaLnBrk="1" hangingPunct="1">
              <a:lnSpc>
                <a:spcPct val="150000"/>
              </a:lnSpc>
              <a:buSzPct val="75000"/>
              <a:buFont typeface="Wingdings" panose="05000000000000000000" pitchFamily="2" charset="2"/>
              <a:buAutoNum type="arabicPeriod"/>
              <a:defRPr/>
            </a:pPr>
            <a:r>
              <a:rPr lang="en-US" altLang="zh-CN" sz="2400" i="1" dirty="0"/>
              <a:t>F </a:t>
            </a:r>
            <a:r>
              <a:rPr lang="en-US" altLang="zh-CN" sz="2400" baseline="30000" dirty="0"/>
              <a:t>+ </a:t>
            </a:r>
            <a:r>
              <a:rPr lang="zh-CN" altLang="en-US" sz="2400" baseline="30000" dirty="0"/>
              <a:t>：</a:t>
            </a:r>
            <a:r>
              <a:rPr lang="zh-CN" altLang="en-US" sz="2400" dirty="0"/>
              <a:t>为</a:t>
            </a:r>
            <a:r>
              <a:rPr lang="en-US" altLang="zh-CN" sz="2400" i="1" dirty="0"/>
              <a:t>F</a:t>
            </a:r>
            <a:r>
              <a:rPr lang="zh-CN" altLang="en-US" sz="2400" dirty="0"/>
              <a:t>所逻辑</a:t>
            </a:r>
            <a:r>
              <a:rPr lang="zh-CN" altLang="en-US" sz="24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蕴含的</a:t>
            </a:r>
            <a:r>
              <a:rPr lang="zh-CN" altLang="en-US" sz="2400" dirty="0"/>
              <a:t>函数依赖的全体（定义</a:t>
            </a:r>
            <a:r>
              <a:rPr lang="en-US" altLang="zh-CN" sz="2400" dirty="0"/>
              <a:t>6.l2 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marL="609600" indent="-609600" eaLnBrk="1" hangingPunct="1">
              <a:lnSpc>
                <a:spcPct val="150000"/>
              </a:lnSpc>
              <a:buSzPct val="75000"/>
              <a:buFont typeface="Wingdings" panose="05000000000000000000" pitchFamily="2" charset="2"/>
              <a:buAutoNum type="arabicPeriod"/>
              <a:defRPr/>
            </a:pPr>
            <a:r>
              <a:rPr lang="en-US" altLang="zh-CN" sz="2400" i="1" dirty="0"/>
              <a:t>F </a:t>
            </a:r>
            <a:r>
              <a:rPr lang="en-US" altLang="zh-CN" sz="2400" baseline="30000" dirty="0"/>
              <a:t>+ </a:t>
            </a:r>
            <a:r>
              <a:rPr lang="zh-CN" altLang="en-US" sz="2400" baseline="30000" dirty="0"/>
              <a:t>：</a:t>
            </a:r>
            <a:r>
              <a:rPr lang="zh-CN" altLang="en-US" sz="2400" dirty="0"/>
              <a:t>可以说成由</a:t>
            </a:r>
            <a:r>
              <a:rPr lang="en-US" altLang="zh-CN" sz="2400" i="1" dirty="0"/>
              <a:t>F</a:t>
            </a:r>
            <a:r>
              <a:rPr lang="zh-CN" altLang="en-US" sz="2400" dirty="0"/>
              <a:t>出发借助</a:t>
            </a:r>
            <a:r>
              <a:rPr lang="en-US" altLang="zh-CN" sz="2400" dirty="0"/>
              <a:t>Armstrong</a:t>
            </a:r>
            <a:r>
              <a:rPr lang="zh-CN" altLang="en-US" sz="2400" dirty="0"/>
              <a:t>公理</a:t>
            </a:r>
            <a:r>
              <a:rPr lang="zh-CN" altLang="en-US" sz="2400" dirty="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导出的</a:t>
            </a:r>
            <a:r>
              <a:rPr lang="zh-CN" altLang="en-US" sz="2400" dirty="0"/>
              <a:t>函数依赖的集合</a:t>
            </a:r>
            <a:endParaRPr lang="zh-CN" altLang="en-US" sz="2400" dirty="0"/>
          </a:p>
        </p:txBody>
      </p:sp>
      <p:sp>
        <p:nvSpPr>
          <p:cNvPr id="153604" name="AutoShape 4"/>
          <p:cNvSpPr>
            <a:spLocks noChangeArrowheads="1"/>
          </p:cNvSpPr>
          <p:nvPr/>
        </p:nvSpPr>
        <p:spPr bwMode="auto">
          <a:xfrm>
            <a:off x="3851920" y="2427610"/>
            <a:ext cx="863600" cy="431006"/>
          </a:xfrm>
          <a:prstGeom prst="downArrow">
            <a:avLst>
              <a:gd name="adj1" fmla="val 50000"/>
              <a:gd name="adj2" fmla="val 250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>
            <a:lvl1pPr algn="l" eaLnBrk="0" hangingPunct="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l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  <p:sp>
        <p:nvSpPr>
          <p:cNvPr id="2" name="文本框 1"/>
          <p:cNvSpPr txBox="1"/>
          <p:nvPr/>
        </p:nvSpPr>
        <p:spPr>
          <a:xfrm>
            <a:off x="1043940" y="3940175"/>
            <a:ext cx="34480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 i="1" dirty="0">
                <a:sym typeface="+mn-ea"/>
              </a:rPr>
              <a:t>R</a:t>
            </a:r>
            <a:endParaRPr lang="en-US" altLang="zh-CN" sz="1000" i="1" dirty="0">
              <a:sym typeface="+mn-ea"/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5. </a:t>
            </a:r>
            <a:r>
              <a:rPr lang="zh-CN" altLang="en-US" dirty="0"/>
              <a:t>函数依赖集等价</a:t>
            </a:r>
            <a:endParaRPr lang="zh-CN" altLang="en-US" dirty="0"/>
          </a:p>
        </p:txBody>
      </p:sp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dirty="0"/>
              <a:t>函数依赖集等价定义</a:t>
            </a:r>
            <a:endParaRPr lang="zh-CN" altLang="en-US" dirty="0"/>
          </a:p>
          <a:p>
            <a:pPr eaLnBrk="1" hangingPunct="1">
              <a:lnSpc>
                <a:spcPct val="140000"/>
              </a:lnSpc>
              <a:spcBef>
                <a:spcPct val="70000"/>
              </a:spcBef>
              <a:buFont typeface="Monotype Sorts" pitchFamily="2" charset="2"/>
              <a:buNone/>
            </a:pPr>
            <a:r>
              <a:rPr lang="zh-CN" altLang="en-US" dirty="0"/>
              <a:t>	定义</a:t>
            </a:r>
            <a:r>
              <a:rPr lang="en-US" altLang="zh-CN" dirty="0"/>
              <a:t>6.14  </a:t>
            </a:r>
            <a:r>
              <a:rPr lang="zh-CN" altLang="en-US" dirty="0"/>
              <a:t>如果</a:t>
            </a:r>
            <a:r>
              <a:rPr lang="en-US" altLang="zh-CN" i="1" dirty="0"/>
              <a:t>G</a:t>
            </a:r>
            <a:r>
              <a:rPr lang="en-US" altLang="zh-CN" baseline="30000" dirty="0"/>
              <a:t>+</a:t>
            </a:r>
            <a:r>
              <a:rPr lang="en-US" altLang="zh-CN" dirty="0"/>
              <a:t>=</a:t>
            </a:r>
            <a:r>
              <a:rPr lang="en-US" altLang="zh-CN" i="1" dirty="0"/>
              <a:t>F</a:t>
            </a:r>
            <a:r>
              <a:rPr lang="en-US" altLang="zh-CN" baseline="30000" dirty="0"/>
              <a:t>+</a:t>
            </a:r>
            <a:r>
              <a:rPr lang="zh-CN" altLang="en-US" dirty="0"/>
              <a:t>，就说函数依赖集</a:t>
            </a:r>
            <a:r>
              <a:rPr lang="en-US" altLang="zh-CN" i="1" dirty="0"/>
              <a:t>F</a:t>
            </a:r>
            <a:r>
              <a:rPr lang="zh-CN" altLang="en-US" dirty="0">
                <a:solidFill>
                  <a:schemeClr val="accent2"/>
                </a:solidFill>
              </a:rPr>
              <a:t>覆盖</a:t>
            </a:r>
            <a:r>
              <a:rPr lang="en-US" altLang="zh-CN" i="1" dirty="0"/>
              <a:t>G</a:t>
            </a:r>
            <a:r>
              <a:rPr lang="zh-CN" altLang="en-US" dirty="0"/>
              <a:t>（</a:t>
            </a:r>
            <a:r>
              <a:rPr lang="en-US" altLang="zh-CN" i="1" dirty="0"/>
              <a:t>F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的覆盖，或</a:t>
            </a:r>
            <a:r>
              <a:rPr lang="en-US" altLang="zh-CN" i="1" dirty="0"/>
              <a:t>G</a:t>
            </a:r>
            <a:r>
              <a:rPr lang="zh-CN" altLang="en-US" dirty="0"/>
              <a:t>是</a:t>
            </a:r>
            <a:r>
              <a:rPr lang="en-US" altLang="zh-CN" i="1" dirty="0"/>
              <a:t>F</a:t>
            </a:r>
            <a:r>
              <a:rPr lang="zh-CN" altLang="en-US" dirty="0"/>
              <a:t>的覆盖），或</a:t>
            </a:r>
            <a:r>
              <a:rPr lang="en-US" altLang="zh-CN" i="1" dirty="0"/>
              <a:t>F</a:t>
            </a:r>
            <a:r>
              <a:rPr lang="zh-CN" altLang="en-US" dirty="0"/>
              <a:t>与</a:t>
            </a:r>
            <a:r>
              <a:rPr lang="en-US" altLang="zh-CN" i="1" dirty="0"/>
              <a:t>G</a:t>
            </a:r>
            <a:r>
              <a:rPr lang="zh-CN" altLang="en-US" dirty="0">
                <a:solidFill>
                  <a:schemeClr val="accent2"/>
                </a:solidFill>
              </a:rPr>
              <a:t>等价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564228" name="Text Box 4"/>
          <p:cNvSpPr txBox="1">
            <a:spLocks noChangeArrowheads="1"/>
          </p:cNvSpPr>
          <p:nvPr/>
        </p:nvSpPr>
        <p:spPr bwMode="auto">
          <a:xfrm>
            <a:off x="1403648" y="3476758"/>
            <a:ext cx="7056784" cy="77986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0000" tIns="298800" rIns="90000" bIns="4680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l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/>
              <a:t>两个函数依赖集等价是指它们的闭包等价</a:t>
            </a:r>
            <a:endParaRPr lang="zh-CN" altLang="en-US" sz="2800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64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2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5. </a:t>
            </a:r>
            <a:r>
              <a:rPr lang="zh-CN" altLang="en-US" dirty="0"/>
              <a:t>函数依赖集等价</a:t>
            </a:r>
            <a:endParaRPr lang="zh-CN" altLang="en-US" dirty="0"/>
          </a:p>
        </p:txBody>
      </p:sp>
      <p:sp>
        <p:nvSpPr>
          <p:cNvPr id="155651" name="Rectangle 1027"/>
          <p:cNvSpPr>
            <a:spLocks noGrp="1" noChangeArrowheads="1"/>
          </p:cNvSpPr>
          <p:nvPr>
            <p:ph idx="1"/>
          </p:nvPr>
        </p:nvSpPr>
        <p:spPr>
          <a:xfrm>
            <a:off x="256341" y="823913"/>
            <a:ext cx="8401080" cy="3640931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</a:pPr>
            <a:r>
              <a:rPr lang="zh-CN" altLang="en-US" dirty="0"/>
              <a:t>函数依赖集等价的充要条件</a:t>
            </a:r>
            <a:endParaRPr lang="zh-CN" altLang="en-US" dirty="0"/>
          </a:p>
          <a:p>
            <a:pPr algn="just" eaLnBrk="1" hangingPunct="1">
              <a:lnSpc>
                <a:spcPct val="110000"/>
              </a:lnSpc>
              <a:spcBef>
                <a:spcPct val="30000"/>
              </a:spcBef>
              <a:buFont typeface="Monotype Sorts" pitchFamily="2" charset="2"/>
              <a:buNone/>
            </a:pPr>
            <a:r>
              <a:rPr lang="zh-CN" altLang="en-US" sz="2400" dirty="0"/>
              <a:t>  引理</a:t>
            </a:r>
            <a:r>
              <a:rPr lang="en-US" altLang="zh-CN" sz="2400" dirty="0"/>
              <a:t>6.3 </a:t>
            </a:r>
            <a:r>
              <a:rPr lang="en-US" altLang="zh-CN" sz="2400" i="1" dirty="0"/>
              <a:t>F </a:t>
            </a:r>
            <a:r>
              <a:rPr lang="en-US" altLang="zh-CN" sz="2400" baseline="30000" dirty="0"/>
              <a:t>+ </a:t>
            </a:r>
            <a:r>
              <a:rPr lang="en-US" altLang="zh-CN" sz="2400" dirty="0"/>
              <a:t>= </a:t>
            </a:r>
            <a:r>
              <a:rPr lang="en-US" altLang="zh-CN" sz="2400" i="1" dirty="0"/>
              <a:t>G </a:t>
            </a:r>
            <a:r>
              <a:rPr lang="en-US" altLang="zh-CN" sz="2400" baseline="30000" dirty="0"/>
              <a:t>+ </a:t>
            </a:r>
            <a:r>
              <a:rPr lang="zh-CN" altLang="en-US" sz="2400" dirty="0"/>
              <a:t>的充分必要条件是</a:t>
            </a:r>
            <a:r>
              <a:rPr lang="en-US" altLang="zh-CN" sz="2400" i="1" dirty="0"/>
              <a:t>F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</a:t>
            </a:r>
            <a:r>
              <a:rPr lang="en-US" altLang="zh-CN" sz="2400" i="1" dirty="0"/>
              <a:t>G </a:t>
            </a:r>
            <a:r>
              <a:rPr lang="en-US" altLang="zh-CN" sz="2400" baseline="30000" dirty="0"/>
              <a:t>+ </a:t>
            </a:r>
            <a:r>
              <a:rPr lang="en-US" altLang="zh-CN" sz="2400" dirty="0"/>
              <a:t>, </a:t>
            </a:r>
            <a:r>
              <a:rPr lang="zh-CN" altLang="en-US" sz="2400" dirty="0"/>
              <a:t>和</a:t>
            </a:r>
            <a:r>
              <a:rPr lang="en-US" altLang="zh-CN" sz="2400" i="1" dirty="0"/>
              <a:t>G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</a:t>
            </a:r>
            <a:r>
              <a:rPr lang="en-US" altLang="zh-CN" sz="2400" i="1" dirty="0"/>
              <a:t>F </a:t>
            </a:r>
            <a:r>
              <a:rPr lang="en-US" altLang="zh-CN" sz="2400" baseline="30000" dirty="0"/>
              <a:t>+ 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lvl="1" eaLnBrk="1" hangingPunct="1">
              <a:buFontTx/>
              <a:buNone/>
            </a:pPr>
            <a:r>
              <a:rPr lang="zh-CN" altLang="en-US" sz="2000" dirty="0">
                <a:ea typeface="黑体" panose="02010609060101010101" pitchFamily="49" charset="-122"/>
              </a:rPr>
              <a:t>证</a:t>
            </a:r>
            <a:r>
              <a:rPr lang="en-US" altLang="zh-CN" sz="2000" dirty="0">
                <a:ea typeface="黑体" panose="02010609060101010101" pitchFamily="49" charset="-122"/>
              </a:rPr>
              <a:t>:  </a:t>
            </a:r>
            <a:r>
              <a:rPr lang="zh-CN" altLang="en-US" sz="2000" dirty="0"/>
              <a:t>必要性显然，只证充分性。</a:t>
            </a:r>
            <a:endParaRPr lang="zh-CN" altLang="en-US" sz="2000" dirty="0"/>
          </a:p>
          <a:p>
            <a:pPr lvl="1" eaLnBrk="1" hangingPunct="1">
              <a:buFontTx/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）若</a:t>
            </a:r>
            <a:r>
              <a:rPr lang="en-US" altLang="zh-CN" sz="2000" i="1" dirty="0"/>
              <a:t>F</a:t>
            </a:r>
            <a:r>
              <a:rPr lang="en-US" altLang="zh-CN" sz="2000" dirty="0">
                <a:sym typeface="Symbol" panose="05050102010706020507" pitchFamily="18" charset="2"/>
              </a:rPr>
              <a:t></a:t>
            </a:r>
            <a:r>
              <a:rPr lang="en-US" altLang="zh-CN" sz="2000" i="1" dirty="0"/>
              <a:t>G </a:t>
            </a:r>
            <a:r>
              <a:rPr lang="en-US" altLang="zh-CN" sz="2000" baseline="30000" dirty="0"/>
              <a:t>+ </a:t>
            </a:r>
            <a:r>
              <a:rPr lang="zh-CN" altLang="en-US" sz="2000" dirty="0"/>
              <a:t>，则</a:t>
            </a:r>
            <a:r>
              <a:rPr lang="en-US" altLang="zh-CN" sz="2000" i="1" dirty="0"/>
              <a:t>X</a:t>
            </a:r>
            <a:r>
              <a:rPr lang="en-US" altLang="zh-CN" sz="2000" i="1" baseline="-30000" dirty="0"/>
              <a:t>F </a:t>
            </a:r>
            <a:r>
              <a:rPr lang="en-US" altLang="zh-CN" sz="2000" baseline="30000" dirty="0"/>
              <a:t>+ </a:t>
            </a:r>
            <a:r>
              <a:rPr lang="en-US" altLang="zh-CN" sz="2000" dirty="0">
                <a:sym typeface="Symbol" panose="05050102010706020507" pitchFamily="18" charset="2"/>
              </a:rPr>
              <a:t></a:t>
            </a:r>
            <a:r>
              <a:rPr lang="en-US" altLang="zh-CN" sz="2000" dirty="0"/>
              <a:t> </a:t>
            </a:r>
            <a:r>
              <a:rPr lang="en-US" altLang="zh-CN" sz="2000" i="1" dirty="0"/>
              <a:t>X</a:t>
            </a:r>
            <a:r>
              <a:rPr lang="en-US" altLang="zh-CN" sz="2000" i="1" baseline="-30000" dirty="0"/>
              <a:t>G</a:t>
            </a:r>
            <a:r>
              <a:rPr lang="en-US" altLang="zh-CN" sz="2000" baseline="-30000" dirty="0"/>
              <a:t>+</a:t>
            </a:r>
            <a:r>
              <a:rPr lang="en-US" altLang="zh-CN" sz="2000" baseline="30000" dirty="0"/>
              <a:t>+ 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lvl="1" eaLnBrk="1" hangingPunct="1">
              <a:buFontTx/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）任取</a:t>
            </a:r>
            <a:r>
              <a:rPr lang="en-US" altLang="zh-CN" sz="2000" i="1" dirty="0"/>
              <a:t>X</a:t>
            </a:r>
            <a:r>
              <a:rPr lang="en-US" altLang="zh-CN" sz="2000" dirty="0"/>
              <a:t>→</a:t>
            </a:r>
            <a:r>
              <a:rPr lang="en-US" altLang="zh-CN" sz="2000" i="1" dirty="0"/>
              <a:t>Y</a:t>
            </a:r>
            <a:r>
              <a:rPr lang="en-US" altLang="zh-CN" sz="2000" dirty="0">
                <a:sym typeface="Symbol" panose="05050102010706020507" pitchFamily="18" charset="2"/>
              </a:rPr>
              <a:t></a:t>
            </a:r>
            <a:r>
              <a:rPr lang="en-US" altLang="zh-CN" sz="2000" i="1" dirty="0"/>
              <a:t>F </a:t>
            </a:r>
            <a:r>
              <a:rPr lang="en-US" altLang="zh-CN" sz="2000" baseline="30000" dirty="0"/>
              <a:t>+  </a:t>
            </a:r>
            <a:r>
              <a:rPr lang="zh-CN" altLang="en-US" sz="2000" dirty="0"/>
              <a:t>则有 </a:t>
            </a:r>
            <a:r>
              <a:rPr lang="en-US" altLang="zh-CN" sz="2000" i="1" dirty="0"/>
              <a:t>Y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</a:t>
            </a:r>
            <a:r>
              <a:rPr lang="en-US" altLang="zh-CN" sz="2000" dirty="0"/>
              <a:t> </a:t>
            </a:r>
            <a:r>
              <a:rPr lang="en-US" altLang="zh-CN" sz="2000" i="1" dirty="0"/>
              <a:t>X</a:t>
            </a:r>
            <a:r>
              <a:rPr lang="en-US" altLang="zh-CN" sz="2000" i="1" baseline="-30000" dirty="0"/>
              <a:t>F</a:t>
            </a:r>
            <a:r>
              <a:rPr lang="en-US" altLang="zh-CN" sz="2000" baseline="30000" dirty="0"/>
              <a:t>+ 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 </a:t>
            </a:r>
            <a:r>
              <a:rPr lang="en-US" altLang="zh-CN" sz="2000" i="1" dirty="0"/>
              <a:t>X</a:t>
            </a:r>
            <a:r>
              <a:rPr lang="en-US" altLang="zh-CN" sz="2000" i="1" baseline="-30000" dirty="0"/>
              <a:t>G</a:t>
            </a:r>
            <a:r>
              <a:rPr lang="en-US" altLang="zh-CN" sz="2000" baseline="-30000" dirty="0"/>
              <a:t>+</a:t>
            </a:r>
            <a:r>
              <a:rPr lang="en-US" altLang="zh-CN" sz="2000" baseline="30000" dirty="0"/>
              <a:t>+ 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lvl="1" eaLnBrk="1" hangingPunct="1">
              <a:buFontTx/>
              <a:buNone/>
            </a:pPr>
            <a:r>
              <a:rPr lang="zh-CN" altLang="en-US" sz="2000" dirty="0"/>
              <a:t>		     所以</a:t>
            </a:r>
            <a:r>
              <a:rPr lang="en-US" altLang="zh-CN" sz="2000" i="1" dirty="0"/>
              <a:t>X</a:t>
            </a:r>
            <a:r>
              <a:rPr lang="en-US" altLang="zh-CN" sz="2000" dirty="0"/>
              <a:t>→</a:t>
            </a:r>
            <a:r>
              <a:rPr lang="en-US" altLang="zh-CN" sz="2000" i="1" dirty="0"/>
              <a:t>Y </a:t>
            </a:r>
            <a:r>
              <a:rPr lang="en-US" altLang="zh-CN" sz="2000" dirty="0">
                <a:sym typeface="Symbol" panose="05050102010706020507" pitchFamily="18" charset="2"/>
              </a:rPr>
              <a:t></a:t>
            </a:r>
            <a:r>
              <a:rPr lang="en-US" altLang="zh-CN" sz="2000" dirty="0"/>
              <a:t> (</a:t>
            </a:r>
            <a:r>
              <a:rPr lang="en-US" altLang="zh-CN" sz="2000" i="1" dirty="0"/>
              <a:t>G</a:t>
            </a:r>
            <a:r>
              <a:rPr lang="en-US" altLang="zh-CN" sz="1200" i="1" dirty="0"/>
              <a:t> 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)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= </a:t>
            </a:r>
            <a:r>
              <a:rPr lang="en-US" altLang="zh-CN" sz="2000" i="1" dirty="0"/>
              <a:t>G</a:t>
            </a:r>
            <a:r>
              <a:rPr lang="en-US" altLang="zh-CN" sz="1000" i="1" dirty="0"/>
              <a:t> </a:t>
            </a:r>
            <a:r>
              <a:rPr lang="en-US" altLang="zh-CN" sz="2000" baseline="30000" dirty="0"/>
              <a:t>+</a:t>
            </a:r>
            <a:r>
              <a:rPr lang="zh-CN" altLang="en-US" sz="2000" dirty="0"/>
              <a:t>。即</a:t>
            </a:r>
            <a:r>
              <a:rPr lang="en-US" altLang="zh-CN" sz="2000" i="1" dirty="0"/>
              <a:t>F </a:t>
            </a:r>
            <a:r>
              <a:rPr lang="en-US" altLang="zh-CN" sz="2000" baseline="30000" dirty="0"/>
              <a:t>+ </a:t>
            </a:r>
            <a:r>
              <a:rPr lang="en-US" altLang="zh-CN" sz="2000" dirty="0">
                <a:sym typeface="Symbol" panose="05050102010706020507" pitchFamily="18" charset="2"/>
              </a:rPr>
              <a:t></a:t>
            </a:r>
            <a:r>
              <a:rPr lang="en-US" altLang="zh-CN" sz="2000" dirty="0"/>
              <a:t> </a:t>
            </a:r>
            <a:r>
              <a:rPr lang="en-US" altLang="zh-CN" sz="2000" i="1" dirty="0"/>
              <a:t>G </a:t>
            </a:r>
            <a:r>
              <a:rPr lang="en-US" altLang="zh-CN" sz="2000" baseline="30000" dirty="0"/>
              <a:t>+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lvl="1" eaLnBrk="1" hangingPunct="1">
              <a:buFontTx/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）同理可证</a:t>
            </a:r>
            <a:r>
              <a:rPr lang="en-US" altLang="zh-CN" sz="2000" i="1" dirty="0"/>
              <a:t>G </a:t>
            </a:r>
            <a:r>
              <a:rPr lang="en-US" altLang="zh-CN" sz="2000" baseline="30000" dirty="0"/>
              <a:t>+ </a:t>
            </a:r>
            <a:r>
              <a:rPr lang="en-US" altLang="zh-CN" sz="2000" dirty="0">
                <a:sym typeface="Symbol" panose="05050102010706020507" pitchFamily="18" charset="2"/>
              </a:rPr>
              <a:t></a:t>
            </a:r>
            <a:r>
              <a:rPr lang="en-US" altLang="zh-CN" sz="2000" dirty="0"/>
              <a:t> </a:t>
            </a:r>
            <a:r>
              <a:rPr lang="en-US" altLang="zh-CN" sz="2000" i="1" dirty="0"/>
              <a:t>F </a:t>
            </a:r>
            <a:r>
              <a:rPr lang="en-US" altLang="zh-CN" sz="2000" baseline="30000" dirty="0"/>
              <a:t>+ </a:t>
            </a:r>
            <a:r>
              <a:rPr lang="zh-CN" altLang="en-US" sz="2000" dirty="0"/>
              <a:t>，所以</a:t>
            </a:r>
            <a:r>
              <a:rPr lang="en-US" altLang="zh-CN" sz="2000" i="1" dirty="0"/>
              <a:t>F </a:t>
            </a:r>
            <a:r>
              <a:rPr lang="en-US" altLang="zh-CN" sz="2000" baseline="30000" dirty="0"/>
              <a:t>+ </a:t>
            </a:r>
            <a:r>
              <a:rPr lang="en-US" altLang="zh-CN" sz="2000" dirty="0"/>
              <a:t>= </a:t>
            </a:r>
            <a:r>
              <a:rPr lang="en-US" altLang="zh-CN" sz="2000" i="1" dirty="0"/>
              <a:t>G </a:t>
            </a:r>
            <a:r>
              <a:rPr lang="en-US" altLang="zh-CN" sz="2000" baseline="30000" dirty="0"/>
              <a:t>+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algn="just" eaLnBrk="1" hangingPunct="1">
              <a:lnSpc>
                <a:spcPct val="130000"/>
              </a:lnSpc>
              <a:spcBef>
                <a:spcPct val="70000"/>
              </a:spcBef>
              <a:buFont typeface="Monotype Sorts" pitchFamily="2" charset="2"/>
              <a:buNone/>
            </a:pPr>
            <a:endParaRPr lang="en-US" altLang="zh-CN" sz="2400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928662" y="2303857"/>
            <a:ext cx="7056438" cy="68195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0000" tIns="262800" rIns="90000" bIns="4680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l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/>
              <a:t>引理</a:t>
            </a:r>
            <a:r>
              <a:rPr lang="en-US" altLang="zh-CN" sz="2400" dirty="0"/>
              <a:t>6.3</a:t>
            </a:r>
            <a:r>
              <a:rPr lang="zh-CN" altLang="en-US" sz="2400" dirty="0"/>
              <a:t>给出了判断两个函数依赖集等价的可行算法</a:t>
            </a:r>
            <a:endParaRPr lang="zh-CN" altLang="en-US" sz="2400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28663" y="3564505"/>
            <a:ext cx="7775575" cy="105128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0000" tIns="262800" rIns="90000" bIns="4680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l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2"/>
                </a:solidFill>
              </a:rPr>
              <a:t>如何判定</a:t>
            </a:r>
            <a:r>
              <a:rPr lang="en-US" altLang="zh-CN" sz="2400" i="1" dirty="0">
                <a:solidFill>
                  <a:schemeClr val="accent2"/>
                </a:solidFill>
              </a:rPr>
              <a:t>F</a:t>
            </a:r>
            <a:r>
              <a:rPr lang="en-US" altLang="zh-CN" sz="2400" dirty="0">
                <a:solidFill>
                  <a:schemeClr val="accent2"/>
                </a:solidFill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solidFill>
                  <a:schemeClr val="accent2"/>
                </a:solidFill>
              </a:rPr>
              <a:t> </a:t>
            </a:r>
            <a:r>
              <a:rPr lang="en-US" altLang="zh-CN" sz="2400" i="1" dirty="0">
                <a:solidFill>
                  <a:schemeClr val="accent2"/>
                </a:solidFill>
              </a:rPr>
              <a:t>G </a:t>
            </a:r>
            <a:r>
              <a:rPr lang="en-US" altLang="zh-CN" sz="2400" baseline="50000" dirty="0">
                <a:solidFill>
                  <a:schemeClr val="accent2"/>
                </a:solidFill>
              </a:rPr>
              <a:t>+</a:t>
            </a:r>
            <a:r>
              <a:rPr lang="zh-CN" altLang="en-US" sz="2400" dirty="0">
                <a:solidFill>
                  <a:schemeClr val="accent2"/>
                </a:solidFill>
              </a:rPr>
              <a:t>？</a:t>
            </a:r>
            <a:endParaRPr lang="zh-CN" altLang="en-US" sz="2400" dirty="0">
              <a:solidFill>
                <a:schemeClr val="accent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/>
              <a:t>只须逐一对</a:t>
            </a:r>
            <a:r>
              <a:rPr lang="en-US" altLang="zh-CN" sz="2400" i="1" dirty="0"/>
              <a:t>F</a:t>
            </a:r>
            <a:r>
              <a:rPr lang="zh-CN" altLang="en-US" sz="2400" dirty="0"/>
              <a:t>中的函数依赖</a:t>
            </a:r>
            <a:r>
              <a:rPr lang="en-US" altLang="zh-CN" sz="2400" i="1" dirty="0"/>
              <a:t>X</a:t>
            </a:r>
            <a:r>
              <a:rPr lang="en-US" altLang="zh-CN" sz="2400" dirty="0"/>
              <a:t>→</a:t>
            </a:r>
            <a:r>
              <a:rPr lang="en-US" altLang="zh-CN" sz="2400" i="1" dirty="0"/>
              <a:t>Y</a:t>
            </a:r>
            <a:r>
              <a:rPr lang="zh-CN" altLang="en-US" sz="2400" dirty="0"/>
              <a:t>，考察 </a:t>
            </a:r>
            <a:r>
              <a:rPr lang="en-US" altLang="zh-CN" sz="2400" i="1" dirty="0"/>
              <a:t>Y </a:t>
            </a:r>
            <a:r>
              <a:rPr lang="zh-CN" altLang="en-US" sz="2400" dirty="0"/>
              <a:t>是否属于</a:t>
            </a:r>
            <a:r>
              <a:rPr lang="en-US" altLang="zh-CN" sz="2400" i="1" dirty="0"/>
              <a:t>X</a:t>
            </a:r>
            <a:r>
              <a:rPr lang="en-US" altLang="zh-CN" sz="2400" i="1" baseline="-12000" dirty="0"/>
              <a:t>G</a:t>
            </a:r>
            <a:r>
              <a:rPr lang="en-US" altLang="zh-CN" sz="2400" baseline="-4000" dirty="0"/>
              <a:t>+</a:t>
            </a:r>
            <a:r>
              <a:rPr lang="en-US" altLang="zh-CN" sz="2400" baseline="50000" dirty="0"/>
              <a:t>+</a:t>
            </a:r>
            <a:r>
              <a:rPr lang="en-US" altLang="zh-CN" sz="2400" dirty="0"/>
              <a:t> </a:t>
            </a:r>
            <a:endParaRPr lang="en-US" altLang="zh-CN" sz="2400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5. </a:t>
            </a:r>
            <a:r>
              <a:rPr lang="zh-CN" altLang="en-US" dirty="0"/>
              <a:t>函数依赖集等价</a:t>
            </a:r>
            <a:endParaRPr lang="zh-CN" altLang="en-US" dirty="0"/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dirty="0"/>
              <a:t>在</a:t>
            </a:r>
            <a:r>
              <a:rPr lang="en-US" altLang="zh-CN" i="1" dirty="0"/>
              <a:t>R</a:t>
            </a:r>
            <a:r>
              <a:rPr lang="en-US" altLang="zh-CN" dirty="0"/>
              <a:t>&lt;</a:t>
            </a:r>
            <a:r>
              <a:rPr lang="en-US" altLang="zh-CN" i="1" dirty="0"/>
              <a:t>U</a:t>
            </a:r>
            <a:r>
              <a:rPr lang="zh-CN" altLang="en-US" dirty="0"/>
              <a:t>，</a:t>
            </a:r>
            <a:r>
              <a:rPr lang="en-US" altLang="zh-CN" i="1" dirty="0"/>
              <a:t>F</a:t>
            </a:r>
            <a:r>
              <a:rPr lang="en-US" altLang="zh-CN" dirty="0"/>
              <a:t>&gt;</a:t>
            </a:r>
            <a:r>
              <a:rPr lang="zh-CN" altLang="en-US" dirty="0"/>
              <a:t>中可以用与</a:t>
            </a:r>
            <a:r>
              <a:rPr lang="en-US" altLang="zh-CN" i="1" dirty="0"/>
              <a:t>F</a:t>
            </a:r>
            <a:r>
              <a:rPr lang="zh-CN" altLang="en-US" dirty="0"/>
              <a:t>等价的依赖集</a:t>
            </a:r>
            <a:r>
              <a:rPr lang="en-US" altLang="zh-CN" i="1" dirty="0"/>
              <a:t>G</a:t>
            </a:r>
            <a:r>
              <a:rPr lang="zh-CN" altLang="en-US" dirty="0"/>
              <a:t>来取代</a:t>
            </a:r>
            <a:r>
              <a:rPr lang="en-US" altLang="zh-CN" i="1" dirty="0"/>
              <a:t>F</a:t>
            </a:r>
            <a:endParaRPr lang="en-US" altLang="zh-CN" dirty="0"/>
          </a:p>
          <a:p>
            <a:pPr lvl="1" eaLnBrk="1" hangingPunct="1">
              <a:lnSpc>
                <a:spcPct val="140000"/>
              </a:lnSpc>
            </a:pPr>
            <a:r>
              <a:rPr lang="zh-CN" altLang="en-US" dirty="0"/>
              <a:t>原因：两个关系模式</a:t>
            </a:r>
            <a:r>
              <a:rPr lang="en-US" altLang="zh-CN" i="1" dirty="0"/>
              <a:t>R</a:t>
            </a:r>
            <a:r>
              <a:rPr lang="en-US" altLang="zh-CN" baseline="-30000" dirty="0"/>
              <a:t>1 </a:t>
            </a:r>
            <a:r>
              <a:rPr lang="en-US" altLang="zh-CN" dirty="0"/>
              <a:t>&lt;</a:t>
            </a:r>
            <a:r>
              <a:rPr lang="en-US" altLang="zh-CN" i="1" dirty="0"/>
              <a:t>U</a:t>
            </a:r>
            <a:r>
              <a:rPr lang="zh-CN" altLang="en-US" dirty="0"/>
              <a:t>，</a:t>
            </a:r>
            <a:r>
              <a:rPr lang="en-US" altLang="zh-CN" i="1" dirty="0"/>
              <a:t>F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  <a:r>
              <a:rPr lang="en-US" altLang="zh-CN" i="1" dirty="0"/>
              <a:t>R</a:t>
            </a:r>
            <a:r>
              <a:rPr lang="en-US" altLang="zh-CN" baseline="-30000" dirty="0"/>
              <a:t>2</a:t>
            </a:r>
            <a:r>
              <a:rPr lang="en-US" altLang="zh-CN" dirty="0"/>
              <a:t>&lt;</a:t>
            </a:r>
            <a:r>
              <a:rPr lang="en-US" altLang="zh-CN" i="1" dirty="0"/>
              <a:t>U</a:t>
            </a:r>
            <a:r>
              <a:rPr lang="zh-CN" altLang="en-US" dirty="0"/>
              <a:t>，</a:t>
            </a:r>
            <a:r>
              <a:rPr lang="en-US" altLang="zh-CN" i="1" dirty="0"/>
              <a:t>G</a:t>
            </a:r>
            <a:r>
              <a:rPr lang="en-US" altLang="zh-CN" dirty="0"/>
              <a:t>&gt;</a:t>
            </a:r>
            <a:r>
              <a:rPr lang="zh-CN" altLang="en-US" dirty="0"/>
              <a:t>，如果</a:t>
            </a:r>
            <a:r>
              <a:rPr lang="en-US" altLang="zh-CN" i="1" dirty="0"/>
              <a:t>F</a:t>
            </a:r>
            <a:r>
              <a:rPr lang="zh-CN" altLang="en-US" dirty="0"/>
              <a:t>与</a:t>
            </a:r>
            <a:r>
              <a:rPr lang="en-US" altLang="zh-CN" i="1" dirty="0"/>
              <a:t>G</a:t>
            </a:r>
            <a:r>
              <a:rPr lang="zh-CN" altLang="en-US" dirty="0"/>
              <a:t>等价，那么</a:t>
            </a:r>
            <a:r>
              <a:rPr lang="en-US" altLang="zh-CN" i="1" dirty="0"/>
              <a:t>R</a:t>
            </a:r>
            <a:r>
              <a:rPr lang="en-US" altLang="zh-CN" baseline="-30000" dirty="0"/>
              <a:t>1</a:t>
            </a:r>
            <a:r>
              <a:rPr lang="zh-CN" altLang="en-US" dirty="0"/>
              <a:t>的关系一定是</a:t>
            </a:r>
            <a:r>
              <a:rPr lang="en-US" altLang="zh-CN" i="1" dirty="0"/>
              <a:t>R</a:t>
            </a:r>
            <a:r>
              <a:rPr lang="en-US" altLang="zh-CN" baseline="-30000" dirty="0"/>
              <a:t>2</a:t>
            </a:r>
            <a:r>
              <a:rPr lang="zh-CN" altLang="en-US" dirty="0"/>
              <a:t>的关系。反过来，</a:t>
            </a:r>
            <a:r>
              <a:rPr lang="en-US" altLang="zh-CN" i="1" dirty="0"/>
              <a:t>R</a:t>
            </a:r>
            <a:r>
              <a:rPr lang="en-US" altLang="zh-CN" baseline="-30000" dirty="0"/>
              <a:t>2</a:t>
            </a:r>
            <a:r>
              <a:rPr lang="zh-CN" altLang="en-US" dirty="0"/>
              <a:t>的关系也一定是</a:t>
            </a:r>
            <a:r>
              <a:rPr lang="en-US" altLang="zh-CN" i="1" dirty="0"/>
              <a:t>R</a:t>
            </a:r>
            <a:r>
              <a:rPr lang="en-US" altLang="zh-CN" baseline="-30000" dirty="0"/>
              <a:t>1</a:t>
            </a:r>
            <a:r>
              <a:rPr lang="zh-CN" altLang="en-US" dirty="0"/>
              <a:t>的关系。  </a:t>
            </a:r>
            <a:endParaRPr lang="zh-CN" alt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6. </a:t>
            </a:r>
            <a:r>
              <a:rPr lang="zh-CN" altLang="en-US" dirty="0"/>
              <a:t>最小依赖集</a:t>
            </a:r>
            <a:endParaRPr lang="zh-CN" altLang="en-US" dirty="0"/>
          </a:p>
        </p:txBody>
      </p:sp>
      <p:sp>
        <p:nvSpPr>
          <p:cNvPr id="160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dirty="0"/>
              <a:t>极小函数依赖集</a:t>
            </a:r>
            <a:endParaRPr lang="zh-CN" altLang="en-US" sz="2800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sz="2800" dirty="0"/>
              <a:t>	</a:t>
            </a:r>
            <a:r>
              <a:rPr lang="zh-CN" altLang="en-US" sz="2400" dirty="0"/>
              <a:t>定义</a:t>
            </a:r>
            <a:r>
              <a:rPr lang="en-US" altLang="zh-CN" sz="2400" dirty="0"/>
              <a:t>6.15  </a:t>
            </a:r>
            <a:r>
              <a:rPr lang="zh-CN" altLang="en-US" sz="2400" dirty="0"/>
              <a:t>如果函数依赖集</a:t>
            </a:r>
            <a:r>
              <a:rPr lang="en-US" altLang="zh-CN" sz="2400" dirty="0"/>
              <a:t>F</a:t>
            </a:r>
            <a:r>
              <a:rPr lang="zh-CN" altLang="en-US" sz="2400" dirty="0"/>
              <a:t>满足下列条件，则称</a:t>
            </a:r>
            <a:r>
              <a:rPr lang="en-US" altLang="zh-CN" sz="2400" dirty="0"/>
              <a:t>F</a:t>
            </a:r>
            <a:r>
              <a:rPr lang="zh-CN" altLang="en-US" sz="2400" dirty="0"/>
              <a:t>为一个</a:t>
            </a:r>
            <a:r>
              <a:rPr lang="zh-CN" altLang="en-US" sz="2400" dirty="0">
                <a:solidFill>
                  <a:schemeClr val="accent2"/>
                </a:solidFill>
              </a:rPr>
              <a:t>极小函数依赖集</a:t>
            </a:r>
            <a:r>
              <a:rPr lang="zh-CN" altLang="en-US" sz="2400" dirty="0"/>
              <a:t>。亦称为</a:t>
            </a:r>
            <a:r>
              <a:rPr lang="zh-CN" altLang="en-US" sz="2400" dirty="0">
                <a:solidFill>
                  <a:schemeClr val="accent2"/>
                </a:solidFill>
              </a:rPr>
              <a:t>最小依赖集</a:t>
            </a:r>
            <a:r>
              <a:rPr lang="zh-CN" altLang="en-US" sz="2400" dirty="0"/>
              <a:t>或</a:t>
            </a:r>
            <a:r>
              <a:rPr lang="zh-CN" altLang="en-US" sz="2400" dirty="0">
                <a:solidFill>
                  <a:schemeClr val="accent2"/>
                </a:solidFill>
              </a:rPr>
              <a:t>最小覆盖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sz="2400" dirty="0"/>
              <a:t>     </a:t>
            </a:r>
            <a:r>
              <a:rPr lang="en-US" altLang="zh-CN" sz="2400" dirty="0"/>
              <a:t>(1) F</a:t>
            </a:r>
            <a:r>
              <a:rPr lang="zh-CN" altLang="en-US" sz="2400" dirty="0"/>
              <a:t>中任一函数依赖的右部仅含有一个属性。</a:t>
            </a:r>
            <a:endParaRPr lang="zh-CN" altLang="en-US" sz="2400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(2) F</a:t>
            </a:r>
            <a:r>
              <a:rPr lang="zh-CN" altLang="en-US" sz="2400" dirty="0"/>
              <a:t>中不存在这样的函数依赖</a:t>
            </a:r>
            <a:r>
              <a:rPr lang="en-US" altLang="zh-CN" sz="2400" dirty="0"/>
              <a:t>X→A</a:t>
            </a:r>
            <a:r>
              <a:rPr lang="zh-CN" altLang="en-US" sz="2400" dirty="0"/>
              <a:t>，使得</a:t>
            </a:r>
            <a:r>
              <a:rPr lang="en-US" altLang="zh-CN" sz="2400" dirty="0"/>
              <a:t>F</a:t>
            </a:r>
            <a:r>
              <a:rPr lang="zh-CN" altLang="en-US" sz="2400" dirty="0"/>
              <a:t>与</a:t>
            </a:r>
            <a:endParaRPr lang="zh-CN" altLang="en-US" sz="2400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sz="2400" dirty="0"/>
              <a:t>		</a:t>
            </a:r>
            <a:r>
              <a:rPr lang="en-US" altLang="zh-CN" sz="2400" dirty="0"/>
              <a:t>F-{X→A}</a:t>
            </a:r>
            <a:r>
              <a:rPr lang="zh-CN" altLang="en-US" sz="2400" dirty="0"/>
              <a:t>等价。</a:t>
            </a:r>
            <a:endParaRPr lang="zh-CN" altLang="en-US" sz="2400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(3) F</a:t>
            </a:r>
            <a:r>
              <a:rPr lang="zh-CN" altLang="en-US" sz="2400" dirty="0"/>
              <a:t>中不存在这样的函数依赖</a:t>
            </a:r>
            <a:r>
              <a:rPr lang="en-US" altLang="zh-CN" sz="2400" dirty="0"/>
              <a:t>X→A</a:t>
            </a:r>
            <a:r>
              <a:rPr lang="zh-CN" altLang="en-US" sz="2400" dirty="0"/>
              <a:t>， </a:t>
            </a:r>
            <a:r>
              <a:rPr lang="en-US" altLang="zh-CN" sz="2400" dirty="0"/>
              <a:t>X</a:t>
            </a:r>
            <a:r>
              <a:rPr lang="zh-CN" altLang="en-US" sz="2400" dirty="0"/>
              <a:t>有真</a:t>
            </a:r>
            <a:endParaRPr lang="zh-CN" altLang="en-US" sz="2400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sz="2400" dirty="0"/>
              <a:t>         子集</a:t>
            </a:r>
            <a:r>
              <a:rPr lang="en-US" altLang="zh-CN" sz="2400" dirty="0"/>
              <a:t>Z</a:t>
            </a:r>
            <a:r>
              <a:rPr lang="zh-CN" altLang="en-US" sz="2400" dirty="0"/>
              <a:t>使得</a:t>
            </a:r>
            <a:r>
              <a:rPr lang="en-US" altLang="zh-CN" sz="2400" dirty="0"/>
              <a:t>F-{X→A}∪{Z→A}</a:t>
            </a:r>
            <a:r>
              <a:rPr lang="zh-CN" altLang="en-US" sz="2400" dirty="0"/>
              <a:t>与</a:t>
            </a:r>
            <a:r>
              <a:rPr lang="en-US" altLang="zh-CN" sz="2400" dirty="0"/>
              <a:t>F</a:t>
            </a:r>
            <a:r>
              <a:rPr lang="zh-CN" altLang="en-US" sz="2400" dirty="0"/>
              <a:t>等价。 </a:t>
            </a:r>
            <a:endParaRPr lang="zh-CN" altLang="en-US" sz="2400" dirty="0"/>
          </a:p>
        </p:txBody>
      </p:sp>
      <p:sp>
        <p:nvSpPr>
          <p:cNvPr id="566278" name="AutoShape 6"/>
          <p:cNvSpPr>
            <a:spLocks noChangeArrowheads="1"/>
          </p:cNvSpPr>
          <p:nvPr/>
        </p:nvSpPr>
        <p:spPr bwMode="auto">
          <a:xfrm>
            <a:off x="3203848" y="2030413"/>
            <a:ext cx="3168650" cy="972741"/>
          </a:xfrm>
          <a:prstGeom prst="wedgeRoundRectCallout">
            <a:avLst>
              <a:gd name="adj1" fmla="val -38329"/>
              <a:gd name="adj2" fmla="val 79986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0000" tIns="442800" rIns="90000" bIns="46800" anchor="ctr"/>
          <a:lstStyle>
            <a:lvl1pPr algn="l" eaLnBrk="0" hangingPunct="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l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/>
              <a:t>即</a:t>
            </a:r>
            <a:r>
              <a:rPr lang="en-US" altLang="zh-CN" sz="2400" dirty="0"/>
              <a:t>F</a:t>
            </a:r>
            <a:r>
              <a:rPr lang="zh-CN" altLang="en-US" sz="2400" dirty="0"/>
              <a:t>中的函数依赖均不能由</a:t>
            </a:r>
            <a:r>
              <a:rPr lang="en-US" altLang="zh-CN" sz="2400" dirty="0"/>
              <a:t>F</a:t>
            </a:r>
            <a:r>
              <a:rPr lang="zh-CN" altLang="en-US" sz="2400" dirty="0"/>
              <a:t>中其他函数依赖导出</a:t>
            </a:r>
            <a:endParaRPr lang="zh-CN" altLang="en-US" sz="2400" dirty="0"/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/>
          </a:p>
        </p:txBody>
      </p:sp>
      <p:sp>
        <p:nvSpPr>
          <p:cNvPr id="566279" name="AutoShape 7"/>
          <p:cNvSpPr>
            <a:spLocks noChangeArrowheads="1"/>
          </p:cNvSpPr>
          <p:nvPr/>
        </p:nvSpPr>
        <p:spPr bwMode="auto">
          <a:xfrm>
            <a:off x="5005388" y="2787774"/>
            <a:ext cx="3311525" cy="972741"/>
          </a:xfrm>
          <a:prstGeom prst="wedgeRoundRectCallout">
            <a:avLst>
              <a:gd name="adj1" fmla="val -38829"/>
              <a:gd name="adj2" fmla="val 79986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0000" tIns="442800" rIns="90000" bIns="46800" anchor="ctr"/>
          <a:lstStyle>
            <a:lvl1pPr algn="l" eaLnBrk="0" hangingPunct="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l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F</a:t>
            </a:r>
            <a:r>
              <a:rPr lang="zh-CN" altLang="en-US" sz="2400" dirty="0"/>
              <a:t>中各函数依赖左部均为最小属性集</a:t>
            </a:r>
            <a:r>
              <a:rPr lang="en-US" altLang="zh-CN" sz="2400" dirty="0"/>
              <a:t>(</a:t>
            </a:r>
            <a:r>
              <a:rPr lang="zh-CN" altLang="en-US" sz="2400" dirty="0"/>
              <a:t>不存在冗余属性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6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56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278" grpId="0" animBg="1"/>
      <p:bldP spid="56627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6. </a:t>
            </a:r>
            <a:r>
              <a:rPr lang="zh-CN" altLang="en-US" dirty="0"/>
              <a:t>最小依赖集</a:t>
            </a:r>
            <a:endParaRPr lang="zh-CN" altLang="en-US" dirty="0"/>
          </a:p>
        </p:txBody>
      </p:sp>
      <p:sp>
        <p:nvSpPr>
          <p:cNvPr id="1617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844153"/>
            <a:ext cx="8401080" cy="3643313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>
                <a:ea typeface="黑体" panose="02010609060101010101" pitchFamily="49" charset="-122"/>
              </a:rPr>
              <a:t>例</a:t>
            </a:r>
            <a:r>
              <a:rPr lang="en-US" altLang="zh-CN" sz="2400" dirty="0"/>
              <a:t>2] </a:t>
            </a:r>
            <a:r>
              <a:rPr lang="zh-CN" altLang="en-US" sz="2400" dirty="0"/>
              <a:t>对于</a:t>
            </a:r>
            <a:r>
              <a:rPr lang="en-US" altLang="zh-CN" sz="2400" dirty="0"/>
              <a:t>6.l</a:t>
            </a:r>
            <a:r>
              <a:rPr lang="zh-CN" altLang="en-US" sz="2400" dirty="0"/>
              <a:t>节中的关系模式</a:t>
            </a:r>
            <a:r>
              <a:rPr lang="en-US" altLang="zh-CN" sz="2400" i="1" dirty="0"/>
              <a:t>S</a:t>
            </a:r>
            <a:r>
              <a:rPr lang="en-US" altLang="zh-CN" sz="2400" dirty="0"/>
              <a:t>&lt;</a:t>
            </a:r>
            <a:r>
              <a:rPr lang="en-US" altLang="zh-CN" sz="2400" i="1" dirty="0"/>
              <a:t>U</a:t>
            </a:r>
            <a:r>
              <a:rPr lang="zh-CN" altLang="en-US" sz="2400" dirty="0"/>
              <a:t>，</a:t>
            </a:r>
            <a:r>
              <a:rPr lang="en-US" altLang="zh-CN" sz="2400" i="1" dirty="0"/>
              <a:t>F</a:t>
            </a:r>
            <a:r>
              <a:rPr lang="en-US" altLang="zh-CN" sz="2400" dirty="0"/>
              <a:t>&gt;</a:t>
            </a:r>
            <a:r>
              <a:rPr lang="zh-CN" altLang="en-US" sz="2400" dirty="0"/>
              <a:t>，其中：</a:t>
            </a:r>
            <a:endParaRPr lang="zh-CN" altLang="en-US" sz="2400" dirty="0"/>
          </a:p>
          <a:p>
            <a:pPr algn="just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400" dirty="0"/>
              <a:t>          </a:t>
            </a:r>
            <a:r>
              <a:rPr lang="en-US" altLang="zh-CN" sz="2400" i="1" dirty="0"/>
              <a:t>U</a:t>
            </a:r>
            <a:r>
              <a:rPr lang="en-US" altLang="zh-CN" sz="2400" dirty="0"/>
              <a:t>={ SNO</a:t>
            </a:r>
            <a:r>
              <a:rPr lang="zh-CN" altLang="en-US" sz="2400" dirty="0"/>
              <a:t>，</a:t>
            </a:r>
            <a:r>
              <a:rPr lang="en-US" altLang="zh-CN" sz="2400" dirty="0"/>
              <a:t>SDEPT</a:t>
            </a:r>
            <a:r>
              <a:rPr lang="zh-CN" altLang="en-US" sz="2400" dirty="0"/>
              <a:t>，</a:t>
            </a:r>
            <a:r>
              <a:rPr lang="en-US" altLang="zh-CN" sz="2400" dirty="0"/>
              <a:t>MN</a:t>
            </a:r>
            <a:r>
              <a:rPr lang="zh-CN" altLang="en-US" sz="2400" dirty="0"/>
              <a:t>，</a:t>
            </a:r>
            <a:r>
              <a:rPr lang="en-US" altLang="zh-CN" sz="2400" dirty="0"/>
              <a:t>CNAME</a:t>
            </a:r>
            <a:r>
              <a:rPr lang="zh-CN" altLang="en-US" sz="2400" dirty="0"/>
              <a:t>，</a:t>
            </a:r>
            <a:r>
              <a:rPr lang="en-US" altLang="zh-CN" sz="2400" dirty="0"/>
              <a:t>G }</a:t>
            </a:r>
            <a:r>
              <a:rPr lang="zh-CN" altLang="en-US" sz="2400" dirty="0"/>
              <a:t>，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Font typeface="Monotype Sorts" pitchFamily="2" charset="2"/>
              <a:buNone/>
            </a:pPr>
            <a:r>
              <a:rPr lang="en-US" altLang="zh-CN" sz="2400" dirty="0"/>
              <a:t>(1)  </a:t>
            </a:r>
            <a:r>
              <a:rPr lang="en-US" altLang="zh-CN" sz="2000" i="1" dirty="0"/>
              <a:t>F</a:t>
            </a:r>
            <a:r>
              <a:rPr lang="en-US" altLang="zh-CN" sz="2000" dirty="0"/>
              <a:t>={ SNO→SDEPT</a:t>
            </a:r>
            <a:r>
              <a:rPr lang="zh-CN" altLang="en-US" sz="2000" dirty="0"/>
              <a:t>，</a:t>
            </a:r>
            <a:r>
              <a:rPr lang="en-US" altLang="zh-CN" sz="2000" dirty="0"/>
              <a:t>SDEPT→MN</a:t>
            </a:r>
            <a:r>
              <a:rPr lang="zh-CN" altLang="en-US" sz="2000" dirty="0"/>
              <a:t>，</a:t>
            </a:r>
            <a:r>
              <a:rPr lang="en-US" altLang="zh-CN" sz="2000" dirty="0"/>
              <a:t>(SNO</a:t>
            </a:r>
            <a:r>
              <a:rPr lang="zh-CN" altLang="en-US" sz="2000" dirty="0"/>
              <a:t>，</a:t>
            </a:r>
            <a:r>
              <a:rPr lang="en-US" altLang="zh-CN" sz="2000" dirty="0"/>
              <a:t>CNAME)</a:t>
            </a:r>
            <a:r>
              <a:rPr lang="zh-CN" altLang="en-US" sz="2000" dirty="0"/>
              <a:t>→</a:t>
            </a:r>
            <a:r>
              <a:rPr lang="en-US" altLang="zh-CN" sz="2000" dirty="0"/>
              <a:t>G }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Font typeface="Monotype Sorts" pitchFamily="2" charset="2"/>
              <a:buNone/>
            </a:pPr>
            <a:r>
              <a:rPr lang="en-US" altLang="zh-CN" sz="2000" i="1" dirty="0"/>
              <a:t>          F</a:t>
            </a:r>
            <a:r>
              <a:rPr lang="zh-CN" altLang="en-US" sz="2000" dirty="0"/>
              <a:t>是最小覆盖</a:t>
            </a:r>
            <a:endParaRPr lang="zh-CN" altLang="en-US" sz="2000" dirty="0"/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Font typeface="Monotype Sorts" pitchFamily="2" charset="2"/>
              <a:buNone/>
            </a:pPr>
            <a:r>
              <a:rPr lang="en-US" altLang="zh-CN" sz="2000" dirty="0"/>
              <a:t>(2)  </a:t>
            </a:r>
            <a:r>
              <a:rPr lang="en-US" altLang="zh-CN" sz="2000" i="1" dirty="0"/>
              <a:t>F’ </a:t>
            </a:r>
            <a:r>
              <a:rPr lang="en-US" altLang="zh-CN" sz="2000" dirty="0"/>
              <a:t>={SNO→SDEPT</a:t>
            </a:r>
            <a:r>
              <a:rPr lang="zh-CN" altLang="en-US" sz="2000" dirty="0"/>
              <a:t>，</a:t>
            </a:r>
            <a:r>
              <a:rPr lang="en-US" altLang="zh-CN" sz="2000" dirty="0">
                <a:solidFill>
                  <a:srgbClr val="6600FF"/>
                </a:solidFill>
              </a:rPr>
              <a:t>SNO→MN</a:t>
            </a:r>
            <a:r>
              <a:rPr lang="zh-CN" altLang="en-US" sz="2000" dirty="0"/>
              <a:t>，</a:t>
            </a:r>
            <a:r>
              <a:rPr lang="en-US" altLang="zh-CN" sz="2000" dirty="0"/>
              <a:t>SDEPT→MN</a:t>
            </a:r>
            <a:r>
              <a:rPr lang="zh-CN" altLang="en-US" sz="2000" dirty="0"/>
              <a:t>，</a:t>
            </a:r>
            <a:endParaRPr lang="zh-CN" altLang="en-US" sz="2000" dirty="0"/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Font typeface="Monotype Sorts" pitchFamily="2" charset="2"/>
              <a:buNone/>
            </a:pPr>
            <a:r>
              <a:rPr lang="zh-CN" altLang="en-US" sz="2000" dirty="0"/>
              <a:t>                  </a:t>
            </a:r>
            <a:r>
              <a:rPr lang="en-US" altLang="zh-CN" sz="2000" dirty="0"/>
              <a:t>(SNO</a:t>
            </a:r>
            <a:r>
              <a:rPr lang="zh-CN" altLang="en-US" sz="2000" dirty="0"/>
              <a:t>，</a:t>
            </a:r>
            <a:r>
              <a:rPr lang="en-US" altLang="zh-CN" sz="2000" dirty="0"/>
              <a:t>CNAME)→G</a:t>
            </a:r>
            <a:r>
              <a:rPr lang="zh-CN" altLang="en-US" sz="2000" dirty="0"/>
              <a:t>， </a:t>
            </a:r>
            <a:r>
              <a:rPr lang="en-US" altLang="zh-CN" sz="2000" dirty="0">
                <a:solidFill>
                  <a:srgbClr val="6600FF"/>
                </a:solidFill>
              </a:rPr>
              <a:t>(SNO</a:t>
            </a:r>
            <a:r>
              <a:rPr lang="zh-CN" altLang="en-US" sz="2000" dirty="0">
                <a:solidFill>
                  <a:srgbClr val="6600FF"/>
                </a:solidFill>
              </a:rPr>
              <a:t>，</a:t>
            </a:r>
            <a:r>
              <a:rPr lang="en-US" altLang="zh-CN" sz="2000" dirty="0">
                <a:solidFill>
                  <a:srgbClr val="6600FF"/>
                </a:solidFill>
              </a:rPr>
              <a:t>SDEPT)→SDEPT</a:t>
            </a:r>
            <a:r>
              <a:rPr lang="en-US" altLang="zh-CN" sz="2000" dirty="0"/>
              <a:t>}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Font typeface="Monotype Sorts" pitchFamily="2" charset="2"/>
              <a:buNone/>
            </a:pPr>
            <a:r>
              <a:rPr lang="en-US" altLang="zh-CN" sz="2000" i="1" dirty="0"/>
              <a:t>           F‘  </a:t>
            </a:r>
            <a:r>
              <a:rPr lang="zh-CN" altLang="en-US" sz="2000" dirty="0"/>
              <a:t>不是最小覆盖</a:t>
            </a:r>
            <a:endParaRPr lang="zh-CN" altLang="en-US" sz="2000" dirty="0"/>
          </a:p>
          <a:p>
            <a:pPr algn="just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000" dirty="0"/>
              <a:t>	      因为：</a:t>
            </a:r>
            <a:r>
              <a:rPr lang="en-US" altLang="zh-CN" sz="2000" i="1" dirty="0"/>
              <a:t>F’ </a:t>
            </a:r>
            <a:r>
              <a:rPr lang="en-US" altLang="zh-CN" sz="2000" dirty="0"/>
              <a:t>- {SNO→MN}  </a:t>
            </a:r>
            <a:r>
              <a:rPr lang="zh-CN" altLang="en-US" sz="2000" dirty="0"/>
              <a:t>与 </a:t>
            </a:r>
            <a:r>
              <a:rPr lang="en-US" altLang="zh-CN" sz="2000" i="1" dirty="0"/>
              <a:t>F </a:t>
            </a:r>
            <a:r>
              <a:rPr lang="en-US" altLang="zh-CN" sz="2000" dirty="0"/>
              <a:t>’ </a:t>
            </a:r>
            <a:r>
              <a:rPr lang="zh-CN" altLang="en-US" sz="2000" dirty="0"/>
              <a:t>等价</a:t>
            </a:r>
            <a:endParaRPr lang="zh-CN" altLang="en-US" sz="2000" dirty="0"/>
          </a:p>
          <a:p>
            <a:pPr algn="just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000" i="1" dirty="0"/>
              <a:t>          	         </a:t>
            </a:r>
            <a:r>
              <a:rPr lang="en-US" altLang="zh-CN" sz="2000" i="1" dirty="0"/>
              <a:t>F’ </a:t>
            </a:r>
            <a:r>
              <a:rPr lang="en-US" altLang="zh-CN" sz="2000" dirty="0"/>
              <a:t>- {(SNO</a:t>
            </a:r>
            <a:r>
              <a:rPr lang="zh-CN" altLang="en-US" sz="2000" dirty="0"/>
              <a:t>，</a:t>
            </a:r>
            <a:r>
              <a:rPr lang="en-US" altLang="zh-CN" sz="2000" dirty="0"/>
              <a:t>SDEPT)→SDEPT} </a:t>
            </a:r>
            <a:r>
              <a:rPr lang="zh-CN" altLang="en-US" sz="2000" dirty="0"/>
              <a:t>也与</a:t>
            </a:r>
            <a:r>
              <a:rPr lang="en-US" altLang="zh-CN" sz="2000" i="1" dirty="0"/>
              <a:t>F </a:t>
            </a:r>
            <a:r>
              <a:rPr lang="en-US" altLang="zh-CN" sz="2000" dirty="0"/>
              <a:t>’</a:t>
            </a:r>
            <a:r>
              <a:rPr lang="zh-CN" altLang="en-US" sz="2000" dirty="0"/>
              <a:t>等价</a:t>
            </a:r>
            <a:endParaRPr lang="zh-CN" altLang="en-US" sz="2000" dirty="0"/>
          </a:p>
          <a:p>
            <a:pPr algn="just" eaLnBrk="1" hangingPunct="1">
              <a:lnSpc>
                <a:spcPct val="90000"/>
              </a:lnSpc>
              <a:buFont typeface="Monotype Sorts" pitchFamily="2" charset="2"/>
              <a:buNone/>
            </a:pPr>
            <a:endParaRPr lang="en-US" altLang="zh-CN" sz="2400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7. </a:t>
            </a:r>
            <a:r>
              <a:rPr lang="zh-CN" altLang="en-US" dirty="0"/>
              <a:t>极小化过程</a:t>
            </a:r>
            <a:endParaRPr lang="zh-CN" altLang="en-US" dirty="0"/>
          </a:p>
        </p:txBody>
      </p:sp>
      <p:sp>
        <p:nvSpPr>
          <p:cNvPr id="162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699542"/>
            <a:ext cx="8472518" cy="4031472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buFont typeface="Monotype Sorts" pitchFamily="2" charset="2"/>
              <a:buNone/>
            </a:pPr>
            <a:r>
              <a:rPr lang="zh-CN" altLang="en-US" sz="2400" dirty="0"/>
              <a:t>定理</a:t>
            </a:r>
            <a:r>
              <a:rPr lang="en-US" altLang="zh-CN" sz="2400" dirty="0"/>
              <a:t>6.3  </a:t>
            </a:r>
            <a:r>
              <a:rPr lang="zh-CN" altLang="en-US" sz="2400" dirty="0"/>
              <a:t>每一个函数依赖集</a:t>
            </a:r>
            <a:r>
              <a:rPr lang="en-US" altLang="zh-CN" sz="2400" i="1" dirty="0"/>
              <a:t>F</a:t>
            </a:r>
            <a:r>
              <a:rPr lang="zh-CN" altLang="en-US" sz="2400" dirty="0"/>
              <a:t>均等价于一个极小函数依赖集</a:t>
            </a:r>
            <a:r>
              <a:rPr lang="en-US" altLang="zh-CN" sz="2400" i="1" dirty="0"/>
              <a:t>F</a:t>
            </a:r>
            <a:r>
              <a:rPr lang="en-US" altLang="zh-CN" sz="2400" i="1" baseline="-30000" dirty="0"/>
              <a:t>m</a:t>
            </a:r>
            <a:r>
              <a:rPr lang="zh-CN" altLang="en-US" sz="2400" dirty="0"/>
              <a:t>。此</a:t>
            </a:r>
            <a:r>
              <a:rPr lang="en-US" altLang="zh-CN" sz="2400" i="1" dirty="0"/>
              <a:t>F</a:t>
            </a:r>
            <a:r>
              <a:rPr lang="en-US" altLang="zh-CN" sz="2400" i="1" baseline="-30000" dirty="0"/>
              <a:t>m</a:t>
            </a:r>
            <a:r>
              <a:rPr lang="zh-CN" altLang="en-US" sz="2400" dirty="0"/>
              <a:t>称为</a:t>
            </a:r>
            <a:r>
              <a:rPr lang="en-US" altLang="zh-CN" sz="2400" i="1" dirty="0"/>
              <a:t>F</a:t>
            </a:r>
            <a:r>
              <a:rPr lang="zh-CN" altLang="en-US" sz="2400" dirty="0"/>
              <a:t>的最小依赖集。</a:t>
            </a:r>
            <a:endParaRPr lang="zh-CN" altLang="en-US" sz="2400" dirty="0"/>
          </a:p>
          <a:p>
            <a:pPr algn="just" eaLnBrk="1" hangingPunct="1">
              <a:spcBef>
                <a:spcPct val="70000"/>
              </a:spcBef>
              <a:buFont typeface="Monotype Sorts" pitchFamily="2" charset="2"/>
              <a:buNone/>
            </a:pPr>
            <a:r>
              <a:rPr lang="zh-CN" altLang="en-US" sz="2400" dirty="0"/>
              <a:t>证  构造性证明，依据定义分三步对</a:t>
            </a:r>
            <a:r>
              <a:rPr lang="en-US" altLang="zh-CN" sz="2400" i="1" dirty="0"/>
              <a:t>F</a:t>
            </a:r>
            <a:r>
              <a:rPr lang="zh-CN" altLang="en-US" sz="2400" dirty="0"/>
              <a:t>进行“极小化处理”，找出</a:t>
            </a:r>
            <a:r>
              <a:rPr lang="en-US" altLang="zh-CN" sz="2400" i="1" dirty="0"/>
              <a:t>F</a:t>
            </a:r>
            <a:r>
              <a:rPr lang="zh-CN" altLang="en-US" sz="2400" dirty="0"/>
              <a:t>的一个最小依赖集。</a:t>
            </a:r>
            <a:endParaRPr lang="zh-CN" altLang="en-US" sz="2400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en-US" altLang="zh-CN" sz="2400" dirty="0"/>
              <a:t>(1)</a:t>
            </a:r>
            <a:r>
              <a:rPr lang="zh-CN" altLang="en-US" sz="2400" dirty="0"/>
              <a:t>逐一检查</a:t>
            </a:r>
            <a:r>
              <a:rPr lang="en-US" altLang="zh-CN" sz="2400" i="1" dirty="0"/>
              <a:t>F</a:t>
            </a:r>
            <a:r>
              <a:rPr lang="zh-CN" altLang="en-US" sz="2400" dirty="0"/>
              <a:t>中各函数依赖</a:t>
            </a:r>
            <a:r>
              <a:rPr lang="en-US" altLang="zh-CN" sz="2400" i="1" dirty="0" err="1"/>
              <a:t>FD</a:t>
            </a:r>
            <a:r>
              <a:rPr lang="en-US" altLang="zh-CN" sz="2400" i="1" baseline="-30000" dirty="0" err="1"/>
              <a:t>i</a:t>
            </a:r>
            <a:r>
              <a:rPr lang="zh-CN" altLang="en-US" sz="2400" dirty="0"/>
              <a:t>：</a:t>
            </a:r>
            <a:r>
              <a:rPr lang="en-US" altLang="zh-CN" sz="2400" i="1" dirty="0"/>
              <a:t>X</a:t>
            </a:r>
            <a:r>
              <a:rPr lang="en-US" altLang="zh-CN" sz="2400" dirty="0"/>
              <a:t>→</a:t>
            </a:r>
            <a:r>
              <a:rPr lang="en-US" altLang="zh-CN" sz="2400" i="1" dirty="0"/>
              <a:t>Y</a:t>
            </a:r>
            <a:r>
              <a:rPr lang="zh-CN" altLang="en-US" sz="2400" dirty="0"/>
              <a:t>，</a:t>
            </a:r>
            <a:endParaRPr lang="zh-CN" altLang="en-US" sz="2400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sz="2400" dirty="0"/>
              <a:t>    若</a:t>
            </a:r>
            <a:r>
              <a:rPr lang="en-US" altLang="zh-CN" sz="2400" i="1" dirty="0"/>
              <a:t>Y</a:t>
            </a:r>
            <a:r>
              <a:rPr lang="en-US" altLang="zh-CN" sz="2400" dirty="0"/>
              <a:t>=</a:t>
            </a:r>
            <a:r>
              <a:rPr lang="en-US" altLang="zh-CN" sz="2400" i="1" dirty="0"/>
              <a:t>A</a:t>
            </a:r>
            <a:r>
              <a:rPr lang="en-US" altLang="zh-CN" sz="2400" i="1" baseline="-30000" dirty="0"/>
              <a:t>1</a:t>
            </a:r>
            <a:r>
              <a:rPr lang="en-US" altLang="zh-CN" sz="2400" i="1" dirty="0"/>
              <a:t>A</a:t>
            </a:r>
            <a:r>
              <a:rPr lang="en-US" altLang="zh-CN" sz="2400" i="1" baseline="-30000" dirty="0"/>
              <a:t>2</a:t>
            </a:r>
            <a:r>
              <a:rPr lang="en-US" altLang="zh-CN" sz="2400" dirty="0"/>
              <a:t> …</a:t>
            </a:r>
            <a:r>
              <a:rPr lang="en-US" altLang="zh-CN" sz="2400" i="1" dirty="0" err="1"/>
              <a:t>A</a:t>
            </a:r>
            <a:r>
              <a:rPr lang="en-US" altLang="zh-CN" sz="2400" i="1" baseline="-30000" dirty="0" err="1"/>
              <a:t>k</a:t>
            </a:r>
            <a:r>
              <a:rPr lang="zh-CN" altLang="en-US" sz="2400" dirty="0"/>
              <a:t>，</a:t>
            </a:r>
            <a:r>
              <a:rPr lang="en-US" altLang="zh-CN" sz="2400" i="1" dirty="0"/>
              <a:t>k</a:t>
            </a:r>
            <a:r>
              <a:rPr lang="en-US" altLang="zh-CN" sz="2400" dirty="0"/>
              <a:t>&gt;2</a:t>
            </a:r>
            <a:r>
              <a:rPr lang="zh-CN" altLang="en-US" sz="2400" dirty="0"/>
              <a:t>，</a:t>
            </a:r>
            <a:endParaRPr lang="zh-CN" altLang="en-US" sz="2400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sz="2400" dirty="0"/>
              <a:t>    则用</a:t>
            </a:r>
            <a:r>
              <a:rPr lang="en-US" altLang="zh-CN" sz="2400" dirty="0"/>
              <a:t>{</a:t>
            </a:r>
            <a:r>
              <a:rPr lang="en-US" altLang="zh-CN" sz="2400" i="1" dirty="0" err="1"/>
              <a:t>X</a:t>
            </a:r>
            <a:r>
              <a:rPr lang="en-US" altLang="zh-CN" sz="2400" dirty="0" err="1"/>
              <a:t>→</a:t>
            </a:r>
            <a:r>
              <a:rPr lang="en-US" altLang="zh-CN" sz="2400" i="1" dirty="0" err="1"/>
              <a:t>A</a:t>
            </a:r>
            <a:r>
              <a:rPr lang="en-US" altLang="zh-CN" sz="2400" i="1" baseline="-30000" dirty="0" err="1"/>
              <a:t>j</a:t>
            </a:r>
            <a:r>
              <a:rPr lang="en-US" altLang="zh-CN" sz="2400" baseline="-30000" dirty="0"/>
              <a:t> </a:t>
            </a:r>
            <a:r>
              <a:rPr lang="en-US" altLang="zh-CN" sz="2400" dirty="0"/>
              <a:t>|</a:t>
            </a:r>
            <a:r>
              <a:rPr lang="en-US" altLang="zh-CN" sz="2400" i="1" dirty="0"/>
              <a:t>j</a:t>
            </a:r>
            <a:r>
              <a:rPr lang="en-US" altLang="zh-CN" sz="2400" dirty="0"/>
              <a:t>=1</a:t>
            </a:r>
            <a:r>
              <a:rPr lang="zh-CN" altLang="en-US" sz="2400" dirty="0"/>
              <a:t>，</a:t>
            </a:r>
            <a:r>
              <a:rPr lang="en-US" altLang="zh-CN" sz="24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…</a:t>
            </a:r>
            <a:r>
              <a:rPr lang="zh-CN" altLang="en-US" sz="2400" dirty="0"/>
              <a:t>， </a:t>
            </a:r>
            <a:r>
              <a:rPr lang="en-US" altLang="zh-CN" sz="2400" i="1" dirty="0"/>
              <a:t>k</a:t>
            </a:r>
            <a:r>
              <a:rPr lang="en-US" altLang="zh-CN" sz="2400" dirty="0"/>
              <a:t>}</a:t>
            </a:r>
            <a:r>
              <a:rPr lang="zh-CN" altLang="en-US" sz="2400" dirty="0"/>
              <a:t>来取代</a:t>
            </a:r>
            <a:r>
              <a:rPr lang="en-US" altLang="zh-CN" sz="2400" i="1" dirty="0"/>
              <a:t>X</a:t>
            </a:r>
            <a:r>
              <a:rPr lang="en-US" altLang="zh-CN" sz="2400" dirty="0"/>
              <a:t>→</a:t>
            </a:r>
            <a:r>
              <a:rPr lang="en-US" altLang="zh-CN" sz="2400" i="1" dirty="0"/>
              <a:t>Y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lvl="3" algn="just" eaLnBrk="1" hangingPunct="1">
              <a:buFontTx/>
              <a:buNone/>
            </a:pPr>
            <a:r>
              <a:rPr lang="zh-CN" altLang="en-US" sz="2400" dirty="0"/>
              <a:t>    </a:t>
            </a:r>
            <a:endParaRPr lang="zh-CN" altLang="en-US" sz="2400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sz="2400" dirty="0"/>
              <a:t>    引理</a:t>
            </a:r>
            <a:r>
              <a:rPr lang="en-US" altLang="zh-CN" sz="2400" dirty="0"/>
              <a:t>6.1</a:t>
            </a:r>
            <a:r>
              <a:rPr lang="zh-CN" altLang="en-US" sz="2400" dirty="0"/>
              <a:t>保证了</a:t>
            </a:r>
            <a:r>
              <a:rPr lang="en-US" altLang="zh-CN" sz="2400" dirty="0"/>
              <a:t>F</a:t>
            </a:r>
            <a:r>
              <a:rPr lang="zh-CN" altLang="en-US" sz="2400" dirty="0"/>
              <a:t>变换前后的等价性。</a:t>
            </a:r>
            <a:endParaRPr lang="zh-CN" altLang="en-US" sz="2400" dirty="0"/>
          </a:p>
        </p:txBody>
      </p:sp>
    </p:spTree>
  </p:cSld>
  <p:clrMapOvr>
    <a:masterClrMapping/>
  </p:clrMapOvr>
  <p:transition spd="slow">
    <p:wipe dir="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7. </a:t>
            </a:r>
            <a:r>
              <a:rPr lang="zh-CN" altLang="en-US" dirty="0"/>
              <a:t>极小化过程</a:t>
            </a:r>
            <a:endParaRPr lang="zh-CN" altLang="en-US" dirty="0"/>
          </a:p>
        </p:txBody>
      </p:sp>
      <p:sp>
        <p:nvSpPr>
          <p:cNvPr id="163843" name="Rectangle 1027"/>
          <p:cNvSpPr>
            <a:spLocks noGrp="1" noChangeArrowheads="1"/>
          </p:cNvSpPr>
          <p:nvPr>
            <p:ph idx="1"/>
          </p:nvPr>
        </p:nvSpPr>
        <p:spPr>
          <a:xfrm>
            <a:off x="285720" y="823914"/>
            <a:ext cx="8401080" cy="3821906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Monotype Sorts" pitchFamily="2" charset="2"/>
              <a:buNone/>
            </a:pPr>
            <a:r>
              <a:rPr lang="en-US" altLang="zh-CN" sz="2800" dirty="0"/>
              <a:t>(2)</a:t>
            </a:r>
            <a:r>
              <a:rPr lang="zh-CN" altLang="en-US" sz="2800" dirty="0"/>
              <a:t>逐一检查</a:t>
            </a:r>
            <a:r>
              <a:rPr lang="en-US" altLang="zh-CN" sz="2800" i="1" dirty="0"/>
              <a:t>F</a:t>
            </a:r>
            <a:r>
              <a:rPr lang="zh-CN" altLang="en-US" sz="2800" dirty="0"/>
              <a:t>中各函数依赖</a:t>
            </a:r>
            <a:r>
              <a:rPr lang="en-US" altLang="zh-CN" sz="2800" i="1" dirty="0" err="1"/>
              <a:t>FD</a:t>
            </a:r>
            <a:r>
              <a:rPr lang="en-US" altLang="zh-CN" sz="2800" i="1" baseline="-30000" dirty="0" err="1"/>
              <a:t>i</a:t>
            </a:r>
            <a:r>
              <a:rPr lang="zh-CN" altLang="en-US" sz="2800" dirty="0"/>
              <a:t>：</a:t>
            </a:r>
            <a:r>
              <a:rPr lang="en-US" altLang="zh-CN" sz="2800" i="1" dirty="0"/>
              <a:t>X</a:t>
            </a:r>
            <a:r>
              <a:rPr lang="en-US" altLang="zh-CN" sz="2800" dirty="0"/>
              <a:t>→</a:t>
            </a:r>
            <a:r>
              <a:rPr lang="en-US" altLang="zh-CN" sz="2800" i="1" dirty="0"/>
              <a:t>A</a:t>
            </a:r>
            <a:r>
              <a:rPr lang="zh-CN" altLang="en-US" sz="2800" dirty="0"/>
              <a:t>，</a:t>
            </a:r>
            <a:endParaRPr lang="zh-CN" altLang="en-US" sz="2800" dirty="0"/>
          </a:p>
          <a:p>
            <a:pPr eaLnBrk="1" hangingPunct="1">
              <a:lnSpc>
                <a:spcPct val="130000"/>
              </a:lnSpc>
              <a:buFont typeface="Monotype Sorts" pitchFamily="2" charset="2"/>
              <a:buNone/>
            </a:pPr>
            <a:r>
              <a:rPr lang="zh-CN" altLang="en-US" sz="2800" dirty="0"/>
              <a:t>    令</a:t>
            </a:r>
            <a:r>
              <a:rPr lang="en-US" altLang="zh-CN" sz="2800" i="1" dirty="0"/>
              <a:t>G</a:t>
            </a:r>
            <a:r>
              <a:rPr lang="en-US" altLang="zh-CN" sz="2800" dirty="0"/>
              <a:t>=</a:t>
            </a:r>
            <a:r>
              <a:rPr lang="en-US" altLang="zh-CN" sz="2800" i="1" dirty="0"/>
              <a:t>F</a:t>
            </a:r>
            <a:r>
              <a:rPr lang="en-US" altLang="zh-CN" sz="2800" dirty="0"/>
              <a:t>-{</a:t>
            </a:r>
            <a:r>
              <a:rPr lang="en-US" altLang="zh-CN" sz="2800" i="1" dirty="0"/>
              <a:t>X</a:t>
            </a:r>
            <a:r>
              <a:rPr lang="en-US" altLang="zh-CN" sz="2800" dirty="0"/>
              <a:t>→</a:t>
            </a:r>
            <a:r>
              <a:rPr lang="en-US" altLang="zh-CN" sz="2800" i="1" dirty="0"/>
              <a:t>A</a:t>
            </a:r>
            <a:r>
              <a:rPr lang="en-US" altLang="zh-CN" sz="2800" dirty="0"/>
              <a:t>}</a:t>
            </a:r>
            <a:r>
              <a:rPr lang="zh-CN" altLang="en-US" sz="2800" dirty="0"/>
              <a:t>，</a:t>
            </a:r>
            <a:endParaRPr lang="zh-CN" altLang="en-US" sz="2800" dirty="0"/>
          </a:p>
          <a:p>
            <a:pPr eaLnBrk="1" hangingPunct="1">
              <a:lnSpc>
                <a:spcPct val="130000"/>
              </a:lnSpc>
              <a:buFont typeface="Monotype Sorts" pitchFamily="2" charset="2"/>
              <a:buNone/>
            </a:pPr>
            <a:r>
              <a:rPr lang="zh-CN" altLang="en-US" sz="2800" dirty="0"/>
              <a:t>    若</a:t>
            </a:r>
            <a:r>
              <a:rPr lang="en-US" altLang="zh-CN" sz="2800" i="1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i="1" dirty="0"/>
              <a:t>X</a:t>
            </a:r>
            <a:r>
              <a:rPr lang="en-US" altLang="zh-CN" sz="2800" i="1" baseline="-30000" dirty="0"/>
              <a:t>G</a:t>
            </a:r>
            <a:r>
              <a:rPr lang="en-US" altLang="zh-CN" sz="2800" baseline="30000" dirty="0"/>
              <a:t>+</a:t>
            </a:r>
            <a:r>
              <a:rPr lang="zh-CN" altLang="en-US" sz="2800" dirty="0"/>
              <a:t>， 则从</a:t>
            </a:r>
            <a:r>
              <a:rPr lang="en-US" altLang="zh-CN" sz="2800" i="1" dirty="0"/>
              <a:t>F</a:t>
            </a:r>
            <a:r>
              <a:rPr lang="zh-CN" altLang="en-US" sz="2800" dirty="0"/>
              <a:t>中去掉此函数依赖。</a:t>
            </a:r>
            <a:endParaRPr lang="zh-CN" altLang="en-US" sz="2800" dirty="0"/>
          </a:p>
          <a:p>
            <a:pPr eaLnBrk="1" hangingPunct="1">
              <a:lnSpc>
                <a:spcPct val="130000"/>
              </a:lnSpc>
              <a:buFont typeface="Monotype Sorts" pitchFamily="2" charset="2"/>
              <a:buNone/>
            </a:pPr>
            <a:endParaRPr lang="zh-CN" altLang="en-US" sz="2800" dirty="0"/>
          </a:p>
          <a:p>
            <a:pPr eaLnBrk="1" hangingPunct="1">
              <a:lnSpc>
                <a:spcPct val="130000"/>
              </a:lnSpc>
              <a:buFont typeface="Monotype Sorts" pitchFamily="2" charset="2"/>
              <a:buNone/>
            </a:pPr>
            <a:r>
              <a:rPr lang="zh-CN" altLang="en-US" sz="2800" dirty="0"/>
              <a:t>    由于</a:t>
            </a:r>
            <a:r>
              <a:rPr lang="en-US" altLang="zh-CN" sz="2800" i="1" dirty="0"/>
              <a:t>F</a:t>
            </a:r>
            <a:r>
              <a:rPr lang="zh-CN" altLang="en-US" sz="2800" dirty="0"/>
              <a:t>与</a:t>
            </a:r>
            <a:r>
              <a:rPr lang="en-US" altLang="zh-CN" sz="2800" i="1" dirty="0"/>
              <a:t>G </a:t>
            </a:r>
            <a:r>
              <a:rPr lang="en-US" altLang="zh-CN" sz="2800" dirty="0"/>
              <a:t>=</a:t>
            </a:r>
            <a:r>
              <a:rPr lang="en-US" altLang="zh-CN" sz="2800" i="1" dirty="0"/>
              <a:t>F</a:t>
            </a:r>
            <a:r>
              <a:rPr lang="en-US" altLang="zh-CN" sz="2800" dirty="0"/>
              <a:t>-{</a:t>
            </a:r>
            <a:r>
              <a:rPr lang="en-US" altLang="zh-CN" sz="2800" i="1" dirty="0"/>
              <a:t>X</a:t>
            </a:r>
            <a:r>
              <a:rPr lang="en-US" altLang="zh-CN" sz="2800" dirty="0"/>
              <a:t>→</a:t>
            </a:r>
            <a:r>
              <a:rPr lang="en-US" altLang="zh-CN" sz="2800" i="1" dirty="0"/>
              <a:t>A</a:t>
            </a:r>
            <a:r>
              <a:rPr lang="en-US" altLang="zh-CN" sz="2800" dirty="0"/>
              <a:t>}</a:t>
            </a:r>
            <a:r>
              <a:rPr lang="zh-CN" altLang="en-US" sz="2800" dirty="0"/>
              <a:t>等价的充要条件是</a:t>
            </a:r>
            <a:r>
              <a:rPr lang="en-US" altLang="zh-CN" sz="2800" i="1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</a:t>
            </a:r>
            <a:r>
              <a:rPr lang="en-US" altLang="zh-CN" sz="2800" i="1" dirty="0"/>
              <a:t>X</a:t>
            </a:r>
            <a:r>
              <a:rPr lang="en-US" altLang="zh-CN" sz="2800" i="1" baseline="-30000" dirty="0"/>
              <a:t>G</a:t>
            </a:r>
            <a:r>
              <a:rPr lang="en-US" altLang="zh-CN" sz="2800" baseline="30000" dirty="0"/>
              <a:t>+ </a:t>
            </a:r>
            <a:endParaRPr lang="en-US" altLang="zh-CN" sz="2800" dirty="0"/>
          </a:p>
          <a:p>
            <a:pPr eaLnBrk="1" hangingPunct="1">
              <a:lnSpc>
                <a:spcPct val="130000"/>
              </a:lnSpc>
              <a:buFont typeface="Monotype Sorts" pitchFamily="2" charset="2"/>
              <a:buNone/>
            </a:pPr>
            <a:r>
              <a:rPr lang="en-US" altLang="zh-CN" sz="2800" dirty="0"/>
              <a:t>    </a:t>
            </a:r>
            <a:r>
              <a:rPr lang="zh-CN" altLang="en-US" sz="2800" dirty="0"/>
              <a:t>因此</a:t>
            </a:r>
            <a:r>
              <a:rPr lang="en-US" altLang="zh-CN" sz="2800" dirty="0"/>
              <a:t>F</a:t>
            </a:r>
            <a:r>
              <a:rPr lang="zh-CN" altLang="en-US" sz="2800" dirty="0"/>
              <a:t>变换前后是等价的。</a:t>
            </a:r>
            <a:endParaRPr lang="zh-CN" altLang="en-US" sz="2800" dirty="0"/>
          </a:p>
        </p:txBody>
      </p:sp>
    </p:spTree>
  </p:cSld>
  <p:clrMapOvr>
    <a:masterClrMapping/>
  </p:clrMapOvr>
  <p:transition spd="slow">
    <p:wipe dir="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7. </a:t>
            </a:r>
            <a:r>
              <a:rPr lang="zh-CN" altLang="en-US" dirty="0"/>
              <a:t>极小化过程</a:t>
            </a:r>
            <a:endParaRPr lang="zh-CN" altLang="en-US" dirty="0"/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1"/>
          </p:nvPr>
        </p:nvSpPr>
        <p:spPr>
          <a:xfrm>
            <a:off x="283066" y="823913"/>
            <a:ext cx="8401080" cy="3640931"/>
          </a:xfrm>
        </p:spPr>
        <p:txBody>
          <a:bodyPr/>
          <a:lstStyle/>
          <a:p>
            <a:pPr algn="just" eaLnBrk="1" hangingPunct="1">
              <a:buFont typeface="Monotype Sorts" pitchFamily="2" charset="2"/>
              <a:buNone/>
            </a:pPr>
            <a:r>
              <a:rPr lang="en-US" altLang="zh-CN" sz="2800" dirty="0"/>
              <a:t>(3)</a:t>
            </a:r>
            <a:r>
              <a:rPr lang="zh-CN" altLang="en-US" dirty="0"/>
              <a:t>逐一取出</a:t>
            </a:r>
            <a:r>
              <a:rPr lang="en-US" altLang="zh-CN" i="1" dirty="0"/>
              <a:t>F</a:t>
            </a:r>
            <a:r>
              <a:rPr lang="zh-CN" altLang="en-US" dirty="0"/>
              <a:t>中各函数依赖</a:t>
            </a:r>
            <a:r>
              <a:rPr lang="en-US" altLang="zh-CN" i="1" dirty="0" err="1"/>
              <a:t>FD</a:t>
            </a:r>
            <a:r>
              <a:rPr lang="en-US" altLang="zh-CN" i="1" baseline="-30000" dirty="0" err="1"/>
              <a:t>i</a:t>
            </a:r>
            <a:r>
              <a:rPr lang="zh-CN" altLang="en-US" dirty="0"/>
              <a:t>：</a:t>
            </a:r>
            <a:r>
              <a:rPr lang="en-US" altLang="zh-CN" i="1" dirty="0"/>
              <a:t>X</a:t>
            </a:r>
            <a:r>
              <a:rPr lang="en-US" altLang="zh-CN" dirty="0"/>
              <a:t>→</a:t>
            </a:r>
            <a:r>
              <a:rPr lang="en-US" altLang="zh-CN" i="1" dirty="0"/>
              <a:t>A</a:t>
            </a:r>
            <a:r>
              <a:rPr lang="zh-CN" altLang="en-US" dirty="0"/>
              <a:t>，</a:t>
            </a:r>
            <a:endParaRPr lang="zh-CN" altLang="en-US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dirty="0"/>
              <a:t>    设</a:t>
            </a:r>
            <a:r>
              <a:rPr lang="en-US" altLang="zh-CN" i="1" dirty="0"/>
              <a:t>X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en-US" altLang="zh-CN" baseline="-30000" dirty="0"/>
              <a:t>1</a:t>
            </a:r>
            <a:r>
              <a:rPr lang="en-US" altLang="zh-CN" i="1" dirty="0"/>
              <a:t>B</a:t>
            </a:r>
            <a:r>
              <a:rPr lang="en-US" altLang="zh-CN" baseline="-30000" dirty="0"/>
              <a:t>2</a:t>
            </a:r>
            <a:r>
              <a:rPr lang="en-US" altLang="zh-CN" dirty="0"/>
              <a:t>…</a:t>
            </a:r>
            <a:r>
              <a:rPr lang="en-US" altLang="zh-CN" i="1" dirty="0" err="1"/>
              <a:t>B</a:t>
            </a:r>
            <a:r>
              <a:rPr lang="en-US" altLang="zh-CN" i="1" baseline="-30000" dirty="0" err="1"/>
              <a:t>m</a:t>
            </a:r>
            <a:r>
              <a:rPr lang="zh-CN" altLang="en-US" dirty="0"/>
              <a:t>，</a:t>
            </a:r>
            <a:endParaRPr lang="zh-CN" altLang="en-US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dirty="0"/>
              <a:t>    逐一考查</a:t>
            </a:r>
            <a:r>
              <a:rPr lang="en-US" altLang="zh-CN" i="1" dirty="0"/>
              <a:t>B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 </a:t>
            </a:r>
            <a:r>
              <a:rPr lang="zh-CN" altLang="en-US" dirty="0"/>
              <a:t>（</a:t>
            </a:r>
            <a:r>
              <a:rPr lang="en-US" altLang="zh-CN" i="1" dirty="0" err="1"/>
              <a:t>i</a:t>
            </a:r>
            <a:r>
              <a:rPr lang="en-US" altLang="zh-CN" dirty="0"/>
              <a:t>=l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m</a:t>
            </a:r>
            <a:r>
              <a:rPr lang="zh-CN" altLang="en-US" dirty="0"/>
              <a:t>），</a:t>
            </a:r>
            <a:endParaRPr lang="zh-CN" altLang="en-US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dirty="0"/>
              <a:t>    若</a:t>
            </a:r>
            <a:r>
              <a:rPr lang="en-US" altLang="zh-CN" i="1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zh-CN" altLang="en-US" dirty="0"/>
              <a:t>（</a:t>
            </a:r>
            <a:r>
              <a:rPr lang="en-US" altLang="zh-CN" i="1" dirty="0"/>
              <a:t>X</a:t>
            </a:r>
            <a:r>
              <a:rPr lang="en-US" altLang="zh-CN" dirty="0"/>
              <a:t>-</a:t>
            </a:r>
            <a:r>
              <a:rPr lang="en-US" altLang="zh-CN" i="1" dirty="0"/>
              <a:t>B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 </a:t>
            </a:r>
            <a:r>
              <a:rPr lang="zh-CN" altLang="en-US" dirty="0"/>
              <a:t>）</a:t>
            </a:r>
            <a:r>
              <a:rPr lang="en-US" altLang="zh-CN" i="1" baseline="-30000" dirty="0"/>
              <a:t>F</a:t>
            </a:r>
            <a:r>
              <a:rPr lang="en-US" altLang="zh-CN" baseline="30000" dirty="0"/>
              <a:t>+ </a:t>
            </a:r>
            <a:r>
              <a:rPr lang="zh-CN" altLang="en-US" dirty="0"/>
              <a:t>，</a:t>
            </a:r>
            <a:endParaRPr lang="zh-CN" altLang="en-US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dirty="0"/>
              <a:t>    则以</a:t>
            </a:r>
            <a:r>
              <a:rPr lang="en-US" altLang="zh-CN" i="1" dirty="0"/>
              <a:t>X</a:t>
            </a:r>
            <a:r>
              <a:rPr lang="en-US" altLang="zh-CN" dirty="0"/>
              <a:t>-</a:t>
            </a:r>
            <a:r>
              <a:rPr lang="en-US" altLang="zh-CN" i="1" dirty="0"/>
              <a:t>B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 </a:t>
            </a:r>
            <a:r>
              <a:rPr lang="zh-CN" altLang="en-US" dirty="0"/>
              <a:t>取代</a:t>
            </a:r>
            <a:r>
              <a:rPr lang="en-US" altLang="zh-CN" i="1" dirty="0"/>
              <a:t>X</a:t>
            </a:r>
            <a:r>
              <a:rPr lang="zh-CN" altLang="en-US" i="1" dirty="0"/>
              <a:t>。</a:t>
            </a:r>
            <a:endParaRPr lang="zh-CN" altLang="en-US" i="1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dirty="0"/>
              <a:t>  由于</a:t>
            </a:r>
            <a:r>
              <a:rPr lang="en-US" altLang="zh-CN" i="1" dirty="0"/>
              <a:t>F</a:t>
            </a:r>
            <a:r>
              <a:rPr lang="zh-CN" altLang="en-US" dirty="0"/>
              <a:t>与</a:t>
            </a:r>
            <a:r>
              <a:rPr lang="en-US" altLang="zh-CN" i="1" dirty="0"/>
              <a:t>F</a:t>
            </a:r>
            <a:r>
              <a:rPr lang="en-US" altLang="zh-CN" dirty="0"/>
              <a:t>-{</a:t>
            </a:r>
            <a:r>
              <a:rPr lang="en-US" altLang="zh-CN" i="1" dirty="0"/>
              <a:t>X</a:t>
            </a:r>
            <a:r>
              <a:rPr lang="en-US" altLang="zh-CN" dirty="0"/>
              <a:t>→</a:t>
            </a:r>
            <a:r>
              <a:rPr lang="en-US" altLang="zh-CN" i="1" dirty="0"/>
              <a:t>A</a:t>
            </a:r>
            <a:r>
              <a:rPr lang="en-US" altLang="zh-CN" dirty="0"/>
              <a:t>}∪{</a:t>
            </a:r>
            <a:r>
              <a:rPr lang="en-US" altLang="zh-CN" i="1" dirty="0"/>
              <a:t>Z</a:t>
            </a:r>
            <a:r>
              <a:rPr lang="en-US" altLang="zh-CN" dirty="0"/>
              <a:t>→</a:t>
            </a:r>
            <a:r>
              <a:rPr lang="en-US" altLang="zh-CN" i="1" dirty="0"/>
              <a:t>A</a:t>
            </a:r>
            <a:r>
              <a:rPr lang="en-US" altLang="zh-CN" dirty="0"/>
              <a:t>}</a:t>
            </a:r>
            <a:r>
              <a:rPr lang="zh-CN" altLang="en-US" dirty="0"/>
              <a:t>等价的充要条件是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Z</a:t>
            </a:r>
            <a:r>
              <a:rPr lang="en-US" altLang="zh-CN" i="1" baseline="-30000" dirty="0"/>
              <a:t>F</a:t>
            </a:r>
            <a:r>
              <a:rPr lang="en-US" altLang="zh-CN" baseline="30000" dirty="0"/>
              <a:t>+ </a:t>
            </a:r>
            <a:r>
              <a:rPr lang="zh-CN" altLang="en-US" dirty="0"/>
              <a:t>，其中</a:t>
            </a:r>
            <a:r>
              <a:rPr lang="en-US" altLang="zh-CN" i="1" dirty="0"/>
              <a:t>Z</a:t>
            </a:r>
            <a:r>
              <a:rPr lang="en-US" altLang="zh-CN" dirty="0"/>
              <a:t>=</a:t>
            </a:r>
            <a:r>
              <a:rPr lang="en-US" altLang="zh-CN" i="1" dirty="0"/>
              <a:t>X</a:t>
            </a:r>
            <a:r>
              <a:rPr lang="en-US" altLang="zh-CN" dirty="0"/>
              <a:t>-</a:t>
            </a:r>
            <a:r>
              <a:rPr lang="en-US" altLang="zh-CN" i="1" dirty="0"/>
              <a:t>B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 </a:t>
            </a:r>
            <a:endParaRPr lang="en-US" altLang="zh-CN" dirty="0"/>
          </a:p>
          <a:p>
            <a:pPr eaLnBrk="1" hangingPunct="1">
              <a:buFont typeface="Monotype Sorts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/>
              <a:t>因此</a:t>
            </a:r>
            <a:r>
              <a:rPr lang="en-US" altLang="zh-CN" dirty="0"/>
              <a:t>F</a:t>
            </a:r>
            <a:r>
              <a:rPr lang="zh-CN" altLang="en-US" dirty="0"/>
              <a:t>变换前后是等价的。</a:t>
            </a:r>
            <a:endParaRPr lang="zh-CN" altLang="en-US" dirty="0"/>
          </a:p>
        </p:txBody>
      </p:sp>
    </p:spTree>
  </p:cSld>
  <p:clrMapOvr>
    <a:masterClrMapping/>
  </p:clrMapOvr>
  <p:transition spd="slow">
    <p:wipe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7. </a:t>
            </a:r>
            <a:r>
              <a:rPr lang="zh-CN" altLang="en-US" dirty="0"/>
              <a:t>极小化过程</a:t>
            </a:r>
            <a:endParaRPr lang="zh-CN" altLang="en-US" dirty="0"/>
          </a:p>
        </p:txBody>
      </p:sp>
      <p:sp>
        <p:nvSpPr>
          <p:cNvPr id="165891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Monotype Sorts" pitchFamily="2" charset="2"/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由定义，最后剩下的</a:t>
            </a:r>
            <a:r>
              <a:rPr lang="en-US" altLang="zh-CN" sz="2800" i="1" dirty="0"/>
              <a:t>F</a:t>
            </a:r>
            <a:r>
              <a:rPr lang="zh-CN" altLang="en-US" sz="2800" dirty="0"/>
              <a:t>就一定是极小依赖集。</a:t>
            </a:r>
            <a:endParaRPr lang="zh-CN" altLang="en-US" sz="2800" dirty="0"/>
          </a:p>
          <a:p>
            <a:pPr eaLnBrk="1" hangingPunct="1">
              <a:lnSpc>
                <a:spcPct val="150000"/>
              </a:lnSpc>
              <a:buFont typeface="Monotype Sorts" pitchFamily="2" charset="2"/>
              <a:buNone/>
            </a:pPr>
            <a:r>
              <a:rPr lang="zh-CN" altLang="en-US" sz="2800" dirty="0"/>
              <a:t>    因为对</a:t>
            </a:r>
            <a:r>
              <a:rPr lang="en-US" altLang="zh-CN" sz="2800" i="1" dirty="0"/>
              <a:t>F</a:t>
            </a:r>
            <a:r>
              <a:rPr lang="zh-CN" altLang="en-US" sz="2800" dirty="0"/>
              <a:t>的每一次“改造”都保证了改造前后的两个函数依赖集等价，因此剩下的</a:t>
            </a:r>
            <a:r>
              <a:rPr lang="en-US" altLang="zh-CN" sz="2800" i="1" dirty="0"/>
              <a:t>F</a:t>
            </a:r>
            <a:r>
              <a:rPr lang="zh-CN" altLang="en-US" sz="2800" dirty="0"/>
              <a:t>与原来的</a:t>
            </a:r>
            <a:r>
              <a:rPr lang="en-US" altLang="zh-CN" sz="2800" i="1" dirty="0"/>
              <a:t>F</a:t>
            </a:r>
            <a:r>
              <a:rPr lang="zh-CN" altLang="en-US" sz="2800" dirty="0"/>
              <a:t>等价。</a:t>
            </a:r>
            <a:endParaRPr lang="zh-CN" altLang="en-US" sz="2800" dirty="0"/>
          </a:p>
          <a:p>
            <a:pPr eaLnBrk="1" hangingPunct="1">
              <a:lnSpc>
                <a:spcPct val="150000"/>
              </a:lnSpc>
              <a:buFont typeface="Monotype Sorts" pitchFamily="2" charset="2"/>
              <a:buNone/>
            </a:pPr>
            <a:r>
              <a:rPr lang="zh-CN" altLang="en-US" sz="2800" dirty="0"/>
              <a:t>    证毕</a:t>
            </a:r>
            <a:endParaRPr lang="zh-CN" altLang="en-US" sz="2800" dirty="0"/>
          </a:p>
        </p:txBody>
      </p:sp>
    </p:spTree>
  </p:cSld>
  <p:clrMapOvr>
    <a:masterClrMapping/>
  </p:clrMapOvr>
  <p:transition spd="slow"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7. </a:t>
            </a:r>
            <a:r>
              <a:rPr lang="zh-CN" altLang="en-US" dirty="0"/>
              <a:t>极小化过程</a:t>
            </a:r>
            <a:endParaRPr lang="zh-CN" altLang="en-US" dirty="0"/>
          </a:p>
        </p:txBody>
      </p:sp>
      <p:sp>
        <p:nvSpPr>
          <p:cNvPr id="166915" name="Rectangle 3"/>
          <p:cNvSpPr>
            <a:spLocks noGrp="1" noChangeArrowheads="1"/>
          </p:cNvSpPr>
          <p:nvPr>
            <p:ph idx="1"/>
          </p:nvPr>
        </p:nvSpPr>
        <p:spPr>
          <a:xfrm>
            <a:off x="285720" y="915566"/>
            <a:ext cx="8401080" cy="3730253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定理</a:t>
            </a:r>
            <a:r>
              <a:rPr lang="en-US" altLang="zh-CN" dirty="0"/>
              <a:t>6.3</a:t>
            </a:r>
            <a:r>
              <a:rPr lang="zh-CN" altLang="en-US" dirty="0"/>
              <a:t>的证明过程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是</a:t>
            </a:r>
            <a:r>
              <a:rPr lang="zh-CN" altLang="en-US" dirty="0">
                <a:solidFill>
                  <a:schemeClr val="accent2"/>
                </a:solidFill>
              </a:rPr>
              <a:t>求</a:t>
            </a:r>
            <a:r>
              <a:rPr lang="en-US" altLang="zh-CN" i="1" dirty="0">
                <a:solidFill>
                  <a:schemeClr val="accent2"/>
                </a:solidFill>
              </a:rPr>
              <a:t>F</a:t>
            </a:r>
            <a:r>
              <a:rPr lang="zh-CN" altLang="en-US" dirty="0">
                <a:solidFill>
                  <a:schemeClr val="accent2"/>
                </a:solidFill>
              </a:rPr>
              <a:t>极小依赖集</a:t>
            </a:r>
            <a:r>
              <a:rPr lang="zh-CN" altLang="en-US" dirty="0"/>
              <a:t>的过程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也是检验</a:t>
            </a:r>
            <a:r>
              <a:rPr lang="en-US" altLang="zh-CN" i="1" dirty="0"/>
              <a:t>F</a:t>
            </a:r>
            <a:r>
              <a:rPr lang="zh-CN" altLang="en-US" dirty="0"/>
              <a:t>是否为极小依赖集的一个算法</a:t>
            </a:r>
            <a:endParaRPr lang="zh-CN" altLang="en-US" dirty="0"/>
          </a:p>
          <a:p>
            <a:pPr lvl="2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/>
              <a:t>若改造后的</a:t>
            </a:r>
            <a:r>
              <a:rPr lang="en-US" altLang="zh-CN" sz="2200" i="1" dirty="0"/>
              <a:t>F</a:t>
            </a:r>
            <a:r>
              <a:rPr lang="zh-CN" altLang="en-US" sz="2200" dirty="0"/>
              <a:t>与原来的</a:t>
            </a:r>
            <a:r>
              <a:rPr lang="en-US" altLang="zh-CN" sz="2200" i="1" dirty="0"/>
              <a:t>F</a:t>
            </a:r>
            <a:r>
              <a:rPr lang="zh-CN" altLang="en-US" sz="2200" dirty="0"/>
              <a:t>相同，说明</a:t>
            </a:r>
            <a:r>
              <a:rPr lang="en-US" altLang="zh-CN" sz="2200" i="1" dirty="0"/>
              <a:t>F</a:t>
            </a:r>
            <a:r>
              <a:rPr lang="zh-CN" altLang="en-US" sz="2200" dirty="0"/>
              <a:t>本身就是一个最小依赖集</a:t>
            </a:r>
            <a:endParaRPr lang="zh-CN" altLang="en-US" sz="2200" dirty="0"/>
          </a:p>
          <a:p>
            <a:pPr lvl="1" eaLnBrk="1" hangingPunct="1"/>
            <a:endParaRPr lang="en-US" altLang="zh-CN" dirty="0">
              <a:solidFill>
                <a:srgbClr val="C0C0C0"/>
              </a:solidFill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求最小函数依赖集</a:t>
            </a:r>
            <a:endParaRPr lang="zh-CN" altLang="en-US"/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 typeface="Monotype Sorts" pitchFamily="2" charset="2"/>
              <a:buNone/>
            </a:pPr>
            <a:r>
              <a:rPr lang="en-US" altLang="zh-CN" dirty="0"/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/>
              <a:t>3]  </a:t>
            </a:r>
            <a:r>
              <a:rPr lang="en-US" altLang="zh-CN" i="1" dirty="0"/>
              <a:t>F</a:t>
            </a:r>
            <a:r>
              <a:rPr lang="en-US" altLang="zh-CN" dirty="0"/>
              <a:t> = {</a:t>
            </a:r>
            <a:r>
              <a:rPr lang="en-US" altLang="zh-CN" i="1" dirty="0"/>
              <a:t>A</a:t>
            </a:r>
            <a:r>
              <a:rPr lang="en-US" altLang="zh-CN" dirty="0"/>
              <a:t>→</a:t>
            </a:r>
            <a:r>
              <a:rPr lang="en-US" altLang="zh-CN" i="1" dirty="0"/>
              <a:t>B</a:t>
            </a:r>
            <a:r>
              <a:rPr lang="zh-CN" altLang="en-US" dirty="0"/>
              <a:t>，</a:t>
            </a:r>
            <a:r>
              <a:rPr lang="en-US" altLang="zh-CN" i="1" dirty="0"/>
              <a:t>B</a:t>
            </a:r>
            <a:r>
              <a:rPr lang="en-US" altLang="zh-CN" dirty="0"/>
              <a:t>→</a:t>
            </a:r>
            <a:r>
              <a:rPr lang="en-US" altLang="zh-CN" i="1" dirty="0"/>
              <a:t>A</a:t>
            </a:r>
            <a:r>
              <a:rPr lang="zh-CN" altLang="en-US" dirty="0"/>
              <a:t>，</a:t>
            </a:r>
            <a:r>
              <a:rPr lang="en-US" altLang="zh-CN" i="1" dirty="0"/>
              <a:t>B</a:t>
            </a:r>
            <a:r>
              <a:rPr lang="en-US" altLang="zh-CN" dirty="0"/>
              <a:t>→</a:t>
            </a:r>
            <a:r>
              <a:rPr lang="en-US" altLang="zh-CN" i="1" dirty="0"/>
              <a:t>C</a:t>
            </a:r>
            <a:r>
              <a:rPr lang="zh-CN" altLang="en-US" dirty="0"/>
              <a:t>，</a:t>
            </a:r>
            <a:endParaRPr lang="zh-CN" altLang="en-US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dirty="0"/>
              <a:t>                   </a:t>
            </a:r>
            <a:r>
              <a:rPr lang="en-US" altLang="zh-CN" i="1" dirty="0"/>
              <a:t>A</a:t>
            </a:r>
            <a:r>
              <a:rPr lang="en-US" altLang="zh-CN" dirty="0"/>
              <a:t>→</a:t>
            </a:r>
            <a:r>
              <a:rPr lang="en-US" altLang="zh-CN" i="1" dirty="0"/>
              <a:t>C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dirty="0"/>
              <a:t>→</a:t>
            </a:r>
            <a:r>
              <a:rPr lang="en-US" altLang="zh-CN" i="1" dirty="0"/>
              <a:t>A</a:t>
            </a:r>
            <a:r>
              <a:rPr lang="en-US" altLang="zh-CN" dirty="0"/>
              <a:t>}</a:t>
            </a:r>
            <a:endParaRPr lang="en-US" altLang="zh-CN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en-US" altLang="zh-CN" i="1" dirty="0"/>
              <a:t>    </a:t>
            </a:r>
            <a:endParaRPr lang="en-US" altLang="zh-CN" i="1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en-US" altLang="zh-CN" i="1" dirty="0"/>
              <a:t>       F</a:t>
            </a:r>
            <a:r>
              <a:rPr lang="zh-CN" altLang="en-US" dirty="0"/>
              <a:t>的最小依赖集：</a:t>
            </a:r>
            <a:endParaRPr lang="zh-CN" altLang="en-US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dirty="0"/>
              <a:t>          </a:t>
            </a:r>
            <a:r>
              <a:rPr lang="en-US" altLang="zh-CN" i="1" dirty="0"/>
              <a:t>F</a:t>
            </a:r>
            <a:r>
              <a:rPr lang="en-US" altLang="zh-CN" i="1" baseline="-30000" dirty="0"/>
              <a:t>m</a:t>
            </a:r>
            <a:r>
              <a:rPr lang="en-US" altLang="zh-CN" baseline="-30000" dirty="0"/>
              <a:t>1</a:t>
            </a:r>
            <a:r>
              <a:rPr lang="en-US" altLang="zh-CN" dirty="0"/>
              <a:t>= {</a:t>
            </a:r>
            <a:r>
              <a:rPr lang="en-US" altLang="zh-CN" i="1" dirty="0"/>
              <a:t>A</a:t>
            </a:r>
            <a:r>
              <a:rPr lang="en-US" altLang="zh-CN" dirty="0"/>
              <a:t>→</a:t>
            </a:r>
            <a:r>
              <a:rPr lang="en-US" altLang="zh-CN" i="1" dirty="0"/>
              <a:t>B</a:t>
            </a:r>
            <a:r>
              <a:rPr lang="zh-CN" altLang="en-US" dirty="0"/>
              <a:t>，</a:t>
            </a:r>
            <a:r>
              <a:rPr lang="en-US" altLang="zh-CN" i="1" dirty="0"/>
              <a:t>B</a:t>
            </a:r>
            <a:r>
              <a:rPr lang="en-US" altLang="zh-CN" dirty="0"/>
              <a:t>→</a:t>
            </a:r>
            <a:r>
              <a:rPr lang="en-US" altLang="zh-CN" i="1" dirty="0"/>
              <a:t>C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dirty="0"/>
              <a:t>→</a:t>
            </a:r>
            <a:r>
              <a:rPr lang="en-US" altLang="zh-CN" i="1" dirty="0"/>
              <a:t>A</a:t>
            </a:r>
            <a:r>
              <a:rPr lang="en-US" altLang="zh-CN" dirty="0"/>
              <a:t>}  </a:t>
            </a:r>
            <a:endParaRPr lang="en-US" altLang="zh-CN" dirty="0"/>
          </a:p>
        </p:txBody>
      </p:sp>
    </p:spTree>
  </p:cSld>
  <p:clrMapOvr>
    <a:masterClrMapping/>
  </p:clrMapOvr>
  <p:transition spd="slow">
    <p:wipe dir="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求最小函数依赖集</a:t>
            </a:r>
            <a:endParaRPr lang="zh-CN" altLang="en-US"/>
          </a:p>
        </p:txBody>
      </p:sp>
      <p:sp>
        <p:nvSpPr>
          <p:cNvPr id="168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en-US" altLang="zh-CN" i="1" dirty="0"/>
              <a:t>F</a:t>
            </a:r>
            <a:r>
              <a:rPr lang="zh-CN" altLang="en-US" dirty="0"/>
              <a:t>的最小依赖集</a:t>
            </a:r>
            <a:r>
              <a:rPr lang="en-US" altLang="zh-CN" i="1" dirty="0" err="1"/>
              <a:t>F</a:t>
            </a:r>
            <a:r>
              <a:rPr lang="en-US" altLang="zh-CN" i="1" baseline="-30000" dirty="0" err="1"/>
              <a:t>m</a:t>
            </a:r>
            <a:r>
              <a:rPr lang="zh-CN" altLang="en-US" dirty="0"/>
              <a:t>不一定是唯一的，它与对各函数依赖</a:t>
            </a:r>
            <a:r>
              <a:rPr lang="en-US" altLang="zh-CN" i="1" dirty="0" err="1"/>
              <a:t>FD</a:t>
            </a:r>
            <a:r>
              <a:rPr lang="en-US" altLang="zh-CN" i="1" baseline="-30000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及</a:t>
            </a:r>
            <a:r>
              <a:rPr lang="en-US" altLang="zh-CN" i="1" dirty="0"/>
              <a:t>X</a:t>
            </a:r>
            <a:r>
              <a:rPr lang="en-US" altLang="zh-CN" dirty="0"/>
              <a:t>→</a:t>
            </a:r>
            <a:r>
              <a:rPr lang="en-US" altLang="zh-CN" i="1" dirty="0"/>
              <a:t>A</a:t>
            </a:r>
            <a:r>
              <a:rPr lang="zh-CN" altLang="en-US" dirty="0"/>
              <a:t>中</a:t>
            </a:r>
            <a:r>
              <a:rPr lang="en-US" altLang="zh-CN" i="1" dirty="0"/>
              <a:t>X</a:t>
            </a:r>
            <a:r>
              <a:rPr lang="zh-CN" altLang="en-US" dirty="0"/>
              <a:t>各属性的处置顺序有关</a:t>
            </a:r>
            <a:r>
              <a:rPr lang="zh-CN" altLang="en-US" sz="3600" dirty="0"/>
              <a:t>。 </a:t>
            </a:r>
            <a:endParaRPr lang="zh-CN" altLang="en-US" sz="3600" dirty="0"/>
          </a:p>
        </p:txBody>
      </p:sp>
    </p:spTree>
  </p:cSld>
  <p:clrMapOvr>
    <a:masterClrMapping/>
  </p:clrMapOvr>
  <p:transition spd="slow">
    <p:wipe dir="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极小化过程</a:t>
            </a:r>
            <a:endParaRPr lang="zh-CN" altLang="en-US"/>
          </a:p>
        </p:txBody>
      </p:sp>
      <p:sp>
        <p:nvSpPr>
          <p:cNvPr id="16998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 typeface="Monotype Sorts" pitchFamily="2" charset="2"/>
              <a:buNone/>
            </a:pPr>
            <a:r>
              <a:rPr lang="en-US" altLang="zh-CN" dirty="0"/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/>
              <a:t>3] </a:t>
            </a:r>
            <a:r>
              <a:rPr lang="zh-CN" altLang="en-US" dirty="0"/>
              <a:t>（续）</a:t>
            </a:r>
            <a:endParaRPr lang="zh-CN" altLang="en-US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dirty="0"/>
              <a:t>           </a:t>
            </a:r>
            <a:r>
              <a:rPr lang="en-US" altLang="zh-CN" i="1" dirty="0"/>
              <a:t>F</a:t>
            </a:r>
            <a:r>
              <a:rPr lang="en-US" altLang="zh-CN" dirty="0"/>
              <a:t> = {</a:t>
            </a:r>
            <a:r>
              <a:rPr lang="en-US" altLang="zh-CN" i="1" dirty="0"/>
              <a:t>A</a:t>
            </a:r>
            <a:r>
              <a:rPr lang="en-US" altLang="zh-CN" dirty="0"/>
              <a:t>→</a:t>
            </a:r>
            <a:r>
              <a:rPr lang="en-US" altLang="zh-CN" i="1" dirty="0"/>
              <a:t>B</a:t>
            </a:r>
            <a:r>
              <a:rPr lang="zh-CN" altLang="en-US" dirty="0"/>
              <a:t>，</a:t>
            </a:r>
            <a:r>
              <a:rPr lang="en-US" altLang="zh-CN" i="1" dirty="0"/>
              <a:t>B</a:t>
            </a:r>
            <a:r>
              <a:rPr lang="en-US" altLang="zh-CN" dirty="0"/>
              <a:t>→</a:t>
            </a:r>
            <a:r>
              <a:rPr lang="en-US" altLang="zh-CN" i="1" dirty="0"/>
              <a:t>A</a:t>
            </a:r>
            <a:r>
              <a:rPr lang="zh-CN" altLang="en-US" dirty="0"/>
              <a:t>，</a:t>
            </a:r>
            <a:r>
              <a:rPr lang="en-US" altLang="zh-CN" i="1" dirty="0"/>
              <a:t>B</a:t>
            </a:r>
            <a:r>
              <a:rPr lang="en-US" altLang="zh-CN" dirty="0"/>
              <a:t>→</a:t>
            </a:r>
            <a:r>
              <a:rPr lang="en-US" altLang="zh-CN" i="1" dirty="0"/>
              <a:t>C</a:t>
            </a:r>
            <a:r>
              <a:rPr lang="zh-CN" altLang="en-US" dirty="0"/>
              <a:t>，</a:t>
            </a:r>
            <a:endParaRPr lang="zh-CN" altLang="en-US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dirty="0"/>
              <a:t>                   </a:t>
            </a:r>
            <a:r>
              <a:rPr lang="en-US" altLang="zh-CN" i="1" dirty="0"/>
              <a:t>A</a:t>
            </a:r>
            <a:r>
              <a:rPr lang="en-US" altLang="zh-CN" dirty="0"/>
              <a:t>→</a:t>
            </a:r>
            <a:r>
              <a:rPr lang="en-US" altLang="zh-CN" i="1" dirty="0"/>
              <a:t>C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dirty="0"/>
              <a:t>→</a:t>
            </a:r>
            <a:r>
              <a:rPr lang="en-US" altLang="zh-CN" i="1" dirty="0"/>
              <a:t>A</a:t>
            </a:r>
            <a:r>
              <a:rPr lang="en-US" altLang="zh-CN" dirty="0"/>
              <a:t>}</a:t>
            </a:r>
            <a:endParaRPr lang="en-US" altLang="zh-CN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en-US" altLang="zh-CN" i="1" dirty="0"/>
              <a:t>    </a:t>
            </a:r>
            <a:endParaRPr lang="en-US" altLang="zh-CN" i="1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en-US" altLang="zh-CN" i="1" dirty="0"/>
              <a:t>   F</a:t>
            </a:r>
            <a:r>
              <a:rPr lang="en-US" altLang="zh-CN" i="1" baseline="-30000" dirty="0"/>
              <a:t>m</a:t>
            </a:r>
            <a:r>
              <a:rPr lang="en-US" altLang="zh-CN" baseline="-30000" dirty="0"/>
              <a:t>1</a:t>
            </a:r>
            <a:r>
              <a:rPr lang="zh-CN" altLang="en-US" dirty="0"/>
              <a:t>、</a:t>
            </a:r>
            <a:r>
              <a:rPr lang="en-US" altLang="zh-CN" i="1" dirty="0"/>
              <a:t>F</a:t>
            </a:r>
            <a:r>
              <a:rPr lang="en-US" altLang="zh-CN" i="1" baseline="-30000" dirty="0"/>
              <a:t>m</a:t>
            </a:r>
            <a:r>
              <a:rPr lang="en-US" altLang="zh-CN" baseline="-30000" dirty="0"/>
              <a:t>2</a:t>
            </a:r>
            <a:r>
              <a:rPr lang="zh-CN" altLang="en-US" dirty="0"/>
              <a:t>都是</a:t>
            </a:r>
            <a:r>
              <a:rPr lang="en-US" altLang="zh-CN" i="1" dirty="0"/>
              <a:t>F</a:t>
            </a:r>
            <a:r>
              <a:rPr lang="zh-CN" altLang="en-US" dirty="0"/>
              <a:t>的最小依赖集：</a:t>
            </a:r>
            <a:endParaRPr lang="zh-CN" altLang="en-US" dirty="0"/>
          </a:p>
          <a:p>
            <a:pPr algn="just" eaLnBrk="1" hangingPunct="1">
              <a:buFont typeface="Monotype Sorts" pitchFamily="2" charset="2"/>
              <a:buNone/>
            </a:pPr>
            <a:r>
              <a:rPr lang="zh-CN" altLang="en-US" dirty="0"/>
              <a:t>          </a:t>
            </a:r>
            <a:r>
              <a:rPr lang="en-US" altLang="zh-CN" i="1" dirty="0"/>
              <a:t>F</a:t>
            </a:r>
            <a:r>
              <a:rPr lang="en-US" altLang="zh-CN" i="1" baseline="-30000" dirty="0"/>
              <a:t>m</a:t>
            </a:r>
            <a:r>
              <a:rPr lang="en-US" altLang="zh-CN" baseline="-30000" dirty="0"/>
              <a:t>1</a:t>
            </a:r>
            <a:r>
              <a:rPr lang="en-US" altLang="zh-CN" dirty="0"/>
              <a:t>= {</a:t>
            </a:r>
            <a:r>
              <a:rPr lang="en-US" altLang="zh-CN" i="1" dirty="0"/>
              <a:t>A</a:t>
            </a:r>
            <a:r>
              <a:rPr lang="en-US" altLang="zh-CN" dirty="0"/>
              <a:t>→</a:t>
            </a:r>
            <a:r>
              <a:rPr lang="en-US" altLang="zh-CN" i="1" dirty="0"/>
              <a:t>B</a:t>
            </a:r>
            <a:r>
              <a:rPr lang="zh-CN" altLang="en-US" dirty="0"/>
              <a:t>，</a:t>
            </a:r>
            <a:r>
              <a:rPr lang="en-US" altLang="zh-CN" i="1" dirty="0"/>
              <a:t>B</a:t>
            </a:r>
            <a:r>
              <a:rPr lang="en-US" altLang="zh-CN" dirty="0"/>
              <a:t>→</a:t>
            </a:r>
            <a:r>
              <a:rPr lang="en-US" altLang="zh-CN" i="1" dirty="0"/>
              <a:t>C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dirty="0"/>
              <a:t>→</a:t>
            </a:r>
            <a:r>
              <a:rPr lang="en-US" altLang="zh-CN" i="1" dirty="0"/>
              <a:t>A</a:t>
            </a:r>
            <a:r>
              <a:rPr lang="en-US" altLang="zh-CN" dirty="0"/>
              <a:t>}  </a:t>
            </a:r>
            <a:endParaRPr lang="en-US" altLang="zh-CN" dirty="0"/>
          </a:p>
          <a:p>
            <a:pPr eaLnBrk="1" hangingPunct="1">
              <a:buFont typeface="Monotype Sorts" pitchFamily="2" charset="2"/>
              <a:buNone/>
            </a:pPr>
            <a:r>
              <a:rPr lang="en-US" altLang="zh-CN" dirty="0"/>
              <a:t>          </a:t>
            </a:r>
            <a:r>
              <a:rPr lang="en-US" altLang="zh-CN" i="1" dirty="0"/>
              <a:t>F</a:t>
            </a:r>
            <a:r>
              <a:rPr lang="en-US" altLang="zh-CN" i="1" baseline="-30000" dirty="0"/>
              <a:t>m</a:t>
            </a:r>
            <a:r>
              <a:rPr lang="en-US" altLang="zh-CN" baseline="-30000" dirty="0"/>
              <a:t>2</a:t>
            </a:r>
            <a:r>
              <a:rPr lang="en-US" altLang="zh-CN" dirty="0"/>
              <a:t>= {</a:t>
            </a:r>
            <a:r>
              <a:rPr lang="en-US" altLang="zh-CN" i="1" dirty="0"/>
              <a:t>A</a:t>
            </a:r>
            <a:r>
              <a:rPr lang="en-US" altLang="zh-CN" dirty="0"/>
              <a:t>→</a:t>
            </a:r>
            <a:r>
              <a:rPr lang="en-US" altLang="zh-CN" i="1" dirty="0"/>
              <a:t>B</a:t>
            </a:r>
            <a:r>
              <a:rPr lang="zh-CN" altLang="en-US" dirty="0"/>
              <a:t>，</a:t>
            </a:r>
            <a:r>
              <a:rPr lang="en-US" altLang="zh-CN" i="1" dirty="0"/>
              <a:t>B</a:t>
            </a:r>
            <a:r>
              <a:rPr lang="en-US" altLang="zh-CN" dirty="0"/>
              <a:t>→</a:t>
            </a:r>
            <a:r>
              <a:rPr lang="en-US" altLang="zh-CN" i="1" dirty="0"/>
              <a:t>A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dirty="0"/>
              <a:t>→</a:t>
            </a:r>
            <a:r>
              <a:rPr lang="en-US" altLang="zh-CN" i="1" dirty="0"/>
              <a:t>C</a:t>
            </a:r>
            <a:r>
              <a:rPr lang="zh-CN" altLang="en-US" dirty="0"/>
              <a:t>，</a:t>
            </a:r>
            <a:r>
              <a:rPr lang="en-US" altLang="zh-CN" i="1" dirty="0"/>
              <a:t>C</a:t>
            </a:r>
            <a:r>
              <a:rPr lang="en-US" altLang="zh-CN" dirty="0"/>
              <a:t>→</a:t>
            </a:r>
            <a:r>
              <a:rPr lang="en-US" altLang="zh-CN" i="1" dirty="0"/>
              <a:t>A</a:t>
            </a:r>
            <a:r>
              <a:rPr lang="en-US" altLang="zh-CN" dirty="0"/>
              <a:t>} </a:t>
            </a:r>
            <a:endParaRPr lang="en-US" altLang="zh-CN" dirty="0"/>
          </a:p>
        </p:txBody>
      </p:sp>
    </p:spTree>
  </p:cSld>
  <p:clrMapOvr>
    <a:masterClrMapping/>
  </p:clrMapOvr>
  <p:transition spd="slow">
    <p:wipe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极小化过程</a:t>
            </a:r>
            <a:endParaRPr lang="zh-CN" altLang="en-US"/>
          </a:p>
        </p:txBody>
      </p:sp>
      <p:sp>
        <p:nvSpPr>
          <p:cNvPr id="171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定理</a:t>
            </a:r>
            <a:r>
              <a:rPr lang="en-US" altLang="zh-CN" dirty="0"/>
              <a:t>6.3</a:t>
            </a:r>
            <a:r>
              <a:rPr lang="zh-CN" altLang="en-US" dirty="0"/>
              <a:t>的证明过程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是求</a:t>
            </a:r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</a:rPr>
              <a:t>F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极小依赖集的过程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也是</a:t>
            </a:r>
            <a:r>
              <a:rPr lang="zh-CN" altLang="en-US" dirty="0">
                <a:solidFill>
                  <a:schemeClr val="accent2"/>
                </a:solidFill>
              </a:rPr>
              <a:t>检验</a:t>
            </a:r>
            <a:r>
              <a:rPr lang="en-US" altLang="zh-CN" i="1" dirty="0">
                <a:solidFill>
                  <a:schemeClr val="accent2"/>
                </a:solidFill>
              </a:rPr>
              <a:t>F</a:t>
            </a:r>
            <a:r>
              <a:rPr lang="zh-CN" altLang="en-US" dirty="0">
                <a:solidFill>
                  <a:schemeClr val="accent2"/>
                </a:solidFill>
              </a:rPr>
              <a:t>是否为极小依赖集的一个算法</a:t>
            </a:r>
            <a:endParaRPr lang="zh-CN" altLang="en-US" dirty="0">
              <a:solidFill>
                <a:schemeClr val="accent2"/>
              </a:solidFill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2800" dirty="0"/>
              <a:t>若改造后的</a:t>
            </a:r>
            <a:r>
              <a:rPr lang="en-US" altLang="zh-CN" sz="2800" i="1" dirty="0"/>
              <a:t>F</a:t>
            </a:r>
            <a:r>
              <a:rPr lang="zh-CN" altLang="en-US" sz="2800" dirty="0"/>
              <a:t>与原来的</a:t>
            </a:r>
            <a:r>
              <a:rPr lang="en-US" altLang="zh-CN" sz="2800" i="1" dirty="0"/>
              <a:t>F</a:t>
            </a:r>
            <a:r>
              <a:rPr lang="zh-CN" altLang="en-US" sz="2800" dirty="0"/>
              <a:t>相同，说明</a:t>
            </a:r>
            <a:r>
              <a:rPr lang="en-US" altLang="zh-CN" sz="2800" i="1" dirty="0"/>
              <a:t>F</a:t>
            </a:r>
            <a:r>
              <a:rPr lang="zh-CN" altLang="en-US" sz="2800" dirty="0"/>
              <a:t>本身就是一个最小依赖集</a:t>
            </a:r>
            <a:endParaRPr lang="zh-CN" altLang="en-US" sz="2800" dirty="0"/>
          </a:p>
          <a:p>
            <a:pPr lvl="1" eaLnBrk="1" hangingPunct="1"/>
            <a:endParaRPr lang="en-US" altLang="zh-CN" dirty="0"/>
          </a:p>
        </p:txBody>
      </p:sp>
    </p:spTree>
  </p:cSld>
  <p:clrMapOvr>
    <a:masterClrMapping/>
  </p:clrMapOvr>
  <p:transition spd="slow">
    <p:wipe dir="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习题</a:t>
            </a:r>
            <a:endParaRPr lang="zh-CN" altLang="en-US"/>
          </a:p>
        </p:txBody>
      </p:sp>
      <p:sp>
        <p:nvSpPr>
          <p:cNvPr id="3" name="内容占位符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>
            <a:blip r:embed="rId1"/>
            <a:stretch>
              <a:fillRect l="-1259" t="-175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使用定理</a:t>
            </a:r>
            <a:r>
              <a:rPr lang="en-US" altLang="zh-CN"/>
              <a:t>6.3</a:t>
            </a:r>
            <a:r>
              <a:rPr lang="zh-CN" altLang="zh-CN"/>
              <a:t>求</a:t>
            </a:r>
            <a:r>
              <a:rPr lang="en-US" altLang="zh-CN" i="1"/>
              <a:t>F </a:t>
            </a:r>
            <a:r>
              <a:rPr lang="zh-CN" altLang="zh-CN"/>
              <a:t>的最小等价依赖集</a:t>
            </a:r>
            <a:endParaRPr lang="zh-CN" altLang="en-US"/>
          </a:p>
        </p:txBody>
      </p:sp>
      <p:sp>
        <p:nvSpPr>
          <p:cNvPr id="3" name="内容占位符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>
            <a:blip r:embed="rId1"/>
            <a:stretch>
              <a:fillRect l="-1259" b="-175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课后思考题</a:t>
            </a: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Monotype Sorts" pitchFamily="2" charset="2"/>
              <a:buAutoNum type="arabicPeriod"/>
            </a:pPr>
            <a:r>
              <a:rPr lang="zh-CN" altLang="en-US" sz="2800"/>
              <a:t>已知：</a:t>
            </a:r>
            <a:r>
              <a:rPr lang="en-US" altLang="zh-CN" sz="2800"/>
              <a:t>F={X→YZ, Z→CW}</a:t>
            </a:r>
            <a:endParaRPr lang="en-US" altLang="zh-CN" sz="2800"/>
          </a:p>
          <a:p>
            <a:pPr marL="609600" indent="-609600" eaLnBrk="1" hangingPunct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800"/>
              <a:t>       </a:t>
            </a:r>
            <a:r>
              <a:rPr lang="zh-CN" altLang="en-US" sz="2800"/>
              <a:t>试证：</a:t>
            </a:r>
            <a:r>
              <a:rPr lang="en-US" altLang="zh-CN" sz="2800"/>
              <a:t>X→CWYZ</a:t>
            </a:r>
            <a:endParaRPr lang="en-US" altLang="zh-CN" sz="2800"/>
          </a:p>
          <a:p>
            <a:pPr marL="609600" indent="-609600" eaLnBrk="1" hangingPunct="1">
              <a:lnSpc>
                <a:spcPct val="80000"/>
              </a:lnSpc>
              <a:buFont typeface="Monotype Sorts" pitchFamily="2" charset="2"/>
              <a:buAutoNum type="arabicPeriod"/>
            </a:pPr>
            <a:endParaRPr lang="en-US" altLang="zh-CN" sz="2800"/>
          </a:p>
          <a:p>
            <a:pPr marL="609600" indent="-609600" eaLnBrk="1" hangingPunct="1">
              <a:lnSpc>
                <a:spcPct val="80000"/>
              </a:lnSpc>
              <a:buFont typeface="Monotype Sorts" pitchFamily="2" charset="2"/>
              <a:buAutoNum type="arabicPeriod" startAt="2"/>
            </a:pPr>
            <a:r>
              <a:rPr lang="zh-CN" altLang="en-US" sz="2800"/>
              <a:t>已知</a:t>
            </a:r>
            <a:r>
              <a:rPr lang="en-US" altLang="zh-CN" sz="2800"/>
              <a:t>:  F={X→YZ, Z→CW, W→V, S→T}</a:t>
            </a:r>
            <a:endParaRPr lang="en-US" altLang="zh-CN" sz="2800"/>
          </a:p>
          <a:p>
            <a:pPr marL="609600" indent="-609600" eaLnBrk="1" hangingPunct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800"/>
              <a:t>       </a:t>
            </a:r>
            <a:r>
              <a:rPr lang="zh-CN" altLang="en-US" sz="2800"/>
              <a:t>求</a:t>
            </a:r>
            <a:r>
              <a:rPr lang="en-US" altLang="zh-CN" sz="2800"/>
              <a:t>:  X</a:t>
            </a:r>
            <a:r>
              <a:rPr lang="en-US" altLang="zh-CN" sz="2800" baseline="-25000"/>
              <a:t>F</a:t>
            </a:r>
            <a:r>
              <a:rPr lang="en-US" altLang="zh-CN" sz="2800" baseline="30000"/>
              <a:t>+</a:t>
            </a:r>
            <a:endParaRPr lang="en-US" altLang="zh-CN" sz="2800" baseline="30000"/>
          </a:p>
          <a:p>
            <a:pPr marL="609600" indent="-609600" eaLnBrk="1" hangingPunct="1">
              <a:lnSpc>
                <a:spcPct val="80000"/>
              </a:lnSpc>
              <a:buFont typeface="Monotype Sorts" pitchFamily="2" charset="2"/>
              <a:buAutoNum type="arabicPeriod" startAt="2"/>
            </a:pPr>
            <a:endParaRPr lang="en-US" altLang="zh-CN" sz="2800"/>
          </a:p>
          <a:p>
            <a:pPr marL="609600" indent="-609600" eaLnBrk="1" hangingPunct="1">
              <a:lnSpc>
                <a:spcPct val="80000"/>
              </a:lnSpc>
              <a:buFont typeface="Monotype Sorts" pitchFamily="2" charset="2"/>
              <a:buNone/>
            </a:pPr>
            <a:endParaRPr lang="en-US" altLang="zh-CN" sz="2800"/>
          </a:p>
          <a:p>
            <a:pPr marL="609600" indent="-609600" eaLnBrk="1" hangingPunct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800"/>
              <a:t>       </a:t>
            </a:r>
            <a:endParaRPr lang="en-US" altLang="zh-CN" sz="2800"/>
          </a:p>
          <a:p>
            <a:pPr marL="609600" indent="-609600" eaLnBrk="1" hangingPunct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800"/>
              <a:t> </a:t>
            </a:r>
            <a:endParaRPr lang="en-US" altLang="zh-CN" sz="2800"/>
          </a:p>
          <a:p>
            <a:pPr marL="609600" indent="-609600" eaLnBrk="1" hangingPunct="1">
              <a:lnSpc>
                <a:spcPct val="80000"/>
              </a:lnSpc>
              <a:buFont typeface="Monotype Sorts" pitchFamily="2" charset="2"/>
              <a:buNone/>
            </a:pPr>
            <a:endParaRPr lang="en-US" altLang="zh-CN" sz="2800"/>
          </a:p>
        </p:txBody>
      </p:sp>
    </p:spTree>
  </p:cSld>
  <p:clrMapOvr>
    <a:masterClrMapping/>
  </p:clrMapOvr>
  <p:transition spd="slow">
    <p:wipe dir="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第六章 关系数据理论</a:t>
            </a:r>
            <a:endParaRPr lang="zh-CN" altLang="en-US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1004888"/>
            <a:ext cx="8003232" cy="3640931"/>
          </a:xfrm>
        </p:spPr>
        <p:txBody>
          <a:bodyPr/>
          <a:lstStyle/>
          <a:p>
            <a:r>
              <a:rPr lang="en-US" altLang="zh-CN" dirty="0"/>
              <a:t>6.1 </a:t>
            </a:r>
            <a:r>
              <a:rPr lang="zh-CN" altLang="en-US" dirty="0"/>
              <a:t>问题的提出</a:t>
            </a:r>
            <a:endParaRPr lang="zh-CN" altLang="en-US" dirty="0"/>
          </a:p>
          <a:p>
            <a:r>
              <a:rPr lang="en-US" altLang="zh-CN" dirty="0"/>
              <a:t>6.2 </a:t>
            </a:r>
            <a:r>
              <a:rPr lang="zh-CN" altLang="en-US" dirty="0"/>
              <a:t>规范化</a:t>
            </a:r>
            <a:endParaRPr lang="zh-CN" altLang="en-US" dirty="0"/>
          </a:p>
          <a:p>
            <a:r>
              <a:rPr lang="en-US" altLang="zh-CN" dirty="0"/>
              <a:t>6.3 </a:t>
            </a:r>
            <a:r>
              <a:rPr lang="zh-CN" altLang="en-US" dirty="0"/>
              <a:t>数据依赖的公理系统</a:t>
            </a:r>
            <a:endParaRPr lang="zh-CN" altLang="en-US" dirty="0"/>
          </a:p>
          <a:p>
            <a:r>
              <a:rPr lang="en-US" altLang="zh-CN" dirty="0">
                <a:solidFill>
                  <a:srgbClr val="C00000"/>
                </a:solidFill>
              </a:rPr>
              <a:t>6.4 保持函数依赖的模式分解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0"/>
            <a:ext cx="7772400" cy="1021556"/>
          </a:xfrm>
        </p:spPr>
        <p:txBody>
          <a:bodyPr/>
          <a:lstStyle/>
          <a:p>
            <a:pPr algn="ctr" eaLnBrk="1" hangingPunct="1"/>
            <a:r>
              <a:rPr lang="en-US" altLang="zh-CN" sz="3600" dirty="0"/>
              <a:t>6.4 </a:t>
            </a:r>
            <a:r>
              <a:rPr lang="zh-CN" altLang="en-US" sz="3600" dirty="0"/>
              <a:t>保持函数依赖</a:t>
            </a:r>
            <a:r>
              <a:rPr lang="zh-CN" altLang="en-US" sz="3600" dirty="0"/>
              <a:t>的模式分解</a:t>
            </a:r>
            <a:endParaRPr lang="zh-CN" altLang="en-US" sz="3600" dirty="0"/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 smtClean="0">
                <a:solidFill>
                  <a:srgbClr val="FF0000"/>
                </a:solidFill>
              </a:rPr>
              <a:t>模式分解的定义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 smtClean="0"/>
              <a:t>保持函数依赖</a:t>
            </a:r>
            <a:endParaRPr lang="en-US" altLang="zh-CN" sz="2800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 smtClean="0"/>
              <a:t>算法</a:t>
            </a:r>
            <a:r>
              <a:rPr lang="en-US" altLang="zh-CN" sz="2800" dirty="0" smtClean="0"/>
              <a:t>6.2 </a:t>
            </a:r>
            <a:r>
              <a:rPr lang="zh-CN" altLang="en-US" sz="2800" dirty="0" smtClean="0"/>
              <a:t>（</a:t>
            </a:r>
            <a:r>
              <a:rPr lang="zh-CN" altLang="en-US" sz="2800" dirty="0" smtClean="0"/>
              <a:t>合成法）</a:t>
            </a:r>
            <a:endParaRPr lang="zh-CN" altLang="en-US" sz="2800" dirty="0" smtClean="0"/>
          </a:p>
        </p:txBody>
      </p:sp>
    </p:spTree>
  </p:cSld>
  <p:clrMapOvr>
    <a:masterClrMapping/>
  </p:clrMapOvr>
  <p:transition spd="slow">
    <p:wipe dir="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模式分解的定义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61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2070" y="627380"/>
                <a:ext cx="9044305" cy="3469640"/>
              </a:xfrm>
            </p:spPr>
            <p:txBody>
              <a:bodyPr/>
              <a:lstStyle/>
              <a:p>
                <a:pPr eaLnBrk="1" hangingPunct="1">
                  <a:lnSpc>
                    <a:spcPct val="135000"/>
                  </a:lnSpc>
                </a:pPr>
                <a:r>
                  <a:rPr lang="zh-CN" altLang="en-US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将一个关系模式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R&lt;U,F&gt;</a:t>
                </a:r>
                <a:r>
                  <a:rPr lang="zh-CN" altLang="en-US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分解为若干个关系模式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800" b="1" baseline="-25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&lt;U</a:t>
                </a:r>
                <a:r>
                  <a:rPr lang="en-US" altLang="zh-CN" sz="2800" b="1" baseline="-25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,F</a:t>
                </a:r>
                <a:r>
                  <a:rPr lang="en-US" altLang="zh-CN" sz="2800" b="1" baseline="-25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&gt;</a:t>
                </a:r>
                <a:r>
                  <a:rPr lang="zh-CN" altLang="en-US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800" b="1" baseline="-25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&lt;U</a:t>
                </a:r>
                <a:r>
                  <a:rPr lang="en-US" altLang="zh-CN" sz="2800" b="1" baseline="-25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,F</a:t>
                </a:r>
                <a:r>
                  <a:rPr lang="en-US" altLang="zh-CN" sz="2800" b="1" baseline="-25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&gt;</a:t>
                </a:r>
                <a:r>
                  <a:rPr lang="zh-CN" altLang="en-US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…  </a:t>
                </a:r>
                <a:r>
                  <a:rPr lang="zh-CN" altLang="en-US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800" b="1" dirty="0" err="1">
                    <a:latin typeface="Arial" panose="020B0604020202020204" pitchFamily="34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800" b="1" baseline="-25000" dirty="0" err="1">
                    <a:latin typeface="Arial" panose="020B0604020202020204" pitchFamily="34" charset="0"/>
                    <a:ea typeface="宋体" panose="02010600030101010101" pitchFamily="2" charset="-122"/>
                  </a:rPr>
                  <a:t>n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&lt;</a:t>
                </a:r>
                <a:r>
                  <a:rPr lang="en-US" altLang="zh-CN" sz="2800" b="1" dirty="0" err="1">
                    <a:latin typeface="Arial" panose="020B0604020202020204" pitchFamily="34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800" b="1" baseline="-25000" dirty="0" err="1">
                    <a:latin typeface="Arial" panose="020B0604020202020204" pitchFamily="34" charset="0"/>
                    <a:ea typeface="宋体" panose="02010600030101010101" pitchFamily="2" charset="-122"/>
                  </a:rPr>
                  <a:t>n</a:t>
                </a:r>
                <a:r>
                  <a:rPr lang="en-US" altLang="zh-CN" sz="2800" b="1" dirty="0" err="1">
                    <a:latin typeface="Arial" panose="020B0604020202020204" pitchFamily="34" charset="0"/>
                    <a:ea typeface="宋体" panose="02010600030101010101" pitchFamily="2" charset="-122"/>
                  </a:rPr>
                  <a:t>,F</a:t>
                </a:r>
                <a:r>
                  <a:rPr lang="en-US" altLang="zh-CN" sz="2800" b="1" baseline="-25000" dirty="0" err="1">
                    <a:latin typeface="Arial" panose="020B0604020202020204" pitchFamily="34" charset="0"/>
                    <a:ea typeface="宋体" panose="02010600030101010101" pitchFamily="2" charset="-122"/>
                  </a:rPr>
                  <a:t>n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&gt;</a:t>
                </a:r>
                <a:r>
                  <a:rPr lang="zh-CN" altLang="en-US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（其中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U=U</a:t>
                </a:r>
                <a:r>
                  <a:rPr lang="en-US" altLang="zh-CN" sz="2800" b="1" baseline="-25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∪U</a:t>
                </a:r>
                <a:r>
                  <a:rPr lang="en-US" altLang="zh-CN" sz="2800" b="1" baseline="-25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∪…  ∪U</a:t>
                </a:r>
                <a:r>
                  <a:rPr lang="en-US" altLang="zh-CN" sz="2800" b="1" baseline="-25000" dirty="0">
                    <a:latin typeface="Arial" panose="020B0604020202020204" pitchFamily="34" charset="0"/>
                    <a:ea typeface="宋体" panose="02010600030101010101" pitchFamily="2" charset="-122"/>
                  </a:rPr>
                  <a:t>n</a:t>
                </a:r>
                <a:r>
                  <a:rPr lang="zh-CN" altLang="en-US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，且不存在</a:t>
                </a:r>
                <a:r>
                  <a:rPr lang="en-US" altLang="zh-CN" sz="2800" b="1" dirty="0" err="1">
                    <a:latin typeface="Arial" panose="020B0604020202020204" pitchFamily="34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800" b="1" baseline="-25000" dirty="0" err="1">
                    <a:latin typeface="Arial" panose="020B0604020202020204" pitchFamily="34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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800" b="1" dirty="0" err="1">
                    <a:latin typeface="Arial" panose="020B0604020202020204" pitchFamily="34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800" b="1" baseline="-25000" dirty="0" err="1">
                    <a:latin typeface="Arial" panose="020B0604020202020204" pitchFamily="34" charset="0"/>
                    <a:ea typeface="宋体" panose="02010600030101010101" pitchFamily="2" charset="-122"/>
                  </a:rPr>
                  <a:t>j</a:t>
                </a:r>
                <a:r>
                  <a:rPr lang="zh-CN" altLang="en-US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800" b="1" dirty="0" err="1">
                    <a:latin typeface="Arial" panose="020B0604020202020204" pitchFamily="34" charset="0"/>
                    <a:ea typeface="宋体" panose="02010600030101010101" pitchFamily="2" charset="-122"/>
                  </a:rPr>
                  <a:t>F</a:t>
                </a:r>
                <a:r>
                  <a:rPr lang="en-US" altLang="zh-CN" sz="2800" b="1" baseline="-25000" dirty="0" err="1">
                    <a:latin typeface="Arial" panose="020B0604020202020204" pitchFamily="34" charset="0"/>
                    <a:ea typeface="宋体" panose="02010600030101010101" pitchFamily="2" charset="-122"/>
                  </a:rPr>
                  <a:t>i</a:t>
                </a:r>
                <a:r>
                  <a:rPr lang="zh-CN" altLang="en-US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为</a:t>
                </a:r>
                <a:r>
                  <a:rPr lang="en-US" altLang="zh-CN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F</a:t>
                </a:r>
                <a:r>
                  <a:rPr lang="zh-CN" altLang="en-US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在</a:t>
                </a:r>
                <a:r>
                  <a:rPr lang="en-US" altLang="zh-CN" sz="2800" b="1" dirty="0" err="1">
                    <a:latin typeface="Arial" panose="020B0604020202020204" pitchFamily="34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800" b="1" baseline="-25000" dirty="0" err="1">
                    <a:latin typeface="Arial" panose="020B0604020202020204" pitchFamily="34" charset="0"/>
                    <a:ea typeface="宋体" panose="02010600030101010101" pitchFamily="2" charset="-122"/>
                  </a:rPr>
                  <a:t>i</a:t>
                </a:r>
                <a:r>
                  <a:rPr lang="zh-CN" altLang="en-US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上的</a:t>
                </a:r>
                <a:r>
                  <a:rPr lang="zh-CN" altLang="en-US" sz="2800" b="1" dirty="0">
                    <a:solidFill>
                      <a:schemeClr val="accent3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投影</a:t>
                </a:r>
                <a:r>
                  <a:rPr lang="zh-CN" altLang="en-US" sz="28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）</a:t>
                </a:r>
                <a:endParaRPr lang="zh-CN" altLang="en-US" sz="2800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135000"/>
                  </a:lnSpc>
                </a:pPr>
                <a:r>
                  <a:rPr lang="en-US" altLang="zh-CN" dirty="0" err="1">
                    <a:latin typeface="Arial" panose="020B0604020202020204" pitchFamily="34" charset="0"/>
                    <a:ea typeface="宋体" panose="02010600030101010101" pitchFamily="2" charset="-122"/>
                    <a:sym typeface="+mn-ea"/>
                  </a:rPr>
                  <a:t>F</a:t>
                </a:r>
                <a:r>
                  <a:rPr lang="en-US" altLang="zh-CN" baseline="-25000" dirty="0" err="1">
                    <a:latin typeface="Arial" panose="020B0604020202020204" pitchFamily="34" charset="0"/>
                    <a:ea typeface="宋体" panose="02010600030101010101" pitchFamily="2" charset="-122"/>
                    <a:sym typeface="+mn-ea"/>
                  </a:rPr>
                  <a:t>i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  <a:sym typeface="+mn-ea"/>
                  </a:rPr>
                  <a:t>为</a:t>
                </a:r>
                <a:r>
                  <a:rPr lang="en-US" altLang="zh-CN" dirty="0">
                    <a:latin typeface="Arial" panose="020B0604020202020204" pitchFamily="34" charset="0"/>
                    <a:ea typeface="宋体" panose="02010600030101010101" pitchFamily="2" charset="-122"/>
                    <a:sym typeface="+mn-ea"/>
                  </a:rPr>
                  <a:t>F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  <a:sym typeface="+mn-ea"/>
                  </a:rPr>
                  <a:t>在</a:t>
                </a:r>
                <a:r>
                  <a:rPr lang="en-US" altLang="zh-CN" dirty="0" err="1">
                    <a:latin typeface="Arial" panose="020B0604020202020204" pitchFamily="34" charset="0"/>
                    <a:ea typeface="宋体" panose="02010600030101010101" pitchFamily="2" charset="-122"/>
                    <a:sym typeface="+mn-ea"/>
                  </a:rPr>
                  <a:t>U</a:t>
                </a:r>
                <a:r>
                  <a:rPr lang="en-US" altLang="zh-CN" baseline="-25000" dirty="0" err="1">
                    <a:latin typeface="Arial" panose="020B0604020202020204" pitchFamily="34" charset="0"/>
                    <a:ea typeface="宋体" panose="02010600030101010101" pitchFamily="2" charset="-122"/>
                    <a:sym typeface="+mn-ea"/>
                  </a:rPr>
                  <a:t>i</a:t>
                </a: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  <a:sym typeface="+mn-ea"/>
                  </a:rPr>
                  <a:t>上的</a:t>
                </a:r>
                <a:r>
                  <a:rPr lang="zh-CN" altLang="en-US" dirty="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sym typeface="+mn-ea"/>
                  </a:rPr>
                  <a:t>投影，即</a:t>
                </a:r>
                <a:endPara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+mn-ea"/>
                </a:endParaRPr>
              </a:p>
              <a:p>
                <a:pPr marL="457200" lvl="1" indent="0" eaLnBrk="1" hangingPunct="1">
                  <a:lnSpc>
                    <a:spcPct val="13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  <a:sym typeface="+mn-ea"/>
                            </a:rPr>
                            <m:t>𝑭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  <a:sym typeface="+mn-ea"/>
                            </a:rPr>
                            <m:t>𝒊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  <a:sym typeface="+mn-ea"/>
                        </a:rPr>
                        <m:t> </m:t>
                      </m:r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  <a:sym typeface="+mn-ea"/>
                        </a:rPr>
                        <m:t>{</m:t>
                      </m:r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  <a:sym typeface="+mn-ea"/>
                        </a:rPr>
                        <m:t>𝑿</m:t>
                      </m:r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  <a:sym typeface="+mn-ea"/>
                        </a:rPr>
                        <m:t>−</m:t>
                      </m:r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  <a:sym typeface="+mn-ea"/>
                        </a:rPr>
                        <m:t>&gt;</m:t>
                      </m:r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  <a:sym typeface="+mn-ea"/>
                        </a:rPr>
                        <m:t>𝒀</m:t>
                      </m:r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  <a:sym typeface="+mn-ea"/>
                        </a:rPr>
                        <m:t>|</m:t>
                      </m:r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  <a:sym typeface="+mn-ea"/>
                        </a:rPr>
                        <m:t>𝑿</m:t>
                      </m:r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  <a:sym typeface="+mn-ea"/>
                        </a:rPr>
                        <m:t>−</m:t>
                      </m:r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  <a:sym typeface="+mn-ea"/>
                        </a:rPr>
                        <m:t>&gt;</m:t>
                      </m:r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  <a:sym typeface="+mn-ea"/>
                        </a:rPr>
                        <m:t>𝒀</m:t>
                      </m:r>
                      <m:r>
                        <a:rPr lang="en-US" altLang="zh-CN" b="1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  <a:sym typeface="+mn-ea"/>
                        </a:rPr>
                        <m:t>∈</m:t>
                      </m:r>
                      <m:sSup>
                        <m:sSupPr>
                          <m:ctrlP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  <a:sym typeface="+mn-ea"/>
                            </a:rPr>
                            <m:t>𝑭</m:t>
                          </m:r>
                        </m:e>
                        <m:sup>
                          <m: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  <a:sym typeface="+mn-ea"/>
                            </a:rPr>
                            <m:t>+</m:t>
                          </m:r>
                        </m:sup>
                      </m:sSup>
                      <m:r>
                        <a:rPr lang="en-US" altLang="zh-CN" b="1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  <a:sym typeface="+mn-ea"/>
                        </a:rPr>
                        <m:t>∧</m:t>
                      </m:r>
                      <m:r>
                        <a:rPr lang="en-US" altLang="zh-CN" b="1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  <a:sym typeface="+mn-ea"/>
                        </a:rPr>
                        <m:t>𝑿𝒀</m:t>
                      </m:r>
                      <m:r>
                        <a:rPr lang="en-US" altLang="zh-CN" b="1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  <a:sym typeface="+mn-ea"/>
                        </a:rPr>
                        <m:t>⊑</m:t>
                      </m:r>
                      <m:sSub>
                        <m:sSubPr>
                          <m:ctrlP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  <a:sym typeface="+mn-ea"/>
                            </a:rPr>
                            <m:t>𝑼</m:t>
                          </m:r>
                        </m:e>
                        <m:sub>
                          <m: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  <a:sym typeface="+mn-ea"/>
                            </a:rPr>
                            <m:t>𝒊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  <a:sym typeface="+mn-ea"/>
                        </a:rPr>
                        <m:t>}</m:t>
                      </m:r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+mn-ea"/>
                </a:endParaRPr>
              </a:p>
            </p:txBody>
          </p:sp>
        </mc:Choice>
        <mc:Fallback>
          <p:sp>
            <p:nvSpPr>
              <p:cNvPr id="176131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070" y="627380"/>
                <a:ext cx="9044305" cy="3469640"/>
              </a:xfrm>
              <a:blipFill rotWithShape="1">
                <a:blip r:embed="rId1"/>
                <a:stretch>
                  <a:fillRect b="-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6132" name="对象 1"/>
          <p:cNvGraphicFramePr>
            <a:graphicFrameLocks noChangeAspect="1"/>
          </p:cNvGraphicFramePr>
          <p:nvPr/>
        </p:nvGraphicFramePr>
        <p:xfrm>
          <a:off x="4508500" y="2490788"/>
          <a:ext cx="127000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0" name="公式" r:id="rId2" imgW="127000" imgH="215265" progId="Equation.3">
                  <p:embed/>
                </p:oleObj>
              </mc:Choice>
              <mc:Fallback>
                <p:oleObj name="公式" r:id="rId2" imgW="127000" imgH="215265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2490788"/>
                        <a:ext cx="127000" cy="161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3" name="对象 2"/>
          <p:cNvGraphicFramePr>
            <a:graphicFrameLocks noChangeAspect="1"/>
          </p:cNvGraphicFramePr>
          <p:nvPr/>
        </p:nvGraphicFramePr>
        <p:xfrm>
          <a:off x="4502150" y="2514600"/>
          <a:ext cx="139700" cy="11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1" name="公式" r:id="rId4" imgW="139700" imgH="152400" progId="Equation.3">
                  <p:embed/>
                </p:oleObj>
              </mc:Choice>
              <mc:Fallback>
                <p:oleObj name="公式" r:id="rId4" imgW="139700" imgH="152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0" y="2514600"/>
                        <a:ext cx="139700" cy="114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4" name="对象 3"/>
          <p:cNvGraphicFramePr>
            <a:graphicFrameLocks noChangeAspect="1"/>
          </p:cNvGraphicFramePr>
          <p:nvPr/>
        </p:nvGraphicFramePr>
        <p:xfrm>
          <a:off x="4508500" y="2490788"/>
          <a:ext cx="127000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2" name="公式" r:id="rId6" imgW="127000" imgH="215265" progId="Equation.3">
                  <p:embed/>
                </p:oleObj>
              </mc:Choice>
              <mc:Fallback>
                <p:oleObj name="公式" r:id="rId6" imgW="127000" imgH="215265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2490788"/>
                        <a:ext cx="127000" cy="161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29699" name="内容占位符 2"/>
          <p:cNvSpPr>
            <a:spLocks noGrp="1" noChangeArrowheads="1"/>
          </p:cNvSpPr>
          <p:nvPr>
            <p:ph idx="1"/>
          </p:nvPr>
        </p:nvSpPr>
        <p:spPr>
          <a:xfrm>
            <a:off x="290830" y="824230"/>
            <a:ext cx="8599170" cy="364109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ym typeface="Calibri" panose="020F0502020204030204" pitchFamily="34" charset="0"/>
              </a:rPr>
              <a:t> </a:t>
            </a:r>
            <a:r>
              <a:rPr lang="en-US" altLang="zh-CN" sz="2400" i="1" dirty="0">
                <a:sym typeface="Calibri" panose="020F0502020204030204" pitchFamily="34" charset="0"/>
              </a:rPr>
              <a:t>U</a:t>
            </a:r>
            <a:r>
              <a:rPr lang="en-US" altLang="zh-CN" sz="2400" dirty="0">
                <a:sym typeface="Calibri" panose="020F0502020204030204" pitchFamily="34" charset="0"/>
              </a:rPr>
              <a:t>={S</a:t>
            </a:r>
            <a:r>
              <a:rPr lang="zh-CN" altLang="en-US" sz="2400" dirty="0">
                <a:sym typeface="Calibri" panose="020F0502020204030204" pitchFamily="34" charset="0"/>
              </a:rPr>
              <a:t>no, </a:t>
            </a:r>
            <a:r>
              <a:rPr lang="en-US" altLang="zh-CN" sz="2400" dirty="0">
                <a:sym typeface="Calibri" panose="020F0502020204030204" pitchFamily="34" charset="0"/>
              </a:rPr>
              <a:t>S</a:t>
            </a:r>
            <a:r>
              <a:rPr lang="zh-CN" altLang="en-US" sz="2400" dirty="0">
                <a:sym typeface="Calibri" panose="020F0502020204030204" pitchFamily="34" charset="0"/>
              </a:rPr>
              <a:t>dept, </a:t>
            </a:r>
            <a:r>
              <a:rPr lang="en-US" altLang="zh-CN" sz="2400" dirty="0">
                <a:sym typeface="Calibri" panose="020F0502020204030204" pitchFamily="34" charset="0"/>
              </a:rPr>
              <a:t>M</a:t>
            </a:r>
            <a:r>
              <a:rPr lang="zh-CN" altLang="en-US" sz="2400" dirty="0">
                <a:sym typeface="Calibri" panose="020F0502020204030204" pitchFamily="34" charset="0"/>
              </a:rPr>
              <a:t>name, </a:t>
            </a:r>
            <a:r>
              <a:rPr lang="en-US" altLang="zh-CN" sz="2400" dirty="0">
                <a:sym typeface="Calibri" panose="020F0502020204030204" pitchFamily="34" charset="0"/>
              </a:rPr>
              <a:t>C</a:t>
            </a:r>
            <a:r>
              <a:rPr lang="zh-CN" altLang="en-US" sz="2400" dirty="0">
                <a:sym typeface="Calibri" panose="020F0502020204030204" pitchFamily="34" charset="0"/>
              </a:rPr>
              <a:t>no, </a:t>
            </a:r>
            <a:r>
              <a:rPr lang="en-US" altLang="zh-CN" sz="2400" dirty="0">
                <a:sym typeface="Calibri" panose="020F0502020204030204" pitchFamily="34" charset="0"/>
              </a:rPr>
              <a:t>G</a:t>
            </a:r>
            <a:r>
              <a:rPr lang="zh-CN" altLang="en-US" sz="2400" dirty="0">
                <a:sym typeface="Calibri" panose="020F0502020204030204" pitchFamily="34" charset="0"/>
              </a:rPr>
              <a:t>rade</a:t>
            </a:r>
            <a:r>
              <a:rPr lang="en-US" altLang="zh-CN" sz="2400" dirty="0">
                <a:sym typeface="Calibri" panose="020F0502020204030204" pitchFamily="34" charset="0"/>
              </a:rPr>
              <a:t>}</a:t>
            </a:r>
            <a:r>
              <a:rPr lang="zh-CN" altLang="en-US" sz="2400" dirty="0">
                <a:sym typeface="Calibri" panose="020F0502020204030204" pitchFamily="34" charset="0"/>
              </a:rPr>
              <a:t>，</a:t>
            </a:r>
            <a:endParaRPr lang="zh-CN" altLang="en-US" sz="2400" dirty="0">
              <a:sym typeface="Calibri" panose="020F0502020204030204" pitchFamily="34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ym typeface="Calibri" panose="020F0502020204030204" pitchFamily="34" charset="0"/>
              </a:rPr>
              <a:t> </a:t>
            </a:r>
            <a:r>
              <a:rPr lang="en-US" altLang="zh-CN" sz="2400" i="1" dirty="0">
                <a:sym typeface="Calibri" panose="020F0502020204030204" pitchFamily="34" charset="0"/>
              </a:rPr>
              <a:t>F</a:t>
            </a:r>
            <a:r>
              <a:rPr lang="en-US" altLang="zh-CN" sz="2400" dirty="0">
                <a:sym typeface="Calibri" panose="020F0502020204030204" pitchFamily="34" charset="0"/>
              </a:rPr>
              <a:t>={S</a:t>
            </a:r>
            <a:r>
              <a:rPr lang="zh-CN" altLang="en-US" sz="2400" dirty="0">
                <a:sym typeface="Calibri" panose="020F0502020204030204" pitchFamily="34" charset="0"/>
              </a:rPr>
              <a:t>no</a:t>
            </a:r>
            <a:r>
              <a:rPr lang="en-US" altLang="zh-CN" sz="2400" dirty="0">
                <a:sym typeface="Calibri" panose="020F0502020204030204" pitchFamily="34" charset="0"/>
              </a:rPr>
              <a:t>→S</a:t>
            </a:r>
            <a:r>
              <a:rPr lang="zh-CN" altLang="en-US" sz="2400" dirty="0">
                <a:sym typeface="Calibri" panose="020F0502020204030204" pitchFamily="34" charset="0"/>
              </a:rPr>
              <a:t>dept, </a:t>
            </a:r>
            <a:r>
              <a:rPr lang="en-US" altLang="zh-CN" sz="2400" dirty="0">
                <a:sym typeface="Calibri" panose="020F0502020204030204" pitchFamily="34" charset="0"/>
              </a:rPr>
              <a:t>S</a:t>
            </a:r>
            <a:r>
              <a:rPr lang="zh-CN" altLang="en-US" sz="2400" dirty="0">
                <a:sym typeface="Calibri" panose="020F0502020204030204" pitchFamily="34" charset="0"/>
              </a:rPr>
              <a:t>dept</a:t>
            </a:r>
            <a:r>
              <a:rPr lang="en-US" altLang="zh-CN" sz="2400" dirty="0">
                <a:sym typeface="Calibri" panose="020F0502020204030204" pitchFamily="34" charset="0"/>
              </a:rPr>
              <a:t>→M</a:t>
            </a:r>
            <a:r>
              <a:rPr lang="zh-CN" altLang="en-US" sz="2400" dirty="0">
                <a:sym typeface="Calibri" panose="020F0502020204030204" pitchFamily="34" charset="0"/>
              </a:rPr>
              <a:t>name, </a:t>
            </a:r>
            <a:r>
              <a:rPr lang="en-US" altLang="zh-CN" sz="2400" dirty="0">
                <a:sym typeface="Calibri" panose="020F0502020204030204" pitchFamily="34" charset="0"/>
              </a:rPr>
              <a:t>(S</a:t>
            </a:r>
            <a:r>
              <a:rPr lang="zh-CN" altLang="en-US" sz="2400" dirty="0">
                <a:sym typeface="Calibri" panose="020F0502020204030204" pitchFamily="34" charset="0"/>
              </a:rPr>
              <a:t>no,</a:t>
            </a:r>
            <a:r>
              <a:rPr lang="en-US" altLang="zh-CN" sz="2400" dirty="0">
                <a:sym typeface="Calibri" panose="020F0502020204030204" pitchFamily="34" charset="0"/>
              </a:rPr>
              <a:t>C</a:t>
            </a:r>
            <a:r>
              <a:rPr lang="zh-CN" altLang="en-US" sz="2400" dirty="0">
                <a:sym typeface="Calibri" panose="020F0502020204030204" pitchFamily="34" charset="0"/>
              </a:rPr>
              <a:t>no</a:t>
            </a:r>
            <a:r>
              <a:rPr lang="en-US" altLang="zh-CN" sz="2400" dirty="0">
                <a:sym typeface="Calibri" panose="020F0502020204030204" pitchFamily="34" charset="0"/>
              </a:rPr>
              <a:t>)</a:t>
            </a:r>
            <a:r>
              <a:rPr lang="zh-CN" altLang="en-US" sz="2400" dirty="0">
                <a:sym typeface="Calibri" panose="020F0502020204030204" pitchFamily="34" charset="0"/>
              </a:rPr>
              <a:t>→</a:t>
            </a:r>
            <a:r>
              <a:rPr lang="en-US" altLang="zh-CN" sz="2400" dirty="0">
                <a:sym typeface="Calibri" panose="020F0502020204030204" pitchFamily="34" charset="0"/>
              </a:rPr>
              <a:t>Gr</a:t>
            </a:r>
            <a:r>
              <a:rPr lang="zh-CN" altLang="en-US" sz="2400" dirty="0">
                <a:sym typeface="Calibri" panose="020F0502020204030204" pitchFamily="34" charset="0"/>
              </a:rPr>
              <a:t>ade</a:t>
            </a:r>
            <a:r>
              <a:rPr lang="en-US" altLang="zh-CN" sz="2400" dirty="0">
                <a:sym typeface="Calibri" panose="020F0502020204030204" pitchFamily="34" charset="0"/>
              </a:rPr>
              <a:t>}</a:t>
            </a:r>
            <a:endParaRPr lang="en-US" altLang="zh-CN" sz="2400" dirty="0">
              <a:sym typeface="Calibri" panose="020F0502020204030204" pitchFamily="34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dirty="0">
              <a:sym typeface="Calibri" panose="020F0502020204030204" pitchFamily="34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ym typeface="Calibri" panose="020F0502020204030204" pitchFamily="34" charset="0"/>
              </a:rPr>
              <a:t>若 </a:t>
            </a:r>
            <a:r>
              <a:rPr lang="en-US" altLang="zh-CN" sz="2400" dirty="0">
                <a:sym typeface="Calibri" panose="020F0502020204030204" pitchFamily="34" charset="0"/>
              </a:rPr>
              <a:t>U</a:t>
            </a:r>
            <a:r>
              <a:rPr lang="en-US" altLang="zh-CN" sz="2400" baseline="-25000" dirty="0">
                <a:sym typeface="Calibri" panose="020F0502020204030204" pitchFamily="34" charset="0"/>
              </a:rPr>
              <a:t>1</a:t>
            </a:r>
            <a:r>
              <a:rPr lang="en-US" altLang="zh-CN" sz="2400" dirty="0">
                <a:sym typeface="Calibri" panose="020F0502020204030204" pitchFamily="34" charset="0"/>
              </a:rPr>
              <a:t>={S</a:t>
            </a:r>
            <a:r>
              <a:rPr lang="zh-CN" altLang="en-US" sz="2400" dirty="0">
                <a:sym typeface="Calibri" panose="020F0502020204030204" pitchFamily="34" charset="0"/>
              </a:rPr>
              <a:t>no, </a:t>
            </a:r>
            <a:r>
              <a:rPr lang="en-US" altLang="zh-CN" sz="2400" dirty="0">
                <a:sym typeface="Calibri" panose="020F0502020204030204" pitchFamily="34" charset="0"/>
              </a:rPr>
              <a:t>S</a:t>
            </a:r>
            <a:r>
              <a:rPr lang="zh-CN" altLang="en-US" sz="2400" dirty="0">
                <a:sym typeface="Calibri" panose="020F0502020204030204" pitchFamily="34" charset="0"/>
              </a:rPr>
              <a:t>dept, </a:t>
            </a:r>
            <a:r>
              <a:rPr lang="en-US" altLang="zh-CN" sz="2400" dirty="0">
                <a:sym typeface="Calibri" panose="020F0502020204030204" pitchFamily="34" charset="0"/>
              </a:rPr>
              <a:t>M</a:t>
            </a:r>
            <a:r>
              <a:rPr lang="zh-CN" altLang="en-US" sz="2400" dirty="0">
                <a:sym typeface="Calibri" panose="020F0502020204030204" pitchFamily="34" charset="0"/>
              </a:rPr>
              <a:t>name</a:t>
            </a:r>
            <a:r>
              <a:rPr lang="en-US" altLang="zh-CN" sz="2400" dirty="0">
                <a:sym typeface="Calibri" panose="020F0502020204030204" pitchFamily="34" charset="0"/>
              </a:rPr>
              <a:t>}</a:t>
            </a:r>
            <a:r>
              <a:rPr lang="zh-CN" altLang="en-US" sz="2400" dirty="0">
                <a:sym typeface="Calibri" panose="020F0502020204030204" pitchFamily="34" charset="0"/>
              </a:rPr>
              <a:t>，</a:t>
            </a:r>
            <a:r>
              <a:rPr lang="en-US" altLang="zh-CN" sz="2400" dirty="0">
                <a:sym typeface="Calibri" panose="020F0502020204030204" pitchFamily="34" charset="0"/>
              </a:rPr>
              <a:t>U</a:t>
            </a:r>
            <a:r>
              <a:rPr lang="en-US" altLang="zh-CN" sz="2400" baseline="-25000" dirty="0">
                <a:sym typeface="Calibri" panose="020F0502020204030204" pitchFamily="34" charset="0"/>
              </a:rPr>
              <a:t>2</a:t>
            </a:r>
            <a:r>
              <a:rPr lang="en-US" altLang="zh-CN" sz="2400" dirty="0">
                <a:sym typeface="Calibri" panose="020F0502020204030204" pitchFamily="34" charset="0"/>
              </a:rPr>
              <a:t>={S</a:t>
            </a:r>
            <a:r>
              <a:rPr lang="zh-CN" altLang="en-US" sz="2400" dirty="0">
                <a:sym typeface="Calibri" panose="020F0502020204030204" pitchFamily="34" charset="0"/>
              </a:rPr>
              <a:t>no</a:t>
            </a:r>
            <a:r>
              <a:rPr lang="en-US" altLang="zh-CN" sz="2400" dirty="0">
                <a:sym typeface="Calibri" panose="020F0502020204030204" pitchFamily="34" charset="0"/>
              </a:rPr>
              <a:t>,</a:t>
            </a:r>
            <a:r>
              <a:rPr lang="en-US" altLang="zh-CN" sz="2400" dirty="0" err="1">
                <a:sym typeface="Calibri" panose="020F0502020204030204" pitchFamily="34" charset="0"/>
              </a:rPr>
              <a:t>Cno,Grade</a:t>
            </a:r>
            <a:r>
              <a:rPr lang="en-US" altLang="zh-CN" sz="2400" dirty="0">
                <a:sym typeface="Calibri" panose="020F0502020204030204" pitchFamily="34" charset="0"/>
              </a:rPr>
              <a:t>}</a:t>
            </a:r>
            <a:endParaRPr lang="en-US" altLang="zh-CN" sz="2400" dirty="0">
              <a:sym typeface="Calibri" panose="020F0502020204030204" pitchFamily="34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ym typeface="Calibri" panose="020F0502020204030204" pitchFamily="34" charset="0"/>
              </a:rPr>
              <a:t>求</a:t>
            </a:r>
            <a:r>
              <a:rPr lang="en-US" altLang="zh-CN" sz="2400" dirty="0">
                <a:sym typeface="Calibri" panose="020F0502020204030204" pitchFamily="34" charset="0"/>
              </a:rPr>
              <a:t>F</a:t>
            </a:r>
            <a:r>
              <a:rPr lang="zh-CN" altLang="en-US" sz="2400" dirty="0">
                <a:sym typeface="Calibri" panose="020F0502020204030204" pitchFamily="34" charset="0"/>
              </a:rPr>
              <a:t>在</a:t>
            </a:r>
            <a:r>
              <a:rPr lang="en-US" altLang="zh-CN" sz="2400" dirty="0">
                <a:sym typeface="Calibri" panose="020F0502020204030204" pitchFamily="34" charset="0"/>
              </a:rPr>
              <a:t>U</a:t>
            </a:r>
            <a:r>
              <a:rPr lang="en-US" altLang="zh-CN" sz="2400" baseline="-25000" dirty="0">
                <a:sym typeface="Calibri" panose="020F0502020204030204" pitchFamily="34" charset="0"/>
              </a:rPr>
              <a:t>1</a:t>
            </a:r>
            <a:r>
              <a:rPr lang="en-US" altLang="zh-CN" sz="2400" dirty="0">
                <a:sym typeface="Calibri" panose="020F0502020204030204" pitchFamily="34" charset="0"/>
              </a:rPr>
              <a:t> </a:t>
            </a:r>
            <a:r>
              <a:rPr lang="zh-CN" altLang="en-US" sz="2400" dirty="0">
                <a:sym typeface="Calibri" panose="020F0502020204030204" pitchFamily="34" charset="0"/>
              </a:rPr>
              <a:t>和 </a:t>
            </a:r>
            <a:r>
              <a:rPr lang="en-US" altLang="zh-CN" sz="2400" dirty="0">
                <a:sym typeface="Calibri" panose="020F0502020204030204" pitchFamily="34" charset="0"/>
              </a:rPr>
              <a:t>U</a:t>
            </a:r>
            <a:r>
              <a:rPr lang="en-US" altLang="zh-CN" sz="2400" baseline="-25000" dirty="0">
                <a:sym typeface="Calibri" panose="020F0502020204030204" pitchFamily="34" charset="0"/>
              </a:rPr>
              <a:t>2</a:t>
            </a:r>
            <a:r>
              <a:rPr lang="en-US" altLang="zh-CN" sz="2400" dirty="0">
                <a:sym typeface="Calibri" panose="020F0502020204030204" pitchFamily="34" charset="0"/>
              </a:rPr>
              <a:t> </a:t>
            </a:r>
            <a:r>
              <a:rPr lang="zh-CN" altLang="en-US" sz="2400" dirty="0">
                <a:sym typeface="Calibri" panose="020F0502020204030204" pitchFamily="34" charset="0"/>
              </a:rPr>
              <a:t>上的投影。</a:t>
            </a:r>
            <a:endParaRPr lang="en-US" altLang="zh-CN" sz="2400" dirty="0">
              <a:sym typeface="Calibri" panose="020F0502020204030204" pitchFamily="34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dirty="0">
              <a:sym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5015" y="4004945"/>
            <a:ext cx="2177415" cy="330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aseline="-25000" dirty="0">
                <a:sym typeface="Calibri" panose="020F0502020204030204" pitchFamily="34" charset="0"/>
              </a:rPr>
              <a:t>先求</a:t>
            </a:r>
            <a:r>
              <a:rPr lang="en-US" altLang="zh-CN" sz="2400" baseline="-25000" dirty="0">
                <a:sym typeface="Calibri" panose="020F0502020204030204" pitchFamily="34" charset="0"/>
              </a:rPr>
              <a:t>F</a:t>
            </a:r>
            <a:r>
              <a:rPr lang="en-US" altLang="zh-CN" sz="2400" baseline="30000" dirty="0">
                <a:sym typeface="Calibri" panose="020F0502020204030204" pitchFamily="34" charset="0"/>
              </a:rPr>
              <a:t>+</a:t>
            </a:r>
            <a:r>
              <a:rPr lang="zh-CN" altLang="en-US" sz="2400" baseline="-25000" dirty="0">
                <a:sym typeface="Calibri" panose="020F0502020204030204" pitchFamily="34" charset="0"/>
              </a:rPr>
              <a:t>，再求</a:t>
            </a:r>
            <a:r>
              <a:rPr lang="zh-CN" altLang="en-US" sz="2400" baseline="-25000" dirty="0">
                <a:sym typeface="Calibri" panose="020F0502020204030204" pitchFamily="34" charset="0"/>
              </a:rPr>
              <a:t>投影</a:t>
            </a:r>
            <a:endParaRPr lang="zh-CN" altLang="en-US" sz="2400" baseline="-25000" dirty="0">
              <a:sym typeface="Calibri" panose="020F0502020204030204" pitchFamily="34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模式分解的定义（续）</a:t>
            </a:r>
            <a:endParaRPr lang="zh-CN" altLang="en-US"/>
          </a:p>
        </p:txBody>
      </p:sp>
      <p:sp>
        <p:nvSpPr>
          <p:cNvPr id="177155" name="Rectangle 3"/>
          <p:cNvSpPr>
            <a:spLocks noGrp="1" noChangeArrowheads="1"/>
          </p:cNvSpPr>
          <p:nvPr>
            <p:ph idx="1"/>
          </p:nvPr>
        </p:nvSpPr>
        <p:spPr>
          <a:xfrm>
            <a:off x="285720" y="1004888"/>
            <a:ext cx="8966800" cy="3640931"/>
          </a:xfrm>
        </p:spPr>
        <p:txBody>
          <a:bodyPr/>
          <a:lstStyle/>
          <a:p>
            <a:pPr algn="just" eaLnBrk="1" hangingPunct="1">
              <a:lnSpc>
                <a:spcPct val="10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+mn-lt"/>
                <a:ea typeface="+mn-ea"/>
              </a:rPr>
              <a:t>[</a:t>
            </a:r>
            <a:r>
              <a:rPr lang="zh-CN" altLang="en-US" sz="2400" b="1" dirty="0">
                <a:latin typeface="+mn-lt"/>
                <a:ea typeface="+mn-ea"/>
              </a:rPr>
              <a:t>例</a:t>
            </a:r>
            <a:r>
              <a:rPr lang="en-US" altLang="zh-CN" sz="2400" b="1" dirty="0">
                <a:latin typeface="+mn-lt"/>
                <a:ea typeface="+mn-ea"/>
              </a:rPr>
              <a:t>] </a:t>
            </a:r>
            <a:r>
              <a:rPr lang="zh-CN" altLang="en-US" sz="2400" b="1" dirty="0">
                <a:latin typeface="+mn-lt"/>
                <a:ea typeface="+mn-ea"/>
              </a:rPr>
              <a:t>对于关系模式</a:t>
            </a:r>
            <a:r>
              <a:rPr lang="en-US" altLang="zh-CN" sz="2400" b="1" dirty="0">
                <a:latin typeface="+mn-lt"/>
                <a:ea typeface="+mn-ea"/>
              </a:rPr>
              <a:t>R</a:t>
            </a:r>
            <a:r>
              <a:rPr lang="zh-CN" altLang="en-US" sz="2400" b="1" dirty="0">
                <a:latin typeface="+mn-lt"/>
                <a:ea typeface="+mn-ea"/>
              </a:rPr>
              <a:t>（</a:t>
            </a:r>
            <a:r>
              <a:rPr lang="en-US" altLang="zh-CN" sz="2400" b="1" dirty="0" err="1">
                <a:latin typeface="+mn-lt"/>
                <a:ea typeface="+mn-ea"/>
              </a:rPr>
              <a:t>Sno</a:t>
            </a:r>
            <a:r>
              <a:rPr lang="zh-CN" altLang="en-US" sz="2400" b="1" dirty="0">
                <a:latin typeface="+mn-lt"/>
                <a:ea typeface="+mn-ea"/>
              </a:rPr>
              <a:t>， </a:t>
            </a:r>
            <a:r>
              <a:rPr lang="en-US" altLang="zh-CN" sz="2400" b="1" dirty="0" err="1">
                <a:latin typeface="+mn-lt"/>
                <a:ea typeface="+mn-ea"/>
              </a:rPr>
              <a:t>School</a:t>
            </a:r>
            <a:r>
              <a:rPr lang="zh-CN" altLang="en-US" sz="2400" b="1" dirty="0">
                <a:latin typeface="+mn-lt"/>
                <a:ea typeface="+mn-ea"/>
              </a:rPr>
              <a:t>， </a:t>
            </a:r>
            <a:r>
              <a:rPr lang="en-US" altLang="zh-CN" sz="2400" b="1" dirty="0">
                <a:latin typeface="+mn-lt"/>
                <a:ea typeface="+mn-ea"/>
              </a:rPr>
              <a:t>Mname</a:t>
            </a:r>
            <a:r>
              <a:rPr lang="zh-CN" altLang="en-US" sz="2400" b="1" dirty="0">
                <a:latin typeface="+mn-lt"/>
                <a:ea typeface="+mn-ea"/>
              </a:rPr>
              <a:t>），</a:t>
            </a:r>
            <a:r>
              <a:rPr lang="en-US" altLang="zh-CN" sz="2400" b="1" dirty="0">
                <a:latin typeface="+mn-lt"/>
                <a:ea typeface="+mn-ea"/>
              </a:rPr>
              <a:t>R</a:t>
            </a:r>
            <a:r>
              <a:rPr lang="zh-CN" altLang="en-US" sz="2400" b="1" dirty="0">
                <a:latin typeface="+mn-lt"/>
                <a:ea typeface="+mn-ea"/>
              </a:rPr>
              <a:t>中有下列函数依赖：</a:t>
            </a:r>
            <a:endParaRPr lang="zh-CN" altLang="en-US" sz="2400" b="1" dirty="0">
              <a:latin typeface="+mn-lt"/>
              <a:ea typeface="+mn-ea"/>
            </a:endParaRPr>
          </a:p>
          <a:p>
            <a:pPr algn="just" eaLnBrk="1" hangingPunct="1">
              <a:lnSpc>
                <a:spcPct val="100000"/>
              </a:lnSpc>
              <a:buFont typeface="Monotype Sorts" pitchFamily="2" charset="2"/>
              <a:buNone/>
            </a:pPr>
            <a:r>
              <a:rPr lang="zh-CN" altLang="en-US" sz="2400" b="1" dirty="0">
                <a:latin typeface="+mn-lt"/>
                <a:ea typeface="+mn-ea"/>
              </a:rPr>
              <a:t>               </a:t>
            </a:r>
            <a:r>
              <a:rPr lang="en-US" altLang="zh-CN" sz="2400" b="1" dirty="0" err="1">
                <a:latin typeface="+mn-lt"/>
                <a:ea typeface="+mn-ea"/>
              </a:rPr>
              <a:t>Sno→School</a:t>
            </a:r>
            <a:endParaRPr lang="en-US" altLang="zh-CN" sz="2400" b="1" dirty="0">
              <a:latin typeface="+mn-lt"/>
              <a:ea typeface="+mn-ea"/>
            </a:endParaRPr>
          </a:p>
          <a:p>
            <a:pPr algn="just" eaLnBrk="1" hangingPunct="1">
              <a:lnSpc>
                <a:spcPct val="10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+mn-lt"/>
                <a:ea typeface="+mn-ea"/>
              </a:rPr>
              <a:t>               </a:t>
            </a:r>
            <a:r>
              <a:rPr lang="en-US" altLang="zh-CN" sz="2400" b="1" dirty="0" err="1">
                <a:latin typeface="+mn-lt"/>
                <a:ea typeface="+mn-ea"/>
              </a:rPr>
              <a:t>School→Mname</a:t>
            </a:r>
            <a:endParaRPr lang="en-US" altLang="zh-CN" sz="2400" b="1" dirty="0">
              <a:latin typeface="+mn-lt"/>
              <a:ea typeface="+mn-ea"/>
            </a:endParaRPr>
          </a:p>
          <a:p>
            <a:pPr algn="just" eaLnBrk="1" hangingPunct="1">
              <a:lnSpc>
                <a:spcPct val="10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+mn-lt"/>
                <a:ea typeface="+mn-ea"/>
              </a:rPr>
              <a:t> </a:t>
            </a:r>
            <a:r>
              <a:rPr lang="zh-CN" altLang="en-US" sz="2400" b="1" dirty="0">
                <a:latin typeface="+mn-lt"/>
                <a:ea typeface="+mn-ea"/>
              </a:rPr>
              <a:t> </a:t>
            </a:r>
            <a:endParaRPr lang="zh-CN" altLang="en-US" sz="2400" b="1" dirty="0">
              <a:latin typeface="+mn-lt"/>
              <a:ea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500245" y="2816860"/>
          <a:ext cx="433768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895"/>
                <a:gridCol w="1445895"/>
                <a:gridCol w="144589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Sno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School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Mname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张</a:t>
                      </a:r>
                      <a:r>
                        <a:rPr lang="zh-CN" altLang="en-US"/>
                        <a:t>五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S2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张</a:t>
                      </a:r>
                      <a:r>
                        <a:rPr lang="zh-CN" altLang="en-US"/>
                        <a:t>五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S3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李四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S4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D3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王</a:t>
                      </a:r>
                      <a:r>
                        <a:rPr lang="zh-CN" altLang="en-US"/>
                        <a:t>一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79705" y="3435985"/>
            <a:ext cx="4572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>
                <a:latin typeface="+mn-lt"/>
                <a:ea typeface="+mn-ea"/>
                <a:sym typeface="+mn-ea"/>
              </a:rPr>
              <a:t>存在传递函数</a:t>
            </a:r>
            <a:r>
              <a:rPr lang="zh-CN" altLang="en-US" sz="2400" b="1" dirty="0">
                <a:latin typeface="+mn-lt"/>
                <a:ea typeface="+mn-ea"/>
                <a:sym typeface="+mn-ea"/>
              </a:rPr>
              <a:t>依赖</a:t>
            </a:r>
            <a:endParaRPr lang="zh-CN" altLang="en-US" sz="2400" b="1" dirty="0">
              <a:latin typeface="+mn-lt"/>
              <a:ea typeface="+mn-ea"/>
              <a:sym typeface="+mn-ea"/>
            </a:endParaRPr>
          </a:p>
          <a:p>
            <a:r>
              <a:rPr lang="en-US" altLang="zh-CN" sz="2400" b="1" dirty="0">
                <a:latin typeface="+mn-lt"/>
                <a:ea typeface="+mn-ea"/>
                <a:sym typeface="+mn-ea"/>
              </a:rPr>
              <a:t>Sno --&gt;Mname</a:t>
            </a:r>
            <a:endParaRPr lang="en-US" altLang="zh-CN" sz="2400" b="1" dirty="0">
              <a:latin typeface="+mn-lt"/>
              <a:ea typeface="+mn-ea"/>
              <a:sym typeface="+mn-ea"/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模式分解的定义（续）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715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6200" y="1005205"/>
                <a:ext cx="9176385" cy="3641090"/>
              </a:xfrm>
            </p:spPr>
            <p:txBody>
              <a:bodyPr/>
              <a:lstStyle/>
              <a:p>
                <a:pPr algn="just" eaLnBrk="1" hangingPunct="1">
                  <a:lnSpc>
                    <a:spcPct val="100000"/>
                  </a:lnSpc>
                  <a:buFont typeface="Monotype Sorts" pitchFamily="2" charset="2"/>
                  <a:buNone/>
                </a:pPr>
                <a:r>
                  <a:rPr lang="zh-CN" altLang="en-US" sz="1800" b="1" dirty="0">
                    <a:latin typeface="+mn-lt"/>
                    <a:ea typeface="+mn-ea"/>
                  </a:rPr>
                  <a:t>对</a:t>
                </a:r>
                <a:r>
                  <a:rPr lang="en-US" altLang="zh-CN" sz="1800" b="1" dirty="0">
                    <a:latin typeface="+mn-lt"/>
                    <a:ea typeface="+mn-ea"/>
                  </a:rPr>
                  <a:t>R</a:t>
                </a:r>
                <a:r>
                  <a:rPr lang="zh-CN" altLang="en-US" sz="1800" b="1" dirty="0">
                    <a:latin typeface="+mn-lt"/>
                    <a:ea typeface="+mn-ea"/>
                  </a:rPr>
                  <a:t>进行分解，得到如下两个关系模式：</a:t>
                </a:r>
                <a:endParaRPr lang="zh-CN" altLang="en-US" sz="1800" b="1" dirty="0">
                  <a:latin typeface="+mn-lt"/>
                  <a:ea typeface="+mn-ea"/>
                </a:endParaRPr>
              </a:p>
              <a:p>
                <a:pPr algn="just" eaLnBrk="1" hangingPunct="1">
                  <a:lnSpc>
                    <a:spcPct val="100000"/>
                  </a:lnSpc>
                  <a:buFont typeface="Monotype Sorts" pitchFamily="2" charset="2"/>
                  <a:buNone/>
                </a:pPr>
                <a:r>
                  <a:rPr lang="zh-CN" altLang="en-US" sz="1800" b="1" dirty="0">
                    <a:latin typeface="+mn-lt"/>
                    <a:ea typeface="+mn-ea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b="1" i="1" dirty="0"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800" b="1" i="1" dirty="0"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𝝆</m:t>
                        </m:r>
                      </m:e>
                      <m:sub>
                        <m:r>
                          <a:rPr lang="en-US" altLang="zh-CN" sz="1800" b="1" i="1" dirty="0"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={</m:t>
                    </m:r>
                    <m:sSub>
                      <m:sSubPr>
                        <m:ctrlPr>
                          <a:rPr lang="en-US" altLang="zh-CN" sz="1800" b="1" i="1" dirty="0"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800" b="1" i="1" dirty="0"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𝑹</m:t>
                        </m:r>
                      </m:e>
                      <m:sub>
                        <m:r>
                          <a:rPr lang="en-US" altLang="zh-CN" sz="1800" b="1" i="1" dirty="0"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({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𝑺𝒏𝒐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𝑺𝒄𝒉𝒐𝒐𝒍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},{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𝑺𝒏𝒐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𝑺𝒄𝒉𝒐𝒐𝒍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}),</m:t>
                    </m:r>
                    <m:sSub>
                      <m:sSubPr>
                        <m:ctrlPr>
                          <a:rPr lang="en-US" altLang="zh-CN" sz="1800" b="1" i="1" dirty="0"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800" b="1" i="1" dirty="0"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𝑹</m:t>
                        </m:r>
                      </m:e>
                      <m:sub>
                        <m:r>
                          <a:rPr lang="en-US" altLang="zh-CN" sz="1800" b="1" i="1" dirty="0"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𝟐</m:t>
                        </m:r>
                      </m:sub>
                    </m:sSub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({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𝑺𝒏𝒐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𝑴𝒏𝒂𝒎𝒆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},{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𝑺𝒏𝒐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𝑴𝒏𝒂𝒎𝒆</m:t>
                    </m:r>
                    <m:r>
                      <a:rPr lang="en-US" altLang="zh-CN" sz="1800" b="1" i="1" dirty="0"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}) }</m:t>
                    </m:r>
                  </m:oMath>
                </a14:m>
                <a:r>
                  <a:rPr lang="zh-CN" altLang="en-US" sz="1800" b="1" dirty="0">
                    <a:latin typeface="+mn-lt"/>
                    <a:ea typeface="+mn-ea"/>
                  </a:rPr>
                  <a:t>         </a:t>
                </a:r>
                <a:endParaRPr lang="zh-CN" altLang="en-US" sz="1800" b="1" dirty="0">
                  <a:latin typeface="+mn-lt"/>
                  <a:ea typeface="+mn-ea"/>
                </a:endParaRPr>
              </a:p>
            </p:txBody>
          </p:sp>
        </mc:Choice>
        <mc:Fallback>
          <p:sp>
            <p:nvSpPr>
              <p:cNvPr id="177155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005205"/>
                <a:ext cx="9176385" cy="364109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4427855" y="1851660"/>
          <a:ext cx="289179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895"/>
                <a:gridCol w="144589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Sno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Mname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张</a:t>
                      </a:r>
                      <a:r>
                        <a:rPr lang="zh-CN" altLang="en-US"/>
                        <a:t>五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S2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张</a:t>
                      </a:r>
                      <a:r>
                        <a:rPr lang="zh-CN" altLang="en-US"/>
                        <a:t>五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S3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李四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S4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王</a:t>
                      </a:r>
                      <a:r>
                        <a:rPr lang="zh-CN" altLang="en-US"/>
                        <a:t>一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773430" y="1853565"/>
          <a:ext cx="289179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895"/>
                <a:gridCol w="144589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Sno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School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S2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S3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S4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D3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39750" y="408368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 b="1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丢失了函数依赖：</a:t>
            </a:r>
            <a:r>
              <a:rPr lang="en-US" altLang="zh-CN" sz="1800" b="1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School-&gt;Mname</a:t>
            </a:r>
            <a:endParaRPr lang="en-US" altLang="zh-CN" sz="1800" b="1" dirty="0">
              <a:solidFill>
                <a:srgbClr val="C00000"/>
              </a:solidFill>
              <a:latin typeface="+mn-lt"/>
              <a:ea typeface="+mn-ea"/>
              <a:sym typeface="+mn-ea"/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0"/>
            <a:ext cx="7772400" cy="1021556"/>
          </a:xfrm>
        </p:spPr>
        <p:txBody>
          <a:bodyPr/>
          <a:lstStyle/>
          <a:p>
            <a:pPr algn="ctr" eaLnBrk="1" hangingPunct="1"/>
            <a:r>
              <a:rPr lang="en-US" altLang="zh-CN" sz="3600" dirty="0">
                <a:sym typeface="+mn-ea"/>
              </a:rPr>
              <a:t>6.4 </a:t>
            </a:r>
            <a:r>
              <a:rPr lang="zh-CN" altLang="en-US" sz="3600" dirty="0">
                <a:sym typeface="+mn-ea"/>
              </a:rPr>
              <a:t>保持函数依赖的模式分解</a:t>
            </a:r>
            <a:endParaRPr lang="zh-CN" altLang="en-US" sz="3600" dirty="0"/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 smtClean="0"/>
              <a:t>模式分解的定义</a:t>
            </a:r>
            <a:endParaRPr lang="zh-CN" altLang="en-US" sz="2800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 smtClean="0">
                <a:solidFill>
                  <a:srgbClr val="FF0000"/>
                </a:solidFill>
              </a:rPr>
              <a:t>保持函数依赖</a:t>
            </a:r>
            <a:endParaRPr lang="en-US" altLang="zh-CN" sz="2800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 smtClean="0"/>
              <a:t>算法</a:t>
            </a:r>
            <a:r>
              <a:rPr lang="en-US" altLang="zh-CN" sz="2800" dirty="0" smtClean="0"/>
              <a:t>6.2 </a:t>
            </a:r>
            <a:r>
              <a:rPr lang="zh-CN" altLang="en-US" sz="2800" dirty="0" smtClean="0"/>
              <a:t>（</a:t>
            </a:r>
            <a:r>
              <a:rPr lang="zh-CN" altLang="en-US" sz="2800" dirty="0" smtClean="0"/>
              <a:t>合成法）</a:t>
            </a:r>
            <a:endParaRPr lang="zh-CN" altLang="en-US" sz="2800" dirty="0" smtClean="0"/>
          </a:p>
        </p:txBody>
      </p:sp>
    </p:spTree>
  </p:cSld>
  <p:clrMapOvr>
    <a:masterClrMapping/>
  </p:clrMapOvr>
  <p:transition spd="slow">
    <p:wipe dir="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75159" y="-92546"/>
            <a:ext cx="8640960" cy="812862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分解的无损连接性和保持函数依赖性（续）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149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85720" y="771208"/>
                <a:ext cx="8401080" cy="3640931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分解后的模式应该保持与原模式的“等价”， 在此， 我们采用保持函数依赖作为模式等价的一种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准则。</a:t>
                </a:r>
                <a:endParaRPr lang="zh-CN" altLang="en-US" dirty="0">
                  <a:solidFill>
                    <a:schemeClr val="tx1"/>
                  </a:solidFill>
                </a:endParaRPr>
              </a:p>
              <a:p>
                <a:pPr eaLnBrk="1" hangingPunct="1">
                  <a:lnSpc>
                    <a:spcPct val="90000"/>
                  </a:lnSpc>
                </a:pPr>
                <a:r>
                  <a:rPr lang="zh-CN" altLang="en-US" dirty="0">
                    <a:solidFill>
                      <a:schemeClr val="accent2"/>
                    </a:solidFill>
                  </a:rPr>
                  <a:t>保持函数依赖的模式分解</a:t>
                </a:r>
                <a:endParaRPr lang="zh-CN" altLang="en-US" dirty="0">
                  <a:solidFill>
                    <a:schemeClr val="accent2"/>
                  </a:solidFill>
                </a:endParaRPr>
              </a:p>
              <a:p>
                <a:pPr lvl="1" eaLnBrk="1" hangingPunct="1">
                  <a:lnSpc>
                    <a:spcPct val="100000"/>
                  </a:lnSpc>
                </a:pPr>
                <a:r>
                  <a:rPr lang="zh-CN" altLang="en-US" dirty="0"/>
                  <a:t>设关系模式</a:t>
                </a:r>
                <a:r>
                  <a:rPr lang="en-US" altLang="zh-CN" dirty="0"/>
                  <a:t>R&lt;U,F&gt;</a:t>
                </a:r>
                <a:r>
                  <a:rPr lang="zh-CN" altLang="en-US" dirty="0"/>
                  <a:t>被分解为若干个关系模式</a:t>
                </a:r>
                <a:r>
                  <a:rPr lang="en-US" altLang="zh-CN" dirty="0"/>
                  <a:t>R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&lt;U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,F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&gt;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R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&lt;U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,F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&gt;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…  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R</a:t>
                </a:r>
                <a:r>
                  <a:rPr lang="en-US" altLang="zh-CN" baseline="-25000" dirty="0"/>
                  <a:t>k</a:t>
                </a:r>
                <a:r>
                  <a:rPr lang="en-US" altLang="zh-CN" dirty="0"/>
                  <a:t>&lt;</a:t>
                </a:r>
                <a:r>
                  <a:rPr lang="en-US" altLang="zh-CN" dirty="0" err="1"/>
                  <a:t>U</a:t>
                </a:r>
                <a:r>
                  <a:rPr lang="en-US" altLang="zh-CN" baseline="-25000" dirty="0" err="1"/>
                  <a:t>k</a:t>
                </a:r>
                <a:r>
                  <a:rPr lang="en-US" altLang="zh-CN" dirty="0" err="1"/>
                  <a:t>,F</a:t>
                </a:r>
                <a:r>
                  <a:rPr lang="en-US" altLang="zh-CN" baseline="-25000" dirty="0" err="1"/>
                  <a:t>k</a:t>
                </a:r>
                <a:r>
                  <a:rPr lang="en-US" altLang="zh-CN" dirty="0"/>
                  <a:t>&gt; </a:t>
                </a:r>
                <a:r>
                  <a:rPr lang="zh-CN" altLang="en-US" dirty="0"/>
                  <a:t>，该分解是保持函数依赖的分解，</a:t>
                </a:r>
                <a:r>
                  <a:rPr lang="zh-CN" altLang="en-US" dirty="0"/>
                  <a:t>如果</a:t>
                </a:r>
                <a:endParaRPr lang="zh-CN" altLang="en-US" dirty="0"/>
              </a:p>
              <a:p>
                <a:pPr marL="457200" lvl="1" indent="0" eaLnBrk="1" hangingPunct="1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𝑭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nary>
                            <m:naryPr>
                              <m:chr m:val="⋃"/>
                              <m:limLoc m:val="undOvr"/>
                              <m:ctrlPr>
                                <a:rPr lang="en-US" altLang="zh-CN" i="1" dirty="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𝒊</m:t>
                              </m:r>
                              <m:r>
                                <a:rPr lang="en-US" altLang="zh-CN" i="1" dirty="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i="1" dirty="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𝒌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91491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720" y="771208"/>
                <a:ext cx="8401080" cy="3640931"/>
              </a:xfrm>
              <a:blipFill rotWithShape="1">
                <a:blip r:embed="rId1"/>
                <a:stretch>
                  <a:fillRect l="-7" t="-9" r="-1202" b="-68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wipe dir="d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522784" y="-28550"/>
            <a:ext cx="8496944" cy="812862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保持函数依赖</a:t>
            </a:r>
            <a:endParaRPr lang="zh-CN" altLang="en-US" dirty="0"/>
          </a:p>
        </p:txBody>
      </p:sp>
      <p:sp>
        <p:nvSpPr>
          <p:cNvPr id="192516" name="AutoShape 4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4400" y="4686300"/>
            <a:ext cx="304800" cy="228600"/>
          </a:xfrm>
          <a:prstGeom prst="actionButtonForwardNex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</a:ln>
        </p:spPr>
        <p:txBody>
          <a:bodyPr wrap="none" lIns="90000" tIns="46800" rIns="90000" bIns="46800" anchor="ctr"/>
          <a:lstStyle>
            <a:lvl1pPr algn="l" eaLnBrk="0" hangingPunct="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l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1"/>
              </a:buClr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07950" y="1887220"/>
          <a:ext cx="433768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895"/>
                <a:gridCol w="1445895"/>
                <a:gridCol w="144589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Sno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School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Mname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张</a:t>
                      </a:r>
                      <a:r>
                        <a:rPr lang="zh-CN" altLang="en-US"/>
                        <a:t>五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S2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张</a:t>
                      </a:r>
                      <a:r>
                        <a:rPr lang="zh-CN" altLang="en-US"/>
                        <a:t>五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S3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李四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S4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D3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王</a:t>
                      </a:r>
                      <a:r>
                        <a:rPr lang="zh-CN" altLang="en-US"/>
                        <a:t>一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5580380" y="699770"/>
          <a:ext cx="433768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895"/>
                <a:gridCol w="144589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Sno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School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S2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S3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S4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D3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4"/>
            </p:custDataLst>
          </p:nvPr>
        </p:nvGraphicFramePr>
        <p:xfrm>
          <a:off x="5632450" y="2869565"/>
          <a:ext cx="289179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895"/>
                <a:gridCol w="144589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School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Mname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张</a:t>
                      </a:r>
                      <a:r>
                        <a:rPr lang="zh-CN" altLang="en-US"/>
                        <a:t>五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张</a:t>
                      </a:r>
                      <a:r>
                        <a:rPr lang="zh-CN" altLang="en-US"/>
                        <a:t>五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李四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D3</a:t>
                      </a:r>
                      <a:endParaRPr lang="en-US" altLang="zh-CN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王</a:t>
                      </a:r>
                      <a:r>
                        <a:rPr lang="zh-CN" altLang="en-US"/>
                        <a:t>一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右箭头 7"/>
          <p:cNvSpPr/>
          <p:nvPr/>
        </p:nvSpPr>
        <p:spPr>
          <a:xfrm rot="19860000">
            <a:off x="4453890" y="1885950"/>
            <a:ext cx="1134110" cy="396875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右箭头 8"/>
          <p:cNvSpPr/>
          <p:nvPr>
            <p:custDataLst>
              <p:tags r:id="rId5"/>
            </p:custDataLst>
          </p:nvPr>
        </p:nvSpPr>
        <p:spPr>
          <a:xfrm rot="780000">
            <a:off x="4477385" y="2838450"/>
            <a:ext cx="1134110" cy="396875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1505" y="3940175"/>
            <a:ext cx="359918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eaLnBrk="1" hangingPunct="1">
              <a:lnSpc>
                <a:spcPct val="100000"/>
              </a:lnSpc>
              <a:buFont typeface="Monotype Sorts" pitchFamily="2" charset="2"/>
              <a:buNone/>
            </a:pPr>
            <a:r>
              <a:rPr lang="en-US" altLang="zh-CN" sz="2400" b="1" dirty="0" err="1">
                <a:latin typeface="+mn-lt"/>
                <a:ea typeface="+mn-ea"/>
                <a:sym typeface="+mn-ea"/>
              </a:rPr>
              <a:t>Sno→School</a:t>
            </a:r>
            <a:endParaRPr lang="en-US" altLang="zh-CN" sz="2400" b="1" dirty="0">
              <a:latin typeface="+mn-lt"/>
              <a:ea typeface="+mn-ea"/>
            </a:endParaRPr>
          </a:p>
          <a:p>
            <a:pPr algn="just" eaLnBrk="1" hangingPunct="1">
              <a:lnSpc>
                <a:spcPct val="100000"/>
              </a:lnSpc>
              <a:buFont typeface="Monotype Sorts" pitchFamily="2" charset="2"/>
              <a:buNone/>
            </a:pPr>
            <a:r>
              <a:rPr lang="en-US" altLang="zh-CN" sz="2400" b="1" dirty="0" err="1">
                <a:latin typeface="+mn-lt"/>
                <a:ea typeface="+mn-ea"/>
                <a:sym typeface="+mn-ea"/>
              </a:rPr>
              <a:t>School→Mname</a:t>
            </a:r>
            <a:endParaRPr lang="en-US" altLang="zh-CN" sz="2400" b="1" dirty="0" err="1">
              <a:latin typeface="+mn-lt"/>
              <a:ea typeface="+mn-ea"/>
              <a:sym typeface="+mn-ea"/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对于属性集</a:t>
            </a:r>
            <a:r>
              <a:rPr lang="en-US" altLang="zh-CN" b="1" dirty="0"/>
              <a:t>ABCDEF</a:t>
            </a:r>
            <a:r>
              <a:rPr lang="zh-CN" altLang="en-US" b="1" dirty="0"/>
              <a:t>，函数依赖集合</a:t>
            </a:r>
            <a:r>
              <a:rPr lang="en-US" altLang="zh-CN" b="1" dirty="0"/>
              <a:t> {A-BC, CD-&gt;E, B-&gt;D, BE-&gt;F, EF-&gt;A}</a:t>
            </a:r>
            <a:endParaRPr lang="en-US" altLang="zh-CN" b="1" dirty="0"/>
          </a:p>
          <a:p>
            <a:r>
              <a:rPr lang="zh-CN" altLang="en-US" dirty="0">
                <a:latin typeface="Cambria Math" panose="02040503050406030204" charset="0"/>
              </a:rPr>
              <a:t>下面的分解是否保持函数依赖？</a:t>
            </a:r>
            <a:endParaRPr lang="en-US" altLang="zh-CN" dirty="0">
              <a:latin typeface="Cambria Math" panose="02040503050406030204" charset="0"/>
            </a:endParaRPr>
          </a:p>
          <a:p>
            <a:r>
              <a:rPr lang="en-US" altLang="zh-CN" i="1" dirty="0">
                <a:latin typeface="Cambria Math" panose="02040503050406030204" charset="0"/>
              </a:rPr>
              <a:t>U</a:t>
            </a:r>
            <a:r>
              <a:rPr lang="en-US" altLang="zh-CN" i="1" baseline="-25000" dirty="0">
                <a:latin typeface="Cambria Math" panose="02040503050406030204" charset="0"/>
              </a:rPr>
              <a:t>1</a:t>
            </a:r>
            <a:r>
              <a:rPr lang="en-US" altLang="zh-CN" i="1" dirty="0">
                <a:latin typeface="Cambria Math" panose="02040503050406030204" charset="0"/>
              </a:rPr>
              <a:t>={ABCD}, U</a:t>
            </a:r>
            <a:r>
              <a:rPr lang="en-US" altLang="zh-CN" i="1" baseline="-25000" dirty="0">
                <a:latin typeface="Cambria Math" panose="02040503050406030204" charset="0"/>
              </a:rPr>
              <a:t>2</a:t>
            </a:r>
            <a:r>
              <a:rPr lang="en-US" altLang="zh-CN" i="1" dirty="0">
                <a:latin typeface="Cambria Math" panose="02040503050406030204" charset="0"/>
              </a:rPr>
              <a:t>={AEF}</a:t>
            </a:r>
            <a:endParaRPr lang="en-US" altLang="zh-CN" i="1" dirty="0">
              <a:latin typeface="Cambria Math" panose="02040503050406030204" charset="0"/>
            </a:endParaRPr>
          </a:p>
          <a:p>
            <a:endParaRPr lang="en-US" altLang="zh-CN" dirty="0"/>
          </a:p>
        </p:txBody>
      </p:sp>
    </p:spTree>
  </p:cSld>
  <p:clrMapOvr>
    <a:masterClrMapping/>
  </p:clrMapOvr>
  <p:transition spd="slow">
    <p:wipe dir="d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解析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将函数依赖集合投影到</a:t>
                </a:r>
                <a:r>
                  <a:rPr lang="en-US" altLang="zh-CN" i="1" dirty="0">
                    <a:latin typeface="Cambria Math" panose="02040503050406030204" charset="0"/>
                  </a:rPr>
                  <a:t>U</a:t>
                </a:r>
                <a:r>
                  <a:rPr lang="en-US" altLang="zh-CN" i="1" baseline="-25000" dirty="0">
                    <a:latin typeface="Cambria Math" panose="02040503050406030204" charset="0"/>
                  </a:rPr>
                  <a:t>1</a:t>
                </a:r>
                <a:r>
                  <a:rPr lang="zh-CN" altLang="en-US" dirty="0"/>
                  <a:t>和</a:t>
                </a:r>
                <a:r>
                  <a:rPr lang="en-US" altLang="zh-CN" i="1" dirty="0">
                    <a:latin typeface="Cambria Math" panose="02040503050406030204" charset="0"/>
                  </a:rPr>
                  <a:t>U</a:t>
                </a:r>
                <a:r>
                  <a:rPr lang="en-US" altLang="zh-CN" i="1" baseline="-25000" dirty="0">
                    <a:latin typeface="Cambria Math" panose="02040503050406030204" charset="0"/>
                  </a:rPr>
                  <a:t>2 </a:t>
                </a:r>
                <a:r>
                  <a:rPr lang="zh-CN" altLang="en-US" dirty="0"/>
                  <a:t>，得到下面两个函数依赖的集合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charset="0"/>
                      </a:rPr>
                      <m:t>{</m:t>
                    </m:r>
                    <m:r>
                      <a:rPr lang="en-US" altLang="zh-CN" b="1" i="1" smtClean="0">
                        <a:latin typeface="Cambria Math" panose="02040503050406030204" charset="0"/>
                      </a:rPr>
                      <m:t>𝑨</m:t>
                    </m:r>
                    <m:r>
                      <a:rPr lang="en-US" altLang="zh-CN" b="1" i="1" smtClean="0">
                        <a:latin typeface="Cambria Math" panose="02040503050406030204" charset="0"/>
                      </a:rPr>
                      <m:t>→</m:t>
                    </m:r>
                    <m:r>
                      <a:rPr lang="en-US" altLang="zh-CN" b="1" i="1" smtClean="0">
                        <a:latin typeface="Cambria Math" panose="02040503050406030204" charset="0"/>
                      </a:rPr>
                      <m:t>𝑩𝑪</m:t>
                    </m:r>
                    <m:r>
                      <a:rPr lang="en-US" altLang="zh-CN" b="1" i="1" smtClean="0">
                        <a:latin typeface="Cambria Math" panose="02040503050406030204" charset="0"/>
                      </a:rPr>
                      <m:t>, </m:t>
                    </m:r>
                    <m:r>
                      <a:rPr lang="en-US" altLang="zh-CN" b="1" i="1" smtClean="0">
                        <a:latin typeface="Cambria Math" panose="02040503050406030204" charset="0"/>
                      </a:rPr>
                      <m:t>𝑩</m:t>
                    </m:r>
                    <m:r>
                      <a:rPr lang="en-US" altLang="zh-CN" b="1" i="1" smtClean="0">
                        <a:latin typeface="Cambria Math" panose="02040503050406030204" charset="0"/>
                      </a:rPr>
                      <m:t>→</m:t>
                    </m:r>
                    <m:r>
                      <a:rPr lang="en-US" altLang="zh-CN" b="1" i="1" smtClean="0">
                        <a:latin typeface="Cambria Math" panose="02040503050406030204" charset="0"/>
                      </a:rPr>
                      <m:t>𝑫</m:t>
                    </m:r>
                    <m:r>
                      <a:rPr lang="en-US" altLang="zh-CN" b="1" i="1" smtClean="0">
                        <a:latin typeface="Cambria Math" panose="02040503050406030204" charset="0"/>
                      </a:rPr>
                      <m:t>}</m:t>
                    </m:r>
                  </m:oMath>
                </a14:m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</a:rPr>
                      <m:t>{</m:t>
                    </m:r>
                    <m:r>
                      <a:rPr lang="en-US" altLang="zh-CN" b="1" i="1" smtClean="0">
                        <a:latin typeface="Cambria Math" panose="02040503050406030204" charset="0"/>
                      </a:rPr>
                      <m:t>𝑬𝑭</m:t>
                    </m:r>
                    <m:r>
                      <a:rPr lang="en-US" altLang="zh-CN" b="1" i="1" smtClean="0">
                        <a:latin typeface="Cambria Math" panose="02040503050406030204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分析：两者并集为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𝑩𝑪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, 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𝑩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𝑫</m:t>
                    </m:r>
                    <m:r>
                      <a:rPr lang="en-US" altLang="zh-CN" b="1" i="1" smtClean="0">
                        <a:latin typeface="Cambria Math" panose="02040503050406030204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charset="0"/>
                      </a:rPr>
                      <m:t>𝑬𝑭</m:t>
                    </m:r>
                    <m:r>
                      <a:rPr lang="en-US" altLang="zh-CN" b="1" i="1" smtClean="0">
                        <a:latin typeface="Cambria Math" panose="02040503050406030204" charset="0"/>
                      </a:rPr>
                      <m:t>→</m:t>
                    </m:r>
                    <m:r>
                      <a:rPr lang="en-US" altLang="zh-CN" b="1" i="1" smtClean="0">
                        <a:latin typeface="Cambria Math" panose="02040503050406030204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计算</a:t>
                </a:r>
                <a:r>
                  <a:rPr lang="en-US" altLang="zh-CN" dirty="0"/>
                  <a:t>BE</a:t>
                </a:r>
                <a:r>
                  <a:rPr lang="zh-CN" altLang="en-US" dirty="0"/>
                  <a:t>在并集上的闭包为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charset="0"/>
                      </a:rPr>
                      <m:t> </m:t>
                    </m:r>
                    <m:r>
                      <a:rPr lang="en-US" altLang="zh-CN" b="1" i="1" smtClean="0">
                        <a:latin typeface="Cambria Math" panose="02040503050406030204" charset="0"/>
                      </a:rPr>
                      <m:t>𝑩𝑫𝑬</m:t>
                    </m:r>
                    <m:r>
                      <a:rPr lang="zh-CN" altLang="en-US" i="1">
                        <a:latin typeface="Cambria Math" panose="02040503050406030204" charset="0"/>
                      </a:rPr>
                      <m:t>，</m:t>
                    </m:r>
                  </m:oMath>
                </a14:m>
                <a:r>
                  <a:rPr lang="zh-CN" altLang="en-US" dirty="0"/>
                  <a:t>因此 </a:t>
                </a:r>
                <a:r>
                  <a:rPr lang="en-US" altLang="zh-CN" dirty="0"/>
                  <a:t>BE -&gt; F</a:t>
                </a:r>
                <a:r>
                  <a:rPr lang="zh-CN" altLang="en-US" dirty="0"/>
                  <a:t>不在其中。</a:t>
                </a:r>
                <a:endParaRPr lang="en-US" altLang="zh-CN" dirty="0"/>
              </a:p>
              <a:p>
                <a:r>
                  <a:rPr lang="zh-CN" altLang="en-US" dirty="0"/>
                  <a:t>所以上述分解没有保持函数依赖。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7" t="-9" b="-67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wipe dir="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0"/>
            <a:ext cx="7772400" cy="1021556"/>
          </a:xfrm>
        </p:spPr>
        <p:txBody>
          <a:bodyPr/>
          <a:lstStyle/>
          <a:p>
            <a:pPr algn="ctr" eaLnBrk="1" hangingPunct="1"/>
            <a:r>
              <a:rPr lang="en-US" altLang="zh-CN" sz="3600" dirty="0">
                <a:sym typeface="+mn-ea"/>
              </a:rPr>
              <a:t>6.4 </a:t>
            </a:r>
            <a:r>
              <a:rPr lang="zh-CN" altLang="en-US" sz="3600" dirty="0">
                <a:sym typeface="+mn-ea"/>
              </a:rPr>
              <a:t>保持函数依赖的模式分解</a:t>
            </a:r>
            <a:endParaRPr lang="zh-CN" altLang="en-US" sz="3600" dirty="0"/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 smtClean="0"/>
              <a:t>模式分解的定义</a:t>
            </a:r>
            <a:endParaRPr lang="zh-CN" altLang="en-US" sz="2800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 smtClean="0"/>
              <a:t>保持函数依赖</a:t>
            </a:r>
            <a:endParaRPr lang="zh-CN" altLang="en-US" sz="2800" dirty="0" smtClean="0"/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 smtClean="0">
                <a:solidFill>
                  <a:srgbClr val="FF0000"/>
                </a:solidFill>
              </a:rPr>
              <a:t>算法6.2 （合成法）</a:t>
            </a:r>
            <a:endParaRPr lang="zh-CN" altLang="en-US" sz="2800" dirty="0" smtClean="0"/>
          </a:p>
        </p:txBody>
      </p:sp>
    </p:spTree>
  </p:cSld>
  <p:clrMapOvr>
    <a:masterClrMapping/>
  </p:clrMapOvr>
  <p:transition spd="slow">
    <p:wipe dir="d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0"/>
            <a:ext cx="7772400" cy="1021556"/>
          </a:xfrm>
        </p:spPr>
        <p:txBody>
          <a:bodyPr/>
          <a:lstStyle/>
          <a:p>
            <a:pPr algn="ctr" eaLnBrk="1" hangingPunct="1"/>
            <a:r>
              <a:rPr sz="3600" dirty="0">
                <a:sym typeface="+mn-ea"/>
              </a:rPr>
              <a:t>算法 </a:t>
            </a:r>
            <a:r>
              <a:rPr lang="en-US" sz="3600" dirty="0">
                <a:sym typeface="+mn-ea"/>
              </a:rPr>
              <a:t>6.2</a:t>
            </a:r>
            <a:r>
              <a:rPr sz="3600" dirty="0">
                <a:sym typeface="+mn-ea"/>
              </a:rPr>
              <a:t>（合成法） </a:t>
            </a:r>
            <a:endParaRPr sz="3600" dirty="0">
              <a:sym typeface="+mn-ea"/>
            </a:endParaRP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>
          <a:xfrm>
            <a:off x="107315" y="699770"/>
            <a:ext cx="7772400" cy="61087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sz="2400" dirty="0">
                <a:sym typeface="+mn-ea"/>
              </a:rPr>
              <a:t>转换为 </a:t>
            </a:r>
            <a:r>
              <a:rPr lang="en-US" sz="2400" dirty="0">
                <a:sym typeface="+mn-ea"/>
              </a:rPr>
              <a:t>3NF</a:t>
            </a:r>
            <a:r>
              <a:rPr sz="2400" dirty="0">
                <a:sym typeface="+mn-ea"/>
              </a:rPr>
              <a:t>的保持函数依赖的分解</a:t>
            </a:r>
            <a:endParaRPr lang="en-US" altLang="zh-CN" sz="2400" dirty="0" smtClean="0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custDataLst>
                  <p:tags r:id="rId1"/>
                </p:custDataLst>
              </p:nvPr>
            </p:nvSpPr>
            <p:spPr>
              <a:xfrm>
                <a:off x="-36125" y="1564005"/>
                <a:ext cx="9155360" cy="53285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zh-CN" altLang="zh-CN" sz="1600" dirty="0"/>
                  <a:t>（</a:t>
                </a:r>
                <a:r>
                  <a:rPr lang="en-US" altLang="zh-CN" sz="1600" dirty="0"/>
                  <a:t>1</a:t>
                </a:r>
                <a:r>
                  <a:rPr lang="zh-CN" altLang="zh-CN" sz="1600" dirty="0"/>
                  <a:t>）对</a:t>
                </a:r>
                <a:r>
                  <a:rPr lang="en-US" altLang="zh-CN" sz="1600" i="1" dirty="0"/>
                  <a:t>R</a:t>
                </a:r>
                <a:r>
                  <a:rPr lang="en-US" altLang="zh-CN" sz="1600" dirty="0"/>
                  <a:t>(</a:t>
                </a:r>
                <a:r>
                  <a:rPr lang="en-US" altLang="zh-CN" sz="1600" i="1" dirty="0"/>
                  <a:t>U</a:t>
                </a:r>
                <a:r>
                  <a:rPr lang="en-US" altLang="zh-CN" sz="1600" dirty="0"/>
                  <a:t>, </a:t>
                </a:r>
                <a:r>
                  <a:rPr lang="en-US" altLang="zh-CN" sz="1600" i="1" dirty="0"/>
                  <a:t>F</a:t>
                </a:r>
                <a:r>
                  <a:rPr lang="en-US" altLang="zh-CN" sz="1600" dirty="0"/>
                  <a:t>)</a:t>
                </a:r>
                <a:r>
                  <a:rPr lang="zh-CN" altLang="zh-CN" sz="1600" dirty="0"/>
                  <a:t>中的函数依赖集</a:t>
                </a:r>
                <a:r>
                  <a:rPr lang="en-US" altLang="zh-CN" sz="1600" i="1" dirty="0"/>
                  <a:t>F</a:t>
                </a:r>
                <a:r>
                  <a:rPr lang="zh-CN" altLang="zh-CN" sz="1600" dirty="0"/>
                  <a:t>进行“极小化处理” （处理后得到的依赖集仍记为</a:t>
                </a:r>
                <a:r>
                  <a:rPr lang="en-US" altLang="zh-CN" sz="1600" i="1" dirty="0"/>
                  <a:t>F</a:t>
                </a:r>
                <a:r>
                  <a:rPr lang="zh-CN" altLang="zh-CN" sz="1600" dirty="0"/>
                  <a:t>）</a:t>
                </a:r>
                <a:endParaRPr lang="en-US" altLang="zh-CN" sz="1600" dirty="0"/>
              </a:p>
              <a:p>
                <a:r>
                  <a:rPr lang="zh-CN" altLang="zh-CN" sz="1600" dirty="0"/>
                  <a:t>（</a:t>
                </a:r>
                <a:r>
                  <a:rPr lang="en-US" altLang="zh-CN" sz="1600" dirty="0"/>
                  <a:t>2</a:t>
                </a:r>
                <a:r>
                  <a:rPr lang="zh-CN" altLang="zh-CN" sz="1600" dirty="0"/>
                  <a:t>）找出所有不在</a:t>
                </a:r>
                <a:r>
                  <a:rPr lang="en-US" altLang="zh-CN" sz="1600" i="1" dirty="0"/>
                  <a:t>F</a:t>
                </a:r>
                <a:r>
                  <a:rPr lang="zh-CN" altLang="zh-CN" sz="1600" dirty="0"/>
                  <a:t>中出现的属性（记做</a:t>
                </a:r>
                <a:r>
                  <a:rPr lang="en-US" altLang="zh-CN" sz="1600" i="1" dirty="0"/>
                  <a:t>U</a:t>
                </a:r>
                <a:r>
                  <a:rPr lang="en-US" altLang="zh-CN" sz="1600" baseline="-25000" dirty="0"/>
                  <a:t>0</a:t>
                </a:r>
                <a:r>
                  <a:rPr lang="zh-CN" altLang="zh-CN" sz="1600" dirty="0"/>
                  <a:t>），把这样的属性构成一个关系模式</a:t>
                </a:r>
                <a:r>
                  <a:rPr lang="en-US" altLang="zh-CN" sz="1600" i="1" dirty="0"/>
                  <a:t>R</a:t>
                </a:r>
                <a:r>
                  <a:rPr lang="en-US" altLang="zh-CN" sz="1600" baseline="-25000" dirty="0"/>
                  <a:t>0</a:t>
                </a:r>
                <a:r>
                  <a:rPr lang="en-US" altLang="zh-CN" sz="1600" dirty="0"/>
                  <a:t>(</a:t>
                </a:r>
                <a:r>
                  <a:rPr lang="en-US" altLang="zh-CN" sz="1600" i="1" dirty="0"/>
                  <a:t>U</a:t>
                </a:r>
                <a:r>
                  <a:rPr lang="en-US" altLang="zh-CN" sz="1600" baseline="-25000" dirty="0"/>
                  <a:t>0</a:t>
                </a:r>
                <a:r>
                  <a:rPr lang="zh-CN" altLang="zh-CN" sz="1600" dirty="0"/>
                  <a:t>，</a:t>
                </a:r>
                <a:r>
                  <a:rPr lang="en-US" altLang="zh-CN" sz="1600" i="1" dirty="0"/>
                  <a:t>F</a:t>
                </a:r>
                <a:r>
                  <a:rPr lang="en-US" altLang="zh-CN" sz="1600" baseline="-25000" dirty="0"/>
                  <a:t>0</a:t>
                </a:r>
                <a:r>
                  <a:rPr lang="en-US" altLang="zh-CN" sz="1600" dirty="0"/>
                  <a:t>)</a:t>
                </a:r>
                <a:r>
                  <a:rPr lang="zh-CN" altLang="zh-CN" sz="1600" dirty="0"/>
                  <a:t>。把这些属性从</a:t>
                </a:r>
                <a:r>
                  <a:rPr lang="en-US" altLang="zh-CN" sz="1600" i="1" dirty="0"/>
                  <a:t>U</a:t>
                </a:r>
                <a:r>
                  <a:rPr lang="zh-CN" altLang="zh-CN" sz="1600" dirty="0"/>
                  <a:t>中去掉，剩余的属性仍记为</a:t>
                </a:r>
                <a:r>
                  <a:rPr lang="en-US" altLang="zh-CN" sz="1600" i="1" dirty="0"/>
                  <a:t>U</a:t>
                </a:r>
                <a:r>
                  <a:rPr lang="zh-CN" altLang="zh-CN" sz="1600" dirty="0"/>
                  <a:t>。</a:t>
                </a:r>
                <a:endParaRPr lang="en-US" altLang="zh-CN" sz="1600" dirty="0"/>
              </a:p>
              <a:p>
                <a:r>
                  <a:rPr lang="zh-CN" altLang="zh-CN" sz="1600" dirty="0"/>
                  <a:t>（</a:t>
                </a:r>
                <a:r>
                  <a:rPr lang="en-US" altLang="zh-CN" sz="1600" dirty="0"/>
                  <a:t>3</a:t>
                </a:r>
                <a:r>
                  <a:rPr lang="zh-CN" altLang="zh-CN" sz="1600" dirty="0"/>
                  <a:t>）若有</a:t>
                </a:r>
                <a:r>
                  <a:rPr lang="en-US" altLang="zh-CN" sz="1600" i="1" dirty="0"/>
                  <a:t>X</a:t>
                </a:r>
                <a:r>
                  <a:rPr lang="zh-CN" altLang="zh-CN" sz="1600" dirty="0"/>
                  <a:t>→</a:t>
                </a:r>
                <a:r>
                  <a:rPr lang="en-US" altLang="zh-CN" sz="1600" i="1" dirty="0"/>
                  <a:t>A</a:t>
                </a:r>
                <a:r>
                  <a:rPr lang="zh-CN" altLang="zh-CN" sz="1600" dirty="0"/>
                  <a:t>∈</a:t>
                </a:r>
                <a:r>
                  <a:rPr lang="en-US" altLang="zh-CN" sz="1600" i="1" dirty="0"/>
                  <a:t>F</a:t>
                </a:r>
                <a:r>
                  <a:rPr lang="zh-CN" altLang="zh-CN" sz="1600" dirty="0"/>
                  <a:t>，且</a:t>
                </a:r>
                <a:r>
                  <a:rPr lang="en-US" altLang="zh-CN" sz="1600" i="1" dirty="0"/>
                  <a:t>XA</a:t>
                </a:r>
                <a:r>
                  <a:rPr lang="en-US" altLang="zh-CN" sz="1600" dirty="0"/>
                  <a:t>=</a:t>
                </a:r>
                <a:r>
                  <a:rPr lang="en-US" altLang="zh-CN" sz="1600" i="1" dirty="0"/>
                  <a:t>U</a:t>
                </a:r>
                <a:r>
                  <a:rPr lang="zh-CN" altLang="zh-CN" sz="1600" dirty="0"/>
                  <a:t>，则</a:t>
                </a:r>
                <a:r>
                  <a:rPr lang="en-US" altLang="zh-CN" sz="1600" i="1" dirty="0"/>
                  <a:t>ρ</a:t>
                </a:r>
                <a:r>
                  <a:rPr lang="en-US" altLang="zh-CN" sz="1600" dirty="0"/>
                  <a:t>={</a:t>
                </a:r>
                <a:r>
                  <a:rPr lang="en-US" altLang="zh-CN" sz="1600" i="1" dirty="0"/>
                  <a:t>R</a:t>
                </a:r>
                <a:r>
                  <a:rPr lang="en-US" altLang="zh-CN" sz="1600" dirty="0"/>
                  <a:t>}</a:t>
                </a:r>
                <a:r>
                  <a:rPr lang="zh-CN" altLang="zh-CN" sz="1600" dirty="0"/>
                  <a:t>，算法终止。</a:t>
                </a:r>
                <a:endParaRPr lang="en-US" altLang="zh-CN" sz="1600" dirty="0"/>
              </a:p>
              <a:p>
                <a:r>
                  <a:rPr lang="zh-CN" altLang="zh-CN" sz="1600" dirty="0"/>
                  <a:t>（</a:t>
                </a:r>
                <a:r>
                  <a:rPr lang="en-US" altLang="zh-CN" sz="1600" dirty="0"/>
                  <a:t>4</a:t>
                </a:r>
                <a:r>
                  <a:rPr lang="zh-CN" altLang="zh-CN" sz="1600" dirty="0"/>
                  <a:t>）</a:t>
                </a:r>
                <a:r>
                  <a:rPr lang="zh-CN" altLang="zh-CN" sz="1600" dirty="0">
                    <a:solidFill>
                      <a:srgbClr val="FF0000"/>
                    </a:solidFill>
                  </a:rPr>
                  <a:t>否则，对</a:t>
                </a:r>
                <a:r>
                  <a:rPr lang="en-US" altLang="zh-CN" sz="1600" i="1" dirty="0">
                    <a:solidFill>
                      <a:srgbClr val="FF0000"/>
                    </a:solidFill>
                  </a:rPr>
                  <a:t>F</a:t>
                </a:r>
                <a:r>
                  <a:rPr lang="zh-CN" altLang="zh-CN" sz="1600" dirty="0">
                    <a:solidFill>
                      <a:srgbClr val="FF0000"/>
                    </a:solidFill>
                  </a:rPr>
                  <a:t>按具有相同左部的原则分组（假定分为</a:t>
                </a:r>
                <a:r>
                  <a:rPr lang="en-US" altLang="zh-CN" sz="1600" i="1" dirty="0">
                    <a:solidFill>
                      <a:srgbClr val="FF0000"/>
                    </a:solidFill>
                  </a:rPr>
                  <a:t>k</a:t>
                </a:r>
                <a:r>
                  <a:rPr lang="zh-CN" altLang="zh-CN" sz="1600" dirty="0">
                    <a:solidFill>
                      <a:srgbClr val="FF0000"/>
                    </a:solidFill>
                  </a:rPr>
                  <a:t>组），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每一组函数依赖所涉及的全部属性形成一个属性集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</a:rPr>
                          <m:t>𝑼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 charset="0"/>
                          </a:rPr>
                          <m:t>𝒊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1600" dirty="0"/>
                  <a:t>。若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</a:rPr>
                          <m:t>𝑼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</a:rPr>
                          <m:t>𝒊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charset="0"/>
                      </a:rPr>
                      <m:t>⊆</m:t>
                    </m:r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charset="0"/>
                          </a:rPr>
                          <m:t>𝑼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1600" dirty="0"/>
                  <a:t>（</a:t>
                </a:r>
                <a:r>
                  <a:rPr lang="en-US" altLang="zh-CN" sz="1600" dirty="0" err="1"/>
                  <a:t>i≠j</a:t>
                </a:r>
                <a:r>
                  <a:rPr lang="zh-CN" altLang="en-US" sz="1600" dirty="0"/>
                  <a:t>）就去掉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</a:rPr>
                          <m:t>𝑼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</a:rPr>
                          <m:t>𝒊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r>
                  <a:rPr lang="zh-CN" altLang="zh-CN" sz="1600" dirty="0"/>
                  <a:t>由于经过了步骤（</a:t>
                </a:r>
                <a:r>
                  <a:rPr lang="en-US" altLang="zh-CN" sz="1600" dirty="0"/>
                  <a:t>2</a:t>
                </a:r>
                <a:r>
                  <a:rPr lang="zh-CN" altLang="zh-CN" sz="1600" dirty="0"/>
                  <a:t>），故</a:t>
                </a:r>
                <a14:m>
                  <m:oMath xmlns:m="http://schemas.openxmlformats.org/officeDocument/2006/math">
                    <m:r>
                      <a:rPr lang="en-US" altLang="zh-CN" sz="1600" b="1" i="0" smtClean="0">
                        <a:latin typeface="Cambria Math" panose="02040503050406030204" charset="0"/>
                      </a:rPr>
                      <m:t>𝐔</m:t>
                    </m:r>
                    <m:r>
                      <a:rPr lang="en-US" altLang="zh-CN" sz="1600" b="1" i="0" smtClean="0">
                        <a:latin typeface="Cambria Math" panose="02040503050406030204" charset="0"/>
                      </a:rPr>
                      <m:t>=</m:t>
                    </m:r>
                    <m:nary>
                      <m:naryPr>
                        <m:chr m:val="⋃"/>
                        <m:ctrlPr>
                          <a:rPr lang="en-US" altLang="zh-CN" sz="1600" b="1" i="1" smtClean="0">
                            <a:latin typeface="Cambria Math" panose="0204050305040603020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1" i="1" smtClean="0">
                            <a:latin typeface="Cambria Math" panose="02040503050406030204" charset="0"/>
                          </a:rPr>
                          <m:t>𝒊</m:t>
                        </m:r>
                        <m:r>
                          <a:rPr lang="en-US" altLang="zh-CN" sz="1600" b="1" i="1" smtClean="0">
                            <a:latin typeface="Cambria Math" panose="02040503050406030204" charset="0"/>
                          </a:rPr>
                          <m:t>=</m:t>
                        </m:r>
                        <m:r>
                          <a:rPr lang="en-US" altLang="zh-CN" sz="1600" b="1" i="1" smtClean="0">
                            <a:latin typeface="Cambria Math" panose="02040503050406030204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1600" b="1" i="1" smtClean="0">
                            <a:latin typeface="Cambria Math" panose="02040503050406030204" charset="0"/>
                          </a:rPr>
                          <m:t>𝒌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b="1" i="1" smtClean="0">
                                <a:latin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latin typeface="Cambria Math" panose="02040503050406030204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latin typeface="Cambria Math" panose="02040503050406030204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1600" dirty="0"/>
                  <a:t>,</a:t>
                </a:r>
                <a:r>
                  <a:rPr lang="zh-CN" altLang="en-US" sz="1600" dirty="0"/>
                  <a:t>于是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charset="0"/>
                      </a:rPr>
                      <m:t>𝝆</m:t>
                    </m:r>
                    <m:r>
                      <a:rPr lang="en-US" altLang="zh-CN" sz="1600" b="1" i="1" smtClean="0">
                        <a:latin typeface="Cambria Math" panose="0204050305040603020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smtClean="0">
                            <a:latin typeface="Cambria Math" panose="0204050305040603020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 smtClean="0">
                                <a:latin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latin typeface="Cambria Math" panose="02040503050406030204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latin typeface="Cambria Math" panose="02040503050406030204" charset="0"/>
                              </a:rPr>
                              <m:t>𝟏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600" b="1" i="1" smtClean="0">
                                <a:latin typeface="Cambria Math" panose="0204050305040603020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1" i="1" smtClean="0"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smtClean="0">
                                    <a:latin typeface="Cambria Math" panose="02040503050406030204" charset="0"/>
                                  </a:rPr>
                                  <m:t>𝑼</m:t>
                                </m:r>
                              </m:e>
                              <m:sub>
                                <m:r>
                                  <a:rPr lang="en-US" altLang="zh-CN" sz="1600" b="1" i="1" smtClean="0">
                                    <a:latin typeface="Cambria Math" panose="02040503050406030204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1600" b="1" i="1" smtClean="0">
                                <a:latin typeface="Cambria Math" panose="02040503050406030204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600" b="1" i="1" smtClean="0"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smtClean="0">
                                    <a:latin typeface="Cambria Math" panose="02040503050406030204" charset="0"/>
                                  </a:rPr>
                                  <m:t>𝑭</m:t>
                                </m:r>
                              </m:e>
                              <m:sub>
                                <m:r>
                                  <a:rPr lang="en-US" altLang="zh-CN" sz="1600" b="1" i="1" smtClean="0">
                                    <a:latin typeface="Cambria Math" panose="02040503050406030204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b="1" i="1" smtClean="0">
                            <a:latin typeface="Cambria Math" panose="02040503050406030204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zh-CN" sz="1600" b="1" i="1" smtClean="0">
                                <a:latin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latin typeface="Cambria Math" panose="02040503050406030204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latin typeface="Cambria Math" panose="02040503050406030204" charset="0"/>
                              </a:rPr>
                              <m:t>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600" b="1" i="1" smtClean="0">
                                <a:latin typeface="Cambria Math" panose="0204050305040603020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1" i="1" smtClean="0"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smtClean="0">
                                    <a:latin typeface="Cambria Math" panose="02040503050406030204" charset="0"/>
                                  </a:rPr>
                                  <m:t>𝑼</m:t>
                                </m:r>
                              </m:e>
                              <m:sub>
                                <m:r>
                                  <a:rPr lang="en-US" altLang="zh-CN" sz="1600" b="1" i="1" smtClean="0">
                                    <a:latin typeface="Cambria Math" panose="02040503050406030204" charset="0"/>
                                  </a:rPr>
                                  <m:t>𝒌</m:t>
                                </m:r>
                              </m:sub>
                            </m:sSub>
                            <m:r>
                              <a:rPr lang="en-US" altLang="zh-CN" sz="1600" b="1" i="1" smtClean="0">
                                <a:latin typeface="Cambria Math" panose="02040503050406030204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600" b="1" i="1" smtClean="0"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smtClean="0">
                                    <a:latin typeface="Cambria Math" panose="02040503050406030204" charset="0"/>
                                  </a:rPr>
                                  <m:t>𝑭</m:t>
                                </m:r>
                              </m:e>
                              <m:sub>
                                <m:r>
                                  <a:rPr lang="en-US" altLang="zh-CN" sz="1600" b="1" i="1" smtClean="0">
                                    <a:latin typeface="Cambria Math" panose="02040503050406030204" charset="0"/>
                                  </a:rPr>
                                  <m:t>𝒌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1600" i="1">
                        <a:latin typeface="Cambria Math" panose="02040503050406030204" charset="0"/>
                        <a:ea typeface="Cambria Math" panose="02040503050406030204" charset="0"/>
                      </a:rPr>
                      <m:t>∪</m:t>
                    </m:r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𝑹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𝟎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charset="0"/>
                        <a:ea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𝑼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𝟎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charset="0"/>
                        <a:ea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𝑭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charset="0"/>
                            <a:ea typeface="Cambria Math" panose="02040503050406030204" charset="0"/>
                          </a:rPr>
                          <m:t>𝟎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charset="0"/>
                        <a:ea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1600" dirty="0"/>
                  <a:t>构成</a:t>
                </a:r>
                <a:r>
                  <a:rPr lang="en-US" altLang="zh-CN" sz="1600" i="1" dirty="0"/>
                  <a:t>R</a:t>
                </a:r>
                <a:r>
                  <a:rPr lang="en-US" altLang="zh-CN" sz="1600" dirty="0"/>
                  <a:t>(</a:t>
                </a:r>
                <a:r>
                  <a:rPr lang="en-US" altLang="zh-CN" sz="1600" i="1" dirty="0"/>
                  <a:t>U</a:t>
                </a:r>
                <a:r>
                  <a:rPr lang="en-US" altLang="zh-CN" sz="1600" dirty="0"/>
                  <a:t>, </a:t>
                </a:r>
                <a:r>
                  <a:rPr lang="en-US" altLang="zh-CN" sz="1600" i="1" dirty="0"/>
                  <a:t>F</a:t>
                </a:r>
                <a:r>
                  <a:rPr lang="en-US" altLang="zh-CN" sz="1600" dirty="0"/>
                  <a:t>) </a:t>
                </a:r>
                <a:r>
                  <a:rPr lang="zh-CN" altLang="en-US" sz="1600" dirty="0"/>
                  <a:t>的一个保持函数依赖的分解。且可证明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</a:rPr>
                          <m:t>𝑹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charset="0"/>
                          </a:rPr>
                          <m:t>𝒊</m:t>
                        </m:r>
                      </m:sub>
                    </m:sSub>
                    <m:r>
                      <a:rPr lang="zh-CN" altLang="en-US" sz="1600" i="1" smtClean="0">
                        <a:latin typeface="Cambria Math" panose="02040503050406030204" charset="0"/>
                      </a:rPr>
                      <m:t>均</m:t>
                    </m:r>
                  </m:oMath>
                </a14:m>
                <a:r>
                  <a:rPr lang="zh-CN" altLang="en-US" sz="1600" dirty="0"/>
                  <a:t>属于</a:t>
                </a:r>
                <a:r>
                  <a:rPr lang="en-US" altLang="zh-CN" sz="1600" dirty="0"/>
                  <a:t>3NF</a:t>
                </a:r>
                <a:r>
                  <a:rPr lang="zh-CN" altLang="en-US" sz="1600" dirty="0"/>
                  <a:t>。</a:t>
                </a:r>
                <a:endParaRPr lang="zh-CN" altLang="en-US" sz="1600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-36125" y="1564005"/>
                <a:ext cx="9155360" cy="5328592"/>
              </a:xfrm>
              <a:prstGeom prst="rect">
                <a:avLst/>
              </a:prstGeom>
              <a:blipFill rotWithShape="1">
                <a:blip r:embed="rId3"/>
                <a:stretch>
                  <a:fillRect l="6" b="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例子</a:t>
            </a:r>
            <a:r>
              <a:rPr lang="en-US" altLang="zh-CN"/>
              <a:t>&amp;</a:t>
            </a:r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对于属性集</a:t>
            </a:r>
            <a:r>
              <a:rPr lang="en-US" altLang="zh-CN" dirty="0"/>
              <a:t>ABCD</a:t>
            </a:r>
            <a:r>
              <a:rPr lang="zh-CN" altLang="en-US" dirty="0"/>
              <a:t>，函数依赖集合</a:t>
            </a:r>
            <a:r>
              <a:rPr lang="en-US" altLang="zh-CN" dirty="0"/>
              <a:t> {A-&gt;B, A-&gt;C, D-&gt;A}</a:t>
            </a:r>
            <a:endParaRPr lang="en-US" altLang="zh-CN" dirty="0"/>
          </a:p>
          <a:p>
            <a:r>
              <a:rPr lang="zh-CN" altLang="en-US" dirty="0"/>
              <a:t>采用算法</a:t>
            </a:r>
            <a:r>
              <a:rPr lang="en-US" altLang="zh-CN" dirty="0"/>
              <a:t>6.2</a:t>
            </a:r>
            <a:r>
              <a:rPr lang="zh-CN" altLang="en-US" dirty="0"/>
              <a:t>对其进行分解</a:t>
            </a:r>
            <a:endParaRPr lang="en-US" altLang="zh-CN" dirty="0"/>
          </a:p>
          <a:p>
            <a:r>
              <a:rPr lang="zh-CN" altLang="en-US" dirty="0"/>
              <a:t>先求码：</a:t>
            </a:r>
            <a:r>
              <a:rPr lang="en-US" altLang="zh-CN" dirty="0"/>
              <a:t>D</a:t>
            </a:r>
            <a:r>
              <a:rPr lang="zh-CN" altLang="en-US" dirty="0"/>
              <a:t>。存在对码的传递函数依赖。</a:t>
            </a:r>
            <a:endParaRPr lang="en-US" altLang="zh-CN" dirty="0"/>
          </a:p>
          <a:p>
            <a:r>
              <a:rPr lang="zh-CN" altLang="en-US" dirty="0"/>
              <a:t>分解</a:t>
            </a:r>
            <a:endParaRPr lang="en-US" altLang="zh-CN" dirty="0"/>
          </a:p>
          <a:p>
            <a:r>
              <a:rPr lang="en-US" altLang="zh-CN" dirty="0"/>
              <a:t>ABC,  {A-&gt;B,A-C}</a:t>
            </a:r>
            <a:endParaRPr lang="en-US" altLang="zh-CN" dirty="0"/>
          </a:p>
          <a:p>
            <a:r>
              <a:rPr lang="en-US" altLang="zh-CN" dirty="0"/>
              <a:t>AD, {D-&gt;A}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3851910" y="4084320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zh-CN" sz="1600" dirty="0">
                <a:solidFill>
                  <a:srgbClr val="FF0000"/>
                </a:solidFill>
                <a:sym typeface="+mn-ea"/>
              </a:rPr>
              <a:t>对</a:t>
            </a:r>
            <a:r>
              <a:rPr lang="en-US" altLang="zh-CN" sz="1600" i="1" dirty="0">
                <a:solidFill>
                  <a:srgbClr val="FF0000"/>
                </a:solidFill>
                <a:sym typeface="+mn-ea"/>
              </a:rPr>
              <a:t>F</a:t>
            </a:r>
            <a:r>
              <a:rPr lang="zh-CN" altLang="zh-CN" sz="1600" dirty="0">
                <a:solidFill>
                  <a:srgbClr val="FF0000"/>
                </a:solidFill>
                <a:sym typeface="+mn-ea"/>
              </a:rPr>
              <a:t>按具有相同左部的原则分组</a:t>
            </a:r>
            <a:endParaRPr lang="zh-CN" altLang="zh-CN" sz="1600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2230" y="1995805"/>
            <a:ext cx="1466215" cy="404495"/>
          </a:xfrm>
        </p:spPr>
        <p:txBody>
          <a:bodyPr/>
          <a:p>
            <a:pPr marL="0" indent="0">
              <a:buNone/>
            </a:pPr>
            <a:r>
              <a:rPr lang="zh-CN" altLang="en-US" sz="2000"/>
              <a:t>公理系统</a:t>
            </a:r>
            <a:endParaRPr lang="zh-CN" altLang="en-US" sz="2000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795645" y="3004185"/>
            <a:ext cx="2148840" cy="7137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 sz="1800"/>
              <a:t>模式分解理论</a:t>
            </a:r>
            <a:endParaRPr lang="zh-CN" altLang="en-US" sz="1800"/>
          </a:p>
        </p:txBody>
      </p:sp>
      <p:sp>
        <p:nvSpPr>
          <p:cNvPr id="6" name="矩形 5"/>
          <p:cNvSpPr/>
          <p:nvPr/>
        </p:nvSpPr>
        <p:spPr>
          <a:xfrm>
            <a:off x="179705" y="1347470"/>
            <a:ext cx="1151890" cy="431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R(U,F)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548130" y="1347470"/>
            <a:ext cx="749935" cy="431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求</a:t>
            </a: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F+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3667125" y="4083685"/>
            <a:ext cx="1151890" cy="431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算法</a:t>
            </a: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6.2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流程图: 决策 8"/>
          <p:cNvSpPr/>
          <p:nvPr/>
        </p:nvSpPr>
        <p:spPr>
          <a:xfrm>
            <a:off x="2700020" y="987425"/>
            <a:ext cx="3025140" cy="1162685"/>
          </a:xfrm>
          <a:prstGeom prst="flowChartDecision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规范化程度满足</a:t>
            </a: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要求？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流程图: 决策 9"/>
          <p:cNvSpPr/>
          <p:nvPr>
            <p:custDataLst>
              <p:tags r:id="rId4"/>
            </p:custDataLst>
          </p:nvPr>
        </p:nvSpPr>
        <p:spPr>
          <a:xfrm>
            <a:off x="2755265" y="2643505"/>
            <a:ext cx="2946400" cy="1162685"/>
          </a:xfrm>
          <a:prstGeom prst="flowChartDecision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是否要求保持函数</a:t>
            </a: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依赖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2" name="直接箭头连接符 11"/>
          <p:cNvCxnSpPr>
            <a:stCxn id="6" idx="3"/>
            <a:endCxn id="7" idx="1"/>
          </p:cNvCxnSpPr>
          <p:nvPr/>
        </p:nvCxnSpPr>
        <p:spPr>
          <a:xfrm>
            <a:off x="1331595" y="1563370"/>
            <a:ext cx="216535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3" name="直接箭头连接符 12"/>
          <p:cNvCxnSpPr/>
          <p:nvPr>
            <p:custDataLst>
              <p:tags r:id="rId5"/>
            </p:custDataLst>
          </p:nvPr>
        </p:nvCxnSpPr>
        <p:spPr>
          <a:xfrm>
            <a:off x="2298065" y="1563370"/>
            <a:ext cx="401955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4" name="直接箭头连接符 13"/>
          <p:cNvCxnSpPr>
            <a:stCxn id="9" idx="2"/>
            <a:endCxn id="10" idx="0"/>
          </p:cNvCxnSpPr>
          <p:nvPr>
            <p:custDataLst>
              <p:tags r:id="rId6"/>
            </p:custDataLst>
          </p:nvPr>
        </p:nvCxnSpPr>
        <p:spPr>
          <a:xfrm>
            <a:off x="4212590" y="2150110"/>
            <a:ext cx="15875" cy="49339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5" name="直接箭头连接符 14"/>
          <p:cNvCxnSpPr>
            <a:stCxn id="10" idx="2"/>
            <a:endCxn id="8" idx="0"/>
          </p:cNvCxnSpPr>
          <p:nvPr>
            <p:custDataLst>
              <p:tags r:id="rId7"/>
            </p:custDataLst>
          </p:nvPr>
        </p:nvCxnSpPr>
        <p:spPr>
          <a:xfrm>
            <a:off x="4228465" y="3806190"/>
            <a:ext cx="14605" cy="27749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6" name="内容占位符 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796280" y="1131570"/>
            <a:ext cx="2148840" cy="7137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 sz="1800"/>
              <a:t>规范化理论</a:t>
            </a:r>
            <a:endParaRPr lang="zh-CN" altLang="en-US" sz="1800"/>
          </a:p>
        </p:txBody>
      </p:sp>
    </p:spTree>
  </p:cSld>
  <p:clrMapOvr>
    <a:masterClrMapping/>
  </p:clrMapOvr>
  <p:transition spd="slow">
    <p:wipe dir="d"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ABLE_ENDDRAG_ORIGIN_RECT" val="357*104"/>
  <p:tag name="TABLE_ENDDRAG_RECT" val="13*77*357*104"/>
</p:tagLst>
</file>

<file path=ppt/tags/tag3.xml><?xml version="1.0" encoding="utf-8"?>
<p:tagLst xmlns:p="http://schemas.openxmlformats.org/presentationml/2006/main">
  <p:tag name="TABLE_ENDDRAG_ORIGIN_RECT" val="341*140"/>
  <p:tag name="TABLE_ENDDRAG_RECT" val="278*234*341*140"/>
</p:tagLst>
</file>

<file path=ppt/tags/tag4.xml><?xml version="1.0" encoding="utf-8"?>
<p:tagLst xmlns:p="http://schemas.openxmlformats.org/presentationml/2006/main">
  <p:tag name="TABLE_ENDDRAG_ORIGIN_RECT" val="341*140"/>
  <p:tag name="TABLE_ENDDRAG_RECT" val="278*234*341*140"/>
</p:tagLst>
</file>

<file path=ppt/tags/tag5.xml><?xml version="1.0" encoding="utf-8"?>
<p:tagLst xmlns:p="http://schemas.openxmlformats.org/presentationml/2006/main">
  <p:tag name="TABLE_ENDDRAG_ORIGIN_RECT" val="341*140"/>
  <p:tag name="TABLE_ENDDRAG_RECT" val="278*234*341*140"/>
  <p:tag name="KSO_WM_BEAUTIFY_FLAG" val=""/>
</p:tagLst>
</file>

<file path=ppt/tags/tag6.xml><?xml version="1.0" encoding="utf-8"?>
<p:tagLst xmlns:p="http://schemas.openxmlformats.org/presentationml/2006/main">
  <p:tag name="TABLE_ENDDRAG_ORIGIN_RECT" val="341*140"/>
  <p:tag name="TABLE_ENDDRAG_RECT" val="278*234*341*140"/>
  <p:tag name="KSO_WM_BEAUTIFY_FLAG" val=""/>
</p:tagLst>
</file>

<file path=ppt/tags/tag7.xml><?xml version="1.0" encoding="utf-8"?>
<p:tagLst xmlns:p="http://schemas.openxmlformats.org/presentationml/2006/main">
  <p:tag name="TABLE_ENDDRAG_ORIGIN_RECT" val="341*140"/>
  <p:tag name="TABLE_ENDDRAG_RECT" val="278*234*341*140"/>
  <p:tag name="KSO_WM_BEAUTIFY_FLAG" val=""/>
</p:tagLst>
</file>

<file path=ppt/tags/tag8.xml><?xml version="1.0" encoding="utf-8"?>
<p:tagLst xmlns:p="http://schemas.openxmlformats.org/presentationml/2006/main">
  <p:tag name="TABLE_ENDDRAG_ORIGIN_RECT" val="341*140"/>
  <p:tag name="TABLE_ENDDRAG_RECT" val="278*234*341*140"/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commondata" val="eyJoZGlkIjoiYzFiMmY5NjgwNzk1ZWQ4YjczNmJjOGRhMTg3Mzg1NjcifQ=="/>
</p:tagLst>
</file>

<file path=ppt/theme/theme1.xml><?xml version="1.0" encoding="utf-8"?>
<a:theme xmlns:a="http://schemas.openxmlformats.org/drawingml/2006/main" name="数据库系统概论">
  <a:themeElements>
    <a:clrScheme name="活力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数据库系统概论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8353</Words>
  <Application>WPS 演示</Application>
  <PresentationFormat>全屏显示(16:9)</PresentationFormat>
  <Paragraphs>679</Paragraphs>
  <Slides>61</Slides>
  <Notes>9</Notes>
  <HiddenSlides>3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61</vt:i4>
      </vt:variant>
    </vt:vector>
  </HeadingPairs>
  <TitlesOfParts>
    <vt:vector size="80" baseType="lpstr">
      <vt:lpstr>Arial</vt:lpstr>
      <vt:lpstr>宋体</vt:lpstr>
      <vt:lpstr>Wingdings</vt:lpstr>
      <vt:lpstr>Calibri</vt:lpstr>
      <vt:lpstr>Times New Roman</vt:lpstr>
      <vt:lpstr>黑体</vt:lpstr>
      <vt:lpstr>Times-Roman</vt:lpstr>
      <vt:lpstr>隶书</vt:lpstr>
      <vt:lpstr>Monotype Sorts</vt:lpstr>
      <vt:lpstr>Wingdings</vt:lpstr>
      <vt:lpstr>Symbol</vt:lpstr>
      <vt:lpstr>微软雅黑</vt:lpstr>
      <vt:lpstr>Arial Unicode MS</vt:lpstr>
      <vt:lpstr>Arial</vt:lpstr>
      <vt:lpstr>Cambria Math</vt:lpstr>
      <vt:lpstr>数据库系统概论</vt:lpstr>
      <vt:lpstr>Equation.3</vt:lpstr>
      <vt:lpstr>Equation.3</vt:lpstr>
      <vt:lpstr>Equation.3</vt:lpstr>
      <vt:lpstr>PowerPoint 演示文稿</vt:lpstr>
      <vt:lpstr>第六章 关系数据理论</vt:lpstr>
      <vt:lpstr>6.3  数据依赖的公理系统</vt:lpstr>
      <vt:lpstr>6.3  数据依赖的公理系统</vt:lpstr>
      <vt:lpstr>1.  Armstrong公理系统</vt:lpstr>
      <vt:lpstr>2. 导出规则</vt:lpstr>
      <vt:lpstr>3.函数依赖闭包</vt:lpstr>
      <vt:lpstr>F的闭包</vt:lpstr>
      <vt:lpstr>3. 函数依赖闭包</vt:lpstr>
      <vt:lpstr>3.函数依赖闭包</vt:lpstr>
      <vt:lpstr>3.函数依赖闭包 </vt:lpstr>
      <vt:lpstr>3.函数依赖闭包</vt:lpstr>
      <vt:lpstr>XF+ 的用处：证明Armstrong公理</vt:lpstr>
      <vt:lpstr> </vt:lpstr>
      <vt:lpstr>求R的候选码</vt:lpstr>
      <vt:lpstr>练习：</vt:lpstr>
      <vt:lpstr>练习</vt:lpstr>
      <vt:lpstr> </vt:lpstr>
      <vt:lpstr> </vt:lpstr>
      <vt:lpstr> </vt:lpstr>
      <vt:lpstr>从逻辑蕴涵到推导</vt:lpstr>
      <vt:lpstr>4. Armstrong公理系统的有效性与完备性</vt:lpstr>
      <vt:lpstr>4. Armstrong公理系统的有效性与完备性</vt:lpstr>
      <vt:lpstr>4. Armstrong公理系统的有效性与完备性</vt:lpstr>
      <vt:lpstr>4. Armstrong公理系统的有效性与完备性</vt:lpstr>
      <vt:lpstr>4. Armstrong公理系统的有效性与完备性</vt:lpstr>
      <vt:lpstr>4. Armstrong公理系统的有效性与完备性</vt:lpstr>
      <vt:lpstr>4. Armstrong公理系统的有效性与完备性</vt:lpstr>
      <vt:lpstr>4. Armstrong公理系统的有效性与完备性</vt:lpstr>
      <vt:lpstr>5. 函数依赖集等价</vt:lpstr>
      <vt:lpstr>5. 函数依赖集等价</vt:lpstr>
      <vt:lpstr>5. 函数依赖集等价</vt:lpstr>
      <vt:lpstr>6. 最小依赖集</vt:lpstr>
      <vt:lpstr>6. 最小依赖集</vt:lpstr>
      <vt:lpstr>7. 极小化过程</vt:lpstr>
      <vt:lpstr>7. 极小化过程</vt:lpstr>
      <vt:lpstr>7. 极小化过程</vt:lpstr>
      <vt:lpstr>7. 极小化过程</vt:lpstr>
      <vt:lpstr>7. 极小化过程</vt:lpstr>
      <vt:lpstr>求最小函数依赖集</vt:lpstr>
      <vt:lpstr>求最小函数依赖集</vt:lpstr>
      <vt:lpstr>极小化过程</vt:lpstr>
      <vt:lpstr>极小化过程</vt:lpstr>
      <vt:lpstr>习题</vt:lpstr>
      <vt:lpstr>使用定理6.3求F 的最小等价依赖集</vt:lpstr>
      <vt:lpstr>课后思考题</vt:lpstr>
      <vt:lpstr>第六章 关系数据理论</vt:lpstr>
      <vt:lpstr>6.4 保持函数依赖的模式分解</vt:lpstr>
      <vt:lpstr>模式分解的定义</vt:lpstr>
      <vt:lpstr>练习</vt:lpstr>
      <vt:lpstr>模式分解的定义（续）</vt:lpstr>
      <vt:lpstr>模式分解的定义（续）</vt:lpstr>
      <vt:lpstr>6.4 保持函数依赖的模式分解</vt:lpstr>
      <vt:lpstr>分解的无损连接性和保持函数依赖性（续）</vt:lpstr>
      <vt:lpstr>保持函数依赖</vt:lpstr>
      <vt:lpstr>练习</vt:lpstr>
      <vt:lpstr>解析</vt:lpstr>
      <vt:lpstr>6.4 保持函数依赖的模式分解</vt:lpstr>
      <vt:lpstr>算法 6.2（合成法） </vt:lpstr>
      <vt:lpstr>例子&amp;练习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LENOVO</dc:creator>
  <cp:lastModifiedBy>陈晋川</cp:lastModifiedBy>
  <cp:revision>675</cp:revision>
  <dcterms:created xsi:type="dcterms:W3CDTF">2023-11-01T13:12:00Z</dcterms:created>
  <dcterms:modified xsi:type="dcterms:W3CDTF">2024-11-18T12:58:05Z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5FAC563CF956496790F83FF45DEC4565_12</vt:lpwstr>
  </property>
  <property fmtid="{D5CDD505-2E9C-101B-9397-08002B2CF9AE}" pid="3" name="KSOProductBuildVer">
    <vt:lpwstr>2052-12.1.0.18608</vt:lpwstr>
  </property>
</Properties>
</file>