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sldIdLst>
    <p:sldId id="1149" r:id="rId6"/>
    <p:sldId id="390" r:id="rId8"/>
    <p:sldId id="391" r:id="rId9"/>
    <p:sldId id="392" r:id="rId10"/>
    <p:sldId id="488" r:id="rId11"/>
    <p:sldId id="502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93" r:id="rId22"/>
    <p:sldId id="492" r:id="rId23"/>
    <p:sldId id="497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504" r:id="rId35"/>
    <p:sldId id="419" r:id="rId36"/>
    <p:sldId id="420" r:id="rId37"/>
    <p:sldId id="421" r:id="rId38"/>
    <p:sldId id="422" r:id="rId39"/>
    <p:sldId id="505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94" r:id="rId48"/>
    <p:sldId id="430" r:id="rId49"/>
    <p:sldId id="431" r:id="rId50"/>
    <p:sldId id="432" r:id="rId51"/>
    <p:sldId id="433" r:id="rId52"/>
    <p:sldId id="506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  <p:sldId id="443" r:id="rId62"/>
  </p:sldIdLst>
  <p:sldSz cx="12192000" cy="6858000"/>
  <p:notesSz cx="6833870" cy="9979025"/>
  <p:custDataLst>
    <p:tags r:id="rId6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冯 盛世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94648"/>
  </p:normalViewPr>
  <p:slideViewPr>
    <p:cSldViewPr snapToObjects="1" showGuides="1">
      <p:cViewPr varScale="1">
        <p:scale>
          <a:sx n="69" d="100"/>
          <a:sy n="69" d="100"/>
        </p:scale>
        <p:origin x="888" y="60"/>
      </p:cViewPr>
      <p:guideLst>
        <p:guide orient="horz" pos="2166"/>
        <p:guide pos="3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7" Type="http://schemas.openxmlformats.org/officeDocument/2006/relationships/tags" Target="tags/tag1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D74650C5-ABCB-9449-B7C4-7FC74A0CA88B}" type="datetimeFigureOut">
              <a:rPr lang="zh-CN" altLang="en-US"/>
            </a:fld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EF1CA65C-4106-954D-B1BB-0DB537C3784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A17210-5790-FA49-B080-CADCE14A444D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410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615614" y="2232898"/>
            <a:ext cx="1096076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4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4511824" y="5733256"/>
            <a:ext cx="376750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  <a:endParaRPr lang="zh-CN" altLang="en-US" sz="2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54269" y="4293096"/>
            <a:ext cx="95703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 关系数据库标准语言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endParaRPr lang="en-US" altLang="zh-CN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4"/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第三章</a:t>
            </a:r>
            <a:r>
              <a:rPr lang="zh-CN" altLang="en-US" sz="3600">
                <a:ea typeface="黑体" panose="02010609060101010101" pitchFamily="49" charset="-122"/>
              </a:rPr>
              <a:t>  </a:t>
            </a:r>
            <a:r>
              <a:rPr lang="zh-CN" altLang="en-US" sz="3600"/>
              <a:t>关系数据库标准语言</a:t>
            </a:r>
            <a:r>
              <a:rPr lang="en-US" altLang="zh-CN" sz="3600">
                <a:ea typeface="黑体" panose="02010609060101010101" pitchFamily="49" charset="-122"/>
              </a:rPr>
              <a:t>SQL</a:t>
            </a:r>
            <a:endParaRPr lang="en-US" altLang="zh-CN" sz="3600">
              <a:ea typeface="黑体" panose="02010609060101010101" pitchFamily="49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95550" y="1387488"/>
            <a:ext cx="6508750" cy="49942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66FF"/>
                </a:solidFill>
              </a:rPr>
              <a:t>3.1 SQL</a:t>
            </a:r>
            <a:r>
              <a:rPr lang="zh-CN" altLang="en-US">
                <a:solidFill>
                  <a:srgbClr val="0066FF"/>
                </a:solidFill>
              </a:rPr>
              <a:t>概述</a:t>
            </a:r>
            <a:endParaRPr lang="en-US" altLang="zh-CN">
              <a:solidFill>
                <a:srgbClr val="0066FF"/>
              </a:solidFill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3.2 </a:t>
            </a:r>
            <a:r>
              <a:rPr lang="zh-CN" altLang="en-US"/>
              <a:t>数据定义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3.3 </a:t>
            </a:r>
            <a:r>
              <a:rPr lang="zh-CN" altLang="en-US"/>
              <a:t>数据查询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3.4 </a:t>
            </a:r>
            <a:r>
              <a:rPr lang="zh-CN" altLang="en-US"/>
              <a:t>数据更新</a:t>
            </a:r>
            <a:endParaRPr lang="zh-CN" altLang="en-US" sz="320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3.5 </a:t>
            </a:r>
            <a:r>
              <a:rPr lang="zh-CN" altLang="en-US"/>
              <a:t>空值的处理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3.6 </a:t>
            </a:r>
            <a:r>
              <a:rPr lang="zh-CN" altLang="en-US"/>
              <a:t>视图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3.7 </a:t>
            </a:r>
            <a:r>
              <a:rPr lang="zh-CN" altLang="en-US"/>
              <a:t>小结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  <a:endParaRPr lang="zh-CN" altLang="en-US" sz="360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13" y="1412875"/>
            <a:ext cx="8435975" cy="4495800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/>
              <a:t>SQL</a:t>
            </a:r>
            <a:r>
              <a:rPr lang="zh-CN" altLang="en-US"/>
              <a:t>（</a:t>
            </a:r>
            <a:r>
              <a:rPr lang="en-US" altLang="zh-CN"/>
              <a:t>Structured Query Language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/>
              <a:t>    结构化查询语言，是关系数据库的标准语言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包括数据查询、数据库模式创建、数据库数据的增删改、数据库安全性和完整性定义与控制等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4"/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9219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概述（续）</a:t>
            </a:r>
            <a:endParaRPr lang="zh-CN" altLang="en-US" sz="3600"/>
          </a:p>
        </p:txBody>
      </p:sp>
      <p:sp>
        <p:nvSpPr>
          <p:cNvPr id="9220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2351088" y="1339863"/>
            <a:ext cx="7859712" cy="4854575"/>
          </a:xfrm>
        </p:spPr>
        <p:txBody>
          <a:bodyPr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3.1.1  SQL </a:t>
            </a:r>
            <a:r>
              <a:rPr lang="zh-CN" altLang="en-US">
                <a:solidFill>
                  <a:srgbClr val="00B050"/>
                </a:solidFill>
              </a:rPr>
              <a:t>的产生与发展</a:t>
            </a:r>
            <a:endParaRPr lang="zh-CN" altLang="en-US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/>
              <a:t>3.1.2  SQL</a:t>
            </a:r>
            <a:r>
              <a:rPr lang="zh-CN" altLang="en-US"/>
              <a:t>的特点</a:t>
            </a:r>
            <a:endParaRPr lang="zh-CN" altLang="en-US"/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/>
              <a:t>3.1.3  SQL</a:t>
            </a:r>
            <a:r>
              <a:rPr lang="zh-CN" altLang="en-US"/>
              <a:t>语言的基本概念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3.1.1 SQL</a:t>
            </a:r>
            <a:r>
              <a:rPr lang="zh-CN" altLang="en-US" sz="3600"/>
              <a:t>的产生与发展</a:t>
            </a:r>
            <a:endParaRPr lang="zh-CN" altLang="en-US" sz="36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87488" y="1412887"/>
          <a:ext cx="9361039" cy="3675065"/>
        </p:xfrm>
        <a:graphic>
          <a:graphicData uri="http://schemas.openxmlformats.org/drawingml/2006/table">
            <a:tbl>
              <a:tblPr/>
              <a:tblGrid>
                <a:gridCol w="2707477"/>
                <a:gridCol w="1262747"/>
                <a:gridCol w="1348168"/>
                <a:gridCol w="1517153"/>
                <a:gridCol w="1262747"/>
                <a:gridCol w="1262747"/>
              </a:tblGrid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大致页数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大致页数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SQL/86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1986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2003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3 600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2003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SQL/89(FIPS 127-1)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2008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3 777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2008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SQL/92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622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2011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3817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2011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3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1700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SQL2016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4035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2016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03613" y="5472113"/>
            <a:ext cx="4813300" cy="2984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1550"/>
              </a:lnSpc>
              <a:spcBef>
                <a:spcPts val="400"/>
              </a:spcBef>
              <a:spcAft>
                <a:spcPts val="300"/>
              </a:spcAft>
            </a:pPr>
            <a:r>
              <a:rPr lang="zh-CN" altLang="zh-CN" sz="1600" b="1"/>
              <a:t>表</a:t>
            </a:r>
            <a:r>
              <a:rPr lang="en-US" altLang="zh-CN" sz="1600" b="1"/>
              <a:t>3.1  SQL</a:t>
            </a:r>
            <a:r>
              <a:rPr lang="zh-CN" altLang="zh-CN" sz="1600" b="1"/>
              <a:t>标准的发展过程</a:t>
            </a:r>
            <a:endParaRPr lang="zh-CN" altLang="zh-CN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SQL</a:t>
            </a:r>
            <a:r>
              <a:rPr lang="zh-CN" altLang="en-US" sz="3600"/>
              <a:t>的产生与发展（续）</a:t>
            </a:r>
            <a:endParaRPr lang="zh-CN" altLang="en-US" sz="3600"/>
          </a:p>
        </p:txBody>
      </p:sp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1649412" y="5588807"/>
            <a:ext cx="889317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目前，</a:t>
            </a:r>
            <a:r>
              <a:rPr lang="zh-CN" altLang="en-US" sz="2400" dirty="0">
                <a:solidFill>
                  <a:srgbClr val="C00000"/>
                </a:solidFill>
              </a:rPr>
              <a:t>没有一个</a:t>
            </a:r>
            <a:r>
              <a:rPr lang="en-US" altLang="zh-CN" sz="2400" dirty="0">
                <a:solidFill>
                  <a:srgbClr val="C00000"/>
                </a:solidFill>
              </a:rPr>
              <a:t>RDBMS</a:t>
            </a:r>
            <a:r>
              <a:rPr lang="zh-CN" altLang="en-US" sz="2400" dirty="0">
                <a:solidFill>
                  <a:srgbClr val="C00000"/>
                </a:solidFill>
              </a:rPr>
              <a:t>能够支持</a:t>
            </a:r>
            <a:r>
              <a:rPr lang="en-US" altLang="zh-CN" sz="2400" dirty="0">
                <a:solidFill>
                  <a:srgbClr val="C00000"/>
                </a:solidFill>
              </a:rPr>
              <a:t>SQL</a:t>
            </a:r>
            <a:r>
              <a:rPr lang="zh-CN" altLang="en-US" sz="2400" dirty="0">
                <a:solidFill>
                  <a:srgbClr val="C00000"/>
                </a:solidFill>
              </a:rPr>
              <a:t>标准的所有概念和特性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3432" y="1022783"/>
            <a:ext cx="102971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SQL/86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SQL/89</a:t>
            </a:r>
            <a:r>
              <a:rPr lang="zh-CN" altLang="en-US" sz="2400" b="1" dirty="0"/>
              <a:t>是单个文档。</a:t>
            </a:r>
            <a:endParaRPr lang="zh-CN" altLang="en-US" sz="2400" b="1" dirty="0"/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SQL/92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 99</a:t>
            </a:r>
            <a:r>
              <a:rPr lang="zh-CN" altLang="en-US" sz="2400" b="1" dirty="0"/>
              <a:t>扩展为一系列开放的部分。例如，</a:t>
            </a:r>
            <a:r>
              <a:rPr lang="en-US" altLang="zh-CN" sz="2400" b="1" dirty="0"/>
              <a:t>SQL/92</a:t>
            </a:r>
            <a:r>
              <a:rPr lang="zh-CN" altLang="en-US" sz="2400" b="1" dirty="0"/>
              <a:t>增加了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永久存储模块；</a:t>
            </a:r>
            <a:endParaRPr lang="zh-CN" altLang="en-US" sz="2400" b="1" dirty="0"/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SQL 99</a:t>
            </a:r>
            <a:r>
              <a:rPr lang="zh-CN" altLang="en-US" sz="2400" b="1" dirty="0"/>
              <a:t>扩展为框架、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基础部分、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宿主语言绑定、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外部数据的管理和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对象语言绑定等</a:t>
            </a:r>
            <a:endParaRPr lang="zh-CN" altLang="en-US" sz="2400" b="1" dirty="0"/>
          </a:p>
          <a:p>
            <a:pPr lvl="1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n"/>
            </a:pPr>
            <a:r>
              <a:rPr lang="en-US" altLang="zh-CN" sz="2400" b="1" dirty="0"/>
              <a:t>SQL2016</a:t>
            </a:r>
            <a:r>
              <a:rPr lang="zh-CN" altLang="en-US" sz="2400" b="1" dirty="0"/>
              <a:t>扩展到了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个部分，引入</a:t>
            </a:r>
            <a:r>
              <a:rPr lang="en-US" altLang="zh-CN" sz="2400" b="1" dirty="0"/>
              <a:t>XML</a:t>
            </a:r>
            <a:r>
              <a:rPr lang="zh-CN" altLang="en-US" sz="2400" b="1" dirty="0"/>
              <a:t>类型、</a:t>
            </a:r>
            <a:r>
              <a:rPr lang="en-US" altLang="zh-CN" sz="2400" b="1" dirty="0"/>
              <a:t>Window</a:t>
            </a:r>
            <a:r>
              <a:rPr lang="zh-CN" altLang="en-US" sz="2400" b="1" dirty="0"/>
              <a:t>函数、</a:t>
            </a:r>
            <a:r>
              <a:rPr lang="en-US" altLang="zh-CN" sz="2400" b="1" dirty="0"/>
              <a:t>TRUNCATE</a:t>
            </a:r>
            <a:r>
              <a:rPr lang="zh-CN" altLang="en-US" sz="2400" b="1" dirty="0"/>
              <a:t>操作、时序数据以及</a:t>
            </a:r>
            <a:r>
              <a:rPr lang="en-US" altLang="zh-CN" sz="2400" b="1" dirty="0"/>
              <a:t>JSON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JavaScript Object Notation</a:t>
            </a:r>
            <a:r>
              <a:rPr lang="zh-CN" altLang="en-US" sz="2400" b="1" dirty="0"/>
              <a:t>）类型等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  <a:endParaRPr lang="zh-CN" altLang="en-US" sz="3600"/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2208226" y="1339863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3.1.1  SQL </a:t>
            </a:r>
            <a:r>
              <a:rPr lang="zh-CN" altLang="en-US"/>
              <a:t>的产生与发展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3.1.2  SQL</a:t>
            </a:r>
            <a:r>
              <a:rPr lang="zh-CN" altLang="en-US">
                <a:solidFill>
                  <a:srgbClr val="00B050"/>
                </a:solidFill>
              </a:rPr>
              <a:t>的特点</a:t>
            </a:r>
            <a:endParaRPr lang="zh-CN" altLang="en-US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3.1.3  SQL</a:t>
            </a:r>
            <a:r>
              <a:rPr lang="zh-CN" altLang="en-US"/>
              <a:t>语言的基本概念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3.1.2 SQL</a:t>
            </a:r>
            <a:r>
              <a:rPr lang="zh-CN" altLang="en-US" sz="3600"/>
              <a:t>的特点</a:t>
            </a:r>
            <a:endParaRPr lang="zh-CN" altLang="en-US" sz="36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3432" y="1098550"/>
            <a:ext cx="10369152" cy="53546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dirty="0"/>
              <a:t>1.</a:t>
            </a:r>
            <a:r>
              <a:rPr lang="zh-CN" altLang="en-US" dirty="0"/>
              <a:t>综合统一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集数据定义语言（</a:t>
            </a:r>
            <a:r>
              <a:rPr lang="en-US" altLang="zh-CN" dirty="0"/>
              <a:t>DDL</a:t>
            </a:r>
            <a:r>
              <a:rPr lang="zh-CN" altLang="en-US" dirty="0"/>
              <a:t>），数据操纵语言（</a:t>
            </a:r>
            <a:r>
              <a:rPr lang="en-US" altLang="zh-CN" dirty="0"/>
              <a:t>DML</a:t>
            </a:r>
            <a:r>
              <a:rPr lang="zh-CN" altLang="en-US" dirty="0"/>
              <a:t>），数据控制语言（</a:t>
            </a:r>
            <a:r>
              <a:rPr lang="en-US" altLang="zh-CN" dirty="0"/>
              <a:t>DCL</a:t>
            </a:r>
            <a:r>
              <a:rPr lang="zh-CN" altLang="en-US" dirty="0"/>
              <a:t>）功能于一体。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可以独立完成数据库生命周期中的全部活动：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创建和删除数据库模式</a:t>
            </a:r>
            <a:r>
              <a:rPr lang="en-US" altLang="zh-CN" sz="2200" dirty="0"/>
              <a:t> (DDL)</a:t>
            </a:r>
            <a:endParaRPr lang="zh-CN" altLang="zh-CN" sz="2200" dirty="0"/>
          </a:p>
          <a:p>
            <a:pPr lvl="2" eaLnBrk="1" hangingPunct="1">
              <a:lnSpc>
                <a:spcPct val="9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创建基本表，创建视图</a:t>
            </a:r>
            <a:r>
              <a:rPr lang="en-US" altLang="zh-CN" sz="2200" dirty="0"/>
              <a:t> (DDL)</a:t>
            </a:r>
            <a:endParaRPr lang="zh-CN" altLang="zh-CN" sz="2200" dirty="0"/>
          </a:p>
          <a:p>
            <a:pPr lvl="2" eaLnBrk="1" hangingPunct="1">
              <a:lnSpc>
                <a:spcPct val="9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使用数据库，包括查询和增删改数据、事务处理等</a:t>
            </a:r>
            <a:r>
              <a:rPr lang="en-US" altLang="zh-CN" sz="2200" dirty="0"/>
              <a:t> (DML)</a:t>
            </a:r>
            <a:endParaRPr lang="zh-CN" altLang="zh-CN" sz="2200" dirty="0"/>
          </a:p>
          <a:p>
            <a:pPr lvl="2" eaLnBrk="1" hangingPunct="1">
              <a:lnSpc>
                <a:spcPct val="9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数据库控制，包括安全性控制、完整性控制和并发控制等</a:t>
            </a:r>
            <a:r>
              <a:rPr lang="en-US" altLang="zh-CN" sz="2200" dirty="0"/>
              <a:t> (DCL)</a:t>
            </a:r>
            <a:endParaRPr lang="zh-CN" altLang="zh-CN" sz="2200" dirty="0"/>
          </a:p>
          <a:p>
            <a:pPr lvl="2" eaLnBrk="1" hangingPunct="1">
              <a:lnSpc>
                <a:spcPct val="9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数据库维护和重构，如修改和删除基本表、数据库备份与恢复等</a:t>
            </a:r>
            <a:r>
              <a:rPr lang="en-US" altLang="zh-CN" sz="2200" dirty="0"/>
              <a:t> </a:t>
            </a:r>
            <a:endParaRPr lang="zh-CN" altLang="en-US" sz="2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用户在数据库投入运行后，可根据需要随时逐步修改模式，不影响数据库整体运行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数据操作符统一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  <a:endParaRPr lang="zh-CN" altLang="en-US" sz="360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1196988"/>
            <a:ext cx="9937104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高度非过程化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层次、网状模型的数据操纵语言“</a:t>
            </a:r>
            <a:r>
              <a:rPr lang="zh-CN" altLang="en-US" dirty="0">
                <a:solidFill>
                  <a:srgbClr val="FF00FF"/>
                </a:solidFill>
              </a:rPr>
              <a:t>面向过程</a:t>
            </a:r>
            <a:r>
              <a:rPr lang="zh-CN" altLang="en-US" dirty="0"/>
              <a:t>”，必须指定存取路径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只要提出“做什么”，无须了解存取路径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存取路径的选择以及</a:t>
            </a:r>
            <a:r>
              <a:rPr lang="en-US" altLang="zh-CN" dirty="0"/>
              <a:t>SQL</a:t>
            </a:r>
            <a:r>
              <a:rPr lang="zh-CN" altLang="en-US" dirty="0"/>
              <a:t>的操作过程由系统自动完成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  <a:endParaRPr lang="zh-CN" altLang="en-US" sz="3600"/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1098550"/>
            <a:ext cx="9649072" cy="5226050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面向集合的操作方式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层次、网状模型采用面向记录的操作方式，操作对象是一条记录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采用集合操作方式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 操作对象、查找结果可以是元组的集合</a:t>
            </a:r>
            <a:endParaRPr lang="zh-CN" altLang="en-US" sz="2200" dirty="0"/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 一次插入、删除、更新操作的对象也可以是元组的集合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  <a:endParaRPr lang="zh-CN" altLang="en-US" sz="3600"/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1339857"/>
            <a:ext cx="10382944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以统一</a:t>
            </a:r>
            <a:r>
              <a:rPr lang="zh-CN" altLang="en-US" dirty="0"/>
              <a:t>的语法结构提供多种使用方式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是独立的语言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能够独立地用于联机交互的使用方式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又是嵌入式语言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SQL</a:t>
            </a:r>
            <a:r>
              <a:rPr lang="zh-CN" altLang="en-US" dirty="0"/>
              <a:t>能够嵌入到高级语言（例如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  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Python</a:t>
            </a:r>
            <a:r>
              <a:rPr lang="zh-CN" altLang="en-US" dirty="0"/>
              <a:t>）程序中，供程序员设计程序时使用</a:t>
            </a:r>
            <a:endParaRPr lang="zh-CN" altLang="en-US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260363"/>
            <a:ext cx="7391400" cy="561975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  <a:endParaRPr lang="zh-CN" altLang="en-US" sz="36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81200" y="1052526"/>
            <a:ext cx="7715250" cy="52720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/>
              <a:t>5.</a:t>
            </a:r>
            <a:r>
              <a:rPr lang="zh-CN" altLang="en-US"/>
              <a:t>语言简洁，易学易用</a:t>
            </a:r>
            <a:endParaRPr lang="en-US" altLang="zh-CN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/>
              <a:t>SQL</a:t>
            </a:r>
            <a:r>
              <a:rPr lang="zh-CN" altLang="en-US"/>
              <a:t>功能极强，完成核心功能只用</a:t>
            </a:r>
            <a:r>
              <a:rPr lang="en-US" altLang="zh-CN"/>
              <a:t>9</a:t>
            </a:r>
            <a:r>
              <a:rPr lang="zh-CN" altLang="en-US"/>
              <a:t>个动词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640026" y="2492375"/>
          <a:ext cx="6192278" cy="2738440"/>
        </p:xfrm>
        <a:graphic>
          <a:graphicData uri="http://schemas.openxmlformats.org/drawingml/2006/table">
            <a:tbl>
              <a:tblPr/>
              <a:tblGrid>
                <a:gridCol w="1823729"/>
                <a:gridCol w="4368549"/>
              </a:tblGrid>
              <a:tr h="554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 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功能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动词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数据定义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数据查询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SELECT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数据操纵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INSERT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UPDATE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DELETE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数据控制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GRANT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REVOKE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  <a:endParaRPr lang="zh-CN" altLang="en-US" sz="360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/>
              <a:t>3.1.1  SQL </a:t>
            </a:r>
            <a:r>
              <a:rPr lang="zh-CN" altLang="en-US"/>
              <a:t>的产生与发展</a:t>
            </a:r>
            <a:endParaRPr lang="zh-CN" altLang="en-US"/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/>
              <a:t>3.1.2  SQL</a:t>
            </a:r>
            <a:r>
              <a:rPr lang="zh-CN" altLang="en-US"/>
              <a:t>的特点</a:t>
            </a:r>
            <a:endParaRPr lang="zh-CN" altLang="en-US"/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3.1.3  SQL</a:t>
            </a:r>
            <a:r>
              <a:rPr lang="zh-CN" altLang="en-US">
                <a:solidFill>
                  <a:srgbClr val="00B050"/>
                </a:solidFill>
              </a:rPr>
              <a:t>语言的基本概念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3.1.3 SQL</a:t>
            </a:r>
            <a:r>
              <a:rPr lang="zh-CN" altLang="en-US" sz="3600"/>
              <a:t>语言的基本概念</a:t>
            </a:r>
            <a:endParaRPr lang="zh-CN" altLang="en-US" sz="3600"/>
          </a:p>
        </p:txBody>
      </p:sp>
      <p:sp>
        <p:nvSpPr>
          <p:cNvPr id="19459" name="Rectangle 1056"/>
          <p:cNvSpPr>
            <a:spLocks noChangeArrowheads="1"/>
          </p:cNvSpPr>
          <p:nvPr/>
        </p:nvSpPr>
        <p:spPr bwMode="auto">
          <a:xfrm>
            <a:off x="1981213" y="1098550"/>
            <a:ext cx="56102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/>
              <a:t>SQL</a:t>
            </a:r>
            <a:r>
              <a:rPr lang="zh-CN" altLang="en-US"/>
              <a:t>对关系数据库三级模式的支持</a:t>
            </a:r>
            <a:endParaRPr lang="zh-CN" altLang="en-US"/>
          </a:p>
        </p:txBody>
      </p:sp>
      <p:pic>
        <p:nvPicPr>
          <p:cNvPr id="1946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866913"/>
            <a:ext cx="7427912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语言的基本概念（续）</a:t>
            </a:r>
            <a:endParaRPr lang="zh-CN" altLang="en-US" sz="36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88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基本表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本身独立存在的表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en-US" altLang="zh-CN"/>
              <a:t>RDBMS</a:t>
            </a:r>
            <a:r>
              <a:rPr lang="zh-CN" altLang="en-US"/>
              <a:t>中一个关系就对应一个基本表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一个或多个基本表对应一个存储文件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一个表可以带若干索引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语言的基本概念（续）</a:t>
            </a:r>
            <a:endParaRPr lang="zh-CN" altLang="en-US" sz="360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75"/>
            <a:ext cx="9283065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存储文件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存储文件</a:t>
            </a:r>
            <a:r>
              <a:rPr lang="zh-CN" altLang="en-US"/>
              <a:t>的逻辑结构和物理结构组成了关系数据库的内模式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>
                <a:sym typeface="+mn-ea"/>
              </a:rPr>
              <a:t>存储文件的</a:t>
            </a:r>
            <a:r>
              <a:rPr lang="zh-CN" altLang="zh-CN"/>
              <a:t>物理结构是由数据库管理系统设计确定的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语言的基本概念（续）</a:t>
            </a:r>
            <a:endParaRPr lang="zh-CN" altLang="en-US" sz="360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88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视图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从基本表或其他视图中导出的表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数据库中只存放视图的定义而不存放视图对应的数据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视图是一个虚表</a:t>
            </a:r>
            <a:endParaRPr lang="zh-CN" altLang="en-US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用户可以在视图上再定义视图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4"/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第三章</a:t>
            </a:r>
            <a:r>
              <a:rPr lang="zh-CN" altLang="en-US" sz="3600">
                <a:ea typeface="黑体" panose="02010609060101010101" pitchFamily="49" charset="-122"/>
              </a:rPr>
              <a:t>  </a:t>
            </a:r>
            <a:r>
              <a:rPr lang="zh-CN" altLang="en-US" sz="3600"/>
              <a:t>关系数据库标准语言</a:t>
            </a:r>
            <a:r>
              <a:rPr lang="en-US" altLang="zh-CN" sz="3600">
                <a:ea typeface="黑体" panose="02010609060101010101" pitchFamily="49" charset="-122"/>
              </a:rPr>
              <a:t>SQL</a:t>
            </a:r>
            <a:endParaRPr lang="en-US" altLang="zh-CN" sz="3600">
              <a:ea typeface="黑体" panose="02010609060101010101" pitchFamily="49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95550" y="1387488"/>
            <a:ext cx="6508750" cy="49942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3.1 SQL</a:t>
            </a:r>
            <a:r>
              <a:rPr lang="zh-CN" altLang="en-US"/>
              <a:t>概述</a:t>
            </a:r>
            <a:endParaRPr lang="en-US" altLang="zh-CN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66FF"/>
                </a:solidFill>
              </a:rPr>
              <a:t>3.2 </a:t>
            </a:r>
            <a:r>
              <a:rPr lang="zh-CN" altLang="en-US">
                <a:solidFill>
                  <a:srgbClr val="0066FF"/>
                </a:solidFill>
              </a:rPr>
              <a:t>数据定义</a:t>
            </a:r>
            <a:endParaRPr lang="zh-CN" altLang="en-US">
              <a:solidFill>
                <a:srgbClr val="0066FF"/>
              </a:solidFill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3.3 </a:t>
            </a:r>
            <a:r>
              <a:rPr lang="zh-CN" altLang="en-US"/>
              <a:t>数据查询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3.4 </a:t>
            </a:r>
            <a:r>
              <a:rPr lang="zh-CN" altLang="en-US"/>
              <a:t>数据更新</a:t>
            </a:r>
            <a:endParaRPr lang="zh-CN" altLang="en-US" sz="3200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3.5 </a:t>
            </a:r>
            <a:r>
              <a:rPr lang="zh-CN" altLang="en-US"/>
              <a:t>空值的处理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3.6 </a:t>
            </a:r>
            <a:r>
              <a:rPr lang="zh-CN" altLang="en-US"/>
              <a:t>视图</a:t>
            </a:r>
            <a:endParaRPr lang="zh-CN" altLang="en-US"/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3.7 </a:t>
            </a:r>
            <a:r>
              <a:rPr lang="zh-CN" altLang="en-US"/>
              <a:t>小结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 </a:t>
            </a:r>
            <a:r>
              <a:rPr lang="zh-CN" altLang="en-US" sz="3600"/>
              <a:t>数据定义 </a:t>
            </a:r>
            <a:endParaRPr lang="zh-CN" altLang="en-US" sz="360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917713" y="1054113"/>
            <a:ext cx="7961313" cy="1895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zh-CN" sz="2800" b="1"/>
              <a:t>SQL</a:t>
            </a:r>
            <a:r>
              <a:rPr lang="zh-CN" altLang="en-US" sz="2800" b="1"/>
              <a:t>的数据定义功能</a:t>
            </a:r>
            <a:r>
              <a:rPr lang="en-US" altLang="zh-CN" sz="2800" b="1"/>
              <a:t>: </a:t>
            </a:r>
            <a:endParaRPr lang="en-US" altLang="zh-CN" sz="28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/>
              <a:t>数据库模式定义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/>
              <a:t>表定义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/>
              <a:t>视图和索引的定义 </a:t>
            </a:r>
            <a:endParaRPr lang="zh-CN" altLang="en-US" sz="2400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81200" y="3159137"/>
          <a:ext cx="8147050" cy="2962275"/>
        </p:xfrm>
        <a:graphic>
          <a:graphicData uri="http://schemas.openxmlformats.org/drawingml/2006/table">
            <a:tbl>
              <a:tblPr/>
              <a:tblGrid>
                <a:gridCol w="1798638"/>
                <a:gridCol w="2171700"/>
                <a:gridCol w="1811337"/>
                <a:gridCol w="2365375"/>
              </a:tblGrid>
              <a:tr h="4826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操作对象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操作方式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4826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创建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数据库模式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*SQL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标准无修改语句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表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视图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索引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*CREATE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*DROP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*ALTER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2940063" y="188913"/>
            <a:ext cx="6105525" cy="563562"/>
          </a:xfrm>
        </p:spPr>
        <p:txBody>
          <a:bodyPr/>
          <a:lstStyle/>
          <a:p>
            <a:pPr eaLnBrk="1" hangingPunct="1"/>
            <a:r>
              <a:rPr lang="zh-CN" altLang="en-US" sz="3600"/>
              <a:t>模式</a:t>
            </a:r>
            <a:endParaRPr lang="zh-CN" altLang="en-US" sz="3600"/>
          </a:p>
        </p:txBody>
      </p:sp>
      <p:sp>
        <p:nvSpPr>
          <p:cNvPr id="26627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909776" y="3573476"/>
            <a:ext cx="8650287" cy="25923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/>
              <a:t>RDBMS</a:t>
            </a:r>
            <a:r>
              <a:rPr lang="zh-CN" altLang="en-US"/>
              <a:t>提供层次化的数据库对象命名机制</a:t>
            </a:r>
            <a:endParaRPr lang="zh-CN" altLang="en-US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一个</a:t>
            </a:r>
            <a:r>
              <a:rPr lang="en-US" altLang="zh-CN"/>
              <a:t>RDBMS</a:t>
            </a:r>
            <a:r>
              <a:rPr lang="zh-CN" altLang="en-US"/>
              <a:t>的实例（</a:t>
            </a:r>
            <a:r>
              <a:rPr lang="en-US" altLang="zh-CN"/>
              <a:t>Instance</a:t>
            </a:r>
            <a:r>
              <a:rPr lang="zh-CN" altLang="en-US"/>
              <a:t>）中可以建立多个数据库</a:t>
            </a:r>
            <a:endParaRPr lang="en-US" altLang="zh-CN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一个数据库中可以建立多个模式</a:t>
            </a:r>
            <a:endParaRPr lang="en-US" altLang="zh-CN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/>
              <a:t>一个模式下通常包括多个表、视图和索引等数据库对象</a:t>
            </a:r>
            <a:endParaRPr lang="zh-CN" altLang="en-US"/>
          </a:p>
        </p:txBody>
      </p:sp>
      <p:sp>
        <p:nvSpPr>
          <p:cNvPr id="26628" name="Rectangle 9"/>
          <p:cNvSpPr>
            <a:spLocks noChangeArrowheads="1"/>
          </p:cNvSpPr>
          <p:nvPr/>
        </p:nvSpPr>
        <p:spPr bwMode="auto">
          <a:xfrm>
            <a:off x="4151313" y="1157301"/>
            <a:ext cx="3529012" cy="2200275"/>
          </a:xfrm>
          <a:prstGeom prst="rect">
            <a:avLst/>
          </a:prstGeom>
          <a:noFill/>
          <a:ln w="9525">
            <a:solidFill>
              <a:srgbClr val="FF5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26629" name="矩形 12"/>
          <p:cNvSpPr>
            <a:spLocks noChangeArrowheads="1"/>
          </p:cNvSpPr>
          <p:nvPr/>
        </p:nvSpPr>
        <p:spPr bwMode="auto">
          <a:xfrm>
            <a:off x="4262451" y="1300163"/>
            <a:ext cx="3921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数据库（有的系统称为目录）</a:t>
            </a:r>
            <a:endParaRPr lang="zh-CN" altLang="en-US" sz="2000"/>
          </a:p>
        </p:txBody>
      </p:sp>
      <p:sp>
        <p:nvSpPr>
          <p:cNvPr id="26630" name="AutoShape 10"/>
          <p:cNvSpPr>
            <a:spLocks noChangeArrowheads="1"/>
          </p:cNvSpPr>
          <p:nvPr/>
        </p:nvSpPr>
        <p:spPr bwMode="auto">
          <a:xfrm>
            <a:off x="5772163" y="1700226"/>
            <a:ext cx="252413" cy="409575"/>
          </a:xfrm>
          <a:prstGeom prst="downArrow">
            <a:avLst>
              <a:gd name="adj1" fmla="val 50000"/>
              <a:gd name="adj2" fmla="val 5826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6631" name="矩形 14"/>
          <p:cNvSpPr>
            <a:spLocks noChangeArrowheads="1"/>
          </p:cNvSpPr>
          <p:nvPr/>
        </p:nvSpPr>
        <p:spPr bwMode="auto">
          <a:xfrm>
            <a:off x="5592763" y="2109788"/>
            <a:ext cx="151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模式</a:t>
            </a:r>
            <a:endParaRPr lang="zh-CN" altLang="en-US" sz="2000"/>
          </a:p>
        </p:txBody>
      </p:sp>
      <p:sp>
        <p:nvSpPr>
          <p:cNvPr id="26632" name="矩形 15"/>
          <p:cNvSpPr>
            <a:spLocks noChangeArrowheads="1"/>
          </p:cNvSpPr>
          <p:nvPr/>
        </p:nvSpPr>
        <p:spPr bwMode="auto">
          <a:xfrm>
            <a:off x="4643451" y="2813050"/>
            <a:ext cx="2605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表以及视图、索引等</a:t>
            </a:r>
            <a:endParaRPr lang="zh-CN" altLang="en-US" sz="2000"/>
          </a:p>
        </p:txBody>
      </p:sp>
      <p:sp>
        <p:nvSpPr>
          <p:cNvPr id="26633" name="AutoShape 10"/>
          <p:cNvSpPr>
            <a:spLocks noChangeArrowheads="1"/>
          </p:cNvSpPr>
          <p:nvPr/>
        </p:nvSpPr>
        <p:spPr bwMode="auto">
          <a:xfrm>
            <a:off x="5808676" y="2473338"/>
            <a:ext cx="249237" cy="411163"/>
          </a:xfrm>
          <a:prstGeom prst="downArrow">
            <a:avLst>
              <a:gd name="adj1" fmla="val 50000"/>
              <a:gd name="adj2" fmla="val 5820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  <a:endParaRPr lang="zh-CN" altLang="en-US" sz="36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3.2.1 </a:t>
            </a:r>
            <a:r>
              <a:rPr lang="zh-CN" altLang="en-US">
                <a:solidFill>
                  <a:srgbClr val="00B050"/>
                </a:solidFill>
              </a:rPr>
              <a:t>模式的定义与删除</a:t>
            </a:r>
            <a:endParaRPr lang="zh-CN" altLang="en-US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3.2.3 </a:t>
            </a:r>
            <a:r>
              <a:rPr lang="zh-CN" altLang="en-US"/>
              <a:t>索引的建立与删除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ym typeface="+mn-ea"/>
              </a:rPr>
              <a:t>3.2.4 </a:t>
            </a:r>
            <a:r>
              <a:rPr lang="zh-CN" altLang="en-US">
                <a:sym typeface="+mn-ea"/>
              </a:rPr>
              <a:t>数据字典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endParaRPr lang="zh-CN" altLang="en-US"/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1. </a:t>
            </a:r>
            <a:r>
              <a:rPr lang="zh-CN" altLang="en-US" sz="3600"/>
              <a:t>定义模式</a:t>
            </a:r>
            <a:endParaRPr lang="zh-CN" altLang="en-US" sz="36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57363" y="1098550"/>
            <a:ext cx="9047163" cy="4495800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[</a:t>
            </a:r>
            <a:r>
              <a:rPr lang="zh-CN" altLang="en-US" sz="2400"/>
              <a:t>例</a:t>
            </a:r>
            <a:r>
              <a:rPr lang="en-US" altLang="zh-CN" sz="2400"/>
              <a:t>3.1] </a:t>
            </a:r>
            <a:r>
              <a:rPr lang="zh-CN" altLang="en-US" sz="2400"/>
              <a:t>为用户</a:t>
            </a:r>
            <a:r>
              <a:rPr lang="en-US" altLang="zh-CN" sz="2400"/>
              <a:t>WANG</a:t>
            </a:r>
            <a:r>
              <a:rPr lang="zh-CN" altLang="en-US" sz="2400"/>
              <a:t>定义一个学生选课模式</a:t>
            </a:r>
            <a:r>
              <a:rPr lang="en-US" altLang="zh-CN" sz="2400"/>
              <a:t>S-C-SC</a:t>
            </a:r>
            <a:endParaRPr lang="en-US" altLang="zh-CN" sz="240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CREATE SCHEMA “S-C-SC” AUTHORIZATION WANG;</a:t>
            </a:r>
            <a:endParaRPr lang="en-US" altLang="zh-CN" sz="240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[</a:t>
            </a:r>
            <a:r>
              <a:rPr lang="zh-CN" altLang="en-US" sz="2400"/>
              <a:t>例</a:t>
            </a:r>
            <a:r>
              <a:rPr lang="en-US" altLang="zh-CN" sz="2400"/>
              <a:t>3.2] CREATE SCHEMA AUTHORIZATION WANG</a:t>
            </a:r>
            <a:r>
              <a:rPr lang="zh-CN" altLang="en-US" sz="2400"/>
              <a:t>;</a:t>
            </a:r>
            <a:endParaRPr lang="zh-CN" altLang="en-US" sz="2400"/>
          </a:p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/>
              <a:t>  该语句没有指定</a:t>
            </a:r>
            <a:r>
              <a:rPr lang="en-US" altLang="zh-CN"/>
              <a:t>&lt;</a:t>
            </a:r>
            <a:r>
              <a:rPr lang="zh-CN" altLang="en-US"/>
              <a:t>模式名</a:t>
            </a:r>
            <a:r>
              <a:rPr lang="en-US" altLang="zh-CN"/>
              <a:t>&gt;</a:t>
            </a:r>
            <a:r>
              <a:rPr lang="zh-CN" altLang="en-US"/>
              <a:t>，</a:t>
            </a:r>
            <a:r>
              <a:rPr lang="en-US" altLang="zh-CN"/>
              <a:t>&lt;</a:t>
            </a:r>
            <a:r>
              <a:rPr lang="zh-CN" altLang="en-US"/>
              <a:t>模式名</a:t>
            </a:r>
            <a:r>
              <a:rPr lang="en-US" altLang="zh-CN"/>
              <a:t>&gt;</a:t>
            </a:r>
            <a:r>
              <a:rPr lang="zh-CN" altLang="en-US"/>
              <a:t>隐含为用户名</a:t>
            </a:r>
            <a:r>
              <a:rPr lang="en-US" altLang="zh-CN"/>
              <a:t>WANG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  <a:endParaRPr lang="zh-CN" altLang="en-US" sz="36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13" y="1196988"/>
            <a:ext cx="8291513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/>
              <a:t>定义模式实际上定义了一个</a:t>
            </a:r>
            <a:r>
              <a:rPr lang="zh-CN" altLang="en-US" sz="2600">
                <a:solidFill>
                  <a:srgbClr val="FF00FF"/>
                </a:solidFill>
              </a:rPr>
              <a:t>命名空间</a:t>
            </a:r>
            <a:r>
              <a:rPr lang="zh-CN" altLang="en-US" sz="2600"/>
              <a:t>。</a:t>
            </a:r>
            <a:endParaRPr lang="zh-CN" altLang="en-US" sz="260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/>
              <a:t>在这个空间中可以定义该模式包含的数据库对象，例如基本表、视图、索引等。</a:t>
            </a:r>
            <a:endParaRPr lang="zh-CN" altLang="en-US" sz="260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/>
              <a:t>在</a:t>
            </a:r>
            <a:r>
              <a:rPr lang="en-US" altLang="zh-CN" sz="2600"/>
              <a:t>CREATE SCHEMA</a:t>
            </a:r>
            <a:r>
              <a:rPr lang="zh-CN" altLang="en-US" sz="2600"/>
              <a:t>中可以接受</a:t>
            </a:r>
            <a:r>
              <a:rPr lang="en-US" altLang="zh-CN" sz="2600"/>
              <a:t>CREATE TABLE</a:t>
            </a:r>
            <a:r>
              <a:rPr lang="zh-CN" altLang="en-US" sz="2600"/>
              <a:t>，</a:t>
            </a:r>
            <a:r>
              <a:rPr lang="en-US" altLang="zh-CN" sz="2600"/>
              <a:t>CREATE VIEW</a:t>
            </a:r>
            <a:r>
              <a:rPr lang="zh-CN" altLang="en-US" sz="2600"/>
              <a:t>和</a:t>
            </a:r>
            <a:r>
              <a:rPr lang="en-US" altLang="zh-CN" sz="2600"/>
              <a:t>GRANT</a:t>
            </a:r>
            <a:r>
              <a:rPr lang="zh-CN" altLang="en-US" sz="2600"/>
              <a:t>子句。</a:t>
            </a:r>
            <a:endParaRPr lang="zh-CN" altLang="en-US" sz="26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zh-CN" altLang="en-US" sz="2400"/>
              <a:t> </a:t>
            </a:r>
            <a:r>
              <a:rPr lang="en-US" altLang="zh-CN" sz="2400"/>
              <a:t>CREATE SCHEMA &lt;</a:t>
            </a:r>
            <a:r>
              <a:rPr lang="zh-CN" altLang="en-US" sz="2400"/>
              <a:t>模式名</a:t>
            </a:r>
            <a:r>
              <a:rPr lang="en-US" altLang="zh-CN" sz="2400"/>
              <a:t>&gt; AUTHORIZATION &lt;</a:t>
            </a:r>
            <a:r>
              <a:rPr lang="zh-CN" altLang="en-US" sz="2400"/>
              <a:t>用户名</a:t>
            </a:r>
            <a:r>
              <a:rPr lang="en-US" altLang="zh-CN" sz="2400"/>
              <a:t>&gt;[&lt;</a:t>
            </a:r>
            <a:r>
              <a:rPr lang="zh-CN" altLang="en-US" sz="2400"/>
              <a:t>表定义子句</a:t>
            </a:r>
            <a:r>
              <a:rPr lang="en-US" altLang="zh-CN" sz="2400"/>
              <a:t>&gt;|&lt;</a:t>
            </a:r>
            <a:r>
              <a:rPr lang="zh-CN" altLang="en-US" sz="2400"/>
              <a:t>视图定义子句</a:t>
            </a:r>
            <a:r>
              <a:rPr lang="en-US" altLang="zh-CN" sz="2400"/>
              <a:t>&gt;|&lt;</a:t>
            </a:r>
            <a:r>
              <a:rPr lang="zh-CN" altLang="en-US" sz="2400"/>
              <a:t>授权定义子句</a:t>
            </a:r>
            <a:r>
              <a:rPr lang="en-US" altLang="zh-CN" sz="2400"/>
              <a:t>&gt;]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  <a:endParaRPr lang="zh-CN" altLang="en-US" sz="36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339857"/>
            <a:ext cx="1052696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3.3</a:t>
            </a:r>
            <a:r>
              <a:rPr lang="zh-CN" altLang="en-US" sz="2400" dirty="0"/>
              <a:t>］ 为用户</a:t>
            </a:r>
            <a:r>
              <a:rPr lang="en-US" altLang="zh-CN" sz="2400" dirty="0"/>
              <a:t>ZHANG</a:t>
            </a:r>
            <a:r>
              <a:rPr lang="zh-CN" altLang="en-US" sz="2400" dirty="0"/>
              <a:t>创建一个模式</a:t>
            </a:r>
            <a:r>
              <a:rPr lang="en-US" altLang="zh-CN" sz="2400" dirty="0"/>
              <a:t>Test</a:t>
            </a:r>
            <a:r>
              <a:rPr lang="zh-CN" altLang="en-US" sz="2400" dirty="0"/>
              <a:t>，并且在其中定义一个表</a:t>
            </a:r>
            <a:r>
              <a:rPr lang="en-US" altLang="zh-CN" sz="2400" dirty="0"/>
              <a:t>Tab1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CREATE SCHEMA Test AUTHORIZATION Zhang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CREATE TABLE Tab1(Col1 SMALLINT,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		      Col2 INT,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                 Col3 CHAR(20),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		      Col4 NUMERIC(10,3),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      Col5 DECIMAL(5,2)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    );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2. </a:t>
            </a:r>
            <a:r>
              <a:rPr lang="zh-CN" altLang="en-US" sz="3600"/>
              <a:t>删除模式</a:t>
            </a:r>
            <a:endParaRPr lang="zh-CN" altLang="en-US" sz="36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101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sz="2400"/>
              <a:t>DROP SCHEMA &lt;</a:t>
            </a:r>
            <a:r>
              <a:rPr lang="zh-CN" altLang="en-US" sz="2400"/>
              <a:t>模式名</a:t>
            </a:r>
            <a:r>
              <a:rPr lang="en-US" altLang="zh-CN" sz="2400"/>
              <a:t>&gt; &lt;CASCADE|RESTRICT&gt;</a:t>
            </a:r>
            <a:endParaRPr lang="en-US" altLang="zh-CN" sz="2400"/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CASCADE（</a:t>
            </a:r>
            <a:r>
              <a:rPr lang="zh-CN" altLang="en-US"/>
              <a:t>级联</a:t>
            </a:r>
            <a:r>
              <a:rPr lang="en-US" altLang="zh-CN"/>
              <a:t>）</a:t>
            </a:r>
            <a:endParaRPr lang="en-US" altLang="zh-CN"/>
          </a:p>
          <a:p>
            <a:pPr lvl="2" eaLnBrk="1" hangingPunct="1">
              <a:lnSpc>
                <a:spcPct val="14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/>
              <a:t>删除模式的同时把该模式中所有的数据库对象全部删除</a:t>
            </a:r>
            <a:endParaRPr lang="zh-CN" altLang="en-US" sz="2200"/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RESTRICT（</a:t>
            </a:r>
            <a:r>
              <a:rPr lang="zh-CN" altLang="en-US"/>
              <a:t>限制</a:t>
            </a:r>
            <a:r>
              <a:rPr lang="en-US" altLang="zh-CN"/>
              <a:t>）</a:t>
            </a:r>
            <a:endParaRPr lang="en-US" altLang="zh-CN"/>
          </a:p>
          <a:p>
            <a:pPr lvl="2" eaLnBrk="1" hangingPunct="1">
              <a:lnSpc>
                <a:spcPct val="14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/>
              <a:t>如果该模式中定义了数据库对象（如表、视图等），则拒绝该删除语句的执行。</a:t>
            </a:r>
            <a:endParaRPr lang="zh-CN" altLang="en-US" sz="2200"/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仅当该模式中没有任何下属的对象时才能执行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删除模式（续）</a:t>
            </a:r>
            <a:endParaRPr lang="zh-CN" altLang="en-US" sz="36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1339857"/>
            <a:ext cx="10454952" cy="48545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3.4]  DROP SCHEMA Test CASCADE</a:t>
            </a:r>
            <a:r>
              <a:rPr lang="zh-CN" altLang="en-US" sz="2400" dirty="0"/>
              <a:t>;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删除模式</a:t>
            </a:r>
            <a:r>
              <a:rPr lang="en-US" altLang="zh-CN" sz="2400" dirty="0"/>
              <a:t>Test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该模式中定义的表</a:t>
            </a:r>
            <a:r>
              <a:rPr lang="en-US" altLang="zh-CN" sz="2400" dirty="0"/>
              <a:t>Tab1</a:t>
            </a:r>
            <a:r>
              <a:rPr lang="zh-CN" altLang="en-US" sz="2400" dirty="0"/>
              <a:t>也被删除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  <a:endParaRPr lang="zh-CN" altLang="en-US" sz="36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8226" y="1339863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3.2.2 </a:t>
            </a:r>
            <a:r>
              <a:rPr lang="zh-CN" altLang="en-US">
                <a:solidFill>
                  <a:srgbClr val="00B050"/>
                </a:solidFill>
              </a:rPr>
              <a:t>基本表的定义、删除与修改</a:t>
            </a:r>
            <a:endParaRPr lang="zh-CN" altLang="en-US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3.2.3 </a:t>
            </a:r>
            <a:r>
              <a:rPr lang="zh-CN" altLang="en-US"/>
              <a:t>索引的建立与删除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ym typeface="+mn-ea"/>
              </a:rPr>
              <a:t>3.2.4 </a:t>
            </a:r>
            <a:r>
              <a:rPr lang="zh-CN" altLang="en-US">
                <a:sym typeface="+mn-ea"/>
              </a:rPr>
              <a:t>数据字典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endParaRPr lang="zh-CN" altLang="en-US"/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定义基本表</a:t>
            </a:r>
            <a:endParaRPr lang="zh-CN" altLang="en-US" sz="360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15480" y="981088"/>
            <a:ext cx="9793088" cy="5472113"/>
          </a:xfrm>
        </p:spPr>
        <p:txBody>
          <a:bodyPr/>
          <a:lstStyle/>
          <a:p>
            <a:pPr algn="just" eaLnBrk="1" hangingPunct="1"/>
            <a:r>
              <a:rPr lang="en-US" altLang="zh-CN" dirty="0"/>
              <a:t>1.</a:t>
            </a:r>
            <a:r>
              <a:rPr lang="zh-CN" altLang="en-US" dirty="0"/>
              <a:t>定义基本表</a:t>
            </a:r>
            <a:endParaRPr lang="zh-CN" altLang="en-US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1800" dirty="0"/>
              <a:t>		</a:t>
            </a:r>
            <a:r>
              <a:rPr lang="en-US" altLang="zh-CN" sz="2200" dirty="0"/>
              <a:t>CREATE TABLE &lt;</a:t>
            </a:r>
            <a:r>
              <a:rPr lang="zh-CN" altLang="en-US" sz="2200" dirty="0"/>
              <a:t>表名</a:t>
            </a:r>
            <a:r>
              <a:rPr lang="en-US" altLang="zh-CN" sz="2200" dirty="0"/>
              <a:t>&gt;</a:t>
            </a:r>
            <a:endParaRPr lang="en-US" altLang="zh-CN" sz="2200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</a:t>
            </a:r>
            <a:r>
              <a:rPr lang="zh-CN" altLang="en-US" sz="2200" dirty="0"/>
              <a:t>(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 ]</a:t>
            </a:r>
            <a:endParaRPr lang="en-US" altLang="zh-CN" sz="2200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&gt;] ] </a:t>
            </a:r>
            <a:endParaRPr lang="en-US" altLang="zh-CN" sz="2200" dirty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>
                <a:latin typeface="Courier New" panose="02070309020205020404" pitchFamily="49" charset="0"/>
              </a:rPr>
              <a:t>   …</a:t>
            </a:r>
            <a:endParaRPr lang="en-US" altLang="zh-CN" sz="2200" dirty="0">
              <a:latin typeface="Courier New" panose="02070309020205020404" pitchFamily="49" charset="0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表级完整性约束</a:t>
            </a:r>
            <a:r>
              <a:rPr lang="en-US" altLang="zh-CN" sz="2200" dirty="0"/>
              <a:t>&gt; ] </a:t>
            </a:r>
            <a:r>
              <a:rPr lang="zh-CN" altLang="en-US" sz="2200" dirty="0"/>
              <a:t>);</a:t>
            </a:r>
            <a:endParaRPr lang="zh-CN" altLang="en-US" sz="2200" dirty="0"/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：所要定义的基本表的名字</a:t>
            </a:r>
            <a:endParaRPr lang="zh-CN" altLang="en-US" dirty="0"/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：组成该表的各个属性（列）</a:t>
            </a:r>
            <a:endParaRPr lang="zh-CN" altLang="en-US" dirty="0"/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：涉及相应属性列的完整性约束</a:t>
            </a:r>
            <a:endParaRPr lang="zh-CN" altLang="en-US" dirty="0"/>
          </a:p>
          <a:p>
            <a:pPr lvl="1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：涉及一个或多个属性列的完整性约束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如果完整性约束涉及该表的多个属性列，则必须定义在表级上，否则既可以定义在列级也可以定义在表级 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定义基本表（续）</a:t>
            </a:r>
            <a:endParaRPr lang="zh-CN" altLang="en-US" sz="360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31950" y="981088"/>
            <a:ext cx="9036050" cy="54721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/>
              <a:t>以学生选课数据库为例</a:t>
            </a:r>
            <a:endParaRPr lang="en-US" altLang="zh-CN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/>
              <a:t>定义一个学生选课模式</a:t>
            </a:r>
            <a:r>
              <a:rPr lang="en-US" altLang="zh-CN" sz="2400"/>
              <a:t>S-C-SC</a:t>
            </a:r>
            <a:r>
              <a:rPr lang="zh-CN" altLang="en-US" sz="2400"/>
              <a:t>，包括以下三个表：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/>
              <a:t>学生表：</a:t>
            </a:r>
            <a:r>
              <a:rPr lang="en-US" altLang="zh-CN" sz="2400"/>
              <a:t>Student(</a:t>
            </a:r>
            <a:r>
              <a:rPr lang="en-US" altLang="zh-CN" sz="2400" u="sng"/>
              <a:t>Sno</a:t>
            </a:r>
            <a:r>
              <a:rPr lang="en-US" altLang="zh-CN" sz="2400"/>
              <a:t>, Sname, Ssex, Sbirthdate, Smajor)</a:t>
            </a:r>
            <a:endParaRPr lang="en-US" altLang="zh-CN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/>
              <a:t>课程表：</a:t>
            </a:r>
            <a:r>
              <a:rPr lang="en-US" altLang="zh-CN" sz="2400"/>
              <a:t>Course(</a:t>
            </a:r>
            <a:r>
              <a:rPr lang="en-US" altLang="zh-CN" sz="2400" u="sng"/>
              <a:t>Cno</a:t>
            </a:r>
            <a:r>
              <a:rPr lang="en-US" altLang="zh-CN" sz="2400"/>
              <a:t>,Cname,Ccredit,Cpno)</a:t>
            </a:r>
            <a:endParaRPr lang="en-US" altLang="zh-CN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/>
              <a:t>学生选课表：</a:t>
            </a:r>
            <a:r>
              <a:rPr lang="en-US" altLang="zh-CN" sz="2400"/>
              <a:t>SC(</a:t>
            </a:r>
            <a:r>
              <a:rPr lang="en-US" altLang="zh-CN" sz="2400" u="sng"/>
              <a:t>Sno,Cno</a:t>
            </a:r>
            <a:r>
              <a:rPr lang="en-US" altLang="zh-CN" sz="2400"/>
              <a:t>,Grade,Semester,Teachingclass)</a:t>
            </a:r>
            <a:endParaRPr lang="en-US" altLang="zh-CN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1800"/>
          </a:p>
        </p:txBody>
      </p:sp>
      <p:sp>
        <p:nvSpPr>
          <p:cNvPr id="35844" name="思想气泡: 云 1"/>
          <p:cNvSpPr>
            <a:spLocks noChangeArrowheads="1"/>
          </p:cNvSpPr>
          <p:nvPr/>
        </p:nvSpPr>
        <p:spPr bwMode="auto">
          <a:xfrm>
            <a:off x="4943488" y="4149738"/>
            <a:ext cx="1008063" cy="612775"/>
          </a:xfrm>
          <a:prstGeom prst="cloudCallout">
            <a:avLst>
              <a:gd name="adj1" fmla="val -63426"/>
              <a:gd name="adj2" fmla="val -6464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686800" cy="42767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3.5]  </a:t>
            </a:r>
            <a:r>
              <a:rPr lang="zh-CN" altLang="en-US" sz="2400"/>
              <a:t>建立“学生”表</a:t>
            </a:r>
            <a:r>
              <a:rPr lang="en-US" altLang="zh-CN" sz="2400"/>
              <a:t>Student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/>
              <a:t>     </a:t>
            </a:r>
            <a:endParaRPr lang="zh-CN" altLang="en-US" sz="1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CREATE TABLE Student         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(</a:t>
            </a:r>
            <a:r>
              <a:rPr lang="en-US" altLang="zh-CN" sz="2400"/>
              <a:t>Sno   CHAR</a:t>
            </a:r>
            <a:r>
              <a:rPr lang="zh-CN" altLang="en-US" sz="2400"/>
              <a:t>(</a:t>
            </a:r>
            <a:r>
              <a:rPr lang="en-US" altLang="zh-CN" sz="2400"/>
              <a:t>8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PRIMARY KEY</a:t>
            </a:r>
            <a:r>
              <a:rPr lang="zh-CN" altLang="en-US" sz="2400"/>
              <a:t>, </a:t>
            </a:r>
            <a:br>
              <a:rPr lang="en-US" altLang="zh-CN" sz="2400"/>
            </a:br>
            <a:r>
              <a:rPr lang="en-US" altLang="zh-CN" sz="2400"/>
              <a:t>                                          </a:t>
            </a:r>
            <a:r>
              <a:rPr lang="en-US" altLang="zh-CN" sz="2000"/>
              <a:t>/* </a:t>
            </a:r>
            <a:r>
              <a:rPr lang="zh-CN" altLang="en-US" sz="2000"/>
              <a:t>列级完整性约束条件</a:t>
            </a:r>
            <a:r>
              <a:rPr lang="en-US" altLang="zh-CN" sz="2000"/>
              <a:t>,Sno</a:t>
            </a:r>
            <a:r>
              <a:rPr lang="zh-CN" altLang="en-US" sz="2000"/>
              <a:t>是主码*</a:t>
            </a:r>
            <a:r>
              <a:rPr lang="en-US" altLang="zh-CN" sz="2000"/>
              <a:t>/        </a:t>
            </a:r>
            <a:r>
              <a:rPr lang="en-US" altLang="zh-CN" sz="2400"/>
              <a:t>         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       </a:t>
            </a:r>
            <a:r>
              <a:rPr lang="en-US" altLang="zh-CN" sz="2400"/>
              <a:t>Sname VARCHAR</a:t>
            </a:r>
            <a:r>
              <a:rPr lang="zh-CN" altLang="en-US" sz="2400"/>
              <a:t>(</a:t>
            </a:r>
            <a:r>
              <a:rPr lang="en-US" altLang="zh-CN" sz="2400"/>
              <a:t>20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UNIQUE</a:t>
            </a:r>
            <a:r>
              <a:rPr lang="zh-CN" altLang="en-US" sz="2400"/>
              <a:t>,          </a:t>
            </a:r>
            <a:r>
              <a:rPr lang="zh-CN" altLang="en-US" sz="2000"/>
              <a:t> </a:t>
            </a:r>
            <a:r>
              <a:rPr lang="en-US" altLang="zh-CN" sz="2000"/>
              <a:t>/* Sname</a:t>
            </a:r>
            <a:r>
              <a:rPr lang="zh-CN" altLang="en-US" sz="2000"/>
              <a:t>取唯一值*</a:t>
            </a:r>
            <a:r>
              <a:rPr lang="en-US" altLang="zh-CN" sz="2000"/>
              <a:t>/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Ssex    CHAR</a:t>
            </a:r>
            <a:r>
              <a:rPr lang="zh-CN" altLang="en-US" sz="2400"/>
              <a:t>(</a:t>
            </a:r>
            <a:r>
              <a:rPr lang="en-US" altLang="zh-CN" sz="2400"/>
              <a:t>6</a:t>
            </a:r>
            <a:r>
              <a:rPr lang="zh-CN" altLang="en-US" sz="2400"/>
              <a:t>),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Sbirthdate</a:t>
            </a:r>
            <a:r>
              <a:rPr lang="zh-CN" altLang="en-US" sz="2400"/>
              <a:t> </a:t>
            </a:r>
            <a:r>
              <a:rPr lang="en-US" altLang="zh-CN" sz="2400"/>
              <a:t>Date</a:t>
            </a:r>
            <a:r>
              <a:rPr lang="zh-CN" altLang="en-US" sz="2400"/>
              <a:t>,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Smajor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); </a:t>
            </a:r>
            <a:endParaRPr lang="zh-CN" altLang="en-US" sz="2400"/>
          </a:p>
        </p:txBody>
      </p:sp>
      <p:sp>
        <p:nvSpPr>
          <p:cNvPr id="36868" name="AutoShape 7"/>
          <p:cNvSpPr>
            <a:spLocks noChangeArrowheads="1"/>
          </p:cNvSpPr>
          <p:nvPr/>
        </p:nvSpPr>
        <p:spPr bwMode="auto">
          <a:xfrm>
            <a:off x="7680325" y="1595438"/>
            <a:ext cx="914400" cy="609600"/>
          </a:xfrm>
          <a:prstGeom prst="wedgeRoundRectCallout">
            <a:avLst>
              <a:gd name="adj1" fmla="val -151287"/>
              <a:gd name="adj2" fmla="val 79306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  <a:endParaRPr lang="zh-CN" altLang="en-US" sz="1800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7680325" y="3700463"/>
            <a:ext cx="1079500" cy="609600"/>
          </a:xfrm>
          <a:prstGeom prst="wedgeRoundRectCallout">
            <a:avLst>
              <a:gd name="adj1" fmla="val -196079"/>
              <a:gd name="adj2" fmla="val -87884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/>
              <a:t>UNIQUE</a:t>
            </a:r>
            <a:endParaRPr lang="en-US" altLang="zh-CN" sz="1600"/>
          </a:p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/>
              <a:t>约束</a:t>
            </a:r>
            <a:endParaRPr lang="zh-CN" altLang="en-US" sz="16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/>
              <a:t>学生表</a:t>
            </a:r>
            <a:r>
              <a:rPr lang="en-US" altLang="zh-CN" sz="3600" kern="0" dirty="0"/>
              <a:t>Student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31950" y="1098550"/>
            <a:ext cx="903605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3.6 ]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建立一个“课程”表</a:t>
            </a:r>
            <a:r>
              <a:rPr lang="en-US" altLang="zh-CN" sz="2400"/>
              <a:t>Course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CREATE TABLE  Course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</a:t>
            </a:r>
            <a:r>
              <a:rPr lang="zh-CN" altLang="en-US" sz="2400"/>
              <a:t>  </a:t>
            </a:r>
            <a:r>
              <a:rPr lang="en-US" altLang="zh-CN" sz="2400"/>
              <a:t>  </a:t>
            </a:r>
            <a:r>
              <a:rPr lang="zh-CN" altLang="en-US" sz="2400"/>
              <a:t> (</a:t>
            </a:r>
            <a:r>
              <a:rPr lang="en-US" altLang="zh-CN" sz="2400"/>
              <a:t>Cno  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</a:t>
            </a:r>
            <a:r>
              <a:rPr lang="en-US" altLang="zh-CN" sz="2400"/>
              <a:t> PRIMARY KEY</a:t>
            </a:r>
            <a:r>
              <a:rPr lang="zh-CN" altLang="en-US" sz="2400"/>
              <a:t>,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	</a:t>
            </a:r>
            <a:r>
              <a:rPr lang="zh-CN" altLang="en-US" sz="2400"/>
              <a:t> </a:t>
            </a:r>
            <a:r>
              <a:rPr lang="en-US" altLang="zh-CN" sz="2400"/>
              <a:t>Cname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 </a:t>
            </a:r>
            <a:r>
              <a:rPr lang="en-US" altLang="zh-CN" sz="2400"/>
              <a:t>NOT NULL</a:t>
            </a:r>
            <a:r>
              <a:rPr lang="zh-CN" altLang="en-US" sz="2400"/>
              <a:t>,            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Ccredit  SMALLINT</a:t>
            </a:r>
            <a:r>
              <a:rPr lang="zh-CN" altLang="en-US" sz="2400"/>
              <a:t>，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Cpno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),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FOREIGN KEY </a:t>
            </a:r>
            <a:r>
              <a:rPr lang="zh-CN" altLang="en-US" sz="2400"/>
              <a:t>(</a:t>
            </a:r>
            <a:r>
              <a:rPr lang="en-US" altLang="zh-CN" sz="2400"/>
              <a:t>Cpno</a:t>
            </a:r>
            <a:r>
              <a:rPr lang="zh-CN" altLang="en-US" sz="2400"/>
              <a:t>)</a:t>
            </a:r>
            <a:r>
              <a:rPr lang="en-US" altLang="zh-CN" sz="2400"/>
              <a:t> REFERENCES  Course</a:t>
            </a:r>
            <a:r>
              <a:rPr lang="zh-CN" altLang="en-US" sz="2400"/>
              <a:t>(</a:t>
            </a:r>
            <a:r>
              <a:rPr lang="en-US" altLang="zh-CN" sz="2400"/>
              <a:t>Cno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   )</a:t>
            </a:r>
            <a:r>
              <a:rPr lang="en-US" altLang="zh-CN" sz="2400"/>
              <a:t>; </a:t>
            </a:r>
            <a:endParaRPr lang="en-US" altLang="zh-CN" sz="2400"/>
          </a:p>
        </p:txBody>
      </p:sp>
      <p:sp>
        <p:nvSpPr>
          <p:cNvPr id="37892" name="AutoShape 6"/>
          <p:cNvSpPr>
            <a:spLocks noChangeArrowheads="1"/>
          </p:cNvSpPr>
          <p:nvPr/>
        </p:nvSpPr>
        <p:spPr bwMode="auto">
          <a:xfrm>
            <a:off x="6816725" y="2830526"/>
            <a:ext cx="1582738" cy="528637"/>
          </a:xfrm>
          <a:prstGeom prst="wedgeRoundRectCallout">
            <a:avLst>
              <a:gd name="adj1" fmla="val -202060"/>
              <a:gd name="adj2" fmla="val 95241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>
            <a:solidFill>
              <a:schemeClr val="accent1"/>
            </a:solidFill>
            <a:miter lim="800000"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直接先修课</a:t>
            </a:r>
            <a:r>
              <a:rPr lang="zh-CN" altLang="en-US" sz="1800" b="0"/>
              <a:t> </a:t>
            </a:r>
            <a:endParaRPr lang="zh-CN" altLang="en-US" sz="1800" b="0"/>
          </a:p>
        </p:txBody>
      </p:sp>
      <p:sp>
        <p:nvSpPr>
          <p:cNvPr id="37893" name="AutoShape 8"/>
          <p:cNvSpPr>
            <a:spLocks noChangeArrowheads="1"/>
          </p:cNvSpPr>
          <p:nvPr/>
        </p:nvSpPr>
        <p:spPr bwMode="auto">
          <a:xfrm>
            <a:off x="6238888" y="4586288"/>
            <a:ext cx="2447925" cy="1008062"/>
          </a:xfrm>
          <a:prstGeom prst="wedgeRoundRectCallout">
            <a:avLst>
              <a:gd name="adj1" fmla="val -58755"/>
              <a:gd name="adj2" fmla="val -83856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>
            <a:solidFill>
              <a:srgbClr val="00FFFF"/>
            </a:solidFill>
            <a:miter lim="800000"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800" b="0"/>
              <a:t>   </a:t>
            </a:r>
            <a:r>
              <a:rPr lang="en-US" altLang="zh-CN" sz="1800"/>
              <a:t>Cpno</a:t>
            </a:r>
            <a:r>
              <a:rPr lang="zh-CN" altLang="en-US" sz="1800"/>
              <a:t>是外码</a:t>
            </a:r>
            <a:endParaRPr lang="zh-CN" altLang="en-US" sz="180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被参照表是</a:t>
            </a:r>
            <a:r>
              <a:rPr lang="en-US" altLang="zh-CN" sz="1800"/>
              <a:t>Course</a:t>
            </a:r>
            <a:endParaRPr lang="en-US" altLang="zh-CN" sz="1800"/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被参照列是</a:t>
            </a:r>
            <a:r>
              <a:rPr lang="en-US" altLang="zh-CN" sz="1800"/>
              <a:t>Cno</a:t>
            </a:r>
            <a:endParaRPr lang="en-US" altLang="zh-CN" sz="18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课程表</a:t>
            </a:r>
            <a:r>
              <a:rPr lang="en-US" altLang="zh-CN" sz="3600">
                <a:solidFill>
                  <a:schemeClr val="bg1"/>
                </a:solidFill>
              </a:rPr>
              <a:t>Course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 autoUpdateAnimBg="0"/>
      <p:bldP spid="3789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54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3.7]</a:t>
            </a:r>
            <a:r>
              <a:rPr lang="zh-CN" altLang="en-US" sz="2400" dirty="0"/>
              <a:t> 建立学生选课表</a:t>
            </a:r>
            <a:r>
              <a:rPr lang="en-US" altLang="zh-CN" sz="2400" dirty="0"/>
              <a:t>SC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CREATE TABLE SC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   CHAR(8),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 CHAR(5),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Grade  SMALLINT,                 /*</a:t>
            </a:r>
            <a:r>
              <a:rPr lang="zh-CN" altLang="en-US" sz="2000" dirty="0"/>
              <a:t>成绩*</a:t>
            </a:r>
            <a:r>
              <a:rPr lang="en-US" altLang="zh-CN" sz="2000" dirty="0"/>
              <a:t>/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Semester      CHAR(5),           /*</a:t>
            </a:r>
            <a:r>
              <a:rPr lang="zh-CN" altLang="en-US" sz="2000" dirty="0"/>
              <a:t>选课学期*</a:t>
            </a:r>
            <a:r>
              <a:rPr lang="en-US" altLang="zh-CN" sz="2000" dirty="0"/>
              <a:t>/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Teachingclass</a:t>
            </a:r>
            <a:r>
              <a:rPr lang="en-US" altLang="zh-CN" sz="2000" dirty="0"/>
              <a:t>   CHAR(8),     /*</a:t>
            </a:r>
            <a:r>
              <a:rPr lang="zh-CN" altLang="en-US" sz="2000" dirty="0"/>
              <a:t>学生选修某一门课所在的教学班*</a:t>
            </a:r>
            <a:r>
              <a:rPr lang="en-US" altLang="zh-CN" sz="2000" dirty="0"/>
              <a:t>/ 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PRIMARY KEY (</a:t>
            </a:r>
            <a:r>
              <a:rPr lang="en-US" altLang="zh-CN" sz="2000" dirty="0" err="1"/>
              <a:t>Sno,Cno</a:t>
            </a:r>
            <a:r>
              <a:rPr lang="en-US" altLang="zh-CN" sz="2000" dirty="0"/>
              <a:t>),    	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/*</a:t>
            </a:r>
            <a:r>
              <a:rPr lang="zh-CN" altLang="en-US" sz="2000" dirty="0"/>
              <a:t>主码由两个属性构成，必须作为表级完整性进行定义*</a:t>
            </a:r>
            <a:r>
              <a:rPr lang="en-US" altLang="zh-CN" sz="2000" dirty="0"/>
              <a:t>/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REFERENCES 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),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 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Student */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REFERENCES 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Course*/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);</a:t>
            </a:r>
            <a:endParaRPr lang="en-US" altLang="zh-CN" sz="20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学生选课表</a:t>
            </a:r>
            <a:r>
              <a:rPr lang="en-US" altLang="zh-CN" sz="3600">
                <a:solidFill>
                  <a:schemeClr val="bg1"/>
                </a:solidFill>
              </a:rPr>
              <a:t>SC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43113" y="1268413"/>
            <a:ext cx="8229600" cy="4983162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/>
              <a:t>2.</a:t>
            </a:r>
            <a:r>
              <a:rPr lang="zh-CN" altLang="en-US"/>
              <a:t>数据类型</a:t>
            </a:r>
            <a:endParaRPr lang="en-US" altLang="zh-CN"/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SQL</a:t>
            </a:r>
            <a:r>
              <a:rPr lang="zh-CN" altLang="en-US"/>
              <a:t>中域的概念用</a:t>
            </a:r>
            <a:r>
              <a:rPr lang="zh-CN" altLang="en-US">
                <a:solidFill>
                  <a:srgbClr val="FF00FF"/>
                </a:solidFill>
              </a:rPr>
              <a:t>数据类型</a:t>
            </a:r>
            <a:r>
              <a:rPr lang="zh-CN" altLang="en-US"/>
              <a:t>来实现</a:t>
            </a:r>
            <a:endParaRPr lang="zh-CN" altLang="en-US"/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定义表的属性时需要指明其数据类型及长度 </a:t>
            </a:r>
            <a:endParaRPr lang="zh-CN" altLang="en-US"/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选用哪种数据类型 </a:t>
            </a:r>
            <a:endParaRPr lang="zh-CN" altLang="en-US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取值范围 </a:t>
            </a:r>
            <a:endParaRPr lang="zh-CN" altLang="en-US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要做哪些运算 </a:t>
            </a:r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68513" y="-41275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2.</a:t>
            </a:r>
            <a:r>
              <a:rPr lang="zh-CN" altLang="en-US" sz="3600">
                <a:solidFill>
                  <a:schemeClr val="bg1"/>
                </a:solidFill>
              </a:rPr>
              <a:t>数据类型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55440" y="1484314"/>
          <a:ext cx="10225136" cy="4314510"/>
        </p:xfrm>
        <a:graphic>
          <a:graphicData uri="http://schemas.openxmlformats.org/drawingml/2006/table">
            <a:tbl>
              <a:tblPr/>
              <a:tblGrid>
                <a:gridCol w="3717198"/>
                <a:gridCol w="6507938"/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CHARACTER(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的定长字符串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VARCHAR(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CHARACTERVARYING(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最大长度为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的变长字符串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字符串大对象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二进制大对象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[-2147483648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2147483647]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SMALLINT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短整数（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[-32768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32767]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BIGINT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[-2^63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2^63-1]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11824" y="5844863"/>
            <a:ext cx="4818063" cy="40011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559496" y="936625"/>
          <a:ext cx="9649072" cy="5354642"/>
        </p:xfrm>
        <a:graphic>
          <a:graphicData uri="http://schemas.openxmlformats.org/drawingml/2006/table">
            <a:tbl>
              <a:tblPr/>
              <a:tblGrid>
                <a:gridCol w="2689918"/>
                <a:gridCol w="6959154"/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定点数，由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位数字（不包括符号、小数点）组成，小数点后面有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DECIMAL(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DEC(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类似，但数值精度不受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的限制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取决于机器精度的单精度浮点数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DOUBLE PRECISION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取决于机器精度的双精度浮点数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可选精度的浮点数，精度至少为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BOOLEAN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逻辑布尔量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日期，包含年、月、日，格式为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YYYY-MM-DD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时间，包含一日的时、分、秒，格式为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HH:MM:SS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TIMESTAMP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时间戳类型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INTERVAL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时间间隔类型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7408" y="1123963"/>
            <a:ext cx="10657184" cy="4854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模式与表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每一个基本表都属于某一个模式，一个模式包含多个基本表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定义基本表所属模式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方法一：在表名中明显地给出模式名 </a:t>
            </a:r>
            <a:endParaRPr lang="zh-CN" altLang="en-US" sz="2200" dirty="0"/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</a:t>
            </a:r>
            <a:r>
              <a:rPr lang="zh-CN" altLang="en-US" sz="2200" dirty="0"/>
              <a:t>“</a:t>
            </a:r>
            <a:r>
              <a:rPr lang="en-US" altLang="zh-CN" sz="2200" dirty="0"/>
              <a:t>S-C-SC</a:t>
            </a:r>
            <a:r>
              <a:rPr lang="zh-CN" altLang="en-US" sz="2200" dirty="0"/>
              <a:t>”</a:t>
            </a:r>
            <a:r>
              <a:rPr lang="en-US" altLang="zh-CN" sz="2200" dirty="0"/>
              <a:t>.Student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/*Student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  <a:endParaRPr lang="en-US" altLang="zh-CN" sz="2200" dirty="0"/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.Course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/*Course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  <a:endParaRPr lang="en-US" altLang="zh-CN" sz="2200" dirty="0"/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.SC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       /*SC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  <a:endParaRPr lang="en-US" altLang="zh-CN" sz="2200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方法二：在创建模式语句中同时创建表 </a:t>
            </a:r>
            <a:endParaRPr lang="zh-CN" altLang="en-US" sz="2200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方法三：设置所属的模式 </a:t>
            </a:r>
            <a:endParaRPr lang="zh-CN" altLang="en-US" sz="22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3.</a:t>
            </a:r>
            <a:r>
              <a:rPr lang="zh-CN" altLang="en-US" sz="3600" kern="0" dirty="0"/>
              <a:t>模式与表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1098563"/>
            <a:ext cx="9649072" cy="45942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创建基本表（其他数据库对象）时，若没有指定模式，系统根据</a:t>
            </a:r>
            <a:r>
              <a:rPr lang="zh-CN" altLang="en-US" dirty="0">
                <a:solidFill>
                  <a:srgbClr val="FF00FF"/>
                </a:solidFill>
              </a:rPr>
              <a:t>搜索路径</a:t>
            </a:r>
            <a:r>
              <a:rPr lang="zh-CN" altLang="en-US" dirty="0"/>
              <a:t>来确定该对象所属的模式 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关系数据库管理系统会使用模式列表中</a:t>
            </a:r>
            <a:r>
              <a:rPr lang="zh-CN" altLang="en-US" dirty="0">
                <a:solidFill>
                  <a:srgbClr val="FF00FF"/>
                </a:solidFill>
              </a:rPr>
              <a:t>第一个存在的模式</a:t>
            </a:r>
            <a:r>
              <a:rPr lang="zh-CN" altLang="en-US" dirty="0"/>
              <a:t>作为数据库对象的模式名 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若搜索路径中的模式名都不存在，系统将给出错误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显示当前的搜索路径： </a:t>
            </a:r>
            <a:r>
              <a:rPr lang="en-US" altLang="zh-CN" dirty="0"/>
              <a:t>SHOW SEARCH_PATH;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搜索路径的当前默认值是：</a:t>
            </a:r>
            <a:r>
              <a:rPr lang="en-US" altLang="zh-CN" dirty="0"/>
              <a:t>$user</a:t>
            </a:r>
            <a:r>
              <a:rPr lang="zh-CN" altLang="en-US" dirty="0"/>
              <a:t>， </a:t>
            </a:r>
            <a:r>
              <a:rPr lang="en-US" altLang="zh-CN" dirty="0"/>
              <a:t>PUBLIC</a:t>
            </a:r>
            <a:r>
              <a:rPr lang="en-US" altLang="zh-CN" sz="2800" dirty="0"/>
              <a:t> </a:t>
            </a:r>
            <a:endParaRPr lang="en-US" altLang="zh-CN" sz="28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125551"/>
            <a:ext cx="8496300" cy="4854575"/>
          </a:xfrm>
        </p:spPr>
        <p:txBody>
          <a:bodyPr/>
          <a:lstStyle/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数据库管理员用户可以设置搜索路径，然后定义基本表 </a:t>
            </a:r>
            <a:endParaRPr lang="zh-CN" altLang="en-US" dirty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en-US" altLang="zh-CN" sz="2200" dirty="0">
                <a:solidFill>
                  <a:srgbClr val="FF00FF"/>
                </a:solidFill>
              </a:rPr>
              <a:t>SET SEARCH_PATH TO </a:t>
            </a:r>
            <a:r>
              <a:rPr lang="en-US" altLang="zh-CN" sz="2200" dirty="0"/>
              <a:t>"S-C-SC", PUBLIC</a:t>
            </a:r>
            <a:r>
              <a:rPr lang="zh-CN" altLang="en-US" sz="2200" dirty="0"/>
              <a:t>;</a:t>
            </a:r>
            <a:endParaRPr lang="en-US" altLang="zh-CN" sz="2200" dirty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zh-CN" sz="2200" dirty="0"/>
              <a:t>定义基本表：</a:t>
            </a:r>
            <a:endParaRPr lang="zh-CN" altLang="en-US" sz="2200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Create table Student</a:t>
            </a:r>
            <a:r>
              <a:rPr lang="zh-CN" altLang="en-US" sz="2200" dirty="0"/>
              <a:t>(</a:t>
            </a:r>
            <a:r>
              <a:rPr lang="en-US" altLang="zh-CN" sz="2200" dirty="0"/>
              <a:t>......</a:t>
            </a:r>
            <a:r>
              <a:rPr lang="zh-CN" altLang="en-US" sz="2200" dirty="0"/>
              <a:t>)</a:t>
            </a:r>
            <a:r>
              <a:rPr lang="en-US" altLang="zh-CN" sz="2200" dirty="0"/>
              <a:t>;   </a:t>
            </a:r>
            <a:endParaRPr lang="en-US" altLang="zh-CN" sz="2200" dirty="0"/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建立</a:t>
            </a:r>
            <a:r>
              <a:rPr lang="en-US" altLang="zh-CN" sz="2200" dirty="0"/>
              <a:t>S-C-</a:t>
            </a:r>
            <a:r>
              <a:rPr lang="en-US" altLang="zh-CN" sz="2200" dirty="0" err="1"/>
              <a:t>SC.Student</a:t>
            </a:r>
            <a:r>
              <a:rPr lang="zh-CN" altLang="en-US" sz="2200" dirty="0"/>
              <a:t>基本表</a:t>
            </a:r>
            <a:endParaRPr lang="zh-CN" altLang="en-US" sz="2200" dirty="0"/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en-US" altLang="zh-CN" sz="2200" dirty="0"/>
              <a:t>RDBMS</a:t>
            </a:r>
            <a:r>
              <a:rPr lang="zh-CN" altLang="en-US" sz="2200" dirty="0"/>
              <a:t>发现搜索路径中第一个模式名</a:t>
            </a:r>
            <a:r>
              <a:rPr lang="en-US" altLang="zh-CN" sz="2200" dirty="0"/>
              <a:t>S-C-SC </a:t>
            </a:r>
            <a:r>
              <a:rPr lang="zh-CN" altLang="en-US" sz="2200" dirty="0"/>
              <a:t>，就把该模式作为基本表</a:t>
            </a:r>
            <a:r>
              <a:rPr lang="en-US" altLang="zh-CN" sz="2200" dirty="0"/>
              <a:t>Student</a:t>
            </a:r>
            <a:r>
              <a:rPr lang="zh-CN" altLang="en-US" sz="2200" dirty="0"/>
              <a:t>所属的模式</a:t>
            </a:r>
            <a:endParaRPr lang="zh-CN" altLang="en-US" sz="22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3763" y="1268426"/>
            <a:ext cx="8785225" cy="39592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ALTER TABLE &lt;</a:t>
            </a:r>
            <a:r>
              <a:rPr lang="zh-CN" altLang="en-US" sz="2400"/>
              <a:t>表名</a:t>
            </a:r>
            <a:r>
              <a:rPr lang="en-US" altLang="zh-CN" sz="2400"/>
              <a:t>&gt;</a:t>
            </a:r>
            <a:endParaRPr lang="en-US" altLang="zh-CN" sz="2400"/>
          </a:p>
          <a:p>
            <a:pPr marL="0" lvl="2" indent="0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/>
              <a:t>[ ADD[COLUMN] &lt;</a:t>
            </a:r>
            <a:r>
              <a:rPr lang="zh-CN" altLang="en-US" sz="2200"/>
              <a:t>新列名</a:t>
            </a:r>
            <a:r>
              <a:rPr lang="en-US" altLang="zh-CN" sz="2200"/>
              <a:t>&gt; &lt;</a:t>
            </a:r>
            <a:r>
              <a:rPr lang="zh-CN" altLang="en-US" sz="2200"/>
              <a:t>数据类型</a:t>
            </a:r>
            <a:r>
              <a:rPr lang="en-US" altLang="zh-CN" sz="2200"/>
              <a:t>&gt; [ </a:t>
            </a:r>
            <a:r>
              <a:rPr lang="zh-CN" altLang="en-US" sz="2200"/>
              <a:t>完整性约束 </a:t>
            </a:r>
            <a:r>
              <a:rPr lang="en-US" altLang="zh-CN" sz="2200"/>
              <a:t>] ]</a:t>
            </a:r>
            <a:endParaRPr lang="en-US" altLang="zh-CN" sz="22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 ADD &lt;</a:t>
            </a:r>
            <a:r>
              <a:rPr lang="zh-CN" altLang="en-US" sz="2200"/>
              <a:t>表级完整性约束</a:t>
            </a:r>
            <a:r>
              <a:rPr lang="en-US" altLang="zh-CN" sz="2200"/>
              <a:t>&gt;]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 DROP [ COLUMN ] &lt;</a:t>
            </a:r>
            <a:r>
              <a:rPr lang="zh-CN" altLang="en-US" sz="2200"/>
              <a:t>列名</a:t>
            </a:r>
            <a:r>
              <a:rPr lang="en-US" altLang="zh-CN" sz="2200"/>
              <a:t>&gt; [CASCADE| RESTRICT] 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 DROP CONSTRAINT&lt;</a:t>
            </a:r>
            <a:r>
              <a:rPr lang="zh-CN" altLang="en-US" sz="2200"/>
              <a:t>完整性约束名</a:t>
            </a:r>
            <a:r>
              <a:rPr lang="en-US" altLang="zh-CN" sz="2200"/>
              <a:t>&gt;[ RESTRICT | CASCADE ]</a:t>
            </a:r>
            <a:r>
              <a:rPr lang="en-US" altLang="zh-CN" sz="2400"/>
              <a:t> ]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 RENAME COLUMN &lt;</a:t>
            </a:r>
            <a:r>
              <a:rPr lang="zh-CN" altLang="zh-CN" sz="2200"/>
              <a:t>列名</a:t>
            </a:r>
            <a:r>
              <a:rPr lang="en-US" altLang="zh-CN" sz="2200"/>
              <a:t>&gt; TO &lt;</a:t>
            </a:r>
            <a:r>
              <a:rPr lang="zh-CN" altLang="zh-CN" sz="2200"/>
              <a:t>新列名</a:t>
            </a:r>
            <a:r>
              <a:rPr lang="en-US" altLang="zh-CN" sz="2200"/>
              <a:t>&gt; ]</a:t>
            </a:r>
            <a:endParaRPr lang="zh-CN" altLang="zh-CN" sz="22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 ALTER COLUMN &lt;</a:t>
            </a:r>
            <a:r>
              <a:rPr lang="zh-CN" altLang="zh-CN" sz="2200"/>
              <a:t>列名</a:t>
            </a:r>
            <a:r>
              <a:rPr lang="en-US" altLang="zh-CN" sz="2200"/>
              <a:t>&gt; TYPE &lt;</a:t>
            </a:r>
            <a:r>
              <a:rPr lang="zh-CN" altLang="zh-CN" sz="2200"/>
              <a:t>数据类型</a:t>
            </a:r>
            <a:r>
              <a:rPr lang="en-US" altLang="zh-CN" sz="2200"/>
              <a:t>&gt; ];</a:t>
            </a:r>
            <a:endParaRPr lang="zh-CN" altLang="zh-CN" sz="220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4.</a:t>
            </a:r>
            <a:r>
              <a:rPr lang="zh-CN" altLang="en-US" sz="3600" kern="0" dirty="0"/>
              <a:t>修改基本表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271464" y="1054100"/>
            <a:ext cx="10369152" cy="48958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/>
              <a:t>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  <a:r>
              <a:rPr lang="zh-CN" altLang="en-US" sz="2400" dirty="0"/>
              <a:t>是要修改的基本表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ADD</a:t>
            </a:r>
            <a:r>
              <a:rPr lang="zh-CN" altLang="en-US" sz="2400" dirty="0"/>
              <a:t>子句用于增加新列、新的列级完整性约束和新的表级完整性约束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COLUMN</a:t>
            </a:r>
            <a:r>
              <a:rPr lang="zh-CN" altLang="en-US" sz="2400" dirty="0"/>
              <a:t>子句用于删除表中的列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CASCADE</a:t>
            </a:r>
            <a:r>
              <a:rPr lang="zh-CN" altLang="en-US" sz="2000" dirty="0"/>
              <a:t>短语，则自动删除引用了该列的其他对象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RESTRICT</a:t>
            </a:r>
            <a:r>
              <a:rPr lang="zh-CN" altLang="en-US" sz="2000" dirty="0"/>
              <a:t>短语，则如果该列被其他对象引用，</a:t>
            </a:r>
            <a:r>
              <a:rPr lang="en-US" altLang="zh-CN" sz="2000" dirty="0"/>
              <a:t>RDBMS</a:t>
            </a:r>
            <a:r>
              <a:rPr lang="zh-CN" altLang="en-US" sz="2000" dirty="0"/>
              <a:t>将拒绝删除该列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CONSTRAINT</a:t>
            </a:r>
            <a:r>
              <a:rPr lang="zh-CN" altLang="en-US" sz="2400" dirty="0"/>
              <a:t>子句用于删除指定的完整性约束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RENAME COLUMN</a:t>
            </a:r>
            <a:r>
              <a:rPr lang="zh-CN" altLang="zh-CN" sz="2400" dirty="0"/>
              <a:t>子句用于修改列名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ALTER COLUMN</a:t>
            </a:r>
            <a:r>
              <a:rPr lang="zh-CN" altLang="en-US" sz="2400" dirty="0"/>
              <a:t>子句用于修改列的数据类型</a:t>
            </a:r>
            <a:endParaRPr lang="zh-CN" altLang="en-US" sz="2000" dirty="0"/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sz="1800" b="0" dirty="0"/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sz="1600" b="0" dirty="0"/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sz="1600" b="0" dirty="0"/>
          </a:p>
          <a:p>
            <a:pPr eaLnBrk="1" hangingPunct="1"/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098563"/>
            <a:ext cx="8820150" cy="50974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3.8]</a:t>
            </a:r>
            <a:r>
              <a:rPr lang="zh-CN" altLang="en-US" sz="2400"/>
              <a:t> 向</a:t>
            </a:r>
            <a:r>
              <a:rPr lang="en-US" altLang="zh-CN" sz="2400"/>
              <a:t>Student</a:t>
            </a:r>
            <a:r>
              <a:rPr lang="zh-CN" altLang="en-US" sz="2400"/>
              <a:t>表增加“邮箱地址”列，其数据类型为字符型</a:t>
            </a:r>
            <a:endParaRPr lang="zh-CN" altLang="en-US" sz="240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ALTER TABLE Student ADD Semail VARCHAR(30);</a:t>
            </a:r>
            <a:endParaRPr lang="en-US" altLang="zh-CN" sz="240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/>
              <a:t>         不论基本表中原来是否已有数据，新增加的列一律为空值</a:t>
            </a:r>
            <a:endParaRPr lang="zh-CN" altLang="en-US" sz="240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098563"/>
            <a:ext cx="9360718" cy="50974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3.9]</a:t>
            </a:r>
            <a:r>
              <a:rPr lang="zh-CN" altLang="en-US" sz="2400" dirty="0"/>
              <a:t> 将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表中出生日期</a:t>
            </a:r>
            <a:r>
              <a:rPr lang="en-US" altLang="zh-CN" sz="2400" dirty="0" err="1"/>
              <a:t>Sbirthdate</a:t>
            </a:r>
            <a:r>
              <a:rPr lang="zh-CN" altLang="en-US" sz="2400" dirty="0"/>
              <a:t>的数据类型由</a:t>
            </a:r>
            <a:r>
              <a:rPr lang="en-US" altLang="zh-CN" sz="2400" dirty="0"/>
              <a:t>DATE</a:t>
            </a:r>
            <a:r>
              <a:rPr lang="zh-CN" altLang="en-US" sz="2400" dirty="0"/>
              <a:t>型改为字符型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200" dirty="0"/>
              <a:t>ALTER TABLE Student ALTER COLUMN </a:t>
            </a:r>
            <a:r>
              <a:rPr lang="en-US" altLang="zh-CN" sz="2200" dirty="0" err="1"/>
              <a:t>Sbirthdate</a:t>
            </a:r>
            <a:r>
              <a:rPr lang="en-US" altLang="zh-CN" sz="2200" dirty="0"/>
              <a:t> TYPE VARCHAR(20);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/*</a:t>
            </a:r>
            <a:r>
              <a:rPr lang="zh-CN" altLang="en-US" sz="2200" dirty="0"/>
              <a:t>注意，</a:t>
            </a:r>
            <a:r>
              <a:rPr lang="en-US" altLang="zh-CN" sz="2200" dirty="0"/>
              <a:t>DATE</a:t>
            </a:r>
            <a:r>
              <a:rPr lang="zh-CN" altLang="en-US" sz="2200" dirty="0"/>
              <a:t>类型占用</a:t>
            </a:r>
            <a:r>
              <a:rPr lang="en-US" altLang="zh-CN" sz="2200" dirty="0"/>
              <a:t>19</a:t>
            </a:r>
            <a:r>
              <a:rPr lang="zh-CN" altLang="en-US" sz="2200" dirty="0"/>
              <a:t>字节，所以修改为</a:t>
            </a:r>
            <a:r>
              <a:rPr lang="en-US" altLang="zh-CN" sz="2200" dirty="0"/>
              <a:t>VARCHAR</a:t>
            </a:r>
            <a:r>
              <a:rPr lang="zh-CN" altLang="en-US" sz="2200" dirty="0"/>
              <a:t>时长度要大于等于</a:t>
            </a:r>
            <a:r>
              <a:rPr lang="en-US" altLang="zh-CN" sz="2200" dirty="0"/>
              <a:t>19*/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3.10]</a:t>
            </a:r>
            <a:r>
              <a:rPr lang="zh-CN" altLang="en-US" sz="2400" dirty="0"/>
              <a:t> 增加课程名称必须取唯一值的约束条件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/>
              <a:t>    		</a:t>
            </a:r>
            <a:r>
              <a:rPr lang="en-US" altLang="zh-CN" sz="2400" dirty="0"/>
              <a:t>ALTER TABLE Course ADD UNIQUE</a:t>
            </a:r>
            <a:r>
              <a:rPr lang="zh-CN" altLang="en-US" sz="2400" dirty="0"/>
              <a:t>(</a:t>
            </a:r>
            <a:r>
              <a:rPr lang="en-US" altLang="zh-CN" sz="2400" dirty="0" err="1"/>
              <a:t>Cname</a:t>
            </a:r>
            <a:r>
              <a:rPr lang="zh-CN" altLang="en-US" sz="2400" dirty="0"/>
              <a:t>)</a:t>
            </a:r>
            <a:r>
              <a:rPr lang="en-US" altLang="zh-CN" sz="2400" dirty="0"/>
              <a:t>; </a:t>
            </a:r>
            <a:endParaRPr lang="en-US" altLang="zh-CN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196988"/>
            <a:ext cx="8534400" cy="5127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DROP TABLE 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  <a:r>
              <a:rPr lang="zh-CN" altLang="en-US" dirty="0"/>
              <a:t>［</a:t>
            </a:r>
            <a:r>
              <a:rPr lang="en-US" altLang="zh-CN" dirty="0"/>
              <a:t>RESTRICT| CASCADE</a:t>
            </a:r>
            <a:r>
              <a:rPr lang="zh-CN" altLang="en-US" dirty="0"/>
              <a:t>］</a:t>
            </a:r>
            <a:r>
              <a:rPr lang="en-US" altLang="zh-CN" dirty="0"/>
              <a:t>;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RESTRICT</a:t>
            </a:r>
            <a:r>
              <a:rPr lang="zh-CN" altLang="en-US" dirty="0"/>
              <a:t>：删除表是有限制的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欲删除的基本表不能被其他表的约束所引用</a:t>
            </a:r>
            <a:endParaRPr lang="zh-CN" altLang="en-US" sz="2200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如果存在依赖该表的对象，则此表不能被删除</a:t>
            </a:r>
            <a:endParaRPr lang="zh-CN" altLang="en-US" sz="22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CASCADE</a:t>
            </a:r>
            <a:r>
              <a:rPr lang="zh-CN" altLang="en-US" dirty="0"/>
              <a:t>：删除该表没有限制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在删除基本表的同时，相关的依赖对象一起删除 </a:t>
            </a:r>
            <a:endParaRPr lang="zh-CN" altLang="en-US" sz="2200" dirty="0"/>
          </a:p>
        </p:txBody>
      </p:sp>
      <p:sp>
        <p:nvSpPr>
          <p:cNvPr id="51203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lang="en-US" altLang="zh-CN" sz="3600">
                <a:solidFill>
                  <a:schemeClr val="bg1"/>
                </a:solidFill>
              </a:rPr>
              <a:t>5.</a:t>
            </a:r>
            <a:r>
              <a:rPr lang="zh-CN" altLang="en-US" sz="3600">
                <a:solidFill>
                  <a:schemeClr val="bg1"/>
                </a:solidFill>
              </a:rPr>
              <a:t>删除基本表</a:t>
            </a:r>
            <a:r>
              <a:rPr lang="en-US" altLang="zh-CN" sz="3600">
                <a:solidFill>
                  <a:schemeClr val="bg1"/>
                </a:solidFill>
              </a:rPr>
              <a:t>	</a:t>
            </a:r>
            <a:endParaRPr lang="en-US" altLang="zh-CN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3.11] </a:t>
            </a:r>
            <a:r>
              <a:rPr lang="zh-CN" altLang="en-US" sz="2400" dirty="0"/>
              <a:t>删除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</a:t>
            </a:r>
            <a:r>
              <a:rPr lang="zh-CN" altLang="zh-CN" sz="2400" dirty="0"/>
              <a:t>，选择</a:t>
            </a:r>
            <a:r>
              <a:rPr lang="en-US" altLang="zh-CN" sz="2400" dirty="0"/>
              <a:t>CASCADE</a:t>
            </a:r>
            <a:endParaRPr lang="zh-CN" altLang="en-US" sz="2400" dirty="0"/>
          </a:p>
          <a:p>
            <a:pPr lvl="1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DROP TABLE  Student  CASCADE;</a:t>
            </a:r>
            <a:endParaRPr lang="en-US" altLang="zh-CN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基本表定义被删除，数据被删除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表上建立的索引、视图、触发器等一般也将被删除 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1098563"/>
            <a:ext cx="8964612" cy="56435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3.12 ]</a:t>
            </a:r>
            <a:r>
              <a:rPr lang="zh-CN" altLang="zh-CN" sz="2400" dirty="0"/>
              <a:t>删除</a:t>
            </a:r>
            <a:r>
              <a:rPr lang="en-US" altLang="zh-CN" sz="2400" dirty="0"/>
              <a:t>Student</a:t>
            </a:r>
            <a:r>
              <a:rPr lang="zh-CN" altLang="zh-CN" sz="2400" dirty="0"/>
              <a:t>表，</a:t>
            </a:r>
            <a:r>
              <a:rPr lang="zh-CN" altLang="en-US" sz="2400" dirty="0"/>
              <a:t>若表上建有视图，选择</a:t>
            </a:r>
            <a:r>
              <a:rPr lang="en-US" altLang="zh-CN" sz="2400" dirty="0"/>
              <a:t>RESTRICT</a:t>
            </a:r>
            <a:r>
              <a:rPr lang="zh-CN" altLang="en-US" sz="2400" dirty="0"/>
              <a:t>时表不能删除;选择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时可以删除表，视图也自动删除。	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000" dirty="0"/>
              <a:t>CREATE VIEW </a:t>
            </a:r>
            <a:r>
              <a:rPr lang="en-US" altLang="zh-CN" sz="2000" dirty="0" err="1"/>
              <a:t>CS_Student</a:t>
            </a:r>
            <a:r>
              <a:rPr lang="en-US" altLang="zh-CN" sz="2000" dirty="0"/>
              <a:t>       </a:t>
            </a:r>
            <a:r>
              <a:rPr lang="en-US" altLang="zh-CN" sz="1400" dirty="0"/>
              <a:t>/* Student</a:t>
            </a:r>
            <a:r>
              <a:rPr lang="zh-CN" altLang="en-US" sz="1400" dirty="0"/>
              <a:t>表上建立计算机科学与技术专业学生视图*</a:t>
            </a:r>
            <a:r>
              <a:rPr lang="en-US" altLang="zh-CN" sz="1400" dirty="0"/>
              <a:t>/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AS 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SELECT </a:t>
            </a:r>
            <a:r>
              <a:rPr lang="en-US" altLang="zh-CN" sz="2000" dirty="0" err="1"/>
              <a:t>Sno,Sname,Ssex,Sbirthdate,Smajor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FROM Student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WHERE </a:t>
            </a:r>
            <a:r>
              <a:rPr lang="en-US" altLang="zh-CN" sz="2000" dirty="0" err="1"/>
              <a:t>Smajor</a:t>
            </a:r>
            <a:r>
              <a:rPr lang="en-US" altLang="zh-CN" sz="2000" dirty="0"/>
              <a:t>='</a:t>
            </a:r>
            <a:r>
              <a:rPr lang="zh-CN" altLang="en-US" sz="2000" dirty="0"/>
              <a:t>计算机科学与技术</a:t>
            </a:r>
            <a:r>
              <a:rPr lang="en-US" altLang="zh-CN" sz="2000" dirty="0"/>
              <a:t>’;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DROP TABLE Student RESTRICT;            </a:t>
            </a:r>
            <a:r>
              <a:rPr lang="en-US" altLang="zh-CN" sz="1600" dirty="0"/>
              <a:t>	/*</a:t>
            </a:r>
            <a:r>
              <a:rPr lang="zh-CN" altLang="en-US" sz="1600" dirty="0"/>
              <a:t>删除</a:t>
            </a:r>
            <a:r>
              <a:rPr lang="en-US" altLang="zh-CN" sz="1600" dirty="0"/>
              <a:t>Student</a:t>
            </a:r>
            <a:r>
              <a:rPr lang="zh-CN" altLang="en-US" sz="1600" dirty="0"/>
              <a:t>表*</a:t>
            </a:r>
            <a:r>
              <a:rPr lang="en-US" altLang="zh-CN" sz="1600" dirty="0"/>
              <a:t>/</a:t>
            </a:r>
            <a:endParaRPr lang="en-US" altLang="zh-CN" sz="16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1600" dirty="0"/>
              <a:t>--ERROR: cannot drop table Student because other objects depend on it</a:t>
            </a:r>
            <a:endParaRPr lang="en-US" altLang="zh-CN" sz="1600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	 /* 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系统返回错误信息，存在依赖该表的对象，此表不能被删除</a:t>
            </a:r>
            <a:r>
              <a:rPr lang="en-US" altLang="zh-CN" sz="1600" dirty="0">
                <a:latin typeface="Times New Roman" panose="02020603050405020304" pitchFamily="18" charset="0"/>
              </a:rPr>
              <a:t>*/</a:t>
            </a:r>
            <a:endParaRPr lang="en-US" altLang="zh-CN" sz="16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19301" y="1052526"/>
            <a:ext cx="9505291" cy="485457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</a:t>
            </a:r>
            <a:r>
              <a:rPr lang="zh-CN" altLang="en-US" sz="2400" dirty="0"/>
              <a:t>续</a:t>
            </a:r>
            <a:r>
              <a:rPr lang="en-US" altLang="zh-CN" sz="2400" dirty="0"/>
              <a:t>]</a:t>
            </a:r>
            <a:r>
              <a:rPr lang="zh-CN" altLang="en-US" sz="2400" dirty="0"/>
              <a:t> 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时可以删除表，视图也自动被删除 </a:t>
            </a:r>
            <a:endParaRPr lang="zh-CN" altLang="en-US" sz="24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DROP TABLE Student CASCADE;            	/*</a:t>
            </a:r>
            <a:r>
              <a:rPr lang="zh-CN" altLang="en-US" sz="2200" dirty="0"/>
              <a:t>删除</a:t>
            </a:r>
            <a:r>
              <a:rPr lang="en-US" altLang="zh-CN" sz="2200" dirty="0"/>
              <a:t>Student</a:t>
            </a:r>
            <a:r>
              <a:rPr lang="zh-CN" altLang="en-US" sz="2200" dirty="0"/>
              <a:t>表*</a:t>
            </a:r>
            <a:r>
              <a:rPr lang="en-US" altLang="zh-CN" sz="2200" dirty="0"/>
              <a:t>/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--NOTICE: drop cascades to view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	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                           /*</a:t>
            </a:r>
            <a:r>
              <a:rPr lang="zh-CN" altLang="en-US" sz="2200" dirty="0"/>
              <a:t>系统返回提示，此表上的视图也被删除*</a:t>
            </a:r>
            <a:r>
              <a:rPr lang="en-US" altLang="zh-CN" sz="2200" dirty="0"/>
              <a:t>/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SELECT * FROM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;                 /* </a:t>
            </a:r>
            <a:r>
              <a:rPr lang="en-US" altLang="zh-CN" sz="2200" dirty="0" err="1"/>
              <a:t>CS_Student</a:t>
            </a:r>
            <a:r>
              <a:rPr lang="zh-CN" altLang="en-US" sz="2200" dirty="0"/>
              <a:t>视图不存在*</a:t>
            </a:r>
            <a:r>
              <a:rPr lang="en-US" altLang="zh-CN" sz="2200" dirty="0"/>
              <a:t>/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--ERROR: relation "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 " does not exist</a:t>
            </a:r>
            <a:endParaRPr lang="en-US" altLang="zh-CN" sz="2200" dirty="0"/>
          </a:p>
          <a:p>
            <a:pPr eaLnBrk="1" hangingPunct="1"/>
            <a:endParaRPr lang="en-US" altLang="zh-CN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63552" y="1124744"/>
            <a:ext cx="8424936" cy="25953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SzPct val="100000"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不同产品</a:t>
            </a:r>
            <a:r>
              <a:rPr lang="en-US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DROP TABLE</a:t>
            </a:r>
            <a:endParaRPr lang="en-US" altLang="zh-CN" sz="4400" b="1" kern="0" dirty="0">
              <a:highlight>
                <a:srgbClr val="FFFF00"/>
              </a:highlight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处理策略比较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70338" y="188913"/>
            <a:ext cx="4811713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</a:rPr>
              <a:t>二维码</a:t>
            </a:r>
            <a:r>
              <a:rPr lang="en-US" altLang="zh-CN" sz="3600" b="1">
                <a:solidFill>
                  <a:schemeClr val="bg1"/>
                </a:solidFill>
              </a:rPr>
              <a:t>3.2</a:t>
            </a:r>
            <a:r>
              <a:rPr lang="en-US" altLang="zh-CN" sz="36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  <a:endParaRPr lang="zh-CN" altLang="en-US" sz="360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3.2.3 </a:t>
            </a:r>
            <a:r>
              <a:rPr lang="zh-CN" altLang="en-US">
                <a:solidFill>
                  <a:srgbClr val="00B050"/>
                </a:solidFill>
              </a:rPr>
              <a:t>索引的建立与删除</a:t>
            </a:r>
            <a:endParaRPr lang="en-US" altLang="zh-CN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3.2.4 </a:t>
            </a:r>
            <a:r>
              <a:rPr lang="zh-CN" altLang="en-US"/>
              <a:t>数据字典</a:t>
            </a:r>
            <a:endParaRPr lang="zh-CN" altLang="en-US"/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3.2.3 </a:t>
            </a:r>
            <a:r>
              <a:rPr lang="zh-CN" altLang="en-US" sz="3600"/>
              <a:t>索引的建立与删除</a:t>
            </a:r>
            <a:endParaRPr lang="zh-CN" altLang="en-US" sz="360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22350"/>
            <a:ext cx="8229600" cy="4927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建立索引目的：加快查询速度</a:t>
            </a:r>
            <a:endParaRPr lang="zh-CN" altLang="en-US" sz="3200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数据库常见索引：</a:t>
            </a:r>
            <a:endParaRPr lang="zh-CN" altLang="en-US" sz="3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顺序文件上的索引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哈希（</a:t>
            </a:r>
            <a:r>
              <a:rPr lang="en-US" altLang="zh-CN" dirty="0"/>
              <a:t>hash</a:t>
            </a:r>
            <a:r>
              <a:rPr lang="zh-CN" altLang="en-US" dirty="0"/>
              <a:t>）索引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位图索引</a:t>
            </a:r>
            <a:endParaRPr lang="zh-CN" altLang="en-US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特点：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树索引具有动态平衡的优点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hash</a:t>
            </a:r>
            <a:r>
              <a:rPr lang="zh-CN" altLang="en-US" dirty="0"/>
              <a:t>索引具有查找速度快的特点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索 引</a:t>
            </a:r>
            <a:endParaRPr lang="zh-CN" altLang="en-US" sz="360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815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/>
              <a:t>谁可以建立与删除索引</a:t>
            </a:r>
            <a:endParaRPr lang="zh-CN" altLang="en-US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/>
              <a:t>数据库管理员或表的属主（即建立表的人）</a:t>
            </a:r>
            <a:endParaRPr lang="zh-CN" altLang="en-US"/>
          </a:p>
          <a:p>
            <a:pPr algn="just" eaLnBrk="1" hangingPunct="1">
              <a:lnSpc>
                <a:spcPct val="150000"/>
              </a:lnSpc>
            </a:pPr>
            <a:r>
              <a:rPr lang="zh-CN" altLang="en-US"/>
              <a:t>谁维护索引</a:t>
            </a:r>
            <a:endParaRPr lang="zh-CN" altLang="en-US"/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/>
              <a:t>RDBMS</a:t>
            </a:r>
            <a:r>
              <a:rPr lang="zh-CN" altLang="en-US"/>
              <a:t>自动完成 </a:t>
            </a:r>
            <a:endParaRPr lang="zh-CN" altLang="en-US"/>
          </a:p>
          <a:p>
            <a:pPr algn="just" eaLnBrk="1" hangingPunct="1">
              <a:lnSpc>
                <a:spcPct val="150000"/>
              </a:lnSpc>
            </a:pPr>
            <a:r>
              <a:rPr lang="zh-CN" altLang="en-US"/>
              <a:t>使用索引</a:t>
            </a:r>
            <a:endParaRPr lang="zh-CN" altLang="en-US"/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/>
              <a:t>RDBMS</a:t>
            </a:r>
            <a:r>
              <a:rPr lang="zh-CN" altLang="en-US"/>
              <a:t>自动选择合适的索引作为存取路径，用户不必自主地选择索引</a:t>
            </a:r>
            <a:endParaRPr lang="zh-CN" altLang="en-US"/>
          </a:p>
          <a:p>
            <a:pPr lvl="1" eaLnBrk="1" hangingPunct="1">
              <a:lnSpc>
                <a:spcPct val="130000"/>
              </a:lnSpc>
            </a:pPr>
            <a:endParaRPr lang="zh-CN" altLang="en-US" sz="2200"/>
          </a:p>
          <a:p>
            <a:pPr eaLnBrk="1" hangingPunct="1">
              <a:lnSpc>
                <a:spcPct val="130000"/>
              </a:lnSpc>
            </a:pP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6413" y="1100151"/>
            <a:ext cx="8712200" cy="5354637"/>
          </a:xfrm>
        </p:spPr>
        <p:txBody>
          <a:bodyPr/>
          <a:lstStyle/>
          <a:p>
            <a:pPr algn="just" eaLnBrk="1" hangingPunct="1"/>
            <a:r>
              <a:rPr lang="zh-CN" altLang="en-US"/>
              <a:t>语句格式</a:t>
            </a:r>
            <a:endParaRPr lang="zh-CN" altLang="en-US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CREATE </a:t>
            </a:r>
            <a:r>
              <a:rPr lang="en-US" altLang="zh-CN">
                <a:solidFill>
                  <a:srgbClr val="FF00FF"/>
                </a:solidFill>
              </a:rPr>
              <a:t>[UNIQUE] [CLUSTER]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 </a:t>
            </a:r>
            <a:endParaRPr lang="en-US" altLang="zh-CN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ON &lt;</a:t>
            </a:r>
            <a:r>
              <a:rPr lang="zh-CN" altLang="en-US"/>
              <a:t>表名</a:t>
            </a:r>
            <a:r>
              <a:rPr lang="en-US" altLang="zh-CN"/>
              <a:t>&gt;(&lt;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&gt;][,&lt;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 ]</a:t>
            </a:r>
            <a:r>
              <a:rPr lang="en-US" altLang="zh-CN">
                <a:latin typeface="Courier New" panose="02070309020205020404" pitchFamily="49" charset="0"/>
              </a:rPr>
              <a:t>…)</a:t>
            </a:r>
            <a:r>
              <a:rPr lang="en-US" altLang="zh-CN"/>
              <a:t>;</a:t>
            </a:r>
            <a:endParaRPr lang="en-US" altLang="zh-CN"/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表名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要建索引的基本表的名字</a:t>
            </a:r>
            <a:endParaRPr lang="zh-CN" altLang="en-US"/>
          </a:p>
          <a:p>
            <a:pPr lvl="1" algn="just"/>
            <a:r>
              <a:rPr lang="zh-CN" altLang="en-US"/>
              <a:t>索引：可以建立在该表的一</a:t>
            </a:r>
            <a:r>
              <a:rPr lang="zh-CN" altLang="en-US">
                <a:solidFill>
                  <a:srgbClr val="FF00FF"/>
                </a:solidFill>
              </a:rPr>
              <a:t>列</a:t>
            </a:r>
            <a:r>
              <a:rPr lang="zh-CN" altLang="en-US"/>
              <a:t>或多列上，各列名之间用逗号分隔</a:t>
            </a:r>
            <a:endParaRPr lang="zh-CN" altLang="en-US"/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次序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指定索引值的排列次序，升序：</a:t>
            </a:r>
            <a:r>
              <a:rPr lang="en-US" altLang="zh-CN"/>
              <a:t>ASC</a:t>
            </a:r>
            <a:r>
              <a:rPr lang="zh-CN" altLang="en-US"/>
              <a:t>，降序：</a:t>
            </a:r>
            <a:r>
              <a:rPr lang="en-US" altLang="zh-CN"/>
              <a:t>DESC</a:t>
            </a:r>
            <a:r>
              <a:rPr lang="zh-CN" altLang="en-US"/>
              <a:t>。默认值：</a:t>
            </a:r>
            <a:r>
              <a:rPr lang="en-US" altLang="zh-CN"/>
              <a:t>ASC</a:t>
            </a:r>
            <a:endParaRPr lang="en-US" altLang="zh-CN"/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UNIQUE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此索引的每一个索引值只对应唯一的数据记录</a:t>
            </a:r>
            <a:endParaRPr lang="zh-CN" altLang="en-US"/>
          </a:p>
          <a:p>
            <a:pPr lvl="1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CLUSTER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表示要建立的索引是聚簇索引</a:t>
            </a:r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1.</a:t>
            </a:r>
            <a:r>
              <a:rPr lang="zh-CN" altLang="en-US" sz="3600" kern="0" dirty="0"/>
              <a:t>建立索引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31963" y="982676"/>
            <a:ext cx="8937625" cy="5095875"/>
          </a:xfrm>
        </p:spPr>
        <p:txBody>
          <a:bodyPr/>
          <a:lstStyle/>
          <a:p>
            <a:pPr marL="0" lvl="1" indent="0" algn="just" eaLnBrk="1" hangingPunct="1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3.13]</a:t>
            </a:r>
            <a:r>
              <a:rPr lang="zh-CN" altLang="en-US" dirty="0"/>
              <a:t>为学生选课数据库中的</a:t>
            </a:r>
            <a:r>
              <a:rPr lang="en-US" altLang="zh-CN" dirty="0"/>
              <a:t>Student</a:t>
            </a:r>
            <a:r>
              <a:rPr lang="zh-CN" altLang="en-US" dirty="0"/>
              <a:t>、</a:t>
            </a:r>
            <a:r>
              <a:rPr lang="en-US" altLang="zh-CN" dirty="0"/>
              <a:t>Course</a:t>
            </a:r>
            <a:r>
              <a:rPr lang="zh-CN" altLang="en-US" dirty="0"/>
              <a:t>和</a:t>
            </a:r>
            <a:r>
              <a:rPr lang="en-US" altLang="zh-CN" dirty="0"/>
              <a:t>SC</a:t>
            </a:r>
            <a:r>
              <a:rPr lang="zh-CN" altLang="en-US" dirty="0"/>
              <a:t>三个表建立索引。其中</a:t>
            </a:r>
            <a:r>
              <a:rPr lang="en-US" altLang="zh-CN" dirty="0"/>
              <a:t>Student</a:t>
            </a:r>
            <a:r>
              <a:rPr lang="zh-CN" altLang="en-US" dirty="0"/>
              <a:t>表按学生姓名升序建唯一索引，</a:t>
            </a:r>
            <a:r>
              <a:rPr lang="en-US" altLang="zh-CN" dirty="0"/>
              <a:t>Course</a:t>
            </a:r>
            <a:r>
              <a:rPr lang="zh-CN" altLang="en-US" dirty="0"/>
              <a:t>表按课程名升序建唯一索引，</a:t>
            </a:r>
            <a:r>
              <a:rPr lang="en-US" altLang="zh-CN" dirty="0"/>
              <a:t>SC</a:t>
            </a:r>
            <a:r>
              <a:rPr lang="zh-CN" altLang="en-US" dirty="0"/>
              <a:t>表按学号升序和课程号降序建唯一索引（即先按照学号升序，对同一个学号再按课程号降序）</a:t>
            </a:r>
            <a:endParaRPr lang="en-US" altLang="zh-CN" dirty="0"/>
          </a:p>
          <a:p>
            <a:pPr marL="0" lvl="1" indent="0" algn="just" eaLnBrk="1" hangingPunct="1">
              <a:buNone/>
            </a:pPr>
            <a:endParaRPr lang="zh-CN" altLang="en-US" sz="20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Idx_StuSname</a:t>
            </a:r>
            <a:r>
              <a:rPr lang="en-US" altLang="zh-CN" sz="2200" dirty="0"/>
              <a:t> ON Student(</a:t>
            </a:r>
            <a:r>
              <a:rPr lang="en-US" altLang="zh-CN" sz="2200" dirty="0" err="1"/>
              <a:t>Sname</a:t>
            </a:r>
            <a:r>
              <a:rPr lang="en-US" altLang="zh-CN" sz="2200" dirty="0"/>
              <a:t>);  </a:t>
            </a:r>
            <a:endParaRPr lang="en-US" altLang="zh-CN" sz="22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 					</a:t>
            </a:r>
            <a:r>
              <a:rPr lang="en-US" altLang="zh-CN" sz="1800" dirty="0"/>
              <a:t>/*</a:t>
            </a:r>
            <a:r>
              <a:rPr lang="zh-CN" altLang="en-US" sz="1800" dirty="0"/>
              <a:t>保证了</a:t>
            </a:r>
            <a:r>
              <a:rPr lang="en-US" altLang="zh-CN" sz="1800" dirty="0" err="1"/>
              <a:t>Sname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  <a:endParaRPr lang="en-US" altLang="zh-CN" sz="18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Idx_CouCname</a:t>
            </a:r>
            <a:r>
              <a:rPr lang="en-US" altLang="zh-CN" sz="2200" dirty="0"/>
              <a:t> ON Course(</a:t>
            </a:r>
            <a:r>
              <a:rPr lang="en-US" altLang="zh-CN" sz="2200" dirty="0" err="1"/>
              <a:t>Cname</a:t>
            </a:r>
            <a:r>
              <a:rPr lang="en-US" altLang="zh-CN" sz="2200" dirty="0"/>
              <a:t>);</a:t>
            </a:r>
            <a:endParaRPr lang="en-US" altLang="zh-CN" sz="22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			  		</a:t>
            </a:r>
            <a:r>
              <a:rPr lang="en-US" altLang="zh-CN" sz="1800" dirty="0"/>
              <a:t>/*</a:t>
            </a:r>
            <a:r>
              <a:rPr lang="zh-CN" altLang="en-US" sz="1800" dirty="0"/>
              <a:t>加上</a:t>
            </a:r>
            <a:r>
              <a:rPr lang="en-US" altLang="zh-CN" sz="1800" dirty="0" err="1"/>
              <a:t>Cname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  <a:endParaRPr lang="en-US" altLang="zh-CN" sz="18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Idx_SCCno</a:t>
            </a:r>
            <a:r>
              <a:rPr lang="en-US" altLang="zh-CN" sz="2200" dirty="0"/>
              <a:t> ON SC(</a:t>
            </a:r>
            <a:r>
              <a:rPr lang="en-US" altLang="zh-CN" sz="2200" dirty="0" err="1"/>
              <a:t>Sno</a:t>
            </a:r>
            <a:r>
              <a:rPr lang="en-US" altLang="zh-CN" sz="2200" dirty="0"/>
              <a:t> </a:t>
            </a:r>
            <a:r>
              <a:rPr lang="en-US" altLang="zh-CN" sz="2200" dirty="0" err="1"/>
              <a:t>ASC,Cno</a:t>
            </a:r>
            <a:r>
              <a:rPr lang="en-US" altLang="zh-CN" sz="2200" dirty="0"/>
              <a:t> DESC);</a:t>
            </a:r>
            <a:endParaRPr lang="en-US" altLang="zh-CN" sz="2200" dirty="0"/>
          </a:p>
          <a:p>
            <a:pPr marL="0" lvl="1" indent="0" eaLnBrk="1" hangingPunct="1">
              <a:buNone/>
            </a:pPr>
            <a:r>
              <a:rPr lang="zh-CN" altLang="en-US" sz="2200" dirty="0"/>
              <a:t>     </a:t>
            </a:r>
            <a:endParaRPr lang="zh-CN" altLang="en-US" sz="2200" dirty="0"/>
          </a:p>
          <a:p>
            <a:pPr marL="0" lvl="1" indent="0" eaLnBrk="1" hangingPunct="1">
              <a:buNone/>
            </a:pPr>
            <a:r>
              <a:rPr lang="zh-CN" altLang="en-US" sz="2000" dirty="0"/>
              <a:t>      </a:t>
            </a:r>
            <a:endParaRPr lang="zh-CN" altLang="en-US" sz="20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建立索引（续）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981200" y="1098563"/>
            <a:ext cx="8578850" cy="50958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solidFill>
                  <a:srgbClr val="FF00FF"/>
                </a:solidFill>
              </a:rPr>
              <a:t>2.</a:t>
            </a:r>
            <a:r>
              <a:rPr lang="zh-CN" altLang="en-US">
                <a:solidFill>
                  <a:srgbClr val="FF00FF"/>
                </a:solidFill>
              </a:rPr>
              <a:t>修改索引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600">
                <a:solidFill>
                  <a:srgbClr val="FF00FF"/>
                </a:solidFill>
              </a:rPr>
              <a:t>ALTER </a:t>
            </a:r>
            <a:r>
              <a:rPr lang="en-US" altLang="zh-CN" sz="2600"/>
              <a:t>INDEX &lt;</a:t>
            </a:r>
            <a:r>
              <a:rPr lang="zh-CN" altLang="en-US" sz="2600"/>
              <a:t>旧索引名</a:t>
            </a:r>
            <a:r>
              <a:rPr lang="en-US" altLang="zh-CN" sz="2600"/>
              <a:t>&gt; RENAME TO &lt;</a:t>
            </a:r>
            <a:r>
              <a:rPr lang="zh-CN" altLang="en-US" sz="2600"/>
              <a:t>新索引名</a:t>
            </a:r>
            <a:r>
              <a:rPr lang="en-US" altLang="zh-CN" sz="2600"/>
              <a:t>&gt;</a:t>
            </a:r>
            <a:endParaRPr lang="en-US" altLang="zh-CN" sz="260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u="sng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3.14]</a:t>
            </a:r>
            <a:r>
              <a:rPr lang="zh-CN" altLang="en-US" sz="2400"/>
              <a:t> 将</a:t>
            </a:r>
            <a:r>
              <a:rPr lang="en-US" altLang="zh-CN" sz="2400"/>
              <a:t>SC</a:t>
            </a:r>
            <a:r>
              <a:rPr lang="zh-CN" altLang="en-US" sz="2400"/>
              <a:t>表的</a:t>
            </a:r>
            <a:r>
              <a:rPr lang="en-US" altLang="zh-CN" sz="2400"/>
              <a:t>Idx_SCCno</a:t>
            </a:r>
            <a:r>
              <a:rPr lang="zh-CN" altLang="en-US" sz="2400"/>
              <a:t>索引名改为</a:t>
            </a:r>
            <a:r>
              <a:rPr lang="en-US" altLang="zh-CN" sz="2400"/>
              <a:t>Idx_SCSnoCno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ALTER INDEX Idx_SCCno RENAME TO Idx_SCSnoCno;</a:t>
            </a:r>
            <a:endParaRPr lang="en-US" altLang="zh-CN" sz="240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2.</a:t>
            </a:r>
            <a:r>
              <a:rPr lang="zh-CN" altLang="en-US" sz="3600" kern="0" dirty="0"/>
              <a:t>修改索引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196975"/>
            <a:ext cx="8496300" cy="4114800"/>
          </a:xfrm>
        </p:spPr>
        <p:txBody>
          <a:bodyPr/>
          <a:lstStyle/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3.</a:t>
            </a:r>
            <a:r>
              <a:rPr lang="zh-CN" altLang="en-US">
                <a:solidFill>
                  <a:srgbClr val="FF00FF"/>
                </a:solidFill>
              </a:rPr>
              <a:t>删除索引</a:t>
            </a:r>
            <a:endParaRPr lang="en-US" altLang="zh-CN">
              <a:solidFill>
                <a:srgbClr val="FF00FF"/>
              </a:solidFill>
            </a:endParaRPr>
          </a:p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DROP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</a:t>
            </a:r>
            <a:r>
              <a:rPr lang="zh-CN" altLang="en-US"/>
              <a:t>;</a:t>
            </a:r>
            <a:endParaRPr lang="zh-CN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删除索引时，系统会从数据字典中删去有关该索引的描述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lvl="1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3.15]</a:t>
            </a:r>
            <a:r>
              <a:rPr lang="zh-CN" altLang="en-US"/>
              <a:t>  删除</a:t>
            </a:r>
            <a:r>
              <a:rPr lang="en-US" altLang="zh-CN"/>
              <a:t>Student</a:t>
            </a:r>
            <a:r>
              <a:rPr lang="zh-CN" altLang="en-US"/>
              <a:t>表的</a:t>
            </a:r>
            <a:r>
              <a:rPr lang="en-US" altLang="zh-CN"/>
              <a:t>Idx_StuSname</a:t>
            </a:r>
            <a:r>
              <a:rPr lang="zh-CN" altLang="en-US"/>
              <a:t>索引</a:t>
            </a:r>
            <a:endParaRPr lang="zh-CN" altLang="en-US"/>
          </a:p>
          <a:p>
            <a:pPr lvl="1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DROP INDEX Idx_StuSname;</a:t>
            </a:r>
            <a:endParaRPr lang="en-US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3.</a:t>
            </a:r>
            <a:r>
              <a:rPr lang="zh-CN" altLang="en-US" sz="3600">
                <a:solidFill>
                  <a:schemeClr val="bg1"/>
                </a:solidFill>
              </a:rPr>
              <a:t>删除索引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  <a:endParaRPr lang="zh-CN" altLang="en-US" sz="360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  <a:endParaRPr lang="zh-CN" altLang="en-US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3.2.3 </a:t>
            </a:r>
            <a:r>
              <a:rPr lang="zh-CN" altLang="en-US"/>
              <a:t>索引的建立与删除</a:t>
            </a:r>
            <a:endParaRPr lang="en-US" altLang="zh-CN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3.2.4 </a:t>
            </a:r>
            <a:r>
              <a:rPr lang="zh-CN" altLang="en-US">
                <a:solidFill>
                  <a:srgbClr val="00B050"/>
                </a:solidFill>
              </a:rPr>
              <a:t>数据字典</a:t>
            </a:r>
            <a:endParaRPr lang="zh-CN" altLang="en-US">
              <a:solidFill>
                <a:srgbClr val="00B050"/>
              </a:solidFill>
            </a:endParaRPr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3.2.4 </a:t>
            </a:r>
            <a:r>
              <a:rPr lang="zh-CN" altLang="en-US" sz="3600"/>
              <a:t>数据字典</a:t>
            </a:r>
            <a:endParaRPr lang="zh-CN" altLang="en-US" sz="3600"/>
          </a:p>
        </p:txBody>
      </p:sp>
      <p:sp>
        <p:nvSpPr>
          <p:cNvPr id="64515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981200" y="981088"/>
            <a:ext cx="8229600" cy="5256213"/>
          </a:xfrm>
        </p:spPr>
        <p:txBody>
          <a:bodyPr/>
          <a:lstStyle/>
          <a:p>
            <a:pPr eaLnBrk="1" hangingPunct="1"/>
            <a:r>
              <a:rPr lang="zh-CN" altLang="en-US" sz="2600"/>
              <a:t>数据字典是关系数据库管理系统内部的一组系统表，它记录了数据库中所有定义信息：</a:t>
            </a:r>
            <a:endParaRPr lang="en-US" altLang="zh-CN" sz="2600"/>
          </a:p>
          <a:p>
            <a:pPr lvl="1"/>
            <a:r>
              <a:rPr lang="zh-CN" altLang="en-US"/>
              <a:t>关系模式定义</a:t>
            </a:r>
            <a:endParaRPr lang="en-US" altLang="zh-CN"/>
          </a:p>
          <a:p>
            <a:pPr lvl="1"/>
            <a:r>
              <a:rPr lang="zh-CN" altLang="en-US"/>
              <a:t>视图定义</a:t>
            </a:r>
            <a:endParaRPr lang="en-US" altLang="zh-CN"/>
          </a:p>
          <a:p>
            <a:pPr lvl="1"/>
            <a:r>
              <a:rPr lang="zh-CN" altLang="en-US"/>
              <a:t>索引定义</a:t>
            </a:r>
            <a:endParaRPr lang="en-US" altLang="zh-CN"/>
          </a:p>
          <a:p>
            <a:pPr lvl="1"/>
            <a:r>
              <a:rPr lang="zh-CN" altLang="en-US"/>
              <a:t>完整性约束定义</a:t>
            </a:r>
            <a:endParaRPr lang="en-US" altLang="zh-CN"/>
          </a:p>
          <a:p>
            <a:pPr lvl="1"/>
            <a:r>
              <a:rPr lang="zh-CN" altLang="en-US"/>
              <a:t>各类用户对数据库的操作权限</a:t>
            </a:r>
            <a:endParaRPr lang="en-US" altLang="zh-CN"/>
          </a:p>
          <a:p>
            <a:pPr lvl="1"/>
            <a:r>
              <a:rPr lang="zh-CN" altLang="en-US"/>
              <a:t>统计信息等</a:t>
            </a:r>
            <a:endParaRPr lang="zh-CN" altLang="en-US"/>
          </a:p>
          <a:p>
            <a:pPr eaLnBrk="1" hangingPunct="1"/>
            <a:r>
              <a:rPr lang="en-US" altLang="zh-CN" sz="2600"/>
              <a:t>RDBMS</a:t>
            </a:r>
            <a:r>
              <a:rPr lang="zh-CN" altLang="en-US" sz="2600"/>
              <a:t>在执行</a:t>
            </a:r>
            <a:r>
              <a:rPr lang="en-US" altLang="zh-CN" sz="2600"/>
              <a:t>SQL</a:t>
            </a:r>
            <a:r>
              <a:rPr lang="zh-CN" altLang="en-US" sz="2600"/>
              <a:t>的数据定义语句时，就是在更新数据字典表中的相应信息</a:t>
            </a:r>
            <a:endParaRPr lang="en-US" altLang="zh-CN" sz="2600"/>
          </a:p>
          <a:p>
            <a:pPr eaLnBrk="1" hangingPunct="1"/>
            <a:r>
              <a:rPr lang="zh-CN" altLang="zh-CN" sz="2600"/>
              <a:t>查询优化和查询处理时，</a:t>
            </a:r>
            <a:r>
              <a:rPr lang="en-US" altLang="zh-CN" sz="2600"/>
              <a:t>RDBMS</a:t>
            </a:r>
            <a:r>
              <a:rPr lang="zh-CN" altLang="zh-CN" sz="2600"/>
              <a:t>要根据数据字典中的信息执行处理算法和优化算法</a:t>
            </a:r>
            <a:endParaRPr lang="zh-CN" altLang="en-US" sz="2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TYyMzg4Y2Q5OGQxYzJlYjE1Yzc2MDY1YWZhZTJkM2QifQ=="/>
</p:tagLst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1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2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数据库系统概论">
  <a:themeElements>
    <a:clrScheme name="3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3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8982</Words>
  <Application>WPS 演示</Application>
  <PresentationFormat>宽屏</PresentationFormat>
  <Paragraphs>720</Paragraphs>
  <Slides>56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56</vt:i4>
      </vt:variant>
    </vt:vector>
  </HeadingPairs>
  <TitlesOfParts>
    <vt:vector size="72" baseType="lpstr">
      <vt:lpstr>Arial</vt:lpstr>
      <vt:lpstr>宋体</vt:lpstr>
      <vt:lpstr>Wingdings</vt:lpstr>
      <vt:lpstr>Calibri</vt:lpstr>
      <vt:lpstr>Times New Roman</vt:lpstr>
      <vt:lpstr>黑体</vt:lpstr>
      <vt:lpstr>Times-Roman</vt:lpstr>
      <vt:lpstr>隶书</vt:lpstr>
      <vt:lpstr>微软雅黑</vt:lpstr>
      <vt:lpstr>Arial Unicode MS</vt:lpstr>
      <vt:lpstr>Courier New</vt:lpstr>
      <vt:lpstr>Therese</vt:lpstr>
      <vt:lpstr>数据库系统概论</vt:lpstr>
      <vt:lpstr>1_数据库系统概论</vt:lpstr>
      <vt:lpstr>2_数据库系统概论</vt:lpstr>
      <vt:lpstr>3_数据库系统概论</vt:lpstr>
      <vt:lpstr>PowerPoint 演示文稿</vt:lpstr>
      <vt:lpstr>第三章  关系数据库标准语言SQL</vt:lpstr>
      <vt:lpstr>3.1 SQL概述</vt:lpstr>
      <vt:lpstr>SQL概述（续）</vt:lpstr>
      <vt:lpstr>3.1.1 SQL的产生与发展</vt:lpstr>
      <vt:lpstr>SQL的产生与发展（续）</vt:lpstr>
      <vt:lpstr>3.1 SQL概述</vt:lpstr>
      <vt:lpstr>3.1.2 SQL的特点</vt:lpstr>
      <vt:lpstr>SQL的特点（续）</vt:lpstr>
      <vt:lpstr>SQL的特点（续）</vt:lpstr>
      <vt:lpstr>SQL的特点（续）</vt:lpstr>
      <vt:lpstr>SQL的特点（续）</vt:lpstr>
      <vt:lpstr>3.1 SQL概述</vt:lpstr>
      <vt:lpstr>3.1.3 SQL语言的基本概念</vt:lpstr>
      <vt:lpstr>SQL语言的基本概念（续）</vt:lpstr>
      <vt:lpstr>SQL语言的基本概念（续）</vt:lpstr>
      <vt:lpstr>SQL语言的基本概念（续）</vt:lpstr>
      <vt:lpstr>第三章  关系数据库标准语言SQL</vt:lpstr>
      <vt:lpstr>3.2  数据定义 </vt:lpstr>
      <vt:lpstr>模式</vt:lpstr>
      <vt:lpstr>3.2 数据定义</vt:lpstr>
      <vt:lpstr>1. 定义模式</vt:lpstr>
      <vt:lpstr>定义模式（续）</vt:lpstr>
      <vt:lpstr>定义模式（续）</vt:lpstr>
      <vt:lpstr>2. 删除模式</vt:lpstr>
      <vt:lpstr>删除模式（续）</vt:lpstr>
      <vt:lpstr>3.2 数据定义</vt:lpstr>
      <vt:lpstr>定义基本表</vt:lpstr>
      <vt:lpstr>定义基本表（续）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3.2.3 索引的建立与删除</vt:lpstr>
      <vt:lpstr>索 引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3.2.4 数据字典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陈晋川</cp:lastModifiedBy>
  <cp:revision>238</cp:revision>
  <dcterms:created xsi:type="dcterms:W3CDTF">2014-10-22T07:43:00Z</dcterms:created>
  <dcterms:modified xsi:type="dcterms:W3CDTF">2025-09-19T00:11:52Z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EB4C9251F54248D493284623432BCD92_12</vt:lpwstr>
  </property>
</Properties>
</file>