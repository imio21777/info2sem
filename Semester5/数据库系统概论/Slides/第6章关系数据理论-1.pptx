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wdp" ContentType="image/vnd.ms-photo"/>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149" r:id="rId3"/>
    <p:sldId id="572" r:id="rId5"/>
    <p:sldId id="573" r:id="rId6"/>
    <p:sldId id="803" r:id="rId7"/>
    <p:sldId id="574" r:id="rId8"/>
    <p:sldId id="1445" r:id="rId9"/>
    <p:sldId id="1446" r:id="rId10"/>
    <p:sldId id="763" r:id="rId11"/>
    <p:sldId id="774" r:id="rId12"/>
    <p:sldId id="775" r:id="rId13"/>
    <p:sldId id="768" r:id="rId14"/>
    <p:sldId id="769" r:id="rId15"/>
    <p:sldId id="796" r:id="rId16"/>
    <p:sldId id="802" r:id="rId17"/>
    <p:sldId id="797" r:id="rId18"/>
    <p:sldId id="807" r:id="rId19"/>
    <p:sldId id="806" r:id="rId20"/>
    <p:sldId id="804" r:id="rId21"/>
    <p:sldId id="808" r:id="rId22"/>
    <p:sldId id="593" r:id="rId23"/>
    <p:sldId id="867" r:id="rId24"/>
    <p:sldId id="596" r:id="rId25"/>
    <p:sldId id="835" r:id="rId26"/>
    <p:sldId id="600" r:id="rId27"/>
    <p:sldId id="1299" r:id="rId28"/>
    <p:sldId id="1300" r:id="rId29"/>
    <p:sldId id="836" r:id="rId30"/>
    <p:sldId id="1368" r:id="rId31"/>
    <p:sldId id="601" r:id="rId32"/>
    <p:sldId id="1301" r:id="rId33"/>
    <p:sldId id="1302" r:id="rId34"/>
    <p:sldId id="1303" r:id="rId35"/>
    <p:sldId id="603" r:id="rId36"/>
    <p:sldId id="606" r:id="rId37"/>
    <p:sldId id="1362" r:id="rId38"/>
    <p:sldId id="1363" r:id="rId39"/>
    <p:sldId id="870" r:id="rId40"/>
    <p:sldId id="609" r:id="rId41"/>
    <p:sldId id="838" r:id="rId42"/>
    <p:sldId id="613" r:id="rId43"/>
    <p:sldId id="612" r:id="rId44"/>
    <p:sldId id="871" r:id="rId45"/>
    <p:sldId id="840" r:id="rId46"/>
    <p:sldId id="842" r:id="rId47"/>
    <p:sldId id="868" r:id="rId48"/>
    <p:sldId id="843" r:id="rId49"/>
    <p:sldId id="844" r:id="rId50"/>
    <p:sldId id="845" r:id="rId51"/>
    <p:sldId id="846" r:id="rId52"/>
    <p:sldId id="847" r:id="rId53"/>
    <p:sldId id="848" r:id="rId54"/>
    <p:sldId id="849" r:id="rId55"/>
    <p:sldId id="850" r:id="rId56"/>
    <p:sldId id="869" r:id="rId57"/>
    <p:sldId id="852" r:id="rId58"/>
    <p:sldId id="853" r:id="rId59"/>
    <p:sldId id="872" r:id="rId60"/>
    <p:sldId id="855" r:id="rId61"/>
    <p:sldId id="856" r:id="rId62"/>
    <p:sldId id="857" r:id="rId63"/>
    <p:sldId id="858" r:id="rId64"/>
    <p:sldId id="859" r:id="rId65"/>
    <p:sldId id="860" r:id="rId66"/>
    <p:sldId id="861" r:id="rId67"/>
    <p:sldId id="862" r:id="rId68"/>
    <p:sldId id="863" r:id="rId69"/>
    <p:sldId id="864" r:id="rId70"/>
    <p:sldId id="873" r:id="rId71"/>
    <p:sldId id="637" r:id="rId72"/>
    <p:sldId id="638" r:id="rId73"/>
    <p:sldId id="874" r:id="rId74"/>
    <p:sldId id="639" r:id="rId75"/>
    <p:sldId id="642" r:id="rId76"/>
    <p:sldId id="644" r:id="rId77"/>
    <p:sldId id="645" r:id="rId78"/>
    <p:sldId id="646" r:id="rId79"/>
    <p:sldId id="647" r:id="rId80"/>
    <p:sldId id="650" r:id="rId81"/>
    <p:sldId id="651" r:id="rId82"/>
    <p:sldId id="652" r:id="rId83"/>
    <p:sldId id="653" r:id="rId84"/>
    <p:sldId id="1364" r:id="rId85"/>
    <p:sldId id="1365" r:id="rId86"/>
    <p:sldId id="654" r:id="rId87"/>
    <p:sldId id="681" r:id="rId88"/>
    <p:sldId id="682" r:id="rId89"/>
    <p:sldId id="683" r:id="rId90"/>
    <p:sldId id="684" r:id="rId91"/>
    <p:sldId id="1366" r:id="rId92"/>
    <p:sldId id="685" r:id="rId93"/>
    <p:sldId id="1532" r:id="rId94"/>
    <p:sldId id="1443" r:id="rId95"/>
    <p:sldId id="1442" r:id="rId96"/>
  </p:sldIdLst>
  <p:sldSz cx="9144000" cy="5143500" type="screen16x9"/>
  <p:notesSz cx="6833870" cy="9979025"/>
  <p:custDataLst>
    <p:tags r:id="rId101"/>
  </p:custData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44" userDrawn="1">
          <p15:clr>
            <a:srgbClr val="A4A3A4"/>
          </p15:clr>
        </p15:guide>
        <p15:guide id="2" pos="282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ENOVO" initials="L"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31" autoAdjust="0"/>
    <p:restoredTop sz="75171" autoAdjust="0"/>
  </p:normalViewPr>
  <p:slideViewPr>
    <p:cSldViewPr snapToObjects="1" showGuides="1">
      <p:cViewPr varScale="1">
        <p:scale>
          <a:sx n="96" d="100"/>
          <a:sy n="96" d="100"/>
        </p:scale>
        <p:origin x="960" y="84"/>
      </p:cViewPr>
      <p:guideLst>
        <p:guide orient="horz" pos="1644"/>
        <p:guide pos="2826"/>
      </p:guideLst>
    </p:cSldViewPr>
  </p:slideViewPr>
  <p:outlineViewPr>
    <p:cViewPr>
      <p:scale>
        <a:sx n="33" d="100"/>
        <a:sy n="33" d="100"/>
      </p:scale>
      <p:origin x="0" y="5412"/>
    </p:cViewPr>
  </p:outlineViewPr>
  <p:notesTextViewPr>
    <p:cViewPr>
      <p:scale>
        <a:sx n="75" d="100"/>
        <a:sy n="75" d="100"/>
      </p:scale>
      <p:origin x="0" y="0"/>
    </p:cViewPr>
  </p:notesTextViewPr>
  <p:sorterViewPr>
    <p:cViewPr varScale="1">
      <p:scale>
        <a:sx n="1" d="1"/>
        <a:sy n="1" d="1"/>
      </p:scale>
      <p:origin x="0" y="-2585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1" Type="http://schemas.openxmlformats.org/officeDocument/2006/relationships/tags" Target="tags/tag12.xml"/><Relationship Id="rId100" Type="http://schemas.openxmlformats.org/officeDocument/2006/relationships/commentAuthors" Target="commentAuthors.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a:lvl1pPr>
          </a:lstStyle>
          <a:p>
            <a:pPr>
              <a:defRPr/>
            </a:pPr>
            <a:fld id="{98D9254D-DD28-4882-BE16-AE0C7916E424}" type="datetimeFigureOut">
              <a:rPr lang="zh-CN" altLang="en-US"/>
            </a:fld>
            <a:endParaRPr lang="en-US"/>
          </a:p>
        </p:txBody>
      </p:sp>
      <p:sp>
        <p:nvSpPr>
          <p:cNvPr id="25604" name="Rectangle 4"/>
          <p:cNvSpPr>
            <a:spLocks noGrp="1" noRot="1" noChangeAspect="1" noChangeArrowheads="1"/>
          </p:cNvSpPr>
          <p:nvPr>
            <p:ph type="sldImg" idx="2"/>
          </p:nvPr>
        </p:nvSpPr>
        <p:spPr bwMode="auto">
          <a:xfrm>
            <a:off x="90488" y="747713"/>
            <a:ext cx="6651625" cy="3741737"/>
          </a:xfrm>
          <a:prstGeom prst="rect">
            <a:avLst/>
          </a:prstGeom>
          <a:noFill/>
          <a:ln w="9525">
            <a:noFill/>
            <a:miter lim="800000"/>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a:effectLst/>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a:effectLst/>
        </p:spPr>
        <p:txBody>
          <a:bodyPr vert="horz" wrap="square" lIns="91440" tIns="45720" rIns="91440" bIns="45720" numCol="1" anchor="b" anchorCtr="0" compatLnSpc="1"/>
          <a:lstStyle>
            <a:lvl1pPr algn="r" eaLnBrk="0" hangingPunct="0">
              <a:defRPr sz="1200"/>
            </a:lvl1pPr>
          </a:lstStyle>
          <a:p>
            <a:pPr>
              <a:defRPr/>
            </a:pPr>
            <a:fld id="{F7257DD1-BACB-4FE7-9A96-B83AEB9C3360}" type="slidenum">
              <a:rPr lang="zh-CN" alt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详细讲解关系规范化理论，它既是关系数据库的重要理论基础，也是数据库设计的有力工具。规范化理论为数据库设计提供了理论指南和工具。</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为什么叫关系数据理论？</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defRPr/>
            </a:pPr>
            <a:endParaRPr lang="en-US" altLang="zh-CN" dirty="0"/>
          </a:p>
          <a:p>
            <a:r>
              <a:rPr lang="en-US" sz="1200" kern="1200" dirty="0">
                <a:solidFill>
                  <a:schemeClr val="tx1"/>
                </a:solidFill>
                <a:latin typeface="Calibri" panose="020F0502020204030204" pitchFamily="34" charset="0"/>
                <a:ea typeface="宋体" panose="02010600030101010101" pitchFamily="2" charset="-122"/>
                <a:cs typeface="+mn-cs"/>
              </a:rPr>
              <a:t>6.1</a:t>
            </a:r>
            <a:r>
              <a:rPr lang="zh-CN" altLang="en-US" sz="1200" kern="1200" dirty="0">
                <a:solidFill>
                  <a:schemeClr val="tx1"/>
                </a:solidFill>
                <a:latin typeface="Calibri" panose="020F0502020204030204" pitchFamily="34" charset="0"/>
                <a:ea typeface="宋体" panose="02010600030101010101" pitchFamily="2" charset="-122"/>
                <a:cs typeface="+mn-cs"/>
              </a:rPr>
              <a:t>节从数据库逻辑设计中如何构造一个好的数据库模式这一问题出发，阐明了关系规范化理论研究的实际背景。</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endParaRPr lang="en-US" sz="1200" kern="1200" dirty="0">
              <a:solidFill>
                <a:schemeClr val="tx1"/>
              </a:solidFill>
              <a:latin typeface="Calibri" panose="020F0502020204030204" pitchFamily="34" charset="0"/>
              <a:ea typeface="宋体" panose="02010600030101010101" pitchFamily="2" charset="-122"/>
              <a:cs typeface="+mn-cs"/>
            </a:endParaRPr>
          </a:p>
          <a:p>
            <a:r>
              <a:rPr lang="en-US" sz="1200" kern="1200" dirty="0">
                <a:solidFill>
                  <a:schemeClr val="tx1"/>
                </a:solidFill>
                <a:latin typeface="Calibri" panose="020F0502020204030204" pitchFamily="34" charset="0"/>
                <a:ea typeface="宋体" panose="02010600030101010101" pitchFamily="2" charset="-122"/>
                <a:cs typeface="+mn-cs"/>
              </a:rPr>
              <a:t>6.2</a:t>
            </a:r>
            <a:r>
              <a:rPr lang="zh-CN" altLang="en-US" sz="1200" kern="1200" dirty="0">
                <a:solidFill>
                  <a:schemeClr val="tx1"/>
                </a:solidFill>
                <a:latin typeface="Calibri" panose="020F0502020204030204" pitchFamily="34" charset="0"/>
                <a:ea typeface="宋体" panose="02010600030101010101" pitchFamily="2" charset="-122"/>
                <a:cs typeface="+mn-cs"/>
              </a:rPr>
              <a:t>节介绍规范化理论，讨论各种范式及可能存在的插入、删除等问题，并直观地描述解决办法。</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en-US" sz="1200" kern="1200" dirty="0">
                <a:solidFill>
                  <a:schemeClr val="tx1"/>
                </a:solidFill>
                <a:latin typeface="Calibri" panose="020F0502020204030204" pitchFamily="34" charset="0"/>
                <a:ea typeface="宋体" panose="02010600030101010101" pitchFamily="2" charset="-122"/>
                <a:cs typeface="+mn-cs"/>
              </a:rPr>
              <a:t>6.3</a:t>
            </a:r>
            <a:r>
              <a:rPr lang="zh-CN" altLang="en-US" sz="1200" kern="1200" dirty="0">
                <a:solidFill>
                  <a:schemeClr val="tx1"/>
                </a:solidFill>
                <a:latin typeface="Calibri" panose="020F0502020204030204" pitchFamily="34" charset="0"/>
                <a:ea typeface="宋体" panose="02010600030101010101" pitchFamily="2" charset="-122"/>
                <a:cs typeface="+mn-cs"/>
              </a:rPr>
              <a:t>节和</a:t>
            </a:r>
            <a:r>
              <a:rPr lang="en-US" sz="1200" kern="1200" dirty="0">
                <a:solidFill>
                  <a:schemeClr val="tx1"/>
                </a:solidFill>
                <a:latin typeface="Calibri" panose="020F0502020204030204" pitchFamily="34" charset="0"/>
                <a:ea typeface="宋体" panose="02010600030101010101" pitchFamily="2" charset="-122"/>
                <a:cs typeface="+mn-cs"/>
              </a:rPr>
              <a:t>6.4</a:t>
            </a:r>
            <a:r>
              <a:rPr lang="zh-CN" altLang="en-US" sz="1200" kern="1200" dirty="0">
                <a:solidFill>
                  <a:schemeClr val="tx1"/>
                </a:solidFill>
                <a:latin typeface="Calibri" panose="020F0502020204030204" pitchFamily="34" charset="0"/>
                <a:ea typeface="宋体" panose="02010600030101010101" pitchFamily="2" charset="-122"/>
                <a:cs typeface="+mn-cs"/>
              </a:rPr>
              <a:t>节进一步讨论关系数据理论</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en-US" sz="1200" kern="1200" dirty="0">
                <a:solidFill>
                  <a:schemeClr val="tx1"/>
                </a:solidFill>
                <a:latin typeface="Calibri" panose="020F0502020204030204" pitchFamily="34" charset="0"/>
                <a:ea typeface="宋体" panose="02010600030101010101" pitchFamily="2" charset="-122"/>
                <a:cs typeface="+mn-cs"/>
              </a:rPr>
              <a:t>6.3</a:t>
            </a:r>
            <a:r>
              <a:rPr lang="zh-CN" altLang="en-US" sz="1200" kern="1200" dirty="0">
                <a:solidFill>
                  <a:schemeClr val="tx1"/>
                </a:solidFill>
                <a:latin typeface="Calibri" panose="020F0502020204030204" pitchFamily="34" charset="0"/>
                <a:ea typeface="宋体" panose="02010600030101010101" pitchFamily="2" charset="-122"/>
                <a:cs typeface="+mn-cs"/>
              </a:rPr>
              <a:t>节讨论函数依赖的推理规则，</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en-US" sz="1200" kern="1200" dirty="0">
                <a:solidFill>
                  <a:schemeClr val="tx1"/>
                </a:solidFill>
                <a:latin typeface="Calibri" panose="020F0502020204030204" pitchFamily="34" charset="0"/>
                <a:ea typeface="宋体" panose="02010600030101010101" pitchFamily="2" charset="-122"/>
                <a:cs typeface="+mn-cs"/>
              </a:rPr>
              <a:t>6.4</a:t>
            </a:r>
            <a:r>
              <a:rPr lang="zh-CN" altLang="en-US" sz="1200" kern="1200" dirty="0">
                <a:solidFill>
                  <a:schemeClr val="tx1"/>
                </a:solidFill>
                <a:latin typeface="Calibri" panose="020F0502020204030204" pitchFamily="34" charset="0"/>
                <a:ea typeface="宋体" panose="02010600030101010101" pitchFamily="2" charset="-122"/>
                <a:cs typeface="+mn-cs"/>
              </a:rPr>
              <a:t>节给出模式等价的不同定义及模式分解算法。</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zh-CN" altLang="en-US" sz="1200" kern="1200" dirty="0">
                <a:solidFill>
                  <a:schemeClr val="tx1"/>
                </a:solidFill>
                <a:latin typeface="Calibri" panose="020F0502020204030204" pitchFamily="34" charset="0"/>
                <a:ea typeface="宋体" panose="02010600030101010101" pitchFamily="2" charset="-122"/>
                <a:cs typeface="+mn-cs"/>
              </a:rPr>
              <a:t>本章所有内容中，</a:t>
            </a:r>
            <a:r>
              <a:rPr lang="en-US" sz="1200" kern="1200" dirty="0">
                <a:solidFill>
                  <a:schemeClr val="tx1"/>
                </a:solidFill>
                <a:latin typeface="Calibri" panose="020F0502020204030204" pitchFamily="34" charset="0"/>
                <a:ea typeface="宋体" panose="02010600030101010101" pitchFamily="2" charset="-122"/>
                <a:cs typeface="+mn-cs"/>
              </a:rPr>
              <a:t>6.1</a:t>
            </a:r>
            <a:r>
              <a:rPr lang="zh-CN" altLang="en-US" sz="1200" kern="1200" dirty="0">
                <a:solidFill>
                  <a:schemeClr val="tx1"/>
                </a:solidFill>
                <a:latin typeface="Calibri" panose="020F0502020204030204" pitchFamily="34" charset="0"/>
                <a:ea typeface="宋体" panose="02010600030101010101" pitchFamily="2" charset="-122"/>
                <a:cs typeface="+mn-cs"/>
              </a:rPr>
              <a:t>和</a:t>
            </a:r>
            <a:r>
              <a:rPr lang="en-US" sz="1200" kern="1200" dirty="0">
                <a:solidFill>
                  <a:schemeClr val="tx1"/>
                </a:solidFill>
                <a:latin typeface="Calibri" panose="020F0502020204030204" pitchFamily="34" charset="0"/>
                <a:ea typeface="宋体" panose="02010600030101010101" pitchFamily="2" charset="-122"/>
                <a:cs typeface="+mn-cs"/>
              </a:rPr>
              <a:t>6.2</a:t>
            </a:r>
            <a:r>
              <a:rPr lang="zh-CN" altLang="en-US" sz="1200" kern="1200" dirty="0">
                <a:solidFill>
                  <a:schemeClr val="tx1"/>
                </a:solidFill>
                <a:latin typeface="Calibri" panose="020F0502020204030204" pitchFamily="34" charset="0"/>
                <a:ea typeface="宋体" panose="02010600030101010101" pitchFamily="2" charset="-122"/>
                <a:cs typeface="+mn-cs"/>
              </a:rPr>
              <a:t>两节内容是基本的，本科学生需要掌握，</a:t>
            </a:r>
            <a:r>
              <a:rPr lang="en-US" sz="1200" kern="1200" dirty="0">
                <a:solidFill>
                  <a:schemeClr val="tx1"/>
                </a:solidFill>
                <a:latin typeface="Calibri" panose="020F0502020204030204" pitchFamily="34" charset="0"/>
                <a:ea typeface="宋体" panose="02010600030101010101" pitchFamily="2" charset="-122"/>
                <a:cs typeface="+mn-cs"/>
              </a:rPr>
              <a:t>6.3</a:t>
            </a:r>
            <a:r>
              <a:rPr lang="zh-CN" altLang="en-US" sz="1200" kern="1200" dirty="0">
                <a:solidFill>
                  <a:schemeClr val="tx1"/>
                </a:solidFill>
                <a:latin typeface="Calibri" panose="020F0502020204030204" pitchFamily="34" charset="0"/>
                <a:ea typeface="宋体" panose="02010600030101010101" pitchFamily="2" charset="-122"/>
                <a:cs typeface="+mn-cs"/>
              </a:rPr>
              <a:t>和</a:t>
            </a:r>
            <a:r>
              <a:rPr lang="en-US" sz="1200" kern="1200" dirty="0">
                <a:solidFill>
                  <a:schemeClr val="tx1"/>
                </a:solidFill>
                <a:latin typeface="Calibri" panose="020F0502020204030204" pitchFamily="34" charset="0"/>
                <a:ea typeface="宋体" panose="02010600030101010101" pitchFamily="2" charset="-122"/>
                <a:cs typeface="+mn-cs"/>
              </a:rPr>
              <a:t>6.4</a:t>
            </a:r>
            <a:r>
              <a:rPr lang="zh-CN" altLang="en-US" sz="1200" kern="1200" dirty="0">
                <a:solidFill>
                  <a:schemeClr val="tx1"/>
                </a:solidFill>
                <a:latin typeface="Calibri" panose="020F0502020204030204" pitchFamily="34" charset="0"/>
                <a:ea typeface="宋体" panose="02010600030101010101" pitchFamily="2" charset="-122"/>
                <a:cs typeface="+mn-cs"/>
              </a:rPr>
              <a:t>两节则可作为研究生的学习内容。</a:t>
            </a:r>
            <a:endParaRPr lang="zh-CN" altLang="en-US" sz="1200" kern="1200" dirty="0">
              <a:solidFill>
                <a:schemeClr val="tx1"/>
              </a:solidFill>
              <a:latin typeface="Calibri" panose="020F0502020204030204" pitchFamily="34" charset="0"/>
              <a:ea typeface="宋体" panose="02010600030101010101"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kern="1200" dirty="0">
                <a:solidFill>
                  <a:schemeClr val="tx1"/>
                </a:solidFill>
                <a:latin typeface="Calibri" panose="020F0502020204030204" pitchFamily="34" charset="0"/>
                <a:ea typeface="宋体" panose="02010600030101010101" pitchFamily="2" charset="-122"/>
                <a:cs typeface="+mn-cs"/>
              </a:rPr>
              <a:t>6.1</a:t>
            </a:r>
            <a:r>
              <a:rPr lang="zh-CN" altLang="en-US" sz="1200" kern="1200" dirty="0">
                <a:solidFill>
                  <a:schemeClr val="tx1"/>
                </a:solidFill>
                <a:latin typeface="Calibri" panose="020F0502020204030204" pitchFamily="34" charset="0"/>
                <a:ea typeface="宋体" panose="02010600030101010101" pitchFamily="2" charset="-122"/>
                <a:cs typeface="+mn-cs"/>
              </a:rPr>
              <a:t>节从数据库逻辑设计中如何构造一个好的数据库模式这一问题出发，阐明了关系规范化理论研究的实际背景。</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en-US" sz="1200" kern="1200" dirty="0">
                <a:solidFill>
                  <a:schemeClr val="tx1"/>
                </a:solidFill>
                <a:latin typeface="Calibri" panose="020F0502020204030204" pitchFamily="34" charset="0"/>
                <a:ea typeface="宋体" panose="02010600030101010101" pitchFamily="2" charset="-122"/>
                <a:cs typeface="+mn-cs"/>
              </a:rPr>
              <a:t>6.2</a:t>
            </a:r>
            <a:r>
              <a:rPr lang="zh-CN" altLang="en-US" sz="1200" kern="1200" dirty="0">
                <a:solidFill>
                  <a:schemeClr val="tx1"/>
                </a:solidFill>
                <a:latin typeface="Calibri" panose="020F0502020204030204" pitchFamily="34" charset="0"/>
                <a:ea typeface="宋体" panose="02010600030101010101" pitchFamily="2" charset="-122"/>
                <a:cs typeface="+mn-cs"/>
              </a:rPr>
              <a:t>节介绍规范化理论，讨论各种范式及可能存在的插入、删除等问题，并直观地描述解决办法。</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en-US" sz="1200" kern="1200" dirty="0">
                <a:solidFill>
                  <a:schemeClr val="tx1"/>
                </a:solidFill>
                <a:latin typeface="Calibri" panose="020F0502020204030204" pitchFamily="34" charset="0"/>
                <a:ea typeface="宋体" panose="02010600030101010101" pitchFamily="2" charset="-122"/>
                <a:cs typeface="+mn-cs"/>
              </a:rPr>
              <a:t>6.3</a:t>
            </a:r>
            <a:r>
              <a:rPr lang="zh-CN" altLang="en-US" sz="1200" kern="1200" dirty="0">
                <a:solidFill>
                  <a:schemeClr val="tx1"/>
                </a:solidFill>
                <a:latin typeface="Calibri" panose="020F0502020204030204" pitchFamily="34" charset="0"/>
                <a:ea typeface="宋体" panose="02010600030101010101" pitchFamily="2" charset="-122"/>
                <a:cs typeface="+mn-cs"/>
              </a:rPr>
              <a:t>节和</a:t>
            </a:r>
            <a:r>
              <a:rPr lang="en-US" sz="1200" kern="1200" dirty="0">
                <a:solidFill>
                  <a:schemeClr val="tx1"/>
                </a:solidFill>
                <a:latin typeface="Calibri" panose="020F0502020204030204" pitchFamily="34" charset="0"/>
                <a:ea typeface="宋体" panose="02010600030101010101" pitchFamily="2" charset="-122"/>
                <a:cs typeface="+mn-cs"/>
              </a:rPr>
              <a:t>6.4</a:t>
            </a:r>
            <a:r>
              <a:rPr lang="zh-CN" altLang="en-US" sz="1200" kern="1200" dirty="0">
                <a:solidFill>
                  <a:schemeClr val="tx1"/>
                </a:solidFill>
                <a:latin typeface="Calibri" panose="020F0502020204030204" pitchFamily="34" charset="0"/>
                <a:ea typeface="宋体" panose="02010600030101010101" pitchFamily="2" charset="-122"/>
                <a:cs typeface="+mn-cs"/>
              </a:rPr>
              <a:t>节进一步讨论关系数据理论</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en-US" sz="1200" kern="1200" dirty="0">
                <a:solidFill>
                  <a:schemeClr val="tx1"/>
                </a:solidFill>
                <a:latin typeface="Calibri" panose="020F0502020204030204" pitchFamily="34" charset="0"/>
                <a:ea typeface="宋体" panose="02010600030101010101" pitchFamily="2" charset="-122"/>
                <a:cs typeface="+mn-cs"/>
              </a:rPr>
              <a:t>6.3</a:t>
            </a:r>
            <a:r>
              <a:rPr lang="zh-CN" altLang="en-US" sz="1200" kern="1200" dirty="0">
                <a:solidFill>
                  <a:schemeClr val="tx1"/>
                </a:solidFill>
                <a:latin typeface="Calibri" panose="020F0502020204030204" pitchFamily="34" charset="0"/>
                <a:ea typeface="宋体" panose="02010600030101010101" pitchFamily="2" charset="-122"/>
                <a:cs typeface="+mn-cs"/>
              </a:rPr>
              <a:t>节讨论函数依赖的推理规则，</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en-US" sz="1200" kern="1200" dirty="0">
                <a:solidFill>
                  <a:schemeClr val="tx1"/>
                </a:solidFill>
                <a:latin typeface="Calibri" panose="020F0502020204030204" pitchFamily="34" charset="0"/>
                <a:ea typeface="宋体" panose="02010600030101010101" pitchFamily="2" charset="-122"/>
                <a:cs typeface="+mn-cs"/>
              </a:rPr>
              <a:t>6.4</a:t>
            </a:r>
            <a:r>
              <a:rPr lang="zh-CN" altLang="en-US" sz="1200" kern="1200" dirty="0">
                <a:solidFill>
                  <a:schemeClr val="tx1"/>
                </a:solidFill>
                <a:latin typeface="Calibri" panose="020F0502020204030204" pitchFamily="34" charset="0"/>
                <a:ea typeface="宋体" panose="02010600030101010101" pitchFamily="2" charset="-122"/>
                <a:cs typeface="+mn-cs"/>
              </a:rPr>
              <a:t>节给出模式等价的不同定义及模式分解算法。</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zh-CN" altLang="en-US" sz="1200" kern="1200" dirty="0">
                <a:solidFill>
                  <a:schemeClr val="tx1"/>
                </a:solidFill>
                <a:latin typeface="Calibri" panose="020F0502020204030204" pitchFamily="34" charset="0"/>
                <a:ea typeface="宋体" panose="02010600030101010101" pitchFamily="2" charset="-122"/>
                <a:cs typeface="+mn-cs"/>
              </a:rPr>
              <a:t>本章所有内容中，</a:t>
            </a:r>
            <a:r>
              <a:rPr lang="en-US" sz="1200" kern="1200" dirty="0">
                <a:solidFill>
                  <a:schemeClr val="tx1"/>
                </a:solidFill>
                <a:latin typeface="Calibri" panose="020F0502020204030204" pitchFamily="34" charset="0"/>
                <a:ea typeface="宋体" panose="02010600030101010101" pitchFamily="2" charset="-122"/>
                <a:cs typeface="+mn-cs"/>
              </a:rPr>
              <a:t>6.1</a:t>
            </a:r>
            <a:r>
              <a:rPr lang="zh-CN" altLang="en-US" sz="1200" kern="1200" dirty="0">
                <a:solidFill>
                  <a:schemeClr val="tx1"/>
                </a:solidFill>
                <a:latin typeface="Calibri" panose="020F0502020204030204" pitchFamily="34" charset="0"/>
                <a:ea typeface="宋体" panose="02010600030101010101" pitchFamily="2" charset="-122"/>
                <a:cs typeface="+mn-cs"/>
              </a:rPr>
              <a:t>和</a:t>
            </a:r>
            <a:r>
              <a:rPr lang="en-US" sz="1200" kern="1200" dirty="0">
                <a:solidFill>
                  <a:schemeClr val="tx1"/>
                </a:solidFill>
                <a:latin typeface="Calibri" panose="020F0502020204030204" pitchFamily="34" charset="0"/>
                <a:ea typeface="宋体" panose="02010600030101010101" pitchFamily="2" charset="-122"/>
                <a:cs typeface="+mn-cs"/>
              </a:rPr>
              <a:t>6.2</a:t>
            </a:r>
            <a:r>
              <a:rPr lang="zh-CN" altLang="en-US" sz="1200" kern="1200" dirty="0">
                <a:solidFill>
                  <a:schemeClr val="tx1"/>
                </a:solidFill>
                <a:latin typeface="Calibri" panose="020F0502020204030204" pitchFamily="34" charset="0"/>
                <a:ea typeface="宋体" panose="02010600030101010101" pitchFamily="2" charset="-122"/>
                <a:cs typeface="+mn-cs"/>
              </a:rPr>
              <a:t>两节内容是基本的，本科学生需要掌握，</a:t>
            </a:r>
            <a:r>
              <a:rPr lang="en-US" sz="1200" kern="1200" dirty="0">
                <a:solidFill>
                  <a:schemeClr val="tx1"/>
                </a:solidFill>
                <a:latin typeface="Calibri" panose="020F0502020204030204" pitchFamily="34" charset="0"/>
                <a:ea typeface="宋体" panose="02010600030101010101" pitchFamily="2" charset="-122"/>
                <a:cs typeface="+mn-cs"/>
              </a:rPr>
              <a:t>6.3</a:t>
            </a:r>
            <a:r>
              <a:rPr lang="zh-CN" altLang="en-US" sz="1200" kern="1200" dirty="0">
                <a:solidFill>
                  <a:schemeClr val="tx1"/>
                </a:solidFill>
                <a:latin typeface="Calibri" panose="020F0502020204030204" pitchFamily="34" charset="0"/>
                <a:ea typeface="宋体" panose="02010600030101010101" pitchFamily="2" charset="-122"/>
                <a:cs typeface="+mn-cs"/>
              </a:rPr>
              <a:t>和</a:t>
            </a:r>
            <a:r>
              <a:rPr lang="en-US" sz="1200" kern="1200" dirty="0">
                <a:solidFill>
                  <a:schemeClr val="tx1"/>
                </a:solidFill>
                <a:latin typeface="Calibri" panose="020F0502020204030204" pitchFamily="34" charset="0"/>
                <a:ea typeface="宋体" panose="02010600030101010101" pitchFamily="2" charset="-122"/>
                <a:cs typeface="+mn-cs"/>
              </a:rPr>
              <a:t>6.4</a:t>
            </a:r>
            <a:r>
              <a:rPr lang="zh-CN" altLang="en-US" sz="1200" kern="1200" dirty="0">
                <a:solidFill>
                  <a:schemeClr val="tx1"/>
                </a:solidFill>
                <a:latin typeface="Calibri" panose="020F0502020204030204" pitchFamily="34" charset="0"/>
                <a:ea typeface="宋体" panose="02010600030101010101" pitchFamily="2" charset="-122"/>
                <a:cs typeface="+mn-cs"/>
              </a:rPr>
              <a:t>两节则可作为研究生的学习内容。</a:t>
            </a:r>
            <a:endParaRPr lang="zh-CN" altLang="en-US" sz="1200" kern="1200" dirty="0">
              <a:solidFill>
                <a:schemeClr val="tx1"/>
              </a:solidFill>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42C9463B-2739-434E-BCC5-0DA55FDF592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latin typeface="Calibri" panose="020F0502020204030204" pitchFamily="34" charset="0"/>
                <a:ea typeface="宋体" panose="02010600030101010101" pitchFamily="2" charset="-122"/>
                <a:cs typeface="+mn-cs"/>
              </a:rPr>
              <a:t>实际上设计任何一种数据库应用系统，不论是层次的、网状的还是关系的，都会遇到如何构造合适的数据模式即逻辑结构的问题。</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zh-CN" altLang="en-US" sz="1200" kern="1200" dirty="0">
                <a:solidFill>
                  <a:schemeClr val="tx1"/>
                </a:solidFill>
                <a:latin typeface="Calibri" panose="020F0502020204030204" pitchFamily="34" charset="0"/>
                <a:ea typeface="宋体" panose="02010600030101010101" pitchFamily="2" charset="-122"/>
                <a:cs typeface="+mn-cs"/>
              </a:rPr>
              <a:t>由于关系模型有严格的数学理论基础，并且可以向别的数据模型转换，因此，人们就以关系模型为背景来讨论这个问题，</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zh-CN" altLang="en-US" sz="1200" kern="1200" dirty="0">
                <a:solidFill>
                  <a:schemeClr val="tx1"/>
                </a:solidFill>
                <a:latin typeface="Calibri" panose="020F0502020204030204" pitchFamily="34" charset="0"/>
                <a:ea typeface="宋体" panose="02010600030101010101" pitchFamily="2" charset="-122"/>
                <a:cs typeface="+mn-cs"/>
              </a:rPr>
              <a:t>形成了数据库逻辑设计的一个有力工具</a:t>
            </a:r>
            <a:r>
              <a:rPr lang="en-US" altLang="zh-CN" sz="1200" kern="1200" dirty="0">
                <a:solidFill>
                  <a:schemeClr val="tx1"/>
                </a:solidFill>
                <a:latin typeface="Calibri" panose="020F0502020204030204" pitchFamily="34" charset="0"/>
                <a:ea typeface="宋体" panose="02010600030101010101" pitchFamily="2" charset="-122"/>
                <a:cs typeface="+mn-cs"/>
              </a:rPr>
              <a:t>——</a:t>
            </a:r>
            <a:r>
              <a:rPr lang="zh-CN" altLang="en-US" sz="1200" kern="1200" dirty="0">
                <a:solidFill>
                  <a:schemeClr val="tx1"/>
                </a:solidFill>
                <a:latin typeface="Calibri" panose="020F0502020204030204" pitchFamily="34" charset="0"/>
                <a:ea typeface="宋体" panose="02010600030101010101" pitchFamily="2" charset="-122"/>
                <a:cs typeface="+mn-cs"/>
              </a:rPr>
              <a:t>关系数据库的规范化理论。</a:t>
            </a:r>
            <a:endParaRPr lang="zh-CN" altLang="en-US" dirty="0"/>
          </a:p>
        </p:txBody>
      </p:sp>
      <p:sp>
        <p:nvSpPr>
          <p:cNvPr id="4" name="灯片编号占位符 3"/>
          <p:cNvSpPr>
            <a:spLocks noGrp="1"/>
          </p:cNvSpPr>
          <p:nvPr>
            <p:ph type="sldNum" sz="quarter" idx="10"/>
          </p:nvPr>
        </p:nvSpPr>
        <p:spPr/>
        <p:txBody>
          <a:bodyPr/>
          <a:lstStyle/>
          <a:p>
            <a:pPr>
              <a:defRPr/>
            </a:pPr>
            <a:fld id="{42C9463B-2739-434E-BCC5-0DA55FDF592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2400" dirty="0"/>
              <a:t>关系模式</a:t>
            </a:r>
            <a:r>
              <a:rPr lang="en-US" altLang="zh-CN" dirty="0">
                <a:solidFill>
                  <a:srgbClr val="FF0000"/>
                </a:solidFill>
              </a:rPr>
              <a:t>STUDENT</a:t>
            </a:r>
            <a:r>
              <a:rPr lang="zh-CN" altLang="en-US" dirty="0">
                <a:solidFill>
                  <a:srgbClr val="FF0000"/>
                </a:solidFill>
              </a:rPr>
              <a:t>（</a:t>
            </a:r>
            <a:r>
              <a:rPr lang="en-US" altLang="zh-CN" dirty="0" err="1">
                <a:solidFill>
                  <a:srgbClr val="FF0000"/>
                </a:solidFill>
              </a:rPr>
              <a:t>Sno</a:t>
            </a:r>
            <a:r>
              <a:rPr lang="en-US" altLang="zh-CN" dirty="0">
                <a:solidFill>
                  <a:srgbClr val="FF0000"/>
                </a:solidFill>
              </a:rPr>
              <a:t> ,</a:t>
            </a:r>
            <a:r>
              <a:rPr lang="en-US" altLang="zh-CN" dirty="0" err="1">
                <a:solidFill>
                  <a:srgbClr val="FF0000"/>
                </a:solidFill>
              </a:rPr>
              <a:t>Sdept</a:t>
            </a:r>
            <a:r>
              <a:rPr lang="en-US" altLang="zh-CN" dirty="0">
                <a:solidFill>
                  <a:srgbClr val="FF0000"/>
                </a:solidFill>
              </a:rPr>
              <a:t>, </a:t>
            </a:r>
            <a:r>
              <a:rPr lang="en-US" altLang="zh-CN" dirty="0" err="1">
                <a:solidFill>
                  <a:srgbClr val="FF0000"/>
                </a:solidFill>
              </a:rPr>
              <a:t>Mname,Cname,Grade</a:t>
            </a:r>
            <a:r>
              <a:rPr lang="zh-CN" altLang="en-US" dirty="0">
                <a:solidFill>
                  <a:srgbClr val="FF0000"/>
                </a:solidFill>
              </a:rPr>
              <a:t>） 是合法的。</a:t>
            </a:r>
            <a:endParaRPr lang="zh-CN" altLang="en-US"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buNone/>
            </a:pPr>
            <a:r>
              <a:rPr lang="en-US" altLang="zh-CN" sz="1400" dirty="0"/>
              <a:t> </a:t>
            </a:r>
            <a:r>
              <a:rPr lang="zh-CN" altLang="en-US" sz="1200" dirty="0"/>
              <a:t>如果新成立一个软件工程系，还没有招生，我们就无法把这个系及其</a:t>
            </a:r>
            <a:endParaRPr lang="en-US" altLang="zh-CN" sz="1200" dirty="0"/>
          </a:p>
          <a:p>
            <a:pPr>
              <a:buNone/>
            </a:pPr>
            <a:r>
              <a:rPr lang="zh-CN" altLang="en-US" sz="1200" dirty="0"/>
              <a:t>系主任的信息存入数据库。</a:t>
            </a:r>
            <a:endParaRPr lang="en-US" altLang="zh-CN" sz="1200" dirty="0"/>
          </a:p>
          <a:p>
            <a:pPr>
              <a:buNone/>
            </a:pPr>
            <a:r>
              <a:rPr lang="zh-CN" altLang="en-US" sz="1200" dirty="0"/>
              <a:t>因为插入一个元组的条件是：主码不能为</a:t>
            </a:r>
            <a:r>
              <a:rPr lang="en-US" altLang="zh-CN" sz="1200" dirty="0"/>
              <a:t>NULL</a:t>
            </a:r>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kern="1200" dirty="0">
                <a:solidFill>
                  <a:schemeClr val="tx1"/>
                </a:solidFill>
                <a:latin typeface="Calibri" panose="020F0502020204030204" pitchFamily="34" charset="0"/>
                <a:ea typeface="宋体" panose="02010600030101010101" pitchFamily="2" charset="-122"/>
                <a:cs typeface="+mn-cs"/>
              </a:rPr>
              <a:t>6.1</a:t>
            </a:r>
            <a:r>
              <a:rPr lang="zh-CN" altLang="en-US" sz="1200" kern="1200" dirty="0">
                <a:solidFill>
                  <a:schemeClr val="tx1"/>
                </a:solidFill>
                <a:latin typeface="Calibri" panose="020F0502020204030204" pitchFamily="34" charset="0"/>
                <a:ea typeface="宋体" panose="02010600030101010101" pitchFamily="2" charset="-122"/>
                <a:cs typeface="+mn-cs"/>
              </a:rPr>
              <a:t>节从数据库逻辑设计中如何构造一个好的数据库模式这一问题出发，阐明了关系规范化理论研究的实际背景。</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en-US" sz="1200" kern="1200" dirty="0">
                <a:solidFill>
                  <a:schemeClr val="tx1"/>
                </a:solidFill>
                <a:latin typeface="Calibri" panose="020F0502020204030204" pitchFamily="34" charset="0"/>
                <a:ea typeface="宋体" panose="02010600030101010101" pitchFamily="2" charset="-122"/>
                <a:cs typeface="+mn-cs"/>
              </a:rPr>
              <a:t>6.2</a:t>
            </a:r>
            <a:r>
              <a:rPr lang="zh-CN" altLang="en-US" sz="1200" kern="1200" dirty="0">
                <a:solidFill>
                  <a:schemeClr val="tx1"/>
                </a:solidFill>
                <a:latin typeface="Calibri" panose="020F0502020204030204" pitchFamily="34" charset="0"/>
                <a:ea typeface="宋体" panose="02010600030101010101" pitchFamily="2" charset="-122"/>
                <a:cs typeface="+mn-cs"/>
              </a:rPr>
              <a:t>节介绍规范化理论，讨论各种范式及可能存在的插入、删除等问题，并直观地描述解决办法。</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en-US" sz="1200" kern="1200" dirty="0">
                <a:solidFill>
                  <a:schemeClr val="tx1"/>
                </a:solidFill>
                <a:latin typeface="Calibri" panose="020F0502020204030204" pitchFamily="34" charset="0"/>
                <a:ea typeface="宋体" panose="02010600030101010101" pitchFamily="2" charset="-122"/>
                <a:cs typeface="+mn-cs"/>
              </a:rPr>
              <a:t>6.3</a:t>
            </a:r>
            <a:r>
              <a:rPr lang="zh-CN" altLang="en-US" sz="1200" kern="1200" dirty="0">
                <a:solidFill>
                  <a:schemeClr val="tx1"/>
                </a:solidFill>
                <a:latin typeface="Calibri" panose="020F0502020204030204" pitchFamily="34" charset="0"/>
                <a:ea typeface="宋体" panose="02010600030101010101" pitchFamily="2" charset="-122"/>
                <a:cs typeface="+mn-cs"/>
              </a:rPr>
              <a:t>节和</a:t>
            </a:r>
            <a:r>
              <a:rPr lang="en-US" sz="1200" kern="1200" dirty="0">
                <a:solidFill>
                  <a:schemeClr val="tx1"/>
                </a:solidFill>
                <a:latin typeface="Calibri" panose="020F0502020204030204" pitchFamily="34" charset="0"/>
                <a:ea typeface="宋体" panose="02010600030101010101" pitchFamily="2" charset="-122"/>
                <a:cs typeface="+mn-cs"/>
              </a:rPr>
              <a:t>6.4</a:t>
            </a:r>
            <a:r>
              <a:rPr lang="zh-CN" altLang="en-US" sz="1200" kern="1200" dirty="0">
                <a:solidFill>
                  <a:schemeClr val="tx1"/>
                </a:solidFill>
                <a:latin typeface="Calibri" panose="020F0502020204030204" pitchFamily="34" charset="0"/>
                <a:ea typeface="宋体" panose="02010600030101010101" pitchFamily="2" charset="-122"/>
                <a:cs typeface="+mn-cs"/>
              </a:rPr>
              <a:t>节进一步讨论关系数据理论</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en-US" sz="1200" kern="1200" dirty="0">
                <a:solidFill>
                  <a:schemeClr val="tx1"/>
                </a:solidFill>
                <a:latin typeface="Calibri" panose="020F0502020204030204" pitchFamily="34" charset="0"/>
                <a:ea typeface="宋体" panose="02010600030101010101" pitchFamily="2" charset="-122"/>
                <a:cs typeface="+mn-cs"/>
              </a:rPr>
              <a:t>6.3</a:t>
            </a:r>
            <a:r>
              <a:rPr lang="zh-CN" altLang="en-US" sz="1200" kern="1200" dirty="0">
                <a:solidFill>
                  <a:schemeClr val="tx1"/>
                </a:solidFill>
                <a:latin typeface="Calibri" panose="020F0502020204030204" pitchFamily="34" charset="0"/>
                <a:ea typeface="宋体" panose="02010600030101010101" pitchFamily="2" charset="-122"/>
                <a:cs typeface="+mn-cs"/>
              </a:rPr>
              <a:t>节讨论函数依赖的推理规则，</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en-US" sz="1200" kern="1200" dirty="0">
                <a:solidFill>
                  <a:schemeClr val="tx1"/>
                </a:solidFill>
                <a:latin typeface="Calibri" panose="020F0502020204030204" pitchFamily="34" charset="0"/>
                <a:ea typeface="宋体" panose="02010600030101010101" pitchFamily="2" charset="-122"/>
                <a:cs typeface="+mn-cs"/>
              </a:rPr>
              <a:t>6.4</a:t>
            </a:r>
            <a:r>
              <a:rPr lang="zh-CN" altLang="en-US" sz="1200" kern="1200" dirty="0">
                <a:solidFill>
                  <a:schemeClr val="tx1"/>
                </a:solidFill>
                <a:latin typeface="Calibri" panose="020F0502020204030204" pitchFamily="34" charset="0"/>
                <a:ea typeface="宋体" panose="02010600030101010101" pitchFamily="2" charset="-122"/>
                <a:cs typeface="+mn-cs"/>
              </a:rPr>
              <a:t>节给出模式等价的不同定义及模式分解算法。</a:t>
            </a:r>
            <a:endParaRPr lang="en-US" altLang="zh-CN" sz="1200" kern="1200" dirty="0">
              <a:solidFill>
                <a:schemeClr val="tx1"/>
              </a:solidFill>
              <a:latin typeface="Calibri" panose="020F0502020204030204" pitchFamily="34" charset="0"/>
              <a:ea typeface="宋体" panose="02010600030101010101" pitchFamily="2" charset="-122"/>
              <a:cs typeface="+mn-cs"/>
            </a:endParaRPr>
          </a:p>
          <a:p>
            <a:r>
              <a:rPr lang="zh-CN" altLang="en-US" sz="1200" kern="1200" dirty="0">
                <a:solidFill>
                  <a:schemeClr val="tx1"/>
                </a:solidFill>
                <a:latin typeface="Calibri" panose="020F0502020204030204" pitchFamily="34" charset="0"/>
                <a:ea typeface="宋体" panose="02010600030101010101" pitchFamily="2" charset="-122"/>
                <a:cs typeface="+mn-cs"/>
              </a:rPr>
              <a:t>本章所有内容中，</a:t>
            </a:r>
            <a:r>
              <a:rPr lang="en-US" sz="1200" kern="1200" dirty="0">
                <a:solidFill>
                  <a:schemeClr val="tx1"/>
                </a:solidFill>
                <a:latin typeface="Calibri" panose="020F0502020204030204" pitchFamily="34" charset="0"/>
                <a:ea typeface="宋体" panose="02010600030101010101" pitchFamily="2" charset="-122"/>
                <a:cs typeface="+mn-cs"/>
              </a:rPr>
              <a:t>6.1</a:t>
            </a:r>
            <a:r>
              <a:rPr lang="zh-CN" altLang="en-US" sz="1200" kern="1200" dirty="0">
                <a:solidFill>
                  <a:schemeClr val="tx1"/>
                </a:solidFill>
                <a:latin typeface="Calibri" panose="020F0502020204030204" pitchFamily="34" charset="0"/>
                <a:ea typeface="宋体" panose="02010600030101010101" pitchFamily="2" charset="-122"/>
                <a:cs typeface="+mn-cs"/>
              </a:rPr>
              <a:t>和</a:t>
            </a:r>
            <a:r>
              <a:rPr lang="en-US" sz="1200" kern="1200" dirty="0">
                <a:solidFill>
                  <a:schemeClr val="tx1"/>
                </a:solidFill>
                <a:latin typeface="Calibri" panose="020F0502020204030204" pitchFamily="34" charset="0"/>
                <a:ea typeface="宋体" panose="02010600030101010101" pitchFamily="2" charset="-122"/>
                <a:cs typeface="+mn-cs"/>
              </a:rPr>
              <a:t>6.2</a:t>
            </a:r>
            <a:r>
              <a:rPr lang="zh-CN" altLang="en-US" sz="1200" kern="1200" dirty="0">
                <a:solidFill>
                  <a:schemeClr val="tx1"/>
                </a:solidFill>
                <a:latin typeface="Calibri" panose="020F0502020204030204" pitchFamily="34" charset="0"/>
                <a:ea typeface="宋体" panose="02010600030101010101" pitchFamily="2" charset="-122"/>
                <a:cs typeface="+mn-cs"/>
              </a:rPr>
              <a:t>两节内容是基本的，本科学生需要掌握，</a:t>
            </a:r>
            <a:r>
              <a:rPr lang="en-US" sz="1200" kern="1200" dirty="0">
                <a:solidFill>
                  <a:schemeClr val="tx1"/>
                </a:solidFill>
                <a:latin typeface="Calibri" panose="020F0502020204030204" pitchFamily="34" charset="0"/>
                <a:ea typeface="宋体" panose="02010600030101010101" pitchFamily="2" charset="-122"/>
                <a:cs typeface="+mn-cs"/>
              </a:rPr>
              <a:t>6.3</a:t>
            </a:r>
            <a:r>
              <a:rPr lang="zh-CN" altLang="en-US" sz="1200" kern="1200" dirty="0">
                <a:solidFill>
                  <a:schemeClr val="tx1"/>
                </a:solidFill>
                <a:latin typeface="Calibri" panose="020F0502020204030204" pitchFamily="34" charset="0"/>
                <a:ea typeface="宋体" panose="02010600030101010101" pitchFamily="2" charset="-122"/>
                <a:cs typeface="+mn-cs"/>
              </a:rPr>
              <a:t>和</a:t>
            </a:r>
            <a:r>
              <a:rPr lang="en-US" sz="1200" kern="1200" dirty="0">
                <a:solidFill>
                  <a:schemeClr val="tx1"/>
                </a:solidFill>
                <a:latin typeface="Calibri" panose="020F0502020204030204" pitchFamily="34" charset="0"/>
                <a:ea typeface="宋体" panose="02010600030101010101" pitchFamily="2" charset="-122"/>
                <a:cs typeface="+mn-cs"/>
              </a:rPr>
              <a:t>6.4</a:t>
            </a:r>
            <a:r>
              <a:rPr lang="zh-CN" altLang="en-US" sz="1200" kern="1200" dirty="0">
                <a:solidFill>
                  <a:schemeClr val="tx1"/>
                </a:solidFill>
                <a:latin typeface="Calibri" panose="020F0502020204030204" pitchFamily="34" charset="0"/>
                <a:ea typeface="宋体" panose="02010600030101010101" pitchFamily="2" charset="-122"/>
                <a:cs typeface="+mn-cs"/>
              </a:rPr>
              <a:t>两节则可作为研究生的学习内容。</a:t>
            </a:r>
            <a:endParaRPr lang="zh-CN" altLang="en-US" sz="1200" kern="1200" dirty="0">
              <a:solidFill>
                <a:schemeClr val="tx1"/>
              </a:solidFill>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42C9463B-2739-434E-BCC5-0DA55FDF592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p:sp>
      <p:sp>
        <p:nvSpPr>
          <p:cNvPr id="81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81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3E0E7BF-F62C-438F-A9BA-07981DAAC35A}" type="slidenum">
              <a:rPr lang="zh-CN" altLang="en-US"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12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03B5E2D-6B4B-4293-B713-F8D5137A83A2}"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p:sp>
      <p:sp>
        <p:nvSpPr>
          <p:cNvPr id="133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严谨的说，</a:t>
            </a:r>
            <a:r>
              <a:rPr lang="en-US" altLang="zh-CN" dirty="0"/>
              <a:t>A-&gt;B</a:t>
            </a:r>
            <a:r>
              <a:rPr lang="zh-CN" altLang="en-US" dirty="0"/>
              <a:t>可能成立</a:t>
            </a:r>
            <a:endParaRPr lang="zh-CN" altLang="en-US" dirty="0"/>
          </a:p>
        </p:txBody>
      </p:sp>
      <p:sp>
        <p:nvSpPr>
          <p:cNvPr id="133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3972A6A-D424-4129-8DE6-E0B856F8050A}" type="slidenum">
              <a:rPr lang="zh-CN" altLang="en-US"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为了避免和部分函数依赖混为</a:t>
            </a:r>
            <a:r>
              <a:rPr lang="zh-CN" altLang="en-US"/>
              <a:t>一谈</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a:t>
            </a:r>
            <a:r>
              <a:rPr lang="zh-CN" altLang="en-US"/>
              <a:t>能决定</a:t>
            </a:r>
            <a:r>
              <a:rPr lang="en-US" altLang="zh-CN"/>
              <a:t>BE</a:t>
            </a:r>
            <a:r>
              <a:rPr lang="zh-CN" altLang="en-US"/>
              <a:t>，</a:t>
            </a:r>
            <a:r>
              <a:rPr lang="en-US" altLang="zh-CN"/>
              <a:t>E</a:t>
            </a:r>
            <a:r>
              <a:rPr lang="zh-CN" altLang="en-US"/>
              <a:t>能决定</a:t>
            </a:r>
            <a:r>
              <a:rPr lang="en-US" altLang="zh-CN"/>
              <a:t>GC</a:t>
            </a:r>
            <a:r>
              <a:rPr lang="zh-CN" altLang="en-US"/>
              <a:t>，因此只需要看</a:t>
            </a:r>
            <a:r>
              <a:rPr lang="en-US" altLang="zh-CN"/>
              <a:t>A</a:t>
            </a:r>
            <a:r>
              <a:rPr lang="zh-CN" altLang="en-US"/>
              <a:t>是否函数决定</a:t>
            </a:r>
            <a:r>
              <a:rPr lang="en-US" altLang="zh-CN"/>
              <a:t>D</a:t>
            </a:r>
            <a:endParaRPr lang="en-US" altLang="zh-CN"/>
          </a:p>
          <a:p>
            <a:r>
              <a:rPr lang="en-US" altLang="zh-CN"/>
              <a:t>A-&gt;BCEG, </a:t>
            </a:r>
            <a:r>
              <a:rPr lang="zh-CN" altLang="en-US"/>
              <a:t>又</a:t>
            </a:r>
            <a:r>
              <a:rPr lang="en-US" altLang="zh-CN"/>
              <a:t> BC-&gt;D</a:t>
            </a:r>
            <a:r>
              <a:rPr lang="zh-CN" altLang="en-US"/>
              <a:t>，则</a:t>
            </a:r>
            <a:r>
              <a:rPr lang="en-US" altLang="zh-CN"/>
              <a:t>A-&gt;U</a:t>
            </a:r>
            <a:r>
              <a:rPr lang="zh-CN" altLang="en-US"/>
              <a:t>，因此</a:t>
            </a:r>
            <a:r>
              <a:rPr lang="en-US" altLang="zh-CN"/>
              <a:t>A</a:t>
            </a:r>
            <a:r>
              <a:rPr lang="zh-CN" altLang="en-US"/>
              <a:t>为</a:t>
            </a:r>
            <a:r>
              <a:rPr lang="zh-CN" altLang="en-US"/>
              <a:t>候选码</a:t>
            </a:r>
            <a:endParaRPr lang="zh-CN" altLang="en-US"/>
          </a:p>
          <a:p>
            <a:r>
              <a:rPr lang="zh-CN" altLang="en-US"/>
              <a:t>有没有其他候选码呢？</a:t>
            </a:r>
            <a:r>
              <a:rPr lang="zh-CN" altLang="en-US"/>
              <a:t>注意其他候选码不能包含</a:t>
            </a:r>
            <a:r>
              <a:rPr lang="en-US" altLang="zh-CN"/>
              <a:t>A</a:t>
            </a:r>
            <a:endParaRPr lang="en-US" altLang="zh-CN"/>
          </a:p>
          <a:p>
            <a:r>
              <a:rPr lang="zh-CN" altLang="en-US"/>
              <a:t>如果要完整找出，需要尝试每一个属性集合，那就有</a:t>
            </a:r>
            <a:r>
              <a:rPr lang="en-US" altLang="zh-CN"/>
              <a:t>2^5</a:t>
            </a:r>
            <a:r>
              <a:rPr lang="zh-CN" altLang="en-US"/>
              <a:t>。后续章节会介绍更好的</a:t>
            </a:r>
            <a:r>
              <a:rPr lang="zh-CN" altLang="en-US"/>
              <a:t>方法。</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对于每个非平凡的函数依赖，决定因素都含有</a:t>
            </a:r>
            <a:r>
              <a:rPr lang="zh-CN" altLang="en-US"/>
              <a:t>候选码</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TextEdit="1"/>
          </p:cNvSpPr>
          <p:nvPr>
            <p:ph type="sldImg"/>
          </p:nvPr>
        </p:nvSpPr>
        <p:spPr/>
      </p:sp>
      <p:sp>
        <p:nvSpPr>
          <p:cNvPr id="163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63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D6B9838-7AC2-4602-BFBD-48B232A8ABAE}" type="slidenum">
              <a:rPr lang="zh-CN" altLang="en-US"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 BCNF, R(A,B)</a:t>
            </a:r>
            <a:r>
              <a:rPr lang="zh-CN" altLang="en-US"/>
              <a:t>，</a:t>
            </a:r>
            <a:r>
              <a:rPr lang="en-US" altLang="zh-CN"/>
              <a:t> </a:t>
            </a:r>
            <a:r>
              <a:rPr lang="zh-CN" altLang="en-US"/>
              <a:t>要么为全码，要么</a:t>
            </a:r>
            <a:r>
              <a:rPr lang="en-US" altLang="zh-CN"/>
              <a:t>A</a:t>
            </a:r>
            <a:r>
              <a:rPr lang="zh-CN" altLang="en-US"/>
              <a:t>为码。两者都满足</a:t>
            </a:r>
            <a:r>
              <a:rPr lang="en-US" altLang="zh-CN"/>
              <a:t>BCNF</a:t>
            </a:r>
            <a:endParaRPr lang="en-US" altLang="zh-CN"/>
          </a:p>
          <a:p>
            <a:r>
              <a:rPr lang="en-US" altLang="zh-CN"/>
              <a:t>2. 3NF</a:t>
            </a:r>
            <a:r>
              <a:rPr lang="zh-CN" altLang="en-US"/>
              <a:t>。因为定义里面有</a:t>
            </a:r>
            <a:r>
              <a:rPr lang="en-US" altLang="zh-CN"/>
              <a:t>“</a:t>
            </a:r>
            <a:r>
              <a:rPr lang="zh-CN" altLang="en-US"/>
              <a:t>非主属性</a:t>
            </a:r>
            <a:r>
              <a:rPr lang="en-US" altLang="zh-CN"/>
              <a:t>”</a:t>
            </a:r>
            <a:r>
              <a:rPr lang="zh-CN" altLang="en-US"/>
              <a:t>。但不一定满足</a:t>
            </a:r>
            <a:r>
              <a:rPr lang="en-US" altLang="zh-CN"/>
              <a:t>BCNF</a:t>
            </a:r>
            <a:r>
              <a:rPr lang="zh-CN" altLang="en-US"/>
              <a:t>。例如</a:t>
            </a:r>
            <a:r>
              <a:rPr lang="en-US" altLang="zh-CN"/>
              <a:t>  R(A,B,C)</a:t>
            </a:r>
            <a:r>
              <a:rPr lang="zh-CN" altLang="en-US"/>
              <a:t>，候选码为</a:t>
            </a:r>
            <a:r>
              <a:rPr lang="en-US" altLang="zh-CN"/>
              <a:t>AB</a:t>
            </a:r>
            <a:r>
              <a:rPr lang="zh-CN" altLang="en-US"/>
              <a:t>和</a:t>
            </a:r>
            <a:r>
              <a:rPr lang="en-US" altLang="zh-CN"/>
              <a:t>C</a:t>
            </a:r>
            <a:r>
              <a:rPr lang="zh-CN" altLang="en-US"/>
              <a:t>两个。但是可能有</a:t>
            </a:r>
            <a:r>
              <a:rPr lang="en-US" altLang="zh-CN"/>
              <a:t>A-&gt;B</a:t>
            </a:r>
            <a:r>
              <a:rPr lang="zh-CN" altLang="en-US"/>
              <a:t>。</a:t>
            </a:r>
            <a:endParaRPr lang="zh-CN" altLang="en-US"/>
          </a:p>
          <a:p>
            <a:r>
              <a:rPr lang="en-US" altLang="zh-CN"/>
              <a:t>3. BCNF</a:t>
            </a:r>
            <a:r>
              <a:rPr lang="zh-CN" altLang="en-US"/>
              <a:t>，</a:t>
            </a:r>
            <a:r>
              <a:rPr lang="en-US" altLang="zh-CN"/>
              <a:t>  </a:t>
            </a:r>
            <a:r>
              <a:rPr lang="zh-CN" altLang="en-US"/>
              <a:t>见</a:t>
            </a:r>
            <a:r>
              <a:rPr lang="zh-CN" altLang="en-US"/>
              <a:t>下页</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 BCNF, R(A,B)</a:t>
            </a:r>
            <a:r>
              <a:rPr lang="zh-CN" altLang="en-US"/>
              <a:t>，</a:t>
            </a:r>
            <a:r>
              <a:rPr lang="en-US" altLang="zh-CN"/>
              <a:t> </a:t>
            </a:r>
            <a:r>
              <a:rPr lang="zh-CN" altLang="en-US"/>
              <a:t>要么为全码，要么</a:t>
            </a:r>
            <a:r>
              <a:rPr lang="en-US" altLang="zh-CN"/>
              <a:t>A</a:t>
            </a:r>
            <a:r>
              <a:rPr lang="zh-CN" altLang="en-US"/>
              <a:t>为码。两者都满足</a:t>
            </a:r>
            <a:r>
              <a:rPr lang="en-US" altLang="zh-CN"/>
              <a:t>BCNF</a:t>
            </a:r>
            <a:endParaRPr lang="en-US" altLang="zh-CN"/>
          </a:p>
          <a:p>
            <a:r>
              <a:rPr lang="en-US" altLang="zh-CN"/>
              <a:t>2. 3NF</a:t>
            </a:r>
            <a:r>
              <a:rPr lang="zh-CN" altLang="en-US"/>
              <a:t>。因为定义里面有</a:t>
            </a:r>
            <a:r>
              <a:rPr lang="en-US" altLang="zh-CN"/>
              <a:t>“</a:t>
            </a:r>
            <a:r>
              <a:rPr lang="zh-CN" altLang="en-US"/>
              <a:t>非主属性</a:t>
            </a:r>
            <a:r>
              <a:rPr lang="en-US" altLang="zh-CN"/>
              <a:t>”</a:t>
            </a:r>
            <a:r>
              <a:rPr lang="zh-CN" altLang="en-US"/>
              <a:t>。但不一定满足</a:t>
            </a:r>
            <a:r>
              <a:rPr lang="en-US" altLang="zh-CN"/>
              <a:t>BCNF</a:t>
            </a:r>
            <a:r>
              <a:rPr lang="zh-CN" altLang="en-US"/>
              <a:t>。例如</a:t>
            </a:r>
            <a:r>
              <a:rPr lang="en-US" altLang="zh-CN"/>
              <a:t>  R(A,B,C)</a:t>
            </a:r>
            <a:r>
              <a:rPr lang="zh-CN" altLang="en-US"/>
              <a:t>，候选码为</a:t>
            </a:r>
            <a:r>
              <a:rPr lang="en-US" altLang="zh-CN"/>
              <a:t>AB</a:t>
            </a:r>
            <a:r>
              <a:rPr lang="zh-CN" altLang="en-US"/>
              <a:t>和</a:t>
            </a:r>
            <a:r>
              <a:rPr lang="en-US" altLang="zh-CN"/>
              <a:t>C</a:t>
            </a:r>
            <a:r>
              <a:rPr lang="zh-CN" altLang="en-US"/>
              <a:t>两个。但是可能有</a:t>
            </a:r>
            <a:r>
              <a:rPr lang="en-US" altLang="zh-CN"/>
              <a:t>A-&gt;B</a:t>
            </a:r>
            <a:r>
              <a:rPr lang="zh-CN" altLang="en-US"/>
              <a:t>。</a:t>
            </a:r>
            <a:endParaRPr lang="zh-CN" altLang="en-US"/>
          </a:p>
          <a:p>
            <a:r>
              <a:rPr lang="en-US" altLang="zh-CN"/>
              <a:t>3. BCNF</a:t>
            </a:r>
            <a:r>
              <a:rPr lang="zh-CN" altLang="en-US"/>
              <a:t>，</a:t>
            </a:r>
            <a:r>
              <a:rPr lang="en-US" altLang="zh-CN"/>
              <a:t>  </a:t>
            </a:r>
            <a:r>
              <a:rPr lang="zh-CN" altLang="en-US"/>
              <a:t>见</a:t>
            </a:r>
            <a:r>
              <a:rPr lang="zh-CN" altLang="en-US"/>
              <a:t>下页</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500034" y="1071552"/>
            <a:ext cx="7772400" cy="1102519"/>
          </a:xfrm>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214414" y="2643188"/>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85720" y="-29766"/>
            <a:ext cx="8401080" cy="853679"/>
          </a:xfrm>
        </p:spPr>
        <p:txBody>
          <a:bodyPr/>
          <a:lstStyle>
            <a:lvl1pPr>
              <a:defRPr sz="3600" baseline="0">
                <a:latin typeface="Arial" panose="020B0604020202020204" pitchFamily="34" charset="0"/>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285720" y="1004888"/>
            <a:ext cx="8401080" cy="364093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slow">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9766"/>
            <a:ext cx="2057400" cy="467558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9766"/>
            <a:ext cx="6019800" cy="467558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514351"/>
            <a:ext cx="7391400" cy="422672"/>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371600"/>
            <a:ext cx="4038600" cy="3371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371600"/>
            <a:ext cx="4038600" cy="16287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114675"/>
            <a:ext cx="4038600" cy="16287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15"/>
          <p:cNvSpPr>
            <a:spLocks noGrp="1" noChangeArrowheads="1"/>
          </p:cNvSpPr>
          <p:nvPr>
            <p:ph type="dt" sz="half" idx="10"/>
          </p:nvPr>
        </p:nvSpPr>
        <p:spPr>
          <a:xfrm>
            <a:off x="457200" y="4800600"/>
            <a:ext cx="2133600" cy="241300"/>
          </a:xfrm>
          <a:prstGeom prst="rect">
            <a:avLst/>
          </a:prstGeom>
        </p:spPr>
        <p:txBody>
          <a:bodyPr/>
          <a:lstStyle>
            <a:lvl1pPr>
              <a:defRPr/>
            </a:lvl1pPr>
          </a:lstStyle>
          <a:p>
            <a:pPr>
              <a:defRPr/>
            </a:pPr>
            <a:endParaRPr lang="en-US" altLang="zh-CN"/>
          </a:p>
        </p:txBody>
      </p:sp>
      <p:sp>
        <p:nvSpPr>
          <p:cNvPr id="7" name="Rectangle 16"/>
          <p:cNvSpPr>
            <a:spLocks noGrp="1" noChangeArrowheads="1"/>
          </p:cNvSpPr>
          <p:nvPr>
            <p:ph type="ftr" sz="quarter" idx="11"/>
          </p:nvPr>
        </p:nvSpPr>
        <p:spPr>
          <a:xfrm>
            <a:off x="5219700" y="4786313"/>
            <a:ext cx="3600450" cy="241300"/>
          </a:xfrm>
          <a:prstGeom prst="rect">
            <a:avLst/>
          </a:prstGeom>
        </p:spPr>
        <p:txBody>
          <a:bodyPr/>
          <a:lstStyle>
            <a:lvl1pPr>
              <a:defRPr/>
            </a:lvl1pPr>
          </a:lstStyle>
          <a:p>
            <a:pPr>
              <a:defRPr/>
            </a:pPr>
            <a:endParaRPr lang="en-US" altLang="zh-CN"/>
          </a:p>
        </p:txBody>
      </p:sp>
    </p:spTree>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3"/>
          <a:stretch>
            <a:fillRect/>
          </a:stretch>
        </a:blipFill>
        <a:effectLst/>
      </p:bgPr>
    </p:bg>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bwMode="auto">
          <a:xfrm>
            <a:off x="457200" y="-30163"/>
            <a:ext cx="8229600" cy="854076"/>
          </a:xfrm>
          <a:prstGeom prst="rect">
            <a:avLst/>
          </a:prstGeom>
          <a:noFill/>
          <a:ln w="9525">
            <a:noFill/>
            <a:miter lim="800000"/>
          </a:ln>
        </p:spPr>
        <p:txBody>
          <a:bodyPr vert="horz" wrap="square" lIns="91440" tIns="45720" rIns="91440" bIns="45720" numCol="1" anchor="ctr" anchorCtr="0" compatLnSpc="1"/>
          <a:lstStyle/>
          <a:p>
            <a:pPr lvl="0"/>
            <a:r>
              <a:rPr lang="zh-CN"/>
              <a:t>单击此处编辑母版标题样式</a:t>
            </a:r>
            <a:endParaRPr lang="zh-CN"/>
          </a:p>
        </p:txBody>
      </p:sp>
      <p:sp>
        <p:nvSpPr>
          <p:cNvPr id="2054" name="Rectangle 3"/>
          <p:cNvSpPr>
            <a:spLocks noGrp="1" noChangeArrowheads="1"/>
          </p:cNvSpPr>
          <p:nvPr>
            <p:ph type="body" idx="1"/>
          </p:nvPr>
        </p:nvSpPr>
        <p:spPr bwMode="auto">
          <a:xfrm>
            <a:off x="457200" y="1004888"/>
            <a:ext cx="8229600" cy="3641725"/>
          </a:xfrm>
          <a:prstGeom prst="rect">
            <a:avLst/>
          </a:prstGeom>
          <a:noFill/>
          <a:ln w="9525">
            <a:noFill/>
            <a:miter lim="800000"/>
          </a:ln>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wipe dir="d"/>
  </p:transition>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oleObject" Target="../embeddings/oleObject3.bin"/><Relationship Id="rId3" Type="http://schemas.openxmlformats.org/officeDocument/2006/relationships/oleObject" Target="../embeddings/oleObject2.bin"/><Relationship Id="rId2" Type="http://schemas.openxmlformats.org/officeDocument/2006/relationships/image" Target="../media/image6.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oleObject" Target="../embeddings/oleObject8.bin"/><Relationship Id="rId3" Type="http://schemas.openxmlformats.org/officeDocument/2006/relationships/oleObject" Target="../embeddings/oleObject7.bin"/><Relationship Id="rId2" Type="http://schemas.openxmlformats.org/officeDocument/2006/relationships/image" Target="../media/image6.wmf"/><Relationship Id="rId1"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xml"/><Relationship Id="rId4" Type="http://schemas.openxmlformats.org/officeDocument/2006/relationships/image" Target="../media/image9.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image" Target="../media/image17.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image" Target="../media/image18.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7" name="文本框 6"/>
          <p:cNvSpPr txBox="1"/>
          <p:nvPr/>
        </p:nvSpPr>
        <p:spPr>
          <a:xfrm>
            <a:off x="461711" y="1674674"/>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chemeClr val="bg1"/>
                </a:solidFill>
                <a:latin typeface="Times New Roman" panose="02020603050405020304" pitchFamily="18" charset="0"/>
                <a:sym typeface="宋体" panose="02010600030101010101" pitchFamily="2" charset="-122"/>
              </a:rPr>
              <a:t>Introduction to Database Systems</a:t>
            </a:r>
            <a:r>
              <a:rPr lang="zh-CN" altLang="en-US" sz="3600" dirty="0">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chemeClr val="bg1"/>
              </a:solidFill>
              <a:latin typeface="Times New Roman" panose="02020603050405020304" pitchFamily="18" charset="0"/>
              <a:sym typeface="宋体" panose="02010600030101010101" pitchFamily="2" charset="-122"/>
            </a:endParaRPr>
          </a:p>
        </p:txBody>
      </p:sp>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3383868" y="4299942"/>
            <a:ext cx="2825630" cy="313932"/>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b="1" dirty="0">
                <a:solidFill>
                  <a:schemeClr val="bg1"/>
                </a:solidFill>
                <a:latin typeface="Times-Roman" charset="0"/>
                <a:ea typeface="隶书" panose="02010509060101010101" pitchFamily="49" charset="-122"/>
              </a:rPr>
              <a:t>中国人民大学信息学院</a:t>
            </a:r>
            <a:endParaRPr lang="zh-CN" altLang="en-US" b="1" dirty="0">
              <a:solidFill>
                <a:schemeClr val="bg1"/>
              </a:solidFill>
              <a:latin typeface="Times-Roman" charset="0"/>
              <a:ea typeface="隶书" panose="02010509060101010101" pitchFamily="49" charset="-122"/>
            </a:endParaRPr>
          </a:p>
        </p:txBody>
      </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p:cNvSpPr/>
          <p:nvPr/>
        </p:nvSpPr>
        <p:spPr>
          <a:xfrm>
            <a:off x="1390702" y="3219823"/>
            <a:ext cx="6313646" cy="646331"/>
          </a:xfrm>
          <a:prstGeom prst="rect">
            <a:avLst/>
          </a:prstGeom>
        </p:spPr>
        <p:txBody>
          <a:bodyPr wrap="square">
            <a:spAutoFit/>
          </a:bodyPr>
          <a:lstStyle/>
          <a:p>
            <a:pPr algn="ctr"/>
            <a:r>
              <a:rPr lang="zh-CN" altLang="en-US" sz="3600" dirty="0">
                <a:solidFill>
                  <a:schemeClr val="bg1"/>
                </a:solidFill>
                <a:latin typeface="黑体" panose="02010609060101010101" pitchFamily="49" charset="-122"/>
                <a:ea typeface="黑体" panose="02010609060101010101" pitchFamily="49" charset="-122"/>
              </a:rPr>
              <a:t>第六章 关系数据</a:t>
            </a:r>
            <a:r>
              <a:rPr lang="zh-CN" altLang="en-US" sz="3600" dirty="0" smtClean="0">
                <a:solidFill>
                  <a:schemeClr val="bg1"/>
                </a:solidFill>
                <a:latin typeface="黑体" panose="02010609060101010101" pitchFamily="49" charset="-122"/>
                <a:ea typeface="黑体" panose="02010609060101010101" pitchFamily="49" charset="-122"/>
              </a:rPr>
              <a:t>理论</a:t>
            </a:r>
            <a:endParaRPr lang="zh-CN" altLang="en-US" sz="3300" b="1" dirty="0">
              <a:solidFill>
                <a:schemeClr val="bg1"/>
              </a:solidFill>
              <a:latin typeface="Times-Roman" charset="0"/>
              <a:ea typeface="隶书" panose="02010509060101010101" pitchFamily="49" charset="-122"/>
            </a:endParaRPr>
          </a:p>
        </p:txBody>
      </p:sp>
    </p:spTree>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722313" y="0"/>
            <a:ext cx="7772400" cy="1021556"/>
          </a:xfrm>
        </p:spPr>
        <p:txBody>
          <a:bodyPr/>
          <a:lstStyle/>
          <a:p>
            <a:pPr algn="ctr"/>
            <a:r>
              <a:rPr lang="zh-CN" altLang="en-US" sz="3600" dirty="0"/>
              <a:t>第六章 关系数据理论</a:t>
            </a:r>
            <a:endParaRPr lang="zh-CN" altLang="en-US" sz="3600" dirty="0"/>
          </a:p>
        </p:txBody>
      </p:sp>
      <p:sp>
        <p:nvSpPr>
          <p:cNvPr id="13315" name="Rectangle 3"/>
          <p:cNvSpPr>
            <a:spLocks noGrp="1" noChangeArrowheads="1"/>
          </p:cNvSpPr>
          <p:nvPr>
            <p:ph type="body" idx="4294967295"/>
          </p:nvPr>
        </p:nvSpPr>
        <p:spPr>
          <a:xfrm>
            <a:off x="357158" y="861842"/>
            <a:ext cx="7772400" cy="2281412"/>
          </a:xfrm>
        </p:spPr>
        <p:txBody>
          <a:bodyPr/>
          <a:lstStyle/>
          <a:p>
            <a:r>
              <a:rPr lang="en-US" altLang="zh-CN" sz="2400" dirty="0"/>
              <a:t>6.1 </a:t>
            </a:r>
            <a:r>
              <a:rPr lang="zh-CN" altLang="en-US" sz="2400" dirty="0"/>
              <a:t>问题的提出</a:t>
            </a:r>
            <a:r>
              <a:rPr lang="en-US" altLang="zh-CN" sz="2400" dirty="0"/>
              <a:t>—</a:t>
            </a:r>
            <a:r>
              <a:rPr lang="zh-CN" altLang="en-US" sz="2400" dirty="0"/>
              <a:t>为什么要学习关系数据理论</a:t>
            </a:r>
            <a:endParaRPr lang="zh-CN" altLang="en-US" sz="2400" dirty="0"/>
          </a:p>
          <a:p>
            <a:r>
              <a:rPr lang="en-US" altLang="zh-CN" sz="2400" dirty="0"/>
              <a:t>6.2 </a:t>
            </a:r>
            <a:r>
              <a:rPr lang="zh-CN" altLang="en-US" sz="2400" dirty="0"/>
              <a:t>规范化</a:t>
            </a:r>
            <a:endParaRPr lang="zh-CN" altLang="en-US" sz="2400" dirty="0"/>
          </a:p>
          <a:p>
            <a:r>
              <a:rPr lang="en-US" altLang="zh-CN" sz="2400" dirty="0"/>
              <a:t>6.3 </a:t>
            </a:r>
            <a:r>
              <a:rPr lang="zh-CN" altLang="en-US" sz="2400" dirty="0"/>
              <a:t>数据依赖的公理系统</a:t>
            </a:r>
            <a:endParaRPr lang="zh-CN" altLang="en-US" sz="2400" dirty="0"/>
          </a:p>
          <a:p>
            <a:r>
              <a:rPr lang="en-US" altLang="zh-CN" sz="2400" dirty="0"/>
              <a:t>6.4 </a:t>
            </a:r>
            <a:r>
              <a:rPr lang="zh-CN" altLang="en-US" sz="2400" dirty="0"/>
              <a:t>模式的分解</a:t>
            </a:r>
            <a:endParaRPr lang="en-US" altLang="zh-CN" sz="2400" dirty="0"/>
          </a:p>
          <a:p>
            <a:pPr>
              <a:buNone/>
            </a:pPr>
            <a:endParaRPr lang="en-US" altLang="zh-CN" sz="1800" dirty="0"/>
          </a:p>
          <a:p>
            <a:pPr>
              <a:buNone/>
            </a:pPr>
            <a:r>
              <a:rPr lang="zh-CN" altLang="en-US" sz="2400" dirty="0">
                <a:solidFill>
                  <a:srgbClr val="FF0000"/>
                </a:solidFill>
              </a:rPr>
              <a:t>学习关系规范化理论的重要性：</a:t>
            </a:r>
            <a:endParaRPr lang="en-US" altLang="zh-CN" sz="2400" dirty="0">
              <a:solidFill>
                <a:srgbClr val="FF0000"/>
              </a:solidFill>
            </a:endParaRPr>
          </a:p>
          <a:p>
            <a:r>
              <a:rPr lang="zh-CN" altLang="en-US" sz="2400" dirty="0"/>
              <a:t>是关系数据库的重要理论基础</a:t>
            </a:r>
            <a:endParaRPr lang="en-US" altLang="zh-CN" sz="2400" dirty="0"/>
          </a:p>
          <a:p>
            <a:r>
              <a:rPr lang="zh-CN" altLang="en-US" sz="2400" dirty="0"/>
              <a:t>为数据库设计提供理论指南和工具</a:t>
            </a:r>
            <a:r>
              <a:rPr lang="en-US" altLang="zh-CN" sz="2400" dirty="0">
                <a:solidFill>
                  <a:srgbClr val="FF0000"/>
                </a:solidFill>
              </a:rPr>
              <a:t>——</a:t>
            </a:r>
            <a:r>
              <a:rPr lang="zh-CN" altLang="en-US" sz="2400" kern="1200" dirty="0">
                <a:solidFill>
                  <a:srgbClr val="FF0000"/>
                </a:solidFill>
                <a:latin typeface="Calibri" panose="020F0502020204030204" pitchFamily="34" charset="0"/>
                <a:ea typeface="宋体" panose="02010600030101010101" pitchFamily="2" charset="-122"/>
              </a:rPr>
              <a:t>关系规范化理论研究的实际应用价值</a:t>
            </a:r>
            <a:endParaRPr lang="zh-CN" altLang="en-US" sz="2400" dirty="0">
              <a:solidFill>
                <a:srgbClr val="FF0000"/>
              </a:solidFill>
            </a:endParaRPr>
          </a:p>
          <a:p>
            <a:endParaRPr lang="zh-CN" altLang="en-US" dirty="0"/>
          </a:p>
        </p:txBody>
      </p:sp>
    </p:spTree>
  </p:cSld>
  <p:clrMapOvr>
    <a:masterClrMapping/>
  </p:clrMapOvr>
  <p:transition spd="slow">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57224" y="0"/>
            <a:ext cx="7772400" cy="1021556"/>
          </a:xfrm>
        </p:spPr>
        <p:txBody>
          <a:bodyPr/>
          <a:lstStyle/>
          <a:p>
            <a:pPr algn="ctr"/>
            <a:r>
              <a:rPr lang="zh-CN" altLang="en-US" sz="3600" dirty="0"/>
              <a:t>第六章 关系数据理论</a:t>
            </a:r>
            <a:endParaRPr lang="zh-CN" altLang="en-US" sz="3600" dirty="0"/>
          </a:p>
        </p:txBody>
      </p:sp>
      <p:sp>
        <p:nvSpPr>
          <p:cNvPr id="14339" name="Rectangle 3"/>
          <p:cNvSpPr>
            <a:spLocks noGrp="1" noChangeArrowheads="1"/>
          </p:cNvSpPr>
          <p:nvPr>
            <p:ph type="body" idx="4294967295"/>
          </p:nvPr>
        </p:nvSpPr>
        <p:spPr>
          <a:xfrm>
            <a:off x="285720" y="857238"/>
            <a:ext cx="8501122" cy="1871830"/>
          </a:xfrm>
        </p:spPr>
        <p:txBody>
          <a:bodyPr/>
          <a:lstStyle/>
          <a:p>
            <a:r>
              <a:rPr lang="en-US" altLang="zh-CN" dirty="0">
                <a:solidFill>
                  <a:srgbClr val="FF0000"/>
                </a:solidFill>
              </a:rPr>
              <a:t>6.1 </a:t>
            </a:r>
            <a:r>
              <a:rPr lang="zh-CN" altLang="en-US" dirty="0">
                <a:solidFill>
                  <a:srgbClr val="FF0000"/>
                </a:solidFill>
              </a:rPr>
              <a:t>问题的提出</a:t>
            </a:r>
            <a:r>
              <a:rPr lang="en-US" altLang="zh-CN" dirty="0">
                <a:solidFill>
                  <a:srgbClr val="FF0000"/>
                </a:solidFill>
              </a:rPr>
              <a:t>—</a:t>
            </a:r>
            <a:r>
              <a:rPr lang="zh-CN" altLang="en-US" dirty="0">
                <a:solidFill>
                  <a:srgbClr val="FF0000"/>
                </a:solidFill>
              </a:rPr>
              <a:t>为什么要学习关系数据理论</a:t>
            </a:r>
            <a:endParaRPr lang="zh-CN" altLang="en-US" dirty="0">
              <a:solidFill>
                <a:srgbClr val="FF0000"/>
              </a:solidFill>
            </a:endParaRPr>
          </a:p>
          <a:p>
            <a:r>
              <a:rPr lang="en-US" altLang="zh-CN" dirty="0"/>
              <a:t>6.2 </a:t>
            </a:r>
            <a:r>
              <a:rPr lang="zh-CN" altLang="en-US" dirty="0"/>
              <a:t>规范化</a:t>
            </a:r>
            <a:endParaRPr lang="zh-CN" altLang="en-US" dirty="0"/>
          </a:p>
          <a:p>
            <a:r>
              <a:rPr lang="en-US" altLang="zh-CN" dirty="0"/>
              <a:t>6.3 </a:t>
            </a:r>
            <a:r>
              <a:rPr lang="zh-CN" altLang="en-US" dirty="0"/>
              <a:t>数据依赖的公理系统</a:t>
            </a:r>
            <a:endParaRPr lang="zh-CN" altLang="en-US" dirty="0"/>
          </a:p>
          <a:p>
            <a:r>
              <a:rPr lang="en-US" altLang="zh-CN" dirty="0"/>
              <a:t>6.4 </a:t>
            </a:r>
            <a:r>
              <a:rPr lang="zh-CN" altLang="en-US" dirty="0"/>
              <a:t>模式的分解</a:t>
            </a:r>
            <a:endParaRPr lang="zh-CN" altLang="en-US" dirty="0"/>
          </a:p>
        </p:txBody>
      </p:sp>
    </p:spTree>
  </p:cSld>
  <p:clrMapOvr>
    <a:masterClrMapping/>
  </p:clrMapOvr>
  <p:transition spd="slow">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a:t>6.1 </a:t>
            </a:r>
            <a:r>
              <a:rPr lang="zh-CN" altLang="en-US"/>
              <a:t>问题的提出</a:t>
            </a:r>
            <a:endParaRPr lang="zh-CN" altLang="en-US"/>
          </a:p>
        </p:txBody>
      </p:sp>
      <p:sp>
        <p:nvSpPr>
          <p:cNvPr id="16387" name="Rectangle 3"/>
          <p:cNvSpPr>
            <a:spLocks noGrp="1" noChangeArrowheads="1"/>
          </p:cNvSpPr>
          <p:nvPr>
            <p:ph idx="1"/>
          </p:nvPr>
        </p:nvSpPr>
        <p:spPr/>
        <p:txBody>
          <a:bodyPr/>
          <a:lstStyle/>
          <a:p>
            <a:pPr marL="0" indent="0">
              <a:buNone/>
            </a:pPr>
            <a:r>
              <a:rPr lang="en-US" altLang="zh-CN" dirty="0">
                <a:latin typeface="黑体" panose="02010609060101010101" pitchFamily="49" charset="-122"/>
                <a:ea typeface="黑体" panose="02010609060101010101" pitchFamily="49" charset="-122"/>
              </a:rPr>
              <a:t>1.</a:t>
            </a:r>
            <a:r>
              <a:rPr lang="zh-CN" altLang="en-US" dirty="0">
                <a:solidFill>
                  <a:srgbClr val="FF0000"/>
                </a:solidFill>
              </a:rPr>
              <a:t>问题</a:t>
            </a:r>
            <a:r>
              <a:rPr lang="en-US" altLang="zh-CN" dirty="0">
                <a:solidFill>
                  <a:srgbClr val="FF0000"/>
                </a:solidFill>
              </a:rPr>
              <a:t>——</a:t>
            </a:r>
            <a:r>
              <a:rPr lang="zh-CN" altLang="en-US" dirty="0">
                <a:solidFill>
                  <a:srgbClr val="FF0000"/>
                </a:solidFill>
              </a:rPr>
              <a:t>什么是一个好的数据库逻辑设计</a:t>
            </a:r>
            <a:endParaRPr lang="en-US" altLang="zh-CN" dirty="0">
              <a:solidFill>
                <a:srgbClr val="FF0000"/>
              </a:solidFill>
            </a:endParaRPr>
          </a:p>
          <a:p>
            <a:pPr marL="0" indent="0">
              <a:buNone/>
            </a:pPr>
            <a:r>
              <a:rPr lang="en-US" altLang="zh-CN" dirty="0">
                <a:latin typeface="黑体" panose="02010609060101010101" pitchFamily="49" charset="-122"/>
                <a:ea typeface="黑体" panose="02010609060101010101" pitchFamily="49" charset="-122"/>
              </a:rPr>
              <a:t>2.</a:t>
            </a:r>
            <a:r>
              <a:rPr lang="zh-CN" altLang="en-US" dirty="0"/>
              <a:t>什么是数据依赖</a:t>
            </a:r>
            <a:endParaRPr lang="zh-CN" altLang="en-US" dirty="0"/>
          </a:p>
          <a:p>
            <a:pPr marL="0" indent="0">
              <a:buNone/>
            </a:pPr>
            <a:r>
              <a:rPr lang="en-US" altLang="zh-CN" dirty="0"/>
              <a:t>3. </a:t>
            </a:r>
            <a:r>
              <a:rPr lang="zh-CN" altLang="en-US" dirty="0"/>
              <a:t>关系模式的简化表示</a:t>
            </a:r>
            <a:endParaRPr lang="en-US" altLang="zh-CN" dirty="0"/>
          </a:p>
          <a:p>
            <a:pPr marL="0" indent="0">
              <a:buNone/>
            </a:pPr>
            <a:endParaRPr lang="zh-CN" altLang="en-US" dirty="0"/>
          </a:p>
        </p:txBody>
      </p:sp>
    </p:spTree>
  </p:cSld>
  <p:clrMapOvr>
    <a:masterClrMapping/>
  </p:clrMapOvr>
  <p:transition spd="slow">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42908" y="-142894"/>
            <a:ext cx="9144064" cy="853679"/>
          </a:xfrm>
        </p:spPr>
        <p:txBody>
          <a:bodyPr/>
          <a:lstStyle/>
          <a:p>
            <a:r>
              <a:rPr lang="en-US" altLang="zh-CN" sz="3200" dirty="0">
                <a:latin typeface="黑体" panose="02010609060101010101" pitchFamily="49" charset="-122"/>
                <a:ea typeface="黑体" panose="02010609060101010101" pitchFamily="49" charset="-122"/>
              </a:rPr>
              <a:t>1.</a:t>
            </a:r>
            <a:r>
              <a:rPr lang="zh-CN" altLang="en-US" sz="3200" dirty="0">
                <a:latin typeface="黑体" panose="02010609060101010101" pitchFamily="49" charset="-122"/>
                <a:ea typeface="黑体" panose="02010609060101010101" pitchFamily="49" charset="-122"/>
              </a:rPr>
              <a:t>问题</a:t>
            </a:r>
            <a:r>
              <a:rPr lang="en-US" altLang="zh-CN" sz="3200" dirty="0">
                <a:latin typeface="黑体" panose="02010609060101010101" pitchFamily="49" charset="-122"/>
                <a:ea typeface="黑体" panose="02010609060101010101" pitchFamily="49" charset="-122"/>
              </a:rPr>
              <a:t>-</a:t>
            </a:r>
            <a:r>
              <a:rPr lang="zh-CN" altLang="en-US" sz="3200" dirty="0">
                <a:latin typeface="黑体" panose="02010609060101010101" pitchFamily="49" charset="-122"/>
                <a:ea typeface="黑体" panose="02010609060101010101" pitchFamily="49" charset="-122"/>
              </a:rPr>
              <a:t>什么是一个好的数据库逻辑设计</a:t>
            </a:r>
            <a:endParaRPr lang="zh-CN" altLang="en-US" sz="3200" dirty="0">
              <a:latin typeface="黑体" panose="02010609060101010101" pitchFamily="49" charset="-122"/>
              <a:ea typeface="黑体" panose="02010609060101010101" pitchFamily="49" charset="-122"/>
            </a:endParaRPr>
          </a:p>
        </p:txBody>
      </p:sp>
      <p:sp>
        <p:nvSpPr>
          <p:cNvPr id="12291" name="Rectangle 3"/>
          <p:cNvSpPr>
            <a:spLocks noGrp="1" noChangeArrowheads="1"/>
          </p:cNvSpPr>
          <p:nvPr>
            <p:ph idx="1"/>
          </p:nvPr>
        </p:nvSpPr>
        <p:spPr>
          <a:xfrm>
            <a:off x="71372" y="710785"/>
            <a:ext cx="8215403" cy="3640931"/>
          </a:xfrm>
        </p:spPr>
        <p:txBody>
          <a:bodyPr/>
          <a:lstStyle/>
          <a:p>
            <a:r>
              <a:rPr lang="zh-CN" altLang="en-US" dirty="0"/>
              <a:t>关系数据库</a:t>
            </a:r>
            <a:r>
              <a:rPr lang="zh-CN" altLang="en-US" dirty="0">
                <a:solidFill>
                  <a:srgbClr val="FF0000"/>
                </a:solidFill>
              </a:rPr>
              <a:t>逻辑设计</a:t>
            </a:r>
            <a:endParaRPr lang="zh-CN" altLang="en-US" dirty="0">
              <a:solidFill>
                <a:srgbClr val="FF0000"/>
              </a:solidFill>
            </a:endParaRPr>
          </a:p>
          <a:p>
            <a:pPr lvl="1">
              <a:lnSpc>
                <a:spcPct val="150000"/>
              </a:lnSpc>
              <a:buFont typeface="Wingdings" panose="05000000000000000000" pitchFamily="2" charset="2"/>
              <a:buChar char="Ø"/>
            </a:pPr>
            <a:r>
              <a:rPr lang="zh-CN" altLang="en-US" sz="2200" dirty="0"/>
              <a:t>针对一个具体问题，如何构造一个适合于它的数据模式，即</a:t>
            </a:r>
            <a:r>
              <a:rPr lang="zh-CN" altLang="en-US" sz="2200" dirty="0">
                <a:solidFill>
                  <a:srgbClr val="FF0000"/>
                </a:solidFill>
              </a:rPr>
              <a:t>应该构造几个关系，每个关系由哪些属性组成等。</a:t>
            </a:r>
            <a:endParaRPr lang="zh-CN" altLang="en-US" sz="2200" dirty="0">
              <a:solidFill>
                <a:srgbClr val="FF0000"/>
              </a:solidFill>
            </a:endParaRPr>
          </a:p>
          <a:p>
            <a:pPr lvl="1">
              <a:lnSpc>
                <a:spcPct val="150000"/>
              </a:lnSpc>
              <a:buFont typeface="Wingdings" panose="05000000000000000000" pitchFamily="2" charset="2"/>
              <a:buChar char="Ø"/>
            </a:pPr>
            <a:r>
              <a:rPr lang="zh-CN" altLang="en-US" sz="2200" dirty="0"/>
              <a:t>数据库</a:t>
            </a:r>
            <a:r>
              <a:rPr lang="zh-CN" altLang="en-US" sz="2200" dirty="0">
                <a:solidFill>
                  <a:srgbClr val="FF0000"/>
                </a:solidFill>
              </a:rPr>
              <a:t>逻辑设计的工具</a:t>
            </a:r>
            <a:r>
              <a:rPr lang="zh-CN" altLang="en-US" sz="2200" dirty="0"/>
              <a:t>──关系数据库的规范化理论。</a:t>
            </a:r>
            <a:endParaRPr lang="zh-CN" altLang="en-US" sz="2200" dirty="0"/>
          </a:p>
        </p:txBody>
      </p:sp>
      <p:cxnSp>
        <p:nvCxnSpPr>
          <p:cNvPr id="4" name="直接连接符 8"/>
          <p:cNvCxnSpPr>
            <a:cxnSpLocks noChangeShapeType="1"/>
          </p:cNvCxnSpPr>
          <p:nvPr/>
        </p:nvCxnSpPr>
        <p:spPr bwMode="auto">
          <a:xfrm>
            <a:off x="1259632" y="2215555"/>
            <a:ext cx="5832648" cy="0"/>
          </a:xfrm>
          <a:prstGeom prst="line">
            <a:avLst/>
          </a:prstGeom>
          <a:noFill/>
          <a:ln w="57150" algn="ctr">
            <a:solidFill>
              <a:srgbClr val="FFFF00"/>
            </a:solidFill>
            <a:round/>
          </a:ln>
        </p:spPr>
      </p:cxnSp>
      <p:cxnSp>
        <p:nvCxnSpPr>
          <p:cNvPr id="5" name="直接连接符 8"/>
          <p:cNvCxnSpPr>
            <a:cxnSpLocks noChangeShapeType="1"/>
          </p:cNvCxnSpPr>
          <p:nvPr/>
        </p:nvCxnSpPr>
        <p:spPr bwMode="auto">
          <a:xfrm>
            <a:off x="1782799" y="2911077"/>
            <a:ext cx="4786313" cy="1588"/>
          </a:xfrm>
          <a:prstGeom prst="line">
            <a:avLst/>
          </a:prstGeom>
          <a:noFill/>
          <a:ln w="57150" algn="ctr">
            <a:solidFill>
              <a:srgbClr val="FFFF00"/>
            </a:solidFill>
            <a:round/>
          </a:ln>
        </p:spPr>
      </p:cxn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000" fill="hold"/>
                                        <p:tgtEl>
                                          <p:spTgt spid="4"/>
                                        </p:tgtEl>
                                        <p:attrNameLst>
                                          <p:attrName>ppt_x</p:attrName>
                                        </p:attrNameLst>
                                      </p:cBhvr>
                                      <p:tavLst>
                                        <p:tav tm="0">
                                          <p:val>
                                            <p:strVal val="0-#ppt_w/2"/>
                                          </p:val>
                                        </p:tav>
                                        <p:tav tm="100000">
                                          <p:val>
                                            <p:strVal val="#ppt_x"/>
                                          </p:val>
                                        </p:tav>
                                      </p:tavLst>
                                    </p:anim>
                                    <p:anim calcmode="lin" valueType="num">
                                      <p:cBhvr additive="base">
                                        <p:cTn id="8" dur="2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2000" fill="hold"/>
                                        <p:tgtEl>
                                          <p:spTgt spid="5"/>
                                        </p:tgtEl>
                                        <p:attrNameLst>
                                          <p:attrName>ppt_x</p:attrName>
                                        </p:attrNameLst>
                                      </p:cBhvr>
                                      <p:tavLst>
                                        <p:tav tm="0">
                                          <p:val>
                                            <p:strVal val="0-#ppt_w/2"/>
                                          </p:val>
                                        </p:tav>
                                        <p:tav tm="100000">
                                          <p:val>
                                            <p:strVal val="#ppt_x"/>
                                          </p:val>
                                        </p:tav>
                                      </p:tavLst>
                                    </p:anim>
                                    <p:anim calcmode="lin" valueType="num">
                                      <p:cBhvr additive="base">
                                        <p:cTn id="14" dur="2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bwMode="auto">
          <a:xfrm>
            <a:off x="4479131" y="2802731"/>
            <a:ext cx="1175147"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Journal 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矩形 2"/>
          <p:cNvSpPr/>
          <p:nvPr/>
        </p:nvSpPr>
        <p:spPr bwMode="auto">
          <a:xfrm>
            <a:off x="6362700" y="2802731"/>
            <a:ext cx="1175147"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Conference 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矩形 3"/>
          <p:cNvSpPr/>
          <p:nvPr/>
        </p:nvSpPr>
        <p:spPr bwMode="auto">
          <a:xfrm>
            <a:off x="5637610" y="1501379"/>
            <a:ext cx="710804"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cxnSp>
        <p:nvCxnSpPr>
          <p:cNvPr id="6" name="直接连接符 5"/>
          <p:cNvCxnSpPr>
            <a:endCxn id="2" idx="0"/>
          </p:cNvCxnSpPr>
          <p:nvPr/>
        </p:nvCxnSpPr>
        <p:spPr bwMode="auto">
          <a:xfrm flipH="1">
            <a:off x="5066824" y="2326005"/>
            <a:ext cx="926783" cy="47672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直接连接符 7"/>
          <p:cNvCxnSpPr>
            <a:endCxn id="3" idx="0"/>
          </p:cNvCxnSpPr>
          <p:nvPr/>
        </p:nvCxnSpPr>
        <p:spPr bwMode="auto">
          <a:xfrm>
            <a:off x="5993606" y="2326005"/>
            <a:ext cx="956786" cy="47672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 name="矩形 8"/>
          <p:cNvSpPr/>
          <p:nvPr/>
        </p:nvSpPr>
        <p:spPr bwMode="auto">
          <a:xfrm>
            <a:off x="2563416" y="1501379"/>
            <a:ext cx="709613"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Author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9" name="AutoShape 6"/>
          <p:cNvSpPr/>
          <p:nvPr/>
        </p:nvSpPr>
        <p:spPr>
          <a:xfrm>
            <a:off x="4026694" y="1501379"/>
            <a:ext cx="611981" cy="325040"/>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b="0" dirty="0">
                <a:latin typeface="Times New Roman" panose="02020603050405020304" pitchFamily="18" charset="0"/>
              </a:rPr>
              <a:t>发表</a:t>
            </a:r>
            <a:endParaRPr lang="zh-CN" altLang="zh-CN" sz="1350" b="0" dirty="0">
              <a:latin typeface="Times New Roman" panose="02020603050405020304" pitchFamily="18" charset="0"/>
            </a:endParaRPr>
          </a:p>
        </p:txBody>
      </p:sp>
      <p:cxnSp>
        <p:nvCxnSpPr>
          <p:cNvPr id="11" name="直接连接符 10"/>
          <p:cNvCxnSpPr>
            <a:stCxn id="9" idx="3"/>
            <a:endCxn id="5129" idx="1"/>
          </p:cNvCxnSpPr>
          <p:nvPr/>
        </p:nvCxnSpPr>
        <p:spPr bwMode="auto">
          <a:xfrm>
            <a:off x="3273029" y="1663304"/>
            <a:ext cx="753666"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直接连接符 13"/>
          <p:cNvCxnSpPr>
            <a:stCxn id="5129" idx="3"/>
            <a:endCxn id="4" idx="1"/>
          </p:cNvCxnSpPr>
          <p:nvPr/>
        </p:nvCxnSpPr>
        <p:spPr bwMode="auto">
          <a:xfrm>
            <a:off x="4638675" y="1663304"/>
            <a:ext cx="998935"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132" name="Text Box 10"/>
          <p:cNvSpPr txBox="1"/>
          <p:nvPr/>
        </p:nvSpPr>
        <p:spPr>
          <a:xfrm>
            <a:off x="3620691" y="1406129"/>
            <a:ext cx="201215"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5133" name="Text Box 10"/>
          <p:cNvSpPr txBox="1"/>
          <p:nvPr/>
        </p:nvSpPr>
        <p:spPr>
          <a:xfrm>
            <a:off x="4737497" y="1372791"/>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5134" name="Oval 13"/>
          <p:cNvSpPr/>
          <p:nvPr/>
        </p:nvSpPr>
        <p:spPr>
          <a:xfrm>
            <a:off x="4394597" y="207764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是否通信</a:t>
            </a:r>
            <a:endParaRPr lang="zh-CN" altLang="zh-CN" sz="1125" dirty="0">
              <a:latin typeface="Times New Roman" panose="02020603050405020304" pitchFamily="18" charset="0"/>
            </a:endParaRPr>
          </a:p>
        </p:txBody>
      </p:sp>
      <p:sp>
        <p:nvSpPr>
          <p:cNvPr id="5135" name="Oval 13"/>
          <p:cNvSpPr/>
          <p:nvPr/>
        </p:nvSpPr>
        <p:spPr>
          <a:xfrm>
            <a:off x="3557588" y="2083594"/>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序号</a:t>
            </a:r>
            <a:endParaRPr lang="zh-CN" altLang="zh-CN" sz="1125" dirty="0">
              <a:latin typeface="Times New Roman" panose="02020603050405020304" pitchFamily="18" charset="0"/>
            </a:endParaRPr>
          </a:p>
        </p:txBody>
      </p:sp>
      <p:cxnSp>
        <p:nvCxnSpPr>
          <p:cNvPr id="24" name="直接连接符 23"/>
          <p:cNvCxnSpPr>
            <a:stCxn id="5135" idx="0"/>
          </p:cNvCxnSpPr>
          <p:nvPr/>
        </p:nvCxnSpPr>
        <p:spPr bwMode="auto">
          <a:xfrm flipV="1">
            <a:off x="3900488" y="1738313"/>
            <a:ext cx="285750" cy="34528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直接连接符 26"/>
          <p:cNvCxnSpPr>
            <a:endCxn id="5134" idx="0"/>
          </p:cNvCxnSpPr>
          <p:nvPr/>
        </p:nvCxnSpPr>
        <p:spPr bwMode="auto">
          <a:xfrm>
            <a:off x="4479131" y="1749029"/>
            <a:ext cx="258366" cy="328613"/>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138" name="Oval 13"/>
          <p:cNvSpPr/>
          <p:nvPr/>
        </p:nvSpPr>
        <p:spPr>
          <a:xfrm>
            <a:off x="6475810" y="727472"/>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发表时间</a:t>
            </a:r>
            <a:endParaRPr lang="zh-CN" altLang="zh-CN" sz="1125" dirty="0">
              <a:latin typeface="Times New Roman" panose="02020603050405020304" pitchFamily="18" charset="0"/>
            </a:endParaRPr>
          </a:p>
        </p:txBody>
      </p:sp>
      <p:sp>
        <p:nvSpPr>
          <p:cNvPr id="5139" name="Oval 13"/>
          <p:cNvSpPr/>
          <p:nvPr/>
        </p:nvSpPr>
        <p:spPr>
          <a:xfrm>
            <a:off x="4844654" y="727472"/>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标题</a:t>
            </a:r>
            <a:endParaRPr lang="zh-CN" altLang="zh-CN" sz="1125" dirty="0">
              <a:latin typeface="Times New Roman" panose="02020603050405020304" pitchFamily="18" charset="0"/>
            </a:endParaRPr>
          </a:p>
        </p:txBody>
      </p:sp>
      <p:sp>
        <p:nvSpPr>
          <p:cNvPr id="5140" name="Oval 13"/>
          <p:cNvSpPr/>
          <p:nvPr/>
        </p:nvSpPr>
        <p:spPr>
          <a:xfrm>
            <a:off x="5650706" y="742950"/>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语言</a:t>
            </a:r>
            <a:endParaRPr lang="zh-CN" altLang="zh-CN" sz="1125" dirty="0">
              <a:latin typeface="Times New Roman" panose="02020603050405020304" pitchFamily="18" charset="0"/>
            </a:endParaRPr>
          </a:p>
        </p:txBody>
      </p:sp>
      <p:sp>
        <p:nvSpPr>
          <p:cNvPr id="5141" name="Oval 13"/>
          <p:cNvSpPr/>
          <p:nvPr/>
        </p:nvSpPr>
        <p:spPr>
          <a:xfrm>
            <a:off x="4280297" y="33635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en-US" altLang="zh-CN" sz="1125" dirty="0">
                <a:latin typeface="Times New Roman" panose="02020603050405020304" pitchFamily="18" charset="0"/>
              </a:rPr>
              <a:t>ISSN</a:t>
            </a:r>
            <a:endParaRPr lang="zh-CN" altLang="zh-CN" sz="1125" dirty="0">
              <a:latin typeface="Times New Roman" panose="02020603050405020304" pitchFamily="18" charset="0"/>
            </a:endParaRPr>
          </a:p>
        </p:txBody>
      </p:sp>
      <p:sp>
        <p:nvSpPr>
          <p:cNvPr id="5142" name="Oval 13"/>
          <p:cNvSpPr/>
          <p:nvPr/>
        </p:nvSpPr>
        <p:spPr>
          <a:xfrm>
            <a:off x="5067300" y="33635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索引</a:t>
            </a:r>
            <a:endParaRPr lang="zh-CN" altLang="zh-CN" sz="1125" dirty="0">
              <a:latin typeface="Times New Roman" panose="02020603050405020304" pitchFamily="18" charset="0"/>
            </a:endParaRPr>
          </a:p>
        </p:txBody>
      </p:sp>
      <p:sp>
        <p:nvSpPr>
          <p:cNvPr id="5143" name="Oval 13"/>
          <p:cNvSpPr/>
          <p:nvPr/>
        </p:nvSpPr>
        <p:spPr>
          <a:xfrm>
            <a:off x="5940505" y="3465513"/>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会议名称</a:t>
            </a:r>
            <a:endParaRPr lang="zh-CN" altLang="zh-CN" sz="1125" dirty="0">
              <a:latin typeface="Times New Roman" panose="02020603050405020304" pitchFamily="18" charset="0"/>
            </a:endParaRPr>
          </a:p>
        </p:txBody>
      </p:sp>
      <p:sp>
        <p:nvSpPr>
          <p:cNvPr id="5144" name="Oval 13"/>
          <p:cNvSpPr/>
          <p:nvPr/>
        </p:nvSpPr>
        <p:spPr>
          <a:xfrm>
            <a:off x="7596664" y="3435668"/>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举办地</a:t>
            </a:r>
            <a:endParaRPr lang="zh-CN" altLang="zh-CN" sz="1125" dirty="0">
              <a:latin typeface="Times New Roman" panose="02020603050405020304" pitchFamily="18" charset="0"/>
            </a:endParaRPr>
          </a:p>
        </p:txBody>
      </p:sp>
      <p:cxnSp>
        <p:nvCxnSpPr>
          <p:cNvPr id="37" name="直接连接符 36"/>
          <p:cNvCxnSpPr>
            <a:stCxn id="2" idx="2"/>
            <a:endCxn id="5141" idx="0"/>
          </p:cNvCxnSpPr>
          <p:nvPr/>
        </p:nvCxnSpPr>
        <p:spPr bwMode="auto">
          <a:xfrm flipH="1">
            <a:off x="4623197" y="3127772"/>
            <a:ext cx="444104" cy="2357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直接连接符 39"/>
          <p:cNvCxnSpPr>
            <a:stCxn id="2" idx="2"/>
            <a:endCxn id="5142" idx="0"/>
          </p:cNvCxnSpPr>
          <p:nvPr/>
        </p:nvCxnSpPr>
        <p:spPr bwMode="auto">
          <a:xfrm>
            <a:off x="5067300" y="3127772"/>
            <a:ext cx="342900" cy="2357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直接连接符 42"/>
          <p:cNvCxnSpPr>
            <a:stCxn id="3" idx="2"/>
            <a:endCxn id="5143" idx="0"/>
          </p:cNvCxnSpPr>
          <p:nvPr/>
        </p:nvCxnSpPr>
        <p:spPr bwMode="auto">
          <a:xfrm flipH="1">
            <a:off x="6283564" y="3127772"/>
            <a:ext cx="667385" cy="33782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直接连接符 45"/>
          <p:cNvCxnSpPr>
            <a:stCxn id="3" idx="2"/>
            <a:endCxn id="5144" idx="0"/>
          </p:cNvCxnSpPr>
          <p:nvPr/>
        </p:nvCxnSpPr>
        <p:spPr bwMode="auto">
          <a:xfrm>
            <a:off x="6950949" y="3127772"/>
            <a:ext cx="988695" cy="30797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直接连接符 48"/>
          <p:cNvCxnSpPr>
            <a:stCxn id="5139" idx="4"/>
          </p:cNvCxnSpPr>
          <p:nvPr/>
        </p:nvCxnSpPr>
        <p:spPr bwMode="auto">
          <a:xfrm>
            <a:off x="5187554" y="1027510"/>
            <a:ext cx="479822" cy="47386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直接连接符 51"/>
          <p:cNvCxnSpPr>
            <a:stCxn id="5140" idx="4"/>
            <a:endCxn id="4" idx="0"/>
          </p:cNvCxnSpPr>
          <p:nvPr/>
        </p:nvCxnSpPr>
        <p:spPr bwMode="auto">
          <a:xfrm>
            <a:off x="5993606" y="1042988"/>
            <a:ext cx="0" cy="45839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直接连接符 54"/>
          <p:cNvCxnSpPr>
            <a:stCxn id="5138" idx="4"/>
          </p:cNvCxnSpPr>
          <p:nvPr/>
        </p:nvCxnSpPr>
        <p:spPr bwMode="auto">
          <a:xfrm flipH="1">
            <a:off x="6324600" y="1027510"/>
            <a:ext cx="494110" cy="47386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 name="流程图: 摘录 4"/>
          <p:cNvSpPr/>
          <p:nvPr/>
        </p:nvSpPr>
        <p:spPr>
          <a:xfrm>
            <a:off x="5791676" y="2031683"/>
            <a:ext cx="402431" cy="294323"/>
          </a:xfrm>
          <a:prstGeom prst="flowChartExtract">
            <a:avLst/>
          </a:prstGeom>
          <a:noFill/>
          <a:ln w="9525" cap="flat" cmpd="sng" algn="ctr">
            <a:solidFill>
              <a:schemeClr val="tx1"/>
            </a:solid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35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10" name="直接连接符 9"/>
          <p:cNvCxnSpPr>
            <a:endCxn id="5" idx="0"/>
          </p:cNvCxnSpPr>
          <p:nvPr>
            <p:custDataLst>
              <p:tags r:id="rId1"/>
            </p:custDataLst>
          </p:nvPr>
        </p:nvCxnSpPr>
        <p:spPr bwMode="auto">
          <a:xfrm>
            <a:off x="5992892" y="1826181"/>
            <a:ext cx="0" cy="20526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Oval 13"/>
          <p:cNvSpPr/>
          <p:nvPr>
            <p:custDataLst>
              <p:tags r:id="rId2"/>
            </p:custDataLst>
          </p:nvPr>
        </p:nvSpPr>
        <p:spPr>
          <a:xfrm>
            <a:off x="1709738" y="1042988"/>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姓名</a:t>
            </a:r>
            <a:endParaRPr lang="zh-CN" altLang="en-US" sz="1125" dirty="0">
              <a:latin typeface="Times New Roman" panose="02020603050405020304" pitchFamily="18" charset="0"/>
            </a:endParaRPr>
          </a:p>
        </p:txBody>
      </p:sp>
      <p:sp>
        <p:nvSpPr>
          <p:cNvPr id="15" name="Oval 13"/>
          <p:cNvSpPr/>
          <p:nvPr>
            <p:custDataLst>
              <p:tags r:id="rId3"/>
            </p:custDataLst>
          </p:nvPr>
        </p:nvSpPr>
        <p:spPr>
          <a:xfrm>
            <a:off x="1709500" y="1879997"/>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职工号</a:t>
            </a:r>
            <a:endParaRPr lang="zh-CN" altLang="en-US" sz="1125" dirty="0">
              <a:latin typeface="Times New Roman" panose="02020603050405020304" pitchFamily="18" charset="0"/>
            </a:endParaRPr>
          </a:p>
        </p:txBody>
      </p:sp>
      <p:cxnSp>
        <p:nvCxnSpPr>
          <p:cNvPr id="16" name="直接连接符 15"/>
          <p:cNvCxnSpPr>
            <a:stCxn id="15" idx="6"/>
            <a:endCxn id="9" idx="1"/>
          </p:cNvCxnSpPr>
          <p:nvPr>
            <p:custDataLst>
              <p:tags r:id="rId4"/>
            </p:custDataLst>
          </p:nvPr>
        </p:nvCxnSpPr>
        <p:spPr bwMode="auto">
          <a:xfrm flipV="1">
            <a:off x="2395538" y="1664494"/>
            <a:ext cx="168116" cy="3657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直接连接符 16"/>
          <p:cNvCxnSpPr>
            <a:stCxn id="13" idx="6"/>
          </p:cNvCxnSpPr>
          <p:nvPr>
            <p:custDataLst>
              <p:tags r:id="rId5"/>
            </p:custDataLst>
          </p:nvPr>
        </p:nvCxnSpPr>
        <p:spPr bwMode="auto">
          <a:xfrm>
            <a:off x="2395538" y="1193006"/>
            <a:ext cx="168116" cy="47101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6385" name="Rectangle 2"/>
          <p:cNvSpPr>
            <a:spLocks noGrp="1" noChangeArrowheads="1"/>
          </p:cNvSpPr>
          <p:nvPr>
            <p:custDataLst>
              <p:tags r:id="rId6"/>
            </p:custDataLst>
          </p:nvPr>
        </p:nvSpPr>
        <p:spPr>
          <a:xfrm>
            <a:off x="457200" y="-26988"/>
            <a:ext cx="8229600" cy="850901"/>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600"/>
              <a:t>将下面的</a:t>
            </a:r>
            <a:r>
              <a:rPr lang="en-US" altLang="zh-CN" sz="3600"/>
              <a:t>ER</a:t>
            </a:r>
            <a:r>
              <a:rPr lang="zh-CN" altLang="en-US" sz="3600"/>
              <a:t>图转换为关系</a:t>
            </a:r>
            <a:r>
              <a:rPr lang="zh-CN" altLang="en-US" sz="3600"/>
              <a:t>模式</a:t>
            </a:r>
            <a:endParaRPr lang="zh-CN" altLang="en-US" sz="3600"/>
          </a:p>
        </p:txBody>
      </p:sp>
      <p:sp>
        <p:nvSpPr>
          <p:cNvPr id="7" name="Oval 13"/>
          <p:cNvSpPr/>
          <p:nvPr/>
        </p:nvSpPr>
        <p:spPr>
          <a:xfrm>
            <a:off x="3347482" y="33635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期</a:t>
            </a:r>
            <a:r>
              <a:rPr lang="zh-CN" altLang="en-US" sz="1125" dirty="0">
                <a:latin typeface="Times New Roman" panose="02020603050405020304" pitchFamily="18" charset="0"/>
              </a:rPr>
              <a:t>号</a:t>
            </a:r>
            <a:endParaRPr lang="zh-CN" altLang="en-US" sz="1125" dirty="0">
              <a:latin typeface="Times New Roman" panose="02020603050405020304" pitchFamily="18" charset="0"/>
            </a:endParaRPr>
          </a:p>
        </p:txBody>
      </p:sp>
      <p:cxnSp>
        <p:nvCxnSpPr>
          <p:cNvPr id="12" name="直接连接符 11"/>
          <p:cNvCxnSpPr/>
          <p:nvPr/>
        </p:nvCxnSpPr>
        <p:spPr bwMode="auto">
          <a:xfrm flipH="1">
            <a:off x="3799841" y="3127772"/>
            <a:ext cx="679450" cy="23558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8" name="Oval 13"/>
          <p:cNvSpPr/>
          <p:nvPr/>
        </p:nvSpPr>
        <p:spPr>
          <a:xfrm>
            <a:off x="2483247" y="33635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期刊</a:t>
            </a:r>
            <a:r>
              <a:rPr lang="zh-CN" altLang="en-US" sz="1125" dirty="0">
                <a:latin typeface="Times New Roman" panose="02020603050405020304" pitchFamily="18" charset="0"/>
              </a:rPr>
              <a:t>名称</a:t>
            </a:r>
            <a:endParaRPr lang="zh-CN" altLang="en-US" sz="1125" dirty="0">
              <a:latin typeface="Times New Roman" panose="02020603050405020304" pitchFamily="18" charset="0"/>
            </a:endParaRPr>
          </a:p>
        </p:txBody>
      </p:sp>
      <p:cxnSp>
        <p:nvCxnSpPr>
          <p:cNvPr id="19" name="直接连接符 18"/>
          <p:cNvCxnSpPr>
            <a:endCxn id="18" idx="0"/>
          </p:cNvCxnSpPr>
          <p:nvPr/>
        </p:nvCxnSpPr>
        <p:spPr bwMode="auto">
          <a:xfrm flipH="1">
            <a:off x="2826386" y="2931557"/>
            <a:ext cx="1652905" cy="4318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0" name="Oval 13"/>
          <p:cNvSpPr/>
          <p:nvPr/>
        </p:nvSpPr>
        <p:spPr>
          <a:xfrm>
            <a:off x="6804105" y="3435668"/>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编号</a:t>
            </a:r>
            <a:endParaRPr lang="zh-CN" altLang="en-US" sz="1125" dirty="0">
              <a:latin typeface="Times New Roman" panose="02020603050405020304" pitchFamily="18" charset="0"/>
            </a:endParaRPr>
          </a:p>
        </p:txBody>
      </p:sp>
      <p:cxnSp>
        <p:nvCxnSpPr>
          <p:cNvPr id="21" name="直接连接符 20"/>
          <p:cNvCxnSpPr>
            <a:stCxn id="3" idx="2"/>
            <a:endCxn id="20" idx="0"/>
          </p:cNvCxnSpPr>
          <p:nvPr/>
        </p:nvCxnSpPr>
        <p:spPr bwMode="auto">
          <a:xfrm>
            <a:off x="6950949" y="3127772"/>
            <a:ext cx="196215" cy="30797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780155" y="771525"/>
            <a:ext cx="5311140" cy="1814830"/>
          </a:xfrm>
          <a:prstGeom prst="rect">
            <a:avLst/>
          </a:prstGeom>
          <a:noFill/>
        </p:spPr>
        <p:txBody>
          <a:bodyPr wrap="square" rtlCol="0" anchor="t">
            <a:spAutoFit/>
          </a:bodyPr>
          <a:p>
            <a:r>
              <a:rPr lang="en-US" altLang="zh-CN" sz="1600" dirty="0">
                <a:sym typeface="+mn-ea"/>
              </a:rPr>
              <a:t>Author(</a:t>
            </a:r>
            <a:r>
              <a:rPr lang="zh-CN" altLang="en-US" sz="1600" dirty="0">
                <a:sym typeface="+mn-ea"/>
              </a:rPr>
              <a:t>姓名，</a:t>
            </a:r>
            <a:r>
              <a:rPr lang="zh-CN" altLang="en-US" sz="1600" u="sng" dirty="0">
                <a:sym typeface="+mn-ea"/>
              </a:rPr>
              <a:t>职工号</a:t>
            </a:r>
            <a:r>
              <a:rPr lang="zh-CN" altLang="en-US" sz="1600" dirty="0">
                <a:sym typeface="+mn-ea"/>
              </a:rPr>
              <a:t>）</a:t>
            </a:r>
            <a:endParaRPr lang="zh-CN" altLang="en-US" sz="1600" dirty="0">
              <a:sym typeface="+mn-ea"/>
            </a:endParaRPr>
          </a:p>
          <a:p>
            <a:r>
              <a:rPr lang="en-US" altLang="zh-CN" sz="1600" dirty="0">
                <a:sym typeface="+mn-ea"/>
              </a:rPr>
              <a:t>JouarnalPaper</a:t>
            </a:r>
            <a:r>
              <a:rPr lang="zh-CN" altLang="en-US" sz="1600" dirty="0">
                <a:sym typeface="+mn-ea"/>
              </a:rPr>
              <a:t>（</a:t>
            </a:r>
            <a:r>
              <a:rPr lang="zh-CN" altLang="en-US" sz="1600" u="sng" dirty="0">
                <a:sym typeface="+mn-ea"/>
              </a:rPr>
              <a:t>期刊名称</a:t>
            </a:r>
            <a:r>
              <a:rPr lang="zh-CN" altLang="en-US" sz="1600" u="sng" dirty="0">
                <a:sym typeface="+mn-ea"/>
              </a:rPr>
              <a:t>，期</a:t>
            </a:r>
            <a:r>
              <a:rPr lang="zh-CN" altLang="en-US" sz="1600" u="sng" dirty="0">
                <a:sym typeface="+mn-ea"/>
              </a:rPr>
              <a:t>号，标题</a:t>
            </a:r>
            <a:r>
              <a:rPr lang="zh-CN" altLang="en-US" sz="1600" dirty="0">
                <a:sym typeface="+mn-ea"/>
              </a:rPr>
              <a:t>，</a:t>
            </a:r>
            <a:r>
              <a:rPr lang="en-US" altLang="zh-CN" sz="1600" dirty="0">
                <a:sym typeface="+mn-ea"/>
              </a:rPr>
              <a:t>ISSN</a:t>
            </a:r>
            <a:r>
              <a:rPr lang="zh-CN" altLang="en-US" sz="1600" dirty="0">
                <a:sym typeface="+mn-ea"/>
              </a:rPr>
              <a:t>，索引，语言，发表</a:t>
            </a:r>
            <a:r>
              <a:rPr lang="zh-CN" altLang="en-US" sz="1600" dirty="0">
                <a:sym typeface="+mn-ea"/>
              </a:rPr>
              <a:t>时间）</a:t>
            </a:r>
            <a:endParaRPr lang="zh-CN" altLang="en-US" sz="1600" dirty="0">
              <a:sym typeface="+mn-ea"/>
            </a:endParaRPr>
          </a:p>
          <a:p>
            <a:r>
              <a:rPr lang="en-US" altLang="zh-CN" sz="1600" dirty="0">
                <a:sym typeface="+mn-ea"/>
              </a:rPr>
              <a:t>ConferencePaper</a:t>
            </a:r>
            <a:r>
              <a:rPr lang="zh-CN" altLang="en-US" sz="1600" dirty="0">
                <a:sym typeface="+mn-ea"/>
              </a:rPr>
              <a:t>（</a:t>
            </a:r>
            <a:r>
              <a:rPr lang="zh-CN" altLang="en-US" sz="1600" u="sng" dirty="0">
                <a:sym typeface="+mn-ea"/>
              </a:rPr>
              <a:t>会议名称</a:t>
            </a:r>
            <a:r>
              <a:rPr lang="zh-CN" altLang="en-US" sz="1600" u="sng" dirty="0">
                <a:sym typeface="+mn-ea"/>
              </a:rPr>
              <a:t>，</a:t>
            </a:r>
            <a:r>
              <a:rPr lang="zh-CN" altLang="en-US" sz="1600" u="sng" dirty="0">
                <a:sym typeface="+mn-ea"/>
              </a:rPr>
              <a:t>编号，标题</a:t>
            </a:r>
            <a:r>
              <a:rPr lang="zh-CN" altLang="en-US" sz="1600" dirty="0">
                <a:sym typeface="+mn-ea"/>
              </a:rPr>
              <a:t>，举办地，语言，发表</a:t>
            </a:r>
            <a:r>
              <a:rPr lang="zh-CN" altLang="en-US" sz="1600" dirty="0">
                <a:sym typeface="+mn-ea"/>
              </a:rPr>
              <a:t>时间）</a:t>
            </a:r>
            <a:endParaRPr lang="zh-CN" altLang="en-US" sz="1600" dirty="0">
              <a:sym typeface="+mn-ea"/>
            </a:endParaRPr>
          </a:p>
          <a:p>
            <a:r>
              <a:rPr lang="en-US" altLang="zh-CN" sz="1600" dirty="0">
                <a:sym typeface="+mn-ea"/>
              </a:rPr>
              <a:t>AJ</a:t>
            </a:r>
            <a:r>
              <a:rPr lang="zh-CN" altLang="en-US" sz="1600" dirty="0">
                <a:sym typeface="+mn-ea"/>
              </a:rPr>
              <a:t>（</a:t>
            </a:r>
            <a:r>
              <a:rPr lang="zh-CN" altLang="en-US" sz="1600" u="sng" dirty="0">
                <a:sym typeface="+mn-ea"/>
              </a:rPr>
              <a:t>职工号，期刊名称，期</a:t>
            </a:r>
            <a:r>
              <a:rPr lang="zh-CN" altLang="en-US" sz="1600" u="sng" dirty="0">
                <a:sym typeface="+mn-ea"/>
              </a:rPr>
              <a:t>号，标题</a:t>
            </a:r>
            <a:r>
              <a:rPr lang="zh-CN" altLang="en-US" sz="1600" dirty="0">
                <a:sym typeface="+mn-ea"/>
              </a:rPr>
              <a:t>，序号，是否</a:t>
            </a:r>
            <a:r>
              <a:rPr lang="zh-CN" altLang="en-US" sz="1600" dirty="0">
                <a:sym typeface="+mn-ea"/>
              </a:rPr>
              <a:t>通信）</a:t>
            </a:r>
            <a:endParaRPr lang="zh-CN" altLang="en-US" sz="1600" dirty="0">
              <a:sym typeface="+mn-ea"/>
            </a:endParaRPr>
          </a:p>
          <a:p>
            <a:r>
              <a:rPr lang="en-US" altLang="zh-CN" sz="1600" dirty="0">
                <a:sym typeface="+mn-ea"/>
              </a:rPr>
              <a:t>AC</a:t>
            </a:r>
            <a:r>
              <a:rPr lang="zh-CN" altLang="en-US" sz="1600" dirty="0">
                <a:sym typeface="+mn-ea"/>
              </a:rPr>
              <a:t>（</a:t>
            </a:r>
            <a:r>
              <a:rPr lang="zh-CN" altLang="en-US" sz="1600" u="sng" dirty="0">
                <a:sym typeface="+mn-ea"/>
              </a:rPr>
              <a:t>职工号，会议名称，</a:t>
            </a:r>
            <a:r>
              <a:rPr lang="zh-CN" altLang="en-US" sz="1600" u="sng" dirty="0">
                <a:sym typeface="+mn-ea"/>
              </a:rPr>
              <a:t>编号，标题</a:t>
            </a:r>
            <a:r>
              <a:rPr lang="zh-CN" altLang="en-US" sz="1600" dirty="0">
                <a:sym typeface="+mn-ea"/>
              </a:rPr>
              <a:t>，序号，是否通信</a:t>
            </a:r>
            <a:endParaRPr lang="zh-CN" altLang="en-US" sz="1600" dirty="0">
              <a:sym typeface="+mn-ea"/>
            </a:endParaRPr>
          </a:p>
        </p:txBody>
      </p:sp>
      <p:sp>
        <p:nvSpPr>
          <p:cNvPr id="4" name="文本框 3"/>
          <p:cNvSpPr txBox="1"/>
          <p:nvPr/>
        </p:nvSpPr>
        <p:spPr>
          <a:xfrm>
            <a:off x="3780155" y="3004185"/>
            <a:ext cx="5142230" cy="1814830"/>
          </a:xfrm>
          <a:prstGeom prst="rect">
            <a:avLst/>
          </a:prstGeom>
          <a:noFill/>
        </p:spPr>
        <p:txBody>
          <a:bodyPr wrap="square" rtlCol="0" anchor="t">
            <a:spAutoFit/>
          </a:bodyPr>
          <a:p>
            <a:r>
              <a:rPr lang="en-US" altLang="zh-CN" sz="1600" dirty="0">
                <a:sym typeface="+mn-ea"/>
              </a:rPr>
              <a:t>Author(</a:t>
            </a:r>
            <a:r>
              <a:rPr lang="zh-CN" altLang="en-US" sz="1600" dirty="0">
                <a:sym typeface="+mn-ea"/>
              </a:rPr>
              <a:t>姓名，</a:t>
            </a:r>
            <a:r>
              <a:rPr lang="zh-CN" altLang="en-US" sz="1600" u="sng" dirty="0">
                <a:sym typeface="+mn-ea"/>
              </a:rPr>
              <a:t>职工号</a:t>
            </a:r>
            <a:r>
              <a:rPr lang="zh-CN" altLang="en-US" sz="1600" dirty="0">
                <a:sym typeface="+mn-ea"/>
              </a:rPr>
              <a:t>）</a:t>
            </a:r>
            <a:endParaRPr lang="zh-CN" altLang="en-US" sz="1600" dirty="0">
              <a:sym typeface="+mn-ea"/>
            </a:endParaRPr>
          </a:p>
          <a:p>
            <a:r>
              <a:rPr lang="en-US" altLang="zh-CN" sz="1600" dirty="0">
                <a:sym typeface="+mn-ea"/>
              </a:rPr>
              <a:t>Jouarnal</a:t>
            </a:r>
            <a:r>
              <a:rPr lang="zh-CN" altLang="en-US" sz="1600" dirty="0">
                <a:sym typeface="+mn-ea"/>
              </a:rPr>
              <a:t>（</a:t>
            </a:r>
            <a:r>
              <a:rPr lang="zh-CN" altLang="en-US" sz="1600" u="sng" dirty="0">
                <a:sym typeface="+mn-ea"/>
              </a:rPr>
              <a:t>期刊名称，期号</a:t>
            </a:r>
            <a:r>
              <a:rPr lang="zh-CN" altLang="en-US" sz="1600" dirty="0">
                <a:sym typeface="+mn-ea"/>
              </a:rPr>
              <a:t>，</a:t>
            </a:r>
            <a:r>
              <a:rPr lang="zh-CN" altLang="en-US" sz="1600" dirty="0">
                <a:sym typeface="+mn-ea"/>
              </a:rPr>
              <a:t>发</a:t>
            </a:r>
            <a:r>
              <a:rPr lang="zh-CN" altLang="en-US" sz="1600" dirty="0">
                <a:sym typeface="+mn-ea"/>
              </a:rPr>
              <a:t>表时间，</a:t>
            </a:r>
            <a:r>
              <a:rPr lang="en-US" altLang="zh-CN" sz="1600" dirty="0">
                <a:sym typeface="+mn-ea"/>
              </a:rPr>
              <a:t>ISSN</a:t>
            </a:r>
            <a:r>
              <a:rPr lang="zh-CN" altLang="en-US" sz="1600" dirty="0">
                <a:sym typeface="+mn-ea"/>
              </a:rPr>
              <a:t>，索引）</a:t>
            </a:r>
            <a:endParaRPr lang="zh-CN" altLang="en-US" sz="1600" dirty="0">
              <a:sym typeface="+mn-ea"/>
            </a:endParaRPr>
          </a:p>
          <a:p>
            <a:r>
              <a:rPr lang="en-US" altLang="zh-CN" sz="1600" dirty="0">
                <a:sym typeface="+mn-ea"/>
              </a:rPr>
              <a:t>Conference</a:t>
            </a:r>
            <a:r>
              <a:rPr lang="zh-CN" altLang="en-US" sz="1600" dirty="0">
                <a:sym typeface="+mn-ea"/>
              </a:rPr>
              <a:t>（</a:t>
            </a:r>
            <a:r>
              <a:rPr lang="zh-CN" altLang="en-US" sz="1600" u="sng" dirty="0">
                <a:sym typeface="+mn-ea"/>
              </a:rPr>
              <a:t>会议名称，编号</a:t>
            </a:r>
            <a:r>
              <a:rPr lang="zh-CN" altLang="en-US" sz="1600" dirty="0">
                <a:sym typeface="+mn-ea"/>
              </a:rPr>
              <a:t>，发表时间，举办地）</a:t>
            </a:r>
            <a:endParaRPr lang="zh-CN" altLang="en-US" sz="1600" dirty="0">
              <a:sym typeface="+mn-ea"/>
            </a:endParaRPr>
          </a:p>
          <a:p>
            <a:r>
              <a:rPr lang="en-US" altLang="zh-CN" sz="1600" dirty="0">
                <a:sym typeface="+mn-ea"/>
              </a:rPr>
              <a:t>Paper</a:t>
            </a:r>
            <a:r>
              <a:rPr lang="zh-CN" altLang="en-US" sz="1600" dirty="0">
                <a:sym typeface="+mn-ea"/>
              </a:rPr>
              <a:t>（</a:t>
            </a:r>
            <a:r>
              <a:rPr lang="en-US" altLang="zh-CN" sz="1600" u="sng" dirty="0">
                <a:sym typeface="+mn-ea"/>
              </a:rPr>
              <a:t>PID</a:t>
            </a:r>
            <a:r>
              <a:rPr lang="zh-CN" altLang="en-US" sz="1600" dirty="0">
                <a:sym typeface="+mn-ea"/>
              </a:rPr>
              <a:t>，标题，语言，类型，期刊或会议名称，期刊或会议</a:t>
            </a:r>
            <a:r>
              <a:rPr lang="zh-CN" altLang="en-US" sz="1600" dirty="0">
                <a:sym typeface="+mn-ea"/>
              </a:rPr>
              <a:t>编号）</a:t>
            </a:r>
            <a:endParaRPr lang="zh-CN" altLang="en-US" sz="1600" dirty="0">
              <a:sym typeface="+mn-ea"/>
            </a:endParaRPr>
          </a:p>
          <a:p>
            <a:r>
              <a:rPr lang="en-US" altLang="zh-CN" sz="1600" dirty="0">
                <a:sym typeface="+mn-ea"/>
              </a:rPr>
              <a:t>AP</a:t>
            </a:r>
            <a:r>
              <a:rPr lang="zh-CN" altLang="en-US" sz="1600" dirty="0">
                <a:sym typeface="+mn-ea"/>
              </a:rPr>
              <a:t>（</a:t>
            </a:r>
            <a:r>
              <a:rPr lang="zh-CN" altLang="en-US" sz="1600" u="sng" dirty="0">
                <a:sym typeface="+mn-ea"/>
              </a:rPr>
              <a:t>职工号，</a:t>
            </a:r>
            <a:r>
              <a:rPr lang="en-US" altLang="zh-CN" sz="1600" u="sng" dirty="0">
                <a:sym typeface="+mn-ea"/>
              </a:rPr>
              <a:t>PID</a:t>
            </a:r>
            <a:r>
              <a:rPr lang="zh-CN" altLang="en-US" sz="1600" dirty="0">
                <a:sym typeface="+mn-ea"/>
              </a:rPr>
              <a:t>，序号，是否</a:t>
            </a:r>
            <a:r>
              <a:rPr lang="zh-CN" altLang="en-US" sz="1600" dirty="0">
                <a:sym typeface="+mn-ea"/>
              </a:rPr>
              <a:t>通信）</a:t>
            </a:r>
            <a:endParaRPr lang="zh-CN" altLang="en-US" sz="1600" dirty="0">
              <a:sym typeface="+mn-ea"/>
            </a:endParaRPr>
          </a:p>
          <a:p>
            <a:endParaRPr lang="zh-CN" altLang="en-US" sz="1600" dirty="0">
              <a:sym typeface="+mn-ea"/>
            </a:endParaRPr>
          </a:p>
        </p:txBody>
      </p:sp>
      <p:pic>
        <p:nvPicPr>
          <p:cNvPr id="5" name="图片 4"/>
          <p:cNvPicPr>
            <a:picLocks noChangeAspect="1"/>
          </p:cNvPicPr>
          <p:nvPr/>
        </p:nvPicPr>
        <p:blipFill>
          <a:blip r:embed="rId1"/>
          <a:stretch>
            <a:fillRect/>
          </a:stretch>
        </p:blipFill>
        <p:spPr>
          <a:xfrm>
            <a:off x="323850" y="987425"/>
            <a:ext cx="3323590" cy="1537970"/>
          </a:xfrm>
          <a:prstGeom prst="rect">
            <a:avLst/>
          </a:prstGeom>
        </p:spPr>
      </p:pic>
      <p:sp>
        <p:nvSpPr>
          <p:cNvPr id="6" name="文本框 5"/>
          <p:cNvSpPr txBox="1"/>
          <p:nvPr/>
        </p:nvSpPr>
        <p:spPr>
          <a:xfrm>
            <a:off x="827405" y="3291840"/>
            <a:ext cx="1737995" cy="337185"/>
          </a:xfrm>
          <a:prstGeom prst="rect">
            <a:avLst/>
          </a:prstGeom>
          <a:noFill/>
        </p:spPr>
        <p:txBody>
          <a:bodyPr wrap="square" rtlCol="0" anchor="t">
            <a:spAutoFit/>
          </a:bodyPr>
          <a:p>
            <a:r>
              <a:rPr lang="zh-CN" altLang="en-US" sz="1600" dirty="0">
                <a:solidFill>
                  <a:srgbClr val="FF0000"/>
                </a:solidFill>
                <a:sym typeface="+mn-ea"/>
              </a:rPr>
              <a:t>哪个更好</a:t>
            </a:r>
            <a:r>
              <a:rPr lang="en-US" altLang="zh-CN" sz="1600" dirty="0">
                <a:solidFill>
                  <a:srgbClr val="FF0000"/>
                </a:solidFill>
                <a:sym typeface="+mn-ea"/>
              </a:rPr>
              <a:t>?</a:t>
            </a:r>
            <a:endParaRPr lang="en-US" altLang="zh-CN" sz="1600" dirty="0">
              <a:solidFill>
                <a:srgbClr val="FF0000"/>
              </a:solidFill>
              <a:sym typeface="+mn-ea"/>
            </a:endParaRPr>
          </a:p>
        </p:txBody>
      </p:sp>
    </p:spTree>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85720" y="-29765"/>
            <a:ext cx="6929486" cy="744128"/>
          </a:xfrm>
        </p:spPr>
        <p:txBody>
          <a:bodyPr/>
          <a:lstStyle/>
          <a:p>
            <a:r>
              <a:rPr lang="zh-CN" altLang="en-US" sz="3600" dirty="0">
                <a:latin typeface="黑体" panose="02010609060101010101" pitchFamily="49" charset="-122"/>
                <a:ea typeface="黑体" panose="02010609060101010101" pitchFamily="49" charset="-122"/>
              </a:rPr>
              <a:t>一个例子</a:t>
            </a:r>
            <a:endParaRPr lang="en-US" altLang="zh-CN" sz="3600" dirty="0">
              <a:latin typeface="黑体" panose="02010609060101010101" pitchFamily="49" charset="-122"/>
              <a:ea typeface="黑体" panose="02010609060101010101" pitchFamily="49" charset="-122"/>
            </a:endParaRPr>
          </a:p>
        </p:txBody>
      </p:sp>
      <p:sp>
        <p:nvSpPr>
          <p:cNvPr id="25603" name="Rectangle 3"/>
          <p:cNvSpPr>
            <a:spLocks noGrp="1" noChangeArrowheads="1"/>
          </p:cNvSpPr>
          <p:nvPr>
            <p:ph idx="1"/>
          </p:nvPr>
        </p:nvSpPr>
        <p:spPr>
          <a:xfrm>
            <a:off x="142844" y="823913"/>
            <a:ext cx="8858280" cy="3640931"/>
          </a:xfrm>
        </p:spPr>
        <p:txBody>
          <a:bodyPr/>
          <a:lstStyle/>
          <a:p>
            <a:r>
              <a:rPr lang="zh-CN" altLang="en-US" sz="2400" dirty="0"/>
              <a:t>某个学校开发应用系统涉及的已知事实：</a:t>
            </a:r>
            <a:endParaRPr lang="zh-CN" altLang="en-US" sz="2400" dirty="0"/>
          </a:p>
          <a:p>
            <a:pPr marL="457200" lvl="1" indent="0">
              <a:buNone/>
            </a:pPr>
            <a:r>
              <a:rPr lang="zh-CN" altLang="en-US" sz="2200" dirty="0"/>
              <a:t>⒈ 一个系有若干学生， 但一个学生只属于一个系；</a:t>
            </a:r>
            <a:endParaRPr lang="zh-CN" altLang="en-US" sz="2200" dirty="0"/>
          </a:p>
          <a:p>
            <a:pPr marL="457200" lvl="1" indent="0">
              <a:buNone/>
            </a:pPr>
            <a:r>
              <a:rPr lang="zh-CN" altLang="en-US" sz="2200" dirty="0"/>
              <a:t>⒉ 一个系只有一名主任；</a:t>
            </a:r>
            <a:endParaRPr lang="zh-CN" altLang="en-US" sz="2200" dirty="0"/>
          </a:p>
          <a:p>
            <a:pPr marL="457200" lvl="1" indent="0">
              <a:buNone/>
            </a:pPr>
            <a:r>
              <a:rPr lang="zh-CN" altLang="en-US" sz="2200" dirty="0"/>
              <a:t>⒊ 一个学生可以选修多门课程， 每门课程有若干学生选修；</a:t>
            </a:r>
            <a:endParaRPr lang="zh-CN" altLang="en-US" sz="2200" dirty="0"/>
          </a:p>
          <a:p>
            <a:pPr marL="457200" lvl="1" indent="0">
              <a:buNone/>
            </a:pPr>
            <a:r>
              <a:rPr lang="zh-CN" altLang="en-US" sz="2200" dirty="0"/>
              <a:t>⒋ 每个学生所学的每门课程都有一个成绩。</a:t>
            </a:r>
            <a:endParaRPr lang="en-US" altLang="zh-CN" sz="2200" dirty="0"/>
          </a:p>
          <a:p>
            <a:pPr marL="57150" indent="0"/>
            <a:r>
              <a:rPr lang="zh-CN" altLang="en-US" sz="2400" dirty="0"/>
              <a:t>存储并管理这些信息</a:t>
            </a:r>
            <a:endParaRPr lang="en-US" altLang="zh-CN" sz="2400" dirty="0"/>
          </a:p>
          <a:p>
            <a:r>
              <a:rPr lang="zh-CN" altLang="en-US" sz="2400" dirty="0"/>
              <a:t>设计了一个关系模式</a:t>
            </a:r>
            <a:endParaRPr lang="en-US" altLang="zh-CN" sz="2400" dirty="0"/>
          </a:p>
          <a:p>
            <a:pPr lvl="1">
              <a:buNone/>
            </a:pPr>
            <a:r>
              <a:rPr lang="en-US" altLang="zh-CN" dirty="0">
                <a:solidFill>
                  <a:srgbClr val="FF0000"/>
                </a:solidFill>
              </a:rPr>
              <a:t>STUDENT</a:t>
            </a:r>
            <a:r>
              <a:rPr lang="zh-CN" altLang="en-US" dirty="0">
                <a:solidFill>
                  <a:srgbClr val="FF0000"/>
                </a:solidFill>
              </a:rPr>
              <a:t>（</a:t>
            </a:r>
            <a:r>
              <a:rPr lang="en-US" altLang="zh-CN" dirty="0" err="1">
                <a:solidFill>
                  <a:srgbClr val="FF0000"/>
                </a:solidFill>
              </a:rPr>
              <a:t>Sno</a:t>
            </a:r>
            <a:r>
              <a:rPr lang="en-US" altLang="zh-CN" dirty="0">
                <a:solidFill>
                  <a:srgbClr val="FF0000"/>
                </a:solidFill>
              </a:rPr>
              <a:t>,</a:t>
            </a:r>
            <a:r>
              <a:rPr lang="zh-CN" altLang="en-US" dirty="0">
                <a:solidFill>
                  <a:srgbClr val="FF0000"/>
                </a:solidFill>
              </a:rPr>
              <a:t> </a:t>
            </a:r>
            <a:r>
              <a:rPr lang="en-US" altLang="zh-CN" dirty="0" err="1">
                <a:solidFill>
                  <a:srgbClr val="FF0000"/>
                </a:solidFill>
              </a:rPr>
              <a:t>Sdept</a:t>
            </a:r>
            <a:r>
              <a:rPr lang="en-US" altLang="zh-CN" dirty="0">
                <a:solidFill>
                  <a:srgbClr val="FF0000"/>
                </a:solidFill>
              </a:rPr>
              <a:t>, </a:t>
            </a:r>
            <a:r>
              <a:rPr lang="en-US" altLang="zh-CN" dirty="0" err="1">
                <a:solidFill>
                  <a:srgbClr val="FF0000"/>
                </a:solidFill>
              </a:rPr>
              <a:t>Mname</a:t>
            </a:r>
            <a:r>
              <a:rPr lang="en-US" altLang="zh-CN" dirty="0">
                <a:solidFill>
                  <a:srgbClr val="FF0000"/>
                </a:solidFill>
              </a:rPr>
              <a:t>,</a:t>
            </a:r>
            <a:r>
              <a:rPr lang="zh-CN" altLang="en-US" dirty="0">
                <a:solidFill>
                  <a:srgbClr val="FF0000"/>
                </a:solidFill>
              </a:rPr>
              <a:t> </a:t>
            </a:r>
            <a:r>
              <a:rPr lang="en-US" altLang="zh-CN" dirty="0" err="1">
                <a:solidFill>
                  <a:srgbClr val="FF0000"/>
                </a:solidFill>
              </a:rPr>
              <a:t>Cname</a:t>
            </a:r>
            <a:r>
              <a:rPr lang="en-US" altLang="zh-CN" dirty="0">
                <a:solidFill>
                  <a:srgbClr val="FF0000"/>
                </a:solidFill>
              </a:rPr>
              <a:t>,</a:t>
            </a:r>
            <a:r>
              <a:rPr lang="zh-CN" altLang="en-US" dirty="0">
                <a:solidFill>
                  <a:srgbClr val="FF0000"/>
                </a:solidFill>
              </a:rPr>
              <a:t> </a:t>
            </a:r>
            <a:r>
              <a:rPr lang="en-US" altLang="zh-CN" dirty="0">
                <a:solidFill>
                  <a:srgbClr val="FF0000"/>
                </a:solidFill>
              </a:rPr>
              <a:t>Grade</a:t>
            </a:r>
            <a:r>
              <a:rPr lang="zh-CN" altLang="en-US" dirty="0">
                <a:solidFill>
                  <a:srgbClr val="FF0000"/>
                </a:solidFill>
              </a:rPr>
              <a:t>）</a:t>
            </a:r>
            <a:endParaRPr lang="zh-CN" altLang="en-US" dirty="0">
              <a:solidFill>
                <a:srgbClr val="FF0000"/>
              </a:solidFill>
            </a:endParaRPr>
          </a:p>
          <a:p>
            <a:pPr marL="457200" lvl="1" indent="0">
              <a:buNone/>
            </a:pPr>
            <a:r>
              <a:rPr lang="zh-CN" altLang="en-US" dirty="0"/>
              <a:t>    </a:t>
            </a:r>
            <a:endParaRPr lang="zh-CN" altLang="en-US" dirty="0"/>
          </a:p>
        </p:txBody>
      </p:sp>
    </p:spTree>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28596" y="-71456"/>
            <a:ext cx="7358114" cy="853679"/>
          </a:xfrm>
        </p:spPr>
        <p:txBody>
          <a:bodyPr/>
          <a:lstStyle/>
          <a:p>
            <a:r>
              <a:rPr lang="zh-CN" altLang="en-US" sz="3600" dirty="0"/>
              <a:t>一个例子</a:t>
            </a:r>
            <a:endParaRPr lang="en-US" altLang="zh-CN" sz="3600" dirty="0"/>
          </a:p>
        </p:txBody>
      </p:sp>
      <p:sp>
        <p:nvSpPr>
          <p:cNvPr id="25603" name="Rectangle 3"/>
          <p:cNvSpPr>
            <a:spLocks noGrp="1" noChangeArrowheads="1"/>
          </p:cNvSpPr>
          <p:nvPr>
            <p:ph idx="1"/>
          </p:nvPr>
        </p:nvSpPr>
        <p:spPr>
          <a:xfrm>
            <a:off x="142844" y="823913"/>
            <a:ext cx="8858280" cy="3640931"/>
          </a:xfrm>
        </p:spPr>
        <p:txBody>
          <a:bodyPr/>
          <a:lstStyle/>
          <a:p>
            <a:pPr>
              <a:buNone/>
            </a:pPr>
            <a:endParaRPr lang="zh-CN" altLang="en-US" sz="2400" dirty="0"/>
          </a:p>
          <a:p>
            <a:pPr marL="457200" lvl="1" indent="0">
              <a:buNone/>
            </a:pPr>
            <a:r>
              <a:rPr lang="zh-CN" altLang="en-US" dirty="0"/>
              <a:t>    </a:t>
            </a:r>
            <a:endParaRPr lang="zh-CN" altLang="en-US" dirty="0"/>
          </a:p>
        </p:txBody>
      </p:sp>
      <p:graphicFrame>
        <p:nvGraphicFramePr>
          <p:cNvPr id="14" name="表格 13"/>
          <p:cNvGraphicFramePr>
            <a:graphicFrameLocks noGrp="1"/>
          </p:cNvGraphicFramePr>
          <p:nvPr/>
        </p:nvGraphicFramePr>
        <p:xfrm>
          <a:off x="500034" y="1357304"/>
          <a:ext cx="6643733" cy="3073322"/>
        </p:xfrm>
        <a:graphic>
          <a:graphicData uri="http://schemas.openxmlformats.org/drawingml/2006/table">
            <a:tbl>
              <a:tblPr/>
              <a:tblGrid>
                <a:gridCol w="1042941"/>
                <a:gridCol w="1636280"/>
                <a:gridCol w="1684750"/>
                <a:gridCol w="935973"/>
                <a:gridCol w="1343789"/>
              </a:tblGrid>
              <a:tr h="486162">
                <a:tc>
                  <a:txBody>
                    <a:bodyPr/>
                    <a:lstStyle/>
                    <a:p>
                      <a:pPr algn="ctr"/>
                      <a:r>
                        <a:rPr lang="en-US" sz="2200" b="1" kern="1050" dirty="0" err="1">
                          <a:latin typeface="Calibri" panose="020F0502020204030204"/>
                          <a:ea typeface="宋体" panose="02010600030101010101" pitchFamily="2" charset="-122"/>
                          <a:cs typeface="Times New Roman" panose="02020603050405020304"/>
                        </a:rPr>
                        <a:t>Sno</a:t>
                      </a:r>
                      <a:r>
                        <a:rPr lang="zh-CN" sz="2200" b="1" kern="100" dirty="0">
                          <a:latin typeface="Calibri" panose="020F0502020204030204"/>
                          <a:ea typeface="宋体" panose="02010600030101010101" pitchFamily="2" charset="-122"/>
                          <a:cs typeface="Times New Roman" panose="02020603050405020304"/>
                        </a:rPr>
                        <a:t> </a:t>
                      </a:r>
                      <a:endParaRPr lang="zh-CN" sz="2200" b="1"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err="1">
                          <a:latin typeface="Times New Roman" panose="02020603050405020304"/>
                          <a:ea typeface="宋体" panose="02010600030101010101" pitchFamily="2" charset="-122"/>
                          <a:cs typeface="Times New Roman" panose="02020603050405020304"/>
                        </a:rPr>
                        <a:t>Sdept</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err="1">
                          <a:latin typeface="Times New Roman" panose="02020603050405020304"/>
                          <a:ea typeface="宋体" panose="02010600030101010101" pitchFamily="2" charset="-122"/>
                          <a:cs typeface="Times New Roman" panose="02020603050405020304"/>
                        </a:rPr>
                        <a:t>Mname</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err="1">
                          <a:latin typeface="Times New Roman" panose="02020603050405020304"/>
                          <a:ea typeface="宋体" panose="02010600030101010101" pitchFamily="2" charset="-122"/>
                          <a:cs typeface="Times New Roman" panose="02020603050405020304"/>
                        </a:rPr>
                        <a:t>Cno</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panose="02020603050405020304"/>
                          <a:ea typeface="宋体" panose="02010600030101010101" pitchFamily="2" charset="-122"/>
                          <a:cs typeface="Times New Roman" panose="02020603050405020304"/>
                        </a:rPr>
                        <a:t>Grade</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383320">
                <a:tc>
                  <a:txBody>
                    <a:bodyPr/>
                    <a:lstStyle/>
                    <a:p>
                      <a:pPr indent="269875" algn="ctr">
                        <a:spcAft>
                          <a:spcPts val="0"/>
                        </a:spcAft>
                      </a:pPr>
                      <a:r>
                        <a:rPr lang="en-US" sz="2200" b="1" kern="1050" dirty="0">
                          <a:latin typeface="Times New Roman" panose="02020603050405020304"/>
                          <a:ea typeface="宋体" panose="02010600030101010101" pitchFamily="2" charset="-122"/>
                          <a:cs typeface="Times New Roman" panose="02020603050405020304"/>
                        </a:rPr>
                        <a:t>S1</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panose="02020603050405020304"/>
                          <a:ea typeface="宋体" panose="02010600030101010101" pitchFamily="2" charset="-122"/>
                          <a:cs typeface="Times New Roman" panose="02020603050405020304"/>
                        </a:rPr>
                        <a:t>计算机系</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panose="02020603050405020304"/>
                          <a:ea typeface="宋体" panose="02010600030101010101" pitchFamily="2" charset="-122"/>
                          <a:cs typeface="Times New Roman" panose="02020603050405020304"/>
                        </a:rPr>
                        <a:t>张明</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panose="02020603050405020304"/>
                          <a:ea typeface="宋体" panose="02010600030101010101" pitchFamily="2" charset="-122"/>
                          <a:cs typeface="Times New Roman" panose="02020603050405020304"/>
                        </a:rPr>
                        <a:t>C1</a:t>
                      </a:r>
                      <a:endParaRPr lang="zh-CN" sz="22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panose="02020603050405020304"/>
                          <a:ea typeface="宋体" panose="02010600030101010101" pitchFamily="2" charset="-122"/>
                          <a:cs typeface="Times New Roman" panose="02020603050405020304"/>
                        </a:rPr>
                        <a:t>95</a:t>
                      </a:r>
                      <a:endParaRPr lang="zh-CN" sz="22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383320">
                <a:tc>
                  <a:txBody>
                    <a:bodyPr/>
                    <a:lstStyle/>
                    <a:p>
                      <a:pPr indent="269875" algn="ctr">
                        <a:spcAft>
                          <a:spcPts val="0"/>
                        </a:spcAft>
                      </a:pPr>
                      <a:r>
                        <a:rPr lang="en-US" sz="2200" b="1" kern="1050" dirty="0">
                          <a:latin typeface="Times New Roman" panose="02020603050405020304"/>
                          <a:ea typeface="宋体" panose="02010600030101010101" pitchFamily="2" charset="-122"/>
                          <a:cs typeface="Times New Roman" panose="02020603050405020304"/>
                        </a:rPr>
                        <a:t>S2</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panose="02020603050405020304"/>
                          <a:ea typeface="宋体" panose="02010600030101010101" pitchFamily="2" charset="-122"/>
                          <a:cs typeface="Times New Roman" panose="02020603050405020304"/>
                        </a:rPr>
                        <a:t>计算机系</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panose="02020603050405020304"/>
                          <a:ea typeface="宋体" panose="02010600030101010101" pitchFamily="2" charset="-122"/>
                          <a:cs typeface="Times New Roman" panose="02020603050405020304"/>
                        </a:rPr>
                        <a:t>张明</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panose="02020603050405020304"/>
                          <a:ea typeface="宋体" panose="02010600030101010101" pitchFamily="2" charset="-122"/>
                          <a:cs typeface="Times New Roman" panose="02020603050405020304"/>
                        </a:rPr>
                        <a:t>C1</a:t>
                      </a:r>
                      <a:endParaRPr lang="zh-CN" sz="22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panose="02020603050405020304"/>
                          <a:ea typeface="宋体" panose="02010600030101010101" pitchFamily="2" charset="-122"/>
                          <a:cs typeface="Times New Roman" panose="02020603050405020304"/>
                        </a:rPr>
                        <a:t>90</a:t>
                      </a:r>
                      <a:endParaRPr lang="zh-CN" sz="22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383320">
                <a:tc>
                  <a:txBody>
                    <a:bodyPr/>
                    <a:lstStyle/>
                    <a:p>
                      <a:pPr indent="269875" algn="ctr">
                        <a:spcAft>
                          <a:spcPts val="0"/>
                        </a:spcAft>
                      </a:pPr>
                      <a:r>
                        <a:rPr lang="en-US" sz="2200" b="1" kern="1050" dirty="0">
                          <a:latin typeface="Times New Roman" panose="02020603050405020304"/>
                          <a:ea typeface="宋体" panose="02010600030101010101" pitchFamily="2" charset="-122"/>
                          <a:cs typeface="Times New Roman" panose="02020603050405020304"/>
                        </a:rPr>
                        <a:t>S3</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panose="02020603050405020304"/>
                          <a:ea typeface="宋体" panose="02010600030101010101" pitchFamily="2" charset="-122"/>
                          <a:cs typeface="Times New Roman" panose="02020603050405020304"/>
                        </a:rPr>
                        <a:t>计算机系</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panose="02020603050405020304"/>
                          <a:ea typeface="宋体" panose="02010600030101010101" pitchFamily="2" charset="-122"/>
                          <a:cs typeface="Times New Roman" panose="02020603050405020304"/>
                        </a:rPr>
                        <a:t>张明</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panose="02020603050405020304"/>
                          <a:ea typeface="宋体" panose="02010600030101010101" pitchFamily="2" charset="-122"/>
                          <a:cs typeface="Times New Roman" panose="02020603050405020304"/>
                        </a:rPr>
                        <a:t>C1</a:t>
                      </a:r>
                      <a:endParaRPr lang="zh-CN" sz="22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panose="02020603050405020304"/>
                          <a:ea typeface="宋体" panose="02010600030101010101" pitchFamily="2" charset="-122"/>
                          <a:cs typeface="Times New Roman" panose="02020603050405020304"/>
                        </a:rPr>
                        <a:t>88</a:t>
                      </a:r>
                      <a:endParaRPr lang="zh-CN" sz="22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383320">
                <a:tc>
                  <a:txBody>
                    <a:bodyPr/>
                    <a:lstStyle/>
                    <a:p>
                      <a:pPr indent="269875" algn="ctr">
                        <a:spcAft>
                          <a:spcPts val="0"/>
                        </a:spcAft>
                      </a:pPr>
                      <a:r>
                        <a:rPr lang="en-US" sz="2200" b="1" kern="1050">
                          <a:latin typeface="Times New Roman" panose="02020603050405020304"/>
                          <a:ea typeface="宋体" panose="02010600030101010101" pitchFamily="2" charset="-122"/>
                          <a:cs typeface="Times New Roman" panose="02020603050405020304"/>
                        </a:rPr>
                        <a:t>S4</a:t>
                      </a:r>
                      <a:endParaRPr lang="zh-CN" sz="22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panose="02020603050405020304"/>
                          <a:ea typeface="宋体" panose="02010600030101010101" pitchFamily="2" charset="-122"/>
                          <a:cs typeface="Times New Roman" panose="02020603050405020304"/>
                        </a:rPr>
                        <a:t>计算机系</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panose="02020603050405020304"/>
                          <a:ea typeface="宋体" panose="02010600030101010101" pitchFamily="2" charset="-122"/>
                          <a:cs typeface="Times New Roman" panose="02020603050405020304"/>
                        </a:rPr>
                        <a:t>张明</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panose="02020603050405020304"/>
                          <a:ea typeface="宋体" panose="02010600030101010101" pitchFamily="2" charset="-122"/>
                          <a:cs typeface="Times New Roman" panose="02020603050405020304"/>
                        </a:rPr>
                        <a:t>C1</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panose="02020603050405020304"/>
                          <a:ea typeface="宋体" panose="02010600030101010101" pitchFamily="2" charset="-122"/>
                          <a:cs typeface="Times New Roman" panose="02020603050405020304"/>
                        </a:rPr>
                        <a:t>70</a:t>
                      </a:r>
                      <a:endParaRPr lang="zh-CN" sz="22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383320">
                <a:tc>
                  <a:txBody>
                    <a:bodyPr/>
                    <a:lstStyle/>
                    <a:p>
                      <a:pPr indent="269875" algn="ctr">
                        <a:spcAft>
                          <a:spcPts val="0"/>
                        </a:spcAft>
                      </a:pPr>
                      <a:r>
                        <a:rPr lang="en-US" sz="2200" b="1" kern="1050">
                          <a:latin typeface="Times New Roman" panose="02020603050405020304"/>
                          <a:ea typeface="宋体" panose="02010600030101010101" pitchFamily="2" charset="-122"/>
                          <a:cs typeface="Times New Roman" panose="02020603050405020304"/>
                        </a:rPr>
                        <a:t>S5</a:t>
                      </a:r>
                      <a:endParaRPr lang="zh-CN" sz="22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panose="02020603050405020304"/>
                          <a:ea typeface="宋体" panose="02010600030101010101" pitchFamily="2" charset="-122"/>
                          <a:cs typeface="Times New Roman" panose="02020603050405020304"/>
                        </a:rPr>
                        <a:t>计算机系</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panose="02020603050405020304"/>
                          <a:ea typeface="宋体" panose="02010600030101010101" pitchFamily="2" charset="-122"/>
                          <a:cs typeface="Times New Roman" panose="02020603050405020304"/>
                        </a:rPr>
                        <a:t>张明</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panose="02020603050405020304"/>
                          <a:ea typeface="宋体" panose="02010600030101010101" pitchFamily="2" charset="-122"/>
                          <a:cs typeface="Times New Roman" panose="02020603050405020304"/>
                        </a:rPr>
                        <a:t>C1</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panose="02020603050405020304"/>
                          <a:ea typeface="宋体" panose="02010600030101010101" pitchFamily="2" charset="-122"/>
                          <a:cs typeface="Times New Roman" panose="02020603050405020304"/>
                        </a:rPr>
                        <a:t>78</a:t>
                      </a:r>
                      <a:endParaRPr lang="zh-CN"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383320">
                <a:tc>
                  <a:txBody>
                    <a:bodyPr/>
                    <a:lstStyle/>
                    <a:p>
                      <a:pPr indent="269875" algn="ctr">
                        <a:spcAft>
                          <a:spcPts val="0"/>
                        </a:spcAft>
                      </a:pPr>
                      <a:r>
                        <a:rPr lang="zh-CN" altLang="en-US" sz="2200" b="1" kern="1050" dirty="0">
                          <a:latin typeface="Times New Roman" panose="02020603050405020304"/>
                          <a:ea typeface="宋体" panose="02010600030101010101" pitchFamily="2" charset="-122"/>
                          <a:cs typeface="Times New Roman" panose="02020603050405020304"/>
                        </a:rPr>
                        <a:t>：</a:t>
                      </a:r>
                      <a:endParaRPr lang="en-US" altLang="zh-CN" sz="2200" b="1" kern="1050" dirty="0">
                        <a:latin typeface="Times New Roman" panose="02020603050405020304"/>
                        <a:ea typeface="宋体" panose="02010600030101010101" pitchFamily="2" charset="-122"/>
                        <a:cs typeface="Times New Roman" panose="02020603050405020304"/>
                      </a:endParaRPr>
                    </a:p>
                    <a:p>
                      <a:pPr indent="269875" algn="ctr">
                        <a:spcAft>
                          <a:spcPts val="0"/>
                        </a:spcAft>
                      </a:pPr>
                      <a:r>
                        <a:rPr lang="zh-CN" altLang="en-US" sz="2200" b="1" kern="1050" dirty="0">
                          <a:latin typeface="Times New Roman" panose="02020603050405020304"/>
                          <a:ea typeface="宋体" panose="02010600030101010101" pitchFamily="2" charset="-122"/>
                          <a:cs typeface="Times New Roman" panose="02020603050405020304"/>
                        </a:rPr>
                        <a:t>：</a:t>
                      </a:r>
                      <a:endParaRPr lang="en-US"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panose="02020603050405020304"/>
                          <a:ea typeface="宋体" panose="02010600030101010101" pitchFamily="2" charset="-122"/>
                          <a:cs typeface="Times New Roman" panose="02020603050405020304"/>
                        </a:rPr>
                        <a:t>：</a:t>
                      </a:r>
                      <a:endParaRPr lang="en-US" altLang="zh-CN" sz="2200" b="1" kern="1050" dirty="0">
                        <a:latin typeface="Times New Roman" panose="02020603050405020304"/>
                        <a:ea typeface="宋体" panose="02010600030101010101" pitchFamily="2" charset="-122"/>
                        <a:cs typeface="Times New Roman" panose="02020603050405020304"/>
                      </a:endParaRPr>
                    </a:p>
                    <a:p>
                      <a:pPr indent="269875" algn="ctr">
                        <a:spcAft>
                          <a:spcPts val="0"/>
                        </a:spcAft>
                      </a:pPr>
                      <a:r>
                        <a:rPr lang="zh-CN" altLang="en-US" sz="2200" b="1" kern="1050" dirty="0">
                          <a:latin typeface="Times New Roman" panose="02020603050405020304"/>
                          <a:ea typeface="宋体" panose="02010600030101010101" pitchFamily="2" charset="-122"/>
                          <a:cs typeface="Times New Roman" panose="02020603050405020304"/>
                        </a:rPr>
                        <a:t>：</a:t>
                      </a:r>
                      <a:endParaRPr lang="en-US"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panose="02020603050405020304"/>
                          <a:ea typeface="宋体" panose="02010600030101010101" pitchFamily="2" charset="-122"/>
                          <a:cs typeface="Times New Roman" panose="02020603050405020304"/>
                        </a:rPr>
                        <a:t>：</a:t>
                      </a:r>
                      <a:endParaRPr lang="en-US" altLang="zh-CN" sz="2200" b="1" kern="1050" dirty="0">
                        <a:latin typeface="Times New Roman" panose="02020603050405020304"/>
                        <a:ea typeface="宋体" panose="02010600030101010101" pitchFamily="2" charset="-122"/>
                        <a:cs typeface="Times New Roman" panose="02020603050405020304"/>
                      </a:endParaRPr>
                    </a:p>
                    <a:p>
                      <a:pPr indent="269875" algn="ctr">
                        <a:spcAft>
                          <a:spcPts val="0"/>
                        </a:spcAft>
                      </a:pPr>
                      <a:r>
                        <a:rPr lang="zh-CN" altLang="en-US" sz="2200" b="1" kern="1050" dirty="0">
                          <a:latin typeface="Times New Roman" panose="02020603050405020304"/>
                          <a:ea typeface="宋体" panose="02010600030101010101" pitchFamily="2" charset="-122"/>
                          <a:cs typeface="Times New Roman" panose="02020603050405020304"/>
                        </a:rPr>
                        <a:t>：</a:t>
                      </a:r>
                      <a:endParaRPr lang="en-US"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panose="02020603050405020304"/>
                          <a:ea typeface="宋体" panose="02010600030101010101" pitchFamily="2" charset="-122"/>
                          <a:cs typeface="Times New Roman" panose="02020603050405020304"/>
                        </a:rPr>
                        <a:t>：</a:t>
                      </a:r>
                      <a:endParaRPr lang="en-US" altLang="zh-CN" sz="2200" b="1" kern="1050" dirty="0">
                        <a:latin typeface="Times New Roman" panose="02020603050405020304"/>
                        <a:ea typeface="宋体" panose="02010600030101010101" pitchFamily="2" charset="-122"/>
                        <a:cs typeface="Times New Roman" panose="02020603050405020304"/>
                      </a:endParaRPr>
                    </a:p>
                    <a:p>
                      <a:pPr indent="269875" algn="ctr">
                        <a:spcAft>
                          <a:spcPts val="0"/>
                        </a:spcAft>
                      </a:pPr>
                      <a:r>
                        <a:rPr lang="zh-CN" altLang="en-US" sz="2200" b="1" kern="1050" dirty="0">
                          <a:latin typeface="Times New Roman" panose="02020603050405020304"/>
                          <a:ea typeface="宋体" panose="02010600030101010101" pitchFamily="2" charset="-122"/>
                          <a:cs typeface="Times New Roman" panose="02020603050405020304"/>
                        </a:rPr>
                        <a:t>：</a:t>
                      </a:r>
                      <a:endParaRPr lang="en-US"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panose="02020603050405020304"/>
                          <a:ea typeface="宋体" panose="02010600030101010101" pitchFamily="2" charset="-122"/>
                          <a:cs typeface="Times New Roman" panose="02020603050405020304"/>
                        </a:rPr>
                        <a:t>：</a:t>
                      </a:r>
                      <a:endParaRPr lang="en-US" altLang="zh-CN" sz="2200" b="1" kern="1050" dirty="0">
                        <a:latin typeface="Times New Roman" panose="02020603050405020304"/>
                        <a:ea typeface="宋体" panose="02010600030101010101" pitchFamily="2" charset="-122"/>
                        <a:cs typeface="Times New Roman" panose="02020603050405020304"/>
                      </a:endParaRPr>
                    </a:p>
                    <a:p>
                      <a:pPr indent="269875" algn="ctr">
                        <a:spcAft>
                          <a:spcPts val="0"/>
                        </a:spcAft>
                      </a:pPr>
                      <a:r>
                        <a:rPr lang="zh-CN" altLang="en-US" sz="2200" b="1" kern="1050" dirty="0">
                          <a:latin typeface="Times New Roman" panose="02020603050405020304"/>
                          <a:ea typeface="宋体" panose="02010600030101010101" pitchFamily="2" charset="-122"/>
                          <a:cs typeface="Times New Roman" panose="02020603050405020304"/>
                        </a:rPr>
                        <a:t>：</a:t>
                      </a:r>
                      <a:endParaRPr lang="en-US" sz="22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bl>
          </a:graphicData>
        </a:graphic>
      </p:graphicFrame>
      <p:graphicFrame>
        <p:nvGraphicFramePr>
          <p:cNvPr id="333837" name="Object 13"/>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spid="_x0000_s1146" name="" r:id="rId1" imgW="63500" imgH="139700" progId="">
                  <p:embed/>
                </p:oleObj>
              </mc:Choice>
              <mc:Fallback>
                <p:oleObj name="" r:id="rId1" imgW="63500" imgH="139700" progId="">
                  <p:embed/>
                  <p:pic>
                    <p:nvPicPr>
                      <p:cNvPr id="0"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836" name="Object 12"/>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spid="_x0000_s1147" name="" r:id="rId3" imgW="63500" imgH="139700" progId="">
                  <p:embed/>
                </p:oleObj>
              </mc:Choice>
              <mc:Fallback>
                <p:oleObj name="" r:id="rId3" imgW="63500" imgH="139700" progId="">
                  <p:embed/>
                  <p:pic>
                    <p:nvPicPr>
                      <p:cNvPr id="0"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835" name="Object 11"/>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spid="_x0000_s1148" name="" r:id="rId4" imgW="63500" imgH="139700" progId="">
                  <p:embed/>
                </p:oleObj>
              </mc:Choice>
              <mc:Fallback>
                <p:oleObj name="" r:id="rId4" imgW="63500" imgH="139700" progId="">
                  <p:embed/>
                  <p:pic>
                    <p:nvPicPr>
                      <p:cNvPr id="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834" name="Object 10"/>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spid="_x0000_s1149" name="" r:id="rId5" imgW="63500" imgH="139700" progId="">
                  <p:embed/>
                </p:oleObj>
              </mc:Choice>
              <mc:Fallback>
                <p:oleObj name="" r:id="rId5" imgW="63500" imgH="139700" progId="">
                  <p:embed/>
                  <p:pic>
                    <p:nvPicPr>
                      <p:cNvPr id="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833" name="Object 9"/>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spid="_x0000_s1150" name="" r:id="rId6" imgW="63500" imgH="139700" progId="">
                  <p:embed/>
                </p:oleObj>
              </mc:Choice>
              <mc:Fallback>
                <p:oleObj name="" r:id="rId6" imgW="63500" imgH="139700" progId="">
                  <p:embed/>
                  <p:pic>
                    <p:nvPicPr>
                      <p:cNvPr id="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3839" name="Text Box 15"/>
          <p:cNvSpPr txBox="1">
            <a:spLocks noChangeArrowheads="1"/>
          </p:cNvSpPr>
          <p:nvPr/>
        </p:nvSpPr>
        <p:spPr bwMode="auto">
          <a:xfrm>
            <a:off x="-2355850" y="155575"/>
            <a:ext cx="2143125" cy="1300163"/>
          </a:xfrm>
          <a:prstGeom prst="rect">
            <a:avLst/>
          </a:prstGeom>
          <a:noFill/>
          <a:ln w="6350">
            <a:noFill/>
            <a:miter lim="800000"/>
          </a:ln>
        </p:spPr>
        <p:txBody>
          <a:bodyPr vert="horz" wrap="square" lIns="0" tIns="0" rIns="0" bIns="0" numCol="1" anchor="ctr" anchorCtr="0" compatLnSpc="1"/>
          <a:lstStyle/>
          <a:p>
            <a:endParaRPr lang="zh-CN" altLang="en-US"/>
          </a:p>
        </p:txBody>
      </p:sp>
      <p:sp>
        <p:nvSpPr>
          <p:cNvPr id="22" name="矩形 21"/>
          <p:cNvSpPr/>
          <p:nvPr/>
        </p:nvSpPr>
        <p:spPr>
          <a:xfrm>
            <a:off x="2786050" y="987972"/>
            <a:ext cx="2018501" cy="369332"/>
          </a:xfrm>
          <a:prstGeom prst="rect">
            <a:avLst/>
          </a:prstGeom>
        </p:spPr>
        <p:txBody>
          <a:bodyPr wrap="none">
            <a:spAutoFit/>
          </a:bodyPr>
          <a:lstStyle/>
          <a:p>
            <a:r>
              <a:rPr lang="zh-CN" altLang="en-US" dirty="0"/>
              <a:t> 表</a:t>
            </a:r>
            <a:r>
              <a:rPr lang="en-US" b="1" dirty="0"/>
              <a:t>6.1  Student</a:t>
            </a:r>
            <a:r>
              <a:rPr lang="zh-CN" altLang="en-US" dirty="0"/>
              <a:t>表</a:t>
            </a:r>
            <a:endParaRPr lang="zh-CN" altLang="en-US" dirty="0"/>
          </a:p>
        </p:txBody>
      </p:sp>
    </p:spTree>
  </p:cSld>
  <p:clrMapOvr>
    <a:masterClrMapping/>
  </p:clrMapOvr>
  <p:transition spd="slow">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a:xfrm>
            <a:off x="285720" y="-29765"/>
            <a:ext cx="8401080" cy="744128"/>
          </a:xfrm>
        </p:spPr>
        <p:txBody>
          <a:bodyPr/>
          <a:lstStyle/>
          <a:p>
            <a:r>
              <a:rPr lang="zh-CN" altLang="en-US" sz="3600" dirty="0">
                <a:latin typeface="黑体" panose="02010609060101010101" pitchFamily="49" charset="-122"/>
                <a:ea typeface="黑体" panose="02010609060101010101" pitchFamily="49" charset="-122"/>
              </a:rPr>
              <a:t>关系模式存在的问题</a:t>
            </a:r>
            <a:endParaRPr lang="en-US" altLang="zh-CN" sz="3600" dirty="0">
              <a:latin typeface="黑体" panose="02010609060101010101" pitchFamily="49" charset="-122"/>
              <a:ea typeface="黑体" panose="02010609060101010101" pitchFamily="49" charset="-122"/>
            </a:endParaRPr>
          </a:p>
        </p:txBody>
      </p:sp>
      <p:sp>
        <p:nvSpPr>
          <p:cNvPr id="27651" name="Rectangle 1027"/>
          <p:cNvSpPr>
            <a:spLocks noGrp="1" noChangeArrowheads="1"/>
          </p:cNvSpPr>
          <p:nvPr>
            <p:ph idx="1"/>
          </p:nvPr>
        </p:nvSpPr>
        <p:spPr>
          <a:xfrm>
            <a:off x="285720" y="642925"/>
            <a:ext cx="8572560" cy="2432882"/>
          </a:xfrm>
        </p:spPr>
        <p:txBody>
          <a:bodyPr/>
          <a:lstStyle/>
          <a:p>
            <a:pPr marL="0" indent="0">
              <a:spcBef>
                <a:spcPts val="0"/>
              </a:spcBef>
              <a:buNone/>
            </a:pPr>
            <a:r>
              <a:rPr lang="zh-CN" altLang="en-US" sz="2000" dirty="0"/>
              <a:t>关系模式</a:t>
            </a:r>
            <a:r>
              <a:rPr lang="en-US" altLang="zh-CN" sz="2000" dirty="0"/>
              <a:t>STUDENT</a:t>
            </a:r>
            <a:r>
              <a:rPr lang="zh-CN" altLang="en-US" sz="2000" dirty="0"/>
              <a:t>（</a:t>
            </a:r>
            <a:r>
              <a:rPr lang="en-US" altLang="zh-CN" sz="2000" dirty="0" err="1"/>
              <a:t>Sno</a:t>
            </a:r>
            <a:r>
              <a:rPr lang="en-US" altLang="zh-CN" sz="2000" dirty="0"/>
              <a:t> ,</a:t>
            </a:r>
            <a:r>
              <a:rPr lang="en-US" altLang="zh-CN" sz="2000" dirty="0" err="1"/>
              <a:t>Sdept</a:t>
            </a:r>
            <a:r>
              <a:rPr lang="en-US" altLang="zh-CN" sz="2000" dirty="0"/>
              <a:t>, </a:t>
            </a:r>
            <a:r>
              <a:rPr lang="en-US" altLang="zh-CN" sz="2000" dirty="0" err="1"/>
              <a:t>Mname,Cname,Grade</a:t>
            </a:r>
            <a:r>
              <a:rPr lang="zh-CN" altLang="en-US" sz="2000" dirty="0"/>
              <a:t>）中</a:t>
            </a:r>
            <a:r>
              <a:rPr lang="zh-CN" altLang="en-US" sz="2000" dirty="0" smtClean="0"/>
              <a:t>存在问题</a:t>
            </a:r>
            <a:r>
              <a:rPr lang="zh-CN" altLang="en-US" sz="2000" dirty="0"/>
              <a:t>：</a:t>
            </a:r>
            <a:endParaRPr lang="zh-CN" altLang="en-US" sz="2000" dirty="0"/>
          </a:p>
          <a:p>
            <a:pPr>
              <a:spcBef>
                <a:spcPts val="0"/>
              </a:spcBef>
              <a:buNone/>
            </a:pPr>
            <a:r>
              <a:rPr lang="zh-CN" altLang="en-US" sz="2000" dirty="0">
                <a:solidFill>
                  <a:srgbClr val="FF0000"/>
                </a:solidFill>
                <a:latin typeface="+mn-ea"/>
              </a:rPr>
              <a:t>⒈ 数据冗余度太大，浪费存储空间</a:t>
            </a:r>
            <a:endParaRPr lang="en-US" altLang="zh-CN" sz="2000" dirty="0">
              <a:solidFill>
                <a:srgbClr val="FF0000"/>
              </a:solidFill>
              <a:latin typeface="+mn-ea"/>
            </a:endParaRPr>
          </a:p>
          <a:p>
            <a:pPr>
              <a:spcBef>
                <a:spcPts val="0"/>
              </a:spcBef>
              <a:buNone/>
            </a:pPr>
            <a:r>
              <a:rPr lang="en-US" altLang="zh-CN" sz="2000" dirty="0">
                <a:solidFill>
                  <a:srgbClr val="FF0000"/>
                </a:solidFill>
                <a:latin typeface="+mn-ea"/>
              </a:rPr>
              <a:t>    </a:t>
            </a:r>
            <a:r>
              <a:rPr lang="zh-CN" altLang="en-US" sz="1800" dirty="0">
                <a:latin typeface="+mn-ea"/>
              </a:rPr>
              <a:t>如：系主任的姓名重复出现，重复次数与该系所有学生的所有课程成绩</a:t>
            </a:r>
            <a:endParaRPr lang="en-US" altLang="zh-CN" sz="1800" dirty="0">
              <a:latin typeface="+mn-ea"/>
            </a:endParaRPr>
          </a:p>
          <a:p>
            <a:pPr>
              <a:spcBef>
                <a:spcPts val="0"/>
              </a:spcBef>
              <a:buNone/>
            </a:pPr>
            <a:r>
              <a:rPr lang="en-US" altLang="zh-CN" sz="1800" dirty="0">
                <a:latin typeface="+mn-ea"/>
              </a:rPr>
              <a:t>            </a:t>
            </a:r>
            <a:r>
              <a:rPr lang="zh-CN" altLang="en-US" sz="1800" dirty="0">
                <a:latin typeface="+mn-ea"/>
              </a:rPr>
              <a:t>出现次数相同。</a:t>
            </a:r>
            <a:endParaRPr lang="en-US" altLang="zh-CN" sz="2000" dirty="0">
              <a:latin typeface="+mn-ea"/>
            </a:endParaRPr>
          </a:p>
          <a:p>
            <a:pPr>
              <a:spcBef>
                <a:spcPts val="0"/>
              </a:spcBef>
              <a:buNone/>
            </a:pPr>
            <a:r>
              <a:rPr lang="en-US" altLang="zh-CN" sz="2000" dirty="0">
                <a:solidFill>
                  <a:srgbClr val="FF0000"/>
                </a:solidFill>
                <a:latin typeface="+mn-ea"/>
              </a:rPr>
              <a:t>⒉ </a:t>
            </a:r>
            <a:r>
              <a:rPr lang="zh-CN" altLang="en-US" sz="2000" dirty="0">
                <a:solidFill>
                  <a:srgbClr val="FF0000"/>
                </a:solidFill>
                <a:latin typeface="+mn-ea"/>
              </a:rPr>
              <a:t>更新异常（</a:t>
            </a:r>
            <a:r>
              <a:rPr lang="en-US" altLang="zh-CN" sz="2000" dirty="0">
                <a:solidFill>
                  <a:srgbClr val="FF0000"/>
                </a:solidFill>
                <a:latin typeface="+mn-ea"/>
              </a:rPr>
              <a:t>Update Anomalies</a:t>
            </a:r>
            <a:r>
              <a:rPr lang="zh-CN" altLang="en-US" sz="2000" dirty="0">
                <a:solidFill>
                  <a:srgbClr val="FF0000"/>
                </a:solidFill>
                <a:latin typeface="+mn-ea"/>
              </a:rPr>
              <a:t>）</a:t>
            </a:r>
            <a:endParaRPr lang="en-US" altLang="zh-CN" sz="2000" dirty="0">
              <a:solidFill>
                <a:srgbClr val="FF0000"/>
              </a:solidFill>
              <a:latin typeface="+mn-ea"/>
            </a:endParaRPr>
          </a:p>
          <a:p>
            <a:pPr>
              <a:spcBef>
                <a:spcPts val="0"/>
              </a:spcBef>
              <a:buNone/>
            </a:pPr>
            <a:r>
              <a:rPr lang="en-US" altLang="zh-CN" sz="2000" dirty="0">
                <a:solidFill>
                  <a:srgbClr val="FF0000"/>
                </a:solidFill>
                <a:latin typeface="+mn-ea"/>
              </a:rPr>
              <a:t>    </a:t>
            </a:r>
            <a:r>
              <a:rPr lang="zh-CN" altLang="en-US" sz="1800" dirty="0">
                <a:latin typeface="+mn-ea"/>
              </a:rPr>
              <a:t>数据冗余 </a:t>
            </a:r>
            <a:r>
              <a:rPr lang="zh-CN" altLang="en-US" sz="1800" dirty="0">
                <a:latin typeface="+mn-ea"/>
                <a:sym typeface="Monotype Sorts" pitchFamily="2" charset="2"/>
              </a:rPr>
              <a:t>，</a:t>
            </a:r>
            <a:r>
              <a:rPr lang="zh-CN" altLang="en-US" sz="1800" dirty="0">
                <a:latin typeface="+mn-ea"/>
              </a:rPr>
              <a:t>更新数据时，维护数据完整性代价大</a:t>
            </a:r>
            <a:endParaRPr lang="en-US" altLang="zh-CN" sz="1800" dirty="0">
              <a:latin typeface="+mn-ea"/>
            </a:endParaRPr>
          </a:p>
          <a:p>
            <a:pPr>
              <a:spcBef>
                <a:spcPts val="0"/>
              </a:spcBef>
              <a:buNone/>
            </a:pPr>
            <a:r>
              <a:rPr lang="zh-CN" altLang="en-US" sz="1800" dirty="0">
                <a:latin typeface="+mn-ea"/>
              </a:rPr>
              <a:t>    如果某系更换系主任，系统必须修改与该系学生有关的每一个元组。</a:t>
            </a:r>
            <a:endParaRPr lang="en-US" altLang="zh-CN" sz="1800" dirty="0">
              <a:latin typeface="+mn-ea"/>
            </a:endParaRPr>
          </a:p>
          <a:p>
            <a:pPr lvl="1">
              <a:spcBef>
                <a:spcPts val="0"/>
              </a:spcBef>
              <a:buNone/>
            </a:pPr>
            <a:endParaRPr lang="zh-CN" altLang="en-US" sz="2000" dirty="0"/>
          </a:p>
          <a:p>
            <a:pPr marL="457200" lvl="1" indent="0">
              <a:spcBef>
                <a:spcPts val="0"/>
              </a:spcBef>
              <a:buNone/>
            </a:pPr>
            <a:endParaRPr lang="zh-CN" altLang="en-US" sz="2000" dirty="0"/>
          </a:p>
          <a:p>
            <a:pPr>
              <a:spcBef>
                <a:spcPts val="0"/>
              </a:spcBef>
            </a:pPr>
            <a:endParaRPr lang="en-US" altLang="zh-CN" dirty="0"/>
          </a:p>
        </p:txBody>
      </p:sp>
      <p:graphicFrame>
        <p:nvGraphicFramePr>
          <p:cNvPr id="4" name="表格 3"/>
          <p:cNvGraphicFramePr>
            <a:graphicFrameLocks noGrp="1"/>
          </p:cNvGraphicFramePr>
          <p:nvPr/>
        </p:nvGraphicFramePr>
        <p:xfrm>
          <a:off x="1187624" y="2928394"/>
          <a:ext cx="5904655" cy="1706880"/>
        </p:xfrm>
        <a:graphic>
          <a:graphicData uri="http://schemas.openxmlformats.org/drawingml/2006/table">
            <a:tbl>
              <a:tblPr/>
              <a:tblGrid>
                <a:gridCol w="911185"/>
                <a:gridCol w="1429568"/>
                <a:gridCol w="1320132"/>
                <a:gridCol w="1062838"/>
                <a:gridCol w="1180932"/>
              </a:tblGrid>
              <a:tr h="234315">
                <a:tc>
                  <a:txBody>
                    <a:bodyPr/>
                    <a:lstStyle/>
                    <a:p>
                      <a:pPr algn="ctr"/>
                      <a:r>
                        <a:rPr lang="en-US" sz="1600" b="1" kern="1050" dirty="0" err="1">
                          <a:latin typeface="Calibri" panose="020F0502020204030204"/>
                          <a:ea typeface="宋体" panose="02010600030101010101" pitchFamily="2" charset="-122"/>
                          <a:cs typeface="Times New Roman" panose="02020603050405020304"/>
                        </a:rPr>
                        <a:t>Sno</a:t>
                      </a:r>
                      <a:r>
                        <a:rPr lang="zh-CN" sz="1600" b="1" kern="100" dirty="0">
                          <a:latin typeface="Calibri" panose="020F0502020204030204"/>
                          <a:ea typeface="宋体" panose="02010600030101010101" pitchFamily="2" charset="-122"/>
                          <a:cs typeface="Times New Roman" panose="02020603050405020304"/>
                        </a:rPr>
                        <a:t> </a:t>
                      </a:r>
                      <a:endParaRPr lang="zh-CN" sz="1600" b="1"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panose="02020603050405020304"/>
                          <a:ea typeface="宋体" panose="02010600030101010101" pitchFamily="2" charset="-122"/>
                          <a:cs typeface="Times New Roman" panose="02020603050405020304"/>
                        </a:rPr>
                        <a:t>Sdept</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panose="02020603050405020304"/>
                          <a:ea typeface="宋体" panose="02010600030101010101" pitchFamily="2" charset="-122"/>
                          <a:cs typeface="Times New Roman" panose="02020603050405020304"/>
                        </a:rPr>
                        <a:t>Mname</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panose="02020603050405020304"/>
                          <a:ea typeface="宋体" panose="02010600030101010101" pitchFamily="2" charset="-122"/>
                          <a:cs typeface="Times New Roman" panose="02020603050405020304"/>
                        </a:rPr>
                        <a:t>Cno</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panose="02020603050405020304"/>
                          <a:ea typeface="宋体" panose="02010600030101010101" pitchFamily="2" charset="-122"/>
                          <a:cs typeface="Times New Roman" panose="02020603050405020304"/>
                        </a:rPr>
                        <a:t>Grade</a:t>
                      </a:r>
                      <a:endParaRPr lang="zh-CN" sz="16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234315">
                <a:tc>
                  <a:txBody>
                    <a:bodyPr/>
                    <a:lstStyle/>
                    <a:p>
                      <a:pPr indent="269875" algn="ctr">
                        <a:spcAft>
                          <a:spcPts val="0"/>
                        </a:spcAft>
                      </a:pPr>
                      <a:r>
                        <a:rPr lang="en-US" sz="1600" b="1" kern="1050" dirty="0">
                          <a:latin typeface="Times New Roman" panose="02020603050405020304"/>
                          <a:ea typeface="宋体" panose="02010600030101010101" pitchFamily="2" charset="-122"/>
                          <a:cs typeface="Times New Roman" panose="02020603050405020304"/>
                        </a:rPr>
                        <a:t>S1</a:t>
                      </a:r>
                      <a:endParaRPr lang="zh-CN" sz="16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latin typeface="Times New Roman" panose="02020603050405020304"/>
                          <a:ea typeface="宋体" panose="02010600030101010101" pitchFamily="2" charset="-122"/>
                          <a:cs typeface="Times New Roman" panose="02020603050405020304"/>
                        </a:rPr>
                        <a:t>计算机系</a:t>
                      </a:r>
                      <a:endParaRPr lang="zh-CN" sz="16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panose="02020603050405020304"/>
                          <a:ea typeface="宋体" panose="02010600030101010101" pitchFamily="2" charset="-122"/>
                          <a:cs typeface="Times New Roman" panose="02020603050405020304"/>
                        </a:rPr>
                        <a:t>张明</a:t>
                      </a:r>
                      <a:endParaRPr lang="zh-CN" sz="1600" b="1" kern="1050" dirty="0">
                        <a:solidFill>
                          <a:srgbClr val="FF0000"/>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panose="02020603050405020304"/>
                          <a:ea typeface="宋体" panose="02010600030101010101" pitchFamily="2" charset="-122"/>
                          <a:cs typeface="Times New Roman" panose="02020603050405020304"/>
                        </a:rPr>
                        <a:t>C1</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panose="02020603050405020304"/>
                          <a:ea typeface="宋体" panose="02010600030101010101" pitchFamily="2" charset="-122"/>
                          <a:cs typeface="Times New Roman" panose="02020603050405020304"/>
                        </a:rPr>
                        <a:t>95</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234315">
                <a:tc>
                  <a:txBody>
                    <a:bodyPr/>
                    <a:lstStyle/>
                    <a:p>
                      <a:pPr indent="269875" algn="ctr">
                        <a:spcAft>
                          <a:spcPts val="0"/>
                        </a:spcAft>
                      </a:pPr>
                      <a:r>
                        <a:rPr lang="en-US" sz="1600" b="1" kern="1050">
                          <a:latin typeface="Times New Roman" panose="02020603050405020304"/>
                          <a:ea typeface="宋体" panose="02010600030101010101" pitchFamily="2" charset="-122"/>
                          <a:cs typeface="Times New Roman" panose="02020603050405020304"/>
                        </a:rPr>
                        <a:t>S2</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a:latin typeface="Times New Roman" panose="02020603050405020304"/>
                          <a:ea typeface="宋体" panose="02010600030101010101" pitchFamily="2" charset="-122"/>
                          <a:cs typeface="Times New Roman" panose="02020603050405020304"/>
                        </a:rPr>
                        <a:t>计算机系</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panose="02020603050405020304"/>
                          <a:ea typeface="宋体" panose="02010600030101010101" pitchFamily="2" charset="-122"/>
                          <a:cs typeface="Times New Roman" panose="02020603050405020304"/>
                        </a:rPr>
                        <a:t>张明</a:t>
                      </a:r>
                      <a:endParaRPr lang="zh-CN" sz="1600" b="1" kern="1050" dirty="0">
                        <a:solidFill>
                          <a:srgbClr val="FF0000"/>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panose="02020603050405020304"/>
                          <a:ea typeface="宋体" panose="02010600030101010101" pitchFamily="2" charset="-122"/>
                          <a:cs typeface="Times New Roman" panose="02020603050405020304"/>
                        </a:rPr>
                        <a:t>C1</a:t>
                      </a:r>
                      <a:endParaRPr lang="zh-CN" sz="16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panose="02020603050405020304"/>
                          <a:ea typeface="宋体" panose="02010600030101010101" pitchFamily="2" charset="-122"/>
                          <a:cs typeface="Times New Roman" panose="02020603050405020304"/>
                        </a:rPr>
                        <a:t>90</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234315">
                <a:tc>
                  <a:txBody>
                    <a:bodyPr/>
                    <a:lstStyle/>
                    <a:p>
                      <a:pPr indent="269875" algn="ctr">
                        <a:spcAft>
                          <a:spcPts val="0"/>
                        </a:spcAft>
                      </a:pPr>
                      <a:r>
                        <a:rPr lang="en-US" sz="1600" b="1" kern="1050">
                          <a:latin typeface="Times New Roman" panose="02020603050405020304"/>
                          <a:ea typeface="宋体" panose="02010600030101010101" pitchFamily="2" charset="-122"/>
                          <a:cs typeface="Times New Roman" panose="02020603050405020304"/>
                        </a:rPr>
                        <a:t>S3</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a:latin typeface="Times New Roman" panose="02020603050405020304"/>
                          <a:ea typeface="宋体" panose="02010600030101010101" pitchFamily="2" charset="-122"/>
                          <a:cs typeface="Times New Roman" panose="02020603050405020304"/>
                        </a:rPr>
                        <a:t>计算机系</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panose="02020603050405020304"/>
                          <a:ea typeface="宋体" panose="02010600030101010101" pitchFamily="2" charset="-122"/>
                          <a:cs typeface="Times New Roman" panose="02020603050405020304"/>
                        </a:rPr>
                        <a:t>张明</a:t>
                      </a:r>
                      <a:endParaRPr lang="zh-CN" sz="1600" b="1" kern="1050" dirty="0">
                        <a:solidFill>
                          <a:srgbClr val="FF0000"/>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panose="02020603050405020304"/>
                          <a:ea typeface="宋体" panose="02010600030101010101" pitchFamily="2" charset="-122"/>
                          <a:cs typeface="Times New Roman" panose="02020603050405020304"/>
                        </a:rPr>
                        <a:t>C1</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panose="02020603050405020304"/>
                          <a:ea typeface="宋体" panose="02010600030101010101" pitchFamily="2" charset="-122"/>
                          <a:cs typeface="Times New Roman" panose="02020603050405020304"/>
                        </a:rPr>
                        <a:t>88</a:t>
                      </a:r>
                      <a:endParaRPr lang="zh-CN" sz="16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234315">
                <a:tc>
                  <a:txBody>
                    <a:bodyPr/>
                    <a:lstStyle/>
                    <a:p>
                      <a:pPr indent="269875" algn="ctr">
                        <a:spcAft>
                          <a:spcPts val="0"/>
                        </a:spcAft>
                      </a:pPr>
                      <a:r>
                        <a:rPr lang="en-US" sz="1600" b="1" kern="1050">
                          <a:latin typeface="Times New Roman" panose="02020603050405020304"/>
                          <a:ea typeface="宋体" panose="02010600030101010101" pitchFamily="2" charset="-122"/>
                          <a:cs typeface="Times New Roman" panose="02020603050405020304"/>
                        </a:rPr>
                        <a:t>S4</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a:latin typeface="Times New Roman" panose="02020603050405020304"/>
                          <a:ea typeface="宋体" panose="02010600030101010101" pitchFamily="2" charset="-122"/>
                          <a:cs typeface="Times New Roman" panose="02020603050405020304"/>
                        </a:rPr>
                        <a:t>计算机系</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panose="02020603050405020304"/>
                          <a:ea typeface="宋体" panose="02010600030101010101" pitchFamily="2" charset="-122"/>
                          <a:cs typeface="Times New Roman" panose="02020603050405020304"/>
                        </a:rPr>
                        <a:t>张明</a:t>
                      </a:r>
                      <a:endParaRPr lang="zh-CN" sz="1600" b="1" kern="1050" dirty="0">
                        <a:solidFill>
                          <a:srgbClr val="FF0000"/>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panose="02020603050405020304"/>
                          <a:ea typeface="宋体" panose="02010600030101010101" pitchFamily="2" charset="-122"/>
                          <a:cs typeface="Times New Roman" panose="02020603050405020304"/>
                        </a:rPr>
                        <a:t>C1</a:t>
                      </a:r>
                      <a:endParaRPr lang="zh-CN" sz="16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panose="02020603050405020304"/>
                          <a:ea typeface="宋体" panose="02010600030101010101" pitchFamily="2" charset="-122"/>
                          <a:cs typeface="Times New Roman" panose="02020603050405020304"/>
                        </a:rPr>
                        <a:t>70</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234315">
                <a:tc>
                  <a:txBody>
                    <a:bodyPr/>
                    <a:lstStyle/>
                    <a:p>
                      <a:pPr indent="269875" algn="ctr">
                        <a:spcAft>
                          <a:spcPts val="0"/>
                        </a:spcAft>
                      </a:pPr>
                      <a:r>
                        <a:rPr lang="en-US" sz="1600" b="1" kern="1050">
                          <a:latin typeface="Times New Roman" panose="02020603050405020304"/>
                          <a:ea typeface="宋体" panose="02010600030101010101" pitchFamily="2" charset="-122"/>
                          <a:cs typeface="Times New Roman" panose="02020603050405020304"/>
                        </a:rPr>
                        <a:t>S5</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a:latin typeface="Times New Roman" panose="02020603050405020304"/>
                          <a:ea typeface="宋体" panose="02010600030101010101" pitchFamily="2" charset="-122"/>
                          <a:cs typeface="Times New Roman" panose="02020603050405020304"/>
                        </a:rPr>
                        <a:t>计算机系</a:t>
                      </a:r>
                      <a:endParaRPr lang="zh-CN"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panose="02020603050405020304"/>
                          <a:ea typeface="宋体" panose="02010600030101010101" pitchFamily="2" charset="-122"/>
                          <a:cs typeface="Times New Roman" panose="02020603050405020304"/>
                        </a:rPr>
                        <a:t>张明</a:t>
                      </a:r>
                      <a:endParaRPr lang="zh-CN" sz="1600" b="1" kern="1050" dirty="0">
                        <a:solidFill>
                          <a:srgbClr val="FF0000"/>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panose="02020603050405020304"/>
                          <a:ea typeface="宋体" panose="02010600030101010101" pitchFamily="2" charset="-122"/>
                          <a:cs typeface="Times New Roman" panose="02020603050405020304"/>
                        </a:rPr>
                        <a:t>C1</a:t>
                      </a:r>
                      <a:endParaRPr lang="zh-CN" sz="16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panose="02020603050405020304"/>
                          <a:ea typeface="宋体" panose="02010600030101010101" pitchFamily="2" charset="-122"/>
                          <a:cs typeface="Times New Roman" panose="02020603050405020304"/>
                        </a:rPr>
                        <a:t>78</a:t>
                      </a:r>
                      <a:endParaRPr lang="zh-CN" sz="16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234315">
                <a:tc>
                  <a:txBody>
                    <a:bodyPr/>
                    <a:lstStyle/>
                    <a:p>
                      <a:pPr indent="269875" algn="ctr">
                        <a:spcAft>
                          <a:spcPts val="0"/>
                        </a:spcAft>
                      </a:pPr>
                      <a:endParaRPr lang="en-US"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16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16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16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bl>
          </a:graphicData>
        </a:graphic>
      </p:graphicFrame>
      <p:graphicFrame>
        <p:nvGraphicFramePr>
          <p:cNvPr id="332805" name="Object 5"/>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spid="_x0000_s2170" name="" r:id="rId1" imgW="63500" imgH="139700" progId="">
                  <p:embed/>
                </p:oleObj>
              </mc:Choice>
              <mc:Fallback>
                <p:oleObj name="" r:id="rId1" imgW="63500" imgH="139700" progId="">
                  <p:embed/>
                  <p:pic>
                    <p:nvPicPr>
                      <p:cNvPr id="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2804" name="Object 4"/>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spid="_x0000_s2171" name="" r:id="rId3" imgW="63500" imgH="139700" progId="">
                  <p:embed/>
                </p:oleObj>
              </mc:Choice>
              <mc:Fallback>
                <p:oleObj name="" r:id="rId3" imgW="63500" imgH="139700" progId="">
                  <p:embed/>
                  <p:pic>
                    <p:nvPicPr>
                      <p:cNvPr id="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2803" name="Object 3"/>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spid="_x0000_s2172" name="" r:id="rId4" imgW="63500" imgH="139700" progId="">
                  <p:embed/>
                </p:oleObj>
              </mc:Choice>
              <mc:Fallback>
                <p:oleObj name="" r:id="rId4" imgW="63500" imgH="139700" progId="">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2802" name="Object 2"/>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spid="_x0000_s2173" name="" r:id="rId5" imgW="63500" imgH="139700" progId="">
                  <p:embed/>
                </p:oleObj>
              </mc:Choice>
              <mc:Fallback>
                <p:oleObj name="" r:id="rId5" imgW="63500" imgH="139700" progId="">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2801" name="Object 1"/>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spid="_x0000_s2174" name="" r:id="rId6" imgW="63500" imgH="139700" progId="">
                  <p:embed/>
                </p:oleObj>
              </mc:Choice>
              <mc:Fallback>
                <p:oleObj name="" r:id="rId6" imgW="63500" imgH="139700" progId="">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2807" name="Text Box 7"/>
          <p:cNvSpPr txBox="1">
            <a:spLocks noChangeArrowheads="1"/>
          </p:cNvSpPr>
          <p:nvPr/>
        </p:nvSpPr>
        <p:spPr bwMode="auto">
          <a:xfrm>
            <a:off x="-2355850" y="155575"/>
            <a:ext cx="2143125" cy="1300163"/>
          </a:xfrm>
          <a:prstGeom prst="rect">
            <a:avLst/>
          </a:prstGeom>
          <a:noFill/>
          <a:ln w="6350">
            <a:noFill/>
            <a:miter lim="800000"/>
          </a:ln>
        </p:spPr>
        <p:txBody>
          <a:bodyPr vert="horz" wrap="square" lIns="0" tIns="0" rIns="0" bIns="0" numCol="1" anchor="ctr" anchorCtr="0" compatLnSpc="1"/>
          <a:lstStyle/>
          <a:p>
            <a:endParaRPr lang="zh-CN" altLang="en-US"/>
          </a:p>
        </p:txBody>
      </p:sp>
    </p:spTree>
  </p:cSld>
  <p:clrMapOvr>
    <a:masterClrMapping/>
  </p:clrMapOvr>
  <p:transition spd="slow">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85720" y="-71456"/>
            <a:ext cx="8401080" cy="853679"/>
          </a:xfrm>
        </p:spPr>
        <p:txBody>
          <a:bodyPr/>
          <a:lstStyle/>
          <a:p>
            <a:r>
              <a:rPr lang="zh-CN" altLang="en-US" sz="3600" dirty="0"/>
              <a:t>关系模式存在的问题</a:t>
            </a:r>
            <a:endParaRPr lang="en-US" altLang="zh-CN" sz="3600" dirty="0"/>
          </a:p>
        </p:txBody>
      </p:sp>
      <p:sp>
        <p:nvSpPr>
          <p:cNvPr id="30723" name="Rectangle 3"/>
          <p:cNvSpPr>
            <a:spLocks noGrp="1" noChangeArrowheads="1"/>
          </p:cNvSpPr>
          <p:nvPr>
            <p:ph idx="1"/>
          </p:nvPr>
        </p:nvSpPr>
        <p:spPr>
          <a:xfrm>
            <a:off x="13900" y="638365"/>
            <a:ext cx="9072594" cy="2433452"/>
          </a:xfrm>
        </p:spPr>
        <p:txBody>
          <a:bodyPr/>
          <a:lstStyle/>
          <a:p>
            <a:pPr>
              <a:buNone/>
            </a:pPr>
            <a:r>
              <a:rPr lang="en-US" altLang="zh-CN" sz="2200" dirty="0">
                <a:solidFill>
                  <a:srgbClr val="FF0000"/>
                </a:solidFill>
              </a:rPr>
              <a:t>⒊ </a:t>
            </a:r>
            <a:r>
              <a:rPr lang="zh-CN" altLang="en-US" sz="2200" dirty="0">
                <a:solidFill>
                  <a:srgbClr val="FF0000"/>
                </a:solidFill>
              </a:rPr>
              <a:t>插入异常（</a:t>
            </a:r>
            <a:r>
              <a:rPr lang="en-US" altLang="zh-CN" sz="2200" dirty="0">
                <a:solidFill>
                  <a:srgbClr val="FF0000"/>
                </a:solidFill>
              </a:rPr>
              <a:t>Insertion Anomalies</a:t>
            </a:r>
            <a:r>
              <a:rPr lang="zh-CN" altLang="en-US" sz="2200" dirty="0">
                <a:solidFill>
                  <a:srgbClr val="FF0000"/>
                </a:solidFill>
              </a:rPr>
              <a:t>），该插入的数据插不进去</a:t>
            </a:r>
            <a:endParaRPr lang="en-US" altLang="zh-CN" sz="2200" dirty="0">
              <a:solidFill>
                <a:srgbClr val="FF0000"/>
              </a:solidFill>
            </a:endParaRPr>
          </a:p>
          <a:p>
            <a:pPr>
              <a:buNone/>
            </a:pPr>
            <a:r>
              <a:rPr lang="en-US" altLang="zh-CN" sz="2200" dirty="0"/>
              <a:t>   </a:t>
            </a:r>
            <a:r>
              <a:rPr lang="zh-CN" altLang="en-US" sz="2200" dirty="0"/>
              <a:t>如果新成立一个软件工程系，还没有招生，我们就无法把这个系及其</a:t>
            </a:r>
            <a:endParaRPr lang="en-US" altLang="zh-CN" sz="2200" dirty="0"/>
          </a:p>
          <a:p>
            <a:pPr>
              <a:buNone/>
            </a:pPr>
            <a:r>
              <a:rPr lang="zh-CN" altLang="en-US" sz="2200" dirty="0"/>
              <a:t>系主任的信息存入数据库。因为</a:t>
            </a:r>
            <a:endParaRPr lang="zh-CN" altLang="en-US" sz="2200" dirty="0"/>
          </a:p>
          <a:p>
            <a:pPr>
              <a:buNone/>
            </a:pPr>
            <a:r>
              <a:rPr lang="en-US" altLang="zh-CN" sz="2200" dirty="0">
                <a:solidFill>
                  <a:srgbClr val="FF0000"/>
                </a:solidFill>
              </a:rPr>
              <a:t>⒋ </a:t>
            </a:r>
            <a:r>
              <a:rPr lang="zh-CN" altLang="en-US" sz="2200" dirty="0">
                <a:solidFill>
                  <a:srgbClr val="FF0000"/>
                </a:solidFill>
              </a:rPr>
              <a:t>删除异常（</a:t>
            </a:r>
            <a:r>
              <a:rPr lang="en-US" altLang="zh-CN" sz="2200" dirty="0">
                <a:solidFill>
                  <a:srgbClr val="FF0000"/>
                </a:solidFill>
              </a:rPr>
              <a:t>Deletion Anomalies</a:t>
            </a:r>
            <a:r>
              <a:rPr lang="zh-CN" altLang="en-US" sz="2200" dirty="0">
                <a:solidFill>
                  <a:srgbClr val="FF0000"/>
                </a:solidFill>
              </a:rPr>
              <a:t>），不该删除的数据也删去了</a:t>
            </a:r>
            <a:r>
              <a:rPr lang="zh-CN" altLang="en-US" sz="2200" dirty="0"/>
              <a:t>如果某个系的学生全部毕业了， 我们在删除该系学生信息的同时，把这个系及其系主任的信息也丢掉了。</a:t>
            </a:r>
            <a:endParaRPr lang="zh-CN" altLang="en-US" sz="2200" dirty="0"/>
          </a:p>
        </p:txBody>
      </p:sp>
      <p:graphicFrame>
        <p:nvGraphicFramePr>
          <p:cNvPr id="4" name="表格 3"/>
          <p:cNvGraphicFramePr>
            <a:graphicFrameLocks noGrp="1"/>
          </p:cNvGraphicFramePr>
          <p:nvPr/>
        </p:nvGraphicFramePr>
        <p:xfrm>
          <a:off x="229616" y="2991236"/>
          <a:ext cx="3699441" cy="1951670"/>
        </p:xfrm>
        <a:graphic>
          <a:graphicData uri="http://schemas.openxmlformats.org/drawingml/2006/table">
            <a:tbl>
              <a:tblPr/>
              <a:tblGrid>
                <a:gridCol w="570885"/>
                <a:gridCol w="895667"/>
                <a:gridCol w="827102"/>
                <a:gridCol w="665899"/>
                <a:gridCol w="739888"/>
              </a:tblGrid>
              <a:tr h="278810">
                <a:tc>
                  <a:txBody>
                    <a:bodyPr/>
                    <a:lstStyle/>
                    <a:p>
                      <a:pPr algn="ctr"/>
                      <a:r>
                        <a:rPr lang="en-US" sz="1050" b="1" kern="1050" dirty="0" err="1">
                          <a:latin typeface="Calibri" panose="020F0502020204030204"/>
                          <a:ea typeface="宋体" panose="02010600030101010101" pitchFamily="2" charset="-122"/>
                          <a:cs typeface="Times New Roman" panose="02020603050405020304"/>
                        </a:rPr>
                        <a:t>Sno</a:t>
                      </a:r>
                      <a:r>
                        <a:rPr lang="zh-CN" sz="1050" b="1" kern="100" dirty="0">
                          <a:latin typeface="Calibri" panose="020F0502020204030204"/>
                          <a:ea typeface="宋体" panose="02010600030101010101" pitchFamily="2" charset="-122"/>
                          <a:cs typeface="Times New Roman" panose="02020603050405020304"/>
                        </a:rPr>
                        <a:t> </a:t>
                      </a:r>
                      <a:endParaRPr lang="zh-CN" sz="1050" b="1" kern="100" dirty="0">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err="1">
                          <a:latin typeface="Times New Roman" panose="02020603050405020304"/>
                          <a:ea typeface="宋体" panose="02010600030101010101" pitchFamily="2" charset="-122"/>
                          <a:cs typeface="Times New Roman" panose="02020603050405020304"/>
                        </a:rPr>
                        <a:t>Sdept</a:t>
                      </a:r>
                      <a:endParaRPr lang="zh-CN" sz="105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panose="02020603050405020304"/>
                          <a:ea typeface="宋体" panose="02010600030101010101" pitchFamily="2" charset="-122"/>
                          <a:cs typeface="Times New Roman" panose="02020603050405020304"/>
                        </a:rPr>
                        <a:t>Mname</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panose="02020603050405020304"/>
                          <a:ea typeface="宋体" panose="02010600030101010101" pitchFamily="2" charset="-122"/>
                          <a:cs typeface="Times New Roman" panose="02020603050405020304"/>
                        </a:rPr>
                        <a:t>Cno</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panose="02020603050405020304"/>
                          <a:ea typeface="宋体" panose="02010600030101010101" pitchFamily="2" charset="-122"/>
                          <a:cs typeface="Times New Roman" panose="02020603050405020304"/>
                        </a:rPr>
                        <a:t>Grade</a:t>
                      </a:r>
                      <a:endParaRPr lang="zh-CN" sz="105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278810">
                <a:tc>
                  <a:txBody>
                    <a:bodyPr/>
                    <a:lstStyle/>
                    <a:p>
                      <a:pPr indent="269875" algn="ctr">
                        <a:spcAft>
                          <a:spcPts val="0"/>
                        </a:spcAft>
                      </a:pPr>
                      <a:r>
                        <a:rPr lang="en-US" sz="900" b="1" kern="1050" dirty="0">
                          <a:latin typeface="Times New Roman" panose="02020603050405020304"/>
                          <a:ea typeface="宋体" panose="02010600030101010101" pitchFamily="2" charset="-122"/>
                          <a:cs typeface="Times New Roman" panose="02020603050405020304"/>
                        </a:rPr>
                        <a:t>S1</a:t>
                      </a:r>
                      <a:endParaRPr lang="zh-CN" sz="105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latin typeface="Times New Roman" panose="02020603050405020304"/>
                          <a:ea typeface="宋体" panose="02010600030101010101" pitchFamily="2" charset="-122"/>
                          <a:cs typeface="Times New Roman" panose="02020603050405020304"/>
                        </a:rPr>
                        <a:t>计算机系</a:t>
                      </a:r>
                      <a:endParaRPr lang="zh-CN" sz="105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panose="02020603050405020304"/>
                          <a:ea typeface="宋体" panose="02010600030101010101" pitchFamily="2" charset="-122"/>
                          <a:cs typeface="Times New Roman" panose="02020603050405020304"/>
                        </a:rPr>
                        <a:t>张明</a:t>
                      </a:r>
                      <a:endParaRPr lang="zh-CN" sz="1050" b="1" kern="1050" dirty="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panose="02020603050405020304"/>
                          <a:ea typeface="宋体" panose="02010600030101010101" pitchFamily="2" charset="-122"/>
                          <a:cs typeface="Times New Roman" panose="02020603050405020304"/>
                        </a:rPr>
                        <a:t>C1</a:t>
                      </a:r>
                      <a:endParaRPr lang="zh-CN" sz="105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panose="02020603050405020304"/>
                          <a:ea typeface="宋体" panose="02010600030101010101" pitchFamily="2" charset="-122"/>
                          <a:cs typeface="Times New Roman" panose="02020603050405020304"/>
                        </a:rPr>
                        <a:t>95</a:t>
                      </a:r>
                      <a:endParaRPr lang="zh-CN" sz="105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278810">
                <a:tc>
                  <a:txBody>
                    <a:bodyPr/>
                    <a:lstStyle/>
                    <a:p>
                      <a:pPr indent="269875" algn="ctr">
                        <a:spcAft>
                          <a:spcPts val="0"/>
                        </a:spcAft>
                      </a:pPr>
                      <a:r>
                        <a:rPr lang="en-US" sz="900" b="1" kern="1050">
                          <a:latin typeface="Times New Roman" panose="02020603050405020304"/>
                          <a:ea typeface="宋体" panose="02010600030101010101" pitchFamily="2" charset="-122"/>
                          <a:cs typeface="Times New Roman" panose="02020603050405020304"/>
                        </a:rPr>
                        <a:t>S2</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a:latin typeface="Times New Roman" panose="02020603050405020304"/>
                          <a:ea typeface="宋体" panose="02010600030101010101" pitchFamily="2" charset="-122"/>
                          <a:cs typeface="Times New Roman" panose="02020603050405020304"/>
                        </a:rPr>
                        <a:t>计算机系</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panose="02020603050405020304"/>
                          <a:ea typeface="宋体" panose="02010600030101010101" pitchFamily="2" charset="-122"/>
                          <a:cs typeface="Times New Roman" panose="02020603050405020304"/>
                        </a:rPr>
                        <a:t>张明</a:t>
                      </a:r>
                      <a:endParaRPr lang="zh-CN" sz="1050" b="1" kern="1050" dirty="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panose="02020603050405020304"/>
                          <a:ea typeface="宋体" panose="02010600030101010101" pitchFamily="2" charset="-122"/>
                          <a:cs typeface="Times New Roman" panose="02020603050405020304"/>
                        </a:rPr>
                        <a:t>C1</a:t>
                      </a:r>
                      <a:endParaRPr lang="zh-CN" sz="105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panose="02020603050405020304"/>
                          <a:ea typeface="宋体" panose="02010600030101010101" pitchFamily="2" charset="-122"/>
                          <a:cs typeface="Times New Roman" panose="02020603050405020304"/>
                        </a:rPr>
                        <a:t>90</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278810">
                <a:tc>
                  <a:txBody>
                    <a:bodyPr/>
                    <a:lstStyle/>
                    <a:p>
                      <a:pPr indent="269875" algn="ctr">
                        <a:spcAft>
                          <a:spcPts val="0"/>
                        </a:spcAft>
                      </a:pPr>
                      <a:r>
                        <a:rPr lang="en-US" sz="900" b="1" kern="1050">
                          <a:latin typeface="Times New Roman" panose="02020603050405020304"/>
                          <a:ea typeface="宋体" panose="02010600030101010101" pitchFamily="2" charset="-122"/>
                          <a:cs typeface="Times New Roman" panose="02020603050405020304"/>
                        </a:rPr>
                        <a:t>S3</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a:latin typeface="Times New Roman" panose="02020603050405020304"/>
                          <a:ea typeface="宋体" panose="02010600030101010101" pitchFamily="2" charset="-122"/>
                          <a:cs typeface="Times New Roman" panose="02020603050405020304"/>
                        </a:rPr>
                        <a:t>计算机系</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panose="02020603050405020304"/>
                          <a:ea typeface="宋体" panose="02010600030101010101" pitchFamily="2" charset="-122"/>
                          <a:cs typeface="Times New Roman" panose="02020603050405020304"/>
                        </a:rPr>
                        <a:t>张明</a:t>
                      </a:r>
                      <a:endParaRPr lang="zh-CN" sz="1050" b="1" kern="1050" dirty="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panose="02020603050405020304"/>
                          <a:ea typeface="宋体" panose="02010600030101010101" pitchFamily="2" charset="-122"/>
                          <a:cs typeface="Times New Roman" panose="02020603050405020304"/>
                        </a:rPr>
                        <a:t>C1</a:t>
                      </a:r>
                      <a:endParaRPr lang="zh-CN" sz="105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panose="02020603050405020304"/>
                          <a:ea typeface="宋体" panose="02010600030101010101" pitchFamily="2" charset="-122"/>
                          <a:cs typeface="Times New Roman" panose="02020603050405020304"/>
                        </a:rPr>
                        <a:t>88</a:t>
                      </a:r>
                      <a:endParaRPr lang="zh-CN" sz="105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278810">
                <a:tc>
                  <a:txBody>
                    <a:bodyPr/>
                    <a:lstStyle/>
                    <a:p>
                      <a:pPr indent="269875" algn="ctr">
                        <a:spcAft>
                          <a:spcPts val="0"/>
                        </a:spcAft>
                      </a:pPr>
                      <a:r>
                        <a:rPr lang="en-US" sz="900" b="1" kern="1050">
                          <a:latin typeface="Times New Roman" panose="02020603050405020304"/>
                          <a:ea typeface="宋体" panose="02010600030101010101" pitchFamily="2" charset="-122"/>
                          <a:cs typeface="Times New Roman" panose="02020603050405020304"/>
                        </a:rPr>
                        <a:t>S4</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a:latin typeface="Times New Roman" panose="02020603050405020304"/>
                          <a:ea typeface="宋体" panose="02010600030101010101" pitchFamily="2" charset="-122"/>
                          <a:cs typeface="Times New Roman" panose="02020603050405020304"/>
                        </a:rPr>
                        <a:t>计算机系</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panose="02020603050405020304"/>
                          <a:ea typeface="宋体" panose="02010600030101010101" pitchFamily="2" charset="-122"/>
                          <a:cs typeface="Times New Roman" panose="02020603050405020304"/>
                        </a:rPr>
                        <a:t>张明</a:t>
                      </a:r>
                      <a:endParaRPr lang="zh-CN" sz="1050" b="1" kern="1050" dirty="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panose="02020603050405020304"/>
                          <a:ea typeface="宋体" panose="02010600030101010101" pitchFamily="2" charset="-122"/>
                          <a:cs typeface="Times New Roman" panose="02020603050405020304"/>
                        </a:rPr>
                        <a:t>C1</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panose="02020603050405020304"/>
                          <a:ea typeface="宋体" panose="02010600030101010101" pitchFamily="2" charset="-122"/>
                          <a:cs typeface="Times New Roman" panose="02020603050405020304"/>
                        </a:rPr>
                        <a:t>70</a:t>
                      </a:r>
                      <a:endParaRPr lang="zh-CN" sz="105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278810">
                <a:tc>
                  <a:txBody>
                    <a:bodyPr/>
                    <a:lstStyle/>
                    <a:p>
                      <a:pPr indent="269875" algn="ctr">
                        <a:spcAft>
                          <a:spcPts val="0"/>
                        </a:spcAft>
                      </a:pPr>
                      <a:r>
                        <a:rPr lang="en-US" sz="900" b="1" kern="1050">
                          <a:latin typeface="Times New Roman" panose="02020603050405020304"/>
                          <a:ea typeface="宋体" panose="02010600030101010101" pitchFamily="2" charset="-122"/>
                          <a:cs typeface="Times New Roman" panose="02020603050405020304"/>
                        </a:rPr>
                        <a:t>S5</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a:latin typeface="Times New Roman" panose="02020603050405020304"/>
                          <a:ea typeface="宋体" panose="02010600030101010101" pitchFamily="2" charset="-122"/>
                          <a:cs typeface="Times New Roman" panose="02020603050405020304"/>
                        </a:rPr>
                        <a:t>计算机系</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panose="02020603050405020304"/>
                          <a:ea typeface="宋体" panose="02010600030101010101" pitchFamily="2" charset="-122"/>
                          <a:cs typeface="Times New Roman" panose="02020603050405020304"/>
                        </a:rPr>
                        <a:t>张明</a:t>
                      </a:r>
                      <a:endParaRPr lang="zh-CN" sz="1050" b="1" kern="1050" dirty="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panose="02020603050405020304"/>
                          <a:ea typeface="宋体" panose="02010600030101010101" pitchFamily="2" charset="-122"/>
                          <a:cs typeface="Times New Roman" panose="02020603050405020304"/>
                        </a:rPr>
                        <a:t>C1</a:t>
                      </a:r>
                      <a:endParaRPr lang="zh-CN" sz="105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panose="02020603050405020304"/>
                          <a:ea typeface="宋体" panose="02010600030101010101" pitchFamily="2" charset="-122"/>
                          <a:cs typeface="Times New Roman" panose="02020603050405020304"/>
                        </a:rPr>
                        <a:t>78</a:t>
                      </a:r>
                      <a:endParaRPr lang="zh-CN" sz="105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r h="278810">
                <a:tc>
                  <a:txBody>
                    <a:bodyPr/>
                    <a:lstStyle/>
                    <a:p>
                      <a:pPr indent="269875" algn="ctr">
                        <a:spcAft>
                          <a:spcPts val="0"/>
                        </a:spcAft>
                      </a:pPr>
                      <a:endParaRPr lang="en-US" sz="9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9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9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900" b="1" kern="105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900" b="1"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bl>
          </a:graphicData>
        </a:graphic>
      </p:graphicFrame>
      <p:graphicFrame>
        <p:nvGraphicFramePr>
          <p:cNvPr id="6" name="表格 5"/>
          <p:cNvGraphicFramePr>
            <a:graphicFrameLocks noGrp="1"/>
          </p:cNvGraphicFramePr>
          <p:nvPr/>
        </p:nvGraphicFramePr>
        <p:xfrm>
          <a:off x="4722185" y="2712426"/>
          <a:ext cx="4429155" cy="278810"/>
        </p:xfrm>
        <a:graphic>
          <a:graphicData uri="http://schemas.openxmlformats.org/drawingml/2006/table">
            <a:tbl>
              <a:tblPr/>
              <a:tblGrid>
                <a:gridCol w="763647"/>
                <a:gridCol w="992180"/>
                <a:gridCol w="990249"/>
                <a:gridCol w="797248"/>
                <a:gridCol w="885831"/>
              </a:tblGrid>
              <a:tr h="278810">
                <a:tc>
                  <a:txBody>
                    <a:bodyPr/>
                    <a:lstStyle/>
                    <a:p>
                      <a:pPr indent="269875" algn="l">
                        <a:spcAft>
                          <a:spcPts val="0"/>
                        </a:spcAft>
                      </a:pPr>
                      <a:r>
                        <a:rPr lang="en-US" altLang="zh-CN" sz="900" b="1" kern="1050" dirty="0">
                          <a:solidFill>
                            <a:srgbClr val="FF0000"/>
                          </a:solidFill>
                          <a:latin typeface="Times New Roman" panose="02020603050405020304"/>
                          <a:ea typeface="宋体" panose="02010600030101010101" pitchFamily="2" charset="-122"/>
                          <a:cs typeface="Times New Roman" panose="02020603050405020304"/>
                        </a:rPr>
                        <a:t>NULL</a:t>
                      </a:r>
                      <a:endParaRPr lang="zh-CN" sz="1050" b="1" kern="1050" dirty="0">
                        <a:solidFill>
                          <a:srgbClr val="FF0000"/>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l">
                        <a:spcAft>
                          <a:spcPts val="0"/>
                        </a:spcAft>
                      </a:pPr>
                      <a:r>
                        <a:rPr lang="zh-CN" altLang="en-US" sz="900" kern="1050" dirty="0">
                          <a:solidFill>
                            <a:schemeClr val="tx1"/>
                          </a:solidFill>
                          <a:latin typeface="Times New Roman" panose="02020603050405020304"/>
                          <a:ea typeface="宋体" panose="02010600030101010101" pitchFamily="2" charset="-122"/>
                          <a:cs typeface="Times New Roman" panose="02020603050405020304"/>
                        </a:rPr>
                        <a:t>软件工程</a:t>
                      </a:r>
                      <a:r>
                        <a:rPr lang="zh-CN" sz="900" kern="1050" dirty="0">
                          <a:solidFill>
                            <a:schemeClr val="tx1"/>
                          </a:solidFill>
                          <a:latin typeface="Times New Roman" panose="02020603050405020304"/>
                          <a:ea typeface="宋体" panose="02010600030101010101" pitchFamily="2" charset="-122"/>
                          <a:cs typeface="Times New Roman" panose="02020603050405020304"/>
                        </a:rPr>
                        <a:t>系</a:t>
                      </a:r>
                      <a:endParaRPr lang="zh-CN" sz="1050" kern="1050" dirty="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l">
                        <a:spcAft>
                          <a:spcPts val="0"/>
                        </a:spcAft>
                      </a:pPr>
                      <a:r>
                        <a:rPr lang="zh-CN" altLang="en-US" sz="900" kern="1050" dirty="0">
                          <a:solidFill>
                            <a:schemeClr val="tx1"/>
                          </a:solidFill>
                          <a:latin typeface="Times New Roman" panose="02020603050405020304"/>
                          <a:ea typeface="宋体" panose="02010600030101010101" pitchFamily="2" charset="-122"/>
                          <a:cs typeface="Times New Roman" panose="02020603050405020304"/>
                        </a:rPr>
                        <a:t>严广</a:t>
                      </a:r>
                      <a:endParaRPr lang="zh-CN" sz="1050" kern="1050" dirty="0">
                        <a:solidFill>
                          <a:schemeClr val="tx1"/>
                        </a:solidFill>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l">
                        <a:spcAft>
                          <a:spcPts val="0"/>
                        </a:spcAft>
                      </a:pPr>
                      <a:r>
                        <a:rPr lang="en-US" altLang="zh-CN" sz="1050" kern="1050" dirty="0">
                          <a:latin typeface="Times New Roman" panose="02020603050405020304"/>
                          <a:ea typeface="宋体" panose="02010600030101010101" pitchFamily="2" charset="-122"/>
                          <a:cs typeface="Times New Roman" panose="02020603050405020304"/>
                        </a:rPr>
                        <a:t>null</a:t>
                      </a:r>
                      <a:endParaRPr lang="zh-CN" sz="1050"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l">
                        <a:spcAft>
                          <a:spcPts val="0"/>
                        </a:spcAft>
                      </a:pPr>
                      <a:r>
                        <a:rPr lang="en-US" sz="900" kern="1050" dirty="0">
                          <a:latin typeface="Times New Roman" panose="02020603050405020304"/>
                          <a:ea typeface="宋体" panose="02010600030101010101" pitchFamily="2" charset="-122"/>
                          <a:cs typeface="Times New Roman" panose="02020603050405020304"/>
                        </a:rPr>
                        <a:t>null</a:t>
                      </a:r>
                      <a:endParaRPr lang="zh-CN" sz="1050" kern="105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r>
            </a:tbl>
          </a:graphicData>
        </a:graphic>
      </p:graphicFrame>
      <p:pic>
        <p:nvPicPr>
          <p:cNvPr id="7" name="图片 6"/>
          <p:cNvPicPr>
            <a:picLocks noChangeAspect="1"/>
          </p:cNvPicPr>
          <p:nvPr/>
        </p:nvPicPr>
        <p:blipFill>
          <a:blip r:embed="rId1" cstate="print"/>
          <a:srcRect/>
          <a:stretch>
            <a:fillRect/>
          </a:stretch>
        </p:blipFill>
        <p:spPr bwMode="auto">
          <a:xfrm>
            <a:off x="4115541" y="3429006"/>
            <a:ext cx="341414" cy="346854"/>
          </a:xfrm>
          <a:prstGeom prst="rect">
            <a:avLst/>
          </a:prstGeom>
          <a:noFill/>
          <a:ln w="9525">
            <a:noFill/>
            <a:miter lim="800000"/>
            <a:headEnd/>
            <a:tailEnd/>
          </a:ln>
        </p:spPr>
      </p:pic>
      <p:cxnSp>
        <p:nvCxnSpPr>
          <p:cNvPr id="13" name="直接箭头连接符 12"/>
          <p:cNvCxnSpPr/>
          <p:nvPr/>
        </p:nvCxnSpPr>
        <p:spPr bwMode="auto">
          <a:xfrm rot="5400000">
            <a:off x="3250400" y="3321850"/>
            <a:ext cx="2000261" cy="928693"/>
          </a:xfrm>
          <a:prstGeom prst="straightConnector1">
            <a:avLst/>
          </a:prstGeom>
          <a:noFill/>
          <a:ln w="28575" cap="flat" cmpd="sng" algn="ctr">
            <a:solidFill>
              <a:srgbClr val="FF0000"/>
            </a:solidFill>
            <a:prstDash val="solid"/>
            <a:round/>
            <a:headEnd type="none" w="med" len="med"/>
            <a:tailEnd type="arrow"/>
          </a:ln>
          <a:effectLst/>
        </p:spPr>
      </p:cxnSp>
      <p:sp>
        <p:nvSpPr>
          <p:cNvPr id="15" name="爆炸形 1 14"/>
          <p:cNvSpPr/>
          <p:nvPr/>
        </p:nvSpPr>
        <p:spPr bwMode="auto">
          <a:xfrm>
            <a:off x="4643438" y="3071817"/>
            <a:ext cx="4537643" cy="1714510"/>
          </a:xfrm>
          <a:prstGeom prst="irregularSeal1">
            <a:avLst/>
          </a:prstGeom>
          <a:solidFill>
            <a:schemeClr val="accent1">
              <a:lumMod val="20000"/>
              <a:lumOff val="80000"/>
            </a:schemeClr>
          </a:solidFill>
          <a:ln>
            <a:headEnd type="none" w="med" len="med"/>
            <a:tailEnd type="none" w="med" len="med"/>
          </a:ln>
          <a:effectLst>
            <a:innerShdw blurRad="63500" dist="50800" dir="10800000">
              <a:prstClr val="black">
                <a:alpha val="50000"/>
              </a:prstClr>
            </a:inn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a:lstStyle/>
          <a:p>
            <a:pPr marL="0" lvl="1" algn="ctr">
              <a:defRPr/>
            </a:pPr>
            <a:r>
              <a:rPr lang="en-US" altLang="zh-CN" sz="1400" b="1" dirty="0">
                <a:solidFill>
                  <a:schemeClr val="tx1"/>
                </a:solidFill>
              </a:rPr>
              <a:t>STUDENT</a:t>
            </a:r>
            <a:r>
              <a:rPr lang="zh-CN" altLang="en-US" sz="1400" b="1" dirty="0">
                <a:solidFill>
                  <a:schemeClr val="tx1"/>
                </a:solidFill>
              </a:rPr>
              <a:t>（</a:t>
            </a:r>
            <a:r>
              <a:rPr lang="en-US" altLang="zh-CN" sz="1400" b="1" dirty="0" err="1">
                <a:solidFill>
                  <a:schemeClr val="tx1"/>
                </a:solidFill>
              </a:rPr>
              <a:t>Sno</a:t>
            </a:r>
            <a:r>
              <a:rPr lang="en-US" altLang="zh-CN" sz="1400" b="1" dirty="0">
                <a:solidFill>
                  <a:schemeClr val="tx1"/>
                </a:solidFill>
              </a:rPr>
              <a:t> ,</a:t>
            </a:r>
            <a:r>
              <a:rPr lang="en-US" altLang="zh-CN" sz="1400" b="1" dirty="0" err="1">
                <a:solidFill>
                  <a:schemeClr val="tx1"/>
                </a:solidFill>
              </a:rPr>
              <a:t>Sdept</a:t>
            </a:r>
            <a:r>
              <a:rPr lang="en-US" altLang="zh-CN" sz="1400" b="1" dirty="0">
                <a:solidFill>
                  <a:schemeClr val="tx1"/>
                </a:solidFill>
              </a:rPr>
              <a:t>, </a:t>
            </a:r>
            <a:r>
              <a:rPr lang="en-US" altLang="zh-CN" sz="1400" b="1" dirty="0" err="1">
                <a:solidFill>
                  <a:schemeClr val="tx1"/>
                </a:solidFill>
              </a:rPr>
              <a:t>Mname,Cname,Grade</a:t>
            </a:r>
            <a:r>
              <a:rPr lang="zh-CN" altLang="en-US" sz="1400" b="1" dirty="0">
                <a:solidFill>
                  <a:schemeClr val="tx1"/>
                </a:solidFill>
              </a:rPr>
              <a:t>）</a:t>
            </a:r>
            <a:endParaRPr lang="zh-CN" altLang="en-US" sz="1400" b="1" dirty="0">
              <a:solidFill>
                <a:schemeClr val="tx1"/>
              </a:solidFill>
            </a:endParaRPr>
          </a:p>
          <a:p>
            <a:pPr algn="ctr" eaLnBrk="1" hangingPunct="1">
              <a:defRPr/>
            </a:pPr>
            <a:r>
              <a:rPr lang="zh-CN" altLang="en-US" sz="1600" b="1" dirty="0">
                <a:solidFill>
                  <a:schemeClr val="tx1"/>
                </a:solidFill>
                <a:effectLst>
                  <a:outerShdw blurRad="38100" dist="38100" dir="2700000" algn="tl">
                    <a:srgbClr val="000000">
                      <a:alpha val="43137"/>
                    </a:srgbClr>
                  </a:outerShdw>
                </a:effectLst>
                <a:latin typeface="+mn-ea"/>
              </a:rPr>
              <a:t>不是一个好的关系模式。</a:t>
            </a:r>
            <a:endParaRPr lang="zh-CN" altLang="en-US" sz="1600" b="1" dirty="0">
              <a:solidFill>
                <a:schemeClr val="tx1"/>
              </a:solidFill>
              <a:effectLst>
                <a:outerShdw blurRad="38100" dist="38100" dir="2700000" algn="tl">
                  <a:srgbClr val="000000">
                    <a:alpha val="43137"/>
                  </a:srgbClr>
                </a:outerShdw>
              </a:effectLst>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37"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barn(outVertical)">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6"/>
          <p:cNvSpPr>
            <a:spLocks noGrp="1" noChangeArrowheads="1"/>
          </p:cNvSpPr>
          <p:nvPr>
            <p:ph type="title"/>
          </p:nvPr>
        </p:nvSpPr>
        <p:spPr/>
        <p:txBody>
          <a:bodyPr/>
          <a:lstStyle/>
          <a:p>
            <a:r>
              <a:rPr lang="zh-CN" altLang="en-US" sz="3600" dirty="0"/>
              <a:t>关系模式存在的问题</a:t>
            </a:r>
            <a:endParaRPr lang="en-US" altLang="zh-CN" sz="3600" dirty="0"/>
          </a:p>
        </p:txBody>
      </p:sp>
      <p:sp>
        <p:nvSpPr>
          <p:cNvPr id="31747" name="Rectangle 1027"/>
          <p:cNvSpPr>
            <a:spLocks noGrp="1" noChangeArrowheads="1"/>
          </p:cNvSpPr>
          <p:nvPr>
            <p:ph idx="1"/>
          </p:nvPr>
        </p:nvSpPr>
        <p:spPr>
          <a:xfrm>
            <a:off x="0" y="823913"/>
            <a:ext cx="7358082" cy="4013613"/>
          </a:xfrm>
        </p:spPr>
        <p:txBody>
          <a:bodyPr/>
          <a:lstStyle/>
          <a:p>
            <a:r>
              <a:rPr lang="zh-CN" altLang="en-US" sz="2000" dirty="0"/>
              <a:t>结论</a:t>
            </a:r>
            <a:endParaRPr lang="en-US" altLang="zh-CN" sz="2000" dirty="0"/>
          </a:p>
          <a:p>
            <a:pPr lvl="1"/>
            <a:r>
              <a:rPr lang="en-US" altLang="zh-CN" sz="2000" dirty="0">
                <a:solidFill>
                  <a:srgbClr val="FF0000"/>
                </a:solidFill>
              </a:rPr>
              <a:t>STUDENT</a:t>
            </a:r>
            <a:r>
              <a:rPr lang="zh-CN" altLang="en-US" sz="2000" dirty="0">
                <a:solidFill>
                  <a:srgbClr val="FF0000"/>
                </a:solidFill>
              </a:rPr>
              <a:t>（</a:t>
            </a:r>
            <a:r>
              <a:rPr lang="en-US" altLang="zh-CN" sz="2000" dirty="0" err="1">
                <a:solidFill>
                  <a:srgbClr val="FF0000"/>
                </a:solidFill>
              </a:rPr>
              <a:t>Sno</a:t>
            </a:r>
            <a:r>
              <a:rPr lang="en-US" altLang="zh-CN" sz="2000" dirty="0">
                <a:solidFill>
                  <a:srgbClr val="FF0000"/>
                </a:solidFill>
              </a:rPr>
              <a:t> ,</a:t>
            </a:r>
            <a:r>
              <a:rPr lang="en-US" altLang="zh-CN" sz="2000" dirty="0" err="1">
                <a:solidFill>
                  <a:srgbClr val="FF0000"/>
                </a:solidFill>
              </a:rPr>
              <a:t>Sdept</a:t>
            </a:r>
            <a:r>
              <a:rPr lang="en-US" altLang="zh-CN" sz="2000" dirty="0">
                <a:solidFill>
                  <a:srgbClr val="FF0000"/>
                </a:solidFill>
              </a:rPr>
              <a:t>, </a:t>
            </a:r>
            <a:r>
              <a:rPr lang="en-US" altLang="zh-CN" sz="2000" dirty="0" err="1">
                <a:solidFill>
                  <a:srgbClr val="FF0000"/>
                </a:solidFill>
              </a:rPr>
              <a:t>Mname,Cname,Grade</a:t>
            </a:r>
            <a:r>
              <a:rPr lang="zh-CN" altLang="en-US" sz="2000" dirty="0">
                <a:solidFill>
                  <a:srgbClr val="FF0000"/>
                </a:solidFill>
              </a:rPr>
              <a:t>）</a:t>
            </a:r>
            <a:endParaRPr lang="zh-CN" altLang="en-US" sz="2000" dirty="0">
              <a:solidFill>
                <a:srgbClr val="FF0000"/>
              </a:solidFill>
            </a:endParaRPr>
          </a:p>
          <a:p>
            <a:pPr lvl="1">
              <a:buNone/>
            </a:pPr>
            <a:r>
              <a:rPr lang="zh-CN" altLang="en-US" sz="2000" dirty="0"/>
              <a:t>不是一个好的模式。</a:t>
            </a:r>
            <a:endParaRPr lang="zh-CN" altLang="en-US" sz="2000" dirty="0"/>
          </a:p>
          <a:p>
            <a:pPr lvl="1"/>
            <a:r>
              <a:rPr lang="zh-CN" altLang="en-US" sz="2000" dirty="0"/>
              <a:t>一个“好”的模式应当不会发生插入异常、删除异常、更新异常、数据冗余应尽可能少。</a:t>
            </a:r>
            <a:endParaRPr lang="zh-CN" altLang="en-US" sz="2000" dirty="0"/>
          </a:p>
          <a:p>
            <a:r>
              <a:rPr lang="zh-CN" altLang="en-US" sz="2000" dirty="0"/>
              <a:t>原因</a:t>
            </a:r>
            <a:endParaRPr lang="en-US" altLang="zh-CN" sz="2000" dirty="0"/>
          </a:p>
          <a:p>
            <a:pPr lvl="1">
              <a:buNone/>
            </a:pPr>
            <a:r>
              <a:rPr lang="zh-CN" altLang="en-US" sz="2000" dirty="0"/>
              <a:t>由存在于模式中的某些</a:t>
            </a:r>
            <a:r>
              <a:rPr lang="zh-CN" altLang="en-US" dirty="0">
                <a:solidFill>
                  <a:srgbClr val="FF0000"/>
                </a:solidFill>
                <a:effectLst>
                  <a:outerShdw blurRad="38100" dist="38100" dir="2700000" algn="tl">
                    <a:srgbClr val="000000">
                      <a:alpha val="43137"/>
                    </a:srgbClr>
                  </a:outerShdw>
                </a:effectLst>
              </a:rPr>
              <a:t>数据依赖</a:t>
            </a:r>
            <a:r>
              <a:rPr lang="zh-CN" altLang="en-US" sz="2000" dirty="0"/>
              <a:t>引起的。</a:t>
            </a:r>
            <a:endParaRPr lang="zh-CN" altLang="en-US" sz="2000" dirty="0"/>
          </a:p>
          <a:p>
            <a:r>
              <a:rPr lang="zh-CN" altLang="en-US" sz="2000" dirty="0"/>
              <a:t>解决方法</a:t>
            </a:r>
            <a:endParaRPr lang="en-US" altLang="zh-CN" sz="2000" dirty="0"/>
          </a:p>
          <a:p>
            <a:pPr lvl="1">
              <a:buNone/>
            </a:pPr>
            <a:r>
              <a:rPr lang="zh-CN" altLang="en-US" sz="2000" dirty="0"/>
              <a:t>用规范化理论改造关系模式，消除其中不合适的数据依赖。</a:t>
            </a:r>
            <a:endParaRPr lang="zh-CN" altLang="en-US" sz="2000" dirty="0"/>
          </a:p>
          <a:p>
            <a:endParaRPr lang="en-US" altLang="zh-CN" sz="2400" dirty="0"/>
          </a:p>
        </p:txBody>
      </p:sp>
      <p:cxnSp>
        <p:nvCxnSpPr>
          <p:cNvPr id="4" name="直接连接符 8"/>
          <p:cNvCxnSpPr>
            <a:cxnSpLocks noChangeShapeType="1"/>
          </p:cNvCxnSpPr>
          <p:nvPr/>
        </p:nvCxnSpPr>
        <p:spPr bwMode="auto">
          <a:xfrm>
            <a:off x="785786" y="2285998"/>
            <a:ext cx="6429420" cy="1588"/>
          </a:xfrm>
          <a:prstGeom prst="line">
            <a:avLst/>
          </a:prstGeom>
          <a:noFill/>
          <a:ln w="57150" algn="ctr">
            <a:solidFill>
              <a:srgbClr val="FFFF00"/>
            </a:solidFill>
            <a:round/>
          </a:ln>
        </p:spPr>
      </p:cxnSp>
      <p:cxnSp>
        <p:nvCxnSpPr>
          <p:cNvPr id="5" name="直接连接符 8"/>
          <p:cNvCxnSpPr>
            <a:cxnSpLocks noChangeShapeType="1"/>
          </p:cNvCxnSpPr>
          <p:nvPr/>
        </p:nvCxnSpPr>
        <p:spPr bwMode="auto">
          <a:xfrm>
            <a:off x="642910" y="3354392"/>
            <a:ext cx="4786313" cy="1588"/>
          </a:xfrm>
          <a:prstGeom prst="line">
            <a:avLst/>
          </a:prstGeom>
          <a:noFill/>
          <a:ln w="57150" algn="ctr">
            <a:solidFill>
              <a:srgbClr val="FFFF00"/>
            </a:solidFill>
            <a:round/>
          </a:ln>
        </p:spPr>
      </p:cxnSp>
      <p:cxnSp>
        <p:nvCxnSpPr>
          <p:cNvPr id="6" name="直接连接符 8"/>
          <p:cNvCxnSpPr>
            <a:cxnSpLocks noChangeShapeType="1"/>
          </p:cNvCxnSpPr>
          <p:nvPr/>
        </p:nvCxnSpPr>
        <p:spPr bwMode="auto">
          <a:xfrm>
            <a:off x="928662" y="4143386"/>
            <a:ext cx="5786478" cy="1588"/>
          </a:xfrm>
          <a:prstGeom prst="line">
            <a:avLst/>
          </a:prstGeom>
          <a:noFill/>
          <a:ln w="57150" algn="ctr">
            <a:solidFill>
              <a:srgbClr val="FFFF00"/>
            </a:solidFill>
            <a:round/>
          </a:ln>
        </p:spPr>
      </p:cxn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000" fill="hold"/>
                                        <p:tgtEl>
                                          <p:spTgt spid="4"/>
                                        </p:tgtEl>
                                        <p:attrNameLst>
                                          <p:attrName>ppt_x</p:attrName>
                                        </p:attrNameLst>
                                      </p:cBhvr>
                                      <p:tavLst>
                                        <p:tav tm="0">
                                          <p:val>
                                            <p:strVal val="0-#ppt_w/2"/>
                                          </p:val>
                                        </p:tav>
                                        <p:tav tm="100000">
                                          <p:val>
                                            <p:strVal val="#ppt_x"/>
                                          </p:val>
                                        </p:tav>
                                      </p:tavLst>
                                    </p:anim>
                                    <p:anim calcmode="lin" valueType="num">
                                      <p:cBhvr additive="base">
                                        <p:cTn id="8" dur="2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2000" fill="hold"/>
                                        <p:tgtEl>
                                          <p:spTgt spid="5"/>
                                        </p:tgtEl>
                                        <p:attrNameLst>
                                          <p:attrName>ppt_x</p:attrName>
                                        </p:attrNameLst>
                                      </p:cBhvr>
                                      <p:tavLst>
                                        <p:tav tm="0">
                                          <p:val>
                                            <p:strVal val="0-#ppt_w/2"/>
                                          </p:val>
                                        </p:tav>
                                        <p:tav tm="100000">
                                          <p:val>
                                            <p:strVal val="#ppt_x"/>
                                          </p:val>
                                        </p:tav>
                                      </p:tavLst>
                                    </p:anim>
                                    <p:anim calcmode="lin" valueType="num">
                                      <p:cBhvr additive="base">
                                        <p:cTn id="14" dur="2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2000" fill="hold"/>
                                        <p:tgtEl>
                                          <p:spTgt spid="6"/>
                                        </p:tgtEl>
                                        <p:attrNameLst>
                                          <p:attrName>ppt_x</p:attrName>
                                        </p:attrNameLst>
                                      </p:cBhvr>
                                      <p:tavLst>
                                        <p:tav tm="0">
                                          <p:val>
                                            <p:strVal val="0-#ppt_w/2"/>
                                          </p:val>
                                        </p:tav>
                                        <p:tav tm="100000">
                                          <p:val>
                                            <p:strVal val="#ppt_x"/>
                                          </p:val>
                                        </p:tav>
                                      </p:tavLst>
                                    </p:anim>
                                    <p:anim calcmode="lin" valueType="num">
                                      <p:cBhvr additive="base">
                                        <p:cTn id="20" dur="2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a:t>6.1 </a:t>
            </a:r>
            <a:r>
              <a:rPr lang="zh-CN" altLang="en-US"/>
              <a:t>问题的提出</a:t>
            </a:r>
            <a:endParaRPr lang="zh-CN" altLang="en-US"/>
          </a:p>
        </p:txBody>
      </p:sp>
      <p:sp>
        <p:nvSpPr>
          <p:cNvPr id="16387" name="Rectangle 3"/>
          <p:cNvSpPr>
            <a:spLocks noGrp="1" noChangeArrowheads="1"/>
          </p:cNvSpPr>
          <p:nvPr>
            <p:ph idx="1"/>
          </p:nvPr>
        </p:nvSpPr>
        <p:spPr>
          <a:xfrm>
            <a:off x="899592" y="1004888"/>
            <a:ext cx="7787208" cy="3640931"/>
          </a:xfrm>
        </p:spPr>
        <p:txBody>
          <a:bodyPr/>
          <a:lstStyle/>
          <a:p>
            <a:pPr marL="0" indent="0">
              <a:buNone/>
            </a:pPr>
            <a:r>
              <a:rPr lang="en-US" altLang="zh-CN" dirty="0"/>
              <a:t>1.</a:t>
            </a:r>
            <a:r>
              <a:rPr lang="zh-CN" altLang="en-US" dirty="0"/>
              <a:t>问题</a:t>
            </a:r>
            <a:r>
              <a:rPr lang="en-US" altLang="zh-CN" dirty="0"/>
              <a:t>——</a:t>
            </a:r>
            <a:r>
              <a:rPr lang="zh-CN" altLang="en-US" dirty="0"/>
              <a:t>什么是一个好的数据库逻辑设计</a:t>
            </a:r>
            <a:endParaRPr lang="en-US" altLang="zh-CN" dirty="0"/>
          </a:p>
          <a:p>
            <a:pPr marL="0" indent="0">
              <a:buNone/>
            </a:pPr>
            <a:r>
              <a:rPr lang="en-US" altLang="zh-CN" dirty="0">
                <a:solidFill>
                  <a:srgbClr val="FF0000"/>
                </a:solidFill>
              </a:rPr>
              <a:t>2.</a:t>
            </a:r>
            <a:r>
              <a:rPr lang="zh-CN" altLang="en-US" dirty="0">
                <a:solidFill>
                  <a:srgbClr val="FF0000"/>
                </a:solidFill>
              </a:rPr>
              <a:t>什么是数据依赖</a:t>
            </a:r>
            <a:endParaRPr lang="zh-CN" altLang="en-US" dirty="0">
              <a:solidFill>
                <a:srgbClr val="FF0000"/>
              </a:solidFill>
            </a:endParaRPr>
          </a:p>
          <a:p>
            <a:pPr marL="0" indent="0">
              <a:buNone/>
            </a:pPr>
            <a:r>
              <a:rPr lang="en-US" altLang="zh-CN" dirty="0"/>
              <a:t>3.</a:t>
            </a:r>
            <a:r>
              <a:rPr lang="zh-CN" altLang="en-US" dirty="0"/>
              <a:t>关系模式的简化表示</a:t>
            </a:r>
            <a:endParaRPr lang="en-US" altLang="zh-CN" dirty="0"/>
          </a:p>
        </p:txBody>
      </p:sp>
    </p:spTree>
  </p:cSld>
  <p:clrMapOvr>
    <a:masterClrMapping/>
  </p:clrMapOvr>
  <p:transition spd="slow">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85720" y="-29766"/>
            <a:ext cx="8001056" cy="853679"/>
          </a:xfrm>
        </p:spPr>
        <p:txBody>
          <a:bodyPr/>
          <a:lstStyle/>
          <a:p>
            <a:pPr lvl="1"/>
            <a:r>
              <a:rPr lang="en-US" altLang="zh-CN" sz="3200" dirty="0"/>
              <a:t>2. </a:t>
            </a:r>
            <a:r>
              <a:rPr lang="zh-CN" altLang="en-US" sz="3200" dirty="0"/>
              <a:t>什么是数据依赖：一个例子</a:t>
            </a:r>
            <a:endParaRPr lang="en-US" altLang="zh-CN" sz="3200" dirty="0"/>
          </a:p>
        </p:txBody>
      </p:sp>
      <p:sp>
        <p:nvSpPr>
          <p:cNvPr id="24579" name="Rectangle 3"/>
          <p:cNvSpPr>
            <a:spLocks noGrp="1" noChangeArrowheads="1"/>
          </p:cNvSpPr>
          <p:nvPr>
            <p:ph idx="1"/>
          </p:nvPr>
        </p:nvSpPr>
        <p:spPr>
          <a:xfrm>
            <a:off x="285720" y="642924"/>
            <a:ext cx="8401080" cy="3931457"/>
          </a:xfrm>
        </p:spPr>
        <p:txBody>
          <a:bodyPr/>
          <a:lstStyle/>
          <a:p>
            <a:pPr marL="342900" lvl="1" indent="-342900">
              <a:buFont typeface="Wingdings" panose="05000000000000000000" pitchFamily="2" charset="2"/>
              <a:buChar char="v"/>
            </a:pPr>
            <a:r>
              <a:rPr lang="en-US" altLang="zh-CN" sz="1600" dirty="0">
                <a:solidFill>
                  <a:srgbClr val="FF0000"/>
                </a:solidFill>
              </a:rPr>
              <a:t>STUDENT</a:t>
            </a:r>
            <a:r>
              <a:rPr lang="zh-CN" altLang="en-US" sz="1600" dirty="0">
                <a:solidFill>
                  <a:srgbClr val="FF0000"/>
                </a:solidFill>
              </a:rPr>
              <a:t>（</a:t>
            </a:r>
            <a:r>
              <a:rPr lang="en-US" altLang="zh-CN" sz="1600" dirty="0" err="1">
                <a:solidFill>
                  <a:srgbClr val="FF0000"/>
                </a:solidFill>
              </a:rPr>
              <a:t>Sno</a:t>
            </a:r>
            <a:r>
              <a:rPr lang="en-US" altLang="zh-CN" sz="1600" dirty="0">
                <a:solidFill>
                  <a:srgbClr val="FF0000"/>
                </a:solidFill>
              </a:rPr>
              <a:t> ,</a:t>
            </a:r>
            <a:r>
              <a:rPr lang="en-US" altLang="zh-CN" sz="1600" dirty="0" err="1">
                <a:solidFill>
                  <a:srgbClr val="FF0000"/>
                </a:solidFill>
              </a:rPr>
              <a:t>Sdept</a:t>
            </a:r>
            <a:r>
              <a:rPr lang="en-US" altLang="zh-CN" sz="1600" dirty="0">
                <a:solidFill>
                  <a:srgbClr val="FF0000"/>
                </a:solidFill>
              </a:rPr>
              <a:t>, </a:t>
            </a:r>
            <a:r>
              <a:rPr lang="en-US" altLang="zh-CN" sz="1600" dirty="0" err="1">
                <a:solidFill>
                  <a:srgbClr val="FF0000"/>
                </a:solidFill>
              </a:rPr>
              <a:t>Mname,Cname,Grade</a:t>
            </a:r>
            <a:r>
              <a:rPr lang="zh-CN" altLang="en-US" sz="1600" dirty="0">
                <a:solidFill>
                  <a:srgbClr val="FF0000"/>
                </a:solidFill>
              </a:rPr>
              <a:t>）</a:t>
            </a:r>
            <a:endParaRPr lang="zh-CN" altLang="en-US" sz="1600" dirty="0">
              <a:solidFill>
                <a:srgbClr val="FF0000"/>
              </a:solidFill>
            </a:endParaRPr>
          </a:p>
          <a:p>
            <a:r>
              <a:rPr lang="zh-CN" altLang="en-US" sz="1600" dirty="0"/>
              <a:t>该关系模式的属性集合记为</a:t>
            </a:r>
            <a:r>
              <a:rPr lang="en-US" altLang="zh-CN" sz="1600" dirty="0"/>
              <a:t>U</a:t>
            </a:r>
            <a:r>
              <a:rPr lang="zh-CN" altLang="en-US" sz="1600" dirty="0"/>
              <a:t>：</a:t>
            </a:r>
            <a:endParaRPr lang="zh-CN" altLang="en-US" sz="1600" dirty="0"/>
          </a:p>
          <a:p>
            <a:pPr marL="0" indent="0">
              <a:buNone/>
            </a:pPr>
            <a:r>
              <a:rPr lang="zh-CN" altLang="en-US" sz="1600" dirty="0"/>
              <a:t>　　</a:t>
            </a:r>
            <a:r>
              <a:rPr lang="en-US" altLang="zh-CN" sz="1600" dirty="0"/>
              <a:t>U </a:t>
            </a:r>
            <a:r>
              <a:rPr lang="zh-CN" altLang="en-US" sz="1600" dirty="0"/>
              <a:t>＝｛ </a:t>
            </a:r>
            <a:r>
              <a:rPr lang="en-US" altLang="zh-CN" sz="1600" dirty="0" err="1"/>
              <a:t>Sno</a:t>
            </a:r>
            <a:r>
              <a:rPr lang="en-US" altLang="zh-CN" sz="1600" dirty="0"/>
              <a:t>, </a:t>
            </a:r>
            <a:r>
              <a:rPr lang="en-US" altLang="zh-CN" sz="1600" dirty="0" err="1"/>
              <a:t>Sdept</a:t>
            </a:r>
            <a:r>
              <a:rPr lang="en-US" altLang="zh-CN" sz="1600" dirty="0"/>
              <a:t>, </a:t>
            </a:r>
            <a:r>
              <a:rPr lang="en-US" altLang="zh-CN" sz="1600" dirty="0" err="1"/>
              <a:t>Mname</a:t>
            </a:r>
            <a:r>
              <a:rPr lang="en-US" altLang="zh-CN" sz="1600" dirty="0"/>
              <a:t>, </a:t>
            </a:r>
            <a:r>
              <a:rPr lang="en-US" altLang="zh-CN" sz="1600" dirty="0" err="1"/>
              <a:t>Cname</a:t>
            </a:r>
            <a:r>
              <a:rPr lang="en-US" altLang="zh-CN" sz="1600" dirty="0"/>
              <a:t>, Grade </a:t>
            </a:r>
            <a:r>
              <a:rPr lang="zh-CN" altLang="en-US" sz="1600" dirty="0"/>
              <a:t>｝</a:t>
            </a:r>
            <a:endParaRPr lang="en-US" altLang="zh-CN" sz="1600" dirty="0"/>
          </a:p>
          <a:p>
            <a:pPr marL="0" indent="0">
              <a:buNone/>
            </a:pPr>
            <a:endParaRPr lang="en-US" altLang="zh-CN" sz="1600" dirty="0"/>
          </a:p>
          <a:p>
            <a:pPr marL="0" indent="0">
              <a:buNone/>
            </a:pPr>
            <a:endParaRPr lang="en-US" altLang="zh-CN" sz="1600" dirty="0"/>
          </a:p>
          <a:p>
            <a:pPr>
              <a:buNone/>
            </a:pPr>
            <a:endParaRPr lang="en-US" altLang="zh-CN" sz="1600" dirty="0"/>
          </a:p>
          <a:p>
            <a:endParaRPr lang="en-US" altLang="zh-CN" sz="1600" dirty="0"/>
          </a:p>
          <a:p>
            <a:endParaRPr lang="en-US" altLang="zh-CN" sz="1600" dirty="0"/>
          </a:p>
          <a:p>
            <a:endParaRPr lang="en-US" altLang="zh-CN" sz="1000" dirty="0" smtClean="0"/>
          </a:p>
          <a:p>
            <a:r>
              <a:rPr lang="zh-CN" altLang="en-US" sz="1600" dirty="0" smtClean="0"/>
              <a:t>属性</a:t>
            </a:r>
            <a:r>
              <a:rPr lang="zh-CN" altLang="en-US" sz="1600" dirty="0"/>
              <a:t>组</a:t>
            </a:r>
            <a:r>
              <a:rPr lang="en-US" altLang="zh-CN" sz="1600" dirty="0"/>
              <a:t>U</a:t>
            </a:r>
            <a:r>
              <a:rPr lang="zh-CN" altLang="en-US" sz="1600" dirty="0"/>
              <a:t>上的函数依赖集合，记为</a:t>
            </a:r>
            <a:r>
              <a:rPr lang="en-US" altLang="zh-CN" sz="1600" dirty="0"/>
              <a:t>F</a:t>
            </a:r>
            <a:r>
              <a:rPr lang="zh-CN" altLang="en-US" sz="1600" dirty="0"/>
              <a:t>：</a:t>
            </a:r>
            <a:endParaRPr lang="zh-CN" altLang="en-US" sz="1600" dirty="0"/>
          </a:p>
          <a:p>
            <a:pPr marL="0" indent="0">
              <a:buNone/>
            </a:pPr>
            <a:r>
              <a:rPr lang="zh-CN" altLang="en-US" sz="1600" dirty="0"/>
              <a:t>    </a:t>
            </a:r>
            <a:r>
              <a:rPr lang="en-US" altLang="zh-CN" sz="1600" dirty="0"/>
              <a:t>F </a:t>
            </a:r>
            <a:r>
              <a:rPr lang="zh-CN" altLang="en-US" sz="1600" dirty="0"/>
              <a:t>＝｛ </a:t>
            </a:r>
            <a:r>
              <a:rPr lang="en-US" altLang="zh-CN" sz="1600" dirty="0" err="1"/>
              <a:t>Sno→Sdept</a:t>
            </a:r>
            <a:r>
              <a:rPr lang="en-US" altLang="zh-CN" sz="1600" dirty="0"/>
              <a:t>, </a:t>
            </a:r>
            <a:r>
              <a:rPr lang="en-US" altLang="zh-CN" sz="1600" dirty="0" err="1"/>
              <a:t>Sdept→Mname</a:t>
            </a:r>
            <a:r>
              <a:rPr lang="en-US" altLang="zh-CN" sz="1600" dirty="0"/>
              <a:t>, (</a:t>
            </a:r>
            <a:r>
              <a:rPr lang="en-US" altLang="zh-CN" sz="1600" dirty="0" err="1"/>
              <a:t>Sno</a:t>
            </a:r>
            <a:r>
              <a:rPr lang="en-US" altLang="zh-CN" sz="1600" dirty="0"/>
              <a:t>, </a:t>
            </a:r>
            <a:r>
              <a:rPr lang="en-US" altLang="zh-CN" sz="1600" dirty="0" err="1"/>
              <a:t>Cname</a:t>
            </a:r>
            <a:r>
              <a:rPr lang="en-US" altLang="zh-CN" sz="1600" dirty="0"/>
              <a:t>)→Grade</a:t>
            </a:r>
            <a:r>
              <a:rPr lang="zh-CN" altLang="en-US" sz="1600" dirty="0"/>
              <a:t>｝</a:t>
            </a:r>
            <a:endParaRPr lang="zh-CN" altLang="en-US" sz="1600" dirty="0"/>
          </a:p>
          <a:p>
            <a:pPr marL="0" indent="0">
              <a:buNone/>
            </a:pPr>
            <a:r>
              <a:rPr lang="zh-CN" altLang="en-US" sz="1400" dirty="0">
                <a:solidFill>
                  <a:srgbClr val="0070C0"/>
                </a:solidFill>
              </a:rPr>
              <a:t>用一个图来形象地表示函数依赖：</a:t>
            </a:r>
            <a:endParaRPr lang="zh-CN" altLang="en-US" sz="1400" dirty="0">
              <a:solidFill>
                <a:srgbClr val="0070C0"/>
              </a:solidFill>
            </a:endParaRPr>
          </a:p>
        </p:txBody>
      </p:sp>
      <p:pic>
        <p:nvPicPr>
          <p:cNvPr id="535554" name="Picture 2" descr="6z1"/>
          <p:cNvPicPr>
            <a:picLocks noChangeAspect="1" noChangeArrowheads="1"/>
          </p:cNvPicPr>
          <p:nvPr/>
        </p:nvPicPr>
        <p:blipFill>
          <a:blip r:embed="rId1"/>
          <a:srcRect/>
          <a:stretch>
            <a:fillRect/>
          </a:stretch>
        </p:blipFill>
        <p:spPr bwMode="auto">
          <a:xfrm>
            <a:off x="3779912" y="3723878"/>
            <a:ext cx="2216805" cy="1000132"/>
          </a:xfrm>
          <a:prstGeom prst="rect">
            <a:avLst/>
          </a:prstGeom>
          <a:noFill/>
          <a:ln w="9525">
            <a:noFill/>
            <a:miter lim="800000"/>
            <a:headEnd/>
            <a:tailEnd/>
          </a:ln>
        </p:spPr>
      </p:pic>
      <p:sp>
        <p:nvSpPr>
          <p:cNvPr id="5" name="矩形 4"/>
          <p:cNvSpPr/>
          <p:nvPr/>
        </p:nvSpPr>
        <p:spPr>
          <a:xfrm>
            <a:off x="142844" y="1571618"/>
            <a:ext cx="7643866" cy="1542474"/>
          </a:xfrm>
          <a:prstGeom prst="rect">
            <a:avLst/>
          </a:prstGeom>
          <a:ln w="28575">
            <a:solidFill>
              <a:schemeClr val="accent1"/>
            </a:solidFill>
          </a:ln>
        </p:spPr>
        <p:txBody>
          <a:bodyPr wrap="square">
            <a:spAutoFit/>
          </a:bodyPr>
          <a:lstStyle/>
          <a:p>
            <a:pPr marL="342900" indent="-342900">
              <a:lnSpc>
                <a:spcPct val="120000"/>
              </a:lnSpc>
              <a:buSzPct val="87000"/>
              <a:buFont typeface="Wingdings" panose="05000000000000000000" pitchFamily="2" charset="2"/>
              <a:buChar char="n"/>
            </a:pPr>
            <a:r>
              <a:rPr lang="zh-CN" altLang="en-US" sz="1600" b="1" dirty="0"/>
              <a:t>数学中的函数</a:t>
            </a:r>
            <a:r>
              <a:rPr lang="en-US" sz="1600" b="1" i="1" dirty="0"/>
              <a:t>y</a:t>
            </a:r>
            <a:r>
              <a:rPr lang="en-US" sz="1600" b="1" dirty="0"/>
              <a:t>=</a:t>
            </a:r>
            <a:r>
              <a:rPr lang="en-US" sz="1600" b="1" i="1" dirty="0"/>
              <a:t>f</a:t>
            </a:r>
            <a:r>
              <a:rPr lang="en-US" sz="1600" b="1" dirty="0"/>
              <a:t>(</a:t>
            </a:r>
            <a:r>
              <a:rPr lang="en-US" sz="1600" b="1" i="1" dirty="0"/>
              <a:t>x</a:t>
            </a:r>
            <a:r>
              <a:rPr lang="en-US" sz="1600" b="1" dirty="0"/>
              <a:t>)</a:t>
            </a:r>
            <a:r>
              <a:rPr lang="zh-CN" altLang="en-US" sz="1600" b="1" dirty="0"/>
              <a:t>，自变量</a:t>
            </a:r>
            <a:r>
              <a:rPr lang="en-US" sz="1600" b="1" i="1" dirty="0"/>
              <a:t>x</a:t>
            </a:r>
            <a:r>
              <a:rPr lang="zh-CN" altLang="en-US" sz="1600" b="1" dirty="0"/>
              <a:t>确定之后，相应的函数值</a:t>
            </a:r>
            <a:r>
              <a:rPr lang="en-US" sz="1600" b="1" i="1" dirty="0"/>
              <a:t>y</a:t>
            </a:r>
            <a:r>
              <a:rPr lang="zh-CN" altLang="en-US" sz="1600" b="1" dirty="0"/>
              <a:t>也就唯一地确定了。</a:t>
            </a:r>
            <a:endParaRPr lang="en-US" altLang="zh-CN" sz="1600" b="1" dirty="0"/>
          </a:p>
          <a:p>
            <a:pPr marL="342900" indent="-342900">
              <a:lnSpc>
                <a:spcPct val="120000"/>
              </a:lnSpc>
              <a:buSzPct val="87000"/>
              <a:buFont typeface="Wingdings" panose="05000000000000000000" pitchFamily="2" charset="2"/>
              <a:buChar char="n"/>
            </a:pPr>
            <a:r>
              <a:rPr lang="en-US" altLang="zh-CN" sz="1600" b="1" dirty="0" err="1"/>
              <a:t>Sdept</a:t>
            </a:r>
            <a:r>
              <a:rPr lang="en-US" altLang="zh-CN" sz="1600" b="1" dirty="0"/>
              <a:t>=f(</a:t>
            </a:r>
            <a:r>
              <a:rPr lang="en-US" altLang="zh-CN" sz="1600" b="1" dirty="0" err="1"/>
              <a:t>Sno</a:t>
            </a:r>
            <a:r>
              <a:rPr lang="en-US" altLang="zh-CN" sz="1600" b="1" dirty="0"/>
              <a:t>), </a:t>
            </a:r>
            <a:r>
              <a:rPr lang="en-US" altLang="zh-CN" sz="1600" b="1" dirty="0" err="1"/>
              <a:t>Sno</a:t>
            </a:r>
            <a:r>
              <a:rPr lang="zh-CN" altLang="en-US" sz="1600" b="1" dirty="0"/>
              <a:t>函数确定</a:t>
            </a:r>
            <a:r>
              <a:rPr lang="en-US" altLang="zh-CN" sz="1600" b="1" dirty="0" err="1"/>
              <a:t>Sdept</a:t>
            </a:r>
            <a:r>
              <a:rPr lang="zh-CN" altLang="en-US" sz="1600" b="1" dirty="0"/>
              <a:t>，记为</a:t>
            </a:r>
            <a:r>
              <a:rPr lang="en-US" altLang="zh-CN" sz="1600" b="1" dirty="0" err="1"/>
              <a:t>Sno→Sdept</a:t>
            </a:r>
            <a:r>
              <a:rPr lang="en-US" altLang="zh-CN" sz="1600" b="1" dirty="0"/>
              <a:t>, </a:t>
            </a:r>
            <a:endParaRPr lang="en-US" altLang="zh-CN" sz="1600" b="1" dirty="0"/>
          </a:p>
          <a:p>
            <a:pPr marL="342900" indent="-342900">
              <a:lnSpc>
                <a:spcPct val="120000"/>
              </a:lnSpc>
              <a:buSzPct val="87000"/>
              <a:buFont typeface="Wingdings" panose="05000000000000000000" pitchFamily="2" charset="2"/>
              <a:buChar char="n"/>
            </a:pPr>
            <a:r>
              <a:rPr lang="en-US" altLang="zh-CN" sz="1600" b="1" dirty="0" err="1"/>
              <a:t>Mname</a:t>
            </a:r>
            <a:r>
              <a:rPr lang="en-US" altLang="zh-CN" sz="1600" b="1" dirty="0"/>
              <a:t>=f(</a:t>
            </a:r>
            <a:r>
              <a:rPr lang="en-US" altLang="zh-CN" sz="1600" b="1" dirty="0" err="1"/>
              <a:t>Sdept</a:t>
            </a:r>
            <a:r>
              <a:rPr lang="en-US" altLang="zh-CN" sz="1600" b="1" dirty="0"/>
              <a:t>), </a:t>
            </a:r>
            <a:r>
              <a:rPr lang="en-US" altLang="zh-CN" sz="1600" b="1" dirty="0" err="1"/>
              <a:t>Sdept</a:t>
            </a:r>
            <a:r>
              <a:rPr lang="zh-CN" altLang="en-US" sz="1600" b="1" dirty="0"/>
              <a:t>函数确定</a:t>
            </a:r>
            <a:r>
              <a:rPr lang="en-US" altLang="zh-CN" sz="1600" b="1" dirty="0" err="1"/>
              <a:t>Mname</a:t>
            </a:r>
            <a:r>
              <a:rPr lang="zh-CN" altLang="en-US" sz="1600" b="1" dirty="0"/>
              <a:t>，记为</a:t>
            </a:r>
            <a:r>
              <a:rPr lang="en-US" altLang="zh-CN" sz="1600" b="1" dirty="0" err="1"/>
              <a:t>Sdept→Mname</a:t>
            </a:r>
            <a:endParaRPr lang="en-US" altLang="zh-CN" sz="1600" b="1" dirty="0"/>
          </a:p>
          <a:p>
            <a:pPr marL="342900" indent="-342900">
              <a:lnSpc>
                <a:spcPct val="120000"/>
              </a:lnSpc>
              <a:buSzPct val="87000"/>
              <a:buFont typeface="Wingdings" panose="05000000000000000000" pitchFamily="2" charset="2"/>
              <a:buChar char="n"/>
            </a:pPr>
            <a:r>
              <a:rPr lang="en-US" altLang="zh-CN" sz="1600" b="1" dirty="0"/>
              <a:t>Grade=f((</a:t>
            </a:r>
            <a:r>
              <a:rPr lang="en-US" altLang="zh-CN" sz="1600" b="1" dirty="0" err="1"/>
              <a:t>Sno</a:t>
            </a:r>
            <a:r>
              <a:rPr lang="en-US" altLang="zh-CN" sz="1600" b="1" dirty="0"/>
              <a:t>, </a:t>
            </a:r>
            <a:r>
              <a:rPr lang="en-US" altLang="zh-CN" sz="1600" b="1" dirty="0" err="1"/>
              <a:t>Cname</a:t>
            </a:r>
            <a:r>
              <a:rPr lang="en-US" altLang="zh-CN" sz="1600" b="1" dirty="0"/>
              <a:t>)) , (</a:t>
            </a:r>
            <a:r>
              <a:rPr lang="en-US" altLang="zh-CN" sz="1600" b="1" dirty="0" err="1"/>
              <a:t>Sno</a:t>
            </a:r>
            <a:r>
              <a:rPr lang="en-US" altLang="zh-CN" sz="1600" b="1" dirty="0"/>
              <a:t>, </a:t>
            </a:r>
            <a:r>
              <a:rPr lang="en-US" altLang="zh-CN" sz="1600" b="1" dirty="0" err="1"/>
              <a:t>Cname</a:t>
            </a:r>
            <a:r>
              <a:rPr lang="en-US" altLang="zh-CN" sz="1600" b="1" dirty="0"/>
              <a:t>)</a:t>
            </a:r>
            <a:r>
              <a:rPr lang="zh-CN" altLang="en-US" sz="1600" b="1" dirty="0"/>
              <a:t>函数确定</a:t>
            </a:r>
            <a:r>
              <a:rPr lang="en-US" altLang="zh-CN" sz="1600" b="1" dirty="0"/>
              <a:t>Grade</a:t>
            </a:r>
            <a:r>
              <a:rPr lang="zh-CN" altLang="en-US" sz="1600" b="1" dirty="0"/>
              <a:t>，记为</a:t>
            </a:r>
            <a:r>
              <a:rPr lang="en-US" altLang="zh-CN" sz="1600" b="1" dirty="0" err="1"/>
              <a:t>Sdept→</a:t>
            </a:r>
            <a:r>
              <a:rPr lang="en-US" altLang="zh-CN" sz="1600" b="1" dirty="0" err="1" smtClean="0"/>
              <a:t>Mname</a:t>
            </a:r>
            <a:endParaRPr lang="zh-CN" altLang="en-US" sz="1600" b="1" dirty="0">
              <a:sym typeface="Calibri" panose="020F0502020204030204" pitchFamily="34" charset="0"/>
            </a:endParaRPr>
          </a:p>
        </p:txBody>
      </p:sp>
    </p:spTree>
  </p:cSld>
  <p:clrMapOvr>
    <a:masterClrMapping/>
  </p:clrMapOvr>
  <p:transition spd="slow">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dirty="0"/>
              <a:t>2. </a:t>
            </a:r>
            <a:r>
              <a:rPr lang="zh-CN" altLang="en-US" dirty="0"/>
              <a:t>什么是数据依赖</a:t>
            </a:r>
            <a:endParaRPr lang="zh-CN" altLang="en-US" dirty="0"/>
          </a:p>
        </p:txBody>
      </p:sp>
      <p:sp>
        <p:nvSpPr>
          <p:cNvPr id="19459" name="Rectangle 3"/>
          <p:cNvSpPr>
            <a:spLocks noGrp="1" noChangeArrowheads="1"/>
          </p:cNvSpPr>
          <p:nvPr>
            <p:ph idx="1"/>
          </p:nvPr>
        </p:nvSpPr>
        <p:spPr>
          <a:xfrm>
            <a:off x="142844" y="714362"/>
            <a:ext cx="8401080" cy="3640931"/>
          </a:xfrm>
        </p:spPr>
        <p:txBody>
          <a:bodyPr/>
          <a:lstStyle/>
          <a:p>
            <a:pPr>
              <a:buNone/>
            </a:pPr>
            <a:r>
              <a:rPr lang="en-US" altLang="zh-CN" sz="1800" dirty="0">
                <a:solidFill>
                  <a:srgbClr val="FF0000"/>
                </a:solidFill>
              </a:rPr>
              <a:t>1.  </a:t>
            </a:r>
            <a:r>
              <a:rPr lang="zh-CN" altLang="en-US" sz="1800" dirty="0">
                <a:solidFill>
                  <a:srgbClr val="FF0000"/>
                </a:solidFill>
              </a:rPr>
              <a:t>什么是数据依赖</a:t>
            </a:r>
            <a:endParaRPr lang="zh-CN" altLang="en-US" sz="1800" dirty="0">
              <a:solidFill>
                <a:srgbClr val="FF0000"/>
              </a:solidFill>
            </a:endParaRPr>
          </a:p>
          <a:p>
            <a:pPr lvl="1"/>
            <a:r>
              <a:rPr lang="zh-CN" altLang="en-US" sz="1800" dirty="0"/>
              <a:t>关系属性与属性之间的一种约束关系，通过属性间值的相等与否来描述</a:t>
            </a:r>
            <a:endParaRPr lang="en-US" altLang="zh-CN" sz="1800" dirty="0"/>
          </a:p>
          <a:p>
            <a:pPr lvl="1"/>
            <a:r>
              <a:rPr lang="zh-CN" altLang="en-US" sz="1800" dirty="0"/>
              <a:t>体现了数据之间的相互关连，是现实世界属性间相互关连的抽象</a:t>
            </a:r>
            <a:endParaRPr lang="zh-CN" altLang="en-US" sz="1800" dirty="0"/>
          </a:p>
          <a:p>
            <a:pPr lvl="1"/>
            <a:r>
              <a:rPr lang="zh-CN" altLang="en-US" sz="1800" dirty="0">
                <a:solidFill>
                  <a:srgbClr val="FF0000"/>
                </a:solidFill>
              </a:rPr>
              <a:t>是数据内在的性质，是语义的体现         </a:t>
            </a:r>
            <a:endParaRPr lang="zh-CN" altLang="en-US" sz="1800" dirty="0">
              <a:solidFill>
                <a:srgbClr val="FF0000"/>
              </a:solidFill>
            </a:endParaRPr>
          </a:p>
          <a:p>
            <a:pPr lvl="1"/>
            <a:r>
              <a:rPr lang="zh-CN" altLang="en-US" sz="1800" dirty="0"/>
              <a:t>数据库模式设计的关键</a:t>
            </a:r>
            <a:endParaRPr lang="en-US" altLang="zh-CN" sz="1800" dirty="0"/>
          </a:p>
          <a:p>
            <a:pPr>
              <a:buNone/>
            </a:pPr>
            <a:r>
              <a:rPr lang="en-US" altLang="zh-CN" sz="1800" dirty="0">
                <a:solidFill>
                  <a:srgbClr val="FF0000"/>
                </a:solidFill>
              </a:rPr>
              <a:t>2.  </a:t>
            </a:r>
            <a:r>
              <a:rPr lang="zh-CN" altLang="en-US" sz="1800" dirty="0">
                <a:solidFill>
                  <a:srgbClr val="FF0000"/>
                </a:solidFill>
              </a:rPr>
              <a:t>数据依赖的主要类型</a:t>
            </a:r>
            <a:endParaRPr lang="zh-CN" altLang="en-US" sz="1800" dirty="0">
              <a:solidFill>
                <a:srgbClr val="FF0000"/>
              </a:solidFill>
            </a:endParaRPr>
          </a:p>
          <a:p>
            <a:pPr lvl="1"/>
            <a:r>
              <a:rPr lang="zh-CN" altLang="en-US" sz="1800" dirty="0"/>
              <a:t>函数依赖</a:t>
            </a:r>
            <a:r>
              <a:rPr lang="en-US" altLang="zh-CN" sz="1800" dirty="0"/>
              <a:t>(Functional Dependency</a:t>
            </a:r>
            <a:r>
              <a:rPr lang="zh-CN" altLang="en-US" sz="1800" dirty="0"/>
              <a:t>，简记为</a:t>
            </a:r>
            <a:r>
              <a:rPr lang="en-US" altLang="zh-CN" sz="1800" dirty="0"/>
              <a:t>FD)</a:t>
            </a:r>
            <a:endParaRPr lang="zh-CN" altLang="en-US" sz="1800" dirty="0"/>
          </a:p>
          <a:p>
            <a:pPr lvl="1"/>
            <a:r>
              <a:rPr lang="zh-CN" altLang="en-US" sz="1800" dirty="0"/>
              <a:t>多值依赖</a:t>
            </a:r>
            <a:r>
              <a:rPr lang="en-US" altLang="zh-CN" sz="1800" dirty="0"/>
              <a:t>(</a:t>
            </a:r>
            <a:r>
              <a:rPr lang="en-US" altLang="zh-CN" sz="1800" dirty="0" err="1"/>
              <a:t>Multivalued</a:t>
            </a:r>
            <a:r>
              <a:rPr lang="en-US" altLang="zh-CN" sz="1800" dirty="0"/>
              <a:t> Dependency</a:t>
            </a:r>
            <a:r>
              <a:rPr lang="zh-CN" altLang="en-US" sz="1800" dirty="0"/>
              <a:t>，简记为</a:t>
            </a:r>
            <a:r>
              <a:rPr lang="en-US" altLang="zh-CN" sz="1800" dirty="0"/>
              <a:t>MVD)</a:t>
            </a:r>
            <a:endParaRPr lang="zh-CN" altLang="en-US" sz="1800" dirty="0"/>
          </a:p>
          <a:p>
            <a:pPr>
              <a:buNone/>
            </a:pPr>
            <a:r>
              <a:rPr lang="en-US" altLang="zh-CN" sz="1800" dirty="0">
                <a:solidFill>
                  <a:srgbClr val="FF0000"/>
                </a:solidFill>
              </a:rPr>
              <a:t>3. </a:t>
            </a:r>
            <a:r>
              <a:rPr lang="zh-CN" altLang="en-US" sz="1800" dirty="0">
                <a:solidFill>
                  <a:srgbClr val="FF0000"/>
                </a:solidFill>
              </a:rPr>
              <a:t>数据依赖对关系模式的影响</a:t>
            </a:r>
            <a:endParaRPr lang="en-US" altLang="zh-CN" sz="1800" dirty="0">
              <a:solidFill>
                <a:srgbClr val="FF0000"/>
              </a:solidFill>
            </a:endParaRPr>
          </a:p>
          <a:p>
            <a:pPr lvl="1"/>
            <a:r>
              <a:rPr lang="zh-CN" altLang="en-US" sz="1800" dirty="0"/>
              <a:t>不合适的数据依赖，造成插入异常、删除异常、更新异常和数据冗余问题</a:t>
            </a:r>
            <a:endParaRPr lang="zh-CN" altLang="en-US" sz="1800" dirty="0"/>
          </a:p>
          <a:p>
            <a:pPr lvl="1"/>
            <a:endParaRPr lang="zh-CN" altLang="en-US" sz="1600" dirty="0"/>
          </a:p>
        </p:txBody>
      </p:sp>
    </p:spTree>
  </p:cSld>
  <p:clrMapOvr>
    <a:masterClrMapping/>
  </p:clrMapOvr>
  <p:transition spd="slow">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85720" y="-29766"/>
            <a:ext cx="8001056" cy="853679"/>
          </a:xfrm>
        </p:spPr>
        <p:txBody>
          <a:bodyPr/>
          <a:lstStyle/>
          <a:p>
            <a:pPr lvl="1"/>
            <a:r>
              <a:rPr lang="zh-CN" altLang="en-US" sz="3200" dirty="0"/>
              <a:t>一个例子</a:t>
            </a:r>
            <a:endParaRPr lang="en-US" altLang="zh-CN" sz="3200" dirty="0"/>
          </a:p>
        </p:txBody>
      </p:sp>
      <p:sp>
        <p:nvSpPr>
          <p:cNvPr id="24579" name="Rectangle 3"/>
          <p:cNvSpPr>
            <a:spLocks noGrp="1" noChangeArrowheads="1"/>
          </p:cNvSpPr>
          <p:nvPr>
            <p:ph idx="1"/>
          </p:nvPr>
        </p:nvSpPr>
        <p:spPr>
          <a:xfrm>
            <a:off x="285720" y="642924"/>
            <a:ext cx="8401080" cy="3931457"/>
          </a:xfrm>
        </p:spPr>
        <p:txBody>
          <a:bodyPr/>
          <a:lstStyle/>
          <a:p>
            <a:pPr marL="342900" lvl="1" indent="-342900">
              <a:buFont typeface="Wingdings" panose="05000000000000000000" pitchFamily="2" charset="2"/>
              <a:buChar char="v"/>
            </a:pPr>
            <a:r>
              <a:rPr lang="en-US" altLang="zh-CN" sz="2000" dirty="0">
                <a:solidFill>
                  <a:srgbClr val="FF0000"/>
                </a:solidFill>
              </a:rPr>
              <a:t>STUDENT</a:t>
            </a:r>
            <a:r>
              <a:rPr lang="zh-CN" altLang="en-US" sz="2000" dirty="0">
                <a:solidFill>
                  <a:srgbClr val="FF0000"/>
                </a:solidFill>
              </a:rPr>
              <a:t>（</a:t>
            </a:r>
            <a:r>
              <a:rPr lang="en-US" altLang="zh-CN" sz="2000" dirty="0" err="1">
                <a:solidFill>
                  <a:srgbClr val="FF0000"/>
                </a:solidFill>
              </a:rPr>
              <a:t>Sno</a:t>
            </a:r>
            <a:r>
              <a:rPr lang="en-US" altLang="zh-CN" sz="2000" dirty="0">
                <a:solidFill>
                  <a:srgbClr val="FF0000"/>
                </a:solidFill>
              </a:rPr>
              <a:t> ,</a:t>
            </a:r>
            <a:r>
              <a:rPr lang="en-US" altLang="zh-CN" sz="2000" dirty="0" err="1">
                <a:solidFill>
                  <a:srgbClr val="FF0000"/>
                </a:solidFill>
              </a:rPr>
              <a:t>Sdept</a:t>
            </a:r>
            <a:r>
              <a:rPr lang="en-US" altLang="zh-CN" sz="2000" dirty="0">
                <a:solidFill>
                  <a:srgbClr val="FF0000"/>
                </a:solidFill>
              </a:rPr>
              <a:t>, </a:t>
            </a:r>
            <a:r>
              <a:rPr lang="en-US" altLang="zh-CN" sz="2000" dirty="0" err="1">
                <a:solidFill>
                  <a:srgbClr val="FF0000"/>
                </a:solidFill>
              </a:rPr>
              <a:t>Mname,Cname,Grade</a:t>
            </a:r>
            <a:r>
              <a:rPr lang="zh-CN" altLang="en-US" sz="2000" dirty="0">
                <a:solidFill>
                  <a:srgbClr val="FF0000"/>
                </a:solidFill>
              </a:rPr>
              <a:t>）</a:t>
            </a:r>
            <a:endParaRPr lang="zh-CN" altLang="en-US" sz="2000" dirty="0">
              <a:solidFill>
                <a:srgbClr val="FF0000"/>
              </a:solidFill>
            </a:endParaRPr>
          </a:p>
          <a:p>
            <a:r>
              <a:rPr lang="zh-CN" altLang="en-US" sz="2000" dirty="0"/>
              <a:t>属性组</a:t>
            </a:r>
            <a:r>
              <a:rPr lang="en-US" altLang="zh-CN" sz="2000" dirty="0"/>
              <a:t>U</a:t>
            </a:r>
            <a:r>
              <a:rPr lang="zh-CN" altLang="en-US" sz="2000" dirty="0"/>
              <a:t>上的数据依赖集合</a:t>
            </a:r>
            <a:r>
              <a:rPr lang="en-US" altLang="zh-CN" sz="2000" dirty="0"/>
              <a:t>F</a:t>
            </a:r>
            <a:r>
              <a:rPr lang="zh-CN" altLang="en-US" sz="2000" dirty="0"/>
              <a:t>：</a:t>
            </a:r>
            <a:endParaRPr lang="zh-CN" altLang="en-US" sz="2000" dirty="0"/>
          </a:p>
          <a:p>
            <a:pPr marL="0" indent="0">
              <a:buNone/>
            </a:pPr>
            <a:r>
              <a:rPr lang="zh-CN" altLang="en-US" sz="2000" dirty="0"/>
              <a:t>    </a:t>
            </a:r>
            <a:r>
              <a:rPr lang="en-US" altLang="zh-CN" sz="2000" dirty="0"/>
              <a:t>F </a:t>
            </a:r>
            <a:r>
              <a:rPr lang="zh-CN" altLang="en-US" sz="2000" dirty="0"/>
              <a:t>＝｛ </a:t>
            </a:r>
            <a:r>
              <a:rPr lang="en-US" altLang="zh-CN" sz="2000" dirty="0" err="1"/>
              <a:t>Sno→Sdept</a:t>
            </a:r>
            <a:r>
              <a:rPr lang="en-US" altLang="zh-CN" sz="2000" dirty="0"/>
              <a:t>, </a:t>
            </a:r>
            <a:r>
              <a:rPr lang="en-US" altLang="zh-CN" sz="2000" dirty="0" err="1"/>
              <a:t>Sdept→Mname</a:t>
            </a:r>
            <a:r>
              <a:rPr lang="en-US" altLang="zh-CN" sz="2000" dirty="0"/>
              <a:t>, (</a:t>
            </a:r>
            <a:r>
              <a:rPr lang="en-US" altLang="zh-CN" sz="2000" dirty="0" err="1"/>
              <a:t>Sno</a:t>
            </a:r>
            <a:r>
              <a:rPr lang="en-US" altLang="zh-CN" sz="2000" dirty="0"/>
              <a:t>, </a:t>
            </a:r>
            <a:r>
              <a:rPr lang="en-US" altLang="zh-CN" sz="2000" dirty="0" err="1"/>
              <a:t>Cname</a:t>
            </a:r>
            <a:r>
              <a:rPr lang="en-US" altLang="zh-CN" sz="2000" dirty="0"/>
              <a:t>)→Grade</a:t>
            </a:r>
            <a:r>
              <a:rPr lang="zh-CN" altLang="en-US" sz="2000" dirty="0"/>
              <a:t>｝</a:t>
            </a:r>
            <a:endParaRPr lang="en-US" altLang="zh-CN" sz="2000" dirty="0"/>
          </a:p>
          <a:p>
            <a:pPr marL="0" indent="0">
              <a:buNone/>
            </a:pPr>
            <a:endParaRPr lang="en-US" altLang="zh-CN" sz="2000" dirty="0"/>
          </a:p>
          <a:p>
            <a:pPr marL="0" indent="0">
              <a:buNone/>
            </a:pPr>
            <a:endParaRPr lang="en-US" altLang="zh-CN" sz="2000" dirty="0"/>
          </a:p>
          <a:p>
            <a:pPr marL="0" indent="0">
              <a:buNone/>
            </a:pPr>
            <a:endParaRPr lang="en-US" altLang="zh-CN" sz="2000" dirty="0"/>
          </a:p>
          <a:p>
            <a:pPr marL="0" indent="0">
              <a:buNone/>
            </a:pPr>
            <a:endParaRPr lang="en-US" altLang="zh-CN" sz="2000" dirty="0"/>
          </a:p>
          <a:p>
            <a:pPr marL="0" indent="0">
              <a:buNone/>
            </a:pPr>
            <a:r>
              <a:rPr lang="zh-CN" altLang="en-US" sz="2000" dirty="0"/>
              <a:t>存在一些不完全的函数依赖、传递函数依赖等。</a:t>
            </a:r>
            <a:endParaRPr lang="en-US" altLang="zh-CN" sz="2000" dirty="0"/>
          </a:p>
          <a:p>
            <a:pPr marL="0" indent="0"/>
            <a:r>
              <a:rPr lang="zh-CN" altLang="en-US" sz="2400" dirty="0"/>
              <a:t>如何解决关系模式中存在的问题？</a:t>
            </a:r>
            <a:endParaRPr lang="en-US" altLang="zh-CN" sz="2400" dirty="0"/>
          </a:p>
          <a:p>
            <a:pPr marL="0" indent="0">
              <a:buNone/>
            </a:pPr>
            <a:r>
              <a:rPr lang="en-US" altLang="zh-CN" sz="2000" dirty="0">
                <a:solidFill>
                  <a:srgbClr val="C00000"/>
                </a:solidFill>
              </a:rPr>
              <a:t>    </a:t>
            </a:r>
            <a:r>
              <a:rPr lang="zh-CN" altLang="en-US" sz="2000" dirty="0">
                <a:solidFill>
                  <a:srgbClr val="C00000"/>
                </a:solidFill>
              </a:rPr>
              <a:t>规范化理论</a:t>
            </a:r>
            <a:r>
              <a:rPr lang="en-US" altLang="zh-CN" sz="2000" dirty="0">
                <a:solidFill>
                  <a:srgbClr val="C00000"/>
                </a:solidFill>
              </a:rPr>
              <a:t>——</a:t>
            </a:r>
            <a:r>
              <a:rPr lang="zh-CN" altLang="en-US" sz="2000" dirty="0"/>
              <a:t>找出并消除关系模式中不合适的数据依赖，解决插入异常、删除异常、更新异常和数据冗余问题。</a:t>
            </a:r>
            <a:endParaRPr lang="zh-CN" altLang="en-US" sz="2000" dirty="0"/>
          </a:p>
          <a:p>
            <a:pPr marL="0" indent="0">
              <a:buNone/>
            </a:pPr>
            <a:endParaRPr lang="zh-CN" altLang="en-US" sz="1800" dirty="0"/>
          </a:p>
          <a:p>
            <a:pPr marL="0" indent="0">
              <a:buNone/>
            </a:pPr>
            <a:endParaRPr lang="zh-CN" altLang="en-US" sz="1600" dirty="0">
              <a:solidFill>
                <a:srgbClr val="0070C0"/>
              </a:solidFill>
            </a:endParaRPr>
          </a:p>
        </p:txBody>
      </p:sp>
      <p:pic>
        <p:nvPicPr>
          <p:cNvPr id="535554" name="Picture 2" descr="6z1"/>
          <p:cNvPicPr>
            <a:picLocks noChangeAspect="1" noChangeArrowheads="1"/>
          </p:cNvPicPr>
          <p:nvPr/>
        </p:nvPicPr>
        <p:blipFill>
          <a:blip r:embed="rId1"/>
          <a:srcRect/>
          <a:stretch>
            <a:fillRect/>
          </a:stretch>
        </p:blipFill>
        <p:spPr bwMode="auto">
          <a:xfrm>
            <a:off x="1181253" y="1714494"/>
            <a:ext cx="2533491" cy="1143008"/>
          </a:xfrm>
          <a:prstGeom prst="rect">
            <a:avLst/>
          </a:prstGeom>
          <a:noFill/>
          <a:ln w="9525">
            <a:noFill/>
            <a:miter lim="800000"/>
            <a:headEnd/>
            <a:tailEnd/>
          </a:ln>
        </p:spPr>
      </p:pic>
    </p:spTree>
  </p:cSld>
  <p:clrMapOvr>
    <a:masterClrMapping/>
  </p:clrMapOvr>
  <p:transition spd="slow">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a:t>6.1 </a:t>
            </a:r>
            <a:r>
              <a:rPr lang="zh-CN" altLang="en-US"/>
              <a:t>问题的提出</a:t>
            </a:r>
            <a:endParaRPr lang="zh-CN" altLang="en-US"/>
          </a:p>
        </p:txBody>
      </p:sp>
      <p:sp>
        <p:nvSpPr>
          <p:cNvPr id="16387" name="Rectangle 3"/>
          <p:cNvSpPr>
            <a:spLocks noGrp="1" noChangeArrowheads="1"/>
          </p:cNvSpPr>
          <p:nvPr>
            <p:ph idx="1"/>
          </p:nvPr>
        </p:nvSpPr>
        <p:spPr>
          <a:xfrm>
            <a:off x="611560" y="1004888"/>
            <a:ext cx="8075240" cy="3640931"/>
          </a:xfrm>
        </p:spPr>
        <p:txBody>
          <a:bodyPr/>
          <a:lstStyle/>
          <a:p>
            <a:pPr marL="0" indent="0">
              <a:buNone/>
            </a:pPr>
            <a:r>
              <a:rPr lang="en-US" altLang="zh-CN" dirty="0"/>
              <a:t>1.</a:t>
            </a:r>
            <a:r>
              <a:rPr lang="zh-CN" altLang="en-US" dirty="0"/>
              <a:t>问题</a:t>
            </a:r>
            <a:r>
              <a:rPr lang="en-US" altLang="zh-CN" dirty="0"/>
              <a:t>——</a:t>
            </a:r>
            <a:r>
              <a:rPr lang="zh-CN" altLang="en-US" dirty="0"/>
              <a:t>什么是一个好的数据库逻辑设计</a:t>
            </a:r>
            <a:endParaRPr lang="en-US" altLang="zh-CN" dirty="0"/>
          </a:p>
          <a:p>
            <a:pPr marL="0" indent="0">
              <a:buNone/>
            </a:pPr>
            <a:r>
              <a:rPr lang="en-US" altLang="zh-CN" dirty="0"/>
              <a:t>2.</a:t>
            </a:r>
            <a:r>
              <a:rPr lang="zh-CN" altLang="en-US" dirty="0"/>
              <a:t>什么是数据依赖</a:t>
            </a:r>
            <a:endParaRPr lang="zh-CN" altLang="en-US" dirty="0"/>
          </a:p>
          <a:p>
            <a:pPr marL="0" indent="0">
              <a:buNone/>
            </a:pPr>
            <a:r>
              <a:rPr lang="en-US" altLang="zh-CN" dirty="0">
                <a:solidFill>
                  <a:srgbClr val="FF0000"/>
                </a:solidFill>
              </a:rPr>
              <a:t>3.</a:t>
            </a:r>
            <a:r>
              <a:rPr lang="zh-CN" altLang="en-US" dirty="0">
                <a:solidFill>
                  <a:srgbClr val="FF0000"/>
                </a:solidFill>
              </a:rPr>
              <a:t>关系模式的简化表示</a:t>
            </a:r>
            <a:endParaRPr lang="en-US" altLang="zh-CN" dirty="0">
              <a:solidFill>
                <a:srgbClr val="FF0000"/>
              </a:solidFill>
            </a:endParaRPr>
          </a:p>
        </p:txBody>
      </p:sp>
    </p:spTree>
  </p:cSld>
  <p:clrMapOvr>
    <a:masterClrMapping/>
  </p:clrMapOvr>
  <p:transition spd="slow">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sz="3600" dirty="0"/>
              <a:t>3. </a:t>
            </a:r>
            <a:r>
              <a:rPr lang="zh-CN" altLang="en-US" sz="3600" dirty="0"/>
              <a:t>关系模式的简化表示</a:t>
            </a:r>
            <a:endParaRPr lang="zh-CN" altLang="en-US" sz="3600" dirty="0"/>
          </a:p>
        </p:txBody>
      </p:sp>
      <p:sp>
        <p:nvSpPr>
          <p:cNvPr id="19459" name="Rectangle 3"/>
          <p:cNvSpPr>
            <a:spLocks noGrp="1" noChangeArrowheads="1"/>
          </p:cNvSpPr>
          <p:nvPr>
            <p:ph idx="1"/>
          </p:nvPr>
        </p:nvSpPr>
        <p:spPr>
          <a:xfrm>
            <a:off x="142844" y="714362"/>
            <a:ext cx="8401080" cy="3640931"/>
          </a:xfrm>
        </p:spPr>
        <p:txBody>
          <a:bodyPr/>
          <a:lstStyle/>
          <a:p>
            <a:pPr>
              <a:buNone/>
            </a:pPr>
            <a:r>
              <a:rPr lang="en-US" altLang="zh-CN" sz="1800" dirty="0">
                <a:solidFill>
                  <a:srgbClr val="FF0000"/>
                </a:solidFill>
              </a:rPr>
              <a:t>1. </a:t>
            </a:r>
            <a:r>
              <a:rPr lang="zh-CN" altLang="en-US" sz="1800" dirty="0">
                <a:solidFill>
                  <a:srgbClr val="FF0000"/>
                </a:solidFill>
              </a:rPr>
              <a:t>关系模式的形式化定义</a:t>
            </a:r>
            <a:endParaRPr lang="en-US" altLang="zh-CN" sz="1800" dirty="0">
              <a:solidFill>
                <a:srgbClr val="FF0000"/>
              </a:solidFill>
            </a:endParaRPr>
          </a:p>
          <a:p>
            <a:pPr>
              <a:buNone/>
            </a:pPr>
            <a:r>
              <a:rPr lang="en-US" altLang="zh-CN" sz="1800" dirty="0">
                <a:solidFill>
                  <a:srgbClr val="FF0000"/>
                </a:solidFill>
              </a:rPr>
              <a:t>      </a:t>
            </a:r>
            <a:r>
              <a:rPr lang="en-US" altLang="zh-CN" sz="2000" dirty="0">
                <a:solidFill>
                  <a:srgbClr val="FF0000"/>
                </a:solidFill>
                <a:effectLst>
                  <a:outerShdw blurRad="38100" dist="38100" dir="2700000" algn="tl">
                    <a:srgbClr val="000000">
                      <a:alpha val="43137"/>
                    </a:srgbClr>
                  </a:outerShdw>
                </a:effectLst>
              </a:rPr>
              <a:t>R(U, D, DOM, F)</a:t>
            </a:r>
            <a:endParaRPr lang="en-US" altLang="zh-CN" sz="1800" dirty="0">
              <a:solidFill>
                <a:srgbClr val="FF0000"/>
              </a:solidFill>
              <a:effectLst>
                <a:outerShdw blurRad="38100" dist="38100" dir="2700000" algn="tl">
                  <a:srgbClr val="000000">
                    <a:alpha val="43137"/>
                  </a:srgbClr>
                </a:outerShdw>
              </a:effectLst>
            </a:endParaRPr>
          </a:p>
          <a:p>
            <a:pPr lvl="1"/>
            <a:r>
              <a:rPr lang="en-US" altLang="zh-CN" sz="1800" dirty="0"/>
              <a:t>R</a:t>
            </a:r>
            <a:r>
              <a:rPr lang="zh-CN" altLang="en-US" sz="1800" dirty="0"/>
              <a:t>：关系名，是符号化的元组语义</a:t>
            </a:r>
            <a:endParaRPr lang="zh-CN" altLang="en-US" sz="1800" dirty="0"/>
          </a:p>
          <a:p>
            <a:pPr lvl="1"/>
            <a:r>
              <a:rPr lang="en-US" altLang="zh-CN" sz="1800" dirty="0"/>
              <a:t>U</a:t>
            </a:r>
            <a:r>
              <a:rPr lang="zh-CN" altLang="en-US" sz="1800" dirty="0"/>
              <a:t>：该关系的属性集合</a:t>
            </a:r>
            <a:endParaRPr lang="zh-CN" altLang="en-US" sz="1800" dirty="0"/>
          </a:p>
          <a:p>
            <a:pPr lvl="1"/>
            <a:r>
              <a:rPr lang="en-US" altLang="zh-CN" sz="1800" dirty="0"/>
              <a:t>D</a:t>
            </a:r>
            <a:r>
              <a:rPr lang="zh-CN" altLang="en-US" sz="1800" dirty="0"/>
              <a:t>：属性组</a:t>
            </a:r>
            <a:r>
              <a:rPr lang="en-US" altLang="zh-CN" sz="1800" dirty="0"/>
              <a:t>U</a:t>
            </a:r>
            <a:r>
              <a:rPr lang="zh-CN" altLang="en-US" sz="1800" dirty="0"/>
              <a:t>中属性所来自的域</a:t>
            </a:r>
            <a:endParaRPr lang="zh-CN" altLang="en-US" sz="1800" dirty="0"/>
          </a:p>
          <a:p>
            <a:pPr lvl="1"/>
            <a:r>
              <a:rPr lang="en-US" altLang="zh-CN" sz="1800" dirty="0"/>
              <a:t>DOM</a:t>
            </a:r>
            <a:r>
              <a:rPr lang="zh-CN" altLang="en-US" sz="1800" dirty="0"/>
              <a:t>：属性向域的映象集合</a:t>
            </a:r>
            <a:endParaRPr lang="zh-CN" altLang="en-US" sz="1800" dirty="0"/>
          </a:p>
          <a:p>
            <a:pPr lvl="1"/>
            <a:r>
              <a:rPr lang="en-US" altLang="zh-CN" sz="1800" dirty="0"/>
              <a:t>F</a:t>
            </a:r>
            <a:r>
              <a:rPr lang="zh-CN" altLang="en-US" sz="1800" dirty="0"/>
              <a:t>：属性间数据的依赖关系集合</a:t>
            </a:r>
            <a:endParaRPr lang="en-US" altLang="zh-CN" sz="1800" dirty="0"/>
          </a:p>
          <a:p>
            <a:pPr lvl="1">
              <a:buNone/>
            </a:pPr>
            <a:r>
              <a:rPr lang="zh-CN" altLang="en-US" sz="1800" dirty="0"/>
              <a:t>限定了组成关系的各个元组必须满足的完整性约束条件</a:t>
            </a:r>
            <a:endParaRPr lang="zh-CN" altLang="en-US" sz="1800" dirty="0">
              <a:solidFill>
                <a:srgbClr val="FF0000"/>
              </a:solidFill>
            </a:endParaRPr>
          </a:p>
          <a:p>
            <a:pPr>
              <a:buNone/>
            </a:pPr>
            <a:r>
              <a:rPr lang="en-US" altLang="zh-CN" sz="1800" dirty="0">
                <a:solidFill>
                  <a:srgbClr val="FF0000"/>
                </a:solidFill>
              </a:rPr>
              <a:t>2. </a:t>
            </a:r>
            <a:r>
              <a:rPr lang="zh-CN" altLang="en-US" sz="1800" dirty="0">
                <a:solidFill>
                  <a:srgbClr val="FF0000"/>
                </a:solidFill>
              </a:rPr>
              <a:t>关系模式的简化表示</a:t>
            </a:r>
            <a:endParaRPr lang="en-US" altLang="zh-CN" sz="1800" dirty="0">
              <a:solidFill>
                <a:srgbClr val="FF0000"/>
              </a:solidFill>
            </a:endParaRPr>
          </a:p>
          <a:p>
            <a:pPr>
              <a:buNone/>
            </a:pPr>
            <a:r>
              <a:rPr lang="en-US" altLang="zh-CN" sz="1800" dirty="0">
                <a:solidFill>
                  <a:srgbClr val="FF0000"/>
                </a:solidFill>
              </a:rPr>
              <a:t>      R(U, F)</a:t>
            </a:r>
            <a:endParaRPr lang="en-US" altLang="zh-CN" sz="1800" dirty="0">
              <a:solidFill>
                <a:srgbClr val="FF0000"/>
              </a:solidFill>
            </a:endParaRPr>
          </a:p>
          <a:p>
            <a:pPr>
              <a:buNone/>
            </a:pPr>
            <a:r>
              <a:rPr lang="zh-CN" altLang="en-US" sz="1800" dirty="0"/>
              <a:t>    将关系模式简化为一个三元组，影响数据库模式设计的主要是</a:t>
            </a:r>
            <a:r>
              <a:rPr lang="en-US" altLang="zh-CN" sz="1800" dirty="0"/>
              <a:t>U</a:t>
            </a:r>
            <a:r>
              <a:rPr lang="zh-CN" altLang="en-US" sz="1800" dirty="0"/>
              <a:t>和</a:t>
            </a:r>
            <a:r>
              <a:rPr lang="en-US" altLang="zh-CN" sz="1800" dirty="0"/>
              <a:t>F</a:t>
            </a:r>
            <a:endParaRPr lang="en-US" altLang="zh-CN" sz="1800" dirty="0"/>
          </a:p>
          <a:p>
            <a:pPr>
              <a:buNone/>
            </a:pPr>
            <a:r>
              <a:rPr lang="en-US" altLang="zh-CN" sz="1800" dirty="0"/>
              <a:t>    </a:t>
            </a:r>
            <a:r>
              <a:rPr lang="zh-CN" altLang="en-US" sz="1800" dirty="0"/>
              <a:t>当且仅当</a:t>
            </a:r>
            <a:r>
              <a:rPr lang="en-US" altLang="zh-CN" sz="1800" dirty="0"/>
              <a:t>U</a:t>
            </a:r>
            <a:r>
              <a:rPr lang="zh-CN" altLang="en-US" sz="1800" dirty="0"/>
              <a:t>上的一个关系 </a:t>
            </a:r>
            <a:r>
              <a:rPr lang="en-US" altLang="zh-CN" sz="1800" dirty="0"/>
              <a:t>r </a:t>
            </a:r>
            <a:r>
              <a:rPr lang="zh-CN" altLang="en-US" sz="1800" dirty="0"/>
              <a:t>满足</a:t>
            </a:r>
            <a:r>
              <a:rPr lang="en-US" altLang="zh-CN" sz="1800" dirty="0"/>
              <a:t>F</a:t>
            </a:r>
            <a:r>
              <a:rPr lang="zh-CN" altLang="en-US" sz="1800" dirty="0"/>
              <a:t>时，</a:t>
            </a:r>
            <a:r>
              <a:rPr lang="en-US" altLang="zh-CN" sz="1800" dirty="0"/>
              <a:t>r </a:t>
            </a:r>
            <a:r>
              <a:rPr lang="zh-CN" altLang="en-US" sz="1800" dirty="0"/>
              <a:t>称为关系模式</a:t>
            </a:r>
            <a:r>
              <a:rPr lang="en-US" altLang="zh-CN" sz="1800" dirty="0"/>
              <a:t>R(U, F)</a:t>
            </a:r>
            <a:r>
              <a:rPr lang="zh-CN" altLang="en-US" sz="1800" dirty="0"/>
              <a:t>的一个关系</a:t>
            </a:r>
            <a:endParaRPr lang="en-US" altLang="zh-CN" sz="1800" dirty="0"/>
          </a:p>
          <a:p>
            <a:pPr lvl="1">
              <a:buNone/>
            </a:pPr>
            <a:endParaRPr lang="zh-CN" altLang="en-US" sz="1600" dirty="0"/>
          </a:p>
        </p:txBody>
      </p:sp>
    </p:spTree>
  </p:cSld>
  <p:clrMapOvr>
    <a:masterClrMapping/>
  </p:clrMapOvr>
  <p:transition spd="slow">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57224" y="0"/>
            <a:ext cx="7772400" cy="1021556"/>
          </a:xfrm>
        </p:spPr>
        <p:txBody>
          <a:bodyPr/>
          <a:lstStyle/>
          <a:p>
            <a:pPr algn="ctr"/>
            <a:r>
              <a:rPr lang="zh-CN" altLang="en-US" sz="3600" dirty="0"/>
              <a:t>第六章 关系数据理论</a:t>
            </a:r>
            <a:endParaRPr lang="zh-CN" altLang="en-US" sz="3600" dirty="0"/>
          </a:p>
        </p:txBody>
      </p:sp>
      <p:sp>
        <p:nvSpPr>
          <p:cNvPr id="14339" name="Rectangle 3"/>
          <p:cNvSpPr>
            <a:spLocks noGrp="1" noChangeArrowheads="1"/>
          </p:cNvSpPr>
          <p:nvPr>
            <p:ph type="body" idx="4294967295"/>
          </p:nvPr>
        </p:nvSpPr>
        <p:spPr>
          <a:xfrm>
            <a:off x="285720" y="857238"/>
            <a:ext cx="8501122" cy="1871830"/>
          </a:xfrm>
        </p:spPr>
        <p:txBody>
          <a:bodyPr/>
          <a:lstStyle/>
          <a:p>
            <a:r>
              <a:rPr lang="en-US" altLang="zh-CN" dirty="0"/>
              <a:t>6.1 </a:t>
            </a:r>
            <a:r>
              <a:rPr lang="zh-CN" altLang="en-US" dirty="0"/>
              <a:t>问题的提出</a:t>
            </a:r>
            <a:r>
              <a:rPr lang="en-US" altLang="zh-CN" dirty="0"/>
              <a:t>—</a:t>
            </a:r>
            <a:r>
              <a:rPr lang="zh-CN" altLang="en-US" dirty="0"/>
              <a:t>为什么要学习关系数据理论</a:t>
            </a:r>
            <a:endParaRPr lang="zh-CN" altLang="en-US" dirty="0"/>
          </a:p>
          <a:p>
            <a:r>
              <a:rPr lang="en-US" altLang="zh-CN" dirty="0">
                <a:solidFill>
                  <a:srgbClr val="FF0000"/>
                </a:solidFill>
              </a:rPr>
              <a:t>6.2 </a:t>
            </a:r>
            <a:r>
              <a:rPr lang="zh-CN" altLang="en-US" dirty="0">
                <a:solidFill>
                  <a:srgbClr val="FF0000"/>
                </a:solidFill>
              </a:rPr>
              <a:t>规范化</a:t>
            </a:r>
            <a:endParaRPr lang="zh-CN" altLang="en-US" dirty="0">
              <a:solidFill>
                <a:srgbClr val="FF0000"/>
              </a:solidFill>
            </a:endParaRPr>
          </a:p>
          <a:p>
            <a:r>
              <a:rPr lang="en-US" altLang="zh-CN" dirty="0"/>
              <a:t>6.3 </a:t>
            </a:r>
            <a:r>
              <a:rPr lang="zh-CN" altLang="en-US" dirty="0"/>
              <a:t>数据依赖的公理系统</a:t>
            </a:r>
            <a:endParaRPr lang="zh-CN" altLang="en-US" dirty="0"/>
          </a:p>
          <a:p>
            <a:r>
              <a:rPr lang="en-US" altLang="zh-CN" dirty="0"/>
              <a:t>6.4 </a:t>
            </a:r>
            <a:r>
              <a:rPr lang="zh-CN" altLang="en-US" dirty="0"/>
              <a:t>模式的分解</a:t>
            </a:r>
            <a:endParaRPr lang="zh-CN" altLang="en-US" dirty="0"/>
          </a:p>
        </p:txBody>
      </p:sp>
    </p:spTree>
  </p:cSld>
  <p:clrMapOvr>
    <a:masterClrMapping/>
  </p:clrMapOvr>
  <p:transition spd="slow">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endParaRPr lang="zh-CN" altLang="en-US" sz="2800" dirty="0"/>
          </a:p>
          <a:p>
            <a:pPr>
              <a:spcBef>
                <a:spcPts val="0"/>
              </a:spcBef>
            </a:pPr>
            <a:r>
              <a:rPr lang="en-US" altLang="zh-CN" sz="2800" dirty="0"/>
              <a:t>6.2.4 </a:t>
            </a:r>
            <a:r>
              <a:rPr lang="zh-CN" altLang="en-US" sz="2800" dirty="0"/>
              <a:t>第二范式（</a:t>
            </a:r>
            <a:r>
              <a:rPr lang="en-US" altLang="zh-CN" sz="2800" dirty="0"/>
              <a:t>2NF</a:t>
            </a:r>
            <a:r>
              <a:rPr lang="zh-CN" altLang="en-US" sz="2800" dirty="0"/>
              <a:t>）</a:t>
            </a:r>
            <a:endParaRPr lang="zh-CN" altLang="en-US" sz="2800" dirty="0"/>
          </a:p>
          <a:p>
            <a:pPr>
              <a:spcBef>
                <a:spcPts val="0"/>
              </a:spcBef>
            </a:pPr>
            <a:r>
              <a:rPr lang="en-US" altLang="zh-CN" sz="2800" dirty="0"/>
              <a:t>6.2.5 </a:t>
            </a:r>
            <a:r>
              <a:rPr lang="zh-CN" altLang="en-US" sz="2800" dirty="0"/>
              <a:t>第三范式（</a:t>
            </a:r>
            <a:r>
              <a:rPr lang="en-US" altLang="zh-CN" sz="2800" dirty="0"/>
              <a:t>3NF</a:t>
            </a:r>
            <a:r>
              <a:rPr lang="zh-CN" altLang="en-US" sz="2800" dirty="0"/>
              <a:t>）</a:t>
            </a:r>
            <a:endParaRPr lang="zh-CN" altLang="en-US" sz="2800" dirty="0"/>
          </a:p>
          <a:p>
            <a:pPr>
              <a:spcBef>
                <a:spcPts val="0"/>
              </a:spcBef>
            </a:pPr>
            <a:r>
              <a:rPr lang="en-US" altLang="zh-CN" sz="2800" dirty="0"/>
              <a:t>6.2.6 BC</a:t>
            </a:r>
            <a:r>
              <a:rPr lang="zh-CN" altLang="en-US" sz="2800" dirty="0"/>
              <a:t>范式（</a:t>
            </a:r>
            <a:r>
              <a:rPr lang="en-US" altLang="zh-CN" sz="2800" dirty="0"/>
              <a:t>BCNF</a:t>
            </a:r>
            <a:r>
              <a:rPr lang="zh-CN" altLang="en-US" sz="2800" dirty="0"/>
              <a:t>）</a:t>
            </a:r>
            <a:endParaRPr lang="zh-CN" altLang="en-US" sz="2800" dirty="0"/>
          </a:p>
          <a:p>
            <a:pPr lvl="1">
              <a:spcBef>
                <a:spcPts val="0"/>
              </a:spcBef>
            </a:pPr>
            <a:r>
              <a:rPr lang="zh-CN" altLang="en-US" sz="2600" dirty="0"/>
              <a:t>*</a:t>
            </a:r>
            <a:r>
              <a:rPr lang="en-US" altLang="zh-CN" sz="2600" dirty="0"/>
              <a:t>6.2.7 </a:t>
            </a:r>
            <a:r>
              <a:rPr lang="zh-CN" altLang="en-US" sz="2600" dirty="0"/>
              <a:t>多值依赖</a:t>
            </a:r>
            <a:endParaRPr lang="en-US" altLang="zh-CN" sz="2600" dirty="0"/>
          </a:p>
          <a:p>
            <a:pPr lvl="1">
              <a:spcBef>
                <a:spcPts val="0"/>
              </a:spcBef>
            </a:pPr>
            <a:r>
              <a:rPr lang="zh-CN" altLang="en-US" sz="2600" dirty="0"/>
              <a:t>*</a:t>
            </a:r>
            <a:r>
              <a:rPr lang="en-US" altLang="zh-CN" sz="2600" dirty="0"/>
              <a:t>6.2.8 </a:t>
            </a:r>
            <a:r>
              <a:rPr lang="zh-CN" altLang="en-US" sz="2600" dirty="0"/>
              <a:t>第四范式（</a:t>
            </a:r>
            <a:r>
              <a:rPr lang="en-US" altLang="zh-CN" sz="2600" dirty="0"/>
              <a:t>4NF</a:t>
            </a:r>
            <a:r>
              <a:rPr lang="zh-CN" altLang="en-US" sz="2600" dirty="0"/>
              <a:t>）</a:t>
            </a:r>
            <a:endParaRPr lang="zh-CN" altLang="en-US" sz="2600" dirty="0"/>
          </a:p>
          <a:p>
            <a:pPr>
              <a:spcBef>
                <a:spcPts val="0"/>
              </a:spcBef>
            </a:pPr>
            <a:r>
              <a:rPr lang="en-US" altLang="zh-CN" sz="2800" dirty="0"/>
              <a:t>6.2.9 </a:t>
            </a:r>
            <a:r>
              <a:rPr lang="zh-CN" altLang="en-US" sz="2800" dirty="0"/>
              <a:t>规范化小结</a:t>
            </a:r>
            <a:endParaRPr lang="zh-CN" altLang="en-US"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kumimoji="0" lang="en-US" altLang="zh-CN" sz="3600" b="1" i="0" u="none" strike="noStrike" kern="0" cap="all" spc="0" normalizeH="0" noProof="0" dirty="0">
                <a:ln>
                  <a:noFill/>
                </a:ln>
                <a:solidFill>
                  <a:schemeClr val="bg1"/>
                </a:solidFill>
                <a:effectLst/>
                <a:uLnTx/>
                <a:uFillTx/>
                <a:latin typeface="+mj-lt"/>
                <a:ea typeface="+mj-ea"/>
                <a:cs typeface="+mj-cs"/>
              </a:rPr>
              <a:t>  </a:t>
            </a:r>
            <a:r>
              <a:rPr kumimoji="0" lang="zh-CN" altLang="en-US" sz="3600" b="1" i="0" u="none" strike="noStrike" kern="0" cap="all" spc="0" normalizeH="0" noProof="0" dirty="0">
                <a:ln>
                  <a:noFill/>
                </a:ln>
                <a:solidFill>
                  <a:schemeClr val="bg1"/>
                </a:solidFill>
                <a:effectLst/>
                <a:uLnTx/>
                <a:uFillTx/>
                <a:latin typeface="+mj-lt"/>
                <a:ea typeface="+mj-ea"/>
                <a:cs typeface="+mj-cs"/>
              </a:rPr>
              <a:t>规范化</a:t>
            </a:r>
            <a:endParaRPr kumimoji="0" lang="zh-CN" altLang="en-US" sz="3600" b="1" i="0" u="none" strike="noStrike" kern="0" cap="all" spc="0" normalizeH="0" baseline="0" noProof="0" dirty="0">
              <a:ln>
                <a:noFill/>
              </a:ln>
              <a:solidFill>
                <a:schemeClr val="bg1"/>
              </a:solidFill>
              <a:effectLst/>
              <a:uLnTx/>
              <a:uFillTx/>
              <a:latin typeface="+mj-lt"/>
              <a:ea typeface="+mj-ea"/>
              <a:cs typeface="+mj-cs"/>
            </a:endParaRPr>
          </a:p>
        </p:txBody>
      </p:sp>
    </p:spTree>
  </p:cSld>
  <p:clrMapOvr>
    <a:masterClrMapping/>
  </p:clrMapOvr>
  <p:transition spd="slow">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solidFill>
                  <a:srgbClr val="FF0000"/>
                </a:solidFill>
              </a:rPr>
              <a:t>6.2.1 </a:t>
            </a:r>
            <a:r>
              <a:rPr lang="zh-CN" altLang="en-US" sz="2800" dirty="0">
                <a:solidFill>
                  <a:srgbClr val="FF0000"/>
                </a:solidFill>
              </a:rPr>
              <a:t>函数依赖</a:t>
            </a:r>
            <a:endParaRPr lang="en-US" altLang="zh-CN" sz="2800" dirty="0">
              <a:solidFill>
                <a:srgbClr val="FF0000"/>
              </a:solidFill>
            </a:endParaRPr>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endParaRPr lang="zh-CN" altLang="en-US" sz="2800" dirty="0"/>
          </a:p>
          <a:p>
            <a:pPr>
              <a:spcBef>
                <a:spcPts val="0"/>
              </a:spcBef>
            </a:pPr>
            <a:r>
              <a:rPr lang="en-US" altLang="zh-CN" sz="2800" dirty="0"/>
              <a:t>6.2.4 </a:t>
            </a:r>
            <a:r>
              <a:rPr lang="zh-CN" altLang="en-US" sz="2800" dirty="0"/>
              <a:t>第二范式（</a:t>
            </a:r>
            <a:r>
              <a:rPr lang="en-US" altLang="zh-CN" sz="2800" dirty="0"/>
              <a:t>2NF</a:t>
            </a:r>
            <a:r>
              <a:rPr lang="zh-CN" altLang="en-US" sz="2800" dirty="0"/>
              <a:t>）</a:t>
            </a:r>
            <a:endParaRPr lang="zh-CN" altLang="en-US" sz="2800" dirty="0"/>
          </a:p>
          <a:p>
            <a:pPr>
              <a:spcBef>
                <a:spcPts val="0"/>
              </a:spcBef>
            </a:pPr>
            <a:r>
              <a:rPr lang="en-US" altLang="zh-CN" sz="2800" dirty="0"/>
              <a:t>6.2.5 </a:t>
            </a:r>
            <a:r>
              <a:rPr lang="zh-CN" altLang="en-US" sz="2800" dirty="0"/>
              <a:t>第三范式（</a:t>
            </a:r>
            <a:r>
              <a:rPr lang="en-US" altLang="zh-CN" sz="2800" dirty="0"/>
              <a:t>3NF</a:t>
            </a:r>
            <a:r>
              <a:rPr lang="zh-CN" altLang="en-US" sz="2800" dirty="0"/>
              <a:t>）</a:t>
            </a:r>
            <a:endParaRPr lang="zh-CN" altLang="en-US" sz="2800" dirty="0"/>
          </a:p>
          <a:p>
            <a:pPr>
              <a:spcBef>
                <a:spcPts val="0"/>
              </a:spcBef>
            </a:pPr>
            <a:r>
              <a:rPr lang="en-US" altLang="zh-CN" sz="2800" dirty="0"/>
              <a:t>6.2.6 BC</a:t>
            </a:r>
            <a:r>
              <a:rPr lang="zh-CN" altLang="en-US" sz="2800" dirty="0"/>
              <a:t>范式（</a:t>
            </a:r>
            <a:r>
              <a:rPr lang="en-US" altLang="zh-CN" sz="2800" dirty="0"/>
              <a:t>BCNF</a:t>
            </a:r>
            <a:r>
              <a:rPr lang="zh-CN" altLang="en-US" sz="2800" dirty="0"/>
              <a:t>）</a:t>
            </a:r>
            <a:endParaRPr lang="zh-CN" altLang="en-US" sz="2800" dirty="0"/>
          </a:p>
          <a:p>
            <a:pPr lvl="1">
              <a:spcBef>
                <a:spcPts val="0"/>
              </a:spcBef>
            </a:pPr>
            <a:r>
              <a:rPr lang="zh-CN" altLang="en-US" sz="2600" dirty="0"/>
              <a:t>*</a:t>
            </a:r>
            <a:r>
              <a:rPr lang="en-US" altLang="zh-CN" sz="2600" dirty="0"/>
              <a:t>6.2.7 </a:t>
            </a:r>
            <a:r>
              <a:rPr lang="zh-CN" altLang="en-US" sz="2600" dirty="0"/>
              <a:t>多值依赖</a:t>
            </a:r>
            <a:endParaRPr lang="en-US" altLang="zh-CN" sz="2600" dirty="0"/>
          </a:p>
          <a:p>
            <a:pPr lvl="1">
              <a:spcBef>
                <a:spcPts val="0"/>
              </a:spcBef>
            </a:pPr>
            <a:r>
              <a:rPr lang="zh-CN" altLang="en-US" sz="2600" dirty="0"/>
              <a:t>*</a:t>
            </a:r>
            <a:r>
              <a:rPr lang="en-US" altLang="zh-CN" sz="2600" dirty="0"/>
              <a:t>6.2.8 </a:t>
            </a:r>
            <a:r>
              <a:rPr lang="zh-CN" altLang="en-US" sz="2600" dirty="0"/>
              <a:t>第四范式（</a:t>
            </a:r>
            <a:r>
              <a:rPr lang="en-US" altLang="zh-CN" sz="2600" dirty="0"/>
              <a:t>4NF</a:t>
            </a:r>
            <a:r>
              <a:rPr lang="zh-CN" altLang="en-US" sz="2600" dirty="0"/>
              <a:t>）</a:t>
            </a:r>
            <a:endParaRPr lang="zh-CN" altLang="en-US" sz="2600" dirty="0"/>
          </a:p>
          <a:p>
            <a:pPr>
              <a:spcBef>
                <a:spcPts val="0"/>
              </a:spcBef>
            </a:pPr>
            <a:r>
              <a:rPr lang="en-US" altLang="zh-CN" sz="2800" dirty="0"/>
              <a:t>6.2.9 </a:t>
            </a:r>
            <a:r>
              <a:rPr lang="zh-CN" altLang="en-US" sz="2800" dirty="0"/>
              <a:t>规范化小结</a:t>
            </a:r>
            <a:endParaRPr lang="zh-CN" altLang="en-US"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.1  </a:t>
            </a:r>
            <a:r>
              <a:rPr lang="zh-CN" altLang="en-US" sz="3600" b="1" kern="0" cap="all" dirty="0">
                <a:solidFill>
                  <a:schemeClr val="bg1"/>
                </a:solidFill>
                <a:latin typeface="+mj-lt"/>
                <a:ea typeface="+mj-ea"/>
                <a:cs typeface="+mj-cs"/>
              </a:rPr>
              <a:t>函数依赖</a:t>
            </a:r>
            <a:endParaRPr kumimoji="0" lang="zh-CN" altLang="en-US" sz="3600" b="1" i="0" u="none" strike="noStrike" kern="0" cap="all" spc="0" normalizeH="0" baseline="0" noProof="0" dirty="0">
              <a:ln>
                <a:noFill/>
              </a:ln>
              <a:solidFill>
                <a:schemeClr val="bg1"/>
              </a:solidFill>
              <a:effectLst/>
              <a:uLnTx/>
              <a:uFillTx/>
              <a:latin typeface="+mj-lt"/>
              <a:ea typeface="+mj-ea"/>
              <a:cs typeface="+mj-cs"/>
            </a:endParaRPr>
          </a:p>
        </p:txBody>
      </p:sp>
    </p:spTree>
  </p:cSld>
  <p:clrMapOvr>
    <a:masterClrMapping/>
  </p:clrMapOvr>
  <p:transition spd="slow">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285720" y="573893"/>
            <a:ext cx="8643998" cy="3640931"/>
          </a:xfrm>
        </p:spPr>
        <p:txBody>
          <a:bodyPr/>
          <a:lstStyle/>
          <a:p>
            <a:pPr>
              <a:buNone/>
            </a:pPr>
            <a:r>
              <a:rPr lang="zh-CN" altLang="en-US" sz="2000" dirty="0"/>
              <a:t>定义</a:t>
            </a:r>
            <a:r>
              <a:rPr lang="en-US" altLang="zh-CN" sz="2000" dirty="0"/>
              <a:t>6.1  </a:t>
            </a:r>
            <a:endParaRPr lang="en-US" altLang="zh-CN" sz="2000" dirty="0"/>
          </a:p>
          <a:p>
            <a:pPr>
              <a:buNone/>
            </a:pPr>
            <a:r>
              <a:rPr lang="zh-CN" altLang="en-US" sz="1800" dirty="0"/>
              <a:t>    设</a:t>
            </a:r>
            <a:r>
              <a:rPr lang="en-US" altLang="zh-CN" sz="1800" dirty="0"/>
              <a:t>R(U)</a:t>
            </a:r>
            <a:r>
              <a:rPr lang="zh-CN" altLang="en-US" sz="1800" dirty="0"/>
              <a:t>是一个属性集</a:t>
            </a:r>
            <a:r>
              <a:rPr lang="en-US" altLang="zh-CN" sz="1800" dirty="0"/>
              <a:t>U</a:t>
            </a:r>
            <a:r>
              <a:rPr lang="zh-CN" altLang="en-US" sz="1800" dirty="0"/>
              <a:t>上的关系模式，</a:t>
            </a:r>
            <a:r>
              <a:rPr lang="en-US" altLang="zh-CN" sz="1800" dirty="0"/>
              <a:t>X</a:t>
            </a:r>
            <a:r>
              <a:rPr lang="zh-CN" altLang="en-US" sz="1800" dirty="0"/>
              <a:t>和</a:t>
            </a:r>
            <a:r>
              <a:rPr lang="en-US" altLang="zh-CN" sz="1800" dirty="0"/>
              <a:t>Y</a:t>
            </a:r>
            <a:r>
              <a:rPr lang="zh-CN" altLang="en-US" sz="1800" dirty="0"/>
              <a:t>是</a:t>
            </a:r>
            <a:r>
              <a:rPr lang="en-US" altLang="zh-CN" sz="1800" dirty="0"/>
              <a:t>U</a:t>
            </a:r>
            <a:r>
              <a:rPr lang="zh-CN" altLang="en-US" sz="1800" dirty="0"/>
              <a:t>的子集。若对于</a:t>
            </a:r>
            <a:r>
              <a:rPr lang="en-US" altLang="zh-CN" sz="1800" dirty="0"/>
              <a:t>R(U)</a:t>
            </a:r>
            <a:r>
              <a:rPr lang="zh-CN" altLang="en-US" sz="1800" dirty="0"/>
              <a:t>的任意一个</a:t>
            </a:r>
            <a:endParaRPr lang="en-US" altLang="zh-CN" sz="1800" dirty="0"/>
          </a:p>
          <a:p>
            <a:pPr>
              <a:buNone/>
            </a:pPr>
            <a:r>
              <a:rPr lang="zh-CN" altLang="en-US" sz="1800" dirty="0"/>
              <a:t>可能的关系</a:t>
            </a:r>
            <a:r>
              <a:rPr lang="en-US" altLang="zh-CN" sz="1800" dirty="0"/>
              <a:t>r</a:t>
            </a:r>
            <a:r>
              <a:rPr lang="zh-CN" altLang="en-US" sz="1800" dirty="0"/>
              <a:t>，</a:t>
            </a:r>
            <a:r>
              <a:rPr lang="en-US" altLang="zh-CN" sz="1800" dirty="0"/>
              <a:t>r</a:t>
            </a:r>
            <a:r>
              <a:rPr lang="zh-CN" altLang="en-US" sz="1800" dirty="0"/>
              <a:t>中不可能存在两个元组在</a:t>
            </a:r>
            <a:r>
              <a:rPr lang="en-US" altLang="zh-CN" sz="1800" dirty="0"/>
              <a:t>X</a:t>
            </a:r>
            <a:r>
              <a:rPr lang="zh-CN" altLang="en-US" sz="1800" dirty="0"/>
              <a:t>上的属性值相等， 而在</a:t>
            </a:r>
            <a:r>
              <a:rPr lang="en-US" altLang="zh-CN" sz="1800" dirty="0"/>
              <a:t>Y</a:t>
            </a:r>
            <a:r>
              <a:rPr lang="zh-CN" altLang="en-US" sz="1800" dirty="0"/>
              <a:t>上的属性值不等</a:t>
            </a:r>
            <a:endParaRPr lang="en-US" altLang="zh-CN" sz="1800" dirty="0"/>
          </a:p>
          <a:p>
            <a:pPr>
              <a:buNone/>
            </a:pPr>
            <a:r>
              <a:rPr lang="zh-CN" altLang="en-US" sz="1800" dirty="0"/>
              <a:t>，则称“</a:t>
            </a:r>
            <a:r>
              <a:rPr lang="en-US" altLang="zh-CN" sz="1800" dirty="0">
                <a:solidFill>
                  <a:srgbClr val="FF00FF"/>
                </a:solidFill>
                <a:sym typeface="Calibri" panose="020F0502020204030204" pitchFamily="34" charset="0"/>
              </a:rPr>
              <a:t>X</a:t>
            </a:r>
            <a:r>
              <a:rPr lang="zh-CN" altLang="en-US" sz="1800" dirty="0">
                <a:solidFill>
                  <a:srgbClr val="FF00FF"/>
                </a:solidFill>
                <a:sym typeface="Calibri" panose="020F0502020204030204" pitchFamily="34" charset="0"/>
              </a:rPr>
              <a:t>函数确定</a:t>
            </a:r>
            <a:r>
              <a:rPr lang="en-US" altLang="zh-CN" sz="1800" dirty="0">
                <a:solidFill>
                  <a:srgbClr val="FF00FF"/>
                </a:solidFill>
                <a:sym typeface="Calibri" panose="020F0502020204030204" pitchFamily="34" charset="0"/>
              </a:rPr>
              <a:t>Y</a:t>
            </a:r>
            <a:r>
              <a:rPr lang="en-US" altLang="zh-CN" sz="1800" dirty="0"/>
              <a:t>”</a:t>
            </a:r>
            <a:r>
              <a:rPr lang="zh-CN" altLang="en-US" sz="1800" dirty="0"/>
              <a:t>或“</a:t>
            </a:r>
            <a:r>
              <a:rPr lang="en-US" altLang="zh-CN" sz="1800" dirty="0">
                <a:solidFill>
                  <a:srgbClr val="FF00FF"/>
                </a:solidFill>
                <a:sym typeface="Calibri" panose="020F0502020204030204" pitchFamily="34" charset="0"/>
              </a:rPr>
              <a:t>Y</a:t>
            </a:r>
            <a:r>
              <a:rPr lang="zh-CN" altLang="en-US" sz="1800" dirty="0">
                <a:solidFill>
                  <a:srgbClr val="FF00FF"/>
                </a:solidFill>
                <a:sym typeface="Calibri" panose="020F0502020204030204" pitchFamily="34" charset="0"/>
              </a:rPr>
              <a:t>函数依赖于</a:t>
            </a:r>
            <a:r>
              <a:rPr lang="en-US" altLang="zh-CN" sz="1800" dirty="0">
                <a:solidFill>
                  <a:srgbClr val="FF00FF"/>
                </a:solidFill>
                <a:sym typeface="Calibri" panose="020F0502020204030204" pitchFamily="34" charset="0"/>
              </a:rPr>
              <a:t>X</a:t>
            </a:r>
            <a:r>
              <a:rPr lang="en-US" altLang="zh-CN" sz="1800" dirty="0"/>
              <a:t>”</a:t>
            </a:r>
            <a:r>
              <a:rPr lang="zh-CN" altLang="en-US" sz="1800" dirty="0"/>
              <a:t>，记作</a:t>
            </a:r>
            <a:r>
              <a:rPr lang="en-US" altLang="zh-CN" sz="1800" dirty="0">
                <a:solidFill>
                  <a:srgbClr val="FF00FF"/>
                </a:solidFill>
                <a:sym typeface="Calibri" panose="020F0502020204030204" pitchFamily="34" charset="0"/>
              </a:rPr>
              <a:t>X→Y</a:t>
            </a:r>
            <a:r>
              <a:rPr lang="zh-CN" altLang="en-US" sz="1800" dirty="0"/>
              <a:t>。 </a:t>
            </a:r>
            <a:endParaRPr lang="en-US" altLang="zh-CN" sz="1800" dirty="0"/>
          </a:p>
          <a:p>
            <a:pPr>
              <a:buNone/>
            </a:pPr>
            <a:r>
              <a:rPr lang="en-US" altLang="zh-CN" sz="1800" dirty="0"/>
              <a:t>    X</a:t>
            </a:r>
            <a:r>
              <a:rPr lang="zh-CN" altLang="en-US" sz="1800" dirty="0"/>
              <a:t>称为这个函数依赖的决定属性组，也称为</a:t>
            </a:r>
            <a:r>
              <a:rPr lang="zh-CN" altLang="en-US" sz="1800" dirty="0">
                <a:solidFill>
                  <a:srgbClr val="C00000"/>
                </a:solidFill>
              </a:rPr>
              <a:t>决定因素</a:t>
            </a:r>
            <a:r>
              <a:rPr lang="en-US" altLang="zh-CN" sz="1800" dirty="0"/>
              <a:t>(Determinant)</a:t>
            </a:r>
            <a:r>
              <a:rPr lang="zh-CN" altLang="en-US" sz="1800" dirty="0"/>
              <a:t>。</a:t>
            </a:r>
            <a:endParaRPr lang="en-US" altLang="zh-CN" sz="1800" dirty="0"/>
          </a:p>
          <a:p>
            <a:pPr marL="342900" lvl="1" indent="-342900">
              <a:buNone/>
            </a:pPr>
            <a:r>
              <a:rPr lang="zh-CN" altLang="en-US" sz="1600" dirty="0">
                <a:solidFill>
                  <a:srgbClr val="FF0000"/>
                </a:solidFill>
              </a:rPr>
              <a:t>例：</a:t>
            </a:r>
            <a:r>
              <a:rPr lang="en-US" altLang="zh-CN" sz="1600" dirty="0">
                <a:solidFill>
                  <a:srgbClr val="FF0000"/>
                </a:solidFill>
              </a:rPr>
              <a:t>STUDENT</a:t>
            </a:r>
            <a:r>
              <a:rPr lang="zh-CN" altLang="en-US" sz="1600" dirty="0">
                <a:solidFill>
                  <a:srgbClr val="FF0000"/>
                </a:solidFill>
              </a:rPr>
              <a:t>（</a:t>
            </a:r>
            <a:r>
              <a:rPr lang="en-US" altLang="zh-CN" sz="1600" dirty="0" err="1">
                <a:solidFill>
                  <a:srgbClr val="FF0000"/>
                </a:solidFill>
              </a:rPr>
              <a:t>Sno</a:t>
            </a:r>
            <a:r>
              <a:rPr lang="en-US" altLang="zh-CN" sz="1600" dirty="0">
                <a:solidFill>
                  <a:srgbClr val="FF0000"/>
                </a:solidFill>
              </a:rPr>
              <a:t> ,</a:t>
            </a:r>
            <a:r>
              <a:rPr lang="en-US" altLang="zh-CN" sz="1600" dirty="0" err="1">
                <a:solidFill>
                  <a:srgbClr val="FF0000"/>
                </a:solidFill>
              </a:rPr>
              <a:t>Sdept</a:t>
            </a:r>
            <a:r>
              <a:rPr lang="en-US" altLang="zh-CN" sz="1600" dirty="0">
                <a:solidFill>
                  <a:srgbClr val="FF0000"/>
                </a:solidFill>
              </a:rPr>
              <a:t>, </a:t>
            </a:r>
            <a:r>
              <a:rPr lang="en-US" altLang="zh-CN" sz="1600" dirty="0" err="1">
                <a:solidFill>
                  <a:srgbClr val="FF0000"/>
                </a:solidFill>
              </a:rPr>
              <a:t>Mname,Cname,Grade</a:t>
            </a:r>
            <a:r>
              <a:rPr lang="zh-CN" altLang="en-US" sz="1600" dirty="0">
                <a:solidFill>
                  <a:srgbClr val="FF0000"/>
                </a:solidFill>
              </a:rPr>
              <a:t>）</a:t>
            </a:r>
            <a:endParaRPr lang="en-US" altLang="zh-CN" sz="1600" dirty="0">
              <a:solidFill>
                <a:srgbClr val="FF0000"/>
              </a:solidFill>
            </a:endParaRPr>
          </a:p>
          <a:p>
            <a:pPr marL="342900" lvl="1" indent="-342900">
              <a:buNone/>
            </a:pPr>
            <a:r>
              <a:rPr lang="zh-CN" altLang="en-US" sz="1600" dirty="0">
                <a:cs typeface="+mn-cs"/>
              </a:rPr>
              <a:t> </a:t>
            </a:r>
            <a:r>
              <a:rPr lang="en-US" altLang="zh-CN" sz="1600" dirty="0">
                <a:cs typeface="+mn-cs"/>
              </a:rPr>
              <a:t>F</a:t>
            </a:r>
            <a:r>
              <a:rPr lang="zh-CN" altLang="en-US" sz="1600" dirty="0">
                <a:cs typeface="+mn-cs"/>
              </a:rPr>
              <a:t>＝ </a:t>
            </a:r>
            <a:r>
              <a:rPr lang="en-US" altLang="zh-CN" sz="1600" dirty="0">
                <a:cs typeface="+mn-cs"/>
              </a:rPr>
              <a:t>{</a:t>
            </a:r>
            <a:r>
              <a:rPr lang="en-US" altLang="zh-CN" sz="1600" dirty="0" err="1">
                <a:cs typeface="+mn-cs"/>
              </a:rPr>
              <a:t>Sno→Sdept</a:t>
            </a:r>
            <a:r>
              <a:rPr lang="en-US" altLang="zh-CN" sz="1600" dirty="0">
                <a:cs typeface="+mn-cs"/>
              </a:rPr>
              <a:t>, </a:t>
            </a:r>
            <a:r>
              <a:rPr lang="en-US" altLang="zh-CN" sz="1600" dirty="0" err="1">
                <a:cs typeface="+mn-cs"/>
              </a:rPr>
              <a:t>Sdept→Mname</a:t>
            </a:r>
            <a:r>
              <a:rPr lang="en-US" altLang="zh-CN" sz="1600" dirty="0">
                <a:cs typeface="+mn-cs"/>
              </a:rPr>
              <a:t>, (</a:t>
            </a:r>
            <a:r>
              <a:rPr lang="en-US" altLang="zh-CN" sz="1600" dirty="0" err="1">
                <a:cs typeface="+mn-cs"/>
              </a:rPr>
              <a:t>Sno</a:t>
            </a:r>
            <a:r>
              <a:rPr lang="en-US" altLang="zh-CN" sz="1600" dirty="0">
                <a:cs typeface="+mn-cs"/>
              </a:rPr>
              <a:t>, </a:t>
            </a:r>
            <a:r>
              <a:rPr lang="en-US" altLang="zh-CN" sz="1600" dirty="0" err="1">
                <a:cs typeface="+mn-cs"/>
              </a:rPr>
              <a:t>Cname</a:t>
            </a:r>
            <a:r>
              <a:rPr lang="en-US" altLang="zh-CN" sz="1600" dirty="0">
                <a:cs typeface="+mn-cs"/>
              </a:rPr>
              <a:t>)→Grade</a:t>
            </a:r>
            <a:r>
              <a:rPr lang="zh-CN" altLang="en-US" sz="1600" dirty="0">
                <a:cs typeface="+mn-cs"/>
              </a:rPr>
              <a:t>｝</a:t>
            </a:r>
            <a:endParaRPr lang="en-US" altLang="zh-CN" sz="1600" dirty="0">
              <a:cs typeface="+mn-cs"/>
            </a:endParaRPr>
          </a:p>
          <a:p>
            <a:pPr>
              <a:lnSpc>
                <a:spcPct val="120000"/>
              </a:lnSpc>
              <a:buNone/>
            </a:pPr>
            <a:r>
              <a:rPr lang="zh-CN" altLang="en-US" sz="1600" dirty="0">
                <a:solidFill>
                  <a:srgbClr val="FF0000"/>
                </a:solidFill>
              </a:rPr>
              <a:t>例：</a:t>
            </a:r>
            <a:r>
              <a:rPr lang="en-US" altLang="zh-CN" sz="1600" dirty="0">
                <a:solidFill>
                  <a:srgbClr val="FF0000"/>
                </a:solidFill>
              </a:rPr>
              <a:t> Student(</a:t>
            </a:r>
            <a:r>
              <a:rPr lang="en-US" altLang="zh-CN" sz="1600" dirty="0" err="1">
                <a:solidFill>
                  <a:srgbClr val="FF0000"/>
                </a:solidFill>
              </a:rPr>
              <a:t>Sno, Sname, Ssex, Sage, Sdept</a:t>
            </a:r>
            <a:r>
              <a:rPr lang="en-US" altLang="zh-CN" sz="1600" dirty="0">
                <a:solidFill>
                  <a:srgbClr val="FF0000"/>
                </a:solidFill>
              </a:rPr>
              <a:t>),</a:t>
            </a:r>
            <a:r>
              <a:rPr lang="zh-CN" altLang="en-US" sz="1600" dirty="0"/>
              <a:t>假设学生不允许重名，则有</a:t>
            </a:r>
            <a:r>
              <a:rPr lang="en-US" altLang="zh-CN" sz="1600" dirty="0"/>
              <a:t>:</a:t>
            </a:r>
            <a:endParaRPr lang="en-US" altLang="zh-CN" sz="1600" dirty="0"/>
          </a:p>
          <a:p>
            <a:pPr>
              <a:lnSpc>
                <a:spcPct val="120000"/>
              </a:lnSpc>
              <a:buNone/>
            </a:pPr>
            <a:r>
              <a:rPr lang="en-US" altLang="zh-CN" sz="1600" dirty="0"/>
              <a:t> F</a:t>
            </a:r>
            <a:r>
              <a:rPr lang="zh-CN" altLang="en-US" sz="1600" dirty="0"/>
              <a:t>＝ </a:t>
            </a:r>
            <a:r>
              <a:rPr lang="en-US" altLang="zh-CN" sz="1600" dirty="0"/>
              <a:t>{</a:t>
            </a:r>
            <a:r>
              <a:rPr lang="en-US" altLang="zh-CN" sz="1600" dirty="0" err="1"/>
              <a:t>Sno→Ssex</a:t>
            </a:r>
            <a:r>
              <a:rPr lang="zh-CN" altLang="en-US" sz="1600" dirty="0"/>
              <a:t>，</a:t>
            </a:r>
            <a:r>
              <a:rPr lang="en-US" altLang="zh-CN" sz="1600" dirty="0" err="1"/>
              <a:t>Sno→Sname</a:t>
            </a:r>
            <a:r>
              <a:rPr lang="zh-CN" altLang="en-US" sz="1600" dirty="0"/>
              <a:t>，</a:t>
            </a:r>
            <a:r>
              <a:rPr lang="en-US" altLang="zh-CN" sz="1600" dirty="0" err="1"/>
              <a:t>Sno→Sage</a:t>
            </a:r>
            <a:r>
              <a:rPr lang="zh-CN" altLang="en-US" sz="1600" dirty="0"/>
              <a:t>，</a:t>
            </a:r>
            <a:r>
              <a:rPr lang="en-US" altLang="zh-CN" sz="1600" dirty="0" err="1"/>
              <a:t>Sno→Sdept</a:t>
            </a:r>
            <a:r>
              <a:rPr lang="zh-CN" altLang="en-US" sz="1600" dirty="0"/>
              <a:t>，</a:t>
            </a:r>
            <a:endParaRPr lang="en-US" altLang="zh-CN" sz="1600" dirty="0"/>
          </a:p>
          <a:p>
            <a:pPr>
              <a:lnSpc>
                <a:spcPct val="110000"/>
              </a:lnSpc>
              <a:buNone/>
            </a:pPr>
            <a:r>
              <a:rPr lang="en-US" altLang="zh-CN" sz="1600" dirty="0"/>
              <a:t>	   </a:t>
            </a:r>
            <a:r>
              <a:rPr lang="en-US" altLang="zh-CN" sz="1600" dirty="0" err="1"/>
              <a:t>Sname→Sno</a:t>
            </a:r>
            <a:r>
              <a:rPr lang="en-US" altLang="zh-CN" sz="1600" dirty="0"/>
              <a:t> </a:t>
            </a:r>
            <a:r>
              <a:rPr lang="en-US" altLang="zh-CN" sz="1600" dirty="0" err="1"/>
              <a:t>Sname→Ssex</a:t>
            </a:r>
            <a:r>
              <a:rPr lang="zh-CN" altLang="en-US" sz="1600" dirty="0"/>
              <a:t>，</a:t>
            </a:r>
            <a:r>
              <a:rPr lang="en-US" altLang="zh-CN" sz="1600" dirty="0" err="1"/>
              <a:t>Sname→Sage</a:t>
            </a:r>
            <a:r>
              <a:rPr lang="zh-CN" altLang="en-US" sz="1600" dirty="0"/>
              <a:t>，</a:t>
            </a:r>
            <a:r>
              <a:rPr lang="en-US" altLang="zh-CN" sz="1600" dirty="0" err="1"/>
              <a:t>Sname</a:t>
            </a:r>
            <a:r>
              <a:rPr lang="en-US" altLang="zh-CN" sz="1600" dirty="0"/>
              <a:t> → </a:t>
            </a:r>
            <a:r>
              <a:rPr lang="en-US" altLang="zh-CN" sz="1600" dirty="0" err="1"/>
              <a:t>Sdept</a:t>
            </a:r>
            <a:r>
              <a:rPr lang="en-US" altLang="zh-CN" sz="1600" dirty="0"/>
              <a:t>}	</a:t>
            </a:r>
            <a:endParaRPr lang="en-US" altLang="zh-CN" sz="1600" dirty="0"/>
          </a:p>
          <a:p>
            <a:pPr marL="342900" lvl="1" indent="-342900">
              <a:lnSpc>
                <a:spcPct val="110000"/>
              </a:lnSpc>
              <a:buNone/>
            </a:pPr>
            <a:r>
              <a:rPr lang="zh-CN" altLang="en-US" sz="1600" dirty="0">
                <a:cs typeface="+mn-cs"/>
              </a:rPr>
              <a:t>  但</a:t>
            </a:r>
            <a:r>
              <a:rPr lang="en-US" altLang="zh-CN" sz="1600" dirty="0" err="1">
                <a:cs typeface="+mn-cs"/>
              </a:rPr>
              <a:t>Ssex</a:t>
            </a:r>
            <a:r>
              <a:rPr lang="en-US" altLang="zh-CN" sz="1600" dirty="0">
                <a:cs typeface="+mn-cs"/>
              </a:rPr>
              <a:t> </a:t>
            </a:r>
            <a:r>
              <a:rPr lang="en-US" altLang="zh-CN" sz="1600" dirty="0">
                <a:cs typeface="+mn-cs"/>
                <a:sym typeface="宋体" panose="02010600030101010101" pitchFamily="2" charset="-122"/>
              </a:rPr>
              <a:t>→</a:t>
            </a:r>
            <a:r>
              <a:rPr lang="en-US" altLang="zh-CN" sz="1600" dirty="0">
                <a:cs typeface="+mn-cs"/>
              </a:rPr>
              <a:t>Sage, </a:t>
            </a:r>
            <a:r>
              <a:rPr lang="en-US" altLang="zh-CN" sz="1600" dirty="0" err="1">
                <a:cs typeface="+mn-cs"/>
              </a:rPr>
              <a:t>Ssex</a:t>
            </a:r>
            <a:r>
              <a:rPr lang="en-US" altLang="zh-CN" sz="1600" dirty="0">
                <a:cs typeface="+mn-cs"/>
                <a:sym typeface="宋体" panose="02010600030101010101" pitchFamily="2" charset="-122"/>
              </a:rPr>
              <a:t>→</a:t>
            </a:r>
            <a:r>
              <a:rPr lang="en-US" altLang="zh-CN" sz="1600" dirty="0">
                <a:cs typeface="+mn-cs"/>
              </a:rPr>
              <a:t> </a:t>
            </a:r>
            <a:r>
              <a:rPr lang="en-US" altLang="zh-CN" sz="1600" dirty="0" err="1">
                <a:cs typeface="+mn-cs"/>
              </a:rPr>
              <a:t>Sdept</a:t>
            </a:r>
            <a:r>
              <a:rPr lang="en-US" altLang="zh-CN" sz="1600" dirty="0">
                <a:cs typeface="+mn-cs"/>
              </a:rPr>
              <a:t> </a:t>
            </a:r>
            <a:endParaRPr lang="en-US" altLang="zh-CN" sz="1600" dirty="0">
              <a:cs typeface="+mn-cs"/>
            </a:endParaRPr>
          </a:p>
          <a:p>
            <a:pPr marL="342900" lvl="1" indent="-342900">
              <a:buNone/>
            </a:pPr>
            <a:endParaRPr lang="zh-CN" altLang="en-US" sz="1600" dirty="0">
              <a:solidFill>
                <a:srgbClr val="FF0000"/>
              </a:solidFill>
            </a:endParaRPr>
          </a:p>
          <a:p>
            <a:pPr>
              <a:buNone/>
            </a:pPr>
            <a:endParaRPr lang="zh-CN" altLang="en-US" sz="2000" dirty="0"/>
          </a:p>
        </p:txBody>
      </p:sp>
      <p:grpSp>
        <p:nvGrpSpPr>
          <p:cNvPr id="4" name="Group 4"/>
          <p:cNvGrpSpPr/>
          <p:nvPr/>
        </p:nvGrpSpPr>
        <p:grpSpPr bwMode="auto">
          <a:xfrm>
            <a:off x="1214499" y="3929188"/>
            <a:ext cx="4000219" cy="999970"/>
            <a:chOff x="450" y="-652"/>
            <a:chExt cx="6299" cy="2099"/>
          </a:xfrm>
        </p:grpSpPr>
        <p:sp>
          <p:nvSpPr>
            <p:cNvPr id="6" name="Line 1029"/>
            <p:cNvSpPr>
              <a:spLocks noChangeShapeType="1"/>
            </p:cNvSpPr>
            <p:nvPr/>
          </p:nvSpPr>
          <p:spPr bwMode="auto">
            <a:xfrm>
              <a:off x="450" y="-652"/>
              <a:ext cx="240" cy="480"/>
            </a:xfrm>
            <a:prstGeom prst="line">
              <a:avLst/>
            </a:prstGeom>
            <a:noFill/>
            <a:ln w="28575">
              <a:solidFill>
                <a:schemeClr val="tx1"/>
              </a:solidFill>
              <a:round/>
            </a:ln>
          </p:spPr>
          <p:txBody>
            <a:bodyPr wrap="none" lIns="90000" tIns="46800" rIns="90000" bIns="46800" anchor="ctr"/>
            <a:lstStyle/>
            <a:p>
              <a:endParaRPr lang="zh-CN" altLang="en-US"/>
            </a:p>
          </p:txBody>
        </p:sp>
        <p:sp>
          <p:nvSpPr>
            <p:cNvPr id="5" name="Text Box 1030"/>
            <p:cNvSpPr>
              <a:spLocks noChangeArrowheads="1"/>
            </p:cNvSpPr>
            <p:nvPr/>
          </p:nvSpPr>
          <p:spPr bwMode="auto">
            <a:xfrm>
              <a:off x="1237" y="-90"/>
              <a:ext cx="5512" cy="1537"/>
            </a:xfrm>
            <a:prstGeom prst="rect">
              <a:avLst/>
            </a:prstGeom>
            <a:solidFill>
              <a:srgbClr val="F2EB92"/>
            </a:solidFill>
            <a:ln w="28575">
              <a:solidFill>
                <a:srgbClr val="FF0000"/>
              </a:solidFill>
              <a:miter lim="800000"/>
            </a:ln>
          </p:spPr>
          <p:txBody>
            <a:bodyPr wrap="square" lIns="90000" tIns="190800" rIns="90000" bIns="46800">
              <a:spAutoFit/>
            </a:bodyPr>
            <a:lstStyle/>
            <a:p>
              <a:pPr>
                <a:buClr>
                  <a:schemeClr val="accent1"/>
                </a:buClr>
                <a:buSzPct val="90000"/>
                <a:buFont typeface="Monotype Sorts" pitchFamily="2" charset="2"/>
                <a:buNone/>
              </a:pPr>
              <a:r>
                <a:rPr lang="zh-CN" altLang="en-US" sz="1600" dirty="0">
                  <a:latin typeface="Times New Roman" panose="02020603050405020304" pitchFamily="18" charset="0"/>
                </a:rPr>
                <a:t>若</a:t>
              </a:r>
              <a:r>
                <a:rPr lang="en-US" altLang="zh-CN" sz="1600" dirty="0">
                  <a:latin typeface="Times New Roman" panose="02020603050405020304" pitchFamily="18" charset="0"/>
                </a:rPr>
                <a:t>X→Y</a:t>
              </a:r>
              <a:r>
                <a:rPr lang="zh-CN" altLang="en-US" sz="1600" dirty="0">
                  <a:latin typeface="Times New Roman" panose="02020603050405020304" pitchFamily="18" charset="0"/>
                </a:rPr>
                <a:t>，并且</a:t>
              </a:r>
              <a:r>
                <a:rPr lang="en-US" altLang="zh-CN" sz="1600" dirty="0">
                  <a:latin typeface="Times New Roman" panose="02020603050405020304" pitchFamily="18" charset="0"/>
                </a:rPr>
                <a:t>Y→X, </a:t>
              </a:r>
              <a:r>
                <a:rPr lang="zh-CN" altLang="en-US" sz="1600" dirty="0">
                  <a:latin typeface="Times New Roman" panose="02020603050405020304" pitchFamily="18" charset="0"/>
                </a:rPr>
                <a:t>则记为</a:t>
              </a:r>
              <a:r>
                <a:rPr lang="en-US" altLang="zh-CN" sz="1600" dirty="0">
                  <a:latin typeface="Times New Roman" panose="02020603050405020304" pitchFamily="18" charset="0"/>
                </a:rPr>
                <a:t>X←→Y</a:t>
              </a:r>
              <a:r>
                <a:rPr lang="zh-CN" altLang="en-US" sz="1600" dirty="0">
                  <a:latin typeface="Times New Roman" panose="02020603050405020304" pitchFamily="18" charset="0"/>
                </a:rPr>
                <a:t>。</a:t>
              </a:r>
              <a:endParaRPr lang="zh-CN" altLang="en-US" sz="1600" dirty="0">
                <a:latin typeface="Times New Roman" panose="02020603050405020304" pitchFamily="18" charset="0"/>
              </a:endParaRPr>
            </a:p>
            <a:p>
              <a:pPr>
                <a:buClr>
                  <a:schemeClr val="accent1"/>
                </a:buClr>
                <a:buSzPct val="90000"/>
                <a:buFont typeface="Monotype Sorts" pitchFamily="2" charset="2"/>
                <a:buNone/>
              </a:pPr>
              <a:r>
                <a:rPr lang="zh-CN" altLang="en-US" sz="1600" dirty="0">
                  <a:latin typeface="Times New Roman" panose="02020603050405020304" pitchFamily="18" charset="0"/>
                </a:rPr>
                <a:t>若</a:t>
              </a:r>
              <a:r>
                <a:rPr lang="en-US" altLang="zh-CN" sz="1600" dirty="0">
                  <a:latin typeface="Times New Roman" panose="02020603050405020304" pitchFamily="18" charset="0"/>
                </a:rPr>
                <a:t>Y</a:t>
              </a:r>
              <a:r>
                <a:rPr lang="zh-CN" altLang="en-US" sz="1600" dirty="0">
                  <a:latin typeface="Times New Roman" panose="02020603050405020304" pitchFamily="18" charset="0"/>
                </a:rPr>
                <a:t>不函数依赖于</a:t>
              </a:r>
              <a:r>
                <a:rPr lang="en-US" altLang="zh-CN" sz="1600" dirty="0">
                  <a:latin typeface="Times New Roman" panose="02020603050405020304" pitchFamily="18" charset="0"/>
                </a:rPr>
                <a:t>X, </a:t>
              </a:r>
              <a:r>
                <a:rPr lang="zh-CN" altLang="en-US" sz="1600" dirty="0">
                  <a:latin typeface="Times New Roman" panose="02020603050405020304" pitchFamily="18" charset="0"/>
                </a:rPr>
                <a:t>则记为</a:t>
              </a:r>
              <a:r>
                <a:rPr lang="en-US" altLang="zh-CN" sz="1600" dirty="0">
                  <a:latin typeface="Times New Roman" panose="02020603050405020304" pitchFamily="18" charset="0"/>
                </a:rPr>
                <a:t>X</a:t>
              </a:r>
              <a:r>
                <a:rPr lang="en-US" altLang="zh-CN" sz="1600" dirty="0">
                  <a:latin typeface="宋体" panose="02010600030101010101" pitchFamily="2" charset="-122"/>
                  <a:sym typeface="宋体" panose="02010600030101010101" pitchFamily="2" charset="-122"/>
                </a:rPr>
                <a:t>→</a:t>
              </a:r>
              <a:r>
                <a:rPr lang="en-US" altLang="zh-CN" sz="1600" dirty="0">
                  <a:latin typeface="Times New Roman" panose="02020603050405020304" pitchFamily="18" charset="0"/>
                </a:rPr>
                <a:t>Y</a:t>
              </a:r>
              <a:r>
                <a:rPr lang="zh-CN" altLang="en-US" sz="1600" dirty="0">
                  <a:latin typeface="Times New Roman" panose="02020603050405020304" pitchFamily="18" charset="0"/>
                </a:rPr>
                <a:t>。</a:t>
              </a:r>
              <a:endParaRPr lang="zh-CN" altLang="en-US" sz="1200" dirty="0"/>
            </a:p>
          </p:txBody>
        </p:sp>
      </p:grpSp>
      <p:sp>
        <p:nvSpPr>
          <p:cNvPr id="7" name="Line 1029"/>
          <p:cNvSpPr>
            <a:spLocks noChangeShapeType="1"/>
          </p:cNvSpPr>
          <p:nvPr/>
        </p:nvSpPr>
        <p:spPr bwMode="auto">
          <a:xfrm>
            <a:off x="2490760" y="3929072"/>
            <a:ext cx="152414" cy="228674"/>
          </a:xfrm>
          <a:prstGeom prst="line">
            <a:avLst/>
          </a:prstGeom>
          <a:noFill/>
          <a:ln w="28575">
            <a:solidFill>
              <a:schemeClr val="tx1"/>
            </a:solidFill>
            <a:round/>
          </a:ln>
        </p:spPr>
        <p:txBody>
          <a:bodyPr wrap="none" lIns="90000" tIns="46800" rIns="90000" bIns="46800" anchor="ctr"/>
          <a:lstStyle/>
          <a:p>
            <a:endParaRPr lang="zh-CN" altLang="en-US"/>
          </a:p>
        </p:txBody>
      </p:sp>
      <p:sp>
        <p:nvSpPr>
          <p:cNvPr id="8" name="Line 1029"/>
          <p:cNvSpPr>
            <a:spLocks noChangeShapeType="1"/>
          </p:cNvSpPr>
          <p:nvPr/>
        </p:nvSpPr>
        <p:spPr bwMode="auto">
          <a:xfrm>
            <a:off x="4419586" y="4643452"/>
            <a:ext cx="152414" cy="228674"/>
          </a:xfrm>
          <a:prstGeom prst="line">
            <a:avLst/>
          </a:prstGeom>
          <a:noFill/>
          <a:ln w="28575">
            <a:solidFill>
              <a:schemeClr val="tx1"/>
            </a:solidFill>
            <a:round/>
          </a:ln>
        </p:spPr>
        <p:txBody>
          <a:bodyPr wrap="none" lIns="90000" tIns="46800" rIns="90000" bIns="46800" anchor="ctr"/>
          <a:lstStyle/>
          <a:p>
            <a:endParaRPr lang="zh-CN" altLang="en-US"/>
          </a:p>
        </p:txBody>
      </p:sp>
      <p:sp>
        <p:nvSpPr>
          <p:cNvPr id="9" name="矩形 8"/>
          <p:cNvSpPr/>
          <p:nvPr/>
        </p:nvSpPr>
        <p:spPr bwMode="auto">
          <a:xfrm>
            <a:off x="285720" y="2285998"/>
            <a:ext cx="7072362" cy="1857388"/>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Rectangle 2"/>
          <p:cNvSpPr>
            <a:spLocks noGrp="1" noChangeArrowheads="1"/>
          </p:cNvSpPr>
          <p:nvPr>
            <p:ph type="title" idx="4294967295"/>
          </p:nvPr>
        </p:nvSpPr>
        <p:spPr>
          <a:xfrm>
            <a:off x="457200" y="-18"/>
            <a:ext cx="8229600" cy="704850"/>
          </a:xfrm>
        </p:spPr>
        <p:txBody>
          <a:bodyPr/>
          <a:lstStyle/>
          <a:p>
            <a:r>
              <a:rPr lang="en-US" altLang="zh-CN" sz="3600" dirty="0"/>
              <a:t>1. </a:t>
            </a:r>
            <a:r>
              <a:rPr lang="zh-CN" sz="3600" dirty="0"/>
              <a:t>函数依赖</a:t>
            </a:r>
            <a:endParaRPr lang="zh-CN" sz="3600"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84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84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84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84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84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8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10"/>
          <p:cNvSpPr>
            <a:spLocks noChangeArrowheads="1"/>
          </p:cNvSpPr>
          <p:nvPr/>
        </p:nvSpPr>
        <p:spPr bwMode="auto">
          <a:xfrm>
            <a:off x="1839913" y="757238"/>
            <a:ext cx="184731" cy="52322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28" name="Rectangle 11"/>
          <p:cNvSpPr>
            <a:spLocks noChangeArrowheads="1"/>
          </p:cNvSpPr>
          <p:nvPr/>
        </p:nvSpPr>
        <p:spPr bwMode="auto">
          <a:xfrm>
            <a:off x="1839913" y="757238"/>
            <a:ext cx="184731" cy="52322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29" name="Rectangle 12"/>
          <p:cNvSpPr>
            <a:spLocks noChangeArrowheads="1"/>
          </p:cNvSpPr>
          <p:nvPr/>
        </p:nvSpPr>
        <p:spPr bwMode="auto">
          <a:xfrm>
            <a:off x="1839914" y="757238"/>
            <a:ext cx="184730" cy="52322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30" name="Rectangle 13"/>
          <p:cNvSpPr>
            <a:spLocks noChangeArrowheads="1"/>
          </p:cNvSpPr>
          <p:nvPr/>
        </p:nvSpPr>
        <p:spPr bwMode="auto">
          <a:xfrm>
            <a:off x="1839914" y="757238"/>
            <a:ext cx="184730" cy="52322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31" name="Rectangle 14"/>
          <p:cNvSpPr>
            <a:spLocks noChangeArrowheads="1"/>
          </p:cNvSpPr>
          <p:nvPr/>
        </p:nvSpPr>
        <p:spPr bwMode="auto">
          <a:xfrm>
            <a:off x="1839914" y="757238"/>
            <a:ext cx="184730" cy="52322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graphicFrame>
        <p:nvGraphicFramePr>
          <p:cNvPr id="26632" name="Group 8"/>
          <p:cNvGraphicFramePr>
            <a:graphicFrameLocks noGrp="1"/>
          </p:cNvGraphicFramePr>
          <p:nvPr/>
        </p:nvGraphicFramePr>
        <p:xfrm>
          <a:off x="827584" y="1221581"/>
          <a:ext cx="7632700" cy="2506402"/>
        </p:xfrm>
        <a:graphic>
          <a:graphicData uri="http://schemas.openxmlformats.org/drawingml/2006/table">
            <a:tbl>
              <a:tblPr/>
              <a:tblGrid>
                <a:gridCol w="1584325"/>
                <a:gridCol w="1466850"/>
                <a:gridCol w="1527175"/>
                <a:gridCol w="1527175"/>
                <a:gridCol w="1527175"/>
              </a:tblGrid>
              <a:tr h="366713">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Sno</a:t>
                      </a:r>
                      <a:endParaRPr kumimoji="0" 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Sname</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Ssex</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Sage</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Sdept</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tabLst>
                          <a:tab pos="269875" algn="l"/>
                          <a:tab pos="457200" algn="l"/>
                          <a:tab pos="571500" algn="l"/>
                        </a:tabLst>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S1</a:t>
                      </a: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张三</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男</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20</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计算机系</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S1</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李四</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女</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21</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自动化系</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S3</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王五</a:t>
                      </a:r>
                      <a:endParaRPr kumimoji="0" 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男</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20</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计算机系</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S4</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赵六</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男</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21</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计算机系</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S5</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田七</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tabLst>
                          <a:tab pos="269875" algn="r"/>
                          <a:tab pos="2636520" algn="ctr"/>
                          <a:tab pos="5273675" algn="r"/>
                        </a:tabLst>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男</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20</a:t>
                      </a:r>
                      <a:endPar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计算机系</a:t>
                      </a:r>
                      <a:endPar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5189">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6682" name="Rectangle 77"/>
          <p:cNvSpPr>
            <a:spLocks noChangeArrowheads="1"/>
          </p:cNvSpPr>
          <p:nvPr/>
        </p:nvSpPr>
        <p:spPr bwMode="auto">
          <a:xfrm>
            <a:off x="1403847" y="1971675"/>
            <a:ext cx="360363" cy="247650"/>
          </a:xfrm>
          <a:prstGeom prst="rect">
            <a:avLst/>
          </a:prstGeom>
          <a:noFill/>
          <a:ln w="25400">
            <a:solidFill>
              <a:srgbClr val="0066FF"/>
            </a:solidFill>
            <a:miter lim="800000"/>
          </a:ln>
        </p:spPr>
        <p:txBody>
          <a:bodyPr wrap="none" anchor="ct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83" name="Rectangle 78"/>
          <p:cNvSpPr>
            <a:spLocks noChangeArrowheads="1"/>
          </p:cNvSpPr>
          <p:nvPr/>
        </p:nvSpPr>
        <p:spPr bwMode="auto">
          <a:xfrm>
            <a:off x="1403847" y="1643055"/>
            <a:ext cx="360363" cy="257181"/>
          </a:xfrm>
          <a:prstGeom prst="rect">
            <a:avLst/>
          </a:prstGeom>
          <a:noFill/>
          <a:ln w="25400">
            <a:solidFill>
              <a:srgbClr val="0066FF"/>
            </a:solidFill>
            <a:miter lim="800000"/>
          </a:ln>
        </p:spPr>
        <p:txBody>
          <a:bodyPr wrap="none" anchor="ct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84" name="Rectangle 79"/>
          <p:cNvSpPr>
            <a:spLocks noChangeArrowheads="1"/>
          </p:cNvSpPr>
          <p:nvPr/>
        </p:nvSpPr>
        <p:spPr bwMode="auto">
          <a:xfrm>
            <a:off x="2556372" y="1971675"/>
            <a:ext cx="1223963" cy="276225"/>
          </a:xfrm>
          <a:prstGeom prst="rect">
            <a:avLst/>
          </a:prstGeom>
          <a:noFill/>
          <a:ln w="25400">
            <a:solidFill>
              <a:srgbClr val="0066FF"/>
            </a:solidFill>
            <a:miter lim="800000"/>
          </a:ln>
        </p:spPr>
        <p:txBody>
          <a:bodyPr wrap="none" anchor="ct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85" name="Rectangle 80"/>
          <p:cNvSpPr>
            <a:spLocks noChangeArrowheads="1"/>
          </p:cNvSpPr>
          <p:nvPr/>
        </p:nvSpPr>
        <p:spPr bwMode="auto">
          <a:xfrm>
            <a:off x="2556372" y="1571618"/>
            <a:ext cx="1223963" cy="328619"/>
          </a:xfrm>
          <a:prstGeom prst="rect">
            <a:avLst/>
          </a:prstGeom>
          <a:noFill/>
          <a:ln w="25400">
            <a:solidFill>
              <a:srgbClr val="0066FF"/>
            </a:solidFill>
            <a:miter lim="800000"/>
          </a:ln>
        </p:spPr>
        <p:txBody>
          <a:bodyPr wrap="none" anchor="ct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86" name="AutoShape 85"/>
          <p:cNvSpPr>
            <a:spLocks noChangeArrowheads="1"/>
          </p:cNvSpPr>
          <p:nvPr/>
        </p:nvSpPr>
        <p:spPr bwMode="auto">
          <a:xfrm>
            <a:off x="3786182" y="1071552"/>
            <a:ext cx="3143271" cy="295261"/>
          </a:xfrm>
          <a:prstGeom prst="wedgeRoundRectCallout">
            <a:avLst>
              <a:gd name="adj1" fmla="val -58963"/>
              <a:gd name="adj2" fmla="val 234972"/>
              <a:gd name="adj3" fmla="val 16667"/>
            </a:avLst>
          </a:prstGeom>
          <a:solidFill>
            <a:srgbClr val="FFFFCC"/>
          </a:solidFill>
          <a:ln w="9525">
            <a:solidFill>
              <a:srgbClr val="FFFFFF"/>
            </a:solidFill>
            <a:miter lim="800000"/>
          </a:ln>
        </p:spPr>
        <p:txBody>
          <a:bodyPr lIns="90000" tIns="46800" rIns="90000" bIns="46800" anchor="ctr"/>
          <a:lstStyle/>
          <a:p>
            <a:pPr algn="ctr">
              <a:buClr>
                <a:schemeClr val="accent1"/>
              </a:buClr>
              <a:buSzPct val="90000"/>
              <a:buFont typeface="Monotype Sorts" pitchFamily="2" charset="2"/>
              <a:buNone/>
            </a:pPr>
            <a:r>
              <a:rPr lang="zh-CN" altLang="en-US" sz="2400" b="1" dirty="0">
                <a:latin typeface="Times New Roman" panose="02020603050405020304" pitchFamily="18" charset="0"/>
              </a:rPr>
              <a:t>违背了</a:t>
            </a:r>
            <a:r>
              <a:rPr lang="en-US" altLang="zh-CN" sz="2400" b="1" dirty="0" err="1">
                <a:latin typeface="Times New Roman" panose="02020603050405020304" pitchFamily="18" charset="0"/>
              </a:rPr>
              <a:t>Sno</a:t>
            </a:r>
            <a:r>
              <a:rPr lang="en-US" altLang="zh-CN" sz="2400" b="1" dirty="0">
                <a:latin typeface="Times New Roman" panose="02020603050405020304" pitchFamily="18" charset="0"/>
              </a:rPr>
              <a:t> → </a:t>
            </a:r>
            <a:r>
              <a:rPr lang="en-US" altLang="zh-CN" sz="2400" b="1" dirty="0" err="1">
                <a:latin typeface="Times New Roman" panose="02020603050405020304" pitchFamily="18" charset="0"/>
              </a:rPr>
              <a:t>Sname</a:t>
            </a:r>
            <a:endParaRPr lang="en-US" altLang="zh-CN" sz="2400" b="1" dirty="0">
              <a:latin typeface="Times New Roman" panose="02020603050405020304" pitchFamily="18" charset="0"/>
            </a:endParaRPr>
          </a:p>
        </p:txBody>
      </p:sp>
      <p:pic>
        <p:nvPicPr>
          <p:cNvPr id="15" name="图片 14"/>
          <p:cNvPicPr>
            <a:picLocks noChangeAspect="1"/>
          </p:cNvPicPr>
          <p:nvPr/>
        </p:nvPicPr>
        <p:blipFill>
          <a:blip r:embed="rId1" cstate="print"/>
          <a:srcRect/>
          <a:stretch>
            <a:fillRect/>
          </a:stretch>
        </p:blipFill>
        <p:spPr bwMode="auto">
          <a:xfrm>
            <a:off x="5857885" y="2513545"/>
            <a:ext cx="1955862" cy="1987031"/>
          </a:xfrm>
          <a:prstGeom prst="rect">
            <a:avLst/>
          </a:prstGeom>
          <a:noFill/>
          <a:ln w="9525">
            <a:noFill/>
            <a:miter lim="800000"/>
            <a:headEnd/>
            <a:tailEnd/>
          </a:ln>
        </p:spPr>
      </p:pic>
      <p:sp>
        <p:nvSpPr>
          <p:cNvPr id="16" name="Rectangle 2"/>
          <p:cNvSpPr txBox="1">
            <a:spLocks noChangeArrowheads="1"/>
          </p:cNvSpPr>
          <p:nvPr/>
        </p:nvSpPr>
        <p:spPr bwMode="auto">
          <a:xfrm>
            <a:off x="457200" y="-18"/>
            <a:ext cx="8229600" cy="704850"/>
          </a:xfrm>
          <a:prstGeom prst="rect">
            <a:avLst/>
          </a:prstGeom>
          <a:noFill/>
          <a:ln w="9525">
            <a:noFill/>
            <a:miter lim="800000"/>
          </a:ln>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0" cap="none" spc="0" normalizeH="0" baseline="0" noProof="0" dirty="0">
                <a:ln>
                  <a:noFill/>
                </a:ln>
                <a:solidFill>
                  <a:schemeClr val="bg1"/>
                </a:solidFill>
                <a:effectLst/>
                <a:uLnTx/>
                <a:uFillTx/>
                <a:latin typeface="+mj-lt"/>
                <a:ea typeface="+mj-ea"/>
                <a:cs typeface="+mj-cs"/>
              </a:rPr>
              <a:t>1. </a:t>
            </a:r>
            <a:r>
              <a:rPr kumimoji="0" lang="zh-CN" sz="3600" b="1" i="0" u="none" strike="noStrike" kern="0" cap="none" spc="0" normalizeH="0" baseline="0" noProof="0" dirty="0">
                <a:ln>
                  <a:noFill/>
                </a:ln>
                <a:solidFill>
                  <a:schemeClr val="bg1"/>
                </a:solidFill>
                <a:effectLst/>
                <a:uLnTx/>
                <a:uFillTx/>
                <a:latin typeface="+mj-lt"/>
                <a:ea typeface="+mj-ea"/>
                <a:cs typeface="+mj-cs"/>
              </a:rPr>
              <a:t>函数依赖（续）</a:t>
            </a:r>
            <a:endParaRPr kumimoji="0" lang="zh-CN" sz="3600" b="1" i="0" u="none" strike="noStrike" kern="0" cap="none" spc="0" normalizeH="0" baseline="0" noProof="0" dirty="0">
              <a:ln>
                <a:noFill/>
              </a:ln>
              <a:solidFill>
                <a:schemeClr val="bg1"/>
              </a:solidFill>
              <a:effectLst/>
              <a:uLnTx/>
              <a:uFillTx/>
              <a:latin typeface="+mj-lt"/>
              <a:ea typeface="+mj-ea"/>
              <a:cs typeface="+mj-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6686"/>
                                        </p:tgtEl>
                                        <p:attrNameLst>
                                          <p:attrName>style.visibility</p:attrName>
                                        </p:attrNameLst>
                                      </p:cBhvr>
                                      <p:to>
                                        <p:strVal val="visible"/>
                                      </p:to>
                                    </p:set>
                                    <p:anim calcmode="lin" valueType="num">
                                      <p:cBhvr>
                                        <p:cTn id="7" dur="500" fill="hold"/>
                                        <p:tgtEl>
                                          <p:spTgt spid="26686"/>
                                        </p:tgtEl>
                                        <p:attrNameLst>
                                          <p:attrName>ppt_x</p:attrName>
                                        </p:attrNameLst>
                                      </p:cBhvr>
                                      <p:tavLst>
                                        <p:tav tm="0">
                                          <p:val>
                                            <p:strVal val="1+#ppt_w/2"/>
                                          </p:val>
                                        </p:tav>
                                        <p:tav tm="100000">
                                          <p:val>
                                            <p:strVal val="#ppt_x"/>
                                          </p:val>
                                        </p:tav>
                                      </p:tavLst>
                                    </p:anim>
                                    <p:anim calcmode="lin" valueType="num">
                                      <p:cBhvr>
                                        <p:cTn id="8" dur="500" fill="hold"/>
                                        <p:tgtEl>
                                          <p:spTgt spid="266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86" grpId="0" bldLvl="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zh-CN" sz="3600" dirty="0"/>
              <a:t>2. </a:t>
            </a:r>
            <a:r>
              <a:rPr lang="zh-CN" altLang="en-US" sz="3600" dirty="0"/>
              <a:t>如何确定函数依赖</a:t>
            </a:r>
            <a:endParaRPr lang="en-US" altLang="zh-CN" sz="3600" dirty="0"/>
          </a:p>
        </p:txBody>
      </p:sp>
      <p:sp>
        <p:nvSpPr>
          <p:cNvPr id="39939" name="Rectangle 3"/>
          <p:cNvSpPr>
            <a:spLocks noGrp="1" noChangeArrowheads="1"/>
          </p:cNvSpPr>
          <p:nvPr>
            <p:ph idx="1"/>
          </p:nvPr>
        </p:nvSpPr>
        <p:spPr>
          <a:xfrm>
            <a:off x="251520" y="627534"/>
            <a:ext cx="8401080" cy="3640931"/>
          </a:xfrm>
        </p:spPr>
        <p:txBody>
          <a:bodyPr/>
          <a:lstStyle/>
          <a:p>
            <a:r>
              <a:rPr lang="zh-CN" altLang="en-US" sz="2200" dirty="0"/>
              <a:t>函数依赖是语义范畴的概念。只能</a:t>
            </a:r>
            <a:r>
              <a:rPr lang="zh-CN" altLang="en-US" sz="2200" dirty="0">
                <a:solidFill>
                  <a:srgbClr val="FF0000"/>
                </a:solidFill>
              </a:rPr>
              <a:t>根据数据的语义来确定函数依赖</a:t>
            </a:r>
            <a:r>
              <a:rPr lang="zh-CN" altLang="en-US" sz="2200" dirty="0"/>
              <a:t>。</a:t>
            </a:r>
            <a:endParaRPr lang="zh-CN" altLang="en-US" sz="2200" dirty="0"/>
          </a:p>
          <a:p>
            <a:pPr lvl="1"/>
            <a:r>
              <a:rPr lang="zh-CN" altLang="en-US" sz="2200" dirty="0"/>
              <a:t>例如“姓名→年龄”这个函数依赖只有在“学生不允许有</a:t>
            </a:r>
            <a:r>
              <a:rPr lang="zh-CN" altLang="en-US" sz="2200" b="0" dirty="0"/>
              <a:t>重名”</a:t>
            </a:r>
            <a:r>
              <a:rPr lang="zh-CN" altLang="en-US" sz="2200" dirty="0"/>
              <a:t>的条件下成立</a:t>
            </a:r>
            <a:endParaRPr lang="zh-CN" altLang="en-US" sz="2200" dirty="0"/>
          </a:p>
          <a:p>
            <a:r>
              <a:rPr lang="zh-CN" altLang="en-US" sz="2200" dirty="0"/>
              <a:t>数据库设计者可以对现实世界作强制的规定。</a:t>
            </a:r>
            <a:endParaRPr lang="zh-CN" altLang="en-US" sz="2200" dirty="0"/>
          </a:p>
          <a:p>
            <a:pPr lvl="1"/>
            <a:r>
              <a:rPr lang="zh-CN" altLang="en-US" sz="2200" dirty="0"/>
              <a:t>例如设计者可以强行规定不允许学生有</a:t>
            </a:r>
            <a:r>
              <a:rPr lang="zh-CN" altLang="en-US" sz="2200" b="0" dirty="0"/>
              <a:t>重名</a:t>
            </a:r>
            <a:r>
              <a:rPr lang="zh-CN" altLang="en-US" sz="2200" dirty="0"/>
              <a:t>，因而使函数依赖“姓名→年龄”成立</a:t>
            </a:r>
            <a:endParaRPr lang="en-US" altLang="zh-CN" sz="2200" dirty="0"/>
          </a:p>
          <a:p>
            <a:r>
              <a:rPr lang="zh-CN" altLang="en-US" sz="2200" dirty="0">
                <a:latin typeface="Times New Roman" panose="02020603050405020304" pitchFamily="18" charset="0"/>
              </a:rPr>
              <a:t>函数依赖是指</a:t>
            </a:r>
            <a:r>
              <a:rPr lang="zh-CN" altLang="en-US" sz="2200" dirty="0">
                <a:solidFill>
                  <a:srgbClr val="FF0000"/>
                </a:solidFill>
                <a:latin typeface="Times New Roman" panose="02020603050405020304" pitchFamily="18" charset="0"/>
              </a:rPr>
              <a:t>关系模式</a:t>
            </a:r>
            <a:r>
              <a:rPr lang="en-US" altLang="zh-CN" sz="2200" dirty="0">
                <a:solidFill>
                  <a:srgbClr val="FF0000"/>
                </a:solidFill>
                <a:latin typeface="Times New Roman" panose="02020603050405020304" pitchFamily="18" charset="0"/>
              </a:rPr>
              <a:t>R</a:t>
            </a:r>
            <a:r>
              <a:rPr lang="zh-CN" altLang="en-US" sz="2200" dirty="0">
                <a:solidFill>
                  <a:srgbClr val="FF0000"/>
                </a:solidFill>
                <a:latin typeface="Times New Roman" panose="02020603050405020304" pitchFamily="18" charset="0"/>
              </a:rPr>
              <a:t>在任何时刻的关系实例均要满足的约束条件</a:t>
            </a:r>
            <a:r>
              <a:rPr lang="zh-CN" altLang="en-US" sz="2200" dirty="0">
                <a:latin typeface="Times New Roman" panose="02020603050405020304" pitchFamily="18" charset="0"/>
              </a:rPr>
              <a:t>。</a:t>
            </a:r>
            <a:endParaRPr lang="en-US" altLang="zh-CN" sz="2200" dirty="0">
              <a:latin typeface="Times New Roman" panose="02020603050405020304" pitchFamily="18" charset="0"/>
            </a:endParaRPr>
          </a:p>
          <a:p>
            <a:pPr lvl="1"/>
            <a:r>
              <a:rPr lang="zh-CN" altLang="en-US" sz="2200" dirty="0">
                <a:latin typeface="Times New Roman" panose="02020603050405020304" pitchFamily="18" charset="0"/>
              </a:rPr>
              <a:t>不是指</a:t>
            </a:r>
            <a:r>
              <a:rPr lang="zh-CN" altLang="en-US" sz="2200" dirty="0">
                <a:solidFill>
                  <a:srgbClr val="FF0000"/>
                </a:solidFill>
                <a:latin typeface="Times New Roman" panose="02020603050405020304" pitchFamily="18" charset="0"/>
              </a:rPr>
              <a:t>某个或某些关系实例</a:t>
            </a:r>
            <a:r>
              <a:rPr lang="zh-CN" altLang="en-US" sz="2200" dirty="0">
                <a:latin typeface="Times New Roman" panose="02020603050405020304" pitchFamily="18" charset="0"/>
              </a:rPr>
              <a:t>满足的约束条件，而是指</a:t>
            </a:r>
            <a:r>
              <a:rPr lang="en-US" altLang="zh-CN" sz="2200" dirty="0">
                <a:latin typeface="Times New Roman" panose="02020603050405020304" pitchFamily="18" charset="0"/>
              </a:rPr>
              <a:t>R</a:t>
            </a:r>
            <a:r>
              <a:rPr lang="zh-CN" altLang="en-US" sz="2200" dirty="0">
                <a:latin typeface="Times New Roman" panose="02020603050405020304" pitchFamily="18" charset="0"/>
              </a:rPr>
              <a:t>的</a:t>
            </a:r>
            <a:r>
              <a:rPr lang="zh-CN" altLang="en-US" sz="2200" dirty="0">
                <a:solidFill>
                  <a:srgbClr val="FF0000"/>
                </a:solidFill>
                <a:latin typeface="Times New Roman" panose="02020603050405020304" pitchFamily="18" charset="0"/>
              </a:rPr>
              <a:t>所有关系实例</a:t>
            </a:r>
            <a:r>
              <a:rPr lang="zh-CN" altLang="en-US" sz="2200" dirty="0">
                <a:latin typeface="Times New Roman" panose="02020603050405020304" pitchFamily="18" charset="0"/>
              </a:rPr>
              <a:t>均要满足的约束条件。</a:t>
            </a:r>
            <a:endParaRPr lang="zh-CN" altLang="en-US" sz="2200" dirty="0"/>
          </a:p>
          <a:p>
            <a:pPr>
              <a:buNone/>
            </a:pPr>
            <a:endParaRPr lang="zh-CN" altLang="en-US" sz="2200" dirty="0"/>
          </a:p>
        </p:txBody>
      </p:sp>
    </p:spTree>
  </p:cSld>
  <p:clrMapOvr>
    <a:masterClrMapping/>
  </p:clrMapOvr>
  <p:transition spd="slow">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dirty="0"/>
              <a:t>思考：“语义”范畴</a:t>
            </a:r>
            <a:endParaRPr lang="zh-CN" altLang="en-US" dirty="0"/>
          </a:p>
        </p:txBody>
      </p:sp>
      <p:sp>
        <p:nvSpPr>
          <p:cNvPr id="7171" name="内容占位符 2"/>
          <p:cNvSpPr>
            <a:spLocks noGrp="1"/>
          </p:cNvSpPr>
          <p:nvPr>
            <p:ph idx="1"/>
          </p:nvPr>
        </p:nvSpPr>
        <p:spPr>
          <a:xfrm>
            <a:off x="680720" y="771525"/>
            <a:ext cx="8308340" cy="3641090"/>
          </a:xfrm>
        </p:spPr>
        <p:txBody>
          <a:bodyPr/>
          <a:lstStyle/>
          <a:p>
            <a:r>
              <a:rPr lang="zh-CN" altLang="en-US" dirty="0"/>
              <a:t>为什么说函数依赖是“语义”范畴？</a:t>
            </a:r>
            <a:endParaRPr lang="en-US" altLang="zh-CN" dirty="0"/>
          </a:p>
          <a:p>
            <a:r>
              <a:rPr lang="zh-CN" altLang="en-US" dirty="0"/>
              <a:t>看看下面的表格，可以单纯用统计或者机器学习的方法去确定下表中可能存在的函数依赖吗？</a:t>
            </a:r>
            <a:endParaRPr lang="en-US" altLang="zh-CN" dirty="0"/>
          </a:p>
          <a:p>
            <a:endParaRPr lang="zh-CN" altLang="en-US" dirty="0"/>
          </a:p>
        </p:txBody>
      </p:sp>
      <p:pic>
        <p:nvPicPr>
          <p:cNvPr id="7172"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59236" y="2211864"/>
            <a:ext cx="4225528"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a:t>分析</a:t>
            </a:r>
            <a:endParaRPr lang="zh-CN" altLang="en-US"/>
          </a:p>
        </p:txBody>
      </p:sp>
      <p:sp>
        <p:nvSpPr>
          <p:cNvPr id="9219" name="内容占位符 2"/>
          <p:cNvSpPr>
            <a:spLocks noGrp="1"/>
          </p:cNvSpPr>
          <p:nvPr>
            <p:ph idx="1"/>
          </p:nvPr>
        </p:nvSpPr>
        <p:spPr/>
        <p:txBody>
          <a:bodyPr/>
          <a:lstStyle/>
          <a:p>
            <a:r>
              <a:rPr lang="zh-CN" altLang="en-US" sz="1800" dirty="0"/>
              <a:t>语义，来自于对业务逻辑的理解，要求数据百分百满足。</a:t>
            </a:r>
            <a:endParaRPr lang="en-US" altLang="zh-CN" sz="1800" dirty="0"/>
          </a:p>
          <a:p>
            <a:pPr lvl="1"/>
            <a:r>
              <a:rPr lang="zh-CN" altLang="en-US" sz="1500" dirty="0"/>
              <a:t>比如，身份证号是唯一的，学号是唯一的，一个系只有一个系主任。等等。</a:t>
            </a:r>
            <a:endParaRPr lang="en-US" altLang="zh-CN" sz="1500" dirty="0"/>
          </a:p>
          <a:p>
            <a:r>
              <a:rPr lang="zh-CN" altLang="en-US" sz="1800" dirty="0"/>
              <a:t>统计或机器学习，只是反映数据的分布规律，只能作为参考，不能直接用作约束或者函数依赖。</a:t>
            </a:r>
            <a:endParaRPr lang="en-US" altLang="zh-CN" sz="1800" dirty="0"/>
          </a:p>
          <a:p>
            <a:r>
              <a:rPr lang="zh-CN" altLang="en-US" sz="1800" dirty="0"/>
              <a:t>然而业务专家在制定语义规则时，难免有遗漏。而且很多时候，我们只有数据，没有或只有少量的语义规则。</a:t>
            </a:r>
            <a:endParaRPr lang="en-US" altLang="zh-CN" sz="1800" dirty="0"/>
          </a:p>
          <a:p>
            <a:r>
              <a:rPr lang="zh-CN" altLang="en-US" sz="1800" dirty="0"/>
              <a:t>此时就需要我们从数据中“挖掘”或发现可能的规则。</a:t>
            </a:r>
            <a:endParaRPr lang="zh-CN" altLang="en-US" sz="1800" dirty="0"/>
          </a:p>
          <a:p>
            <a:endParaRPr lang="zh-CN" altLang="en-US" sz="1800" dirty="0"/>
          </a:p>
        </p:txBody>
      </p:sp>
    </p:spTree>
  </p:cSld>
  <p:clrMapOvr>
    <a:masterClrMapping/>
  </p:clrMapOvr>
  <p:transition spd="slow">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3"/>
          <p:cNvSpPr>
            <a:spLocks noGrp="1" noChangeArrowheads="1"/>
          </p:cNvSpPr>
          <p:nvPr>
            <p:ph idx="1"/>
          </p:nvPr>
        </p:nvSpPr>
        <p:spPr>
          <a:xfrm>
            <a:off x="457200" y="716769"/>
            <a:ext cx="8229600" cy="3640931"/>
          </a:xfrm>
        </p:spPr>
        <p:txBody>
          <a:bodyPr/>
          <a:lstStyle/>
          <a:p>
            <a:pPr marL="342900" indent="-342900" algn="l"/>
            <a:r>
              <a:rPr lang="zh-CN" altLang="en-US" dirty="0"/>
              <a:t>由下面的关系表</a:t>
            </a:r>
            <a:r>
              <a:rPr lang="en-US" altLang="zh-CN" dirty="0"/>
              <a:t>, </a:t>
            </a:r>
            <a:r>
              <a:rPr lang="zh-CN" altLang="en-US" dirty="0"/>
              <a:t>能否得出</a:t>
            </a:r>
            <a:r>
              <a:rPr lang="en-US" altLang="zh-CN" dirty="0" err="1">
                <a:solidFill>
                  <a:srgbClr val="C00000"/>
                </a:solidFill>
              </a:rPr>
              <a:t>Sno</a:t>
            </a:r>
            <a:r>
              <a:rPr lang="en-US" altLang="zh-CN" dirty="0">
                <a:solidFill>
                  <a:srgbClr val="C00000"/>
                </a:solidFill>
              </a:rPr>
              <a:t> → </a:t>
            </a:r>
            <a:r>
              <a:rPr lang="en-US" altLang="zh-CN" dirty="0" err="1">
                <a:solidFill>
                  <a:srgbClr val="C00000"/>
                </a:solidFill>
              </a:rPr>
              <a:t>Sname</a:t>
            </a:r>
            <a:endParaRPr lang="zh-CN" altLang="en-US" dirty="0">
              <a:solidFill>
                <a:srgbClr val="C00000"/>
              </a:solidFill>
            </a:endParaRPr>
          </a:p>
        </p:txBody>
      </p:sp>
      <p:sp>
        <p:nvSpPr>
          <p:cNvPr id="27652" name="Rectangle 8"/>
          <p:cNvSpPr>
            <a:spLocks noChangeArrowheads="1"/>
          </p:cNvSpPr>
          <p:nvPr/>
        </p:nvSpPr>
        <p:spPr bwMode="auto">
          <a:xfrm>
            <a:off x="1839913" y="757238"/>
            <a:ext cx="184731" cy="52322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7653" name="Rectangle 9"/>
          <p:cNvSpPr>
            <a:spLocks noChangeArrowheads="1"/>
          </p:cNvSpPr>
          <p:nvPr/>
        </p:nvSpPr>
        <p:spPr bwMode="auto">
          <a:xfrm>
            <a:off x="1839913" y="757238"/>
            <a:ext cx="184731" cy="52322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7654" name="Rectangle 10"/>
          <p:cNvSpPr>
            <a:spLocks noChangeArrowheads="1"/>
          </p:cNvSpPr>
          <p:nvPr/>
        </p:nvSpPr>
        <p:spPr bwMode="auto">
          <a:xfrm>
            <a:off x="1839914" y="757238"/>
            <a:ext cx="184730" cy="52322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7655" name="Rectangle 11"/>
          <p:cNvSpPr>
            <a:spLocks noChangeArrowheads="1"/>
          </p:cNvSpPr>
          <p:nvPr/>
        </p:nvSpPr>
        <p:spPr bwMode="auto">
          <a:xfrm>
            <a:off x="1839914" y="757238"/>
            <a:ext cx="184730" cy="52322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graphicFrame>
        <p:nvGraphicFramePr>
          <p:cNvPr id="27656" name="Group 8"/>
          <p:cNvGraphicFramePr>
            <a:graphicFrameLocks noGrp="1"/>
          </p:cNvGraphicFramePr>
          <p:nvPr/>
        </p:nvGraphicFramePr>
        <p:xfrm>
          <a:off x="900113" y="1275160"/>
          <a:ext cx="7632700" cy="2506402"/>
        </p:xfrm>
        <a:graphic>
          <a:graphicData uri="http://schemas.openxmlformats.org/drawingml/2006/table">
            <a:tbl>
              <a:tblPr/>
              <a:tblGrid>
                <a:gridCol w="1584325"/>
                <a:gridCol w="1466850"/>
                <a:gridCol w="1527175"/>
                <a:gridCol w="1527175"/>
                <a:gridCol w="1527175"/>
              </a:tblGrid>
              <a:tr h="366713">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dirty="0" err="1">
                          <a:ln>
                            <a:noFill/>
                          </a:ln>
                          <a:solidFill>
                            <a:schemeClr val="tx1"/>
                          </a:solidFill>
                          <a:effectLst/>
                          <a:latin typeface="+mn-lt"/>
                          <a:ea typeface="宋体" panose="02010600030101010101" pitchFamily="2" charset="-122"/>
                          <a:sym typeface="Times New Roman" panose="02020603050405020304" pitchFamily="18" charset="0"/>
                        </a:rPr>
                        <a:t>Sno</a:t>
                      </a:r>
                      <a:endParaRPr kumimoji="0" lang="en-US" sz="1800" b="1" i="0" u="none" strike="noStrike" cap="none" normalizeH="0" baseline="0" dirty="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Sname</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Ssex</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Sage</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Sdept</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tabLst>
                          <a:tab pos="269875" algn="l"/>
                          <a:tab pos="457200" algn="l"/>
                          <a:tab pos="571500" algn="l"/>
                        </a:tabLst>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S1</a:t>
                      </a:r>
                      <a:r>
                        <a:rPr kumimoji="0" lang="en-US" sz="1800" b="0"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en-US" sz="1800" b="0"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张三</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男</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20</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计算机系</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S2</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李四</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女</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21</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自动化系</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S3</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王五</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男</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20</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计算机系</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S4</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赵六</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男</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21</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计算机系</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S5</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田七</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tabLst>
                          <a:tab pos="269875" algn="r"/>
                          <a:tab pos="2636520" algn="ctr"/>
                          <a:tab pos="5273675" algn="r"/>
                        </a:tabLst>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男</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20</a:t>
                      </a:r>
                      <a:endPar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计算机系</a:t>
                      </a:r>
                      <a:endParaRPr kumimoji="0" lang="zh-CN"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5189">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mn-lt"/>
                        <a:ea typeface="宋体" panose="02010600030101010101" pitchFamily="2" charset="-122"/>
                        <a:sym typeface="Arial" panose="020B0604020202020204"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mn-lt"/>
                        <a:ea typeface="宋体" panose="02010600030101010101" pitchFamily="2" charset="-122"/>
                        <a:sym typeface="Arial" panose="020B0604020202020204"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mn-lt"/>
                        <a:ea typeface="宋体" panose="02010600030101010101" pitchFamily="2" charset="-122"/>
                        <a:sym typeface="Arial" panose="020B0604020202020204"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a:ln>
                          <a:noFill/>
                        </a:ln>
                        <a:solidFill>
                          <a:schemeClr val="tx1"/>
                        </a:solidFill>
                        <a:effectLst/>
                        <a:latin typeface="+mn-lt"/>
                        <a:ea typeface="宋体" panose="02010600030101010101" pitchFamily="2" charset="-122"/>
                        <a:sym typeface="Arial" panose="020B0604020202020204"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dirty="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dirty="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1800" b="1" i="0" u="none" strike="noStrike" cap="none" normalizeH="0" baseline="0" dirty="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mn-lt"/>
                        <a:ea typeface="宋体" panose="02010600030101010101" pitchFamily="2" charset="-122"/>
                        <a:sym typeface="Arial" panose="020B0604020202020204"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7706" name="AutoShape 81"/>
          <p:cNvSpPr/>
          <p:nvPr/>
        </p:nvSpPr>
        <p:spPr bwMode="auto">
          <a:xfrm>
            <a:off x="785786" y="3921919"/>
            <a:ext cx="7920037" cy="702469"/>
          </a:xfrm>
          <a:prstGeom prst="borderCallout1">
            <a:avLst>
              <a:gd name="adj1" fmla="val 87500"/>
              <a:gd name="adj2" fmla="val -991"/>
              <a:gd name="adj3" fmla="val -345657"/>
              <a:gd name="adj4" fmla="val -991"/>
            </a:avLst>
          </a:prstGeom>
          <a:gradFill rotWithShape="1">
            <a:gsLst>
              <a:gs pos="0">
                <a:srgbClr val="A8A8E2"/>
              </a:gs>
              <a:gs pos="34999">
                <a:srgbClr val="C3C3EA"/>
              </a:gs>
              <a:gs pos="100000">
                <a:srgbClr val="E6E6F8"/>
              </a:gs>
            </a:gsLst>
            <a:lin ang="5400000" scaled="1"/>
          </a:gradFill>
          <a:ln w="9525">
            <a:solidFill>
              <a:srgbClr val="2D2D8A"/>
            </a:solidFill>
            <a:miter lim="800000"/>
          </a:ln>
        </p:spPr>
        <p:txBody>
          <a:bodyPr lIns="90000" tIns="46800" rIns="90000" bIns="46800" anchor="ctr"/>
          <a:lstStyle/>
          <a:p>
            <a:pPr>
              <a:buClr>
                <a:schemeClr val="accent1"/>
              </a:buClr>
              <a:buSzPct val="90000"/>
              <a:buFont typeface="Monotype Sorts" pitchFamily="2" charset="2"/>
              <a:buNone/>
            </a:pPr>
            <a:r>
              <a:rPr lang="zh-CN" altLang="en-US" sz="2400" dirty="0">
                <a:latin typeface="Times New Roman" panose="02020603050405020304" pitchFamily="18" charset="0"/>
              </a:rPr>
              <a:t>函数依赖不是指关系模式</a:t>
            </a:r>
            <a:r>
              <a:rPr lang="en-US" altLang="zh-CN" sz="2400" dirty="0">
                <a:latin typeface="Times New Roman" panose="02020603050405020304" pitchFamily="18" charset="0"/>
              </a:rPr>
              <a:t>R</a:t>
            </a:r>
            <a:r>
              <a:rPr lang="zh-CN" altLang="en-US" sz="2400" dirty="0">
                <a:latin typeface="Times New Roman" panose="02020603050405020304" pitchFamily="18" charset="0"/>
              </a:rPr>
              <a:t>的</a:t>
            </a:r>
            <a:r>
              <a:rPr lang="zh-CN" altLang="en-US" sz="2400" b="1" dirty="0">
                <a:solidFill>
                  <a:srgbClr val="FF0000"/>
                </a:solidFill>
                <a:latin typeface="Times New Roman" panose="02020603050405020304" pitchFamily="18" charset="0"/>
              </a:rPr>
              <a:t>某个或某些关系实例</a:t>
            </a:r>
            <a:r>
              <a:rPr lang="zh-CN" altLang="en-US" sz="2400" dirty="0">
                <a:latin typeface="Times New Roman" panose="02020603050405020304" pitchFamily="18" charset="0"/>
              </a:rPr>
              <a:t>满足的约束条件，而是指</a:t>
            </a:r>
            <a:r>
              <a:rPr lang="en-US" altLang="zh-CN" sz="2400" dirty="0">
                <a:latin typeface="Times New Roman" panose="02020603050405020304" pitchFamily="18" charset="0"/>
              </a:rPr>
              <a:t>R</a:t>
            </a:r>
            <a:r>
              <a:rPr lang="zh-CN" altLang="en-US" sz="2400" dirty="0">
                <a:latin typeface="Times New Roman" panose="02020603050405020304" pitchFamily="18" charset="0"/>
              </a:rPr>
              <a:t>的</a:t>
            </a:r>
            <a:r>
              <a:rPr lang="zh-CN" altLang="en-US" sz="2400" b="1" dirty="0">
                <a:solidFill>
                  <a:srgbClr val="FF0000"/>
                </a:solidFill>
                <a:latin typeface="Times New Roman" panose="02020603050405020304" pitchFamily="18" charset="0"/>
              </a:rPr>
              <a:t>所有关系实例</a:t>
            </a:r>
            <a:r>
              <a:rPr lang="zh-CN" altLang="en-US" sz="2400" dirty="0">
                <a:latin typeface="Times New Roman" panose="02020603050405020304" pitchFamily="18" charset="0"/>
              </a:rPr>
              <a:t>均要满足的约束条件。</a:t>
            </a:r>
            <a:endParaRPr lang="zh-CN" altLang="en-US" dirty="0"/>
          </a:p>
        </p:txBody>
      </p:sp>
      <p:sp>
        <p:nvSpPr>
          <p:cNvPr id="10" name="Rectangle 2"/>
          <p:cNvSpPr txBox="1">
            <a:spLocks noChangeArrowheads="1"/>
          </p:cNvSpPr>
          <p:nvPr/>
        </p:nvSpPr>
        <p:spPr bwMode="auto">
          <a:xfrm>
            <a:off x="285720" y="-71456"/>
            <a:ext cx="8401080" cy="853679"/>
          </a:xfrm>
          <a:prstGeom prst="rect">
            <a:avLst/>
          </a:prstGeom>
          <a:noFill/>
          <a:ln w="9525">
            <a:noFill/>
            <a:miter lim="800000"/>
          </a:ln>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0" cap="none" spc="0" normalizeH="0" baseline="0" noProof="0" dirty="0">
                <a:ln>
                  <a:noFill/>
                </a:ln>
                <a:solidFill>
                  <a:schemeClr val="bg1"/>
                </a:solidFill>
                <a:effectLst/>
                <a:uLnTx/>
                <a:uFillTx/>
                <a:latin typeface="+mj-lt"/>
                <a:ea typeface="+mj-ea"/>
                <a:cs typeface="+mj-cs"/>
              </a:rPr>
              <a:t>2. </a:t>
            </a:r>
            <a:r>
              <a:rPr kumimoji="0" lang="zh-CN" altLang="en-US" sz="3600" b="1" i="0" u="none" strike="noStrike" kern="0" cap="none" spc="0" normalizeH="0" baseline="0" noProof="0" dirty="0">
                <a:ln>
                  <a:noFill/>
                </a:ln>
                <a:solidFill>
                  <a:schemeClr val="bg1"/>
                </a:solidFill>
                <a:effectLst/>
                <a:uLnTx/>
                <a:uFillTx/>
                <a:latin typeface="+mj-lt"/>
                <a:ea typeface="+mj-ea"/>
                <a:cs typeface="+mj-cs"/>
              </a:rPr>
              <a:t>如何确定函数依赖（续）</a:t>
            </a:r>
            <a:endParaRPr kumimoji="0" lang="en-US" altLang="zh-CN" sz="3600" b="1" i="0" u="none" strike="noStrike" kern="0" cap="none" spc="0" normalizeH="0" baseline="0" noProof="0" dirty="0">
              <a:ln>
                <a:noFill/>
              </a:ln>
              <a:solidFill>
                <a:schemeClr val="bg1"/>
              </a:solidFill>
              <a:effectLst/>
              <a:uLnTx/>
              <a:uFillTx/>
              <a:latin typeface="+mj-lt"/>
              <a:ea typeface="+mj-ea"/>
              <a:cs typeface="+mj-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706"/>
                                        </p:tgtEl>
                                        <p:attrNameLst>
                                          <p:attrName>style.visibility</p:attrName>
                                        </p:attrNameLst>
                                      </p:cBhvr>
                                      <p:to>
                                        <p:strVal val="visible"/>
                                      </p:to>
                                    </p:set>
                                    <p:anim calcmode="lin" valueType="num">
                                      <p:cBhvr>
                                        <p:cTn id="7" dur="500" fill="hold"/>
                                        <p:tgtEl>
                                          <p:spTgt spid="27706"/>
                                        </p:tgtEl>
                                        <p:attrNameLst>
                                          <p:attrName>ppt_x</p:attrName>
                                        </p:attrNameLst>
                                      </p:cBhvr>
                                      <p:tavLst>
                                        <p:tav tm="0">
                                          <p:val>
                                            <p:strVal val="#ppt_x"/>
                                          </p:val>
                                        </p:tav>
                                        <p:tav tm="100000">
                                          <p:val>
                                            <p:strVal val="#ppt_x"/>
                                          </p:val>
                                        </p:tav>
                                      </p:tavLst>
                                    </p:anim>
                                    <p:anim calcmode="lin" valueType="num">
                                      <p:cBhvr>
                                        <p:cTn id="8" dur="500" fill="hold"/>
                                        <p:tgtEl>
                                          <p:spTgt spid="277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06" grpId="0" bldLvl="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思考：</a:t>
            </a:r>
            <a:r>
              <a:rPr lang="en-US" altLang="zh-CN"/>
              <a:t>DBMS</a:t>
            </a:r>
            <a:r>
              <a:rPr lang="zh-CN" altLang="en-US"/>
              <a:t>能保证函数依赖</a:t>
            </a:r>
            <a:r>
              <a:rPr lang="zh-CN" altLang="en-US"/>
              <a:t>吗？</a:t>
            </a:r>
            <a:endParaRPr lang="zh-CN" altLang="en-US"/>
          </a:p>
        </p:txBody>
      </p:sp>
      <p:sp>
        <p:nvSpPr>
          <p:cNvPr id="3" name="内容占位符 2"/>
          <p:cNvSpPr>
            <a:spLocks noGrp="1"/>
          </p:cNvSpPr>
          <p:nvPr>
            <p:ph idx="1"/>
          </p:nvPr>
        </p:nvSpPr>
        <p:spPr/>
        <p:txBody>
          <a:bodyPr/>
          <a:p>
            <a:r>
              <a:rPr lang="zh-CN" altLang="en-US"/>
              <a:t>函数依赖也是一种约束</a:t>
            </a:r>
            <a:r>
              <a:rPr lang="zh-CN" altLang="en-US"/>
              <a:t>条件</a:t>
            </a:r>
            <a:endParaRPr lang="zh-CN" altLang="en-US"/>
          </a:p>
          <a:p>
            <a:r>
              <a:rPr lang="zh-CN" altLang="en-US"/>
              <a:t>如何</a:t>
            </a:r>
            <a:r>
              <a:rPr lang="zh-CN" altLang="en-US"/>
              <a:t>定义？</a:t>
            </a:r>
            <a:endParaRPr lang="zh-CN" altLang="en-US"/>
          </a:p>
          <a:p>
            <a:r>
              <a:rPr lang="en-US" altLang="zh-CN"/>
              <a:t>DBMS</a:t>
            </a:r>
            <a:r>
              <a:rPr lang="zh-CN" altLang="en-US"/>
              <a:t>如何去检查违约、处理</a:t>
            </a:r>
            <a:r>
              <a:rPr lang="zh-CN" altLang="en-US"/>
              <a:t>违约？</a:t>
            </a:r>
            <a:endParaRPr lang="zh-CN" altLang="en-US"/>
          </a:p>
        </p:txBody>
      </p:sp>
    </p:spTree>
  </p:cSld>
  <p:clrMapOvr>
    <a:masterClrMapping/>
  </p:clrMapOvr>
  <p:transition spd="slow">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85720" y="-142894"/>
            <a:ext cx="8401080" cy="853679"/>
          </a:xfrm>
        </p:spPr>
        <p:txBody>
          <a:bodyPr/>
          <a:lstStyle/>
          <a:p>
            <a:pPr eaLnBrk="1" hangingPunct="1">
              <a:lnSpc>
                <a:spcPct val="130000"/>
              </a:lnSpc>
            </a:pPr>
            <a:r>
              <a:rPr lang="en-US" altLang="zh-CN" sz="3600" dirty="0"/>
              <a:t>3. </a:t>
            </a:r>
            <a:r>
              <a:rPr lang="zh-CN" altLang="en-US" sz="3600" dirty="0"/>
              <a:t>平凡函数依赖与非平凡函数依赖</a:t>
            </a:r>
            <a:endParaRPr lang="zh-CN" altLang="en-US" sz="3600" dirty="0"/>
          </a:p>
        </p:txBody>
      </p:sp>
      <p:sp>
        <p:nvSpPr>
          <p:cNvPr id="40963" name="Rectangle 3"/>
          <p:cNvSpPr>
            <a:spLocks noGrp="1" noChangeArrowheads="1"/>
          </p:cNvSpPr>
          <p:nvPr>
            <p:ph idx="1"/>
          </p:nvPr>
        </p:nvSpPr>
        <p:spPr>
          <a:xfrm>
            <a:off x="457200" y="844153"/>
            <a:ext cx="8867328" cy="3643313"/>
          </a:xfrm>
        </p:spPr>
        <p:txBody>
          <a:bodyPr/>
          <a:lstStyle/>
          <a:p>
            <a:r>
              <a:rPr lang="en-US" altLang="zh-CN" dirty="0"/>
              <a:t>X→Y</a:t>
            </a:r>
            <a:r>
              <a:rPr lang="zh-CN" altLang="en-US" dirty="0"/>
              <a:t>，但</a:t>
            </a:r>
            <a:r>
              <a:rPr lang="en-US" altLang="zh-CN" dirty="0"/>
              <a:t>Y⊈X</a:t>
            </a:r>
            <a:r>
              <a:rPr lang="zh-CN" altLang="en-US" dirty="0"/>
              <a:t>则称</a:t>
            </a:r>
            <a:r>
              <a:rPr lang="en-US" altLang="zh-CN" dirty="0"/>
              <a:t>X→Y</a:t>
            </a:r>
            <a:r>
              <a:rPr lang="zh-CN" altLang="en-US" dirty="0"/>
              <a:t>是</a:t>
            </a:r>
            <a:r>
              <a:rPr lang="zh-CN" altLang="en-US" dirty="0">
                <a:solidFill>
                  <a:srgbClr val="C00000"/>
                </a:solidFill>
              </a:rPr>
              <a:t>非平凡的函数依赖</a:t>
            </a:r>
            <a:r>
              <a:rPr lang="zh-CN" altLang="en-US" dirty="0"/>
              <a:t>。</a:t>
            </a:r>
            <a:endParaRPr lang="zh-CN" altLang="en-US" dirty="0"/>
          </a:p>
          <a:p>
            <a:r>
              <a:rPr lang="en-US" altLang="zh-CN" dirty="0"/>
              <a:t>X→Y</a:t>
            </a:r>
            <a:r>
              <a:rPr lang="zh-CN" altLang="en-US" dirty="0"/>
              <a:t>，但</a:t>
            </a:r>
            <a:r>
              <a:rPr lang="en-US" altLang="zh-CN" dirty="0"/>
              <a:t>Y⊆X </a:t>
            </a:r>
            <a:r>
              <a:rPr lang="zh-CN" altLang="en-US" dirty="0"/>
              <a:t>则称</a:t>
            </a:r>
            <a:r>
              <a:rPr lang="en-US" altLang="zh-CN" dirty="0"/>
              <a:t>X→Y</a:t>
            </a:r>
            <a:r>
              <a:rPr lang="zh-CN" altLang="en-US" dirty="0"/>
              <a:t>是</a:t>
            </a:r>
            <a:r>
              <a:rPr lang="zh-CN" altLang="en-US" dirty="0">
                <a:solidFill>
                  <a:srgbClr val="C00000"/>
                </a:solidFill>
              </a:rPr>
              <a:t>平凡的函数依赖</a:t>
            </a:r>
            <a:r>
              <a:rPr lang="zh-CN" altLang="en-US" dirty="0"/>
              <a:t>。</a:t>
            </a:r>
            <a:endParaRPr lang="zh-CN" altLang="en-US" dirty="0"/>
          </a:p>
          <a:p>
            <a:pPr lvl="1"/>
            <a:r>
              <a:rPr lang="zh-CN" altLang="en-US" dirty="0"/>
              <a:t>例：在关系</a:t>
            </a:r>
            <a:r>
              <a:rPr lang="en-US" altLang="zh-CN" dirty="0"/>
              <a:t>SC(</a:t>
            </a:r>
            <a:r>
              <a:rPr lang="en-US" altLang="zh-CN" dirty="0" err="1"/>
              <a:t>Sno</a:t>
            </a:r>
            <a:r>
              <a:rPr lang="en-US" altLang="zh-CN" dirty="0"/>
              <a:t>, </a:t>
            </a:r>
            <a:r>
              <a:rPr lang="en-US" altLang="zh-CN" dirty="0" err="1"/>
              <a:t>Cno</a:t>
            </a:r>
            <a:r>
              <a:rPr lang="en-US" altLang="zh-CN" dirty="0"/>
              <a:t>, Grade)</a:t>
            </a:r>
            <a:r>
              <a:rPr lang="zh-CN" altLang="en-US" dirty="0"/>
              <a:t>中，</a:t>
            </a:r>
            <a:endParaRPr lang="zh-CN" altLang="en-US" dirty="0"/>
          </a:p>
          <a:p>
            <a:pPr marL="457200" lvl="1" indent="0">
              <a:buNone/>
            </a:pPr>
            <a:r>
              <a:rPr lang="zh-CN" altLang="en-US" dirty="0"/>
              <a:t> 非平凡函数依赖： </a:t>
            </a:r>
            <a:r>
              <a:rPr lang="en-US" altLang="zh-CN" dirty="0"/>
              <a:t>(</a:t>
            </a:r>
            <a:r>
              <a:rPr lang="en-US" altLang="zh-CN" dirty="0" err="1"/>
              <a:t>Sno</a:t>
            </a:r>
            <a:r>
              <a:rPr lang="en-US" altLang="zh-CN" dirty="0"/>
              <a:t>, </a:t>
            </a:r>
            <a:r>
              <a:rPr lang="en-US" altLang="zh-CN" dirty="0" err="1"/>
              <a:t>Cno</a:t>
            </a:r>
            <a:r>
              <a:rPr lang="en-US" altLang="zh-CN" dirty="0"/>
              <a:t>) → Grade</a:t>
            </a:r>
            <a:endParaRPr lang="en-US" altLang="zh-CN" dirty="0"/>
          </a:p>
          <a:p>
            <a:pPr marL="457200" lvl="1" indent="0">
              <a:buNone/>
            </a:pPr>
            <a:r>
              <a:rPr lang="en-US" altLang="zh-CN" dirty="0"/>
              <a:t> </a:t>
            </a:r>
            <a:r>
              <a:rPr lang="zh-CN" altLang="en-US" dirty="0"/>
              <a:t>平凡函数依赖：     </a:t>
            </a:r>
            <a:r>
              <a:rPr lang="en-US" altLang="zh-CN" dirty="0"/>
              <a:t>(</a:t>
            </a:r>
            <a:r>
              <a:rPr lang="en-US" altLang="zh-CN" dirty="0" err="1"/>
              <a:t>Sno</a:t>
            </a:r>
            <a:r>
              <a:rPr lang="en-US" altLang="zh-CN" dirty="0"/>
              <a:t>, </a:t>
            </a:r>
            <a:r>
              <a:rPr lang="en-US" altLang="zh-CN" dirty="0" err="1"/>
              <a:t>Cno</a:t>
            </a:r>
            <a:r>
              <a:rPr lang="en-US" altLang="zh-CN" dirty="0"/>
              <a:t>) → </a:t>
            </a:r>
            <a:r>
              <a:rPr lang="en-US" altLang="zh-CN" dirty="0" err="1"/>
              <a:t>Sno</a:t>
            </a:r>
            <a:r>
              <a:rPr lang="en-US" altLang="zh-CN" dirty="0"/>
              <a:t> </a:t>
            </a:r>
            <a:br>
              <a:rPr lang="en-US" altLang="zh-CN" dirty="0"/>
            </a:br>
            <a:r>
              <a:rPr lang="en-US" altLang="zh-CN" dirty="0"/>
              <a:t>                               (</a:t>
            </a:r>
            <a:r>
              <a:rPr lang="en-US" altLang="zh-CN" dirty="0" err="1"/>
              <a:t>Sno</a:t>
            </a:r>
            <a:r>
              <a:rPr lang="en-US" altLang="zh-CN" dirty="0"/>
              <a:t>, </a:t>
            </a:r>
            <a:r>
              <a:rPr lang="en-US" altLang="zh-CN" dirty="0" err="1"/>
              <a:t>Cno</a:t>
            </a:r>
            <a:r>
              <a:rPr lang="en-US" altLang="zh-CN" dirty="0"/>
              <a:t>) → </a:t>
            </a:r>
            <a:r>
              <a:rPr lang="en-US" altLang="zh-CN" dirty="0" err="1"/>
              <a:t>Cno</a:t>
            </a:r>
            <a:endParaRPr lang="en-US" altLang="zh-CN" dirty="0"/>
          </a:p>
          <a:p>
            <a:pPr marL="457200" lvl="1" indent="0">
              <a:buNone/>
            </a:pPr>
            <a:endParaRPr lang="en-US" altLang="zh-CN" dirty="0"/>
          </a:p>
        </p:txBody>
      </p:sp>
      <p:sp>
        <p:nvSpPr>
          <p:cNvPr id="4" name="文本框 3"/>
          <p:cNvSpPr txBox="1"/>
          <p:nvPr/>
        </p:nvSpPr>
        <p:spPr>
          <a:xfrm>
            <a:off x="683569" y="3718025"/>
            <a:ext cx="8003231" cy="76944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CN" altLang="en-US" sz="2200" b="1" dirty="0"/>
              <a:t>对于任一关系模式，平凡函数依赖都是必然成立的，它不反映新的语义，因此若不特别声明， 我们总是讨论非平凡函数依赖。</a:t>
            </a:r>
            <a:endParaRPr lang="zh-CN" altLang="en-US" sz="2200" b="1"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dirty="0"/>
              <a:t>思考：“平凡”的函数依赖</a:t>
            </a:r>
            <a:endParaRPr lang="zh-CN" altLang="en-US" dirty="0"/>
          </a:p>
        </p:txBody>
      </p:sp>
      <p:sp>
        <p:nvSpPr>
          <p:cNvPr id="3" name="内容占位符 2"/>
          <p:cNvSpPr>
            <a:spLocks noGrp="1" noRot="1" noChangeAspect="1" noMove="1" noResize="1" noEditPoints="1" noAdjustHandles="1" noChangeArrowheads="1" noChangeShapeType="1" noTextEdit="1"/>
          </p:cNvSpPr>
          <p:nvPr>
            <p:ph idx="1"/>
          </p:nvPr>
        </p:nvSpPr>
        <p:spPr>
          <a:xfrm>
            <a:off x="285750" y="1005205"/>
            <a:ext cx="8584565" cy="4186555"/>
          </a:xfrm>
          <a:blipFill>
            <a:blip r:embed="rId1"/>
            <a:stretch>
              <a:fillRect l="-1259" t="-1759" r="-2000"/>
            </a:stretch>
          </a:blipFill>
        </p:spPr>
        <p:txBody>
          <a:bodyPr/>
          <a:lstStyle/>
          <a:p>
            <a:pPr>
              <a:defRPr/>
            </a:pPr>
            <a:r>
              <a:rPr lang="zh-CN" altLang="en-US">
                <a:noFill/>
              </a:rPr>
              <a:t> </a:t>
            </a:r>
            <a:endParaRPr lang="zh-CN" altLang="en-US">
              <a:noFill/>
            </a:endParaRPr>
          </a:p>
        </p:txBody>
      </p:sp>
    </p:spTree>
  </p:cSld>
  <p:clrMapOvr>
    <a:masterClrMapping/>
  </p:clrMapOvr>
  <p:transition spd="slow">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证明思路</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若 </a:t>
                </a:r>
                <a14:m>
                  <m:oMath xmlns:m="http://schemas.openxmlformats.org/officeDocument/2006/math">
                    <m:r>
                      <a:rPr lang="en-US" altLang="zh-CN" b="1" i="0" smtClean="0">
                        <a:latin typeface="Cambria Math" panose="02040503050406030204" pitchFamily="18" charset="0"/>
                      </a:rPr>
                      <m:t>𝐘</m:t>
                    </m:r>
                    <m:r>
                      <a:rPr lang="en-US" altLang="zh-CN" b="1" i="1" smtClean="0">
                        <a:latin typeface="Cambria Math" panose="02040503050406030204" pitchFamily="18" charset="0"/>
                      </a:rPr>
                      <m:t>⊆</m:t>
                    </m:r>
                    <m:r>
                      <a:rPr lang="en-US" altLang="zh-CN" b="1" i="0" smtClean="0">
                        <a:latin typeface="Cambria Math" panose="02040503050406030204" pitchFamily="18" charset="0"/>
                      </a:rPr>
                      <m:t>𝐗</m:t>
                    </m:r>
                  </m:oMath>
                </a14:m>
                <a:r>
                  <a:rPr lang="en-US" altLang="zh-CN" dirty="0"/>
                  <a:t> ,</a:t>
                </a:r>
                <a:r>
                  <a:rPr lang="zh-CN" altLang="en-US" dirty="0"/>
                  <a:t>则 </a:t>
                </a:r>
                <a:r>
                  <a:rPr lang="en-US" altLang="zh-CN" dirty="0"/>
                  <a:t>X-&gt;Y </a:t>
                </a:r>
                <a:r>
                  <a:rPr lang="zh-CN" altLang="en-US" dirty="0"/>
                  <a:t>一定成立。</a:t>
                </a:r>
                <a:endParaRPr lang="zh-CN" altLang="en-US" dirty="0"/>
              </a:p>
              <a:p>
                <a:endParaRPr lang="en-US" altLang="zh-CN" dirty="0"/>
              </a:p>
              <a:p>
                <a:r>
                  <a:rPr lang="zh-CN" altLang="en-US" dirty="0"/>
                  <a:t>任意一个属性 </a:t>
                </a:r>
                <a14:m>
                  <m:oMath xmlns:m="http://schemas.openxmlformats.org/officeDocument/2006/math">
                    <m:r>
                      <a:rPr lang="en-US" altLang="zh-CN" b="1" i="0" smtClean="0">
                        <a:latin typeface="Cambria Math" panose="02040503050406030204" pitchFamily="18" charset="0"/>
                      </a:rPr>
                      <m:t>𝐀</m:t>
                    </m:r>
                    <m:r>
                      <a:rPr lang="en-US" altLang="zh-CN" b="1" i="1" smtClean="0">
                        <a:latin typeface="Cambria Math" panose="02040503050406030204" pitchFamily="18" charset="0"/>
                      </a:rPr>
                      <m:t>∈</m:t>
                    </m:r>
                    <m:r>
                      <a:rPr lang="en-US" altLang="zh-CN" b="1" i="0" smtClean="0">
                        <a:latin typeface="Cambria Math" panose="02040503050406030204" pitchFamily="18" charset="0"/>
                      </a:rPr>
                      <m:t>𝐘</m:t>
                    </m:r>
                  </m:oMath>
                </a14:m>
                <a:r>
                  <a:rPr lang="en-US" altLang="zh-CN" dirty="0"/>
                  <a:t>, </a:t>
                </a:r>
                <a:r>
                  <a:rPr lang="zh-CN" altLang="en-US" dirty="0"/>
                  <a:t>必然有 </a:t>
                </a:r>
                <a14:m>
                  <m:oMath xmlns:m="http://schemas.openxmlformats.org/officeDocument/2006/math">
                    <m:r>
                      <a:rPr lang="en-US" altLang="zh-CN">
                        <a:latin typeface="Cambria Math" panose="02040503050406030204" pitchFamily="18" charset="0"/>
                      </a:rPr>
                      <m:t>𝐀</m:t>
                    </m:r>
                    <m:r>
                      <a:rPr lang="en-US" altLang="zh-CN" i="1">
                        <a:latin typeface="Cambria Math" panose="02040503050406030204" pitchFamily="18" charset="0"/>
                      </a:rPr>
                      <m:t>∈</m:t>
                    </m:r>
                    <m:r>
                      <a:rPr lang="en-US" altLang="zh-CN" b="1" i="0" smtClean="0">
                        <a:latin typeface="Cambria Math" panose="02040503050406030204" pitchFamily="18" charset="0"/>
                      </a:rPr>
                      <m:t>𝐗</m:t>
                    </m:r>
                    <m:r>
                      <a:rPr lang="en-US" altLang="zh-CN" i="1">
                        <a:latin typeface="Cambria Math" panose="02040503050406030204" pitchFamily="18" charset="0"/>
                      </a:rPr>
                      <m:t> </m:t>
                    </m:r>
                  </m:oMath>
                </a14:m>
                <a:r>
                  <a:rPr lang="zh-CN" altLang="en-US" dirty="0"/>
                  <a:t>。</a:t>
                </a:r>
                <a:endParaRPr lang="en-US" altLang="zh-CN" dirty="0"/>
              </a:p>
              <a:p>
                <a:r>
                  <a:rPr lang="zh-CN" altLang="en-US" dirty="0"/>
                  <a:t>若 </a:t>
                </a:r>
                <a:r>
                  <a:rPr lang="en-US" altLang="zh-CN" dirty="0"/>
                  <a:t>t1[X] = t2[X]</a:t>
                </a:r>
                <a:r>
                  <a:rPr lang="zh-CN" altLang="en-US" dirty="0"/>
                  <a:t>，那么 </a:t>
                </a:r>
                <a:r>
                  <a:rPr lang="en-US" altLang="zh-CN" dirty="0"/>
                  <a:t>t1[A] = t2[A]</a:t>
                </a:r>
                <a:r>
                  <a:rPr lang="zh-CN" altLang="en-US" dirty="0"/>
                  <a:t>。</a:t>
                </a:r>
                <a:endParaRPr lang="en-US" altLang="zh-CN" dirty="0"/>
              </a:p>
              <a:p>
                <a:r>
                  <a:rPr lang="en-US" altLang="zh-CN" dirty="0"/>
                  <a:t>Y</a:t>
                </a:r>
                <a:r>
                  <a:rPr lang="zh-CN" altLang="en-US" dirty="0"/>
                  <a:t>中所有的属性</a:t>
                </a:r>
                <a:r>
                  <a:rPr lang="en-US" altLang="zh-CN" dirty="0"/>
                  <a:t>A</a:t>
                </a:r>
                <a:r>
                  <a:rPr lang="zh-CN" altLang="en-US" dirty="0"/>
                  <a:t>都满足上面结论，那么有 </a:t>
                </a:r>
                <a:r>
                  <a:rPr lang="en-US" altLang="zh-CN" dirty="0"/>
                  <a:t>t1[Y] = t2[Y]</a:t>
                </a:r>
                <a:r>
                  <a:rPr lang="zh-CN" altLang="en-US" dirty="0"/>
                  <a:t>。 证毕</a:t>
                </a:r>
                <a:endParaRPr lang="zh-CN" altLang="en-US"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7" t="-9" b="4"/>
                </a:stretch>
              </a:blipFill>
            </p:spPr>
            <p:txBody>
              <a:bodyPr/>
              <a:lstStyle/>
              <a:p>
                <a:r>
                  <a:rPr lang="zh-CN" altLang="en-US">
                    <a:noFill/>
                  </a:rPr>
                  <a:t> </a:t>
                </a:r>
              </a:p>
            </p:txBody>
          </p:sp>
        </mc:Fallback>
      </mc:AlternateContent>
    </p:spTree>
  </p:cSld>
  <p:clrMapOvr>
    <a:masterClrMapping/>
  </p:clrMapOvr>
  <p:transition spd="slow">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dirty="0"/>
              <a:t>练习</a:t>
            </a:r>
            <a:r>
              <a:rPr lang="en-US" altLang="zh-CN" dirty="0"/>
              <a:t>:</a:t>
            </a:r>
            <a:r>
              <a:rPr lang="zh-CN" altLang="en-US" dirty="0"/>
              <a:t>请问下列的</a:t>
            </a:r>
            <a:r>
              <a:rPr lang="en-US" altLang="zh-CN" dirty="0"/>
              <a:t>FD</a:t>
            </a:r>
            <a:r>
              <a:rPr lang="zh-CN" altLang="en-US" dirty="0"/>
              <a:t>有可能成立吗</a:t>
            </a:r>
            <a:r>
              <a:rPr lang="en-US" altLang="zh-CN" dirty="0"/>
              <a:t>?</a:t>
            </a:r>
            <a:endParaRPr lang="en-US" altLang="zh-CN" dirty="0"/>
          </a:p>
        </p:txBody>
      </p:sp>
      <p:sp>
        <p:nvSpPr>
          <p:cNvPr id="12291" name="Rectangle 3"/>
          <p:cNvSpPr>
            <a:spLocks noGrp="1" noChangeArrowheads="1"/>
          </p:cNvSpPr>
          <p:nvPr>
            <p:ph type="body" idx="1"/>
          </p:nvPr>
        </p:nvSpPr>
        <p:spPr/>
        <p:txBody>
          <a:bodyPr/>
          <a:lstStyle/>
          <a:p>
            <a:r>
              <a:rPr lang="zh-CN" altLang="en-US" dirty="0"/>
              <a:t>给定下面的关系</a:t>
            </a:r>
            <a:endParaRPr lang="zh-CN" altLang="en-US" dirty="0"/>
          </a:p>
        </p:txBody>
      </p:sp>
      <p:sp>
        <p:nvSpPr>
          <p:cNvPr id="12292" name="Rectangle 4"/>
          <p:cNvSpPr>
            <a:spLocks noChangeArrowheads="1"/>
          </p:cNvSpPr>
          <p:nvPr/>
        </p:nvSpPr>
        <p:spPr bwMode="auto">
          <a:xfrm>
            <a:off x="2286000" y="1701404"/>
            <a:ext cx="4286250" cy="400050"/>
          </a:xfrm>
          <a:prstGeom prst="rect">
            <a:avLst/>
          </a:prstGeom>
          <a:solidFill>
            <a:schemeClr val="accent1"/>
          </a:solidFill>
          <a:ln w="9525">
            <a:solidFill>
              <a:schemeClr val="tx1"/>
            </a:solidFill>
            <a:miter lim="800000"/>
          </a:ln>
        </p:spPr>
        <p:txBody>
          <a:bodyPr wrap="none"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en-US" altLang="zh-CN" sz="1350" b="0"/>
              <a:t>A                     B                        C                     D</a:t>
            </a:r>
            <a:endParaRPr lang="en-US" altLang="zh-CN" sz="1350" b="0"/>
          </a:p>
        </p:txBody>
      </p:sp>
      <p:sp>
        <p:nvSpPr>
          <p:cNvPr id="12293" name="Rectangle 6"/>
          <p:cNvSpPr>
            <a:spLocks noChangeArrowheads="1"/>
          </p:cNvSpPr>
          <p:nvPr/>
        </p:nvSpPr>
        <p:spPr bwMode="auto">
          <a:xfrm>
            <a:off x="2286000" y="2101454"/>
            <a:ext cx="4229100" cy="5143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endParaRPr lang="zh-CN" altLang="en-US" sz="1350" b="0"/>
          </a:p>
        </p:txBody>
      </p:sp>
      <p:sp>
        <p:nvSpPr>
          <p:cNvPr id="12294" name="Rectangle 7"/>
          <p:cNvSpPr>
            <a:spLocks noChangeArrowheads="1"/>
          </p:cNvSpPr>
          <p:nvPr/>
        </p:nvSpPr>
        <p:spPr bwMode="auto">
          <a:xfrm>
            <a:off x="2286000" y="3644504"/>
            <a:ext cx="4229100" cy="5143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endParaRPr lang="zh-CN" altLang="en-US" sz="1350" b="0"/>
          </a:p>
        </p:txBody>
      </p:sp>
      <p:sp>
        <p:nvSpPr>
          <p:cNvPr id="12295" name="Rectangle 8"/>
          <p:cNvSpPr>
            <a:spLocks noChangeArrowheads="1"/>
          </p:cNvSpPr>
          <p:nvPr/>
        </p:nvSpPr>
        <p:spPr bwMode="auto">
          <a:xfrm>
            <a:off x="2286000" y="3130154"/>
            <a:ext cx="4229100" cy="5143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endParaRPr lang="zh-CN" altLang="en-US" sz="1350" b="0"/>
          </a:p>
        </p:txBody>
      </p:sp>
      <p:sp>
        <p:nvSpPr>
          <p:cNvPr id="12296" name="Rectangle 9"/>
          <p:cNvSpPr>
            <a:spLocks noChangeArrowheads="1"/>
          </p:cNvSpPr>
          <p:nvPr/>
        </p:nvSpPr>
        <p:spPr bwMode="auto">
          <a:xfrm>
            <a:off x="2286000" y="2615804"/>
            <a:ext cx="4229100" cy="5143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endParaRPr lang="zh-CN" altLang="en-US" sz="1350" b="0"/>
          </a:p>
        </p:txBody>
      </p:sp>
      <p:sp>
        <p:nvSpPr>
          <p:cNvPr id="12297" name="Text Box 11"/>
          <p:cNvSpPr txBox="1">
            <a:spLocks noChangeArrowheads="1"/>
          </p:cNvSpPr>
          <p:nvPr/>
        </p:nvSpPr>
        <p:spPr bwMode="auto">
          <a:xfrm>
            <a:off x="2628900" y="2215754"/>
            <a:ext cx="30988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endParaRPr lang="zh-CN" altLang="zh-CN" sz="1350" b="0"/>
          </a:p>
        </p:txBody>
      </p:sp>
      <p:sp>
        <p:nvSpPr>
          <p:cNvPr id="12298" name="Text Box 12"/>
          <p:cNvSpPr txBox="1">
            <a:spLocks noChangeArrowheads="1"/>
          </p:cNvSpPr>
          <p:nvPr/>
        </p:nvSpPr>
        <p:spPr bwMode="auto">
          <a:xfrm>
            <a:off x="3657600" y="2215754"/>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1</a:t>
            </a:r>
            <a:endParaRPr lang="en-US" altLang="zh-CN" sz="1350" b="0"/>
          </a:p>
        </p:txBody>
      </p:sp>
      <p:sp>
        <p:nvSpPr>
          <p:cNvPr id="12299" name="Text Box 13"/>
          <p:cNvSpPr txBox="1">
            <a:spLocks noChangeArrowheads="1"/>
          </p:cNvSpPr>
          <p:nvPr/>
        </p:nvSpPr>
        <p:spPr bwMode="auto">
          <a:xfrm>
            <a:off x="2514600" y="2730103"/>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2</a:t>
            </a:r>
            <a:endParaRPr lang="en-US" altLang="zh-CN" sz="1350" b="0"/>
          </a:p>
        </p:txBody>
      </p:sp>
      <p:sp>
        <p:nvSpPr>
          <p:cNvPr id="12300" name="Text Box 14"/>
          <p:cNvSpPr txBox="1">
            <a:spLocks noChangeArrowheads="1"/>
          </p:cNvSpPr>
          <p:nvPr/>
        </p:nvSpPr>
        <p:spPr bwMode="auto">
          <a:xfrm>
            <a:off x="2518172" y="2215754"/>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1</a:t>
            </a:r>
            <a:endParaRPr lang="en-US" altLang="zh-CN" sz="1350" b="0"/>
          </a:p>
        </p:txBody>
      </p:sp>
      <p:sp>
        <p:nvSpPr>
          <p:cNvPr id="12301" name="Text Box 15"/>
          <p:cNvSpPr txBox="1">
            <a:spLocks noChangeArrowheads="1"/>
          </p:cNvSpPr>
          <p:nvPr/>
        </p:nvSpPr>
        <p:spPr bwMode="auto">
          <a:xfrm>
            <a:off x="2502694" y="3213497"/>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3</a:t>
            </a:r>
            <a:endParaRPr lang="en-US" altLang="zh-CN" sz="1350" b="0"/>
          </a:p>
        </p:txBody>
      </p:sp>
      <p:sp>
        <p:nvSpPr>
          <p:cNvPr id="12302" name="Text Box 16"/>
          <p:cNvSpPr txBox="1">
            <a:spLocks noChangeArrowheads="1"/>
          </p:cNvSpPr>
          <p:nvPr/>
        </p:nvSpPr>
        <p:spPr bwMode="auto">
          <a:xfrm>
            <a:off x="2514600" y="3758803"/>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4</a:t>
            </a:r>
            <a:endParaRPr lang="en-US" altLang="zh-CN" sz="1350" b="0"/>
          </a:p>
        </p:txBody>
      </p:sp>
      <p:sp>
        <p:nvSpPr>
          <p:cNvPr id="12303" name="Text Box 17"/>
          <p:cNvSpPr txBox="1">
            <a:spLocks noChangeArrowheads="1"/>
          </p:cNvSpPr>
          <p:nvPr/>
        </p:nvSpPr>
        <p:spPr bwMode="auto">
          <a:xfrm>
            <a:off x="3702844" y="2699147"/>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2</a:t>
            </a:r>
            <a:endParaRPr lang="en-US" altLang="zh-CN" sz="1350" b="0"/>
          </a:p>
        </p:txBody>
      </p:sp>
      <p:sp>
        <p:nvSpPr>
          <p:cNvPr id="12304" name="Text Box 18"/>
          <p:cNvSpPr txBox="1">
            <a:spLocks noChangeArrowheads="1"/>
          </p:cNvSpPr>
          <p:nvPr/>
        </p:nvSpPr>
        <p:spPr bwMode="auto">
          <a:xfrm>
            <a:off x="3702844" y="3213497"/>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1</a:t>
            </a:r>
            <a:endParaRPr lang="en-US" altLang="zh-CN" sz="1350" b="0"/>
          </a:p>
        </p:txBody>
      </p:sp>
      <p:sp>
        <p:nvSpPr>
          <p:cNvPr id="12305" name="Text Box 19"/>
          <p:cNvSpPr txBox="1">
            <a:spLocks noChangeArrowheads="1"/>
          </p:cNvSpPr>
          <p:nvPr/>
        </p:nvSpPr>
        <p:spPr bwMode="auto">
          <a:xfrm>
            <a:off x="3702844" y="3784997"/>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2</a:t>
            </a:r>
            <a:endParaRPr lang="en-US" altLang="zh-CN" sz="1350" b="0"/>
          </a:p>
        </p:txBody>
      </p:sp>
      <p:sp>
        <p:nvSpPr>
          <p:cNvPr id="12306" name="Text Box 21"/>
          <p:cNvSpPr txBox="1">
            <a:spLocks noChangeArrowheads="1"/>
          </p:cNvSpPr>
          <p:nvPr/>
        </p:nvSpPr>
        <p:spPr bwMode="auto">
          <a:xfrm>
            <a:off x="4960144" y="2184797"/>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1</a:t>
            </a:r>
            <a:endParaRPr lang="en-US" altLang="zh-CN" sz="1350" b="0"/>
          </a:p>
        </p:txBody>
      </p:sp>
      <p:sp>
        <p:nvSpPr>
          <p:cNvPr id="12307" name="Text Box 22"/>
          <p:cNvSpPr txBox="1">
            <a:spLocks noChangeArrowheads="1"/>
          </p:cNvSpPr>
          <p:nvPr/>
        </p:nvSpPr>
        <p:spPr bwMode="auto">
          <a:xfrm>
            <a:off x="4972050" y="3187303"/>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2</a:t>
            </a:r>
            <a:endParaRPr lang="en-US" altLang="zh-CN" sz="1350" b="0"/>
          </a:p>
        </p:txBody>
      </p:sp>
      <p:sp>
        <p:nvSpPr>
          <p:cNvPr id="12308" name="Text Box 23"/>
          <p:cNvSpPr txBox="1">
            <a:spLocks noChangeArrowheads="1"/>
          </p:cNvSpPr>
          <p:nvPr/>
        </p:nvSpPr>
        <p:spPr bwMode="auto">
          <a:xfrm>
            <a:off x="4972050" y="2672953"/>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1</a:t>
            </a:r>
            <a:endParaRPr lang="en-US" altLang="zh-CN" sz="1350" b="0"/>
          </a:p>
        </p:txBody>
      </p:sp>
      <p:sp>
        <p:nvSpPr>
          <p:cNvPr id="12309" name="Text Box 24"/>
          <p:cNvSpPr txBox="1">
            <a:spLocks noChangeArrowheads="1"/>
          </p:cNvSpPr>
          <p:nvPr/>
        </p:nvSpPr>
        <p:spPr bwMode="auto">
          <a:xfrm>
            <a:off x="4972050" y="3758803"/>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2</a:t>
            </a:r>
            <a:endParaRPr lang="en-US" altLang="zh-CN" sz="1350" b="0"/>
          </a:p>
        </p:txBody>
      </p:sp>
      <p:sp>
        <p:nvSpPr>
          <p:cNvPr id="12310" name="Text Box 25"/>
          <p:cNvSpPr txBox="1">
            <a:spLocks noChangeArrowheads="1"/>
          </p:cNvSpPr>
          <p:nvPr/>
        </p:nvSpPr>
        <p:spPr bwMode="auto">
          <a:xfrm>
            <a:off x="6045994" y="2184797"/>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1</a:t>
            </a:r>
            <a:endParaRPr lang="en-US" altLang="zh-CN" sz="1350" b="0"/>
          </a:p>
        </p:txBody>
      </p:sp>
      <p:sp>
        <p:nvSpPr>
          <p:cNvPr id="12311" name="Text Box 26"/>
          <p:cNvSpPr txBox="1">
            <a:spLocks noChangeArrowheads="1"/>
          </p:cNvSpPr>
          <p:nvPr/>
        </p:nvSpPr>
        <p:spPr bwMode="auto">
          <a:xfrm>
            <a:off x="6057900" y="2730103"/>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2</a:t>
            </a:r>
            <a:endParaRPr lang="en-US" altLang="zh-CN" sz="1350" b="0"/>
          </a:p>
        </p:txBody>
      </p:sp>
      <p:sp>
        <p:nvSpPr>
          <p:cNvPr id="12312" name="Text Box 27"/>
          <p:cNvSpPr txBox="1">
            <a:spLocks noChangeArrowheads="1"/>
          </p:cNvSpPr>
          <p:nvPr/>
        </p:nvSpPr>
        <p:spPr bwMode="auto">
          <a:xfrm>
            <a:off x="6045994" y="3270647"/>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2</a:t>
            </a:r>
            <a:endParaRPr lang="en-US" altLang="zh-CN" sz="1350" b="0"/>
          </a:p>
        </p:txBody>
      </p:sp>
      <p:sp>
        <p:nvSpPr>
          <p:cNvPr id="12313" name="Text Box 28"/>
          <p:cNvSpPr txBox="1">
            <a:spLocks noChangeArrowheads="1"/>
          </p:cNvSpPr>
          <p:nvPr/>
        </p:nvSpPr>
        <p:spPr bwMode="auto">
          <a:xfrm>
            <a:off x="6057900" y="3758803"/>
            <a:ext cx="27813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350" b="0"/>
              <a:t>1</a:t>
            </a:r>
            <a:endParaRPr lang="en-US" altLang="zh-CN" sz="1350" b="0"/>
          </a:p>
        </p:txBody>
      </p:sp>
      <p:sp>
        <p:nvSpPr>
          <p:cNvPr id="12314" name="Text Box 29"/>
          <p:cNvSpPr txBox="1">
            <a:spLocks noChangeArrowheads="1"/>
          </p:cNvSpPr>
          <p:nvPr/>
        </p:nvSpPr>
        <p:spPr bwMode="auto">
          <a:xfrm>
            <a:off x="1600200" y="4286250"/>
            <a:ext cx="331724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800" dirty="0"/>
              <a:t>1) B-&gt; C;  2) C-&gt; D ;  3) A-&gt;B  </a:t>
            </a:r>
            <a:endParaRPr lang="en-US" altLang="zh-CN" sz="1800" dirty="0"/>
          </a:p>
        </p:txBody>
      </p:sp>
    </p:spTree>
  </p:cSld>
  <p:clrMapOvr>
    <a:masterClrMapping/>
  </p:clrMapOvr>
  <p:transition spd="slow">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85720" y="-71456"/>
            <a:ext cx="8401080" cy="853679"/>
          </a:xfrm>
        </p:spPr>
        <p:txBody>
          <a:bodyPr/>
          <a:lstStyle/>
          <a:p>
            <a:pPr eaLnBrk="1" hangingPunct="1">
              <a:lnSpc>
                <a:spcPct val="130000"/>
              </a:lnSpc>
            </a:pPr>
            <a:r>
              <a:rPr lang="en-US" altLang="zh-CN" sz="3600" dirty="0"/>
              <a:t>4. </a:t>
            </a:r>
            <a:r>
              <a:rPr lang="zh-CN" altLang="en-US" sz="3600" dirty="0"/>
              <a:t>完全函数依赖与部分函数依赖</a:t>
            </a:r>
            <a:endParaRPr lang="zh-CN" altLang="en-US" sz="3600" dirty="0"/>
          </a:p>
        </p:txBody>
      </p:sp>
      <p:sp>
        <p:nvSpPr>
          <p:cNvPr id="43011" name="Rectangle 3"/>
          <p:cNvSpPr>
            <a:spLocks noGrp="1" noChangeArrowheads="1"/>
          </p:cNvSpPr>
          <p:nvPr>
            <p:ph idx="1"/>
          </p:nvPr>
        </p:nvSpPr>
        <p:spPr>
          <a:xfrm>
            <a:off x="457200" y="642924"/>
            <a:ext cx="8543956" cy="2429675"/>
          </a:xfrm>
        </p:spPr>
        <p:txBody>
          <a:bodyPr/>
          <a:lstStyle/>
          <a:p>
            <a:pPr>
              <a:buNone/>
            </a:pPr>
            <a:r>
              <a:rPr lang="zh-CN" altLang="en-US" sz="2400" dirty="0"/>
              <a:t>定义</a:t>
            </a:r>
            <a:r>
              <a:rPr lang="en-US" altLang="zh-CN" sz="2400" dirty="0"/>
              <a:t>6.2  </a:t>
            </a:r>
            <a:endParaRPr lang="en-US" altLang="zh-CN" sz="2400" dirty="0"/>
          </a:p>
          <a:p>
            <a:pPr>
              <a:buNone/>
            </a:pPr>
            <a:r>
              <a:rPr lang="en-US" altLang="zh-CN" sz="2400" dirty="0"/>
              <a:t>    </a:t>
            </a:r>
            <a:r>
              <a:rPr lang="zh-CN" altLang="en-US" sz="2000" dirty="0"/>
              <a:t>在关系模式</a:t>
            </a:r>
            <a:r>
              <a:rPr lang="en-US" altLang="zh-CN" sz="2000" dirty="0"/>
              <a:t>R(U)</a:t>
            </a:r>
            <a:r>
              <a:rPr lang="zh-CN" altLang="en-US" sz="2000" dirty="0"/>
              <a:t>中，如果</a:t>
            </a:r>
            <a:r>
              <a:rPr lang="en-US" altLang="zh-CN" sz="2000" dirty="0"/>
              <a:t>X→Y</a:t>
            </a:r>
            <a:r>
              <a:rPr lang="zh-CN" altLang="en-US" sz="2000" dirty="0"/>
              <a:t>，并且对于</a:t>
            </a:r>
            <a:r>
              <a:rPr lang="en-US" altLang="zh-CN" sz="2000" dirty="0"/>
              <a:t>X</a:t>
            </a:r>
            <a:r>
              <a:rPr lang="zh-CN" altLang="en-US" sz="2000" dirty="0"/>
              <a:t>的任何一个真子集</a:t>
            </a:r>
            <a:r>
              <a:rPr lang="en-US" altLang="zh-CN" sz="2000" dirty="0"/>
              <a:t>X’</a:t>
            </a:r>
            <a:r>
              <a:rPr lang="zh-CN" altLang="en-US" sz="2000" dirty="0"/>
              <a:t>，都有 </a:t>
            </a:r>
            <a:endParaRPr lang="en-US" altLang="zh-CN" sz="2000" dirty="0"/>
          </a:p>
          <a:p>
            <a:pPr>
              <a:buNone/>
            </a:pPr>
            <a:r>
              <a:rPr lang="en-US" altLang="zh-CN" sz="2000" dirty="0"/>
              <a:t>X’↛Y, </a:t>
            </a:r>
            <a:r>
              <a:rPr lang="zh-CN" altLang="en-US" sz="2000" dirty="0"/>
              <a:t>则称</a:t>
            </a:r>
            <a:r>
              <a:rPr lang="en-US" altLang="zh-CN" sz="2000" dirty="0">
                <a:solidFill>
                  <a:srgbClr val="FF0000"/>
                </a:solidFill>
              </a:rPr>
              <a:t>Y</a:t>
            </a:r>
            <a:r>
              <a:rPr lang="zh-CN" altLang="en-US" sz="2000" dirty="0">
                <a:solidFill>
                  <a:srgbClr val="FF0000"/>
                </a:solidFill>
              </a:rPr>
              <a:t>完全函数依赖于</a:t>
            </a:r>
            <a:r>
              <a:rPr lang="en-US" altLang="zh-CN" sz="2000" dirty="0">
                <a:solidFill>
                  <a:srgbClr val="FF0000"/>
                </a:solidFill>
              </a:rPr>
              <a:t>X</a:t>
            </a:r>
            <a:r>
              <a:rPr lang="zh-CN" altLang="en-US" sz="2000" dirty="0"/>
              <a:t>，记作</a:t>
            </a:r>
            <a:r>
              <a:rPr lang="en-US" altLang="zh-CN" sz="2000" dirty="0"/>
              <a:t>X →</a:t>
            </a:r>
            <a:r>
              <a:rPr lang="zh-CN" altLang="en-US" sz="2000" dirty="0"/>
              <a:t> </a:t>
            </a:r>
            <a:r>
              <a:rPr lang="en-US" altLang="zh-CN" sz="2000" dirty="0"/>
              <a:t>Y</a:t>
            </a:r>
            <a:r>
              <a:rPr lang="zh-CN" altLang="en-US" sz="2000" dirty="0"/>
              <a:t>。若</a:t>
            </a:r>
            <a:r>
              <a:rPr lang="en-US" altLang="zh-CN" sz="2000" dirty="0"/>
              <a:t>X→Y</a:t>
            </a:r>
            <a:r>
              <a:rPr lang="zh-CN" altLang="en-US" sz="2000" dirty="0"/>
              <a:t>，但</a:t>
            </a:r>
            <a:r>
              <a:rPr lang="en-US" altLang="zh-CN" sz="2000" dirty="0"/>
              <a:t>Y</a:t>
            </a:r>
            <a:r>
              <a:rPr lang="zh-CN" altLang="en-US" sz="2000" dirty="0"/>
              <a:t>不完全函数依</a:t>
            </a:r>
            <a:endParaRPr lang="en-US" altLang="zh-CN" sz="2000" dirty="0"/>
          </a:p>
          <a:p>
            <a:pPr>
              <a:buNone/>
            </a:pPr>
            <a:r>
              <a:rPr lang="zh-CN" altLang="en-US" sz="2000" dirty="0"/>
              <a:t>赖于</a:t>
            </a:r>
            <a:r>
              <a:rPr lang="en-US" altLang="zh-CN" sz="2000" dirty="0"/>
              <a:t>X</a:t>
            </a:r>
            <a:r>
              <a:rPr lang="zh-CN" altLang="en-US" sz="2000" dirty="0"/>
              <a:t>，则称</a:t>
            </a:r>
            <a:r>
              <a:rPr lang="en-US" altLang="zh-CN" sz="2000" dirty="0">
                <a:solidFill>
                  <a:srgbClr val="FF0000"/>
                </a:solidFill>
              </a:rPr>
              <a:t>Y</a:t>
            </a:r>
            <a:r>
              <a:rPr lang="zh-CN" altLang="en-US" sz="2000" dirty="0">
                <a:solidFill>
                  <a:srgbClr val="FF0000"/>
                </a:solidFill>
              </a:rPr>
              <a:t>部分函数依赖于</a:t>
            </a:r>
            <a:r>
              <a:rPr lang="en-US" altLang="zh-CN" sz="2000" dirty="0">
                <a:solidFill>
                  <a:srgbClr val="FF0000"/>
                </a:solidFill>
              </a:rPr>
              <a:t>X</a:t>
            </a:r>
            <a:r>
              <a:rPr lang="zh-CN" altLang="en-US" sz="2000" dirty="0"/>
              <a:t>，记作</a:t>
            </a:r>
            <a:r>
              <a:rPr lang="en-US" altLang="zh-CN" sz="2000" dirty="0"/>
              <a:t>X → Y</a:t>
            </a:r>
            <a:r>
              <a:rPr lang="zh-CN" altLang="en-US" sz="2000" dirty="0"/>
              <a:t>。</a:t>
            </a:r>
            <a:endParaRPr lang="en-US" altLang="zh-CN" sz="2000" dirty="0"/>
          </a:p>
        </p:txBody>
      </p:sp>
      <p:sp>
        <p:nvSpPr>
          <p:cNvPr id="12" name="文本框 11"/>
          <p:cNvSpPr txBox="1"/>
          <p:nvPr/>
        </p:nvSpPr>
        <p:spPr>
          <a:xfrm>
            <a:off x="5036433" y="1798074"/>
            <a:ext cx="338554" cy="369332"/>
          </a:xfrm>
          <a:prstGeom prst="rect">
            <a:avLst/>
          </a:prstGeom>
          <a:noFill/>
        </p:spPr>
        <p:txBody>
          <a:bodyPr wrap="none" rtlCol="0">
            <a:spAutoFit/>
          </a:bodyPr>
          <a:lstStyle/>
          <a:p>
            <a:r>
              <a:rPr lang="en-US" altLang="zh-CN" sz="1800" i="1" dirty="0"/>
              <a:t>P</a:t>
            </a:r>
            <a:endParaRPr lang="zh-CN" altLang="en-US" sz="1800" i="1" dirty="0"/>
          </a:p>
        </p:txBody>
      </p:sp>
      <p:sp>
        <p:nvSpPr>
          <p:cNvPr id="7" name="文本框 4"/>
          <p:cNvSpPr txBox="1"/>
          <p:nvPr/>
        </p:nvSpPr>
        <p:spPr>
          <a:xfrm>
            <a:off x="2246006" y="2571750"/>
            <a:ext cx="325730" cy="369332"/>
          </a:xfrm>
          <a:prstGeom prst="rect">
            <a:avLst/>
          </a:prstGeom>
          <a:noFill/>
        </p:spPr>
        <p:txBody>
          <a:bodyPr wrap="none" rtlCol="0">
            <a:spAutoFit/>
          </a:bodyPr>
          <a:lstStyle/>
          <a:p>
            <a:r>
              <a:rPr lang="en-US" altLang="zh-CN" sz="1800" i="1" dirty="0"/>
              <a:t>F</a:t>
            </a:r>
            <a:endParaRPr lang="zh-CN" altLang="en-US" sz="1800" i="1" dirty="0"/>
          </a:p>
        </p:txBody>
      </p:sp>
      <p:sp>
        <p:nvSpPr>
          <p:cNvPr id="9" name="矩形 8"/>
          <p:cNvSpPr/>
          <p:nvPr/>
        </p:nvSpPr>
        <p:spPr>
          <a:xfrm>
            <a:off x="500034" y="2357436"/>
            <a:ext cx="7572396" cy="923330"/>
          </a:xfrm>
          <a:prstGeom prst="rect">
            <a:avLst/>
          </a:prstGeom>
          <a:ln w="19050">
            <a:solidFill>
              <a:srgbClr val="FF0000"/>
            </a:solidFill>
          </a:ln>
        </p:spPr>
        <p:txBody>
          <a:bodyPr wrap="square">
            <a:spAutoFit/>
          </a:bodyPr>
          <a:lstStyle/>
          <a:p>
            <a:pPr lvl="1">
              <a:buNone/>
            </a:pP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例</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在关系</a:t>
            </a:r>
            <a:r>
              <a:rPr lang="en-US" altLang="zh-CN" b="1" dirty="0">
                <a:solidFill>
                  <a:srgbClr val="FF0000"/>
                </a:solidFill>
              </a:rPr>
              <a:t>STUDENT</a:t>
            </a:r>
            <a:r>
              <a:rPr lang="zh-CN" altLang="en-US" b="1" dirty="0">
                <a:solidFill>
                  <a:srgbClr val="FF0000"/>
                </a:solidFill>
              </a:rPr>
              <a:t>（</a:t>
            </a:r>
            <a:r>
              <a:rPr lang="en-US" altLang="zh-CN" b="1" dirty="0" err="1">
                <a:solidFill>
                  <a:srgbClr val="FF0000"/>
                </a:solidFill>
              </a:rPr>
              <a:t>Sno</a:t>
            </a:r>
            <a:r>
              <a:rPr lang="en-US" altLang="zh-CN" b="1" dirty="0">
                <a:solidFill>
                  <a:srgbClr val="FF0000"/>
                </a:solidFill>
              </a:rPr>
              <a:t> ,</a:t>
            </a:r>
            <a:r>
              <a:rPr lang="en-US" altLang="zh-CN" b="1" dirty="0" err="1">
                <a:solidFill>
                  <a:srgbClr val="FF0000"/>
                </a:solidFill>
              </a:rPr>
              <a:t>Sdept</a:t>
            </a:r>
            <a:r>
              <a:rPr lang="en-US" altLang="zh-CN" b="1" dirty="0">
                <a:solidFill>
                  <a:srgbClr val="FF0000"/>
                </a:solidFill>
              </a:rPr>
              <a:t>, </a:t>
            </a:r>
            <a:r>
              <a:rPr lang="en-US" altLang="zh-CN" b="1" dirty="0" err="1">
                <a:solidFill>
                  <a:srgbClr val="FF0000"/>
                </a:solidFill>
              </a:rPr>
              <a:t>Mname,Cname,Grade</a:t>
            </a:r>
            <a:r>
              <a:rPr lang="zh-CN" altLang="en-US" b="1" dirty="0">
                <a:solidFill>
                  <a:srgbClr val="FF0000"/>
                </a:solidFill>
              </a:rPr>
              <a:t>）</a:t>
            </a:r>
            <a:r>
              <a:rPr lang="zh-CN" altLang="en-US" b="1" dirty="0">
                <a:latin typeface="Times New Roman" panose="02020603050405020304" pitchFamily="18" charset="0"/>
                <a:cs typeface="Times New Roman" panose="02020603050405020304" pitchFamily="18" charset="0"/>
              </a:rPr>
              <a:t>中，</a:t>
            </a:r>
            <a:endParaRPr lang="zh-CN" altLang="en-US" b="1" dirty="0">
              <a:latin typeface="Times New Roman" panose="02020603050405020304" pitchFamily="18" charset="0"/>
              <a:cs typeface="Times New Roman" panose="02020603050405020304" pitchFamily="18" charset="0"/>
            </a:endParaRPr>
          </a:p>
          <a:p>
            <a:pPr lvl="1"/>
            <a:r>
              <a:rPr lang="en-US" altLang="zh-CN" b="1" dirty="0"/>
              <a:t>(</a:t>
            </a:r>
            <a:r>
              <a:rPr lang="en-US" altLang="zh-CN" b="1" dirty="0" err="1"/>
              <a:t>Sno</a:t>
            </a:r>
            <a:r>
              <a:rPr lang="en-US" altLang="zh-CN" b="1" dirty="0"/>
              <a:t>, </a:t>
            </a:r>
            <a:r>
              <a:rPr lang="en-US" altLang="zh-CN" b="1" dirty="0" err="1"/>
              <a:t>Cno</a:t>
            </a:r>
            <a:r>
              <a:rPr lang="en-US" altLang="zh-CN" b="1" dirty="0"/>
              <a:t>)  →</a:t>
            </a:r>
            <a:r>
              <a:rPr lang="zh-CN" altLang="en-US" b="1" dirty="0"/>
              <a:t>   </a:t>
            </a:r>
            <a:r>
              <a:rPr lang="en-US" altLang="zh-CN" b="1" dirty="0"/>
              <a:t>Grade </a:t>
            </a:r>
            <a:r>
              <a:rPr lang="zh-CN" altLang="en-US" b="1" dirty="0"/>
              <a:t>是完全函数依赖</a:t>
            </a:r>
            <a:endParaRPr lang="en-US" altLang="zh-CN" b="1" dirty="0"/>
          </a:p>
          <a:p>
            <a:pPr lvl="1"/>
            <a:r>
              <a:rPr lang="en-US" altLang="zh-CN" b="1" dirty="0"/>
              <a:t>(</a:t>
            </a:r>
            <a:r>
              <a:rPr lang="en-US" altLang="zh-CN" b="1" dirty="0" err="1"/>
              <a:t>Sno</a:t>
            </a:r>
            <a:r>
              <a:rPr lang="en-US" altLang="zh-CN" b="1" dirty="0"/>
              <a:t>, </a:t>
            </a:r>
            <a:r>
              <a:rPr lang="en-US" altLang="zh-CN" b="1" dirty="0" err="1"/>
              <a:t>Cno</a:t>
            </a:r>
            <a:r>
              <a:rPr lang="en-US" altLang="zh-CN" b="1" dirty="0"/>
              <a:t>)  →</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Sdept</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是部分函数依赖，因为</a:t>
            </a:r>
            <a:r>
              <a:rPr lang="en-US" altLang="zh-CN" b="1" dirty="0" err="1">
                <a:latin typeface="Times New Roman" panose="02020603050405020304" pitchFamily="18" charset="0"/>
                <a:cs typeface="Times New Roman" panose="02020603050405020304" pitchFamily="18" charset="0"/>
              </a:rPr>
              <a:t>Sno</a:t>
            </a:r>
            <a:r>
              <a:rPr lang="en-US" altLang="zh-CN" b="1" dirty="0">
                <a:latin typeface="Times New Roman" panose="02020603050405020304" pitchFamily="18" charset="0"/>
                <a:cs typeface="Times New Roman" panose="02020603050405020304" pitchFamily="18" charset="0"/>
              </a:rPr>
              <a:t> → </a:t>
            </a:r>
            <a:r>
              <a:rPr lang="en-US" altLang="zh-CN" b="1" dirty="0" err="1">
                <a:latin typeface="Times New Roman" panose="02020603050405020304" pitchFamily="18" charset="0"/>
                <a:cs typeface="Times New Roman" panose="02020603050405020304" pitchFamily="18" charset="0"/>
              </a:rPr>
              <a:t>Sdept</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10" name="Picture 2" descr="6z1"/>
          <p:cNvPicPr>
            <a:picLocks noChangeAspect="1" noChangeArrowheads="1"/>
          </p:cNvPicPr>
          <p:nvPr/>
        </p:nvPicPr>
        <p:blipFill>
          <a:blip r:embed="rId1"/>
          <a:srcRect/>
          <a:stretch>
            <a:fillRect/>
          </a:stretch>
        </p:blipFill>
        <p:spPr bwMode="auto">
          <a:xfrm>
            <a:off x="2683152" y="3443730"/>
            <a:ext cx="2817542" cy="1271160"/>
          </a:xfrm>
          <a:prstGeom prst="rect">
            <a:avLst/>
          </a:prstGeom>
          <a:noFill/>
          <a:ln w="9525">
            <a:noFill/>
            <a:miter lim="800000"/>
            <a:headEnd/>
            <a:tailEnd/>
          </a:ln>
        </p:spPr>
      </p:pic>
      <p:sp>
        <p:nvSpPr>
          <p:cNvPr id="11" name="文本框 4"/>
          <p:cNvSpPr txBox="1"/>
          <p:nvPr/>
        </p:nvSpPr>
        <p:spPr>
          <a:xfrm>
            <a:off x="4857752" y="1428742"/>
            <a:ext cx="325730" cy="369332"/>
          </a:xfrm>
          <a:prstGeom prst="rect">
            <a:avLst/>
          </a:prstGeom>
          <a:noFill/>
        </p:spPr>
        <p:txBody>
          <a:bodyPr wrap="none" rtlCol="0">
            <a:spAutoFit/>
          </a:bodyPr>
          <a:lstStyle/>
          <a:p>
            <a:r>
              <a:rPr lang="en-US" altLang="zh-CN" sz="1800" i="1" dirty="0"/>
              <a:t>F</a:t>
            </a:r>
            <a:endParaRPr lang="zh-CN" altLang="en-US" sz="1800" i="1" dirty="0"/>
          </a:p>
        </p:txBody>
      </p:sp>
      <p:sp>
        <p:nvSpPr>
          <p:cNvPr id="13" name="文本框 11"/>
          <p:cNvSpPr txBox="1"/>
          <p:nvPr/>
        </p:nvSpPr>
        <p:spPr>
          <a:xfrm>
            <a:off x="2214546" y="2845360"/>
            <a:ext cx="338554" cy="369332"/>
          </a:xfrm>
          <a:prstGeom prst="rect">
            <a:avLst/>
          </a:prstGeom>
          <a:noFill/>
        </p:spPr>
        <p:txBody>
          <a:bodyPr wrap="none" rtlCol="0">
            <a:spAutoFit/>
          </a:bodyPr>
          <a:lstStyle/>
          <a:p>
            <a:r>
              <a:rPr lang="en-US" altLang="zh-CN" sz="1800" i="1" dirty="0"/>
              <a:t>P</a:t>
            </a:r>
            <a:endParaRPr lang="zh-CN" altLang="en-US" sz="1800" i="1" dirty="0"/>
          </a:p>
        </p:txBody>
      </p:sp>
    </p:spTree>
  </p:cSld>
  <p:clrMapOvr>
    <a:masterClrMapping/>
  </p:clrMapOvr>
  <p:transition spd="slow">
    <p:wipe di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lnSpc>
                <a:spcPct val="130000"/>
              </a:lnSpc>
            </a:pPr>
            <a:r>
              <a:rPr lang="en-US" altLang="zh-CN" sz="3600" dirty="0"/>
              <a:t>5. </a:t>
            </a:r>
            <a:r>
              <a:rPr lang="zh-CN" altLang="en-US" sz="3600" dirty="0"/>
              <a:t>传递函数依赖</a:t>
            </a:r>
            <a:endParaRPr lang="zh-CN" altLang="en-US" sz="3600" dirty="0"/>
          </a:p>
        </p:txBody>
      </p:sp>
      <p:sp>
        <p:nvSpPr>
          <p:cNvPr id="46083" name="Rectangle 3"/>
          <p:cNvSpPr>
            <a:spLocks noGrp="1" noChangeArrowheads="1"/>
          </p:cNvSpPr>
          <p:nvPr>
            <p:ph idx="1"/>
          </p:nvPr>
        </p:nvSpPr>
        <p:spPr>
          <a:xfrm>
            <a:off x="304584" y="844827"/>
            <a:ext cx="8401080" cy="3640931"/>
          </a:xfrm>
        </p:spPr>
        <p:txBody>
          <a:bodyPr/>
          <a:lstStyle/>
          <a:p>
            <a:pPr>
              <a:buNone/>
            </a:pPr>
            <a:r>
              <a:rPr lang="zh-CN" altLang="en-US" sz="2000" dirty="0"/>
              <a:t>定义</a:t>
            </a:r>
            <a:r>
              <a:rPr lang="en-US" altLang="zh-CN" sz="2000" dirty="0"/>
              <a:t>6.3  </a:t>
            </a:r>
            <a:endParaRPr lang="en-US" altLang="zh-CN" sz="2000" dirty="0"/>
          </a:p>
          <a:p>
            <a:pPr>
              <a:buNone/>
            </a:pPr>
            <a:r>
              <a:rPr lang="en-US" altLang="zh-CN" sz="2000" dirty="0"/>
              <a:t>    </a:t>
            </a:r>
            <a:r>
              <a:rPr lang="zh-CN" altLang="en-US" sz="2000" dirty="0"/>
              <a:t>在</a:t>
            </a:r>
            <a:r>
              <a:rPr lang="en-US" altLang="zh-CN" sz="2000" dirty="0"/>
              <a:t>R</a:t>
            </a:r>
            <a:r>
              <a:rPr lang="zh-CN" altLang="en-US" sz="2000" dirty="0"/>
              <a:t>（</a:t>
            </a:r>
            <a:r>
              <a:rPr lang="en-US" altLang="zh-CN" sz="2000" dirty="0"/>
              <a:t>U</a:t>
            </a:r>
            <a:r>
              <a:rPr lang="zh-CN" altLang="en-US" sz="2000" dirty="0"/>
              <a:t>）中，如果</a:t>
            </a:r>
            <a:r>
              <a:rPr lang="en-US" altLang="zh-CN" sz="2000" dirty="0"/>
              <a:t>X→Y</a:t>
            </a:r>
            <a:r>
              <a:rPr lang="zh-CN" altLang="en-US" sz="2000" dirty="0"/>
              <a:t>，（</a:t>
            </a:r>
            <a:r>
              <a:rPr lang="en-US" altLang="zh-CN" sz="2000" dirty="0"/>
              <a:t>Y⊈X</a:t>
            </a:r>
            <a:r>
              <a:rPr lang="zh-CN" altLang="en-US" sz="2000" dirty="0"/>
              <a:t>），</a:t>
            </a:r>
            <a:r>
              <a:rPr lang="en-US" altLang="zh-CN" sz="2000" dirty="0"/>
              <a:t>Y↛X</a:t>
            </a:r>
            <a:r>
              <a:rPr lang="zh-CN" altLang="en-US" sz="2000" dirty="0"/>
              <a:t>，</a:t>
            </a:r>
            <a:r>
              <a:rPr lang="en-US" altLang="zh-CN" sz="2000" dirty="0"/>
              <a:t>Y→Z</a:t>
            </a:r>
            <a:r>
              <a:rPr lang="zh-CN" altLang="en-US" sz="2000" dirty="0"/>
              <a:t>，则称</a:t>
            </a:r>
            <a:r>
              <a:rPr lang="en-US" altLang="zh-CN" sz="2000" dirty="0">
                <a:solidFill>
                  <a:srgbClr val="FF0000"/>
                </a:solidFill>
              </a:rPr>
              <a:t>Z</a:t>
            </a:r>
            <a:r>
              <a:rPr lang="zh-CN" altLang="en-US" sz="2000" dirty="0">
                <a:solidFill>
                  <a:srgbClr val="FF0000"/>
                </a:solidFill>
              </a:rPr>
              <a:t>对</a:t>
            </a:r>
            <a:r>
              <a:rPr lang="en-US" altLang="zh-CN" sz="2000" dirty="0">
                <a:solidFill>
                  <a:srgbClr val="FF0000"/>
                </a:solidFill>
              </a:rPr>
              <a:t>X</a:t>
            </a:r>
            <a:r>
              <a:rPr lang="zh-CN" altLang="en-US" sz="2000" dirty="0">
                <a:solidFill>
                  <a:srgbClr val="FF0000"/>
                </a:solidFill>
              </a:rPr>
              <a:t>传递函</a:t>
            </a:r>
            <a:endParaRPr lang="en-US" altLang="zh-CN" sz="2000" dirty="0">
              <a:solidFill>
                <a:srgbClr val="FF0000"/>
              </a:solidFill>
            </a:endParaRPr>
          </a:p>
          <a:p>
            <a:pPr>
              <a:buNone/>
            </a:pPr>
            <a:r>
              <a:rPr lang="zh-CN" altLang="en-US" sz="2000" dirty="0">
                <a:solidFill>
                  <a:srgbClr val="FF0000"/>
                </a:solidFill>
              </a:rPr>
              <a:t>数依赖</a:t>
            </a:r>
            <a:r>
              <a:rPr lang="zh-CN" altLang="en-US" sz="2000" dirty="0"/>
              <a:t>（</a:t>
            </a:r>
            <a:r>
              <a:rPr lang="en-US" altLang="zh-CN" sz="2000" dirty="0"/>
              <a:t>transitive functional dependency</a:t>
            </a:r>
            <a:r>
              <a:rPr lang="zh-CN" altLang="en-US" sz="2000" dirty="0"/>
              <a:t>）。记为：</a:t>
            </a:r>
            <a:r>
              <a:rPr lang="en-US" altLang="zh-CN" sz="2000" dirty="0"/>
              <a:t>X → Z</a:t>
            </a:r>
            <a:r>
              <a:rPr lang="zh-CN" altLang="en-US" sz="2000" dirty="0"/>
              <a:t>。</a:t>
            </a:r>
            <a:endParaRPr lang="en-US" altLang="zh-CN" sz="2000" dirty="0"/>
          </a:p>
          <a:p>
            <a:pPr>
              <a:buNone/>
            </a:pP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注意</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如果</a:t>
            </a:r>
            <a:r>
              <a:rPr lang="en-US" altLang="zh-CN" sz="2000" dirty="0">
                <a:latin typeface="Times New Roman" panose="02020603050405020304" pitchFamily="18" charset="0"/>
                <a:cs typeface="Times New Roman" panose="02020603050405020304" pitchFamily="18" charset="0"/>
              </a:rPr>
              <a:t>Y→X, </a:t>
            </a:r>
            <a:r>
              <a:rPr lang="zh-CN" altLang="en-US" sz="2000" dirty="0">
                <a:latin typeface="Times New Roman" panose="02020603050405020304" pitchFamily="18" charset="0"/>
                <a:cs typeface="Times New Roman" panose="02020603050405020304" pitchFamily="18" charset="0"/>
              </a:rPr>
              <a:t>即</a:t>
            </a:r>
            <a:r>
              <a:rPr lang="en-US" altLang="zh-CN" sz="2000" dirty="0">
                <a:latin typeface="Times New Roman" panose="02020603050405020304" pitchFamily="18" charset="0"/>
                <a:cs typeface="Times New Roman" panose="02020603050405020304" pitchFamily="18" charset="0"/>
              </a:rPr>
              <a:t>X←→Y</a:t>
            </a:r>
            <a:r>
              <a:rPr lang="zh-CN" altLang="en-US" sz="2000" dirty="0">
                <a:latin typeface="Times New Roman" panose="02020603050405020304" pitchFamily="18" charset="0"/>
                <a:cs typeface="Times New Roman" panose="02020603050405020304" pitchFamily="18" charset="0"/>
              </a:rPr>
              <a:t>，则</a:t>
            </a:r>
            <a:r>
              <a:rPr lang="en-US" altLang="zh-CN" sz="2000" dirty="0">
                <a:latin typeface="Times New Roman" panose="02020603050405020304" pitchFamily="18" charset="0"/>
                <a:cs typeface="Times New Roman" panose="02020603050405020304" pitchFamily="18" charset="0"/>
              </a:rPr>
              <a:t>Z</a:t>
            </a:r>
            <a:r>
              <a:rPr lang="zh-CN" altLang="en-US" sz="2000" dirty="0">
                <a:latin typeface="Times New Roman" panose="02020603050405020304" pitchFamily="18" charset="0"/>
                <a:cs typeface="Times New Roman" panose="02020603050405020304" pitchFamily="18" charset="0"/>
              </a:rPr>
              <a:t>直接依赖于</a:t>
            </a:r>
            <a:r>
              <a:rPr lang="en-US" altLang="zh-CN" sz="2000" dirty="0">
                <a:latin typeface="Times New Roman" panose="02020603050405020304" pitchFamily="18" charset="0"/>
                <a:cs typeface="Times New Roman" panose="02020603050405020304" pitchFamily="18" charset="0"/>
              </a:rPr>
              <a:t>X</a:t>
            </a:r>
            <a:r>
              <a:rPr lang="zh-CN" altLang="en-US"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p>
            <a:pPr lvl="1">
              <a:buNone/>
            </a:pPr>
            <a:endParaRPr lang="en-US" altLang="zh-CN" sz="1200" dirty="0">
              <a:latin typeface="Times New Roman" panose="02020603050405020304" pitchFamily="18" charset="0"/>
              <a:cs typeface="Times New Roman" panose="02020603050405020304" pitchFamily="18" charset="0"/>
            </a:endParaRPr>
          </a:p>
          <a:p>
            <a:pPr lvl="1">
              <a:buNone/>
            </a:pP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例</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在关系</a:t>
            </a:r>
            <a:r>
              <a:rPr lang="en-US" altLang="zh-CN" sz="1800" b="0" dirty="0">
                <a:solidFill>
                  <a:srgbClr val="FF0000"/>
                </a:solidFill>
              </a:rPr>
              <a:t>STUDENT</a:t>
            </a:r>
            <a:r>
              <a:rPr lang="zh-CN" altLang="en-US" sz="1800" b="0" dirty="0">
                <a:solidFill>
                  <a:srgbClr val="FF0000"/>
                </a:solidFill>
              </a:rPr>
              <a:t>（</a:t>
            </a:r>
            <a:r>
              <a:rPr lang="en-US" altLang="zh-CN" sz="1800" b="0" dirty="0" err="1">
                <a:solidFill>
                  <a:srgbClr val="FF0000"/>
                </a:solidFill>
              </a:rPr>
              <a:t>Sno</a:t>
            </a:r>
            <a:r>
              <a:rPr lang="en-US" altLang="zh-CN" sz="1800" b="0" dirty="0">
                <a:solidFill>
                  <a:srgbClr val="FF0000"/>
                </a:solidFill>
              </a:rPr>
              <a:t> ,</a:t>
            </a:r>
            <a:r>
              <a:rPr lang="en-US" altLang="zh-CN" sz="1800" b="0" dirty="0" err="1">
                <a:solidFill>
                  <a:srgbClr val="FF0000"/>
                </a:solidFill>
              </a:rPr>
              <a:t>Sdept</a:t>
            </a:r>
            <a:r>
              <a:rPr lang="en-US" altLang="zh-CN" sz="1800" b="0" dirty="0">
                <a:solidFill>
                  <a:srgbClr val="FF0000"/>
                </a:solidFill>
              </a:rPr>
              <a:t>, </a:t>
            </a:r>
            <a:r>
              <a:rPr lang="en-US" altLang="zh-CN" sz="1800" b="0" dirty="0" err="1">
                <a:solidFill>
                  <a:srgbClr val="FF0000"/>
                </a:solidFill>
              </a:rPr>
              <a:t>Mname,Cname,Grade</a:t>
            </a:r>
            <a:r>
              <a:rPr lang="zh-CN" altLang="en-US" sz="1800" b="0" dirty="0">
                <a:solidFill>
                  <a:srgbClr val="FF0000"/>
                </a:solidFill>
              </a:rPr>
              <a:t>）</a:t>
            </a:r>
            <a:r>
              <a:rPr lang="zh-CN" altLang="en-US" sz="1800" dirty="0">
                <a:latin typeface="Times New Roman" panose="02020603050405020304" pitchFamily="18" charset="0"/>
                <a:cs typeface="Times New Roman" panose="02020603050405020304" pitchFamily="18" charset="0"/>
              </a:rPr>
              <a:t>中，</a:t>
            </a:r>
            <a:endParaRPr lang="zh-CN" altLang="en-US" sz="1800" dirty="0">
              <a:latin typeface="Times New Roman" panose="02020603050405020304" pitchFamily="18" charset="0"/>
              <a:cs typeface="Times New Roman" panose="02020603050405020304" pitchFamily="18" charset="0"/>
            </a:endParaRPr>
          </a:p>
          <a:p>
            <a:pPr marL="457200" lvl="1" indent="0">
              <a:buNone/>
            </a:pPr>
            <a:r>
              <a:rPr lang="en-US" altLang="zh-CN" sz="1800" dirty="0" err="1">
                <a:latin typeface="Times New Roman" panose="02020603050405020304" pitchFamily="18" charset="0"/>
                <a:cs typeface="Times New Roman" panose="02020603050405020304" pitchFamily="18" charset="0"/>
              </a:rPr>
              <a:t>Sno</a:t>
            </a:r>
            <a:r>
              <a:rPr lang="en-US" altLang="zh-CN" sz="1800" dirty="0">
                <a:latin typeface="Times New Roman" panose="02020603050405020304" pitchFamily="18" charset="0"/>
                <a:cs typeface="Times New Roman" panose="02020603050405020304" pitchFamily="18" charset="0"/>
              </a:rPr>
              <a:t> → </a:t>
            </a:r>
            <a:r>
              <a:rPr lang="en-US" altLang="zh-CN" sz="1800" dirty="0" err="1">
                <a:latin typeface="Times New Roman" panose="02020603050405020304" pitchFamily="18" charset="0"/>
                <a:cs typeface="Times New Roman" panose="02020603050405020304" pitchFamily="18" charset="0"/>
              </a:rPr>
              <a:t>Sdept</a:t>
            </a:r>
            <a:r>
              <a:rPr lang="zh-CN" altLang="en-US"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Sdept</a:t>
            </a:r>
            <a:r>
              <a:rPr lang="en-US" altLang="zh-CN" sz="1800" dirty="0">
                <a:latin typeface="Times New Roman" panose="02020603050405020304" pitchFamily="18" charset="0"/>
                <a:cs typeface="Times New Roman" panose="02020603050405020304" pitchFamily="18" charset="0"/>
              </a:rPr>
              <a:t> → </a:t>
            </a:r>
            <a:r>
              <a:rPr lang="en-US" altLang="zh-CN" sz="1800" dirty="0" err="1">
                <a:latin typeface="Times New Roman" panose="02020603050405020304" pitchFamily="18" charset="0"/>
                <a:cs typeface="Times New Roman" panose="02020603050405020304" pitchFamily="18" charset="0"/>
              </a:rPr>
              <a:t>Mname</a:t>
            </a:r>
            <a:r>
              <a:rPr lang="zh-CN" altLang="en-US"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Mname</a:t>
            </a:r>
            <a:r>
              <a:rPr lang="zh-CN" altLang="en-US" sz="1800" dirty="0">
                <a:latin typeface="Times New Roman" panose="02020603050405020304" pitchFamily="18" charset="0"/>
                <a:cs typeface="Times New Roman" panose="02020603050405020304" pitchFamily="18" charset="0"/>
              </a:rPr>
              <a:t>传递函数依赖于</a:t>
            </a:r>
            <a:r>
              <a:rPr lang="en-US" altLang="zh-CN" sz="1800" dirty="0" err="1">
                <a:latin typeface="Times New Roman" panose="02020603050405020304" pitchFamily="18" charset="0"/>
                <a:cs typeface="Times New Roman" panose="02020603050405020304" pitchFamily="18" charset="0"/>
              </a:rPr>
              <a:t>Sno</a:t>
            </a:r>
            <a:r>
              <a:rPr lang="zh-CN" altLang="en-US"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804004" y="1491609"/>
            <a:ext cx="306705" cy="337185"/>
          </a:xfrm>
          <a:prstGeom prst="rect">
            <a:avLst/>
          </a:prstGeom>
          <a:noFill/>
        </p:spPr>
        <p:txBody>
          <a:bodyPr wrap="none" rtlCol="0">
            <a:spAutoFit/>
          </a:bodyPr>
          <a:lstStyle/>
          <a:p>
            <a:r>
              <a:rPr lang="en-US" altLang="zh-CN" sz="1600" dirty="0"/>
              <a:t>T</a:t>
            </a:r>
            <a:endParaRPr lang="en-US" altLang="zh-CN" sz="1600" dirty="0"/>
          </a:p>
        </p:txBody>
      </p:sp>
      <p:pic>
        <p:nvPicPr>
          <p:cNvPr id="5" name="Picture 2" descr="6z1"/>
          <p:cNvPicPr>
            <a:picLocks noChangeAspect="1" noChangeArrowheads="1"/>
          </p:cNvPicPr>
          <p:nvPr/>
        </p:nvPicPr>
        <p:blipFill>
          <a:blip r:embed="rId1"/>
          <a:srcRect/>
          <a:stretch>
            <a:fillRect/>
          </a:stretch>
        </p:blipFill>
        <p:spPr bwMode="auto">
          <a:xfrm>
            <a:off x="2787535" y="3396070"/>
            <a:ext cx="2801476" cy="1263912"/>
          </a:xfrm>
          <a:prstGeom prst="rect">
            <a:avLst/>
          </a:prstGeom>
          <a:noFill/>
          <a:ln w="9525">
            <a:noFill/>
            <a:miter lim="800000"/>
            <a:headEnd/>
            <a:tailEnd/>
          </a:ln>
        </p:spPr>
      </p:pic>
      <p:sp>
        <p:nvSpPr>
          <p:cNvPr id="6" name="矩形 5"/>
          <p:cNvSpPr/>
          <p:nvPr/>
        </p:nvSpPr>
        <p:spPr bwMode="auto">
          <a:xfrm>
            <a:off x="714348" y="2578738"/>
            <a:ext cx="7000924" cy="642942"/>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文本框 1"/>
          <p:cNvSpPr txBox="1"/>
          <p:nvPr/>
        </p:nvSpPr>
        <p:spPr>
          <a:xfrm>
            <a:off x="6423660" y="4156075"/>
            <a:ext cx="2595880" cy="398780"/>
          </a:xfrm>
          <a:prstGeom prst="rect">
            <a:avLst/>
          </a:prstGeom>
          <a:noFill/>
        </p:spPr>
        <p:txBody>
          <a:bodyPr wrap="square" rtlCol="0" anchor="t">
            <a:spAutoFit/>
          </a:bodyPr>
          <a:p>
            <a:r>
              <a:rPr lang="zh-CN" altLang="en-US" sz="2000" dirty="0">
                <a:solidFill>
                  <a:srgbClr val="FF0000"/>
                </a:solidFill>
                <a:sym typeface="+mn-ea"/>
              </a:rPr>
              <a:t>为什么要强调Y⊈X？</a:t>
            </a:r>
            <a:endParaRPr lang="zh-CN" altLang="en-US" sz="2000" dirty="0">
              <a:solidFill>
                <a:srgbClr val="FF0000"/>
              </a:solidFill>
              <a:sym typeface="+mn-ea"/>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思考</a:t>
            </a:r>
            <a:endParaRPr lang="zh-CN" altLang="en-US"/>
          </a:p>
        </p:txBody>
      </p:sp>
      <p:sp>
        <p:nvSpPr>
          <p:cNvPr id="3" name="内容占位符 2"/>
          <p:cNvSpPr>
            <a:spLocks noGrp="1"/>
          </p:cNvSpPr>
          <p:nvPr>
            <p:ph idx="1"/>
          </p:nvPr>
        </p:nvSpPr>
        <p:spPr/>
        <p:txBody>
          <a:bodyPr/>
          <a:p>
            <a:r>
              <a:rPr lang="zh-CN" altLang="en-US" dirty="0">
                <a:sym typeface="+mn-ea"/>
              </a:rPr>
              <a:t>如果</a:t>
            </a:r>
            <a:r>
              <a:rPr lang="en-US" altLang="zh-CN" dirty="0">
                <a:sym typeface="+mn-ea"/>
              </a:rPr>
              <a:t>X→Y</a:t>
            </a:r>
            <a:r>
              <a:rPr lang="zh-CN" altLang="en-US" dirty="0">
                <a:sym typeface="+mn-ea"/>
              </a:rPr>
              <a:t>，</a:t>
            </a:r>
            <a:r>
              <a:rPr lang="en-US" altLang="zh-CN" dirty="0">
                <a:sym typeface="+mn-ea"/>
              </a:rPr>
              <a:t>Y→Z</a:t>
            </a:r>
            <a:endParaRPr lang="en-US" altLang="zh-CN" dirty="0">
              <a:sym typeface="+mn-ea"/>
            </a:endParaRPr>
          </a:p>
          <a:p>
            <a:r>
              <a:rPr lang="zh-CN" altLang="en-US"/>
              <a:t>试证明</a:t>
            </a:r>
            <a:r>
              <a:rPr lang="en-US" altLang="zh-CN"/>
              <a:t>  </a:t>
            </a:r>
            <a:r>
              <a:rPr lang="en-US" altLang="zh-CN" dirty="0">
                <a:sym typeface="+mn-ea"/>
              </a:rPr>
              <a:t>X→Z</a:t>
            </a:r>
            <a:endParaRPr lang="en-US" altLang="zh-CN"/>
          </a:p>
        </p:txBody>
      </p:sp>
    </p:spTree>
  </p:cSld>
  <p:clrMapOvr>
    <a:masterClrMapping/>
  </p:clrMapOvr>
  <p:transition spd="slow">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dirty="0"/>
              <a:t>思考：函数依赖与</a:t>
            </a:r>
            <a:r>
              <a:rPr lang="en-US" altLang="zh-CN" dirty="0"/>
              <a:t>Group By</a:t>
            </a:r>
            <a:endParaRPr lang="zh-CN" altLang="en-US" dirty="0"/>
          </a:p>
        </p:txBody>
      </p:sp>
      <p:sp>
        <p:nvSpPr>
          <p:cNvPr id="14339" name="内容占位符 2"/>
          <p:cNvSpPr>
            <a:spLocks noGrp="1"/>
          </p:cNvSpPr>
          <p:nvPr>
            <p:ph idx="1"/>
          </p:nvPr>
        </p:nvSpPr>
        <p:spPr/>
        <p:txBody>
          <a:bodyPr/>
          <a:lstStyle/>
          <a:p>
            <a:r>
              <a:rPr lang="zh-CN" altLang="en-US" dirty="0"/>
              <a:t>关系模式</a:t>
            </a:r>
            <a:r>
              <a:rPr lang="en-US" altLang="zh-CN" dirty="0"/>
              <a:t>R</a:t>
            </a:r>
            <a:r>
              <a:rPr lang="zh-CN" altLang="en-US" dirty="0"/>
              <a:t>中，若</a:t>
            </a:r>
            <a:r>
              <a:rPr lang="en-US" altLang="zh-CN" dirty="0"/>
              <a:t>X </a:t>
            </a:r>
            <a:r>
              <a:rPr lang="en-US" altLang="zh-CN" dirty="0">
                <a:sym typeface="Wingdings" panose="05000000000000000000" pitchFamily="2" charset="2"/>
              </a:rPr>
              <a:t> Y</a:t>
            </a:r>
            <a:r>
              <a:rPr lang="zh-CN" altLang="en-US" dirty="0">
                <a:sym typeface="Wingdings" panose="05000000000000000000" pitchFamily="2" charset="2"/>
              </a:rPr>
              <a:t>，则</a:t>
            </a:r>
            <a:r>
              <a:rPr lang="zh-CN" altLang="en-US" dirty="0"/>
              <a:t>下面两个语句的</a:t>
            </a:r>
            <a:r>
              <a:rPr lang="zh-CN" altLang="en-US" dirty="0">
                <a:solidFill>
                  <a:srgbClr val="FF0000"/>
                </a:solidFill>
              </a:rPr>
              <a:t>分组效果</a:t>
            </a:r>
            <a:r>
              <a:rPr lang="zh-CN" altLang="en-US" dirty="0"/>
              <a:t>相同</a:t>
            </a:r>
            <a:endParaRPr lang="en-US" altLang="zh-CN" dirty="0"/>
          </a:p>
          <a:p>
            <a:pPr lvl="1"/>
            <a:r>
              <a:rPr lang="en-US" altLang="zh-CN" dirty="0"/>
              <a:t>Group By X</a:t>
            </a:r>
            <a:endParaRPr lang="en-US" altLang="zh-CN" dirty="0"/>
          </a:p>
          <a:p>
            <a:pPr lvl="1"/>
            <a:r>
              <a:rPr lang="en-US" altLang="zh-CN" dirty="0"/>
              <a:t>Group By X,Y</a:t>
            </a:r>
            <a:endParaRPr lang="en-US" altLang="zh-CN" dirty="0"/>
          </a:p>
          <a:p>
            <a:pPr lvl="1"/>
            <a:endParaRPr lang="en-US" altLang="zh-CN" dirty="0"/>
          </a:p>
          <a:p>
            <a:r>
              <a:rPr lang="zh-CN" altLang="en-US" dirty="0"/>
              <a:t>试证明：任意两个元组 </a:t>
            </a:r>
            <a:r>
              <a:rPr lang="en-US" altLang="zh-CN" dirty="0"/>
              <a:t>t </a:t>
            </a:r>
            <a:r>
              <a:rPr lang="zh-CN" altLang="en-US" dirty="0"/>
              <a:t>和 </a:t>
            </a:r>
            <a:r>
              <a:rPr lang="en-US" altLang="zh-CN" dirty="0"/>
              <a:t>s</a:t>
            </a:r>
            <a:r>
              <a:rPr lang="zh-CN" altLang="en-US" dirty="0"/>
              <a:t>，若它们采用第一种方法分在同一组，则在第二种方法也同组。反之亦然。</a:t>
            </a:r>
            <a:endParaRPr lang="en-US" altLang="zh-CN" dirty="0"/>
          </a:p>
          <a:p>
            <a:endParaRPr lang="zh-CN" altLang="en-US" dirty="0"/>
          </a:p>
        </p:txBody>
      </p:sp>
    </p:spTree>
  </p:cSld>
  <p:clrMapOvr>
    <a:masterClrMapping/>
  </p:clrMapOvr>
  <p:transition spd="slow">
    <p:wipe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solidFill>
                  <a:srgbClr val="FF0000"/>
                </a:solidFill>
              </a:rPr>
              <a:t>6.2.2 </a:t>
            </a:r>
            <a:r>
              <a:rPr lang="zh-CN" altLang="en-US" sz="2800" dirty="0">
                <a:solidFill>
                  <a:srgbClr val="FF0000"/>
                </a:solidFill>
              </a:rPr>
              <a:t>码</a:t>
            </a:r>
            <a:endParaRPr lang="en-US" altLang="zh-CN" sz="2800" dirty="0">
              <a:solidFill>
                <a:srgbClr val="FF0000"/>
              </a:solidFill>
            </a:endParaRPr>
          </a:p>
          <a:p>
            <a:pPr>
              <a:spcBef>
                <a:spcPts val="0"/>
              </a:spcBef>
            </a:pPr>
            <a:r>
              <a:rPr lang="en-US" altLang="zh-CN" sz="2800" dirty="0"/>
              <a:t>6.2.3 </a:t>
            </a:r>
            <a:r>
              <a:rPr lang="zh-CN" altLang="en-US" sz="2800" dirty="0"/>
              <a:t>范式</a:t>
            </a:r>
            <a:endParaRPr lang="zh-CN" altLang="en-US" sz="2800" dirty="0"/>
          </a:p>
          <a:p>
            <a:pPr>
              <a:spcBef>
                <a:spcPts val="0"/>
              </a:spcBef>
            </a:pPr>
            <a:r>
              <a:rPr lang="en-US" altLang="zh-CN" sz="2800" dirty="0"/>
              <a:t>6.2.4 </a:t>
            </a:r>
            <a:r>
              <a:rPr lang="zh-CN" altLang="en-US" sz="2800" dirty="0"/>
              <a:t>第二范式（</a:t>
            </a:r>
            <a:r>
              <a:rPr lang="en-US" altLang="zh-CN" sz="2800" dirty="0"/>
              <a:t>2NF</a:t>
            </a:r>
            <a:r>
              <a:rPr lang="zh-CN" altLang="en-US" sz="2800" dirty="0"/>
              <a:t>）</a:t>
            </a:r>
            <a:endParaRPr lang="zh-CN" altLang="en-US" sz="2800" dirty="0"/>
          </a:p>
          <a:p>
            <a:pPr>
              <a:spcBef>
                <a:spcPts val="0"/>
              </a:spcBef>
            </a:pPr>
            <a:r>
              <a:rPr lang="en-US" altLang="zh-CN" sz="2800" dirty="0"/>
              <a:t>6.2.5 </a:t>
            </a:r>
            <a:r>
              <a:rPr lang="zh-CN" altLang="en-US" sz="2800" dirty="0"/>
              <a:t>第三范式（</a:t>
            </a:r>
            <a:r>
              <a:rPr lang="en-US" altLang="zh-CN" sz="2800" dirty="0"/>
              <a:t>3NF</a:t>
            </a:r>
            <a:r>
              <a:rPr lang="zh-CN" altLang="en-US" sz="2800" dirty="0"/>
              <a:t>）</a:t>
            </a:r>
            <a:endParaRPr lang="zh-CN" altLang="en-US" sz="2800" dirty="0"/>
          </a:p>
          <a:p>
            <a:pPr>
              <a:spcBef>
                <a:spcPts val="0"/>
              </a:spcBef>
            </a:pPr>
            <a:r>
              <a:rPr lang="en-US" altLang="zh-CN" sz="2800" dirty="0"/>
              <a:t>6.2.6 BC</a:t>
            </a:r>
            <a:r>
              <a:rPr lang="zh-CN" altLang="en-US" sz="2800" dirty="0"/>
              <a:t>范式（</a:t>
            </a:r>
            <a:r>
              <a:rPr lang="en-US" altLang="zh-CN" sz="2800" dirty="0"/>
              <a:t>BCNF</a:t>
            </a:r>
            <a:r>
              <a:rPr lang="zh-CN" altLang="en-US" sz="2800" dirty="0"/>
              <a:t>）</a:t>
            </a:r>
            <a:endParaRPr lang="zh-CN" altLang="en-US" sz="2800" dirty="0"/>
          </a:p>
          <a:p>
            <a:pPr lvl="1">
              <a:spcBef>
                <a:spcPts val="0"/>
              </a:spcBef>
            </a:pPr>
            <a:r>
              <a:rPr lang="zh-CN" altLang="en-US" sz="2600" dirty="0"/>
              <a:t>*</a:t>
            </a:r>
            <a:r>
              <a:rPr lang="en-US" altLang="zh-CN" sz="2600" dirty="0"/>
              <a:t>6.2.7 </a:t>
            </a:r>
            <a:r>
              <a:rPr lang="zh-CN" altLang="en-US" sz="2600" dirty="0"/>
              <a:t>多值依赖</a:t>
            </a:r>
            <a:endParaRPr lang="en-US" altLang="zh-CN" sz="2600" dirty="0"/>
          </a:p>
          <a:p>
            <a:pPr lvl="1">
              <a:spcBef>
                <a:spcPts val="0"/>
              </a:spcBef>
            </a:pPr>
            <a:r>
              <a:rPr lang="zh-CN" altLang="en-US" sz="2600" dirty="0"/>
              <a:t>*</a:t>
            </a:r>
            <a:r>
              <a:rPr lang="en-US" altLang="zh-CN" sz="2600" dirty="0"/>
              <a:t>6.2.8 </a:t>
            </a:r>
            <a:r>
              <a:rPr lang="zh-CN" altLang="en-US" sz="2600" dirty="0"/>
              <a:t>第四范式（</a:t>
            </a:r>
            <a:r>
              <a:rPr lang="en-US" altLang="zh-CN" sz="2600" dirty="0"/>
              <a:t>4NF</a:t>
            </a:r>
            <a:r>
              <a:rPr lang="zh-CN" altLang="en-US" sz="2600" dirty="0"/>
              <a:t>）</a:t>
            </a:r>
            <a:endParaRPr lang="zh-CN" altLang="en-US" sz="2600" dirty="0"/>
          </a:p>
          <a:p>
            <a:pPr>
              <a:spcBef>
                <a:spcPts val="0"/>
              </a:spcBef>
            </a:pPr>
            <a:r>
              <a:rPr lang="en-US" altLang="zh-CN" sz="2800" dirty="0"/>
              <a:t>6.2.9 </a:t>
            </a:r>
            <a:r>
              <a:rPr lang="zh-CN" altLang="en-US" sz="2800" dirty="0"/>
              <a:t>规范化小结</a:t>
            </a:r>
            <a:endParaRPr lang="zh-CN" altLang="en-US"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.2  </a:t>
            </a:r>
            <a:r>
              <a:rPr lang="zh-CN" altLang="en-US" sz="3600" b="1" kern="0" cap="all" dirty="0">
                <a:solidFill>
                  <a:schemeClr val="bg1"/>
                </a:solidFill>
                <a:latin typeface="+mj-lt"/>
                <a:ea typeface="+mj-ea"/>
                <a:cs typeface="+mj-cs"/>
              </a:rPr>
              <a:t>码</a:t>
            </a:r>
            <a:endParaRPr kumimoji="0" lang="zh-CN" altLang="en-US" sz="3600" b="1" i="0" u="none" strike="noStrike" kern="0" cap="all" spc="0" normalizeH="0" baseline="0" noProof="0" dirty="0">
              <a:ln>
                <a:noFill/>
              </a:ln>
              <a:solidFill>
                <a:schemeClr val="bg1"/>
              </a:solidFill>
              <a:effectLst/>
              <a:uLnTx/>
              <a:uFillTx/>
              <a:latin typeface="+mj-lt"/>
              <a:ea typeface="+mj-ea"/>
              <a:cs typeface="+mj-cs"/>
            </a:endParaRPr>
          </a:p>
        </p:txBody>
      </p:sp>
    </p:spTree>
  </p:cSld>
  <p:clrMapOvr>
    <a:masterClrMapping/>
  </p:clrMapOvr>
  <p:transition spd="slow">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zh-CN" dirty="0"/>
              <a:t>6.2.2 </a:t>
            </a:r>
            <a:r>
              <a:rPr lang="zh-CN" altLang="en-US" dirty="0"/>
              <a:t>码</a:t>
            </a:r>
            <a:r>
              <a:rPr lang="en-US" altLang="zh-CN" dirty="0"/>
              <a:t>—</a:t>
            </a:r>
            <a:r>
              <a:rPr lang="zh-CN" altLang="en-US" dirty="0"/>
              <a:t>主码</a:t>
            </a:r>
            <a:endParaRPr lang="zh-CN" altLang="en-US" dirty="0"/>
          </a:p>
        </p:txBody>
      </p:sp>
      <p:sp>
        <p:nvSpPr>
          <p:cNvPr id="47107" name="Rectangle 3"/>
          <p:cNvSpPr>
            <a:spLocks noGrp="1" noChangeArrowheads="1"/>
          </p:cNvSpPr>
          <p:nvPr>
            <p:ph idx="1"/>
          </p:nvPr>
        </p:nvSpPr>
        <p:spPr>
          <a:xfrm>
            <a:off x="191416" y="719347"/>
            <a:ext cx="8952584" cy="3579058"/>
          </a:xfrm>
        </p:spPr>
        <p:txBody>
          <a:bodyPr/>
          <a:lstStyle/>
          <a:p>
            <a:r>
              <a:rPr lang="zh-CN" altLang="en-US" sz="2000" dirty="0"/>
              <a:t>定义</a:t>
            </a:r>
            <a:r>
              <a:rPr lang="en-US" altLang="zh-CN" sz="2000" dirty="0"/>
              <a:t>6.4  </a:t>
            </a:r>
            <a:r>
              <a:rPr lang="zh-CN" altLang="en-US" sz="2000" dirty="0"/>
              <a:t>设</a:t>
            </a:r>
            <a:r>
              <a:rPr lang="en-US" altLang="zh-CN" sz="2000" dirty="0"/>
              <a:t>K</a:t>
            </a:r>
            <a:r>
              <a:rPr lang="zh-CN" altLang="en-US" sz="2000" dirty="0"/>
              <a:t>为关系模式</a:t>
            </a:r>
            <a:r>
              <a:rPr lang="en-US" altLang="zh-CN" sz="2000" dirty="0"/>
              <a:t>R&lt;U,F&gt;</a:t>
            </a:r>
            <a:r>
              <a:rPr lang="zh-CN" altLang="en-US" sz="2000" dirty="0"/>
              <a:t>中的属性或属性组合。若</a:t>
            </a:r>
            <a:r>
              <a:rPr lang="en-US" altLang="zh-CN" sz="2000" dirty="0"/>
              <a:t>K → U</a:t>
            </a:r>
            <a:r>
              <a:rPr lang="zh-CN" altLang="en-US" sz="2000" dirty="0"/>
              <a:t>，则</a:t>
            </a:r>
            <a:r>
              <a:rPr lang="en-US" altLang="zh-CN" sz="2000" dirty="0"/>
              <a:t>K</a:t>
            </a:r>
            <a:r>
              <a:rPr lang="zh-CN" altLang="en-US" sz="2000" dirty="0"/>
              <a:t>称为</a:t>
            </a:r>
            <a:r>
              <a:rPr lang="en-US" altLang="zh-CN" sz="2000" dirty="0"/>
              <a:t>R</a:t>
            </a:r>
            <a:r>
              <a:rPr lang="zh-CN" altLang="en-US" sz="2000" dirty="0"/>
              <a:t>的一个</a:t>
            </a:r>
            <a:r>
              <a:rPr lang="zh-CN" altLang="en-US" sz="2000" dirty="0">
                <a:solidFill>
                  <a:srgbClr val="C00000"/>
                </a:solidFill>
              </a:rPr>
              <a:t>候选码</a:t>
            </a:r>
            <a:r>
              <a:rPr lang="en-US" altLang="zh-CN" sz="2000" dirty="0"/>
              <a:t>(Candidate Key)</a:t>
            </a:r>
            <a:r>
              <a:rPr lang="zh-CN" altLang="en-US" sz="2000" dirty="0"/>
              <a:t>。</a:t>
            </a:r>
            <a:endParaRPr lang="en-US" altLang="zh-CN" sz="2000" dirty="0"/>
          </a:p>
          <a:p>
            <a:pPr lvl="1"/>
            <a:r>
              <a:rPr lang="zh-CN" altLang="en-US" sz="2000" dirty="0"/>
              <a:t>候选码</a:t>
            </a:r>
            <a:r>
              <a:rPr lang="en-US" altLang="zh-CN" sz="2000" dirty="0"/>
              <a:t>K</a:t>
            </a:r>
            <a:r>
              <a:rPr lang="zh-CN" altLang="en-US" sz="2000" dirty="0"/>
              <a:t>的任意一个真子集都不是候选码。</a:t>
            </a:r>
            <a:endParaRPr lang="en-US" altLang="zh-CN" sz="2000" dirty="0"/>
          </a:p>
          <a:p>
            <a:pPr lvl="1"/>
            <a:endParaRPr lang="en-US" altLang="zh-CN" sz="2000" dirty="0"/>
          </a:p>
          <a:p>
            <a:pPr lvl="1"/>
            <a:endParaRPr lang="en-US" altLang="zh-CN" sz="2000" dirty="0"/>
          </a:p>
          <a:p>
            <a:pPr lvl="1"/>
            <a:endParaRPr lang="en-US" altLang="zh-CN" sz="2000" dirty="0"/>
          </a:p>
          <a:p>
            <a:pPr>
              <a:spcBef>
                <a:spcPts val="1800"/>
              </a:spcBef>
            </a:pPr>
            <a:r>
              <a:rPr lang="zh-CN" altLang="en-US" sz="2000" dirty="0"/>
              <a:t>若关系模式</a:t>
            </a:r>
            <a:r>
              <a:rPr lang="en-US" altLang="zh-CN" sz="2000" dirty="0"/>
              <a:t>R</a:t>
            </a:r>
            <a:r>
              <a:rPr lang="zh-CN" altLang="en-US" sz="2000" dirty="0"/>
              <a:t>有多个候选码，则选定其中的一个做为</a:t>
            </a:r>
            <a:r>
              <a:rPr lang="zh-CN" altLang="en-US" sz="2000" dirty="0">
                <a:solidFill>
                  <a:srgbClr val="C00000"/>
                </a:solidFill>
              </a:rPr>
              <a:t>主码</a:t>
            </a:r>
            <a:r>
              <a:rPr lang="en-US" altLang="zh-CN" sz="2000" dirty="0"/>
              <a:t>(Primary key)</a:t>
            </a:r>
            <a:r>
              <a:rPr lang="zh-CN" altLang="en-US" sz="2000" dirty="0"/>
              <a:t>。</a:t>
            </a:r>
            <a:endParaRPr lang="en-US" altLang="zh-CN" sz="2000" dirty="0"/>
          </a:p>
          <a:p>
            <a:pPr>
              <a:spcBef>
                <a:spcPts val="1800"/>
              </a:spcBef>
            </a:pPr>
            <a:endParaRPr lang="en-US" altLang="zh-CN" sz="2000" dirty="0"/>
          </a:p>
        </p:txBody>
      </p:sp>
      <p:sp>
        <p:nvSpPr>
          <p:cNvPr id="7" name="文本框 6"/>
          <p:cNvSpPr txBox="1"/>
          <p:nvPr/>
        </p:nvSpPr>
        <p:spPr>
          <a:xfrm>
            <a:off x="7235839" y="643559"/>
            <a:ext cx="324012" cy="400110"/>
          </a:xfrm>
          <a:prstGeom prst="rect">
            <a:avLst/>
          </a:prstGeom>
          <a:noFill/>
        </p:spPr>
        <p:txBody>
          <a:bodyPr wrap="square" rtlCol="0">
            <a:spAutoFit/>
          </a:bodyPr>
          <a:lstStyle/>
          <a:p>
            <a:r>
              <a:rPr lang="en-US" altLang="zh-CN" sz="2000" i="1" dirty="0"/>
              <a:t>F</a:t>
            </a:r>
            <a:endParaRPr lang="zh-CN" altLang="en-US" sz="2000" i="1" dirty="0"/>
          </a:p>
        </p:txBody>
      </p:sp>
      <p:sp>
        <p:nvSpPr>
          <p:cNvPr id="6" name="矩形 5"/>
          <p:cNvSpPr/>
          <p:nvPr/>
        </p:nvSpPr>
        <p:spPr>
          <a:xfrm>
            <a:off x="720450" y="2275034"/>
            <a:ext cx="5429288" cy="646331"/>
          </a:xfrm>
          <a:prstGeom prst="rect">
            <a:avLst/>
          </a:prstGeom>
          <a:ln w="12700">
            <a:solidFill>
              <a:srgbClr val="FF0000"/>
            </a:solidFill>
          </a:ln>
        </p:spPr>
        <p:txBody>
          <a:bodyPr wrap="square">
            <a:spAutoFit/>
          </a:bodyPr>
          <a:lstStyle/>
          <a:p>
            <a:r>
              <a:rPr lang="en-US" altLang="zh-CN" b="1" dirty="0"/>
              <a:t>[</a:t>
            </a:r>
            <a:r>
              <a:rPr lang="zh-CN" altLang="en-US" b="1" dirty="0"/>
              <a:t>例</a:t>
            </a:r>
            <a:r>
              <a:rPr lang="en-US" altLang="zh-CN" b="1" dirty="0"/>
              <a:t>] S(</a:t>
            </a:r>
            <a:r>
              <a:rPr lang="en-US" altLang="zh-CN" b="1" u="sng" dirty="0" err="1"/>
              <a:t>Sno</a:t>
            </a:r>
            <a:r>
              <a:rPr lang="en-US" altLang="zh-CN" b="1" dirty="0"/>
              <a:t>, </a:t>
            </a:r>
            <a:r>
              <a:rPr lang="en-US" altLang="zh-CN" b="1" dirty="0" err="1"/>
              <a:t>Sdept</a:t>
            </a:r>
            <a:r>
              <a:rPr lang="en-US" altLang="zh-CN" b="1" dirty="0"/>
              <a:t>, Sage)</a:t>
            </a:r>
            <a:r>
              <a:rPr lang="zh-CN" altLang="en-US" b="1" dirty="0"/>
              <a:t>，</a:t>
            </a:r>
            <a:r>
              <a:rPr lang="en-US" altLang="zh-CN" b="1" dirty="0" err="1"/>
              <a:t>Sno</a:t>
            </a:r>
            <a:r>
              <a:rPr lang="zh-CN" altLang="en-US" b="1" dirty="0"/>
              <a:t>是码</a:t>
            </a:r>
            <a:endParaRPr lang="en-US" altLang="zh-CN" b="1" dirty="0"/>
          </a:p>
          <a:p>
            <a:pPr>
              <a:buNone/>
            </a:pPr>
            <a:r>
              <a:rPr lang="en-US" altLang="zh-CN" b="1" dirty="0"/>
              <a:t>       SC(</a:t>
            </a:r>
            <a:r>
              <a:rPr lang="en-US" altLang="zh-CN" b="1" u="sng" dirty="0" err="1"/>
              <a:t>Sno</a:t>
            </a:r>
            <a:r>
              <a:rPr lang="en-US" altLang="zh-CN" b="1" u="sng" dirty="0"/>
              <a:t>, </a:t>
            </a:r>
            <a:r>
              <a:rPr lang="en-US" altLang="zh-CN" b="1" u="sng" dirty="0" err="1"/>
              <a:t>Cno</a:t>
            </a:r>
            <a:r>
              <a:rPr lang="en-US" altLang="zh-CN" b="1" dirty="0"/>
              <a:t>, Grade)</a:t>
            </a:r>
            <a:r>
              <a:rPr lang="zh-CN" altLang="en-US" b="1" dirty="0"/>
              <a:t>中，</a:t>
            </a:r>
            <a:r>
              <a:rPr lang="en-US" altLang="zh-CN" b="1" dirty="0"/>
              <a:t>(</a:t>
            </a:r>
            <a:r>
              <a:rPr lang="en-US" altLang="zh-CN" b="1" dirty="0" err="1"/>
              <a:t>Sno</a:t>
            </a:r>
            <a:r>
              <a:rPr lang="en-US" altLang="zh-CN" b="1" dirty="0"/>
              <a:t>, </a:t>
            </a:r>
            <a:r>
              <a:rPr lang="en-US" altLang="zh-CN" b="1" dirty="0" err="1"/>
              <a:t>Cno</a:t>
            </a:r>
            <a:r>
              <a:rPr lang="en-US" altLang="zh-CN" b="1" dirty="0"/>
              <a:t>)</a:t>
            </a:r>
            <a:r>
              <a:rPr lang="zh-CN" altLang="en-US" b="1" dirty="0"/>
              <a:t>是码</a:t>
            </a:r>
            <a:endParaRPr lang="en-US" altLang="zh-CN" b="1" dirty="0"/>
          </a:p>
        </p:txBody>
      </p:sp>
      <p:sp>
        <p:nvSpPr>
          <p:cNvPr id="9" name="矩形 8"/>
          <p:cNvSpPr/>
          <p:nvPr/>
        </p:nvSpPr>
        <p:spPr>
          <a:xfrm>
            <a:off x="715861" y="3411120"/>
            <a:ext cx="7429552" cy="1015663"/>
          </a:xfrm>
          <a:prstGeom prst="rect">
            <a:avLst/>
          </a:prstGeom>
          <a:ln w="12700">
            <a:solidFill>
              <a:srgbClr val="FF0000"/>
            </a:solidFill>
          </a:ln>
        </p:spPr>
        <p:txBody>
          <a:bodyPr wrap="square">
            <a:spAutoFit/>
          </a:bodyPr>
          <a:lstStyle/>
          <a:p>
            <a:r>
              <a:rPr lang="en-US" altLang="zh-CN" sz="2000" b="1" dirty="0"/>
              <a:t>[</a:t>
            </a:r>
            <a:r>
              <a:rPr lang="zh-CN" altLang="en-US" sz="2000" b="1" dirty="0"/>
              <a:t>例</a:t>
            </a:r>
            <a:r>
              <a:rPr lang="en-US" altLang="zh-CN" sz="2000" b="1" dirty="0"/>
              <a:t>] S(</a:t>
            </a:r>
            <a:r>
              <a:rPr lang="en-US" altLang="zh-CN" sz="2000" b="1" u="sng" dirty="0" err="1"/>
              <a:t>Sno</a:t>
            </a:r>
            <a:r>
              <a:rPr lang="en-US" altLang="zh-CN" sz="2000" b="1" dirty="0"/>
              <a:t>, </a:t>
            </a:r>
            <a:r>
              <a:rPr lang="en-US" altLang="zh-CN" sz="2000" b="1" u="sng" dirty="0" err="1"/>
              <a:t>Sname</a:t>
            </a:r>
            <a:r>
              <a:rPr lang="en-US" altLang="zh-CN" sz="2000" b="1" dirty="0"/>
              <a:t>, </a:t>
            </a:r>
            <a:r>
              <a:rPr lang="en-US" altLang="zh-CN" sz="2000" b="1" dirty="0" err="1"/>
              <a:t>Sdept</a:t>
            </a:r>
            <a:r>
              <a:rPr lang="en-US" altLang="zh-CN" sz="2000" b="1" dirty="0"/>
              <a:t>, Sage)</a:t>
            </a:r>
            <a:r>
              <a:rPr lang="zh-CN" altLang="en-US" sz="2000" b="1" dirty="0"/>
              <a:t>，</a:t>
            </a:r>
            <a:r>
              <a:rPr lang="en-US" altLang="zh-CN" sz="2000" b="1" dirty="0"/>
              <a:t> </a:t>
            </a:r>
            <a:r>
              <a:rPr lang="zh-CN" altLang="en-US" sz="2000" b="1" dirty="0"/>
              <a:t>假设学生无重名</a:t>
            </a:r>
            <a:endParaRPr lang="en-US" altLang="zh-CN" sz="2000" b="1" dirty="0"/>
          </a:p>
          <a:p>
            <a:r>
              <a:rPr lang="en-US" altLang="zh-CN" sz="2000" b="1" dirty="0"/>
              <a:t>       </a:t>
            </a:r>
            <a:r>
              <a:rPr lang="en-US" altLang="zh-CN" sz="2000" b="1" dirty="0" err="1"/>
              <a:t>Sno</a:t>
            </a:r>
            <a:r>
              <a:rPr lang="zh-CN" altLang="en-US" sz="2000" b="1" dirty="0"/>
              <a:t>、</a:t>
            </a:r>
            <a:r>
              <a:rPr lang="en-US" altLang="zh-CN" sz="2000" b="1" dirty="0"/>
              <a:t> </a:t>
            </a:r>
            <a:r>
              <a:rPr lang="en-US" altLang="zh-CN" sz="2000" b="1" dirty="0" err="1"/>
              <a:t>Sname</a:t>
            </a:r>
            <a:r>
              <a:rPr lang="zh-CN" altLang="en-US" sz="2000" b="1" dirty="0"/>
              <a:t>是候选码，选择</a:t>
            </a:r>
            <a:r>
              <a:rPr lang="en-US" altLang="zh-CN" sz="2000" b="1" dirty="0" err="1"/>
              <a:t>Sno</a:t>
            </a:r>
            <a:r>
              <a:rPr lang="zh-CN" altLang="en-US" sz="2000" b="1" dirty="0"/>
              <a:t>为主码。</a:t>
            </a:r>
            <a:endParaRPr lang="en-US" altLang="zh-CN" sz="2000" b="1" dirty="0"/>
          </a:p>
          <a:p>
            <a:pPr>
              <a:buNone/>
            </a:pPr>
            <a:r>
              <a:rPr lang="en-US" altLang="zh-CN" sz="2000" b="1" dirty="0"/>
              <a:t>      (</a:t>
            </a:r>
            <a:r>
              <a:rPr lang="en-US" altLang="zh-CN" sz="2000" b="1" dirty="0" err="1"/>
              <a:t>Sno</a:t>
            </a:r>
            <a:r>
              <a:rPr lang="en-US" altLang="zh-CN" sz="2000" b="1" dirty="0"/>
              <a:t>, </a:t>
            </a:r>
            <a:r>
              <a:rPr lang="en-US" altLang="zh-CN" sz="2000" b="1" dirty="0" err="1"/>
              <a:t>Sdept</a:t>
            </a:r>
            <a:r>
              <a:rPr lang="en-US" altLang="zh-CN" sz="2000" b="1" dirty="0"/>
              <a:t>)</a:t>
            </a:r>
            <a:r>
              <a:rPr lang="zh-CN" altLang="en-US" sz="2000" b="1" dirty="0"/>
              <a:t>、</a:t>
            </a:r>
            <a:r>
              <a:rPr lang="en-US" altLang="zh-CN" sz="2000" b="1" dirty="0"/>
              <a:t> (</a:t>
            </a:r>
            <a:r>
              <a:rPr lang="en-US" altLang="zh-CN" sz="2000" b="1" dirty="0" err="1"/>
              <a:t>Sno</a:t>
            </a:r>
            <a:r>
              <a:rPr lang="en-US" altLang="zh-CN" sz="2000" b="1" dirty="0"/>
              <a:t>, Sage)</a:t>
            </a:r>
            <a:r>
              <a:rPr lang="zh-CN" altLang="en-US" sz="2000" b="1" dirty="0"/>
              <a:t>、</a:t>
            </a:r>
            <a:r>
              <a:rPr lang="en-US" altLang="zh-CN" sz="2000" b="1" dirty="0"/>
              <a:t> (</a:t>
            </a:r>
            <a:r>
              <a:rPr lang="en-US" altLang="zh-CN" sz="2000" b="1" dirty="0" err="1"/>
              <a:t>Sno</a:t>
            </a:r>
            <a:r>
              <a:rPr lang="en-US" altLang="zh-CN" sz="2000" b="1" dirty="0"/>
              <a:t>, </a:t>
            </a:r>
            <a:r>
              <a:rPr lang="en-US" altLang="zh-CN" sz="2000" b="1" dirty="0" err="1"/>
              <a:t>Sdept</a:t>
            </a:r>
            <a:r>
              <a:rPr lang="en-US" altLang="zh-CN" sz="2000" b="1" dirty="0"/>
              <a:t>, Sage)</a:t>
            </a:r>
            <a:r>
              <a:rPr lang="zh-CN" altLang="en-US" sz="2000" b="1" dirty="0"/>
              <a:t> 是超码</a:t>
            </a:r>
            <a:endParaRPr lang="en-US" altLang="zh-CN" sz="2000" b="1" dirty="0"/>
          </a:p>
        </p:txBody>
      </p:sp>
    </p:spTree>
  </p:cSld>
  <p:clrMapOvr>
    <a:masterClrMapping/>
  </p:clrMapOvr>
  <p:transition spd="slow">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zh-CN" dirty="0"/>
              <a:t>6.2.2 </a:t>
            </a:r>
            <a:r>
              <a:rPr lang="zh-CN" altLang="en-US" dirty="0"/>
              <a:t>码</a:t>
            </a:r>
            <a:endParaRPr lang="zh-CN" altLang="en-US" dirty="0"/>
          </a:p>
        </p:txBody>
      </p:sp>
      <p:sp>
        <p:nvSpPr>
          <p:cNvPr id="47107" name="Rectangle 3"/>
          <p:cNvSpPr>
            <a:spLocks noGrp="1" noChangeArrowheads="1"/>
          </p:cNvSpPr>
          <p:nvPr>
            <p:ph idx="1"/>
          </p:nvPr>
        </p:nvSpPr>
        <p:spPr>
          <a:xfrm>
            <a:off x="191416" y="719347"/>
            <a:ext cx="8401080" cy="1280900"/>
          </a:xfrm>
        </p:spPr>
        <p:txBody>
          <a:bodyPr/>
          <a:lstStyle/>
          <a:p>
            <a:r>
              <a:rPr lang="zh-CN" altLang="en-US" sz="1800" dirty="0"/>
              <a:t>主属性与非主属性</a:t>
            </a:r>
            <a:endParaRPr lang="zh-CN" altLang="en-US" sz="1800" dirty="0"/>
          </a:p>
          <a:p>
            <a:pPr lvl="1"/>
            <a:r>
              <a:rPr lang="zh-CN" altLang="en-US" sz="1800" dirty="0"/>
              <a:t>包含在任何一个候选码中的属性 ，称为</a:t>
            </a:r>
            <a:r>
              <a:rPr lang="zh-CN" altLang="en-US" sz="1800" dirty="0">
                <a:solidFill>
                  <a:srgbClr val="C00000"/>
                </a:solidFill>
              </a:rPr>
              <a:t>主属性</a:t>
            </a:r>
            <a:r>
              <a:rPr lang="zh-CN" altLang="en-US" sz="1800" dirty="0"/>
              <a:t>（</a:t>
            </a:r>
            <a:r>
              <a:rPr lang="en-US" altLang="zh-CN" sz="1800" dirty="0"/>
              <a:t>Prime attribute</a:t>
            </a:r>
            <a:r>
              <a:rPr lang="zh-CN" altLang="en-US" sz="1800" dirty="0"/>
              <a:t>） </a:t>
            </a:r>
            <a:endParaRPr lang="zh-CN" altLang="en-US" sz="1800" dirty="0"/>
          </a:p>
          <a:p>
            <a:pPr lvl="1"/>
            <a:r>
              <a:rPr lang="zh-CN" altLang="en-US" sz="1800" dirty="0"/>
              <a:t>不包含在任何码中的属性称为</a:t>
            </a:r>
            <a:r>
              <a:rPr lang="zh-CN" altLang="en-US" sz="1800" dirty="0">
                <a:solidFill>
                  <a:srgbClr val="C00000"/>
                </a:solidFill>
              </a:rPr>
              <a:t>非主属性</a:t>
            </a:r>
            <a:r>
              <a:rPr lang="zh-CN" altLang="en-US" sz="1800" dirty="0"/>
              <a:t>（</a:t>
            </a:r>
            <a:r>
              <a:rPr lang="en-US" altLang="zh-CN" sz="1800" dirty="0"/>
              <a:t>Nonprime attribute</a:t>
            </a:r>
            <a:r>
              <a:rPr lang="zh-CN" altLang="en-US" sz="1800" dirty="0"/>
              <a:t>）或非码属性（</a:t>
            </a:r>
            <a:r>
              <a:rPr lang="en-US" altLang="zh-CN" sz="1800" dirty="0"/>
              <a:t>Non-key attribute</a:t>
            </a:r>
            <a:r>
              <a:rPr lang="zh-CN" altLang="en-US" sz="1800" dirty="0"/>
              <a:t>） </a:t>
            </a:r>
            <a:endParaRPr lang="en-US" altLang="zh-CN" sz="1800" dirty="0"/>
          </a:p>
          <a:p>
            <a:pPr lvl="1"/>
            <a:endParaRPr lang="en-US" altLang="zh-CN" sz="1800" dirty="0"/>
          </a:p>
          <a:p>
            <a:pPr lvl="1"/>
            <a:endParaRPr lang="en-US" altLang="zh-CN" sz="1800" dirty="0"/>
          </a:p>
          <a:p>
            <a:pPr lvl="1">
              <a:buNone/>
            </a:pPr>
            <a:endParaRPr lang="en-US" altLang="zh-CN" sz="1800" dirty="0"/>
          </a:p>
          <a:p>
            <a:r>
              <a:rPr lang="zh-CN" altLang="en-US" sz="1800" dirty="0"/>
              <a:t>全码：整个属性组是码，称为</a:t>
            </a:r>
            <a:r>
              <a:rPr lang="zh-CN" altLang="en-US" sz="1800" dirty="0">
                <a:solidFill>
                  <a:srgbClr val="C00000"/>
                </a:solidFill>
              </a:rPr>
              <a:t>全码</a:t>
            </a:r>
            <a:r>
              <a:rPr lang="zh-CN" altLang="en-US" sz="1800" dirty="0"/>
              <a:t>（</a:t>
            </a:r>
            <a:r>
              <a:rPr lang="en-US" altLang="zh-CN" sz="1800" dirty="0"/>
              <a:t>All-key</a:t>
            </a:r>
            <a:r>
              <a:rPr lang="zh-CN" altLang="en-US" sz="1800" dirty="0"/>
              <a:t>） </a:t>
            </a:r>
            <a:endParaRPr lang="zh-CN" altLang="en-US" sz="1800" dirty="0"/>
          </a:p>
          <a:p>
            <a:pPr>
              <a:spcBef>
                <a:spcPts val="1800"/>
              </a:spcBef>
            </a:pPr>
            <a:endParaRPr lang="en-US" altLang="zh-CN" sz="1800" dirty="0"/>
          </a:p>
        </p:txBody>
      </p:sp>
      <p:sp>
        <p:nvSpPr>
          <p:cNvPr id="6" name="矩形 5"/>
          <p:cNvSpPr/>
          <p:nvPr/>
        </p:nvSpPr>
        <p:spPr>
          <a:xfrm>
            <a:off x="500034" y="2000247"/>
            <a:ext cx="8608470" cy="923330"/>
          </a:xfrm>
          <a:prstGeom prst="rect">
            <a:avLst/>
          </a:prstGeom>
          <a:ln w="12700">
            <a:solidFill>
              <a:srgbClr val="FF0000"/>
            </a:solidFill>
          </a:ln>
        </p:spPr>
        <p:txBody>
          <a:bodyPr wrap="square">
            <a:spAutoFit/>
          </a:bodyPr>
          <a:lstStyle/>
          <a:p>
            <a:r>
              <a:rPr lang="en-US" altLang="zh-CN" b="1" dirty="0"/>
              <a:t>[</a:t>
            </a:r>
            <a:r>
              <a:rPr lang="zh-CN" altLang="en-US" b="1" dirty="0"/>
              <a:t>例</a:t>
            </a:r>
            <a:r>
              <a:rPr lang="en-US" altLang="zh-CN" b="1" dirty="0"/>
              <a:t>] S(</a:t>
            </a:r>
            <a:r>
              <a:rPr lang="en-US" altLang="zh-CN" b="1" dirty="0" err="1"/>
              <a:t>Sno</a:t>
            </a:r>
            <a:r>
              <a:rPr lang="en-US" altLang="zh-CN" b="1" dirty="0"/>
              <a:t>, </a:t>
            </a:r>
            <a:r>
              <a:rPr lang="en-US" altLang="zh-CN" b="1" dirty="0" err="1"/>
              <a:t>Sdept</a:t>
            </a:r>
            <a:r>
              <a:rPr lang="en-US" altLang="zh-CN" b="1" dirty="0"/>
              <a:t>, Sage)</a:t>
            </a:r>
            <a:r>
              <a:rPr lang="zh-CN" altLang="en-US" b="1" dirty="0"/>
              <a:t>，</a:t>
            </a:r>
            <a:r>
              <a:rPr lang="en-US" altLang="zh-CN" b="1" dirty="0" err="1"/>
              <a:t>Sno</a:t>
            </a:r>
            <a:r>
              <a:rPr lang="zh-CN" altLang="en-US" b="1" dirty="0"/>
              <a:t>是码，</a:t>
            </a:r>
            <a:r>
              <a:rPr lang="en-US" altLang="zh-CN" b="1" dirty="0"/>
              <a:t> </a:t>
            </a:r>
            <a:r>
              <a:rPr lang="en-US" altLang="zh-CN" b="1" dirty="0" err="1"/>
              <a:t>Sno</a:t>
            </a:r>
            <a:r>
              <a:rPr lang="zh-CN" altLang="en-US" b="1" dirty="0"/>
              <a:t>是主属性，</a:t>
            </a:r>
            <a:r>
              <a:rPr lang="en-US" altLang="zh-CN" b="1" dirty="0"/>
              <a:t> </a:t>
            </a:r>
            <a:r>
              <a:rPr lang="en-US" altLang="zh-CN" b="1" dirty="0" err="1"/>
              <a:t>Sdept</a:t>
            </a:r>
            <a:r>
              <a:rPr lang="en-US" altLang="zh-CN" b="1" dirty="0"/>
              <a:t>, Sage</a:t>
            </a:r>
            <a:r>
              <a:rPr lang="zh-CN" altLang="en-US" b="1" dirty="0"/>
              <a:t>是非主属性。</a:t>
            </a:r>
            <a:endParaRPr lang="en-US" altLang="zh-CN" b="1" dirty="0"/>
          </a:p>
          <a:p>
            <a:pPr>
              <a:buNone/>
            </a:pPr>
            <a:r>
              <a:rPr lang="en-US" altLang="zh-CN" b="1" dirty="0"/>
              <a:t>       SC(</a:t>
            </a:r>
            <a:r>
              <a:rPr lang="en-US" altLang="zh-CN" b="1" dirty="0" err="1"/>
              <a:t>Sno</a:t>
            </a:r>
            <a:r>
              <a:rPr lang="en-US" altLang="zh-CN" b="1" dirty="0"/>
              <a:t>, </a:t>
            </a:r>
            <a:r>
              <a:rPr lang="en-US" altLang="zh-CN" b="1" dirty="0" err="1"/>
              <a:t>Cno</a:t>
            </a:r>
            <a:r>
              <a:rPr lang="en-US" altLang="zh-CN" b="1" dirty="0"/>
              <a:t>, Grade)</a:t>
            </a:r>
            <a:r>
              <a:rPr lang="zh-CN" altLang="en-US" b="1" dirty="0"/>
              <a:t>中，</a:t>
            </a:r>
            <a:r>
              <a:rPr lang="en-US" altLang="zh-CN" b="1" dirty="0"/>
              <a:t>(</a:t>
            </a:r>
            <a:r>
              <a:rPr lang="en-US" altLang="zh-CN" b="1" dirty="0" err="1"/>
              <a:t>Sno</a:t>
            </a:r>
            <a:r>
              <a:rPr lang="en-US" altLang="zh-CN" b="1" dirty="0"/>
              <a:t>, </a:t>
            </a:r>
            <a:r>
              <a:rPr lang="en-US" altLang="zh-CN" b="1" dirty="0" err="1"/>
              <a:t>Cno</a:t>
            </a:r>
            <a:r>
              <a:rPr lang="en-US" altLang="zh-CN" b="1" dirty="0"/>
              <a:t>)</a:t>
            </a:r>
            <a:r>
              <a:rPr lang="zh-CN" altLang="en-US" b="1" dirty="0"/>
              <a:t>是码，</a:t>
            </a:r>
            <a:r>
              <a:rPr lang="en-US" altLang="zh-CN" b="1" dirty="0"/>
              <a:t> </a:t>
            </a:r>
            <a:r>
              <a:rPr lang="en-US" altLang="zh-CN" b="1" dirty="0" err="1"/>
              <a:t>Sno</a:t>
            </a:r>
            <a:r>
              <a:rPr lang="en-US" altLang="zh-CN" b="1" dirty="0"/>
              <a:t>, </a:t>
            </a:r>
            <a:r>
              <a:rPr lang="en-US" altLang="zh-CN" b="1" dirty="0" err="1"/>
              <a:t>Cno</a:t>
            </a:r>
            <a:r>
              <a:rPr lang="zh-CN" altLang="en-US" b="1" dirty="0"/>
              <a:t>是主属性，</a:t>
            </a:r>
            <a:r>
              <a:rPr lang="en-US" altLang="zh-CN" b="1" dirty="0"/>
              <a:t> Grade</a:t>
            </a:r>
            <a:r>
              <a:rPr lang="zh-CN" altLang="en-US" b="1" dirty="0"/>
              <a:t>是非主属性。</a:t>
            </a:r>
            <a:endParaRPr lang="en-US" altLang="zh-CN" b="1" dirty="0"/>
          </a:p>
        </p:txBody>
      </p:sp>
      <p:sp>
        <p:nvSpPr>
          <p:cNvPr id="11" name="Rectangle 3"/>
          <p:cNvSpPr txBox="1">
            <a:spLocks noChangeArrowheads="1"/>
          </p:cNvSpPr>
          <p:nvPr/>
        </p:nvSpPr>
        <p:spPr bwMode="auto">
          <a:xfrm>
            <a:off x="571472" y="3357568"/>
            <a:ext cx="8115328" cy="1214446"/>
          </a:xfrm>
          <a:prstGeom prst="rect">
            <a:avLst/>
          </a:prstGeom>
          <a:noFill/>
          <a:ln w="19050">
            <a:solidFill>
              <a:srgbClr val="FF0000"/>
            </a:solidFill>
            <a:miter lim="800000"/>
          </a:ln>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r>
              <a:rPr kumimoji="0" lang="en-US" altLang="zh-CN" sz="1600" b="1" i="0" u="none" strike="noStrike" kern="0" cap="none" spc="0" normalizeH="0" baseline="0" noProof="0" dirty="0">
                <a:ln>
                  <a:noFill/>
                </a:ln>
                <a:solidFill>
                  <a:schemeClr val="tx1"/>
                </a:solidFill>
                <a:effectLst/>
                <a:uLnTx/>
                <a:uFillTx/>
              </a:rPr>
              <a:t>[</a:t>
            </a:r>
            <a:r>
              <a:rPr kumimoji="0" lang="zh-CN" altLang="en-US" sz="1600" b="1" i="0" u="none" strike="noStrike" kern="0" cap="none" spc="0" normalizeH="0" baseline="0" noProof="0" dirty="0">
                <a:ln>
                  <a:noFill/>
                </a:ln>
                <a:solidFill>
                  <a:schemeClr val="tx1"/>
                </a:solidFill>
                <a:effectLst/>
                <a:uLnTx/>
                <a:uFillTx/>
              </a:rPr>
              <a:t>例</a:t>
            </a:r>
            <a:r>
              <a:rPr kumimoji="0" lang="en-US" altLang="zh-CN" sz="1600" b="1" i="0" u="none" strike="noStrike" kern="0" cap="none" spc="0" normalizeH="0" baseline="0" noProof="0" dirty="0">
                <a:ln>
                  <a:noFill/>
                </a:ln>
                <a:solidFill>
                  <a:schemeClr val="tx1"/>
                </a:solidFill>
                <a:effectLst/>
                <a:uLnTx/>
                <a:uFillTx/>
              </a:rPr>
              <a:t>] </a:t>
            </a:r>
            <a:r>
              <a:rPr kumimoji="0" lang="zh-CN" altLang="en-US" sz="1600" b="1" i="0" u="none" strike="noStrike" kern="0" cap="none" spc="0" normalizeH="0" baseline="0" noProof="0" dirty="0">
                <a:ln>
                  <a:noFill/>
                </a:ln>
                <a:solidFill>
                  <a:schemeClr val="tx1"/>
                </a:solidFill>
                <a:effectLst/>
                <a:uLnTx/>
                <a:uFillTx/>
              </a:rPr>
              <a:t>关系模式  </a:t>
            </a:r>
            <a:r>
              <a:rPr kumimoji="0" lang="en-US" altLang="zh-CN" sz="1600" b="1" i="0" u="none" strike="noStrike" kern="0" cap="none" spc="0" normalizeH="0" baseline="0" noProof="0" dirty="0">
                <a:ln>
                  <a:noFill/>
                </a:ln>
                <a:solidFill>
                  <a:schemeClr val="tx1"/>
                </a:solidFill>
                <a:effectLst/>
                <a:uLnTx/>
                <a:uFillTx/>
              </a:rPr>
              <a:t>R</a:t>
            </a:r>
            <a:r>
              <a:rPr kumimoji="0" lang="zh-CN" altLang="en-US" sz="1600" b="1" i="0" u="none" strike="noStrike" kern="0" cap="none" spc="0" normalizeH="0" baseline="0" noProof="0" dirty="0">
                <a:ln>
                  <a:noFill/>
                </a:ln>
                <a:solidFill>
                  <a:schemeClr val="tx1"/>
                </a:solidFill>
                <a:effectLst/>
                <a:uLnTx/>
                <a:uFillTx/>
              </a:rPr>
              <a:t>（</a:t>
            </a:r>
            <a:r>
              <a:rPr kumimoji="0" lang="en-US" altLang="zh-CN" sz="1600" b="1" i="0" u="none" strike="noStrike" kern="0" cap="none" spc="0" normalizeH="0" baseline="0" noProof="0" dirty="0">
                <a:ln>
                  <a:noFill/>
                </a:ln>
                <a:solidFill>
                  <a:schemeClr val="tx1"/>
                </a:solidFill>
                <a:effectLst/>
                <a:uLnTx/>
                <a:uFillTx/>
              </a:rPr>
              <a:t>P</a:t>
            </a:r>
            <a:r>
              <a:rPr kumimoji="0" lang="zh-CN" altLang="en-US" sz="1600" b="1" i="0" u="none" strike="noStrike" kern="0" cap="none" spc="0" normalizeH="0" baseline="0" noProof="0" dirty="0">
                <a:ln>
                  <a:noFill/>
                </a:ln>
                <a:solidFill>
                  <a:schemeClr val="tx1"/>
                </a:solidFill>
                <a:effectLst/>
                <a:uLnTx/>
                <a:uFillTx/>
              </a:rPr>
              <a:t>，</a:t>
            </a:r>
            <a:r>
              <a:rPr kumimoji="0" lang="en-US" altLang="zh-CN" sz="1600" b="1" i="0" u="none" strike="noStrike" kern="0" cap="none" spc="0" normalizeH="0" baseline="0" noProof="0" dirty="0">
                <a:ln>
                  <a:noFill/>
                </a:ln>
                <a:solidFill>
                  <a:schemeClr val="tx1"/>
                </a:solidFill>
                <a:effectLst/>
                <a:uLnTx/>
                <a:uFillTx/>
              </a:rPr>
              <a:t>W</a:t>
            </a:r>
            <a:r>
              <a:rPr kumimoji="0" lang="zh-CN" altLang="en-US" sz="1600" b="1" i="0" u="none" strike="noStrike" kern="0" cap="none" spc="0" normalizeH="0" baseline="0" noProof="0" dirty="0">
                <a:ln>
                  <a:noFill/>
                </a:ln>
                <a:solidFill>
                  <a:schemeClr val="tx1"/>
                </a:solidFill>
                <a:effectLst/>
                <a:uLnTx/>
                <a:uFillTx/>
              </a:rPr>
              <a:t>，</a:t>
            </a:r>
            <a:r>
              <a:rPr kumimoji="0" lang="en-US" altLang="zh-CN" sz="1600" b="1" i="0" u="none" strike="noStrike" kern="0" cap="none" spc="0" normalizeH="0" baseline="0" noProof="0" dirty="0">
                <a:ln>
                  <a:noFill/>
                </a:ln>
                <a:solidFill>
                  <a:schemeClr val="tx1"/>
                </a:solidFill>
                <a:effectLst/>
                <a:uLnTx/>
                <a:uFillTx/>
              </a:rPr>
              <a:t>A</a:t>
            </a:r>
            <a:r>
              <a:rPr kumimoji="0" lang="zh-CN" altLang="en-US" sz="1600" b="1" i="0" u="none" strike="noStrike" kern="0" cap="none" spc="0" normalizeH="0" baseline="0" noProof="0" dirty="0">
                <a:ln>
                  <a:noFill/>
                </a:ln>
                <a:solidFill>
                  <a:schemeClr val="tx1"/>
                </a:solidFill>
                <a:effectLst/>
                <a:uLnTx/>
                <a:uFillTx/>
              </a:rPr>
              <a:t>） </a:t>
            </a:r>
            <a:r>
              <a:rPr kumimoji="0" lang="en-US" altLang="zh-CN" sz="1600" b="1" i="0" u="none" strike="noStrike" kern="0" cap="none" spc="0" normalizeH="0" baseline="0" noProof="0" dirty="0">
                <a:ln>
                  <a:noFill/>
                </a:ln>
                <a:solidFill>
                  <a:schemeClr val="tx1"/>
                </a:solidFill>
                <a:effectLst/>
                <a:uLnTx/>
                <a:uFillTx/>
              </a:rPr>
              <a:t>P</a:t>
            </a:r>
            <a:r>
              <a:rPr kumimoji="0" lang="zh-CN" altLang="en-US" sz="1600" b="1" i="0" u="none" strike="noStrike" kern="0" cap="none" spc="0" normalizeH="0" baseline="0" noProof="0" dirty="0">
                <a:ln>
                  <a:noFill/>
                </a:ln>
                <a:solidFill>
                  <a:schemeClr val="tx1"/>
                </a:solidFill>
                <a:effectLst/>
                <a:uLnTx/>
                <a:uFillTx/>
              </a:rPr>
              <a:t>：演奏者     </a:t>
            </a:r>
            <a:r>
              <a:rPr kumimoji="0" lang="en-US" altLang="zh-CN" sz="1600" b="1" i="0" u="none" strike="noStrike" kern="0" cap="none" spc="0" normalizeH="0" baseline="0" noProof="0" dirty="0">
                <a:ln>
                  <a:noFill/>
                </a:ln>
                <a:solidFill>
                  <a:schemeClr val="tx1"/>
                </a:solidFill>
                <a:effectLst/>
                <a:uLnTx/>
                <a:uFillTx/>
              </a:rPr>
              <a:t>W</a:t>
            </a:r>
            <a:r>
              <a:rPr kumimoji="0" lang="zh-CN" altLang="en-US" sz="1600" b="1" i="0" u="none" strike="noStrike" kern="0" cap="none" spc="0" normalizeH="0" baseline="0" noProof="0" dirty="0">
                <a:ln>
                  <a:noFill/>
                </a:ln>
                <a:solidFill>
                  <a:schemeClr val="tx1"/>
                </a:solidFill>
                <a:effectLst/>
                <a:uLnTx/>
                <a:uFillTx/>
              </a:rPr>
              <a:t>：作品    </a:t>
            </a:r>
            <a:r>
              <a:rPr kumimoji="0" lang="en-US" altLang="zh-CN" sz="1600" b="1" i="0" u="none" strike="noStrike" kern="0" cap="none" spc="0" normalizeH="0" baseline="0" noProof="0" dirty="0">
                <a:ln>
                  <a:noFill/>
                </a:ln>
                <a:solidFill>
                  <a:schemeClr val="tx1"/>
                </a:solidFill>
                <a:effectLst/>
                <a:uLnTx/>
                <a:uFillTx/>
              </a:rPr>
              <a:t>A</a:t>
            </a:r>
            <a:r>
              <a:rPr kumimoji="0" lang="zh-CN" altLang="en-US" sz="1600" b="1" i="0" u="none" strike="noStrike" kern="0" cap="none" spc="0" normalizeH="0" baseline="0" noProof="0" dirty="0">
                <a:ln>
                  <a:noFill/>
                </a:ln>
                <a:solidFill>
                  <a:schemeClr val="tx1"/>
                </a:solidFill>
                <a:effectLst/>
                <a:uLnTx/>
                <a:uFillTx/>
              </a:rPr>
              <a:t>：听众</a:t>
            </a:r>
            <a:endParaRPr kumimoji="0" lang="en-US" altLang="zh-CN" sz="1600" b="1" i="0" u="none" strike="noStrike" kern="0" cap="none" spc="0" normalizeH="0" baseline="0" noProof="0" dirty="0">
              <a:ln>
                <a:noFill/>
              </a:ln>
              <a:solidFill>
                <a:schemeClr val="tx1"/>
              </a:solidFill>
              <a:effectLst/>
              <a:uLnTx/>
              <a:uFillTx/>
            </a:endParaRPr>
          </a:p>
          <a:p>
            <a:pPr marL="742950" marR="0" lvl="1" indent="-285750" algn="l" defTabSz="914400" rtl="0" eaLnBrk="0" fontAlgn="base" latinLnBrk="0" hangingPunct="0">
              <a:lnSpc>
                <a:spcPct val="100000"/>
              </a:lnSpc>
              <a:spcBef>
                <a:spcPct val="20000"/>
              </a:spcBef>
              <a:spcAft>
                <a:spcPct val="0"/>
              </a:spcAft>
              <a:buClrTx/>
              <a:buSzPct val="100000"/>
              <a:defRPr/>
            </a:pPr>
            <a:r>
              <a:rPr lang="zh-CN" altLang="en-US" sz="1600" b="1" kern="0" dirty="0"/>
              <a:t>语义：一个演奏者可以演奏多个作品，</a:t>
            </a:r>
            <a:r>
              <a:rPr kumimoji="0" lang="zh-CN" altLang="en-US" sz="1600" b="1" i="0" u="none" strike="noStrike" kern="0" cap="none" spc="0" normalizeH="0" baseline="0" noProof="0" dirty="0">
                <a:ln>
                  <a:noFill/>
                </a:ln>
                <a:solidFill>
                  <a:schemeClr val="tx1"/>
                </a:solidFill>
                <a:effectLst/>
                <a:uLnTx/>
                <a:uFillTx/>
              </a:rPr>
              <a:t>某一作品可被多个演奏者演奏，听众可以欣</a:t>
            </a:r>
            <a:endParaRPr lang="en-US" altLang="zh-CN" sz="1600" b="1" kern="0" dirty="0"/>
          </a:p>
          <a:p>
            <a:pPr marL="285750" indent="-285750" eaLnBrk="0" hangingPunct="0">
              <a:spcBef>
                <a:spcPct val="20000"/>
              </a:spcBef>
              <a:buSzPct val="100000"/>
            </a:pPr>
            <a:r>
              <a:rPr kumimoji="0" lang="zh-CN" altLang="en-US" sz="1600" b="1" i="0" u="none" strike="noStrike" kern="0" cap="none" spc="0" normalizeH="0" baseline="0" noProof="0" dirty="0">
                <a:ln>
                  <a:noFill/>
                </a:ln>
                <a:solidFill>
                  <a:schemeClr val="tx1"/>
                </a:solidFill>
                <a:effectLst/>
                <a:uLnTx/>
                <a:uFillTx/>
              </a:rPr>
              <a:t>赏不同演奏者的不同作品</a:t>
            </a:r>
            <a:endParaRPr kumimoji="0" lang="en-US" altLang="zh-CN" sz="1600" b="1" i="0" u="none" strike="noStrike" kern="0" cap="none" spc="0" normalizeH="0" baseline="0" noProof="0" dirty="0">
              <a:ln>
                <a:noFill/>
              </a:ln>
              <a:solidFill>
                <a:schemeClr val="tx1"/>
              </a:solidFill>
              <a:effectLst/>
              <a:uLnTx/>
              <a:uFillTx/>
            </a:endParaRPr>
          </a:p>
          <a:p>
            <a:pPr marL="742950" lvl="1" indent="-285750" eaLnBrk="0" hangingPunct="0">
              <a:spcBef>
                <a:spcPct val="20000"/>
              </a:spcBef>
              <a:buSzPct val="100000"/>
            </a:pPr>
            <a:r>
              <a:rPr lang="en-US" altLang="zh-CN" sz="1600" b="1" kern="0" dirty="0"/>
              <a:t>R</a:t>
            </a:r>
            <a:r>
              <a:rPr lang="zh-CN" altLang="en-US" sz="1600" b="1" kern="0" dirty="0"/>
              <a:t>（</a:t>
            </a:r>
            <a:r>
              <a:rPr lang="en-US" altLang="zh-CN" sz="1600" b="1" u="sng" kern="0" dirty="0"/>
              <a:t>P</a:t>
            </a:r>
            <a:r>
              <a:rPr lang="zh-CN" altLang="en-US" sz="1600" b="1" u="sng" kern="0" dirty="0"/>
              <a:t>，</a:t>
            </a:r>
            <a:r>
              <a:rPr lang="en-US" altLang="zh-CN" sz="1600" b="1" u="sng" kern="0" dirty="0"/>
              <a:t>W</a:t>
            </a:r>
            <a:r>
              <a:rPr lang="zh-CN" altLang="en-US" sz="1600" b="1" u="sng" kern="0" dirty="0"/>
              <a:t>，</a:t>
            </a:r>
            <a:r>
              <a:rPr lang="en-US" altLang="zh-CN" sz="1600" b="1" u="sng" kern="0" dirty="0"/>
              <a:t>A</a:t>
            </a:r>
            <a:r>
              <a:rPr lang="zh-CN" altLang="en-US" sz="1600" b="1" kern="0" dirty="0"/>
              <a:t>）</a:t>
            </a:r>
            <a:r>
              <a:rPr kumimoji="0" lang="zh-CN" altLang="en-US" sz="1600" b="1" i="0" u="none" strike="noStrike" kern="0" cap="none" spc="0" normalizeH="0" baseline="0" noProof="0" dirty="0">
                <a:ln>
                  <a:noFill/>
                </a:ln>
                <a:effectLst/>
                <a:uLnTx/>
                <a:uFillTx/>
              </a:rPr>
              <a:t>码为</a:t>
            </a:r>
            <a:r>
              <a:rPr kumimoji="0" lang="en-US" altLang="zh-CN" sz="1600" b="1" i="0" u="none" strike="noStrike" kern="0" cap="none" spc="0" normalizeH="0" baseline="0" noProof="0" dirty="0">
                <a:ln>
                  <a:noFill/>
                </a:ln>
                <a:effectLst/>
                <a:uLnTx/>
                <a:uFillTx/>
              </a:rPr>
              <a:t>(P</a:t>
            </a:r>
            <a:r>
              <a:rPr kumimoji="0" lang="zh-CN" altLang="en-US" sz="1600" b="1" i="0" u="none" strike="noStrike" kern="0" cap="none" spc="0" normalizeH="0" baseline="0" noProof="0" dirty="0">
                <a:ln>
                  <a:noFill/>
                </a:ln>
                <a:effectLst/>
                <a:uLnTx/>
                <a:uFillTx/>
              </a:rPr>
              <a:t>，</a:t>
            </a:r>
            <a:r>
              <a:rPr kumimoji="0" lang="en-US" altLang="zh-CN" sz="1600" b="1" i="0" u="none" strike="noStrike" kern="0" cap="none" spc="0" normalizeH="0" baseline="0" noProof="0" dirty="0">
                <a:ln>
                  <a:noFill/>
                </a:ln>
                <a:effectLst/>
                <a:uLnTx/>
                <a:uFillTx/>
              </a:rPr>
              <a:t>W</a:t>
            </a:r>
            <a:r>
              <a:rPr kumimoji="0" lang="zh-CN" altLang="en-US" sz="1600" b="1" i="0" u="none" strike="noStrike" kern="0" cap="none" spc="0" normalizeH="0" baseline="0" noProof="0" dirty="0">
                <a:ln>
                  <a:noFill/>
                </a:ln>
                <a:effectLst/>
                <a:uLnTx/>
                <a:uFillTx/>
              </a:rPr>
              <a:t>，</a:t>
            </a:r>
            <a:r>
              <a:rPr kumimoji="0" lang="en-US" altLang="zh-CN" sz="1600" b="1" i="0" u="none" strike="noStrike" kern="0" cap="none" spc="0" normalizeH="0" baseline="0" noProof="0" dirty="0">
                <a:ln>
                  <a:noFill/>
                </a:ln>
                <a:effectLst/>
                <a:uLnTx/>
                <a:uFillTx/>
              </a:rPr>
              <a:t>A)</a:t>
            </a:r>
            <a:r>
              <a:rPr kumimoji="0" lang="zh-CN" altLang="en-US" sz="1600" b="1" i="0" u="none" strike="noStrike" kern="0" cap="none" spc="0" normalizeH="0" baseline="0" noProof="0" dirty="0">
                <a:ln>
                  <a:noFill/>
                </a:ln>
                <a:effectLst/>
                <a:uLnTx/>
                <a:uFillTx/>
              </a:rPr>
              <a:t>，即全码，</a:t>
            </a:r>
            <a:r>
              <a:rPr kumimoji="0" lang="en-US" altLang="zh-CN" sz="1600" b="1" i="0" u="none" strike="noStrike" kern="0" cap="none" spc="0" normalizeH="0" baseline="0" noProof="0" dirty="0">
                <a:ln>
                  <a:noFill/>
                </a:ln>
                <a:effectLst/>
                <a:uLnTx/>
                <a:uFillTx/>
              </a:rPr>
              <a:t>All-Key</a:t>
            </a:r>
            <a:r>
              <a:rPr kumimoji="0" lang="zh-CN" altLang="en-US" sz="1600" b="1" i="0" u="none" strike="noStrike" kern="0" cap="none" spc="0" normalizeH="0" baseline="0" noProof="0" dirty="0">
                <a:ln>
                  <a:noFill/>
                </a:ln>
                <a:effectLst/>
                <a:uLnTx/>
                <a:uFillTx/>
              </a:rPr>
              <a:t>。</a:t>
            </a:r>
            <a:endParaRPr kumimoji="0" lang="zh-CN" altLang="en-US" sz="1600" b="1" i="0" u="none" strike="noStrike" kern="0" cap="none" spc="0" normalizeH="0" baseline="0" noProof="0" dirty="0">
              <a:ln>
                <a:noFill/>
              </a:ln>
              <a:effectLst/>
              <a:uLnTx/>
              <a:uFillTx/>
            </a:endParaRPr>
          </a:p>
        </p:txBody>
      </p:sp>
    </p:spTree>
  </p:cSld>
  <p:clrMapOvr>
    <a:masterClrMapping/>
  </p:clrMapOvr>
  <p:transition spd="slow">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285720" y="-71456"/>
            <a:ext cx="8401080" cy="853679"/>
          </a:xfrm>
        </p:spPr>
        <p:txBody>
          <a:bodyPr/>
          <a:lstStyle/>
          <a:p>
            <a:r>
              <a:rPr lang="en-US" altLang="zh-CN" sz="3600" dirty="0"/>
              <a:t>6.2.2 </a:t>
            </a:r>
            <a:r>
              <a:rPr lang="zh-CN" altLang="en-US" sz="3600" dirty="0"/>
              <a:t>码：外部码</a:t>
            </a:r>
            <a:r>
              <a:rPr lang="en-US" altLang="zh-CN" sz="3600" dirty="0" smtClean="0"/>
              <a:t>—</a:t>
            </a:r>
            <a:r>
              <a:rPr lang="zh-CN" altLang="en-US" sz="3600" dirty="0" smtClean="0"/>
              <a:t>外</a:t>
            </a:r>
            <a:r>
              <a:rPr lang="zh-CN" altLang="en-US" sz="3600" dirty="0"/>
              <a:t>码</a:t>
            </a:r>
            <a:endParaRPr lang="zh-CN" altLang="en-US" sz="3600" dirty="0"/>
          </a:p>
        </p:txBody>
      </p:sp>
      <p:sp>
        <p:nvSpPr>
          <p:cNvPr id="51203" name="Rectangle 3"/>
          <p:cNvSpPr>
            <a:spLocks noGrp="1" noChangeArrowheads="1"/>
          </p:cNvSpPr>
          <p:nvPr>
            <p:ph idx="1"/>
          </p:nvPr>
        </p:nvSpPr>
        <p:spPr>
          <a:xfrm>
            <a:off x="285720" y="1004889"/>
            <a:ext cx="8401080" cy="2638432"/>
          </a:xfrm>
        </p:spPr>
        <p:txBody>
          <a:bodyPr/>
          <a:lstStyle/>
          <a:p>
            <a:pPr>
              <a:buNone/>
            </a:pPr>
            <a:r>
              <a:rPr lang="zh-CN" altLang="en-US" sz="2400" dirty="0"/>
              <a:t>定义</a:t>
            </a:r>
            <a:r>
              <a:rPr lang="en-US" altLang="zh-CN" sz="2400" dirty="0"/>
              <a:t>6.5  </a:t>
            </a:r>
            <a:endParaRPr lang="en-US" altLang="zh-CN" sz="2400" dirty="0"/>
          </a:p>
          <a:p>
            <a:pPr>
              <a:buNone/>
            </a:pPr>
            <a:r>
              <a:rPr lang="zh-CN" altLang="en-US" sz="2000" dirty="0"/>
              <a:t>关系模式 </a:t>
            </a:r>
            <a:r>
              <a:rPr lang="en-US" altLang="zh-CN" sz="2000" dirty="0"/>
              <a:t>R</a:t>
            </a:r>
            <a:r>
              <a:rPr lang="zh-CN" altLang="en-US" sz="2000" dirty="0"/>
              <a:t>（</a:t>
            </a:r>
            <a:r>
              <a:rPr lang="en-US" altLang="zh-CN" sz="2000" dirty="0"/>
              <a:t>U,F</a:t>
            </a:r>
            <a:r>
              <a:rPr lang="zh-CN" altLang="en-US" sz="2000" dirty="0"/>
              <a:t>），</a:t>
            </a:r>
            <a:r>
              <a:rPr lang="en-US" altLang="zh-CN" sz="2000" dirty="0"/>
              <a:t>U</a:t>
            </a:r>
            <a:r>
              <a:rPr lang="zh-CN" altLang="en-US" sz="2000" dirty="0"/>
              <a:t>中属性或属性组</a:t>
            </a:r>
            <a:r>
              <a:rPr lang="en-US" altLang="zh-CN" sz="2000" dirty="0"/>
              <a:t>X </a:t>
            </a:r>
            <a:r>
              <a:rPr lang="zh-CN" altLang="en-US" sz="2000" dirty="0"/>
              <a:t>并非 </a:t>
            </a:r>
            <a:r>
              <a:rPr lang="en-US" altLang="zh-CN" sz="2000" dirty="0"/>
              <a:t>R</a:t>
            </a:r>
            <a:r>
              <a:rPr lang="zh-CN" altLang="en-US" sz="2000" dirty="0"/>
              <a:t>的码，但 </a:t>
            </a:r>
            <a:r>
              <a:rPr lang="en-US" altLang="zh-CN" sz="2000" dirty="0"/>
              <a:t>X </a:t>
            </a:r>
            <a:r>
              <a:rPr lang="zh-CN" altLang="en-US" sz="2000" dirty="0"/>
              <a:t>是另一个关系模式的码，则称 </a:t>
            </a:r>
            <a:r>
              <a:rPr lang="en-US" altLang="zh-CN" sz="2000" dirty="0"/>
              <a:t>X </a:t>
            </a:r>
            <a:r>
              <a:rPr lang="zh-CN" altLang="en-US" sz="2000" dirty="0"/>
              <a:t>是</a:t>
            </a:r>
            <a:r>
              <a:rPr lang="en-US" altLang="zh-CN" sz="2000" dirty="0"/>
              <a:t>R </a:t>
            </a:r>
            <a:r>
              <a:rPr lang="zh-CN" altLang="en-US" sz="2000" dirty="0"/>
              <a:t>的</a:t>
            </a:r>
            <a:r>
              <a:rPr lang="zh-CN" altLang="en-US" sz="2000" dirty="0">
                <a:solidFill>
                  <a:srgbClr val="FF0000"/>
                </a:solidFill>
              </a:rPr>
              <a:t>外部码（</a:t>
            </a:r>
            <a:r>
              <a:rPr lang="en-US" altLang="zh-CN" sz="2000" dirty="0">
                <a:solidFill>
                  <a:srgbClr val="FF0000"/>
                </a:solidFill>
              </a:rPr>
              <a:t>Foreign key</a:t>
            </a:r>
            <a:r>
              <a:rPr lang="zh-CN" altLang="en-US" sz="2000" dirty="0">
                <a:solidFill>
                  <a:srgbClr val="FF0000"/>
                </a:solidFill>
              </a:rPr>
              <a:t>）也称外码。</a:t>
            </a:r>
            <a:endParaRPr lang="en-US" altLang="zh-CN" sz="2000" dirty="0">
              <a:solidFill>
                <a:srgbClr val="FF0000"/>
              </a:solidFill>
            </a:endParaRPr>
          </a:p>
          <a:p>
            <a:pPr>
              <a:buNone/>
            </a:pPr>
            <a:endParaRPr lang="en-US" altLang="zh-CN" sz="2000" dirty="0">
              <a:solidFill>
                <a:srgbClr val="FF0000"/>
              </a:solidFill>
            </a:endParaRPr>
          </a:p>
          <a:p>
            <a:pPr>
              <a:buNone/>
            </a:pPr>
            <a:endParaRPr lang="zh-CN" altLang="en-US" sz="2000" dirty="0">
              <a:solidFill>
                <a:srgbClr val="FF0000"/>
              </a:solidFill>
            </a:endParaRPr>
          </a:p>
          <a:p>
            <a:pPr lvl="1"/>
            <a:endParaRPr lang="zh-CN" altLang="en-US" sz="2000" dirty="0"/>
          </a:p>
          <a:p>
            <a:r>
              <a:rPr lang="zh-CN" altLang="en-US" sz="2000" dirty="0"/>
              <a:t>主码与外部码一起提供了表示关系间联系的手段</a:t>
            </a:r>
            <a:endParaRPr lang="zh-CN" altLang="en-US" sz="2000" dirty="0"/>
          </a:p>
        </p:txBody>
      </p:sp>
      <p:sp>
        <p:nvSpPr>
          <p:cNvPr id="4" name="矩形 3"/>
          <p:cNvSpPr/>
          <p:nvPr/>
        </p:nvSpPr>
        <p:spPr bwMode="auto">
          <a:xfrm>
            <a:off x="642910" y="2145402"/>
            <a:ext cx="8043890" cy="714380"/>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lvl="1">
              <a:buNone/>
            </a:pPr>
            <a:r>
              <a:rPr lang="en-US" altLang="zh-CN" sz="2000" b="1" dirty="0"/>
              <a:t>SC</a:t>
            </a:r>
            <a:r>
              <a:rPr lang="zh-CN" altLang="en-US" sz="2000" b="1" dirty="0"/>
              <a:t>（</a:t>
            </a:r>
            <a:r>
              <a:rPr lang="en-US" altLang="zh-CN" sz="2000" b="1" u="sng" dirty="0" err="1"/>
              <a:t>Sno</a:t>
            </a:r>
            <a:r>
              <a:rPr lang="zh-CN" altLang="en-US" sz="2000" b="1" u="sng" dirty="0"/>
              <a:t>，</a:t>
            </a:r>
            <a:r>
              <a:rPr lang="en-US" altLang="zh-CN" sz="2000" b="1" u="sng" dirty="0" err="1"/>
              <a:t>Cno</a:t>
            </a:r>
            <a:r>
              <a:rPr lang="zh-CN" altLang="en-US" sz="2000" b="1" dirty="0"/>
              <a:t>，</a:t>
            </a:r>
            <a:r>
              <a:rPr lang="en-US" altLang="zh-CN" sz="2000" b="1" dirty="0"/>
              <a:t>Grade</a:t>
            </a:r>
            <a:r>
              <a:rPr lang="zh-CN" altLang="en-US" sz="2000" b="1" dirty="0"/>
              <a:t>）中，</a:t>
            </a:r>
            <a:r>
              <a:rPr lang="en-US" altLang="zh-CN" sz="2000" b="1" dirty="0" err="1"/>
              <a:t>Sno</a:t>
            </a:r>
            <a:r>
              <a:rPr lang="zh-CN" altLang="en-US" sz="2000" b="1" dirty="0"/>
              <a:t>不是码，但</a:t>
            </a:r>
            <a:r>
              <a:rPr lang="en-US" altLang="zh-CN" sz="2000" b="1" dirty="0" err="1"/>
              <a:t>Sno</a:t>
            </a:r>
            <a:r>
              <a:rPr lang="zh-CN" altLang="en-US" sz="2000" b="1" dirty="0"/>
              <a:t>是关系模式</a:t>
            </a:r>
            <a:endParaRPr lang="en-US" altLang="zh-CN" sz="2000" b="1" dirty="0"/>
          </a:p>
          <a:p>
            <a:pPr lvl="1">
              <a:buNone/>
            </a:pPr>
            <a:r>
              <a:rPr lang="en-US" altLang="zh-CN" sz="2000" b="1" dirty="0"/>
              <a:t>S</a:t>
            </a:r>
            <a:r>
              <a:rPr lang="zh-CN" altLang="en-US" sz="2000" b="1" dirty="0"/>
              <a:t>（</a:t>
            </a:r>
            <a:r>
              <a:rPr lang="en-US" altLang="zh-CN" sz="2000" b="1" u="sng" dirty="0" err="1"/>
              <a:t>Sno</a:t>
            </a:r>
            <a:r>
              <a:rPr lang="zh-CN" altLang="en-US" sz="2000" b="1" dirty="0"/>
              <a:t>，</a:t>
            </a:r>
            <a:r>
              <a:rPr lang="en-US" altLang="zh-CN" sz="2000" b="1" dirty="0" err="1"/>
              <a:t>Sdept</a:t>
            </a:r>
            <a:r>
              <a:rPr lang="zh-CN" altLang="en-US" sz="2000" b="1" dirty="0"/>
              <a:t>，</a:t>
            </a:r>
            <a:r>
              <a:rPr lang="en-US" altLang="zh-CN" sz="2000" b="1" dirty="0"/>
              <a:t>Sage</a:t>
            </a:r>
            <a:r>
              <a:rPr lang="zh-CN" altLang="en-US" sz="2000" b="1" dirty="0"/>
              <a:t>）的码，则</a:t>
            </a:r>
            <a:r>
              <a:rPr lang="en-US" altLang="zh-CN" sz="2000" b="1" dirty="0" err="1"/>
              <a:t>Sno</a:t>
            </a:r>
            <a:r>
              <a:rPr lang="zh-CN" altLang="en-US" sz="2000" b="1" dirty="0"/>
              <a:t>是关系模式</a:t>
            </a:r>
            <a:r>
              <a:rPr lang="en-US" altLang="zh-CN" sz="2000" b="1" dirty="0"/>
              <a:t>SC</a:t>
            </a:r>
            <a:r>
              <a:rPr lang="zh-CN" altLang="en-US" sz="2000" b="1" dirty="0"/>
              <a:t>的外部码。 </a:t>
            </a:r>
            <a:endParaRPr lang="en-US" altLang="zh-CN" sz="2000" b="1" dirty="0"/>
          </a:p>
        </p:txBody>
      </p:sp>
    </p:spTree>
  </p:cSld>
  <p:clrMapOvr>
    <a:masterClrMapping/>
  </p:clrMapOvr>
  <p:transition spd="slow">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85720" y="-67879"/>
            <a:ext cx="8401080" cy="853679"/>
          </a:xfrm>
        </p:spPr>
        <p:txBody>
          <a:bodyPr/>
          <a:lstStyle/>
          <a:p>
            <a:r>
              <a:rPr lang="en-US" altLang="zh-CN" sz="3600" dirty="0"/>
              <a:t>6.2.2 </a:t>
            </a:r>
            <a:r>
              <a:rPr lang="zh-CN" altLang="en-US" sz="3600" dirty="0"/>
              <a:t>码</a:t>
            </a:r>
            <a:endParaRPr lang="zh-CN" altLang="en-US" sz="3600" dirty="0"/>
          </a:p>
        </p:txBody>
      </p:sp>
      <p:sp>
        <p:nvSpPr>
          <p:cNvPr id="4" name="TextBox 3"/>
          <p:cNvSpPr txBox="1"/>
          <p:nvPr/>
        </p:nvSpPr>
        <p:spPr>
          <a:xfrm>
            <a:off x="571472" y="1428743"/>
            <a:ext cx="5143536" cy="1323439"/>
          </a:xfrm>
          <a:prstGeom prst="rect">
            <a:avLst/>
          </a:prstGeom>
          <a:noFill/>
          <a:ln w="19050">
            <a:solidFill>
              <a:srgbClr val="FF0000"/>
            </a:solidFill>
          </a:ln>
        </p:spPr>
        <p:txBody>
          <a:bodyPr wrap="square">
            <a:spAutoFit/>
          </a:bodyPr>
          <a:lstStyle/>
          <a:p>
            <a:r>
              <a:rPr lang="zh-CN" altLang="en-US" sz="2000" b="1" dirty="0"/>
              <a:t>已知关系模式 </a:t>
            </a:r>
            <a:r>
              <a:rPr lang="en-US" altLang="zh-CN" sz="2000" b="1" dirty="0"/>
              <a:t>R&lt;U,F&gt;, </a:t>
            </a:r>
            <a:endParaRPr lang="en-US" altLang="zh-CN" sz="2000" b="1" dirty="0"/>
          </a:p>
          <a:p>
            <a:r>
              <a:rPr lang="en-US" altLang="zh-CN" sz="2000" b="1" dirty="0"/>
              <a:t>U = {A,B,C,D,E,G} </a:t>
            </a:r>
            <a:br>
              <a:rPr lang="en-US" altLang="zh-CN" sz="2000" b="1" dirty="0"/>
            </a:br>
            <a:r>
              <a:rPr lang="en-US" altLang="zh-CN" sz="2000" b="1" dirty="0"/>
              <a:t>F = {AC→B</a:t>
            </a:r>
            <a:r>
              <a:rPr lang="zh-CN" altLang="en-US" sz="2000" b="1" dirty="0"/>
              <a:t>，</a:t>
            </a:r>
            <a:r>
              <a:rPr lang="en-US" altLang="zh-CN" sz="2000" b="1" dirty="0"/>
              <a:t>CB→D</a:t>
            </a:r>
            <a:r>
              <a:rPr lang="zh-CN" altLang="en-US" sz="2000" b="1" dirty="0"/>
              <a:t>，</a:t>
            </a:r>
            <a:r>
              <a:rPr lang="en-US" altLang="zh-CN" sz="2000" b="1" dirty="0"/>
              <a:t>A→BE</a:t>
            </a:r>
            <a:r>
              <a:rPr lang="zh-CN" altLang="en-US" sz="2000" b="1" dirty="0"/>
              <a:t>，</a:t>
            </a:r>
            <a:r>
              <a:rPr lang="en-US" altLang="zh-CN" sz="2000" b="1" dirty="0"/>
              <a:t>E→GC}</a:t>
            </a:r>
            <a:br>
              <a:rPr lang="en-US" altLang="zh-CN" sz="2000" b="1" dirty="0"/>
            </a:br>
            <a:r>
              <a:rPr lang="zh-CN" altLang="en-US" sz="2000" b="1" dirty="0"/>
              <a:t>求关系</a:t>
            </a:r>
            <a:r>
              <a:rPr lang="en-US" altLang="zh-CN" sz="2000" b="1" dirty="0"/>
              <a:t>R</a:t>
            </a:r>
            <a:r>
              <a:rPr lang="zh-CN" altLang="en-US" sz="2000" b="1" dirty="0"/>
              <a:t>的候选码？</a:t>
            </a:r>
            <a:endParaRPr lang="zh-CN" altLang="en-US" sz="2000" b="1" dirty="0"/>
          </a:p>
        </p:txBody>
      </p:sp>
      <p:sp>
        <p:nvSpPr>
          <p:cNvPr id="5" name="内容占位符 4"/>
          <p:cNvSpPr>
            <a:spLocks noGrp="1"/>
          </p:cNvSpPr>
          <p:nvPr>
            <p:ph idx="1"/>
          </p:nvPr>
        </p:nvSpPr>
        <p:spPr>
          <a:xfrm>
            <a:off x="281257" y="810700"/>
            <a:ext cx="8401080" cy="642942"/>
          </a:xfrm>
        </p:spPr>
        <p:txBody>
          <a:bodyPr/>
          <a:lstStyle/>
          <a:p>
            <a:r>
              <a:rPr lang="zh-CN" altLang="en-US" dirty="0"/>
              <a:t>思考题</a:t>
            </a:r>
            <a:endParaRPr lang="en-US" altLang="zh-CN" dirty="0"/>
          </a:p>
          <a:p>
            <a:endParaRPr lang="en-US" altLang="zh-CN" dirty="0"/>
          </a:p>
          <a:p>
            <a:endParaRPr lang="en-US" altLang="zh-CN" dirty="0"/>
          </a:p>
          <a:p>
            <a:endParaRPr lang="en-US" altLang="zh-CN" dirty="0"/>
          </a:p>
          <a:p>
            <a:r>
              <a:rPr lang="zh-CN" altLang="en-US" dirty="0"/>
              <a:t>如何根据已知的</a:t>
            </a:r>
            <a:r>
              <a:rPr lang="en-US" altLang="zh-CN" dirty="0"/>
              <a:t>F, </a:t>
            </a:r>
            <a:r>
              <a:rPr lang="zh-CN" altLang="en-US" dirty="0"/>
              <a:t>求一个关系模式</a:t>
            </a:r>
            <a:r>
              <a:rPr lang="en-US" altLang="zh-CN" dirty="0"/>
              <a:t>R</a:t>
            </a:r>
            <a:r>
              <a:rPr lang="zh-CN" altLang="en-US" dirty="0"/>
              <a:t>的候选码？</a:t>
            </a:r>
            <a:endParaRPr lang="en-US" altLang="zh-CN" dirty="0"/>
          </a:p>
          <a:p>
            <a:pPr lvl="1"/>
            <a:r>
              <a:rPr lang="zh-CN" altLang="en-US" sz="2000" dirty="0"/>
              <a:t>简单情况下，可以试凑的方法</a:t>
            </a:r>
            <a:endParaRPr lang="en-US" altLang="zh-CN" sz="2000" dirty="0"/>
          </a:p>
          <a:p>
            <a:pPr lvl="1"/>
            <a:r>
              <a:rPr lang="zh-CN" altLang="en-US" sz="2000" dirty="0"/>
              <a:t>一般情况下，使用算法（</a:t>
            </a:r>
            <a:r>
              <a:rPr lang="en-US" sz="2000" dirty="0"/>
              <a:t>6.3  </a:t>
            </a:r>
            <a:r>
              <a:rPr lang="zh-CN" altLang="en-US" sz="2000" dirty="0"/>
              <a:t>数据依赖的公理系统）</a:t>
            </a:r>
            <a:endParaRPr lang="zh-CN" altLang="en-US" sz="2000" dirty="0"/>
          </a:p>
          <a:p>
            <a:pPr lvl="1"/>
            <a:endParaRPr lang="zh-CN" altLang="en-US"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20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build="allAtOnce"/>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solidFill>
                  <a:srgbClr val="FF0000"/>
                </a:solidFill>
              </a:rPr>
              <a:t>6.2.3 </a:t>
            </a:r>
            <a:r>
              <a:rPr lang="zh-CN" altLang="en-US" sz="2800" dirty="0">
                <a:solidFill>
                  <a:srgbClr val="FF0000"/>
                </a:solidFill>
              </a:rPr>
              <a:t>范式</a:t>
            </a:r>
            <a:endParaRPr lang="zh-CN" altLang="en-US" sz="2800" dirty="0">
              <a:solidFill>
                <a:srgbClr val="FF0000"/>
              </a:solidFill>
            </a:endParaRPr>
          </a:p>
          <a:p>
            <a:pPr>
              <a:spcBef>
                <a:spcPts val="0"/>
              </a:spcBef>
            </a:pPr>
            <a:r>
              <a:rPr lang="en-US" altLang="zh-CN" sz="2800" dirty="0"/>
              <a:t>6.2.4 </a:t>
            </a:r>
            <a:r>
              <a:rPr lang="zh-CN" altLang="en-US" sz="2800" dirty="0"/>
              <a:t>第二范式（</a:t>
            </a:r>
            <a:r>
              <a:rPr lang="en-US" altLang="zh-CN" sz="2800" dirty="0"/>
              <a:t>2NF</a:t>
            </a:r>
            <a:r>
              <a:rPr lang="zh-CN" altLang="en-US" sz="2800" dirty="0"/>
              <a:t>）</a:t>
            </a:r>
            <a:endParaRPr lang="zh-CN" altLang="en-US" sz="2800" dirty="0"/>
          </a:p>
          <a:p>
            <a:pPr>
              <a:spcBef>
                <a:spcPts val="0"/>
              </a:spcBef>
            </a:pPr>
            <a:r>
              <a:rPr lang="en-US" altLang="zh-CN" sz="2800" dirty="0"/>
              <a:t>6.2.5 </a:t>
            </a:r>
            <a:r>
              <a:rPr lang="zh-CN" altLang="en-US" sz="2800" dirty="0"/>
              <a:t>第三范式（</a:t>
            </a:r>
            <a:r>
              <a:rPr lang="en-US" altLang="zh-CN" sz="2800" dirty="0"/>
              <a:t>3NF</a:t>
            </a:r>
            <a:r>
              <a:rPr lang="zh-CN" altLang="en-US" sz="2800" dirty="0"/>
              <a:t>）</a:t>
            </a:r>
            <a:endParaRPr lang="zh-CN" altLang="en-US" sz="2800" dirty="0"/>
          </a:p>
          <a:p>
            <a:pPr>
              <a:spcBef>
                <a:spcPts val="0"/>
              </a:spcBef>
            </a:pPr>
            <a:r>
              <a:rPr lang="en-US" altLang="zh-CN" sz="2800" dirty="0"/>
              <a:t>6.2.6 BC</a:t>
            </a:r>
            <a:r>
              <a:rPr lang="zh-CN" altLang="en-US" sz="2800" dirty="0"/>
              <a:t>范式（</a:t>
            </a:r>
            <a:r>
              <a:rPr lang="en-US" altLang="zh-CN" sz="2800" dirty="0"/>
              <a:t>BCNF</a:t>
            </a:r>
            <a:r>
              <a:rPr lang="zh-CN" altLang="en-US" sz="2800" dirty="0"/>
              <a:t>）</a:t>
            </a:r>
            <a:endParaRPr lang="zh-CN" altLang="en-US" sz="2800" dirty="0"/>
          </a:p>
          <a:p>
            <a:pPr lvl="1">
              <a:spcBef>
                <a:spcPts val="0"/>
              </a:spcBef>
            </a:pPr>
            <a:r>
              <a:rPr lang="zh-CN" altLang="en-US" sz="2600" dirty="0"/>
              <a:t>*</a:t>
            </a:r>
            <a:r>
              <a:rPr lang="en-US" altLang="zh-CN" sz="2600" dirty="0"/>
              <a:t>6.2.7 </a:t>
            </a:r>
            <a:r>
              <a:rPr lang="zh-CN" altLang="en-US" sz="2600" dirty="0"/>
              <a:t>多值依赖</a:t>
            </a:r>
            <a:endParaRPr lang="en-US" altLang="zh-CN" sz="2600" dirty="0"/>
          </a:p>
          <a:p>
            <a:pPr lvl="1">
              <a:spcBef>
                <a:spcPts val="0"/>
              </a:spcBef>
            </a:pPr>
            <a:r>
              <a:rPr lang="zh-CN" altLang="en-US" sz="2600" dirty="0"/>
              <a:t>*</a:t>
            </a:r>
            <a:r>
              <a:rPr lang="en-US" altLang="zh-CN" sz="2600" dirty="0"/>
              <a:t>6.2.8 </a:t>
            </a:r>
            <a:r>
              <a:rPr lang="zh-CN" altLang="en-US" sz="2600" dirty="0"/>
              <a:t>第四范式（</a:t>
            </a:r>
            <a:r>
              <a:rPr lang="en-US" altLang="zh-CN" sz="2600" dirty="0"/>
              <a:t>4NF</a:t>
            </a:r>
            <a:r>
              <a:rPr lang="zh-CN" altLang="en-US" sz="2600" dirty="0"/>
              <a:t>）</a:t>
            </a:r>
            <a:endParaRPr lang="zh-CN" altLang="en-US" sz="2600" dirty="0"/>
          </a:p>
          <a:p>
            <a:pPr>
              <a:spcBef>
                <a:spcPts val="0"/>
              </a:spcBef>
            </a:pPr>
            <a:r>
              <a:rPr lang="en-US" altLang="zh-CN" sz="2800" dirty="0"/>
              <a:t>6.2.9 </a:t>
            </a:r>
            <a:r>
              <a:rPr lang="zh-CN" altLang="en-US" sz="2800" dirty="0"/>
              <a:t>规范化小结</a:t>
            </a:r>
            <a:endParaRPr lang="zh-CN" altLang="en-US"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ln>
        </p:spPr>
        <p:txBody>
          <a:bodyPr vert="horz" wrap="square" lIns="91440" tIns="45720" rIns="91440" bIns="45720" numCol="1" anchor="t" anchorCtr="0" compatLnSpc="1"/>
          <a:lstStyle/>
          <a:p>
            <a:pPr lvl="0" algn="ctr">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.3  </a:t>
            </a:r>
            <a:r>
              <a:rPr lang="zh-CN" altLang="en-US" sz="3600" b="1" kern="0" cap="all" dirty="0">
                <a:solidFill>
                  <a:schemeClr val="bg1"/>
                </a:solidFill>
                <a:latin typeface="+mj-lt"/>
                <a:ea typeface="+mj-ea"/>
                <a:cs typeface="+mj-cs"/>
              </a:rPr>
              <a:t>范式</a:t>
            </a:r>
            <a:endParaRPr lang="zh-CN" altLang="en-US" sz="3600" b="1" kern="0" cap="all" dirty="0">
              <a:solidFill>
                <a:schemeClr val="bg1"/>
              </a:solidFill>
              <a:latin typeface="+mj-lt"/>
              <a:ea typeface="+mj-ea"/>
              <a:cs typeface="+mj-cs"/>
            </a:endParaRPr>
          </a:p>
        </p:txBody>
      </p:sp>
    </p:spTree>
  </p:cSld>
  <p:clrMapOvr>
    <a:masterClrMapping/>
  </p:clrMapOvr>
  <p:transition spd="slow">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p:cNvSpPr>
            <a:spLocks noGrp="1" noChangeArrowheads="1"/>
          </p:cNvSpPr>
          <p:nvPr>
            <p:ph type="title"/>
          </p:nvPr>
        </p:nvSpPr>
        <p:spPr/>
        <p:txBody>
          <a:bodyPr/>
          <a:lstStyle/>
          <a:p>
            <a:pPr eaLnBrk="1" hangingPunct="1"/>
            <a:r>
              <a:rPr lang="en-US" altLang="zh-CN" dirty="0"/>
              <a:t>6.2.3 </a:t>
            </a:r>
            <a:r>
              <a:rPr lang="zh-CN" altLang="en-US" dirty="0"/>
              <a:t>范式</a:t>
            </a:r>
            <a:endParaRPr lang="zh-CN" altLang="en-US" dirty="0"/>
          </a:p>
        </p:txBody>
      </p:sp>
      <p:sp>
        <p:nvSpPr>
          <p:cNvPr id="6147" name="Rectangle 1027"/>
          <p:cNvSpPr>
            <a:spLocks noGrp="1" noChangeArrowheads="1"/>
          </p:cNvSpPr>
          <p:nvPr>
            <p:ph type="body" idx="1"/>
          </p:nvPr>
        </p:nvSpPr>
        <p:spPr>
          <a:xfrm>
            <a:off x="457200" y="735807"/>
            <a:ext cx="8543956" cy="4121959"/>
          </a:xfrm>
        </p:spPr>
        <p:txBody>
          <a:bodyPr/>
          <a:lstStyle/>
          <a:p>
            <a:pPr eaLnBrk="1" hangingPunct="1">
              <a:lnSpc>
                <a:spcPct val="90000"/>
              </a:lnSpc>
            </a:pPr>
            <a:r>
              <a:rPr lang="zh-CN" altLang="en-US" sz="1800" dirty="0"/>
              <a:t>关系数据库中的关系必须满足一定的要求。满足不同程度要求的为不同范式。</a:t>
            </a:r>
            <a:endParaRPr lang="en-US" altLang="zh-CN" sz="1800" dirty="0"/>
          </a:p>
          <a:p>
            <a:pPr eaLnBrk="1" hangingPunct="1">
              <a:lnSpc>
                <a:spcPct val="90000"/>
              </a:lnSpc>
            </a:pPr>
            <a:r>
              <a:rPr lang="zh-CN" altLang="en-US" sz="1800" dirty="0"/>
              <a:t>范式的种类：</a:t>
            </a: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buNone/>
            </a:pPr>
            <a:r>
              <a:rPr lang="zh-CN" altLang="en-US" sz="1800" dirty="0"/>
              <a:t>	</a:t>
            </a:r>
            <a:endParaRPr lang="en-US" altLang="zh-CN" sz="1800" dirty="0"/>
          </a:p>
          <a:p>
            <a:pPr marL="342900" lvl="1" indent="-342900" eaLnBrk="1" hangingPunct="1">
              <a:lnSpc>
                <a:spcPct val="90000"/>
              </a:lnSpc>
              <a:buFont typeface="Wingdings" panose="05000000000000000000" pitchFamily="2" charset="2"/>
              <a:buChar char="v"/>
            </a:pPr>
            <a:r>
              <a:rPr lang="zh-CN" altLang="en-US" sz="1800" dirty="0"/>
              <a:t>某一关系模式</a:t>
            </a:r>
            <a:r>
              <a:rPr lang="en-US" altLang="zh-CN" sz="1800" dirty="0"/>
              <a:t>R</a:t>
            </a:r>
            <a:r>
              <a:rPr lang="zh-CN" altLang="en-US" sz="1800" dirty="0"/>
              <a:t>为第</a:t>
            </a:r>
            <a:r>
              <a:rPr lang="en-US" altLang="zh-CN" sz="1800" dirty="0"/>
              <a:t>n</a:t>
            </a:r>
            <a:r>
              <a:rPr lang="zh-CN" altLang="en-US" sz="1800" dirty="0"/>
              <a:t>范式，可简记为</a:t>
            </a:r>
            <a:r>
              <a:rPr lang="en-US" altLang="zh-CN" sz="1800" dirty="0" err="1">
                <a:solidFill>
                  <a:srgbClr val="FF0000"/>
                </a:solidFill>
              </a:rPr>
              <a:t>R∈nNF</a:t>
            </a:r>
            <a:r>
              <a:rPr lang="zh-CN" altLang="en-US" sz="1800" dirty="0"/>
              <a:t>。</a:t>
            </a:r>
            <a:endParaRPr lang="en-US" altLang="zh-CN" sz="1800" dirty="0"/>
          </a:p>
          <a:p>
            <a:pPr marL="342900" lvl="1" indent="-342900" eaLnBrk="1" hangingPunct="1">
              <a:lnSpc>
                <a:spcPct val="90000"/>
              </a:lnSpc>
              <a:buFont typeface="Wingdings" panose="05000000000000000000" pitchFamily="2" charset="2"/>
              <a:buChar char="v"/>
            </a:pPr>
            <a:r>
              <a:rPr lang="zh-CN" altLang="en-US" sz="1800" dirty="0">
                <a:cs typeface="+mn-cs"/>
              </a:rPr>
              <a:t>一个低一级范式的关系模式，通过模式分解（</a:t>
            </a:r>
            <a:r>
              <a:rPr lang="en-US" altLang="zh-CN" sz="1800" dirty="0">
                <a:cs typeface="+mn-cs"/>
              </a:rPr>
              <a:t>schema decomposition</a:t>
            </a:r>
            <a:r>
              <a:rPr lang="zh-CN" altLang="en-US" sz="1800" dirty="0">
                <a:cs typeface="+mn-cs"/>
              </a:rPr>
              <a:t>）可以转换为若干个高一级范式的关系模式的集合，这种过程就叫规范化（</a:t>
            </a:r>
            <a:r>
              <a:rPr lang="en-US" altLang="zh-CN" sz="1800" dirty="0">
                <a:cs typeface="+mn-cs"/>
              </a:rPr>
              <a:t>normalization</a:t>
            </a:r>
            <a:r>
              <a:rPr lang="zh-CN" altLang="en-US" sz="1800" dirty="0">
                <a:cs typeface="+mn-cs"/>
              </a:rPr>
              <a:t>）。</a:t>
            </a:r>
            <a:endParaRPr lang="zh-CN" altLang="en-US" sz="1800" dirty="0">
              <a:cs typeface="+mn-cs"/>
            </a:endParaRPr>
          </a:p>
          <a:p>
            <a:pPr marL="342900" lvl="1" indent="-342900" eaLnBrk="1" hangingPunct="1">
              <a:lnSpc>
                <a:spcPct val="90000"/>
              </a:lnSpc>
              <a:buFont typeface="Wingdings" panose="05000000000000000000" pitchFamily="2" charset="2"/>
              <a:buChar char="v"/>
            </a:pPr>
            <a:endParaRPr lang="en-US" altLang="zh-CN" sz="1800" dirty="0"/>
          </a:p>
          <a:p>
            <a:pPr eaLnBrk="1" hangingPunct="1">
              <a:lnSpc>
                <a:spcPct val="90000"/>
              </a:lnSpc>
            </a:pPr>
            <a:endParaRPr lang="en-US" altLang="zh-CN" sz="1800" dirty="0"/>
          </a:p>
        </p:txBody>
      </p:sp>
      <p:sp>
        <p:nvSpPr>
          <p:cNvPr id="54276" name="AutoShape 1028"/>
          <p:cNvSpPr/>
          <p:nvPr/>
        </p:nvSpPr>
        <p:spPr bwMode="auto">
          <a:xfrm>
            <a:off x="909614" y="1500180"/>
            <a:ext cx="304800" cy="1714500"/>
          </a:xfrm>
          <a:prstGeom prst="leftBrace">
            <a:avLst>
              <a:gd name="adj1" fmla="val 62500"/>
              <a:gd name="adj2" fmla="val 50000"/>
            </a:avLst>
          </a:prstGeom>
          <a:noFill/>
          <a:ln w="28575">
            <a:solidFill>
              <a:schemeClr val="tx1"/>
            </a:solidFill>
            <a:round/>
          </a:ln>
        </p:spPr>
        <p:txBody>
          <a:bodyPr wrap="none" lIns="90000" tIns="46800" rIns="90000" bIns="46800" anchor="ctr"/>
          <a:lstStyle/>
          <a:p>
            <a:endParaRPr lang="zh-CN" altLang="en-US"/>
          </a:p>
        </p:txBody>
      </p:sp>
      <p:sp>
        <p:nvSpPr>
          <p:cNvPr id="5" name="Rectangle 1027"/>
          <p:cNvSpPr txBox="1">
            <a:spLocks noChangeArrowheads="1"/>
          </p:cNvSpPr>
          <p:nvPr/>
        </p:nvSpPr>
        <p:spPr bwMode="auto">
          <a:xfrm>
            <a:off x="1214414" y="1485907"/>
            <a:ext cx="2286016" cy="215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marL="0" indent="0" eaLnBrk="1" hangingPunct="1">
              <a:lnSpc>
                <a:spcPct val="90000"/>
              </a:lnSpc>
              <a:buFont typeface="Wingdings" panose="05000000000000000000" pitchFamily="2" charset="2"/>
              <a:buNone/>
              <a:defRPr/>
            </a:pPr>
            <a:r>
              <a:rPr lang="zh-CN" altLang="en-US" sz="1800" kern="0" dirty="0"/>
              <a:t>第一范式</a:t>
            </a:r>
            <a:r>
              <a:rPr lang="en-US" altLang="zh-CN" sz="1800" kern="0" dirty="0"/>
              <a:t>(1NF)</a:t>
            </a:r>
            <a:endParaRPr lang="en-US" altLang="zh-CN" sz="1800" kern="0" dirty="0"/>
          </a:p>
          <a:p>
            <a:pPr marL="0" indent="0" eaLnBrk="1" hangingPunct="1">
              <a:lnSpc>
                <a:spcPct val="90000"/>
              </a:lnSpc>
              <a:buFont typeface="Wingdings" panose="05000000000000000000" pitchFamily="2" charset="2"/>
              <a:buNone/>
              <a:defRPr/>
            </a:pPr>
            <a:r>
              <a:rPr lang="zh-CN" altLang="en-US" sz="1800" kern="0" dirty="0"/>
              <a:t>第二范式</a:t>
            </a:r>
            <a:r>
              <a:rPr lang="en-US" altLang="zh-CN" sz="1800" kern="0" dirty="0"/>
              <a:t>(2NF)</a:t>
            </a:r>
            <a:endParaRPr lang="en-US" altLang="zh-CN" sz="1800" kern="0" dirty="0"/>
          </a:p>
          <a:p>
            <a:pPr marL="0" indent="0" eaLnBrk="1" hangingPunct="1">
              <a:lnSpc>
                <a:spcPct val="90000"/>
              </a:lnSpc>
              <a:buFont typeface="Wingdings" panose="05000000000000000000" pitchFamily="2" charset="2"/>
              <a:buNone/>
              <a:defRPr/>
            </a:pPr>
            <a:r>
              <a:rPr lang="zh-CN" altLang="en-US" sz="1800" kern="0" dirty="0"/>
              <a:t>第三范式</a:t>
            </a:r>
            <a:r>
              <a:rPr lang="en-US" altLang="zh-CN" sz="1800" kern="0" dirty="0"/>
              <a:t>(3NF)</a:t>
            </a:r>
            <a:endParaRPr lang="en-US" altLang="zh-CN" sz="1800" kern="0" dirty="0"/>
          </a:p>
          <a:p>
            <a:pPr marL="0" indent="0" eaLnBrk="1" hangingPunct="1">
              <a:lnSpc>
                <a:spcPct val="90000"/>
              </a:lnSpc>
              <a:buFont typeface="Wingdings" panose="05000000000000000000" pitchFamily="2" charset="2"/>
              <a:buNone/>
              <a:defRPr/>
            </a:pPr>
            <a:r>
              <a:rPr lang="en-US" altLang="zh-CN" sz="1800" kern="0" dirty="0"/>
              <a:t>BC</a:t>
            </a:r>
            <a:r>
              <a:rPr lang="zh-CN" altLang="en-US" sz="1800" kern="0" dirty="0"/>
              <a:t>范式</a:t>
            </a:r>
            <a:r>
              <a:rPr lang="en-US" altLang="zh-CN" sz="1800" kern="0" dirty="0"/>
              <a:t>(BCNF)</a:t>
            </a:r>
            <a:endParaRPr lang="en-US" altLang="zh-CN" sz="1800" kern="0" dirty="0"/>
          </a:p>
          <a:p>
            <a:pPr marL="0" indent="0" eaLnBrk="1" hangingPunct="1">
              <a:lnSpc>
                <a:spcPct val="90000"/>
              </a:lnSpc>
              <a:buFont typeface="Wingdings" panose="05000000000000000000" pitchFamily="2" charset="2"/>
              <a:buNone/>
              <a:defRPr/>
            </a:pPr>
            <a:r>
              <a:rPr lang="zh-CN" altLang="en-US" sz="1800" kern="0" dirty="0"/>
              <a:t>第四范式</a:t>
            </a:r>
            <a:r>
              <a:rPr lang="en-US" altLang="zh-CN" sz="1800" kern="0" dirty="0"/>
              <a:t>(4NF)</a:t>
            </a:r>
            <a:endParaRPr lang="en-US" altLang="zh-CN" sz="1800" kern="0" dirty="0"/>
          </a:p>
          <a:p>
            <a:pPr marL="0" indent="0" eaLnBrk="1" hangingPunct="1">
              <a:lnSpc>
                <a:spcPct val="90000"/>
              </a:lnSpc>
              <a:buFont typeface="Wingdings" panose="05000000000000000000" pitchFamily="2" charset="2"/>
              <a:buNone/>
              <a:defRPr/>
            </a:pPr>
            <a:r>
              <a:rPr lang="zh-CN" altLang="en-US" sz="1800" kern="0" dirty="0"/>
              <a:t>第五范式</a:t>
            </a:r>
            <a:r>
              <a:rPr lang="en-US" altLang="zh-CN" sz="1800" kern="0" dirty="0"/>
              <a:t>(5NF)</a:t>
            </a:r>
            <a:endParaRPr lang="en-US" altLang="zh-CN" sz="1800" kern="0" dirty="0"/>
          </a:p>
        </p:txBody>
      </p:sp>
      <p:sp>
        <p:nvSpPr>
          <p:cNvPr id="6" name="矩形 5"/>
          <p:cNvSpPr/>
          <p:nvPr/>
        </p:nvSpPr>
        <p:spPr>
          <a:xfrm>
            <a:off x="4793654" y="1071552"/>
            <a:ext cx="2492990" cy="369332"/>
          </a:xfrm>
          <a:prstGeom prst="rect">
            <a:avLst/>
          </a:prstGeom>
        </p:spPr>
        <p:txBody>
          <a:bodyPr wrap="none">
            <a:spAutoFit/>
          </a:bodyPr>
          <a:lstStyle/>
          <a:p>
            <a:r>
              <a:rPr lang="zh-CN" altLang="en-US" dirty="0"/>
              <a:t>各种范式之间的联系：</a:t>
            </a:r>
            <a:endParaRPr lang="en-US" altLang="zh-CN" dirty="0"/>
          </a:p>
        </p:txBody>
      </p:sp>
      <p:pic>
        <p:nvPicPr>
          <p:cNvPr id="503811" name="Picture 3" descr="6z2"/>
          <p:cNvPicPr>
            <a:picLocks noChangeAspect="1" noChangeArrowheads="1"/>
          </p:cNvPicPr>
          <p:nvPr/>
        </p:nvPicPr>
        <p:blipFill>
          <a:blip r:embed="rId1"/>
          <a:srcRect/>
          <a:stretch>
            <a:fillRect/>
          </a:stretch>
        </p:blipFill>
        <p:spPr bwMode="auto">
          <a:xfrm>
            <a:off x="4929190" y="1428742"/>
            <a:ext cx="2181292" cy="1851662"/>
          </a:xfrm>
          <a:prstGeom prst="rect">
            <a:avLst/>
          </a:prstGeom>
          <a:noFill/>
          <a:ln w="9525">
            <a:noFill/>
            <a:miter lim="800000"/>
            <a:headEnd/>
            <a:tailEnd/>
          </a:ln>
        </p:spPr>
      </p:pic>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a:t>第一范式</a:t>
            </a:r>
            <a:endParaRPr lang="zh-CN" altLang="en-US"/>
          </a:p>
        </p:txBody>
      </p:sp>
      <p:sp>
        <p:nvSpPr>
          <p:cNvPr id="8195" name="Rectangle 3"/>
          <p:cNvSpPr>
            <a:spLocks noGrp="1" noChangeArrowheads="1"/>
          </p:cNvSpPr>
          <p:nvPr>
            <p:ph idx="1"/>
          </p:nvPr>
        </p:nvSpPr>
        <p:spPr>
          <a:xfrm>
            <a:off x="179389" y="789385"/>
            <a:ext cx="8901146" cy="782233"/>
          </a:xfrm>
        </p:spPr>
        <p:txBody>
          <a:bodyPr/>
          <a:lstStyle/>
          <a:p>
            <a:r>
              <a:rPr lang="en-US" altLang="zh-CN" sz="2000" dirty="0"/>
              <a:t>1NF</a:t>
            </a:r>
            <a:r>
              <a:rPr lang="zh-CN" altLang="en-US" sz="2000" dirty="0"/>
              <a:t>的定义</a:t>
            </a:r>
            <a:br>
              <a:rPr lang="en-US" altLang="zh-CN" sz="2000" dirty="0"/>
            </a:br>
            <a:r>
              <a:rPr lang="zh-CN" altLang="en-US" sz="2000" dirty="0"/>
              <a:t>如果一个关系模式</a:t>
            </a:r>
            <a:r>
              <a:rPr lang="en-US" altLang="zh-CN" sz="2000" dirty="0"/>
              <a:t>R</a:t>
            </a:r>
            <a:r>
              <a:rPr lang="zh-CN" altLang="en-US" sz="2000" dirty="0"/>
              <a:t>的所有属性都是不可分的基本数据项，则</a:t>
            </a:r>
            <a:r>
              <a:rPr lang="en-US" altLang="zh-CN" sz="2000" dirty="0"/>
              <a:t>R∈1NF</a:t>
            </a:r>
            <a:r>
              <a:rPr lang="zh-CN" altLang="en-US" sz="2000" dirty="0"/>
              <a:t>。</a:t>
            </a:r>
            <a:endParaRPr lang="zh-CN" altLang="en-US" sz="2000" dirty="0"/>
          </a:p>
        </p:txBody>
      </p:sp>
      <p:sp>
        <p:nvSpPr>
          <p:cNvPr id="4" name="Rectangle 3"/>
          <p:cNvSpPr txBox="1">
            <a:spLocks noChangeArrowheads="1"/>
          </p:cNvSpPr>
          <p:nvPr/>
        </p:nvSpPr>
        <p:spPr bwMode="auto">
          <a:xfrm>
            <a:off x="179389" y="4012406"/>
            <a:ext cx="8466137" cy="702484"/>
          </a:xfrm>
          <a:prstGeom prst="rect">
            <a:avLst/>
          </a:prstGeom>
          <a:noFill/>
          <a:ln w="19050">
            <a:solidFill>
              <a:srgbClr val="FF0000"/>
            </a:solidFill>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000" kern="0" dirty="0"/>
              <a:t>第一范式是对关系模式的最起码的要求。不满足第一范式的数据库模式不能称为关系数据模式。</a:t>
            </a:r>
            <a:endParaRPr lang="zh-CN" altLang="en-US" sz="2000" kern="0" dirty="0"/>
          </a:p>
        </p:txBody>
      </p:sp>
      <p:pic>
        <p:nvPicPr>
          <p:cNvPr id="2" name="图片 1"/>
          <p:cNvPicPr>
            <a:picLocks noChangeAspect="1"/>
          </p:cNvPicPr>
          <p:nvPr/>
        </p:nvPicPr>
        <p:blipFill>
          <a:blip r:embed="rId1" cstate="print"/>
          <a:srcRect/>
          <a:stretch>
            <a:fillRect/>
          </a:stretch>
        </p:blipFill>
        <p:spPr bwMode="auto">
          <a:xfrm>
            <a:off x="4333876" y="2016919"/>
            <a:ext cx="4810125" cy="1266825"/>
          </a:xfrm>
          <a:prstGeom prst="rect">
            <a:avLst/>
          </a:prstGeom>
          <a:noFill/>
          <a:ln w="9525">
            <a:noFill/>
            <a:miter lim="800000"/>
            <a:headEnd/>
            <a:tailEnd/>
          </a:ln>
        </p:spPr>
      </p:pic>
      <p:pic>
        <p:nvPicPr>
          <p:cNvPr id="3" name="图片 2"/>
          <p:cNvPicPr>
            <a:picLocks noChangeAspect="1"/>
          </p:cNvPicPr>
          <p:nvPr/>
        </p:nvPicPr>
        <p:blipFill>
          <a:blip r:embed="rId2" cstate="print"/>
          <a:srcRect/>
          <a:stretch>
            <a:fillRect/>
          </a:stretch>
        </p:blipFill>
        <p:spPr bwMode="auto">
          <a:xfrm>
            <a:off x="179389" y="1571618"/>
            <a:ext cx="4154487" cy="2212181"/>
          </a:xfrm>
          <a:prstGeom prst="rect">
            <a:avLst/>
          </a:prstGeom>
          <a:noFill/>
          <a:ln w="9525">
            <a:solidFill>
              <a:srgbClr val="FF0000"/>
            </a:solidFill>
            <a:miter lim="800000"/>
            <a:headEnd/>
            <a:tailEnd/>
          </a:ln>
        </p:spPr>
      </p:pic>
      <p:pic>
        <p:nvPicPr>
          <p:cNvPr id="5" name="图片 4"/>
          <p:cNvPicPr>
            <a:picLocks noChangeAspect="1"/>
          </p:cNvPicPr>
          <p:nvPr/>
        </p:nvPicPr>
        <p:blipFill>
          <a:blip r:embed="rId3" cstate="print"/>
          <a:srcRect/>
          <a:stretch>
            <a:fillRect/>
          </a:stretch>
        </p:blipFill>
        <p:spPr bwMode="auto">
          <a:xfrm>
            <a:off x="6278563" y="2555081"/>
            <a:ext cx="2171700" cy="1457325"/>
          </a:xfrm>
          <a:prstGeom prst="rect">
            <a:avLst/>
          </a:prstGeom>
          <a:noFill/>
          <a:ln w="9525">
            <a:noFill/>
            <a:miter lim="800000"/>
            <a:headEnd/>
            <a:tailEnd/>
          </a:ln>
        </p:spPr>
      </p:pic>
      <p:pic>
        <p:nvPicPr>
          <p:cNvPr id="6" name="图片 5"/>
          <p:cNvPicPr>
            <a:picLocks noChangeAspect="1"/>
          </p:cNvPicPr>
          <p:nvPr/>
        </p:nvPicPr>
        <p:blipFill>
          <a:blip r:embed="rId4" cstate="print"/>
          <a:srcRect/>
          <a:stretch>
            <a:fillRect/>
          </a:stretch>
        </p:blipFill>
        <p:spPr bwMode="auto">
          <a:xfrm>
            <a:off x="2124076" y="2500312"/>
            <a:ext cx="2390775" cy="1821656"/>
          </a:xfrm>
          <a:prstGeom prst="rect">
            <a:avLst/>
          </a:prstGeom>
          <a:noFill/>
          <a:ln w="9525">
            <a:noFill/>
            <a:miter lim="800000"/>
            <a:headEnd/>
            <a:tailEnd/>
          </a:ln>
        </p:spPr>
      </p:pic>
    </p:spTree>
    <p:custDataLst>
      <p:tags r:id="rId5"/>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1+#ppt_w/2"/>
                                          </p:val>
                                        </p:tav>
                                        <p:tav tm="100000">
                                          <p:val>
                                            <p:strVal val="#ppt_x"/>
                                          </p:val>
                                        </p:tav>
                                      </p:tavLst>
                                    </p:anim>
                                    <p:anim calcmode="lin" valueType="num">
                                      <p:cBhvr additive="base">
                                        <p:cTn id="21"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0"/>
                                        <p:tgtEl>
                                          <p:spTgt spid="4"/>
                                        </p:tgtEl>
                                      </p:cBhvr>
                                    </p:animEffect>
                                    <p:anim calcmode="lin" valueType="num">
                                      <p:cBhvr>
                                        <p:cTn id="34" dur="1000" fill="hold"/>
                                        <p:tgtEl>
                                          <p:spTgt spid="4"/>
                                        </p:tgtEl>
                                        <p:attrNameLst>
                                          <p:attrName>ppt_x</p:attrName>
                                        </p:attrNameLst>
                                      </p:cBhvr>
                                      <p:tavLst>
                                        <p:tav tm="0">
                                          <p:val>
                                            <p:strVal val="#ppt_x"/>
                                          </p:val>
                                        </p:tav>
                                        <p:tav tm="100000">
                                          <p:val>
                                            <p:strVal val="#ppt_x"/>
                                          </p:val>
                                        </p:tav>
                                      </p:tavLst>
                                    </p:anim>
                                    <p:anim calcmode="lin" valueType="num">
                                      <p:cBhvr>
                                        <p:cTn id="3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Rectangle 2"/>
          <p:cNvSpPr>
            <a:spLocks noGrp="1" noChangeArrowheads="1"/>
          </p:cNvSpPr>
          <p:nvPr>
            <p:ph type="title"/>
          </p:nvPr>
        </p:nvSpPr>
        <p:spPr>
          <a:xfrm>
            <a:off x="914400" y="141288"/>
            <a:ext cx="7086600" cy="422275"/>
          </a:xfrm>
        </p:spPr>
        <p:txBody>
          <a:bodyPr/>
          <a:lstStyle/>
          <a:p>
            <a:pPr eaLnBrk="1" hangingPunct="1"/>
            <a:r>
              <a:rPr lang="zh-CN" altLang="en-US" sz="3200" dirty="0"/>
              <a:t>回顾基础篇：关系模型的数据结构</a:t>
            </a:r>
            <a:endParaRPr lang="zh-CN" altLang="en-US" sz="3200" dirty="0"/>
          </a:p>
        </p:txBody>
      </p:sp>
      <p:sp>
        <p:nvSpPr>
          <p:cNvPr id="2060" name="Rectangle 3"/>
          <p:cNvSpPr>
            <a:spLocks noGrp="1" noChangeArrowheads="1"/>
          </p:cNvSpPr>
          <p:nvPr>
            <p:ph type="body" sz="half" idx="1"/>
          </p:nvPr>
        </p:nvSpPr>
        <p:spPr>
          <a:xfrm>
            <a:off x="0" y="788988"/>
            <a:ext cx="9001125" cy="1458912"/>
          </a:xfrm>
        </p:spPr>
        <p:txBody>
          <a:bodyPr/>
          <a:lstStyle/>
          <a:p>
            <a:pPr algn="just" eaLnBrk="1" hangingPunct="1">
              <a:defRPr/>
            </a:pPr>
            <a:r>
              <a:rPr lang="zh-CN" altLang="en-US" sz="2000" dirty="0"/>
              <a:t>关系必须是</a:t>
            </a:r>
            <a:r>
              <a:rPr lang="zh-CN" altLang="en-US" sz="2000" dirty="0">
                <a:solidFill>
                  <a:srgbClr val="FF0000"/>
                </a:solidFill>
                <a:effectLst>
                  <a:outerShdw blurRad="38100" dist="38100" dir="2700000" algn="tl">
                    <a:srgbClr val="000000">
                      <a:alpha val="43137"/>
                    </a:srgbClr>
                  </a:outerShdw>
                </a:effectLst>
              </a:rPr>
              <a:t>规范化</a:t>
            </a:r>
            <a:r>
              <a:rPr lang="zh-CN" altLang="en-US" sz="2000" dirty="0"/>
              <a:t>的，满足一定的规范条件</a:t>
            </a:r>
            <a:endParaRPr lang="zh-CN" altLang="en-US" sz="2000" dirty="0"/>
          </a:p>
          <a:p>
            <a:pPr lvl="1" algn="just" eaLnBrk="1" hangingPunct="1">
              <a:buFont typeface="Wingdings" panose="05000000000000000000" pitchFamily="2" charset="2"/>
              <a:buNone/>
              <a:defRPr/>
            </a:pPr>
            <a:r>
              <a:rPr lang="zh-CN" altLang="en-US" sz="1800" dirty="0"/>
              <a:t>最基本的规范条件：关系的每一个分量必须是一个不可分的数据项，</a:t>
            </a:r>
            <a:r>
              <a:rPr lang="zh-CN" altLang="en-US" sz="1800" dirty="0">
                <a:solidFill>
                  <a:srgbClr val="FF0000"/>
                </a:solidFill>
              </a:rPr>
              <a:t>不允</a:t>
            </a:r>
            <a:endParaRPr lang="en-US" altLang="zh-CN" sz="1800" dirty="0">
              <a:solidFill>
                <a:srgbClr val="FF0000"/>
              </a:solidFill>
            </a:endParaRPr>
          </a:p>
          <a:p>
            <a:pPr lvl="1" algn="just" eaLnBrk="1" hangingPunct="1">
              <a:buFont typeface="Wingdings" panose="05000000000000000000" pitchFamily="2" charset="2"/>
              <a:buNone/>
              <a:defRPr/>
            </a:pPr>
            <a:r>
              <a:rPr lang="zh-CN" altLang="en-US" sz="1800" dirty="0">
                <a:solidFill>
                  <a:srgbClr val="FF0000"/>
                </a:solidFill>
              </a:rPr>
              <a:t>许</a:t>
            </a:r>
            <a:r>
              <a:rPr lang="zh-CN" altLang="en-US" sz="1800" dirty="0">
                <a:solidFill>
                  <a:srgbClr val="FF0000"/>
                </a:solidFill>
                <a:effectLst>
                  <a:outerShdw blurRad="38100" dist="38100" dir="2700000" algn="tl">
                    <a:srgbClr val="000000">
                      <a:alpha val="43137"/>
                    </a:srgbClr>
                  </a:outerShdw>
                </a:effectLst>
              </a:rPr>
              <a:t>表中还有表</a:t>
            </a:r>
            <a:r>
              <a:rPr lang="zh-CN" altLang="en-US" sz="1800" dirty="0">
                <a:solidFill>
                  <a:srgbClr val="FF0000"/>
                </a:solidFill>
              </a:rPr>
              <a:t>。</a:t>
            </a:r>
            <a:r>
              <a:rPr lang="zh-CN" altLang="en-US" sz="1800" dirty="0"/>
              <a:t>图</a:t>
            </a:r>
            <a:r>
              <a:rPr lang="en-US" altLang="zh-CN" sz="1800" dirty="0"/>
              <a:t>1.15</a:t>
            </a:r>
            <a:r>
              <a:rPr lang="zh-CN" altLang="en-US" sz="1800" dirty="0"/>
              <a:t>中</a:t>
            </a:r>
            <a:r>
              <a:rPr lang="zh-CN" altLang="en-US" sz="1800" dirty="0">
                <a:solidFill>
                  <a:srgbClr val="FF0000"/>
                </a:solidFill>
                <a:effectLst>
                  <a:outerShdw blurRad="38100" dist="38100" dir="2700000" algn="tl">
                    <a:srgbClr val="000000">
                      <a:alpha val="43137"/>
                    </a:srgbClr>
                  </a:outerShdw>
                </a:effectLst>
              </a:rPr>
              <a:t>工资和扣除是可分的数据项 </a:t>
            </a:r>
            <a:r>
              <a:rPr lang="en-US" altLang="zh-CN" sz="1800" dirty="0">
                <a:solidFill>
                  <a:srgbClr val="FF0000"/>
                </a:solidFill>
                <a:effectLst>
                  <a:outerShdw blurRad="38100" dist="38100" dir="2700000" algn="tl">
                    <a:srgbClr val="000000">
                      <a:alpha val="43137"/>
                    </a:srgbClr>
                  </a:outerShdw>
                </a:effectLst>
              </a:rPr>
              <a:t>,</a:t>
            </a:r>
            <a:r>
              <a:rPr lang="zh-CN" altLang="en-US" sz="1800" dirty="0">
                <a:solidFill>
                  <a:srgbClr val="FF0000"/>
                </a:solidFill>
                <a:effectLst>
                  <a:outerShdw blurRad="38100" dist="38100" dir="2700000" algn="tl">
                    <a:srgbClr val="000000">
                      <a:alpha val="43137"/>
                    </a:srgbClr>
                  </a:outerShdw>
                </a:effectLst>
              </a:rPr>
              <a:t>不符合关系模型要求 </a:t>
            </a:r>
            <a:endParaRPr lang="zh-CN" altLang="en-US" sz="1800" dirty="0">
              <a:solidFill>
                <a:srgbClr val="FF0000"/>
              </a:solidFill>
              <a:effectLst>
                <a:outerShdw blurRad="38100" dist="38100" dir="2700000" algn="tl">
                  <a:srgbClr val="000000">
                    <a:alpha val="43137"/>
                  </a:srgbClr>
                </a:outerShdw>
              </a:effectLst>
            </a:endParaRPr>
          </a:p>
        </p:txBody>
      </p:sp>
      <p:graphicFrame>
        <p:nvGraphicFramePr>
          <p:cNvPr id="127376" name="Group 400"/>
          <p:cNvGraphicFramePr>
            <a:graphicFrameLocks noGrp="1"/>
          </p:cNvGraphicFramePr>
          <p:nvPr/>
        </p:nvGraphicFramePr>
        <p:xfrm>
          <a:off x="285750" y="1989138"/>
          <a:ext cx="7929620" cy="1869044"/>
        </p:xfrm>
        <a:graphic>
          <a:graphicData uri="http://schemas.openxmlformats.org/drawingml/2006/table">
            <a:tbl>
              <a:tblPr/>
              <a:tblGrid>
                <a:gridCol w="844052"/>
                <a:gridCol w="608239"/>
                <a:gridCol w="613409"/>
                <a:gridCol w="1066167"/>
                <a:gridCol w="1074210"/>
                <a:gridCol w="1058125"/>
                <a:gridCol w="666355"/>
                <a:gridCol w="1266074"/>
                <a:gridCol w="732989"/>
              </a:tblGrid>
              <a:tr h="352425">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职工号</a:t>
                      </a:r>
                      <a:endPar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姓名</a:t>
                      </a:r>
                      <a:endPar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职称</a:t>
                      </a:r>
                      <a:endPar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工 资</a:t>
                      </a:r>
                      <a:endPar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扣 除</a:t>
                      </a:r>
                      <a:endParaRPr kumimoji="1"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实 发</a:t>
                      </a:r>
                      <a:endParaRPr kumimoji="1"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02920">
                <a:tc vMerge="1">
                  <a:tcPr/>
                </a:tc>
                <a:tc vMerge="1">
                  <a:tcPr/>
                </a:tc>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基本工资</a:t>
                      </a:r>
                      <a:endPar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岗位津贴</a:t>
                      </a:r>
                      <a:endPar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业绩津贴</a:t>
                      </a:r>
                      <a:endPar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三险</a:t>
                      </a:r>
                      <a:endPar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个人所得税</a:t>
                      </a:r>
                      <a:endPar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50292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86051</a:t>
                      </a:r>
                      <a:endPar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陈平</a:t>
                      </a:r>
                      <a:endPar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讲师</a:t>
                      </a:r>
                      <a:endPar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3305</a:t>
                      </a:r>
                      <a:endPar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2200</a:t>
                      </a:r>
                      <a:endPar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2850</a:t>
                      </a:r>
                      <a:endPar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360</a:t>
                      </a:r>
                      <a:endPar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812</a:t>
                      </a:r>
                      <a:endPar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7183</a:t>
                      </a:r>
                      <a:endParaRPr kumimoji="1"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0779">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4" marR="91444" marT="34290" marB="34290"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44" marR="91444" marT="34290" marB="3429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082" name="Rectangle 373"/>
          <p:cNvSpPr>
            <a:spLocks noChangeArrowheads="1"/>
          </p:cNvSpPr>
          <p:nvPr/>
        </p:nvSpPr>
        <p:spPr bwMode="auto">
          <a:xfrm>
            <a:off x="2111375" y="3948113"/>
            <a:ext cx="4103688" cy="338137"/>
          </a:xfrm>
          <a:prstGeom prst="rect">
            <a:avLst/>
          </a:prstGeom>
          <a:noFill/>
          <a:ln w="25400" algn="ctr">
            <a:noFill/>
            <a:miter lim="800000"/>
          </a:ln>
        </p:spPr>
        <p:txBody>
          <a:bodyPr anchor="ctr">
            <a:spAutoFit/>
          </a:bodyPr>
          <a:lstStyle/>
          <a:p>
            <a:pPr marL="342900" indent="-342900">
              <a:buFont typeface="Arial" panose="020B0604020202020204" pitchFamily="34" charset="0"/>
              <a:buNone/>
            </a:pPr>
            <a:r>
              <a:rPr lang="zh-CN" altLang="en-US" sz="1600" b="1"/>
              <a:t>图</a:t>
            </a:r>
            <a:r>
              <a:rPr lang="en-US" altLang="zh-CN" sz="1600" b="1"/>
              <a:t>1.15  </a:t>
            </a:r>
            <a:r>
              <a:rPr lang="zh-CN" altLang="en-US" sz="1600" b="1"/>
              <a:t>一个工资表（表中有表）实例 </a:t>
            </a:r>
            <a:endParaRPr lang="zh-CN" altLang="en-US" sz="1600" b="1"/>
          </a:p>
        </p:txBody>
      </p:sp>
      <p:cxnSp>
        <p:nvCxnSpPr>
          <p:cNvPr id="15" name="直接连接符 8"/>
          <p:cNvCxnSpPr>
            <a:cxnSpLocks noChangeShapeType="1"/>
          </p:cNvCxnSpPr>
          <p:nvPr/>
        </p:nvCxnSpPr>
        <p:spPr bwMode="auto">
          <a:xfrm>
            <a:off x="1179513" y="1143000"/>
            <a:ext cx="1785937" cy="1588"/>
          </a:xfrm>
          <a:prstGeom prst="line">
            <a:avLst/>
          </a:prstGeom>
          <a:noFill/>
          <a:ln w="28575" algn="ctr">
            <a:solidFill>
              <a:srgbClr val="FFFF00"/>
            </a:solidFill>
            <a:round/>
          </a:ln>
        </p:spPr>
      </p:cxnSp>
      <p:cxnSp>
        <p:nvCxnSpPr>
          <p:cNvPr id="17" name="直接连接符 8"/>
          <p:cNvCxnSpPr>
            <a:cxnSpLocks noChangeShapeType="1"/>
          </p:cNvCxnSpPr>
          <p:nvPr/>
        </p:nvCxnSpPr>
        <p:spPr bwMode="auto">
          <a:xfrm>
            <a:off x="534988" y="1784350"/>
            <a:ext cx="7466012" cy="1588"/>
          </a:xfrm>
          <a:prstGeom prst="line">
            <a:avLst/>
          </a:prstGeom>
          <a:noFill/>
          <a:ln w="28575" algn="ctr">
            <a:solidFill>
              <a:srgbClr val="FFFF00"/>
            </a:solidFill>
            <a:round/>
          </a:ln>
        </p:spPr>
      </p:cxn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0-#ppt_w/2"/>
                                          </p:val>
                                        </p:tav>
                                        <p:tav tm="100000">
                                          <p:val>
                                            <p:strVal val="#ppt_x"/>
                                          </p:val>
                                        </p:tav>
                                      </p:tavLst>
                                    </p:anim>
                                    <p:anim calcmode="lin" valueType="num">
                                      <p:cBhvr additive="base">
                                        <p:cTn id="8" dur="10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1000" fill="hold"/>
                                        <p:tgtEl>
                                          <p:spTgt spid="17"/>
                                        </p:tgtEl>
                                        <p:attrNameLst>
                                          <p:attrName>ppt_x</p:attrName>
                                        </p:attrNameLst>
                                      </p:cBhvr>
                                      <p:tavLst>
                                        <p:tav tm="0">
                                          <p:val>
                                            <p:strVal val="0-#ppt_w/2"/>
                                          </p:val>
                                        </p:tav>
                                        <p:tav tm="100000">
                                          <p:val>
                                            <p:strVal val="#ppt_x"/>
                                          </p:val>
                                        </p:tav>
                                      </p:tavLst>
                                    </p:anim>
                                    <p:anim calcmode="lin" valueType="num">
                                      <p:cBhvr additive="base">
                                        <p:cTn id="14" dur="10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a:t>第一范式（续）</a:t>
            </a:r>
            <a:endParaRPr lang="zh-CN" altLang="en-US"/>
          </a:p>
        </p:txBody>
      </p:sp>
      <p:sp>
        <p:nvSpPr>
          <p:cNvPr id="58371" name="Rectangle 3"/>
          <p:cNvSpPr>
            <a:spLocks noGrp="1" noChangeArrowheads="1"/>
          </p:cNvSpPr>
          <p:nvPr>
            <p:ph idx="1"/>
          </p:nvPr>
        </p:nvSpPr>
        <p:spPr>
          <a:xfrm>
            <a:off x="214282" y="714362"/>
            <a:ext cx="8715404" cy="3643313"/>
          </a:xfrm>
        </p:spPr>
        <p:txBody>
          <a:bodyPr/>
          <a:lstStyle/>
          <a:p>
            <a:pPr>
              <a:defRPr/>
            </a:pPr>
            <a:r>
              <a:rPr lang="zh-CN" altLang="en-US" sz="2400" dirty="0"/>
              <a:t>但是满足第一范式的关系模式并不一定是一个</a:t>
            </a:r>
            <a:r>
              <a:rPr lang="zh-CN" altLang="en-US" sz="2400" dirty="0">
                <a:solidFill>
                  <a:srgbClr val="C00000"/>
                </a:solidFill>
              </a:rPr>
              <a:t>好的</a:t>
            </a:r>
            <a:r>
              <a:rPr lang="zh-CN" altLang="en-US" sz="2400" dirty="0"/>
              <a:t>关系模式</a:t>
            </a:r>
            <a:endParaRPr lang="en-US" altLang="zh-CN" sz="2400" dirty="0"/>
          </a:p>
          <a:p>
            <a:pPr>
              <a:buFont typeface="Wingdings" panose="05000000000000000000" pitchFamily="2" charset="2"/>
              <a:buNone/>
              <a:defRPr/>
            </a:pPr>
            <a:endParaRPr lang="en-US" altLang="zh-CN" sz="1800" dirty="0"/>
          </a:p>
          <a:p>
            <a:pPr>
              <a:buFont typeface="Wingdings" panose="05000000000000000000" pitchFamily="2" charset="2"/>
              <a:buNone/>
              <a:defRPr/>
            </a:pPr>
            <a:r>
              <a:rPr lang="en-US" altLang="zh-CN" sz="1800" dirty="0"/>
              <a:t>[</a:t>
            </a:r>
            <a:r>
              <a:rPr lang="zh-CN" altLang="en-US" sz="1800" dirty="0"/>
              <a:t>例</a:t>
            </a:r>
            <a:r>
              <a:rPr lang="en-US" altLang="zh-CN" sz="1800" dirty="0"/>
              <a:t>] </a:t>
            </a:r>
            <a:r>
              <a:rPr lang="zh-CN" altLang="en-US" sz="1800" dirty="0"/>
              <a:t>关系模式   </a:t>
            </a:r>
            <a:r>
              <a:rPr lang="en-US" altLang="zh-CN" sz="1800" dirty="0"/>
              <a:t>SLC(</a:t>
            </a:r>
            <a:r>
              <a:rPr lang="en-US" altLang="zh-CN" sz="1800" dirty="0" err="1"/>
              <a:t>Sno</a:t>
            </a:r>
            <a:r>
              <a:rPr lang="en-US" altLang="zh-CN" sz="1800" dirty="0"/>
              <a:t>, </a:t>
            </a:r>
            <a:r>
              <a:rPr lang="en-US" altLang="zh-CN" sz="1800" dirty="0" err="1"/>
              <a:t>Sdept</a:t>
            </a:r>
            <a:r>
              <a:rPr lang="en-US" altLang="zh-CN" sz="1800" dirty="0"/>
              <a:t>, </a:t>
            </a:r>
            <a:r>
              <a:rPr lang="en-US" altLang="zh-CN" sz="1800" dirty="0" err="1"/>
              <a:t>Sloc</a:t>
            </a:r>
            <a:r>
              <a:rPr lang="en-US" altLang="zh-CN" sz="1800" dirty="0"/>
              <a:t>, </a:t>
            </a:r>
            <a:r>
              <a:rPr lang="en-US" altLang="zh-CN" sz="1800" dirty="0" err="1"/>
              <a:t>Cno</a:t>
            </a:r>
            <a:r>
              <a:rPr lang="en-US" altLang="zh-CN" sz="1800" dirty="0"/>
              <a:t>, Grade)</a:t>
            </a:r>
            <a:endParaRPr lang="en-US" altLang="zh-CN" sz="1800" dirty="0"/>
          </a:p>
          <a:p>
            <a:pPr lvl="1">
              <a:defRPr/>
            </a:pPr>
            <a:r>
              <a:rPr lang="en-US" altLang="zh-CN" sz="1800" dirty="0" err="1"/>
              <a:t>Sloc</a:t>
            </a:r>
            <a:r>
              <a:rPr lang="zh-CN" altLang="en-US" sz="1800" dirty="0"/>
              <a:t>为学生住处，假设每个系的学生住在同一个地方。</a:t>
            </a:r>
            <a:endParaRPr lang="zh-CN" altLang="en-US" sz="1800" dirty="0"/>
          </a:p>
          <a:p>
            <a:pPr lvl="1">
              <a:defRPr/>
            </a:pPr>
            <a:r>
              <a:rPr lang="zh-CN" altLang="en-US" sz="1800" dirty="0"/>
              <a:t>函数依赖包括：</a:t>
            </a:r>
            <a:endParaRPr lang="zh-CN" altLang="en-US" sz="1800" dirty="0"/>
          </a:p>
          <a:p>
            <a:pPr marL="457200" lvl="1" indent="0">
              <a:buFont typeface="Wingdings" panose="05000000000000000000" pitchFamily="2" charset="2"/>
              <a:buNone/>
              <a:defRPr/>
            </a:pPr>
            <a:r>
              <a:rPr lang="zh-CN" altLang="en-US" sz="1800" dirty="0"/>
              <a:t>  </a:t>
            </a:r>
            <a:r>
              <a:rPr lang="en-US" altLang="zh-CN" sz="1800" dirty="0"/>
              <a:t>(</a:t>
            </a:r>
            <a:r>
              <a:rPr lang="en-US" altLang="zh-CN" sz="1800" dirty="0" err="1"/>
              <a:t>Sno</a:t>
            </a:r>
            <a:r>
              <a:rPr lang="en-US" altLang="zh-CN" sz="1800" dirty="0"/>
              <a:t>, </a:t>
            </a:r>
            <a:r>
              <a:rPr lang="en-US" altLang="zh-CN" sz="1800" dirty="0" err="1"/>
              <a:t>Cno</a:t>
            </a:r>
            <a:r>
              <a:rPr lang="en-US" altLang="zh-CN" sz="1800" dirty="0"/>
              <a:t>) →  Grade</a:t>
            </a:r>
            <a:endParaRPr lang="en-US" altLang="zh-CN" sz="1800" dirty="0"/>
          </a:p>
          <a:p>
            <a:pPr marL="457200" lvl="1" indent="0">
              <a:buNone/>
              <a:defRPr/>
            </a:pPr>
            <a:r>
              <a:rPr lang="en-US" altLang="zh-CN" sz="1800" dirty="0"/>
              <a:t>   </a:t>
            </a:r>
            <a:r>
              <a:rPr lang="en-US" altLang="zh-CN" sz="1800" dirty="0" err="1"/>
              <a:t>Sno</a:t>
            </a:r>
            <a:r>
              <a:rPr lang="en-US" altLang="zh-CN" sz="1800" dirty="0"/>
              <a:t> → </a:t>
            </a:r>
            <a:r>
              <a:rPr lang="en-US" altLang="zh-CN" sz="1800" dirty="0" err="1"/>
              <a:t>Sdept</a:t>
            </a:r>
            <a:r>
              <a:rPr lang="en-US" altLang="zh-CN" sz="1800" dirty="0"/>
              <a:t>, (</a:t>
            </a:r>
            <a:r>
              <a:rPr lang="en-US" altLang="zh-CN" sz="1800" dirty="0" err="1"/>
              <a:t>Sno</a:t>
            </a:r>
            <a:r>
              <a:rPr lang="en-US" altLang="zh-CN" sz="1800" dirty="0"/>
              <a:t>, </a:t>
            </a:r>
            <a:r>
              <a:rPr lang="en-US" altLang="zh-CN" sz="1800" dirty="0" err="1"/>
              <a:t>Cno</a:t>
            </a:r>
            <a:r>
              <a:rPr lang="en-US" altLang="zh-CN" sz="1800" dirty="0"/>
              <a:t>) →  </a:t>
            </a:r>
            <a:r>
              <a:rPr lang="en-US" altLang="zh-CN" sz="1800" dirty="0" err="1"/>
              <a:t>Sdept</a:t>
            </a:r>
            <a:r>
              <a:rPr lang="zh-CN" altLang="en-US" sz="1800" dirty="0"/>
              <a:t>，</a:t>
            </a:r>
            <a:r>
              <a:rPr lang="en-US" altLang="zh-CN" sz="1800" dirty="0" err="1"/>
              <a:t>Sdept</a:t>
            </a:r>
            <a:r>
              <a:rPr lang="en-US" altLang="zh-CN" sz="1800" dirty="0"/>
              <a:t> → </a:t>
            </a:r>
            <a:r>
              <a:rPr lang="en-US" altLang="zh-CN" sz="1800" dirty="0" err="1"/>
              <a:t>Sloc</a:t>
            </a:r>
            <a:endParaRPr lang="en-US" altLang="zh-CN" sz="1800" dirty="0"/>
          </a:p>
          <a:p>
            <a:pPr marL="457200" lvl="1" indent="0">
              <a:buFont typeface="Wingdings" panose="05000000000000000000" pitchFamily="2" charset="2"/>
              <a:buNone/>
              <a:defRPr/>
            </a:pPr>
            <a:r>
              <a:rPr lang="en-US" altLang="zh-CN" sz="1800" dirty="0"/>
              <a:t>   </a:t>
            </a:r>
            <a:r>
              <a:rPr lang="en-US" altLang="zh-CN" sz="1800" dirty="0" err="1"/>
              <a:t>Sno</a:t>
            </a:r>
            <a:r>
              <a:rPr lang="en-US" altLang="zh-CN" sz="1800" dirty="0"/>
              <a:t> → </a:t>
            </a:r>
            <a:r>
              <a:rPr lang="en-US" altLang="zh-CN" sz="1800" dirty="0" err="1"/>
              <a:t>Sloc</a:t>
            </a:r>
            <a:r>
              <a:rPr lang="en-US" altLang="zh-CN" sz="1800" dirty="0"/>
              <a:t>,   (</a:t>
            </a:r>
            <a:r>
              <a:rPr lang="en-US" altLang="zh-CN" sz="1800" dirty="0" err="1"/>
              <a:t>Sno</a:t>
            </a:r>
            <a:r>
              <a:rPr lang="en-US" altLang="zh-CN" sz="1800" dirty="0"/>
              <a:t>, </a:t>
            </a:r>
            <a:r>
              <a:rPr lang="en-US" altLang="zh-CN" sz="1800" dirty="0" err="1"/>
              <a:t>Cno</a:t>
            </a:r>
            <a:r>
              <a:rPr lang="en-US" altLang="zh-CN" sz="1800" dirty="0"/>
              <a:t>) → </a:t>
            </a:r>
            <a:r>
              <a:rPr lang="en-US" altLang="zh-CN" sz="1800" dirty="0" err="1"/>
              <a:t>Sloc</a:t>
            </a:r>
            <a:endParaRPr lang="en-US" altLang="zh-CN" sz="1800" dirty="0"/>
          </a:p>
          <a:p>
            <a:pPr marL="457200" lvl="1" indent="0">
              <a:defRPr/>
            </a:pPr>
            <a:r>
              <a:rPr lang="en-US" altLang="zh-CN" sz="1800" dirty="0"/>
              <a:t>SLC</a:t>
            </a:r>
            <a:r>
              <a:rPr lang="zh-CN" altLang="en-US" sz="1800" dirty="0"/>
              <a:t>的码为</a:t>
            </a:r>
            <a:r>
              <a:rPr lang="en-US" altLang="zh-CN" sz="1800" dirty="0"/>
              <a:t>(</a:t>
            </a:r>
            <a:r>
              <a:rPr lang="en-US" altLang="zh-CN" sz="1800" dirty="0" err="1"/>
              <a:t>Sno</a:t>
            </a:r>
            <a:r>
              <a:rPr lang="en-US" altLang="zh-CN" sz="1800" dirty="0"/>
              <a:t>, </a:t>
            </a:r>
            <a:r>
              <a:rPr lang="en-US" altLang="zh-CN" sz="1800" dirty="0" err="1"/>
              <a:t>Cno</a:t>
            </a:r>
            <a:r>
              <a:rPr lang="en-US" altLang="zh-CN" sz="1800" dirty="0"/>
              <a:t>)</a:t>
            </a:r>
            <a:r>
              <a:rPr lang="zh-CN" altLang="en-US" sz="1800" dirty="0"/>
              <a:t>。</a:t>
            </a:r>
            <a:endParaRPr lang="en-US" altLang="zh-CN" sz="1800" dirty="0"/>
          </a:p>
          <a:p>
            <a:pPr marL="857250" lvl="2" indent="0">
              <a:buNone/>
              <a:defRPr/>
            </a:pPr>
            <a:r>
              <a:rPr lang="zh-CN" altLang="en-US" sz="1800" dirty="0"/>
              <a:t>主属性：</a:t>
            </a:r>
            <a:r>
              <a:rPr lang="en-US" altLang="zh-CN" sz="1800" dirty="0" err="1"/>
              <a:t>Sno</a:t>
            </a:r>
            <a:r>
              <a:rPr lang="en-US" altLang="zh-CN" sz="1800" dirty="0"/>
              <a:t>, </a:t>
            </a:r>
            <a:r>
              <a:rPr lang="en-US" altLang="zh-CN" sz="1800" dirty="0" err="1"/>
              <a:t>Cno</a:t>
            </a:r>
            <a:r>
              <a:rPr lang="en-US" altLang="zh-CN" sz="1800" dirty="0"/>
              <a:t> </a:t>
            </a:r>
            <a:endParaRPr lang="en-US" altLang="zh-CN" sz="1800" dirty="0"/>
          </a:p>
          <a:p>
            <a:pPr marL="857250" lvl="2" indent="0">
              <a:buNone/>
              <a:defRPr/>
            </a:pPr>
            <a:r>
              <a:rPr lang="zh-CN" altLang="en-US" sz="1800" dirty="0"/>
              <a:t>非主属性：</a:t>
            </a:r>
            <a:r>
              <a:rPr lang="en-US" altLang="zh-CN" sz="1800" dirty="0"/>
              <a:t> Grade </a:t>
            </a:r>
            <a:r>
              <a:rPr lang="zh-CN" altLang="en-US" sz="1800" dirty="0"/>
              <a:t>，</a:t>
            </a:r>
            <a:r>
              <a:rPr lang="en-US" altLang="zh-CN" sz="1800" dirty="0" err="1"/>
              <a:t>Sdept</a:t>
            </a:r>
            <a:r>
              <a:rPr lang="zh-CN" altLang="en-US" sz="1800" dirty="0"/>
              <a:t>和</a:t>
            </a:r>
            <a:r>
              <a:rPr lang="en-US" altLang="zh-CN" sz="1800" dirty="0" err="1"/>
              <a:t>Sloc</a:t>
            </a:r>
            <a:endParaRPr lang="en-US" altLang="zh-CN" sz="1800" dirty="0"/>
          </a:p>
        </p:txBody>
      </p:sp>
      <p:sp>
        <p:nvSpPr>
          <p:cNvPr id="9220" name="文本框 8"/>
          <p:cNvSpPr txBox="1">
            <a:spLocks noChangeArrowheads="1"/>
          </p:cNvSpPr>
          <p:nvPr/>
        </p:nvSpPr>
        <p:spPr bwMode="auto">
          <a:xfrm>
            <a:off x="3606164" y="3032554"/>
            <a:ext cx="323850" cy="400110"/>
          </a:xfrm>
          <a:prstGeom prst="rect">
            <a:avLst/>
          </a:prstGeom>
          <a:noFill/>
          <a:ln w="9525">
            <a:noFill/>
            <a:miter lim="800000"/>
          </a:ln>
        </p:spPr>
        <p:txBody>
          <a:bodyPr>
            <a:spAutoFit/>
          </a:bodyPr>
          <a:lstStyle/>
          <a:p>
            <a:r>
              <a:rPr lang="en-US" altLang="zh-CN" sz="2000" i="1" dirty="0"/>
              <a:t>P</a:t>
            </a:r>
            <a:endParaRPr lang="zh-CN" altLang="en-US" sz="2000" i="1" dirty="0"/>
          </a:p>
        </p:txBody>
      </p:sp>
      <p:sp>
        <p:nvSpPr>
          <p:cNvPr id="9221" name="文本框 9"/>
          <p:cNvSpPr txBox="1">
            <a:spLocks noChangeArrowheads="1"/>
          </p:cNvSpPr>
          <p:nvPr/>
        </p:nvSpPr>
        <p:spPr bwMode="auto">
          <a:xfrm>
            <a:off x="3606156" y="2632444"/>
            <a:ext cx="323850" cy="400110"/>
          </a:xfrm>
          <a:prstGeom prst="rect">
            <a:avLst/>
          </a:prstGeom>
          <a:noFill/>
          <a:ln w="9525">
            <a:noFill/>
            <a:miter lim="800000"/>
          </a:ln>
        </p:spPr>
        <p:txBody>
          <a:bodyPr>
            <a:spAutoFit/>
          </a:bodyPr>
          <a:lstStyle/>
          <a:p>
            <a:r>
              <a:rPr lang="en-US" altLang="zh-CN" sz="2000" i="1"/>
              <a:t>P</a:t>
            </a:r>
            <a:endParaRPr lang="zh-CN" altLang="en-US" sz="2000" i="1" dirty="0"/>
          </a:p>
        </p:txBody>
      </p:sp>
      <p:sp>
        <p:nvSpPr>
          <p:cNvPr id="7" name="文本框 10"/>
          <p:cNvSpPr txBox="1">
            <a:spLocks noChangeArrowheads="1"/>
          </p:cNvSpPr>
          <p:nvPr/>
        </p:nvSpPr>
        <p:spPr bwMode="auto">
          <a:xfrm>
            <a:off x="2051720" y="2335963"/>
            <a:ext cx="323850" cy="400110"/>
          </a:xfrm>
          <a:prstGeom prst="rect">
            <a:avLst/>
          </a:prstGeom>
          <a:noFill/>
          <a:ln w="9525">
            <a:noFill/>
            <a:miter lim="800000"/>
          </a:ln>
        </p:spPr>
        <p:txBody>
          <a:bodyPr>
            <a:spAutoFit/>
          </a:bodyPr>
          <a:lstStyle/>
          <a:p>
            <a:r>
              <a:rPr lang="en-US" altLang="zh-CN" sz="2000" i="1" dirty="0"/>
              <a:t>F</a:t>
            </a:r>
            <a:endParaRPr lang="zh-CN" altLang="en-US" sz="2000" i="1" dirty="0"/>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zh-CN" altLang="en-US" sz="3600" dirty="0"/>
              <a:t>第一范式（续）</a:t>
            </a:r>
            <a:endParaRPr lang="zh-CN" altLang="en-US" sz="3600" dirty="0"/>
          </a:p>
        </p:txBody>
      </p:sp>
      <p:sp>
        <p:nvSpPr>
          <p:cNvPr id="59395" name="Rectangle 3"/>
          <p:cNvSpPr>
            <a:spLocks noGrp="1" noChangeArrowheads="1"/>
          </p:cNvSpPr>
          <p:nvPr>
            <p:ph idx="1"/>
          </p:nvPr>
        </p:nvSpPr>
        <p:spPr>
          <a:xfrm>
            <a:off x="457200" y="681541"/>
            <a:ext cx="8229600" cy="3640931"/>
          </a:xfrm>
        </p:spPr>
        <p:txBody>
          <a:bodyPr/>
          <a:lstStyle/>
          <a:p>
            <a:endParaRPr lang="en-US" altLang="zh-CN" dirty="0"/>
          </a:p>
          <a:p>
            <a:endParaRPr lang="en-US" altLang="zh-CN" dirty="0"/>
          </a:p>
          <a:p>
            <a:endParaRPr lang="en-US" altLang="zh-CN" dirty="0"/>
          </a:p>
          <a:p>
            <a:endParaRPr lang="en-US" altLang="zh-CN" dirty="0"/>
          </a:p>
          <a:p>
            <a:endParaRPr lang="en-US" altLang="zh-CN" dirty="0"/>
          </a:p>
          <a:p>
            <a:r>
              <a:rPr lang="en-US" altLang="zh-CN" sz="2400" dirty="0"/>
              <a:t>SLC</a:t>
            </a:r>
            <a:r>
              <a:rPr lang="zh-CN" altLang="en-US" sz="2400" dirty="0"/>
              <a:t>的码为</a:t>
            </a:r>
            <a:r>
              <a:rPr lang="en-US" altLang="zh-CN" sz="2400" dirty="0"/>
              <a:t>(</a:t>
            </a:r>
            <a:r>
              <a:rPr lang="en-US" altLang="zh-CN" sz="2400" dirty="0" err="1"/>
              <a:t>Sno</a:t>
            </a:r>
            <a:r>
              <a:rPr lang="en-US" altLang="zh-CN" sz="2400" dirty="0"/>
              <a:t>, </a:t>
            </a:r>
            <a:r>
              <a:rPr lang="en-US" altLang="zh-CN" sz="2400" dirty="0" err="1"/>
              <a:t>Cno</a:t>
            </a:r>
            <a:r>
              <a:rPr lang="en-US" altLang="zh-CN" sz="2400" dirty="0"/>
              <a:t>)</a:t>
            </a:r>
            <a:endParaRPr lang="en-US" altLang="zh-CN" sz="2400" dirty="0"/>
          </a:p>
          <a:p>
            <a:endParaRPr lang="en-US" altLang="zh-CN" dirty="0"/>
          </a:p>
        </p:txBody>
      </p:sp>
      <p:grpSp>
        <p:nvGrpSpPr>
          <p:cNvPr id="2" name="Group 22"/>
          <p:cNvGrpSpPr/>
          <p:nvPr/>
        </p:nvGrpSpPr>
        <p:grpSpPr bwMode="auto">
          <a:xfrm>
            <a:off x="400050" y="823913"/>
            <a:ext cx="5715000" cy="2286000"/>
            <a:chOff x="1152" y="1248"/>
            <a:chExt cx="3600" cy="1920"/>
          </a:xfrm>
        </p:grpSpPr>
        <p:sp>
          <p:nvSpPr>
            <p:cNvPr id="59397" name="Rectangle 8"/>
            <p:cNvSpPr>
              <a:spLocks noChangeArrowheads="1"/>
            </p:cNvSpPr>
            <p:nvPr/>
          </p:nvSpPr>
          <p:spPr bwMode="auto">
            <a:xfrm>
              <a:off x="2438" y="1376"/>
              <a:ext cx="1157" cy="1792"/>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59398" name="Text Box 9"/>
            <p:cNvSpPr txBox="1">
              <a:spLocks noChangeArrowheads="1"/>
            </p:cNvSpPr>
            <p:nvPr/>
          </p:nvSpPr>
          <p:spPr bwMode="auto">
            <a:xfrm>
              <a:off x="2695" y="1632"/>
              <a:ext cx="643" cy="384"/>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dirty="0" err="1"/>
                <a:t>Sno</a:t>
              </a:r>
              <a:endParaRPr kumimoji="0" lang="en-US" altLang="zh-CN" sz="2800" b="0" baseline="0" dirty="0"/>
            </a:p>
          </p:txBody>
        </p:sp>
        <p:sp>
          <p:nvSpPr>
            <p:cNvPr id="59399" name="Text Box 10"/>
            <p:cNvSpPr txBox="1">
              <a:spLocks noChangeArrowheads="1"/>
            </p:cNvSpPr>
            <p:nvPr/>
          </p:nvSpPr>
          <p:spPr bwMode="auto">
            <a:xfrm>
              <a:off x="2695" y="2528"/>
              <a:ext cx="643" cy="384"/>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Cno</a:t>
              </a:r>
              <a:endParaRPr kumimoji="0" lang="en-US" altLang="zh-CN" sz="2800" b="0" baseline="0"/>
            </a:p>
          </p:txBody>
        </p:sp>
        <p:sp>
          <p:nvSpPr>
            <p:cNvPr id="59400" name="Text Box 11"/>
            <p:cNvSpPr txBox="1">
              <a:spLocks noChangeArrowheads="1"/>
            </p:cNvSpPr>
            <p:nvPr/>
          </p:nvSpPr>
          <p:spPr bwMode="auto">
            <a:xfrm>
              <a:off x="1281" y="2144"/>
              <a:ext cx="771" cy="384"/>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Grade</a:t>
              </a:r>
              <a:endParaRPr kumimoji="0" lang="en-US" altLang="zh-CN" sz="2800" baseline="0"/>
            </a:p>
          </p:txBody>
        </p:sp>
        <p:sp>
          <p:nvSpPr>
            <p:cNvPr id="59401" name="Text Box 12"/>
            <p:cNvSpPr txBox="1">
              <a:spLocks noChangeArrowheads="1"/>
            </p:cNvSpPr>
            <p:nvPr/>
          </p:nvSpPr>
          <p:spPr bwMode="auto">
            <a:xfrm>
              <a:off x="3981" y="1632"/>
              <a:ext cx="771" cy="384"/>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Sdept</a:t>
              </a:r>
              <a:endParaRPr kumimoji="0" lang="en-US" altLang="zh-CN" sz="2800" b="0" baseline="0"/>
            </a:p>
          </p:txBody>
        </p:sp>
        <p:sp>
          <p:nvSpPr>
            <p:cNvPr id="59402" name="Text Box 13"/>
            <p:cNvSpPr txBox="1">
              <a:spLocks noChangeArrowheads="1"/>
            </p:cNvSpPr>
            <p:nvPr/>
          </p:nvSpPr>
          <p:spPr bwMode="auto">
            <a:xfrm>
              <a:off x="3981" y="2528"/>
              <a:ext cx="771" cy="384"/>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Sloc</a:t>
              </a:r>
              <a:endParaRPr kumimoji="0" lang="en-US" altLang="zh-CN" sz="2800" b="0" baseline="0"/>
            </a:p>
          </p:txBody>
        </p:sp>
        <p:sp>
          <p:nvSpPr>
            <p:cNvPr id="59403" name="Line 14"/>
            <p:cNvSpPr>
              <a:spLocks noChangeShapeType="1"/>
            </p:cNvSpPr>
            <p:nvPr/>
          </p:nvSpPr>
          <p:spPr bwMode="auto">
            <a:xfrm flipH="1">
              <a:off x="2052" y="2272"/>
              <a:ext cx="386"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4" name="Line 15"/>
            <p:cNvSpPr>
              <a:spLocks noChangeShapeType="1"/>
            </p:cNvSpPr>
            <p:nvPr/>
          </p:nvSpPr>
          <p:spPr bwMode="auto">
            <a:xfrm>
              <a:off x="3338" y="1760"/>
              <a:ext cx="643"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5" name="Line 16"/>
            <p:cNvSpPr>
              <a:spLocks noChangeShapeType="1"/>
            </p:cNvSpPr>
            <p:nvPr/>
          </p:nvSpPr>
          <p:spPr bwMode="auto">
            <a:xfrm>
              <a:off x="3338" y="1760"/>
              <a:ext cx="643" cy="896"/>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6" name="Line 17"/>
            <p:cNvSpPr>
              <a:spLocks noChangeShapeType="1"/>
            </p:cNvSpPr>
            <p:nvPr/>
          </p:nvSpPr>
          <p:spPr bwMode="auto">
            <a:xfrm flipV="1">
              <a:off x="3595" y="1888"/>
              <a:ext cx="386" cy="640"/>
            </a:xfrm>
            <a:prstGeom prst="line">
              <a:avLst/>
            </a:prstGeom>
            <a:noFill/>
            <a:ln w="38100">
              <a:solidFill>
                <a:srgbClr val="000000"/>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7" name="Line 18"/>
            <p:cNvSpPr>
              <a:spLocks noChangeShapeType="1"/>
            </p:cNvSpPr>
            <p:nvPr/>
          </p:nvSpPr>
          <p:spPr bwMode="auto">
            <a:xfrm>
              <a:off x="3595" y="2528"/>
              <a:ext cx="386" cy="256"/>
            </a:xfrm>
            <a:prstGeom prst="line">
              <a:avLst/>
            </a:prstGeom>
            <a:noFill/>
            <a:ln w="38100" cap="rnd">
              <a:solidFill>
                <a:srgbClr val="000000"/>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8" name="Line 19"/>
            <p:cNvSpPr>
              <a:spLocks noChangeShapeType="1"/>
            </p:cNvSpPr>
            <p:nvPr/>
          </p:nvSpPr>
          <p:spPr bwMode="auto">
            <a:xfrm>
              <a:off x="4366" y="2016"/>
              <a:ext cx="0" cy="512"/>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9" name="Text Box 20"/>
            <p:cNvSpPr txBox="1">
              <a:spLocks noChangeArrowheads="1"/>
            </p:cNvSpPr>
            <p:nvPr/>
          </p:nvSpPr>
          <p:spPr bwMode="auto">
            <a:xfrm>
              <a:off x="1152" y="1248"/>
              <a:ext cx="77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just">
                <a:spcBef>
                  <a:spcPct val="0"/>
                </a:spcBef>
                <a:buClrTx/>
                <a:buSzTx/>
                <a:buFontTx/>
                <a:buNone/>
              </a:pPr>
              <a:r>
                <a:rPr kumimoji="0" lang="en-US" altLang="zh-CN" sz="2800" baseline="0" dirty="0"/>
                <a:t>SLC</a:t>
              </a:r>
              <a:endParaRPr kumimoji="0" lang="en-US" altLang="zh-CN" sz="2800" baseline="0" dirty="0"/>
            </a:p>
          </p:txBody>
        </p:sp>
      </p:grpSp>
      <p:sp>
        <p:nvSpPr>
          <p:cNvPr id="18" name="文本框 5"/>
          <p:cNvSpPr txBox="1"/>
          <p:nvPr/>
        </p:nvSpPr>
        <p:spPr>
          <a:xfrm>
            <a:off x="855702" y="3714758"/>
            <a:ext cx="7024680" cy="1015663"/>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zh-CN" altLang="en-US" sz="2000" b="1" dirty="0"/>
              <a:t>结论</a:t>
            </a:r>
            <a:r>
              <a:rPr lang="en-US" altLang="zh-CN" sz="2000" b="1" dirty="0"/>
              <a:t>: </a:t>
            </a:r>
            <a:endParaRPr lang="en-US" altLang="zh-CN" sz="2000" b="1" dirty="0"/>
          </a:p>
          <a:p>
            <a:pPr lvl="1">
              <a:defRPr/>
            </a:pPr>
            <a:r>
              <a:rPr lang="en-US" altLang="zh-CN" sz="2000" b="1" dirty="0"/>
              <a:t>1.SLC</a:t>
            </a:r>
            <a:r>
              <a:rPr lang="zh-CN" altLang="en-US" sz="2000" b="1" dirty="0"/>
              <a:t>满足第一范式。</a:t>
            </a:r>
            <a:endParaRPr lang="zh-CN" altLang="en-US" sz="2000" b="1" dirty="0"/>
          </a:p>
          <a:p>
            <a:pPr lvl="1">
              <a:defRPr/>
            </a:pPr>
            <a:r>
              <a:rPr lang="en-US" altLang="zh-CN" sz="2000" b="1" dirty="0"/>
              <a:t>2.</a:t>
            </a:r>
            <a:r>
              <a:rPr lang="zh-CN" altLang="en-US" sz="2000" b="1" dirty="0"/>
              <a:t>非主属性</a:t>
            </a:r>
            <a:r>
              <a:rPr lang="en-US" altLang="zh-CN" sz="2000" b="1" dirty="0" err="1"/>
              <a:t>Sdept</a:t>
            </a:r>
            <a:r>
              <a:rPr lang="zh-CN" altLang="en-US" sz="2000" b="1" dirty="0"/>
              <a:t>和</a:t>
            </a:r>
            <a:r>
              <a:rPr lang="en-US" altLang="zh-CN" sz="2000" b="1" dirty="0" err="1"/>
              <a:t>Sloc</a:t>
            </a:r>
            <a:r>
              <a:rPr lang="zh-CN" altLang="en-US" sz="2000" b="1" dirty="0"/>
              <a:t>部分函数依赖于码</a:t>
            </a:r>
            <a:r>
              <a:rPr lang="en-US" altLang="zh-CN" sz="2000" b="1" dirty="0"/>
              <a:t>(</a:t>
            </a:r>
            <a:r>
              <a:rPr lang="en-US" altLang="zh-CN" sz="2000" b="1" dirty="0" err="1"/>
              <a:t>Sno</a:t>
            </a:r>
            <a:r>
              <a:rPr lang="en-US" altLang="zh-CN" sz="2000" b="1" dirty="0"/>
              <a:t>, </a:t>
            </a:r>
            <a:r>
              <a:rPr lang="en-US" altLang="zh-CN" sz="2000" b="1" dirty="0" err="1"/>
              <a:t>Cno</a:t>
            </a:r>
            <a:r>
              <a:rPr lang="en-US" altLang="zh-CN" sz="2000" b="1" dirty="0"/>
              <a:t>)</a:t>
            </a:r>
            <a:r>
              <a:rPr lang="zh-CN" altLang="en-US" sz="2000" b="1" dirty="0"/>
              <a:t>。</a:t>
            </a:r>
            <a:endParaRPr lang="zh-CN" altLang="en-US" sz="2000" b="1" dirty="0"/>
          </a:p>
        </p:txBody>
      </p:sp>
      <p:sp>
        <p:nvSpPr>
          <p:cNvPr id="27" name="TextBox 26"/>
          <p:cNvSpPr txBox="1"/>
          <p:nvPr/>
        </p:nvSpPr>
        <p:spPr>
          <a:xfrm>
            <a:off x="6588224" y="823913"/>
            <a:ext cx="2483768" cy="1908215"/>
          </a:xfrm>
          <a:prstGeom prst="rect">
            <a:avLst/>
          </a:prstGeom>
          <a:solidFill>
            <a:schemeClr val="bg2">
              <a:lumMod val="40000"/>
              <a:lumOff val="60000"/>
            </a:schemeClr>
          </a:solidFill>
          <a:ln>
            <a:solidFill>
              <a:schemeClr val="bg2">
                <a:lumMod val="60000"/>
                <a:lumOff val="40000"/>
              </a:schemeClr>
            </a:solidFill>
          </a:ln>
        </p:spPr>
        <p:txBody>
          <a:bodyPr wrap="square" rtlCol="0">
            <a:spAutoFit/>
          </a:bodyPr>
          <a:lstStyle/>
          <a:p>
            <a:pPr marL="0" lvl="1">
              <a:spcAft>
                <a:spcPts val="300"/>
              </a:spcAft>
              <a:defRPr/>
            </a:pPr>
            <a:r>
              <a:rPr lang="en-US" altLang="zh-CN" dirty="0"/>
              <a:t>(</a:t>
            </a:r>
            <a:r>
              <a:rPr lang="en-US" altLang="zh-CN" dirty="0" err="1"/>
              <a:t>Sno</a:t>
            </a:r>
            <a:r>
              <a:rPr lang="en-US" altLang="zh-CN" dirty="0"/>
              <a:t>, </a:t>
            </a:r>
            <a:r>
              <a:rPr lang="en-US" altLang="zh-CN" dirty="0" err="1"/>
              <a:t>Cno</a:t>
            </a:r>
            <a:r>
              <a:rPr lang="en-US" altLang="zh-CN" dirty="0"/>
              <a:t>) →  Grade</a:t>
            </a:r>
            <a:endParaRPr lang="en-US" altLang="zh-CN" dirty="0"/>
          </a:p>
          <a:p>
            <a:pPr marL="0" lvl="1">
              <a:spcAft>
                <a:spcPts val="300"/>
              </a:spcAft>
              <a:defRPr/>
            </a:pPr>
            <a:r>
              <a:rPr lang="en-US" altLang="zh-CN" dirty="0" err="1"/>
              <a:t>Sno</a:t>
            </a:r>
            <a:r>
              <a:rPr lang="en-US" altLang="zh-CN" dirty="0"/>
              <a:t> → </a:t>
            </a:r>
            <a:r>
              <a:rPr lang="en-US" altLang="zh-CN" dirty="0" err="1"/>
              <a:t>Sdept</a:t>
            </a:r>
            <a:r>
              <a:rPr lang="en-US" altLang="zh-CN" dirty="0"/>
              <a:t>,</a:t>
            </a:r>
            <a:endParaRPr lang="en-US" altLang="zh-CN" dirty="0"/>
          </a:p>
          <a:p>
            <a:pPr marL="0" lvl="1">
              <a:spcAft>
                <a:spcPts val="300"/>
              </a:spcAft>
              <a:defRPr/>
            </a:pPr>
            <a:r>
              <a:rPr lang="en-US" altLang="zh-CN" dirty="0"/>
              <a:t>(</a:t>
            </a:r>
            <a:r>
              <a:rPr lang="en-US" altLang="zh-CN" dirty="0" err="1"/>
              <a:t>Sno</a:t>
            </a:r>
            <a:r>
              <a:rPr lang="en-US" altLang="zh-CN" dirty="0"/>
              <a:t>, </a:t>
            </a:r>
            <a:r>
              <a:rPr lang="en-US" altLang="zh-CN" dirty="0" err="1"/>
              <a:t>Cno</a:t>
            </a:r>
            <a:r>
              <a:rPr lang="en-US" altLang="zh-CN" dirty="0"/>
              <a:t>) →  </a:t>
            </a:r>
            <a:r>
              <a:rPr lang="en-US" altLang="zh-CN" dirty="0" err="1"/>
              <a:t>Sdept</a:t>
            </a:r>
            <a:endParaRPr lang="en-US" altLang="zh-CN" dirty="0"/>
          </a:p>
          <a:p>
            <a:pPr marL="0" lvl="1">
              <a:spcAft>
                <a:spcPts val="300"/>
              </a:spcAft>
              <a:defRPr/>
            </a:pPr>
            <a:r>
              <a:rPr lang="en-US" altLang="zh-CN" dirty="0" err="1"/>
              <a:t>Sno</a:t>
            </a:r>
            <a:r>
              <a:rPr lang="en-US" altLang="zh-CN" dirty="0"/>
              <a:t> → </a:t>
            </a:r>
            <a:r>
              <a:rPr lang="en-US" altLang="zh-CN" dirty="0" err="1"/>
              <a:t>Sloc</a:t>
            </a:r>
            <a:endParaRPr lang="en-US" altLang="zh-CN" dirty="0"/>
          </a:p>
          <a:p>
            <a:pPr marL="0" lvl="1">
              <a:spcAft>
                <a:spcPts val="300"/>
              </a:spcAft>
              <a:defRPr/>
            </a:pPr>
            <a:r>
              <a:rPr lang="en-US" altLang="zh-CN" dirty="0"/>
              <a:t>(</a:t>
            </a:r>
            <a:r>
              <a:rPr lang="en-US" altLang="zh-CN" dirty="0" err="1"/>
              <a:t>Sno</a:t>
            </a:r>
            <a:r>
              <a:rPr lang="en-US" altLang="zh-CN" dirty="0"/>
              <a:t>, </a:t>
            </a:r>
            <a:r>
              <a:rPr lang="en-US" altLang="zh-CN" dirty="0" err="1"/>
              <a:t>Cno</a:t>
            </a:r>
            <a:r>
              <a:rPr lang="en-US" altLang="zh-CN" dirty="0"/>
              <a:t>) → </a:t>
            </a:r>
            <a:r>
              <a:rPr lang="en-US" altLang="zh-CN" dirty="0" err="1"/>
              <a:t>Sloc</a:t>
            </a:r>
            <a:br>
              <a:rPr lang="en-US" altLang="zh-CN" dirty="0"/>
            </a:br>
            <a:r>
              <a:rPr lang="en-US" altLang="zh-CN" dirty="0" err="1"/>
              <a:t>Sdept</a:t>
            </a:r>
            <a:r>
              <a:rPr lang="en-US" altLang="zh-CN" dirty="0"/>
              <a:t> → </a:t>
            </a:r>
            <a:r>
              <a:rPr lang="en-US" altLang="zh-CN" dirty="0" err="1"/>
              <a:t>Sloc</a:t>
            </a:r>
            <a:endParaRPr lang="en-US" altLang="zh-CN" dirty="0"/>
          </a:p>
        </p:txBody>
      </p:sp>
      <p:sp>
        <p:nvSpPr>
          <p:cNvPr id="28" name="文本框 8"/>
          <p:cNvSpPr txBox="1">
            <a:spLocks noChangeArrowheads="1"/>
          </p:cNvSpPr>
          <p:nvPr/>
        </p:nvSpPr>
        <p:spPr bwMode="auto">
          <a:xfrm>
            <a:off x="7776542" y="2000246"/>
            <a:ext cx="323850" cy="307777"/>
          </a:xfrm>
          <a:prstGeom prst="rect">
            <a:avLst/>
          </a:prstGeom>
          <a:noFill/>
          <a:ln w="9525">
            <a:noFill/>
            <a:miter lim="800000"/>
          </a:ln>
        </p:spPr>
        <p:txBody>
          <a:bodyPr>
            <a:spAutoFit/>
          </a:bodyPr>
          <a:lstStyle/>
          <a:p>
            <a:r>
              <a:rPr lang="en-US" altLang="zh-CN" sz="1400" i="1" dirty="0"/>
              <a:t>P</a:t>
            </a:r>
            <a:endParaRPr lang="zh-CN" altLang="en-US" sz="1400" i="1" dirty="0"/>
          </a:p>
        </p:txBody>
      </p:sp>
      <p:sp>
        <p:nvSpPr>
          <p:cNvPr id="29" name="文本框 9"/>
          <p:cNvSpPr txBox="1">
            <a:spLocks noChangeArrowheads="1"/>
          </p:cNvSpPr>
          <p:nvPr/>
        </p:nvSpPr>
        <p:spPr bwMode="auto">
          <a:xfrm>
            <a:off x="7820050" y="1428742"/>
            <a:ext cx="323850" cy="307777"/>
          </a:xfrm>
          <a:prstGeom prst="rect">
            <a:avLst/>
          </a:prstGeom>
          <a:noFill/>
          <a:ln w="9525">
            <a:noFill/>
            <a:miter lim="800000"/>
          </a:ln>
        </p:spPr>
        <p:txBody>
          <a:bodyPr>
            <a:spAutoFit/>
          </a:bodyPr>
          <a:lstStyle/>
          <a:p>
            <a:r>
              <a:rPr lang="en-US" altLang="zh-CN" sz="1400" i="1" dirty="0"/>
              <a:t>P</a:t>
            </a:r>
            <a:endParaRPr lang="zh-CN" altLang="en-US" sz="1400" i="1" dirty="0"/>
          </a:p>
        </p:txBody>
      </p:sp>
      <p:sp>
        <p:nvSpPr>
          <p:cNvPr id="31" name="文本框 10"/>
          <p:cNvSpPr txBox="1">
            <a:spLocks noChangeArrowheads="1"/>
          </p:cNvSpPr>
          <p:nvPr/>
        </p:nvSpPr>
        <p:spPr bwMode="auto">
          <a:xfrm>
            <a:off x="7786710" y="785800"/>
            <a:ext cx="323850" cy="307777"/>
          </a:xfrm>
          <a:prstGeom prst="rect">
            <a:avLst/>
          </a:prstGeom>
          <a:noFill/>
          <a:ln w="9525">
            <a:noFill/>
            <a:miter lim="800000"/>
          </a:ln>
        </p:spPr>
        <p:txBody>
          <a:bodyPr>
            <a:spAutoFit/>
          </a:bodyPr>
          <a:lstStyle/>
          <a:p>
            <a:r>
              <a:rPr lang="en-US" altLang="zh-CN" sz="1400" i="1" dirty="0"/>
              <a:t>F</a:t>
            </a:r>
            <a:endParaRPr lang="zh-CN" altLang="en-US" sz="1400" i="1" dirty="0"/>
          </a:p>
        </p:txBody>
      </p:sp>
    </p:spTree>
    <p:custDataLst>
      <p:tags r:id="rId1"/>
    </p:custData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zh-CN" altLang="en-US" dirty="0"/>
              <a:t>第一范式（续）</a:t>
            </a:r>
            <a:endParaRPr lang="zh-CN" altLang="en-US" dirty="0"/>
          </a:p>
        </p:txBody>
      </p:sp>
      <p:sp>
        <p:nvSpPr>
          <p:cNvPr id="17411" name="Rectangle 3"/>
          <p:cNvSpPr>
            <a:spLocks noGrp="1" noChangeArrowheads="1"/>
          </p:cNvSpPr>
          <p:nvPr>
            <p:ph idx="1"/>
          </p:nvPr>
        </p:nvSpPr>
        <p:spPr>
          <a:xfrm>
            <a:off x="285720" y="592930"/>
            <a:ext cx="8401080" cy="1835944"/>
          </a:xfrm>
        </p:spPr>
        <p:txBody>
          <a:bodyPr/>
          <a:lstStyle/>
          <a:p>
            <a:r>
              <a:rPr lang="en-US" altLang="zh-CN" dirty="0"/>
              <a:t>SLC</a:t>
            </a:r>
            <a:r>
              <a:rPr lang="zh-CN" altLang="en-US" dirty="0"/>
              <a:t>存在的问题</a:t>
            </a:r>
            <a:endParaRPr lang="zh-CN" altLang="en-US" dirty="0"/>
          </a:p>
          <a:p>
            <a:pPr lvl="1">
              <a:buNone/>
            </a:pPr>
            <a:r>
              <a:rPr lang="en-US" altLang="zh-CN" dirty="0"/>
              <a:t>(1) </a:t>
            </a:r>
            <a:r>
              <a:rPr lang="zh-CN" altLang="en-US" dirty="0"/>
              <a:t>插入异常</a:t>
            </a:r>
            <a:endParaRPr lang="zh-CN" altLang="en-US" dirty="0"/>
          </a:p>
          <a:p>
            <a:pPr lvl="1">
              <a:buNone/>
            </a:pPr>
            <a:r>
              <a:rPr lang="zh-CN" altLang="en-US" sz="2000" dirty="0"/>
              <a:t>假设</a:t>
            </a:r>
            <a:r>
              <a:rPr lang="en-US" altLang="zh-CN" sz="2000" dirty="0" err="1"/>
              <a:t>Sno</a:t>
            </a:r>
            <a:r>
              <a:rPr lang="zh-CN" altLang="en-US" sz="2000" dirty="0"/>
              <a:t>＝</a:t>
            </a:r>
            <a:r>
              <a:rPr lang="en-US" altLang="zh-CN" sz="2000" dirty="0"/>
              <a:t>2014102</a:t>
            </a:r>
            <a:r>
              <a:rPr lang="zh-CN" altLang="en-US" sz="2000" dirty="0"/>
              <a:t>，</a:t>
            </a:r>
            <a:r>
              <a:rPr lang="en-US" altLang="zh-CN" sz="2000" dirty="0" err="1"/>
              <a:t>Sdept</a:t>
            </a:r>
            <a:r>
              <a:rPr lang="zh-CN" altLang="en-US" sz="2000" dirty="0"/>
              <a:t>＝</a:t>
            </a:r>
            <a:r>
              <a:rPr lang="en-US" altLang="zh-CN" sz="2000" dirty="0"/>
              <a:t>IS</a:t>
            </a:r>
            <a:r>
              <a:rPr lang="zh-CN" altLang="en-US" sz="2000" dirty="0"/>
              <a:t>，</a:t>
            </a:r>
            <a:r>
              <a:rPr lang="en-US" altLang="zh-CN" sz="2000" dirty="0" err="1"/>
              <a:t>Sloc</a:t>
            </a:r>
            <a:r>
              <a:rPr lang="zh-CN" altLang="en-US" sz="2000" dirty="0"/>
              <a:t>＝</a:t>
            </a:r>
            <a:r>
              <a:rPr lang="en-US" altLang="zh-CN" sz="2000" dirty="0"/>
              <a:t>N</a:t>
            </a:r>
            <a:r>
              <a:rPr lang="zh-CN" altLang="en-US" sz="2000" dirty="0"/>
              <a:t>的学生还未选课，因课程</a:t>
            </a:r>
            <a:endParaRPr lang="en-US" altLang="zh-CN" sz="2000" dirty="0"/>
          </a:p>
          <a:p>
            <a:pPr lvl="1">
              <a:buNone/>
            </a:pPr>
            <a:r>
              <a:rPr lang="zh-CN" altLang="en-US" sz="2000" dirty="0"/>
              <a:t>号是主属性，因此该学生的信息无法插入</a:t>
            </a:r>
            <a:r>
              <a:rPr lang="en-US" altLang="zh-CN" sz="2000" dirty="0"/>
              <a:t>SLC</a:t>
            </a:r>
            <a:r>
              <a:rPr lang="zh-CN" altLang="en-US" sz="2000" dirty="0"/>
              <a:t>。 </a:t>
            </a:r>
            <a:endParaRPr lang="zh-CN" altLang="en-US" sz="2000" dirty="0"/>
          </a:p>
        </p:txBody>
      </p:sp>
      <p:graphicFrame>
        <p:nvGraphicFramePr>
          <p:cNvPr id="4" name="表格 3"/>
          <p:cNvGraphicFramePr>
            <a:graphicFrameLocks noGrp="1"/>
          </p:cNvGraphicFramePr>
          <p:nvPr/>
        </p:nvGraphicFramePr>
        <p:xfrm>
          <a:off x="1571604" y="2285998"/>
          <a:ext cx="5662635" cy="2255520"/>
        </p:xfrm>
        <a:graphic>
          <a:graphicData uri="http://schemas.openxmlformats.org/drawingml/2006/table">
            <a:tbl>
              <a:tblPr firstRow="1" bandRow="1">
                <a:tableStyleId>{72833802-FEF1-4C79-8D5D-14CF1EAF98D9}</a:tableStyleId>
              </a:tblPr>
              <a:tblGrid>
                <a:gridCol w="1132527"/>
                <a:gridCol w="1132527"/>
                <a:gridCol w="1132527"/>
                <a:gridCol w="1132527"/>
                <a:gridCol w="1132527"/>
              </a:tblGrid>
              <a:tr h="27813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pPr algn="ctr"/>
                      <a:r>
                        <a:rPr lang="en-US" altLang="zh-CN" sz="1400" dirty="0"/>
                        <a:t>2014101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89</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pPr algn="ctr"/>
                      <a:r>
                        <a:rPr lang="en-US" altLang="zh-CN" sz="1400" dirty="0"/>
                        <a:t>2014101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97</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pPr algn="ctr"/>
                      <a:r>
                        <a:rPr lang="en-US" altLang="zh-CN" sz="1400" dirty="0"/>
                        <a:t>2014101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5</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88</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pPr algn="ctr"/>
                      <a:r>
                        <a:rPr lang="en-US" altLang="zh-CN" sz="1400" dirty="0"/>
                        <a:t>2014103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pPr algn="ctr"/>
                      <a:r>
                        <a:rPr lang="en-US" altLang="zh-CN" sz="1400" dirty="0"/>
                        <a:t>2014103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92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pPr algn="ctr"/>
                      <a:r>
                        <a:rPr lang="en-US" altLang="zh-CN" sz="1400" dirty="0"/>
                        <a:t>2014104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79</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文本框 1"/>
          <p:cNvSpPr txBox="1">
            <a:spLocks noChangeArrowheads="1"/>
          </p:cNvSpPr>
          <p:nvPr/>
        </p:nvSpPr>
        <p:spPr bwMode="auto">
          <a:xfrm>
            <a:off x="1571604" y="4227934"/>
            <a:ext cx="5643602" cy="369332"/>
          </a:xfrm>
          <a:prstGeom prst="rect">
            <a:avLst/>
          </a:prstGeom>
          <a:noFill/>
          <a:ln w="9525">
            <a:noFill/>
            <a:miter lim="800000"/>
          </a:ln>
        </p:spPr>
        <p:txBody>
          <a:bodyPr wrap="square">
            <a:spAutoFit/>
          </a:bodyPr>
          <a:lstStyle/>
          <a:p>
            <a:r>
              <a:rPr lang="en-US" altLang="zh-CN" dirty="0">
                <a:solidFill>
                  <a:srgbClr val="FF0000"/>
                </a:solidFill>
              </a:rPr>
              <a:t>2014102        IS               N               null          </a:t>
            </a:r>
            <a:r>
              <a:rPr lang="en-US" altLang="zh-CN" dirty="0" err="1">
                <a:solidFill>
                  <a:srgbClr val="FF0000"/>
                </a:solidFill>
              </a:rPr>
              <a:t>null</a:t>
            </a:r>
            <a:r>
              <a:rPr lang="en-US" altLang="zh-CN" dirty="0">
                <a:solidFill>
                  <a:srgbClr val="FF0000"/>
                </a:solidFill>
              </a:rPr>
              <a:t>   </a:t>
            </a:r>
            <a:endParaRPr lang="zh-CN" altLang="en-US" dirty="0">
              <a:solidFill>
                <a:srgbClr val="FF0000"/>
              </a:solidFill>
            </a:endParaRPr>
          </a:p>
        </p:txBody>
      </p:sp>
      <p:sp>
        <p:nvSpPr>
          <p:cNvPr id="3" name="椭圆 2"/>
          <p:cNvSpPr>
            <a:spLocks noChangeArrowheads="1"/>
          </p:cNvSpPr>
          <p:nvPr/>
        </p:nvSpPr>
        <p:spPr bwMode="auto">
          <a:xfrm>
            <a:off x="5214942" y="4227934"/>
            <a:ext cx="719138" cy="329804"/>
          </a:xfrm>
          <a:prstGeom prst="ellipse">
            <a:avLst/>
          </a:prstGeom>
          <a:noFill/>
          <a:ln w="19050" algn="ctr">
            <a:solidFill>
              <a:srgbClr val="002060"/>
            </a:solidFill>
            <a:round/>
          </a:ln>
        </p:spPr>
        <p:txBody>
          <a:bodyPr/>
          <a:lstStyle/>
          <a:p>
            <a:pPr eaLnBrk="1" hangingPunct="1">
              <a:buFont typeface="Arial" panose="020B0604020202020204" pitchFamily="34" charset="0"/>
              <a:buNone/>
            </a:pPr>
            <a:endParaRPr lang="zh-CN" altLang="en-US"/>
          </a:p>
        </p:txBody>
      </p:sp>
      <p:pic>
        <p:nvPicPr>
          <p:cNvPr id="5" name="图片 4"/>
          <p:cNvPicPr>
            <a:picLocks noChangeAspect="1"/>
          </p:cNvPicPr>
          <p:nvPr/>
        </p:nvPicPr>
        <p:blipFill>
          <a:blip r:embed="rId1" cstate="print"/>
          <a:srcRect/>
          <a:stretch>
            <a:fillRect/>
          </a:stretch>
        </p:blipFill>
        <p:spPr bwMode="auto">
          <a:xfrm>
            <a:off x="6858016" y="3873119"/>
            <a:ext cx="1504950" cy="1056085"/>
          </a:xfrm>
          <a:prstGeom prst="rect">
            <a:avLst/>
          </a:prstGeom>
          <a:noFill/>
          <a:ln w="9525">
            <a:noFill/>
            <a:miter lim="800000"/>
            <a:headEnd/>
            <a:tailEnd/>
          </a:ln>
        </p:spPr>
      </p:pic>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1000"/>
                                        <p:tgtEl>
                                          <p:spTgt spid="3"/>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a:t>第一范式（续）</a:t>
            </a:r>
            <a:endParaRPr lang="zh-CN" altLang="en-US"/>
          </a:p>
        </p:txBody>
      </p:sp>
      <p:sp>
        <p:nvSpPr>
          <p:cNvPr id="18435" name="Rectangle 3"/>
          <p:cNvSpPr>
            <a:spLocks noGrp="1" noChangeArrowheads="1"/>
          </p:cNvSpPr>
          <p:nvPr>
            <p:ph idx="1"/>
          </p:nvPr>
        </p:nvSpPr>
        <p:spPr>
          <a:xfrm>
            <a:off x="214282" y="642924"/>
            <a:ext cx="8686800" cy="1403747"/>
          </a:xfrm>
        </p:spPr>
        <p:txBody>
          <a:bodyPr/>
          <a:lstStyle/>
          <a:p>
            <a:r>
              <a:rPr lang="en-US" altLang="zh-CN" sz="2400" dirty="0"/>
              <a:t>SLC</a:t>
            </a:r>
            <a:r>
              <a:rPr lang="zh-CN" altLang="en-US" sz="2400" dirty="0"/>
              <a:t>存在的问题</a:t>
            </a:r>
            <a:endParaRPr lang="zh-CN" altLang="en-US" sz="2400" dirty="0"/>
          </a:p>
          <a:p>
            <a:pPr lvl="1">
              <a:buNone/>
            </a:pPr>
            <a:r>
              <a:rPr lang="en-US" altLang="zh-CN" sz="2000" dirty="0"/>
              <a:t>(2) </a:t>
            </a:r>
            <a:r>
              <a:rPr lang="zh-CN" altLang="en-US" sz="2000" dirty="0"/>
              <a:t>删除异常</a:t>
            </a:r>
            <a:endParaRPr lang="zh-CN" altLang="en-US" sz="2000" dirty="0"/>
          </a:p>
          <a:p>
            <a:pPr lvl="1">
              <a:buNone/>
            </a:pPr>
            <a:r>
              <a:rPr lang="zh-CN" altLang="en-US" sz="2000" dirty="0"/>
              <a:t> 假定</a:t>
            </a:r>
            <a:r>
              <a:rPr lang="en-US" altLang="zh-CN" sz="2000" dirty="0"/>
              <a:t>2014104</a:t>
            </a:r>
            <a:r>
              <a:rPr lang="zh-CN" altLang="en-US" sz="2000" dirty="0"/>
              <a:t>学生只选修了</a:t>
            </a:r>
            <a:r>
              <a:rPr lang="en-US" altLang="zh-CN" sz="2000" dirty="0"/>
              <a:t>3</a:t>
            </a:r>
            <a:r>
              <a:rPr lang="zh-CN" altLang="en-US" sz="2000" dirty="0"/>
              <a:t>号课程这一门课。现在因身体不适，他连</a:t>
            </a:r>
            <a:r>
              <a:rPr lang="en-US" altLang="zh-CN" sz="2000" dirty="0"/>
              <a:t>3</a:t>
            </a:r>
            <a:endParaRPr lang="en-US" altLang="zh-CN" sz="2000" dirty="0"/>
          </a:p>
          <a:p>
            <a:pPr lvl="1">
              <a:buNone/>
            </a:pPr>
            <a:r>
              <a:rPr lang="zh-CN" altLang="en-US" sz="2000" dirty="0"/>
              <a:t>号课程也不选修了。因课程号是主属性，此操作将导致该学生信息的整</a:t>
            </a:r>
            <a:endParaRPr lang="en-US" altLang="zh-CN" sz="2000" dirty="0"/>
          </a:p>
          <a:p>
            <a:pPr lvl="1">
              <a:buNone/>
            </a:pPr>
            <a:r>
              <a:rPr lang="zh-CN" altLang="en-US" sz="2000" dirty="0"/>
              <a:t>个元组都要删除。</a:t>
            </a:r>
            <a:endParaRPr lang="zh-CN" altLang="en-US" sz="2000" dirty="0"/>
          </a:p>
        </p:txBody>
      </p:sp>
      <p:graphicFrame>
        <p:nvGraphicFramePr>
          <p:cNvPr id="4" name="表格 3"/>
          <p:cNvGraphicFramePr>
            <a:graphicFrameLocks noGrp="1"/>
          </p:cNvGraphicFramePr>
          <p:nvPr/>
        </p:nvGraphicFramePr>
        <p:xfrm>
          <a:off x="1643042" y="2530808"/>
          <a:ext cx="5465885" cy="2255520"/>
        </p:xfrm>
        <a:graphic>
          <a:graphicData uri="http://schemas.openxmlformats.org/drawingml/2006/table">
            <a:tbl>
              <a:tblPr firstRow="1" bandRow="1">
                <a:tableStyleId>{72833802-FEF1-4C79-8D5D-14CF1EAF98D9}</a:tableStyleId>
              </a:tblPr>
              <a:tblGrid>
                <a:gridCol w="1093177"/>
                <a:gridCol w="1093177"/>
                <a:gridCol w="1093177"/>
                <a:gridCol w="1093177"/>
                <a:gridCol w="1093177"/>
              </a:tblGrid>
              <a:tr h="27813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pPr algn="ctr"/>
                      <a:r>
                        <a:rPr lang="en-US" altLang="zh-CN" sz="1400" dirty="0"/>
                        <a:t>2014101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89</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pPr algn="ctr"/>
                      <a:r>
                        <a:rPr lang="en-US" altLang="zh-CN" sz="1400" dirty="0"/>
                        <a:t>2014101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97</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pPr algn="ctr"/>
                      <a:r>
                        <a:rPr lang="en-US" altLang="zh-CN" sz="1400" dirty="0"/>
                        <a:t>2014101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5</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88</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pPr algn="ctr"/>
                      <a:r>
                        <a:rPr lang="en-US" altLang="zh-CN" sz="1400" dirty="0"/>
                        <a:t>2014103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pPr algn="ctr"/>
                      <a:r>
                        <a:rPr lang="en-US" altLang="zh-CN" sz="1400" dirty="0"/>
                        <a:t>2014103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92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pPr algn="ctr"/>
                      <a:r>
                        <a:rPr lang="en-US" altLang="zh-CN" sz="1400" dirty="0"/>
                        <a:t>2014104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79</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813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cxnSp>
        <p:nvCxnSpPr>
          <p:cNvPr id="3" name="直接连接符 2"/>
          <p:cNvCxnSpPr>
            <a:cxnSpLocks noChangeShapeType="1"/>
          </p:cNvCxnSpPr>
          <p:nvPr/>
        </p:nvCxnSpPr>
        <p:spPr bwMode="auto">
          <a:xfrm>
            <a:off x="1403351" y="4341521"/>
            <a:ext cx="6048375" cy="0"/>
          </a:xfrm>
          <a:prstGeom prst="line">
            <a:avLst/>
          </a:prstGeom>
          <a:noFill/>
          <a:ln w="19050" algn="ctr">
            <a:solidFill>
              <a:srgbClr val="FF0000"/>
            </a:solidFill>
            <a:round/>
          </a:ln>
        </p:spPr>
      </p:cxnSp>
      <p:pic>
        <p:nvPicPr>
          <p:cNvPr id="5" name="图片 4"/>
          <p:cNvPicPr>
            <a:picLocks noChangeAspect="1"/>
          </p:cNvPicPr>
          <p:nvPr/>
        </p:nvPicPr>
        <p:blipFill>
          <a:blip r:embed="rId1" cstate="print"/>
          <a:srcRect/>
          <a:stretch>
            <a:fillRect/>
          </a:stretch>
        </p:blipFill>
        <p:spPr bwMode="auto">
          <a:xfrm>
            <a:off x="1585931" y="4286262"/>
            <a:ext cx="5629275" cy="203597"/>
          </a:xfrm>
          <a:prstGeom prst="rect">
            <a:avLst/>
          </a:prstGeom>
          <a:noFill/>
          <a:ln w="9525">
            <a:noFill/>
            <a:miter lim="800000"/>
            <a:headEnd/>
            <a:tailEnd/>
          </a:ln>
        </p:spPr>
      </p:pic>
      <p:sp>
        <p:nvSpPr>
          <p:cNvPr id="8" name="椭圆 7"/>
          <p:cNvSpPr/>
          <p:nvPr/>
        </p:nvSpPr>
        <p:spPr bwMode="auto">
          <a:xfrm>
            <a:off x="1619672" y="4286262"/>
            <a:ext cx="1127150" cy="203597"/>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椭圆 8"/>
          <p:cNvSpPr/>
          <p:nvPr/>
        </p:nvSpPr>
        <p:spPr bwMode="auto">
          <a:xfrm>
            <a:off x="4945048" y="4296979"/>
            <a:ext cx="1127150" cy="203597"/>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nodeType="clickEffect">
                                  <p:stCondLst>
                                    <p:cond delay="0"/>
                                  </p:stCondLst>
                                  <p:childTnLst>
                                    <p:animEffect transition="out" filter="wipe(left)">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dirty="0"/>
              <a:t>第一范式（续）</a:t>
            </a:r>
            <a:endParaRPr lang="zh-CN" altLang="en-US" dirty="0"/>
          </a:p>
        </p:txBody>
      </p:sp>
      <p:sp>
        <p:nvSpPr>
          <p:cNvPr id="19459" name="Rectangle 3"/>
          <p:cNvSpPr>
            <a:spLocks noGrp="1" noChangeArrowheads="1"/>
          </p:cNvSpPr>
          <p:nvPr>
            <p:ph idx="1"/>
          </p:nvPr>
        </p:nvSpPr>
        <p:spPr>
          <a:xfrm>
            <a:off x="285720" y="735806"/>
            <a:ext cx="8643998" cy="1296591"/>
          </a:xfrm>
        </p:spPr>
        <p:txBody>
          <a:bodyPr/>
          <a:lstStyle/>
          <a:p>
            <a:r>
              <a:rPr lang="en-US" altLang="zh-CN" sz="2400" dirty="0"/>
              <a:t>SLC</a:t>
            </a:r>
            <a:r>
              <a:rPr lang="zh-CN" altLang="en-US" sz="2400" dirty="0"/>
              <a:t>存在的问题</a:t>
            </a:r>
            <a:endParaRPr lang="zh-CN" altLang="en-US" sz="2400" dirty="0"/>
          </a:p>
          <a:p>
            <a:pPr lvl="1">
              <a:buNone/>
            </a:pPr>
            <a:r>
              <a:rPr lang="en-US" altLang="zh-CN" sz="2000" dirty="0"/>
              <a:t>(3) </a:t>
            </a:r>
            <a:r>
              <a:rPr lang="zh-CN" altLang="en-US" sz="2000" dirty="0"/>
              <a:t>数据冗余度大</a:t>
            </a:r>
            <a:endParaRPr lang="zh-CN" altLang="en-US" sz="2000" dirty="0"/>
          </a:p>
          <a:p>
            <a:pPr lvl="1">
              <a:buNone/>
            </a:pPr>
            <a:r>
              <a:rPr lang="zh-CN" altLang="en-US" sz="1800" dirty="0"/>
              <a:t>如果一个学生选修了</a:t>
            </a:r>
            <a:r>
              <a:rPr lang="en-US" altLang="zh-CN" sz="1800" dirty="0"/>
              <a:t>8</a:t>
            </a:r>
            <a:r>
              <a:rPr lang="zh-CN" altLang="en-US" sz="1800" dirty="0"/>
              <a:t>门课程，那么他的</a:t>
            </a:r>
            <a:r>
              <a:rPr lang="en-US" altLang="zh-CN" sz="1800" dirty="0" err="1"/>
              <a:t>Sdept</a:t>
            </a:r>
            <a:r>
              <a:rPr lang="zh-CN" altLang="en-US" sz="1800" dirty="0"/>
              <a:t>和</a:t>
            </a:r>
            <a:r>
              <a:rPr lang="en-US" altLang="zh-CN" sz="1800" dirty="0" err="1"/>
              <a:t>Sloc</a:t>
            </a:r>
            <a:r>
              <a:rPr lang="zh-CN" altLang="en-US" sz="1800" dirty="0"/>
              <a:t>值就要重复存储了</a:t>
            </a:r>
            <a:r>
              <a:rPr lang="en-US" altLang="zh-CN" sz="1800" dirty="0"/>
              <a:t>8</a:t>
            </a:r>
            <a:r>
              <a:rPr lang="zh-CN" altLang="en-US" sz="1800" dirty="0"/>
              <a:t>次。 </a:t>
            </a:r>
            <a:endParaRPr lang="zh-CN" altLang="en-US" sz="1800" dirty="0"/>
          </a:p>
        </p:txBody>
      </p:sp>
      <p:graphicFrame>
        <p:nvGraphicFramePr>
          <p:cNvPr id="4" name="表格 3"/>
          <p:cNvGraphicFramePr>
            <a:graphicFrameLocks noGrp="1"/>
          </p:cNvGraphicFramePr>
          <p:nvPr/>
        </p:nvGraphicFramePr>
        <p:xfrm>
          <a:off x="1703389" y="1924050"/>
          <a:ext cx="5465885" cy="2880360"/>
        </p:xfrm>
        <a:graphic>
          <a:graphicData uri="http://schemas.openxmlformats.org/drawingml/2006/table">
            <a:tbl>
              <a:tblPr firstRow="1" bandRow="1">
                <a:tableStyleId>{72833802-FEF1-4C79-8D5D-14CF1EAF98D9}</a:tableStyleId>
              </a:tblPr>
              <a:tblGrid>
                <a:gridCol w="1093177"/>
                <a:gridCol w="1093177"/>
                <a:gridCol w="1093177"/>
                <a:gridCol w="1093177"/>
                <a:gridCol w="1093177"/>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65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a:t>75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5" name="表格 4"/>
          <p:cNvGraphicFramePr>
            <a:graphicFrameLocks noGrp="1"/>
          </p:cNvGraphicFramePr>
          <p:nvPr/>
        </p:nvGraphicFramePr>
        <p:xfrm>
          <a:off x="1703389" y="1924050"/>
          <a:ext cx="5465885" cy="2880360"/>
        </p:xfrm>
        <a:graphic>
          <a:graphicData uri="http://schemas.openxmlformats.org/drawingml/2006/table">
            <a:tbl>
              <a:tblPr firstRow="1" bandRow="1">
                <a:tableStyleId>{72833802-FEF1-4C79-8D5D-14CF1EAF98D9}</a:tableStyleId>
              </a:tblPr>
              <a:tblGrid>
                <a:gridCol w="1093177"/>
                <a:gridCol w="1093177"/>
                <a:gridCol w="1093177"/>
                <a:gridCol w="1093177"/>
                <a:gridCol w="1093177"/>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solidFill>
                            <a:srgbClr val="FF0000"/>
                          </a:solidFill>
                        </a:rPr>
                        <a:t>2014101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IS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N</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3</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89</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solidFill>
                            <a:srgbClr val="FF0000"/>
                          </a:solidFill>
                        </a:rPr>
                        <a:t>2014101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IS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N</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2</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97</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solidFill>
                            <a:srgbClr val="FF0000"/>
                          </a:solidFill>
                        </a:rPr>
                        <a:t>2014101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IS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N</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5</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88</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solidFill>
                            <a:srgbClr val="FF0000"/>
                          </a:solidFill>
                        </a:rPr>
                        <a:t>2014101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IS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N</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72</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solidFill>
                            <a:srgbClr val="FF0000"/>
                          </a:solidFill>
                        </a:rPr>
                        <a:t>2014101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IS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N</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4</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65</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solidFill>
                            <a:srgbClr val="FF0000"/>
                          </a:solidFill>
                        </a:rPr>
                        <a:t>2014101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IS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N</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6</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99</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solidFill>
                            <a:srgbClr val="FF0000"/>
                          </a:solidFill>
                        </a:rPr>
                        <a:t>2014101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IS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N</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7</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83</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solidFill>
                            <a:srgbClr val="FF0000"/>
                          </a:solidFill>
                        </a:rPr>
                        <a:t>2014101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IS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N</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8</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75</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noChangeArrowheads="1"/>
          </p:cNvSpPr>
          <p:nvPr>
            <p:ph type="title"/>
          </p:nvPr>
        </p:nvSpPr>
        <p:spPr/>
        <p:txBody>
          <a:bodyPr/>
          <a:lstStyle/>
          <a:p>
            <a:r>
              <a:rPr lang="zh-CN" altLang="en-US" sz="3600" dirty="0"/>
              <a:t>第一范式（续）</a:t>
            </a:r>
            <a:endParaRPr lang="zh-CN" altLang="en-US" sz="3600" dirty="0"/>
          </a:p>
        </p:txBody>
      </p:sp>
      <p:sp>
        <p:nvSpPr>
          <p:cNvPr id="62467" name="Rectangle 1027"/>
          <p:cNvSpPr>
            <a:spLocks noGrp="1" noChangeArrowheads="1"/>
          </p:cNvSpPr>
          <p:nvPr>
            <p:ph idx="1"/>
          </p:nvPr>
        </p:nvSpPr>
        <p:spPr>
          <a:xfrm>
            <a:off x="357158" y="571486"/>
            <a:ext cx="8686800" cy="1081088"/>
          </a:xfrm>
        </p:spPr>
        <p:txBody>
          <a:bodyPr/>
          <a:lstStyle/>
          <a:p>
            <a:pPr>
              <a:buNone/>
              <a:defRPr/>
            </a:pPr>
            <a:r>
              <a:rPr lang="en-US" altLang="zh-CN" sz="2400" dirty="0"/>
              <a:t>(4) </a:t>
            </a:r>
            <a:r>
              <a:rPr lang="zh-CN" altLang="en-US" sz="2400" dirty="0"/>
              <a:t>修改复杂</a:t>
            </a:r>
            <a:endParaRPr lang="en-US" altLang="zh-CN" sz="2400" dirty="0"/>
          </a:p>
          <a:p>
            <a:pPr>
              <a:buNone/>
              <a:defRPr/>
            </a:pPr>
            <a:r>
              <a:rPr lang="zh-CN" altLang="en-US" sz="1800" dirty="0"/>
              <a:t>例如学生转系，在修改此学生元组的</a:t>
            </a:r>
            <a:r>
              <a:rPr lang="en-US" altLang="zh-CN" sz="1800" dirty="0" err="1"/>
              <a:t>Sdept</a:t>
            </a:r>
            <a:r>
              <a:rPr lang="zh-CN" altLang="en-US" sz="1800" dirty="0"/>
              <a:t>值的同时，还可能需要修改住处（</a:t>
            </a:r>
            <a:endParaRPr lang="en-US" altLang="zh-CN" sz="1800" dirty="0"/>
          </a:p>
          <a:p>
            <a:pPr>
              <a:buNone/>
              <a:defRPr/>
            </a:pPr>
            <a:r>
              <a:rPr lang="en-US" altLang="zh-CN" sz="1800" dirty="0" err="1"/>
              <a:t>Sloc</a:t>
            </a:r>
            <a:r>
              <a:rPr lang="zh-CN" altLang="en-US" sz="1800" dirty="0"/>
              <a:t>）。如果这个学生选修了</a:t>
            </a:r>
            <a:r>
              <a:rPr lang="en-US" altLang="zh-CN" sz="1800" dirty="0"/>
              <a:t>K</a:t>
            </a:r>
            <a:r>
              <a:rPr lang="zh-CN" altLang="en-US" sz="1800" dirty="0"/>
              <a:t>门课，则必须无遗漏地修改</a:t>
            </a:r>
            <a:r>
              <a:rPr lang="en-US" altLang="zh-CN" sz="1800" dirty="0"/>
              <a:t>K</a:t>
            </a:r>
            <a:r>
              <a:rPr lang="zh-CN" altLang="en-US" sz="1800" dirty="0"/>
              <a:t>个元组中全部</a:t>
            </a:r>
            <a:r>
              <a:rPr lang="en-US" altLang="zh-CN" sz="1800" dirty="0" err="1"/>
              <a:t>Sdept</a:t>
            </a:r>
            <a:r>
              <a:rPr lang="zh-CN" altLang="en-US" sz="1800" dirty="0"/>
              <a:t>、</a:t>
            </a:r>
            <a:endParaRPr lang="en-US" altLang="zh-CN" sz="1800" dirty="0"/>
          </a:p>
          <a:p>
            <a:pPr>
              <a:buNone/>
              <a:defRPr/>
            </a:pPr>
            <a:r>
              <a:rPr lang="en-US" altLang="zh-CN" sz="1800" dirty="0" err="1"/>
              <a:t>Sloc</a:t>
            </a:r>
            <a:r>
              <a:rPr lang="zh-CN" altLang="en-US" sz="1800" dirty="0"/>
              <a:t>信息。</a:t>
            </a:r>
            <a:endParaRPr lang="zh-CN" altLang="en-US" sz="1800" dirty="0"/>
          </a:p>
          <a:p>
            <a:pPr lvl="1">
              <a:defRPr/>
            </a:pPr>
            <a:endParaRPr lang="zh-CN" altLang="en-US" dirty="0"/>
          </a:p>
          <a:p>
            <a:pPr>
              <a:buFont typeface="Wingdings" panose="05000000000000000000" pitchFamily="2" charset="2"/>
              <a:buNone/>
              <a:defRPr/>
            </a:pPr>
            <a:r>
              <a:rPr lang="zh-CN" altLang="en-US" dirty="0">
                <a:solidFill>
                  <a:srgbClr val="FF0000"/>
                </a:solidFill>
                <a:latin typeface="+mn-ea"/>
              </a:rPr>
              <a:t>  </a:t>
            </a:r>
            <a:endParaRPr lang="zh-CN" altLang="en-US" dirty="0">
              <a:solidFill>
                <a:srgbClr val="FF0000"/>
              </a:solidFill>
              <a:latin typeface="+mn-ea"/>
            </a:endParaRPr>
          </a:p>
        </p:txBody>
      </p:sp>
      <p:graphicFrame>
        <p:nvGraphicFramePr>
          <p:cNvPr id="5" name="表格 4"/>
          <p:cNvGraphicFramePr>
            <a:graphicFrameLocks noGrp="1"/>
          </p:cNvGraphicFramePr>
          <p:nvPr/>
        </p:nvGraphicFramePr>
        <p:xfrm>
          <a:off x="1703388" y="1832372"/>
          <a:ext cx="5400000" cy="2880360"/>
        </p:xfrm>
        <a:graphic>
          <a:graphicData uri="http://schemas.openxmlformats.org/drawingml/2006/table">
            <a:tbl>
              <a:tblPr firstRow="1" bandRow="1">
                <a:tableStyleId>{72833802-FEF1-4C79-8D5D-14CF1EAF98D9}</a:tableStyleId>
              </a:tblPr>
              <a:tblGrid>
                <a:gridCol w="1080000"/>
                <a:gridCol w="1080000"/>
                <a:gridCol w="1080000"/>
                <a:gridCol w="1080000"/>
                <a:gridCol w="1080000"/>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65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7" name="表格 6"/>
          <p:cNvGraphicFramePr>
            <a:graphicFrameLocks noGrp="1"/>
          </p:cNvGraphicFramePr>
          <p:nvPr/>
        </p:nvGraphicFramePr>
        <p:xfrm>
          <a:off x="1716088" y="1835944"/>
          <a:ext cx="5400000" cy="2880360"/>
        </p:xfrm>
        <a:graphic>
          <a:graphicData uri="http://schemas.openxmlformats.org/drawingml/2006/table">
            <a:tbl>
              <a:tblPr firstRow="1" bandRow="1">
                <a:tableStyleId>{72833802-FEF1-4C79-8D5D-14CF1EAF98D9}</a:tableStyleId>
              </a:tblPr>
              <a:tblGrid>
                <a:gridCol w="1080000"/>
                <a:gridCol w="1080000"/>
                <a:gridCol w="1080000"/>
                <a:gridCol w="1080000"/>
                <a:gridCol w="1080000"/>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PH</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PH</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PH</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IS</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N</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PH</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PH</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65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PH</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PH</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600">
                <a:tc>
                  <a:txBody>
                    <a:bodyPr/>
                    <a:lstStyle/>
                    <a:p>
                      <a:pPr algn="ctr"/>
                      <a:r>
                        <a:rPr lang="en-US" altLang="zh-CN" sz="1100" dirty="0"/>
                        <a:t>2014101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PH</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S</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爆炸形 1 3"/>
          <p:cNvSpPr/>
          <p:nvPr/>
        </p:nvSpPr>
        <p:spPr bwMode="auto">
          <a:xfrm>
            <a:off x="2411760" y="3369143"/>
            <a:ext cx="6840760" cy="1276431"/>
          </a:xfrm>
          <a:prstGeom prst="irregularSeal1">
            <a:avLst/>
          </a:prstGeom>
          <a:ln>
            <a:headEnd type="none" w="med" len="med"/>
            <a:tailEnd type="none" w="med" len="med"/>
          </a:ln>
          <a:effectLst>
            <a:innerShdw blurRad="63500" dist="50800" dir="10800000">
              <a:prstClr val="black">
                <a:alpha val="50000"/>
              </a:prstClr>
            </a:inn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a:lstStyle/>
          <a:p>
            <a:pPr algn="ctr" eaLnBrk="1" hangingPunct="1">
              <a:defRPr/>
            </a:pPr>
            <a:r>
              <a:rPr lang="zh-CN" altLang="en-US" b="1" dirty="0">
                <a:solidFill>
                  <a:srgbClr val="FF0000"/>
                </a:solidFill>
              </a:rPr>
              <a:t>    因此，</a:t>
            </a:r>
            <a:r>
              <a:rPr lang="en-US" altLang="zh-CN" b="1" dirty="0">
                <a:solidFill>
                  <a:srgbClr val="FF0000"/>
                </a:solidFill>
                <a:latin typeface="+mn-ea"/>
              </a:rPr>
              <a:t>SLC</a:t>
            </a:r>
            <a:r>
              <a:rPr lang="zh-CN" altLang="en-US" b="1" dirty="0">
                <a:solidFill>
                  <a:srgbClr val="FF0000"/>
                </a:solidFill>
                <a:latin typeface="+mn-ea"/>
              </a:rPr>
              <a:t>不是一个好的关系模式。</a:t>
            </a:r>
            <a:endParaRPr lang="zh-CN" altLang="en-US" dirty="0">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22" presetClass="entr" presetSubtype="1" fill="hold" nodeType="withEffect">
                                  <p:stCondLst>
                                    <p:cond delay="250"/>
                                  </p:stCondLst>
                                  <p:childTnLst>
                                    <p:set>
                                      <p:cBhvr>
                                        <p:cTn id="9" dur="1" fill="hold">
                                          <p:stCondLst>
                                            <p:cond delay="0"/>
                                          </p:stCondLst>
                                        </p:cTn>
                                        <p:tgtEl>
                                          <p:spTgt spid="7"/>
                                        </p:tgtEl>
                                        <p:attrNameLst>
                                          <p:attrName>style.visibility</p:attrName>
                                        </p:attrNameLst>
                                      </p:cBhvr>
                                      <p:to>
                                        <p:strVal val="visible"/>
                                      </p:to>
                                    </p:set>
                                    <p:animEffect transition="in" filter="wipe(up)">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37"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outVertic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zh-CN" altLang="en-US" sz="3600" dirty="0"/>
              <a:t>第一范式（续）</a:t>
            </a:r>
            <a:endParaRPr lang="zh-CN" altLang="en-US" sz="3600" dirty="0"/>
          </a:p>
        </p:txBody>
      </p:sp>
      <p:sp>
        <p:nvSpPr>
          <p:cNvPr id="63491" name="Rectangle 3"/>
          <p:cNvSpPr>
            <a:spLocks noGrp="1" noChangeArrowheads="1"/>
          </p:cNvSpPr>
          <p:nvPr>
            <p:ph idx="1"/>
          </p:nvPr>
        </p:nvSpPr>
        <p:spPr>
          <a:xfrm>
            <a:off x="285720" y="823913"/>
            <a:ext cx="8761120" cy="1080808"/>
          </a:xfrm>
        </p:spPr>
        <p:txBody>
          <a:bodyPr/>
          <a:lstStyle/>
          <a:p>
            <a:pPr>
              <a:defRPr/>
            </a:pPr>
            <a:r>
              <a:rPr lang="zh-CN" altLang="en-US" sz="2400" dirty="0"/>
              <a:t>原因：</a:t>
            </a:r>
            <a:r>
              <a:rPr lang="en-US" altLang="zh-CN" sz="2400" dirty="0"/>
              <a:t> SLC(</a:t>
            </a:r>
            <a:r>
              <a:rPr lang="en-US" altLang="zh-CN" sz="2400" dirty="0" err="1"/>
              <a:t>Sno</a:t>
            </a:r>
            <a:r>
              <a:rPr lang="en-US" altLang="zh-CN" sz="2400" dirty="0"/>
              <a:t>, </a:t>
            </a:r>
            <a:r>
              <a:rPr lang="en-US" altLang="zh-CN" sz="2400" dirty="0" err="1"/>
              <a:t>Sdept</a:t>
            </a:r>
            <a:r>
              <a:rPr lang="en-US" altLang="zh-CN" sz="2400" dirty="0"/>
              <a:t>, </a:t>
            </a:r>
            <a:r>
              <a:rPr lang="en-US" altLang="zh-CN" sz="2400" dirty="0" err="1"/>
              <a:t>Sloc</a:t>
            </a:r>
            <a:r>
              <a:rPr lang="en-US" altLang="zh-CN" sz="2400" dirty="0"/>
              <a:t>, </a:t>
            </a:r>
            <a:r>
              <a:rPr lang="en-US" altLang="zh-CN" sz="2400" dirty="0" err="1"/>
              <a:t>Cno</a:t>
            </a:r>
            <a:r>
              <a:rPr lang="en-US" altLang="zh-CN" sz="2400" dirty="0"/>
              <a:t>, Grade) </a:t>
            </a:r>
            <a:r>
              <a:rPr lang="zh-CN" altLang="en-US" sz="2400" dirty="0"/>
              <a:t>中</a:t>
            </a:r>
            <a:r>
              <a:rPr lang="en-US" altLang="zh-CN" sz="2400" dirty="0" err="1"/>
              <a:t>Sdept</a:t>
            </a:r>
            <a:r>
              <a:rPr lang="zh-CN" altLang="en-US" sz="2400" dirty="0"/>
              <a:t>、 </a:t>
            </a:r>
            <a:r>
              <a:rPr lang="en-US" altLang="zh-CN" sz="2400" dirty="0" err="1"/>
              <a:t>Sloc</a:t>
            </a:r>
            <a:r>
              <a:rPr lang="zh-CN" altLang="en-US" sz="2400" dirty="0"/>
              <a:t>部分函数依赖于码。</a:t>
            </a:r>
            <a:r>
              <a:rPr lang="en-US" altLang="zh-CN" sz="2400" dirty="0">
                <a:cs typeface="+mn-cs"/>
              </a:rPr>
              <a:t>SLC</a:t>
            </a:r>
            <a:r>
              <a:rPr lang="zh-CN" altLang="en-US" sz="2400" dirty="0">
                <a:cs typeface="+mn-cs"/>
              </a:rPr>
              <a:t>的码为</a:t>
            </a:r>
            <a:r>
              <a:rPr lang="en-US" altLang="zh-CN" sz="2400" dirty="0">
                <a:cs typeface="+mn-cs"/>
              </a:rPr>
              <a:t>(</a:t>
            </a:r>
            <a:r>
              <a:rPr lang="en-US" altLang="zh-CN" sz="2400" dirty="0" err="1">
                <a:cs typeface="+mn-cs"/>
              </a:rPr>
              <a:t>Sno</a:t>
            </a:r>
            <a:r>
              <a:rPr lang="en-US" altLang="zh-CN" sz="2400" dirty="0">
                <a:cs typeface="+mn-cs"/>
              </a:rPr>
              <a:t>, </a:t>
            </a:r>
            <a:r>
              <a:rPr lang="en-US" altLang="zh-CN" sz="2400" dirty="0" err="1">
                <a:cs typeface="+mn-cs"/>
              </a:rPr>
              <a:t>Cno</a:t>
            </a:r>
            <a:r>
              <a:rPr lang="en-US" altLang="zh-CN" sz="2400" dirty="0">
                <a:cs typeface="+mn-cs"/>
              </a:rPr>
              <a:t>)</a:t>
            </a:r>
            <a:endParaRPr lang="en-US" altLang="zh-CN" sz="2400" dirty="0">
              <a:cs typeface="+mn-cs"/>
            </a:endParaRPr>
          </a:p>
          <a:p>
            <a:pPr lvl="2">
              <a:defRPr/>
            </a:pPr>
            <a:endParaRPr lang="en-US" altLang="zh-CN" sz="2400" dirty="0"/>
          </a:p>
        </p:txBody>
      </p:sp>
      <p:grpSp>
        <p:nvGrpSpPr>
          <p:cNvPr id="2" name="Group 1028"/>
          <p:cNvGrpSpPr/>
          <p:nvPr/>
        </p:nvGrpSpPr>
        <p:grpSpPr bwMode="auto">
          <a:xfrm>
            <a:off x="1726084" y="2085696"/>
            <a:ext cx="5510213" cy="2286000"/>
            <a:chOff x="1281" y="1248"/>
            <a:chExt cx="3471" cy="1920"/>
          </a:xfrm>
        </p:grpSpPr>
        <p:sp>
          <p:nvSpPr>
            <p:cNvPr id="5" name="Rectangle 1029"/>
            <p:cNvSpPr>
              <a:spLocks noChangeArrowheads="1"/>
            </p:cNvSpPr>
            <p:nvPr/>
          </p:nvSpPr>
          <p:spPr bwMode="auto">
            <a:xfrm>
              <a:off x="2438" y="1376"/>
              <a:ext cx="1157" cy="1792"/>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6" name="Text Box 1030"/>
            <p:cNvSpPr txBox="1">
              <a:spLocks noChangeArrowheads="1"/>
            </p:cNvSpPr>
            <p:nvPr/>
          </p:nvSpPr>
          <p:spPr bwMode="auto">
            <a:xfrm>
              <a:off x="2695" y="1632"/>
              <a:ext cx="643" cy="384"/>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Sno</a:t>
              </a:r>
              <a:endParaRPr kumimoji="0" lang="en-US" altLang="zh-CN" sz="2800" b="0" baseline="0"/>
            </a:p>
          </p:txBody>
        </p:sp>
        <p:sp>
          <p:nvSpPr>
            <p:cNvPr id="7" name="Text Box 1031"/>
            <p:cNvSpPr txBox="1">
              <a:spLocks noChangeArrowheads="1"/>
            </p:cNvSpPr>
            <p:nvPr/>
          </p:nvSpPr>
          <p:spPr bwMode="auto">
            <a:xfrm>
              <a:off x="2695" y="2528"/>
              <a:ext cx="643" cy="384"/>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Cno</a:t>
              </a:r>
              <a:endParaRPr kumimoji="0" lang="en-US" altLang="zh-CN" sz="2800" b="0" baseline="0"/>
            </a:p>
          </p:txBody>
        </p:sp>
        <p:sp>
          <p:nvSpPr>
            <p:cNvPr id="8" name="Text Box 1032"/>
            <p:cNvSpPr txBox="1">
              <a:spLocks noChangeArrowheads="1"/>
            </p:cNvSpPr>
            <p:nvPr/>
          </p:nvSpPr>
          <p:spPr bwMode="auto">
            <a:xfrm>
              <a:off x="1281" y="2144"/>
              <a:ext cx="771" cy="384"/>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dirty="0"/>
                <a:t>Grade</a:t>
              </a:r>
              <a:endParaRPr kumimoji="0" lang="en-US" altLang="zh-CN" sz="2800" baseline="0" dirty="0"/>
            </a:p>
          </p:txBody>
        </p:sp>
        <p:sp>
          <p:nvSpPr>
            <p:cNvPr id="9" name="Text Box 1033"/>
            <p:cNvSpPr txBox="1">
              <a:spLocks noChangeArrowheads="1"/>
            </p:cNvSpPr>
            <p:nvPr/>
          </p:nvSpPr>
          <p:spPr bwMode="auto">
            <a:xfrm>
              <a:off x="3981" y="1632"/>
              <a:ext cx="771" cy="384"/>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Sdept</a:t>
              </a:r>
              <a:endParaRPr kumimoji="0" lang="en-US" altLang="zh-CN" sz="2800" b="0" baseline="0"/>
            </a:p>
          </p:txBody>
        </p:sp>
        <p:sp>
          <p:nvSpPr>
            <p:cNvPr id="10" name="Text Box 1034"/>
            <p:cNvSpPr txBox="1">
              <a:spLocks noChangeArrowheads="1"/>
            </p:cNvSpPr>
            <p:nvPr/>
          </p:nvSpPr>
          <p:spPr bwMode="auto">
            <a:xfrm>
              <a:off x="3981" y="2528"/>
              <a:ext cx="771" cy="384"/>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Sloc</a:t>
              </a:r>
              <a:endParaRPr kumimoji="0" lang="en-US" altLang="zh-CN" sz="2800" b="0" baseline="0"/>
            </a:p>
          </p:txBody>
        </p:sp>
        <p:sp>
          <p:nvSpPr>
            <p:cNvPr id="11" name="Line 1035"/>
            <p:cNvSpPr>
              <a:spLocks noChangeShapeType="1"/>
            </p:cNvSpPr>
            <p:nvPr/>
          </p:nvSpPr>
          <p:spPr bwMode="auto">
            <a:xfrm flipH="1">
              <a:off x="2052" y="2272"/>
              <a:ext cx="386"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2" name="Line 1036"/>
            <p:cNvSpPr>
              <a:spLocks noChangeShapeType="1"/>
            </p:cNvSpPr>
            <p:nvPr/>
          </p:nvSpPr>
          <p:spPr bwMode="auto">
            <a:xfrm>
              <a:off x="3338" y="1760"/>
              <a:ext cx="643"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3" name="Line 1037"/>
            <p:cNvSpPr>
              <a:spLocks noChangeShapeType="1"/>
            </p:cNvSpPr>
            <p:nvPr/>
          </p:nvSpPr>
          <p:spPr bwMode="auto">
            <a:xfrm>
              <a:off x="3338" y="1760"/>
              <a:ext cx="643" cy="896"/>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4" name="Line 1038"/>
            <p:cNvSpPr>
              <a:spLocks noChangeShapeType="1"/>
            </p:cNvSpPr>
            <p:nvPr/>
          </p:nvSpPr>
          <p:spPr bwMode="auto">
            <a:xfrm flipV="1">
              <a:off x="3595" y="1888"/>
              <a:ext cx="386" cy="640"/>
            </a:xfrm>
            <a:prstGeom prst="line">
              <a:avLst/>
            </a:prstGeom>
            <a:noFill/>
            <a:ln w="38100">
              <a:solidFill>
                <a:srgbClr val="000000"/>
              </a:solidFill>
              <a:prstDash val="sysDot"/>
              <a:rou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5" name="Line 1039"/>
            <p:cNvSpPr>
              <a:spLocks noChangeShapeType="1"/>
            </p:cNvSpPr>
            <p:nvPr/>
          </p:nvSpPr>
          <p:spPr bwMode="auto">
            <a:xfrm>
              <a:off x="3595" y="2528"/>
              <a:ext cx="386" cy="256"/>
            </a:xfrm>
            <a:prstGeom prst="line">
              <a:avLst/>
            </a:prstGeom>
            <a:noFill/>
            <a:ln w="38100" cap="rnd">
              <a:solidFill>
                <a:srgbClr val="000000"/>
              </a:solidFill>
              <a:prstDash val="sysDot"/>
              <a:rou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6" name="Line 1040"/>
            <p:cNvSpPr>
              <a:spLocks noChangeShapeType="1"/>
            </p:cNvSpPr>
            <p:nvPr/>
          </p:nvSpPr>
          <p:spPr bwMode="auto">
            <a:xfrm>
              <a:off x="4366" y="2016"/>
              <a:ext cx="0" cy="512"/>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7" name="Text Box 1041"/>
            <p:cNvSpPr txBox="1">
              <a:spLocks noChangeArrowheads="1"/>
            </p:cNvSpPr>
            <p:nvPr/>
          </p:nvSpPr>
          <p:spPr bwMode="auto">
            <a:xfrm>
              <a:off x="1673" y="1248"/>
              <a:ext cx="77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dirty="0"/>
                <a:t>SLC</a:t>
              </a:r>
              <a:endParaRPr kumimoji="0" lang="en-US" altLang="zh-CN" sz="2800" baseline="0" dirty="0"/>
            </a:p>
          </p:txBody>
        </p:sp>
      </p:grpSp>
      <p:sp>
        <p:nvSpPr>
          <p:cNvPr id="18" name="Rectangle 1027"/>
          <p:cNvSpPr txBox="1">
            <a:spLocks noChangeArrowheads="1"/>
          </p:cNvSpPr>
          <p:nvPr/>
        </p:nvSpPr>
        <p:spPr bwMode="auto">
          <a:xfrm>
            <a:off x="4932040" y="4455858"/>
            <a:ext cx="4114800" cy="438150"/>
          </a:xfrm>
          <a:prstGeom prst="rect">
            <a:avLst/>
          </a:prstGeom>
          <a:noFill/>
          <a:ln w="9525">
            <a:noFill/>
            <a:miter lim="800000"/>
          </a:ln>
        </p:spPr>
        <p:txBody>
          <a:bodyPr vert="horz" wrap="square" lIns="91440" tIns="45720" rIns="91440" bIns="45720" numCol="1" anchor="t" anchorCtr="0" compatLnSpc="1"/>
          <a:lstStyle/>
          <a:p>
            <a:pPr marL="342900" marR="0" lvl="0" indent="-342900" algn="r" defTabSz="914400" rtl="0" eaLnBrk="0" fontAlgn="base" latinLnBrk="0" hangingPunct="0">
              <a:lnSpc>
                <a:spcPct val="100000"/>
              </a:lnSpc>
              <a:spcBef>
                <a:spcPct val="20000"/>
              </a:spcBef>
              <a:spcAft>
                <a:spcPct val="0"/>
              </a:spcAft>
              <a:buClrTx/>
              <a:buSzPct val="100000"/>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p:cNvSpPr>
            <a:spLocks noGrp="1" noChangeArrowheads="1"/>
          </p:cNvSpPr>
          <p:nvPr>
            <p:ph type="title"/>
          </p:nvPr>
        </p:nvSpPr>
        <p:spPr/>
        <p:txBody>
          <a:bodyPr/>
          <a:lstStyle/>
          <a:p>
            <a:r>
              <a:rPr lang="zh-CN" altLang="en-US" sz="3600" dirty="0"/>
              <a:t>第一范式（续）</a:t>
            </a:r>
            <a:endParaRPr lang="zh-CN" altLang="en-US" sz="3600" dirty="0"/>
          </a:p>
        </p:txBody>
      </p:sp>
      <p:sp>
        <p:nvSpPr>
          <p:cNvPr id="24" name="内容占位符 23"/>
          <p:cNvSpPr>
            <a:spLocks noGrp="1"/>
          </p:cNvSpPr>
          <p:nvPr>
            <p:ph idx="1"/>
          </p:nvPr>
        </p:nvSpPr>
        <p:spPr>
          <a:xfrm>
            <a:off x="457200" y="735808"/>
            <a:ext cx="8229600" cy="1158515"/>
          </a:xfrm>
        </p:spPr>
        <p:txBody>
          <a:bodyPr/>
          <a:lstStyle/>
          <a:p>
            <a:pPr>
              <a:defRPr/>
            </a:pPr>
            <a:r>
              <a:rPr lang="zh-CN" altLang="en-US" sz="2400" dirty="0"/>
              <a:t>解决方法</a:t>
            </a:r>
            <a:endParaRPr lang="en-US" altLang="zh-CN" sz="2400" dirty="0"/>
          </a:p>
          <a:p>
            <a:pPr>
              <a:buNone/>
              <a:defRPr/>
            </a:pPr>
            <a:r>
              <a:rPr lang="en-US" altLang="zh-CN" sz="2400" dirty="0"/>
              <a:t>    </a:t>
            </a:r>
            <a:r>
              <a:rPr lang="zh-CN" altLang="en-US" sz="2400" dirty="0"/>
              <a:t>采用投影分解法，把</a:t>
            </a:r>
            <a:r>
              <a:rPr lang="en-US" altLang="zh-CN" sz="2400" dirty="0"/>
              <a:t>SLC</a:t>
            </a:r>
            <a:r>
              <a:rPr lang="zh-CN" altLang="en-US" sz="2400" dirty="0"/>
              <a:t>分解为两个关系模式，以消除这些部分函数依赖</a:t>
            </a:r>
            <a:endParaRPr lang="zh-CN" altLang="en-US" sz="2400" dirty="0"/>
          </a:p>
          <a:p>
            <a:pPr marL="0" indent="0">
              <a:buNone/>
              <a:defRPr/>
            </a:pPr>
            <a:r>
              <a:rPr lang="zh-CN" altLang="en-US" sz="2400" dirty="0"/>
              <a:t>                    </a:t>
            </a:r>
            <a:endParaRPr lang="zh-CN" altLang="en-US" sz="2400" dirty="0"/>
          </a:p>
          <a:p>
            <a:pPr marL="0" indent="0">
              <a:buNone/>
              <a:defRPr/>
            </a:pPr>
            <a:r>
              <a:rPr lang="zh-CN" altLang="en-US" sz="2400" dirty="0"/>
              <a:t>                    </a:t>
            </a:r>
            <a:endParaRPr lang="zh-CN" altLang="en-US" sz="2400" dirty="0"/>
          </a:p>
          <a:p>
            <a:endParaRPr lang="zh-CN" altLang="en-US" dirty="0"/>
          </a:p>
          <a:p>
            <a:endParaRPr lang="zh-CN" altLang="en-US" dirty="0"/>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p:cNvSpPr>
            <a:spLocks noGrp="1" noChangeArrowheads="1"/>
          </p:cNvSpPr>
          <p:nvPr>
            <p:ph type="title"/>
          </p:nvPr>
        </p:nvSpPr>
        <p:spPr/>
        <p:txBody>
          <a:bodyPr/>
          <a:lstStyle/>
          <a:p>
            <a:r>
              <a:rPr lang="zh-CN" altLang="en-US" sz="3600" dirty="0"/>
              <a:t>第一范式（续）</a:t>
            </a:r>
            <a:endParaRPr lang="zh-CN" altLang="en-US" sz="3600" dirty="0"/>
          </a:p>
        </p:txBody>
      </p:sp>
      <p:sp>
        <p:nvSpPr>
          <p:cNvPr id="64519" name="Rectangle 1029"/>
          <p:cNvSpPr>
            <a:spLocks noChangeArrowheads="1"/>
          </p:cNvSpPr>
          <p:nvPr/>
        </p:nvSpPr>
        <p:spPr bwMode="auto">
          <a:xfrm>
            <a:off x="4066009" y="1894323"/>
            <a:ext cx="1270000" cy="1674019"/>
          </a:xfrm>
          <a:prstGeom prst="rect">
            <a:avLst/>
          </a:prstGeom>
          <a:noFill/>
          <a:ln w="38100">
            <a:solidFill>
              <a:srgbClr val="C00000"/>
            </a:solidFill>
            <a:miter lim="800000"/>
          </a:ln>
        </p:spPr>
        <p:txBody>
          <a:bodyPr/>
          <a:lstStyle/>
          <a:p>
            <a:pPr algn="ctr" eaLnBrk="1" hangingPunct="1"/>
            <a:endParaRPr kumimoji="1" lang="zh-CN" altLang="en-US" sz="2800" b="1">
              <a:solidFill>
                <a:srgbClr val="C00000"/>
              </a:solidFill>
              <a:latin typeface="Times New Roman" panose="02020603050405020304" pitchFamily="18" charset="0"/>
            </a:endParaRPr>
          </a:p>
        </p:txBody>
      </p:sp>
      <p:sp>
        <p:nvSpPr>
          <p:cNvPr id="22533" name="Text Box 1030"/>
          <p:cNvSpPr txBox="1">
            <a:spLocks noChangeArrowheads="1"/>
          </p:cNvSpPr>
          <p:nvPr/>
        </p:nvSpPr>
        <p:spPr bwMode="auto">
          <a:xfrm>
            <a:off x="4248572" y="1978856"/>
            <a:ext cx="1020762" cy="457200"/>
          </a:xfrm>
          <a:prstGeom prst="rect">
            <a:avLst/>
          </a:prstGeom>
          <a:noFill/>
          <a:ln w="38100">
            <a:solidFill>
              <a:srgbClr val="000000"/>
            </a:solidFill>
            <a:miter lim="800000"/>
          </a:ln>
        </p:spPr>
        <p:txBody>
          <a:bodyPr/>
          <a:lstStyle/>
          <a:p>
            <a:pPr algn="just"/>
            <a:r>
              <a:rPr lang="en-US" altLang="zh-CN" sz="2800" b="1">
                <a:latin typeface="Times New Roman" panose="02020603050405020304" pitchFamily="18" charset="0"/>
              </a:rPr>
              <a:t>Sno</a:t>
            </a:r>
            <a:endParaRPr lang="en-US" altLang="zh-CN" sz="2800">
              <a:latin typeface="Times New Roman" panose="02020603050405020304" pitchFamily="18" charset="0"/>
            </a:endParaRPr>
          </a:p>
        </p:txBody>
      </p:sp>
      <p:sp>
        <p:nvSpPr>
          <p:cNvPr id="22534" name="Text Box 1031"/>
          <p:cNvSpPr txBox="1">
            <a:spLocks noChangeArrowheads="1"/>
          </p:cNvSpPr>
          <p:nvPr/>
        </p:nvSpPr>
        <p:spPr bwMode="auto">
          <a:xfrm>
            <a:off x="4248572" y="3045656"/>
            <a:ext cx="1020762" cy="457200"/>
          </a:xfrm>
          <a:prstGeom prst="rect">
            <a:avLst/>
          </a:prstGeom>
          <a:noFill/>
          <a:ln w="38100">
            <a:solidFill>
              <a:srgbClr val="000000"/>
            </a:solidFill>
            <a:miter lim="800000"/>
          </a:ln>
        </p:spPr>
        <p:txBody>
          <a:bodyPr/>
          <a:lstStyle/>
          <a:p>
            <a:pPr algn="just"/>
            <a:r>
              <a:rPr lang="en-US" altLang="zh-CN" sz="2800" b="1">
                <a:latin typeface="Times New Roman" panose="02020603050405020304" pitchFamily="18" charset="0"/>
              </a:rPr>
              <a:t>Cno</a:t>
            </a:r>
            <a:endParaRPr lang="en-US" altLang="zh-CN" sz="2800">
              <a:latin typeface="Times New Roman" panose="02020603050405020304" pitchFamily="18" charset="0"/>
            </a:endParaRPr>
          </a:p>
        </p:txBody>
      </p:sp>
      <p:sp>
        <p:nvSpPr>
          <p:cNvPr id="22535" name="Text Box 1032"/>
          <p:cNvSpPr txBox="1">
            <a:spLocks noChangeArrowheads="1"/>
          </p:cNvSpPr>
          <p:nvPr/>
        </p:nvSpPr>
        <p:spPr bwMode="auto">
          <a:xfrm>
            <a:off x="2003847" y="2588456"/>
            <a:ext cx="1223962" cy="457200"/>
          </a:xfrm>
          <a:prstGeom prst="rect">
            <a:avLst/>
          </a:prstGeom>
          <a:noFill/>
          <a:ln w="38100">
            <a:solidFill>
              <a:srgbClr val="000000"/>
            </a:solidFill>
            <a:miter lim="800000"/>
          </a:ln>
        </p:spPr>
        <p:txBody>
          <a:bodyPr/>
          <a:lstStyle/>
          <a:p>
            <a:pPr algn="just"/>
            <a:r>
              <a:rPr lang="en-US" altLang="zh-CN" sz="2800" b="1">
                <a:latin typeface="Times New Roman" panose="02020603050405020304" pitchFamily="18" charset="0"/>
              </a:rPr>
              <a:t>Grade</a:t>
            </a:r>
            <a:endParaRPr lang="en-US" altLang="zh-CN" sz="2800" b="1">
              <a:latin typeface="Times New Roman" panose="02020603050405020304" pitchFamily="18" charset="0"/>
            </a:endParaRPr>
          </a:p>
        </p:txBody>
      </p:sp>
      <p:sp>
        <p:nvSpPr>
          <p:cNvPr id="22536" name="Text Box 1033"/>
          <p:cNvSpPr txBox="1">
            <a:spLocks noChangeArrowheads="1"/>
          </p:cNvSpPr>
          <p:nvPr/>
        </p:nvSpPr>
        <p:spPr bwMode="auto">
          <a:xfrm>
            <a:off x="6290097" y="1978856"/>
            <a:ext cx="1223962" cy="457200"/>
          </a:xfrm>
          <a:prstGeom prst="rect">
            <a:avLst/>
          </a:prstGeom>
          <a:noFill/>
          <a:ln w="38100">
            <a:solidFill>
              <a:srgbClr val="000000"/>
            </a:solidFill>
            <a:miter lim="800000"/>
          </a:ln>
        </p:spPr>
        <p:txBody>
          <a:bodyPr/>
          <a:lstStyle/>
          <a:p>
            <a:pPr algn="just"/>
            <a:r>
              <a:rPr lang="en-US" altLang="zh-CN" sz="2800" b="1">
                <a:latin typeface="Times New Roman" panose="02020603050405020304" pitchFamily="18" charset="0"/>
              </a:rPr>
              <a:t>Sdept</a:t>
            </a:r>
            <a:endParaRPr lang="en-US" altLang="zh-CN" sz="2800">
              <a:latin typeface="Times New Roman" panose="02020603050405020304" pitchFamily="18" charset="0"/>
            </a:endParaRPr>
          </a:p>
        </p:txBody>
      </p:sp>
      <p:sp>
        <p:nvSpPr>
          <p:cNvPr id="22537" name="Text Box 1034"/>
          <p:cNvSpPr txBox="1">
            <a:spLocks noChangeArrowheads="1"/>
          </p:cNvSpPr>
          <p:nvPr/>
        </p:nvSpPr>
        <p:spPr bwMode="auto">
          <a:xfrm>
            <a:off x="6290097" y="3045656"/>
            <a:ext cx="1223962" cy="457200"/>
          </a:xfrm>
          <a:prstGeom prst="rect">
            <a:avLst/>
          </a:prstGeom>
          <a:noFill/>
          <a:ln w="38100">
            <a:solidFill>
              <a:srgbClr val="000000"/>
            </a:solidFill>
            <a:miter lim="800000"/>
          </a:ln>
        </p:spPr>
        <p:txBody>
          <a:bodyPr/>
          <a:lstStyle/>
          <a:p>
            <a:pPr algn="just"/>
            <a:r>
              <a:rPr lang="en-US" altLang="zh-CN" sz="2800" b="1">
                <a:latin typeface="Times New Roman" panose="02020603050405020304" pitchFamily="18" charset="0"/>
              </a:rPr>
              <a:t>Sloc</a:t>
            </a:r>
            <a:endParaRPr lang="en-US" altLang="zh-CN" sz="2800">
              <a:latin typeface="Times New Roman" panose="02020603050405020304" pitchFamily="18" charset="0"/>
            </a:endParaRPr>
          </a:p>
        </p:txBody>
      </p:sp>
      <p:sp>
        <p:nvSpPr>
          <p:cNvPr id="64525" name="Line 1035"/>
          <p:cNvSpPr>
            <a:spLocks noChangeShapeType="1"/>
          </p:cNvSpPr>
          <p:nvPr/>
        </p:nvSpPr>
        <p:spPr bwMode="auto">
          <a:xfrm flipH="1">
            <a:off x="3345285" y="2812294"/>
            <a:ext cx="612775" cy="0"/>
          </a:xfrm>
          <a:prstGeom prst="line">
            <a:avLst/>
          </a:prstGeom>
          <a:noFill/>
          <a:ln w="38100">
            <a:solidFill>
              <a:srgbClr val="C00000"/>
            </a:solidFill>
            <a:round/>
            <a:tailEnd type="triangle" w="med" len="med"/>
          </a:ln>
        </p:spPr>
        <p:txBody>
          <a:bodyPr/>
          <a:lstStyle/>
          <a:p>
            <a:endParaRPr lang="zh-CN" altLang="en-US"/>
          </a:p>
        </p:txBody>
      </p:sp>
      <p:sp>
        <p:nvSpPr>
          <p:cNvPr id="64526" name="Line 1036"/>
          <p:cNvSpPr>
            <a:spLocks noChangeShapeType="1"/>
          </p:cNvSpPr>
          <p:nvPr/>
        </p:nvSpPr>
        <p:spPr bwMode="auto">
          <a:xfrm>
            <a:off x="5269335" y="2131256"/>
            <a:ext cx="1020763" cy="0"/>
          </a:xfrm>
          <a:prstGeom prst="line">
            <a:avLst/>
          </a:prstGeom>
          <a:noFill/>
          <a:ln w="38100">
            <a:solidFill>
              <a:schemeClr val="accent1">
                <a:lumMod val="50000"/>
              </a:schemeClr>
            </a:solidFill>
            <a:round/>
            <a:tailEnd type="triangle" w="med" len="med"/>
          </a:ln>
          <a:extLst>
            <a:ext uri="{909E8E84-426E-40DD-AFC4-6F175D3DCCD1}">
              <a14:hiddenFill xmlns:a14="http://schemas.microsoft.com/office/drawing/2010/main">
                <a:noFill/>
              </a14:hiddenFill>
            </a:ext>
          </a:extLst>
        </p:spPr>
        <p:txBody>
          <a:bodyPr/>
          <a:lstStyle/>
          <a:p>
            <a:pPr>
              <a:defRPr/>
            </a:pPr>
            <a:endParaRPr lang="zh-CN" altLang="en-US"/>
          </a:p>
        </p:txBody>
      </p:sp>
      <p:sp>
        <p:nvSpPr>
          <p:cNvPr id="64527" name="Line 1037"/>
          <p:cNvSpPr>
            <a:spLocks noChangeShapeType="1"/>
          </p:cNvSpPr>
          <p:nvPr/>
        </p:nvSpPr>
        <p:spPr bwMode="auto">
          <a:xfrm>
            <a:off x="5269335" y="2131256"/>
            <a:ext cx="1020763" cy="1066800"/>
          </a:xfrm>
          <a:prstGeom prst="line">
            <a:avLst/>
          </a:prstGeom>
          <a:noFill/>
          <a:ln w="38100">
            <a:solidFill>
              <a:schemeClr val="accent1">
                <a:lumMod val="50000"/>
              </a:schemeClr>
            </a:solidFill>
            <a:round/>
            <a:tailEnd type="triangle" w="med" len="med"/>
          </a:ln>
          <a:extLst>
            <a:ext uri="{909E8E84-426E-40DD-AFC4-6F175D3DCCD1}">
              <a14:hiddenFill xmlns:a14="http://schemas.microsoft.com/office/drawing/2010/main">
                <a:noFill/>
              </a14:hiddenFill>
            </a:ext>
          </a:extLst>
        </p:spPr>
        <p:txBody>
          <a:bodyPr/>
          <a:lstStyle/>
          <a:p>
            <a:pPr>
              <a:defRPr/>
            </a:pPr>
            <a:endParaRPr lang="zh-CN" altLang="en-US"/>
          </a:p>
        </p:txBody>
      </p:sp>
      <p:sp>
        <p:nvSpPr>
          <p:cNvPr id="64530" name="Line 1040"/>
          <p:cNvSpPr>
            <a:spLocks noChangeShapeType="1"/>
          </p:cNvSpPr>
          <p:nvPr/>
        </p:nvSpPr>
        <p:spPr bwMode="auto">
          <a:xfrm>
            <a:off x="6901284" y="2436056"/>
            <a:ext cx="0" cy="609600"/>
          </a:xfrm>
          <a:prstGeom prst="line">
            <a:avLst/>
          </a:prstGeom>
          <a:noFill/>
          <a:ln w="38100">
            <a:solidFill>
              <a:schemeClr val="accent1">
                <a:lumMod val="50000"/>
              </a:schemeClr>
            </a:solidFill>
            <a:round/>
            <a:tailEnd type="triangle" w="med" len="med"/>
          </a:ln>
          <a:extLst>
            <a:ext uri="{909E8E84-426E-40DD-AFC4-6F175D3DCCD1}">
              <a14:hiddenFill xmlns:a14="http://schemas.microsoft.com/office/drawing/2010/main">
                <a:noFill/>
              </a14:hiddenFill>
            </a:ext>
          </a:extLst>
        </p:spPr>
        <p:txBody>
          <a:bodyPr/>
          <a:lstStyle/>
          <a:p>
            <a:pPr>
              <a:defRPr/>
            </a:pPr>
            <a:endParaRPr lang="zh-CN" altLang="en-US"/>
          </a:p>
        </p:txBody>
      </p:sp>
      <p:sp>
        <p:nvSpPr>
          <p:cNvPr id="22542" name="Text Box 1041"/>
          <p:cNvSpPr txBox="1">
            <a:spLocks noChangeArrowheads="1"/>
          </p:cNvSpPr>
          <p:nvPr/>
        </p:nvSpPr>
        <p:spPr bwMode="auto">
          <a:xfrm>
            <a:off x="923926" y="1809862"/>
            <a:ext cx="1223963" cy="457200"/>
          </a:xfrm>
          <a:prstGeom prst="rect">
            <a:avLst/>
          </a:prstGeom>
          <a:noFill/>
          <a:ln w="38100">
            <a:noFill/>
            <a:miter lim="800000"/>
          </a:ln>
        </p:spPr>
        <p:txBody>
          <a:bodyPr/>
          <a:lstStyle/>
          <a:p>
            <a:pPr algn="just"/>
            <a:r>
              <a:rPr lang="en-US" altLang="zh-CN" sz="2800" b="1">
                <a:latin typeface="Times New Roman" panose="02020603050405020304" pitchFamily="18" charset="0"/>
              </a:rPr>
              <a:t>SLC</a:t>
            </a:r>
            <a:endParaRPr lang="en-US" altLang="zh-CN" sz="2800" b="1">
              <a:latin typeface="Times New Roman" panose="02020603050405020304" pitchFamily="18" charset="0"/>
            </a:endParaRPr>
          </a:p>
        </p:txBody>
      </p:sp>
      <p:sp>
        <p:nvSpPr>
          <p:cNvPr id="633874" name="Freeform 1042"/>
          <p:cNvSpPr/>
          <p:nvPr/>
        </p:nvSpPr>
        <p:spPr bwMode="auto">
          <a:xfrm>
            <a:off x="3932659" y="1329612"/>
            <a:ext cx="4171950" cy="2462213"/>
          </a:xfrm>
          <a:custGeom>
            <a:avLst/>
            <a:gdLst>
              <a:gd name="T0" fmla="*/ 2147483646 w 2564"/>
              <a:gd name="T1" fmla="*/ 2147483646 h 2014"/>
              <a:gd name="T2" fmla="*/ 2147483646 w 2564"/>
              <a:gd name="T3" fmla="*/ 2147483646 h 2014"/>
              <a:gd name="T4" fmla="*/ 2147483646 w 2564"/>
              <a:gd name="T5" fmla="*/ 2147483646 h 2014"/>
              <a:gd name="T6" fmla="*/ 2147483646 w 2564"/>
              <a:gd name="T7" fmla="*/ 2147483646 h 2014"/>
              <a:gd name="T8" fmla="*/ 2147483646 w 2564"/>
              <a:gd name="T9" fmla="*/ 2147483646 h 2014"/>
              <a:gd name="T10" fmla="*/ 2147483646 w 2564"/>
              <a:gd name="T11" fmla="*/ 2147483646 h 2014"/>
              <a:gd name="T12" fmla="*/ 2147483646 w 2564"/>
              <a:gd name="T13" fmla="*/ 2147483646 h 2014"/>
              <a:gd name="T14" fmla="*/ 2147483646 w 2564"/>
              <a:gd name="T15" fmla="*/ 2147483646 h 2014"/>
              <a:gd name="T16" fmla="*/ 2147483646 w 2564"/>
              <a:gd name="T17" fmla="*/ 2147483646 h 2014"/>
              <a:gd name="T18" fmla="*/ 2147483646 w 2564"/>
              <a:gd name="T19" fmla="*/ 2147483646 h 20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64"/>
              <a:gd name="T31" fmla="*/ 0 h 2014"/>
              <a:gd name="T32" fmla="*/ 2564 w 2564"/>
              <a:gd name="T33" fmla="*/ 2014 h 20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64" h="2014">
                <a:moveTo>
                  <a:pt x="32" y="484"/>
                </a:moveTo>
                <a:cubicBezTo>
                  <a:pt x="32" y="372"/>
                  <a:pt x="56" y="292"/>
                  <a:pt x="128" y="244"/>
                </a:cubicBezTo>
                <a:cubicBezTo>
                  <a:pt x="200" y="196"/>
                  <a:pt x="112" y="204"/>
                  <a:pt x="464" y="196"/>
                </a:cubicBezTo>
                <a:cubicBezTo>
                  <a:pt x="816" y="188"/>
                  <a:pt x="1916" y="0"/>
                  <a:pt x="2240" y="196"/>
                </a:cubicBezTo>
                <a:cubicBezTo>
                  <a:pt x="2564" y="392"/>
                  <a:pt x="2426" y="1076"/>
                  <a:pt x="2405" y="1371"/>
                </a:cubicBezTo>
                <a:cubicBezTo>
                  <a:pt x="2384" y="1666"/>
                  <a:pt x="2310" y="1916"/>
                  <a:pt x="2112" y="1965"/>
                </a:cubicBezTo>
                <a:cubicBezTo>
                  <a:pt x="1914" y="2014"/>
                  <a:pt x="1435" y="1830"/>
                  <a:pt x="1216" y="1663"/>
                </a:cubicBezTo>
                <a:cubicBezTo>
                  <a:pt x="997" y="1496"/>
                  <a:pt x="981" y="1088"/>
                  <a:pt x="800" y="964"/>
                </a:cubicBezTo>
                <a:cubicBezTo>
                  <a:pt x="619" y="840"/>
                  <a:pt x="256" y="996"/>
                  <a:pt x="128" y="916"/>
                </a:cubicBezTo>
                <a:cubicBezTo>
                  <a:pt x="0" y="836"/>
                  <a:pt x="32" y="596"/>
                  <a:pt x="32" y="484"/>
                </a:cubicBezTo>
                <a:close/>
              </a:path>
            </a:pathLst>
          </a:custGeom>
          <a:noFill/>
          <a:ln w="38100">
            <a:solidFill>
              <a:schemeClr val="accent2"/>
            </a:solidFill>
            <a:prstDash val="sysDot"/>
            <a:round/>
          </a:ln>
        </p:spPr>
        <p:txBody>
          <a:bodyPr wrap="none" lIns="90000" tIns="46800" rIns="90000" bIns="46800" anchor="ctr"/>
          <a:lstStyle/>
          <a:p>
            <a:endParaRPr lang="zh-CN" altLang="en-US"/>
          </a:p>
        </p:txBody>
      </p:sp>
      <p:sp>
        <p:nvSpPr>
          <p:cNvPr id="633875" name="Freeform 1043"/>
          <p:cNvSpPr/>
          <p:nvPr/>
        </p:nvSpPr>
        <p:spPr bwMode="auto">
          <a:xfrm>
            <a:off x="1619672" y="1707394"/>
            <a:ext cx="4057650" cy="1969294"/>
          </a:xfrm>
          <a:custGeom>
            <a:avLst/>
            <a:gdLst>
              <a:gd name="T0" fmla="*/ 2147483646 w 2518"/>
              <a:gd name="T1" fmla="*/ 2147483646 h 1571"/>
              <a:gd name="T2" fmla="*/ 2147483646 w 2518"/>
              <a:gd name="T3" fmla="*/ 2147483646 h 1571"/>
              <a:gd name="T4" fmla="*/ 2147483646 w 2518"/>
              <a:gd name="T5" fmla="*/ 2147483646 h 1571"/>
              <a:gd name="T6" fmla="*/ 2147483646 w 2518"/>
              <a:gd name="T7" fmla="*/ 2147483646 h 1571"/>
              <a:gd name="T8" fmla="*/ 2147483646 w 2518"/>
              <a:gd name="T9" fmla="*/ 2147483646 h 1571"/>
              <a:gd name="T10" fmla="*/ 2147483646 w 2518"/>
              <a:gd name="T11" fmla="*/ 2147483646 h 1571"/>
              <a:gd name="T12" fmla="*/ 2147483646 w 2518"/>
              <a:gd name="T13" fmla="*/ 2147483646 h 1571"/>
              <a:gd name="T14" fmla="*/ 2147483646 w 2518"/>
              <a:gd name="T15" fmla="*/ 2147483646 h 1571"/>
              <a:gd name="T16" fmla="*/ 2147483646 w 2518"/>
              <a:gd name="T17" fmla="*/ 2147483646 h 1571"/>
              <a:gd name="T18" fmla="*/ 2147483646 w 2518"/>
              <a:gd name="T19" fmla="*/ 2147483646 h 1571"/>
              <a:gd name="T20" fmla="*/ 2147483646 w 2518"/>
              <a:gd name="T21" fmla="*/ 2147483646 h 1571"/>
              <a:gd name="T22" fmla="*/ 2147483646 w 2518"/>
              <a:gd name="T23" fmla="*/ 2147483646 h 1571"/>
              <a:gd name="T24" fmla="*/ 2147483646 w 2518"/>
              <a:gd name="T25" fmla="*/ 2147483646 h 1571"/>
              <a:gd name="T26" fmla="*/ 2147483646 w 2518"/>
              <a:gd name="T27" fmla="*/ 2147483646 h 1571"/>
              <a:gd name="T28" fmla="*/ 2147483646 w 2518"/>
              <a:gd name="T29" fmla="*/ 2147483646 h 1571"/>
              <a:gd name="T30" fmla="*/ 2147483646 w 2518"/>
              <a:gd name="T31" fmla="*/ 2147483646 h 1571"/>
              <a:gd name="T32" fmla="*/ 2147483646 w 2518"/>
              <a:gd name="T33" fmla="*/ 2147483646 h 1571"/>
              <a:gd name="T34" fmla="*/ 2147483646 w 2518"/>
              <a:gd name="T35" fmla="*/ 2147483646 h 157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18"/>
              <a:gd name="T55" fmla="*/ 0 h 1571"/>
              <a:gd name="T56" fmla="*/ 2518 w 2518"/>
              <a:gd name="T57" fmla="*/ 1571 h 157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18" h="1571">
                <a:moveTo>
                  <a:pt x="104" y="721"/>
                </a:moveTo>
                <a:cubicBezTo>
                  <a:pt x="132" y="641"/>
                  <a:pt x="0" y="484"/>
                  <a:pt x="305" y="369"/>
                </a:cubicBezTo>
                <a:cubicBezTo>
                  <a:pt x="610" y="254"/>
                  <a:pt x="1593" y="66"/>
                  <a:pt x="1937" y="33"/>
                </a:cubicBezTo>
                <a:cubicBezTo>
                  <a:pt x="2281" y="0"/>
                  <a:pt x="2280" y="38"/>
                  <a:pt x="2371" y="172"/>
                </a:cubicBezTo>
                <a:cubicBezTo>
                  <a:pt x="2462" y="306"/>
                  <a:pt x="2456" y="657"/>
                  <a:pt x="2481" y="840"/>
                </a:cubicBezTo>
                <a:cubicBezTo>
                  <a:pt x="2506" y="1023"/>
                  <a:pt x="2518" y="1170"/>
                  <a:pt x="2518" y="1270"/>
                </a:cubicBezTo>
                <a:cubicBezTo>
                  <a:pt x="2518" y="1370"/>
                  <a:pt x="2493" y="1400"/>
                  <a:pt x="2481" y="1443"/>
                </a:cubicBezTo>
                <a:cubicBezTo>
                  <a:pt x="2469" y="1486"/>
                  <a:pt x="2445" y="1515"/>
                  <a:pt x="2444" y="1526"/>
                </a:cubicBezTo>
                <a:cubicBezTo>
                  <a:pt x="2443" y="1537"/>
                  <a:pt x="2464" y="1512"/>
                  <a:pt x="2472" y="1507"/>
                </a:cubicBezTo>
                <a:cubicBezTo>
                  <a:pt x="2480" y="1502"/>
                  <a:pt x="2507" y="1490"/>
                  <a:pt x="2490" y="1498"/>
                </a:cubicBezTo>
                <a:cubicBezTo>
                  <a:pt x="2473" y="1506"/>
                  <a:pt x="2400" y="1545"/>
                  <a:pt x="2371" y="1553"/>
                </a:cubicBezTo>
                <a:cubicBezTo>
                  <a:pt x="2342" y="1561"/>
                  <a:pt x="2441" y="1544"/>
                  <a:pt x="2316" y="1544"/>
                </a:cubicBezTo>
                <a:cubicBezTo>
                  <a:pt x="2191" y="1544"/>
                  <a:pt x="1883" y="1571"/>
                  <a:pt x="1622" y="1553"/>
                </a:cubicBezTo>
                <a:cubicBezTo>
                  <a:pt x="1361" y="1535"/>
                  <a:pt x="982" y="1495"/>
                  <a:pt x="753" y="1434"/>
                </a:cubicBezTo>
                <a:cubicBezTo>
                  <a:pt x="524" y="1373"/>
                  <a:pt x="354" y="1263"/>
                  <a:pt x="250" y="1187"/>
                </a:cubicBezTo>
                <a:cubicBezTo>
                  <a:pt x="146" y="1111"/>
                  <a:pt x="155" y="1035"/>
                  <a:pt x="131" y="977"/>
                </a:cubicBezTo>
                <a:cubicBezTo>
                  <a:pt x="107" y="919"/>
                  <a:pt x="108" y="883"/>
                  <a:pt x="104" y="840"/>
                </a:cubicBezTo>
                <a:cubicBezTo>
                  <a:pt x="100" y="797"/>
                  <a:pt x="104" y="746"/>
                  <a:pt x="104" y="721"/>
                </a:cubicBezTo>
                <a:close/>
              </a:path>
            </a:pathLst>
          </a:custGeom>
          <a:noFill/>
          <a:ln w="38100">
            <a:solidFill>
              <a:srgbClr val="C00000"/>
            </a:solidFill>
            <a:prstDash val="sysDot"/>
            <a:round/>
          </a:ln>
        </p:spPr>
        <p:txBody>
          <a:bodyPr wrap="none" lIns="90000" tIns="46800" rIns="90000" bIns="46800" anchor="ctr"/>
          <a:lstStyle/>
          <a:p>
            <a:endParaRPr lang="zh-CN" altLang="en-US"/>
          </a:p>
        </p:txBody>
      </p:sp>
      <p:sp>
        <p:nvSpPr>
          <p:cNvPr id="2" name="右箭头 1"/>
          <p:cNvSpPr/>
          <p:nvPr/>
        </p:nvSpPr>
        <p:spPr bwMode="auto">
          <a:xfrm rot="3630865">
            <a:off x="7007623" y="3343388"/>
            <a:ext cx="459581" cy="504825"/>
          </a:xfrm>
          <a:prstGeom prst="rightArrow">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eaLnBrk="1" hangingPunct="1">
              <a:buFont typeface="Arial" panose="020B0604020202020204" pitchFamily="34" charset="0"/>
              <a:buNone/>
              <a:defRPr/>
            </a:pPr>
            <a:endParaRPr lang="zh-CN" altLang="en-US">
              <a:solidFill>
                <a:schemeClr val="tx1"/>
              </a:solidFill>
            </a:endParaRPr>
          </a:p>
        </p:txBody>
      </p:sp>
      <p:graphicFrame>
        <p:nvGraphicFramePr>
          <p:cNvPr id="3" name="表格 2"/>
          <p:cNvGraphicFramePr>
            <a:graphicFrameLocks noGrp="1"/>
          </p:cNvGraphicFramePr>
          <p:nvPr/>
        </p:nvGraphicFramePr>
        <p:xfrm>
          <a:off x="5892800" y="3929072"/>
          <a:ext cx="2831976" cy="845820"/>
        </p:xfrm>
        <a:graphic>
          <a:graphicData uri="http://schemas.openxmlformats.org/drawingml/2006/table">
            <a:tbl>
              <a:tblPr firstRow="1" bandRow="1">
                <a:tableStyleId>{72833802-FEF1-4C79-8D5D-14CF1EAF98D9}</a:tableStyleId>
              </a:tblPr>
              <a:tblGrid>
                <a:gridCol w="943992"/>
                <a:gridCol w="943992"/>
                <a:gridCol w="943992"/>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2" name="右箭头 21"/>
          <p:cNvSpPr/>
          <p:nvPr/>
        </p:nvSpPr>
        <p:spPr bwMode="auto">
          <a:xfrm rot="7977353">
            <a:off x="2772173" y="3180272"/>
            <a:ext cx="459581" cy="504825"/>
          </a:xfrm>
          <a:prstGeom prst="rightArrow">
            <a:avLst/>
          </a:prstGeom>
          <a:solidFill>
            <a:srgbClr val="A50021"/>
          </a:soli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eaLnBrk="1" hangingPunct="1">
              <a:buFont typeface="Arial" panose="020B0604020202020204" pitchFamily="34" charset="0"/>
              <a:buNone/>
              <a:defRPr/>
            </a:pPr>
            <a:endParaRPr lang="zh-CN" altLang="en-US">
              <a:solidFill>
                <a:schemeClr val="tx1"/>
              </a:solidFill>
            </a:endParaRPr>
          </a:p>
        </p:txBody>
      </p:sp>
      <p:graphicFrame>
        <p:nvGraphicFramePr>
          <p:cNvPr id="23" name="表格 22"/>
          <p:cNvGraphicFramePr>
            <a:graphicFrameLocks noGrp="1"/>
          </p:cNvGraphicFramePr>
          <p:nvPr/>
        </p:nvGraphicFramePr>
        <p:xfrm>
          <a:off x="428596" y="3902311"/>
          <a:ext cx="2831976" cy="845820"/>
        </p:xfrm>
        <a:graphic>
          <a:graphicData uri="http://schemas.openxmlformats.org/drawingml/2006/table">
            <a:tbl>
              <a:tblPr firstRow="1" bandRow="1">
                <a:tableStyleId>{72833802-FEF1-4C79-8D5D-14CF1EAF98D9}</a:tableStyleId>
              </a:tblPr>
              <a:tblGrid>
                <a:gridCol w="943992"/>
                <a:gridCol w="943992"/>
                <a:gridCol w="943992"/>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c>
                  <a:txBody>
                    <a:bodyPr/>
                    <a:lstStyle/>
                    <a:p>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c>
                  <a:txBody>
                    <a:bodyPr/>
                    <a:lstStyle/>
                    <a:p>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r>
              <a:tr h="274320">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4" name="内容占位符 23"/>
          <p:cNvSpPr>
            <a:spLocks noGrp="1"/>
          </p:cNvSpPr>
          <p:nvPr>
            <p:ph idx="1"/>
          </p:nvPr>
        </p:nvSpPr>
        <p:spPr>
          <a:xfrm>
            <a:off x="214282" y="642924"/>
            <a:ext cx="8786874" cy="1158515"/>
          </a:xfrm>
        </p:spPr>
        <p:txBody>
          <a:bodyPr/>
          <a:lstStyle/>
          <a:p>
            <a:pPr>
              <a:defRPr/>
            </a:pPr>
            <a:r>
              <a:rPr lang="zh-CN" altLang="en-US" sz="2400" dirty="0"/>
              <a:t>解决方法</a:t>
            </a:r>
            <a:endParaRPr lang="en-US" altLang="zh-CN" sz="2400" dirty="0"/>
          </a:p>
          <a:p>
            <a:pPr>
              <a:buNone/>
              <a:defRPr/>
            </a:pPr>
            <a:r>
              <a:rPr lang="en-US" altLang="zh-CN" sz="2400" dirty="0"/>
              <a:t>    </a:t>
            </a:r>
            <a:r>
              <a:rPr lang="zh-CN" altLang="en-US" sz="2000" dirty="0"/>
              <a:t>采用投影分解法，把</a:t>
            </a:r>
            <a:r>
              <a:rPr lang="en-US" altLang="zh-CN" sz="2000" dirty="0"/>
              <a:t>SLC</a:t>
            </a:r>
            <a:r>
              <a:rPr lang="zh-CN" altLang="en-US" sz="2000" dirty="0"/>
              <a:t>分解为两个关系模式，以消除这些部分函数依赖</a:t>
            </a:r>
            <a:endParaRPr lang="zh-CN" altLang="en-US" sz="2000" dirty="0"/>
          </a:p>
          <a:p>
            <a:pPr marL="0" indent="0">
              <a:buNone/>
              <a:defRPr/>
            </a:pPr>
            <a:r>
              <a:rPr lang="zh-CN" altLang="en-US" sz="2400" dirty="0"/>
              <a:t>                    </a:t>
            </a:r>
            <a:endParaRPr lang="zh-CN" altLang="en-US" sz="2400" dirty="0"/>
          </a:p>
          <a:p>
            <a:pPr marL="0" indent="0">
              <a:buNone/>
              <a:defRPr/>
            </a:pPr>
            <a:r>
              <a:rPr lang="zh-CN" altLang="en-US" sz="2400" dirty="0"/>
              <a:t>                    </a:t>
            </a:r>
            <a:endParaRPr lang="zh-CN" altLang="en-US" sz="2400" dirty="0"/>
          </a:p>
          <a:p>
            <a:endParaRPr lang="zh-CN" altLang="en-US" dirty="0"/>
          </a:p>
          <a:p>
            <a:endParaRPr lang="zh-CN" altLang="en-US" dirty="0"/>
          </a:p>
        </p:txBody>
      </p:sp>
      <p:sp>
        <p:nvSpPr>
          <p:cNvPr id="26" name="TextBox 25"/>
          <p:cNvSpPr txBox="1"/>
          <p:nvPr/>
        </p:nvSpPr>
        <p:spPr>
          <a:xfrm>
            <a:off x="395537" y="3559740"/>
            <a:ext cx="3681139" cy="369332"/>
          </a:xfrm>
          <a:prstGeom prst="rect">
            <a:avLst/>
          </a:prstGeom>
          <a:noFill/>
        </p:spPr>
        <p:txBody>
          <a:bodyPr wrap="square" rtlCol="0">
            <a:spAutoFit/>
          </a:bodyPr>
          <a:lstStyle/>
          <a:p>
            <a:r>
              <a:rPr lang="en-US" altLang="zh-CN" dirty="0"/>
              <a:t>SC</a:t>
            </a:r>
            <a:r>
              <a:rPr lang="zh-CN" altLang="en-US" dirty="0"/>
              <a:t>（</a:t>
            </a:r>
            <a:r>
              <a:rPr lang="en-US" altLang="zh-CN" dirty="0" err="1"/>
              <a:t>Sno</a:t>
            </a:r>
            <a:r>
              <a:rPr lang="zh-CN" altLang="en-US" dirty="0"/>
              <a:t>， </a:t>
            </a:r>
            <a:r>
              <a:rPr lang="en-US" altLang="zh-CN" dirty="0" err="1"/>
              <a:t>Cno</a:t>
            </a:r>
            <a:r>
              <a:rPr lang="zh-CN" altLang="en-US" dirty="0"/>
              <a:t>， </a:t>
            </a:r>
            <a:r>
              <a:rPr lang="en-US" altLang="zh-CN" dirty="0"/>
              <a:t>Grade</a:t>
            </a:r>
            <a:r>
              <a:rPr lang="zh-CN" altLang="en-US" dirty="0"/>
              <a:t>）</a:t>
            </a:r>
            <a:endParaRPr lang="zh-CN" altLang="en-US" dirty="0"/>
          </a:p>
        </p:txBody>
      </p:sp>
      <p:sp>
        <p:nvSpPr>
          <p:cNvPr id="27" name="TextBox 26"/>
          <p:cNvSpPr txBox="1"/>
          <p:nvPr/>
        </p:nvSpPr>
        <p:spPr>
          <a:xfrm>
            <a:off x="5929468" y="3631178"/>
            <a:ext cx="3071688" cy="369332"/>
          </a:xfrm>
          <a:prstGeom prst="rect">
            <a:avLst/>
          </a:prstGeom>
          <a:noFill/>
        </p:spPr>
        <p:txBody>
          <a:bodyPr wrap="square" rtlCol="0">
            <a:spAutoFit/>
          </a:bodyPr>
          <a:lstStyle/>
          <a:p>
            <a:r>
              <a:rPr lang="en-US" altLang="zh-CN" dirty="0"/>
              <a:t>SL(</a:t>
            </a:r>
            <a:r>
              <a:rPr lang="en-US" altLang="zh-CN" dirty="0" err="1"/>
              <a:t>Sno</a:t>
            </a:r>
            <a:r>
              <a:rPr lang="zh-CN" altLang="en-US" dirty="0"/>
              <a:t>， </a:t>
            </a:r>
            <a:r>
              <a:rPr lang="en-US" altLang="zh-CN" dirty="0" err="1"/>
              <a:t>Sdept</a:t>
            </a:r>
            <a:r>
              <a:rPr lang="zh-CN" altLang="en-US" dirty="0"/>
              <a:t>， </a:t>
            </a:r>
            <a:r>
              <a:rPr lang="en-US" altLang="zh-CN" dirty="0" err="1"/>
              <a:t>Sloc</a:t>
            </a:r>
            <a:r>
              <a:rPr lang="en-US" altLang="zh-CN" dirty="0"/>
              <a:t>)</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633874"/>
                                        </p:tgtEl>
                                        <p:attrNameLst>
                                          <p:attrName>style.visibility</p:attrName>
                                        </p:attrNameLst>
                                      </p:cBhvr>
                                      <p:to>
                                        <p:strVal val="visible"/>
                                      </p:to>
                                    </p:set>
                                    <p:animEffect transition="in" filter="wheel(1)">
                                      <p:cBhvr>
                                        <p:cTn id="7" dur="1000"/>
                                        <p:tgtEl>
                                          <p:spTgt spid="633874"/>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526"/>
                                        </p:tgtEl>
                                        <p:attrNameLst>
                                          <p:attrName>style.visibility</p:attrName>
                                        </p:attrNameLst>
                                      </p:cBhvr>
                                      <p:to>
                                        <p:strVal val="visible"/>
                                      </p:to>
                                    </p:set>
                                    <p:animEffect transition="in" filter="wipe(left)">
                                      <p:cBhvr>
                                        <p:cTn id="11" dur="500"/>
                                        <p:tgtEl>
                                          <p:spTgt spid="64526"/>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64527"/>
                                        </p:tgtEl>
                                        <p:attrNameLst>
                                          <p:attrName>style.visibility</p:attrName>
                                        </p:attrNameLst>
                                      </p:cBhvr>
                                      <p:to>
                                        <p:strVal val="visible"/>
                                      </p:to>
                                    </p:set>
                                    <p:animEffect transition="in" filter="wipe(left)">
                                      <p:cBhvr>
                                        <p:cTn id="15" dur="500"/>
                                        <p:tgtEl>
                                          <p:spTgt spid="64527"/>
                                        </p:tgtEl>
                                      </p:cBhvr>
                                    </p:animEffect>
                                  </p:childTnLst>
                                </p:cTn>
                              </p:par>
                            </p:childTnLst>
                          </p:cTn>
                        </p:par>
                        <p:par>
                          <p:cTn id="16" fill="hold">
                            <p:stCondLst>
                              <p:cond delay="2000"/>
                            </p:stCondLst>
                            <p:childTnLst>
                              <p:par>
                                <p:cTn id="17" presetID="22" presetClass="entr" presetSubtype="1" fill="hold" nodeType="afterEffect">
                                  <p:stCondLst>
                                    <p:cond delay="0"/>
                                  </p:stCondLst>
                                  <p:childTnLst>
                                    <p:set>
                                      <p:cBhvr>
                                        <p:cTn id="18" dur="1" fill="hold">
                                          <p:stCondLst>
                                            <p:cond delay="0"/>
                                          </p:stCondLst>
                                        </p:cTn>
                                        <p:tgtEl>
                                          <p:spTgt spid="64530"/>
                                        </p:tgtEl>
                                        <p:attrNameLst>
                                          <p:attrName>style.visibility</p:attrName>
                                        </p:attrNameLst>
                                      </p:cBhvr>
                                      <p:to>
                                        <p:strVal val="visible"/>
                                      </p:to>
                                    </p:set>
                                    <p:animEffect transition="in" filter="wipe(up)">
                                      <p:cBhvr>
                                        <p:cTn id="19" dur="500"/>
                                        <p:tgtEl>
                                          <p:spTgt spid="64530"/>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par>
                          <p:cTn id="24" fill="hold">
                            <p:stCondLst>
                              <p:cond delay="3000"/>
                            </p:stCondLst>
                            <p:childTnLst>
                              <p:par>
                                <p:cTn id="25" presetID="10" presetClass="entr" presetSubtype="0" fill="hold" grpId="0" nodeType="afterEffect">
                                  <p:stCondLst>
                                    <p:cond delay="0"/>
                                  </p:stCondLst>
                                  <p:childTnLst>
                                    <p:set>
                                      <p:cBhvr>
                                        <p:cTn id="26" dur="1" fill="hold">
                                          <p:stCondLst>
                                            <p:cond delay="0"/>
                                          </p:stCondLst>
                                        </p:cTn>
                                        <p:tgtEl>
                                          <p:spTgt spid="27">
                                            <p:txEl>
                                              <p:pRg st="0" end="0"/>
                                            </p:txEl>
                                          </p:spTgt>
                                        </p:tgtEl>
                                        <p:attrNameLst>
                                          <p:attrName>style.visibility</p:attrName>
                                        </p:attrNameLst>
                                      </p:cBhvr>
                                      <p:to>
                                        <p:strVal val="visible"/>
                                      </p:to>
                                    </p:set>
                                    <p:animEffect transition="in" filter="fade">
                                      <p:cBhvr>
                                        <p:cTn id="27" dur="500"/>
                                        <p:tgtEl>
                                          <p:spTgt spid="27">
                                            <p:txEl>
                                              <p:pRg st="0" end="0"/>
                                            </p:txEl>
                                          </p:spTgt>
                                        </p:tgtEl>
                                      </p:cBhvr>
                                    </p:animEffect>
                                  </p:childTnLst>
                                </p:cTn>
                              </p:par>
                            </p:childTnLst>
                          </p:cTn>
                        </p:par>
                        <p:par>
                          <p:cTn id="28" fill="hold">
                            <p:stCondLst>
                              <p:cond delay="3500"/>
                            </p:stCondLst>
                            <p:childTnLst>
                              <p:par>
                                <p:cTn id="29" presetID="10" presetClass="entr" presetSubtype="0"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par>
                          <p:cTn id="32" fill="hold">
                            <p:stCondLst>
                              <p:cond delay="4000"/>
                            </p:stCondLst>
                            <p:childTnLst>
                              <p:par>
                                <p:cTn id="33" presetID="21" presetClass="entr" presetSubtype="1" fill="hold" grpId="0" nodeType="afterEffect">
                                  <p:stCondLst>
                                    <p:cond delay="0"/>
                                  </p:stCondLst>
                                  <p:childTnLst>
                                    <p:set>
                                      <p:cBhvr>
                                        <p:cTn id="34" dur="1" fill="hold">
                                          <p:stCondLst>
                                            <p:cond delay="0"/>
                                          </p:stCondLst>
                                        </p:cTn>
                                        <p:tgtEl>
                                          <p:spTgt spid="633875"/>
                                        </p:tgtEl>
                                        <p:attrNameLst>
                                          <p:attrName>style.visibility</p:attrName>
                                        </p:attrNameLst>
                                      </p:cBhvr>
                                      <p:to>
                                        <p:strVal val="visible"/>
                                      </p:to>
                                    </p:set>
                                    <p:animEffect transition="in" filter="wheel(1)">
                                      <p:cBhvr>
                                        <p:cTn id="35" dur="1000"/>
                                        <p:tgtEl>
                                          <p:spTgt spid="633875"/>
                                        </p:tgtEl>
                                      </p:cBhvr>
                                    </p:animEffect>
                                  </p:childTnLst>
                                </p:cTn>
                              </p:par>
                            </p:childTnLst>
                          </p:cTn>
                        </p:par>
                        <p:par>
                          <p:cTn id="36" fill="hold">
                            <p:stCondLst>
                              <p:cond delay="5000"/>
                            </p:stCondLst>
                            <p:childTnLst>
                              <p:par>
                                <p:cTn id="37" presetID="21" presetClass="entr" presetSubtype="1" fill="hold" grpId="0" nodeType="afterEffect">
                                  <p:stCondLst>
                                    <p:cond delay="0"/>
                                  </p:stCondLst>
                                  <p:childTnLst>
                                    <p:set>
                                      <p:cBhvr>
                                        <p:cTn id="38" dur="1" fill="hold">
                                          <p:stCondLst>
                                            <p:cond delay="0"/>
                                          </p:stCondLst>
                                        </p:cTn>
                                        <p:tgtEl>
                                          <p:spTgt spid="64519"/>
                                        </p:tgtEl>
                                        <p:attrNameLst>
                                          <p:attrName>style.visibility</p:attrName>
                                        </p:attrNameLst>
                                      </p:cBhvr>
                                      <p:to>
                                        <p:strVal val="visible"/>
                                      </p:to>
                                    </p:set>
                                    <p:animEffect transition="in" filter="wheel(1)">
                                      <p:cBhvr>
                                        <p:cTn id="39" dur="500"/>
                                        <p:tgtEl>
                                          <p:spTgt spid="64519"/>
                                        </p:tgtEl>
                                      </p:cBhvr>
                                    </p:animEffect>
                                  </p:childTnLst>
                                </p:cTn>
                              </p:par>
                            </p:childTnLst>
                          </p:cTn>
                        </p:par>
                        <p:par>
                          <p:cTn id="40" fill="hold">
                            <p:stCondLst>
                              <p:cond delay="5500"/>
                            </p:stCondLst>
                            <p:childTnLst>
                              <p:par>
                                <p:cTn id="41" presetID="22" presetClass="entr" presetSubtype="2" fill="hold" grpId="0" nodeType="afterEffect">
                                  <p:stCondLst>
                                    <p:cond delay="0"/>
                                  </p:stCondLst>
                                  <p:childTnLst>
                                    <p:set>
                                      <p:cBhvr>
                                        <p:cTn id="42" dur="1" fill="hold">
                                          <p:stCondLst>
                                            <p:cond delay="0"/>
                                          </p:stCondLst>
                                        </p:cTn>
                                        <p:tgtEl>
                                          <p:spTgt spid="64525"/>
                                        </p:tgtEl>
                                        <p:attrNameLst>
                                          <p:attrName>style.visibility</p:attrName>
                                        </p:attrNameLst>
                                      </p:cBhvr>
                                      <p:to>
                                        <p:strVal val="visible"/>
                                      </p:to>
                                    </p:set>
                                    <p:animEffect transition="in" filter="wipe(right)">
                                      <p:cBhvr>
                                        <p:cTn id="43" dur="500"/>
                                        <p:tgtEl>
                                          <p:spTgt spid="64525"/>
                                        </p:tgtEl>
                                      </p:cBhvr>
                                    </p:animEffect>
                                  </p:childTnLst>
                                </p:cTn>
                              </p:par>
                            </p:childTnLst>
                          </p:cTn>
                        </p:par>
                        <p:par>
                          <p:cTn id="44" fill="hold">
                            <p:stCondLst>
                              <p:cond delay="6000"/>
                            </p:stCondLst>
                            <p:childTnLst>
                              <p:par>
                                <p:cTn id="45" presetID="22" presetClass="entr" presetSubtype="1"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up)">
                                      <p:cBhvr>
                                        <p:cTn id="47" dur="500"/>
                                        <p:tgtEl>
                                          <p:spTgt spid="22"/>
                                        </p:tgtEl>
                                      </p:cBhvr>
                                    </p:animEffect>
                                  </p:childTnLst>
                                </p:cTn>
                              </p:par>
                            </p:childTnLst>
                          </p:cTn>
                        </p:par>
                        <p:par>
                          <p:cTn id="48" fill="hold">
                            <p:stCondLst>
                              <p:cond delay="6500"/>
                            </p:stCondLst>
                            <p:childTnLst>
                              <p:par>
                                <p:cTn id="49" presetID="10" presetClass="entr" presetSubtype="0" fill="hold" grpId="0" nodeType="afterEffect">
                                  <p:stCondLst>
                                    <p:cond delay="0"/>
                                  </p:stCondLst>
                                  <p:childTnLst>
                                    <p:set>
                                      <p:cBhvr>
                                        <p:cTn id="50" dur="1" fill="hold">
                                          <p:stCondLst>
                                            <p:cond delay="0"/>
                                          </p:stCondLst>
                                        </p:cTn>
                                        <p:tgtEl>
                                          <p:spTgt spid="26">
                                            <p:txEl>
                                              <p:pRg st="0" end="0"/>
                                            </p:txEl>
                                          </p:spTgt>
                                        </p:tgtEl>
                                        <p:attrNameLst>
                                          <p:attrName>style.visibility</p:attrName>
                                        </p:attrNameLst>
                                      </p:cBhvr>
                                      <p:to>
                                        <p:strVal val="visible"/>
                                      </p:to>
                                    </p:set>
                                    <p:animEffect transition="in" filter="fade">
                                      <p:cBhvr>
                                        <p:cTn id="51" dur="500"/>
                                        <p:tgtEl>
                                          <p:spTgt spid="26">
                                            <p:txEl>
                                              <p:pRg st="0" end="0"/>
                                            </p:txEl>
                                          </p:spTgt>
                                        </p:tgtEl>
                                      </p:cBhvr>
                                    </p:animEffect>
                                  </p:childTnLst>
                                </p:cTn>
                              </p:par>
                            </p:childTnLst>
                          </p:cTn>
                        </p:par>
                        <p:par>
                          <p:cTn id="52" fill="hold">
                            <p:stCondLst>
                              <p:cond delay="7000"/>
                            </p:stCondLst>
                            <p:childTnLst>
                              <p:par>
                                <p:cTn id="53" presetID="10" presetClass="entr" presetSubtype="0" fill="hold"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9" grpId="0" animBg="1"/>
      <p:bldP spid="64525" grpId="0" animBg="1"/>
      <p:bldP spid="633874" grpId="0" animBg="1"/>
      <p:bldP spid="633875" grpId="0" animBg="1"/>
      <p:bldP spid="2" grpId="0" animBg="1"/>
      <p:bldP spid="22" grpId="0" animBg="1"/>
      <p:bldP spid="26" grpId="0" build="allAtOnce"/>
      <p:bldP spid="27" grpId="0" build="allAtOnce"/>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sz="3600" dirty="0"/>
              <a:t>第一范式（续）</a:t>
            </a:r>
            <a:endParaRPr lang="zh-CN" altLang="en-US" sz="3600" dirty="0"/>
          </a:p>
        </p:txBody>
      </p:sp>
      <p:sp>
        <p:nvSpPr>
          <p:cNvPr id="23555" name="Rectangle 3"/>
          <p:cNvSpPr>
            <a:spLocks noGrp="1" noChangeArrowheads="1"/>
          </p:cNvSpPr>
          <p:nvPr>
            <p:ph idx="1"/>
          </p:nvPr>
        </p:nvSpPr>
        <p:spPr>
          <a:xfrm>
            <a:off x="-396552" y="897564"/>
            <a:ext cx="7924800" cy="690563"/>
          </a:xfrm>
        </p:spPr>
        <p:txBody>
          <a:bodyPr/>
          <a:lstStyle/>
          <a:p>
            <a:pPr lvl="2"/>
            <a:r>
              <a:rPr lang="zh-CN" altLang="en-US" sz="2800" dirty="0"/>
              <a:t>函数依赖图：</a:t>
            </a:r>
            <a:endParaRPr lang="zh-CN" altLang="en-US" sz="2800" dirty="0"/>
          </a:p>
        </p:txBody>
      </p:sp>
      <p:sp>
        <p:nvSpPr>
          <p:cNvPr id="19" name="Rectangle 3"/>
          <p:cNvSpPr txBox="1">
            <a:spLocks noChangeArrowheads="1"/>
          </p:cNvSpPr>
          <p:nvPr/>
        </p:nvSpPr>
        <p:spPr bwMode="auto">
          <a:xfrm>
            <a:off x="428596" y="3143254"/>
            <a:ext cx="7949281" cy="1214446"/>
          </a:xfrm>
          <a:prstGeom prst="rect">
            <a:avLst/>
          </a:prstGeom>
          <a:noFill/>
          <a:ln w="9525">
            <a:solidFill>
              <a:schemeClr val="accent1"/>
            </a:solidFill>
            <a:miter lim="800000"/>
          </a:ln>
        </p:spPr>
        <p:txBody>
          <a:bodyPr vert="horz" wrap="square" lIns="91440" tIns="45720" rIns="91440" bIns="45720" numCol="1" anchor="t" anchorCtr="0" compatLnSpc="1"/>
          <a:lstStyle/>
          <a:p>
            <a:pPr marL="228600" indent="-228600" eaLnBrk="0" hangingPunct="0">
              <a:spcBef>
                <a:spcPct val="20000"/>
              </a:spcBef>
              <a:buFont typeface="Arial" panose="020B0604020202020204" pitchFamily="34" charset="0"/>
              <a:buChar char="•"/>
              <a:defRPr/>
            </a:pPr>
            <a:r>
              <a:rPr lang="zh-CN" altLang="en-US" sz="2000" b="1" dirty="0"/>
              <a:t>关系模式</a:t>
            </a:r>
            <a:r>
              <a:rPr lang="en-US" sz="2000" b="1" dirty="0"/>
              <a:t>SC</a:t>
            </a:r>
            <a:r>
              <a:rPr lang="zh-CN" altLang="en-US" sz="2000" b="1" dirty="0"/>
              <a:t>的码为（</a:t>
            </a:r>
            <a:r>
              <a:rPr lang="en-US" sz="2000" b="1" dirty="0" err="1"/>
              <a:t>Sno</a:t>
            </a:r>
            <a:r>
              <a:rPr lang="en-US" sz="2000" b="1" dirty="0"/>
              <a:t>, </a:t>
            </a:r>
            <a:r>
              <a:rPr lang="en-US" sz="2000" b="1" dirty="0" err="1"/>
              <a:t>Cno</a:t>
            </a:r>
            <a:r>
              <a:rPr lang="zh-CN" altLang="en-US" sz="2000" b="1" dirty="0"/>
              <a:t>），关系模式</a:t>
            </a:r>
            <a:r>
              <a:rPr lang="en-US" sz="2000" b="1" dirty="0"/>
              <a:t>S-L</a:t>
            </a:r>
            <a:r>
              <a:rPr lang="zh-CN" altLang="en-US" sz="2000" b="1" dirty="0"/>
              <a:t>的码为</a:t>
            </a:r>
            <a:r>
              <a:rPr lang="en-US" sz="2000" b="1" dirty="0" err="1"/>
              <a:t>Sno</a:t>
            </a:r>
            <a:endParaRPr lang="en-US" sz="2000" b="1" dirty="0"/>
          </a:p>
          <a:p>
            <a:pPr marL="228600" indent="-228600" eaLnBrk="0" hangingPunct="0">
              <a:spcBef>
                <a:spcPct val="20000"/>
              </a:spcBef>
              <a:buFont typeface="Arial" panose="020B0604020202020204" pitchFamily="34" charset="0"/>
              <a:buChar char="•"/>
              <a:defRPr/>
            </a:pPr>
            <a:r>
              <a:rPr lang="zh-CN" altLang="en-US" sz="2000" b="1" dirty="0"/>
              <a:t>非主属性对码都是完全函数依赖了。</a:t>
            </a:r>
            <a:endParaRPr lang="zh-CN" altLang="en-US" sz="2000" b="1" dirty="0"/>
          </a:p>
          <a:p>
            <a:pPr marL="228600" indent="-228600" eaLnBrk="0" hangingPunct="0">
              <a:spcBef>
                <a:spcPct val="20000"/>
              </a:spcBef>
              <a:buFont typeface="Arial" panose="020B0604020202020204" pitchFamily="34" charset="0"/>
              <a:buChar char="•"/>
              <a:defRPr/>
            </a:pPr>
            <a:r>
              <a:rPr kumimoji="0" lang="zh-CN" altLang="en-US" sz="2000" b="1" i="0" u="none" strike="noStrike" kern="0" cap="none" spc="0" normalizeH="0" baseline="0" noProof="0" dirty="0">
                <a:ln>
                  <a:noFill/>
                </a:ln>
                <a:solidFill>
                  <a:schemeClr val="tx1"/>
                </a:solidFill>
                <a:effectLst/>
                <a:uLnTx/>
                <a:uFillTx/>
                <a:latin typeface="+mn-lt"/>
                <a:ea typeface="+mn-ea"/>
              </a:rPr>
              <a:t>从而使上述四个问题在一定程度上得到了一定的解决</a:t>
            </a:r>
            <a:r>
              <a:rPr lang="zh-CN" altLang="en-US" sz="2000" b="1" kern="0" dirty="0">
                <a:latin typeface="+mn-lt"/>
                <a:ea typeface="+mn-ea"/>
              </a:rPr>
              <a:t>。</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800" b="1" i="0" u="none" strike="noStrike" kern="0" cap="none" spc="0" normalizeH="0" baseline="0" noProof="0" dirty="0">
              <a:ln>
                <a:noFill/>
              </a:ln>
              <a:solidFill>
                <a:schemeClr val="tx1"/>
              </a:solidFill>
              <a:effectLst/>
              <a:uLnTx/>
              <a:uFillTx/>
              <a:latin typeface="+mn-lt"/>
              <a:ea typeface="+mn-ea"/>
            </a:endParaRPr>
          </a:p>
        </p:txBody>
      </p:sp>
      <p:pic>
        <p:nvPicPr>
          <p:cNvPr id="579585" name="Picture 1" descr="6z4"/>
          <p:cNvPicPr>
            <a:picLocks noChangeAspect="1" noChangeArrowheads="1"/>
          </p:cNvPicPr>
          <p:nvPr/>
        </p:nvPicPr>
        <p:blipFill>
          <a:blip r:embed="rId1"/>
          <a:srcRect/>
          <a:stretch>
            <a:fillRect/>
          </a:stretch>
        </p:blipFill>
        <p:spPr bwMode="auto">
          <a:xfrm>
            <a:off x="3000364" y="897564"/>
            <a:ext cx="2000264" cy="1984677"/>
          </a:xfrm>
          <a:prstGeom prst="rect">
            <a:avLst/>
          </a:prstGeom>
          <a:noFill/>
          <a:ln w="9525">
            <a:noFill/>
            <a:miter lim="800000"/>
            <a:headEnd/>
            <a:tailEnd/>
          </a:ln>
        </p:spPr>
      </p:pic>
      <p:pic>
        <p:nvPicPr>
          <p:cNvPr id="579586" name="Picture 2" descr="6z5"/>
          <p:cNvPicPr>
            <a:picLocks noChangeAspect="1" noChangeArrowheads="1"/>
          </p:cNvPicPr>
          <p:nvPr/>
        </p:nvPicPr>
        <p:blipFill>
          <a:blip r:embed="rId2"/>
          <a:srcRect/>
          <a:stretch>
            <a:fillRect/>
          </a:stretch>
        </p:blipFill>
        <p:spPr bwMode="auto">
          <a:xfrm>
            <a:off x="5272132" y="897563"/>
            <a:ext cx="2021657" cy="1984677"/>
          </a:xfrm>
          <a:prstGeom prst="rect">
            <a:avLst/>
          </a:prstGeom>
          <a:noFill/>
          <a:ln w="9525">
            <a:noFill/>
            <a:miter lim="800000"/>
            <a:headEnd/>
            <a:tailEnd/>
          </a:ln>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bg/>
                                          </p:spTgt>
                                        </p:tgtEl>
                                        <p:attrNameLst>
                                          <p:attrName>style.visibility</p:attrName>
                                        </p:attrNameLst>
                                      </p:cBhvr>
                                      <p:to>
                                        <p:strVal val="visible"/>
                                      </p:to>
                                    </p:set>
                                    <p:animEffect transition="in" filter="fade">
                                      <p:cBhvr>
                                        <p:cTn id="7" dur="2000"/>
                                        <p:tgtEl>
                                          <p:spTgt spid="19">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xEl>
                                              <p:pRg st="0" end="0"/>
                                            </p:txEl>
                                          </p:spTgt>
                                        </p:tgtEl>
                                        <p:attrNameLst>
                                          <p:attrName>style.visibility</p:attrName>
                                        </p:attrNameLst>
                                      </p:cBhvr>
                                      <p:to>
                                        <p:strVal val="visible"/>
                                      </p:to>
                                    </p:set>
                                    <p:animEffect transition="in" filter="fade">
                                      <p:cBhvr>
                                        <p:cTn id="10" dur="2000"/>
                                        <p:tgtEl>
                                          <p:spTgt spid="1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xEl>
                                              <p:pRg st="1" end="1"/>
                                            </p:txEl>
                                          </p:spTgt>
                                        </p:tgtEl>
                                        <p:attrNameLst>
                                          <p:attrName>style.visibility</p:attrName>
                                        </p:attrNameLst>
                                      </p:cBhvr>
                                      <p:to>
                                        <p:strVal val="visible"/>
                                      </p:to>
                                    </p:set>
                                    <p:animEffect transition="in" filter="fade">
                                      <p:cBhvr>
                                        <p:cTn id="15" dur="2000"/>
                                        <p:tgtEl>
                                          <p:spTgt spid="19">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xEl>
                                              <p:pRg st="2" end="2"/>
                                            </p:txEl>
                                          </p:spTgt>
                                        </p:tgtEl>
                                        <p:attrNameLst>
                                          <p:attrName>style.visibility</p:attrName>
                                        </p:attrNameLst>
                                      </p:cBhvr>
                                      <p:to>
                                        <p:strVal val="visible"/>
                                      </p:to>
                                    </p:set>
                                    <p:animEffect transition="in" filter="fade">
                                      <p:cBhvr>
                                        <p:cTn id="18" dur="20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build="allAtOnce"/>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en-US" sz="3600" dirty="0"/>
              <a:t>第一范式（续）</a:t>
            </a:r>
            <a:endParaRPr lang="zh-CN" altLang="en-US" sz="3600" dirty="0"/>
          </a:p>
        </p:txBody>
      </p:sp>
      <p:sp>
        <p:nvSpPr>
          <p:cNvPr id="2" name="文本框 1"/>
          <p:cNvSpPr txBox="1"/>
          <p:nvPr/>
        </p:nvSpPr>
        <p:spPr>
          <a:xfrm>
            <a:off x="457201" y="1785932"/>
            <a:ext cx="8291513"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(1) </a:t>
            </a:r>
            <a:r>
              <a:rPr lang="zh-CN" altLang="en-US" sz="2000" b="1" dirty="0"/>
              <a:t>由于学生选修课程的情况与学生的基本情况是分开存储在两个关系中的，在</a:t>
            </a:r>
            <a:r>
              <a:rPr lang="en-US" altLang="zh-CN" sz="2000" b="1" dirty="0"/>
              <a:t>SL</a:t>
            </a:r>
            <a:r>
              <a:rPr lang="zh-CN" altLang="en-US" sz="2000" b="1" dirty="0"/>
              <a:t>关系中可以插入尚未选课的学生。</a:t>
            </a:r>
            <a:endParaRPr lang="zh-CN" altLang="en-US" sz="2400" b="1" dirty="0"/>
          </a:p>
        </p:txBody>
      </p:sp>
      <p:sp>
        <p:nvSpPr>
          <p:cNvPr id="3" name="文本框 2"/>
          <p:cNvSpPr txBox="1"/>
          <p:nvPr/>
        </p:nvSpPr>
        <p:spPr>
          <a:xfrm>
            <a:off x="457201" y="2571750"/>
            <a:ext cx="8291513"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(2) </a:t>
            </a:r>
            <a:r>
              <a:rPr lang="zh-CN" altLang="en-US" sz="2000" b="1" dirty="0"/>
              <a:t>删除一个学生的所有选课记录，只是</a:t>
            </a:r>
            <a:r>
              <a:rPr lang="en-US" altLang="zh-CN" sz="2000" b="1" dirty="0"/>
              <a:t>SC</a:t>
            </a:r>
            <a:r>
              <a:rPr lang="zh-CN" altLang="en-US" sz="2000" b="1" dirty="0"/>
              <a:t>关系中没有关于该学生的记录了，</a:t>
            </a:r>
            <a:r>
              <a:rPr lang="en-US" altLang="zh-CN" sz="2000" b="1" dirty="0"/>
              <a:t>SL</a:t>
            </a:r>
            <a:r>
              <a:rPr lang="zh-CN" altLang="en-US" sz="2000" b="1" dirty="0"/>
              <a:t>关系中关于该学生的记录不受影响。</a:t>
            </a:r>
            <a:endParaRPr lang="zh-CN" altLang="en-US" sz="2000" b="1" dirty="0"/>
          </a:p>
        </p:txBody>
      </p:sp>
      <p:sp>
        <p:nvSpPr>
          <p:cNvPr id="4" name="文本框 3"/>
          <p:cNvSpPr txBox="1"/>
          <p:nvPr/>
        </p:nvSpPr>
        <p:spPr>
          <a:xfrm>
            <a:off x="457200" y="3357568"/>
            <a:ext cx="8229600"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(3) </a:t>
            </a:r>
            <a:r>
              <a:rPr lang="zh-CN" altLang="en-US" sz="2000" b="1" dirty="0"/>
              <a:t>不论一个学生选多少门课程，他的</a:t>
            </a:r>
            <a:r>
              <a:rPr lang="en-US" altLang="zh-CN" sz="2000" b="1" dirty="0" err="1"/>
              <a:t>Sdept</a:t>
            </a:r>
            <a:r>
              <a:rPr lang="zh-CN" altLang="en-US" sz="2000" b="1" dirty="0"/>
              <a:t>和</a:t>
            </a:r>
            <a:r>
              <a:rPr lang="en-US" altLang="zh-CN" sz="2000" b="1" dirty="0" err="1"/>
              <a:t>Sloc</a:t>
            </a:r>
            <a:r>
              <a:rPr lang="zh-CN" altLang="en-US" sz="2000" b="1" dirty="0"/>
              <a:t>值都只存储</a:t>
            </a:r>
            <a:r>
              <a:rPr lang="en-US" altLang="zh-CN" sz="2000" b="1" dirty="0"/>
              <a:t>1</a:t>
            </a:r>
            <a:r>
              <a:rPr lang="zh-CN" altLang="en-US" sz="2000" b="1" dirty="0"/>
              <a:t>次。这就大大降低了数据冗余。</a:t>
            </a:r>
            <a:endParaRPr lang="zh-CN" altLang="en-US" sz="2400" b="1" dirty="0"/>
          </a:p>
        </p:txBody>
      </p:sp>
      <p:sp>
        <p:nvSpPr>
          <p:cNvPr id="5" name="文本框 4"/>
          <p:cNvSpPr txBox="1"/>
          <p:nvPr/>
        </p:nvSpPr>
        <p:spPr>
          <a:xfrm>
            <a:off x="457200" y="4137924"/>
            <a:ext cx="8229600"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(4) </a:t>
            </a:r>
            <a:r>
              <a:rPr lang="zh-CN" altLang="en-US" sz="2000" b="1" dirty="0"/>
              <a:t>学生转系只需修改</a:t>
            </a:r>
            <a:r>
              <a:rPr lang="en-US" altLang="zh-CN" sz="2000" b="1" dirty="0"/>
              <a:t>SL</a:t>
            </a:r>
            <a:r>
              <a:rPr lang="zh-CN" altLang="en-US" sz="2000" b="1" dirty="0"/>
              <a:t>关系中该学生元组的</a:t>
            </a:r>
            <a:r>
              <a:rPr lang="en-US" altLang="zh-CN" sz="2000" b="1" dirty="0" err="1"/>
              <a:t>Sdept</a:t>
            </a:r>
            <a:r>
              <a:rPr lang="zh-CN" altLang="en-US" sz="2000" b="1" dirty="0"/>
              <a:t>值和</a:t>
            </a:r>
            <a:r>
              <a:rPr lang="en-US" altLang="zh-CN" sz="2000" b="1" dirty="0" err="1"/>
              <a:t>Sloc</a:t>
            </a:r>
            <a:r>
              <a:rPr lang="zh-CN" altLang="en-US" sz="2000" b="1" dirty="0"/>
              <a:t>值，由于</a:t>
            </a:r>
            <a:r>
              <a:rPr lang="en-US" altLang="zh-CN" sz="2000" b="1" dirty="0" err="1"/>
              <a:t>Sdept</a:t>
            </a:r>
            <a:r>
              <a:rPr lang="zh-CN" altLang="en-US" sz="2000" b="1" dirty="0"/>
              <a:t>、 </a:t>
            </a:r>
            <a:r>
              <a:rPr lang="en-US" altLang="zh-CN" sz="2000" b="1" dirty="0" err="1"/>
              <a:t>Sloc</a:t>
            </a:r>
            <a:r>
              <a:rPr lang="zh-CN" altLang="en-US" sz="2000" b="1" dirty="0"/>
              <a:t>并未重复存储，因此减化了修改操作。</a:t>
            </a:r>
            <a:endParaRPr lang="zh-CN" altLang="en-US" sz="2000" b="1" dirty="0"/>
          </a:p>
        </p:txBody>
      </p:sp>
      <p:graphicFrame>
        <p:nvGraphicFramePr>
          <p:cNvPr id="8" name="表格 7"/>
          <p:cNvGraphicFramePr>
            <a:graphicFrameLocks noGrp="1"/>
          </p:cNvGraphicFramePr>
          <p:nvPr/>
        </p:nvGraphicFramePr>
        <p:xfrm>
          <a:off x="5117580" y="843558"/>
          <a:ext cx="2831976" cy="845820"/>
        </p:xfrm>
        <a:graphic>
          <a:graphicData uri="http://schemas.openxmlformats.org/drawingml/2006/table">
            <a:tbl>
              <a:tblPr firstRow="1" bandRow="1">
                <a:tableStyleId>{72833802-FEF1-4C79-8D5D-14CF1EAF98D9}</a:tableStyleId>
              </a:tblPr>
              <a:tblGrid>
                <a:gridCol w="943992"/>
                <a:gridCol w="943992"/>
                <a:gridCol w="943992"/>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9" name="表格 8"/>
          <p:cNvGraphicFramePr>
            <a:graphicFrameLocks noGrp="1"/>
          </p:cNvGraphicFramePr>
          <p:nvPr/>
        </p:nvGraphicFramePr>
        <p:xfrm>
          <a:off x="1582688" y="843558"/>
          <a:ext cx="2831976" cy="845820"/>
        </p:xfrm>
        <a:graphic>
          <a:graphicData uri="http://schemas.openxmlformats.org/drawingml/2006/table">
            <a:tbl>
              <a:tblPr firstRow="1" bandRow="1">
                <a:tableStyleId>{72833802-FEF1-4C79-8D5D-14CF1EAF98D9}</a:tableStyleId>
              </a:tblPr>
              <a:tblGrid>
                <a:gridCol w="943992"/>
                <a:gridCol w="943992"/>
                <a:gridCol w="943992"/>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c>
                  <a:txBody>
                    <a:bodyPr/>
                    <a:lstStyle/>
                    <a:p>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c>
                  <a:txBody>
                    <a:bodyPr/>
                    <a:lstStyle/>
                    <a:p>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0" name="TextBox 9"/>
          <p:cNvSpPr txBox="1"/>
          <p:nvPr/>
        </p:nvSpPr>
        <p:spPr>
          <a:xfrm>
            <a:off x="1043608" y="843558"/>
            <a:ext cx="634752" cy="369332"/>
          </a:xfrm>
          <a:prstGeom prst="rect">
            <a:avLst/>
          </a:prstGeom>
          <a:noFill/>
        </p:spPr>
        <p:txBody>
          <a:bodyPr wrap="square" rtlCol="0">
            <a:spAutoFit/>
          </a:bodyPr>
          <a:lstStyle/>
          <a:p>
            <a:r>
              <a:rPr lang="en-US" altLang="zh-CN" b="1" dirty="0"/>
              <a:t>SC</a:t>
            </a:r>
            <a:endParaRPr lang="zh-CN" altLang="en-US" b="1" dirty="0"/>
          </a:p>
        </p:txBody>
      </p:sp>
      <p:sp>
        <p:nvSpPr>
          <p:cNvPr id="11" name="TextBox 10"/>
          <p:cNvSpPr txBox="1"/>
          <p:nvPr/>
        </p:nvSpPr>
        <p:spPr>
          <a:xfrm>
            <a:off x="4644008" y="849459"/>
            <a:ext cx="634752" cy="369332"/>
          </a:xfrm>
          <a:prstGeom prst="rect">
            <a:avLst/>
          </a:prstGeom>
          <a:noFill/>
        </p:spPr>
        <p:txBody>
          <a:bodyPr wrap="square" rtlCol="0">
            <a:spAutoFit/>
          </a:bodyPr>
          <a:lstStyle/>
          <a:p>
            <a:r>
              <a:rPr lang="en-US" altLang="zh-CN" b="1" dirty="0"/>
              <a:t>SL</a:t>
            </a:r>
            <a:endParaRPr lang="zh-CN" altLang="en-US"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endParaRPr lang="zh-CN" altLang="en-US" sz="2800" dirty="0"/>
          </a:p>
          <a:p>
            <a:pPr>
              <a:spcBef>
                <a:spcPts val="0"/>
              </a:spcBef>
            </a:pPr>
            <a:r>
              <a:rPr lang="en-US" altLang="zh-CN" sz="2800" dirty="0">
                <a:solidFill>
                  <a:srgbClr val="FF0000"/>
                </a:solidFill>
              </a:rPr>
              <a:t>6.2.4 </a:t>
            </a:r>
            <a:r>
              <a:rPr lang="zh-CN" altLang="en-US" sz="2800" dirty="0">
                <a:solidFill>
                  <a:srgbClr val="FF0000"/>
                </a:solidFill>
              </a:rPr>
              <a:t>第二范式（</a:t>
            </a:r>
            <a:r>
              <a:rPr lang="en-US" altLang="zh-CN" sz="2800" dirty="0">
                <a:solidFill>
                  <a:srgbClr val="FF0000"/>
                </a:solidFill>
              </a:rPr>
              <a:t>2NF</a:t>
            </a:r>
            <a:r>
              <a:rPr lang="zh-CN" altLang="en-US" sz="2800" dirty="0">
                <a:solidFill>
                  <a:srgbClr val="FF0000"/>
                </a:solidFill>
              </a:rPr>
              <a:t>）</a:t>
            </a:r>
            <a:endParaRPr lang="zh-CN" altLang="en-US" sz="2800" dirty="0">
              <a:solidFill>
                <a:srgbClr val="FF0000"/>
              </a:solidFill>
            </a:endParaRPr>
          </a:p>
          <a:p>
            <a:pPr>
              <a:spcBef>
                <a:spcPts val="0"/>
              </a:spcBef>
            </a:pPr>
            <a:r>
              <a:rPr lang="en-US" altLang="zh-CN" sz="2800" dirty="0"/>
              <a:t>6.2.5 </a:t>
            </a:r>
            <a:r>
              <a:rPr lang="zh-CN" altLang="en-US" sz="2800" dirty="0"/>
              <a:t>第三范式（</a:t>
            </a:r>
            <a:r>
              <a:rPr lang="en-US" altLang="zh-CN" sz="2800" dirty="0"/>
              <a:t>3NF</a:t>
            </a:r>
            <a:r>
              <a:rPr lang="zh-CN" altLang="en-US" sz="2800" dirty="0"/>
              <a:t>）</a:t>
            </a:r>
            <a:endParaRPr lang="zh-CN" altLang="en-US" sz="2800" dirty="0"/>
          </a:p>
          <a:p>
            <a:pPr>
              <a:spcBef>
                <a:spcPts val="0"/>
              </a:spcBef>
            </a:pPr>
            <a:r>
              <a:rPr lang="en-US" altLang="zh-CN" sz="2800" dirty="0"/>
              <a:t>6.2.6 BC</a:t>
            </a:r>
            <a:r>
              <a:rPr lang="zh-CN" altLang="en-US" sz="2800" dirty="0"/>
              <a:t>范式（</a:t>
            </a:r>
            <a:r>
              <a:rPr lang="en-US" altLang="zh-CN" sz="2800" dirty="0"/>
              <a:t>BCNF</a:t>
            </a:r>
            <a:r>
              <a:rPr lang="zh-CN" altLang="en-US" sz="2800" dirty="0"/>
              <a:t>）</a:t>
            </a:r>
            <a:endParaRPr lang="zh-CN" altLang="en-US" sz="2800" dirty="0"/>
          </a:p>
          <a:p>
            <a:pPr lvl="1">
              <a:spcBef>
                <a:spcPts val="0"/>
              </a:spcBef>
            </a:pPr>
            <a:r>
              <a:rPr lang="zh-CN" altLang="en-US" sz="2600" dirty="0"/>
              <a:t>*</a:t>
            </a:r>
            <a:r>
              <a:rPr lang="en-US" altLang="zh-CN" sz="2600" dirty="0"/>
              <a:t>6.2.7 </a:t>
            </a:r>
            <a:r>
              <a:rPr lang="zh-CN" altLang="en-US" sz="2600" dirty="0"/>
              <a:t>多值依赖</a:t>
            </a:r>
            <a:endParaRPr lang="en-US" altLang="zh-CN" sz="2600" dirty="0"/>
          </a:p>
          <a:p>
            <a:pPr lvl="1">
              <a:spcBef>
                <a:spcPts val="0"/>
              </a:spcBef>
            </a:pPr>
            <a:r>
              <a:rPr lang="zh-CN" altLang="en-US" sz="2600" dirty="0"/>
              <a:t>*</a:t>
            </a:r>
            <a:r>
              <a:rPr lang="en-US" altLang="zh-CN" sz="2600" dirty="0"/>
              <a:t>6.2.8 </a:t>
            </a:r>
            <a:r>
              <a:rPr lang="zh-CN" altLang="en-US" sz="2600" dirty="0"/>
              <a:t>第四范式（</a:t>
            </a:r>
            <a:r>
              <a:rPr lang="en-US" altLang="zh-CN" sz="2600" dirty="0"/>
              <a:t>4NF</a:t>
            </a:r>
            <a:r>
              <a:rPr lang="zh-CN" altLang="en-US" sz="2600" dirty="0"/>
              <a:t>）</a:t>
            </a:r>
            <a:endParaRPr lang="zh-CN" altLang="en-US" sz="2600" dirty="0"/>
          </a:p>
          <a:p>
            <a:pPr>
              <a:spcBef>
                <a:spcPts val="0"/>
              </a:spcBef>
            </a:pPr>
            <a:r>
              <a:rPr lang="en-US" altLang="zh-CN" sz="2800" dirty="0"/>
              <a:t>6.2.9 </a:t>
            </a:r>
            <a:r>
              <a:rPr lang="zh-CN" altLang="en-US" sz="2800" dirty="0"/>
              <a:t>规范化小结</a:t>
            </a:r>
            <a:endParaRPr lang="zh-CN" altLang="en-US"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ln>
        </p:spPr>
        <p:txBody>
          <a:bodyPr vert="horz" wrap="square" lIns="91440" tIns="45720" rIns="91440" bIns="45720" numCol="1" anchor="t" anchorCtr="0" compatLnSpc="1"/>
          <a:lstStyle/>
          <a:p>
            <a:pPr lvl="0" algn="ctr">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.4  </a:t>
            </a:r>
            <a:r>
              <a:rPr lang="zh-CN" altLang="en-US" sz="3600" b="1" kern="0" cap="all" dirty="0">
                <a:solidFill>
                  <a:schemeClr val="bg1"/>
                </a:solidFill>
                <a:latin typeface="+mj-lt"/>
                <a:ea typeface="+mj-ea"/>
                <a:cs typeface="+mj-cs"/>
              </a:rPr>
              <a:t>第二范式</a:t>
            </a:r>
            <a:endParaRPr lang="zh-CN" altLang="en-US" sz="3600" b="1" kern="0" cap="all" dirty="0">
              <a:solidFill>
                <a:schemeClr val="bg1"/>
              </a:solidFill>
              <a:latin typeface="+mj-lt"/>
              <a:ea typeface="+mj-ea"/>
              <a:cs typeface="+mj-cs"/>
            </a:endParaRPr>
          </a:p>
        </p:txBody>
      </p:sp>
    </p:spTree>
  </p:cSld>
  <p:clrMapOvr>
    <a:masterClrMapping/>
  </p:clrMapOvr>
  <p:transition spd="slow">
    <p:wipe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a:t>6.2.4 </a:t>
            </a:r>
            <a:r>
              <a:rPr lang="zh-CN" altLang="en-US"/>
              <a:t>第二范式（</a:t>
            </a:r>
            <a:r>
              <a:rPr lang="en-US" altLang="zh-CN"/>
              <a:t>2NF</a:t>
            </a:r>
            <a:r>
              <a:rPr lang="zh-CN" altLang="en-US"/>
              <a:t>）</a:t>
            </a:r>
            <a:endParaRPr lang="zh-CN" altLang="en-US"/>
          </a:p>
        </p:txBody>
      </p:sp>
      <p:sp>
        <p:nvSpPr>
          <p:cNvPr id="69635" name="Rectangle 3"/>
          <p:cNvSpPr>
            <a:spLocks noGrp="1" noChangeArrowheads="1"/>
          </p:cNvSpPr>
          <p:nvPr>
            <p:ph idx="1"/>
          </p:nvPr>
        </p:nvSpPr>
        <p:spPr/>
        <p:txBody>
          <a:bodyPr/>
          <a:lstStyle/>
          <a:p>
            <a:pPr>
              <a:defRPr/>
            </a:pPr>
            <a:r>
              <a:rPr lang="en-US" altLang="zh-CN" dirty="0"/>
              <a:t>2NF</a:t>
            </a:r>
            <a:r>
              <a:rPr lang="zh-CN" altLang="en-US" dirty="0"/>
              <a:t>的定义</a:t>
            </a:r>
            <a:br>
              <a:rPr lang="en-US" altLang="zh-CN" dirty="0"/>
            </a:br>
            <a:r>
              <a:rPr lang="zh-CN" altLang="en-US" dirty="0"/>
              <a:t>定义</a:t>
            </a:r>
            <a:r>
              <a:rPr lang="en-US" altLang="zh-CN" dirty="0"/>
              <a:t>6.6  </a:t>
            </a:r>
            <a:r>
              <a:rPr lang="zh-CN" altLang="en-US" dirty="0"/>
              <a:t>若关系模式</a:t>
            </a:r>
            <a:r>
              <a:rPr lang="en-US" altLang="zh-CN" dirty="0"/>
              <a:t>R∈1NF</a:t>
            </a:r>
            <a:r>
              <a:rPr lang="zh-CN" altLang="en-US" dirty="0"/>
              <a:t>，并且每一个非主属性都完全函数依赖于</a:t>
            </a:r>
            <a:r>
              <a:rPr lang="en-US" altLang="zh-CN" dirty="0"/>
              <a:t>R</a:t>
            </a:r>
            <a:r>
              <a:rPr lang="zh-CN" altLang="en-US" dirty="0"/>
              <a:t>的码，则</a:t>
            </a:r>
            <a:r>
              <a:rPr lang="en-US" altLang="zh-CN" dirty="0"/>
              <a:t>R∈2NF</a:t>
            </a:r>
            <a:r>
              <a:rPr lang="zh-CN" altLang="en-US" dirty="0"/>
              <a:t>。</a:t>
            </a:r>
            <a:endParaRPr lang="zh-CN" altLang="en-US" dirty="0"/>
          </a:p>
          <a:p>
            <a:pPr lvl="1">
              <a:defRPr/>
            </a:pPr>
            <a:r>
              <a:rPr lang="zh-CN" altLang="en-US" dirty="0"/>
              <a:t>例：</a:t>
            </a:r>
            <a:br>
              <a:rPr lang="en-US" altLang="zh-CN" dirty="0"/>
            </a:br>
            <a:r>
              <a:rPr lang="en-US" altLang="zh-CN" dirty="0"/>
              <a:t>SLC(</a:t>
            </a:r>
            <a:r>
              <a:rPr lang="en-US" altLang="zh-CN" dirty="0" err="1"/>
              <a:t>Sno</a:t>
            </a:r>
            <a:r>
              <a:rPr lang="en-US" altLang="zh-CN" dirty="0"/>
              <a:t>, </a:t>
            </a:r>
            <a:r>
              <a:rPr lang="en-US" altLang="zh-CN" dirty="0" err="1"/>
              <a:t>Sdept</a:t>
            </a:r>
            <a:r>
              <a:rPr lang="en-US" altLang="zh-CN" dirty="0"/>
              <a:t>, </a:t>
            </a:r>
            <a:r>
              <a:rPr lang="en-US" altLang="zh-CN" dirty="0" err="1"/>
              <a:t>Sloc</a:t>
            </a:r>
            <a:r>
              <a:rPr lang="en-US" altLang="zh-CN" dirty="0"/>
              <a:t>, </a:t>
            </a:r>
            <a:r>
              <a:rPr lang="en-US" altLang="zh-CN" dirty="0" err="1"/>
              <a:t>Cno</a:t>
            </a:r>
            <a:r>
              <a:rPr lang="en-US" altLang="zh-CN" dirty="0"/>
              <a:t>, Grade) ∈1NF</a:t>
            </a:r>
            <a:endParaRPr lang="en-US" altLang="zh-CN" dirty="0"/>
          </a:p>
          <a:p>
            <a:pPr marL="457200" lvl="1" indent="0">
              <a:buFont typeface="Wingdings" panose="05000000000000000000" pitchFamily="2" charset="2"/>
              <a:buNone/>
              <a:defRPr/>
            </a:pPr>
            <a:r>
              <a:rPr lang="en-US" altLang="zh-CN" dirty="0"/>
              <a:t>   SC</a:t>
            </a:r>
            <a:r>
              <a:rPr lang="zh-CN" altLang="en-US" dirty="0"/>
              <a:t>（</a:t>
            </a:r>
            <a:r>
              <a:rPr lang="en-US" altLang="zh-CN" dirty="0" err="1"/>
              <a:t>Sno</a:t>
            </a:r>
            <a:r>
              <a:rPr lang="zh-CN" altLang="en-US" dirty="0"/>
              <a:t>， </a:t>
            </a:r>
            <a:r>
              <a:rPr lang="en-US" altLang="zh-CN" dirty="0" err="1"/>
              <a:t>Cno</a:t>
            </a:r>
            <a:r>
              <a:rPr lang="zh-CN" altLang="en-US" dirty="0"/>
              <a:t>， </a:t>
            </a:r>
            <a:r>
              <a:rPr lang="en-US" altLang="zh-CN" dirty="0"/>
              <a:t>Grade</a:t>
            </a:r>
            <a:r>
              <a:rPr lang="zh-CN" altLang="en-US" dirty="0"/>
              <a:t>） ∈ </a:t>
            </a:r>
            <a:r>
              <a:rPr lang="en-US" altLang="zh-CN" dirty="0"/>
              <a:t>2NF</a:t>
            </a:r>
            <a:endParaRPr lang="en-US" altLang="zh-CN" dirty="0"/>
          </a:p>
          <a:p>
            <a:pPr marL="457200" lvl="1" indent="0">
              <a:buFont typeface="Wingdings" panose="05000000000000000000" pitchFamily="2" charset="2"/>
              <a:buNone/>
              <a:defRPr/>
            </a:pPr>
            <a:r>
              <a:rPr lang="en-US" altLang="zh-CN" dirty="0"/>
              <a:t>   SL</a:t>
            </a:r>
            <a:r>
              <a:rPr lang="zh-CN" altLang="en-US" dirty="0"/>
              <a:t>（</a:t>
            </a:r>
            <a:r>
              <a:rPr lang="en-US" altLang="zh-CN" dirty="0" err="1"/>
              <a:t>Sno</a:t>
            </a:r>
            <a:r>
              <a:rPr lang="zh-CN" altLang="en-US" dirty="0"/>
              <a:t>， </a:t>
            </a:r>
            <a:r>
              <a:rPr lang="en-US" altLang="zh-CN" dirty="0" err="1"/>
              <a:t>Sdept</a:t>
            </a:r>
            <a:r>
              <a:rPr lang="zh-CN" altLang="en-US" dirty="0"/>
              <a:t>， </a:t>
            </a:r>
            <a:r>
              <a:rPr lang="en-US" altLang="zh-CN" dirty="0" err="1"/>
              <a:t>Sloc</a:t>
            </a:r>
            <a:r>
              <a:rPr lang="zh-CN" altLang="en-US" dirty="0"/>
              <a:t>） ∈ </a:t>
            </a:r>
            <a:r>
              <a:rPr lang="en-US" altLang="zh-CN" dirty="0"/>
              <a:t>2NF</a:t>
            </a:r>
            <a:endParaRPr lang="en-US" altLang="zh-CN" dirty="0"/>
          </a:p>
          <a:p>
            <a:pPr>
              <a:defRPr/>
            </a:pPr>
            <a:endParaRPr lang="en-US" altLang="zh-CN" dirty="0"/>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CN"/>
              <a:t> </a:t>
            </a:r>
            <a:r>
              <a:rPr lang="zh-CN" altLang="en-US"/>
              <a:t>第二范式（续）</a:t>
            </a:r>
            <a:endParaRPr lang="zh-CN" altLang="en-US"/>
          </a:p>
        </p:txBody>
      </p:sp>
      <p:sp>
        <p:nvSpPr>
          <p:cNvPr id="27651" name="Rectangle 3"/>
          <p:cNvSpPr>
            <a:spLocks noGrp="1" noChangeArrowheads="1"/>
          </p:cNvSpPr>
          <p:nvPr>
            <p:ph idx="1"/>
          </p:nvPr>
        </p:nvSpPr>
        <p:spPr>
          <a:xfrm>
            <a:off x="457200" y="1004888"/>
            <a:ext cx="8363272" cy="3640931"/>
          </a:xfrm>
        </p:spPr>
        <p:txBody>
          <a:bodyPr/>
          <a:lstStyle/>
          <a:p>
            <a:r>
              <a:rPr lang="zh-CN" altLang="en-US" dirty="0"/>
              <a:t>采用投影分解法将一个</a:t>
            </a:r>
            <a:r>
              <a:rPr lang="en-US" altLang="zh-CN" dirty="0"/>
              <a:t>1NF</a:t>
            </a:r>
            <a:r>
              <a:rPr lang="zh-CN" altLang="en-US" dirty="0"/>
              <a:t>的关系分解为多个</a:t>
            </a:r>
            <a:r>
              <a:rPr lang="en-US" altLang="zh-CN" dirty="0"/>
              <a:t>2NF</a:t>
            </a:r>
            <a:r>
              <a:rPr lang="zh-CN" altLang="en-US" dirty="0"/>
              <a:t>的关系，可以在一定程度上减轻原</a:t>
            </a:r>
            <a:r>
              <a:rPr lang="en-US" altLang="zh-CN" dirty="0"/>
              <a:t>1NF</a:t>
            </a:r>
            <a:r>
              <a:rPr lang="zh-CN" altLang="en-US" dirty="0"/>
              <a:t>关系中存在的插入异常、删除异常、数据冗余度大、修改复杂等问题。</a:t>
            </a:r>
            <a:endParaRPr lang="zh-CN" altLang="en-US" dirty="0"/>
          </a:p>
          <a:p>
            <a:endParaRPr lang="zh-CN" altLang="en-US" dirty="0"/>
          </a:p>
          <a:p>
            <a:r>
              <a:rPr lang="zh-CN" altLang="en-US" dirty="0"/>
              <a:t>将一个</a:t>
            </a:r>
            <a:r>
              <a:rPr lang="en-US" altLang="zh-CN" dirty="0"/>
              <a:t>1NF</a:t>
            </a:r>
            <a:r>
              <a:rPr lang="zh-CN" altLang="en-US" dirty="0"/>
              <a:t>关系分解为多个</a:t>
            </a:r>
            <a:r>
              <a:rPr lang="en-US" altLang="zh-CN" dirty="0"/>
              <a:t>2NF</a:t>
            </a:r>
            <a:r>
              <a:rPr lang="zh-CN" altLang="en-US" dirty="0"/>
              <a:t>的关系，并不能完全消除关系模式中的各种异常情况和数据冗余。</a:t>
            </a:r>
            <a:endParaRPr lang="zh-CN" altLang="en-US" dirty="0"/>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zh-CN"/>
              <a:t> </a:t>
            </a:r>
            <a:r>
              <a:rPr lang="zh-CN" altLang="en-US"/>
              <a:t>第二范式（续）</a:t>
            </a:r>
            <a:endParaRPr lang="zh-CN" altLang="en-US"/>
          </a:p>
        </p:txBody>
      </p:sp>
      <p:sp>
        <p:nvSpPr>
          <p:cNvPr id="71683" name="Rectangle 3"/>
          <p:cNvSpPr>
            <a:spLocks noGrp="1" noChangeArrowheads="1"/>
          </p:cNvSpPr>
          <p:nvPr>
            <p:ph idx="1"/>
          </p:nvPr>
        </p:nvSpPr>
        <p:spPr/>
        <p:txBody>
          <a:bodyPr/>
          <a:lstStyle/>
          <a:p>
            <a:pPr lvl="1">
              <a:defRPr/>
            </a:pPr>
            <a:r>
              <a:rPr lang="zh-CN" altLang="en-US" dirty="0"/>
              <a:t>例：</a:t>
            </a:r>
            <a:r>
              <a:rPr lang="en-US" altLang="zh-CN" dirty="0"/>
              <a:t>2NF</a:t>
            </a:r>
            <a:r>
              <a:rPr lang="zh-CN" altLang="en-US" dirty="0"/>
              <a:t>关系模式</a:t>
            </a:r>
            <a:r>
              <a:rPr lang="en-US" altLang="zh-CN" dirty="0"/>
              <a:t>SL(</a:t>
            </a:r>
            <a:r>
              <a:rPr lang="en-US" altLang="zh-CN" dirty="0" err="1"/>
              <a:t>Sno</a:t>
            </a:r>
            <a:r>
              <a:rPr lang="en-US" altLang="zh-CN" dirty="0"/>
              <a:t>, </a:t>
            </a:r>
            <a:r>
              <a:rPr lang="en-US" altLang="zh-CN" dirty="0" err="1"/>
              <a:t>Sdept</a:t>
            </a:r>
            <a:r>
              <a:rPr lang="en-US" altLang="zh-CN" dirty="0"/>
              <a:t>, </a:t>
            </a:r>
            <a:r>
              <a:rPr lang="en-US" altLang="zh-CN" dirty="0" err="1"/>
              <a:t>Sloc</a:t>
            </a:r>
            <a:r>
              <a:rPr lang="en-US" altLang="zh-CN" dirty="0"/>
              <a:t>)</a:t>
            </a:r>
            <a:r>
              <a:rPr lang="zh-CN" altLang="en-US" dirty="0"/>
              <a:t>中</a:t>
            </a:r>
            <a:endParaRPr lang="zh-CN" altLang="en-US" dirty="0"/>
          </a:p>
          <a:p>
            <a:pPr marL="457200" lvl="1" indent="0">
              <a:buFont typeface="Wingdings" panose="05000000000000000000" pitchFamily="2" charset="2"/>
              <a:buNone/>
              <a:defRPr/>
            </a:pPr>
            <a:r>
              <a:rPr lang="zh-CN" altLang="en-US" dirty="0"/>
              <a:t>函数依赖：</a:t>
            </a:r>
            <a:endParaRPr lang="zh-CN" altLang="en-US" dirty="0"/>
          </a:p>
          <a:p>
            <a:pPr marL="457200" lvl="1" indent="0">
              <a:buFont typeface="Wingdings" panose="05000000000000000000" pitchFamily="2" charset="2"/>
              <a:buNone/>
              <a:defRPr/>
            </a:pPr>
            <a:r>
              <a:rPr lang="zh-CN" altLang="en-US" dirty="0"/>
              <a:t>          </a:t>
            </a:r>
            <a:r>
              <a:rPr lang="en-US" altLang="zh-CN" dirty="0" err="1"/>
              <a:t>Sno→Sdept</a:t>
            </a:r>
            <a:endParaRPr lang="en-US" altLang="zh-CN" dirty="0"/>
          </a:p>
          <a:p>
            <a:pPr marL="457200" lvl="1" indent="0">
              <a:buFont typeface="Wingdings" panose="05000000000000000000" pitchFamily="2" charset="2"/>
              <a:buNone/>
              <a:defRPr/>
            </a:pPr>
            <a:r>
              <a:rPr lang="en-US" altLang="zh-CN" dirty="0"/>
              <a:t>          </a:t>
            </a:r>
            <a:r>
              <a:rPr lang="en-US" altLang="zh-CN" dirty="0" err="1"/>
              <a:t>Sdept→Sloc</a:t>
            </a:r>
            <a:endParaRPr lang="en-US" altLang="zh-CN" dirty="0"/>
          </a:p>
          <a:p>
            <a:pPr marL="457200" lvl="1" indent="0">
              <a:buFont typeface="Wingdings" panose="05000000000000000000" pitchFamily="2" charset="2"/>
              <a:buNone/>
              <a:defRPr/>
            </a:pPr>
            <a:r>
              <a:rPr lang="en-US" altLang="zh-CN" dirty="0"/>
              <a:t>          </a:t>
            </a:r>
            <a:r>
              <a:rPr lang="en-US" altLang="zh-CN" dirty="0" err="1"/>
              <a:t>Sno→Sloc</a:t>
            </a:r>
            <a:r>
              <a:rPr lang="en-US" altLang="zh-CN" dirty="0"/>
              <a:t>	</a:t>
            </a:r>
            <a:endParaRPr lang="en-US" altLang="zh-CN" dirty="0"/>
          </a:p>
        </p:txBody>
      </p:sp>
      <p:grpSp>
        <p:nvGrpSpPr>
          <p:cNvPr id="2" name="Group 14"/>
          <p:cNvGrpSpPr/>
          <p:nvPr/>
        </p:nvGrpSpPr>
        <p:grpSpPr bwMode="auto">
          <a:xfrm>
            <a:off x="5105400" y="1828800"/>
            <a:ext cx="3505200" cy="1828800"/>
            <a:chOff x="3216" y="1536"/>
            <a:chExt cx="2208" cy="1536"/>
          </a:xfrm>
        </p:grpSpPr>
        <p:grpSp>
          <p:nvGrpSpPr>
            <p:cNvPr id="3" name="Group 12"/>
            <p:cNvGrpSpPr/>
            <p:nvPr/>
          </p:nvGrpSpPr>
          <p:grpSpPr bwMode="auto">
            <a:xfrm>
              <a:off x="3216" y="1536"/>
              <a:ext cx="2208" cy="1536"/>
              <a:chOff x="3216" y="1536"/>
              <a:chExt cx="2208" cy="1536"/>
            </a:xfrm>
          </p:grpSpPr>
          <p:sp>
            <p:nvSpPr>
              <p:cNvPr id="28680" name="Rectangle 11"/>
              <p:cNvSpPr>
                <a:spLocks noChangeArrowheads="1"/>
              </p:cNvSpPr>
              <p:nvPr/>
            </p:nvSpPr>
            <p:spPr bwMode="auto">
              <a:xfrm>
                <a:off x="3216" y="1584"/>
                <a:ext cx="2208" cy="1488"/>
              </a:xfrm>
              <a:prstGeom prst="rect">
                <a:avLst/>
              </a:prstGeom>
              <a:solidFill>
                <a:srgbClr val="EEE678"/>
              </a:solidFill>
              <a:ln w="28575">
                <a:solidFill>
                  <a:srgbClr val="EEE678"/>
                </a:solidFill>
                <a:miter lim="800000"/>
              </a:ln>
            </p:spPr>
            <p:txBody>
              <a:bodyPr wrap="none" lIns="90000" tIns="46800" rIns="90000" bIns="46800" anchor="ctr"/>
              <a:lstStyle/>
              <a:p>
                <a:pPr algn="ctr" eaLnBrk="1" hangingPunct="1"/>
                <a:endParaRPr kumimoji="1" lang="zh-CN" altLang="en-US" sz="2800" b="1">
                  <a:latin typeface="Times New Roman" panose="02020603050405020304" pitchFamily="18" charset="0"/>
                </a:endParaRPr>
              </a:p>
            </p:txBody>
          </p:sp>
          <p:grpSp>
            <p:nvGrpSpPr>
              <p:cNvPr id="4" name="Group 4"/>
              <p:cNvGrpSpPr/>
              <p:nvPr/>
            </p:nvGrpSpPr>
            <p:grpSpPr bwMode="auto">
              <a:xfrm>
                <a:off x="3312" y="1536"/>
                <a:ext cx="1968" cy="1488"/>
                <a:chOff x="3312" y="1920"/>
                <a:chExt cx="1968" cy="1488"/>
              </a:xfrm>
            </p:grpSpPr>
            <p:sp>
              <p:nvSpPr>
                <p:cNvPr id="28682" name="Text Box 5"/>
                <p:cNvSpPr txBox="1">
                  <a:spLocks noChangeArrowheads="1"/>
                </p:cNvSpPr>
                <p:nvPr/>
              </p:nvSpPr>
              <p:spPr bwMode="auto">
                <a:xfrm>
                  <a:off x="3312" y="1920"/>
                  <a:ext cx="695" cy="372"/>
                </a:xfrm>
                <a:prstGeom prst="rect">
                  <a:avLst/>
                </a:prstGeom>
                <a:noFill/>
                <a:ln w="38100">
                  <a:noFill/>
                  <a:miter lim="800000"/>
                </a:ln>
              </p:spPr>
              <p:txBody>
                <a:bodyPr/>
                <a:lstStyle/>
                <a:p>
                  <a:pPr algn="just"/>
                  <a:r>
                    <a:rPr lang="en-US" altLang="zh-CN" sz="2800" b="1">
                      <a:latin typeface="Times New Roman" panose="02020603050405020304" pitchFamily="18" charset="0"/>
                    </a:rPr>
                    <a:t>SL</a:t>
                  </a:r>
                  <a:endParaRPr lang="en-US" altLang="zh-CN" sz="2800" b="1">
                    <a:latin typeface="Times New Roman" panose="02020603050405020304" pitchFamily="18" charset="0"/>
                  </a:endParaRPr>
                </a:p>
              </p:txBody>
            </p:sp>
            <p:sp>
              <p:nvSpPr>
                <p:cNvPr id="28683" name="Text Box 6"/>
                <p:cNvSpPr txBox="1">
                  <a:spLocks noChangeArrowheads="1"/>
                </p:cNvSpPr>
                <p:nvPr/>
              </p:nvSpPr>
              <p:spPr bwMode="auto">
                <a:xfrm>
                  <a:off x="3428" y="2540"/>
                  <a:ext cx="579" cy="372"/>
                </a:xfrm>
                <a:prstGeom prst="rect">
                  <a:avLst/>
                </a:prstGeom>
                <a:noFill/>
                <a:ln w="38100">
                  <a:solidFill>
                    <a:srgbClr val="000000"/>
                  </a:solidFill>
                  <a:miter lim="800000"/>
                </a:ln>
              </p:spPr>
              <p:txBody>
                <a:bodyPr/>
                <a:lstStyle/>
                <a:p>
                  <a:pPr algn="just"/>
                  <a:r>
                    <a:rPr lang="en-US" altLang="zh-CN" sz="2800" b="1">
                      <a:latin typeface="Times New Roman" panose="02020603050405020304" pitchFamily="18" charset="0"/>
                    </a:rPr>
                    <a:t>Sno</a:t>
                  </a:r>
                  <a:endParaRPr lang="en-US" altLang="zh-CN" sz="2400" b="1">
                    <a:latin typeface="Times New Roman" panose="02020603050405020304" pitchFamily="18" charset="0"/>
                  </a:endParaRPr>
                </a:p>
              </p:txBody>
            </p:sp>
            <p:sp>
              <p:nvSpPr>
                <p:cNvPr id="28684" name="Text Box 7"/>
                <p:cNvSpPr txBox="1">
                  <a:spLocks noChangeArrowheads="1"/>
                </p:cNvSpPr>
                <p:nvPr/>
              </p:nvSpPr>
              <p:spPr bwMode="auto">
                <a:xfrm>
                  <a:off x="4585" y="2168"/>
                  <a:ext cx="695" cy="372"/>
                </a:xfrm>
                <a:prstGeom prst="rect">
                  <a:avLst/>
                </a:prstGeom>
                <a:noFill/>
                <a:ln w="38100">
                  <a:solidFill>
                    <a:srgbClr val="000000"/>
                  </a:solidFill>
                  <a:miter lim="800000"/>
                </a:ln>
              </p:spPr>
              <p:txBody>
                <a:bodyPr/>
                <a:lstStyle/>
                <a:p>
                  <a:pPr algn="just"/>
                  <a:r>
                    <a:rPr lang="en-US" altLang="zh-CN" sz="2800" b="1">
                      <a:latin typeface="Times New Roman" panose="02020603050405020304" pitchFamily="18" charset="0"/>
                    </a:rPr>
                    <a:t>Sdept</a:t>
                  </a:r>
                  <a:endParaRPr lang="en-US" altLang="zh-CN" sz="2400" b="1">
                    <a:latin typeface="Times New Roman" panose="02020603050405020304" pitchFamily="18" charset="0"/>
                  </a:endParaRPr>
                </a:p>
              </p:txBody>
            </p:sp>
            <p:sp>
              <p:nvSpPr>
                <p:cNvPr id="28685" name="Text Box 8"/>
                <p:cNvSpPr txBox="1">
                  <a:spLocks noChangeArrowheads="1"/>
                </p:cNvSpPr>
                <p:nvPr/>
              </p:nvSpPr>
              <p:spPr bwMode="auto">
                <a:xfrm>
                  <a:off x="4585" y="3036"/>
                  <a:ext cx="695" cy="372"/>
                </a:xfrm>
                <a:prstGeom prst="rect">
                  <a:avLst/>
                </a:prstGeom>
                <a:noFill/>
                <a:ln w="38100">
                  <a:solidFill>
                    <a:srgbClr val="000000"/>
                  </a:solidFill>
                  <a:miter lim="800000"/>
                </a:ln>
              </p:spPr>
              <p:txBody>
                <a:bodyPr/>
                <a:lstStyle/>
                <a:p>
                  <a:pPr algn="just"/>
                  <a:r>
                    <a:rPr lang="en-US" altLang="zh-CN" sz="2800" b="1">
                      <a:latin typeface="Times New Roman" panose="02020603050405020304" pitchFamily="18" charset="0"/>
                    </a:rPr>
                    <a:t>Sloc</a:t>
                  </a:r>
                  <a:endParaRPr lang="en-US" altLang="zh-CN" sz="2400" b="1">
                    <a:latin typeface="Times New Roman" panose="02020603050405020304" pitchFamily="18" charset="0"/>
                  </a:endParaRPr>
                </a:p>
              </p:txBody>
            </p:sp>
            <p:sp>
              <p:nvSpPr>
                <p:cNvPr id="28686" name="Line 9"/>
                <p:cNvSpPr>
                  <a:spLocks noChangeShapeType="1"/>
                </p:cNvSpPr>
                <p:nvPr/>
              </p:nvSpPr>
              <p:spPr bwMode="auto">
                <a:xfrm flipV="1">
                  <a:off x="4007" y="2292"/>
                  <a:ext cx="578" cy="372"/>
                </a:xfrm>
                <a:prstGeom prst="line">
                  <a:avLst/>
                </a:prstGeom>
                <a:noFill/>
                <a:ln w="38100">
                  <a:solidFill>
                    <a:srgbClr val="000000"/>
                  </a:solidFill>
                  <a:round/>
                  <a:tailEnd type="triangle" w="med" len="med"/>
                </a:ln>
              </p:spPr>
              <p:txBody>
                <a:bodyPr/>
                <a:lstStyle/>
                <a:p>
                  <a:endParaRPr lang="zh-CN" altLang="en-US"/>
                </a:p>
              </p:txBody>
            </p:sp>
            <p:sp>
              <p:nvSpPr>
                <p:cNvPr id="28687" name="Line 10"/>
                <p:cNvSpPr>
                  <a:spLocks noChangeShapeType="1"/>
                </p:cNvSpPr>
                <p:nvPr/>
              </p:nvSpPr>
              <p:spPr bwMode="auto">
                <a:xfrm>
                  <a:off x="4007" y="2788"/>
                  <a:ext cx="578" cy="372"/>
                </a:xfrm>
                <a:prstGeom prst="line">
                  <a:avLst/>
                </a:prstGeom>
                <a:noFill/>
                <a:ln w="38100">
                  <a:solidFill>
                    <a:srgbClr val="000000"/>
                  </a:solidFill>
                  <a:round/>
                  <a:tailEnd type="triangle" w="med" len="med"/>
                </a:ln>
              </p:spPr>
              <p:txBody>
                <a:bodyPr/>
                <a:lstStyle/>
                <a:p>
                  <a:endParaRPr lang="zh-CN" altLang="en-US"/>
                </a:p>
              </p:txBody>
            </p:sp>
          </p:grpSp>
        </p:grpSp>
        <p:sp>
          <p:nvSpPr>
            <p:cNvPr id="28679" name="Line 13"/>
            <p:cNvSpPr>
              <a:spLocks noChangeShapeType="1"/>
            </p:cNvSpPr>
            <p:nvPr/>
          </p:nvSpPr>
          <p:spPr bwMode="auto">
            <a:xfrm>
              <a:off x="4950" y="2160"/>
              <a:ext cx="0" cy="496"/>
            </a:xfrm>
            <a:prstGeom prst="line">
              <a:avLst/>
            </a:prstGeom>
            <a:noFill/>
            <a:ln w="38100">
              <a:solidFill>
                <a:srgbClr val="000000"/>
              </a:solidFill>
              <a:round/>
              <a:tailEnd type="triangle" w="med" len="med"/>
            </a:ln>
          </p:spPr>
          <p:txBody>
            <a:bodyPr/>
            <a:lstStyle/>
            <a:p>
              <a:endParaRPr lang="zh-CN" altLang="en-US"/>
            </a:p>
          </p:txBody>
        </p:sp>
      </p:grpSp>
      <p:sp>
        <p:nvSpPr>
          <p:cNvPr id="496655" name="Text Box 15"/>
          <p:cNvSpPr txBox="1">
            <a:spLocks noChangeArrowheads="1"/>
          </p:cNvSpPr>
          <p:nvPr/>
        </p:nvSpPr>
        <p:spPr bwMode="auto">
          <a:xfrm>
            <a:off x="1100166" y="3786196"/>
            <a:ext cx="7543800" cy="833178"/>
          </a:xfrm>
          <a:prstGeom prst="rect">
            <a:avLst/>
          </a:prstGeom>
        </p:spPr>
        <p:style>
          <a:lnRef idx="1">
            <a:schemeClr val="accent3"/>
          </a:lnRef>
          <a:fillRef idx="2">
            <a:schemeClr val="accent3"/>
          </a:fillRef>
          <a:effectRef idx="1">
            <a:schemeClr val="accent3"/>
          </a:effectRef>
          <a:fontRef idx="minor">
            <a:schemeClr val="dk1"/>
          </a:fontRef>
        </p:style>
        <p:txBody>
          <a:bodyPr lIns="90000" tIns="46800" rIns="90000" bIns="46800">
            <a:spAutoFit/>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defRPr/>
            </a:pPr>
            <a:r>
              <a:rPr lang="en-US" altLang="zh-CN" sz="2400" b="0" dirty="0" err="1"/>
              <a:t>Sloc</a:t>
            </a:r>
            <a:r>
              <a:rPr lang="zh-CN" altLang="en-US" sz="2400" b="0" dirty="0"/>
              <a:t>传递函数依赖于</a:t>
            </a:r>
            <a:r>
              <a:rPr lang="en-US" altLang="zh-CN" sz="2400" b="0" dirty="0" err="1"/>
              <a:t>Sno</a:t>
            </a:r>
            <a:r>
              <a:rPr lang="zh-CN" altLang="en-US" sz="2400" b="0" dirty="0"/>
              <a:t>，即</a:t>
            </a:r>
            <a:r>
              <a:rPr lang="en-US" altLang="zh-CN" sz="2400" b="0" dirty="0"/>
              <a:t>SL</a:t>
            </a:r>
            <a:r>
              <a:rPr lang="zh-CN" altLang="en-US" sz="2400" b="0" dirty="0"/>
              <a:t>中存在非主属性对码的传递函数依赖。</a:t>
            </a:r>
            <a:endParaRPr lang="zh-CN" altLang="en-US" sz="2400" b="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96655"/>
                                        </p:tgtEl>
                                        <p:attrNameLst>
                                          <p:attrName>style.visibility</p:attrName>
                                        </p:attrNameLst>
                                      </p:cBhvr>
                                      <p:to>
                                        <p:strVal val="visible"/>
                                      </p:to>
                                    </p:set>
                                    <p:anim calcmode="lin" valueType="num">
                                      <p:cBhvr additive="base">
                                        <p:cTn id="13" dur="500" fill="hold"/>
                                        <p:tgtEl>
                                          <p:spTgt spid="496655"/>
                                        </p:tgtEl>
                                        <p:attrNameLst>
                                          <p:attrName>ppt_x</p:attrName>
                                        </p:attrNameLst>
                                      </p:cBhvr>
                                      <p:tavLst>
                                        <p:tav tm="0">
                                          <p:val>
                                            <p:strVal val="1+#ppt_w/2"/>
                                          </p:val>
                                        </p:tav>
                                        <p:tav tm="100000">
                                          <p:val>
                                            <p:strVal val="#ppt_x"/>
                                          </p:val>
                                        </p:tav>
                                      </p:tavLst>
                                    </p:anim>
                                    <p:anim calcmode="lin" valueType="num">
                                      <p:cBhvr additive="base">
                                        <p:cTn id="14" dur="500" fill="hold"/>
                                        <p:tgtEl>
                                          <p:spTgt spid="4966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55"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zh-CN"/>
              <a:t> </a:t>
            </a:r>
            <a:r>
              <a:rPr lang="zh-CN" altLang="en-US"/>
              <a:t>第二范式（续）</a:t>
            </a:r>
            <a:endParaRPr lang="zh-CN" altLang="en-US"/>
          </a:p>
        </p:txBody>
      </p:sp>
      <p:sp>
        <p:nvSpPr>
          <p:cNvPr id="29699" name="Rectangle 3"/>
          <p:cNvSpPr>
            <a:spLocks noGrp="1" noChangeArrowheads="1"/>
          </p:cNvSpPr>
          <p:nvPr>
            <p:ph idx="1"/>
          </p:nvPr>
        </p:nvSpPr>
        <p:spPr>
          <a:xfrm>
            <a:off x="285720" y="642924"/>
            <a:ext cx="8401080" cy="3640931"/>
          </a:xfrm>
        </p:spPr>
        <p:txBody>
          <a:bodyPr/>
          <a:lstStyle/>
          <a:p>
            <a:pPr>
              <a:buNone/>
            </a:pPr>
            <a:r>
              <a:rPr lang="en-US" altLang="zh-CN" dirty="0"/>
              <a:t>SL</a:t>
            </a:r>
            <a:r>
              <a:rPr lang="zh-CN" altLang="en-US" dirty="0"/>
              <a:t>关系存在的问题：</a:t>
            </a:r>
            <a:endParaRPr lang="zh-CN" altLang="en-US" dirty="0"/>
          </a:p>
          <a:p>
            <a:pPr marL="527050" lvl="1">
              <a:buNone/>
            </a:pPr>
            <a:r>
              <a:rPr lang="zh-CN" altLang="en-US" dirty="0"/>
              <a:t>　</a:t>
            </a:r>
            <a:r>
              <a:rPr lang="en-US" altLang="zh-CN" dirty="0"/>
              <a:t>(1) </a:t>
            </a:r>
            <a:r>
              <a:rPr lang="zh-CN" altLang="en-US" dirty="0"/>
              <a:t>插入异常</a:t>
            </a:r>
            <a:endParaRPr lang="zh-CN" altLang="en-US" dirty="0"/>
          </a:p>
          <a:p>
            <a:pPr lvl="1">
              <a:buNone/>
            </a:pPr>
            <a:r>
              <a:rPr lang="zh-CN" altLang="en-US" sz="2000" dirty="0"/>
              <a:t>如果某个系因种种原因（例如刚刚成立），目前暂时没有</a:t>
            </a:r>
            <a:endParaRPr lang="en-US" altLang="zh-CN" sz="2000" dirty="0"/>
          </a:p>
          <a:p>
            <a:pPr lvl="1">
              <a:buNone/>
            </a:pPr>
            <a:r>
              <a:rPr lang="zh-CN" altLang="en-US" sz="2000" dirty="0"/>
              <a:t>在校学生，我们就无法把这个系的信息，如</a:t>
            </a:r>
            <a:r>
              <a:rPr lang="en-US" altLang="zh-CN" sz="2000" dirty="0"/>
              <a:t>MA, </a:t>
            </a:r>
            <a:r>
              <a:rPr lang="en-US" altLang="zh-CN" sz="2000" dirty="0" err="1"/>
              <a:t>Sloc</a:t>
            </a:r>
            <a:r>
              <a:rPr lang="zh-CN" altLang="en-US" sz="2000" dirty="0"/>
              <a:t>，存入数据库。</a:t>
            </a:r>
            <a:r>
              <a:rPr lang="zh-CN" altLang="en-US" dirty="0"/>
              <a:t>					</a:t>
            </a:r>
            <a:endParaRPr lang="zh-CN" altLang="en-US" dirty="0"/>
          </a:p>
        </p:txBody>
      </p:sp>
      <p:graphicFrame>
        <p:nvGraphicFramePr>
          <p:cNvPr id="4" name="表格 3"/>
          <p:cNvGraphicFramePr>
            <a:graphicFrameLocks noGrp="1"/>
          </p:cNvGraphicFramePr>
          <p:nvPr/>
        </p:nvGraphicFramePr>
        <p:xfrm>
          <a:off x="1619250" y="2356247"/>
          <a:ext cx="3744414" cy="1973580"/>
        </p:xfrm>
        <a:graphic>
          <a:graphicData uri="http://schemas.openxmlformats.org/drawingml/2006/table">
            <a:tbl>
              <a:tblPr firstRow="1" bandRow="1">
                <a:tableStyleId>{72833802-FEF1-4C79-8D5D-14CF1EAF98D9}</a:tableStyleId>
              </a:tblPr>
              <a:tblGrid>
                <a:gridCol w="1248138"/>
                <a:gridCol w="1248138"/>
                <a:gridCol w="1248138"/>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rgbClr val="00B0F0"/>
                          </a:solidFill>
                        </a:rPr>
                        <a:t>null</a:t>
                      </a:r>
                      <a:endParaRPr lang="zh-CN" altLang="en-US" sz="1400" dirty="0">
                        <a:solidFill>
                          <a:srgbClr val="00B0F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00B0F0"/>
                          </a:solidFill>
                        </a:rPr>
                        <a:t>MA</a:t>
                      </a:r>
                      <a:endParaRPr lang="zh-CN" altLang="en-US" sz="1400" dirty="0">
                        <a:solidFill>
                          <a:srgbClr val="00B0F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00B0F0"/>
                          </a:solidFill>
                        </a:rPr>
                        <a:t>null</a:t>
                      </a:r>
                      <a:endParaRPr lang="zh-CN" altLang="en-US" sz="1400" dirty="0">
                        <a:solidFill>
                          <a:srgbClr val="00B0F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 name="椭圆 4"/>
          <p:cNvSpPr>
            <a:spLocks noChangeArrowheads="1"/>
          </p:cNvSpPr>
          <p:nvPr/>
        </p:nvSpPr>
        <p:spPr bwMode="auto">
          <a:xfrm>
            <a:off x="1901826" y="3702844"/>
            <a:ext cx="720725" cy="330994"/>
          </a:xfrm>
          <a:prstGeom prst="ellipse">
            <a:avLst/>
          </a:prstGeom>
          <a:noFill/>
          <a:ln w="19050" algn="ctr">
            <a:solidFill>
              <a:srgbClr val="FF0000"/>
            </a:solidFill>
            <a:round/>
          </a:ln>
        </p:spPr>
        <p:txBody>
          <a:bodyPr/>
          <a:lstStyle/>
          <a:p>
            <a:pPr eaLnBrk="1" hangingPunct="1">
              <a:buFont typeface="Arial" panose="020B0604020202020204" pitchFamily="34" charset="0"/>
              <a:buNone/>
            </a:pPr>
            <a:endParaRPr lang="zh-CN" altLang="en-US"/>
          </a:p>
        </p:txBody>
      </p:sp>
      <p:pic>
        <p:nvPicPr>
          <p:cNvPr id="6" name="图片 5"/>
          <p:cNvPicPr>
            <a:picLocks noChangeAspect="1"/>
          </p:cNvPicPr>
          <p:nvPr/>
        </p:nvPicPr>
        <p:blipFill>
          <a:blip r:embed="rId1" cstate="print"/>
          <a:srcRect/>
          <a:stretch>
            <a:fillRect/>
          </a:stretch>
        </p:blipFill>
        <p:spPr bwMode="auto">
          <a:xfrm>
            <a:off x="2411413" y="3506391"/>
            <a:ext cx="1503362" cy="1054894"/>
          </a:xfrm>
          <a:prstGeom prst="rect">
            <a:avLst/>
          </a:prstGeom>
          <a:noFill/>
          <a:ln w="9525">
            <a:noFill/>
            <a:miter lim="800000"/>
            <a:headEnd/>
            <a:tailEnd/>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zh-CN"/>
              <a:t> </a:t>
            </a:r>
            <a:r>
              <a:rPr lang="zh-CN" altLang="en-US"/>
              <a:t>第二范式（续）</a:t>
            </a:r>
            <a:endParaRPr lang="zh-CN" altLang="en-US"/>
          </a:p>
        </p:txBody>
      </p:sp>
      <p:sp>
        <p:nvSpPr>
          <p:cNvPr id="30723" name="Rectangle 3"/>
          <p:cNvSpPr>
            <a:spLocks noGrp="1" noChangeArrowheads="1"/>
          </p:cNvSpPr>
          <p:nvPr>
            <p:ph idx="1"/>
          </p:nvPr>
        </p:nvSpPr>
        <p:spPr>
          <a:xfrm>
            <a:off x="285720" y="688896"/>
            <a:ext cx="8401080" cy="3640931"/>
          </a:xfrm>
        </p:spPr>
        <p:txBody>
          <a:bodyPr/>
          <a:lstStyle/>
          <a:p>
            <a:pPr marL="615950" lvl="1">
              <a:buNone/>
            </a:pPr>
            <a:r>
              <a:rPr lang="en-US" altLang="zh-CN" dirty="0"/>
              <a:t>(2) </a:t>
            </a:r>
            <a:r>
              <a:rPr lang="zh-CN" altLang="en-US" dirty="0"/>
              <a:t>删除异常</a:t>
            </a:r>
            <a:endParaRPr lang="zh-CN" altLang="en-US" dirty="0"/>
          </a:p>
          <a:p>
            <a:pPr lvl="1">
              <a:buNone/>
            </a:pPr>
            <a:r>
              <a:rPr lang="zh-CN" altLang="en-US" sz="2000" dirty="0"/>
              <a:t>如果某个系的学生全部毕业了，我们在删除该系学生信息的同时，把</a:t>
            </a:r>
            <a:endParaRPr lang="en-US" altLang="zh-CN" sz="2000" dirty="0"/>
          </a:p>
          <a:p>
            <a:pPr lvl="1">
              <a:buNone/>
            </a:pPr>
            <a:r>
              <a:rPr lang="zh-CN" altLang="en-US" sz="2000" dirty="0"/>
              <a:t>这个系的信息，如</a:t>
            </a:r>
            <a:r>
              <a:rPr lang="en-US" altLang="zh-CN" sz="2000" dirty="0"/>
              <a:t>IS, </a:t>
            </a:r>
            <a:r>
              <a:rPr lang="en-US" altLang="zh-CN" sz="2000" dirty="0" err="1"/>
              <a:t>Sloc</a:t>
            </a:r>
            <a:r>
              <a:rPr lang="zh-CN" altLang="en-US" sz="2000" dirty="0"/>
              <a:t>，也丢掉了。</a:t>
            </a:r>
            <a:endParaRPr lang="zh-CN" altLang="en-US" sz="2000" dirty="0"/>
          </a:p>
        </p:txBody>
      </p:sp>
      <p:graphicFrame>
        <p:nvGraphicFramePr>
          <p:cNvPr id="4" name="表格 3"/>
          <p:cNvGraphicFramePr>
            <a:graphicFrameLocks noGrp="1"/>
          </p:cNvGraphicFramePr>
          <p:nvPr/>
        </p:nvGraphicFramePr>
        <p:xfrm>
          <a:off x="1619250" y="2356247"/>
          <a:ext cx="3744414" cy="1973580"/>
        </p:xfrm>
        <a:graphic>
          <a:graphicData uri="http://schemas.openxmlformats.org/drawingml/2006/table">
            <a:tbl>
              <a:tblPr firstRow="1" bandRow="1">
                <a:tableStyleId>{72833802-FEF1-4C79-8D5D-14CF1EAF98D9}</a:tableStyleId>
              </a:tblPr>
              <a:tblGrid>
                <a:gridCol w="1248138"/>
                <a:gridCol w="1248138"/>
                <a:gridCol w="1248138"/>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2014105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PH</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cxnSp>
        <p:nvCxnSpPr>
          <p:cNvPr id="3" name="直接连接符 2"/>
          <p:cNvCxnSpPr>
            <a:cxnSpLocks noChangeShapeType="1"/>
          </p:cNvCxnSpPr>
          <p:nvPr/>
        </p:nvCxnSpPr>
        <p:spPr bwMode="auto">
          <a:xfrm>
            <a:off x="1476375" y="2787254"/>
            <a:ext cx="4103688" cy="0"/>
          </a:xfrm>
          <a:prstGeom prst="line">
            <a:avLst/>
          </a:prstGeom>
          <a:noFill/>
          <a:ln w="19050" algn="ctr">
            <a:solidFill>
              <a:srgbClr val="C00000"/>
            </a:solidFill>
            <a:round/>
          </a:ln>
        </p:spPr>
      </p:cxnSp>
      <p:cxnSp>
        <p:nvCxnSpPr>
          <p:cNvPr id="7" name="直接连接符 6"/>
          <p:cNvCxnSpPr>
            <a:cxnSpLocks noChangeShapeType="1"/>
          </p:cNvCxnSpPr>
          <p:nvPr/>
        </p:nvCxnSpPr>
        <p:spPr bwMode="auto">
          <a:xfrm>
            <a:off x="1476375" y="3057525"/>
            <a:ext cx="4103688" cy="0"/>
          </a:xfrm>
          <a:prstGeom prst="line">
            <a:avLst/>
          </a:prstGeom>
          <a:noFill/>
          <a:ln w="19050" algn="ctr">
            <a:solidFill>
              <a:srgbClr val="C00000"/>
            </a:solidFill>
            <a:round/>
          </a:ln>
        </p:spPr>
      </p:cxnSp>
      <p:cxnSp>
        <p:nvCxnSpPr>
          <p:cNvPr id="8" name="直接连接符 7"/>
          <p:cNvCxnSpPr>
            <a:cxnSpLocks noChangeShapeType="1"/>
          </p:cNvCxnSpPr>
          <p:nvPr/>
        </p:nvCxnSpPr>
        <p:spPr bwMode="auto">
          <a:xfrm>
            <a:off x="1476375" y="3327797"/>
            <a:ext cx="4103688" cy="0"/>
          </a:xfrm>
          <a:prstGeom prst="line">
            <a:avLst/>
          </a:prstGeom>
          <a:noFill/>
          <a:ln w="19050" algn="ctr">
            <a:solidFill>
              <a:srgbClr val="C00000"/>
            </a:solidFill>
            <a:round/>
          </a:ln>
        </p:spPr>
      </p:cxnSp>
      <p:cxnSp>
        <p:nvCxnSpPr>
          <p:cNvPr id="9" name="直接连接符 8"/>
          <p:cNvCxnSpPr>
            <a:cxnSpLocks noChangeShapeType="1"/>
          </p:cNvCxnSpPr>
          <p:nvPr/>
        </p:nvCxnSpPr>
        <p:spPr bwMode="auto">
          <a:xfrm>
            <a:off x="1476375" y="3598069"/>
            <a:ext cx="4103688" cy="0"/>
          </a:xfrm>
          <a:prstGeom prst="line">
            <a:avLst/>
          </a:prstGeom>
          <a:noFill/>
          <a:ln w="19050" algn="ctr">
            <a:solidFill>
              <a:srgbClr val="C00000"/>
            </a:solidFill>
            <a:round/>
          </a:ln>
        </p:spPr>
      </p:cxnSp>
      <p:graphicFrame>
        <p:nvGraphicFramePr>
          <p:cNvPr id="10" name="表格 9"/>
          <p:cNvGraphicFramePr>
            <a:graphicFrameLocks noGrp="1"/>
          </p:cNvGraphicFramePr>
          <p:nvPr/>
        </p:nvGraphicFramePr>
        <p:xfrm>
          <a:off x="1606550" y="2356247"/>
          <a:ext cx="3744414" cy="1973580"/>
        </p:xfrm>
        <a:graphic>
          <a:graphicData uri="http://schemas.openxmlformats.org/drawingml/2006/table">
            <a:tbl>
              <a:tblPr firstRow="1" bandRow="1">
                <a:tableStyleId>{72833802-FEF1-4C79-8D5D-14CF1EAF98D9}</a:tableStyleId>
              </a:tblPr>
              <a:tblGrid>
                <a:gridCol w="1248138"/>
                <a:gridCol w="1248138"/>
                <a:gridCol w="1248138"/>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2014105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PH</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 name="爆炸形 1 4"/>
          <p:cNvSpPr/>
          <p:nvPr/>
        </p:nvSpPr>
        <p:spPr bwMode="auto">
          <a:xfrm>
            <a:off x="5786438" y="2847975"/>
            <a:ext cx="792162" cy="648891"/>
          </a:xfrm>
          <a:prstGeom prst="irregularSeal1">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eaLnBrk="1" hangingPunct="1">
              <a:buFont typeface="Arial" panose="020B0604020202020204" pitchFamily="34" charset="0"/>
              <a:buNone/>
              <a:defRPr/>
            </a:pPr>
            <a:r>
              <a:rPr lang="en-US" altLang="zh-CN" dirty="0">
                <a:solidFill>
                  <a:schemeClr val="tx1"/>
                </a:solidFill>
              </a:rPr>
              <a:t>IS</a:t>
            </a:r>
            <a:endParaRPr lang="zh-CN" altLang="en-US" dirty="0">
              <a:solidFill>
                <a:schemeClr val="tx1"/>
              </a:solidFill>
            </a:endParaRPr>
          </a:p>
        </p:txBody>
      </p:sp>
      <p:pic>
        <p:nvPicPr>
          <p:cNvPr id="11" name="图片 10"/>
          <p:cNvPicPr>
            <a:picLocks noChangeAspect="1"/>
          </p:cNvPicPr>
          <p:nvPr/>
        </p:nvPicPr>
        <p:blipFill>
          <a:blip r:embed="rId1" cstate="print"/>
          <a:srcRect/>
          <a:stretch>
            <a:fillRect/>
          </a:stretch>
        </p:blipFill>
        <p:spPr bwMode="auto">
          <a:xfrm rot="965851">
            <a:off x="7302575" y="2847212"/>
            <a:ext cx="1066800" cy="781050"/>
          </a:xfrm>
          <a:prstGeom prst="rect">
            <a:avLst/>
          </a:prstGeom>
          <a:noFill/>
          <a:ln w="9525">
            <a:noFill/>
            <a:miter lim="800000"/>
            <a:headEnd/>
            <a:tailEnd/>
          </a:ln>
        </p:spPr>
      </p:pic>
      <p:sp>
        <p:nvSpPr>
          <p:cNvPr id="12" name="爆炸形 1 11"/>
          <p:cNvSpPr/>
          <p:nvPr/>
        </p:nvSpPr>
        <p:spPr bwMode="auto">
          <a:xfrm>
            <a:off x="6357950" y="2857502"/>
            <a:ext cx="1205047" cy="648891"/>
          </a:xfrm>
          <a:prstGeom prst="irregularSeal1">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eaLnBrk="1" hangingPunct="1">
              <a:buFont typeface="Arial" panose="020B0604020202020204" pitchFamily="34" charset="0"/>
              <a:buNone/>
              <a:defRPr/>
            </a:pPr>
            <a:r>
              <a:rPr lang="en-US" altLang="zh-CN" dirty="0" err="1">
                <a:solidFill>
                  <a:schemeClr val="tx1"/>
                </a:solidFill>
              </a:rPr>
              <a:t>Sloc</a:t>
            </a:r>
            <a:endParaRPr lang="zh-CN" altLang="en-US"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xit" presetSubtype="8" fill="hold" nodeType="clickEffect">
                                  <p:stCondLst>
                                    <p:cond delay="0"/>
                                  </p:stCondLst>
                                  <p:childTnLst>
                                    <p:animEffect transition="out" filter="wipe(left)">
                                      <p:cBhvr>
                                        <p:cTn id="28" dur="500"/>
                                        <p:tgtEl>
                                          <p:spTgt spid="3"/>
                                        </p:tgtEl>
                                      </p:cBhvr>
                                    </p:animEffect>
                                    <p:set>
                                      <p:cBhvr>
                                        <p:cTn id="29" dur="1" fill="hold">
                                          <p:stCondLst>
                                            <p:cond delay="499"/>
                                          </p:stCondLst>
                                        </p:cTn>
                                        <p:tgtEl>
                                          <p:spTgt spid="3"/>
                                        </p:tgtEl>
                                        <p:attrNameLst>
                                          <p:attrName>style.visibility</p:attrName>
                                        </p:attrNameLst>
                                      </p:cBhvr>
                                      <p:to>
                                        <p:strVal val="hidden"/>
                                      </p:to>
                                    </p:set>
                                  </p:childTnLst>
                                </p:cTn>
                              </p:par>
                              <p:par>
                                <p:cTn id="30" presetID="22" presetClass="exit" presetSubtype="8" fill="hold" nodeType="withEffect">
                                  <p:stCondLst>
                                    <p:cond delay="0"/>
                                  </p:stCondLst>
                                  <p:childTnLst>
                                    <p:animEffect transition="out" filter="wipe(left)">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par>
                                <p:cTn id="33" presetID="22" presetClass="exit" presetSubtype="8" fill="hold" nodeType="withEffect">
                                  <p:stCondLst>
                                    <p:cond delay="0"/>
                                  </p:stCondLst>
                                  <p:childTnLst>
                                    <p:animEffect transition="out" filter="wipe(left)">
                                      <p:cBhvr>
                                        <p:cTn id="34" dur="500"/>
                                        <p:tgtEl>
                                          <p:spTgt spid="8"/>
                                        </p:tgtEl>
                                      </p:cBhvr>
                                    </p:animEffect>
                                    <p:set>
                                      <p:cBhvr>
                                        <p:cTn id="35" dur="1" fill="hold">
                                          <p:stCondLst>
                                            <p:cond delay="499"/>
                                          </p:stCondLst>
                                        </p:cTn>
                                        <p:tgtEl>
                                          <p:spTgt spid="8"/>
                                        </p:tgtEl>
                                        <p:attrNameLst>
                                          <p:attrName>style.visibility</p:attrName>
                                        </p:attrNameLst>
                                      </p:cBhvr>
                                      <p:to>
                                        <p:strVal val="hidden"/>
                                      </p:to>
                                    </p:set>
                                  </p:childTnLst>
                                </p:cTn>
                              </p:par>
                              <p:par>
                                <p:cTn id="36" presetID="22" presetClass="exit" presetSubtype="8" fill="hold" nodeType="withEffect">
                                  <p:stCondLst>
                                    <p:cond delay="0"/>
                                  </p:stCondLst>
                                  <p:childTnLst>
                                    <p:animEffect transition="out" filter="wipe(left)">
                                      <p:cBhvr>
                                        <p:cTn id="37" dur="500"/>
                                        <p:tgtEl>
                                          <p:spTgt spid="9"/>
                                        </p:tgtEl>
                                      </p:cBhvr>
                                    </p:animEffect>
                                    <p:set>
                                      <p:cBhvr>
                                        <p:cTn id="38" dur="1" fill="hold">
                                          <p:stCondLst>
                                            <p:cond delay="499"/>
                                          </p:stCondLst>
                                        </p:cTn>
                                        <p:tgtEl>
                                          <p:spTgt spid="9"/>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4"/>
                                        </p:tgtEl>
                                        <p:attrNameLst>
                                          <p:attrName>style.visibility</p:attrName>
                                        </p:attrNameLst>
                                      </p:cBhvr>
                                      <p:to>
                                        <p:strVal val="hidden"/>
                                      </p:to>
                                    </p:set>
                                  </p:childTnLst>
                                </p:cTn>
                              </p:par>
                              <p:par>
                                <p:cTn id="41" presetID="22" presetClass="entr" presetSubtype="1"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up)">
                                      <p:cBhvr>
                                        <p:cTn id="43" dur="500"/>
                                        <p:tgtEl>
                                          <p:spTgt spid="10"/>
                                        </p:tgtEl>
                                      </p:cBhvr>
                                    </p:animEffect>
                                  </p:childTnLst>
                                </p:cTn>
                              </p:par>
                            </p:childTnLst>
                          </p:cTn>
                        </p:par>
                        <p:par>
                          <p:cTn id="44" fill="hold">
                            <p:stCondLst>
                              <p:cond delay="500"/>
                            </p:stCondLst>
                            <p:childTnLst>
                              <p:par>
                                <p:cTn id="45" presetID="53" presetClass="entr" presetSubtype="16" fill="hold" grpId="0" nodeType="after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p:cTn id="47" dur="500" fill="hold"/>
                                        <p:tgtEl>
                                          <p:spTgt spid="5"/>
                                        </p:tgtEl>
                                        <p:attrNameLst>
                                          <p:attrName>ppt_w</p:attrName>
                                        </p:attrNameLst>
                                      </p:cBhvr>
                                      <p:tavLst>
                                        <p:tav tm="0">
                                          <p:val>
                                            <p:fltVal val="0"/>
                                          </p:val>
                                        </p:tav>
                                        <p:tav tm="100000">
                                          <p:val>
                                            <p:strVal val="#ppt_w"/>
                                          </p:val>
                                        </p:tav>
                                      </p:tavLst>
                                    </p:anim>
                                    <p:anim calcmode="lin" valueType="num">
                                      <p:cBhvr>
                                        <p:cTn id="48" dur="500" fill="hold"/>
                                        <p:tgtEl>
                                          <p:spTgt spid="5"/>
                                        </p:tgtEl>
                                        <p:attrNameLst>
                                          <p:attrName>ppt_h</p:attrName>
                                        </p:attrNameLst>
                                      </p:cBhvr>
                                      <p:tavLst>
                                        <p:tav tm="0">
                                          <p:val>
                                            <p:fltVal val="0"/>
                                          </p:val>
                                        </p:tav>
                                        <p:tav tm="100000">
                                          <p:val>
                                            <p:strVal val="#ppt_h"/>
                                          </p:val>
                                        </p:tav>
                                      </p:tavLst>
                                    </p:anim>
                                    <p:animEffect transition="in" filter="fade">
                                      <p:cBhvr>
                                        <p:cTn id="49" dur="500"/>
                                        <p:tgtEl>
                                          <p:spTgt spid="5"/>
                                        </p:tgtEl>
                                      </p:cBhvr>
                                    </p:animEffect>
                                  </p:childTnLst>
                                </p:cTn>
                              </p:par>
                            </p:childTnLst>
                          </p:cTn>
                        </p:par>
                        <p:par>
                          <p:cTn id="50" fill="hold">
                            <p:stCondLst>
                              <p:cond delay="1000"/>
                            </p:stCondLst>
                            <p:childTnLst>
                              <p:par>
                                <p:cTn id="51" presetID="2" presetClass="entr" presetSubtype="6" fill="hold" nodeType="after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500" fill="hold"/>
                                        <p:tgtEl>
                                          <p:spTgt spid="11"/>
                                        </p:tgtEl>
                                        <p:attrNameLst>
                                          <p:attrName>ppt_x</p:attrName>
                                        </p:attrNameLst>
                                      </p:cBhvr>
                                      <p:tavLst>
                                        <p:tav tm="0">
                                          <p:val>
                                            <p:strVal val="1+#ppt_w/2"/>
                                          </p:val>
                                        </p:tav>
                                        <p:tav tm="100000">
                                          <p:val>
                                            <p:strVal val="#ppt_x"/>
                                          </p:val>
                                        </p:tav>
                                      </p:tavLst>
                                    </p:anim>
                                    <p:anim calcmode="lin" valueType="num">
                                      <p:cBhvr additive="base">
                                        <p:cTn id="54" dur="500" fill="hold"/>
                                        <p:tgtEl>
                                          <p:spTgt spid="11"/>
                                        </p:tgtEl>
                                        <p:attrNameLst>
                                          <p:attrName>ppt_y</p:attrName>
                                        </p:attrNameLst>
                                      </p:cBhvr>
                                      <p:tavLst>
                                        <p:tav tm="0">
                                          <p:val>
                                            <p:strVal val="1+#ppt_h/2"/>
                                          </p:val>
                                        </p:tav>
                                        <p:tav tm="100000">
                                          <p:val>
                                            <p:strVal val="#ppt_y"/>
                                          </p:val>
                                        </p:tav>
                                      </p:tavLst>
                                    </p:anim>
                                  </p:childTnLst>
                                </p:cTn>
                              </p:par>
                            </p:childTnLst>
                          </p:cTn>
                        </p:par>
                        <p:par>
                          <p:cTn id="55" fill="hold">
                            <p:stCondLst>
                              <p:cond delay="1500"/>
                            </p:stCondLst>
                            <p:childTnLst>
                              <p:par>
                                <p:cTn id="56" presetID="53" presetClass="entr" presetSubtype="16" fill="hold" grpId="0" nodeType="afterEffect">
                                  <p:stCondLst>
                                    <p:cond delay="0"/>
                                  </p:stCondLst>
                                  <p:childTnLst>
                                    <p:set>
                                      <p:cBhvr>
                                        <p:cTn id="57" dur="1" fill="hold">
                                          <p:stCondLst>
                                            <p:cond delay="0"/>
                                          </p:stCondLst>
                                        </p:cTn>
                                        <p:tgtEl>
                                          <p:spTgt spid="12"/>
                                        </p:tgtEl>
                                        <p:attrNameLst>
                                          <p:attrName>style.visibility</p:attrName>
                                        </p:attrNameLst>
                                      </p:cBhvr>
                                      <p:to>
                                        <p:strVal val="visible"/>
                                      </p:to>
                                    </p:set>
                                    <p:anim calcmode="lin" valueType="num">
                                      <p:cBhvr>
                                        <p:cTn id="58" dur="500" fill="hold"/>
                                        <p:tgtEl>
                                          <p:spTgt spid="12"/>
                                        </p:tgtEl>
                                        <p:attrNameLst>
                                          <p:attrName>ppt_w</p:attrName>
                                        </p:attrNameLst>
                                      </p:cBhvr>
                                      <p:tavLst>
                                        <p:tav tm="0">
                                          <p:val>
                                            <p:fltVal val="0"/>
                                          </p:val>
                                        </p:tav>
                                        <p:tav tm="100000">
                                          <p:val>
                                            <p:strVal val="#ppt_w"/>
                                          </p:val>
                                        </p:tav>
                                      </p:tavLst>
                                    </p:anim>
                                    <p:anim calcmode="lin" valueType="num">
                                      <p:cBhvr>
                                        <p:cTn id="59" dur="500" fill="hold"/>
                                        <p:tgtEl>
                                          <p:spTgt spid="12"/>
                                        </p:tgtEl>
                                        <p:attrNameLst>
                                          <p:attrName>ppt_h</p:attrName>
                                        </p:attrNameLst>
                                      </p:cBhvr>
                                      <p:tavLst>
                                        <p:tav tm="0">
                                          <p:val>
                                            <p:fltVal val="0"/>
                                          </p:val>
                                        </p:tav>
                                        <p:tav tm="100000">
                                          <p:val>
                                            <p:strVal val="#ppt_h"/>
                                          </p:val>
                                        </p:tav>
                                      </p:tavLst>
                                    </p:anim>
                                    <p:animEffect transition="in" filter="fade">
                                      <p:cBhvr>
                                        <p:cTn id="6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zh-CN"/>
              <a:t> </a:t>
            </a:r>
            <a:r>
              <a:rPr lang="zh-CN" altLang="en-US"/>
              <a:t>第二范式（续）</a:t>
            </a:r>
            <a:endParaRPr lang="zh-CN" altLang="en-US"/>
          </a:p>
        </p:txBody>
      </p:sp>
      <p:sp>
        <p:nvSpPr>
          <p:cNvPr id="31747" name="Rectangle 3"/>
          <p:cNvSpPr>
            <a:spLocks noGrp="1" noChangeArrowheads="1"/>
          </p:cNvSpPr>
          <p:nvPr>
            <p:ph idx="1"/>
          </p:nvPr>
        </p:nvSpPr>
        <p:spPr>
          <a:xfrm>
            <a:off x="142844" y="642924"/>
            <a:ext cx="8401080" cy="3640931"/>
          </a:xfrm>
        </p:spPr>
        <p:txBody>
          <a:bodyPr/>
          <a:lstStyle/>
          <a:p>
            <a:pPr lvl="1">
              <a:buNone/>
            </a:pPr>
            <a:r>
              <a:rPr lang="en-US" altLang="zh-CN" dirty="0"/>
              <a:t>(3) </a:t>
            </a:r>
            <a:r>
              <a:rPr lang="zh-CN" altLang="en-US" dirty="0"/>
              <a:t>数据冗余度大</a:t>
            </a:r>
            <a:endParaRPr lang="zh-CN" altLang="en-US" dirty="0"/>
          </a:p>
          <a:p>
            <a:pPr lvl="2">
              <a:buNone/>
            </a:pPr>
            <a:r>
              <a:rPr lang="zh-CN" altLang="en-US" dirty="0"/>
              <a:t>每一个系的学生都住在同一个地方，关于系的住处的信息却重复</a:t>
            </a:r>
            <a:endParaRPr lang="en-US" altLang="zh-CN" dirty="0"/>
          </a:p>
          <a:p>
            <a:pPr lvl="2">
              <a:buNone/>
            </a:pPr>
            <a:r>
              <a:rPr lang="zh-CN" altLang="en-US" dirty="0"/>
              <a:t>出现，重复次数与该系学生人数相同。</a:t>
            </a:r>
            <a:endParaRPr lang="zh-CN" altLang="en-US" dirty="0"/>
          </a:p>
        </p:txBody>
      </p:sp>
      <p:graphicFrame>
        <p:nvGraphicFramePr>
          <p:cNvPr id="4" name="表格 3"/>
          <p:cNvGraphicFramePr>
            <a:graphicFrameLocks noGrp="1"/>
          </p:cNvGraphicFramePr>
          <p:nvPr/>
        </p:nvGraphicFramePr>
        <p:xfrm>
          <a:off x="1643063" y="1865710"/>
          <a:ext cx="3744414" cy="2819400"/>
        </p:xfrm>
        <a:graphic>
          <a:graphicData uri="http://schemas.openxmlformats.org/drawingml/2006/table">
            <a:tbl>
              <a:tblPr firstRow="1" bandRow="1">
                <a:tableStyleId>{72833802-FEF1-4C79-8D5D-14CF1EAF98D9}</a:tableStyleId>
              </a:tblPr>
              <a:tblGrid>
                <a:gridCol w="1248138"/>
                <a:gridCol w="1248138"/>
                <a:gridCol w="1248138"/>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FF0000"/>
                          </a:solidFill>
                        </a:rPr>
                        <a:t>IS</a:t>
                      </a:r>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FF0000"/>
                          </a:solidFill>
                        </a:rPr>
                        <a:t>N</a:t>
                      </a:r>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FF0000"/>
                          </a:solidFill>
                        </a:rPr>
                        <a:t>IS</a:t>
                      </a:r>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FF0000"/>
                          </a:solidFill>
                        </a:rPr>
                        <a:t>N</a:t>
                      </a:r>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FF0000"/>
                          </a:solidFill>
                        </a:rPr>
                        <a:t>IS</a:t>
                      </a:r>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FF0000"/>
                          </a:solidFill>
                        </a:rPr>
                        <a:t>N</a:t>
                      </a:r>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FF0000"/>
                          </a:solidFill>
                        </a:rPr>
                        <a:t>IS</a:t>
                      </a:r>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FF0000"/>
                          </a:solidFill>
                        </a:rPr>
                        <a:t>N</a:t>
                      </a:r>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dirty="0"/>
                        <a:t>2014105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2014106</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2014107</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2014108</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zh-CN"/>
              <a:t> </a:t>
            </a:r>
            <a:r>
              <a:rPr lang="zh-CN" altLang="en-US"/>
              <a:t>第二范式（续）</a:t>
            </a:r>
            <a:endParaRPr lang="zh-CN" altLang="en-US"/>
          </a:p>
        </p:txBody>
      </p:sp>
      <p:sp>
        <p:nvSpPr>
          <p:cNvPr id="32771" name="Rectangle 3"/>
          <p:cNvSpPr>
            <a:spLocks noGrp="1" noChangeArrowheads="1"/>
          </p:cNvSpPr>
          <p:nvPr>
            <p:ph idx="1"/>
          </p:nvPr>
        </p:nvSpPr>
        <p:spPr>
          <a:xfrm>
            <a:off x="285720" y="642924"/>
            <a:ext cx="8147050" cy="919163"/>
          </a:xfrm>
        </p:spPr>
        <p:txBody>
          <a:bodyPr/>
          <a:lstStyle/>
          <a:p>
            <a:pPr>
              <a:buNone/>
            </a:pPr>
            <a:r>
              <a:rPr lang="zh-CN" altLang="en-US" sz="2400" dirty="0"/>
              <a:t> </a:t>
            </a:r>
            <a:r>
              <a:rPr lang="en-US" altLang="zh-CN" sz="2400" dirty="0"/>
              <a:t>(4) </a:t>
            </a:r>
            <a:r>
              <a:rPr lang="zh-CN" altLang="en-US" sz="2400" dirty="0"/>
              <a:t>修改复杂</a:t>
            </a:r>
            <a:endParaRPr lang="zh-CN" altLang="en-US" sz="2400" dirty="0"/>
          </a:p>
          <a:p>
            <a:pPr lvl="1">
              <a:buNone/>
            </a:pPr>
            <a:r>
              <a:rPr lang="zh-CN" altLang="en-US" sz="2000" dirty="0"/>
              <a:t>学校调整学生住处时，由于关于每个系的住处信息是重复存储的，</a:t>
            </a:r>
            <a:endParaRPr lang="en-US" altLang="zh-CN" sz="2000" dirty="0"/>
          </a:p>
          <a:p>
            <a:pPr lvl="1">
              <a:buNone/>
            </a:pPr>
            <a:r>
              <a:rPr lang="zh-CN" altLang="en-US" sz="2000" dirty="0"/>
              <a:t>修改时必须同时更新该系所有学生的</a:t>
            </a:r>
            <a:r>
              <a:rPr lang="en-US" altLang="zh-CN" sz="2000" dirty="0" err="1"/>
              <a:t>Sloc</a:t>
            </a:r>
            <a:r>
              <a:rPr lang="zh-CN" altLang="en-US" sz="2000" dirty="0"/>
              <a:t>属性值。</a:t>
            </a:r>
            <a:endParaRPr lang="zh-CN" altLang="en-US" sz="2000" dirty="0">
              <a:solidFill>
                <a:srgbClr val="FF0000"/>
              </a:solidFill>
            </a:endParaRPr>
          </a:p>
        </p:txBody>
      </p:sp>
      <p:graphicFrame>
        <p:nvGraphicFramePr>
          <p:cNvPr id="5" name="表格 4"/>
          <p:cNvGraphicFramePr>
            <a:graphicFrameLocks noGrp="1"/>
          </p:cNvGraphicFramePr>
          <p:nvPr/>
        </p:nvGraphicFramePr>
        <p:xfrm>
          <a:off x="1643063" y="1865710"/>
          <a:ext cx="3744414" cy="2819400"/>
        </p:xfrm>
        <a:graphic>
          <a:graphicData uri="http://schemas.openxmlformats.org/drawingml/2006/table">
            <a:tbl>
              <a:tblPr firstRow="1" bandRow="1">
                <a:tableStyleId>{72833802-FEF1-4C79-8D5D-14CF1EAF98D9}</a:tableStyleId>
              </a:tblPr>
              <a:tblGrid>
                <a:gridCol w="1248138"/>
                <a:gridCol w="1248138"/>
                <a:gridCol w="1248138"/>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dirty="0"/>
                        <a:t>2014105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2014106</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2014107</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2014108</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cxnSp>
        <p:nvCxnSpPr>
          <p:cNvPr id="4" name="直接箭头连接符 3"/>
          <p:cNvCxnSpPr/>
          <p:nvPr/>
        </p:nvCxnSpPr>
        <p:spPr bwMode="auto">
          <a:xfrm>
            <a:off x="5003801" y="2301479"/>
            <a:ext cx="792163"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6" name="文本框 5"/>
          <p:cNvSpPr txBox="1">
            <a:spLocks noChangeArrowheads="1"/>
          </p:cNvSpPr>
          <p:nvPr/>
        </p:nvSpPr>
        <p:spPr bwMode="auto">
          <a:xfrm>
            <a:off x="5813426" y="2163367"/>
            <a:ext cx="338554" cy="369332"/>
          </a:xfrm>
          <a:prstGeom prst="rect">
            <a:avLst/>
          </a:prstGeom>
          <a:noFill/>
          <a:ln w="9525">
            <a:noFill/>
            <a:miter lim="800000"/>
          </a:ln>
        </p:spPr>
        <p:txBody>
          <a:bodyPr wrap="none">
            <a:spAutoFit/>
          </a:bodyPr>
          <a:lstStyle/>
          <a:p>
            <a:r>
              <a:rPr lang="en-US" altLang="zh-CN"/>
              <a:t>S</a:t>
            </a:r>
            <a:endParaRPr lang="zh-CN" altLang="en-US"/>
          </a:p>
        </p:txBody>
      </p:sp>
      <p:cxnSp>
        <p:nvCxnSpPr>
          <p:cNvPr id="9" name="直接箭头连接符 8"/>
          <p:cNvCxnSpPr/>
          <p:nvPr/>
        </p:nvCxnSpPr>
        <p:spPr bwMode="auto">
          <a:xfrm>
            <a:off x="5013326" y="2555081"/>
            <a:ext cx="792163"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0" name="文本框 9"/>
          <p:cNvSpPr txBox="1">
            <a:spLocks noChangeArrowheads="1"/>
          </p:cNvSpPr>
          <p:nvPr/>
        </p:nvSpPr>
        <p:spPr bwMode="auto">
          <a:xfrm>
            <a:off x="5822950" y="2415779"/>
            <a:ext cx="338554" cy="369332"/>
          </a:xfrm>
          <a:prstGeom prst="rect">
            <a:avLst/>
          </a:prstGeom>
          <a:noFill/>
          <a:ln w="9525">
            <a:noFill/>
            <a:miter lim="800000"/>
          </a:ln>
        </p:spPr>
        <p:txBody>
          <a:bodyPr wrap="none">
            <a:spAutoFit/>
          </a:bodyPr>
          <a:lstStyle/>
          <a:p>
            <a:r>
              <a:rPr lang="en-US" altLang="zh-CN"/>
              <a:t>S</a:t>
            </a:r>
            <a:endParaRPr lang="zh-CN" altLang="en-US"/>
          </a:p>
        </p:txBody>
      </p:sp>
      <p:cxnSp>
        <p:nvCxnSpPr>
          <p:cNvPr id="11" name="直接箭头连接符 10"/>
          <p:cNvCxnSpPr/>
          <p:nvPr/>
        </p:nvCxnSpPr>
        <p:spPr bwMode="auto">
          <a:xfrm>
            <a:off x="5013326" y="2842022"/>
            <a:ext cx="792163"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2" name="文本框 5"/>
          <p:cNvSpPr txBox="1">
            <a:spLocks noChangeArrowheads="1"/>
          </p:cNvSpPr>
          <p:nvPr/>
        </p:nvSpPr>
        <p:spPr bwMode="auto">
          <a:xfrm>
            <a:off x="5822950" y="2702719"/>
            <a:ext cx="338138" cy="369332"/>
          </a:xfrm>
          <a:prstGeom prst="rect">
            <a:avLst/>
          </a:prstGeom>
          <a:noFill/>
          <a:ln w="9525">
            <a:noFill/>
            <a:miter lim="800000"/>
          </a:ln>
        </p:spPr>
        <p:txBody>
          <a:bodyPr>
            <a:spAutoFit/>
          </a:bodyPr>
          <a:lstStyle/>
          <a:p>
            <a:r>
              <a:rPr lang="en-US" altLang="zh-CN"/>
              <a:t>S</a:t>
            </a:r>
            <a:endParaRPr lang="zh-CN" altLang="en-US"/>
          </a:p>
        </p:txBody>
      </p:sp>
      <p:cxnSp>
        <p:nvCxnSpPr>
          <p:cNvPr id="13" name="直接箭头连接符 12"/>
          <p:cNvCxnSpPr/>
          <p:nvPr/>
        </p:nvCxnSpPr>
        <p:spPr bwMode="auto">
          <a:xfrm>
            <a:off x="5013326" y="3134916"/>
            <a:ext cx="792163"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4" name="文本框 5"/>
          <p:cNvSpPr txBox="1">
            <a:spLocks noChangeArrowheads="1"/>
          </p:cNvSpPr>
          <p:nvPr/>
        </p:nvSpPr>
        <p:spPr bwMode="auto">
          <a:xfrm>
            <a:off x="5822950" y="2996804"/>
            <a:ext cx="338554" cy="369332"/>
          </a:xfrm>
          <a:prstGeom prst="rect">
            <a:avLst/>
          </a:prstGeom>
          <a:noFill/>
          <a:ln w="9525">
            <a:noFill/>
            <a:miter lim="800000"/>
          </a:ln>
        </p:spPr>
        <p:txBody>
          <a:bodyPr wrap="none">
            <a:spAutoFit/>
          </a:bodyPr>
          <a:lstStyle/>
          <a:p>
            <a:r>
              <a:rPr lang="en-US" altLang="zh-CN"/>
              <a:t>S</a:t>
            </a:r>
            <a:endParaRPr lang="zh-CN" altLang="en-US"/>
          </a:p>
        </p:txBody>
      </p:sp>
      <p:graphicFrame>
        <p:nvGraphicFramePr>
          <p:cNvPr id="16" name="表格 15"/>
          <p:cNvGraphicFramePr>
            <a:graphicFrameLocks noGrp="1"/>
          </p:cNvGraphicFramePr>
          <p:nvPr/>
        </p:nvGraphicFramePr>
        <p:xfrm>
          <a:off x="1655763" y="1865710"/>
          <a:ext cx="3744414" cy="2819400"/>
        </p:xfrm>
        <a:graphic>
          <a:graphicData uri="http://schemas.openxmlformats.org/drawingml/2006/table">
            <a:tbl>
              <a:tblPr firstRow="1" bandRow="1">
                <a:tableStyleId>{72833802-FEF1-4C79-8D5D-14CF1EAF98D9}</a:tableStyleId>
              </a:tblPr>
              <a:tblGrid>
                <a:gridCol w="1248138"/>
                <a:gridCol w="1248138"/>
                <a:gridCol w="1248138"/>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Sdept</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t>2014104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dirty="0"/>
                        <a:t>2014105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2014106</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2014107</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2014108</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PH</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爆炸形 1 1"/>
          <p:cNvSpPr/>
          <p:nvPr/>
        </p:nvSpPr>
        <p:spPr bwMode="auto">
          <a:xfrm>
            <a:off x="2293255" y="3044537"/>
            <a:ext cx="6624736" cy="1296144"/>
          </a:xfrm>
          <a:prstGeom prst="irregularSeal1">
            <a:avLst/>
          </a:prstGeom>
          <a:ln>
            <a:headEnd type="none" w="med" len="med"/>
            <a:tailEnd type="none" w="med" len="med"/>
          </a:ln>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a:lstStyle/>
          <a:p>
            <a:pPr>
              <a:defRPr/>
            </a:pPr>
            <a:r>
              <a:rPr lang="zh-CN" altLang="en-US" b="1" dirty="0">
                <a:solidFill>
                  <a:srgbClr val="FF0000"/>
                </a:solidFill>
              </a:rPr>
              <a:t>       所以</a:t>
            </a:r>
            <a:r>
              <a:rPr lang="en-US" altLang="zh-CN" b="1" dirty="0">
                <a:solidFill>
                  <a:srgbClr val="FF0000"/>
                </a:solidFill>
              </a:rPr>
              <a:t>,</a:t>
            </a:r>
            <a:br>
              <a:rPr lang="en-US" altLang="zh-CN" b="1" dirty="0">
                <a:solidFill>
                  <a:srgbClr val="FF0000"/>
                </a:solidFill>
              </a:rPr>
            </a:br>
            <a:r>
              <a:rPr lang="en-US" altLang="zh-CN" b="1" dirty="0">
                <a:solidFill>
                  <a:srgbClr val="FF0000"/>
                </a:solidFill>
              </a:rPr>
              <a:t>       SL</a:t>
            </a:r>
            <a:r>
              <a:rPr lang="zh-CN" altLang="en-US" b="1" dirty="0">
                <a:solidFill>
                  <a:srgbClr val="FF0000"/>
                </a:solidFill>
              </a:rPr>
              <a:t>仍不是一个好的关系模式。</a:t>
            </a:r>
            <a:endParaRPr lang="zh-CN" altLang="en-US" b="1" dirty="0">
              <a:solidFill>
                <a:srgbClr val="FF0000"/>
              </a:solidFill>
            </a:endParaRPr>
          </a:p>
          <a:p>
            <a:pPr eaLnBrk="1" hangingPunct="1">
              <a:buFont typeface="Arial" panose="020B0604020202020204" pitchFamily="34" charset="0"/>
              <a:buNone/>
              <a:defRPr/>
            </a:pPr>
            <a:endParaRPr lang="zh-CN" altLang="en-US"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par>
                          <p:cTn id="35" fill="hold">
                            <p:stCondLst>
                              <p:cond delay="3500"/>
                            </p:stCondLst>
                            <p:childTnLst>
                              <p:par>
                                <p:cTn id="36" presetID="1" presetClass="exit" presetSubtype="0" fill="hold" nodeType="afterEffect">
                                  <p:stCondLst>
                                    <p:cond delay="750"/>
                                  </p:stCondLst>
                                  <p:childTnLst>
                                    <p:set>
                                      <p:cBhvr>
                                        <p:cTn id="37" dur="1" fill="hold">
                                          <p:stCondLst>
                                            <p:cond delay="0"/>
                                          </p:stCondLst>
                                        </p:cTn>
                                        <p:tgtEl>
                                          <p:spTgt spid="4"/>
                                        </p:tgtEl>
                                        <p:attrNameLst>
                                          <p:attrName>style.visibility</p:attrName>
                                        </p:attrNameLst>
                                      </p:cBhvr>
                                      <p:to>
                                        <p:strVal val="hidden"/>
                                      </p:to>
                                    </p:set>
                                  </p:childTnLst>
                                </p:cTn>
                              </p:par>
                              <p:par>
                                <p:cTn id="38" presetID="1" presetClass="exit" presetSubtype="0" fill="hold" grpId="1" nodeType="withEffect">
                                  <p:stCondLst>
                                    <p:cond delay="750"/>
                                  </p:stCondLst>
                                  <p:childTnLst>
                                    <p:set>
                                      <p:cBhvr>
                                        <p:cTn id="39" dur="1" fill="hold">
                                          <p:stCondLst>
                                            <p:cond delay="0"/>
                                          </p:stCondLst>
                                        </p:cTn>
                                        <p:tgtEl>
                                          <p:spTgt spid="6"/>
                                        </p:tgtEl>
                                        <p:attrNameLst>
                                          <p:attrName>style.visibility</p:attrName>
                                        </p:attrNameLst>
                                      </p:cBhvr>
                                      <p:to>
                                        <p:strVal val="hidden"/>
                                      </p:to>
                                    </p:set>
                                  </p:childTnLst>
                                </p:cTn>
                              </p:par>
                              <p:par>
                                <p:cTn id="40" presetID="1" presetClass="exit" presetSubtype="0" fill="hold" nodeType="withEffect">
                                  <p:stCondLst>
                                    <p:cond delay="750"/>
                                  </p:stCondLst>
                                  <p:childTnLst>
                                    <p:set>
                                      <p:cBhvr>
                                        <p:cTn id="41" dur="1" fill="hold">
                                          <p:stCondLst>
                                            <p:cond delay="0"/>
                                          </p:stCondLst>
                                        </p:cTn>
                                        <p:tgtEl>
                                          <p:spTgt spid="9"/>
                                        </p:tgtEl>
                                        <p:attrNameLst>
                                          <p:attrName>style.visibility</p:attrName>
                                        </p:attrNameLst>
                                      </p:cBhvr>
                                      <p:to>
                                        <p:strVal val="hidden"/>
                                      </p:to>
                                    </p:set>
                                  </p:childTnLst>
                                </p:cTn>
                              </p:par>
                              <p:par>
                                <p:cTn id="42" presetID="1" presetClass="exit" presetSubtype="0" fill="hold" grpId="1" nodeType="withEffect">
                                  <p:stCondLst>
                                    <p:cond delay="750"/>
                                  </p:stCondLst>
                                  <p:childTnLst>
                                    <p:set>
                                      <p:cBhvr>
                                        <p:cTn id="43" dur="1" fill="hold">
                                          <p:stCondLst>
                                            <p:cond delay="0"/>
                                          </p:stCondLst>
                                        </p:cTn>
                                        <p:tgtEl>
                                          <p:spTgt spid="10"/>
                                        </p:tgtEl>
                                        <p:attrNameLst>
                                          <p:attrName>style.visibility</p:attrName>
                                        </p:attrNameLst>
                                      </p:cBhvr>
                                      <p:to>
                                        <p:strVal val="hidden"/>
                                      </p:to>
                                    </p:set>
                                  </p:childTnLst>
                                </p:cTn>
                              </p:par>
                              <p:par>
                                <p:cTn id="44" presetID="1" presetClass="exit" presetSubtype="0" fill="hold" nodeType="withEffect">
                                  <p:stCondLst>
                                    <p:cond delay="750"/>
                                  </p:stCondLst>
                                  <p:childTnLst>
                                    <p:set>
                                      <p:cBhvr>
                                        <p:cTn id="45" dur="1" fill="hold">
                                          <p:stCondLst>
                                            <p:cond delay="0"/>
                                          </p:stCondLst>
                                        </p:cTn>
                                        <p:tgtEl>
                                          <p:spTgt spid="11"/>
                                        </p:tgtEl>
                                        <p:attrNameLst>
                                          <p:attrName>style.visibility</p:attrName>
                                        </p:attrNameLst>
                                      </p:cBhvr>
                                      <p:to>
                                        <p:strVal val="hidden"/>
                                      </p:to>
                                    </p:set>
                                  </p:childTnLst>
                                </p:cTn>
                              </p:par>
                              <p:par>
                                <p:cTn id="46" presetID="1" presetClass="exit" presetSubtype="0" fill="hold" grpId="1" nodeType="withEffect">
                                  <p:stCondLst>
                                    <p:cond delay="750"/>
                                  </p:stCondLst>
                                  <p:childTnLst>
                                    <p:set>
                                      <p:cBhvr>
                                        <p:cTn id="47" dur="1" fill="hold">
                                          <p:stCondLst>
                                            <p:cond delay="0"/>
                                          </p:stCondLst>
                                        </p:cTn>
                                        <p:tgtEl>
                                          <p:spTgt spid="12"/>
                                        </p:tgtEl>
                                        <p:attrNameLst>
                                          <p:attrName>style.visibility</p:attrName>
                                        </p:attrNameLst>
                                      </p:cBhvr>
                                      <p:to>
                                        <p:strVal val="hidden"/>
                                      </p:to>
                                    </p:set>
                                  </p:childTnLst>
                                </p:cTn>
                              </p:par>
                              <p:par>
                                <p:cTn id="48" presetID="1" presetClass="exit" presetSubtype="0" fill="hold" nodeType="withEffect">
                                  <p:stCondLst>
                                    <p:cond delay="750"/>
                                  </p:stCondLst>
                                  <p:childTnLst>
                                    <p:set>
                                      <p:cBhvr>
                                        <p:cTn id="49" dur="1" fill="hold">
                                          <p:stCondLst>
                                            <p:cond delay="0"/>
                                          </p:stCondLst>
                                        </p:cTn>
                                        <p:tgtEl>
                                          <p:spTgt spid="13"/>
                                        </p:tgtEl>
                                        <p:attrNameLst>
                                          <p:attrName>style.visibility</p:attrName>
                                        </p:attrNameLst>
                                      </p:cBhvr>
                                      <p:to>
                                        <p:strVal val="hidden"/>
                                      </p:to>
                                    </p:set>
                                  </p:childTnLst>
                                </p:cTn>
                              </p:par>
                              <p:par>
                                <p:cTn id="50" presetID="1" presetClass="exit" presetSubtype="0" fill="hold" grpId="1" nodeType="withEffect">
                                  <p:stCondLst>
                                    <p:cond delay="750"/>
                                  </p:stCondLst>
                                  <p:childTnLst>
                                    <p:set>
                                      <p:cBhvr>
                                        <p:cTn id="51" dur="1" fill="hold">
                                          <p:stCondLst>
                                            <p:cond delay="0"/>
                                          </p:stCondLst>
                                        </p:cTn>
                                        <p:tgtEl>
                                          <p:spTgt spid="14"/>
                                        </p:tgtEl>
                                        <p:attrNameLst>
                                          <p:attrName>style.visibility</p:attrName>
                                        </p:attrNameLst>
                                      </p:cBhvr>
                                      <p:to>
                                        <p:strVal val="hidden"/>
                                      </p:to>
                                    </p:set>
                                  </p:childTnLst>
                                </p:cTn>
                              </p:par>
                              <p:par>
                                <p:cTn id="52" presetID="1" presetClass="exit" presetSubtype="0" fill="hold" nodeType="withEffect">
                                  <p:stCondLst>
                                    <p:cond delay="750"/>
                                  </p:stCondLst>
                                  <p:childTnLst>
                                    <p:set>
                                      <p:cBhvr>
                                        <p:cTn id="53" dur="1" fill="hold">
                                          <p:stCondLst>
                                            <p:cond delay="0"/>
                                          </p:stCondLst>
                                        </p:cTn>
                                        <p:tgtEl>
                                          <p:spTgt spid="5"/>
                                        </p:tgtEl>
                                        <p:attrNameLst>
                                          <p:attrName>style.visibility</p:attrName>
                                        </p:attrNameLst>
                                      </p:cBhvr>
                                      <p:to>
                                        <p:strVal val="hidden"/>
                                      </p:to>
                                    </p:set>
                                  </p:childTnLst>
                                </p:cTn>
                              </p:par>
                            </p:childTnLst>
                          </p:cTn>
                        </p:par>
                        <p:par>
                          <p:cTn id="54" fill="hold">
                            <p:stCondLst>
                              <p:cond delay="4250"/>
                            </p:stCondLst>
                            <p:childTnLst>
                              <p:par>
                                <p:cTn id="55" presetID="22" presetClass="entr" presetSubtype="1" fill="hold" nodeType="afterEffect">
                                  <p:stCondLst>
                                    <p:cond delay="500"/>
                                  </p:stCondLst>
                                  <p:childTnLst>
                                    <p:set>
                                      <p:cBhvr>
                                        <p:cTn id="56" dur="1" fill="hold">
                                          <p:stCondLst>
                                            <p:cond delay="0"/>
                                          </p:stCondLst>
                                        </p:cTn>
                                        <p:tgtEl>
                                          <p:spTgt spid="16"/>
                                        </p:tgtEl>
                                        <p:attrNameLst>
                                          <p:attrName>style.visibility</p:attrName>
                                        </p:attrNameLst>
                                      </p:cBhvr>
                                      <p:to>
                                        <p:strVal val="visible"/>
                                      </p:to>
                                    </p:set>
                                    <p:animEffect transition="in" filter="wipe(up)">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1000"/>
                                        <p:tgtEl>
                                          <p:spTgt spid="2"/>
                                        </p:tgtEl>
                                      </p:cBhvr>
                                    </p:animEffect>
                                    <p:anim calcmode="lin" valueType="num">
                                      <p:cBhvr>
                                        <p:cTn id="63" dur="1000" fill="hold"/>
                                        <p:tgtEl>
                                          <p:spTgt spid="2"/>
                                        </p:tgtEl>
                                        <p:attrNameLst>
                                          <p:attrName>ppt_x</p:attrName>
                                        </p:attrNameLst>
                                      </p:cBhvr>
                                      <p:tavLst>
                                        <p:tav tm="0">
                                          <p:val>
                                            <p:strVal val="#ppt_x"/>
                                          </p:val>
                                        </p:tav>
                                        <p:tav tm="100000">
                                          <p:val>
                                            <p:strVal val="#ppt_x"/>
                                          </p:val>
                                        </p:tav>
                                      </p:tavLst>
                                    </p:anim>
                                    <p:anim calcmode="lin" valueType="num">
                                      <p:cBhvr>
                                        <p:cTn id="6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10" grpId="0"/>
      <p:bldP spid="10" grpId="1"/>
      <p:bldP spid="12" grpId="0"/>
      <p:bldP spid="12" grpId="1"/>
      <p:bldP spid="14" grpId="0"/>
      <p:bldP spid="14" grpId="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CN"/>
              <a:t> </a:t>
            </a:r>
            <a:r>
              <a:rPr lang="zh-CN" altLang="en-US"/>
              <a:t>第二范式（续）</a:t>
            </a:r>
            <a:endParaRPr lang="zh-CN" altLang="en-US"/>
          </a:p>
        </p:txBody>
      </p:sp>
      <p:sp>
        <p:nvSpPr>
          <p:cNvPr id="33795" name="Rectangle 3"/>
          <p:cNvSpPr>
            <a:spLocks noGrp="1" noChangeArrowheads="1"/>
          </p:cNvSpPr>
          <p:nvPr>
            <p:ph idx="1"/>
          </p:nvPr>
        </p:nvSpPr>
        <p:spPr>
          <a:xfrm>
            <a:off x="457200" y="844154"/>
            <a:ext cx="8331200" cy="828675"/>
          </a:xfrm>
        </p:spPr>
        <p:txBody>
          <a:bodyPr/>
          <a:lstStyle/>
          <a:p>
            <a:r>
              <a:rPr lang="zh-CN" altLang="en-US" dirty="0"/>
              <a:t>原因</a:t>
            </a:r>
            <a:r>
              <a:rPr lang="en-US" altLang="zh-CN" dirty="0"/>
              <a:t>:</a:t>
            </a:r>
            <a:endParaRPr lang="zh-CN" altLang="en-US" dirty="0"/>
          </a:p>
          <a:p>
            <a:pPr>
              <a:buNone/>
            </a:pPr>
            <a:r>
              <a:rPr lang="zh-CN" altLang="en-US" dirty="0"/>
              <a:t>	</a:t>
            </a:r>
            <a:r>
              <a:rPr lang="en-US" altLang="zh-CN" sz="2400" dirty="0"/>
              <a:t>SL</a:t>
            </a:r>
            <a:r>
              <a:rPr lang="zh-CN" altLang="en-US" sz="2400" dirty="0"/>
              <a:t>中</a:t>
            </a:r>
            <a:r>
              <a:rPr lang="en-US" altLang="zh-CN" sz="2400" dirty="0" err="1"/>
              <a:t>Sloc</a:t>
            </a:r>
            <a:r>
              <a:rPr lang="zh-CN" altLang="en-US" sz="2400" dirty="0"/>
              <a:t>传递函数依赖于</a:t>
            </a:r>
            <a:r>
              <a:rPr lang="en-US" altLang="zh-CN" sz="2400" dirty="0" err="1"/>
              <a:t>Sno</a:t>
            </a:r>
            <a:endParaRPr lang="en-US" altLang="zh-CN" dirty="0"/>
          </a:p>
        </p:txBody>
      </p:sp>
      <p:sp>
        <p:nvSpPr>
          <p:cNvPr id="33796" name="Text Box 8"/>
          <p:cNvSpPr txBox="1">
            <a:spLocks noChangeArrowheads="1"/>
          </p:cNvSpPr>
          <p:nvPr/>
        </p:nvSpPr>
        <p:spPr bwMode="auto">
          <a:xfrm>
            <a:off x="5467351" y="815578"/>
            <a:ext cx="1103313" cy="442913"/>
          </a:xfrm>
          <a:prstGeom prst="rect">
            <a:avLst/>
          </a:prstGeom>
          <a:noFill/>
          <a:ln w="38100">
            <a:noFill/>
            <a:miter lim="800000"/>
          </a:ln>
        </p:spPr>
        <p:txBody>
          <a:bodyPr/>
          <a:lstStyle/>
          <a:p>
            <a:pPr algn="just"/>
            <a:r>
              <a:rPr lang="en-US" altLang="zh-CN" sz="2800" b="1">
                <a:latin typeface="Times New Roman" panose="02020603050405020304" pitchFamily="18" charset="0"/>
              </a:rPr>
              <a:t>SL</a:t>
            </a:r>
            <a:endParaRPr lang="en-US" altLang="zh-CN" sz="2800" b="1">
              <a:latin typeface="Times New Roman" panose="02020603050405020304" pitchFamily="18" charset="0"/>
            </a:endParaRPr>
          </a:p>
        </p:txBody>
      </p:sp>
      <p:sp>
        <p:nvSpPr>
          <p:cNvPr id="33797" name="Text Box 9"/>
          <p:cNvSpPr txBox="1">
            <a:spLocks noChangeArrowheads="1"/>
          </p:cNvSpPr>
          <p:nvPr/>
        </p:nvSpPr>
        <p:spPr bwMode="auto">
          <a:xfrm>
            <a:off x="5683251" y="1603772"/>
            <a:ext cx="919163" cy="442913"/>
          </a:xfrm>
          <a:prstGeom prst="rect">
            <a:avLst/>
          </a:prstGeom>
          <a:noFill/>
          <a:ln w="38100">
            <a:solidFill>
              <a:srgbClr val="000000"/>
            </a:solidFill>
            <a:miter lim="800000"/>
          </a:ln>
        </p:spPr>
        <p:txBody>
          <a:bodyPr/>
          <a:lstStyle/>
          <a:p>
            <a:pPr algn="just"/>
            <a:r>
              <a:rPr lang="en-US" altLang="zh-CN" sz="2800" b="1">
                <a:latin typeface="Times New Roman" panose="02020603050405020304" pitchFamily="18" charset="0"/>
              </a:rPr>
              <a:t>Sno</a:t>
            </a:r>
            <a:endParaRPr lang="en-US" altLang="zh-CN" sz="2400" b="1">
              <a:latin typeface="Times New Roman" panose="02020603050405020304" pitchFamily="18" charset="0"/>
            </a:endParaRPr>
          </a:p>
        </p:txBody>
      </p:sp>
      <p:sp>
        <p:nvSpPr>
          <p:cNvPr id="33798" name="Text Box 10"/>
          <p:cNvSpPr txBox="1">
            <a:spLocks noChangeArrowheads="1"/>
          </p:cNvSpPr>
          <p:nvPr/>
        </p:nvSpPr>
        <p:spPr bwMode="auto">
          <a:xfrm>
            <a:off x="7473951" y="1188244"/>
            <a:ext cx="1103313" cy="442913"/>
          </a:xfrm>
          <a:prstGeom prst="rect">
            <a:avLst/>
          </a:prstGeom>
          <a:noFill/>
          <a:ln w="38100">
            <a:solidFill>
              <a:srgbClr val="000000"/>
            </a:solidFill>
            <a:miter lim="800000"/>
          </a:ln>
        </p:spPr>
        <p:txBody>
          <a:bodyPr/>
          <a:lstStyle/>
          <a:p>
            <a:pPr algn="just"/>
            <a:r>
              <a:rPr lang="en-US" altLang="zh-CN" sz="2800" b="1">
                <a:latin typeface="Times New Roman" panose="02020603050405020304" pitchFamily="18" charset="0"/>
              </a:rPr>
              <a:t>Sdept</a:t>
            </a:r>
            <a:endParaRPr lang="en-US" altLang="zh-CN" sz="2400" b="1">
              <a:latin typeface="Times New Roman" panose="02020603050405020304" pitchFamily="18" charset="0"/>
            </a:endParaRPr>
          </a:p>
        </p:txBody>
      </p:sp>
      <p:sp>
        <p:nvSpPr>
          <p:cNvPr id="33799" name="Text Box 11"/>
          <p:cNvSpPr txBox="1">
            <a:spLocks noChangeArrowheads="1"/>
          </p:cNvSpPr>
          <p:nvPr/>
        </p:nvSpPr>
        <p:spPr bwMode="auto">
          <a:xfrm>
            <a:off x="7537451" y="2255044"/>
            <a:ext cx="1103313" cy="442913"/>
          </a:xfrm>
          <a:prstGeom prst="rect">
            <a:avLst/>
          </a:prstGeom>
          <a:noFill/>
          <a:ln w="38100">
            <a:solidFill>
              <a:srgbClr val="000000"/>
            </a:solidFill>
            <a:miter lim="800000"/>
          </a:ln>
        </p:spPr>
        <p:txBody>
          <a:bodyPr/>
          <a:lstStyle/>
          <a:p>
            <a:pPr algn="just"/>
            <a:r>
              <a:rPr lang="en-US" altLang="zh-CN" sz="2800" b="1">
                <a:latin typeface="Times New Roman" panose="02020603050405020304" pitchFamily="18" charset="0"/>
              </a:rPr>
              <a:t>Sloc</a:t>
            </a:r>
            <a:endParaRPr lang="en-US" altLang="zh-CN" sz="2400" b="1">
              <a:latin typeface="Times New Roman" panose="02020603050405020304" pitchFamily="18" charset="0"/>
            </a:endParaRPr>
          </a:p>
        </p:txBody>
      </p:sp>
      <p:sp>
        <p:nvSpPr>
          <p:cNvPr id="74767" name="Line 12"/>
          <p:cNvSpPr>
            <a:spLocks noChangeShapeType="1"/>
          </p:cNvSpPr>
          <p:nvPr/>
        </p:nvSpPr>
        <p:spPr bwMode="auto">
          <a:xfrm flipV="1">
            <a:off x="6577014" y="1358503"/>
            <a:ext cx="917575" cy="442913"/>
          </a:xfrm>
          <a:prstGeom prst="line">
            <a:avLst/>
          </a:prstGeom>
          <a:noFill/>
          <a:ln w="38100">
            <a:solidFill>
              <a:srgbClr val="000000"/>
            </a:solidFill>
            <a:round/>
            <a:tailEnd type="triangle" w="med" len="med"/>
          </a:ln>
        </p:spPr>
        <p:txBody>
          <a:bodyPr/>
          <a:lstStyle/>
          <a:p>
            <a:endParaRPr lang="zh-CN" altLang="en-US"/>
          </a:p>
        </p:txBody>
      </p:sp>
      <p:sp>
        <p:nvSpPr>
          <p:cNvPr id="74768" name="Line 13"/>
          <p:cNvSpPr>
            <a:spLocks noChangeShapeType="1"/>
          </p:cNvSpPr>
          <p:nvPr/>
        </p:nvSpPr>
        <p:spPr bwMode="auto">
          <a:xfrm>
            <a:off x="6623051" y="1913335"/>
            <a:ext cx="917575" cy="442913"/>
          </a:xfrm>
          <a:prstGeom prst="line">
            <a:avLst/>
          </a:prstGeom>
          <a:noFill/>
          <a:ln w="38100">
            <a:solidFill>
              <a:srgbClr val="000000"/>
            </a:solidFill>
            <a:round/>
            <a:tailEnd type="triangle" w="med" len="med"/>
          </a:ln>
        </p:spPr>
        <p:txBody>
          <a:bodyPr/>
          <a:lstStyle/>
          <a:p>
            <a:endParaRPr lang="zh-CN" altLang="en-US"/>
          </a:p>
        </p:txBody>
      </p:sp>
      <p:sp>
        <p:nvSpPr>
          <p:cNvPr id="74760" name="Line 14"/>
          <p:cNvSpPr>
            <a:spLocks noChangeShapeType="1"/>
          </p:cNvSpPr>
          <p:nvPr/>
        </p:nvSpPr>
        <p:spPr bwMode="auto">
          <a:xfrm>
            <a:off x="8089900" y="1672829"/>
            <a:ext cx="0" cy="590550"/>
          </a:xfrm>
          <a:prstGeom prst="line">
            <a:avLst/>
          </a:prstGeom>
          <a:noFill/>
          <a:ln w="38100">
            <a:solidFill>
              <a:srgbClr val="000000"/>
            </a:solidFill>
            <a:round/>
            <a:tailEnd type="triangle" w="med" len="med"/>
          </a:ln>
        </p:spPr>
        <p:txBody>
          <a:bodyPr/>
          <a:lstStyle/>
          <a:p>
            <a:endParaRPr lang="zh-CN" altLang="en-US"/>
          </a:p>
        </p:txBody>
      </p:sp>
      <p:sp>
        <p:nvSpPr>
          <p:cNvPr id="499727" name="Freeform 15"/>
          <p:cNvSpPr/>
          <p:nvPr/>
        </p:nvSpPr>
        <p:spPr bwMode="auto">
          <a:xfrm>
            <a:off x="5283200" y="1057275"/>
            <a:ext cx="3505200" cy="1257300"/>
          </a:xfrm>
          <a:custGeom>
            <a:avLst/>
            <a:gdLst>
              <a:gd name="T0" fmla="*/ 2147483646 w 2208"/>
              <a:gd name="T1" fmla="*/ 2147483646 h 1056"/>
              <a:gd name="T2" fmla="*/ 2147483646 w 2208"/>
              <a:gd name="T3" fmla="*/ 2147483646 h 1056"/>
              <a:gd name="T4" fmla="*/ 2147483646 w 2208"/>
              <a:gd name="T5" fmla="*/ 2147483646 h 1056"/>
              <a:gd name="T6" fmla="*/ 2147483646 w 2208"/>
              <a:gd name="T7" fmla="*/ 2147483646 h 1056"/>
              <a:gd name="T8" fmla="*/ 2147483646 w 2208"/>
              <a:gd name="T9" fmla="*/ 2147483646 h 1056"/>
              <a:gd name="T10" fmla="*/ 2147483646 w 2208"/>
              <a:gd name="T11" fmla="*/ 2147483646 h 1056"/>
              <a:gd name="T12" fmla="*/ 2147483646 w 2208"/>
              <a:gd name="T13" fmla="*/ 2147483646 h 1056"/>
              <a:gd name="T14" fmla="*/ 2147483646 w 2208"/>
              <a:gd name="T15" fmla="*/ 2147483646 h 1056"/>
              <a:gd name="T16" fmla="*/ 2147483646 w 2208"/>
              <a:gd name="T17" fmla="*/ 2147483646 h 1056"/>
              <a:gd name="T18" fmla="*/ 2147483646 w 2208"/>
              <a:gd name="T19" fmla="*/ 2147483646 h 1056"/>
              <a:gd name="T20" fmla="*/ 2147483646 w 2208"/>
              <a:gd name="T21" fmla="*/ 2147483646 h 10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8"/>
              <a:gd name="T34" fmla="*/ 0 h 1056"/>
              <a:gd name="T35" fmla="*/ 2208 w 2208"/>
              <a:gd name="T36" fmla="*/ 1056 h 105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8" h="1056">
                <a:moveTo>
                  <a:pt x="32" y="552"/>
                </a:moveTo>
                <a:cubicBezTo>
                  <a:pt x="56" y="440"/>
                  <a:pt x="144" y="376"/>
                  <a:pt x="272" y="312"/>
                </a:cubicBezTo>
                <a:cubicBezTo>
                  <a:pt x="400" y="248"/>
                  <a:pt x="592" y="216"/>
                  <a:pt x="800" y="168"/>
                </a:cubicBezTo>
                <a:cubicBezTo>
                  <a:pt x="1008" y="120"/>
                  <a:pt x="1304" y="40"/>
                  <a:pt x="1520" y="24"/>
                </a:cubicBezTo>
                <a:cubicBezTo>
                  <a:pt x="1736" y="8"/>
                  <a:pt x="1984" y="0"/>
                  <a:pt x="2096" y="72"/>
                </a:cubicBezTo>
                <a:cubicBezTo>
                  <a:pt x="2208" y="144"/>
                  <a:pt x="2208" y="368"/>
                  <a:pt x="2192" y="456"/>
                </a:cubicBezTo>
                <a:cubicBezTo>
                  <a:pt x="2176" y="544"/>
                  <a:pt x="2184" y="568"/>
                  <a:pt x="2000" y="600"/>
                </a:cubicBezTo>
                <a:cubicBezTo>
                  <a:pt x="1816" y="632"/>
                  <a:pt x="1288" y="584"/>
                  <a:pt x="1088" y="648"/>
                </a:cubicBezTo>
                <a:cubicBezTo>
                  <a:pt x="888" y="712"/>
                  <a:pt x="960" y="928"/>
                  <a:pt x="800" y="984"/>
                </a:cubicBezTo>
                <a:cubicBezTo>
                  <a:pt x="640" y="1040"/>
                  <a:pt x="256" y="1056"/>
                  <a:pt x="128" y="984"/>
                </a:cubicBezTo>
                <a:cubicBezTo>
                  <a:pt x="0" y="912"/>
                  <a:pt x="8" y="664"/>
                  <a:pt x="32" y="552"/>
                </a:cubicBezTo>
                <a:close/>
              </a:path>
            </a:pathLst>
          </a:custGeom>
          <a:noFill/>
          <a:ln w="38100">
            <a:solidFill>
              <a:schemeClr val="accent2"/>
            </a:solidFill>
            <a:prstDash val="sysDot"/>
            <a:round/>
          </a:ln>
        </p:spPr>
        <p:txBody>
          <a:bodyPr wrap="none" lIns="90000" tIns="46800" rIns="90000" bIns="46800" anchor="ctr"/>
          <a:lstStyle/>
          <a:p>
            <a:endParaRPr lang="zh-CN" altLang="en-US"/>
          </a:p>
        </p:txBody>
      </p:sp>
      <p:sp>
        <p:nvSpPr>
          <p:cNvPr id="499729" name="Oval 17"/>
          <p:cNvSpPr>
            <a:spLocks noChangeArrowheads="1"/>
          </p:cNvSpPr>
          <p:nvPr/>
        </p:nvSpPr>
        <p:spPr bwMode="auto">
          <a:xfrm>
            <a:off x="7086600" y="914400"/>
            <a:ext cx="1752600" cy="1943100"/>
          </a:xfrm>
          <a:prstGeom prst="ellipse">
            <a:avLst/>
          </a:prstGeom>
          <a:noFill/>
          <a:ln w="38100">
            <a:solidFill>
              <a:srgbClr val="C00000"/>
            </a:solidFill>
            <a:prstDash val="sysDot"/>
            <a:round/>
          </a:ln>
        </p:spPr>
        <p:txBody>
          <a:bodyPr wrap="none" lIns="90000" tIns="46800" rIns="90000" bIns="46800" anchor="ctr"/>
          <a:lstStyle/>
          <a:p>
            <a:pPr algn="ctr" eaLnBrk="1" hangingPunct="1"/>
            <a:endParaRPr kumimoji="1" lang="zh-CN" altLang="en-US" sz="2800" b="1">
              <a:latin typeface="Times New Roman" panose="02020603050405020304" pitchFamily="18" charset="0"/>
            </a:endParaRPr>
          </a:p>
        </p:txBody>
      </p:sp>
      <p:sp>
        <p:nvSpPr>
          <p:cNvPr id="17" name="Rectangle 3"/>
          <p:cNvSpPr txBox="1">
            <a:spLocks noChangeArrowheads="1"/>
          </p:cNvSpPr>
          <p:nvPr/>
        </p:nvSpPr>
        <p:spPr bwMode="auto">
          <a:xfrm>
            <a:off x="406400" y="2003632"/>
            <a:ext cx="4876800" cy="2512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kern="0" dirty="0"/>
              <a:t>解决方法</a:t>
            </a:r>
            <a:endParaRPr lang="zh-CN" altLang="en-US" kern="0" dirty="0"/>
          </a:p>
          <a:p>
            <a:pPr>
              <a:buNone/>
              <a:defRPr/>
            </a:pPr>
            <a:r>
              <a:rPr lang="zh-CN" altLang="en-US" sz="2400" kern="0" dirty="0"/>
              <a:t>采用投影分解法，把</a:t>
            </a:r>
            <a:r>
              <a:rPr lang="en-US" altLang="zh-CN" sz="2400" kern="0" dirty="0"/>
              <a:t>SL</a:t>
            </a:r>
            <a:r>
              <a:rPr lang="zh-CN" altLang="en-US" sz="2400" kern="0" dirty="0"/>
              <a:t>分解为两个</a:t>
            </a:r>
            <a:endParaRPr lang="en-US" altLang="zh-CN" sz="2400" kern="0" dirty="0"/>
          </a:p>
          <a:p>
            <a:pPr>
              <a:buNone/>
              <a:defRPr/>
            </a:pPr>
            <a:r>
              <a:rPr lang="zh-CN" altLang="en-US" sz="2400" kern="0" dirty="0"/>
              <a:t>关系模式，以消除传递函数依赖：</a:t>
            </a:r>
            <a:endParaRPr lang="zh-CN" altLang="en-US" sz="2400" kern="0" dirty="0"/>
          </a:p>
          <a:p>
            <a:pPr marL="857250" lvl="2" indent="0">
              <a:buFont typeface="Arial" panose="020B0604020202020204" pitchFamily="34" charset="0"/>
              <a:buNone/>
              <a:defRPr/>
            </a:pPr>
            <a:r>
              <a:rPr lang="en-US" altLang="zh-CN" kern="0" dirty="0"/>
              <a:t>SD</a:t>
            </a:r>
            <a:r>
              <a:rPr lang="zh-CN" altLang="en-US" kern="0" dirty="0"/>
              <a:t>（</a:t>
            </a:r>
            <a:r>
              <a:rPr lang="en-US" altLang="zh-CN" kern="0" dirty="0" err="1"/>
              <a:t>Sno</a:t>
            </a:r>
            <a:r>
              <a:rPr lang="zh-CN" altLang="en-US" kern="0" dirty="0"/>
              <a:t>， </a:t>
            </a:r>
            <a:r>
              <a:rPr lang="en-US" altLang="zh-CN" kern="0" dirty="0" err="1"/>
              <a:t>Sdept</a:t>
            </a:r>
            <a:r>
              <a:rPr lang="zh-CN" altLang="en-US" kern="0" dirty="0"/>
              <a:t>）</a:t>
            </a:r>
            <a:endParaRPr lang="zh-CN" altLang="en-US" kern="0" dirty="0"/>
          </a:p>
          <a:p>
            <a:pPr marL="857250" lvl="2" indent="0">
              <a:buFont typeface="Arial" panose="020B0604020202020204" pitchFamily="34" charset="0"/>
              <a:buNone/>
              <a:defRPr/>
            </a:pPr>
            <a:r>
              <a:rPr lang="en-US" altLang="zh-CN" kern="0" dirty="0"/>
              <a:t>DL</a:t>
            </a:r>
            <a:r>
              <a:rPr lang="zh-CN" altLang="en-US" kern="0" dirty="0"/>
              <a:t>（</a:t>
            </a:r>
            <a:r>
              <a:rPr lang="en-US" altLang="zh-CN" kern="0" dirty="0" err="1"/>
              <a:t>Sdept</a:t>
            </a:r>
            <a:r>
              <a:rPr lang="zh-CN" altLang="en-US" kern="0" dirty="0"/>
              <a:t>， </a:t>
            </a:r>
            <a:r>
              <a:rPr lang="en-US" altLang="zh-CN" kern="0" dirty="0" err="1"/>
              <a:t>Sloc</a:t>
            </a:r>
            <a:r>
              <a:rPr lang="zh-CN" altLang="en-US" kern="0" dirty="0"/>
              <a:t>）</a:t>
            </a:r>
            <a:endParaRPr lang="zh-CN" altLang="en-US" kern="0" dirty="0"/>
          </a:p>
          <a:p>
            <a:pPr marL="857250" lvl="2" indent="0">
              <a:buFont typeface="Arial" panose="020B0604020202020204" pitchFamily="34" charset="0"/>
              <a:buNone/>
              <a:defRPr/>
            </a:pPr>
            <a:r>
              <a:rPr lang="en-US" altLang="zh-CN" kern="0" dirty="0"/>
              <a:t>SD</a:t>
            </a:r>
            <a:r>
              <a:rPr lang="zh-CN" altLang="en-US" kern="0" dirty="0"/>
              <a:t>的码为</a:t>
            </a:r>
            <a:r>
              <a:rPr lang="en-US" altLang="zh-CN" kern="0" dirty="0" err="1"/>
              <a:t>Sno</a:t>
            </a:r>
            <a:r>
              <a:rPr lang="zh-CN" altLang="en-US" kern="0" dirty="0"/>
              <a:t>， </a:t>
            </a:r>
            <a:r>
              <a:rPr lang="en-US" altLang="zh-CN" kern="0" dirty="0"/>
              <a:t>DL</a:t>
            </a:r>
            <a:r>
              <a:rPr lang="zh-CN" altLang="en-US" kern="0" dirty="0"/>
              <a:t>的码为</a:t>
            </a:r>
            <a:r>
              <a:rPr lang="en-US" altLang="zh-CN" kern="0" dirty="0" err="1"/>
              <a:t>Sdept</a:t>
            </a:r>
            <a:endParaRPr lang="zh-CN" altLang="en-US" kern="0" dirty="0"/>
          </a:p>
        </p:txBody>
      </p:sp>
      <p:graphicFrame>
        <p:nvGraphicFramePr>
          <p:cNvPr id="3" name="表格 2"/>
          <p:cNvGraphicFramePr>
            <a:graphicFrameLocks noGrp="1"/>
          </p:cNvGraphicFramePr>
          <p:nvPr/>
        </p:nvGraphicFramePr>
        <p:xfrm>
          <a:off x="5649936" y="3263504"/>
          <a:ext cx="1583160" cy="1127760"/>
        </p:xfrm>
        <a:graphic>
          <a:graphicData uri="http://schemas.openxmlformats.org/drawingml/2006/table">
            <a:tbl>
              <a:tblPr firstRow="1" bandRow="1">
                <a:tableStyleId>{21E4AEA4-8DFA-4A89-87EB-49C32662AFE0}</a:tableStyleId>
              </a:tblPr>
              <a:tblGrid>
                <a:gridCol w="648072"/>
                <a:gridCol w="935088"/>
              </a:tblGrid>
              <a:tr h="274320">
                <a:tc>
                  <a:txBody>
                    <a:bodyPr/>
                    <a:lstStyle/>
                    <a:p>
                      <a:r>
                        <a:rPr lang="en-US" altLang="zh-CN" sz="1400" dirty="0" err="1"/>
                        <a:t>Sno</a:t>
                      </a:r>
                      <a:endParaRPr lang="zh-CN" altLang="en-US" sz="1400" dirty="0"/>
                    </a:p>
                  </a:txBody>
                  <a:tcPr marT="34290" marB="34290"/>
                </a:tc>
                <a:tc>
                  <a:txBody>
                    <a:bodyPr/>
                    <a:lstStyle/>
                    <a:p>
                      <a:r>
                        <a:rPr lang="en-US" altLang="zh-CN" sz="1400" dirty="0" err="1"/>
                        <a:t>Sdept</a:t>
                      </a:r>
                      <a:endParaRPr lang="zh-CN" altLang="en-US" sz="1400" dirty="0"/>
                    </a:p>
                  </a:txBody>
                  <a:tcPr marT="34290" marB="34290"/>
                </a:tc>
              </a:tr>
              <a:tr h="274320">
                <a:tc>
                  <a:txBody>
                    <a:bodyPr/>
                    <a:lstStyle/>
                    <a:p>
                      <a:endParaRPr lang="zh-CN" altLang="en-US" sz="1400"/>
                    </a:p>
                  </a:txBody>
                  <a:tcPr marT="34290" marB="34290"/>
                </a:tc>
                <a:tc>
                  <a:txBody>
                    <a:bodyPr/>
                    <a:lstStyle/>
                    <a:p>
                      <a:endParaRPr lang="zh-CN" altLang="en-US" sz="1400"/>
                    </a:p>
                  </a:txBody>
                  <a:tcPr marT="34290" marB="34290"/>
                </a:tc>
              </a:tr>
              <a:tr h="274320">
                <a:tc>
                  <a:txBody>
                    <a:bodyPr/>
                    <a:lstStyle/>
                    <a:p>
                      <a:endParaRPr lang="zh-CN" altLang="en-US" sz="1400"/>
                    </a:p>
                  </a:txBody>
                  <a:tcPr marT="34290" marB="34290"/>
                </a:tc>
                <a:tc>
                  <a:txBody>
                    <a:bodyPr/>
                    <a:lstStyle/>
                    <a:p>
                      <a:endParaRPr lang="zh-CN" altLang="en-US" sz="1400"/>
                    </a:p>
                  </a:txBody>
                  <a:tcPr marT="34290" marB="34290"/>
                </a:tc>
              </a:tr>
              <a:tr h="274320">
                <a:tc>
                  <a:txBody>
                    <a:bodyPr/>
                    <a:lstStyle/>
                    <a:p>
                      <a:endParaRPr lang="zh-CN" altLang="en-US" sz="1400"/>
                    </a:p>
                  </a:txBody>
                  <a:tcPr marT="34290" marB="34290"/>
                </a:tc>
                <a:tc>
                  <a:txBody>
                    <a:bodyPr/>
                    <a:lstStyle/>
                    <a:p>
                      <a:endParaRPr lang="zh-CN" altLang="en-US" sz="1400" dirty="0"/>
                    </a:p>
                  </a:txBody>
                  <a:tcPr marT="34290" marB="34290"/>
                </a:tc>
              </a:tr>
            </a:tbl>
          </a:graphicData>
        </a:graphic>
      </p:graphicFrame>
      <p:graphicFrame>
        <p:nvGraphicFramePr>
          <p:cNvPr id="19" name="表格 18"/>
          <p:cNvGraphicFramePr>
            <a:graphicFrameLocks noGrp="1"/>
          </p:cNvGraphicFramePr>
          <p:nvPr/>
        </p:nvGraphicFramePr>
        <p:xfrm>
          <a:off x="7453336" y="3263504"/>
          <a:ext cx="1583160" cy="1127760"/>
        </p:xfrm>
        <a:graphic>
          <a:graphicData uri="http://schemas.openxmlformats.org/drawingml/2006/table">
            <a:tbl>
              <a:tblPr firstRow="1" bandRow="1">
                <a:tableStyleId>{21E4AEA4-8DFA-4A89-87EB-49C32662AFE0}</a:tableStyleId>
              </a:tblPr>
              <a:tblGrid>
                <a:gridCol w="873944"/>
                <a:gridCol w="709216"/>
              </a:tblGrid>
              <a:tr h="27432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err="1"/>
                        <a:t>Sdept</a:t>
                      </a:r>
                      <a:endParaRPr lang="zh-CN" altLang="en-US" sz="1400" dirty="0"/>
                    </a:p>
                  </a:txBody>
                  <a:tcPr marT="34290" marB="34290">
                    <a:solidFill>
                      <a:srgbClr val="A50021"/>
                    </a:solidFill>
                  </a:tcPr>
                </a:tc>
                <a:tc>
                  <a:txBody>
                    <a:bodyPr/>
                    <a:lstStyle/>
                    <a:p>
                      <a:r>
                        <a:rPr lang="en-US" altLang="zh-CN" sz="1400" dirty="0" err="1"/>
                        <a:t>Sloc</a:t>
                      </a:r>
                      <a:endParaRPr lang="zh-CN" altLang="en-US" sz="1400" dirty="0"/>
                    </a:p>
                  </a:txBody>
                  <a:tcPr marT="34290" marB="34290">
                    <a:solidFill>
                      <a:srgbClr val="A50021"/>
                    </a:solidFill>
                  </a:tcPr>
                </a:tc>
              </a:tr>
              <a:tr h="274320">
                <a:tc>
                  <a:txBody>
                    <a:bodyPr/>
                    <a:lstStyle/>
                    <a:p>
                      <a:endParaRPr lang="zh-CN" altLang="en-US" sz="1400"/>
                    </a:p>
                  </a:txBody>
                  <a:tcPr marT="34290" marB="34290"/>
                </a:tc>
                <a:tc>
                  <a:txBody>
                    <a:bodyPr/>
                    <a:lstStyle/>
                    <a:p>
                      <a:endParaRPr lang="zh-CN" altLang="en-US" sz="1400"/>
                    </a:p>
                  </a:txBody>
                  <a:tcPr marT="34290" marB="34290"/>
                </a:tc>
              </a:tr>
              <a:tr h="274320">
                <a:tc>
                  <a:txBody>
                    <a:bodyPr/>
                    <a:lstStyle/>
                    <a:p>
                      <a:endParaRPr lang="zh-CN" altLang="en-US" sz="1400"/>
                    </a:p>
                  </a:txBody>
                  <a:tcPr marT="34290" marB="34290"/>
                </a:tc>
                <a:tc>
                  <a:txBody>
                    <a:bodyPr/>
                    <a:lstStyle/>
                    <a:p>
                      <a:endParaRPr lang="zh-CN" altLang="en-US" sz="1400"/>
                    </a:p>
                  </a:txBody>
                  <a:tcPr marT="34290" marB="34290"/>
                </a:tc>
              </a:tr>
              <a:tr h="274320">
                <a:tc>
                  <a:txBody>
                    <a:bodyPr/>
                    <a:lstStyle/>
                    <a:p>
                      <a:endParaRPr lang="zh-CN" altLang="en-US" sz="1400"/>
                    </a:p>
                  </a:txBody>
                  <a:tcPr marT="34290" marB="34290"/>
                </a:tc>
                <a:tc>
                  <a:txBody>
                    <a:bodyPr/>
                    <a:lstStyle/>
                    <a:p>
                      <a:endParaRPr lang="zh-CN" altLang="en-US" sz="1400" dirty="0"/>
                    </a:p>
                  </a:txBody>
                  <a:tcPr marT="34290" marB="34290"/>
                </a:tc>
              </a:tr>
            </a:tbl>
          </a:graphicData>
        </a:graphic>
      </p:graphicFrame>
      <p:sp>
        <p:nvSpPr>
          <p:cNvPr id="4" name="下箭头 3"/>
          <p:cNvSpPr/>
          <p:nvPr/>
        </p:nvSpPr>
        <p:spPr bwMode="auto">
          <a:xfrm rot="1836167">
            <a:off x="6211888" y="2453879"/>
            <a:ext cx="366712" cy="278606"/>
          </a:xfrm>
          <a:prstGeom prst="downArrow">
            <a:avLst/>
          </a:prstGeom>
          <a:solidFill>
            <a:srgbClr val="0070C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anose="020B0604020202020204" pitchFamily="34" charset="0"/>
              <a:buNone/>
              <a:defRPr/>
            </a:pPr>
            <a:endParaRPr lang="zh-CN" altLang="en-US">
              <a:solidFill>
                <a:schemeClr val="tx1"/>
              </a:solidFill>
            </a:endParaRPr>
          </a:p>
        </p:txBody>
      </p:sp>
      <p:sp>
        <p:nvSpPr>
          <p:cNvPr id="21" name="下箭头 20"/>
          <p:cNvSpPr/>
          <p:nvPr/>
        </p:nvSpPr>
        <p:spPr bwMode="auto">
          <a:xfrm rot="21244498">
            <a:off x="8405813" y="2839641"/>
            <a:ext cx="366712" cy="245269"/>
          </a:xfrm>
          <a:prstGeom prst="downArrow">
            <a:avLst/>
          </a:prstGeom>
          <a:solidFill>
            <a:srgbClr val="A50021"/>
          </a:solidFill>
          <a:ln>
            <a:solidFill>
              <a:srgbClr val="C00000"/>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anose="020B0604020202020204" pitchFamily="34" charset="0"/>
              <a:buNone/>
              <a:defRPr/>
            </a:pPr>
            <a:endParaRPr lang="zh-CN" altLang="en-US">
              <a:solidFill>
                <a:schemeClr val="tx1"/>
              </a:solidFill>
            </a:endParaRPr>
          </a:p>
        </p:txBody>
      </p:sp>
      <p:sp>
        <p:nvSpPr>
          <p:cNvPr id="18" name="TextBox 17"/>
          <p:cNvSpPr txBox="1"/>
          <p:nvPr/>
        </p:nvSpPr>
        <p:spPr>
          <a:xfrm>
            <a:off x="5766397" y="2953401"/>
            <a:ext cx="650256" cy="369332"/>
          </a:xfrm>
          <a:prstGeom prst="rect">
            <a:avLst/>
          </a:prstGeom>
          <a:noFill/>
        </p:spPr>
        <p:txBody>
          <a:bodyPr wrap="square" rtlCol="0">
            <a:spAutoFit/>
          </a:bodyPr>
          <a:lstStyle/>
          <a:p>
            <a:r>
              <a:rPr lang="en-US" altLang="zh-CN" dirty="0">
                <a:solidFill>
                  <a:srgbClr val="0070C0"/>
                </a:solidFill>
              </a:rPr>
              <a:t>SD</a:t>
            </a:r>
            <a:endParaRPr lang="zh-CN" altLang="en-US" dirty="0">
              <a:solidFill>
                <a:srgbClr val="0070C0"/>
              </a:solidFill>
            </a:endParaRPr>
          </a:p>
        </p:txBody>
      </p:sp>
      <p:sp>
        <p:nvSpPr>
          <p:cNvPr id="20" name="TextBox 19"/>
          <p:cNvSpPr txBox="1"/>
          <p:nvPr/>
        </p:nvSpPr>
        <p:spPr>
          <a:xfrm>
            <a:off x="7494589" y="2960370"/>
            <a:ext cx="650256" cy="369332"/>
          </a:xfrm>
          <a:prstGeom prst="rect">
            <a:avLst/>
          </a:prstGeom>
          <a:noFill/>
        </p:spPr>
        <p:txBody>
          <a:bodyPr wrap="square" rtlCol="0">
            <a:spAutoFit/>
          </a:bodyPr>
          <a:lstStyle/>
          <a:p>
            <a:r>
              <a:rPr lang="en-US" altLang="zh-CN" dirty="0">
                <a:solidFill>
                  <a:srgbClr val="C00000"/>
                </a:solidFill>
              </a:rPr>
              <a:t>DL </a:t>
            </a:r>
            <a:endParaRPr lang="zh-CN" altLang="en-US" dirty="0">
              <a:solidFill>
                <a:srgbClr val="C0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767"/>
                                        </p:tgtEl>
                                        <p:attrNameLst>
                                          <p:attrName>style.visibility</p:attrName>
                                        </p:attrNameLst>
                                      </p:cBhvr>
                                      <p:to>
                                        <p:strVal val="visible"/>
                                      </p:to>
                                    </p:set>
                                    <p:animEffect transition="in" filter="wipe(left)">
                                      <p:cBhvr>
                                        <p:cTn id="7" dur="500"/>
                                        <p:tgtEl>
                                          <p:spTgt spid="7476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4760"/>
                                        </p:tgtEl>
                                        <p:attrNameLst>
                                          <p:attrName>style.visibility</p:attrName>
                                        </p:attrNameLst>
                                      </p:cBhvr>
                                      <p:to>
                                        <p:strVal val="visible"/>
                                      </p:to>
                                    </p:set>
                                    <p:animEffect transition="in" filter="wipe(up)">
                                      <p:cBhvr>
                                        <p:cTn id="11" dur="500"/>
                                        <p:tgtEl>
                                          <p:spTgt spid="7476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4768"/>
                                        </p:tgtEl>
                                        <p:attrNameLst>
                                          <p:attrName>style.visibility</p:attrName>
                                        </p:attrNameLst>
                                      </p:cBhvr>
                                      <p:to>
                                        <p:strVal val="visible"/>
                                      </p:to>
                                    </p:set>
                                    <p:animEffect transition="in" filter="wipe(left)">
                                      <p:cBhvr>
                                        <p:cTn id="15" dur="500"/>
                                        <p:tgtEl>
                                          <p:spTgt spid="74768"/>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1000"/>
                                        <p:tgtEl>
                                          <p:spTgt spid="17"/>
                                        </p:tgtEl>
                                      </p:cBhvr>
                                    </p:animEffect>
                                    <p:anim calcmode="lin" valueType="num">
                                      <p:cBhvr>
                                        <p:cTn id="21" dur="1000" fill="hold"/>
                                        <p:tgtEl>
                                          <p:spTgt spid="17"/>
                                        </p:tgtEl>
                                        <p:attrNameLst>
                                          <p:attrName>ppt_x</p:attrName>
                                        </p:attrNameLst>
                                      </p:cBhvr>
                                      <p:tavLst>
                                        <p:tav tm="0">
                                          <p:val>
                                            <p:strVal val="#ppt_x"/>
                                          </p:val>
                                        </p:tav>
                                        <p:tav tm="100000">
                                          <p:val>
                                            <p:strVal val="#ppt_x"/>
                                          </p:val>
                                        </p:tav>
                                      </p:tavLst>
                                    </p:anim>
                                    <p:anim calcmode="lin" valueType="num">
                                      <p:cBhvr>
                                        <p:cTn id="2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499727"/>
                                        </p:tgtEl>
                                        <p:attrNameLst>
                                          <p:attrName>style.visibility</p:attrName>
                                        </p:attrNameLst>
                                      </p:cBhvr>
                                      <p:to>
                                        <p:strVal val="visible"/>
                                      </p:to>
                                    </p:set>
                                    <p:animEffect transition="in" filter="wheel(1)">
                                      <p:cBhvr>
                                        <p:cTn id="27" dur="1000"/>
                                        <p:tgtEl>
                                          <p:spTgt spid="499727"/>
                                        </p:tgtEl>
                                      </p:cBhvr>
                                    </p:animEffect>
                                  </p:childTnLst>
                                </p:cTn>
                              </p:par>
                            </p:childTnLst>
                          </p:cTn>
                        </p:par>
                        <p:par>
                          <p:cTn id="28" fill="hold">
                            <p:stCondLst>
                              <p:cond delay="1000"/>
                            </p:stCondLst>
                            <p:childTnLst>
                              <p:par>
                                <p:cTn id="29" presetID="10" presetClass="entr" presetSubtype="0" fill="hold" grpId="0"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par>
                          <p:cTn id="32" fill="hold">
                            <p:stCondLst>
                              <p:cond delay="1500"/>
                            </p:stCondLst>
                            <p:childTnLst>
                              <p:par>
                                <p:cTn id="33" presetID="4" presetClass="entr" presetSubtype="16"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ox(in)">
                                      <p:cBhvr>
                                        <p:cTn id="35" dur="500"/>
                                        <p:tgtEl>
                                          <p:spTgt spid="18"/>
                                        </p:tgtEl>
                                      </p:cBhvr>
                                    </p:animEffect>
                                  </p:childTnLst>
                                </p:cTn>
                              </p:par>
                              <p:par>
                                <p:cTn id="36" presetID="10" presetClass="entr" presetSubtype="0" fill="hold" nodeType="with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fade">
                                      <p:cBhvr>
                                        <p:cTn id="38" dur="500"/>
                                        <p:tgtEl>
                                          <p:spTgt spid="3"/>
                                        </p:tgtEl>
                                      </p:cBhvr>
                                    </p:animEffect>
                                  </p:childTnLst>
                                </p:cTn>
                              </p:par>
                            </p:childTnLst>
                          </p:cTn>
                        </p:par>
                        <p:par>
                          <p:cTn id="39" fill="hold">
                            <p:stCondLst>
                              <p:cond delay="2000"/>
                            </p:stCondLst>
                            <p:childTnLst>
                              <p:par>
                                <p:cTn id="40" presetID="21" presetClass="entr" presetSubtype="1" fill="hold" grpId="0" nodeType="afterEffect">
                                  <p:stCondLst>
                                    <p:cond delay="0"/>
                                  </p:stCondLst>
                                  <p:childTnLst>
                                    <p:set>
                                      <p:cBhvr>
                                        <p:cTn id="41" dur="1" fill="hold">
                                          <p:stCondLst>
                                            <p:cond delay="0"/>
                                          </p:stCondLst>
                                        </p:cTn>
                                        <p:tgtEl>
                                          <p:spTgt spid="499729"/>
                                        </p:tgtEl>
                                        <p:attrNameLst>
                                          <p:attrName>style.visibility</p:attrName>
                                        </p:attrNameLst>
                                      </p:cBhvr>
                                      <p:to>
                                        <p:strVal val="visible"/>
                                      </p:to>
                                    </p:set>
                                    <p:animEffect transition="in" filter="wheel(1)">
                                      <p:cBhvr>
                                        <p:cTn id="42" dur="1000"/>
                                        <p:tgtEl>
                                          <p:spTgt spid="499729"/>
                                        </p:tgtEl>
                                      </p:cBhvr>
                                    </p:animEffect>
                                  </p:childTnLst>
                                </p:cTn>
                              </p:par>
                            </p:childTnLst>
                          </p:cTn>
                        </p:par>
                        <p:par>
                          <p:cTn id="43" fill="hold">
                            <p:stCondLst>
                              <p:cond delay="3000"/>
                            </p:stCondLst>
                            <p:childTnLst>
                              <p:par>
                                <p:cTn id="44" presetID="10" presetClass="entr" presetSubtype="0" fill="hold" grpId="0"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childTnLst>
                          </p:cTn>
                        </p:par>
                        <p:par>
                          <p:cTn id="47" fill="hold">
                            <p:stCondLst>
                              <p:cond delay="3500"/>
                            </p:stCondLst>
                            <p:childTnLst>
                              <p:par>
                                <p:cTn id="48" presetID="4" presetClass="entr" presetSubtype="16" fill="hold" grpId="0"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box(in)">
                                      <p:cBhvr>
                                        <p:cTn id="50" dur="500"/>
                                        <p:tgtEl>
                                          <p:spTgt spid="20"/>
                                        </p:tgtEl>
                                      </p:cBhvr>
                                    </p:animEffect>
                                  </p:childTnLst>
                                </p:cTn>
                              </p:par>
                            </p:childTnLst>
                          </p:cTn>
                        </p:par>
                        <p:par>
                          <p:cTn id="51" fill="hold">
                            <p:stCondLst>
                              <p:cond delay="4000"/>
                            </p:stCondLst>
                            <p:childTnLst>
                              <p:par>
                                <p:cTn id="52" presetID="10" presetClass="entr" presetSubtype="0"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7" grpId="0" animBg="1"/>
      <p:bldP spid="74768" grpId="0" animBg="1"/>
      <p:bldP spid="74760" grpId="0" animBg="1"/>
      <p:bldP spid="499727" grpId="0" animBg="1"/>
      <p:bldP spid="499729" grpId="0" animBg="1"/>
      <p:bldP spid="17" grpId="0"/>
      <p:bldP spid="4" grpId="0" animBg="1"/>
      <p:bldP spid="21" grpId="0" animBg="1"/>
      <p:bldP spid="18" grpId="0"/>
      <p:bldP spid="2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6"/>
          <p:cNvSpPr>
            <a:spLocks noGrp="1" noChangeArrowheads="1"/>
          </p:cNvSpPr>
          <p:nvPr>
            <p:ph type="title"/>
          </p:nvPr>
        </p:nvSpPr>
        <p:spPr/>
        <p:txBody>
          <a:bodyPr/>
          <a:lstStyle/>
          <a:p>
            <a:r>
              <a:rPr lang="en-US" altLang="zh-CN"/>
              <a:t> </a:t>
            </a:r>
            <a:r>
              <a:rPr lang="zh-CN" altLang="en-US"/>
              <a:t>第二范式（续）</a:t>
            </a:r>
            <a:endParaRPr lang="zh-CN" altLang="en-US"/>
          </a:p>
        </p:txBody>
      </p:sp>
      <p:sp>
        <p:nvSpPr>
          <p:cNvPr id="34819" name="Rectangle 1027"/>
          <p:cNvSpPr>
            <a:spLocks noGrp="1" noChangeArrowheads="1"/>
          </p:cNvSpPr>
          <p:nvPr>
            <p:ph idx="1"/>
          </p:nvPr>
        </p:nvSpPr>
        <p:spPr/>
        <p:txBody>
          <a:bodyPr/>
          <a:lstStyle/>
          <a:p>
            <a:pPr lvl="1" indent="-476250"/>
            <a:r>
              <a:rPr lang="en-US" altLang="zh-CN" sz="2800" dirty="0"/>
              <a:t>SD</a:t>
            </a:r>
            <a:r>
              <a:rPr lang="zh-CN" altLang="en-US" sz="2800" dirty="0"/>
              <a:t>的码为</a:t>
            </a:r>
            <a:r>
              <a:rPr lang="en-US" altLang="zh-CN" sz="2800" dirty="0" err="1"/>
              <a:t>Sno</a:t>
            </a:r>
            <a:r>
              <a:rPr lang="zh-CN" altLang="en-US" sz="2800" dirty="0"/>
              <a:t>， </a:t>
            </a:r>
            <a:r>
              <a:rPr lang="en-US" altLang="zh-CN" sz="2800" dirty="0"/>
              <a:t>DL</a:t>
            </a:r>
            <a:r>
              <a:rPr lang="zh-CN" altLang="en-US" sz="2800" dirty="0"/>
              <a:t>的码为</a:t>
            </a:r>
            <a:r>
              <a:rPr lang="en-US" altLang="zh-CN" sz="2800" dirty="0" err="1"/>
              <a:t>Sdept</a:t>
            </a:r>
            <a:r>
              <a:rPr lang="zh-CN" altLang="en-US" sz="2800" dirty="0"/>
              <a:t>。</a:t>
            </a:r>
            <a:endParaRPr lang="zh-CN" altLang="en-US" sz="2800" dirty="0"/>
          </a:p>
        </p:txBody>
      </p:sp>
      <p:grpSp>
        <p:nvGrpSpPr>
          <p:cNvPr id="2" name="Group 1038"/>
          <p:cNvGrpSpPr/>
          <p:nvPr/>
        </p:nvGrpSpPr>
        <p:grpSpPr bwMode="auto">
          <a:xfrm>
            <a:off x="816472" y="1657360"/>
            <a:ext cx="6792913" cy="1200150"/>
            <a:chOff x="1049" y="1236"/>
            <a:chExt cx="4279" cy="1008"/>
          </a:xfrm>
        </p:grpSpPr>
        <p:sp>
          <p:nvSpPr>
            <p:cNvPr id="34821" name="Text Box 1029"/>
            <p:cNvSpPr txBox="1">
              <a:spLocks noChangeArrowheads="1"/>
            </p:cNvSpPr>
            <p:nvPr/>
          </p:nvSpPr>
          <p:spPr bwMode="auto">
            <a:xfrm>
              <a:off x="1056" y="1776"/>
              <a:ext cx="594" cy="468"/>
            </a:xfrm>
            <a:prstGeom prst="rect">
              <a:avLst/>
            </a:prstGeom>
            <a:noFill/>
            <a:ln w="38100">
              <a:solidFill>
                <a:srgbClr val="000000"/>
              </a:solidFill>
              <a:miter lim="800000"/>
            </a:ln>
          </p:spPr>
          <p:txBody>
            <a:bodyPr/>
            <a:lstStyle/>
            <a:p>
              <a:pPr algn="ctr"/>
              <a:r>
                <a:rPr lang="en-US" altLang="zh-CN" sz="2800" b="1">
                  <a:latin typeface="Times New Roman" panose="02020603050405020304" pitchFamily="18" charset="0"/>
                </a:rPr>
                <a:t>Sno</a:t>
              </a:r>
              <a:endParaRPr lang="en-US" altLang="zh-CN" sz="2800" b="1">
                <a:latin typeface="Times New Roman" panose="02020603050405020304" pitchFamily="18" charset="0"/>
              </a:endParaRPr>
            </a:p>
          </p:txBody>
        </p:sp>
        <p:sp>
          <p:nvSpPr>
            <p:cNvPr id="34822" name="Text Box 1030"/>
            <p:cNvSpPr txBox="1">
              <a:spLocks noChangeArrowheads="1"/>
            </p:cNvSpPr>
            <p:nvPr/>
          </p:nvSpPr>
          <p:spPr bwMode="auto">
            <a:xfrm>
              <a:off x="2124" y="1776"/>
              <a:ext cx="712" cy="468"/>
            </a:xfrm>
            <a:prstGeom prst="rect">
              <a:avLst/>
            </a:prstGeom>
            <a:noFill/>
            <a:ln w="38100">
              <a:solidFill>
                <a:srgbClr val="000000"/>
              </a:solidFill>
              <a:miter lim="800000"/>
            </a:ln>
          </p:spPr>
          <p:txBody>
            <a:bodyPr/>
            <a:lstStyle/>
            <a:p>
              <a:pPr algn="ctr"/>
              <a:r>
                <a:rPr lang="en-US" altLang="zh-CN" sz="2800" b="1" dirty="0" err="1">
                  <a:latin typeface="Times New Roman" panose="02020603050405020304" pitchFamily="18" charset="0"/>
                </a:rPr>
                <a:t>Sdept</a:t>
              </a:r>
              <a:endParaRPr lang="en-US" altLang="zh-CN" sz="2000" b="1" dirty="0">
                <a:latin typeface="Times New Roman" panose="02020603050405020304" pitchFamily="18" charset="0"/>
              </a:endParaRPr>
            </a:p>
          </p:txBody>
        </p:sp>
        <p:sp>
          <p:nvSpPr>
            <p:cNvPr id="34823" name="Line 1031"/>
            <p:cNvSpPr>
              <a:spLocks noChangeShapeType="1"/>
            </p:cNvSpPr>
            <p:nvPr/>
          </p:nvSpPr>
          <p:spPr bwMode="auto">
            <a:xfrm>
              <a:off x="1650" y="1932"/>
              <a:ext cx="474" cy="0"/>
            </a:xfrm>
            <a:prstGeom prst="line">
              <a:avLst/>
            </a:prstGeom>
            <a:noFill/>
            <a:ln w="38100">
              <a:solidFill>
                <a:srgbClr val="000000"/>
              </a:solidFill>
              <a:round/>
              <a:tailEnd type="triangle" w="med" len="med"/>
            </a:ln>
          </p:spPr>
          <p:txBody>
            <a:bodyPr/>
            <a:lstStyle/>
            <a:p>
              <a:endParaRPr lang="zh-CN" altLang="en-US"/>
            </a:p>
          </p:txBody>
        </p:sp>
        <p:sp>
          <p:nvSpPr>
            <p:cNvPr id="34824" name="Text Box 1032"/>
            <p:cNvSpPr txBox="1">
              <a:spLocks noChangeArrowheads="1"/>
            </p:cNvSpPr>
            <p:nvPr/>
          </p:nvSpPr>
          <p:spPr bwMode="auto">
            <a:xfrm>
              <a:off x="1049" y="1236"/>
              <a:ext cx="474" cy="468"/>
            </a:xfrm>
            <a:prstGeom prst="rect">
              <a:avLst/>
            </a:prstGeom>
            <a:noFill/>
            <a:ln w="28575">
              <a:noFill/>
              <a:miter lim="800000"/>
            </a:ln>
          </p:spPr>
          <p:txBody>
            <a:bodyPr/>
            <a:lstStyle/>
            <a:p>
              <a:pPr algn="ctr"/>
              <a:r>
                <a:rPr lang="en-US" altLang="zh-CN" sz="2800" b="1" dirty="0">
                  <a:latin typeface="Times New Roman" panose="02020603050405020304" pitchFamily="18" charset="0"/>
                </a:rPr>
                <a:t>SD</a:t>
              </a:r>
              <a:endParaRPr lang="en-US" altLang="zh-CN" sz="2000" b="1" dirty="0">
                <a:latin typeface="Times New Roman" panose="02020603050405020304" pitchFamily="18" charset="0"/>
              </a:endParaRPr>
            </a:p>
          </p:txBody>
        </p:sp>
        <p:sp>
          <p:nvSpPr>
            <p:cNvPr id="34825" name="Text Box 1033"/>
            <p:cNvSpPr txBox="1">
              <a:spLocks noChangeArrowheads="1"/>
            </p:cNvSpPr>
            <p:nvPr/>
          </p:nvSpPr>
          <p:spPr bwMode="auto">
            <a:xfrm>
              <a:off x="3430" y="1776"/>
              <a:ext cx="712" cy="468"/>
            </a:xfrm>
            <a:prstGeom prst="rect">
              <a:avLst/>
            </a:prstGeom>
            <a:noFill/>
            <a:ln w="38100">
              <a:solidFill>
                <a:srgbClr val="000000"/>
              </a:solidFill>
              <a:miter lim="800000"/>
            </a:ln>
          </p:spPr>
          <p:txBody>
            <a:bodyPr/>
            <a:lstStyle/>
            <a:p>
              <a:pPr algn="ctr"/>
              <a:r>
                <a:rPr lang="en-US" altLang="zh-CN" sz="2800" b="1">
                  <a:latin typeface="Times New Roman" panose="02020603050405020304" pitchFamily="18" charset="0"/>
                </a:rPr>
                <a:t>Sdept</a:t>
              </a:r>
              <a:endParaRPr lang="en-US" altLang="zh-CN" sz="2000" b="1">
                <a:latin typeface="Times New Roman" panose="02020603050405020304" pitchFamily="18" charset="0"/>
              </a:endParaRPr>
            </a:p>
          </p:txBody>
        </p:sp>
        <p:sp>
          <p:nvSpPr>
            <p:cNvPr id="34826" name="Text Box 1034"/>
            <p:cNvSpPr txBox="1">
              <a:spLocks noChangeArrowheads="1"/>
            </p:cNvSpPr>
            <p:nvPr/>
          </p:nvSpPr>
          <p:spPr bwMode="auto">
            <a:xfrm>
              <a:off x="4734" y="1776"/>
              <a:ext cx="594" cy="468"/>
            </a:xfrm>
            <a:prstGeom prst="rect">
              <a:avLst/>
            </a:prstGeom>
            <a:noFill/>
            <a:ln w="38100">
              <a:solidFill>
                <a:srgbClr val="000000"/>
              </a:solidFill>
              <a:miter lim="800000"/>
            </a:ln>
          </p:spPr>
          <p:txBody>
            <a:bodyPr/>
            <a:lstStyle/>
            <a:p>
              <a:pPr algn="ctr"/>
              <a:r>
                <a:rPr lang="en-US" altLang="zh-CN" sz="2800" b="1" dirty="0" err="1">
                  <a:latin typeface="Times New Roman" panose="02020603050405020304" pitchFamily="18" charset="0"/>
                </a:rPr>
                <a:t>Sloc</a:t>
              </a:r>
              <a:endParaRPr lang="en-US" altLang="zh-CN" sz="2000" b="1" dirty="0">
                <a:latin typeface="Times New Roman" panose="02020603050405020304" pitchFamily="18" charset="0"/>
              </a:endParaRPr>
            </a:p>
          </p:txBody>
        </p:sp>
        <p:sp>
          <p:nvSpPr>
            <p:cNvPr id="34827" name="Line 1035"/>
            <p:cNvSpPr>
              <a:spLocks noChangeShapeType="1"/>
            </p:cNvSpPr>
            <p:nvPr/>
          </p:nvSpPr>
          <p:spPr bwMode="auto">
            <a:xfrm>
              <a:off x="4142" y="1932"/>
              <a:ext cx="592" cy="0"/>
            </a:xfrm>
            <a:prstGeom prst="line">
              <a:avLst/>
            </a:prstGeom>
            <a:noFill/>
            <a:ln w="38100">
              <a:solidFill>
                <a:srgbClr val="000000"/>
              </a:solidFill>
              <a:round/>
              <a:tailEnd type="triangle" w="med" len="med"/>
            </a:ln>
          </p:spPr>
          <p:txBody>
            <a:bodyPr/>
            <a:lstStyle/>
            <a:p>
              <a:endParaRPr lang="zh-CN" altLang="en-US"/>
            </a:p>
          </p:txBody>
        </p:sp>
        <p:sp>
          <p:nvSpPr>
            <p:cNvPr id="34828" name="Text Box 1036"/>
            <p:cNvSpPr txBox="1">
              <a:spLocks noChangeArrowheads="1"/>
            </p:cNvSpPr>
            <p:nvPr/>
          </p:nvSpPr>
          <p:spPr bwMode="auto">
            <a:xfrm>
              <a:off x="3415" y="1296"/>
              <a:ext cx="474" cy="468"/>
            </a:xfrm>
            <a:prstGeom prst="rect">
              <a:avLst/>
            </a:prstGeom>
            <a:noFill/>
            <a:ln w="28575">
              <a:noFill/>
              <a:miter lim="800000"/>
            </a:ln>
          </p:spPr>
          <p:txBody>
            <a:bodyPr/>
            <a:lstStyle/>
            <a:p>
              <a:pPr algn="ctr"/>
              <a:r>
                <a:rPr lang="en-US" altLang="zh-CN" sz="2800" b="1" dirty="0">
                  <a:latin typeface="Times New Roman" panose="02020603050405020304" pitchFamily="18" charset="0"/>
                </a:rPr>
                <a:t>DL</a:t>
              </a:r>
              <a:endParaRPr lang="en-US" altLang="zh-CN" sz="2000" b="1" dirty="0">
                <a:latin typeface="Times New Roman" panose="02020603050405020304" pitchFamily="18" charset="0"/>
              </a:endParaRPr>
            </a:p>
          </p:txBody>
        </p:sp>
      </p:grpSp>
      <p:sp>
        <p:nvSpPr>
          <p:cNvPr id="13" name="TextBox 12"/>
          <p:cNvSpPr txBox="1"/>
          <p:nvPr/>
        </p:nvSpPr>
        <p:spPr>
          <a:xfrm>
            <a:off x="428596" y="3489852"/>
            <a:ext cx="8501122" cy="1200329"/>
          </a:xfrm>
          <a:prstGeom prst="rect">
            <a:avLst/>
          </a:prstGeom>
          <a:solidFill>
            <a:schemeClr val="accent2">
              <a:lumMod val="20000"/>
              <a:lumOff val="80000"/>
            </a:schemeClr>
          </a:solidFill>
        </p:spPr>
        <p:txBody>
          <a:bodyPr wrap="square" rtlCol="0">
            <a:spAutoFit/>
          </a:bodyPr>
          <a:lstStyle/>
          <a:p>
            <a:r>
              <a:rPr lang="zh-CN" altLang="en-US" sz="2400" b="1" dirty="0"/>
              <a:t>在分解后的关系模式中</a:t>
            </a:r>
            <a:r>
              <a:rPr lang="zh-CN" altLang="en-US" sz="2400" b="1" dirty="0">
                <a:solidFill>
                  <a:srgbClr val="FF0000"/>
                </a:solidFill>
              </a:rPr>
              <a:t>既没有非主属性对码的部分函数依赖，也没有非主属性对码的传递函数依赖</a:t>
            </a:r>
            <a:r>
              <a:rPr lang="zh-CN" altLang="en-US" sz="2400" b="1" dirty="0"/>
              <a:t>，在一定程度上解决了上述四个问题。</a:t>
            </a:r>
            <a:endParaRPr lang="zh-CN" altLang="en-US" sz="1600"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en-US" dirty="0"/>
              <a:t>第二范式（续）</a:t>
            </a:r>
            <a:endParaRPr lang="zh-CN" altLang="en-US" dirty="0"/>
          </a:p>
        </p:txBody>
      </p:sp>
      <p:sp>
        <p:nvSpPr>
          <p:cNvPr id="2" name="文本框 1"/>
          <p:cNvSpPr txBox="1"/>
          <p:nvPr/>
        </p:nvSpPr>
        <p:spPr>
          <a:xfrm>
            <a:off x="457201" y="2064685"/>
            <a:ext cx="8291513" cy="40011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(1)  DL</a:t>
            </a:r>
            <a:r>
              <a:rPr lang="zh-CN" altLang="en-US" sz="2000" b="1" dirty="0"/>
              <a:t>关系中可以插入无在校学生的系的信息。</a:t>
            </a:r>
            <a:endParaRPr lang="zh-CN" altLang="en-US" sz="2400" b="1" dirty="0"/>
          </a:p>
        </p:txBody>
      </p:sp>
      <p:sp>
        <p:nvSpPr>
          <p:cNvPr id="3" name="文本框 2"/>
          <p:cNvSpPr txBox="1"/>
          <p:nvPr/>
        </p:nvSpPr>
        <p:spPr>
          <a:xfrm>
            <a:off x="457201" y="2571750"/>
            <a:ext cx="8291513"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(2)  </a:t>
            </a:r>
            <a:r>
              <a:rPr lang="zh-CN" altLang="en-US" sz="2000" b="1" dirty="0"/>
              <a:t>某个系的学生全部毕业了，只是删除</a:t>
            </a:r>
            <a:r>
              <a:rPr lang="en-US" altLang="zh-CN" sz="2000" b="1" dirty="0"/>
              <a:t>SD</a:t>
            </a:r>
            <a:r>
              <a:rPr lang="zh-CN" altLang="en-US" sz="2000" b="1" dirty="0"/>
              <a:t>关系中的相应元组，</a:t>
            </a:r>
            <a:r>
              <a:rPr lang="en-US" altLang="zh-CN" sz="2000" b="1" dirty="0"/>
              <a:t>DL</a:t>
            </a:r>
            <a:r>
              <a:rPr lang="zh-CN" altLang="en-US" sz="2000" b="1" dirty="0"/>
              <a:t>关系中关于该系的信息仍存在。</a:t>
            </a:r>
            <a:endParaRPr lang="zh-CN" altLang="en-US" sz="2000" b="1" dirty="0"/>
          </a:p>
        </p:txBody>
      </p:sp>
      <p:sp>
        <p:nvSpPr>
          <p:cNvPr id="4" name="文本框 3"/>
          <p:cNvSpPr txBox="1"/>
          <p:nvPr/>
        </p:nvSpPr>
        <p:spPr>
          <a:xfrm>
            <a:off x="457200" y="3414835"/>
            <a:ext cx="8229600" cy="40011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(3)  </a:t>
            </a:r>
            <a:r>
              <a:rPr lang="zh-CN" altLang="en-US" sz="2000" b="1" dirty="0"/>
              <a:t>关于系的住处的信息只在</a:t>
            </a:r>
            <a:r>
              <a:rPr lang="en-US" altLang="zh-CN" sz="2000" b="1" dirty="0"/>
              <a:t>DL</a:t>
            </a:r>
            <a:r>
              <a:rPr lang="zh-CN" altLang="en-US" sz="2000" b="1" dirty="0"/>
              <a:t>关系中存储一次。</a:t>
            </a:r>
            <a:endParaRPr lang="zh-CN" altLang="en-US" sz="2400" b="1" dirty="0"/>
          </a:p>
        </p:txBody>
      </p:sp>
      <p:sp>
        <p:nvSpPr>
          <p:cNvPr id="5" name="文本框 4"/>
          <p:cNvSpPr txBox="1"/>
          <p:nvPr/>
        </p:nvSpPr>
        <p:spPr>
          <a:xfrm>
            <a:off x="457200" y="3984948"/>
            <a:ext cx="8229600"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(4)  </a:t>
            </a:r>
            <a:r>
              <a:rPr lang="zh-CN" altLang="en-US" sz="2000" b="1" dirty="0"/>
              <a:t>当学校调整某个系的学生住处时，只需修改</a:t>
            </a:r>
            <a:r>
              <a:rPr lang="en-US" altLang="zh-CN" sz="2000" b="1" dirty="0"/>
              <a:t>DL</a:t>
            </a:r>
            <a:r>
              <a:rPr lang="zh-CN" altLang="en-US" sz="2000" b="1" dirty="0"/>
              <a:t>关系中一个相应元组的</a:t>
            </a:r>
            <a:r>
              <a:rPr lang="en-US" altLang="zh-CN" sz="2000" b="1" dirty="0" err="1"/>
              <a:t>Sloc</a:t>
            </a:r>
            <a:r>
              <a:rPr lang="zh-CN" altLang="en-US" sz="2000" b="1" dirty="0"/>
              <a:t>属性值。</a:t>
            </a:r>
            <a:endParaRPr lang="zh-CN" altLang="en-US" sz="2000" b="1" dirty="0"/>
          </a:p>
        </p:txBody>
      </p:sp>
      <p:graphicFrame>
        <p:nvGraphicFramePr>
          <p:cNvPr id="12" name="表格 11"/>
          <p:cNvGraphicFramePr>
            <a:graphicFrameLocks noGrp="1"/>
          </p:cNvGraphicFramePr>
          <p:nvPr/>
        </p:nvGraphicFramePr>
        <p:xfrm>
          <a:off x="2123728" y="947741"/>
          <a:ext cx="2088232" cy="845820"/>
        </p:xfrm>
        <a:graphic>
          <a:graphicData uri="http://schemas.openxmlformats.org/drawingml/2006/table">
            <a:tbl>
              <a:tblPr firstRow="1" bandRow="1">
                <a:tableStyleId>{21E4AEA4-8DFA-4A89-87EB-49C32662AFE0}</a:tableStyleId>
              </a:tblPr>
              <a:tblGrid>
                <a:gridCol w="854825"/>
                <a:gridCol w="1233407"/>
              </a:tblGrid>
              <a:tr h="274320">
                <a:tc>
                  <a:txBody>
                    <a:bodyPr/>
                    <a:lstStyle/>
                    <a:p>
                      <a:r>
                        <a:rPr lang="en-US" altLang="zh-CN" sz="1400" dirty="0" err="1"/>
                        <a:t>Sno</a:t>
                      </a:r>
                      <a:endParaRPr lang="zh-CN" altLang="en-US" sz="1400" dirty="0"/>
                    </a:p>
                  </a:txBody>
                  <a:tcPr marT="34290" marB="34290"/>
                </a:tc>
                <a:tc>
                  <a:txBody>
                    <a:bodyPr/>
                    <a:lstStyle/>
                    <a:p>
                      <a:r>
                        <a:rPr lang="en-US" altLang="zh-CN" sz="1400" dirty="0" err="1"/>
                        <a:t>Sdept</a:t>
                      </a:r>
                      <a:endParaRPr lang="zh-CN" altLang="en-US" sz="1400" dirty="0"/>
                    </a:p>
                  </a:txBody>
                  <a:tcPr marT="34290" marB="34290"/>
                </a:tc>
              </a:tr>
              <a:tr h="274320">
                <a:tc>
                  <a:txBody>
                    <a:bodyPr/>
                    <a:lstStyle/>
                    <a:p>
                      <a:endParaRPr lang="zh-CN" altLang="en-US" sz="1400"/>
                    </a:p>
                  </a:txBody>
                  <a:tcPr marT="34290" marB="34290"/>
                </a:tc>
                <a:tc>
                  <a:txBody>
                    <a:bodyPr/>
                    <a:lstStyle/>
                    <a:p>
                      <a:endParaRPr lang="zh-CN" altLang="en-US" sz="1400"/>
                    </a:p>
                  </a:txBody>
                  <a:tcPr marT="34290" marB="34290"/>
                </a:tc>
              </a:tr>
              <a:tr h="274320">
                <a:tc>
                  <a:txBody>
                    <a:bodyPr/>
                    <a:lstStyle/>
                    <a:p>
                      <a:endParaRPr lang="zh-CN" altLang="en-US" sz="1400"/>
                    </a:p>
                  </a:txBody>
                  <a:tcPr marT="34290" marB="34290"/>
                </a:tc>
                <a:tc>
                  <a:txBody>
                    <a:bodyPr/>
                    <a:lstStyle/>
                    <a:p>
                      <a:endParaRPr lang="zh-CN" altLang="en-US" sz="1400" dirty="0"/>
                    </a:p>
                  </a:txBody>
                  <a:tcPr marT="34290" marB="34290"/>
                </a:tc>
              </a:tr>
            </a:tbl>
          </a:graphicData>
        </a:graphic>
      </p:graphicFrame>
      <p:graphicFrame>
        <p:nvGraphicFramePr>
          <p:cNvPr id="13" name="表格 12"/>
          <p:cNvGraphicFramePr>
            <a:graphicFrameLocks noGrp="1"/>
          </p:cNvGraphicFramePr>
          <p:nvPr/>
        </p:nvGraphicFramePr>
        <p:xfrm>
          <a:off x="5220072" y="947741"/>
          <a:ext cx="2376264" cy="845820"/>
        </p:xfrm>
        <a:graphic>
          <a:graphicData uri="http://schemas.openxmlformats.org/drawingml/2006/table">
            <a:tbl>
              <a:tblPr firstRow="1" bandRow="1">
                <a:tableStyleId>{21E4AEA4-8DFA-4A89-87EB-49C32662AFE0}</a:tableStyleId>
              </a:tblPr>
              <a:tblGrid>
                <a:gridCol w="1311757"/>
                <a:gridCol w="1064507"/>
              </a:tblGrid>
              <a:tr h="27432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400" dirty="0" err="1"/>
                        <a:t>Sdept</a:t>
                      </a:r>
                      <a:endParaRPr lang="zh-CN" altLang="en-US" sz="1400" dirty="0"/>
                    </a:p>
                  </a:txBody>
                  <a:tcPr marT="34290" marB="34290">
                    <a:solidFill>
                      <a:srgbClr val="A50021"/>
                    </a:solidFill>
                  </a:tcPr>
                </a:tc>
                <a:tc>
                  <a:txBody>
                    <a:bodyPr/>
                    <a:lstStyle/>
                    <a:p>
                      <a:r>
                        <a:rPr lang="en-US" altLang="zh-CN" sz="1400" dirty="0" err="1"/>
                        <a:t>Sloc</a:t>
                      </a:r>
                      <a:endParaRPr lang="zh-CN" altLang="en-US" sz="1400" dirty="0"/>
                    </a:p>
                  </a:txBody>
                  <a:tcPr marT="34290" marB="34290">
                    <a:solidFill>
                      <a:srgbClr val="A50021"/>
                    </a:solidFill>
                  </a:tcPr>
                </a:tc>
              </a:tr>
              <a:tr h="274320">
                <a:tc>
                  <a:txBody>
                    <a:bodyPr/>
                    <a:lstStyle/>
                    <a:p>
                      <a:endParaRPr lang="zh-CN" altLang="en-US" sz="1400"/>
                    </a:p>
                  </a:txBody>
                  <a:tcPr marT="34290" marB="34290"/>
                </a:tc>
                <a:tc>
                  <a:txBody>
                    <a:bodyPr/>
                    <a:lstStyle/>
                    <a:p>
                      <a:endParaRPr lang="zh-CN" altLang="en-US" sz="1400"/>
                    </a:p>
                  </a:txBody>
                  <a:tcPr marT="34290" marB="34290"/>
                </a:tc>
              </a:tr>
              <a:tr h="274320">
                <a:tc>
                  <a:txBody>
                    <a:bodyPr/>
                    <a:lstStyle/>
                    <a:p>
                      <a:endParaRPr lang="zh-CN" altLang="en-US" sz="1400"/>
                    </a:p>
                  </a:txBody>
                  <a:tcPr marT="34290" marB="34290"/>
                </a:tc>
                <a:tc>
                  <a:txBody>
                    <a:bodyPr/>
                    <a:lstStyle/>
                    <a:p>
                      <a:endParaRPr lang="zh-CN" altLang="en-US" sz="1400" dirty="0"/>
                    </a:p>
                  </a:txBody>
                  <a:tcPr marT="34290" marB="34290"/>
                </a:tc>
              </a:tr>
            </a:tbl>
          </a:graphicData>
        </a:graphic>
      </p:graphicFrame>
      <p:sp>
        <p:nvSpPr>
          <p:cNvPr id="14" name="TextBox 13"/>
          <p:cNvSpPr txBox="1"/>
          <p:nvPr/>
        </p:nvSpPr>
        <p:spPr>
          <a:xfrm>
            <a:off x="1632992" y="947741"/>
            <a:ext cx="634752" cy="369332"/>
          </a:xfrm>
          <a:prstGeom prst="rect">
            <a:avLst/>
          </a:prstGeom>
          <a:noFill/>
        </p:spPr>
        <p:txBody>
          <a:bodyPr wrap="square" rtlCol="0">
            <a:spAutoFit/>
          </a:bodyPr>
          <a:lstStyle/>
          <a:p>
            <a:r>
              <a:rPr lang="en-US" altLang="zh-CN" dirty="0"/>
              <a:t>SD</a:t>
            </a:r>
            <a:endParaRPr lang="zh-CN" altLang="en-US" dirty="0"/>
          </a:p>
        </p:txBody>
      </p:sp>
      <p:sp>
        <p:nvSpPr>
          <p:cNvPr id="15" name="TextBox 14"/>
          <p:cNvSpPr txBox="1"/>
          <p:nvPr/>
        </p:nvSpPr>
        <p:spPr>
          <a:xfrm>
            <a:off x="4729336" y="953642"/>
            <a:ext cx="634752" cy="369332"/>
          </a:xfrm>
          <a:prstGeom prst="rect">
            <a:avLst/>
          </a:prstGeom>
          <a:noFill/>
        </p:spPr>
        <p:txBody>
          <a:bodyPr wrap="square" rtlCol="0">
            <a:spAutoFit/>
          </a:bodyPr>
          <a:lstStyle/>
          <a:p>
            <a:r>
              <a:rPr lang="en-US" altLang="zh-CN" dirty="0"/>
              <a:t>DL</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endParaRPr lang="zh-CN" altLang="en-US" sz="2800" dirty="0"/>
          </a:p>
          <a:p>
            <a:pPr>
              <a:spcBef>
                <a:spcPts val="0"/>
              </a:spcBef>
            </a:pPr>
            <a:r>
              <a:rPr lang="en-US" altLang="zh-CN" sz="2800" dirty="0"/>
              <a:t>6.2.4 </a:t>
            </a:r>
            <a:r>
              <a:rPr lang="zh-CN" altLang="en-US" sz="2800" dirty="0"/>
              <a:t>第二范式（</a:t>
            </a:r>
            <a:r>
              <a:rPr lang="en-US" altLang="zh-CN" sz="2800" dirty="0"/>
              <a:t>2NF</a:t>
            </a:r>
            <a:r>
              <a:rPr lang="zh-CN" altLang="en-US" sz="2800" dirty="0"/>
              <a:t>）</a:t>
            </a:r>
            <a:endParaRPr lang="zh-CN" altLang="en-US" sz="2800" dirty="0"/>
          </a:p>
          <a:p>
            <a:pPr>
              <a:spcBef>
                <a:spcPts val="0"/>
              </a:spcBef>
            </a:pPr>
            <a:r>
              <a:rPr lang="en-US" altLang="zh-CN" sz="2800" dirty="0">
                <a:solidFill>
                  <a:srgbClr val="FF0000"/>
                </a:solidFill>
              </a:rPr>
              <a:t>6.2.5 </a:t>
            </a:r>
            <a:r>
              <a:rPr lang="zh-CN" altLang="en-US" sz="2800" dirty="0">
                <a:solidFill>
                  <a:srgbClr val="FF0000"/>
                </a:solidFill>
              </a:rPr>
              <a:t>第三范式（</a:t>
            </a:r>
            <a:r>
              <a:rPr lang="en-US" altLang="zh-CN" sz="2800" dirty="0">
                <a:solidFill>
                  <a:srgbClr val="FF0000"/>
                </a:solidFill>
              </a:rPr>
              <a:t>3NF</a:t>
            </a:r>
            <a:r>
              <a:rPr lang="zh-CN" altLang="en-US" sz="2800" dirty="0">
                <a:solidFill>
                  <a:srgbClr val="FF0000"/>
                </a:solidFill>
              </a:rPr>
              <a:t>）</a:t>
            </a:r>
            <a:endParaRPr lang="zh-CN" altLang="en-US" sz="2800" dirty="0">
              <a:solidFill>
                <a:srgbClr val="FF0000"/>
              </a:solidFill>
            </a:endParaRPr>
          </a:p>
          <a:p>
            <a:pPr>
              <a:spcBef>
                <a:spcPts val="0"/>
              </a:spcBef>
            </a:pPr>
            <a:r>
              <a:rPr lang="en-US" altLang="zh-CN" sz="2800" dirty="0"/>
              <a:t>6.2.6 BC</a:t>
            </a:r>
            <a:r>
              <a:rPr lang="zh-CN" altLang="en-US" sz="2800" dirty="0"/>
              <a:t>范式（</a:t>
            </a:r>
            <a:r>
              <a:rPr lang="en-US" altLang="zh-CN" sz="2800" dirty="0"/>
              <a:t>BCNF</a:t>
            </a:r>
            <a:r>
              <a:rPr lang="zh-CN" altLang="en-US" sz="2800" dirty="0"/>
              <a:t>）</a:t>
            </a:r>
            <a:endParaRPr lang="zh-CN" altLang="en-US" sz="2800" dirty="0"/>
          </a:p>
          <a:p>
            <a:pPr lvl="1">
              <a:spcBef>
                <a:spcPts val="0"/>
              </a:spcBef>
            </a:pPr>
            <a:r>
              <a:rPr lang="zh-CN" altLang="en-US" sz="2600" dirty="0"/>
              <a:t>*</a:t>
            </a:r>
            <a:r>
              <a:rPr lang="en-US" altLang="zh-CN" sz="2600" dirty="0"/>
              <a:t>6.2.7 </a:t>
            </a:r>
            <a:r>
              <a:rPr lang="zh-CN" altLang="en-US" sz="2600" dirty="0"/>
              <a:t>多值依赖</a:t>
            </a:r>
            <a:endParaRPr lang="en-US" altLang="zh-CN" sz="2600" dirty="0"/>
          </a:p>
          <a:p>
            <a:pPr lvl="1">
              <a:spcBef>
                <a:spcPts val="0"/>
              </a:spcBef>
            </a:pPr>
            <a:r>
              <a:rPr lang="zh-CN" altLang="en-US" sz="2600" dirty="0"/>
              <a:t>*</a:t>
            </a:r>
            <a:r>
              <a:rPr lang="en-US" altLang="zh-CN" sz="2600" dirty="0"/>
              <a:t>6.2.8 </a:t>
            </a:r>
            <a:r>
              <a:rPr lang="zh-CN" altLang="en-US" sz="2600" dirty="0"/>
              <a:t>第四范式（</a:t>
            </a:r>
            <a:r>
              <a:rPr lang="en-US" altLang="zh-CN" sz="2600" dirty="0"/>
              <a:t>4NF</a:t>
            </a:r>
            <a:r>
              <a:rPr lang="zh-CN" altLang="en-US" sz="2600" dirty="0"/>
              <a:t>）</a:t>
            </a:r>
            <a:endParaRPr lang="zh-CN" altLang="en-US" sz="2600" dirty="0"/>
          </a:p>
          <a:p>
            <a:pPr>
              <a:spcBef>
                <a:spcPts val="0"/>
              </a:spcBef>
            </a:pPr>
            <a:r>
              <a:rPr lang="en-US" altLang="zh-CN" sz="2800" dirty="0"/>
              <a:t>6.2.9 </a:t>
            </a:r>
            <a:r>
              <a:rPr lang="zh-CN" altLang="en-US" sz="2800" dirty="0"/>
              <a:t>规范化小结</a:t>
            </a:r>
            <a:endParaRPr lang="zh-CN" altLang="en-US"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ln>
        </p:spPr>
        <p:txBody>
          <a:bodyPr vert="horz" wrap="square" lIns="91440" tIns="45720" rIns="91440" bIns="45720" numCol="1" anchor="t" anchorCtr="0" compatLnSpc="1"/>
          <a:lstStyle/>
          <a:p>
            <a:pPr lvl="0" algn="ctr">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.5  </a:t>
            </a:r>
            <a:r>
              <a:rPr lang="zh-CN" altLang="en-US" sz="3600" b="1" kern="0" cap="all" dirty="0">
                <a:solidFill>
                  <a:schemeClr val="bg1"/>
                </a:solidFill>
                <a:latin typeface="+mj-lt"/>
                <a:ea typeface="+mj-ea"/>
                <a:cs typeface="+mj-cs"/>
              </a:rPr>
              <a:t>第三范式</a:t>
            </a:r>
            <a:endParaRPr lang="zh-CN" altLang="en-US" sz="3600" b="1" kern="0" cap="all" dirty="0">
              <a:solidFill>
                <a:schemeClr val="bg1"/>
              </a:solidFill>
              <a:latin typeface="+mj-lt"/>
              <a:ea typeface="+mj-ea"/>
              <a:cs typeface="+mj-cs"/>
            </a:endParaRPr>
          </a:p>
        </p:txBody>
      </p:sp>
    </p:spTree>
  </p:cSld>
  <p:clrMapOvr>
    <a:masterClrMapping/>
  </p:clrMapOvr>
  <p:transition spd="slow">
    <p:wipe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zh-CN" sz="3600" dirty="0"/>
              <a:t> 6.2.5 </a:t>
            </a:r>
            <a:r>
              <a:rPr lang="zh-CN" altLang="en-US" sz="3600" dirty="0"/>
              <a:t>第三范式（</a:t>
            </a:r>
            <a:r>
              <a:rPr lang="en-US" altLang="zh-CN" sz="3600" dirty="0"/>
              <a:t>3NF</a:t>
            </a:r>
            <a:r>
              <a:rPr lang="zh-CN" altLang="en-US" sz="3600" dirty="0"/>
              <a:t>）</a:t>
            </a:r>
            <a:endParaRPr lang="zh-CN" altLang="en-US" sz="3600" dirty="0"/>
          </a:p>
        </p:txBody>
      </p:sp>
      <p:sp>
        <p:nvSpPr>
          <p:cNvPr id="78851" name="Rectangle 3"/>
          <p:cNvSpPr>
            <a:spLocks noGrp="1" noChangeArrowheads="1"/>
          </p:cNvSpPr>
          <p:nvPr>
            <p:ph idx="1"/>
          </p:nvPr>
        </p:nvSpPr>
        <p:spPr>
          <a:xfrm>
            <a:off x="285720" y="645331"/>
            <a:ext cx="8715436" cy="1640667"/>
          </a:xfrm>
        </p:spPr>
        <p:txBody>
          <a:bodyPr/>
          <a:lstStyle/>
          <a:p>
            <a:r>
              <a:rPr lang="en-US" altLang="zh-CN" dirty="0">
                <a:latin typeface="Arial" panose="020B0604020202020204" pitchFamily="34" charset="0"/>
                <a:ea typeface="宋体" panose="02010600030101010101" pitchFamily="2" charset="-122"/>
              </a:rPr>
              <a:t>3NF</a:t>
            </a:r>
            <a:r>
              <a:rPr lang="zh-CN" altLang="en-US" dirty="0">
                <a:latin typeface="Arial" panose="020B0604020202020204" pitchFamily="34" charset="0"/>
                <a:ea typeface="宋体" panose="02010600030101010101" pitchFamily="2" charset="-122"/>
              </a:rPr>
              <a:t>的定义</a:t>
            </a:r>
            <a:br>
              <a:rPr lang="en-US" altLang="zh-CN" dirty="0">
                <a:latin typeface="Arial" panose="020B0604020202020204" pitchFamily="34" charset="0"/>
                <a:ea typeface="宋体" panose="02010600030101010101" pitchFamily="2" charset="-122"/>
              </a:rPr>
            </a:br>
            <a:r>
              <a:rPr lang="zh-CN" altLang="en-US" sz="2000" dirty="0">
                <a:latin typeface="Arial" panose="020B0604020202020204" pitchFamily="34" charset="0"/>
                <a:ea typeface="宋体" panose="02010600030101010101" pitchFamily="2" charset="-122"/>
              </a:rPr>
              <a:t>定义</a:t>
            </a:r>
            <a:r>
              <a:rPr lang="en-US" altLang="zh-CN" sz="2000" dirty="0">
                <a:latin typeface="Arial" panose="020B0604020202020204" pitchFamily="34" charset="0"/>
                <a:ea typeface="宋体" panose="02010600030101010101" pitchFamily="2" charset="-122"/>
              </a:rPr>
              <a:t>6.7</a:t>
            </a:r>
            <a:r>
              <a:rPr lang="zh-CN" altLang="en-US" sz="2000" dirty="0">
                <a:latin typeface="Arial" panose="020B0604020202020204" pitchFamily="34" charset="0"/>
                <a:ea typeface="宋体" panose="02010600030101010101" pitchFamily="2" charset="-122"/>
              </a:rPr>
              <a:t>关系模式</a:t>
            </a:r>
            <a:r>
              <a:rPr lang="en-US" altLang="zh-CN" sz="2000" dirty="0">
                <a:latin typeface="Arial" panose="020B0604020202020204" pitchFamily="34" charset="0"/>
                <a:ea typeface="宋体" panose="02010600030101010101" pitchFamily="2" charset="-122"/>
              </a:rPr>
              <a:t>R&lt;U</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F&gt;∈1NF,</a:t>
            </a:r>
            <a:r>
              <a:rPr lang="zh-CN" altLang="en-US" sz="2000" dirty="0">
                <a:latin typeface="Arial" panose="020B0604020202020204" pitchFamily="34" charset="0"/>
                <a:ea typeface="宋体" panose="02010600030101010101" pitchFamily="2" charset="-122"/>
              </a:rPr>
              <a:t>若</a:t>
            </a:r>
            <a:r>
              <a:rPr lang="en-US" altLang="zh-CN" sz="2000" dirty="0">
                <a:latin typeface="Arial" panose="020B0604020202020204" pitchFamily="34" charset="0"/>
                <a:ea typeface="宋体" panose="02010600030101010101" pitchFamily="2" charset="-122"/>
              </a:rPr>
              <a:t>R</a:t>
            </a:r>
            <a:r>
              <a:rPr lang="zh-CN" altLang="en-US" sz="2000" dirty="0">
                <a:latin typeface="Arial" panose="020B0604020202020204" pitchFamily="34" charset="0"/>
                <a:ea typeface="宋体" panose="02010600030101010101" pitchFamily="2" charset="-122"/>
              </a:rPr>
              <a:t>中不存在这样的码</a:t>
            </a:r>
            <a:r>
              <a:rPr lang="en-US" altLang="zh-CN" sz="2000" dirty="0">
                <a:latin typeface="Arial" panose="020B0604020202020204" pitchFamily="34" charset="0"/>
                <a:ea typeface="宋体" panose="02010600030101010101" pitchFamily="2" charset="-122"/>
              </a:rPr>
              <a:t>X</a:t>
            </a:r>
            <a:r>
              <a:rPr lang="zh-CN" altLang="en-US" sz="2000" dirty="0">
                <a:latin typeface="Arial" panose="020B0604020202020204" pitchFamily="34" charset="0"/>
                <a:ea typeface="宋体" panose="02010600030101010101" pitchFamily="2" charset="-122"/>
              </a:rPr>
              <a:t>、属性组</a:t>
            </a:r>
            <a:r>
              <a:rPr lang="en-US" altLang="zh-CN" sz="2000" dirty="0">
                <a:latin typeface="Arial" panose="020B0604020202020204" pitchFamily="34" charset="0"/>
                <a:ea typeface="宋体" panose="02010600030101010101" pitchFamily="2" charset="-122"/>
              </a:rPr>
              <a:t>Y</a:t>
            </a:r>
            <a:r>
              <a:rPr lang="zh-CN" altLang="en-US" sz="2000" dirty="0">
                <a:latin typeface="Arial" panose="020B0604020202020204" pitchFamily="34" charset="0"/>
                <a:ea typeface="宋体" panose="02010600030101010101" pitchFamily="2" charset="-122"/>
              </a:rPr>
              <a:t>及非主属性</a:t>
            </a:r>
            <a:r>
              <a:rPr lang="en-US" altLang="zh-CN" sz="2000" dirty="0">
                <a:latin typeface="Arial" panose="020B0604020202020204" pitchFamily="34" charset="0"/>
                <a:ea typeface="宋体" panose="02010600030101010101" pitchFamily="2" charset="-122"/>
              </a:rPr>
              <a:t>Z</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Y⊇ Z</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使得</a:t>
            </a:r>
            <a:r>
              <a:rPr lang="en-US" altLang="zh-CN" sz="2000" dirty="0">
                <a:latin typeface="Arial" panose="020B0604020202020204" pitchFamily="34" charset="0"/>
                <a:ea typeface="宋体" panose="02010600030101010101" pitchFamily="2" charset="-122"/>
              </a:rPr>
              <a:t>X→Y</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Y↛X</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Y→Z</a:t>
            </a:r>
            <a:r>
              <a:rPr lang="zh-CN" altLang="en-US" sz="2000" dirty="0">
                <a:latin typeface="Arial" panose="020B0604020202020204" pitchFamily="34" charset="0"/>
                <a:ea typeface="宋体" panose="02010600030101010101" pitchFamily="2" charset="-122"/>
              </a:rPr>
              <a:t>成立，则称</a:t>
            </a:r>
            <a:r>
              <a:rPr lang="en-US" altLang="zh-CN" sz="2000" dirty="0">
                <a:latin typeface="Arial" panose="020B0604020202020204" pitchFamily="34" charset="0"/>
                <a:ea typeface="宋体" panose="02010600030101010101" pitchFamily="2" charset="-122"/>
              </a:rPr>
              <a:t>R&lt;U</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F&gt; ∈ </a:t>
            </a:r>
            <a:r>
              <a:rPr lang="en-US" altLang="zh-CN" sz="2000" dirty="0" smtClean="0">
                <a:latin typeface="Arial" panose="020B0604020202020204" pitchFamily="34" charset="0"/>
                <a:ea typeface="宋体" panose="02010600030101010101" pitchFamily="2" charset="-122"/>
              </a:rPr>
              <a:t>3NF</a:t>
            </a:r>
            <a:r>
              <a:rPr lang="zh-CN" altLang="en-US" dirty="0" smtClean="0"/>
              <a:t> </a:t>
            </a:r>
            <a:endParaRPr lang="en-US" altLang="zh-CN" dirty="0"/>
          </a:p>
        </p:txBody>
      </p:sp>
      <p:sp>
        <p:nvSpPr>
          <p:cNvPr id="4" name="直接连接符 2"/>
          <p:cNvSpPr>
            <a:spLocks noChangeShapeType="1"/>
          </p:cNvSpPr>
          <p:nvPr/>
        </p:nvSpPr>
        <p:spPr bwMode="auto">
          <a:xfrm flipH="1">
            <a:off x="2216448" y="1569555"/>
            <a:ext cx="71438" cy="216694"/>
          </a:xfrm>
          <a:prstGeom prst="line">
            <a:avLst/>
          </a:prstGeom>
          <a:noFill/>
          <a:ln w="25400">
            <a:solidFill>
              <a:schemeClr val="tx1"/>
            </a:solidFill>
            <a:round/>
          </a:ln>
        </p:spPr>
        <p:txBody>
          <a:bodyPr/>
          <a:lstStyle/>
          <a:p>
            <a:endParaRPr lang="zh-CN" altLang="en-US" b="1"/>
          </a:p>
        </p:txBody>
      </p:sp>
      <p:sp>
        <p:nvSpPr>
          <p:cNvPr id="5" name="矩形 4"/>
          <p:cNvSpPr/>
          <p:nvPr/>
        </p:nvSpPr>
        <p:spPr>
          <a:xfrm>
            <a:off x="642910" y="1928808"/>
            <a:ext cx="7215222" cy="1200329"/>
          </a:xfrm>
          <a:prstGeom prst="rect">
            <a:avLst/>
          </a:prstGeom>
          <a:ln>
            <a:solidFill>
              <a:srgbClr val="FF0000"/>
            </a:solidFill>
          </a:ln>
        </p:spPr>
        <p:txBody>
          <a:bodyPr wrap="square">
            <a:spAutoFit/>
          </a:bodyPr>
          <a:lstStyle/>
          <a:p>
            <a:pPr>
              <a:buNone/>
            </a:pPr>
            <a:r>
              <a:rPr lang="zh-CN" altLang="en-US" b="1" dirty="0"/>
              <a:t>例</a:t>
            </a:r>
            <a:endParaRPr lang="en-US" altLang="zh-CN" b="1" dirty="0"/>
          </a:p>
          <a:p>
            <a:pPr>
              <a:buNone/>
            </a:pPr>
            <a:r>
              <a:rPr lang="zh-CN" altLang="en-US" b="1" dirty="0"/>
              <a:t> </a:t>
            </a:r>
            <a:r>
              <a:rPr lang="en-US" altLang="zh-CN" b="1" dirty="0"/>
              <a:t>SL(</a:t>
            </a:r>
            <a:r>
              <a:rPr lang="en-US" altLang="zh-CN" b="1" dirty="0" err="1"/>
              <a:t>Sno</a:t>
            </a:r>
            <a:r>
              <a:rPr lang="en-US" altLang="zh-CN" b="1" dirty="0"/>
              <a:t>, </a:t>
            </a:r>
            <a:r>
              <a:rPr lang="en-US" altLang="zh-CN" b="1" dirty="0" err="1"/>
              <a:t>Sdept</a:t>
            </a:r>
            <a:r>
              <a:rPr lang="en-US" altLang="zh-CN" b="1" dirty="0"/>
              <a:t>, </a:t>
            </a:r>
            <a:r>
              <a:rPr lang="en-US" altLang="zh-CN" b="1" dirty="0" err="1"/>
              <a:t>Sloc</a:t>
            </a:r>
            <a:r>
              <a:rPr lang="en-US" altLang="zh-CN" b="1" dirty="0"/>
              <a:t>) ∈ 2NF</a:t>
            </a:r>
            <a:endParaRPr lang="en-US" altLang="zh-CN" b="1" dirty="0"/>
          </a:p>
          <a:p>
            <a:pPr marL="57150" indent="0">
              <a:buNone/>
            </a:pPr>
            <a:r>
              <a:rPr lang="en-US" altLang="zh-CN" b="1" dirty="0"/>
              <a:t>SD</a:t>
            </a:r>
            <a:r>
              <a:rPr lang="zh-CN" altLang="en-US" b="1" dirty="0"/>
              <a:t>（</a:t>
            </a:r>
            <a:r>
              <a:rPr lang="en-US" altLang="zh-CN" b="1" dirty="0" err="1"/>
              <a:t>Sno</a:t>
            </a:r>
            <a:r>
              <a:rPr lang="zh-CN" altLang="en-US" b="1" dirty="0"/>
              <a:t>， </a:t>
            </a:r>
            <a:r>
              <a:rPr lang="en-US" altLang="zh-CN" b="1" dirty="0" err="1"/>
              <a:t>Sdept</a:t>
            </a:r>
            <a:r>
              <a:rPr lang="zh-CN" altLang="en-US" b="1" dirty="0"/>
              <a:t>） ∈ </a:t>
            </a:r>
            <a:r>
              <a:rPr lang="en-US" altLang="zh-CN" b="1" dirty="0"/>
              <a:t>3NF</a:t>
            </a:r>
            <a:endParaRPr lang="en-US" altLang="zh-CN" b="1" dirty="0"/>
          </a:p>
          <a:p>
            <a:pPr marL="57150" indent="0">
              <a:buNone/>
            </a:pPr>
            <a:r>
              <a:rPr lang="en-US" altLang="zh-CN" b="1" dirty="0"/>
              <a:t>DL</a:t>
            </a:r>
            <a:r>
              <a:rPr lang="zh-CN" altLang="en-US" b="1" dirty="0"/>
              <a:t>（</a:t>
            </a:r>
            <a:r>
              <a:rPr lang="en-US" altLang="zh-CN" b="1" dirty="0" err="1"/>
              <a:t>Sdept</a:t>
            </a:r>
            <a:r>
              <a:rPr lang="zh-CN" altLang="en-US" b="1" dirty="0"/>
              <a:t>， </a:t>
            </a:r>
            <a:r>
              <a:rPr lang="en-US" altLang="zh-CN" b="1" dirty="0" err="1"/>
              <a:t>Sloc</a:t>
            </a:r>
            <a:r>
              <a:rPr lang="zh-CN" altLang="en-US" b="1" dirty="0"/>
              <a:t>）∈ </a:t>
            </a:r>
            <a:r>
              <a:rPr lang="en-US" altLang="zh-CN" b="1" dirty="0"/>
              <a:t>3NF</a:t>
            </a:r>
            <a:endParaRPr lang="en-US" altLang="zh-CN" b="1" dirty="0"/>
          </a:p>
        </p:txBody>
      </p:sp>
      <p:sp>
        <p:nvSpPr>
          <p:cNvPr id="6" name="矩形 5"/>
          <p:cNvSpPr/>
          <p:nvPr/>
        </p:nvSpPr>
        <p:spPr>
          <a:xfrm>
            <a:off x="2143108" y="3500445"/>
            <a:ext cx="5000660" cy="923330"/>
          </a:xfrm>
          <a:prstGeom prst="rect">
            <a:avLst/>
          </a:prstGeom>
        </p:spPr>
        <p:txBody>
          <a:bodyPr wrap="square">
            <a:spAutoFit/>
          </a:bodyPr>
          <a:lstStyle/>
          <a:p>
            <a:r>
              <a:rPr lang="zh-CN" altLang="en-US" b="1" dirty="0">
                <a:latin typeface="+mn-ea"/>
              </a:rPr>
              <a:t>不存在部分函数依赖</a:t>
            </a:r>
            <a:r>
              <a:rPr lang="en-US" altLang="zh-CN" b="1" dirty="0">
                <a:latin typeface="+mn-ea"/>
              </a:rPr>
              <a:t>,</a:t>
            </a:r>
            <a:r>
              <a:rPr lang="zh-CN" altLang="en-US" b="1" dirty="0">
                <a:latin typeface="+mn-ea"/>
              </a:rPr>
              <a:t>但是</a:t>
            </a:r>
            <a:r>
              <a:rPr lang="zh-CN" altLang="en-US" b="1" dirty="0"/>
              <a:t>存在</a:t>
            </a:r>
            <a:r>
              <a:rPr lang="zh-CN" altLang="en-US" b="1" dirty="0">
                <a:latin typeface="+mn-ea"/>
              </a:rPr>
              <a:t>传递函数，所以</a:t>
            </a:r>
            <a:endParaRPr lang="en-US" altLang="zh-CN" b="1" dirty="0">
              <a:latin typeface="+mn-ea"/>
            </a:endParaRPr>
          </a:p>
          <a:p>
            <a:r>
              <a:rPr lang="en-US" altLang="zh-CN" b="1" dirty="0"/>
              <a:t>SL(</a:t>
            </a:r>
            <a:r>
              <a:rPr lang="en-US" altLang="zh-CN" b="1" dirty="0" err="1"/>
              <a:t>Sno</a:t>
            </a:r>
            <a:r>
              <a:rPr lang="en-US" altLang="zh-CN" b="1" dirty="0"/>
              <a:t>, </a:t>
            </a:r>
            <a:r>
              <a:rPr lang="en-US" altLang="zh-CN" b="1" dirty="0" err="1"/>
              <a:t>Sdept</a:t>
            </a:r>
            <a:r>
              <a:rPr lang="en-US" altLang="zh-CN" b="1" dirty="0"/>
              <a:t>, </a:t>
            </a:r>
            <a:r>
              <a:rPr lang="en-US" altLang="zh-CN" b="1" dirty="0" err="1"/>
              <a:t>Sloc</a:t>
            </a:r>
            <a:r>
              <a:rPr lang="en-US" altLang="zh-CN" b="1" dirty="0"/>
              <a:t>) ∈ 2NF</a:t>
            </a:r>
            <a:endParaRPr lang="en-US" altLang="zh-CN" b="1" dirty="0"/>
          </a:p>
          <a:p>
            <a:r>
              <a:rPr lang="en-US" altLang="zh-CN" b="1" dirty="0">
                <a:solidFill>
                  <a:srgbClr val="FF0000"/>
                </a:solidFill>
              </a:rPr>
              <a:t>SL(</a:t>
            </a:r>
            <a:r>
              <a:rPr lang="en-US" altLang="zh-CN" b="1" dirty="0" err="1">
                <a:solidFill>
                  <a:srgbClr val="FF0000"/>
                </a:solidFill>
              </a:rPr>
              <a:t>Sno</a:t>
            </a:r>
            <a:r>
              <a:rPr lang="en-US" altLang="zh-CN" b="1" dirty="0">
                <a:solidFill>
                  <a:srgbClr val="FF0000"/>
                </a:solidFill>
              </a:rPr>
              <a:t>, </a:t>
            </a:r>
            <a:r>
              <a:rPr lang="en-US" altLang="zh-CN" b="1" dirty="0" err="1">
                <a:solidFill>
                  <a:srgbClr val="FF0000"/>
                </a:solidFill>
              </a:rPr>
              <a:t>Sdept</a:t>
            </a:r>
            <a:r>
              <a:rPr lang="en-US" altLang="zh-CN" b="1" dirty="0">
                <a:solidFill>
                  <a:srgbClr val="FF0000"/>
                </a:solidFill>
              </a:rPr>
              <a:t>, </a:t>
            </a:r>
            <a:r>
              <a:rPr lang="en-US" altLang="zh-CN" b="1" dirty="0" err="1">
                <a:solidFill>
                  <a:srgbClr val="FF0000"/>
                </a:solidFill>
              </a:rPr>
              <a:t>Sloc</a:t>
            </a:r>
            <a:r>
              <a:rPr lang="en-US" altLang="zh-CN" b="1" dirty="0">
                <a:solidFill>
                  <a:srgbClr val="FF0000"/>
                </a:solidFill>
              </a:rPr>
              <a:t>) ∈ 3NF</a:t>
            </a:r>
            <a:endParaRPr lang="zh-CN" altLang="en-US" b="1" dirty="0">
              <a:solidFill>
                <a:srgbClr val="FF0000"/>
              </a:solidFill>
            </a:endParaRPr>
          </a:p>
        </p:txBody>
      </p:sp>
      <p:pic>
        <p:nvPicPr>
          <p:cNvPr id="631809" name="Picture 1" descr="6z5"/>
          <p:cNvPicPr>
            <a:picLocks noChangeAspect="1" noChangeArrowheads="1"/>
          </p:cNvPicPr>
          <p:nvPr/>
        </p:nvPicPr>
        <p:blipFill>
          <a:blip r:embed="rId1"/>
          <a:srcRect/>
          <a:stretch>
            <a:fillRect/>
          </a:stretch>
        </p:blipFill>
        <p:spPr bwMode="auto">
          <a:xfrm>
            <a:off x="642910" y="3244339"/>
            <a:ext cx="1357322" cy="1332493"/>
          </a:xfrm>
          <a:prstGeom prst="rect">
            <a:avLst/>
          </a:prstGeom>
          <a:noFill/>
          <a:ln w="9525">
            <a:noFill/>
            <a:miter lim="800000"/>
            <a:headEnd/>
            <a:tailEnd/>
          </a:ln>
        </p:spPr>
      </p:pic>
      <p:sp>
        <p:nvSpPr>
          <p:cNvPr id="8" name="直接连接符 2"/>
          <p:cNvSpPr>
            <a:spLocks noChangeShapeType="1"/>
          </p:cNvSpPr>
          <p:nvPr/>
        </p:nvSpPr>
        <p:spPr bwMode="auto">
          <a:xfrm flipH="1">
            <a:off x="4644008" y="4143386"/>
            <a:ext cx="71438" cy="216694"/>
          </a:xfrm>
          <a:prstGeom prst="line">
            <a:avLst/>
          </a:prstGeom>
          <a:noFill/>
          <a:ln w="25400">
            <a:solidFill>
              <a:schemeClr val="tx1"/>
            </a:solidFill>
            <a:round/>
          </a:ln>
        </p:spPr>
        <p:txBody>
          <a:bodyPr/>
          <a:lstStyle/>
          <a:p>
            <a:endParaRPr lang="zh-CN" altLang="en-US" b="1"/>
          </a:p>
        </p:txBody>
      </p:sp>
    </p:spTree>
  </p:cSld>
  <p:clrMapOvr>
    <a:masterClrMapping/>
  </p:clrMapOvr>
  <p:transition spd="slow">
    <p:wipe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zh-CN" b="0" dirty="0"/>
              <a:t>6.2.5 </a:t>
            </a:r>
            <a:r>
              <a:rPr lang="zh-CN" altLang="en-US" b="0" dirty="0"/>
              <a:t>第三范式</a:t>
            </a:r>
            <a:r>
              <a:rPr lang="zh-CN" altLang="en-US" dirty="0"/>
              <a:t>（续）</a:t>
            </a:r>
            <a:endParaRPr lang="zh-CN" altLang="en-US" dirty="0"/>
          </a:p>
        </p:txBody>
      </p:sp>
      <p:sp>
        <p:nvSpPr>
          <p:cNvPr id="79875" name="Rectangle 3"/>
          <p:cNvSpPr>
            <a:spLocks noGrp="1" noChangeArrowheads="1"/>
          </p:cNvSpPr>
          <p:nvPr>
            <p:ph idx="1"/>
          </p:nvPr>
        </p:nvSpPr>
        <p:spPr>
          <a:xfrm>
            <a:off x="285720" y="928676"/>
            <a:ext cx="8401080" cy="3640931"/>
          </a:xfrm>
        </p:spPr>
        <p:txBody>
          <a:bodyPr/>
          <a:lstStyle/>
          <a:p>
            <a:r>
              <a:rPr lang="zh-CN" altLang="en-US" sz="2400" b="1" dirty="0">
                <a:latin typeface="Arial" panose="020B0604020202020204" pitchFamily="34" charset="0"/>
                <a:ea typeface="宋体" panose="02010600030101010101" pitchFamily="2" charset="-122"/>
              </a:rPr>
              <a:t>若</a:t>
            </a:r>
            <a:r>
              <a:rPr lang="en-US" altLang="zh-CN" sz="2400" b="1" dirty="0">
                <a:latin typeface="Arial" panose="020B0604020202020204" pitchFamily="34" charset="0"/>
                <a:ea typeface="宋体" panose="02010600030101010101" pitchFamily="2" charset="-122"/>
              </a:rPr>
              <a:t>R∈3NF</a:t>
            </a:r>
            <a:r>
              <a:rPr lang="zh-CN" altLang="en-US" sz="2400" b="1" dirty="0">
                <a:latin typeface="Arial" panose="020B0604020202020204" pitchFamily="34" charset="0"/>
                <a:ea typeface="宋体" panose="02010600030101010101" pitchFamily="2" charset="-122"/>
              </a:rPr>
              <a:t>，则</a:t>
            </a:r>
            <a:r>
              <a:rPr lang="en-US" altLang="zh-CN" sz="2400" b="1" dirty="0">
                <a:latin typeface="Arial" panose="020B0604020202020204" pitchFamily="34" charset="0"/>
                <a:ea typeface="宋体" panose="02010600030101010101" pitchFamily="2" charset="-122"/>
              </a:rPr>
              <a:t>R</a:t>
            </a:r>
            <a:r>
              <a:rPr lang="zh-CN" altLang="en-US" sz="2400" b="1" dirty="0">
                <a:latin typeface="Arial" panose="020B0604020202020204" pitchFamily="34" charset="0"/>
                <a:ea typeface="宋体" panose="02010600030101010101" pitchFamily="2" charset="-122"/>
              </a:rPr>
              <a:t>的每一个非主属性既不部分函数依赖于候选码也不传递函数依赖于候选码。</a:t>
            </a:r>
            <a:endParaRPr lang="en-US" altLang="zh-CN" sz="2400" b="1" dirty="0">
              <a:latin typeface="Arial" panose="020B0604020202020204" pitchFamily="34" charset="0"/>
              <a:ea typeface="宋体" panose="02010600030101010101" pitchFamily="2" charset="-122"/>
            </a:endParaRPr>
          </a:p>
          <a:p>
            <a:r>
              <a:rPr lang="zh-CN" altLang="en-US" sz="2400" dirty="0">
                <a:latin typeface="Arial" panose="020B0604020202020204" pitchFamily="34" charset="0"/>
                <a:ea typeface="宋体" panose="02010600030101010101" pitchFamily="2" charset="-122"/>
              </a:rPr>
              <a:t>如果</a:t>
            </a:r>
            <a:r>
              <a:rPr lang="en-US" altLang="zh-CN" sz="2400" dirty="0">
                <a:latin typeface="Arial" panose="020B0604020202020204" pitchFamily="34" charset="0"/>
                <a:ea typeface="宋体" panose="02010600030101010101" pitchFamily="2" charset="-122"/>
              </a:rPr>
              <a:t>R∈3NF</a:t>
            </a:r>
            <a:r>
              <a:rPr lang="zh-CN" altLang="en-US" sz="2400" dirty="0">
                <a:latin typeface="Arial" panose="020B0604020202020204" pitchFamily="34" charset="0"/>
                <a:ea typeface="宋体" panose="02010600030101010101" pitchFamily="2" charset="-122"/>
              </a:rPr>
              <a:t>，则 </a:t>
            </a:r>
            <a:r>
              <a:rPr lang="en-US" altLang="zh-CN" sz="2400" dirty="0">
                <a:latin typeface="Arial" panose="020B0604020202020204" pitchFamily="34" charset="0"/>
                <a:ea typeface="宋体" panose="02010600030101010101" pitchFamily="2" charset="-122"/>
              </a:rPr>
              <a:t>R∈2NF</a:t>
            </a:r>
            <a:r>
              <a:rPr lang="zh-CN" altLang="en-US" sz="2400"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a:p>
            <a:r>
              <a:rPr lang="zh-CN" altLang="en-US" sz="2400" b="1" dirty="0">
                <a:latin typeface="Arial" panose="020B0604020202020204" pitchFamily="34" charset="0"/>
                <a:ea typeface="宋体" panose="02010600030101010101" pitchFamily="2" charset="-122"/>
              </a:rPr>
              <a:t>采用投影分解法将一个</a:t>
            </a:r>
            <a:r>
              <a:rPr lang="en-US" altLang="zh-CN" sz="2400" b="1" dirty="0">
                <a:latin typeface="Arial" panose="020B0604020202020204" pitchFamily="34" charset="0"/>
                <a:ea typeface="宋体" panose="02010600030101010101" pitchFamily="2" charset="-122"/>
              </a:rPr>
              <a:t>2NF</a:t>
            </a:r>
            <a:r>
              <a:rPr lang="zh-CN" altLang="en-US" sz="2400" b="1" dirty="0">
                <a:latin typeface="Arial" panose="020B0604020202020204" pitchFamily="34" charset="0"/>
                <a:ea typeface="宋体" panose="02010600030101010101" pitchFamily="2" charset="-122"/>
              </a:rPr>
              <a:t>的关系分解为多个</a:t>
            </a:r>
            <a:r>
              <a:rPr lang="en-US" altLang="zh-CN" sz="2400" b="1" dirty="0">
                <a:latin typeface="Arial" panose="020B0604020202020204" pitchFamily="34" charset="0"/>
                <a:ea typeface="宋体" panose="02010600030101010101" pitchFamily="2" charset="-122"/>
              </a:rPr>
              <a:t>3NF</a:t>
            </a:r>
            <a:r>
              <a:rPr lang="zh-CN" altLang="en-US" sz="2400" b="1" dirty="0">
                <a:latin typeface="Arial" panose="020B0604020202020204" pitchFamily="34" charset="0"/>
                <a:ea typeface="宋体" panose="02010600030101010101" pitchFamily="2" charset="-122"/>
              </a:rPr>
              <a:t>的关系，可以在一定程度上解决原</a:t>
            </a:r>
            <a:r>
              <a:rPr lang="en-US" altLang="zh-CN" sz="2400" b="1" dirty="0">
                <a:latin typeface="Arial" panose="020B0604020202020204" pitchFamily="34" charset="0"/>
                <a:ea typeface="宋体" panose="02010600030101010101" pitchFamily="2" charset="-122"/>
              </a:rPr>
              <a:t>2NF</a:t>
            </a:r>
            <a:r>
              <a:rPr lang="zh-CN" altLang="en-US" sz="2400" b="1" dirty="0">
                <a:latin typeface="Arial" panose="020B0604020202020204" pitchFamily="34" charset="0"/>
                <a:ea typeface="宋体" panose="02010600030101010101" pitchFamily="2" charset="-122"/>
              </a:rPr>
              <a:t>关系中存在的插入异常、删除异常、数据冗余度大、修改复杂等问题。</a:t>
            </a:r>
            <a:endParaRPr lang="zh-CN" altLang="en-US" sz="2400" b="1" dirty="0">
              <a:latin typeface="Arial" panose="020B0604020202020204" pitchFamily="34" charset="0"/>
              <a:ea typeface="宋体" panose="02010600030101010101" pitchFamily="2" charset="-122"/>
            </a:endParaRPr>
          </a:p>
          <a:p>
            <a:r>
              <a:rPr lang="zh-CN" altLang="en-US" sz="2400" b="1" dirty="0">
                <a:latin typeface="Arial" panose="020B0604020202020204" pitchFamily="34" charset="0"/>
                <a:ea typeface="宋体" panose="02010600030101010101" pitchFamily="2" charset="-122"/>
              </a:rPr>
              <a:t>将一个</a:t>
            </a:r>
            <a:r>
              <a:rPr lang="en-US" altLang="zh-CN" sz="2400" b="1" dirty="0">
                <a:latin typeface="Arial" panose="020B0604020202020204" pitchFamily="34" charset="0"/>
                <a:ea typeface="宋体" panose="02010600030101010101" pitchFamily="2" charset="-122"/>
              </a:rPr>
              <a:t>2NF</a:t>
            </a:r>
            <a:r>
              <a:rPr lang="zh-CN" altLang="en-US" sz="2400" b="1" dirty="0">
                <a:latin typeface="Arial" panose="020B0604020202020204" pitchFamily="34" charset="0"/>
                <a:ea typeface="宋体" panose="02010600030101010101" pitchFamily="2" charset="-122"/>
              </a:rPr>
              <a:t>关系分解为多个</a:t>
            </a:r>
            <a:r>
              <a:rPr lang="en-US" altLang="zh-CN" sz="2400" b="1" dirty="0">
                <a:latin typeface="Arial" panose="020B0604020202020204" pitchFamily="34" charset="0"/>
                <a:ea typeface="宋体" panose="02010600030101010101" pitchFamily="2" charset="-122"/>
              </a:rPr>
              <a:t>3NF</a:t>
            </a:r>
            <a:r>
              <a:rPr lang="zh-CN" altLang="en-US" sz="2400" b="1" dirty="0">
                <a:latin typeface="Arial" panose="020B0604020202020204" pitchFamily="34" charset="0"/>
                <a:ea typeface="宋体" panose="02010600030101010101" pitchFamily="2" charset="-122"/>
              </a:rPr>
              <a:t>的关系后，并不能完全消除关系模式中的各种异常情况和数据冗余。</a:t>
            </a:r>
            <a:endParaRPr lang="zh-CN" altLang="en-US" sz="2400" b="1" dirty="0">
              <a:latin typeface="Arial" panose="020B0604020202020204" pitchFamily="34" charset="0"/>
              <a:ea typeface="宋体" panose="02010600030101010101" pitchFamily="2" charset="-122"/>
            </a:endParaRPr>
          </a:p>
        </p:txBody>
      </p:sp>
    </p:spTree>
  </p:cSld>
  <p:clrMapOvr>
    <a:masterClrMapping/>
  </p:clrMapOvr>
  <p:transition spd="slow">
    <p:wipe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endParaRPr lang="zh-CN" altLang="en-US" sz="2800" dirty="0"/>
          </a:p>
          <a:p>
            <a:pPr>
              <a:spcBef>
                <a:spcPts val="0"/>
              </a:spcBef>
            </a:pPr>
            <a:r>
              <a:rPr lang="en-US" altLang="zh-CN" sz="2800" dirty="0"/>
              <a:t>6.2.4 </a:t>
            </a:r>
            <a:r>
              <a:rPr lang="zh-CN" altLang="en-US" sz="2800" dirty="0"/>
              <a:t>第二范式（</a:t>
            </a:r>
            <a:r>
              <a:rPr lang="en-US" altLang="zh-CN" sz="2800" dirty="0"/>
              <a:t>2NF</a:t>
            </a:r>
            <a:r>
              <a:rPr lang="zh-CN" altLang="en-US" sz="2800" dirty="0"/>
              <a:t>）</a:t>
            </a:r>
            <a:endParaRPr lang="zh-CN" altLang="en-US" sz="2800" dirty="0"/>
          </a:p>
          <a:p>
            <a:pPr>
              <a:spcBef>
                <a:spcPts val="0"/>
              </a:spcBef>
            </a:pPr>
            <a:r>
              <a:rPr lang="en-US" altLang="zh-CN" sz="2800" dirty="0"/>
              <a:t>6.2.5 </a:t>
            </a:r>
            <a:r>
              <a:rPr lang="zh-CN" altLang="en-US" sz="2800" dirty="0"/>
              <a:t>第三范式（</a:t>
            </a:r>
            <a:r>
              <a:rPr lang="en-US" altLang="zh-CN" sz="2800" dirty="0"/>
              <a:t>3NF</a:t>
            </a:r>
            <a:r>
              <a:rPr lang="zh-CN" altLang="en-US" sz="2800" dirty="0"/>
              <a:t>）</a:t>
            </a:r>
            <a:endParaRPr lang="zh-CN" altLang="en-US" sz="2800" dirty="0"/>
          </a:p>
          <a:p>
            <a:pPr>
              <a:spcBef>
                <a:spcPts val="0"/>
              </a:spcBef>
            </a:pPr>
            <a:r>
              <a:rPr lang="en-US" altLang="zh-CN" sz="2800" dirty="0">
                <a:solidFill>
                  <a:srgbClr val="FF0000"/>
                </a:solidFill>
              </a:rPr>
              <a:t>6.2.6 BC</a:t>
            </a:r>
            <a:r>
              <a:rPr lang="zh-CN" altLang="en-US" sz="2800" dirty="0">
                <a:solidFill>
                  <a:srgbClr val="FF0000"/>
                </a:solidFill>
              </a:rPr>
              <a:t>范式（</a:t>
            </a:r>
            <a:r>
              <a:rPr lang="en-US" altLang="zh-CN" sz="2800" dirty="0">
                <a:solidFill>
                  <a:srgbClr val="FF0000"/>
                </a:solidFill>
              </a:rPr>
              <a:t>BCNF</a:t>
            </a:r>
            <a:r>
              <a:rPr lang="zh-CN" altLang="en-US" sz="2800" dirty="0">
                <a:solidFill>
                  <a:srgbClr val="FF0000"/>
                </a:solidFill>
              </a:rPr>
              <a:t>）</a:t>
            </a:r>
            <a:endParaRPr lang="zh-CN" altLang="en-US" sz="2800" dirty="0">
              <a:solidFill>
                <a:srgbClr val="FF0000"/>
              </a:solidFill>
            </a:endParaRPr>
          </a:p>
          <a:p>
            <a:pPr lvl="1">
              <a:spcBef>
                <a:spcPts val="0"/>
              </a:spcBef>
            </a:pPr>
            <a:r>
              <a:rPr lang="zh-CN" altLang="en-US" sz="2600" dirty="0"/>
              <a:t>*</a:t>
            </a:r>
            <a:r>
              <a:rPr lang="en-US" altLang="zh-CN" sz="2600" dirty="0"/>
              <a:t>6.2.7 </a:t>
            </a:r>
            <a:r>
              <a:rPr lang="zh-CN" altLang="en-US" sz="2600" dirty="0"/>
              <a:t>多值依赖</a:t>
            </a:r>
            <a:endParaRPr lang="en-US" altLang="zh-CN" sz="2600" dirty="0"/>
          </a:p>
          <a:p>
            <a:pPr lvl="1">
              <a:spcBef>
                <a:spcPts val="0"/>
              </a:spcBef>
            </a:pPr>
            <a:r>
              <a:rPr lang="zh-CN" altLang="en-US" sz="2600" dirty="0"/>
              <a:t>*</a:t>
            </a:r>
            <a:r>
              <a:rPr lang="en-US" altLang="zh-CN" sz="2600" dirty="0"/>
              <a:t>6.2.8 </a:t>
            </a:r>
            <a:r>
              <a:rPr lang="zh-CN" altLang="en-US" sz="2600" dirty="0"/>
              <a:t>第四范式（</a:t>
            </a:r>
            <a:r>
              <a:rPr lang="en-US" altLang="zh-CN" sz="2600" dirty="0"/>
              <a:t>4NF</a:t>
            </a:r>
            <a:r>
              <a:rPr lang="zh-CN" altLang="en-US" sz="2600" dirty="0"/>
              <a:t>）</a:t>
            </a:r>
            <a:endParaRPr lang="zh-CN" altLang="en-US" sz="2600" dirty="0"/>
          </a:p>
          <a:p>
            <a:pPr>
              <a:spcBef>
                <a:spcPts val="0"/>
              </a:spcBef>
            </a:pPr>
            <a:r>
              <a:rPr lang="en-US" altLang="zh-CN" sz="2800" dirty="0"/>
              <a:t>6.2.9 </a:t>
            </a:r>
            <a:r>
              <a:rPr lang="zh-CN" altLang="en-US" sz="2800" dirty="0"/>
              <a:t>规范化小结</a:t>
            </a:r>
            <a:endParaRPr lang="zh-CN" altLang="en-US"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ln>
        </p:spPr>
        <p:txBody>
          <a:bodyPr vert="horz" wrap="square" lIns="91440" tIns="45720" rIns="91440" bIns="45720" numCol="1" anchor="t" anchorCtr="0" compatLnSpc="1"/>
          <a:lstStyle/>
          <a:p>
            <a:pPr lvl="0" algn="ctr">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.6  </a:t>
            </a:r>
            <a:r>
              <a:rPr lang="en-US" altLang="zh-CN" sz="3600" dirty="0">
                <a:solidFill>
                  <a:schemeClr val="bg1"/>
                </a:solidFill>
              </a:rPr>
              <a:t>BC</a:t>
            </a:r>
            <a:r>
              <a:rPr lang="zh-CN" altLang="en-US" sz="3600" dirty="0">
                <a:solidFill>
                  <a:schemeClr val="bg1"/>
                </a:solidFill>
              </a:rPr>
              <a:t>范式（</a:t>
            </a:r>
            <a:r>
              <a:rPr lang="en-US" altLang="zh-CN" sz="3600" b="1" kern="0" cap="all" dirty="0">
                <a:solidFill>
                  <a:schemeClr val="bg1"/>
                </a:solidFill>
                <a:latin typeface="+mj-lt"/>
                <a:ea typeface="+mj-ea"/>
                <a:cs typeface="+mj-cs"/>
              </a:rPr>
              <a:t>BCNF</a:t>
            </a:r>
            <a:r>
              <a:rPr lang="zh-CN" altLang="en-US" sz="3600" b="1" kern="0" cap="all" dirty="0">
                <a:solidFill>
                  <a:schemeClr val="bg1"/>
                </a:solidFill>
                <a:latin typeface="+mj-lt"/>
                <a:ea typeface="+mj-ea"/>
                <a:cs typeface="+mj-cs"/>
              </a:rPr>
              <a:t>）</a:t>
            </a:r>
            <a:endParaRPr lang="zh-CN" altLang="en-US" sz="3600" b="1" kern="0" cap="all" dirty="0">
              <a:solidFill>
                <a:schemeClr val="bg1"/>
              </a:solidFill>
              <a:latin typeface="+mj-lt"/>
              <a:ea typeface="+mj-ea"/>
              <a:cs typeface="+mj-cs"/>
            </a:endParaRPr>
          </a:p>
        </p:txBody>
      </p:sp>
    </p:spTree>
  </p:cSld>
  <p:clrMapOvr>
    <a:masterClrMapping/>
  </p:clrMapOvr>
  <p:transition spd="slow">
    <p:wipe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428596" y="-56754"/>
            <a:ext cx="8401080" cy="853679"/>
          </a:xfrm>
        </p:spPr>
        <p:txBody>
          <a:bodyPr/>
          <a:lstStyle/>
          <a:p>
            <a:r>
              <a:rPr lang="zh-CN" altLang="en-US" dirty="0"/>
              <a:t>一个例子</a:t>
            </a:r>
            <a:endParaRPr lang="zh-CN" altLang="en-US" dirty="0"/>
          </a:p>
        </p:txBody>
      </p:sp>
      <p:sp>
        <p:nvSpPr>
          <p:cNvPr id="80899" name="Rectangle 3"/>
          <p:cNvSpPr>
            <a:spLocks noGrp="1" noChangeArrowheads="1"/>
          </p:cNvSpPr>
          <p:nvPr>
            <p:ph idx="1"/>
          </p:nvPr>
        </p:nvSpPr>
        <p:spPr>
          <a:xfrm>
            <a:off x="285720" y="823913"/>
            <a:ext cx="8401080" cy="3640931"/>
          </a:xfrm>
        </p:spPr>
        <p:txBody>
          <a:bodyPr/>
          <a:lstStyle/>
          <a:p>
            <a:pPr>
              <a:buNone/>
            </a:pPr>
            <a:r>
              <a:rPr lang="zh-CN" altLang="en-US" sz="2000" dirty="0"/>
              <a:t>例：关系模式</a:t>
            </a:r>
            <a:r>
              <a:rPr lang="en-US" altLang="zh-CN" sz="2000" dirty="0"/>
              <a:t>STJ</a:t>
            </a:r>
            <a:r>
              <a:rPr lang="zh-CN" altLang="en-US" sz="2000" dirty="0"/>
              <a:t>（</a:t>
            </a:r>
            <a:r>
              <a:rPr lang="en-US" altLang="zh-CN" sz="2000" dirty="0"/>
              <a:t>S</a:t>
            </a:r>
            <a:r>
              <a:rPr lang="zh-CN" altLang="en-US" sz="2000" dirty="0"/>
              <a:t>，</a:t>
            </a:r>
            <a:r>
              <a:rPr lang="en-US" altLang="zh-CN" sz="2000" dirty="0"/>
              <a:t>T</a:t>
            </a:r>
            <a:r>
              <a:rPr lang="zh-CN" altLang="en-US" sz="2000" dirty="0"/>
              <a:t>，</a:t>
            </a:r>
            <a:r>
              <a:rPr lang="en-US" altLang="zh-CN" sz="2000" dirty="0"/>
              <a:t>J</a:t>
            </a:r>
            <a:r>
              <a:rPr lang="zh-CN" altLang="en-US" sz="2000" dirty="0"/>
              <a:t>）中，</a:t>
            </a:r>
            <a:r>
              <a:rPr lang="en-US" altLang="zh-CN" sz="2000" dirty="0"/>
              <a:t>S</a:t>
            </a:r>
            <a:r>
              <a:rPr lang="zh-CN" altLang="en-US" sz="2000" dirty="0"/>
              <a:t>表示学生，</a:t>
            </a:r>
            <a:r>
              <a:rPr lang="en-US" altLang="zh-CN" sz="2000" dirty="0"/>
              <a:t>T</a:t>
            </a:r>
            <a:r>
              <a:rPr lang="zh-CN" altLang="en-US" sz="2000" dirty="0"/>
              <a:t>表示教师，</a:t>
            </a:r>
            <a:r>
              <a:rPr lang="en-US" altLang="zh-CN" sz="2000" dirty="0"/>
              <a:t>J</a:t>
            </a:r>
            <a:r>
              <a:rPr lang="zh-CN" altLang="en-US" sz="2000" dirty="0"/>
              <a:t>表示课程</a:t>
            </a:r>
            <a:endParaRPr lang="zh-CN" altLang="en-US" sz="2000" dirty="0"/>
          </a:p>
          <a:p>
            <a:pPr lvl="1"/>
            <a:r>
              <a:rPr lang="zh-CN" altLang="en-US" sz="2000" dirty="0"/>
              <a:t>函数依赖：</a:t>
            </a:r>
            <a:endParaRPr lang="en-US" altLang="zh-CN" sz="2000" dirty="0"/>
          </a:p>
          <a:p>
            <a:pPr lvl="1">
              <a:buNone/>
            </a:pPr>
            <a:r>
              <a:rPr lang="zh-CN" altLang="en-US" sz="2000" dirty="0"/>
              <a:t>假设每一教师只教一门课， </a:t>
            </a:r>
            <a:r>
              <a:rPr lang="en-US" altLang="zh-CN" sz="2000" dirty="0"/>
              <a:t>T→J</a:t>
            </a:r>
            <a:endParaRPr lang="en-US" altLang="zh-CN" sz="2000" dirty="0"/>
          </a:p>
          <a:p>
            <a:pPr lvl="1">
              <a:buNone/>
            </a:pPr>
            <a:r>
              <a:rPr lang="zh-CN" altLang="en-US" sz="2000" dirty="0"/>
              <a:t>每门课由若干教师教，但某一学生选定某门课，就确定了一个固定的</a:t>
            </a:r>
            <a:endParaRPr lang="en-US" altLang="zh-CN" sz="2000" dirty="0"/>
          </a:p>
          <a:p>
            <a:pPr lvl="1">
              <a:buNone/>
            </a:pPr>
            <a:r>
              <a:rPr lang="zh-CN" altLang="en-US" sz="2000" dirty="0"/>
              <a:t>教师，</a:t>
            </a:r>
            <a:r>
              <a:rPr lang="en-US" altLang="zh-CN" sz="2000" dirty="0"/>
              <a:t>(S</a:t>
            </a:r>
            <a:r>
              <a:rPr lang="zh-CN" altLang="en-US" sz="2000" dirty="0"/>
              <a:t>，</a:t>
            </a:r>
            <a:r>
              <a:rPr lang="en-US" altLang="zh-CN" sz="2000" dirty="0"/>
              <a:t>J)→T</a:t>
            </a:r>
            <a:endParaRPr lang="en-US" altLang="zh-CN" sz="2000" dirty="0"/>
          </a:p>
          <a:p>
            <a:pPr lvl="1">
              <a:buNone/>
            </a:pPr>
            <a:r>
              <a:rPr lang="zh-CN" altLang="en-US" sz="2000" dirty="0"/>
              <a:t>某个学生选修某个教师的课就确定了所选课的名称，</a:t>
            </a:r>
            <a:r>
              <a:rPr lang="en-US" altLang="zh-CN" sz="2000" dirty="0"/>
              <a:t>(S</a:t>
            </a:r>
            <a:r>
              <a:rPr lang="zh-CN" altLang="en-US" sz="2000" dirty="0"/>
              <a:t>，</a:t>
            </a:r>
            <a:r>
              <a:rPr lang="en-US" altLang="zh-CN" sz="2000" dirty="0"/>
              <a:t>T)→J</a:t>
            </a:r>
            <a:endParaRPr lang="en-US" altLang="zh-CN" sz="2000" dirty="0"/>
          </a:p>
        </p:txBody>
      </p:sp>
      <p:pic>
        <p:nvPicPr>
          <p:cNvPr id="629761" name="Picture 1" descr="6z6"/>
          <p:cNvPicPr>
            <a:picLocks noChangeAspect="1" noChangeArrowheads="1"/>
          </p:cNvPicPr>
          <p:nvPr/>
        </p:nvPicPr>
        <p:blipFill>
          <a:blip r:embed="rId1"/>
          <a:srcRect/>
          <a:stretch>
            <a:fillRect/>
          </a:stretch>
        </p:blipFill>
        <p:spPr bwMode="auto">
          <a:xfrm>
            <a:off x="857224" y="3239291"/>
            <a:ext cx="3745017" cy="1225553"/>
          </a:xfrm>
          <a:prstGeom prst="rect">
            <a:avLst/>
          </a:prstGeom>
          <a:noFill/>
          <a:ln w="9525">
            <a:solidFill>
              <a:schemeClr val="accent1"/>
            </a:solidFill>
            <a:miter lim="800000"/>
            <a:headEnd/>
            <a:tailEnd/>
          </a:ln>
        </p:spPr>
      </p:pic>
      <p:sp>
        <p:nvSpPr>
          <p:cNvPr id="5" name="矩形 4"/>
          <p:cNvSpPr/>
          <p:nvPr/>
        </p:nvSpPr>
        <p:spPr>
          <a:xfrm>
            <a:off x="4786314" y="3286130"/>
            <a:ext cx="3900486" cy="1200329"/>
          </a:xfrm>
          <a:prstGeom prst="rect">
            <a:avLst/>
          </a:prstGeom>
          <a:ln>
            <a:solidFill>
              <a:srgbClr val="FF0000"/>
            </a:solidFill>
          </a:ln>
        </p:spPr>
        <p:txBody>
          <a:bodyPr wrap="square">
            <a:spAutoFit/>
          </a:bodyPr>
          <a:lstStyle/>
          <a:p>
            <a:r>
              <a:rPr lang="en-US" altLang="zh-CN" b="1" dirty="0"/>
              <a:t>1  (S</a:t>
            </a:r>
            <a:r>
              <a:rPr lang="zh-CN" altLang="en-US" b="1" dirty="0"/>
              <a:t>，</a:t>
            </a:r>
            <a:r>
              <a:rPr lang="en-US" altLang="zh-CN" b="1" dirty="0"/>
              <a:t>J)</a:t>
            </a:r>
            <a:r>
              <a:rPr lang="zh-CN" altLang="en-US" b="1" dirty="0"/>
              <a:t>和</a:t>
            </a:r>
            <a:r>
              <a:rPr lang="en-US" altLang="zh-CN" b="1" dirty="0"/>
              <a:t>(S</a:t>
            </a:r>
            <a:r>
              <a:rPr lang="zh-CN" altLang="en-US" b="1" dirty="0"/>
              <a:t>，</a:t>
            </a:r>
            <a:r>
              <a:rPr lang="en-US" altLang="zh-CN" b="1" dirty="0"/>
              <a:t>T) </a:t>
            </a:r>
            <a:r>
              <a:rPr lang="zh-CN" altLang="en-US" b="1" dirty="0"/>
              <a:t>都是候选码。</a:t>
            </a:r>
            <a:endParaRPr lang="en-US" altLang="zh-CN" b="1" dirty="0"/>
          </a:p>
          <a:p>
            <a:pPr marL="0" indent="0"/>
            <a:r>
              <a:rPr lang="en-US" altLang="zh-CN" b="1" dirty="0"/>
              <a:t>2  STJ∈3NF </a:t>
            </a:r>
            <a:endParaRPr lang="en-US" altLang="zh-CN" b="1" dirty="0"/>
          </a:p>
          <a:p>
            <a:r>
              <a:rPr lang="en-US" altLang="zh-CN" b="1" dirty="0"/>
              <a:t>3  T→J</a:t>
            </a:r>
            <a:r>
              <a:rPr lang="zh-CN" altLang="en-US" b="1" dirty="0"/>
              <a:t>，</a:t>
            </a:r>
            <a:r>
              <a:rPr lang="en-US" altLang="zh-CN" b="1" dirty="0"/>
              <a:t>T</a:t>
            </a:r>
            <a:r>
              <a:rPr lang="zh-CN" altLang="en-US" b="1" dirty="0"/>
              <a:t>是主属性，不是候选码</a:t>
            </a:r>
            <a:endParaRPr lang="zh-CN" altLang="en-US" b="1" dirty="0"/>
          </a:p>
          <a:p>
            <a:endParaRPr lang="zh-CN" altLang="en-US" b="1" dirty="0"/>
          </a:p>
        </p:txBody>
      </p:sp>
    </p:spTree>
  </p:cSld>
  <p:clrMapOvr>
    <a:masterClrMapping/>
  </p:clrMapOvr>
  <p:transition spd="slow">
    <p:wipe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285720" y="-29765"/>
            <a:ext cx="8401080" cy="672690"/>
          </a:xfrm>
        </p:spPr>
        <p:txBody>
          <a:bodyPr/>
          <a:lstStyle/>
          <a:p>
            <a:r>
              <a:rPr lang="zh-CN" altLang="en-US" dirty="0"/>
              <a:t>一个例子</a:t>
            </a:r>
            <a:endParaRPr lang="zh-CN" altLang="en-US" dirty="0"/>
          </a:p>
        </p:txBody>
      </p:sp>
      <p:sp>
        <p:nvSpPr>
          <p:cNvPr id="83971" name="Rectangle 3"/>
          <p:cNvSpPr>
            <a:spLocks noGrp="1" noChangeArrowheads="1"/>
          </p:cNvSpPr>
          <p:nvPr>
            <p:ph idx="1"/>
          </p:nvPr>
        </p:nvSpPr>
        <p:spPr>
          <a:xfrm>
            <a:off x="395536" y="642925"/>
            <a:ext cx="8748464" cy="3640931"/>
          </a:xfrm>
        </p:spPr>
        <p:txBody>
          <a:bodyPr/>
          <a:lstStyle/>
          <a:p>
            <a:pPr>
              <a:buNone/>
            </a:pPr>
            <a:r>
              <a:rPr lang="zh-CN" altLang="en-US" sz="1600" dirty="0"/>
              <a:t>存在的问题：</a:t>
            </a:r>
            <a:endParaRPr lang="zh-CN" altLang="en-US" sz="1600" dirty="0"/>
          </a:p>
          <a:p>
            <a:pPr>
              <a:buNone/>
            </a:pPr>
            <a:r>
              <a:rPr lang="en-US" altLang="zh-CN" sz="1600" dirty="0"/>
              <a:t>(1) </a:t>
            </a:r>
            <a:r>
              <a:rPr lang="zh-CN" altLang="en-US" sz="1600" dirty="0"/>
              <a:t>插入异常</a:t>
            </a:r>
            <a:endParaRPr lang="zh-CN" altLang="en-US" sz="1600" dirty="0"/>
          </a:p>
          <a:p>
            <a:pPr lvl="1">
              <a:buNone/>
            </a:pPr>
            <a:r>
              <a:rPr lang="zh-CN" altLang="en-US" sz="1600" dirty="0"/>
              <a:t>如果某个教师开设了某门课程，但尚未有学生选修，则有关信息也无法存入</a:t>
            </a:r>
            <a:r>
              <a:rPr lang="zh-CN" altLang="en-US" sz="1600" dirty="0" smtClean="0"/>
              <a:t>数据</a:t>
            </a:r>
            <a:endParaRPr lang="en-US" altLang="zh-CN" sz="1600" dirty="0" smtClean="0"/>
          </a:p>
          <a:p>
            <a:pPr lvl="1">
              <a:buNone/>
            </a:pPr>
            <a:r>
              <a:rPr lang="zh-CN" altLang="en-US" sz="1600" dirty="0" smtClean="0"/>
              <a:t>库中。</a:t>
            </a:r>
            <a:endParaRPr lang="zh-CN" altLang="en-US" sz="1600" dirty="0" smtClean="0"/>
          </a:p>
          <a:p>
            <a:pPr>
              <a:buNone/>
            </a:pPr>
            <a:r>
              <a:rPr lang="en-US" altLang="zh-CN" sz="1600" dirty="0" smtClean="0"/>
              <a:t>(</a:t>
            </a:r>
            <a:r>
              <a:rPr lang="en-US" altLang="zh-CN" sz="1600" dirty="0"/>
              <a:t>2) </a:t>
            </a:r>
            <a:r>
              <a:rPr lang="zh-CN" altLang="en-US" sz="1600" dirty="0"/>
              <a:t>删除异常</a:t>
            </a:r>
            <a:endParaRPr lang="zh-CN" altLang="en-US" sz="1600" dirty="0"/>
          </a:p>
          <a:p>
            <a:pPr lvl="1">
              <a:buNone/>
            </a:pPr>
            <a:r>
              <a:rPr lang="zh-CN" altLang="en-US" sz="1600" dirty="0"/>
              <a:t>如果选修过某门课程的学生全部毕业了，在删除这些学生元组的同时，相应教师</a:t>
            </a:r>
            <a:endParaRPr lang="en-US" altLang="zh-CN" sz="1600" dirty="0"/>
          </a:p>
          <a:p>
            <a:pPr lvl="1">
              <a:buNone/>
            </a:pPr>
            <a:r>
              <a:rPr lang="zh-CN" altLang="en-US" sz="1600" dirty="0"/>
              <a:t>开设该门课程的信息也同时丢掉了。</a:t>
            </a:r>
            <a:endParaRPr lang="en-US" altLang="zh-CN" sz="1600" dirty="0"/>
          </a:p>
          <a:p>
            <a:pPr>
              <a:buNone/>
            </a:pPr>
            <a:r>
              <a:rPr lang="en-US" altLang="zh-CN" sz="1600" dirty="0"/>
              <a:t>(3) </a:t>
            </a:r>
            <a:r>
              <a:rPr lang="zh-CN" altLang="en-US" sz="1600" dirty="0"/>
              <a:t>数据冗余度大</a:t>
            </a:r>
            <a:endParaRPr lang="zh-CN" altLang="en-US" sz="1600" dirty="0"/>
          </a:p>
          <a:p>
            <a:pPr lvl="1">
              <a:buNone/>
            </a:pPr>
            <a:r>
              <a:rPr lang="zh-CN" altLang="en-US" sz="1600" dirty="0"/>
              <a:t>虽然一个教师只教一门课，但每个选修该教师该门课程的学生元组都要记录这一</a:t>
            </a:r>
            <a:endParaRPr lang="en-US" altLang="zh-CN" sz="1600" dirty="0"/>
          </a:p>
          <a:p>
            <a:pPr lvl="1">
              <a:buNone/>
            </a:pPr>
            <a:r>
              <a:rPr lang="zh-CN" altLang="en-US" sz="1600" dirty="0"/>
              <a:t>信息。</a:t>
            </a:r>
            <a:endParaRPr lang="en-US" altLang="zh-CN" sz="1600" dirty="0"/>
          </a:p>
          <a:p>
            <a:pPr>
              <a:buNone/>
            </a:pPr>
            <a:r>
              <a:rPr lang="en-US" altLang="zh-CN" sz="1600" dirty="0"/>
              <a:t>(4) </a:t>
            </a:r>
            <a:r>
              <a:rPr lang="zh-CN" altLang="en-US" sz="1600" dirty="0"/>
              <a:t>修改复杂</a:t>
            </a:r>
            <a:endParaRPr lang="zh-CN" altLang="en-US" sz="1600" dirty="0"/>
          </a:p>
          <a:p>
            <a:pPr lvl="1">
              <a:buNone/>
            </a:pPr>
            <a:r>
              <a:rPr lang="zh-CN" altLang="en-US" sz="1600" dirty="0"/>
              <a:t>某个教师开设的某门课程改名后，所有选修了该教师该门课程的学生元组都要进</a:t>
            </a:r>
            <a:endParaRPr lang="en-US" altLang="zh-CN" sz="1600" dirty="0"/>
          </a:p>
          <a:p>
            <a:pPr lvl="1">
              <a:buNone/>
            </a:pPr>
            <a:r>
              <a:rPr lang="zh-CN" altLang="en-US" sz="1600" dirty="0"/>
              <a:t>行相应修改。</a:t>
            </a:r>
            <a:endParaRPr lang="en-US" altLang="zh-CN" sz="1600" dirty="0"/>
          </a:p>
          <a:p>
            <a:pPr>
              <a:buNone/>
            </a:pPr>
            <a:r>
              <a:rPr lang="zh-CN" altLang="en-US" sz="1600" dirty="0" smtClean="0">
                <a:solidFill>
                  <a:srgbClr val="FF0000"/>
                </a:solidFill>
              </a:rPr>
              <a:t>    </a:t>
            </a:r>
            <a:r>
              <a:rPr lang="zh-CN" altLang="en-US" sz="1800" dirty="0">
                <a:solidFill>
                  <a:srgbClr val="FF0000"/>
                </a:solidFill>
              </a:rPr>
              <a:t>因此虽然</a:t>
            </a:r>
            <a:r>
              <a:rPr lang="en-US" altLang="zh-CN" sz="1800" dirty="0">
                <a:solidFill>
                  <a:srgbClr val="FF0000"/>
                </a:solidFill>
              </a:rPr>
              <a:t>STJ∈3NF</a:t>
            </a:r>
            <a:r>
              <a:rPr lang="zh-CN" altLang="en-US" sz="1800" dirty="0">
                <a:solidFill>
                  <a:srgbClr val="FF0000"/>
                </a:solidFill>
              </a:rPr>
              <a:t>，但它仍存在增删改等异常，还不是一个理想的关系模式。</a:t>
            </a:r>
            <a:endParaRPr lang="zh-CN" altLang="en-US" sz="1600" dirty="0">
              <a:solidFill>
                <a:srgbClr val="FF0000"/>
              </a:solidFill>
            </a:endParaRPr>
          </a:p>
          <a:p>
            <a:pPr lvl="2">
              <a:buNone/>
            </a:pPr>
            <a:endParaRPr lang="zh-CN" altLang="en-US" sz="1600" dirty="0"/>
          </a:p>
          <a:p>
            <a:pPr>
              <a:buNone/>
            </a:pPr>
            <a:endParaRPr lang="zh-CN" altLang="en-US" sz="1600" dirty="0"/>
          </a:p>
        </p:txBody>
      </p:sp>
    </p:spTree>
  </p:cSld>
  <p:clrMapOvr>
    <a:masterClrMapping/>
  </p:clrMapOvr>
  <p:transition spd="slow">
    <p:wipe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zh-CN" altLang="en-US" dirty="0"/>
              <a:t>一个例子</a:t>
            </a:r>
            <a:endParaRPr lang="zh-CN" altLang="en-US" dirty="0"/>
          </a:p>
        </p:txBody>
      </p:sp>
      <p:sp>
        <p:nvSpPr>
          <p:cNvPr id="87043" name="Rectangle 3"/>
          <p:cNvSpPr>
            <a:spLocks noGrp="1" noChangeArrowheads="1"/>
          </p:cNvSpPr>
          <p:nvPr>
            <p:ph idx="1"/>
          </p:nvPr>
        </p:nvSpPr>
        <p:spPr>
          <a:xfrm>
            <a:off x="285720" y="823913"/>
            <a:ext cx="7786710" cy="3640931"/>
          </a:xfrm>
        </p:spPr>
        <p:txBody>
          <a:bodyPr/>
          <a:lstStyle/>
          <a:p>
            <a:r>
              <a:rPr lang="zh-CN" altLang="en-US" dirty="0"/>
              <a:t>原因：</a:t>
            </a:r>
            <a:endParaRPr lang="zh-CN" altLang="en-US" dirty="0"/>
          </a:p>
          <a:p>
            <a:pPr lvl="1"/>
            <a:r>
              <a:rPr lang="zh-CN" altLang="en-US" dirty="0"/>
              <a:t>主属性</a:t>
            </a:r>
            <a:r>
              <a:rPr lang="en-US" altLang="zh-CN" dirty="0"/>
              <a:t>J</a:t>
            </a:r>
            <a:r>
              <a:rPr lang="zh-CN" altLang="en-US" dirty="0"/>
              <a:t>依赖于</a:t>
            </a:r>
            <a:r>
              <a:rPr lang="en-US" altLang="zh-CN" dirty="0"/>
              <a:t>T</a:t>
            </a:r>
            <a:r>
              <a:rPr lang="zh-CN" altLang="en-US" dirty="0"/>
              <a:t>，即主属性</a:t>
            </a:r>
            <a:r>
              <a:rPr lang="en-US" altLang="zh-CN" dirty="0"/>
              <a:t>J</a:t>
            </a:r>
            <a:r>
              <a:rPr lang="zh-CN" altLang="en-US" dirty="0"/>
              <a:t>部分依赖于码</a:t>
            </a:r>
            <a:r>
              <a:rPr lang="en-US" altLang="zh-CN" dirty="0"/>
              <a:t>(S, T)</a:t>
            </a:r>
            <a:r>
              <a:rPr lang="zh-CN" altLang="en-US" dirty="0"/>
              <a:t>。</a:t>
            </a:r>
            <a:endParaRPr lang="zh-CN" altLang="en-US" dirty="0"/>
          </a:p>
          <a:p>
            <a:r>
              <a:rPr lang="zh-CN" altLang="en-US" dirty="0"/>
              <a:t>解决方法：  </a:t>
            </a:r>
            <a:endParaRPr lang="zh-CN" altLang="en-US" dirty="0"/>
          </a:p>
          <a:p>
            <a:pPr lvl="1"/>
            <a:r>
              <a:rPr lang="zh-CN" altLang="en-US" dirty="0"/>
              <a:t>采用投影分解法，将</a:t>
            </a:r>
            <a:r>
              <a:rPr lang="en-US" altLang="zh-CN" dirty="0"/>
              <a:t>STJ</a:t>
            </a:r>
            <a:r>
              <a:rPr lang="zh-CN" altLang="en-US" dirty="0"/>
              <a:t>分解为二个关系模式：</a:t>
            </a:r>
            <a:endParaRPr lang="zh-CN" altLang="en-US" dirty="0"/>
          </a:p>
          <a:p>
            <a:pPr lvl="1"/>
            <a:r>
              <a:rPr lang="en-US" altLang="zh-CN" dirty="0">
                <a:solidFill>
                  <a:srgbClr val="FF0000"/>
                </a:solidFill>
              </a:rPr>
              <a:t>ST and TJ </a:t>
            </a:r>
            <a:r>
              <a:rPr lang="zh-CN" altLang="en-US" dirty="0">
                <a:solidFill>
                  <a:srgbClr val="FF0000"/>
                </a:solidFill>
              </a:rPr>
              <a:t>？</a:t>
            </a:r>
            <a:endParaRPr lang="zh-CN" altLang="en-US" dirty="0">
              <a:solidFill>
                <a:srgbClr val="FF0000"/>
              </a:solidFill>
            </a:endParaRPr>
          </a:p>
          <a:p>
            <a:pPr marL="0" indent="0">
              <a:buNone/>
            </a:pPr>
            <a:r>
              <a:rPr lang="zh-CN" altLang="en-US" dirty="0"/>
              <a:t>               </a:t>
            </a:r>
            <a:r>
              <a:rPr lang="en-US" altLang="zh-CN" dirty="0"/>
              <a:t>SJ(S</a:t>
            </a:r>
            <a:r>
              <a:rPr lang="zh-CN" altLang="en-US" dirty="0"/>
              <a:t>，</a:t>
            </a:r>
            <a:r>
              <a:rPr lang="en-US" altLang="zh-CN" dirty="0"/>
              <a:t>J)</a:t>
            </a:r>
            <a:endParaRPr lang="en-US" altLang="zh-CN" dirty="0"/>
          </a:p>
          <a:p>
            <a:pPr marL="0" indent="0">
              <a:buNone/>
            </a:pPr>
            <a:r>
              <a:rPr lang="en-US" altLang="zh-CN" dirty="0"/>
              <a:t>               TJ(T</a:t>
            </a:r>
            <a:r>
              <a:rPr lang="zh-CN" altLang="en-US" dirty="0"/>
              <a:t>，</a:t>
            </a:r>
            <a:r>
              <a:rPr lang="en-US" altLang="zh-CN" dirty="0"/>
              <a:t>J)</a:t>
            </a:r>
            <a:endParaRPr lang="en-US" altLang="zh-CN" dirty="0"/>
          </a:p>
        </p:txBody>
      </p:sp>
    </p:spTree>
  </p:cSld>
  <p:clrMapOvr>
    <a:masterClrMapping/>
  </p:clrMapOvr>
  <p:transition spd="slow">
    <p:wipe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26"/>
          <p:cNvSpPr>
            <a:spLocks noGrp="1" noChangeArrowheads="1"/>
          </p:cNvSpPr>
          <p:nvPr>
            <p:ph type="title"/>
          </p:nvPr>
        </p:nvSpPr>
        <p:spPr/>
        <p:txBody>
          <a:bodyPr/>
          <a:lstStyle/>
          <a:p>
            <a:r>
              <a:rPr lang="zh-CN" altLang="en-US" dirty="0"/>
              <a:t>一个例子</a:t>
            </a:r>
            <a:endParaRPr lang="zh-CN" altLang="en-US" dirty="0"/>
          </a:p>
        </p:txBody>
      </p:sp>
      <p:sp>
        <p:nvSpPr>
          <p:cNvPr id="88067" name="Rectangle 1027"/>
          <p:cNvSpPr>
            <a:spLocks noGrp="1" noChangeArrowheads="1"/>
          </p:cNvSpPr>
          <p:nvPr>
            <p:ph idx="1"/>
          </p:nvPr>
        </p:nvSpPr>
        <p:spPr>
          <a:xfrm>
            <a:off x="285720" y="714362"/>
            <a:ext cx="8401080" cy="3640931"/>
          </a:xfrm>
        </p:spPr>
        <p:txBody>
          <a:bodyPr/>
          <a:lstStyle/>
          <a:p>
            <a:pPr>
              <a:buNone/>
            </a:pPr>
            <a:endParaRPr lang="en-US" altLang="zh-CN" dirty="0"/>
          </a:p>
        </p:txBody>
      </p:sp>
      <p:grpSp>
        <p:nvGrpSpPr>
          <p:cNvPr id="2" name="Group 1028"/>
          <p:cNvGrpSpPr/>
          <p:nvPr/>
        </p:nvGrpSpPr>
        <p:grpSpPr bwMode="auto">
          <a:xfrm>
            <a:off x="2209800" y="1943100"/>
            <a:ext cx="4876800" cy="2228850"/>
            <a:chOff x="1392" y="1632"/>
            <a:chExt cx="3072" cy="1872"/>
          </a:xfrm>
        </p:grpSpPr>
        <p:sp>
          <p:nvSpPr>
            <p:cNvPr id="88075" name="Rectangle 1029"/>
            <p:cNvSpPr>
              <a:spLocks noChangeArrowheads="1"/>
            </p:cNvSpPr>
            <p:nvPr/>
          </p:nvSpPr>
          <p:spPr bwMode="auto">
            <a:xfrm>
              <a:off x="1392" y="1632"/>
              <a:ext cx="591" cy="1321"/>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88076" name="Text Box 1030"/>
            <p:cNvSpPr txBox="1">
              <a:spLocks noChangeArrowheads="1"/>
            </p:cNvSpPr>
            <p:nvPr/>
          </p:nvSpPr>
          <p:spPr bwMode="auto">
            <a:xfrm>
              <a:off x="1510" y="1852"/>
              <a:ext cx="355" cy="331"/>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a:t>
              </a:r>
              <a:endParaRPr kumimoji="0" lang="en-US" altLang="zh-CN" sz="2800" baseline="0"/>
            </a:p>
          </p:txBody>
        </p:sp>
        <p:sp>
          <p:nvSpPr>
            <p:cNvPr id="88077" name="Text Box 1031"/>
            <p:cNvSpPr txBox="1">
              <a:spLocks noChangeArrowheads="1"/>
            </p:cNvSpPr>
            <p:nvPr/>
          </p:nvSpPr>
          <p:spPr bwMode="auto">
            <a:xfrm>
              <a:off x="1510" y="2403"/>
              <a:ext cx="355" cy="330"/>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J</a:t>
              </a:r>
              <a:endParaRPr kumimoji="0" lang="en-US" altLang="zh-CN" sz="2800" baseline="0"/>
            </a:p>
          </p:txBody>
        </p:sp>
        <p:sp>
          <p:nvSpPr>
            <p:cNvPr id="88078" name="Text Box 1032"/>
            <p:cNvSpPr txBox="1">
              <a:spLocks noChangeArrowheads="1"/>
            </p:cNvSpPr>
            <p:nvPr/>
          </p:nvSpPr>
          <p:spPr bwMode="auto">
            <a:xfrm>
              <a:off x="2219" y="2072"/>
              <a:ext cx="355" cy="331"/>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T</a:t>
              </a:r>
              <a:endParaRPr kumimoji="0" lang="en-US" altLang="zh-CN" sz="2800" baseline="0"/>
            </a:p>
          </p:txBody>
        </p:sp>
        <p:sp>
          <p:nvSpPr>
            <p:cNvPr id="88079" name="Line 1033"/>
            <p:cNvSpPr>
              <a:spLocks noChangeShapeType="1"/>
            </p:cNvSpPr>
            <p:nvPr/>
          </p:nvSpPr>
          <p:spPr bwMode="auto">
            <a:xfrm>
              <a:off x="1983" y="2183"/>
              <a:ext cx="236"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0" name="Line 1034"/>
            <p:cNvSpPr>
              <a:spLocks noChangeShapeType="1"/>
            </p:cNvSpPr>
            <p:nvPr/>
          </p:nvSpPr>
          <p:spPr bwMode="auto">
            <a:xfrm flipH="1">
              <a:off x="1865" y="2293"/>
              <a:ext cx="354" cy="33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1" name="Rectangle 1035"/>
            <p:cNvSpPr>
              <a:spLocks noChangeArrowheads="1"/>
            </p:cNvSpPr>
            <p:nvPr/>
          </p:nvSpPr>
          <p:spPr bwMode="auto">
            <a:xfrm>
              <a:off x="3282" y="1632"/>
              <a:ext cx="591" cy="1321"/>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88082" name="Text Box 1036"/>
            <p:cNvSpPr txBox="1">
              <a:spLocks noChangeArrowheads="1"/>
            </p:cNvSpPr>
            <p:nvPr/>
          </p:nvSpPr>
          <p:spPr bwMode="auto">
            <a:xfrm>
              <a:off x="3401" y="1852"/>
              <a:ext cx="354" cy="331"/>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a:t>
              </a:r>
              <a:endParaRPr kumimoji="0" lang="en-US" altLang="zh-CN" sz="2800" baseline="0"/>
            </a:p>
          </p:txBody>
        </p:sp>
        <p:sp>
          <p:nvSpPr>
            <p:cNvPr id="88083" name="Text Box 1037"/>
            <p:cNvSpPr txBox="1">
              <a:spLocks noChangeArrowheads="1"/>
            </p:cNvSpPr>
            <p:nvPr/>
          </p:nvSpPr>
          <p:spPr bwMode="auto">
            <a:xfrm>
              <a:off x="3401" y="2403"/>
              <a:ext cx="354" cy="330"/>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T</a:t>
              </a:r>
              <a:endParaRPr kumimoji="0" lang="en-US" altLang="zh-CN" sz="2800" baseline="0"/>
            </a:p>
          </p:txBody>
        </p:sp>
        <p:sp>
          <p:nvSpPr>
            <p:cNvPr id="88084" name="Text Box 1038"/>
            <p:cNvSpPr txBox="1">
              <a:spLocks noChangeArrowheads="1"/>
            </p:cNvSpPr>
            <p:nvPr/>
          </p:nvSpPr>
          <p:spPr bwMode="auto">
            <a:xfrm>
              <a:off x="4110" y="2072"/>
              <a:ext cx="354" cy="331"/>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J</a:t>
              </a:r>
              <a:endParaRPr kumimoji="0" lang="en-US" altLang="zh-CN" sz="2800" baseline="0"/>
            </a:p>
          </p:txBody>
        </p:sp>
        <p:sp>
          <p:nvSpPr>
            <p:cNvPr id="88085" name="Line 1039"/>
            <p:cNvSpPr>
              <a:spLocks noChangeShapeType="1"/>
            </p:cNvSpPr>
            <p:nvPr/>
          </p:nvSpPr>
          <p:spPr bwMode="auto">
            <a:xfrm>
              <a:off x="3873" y="2183"/>
              <a:ext cx="237"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6" name="Line 1040"/>
            <p:cNvSpPr>
              <a:spLocks noChangeShapeType="1"/>
            </p:cNvSpPr>
            <p:nvPr/>
          </p:nvSpPr>
          <p:spPr bwMode="auto">
            <a:xfrm flipH="1">
              <a:off x="3755" y="2293"/>
              <a:ext cx="355" cy="330"/>
            </a:xfrm>
            <a:prstGeom prst="line">
              <a:avLst/>
            </a:prstGeom>
            <a:noFill/>
            <a:ln w="38100">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7" name="Text Box 1041"/>
            <p:cNvSpPr txBox="1">
              <a:spLocks noChangeArrowheads="1"/>
            </p:cNvSpPr>
            <p:nvPr/>
          </p:nvSpPr>
          <p:spPr bwMode="auto">
            <a:xfrm>
              <a:off x="2574" y="3174"/>
              <a:ext cx="59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STJ</a:t>
              </a:r>
              <a:endParaRPr kumimoji="0" lang="en-US" altLang="zh-CN" sz="2800" baseline="0"/>
            </a:p>
          </p:txBody>
        </p:sp>
      </p:grpSp>
      <p:grpSp>
        <p:nvGrpSpPr>
          <p:cNvPr id="3" name="Group 1049"/>
          <p:cNvGrpSpPr/>
          <p:nvPr/>
        </p:nvGrpSpPr>
        <p:grpSpPr bwMode="auto">
          <a:xfrm>
            <a:off x="1981201" y="2219325"/>
            <a:ext cx="5534025" cy="1438275"/>
            <a:chOff x="1248" y="1864"/>
            <a:chExt cx="3486" cy="1208"/>
          </a:xfrm>
        </p:grpSpPr>
        <p:sp>
          <p:nvSpPr>
            <p:cNvPr id="88073" name="Freeform 1043"/>
            <p:cNvSpPr/>
            <p:nvPr/>
          </p:nvSpPr>
          <p:spPr bwMode="auto">
            <a:xfrm>
              <a:off x="2784" y="1968"/>
              <a:ext cx="1950" cy="1104"/>
            </a:xfrm>
            <a:custGeom>
              <a:avLst/>
              <a:gdLst>
                <a:gd name="T0" fmla="*/ 743 w 1735"/>
                <a:gd name="T1" fmla="*/ 2301 h 969"/>
                <a:gd name="T2" fmla="*/ 491 w 1735"/>
                <a:gd name="T3" fmla="*/ 2233 h 969"/>
                <a:gd name="T4" fmla="*/ 408 w 1735"/>
                <a:gd name="T5" fmla="*/ 2210 h 969"/>
                <a:gd name="T6" fmla="*/ 262 w 1735"/>
                <a:gd name="T7" fmla="*/ 2141 h 969"/>
                <a:gd name="T8" fmla="*/ 78 w 1735"/>
                <a:gd name="T9" fmla="*/ 1982 h 969"/>
                <a:gd name="T10" fmla="*/ 99 w 1735"/>
                <a:gd name="T11" fmla="*/ 1641 h 969"/>
                <a:gd name="T12" fmla="*/ 287 w 1735"/>
                <a:gd name="T13" fmla="*/ 1434 h 969"/>
                <a:gd name="T14" fmla="*/ 472 w 1735"/>
                <a:gd name="T15" fmla="*/ 1275 h 969"/>
                <a:gd name="T16" fmla="*/ 532 w 1735"/>
                <a:gd name="T17" fmla="*/ 1254 h 969"/>
                <a:gd name="T18" fmla="*/ 596 w 1735"/>
                <a:gd name="T19" fmla="*/ 1210 h 969"/>
                <a:gd name="T20" fmla="*/ 636 w 1735"/>
                <a:gd name="T21" fmla="*/ 1161 h 969"/>
                <a:gd name="T22" fmla="*/ 824 w 1735"/>
                <a:gd name="T23" fmla="*/ 1093 h 969"/>
                <a:gd name="T24" fmla="*/ 885 w 1735"/>
                <a:gd name="T25" fmla="*/ 1072 h 969"/>
                <a:gd name="T26" fmla="*/ 1052 w 1735"/>
                <a:gd name="T27" fmla="*/ 979 h 969"/>
                <a:gd name="T28" fmla="*/ 1112 w 1735"/>
                <a:gd name="T29" fmla="*/ 956 h 969"/>
                <a:gd name="T30" fmla="*/ 1173 w 1735"/>
                <a:gd name="T31" fmla="*/ 933 h 969"/>
                <a:gd name="T32" fmla="*/ 1857 w 1735"/>
                <a:gd name="T33" fmla="*/ 639 h 969"/>
                <a:gd name="T34" fmla="*/ 2147 w 1735"/>
                <a:gd name="T35" fmla="*/ 389 h 969"/>
                <a:gd name="T36" fmla="*/ 2357 w 1735"/>
                <a:gd name="T37" fmla="*/ 204 h 969"/>
                <a:gd name="T38" fmla="*/ 2667 w 1735"/>
                <a:gd name="T39" fmla="*/ 46 h 969"/>
                <a:gd name="T40" fmla="*/ 2793 w 1735"/>
                <a:gd name="T41" fmla="*/ 0 h 969"/>
                <a:gd name="T42" fmla="*/ 3349 w 1735"/>
                <a:gd name="T43" fmla="*/ 22 h 969"/>
                <a:gd name="T44" fmla="*/ 3475 w 1735"/>
                <a:gd name="T45" fmla="*/ 67 h 969"/>
                <a:gd name="T46" fmla="*/ 3598 w 1735"/>
                <a:gd name="T47" fmla="*/ 160 h 969"/>
                <a:gd name="T48" fmla="*/ 3641 w 1735"/>
                <a:gd name="T49" fmla="*/ 204 h 969"/>
                <a:gd name="T50" fmla="*/ 3764 w 1735"/>
                <a:gd name="T51" fmla="*/ 299 h 969"/>
                <a:gd name="T52" fmla="*/ 3825 w 1735"/>
                <a:gd name="T53" fmla="*/ 342 h 969"/>
                <a:gd name="T54" fmla="*/ 3931 w 1735"/>
                <a:gd name="T55" fmla="*/ 615 h 969"/>
                <a:gd name="T56" fmla="*/ 3910 w 1735"/>
                <a:gd name="T57" fmla="*/ 1050 h 969"/>
                <a:gd name="T58" fmla="*/ 3744 w 1735"/>
                <a:gd name="T59" fmla="*/ 1434 h 969"/>
                <a:gd name="T60" fmla="*/ 3659 w 1735"/>
                <a:gd name="T61" fmla="*/ 1572 h 969"/>
                <a:gd name="T62" fmla="*/ 3598 w 1735"/>
                <a:gd name="T63" fmla="*/ 1616 h 969"/>
                <a:gd name="T64" fmla="*/ 3268 w 1735"/>
                <a:gd name="T65" fmla="*/ 1913 h 969"/>
                <a:gd name="T66" fmla="*/ 3018 w 1735"/>
                <a:gd name="T67" fmla="*/ 2094 h 969"/>
                <a:gd name="T68" fmla="*/ 2913 w 1735"/>
                <a:gd name="T69" fmla="*/ 2187 h 969"/>
                <a:gd name="T70" fmla="*/ 2793 w 1735"/>
                <a:gd name="T71" fmla="*/ 2233 h 969"/>
                <a:gd name="T72" fmla="*/ 2728 w 1735"/>
                <a:gd name="T73" fmla="*/ 2257 h 969"/>
                <a:gd name="T74" fmla="*/ 2292 w 1735"/>
                <a:gd name="T75" fmla="*/ 2415 h 969"/>
                <a:gd name="T76" fmla="*/ 885 w 1735"/>
                <a:gd name="T77" fmla="*/ 2393 h 969"/>
                <a:gd name="T78" fmla="*/ 697 w 1735"/>
                <a:gd name="T79" fmla="*/ 2325 h 969"/>
                <a:gd name="T80" fmla="*/ 574 w 1735"/>
                <a:gd name="T81" fmla="*/ 2275 h 969"/>
                <a:gd name="T82" fmla="*/ 532 w 1735"/>
                <a:gd name="T83" fmla="*/ 2233 h 96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735"/>
                <a:gd name="T127" fmla="*/ 0 h 969"/>
                <a:gd name="T128" fmla="*/ 1735 w 1735"/>
                <a:gd name="T129" fmla="*/ 969 h 96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735" h="969">
                  <a:moveTo>
                    <a:pt x="327" y="923"/>
                  </a:moveTo>
                  <a:cubicBezTo>
                    <a:pt x="242" y="902"/>
                    <a:pt x="278" y="911"/>
                    <a:pt x="217" y="896"/>
                  </a:cubicBezTo>
                  <a:cubicBezTo>
                    <a:pt x="205" y="893"/>
                    <a:pt x="180" y="887"/>
                    <a:pt x="180" y="887"/>
                  </a:cubicBezTo>
                  <a:cubicBezTo>
                    <a:pt x="113" y="842"/>
                    <a:pt x="198" y="895"/>
                    <a:pt x="116" y="859"/>
                  </a:cubicBezTo>
                  <a:cubicBezTo>
                    <a:pt x="85" y="845"/>
                    <a:pt x="62" y="814"/>
                    <a:pt x="34" y="795"/>
                  </a:cubicBezTo>
                  <a:cubicBezTo>
                    <a:pt x="17" y="744"/>
                    <a:pt x="0" y="703"/>
                    <a:pt x="43" y="658"/>
                  </a:cubicBezTo>
                  <a:cubicBezTo>
                    <a:pt x="58" y="612"/>
                    <a:pt x="83" y="605"/>
                    <a:pt x="126" y="576"/>
                  </a:cubicBezTo>
                  <a:cubicBezTo>
                    <a:pt x="155" y="557"/>
                    <a:pt x="179" y="531"/>
                    <a:pt x="208" y="512"/>
                  </a:cubicBezTo>
                  <a:cubicBezTo>
                    <a:pt x="216" y="507"/>
                    <a:pt x="226" y="507"/>
                    <a:pt x="235" y="503"/>
                  </a:cubicBezTo>
                  <a:cubicBezTo>
                    <a:pt x="245" y="498"/>
                    <a:pt x="254" y="492"/>
                    <a:pt x="263" y="485"/>
                  </a:cubicBezTo>
                  <a:cubicBezTo>
                    <a:pt x="270" y="480"/>
                    <a:pt x="273" y="470"/>
                    <a:pt x="281" y="466"/>
                  </a:cubicBezTo>
                  <a:cubicBezTo>
                    <a:pt x="307" y="453"/>
                    <a:pt x="336" y="448"/>
                    <a:pt x="363" y="439"/>
                  </a:cubicBezTo>
                  <a:cubicBezTo>
                    <a:pt x="372" y="436"/>
                    <a:pt x="391" y="430"/>
                    <a:pt x="391" y="430"/>
                  </a:cubicBezTo>
                  <a:cubicBezTo>
                    <a:pt x="422" y="397"/>
                    <a:pt x="401" y="414"/>
                    <a:pt x="464" y="393"/>
                  </a:cubicBezTo>
                  <a:cubicBezTo>
                    <a:pt x="473" y="390"/>
                    <a:pt x="482" y="387"/>
                    <a:pt x="491" y="384"/>
                  </a:cubicBezTo>
                  <a:cubicBezTo>
                    <a:pt x="500" y="381"/>
                    <a:pt x="519" y="375"/>
                    <a:pt x="519" y="375"/>
                  </a:cubicBezTo>
                  <a:cubicBezTo>
                    <a:pt x="602" y="320"/>
                    <a:pt x="751" y="322"/>
                    <a:pt x="820" y="256"/>
                  </a:cubicBezTo>
                  <a:cubicBezTo>
                    <a:pt x="859" y="219"/>
                    <a:pt x="907" y="191"/>
                    <a:pt x="948" y="155"/>
                  </a:cubicBezTo>
                  <a:cubicBezTo>
                    <a:pt x="987" y="121"/>
                    <a:pt x="995" y="96"/>
                    <a:pt x="1040" y="82"/>
                  </a:cubicBezTo>
                  <a:cubicBezTo>
                    <a:pt x="1082" y="54"/>
                    <a:pt x="1130" y="34"/>
                    <a:pt x="1177" y="18"/>
                  </a:cubicBezTo>
                  <a:cubicBezTo>
                    <a:pt x="1195" y="12"/>
                    <a:pt x="1232" y="0"/>
                    <a:pt x="1232" y="0"/>
                  </a:cubicBezTo>
                  <a:cubicBezTo>
                    <a:pt x="1314" y="3"/>
                    <a:pt x="1397" y="2"/>
                    <a:pt x="1479" y="9"/>
                  </a:cubicBezTo>
                  <a:cubicBezTo>
                    <a:pt x="1498" y="11"/>
                    <a:pt x="1534" y="27"/>
                    <a:pt x="1534" y="27"/>
                  </a:cubicBezTo>
                  <a:cubicBezTo>
                    <a:pt x="1552" y="39"/>
                    <a:pt x="1572" y="49"/>
                    <a:pt x="1588" y="64"/>
                  </a:cubicBezTo>
                  <a:cubicBezTo>
                    <a:pt x="1594" y="70"/>
                    <a:pt x="1600" y="77"/>
                    <a:pt x="1607" y="82"/>
                  </a:cubicBezTo>
                  <a:cubicBezTo>
                    <a:pt x="1625" y="95"/>
                    <a:pt x="1644" y="107"/>
                    <a:pt x="1662" y="119"/>
                  </a:cubicBezTo>
                  <a:cubicBezTo>
                    <a:pt x="1671" y="125"/>
                    <a:pt x="1689" y="137"/>
                    <a:pt x="1689" y="137"/>
                  </a:cubicBezTo>
                  <a:cubicBezTo>
                    <a:pt x="1701" y="175"/>
                    <a:pt x="1722" y="208"/>
                    <a:pt x="1735" y="247"/>
                  </a:cubicBezTo>
                  <a:cubicBezTo>
                    <a:pt x="1732" y="305"/>
                    <a:pt x="1731" y="363"/>
                    <a:pt x="1726" y="421"/>
                  </a:cubicBezTo>
                  <a:cubicBezTo>
                    <a:pt x="1720" y="482"/>
                    <a:pt x="1686" y="530"/>
                    <a:pt x="1652" y="576"/>
                  </a:cubicBezTo>
                  <a:cubicBezTo>
                    <a:pt x="1639" y="594"/>
                    <a:pt x="1634" y="619"/>
                    <a:pt x="1616" y="631"/>
                  </a:cubicBezTo>
                  <a:cubicBezTo>
                    <a:pt x="1607" y="637"/>
                    <a:pt x="1596" y="642"/>
                    <a:pt x="1588" y="649"/>
                  </a:cubicBezTo>
                  <a:cubicBezTo>
                    <a:pt x="1539" y="693"/>
                    <a:pt x="1506" y="747"/>
                    <a:pt x="1442" y="768"/>
                  </a:cubicBezTo>
                  <a:cubicBezTo>
                    <a:pt x="1404" y="793"/>
                    <a:pt x="1372" y="818"/>
                    <a:pt x="1332" y="841"/>
                  </a:cubicBezTo>
                  <a:cubicBezTo>
                    <a:pt x="1315" y="851"/>
                    <a:pt x="1304" y="869"/>
                    <a:pt x="1287" y="878"/>
                  </a:cubicBezTo>
                  <a:cubicBezTo>
                    <a:pt x="1270" y="887"/>
                    <a:pt x="1250" y="890"/>
                    <a:pt x="1232" y="896"/>
                  </a:cubicBezTo>
                  <a:cubicBezTo>
                    <a:pt x="1223" y="899"/>
                    <a:pt x="1204" y="905"/>
                    <a:pt x="1204" y="905"/>
                  </a:cubicBezTo>
                  <a:cubicBezTo>
                    <a:pt x="1145" y="944"/>
                    <a:pt x="1078" y="948"/>
                    <a:pt x="1012" y="969"/>
                  </a:cubicBezTo>
                  <a:cubicBezTo>
                    <a:pt x="805" y="966"/>
                    <a:pt x="598" y="968"/>
                    <a:pt x="391" y="960"/>
                  </a:cubicBezTo>
                  <a:cubicBezTo>
                    <a:pt x="362" y="959"/>
                    <a:pt x="335" y="943"/>
                    <a:pt x="308" y="933"/>
                  </a:cubicBezTo>
                  <a:cubicBezTo>
                    <a:pt x="290" y="927"/>
                    <a:pt x="254" y="914"/>
                    <a:pt x="254" y="914"/>
                  </a:cubicBezTo>
                  <a:cubicBezTo>
                    <a:pt x="248" y="908"/>
                    <a:pt x="235" y="896"/>
                    <a:pt x="235" y="896"/>
                  </a:cubicBezTo>
                </a:path>
              </a:pathLst>
            </a:custGeom>
            <a:noFill/>
            <a:ln w="28575">
              <a:solidFill>
                <a:schemeClr val="accent2"/>
              </a:solidFill>
              <a:prstDash val="dash"/>
              <a:rou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88074" name="Freeform 1046"/>
            <p:cNvSpPr/>
            <p:nvPr/>
          </p:nvSpPr>
          <p:spPr bwMode="auto">
            <a:xfrm>
              <a:off x="1248" y="1864"/>
              <a:ext cx="1472" cy="1032"/>
            </a:xfrm>
            <a:custGeom>
              <a:avLst/>
              <a:gdLst>
                <a:gd name="T0" fmla="*/ 122 w 1344"/>
                <a:gd name="T1" fmla="*/ 680 h 1032"/>
                <a:gd name="T2" fmla="*/ 122 w 1344"/>
                <a:gd name="T3" fmla="*/ 536 h 1032"/>
                <a:gd name="T4" fmla="*/ 576 w 1344"/>
                <a:gd name="T5" fmla="*/ 440 h 1032"/>
                <a:gd name="T6" fmla="*/ 1119 w 1344"/>
                <a:gd name="T7" fmla="*/ 440 h 1032"/>
                <a:gd name="T8" fmla="*/ 1573 w 1344"/>
                <a:gd name="T9" fmla="*/ 56 h 1032"/>
                <a:gd name="T10" fmla="*/ 2389 w 1344"/>
                <a:gd name="T11" fmla="*/ 104 h 1032"/>
                <a:gd name="T12" fmla="*/ 2481 w 1344"/>
                <a:gd name="T13" fmla="*/ 584 h 1032"/>
                <a:gd name="T14" fmla="*/ 2026 w 1344"/>
                <a:gd name="T15" fmla="*/ 824 h 1032"/>
                <a:gd name="T16" fmla="*/ 847 w 1344"/>
                <a:gd name="T17" fmla="*/ 1016 h 1032"/>
                <a:gd name="T18" fmla="*/ 122 w 1344"/>
                <a:gd name="T19" fmla="*/ 920 h 1032"/>
                <a:gd name="T20" fmla="*/ 122 w 1344"/>
                <a:gd name="T21" fmla="*/ 584 h 10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44"/>
                <a:gd name="T34" fmla="*/ 0 h 1032"/>
                <a:gd name="T35" fmla="*/ 1344 w 1344"/>
                <a:gd name="T36" fmla="*/ 1032 h 10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44" h="1032">
                  <a:moveTo>
                    <a:pt x="64" y="680"/>
                  </a:moveTo>
                  <a:cubicBezTo>
                    <a:pt x="44" y="628"/>
                    <a:pt x="24" y="576"/>
                    <a:pt x="64" y="536"/>
                  </a:cubicBezTo>
                  <a:cubicBezTo>
                    <a:pt x="104" y="496"/>
                    <a:pt x="216" y="456"/>
                    <a:pt x="304" y="440"/>
                  </a:cubicBezTo>
                  <a:cubicBezTo>
                    <a:pt x="392" y="424"/>
                    <a:pt x="504" y="504"/>
                    <a:pt x="592" y="440"/>
                  </a:cubicBezTo>
                  <a:cubicBezTo>
                    <a:pt x="680" y="376"/>
                    <a:pt x="720" y="112"/>
                    <a:pt x="832" y="56"/>
                  </a:cubicBezTo>
                  <a:cubicBezTo>
                    <a:pt x="944" y="0"/>
                    <a:pt x="1184" y="16"/>
                    <a:pt x="1264" y="104"/>
                  </a:cubicBezTo>
                  <a:cubicBezTo>
                    <a:pt x="1344" y="192"/>
                    <a:pt x="1344" y="464"/>
                    <a:pt x="1312" y="584"/>
                  </a:cubicBezTo>
                  <a:cubicBezTo>
                    <a:pt x="1280" y="704"/>
                    <a:pt x="1216" y="752"/>
                    <a:pt x="1072" y="824"/>
                  </a:cubicBezTo>
                  <a:cubicBezTo>
                    <a:pt x="928" y="896"/>
                    <a:pt x="616" y="1000"/>
                    <a:pt x="448" y="1016"/>
                  </a:cubicBezTo>
                  <a:cubicBezTo>
                    <a:pt x="280" y="1032"/>
                    <a:pt x="128" y="992"/>
                    <a:pt x="64" y="920"/>
                  </a:cubicBezTo>
                  <a:cubicBezTo>
                    <a:pt x="0" y="848"/>
                    <a:pt x="64" y="640"/>
                    <a:pt x="64" y="584"/>
                  </a:cubicBezTo>
                </a:path>
              </a:pathLst>
            </a:custGeom>
            <a:noFill/>
            <a:ln w="28575">
              <a:solidFill>
                <a:schemeClr val="accent2"/>
              </a:solidFill>
              <a:prstDash val="dash"/>
              <a:rou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grpSp>
      <p:grpSp>
        <p:nvGrpSpPr>
          <p:cNvPr id="4" name="Group 1048"/>
          <p:cNvGrpSpPr/>
          <p:nvPr/>
        </p:nvGrpSpPr>
        <p:grpSpPr bwMode="auto">
          <a:xfrm>
            <a:off x="2019300" y="1800225"/>
            <a:ext cx="5511800" cy="1752600"/>
            <a:chOff x="1272" y="1512"/>
            <a:chExt cx="3472" cy="1472"/>
          </a:xfrm>
        </p:grpSpPr>
        <p:sp>
          <p:nvSpPr>
            <p:cNvPr id="88071" name="Freeform 1042"/>
            <p:cNvSpPr/>
            <p:nvPr/>
          </p:nvSpPr>
          <p:spPr bwMode="auto">
            <a:xfrm>
              <a:off x="3024" y="1512"/>
              <a:ext cx="1720" cy="1224"/>
            </a:xfrm>
            <a:custGeom>
              <a:avLst/>
              <a:gdLst>
                <a:gd name="T0" fmla="*/ 281 w 1600"/>
                <a:gd name="T1" fmla="*/ 697 h 1184"/>
                <a:gd name="T2" fmla="*/ 119 w 1600"/>
                <a:gd name="T3" fmla="*/ 273 h 1184"/>
                <a:gd name="T4" fmla="*/ 995 w 1600"/>
                <a:gd name="T5" fmla="*/ 31 h 1184"/>
                <a:gd name="T6" fmla="*/ 2430 w 1600"/>
                <a:gd name="T7" fmla="*/ 454 h 1184"/>
                <a:gd name="T8" fmla="*/ 2349 w 1600"/>
                <a:gd name="T9" fmla="*/ 1363 h 1184"/>
                <a:gd name="T10" fmla="*/ 1475 w 1600"/>
                <a:gd name="T11" fmla="*/ 1242 h 1184"/>
                <a:gd name="T12" fmla="*/ 281 w 1600"/>
                <a:gd name="T13" fmla="*/ 697 h 1184"/>
                <a:gd name="T14" fmla="*/ 0 60000 65536"/>
                <a:gd name="T15" fmla="*/ 0 60000 65536"/>
                <a:gd name="T16" fmla="*/ 0 60000 65536"/>
                <a:gd name="T17" fmla="*/ 0 60000 65536"/>
                <a:gd name="T18" fmla="*/ 0 60000 65536"/>
                <a:gd name="T19" fmla="*/ 0 60000 65536"/>
                <a:gd name="T20" fmla="*/ 0 60000 65536"/>
                <a:gd name="T21" fmla="*/ 0 w 1600"/>
                <a:gd name="T22" fmla="*/ 0 h 1184"/>
                <a:gd name="T23" fmla="*/ 1600 w 1600"/>
                <a:gd name="T24" fmla="*/ 1184 h 11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00" h="1184">
                  <a:moveTo>
                    <a:pt x="168" y="552"/>
                  </a:moveTo>
                  <a:cubicBezTo>
                    <a:pt x="32" y="424"/>
                    <a:pt x="0" y="304"/>
                    <a:pt x="72" y="216"/>
                  </a:cubicBezTo>
                  <a:cubicBezTo>
                    <a:pt x="144" y="128"/>
                    <a:pt x="368" y="0"/>
                    <a:pt x="600" y="24"/>
                  </a:cubicBezTo>
                  <a:cubicBezTo>
                    <a:pt x="832" y="48"/>
                    <a:pt x="1328" y="184"/>
                    <a:pt x="1464" y="360"/>
                  </a:cubicBezTo>
                  <a:cubicBezTo>
                    <a:pt x="1600" y="536"/>
                    <a:pt x="1512" y="976"/>
                    <a:pt x="1416" y="1080"/>
                  </a:cubicBezTo>
                  <a:cubicBezTo>
                    <a:pt x="1320" y="1184"/>
                    <a:pt x="1096" y="1080"/>
                    <a:pt x="888" y="984"/>
                  </a:cubicBezTo>
                  <a:cubicBezTo>
                    <a:pt x="680" y="888"/>
                    <a:pt x="304" y="680"/>
                    <a:pt x="168" y="552"/>
                  </a:cubicBezTo>
                  <a:close/>
                </a:path>
              </a:pathLst>
            </a:custGeom>
            <a:noFill/>
            <a:ln w="28575">
              <a:solidFill>
                <a:srgbClr val="6600FF"/>
              </a:solidFill>
              <a:prstDash val="dash"/>
              <a:rou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88072" name="Freeform 1047"/>
            <p:cNvSpPr/>
            <p:nvPr/>
          </p:nvSpPr>
          <p:spPr bwMode="auto">
            <a:xfrm>
              <a:off x="1272" y="1680"/>
              <a:ext cx="800" cy="1304"/>
            </a:xfrm>
            <a:custGeom>
              <a:avLst/>
              <a:gdLst>
                <a:gd name="T0" fmla="*/ 72 w 800"/>
                <a:gd name="T1" fmla="*/ 192 h 1304"/>
                <a:gd name="T2" fmla="*/ 264 w 800"/>
                <a:gd name="T3" fmla="*/ 48 h 1304"/>
                <a:gd name="T4" fmla="*/ 504 w 800"/>
                <a:gd name="T5" fmla="*/ 48 h 1304"/>
                <a:gd name="T6" fmla="*/ 696 w 800"/>
                <a:gd name="T7" fmla="*/ 96 h 1304"/>
                <a:gd name="T8" fmla="*/ 792 w 800"/>
                <a:gd name="T9" fmla="*/ 624 h 1304"/>
                <a:gd name="T10" fmla="*/ 744 w 800"/>
                <a:gd name="T11" fmla="*/ 1104 h 1304"/>
                <a:gd name="T12" fmla="*/ 456 w 800"/>
                <a:gd name="T13" fmla="*/ 1296 h 1304"/>
                <a:gd name="T14" fmla="*/ 216 w 800"/>
                <a:gd name="T15" fmla="*/ 1152 h 1304"/>
                <a:gd name="T16" fmla="*/ 24 w 800"/>
                <a:gd name="T17" fmla="*/ 672 h 1304"/>
                <a:gd name="T18" fmla="*/ 72 w 800"/>
                <a:gd name="T19" fmla="*/ 192 h 13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00"/>
                <a:gd name="T31" fmla="*/ 0 h 1304"/>
                <a:gd name="T32" fmla="*/ 800 w 800"/>
                <a:gd name="T33" fmla="*/ 1304 h 130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00" h="1304">
                  <a:moveTo>
                    <a:pt x="72" y="192"/>
                  </a:moveTo>
                  <a:cubicBezTo>
                    <a:pt x="112" y="88"/>
                    <a:pt x="192" y="72"/>
                    <a:pt x="264" y="48"/>
                  </a:cubicBezTo>
                  <a:cubicBezTo>
                    <a:pt x="336" y="24"/>
                    <a:pt x="432" y="40"/>
                    <a:pt x="504" y="48"/>
                  </a:cubicBezTo>
                  <a:cubicBezTo>
                    <a:pt x="576" y="56"/>
                    <a:pt x="648" y="0"/>
                    <a:pt x="696" y="96"/>
                  </a:cubicBezTo>
                  <a:cubicBezTo>
                    <a:pt x="744" y="192"/>
                    <a:pt x="784" y="456"/>
                    <a:pt x="792" y="624"/>
                  </a:cubicBezTo>
                  <a:cubicBezTo>
                    <a:pt x="800" y="792"/>
                    <a:pt x="800" y="992"/>
                    <a:pt x="744" y="1104"/>
                  </a:cubicBezTo>
                  <a:cubicBezTo>
                    <a:pt x="688" y="1216"/>
                    <a:pt x="544" y="1288"/>
                    <a:pt x="456" y="1296"/>
                  </a:cubicBezTo>
                  <a:cubicBezTo>
                    <a:pt x="368" y="1304"/>
                    <a:pt x="288" y="1256"/>
                    <a:pt x="216" y="1152"/>
                  </a:cubicBezTo>
                  <a:cubicBezTo>
                    <a:pt x="144" y="1048"/>
                    <a:pt x="48" y="832"/>
                    <a:pt x="24" y="672"/>
                  </a:cubicBezTo>
                  <a:cubicBezTo>
                    <a:pt x="0" y="512"/>
                    <a:pt x="32" y="296"/>
                    <a:pt x="72" y="192"/>
                  </a:cubicBezTo>
                  <a:close/>
                </a:path>
              </a:pathLst>
            </a:custGeom>
            <a:noFill/>
            <a:ln w="28575">
              <a:solidFill>
                <a:srgbClr val="6600FF"/>
              </a:solidFill>
              <a:prstDash val="dash"/>
              <a:rou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26"/>
          <p:cNvSpPr>
            <a:spLocks noGrp="1" noChangeArrowheads="1"/>
          </p:cNvSpPr>
          <p:nvPr>
            <p:ph type="title"/>
          </p:nvPr>
        </p:nvSpPr>
        <p:spPr/>
        <p:txBody>
          <a:bodyPr/>
          <a:lstStyle/>
          <a:p>
            <a:r>
              <a:rPr lang="zh-CN" altLang="en-US" dirty="0"/>
              <a:t>一个例子</a:t>
            </a:r>
            <a:endParaRPr lang="zh-CN" altLang="en-US" dirty="0"/>
          </a:p>
        </p:txBody>
      </p:sp>
      <p:sp>
        <p:nvSpPr>
          <p:cNvPr id="89091" name="Rectangle 1027"/>
          <p:cNvSpPr>
            <a:spLocks noGrp="1" noChangeArrowheads="1"/>
          </p:cNvSpPr>
          <p:nvPr>
            <p:ph idx="1"/>
          </p:nvPr>
        </p:nvSpPr>
        <p:spPr/>
        <p:txBody>
          <a:bodyPr/>
          <a:lstStyle/>
          <a:p>
            <a:r>
              <a:rPr lang="en-US" altLang="zh-CN"/>
              <a:t>	 SJ</a:t>
            </a:r>
            <a:r>
              <a:rPr lang="zh-CN" altLang="en-US"/>
              <a:t>的码为（</a:t>
            </a:r>
            <a:r>
              <a:rPr lang="en-US" altLang="zh-CN"/>
              <a:t>S</a:t>
            </a:r>
            <a:r>
              <a:rPr lang="zh-CN" altLang="en-US"/>
              <a:t>，</a:t>
            </a:r>
            <a:r>
              <a:rPr lang="en-US" altLang="zh-CN"/>
              <a:t>J</a:t>
            </a:r>
            <a:r>
              <a:rPr lang="zh-CN" altLang="en-US"/>
              <a:t>），</a:t>
            </a:r>
            <a:r>
              <a:rPr lang="en-US" altLang="zh-CN"/>
              <a:t>TJ</a:t>
            </a:r>
            <a:r>
              <a:rPr lang="zh-CN" altLang="en-US"/>
              <a:t>的码为</a:t>
            </a:r>
            <a:r>
              <a:rPr lang="en-US" altLang="zh-CN"/>
              <a:t>T</a:t>
            </a:r>
            <a:r>
              <a:rPr lang="zh-CN" altLang="en-US"/>
              <a:t>。</a:t>
            </a:r>
            <a:endParaRPr lang="zh-CN" altLang="en-US"/>
          </a:p>
        </p:txBody>
      </p:sp>
      <p:grpSp>
        <p:nvGrpSpPr>
          <p:cNvPr id="2" name="Group 1040"/>
          <p:cNvGrpSpPr/>
          <p:nvPr/>
        </p:nvGrpSpPr>
        <p:grpSpPr bwMode="auto">
          <a:xfrm>
            <a:off x="1676400" y="2286001"/>
            <a:ext cx="6324600" cy="1679972"/>
            <a:chOff x="1008" y="1728"/>
            <a:chExt cx="3984" cy="1411"/>
          </a:xfrm>
        </p:grpSpPr>
        <p:sp>
          <p:nvSpPr>
            <p:cNvPr id="89093" name="Text Box 1029"/>
            <p:cNvSpPr txBox="1">
              <a:spLocks noChangeArrowheads="1"/>
            </p:cNvSpPr>
            <p:nvPr/>
          </p:nvSpPr>
          <p:spPr bwMode="auto">
            <a:xfrm>
              <a:off x="1296" y="1968"/>
              <a:ext cx="427" cy="439"/>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a:t>
              </a:r>
              <a:endParaRPr kumimoji="0" lang="en-US" altLang="zh-CN" sz="2800" baseline="0"/>
            </a:p>
          </p:txBody>
        </p:sp>
        <p:sp>
          <p:nvSpPr>
            <p:cNvPr id="89094" name="Text Box 1030"/>
            <p:cNvSpPr txBox="1">
              <a:spLocks noChangeArrowheads="1"/>
            </p:cNvSpPr>
            <p:nvPr/>
          </p:nvSpPr>
          <p:spPr bwMode="auto">
            <a:xfrm>
              <a:off x="2291" y="1968"/>
              <a:ext cx="426" cy="439"/>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J</a:t>
              </a:r>
              <a:endParaRPr kumimoji="0" lang="en-US" altLang="zh-CN" sz="2800" baseline="0"/>
            </a:p>
          </p:txBody>
        </p:sp>
        <p:sp>
          <p:nvSpPr>
            <p:cNvPr id="89095" name="Text Box 1032"/>
            <p:cNvSpPr txBox="1">
              <a:spLocks noChangeArrowheads="1"/>
            </p:cNvSpPr>
            <p:nvPr/>
          </p:nvSpPr>
          <p:spPr bwMode="auto">
            <a:xfrm>
              <a:off x="1723" y="2700"/>
              <a:ext cx="56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400" baseline="0"/>
                <a:t>SJ</a:t>
              </a:r>
              <a:endParaRPr kumimoji="0" lang="en-US" altLang="zh-CN" sz="2400" baseline="0"/>
            </a:p>
          </p:txBody>
        </p:sp>
        <p:sp>
          <p:nvSpPr>
            <p:cNvPr id="89096" name="Text Box 1033"/>
            <p:cNvSpPr txBox="1">
              <a:spLocks noChangeArrowheads="1"/>
            </p:cNvSpPr>
            <p:nvPr/>
          </p:nvSpPr>
          <p:spPr bwMode="auto">
            <a:xfrm>
              <a:off x="3428" y="1968"/>
              <a:ext cx="427" cy="439"/>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T</a:t>
              </a:r>
              <a:endParaRPr kumimoji="0" lang="en-US" altLang="zh-CN" sz="2800" baseline="0"/>
            </a:p>
          </p:txBody>
        </p:sp>
        <p:sp>
          <p:nvSpPr>
            <p:cNvPr id="89097" name="Text Box 1034"/>
            <p:cNvSpPr txBox="1">
              <a:spLocks noChangeArrowheads="1"/>
            </p:cNvSpPr>
            <p:nvPr/>
          </p:nvSpPr>
          <p:spPr bwMode="auto">
            <a:xfrm>
              <a:off x="4565" y="1968"/>
              <a:ext cx="427" cy="439"/>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J</a:t>
              </a:r>
              <a:endParaRPr kumimoji="0" lang="en-US" altLang="zh-CN" sz="2800" baseline="0"/>
            </a:p>
          </p:txBody>
        </p:sp>
        <p:sp>
          <p:nvSpPr>
            <p:cNvPr id="89098" name="Line 1035"/>
            <p:cNvSpPr>
              <a:spLocks noChangeShapeType="1"/>
            </p:cNvSpPr>
            <p:nvPr/>
          </p:nvSpPr>
          <p:spPr bwMode="auto">
            <a:xfrm>
              <a:off x="3855" y="2114"/>
              <a:ext cx="710" cy="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099" name="Text Box 1036"/>
            <p:cNvSpPr txBox="1">
              <a:spLocks noChangeArrowheads="1"/>
            </p:cNvSpPr>
            <p:nvPr/>
          </p:nvSpPr>
          <p:spPr bwMode="auto">
            <a:xfrm>
              <a:off x="3997" y="2700"/>
              <a:ext cx="56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400" baseline="0"/>
                <a:t>TJ</a:t>
              </a:r>
              <a:endParaRPr kumimoji="0" lang="en-US" altLang="zh-CN" sz="2400" baseline="0"/>
            </a:p>
          </p:txBody>
        </p:sp>
        <p:sp>
          <p:nvSpPr>
            <p:cNvPr id="89100" name="Rectangle 1039"/>
            <p:cNvSpPr>
              <a:spLocks noChangeArrowheads="1"/>
            </p:cNvSpPr>
            <p:nvPr/>
          </p:nvSpPr>
          <p:spPr bwMode="auto">
            <a:xfrm>
              <a:off x="1008" y="1728"/>
              <a:ext cx="1872" cy="864"/>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grpSp>
    </p:spTree>
  </p:cSld>
  <p:clrMapOvr>
    <a:masterClrMapping/>
  </p:clrMapOvr>
  <p:transition spd="slow">
    <p:wipe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zh-CN" altLang="en-US" dirty="0"/>
              <a:t>一个例子</a:t>
            </a:r>
            <a:endParaRPr lang="zh-CN" altLang="en-US" dirty="0"/>
          </a:p>
        </p:txBody>
      </p:sp>
      <p:sp>
        <p:nvSpPr>
          <p:cNvPr id="90115" name="Rectangle 3"/>
          <p:cNvSpPr>
            <a:spLocks noGrp="1" noChangeArrowheads="1"/>
          </p:cNvSpPr>
          <p:nvPr>
            <p:ph idx="1"/>
          </p:nvPr>
        </p:nvSpPr>
        <p:spPr>
          <a:xfrm>
            <a:off x="214282" y="714362"/>
            <a:ext cx="8401080" cy="3640931"/>
          </a:xfrm>
        </p:spPr>
        <p:txBody>
          <a:bodyPr/>
          <a:lstStyle/>
          <a:p>
            <a:r>
              <a:rPr lang="zh-CN" altLang="en-US" sz="2000" dirty="0"/>
              <a:t>在分解后的关系模式中</a:t>
            </a:r>
            <a:r>
              <a:rPr lang="zh-CN" altLang="en-US" sz="2000" dirty="0">
                <a:solidFill>
                  <a:schemeClr val="accent1">
                    <a:lumMod val="75000"/>
                  </a:schemeClr>
                </a:solidFill>
              </a:rPr>
              <a:t>没有任何属性对码的部分函数依赖和传递函数依赖</a:t>
            </a:r>
            <a:r>
              <a:rPr lang="zh-CN" altLang="en-US" sz="2000" dirty="0"/>
              <a:t>。它解决了上述四个问题：</a:t>
            </a:r>
            <a:endParaRPr lang="zh-CN" altLang="en-US" sz="2000" dirty="0"/>
          </a:p>
          <a:p>
            <a:pPr lvl="1"/>
            <a:r>
              <a:rPr lang="en-US" altLang="zh-CN" sz="1800" dirty="0"/>
              <a:t>(1)TJ</a:t>
            </a:r>
            <a:r>
              <a:rPr lang="zh-CN" altLang="en-US" sz="1800" dirty="0"/>
              <a:t>关系中可以存储所开课程尚未有学生选修的教师信息。</a:t>
            </a:r>
            <a:endParaRPr lang="en-US" altLang="zh-CN" sz="1800" dirty="0"/>
          </a:p>
          <a:p>
            <a:pPr lvl="1"/>
            <a:endParaRPr lang="zh-CN" altLang="en-US" sz="1800" dirty="0"/>
          </a:p>
          <a:p>
            <a:pPr lvl="1"/>
            <a:r>
              <a:rPr lang="en-US" altLang="zh-CN" sz="1800" dirty="0"/>
              <a:t>(2) </a:t>
            </a:r>
            <a:r>
              <a:rPr lang="zh-CN" altLang="en-US" sz="1800" dirty="0"/>
              <a:t>选修过某门课程的学生全部毕业了，只是删除</a:t>
            </a:r>
            <a:r>
              <a:rPr lang="en-US" altLang="zh-CN" sz="1800" dirty="0"/>
              <a:t>SJ</a:t>
            </a:r>
            <a:r>
              <a:rPr lang="zh-CN" altLang="en-US" sz="1800" dirty="0"/>
              <a:t>关系中的相应元组，不会影响</a:t>
            </a:r>
            <a:r>
              <a:rPr lang="en-US" altLang="zh-CN" sz="1800" dirty="0"/>
              <a:t>TJ</a:t>
            </a:r>
            <a:r>
              <a:rPr lang="zh-CN" altLang="en-US" sz="1800" dirty="0"/>
              <a:t>关系中相应教师开设该门课程的信息。</a:t>
            </a:r>
            <a:endParaRPr lang="en-US" altLang="zh-CN" sz="1800" dirty="0"/>
          </a:p>
          <a:p>
            <a:pPr lvl="1"/>
            <a:r>
              <a:rPr lang="en-US" altLang="zh-CN" sz="1800" dirty="0"/>
              <a:t>(3) </a:t>
            </a:r>
            <a:r>
              <a:rPr lang="zh-CN" altLang="en-US" sz="1800" dirty="0"/>
              <a:t>关于每个教师开设课程的信息只在</a:t>
            </a:r>
            <a:r>
              <a:rPr lang="en-US" altLang="zh-CN" sz="1800" dirty="0"/>
              <a:t>TJ</a:t>
            </a:r>
            <a:r>
              <a:rPr lang="zh-CN" altLang="en-US" sz="1800" dirty="0"/>
              <a:t>关系中存储一次。</a:t>
            </a:r>
            <a:endParaRPr lang="zh-CN" altLang="en-US" sz="1800" dirty="0"/>
          </a:p>
          <a:p>
            <a:pPr lvl="1"/>
            <a:endParaRPr lang="zh-CN" altLang="en-US" sz="1800" dirty="0"/>
          </a:p>
          <a:p>
            <a:pPr lvl="1"/>
            <a:r>
              <a:rPr lang="en-US" altLang="zh-CN" sz="1800" dirty="0"/>
              <a:t>(4) </a:t>
            </a:r>
            <a:r>
              <a:rPr lang="zh-CN" altLang="en-US" sz="1800" dirty="0"/>
              <a:t>某个教师开设的某门课程改名后，只需修改</a:t>
            </a:r>
            <a:r>
              <a:rPr lang="en-US" altLang="zh-CN" sz="1800" dirty="0"/>
              <a:t>TJ</a:t>
            </a:r>
            <a:r>
              <a:rPr lang="zh-CN" altLang="en-US" sz="1800" dirty="0"/>
              <a:t>关系中的一个相应元组即可。</a:t>
            </a:r>
            <a:endParaRPr lang="zh-CN" altLang="en-US" sz="1800" dirty="0"/>
          </a:p>
          <a:p>
            <a:pPr lvl="1">
              <a:buNone/>
            </a:pPr>
            <a:endParaRPr lang="zh-CN" altLang="en-US" sz="1800" dirty="0"/>
          </a:p>
        </p:txBody>
      </p:sp>
    </p:spTree>
  </p:cSld>
  <p:clrMapOvr>
    <a:masterClrMapping/>
  </p:clrMapOvr>
  <p:transition spd="slow">
    <p:wipe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ltLang="zh-CN" dirty="0"/>
              <a:t> 6.2.6 BC</a:t>
            </a:r>
            <a:r>
              <a:rPr lang="zh-CN" altLang="en-US" dirty="0"/>
              <a:t>范式（</a:t>
            </a:r>
            <a:r>
              <a:rPr lang="en-US" altLang="zh-CN" dirty="0"/>
              <a:t>BCNF</a:t>
            </a:r>
            <a:r>
              <a:rPr lang="zh-CN" altLang="en-US" dirty="0"/>
              <a:t>）</a:t>
            </a:r>
            <a:endParaRPr lang="zh-CN" altLang="en-US" dirty="0"/>
          </a:p>
        </p:txBody>
      </p:sp>
      <p:sp>
        <p:nvSpPr>
          <p:cNvPr id="91139" name="Rectangle 3"/>
          <p:cNvSpPr>
            <a:spLocks noGrp="1" noChangeArrowheads="1"/>
          </p:cNvSpPr>
          <p:nvPr>
            <p:ph idx="1"/>
          </p:nvPr>
        </p:nvSpPr>
        <p:spPr>
          <a:xfrm>
            <a:off x="285720" y="823913"/>
            <a:ext cx="8643998" cy="3640931"/>
          </a:xfrm>
        </p:spPr>
        <p:txBody>
          <a:bodyPr/>
          <a:lstStyle/>
          <a:p>
            <a:pPr eaLnBrk="1" hangingPunct="1">
              <a:lnSpc>
                <a:spcPct val="90000"/>
              </a:lnSpc>
            </a:pPr>
            <a:r>
              <a:rPr lang="en-US" altLang="zh-CN" sz="2800" dirty="0"/>
              <a:t>BCNF</a:t>
            </a:r>
            <a:r>
              <a:rPr lang="zh-CN" altLang="en-US" sz="2800" dirty="0"/>
              <a:t>（</a:t>
            </a:r>
            <a:r>
              <a:rPr lang="en-US" altLang="zh-CN" sz="2800" dirty="0"/>
              <a:t>Boyce </a:t>
            </a:r>
            <a:r>
              <a:rPr lang="en-US" altLang="zh-CN" sz="2800" dirty="0" err="1"/>
              <a:t>Codd</a:t>
            </a:r>
            <a:r>
              <a:rPr lang="en-US" altLang="zh-CN" sz="2800" dirty="0"/>
              <a:t> Normal Form</a:t>
            </a:r>
            <a:r>
              <a:rPr lang="zh-CN" altLang="en-US" sz="2800" dirty="0"/>
              <a:t>）是由</a:t>
            </a:r>
            <a:r>
              <a:rPr lang="en-US" altLang="zh-CN" sz="2800" dirty="0"/>
              <a:t>Boyce</a:t>
            </a:r>
            <a:r>
              <a:rPr lang="zh-CN" altLang="en-US" sz="2800" dirty="0"/>
              <a:t>和</a:t>
            </a:r>
            <a:r>
              <a:rPr lang="en-US" altLang="zh-CN" sz="2800" dirty="0" err="1"/>
              <a:t>Codd</a:t>
            </a:r>
            <a:r>
              <a:rPr lang="zh-CN" altLang="en-US" sz="2800" dirty="0"/>
              <a:t>提出的，比</a:t>
            </a:r>
            <a:r>
              <a:rPr lang="en-US" altLang="zh-CN" sz="2800" dirty="0"/>
              <a:t>3NF</a:t>
            </a:r>
            <a:r>
              <a:rPr lang="zh-CN" altLang="en-US" sz="2800" dirty="0"/>
              <a:t>更进了一步。通常认为</a:t>
            </a:r>
            <a:r>
              <a:rPr lang="en-US" altLang="zh-CN" sz="2800" dirty="0"/>
              <a:t>BCNF</a:t>
            </a:r>
            <a:r>
              <a:rPr lang="zh-CN" altLang="en-US" sz="2800" dirty="0"/>
              <a:t>是修正的第三范式，所以有时也称为第三范式。</a:t>
            </a:r>
            <a:endParaRPr lang="zh-CN" altLang="en-US" sz="2800" dirty="0"/>
          </a:p>
          <a:p>
            <a:pPr eaLnBrk="1" hangingPunct="1">
              <a:lnSpc>
                <a:spcPct val="90000"/>
              </a:lnSpc>
            </a:pPr>
            <a:r>
              <a:rPr lang="en-US" altLang="zh-CN" sz="2800" dirty="0"/>
              <a:t>BCNF</a:t>
            </a:r>
            <a:r>
              <a:rPr lang="zh-CN" altLang="en-US" sz="2800" dirty="0"/>
              <a:t>的定义</a:t>
            </a:r>
            <a:endParaRPr lang="zh-CN" altLang="en-US" sz="2800" dirty="0"/>
          </a:p>
          <a:p>
            <a:pPr eaLnBrk="1" hangingPunct="1">
              <a:lnSpc>
                <a:spcPct val="90000"/>
              </a:lnSpc>
              <a:buFont typeface="Monotype Sorts" pitchFamily="2" charset="2"/>
              <a:buNone/>
            </a:pPr>
            <a:r>
              <a:rPr lang="zh-CN" altLang="en-US" sz="2800" dirty="0"/>
              <a:t>	定义</a:t>
            </a:r>
            <a:r>
              <a:rPr lang="en-US" altLang="zh-CN" sz="2800" dirty="0"/>
              <a:t>6.8  </a:t>
            </a:r>
            <a:r>
              <a:rPr lang="zh-CN" altLang="en-US" sz="2800" dirty="0"/>
              <a:t>设关系模式</a:t>
            </a:r>
            <a:r>
              <a:rPr lang="en-US" altLang="zh-CN" sz="2800" dirty="0"/>
              <a:t>R&lt;U</a:t>
            </a:r>
            <a:r>
              <a:rPr lang="zh-CN" altLang="en-US" sz="2800" dirty="0"/>
              <a:t>，</a:t>
            </a:r>
            <a:r>
              <a:rPr lang="en-US" altLang="zh-CN" sz="2800" dirty="0"/>
              <a:t>F&gt;∈1NF</a:t>
            </a:r>
            <a:r>
              <a:rPr lang="zh-CN" altLang="en-US" sz="2800" dirty="0"/>
              <a:t>，如果对于</a:t>
            </a:r>
            <a:r>
              <a:rPr lang="en-US" altLang="zh-CN" sz="2800" dirty="0"/>
              <a:t>R</a:t>
            </a:r>
            <a:r>
              <a:rPr lang="zh-CN" altLang="en-US" sz="2800" dirty="0"/>
              <a:t>的每个函数依赖</a:t>
            </a:r>
            <a:r>
              <a:rPr lang="en-US" altLang="zh-CN" sz="2800" dirty="0"/>
              <a:t>X→Y</a:t>
            </a:r>
            <a:r>
              <a:rPr lang="zh-CN" altLang="en-US" sz="2800" dirty="0"/>
              <a:t>，若</a:t>
            </a:r>
            <a:r>
              <a:rPr lang="en-US" altLang="zh-CN" sz="2800" dirty="0"/>
              <a:t>Y</a:t>
            </a:r>
            <a:r>
              <a:rPr lang="zh-CN" altLang="en-US" sz="2800" dirty="0"/>
              <a:t>不属于</a:t>
            </a:r>
            <a:r>
              <a:rPr lang="en-US" altLang="zh-CN" sz="2800" dirty="0"/>
              <a:t>X</a:t>
            </a:r>
            <a:r>
              <a:rPr lang="zh-CN" altLang="en-US" sz="2800" dirty="0"/>
              <a:t>，则</a:t>
            </a:r>
            <a:r>
              <a:rPr lang="en-US" altLang="zh-CN" sz="2800" dirty="0"/>
              <a:t>X</a:t>
            </a:r>
            <a:r>
              <a:rPr lang="zh-CN" altLang="en-US" sz="2800" dirty="0"/>
              <a:t>必含有候选码，那么</a:t>
            </a:r>
            <a:r>
              <a:rPr lang="en-US" altLang="zh-CN" sz="2800" dirty="0"/>
              <a:t>R∈BCNF</a:t>
            </a:r>
            <a:r>
              <a:rPr lang="zh-CN" altLang="en-US" sz="2800" dirty="0"/>
              <a:t>。</a:t>
            </a:r>
            <a:endParaRPr lang="zh-CN" altLang="en-US" sz="2800" dirty="0"/>
          </a:p>
          <a:p>
            <a:pPr eaLnBrk="1" hangingPunct="1">
              <a:lnSpc>
                <a:spcPct val="90000"/>
              </a:lnSpc>
              <a:buFont typeface="Monotype Sorts" pitchFamily="2" charset="2"/>
              <a:buNone/>
            </a:pPr>
            <a:r>
              <a:rPr lang="zh-CN" altLang="en-US" sz="2800" dirty="0"/>
              <a:t>　</a:t>
            </a:r>
            <a:endParaRPr lang="zh-CN" altLang="en-US" sz="2800" dirty="0"/>
          </a:p>
        </p:txBody>
      </p:sp>
    </p:spTree>
  </p:cSld>
  <p:clrMapOvr>
    <a:masterClrMapping/>
  </p:clrMapOvr>
  <p:transition spd="slow">
    <p:wipe di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US" altLang="zh-CN" dirty="0"/>
              <a:t>6.2.6 BC</a:t>
            </a:r>
            <a:r>
              <a:rPr lang="zh-CN" altLang="en-US" dirty="0"/>
              <a:t>范式（</a:t>
            </a:r>
            <a:r>
              <a:rPr lang="en-US" altLang="zh-CN" dirty="0"/>
              <a:t>BCNF</a:t>
            </a:r>
            <a:r>
              <a:rPr lang="zh-CN" altLang="en-US" dirty="0"/>
              <a:t>） （续）</a:t>
            </a:r>
            <a:endParaRPr lang="zh-CN" altLang="en-US" dirty="0"/>
          </a:p>
        </p:txBody>
      </p:sp>
      <p:sp>
        <p:nvSpPr>
          <p:cNvPr id="92163" name="Rectangle 3"/>
          <p:cNvSpPr>
            <a:spLocks noGrp="1" noChangeArrowheads="1"/>
          </p:cNvSpPr>
          <p:nvPr>
            <p:ph idx="1"/>
          </p:nvPr>
        </p:nvSpPr>
        <p:spPr/>
        <p:txBody>
          <a:bodyPr/>
          <a:lstStyle/>
          <a:p>
            <a:pPr eaLnBrk="1" hangingPunct="1">
              <a:buFont typeface="Monotype Sorts" pitchFamily="2" charset="2"/>
              <a:buNone/>
            </a:pPr>
            <a:r>
              <a:rPr lang="en-US" altLang="zh-CN" dirty="0"/>
              <a:t>	</a:t>
            </a:r>
            <a:r>
              <a:rPr lang="zh-CN" altLang="en-US" dirty="0"/>
              <a:t>换句话说，在关系模式</a:t>
            </a:r>
            <a:r>
              <a:rPr lang="en-US" altLang="zh-CN" dirty="0"/>
              <a:t>R&lt;U</a:t>
            </a:r>
            <a:r>
              <a:rPr lang="zh-CN" altLang="en-US" dirty="0"/>
              <a:t>，</a:t>
            </a:r>
            <a:r>
              <a:rPr lang="en-US" altLang="zh-CN" dirty="0"/>
              <a:t>F&gt;</a:t>
            </a:r>
            <a:r>
              <a:rPr lang="zh-CN" altLang="en-US" dirty="0"/>
              <a:t>中，如果每一个决定属性集都包含候选码，则</a:t>
            </a:r>
            <a:r>
              <a:rPr lang="en-US" altLang="zh-CN" dirty="0"/>
              <a:t>R∈BCNF</a:t>
            </a:r>
            <a:r>
              <a:rPr lang="zh-CN" altLang="en-US" dirty="0"/>
              <a:t>。</a:t>
            </a:r>
            <a:endParaRPr lang="zh-CN" altLang="en-US" dirty="0"/>
          </a:p>
          <a:p>
            <a:pPr eaLnBrk="1" hangingPunct="1">
              <a:buFont typeface="Monotype Sorts" pitchFamily="2" charset="2"/>
              <a:buNone/>
            </a:pPr>
            <a:endParaRPr lang="zh-CN" altLang="en-US" dirty="0"/>
          </a:p>
          <a:p>
            <a:pPr eaLnBrk="1" hangingPunct="1">
              <a:buFont typeface="Monotype Sorts" pitchFamily="2" charset="2"/>
              <a:buNone/>
            </a:pPr>
            <a:r>
              <a:rPr lang="zh-CN" altLang="en-US" dirty="0"/>
              <a:t>例：	</a:t>
            </a:r>
            <a:r>
              <a:rPr lang="en-US" altLang="zh-CN" dirty="0"/>
              <a:t>STJ</a:t>
            </a:r>
            <a:r>
              <a:rPr lang="zh-CN" altLang="en-US" dirty="0"/>
              <a:t>（</a:t>
            </a:r>
            <a:r>
              <a:rPr lang="en-US" altLang="zh-CN" dirty="0"/>
              <a:t>S</a:t>
            </a:r>
            <a:r>
              <a:rPr lang="zh-CN" altLang="en-US" dirty="0"/>
              <a:t>，</a:t>
            </a:r>
            <a:r>
              <a:rPr lang="en-US" altLang="zh-CN" dirty="0"/>
              <a:t>T</a:t>
            </a:r>
            <a:r>
              <a:rPr lang="zh-CN" altLang="en-US" dirty="0"/>
              <a:t>，</a:t>
            </a:r>
            <a:r>
              <a:rPr lang="en-US" altLang="zh-CN" dirty="0"/>
              <a:t>J</a:t>
            </a:r>
            <a:r>
              <a:rPr lang="zh-CN" altLang="en-US" dirty="0"/>
              <a:t>）∈ </a:t>
            </a:r>
            <a:r>
              <a:rPr lang="en-US" altLang="zh-CN" dirty="0"/>
              <a:t>3NF</a:t>
            </a:r>
            <a:endParaRPr lang="en-US" altLang="zh-CN" dirty="0"/>
          </a:p>
          <a:p>
            <a:pPr eaLnBrk="1" hangingPunct="1">
              <a:buFont typeface="Monotype Sorts" pitchFamily="2" charset="2"/>
              <a:buNone/>
            </a:pPr>
            <a:r>
              <a:rPr lang="en-US" altLang="zh-CN" dirty="0"/>
              <a:t>		SJ</a:t>
            </a:r>
            <a:r>
              <a:rPr lang="zh-CN" altLang="en-US" dirty="0"/>
              <a:t>（</a:t>
            </a:r>
            <a:r>
              <a:rPr lang="en-US" altLang="zh-CN" dirty="0"/>
              <a:t>S</a:t>
            </a:r>
            <a:r>
              <a:rPr lang="zh-CN" altLang="en-US" dirty="0"/>
              <a:t>，</a:t>
            </a:r>
            <a:r>
              <a:rPr lang="en-US" altLang="zh-CN" dirty="0"/>
              <a:t>J</a:t>
            </a:r>
            <a:r>
              <a:rPr lang="zh-CN" altLang="en-US" dirty="0"/>
              <a:t>）∈ </a:t>
            </a:r>
            <a:r>
              <a:rPr lang="en-US" altLang="zh-CN" dirty="0"/>
              <a:t>BCNF</a:t>
            </a:r>
            <a:endParaRPr lang="en-US" altLang="zh-CN" dirty="0"/>
          </a:p>
          <a:p>
            <a:pPr eaLnBrk="1" hangingPunct="1">
              <a:buFont typeface="Monotype Sorts" pitchFamily="2" charset="2"/>
              <a:buNone/>
            </a:pPr>
            <a:r>
              <a:rPr lang="en-US" altLang="zh-CN" dirty="0"/>
              <a:t>		TJ</a:t>
            </a:r>
            <a:r>
              <a:rPr lang="zh-CN" altLang="en-US" dirty="0"/>
              <a:t>（</a:t>
            </a:r>
            <a:r>
              <a:rPr lang="en-US" altLang="zh-CN" dirty="0"/>
              <a:t>T</a:t>
            </a:r>
            <a:r>
              <a:rPr lang="zh-CN" altLang="en-US" dirty="0"/>
              <a:t>，</a:t>
            </a:r>
            <a:r>
              <a:rPr lang="en-US" altLang="zh-CN" dirty="0"/>
              <a:t>J</a:t>
            </a:r>
            <a:r>
              <a:rPr lang="zh-CN" altLang="en-US" dirty="0"/>
              <a:t>）∈ </a:t>
            </a:r>
            <a:r>
              <a:rPr lang="en-US" altLang="zh-CN" dirty="0"/>
              <a:t>BCNF</a:t>
            </a:r>
            <a:endParaRPr lang="en-US" altLang="zh-CN" dirty="0"/>
          </a:p>
        </p:txBody>
      </p:sp>
    </p:spTree>
  </p:cSld>
  <p:clrMapOvr>
    <a:masterClrMapping/>
  </p:clrMapOvr>
  <p:transition spd="slow">
    <p:wipe di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altLang="zh-CN" dirty="0"/>
              <a:t>6.2.6 BC</a:t>
            </a:r>
            <a:r>
              <a:rPr lang="zh-CN" altLang="en-US" dirty="0"/>
              <a:t>范式（</a:t>
            </a:r>
            <a:r>
              <a:rPr lang="en-US" altLang="zh-CN" dirty="0"/>
              <a:t>BCNF</a:t>
            </a:r>
            <a:r>
              <a:rPr lang="zh-CN" altLang="en-US" dirty="0"/>
              <a:t>） （续）</a:t>
            </a:r>
            <a:endParaRPr lang="zh-CN" altLang="en-US" dirty="0"/>
          </a:p>
        </p:txBody>
      </p:sp>
      <p:sp>
        <p:nvSpPr>
          <p:cNvPr id="93187" name="Rectangle 3"/>
          <p:cNvSpPr>
            <a:spLocks noGrp="1" noChangeArrowheads="1"/>
          </p:cNvSpPr>
          <p:nvPr>
            <p:ph idx="1"/>
          </p:nvPr>
        </p:nvSpPr>
        <p:spPr/>
        <p:txBody>
          <a:bodyPr/>
          <a:lstStyle/>
          <a:p>
            <a:pPr eaLnBrk="1" hangingPunct="1">
              <a:lnSpc>
                <a:spcPct val="110000"/>
              </a:lnSpc>
            </a:pPr>
            <a:r>
              <a:rPr lang="zh-CN" altLang="en-US" sz="2800" dirty="0"/>
              <a:t>采用投影分解法将一个</a:t>
            </a:r>
            <a:r>
              <a:rPr lang="en-US" altLang="zh-CN" sz="2800" dirty="0"/>
              <a:t>3NF</a:t>
            </a:r>
            <a:r>
              <a:rPr lang="zh-CN" altLang="en-US" sz="2800" dirty="0"/>
              <a:t>的关系分解为多个</a:t>
            </a:r>
            <a:r>
              <a:rPr lang="en-US" altLang="zh-CN" sz="2800" dirty="0"/>
              <a:t>BCNF</a:t>
            </a:r>
            <a:r>
              <a:rPr lang="zh-CN" altLang="en-US" sz="2800" dirty="0"/>
              <a:t>的关系，可以进一步解决原</a:t>
            </a:r>
            <a:r>
              <a:rPr lang="en-US" altLang="zh-CN" sz="2800" dirty="0"/>
              <a:t>3NF</a:t>
            </a:r>
            <a:r>
              <a:rPr lang="zh-CN" altLang="en-US" sz="2800" dirty="0"/>
              <a:t>关系中存在的插入异常、删除异常、数据冗余度大、修改复杂等问题。</a:t>
            </a:r>
            <a:endParaRPr lang="zh-CN" altLang="en-US" sz="2800" dirty="0"/>
          </a:p>
          <a:p>
            <a:pPr eaLnBrk="1" hangingPunct="1">
              <a:lnSpc>
                <a:spcPct val="90000"/>
              </a:lnSpc>
            </a:pPr>
            <a:endParaRPr lang="zh-CN" altLang="en-US" sz="2800" dirty="0"/>
          </a:p>
          <a:p>
            <a:pPr eaLnBrk="1" hangingPunct="1">
              <a:lnSpc>
                <a:spcPct val="110000"/>
              </a:lnSpc>
            </a:pPr>
            <a:r>
              <a:rPr lang="zh-CN" altLang="en-US" sz="2800" dirty="0"/>
              <a:t>如果关系模式</a:t>
            </a:r>
            <a:r>
              <a:rPr lang="en-US" altLang="zh-CN" sz="2800" dirty="0"/>
              <a:t>R∈BCNF</a:t>
            </a:r>
            <a:r>
              <a:rPr lang="zh-CN" altLang="en-US" sz="2800" dirty="0"/>
              <a:t>，必定有</a:t>
            </a:r>
            <a:r>
              <a:rPr lang="en-US" altLang="zh-CN" sz="2800" dirty="0"/>
              <a:t>R∈3NF</a:t>
            </a:r>
            <a:r>
              <a:rPr lang="zh-CN" altLang="en-US" sz="2800" dirty="0"/>
              <a:t>。</a:t>
            </a:r>
            <a:endParaRPr lang="zh-CN" altLang="en-US" sz="2800" dirty="0"/>
          </a:p>
          <a:p>
            <a:pPr eaLnBrk="1" hangingPunct="1">
              <a:lnSpc>
                <a:spcPct val="110000"/>
              </a:lnSpc>
            </a:pPr>
            <a:endParaRPr lang="zh-CN" altLang="en-US" sz="2400" dirty="0"/>
          </a:p>
        </p:txBody>
      </p:sp>
    </p:spTree>
  </p:cSld>
  <p:clrMapOvr>
    <a:masterClrMapping/>
  </p:clrMapOvr>
  <p:transition spd="slow">
    <p:wipe dir="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altLang="zh-CN" dirty="0"/>
              <a:t>6.2.6 BC</a:t>
            </a:r>
            <a:r>
              <a:rPr lang="zh-CN" altLang="en-US" dirty="0"/>
              <a:t>范式（</a:t>
            </a:r>
            <a:r>
              <a:rPr lang="en-US" altLang="zh-CN" dirty="0"/>
              <a:t>BCNF</a:t>
            </a:r>
            <a:r>
              <a:rPr lang="zh-CN" altLang="en-US" dirty="0"/>
              <a:t>） （续）</a:t>
            </a:r>
            <a:endParaRPr lang="zh-CN" altLang="en-US" dirty="0"/>
          </a:p>
        </p:txBody>
      </p:sp>
      <p:sp>
        <p:nvSpPr>
          <p:cNvPr id="94211" name="Rectangle 3"/>
          <p:cNvSpPr>
            <a:spLocks noGrp="1" noChangeArrowheads="1"/>
          </p:cNvSpPr>
          <p:nvPr>
            <p:ph idx="1"/>
          </p:nvPr>
        </p:nvSpPr>
        <p:spPr/>
        <p:txBody>
          <a:bodyPr/>
          <a:lstStyle/>
          <a:p>
            <a:pPr eaLnBrk="1" hangingPunct="1">
              <a:lnSpc>
                <a:spcPct val="110000"/>
              </a:lnSpc>
            </a:pPr>
            <a:r>
              <a:rPr lang="en-US" altLang="zh-CN" sz="2400" dirty="0"/>
              <a:t>BCNF</a:t>
            </a:r>
            <a:r>
              <a:rPr lang="zh-CN" altLang="en-US" sz="2400" dirty="0"/>
              <a:t>的关系模式所具有的性质</a:t>
            </a:r>
            <a:endParaRPr lang="zh-CN" altLang="en-US" sz="2400" dirty="0"/>
          </a:p>
          <a:p>
            <a:pPr lvl="1" eaLnBrk="1" hangingPunct="1">
              <a:lnSpc>
                <a:spcPct val="110000"/>
              </a:lnSpc>
              <a:buFontTx/>
              <a:buNone/>
            </a:pPr>
            <a:r>
              <a:rPr lang="zh-CN" altLang="en-US" sz="2000" dirty="0">
                <a:latin typeface="Arial" panose="020B0604020202020204" pitchFamily="34" charset="0"/>
                <a:ea typeface="宋体" panose="02010600030101010101" pitchFamily="2" charset="-122"/>
              </a:rPr>
              <a:t>⒈ 所有非主属性都完全函数依赖于每个候选码。</a:t>
            </a:r>
            <a:endParaRPr lang="zh-CN" altLang="en-US" sz="2000" dirty="0">
              <a:latin typeface="Arial" panose="020B0604020202020204" pitchFamily="34" charset="0"/>
              <a:ea typeface="宋体" panose="02010600030101010101" pitchFamily="2" charset="-122"/>
            </a:endParaRPr>
          </a:p>
          <a:p>
            <a:pPr lvl="1" eaLnBrk="1" hangingPunct="1">
              <a:lnSpc>
                <a:spcPct val="110000"/>
              </a:lnSpc>
              <a:buFontTx/>
              <a:buNone/>
            </a:pPr>
            <a:r>
              <a:rPr lang="zh-CN" altLang="en-US" sz="2000" dirty="0">
                <a:latin typeface="Arial" panose="020B0604020202020204" pitchFamily="34" charset="0"/>
                <a:ea typeface="宋体" panose="02010600030101010101" pitchFamily="2" charset="-122"/>
              </a:rPr>
              <a:t>⒉ 所有主属性都完全函数依赖于每个不包含它的候选码。</a:t>
            </a:r>
            <a:endParaRPr lang="zh-CN" altLang="en-US" sz="2000" dirty="0">
              <a:latin typeface="Arial" panose="020B0604020202020204" pitchFamily="34" charset="0"/>
              <a:ea typeface="宋体" panose="02010600030101010101" pitchFamily="2" charset="-122"/>
            </a:endParaRPr>
          </a:p>
          <a:p>
            <a:pPr lvl="1" eaLnBrk="1" hangingPunct="1">
              <a:lnSpc>
                <a:spcPct val="110000"/>
              </a:lnSpc>
              <a:buFontTx/>
              <a:buNone/>
            </a:pPr>
            <a:r>
              <a:rPr lang="zh-CN" altLang="en-US" sz="2000" dirty="0">
                <a:latin typeface="Arial" panose="020B0604020202020204" pitchFamily="34" charset="0"/>
                <a:ea typeface="宋体" panose="02010600030101010101" pitchFamily="2" charset="-122"/>
              </a:rPr>
              <a:t>⒊ 没有任何属性完全函数依赖于非码的任何一组属性。</a:t>
            </a:r>
            <a:endParaRPr lang="en-US" altLang="zh-CN" sz="2000" dirty="0">
              <a:latin typeface="Arial" panose="020B0604020202020204" pitchFamily="34" charset="0"/>
              <a:ea typeface="宋体" panose="02010600030101010101" pitchFamily="2" charset="-122"/>
            </a:endParaRPr>
          </a:p>
          <a:p>
            <a:pPr lvl="1" eaLnBrk="1" hangingPunct="1">
              <a:lnSpc>
                <a:spcPct val="110000"/>
              </a:lnSpc>
              <a:buFontTx/>
              <a:buNone/>
            </a:pPr>
            <a:endParaRPr lang="zh-CN" altLang="en-US" sz="2000" dirty="0">
              <a:latin typeface="Arial" panose="020B0604020202020204" pitchFamily="34" charset="0"/>
              <a:ea typeface="宋体" panose="02010600030101010101" pitchFamily="2" charset="-122"/>
            </a:endParaRPr>
          </a:p>
          <a:p>
            <a:pPr eaLnBrk="1" hangingPunct="1"/>
            <a:r>
              <a:rPr lang="zh-CN" altLang="en-US" sz="2400" dirty="0"/>
              <a:t>如果一个关系数据库中的所有关系模式都属于</a:t>
            </a:r>
            <a:r>
              <a:rPr lang="en-US" altLang="zh-CN" sz="2400" dirty="0"/>
              <a:t>BCNF</a:t>
            </a:r>
            <a:r>
              <a:rPr lang="zh-CN" altLang="en-US" sz="2400" dirty="0"/>
              <a:t>，那么</a:t>
            </a:r>
            <a:r>
              <a:rPr lang="zh-CN" altLang="en-US" sz="2400" dirty="0">
                <a:solidFill>
                  <a:srgbClr val="FF0000"/>
                </a:solidFill>
              </a:rPr>
              <a:t>在函数依赖范畴</a:t>
            </a:r>
            <a:r>
              <a:rPr lang="zh-CN" altLang="en-US" sz="2400" dirty="0"/>
              <a:t>内，它已实现了模式的彻底分解，达到了</a:t>
            </a:r>
            <a:r>
              <a:rPr lang="zh-CN" altLang="en-US" sz="2400" dirty="0">
                <a:solidFill>
                  <a:srgbClr val="FF0000"/>
                </a:solidFill>
              </a:rPr>
              <a:t>最高的规范化</a:t>
            </a:r>
            <a:r>
              <a:rPr lang="zh-CN" altLang="en-US" sz="2400" dirty="0"/>
              <a:t>程度，消除了插入异常和删除异常。</a:t>
            </a:r>
            <a:endParaRPr lang="zh-CN" altLang="en-US" sz="2400" dirty="0"/>
          </a:p>
        </p:txBody>
      </p:sp>
    </p:spTree>
  </p:cSld>
  <p:clrMapOvr>
    <a:masterClrMapping/>
  </p:clrMapOvr>
  <p:transition spd="slow">
    <p:wipe dir="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dirty="0"/>
              <a:t>思考：</a:t>
            </a:r>
            <a:r>
              <a:rPr lang="en-US" altLang="zh-CN" dirty="0"/>
              <a:t>2NF-&gt;3NF-&gt;BCNF</a:t>
            </a:r>
            <a:endParaRPr lang="zh-CN" altLang="en-US" dirty="0"/>
          </a:p>
        </p:txBody>
      </p:sp>
      <p:sp>
        <p:nvSpPr>
          <p:cNvPr id="15363" name="内容占位符 2"/>
          <p:cNvSpPr>
            <a:spLocks noGrp="1"/>
          </p:cNvSpPr>
          <p:nvPr>
            <p:ph idx="1"/>
          </p:nvPr>
        </p:nvSpPr>
        <p:spPr/>
        <p:txBody>
          <a:bodyPr/>
          <a:lstStyle/>
          <a:p>
            <a:r>
              <a:rPr lang="zh-CN" altLang="en-US" dirty="0"/>
              <a:t>简单记忆：</a:t>
            </a:r>
            <a:br>
              <a:rPr lang="en-US" altLang="zh-CN" dirty="0"/>
            </a:br>
            <a:r>
              <a:rPr lang="en-US" altLang="zh-CN" dirty="0"/>
              <a:t>2NF</a:t>
            </a:r>
            <a:r>
              <a:rPr lang="zh-CN" altLang="en-US" dirty="0"/>
              <a:t>消除了非主属性到码的</a:t>
            </a:r>
            <a:r>
              <a:rPr lang="zh-CN" altLang="en-US" dirty="0">
                <a:solidFill>
                  <a:srgbClr val="FF0000"/>
                </a:solidFill>
              </a:rPr>
              <a:t>部分</a:t>
            </a:r>
            <a:r>
              <a:rPr lang="zh-CN" altLang="en-US" dirty="0"/>
              <a:t>函数依赖；</a:t>
            </a:r>
            <a:br>
              <a:rPr lang="en-US" altLang="zh-CN" dirty="0"/>
            </a:br>
            <a:r>
              <a:rPr lang="en-US" altLang="zh-CN" dirty="0"/>
              <a:t>3NF</a:t>
            </a:r>
            <a:r>
              <a:rPr lang="zh-CN" altLang="en-US" dirty="0"/>
              <a:t>消除了非主属性到码的</a:t>
            </a:r>
            <a:r>
              <a:rPr lang="zh-CN" altLang="en-US" dirty="0">
                <a:solidFill>
                  <a:srgbClr val="FF0000"/>
                </a:solidFill>
              </a:rPr>
              <a:t>传递</a:t>
            </a:r>
            <a:r>
              <a:rPr lang="zh-CN" altLang="en-US" dirty="0"/>
              <a:t>函数依赖；</a:t>
            </a:r>
            <a:br>
              <a:rPr lang="en-US" altLang="zh-CN" dirty="0"/>
            </a:br>
            <a:r>
              <a:rPr lang="en-US" altLang="zh-CN" dirty="0"/>
              <a:t>BCNF</a:t>
            </a:r>
            <a:r>
              <a:rPr lang="zh-CN" altLang="en-US" dirty="0"/>
              <a:t>要求每一个</a:t>
            </a:r>
            <a:r>
              <a:rPr lang="zh-CN" altLang="en-US" dirty="0">
                <a:solidFill>
                  <a:srgbClr val="FF0000"/>
                </a:solidFill>
              </a:rPr>
              <a:t>决定因素都包含码</a:t>
            </a:r>
            <a:endParaRPr lang="en-US" altLang="zh-CN" dirty="0">
              <a:solidFill>
                <a:srgbClr val="FF0000"/>
              </a:solidFill>
            </a:endParaRPr>
          </a:p>
          <a:p>
            <a:endParaRPr lang="en-US" altLang="zh-CN" dirty="0"/>
          </a:p>
          <a:p>
            <a:r>
              <a:rPr lang="zh-CN" altLang="en-US" dirty="0"/>
              <a:t>试证明：</a:t>
            </a:r>
            <a:endParaRPr lang="en-US" altLang="zh-CN" dirty="0"/>
          </a:p>
          <a:p>
            <a:pPr lvl="1"/>
            <a:r>
              <a:rPr lang="zh-CN" altLang="en-US" dirty="0"/>
              <a:t>若</a:t>
            </a:r>
            <a:r>
              <a:rPr lang="en-US" altLang="zh-CN" dirty="0"/>
              <a:t>R</a:t>
            </a:r>
            <a:r>
              <a:rPr lang="zh-CN" altLang="en-US" dirty="0"/>
              <a:t>属于</a:t>
            </a:r>
            <a:r>
              <a:rPr lang="en-US" altLang="zh-CN" dirty="0"/>
              <a:t>3NF</a:t>
            </a:r>
            <a:r>
              <a:rPr lang="zh-CN" altLang="en-US" dirty="0"/>
              <a:t>，则必有</a:t>
            </a:r>
            <a:r>
              <a:rPr lang="en-US" altLang="zh-CN" dirty="0"/>
              <a:t>R</a:t>
            </a:r>
            <a:r>
              <a:rPr lang="zh-CN" altLang="en-US" dirty="0"/>
              <a:t>属于</a:t>
            </a:r>
            <a:r>
              <a:rPr lang="en-US" altLang="zh-CN" dirty="0"/>
              <a:t>2NF</a:t>
            </a:r>
            <a:endParaRPr lang="en-US" altLang="zh-CN" dirty="0"/>
          </a:p>
          <a:p>
            <a:pPr lvl="1"/>
            <a:r>
              <a:rPr lang="zh-CN" altLang="en-US" dirty="0"/>
              <a:t>若</a:t>
            </a:r>
            <a:r>
              <a:rPr lang="en-US" altLang="zh-CN" dirty="0"/>
              <a:t>R</a:t>
            </a:r>
            <a:r>
              <a:rPr lang="zh-CN" altLang="en-US" dirty="0"/>
              <a:t>属于</a:t>
            </a:r>
            <a:r>
              <a:rPr lang="en-US" altLang="zh-CN" dirty="0"/>
              <a:t>BCNF</a:t>
            </a:r>
            <a:r>
              <a:rPr lang="zh-CN" altLang="en-US" dirty="0"/>
              <a:t>，则必有</a:t>
            </a:r>
            <a:r>
              <a:rPr lang="en-US" altLang="zh-CN" dirty="0"/>
              <a:t>R</a:t>
            </a:r>
            <a:r>
              <a:rPr lang="zh-CN" altLang="en-US" dirty="0"/>
              <a:t>属于</a:t>
            </a:r>
            <a:r>
              <a:rPr lang="en-US" altLang="zh-CN" dirty="0"/>
              <a:t>3NF</a:t>
            </a:r>
            <a:endParaRPr lang="en-US" altLang="zh-CN" dirty="0"/>
          </a:p>
          <a:p>
            <a:endParaRPr lang="en-US" altLang="zh-CN" dirty="0"/>
          </a:p>
          <a:p>
            <a:endParaRPr lang="en-US" altLang="zh-CN" dirty="0"/>
          </a:p>
          <a:p>
            <a:endParaRPr lang="en-US" altLang="zh-CN" dirty="0"/>
          </a:p>
          <a:p>
            <a:endParaRPr lang="zh-CN" altLang="en-US" dirty="0"/>
          </a:p>
        </p:txBody>
      </p:sp>
    </p:spTree>
  </p:cSld>
  <p:clrMapOvr>
    <a:masterClrMapping/>
  </p:clrMapOvr>
  <p:transition spd="slow">
    <p:wipe di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若</a:t>
            </a:r>
            <a:r>
              <a:rPr lang="en-US" altLang="zh-CN" dirty="0"/>
              <a:t>R</a:t>
            </a:r>
            <a:r>
              <a:rPr lang="zh-CN" altLang="en-US" dirty="0"/>
              <a:t>属于</a:t>
            </a:r>
            <a:r>
              <a:rPr lang="en-US" altLang="zh-CN" dirty="0"/>
              <a:t>3NF</a:t>
            </a:r>
            <a:r>
              <a:rPr lang="zh-CN" altLang="en-US" dirty="0"/>
              <a:t>，则必有</a:t>
            </a:r>
            <a:r>
              <a:rPr lang="en-US" altLang="zh-CN" dirty="0"/>
              <a:t>R</a:t>
            </a:r>
            <a:r>
              <a:rPr lang="zh-CN" altLang="en-US" dirty="0"/>
              <a:t>属于</a:t>
            </a:r>
            <a:r>
              <a:rPr lang="en-US" altLang="zh-CN" dirty="0"/>
              <a:t>2NF</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证明</a:t>
                </a:r>
                <a:r>
                  <a:rPr lang="en-US" altLang="zh-CN" dirty="0">
                    <a:sym typeface="Wingdings" panose="05000000000000000000" pitchFamily="2" charset="2"/>
                  </a:rPr>
                  <a:t>: (</a:t>
                </a:r>
                <a:r>
                  <a:rPr lang="zh-CN" altLang="en-US" dirty="0">
                    <a:sym typeface="Wingdings" panose="05000000000000000000" pitchFamily="2" charset="2"/>
                  </a:rPr>
                  <a:t>反证</a:t>
                </a:r>
                <a:r>
                  <a:rPr lang="en-US" altLang="zh-CN" dirty="0">
                    <a:sym typeface="Wingdings" panose="05000000000000000000" pitchFamily="2" charset="2"/>
                  </a:rPr>
                  <a:t>)</a:t>
                </a:r>
                <a:endParaRPr lang="en-US" altLang="zh-CN" dirty="0">
                  <a:sym typeface="Wingdings" panose="05000000000000000000" pitchFamily="2" charset="2"/>
                </a:endParaRPr>
              </a:p>
              <a:p>
                <a:r>
                  <a:rPr lang="zh-CN" altLang="en-US" dirty="0">
                    <a:sym typeface="Wingdings" panose="05000000000000000000" pitchFamily="2" charset="2"/>
                  </a:rPr>
                  <a:t>若不成立</a:t>
                </a:r>
                <a:r>
                  <a:rPr lang="en-US" altLang="zh-CN" dirty="0">
                    <a:sym typeface="Wingdings" panose="05000000000000000000" pitchFamily="2" charset="2"/>
                  </a:rPr>
                  <a:t>, F</a:t>
                </a:r>
                <a:r>
                  <a:rPr lang="zh-CN" altLang="en-US" dirty="0">
                    <a:sym typeface="Wingdings" panose="05000000000000000000" pitchFamily="2" charset="2"/>
                  </a:rPr>
                  <a:t>中一定存在一个非主属性</a:t>
                </a:r>
                <a:r>
                  <a:rPr lang="en-US" altLang="zh-CN" dirty="0">
                    <a:sym typeface="Wingdings" panose="05000000000000000000" pitchFamily="2" charset="2"/>
                  </a:rPr>
                  <a:t>Y</a:t>
                </a:r>
                <a:r>
                  <a:rPr lang="zh-CN" altLang="en-US" dirty="0">
                    <a:sym typeface="Wingdings" panose="05000000000000000000" pitchFamily="2" charset="2"/>
                  </a:rPr>
                  <a:t>，并且</a:t>
                </a:r>
                <a:r>
                  <a:rPr lang="en-US" altLang="zh-CN" dirty="0">
                    <a:sym typeface="Wingdings" panose="05000000000000000000" pitchFamily="2" charset="2"/>
                  </a:rPr>
                  <a:t>Y</a:t>
                </a:r>
                <a:r>
                  <a:rPr lang="zh-CN" altLang="en-US" dirty="0">
                    <a:sym typeface="Wingdings" panose="05000000000000000000" pitchFamily="2" charset="2"/>
                  </a:rPr>
                  <a:t>部分函数依赖于某个候选码</a:t>
                </a:r>
                <a:r>
                  <a:rPr lang="en-US" altLang="zh-CN" dirty="0">
                    <a:sym typeface="Wingdings" panose="05000000000000000000" pitchFamily="2" charset="2"/>
                  </a:rPr>
                  <a:t>K.</a:t>
                </a:r>
                <a:endParaRPr lang="en-US" altLang="zh-CN" dirty="0">
                  <a:sym typeface="Wingdings" panose="05000000000000000000" pitchFamily="2" charset="2"/>
                </a:endParaRPr>
              </a:p>
              <a:p>
                <a:r>
                  <a:rPr lang="zh-CN" altLang="en-US" dirty="0">
                    <a:sym typeface="Wingdings" panose="05000000000000000000" pitchFamily="2" charset="2"/>
                  </a:rPr>
                  <a:t>则必然存在一个属性集</a:t>
                </a:r>
                <a:r>
                  <a:rPr lang="en-US" altLang="zh-CN" dirty="0"/>
                  <a:t> </a:t>
                </a:r>
                <a14:m>
                  <m:oMath xmlns:m="http://schemas.openxmlformats.org/officeDocument/2006/math">
                    <m:r>
                      <a:rPr lang="en-US" altLang="zh-CN" b="1" i="0" smtClean="0">
                        <a:latin typeface="Cambria Math" panose="02040503050406030204" pitchFamily="18" charset="0"/>
                      </a:rPr>
                      <m:t>𝐗</m:t>
                    </m:r>
                    <m:r>
                      <a:rPr lang="en-US" altLang="zh-CN" b="1" i="1" smtClean="0">
                        <a:latin typeface="Cambria Math" panose="02040503050406030204" pitchFamily="18" charset="0"/>
                      </a:rPr>
                      <m:t>⊂</m:t>
                    </m:r>
                    <m:r>
                      <a:rPr lang="en-US" altLang="zh-CN" b="1" i="0" smtClean="0">
                        <a:latin typeface="Cambria Math" panose="02040503050406030204" pitchFamily="18" charset="0"/>
                      </a:rPr>
                      <m:t>𝐊</m:t>
                    </m:r>
                    <m:r>
                      <a:rPr lang="zh-CN" altLang="en-US" i="1">
                        <a:latin typeface="Cambria Math" panose="02040503050406030204" pitchFamily="18" charset="0"/>
                      </a:rPr>
                      <m:t>，</m:t>
                    </m:r>
                  </m:oMath>
                </a14:m>
                <a:r>
                  <a:rPr lang="zh-CN" altLang="en-US" dirty="0"/>
                  <a:t>且</a:t>
                </a:r>
                <a:r>
                  <a:rPr lang="en-US" altLang="zh-CN" dirty="0"/>
                  <a:t>X-&gt;Y </a:t>
                </a:r>
                <a:endParaRPr lang="en-US" altLang="zh-CN" dirty="0">
                  <a:sym typeface="Wingdings" panose="05000000000000000000" pitchFamily="2" charset="2"/>
                </a:endParaRPr>
              </a:p>
              <a:p>
                <a:r>
                  <a:rPr lang="zh-CN" altLang="en-US" dirty="0">
                    <a:sym typeface="Wingdings" panose="05000000000000000000" pitchFamily="2" charset="2"/>
                  </a:rPr>
                  <a:t>那么</a:t>
                </a:r>
                <a:r>
                  <a:rPr lang="en-US" altLang="zh-CN" dirty="0">
                    <a:sym typeface="Wingdings" panose="05000000000000000000" pitchFamily="2" charset="2"/>
                  </a:rPr>
                  <a:t>,K-&gt;X,X -/-&gt;K</a:t>
                </a:r>
                <a:r>
                  <a:rPr lang="zh-CN" altLang="en-US" dirty="0">
                    <a:sym typeface="Wingdings" panose="05000000000000000000" pitchFamily="2" charset="2"/>
                  </a:rPr>
                  <a:t>（</a:t>
                </a:r>
                <a:r>
                  <a:rPr lang="en-US" altLang="zh-CN" dirty="0">
                    <a:solidFill>
                      <a:srgbClr val="FF0000"/>
                    </a:solidFill>
                    <a:sym typeface="Wingdings" panose="05000000000000000000" pitchFamily="2" charset="2"/>
                  </a:rPr>
                  <a:t>why?</a:t>
                </a:r>
                <a:r>
                  <a:rPr lang="en-US" altLang="zh-CN" dirty="0">
                    <a:sym typeface="Wingdings" panose="05000000000000000000" pitchFamily="2" charset="2"/>
                  </a:rPr>
                  <a:t>), X-&gt;Y , </a:t>
                </a:r>
                <a:r>
                  <a:rPr lang="zh-CN" altLang="en-US" dirty="0">
                    <a:sym typeface="Wingdings" panose="05000000000000000000" pitchFamily="2" charset="2"/>
                  </a:rPr>
                  <a:t>且 </a:t>
                </a:r>
                <a:r>
                  <a:rPr lang="en-US" altLang="zh-CN" dirty="0">
                    <a:sym typeface="Wingdings" panose="05000000000000000000" pitchFamily="2" charset="2"/>
                  </a:rPr>
                  <a:t>Y</a:t>
                </a:r>
                <a:r>
                  <a:rPr lang="zh-CN" altLang="en-US" dirty="0">
                    <a:sym typeface="Wingdings" panose="05000000000000000000" pitchFamily="2" charset="2"/>
                  </a:rPr>
                  <a:t>不是</a:t>
                </a:r>
                <a:r>
                  <a:rPr lang="en-US" altLang="zh-CN" dirty="0">
                    <a:sym typeface="Wingdings" panose="05000000000000000000" pitchFamily="2" charset="2"/>
                  </a:rPr>
                  <a:t>X</a:t>
                </a:r>
                <a:r>
                  <a:rPr lang="zh-CN" altLang="en-US" dirty="0">
                    <a:sym typeface="Wingdings" panose="05000000000000000000" pitchFamily="2" charset="2"/>
                  </a:rPr>
                  <a:t>的子集（注意：</a:t>
                </a:r>
                <a:r>
                  <a:rPr lang="en-US" altLang="zh-CN" dirty="0">
                    <a:sym typeface="Wingdings" panose="05000000000000000000" pitchFamily="2" charset="2"/>
                  </a:rPr>
                  <a:t>Y</a:t>
                </a:r>
                <a:r>
                  <a:rPr lang="zh-CN" altLang="en-US" dirty="0">
                    <a:sym typeface="Wingdings" panose="05000000000000000000" pitchFamily="2" charset="2"/>
                  </a:rPr>
                  <a:t>是非主属性）</a:t>
                </a:r>
                <a:endParaRPr lang="en-US" altLang="zh-CN" dirty="0">
                  <a:sym typeface="Wingdings" panose="05000000000000000000" pitchFamily="2" charset="2"/>
                </a:endParaRPr>
              </a:p>
              <a:p>
                <a:r>
                  <a:rPr lang="zh-CN" altLang="en-US" dirty="0">
                    <a:sym typeface="Wingdings" panose="05000000000000000000" pitchFamily="2" charset="2"/>
                  </a:rPr>
                  <a:t>所以该关系不属于</a:t>
                </a:r>
                <a:r>
                  <a:rPr lang="en-US" altLang="zh-CN" dirty="0">
                    <a:sym typeface="Wingdings" panose="05000000000000000000" pitchFamily="2" charset="2"/>
                  </a:rPr>
                  <a:t>3NF,</a:t>
                </a:r>
                <a:r>
                  <a:rPr lang="zh-CN" altLang="en-US" dirty="0">
                    <a:sym typeface="Wingdings" panose="05000000000000000000" pitchFamily="2" charset="2"/>
                  </a:rPr>
                  <a:t>与假设矛盾</a:t>
                </a:r>
                <a:r>
                  <a:rPr lang="en-US" altLang="zh-CN" dirty="0">
                    <a:sym typeface="Wingdings" panose="05000000000000000000" pitchFamily="2" charset="2"/>
                  </a:rPr>
                  <a:t>.</a:t>
                </a:r>
                <a:endParaRPr lang="en-US" altLang="zh-CN" dirty="0">
                  <a:sym typeface="Wingdings" panose="05000000000000000000" pitchFamily="2" charset="2"/>
                </a:endParaRPr>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7" t="-9" b="-6693"/>
                </a:stretch>
              </a:blipFill>
            </p:spPr>
            <p:txBody>
              <a:bodyPr/>
              <a:lstStyle/>
              <a:p>
                <a:r>
                  <a:rPr lang="zh-CN" altLang="en-US">
                    <a:noFill/>
                  </a:rPr>
                  <a:t> </a:t>
                </a:r>
              </a:p>
            </p:txBody>
          </p:sp>
        </mc:Fallback>
      </mc:AlternateContent>
      <p:pic>
        <p:nvPicPr>
          <p:cNvPr id="5" name="图片 4"/>
          <p:cNvPicPr>
            <a:picLocks noChangeAspect="1"/>
          </p:cNvPicPr>
          <p:nvPr/>
        </p:nvPicPr>
        <p:blipFill>
          <a:blip r:embed="rId2"/>
          <a:stretch>
            <a:fillRect/>
          </a:stretch>
        </p:blipFill>
        <p:spPr>
          <a:xfrm>
            <a:off x="2843530" y="843280"/>
            <a:ext cx="6168390" cy="505460"/>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722313" y="-18"/>
            <a:ext cx="7772400" cy="714380"/>
          </a:xfrm>
        </p:spPr>
        <p:txBody>
          <a:bodyPr/>
          <a:lstStyle/>
          <a:p>
            <a:pPr algn="ctr" eaLnBrk="1" hangingPunct="1"/>
            <a:r>
              <a:rPr lang="en-US" altLang="zh-CN" sz="3600" dirty="0"/>
              <a:t>6.2.9  </a:t>
            </a:r>
            <a:r>
              <a:rPr lang="zh-CN" altLang="en-US" sz="3600" dirty="0"/>
              <a:t>规范化小结</a:t>
            </a:r>
            <a:endParaRPr lang="zh-CN" altLang="en-US" sz="3600" dirty="0"/>
          </a:p>
        </p:txBody>
      </p:sp>
      <p:sp>
        <p:nvSpPr>
          <p:cNvPr id="95235" name="Rectangle 3"/>
          <p:cNvSpPr>
            <a:spLocks noGrp="1" noChangeArrowheads="1"/>
          </p:cNvSpPr>
          <p:nvPr>
            <p:ph idx="1"/>
          </p:nvPr>
        </p:nvSpPr>
        <p:spPr>
          <a:xfrm>
            <a:off x="722313" y="642924"/>
            <a:ext cx="7772400" cy="4286280"/>
          </a:xfrm>
        </p:spPr>
        <p:txBody>
          <a:bodyPr/>
          <a:lstStyle/>
          <a:p>
            <a:pPr eaLnBrk="1" hangingPunct="1">
              <a:spcBef>
                <a:spcPts val="0"/>
              </a:spcBef>
            </a:pPr>
            <a:r>
              <a:rPr lang="en-US" altLang="zh-CN" sz="2800" dirty="0"/>
              <a:t>6.2.1 </a:t>
            </a:r>
            <a:r>
              <a:rPr lang="zh-CN" altLang="en-US" sz="2800" dirty="0"/>
              <a:t>函数依赖</a:t>
            </a:r>
            <a:endParaRPr lang="en-US" altLang="zh-CN" sz="2800" dirty="0"/>
          </a:p>
          <a:p>
            <a:pPr eaLnBrk="1" hangingPunct="1">
              <a:spcBef>
                <a:spcPts val="0"/>
              </a:spcBef>
            </a:pPr>
            <a:r>
              <a:rPr lang="en-US" altLang="zh-CN" sz="2800" dirty="0"/>
              <a:t>6.2.2 </a:t>
            </a:r>
            <a:r>
              <a:rPr lang="zh-CN" altLang="en-US" sz="2800" dirty="0"/>
              <a:t>码</a:t>
            </a:r>
            <a:endParaRPr lang="en-US" altLang="zh-CN" sz="2800" dirty="0"/>
          </a:p>
          <a:p>
            <a:pPr eaLnBrk="1" hangingPunct="1">
              <a:spcBef>
                <a:spcPts val="0"/>
              </a:spcBef>
            </a:pPr>
            <a:r>
              <a:rPr lang="en-US" altLang="zh-CN" sz="2800" dirty="0"/>
              <a:t>6.2.3 </a:t>
            </a:r>
            <a:r>
              <a:rPr lang="zh-CN" altLang="en-US" sz="2800" dirty="0"/>
              <a:t>范式</a:t>
            </a:r>
            <a:endParaRPr lang="en-US" altLang="zh-CN" sz="2800" dirty="0"/>
          </a:p>
          <a:p>
            <a:pPr eaLnBrk="1" hangingPunct="1">
              <a:spcBef>
                <a:spcPts val="0"/>
              </a:spcBef>
            </a:pPr>
            <a:r>
              <a:rPr lang="en-US" altLang="zh-CN" sz="2800" dirty="0"/>
              <a:t>6.2.4 2NF</a:t>
            </a:r>
            <a:endParaRPr lang="en-US" altLang="zh-CN" sz="2800" dirty="0"/>
          </a:p>
          <a:p>
            <a:pPr eaLnBrk="1" hangingPunct="1">
              <a:spcBef>
                <a:spcPts val="0"/>
              </a:spcBef>
            </a:pPr>
            <a:r>
              <a:rPr lang="en-US" altLang="zh-CN" sz="2800" dirty="0"/>
              <a:t>6.2.5 3NF</a:t>
            </a:r>
            <a:endParaRPr lang="en-US" altLang="zh-CN" sz="2800" dirty="0"/>
          </a:p>
          <a:p>
            <a:pPr eaLnBrk="1" hangingPunct="1">
              <a:spcBef>
                <a:spcPts val="0"/>
              </a:spcBef>
            </a:pPr>
            <a:r>
              <a:rPr lang="en-US" altLang="zh-CN" sz="2800" dirty="0"/>
              <a:t>6.2.6 BC</a:t>
            </a:r>
            <a:r>
              <a:rPr lang="zh-CN" altLang="en-US" sz="2800" dirty="0"/>
              <a:t>范式（</a:t>
            </a:r>
            <a:r>
              <a:rPr lang="en-US" altLang="zh-CN" sz="2800" dirty="0"/>
              <a:t>BCNF</a:t>
            </a:r>
            <a:r>
              <a:rPr lang="zh-CN" altLang="en-US" sz="2800" dirty="0"/>
              <a:t>）</a:t>
            </a:r>
            <a:endParaRPr lang="zh-CN" altLang="en-US" sz="2800" dirty="0"/>
          </a:p>
          <a:p>
            <a:pPr eaLnBrk="1" hangingPunct="1">
              <a:spcBef>
                <a:spcPts val="0"/>
              </a:spcBef>
            </a:pPr>
            <a:r>
              <a:rPr lang="zh-CN" altLang="en-US" sz="2800" dirty="0"/>
              <a:t>*</a:t>
            </a:r>
            <a:r>
              <a:rPr lang="en-US" altLang="zh-CN" sz="2800" dirty="0"/>
              <a:t>6.2.7 </a:t>
            </a:r>
            <a:r>
              <a:rPr lang="zh-CN" altLang="en-US" sz="2800" dirty="0"/>
              <a:t>多值依赖</a:t>
            </a:r>
            <a:endParaRPr lang="en-US" altLang="zh-CN" sz="2800" dirty="0"/>
          </a:p>
          <a:p>
            <a:pPr eaLnBrk="1" hangingPunct="1">
              <a:spcBef>
                <a:spcPts val="0"/>
              </a:spcBef>
            </a:pPr>
            <a:r>
              <a:rPr lang="zh-CN" altLang="en-US" sz="2800" dirty="0"/>
              <a:t>*</a:t>
            </a:r>
            <a:r>
              <a:rPr lang="en-US" altLang="zh-CN" sz="2800" dirty="0"/>
              <a:t>6.2.8 4NF</a:t>
            </a:r>
            <a:endParaRPr lang="zh-CN" altLang="en-US" sz="2800" dirty="0"/>
          </a:p>
          <a:p>
            <a:pPr eaLnBrk="1" hangingPunct="1">
              <a:spcBef>
                <a:spcPts val="0"/>
              </a:spcBef>
            </a:pPr>
            <a:r>
              <a:rPr lang="en-US" altLang="zh-CN" sz="2800" dirty="0">
                <a:solidFill>
                  <a:srgbClr val="FF0000"/>
                </a:solidFill>
              </a:rPr>
              <a:t>6.2.9 </a:t>
            </a:r>
            <a:r>
              <a:rPr lang="zh-CN" altLang="en-US" sz="2800" dirty="0">
                <a:solidFill>
                  <a:srgbClr val="FF0000"/>
                </a:solidFill>
              </a:rPr>
              <a:t>规范化小结</a:t>
            </a:r>
            <a:endParaRPr lang="zh-CN" altLang="en-US" sz="2800" dirty="0">
              <a:solidFill>
                <a:srgbClr val="FF0000"/>
              </a:solidFill>
            </a:endParaRPr>
          </a:p>
          <a:p>
            <a:pPr eaLnBrk="1" hangingPunct="1">
              <a:spcBef>
                <a:spcPts val="0"/>
              </a:spcBef>
            </a:pPr>
            <a:endParaRPr lang="en-US" altLang="zh-CN" sz="2800" dirty="0"/>
          </a:p>
        </p:txBody>
      </p:sp>
    </p:spTree>
  </p:cSld>
  <p:clrMapOvr>
    <a:masterClrMapping/>
  </p:clrMapOvr>
  <p:transition spd="slow">
    <p:wipe dir="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r>
              <a:rPr lang="zh-CN" altLang="en-US"/>
              <a:t>规范化小结（续）</a:t>
            </a:r>
            <a:endParaRPr lang="zh-CN" altLang="en-US"/>
          </a:p>
        </p:txBody>
      </p:sp>
      <p:sp>
        <p:nvSpPr>
          <p:cNvPr id="124931" name="Rectangle 3"/>
          <p:cNvSpPr>
            <a:spLocks noGrp="1" noChangeArrowheads="1"/>
          </p:cNvSpPr>
          <p:nvPr>
            <p:ph idx="1"/>
          </p:nvPr>
        </p:nvSpPr>
        <p:spPr>
          <a:xfrm>
            <a:off x="285720" y="823913"/>
            <a:ext cx="8401080" cy="3640931"/>
          </a:xfrm>
        </p:spPr>
        <p:txBody>
          <a:bodyPr/>
          <a:lstStyle/>
          <a:p>
            <a:pPr eaLnBrk="1" hangingPunct="1">
              <a:spcAft>
                <a:spcPct val="40000"/>
              </a:spcAft>
            </a:pPr>
            <a:r>
              <a:rPr lang="zh-CN" altLang="en-US" sz="2000" dirty="0"/>
              <a:t>一个关系只要其分量都是不可分的数据项，它就是规范化的关系，但这只是最基本的规范化。</a:t>
            </a:r>
            <a:endParaRPr lang="zh-CN" altLang="en-US" sz="2000" dirty="0"/>
          </a:p>
          <a:p>
            <a:pPr eaLnBrk="1" hangingPunct="1">
              <a:spcAft>
                <a:spcPct val="40000"/>
              </a:spcAft>
            </a:pPr>
            <a:r>
              <a:rPr lang="zh-CN" altLang="en-US" sz="2000" dirty="0"/>
              <a:t>规范化程度过低的关系不一定能够很好地描述现实世界，可能会存在插入异常、删除异常、修改复杂、数据冗余等问题，解决方法就是对其进行规范化，转换成高级范式。</a:t>
            </a:r>
            <a:endParaRPr lang="zh-CN" altLang="en-US" sz="2000" dirty="0"/>
          </a:p>
          <a:p>
            <a:pPr eaLnBrk="1" hangingPunct="1">
              <a:spcAft>
                <a:spcPct val="40000"/>
              </a:spcAft>
            </a:pPr>
            <a:r>
              <a:rPr lang="zh-CN" altLang="en-US" sz="2000" dirty="0"/>
              <a:t>一个低一级范式的关系模式，通过模式分解可以转换为若干个高一级范式的关系模式集合，这种过程就叫</a:t>
            </a:r>
            <a:r>
              <a:rPr lang="zh-CN" altLang="en-US" sz="2000" dirty="0">
                <a:solidFill>
                  <a:schemeClr val="accent2"/>
                </a:solidFill>
              </a:rPr>
              <a:t>关系模式的规范化</a:t>
            </a:r>
            <a:r>
              <a:rPr lang="zh-CN" altLang="en-US" sz="2000" dirty="0"/>
              <a:t>。</a:t>
            </a:r>
            <a:endParaRPr lang="zh-CN" altLang="en-US" sz="2000" dirty="0"/>
          </a:p>
          <a:p>
            <a:pPr eaLnBrk="1" hangingPunct="1">
              <a:spcAft>
                <a:spcPct val="40000"/>
              </a:spcAft>
            </a:pPr>
            <a:r>
              <a:rPr lang="zh-CN" altLang="en-US" sz="2000" dirty="0"/>
              <a:t>关系数据库的规范化理论是数据库逻辑设计的工具。</a:t>
            </a:r>
            <a:endParaRPr lang="zh-CN" altLang="en-US" sz="2000" dirty="0"/>
          </a:p>
        </p:txBody>
      </p:sp>
    </p:spTree>
  </p:cSld>
  <p:clrMapOvr>
    <a:masterClrMapping/>
  </p:clrMapOvr>
  <p:transition spd="slow">
    <p:wipe di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5"/>
          <p:cNvSpPr>
            <a:spLocks noChangeArrowheads="1"/>
          </p:cNvSpPr>
          <p:nvPr/>
        </p:nvSpPr>
        <p:spPr bwMode="auto">
          <a:xfrm>
            <a:off x="457200" y="1275606"/>
            <a:ext cx="8043890" cy="3028950"/>
          </a:xfrm>
          <a:prstGeom prst="rect">
            <a:avLst/>
          </a:prstGeom>
        </p:spPr>
        <p:style>
          <a:lnRef idx="1">
            <a:schemeClr val="accent3"/>
          </a:lnRef>
          <a:fillRef idx="2">
            <a:schemeClr val="accent3"/>
          </a:fillRef>
          <a:effectRef idx="1">
            <a:schemeClr val="accent3"/>
          </a:effectRef>
          <a:fontRef idx="minor">
            <a:schemeClr val="dk1"/>
          </a:fontRef>
        </p:style>
        <p:txBody>
          <a:bodyPr wrap="none" lIns="90000" tIns="46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125955" name="Rectangle 2"/>
          <p:cNvSpPr>
            <a:spLocks noGrp="1" noChangeArrowheads="1"/>
          </p:cNvSpPr>
          <p:nvPr>
            <p:ph type="title"/>
          </p:nvPr>
        </p:nvSpPr>
        <p:spPr/>
        <p:txBody>
          <a:bodyPr/>
          <a:lstStyle/>
          <a:p>
            <a:pPr eaLnBrk="1" hangingPunct="1"/>
            <a:r>
              <a:rPr lang="zh-CN" altLang="en-US"/>
              <a:t>规范化小结（续）</a:t>
            </a:r>
            <a:endParaRPr lang="zh-CN" altLang="en-US"/>
          </a:p>
        </p:txBody>
      </p:sp>
      <p:sp>
        <p:nvSpPr>
          <p:cNvPr id="125956" name="Rectangle 3"/>
          <p:cNvSpPr>
            <a:spLocks noGrp="1" noChangeArrowheads="1"/>
          </p:cNvSpPr>
          <p:nvPr>
            <p:ph idx="1"/>
          </p:nvPr>
        </p:nvSpPr>
        <p:spPr>
          <a:xfrm>
            <a:off x="457200" y="843558"/>
            <a:ext cx="8229600" cy="432048"/>
          </a:xfrm>
        </p:spPr>
        <p:txBody>
          <a:bodyPr/>
          <a:lstStyle/>
          <a:p>
            <a:pPr eaLnBrk="1" hangingPunct="1">
              <a:lnSpc>
                <a:spcPct val="90000"/>
              </a:lnSpc>
            </a:pPr>
            <a:r>
              <a:rPr lang="zh-CN" altLang="en-US" sz="2000" dirty="0"/>
              <a:t>关系模式规范化的基本步骤</a:t>
            </a:r>
            <a:endParaRPr lang="zh-CN" altLang="en-US" sz="2000" dirty="0"/>
          </a:p>
          <a:p>
            <a:pPr eaLnBrk="1" hangingPunct="1">
              <a:lnSpc>
                <a:spcPct val="90000"/>
              </a:lnSpc>
              <a:buFont typeface="Monotype Sorts" pitchFamily="2" charset="2"/>
              <a:buNone/>
            </a:pPr>
            <a:r>
              <a:rPr lang="zh-CN" altLang="en-US" sz="2000" dirty="0"/>
              <a:t>                         </a:t>
            </a:r>
            <a:r>
              <a:rPr lang="en-US" altLang="zh-CN" sz="2000" dirty="0"/>
              <a:t>1NF</a:t>
            </a:r>
            <a:endParaRPr lang="en-US" altLang="zh-CN" sz="2000" dirty="0"/>
          </a:p>
          <a:p>
            <a:pPr eaLnBrk="1" hangingPunct="1">
              <a:lnSpc>
                <a:spcPct val="90000"/>
              </a:lnSpc>
              <a:buFont typeface="Monotype Sorts" pitchFamily="2" charset="2"/>
              <a:buNone/>
            </a:pPr>
            <a:r>
              <a:rPr lang="en-US" altLang="zh-CN" sz="2000" dirty="0"/>
              <a:t>                	 ↓  </a:t>
            </a:r>
            <a:r>
              <a:rPr lang="zh-CN" altLang="en-US" sz="2000" dirty="0"/>
              <a:t>消除非主属性对码的部分函数依赖</a:t>
            </a:r>
            <a:endParaRPr lang="zh-CN" altLang="en-US" sz="2000" dirty="0"/>
          </a:p>
          <a:p>
            <a:pPr eaLnBrk="1" hangingPunct="1">
              <a:lnSpc>
                <a:spcPct val="90000"/>
              </a:lnSpc>
              <a:buFont typeface="Monotype Sorts" pitchFamily="2" charset="2"/>
              <a:buNone/>
            </a:pPr>
            <a:r>
              <a:rPr lang="zh-CN" altLang="en-US" sz="2000" dirty="0"/>
              <a:t>消除决定属性   </a:t>
            </a:r>
            <a:r>
              <a:rPr lang="en-US" altLang="zh-CN" sz="2000" dirty="0"/>
              <a:t>2NF</a:t>
            </a:r>
            <a:endParaRPr lang="en-US" altLang="zh-CN" sz="2000" dirty="0"/>
          </a:p>
          <a:p>
            <a:pPr eaLnBrk="1" hangingPunct="1">
              <a:lnSpc>
                <a:spcPct val="90000"/>
              </a:lnSpc>
              <a:buFont typeface="Monotype Sorts" pitchFamily="2" charset="2"/>
              <a:buNone/>
            </a:pPr>
            <a:r>
              <a:rPr lang="zh-CN" altLang="en-US" sz="2000" dirty="0"/>
              <a:t>集非码的非平     ↓  消除非主属性对码的传递函数依赖</a:t>
            </a:r>
            <a:endParaRPr lang="zh-CN" altLang="en-US" sz="2000" dirty="0"/>
          </a:p>
          <a:p>
            <a:pPr eaLnBrk="1" hangingPunct="1">
              <a:lnSpc>
                <a:spcPct val="90000"/>
              </a:lnSpc>
              <a:buFont typeface="Monotype Sorts" pitchFamily="2" charset="2"/>
              <a:buNone/>
            </a:pPr>
            <a:r>
              <a:rPr lang="zh-CN" altLang="en-US" sz="2000" dirty="0"/>
              <a:t>凡函数依赖       </a:t>
            </a:r>
            <a:r>
              <a:rPr lang="en-US" altLang="zh-CN" sz="2000" dirty="0"/>
              <a:t>3NF</a:t>
            </a:r>
            <a:endParaRPr lang="en-US" altLang="zh-CN" sz="2000" dirty="0"/>
          </a:p>
          <a:p>
            <a:pPr eaLnBrk="1" hangingPunct="1">
              <a:lnSpc>
                <a:spcPct val="90000"/>
              </a:lnSpc>
              <a:buFont typeface="Monotype Sorts" pitchFamily="2" charset="2"/>
              <a:buNone/>
            </a:pPr>
            <a:r>
              <a:rPr lang="en-US" altLang="zh-CN" sz="2000" dirty="0"/>
              <a:t>                	 ↓  </a:t>
            </a:r>
            <a:r>
              <a:rPr lang="zh-CN" altLang="en-US" sz="2000" dirty="0"/>
              <a:t>消除主属性对码的部分和传递函数依赖</a:t>
            </a:r>
            <a:endParaRPr lang="zh-CN" altLang="en-US" sz="2000" dirty="0"/>
          </a:p>
          <a:p>
            <a:pPr eaLnBrk="1" hangingPunct="1">
              <a:lnSpc>
                <a:spcPct val="90000"/>
              </a:lnSpc>
              <a:buFont typeface="Monotype Sorts" pitchFamily="2" charset="2"/>
              <a:buNone/>
            </a:pPr>
            <a:r>
              <a:rPr lang="zh-CN" altLang="en-US" sz="2000" dirty="0"/>
              <a:t>               	  </a:t>
            </a:r>
            <a:r>
              <a:rPr lang="en-US" altLang="zh-CN" sz="2000" dirty="0"/>
              <a:t>BCNF </a:t>
            </a:r>
            <a:endParaRPr lang="en-US" altLang="zh-CN" sz="2000" dirty="0"/>
          </a:p>
          <a:p>
            <a:pPr eaLnBrk="1" hangingPunct="1">
              <a:lnSpc>
                <a:spcPct val="90000"/>
              </a:lnSpc>
              <a:buFont typeface="Monotype Sorts" pitchFamily="2" charset="2"/>
              <a:buNone/>
            </a:pPr>
            <a:r>
              <a:rPr lang="en-US" altLang="zh-CN" sz="2000" dirty="0"/>
              <a:t>                	 ↓  </a:t>
            </a:r>
            <a:r>
              <a:rPr lang="zh-CN" altLang="en-US" sz="2000" dirty="0"/>
              <a:t>消除非平凡且非函数依赖的多值依赖</a:t>
            </a:r>
            <a:endParaRPr lang="zh-CN" altLang="en-US" sz="2000" dirty="0"/>
          </a:p>
          <a:p>
            <a:pPr eaLnBrk="1" hangingPunct="1">
              <a:lnSpc>
                <a:spcPct val="90000"/>
              </a:lnSpc>
              <a:buFont typeface="Monotype Sorts" pitchFamily="2" charset="2"/>
              <a:buNone/>
            </a:pPr>
            <a:r>
              <a:rPr lang="zh-CN" altLang="en-US" sz="2000" dirty="0"/>
              <a:t>               	  </a:t>
            </a:r>
            <a:r>
              <a:rPr lang="en-US" altLang="zh-CN" sz="2000" dirty="0"/>
              <a:t>4NF</a:t>
            </a:r>
            <a:endParaRPr lang="en-US" altLang="zh-CN" sz="2000" dirty="0"/>
          </a:p>
        </p:txBody>
      </p:sp>
      <p:sp>
        <p:nvSpPr>
          <p:cNvPr id="125957" name="Line 4"/>
          <p:cNvSpPr>
            <a:spLocks noChangeShapeType="1"/>
          </p:cNvSpPr>
          <p:nvPr/>
        </p:nvSpPr>
        <p:spPr bwMode="auto">
          <a:xfrm flipH="1">
            <a:off x="2214546" y="1275606"/>
            <a:ext cx="0" cy="2016224"/>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cxnSp>
        <p:nvCxnSpPr>
          <p:cNvPr id="3" name="直接连接符 2"/>
          <p:cNvCxnSpPr/>
          <p:nvPr/>
        </p:nvCxnSpPr>
        <p:spPr bwMode="auto">
          <a:xfrm flipH="1">
            <a:off x="2051720" y="3291830"/>
            <a:ext cx="432048" cy="0"/>
          </a:xfrm>
          <a:prstGeom prst="line">
            <a:avLst/>
          </a:prstGeom>
          <a:noFill/>
          <a:ln w="57150" cap="flat" cmpd="sng" algn="ctr">
            <a:solidFill>
              <a:schemeClr val="tx1"/>
            </a:solidFill>
            <a:prstDash val="sysDot"/>
            <a:round/>
            <a:headEnd type="none" w="med" len="med"/>
            <a:tailEnd type="none" w="med" len="med"/>
          </a:ln>
          <a:effectLst/>
        </p:spPr>
      </p:cxnSp>
    </p:spTree>
  </p:cSld>
  <p:clrMapOvr>
    <a:masterClrMapping/>
  </p:clrMapOvr>
  <p:transition spd="slow">
    <p:wipe dir="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eaLnBrk="1" hangingPunct="1"/>
            <a:r>
              <a:rPr lang="zh-CN" altLang="en-US"/>
              <a:t>规范化小结（续）</a:t>
            </a:r>
            <a:endParaRPr lang="zh-CN" altLang="en-US"/>
          </a:p>
        </p:txBody>
      </p:sp>
      <p:sp>
        <p:nvSpPr>
          <p:cNvPr id="126979" name="Rectangle 3"/>
          <p:cNvSpPr>
            <a:spLocks noGrp="1" noChangeArrowheads="1"/>
          </p:cNvSpPr>
          <p:nvPr>
            <p:ph idx="1"/>
          </p:nvPr>
        </p:nvSpPr>
        <p:spPr>
          <a:xfrm>
            <a:off x="285720" y="823913"/>
            <a:ext cx="8401080" cy="3640931"/>
          </a:xfrm>
        </p:spPr>
        <p:txBody>
          <a:bodyPr/>
          <a:lstStyle/>
          <a:p>
            <a:pPr eaLnBrk="1" hangingPunct="1"/>
            <a:r>
              <a:rPr lang="zh-CN" altLang="en-US" dirty="0"/>
              <a:t>规范化的基本思想</a:t>
            </a:r>
            <a:r>
              <a:rPr lang="en-US" altLang="zh-CN" dirty="0"/>
              <a:t>:</a:t>
            </a:r>
            <a:endParaRPr lang="en-US" altLang="zh-CN" dirty="0"/>
          </a:p>
          <a:p>
            <a:pPr lvl="1" eaLnBrk="1" hangingPunct="1"/>
            <a:r>
              <a:rPr lang="zh-CN" altLang="en-US" dirty="0"/>
              <a:t>逐步消除数据依赖中不合适的部分，使模式中的各关系模式达到某种程度的“分离”</a:t>
            </a:r>
            <a:endParaRPr lang="zh-CN" altLang="en-US" dirty="0"/>
          </a:p>
          <a:p>
            <a:pPr lvl="1" eaLnBrk="1" hangingPunct="1"/>
            <a:r>
              <a:rPr lang="zh-CN" altLang="en-US" dirty="0" smtClean="0"/>
              <a:t>即采用“一事一地”的模式设计原则</a:t>
            </a:r>
            <a:endParaRPr lang="zh-CN" altLang="en-US" dirty="0" smtClean="0"/>
          </a:p>
          <a:p>
            <a:pPr lvl="2" eaLnBrk="1" hangingPunct="1">
              <a:buFont typeface="Wingdings" panose="05000000000000000000" pitchFamily="2" charset="2"/>
              <a:buChar char="l"/>
            </a:pPr>
            <a:r>
              <a:rPr lang="zh-CN" altLang="en-US" sz="1800" dirty="0" smtClean="0"/>
              <a:t>让一个关系描述一个概念、一个实体或者实体间的一种联系。</a:t>
            </a:r>
            <a:endParaRPr lang="zh-CN" altLang="en-US" sz="1800" dirty="0" smtClean="0"/>
          </a:p>
          <a:p>
            <a:pPr lvl="2" eaLnBrk="1" hangingPunct="1">
              <a:buFont typeface="Wingdings" panose="05000000000000000000" pitchFamily="2" charset="2"/>
              <a:buChar char="l"/>
            </a:pPr>
            <a:r>
              <a:rPr lang="zh-CN" altLang="en-US" sz="1800" dirty="0" smtClean="0"/>
              <a:t>若多于一个概念就把它“分离”出去。</a:t>
            </a:r>
            <a:endParaRPr lang="zh-CN" altLang="en-US" sz="1800" dirty="0" smtClean="0"/>
          </a:p>
          <a:p>
            <a:pPr lvl="1" eaLnBrk="1" hangingPunct="1"/>
            <a:r>
              <a:rPr lang="zh-CN" altLang="en-US" dirty="0" smtClean="0"/>
              <a:t>因此</a:t>
            </a:r>
            <a:r>
              <a:rPr lang="zh-CN" altLang="en-US" dirty="0"/>
              <a:t>所谓规范化实质上是概念的单一化。</a:t>
            </a:r>
            <a:endParaRPr lang="zh-CN" altLang="en-US" dirty="0"/>
          </a:p>
        </p:txBody>
      </p:sp>
    </p:spTree>
  </p:cSld>
  <p:clrMapOvr>
    <a:masterClrMapping/>
  </p:clrMapOvr>
  <p:transition spd="slow">
    <p:wipe dir="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eaLnBrk="1" hangingPunct="1"/>
            <a:r>
              <a:rPr lang="zh-CN" altLang="en-US"/>
              <a:t>规范化小结（续）</a:t>
            </a:r>
            <a:endParaRPr lang="zh-CN" altLang="en-US"/>
          </a:p>
        </p:txBody>
      </p:sp>
      <p:sp>
        <p:nvSpPr>
          <p:cNvPr id="128003" name="Rectangle 3"/>
          <p:cNvSpPr>
            <a:spLocks noGrp="1" noChangeArrowheads="1"/>
          </p:cNvSpPr>
          <p:nvPr>
            <p:ph idx="1"/>
          </p:nvPr>
        </p:nvSpPr>
        <p:spPr/>
        <p:txBody>
          <a:bodyPr/>
          <a:lstStyle/>
          <a:p>
            <a:pPr lvl="1" eaLnBrk="1" hangingPunct="1"/>
            <a:r>
              <a:rPr lang="zh-CN" altLang="en-US" dirty="0"/>
              <a:t>不能说规范化程度越高的关系模式就越好。</a:t>
            </a:r>
            <a:endParaRPr lang="zh-CN" altLang="en-US" dirty="0"/>
          </a:p>
          <a:p>
            <a:pPr lvl="2" eaLnBrk="1" hangingPunct="1">
              <a:lnSpc>
                <a:spcPct val="150000"/>
              </a:lnSpc>
              <a:spcBef>
                <a:spcPts val="0"/>
              </a:spcBef>
              <a:buFont typeface="Wingdings" panose="05000000000000000000" pitchFamily="2" charset="2"/>
              <a:buChar char="l"/>
            </a:pPr>
            <a:r>
              <a:rPr lang="zh-CN" altLang="en-US" sz="2200" dirty="0"/>
              <a:t>在设计数据库模式结构时，必须对现实世界的实际情况和用户应用需求作进一步分析，确定一个合适的、能够反映现实世界的模式。</a:t>
            </a:r>
            <a:endParaRPr lang="zh-CN" altLang="en-US" sz="2200" dirty="0"/>
          </a:p>
          <a:p>
            <a:pPr lvl="2" eaLnBrk="1" hangingPunct="1">
              <a:lnSpc>
                <a:spcPct val="150000"/>
              </a:lnSpc>
              <a:spcBef>
                <a:spcPts val="0"/>
              </a:spcBef>
              <a:buFont typeface="Wingdings" panose="05000000000000000000" pitchFamily="2" charset="2"/>
              <a:buChar char="l"/>
            </a:pPr>
            <a:r>
              <a:rPr lang="zh-CN" altLang="en-US" sz="2200" dirty="0"/>
              <a:t>这也就是说，上面的规范化步骤可以在其中任何一步终止。</a:t>
            </a:r>
            <a:endParaRPr lang="zh-CN" altLang="en-US" sz="2200" dirty="0"/>
          </a:p>
        </p:txBody>
      </p:sp>
    </p:spTree>
  </p:cSld>
  <p:clrMapOvr>
    <a:masterClrMapping/>
  </p:clrMapOvr>
  <p:transition spd="slow">
    <p:wipe dir="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讨论：规范化的程度</a:t>
            </a:r>
            <a:endParaRPr lang="zh-CN" altLang="en-US" dirty="0"/>
          </a:p>
        </p:txBody>
      </p:sp>
      <p:sp>
        <p:nvSpPr>
          <p:cNvPr id="3" name="内容占位符 2"/>
          <p:cNvSpPr>
            <a:spLocks noGrp="1"/>
          </p:cNvSpPr>
          <p:nvPr>
            <p:ph idx="1"/>
          </p:nvPr>
        </p:nvSpPr>
        <p:spPr>
          <a:xfrm>
            <a:off x="251460" y="771525"/>
            <a:ext cx="8673465" cy="3641090"/>
          </a:xfrm>
        </p:spPr>
        <p:txBody>
          <a:bodyPr/>
          <a:lstStyle/>
          <a:p>
            <a:r>
              <a:rPr lang="zh-CN" altLang="en-US" dirty="0"/>
              <a:t>在实际生产中，如何决定规范化步骤终止在哪一步？是否有对于规范化程度是否合理的衡量标准？</a:t>
            </a:r>
            <a:endParaRPr lang="zh-CN" altLang="en-US" dirty="0"/>
          </a:p>
          <a:p>
            <a:endParaRPr lang="zh-CN" altLang="en-US" dirty="0"/>
          </a:p>
          <a:p>
            <a:r>
              <a:rPr lang="zh-CN" altLang="en-US" dirty="0"/>
              <a:t>在实践中，也很难在数据库设计阶段就能做出很好的平衡，因为并不知道业务的具体情况。</a:t>
            </a:r>
            <a:endParaRPr lang="en-US" altLang="zh-CN" dirty="0"/>
          </a:p>
          <a:p>
            <a:r>
              <a:rPr lang="zh-CN" altLang="en-US" dirty="0"/>
              <a:t>通常依据经验性结论，比如一般</a:t>
            </a:r>
            <a:r>
              <a:rPr lang="en-US" altLang="zh-CN" dirty="0"/>
              <a:t>3NF</a:t>
            </a:r>
            <a:r>
              <a:rPr lang="zh-CN" altLang="en-US" dirty="0"/>
              <a:t>就够了。</a:t>
            </a:r>
            <a:endParaRPr lang="en-US" altLang="zh-CN" dirty="0"/>
          </a:p>
          <a:p>
            <a:endParaRPr lang="en-US" altLang="zh-CN" dirty="0"/>
          </a:p>
          <a:p>
            <a:endParaRPr lang="en-US" altLang="zh-CN" dirty="0"/>
          </a:p>
          <a:p>
            <a:endParaRPr lang="en-US" altLang="zh-CN" dirty="0"/>
          </a:p>
          <a:p>
            <a:endParaRPr lang="en-US" altLang="zh-CN"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142844" y="-71456"/>
            <a:ext cx="8401080" cy="853679"/>
          </a:xfrm>
        </p:spPr>
        <p:txBody>
          <a:bodyPr/>
          <a:lstStyle/>
          <a:p>
            <a:pPr eaLnBrk="1" hangingPunct="1"/>
            <a:r>
              <a:rPr lang="zh-CN" altLang="en-US" dirty="0"/>
              <a:t>思考题</a:t>
            </a:r>
            <a:endParaRPr lang="zh-CN" altLang="en-US" dirty="0"/>
          </a:p>
        </p:txBody>
      </p:sp>
      <p:sp>
        <p:nvSpPr>
          <p:cNvPr id="129027" name="Rectangle 3"/>
          <p:cNvSpPr>
            <a:spLocks noGrp="1" noChangeArrowheads="1"/>
          </p:cNvSpPr>
          <p:nvPr>
            <p:ph idx="1"/>
          </p:nvPr>
        </p:nvSpPr>
        <p:spPr/>
        <p:txBody>
          <a:bodyPr/>
          <a:lstStyle/>
          <a:p>
            <a:pPr marL="609600" indent="-609600" eaLnBrk="1" hangingPunct="1">
              <a:buFont typeface="Monotype Sorts" pitchFamily="2" charset="2"/>
              <a:buAutoNum type="arabicPeriod"/>
            </a:pPr>
            <a:r>
              <a:rPr lang="zh-CN" altLang="en-US" dirty="0"/>
              <a:t>在关系数据库中，任意一个二元关系模式</a:t>
            </a:r>
            <a:r>
              <a:rPr lang="en-US" altLang="zh-CN" dirty="0"/>
              <a:t>R</a:t>
            </a:r>
            <a:r>
              <a:rPr lang="zh-CN" altLang="en-US" dirty="0"/>
              <a:t>至少可以达到</a:t>
            </a:r>
            <a:r>
              <a:rPr lang="en-US" altLang="zh-CN" dirty="0"/>
              <a:t>?NF</a:t>
            </a:r>
            <a:endParaRPr lang="en-US" altLang="zh-CN" dirty="0"/>
          </a:p>
          <a:p>
            <a:pPr marL="609600" indent="-609600" eaLnBrk="1" hangingPunct="1">
              <a:buFont typeface="Monotype Sorts" pitchFamily="2" charset="2"/>
              <a:buAutoNum type="arabicPeriod"/>
            </a:pPr>
            <a:endParaRPr lang="en-US" altLang="zh-CN" sz="2000" dirty="0"/>
          </a:p>
          <a:p>
            <a:pPr marL="609600" indent="-609600" eaLnBrk="1" hangingPunct="1">
              <a:buFont typeface="Monotype Sorts" pitchFamily="2" charset="2"/>
              <a:buAutoNum type="arabicPeriod"/>
            </a:pPr>
            <a:endParaRPr lang="zh-CN" altLang="en-US" dirty="0"/>
          </a:p>
          <a:p>
            <a:pPr marL="609600" indent="-609600" eaLnBrk="1" hangingPunct="1">
              <a:buFont typeface="Monotype Sorts" pitchFamily="2" charset="2"/>
              <a:buAutoNum type="arabicPeriod"/>
            </a:pPr>
            <a:r>
              <a:rPr lang="zh-CN" altLang="en-US" dirty="0"/>
              <a:t>如果一个关系模式</a:t>
            </a:r>
            <a:r>
              <a:rPr lang="en-US" altLang="zh-CN" dirty="0"/>
              <a:t>R</a:t>
            </a:r>
            <a:r>
              <a:rPr lang="zh-CN" altLang="en-US" dirty="0"/>
              <a:t>中的属性全部是主属性，则</a:t>
            </a:r>
            <a:r>
              <a:rPr lang="en-US" altLang="zh-CN" dirty="0"/>
              <a:t>R</a:t>
            </a:r>
            <a:r>
              <a:rPr lang="zh-CN" altLang="en-US" dirty="0"/>
              <a:t>至少可以达到</a:t>
            </a:r>
            <a:r>
              <a:rPr lang="en-US" altLang="zh-CN" dirty="0"/>
              <a:t>?NF</a:t>
            </a:r>
            <a:endParaRPr lang="en-US" altLang="zh-CN" dirty="0"/>
          </a:p>
          <a:p>
            <a:pPr marL="609600" indent="-609600" eaLnBrk="1" hangingPunct="1">
              <a:buFont typeface="Monotype Sorts" pitchFamily="2" charset="2"/>
              <a:buAutoNum type="arabicPeriod"/>
            </a:pPr>
            <a:endParaRPr lang="en-US" altLang="zh-CN" sz="2000" dirty="0"/>
          </a:p>
          <a:p>
            <a:pPr marL="609600" indent="-609600" eaLnBrk="1" hangingPunct="1">
              <a:buFont typeface="Monotype Sorts" pitchFamily="2" charset="2"/>
              <a:buAutoNum type="arabicPeriod"/>
            </a:pPr>
            <a:endParaRPr lang="en-US" altLang="zh-CN" dirty="0"/>
          </a:p>
        </p:txBody>
      </p:sp>
      <p:sp>
        <p:nvSpPr>
          <p:cNvPr id="2" name="文本框 1"/>
          <p:cNvSpPr txBox="1"/>
          <p:nvPr/>
        </p:nvSpPr>
        <p:spPr>
          <a:xfrm>
            <a:off x="611505" y="2067560"/>
            <a:ext cx="6692265" cy="368300"/>
          </a:xfrm>
          <a:prstGeom prst="rect">
            <a:avLst/>
          </a:prstGeom>
          <a:noFill/>
        </p:spPr>
        <p:txBody>
          <a:bodyPr wrap="square" rtlCol="0" anchor="t">
            <a:spAutoFit/>
          </a:bodyPr>
          <a:p>
            <a:r>
              <a:rPr lang="en-US" altLang="zh-CN">
                <a:sym typeface="+mn-ea"/>
              </a:rPr>
              <a:t> BCNF, R(A,B)</a:t>
            </a:r>
            <a:r>
              <a:rPr lang="zh-CN" altLang="en-US">
                <a:sym typeface="+mn-ea"/>
              </a:rPr>
              <a:t>，</a:t>
            </a:r>
            <a:r>
              <a:rPr lang="en-US" altLang="zh-CN">
                <a:sym typeface="+mn-ea"/>
              </a:rPr>
              <a:t> </a:t>
            </a:r>
            <a:r>
              <a:rPr lang="zh-CN" altLang="en-US">
                <a:sym typeface="+mn-ea"/>
              </a:rPr>
              <a:t>要么为全码，要么</a:t>
            </a:r>
            <a:r>
              <a:rPr lang="en-US" altLang="zh-CN">
                <a:sym typeface="+mn-ea"/>
              </a:rPr>
              <a:t>A</a:t>
            </a:r>
            <a:r>
              <a:rPr lang="zh-CN" altLang="en-US">
                <a:sym typeface="+mn-ea"/>
              </a:rPr>
              <a:t>为码。两者都满足</a:t>
            </a:r>
            <a:r>
              <a:rPr lang="en-US" altLang="zh-CN">
                <a:sym typeface="+mn-ea"/>
              </a:rPr>
              <a:t>BCNF</a:t>
            </a:r>
            <a:endParaRPr lang="en-US" altLang="zh-CN">
              <a:sym typeface="+mn-ea"/>
            </a:endParaRPr>
          </a:p>
        </p:txBody>
      </p:sp>
      <p:sp>
        <p:nvSpPr>
          <p:cNvPr id="3" name="文本框 2"/>
          <p:cNvSpPr txBox="1"/>
          <p:nvPr/>
        </p:nvSpPr>
        <p:spPr>
          <a:xfrm>
            <a:off x="467360" y="3794760"/>
            <a:ext cx="8361680" cy="645160"/>
          </a:xfrm>
          <a:prstGeom prst="rect">
            <a:avLst/>
          </a:prstGeom>
          <a:noFill/>
        </p:spPr>
        <p:txBody>
          <a:bodyPr wrap="square" rtlCol="0" anchor="t">
            <a:spAutoFit/>
          </a:bodyPr>
          <a:p>
            <a:r>
              <a:rPr lang="en-US" altLang="zh-CN">
                <a:sym typeface="+mn-ea"/>
              </a:rPr>
              <a:t>3NF</a:t>
            </a:r>
            <a:r>
              <a:rPr lang="zh-CN" altLang="en-US">
                <a:sym typeface="+mn-ea"/>
              </a:rPr>
              <a:t>。因为定义里面有</a:t>
            </a:r>
            <a:r>
              <a:rPr lang="en-US" altLang="zh-CN">
                <a:sym typeface="+mn-ea"/>
              </a:rPr>
              <a:t>“</a:t>
            </a:r>
            <a:r>
              <a:rPr lang="zh-CN" altLang="en-US">
                <a:sym typeface="+mn-ea"/>
              </a:rPr>
              <a:t>非主属性</a:t>
            </a:r>
            <a:r>
              <a:rPr lang="en-US" altLang="zh-CN">
                <a:sym typeface="+mn-ea"/>
              </a:rPr>
              <a:t>”</a:t>
            </a:r>
            <a:r>
              <a:rPr lang="zh-CN" altLang="en-US">
                <a:sym typeface="+mn-ea"/>
              </a:rPr>
              <a:t>。</a:t>
            </a:r>
            <a:endParaRPr lang="zh-CN" altLang="en-US">
              <a:sym typeface="+mn-ea"/>
            </a:endParaRPr>
          </a:p>
          <a:p>
            <a:r>
              <a:rPr lang="zh-CN" altLang="en-US">
                <a:sym typeface="+mn-ea"/>
              </a:rPr>
              <a:t>但不一定满足</a:t>
            </a:r>
            <a:r>
              <a:rPr lang="en-US" altLang="zh-CN">
                <a:sym typeface="+mn-ea"/>
              </a:rPr>
              <a:t>BCNF</a:t>
            </a:r>
            <a:r>
              <a:rPr lang="zh-CN" altLang="en-US">
                <a:sym typeface="+mn-ea"/>
              </a:rPr>
              <a:t>。</a:t>
            </a:r>
            <a:r>
              <a:rPr lang="en-US" altLang="zh-CN">
                <a:sym typeface="+mn-ea"/>
              </a:rPr>
              <a:t>Why</a:t>
            </a:r>
            <a:r>
              <a:rPr lang="zh-CN" altLang="en-US">
                <a:sym typeface="+mn-ea"/>
              </a:rPr>
              <a:t>？</a:t>
            </a:r>
            <a:endParaRPr lang="zh-CN" altLang="en-US">
              <a:sym typeface="+mn-ea"/>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dirty="0">
                <a:sym typeface="+mn-ea"/>
              </a:rPr>
              <a:t>如果一个关系模式</a:t>
            </a:r>
            <a:r>
              <a:rPr lang="en-US" altLang="zh-CN" sz="2000" dirty="0">
                <a:sym typeface="+mn-ea"/>
              </a:rPr>
              <a:t>R</a:t>
            </a:r>
            <a:r>
              <a:rPr lang="zh-CN" altLang="en-US" sz="2000" dirty="0">
                <a:sym typeface="+mn-ea"/>
              </a:rPr>
              <a:t>中的属性全部是主属性，</a:t>
            </a:r>
            <a:r>
              <a:rPr lang="zh-CN" altLang="en-US" sz="2000">
                <a:sym typeface="+mn-ea"/>
              </a:rPr>
              <a:t>不一定满足</a:t>
            </a:r>
            <a:r>
              <a:rPr lang="en-US" altLang="zh-CN" sz="2000">
                <a:sym typeface="+mn-ea"/>
              </a:rPr>
              <a:t>BCNF</a:t>
            </a:r>
            <a:endParaRPr lang="en-US" altLang="zh-CN" sz="2000">
              <a:sym typeface="+mn-ea"/>
            </a:endParaRPr>
          </a:p>
        </p:txBody>
      </p:sp>
      <p:sp>
        <p:nvSpPr>
          <p:cNvPr id="3" name="内容占位符 2"/>
          <p:cNvSpPr>
            <a:spLocks noGrp="1"/>
          </p:cNvSpPr>
          <p:nvPr>
            <p:ph idx="1"/>
          </p:nvPr>
        </p:nvSpPr>
        <p:spPr/>
        <p:txBody>
          <a:bodyPr/>
          <a:p>
            <a:r>
              <a:rPr lang="zh-CN" altLang="en-US" sz="2400"/>
              <a:t>反例</a:t>
            </a:r>
            <a:r>
              <a:rPr lang="en-US" altLang="zh-CN" sz="2400"/>
              <a:t>1</a:t>
            </a:r>
            <a:r>
              <a:rPr lang="zh-CN" altLang="en-US" sz="2400"/>
              <a:t>：例如 R(A,B,C)，候选码为AB和C两个。但是可能有A-&gt;B。</a:t>
            </a:r>
            <a:endParaRPr lang="zh-CN" altLang="en-US" sz="2400"/>
          </a:p>
          <a:p>
            <a:pPr lvl="1"/>
            <a:r>
              <a:rPr lang="zh-CN" altLang="en-US" sz="2000"/>
              <a:t>分析，若</a:t>
            </a:r>
            <a:r>
              <a:rPr lang="en-US" altLang="zh-CN" sz="2000"/>
              <a:t>A-&gt;B</a:t>
            </a:r>
            <a:r>
              <a:rPr lang="zh-CN" altLang="en-US" sz="2000"/>
              <a:t>，又</a:t>
            </a:r>
            <a:r>
              <a:rPr lang="en-US" altLang="zh-CN" sz="2000"/>
              <a:t>AB-&gt;C</a:t>
            </a:r>
            <a:r>
              <a:rPr lang="zh-CN" altLang="en-US" sz="2000"/>
              <a:t>，可以得到</a:t>
            </a:r>
            <a:r>
              <a:rPr lang="en-US" altLang="zh-CN" sz="2000"/>
              <a:t>A-&gt;C</a:t>
            </a:r>
            <a:r>
              <a:rPr lang="zh-CN" altLang="en-US" sz="2000"/>
              <a:t>，则</a:t>
            </a:r>
            <a:r>
              <a:rPr lang="en-US" altLang="zh-CN" sz="2000"/>
              <a:t>A</a:t>
            </a:r>
            <a:r>
              <a:rPr lang="zh-CN" altLang="en-US" sz="2000"/>
              <a:t>为码。矛盾</a:t>
            </a:r>
            <a:endParaRPr lang="zh-CN" altLang="en-US" sz="2000"/>
          </a:p>
          <a:p>
            <a:r>
              <a:rPr lang="zh-CN" altLang="en-US" sz="2000"/>
              <a:t>反例</a:t>
            </a:r>
            <a:r>
              <a:rPr lang="en-US" altLang="zh-CN" sz="2000"/>
              <a:t>2</a:t>
            </a:r>
            <a:r>
              <a:rPr lang="zh-CN" altLang="en-US" sz="2000"/>
              <a:t>：R（A，B，C，D）AB、C、D是候选码；C →A</a:t>
            </a:r>
            <a:endParaRPr lang="zh-CN" altLang="en-US" sz="2000"/>
          </a:p>
          <a:p>
            <a:pPr lvl="1"/>
            <a:r>
              <a:rPr lang="zh-CN" altLang="en-US" sz="1710"/>
              <a:t>分析：</a:t>
            </a:r>
            <a:r>
              <a:rPr lang="en-US" altLang="zh-CN" sz="1710"/>
              <a:t>C-&gt;A</a:t>
            </a:r>
            <a:r>
              <a:rPr lang="zh-CN" altLang="en-US" sz="1710"/>
              <a:t>中，决定因素包含了候选码，符合</a:t>
            </a:r>
            <a:r>
              <a:rPr lang="en-US" altLang="zh-CN" sz="1710"/>
              <a:t>BCNF</a:t>
            </a:r>
            <a:r>
              <a:rPr lang="zh-CN" altLang="en-US" sz="1710"/>
              <a:t>，不是</a:t>
            </a:r>
            <a:r>
              <a:rPr lang="zh-CN" altLang="en-US" sz="1710"/>
              <a:t>反例</a:t>
            </a:r>
            <a:endParaRPr lang="zh-CN" altLang="en-US" sz="1710"/>
          </a:p>
          <a:p>
            <a:pPr lvl="0"/>
            <a:r>
              <a:rPr lang="zh-CN" altLang="en-US" sz="1995"/>
              <a:t>反例</a:t>
            </a:r>
            <a:r>
              <a:rPr lang="en-US" altLang="zh-CN" sz="1995"/>
              <a:t>3</a:t>
            </a:r>
            <a:r>
              <a:rPr lang="zh-CN" altLang="en-US" sz="1995"/>
              <a:t>：R（A，B，C，D），A&lt;-&gt;D，B&lt;-&gt;C，AB，CD，AC，BD是候选码</a:t>
            </a:r>
            <a:endParaRPr lang="zh-CN" altLang="en-US" sz="1995"/>
          </a:p>
          <a:p>
            <a:pPr lvl="1"/>
            <a:r>
              <a:rPr lang="zh-CN" altLang="en-US" sz="1710"/>
              <a:t>看起来</a:t>
            </a:r>
            <a:r>
              <a:rPr lang="zh-CN" altLang="en-US" sz="1710"/>
              <a:t>可以</a:t>
            </a:r>
            <a:endParaRPr lang="zh-CN" altLang="en-US" sz="1710"/>
          </a:p>
          <a:p>
            <a:pPr lvl="0"/>
            <a:r>
              <a:rPr lang="zh-CN" altLang="en-US" sz="1995"/>
              <a:t>反例</a:t>
            </a:r>
            <a:r>
              <a:rPr lang="en-US" altLang="zh-CN" sz="1995"/>
              <a:t>4</a:t>
            </a:r>
            <a:r>
              <a:rPr lang="zh-CN" altLang="en-US" sz="1995"/>
              <a:t>：R(A,B,C)，候选码为ABC，但是可能有A-&gt;B。</a:t>
            </a:r>
            <a:endParaRPr lang="zh-CN" altLang="en-US" sz="1995"/>
          </a:p>
          <a:p>
            <a:pPr lvl="1"/>
            <a:r>
              <a:rPr lang="zh-CN" altLang="en-US" sz="1710"/>
              <a:t>看起来也</a:t>
            </a:r>
            <a:r>
              <a:rPr lang="zh-CN" altLang="en-US" sz="1710"/>
              <a:t>可以</a:t>
            </a:r>
            <a:endParaRPr lang="zh-CN" altLang="en-US" sz="1710"/>
          </a:p>
          <a:p>
            <a:pPr marL="457200" lvl="1" indent="0">
              <a:buNone/>
            </a:pPr>
            <a:endParaRPr lang="zh-CN" altLang="en-US" sz="171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142844" y="-71456"/>
            <a:ext cx="8401080" cy="853679"/>
          </a:xfrm>
        </p:spPr>
        <p:txBody>
          <a:bodyPr/>
          <a:lstStyle/>
          <a:p>
            <a:pPr eaLnBrk="1" hangingPunct="1"/>
            <a:r>
              <a:rPr lang="zh-CN" altLang="en-US" dirty="0"/>
              <a:t>思考题</a:t>
            </a:r>
            <a:endParaRPr lang="zh-CN" altLang="en-US" dirty="0"/>
          </a:p>
        </p:txBody>
      </p:sp>
      <p:sp>
        <p:nvSpPr>
          <p:cNvPr id="129027" name="Rectangle 3"/>
          <p:cNvSpPr>
            <a:spLocks noGrp="1" noChangeArrowheads="1"/>
          </p:cNvSpPr>
          <p:nvPr>
            <p:ph idx="1"/>
          </p:nvPr>
        </p:nvSpPr>
        <p:spPr>
          <a:xfrm>
            <a:off x="213965" y="789623"/>
            <a:ext cx="8401080" cy="3640931"/>
          </a:xfrm>
        </p:spPr>
        <p:txBody>
          <a:bodyPr/>
          <a:lstStyle/>
          <a:p>
            <a:pPr marL="0" indent="0" eaLnBrk="1" hangingPunct="1">
              <a:buFont typeface="Monotype Sorts" pitchFamily="2" charset="2"/>
              <a:buNone/>
            </a:pPr>
            <a:r>
              <a:rPr lang="en-US" altLang="zh-CN" dirty="0"/>
              <a:t>3. </a:t>
            </a:r>
            <a:r>
              <a:rPr lang="zh-CN" altLang="en-US" dirty="0"/>
              <a:t>如果一个关系模式</a:t>
            </a:r>
            <a:r>
              <a:rPr lang="en-US" altLang="zh-CN" dirty="0"/>
              <a:t>R</a:t>
            </a:r>
            <a:r>
              <a:rPr lang="zh-CN" altLang="en-US" dirty="0"/>
              <a:t>的主码是全码，则</a:t>
            </a:r>
            <a:r>
              <a:rPr lang="en-US" altLang="zh-CN" dirty="0"/>
              <a:t>R</a:t>
            </a:r>
            <a:r>
              <a:rPr lang="zh-CN" altLang="en-US" dirty="0"/>
              <a:t>至少可以达到</a:t>
            </a:r>
            <a:r>
              <a:rPr lang="en-US" altLang="zh-CN" dirty="0"/>
              <a:t>?NF</a:t>
            </a:r>
            <a:endParaRPr lang="en-US" altLang="zh-CN" dirty="0"/>
          </a:p>
          <a:p>
            <a:pPr marL="0" indent="0" eaLnBrk="1" hangingPunct="1">
              <a:buFont typeface="Monotype Sorts" pitchFamily="2" charset="2"/>
              <a:buNone/>
            </a:pPr>
            <a:endParaRPr lang="zh-CN" altLang="en-US" dirty="0"/>
          </a:p>
          <a:p>
            <a:pPr marL="0" indent="0" eaLnBrk="1" hangingPunct="1">
              <a:buFont typeface="Monotype Sorts" pitchFamily="2" charset="2"/>
              <a:buNone/>
            </a:pPr>
            <a:r>
              <a:rPr lang="zh-CN" altLang="en-US" sz="2000" dirty="0"/>
              <a:t>证明属于</a:t>
            </a:r>
            <a:r>
              <a:rPr lang="en-US" altLang="zh-CN" sz="2000" dirty="0"/>
              <a:t>BCNF</a:t>
            </a:r>
            <a:endParaRPr lang="en-US" altLang="zh-CN" sz="2000" dirty="0"/>
          </a:p>
          <a:p>
            <a:pPr marL="0" indent="0" eaLnBrk="1" hangingPunct="1">
              <a:buFont typeface="Monotype Sorts" pitchFamily="2" charset="2"/>
              <a:buNone/>
            </a:pPr>
            <a:r>
              <a:rPr lang="zh-CN" altLang="en-US" sz="2000" b="0" dirty="0"/>
              <a:t>若不属于</a:t>
            </a:r>
            <a:r>
              <a:rPr lang="en-US" altLang="zh-CN" sz="2000" b="0" dirty="0"/>
              <a:t>BCNF</a:t>
            </a:r>
            <a:r>
              <a:rPr lang="zh-CN" altLang="en-US" sz="2000" b="0" dirty="0"/>
              <a:t>，则必然存在</a:t>
            </a:r>
            <a:r>
              <a:rPr lang="en-US" altLang="zh-CN" sz="2000" b="0" dirty="0"/>
              <a:t>X,Y</a:t>
            </a:r>
            <a:r>
              <a:rPr lang="en-US" altLang="zh-CN" sz="2000" b="0" dirty="0">
                <a:latin typeface="微软雅黑" panose="020B0503020204020204" charset="-122"/>
                <a:ea typeface="微软雅黑" panose="020B0503020204020204" charset="-122"/>
              </a:rPr>
              <a:t>⊂U, Y⊈X,X-&gt;Y∈F</a:t>
            </a:r>
            <a:endParaRPr lang="en-US" altLang="zh-CN" sz="2000" b="0" dirty="0">
              <a:latin typeface="微软雅黑" panose="020B0503020204020204" charset="-122"/>
              <a:ea typeface="微软雅黑" panose="020B0503020204020204" charset="-122"/>
            </a:endParaRPr>
          </a:p>
          <a:p>
            <a:pPr marL="0" indent="0" eaLnBrk="1" hangingPunct="1">
              <a:buFont typeface="Monotype Sorts" pitchFamily="2" charset="2"/>
              <a:buNone/>
            </a:pPr>
            <a:r>
              <a:rPr lang="zh-CN" altLang="en-US" sz="2000" b="0" dirty="0">
                <a:latin typeface="微软雅黑" panose="020B0503020204020204" charset="-122"/>
                <a:ea typeface="微软雅黑" panose="020B0503020204020204" charset="-122"/>
              </a:rPr>
              <a:t>设</a:t>
            </a:r>
            <a:r>
              <a:rPr lang="en-US" altLang="zh-CN" sz="2000" b="0" dirty="0">
                <a:latin typeface="微软雅黑" panose="020B0503020204020204" charset="-122"/>
                <a:ea typeface="微软雅黑" panose="020B0503020204020204" charset="-122"/>
              </a:rPr>
              <a:t>Y’=Y-X ⋂Y</a:t>
            </a:r>
            <a:r>
              <a:rPr lang="zh-CN" altLang="en-US" sz="2000" b="0" dirty="0">
                <a:latin typeface="微软雅黑" panose="020B0503020204020204" charset="-122"/>
                <a:ea typeface="微软雅黑" panose="020B0503020204020204" charset="-122"/>
              </a:rPr>
              <a:t>，则</a:t>
            </a:r>
            <a:r>
              <a:rPr lang="en-US" altLang="zh-CN" sz="2000" b="0" dirty="0">
                <a:latin typeface="微软雅黑" panose="020B0503020204020204" charset="-122"/>
                <a:ea typeface="微软雅黑" panose="020B0503020204020204" charset="-122"/>
              </a:rPr>
              <a:t>X-&gt;Y’</a:t>
            </a:r>
            <a:r>
              <a:rPr lang="zh-CN" altLang="en-US" sz="2000" b="0" dirty="0">
                <a:latin typeface="微软雅黑" panose="020B0503020204020204" charset="-122"/>
                <a:ea typeface="微软雅黑" panose="020B0503020204020204" charset="-122"/>
              </a:rPr>
              <a:t>成立</a:t>
            </a:r>
            <a:endParaRPr lang="zh-CN" altLang="en-US" sz="2000" b="0" dirty="0">
              <a:latin typeface="微软雅黑" panose="020B0503020204020204" charset="-122"/>
              <a:ea typeface="微软雅黑" panose="020B0503020204020204" charset="-122"/>
            </a:endParaRPr>
          </a:p>
          <a:p>
            <a:pPr marL="0" indent="0" eaLnBrk="1" hangingPunct="1">
              <a:buFont typeface="Monotype Sorts" pitchFamily="2" charset="2"/>
              <a:buNone/>
            </a:pPr>
            <a:r>
              <a:rPr lang="zh-CN" altLang="en-US" sz="2000" b="0" dirty="0">
                <a:latin typeface="微软雅黑" panose="020B0503020204020204" charset="-122"/>
                <a:ea typeface="微软雅黑" panose="020B0503020204020204" charset="-122"/>
              </a:rPr>
              <a:t>那么</a:t>
            </a:r>
            <a:r>
              <a:rPr lang="en-US" altLang="zh-CN" sz="2000" b="0" dirty="0">
                <a:latin typeface="微软雅黑" panose="020B0503020204020204" charset="-122"/>
                <a:ea typeface="微软雅黑" panose="020B0503020204020204" charset="-122"/>
              </a:rPr>
              <a:t>U-Y’-&gt;U</a:t>
            </a:r>
            <a:r>
              <a:rPr lang="zh-CN" altLang="en-US" sz="2000" b="0" dirty="0">
                <a:latin typeface="微软雅黑" panose="020B0503020204020204" charset="-122"/>
                <a:ea typeface="微软雅黑" panose="020B0503020204020204" charset="-122"/>
              </a:rPr>
              <a:t>成立</a:t>
            </a:r>
            <a:r>
              <a:rPr lang="en-US" altLang="zh-CN" sz="2000" b="0" dirty="0">
                <a:latin typeface="微软雅黑" panose="020B0503020204020204" charset="-122"/>
                <a:ea typeface="微软雅黑" panose="020B0503020204020204" charset="-122"/>
              </a:rPr>
              <a:t> </a:t>
            </a:r>
            <a:endParaRPr lang="zh-CN" altLang="en-US" sz="2000" b="0" dirty="0">
              <a:latin typeface="微软雅黑" panose="020B0503020204020204" charset="-122"/>
              <a:ea typeface="微软雅黑" panose="020B0503020204020204" charset="-122"/>
            </a:endParaRPr>
          </a:p>
          <a:p>
            <a:pPr marL="0" indent="0" eaLnBrk="1" hangingPunct="1">
              <a:buFont typeface="Monotype Sorts" pitchFamily="2" charset="2"/>
              <a:buNone/>
            </a:pPr>
            <a:r>
              <a:rPr lang="zh-CN" altLang="en-US" sz="2000" b="0" dirty="0">
                <a:latin typeface="微软雅黑" panose="020B0503020204020204" charset="-122"/>
                <a:ea typeface="微软雅黑" panose="020B0503020204020204" charset="-122"/>
              </a:rPr>
              <a:t>因此</a:t>
            </a:r>
            <a:r>
              <a:rPr lang="en-US" altLang="zh-CN" sz="2000" b="0" dirty="0">
                <a:latin typeface="微软雅黑" panose="020B0503020204020204" charset="-122"/>
                <a:ea typeface="微软雅黑" panose="020B0503020204020204" charset="-122"/>
                <a:sym typeface="+mn-ea"/>
              </a:rPr>
              <a:t>U-Y’</a:t>
            </a:r>
            <a:r>
              <a:rPr lang="zh-CN" altLang="en-US" sz="2000" b="0" dirty="0">
                <a:latin typeface="微软雅黑" panose="020B0503020204020204" charset="-122"/>
                <a:ea typeface="微软雅黑" panose="020B0503020204020204" charset="-122"/>
                <a:sym typeface="+mn-ea"/>
              </a:rPr>
              <a:t>必然包含候选码，与</a:t>
            </a:r>
            <a:r>
              <a:rPr lang="en-US" altLang="zh-CN" sz="2000" b="0" dirty="0">
                <a:latin typeface="微软雅黑" panose="020B0503020204020204" charset="-122"/>
                <a:ea typeface="微软雅黑" panose="020B0503020204020204" charset="-122"/>
                <a:sym typeface="+mn-ea"/>
              </a:rPr>
              <a:t>R</a:t>
            </a:r>
            <a:r>
              <a:rPr lang="zh-CN" altLang="en-US" sz="2000" b="0" dirty="0">
                <a:latin typeface="微软雅黑" panose="020B0503020204020204" charset="-122"/>
                <a:ea typeface="微软雅黑" panose="020B0503020204020204" charset="-122"/>
                <a:sym typeface="+mn-ea"/>
              </a:rPr>
              <a:t>为全码矛盾。</a:t>
            </a:r>
            <a:endParaRPr lang="en-US" altLang="zh-CN" sz="2000" b="0" dirty="0">
              <a:latin typeface="微软雅黑" panose="020B0503020204020204" charset="-122"/>
              <a:ea typeface="微软雅黑" panose="020B0503020204020204" charset="-122"/>
            </a:endParaRPr>
          </a:p>
          <a:p>
            <a:pPr marL="0" indent="0" eaLnBrk="1" hangingPunct="1">
              <a:buFont typeface="Monotype Sorts" pitchFamily="2" charset="2"/>
              <a:buNone/>
            </a:pPr>
            <a:endParaRPr lang="en-US" altLang="zh-CN" dirty="0"/>
          </a:p>
          <a:p>
            <a:pPr marL="609600" indent="-609600" eaLnBrk="1" hangingPunct="1">
              <a:buFont typeface="Monotype Sorts" pitchFamily="2" charset="2"/>
              <a:buAutoNum type="arabicPeriod"/>
            </a:pPr>
            <a:endParaRPr lang="en-US" altLang="zh-CN" dirty="0"/>
          </a:p>
        </p:txBody>
      </p:sp>
      <p:sp>
        <p:nvSpPr>
          <p:cNvPr id="2" name="文本框 1"/>
          <p:cNvSpPr txBox="1"/>
          <p:nvPr/>
        </p:nvSpPr>
        <p:spPr>
          <a:xfrm>
            <a:off x="2700020" y="3291840"/>
            <a:ext cx="3686810" cy="398780"/>
          </a:xfrm>
          <a:prstGeom prst="rect">
            <a:avLst/>
          </a:prstGeom>
          <a:noFill/>
        </p:spPr>
        <p:txBody>
          <a:bodyPr wrap="square" rtlCol="0" anchor="t">
            <a:spAutoFit/>
          </a:bodyPr>
          <a:p>
            <a:r>
              <a:rPr lang="en-US" altLang="zh-CN" sz="2000" dirty="0">
                <a:latin typeface="微软雅黑" panose="020B0503020204020204" charset="-122"/>
                <a:ea typeface="微软雅黑" panose="020B0503020204020204" charset="-122"/>
                <a:sym typeface="+mn-ea"/>
              </a:rPr>
              <a:t>(X⊆U-Y’, </a:t>
            </a:r>
            <a:r>
              <a:rPr lang="zh-CN" altLang="en-US" sz="2000" dirty="0">
                <a:latin typeface="微软雅黑" panose="020B0503020204020204" charset="-122"/>
                <a:ea typeface="微软雅黑" panose="020B0503020204020204" charset="-122"/>
                <a:sym typeface="+mn-ea"/>
              </a:rPr>
              <a:t>所以</a:t>
            </a:r>
            <a:r>
              <a:rPr lang="en-US" altLang="zh-CN" sz="2000" dirty="0">
                <a:latin typeface="微软雅黑" panose="020B0503020204020204" charset="-122"/>
                <a:ea typeface="微软雅黑" panose="020B0503020204020204" charset="-122"/>
                <a:sym typeface="+mn-ea"/>
              </a:rPr>
              <a:t> </a:t>
            </a:r>
            <a:r>
              <a:rPr lang="en-US" altLang="zh-CN" sz="2000" dirty="0">
                <a:latin typeface="微软雅黑" panose="020B0503020204020204" charset="-122"/>
                <a:ea typeface="微软雅黑" panose="020B0503020204020204" charset="-122"/>
                <a:sym typeface="+mn-ea"/>
              </a:rPr>
              <a:t>U-Y’-&gt;Y’)</a:t>
            </a:r>
            <a:endParaRPr lang="en-US" altLang="zh-CN" sz="2000" dirty="0">
              <a:latin typeface="微软雅黑" panose="020B0503020204020204" charset="-122"/>
              <a:ea typeface="微软雅黑" panose="020B0503020204020204" charset="-122"/>
              <a:sym typeface="+mn-ea"/>
            </a:endParaRPr>
          </a:p>
        </p:txBody>
      </p:sp>
      <p:sp>
        <p:nvSpPr>
          <p:cNvPr id="3" name="文本框 2"/>
          <p:cNvSpPr txBox="1"/>
          <p:nvPr/>
        </p:nvSpPr>
        <p:spPr>
          <a:xfrm>
            <a:off x="4140200" y="2931795"/>
            <a:ext cx="3237865" cy="398780"/>
          </a:xfrm>
          <a:prstGeom prst="rect">
            <a:avLst/>
          </a:prstGeom>
          <a:noFill/>
        </p:spPr>
        <p:txBody>
          <a:bodyPr wrap="square" rtlCol="0" anchor="t">
            <a:spAutoFit/>
          </a:bodyPr>
          <a:p>
            <a:r>
              <a:rPr lang="zh-CN" altLang="en-US" sz="2000" dirty="0">
                <a:latin typeface="微软雅黑" panose="020B0503020204020204" charset="-122"/>
                <a:ea typeface="微软雅黑" panose="020B0503020204020204" charset="-122"/>
                <a:sym typeface="+mn-ea"/>
              </a:rPr>
              <a:t>（因为</a:t>
            </a:r>
            <a:r>
              <a:rPr lang="en-US" altLang="zh-CN" sz="2000" dirty="0">
                <a:latin typeface="微软雅黑" panose="020B0503020204020204" charset="-122"/>
                <a:ea typeface="微软雅黑" panose="020B0503020204020204" charset="-122"/>
                <a:sym typeface="+mn-ea"/>
              </a:rPr>
              <a:t>X-&gt;Y, </a:t>
            </a:r>
            <a:r>
              <a:rPr lang="zh-CN" altLang="en-US" sz="2000" dirty="0">
                <a:latin typeface="微软雅黑" panose="020B0503020204020204" charset="-122"/>
                <a:ea typeface="微软雅黑" panose="020B0503020204020204" charset="-122"/>
                <a:sym typeface="+mn-ea"/>
              </a:rPr>
              <a:t>且</a:t>
            </a:r>
            <a:r>
              <a:rPr lang="en-US" altLang="zh-CN" sz="2000" dirty="0">
                <a:latin typeface="微软雅黑" panose="020B0503020204020204" charset="-122"/>
                <a:ea typeface="微软雅黑" panose="020B0503020204020204" charset="-122"/>
                <a:sym typeface="+mn-ea"/>
              </a:rPr>
              <a:t> </a:t>
            </a:r>
            <a:r>
              <a:rPr lang="en-US" altLang="zh-CN" sz="2000" dirty="0">
                <a:latin typeface="微软雅黑" panose="020B0503020204020204" charset="-122"/>
                <a:ea typeface="微软雅黑" panose="020B0503020204020204" charset="-122"/>
                <a:sym typeface="+mn-ea"/>
              </a:rPr>
              <a:t>Y’⊂ Y)</a:t>
            </a:r>
            <a:endParaRPr lang="en-US" altLang="zh-CN" sz="2000" dirty="0">
              <a:latin typeface="微软雅黑" panose="020B0503020204020204" charset="-122"/>
              <a:ea typeface="微软雅黑" panose="020B0503020204020204" charset="-122"/>
              <a:sym typeface="+mn-ea"/>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2" grpId="0"/>
      <p:bldP spid="2" grpId="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dirty="0"/>
              <a:t>逻辑蕴涵和闭包</a:t>
            </a:r>
            <a:endParaRPr lang="zh-CN" altLang="en-US" dirty="0"/>
          </a:p>
        </p:txBody>
      </p:sp>
      <p:sp>
        <p:nvSpPr>
          <p:cNvPr id="7171" name="内容占位符 2"/>
          <p:cNvSpPr>
            <a:spLocks noGrp="1"/>
          </p:cNvSpPr>
          <p:nvPr>
            <p:ph idx="1"/>
          </p:nvPr>
        </p:nvSpPr>
        <p:spPr/>
        <p:txBody>
          <a:bodyPr/>
          <a:lstStyle/>
          <a:p>
            <a:r>
              <a:rPr lang="zh-CN" altLang="en-US" dirty="0"/>
              <a:t>函数依赖可能是“隐含”的</a:t>
            </a:r>
            <a:endParaRPr lang="en-US" altLang="zh-CN" dirty="0"/>
          </a:p>
          <a:p>
            <a:pPr lvl="1"/>
            <a:r>
              <a:rPr lang="en-US" altLang="zh-CN" dirty="0"/>
              <a:t>e.g.  {A-B, B-C}</a:t>
            </a:r>
            <a:r>
              <a:rPr lang="zh-CN" altLang="en-US" dirty="0"/>
              <a:t>， 隐含了 </a:t>
            </a:r>
            <a:r>
              <a:rPr lang="en-US" altLang="zh-CN" dirty="0"/>
              <a:t>A-&gt;C</a:t>
            </a:r>
            <a:endParaRPr lang="en-US" altLang="zh-CN" dirty="0"/>
          </a:p>
          <a:p>
            <a:r>
              <a:rPr lang="zh-CN" altLang="en-US" dirty="0"/>
              <a:t>如何求</a:t>
            </a:r>
            <a:r>
              <a:rPr lang="en-US" altLang="zh-CN" dirty="0"/>
              <a:t>F</a:t>
            </a:r>
            <a:r>
              <a:rPr lang="zh-CN" altLang="en-US" dirty="0"/>
              <a:t>中隐含的所有函数依赖？（闭包）</a:t>
            </a:r>
            <a:endParaRPr lang="en-US" altLang="zh-CN" dirty="0"/>
          </a:p>
          <a:p>
            <a:r>
              <a:rPr lang="zh-CN" altLang="en-US" dirty="0"/>
              <a:t>闭包如何定义？逻辑蕴涵</a:t>
            </a:r>
            <a:endParaRPr lang="en-US" altLang="zh-CN" dirty="0"/>
          </a:p>
          <a:p>
            <a:endParaRPr lang="zh-CN" altLang="en-US"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TIMING" val="|14.3|12.3|1.8|2.9|4.8"/>
</p:tagLst>
</file>

<file path=ppt/tags/tag8.xml><?xml version="1.0" encoding="utf-8"?>
<p:tagLst xmlns:p="http://schemas.openxmlformats.org/presentationml/2006/main">
  <p:tag name="TIMING" val="|65.5"/>
</p:tagLst>
</file>

<file path=ppt/tags/tag9.xml><?xml version="1.0" encoding="utf-8"?>
<p:tagLst xmlns:p="http://schemas.openxmlformats.org/presentationml/2006/main">
  <p:tag name="TIMING" val="|20.1|10.2"/>
</p:tagLst>
</file>

<file path=ppt/tags/tag10.xml><?xml version="1.0" encoding="utf-8"?>
<p:tagLst xmlns:p="http://schemas.openxmlformats.org/presentationml/2006/main">
  <p:tag name="TIMING" val="|5.8|15.4|11.2"/>
</p:tagLst>
</file>

<file path=ppt/tags/tag11.xml><?xml version="1.0" encoding="utf-8"?>
<p:tagLst xmlns:p="http://schemas.openxmlformats.org/presentationml/2006/main">
  <p:tag name="TIMING" val="|14"/>
</p:tagLst>
</file>

<file path=ppt/tags/tag12.xml><?xml version="1.0" encoding="utf-8"?>
<p:tagLst xmlns:p="http://schemas.openxmlformats.org/presentationml/2006/main">
  <p:tag name="commondata" val="eyJoZGlkIjoiYzFiMmY5NjgwNzk1ZWQ4YjczNmJjOGRhMTg3Mzg1NjcifQ=="/>
</p:tagLst>
</file>

<file path=ppt/theme/theme1.xml><?xml version="1.0" encoding="utf-8"?>
<a:theme xmlns:a="http://schemas.openxmlformats.org/drawingml/2006/main" name="数据库系统概论">
  <a:themeElements>
    <a:clrScheme name="活力">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15806</Words>
  <Application>WPS 演示</Application>
  <PresentationFormat>全屏显示(16:9)</PresentationFormat>
  <Paragraphs>2509</Paragraphs>
  <Slides>93</Slides>
  <Notes>9</Notes>
  <HiddenSlides>3</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0</vt:i4>
      </vt:variant>
      <vt:variant>
        <vt:lpstr>幻灯片标题</vt:lpstr>
      </vt:variant>
      <vt:variant>
        <vt:i4>93</vt:i4>
      </vt:variant>
    </vt:vector>
  </HeadingPairs>
  <TitlesOfParts>
    <vt:vector size="109" baseType="lpstr">
      <vt:lpstr>Arial</vt:lpstr>
      <vt:lpstr>宋体</vt:lpstr>
      <vt:lpstr>Wingdings</vt:lpstr>
      <vt:lpstr>Calibri</vt:lpstr>
      <vt:lpstr>Times New Roman</vt:lpstr>
      <vt:lpstr>黑体</vt:lpstr>
      <vt:lpstr>Times-Roman</vt:lpstr>
      <vt:lpstr>隶书</vt:lpstr>
      <vt:lpstr>Calibri</vt:lpstr>
      <vt:lpstr>Times New Roman</vt:lpstr>
      <vt:lpstr>Monotype Sorts</vt:lpstr>
      <vt:lpstr>Wingdings</vt:lpstr>
      <vt:lpstr>微软雅黑</vt:lpstr>
      <vt:lpstr>Arial Unicode MS</vt:lpstr>
      <vt:lpstr>Cambria Math</vt:lpstr>
      <vt:lpstr>数据库系统概论</vt:lpstr>
      <vt:lpstr>PowerPoint 演示文稿</vt:lpstr>
      <vt:lpstr>第六章 关系数据理论</vt:lpstr>
      <vt:lpstr>第六章 关系数据理论</vt:lpstr>
      <vt:lpstr>6.1 问题的提出</vt:lpstr>
      <vt:lpstr>1.问题-什么是一个好的数据库逻辑设计</vt:lpstr>
      <vt:lpstr>PowerPoint 演示文稿</vt:lpstr>
      <vt:lpstr>PowerPoint 演示文稿</vt:lpstr>
      <vt:lpstr>一个例子</vt:lpstr>
      <vt:lpstr>一个例子</vt:lpstr>
      <vt:lpstr>关系模式存在的问题</vt:lpstr>
      <vt:lpstr>关系模式存在的问题</vt:lpstr>
      <vt:lpstr>关系模式存在的问题</vt:lpstr>
      <vt:lpstr>6.1 问题的提出</vt:lpstr>
      <vt:lpstr>2. 什么是数据依赖：一个例子</vt:lpstr>
      <vt:lpstr>2. 什么是数据依赖</vt:lpstr>
      <vt:lpstr>一个例子</vt:lpstr>
      <vt:lpstr>6.1 问题的提出</vt:lpstr>
      <vt:lpstr>3. 关系模式的简化表示</vt:lpstr>
      <vt:lpstr>第六章 关系数据理论</vt:lpstr>
      <vt:lpstr>PowerPoint 演示文稿</vt:lpstr>
      <vt:lpstr>PowerPoint 演示文稿</vt:lpstr>
      <vt:lpstr>1. 函数依赖</vt:lpstr>
      <vt:lpstr>PowerPoint 演示文稿</vt:lpstr>
      <vt:lpstr>2. 如何确定函数依赖</vt:lpstr>
      <vt:lpstr>思考：“语义”范畴</vt:lpstr>
      <vt:lpstr>分析</vt:lpstr>
      <vt:lpstr>PowerPoint 演示文稿</vt:lpstr>
      <vt:lpstr>思考：DBMS能保证函数依赖吗？</vt:lpstr>
      <vt:lpstr>3. 平凡函数依赖与非平凡函数依赖</vt:lpstr>
      <vt:lpstr>思考：“平凡”的函数依赖</vt:lpstr>
      <vt:lpstr>证明思路</vt:lpstr>
      <vt:lpstr>练习:请问下列的FD有可能成立吗?</vt:lpstr>
      <vt:lpstr>4. 完全函数依赖与部分函数依赖</vt:lpstr>
      <vt:lpstr>5. 传递函数依赖</vt:lpstr>
      <vt:lpstr>思考</vt:lpstr>
      <vt:lpstr>思考：函数依赖与Group By</vt:lpstr>
      <vt:lpstr>PowerPoint 演示文稿</vt:lpstr>
      <vt:lpstr>6.2.2 码—主码</vt:lpstr>
      <vt:lpstr>6.2.2 码</vt:lpstr>
      <vt:lpstr>6.2.2 码：外部码—外码</vt:lpstr>
      <vt:lpstr>6.2.2 码</vt:lpstr>
      <vt:lpstr>PowerPoint 演示文稿</vt:lpstr>
      <vt:lpstr>6.2.3 范式</vt:lpstr>
      <vt:lpstr>第一范式</vt:lpstr>
      <vt:lpstr>回顾基础篇：关系模型的数据结构</vt:lpstr>
      <vt:lpstr>第一范式（续）</vt:lpstr>
      <vt:lpstr>第一范式（续）</vt:lpstr>
      <vt:lpstr>第一范式（续）</vt:lpstr>
      <vt:lpstr>第一范式（续）</vt:lpstr>
      <vt:lpstr>第一范式（续）</vt:lpstr>
      <vt:lpstr>第一范式（续）</vt:lpstr>
      <vt:lpstr>第一范式（续）</vt:lpstr>
      <vt:lpstr>第一范式（续）</vt:lpstr>
      <vt:lpstr>第一范式（续）</vt:lpstr>
      <vt:lpstr>第一范式（续）</vt:lpstr>
      <vt:lpstr>第一范式（续）</vt:lpstr>
      <vt:lpstr>PowerPoint 演示文稿</vt:lpstr>
      <vt:lpstr>6.2.4 第二范式（2NF）</vt:lpstr>
      <vt:lpstr> 第二范式（续）</vt:lpstr>
      <vt:lpstr> 第二范式（续）</vt:lpstr>
      <vt:lpstr> 第二范式（续）</vt:lpstr>
      <vt:lpstr> 第二范式（续）</vt:lpstr>
      <vt:lpstr> 第二范式（续）</vt:lpstr>
      <vt:lpstr> 第二范式（续）</vt:lpstr>
      <vt:lpstr> 第二范式（续）</vt:lpstr>
      <vt:lpstr> 第二范式（续）</vt:lpstr>
      <vt:lpstr>第二范式（续）</vt:lpstr>
      <vt:lpstr>PowerPoint 演示文稿</vt:lpstr>
      <vt:lpstr> 6.2.5 第三范式（3NF）</vt:lpstr>
      <vt:lpstr>6.2.5 第三范式（续）</vt:lpstr>
      <vt:lpstr>PowerPoint 演示文稿</vt:lpstr>
      <vt:lpstr>一个例子</vt:lpstr>
      <vt:lpstr>一个例子</vt:lpstr>
      <vt:lpstr>一个例子</vt:lpstr>
      <vt:lpstr>一个例子</vt:lpstr>
      <vt:lpstr>一个例子</vt:lpstr>
      <vt:lpstr>一个例子</vt:lpstr>
      <vt:lpstr> 6.2.6 BC范式（BCNF）</vt:lpstr>
      <vt:lpstr>6.2.6 BC范式（BCNF） （续）</vt:lpstr>
      <vt:lpstr>6.2.6 BC范式（BCNF） （续）</vt:lpstr>
      <vt:lpstr>6.2.6 BC范式（BCNF） （续）</vt:lpstr>
      <vt:lpstr>思考：2NF-&gt;3NF-&gt;BCNF</vt:lpstr>
      <vt:lpstr>若R属于3NF，则必有R属于2NF</vt:lpstr>
      <vt:lpstr>6.2.9  规范化小结</vt:lpstr>
      <vt:lpstr>规范化小结（续）</vt:lpstr>
      <vt:lpstr>规范化小结（续）</vt:lpstr>
      <vt:lpstr>规范化小结（续）</vt:lpstr>
      <vt:lpstr>规范化小结（续）</vt:lpstr>
      <vt:lpstr>讨论：规范化的程度</vt:lpstr>
      <vt:lpstr>思考题</vt:lpstr>
      <vt:lpstr>PowerPoint 演示文稿</vt:lpstr>
      <vt:lpstr>思考题</vt:lpstr>
      <vt:lpstr>逻辑蕴涵和闭包</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LENOVO</dc:creator>
  <cp:lastModifiedBy>陈晋川</cp:lastModifiedBy>
  <cp:revision>664</cp:revision>
  <dcterms:created xsi:type="dcterms:W3CDTF">2023-10-25T12:22:00Z</dcterms:created>
  <dcterms:modified xsi:type="dcterms:W3CDTF">2024-11-18T12:42:47Z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FD2A7D4543F34209880EB211D80B2922_12</vt:lpwstr>
  </property>
  <property fmtid="{D5CDD505-2E9C-101B-9397-08002B2CF9AE}" pid="3" name="KSOProductBuildVer">
    <vt:lpwstr>2052-12.1.0.18608</vt:lpwstr>
  </property>
</Properties>
</file>