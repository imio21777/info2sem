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handoutMasterIdLst>
    <p:handoutMasterId r:id="rId86"/>
  </p:handoutMasterIdLst>
  <p:sldIdLst>
    <p:sldId id="256" r:id="rId3"/>
    <p:sldId id="396" r:id="rId4"/>
    <p:sldId id="397" r:id="rId6"/>
    <p:sldId id="1111" r:id="rId7"/>
    <p:sldId id="1112" r:id="rId8"/>
    <p:sldId id="1113" r:id="rId9"/>
    <p:sldId id="1114" r:id="rId10"/>
    <p:sldId id="1206" r:id="rId11"/>
    <p:sldId id="405" r:id="rId12"/>
    <p:sldId id="407" r:id="rId13"/>
    <p:sldId id="408" r:id="rId14"/>
    <p:sldId id="409" r:id="rId15"/>
    <p:sldId id="410" r:id="rId16"/>
    <p:sldId id="411" r:id="rId17"/>
    <p:sldId id="412" r:id="rId18"/>
    <p:sldId id="413" r:id="rId19"/>
    <p:sldId id="1115" r:id="rId20"/>
    <p:sldId id="434" r:id="rId21"/>
    <p:sldId id="435" r:id="rId22"/>
    <p:sldId id="437" r:id="rId23"/>
    <p:sldId id="531" r:id="rId24"/>
    <p:sldId id="439" r:id="rId25"/>
    <p:sldId id="441" r:id="rId26"/>
    <p:sldId id="442" r:id="rId27"/>
    <p:sldId id="445" r:id="rId28"/>
    <p:sldId id="551" r:id="rId29"/>
    <p:sldId id="446" r:id="rId30"/>
    <p:sldId id="447" r:id="rId31"/>
    <p:sldId id="448" r:id="rId32"/>
    <p:sldId id="449" r:id="rId33"/>
    <p:sldId id="451" r:id="rId34"/>
    <p:sldId id="534" r:id="rId35"/>
    <p:sldId id="552" r:id="rId36"/>
    <p:sldId id="456" r:id="rId37"/>
    <p:sldId id="464" r:id="rId38"/>
    <p:sldId id="465" r:id="rId39"/>
    <p:sldId id="466" r:id="rId40"/>
    <p:sldId id="467" r:id="rId41"/>
    <p:sldId id="468" r:id="rId42"/>
    <p:sldId id="474" r:id="rId43"/>
    <p:sldId id="475" r:id="rId44"/>
    <p:sldId id="476" r:id="rId45"/>
    <p:sldId id="477" r:id="rId46"/>
    <p:sldId id="478" r:id="rId47"/>
    <p:sldId id="479" r:id="rId48"/>
    <p:sldId id="480" r:id="rId49"/>
    <p:sldId id="481" r:id="rId50"/>
    <p:sldId id="483" r:id="rId51"/>
    <p:sldId id="484" r:id="rId52"/>
    <p:sldId id="485" r:id="rId53"/>
    <p:sldId id="486" r:id="rId54"/>
    <p:sldId id="546" r:id="rId55"/>
    <p:sldId id="547" r:id="rId56"/>
    <p:sldId id="542" r:id="rId57"/>
    <p:sldId id="489" r:id="rId58"/>
    <p:sldId id="490" r:id="rId59"/>
    <p:sldId id="493" r:id="rId60"/>
    <p:sldId id="494" r:id="rId61"/>
    <p:sldId id="495" r:id="rId62"/>
    <p:sldId id="496" r:id="rId63"/>
    <p:sldId id="498" r:id="rId64"/>
    <p:sldId id="501" r:id="rId65"/>
    <p:sldId id="502" r:id="rId66"/>
    <p:sldId id="503" r:id="rId67"/>
    <p:sldId id="504" r:id="rId68"/>
    <p:sldId id="505" r:id="rId69"/>
    <p:sldId id="506" r:id="rId70"/>
    <p:sldId id="507" r:id="rId71"/>
    <p:sldId id="1116" r:id="rId72"/>
    <p:sldId id="1117" r:id="rId73"/>
    <p:sldId id="1118" r:id="rId74"/>
    <p:sldId id="1119" r:id="rId75"/>
    <p:sldId id="1120" r:id="rId76"/>
    <p:sldId id="543" r:id="rId77"/>
    <p:sldId id="1123" r:id="rId78"/>
    <p:sldId id="514" r:id="rId79"/>
    <p:sldId id="518" r:id="rId80"/>
    <p:sldId id="519" r:id="rId81"/>
    <p:sldId id="520" r:id="rId82"/>
    <p:sldId id="554" r:id="rId83"/>
    <p:sldId id="555" r:id="rId84"/>
    <p:sldId id="556" r:id="rId85"/>
  </p:sldIdLst>
  <p:sldSz cx="12192000" cy="6858000"/>
  <p:notesSz cx="6797675" cy="9928225"/>
  <p:custDataLst>
    <p:tags r:id="rId91"/>
  </p:custDataLst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0" userDrawn="1">
          <p15:clr>
            <a:srgbClr val="A4A3A4"/>
          </p15:clr>
        </p15:guide>
        <p15:guide id="2" pos="3916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ENOVO" initials="L" lastIdx="3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6"/>
    <p:restoredTop sz="83892"/>
  </p:normalViewPr>
  <p:slideViewPr>
    <p:cSldViewPr snapToObjects="1" showGuides="1">
      <p:cViewPr>
        <p:scale>
          <a:sx n="66" d="100"/>
          <a:sy n="66" d="100"/>
        </p:scale>
        <p:origin x="1724" y="356"/>
      </p:cViewPr>
      <p:guideLst>
        <p:guide orient="horz" pos="2170"/>
        <p:guide pos="3916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100" d="100"/>
        <a:sy n="100" d="100"/>
      </p:scale>
      <p:origin x="0" y="2077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1" Type="http://schemas.openxmlformats.org/officeDocument/2006/relationships/tags" Target="tags/tag12.xml"/><Relationship Id="rId90" Type="http://schemas.openxmlformats.org/officeDocument/2006/relationships/commentAuthors" Target="commentAuthors.xml"/><Relationship Id="rId9" Type="http://schemas.openxmlformats.org/officeDocument/2006/relationships/slide" Target="slides/slide6.xml"/><Relationship Id="rId89" Type="http://schemas.openxmlformats.org/officeDocument/2006/relationships/tableStyles" Target="tableStyles.xml"/><Relationship Id="rId88" Type="http://schemas.openxmlformats.org/officeDocument/2006/relationships/viewProps" Target="viewProps.xml"/><Relationship Id="rId87" Type="http://schemas.openxmlformats.org/officeDocument/2006/relationships/presProps" Target="presProps.xml"/><Relationship Id="rId86" Type="http://schemas.openxmlformats.org/officeDocument/2006/relationships/handoutMaster" Target="handoutMasters/handoutMaster1.xml"/><Relationship Id="rId85" Type="http://schemas.openxmlformats.org/officeDocument/2006/relationships/slide" Target="slides/slide82.xml"/><Relationship Id="rId84" Type="http://schemas.openxmlformats.org/officeDocument/2006/relationships/slide" Target="slides/slide81.xml"/><Relationship Id="rId83" Type="http://schemas.openxmlformats.org/officeDocument/2006/relationships/slide" Target="slides/slide80.xml"/><Relationship Id="rId82" Type="http://schemas.openxmlformats.org/officeDocument/2006/relationships/slide" Target="slides/slide79.xml"/><Relationship Id="rId81" Type="http://schemas.openxmlformats.org/officeDocument/2006/relationships/slide" Target="slides/slide78.xml"/><Relationship Id="rId80" Type="http://schemas.openxmlformats.org/officeDocument/2006/relationships/slide" Target="slides/slide77.xml"/><Relationship Id="rId8" Type="http://schemas.openxmlformats.org/officeDocument/2006/relationships/slide" Target="slides/slide5.xml"/><Relationship Id="rId79" Type="http://schemas.openxmlformats.org/officeDocument/2006/relationships/slide" Target="slides/slide76.xml"/><Relationship Id="rId78" Type="http://schemas.openxmlformats.org/officeDocument/2006/relationships/slide" Target="slides/slide75.xml"/><Relationship Id="rId77" Type="http://schemas.openxmlformats.org/officeDocument/2006/relationships/slide" Target="slides/slide74.xml"/><Relationship Id="rId76" Type="http://schemas.openxmlformats.org/officeDocument/2006/relationships/slide" Target="slides/slide73.xml"/><Relationship Id="rId75" Type="http://schemas.openxmlformats.org/officeDocument/2006/relationships/slide" Target="slides/slide72.xml"/><Relationship Id="rId74" Type="http://schemas.openxmlformats.org/officeDocument/2006/relationships/slide" Target="slides/slide71.xml"/><Relationship Id="rId73" Type="http://schemas.openxmlformats.org/officeDocument/2006/relationships/slide" Target="slides/slide70.xml"/><Relationship Id="rId72" Type="http://schemas.openxmlformats.org/officeDocument/2006/relationships/slide" Target="slides/slide69.xml"/><Relationship Id="rId71" Type="http://schemas.openxmlformats.org/officeDocument/2006/relationships/slide" Target="slides/slide68.xml"/><Relationship Id="rId70" Type="http://schemas.openxmlformats.org/officeDocument/2006/relationships/slide" Target="slides/slide67.xml"/><Relationship Id="rId7" Type="http://schemas.openxmlformats.org/officeDocument/2006/relationships/slide" Target="slides/slide4.xml"/><Relationship Id="rId69" Type="http://schemas.openxmlformats.org/officeDocument/2006/relationships/slide" Target="slides/slide66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3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notesMaster" Target="notesMasters/notesMaster1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9748" cy="54085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18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16573" y="0"/>
            <a:ext cx="2919748" cy="54085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18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10238852"/>
            <a:ext cx="2919748" cy="54085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8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16573" y="10238852"/>
            <a:ext cx="2919748" cy="54085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18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4813" cy="4953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0965" tIns="45482" rIns="90965" bIns="45482" numCol="1" anchor="t" anchorCtr="0" compatLnSpc="1"/>
          <a:lstStyle>
            <a:lvl1pPr eaLnBrk="0" hangingPunct="0">
              <a:buFont typeface="Arial" panose="020B0604020202020204" pitchFamily="34" charset="0"/>
              <a:buNone/>
              <a:defRPr sz="120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49688" y="0"/>
            <a:ext cx="2946400" cy="4953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0965" tIns="45482" rIns="90965" bIns="45482" numCol="1" anchor="t" anchorCtr="0" compatLnSpc="1"/>
          <a:lstStyle>
            <a:lvl1pPr algn="r" eaLnBrk="0" hangingPunct="0">
              <a:buFont typeface="Arial" panose="020B0604020202020204" pitchFamily="34" charset="0"/>
              <a:buNone/>
              <a:defRPr sz="1200"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E6B58727-90B7-4D21-8D77-D5532243BC06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48" name="Rectangle 4"/>
          <p:cNvSpPr>
            <a:spLocks noGrp="1" noRot="1" noChangeAspect="1"/>
          </p:cNvSpPr>
          <p:nvPr>
            <p:ph type="sldImg"/>
          </p:nvPr>
        </p:nvSpPr>
        <p:spPr>
          <a:xfrm>
            <a:off x="90488" y="744538"/>
            <a:ext cx="6615112" cy="3722687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20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450" y="4716463"/>
            <a:ext cx="5437188" cy="44656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0965" tIns="45482" rIns="90965" bIns="45482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9750"/>
            <a:ext cx="2944813" cy="4968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0965" tIns="45482" rIns="90965" bIns="45482" numCol="1" anchor="b" anchorCtr="0" compatLnSpc="1"/>
          <a:lstStyle>
            <a:lvl1pPr eaLnBrk="0" hangingPunct="0">
              <a:buFont typeface="Arial" panose="020B0604020202020204" pitchFamily="34" charset="0"/>
              <a:buNone/>
              <a:defRPr sz="120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49688" y="9429750"/>
            <a:ext cx="2946400" cy="4968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0965" tIns="45482" rIns="90965" bIns="45482" numCol="1" anchor="b" anchorCtr="0" compatLnSpc="1"/>
          <a:lstStyle/>
          <a:p>
            <a:pPr lvl="0" algn="r" fontAlgn="base">
              <a:buNone/>
            </a:pPr>
            <a:fld id="{9A0DB2DC-4C9A-4742-B13C-FB6460FD3503}" type="slidenum">
              <a:rPr lang="zh-CN" altLang="en-US" sz="1200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z="1200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0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7"/>
          <p:cNvSpPr txBox="1">
            <a:spLocks noGrp="1"/>
          </p:cNvSpPr>
          <p:nvPr>
            <p:ph type="sldNum" sz="quarter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0965" tIns="45482" rIns="90965" bIns="45482" anchor="b" anchorCtr="0"/>
          <a:lstStyle/>
          <a:p>
            <a:pPr lvl="0" algn="r"/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23554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0488" y="744538"/>
            <a:ext cx="6615112" cy="3722687"/>
          </a:xfrm>
        </p:spPr>
      </p:sp>
      <p:sp>
        <p:nvSpPr>
          <p:cNvPr id="23555" name="Rectangle 3"/>
          <p:cNvSpPr>
            <a:spLocks noGrp="1"/>
          </p:cNvSpPr>
          <p:nvPr>
            <p:ph type="body"/>
          </p:nvPr>
        </p:nvSpPr>
        <p:spPr>
          <a:xfrm>
            <a:off x="679450" y="4716463"/>
            <a:ext cx="5437188" cy="4465637"/>
          </a:xfrm>
        </p:spPr>
        <p:txBody>
          <a:bodyPr wrap="square" lIns="90965" tIns="45482" rIns="90965" bIns="45482" anchor="ctr" anchorCtr="0"/>
          <a:lstStyle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7"/>
          <p:cNvSpPr txBox="1">
            <a:spLocks noGrp="1"/>
          </p:cNvSpPr>
          <p:nvPr>
            <p:ph type="sldNum" sz="quarter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0965" tIns="45482" rIns="90965" bIns="45482" anchor="b" anchorCtr="0"/>
          <a:lstStyle/>
          <a:p>
            <a:pPr lvl="0" algn="r"/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25602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0488" y="744538"/>
            <a:ext cx="6615112" cy="3722687"/>
          </a:xfrm>
        </p:spPr>
      </p:sp>
      <p:sp>
        <p:nvSpPr>
          <p:cNvPr id="25603" name="Rectangle 3"/>
          <p:cNvSpPr>
            <a:spLocks noGrp="1"/>
          </p:cNvSpPr>
          <p:nvPr>
            <p:ph type="body"/>
          </p:nvPr>
        </p:nvSpPr>
        <p:spPr>
          <a:xfrm>
            <a:off x="679450" y="4716463"/>
            <a:ext cx="5437188" cy="4465637"/>
          </a:xfrm>
        </p:spPr>
        <p:txBody>
          <a:bodyPr wrap="square" lIns="90965" tIns="45482" rIns="90965" bIns="45482" anchor="ctr" anchorCtr="0"/>
          <a:lstStyle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>
                <a:sym typeface="+mn-ea"/>
              </a:rPr>
              <a:t>冗余并非一定是坏事，我们可以利用冗余来帮助数据库恢复</a:t>
            </a:r>
            <a:endParaRPr lang="zh-CN" altLang="en-US"/>
          </a:p>
          <a:p>
            <a:r>
              <a:rPr lang="zh-CN" altLang="en-US">
                <a:sym typeface="+mn-ea"/>
              </a:rPr>
              <a:t>在分布式环境下，适当的冗余可以增加从本地获取数据的机会，提高查询效率</a:t>
            </a:r>
            <a:endParaRPr lang="zh-CN" altLang="en-US"/>
          </a:p>
          <a:p>
            <a:r>
              <a:rPr lang="zh-CN" altLang="en-US">
                <a:sym typeface="+mn-ea"/>
              </a:rPr>
              <a:t>但冗余也会带来数据不一致问题，并且增大了存储成本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7"/>
          <p:cNvSpPr txBox="1">
            <a:spLocks noGrp="1"/>
          </p:cNvSpPr>
          <p:nvPr>
            <p:ph type="sldNum" sz="quarter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0965" tIns="45482" rIns="90965" bIns="45482" anchor="b" anchorCtr="0"/>
          <a:lstStyle/>
          <a:p>
            <a:pPr lvl="0" algn="r"/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40962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0488" y="744538"/>
            <a:ext cx="6615112" cy="3722687"/>
          </a:xfrm>
        </p:spPr>
      </p:sp>
      <p:sp>
        <p:nvSpPr>
          <p:cNvPr id="40963" name="Rectangle 3"/>
          <p:cNvSpPr>
            <a:spLocks noGrp="1"/>
          </p:cNvSpPr>
          <p:nvPr>
            <p:ph type="body"/>
          </p:nvPr>
        </p:nvSpPr>
        <p:spPr>
          <a:xfrm>
            <a:off x="679450" y="4716463"/>
            <a:ext cx="5437188" cy="4465637"/>
          </a:xfrm>
        </p:spPr>
        <p:txBody>
          <a:bodyPr wrap="square" lIns="90965" tIns="45482" rIns="90965" bIns="45482" anchor="ctr" anchorCtr="0"/>
          <a:lstStyle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Rectangle 7"/>
          <p:cNvSpPr txBox="1">
            <a:spLocks noGrp="1"/>
          </p:cNvSpPr>
          <p:nvPr>
            <p:ph type="sldNum" sz="quarter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0965" tIns="45482" rIns="90965" bIns="45482" anchor="b" anchorCtr="0"/>
          <a:lstStyle/>
          <a:p>
            <a:pPr lvl="0" algn="r"/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44034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0488" y="744538"/>
            <a:ext cx="6615112" cy="3722687"/>
          </a:xfrm>
        </p:spPr>
      </p:sp>
      <p:sp>
        <p:nvSpPr>
          <p:cNvPr id="44035" name="Rectangle 3"/>
          <p:cNvSpPr>
            <a:spLocks noGrp="1"/>
          </p:cNvSpPr>
          <p:nvPr>
            <p:ph type="body"/>
          </p:nvPr>
        </p:nvSpPr>
        <p:spPr>
          <a:xfrm>
            <a:off x="679450" y="4716463"/>
            <a:ext cx="5437188" cy="4465637"/>
          </a:xfrm>
        </p:spPr>
        <p:txBody>
          <a:bodyPr wrap="square" lIns="90965" tIns="45482" rIns="90965" bIns="45482" anchor="ctr" anchorCtr="0"/>
          <a:lstStyle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7"/>
          <p:cNvSpPr txBox="1">
            <a:spLocks noGrp="1"/>
          </p:cNvSpPr>
          <p:nvPr>
            <p:ph type="sldNum" sz="quarter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0965" tIns="45482" rIns="90965" bIns="45482" anchor="b" anchorCtr="0"/>
          <a:lstStyle/>
          <a:p>
            <a:pPr lvl="0" algn="r"/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46082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0488" y="744538"/>
            <a:ext cx="6615112" cy="3722687"/>
          </a:xfrm>
        </p:spPr>
      </p:sp>
      <p:sp>
        <p:nvSpPr>
          <p:cNvPr id="46083" name="Rectangle 3"/>
          <p:cNvSpPr>
            <a:spLocks noGrp="1"/>
          </p:cNvSpPr>
          <p:nvPr>
            <p:ph type="body"/>
          </p:nvPr>
        </p:nvSpPr>
        <p:spPr>
          <a:xfrm>
            <a:off x="679450" y="4716463"/>
            <a:ext cx="5437188" cy="4465637"/>
          </a:xfrm>
        </p:spPr>
        <p:txBody>
          <a:bodyPr wrap="square" lIns="90965" tIns="45482" rIns="90965" bIns="45482" anchor="ctr" anchorCtr="0"/>
          <a:lstStyle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7"/>
          <p:cNvSpPr txBox="1">
            <a:spLocks noGrp="1"/>
          </p:cNvSpPr>
          <p:nvPr>
            <p:ph type="sldNum" sz="quarter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0965" tIns="45482" rIns="90965" bIns="45482" anchor="b" anchorCtr="0"/>
          <a:lstStyle/>
          <a:p>
            <a:pPr lvl="0" algn="r"/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49154" name="Rectangle 1026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0488" y="744538"/>
            <a:ext cx="6615112" cy="3722687"/>
          </a:xfrm>
        </p:spPr>
      </p:sp>
      <p:sp>
        <p:nvSpPr>
          <p:cNvPr id="49155" name="Rectangle 1027"/>
          <p:cNvSpPr>
            <a:spLocks noGrp="1"/>
          </p:cNvSpPr>
          <p:nvPr>
            <p:ph type="body"/>
          </p:nvPr>
        </p:nvSpPr>
        <p:spPr>
          <a:xfrm>
            <a:off x="679450" y="4716463"/>
            <a:ext cx="5437188" cy="4465637"/>
          </a:xfrm>
        </p:spPr>
        <p:txBody>
          <a:bodyPr wrap="square" lIns="90965" tIns="45482" rIns="90965" bIns="45482" anchor="ctr" anchorCtr="0"/>
          <a:lstStyle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7"/>
          <p:cNvSpPr txBox="1">
            <a:spLocks noGrp="1"/>
          </p:cNvSpPr>
          <p:nvPr>
            <p:ph type="sldNum" sz="quarter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0965" tIns="45482" rIns="90965" bIns="45482" anchor="b" anchorCtr="0"/>
          <a:lstStyle/>
          <a:p>
            <a:pPr lvl="0" algn="r"/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52226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0488" y="744538"/>
            <a:ext cx="6615112" cy="3722687"/>
          </a:xfrm>
        </p:spPr>
      </p:sp>
      <p:sp>
        <p:nvSpPr>
          <p:cNvPr id="52227" name="Rectangle 3"/>
          <p:cNvSpPr>
            <a:spLocks noGrp="1"/>
          </p:cNvSpPr>
          <p:nvPr>
            <p:ph type="body"/>
          </p:nvPr>
        </p:nvSpPr>
        <p:spPr>
          <a:xfrm>
            <a:off x="679450" y="4716463"/>
            <a:ext cx="5437188" cy="4465637"/>
          </a:xfrm>
        </p:spPr>
        <p:txBody>
          <a:bodyPr wrap="square" lIns="90965" tIns="45482" rIns="90965" bIns="45482" anchor="ctr" anchorCtr="0"/>
          <a:lstStyle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Rectangle 7"/>
          <p:cNvSpPr txBox="1">
            <a:spLocks noGrp="1"/>
          </p:cNvSpPr>
          <p:nvPr>
            <p:ph type="sldNum" sz="quarter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0965" tIns="45482" rIns="90965" bIns="45482" anchor="b" anchorCtr="0"/>
          <a:lstStyle/>
          <a:p>
            <a:pPr lvl="0" algn="r"/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54274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0488" y="744538"/>
            <a:ext cx="6615112" cy="3722687"/>
          </a:xfrm>
        </p:spPr>
      </p:sp>
      <p:sp>
        <p:nvSpPr>
          <p:cNvPr id="54275" name="Rectangle 3"/>
          <p:cNvSpPr>
            <a:spLocks noGrp="1"/>
          </p:cNvSpPr>
          <p:nvPr>
            <p:ph type="body"/>
          </p:nvPr>
        </p:nvSpPr>
        <p:spPr>
          <a:xfrm>
            <a:off x="679450" y="4716463"/>
            <a:ext cx="5437188" cy="4465637"/>
          </a:xfrm>
        </p:spPr>
        <p:txBody>
          <a:bodyPr wrap="square" lIns="90965" tIns="45482" rIns="90965" bIns="45482" anchor="ctr" anchorCtr="0"/>
          <a:lstStyle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7" name="Rectangle 7"/>
          <p:cNvSpPr txBox="1">
            <a:spLocks noGrp="1"/>
          </p:cNvSpPr>
          <p:nvPr>
            <p:ph type="sldNum" sz="quarter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0965" tIns="45482" rIns="90965" bIns="45482" anchor="b" anchorCtr="0"/>
          <a:lstStyle/>
          <a:p>
            <a:pPr lvl="0" algn="r"/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137218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0488" y="744538"/>
            <a:ext cx="6615112" cy="3722687"/>
          </a:xfrm>
        </p:spPr>
      </p:sp>
      <p:sp>
        <p:nvSpPr>
          <p:cNvPr id="137219" name="Rectangle 3"/>
          <p:cNvSpPr>
            <a:spLocks noGrp="1"/>
          </p:cNvSpPr>
          <p:nvPr>
            <p:ph type="body"/>
          </p:nvPr>
        </p:nvSpPr>
        <p:spPr>
          <a:xfrm>
            <a:off x="679450" y="4716463"/>
            <a:ext cx="5437188" cy="4465637"/>
          </a:xfrm>
        </p:spPr>
        <p:txBody>
          <a:bodyPr wrap="square" lIns="90965" tIns="45482" rIns="90965" bIns="45482" anchor="ctr" anchorCtr="0"/>
          <a:lstStyle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147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ctr" anchorCtr="0"/>
          <a:p>
            <a:pPr lvl="0"/>
            <a:r>
              <a:rPr lang="zh-CN" altLang="en-US" dirty="0"/>
              <a:t>稍微展开讨论，比如有多个删除功能，多个查询功能。对于方式二，文件格式变化，只会影响数据读写模块</a:t>
            </a:r>
            <a:endParaRPr lang="zh-CN" altLang="en-US" dirty="0"/>
          </a:p>
        </p:txBody>
      </p:sp>
      <p:sp>
        <p:nvSpPr>
          <p:cNvPr id="614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70325" y="9477375"/>
            <a:ext cx="2962275" cy="500063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/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5" name="Rectangle 7"/>
          <p:cNvSpPr txBox="1">
            <a:spLocks noGrp="1"/>
          </p:cNvSpPr>
          <p:nvPr>
            <p:ph type="sldNum" sz="quarter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0965" tIns="45482" rIns="90965" bIns="45482" anchor="b" anchorCtr="0"/>
          <a:lstStyle/>
          <a:p>
            <a:pPr lvl="0" algn="r"/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  <p:sp>
        <p:nvSpPr>
          <p:cNvPr id="164866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0488" y="744538"/>
            <a:ext cx="6615112" cy="3722687"/>
          </a:xfrm>
        </p:spPr>
      </p:sp>
      <p:sp>
        <p:nvSpPr>
          <p:cNvPr id="164867" name="Rectangle 3"/>
          <p:cNvSpPr>
            <a:spLocks noGrp="1"/>
          </p:cNvSpPr>
          <p:nvPr>
            <p:ph type="body"/>
          </p:nvPr>
        </p:nvSpPr>
        <p:spPr>
          <a:xfrm>
            <a:off x="679450" y="4716463"/>
            <a:ext cx="5437188" cy="4465637"/>
          </a:xfrm>
        </p:spPr>
        <p:txBody>
          <a:bodyPr wrap="square" lIns="90965" tIns="45482" rIns="90965" bIns="45482" anchor="ctr" anchorCtr="0"/>
          <a:lstStyle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6952" y="4149080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66FA6-1FC0-4DBE-A4A5-CD0E7767505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C7988-FC62-4729-BD5B-04EB8F9CD06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28876"/>
            <a:ext cx="12432704" cy="808522"/>
          </a:xfrm>
        </p:spPr>
        <p:txBody>
          <a:bodyPr>
            <a:normAutofit/>
          </a:bodyPr>
          <a:lstStyle>
            <a:lvl1pPr algn="ctr">
              <a:defRPr sz="3600" b="1" baseline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616819" y="1113355"/>
            <a:ext cx="10515600" cy="4351338"/>
          </a:xfrm>
        </p:spPr>
        <p:txBody>
          <a:bodyPr/>
          <a:lstStyle>
            <a:lvl1pPr marL="342900" indent="-342900" algn="l" rtl="0" eaLnBrk="1" fontAlgn="base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v"/>
              <a:defRPr lang="zh-CN" altLang="en-US" sz="2800" b="1" baseline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685800" indent="-228600">
              <a:buFont typeface="Wingdings" panose="05000000000000000000" pitchFamily="2" charset="2"/>
              <a:buChar char="n"/>
              <a:defRPr b="1" baseline="0"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Wingdings" panose="05000000000000000000" pitchFamily="2" charset="2"/>
              <a:buChar char="l"/>
              <a:defRPr sz="2200" b="1" i="0" baseline="0"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000" b="1" baseline="0">
                <a:latin typeface="Arial" panose="020B0604020202020204" pitchFamily="34" charset="0"/>
                <a:ea typeface="宋体" panose="02010600030101010101" pitchFamily="2" charset="-122"/>
              </a:defRPr>
            </a:lvl4pPr>
          </a:lstStyle>
          <a:p>
            <a:pPr lvl="0"/>
            <a:r>
              <a:rPr lang="zh-CN" altLang="en-US" dirty="0"/>
              <a:t>编辑母版文本样式</a:t>
            </a:r>
            <a:r>
              <a:rPr lang="en-US" altLang="zh-CN" dirty="0" err="1"/>
              <a:t>yangshi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r>
              <a:rPr lang="en-US" altLang="zh-CN" dirty="0" err="1"/>
              <a:t>yangshi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r>
              <a:rPr lang="en-US" altLang="zh-CN" dirty="0" err="1"/>
              <a:t>yangshi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66FA6-1FC0-4DBE-A4A5-CD0E7767505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1"/>
            <a:ext cx="12432704" cy="836712"/>
          </a:xfrm>
        </p:spPr>
        <p:txBody>
          <a:bodyPr>
            <a:normAutofit/>
          </a:bodyPr>
          <a:lstStyle>
            <a:lvl1pPr algn="ctr">
              <a:defRPr sz="3600" b="1" baseline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623392" y="1347308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7136" y="1361066"/>
            <a:ext cx="5181600" cy="4351338"/>
          </a:xfrm>
        </p:spPr>
        <p:txBody>
          <a:bodyPr/>
          <a:lstStyle/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66FA6-1FC0-4DBE-A4A5-CD0E7767505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C7988-FC62-4729-BD5B-04EB8F9CD06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66FA6-1FC0-4DBE-A4A5-CD0E7767505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C7988-FC62-4729-BD5B-04EB8F9CD06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-1"/>
            <a:ext cx="12432704" cy="836713"/>
          </a:xfrm>
        </p:spPr>
        <p:txBody>
          <a:bodyPr>
            <a:normAutofit/>
          </a:bodyPr>
          <a:lstStyle>
            <a:lvl1pPr algn="ctr">
              <a:defRPr sz="3600" b="1" baseline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>
            <a:lvl1pPr>
              <a:defRPr sz="2400" b="1" baseline="0"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200" b="1" i="0" baseline="0">
                <a:latin typeface="Arial" panose="020B0604020202020204" pitchFamily="34" charset="0"/>
                <a:ea typeface="宋体" panose="02010600030101010101" pitchFamily="2" charset="-122"/>
              </a:defRPr>
            </a:lvl2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66FA6-1FC0-4DBE-A4A5-CD0E7767505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C7988-FC62-4729-BD5B-04EB8F9CD06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dgm">
  <p:cSld name="标题和图示或组织结构图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136524"/>
            <a:ext cx="12432704" cy="563563"/>
          </a:xfrm>
        </p:spPr>
        <p:txBody>
          <a:bodyPr>
            <a:noAutofit/>
          </a:bodyPr>
          <a:lstStyle>
            <a:lvl1pPr algn="ctr">
              <a:defRPr sz="3600" b="1" baseline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SmartArt 占位符 2"/>
          <p:cNvSpPr>
            <a:spLocks noGrp="1"/>
          </p:cNvSpPr>
          <p:nvPr>
            <p:ph type="pic" idx="1"/>
          </p:nvPr>
        </p:nvSpPr>
        <p:spPr>
          <a:xfrm>
            <a:off x="578272" y="1181100"/>
            <a:ext cx="10972800" cy="44958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v"/>
              <a:defRPr/>
            </a:pPr>
            <a:endParaRPr kumimoji="0" lang="zh-CN" altLang="en-US" sz="28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Rectangle 15"/>
          <p:cNvSpPr>
            <a:spLocks noGrp="1" noChangeArrowheads="1"/>
          </p:cNvSpPr>
          <p:nvPr>
            <p:ph type="dt" sz="half" idx="2"/>
          </p:nvPr>
        </p:nvSpPr>
        <p:spPr>
          <a:xfrm>
            <a:off x="609600" y="6400801"/>
            <a:ext cx="2844800" cy="320675"/>
          </a:xfrm>
          <a:prstGeom prst="rect">
            <a:avLst/>
          </a:prstGeom>
        </p:spPr>
        <p:txBody>
          <a:bodyPr/>
          <a:lstStyle>
            <a:lvl1pPr eaLnBrk="1" hangingPunct="1"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1" name="Rectangle 16"/>
          <p:cNvSpPr>
            <a:spLocks noGrp="1" noChangeArrowheads="1"/>
          </p:cNvSpPr>
          <p:nvPr>
            <p:ph type="ftr" sz="quarter" idx="3"/>
          </p:nvPr>
        </p:nvSpPr>
        <p:spPr>
          <a:xfrm>
            <a:off x="6959600" y="6381751"/>
            <a:ext cx="4800600" cy="320675"/>
          </a:xfrm>
          <a:prstGeom prst="rect">
            <a:avLst/>
          </a:prstGeom>
        </p:spPr>
        <p:txBody>
          <a:bodyPr/>
          <a:lstStyle>
            <a:lvl1pPr eaLnBrk="1" hangingPunct="1"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19200" y="685801"/>
            <a:ext cx="9855200" cy="563563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828800"/>
            <a:ext cx="5384800" cy="4495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828800"/>
            <a:ext cx="5384800" cy="4495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10" name="Rectangle 15"/>
          <p:cNvSpPr>
            <a:spLocks noGrp="1" noChangeArrowheads="1"/>
          </p:cNvSpPr>
          <p:nvPr>
            <p:ph type="dt" sz="half" idx="12"/>
          </p:nvPr>
        </p:nvSpPr>
        <p:spPr>
          <a:xfrm>
            <a:off x="609600" y="6400801"/>
            <a:ext cx="2844800" cy="320675"/>
          </a:xfrm>
          <a:prstGeom prst="rect">
            <a:avLst/>
          </a:prstGeom>
        </p:spPr>
        <p:txBody>
          <a:bodyPr/>
          <a:lstStyle>
            <a:lvl1pPr eaLnBrk="1" hangingPunct="1"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1" name="Rectangle 16"/>
          <p:cNvSpPr>
            <a:spLocks noGrp="1" noChangeArrowheads="1"/>
          </p:cNvSpPr>
          <p:nvPr>
            <p:ph type="ftr" sz="quarter" idx="3"/>
          </p:nvPr>
        </p:nvSpPr>
        <p:spPr>
          <a:xfrm>
            <a:off x="6959600" y="6381751"/>
            <a:ext cx="4800600" cy="320675"/>
          </a:xfrm>
          <a:prstGeom prst="rect">
            <a:avLst/>
          </a:prstGeom>
        </p:spPr>
        <p:txBody>
          <a:bodyPr/>
          <a:lstStyle>
            <a:lvl1pPr eaLnBrk="1" hangingPunct="1"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标题，文本与两项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19200" y="685801"/>
            <a:ext cx="9855200" cy="563563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828800"/>
            <a:ext cx="5384800" cy="4495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828800"/>
            <a:ext cx="5384800" cy="21717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0" y="4152900"/>
            <a:ext cx="5384800" cy="21717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10" name="Rectangle 15"/>
          <p:cNvSpPr>
            <a:spLocks noGrp="1" noChangeArrowheads="1"/>
          </p:cNvSpPr>
          <p:nvPr>
            <p:ph type="dt" sz="half" idx="12"/>
          </p:nvPr>
        </p:nvSpPr>
        <p:spPr>
          <a:xfrm>
            <a:off x="609600" y="6400801"/>
            <a:ext cx="2844800" cy="320675"/>
          </a:xfrm>
          <a:prstGeom prst="rect">
            <a:avLst/>
          </a:prstGeom>
        </p:spPr>
        <p:txBody>
          <a:bodyPr/>
          <a:lstStyle>
            <a:lvl1pPr eaLnBrk="1" hangingPunct="1"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1" name="Rectangle 16"/>
          <p:cNvSpPr>
            <a:spLocks noGrp="1" noChangeArrowheads="1"/>
          </p:cNvSpPr>
          <p:nvPr>
            <p:ph type="ftr" sz="quarter" idx="13"/>
          </p:nvPr>
        </p:nvSpPr>
        <p:spPr>
          <a:xfrm>
            <a:off x="6959600" y="6381751"/>
            <a:ext cx="4800600" cy="320675"/>
          </a:xfrm>
          <a:prstGeom prst="rect">
            <a:avLst/>
          </a:prstGeom>
        </p:spPr>
        <p:txBody>
          <a:bodyPr/>
          <a:lstStyle>
            <a:lvl1pPr eaLnBrk="1" hangingPunct="1"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标题和表格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122238"/>
            <a:ext cx="12432704" cy="563563"/>
          </a:xfrm>
        </p:spPr>
        <p:txBody>
          <a:bodyPr>
            <a:noAutofit/>
          </a:bodyPr>
          <a:lstStyle>
            <a:lvl1pPr algn="ctr">
              <a:defRPr sz="3600" b="1" baseline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638365" y="1052736"/>
            <a:ext cx="10972800" cy="44958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v"/>
              <a:defRPr/>
            </a:pP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Rectangle 15"/>
          <p:cNvSpPr>
            <a:spLocks noGrp="1" noChangeArrowheads="1"/>
          </p:cNvSpPr>
          <p:nvPr>
            <p:ph type="dt" sz="half" idx="2"/>
          </p:nvPr>
        </p:nvSpPr>
        <p:spPr>
          <a:xfrm>
            <a:off x="609600" y="6400801"/>
            <a:ext cx="2844800" cy="320675"/>
          </a:xfrm>
          <a:prstGeom prst="rect">
            <a:avLst/>
          </a:prstGeom>
        </p:spPr>
        <p:txBody>
          <a:bodyPr/>
          <a:lstStyle>
            <a:lvl1pPr eaLnBrk="1" hangingPunct="1"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1" name="Rectangle 16"/>
          <p:cNvSpPr>
            <a:spLocks noGrp="1" noChangeArrowheads="1"/>
          </p:cNvSpPr>
          <p:nvPr>
            <p:ph type="ftr" sz="quarter" idx="3"/>
          </p:nvPr>
        </p:nvSpPr>
        <p:spPr>
          <a:xfrm>
            <a:off x="6959600" y="6381751"/>
            <a:ext cx="4800600" cy="320675"/>
          </a:xfrm>
          <a:prstGeom prst="rect">
            <a:avLst/>
          </a:prstGeom>
        </p:spPr>
        <p:txBody>
          <a:bodyPr/>
          <a:lstStyle>
            <a:lvl1pPr eaLnBrk="1" hangingPunct="1"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../media/image4.png"/><Relationship Id="rId12" Type="http://schemas.openxmlformats.org/officeDocument/2006/relationships/image" Target="../media/image3.png"/><Relationship Id="rId11" Type="http://schemas.microsoft.com/office/2007/relationships/hdphoto" Target="../media/image2.wdp"/><Relationship Id="rId10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466FA6-1FC0-4DBE-A4A5-CD0E7767505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l" defTabSz="914400" rtl="0" eaLnBrk="1" latinLnBrk="0" hangingPunct="1">
              <a:defRPr lang="en-US" altLang="zh-CN" sz="1800" kern="1200" smtClean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Database </a:t>
            </a:r>
            <a:r>
              <a:rPr lang="en-US" dirty="0" err="1"/>
              <a:t>SystemsIntroduction</a:t>
            </a:r>
            <a:r>
              <a:rPr lang="en-US" dirty="0"/>
              <a:t> to </a:t>
            </a:r>
            <a:endParaRPr lang="en-US" dirty="0"/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rightnessContrast bright="-13000"/>
                    </a14:imgEffect>
                    <a14:imgEffect>
                      <a14:colorTemperature colorTemp="5050"/>
                    </a14:imgEffect>
                    <a14:imgEffect>
                      <a14:saturation sat="1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432703" cy="6866938"/>
          </a:xfrm>
          <a:prstGeom prst="rect">
            <a:avLst/>
          </a:prstGeom>
          <a:effectLst>
            <a:glow>
              <a:schemeClr val="accent1">
                <a:alpha val="40000"/>
              </a:schemeClr>
            </a:glow>
            <a:softEdge rad="0"/>
          </a:effectLst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8588"/>
            <a:ext cx="12432703" cy="5585963"/>
          </a:xfrm>
          <a:prstGeom prst="rect">
            <a:avLst/>
          </a:prstGeom>
        </p:spPr>
      </p:pic>
      <p:pic>
        <p:nvPicPr>
          <p:cNvPr id="13" name="Picture 9" descr="图片3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0525393" y="4838256"/>
            <a:ext cx="1528762" cy="202868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4" name="灯片编号占位符 5"/>
          <p:cNvSpPr txBox="1"/>
          <p:nvPr userDrawn="1"/>
        </p:nvSpPr>
        <p:spPr>
          <a:xfrm>
            <a:off x="8684502" y="6463182"/>
            <a:ext cx="3748201" cy="365125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baseline="0" dirty="0">
                <a:latin typeface="Arial" panose="020B0604020202020204" pitchFamily="34" charset="0"/>
              </a:rPr>
              <a:t>Introduction to Database Systems</a:t>
            </a:r>
            <a:endParaRPr lang="zh-CN" altLang="en-US" baseline="0" dirty="0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1.xml"/><Relationship Id="rId3" Type="http://schemas.openxmlformats.org/officeDocument/2006/relationships/image" Target="../media/image5.png"/><Relationship Id="rId2" Type="http://schemas.microsoft.com/office/2007/relationships/hdphoto" Target="../media/image2.wdp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tags" Target="../tags/tag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1" Type="http://schemas.openxmlformats.org/officeDocument/2006/relationships/tags" Target="../tags/tag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.png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12.png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15.jpeg"/><Relationship Id="rId5" Type="http://schemas.openxmlformats.org/officeDocument/2006/relationships/tags" Target="../tags/tag6.xml"/><Relationship Id="rId4" Type="http://schemas.openxmlformats.org/officeDocument/2006/relationships/image" Target="../media/image14.jpeg"/><Relationship Id="rId3" Type="http://schemas.openxmlformats.org/officeDocument/2006/relationships/tags" Target="../tags/tag5.xml"/><Relationship Id="rId2" Type="http://schemas.openxmlformats.org/officeDocument/2006/relationships/image" Target="../media/image13.png"/><Relationship Id="rId1" Type="http://schemas.openxmlformats.org/officeDocument/2006/relationships/tags" Target="../tags/tag4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4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7.png"/><Relationship Id="rId1" Type="http://schemas.openxmlformats.org/officeDocument/2006/relationships/tags" Target="../tags/tag10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8.png"/><Relationship Id="rId1" Type="http://schemas.openxmlformats.org/officeDocument/2006/relationships/tags" Target="../tags/tag11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png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/>
          <a:p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-13000"/>
                    </a14:imgEffect>
                    <a14:imgEffect>
                      <a14:colorTemperature colorTemp="5050"/>
                    </a14:imgEffect>
                    <a14:imgEffect>
                      <a14:saturation sat="1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38200" y="-505488"/>
            <a:ext cx="13716000" cy="8049288"/>
          </a:xfrm>
          <a:prstGeom prst="rect">
            <a:avLst/>
          </a:prstGeom>
          <a:effectLst>
            <a:glow>
              <a:schemeClr val="accent1">
                <a:alpha val="40000"/>
              </a:schemeClr>
            </a:glow>
            <a:softEdge rad="0"/>
          </a:effectLst>
        </p:spPr>
      </p:pic>
      <p:sp>
        <p:nvSpPr>
          <p:cNvPr id="7" name="文本框 6"/>
          <p:cNvSpPr txBox="1"/>
          <p:nvPr/>
        </p:nvSpPr>
        <p:spPr>
          <a:xfrm>
            <a:off x="510259" y="2355247"/>
            <a:ext cx="10960767" cy="144655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  <a:bevelB w="38100" h="38100"/>
            </a:sp3d>
          </a:bodyPr>
          <a:lstStyle/>
          <a:p>
            <a:pPr algn="ctr">
              <a:buFont typeface="Arial" panose="020B0604020202020204" pitchFamily="34" charset="0"/>
            </a:pPr>
            <a:r>
              <a:rPr lang="en-US" altLang="zh-CN" sz="54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宋体" panose="02010600030101010101" pitchFamily="2" charset="-122"/>
              </a:rPr>
              <a:t>Introduction to Database Systems</a:t>
            </a:r>
            <a:r>
              <a:rPr lang="zh-CN" altLang="en-US" sz="8800" dirty="0"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 </a:t>
            </a:r>
            <a:endParaRPr lang="en-US" altLang="zh-CN" sz="5400" b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2400300" y="3910260"/>
            <a:ext cx="3368766" cy="0"/>
          </a:xfrm>
          <a:prstGeom prst="line">
            <a:avLst/>
          </a:prstGeom>
          <a:ln w="19050">
            <a:solidFill>
              <a:schemeClr val="bg1"/>
            </a:solidFill>
          </a:ln>
          <a:scene3d>
            <a:camera prst="orthographicFront"/>
            <a:lightRig rig="threePt" dir="t"/>
          </a:scene3d>
          <a:sp3d contourW="12700">
            <a:bevelB/>
            <a:contourClr>
              <a:schemeClr val="bg1"/>
            </a:contourClr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6422934" y="3910260"/>
            <a:ext cx="3368766" cy="0"/>
          </a:xfrm>
          <a:prstGeom prst="line">
            <a:avLst/>
          </a:prstGeom>
          <a:ln w="19050">
            <a:solidFill>
              <a:schemeClr val="bg1"/>
            </a:solidFill>
          </a:ln>
          <a:scene3d>
            <a:camera prst="orthographicFront"/>
            <a:lightRig rig="threePt" dir="t"/>
          </a:scene3d>
          <a:sp3d contourW="12700">
            <a:bevelB/>
            <a:contourClr>
              <a:schemeClr val="bg1"/>
            </a:contourClr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/>
          <p:cNvSpPr/>
          <p:nvPr/>
        </p:nvSpPr>
        <p:spPr>
          <a:xfrm rot="18900000">
            <a:off x="5953558" y="3767729"/>
            <a:ext cx="284886" cy="284884"/>
          </a:xfrm>
          <a:prstGeom prst="rect">
            <a:avLst/>
          </a:prstGeom>
          <a:ln w="19050">
            <a:solidFill>
              <a:schemeClr val="bg1"/>
            </a:solidFill>
          </a:ln>
          <a:scene3d>
            <a:camera prst="orthographicFront"/>
            <a:lightRig rig="threePt" dir="t"/>
          </a:scene3d>
          <a:sp3d contourW="12700">
            <a:bevelB/>
            <a:contourClr>
              <a:schemeClr val="bg1"/>
            </a:contourClr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rcRect t="50000"/>
          <a:stretch>
            <a:fillRect/>
          </a:stretch>
        </p:blipFill>
        <p:spPr>
          <a:xfrm>
            <a:off x="5730208" y="3894867"/>
            <a:ext cx="731583" cy="365792"/>
          </a:xfrm>
          <a:custGeom>
            <a:avLst/>
            <a:gdLst>
              <a:gd name="connsiteX0" fmla="*/ 0 w 731583"/>
              <a:gd name="connsiteY0" fmla="*/ 0 h 365792"/>
              <a:gd name="connsiteX1" fmla="*/ 731583 w 731583"/>
              <a:gd name="connsiteY1" fmla="*/ 0 h 365792"/>
              <a:gd name="connsiteX2" fmla="*/ 731583 w 731583"/>
              <a:gd name="connsiteY2" fmla="*/ 365792 h 365792"/>
              <a:gd name="connsiteX3" fmla="*/ 0 w 731583"/>
              <a:gd name="connsiteY3" fmla="*/ 365792 h 3657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1583" h="365792">
                <a:moveTo>
                  <a:pt x="0" y="0"/>
                </a:moveTo>
                <a:lnTo>
                  <a:pt x="731583" y="0"/>
                </a:lnTo>
                <a:lnTo>
                  <a:pt x="731583" y="365792"/>
                </a:lnTo>
                <a:lnTo>
                  <a:pt x="0" y="365792"/>
                </a:lnTo>
                <a:close/>
              </a:path>
            </a:pathLst>
          </a:custGeom>
        </p:spPr>
      </p:pic>
      <p:sp>
        <p:nvSpPr>
          <p:cNvPr id="12" name="矩形 11"/>
          <p:cNvSpPr/>
          <p:nvPr/>
        </p:nvSpPr>
        <p:spPr>
          <a:xfrm>
            <a:off x="4632750" y="4857777"/>
            <a:ext cx="292649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80000"/>
              </a:lnSpc>
              <a:spcBef>
                <a:spcPct val="20000"/>
              </a:spcBef>
              <a:buClrTx/>
              <a:buFont typeface="Wingdings" panose="05000000000000000000" pitchFamily="2" charset="2"/>
            </a:pPr>
            <a:r>
              <a:rPr lang="zh-CN" altLang="en-US" sz="2000" b="1" dirty="0">
                <a:solidFill>
                  <a:schemeClr val="bg1"/>
                </a:solidFill>
                <a:latin typeface="Times-Roman" charset="0"/>
                <a:ea typeface="隶书" panose="02010509060101010101" pitchFamily="49" charset="-122"/>
              </a:rPr>
              <a:t>中国人民大学信息学院</a:t>
            </a:r>
            <a:endParaRPr lang="zh-CN" altLang="en-US" sz="2000" b="1" dirty="0">
              <a:solidFill>
                <a:schemeClr val="bg1"/>
              </a:solidFill>
              <a:latin typeface="Times-Roman" charset="0"/>
              <a:ea typeface="隶书" panose="02010509060101010101" pitchFamily="49" charset="-122"/>
            </a:endParaRPr>
          </a:p>
        </p:txBody>
      </p:sp>
      <p:sp>
        <p:nvSpPr>
          <p:cNvPr id="13" name="PA_文本框 15"/>
          <p:cNvSpPr txBox="1"/>
          <p:nvPr>
            <p:custDataLst>
              <p:tags r:id="rId4"/>
            </p:custDataLst>
          </p:nvPr>
        </p:nvSpPr>
        <p:spPr>
          <a:xfrm>
            <a:off x="3883362" y="5365141"/>
            <a:ext cx="4425273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ctr">
              <a:buFont typeface="Arial" panose="020B0604020202020204" pitchFamily="34" charset="0"/>
            </a:pPr>
            <a:r>
              <a:rPr lang="en-US" altLang="zh-CN" sz="1600" b="1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School of Information</a:t>
            </a:r>
            <a:endParaRPr lang="en-US" altLang="zh-CN" sz="1600" b="1" dirty="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342900" indent="-342900" algn="ctr">
              <a:buFont typeface="Arial" panose="020B0604020202020204" pitchFamily="34" charset="0"/>
            </a:pPr>
            <a:r>
              <a:rPr lang="en-US" altLang="zh-CN" sz="1600" b="1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Renmin University of China</a:t>
            </a:r>
            <a:endParaRPr lang="en-US" altLang="zh-CN" sz="1600" b="1" dirty="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342900" indent="-342900" algn="ctr">
              <a:buFont typeface="Arial" panose="020B0604020202020204" pitchFamily="34" charset="0"/>
            </a:pPr>
            <a:r>
              <a:rPr lang="en-US" altLang="zh-CN" sz="1600" b="1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2025</a:t>
            </a:r>
            <a:endParaRPr lang="en-US" altLang="zh-CN" sz="1600" b="1" dirty="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558089" y="1183892"/>
            <a:ext cx="8945479" cy="156966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  <a:bevelB w="38100" h="38100"/>
            </a:sp3d>
          </a:bodyPr>
          <a:lstStyle/>
          <a:p>
            <a:pPr algn="ctr">
              <a:buFont typeface="Arial" panose="020B0604020202020204" pitchFamily="34" charset="0"/>
            </a:pPr>
            <a:r>
              <a:rPr lang="zh-CN" altLang="en-US" sz="96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数据库系统概论</a:t>
            </a:r>
            <a:endParaRPr lang="en-US" altLang="zh-CN" sz="9600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3"/>
          <p:cNvSpPr/>
          <p:nvPr/>
        </p:nvSpPr>
        <p:spPr>
          <a:xfrm>
            <a:off x="2279650" y="1700808"/>
            <a:ext cx="7924800" cy="32194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algn="ctr">
              <a:lnSpc>
                <a:spcPct val="120000"/>
              </a:lnSpc>
              <a:buFont typeface="Arial" panose="020B0604020202020204" pitchFamily="34" charset="0"/>
            </a:pPr>
            <a:r>
              <a:rPr lang="zh-CN" altLang="en-US" sz="6000" dirty="0">
                <a:latin typeface="黑体" panose="02010609060101010101" pitchFamily="49" charset="-122"/>
                <a:ea typeface="黑体" panose="02010609060101010101" pitchFamily="49" charset="-122"/>
              </a:rPr>
              <a:t>数据库系统概论</a:t>
            </a:r>
            <a:endParaRPr lang="zh-CN" altLang="en-US" sz="60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>
              <a:lnSpc>
                <a:spcPct val="120000"/>
              </a:lnSpc>
              <a:buFont typeface="Arial" panose="020B0604020202020204" pitchFamily="34" charset="0"/>
            </a:pPr>
            <a:endParaRPr lang="en-US" altLang="zh-CN" sz="36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>
              <a:buFont typeface="Arial" panose="020B0604020202020204" pitchFamily="34" charset="0"/>
            </a:pPr>
            <a:endParaRPr lang="en-US" altLang="zh-CN" sz="4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>
              <a:buFont typeface="Arial" panose="020B0604020202020204" pitchFamily="34" charset="0"/>
            </a:pPr>
            <a:r>
              <a:rPr lang="zh-CN" altLang="en-US" sz="4400" b="1" dirty="0">
                <a:latin typeface="黑体" panose="02010609060101010101" pitchFamily="49" charset="-122"/>
                <a:ea typeface="黑体" panose="02010609060101010101" pitchFamily="49" charset="-122"/>
              </a:rPr>
              <a:t>第一章  绪论</a:t>
            </a:r>
            <a:endParaRPr lang="zh-CN" altLang="en-US" sz="4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>
    <p:wipe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第一章  绪论</a:t>
            </a:r>
            <a:endParaRPr lang="zh-CN" altLang="en-US" sz="3600" dirty="0"/>
          </a:p>
        </p:txBody>
      </p:sp>
      <p:sp>
        <p:nvSpPr>
          <p:cNvPr id="24578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>
            <a:normAutofit/>
          </a:bodyPr>
          <a:lstStyle/>
          <a:p>
            <a:pPr lvl="1" eaLnBrk="1" hangingPunct="1">
              <a:lnSpc>
                <a:spcPct val="150000"/>
              </a:lnSpc>
              <a:buNone/>
            </a:pPr>
            <a:r>
              <a:rPr lang="en-US" altLang="zh-CN" sz="3200" dirty="0">
                <a:solidFill>
                  <a:srgbClr val="0066FF"/>
                </a:solidFill>
              </a:rPr>
              <a:t>  1.1 </a:t>
            </a:r>
            <a:r>
              <a:rPr lang="zh-CN" altLang="en-US" sz="2800" dirty="0">
                <a:solidFill>
                  <a:srgbClr val="0066FF"/>
                </a:solidFill>
              </a:rPr>
              <a:t>数据库系统概述</a:t>
            </a:r>
            <a:endParaRPr lang="zh-CN" altLang="en-US" sz="2800" dirty="0">
              <a:solidFill>
                <a:srgbClr val="0066FF"/>
              </a:solidFill>
            </a:endParaRPr>
          </a:p>
          <a:p>
            <a:pPr lvl="1" eaLnBrk="1" hangingPunct="1">
              <a:lnSpc>
                <a:spcPct val="150000"/>
              </a:lnSpc>
              <a:buNone/>
            </a:pPr>
            <a:r>
              <a:rPr lang="en-US" altLang="zh-CN" sz="2800" dirty="0"/>
              <a:t>  1.2  </a:t>
            </a:r>
            <a:r>
              <a:rPr lang="zh-CN" altLang="en-US" sz="2800" dirty="0"/>
              <a:t>数据模型</a:t>
            </a:r>
            <a:endParaRPr lang="zh-CN" altLang="en-US" sz="2800" dirty="0"/>
          </a:p>
          <a:p>
            <a:pPr lvl="1" eaLnBrk="1" hangingPunct="1">
              <a:lnSpc>
                <a:spcPct val="150000"/>
              </a:lnSpc>
              <a:buNone/>
            </a:pPr>
            <a:r>
              <a:rPr lang="en-US" altLang="zh-CN" sz="2800" dirty="0"/>
              <a:t>  1.3  </a:t>
            </a:r>
            <a:r>
              <a:rPr lang="zh-CN" altLang="en-US" sz="2800" dirty="0"/>
              <a:t>数据库系统的三级模式结构</a:t>
            </a:r>
            <a:endParaRPr lang="zh-CN" altLang="en-US" sz="2800" dirty="0"/>
          </a:p>
          <a:p>
            <a:pPr lvl="1" eaLnBrk="1" hangingPunct="1">
              <a:lnSpc>
                <a:spcPct val="150000"/>
              </a:lnSpc>
              <a:buNone/>
            </a:pPr>
            <a:r>
              <a:rPr lang="en-US" altLang="zh-CN" sz="2800" dirty="0"/>
              <a:t>  1.4  </a:t>
            </a:r>
            <a:r>
              <a:rPr lang="zh-CN" altLang="en-US" sz="2800" dirty="0"/>
              <a:t>数据库系统的组成</a:t>
            </a:r>
            <a:endParaRPr lang="en-US" altLang="zh-CN" sz="2800" dirty="0"/>
          </a:p>
          <a:p>
            <a:pPr lvl="1" eaLnBrk="1" hangingPunct="1">
              <a:lnSpc>
                <a:spcPct val="150000"/>
              </a:lnSpc>
              <a:buNone/>
            </a:pPr>
            <a:r>
              <a:rPr lang="en-US" altLang="zh-CN" sz="3200" dirty="0">
                <a:sym typeface="Calibri" panose="020F0502020204030204" pitchFamily="34" charset="0"/>
              </a:rPr>
              <a:t>* </a:t>
            </a:r>
            <a:r>
              <a:rPr lang="en-US" altLang="zh-CN" sz="2800" dirty="0"/>
              <a:t>1.5  </a:t>
            </a:r>
            <a:r>
              <a:rPr lang="zh-CN" altLang="en-US" sz="2800" dirty="0"/>
              <a:t>数据库系统的体系结构</a:t>
            </a:r>
            <a:endParaRPr lang="en-US" altLang="zh-CN" sz="2800" dirty="0"/>
          </a:p>
          <a:p>
            <a:pPr lvl="1" eaLnBrk="1" hangingPunct="1">
              <a:lnSpc>
                <a:spcPct val="150000"/>
              </a:lnSpc>
              <a:buNone/>
            </a:pPr>
            <a:r>
              <a:rPr lang="en-US" altLang="zh-CN" sz="2800" dirty="0"/>
              <a:t>  1.6</a:t>
            </a:r>
            <a:r>
              <a:rPr lang="zh-CN" altLang="en-US" sz="2800" dirty="0"/>
              <a:t>  小结</a:t>
            </a:r>
            <a:endParaRPr lang="zh-CN" altLang="en-US"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 descr="第一章-导出 (1)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18745" y="1484630"/>
            <a:ext cx="12192000" cy="32289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数据！</a:t>
            </a:r>
            <a:r>
              <a:rPr lang="en-US" altLang="zh-CN"/>
              <a:t>=</a:t>
            </a:r>
            <a:r>
              <a:rPr lang="zh-CN" altLang="en-US"/>
              <a:t>数字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0000"/>
          </a:bodyPr>
          <a:p>
            <a:r>
              <a:rPr lang="zh-CN" altLang="en-US"/>
              <a:t>何谓数据？值</a:t>
            </a:r>
            <a:r>
              <a:rPr lang="en-US" altLang="zh-CN"/>
              <a:t>+</a:t>
            </a:r>
            <a:r>
              <a:rPr>
                <a:solidFill>
                  <a:srgbClr val="C00000"/>
                </a:solidFill>
              </a:rPr>
              <a:t>语义</a:t>
            </a:r>
            <a:endParaRPr lang="zh-CN" altLang="en-US"/>
          </a:p>
          <a:p>
            <a:r>
              <a:rPr lang="zh-CN" altLang="en-US"/>
              <a:t>值：在计算机中均以二进制</a:t>
            </a:r>
            <a:r>
              <a:rPr lang="zh-CN" altLang="en-US"/>
              <a:t>描述</a:t>
            </a:r>
            <a:endParaRPr lang="zh-CN" altLang="en-US"/>
          </a:p>
          <a:p>
            <a:pPr lvl="1"/>
            <a:r>
              <a:rPr lang="zh-CN" altLang="en-US" sz="2400"/>
              <a:t>数值型数据，如身高、体重、价格、人数等</a:t>
            </a:r>
            <a:endParaRPr lang="zh-CN" altLang="en-US" sz="2400"/>
          </a:p>
          <a:p>
            <a:pPr lvl="1"/>
            <a:r>
              <a:rPr lang="zh-CN" altLang="en-US" sz="2400"/>
              <a:t>非数值型数据，如图像，文本，音乐，视频等</a:t>
            </a:r>
            <a:endParaRPr lang="zh-CN" altLang="en-US"/>
          </a:p>
          <a:p>
            <a:r>
              <a:rPr lang="zh-CN" altLang="en-US"/>
              <a:t>语义：数据的含义，同一个值可以有不同</a:t>
            </a:r>
            <a:r>
              <a:rPr lang="zh-CN" altLang="en-US"/>
              <a:t>含义</a:t>
            </a:r>
            <a:endParaRPr lang="zh-CN" altLang="en-US"/>
          </a:p>
          <a:p>
            <a:pPr lvl="1"/>
            <a:r>
              <a:rPr lang="en-US" altLang="zh-CN"/>
              <a:t>1.9 </a:t>
            </a:r>
            <a:r>
              <a:rPr lang="zh-CN" altLang="en-US"/>
              <a:t>可能是身高，也可能是床的宽度，还可能是笔记本</a:t>
            </a:r>
            <a:r>
              <a:rPr lang="zh-CN" altLang="en-US"/>
              <a:t>电脑的</a:t>
            </a:r>
            <a:r>
              <a:rPr lang="zh-CN" altLang="en-US"/>
              <a:t>重量</a:t>
            </a:r>
            <a:endParaRPr lang="zh-CN" altLang="en-US"/>
          </a:p>
          <a:p>
            <a:pPr lvl="0"/>
            <a:r>
              <a:rPr lang="en-US" altLang="zh-CN"/>
              <a:t>“描述事物的符号记录称为数据”</a:t>
            </a:r>
            <a:endParaRPr lang="en-US" altLang="zh-CN"/>
          </a:p>
          <a:p>
            <a:pPr lvl="0"/>
            <a:r>
              <a:t>数据库中的数据，通常以一条条</a:t>
            </a:r>
            <a:r>
              <a:rPr>
                <a:solidFill>
                  <a:srgbClr val="C00000"/>
                </a:solidFill>
              </a:rPr>
              <a:t>记录</a:t>
            </a:r>
            <a:r>
              <a:t>的形式</a:t>
            </a:r>
            <a:r>
              <a:t>出现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1198880" y="5300980"/>
            <a:ext cx="778002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400" dirty="0">
                <a:sym typeface="+mn-ea"/>
              </a:rPr>
              <a:t>（</a:t>
            </a:r>
            <a:r>
              <a:rPr lang="en-US" altLang="zh-CN" sz="2400" dirty="0">
                <a:sym typeface="+mn-ea"/>
              </a:rPr>
              <a:t>2018002</a:t>
            </a:r>
            <a:r>
              <a:rPr lang="zh-CN" altLang="en-US" sz="2400" dirty="0">
                <a:sym typeface="+mn-ea"/>
              </a:rPr>
              <a:t>，刘晨，女，</a:t>
            </a:r>
            <a:r>
              <a:rPr lang="en-US" altLang="zh-CN" sz="2400" dirty="0">
                <a:sym typeface="+mn-ea"/>
              </a:rPr>
              <a:t>1999-9-1</a:t>
            </a:r>
            <a:r>
              <a:rPr lang="zh-CN" altLang="en-US" sz="2400" dirty="0">
                <a:sym typeface="+mn-ea"/>
              </a:rPr>
              <a:t>，计算机科学与技术）</a:t>
            </a:r>
            <a:endParaRPr lang="zh-CN" altLang="en-US" sz="2400" dirty="0">
              <a:sym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数据库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20000"/>
          </a:bodyPr>
          <a:p>
            <a:r>
              <a:rPr lang="zh-CN" altLang="en-US"/>
              <a:t>本质</a:t>
            </a:r>
            <a:r>
              <a:rPr lang="zh-CN" altLang="en-US"/>
              <a:t>是数据的</a:t>
            </a:r>
            <a:r>
              <a:rPr lang="zh-CN" altLang="en-US"/>
              <a:t>集合</a:t>
            </a:r>
            <a:endParaRPr lang="zh-CN" altLang="en-US"/>
          </a:p>
          <a:p>
            <a:r>
              <a:rPr lang="zh-CN" altLang="en-US"/>
              <a:t>所谓数据库， 就是</a:t>
            </a:r>
            <a:r>
              <a:rPr lang="zh-CN" altLang="en-US">
                <a:solidFill>
                  <a:srgbClr val="C00000"/>
                </a:solidFill>
              </a:rPr>
              <a:t>长期存储</a:t>
            </a:r>
            <a:r>
              <a:rPr lang="zh-CN" altLang="en-US"/>
              <a:t>在计算机内</a:t>
            </a:r>
            <a:r>
              <a:rPr lang="zh-CN" altLang="en-US">
                <a:solidFill>
                  <a:srgbClr val="C00000"/>
                </a:solidFill>
              </a:rPr>
              <a:t>有组织</a:t>
            </a:r>
            <a:r>
              <a:rPr lang="zh-CN" altLang="en-US"/>
              <a:t>、 </a:t>
            </a:r>
            <a:r>
              <a:rPr lang="zh-CN" altLang="en-US">
                <a:solidFill>
                  <a:srgbClr val="C00000"/>
                </a:solidFill>
              </a:rPr>
              <a:t>可共享</a:t>
            </a:r>
            <a:r>
              <a:rPr lang="zh-CN" altLang="en-US"/>
              <a:t>的大量</a:t>
            </a:r>
            <a:r>
              <a:rPr lang="zh-CN" altLang="en-US">
                <a:solidFill>
                  <a:srgbClr val="C00000"/>
                </a:solidFill>
              </a:rPr>
              <a:t>数据的集合</a:t>
            </a:r>
            <a:endParaRPr lang="zh-CN" altLang="en-US">
              <a:solidFill>
                <a:srgbClr val="C00000"/>
              </a:solidFill>
            </a:endParaRPr>
          </a:p>
          <a:p>
            <a:r>
              <a:rPr lang="zh-CN" altLang="en-US"/>
              <a:t>按一定的</a:t>
            </a:r>
            <a:r>
              <a:rPr lang="zh-CN" altLang="en-US">
                <a:solidFill>
                  <a:srgbClr val="C00000"/>
                </a:solidFill>
              </a:rPr>
              <a:t>数据模型</a:t>
            </a:r>
            <a:r>
              <a:rPr lang="zh-CN" altLang="en-US"/>
              <a:t>组织、 描述和存储， 具有较小的</a:t>
            </a:r>
            <a:r>
              <a:rPr lang="zh-CN" altLang="en-US">
                <a:solidFill>
                  <a:srgbClr val="C00000"/>
                </a:solidFill>
              </a:rPr>
              <a:t>数据冗余</a:t>
            </a:r>
            <a:r>
              <a:rPr lang="zh-CN" altLang="en-US"/>
              <a:t>、 较高的</a:t>
            </a:r>
            <a:r>
              <a:rPr lang="zh-CN" altLang="en-US">
                <a:solidFill>
                  <a:srgbClr val="C00000"/>
                </a:solidFill>
              </a:rPr>
              <a:t>数据独立性</a:t>
            </a:r>
            <a:r>
              <a:rPr lang="zh-CN" altLang="en-US"/>
              <a:t>和</a:t>
            </a:r>
            <a:r>
              <a:rPr lang="zh-CN" altLang="en-US">
                <a:solidFill>
                  <a:srgbClr val="C00000"/>
                </a:solidFill>
              </a:rPr>
              <a:t>可扩展性</a:t>
            </a:r>
            <a:r>
              <a:rPr lang="zh-CN" altLang="en-US"/>
              <a:t>， 并可为各种用户</a:t>
            </a:r>
            <a:r>
              <a:rPr lang="zh-CN" altLang="en-US">
                <a:solidFill>
                  <a:srgbClr val="C00000"/>
                </a:solidFill>
              </a:rPr>
              <a:t>共享</a:t>
            </a:r>
            <a:endParaRPr lang="zh-CN" altLang="en-US">
              <a:solidFill>
                <a:srgbClr val="C00000"/>
              </a:solidFill>
            </a:endParaRPr>
          </a:p>
          <a:p>
            <a:endParaRPr lang="zh-CN" altLang="en-US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关于冗余的</a:t>
            </a:r>
            <a:r>
              <a:rPr lang="zh-CN" altLang="en-US"/>
              <a:t>讨论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>
                <a:sym typeface="+mn-ea"/>
              </a:rPr>
              <a:t>什么是数据</a:t>
            </a:r>
            <a:r>
              <a:rPr>
                <a:sym typeface="+mn-ea"/>
              </a:rPr>
              <a:t>冗余？</a:t>
            </a:r>
            <a:endParaRPr>
              <a:sym typeface="+mn-ea"/>
            </a:endParaRPr>
          </a:p>
          <a:p>
            <a:r>
              <a:rPr>
                <a:sym typeface="+mn-ea"/>
              </a:rPr>
              <a:t>数据冗余的好处和坏处？</a:t>
            </a:r>
            <a:endParaRPr lang="zh-CN" altLang="en-US" dirty="0"/>
          </a:p>
          <a:p>
            <a:endParaRPr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参考</a:t>
            </a:r>
            <a:r>
              <a:rPr lang="zh-CN" altLang="en-US"/>
              <a:t>答案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数据冗余指同一份数据在多个不同地方存储，比如我们的基本信息在学校、医院、公安、银行等多个信息系统存储，甚至同一个信息系统（比如微人大）中也会多次存储同一个信息（</a:t>
            </a:r>
            <a:r>
              <a:rPr lang="zh-CN" altLang="en-US"/>
              <a:t>姓名）。</a:t>
            </a:r>
            <a:endParaRPr lang="zh-CN" altLang="en-US"/>
          </a:p>
          <a:p>
            <a:r>
              <a:rPr lang="zh-CN" altLang="en-US"/>
              <a:t>数据冗余可能导致数据的不一致，存储空间的浪费，更新操作复杂等问题；但冗余也可以便利查询操作、增加</a:t>
            </a:r>
            <a:r>
              <a:rPr lang="zh-CN" altLang="en-US"/>
              <a:t>安全性</a:t>
            </a:r>
            <a:endParaRPr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sz="3600" dirty="0"/>
              <a:t>3.</a:t>
            </a:r>
            <a:r>
              <a:rPr lang="zh-CN" altLang="en-US" sz="3600" dirty="0"/>
              <a:t>数据库管理系统</a:t>
            </a:r>
            <a:endParaRPr lang="zh-CN" altLang="en-US" sz="3600" dirty="0">
              <a:solidFill>
                <a:schemeClr val="tx1"/>
              </a:solidFill>
            </a:endParaRPr>
          </a:p>
        </p:txBody>
      </p:sp>
      <p:sp>
        <p:nvSpPr>
          <p:cNvPr id="39938" name="Rectangle 3"/>
          <p:cNvSpPr>
            <a:spLocks noGrp="1"/>
          </p:cNvSpPr>
          <p:nvPr>
            <p:ph idx="1"/>
          </p:nvPr>
        </p:nvSpPr>
        <p:spPr>
          <a:xfrm>
            <a:off x="1199456" y="1268413"/>
            <a:ext cx="8852594" cy="4489450"/>
          </a:xfrm>
        </p:spPr>
        <p:txBody>
          <a:bodyPr vert="horz" wrap="square" lIns="91440" tIns="45720" rIns="91440" bIns="45720" anchor="t" anchorCtr="0"/>
          <a:lstStyle/>
          <a:p>
            <a:pPr algn="just" eaLnBrk="1" hangingPunct="1">
              <a:lnSpc>
                <a:spcPct val="140000"/>
              </a:lnSpc>
            </a:pPr>
            <a:r>
              <a:rPr lang="zh-CN" altLang="en-US" dirty="0"/>
              <a:t>什么是数据库管理系统</a:t>
            </a:r>
            <a:endParaRPr lang="en-US" altLang="zh-CN" dirty="0"/>
          </a:p>
          <a:p>
            <a:pPr lvl="1" algn="just" eaLnBrk="1" hangingPunct="1">
              <a:lnSpc>
                <a:spcPct val="140000"/>
              </a:lnSpc>
            </a:pPr>
            <a:r>
              <a:rPr lang="zh-CN" altLang="en-US" dirty="0"/>
              <a:t>位于用户与操作系统之间的一层数据管理软件</a:t>
            </a:r>
            <a:endParaRPr lang="zh-CN" altLang="en-US" dirty="0"/>
          </a:p>
          <a:p>
            <a:pPr lvl="1" algn="just" eaLnBrk="1" hangingPunct="1">
              <a:lnSpc>
                <a:spcPct val="140000"/>
              </a:lnSpc>
            </a:pPr>
            <a:r>
              <a:rPr lang="zh-CN" altLang="en-US" dirty="0">
                <a:latin typeface="宋体" panose="02010600030101010101" pitchFamily="2" charset="-122"/>
              </a:rPr>
              <a:t>计算机的基础软件，是一个大型复杂的软件系统</a:t>
            </a:r>
            <a:r>
              <a:rPr lang="zh-CN" altLang="en-US" dirty="0"/>
              <a:t> </a:t>
            </a:r>
            <a:endParaRPr lang="zh-CN" altLang="en-US" dirty="0"/>
          </a:p>
          <a:p>
            <a:pPr lvl="0" algn="just" eaLnBrk="1" hangingPunct="1">
              <a:lnSpc>
                <a:spcPct val="140000"/>
              </a:lnSpc>
            </a:pPr>
            <a:r>
              <a:rPr lang="zh-CN" altLang="en-US" dirty="0"/>
              <a:t>日常工作和学习中，</a:t>
            </a:r>
            <a:r>
              <a:rPr lang="en-US" altLang="zh-CN" dirty="0"/>
              <a:t>“</a:t>
            </a:r>
            <a:r>
              <a:rPr dirty="0"/>
              <a:t>数据库</a:t>
            </a:r>
            <a:r>
              <a:rPr lang="en-US" altLang="zh-CN" dirty="0"/>
              <a:t>”</a:t>
            </a:r>
            <a:r>
              <a:rPr dirty="0"/>
              <a:t>常常等同于</a:t>
            </a:r>
            <a:r>
              <a:rPr lang="en-US" altLang="zh-CN" dirty="0"/>
              <a:t>“</a:t>
            </a:r>
            <a:r>
              <a:rPr dirty="0"/>
              <a:t>数据库管理系统</a:t>
            </a:r>
            <a:r>
              <a:rPr lang="en-US" altLang="zh-CN" dirty="0"/>
              <a:t>”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数据库管理系统的主要功能</a:t>
            </a:r>
            <a:endParaRPr lang="zh-CN" altLang="en-US" sz="3600" dirty="0"/>
          </a:p>
        </p:txBody>
      </p:sp>
      <p:sp>
        <p:nvSpPr>
          <p:cNvPr id="43010" name="Rectangle 3"/>
          <p:cNvSpPr>
            <a:spLocks noGrp="1"/>
          </p:cNvSpPr>
          <p:nvPr>
            <p:ph idx="1"/>
          </p:nvPr>
        </p:nvSpPr>
        <p:spPr>
          <a:xfrm>
            <a:off x="1271464" y="1196752"/>
            <a:ext cx="9072686" cy="4702399"/>
          </a:xfrm>
        </p:spPr>
        <p:txBody>
          <a:bodyPr vert="horz" wrap="square" lIns="91440" tIns="45720" rIns="91440" bIns="45720" anchor="t" anchorCtr="0"/>
          <a:lstStyle/>
          <a:p>
            <a:pPr lvl="1" algn="just" eaLnBrk="1" hangingPunct="1">
              <a:lnSpc>
                <a:spcPct val="150000"/>
              </a:lnSpc>
              <a:spcBef>
                <a:spcPct val="0"/>
              </a:spcBef>
            </a:pPr>
            <a:r>
              <a:rPr lang="zh-CN" altLang="en-US" dirty="0"/>
              <a:t>数据定义功能</a:t>
            </a:r>
            <a:endParaRPr lang="zh-CN" altLang="en-US" dirty="0"/>
          </a:p>
          <a:p>
            <a:pPr lvl="2" algn="just" eaLnBrk="1" hangingPunct="1">
              <a:lnSpc>
                <a:spcPct val="150000"/>
              </a:lnSpc>
              <a:spcBef>
                <a:spcPct val="0"/>
              </a:spcBef>
              <a:buSzPct val="87000"/>
              <a:buFont typeface="Wingdings" panose="05000000000000000000" pitchFamily="2" charset="2"/>
              <a:buChar char="l"/>
            </a:pPr>
            <a:r>
              <a:rPr lang="zh-CN" altLang="en-US" sz="2200" dirty="0"/>
              <a:t>提供数据定义语言（</a:t>
            </a:r>
            <a:r>
              <a:rPr lang="en-US" altLang="zh-CN" sz="2200" dirty="0"/>
              <a:t>DDL</a:t>
            </a:r>
            <a:r>
              <a:rPr lang="zh-CN" altLang="en-US" sz="2200" dirty="0"/>
              <a:t>）</a:t>
            </a:r>
            <a:endParaRPr lang="en-US" altLang="zh-CN" sz="2200" dirty="0"/>
          </a:p>
          <a:p>
            <a:pPr lvl="2" algn="just" eaLnBrk="1" hangingPunct="1">
              <a:lnSpc>
                <a:spcPct val="150000"/>
              </a:lnSpc>
              <a:spcBef>
                <a:spcPct val="0"/>
              </a:spcBef>
              <a:buSzPct val="87000"/>
              <a:buFont typeface="Wingdings" panose="05000000000000000000" pitchFamily="2" charset="2"/>
              <a:buChar char="l"/>
            </a:pPr>
            <a:r>
              <a:rPr lang="zh-CN" altLang="en-US" sz="2200" dirty="0"/>
              <a:t>定义数据库中的数据对象的组成与结构</a:t>
            </a:r>
            <a:endParaRPr lang="zh-CN" altLang="en-US" sz="2200" dirty="0"/>
          </a:p>
          <a:p>
            <a:pPr lvl="1" algn="just" eaLnBrk="1" hangingPunct="1">
              <a:lnSpc>
                <a:spcPct val="150000"/>
              </a:lnSpc>
              <a:spcBef>
                <a:spcPct val="0"/>
              </a:spcBef>
            </a:pPr>
            <a:r>
              <a:rPr lang="zh-CN" altLang="en-US" dirty="0"/>
              <a:t>数据组织、存储和管理</a:t>
            </a:r>
            <a:endParaRPr lang="zh-CN" altLang="en-US" dirty="0"/>
          </a:p>
          <a:p>
            <a:pPr lvl="2" algn="just" eaLnBrk="1" hangingPunct="1">
              <a:lnSpc>
                <a:spcPct val="150000"/>
              </a:lnSpc>
              <a:spcBef>
                <a:spcPct val="0"/>
              </a:spcBef>
              <a:buSzPct val="87000"/>
              <a:buFont typeface="Wingdings" panose="05000000000000000000" pitchFamily="2" charset="2"/>
              <a:buChar char="l"/>
            </a:pPr>
            <a:r>
              <a:rPr lang="zh-CN" altLang="en-US" sz="2200" dirty="0"/>
              <a:t>分类组织、存储和管理各种数据</a:t>
            </a:r>
            <a:endParaRPr lang="zh-CN" altLang="en-US" sz="2200" dirty="0"/>
          </a:p>
          <a:p>
            <a:pPr lvl="2" algn="just" eaLnBrk="1" hangingPunct="1">
              <a:lnSpc>
                <a:spcPct val="150000"/>
              </a:lnSpc>
              <a:spcBef>
                <a:spcPct val="0"/>
              </a:spcBef>
              <a:buSzPct val="87000"/>
              <a:buFont typeface="Wingdings" panose="05000000000000000000" pitchFamily="2" charset="2"/>
              <a:buChar char="l"/>
            </a:pPr>
            <a:r>
              <a:rPr lang="zh-CN" altLang="en-US" sz="2200" dirty="0"/>
              <a:t>确定组织数据的文件结构和存取方式</a:t>
            </a:r>
            <a:endParaRPr lang="zh-CN" altLang="en-US" sz="2200" dirty="0"/>
          </a:p>
          <a:p>
            <a:pPr lvl="2" algn="just" eaLnBrk="1" hangingPunct="1">
              <a:lnSpc>
                <a:spcPct val="150000"/>
              </a:lnSpc>
              <a:spcBef>
                <a:spcPct val="0"/>
              </a:spcBef>
              <a:buSzPct val="87000"/>
              <a:buFont typeface="Wingdings" panose="05000000000000000000" pitchFamily="2" charset="2"/>
              <a:buChar char="l"/>
            </a:pPr>
            <a:r>
              <a:rPr lang="zh-CN" altLang="en-US" sz="2200" dirty="0"/>
              <a:t>实现数据之间的联系</a:t>
            </a:r>
            <a:endParaRPr lang="zh-CN" altLang="en-US" sz="2200" dirty="0"/>
          </a:p>
          <a:p>
            <a:pPr lvl="2" algn="just" eaLnBrk="1" hangingPunct="1">
              <a:lnSpc>
                <a:spcPct val="150000"/>
              </a:lnSpc>
              <a:spcBef>
                <a:spcPct val="0"/>
              </a:spcBef>
              <a:buSzPct val="87000"/>
              <a:buFont typeface="Wingdings" panose="05000000000000000000" pitchFamily="2" charset="2"/>
              <a:buChar char="l"/>
            </a:pPr>
            <a:r>
              <a:rPr lang="zh-CN" altLang="en-US" sz="2200" dirty="0"/>
              <a:t>提供多种存取方法提高存取效率</a:t>
            </a:r>
            <a:endParaRPr lang="zh-CN" altLang="en-US" sz="2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>
            <a:normAutofit/>
          </a:bodyPr>
          <a:lstStyle/>
          <a:p>
            <a:pPr eaLnBrk="1" hangingPunct="1"/>
            <a:r>
              <a:rPr lang="zh-CN" altLang="en-US" sz="3600" dirty="0"/>
              <a:t>数据库管理系统的主要功能（续）</a:t>
            </a:r>
            <a:endParaRPr lang="zh-CN" altLang="en-US" sz="3600" dirty="0"/>
          </a:p>
        </p:txBody>
      </p:sp>
      <p:sp>
        <p:nvSpPr>
          <p:cNvPr id="45058" name="Rectangle 3"/>
          <p:cNvSpPr>
            <a:spLocks noGrp="1"/>
          </p:cNvSpPr>
          <p:nvPr>
            <p:ph idx="1"/>
          </p:nvPr>
        </p:nvSpPr>
        <p:spPr>
          <a:xfrm>
            <a:off x="1199456" y="1268414"/>
            <a:ext cx="9289032" cy="4465637"/>
          </a:xfrm>
        </p:spPr>
        <p:txBody>
          <a:bodyPr vert="horz" wrap="square" lIns="91440" tIns="45720" rIns="91440" bIns="45720" anchor="t" anchorCtr="0">
            <a:normAutofit lnSpcReduction="20000"/>
          </a:bodyPr>
          <a:lstStyle/>
          <a:p>
            <a:pPr lvl="1" algn="just" eaLnBrk="1" hangingPunct="1">
              <a:lnSpc>
                <a:spcPct val="150000"/>
              </a:lnSpc>
            </a:pPr>
            <a:r>
              <a:rPr lang="zh-CN" altLang="en-US" sz="2500" dirty="0"/>
              <a:t>数据操纵功能</a:t>
            </a:r>
            <a:endParaRPr lang="zh-CN" altLang="en-US" sz="2500" dirty="0"/>
          </a:p>
          <a:p>
            <a:pPr lvl="2" algn="just" eaLnBrk="1" hangingPunct="1">
              <a:lnSpc>
                <a:spcPct val="150000"/>
              </a:lnSpc>
              <a:spcBef>
                <a:spcPct val="0"/>
              </a:spcBef>
              <a:buSzPct val="87000"/>
              <a:buFont typeface="Wingdings" panose="05000000000000000000" pitchFamily="2" charset="2"/>
              <a:buChar char="l"/>
            </a:pPr>
            <a:r>
              <a:rPr lang="zh-CN" altLang="en-US" sz="2200" dirty="0"/>
              <a:t>提供数据操纵语言（</a:t>
            </a:r>
            <a:r>
              <a:rPr lang="en-US" altLang="zh-CN" sz="2200" dirty="0"/>
              <a:t>DML</a:t>
            </a:r>
            <a:r>
              <a:rPr lang="zh-CN" altLang="en-US" sz="2200" dirty="0"/>
              <a:t>）</a:t>
            </a:r>
            <a:endParaRPr lang="en-US" altLang="zh-CN" sz="2200" dirty="0"/>
          </a:p>
          <a:p>
            <a:pPr lvl="2" algn="just" eaLnBrk="1" hangingPunct="1">
              <a:lnSpc>
                <a:spcPct val="150000"/>
              </a:lnSpc>
              <a:spcBef>
                <a:spcPct val="0"/>
              </a:spcBef>
              <a:buSzPct val="87000"/>
              <a:buFont typeface="Wingdings" panose="05000000000000000000" pitchFamily="2" charset="2"/>
              <a:buChar char="l"/>
            </a:pPr>
            <a:r>
              <a:rPr lang="zh-CN" altLang="en-US" sz="2200" dirty="0"/>
              <a:t>实现对数据库的基本操作  （查询、插入、删除和修改）</a:t>
            </a:r>
            <a:endParaRPr lang="en-US" altLang="zh-CN" sz="2200" dirty="0"/>
          </a:p>
          <a:p>
            <a:pPr lvl="1" algn="just" eaLnBrk="1" hangingPunct="1">
              <a:lnSpc>
                <a:spcPct val="150000"/>
              </a:lnSpc>
              <a:spcAft>
                <a:spcPct val="20000"/>
              </a:spcAft>
            </a:pPr>
            <a:r>
              <a:rPr lang="zh-CN" altLang="en-US" sz="2500" dirty="0"/>
              <a:t>数据库的事务管理和运行管理</a:t>
            </a:r>
            <a:endParaRPr lang="zh-CN" altLang="en-US" sz="2500" dirty="0"/>
          </a:p>
          <a:p>
            <a:pPr lvl="2" algn="just" eaLnBrk="1" hangingPunct="1">
              <a:lnSpc>
                <a:spcPct val="150000"/>
              </a:lnSpc>
              <a:spcBef>
                <a:spcPct val="0"/>
              </a:spcBef>
              <a:buSzPct val="87000"/>
              <a:buFont typeface="Wingdings" panose="05000000000000000000" pitchFamily="2" charset="2"/>
              <a:buChar char="l"/>
            </a:pPr>
            <a:r>
              <a:rPr lang="zh-CN" altLang="en-US" sz="2200" dirty="0"/>
              <a:t>数据库在建立、运行和维护时由数据库管理系统统一管理和控制</a:t>
            </a:r>
            <a:endParaRPr lang="zh-CN" altLang="en-US" sz="2200" dirty="0"/>
          </a:p>
          <a:p>
            <a:pPr lvl="2" algn="just" eaLnBrk="1" hangingPunct="1">
              <a:lnSpc>
                <a:spcPct val="150000"/>
              </a:lnSpc>
              <a:spcBef>
                <a:spcPct val="0"/>
              </a:spcBef>
              <a:buSzPct val="87000"/>
              <a:buFont typeface="Wingdings" panose="05000000000000000000" pitchFamily="2" charset="2"/>
              <a:buChar char="l"/>
            </a:pPr>
            <a:r>
              <a:rPr lang="zh-CN" altLang="en-US" sz="2200" dirty="0"/>
              <a:t>保证事务正确</a:t>
            </a:r>
            <a:r>
              <a:rPr lang="zh-CN" altLang="en-US" sz="2200" dirty="0"/>
              <a:t>运行</a:t>
            </a:r>
            <a:endParaRPr lang="zh-CN" altLang="en-US" sz="2200" dirty="0"/>
          </a:p>
          <a:p>
            <a:pPr lvl="2" algn="just" eaLnBrk="1" hangingPunct="1">
              <a:lnSpc>
                <a:spcPct val="150000"/>
              </a:lnSpc>
              <a:spcBef>
                <a:spcPct val="0"/>
              </a:spcBef>
              <a:buSzPct val="87000"/>
              <a:buFont typeface="Wingdings" panose="05000000000000000000" pitchFamily="2" charset="2"/>
              <a:buChar char="l"/>
            </a:pPr>
            <a:r>
              <a:rPr lang="zh-CN" altLang="en-US" sz="2200" dirty="0"/>
              <a:t>保证数据的安全性、完整性</a:t>
            </a:r>
            <a:endParaRPr lang="en-US" altLang="zh-CN" sz="2200" dirty="0"/>
          </a:p>
          <a:p>
            <a:pPr lvl="2" algn="just" eaLnBrk="1" hangingPunct="1">
              <a:lnSpc>
                <a:spcPct val="150000"/>
              </a:lnSpc>
              <a:spcBef>
                <a:spcPct val="0"/>
              </a:spcBef>
              <a:buSzPct val="87000"/>
              <a:buFont typeface="Wingdings" panose="05000000000000000000" pitchFamily="2" charset="2"/>
              <a:buChar char="l"/>
            </a:pPr>
            <a:r>
              <a:rPr lang="zh-CN" altLang="en-US" sz="2200" dirty="0"/>
              <a:t>多用户对数据的并发使用</a:t>
            </a:r>
            <a:endParaRPr lang="zh-CN" altLang="en-US" sz="2200" dirty="0"/>
          </a:p>
          <a:p>
            <a:pPr lvl="2" algn="just" eaLnBrk="1" hangingPunct="1">
              <a:lnSpc>
                <a:spcPct val="150000"/>
              </a:lnSpc>
              <a:spcBef>
                <a:spcPct val="0"/>
              </a:spcBef>
              <a:buSzPct val="87000"/>
              <a:buFont typeface="Wingdings" panose="05000000000000000000" pitchFamily="2" charset="2"/>
              <a:buChar char="l"/>
            </a:pPr>
            <a:r>
              <a:rPr lang="zh-CN" altLang="en-US" sz="2200" dirty="0"/>
              <a:t>发生故障后的系统恢复</a:t>
            </a:r>
            <a:endParaRPr lang="zh-CN" altLang="en-US" sz="2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Rectangle 1026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>
            <a:normAutofit/>
          </a:bodyPr>
          <a:lstStyle/>
          <a:p>
            <a:pPr eaLnBrk="1" hangingPunct="1"/>
            <a:r>
              <a:rPr lang="zh-CN" altLang="en-US" sz="3600" dirty="0"/>
              <a:t>数据库管理系统的主要功能（续）</a:t>
            </a:r>
            <a:endParaRPr lang="zh-CN" altLang="en-US" sz="3600" dirty="0"/>
          </a:p>
        </p:txBody>
      </p:sp>
      <p:sp>
        <p:nvSpPr>
          <p:cNvPr id="47106" name="Rectangle 1027"/>
          <p:cNvSpPr>
            <a:spLocks noGrp="1"/>
          </p:cNvSpPr>
          <p:nvPr>
            <p:ph idx="1"/>
          </p:nvPr>
        </p:nvSpPr>
        <p:spPr>
          <a:xfrm>
            <a:off x="983432" y="1098551"/>
            <a:ext cx="9227368" cy="5095875"/>
          </a:xfrm>
        </p:spPr>
        <p:txBody>
          <a:bodyPr vert="horz" wrap="square" lIns="91440" tIns="45720" rIns="91440" bIns="45720" anchor="t" anchorCtr="0"/>
          <a:lstStyle/>
          <a:p>
            <a:pPr lvl="1" algn="just" eaLnBrk="1" hangingPunct="1">
              <a:lnSpc>
                <a:spcPct val="150000"/>
              </a:lnSpc>
              <a:spcBef>
                <a:spcPct val="0"/>
              </a:spcBef>
            </a:pPr>
            <a:r>
              <a:rPr lang="zh-CN" altLang="en-US" dirty="0"/>
              <a:t>数据库的建立和维护功能</a:t>
            </a:r>
            <a:endParaRPr lang="en-US" altLang="zh-CN" dirty="0"/>
          </a:p>
          <a:p>
            <a:pPr lvl="2" algn="just" eaLnBrk="1" hangingPunct="1">
              <a:lnSpc>
                <a:spcPct val="150000"/>
              </a:lnSpc>
              <a:spcBef>
                <a:spcPct val="0"/>
              </a:spcBef>
              <a:buSzPct val="87000"/>
              <a:buFont typeface="Wingdings" panose="05000000000000000000" pitchFamily="2" charset="2"/>
              <a:buChar char="l"/>
            </a:pPr>
            <a:r>
              <a:rPr lang="zh-CN" altLang="en-US" sz="2200" dirty="0"/>
              <a:t>数据库初始数据的输入和转换</a:t>
            </a:r>
            <a:endParaRPr lang="zh-CN" altLang="en-US" sz="2200" dirty="0"/>
          </a:p>
          <a:p>
            <a:pPr lvl="2" algn="just" eaLnBrk="1" hangingPunct="1">
              <a:lnSpc>
                <a:spcPct val="150000"/>
              </a:lnSpc>
              <a:spcBef>
                <a:spcPct val="0"/>
              </a:spcBef>
              <a:buSzPct val="87000"/>
              <a:buFont typeface="Wingdings" panose="05000000000000000000" pitchFamily="2" charset="2"/>
              <a:buChar char="l"/>
            </a:pPr>
            <a:r>
              <a:rPr lang="zh-CN" altLang="en-US" sz="2200" dirty="0"/>
              <a:t>数据库转储和恢复功能</a:t>
            </a:r>
            <a:endParaRPr lang="zh-CN" altLang="en-US" sz="2200" dirty="0"/>
          </a:p>
          <a:p>
            <a:pPr lvl="2" algn="just" eaLnBrk="1" hangingPunct="1">
              <a:lnSpc>
                <a:spcPct val="150000"/>
              </a:lnSpc>
              <a:spcBef>
                <a:spcPct val="0"/>
              </a:spcBef>
              <a:buSzPct val="87000"/>
              <a:buFont typeface="Wingdings" panose="05000000000000000000" pitchFamily="2" charset="2"/>
              <a:buChar char="l"/>
            </a:pPr>
            <a:r>
              <a:rPr lang="zh-CN" altLang="en-US" sz="2200" dirty="0"/>
              <a:t>数据库的重组、性能监视和数据分析等</a:t>
            </a:r>
            <a:endParaRPr lang="zh-CN" altLang="en-US" sz="2200" dirty="0"/>
          </a:p>
          <a:p>
            <a:pPr lvl="1" algn="just" eaLnBrk="1" hangingPunct="1">
              <a:lnSpc>
                <a:spcPct val="150000"/>
              </a:lnSpc>
              <a:spcBef>
                <a:spcPct val="0"/>
              </a:spcBef>
            </a:pPr>
            <a:r>
              <a:rPr lang="zh-CN" altLang="en-US" dirty="0"/>
              <a:t>其它功能</a:t>
            </a:r>
            <a:endParaRPr lang="zh-CN" altLang="en-US" dirty="0"/>
          </a:p>
          <a:p>
            <a:pPr lvl="2" algn="just" eaLnBrk="1" hangingPunct="1">
              <a:lnSpc>
                <a:spcPct val="150000"/>
              </a:lnSpc>
              <a:spcBef>
                <a:spcPct val="0"/>
              </a:spcBef>
              <a:buSzPct val="87000"/>
              <a:buFont typeface="Wingdings" panose="05000000000000000000" pitchFamily="2" charset="2"/>
              <a:buChar char="l"/>
            </a:pPr>
            <a:r>
              <a:rPr lang="zh-CN" altLang="en-US" sz="2200" dirty="0"/>
              <a:t>数据库管理系统与网络中其它软件系统的通信</a:t>
            </a:r>
            <a:endParaRPr lang="zh-CN" altLang="en-US" sz="2200" dirty="0"/>
          </a:p>
          <a:p>
            <a:pPr lvl="2" algn="just" eaLnBrk="1" hangingPunct="1">
              <a:lnSpc>
                <a:spcPct val="150000"/>
              </a:lnSpc>
              <a:spcBef>
                <a:spcPct val="0"/>
              </a:spcBef>
              <a:buSzPct val="87000"/>
              <a:buFont typeface="Wingdings" panose="05000000000000000000" pitchFamily="2" charset="2"/>
              <a:buChar char="l"/>
            </a:pPr>
            <a:r>
              <a:rPr lang="zh-CN" altLang="en-US" sz="2200" dirty="0"/>
              <a:t>数据库管理系统系统之间或与文件系统的数据转换</a:t>
            </a:r>
            <a:endParaRPr lang="zh-CN" altLang="en-US" sz="2200" dirty="0"/>
          </a:p>
          <a:p>
            <a:pPr lvl="2" algn="just" eaLnBrk="1" hangingPunct="1">
              <a:lnSpc>
                <a:spcPct val="150000"/>
              </a:lnSpc>
              <a:spcBef>
                <a:spcPct val="0"/>
              </a:spcBef>
              <a:buSzPct val="87000"/>
              <a:buFont typeface="Wingdings" panose="05000000000000000000" pitchFamily="2" charset="2"/>
              <a:buChar char="l"/>
            </a:pPr>
            <a:r>
              <a:rPr lang="zh-CN" altLang="en-US" sz="2200" dirty="0"/>
              <a:t>异构数据库之间的互访和互操作</a:t>
            </a:r>
            <a:endParaRPr lang="zh-CN" altLang="en-US" sz="2200" dirty="0"/>
          </a:p>
          <a:p>
            <a:pPr eaLnBrk="1" hangingPunct="1">
              <a:buNone/>
            </a:pPr>
            <a:endParaRPr lang="en-US" altLang="zh-CN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sz="3600" dirty="0"/>
              <a:t>4.</a:t>
            </a:r>
            <a:r>
              <a:rPr lang="zh-CN" altLang="en-US" sz="3600" dirty="0"/>
              <a:t>数据库系统</a:t>
            </a:r>
            <a:endParaRPr lang="zh-CN" altLang="en-US" sz="3600" dirty="0"/>
          </a:p>
        </p:txBody>
      </p:sp>
      <p:sp>
        <p:nvSpPr>
          <p:cNvPr id="48130" name="Rectangle 3"/>
          <p:cNvSpPr>
            <a:spLocks noGrp="1"/>
          </p:cNvSpPr>
          <p:nvPr>
            <p:ph idx="1"/>
          </p:nvPr>
        </p:nvSpPr>
        <p:spPr>
          <a:xfrm>
            <a:off x="1343472" y="1341439"/>
            <a:ext cx="9001000" cy="4618037"/>
          </a:xfrm>
        </p:spPr>
        <p:txBody>
          <a:bodyPr vert="horz" wrap="square" lIns="91440" tIns="45720" rIns="91440" bIns="45720" anchor="t" anchorCtr="0"/>
          <a:lstStyle/>
          <a:p>
            <a:pPr algn="just" eaLnBrk="1" hangingPunct="1">
              <a:lnSpc>
                <a:spcPct val="150000"/>
              </a:lnSpc>
            </a:pPr>
            <a:r>
              <a:rPr lang="zh-CN" altLang="en-US" dirty="0"/>
              <a:t>数据库系统</a:t>
            </a:r>
            <a:r>
              <a:rPr lang="zh-CN" altLang="en-US" sz="2400" dirty="0"/>
              <a:t>（</a:t>
            </a:r>
            <a:r>
              <a:rPr lang="en-US" altLang="zh-CN" sz="2400" dirty="0"/>
              <a:t>DataBase System</a:t>
            </a:r>
            <a:r>
              <a:rPr lang="zh-CN" altLang="en-US" sz="2400" dirty="0"/>
              <a:t>，简称</a:t>
            </a:r>
            <a:r>
              <a:rPr lang="en-US" altLang="zh-CN" sz="2400" dirty="0"/>
              <a:t>DBS</a:t>
            </a:r>
            <a:r>
              <a:rPr lang="zh-CN" altLang="en-US" sz="2400" dirty="0"/>
              <a:t>）</a:t>
            </a:r>
            <a:endParaRPr lang="zh-CN" altLang="en-US" dirty="0"/>
          </a:p>
          <a:p>
            <a:pPr algn="just" eaLnBrk="1" hangingPunct="1">
              <a:lnSpc>
                <a:spcPct val="150000"/>
              </a:lnSpc>
            </a:pPr>
            <a:r>
              <a:rPr lang="zh-CN" altLang="en-US" dirty="0"/>
              <a:t>数据库系统的构成</a:t>
            </a:r>
            <a:endParaRPr lang="zh-CN" altLang="en-US" dirty="0"/>
          </a:p>
          <a:p>
            <a:pPr lvl="1" algn="just" eaLnBrk="1" hangingPunct="1">
              <a:lnSpc>
                <a:spcPct val="150000"/>
              </a:lnSpc>
            </a:pPr>
            <a:r>
              <a:rPr lang="zh-CN" altLang="en-US" dirty="0"/>
              <a:t>数据库</a:t>
            </a:r>
            <a:endParaRPr lang="zh-CN" altLang="en-US" dirty="0"/>
          </a:p>
          <a:p>
            <a:pPr lvl="1" algn="just" eaLnBrk="1" hangingPunct="1">
              <a:lnSpc>
                <a:spcPct val="150000"/>
              </a:lnSpc>
            </a:pPr>
            <a:r>
              <a:rPr lang="zh-CN" altLang="en-US" dirty="0"/>
              <a:t>数据库管理系统（及应用开发工具）</a:t>
            </a:r>
            <a:endParaRPr lang="zh-CN" altLang="en-US" dirty="0"/>
          </a:p>
          <a:p>
            <a:pPr lvl="1" algn="just" eaLnBrk="1" hangingPunct="1">
              <a:lnSpc>
                <a:spcPct val="150000"/>
              </a:lnSpc>
            </a:pPr>
            <a:r>
              <a:rPr lang="zh-CN" altLang="en-US" dirty="0"/>
              <a:t>应用</a:t>
            </a:r>
            <a:r>
              <a:rPr lang="zh-CN" altLang="en-US" dirty="0"/>
              <a:t>系统</a:t>
            </a:r>
            <a:endParaRPr lang="zh-CN" altLang="en-US" dirty="0"/>
          </a:p>
          <a:p>
            <a:pPr lvl="1" algn="just" eaLnBrk="1" hangingPunct="1">
              <a:lnSpc>
                <a:spcPct val="150000"/>
              </a:lnSpc>
            </a:pPr>
            <a:r>
              <a:rPr lang="zh-CN" altLang="en-US" dirty="0"/>
              <a:t>数据库管理员  </a:t>
            </a:r>
            <a:endParaRPr lang="zh-CN" alt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Rectangle 1049"/>
          <p:cNvSpPr/>
          <p:nvPr/>
        </p:nvSpPr>
        <p:spPr>
          <a:xfrm>
            <a:off x="4008439" y="180976"/>
            <a:ext cx="4103687" cy="646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b="1" dirty="0">
                <a:latin typeface="Arial" panose="020B0604020202020204" pitchFamily="34" charset="0"/>
                <a:ea typeface="宋体" panose="02010600030101010101" pitchFamily="2" charset="-122"/>
              </a:rPr>
              <a:t>     </a:t>
            </a:r>
            <a:r>
              <a:rPr lang="zh-CN" altLang="en-US" sz="3600" b="1" dirty="0">
                <a:solidFill>
                  <a:schemeClr val="bg1"/>
                </a:solidFill>
              </a:rPr>
              <a:t>数据库系统（续）</a:t>
            </a:r>
            <a:endParaRPr lang="zh-CN" altLang="en-US" sz="3600" b="1" dirty="0">
              <a:solidFill>
                <a:schemeClr val="bg1"/>
              </a:solidFill>
            </a:endParaRPr>
          </a:p>
        </p:txBody>
      </p:sp>
      <p:grpSp>
        <p:nvGrpSpPr>
          <p:cNvPr id="50178" name="组合 2"/>
          <p:cNvGrpSpPr/>
          <p:nvPr/>
        </p:nvGrpSpPr>
        <p:grpSpPr>
          <a:xfrm>
            <a:off x="1943101" y="1074738"/>
            <a:ext cx="5256213" cy="4989512"/>
            <a:chOff x="2257425" y="960438"/>
            <a:chExt cx="5486400" cy="5205412"/>
          </a:xfrm>
        </p:grpSpPr>
        <p:sp>
          <p:nvSpPr>
            <p:cNvPr id="50179" name="AutoShape 1029"/>
            <p:cNvSpPr/>
            <p:nvPr/>
          </p:nvSpPr>
          <p:spPr>
            <a:xfrm>
              <a:off x="3241675" y="5364163"/>
              <a:ext cx="1276350" cy="801687"/>
            </a:xfrm>
            <a:prstGeom prst="flowChartMagneticDisk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algn="just" eaLnBrk="0" hangingPunct="0">
                <a:lnSpc>
                  <a:spcPct val="96000"/>
                </a:lnSpc>
                <a:buFont typeface="Arial" panose="020B0604020202020204" pitchFamily="34" charset="0"/>
              </a:pPr>
              <a:r>
                <a:rPr lang="en-US" altLang="zh-CN" sz="2000" b="1" dirty="0">
                  <a:solidFill>
                    <a:srgbClr val="FF3300"/>
                  </a:solidFill>
                </a:rPr>
                <a:t>   </a:t>
              </a:r>
              <a:r>
                <a:rPr lang="zh-CN" altLang="en-US" sz="2000" b="1" dirty="0">
                  <a:solidFill>
                    <a:srgbClr val="FF3300"/>
                  </a:solidFill>
                </a:rPr>
                <a:t>数据库</a:t>
              </a:r>
              <a:endParaRPr lang="zh-CN" altLang="en-US" sz="2000" b="1" dirty="0">
                <a:solidFill>
                  <a:srgbClr val="FF3300"/>
                </a:solidFill>
              </a:endParaRPr>
            </a:p>
          </p:txBody>
        </p:sp>
        <p:grpSp>
          <p:nvGrpSpPr>
            <p:cNvPr id="50180" name="组合 1"/>
            <p:cNvGrpSpPr/>
            <p:nvPr/>
          </p:nvGrpSpPr>
          <p:grpSpPr>
            <a:xfrm>
              <a:off x="2257425" y="960438"/>
              <a:ext cx="5486400" cy="4848225"/>
              <a:chOff x="2257425" y="960438"/>
              <a:chExt cx="5486400" cy="4848225"/>
            </a:xfrm>
          </p:grpSpPr>
          <p:sp>
            <p:nvSpPr>
              <p:cNvPr id="50181" name="AutoShape 1030"/>
              <p:cNvSpPr/>
              <p:nvPr/>
            </p:nvSpPr>
            <p:spPr>
              <a:xfrm>
                <a:off x="2828925" y="1622425"/>
                <a:ext cx="2046288" cy="568325"/>
              </a:xfrm>
              <a:prstGeom prst="hexagon">
                <a:avLst>
                  <a:gd name="adj" fmla="val 73761"/>
                  <a:gd name="vf" fmla="val 115470"/>
                </a:avLst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lstStyle/>
              <a:p>
                <a:pPr algn="just" eaLnBrk="0" hangingPunct="0">
                  <a:lnSpc>
                    <a:spcPct val="80000"/>
                  </a:lnSpc>
                  <a:buFont typeface="Arial" panose="020B0604020202020204" pitchFamily="34" charset="0"/>
                </a:pPr>
                <a:r>
                  <a:rPr lang="en-US" altLang="zh-CN" sz="2000" b="1" dirty="0">
                    <a:solidFill>
                      <a:srgbClr val="FF3300"/>
                    </a:solidFill>
                  </a:rPr>
                  <a:t> </a:t>
                </a:r>
                <a:r>
                  <a:rPr lang="zh-CN" altLang="en-US" sz="2000" b="1" dirty="0">
                    <a:solidFill>
                      <a:srgbClr val="FF3300"/>
                    </a:solidFill>
                  </a:rPr>
                  <a:t>应用系统</a:t>
                </a:r>
                <a:endParaRPr lang="zh-CN" altLang="en-US" sz="2000" b="1" dirty="0">
                  <a:solidFill>
                    <a:srgbClr val="FF3300"/>
                  </a:solidFill>
                </a:endParaRPr>
              </a:p>
            </p:txBody>
          </p:sp>
          <p:sp>
            <p:nvSpPr>
              <p:cNvPr id="50182" name="AutoShape 1031"/>
              <p:cNvSpPr/>
              <p:nvPr/>
            </p:nvSpPr>
            <p:spPr>
              <a:xfrm>
                <a:off x="2601913" y="2438400"/>
                <a:ext cx="2789237" cy="665163"/>
              </a:xfrm>
              <a:prstGeom prst="hexagon">
                <a:avLst>
                  <a:gd name="adj" fmla="val 79228"/>
                  <a:gd name="vf" fmla="val 115470"/>
                </a:avLst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lstStyle/>
              <a:p>
                <a:pPr algn="just" eaLnBrk="0" hangingPunct="0">
                  <a:lnSpc>
                    <a:spcPct val="80000"/>
                  </a:lnSpc>
                  <a:buFont typeface="Arial" panose="020B0604020202020204" pitchFamily="34" charset="0"/>
                </a:pPr>
                <a:r>
                  <a:rPr lang="zh-CN" altLang="en-US" sz="2000" b="1" dirty="0"/>
                  <a:t>应用开发工具</a:t>
                </a:r>
                <a:endParaRPr lang="zh-CN" altLang="en-US" sz="2000" b="1" dirty="0"/>
              </a:p>
            </p:txBody>
          </p:sp>
          <p:sp>
            <p:nvSpPr>
              <p:cNvPr id="50183" name="AutoShape 1032"/>
              <p:cNvSpPr/>
              <p:nvPr/>
            </p:nvSpPr>
            <p:spPr>
              <a:xfrm>
                <a:off x="2738438" y="4322763"/>
                <a:ext cx="2309812" cy="738187"/>
              </a:xfrm>
              <a:prstGeom prst="hexagon">
                <a:avLst>
                  <a:gd name="adj" fmla="val 64101"/>
                  <a:gd name="vf" fmla="val 115470"/>
                </a:avLst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lstStyle/>
              <a:p>
                <a:pPr algn="just" eaLnBrk="0" hangingPunct="0">
                  <a:lnSpc>
                    <a:spcPct val="80000"/>
                  </a:lnSpc>
                  <a:buFont typeface="Arial" panose="020B0604020202020204" pitchFamily="34" charset="0"/>
                </a:pPr>
                <a:r>
                  <a:rPr lang="en-US" altLang="zh-CN" sz="2000" b="1" dirty="0"/>
                  <a:t>   </a:t>
                </a:r>
                <a:endParaRPr lang="en-US" altLang="zh-CN" sz="2000" b="1" dirty="0"/>
              </a:p>
              <a:p>
                <a:pPr algn="just" eaLnBrk="0" hangingPunct="0">
                  <a:lnSpc>
                    <a:spcPct val="80000"/>
                  </a:lnSpc>
                  <a:buFont typeface="Arial" panose="020B0604020202020204" pitchFamily="34" charset="0"/>
                </a:pPr>
                <a:r>
                  <a:rPr lang="en-US" altLang="zh-CN" sz="2000" b="1" dirty="0"/>
                  <a:t>    </a:t>
                </a:r>
                <a:r>
                  <a:rPr lang="zh-CN" altLang="en-US" sz="2000" b="1" dirty="0"/>
                  <a:t>操作系统</a:t>
                </a:r>
                <a:endParaRPr lang="zh-CN" altLang="en-US" sz="2000" b="1" dirty="0"/>
              </a:p>
            </p:txBody>
          </p:sp>
          <p:sp>
            <p:nvSpPr>
              <p:cNvPr id="50184" name="AutoShape 1033"/>
              <p:cNvSpPr/>
              <p:nvPr/>
            </p:nvSpPr>
            <p:spPr>
              <a:xfrm>
                <a:off x="2330450" y="3346450"/>
                <a:ext cx="3094038" cy="738188"/>
              </a:xfrm>
              <a:prstGeom prst="hexagon">
                <a:avLst>
                  <a:gd name="adj" fmla="val 83438"/>
                  <a:gd name="vf" fmla="val 115470"/>
                </a:avLst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lstStyle/>
              <a:p>
                <a:pPr algn="just" eaLnBrk="0" hangingPunct="0">
                  <a:lnSpc>
                    <a:spcPct val="80000"/>
                  </a:lnSpc>
                  <a:buFont typeface="Arial" panose="020B0604020202020204" pitchFamily="34" charset="0"/>
                </a:pPr>
                <a:endParaRPr lang="en-US" altLang="zh-CN" sz="2000" b="1" dirty="0">
                  <a:solidFill>
                    <a:schemeClr val="accent2"/>
                  </a:solidFill>
                </a:endParaRPr>
              </a:p>
              <a:p>
                <a:pPr algn="just" eaLnBrk="0" hangingPunct="0">
                  <a:lnSpc>
                    <a:spcPct val="80000"/>
                  </a:lnSpc>
                  <a:buFont typeface="Arial" panose="020B0604020202020204" pitchFamily="34" charset="0"/>
                </a:pPr>
                <a:r>
                  <a:rPr lang="en-US" altLang="zh-CN" sz="2000" b="1" dirty="0">
                    <a:solidFill>
                      <a:schemeClr val="accent2"/>
                    </a:solidFill>
                  </a:rPr>
                  <a:t> </a:t>
                </a:r>
                <a:r>
                  <a:rPr lang="zh-CN" altLang="en-US" sz="2000" b="1" dirty="0">
                    <a:solidFill>
                      <a:srgbClr val="FF3300"/>
                    </a:solidFill>
                  </a:rPr>
                  <a:t>数据库管理系统</a:t>
                </a:r>
                <a:endParaRPr lang="zh-CN" altLang="en-US" sz="2000" b="1" dirty="0">
                  <a:solidFill>
                    <a:srgbClr val="FF3300"/>
                  </a:solidFill>
                </a:endParaRPr>
              </a:p>
            </p:txBody>
          </p:sp>
          <p:sp>
            <p:nvSpPr>
              <p:cNvPr id="50185" name="Line 1036"/>
              <p:cNvSpPr/>
              <p:nvPr/>
            </p:nvSpPr>
            <p:spPr>
              <a:xfrm flipH="1">
                <a:off x="5435600" y="3713163"/>
                <a:ext cx="388938" cy="4762"/>
              </a:xfrm>
              <a:prstGeom prst="line">
                <a:avLst/>
              </a:prstGeom>
              <a:ln w="63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stealth" w="sm" len="sm"/>
              </a:ln>
            </p:spPr>
          </p:sp>
          <p:sp>
            <p:nvSpPr>
              <p:cNvPr id="50186" name="Line 1037"/>
              <p:cNvSpPr/>
              <p:nvPr/>
            </p:nvSpPr>
            <p:spPr>
              <a:xfrm>
                <a:off x="3852863" y="2224088"/>
                <a:ext cx="0" cy="228600"/>
              </a:xfrm>
              <a:prstGeom prst="line">
                <a:avLst/>
              </a:prstGeom>
              <a:ln w="63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50187" name="Line 1038"/>
              <p:cNvSpPr/>
              <p:nvPr/>
            </p:nvSpPr>
            <p:spPr>
              <a:xfrm>
                <a:off x="3852863" y="5060950"/>
                <a:ext cx="0" cy="301625"/>
              </a:xfrm>
              <a:prstGeom prst="line">
                <a:avLst/>
              </a:prstGeom>
              <a:ln w="63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50188" name="Line 1039"/>
              <p:cNvSpPr/>
              <p:nvPr/>
            </p:nvSpPr>
            <p:spPr>
              <a:xfrm>
                <a:off x="3852863" y="4084638"/>
                <a:ext cx="0" cy="241300"/>
              </a:xfrm>
              <a:prstGeom prst="line">
                <a:avLst/>
              </a:prstGeom>
              <a:ln w="63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50189" name="Line 1040"/>
              <p:cNvSpPr/>
              <p:nvPr/>
            </p:nvSpPr>
            <p:spPr>
              <a:xfrm flipH="1">
                <a:off x="3852863" y="3103563"/>
                <a:ext cx="0" cy="252412"/>
              </a:xfrm>
              <a:prstGeom prst="line">
                <a:avLst/>
              </a:prstGeom>
              <a:ln w="63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50190" name="Line 1041"/>
              <p:cNvSpPr/>
              <p:nvPr/>
            </p:nvSpPr>
            <p:spPr>
              <a:xfrm>
                <a:off x="2900363" y="1401763"/>
                <a:ext cx="231775" cy="304800"/>
              </a:xfrm>
              <a:prstGeom prst="line">
                <a:avLst/>
              </a:prstGeom>
              <a:ln w="63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stealth" w="sm" len="sm"/>
              </a:ln>
            </p:spPr>
          </p:sp>
          <p:sp>
            <p:nvSpPr>
              <p:cNvPr id="50191" name="Line 1042"/>
              <p:cNvSpPr/>
              <p:nvPr/>
            </p:nvSpPr>
            <p:spPr>
              <a:xfrm flipH="1">
                <a:off x="4643438" y="1384300"/>
                <a:ext cx="519112" cy="377825"/>
              </a:xfrm>
              <a:prstGeom prst="line">
                <a:avLst/>
              </a:prstGeom>
              <a:ln w="63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stealth" w="sm" len="sm"/>
              </a:ln>
            </p:spPr>
          </p:sp>
          <p:sp>
            <p:nvSpPr>
              <p:cNvPr id="50192" name="Line 1043"/>
              <p:cNvSpPr/>
              <p:nvPr/>
            </p:nvSpPr>
            <p:spPr>
              <a:xfrm>
                <a:off x="3841750" y="1355725"/>
                <a:ext cx="0" cy="252413"/>
              </a:xfrm>
              <a:prstGeom prst="line">
                <a:avLst/>
              </a:prstGeom>
              <a:ln w="63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stealth" w="sm" len="sm"/>
              </a:ln>
            </p:spPr>
          </p:sp>
          <p:sp>
            <p:nvSpPr>
              <p:cNvPr id="50193" name="Rectangle 1044"/>
              <p:cNvSpPr/>
              <p:nvPr/>
            </p:nvSpPr>
            <p:spPr>
              <a:xfrm>
                <a:off x="5795963" y="3427413"/>
                <a:ext cx="1947862" cy="581025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lstStyle/>
              <a:p>
                <a:pPr algn="just" eaLnBrk="0" hangingPunct="0">
                  <a:lnSpc>
                    <a:spcPct val="80000"/>
                  </a:lnSpc>
                  <a:buFont typeface="Arial" panose="020B0604020202020204" pitchFamily="34" charset="0"/>
                </a:pPr>
                <a:r>
                  <a:rPr lang="en-US" altLang="zh-CN" sz="2000" b="1" dirty="0"/>
                  <a:t>  </a:t>
                </a:r>
                <a:endParaRPr lang="en-US" altLang="zh-CN" sz="2000" b="1" dirty="0"/>
              </a:p>
              <a:p>
                <a:pPr algn="just" eaLnBrk="0" hangingPunct="0">
                  <a:lnSpc>
                    <a:spcPct val="80000"/>
                  </a:lnSpc>
                  <a:buFont typeface="Arial" panose="020B0604020202020204" pitchFamily="34" charset="0"/>
                </a:pPr>
                <a:r>
                  <a:rPr lang="en-US" altLang="zh-CN" sz="2000" b="1" dirty="0"/>
                  <a:t>  </a:t>
                </a:r>
                <a:r>
                  <a:rPr lang="zh-CN" altLang="en-US" sz="2000" b="1" dirty="0">
                    <a:solidFill>
                      <a:srgbClr val="FF3300"/>
                    </a:solidFill>
                  </a:rPr>
                  <a:t>数据库管理员</a:t>
                </a:r>
                <a:endParaRPr lang="zh-CN" altLang="en-US" sz="2000" b="1" dirty="0">
                  <a:solidFill>
                    <a:srgbClr val="FF3300"/>
                  </a:solidFill>
                </a:endParaRPr>
              </a:p>
            </p:txBody>
          </p:sp>
          <p:sp>
            <p:nvSpPr>
              <p:cNvPr id="50194" name="Rectangle 1045"/>
              <p:cNvSpPr/>
              <p:nvPr/>
            </p:nvSpPr>
            <p:spPr>
              <a:xfrm>
                <a:off x="4859338" y="1031875"/>
                <a:ext cx="1001712" cy="442913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lstStyle/>
              <a:p>
                <a:pPr eaLnBrk="0" hangingPunct="0">
                  <a:lnSpc>
                    <a:spcPct val="80000"/>
                  </a:lnSpc>
                  <a:buFont typeface="Arial" panose="020B0604020202020204" pitchFamily="34" charset="0"/>
                </a:pPr>
                <a:r>
                  <a:rPr lang="zh-CN" altLang="en-US" sz="2000" b="1" dirty="0"/>
                  <a:t>用户</a:t>
                </a:r>
                <a:endParaRPr lang="zh-CN" altLang="en-US" sz="2000" b="1" dirty="0"/>
              </a:p>
            </p:txBody>
          </p:sp>
          <p:sp>
            <p:nvSpPr>
              <p:cNvPr id="50195" name="Rectangle 1046"/>
              <p:cNvSpPr/>
              <p:nvPr/>
            </p:nvSpPr>
            <p:spPr>
              <a:xfrm>
                <a:off x="3409950" y="1011238"/>
                <a:ext cx="1000125" cy="46355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lstStyle/>
              <a:p>
                <a:pPr eaLnBrk="0" hangingPunct="0">
                  <a:lnSpc>
                    <a:spcPct val="80000"/>
                  </a:lnSpc>
                  <a:buFont typeface="Arial" panose="020B0604020202020204" pitchFamily="34" charset="0"/>
                </a:pPr>
                <a:r>
                  <a:rPr lang="zh-CN" altLang="en-US" sz="2000" b="1" dirty="0"/>
                  <a:t>用户</a:t>
                </a:r>
                <a:endParaRPr lang="zh-CN" altLang="en-US" sz="2000" b="1" dirty="0"/>
              </a:p>
            </p:txBody>
          </p:sp>
          <p:sp>
            <p:nvSpPr>
              <p:cNvPr id="50196" name="Rectangle 1047"/>
              <p:cNvSpPr/>
              <p:nvPr/>
            </p:nvSpPr>
            <p:spPr>
              <a:xfrm>
                <a:off x="2257425" y="1004888"/>
                <a:ext cx="1000125" cy="4699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 anchorCtr="0"/>
              <a:lstStyle/>
              <a:p>
                <a:pPr eaLnBrk="0" hangingPunct="0">
                  <a:lnSpc>
                    <a:spcPct val="80000"/>
                  </a:lnSpc>
                  <a:buFont typeface="Arial" panose="020B0604020202020204" pitchFamily="34" charset="0"/>
                </a:pPr>
                <a:r>
                  <a:rPr lang="zh-CN" altLang="en-US" sz="2000" b="1" dirty="0"/>
                  <a:t>用户</a:t>
                </a:r>
                <a:endParaRPr lang="zh-CN" altLang="en-US" sz="2000" b="1" dirty="0"/>
              </a:p>
            </p:txBody>
          </p:sp>
          <p:sp>
            <p:nvSpPr>
              <p:cNvPr id="50197" name="TextBox 23"/>
              <p:cNvSpPr txBox="1"/>
              <p:nvPr/>
            </p:nvSpPr>
            <p:spPr>
              <a:xfrm>
                <a:off x="4356100" y="960438"/>
                <a:ext cx="576263" cy="38531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lstStyle/>
              <a:p>
                <a:pPr>
                  <a:buFont typeface="Arial" panose="020B0604020202020204" pitchFamily="34" charset="0"/>
                </a:pPr>
                <a:r>
                  <a:rPr lang="en-US" altLang="zh-CN" b="1" dirty="0">
                    <a:latin typeface="Arial" panose="020B0604020202020204" pitchFamily="34" charset="0"/>
                    <a:ea typeface="宋体" panose="02010600030101010101" pitchFamily="2" charset="-122"/>
                  </a:rPr>
                  <a:t>…</a:t>
                </a:r>
                <a:endParaRPr lang="zh-CN" altLang="en-US" b="1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50198" name="直接箭头连接符 25"/>
              <p:cNvCxnSpPr/>
              <p:nvPr/>
            </p:nvCxnSpPr>
            <p:spPr>
              <a:xfrm rot="10800000">
                <a:off x="4525963" y="5786438"/>
                <a:ext cx="2260600" cy="22225"/>
              </a:xfrm>
              <a:prstGeom prst="straightConnector1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arrow" w="med" len="med"/>
              </a:ln>
            </p:spPr>
          </p:cxnSp>
          <p:cxnSp>
            <p:nvCxnSpPr>
              <p:cNvPr id="50199" name="直接连接符 28"/>
              <p:cNvCxnSpPr>
                <a:endCxn id="50193" idx="2"/>
              </p:cNvCxnSpPr>
              <p:nvPr/>
            </p:nvCxnSpPr>
            <p:spPr>
              <a:xfrm rot="-5400000" flipV="1">
                <a:off x="5878512" y="4900612"/>
                <a:ext cx="1800225" cy="15875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pic>
        <p:nvPicPr>
          <p:cNvPr id="50200" name="图片 2" descr="1z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6825" y="1789430"/>
            <a:ext cx="3140710" cy="31400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0201" name="文本框 26"/>
          <p:cNvSpPr txBox="1"/>
          <p:nvPr/>
        </p:nvSpPr>
        <p:spPr>
          <a:xfrm>
            <a:off x="7463474" y="5085715"/>
            <a:ext cx="3532187" cy="33718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0" hangingPunct="0">
              <a:buClrTx/>
              <a:buFontTx/>
            </a:pPr>
            <a:r>
              <a:rPr lang="zh-CN" altLang="en-US" sz="1600" b="1" dirty="0">
                <a:latin typeface="宋体" panose="02010600030101010101" pitchFamily="2" charset="-122"/>
              </a:rPr>
              <a:t>引入</a:t>
            </a:r>
            <a:r>
              <a:rPr lang="en-US" altLang="zh-CN" sz="1600" b="1" dirty="0">
                <a:latin typeface="宋体" panose="02010600030101010101" pitchFamily="2" charset="-122"/>
              </a:rPr>
              <a:t>DBMS</a:t>
            </a:r>
            <a:r>
              <a:rPr lang="zh-CN" altLang="en-US" sz="1600" b="1" dirty="0">
                <a:latin typeface="宋体" panose="02010600030101010101" pitchFamily="2" charset="-122"/>
              </a:rPr>
              <a:t>后计算机系统的层次机构</a:t>
            </a:r>
            <a:endParaRPr lang="zh-CN" altLang="en-US" sz="1600" b="1" dirty="0"/>
          </a:p>
        </p:txBody>
      </p:sp>
      <p:sp>
        <p:nvSpPr>
          <p:cNvPr id="50202" name="文本框 28"/>
          <p:cNvSpPr txBox="1"/>
          <p:nvPr/>
        </p:nvSpPr>
        <p:spPr>
          <a:xfrm>
            <a:off x="2754314" y="6097589"/>
            <a:ext cx="1474787" cy="33972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eaLnBrk="0" hangingPunct="0">
              <a:buClrTx/>
              <a:buFontTx/>
            </a:pPr>
            <a:r>
              <a:rPr lang="zh-CN" altLang="zh-CN" sz="1600" b="1" dirty="0">
                <a:latin typeface="Times New Roman" panose="02020603050405020304" pitchFamily="18" charset="0"/>
              </a:rPr>
              <a:t>数据库系统</a:t>
            </a:r>
            <a:endParaRPr lang="zh-CN" altLang="en-US" sz="1600" b="1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sz="3600" dirty="0"/>
              <a:t>1.1  </a:t>
            </a:r>
            <a:r>
              <a:rPr lang="zh-CN" altLang="en-US" sz="3600" dirty="0"/>
              <a:t>数据库系统概述</a:t>
            </a:r>
            <a:endParaRPr lang="zh-CN" altLang="en-US" sz="3600" dirty="0"/>
          </a:p>
        </p:txBody>
      </p:sp>
      <p:sp>
        <p:nvSpPr>
          <p:cNvPr id="51202" name="Rectangle 3"/>
          <p:cNvSpPr>
            <a:spLocks noGrp="1"/>
          </p:cNvSpPr>
          <p:nvPr>
            <p:ph idx="1"/>
          </p:nvPr>
        </p:nvSpPr>
        <p:spPr>
          <a:xfrm>
            <a:off x="1199456" y="1268760"/>
            <a:ext cx="9011344" cy="4925665"/>
          </a:xfrm>
        </p:spPr>
        <p:txBody>
          <a:bodyPr vert="horz" wrap="square" lIns="91440" tIns="45720" rIns="91440" bIns="45720" anchor="t" anchorCtr="0"/>
          <a:lstStyle/>
          <a:p>
            <a:pPr lvl="1" eaLnBrk="1" hangingPunct="1">
              <a:lnSpc>
                <a:spcPct val="140000"/>
              </a:lnSpc>
              <a:buNone/>
            </a:pPr>
            <a:r>
              <a:rPr lang="en-US" altLang="zh-CN" sz="2800" dirty="0"/>
              <a:t>    1.1.1 </a:t>
            </a:r>
            <a:r>
              <a:rPr lang="zh-CN" altLang="en-US" sz="2800" dirty="0"/>
              <a:t>四个基本概念</a:t>
            </a:r>
            <a:endParaRPr lang="zh-CN" altLang="en-US" sz="2800" dirty="0"/>
          </a:p>
          <a:p>
            <a:pPr lvl="1" eaLnBrk="1" hangingPunct="1">
              <a:lnSpc>
                <a:spcPct val="140000"/>
              </a:lnSpc>
              <a:buNone/>
            </a:pPr>
            <a:r>
              <a:rPr lang="zh-CN" altLang="en-US" sz="2800" dirty="0">
                <a:solidFill>
                  <a:srgbClr val="00B050"/>
                </a:solidFill>
              </a:rPr>
              <a:t>    </a:t>
            </a:r>
            <a:r>
              <a:rPr lang="en-US" altLang="zh-CN" sz="2800" dirty="0">
                <a:solidFill>
                  <a:srgbClr val="00B050"/>
                </a:solidFill>
              </a:rPr>
              <a:t>1.1.2 </a:t>
            </a:r>
            <a:r>
              <a:rPr lang="zh-CN" altLang="en-US" sz="2800" dirty="0">
                <a:solidFill>
                  <a:srgbClr val="00B050"/>
                </a:solidFill>
              </a:rPr>
              <a:t>数据管理技术的产生和发展</a:t>
            </a:r>
            <a:endParaRPr lang="zh-CN" altLang="en-US" sz="2800" dirty="0">
              <a:solidFill>
                <a:srgbClr val="00B050"/>
              </a:solidFill>
            </a:endParaRPr>
          </a:p>
          <a:p>
            <a:pPr eaLnBrk="1" hangingPunct="1"/>
            <a:endParaRPr lang="en-US" altLang="zh-CN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数据管理技术的产生和发展</a:t>
            </a:r>
            <a:endParaRPr lang="zh-CN" altLang="en-US" sz="3600" dirty="0"/>
          </a:p>
        </p:txBody>
      </p:sp>
      <p:sp>
        <p:nvSpPr>
          <p:cNvPr id="53251" name="Rectangle 3"/>
          <p:cNvSpPr>
            <a:spLocks noGrp="1" noChangeArrowheads="1"/>
          </p:cNvSpPr>
          <p:nvPr>
            <p:ph idx="1"/>
          </p:nvPr>
        </p:nvSpPr>
        <p:spPr>
          <a:xfrm>
            <a:off x="1199456" y="1268760"/>
            <a:ext cx="8858944" cy="4854228"/>
          </a:xfrm>
        </p:spPr>
        <p:txBody>
          <a:bodyPr vert="horz" wrap="square" lIns="91440" tIns="45720" rIns="91440" bIns="45720" numCol="1" anchor="t" anchorCtr="0" compatLnSpc="1"/>
          <a:lstStyle/>
          <a:p>
            <a:pPr algn="just" eaLnBrk="1" hangingPunct="1">
              <a:buSzTx/>
              <a:defRPr/>
            </a:pPr>
            <a:r>
              <a:rPr lang="zh-CN" altLang="en-US" dirty="0"/>
              <a:t>数据管理技术的发展过程</a:t>
            </a:r>
            <a:endParaRPr lang="zh-CN" altLang="en-US" dirty="0"/>
          </a:p>
          <a:p>
            <a:pPr lvl="1" algn="just" eaLnBrk="1" hangingPunct="1">
              <a:lnSpc>
                <a:spcPct val="160000"/>
              </a:lnSpc>
              <a:buSzTx/>
              <a:defRPr/>
            </a:pPr>
            <a:r>
              <a:rPr lang="zh-CN" altLang="en-US" dirty="0">
                <a:cs typeface="+mn-ea"/>
              </a:rPr>
              <a:t>人工管理阶段（</a:t>
            </a:r>
            <a:r>
              <a:rPr lang="en-US" altLang="zh-CN" dirty="0">
                <a:cs typeface="+mn-ea"/>
              </a:rPr>
              <a:t> 1950</a:t>
            </a:r>
            <a:r>
              <a:rPr lang="zh-CN" altLang="zh-CN" dirty="0">
                <a:cs typeface="+mn-ea"/>
              </a:rPr>
              <a:t>年代中期以前</a:t>
            </a:r>
            <a:r>
              <a:rPr lang="zh-CN" altLang="en-US" dirty="0">
                <a:cs typeface="+mn-ea"/>
              </a:rPr>
              <a:t>）</a:t>
            </a:r>
            <a:endParaRPr lang="en-US" altLang="zh-CN" dirty="0">
              <a:cs typeface="+mn-ea"/>
            </a:endParaRPr>
          </a:p>
          <a:p>
            <a:pPr lvl="1" algn="just" eaLnBrk="1" hangingPunct="1">
              <a:lnSpc>
                <a:spcPct val="160000"/>
              </a:lnSpc>
              <a:buSzTx/>
              <a:defRPr/>
            </a:pPr>
            <a:r>
              <a:rPr lang="zh-CN" altLang="en-US" dirty="0">
                <a:cs typeface="+mn-ea"/>
              </a:rPr>
              <a:t>文件系统阶段（</a:t>
            </a:r>
            <a:r>
              <a:rPr lang="en-US" altLang="zh-CN" sz="1800" kern="1050" dirty="0">
                <a:latin typeface="Times New Roman" panose="02020603050405020304" pitchFamily="18" charset="0"/>
                <a:cs typeface="+mn-ea"/>
              </a:rPr>
              <a:t> </a:t>
            </a:r>
            <a:r>
              <a:rPr lang="en-US" altLang="zh-CN" dirty="0">
                <a:cs typeface="+mn-ea"/>
              </a:rPr>
              <a:t>1950</a:t>
            </a:r>
            <a:r>
              <a:rPr lang="zh-CN" altLang="zh-CN" dirty="0">
                <a:cs typeface="+mn-ea"/>
              </a:rPr>
              <a:t>年代后期</a:t>
            </a:r>
            <a:r>
              <a:rPr lang="en-US" altLang="zh-CN" dirty="0">
                <a:cs typeface="+mn-ea"/>
              </a:rPr>
              <a:t>--1960</a:t>
            </a:r>
            <a:r>
              <a:rPr lang="zh-CN" altLang="zh-CN" dirty="0">
                <a:cs typeface="+mn-ea"/>
              </a:rPr>
              <a:t>年代中期</a:t>
            </a:r>
            <a:r>
              <a:rPr lang="zh-CN" altLang="en-US" dirty="0">
                <a:cs typeface="+mn-ea"/>
              </a:rPr>
              <a:t>）</a:t>
            </a:r>
            <a:endParaRPr lang="en-US" altLang="zh-CN" dirty="0">
              <a:cs typeface="+mn-ea"/>
            </a:endParaRPr>
          </a:p>
          <a:p>
            <a:pPr lvl="1" algn="just" eaLnBrk="1" hangingPunct="1">
              <a:lnSpc>
                <a:spcPct val="160000"/>
              </a:lnSpc>
              <a:buSzTx/>
              <a:defRPr/>
            </a:pPr>
            <a:r>
              <a:rPr lang="zh-CN" altLang="en-US" dirty="0">
                <a:cs typeface="+mn-ea"/>
              </a:rPr>
              <a:t>数据库系统阶段（</a:t>
            </a:r>
            <a:r>
              <a:rPr lang="en-US" altLang="zh-CN" dirty="0">
                <a:cs typeface="+mn-ea"/>
              </a:rPr>
              <a:t> 1960</a:t>
            </a:r>
            <a:r>
              <a:rPr lang="zh-CN" altLang="zh-CN" dirty="0">
                <a:cs typeface="+mn-ea"/>
              </a:rPr>
              <a:t>年代后期</a:t>
            </a:r>
            <a:r>
              <a:rPr lang="en-US" altLang="zh-CN" dirty="0">
                <a:cs typeface="+mn-ea"/>
              </a:rPr>
              <a:t>--</a:t>
            </a:r>
            <a:r>
              <a:rPr lang="zh-CN" altLang="en-US" dirty="0">
                <a:cs typeface="+mn-ea"/>
              </a:rPr>
              <a:t>）</a:t>
            </a:r>
            <a:endParaRPr lang="en-US" altLang="zh-CN" dirty="0">
              <a:cs typeface="+mn-ea"/>
            </a:endParaRPr>
          </a:p>
          <a:p>
            <a:pPr algn="just" eaLnBrk="1" hangingPunct="1">
              <a:buSzTx/>
              <a:defRPr/>
            </a:pPr>
            <a:endParaRPr lang="en-US" altLang="zh-CN" dirty="0"/>
          </a:p>
        </p:txBody>
      </p:sp>
      <p:sp>
        <p:nvSpPr>
          <p:cNvPr id="2" name="文本框 1"/>
          <p:cNvSpPr txBox="1"/>
          <p:nvPr/>
        </p:nvSpPr>
        <p:spPr>
          <a:xfrm>
            <a:off x="3048000" y="5373370"/>
            <a:ext cx="60960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3600" dirty="0">
                <a:sym typeface="+mn-ea"/>
              </a:rPr>
              <a:t>这部分内容请课后阅读</a:t>
            </a:r>
            <a:r>
              <a:rPr lang="zh-CN" altLang="en-US" sz="3600" dirty="0">
                <a:sym typeface="+mn-ea"/>
              </a:rPr>
              <a:t>教材</a:t>
            </a:r>
            <a:endParaRPr lang="zh-CN" altLang="en-US" sz="3600" dirty="0">
              <a:sym typeface="+mn-e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 descr="1-2 数据模型-导出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761615" y="1113155"/>
            <a:ext cx="6224905" cy="435165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3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sz="3600" dirty="0"/>
              <a:t>1.2  </a:t>
            </a:r>
            <a:r>
              <a:rPr lang="zh-CN" altLang="en-US" sz="3600" dirty="0"/>
              <a:t>数据模型</a:t>
            </a:r>
            <a:endParaRPr lang="zh-CN" altLang="en-US" sz="3600" dirty="0"/>
          </a:p>
        </p:txBody>
      </p:sp>
      <p:sp>
        <p:nvSpPr>
          <p:cNvPr id="79874" name="Rectangle 3"/>
          <p:cNvSpPr>
            <a:spLocks noGrp="1"/>
          </p:cNvSpPr>
          <p:nvPr>
            <p:ph idx="1"/>
          </p:nvPr>
        </p:nvSpPr>
        <p:spPr>
          <a:xfrm>
            <a:off x="1127760" y="1052830"/>
            <a:ext cx="9929495" cy="4994275"/>
          </a:xfrm>
        </p:spPr>
        <p:txBody>
          <a:bodyPr vert="horz" wrap="square" lIns="91440" tIns="45720" rIns="91440" bIns="45720" anchor="t" anchorCtr="0">
            <a:normAutofit/>
          </a:bodyPr>
          <a:lstStyle/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r>
              <a:rPr lang="zh-CN" altLang="en-US" dirty="0"/>
              <a:t>数据模型是对现实世界数据特征的抽象，是</a:t>
            </a:r>
            <a:r>
              <a:rPr lang="zh-CN" altLang="en-US" dirty="0">
                <a:solidFill>
                  <a:srgbClr val="FF00FF"/>
                </a:solidFill>
              </a:rPr>
              <a:t>现实世界的模拟</a:t>
            </a:r>
            <a:endParaRPr lang="en-US" altLang="zh-CN" dirty="0"/>
          </a:p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r>
              <a:rPr lang="zh-CN" altLang="zh-CN" dirty="0"/>
              <a:t>数据模型是用来描述数据、组织数据和对数据进行操作的</a:t>
            </a:r>
            <a:endParaRPr lang="en-US" altLang="zh-CN" dirty="0"/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</a:pPr>
            <a:r>
              <a:rPr lang="zh-CN" altLang="en-US" dirty="0"/>
              <a:t>数据模型是数据库系统的</a:t>
            </a:r>
            <a:r>
              <a:rPr lang="zh-CN" altLang="en-US" dirty="0">
                <a:solidFill>
                  <a:srgbClr val="FF00FF"/>
                </a:solidFill>
              </a:rPr>
              <a:t>核心和基础</a:t>
            </a:r>
            <a:endParaRPr lang="zh-CN" altLang="en-US" dirty="0">
              <a:solidFill>
                <a:srgbClr val="FF00FF"/>
              </a:solidFill>
            </a:endParaRPr>
          </a:p>
          <a:p>
            <a:pPr lvl="1" algn="just" eaLnBrk="1" hangingPunct="1">
              <a:lnSpc>
                <a:spcPct val="150000"/>
              </a:lnSpc>
              <a:spcBef>
                <a:spcPct val="0"/>
              </a:spcBef>
            </a:pPr>
            <a:r>
              <a:rPr lang="en-US" altLang="zh-CN" sz="1885" dirty="0"/>
              <a:t>XX</a:t>
            </a:r>
            <a:r>
              <a:rPr lang="zh-CN" altLang="en-US" sz="1885" dirty="0"/>
              <a:t>数据库，一般</a:t>
            </a:r>
            <a:r>
              <a:rPr lang="en-US" altLang="zh-CN" sz="1885" dirty="0"/>
              <a:t>“XX”</a:t>
            </a:r>
            <a:r>
              <a:rPr lang="zh-CN" altLang="en-US" sz="1885" dirty="0"/>
              <a:t>都是数据模型，比如层次</a:t>
            </a:r>
            <a:r>
              <a:rPr lang="en-US" altLang="zh-CN" sz="1885" dirty="0"/>
              <a:t>/</a:t>
            </a:r>
            <a:r>
              <a:rPr lang="zh-CN" altLang="en-US" sz="1885" dirty="0"/>
              <a:t>网状</a:t>
            </a:r>
            <a:r>
              <a:rPr lang="en-US" altLang="zh-CN" sz="1885" dirty="0"/>
              <a:t>/</a:t>
            </a:r>
            <a:r>
              <a:rPr lang="zh-CN" altLang="en-US" sz="1885" dirty="0"/>
              <a:t>关系</a:t>
            </a:r>
            <a:r>
              <a:rPr lang="en-US" altLang="zh-CN" sz="1885" dirty="0"/>
              <a:t>/KV/</a:t>
            </a:r>
            <a:r>
              <a:rPr lang="zh-CN" altLang="en-US" sz="1885" dirty="0"/>
              <a:t>图</a:t>
            </a:r>
            <a:r>
              <a:rPr lang="en-US" altLang="zh-CN" sz="1885" dirty="0"/>
              <a:t> </a:t>
            </a:r>
            <a:r>
              <a:rPr lang="zh-CN" altLang="en-US" sz="1885" dirty="0"/>
              <a:t>等等</a:t>
            </a:r>
            <a:endParaRPr lang="zh-CN" altLang="en-US" sz="1885" dirty="0"/>
          </a:p>
          <a:p>
            <a:pPr lvl="1" algn="just" eaLnBrk="1" hangingPunct="1">
              <a:lnSpc>
                <a:spcPct val="150000"/>
              </a:lnSpc>
              <a:spcBef>
                <a:spcPct val="0"/>
              </a:spcBef>
            </a:pPr>
            <a:r>
              <a:rPr lang="zh-CN" altLang="en-US" sz="1885" dirty="0"/>
              <a:t>近年来，</a:t>
            </a:r>
            <a:r>
              <a:rPr lang="zh-CN" altLang="en-US" sz="1885" dirty="0">
                <a:solidFill>
                  <a:srgbClr val="C00000"/>
                </a:solidFill>
              </a:rPr>
              <a:t>多模数据库</a:t>
            </a:r>
            <a:r>
              <a:rPr lang="zh-CN" altLang="en-US" sz="1885" dirty="0"/>
              <a:t>逐渐成为研究</a:t>
            </a:r>
            <a:r>
              <a:rPr lang="zh-CN" altLang="en-US" sz="1885" dirty="0"/>
              <a:t>热点，multi-model database system，如OrientDB，ArangoDB</a:t>
            </a:r>
            <a:endParaRPr lang="zh-CN" altLang="en-US" sz="188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7" name="Rectangle 1026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sz="3600" dirty="0"/>
              <a:t> 1.2  </a:t>
            </a:r>
            <a:r>
              <a:rPr lang="zh-CN" altLang="en-US" sz="3600" dirty="0"/>
              <a:t>数据模型</a:t>
            </a:r>
            <a:endParaRPr lang="zh-CN" altLang="en-US" sz="3600" dirty="0"/>
          </a:p>
        </p:txBody>
      </p:sp>
      <p:sp>
        <p:nvSpPr>
          <p:cNvPr id="80898" name="Rectangle 1027"/>
          <p:cNvSpPr>
            <a:spLocks noGrp="1"/>
          </p:cNvSpPr>
          <p:nvPr>
            <p:ph idx="1"/>
          </p:nvPr>
        </p:nvSpPr>
        <p:spPr>
          <a:xfrm>
            <a:off x="1487488" y="1098550"/>
            <a:ext cx="8353425" cy="4922838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130000"/>
              </a:lnSpc>
              <a:buNone/>
            </a:pPr>
            <a:r>
              <a:rPr lang="en-US" altLang="zh-CN" dirty="0">
                <a:solidFill>
                  <a:srgbClr val="00B050"/>
                </a:solidFill>
              </a:rPr>
              <a:t>  1.2.1  </a:t>
            </a:r>
            <a:r>
              <a:rPr lang="zh-CN" altLang="en-US" dirty="0">
                <a:solidFill>
                  <a:srgbClr val="00B050"/>
                </a:solidFill>
              </a:rPr>
              <a:t>数据建模</a:t>
            </a:r>
            <a:endParaRPr lang="zh-CN" altLang="en-US" dirty="0">
              <a:solidFill>
                <a:srgbClr val="00B050"/>
              </a:solidFill>
            </a:endParaRPr>
          </a:p>
          <a:p>
            <a:pPr eaLnBrk="1" hangingPunct="1">
              <a:lnSpc>
                <a:spcPct val="130000"/>
              </a:lnSpc>
              <a:buNone/>
            </a:pPr>
            <a:r>
              <a:rPr lang="zh-CN" altLang="en-US" dirty="0"/>
              <a:t>  </a:t>
            </a:r>
            <a:r>
              <a:rPr lang="en-US" altLang="zh-CN" dirty="0"/>
              <a:t>1.2.2  </a:t>
            </a:r>
            <a:r>
              <a:rPr lang="zh-CN" altLang="en-US" dirty="0"/>
              <a:t>概念模型</a:t>
            </a:r>
            <a:endParaRPr lang="zh-CN" altLang="en-US" dirty="0"/>
          </a:p>
          <a:p>
            <a:pPr eaLnBrk="1" hangingPunct="1">
              <a:lnSpc>
                <a:spcPct val="130000"/>
              </a:lnSpc>
              <a:buNone/>
            </a:pPr>
            <a:r>
              <a:rPr lang="zh-CN" altLang="en-US" dirty="0">
                <a:solidFill>
                  <a:schemeClr val="hlink"/>
                </a:solidFill>
              </a:rPr>
              <a:t>  </a:t>
            </a:r>
            <a:r>
              <a:rPr lang="en-US" altLang="zh-CN" dirty="0"/>
              <a:t>1.2.3  </a:t>
            </a:r>
            <a:r>
              <a:rPr lang="zh-CN" altLang="en-US" dirty="0"/>
              <a:t>数据模型的三要素</a:t>
            </a:r>
            <a:endParaRPr lang="zh-CN" altLang="en-US" dirty="0"/>
          </a:p>
          <a:p>
            <a:pPr eaLnBrk="1" hangingPunct="1">
              <a:lnSpc>
                <a:spcPct val="130000"/>
              </a:lnSpc>
              <a:buNone/>
            </a:pPr>
            <a:r>
              <a:rPr lang="zh-CN" altLang="en-US" dirty="0"/>
              <a:t>  </a:t>
            </a:r>
            <a:r>
              <a:rPr lang="en-US" altLang="zh-CN" dirty="0"/>
              <a:t>1.2.4  </a:t>
            </a:r>
            <a:r>
              <a:rPr lang="zh-CN" altLang="en-US" dirty="0"/>
              <a:t>层次模型</a:t>
            </a:r>
            <a:endParaRPr lang="en-US" altLang="zh-CN" dirty="0"/>
          </a:p>
          <a:p>
            <a:pPr eaLnBrk="1" hangingPunct="1">
              <a:lnSpc>
                <a:spcPct val="130000"/>
              </a:lnSpc>
              <a:buNone/>
            </a:pPr>
            <a:r>
              <a:rPr lang="zh-CN" altLang="en-US" dirty="0"/>
              <a:t>  </a:t>
            </a:r>
            <a:r>
              <a:rPr lang="en-US" altLang="zh-CN" dirty="0"/>
              <a:t>1.2.5  </a:t>
            </a:r>
            <a:r>
              <a:rPr lang="zh-CN" altLang="en-US" dirty="0"/>
              <a:t>网状模型</a:t>
            </a:r>
            <a:endParaRPr lang="zh-CN" altLang="en-US" dirty="0"/>
          </a:p>
          <a:p>
            <a:pPr eaLnBrk="1" hangingPunct="1">
              <a:lnSpc>
                <a:spcPct val="130000"/>
              </a:lnSpc>
              <a:buNone/>
            </a:pPr>
            <a:r>
              <a:rPr lang="zh-CN" altLang="en-US" dirty="0"/>
              <a:t>  </a:t>
            </a:r>
            <a:r>
              <a:rPr lang="en-US" altLang="zh-CN" dirty="0"/>
              <a:t>1.2.6  </a:t>
            </a:r>
            <a:r>
              <a:rPr lang="zh-CN" altLang="en-US" dirty="0"/>
              <a:t>关系模型</a:t>
            </a:r>
            <a:endParaRPr lang="en-US" altLang="zh-CN" dirty="0"/>
          </a:p>
          <a:p>
            <a:pPr eaLnBrk="1" hangingPunct="1">
              <a:lnSpc>
                <a:spcPct val="130000"/>
              </a:lnSpc>
              <a:buNone/>
            </a:pPr>
            <a:r>
              <a:rPr lang="zh-CN" altLang="en-US" dirty="0"/>
              <a:t>  </a:t>
            </a:r>
            <a:r>
              <a:rPr lang="en-US" altLang="zh-CN" dirty="0"/>
              <a:t>1.2.7  </a:t>
            </a:r>
            <a:r>
              <a:rPr lang="zh-CN" altLang="en-US" dirty="0"/>
              <a:t>数据库领域中不断涌现的数据模型</a:t>
            </a:r>
            <a:endParaRPr lang="en-US" altLang="zh-CN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1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数据建模</a:t>
            </a:r>
            <a:endParaRPr lang="en-US" altLang="zh-CN" sz="3600" dirty="0"/>
          </a:p>
        </p:txBody>
      </p:sp>
      <p:sp>
        <p:nvSpPr>
          <p:cNvPr id="81922" name="Rectangle 3"/>
          <p:cNvSpPr>
            <a:spLocks noGrp="1"/>
          </p:cNvSpPr>
          <p:nvPr>
            <p:ph idx="1"/>
          </p:nvPr>
        </p:nvSpPr>
        <p:spPr>
          <a:xfrm>
            <a:off x="1127448" y="1052737"/>
            <a:ext cx="10153128" cy="5141690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150000"/>
              </a:lnSpc>
            </a:pPr>
            <a:r>
              <a:rPr lang="zh-CN" altLang="en-US" dirty="0"/>
              <a:t>把现实世界中的具体事物抽象、组织为某一数据库管理系统支持的数据模型</a:t>
            </a:r>
            <a:endParaRPr lang="en-US" altLang="zh-CN" dirty="0">
              <a:solidFill>
                <a:srgbClr val="5F9F25"/>
              </a:solidFill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dirty="0"/>
              <a:t>数据建模过程</a:t>
            </a:r>
            <a:r>
              <a:rPr lang="en-US" altLang="zh-CN" dirty="0"/>
              <a:t>---</a:t>
            </a:r>
            <a:r>
              <a:rPr lang="zh-CN" altLang="en-US" dirty="0">
                <a:solidFill>
                  <a:srgbClr val="5F9F25"/>
                </a:solidFill>
              </a:rPr>
              <a:t>两步抽象</a:t>
            </a:r>
            <a:endParaRPr lang="zh-CN" altLang="en-US" dirty="0">
              <a:solidFill>
                <a:srgbClr val="5F9F25"/>
              </a:solidFill>
            </a:endParaRPr>
          </a:p>
          <a:p>
            <a:pPr lvl="1" algn="just" eaLnBrk="1" hangingPunct="1">
              <a:lnSpc>
                <a:spcPct val="150000"/>
              </a:lnSpc>
            </a:pPr>
            <a:r>
              <a:rPr lang="zh-CN" altLang="en-US" dirty="0"/>
              <a:t>现实世界中的客观对象抽象为</a:t>
            </a:r>
            <a:r>
              <a:rPr lang="zh-CN" altLang="en-US" dirty="0">
                <a:solidFill>
                  <a:srgbClr val="C00000"/>
                </a:solidFill>
              </a:rPr>
              <a:t>概念模型</a:t>
            </a:r>
            <a:endParaRPr lang="en-US" altLang="zh-CN" dirty="0"/>
          </a:p>
          <a:p>
            <a:pPr lvl="2" algn="just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SzPct val="87000"/>
              <a:buFont typeface="Wingdings" panose="05000000000000000000" pitchFamily="2" charset="2"/>
              <a:buChar char="l"/>
            </a:pPr>
            <a:r>
              <a:rPr lang="zh-CN" altLang="en-US" sz="2200" dirty="0"/>
              <a:t>将现实世界抽象为信息世界</a:t>
            </a:r>
            <a:endParaRPr lang="zh-CN" altLang="en-US" sz="2200" dirty="0"/>
          </a:p>
          <a:p>
            <a:pPr lvl="1" algn="just" eaLnBrk="1" hangingPunct="1">
              <a:lnSpc>
                <a:spcPct val="150000"/>
              </a:lnSpc>
            </a:pPr>
            <a:r>
              <a:rPr lang="zh-CN" altLang="en-US" dirty="0"/>
              <a:t>把概念模型转换为某一数据库管理系统支持的</a:t>
            </a:r>
            <a:r>
              <a:rPr lang="zh-CN" altLang="en-US" dirty="0">
                <a:solidFill>
                  <a:srgbClr val="C00000"/>
                </a:solidFill>
              </a:rPr>
              <a:t>数据模型</a:t>
            </a:r>
            <a:endParaRPr lang="en-US" altLang="zh-CN" dirty="0"/>
          </a:p>
          <a:p>
            <a:pPr lvl="2" algn="just" eaLnBrk="1" hangingPunct="1">
              <a:lnSpc>
                <a:spcPct val="150000"/>
              </a:lnSpc>
              <a:spcBef>
                <a:spcPct val="0"/>
              </a:spcBef>
              <a:buClr>
                <a:schemeClr val="tx1"/>
              </a:buClr>
              <a:buSzPct val="87000"/>
              <a:buFont typeface="Wingdings" panose="05000000000000000000" pitchFamily="2" charset="2"/>
              <a:buChar char="l"/>
            </a:pPr>
            <a:r>
              <a:rPr lang="zh-CN" altLang="zh-CN" sz="2200" dirty="0"/>
              <a:t>将信息世界转换为机器世界</a:t>
            </a:r>
            <a:endParaRPr lang="en-US" altLang="zh-CN" sz="2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5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数据建模（续）</a:t>
            </a:r>
            <a:endParaRPr lang="en-US" altLang="zh-CN" sz="3600" dirty="0"/>
          </a:p>
        </p:txBody>
      </p:sp>
      <p:sp>
        <p:nvSpPr>
          <p:cNvPr id="382980" name="Rectangle 4"/>
          <p:cNvSpPr/>
          <p:nvPr/>
        </p:nvSpPr>
        <p:spPr>
          <a:xfrm>
            <a:off x="4295775" y="4294505"/>
            <a:ext cx="3378835" cy="720725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BBBBBB"/>
              </a:gs>
            </a:gsLst>
            <a:lin ang="5400000" scaled="1"/>
            <a:tileRect/>
          </a:gradFill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marL="342900" indent="-342900">
              <a:buFont typeface="Arial" panose="020B0604020202020204" pitchFamily="34" charset="0"/>
            </a:pPr>
            <a:r>
              <a:rPr lang="zh-CN" altLang="en-US" b="1" dirty="0">
                <a:latin typeface="Arial" panose="020B0604020202020204" pitchFamily="34" charset="0"/>
                <a:ea typeface="宋体" panose="02010600030101010101" pitchFamily="2" charset="-122"/>
              </a:rPr>
              <a:t>数据库管理系统支持的数据模型</a:t>
            </a:r>
            <a:endParaRPr lang="zh-CN" altLang="en-US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82981" name="Rectangle 5"/>
          <p:cNvSpPr/>
          <p:nvPr/>
        </p:nvSpPr>
        <p:spPr>
          <a:xfrm>
            <a:off x="4295140" y="3286125"/>
            <a:ext cx="3380105" cy="57658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BBBBBB"/>
              </a:gs>
            </a:gsLst>
            <a:lin ang="5400000" scaled="1"/>
            <a:tileRect/>
          </a:gradFill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marL="342900" indent="-342900" algn="ctr">
              <a:buFont typeface="Arial" panose="020B0604020202020204" pitchFamily="34" charset="0"/>
            </a:pPr>
            <a:r>
              <a:rPr lang="zh-CN" altLang="en-US" b="1" dirty="0">
                <a:latin typeface="Arial" panose="020B0604020202020204" pitchFamily="34" charset="0"/>
                <a:ea typeface="宋体" panose="02010600030101010101" pitchFamily="2" charset="-122"/>
              </a:rPr>
              <a:t>概念模型</a:t>
            </a:r>
            <a:endParaRPr lang="zh-CN" altLang="en-US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82982" name="AutoShape 6"/>
          <p:cNvSpPr/>
          <p:nvPr/>
        </p:nvSpPr>
        <p:spPr>
          <a:xfrm>
            <a:off x="5397500" y="2205038"/>
            <a:ext cx="914400" cy="792162"/>
          </a:xfrm>
          <a:prstGeom prst="smileyFace">
            <a:avLst>
              <a:gd name="adj" fmla="val 4653"/>
            </a:avLst>
          </a:prstGeom>
          <a:gradFill rotWithShape="0">
            <a:gsLst>
              <a:gs pos="0">
                <a:srgbClr val="FFFFFF"/>
              </a:gs>
              <a:gs pos="100000">
                <a:srgbClr val="BBBBBB"/>
              </a:gs>
            </a:gsLst>
            <a:lin ang="5400000" scaled="1"/>
            <a:tileRect/>
          </a:gradFill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>
              <a:buFont typeface="Arial" panose="020B0604020202020204" pitchFamily="34" charset="0"/>
            </a:pPr>
            <a:endParaRPr lang="zh-CN" altLang="en-US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82985" name="AutoShape 9"/>
          <p:cNvSpPr/>
          <p:nvPr/>
        </p:nvSpPr>
        <p:spPr>
          <a:xfrm flipH="1">
            <a:off x="7032625" y="1773238"/>
            <a:ext cx="1081088" cy="1008062"/>
          </a:xfrm>
          <a:prstGeom prst="wedgeEllipseCallout">
            <a:avLst>
              <a:gd name="adj1" fmla="val 117250"/>
              <a:gd name="adj2" fmla="val 16611"/>
            </a:avLst>
          </a:prstGeom>
          <a:gradFill rotWithShape="0">
            <a:gsLst>
              <a:gs pos="0">
                <a:srgbClr val="FFFFFF"/>
              </a:gs>
              <a:gs pos="100000">
                <a:srgbClr val="BBBBBB"/>
              </a:gs>
            </a:gsLst>
            <a:lin ang="5400000" scaled="1"/>
            <a:tileRect/>
          </a:gradFill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lstStyle/>
          <a:p>
            <a:pPr marL="342900" indent="-342900">
              <a:buFont typeface="Arial" panose="020B0604020202020204" pitchFamily="34" charset="0"/>
            </a:pPr>
            <a:r>
              <a:rPr lang="zh-CN" altLang="en-US" b="1" dirty="0">
                <a:latin typeface="Arial" panose="020B0604020202020204" pitchFamily="34" charset="0"/>
                <a:ea typeface="宋体" panose="02010600030101010101" pitchFamily="2" charset="-122"/>
              </a:rPr>
              <a:t>认识</a:t>
            </a:r>
            <a:endParaRPr lang="zh-CN" altLang="en-US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342900" indent="-342900">
              <a:buFont typeface="Arial" panose="020B0604020202020204" pitchFamily="34" charset="0"/>
            </a:pPr>
            <a:r>
              <a:rPr lang="zh-CN" altLang="en-US" b="1" dirty="0">
                <a:latin typeface="Arial" panose="020B0604020202020204" pitchFamily="34" charset="0"/>
                <a:ea typeface="宋体" panose="02010600030101010101" pitchFamily="2" charset="-122"/>
              </a:rPr>
              <a:t>抽象</a:t>
            </a:r>
            <a:endParaRPr lang="zh-CN" altLang="en-US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82986" name="Text Box 10"/>
          <p:cNvSpPr txBox="1"/>
          <p:nvPr/>
        </p:nvSpPr>
        <p:spPr>
          <a:xfrm>
            <a:off x="2782888" y="3422651"/>
            <a:ext cx="1104900" cy="366713"/>
          </a:xfrm>
          <a:prstGeom prst="rect">
            <a:avLst/>
          </a:prstGeom>
          <a:noFill/>
          <a:ln w="25400">
            <a:noFill/>
          </a:ln>
        </p:spPr>
        <p:txBody>
          <a:bodyPr wrap="none" anchor="t" anchorCtr="0">
            <a:spAutoFit/>
          </a:bodyPr>
          <a:lstStyle/>
          <a:p>
            <a:pPr marL="342900" indent="-342900">
              <a:buFont typeface="Arial" panose="020B0604020202020204" pitchFamily="34" charset="0"/>
            </a:pPr>
            <a:r>
              <a:rPr lang="zh-CN" altLang="en-US" b="1" dirty="0">
                <a:latin typeface="Arial" panose="020B0604020202020204" pitchFamily="34" charset="0"/>
                <a:ea typeface="宋体" panose="02010600030101010101" pitchFamily="2" charset="-122"/>
              </a:rPr>
              <a:t>信息世界</a:t>
            </a:r>
            <a:endParaRPr lang="zh-CN" altLang="en-US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82987" name="Text Box 11"/>
          <p:cNvSpPr txBox="1"/>
          <p:nvPr/>
        </p:nvSpPr>
        <p:spPr>
          <a:xfrm>
            <a:off x="2782888" y="4508501"/>
            <a:ext cx="1104900" cy="366713"/>
          </a:xfrm>
          <a:prstGeom prst="rect">
            <a:avLst/>
          </a:prstGeom>
          <a:noFill/>
          <a:ln w="25400">
            <a:noFill/>
          </a:ln>
        </p:spPr>
        <p:txBody>
          <a:bodyPr wrap="none" anchor="t" anchorCtr="0">
            <a:spAutoFit/>
          </a:bodyPr>
          <a:lstStyle/>
          <a:p>
            <a:pPr marL="342900" indent="-342900">
              <a:buFont typeface="Arial" panose="020B0604020202020204" pitchFamily="34" charset="0"/>
            </a:pPr>
            <a:r>
              <a:rPr lang="zh-CN" altLang="en-US" b="1" dirty="0">
                <a:latin typeface="Arial" panose="020B0604020202020204" pitchFamily="34" charset="0"/>
                <a:ea typeface="宋体" panose="02010600030101010101" pitchFamily="2" charset="-122"/>
              </a:rPr>
              <a:t>机器世界</a:t>
            </a:r>
            <a:endParaRPr lang="zh-CN" altLang="en-US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2952" name="Text Box 12"/>
          <p:cNvSpPr txBox="1"/>
          <p:nvPr/>
        </p:nvSpPr>
        <p:spPr>
          <a:xfrm>
            <a:off x="4367214" y="5538789"/>
            <a:ext cx="3438525" cy="369887"/>
          </a:xfrm>
          <a:prstGeom prst="rect">
            <a:avLst/>
          </a:prstGeom>
          <a:noFill/>
          <a:ln w="25400">
            <a:noFill/>
          </a:ln>
        </p:spPr>
        <p:txBody>
          <a:bodyPr wrap="none" anchor="t" anchorCtr="0">
            <a:spAutoFit/>
          </a:bodyPr>
          <a:lstStyle/>
          <a:p>
            <a:pPr marL="342900" indent="-342900">
              <a:buFont typeface="Arial" panose="020B0604020202020204" pitchFamily="34" charset="0"/>
            </a:pPr>
            <a:r>
              <a:rPr lang="zh-CN" altLang="en-US" b="1" dirty="0">
                <a:latin typeface="Arial" panose="020B0604020202020204" pitchFamily="34" charset="0"/>
                <a:ea typeface="宋体" panose="02010600030101010101" pitchFamily="2" charset="-122"/>
              </a:rPr>
              <a:t>现实世界中客观对象的抽象过程</a:t>
            </a:r>
            <a:endParaRPr lang="zh-CN" altLang="en-US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82989" name="Cloud"/>
          <p:cNvSpPr>
            <a:spLocks noChangeAspect="1" noEditPoints="1"/>
          </p:cNvSpPr>
          <p:nvPr/>
        </p:nvSpPr>
        <p:spPr>
          <a:xfrm>
            <a:off x="4943476" y="981076"/>
            <a:ext cx="1800225" cy="917575"/>
          </a:xfrm>
          <a:custGeom>
            <a:avLst/>
            <a:gdLst>
              <a:gd name="txL" fmla="*/ 2976 w 21600"/>
              <a:gd name="txT" fmla="*/ 3261 h 21600"/>
              <a:gd name="txR" fmla="*/ 17086 w 21600"/>
              <a:gd name="txB" fmla="*/ 17336 h 21600"/>
            </a:gdLst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21600" h="21600">
                <a:moveTo>
                  <a:pt x="1949" y="7180"/>
                </a:moveTo>
                <a:cubicBezTo>
                  <a:pt x="841" y="7336"/>
                  <a:pt x="0" y="8613"/>
                  <a:pt x="0" y="10137"/>
                </a:cubicBezTo>
                <a:cubicBezTo>
                  <a:pt x="-1" y="11192"/>
                  <a:pt x="409" y="12169"/>
                  <a:pt x="1074" y="12702"/>
                </a:cubicBezTo>
                <a:lnTo>
                  <a:pt x="1063" y="12668"/>
                </a:lnTo>
                <a:cubicBezTo>
                  <a:pt x="685" y="13217"/>
                  <a:pt x="475" y="13940"/>
                  <a:pt x="475" y="14690"/>
                </a:cubicBezTo>
                <a:cubicBezTo>
                  <a:pt x="475" y="16325"/>
                  <a:pt x="1451" y="17650"/>
                  <a:pt x="2655" y="17650"/>
                </a:cubicBezTo>
                <a:cubicBezTo>
                  <a:pt x="2739" y="17650"/>
                  <a:pt x="2824" y="17643"/>
                  <a:pt x="2909" y="17629"/>
                </a:cubicBezTo>
                <a:lnTo>
                  <a:pt x="2897" y="17649"/>
                </a:lnTo>
                <a:cubicBezTo>
                  <a:pt x="3585" y="19288"/>
                  <a:pt x="4863" y="20300"/>
                  <a:pt x="6247" y="20300"/>
                </a:cubicBezTo>
                <a:cubicBezTo>
                  <a:pt x="6947" y="20299"/>
                  <a:pt x="7635" y="20039"/>
                  <a:pt x="8235" y="19546"/>
                </a:cubicBezTo>
                <a:lnTo>
                  <a:pt x="8229" y="19550"/>
                </a:lnTo>
                <a:cubicBezTo>
                  <a:pt x="8855" y="20829"/>
                  <a:pt x="9908" y="21597"/>
                  <a:pt x="11036" y="21597"/>
                </a:cubicBezTo>
                <a:cubicBezTo>
                  <a:pt x="12523" y="21596"/>
                  <a:pt x="13836" y="20267"/>
                  <a:pt x="14267" y="18324"/>
                </a:cubicBezTo>
                <a:lnTo>
                  <a:pt x="14270" y="18350"/>
                </a:lnTo>
                <a:cubicBezTo>
                  <a:pt x="14730" y="18740"/>
                  <a:pt x="15260" y="18947"/>
                  <a:pt x="15802" y="18947"/>
                </a:cubicBezTo>
                <a:cubicBezTo>
                  <a:pt x="17390" y="18946"/>
                  <a:pt x="18682" y="17205"/>
                  <a:pt x="18694" y="15045"/>
                </a:cubicBezTo>
                <a:lnTo>
                  <a:pt x="18689" y="15035"/>
                </a:lnTo>
                <a:cubicBezTo>
                  <a:pt x="20357" y="14710"/>
                  <a:pt x="21597" y="12765"/>
                  <a:pt x="21597" y="10472"/>
                </a:cubicBezTo>
                <a:cubicBezTo>
                  <a:pt x="21597" y="9456"/>
                  <a:pt x="21350" y="8469"/>
                  <a:pt x="20896" y="7663"/>
                </a:cubicBezTo>
                <a:lnTo>
                  <a:pt x="20889" y="7661"/>
                </a:lnTo>
                <a:cubicBezTo>
                  <a:pt x="21031" y="7208"/>
                  <a:pt x="21105" y="6721"/>
                  <a:pt x="21105" y="6228"/>
                </a:cubicBezTo>
                <a:cubicBezTo>
                  <a:pt x="21105" y="4588"/>
                  <a:pt x="20299" y="3150"/>
                  <a:pt x="19139" y="2719"/>
                </a:cubicBezTo>
                <a:lnTo>
                  <a:pt x="19148" y="2712"/>
                </a:lnTo>
                <a:cubicBezTo>
                  <a:pt x="18940" y="1142"/>
                  <a:pt x="17933" y="0"/>
                  <a:pt x="16758" y="0"/>
                </a:cubicBezTo>
                <a:cubicBezTo>
                  <a:pt x="16044" y="-1"/>
                  <a:pt x="15367" y="426"/>
                  <a:pt x="14905" y="1165"/>
                </a:cubicBezTo>
                <a:lnTo>
                  <a:pt x="14909" y="1170"/>
                </a:lnTo>
                <a:cubicBezTo>
                  <a:pt x="14497" y="432"/>
                  <a:pt x="13855" y="0"/>
                  <a:pt x="13174" y="0"/>
                </a:cubicBezTo>
                <a:cubicBezTo>
                  <a:pt x="12347" y="-1"/>
                  <a:pt x="11590" y="637"/>
                  <a:pt x="11221" y="1645"/>
                </a:cubicBezTo>
                <a:lnTo>
                  <a:pt x="11229" y="1694"/>
                </a:lnTo>
                <a:cubicBezTo>
                  <a:pt x="10730" y="1024"/>
                  <a:pt x="10058" y="650"/>
                  <a:pt x="9358" y="650"/>
                </a:cubicBezTo>
                <a:cubicBezTo>
                  <a:pt x="8372" y="649"/>
                  <a:pt x="7466" y="1391"/>
                  <a:pt x="7003" y="2578"/>
                </a:cubicBezTo>
                <a:lnTo>
                  <a:pt x="6995" y="2602"/>
                </a:lnTo>
                <a:cubicBezTo>
                  <a:pt x="6477" y="2189"/>
                  <a:pt x="5888" y="1972"/>
                  <a:pt x="5288" y="1972"/>
                </a:cubicBezTo>
                <a:cubicBezTo>
                  <a:pt x="3423" y="1972"/>
                  <a:pt x="1912" y="4029"/>
                  <a:pt x="1912" y="6567"/>
                </a:cubicBezTo>
                <a:cubicBezTo>
                  <a:pt x="1911" y="6774"/>
                  <a:pt x="1922" y="6981"/>
                  <a:pt x="1942" y="7186"/>
                </a:cubicBezTo>
                <a:lnTo>
                  <a:pt x="1949" y="7180"/>
                </a:lnTo>
                <a:close/>
              </a:path>
              <a:path w="21600" h="21600" fill="none">
                <a:moveTo>
                  <a:pt x="1074" y="12702"/>
                </a:moveTo>
                <a:cubicBezTo>
                  <a:pt x="1407" y="12969"/>
                  <a:pt x="1786" y="13110"/>
                  <a:pt x="2172" y="13110"/>
                </a:cubicBezTo>
                <a:cubicBezTo>
                  <a:pt x="2228" y="13109"/>
                  <a:pt x="2285" y="13107"/>
                  <a:pt x="2341" y="13101"/>
                </a:cubicBezTo>
              </a:path>
              <a:path w="21600" h="21600" fill="none">
                <a:moveTo>
                  <a:pt x="2909" y="17629"/>
                </a:moveTo>
                <a:cubicBezTo>
                  <a:pt x="3099" y="17599"/>
                  <a:pt x="3285" y="17535"/>
                  <a:pt x="3463" y="17439"/>
                </a:cubicBezTo>
              </a:path>
              <a:path w="21600" h="21600" fill="none">
                <a:moveTo>
                  <a:pt x="7895" y="18680"/>
                </a:moveTo>
                <a:cubicBezTo>
                  <a:pt x="7983" y="18985"/>
                  <a:pt x="8095" y="19277"/>
                  <a:pt x="8229" y="19550"/>
                </a:cubicBezTo>
              </a:path>
              <a:path w="21600" h="21600" fill="none">
                <a:moveTo>
                  <a:pt x="14267" y="18324"/>
                </a:moveTo>
                <a:cubicBezTo>
                  <a:pt x="14336" y="18013"/>
                  <a:pt x="14380" y="17693"/>
                  <a:pt x="14400" y="17370"/>
                </a:cubicBezTo>
              </a:path>
              <a:path w="21600" h="21600" fill="none">
                <a:moveTo>
                  <a:pt x="18694" y="15045"/>
                </a:moveTo>
                <a:cubicBezTo>
                  <a:pt x="18694" y="15034"/>
                  <a:pt x="18695" y="15024"/>
                  <a:pt x="18695" y="15013"/>
                </a:cubicBezTo>
                <a:cubicBezTo>
                  <a:pt x="18695" y="13508"/>
                  <a:pt x="18063" y="12136"/>
                  <a:pt x="17069" y="11477"/>
                </a:cubicBezTo>
              </a:path>
              <a:path w="21600" h="21600" fill="none">
                <a:moveTo>
                  <a:pt x="20165" y="8999"/>
                </a:moveTo>
                <a:cubicBezTo>
                  <a:pt x="20479" y="8635"/>
                  <a:pt x="20726" y="8177"/>
                  <a:pt x="20889" y="7661"/>
                </a:cubicBezTo>
              </a:path>
              <a:path w="21600" h="21600" fill="none">
                <a:moveTo>
                  <a:pt x="19186" y="3344"/>
                </a:moveTo>
                <a:cubicBezTo>
                  <a:pt x="19186" y="3328"/>
                  <a:pt x="19187" y="3313"/>
                  <a:pt x="19187" y="3297"/>
                </a:cubicBezTo>
                <a:cubicBezTo>
                  <a:pt x="19187" y="3101"/>
                  <a:pt x="19174" y="2905"/>
                  <a:pt x="19148" y="2712"/>
                </a:cubicBezTo>
              </a:path>
              <a:path w="21600" h="21600" fill="none">
                <a:moveTo>
                  <a:pt x="14905" y="1165"/>
                </a:moveTo>
                <a:cubicBezTo>
                  <a:pt x="14754" y="1408"/>
                  <a:pt x="14629" y="1679"/>
                  <a:pt x="14535" y="1971"/>
                </a:cubicBezTo>
              </a:path>
              <a:path w="21600" h="21600" fill="none">
                <a:moveTo>
                  <a:pt x="11221" y="1645"/>
                </a:moveTo>
                <a:cubicBezTo>
                  <a:pt x="11140" y="1866"/>
                  <a:pt x="11080" y="2099"/>
                  <a:pt x="11041" y="2340"/>
                </a:cubicBezTo>
              </a:path>
              <a:path w="21600" h="21600" fill="none">
                <a:moveTo>
                  <a:pt x="7645" y="3276"/>
                </a:moveTo>
                <a:cubicBezTo>
                  <a:pt x="7449" y="3016"/>
                  <a:pt x="7231" y="2790"/>
                  <a:pt x="6995" y="2602"/>
                </a:cubicBezTo>
              </a:path>
              <a:path w="21600" h="21600" fill="none">
                <a:moveTo>
                  <a:pt x="1942" y="7186"/>
                </a:moveTo>
                <a:cubicBezTo>
                  <a:pt x="1966" y="7426"/>
                  <a:pt x="2004" y="7663"/>
                  <a:pt x="2056" y="7895"/>
                </a:cubicBezTo>
              </a:path>
            </a:pathLst>
          </a:custGeom>
          <a:solidFill>
            <a:srgbClr val="FFBE7D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  <a:effectLst>
            <a:outerShdw dist="107763" dir="2699999" algn="ctr" rotWithShape="0">
              <a:srgbClr val="808080"/>
            </a:outerShdw>
          </a:effectLst>
        </p:spPr>
        <p:txBody>
          <a:bodyPr anchor="t" anchorCtr="0"/>
          <a:lstStyle/>
          <a:p>
            <a:pPr marL="342900" indent="-342900">
              <a:buFont typeface="Arial" panose="020B0604020202020204" pitchFamily="34" charset="0"/>
            </a:pPr>
            <a:r>
              <a:rPr lang="zh-CN" altLang="en-US" b="1" dirty="0">
                <a:latin typeface="Arial" panose="020B0604020202020204" pitchFamily="34" charset="0"/>
                <a:ea typeface="宋体" panose="02010600030101010101" pitchFamily="2" charset="-122"/>
              </a:rPr>
              <a:t>现实世界</a:t>
            </a:r>
            <a:endParaRPr lang="zh-CN" altLang="en-US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82992" name="Line 16"/>
          <p:cNvSpPr/>
          <p:nvPr/>
        </p:nvSpPr>
        <p:spPr>
          <a:xfrm>
            <a:off x="5808663" y="1917700"/>
            <a:ext cx="0" cy="287338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382993" name="Line 17"/>
          <p:cNvSpPr/>
          <p:nvPr/>
        </p:nvSpPr>
        <p:spPr>
          <a:xfrm>
            <a:off x="5808663" y="2997200"/>
            <a:ext cx="0" cy="287338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382994" name="Line 18"/>
          <p:cNvSpPr/>
          <p:nvPr/>
        </p:nvSpPr>
        <p:spPr>
          <a:xfrm>
            <a:off x="5880100" y="3862388"/>
            <a:ext cx="0" cy="43180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sp>
      <p:grpSp>
        <p:nvGrpSpPr>
          <p:cNvPr id="2" name="Group 30"/>
          <p:cNvGrpSpPr/>
          <p:nvPr/>
        </p:nvGrpSpPr>
        <p:grpSpPr>
          <a:xfrm>
            <a:off x="8117904" y="2471738"/>
            <a:ext cx="2514600" cy="830262"/>
            <a:chOff x="3802" y="2418"/>
            <a:chExt cx="1769" cy="523"/>
          </a:xfrm>
        </p:grpSpPr>
        <p:sp>
          <p:nvSpPr>
            <p:cNvPr id="82958" name="Text Box 22"/>
            <p:cNvSpPr txBox="1"/>
            <p:nvPr/>
          </p:nvSpPr>
          <p:spPr>
            <a:xfrm>
              <a:off x="3802" y="2418"/>
              <a:ext cx="1769" cy="523"/>
            </a:xfrm>
            <a:prstGeom prst="rect">
              <a:avLst/>
            </a:prstGeom>
            <a:noFill/>
            <a:ln w="25400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>
              <a:spAutoFit/>
            </a:bodyPr>
            <a:lstStyle/>
            <a:p>
              <a:pPr marL="342900" indent="-342900">
                <a:buFont typeface="Arial" panose="020B0604020202020204" pitchFamily="34" charset="0"/>
              </a:pPr>
              <a:r>
                <a:rPr lang="zh-CN" altLang="en-US" sz="1600" b="1" dirty="0"/>
                <a:t>现实世界       概念模型</a:t>
              </a:r>
              <a:endParaRPr lang="zh-CN" altLang="en-US" sz="1600" b="1" dirty="0"/>
            </a:p>
            <a:p>
              <a:pPr marL="342900" indent="-342900">
                <a:buFont typeface="Arial" panose="020B0604020202020204" pitchFamily="34" charset="0"/>
              </a:pPr>
              <a:r>
                <a:rPr lang="zh-CN" altLang="en-US" sz="1600" b="1" dirty="0"/>
                <a:t>数据库设计人员完成</a:t>
              </a:r>
              <a:endParaRPr lang="en-US" altLang="zh-CN" sz="1600" b="1" dirty="0"/>
            </a:p>
            <a:p>
              <a:pPr marL="342900" indent="-342900">
                <a:buFont typeface="Wingdings" panose="05000000000000000000" pitchFamily="2" charset="2"/>
              </a:pPr>
              <a:r>
                <a:rPr lang="zh-CN" altLang="en-US" sz="1600" b="1" dirty="0"/>
                <a:t>数据库设计工具辅助</a:t>
              </a:r>
              <a:endParaRPr lang="zh-CN" altLang="en-US" sz="1600" b="1" dirty="0"/>
            </a:p>
          </p:txBody>
        </p:sp>
        <p:sp>
          <p:nvSpPr>
            <p:cNvPr id="82959" name="AutoShape 24"/>
            <p:cNvSpPr/>
            <p:nvPr/>
          </p:nvSpPr>
          <p:spPr>
            <a:xfrm>
              <a:off x="4506" y="2496"/>
              <a:ext cx="181" cy="90"/>
            </a:xfrm>
            <a:prstGeom prst="rightArrow">
              <a:avLst>
                <a:gd name="adj1" fmla="val 50000"/>
                <a:gd name="adj2" fmla="val 50268"/>
              </a:avLst>
            </a:prstGeom>
            <a:gradFill rotWithShape="0">
              <a:gsLst>
                <a:gs pos="0">
                  <a:srgbClr val="FFFFFF"/>
                </a:gs>
                <a:gs pos="100000">
                  <a:srgbClr val="BBBBBB"/>
                </a:gs>
              </a:gsLst>
              <a:lin ang="5400000" scaled="1"/>
              <a:tileRect/>
            </a:gradFill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>
                <a:buFont typeface="Arial" panose="020B0604020202020204" pitchFamily="34" charset="0"/>
              </a:pPr>
              <a:endParaRPr lang="zh-CN" altLang="en-US" b="1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3" name="Group 31"/>
          <p:cNvGrpSpPr/>
          <p:nvPr/>
        </p:nvGrpSpPr>
        <p:grpSpPr>
          <a:xfrm>
            <a:off x="8184232" y="4573588"/>
            <a:ext cx="2520280" cy="584200"/>
            <a:chOff x="3787" y="3218"/>
            <a:chExt cx="1499" cy="368"/>
          </a:xfrm>
        </p:grpSpPr>
        <p:sp>
          <p:nvSpPr>
            <p:cNvPr id="82961" name="Text Box 20"/>
            <p:cNvSpPr txBox="1"/>
            <p:nvPr/>
          </p:nvSpPr>
          <p:spPr>
            <a:xfrm>
              <a:off x="3787" y="3218"/>
              <a:ext cx="1499" cy="368"/>
            </a:xfrm>
            <a:prstGeom prst="rect">
              <a:avLst/>
            </a:prstGeom>
            <a:noFill/>
            <a:ln w="25400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t" anchorCtr="0">
              <a:spAutoFit/>
            </a:bodyPr>
            <a:lstStyle/>
            <a:p>
              <a:pPr>
                <a:buFont typeface="Arial" panose="020B0604020202020204" pitchFamily="34" charset="0"/>
              </a:pPr>
              <a:r>
                <a:rPr lang="zh-CN" altLang="en-US" sz="1600" b="1" dirty="0"/>
                <a:t>逻辑模型       物理模型</a:t>
              </a:r>
              <a:endParaRPr lang="zh-CN" altLang="en-US" sz="1600" b="1" dirty="0"/>
            </a:p>
            <a:p>
              <a:pPr>
                <a:buFont typeface="Arial" panose="020B0604020202020204" pitchFamily="34" charset="0"/>
              </a:pPr>
              <a:r>
                <a:rPr lang="zh-CN" altLang="en-US" sz="1600" b="1" dirty="0"/>
                <a:t>由</a:t>
              </a:r>
              <a:r>
                <a:rPr lang="en-US" altLang="zh-CN" sz="1600" b="1" dirty="0"/>
                <a:t>DBMS</a:t>
              </a:r>
              <a:r>
                <a:rPr lang="zh-CN" altLang="en-US" sz="1600" b="1" dirty="0"/>
                <a:t>完成</a:t>
              </a:r>
              <a:endParaRPr lang="zh-CN" altLang="en-US" sz="1600" b="1" dirty="0"/>
            </a:p>
          </p:txBody>
        </p:sp>
        <p:sp>
          <p:nvSpPr>
            <p:cNvPr id="82962" name="AutoShape 27"/>
            <p:cNvSpPr/>
            <p:nvPr/>
          </p:nvSpPr>
          <p:spPr>
            <a:xfrm>
              <a:off x="4344" y="3284"/>
              <a:ext cx="181" cy="90"/>
            </a:xfrm>
            <a:prstGeom prst="rightArrow">
              <a:avLst>
                <a:gd name="adj1" fmla="val 50000"/>
                <a:gd name="adj2" fmla="val 50268"/>
              </a:avLst>
            </a:prstGeom>
            <a:gradFill rotWithShape="0">
              <a:gsLst>
                <a:gs pos="0">
                  <a:srgbClr val="FFFFFF"/>
                </a:gs>
                <a:gs pos="100000">
                  <a:srgbClr val="BBBBBB"/>
                </a:gs>
              </a:gsLst>
              <a:lin ang="5400000" scaled="1"/>
              <a:tileRect/>
            </a:gradFill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>
                <a:buFont typeface="Arial" panose="020B0604020202020204" pitchFamily="34" charset="0"/>
              </a:pPr>
              <a:endParaRPr lang="zh-CN" altLang="en-US" b="1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4" name="Group 32"/>
          <p:cNvGrpSpPr/>
          <p:nvPr/>
        </p:nvGrpSpPr>
        <p:grpSpPr>
          <a:xfrm>
            <a:off x="8140699" y="3502026"/>
            <a:ext cx="2563813" cy="830263"/>
            <a:chOff x="3782" y="2568"/>
            <a:chExt cx="1769" cy="523"/>
          </a:xfrm>
        </p:grpSpPr>
        <p:sp>
          <p:nvSpPr>
            <p:cNvPr id="82964" name="Text Box 33"/>
            <p:cNvSpPr txBox="1"/>
            <p:nvPr/>
          </p:nvSpPr>
          <p:spPr>
            <a:xfrm>
              <a:off x="3782" y="2568"/>
              <a:ext cx="1769" cy="523"/>
            </a:xfrm>
            <a:prstGeom prst="rect">
              <a:avLst/>
            </a:prstGeom>
            <a:noFill/>
            <a:ln w="25400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>
              <a:spAutoFit/>
            </a:bodyPr>
            <a:lstStyle/>
            <a:p>
              <a:pPr marL="342900" indent="-342900">
                <a:buFont typeface="Arial" panose="020B0604020202020204" pitchFamily="34" charset="0"/>
              </a:pPr>
              <a:r>
                <a:rPr lang="zh-CN" altLang="en-US" sz="1600" b="1" dirty="0"/>
                <a:t>概念模型       逻辑模型</a:t>
              </a:r>
              <a:endParaRPr lang="zh-CN" altLang="en-US" sz="1600" b="1" dirty="0"/>
            </a:p>
            <a:p>
              <a:pPr marL="342900" indent="-342900">
                <a:buFont typeface="Arial" panose="020B0604020202020204" pitchFamily="34" charset="0"/>
              </a:pPr>
              <a:r>
                <a:rPr lang="zh-CN" altLang="en-US" sz="1600" b="1" dirty="0"/>
                <a:t>数据库设计人员完成</a:t>
              </a:r>
              <a:endParaRPr lang="en-US" altLang="zh-CN" sz="1600" b="1" dirty="0"/>
            </a:p>
            <a:p>
              <a:pPr marL="342900" indent="-342900">
                <a:buFont typeface="Arial" panose="020B0604020202020204" pitchFamily="34" charset="0"/>
              </a:pPr>
              <a:r>
                <a:rPr lang="zh-CN" altLang="en-US" sz="1600" b="1" dirty="0"/>
                <a:t>数据库设计工具辅助</a:t>
              </a:r>
              <a:endParaRPr lang="zh-CN" altLang="en-US" sz="1600" b="1" dirty="0"/>
            </a:p>
          </p:txBody>
        </p:sp>
        <p:sp>
          <p:nvSpPr>
            <p:cNvPr id="82965" name="AutoShape 34"/>
            <p:cNvSpPr/>
            <p:nvPr/>
          </p:nvSpPr>
          <p:spPr>
            <a:xfrm>
              <a:off x="4458" y="2631"/>
              <a:ext cx="181" cy="90"/>
            </a:xfrm>
            <a:prstGeom prst="rightArrow">
              <a:avLst>
                <a:gd name="adj1" fmla="val 50000"/>
                <a:gd name="adj2" fmla="val 50268"/>
              </a:avLst>
            </a:prstGeom>
            <a:gradFill rotWithShape="0">
              <a:gsLst>
                <a:gs pos="0">
                  <a:srgbClr val="FFFFFF"/>
                </a:gs>
                <a:gs pos="100000">
                  <a:srgbClr val="BBBBBB"/>
                </a:gs>
              </a:gsLst>
              <a:lin ang="5400000" scaled="1"/>
              <a:tileRect/>
            </a:gradFill>
            <a:ln w="254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>
                <a:buFont typeface="Arial" panose="020B0604020202020204" pitchFamily="34" charset="0"/>
              </a:pPr>
              <a:endParaRPr lang="zh-CN" altLang="en-US" b="1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382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829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3829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3829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3829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6" dur="500"/>
                                        <p:tgtEl>
                                          <p:spTgt spid="3829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9" dur="500"/>
                                        <p:tgtEl>
                                          <p:spTgt spid="3829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4" dur="500"/>
                                        <p:tgtEl>
                                          <p:spTgt spid="3829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7" dur="500"/>
                                        <p:tgtEl>
                                          <p:spTgt spid="3829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0" dur="500"/>
                                        <p:tgtEl>
                                          <p:spTgt spid="3829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2980" grpId="0" bldLvl="0" animBg="1"/>
      <p:bldP spid="382981" grpId="0" bldLvl="0" animBg="1"/>
      <p:bldP spid="382982" grpId="0" animBg="1"/>
      <p:bldP spid="382985" grpId="0" animBg="1"/>
      <p:bldP spid="382986" grpId="0"/>
      <p:bldP spid="382987" grpId="0"/>
      <p:bldP spid="382989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69" name="Rectangle 1026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sz="3600" dirty="0"/>
              <a:t> 1.2  </a:t>
            </a:r>
            <a:r>
              <a:rPr lang="zh-CN" altLang="en-US" sz="3600" dirty="0"/>
              <a:t>数据模型</a:t>
            </a:r>
            <a:endParaRPr lang="zh-CN" altLang="en-US" sz="3600" dirty="0"/>
          </a:p>
        </p:txBody>
      </p:sp>
      <p:sp>
        <p:nvSpPr>
          <p:cNvPr id="83970" name="Rectangle 1027"/>
          <p:cNvSpPr>
            <a:spLocks noGrp="1"/>
          </p:cNvSpPr>
          <p:nvPr>
            <p:ph idx="1"/>
          </p:nvPr>
        </p:nvSpPr>
        <p:spPr>
          <a:xfrm>
            <a:off x="1559496" y="1125538"/>
            <a:ext cx="8651305" cy="5029200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130000"/>
              </a:lnSpc>
              <a:buNone/>
            </a:pPr>
            <a:r>
              <a:rPr lang="en-US" altLang="zh-CN" dirty="0">
                <a:solidFill>
                  <a:srgbClr val="70BB2B"/>
                </a:solidFill>
              </a:rPr>
              <a:t>  </a:t>
            </a:r>
            <a:r>
              <a:rPr lang="en-US" altLang="zh-CN" dirty="0"/>
              <a:t>1.2.1  </a:t>
            </a:r>
            <a:r>
              <a:rPr lang="zh-CN" altLang="en-US" dirty="0"/>
              <a:t>数据建模</a:t>
            </a:r>
            <a:endParaRPr lang="zh-CN" altLang="en-US" dirty="0"/>
          </a:p>
          <a:p>
            <a:pPr eaLnBrk="1" hangingPunct="1">
              <a:lnSpc>
                <a:spcPct val="130000"/>
              </a:lnSpc>
              <a:buNone/>
            </a:pPr>
            <a:r>
              <a:rPr lang="zh-CN" altLang="en-US" dirty="0"/>
              <a:t>  </a:t>
            </a:r>
            <a:r>
              <a:rPr lang="en-US" altLang="zh-CN" dirty="0">
                <a:solidFill>
                  <a:srgbClr val="00B050"/>
                </a:solidFill>
              </a:rPr>
              <a:t>1.2.2  </a:t>
            </a:r>
            <a:r>
              <a:rPr lang="zh-CN" altLang="en-US" dirty="0">
                <a:solidFill>
                  <a:srgbClr val="00B050"/>
                </a:solidFill>
              </a:rPr>
              <a:t>概念模型</a:t>
            </a:r>
            <a:endParaRPr lang="zh-CN" altLang="en-US" dirty="0">
              <a:solidFill>
                <a:srgbClr val="00B050"/>
              </a:solidFill>
            </a:endParaRPr>
          </a:p>
          <a:p>
            <a:pPr eaLnBrk="1" hangingPunct="1">
              <a:lnSpc>
                <a:spcPct val="130000"/>
              </a:lnSpc>
              <a:buNone/>
            </a:pPr>
            <a:r>
              <a:rPr lang="zh-CN" altLang="en-US" dirty="0">
                <a:solidFill>
                  <a:schemeClr val="hlink"/>
                </a:solidFill>
              </a:rPr>
              <a:t>  </a:t>
            </a:r>
            <a:r>
              <a:rPr lang="en-US" altLang="zh-CN" dirty="0"/>
              <a:t>1.2.3  </a:t>
            </a:r>
            <a:r>
              <a:rPr lang="zh-CN" altLang="en-US" dirty="0"/>
              <a:t>数据模型的三要素</a:t>
            </a:r>
            <a:endParaRPr lang="zh-CN" altLang="en-US" dirty="0"/>
          </a:p>
          <a:p>
            <a:pPr eaLnBrk="1" hangingPunct="1">
              <a:lnSpc>
                <a:spcPct val="130000"/>
              </a:lnSpc>
              <a:buNone/>
            </a:pPr>
            <a:r>
              <a:rPr lang="zh-CN" altLang="en-US" dirty="0"/>
              <a:t>  </a:t>
            </a:r>
            <a:r>
              <a:rPr lang="en-US" altLang="zh-CN" dirty="0"/>
              <a:t>1.2.4  </a:t>
            </a:r>
            <a:r>
              <a:rPr lang="zh-CN" altLang="en-US" dirty="0"/>
              <a:t>层次模型</a:t>
            </a:r>
            <a:endParaRPr lang="en-US" altLang="zh-CN" dirty="0"/>
          </a:p>
          <a:p>
            <a:pPr eaLnBrk="1" hangingPunct="1">
              <a:lnSpc>
                <a:spcPct val="130000"/>
              </a:lnSpc>
              <a:buNone/>
            </a:pPr>
            <a:r>
              <a:rPr lang="zh-CN" altLang="en-US" dirty="0"/>
              <a:t>  </a:t>
            </a:r>
            <a:r>
              <a:rPr lang="en-US" altLang="zh-CN" dirty="0"/>
              <a:t>1.2.5  </a:t>
            </a:r>
            <a:r>
              <a:rPr lang="zh-CN" altLang="en-US" dirty="0"/>
              <a:t>网状模型</a:t>
            </a:r>
            <a:endParaRPr lang="zh-CN" altLang="en-US" dirty="0"/>
          </a:p>
          <a:p>
            <a:pPr eaLnBrk="1" hangingPunct="1">
              <a:lnSpc>
                <a:spcPct val="130000"/>
              </a:lnSpc>
              <a:buNone/>
            </a:pPr>
            <a:r>
              <a:rPr lang="zh-CN" altLang="en-US" dirty="0"/>
              <a:t>  </a:t>
            </a:r>
            <a:r>
              <a:rPr lang="en-US" altLang="zh-CN" dirty="0"/>
              <a:t>1.2.6  </a:t>
            </a:r>
            <a:r>
              <a:rPr lang="zh-CN" altLang="en-US" dirty="0"/>
              <a:t>关系模型</a:t>
            </a:r>
            <a:endParaRPr lang="en-US" altLang="zh-CN" dirty="0"/>
          </a:p>
          <a:p>
            <a:pPr eaLnBrk="1" hangingPunct="1">
              <a:lnSpc>
                <a:spcPct val="130000"/>
              </a:lnSpc>
              <a:buNone/>
            </a:pPr>
            <a:r>
              <a:rPr lang="zh-CN" altLang="en-US" dirty="0"/>
              <a:t>  </a:t>
            </a:r>
            <a:r>
              <a:rPr lang="en-US" altLang="zh-CN" dirty="0"/>
              <a:t>1.2.7  </a:t>
            </a:r>
            <a:r>
              <a:rPr lang="zh-CN" altLang="en-US" dirty="0"/>
              <a:t>数据库领域中不断涌现的数据模型</a:t>
            </a:r>
            <a:endParaRPr lang="zh-CN" altLang="en-US" sz="2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7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sz="3600" dirty="0"/>
              <a:t>1.2.2 </a:t>
            </a:r>
            <a:r>
              <a:rPr lang="zh-CN" altLang="en-US" sz="3600" dirty="0"/>
              <a:t>概念模型</a:t>
            </a:r>
            <a:r>
              <a:rPr lang="en-US" altLang="zh-CN" sz="3600" dirty="0"/>
              <a:t> </a:t>
            </a:r>
            <a:endParaRPr lang="en-US" altLang="zh-CN" sz="3600" dirty="0"/>
          </a:p>
        </p:txBody>
      </p:sp>
      <p:sp>
        <p:nvSpPr>
          <p:cNvPr id="86018" name="Rectangle 3"/>
          <p:cNvSpPr>
            <a:spLocks noGrp="1"/>
          </p:cNvSpPr>
          <p:nvPr>
            <p:ph idx="1"/>
          </p:nvPr>
        </p:nvSpPr>
        <p:spPr>
          <a:xfrm>
            <a:off x="1703512" y="1412776"/>
            <a:ext cx="7931150" cy="4495800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160000"/>
              </a:lnSpc>
              <a:buNone/>
            </a:pPr>
            <a:r>
              <a:rPr lang="en-US" altLang="zh-CN" dirty="0"/>
              <a:t>1. </a:t>
            </a:r>
            <a:r>
              <a:rPr lang="zh-CN" altLang="en-US" dirty="0"/>
              <a:t>信息世界中的基本概念</a:t>
            </a:r>
            <a:endParaRPr lang="zh-CN" altLang="en-US" dirty="0"/>
          </a:p>
          <a:p>
            <a:pPr eaLnBrk="1" hangingPunct="1">
              <a:lnSpc>
                <a:spcPct val="160000"/>
              </a:lnSpc>
              <a:buNone/>
            </a:pPr>
            <a:r>
              <a:rPr lang="en-US" altLang="zh-CN" dirty="0"/>
              <a:t>2. </a:t>
            </a:r>
            <a:r>
              <a:rPr lang="zh-CN" altLang="en-US" dirty="0"/>
              <a:t>概念模型的一种表示方法：实体</a:t>
            </a:r>
            <a:r>
              <a:rPr lang="en-US" altLang="zh-CN" dirty="0"/>
              <a:t>-</a:t>
            </a:r>
            <a:r>
              <a:rPr lang="zh-CN" altLang="en-US" dirty="0"/>
              <a:t>联系方法</a:t>
            </a:r>
            <a:endParaRPr lang="zh-CN" alt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1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sz="3600" dirty="0"/>
              <a:t>1.  </a:t>
            </a:r>
            <a:r>
              <a:rPr lang="zh-CN" altLang="en-US" sz="3600" dirty="0"/>
              <a:t>信息世界中的基本概念</a:t>
            </a:r>
            <a:endParaRPr lang="zh-CN" altLang="en-US" sz="3600" dirty="0"/>
          </a:p>
        </p:txBody>
      </p:sp>
      <p:sp>
        <p:nvSpPr>
          <p:cNvPr id="87042" name="Rectangle 3"/>
          <p:cNvSpPr>
            <a:spLocks noGrp="1"/>
          </p:cNvSpPr>
          <p:nvPr>
            <p:ph idx="1"/>
          </p:nvPr>
        </p:nvSpPr>
        <p:spPr>
          <a:xfrm>
            <a:off x="983615" y="837565"/>
            <a:ext cx="11252200" cy="4495800"/>
          </a:xfrm>
        </p:spPr>
        <p:txBody>
          <a:bodyPr vert="horz" wrap="square" lIns="91440" tIns="45720" rIns="91440" bIns="45720" anchor="t" anchorCtr="0">
            <a:noAutofit/>
          </a:bodyPr>
          <a:lstStyle/>
          <a:p>
            <a:pPr algn="just" eaLnBrk="1" hangingPunct="1">
              <a:lnSpc>
                <a:spcPct val="140000"/>
              </a:lnSpc>
              <a:spcBef>
                <a:spcPct val="0"/>
              </a:spcBef>
              <a:buNone/>
            </a:pPr>
            <a:r>
              <a:rPr lang="zh-CN" altLang="en-US" sz="2000" dirty="0"/>
              <a:t>（</a:t>
            </a:r>
            <a:r>
              <a:rPr lang="en-US" altLang="zh-CN" sz="2000" dirty="0"/>
              <a:t>1</a:t>
            </a:r>
            <a:r>
              <a:rPr lang="zh-CN" altLang="en-US" sz="2000" dirty="0"/>
              <a:t>）实体（</a:t>
            </a:r>
            <a:r>
              <a:rPr lang="en-US" altLang="zh-CN" sz="2000" dirty="0"/>
              <a:t>entity</a:t>
            </a:r>
            <a:r>
              <a:rPr lang="zh-CN" altLang="en-US" sz="2000" dirty="0"/>
              <a:t>） </a:t>
            </a:r>
            <a:endParaRPr lang="zh-CN" altLang="en-US" sz="2000" dirty="0"/>
          </a:p>
          <a:p>
            <a:pPr lvl="1" algn="just" eaLnBrk="1" hangingPunct="1">
              <a:lnSpc>
                <a:spcPct val="140000"/>
              </a:lnSpc>
              <a:spcBef>
                <a:spcPct val="0"/>
              </a:spcBef>
              <a:buNone/>
            </a:pPr>
            <a:r>
              <a:rPr lang="zh-CN" altLang="en-US" sz="1600" dirty="0"/>
              <a:t>客观存在并可相互区别的事物称为实体</a:t>
            </a:r>
            <a:endParaRPr lang="zh-CN" altLang="en-US" sz="1600" dirty="0"/>
          </a:p>
          <a:p>
            <a:pPr algn="just" eaLnBrk="1" hangingPunct="1">
              <a:lnSpc>
                <a:spcPct val="140000"/>
              </a:lnSpc>
              <a:spcBef>
                <a:spcPct val="0"/>
              </a:spcBef>
              <a:buNone/>
            </a:pPr>
            <a:r>
              <a:rPr lang="zh-CN" altLang="en-US" sz="2000" dirty="0"/>
              <a:t>（</a:t>
            </a:r>
            <a:r>
              <a:rPr lang="en-US" altLang="zh-CN" sz="2000" dirty="0"/>
              <a:t>2</a:t>
            </a:r>
            <a:r>
              <a:rPr lang="zh-CN" altLang="en-US" sz="2000" dirty="0"/>
              <a:t>）属性（</a:t>
            </a:r>
            <a:r>
              <a:rPr lang="en-US" altLang="zh-CN" sz="2000" dirty="0"/>
              <a:t>attribute</a:t>
            </a:r>
            <a:r>
              <a:rPr lang="zh-CN" altLang="en-US" sz="2000" dirty="0"/>
              <a:t>） </a:t>
            </a:r>
            <a:endParaRPr lang="zh-CN" altLang="en-US" sz="2000" dirty="0"/>
          </a:p>
          <a:p>
            <a:pPr lvl="1" algn="just" eaLnBrk="1" hangingPunct="1">
              <a:lnSpc>
                <a:spcPct val="140000"/>
              </a:lnSpc>
              <a:spcBef>
                <a:spcPct val="0"/>
              </a:spcBef>
              <a:buNone/>
            </a:pPr>
            <a:r>
              <a:rPr lang="zh-CN" altLang="en-US" sz="1600" dirty="0"/>
              <a:t>实体所具有的某一特性称为属性</a:t>
            </a:r>
            <a:endParaRPr lang="zh-CN" altLang="en-US" sz="1600" dirty="0"/>
          </a:p>
          <a:p>
            <a:pPr algn="just" eaLnBrk="1" hangingPunct="1">
              <a:lnSpc>
                <a:spcPct val="140000"/>
              </a:lnSpc>
              <a:spcBef>
                <a:spcPct val="0"/>
              </a:spcBef>
              <a:buNone/>
            </a:pPr>
            <a:r>
              <a:rPr lang="zh-CN" altLang="en-US" sz="2000" dirty="0"/>
              <a:t>（</a:t>
            </a:r>
            <a:r>
              <a:rPr lang="en-US" altLang="zh-CN" sz="2000" dirty="0"/>
              <a:t>3</a:t>
            </a:r>
            <a:r>
              <a:rPr lang="zh-CN" altLang="en-US" sz="2000" dirty="0"/>
              <a:t>）</a:t>
            </a:r>
            <a:r>
              <a:rPr lang="zh-CN" altLang="en-US" sz="2000" dirty="0">
                <a:solidFill>
                  <a:srgbClr val="C00000"/>
                </a:solidFill>
              </a:rPr>
              <a:t>码（</a:t>
            </a:r>
            <a:r>
              <a:rPr lang="en-US" altLang="zh-CN" sz="2000" dirty="0">
                <a:solidFill>
                  <a:srgbClr val="C00000"/>
                </a:solidFill>
              </a:rPr>
              <a:t>key</a:t>
            </a:r>
            <a:r>
              <a:rPr lang="zh-CN" altLang="en-US" sz="2000" dirty="0">
                <a:solidFill>
                  <a:srgbClr val="C00000"/>
                </a:solidFill>
              </a:rPr>
              <a:t>）</a:t>
            </a:r>
            <a:r>
              <a:rPr lang="zh-CN" altLang="en-US" sz="2000" dirty="0"/>
              <a:t> </a:t>
            </a:r>
            <a:endParaRPr lang="zh-CN" altLang="en-US" sz="2000" dirty="0"/>
          </a:p>
          <a:p>
            <a:pPr lvl="1" algn="just" eaLnBrk="1" hangingPunct="1">
              <a:lnSpc>
                <a:spcPct val="140000"/>
              </a:lnSpc>
              <a:spcBef>
                <a:spcPct val="0"/>
              </a:spcBef>
              <a:buNone/>
            </a:pPr>
            <a:r>
              <a:rPr lang="zh-CN" altLang="en-US" sz="1600" dirty="0"/>
              <a:t>唯一标识实体的</a:t>
            </a:r>
            <a:r>
              <a:rPr lang="zh-CN" altLang="en-US" sz="1600" dirty="0">
                <a:solidFill>
                  <a:srgbClr val="C00000"/>
                </a:solidFill>
              </a:rPr>
              <a:t>属性集</a:t>
            </a:r>
            <a:r>
              <a:rPr lang="zh-CN" altLang="en-US" sz="1600" dirty="0"/>
              <a:t>称为码</a:t>
            </a:r>
            <a:endParaRPr lang="zh-CN" altLang="en-US" sz="1600" dirty="0"/>
          </a:p>
          <a:p>
            <a:pPr algn="just" eaLnBrk="1" hangingPunct="1">
              <a:lnSpc>
                <a:spcPct val="150000"/>
              </a:lnSpc>
              <a:buNone/>
            </a:pPr>
            <a:r>
              <a:rPr lang="zh-CN" altLang="en-US" sz="2000" dirty="0">
                <a:sym typeface="+mn-ea"/>
              </a:rPr>
              <a:t>（</a:t>
            </a:r>
            <a:r>
              <a:rPr lang="en-US" altLang="zh-CN" sz="2000" dirty="0">
                <a:sym typeface="+mn-ea"/>
              </a:rPr>
              <a:t>4</a:t>
            </a:r>
            <a:r>
              <a:rPr lang="zh-CN" altLang="en-US" sz="2000" dirty="0">
                <a:sym typeface="+mn-ea"/>
              </a:rPr>
              <a:t>）实体型（</a:t>
            </a:r>
            <a:r>
              <a:rPr lang="en-US" altLang="zh-CN" sz="2000" dirty="0">
                <a:sym typeface="+mn-ea"/>
              </a:rPr>
              <a:t>entity type</a:t>
            </a:r>
            <a:r>
              <a:rPr lang="zh-CN" altLang="en-US" sz="2000" dirty="0">
                <a:sym typeface="+mn-ea"/>
              </a:rPr>
              <a:t>） </a:t>
            </a:r>
            <a:endParaRPr lang="zh-CN" altLang="en-US" sz="2000" dirty="0"/>
          </a:p>
          <a:p>
            <a:pPr lvl="1" algn="just" eaLnBrk="1" hangingPunct="1">
              <a:lnSpc>
                <a:spcPct val="150000"/>
              </a:lnSpc>
              <a:buNone/>
            </a:pPr>
            <a:r>
              <a:rPr lang="zh-CN" altLang="en-US" sz="1600" dirty="0">
                <a:sym typeface="+mn-ea"/>
              </a:rPr>
              <a:t>用实体名及其属性名集合来抽象和刻画同类实体称为实体型</a:t>
            </a:r>
            <a:endParaRPr lang="zh-CN" altLang="en-US" sz="1600" dirty="0"/>
          </a:p>
          <a:p>
            <a:pPr algn="just" eaLnBrk="1" hangingPunct="1">
              <a:lnSpc>
                <a:spcPct val="150000"/>
              </a:lnSpc>
              <a:buNone/>
            </a:pPr>
            <a:r>
              <a:rPr lang="zh-CN" altLang="en-US" sz="2000" dirty="0">
                <a:sym typeface="+mn-ea"/>
              </a:rPr>
              <a:t>（</a:t>
            </a:r>
            <a:r>
              <a:rPr lang="en-US" altLang="zh-CN" sz="2000" dirty="0">
                <a:sym typeface="+mn-ea"/>
              </a:rPr>
              <a:t>5</a:t>
            </a:r>
            <a:r>
              <a:rPr lang="zh-CN" altLang="en-US" sz="2000" dirty="0">
                <a:sym typeface="+mn-ea"/>
              </a:rPr>
              <a:t>）实体集（</a:t>
            </a:r>
            <a:r>
              <a:rPr lang="en-US" altLang="zh-CN" sz="2000" dirty="0">
                <a:sym typeface="+mn-ea"/>
              </a:rPr>
              <a:t>entity set</a:t>
            </a:r>
            <a:r>
              <a:rPr lang="zh-CN" altLang="en-US" sz="2000" dirty="0">
                <a:sym typeface="+mn-ea"/>
              </a:rPr>
              <a:t>） </a:t>
            </a:r>
            <a:endParaRPr lang="zh-CN" altLang="en-US" sz="2000" dirty="0"/>
          </a:p>
          <a:p>
            <a:pPr lvl="1" algn="just" eaLnBrk="1" hangingPunct="1">
              <a:lnSpc>
                <a:spcPct val="150000"/>
              </a:lnSpc>
              <a:buNone/>
            </a:pPr>
            <a:r>
              <a:rPr lang="zh-CN" altLang="en-US" sz="1600" dirty="0">
                <a:sym typeface="+mn-ea"/>
              </a:rPr>
              <a:t>同一类型实体的集合称为实体集</a:t>
            </a:r>
            <a:endParaRPr lang="zh-CN" altLang="en-US" sz="1600" dirty="0">
              <a:sym typeface="+mn-ea"/>
            </a:endParaRPr>
          </a:p>
          <a:p>
            <a:pPr algn="just" eaLnBrk="1" hangingPunct="1">
              <a:lnSpc>
                <a:spcPct val="150000"/>
              </a:lnSpc>
              <a:buClrTx/>
              <a:buSzTx/>
              <a:buNone/>
            </a:pPr>
            <a:r>
              <a:rPr lang="zh-CN" altLang="en-US" sz="2000" dirty="0">
                <a:sym typeface="+mn-ea"/>
              </a:rPr>
              <a:t>（</a:t>
            </a:r>
            <a:r>
              <a:rPr sz="2000" dirty="0">
                <a:sym typeface="+mn-ea"/>
              </a:rPr>
              <a:t>6</a:t>
            </a:r>
            <a:r>
              <a:rPr lang="zh-CN" altLang="en-US" sz="2000" dirty="0">
                <a:sym typeface="+mn-ea"/>
              </a:rPr>
              <a:t>）联系（</a:t>
            </a:r>
            <a:r>
              <a:rPr sz="2000" dirty="0">
                <a:sym typeface="+mn-ea"/>
              </a:rPr>
              <a:t>relationship</a:t>
            </a:r>
            <a:r>
              <a:rPr lang="zh-CN" altLang="en-US" sz="2000" dirty="0">
                <a:sym typeface="+mn-ea"/>
              </a:rPr>
              <a:t>）  </a:t>
            </a:r>
            <a:endParaRPr lang="zh-CN" altLang="en-US" sz="2000" dirty="0"/>
          </a:p>
          <a:p>
            <a:pPr marL="342900" lvl="1" indent="-342900" algn="just" eaLnBrk="1" fontAlgn="base" hangingPunct="1">
              <a:lnSpc>
                <a:spcPct val="150000"/>
              </a:lnSpc>
              <a:spcBef>
                <a:spcPct val="20000"/>
              </a:spcBef>
              <a:buClrTx/>
              <a:buSzTx/>
              <a:buNone/>
            </a:pPr>
            <a:r>
              <a:rPr lang="en-US" altLang="zh-CN" sz="1600" dirty="0">
                <a:sym typeface="+mn-ea"/>
              </a:rPr>
              <a:t>       </a:t>
            </a:r>
            <a:r>
              <a:rPr lang="zh-CN" altLang="en-US" sz="1600" dirty="0">
                <a:sym typeface="+mn-ea"/>
              </a:rPr>
              <a:t>现实世界中事物内部以及事物之间的联系在信息世界，实体之间的联系有</a:t>
            </a:r>
            <a:r>
              <a:rPr lang="zh-CN" altLang="en-US" sz="1600" dirty="0">
                <a:solidFill>
                  <a:srgbClr val="70BB2B"/>
                </a:solidFill>
                <a:sym typeface="+mn-ea"/>
              </a:rPr>
              <a:t>一对一</a:t>
            </a:r>
            <a:r>
              <a:rPr lang="zh-CN" altLang="en-US" sz="1600" dirty="0">
                <a:sym typeface="+mn-ea"/>
              </a:rPr>
              <a:t>、</a:t>
            </a:r>
            <a:r>
              <a:rPr lang="zh-CN" altLang="en-US" sz="1600" dirty="0">
                <a:solidFill>
                  <a:srgbClr val="70BB2B"/>
                </a:solidFill>
                <a:sym typeface="+mn-ea"/>
              </a:rPr>
              <a:t>一对多</a:t>
            </a:r>
            <a:r>
              <a:rPr lang="zh-CN" altLang="en-US" sz="1600" dirty="0">
                <a:sym typeface="+mn-ea"/>
              </a:rPr>
              <a:t>和</a:t>
            </a:r>
            <a:r>
              <a:rPr lang="zh-CN" altLang="en-US" sz="1600" dirty="0">
                <a:solidFill>
                  <a:srgbClr val="70BB2B"/>
                </a:solidFill>
                <a:sym typeface="+mn-ea"/>
              </a:rPr>
              <a:t>多对多</a:t>
            </a:r>
            <a:r>
              <a:rPr lang="zh-CN" altLang="en-US" sz="1600" dirty="0">
                <a:sym typeface="+mn-ea"/>
              </a:rPr>
              <a:t>等多种类型</a:t>
            </a:r>
            <a:endParaRPr lang="zh-CN" altLang="en-US" sz="1600" dirty="0"/>
          </a:p>
          <a:p>
            <a:pPr lvl="1" algn="just" eaLnBrk="1" hangingPunct="1">
              <a:lnSpc>
                <a:spcPct val="150000"/>
              </a:lnSpc>
              <a:buNone/>
            </a:pPr>
            <a:endParaRPr lang="zh-CN" altLang="en-US" sz="1600" dirty="0">
              <a:sym typeface="+mn-e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3" name="标题 1"/>
          <p:cNvSpPr>
            <a:spLocks noGrp="1"/>
          </p:cNvSpPr>
          <p:nvPr>
            <p:ph type="title"/>
          </p:nvPr>
        </p:nvSpPr>
        <p:spPr>
          <a:xfrm>
            <a:off x="1919288" y="188913"/>
            <a:ext cx="8748712" cy="563562"/>
          </a:xfrm>
        </p:spPr>
        <p:txBody>
          <a:bodyPr vert="horz" wrap="square" lIns="91440" tIns="45720" rIns="91440" bIns="45720" anchor="ctr" anchorCtr="0">
            <a:normAutofit fontScale="90000"/>
          </a:bodyPr>
          <a:lstStyle/>
          <a:p>
            <a:pPr eaLnBrk="1" hangingPunct="1"/>
            <a:r>
              <a:rPr lang="zh-CN" altLang="zh-CN" sz="3600" dirty="0"/>
              <a:t>实体</a:t>
            </a:r>
            <a:r>
              <a:rPr lang="en-US" altLang="zh-CN" sz="3600" dirty="0"/>
              <a:t>-</a:t>
            </a:r>
            <a:r>
              <a:rPr lang="zh-CN" altLang="zh-CN" sz="3600" dirty="0"/>
              <a:t>联系方法</a:t>
            </a:r>
            <a:endParaRPr lang="zh-CN" altLang="en-US" sz="3600" dirty="0"/>
          </a:p>
        </p:txBody>
      </p:sp>
      <p:sp>
        <p:nvSpPr>
          <p:cNvPr id="90114" name="内容占位符 2"/>
          <p:cNvSpPr>
            <a:spLocks noGrp="1"/>
          </p:cNvSpPr>
          <p:nvPr>
            <p:ph idx="1"/>
          </p:nvPr>
        </p:nvSpPr>
        <p:spPr>
          <a:xfrm>
            <a:off x="1055440" y="1340768"/>
            <a:ext cx="8686800" cy="2803525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150000"/>
              </a:lnSpc>
            </a:pPr>
            <a:r>
              <a:rPr lang="zh-CN" altLang="zh-CN" dirty="0"/>
              <a:t>实体</a:t>
            </a:r>
            <a:r>
              <a:rPr lang="en-US" altLang="zh-CN" dirty="0"/>
              <a:t>-</a:t>
            </a:r>
            <a:r>
              <a:rPr lang="zh-CN" altLang="zh-CN" dirty="0"/>
              <a:t>联系方法（</a:t>
            </a:r>
            <a:r>
              <a:rPr lang="en-US" altLang="zh-CN" dirty="0"/>
              <a:t>Entity-Relationship Approach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 eaLnBrk="1" hangingPunct="1">
              <a:lnSpc>
                <a:spcPct val="150000"/>
              </a:lnSpc>
            </a:pPr>
            <a:r>
              <a:rPr lang="zh-CN" altLang="zh-CN" dirty="0"/>
              <a:t>用</a:t>
            </a:r>
            <a:r>
              <a:rPr lang="en-US" altLang="zh-CN" dirty="0"/>
              <a:t>E-R</a:t>
            </a:r>
            <a:r>
              <a:rPr lang="zh-CN" altLang="zh-CN" dirty="0"/>
              <a:t>图来描述现实世界的概念模型</a:t>
            </a:r>
            <a:endParaRPr lang="en-US" altLang="zh-CN" dirty="0"/>
          </a:p>
          <a:p>
            <a:pPr lvl="1">
              <a:lnSpc>
                <a:spcPct val="150000"/>
              </a:lnSpc>
            </a:pPr>
            <a:r>
              <a:rPr lang="en-US" altLang="zh-CN" dirty="0"/>
              <a:t>E-R</a:t>
            </a:r>
            <a:r>
              <a:rPr lang="zh-CN" altLang="zh-CN" dirty="0"/>
              <a:t>方法</a:t>
            </a:r>
            <a:r>
              <a:rPr lang="zh-CN" altLang="en-US" dirty="0"/>
              <a:t>或</a:t>
            </a:r>
            <a:r>
              <a:rPr lang="en-US" altLang="zh-CN" dirty="0"/>
              <a:t>E-R</a:t>
            </a:r>
            <a:r>
              <a:rPr lang="zh-CN" altLang="zh-CN" dirty="0"/>
              <a:t>模型</a:t>
            </a:r>
            <a:endParaRPr lang="zh-CN" alt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7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r>
              <a:rPr lang="zh-CN" altLang="zh-CN" sz="3600" dirty="0"/>
              <a:t>实体</a:t>
            </a:r>
            <a:r>
              <a:rPr lang="en-US" altLang="zh-CN" sz="3600" dirty="0"/>
              <a:t>-</a:t>
            </a:r>
            <a:r>
              <a:rPr lang="zh-CN" altLang="zh-CN" sz="3600" dirty="0"/>
              <a:t>联系方法</a:t>
            </a:r>
            <a:r>
              <a:rPr lang="zh-CN" altLang="en-US" sz="3600" dirty="0"/>
              <a:t>（续）</a:t>
            </a:r>
            <a:endParaRPr lang="zh-CN" altLang="en-US" sz="36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6819" y="1113354"/>
            <a:ext cx="10515600" cy="5195966"/>
          </a:xfrm>
        </p:spPr>
        <p:txBody>
          <a:bodyPr vert="horz" wrap="square" lIns="91440" tIns="45720" rIns="91440" bIns="45720" numCol="1" anchor="t" anchorCtr="0" compatLnSpc="1">
            <a:normAutofit fontScale="85000" lnSpcReduction="10000"/>
          </a:bodyPr>
          <a:lstStyle/>
          <a:p>
            <a:pPr>
              <a:buSzTx/>
              <a:defRPr/>
            </a:pPr>
            <a:endParaRPr lang="en-US" altLang="zh-CN" dirty="0"/>
          </a:p>
          <a:p>
            <a:pPr>
              <a:buSzTx/>
              <a:defRPr/>
            </a:pPr>
            <a:endParaRPr lang="en-US" altLang="zh-CN" dirty="0"/>
          </a:p>
          <a:p>
            <a:pPr>
              <a:buSzTx/>
              <a:defRPr/>
            </a:pPr>
            <a:endParaRPr lang="en-US" altLang="zh-CN" dirty="0"/>
          </a:p>
          <a:p>
            <a:pPr>
              <a:buSzTx/>
              <a:defRPr/>
            </a:pPr>
            <a:endParaRPr lang="en-US" altLang="zh-CN" dirty="0"/>
          </a:p>
          <a:p>
            <a:pPr>
              <a:buSzTx/>
              <a:defRPr/>
            </a:pPr>
            <a:endParaRPr lang="en-US" altLang="zh-CN" dirty="0"/>
          </a:p>
          <a:p>
            <a:pPr marL="0" indent="0">
              <a:buSzTx/>
              <a:buNone/>
              <a:defRPr/>
            </a:pPr>
            <a:r>
              <a:rPr lang="en-US" altLang="zh-CN" sz="1800" kern="105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endParaRPr lang="en-US" altLang="zh-CN" sz="1800" kern="105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SzTx/>
              <a:buNone/>
              <a:defRPr/>
            </a:pPr>
            <a:r>
              <a:rPr lang="en-US" altLang="zh-CN" sz="1800" kern="105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</a:t>
            </a:r>
            <a:r>
              <a:rPr lang="zh-CN" altLang="zh-CN" sz="1800" kern="105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学生选课</a:t>
            </a:r>
            <a:r>
              <a:rPr lang="en-US" altLang="zh-CN" sz="1800" kern="1050" dirty="0">
                <a:solidFill>
                  <a:srgbClr val="000000"/>
                </a:solidFill>
                <a:latin typeface="Times New Roman" panose="02020603050405020304" pitchFamily="18" charset="0"/>
              </a:rPr>
              <a:t>E-R</a:t>
            </a:r>
            <a:r>
              <a:rPr lang="zh-CN" altLang="zh-CN" sz="1800" kern="105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图示例</a:t>
            </a:r>
            <a:endParaRPr lang="en-US" altLang="zh-CN" sz="2400" dirty="0"/>
          </a:p>
          <a:p>
            <a:pPr>
              <a:buSzTx/>
              <a:defRPr/>
            </a:pPr>
            <a:r>
              <a:rPr lang="zh-CN" altLang="en-US" sz="2400" dirty="0"/>
              <a:t>抽象了学校中的学生和课程两个客观事物：学生实体和课程实体</a:t>
            </a:r>
            <a:endParaRPr lang="en-US" altLang="zh-CN" sz="2400" dirty="0"/>
          </a:p>
          <a:p>
            <a:pPr>
              <a:buSzTx/>
              <a:defRPr/>
            </a:pPr>
            <a:r>
              <a:rPr lang="zh-CN" altLang="en-US" sz="2400" dirty="0"/>
              <a:t>抽象了现实世界中事物之间的联系：</a:t>
            </a:r>
            <a:endParaRPr lang="en-US" altLang="zh-CN" sz="2400" dirty="0"/>
          </a:p>
          <a:p>
            <a:pPr lvl="1">
              <a:buSzTx/>
              <a:defRPr/>
            </a:pPr>
            <a:r>
              <a:rPr lang="zh-CN" altLang="en-US" sz="2000" dirty="0">
                <a:cs typeface="+mn-ea"/>
              </a:rPr>
              <a:t>一门课程可以有多名学生选修，一个学生可以选修多门课程</a:t>
            </a:r>
            <a:endParaRPr lang="en-US" altLang="zh-CN" sz="2000" dirty="0">
              <a:cs typeface="+mn-ea"/>
            </a:endParaRPr>
          </a:p>
          <a:p>
            <a:pPr lvl="1">
              <a:buSzTx/>
              <a:defRPr/>
            </a:pPr>
            <a:r>
              <a:rPr lang="zh-CN" altLang="en-US" sz="2000" dirty="0">
                <a:cs typeface="+mn-ea"/>
              </a:rPr>
              <a:t>用课程实体与学生实体多对多（</a:t>
            </a:r>
            <a:r>
              <a:rPr lang="en-US" altLang="zh-CN" sz="2000" dirty="0">
                <a:cs typeface="+mn-ea"/>
              </a:rPr>
              <a:t>m:n</a:t>
            </a:r>
            <a:r>
              <a:rPr lang="zh-CN" altLang="en-US" sz="2000" dirty="0">
                <a:cs typeface="+mn-ea"/>
              </a:rPr>
              <a:t>）联系来描述</a:t>
            </a:r>
            <a:endParaRPr lang="zh-CN" altLang="en-US" sz="2000" dirty="0">
              <a:latin typeface="+mn-ea"/>
              <a:cs typeface="+mn-ea"/>
            </a:endParaRPr>
          </a:p>
        </p:txBody>
      </p:sp>
      <p:pic>
        <p:nvPicPr>
          <p:cNvPr id="91139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28863" y="1233489"/>
            <a:ext cx="7573962" cy="25939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1" name="Rectangle 1026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sz="3600" dirty="0"/>
              <a:t> 1.2  </a:t>
            </a:r>
            <a:r>
              <a:rPr lang="zh-CN" altLang="en-US" sz="3600" dirty="0"/>
              <a:t>数据模型</a:t>
            </a:r>
            <a:endParaRPr lang="zh-CN" altLang="en-US" sz="3600" dirty="0"/>
          </a:p>
        </p:txBody>
      </p:sp>
      <p:sp>
        <p:nvSpPr>
          <p:cNvPr id="92162" name="Rectangle 1027"/>
          <p:cNvSpPr>
            <a:spLocks noGrp="1"/>
          </p:cNvSpPr>
          <p:nvPr>
            <p:ph idx="1"/>
          </p:nvPr>
        </p:nvSpPr>
        <p:spPr>
          <a:xfrm>
            <a:off x="1559496" y="1125539"/>
            <a:ext cx="8929117" cy="4625975"/>
          </a:xfrm>
        </p:spPr>
        <p:txBody>
          <a:bodyPr vert="horz" wrap="square" lIns="91440" tIns="45720" rIns="91440" bIns="45720" anchor="t" anchorCtr="0">
            <a:normAutofit/>
          </a:bodyPr>
          <a:lstStyle/>
          <a:p>
            <a:pPr eaLnBrk="1" hangingPunct="1">
              <a:lnSpc>
                <a:spcPct val="130000"/>
              </a:lnSpc>
              <a:buNone/>
            </a:pPr>
            <a:r>
              <a:rPr lang="en-US" altLang="zh-CN" dirty="0">
                <a:solidFill>
                  <a:srgbClr val="00B050"/>
                </a:solidFill>
              </a:rPr>
              <a:t> </a:t>
            </a:r>
            <a:r>
              <a:rPr lang="zh-CN" altLang="en-US" dirty="0"/>
              <a:t> </a:t>
            </a:r>
            <a:r>
              <a:rPr lang="en-US" altLang="zh-CN" dirty="0"/>
              <a:t>1.2.1  </a:t>
            </a:r>
            <a:r>
              <a:rPr lang="zh-CN" altLang="en-US" dirty="0"/>
              <a:t>数据建模</a:t>
            </a:r>
            <a:endParaRPr lang="zh-CN" altLang="en-US" dirty="0"/>
          </a:p>
          <a:p>
            <a:pPr eaLnBrk="1" hangingPunct="1">
              <a:lnSpc>
                <a:spcPct val="130000"/>
              </a:lnSpc>
              <a:buNone/>
            </a:pPr>
            <a:r>
              <a:rPr lang="zh-CN" altLang="en-US" dirty="0"/>
              <a:t>  </a:t>
            </a:r>
            <a:r>
              <a:rPr lang="en-US" altLang="zh-CN" dirty="0"/>
              <a:t>1.2.2  </a:t>
            </a:r>
            <a:r>
              <a:rPr lang="zh-CN" altLang="en-US" dirty="0"/>
              <a:t>概念模型</a:t>
            </a:r>
            <a:endParaRPr lang="zh-CN" altLang="en-US" dirty="0"/>
          </a:p>
          <a:p>
            <a:pPr eaLnBrk="1" hangingPunct="1">
              <a:lnSpc>
                <a:spcPct val="130000"/>
              </a:lnSpc>
              <a:buNone/>
            </a:pPr>
            <a:r>
              <a:rPr lang="zh-CN" altLang="en-US" dirty="0">
                <a:solidFill>
                  <a:schemeClr val="hlink"/>
                </a:solidFill>
              </a:rPr>
              <a:t>  </a:t>
            </a:r>
            <a:r>
              <a:rPr lang="en-US" altLang="zh-CN" dirty="0">
                <a:solidFill>
                  <a:srgbClr val="00B050"/>
                </a:solidFill>
              </a:rPr>
              <a:t>1.2.3  </a:t>
            </a:r>
            <a:r>
              <a:rPr lang="zh-CN" altLang="en-US" dirty="0">
                <a:solidFill>
                  <a:srgbClr val="00B050"/>
                </a:solidFill>
              </a:rPr>
              <a:t>数据模型的三要素</a:t>
            </a:r>
            <a:endParaRPr lang="zh-CN" altLang="en-US" dirty="0">
              <a:solidFill>
                <a:srgbClr val="00B050"/>
              </a:solidFill>
            </a:endParaRPr>
          </a:p>
          <a:p>
            <a:pPr eaLnBrk="1" hangingPunct="1">
              <a:lnSpc>
                <a:spcPct val="130000"/>
              </a:lnSpc>
              <a:buNone/>
            </a:pPr>
            <a:r>
              <a:rPr lang="zh-CN" altLang="en-US" dirty="0"/>
              <a:t>  </a:t>
            </a:r>
            <a:r>
              <a:rPr lang="en-US" altLang="zh-CN" dirty="0"/>
              <a:t>1.2.4  </a:t>
            </a:r>
            <a:r>
              <a:rPr lang="zh-CN" altLang="en-US" dirty="0"/>
              <a:t>层次模型</a:t>
            </a:r>
            <a:endParaRPr lang="en-US" altLang="zh-CN" dirty="0"/>
          </a:p>
          <a:p>
            <a:pPr eaLnBrk="1" hangingPunct="1">
              <a:lnSpc>
                <a:spcPct val="130000"/>
              </a:lnSpc>
              <a:buNone/>
            </a:pPr>
            <a:r>
              <a:rPr lang="zh-CN" altLang="en-US" dirty="0"/>
              <a:t>  </a:t>
            </a:r>
            <a:r>
              <a:rPr lang="en-US" altLang="zh-CN" dirty="0"/>
              <a:t>1.2.5  </a:t>
            </a:r>
            <a:r>
              <a:rPr lang="zh-CN" altLang="en-US" dirty="0"/>
              <a:t>网状模型</a:t>
            </a:r>
            <a:endParaRPr lang="zh-CN" altLang="en-US" dirty="0"/>
          </a:p>
          <a:p>
            <a:pPr eaLnBrk="1" hangingPunct="1">
              <a:lnSpc>
                <a:spcPct val="130000"/>
              </a:lnSpc>
              <a:buNone/>
            </a:pPr>
            <a:r>
              <a:rPr lang="zh-CN" altLang="en-US" dirty="0"/>
              <a:t>  </a:t>
            </a:r>
            <a:r>
              <a:rPr lang="en-US" altLang="zh-CN" dirty="0"/>
              <a:t>1.2.6  </a:t>
            </a:r>
            <a:r>
              <a:rPr lang="zh-CN" altLang="en-US" dirty="0"/>
              <a:t>关系模型</a:t>
            </a:r>
            <a:endParaRPr lang="en-US" altLang="zh-CN" dirty="0"/>
          </a:p>
          <a:p>
            <a:pPr eaLnBrk="1" hangingPunct="1">
              <a:lnSpc>
                <a:spcPct val="130000"/>
              </a:lnSpc>
              <a:buNone/>
            </a:pPr>
            <a:r>
              <a:rPr lang="zh-CN" altLang="en-US" dirty="0"/>
              <a:t>  </a:t>
            </a:r>
            <a:r>
              <a:rPr lang="en-US" altLang="zh-CN" dirty="0"/>
              <a:t>1.2.7  </a:t>
            </a:r>
            <a:r>
              <a:rPr lang="zh-CN" altLang="en-US" dirty="0"/>
              <a:t>数据库领域中不断涌现的数据模型</a:t>
            </a:r>
            <a:endParaRPr lang="zh-CN" altLang="en-US" sz="2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5" name="Rectangle 1026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sz="3600" dirty="0"/>
              <a:t> </a:t>
            </a:r>
            <a:r>
              <a:rPr lang="zh-CN" altLang="en-US" sz="3600" dirty="0"/>
              <a:t>数据模型的三要素</a:t>
            </a:r>
            <a:endParaRPr lang="zh-CN" altLang="en-US" sz="3600" dirty="0"/>
          </a:p>
        </p:txBody>
      </p:sp>
      <p:sp>
        <p:nvSpPr>
          <p:cNvPr id="93186" name="Rectangle 1027"/>
          <p:cNvSpPr>
            <a:spLocks noGrp="1"/>
          </p:cNvSpPr>
          <p:nvPr>
            <p:ph idx="1"/>
          </p:nvPr>
        </p:nvSpPr>
        <p:spPr>
          <a:xfrm>
            <a:off x="1847528" y="1371600"/>
            <a:ext cx="7772400" cy="4114800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150000"/>
              </a:lnSpc>
            </a:pPr>
            <a:r>
              <a:rPr lang="zh-CN" altLang="en-US" dirty="0"/>
              <a:t>数据结构 </a:t>
            </a:r>
            <a:endParaRPr lang="zh-CN" altLang="en-US" dirty="0"/>
          </a:p>
          <a:p>
            <a:pPr eaLnBrk="1" hangingPunct="1">
              <a:lnSpc>
                <a:spcPct val="150000"/>
              </a:lnSpc>
            </a:pPr>
            <a:r>
              <a:rPr lang="zh-CN" altLang="en-US" dirty="0"/>
              <a:t>数据操作 </a:t>
            </a:r>
            <a:endParaRPr lang="zh-CN" altLang="en-US" dirty="0"/>
          </a:p>
          <a:p>
            <a:pPr eaLnBrk="1" hangingPunct="1">
              <a:lnSpc>
                <a:spcPct val="150000"/>
              </a:lnSpc>
            </a:pPr>
            <a:r>
              <a:rPr lang="zh-CN" altLang="en-US" dirty="0"/>
              <a:t>数据的完整性约束</a:t>
            </a:r>
            <a:endParaRPr lang="zh-CN" altLang="en-US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09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sz="3600" dirty="0"/>
              <a:t> 1. </a:t>
            </a:r>
            <a:r>
              <a:rPr lang="zh-CN" altLang="en-US" sz="3600" dirty="0"/>
              <a:t> 数据结构</a:t>
            </a:r>
            <a:endParaRPr lang="zh-CN" altLang="en-US" sz="3600" dirty="0"/>
          </a:p>
        </p:txBody>
      </p:sp>
      <p:sp>
        <p:nvSpPr>
          <p:cNvPr id="94210" name="Rectangle 3"/>
          <p:cNvSpPr>
            <a:spLocks noGrp="1"/>
          </p:cNvSpPr>
          <p:nvPr>
            <p:ph idx="1"/>
          </p:nvPr>
        </p:nvSpPr>
        <p:spPr>
          <a:xfrm>
            <a:off x="838200" y="1113355"/>
            <a:ext cx="10515600" cy="4351338"/>
          </a:xfrm>
        </p:spPr>
        <p:txBody>
          <a:bodyPr vert="horz" wrap="square" lIns="91440" tIns="45720" rIns="91440" bIns="45720" anchor="t" anchorCtr="0"/>
          <a:lstStyle/>
          <a:p>
            <a:pPr algn="just" eaLnBrk="1" hangingPunct="1"/>
            <a:r>
              <a:rPr lang="zh-CN" altLang="en-US" dirty="0"/>
              <a:t>描述数据库的组成对象以及对象之间的联系</a:t>
            </a:r>
            <a:endParaRPr lang="zh-CN" altLang="en-US" dirty="0"/>
          </a:p>
          <a:p>
            <a:pPr lvl="1" algn="just" eaLnBrk="1" hangingPunct="1">
              <a:lnSpc>
                <a:spcPct val="60000"/>
              </a:lnSpc>
            </a:pPr>
            <a:endParaRPr lang="zh-CN" altLang="en-US" sz="2800" dirty="0"/>
          </a:p>
          <a:p>
            <a:pPr algn="just" eaLnBrk="1" hangingPunct="1"/>
            <a:r>
              <a:rPr lang="zh-CN" altLang="en-US" dirty="0"/>
              <a:t>描述的内容</a:t>
            </a:r>
            <a:endParaRPr lang="zh-CN" altLang="en-US" dirty="0"/>
          </a:p>
          <a:p>
            <a:pPr lvl="1"/>
            <a:r>
              <a:rPr lang="zh-CN" altLang="en-US" dirty="0"/>
              <a:t>与对象的类型、内容、性质有关</a:t>
            </a:r>
            <a:endParaRPr lang="zh-CN" altLang="en-US" dirty="0"/>
          </a:p>
          <a:p>
            <a:pPr lvl="1"/>
            <a:r>
              <a:rPr lang="zh-CN" altLang="en-US" dirty="0"/>
              <a:t>与数据之间联系有关</a:t>
            </a:r>
            <a:endParaRPr lang="zh-CN" altLang="en-US" dirty="0"/>
          </a:p>
          <a:p>
            <a:pPr lvl="1" algn="just" eaLnBrk="1" hangingPunct="1">
              <a:lnSpc>
                <a:spcPct val="60000"/>
              </a:lnSpc>
              <a:buNone/>
            </a:pPr>
            <a:endParaRPr lang="zh-CN" altLang="en-US" sz="2800" dirty="0"/>
          </a:p>
          <a:p>
            <a:pPr algn="just" eaLnBrk="1" hangingPunct="1"/>
            <a:r>
              <a:rPr lang="zh-CN" altLang="en-US" dirty="0"/>
              <a:t>数据结构是对系统静态特性的描述</a:t>
            </a:r>
            <a:endParaRPr lang="zh-CN" altLang="en-US" dirty="0"/>
          </a:p>
          <a:p>
            <a:pPr eaLnBrk="1" hangingPunct="1"/>
            <a:endParaRPr lang="en-US" altLang="zh-CN" sz="3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3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sz="3600" dirty="0"/>
              <a:t> 2.  </a:t>
            </a:r>
            <a:r>
              <a:rPr lang="zh-CN" altLang="en-US" sz="3600" dirty="0"/>
              <a:t>数据操</a:t>
            </a:r>
            <a:r>
              <a:rPr lang="zh-CN" altLang="en-US" sz="3600" dirty="0"/>
              <a:t>纵 </a:t>
            </a:r>
            <a:endParaRPr lang="zh-CN" altLang="en-US" sz="3600" dirty="0"/>
          </a:p>
        </p:txBody>
      </p:sp>
      <p:sp>
        <p:nvSpPr>
          <p:cNvPr id="95234" name="Rectangle 3"/>
          <p:cNvSpPr>
            <a:spLocks noGrp="1"/>
          </p:cNvSpPr>
          <p:nvPr>
            <p:ph idx="1"/>
          </p:nvPr>
        </p:nvSpPr>
        <p:spPr>
          <a:xfrm>
            <a:off x="1127448" y="1196976"/>
            <a:ext cx="9083353" cy="4005263"/>
          </a:xfrm>
        </p:spPr>
        <p:txBody>
          <a:bodyPr vert="horz" wrap="square" lIns="91440" tIns="45720" rIns="91440" bIns="45720" anchor="t" anchorCtr="0">
            <a:normAutofit fontScale="90000" lnSpcReduction="10000"/>
          </a:bodyPr>
          <a:lstStyle/>
          <a:p>
            <a:pPr algn="just" eaLnBrk="1" hangingPunct="1">
              <a:lnSpc>
                <a:spcPct val="150000"/>
              </a:lnSpc>
            </a:pPr>
            <a:r>
              <a:rPr lang="zh-CN" altLang="en-US" dirty="0"/>
              <a:t>数据操作</a:t>
            </a:r>
            <a:endParaRPr lang="zh-CN" altLang="en-US" dirty="0"/>
          </a:p>
          <a:p>
            <a:pPr lvl="1" algn="just" eaLnBrk="1" hangingPunct="1">
              <a:lnSpc>
                <a:spcPct val="150000"/>
              </a:lnSpc>
            </a:pPr>
            <a:r>
              <a:rPr lang="zh-CN" altLang="en-US" dirty="0"/>
              <a:t>对数据库中各种对象（型）的实例（值）允许执行的</a:t>
            </a:r>
            <a:endParaRPr lang="zh-CN" altLang="en-US" dirty="0"/>
          </a:p>
          <a:p>
            <a:pPr lvl="1" algn="just" eaLnBrk="1" hangingPunct="1">
              <a:lnSpc>
                <a:spcPct val="150000"/>
              </a:lnSpc>
              <a:buNone/>
            </a:pPr>
            <a:r>
              <a:rPr lang="zh-CN" altLang="en-US" dirty="0">
                <a:solidFill>
                  <a:srgbClr val="5F9F25"/>
                </a:solidFill>
              </a:rPr>
              <a:t>   操作的集合，</a:t>
            </a:r>
            <a:r>
              <a:rPr lang="zh-CN" altLang="en-US" dirty="0"/>
              <a:t>包括</a:t>
            </a:r>
            <a:r>
              <a:rPr lang="zh-CN" altLang="en-US" dirty="0">
                <a:solidFill>
                  <a:srgbClr val="5F9F25"/>
                </a:solidFill>
              </a:rPr>
              <a:t>操作</a:t>
            </a:r>
            <a:r>
              <a:rPr lang="zh-CN" altLang="en-US" dirty="0"/>
              <a:t>及有关的</a:t>
            </a:r>
            <a:r>
              <a:rPr lang="zh-CN" altLang="en-US" dirty="0">
                <a:solidFill>
                  <a:srgbClr val="5F9F25"/>
                </a:solidFill>
              </a:rPr>
              <a:t>操作规则</a:t>
            </a:r>
            <a:endParaRPr lang="zh-CN" altLang="en-US" dirty="0">
              <a:solidFill>
                <a:srgbClr val="5F9F25"/>
              </a:solidFill>
            </a:endParaRPr>
          </a:p>
          <a:p>
            <a:pPr algn="just" eaLnBrk="1" hangingPunct="1">
              <a:lnSpc>
                <a:spcPct val="150000"/>
              </a:lnSpc>
            </a:pPr>
            <a:r>
              <a:rPr lang="zh-CN" altLang="en-US" dirty="0"/>
              <a:t>数据库主要操作</a:t>
            </a:r>
            <a:endParaRPr lang="zh-CN" altLang="en-US" dirty="0"/>
          </a:p>
          <a:p>
            <a:pPr lvl="1" algn="just" eaLnBrk="1" hangingPunct="1">
              <a:lnSpc>
                <a:spcPct val="150000"/>
              </a:lnSpc>
            </a:pPr>
            <a:r>
              <a:rPr lang="zh-CN" altLang="en-US" dirty="0"/>
              <a:t>查询</a:t>
            </a:r>
            <a:endParaRPr lang="zh-CN" altLang="en-US" dirty="0"/>
          </a:p>
          <a:p>
            <a:pPr lvl="1" algn="just" eaLnBrk="1" hangingPunct="1">
              <a:lnSpc>
                <a:spcPct val="150000"/>
              </a:lnSpc>
            </a:pPr>
            <a:r>
              <a:rPr lang="zh-CN" altLang="en-US" dirty="0"/>
              <a:t>更新（包括插入、删除、修改）</a:t>
            </a:r>
            <a:endParaRPr lang="zh-CN" altLang="en-US" dirty="0"/>
          </a:p>
          <a:p>
            <a:pPr lvl="0" algn="just" eaLnBrk="1" hangingPunct="1">
              <a:lnSpc>
                <a:spcPct val="150000"/>
              </a:lnSpc>
            </a:pPr>
            <a:r>
              <a:rPr>
                <a:sym typeface="+mn-ea"/>
              </a:rPr>
              <a:t>数据操作是对系统动态特性的描述</a:t>
            </a:r>
            <a:endParaRPr lang="en-US" altLang="zh-CN" dirty="0"/>
          </a:p>
        </p:txBody>
      </p:sp>
      <p:sp>
        <p:nvSpPr>
          <p:cNvPr id="2" name="文本框 1"/>
          <p:cNvSpPr txBox="1"/>
          <p:nvPr/>
        </p:nvSpPr>
        <p:spPr>
          <a:xfrm>
            <a:off x="1631950" y="5661660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just" eaLnBrk="1" hangingPunct="1"/>
            <a:endParaRPr lang="zh-CN" altLang="en-US" dirty="0">
              <a:sym typeface="+mn-ea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1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sz="3600" dirty="0"/>
              <a:t>3. </a:t>
            </a:r>
            <a:r>
              <a:rPr lang="zh-CN" altLang="en-US" sz="3600" dirty="0"/>
              <a:t>完整性约束 </a:t>
            </a:r>
            <a:endParaRPr lang="zh-CN" altLang="en-US" sz="3600" dirty="0"/>
          </a:p>
        </p:txBody>
      </p:sp>
      <p:sp>
        <p:nvSpPr>
          <p:cNvPr id="97282" name="Rectangle 3"/>
          <p:cNvSpPr>
            <a:spLocks noGrp="1"/>
          </p:cNvSpPr>
          <p:nvPr>
            <p:ph idx="1"/>
          </p:nvPr>
        </p:nvSpPr>
        <p:spPr>
          <a:xfrm>
            <a:off x="767408" y="1113355"/>
            <a:ext cx="10515600" cy="4351338"/>
          </a:xfrm>
        </p:spPr>
        <p:txBody>
          <a:bodyPr vert="horz" wrap="square" lIns="91440" tIns="45720" rIns="91440" bIns="45720" anchor="t" anchorCtr="0">
            <a:normAutofit lnSpcReduction="10000"/>
          </a:bodyPr>
          <a:lstStyle/>
          <a:p>
            <a:pPr eaLnBrk="1" hangingPunct="1"/>
            <a:r>
              <a:rPr lang="zh-CN" altLang="en-US" dirty="0"/>
              <a:t>数据模型的完整性约束</a:t>
            </a:r>
            <a:endParaRPr lang="zh-CN" altLang="en-US" dirty="0"/>
          </a:p>
          <a:p>
            <a:pPr lvl="1" eaLnBrk="1" hangingPunct="1">
              <a:lnSpc>
                <a:spcPct val="160000"/>
              </a:lnSpc>
            </a:pPr>
            <a:r>
              <a:rPr lang="zh-CN" altLang="en-US" dirty="0"/>
              <a:t>一组完整性规则</a:t>
            </a:r>
            <a:endParaRPr lang="zh-CN" altLang="en-US" dirty="0"/>
          </a:p>
          <a:p>
            <a:pPr lvl="1" eaLnBrk="1" hangingPunct="1">
              <a:lnSpc>
                <a:spcPct val="160000"/>
              </a:lnSpc>
            </a:pPr>
            <a:r>
              <a:rPr lang="zh-CN" altLang="en-US" dirty="0"/>
              <a:t>完整性规则：给定的数据模型中数据及其联系所具有的制约和依存规则</a:t>
            </a:r>
            <a:endParaRPr lang="zh-CN" altLang="en-US" dirty="0"/>
          </a:p>
          <a:p>
            <a:pPr lvl="1" eaLnBrk="1" hangingPunct="1">
              <a:lnSpc>
                <a:spcPct val="160000"/>
              </a:lnSpc>
            </a:pPr>
            <a:r>
              <a:rPr lang="zh-CN" altLang="en-US" dirty="0"/>
              <a:t>限定符合数据模型的数据库状态以及状态的变化，以保证数据的正确、有效和相容</a:t>
            </a:r>
            <a:endParaRPr lang="zh-CN" altLang="en-US" dirty="0"/>
          </a:p>
          <a:p>
            <a:pPr lvl="1" eaLnBrk="1" hangingPunct="1">
              <a:lnSpc>
                <a:spcPct val="160000"/>
              </a:lnSpc>
            </a:pPr>
            <a:r>
              <a:rPr lang="zh-CN" altLang="en-US" sz="2400" dirty="0"/>
              <a:t>完整性规则的例子（学生数据）：年龄必须大于0，所学专业应该真实存在，学号应该是</a:t>
            </a:r>
            <a:r>
              <a:rPr lang="en-US" altLang="zh-CN" sz="2400" dirty="0"/>
              <a:t>10</a:t>
            </a:r>
            <a:r>
              <a:rPr lang="zh-CN" altLang="en-US" sz="2400" dirty="0"/>
              <a:t>位整数且以年份</a:t>
            </a:r>
            <a:r>
              <a:rPr lang="zh-CN" altLang="en-US" sz="2400" dirty="0"/>
              <a:t>开头</a:t>
            </a:r>
            <a:endParaRPr lang="zh-CN" altLang="en-US" sz="24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29" name="Rectangle 1026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sz="3600" dirty="0"/>
              <a:t> 1.2  </a:t>
            </a:r>
            <a:r>
              <a:rPr lang="zh-CN" altLang="en-US" sz="3600" dirty="0"/>
              <a:t>数据模型</a:t>
            </a:r>
            <a:endParaRPr lang="zh-CN" altLang="en-US" sz="3600" dirty="0"/>
          </a:p>
        </p:txBody>
      </p:sp>
      <p:sp>
        <p:nvSpPr>
          <p:cNvPr id="99330" name="Rectangle 1027"/>
          <p:cNvSpPr>
            <a:spLocks noGrp="1"/>
          </p:cNvSpPr>
          <p:nvPr>
            <p:ph idx="1"/>
          </p:nvPr>
        </p:nvSpPr>
        <p:spPr>
          <a:xfrm>
            <a:off x="1775520" y="1125539"/>
            <a:ext cx="8713093" cy="4625975"/>
          </a:xfrm>
        </p:spPr>
        <p:txBody>
          <a:bodyPr vert="horz" wrap="square" lIns="91440" tIns="45720" rIns="91440" bIns="45720" anchor="t" anchorCtr="0">
            <a:normAutofit/>
          </a:bodyPr>
          <a:lstStyle/>
          <a:p>
            <a:pPr eaLnBrk="1" hangingPunct="1">
              <a:lnSpc>
                <a:spcPct val="130000"/>
              </a:lnSpc>
              <a:buNone/>
            </a:pPr>
            <a:r>
              <a:rPr lang="en-US" altLang="zh-CN" dirty="0">
                <a:solidFill>
                  <a:srgbClr val="00B050"/>
                </a:solidFill>
              </a:rPr>
              <a:t> </a:t>
            </a:r>
            <a:r>
              <a:rPr lang="zh-CN" altLang="en-US" dirty="0"/>
              <a:t> </a:t>
            </a:r>
            <a:r>
              <a:rPr lang="en-US" altLang="zh-CN" dirty="0"/>
              <a:t>1.2.1  </a:t>
            </a:r>
            <a:r>
              <a:rPr lang="zh-CN" altLang="en-US" dirty="0"/>
              <a:t>数据建模</a:t>
            </a:r>
            <a:endParaRPr lang="zh-CN" altLang="en-US" dirty="0"/>
          </a:p>
          <a:p>
            <a:pPr eaLnBrk="1" hangingPunct="1">
              <a:lnSpc>
                <a:spcPct val="130000"/>
              </a:lnSpc>
              <a:buNone/>
            </a:pPr>
            <a:r>
              <a:rPr lang="zh-CN" altLang="en-US" dirty="0"/>
              <a:t>  </a:t>
            </a:r>
            <a:r>
              <a:rPr lang="en-US" altLang="zh-CN" dirty="0"/>
              <a:t>1.2.2  </a:t>
            </a:r>
            <a:r>
              <a:rPr lang="zh-CN" altLang="en-US" dirty="0"/>
              <a:t>概念模型</a:t>
            </a:r>
            <a:endParaRPr lang="zh-CN" altLang="en-US" dirty="0"/>
          </a:p>
          <a:p>
            <a:pPr eaLnBrk="1" hangingPunct="1">
              <a:lnSpc>
                <a:spcPct val="130000"/>
              </a:lnSpc>
              <a:buNone/>
            </a:pPr>
            <a:r>
              <a:rPr lang="zh-CN" altLang="en-US" dirty="0"/>
              <a:t>  </a:t>
            </a:r>
            <a:r>
              <a:rPr lang="en-US" altLang="zh-CN" dirty="0"/>
              <a:t>1.2.3  </a:t>
            </a:r>
            <a:r>
              <a:rPr lang="zh-CN" altLang="en-US" dirty="0"/>
              <a:t>数据模型的三要素</a:t>
            </a:r>
            <a:endParaRPr lang="zh-CN" altLang="en-US" dirty="0"/>
          </a:p>
          <a:p>
            <a:pPr eaLnBrk="1" hangingPunct="1">
              <a:lnSpc>
                <a:spcPct val="130000"/>
              </a:lnSpc>
              <a:buNone/>
            </a:pPr>
            <a:r>
              <a:rPr lang="zh-CN" altLang="en-US" dirty="0">
                <a:solidFill>
                  <a:srgbClr val="00B050"/>
                </a:solidFill>
              </a:rPr>
              <a:t>  </a:t>
            </a:r>
            <a:r>
              <a:rPr lang="en-US" altLang="zh-CN" dirty="0">
                <a:solidFill>
                  <a:srgbClr val="00B050"/>
                </a:solidFill>
              </a:rPr>
              <a:t>1.2.4  </a:t>
            </a:r>
            <a:r>
              <a:rPr lang="zh-CN" altLang="en-US" dirty="0">
                <a:solidFill>
                  <a:srgbClr val="00B050"/>
                </a:solidFill>
              </a:rPr>
              <a:t>层次模型</a:t>
            </a:r>
            <a:endParaRPr lang="en-US" altLang="zh-CN" dirty="0">
              <a:solidFill>
                <a:srgbClr val="00B050"/>
              </a:solidFill>
            </a:endParaRPr>
          </a:p>
          <a:p>
            <a:pPr eaLnBrk="1" hangingPunct="1">
              <a:lnSpc>
                <a:spcPct val="130000"/>
              </a:lnSpc>
              <a:buNone/>
            </a:pPr>
            <a:r>
              <a:rPr lang="zh-CN" altLang="en-US" dirty="0"/>
              <a:t>  </a:t>
            </a:r>
            <a:r>
              <a:rPr lang="en-US" altLang="zh-CN" dirty="0"/>
              <a:t>1.2.5  </a:t>
            </a:r>
            <a:r>
              <a:rPr lang="zh-CN" altLang="en-US" dirty="0"/>
              <a:t>网状模型</a:t>
            </a:r>
            <a:endParaRPr lang="zh-CN" altLang="en-US" dirty="0"/>
          </a:p>
          <a:p>
            <a:pPr eaLnBrk="1" hangingPunct="1">
              <a:lnSpc>
                <a:spcPct val="130000"/>
              </a:lnSpc>
              <a:buNone/>
            </a:pPr>
            <a:r>
              <a:rPr lang="zh-CN" altLang="en-US" dirty="0"/>
              <a:t>  </a:t>
            </a:r>
            <a:r>
              <a:rPr lang="en-US" altLang="zh-CN" dirty="0"/>
              <a:t>1.2.6  </a:t>
            </a:r>
            <a:r>
              <a:rPr lang="zh-CN" altLang="en-US" dirty="0"/>
              <a:t>关系模型</a:t>
            </a:r>
            <a:endParaRPr lang="en-US" altLang="zh-CN" dirty="0"/>
          </a:p>
          <a:p>
            <a:pPr eaLnBrk="1" hangingPunct="1">
              <a:lnSpc>
                <a:spcPct val="130000"/>
              </a:lnSpc>
              <a:buNone/>
            </a:pPr>
            <a:r>
              <a:rPr lang="zh-CN" altLang="en-US" dirty="0"/>
              <a:t>  </a:t>
            </a:r>
            <a:r>
              <a:rPr lang="en-US" altLang="zh-CN" dirty="0"/>
              <a:t>1.2.7  </a:t>
            </a:r>
            <a:r>
              <a:rPr lang="zh-CN" altLang="en-US" dirty="0"/>
              <a:t>数据库领域中不断涌现的数据模型</a:t>
            </a:r>
            <a:endParaRPr lang="zh-CN" altLang="en-US" sz="24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3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r>
              <a:rPr lang="en-US" altLang="zh-CN" sz="3600" dirty="0"/>
              <a:t>1.2.4  </a:t>
            </a:r>
            <a:r>
              <a:rPr lang="zh-CN" altLang="en-US" sz="3600" dirty="0"/>
              <a:t>层次模型</a:t>
            </a:r>
            <a:endParaRPr lang="zh-CN" altLang="en-US" sz="36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6819" y="1113354"/>
            <a:ext cx="10515600" cy="4835925"/>
          </a:xfrm>
        </p:spPr>
        <p:txBody>
          <a:bodyPr vert="horz" wrap="square" lIns="91440" tIns="45720" rIns="91440" bIns="45720" numCol="1" anchor="t" anchorCtr="0" compatLnSpc="1"/>
          <a:lstStyle/>
          <a:p>
            <a:pPr>
              <a:buSzTx/>
              <a:defRPr/>
            </a:pPr>
            <a:r>
              <a:rPr lang="zh-CN" altLang="en-US" kern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层次模型</a:t>
            </a:r>
            <a:endParaRPr lang="en-US" altLang="zh-CN" kern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SzTx/>
              <a:defRPr/>
            </a:pPr>
            <a:r>
              <a:rPr lang="zh-CN" altLang="zh-CN" kern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实体用记录表示</a:t>
            </a:r>
            <a:endParaRPr lang="en-US" altLang="zh-CN" kern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SzTx/>
              <a:defRPr/>
            </a:pPr>
            <a:r>
              <a:rPr lang="zh-CN" altLang="zh-CN" kern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实体的属性对应记录的数据项（或字段）</a:t>
            </a:r>
            <a:endParaRPr lang="en-US" altLang="zh-CN" kern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SzTx/>
              <a:defRPr/>
            </a:pPr>
            <a:r>
              <a:rPr lang="zh-CN" altLang="zh-CN" kern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实体之间的联系转换成记录之间的两两联系</a:t>
            </a:r>
            <a:endParaRPr lang="en-US" altLang="zh-CN" kern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SzTx/>
              <a:defRPr/>
            </a:pPr>
            <a:r>
              <a:rPr lang="zh-CN" altLang="zh-CN" kern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数据结构的单位是基本层次联系</a:t>
            </a:r>
            <a:endParaRPr lang="en-US" altLang="zh-CN" kern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>
              <a:buFont typeface="Wingdings" panose="05000000000000000000" pitchFamily="2" charset="2"/>
              <a:buChar char="l"/>
              <a:defRPr/>
            </a:pPr>
            <a:r>
              <a:rPr lang="zh-CN" altLang="en-US" kern="105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是指</a:t>
            </a:r>
            <a:r>
              <a:rPr lang="zh-CN" altLang="zh-CN" kern="105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两个记录以及它们之间的一对多（包括一对一）的联系</a:t>
            </a:r>
            <a:endParaRPr lang="zh-CN" altLang="en-US" dirty="0">
              <a:cs typeface="+mn-ea"/>
            </a:endParaRPr>
          </a:p>
        </p:txBody>
      </p:sp>
      <p:pic>
        <p:nvPicPr>
          <p:cNvPr id="100355" name="图片 29" descr="1z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50544" y="4064219"/>
            <a:ext cx="4248150" cy="1865312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7" name="Rectangle 2"/>
          <p:cNvSpPr>
            <a:spLocks noGrp="1"/>
          </p:cNvSpPr>
          <p:nvPr>
            <p:ph type="title"/>
          </p:nvPr>
        </p:nvSpPr>
        <p:spPr>
          <a:xfrm>
            <a:off x="1978025" y="-39687"/>
            <a:ext cx="8229600" cy="1138237"/>
          </a:xfrm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层次模型（续）</a:t>
            </a:r>
            <a:endParaRPr lang="zh-CN" altLang="en-US" sz="3600" dirty="0"/>
          </a:p>
        </p:txBody>
      </p:sp>
      <p:sp>
        <p:nvSpPr>
          <p:cNvPr id="101378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150000"/>
              </a:lnSpc>
            </a:pPr>
            <a:r>
              <a:rPr lang="zh-CN" altLang="en-US" dirty="0"/>
              <a:t>层次模型是数据库系统中最早出现的数据模型 </a:t>
            </a:r>
            <a:endParaRPr lang="zh-CN" altLang="en-US" dirty="0"/>
          </a:p>
          <a:p>
            <a:pPr eaLnBrk="1" hangingPunct="1">
              <a:lnSpc>
                <a:spcPct val="150000"/>
              </a:lnSpc>
            </a:pPr>
            <a:r>
              <a:rPr lang="zh-CN" altLang="en-US" dirty="0"/>
              <a:t>层次数据库系统的典型代表是</a:t>
            </a:r>
            <a:r>
              <a:rPr lang="en-US" altLang="zh-CN" dirty="0"/>
              <a:t>IBM</a:t>
            </a:r>
            <a:r>
              <a:rPr lang="zh-CN" altLang="en-US" dirty="0"/>
              <a:t>公司的</a:t>
            </a:r>
            <a:r>
              <a:rPr lang="en-US" altLang="zh-CN" dirty="0"/>
              <a:t>IMS</a:t>
            </a:r>
            <a:r>
              <a:rPr lang="zh-CN" altLang="en-US" dirty="0"/>
              <a:t>（</a:t>
            </a:r>
            <a:r>
              <a:rPr lang="en-US" altLang="zh-CN" dirty="0"/>
              <a:t>Information Management System</a:t>
            </a:r>
            <a:r>
              <a:rPr lang="zh-CN" altLang="en-US" dirty="0"/>
              <a:t>）</a:t>
            </a:r>
            <a:endParaRPr lang="zh-CN" altLang="en-US" dirty="0"/>
          </a:p>
          <a:p>
            <a:pPr eaLnBrk="1" hangingPunct="1">
              <a:lnSpc>
                <a:spcPct val="150000"/>
              </a:lnSpc>
            </a:pPr>
            <a:r>
              <a:rPr lang="zh-CN" altLang="en-US" dirty="0"/>
              <a:t>层次模型用</a:t>
            </a:r>
            <a:r>
              <a:rPr lang="zh-CN" altLang="en-US" dirty="0">
                <a:solidFill>
                  <a:srgbClr val="FB33F1"/>
                </a:solidFill>
              </a:rPr>
              <a:t>树形结构</a:t>
            </a:r>
            <a:r>
              <a:rPr lang="zh-CN" altLang="en-US" dirty="0"/>
              <a:t>来表示各类实体以及实体间的联系</a:t>
            </a:r>
            <a:r>
              <a:rPr lang="zh-CN" altLang="en-US" sz="2000" dirty="0"/>
              <a:t>  </a:t>
            </a:r>
            <a:endParaRPr lang="zh-CN" altLang="en-US" sz="2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69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sz="3600" dirty="0"/>
              <a:t>3.</a:t>
            </a:r>
            <a:r>
              <a:rPr lang="zh-CN" altLang="en-US" sz="3600" dirty="0"/>
              <a:t>层次模型的优缺点</a:t>
            </a:r>
            <a:endParaRPr lang="zh-CN" altLang="en-US" sz="3600" dirty="0">
              <a:solidFill>
                <a:schemeClr val="tx1"/>
              </a:solidFill>
            </a:endParaRPr>
          </a:p>
        </p:txBody>
      </p:sp>
      <p:sp>
        <p:nvSpPr>
          <p:cNvPr id="108547" name="Rectangle 3"/>
          <p:cNvSpPr>
            <a:spLocks noGrp="1" noChangeArrowheads="1"/>
          </p:cNvSpPr>
          <p:nvPr>
            <p:ph idx="1"/>
          </p:nvPr>
        </p:nvSpPr>
        <p:spPr>
          <a:xfrm>
            <a:off x="1559496" y="981076"/>
            <a:ext cx="9108505" cy="5256213"/>
          </a:xfrm>
        </p:spPr>
        <p:txBody>
          <a:bodyPr vert="horz" wrap="square" lIns="91440" tIns="45720" rIns="91440" bIns="45720" numCol="1" anchor="t" anchorCtr="0" compatLnSpc="1"/>
          <a:lstStyle/>
          <a:p>
            <a:pPr algn="just" eaLnBrk="1" hangingPunct="1">
              <a:buSzTx/>
              <a:defRPr/>
            </a:pPr>
            <a:r>
              <a:rPr lang="zh-CN" altLang="en-US" dirty="0"/>
              <a:t>优点</a:t>
            </a:r>
            <a:endParaRPr lang="zh-CN" altLang="en-US" dirty="0"/>
          </a:p>
          <a:p>
            <a:pPr lvl="1" algn="just" eaLnBrk="1" hangingPunct="1">
              <a:buSzTx/>
              <a:defRPr/>
            </a:pPr>
            <a:r>
              <a:rPr lang="zh-CN" altLang="en-US" dirty="0">
                <a:cs typeface="+mn-ea"/>
              </a:rPr>
              <a:t>层次模型的数据结构比较简单清晰 </a:t>
            </a:r>
            <a:endParaRPr lang="zh-CN" altLang="en-US" dirty="0">
              <a:cs typeface="+mn-ea"/>
            </a:endParaRPr>
          </a:p>
          <a:p>
            <a:pPr lvl="1" algn="just" eaLnBrk="1" hangingPunct="1">
              <a:buSzTx/>
              <a:defRPr/>
            </a:pPr>
            <a:r>
              <a:rPr lang="zh-CN" altLang="en-US" dirty="0">
                <a:cs typeface="+mn-ea"/>
              </a:rPr>
              <a:t>查询效率高</a:t>
            </a:r>
            <a:endParaRPr lang="en-US" altLang="zh-CN" dirty="0">
              <a:cs typeface="+mn-ea"/>
            </a:endParaRPr>
          </a:p>
          <a:p>
            <a:pPr lvl="2" algn="just" eaLnBrk="1" hangingPunct="1">
              <a:buFont typeface="Wingdings" panose="05000000000000000000" pitchFamily="2" charset="2"/>
              <a:buChar char="l"/>
              <a:defRPr/>
            </a:pPr>
            <a:r>
              <a:rPr lang="zh-CN" altLang="zh-CN" sz="1800" kern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层次模型中记录之间的联系用有向边表示</a:t>
            </a:r>
            <a:r>
              <a:rPr lang="zh-CN" altLang="en-US" sz="1800" kern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zh-CN" altLang="zh-CN" sz="1800" kern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就是记录之间的存取路径</a:t>
            </a:r>
            <a:endParaRPr lang="zh-CN" altLang="en-US" dirty="0">
              <a:cs typeface="+mn-ea"/>
            </a:endParaRPr>
          </a:p>
          <a:p>
            <a:pPr lvl="1" algn="just" eaLnBrk="1" hangingPunct="1">
              <a:buSzTx/>
              <a:defRPr/>
            </a:pPr>
            <a:r>
              <a:rPr lang="zh-CN" altLang="en-US" dirty="0">
                <a:cs typeface="+mn-ea"/>
              </a:rPr>
              <a:t>层次数据模型提供了良好的完整性约束支持</a:t>
            </a:r>
            <a:endParaRPr lang="zh-CN" altLang="en-US" sz="2800" dirty="0">
              <a:cs typeface="+mn-ea"/>
            </a:endParaRPr>
          </a:p>
          <a:p>
            <a:pPr eaLnBrk="1" hangingPunct="1">
              <a:buSzTx/>
              <a:defRPr/>
            </a:pPr>
            <a:r>
              <a:rPr lang="zh-CN" altLang="en-US" dirty="0"/>
              <a:t>缺点</a:t>
            </a:r>
            <a:endParaRPr lang="zh-CN" altLang="en-US" dirty="0"/>
          </a:p>
          <a:p>
            <a:pPr lvl="1" eaLnBrk="1" hangingPunct="1">
              <a:buSzTx/>
              <a:defRPr/>
            </a:pPr>
            <a:r>
              <a:rPr lang="zh-CN" altLang="zh-CN" dirty="0">
                <a:cs typeface="+mn-ea"/>
              </a:rPr>
              <a:t>很多联系是非层次性</a:t>
            </a:r>
            <a:r>
              <a:rPr lang="zh-CN" altLang="en-US" dirty="0">
                <a:cs typeface="+mn-ea"/>
              </a:rPr>
              <a:t>，</a:t>
            </a:r>
            <a:r>
              <a:rPr lang="zh-CN" altLang="zh-CN" dirty="0">
                <a:cs typeface="+mn-ea"/>
              </a:rPr>
              <a:t>不适合用层次模型表示</a:t>
            </a:r>
            <a:endParaRPr lang="zh-CN" altLang="en-US" dirty="0">
              <a:cs typeface="+mn-ea"/>
            </a:endParaRPr>
          </a:p>
          <a:p>
            <a:pPr lvl="1" eaLnBrk="1" hangingPunct="1">
              <a:buSzTx/>
              <a:defRPr/>
            </a:pPr>
            <a:r>
              <a:rPr lang="zh-CN" altLang="zh-CN" dirty="0">
                <a:cs typeface="+mn-ea"/>
              </a:rPr>
              <a:t>一个结点具有多个双亲结点，</a:t>
            </a:r>
            <a:r>
              <a:rPr lang="zh-CN" altLang="en-US" dirty="0">
                <a:cs typeface="+mn-ea"/>
              </a:rPr>
              <a:t>只能</a:t>
            </a:r>
            <a:r>
              <a:rPr lang="zh-CN" altLang="zh-CN" dirty="0">
                <a:cs typeface="+mn-ea"/>
              </a:rPr>
              <a:t>通过冗余数据或创建非自然的数据结构来解决</a:t>
            </a:r>
            <a:endParaRPr lang="en-US" altLang="zh-CN" dirty="0">
              <a:cs typeface="+mn-ea"/>
            </a:endParaRPr>
          </a:p>
          <a:p>
            <a:pPr lvl="1" eaLnBrk="1" hangingPunct="1">
              <a:buSzTx/>
              <a:defRPr/>
            </a:pPr>
            <a:r>
              <a:rPr lang="zh-CN" altLang="en-US" dirty="0">
                <a:cs typeface="+mn-ea"/>
              </a:rPr>
              <a:t>对插入和删除操作的限制多，</a:t>
            </a:r>
            <a:r>
              <a:rPr lang="zh-CN" altLang="en-US" dirty="0">
                <a:solidFill>
                  <a:srgbClr val="C00000"/>
                </a:solidFill>
                <a:cs typeface="+mn-ea"/>
              </a:rPr>
              <a:t>应用程序的编写比较复杂</a:t>
            </a:r>
            <a:r>
              <a:rPr lang="zh-CN" altLang="en-US" dirty="0">
                <a:cs typeface="+mn-ea"/>
              </a:rPr>
              <a:t> </a:t>
            </a:r>
            <a:endParaRPr lang="zh-CN" altLang="en-US" dirty="0">
              <a:cs typeface="+mn-ea"/>
            </a:endParaRPr>
          </a:p>
          <a:p>
            <a:pPr lvl="1" eaLnBrk="1" hangingPunct="1">
              <a:buSzTx/>
              <a:defRPr/>
            </a:pPr>
            <a:r>
              <a:rPr lang="zh-CN" altLang="en-US" dirty="0">
                <a:solidFill>
                  <a:srgbClr val="C00000"/>
                </a:solidFill>
                <a:cs typeface="+mn-ea"/>
              </a:rPr>
              <a:t>查询子女结点必须通过双亲结点</a:t>
            </a:r>
            <a:endParaRPr lang="zh-CN" altLang="en-US" dirty="0">
              <a:cs typeface="+mn-ea"/>
            </a:endParaRPr>
          </a:p>
          <a:p>
            <a:pPr lvl="1" eaLnBrk="1" hangingPunct="1">
              <a:buSzTx/>
              <a:defRPr/>
            </a:pPr>
            <a:r>
              <a:rPr lang="zh-CN" altLang="en-US" dirty="0">
                <a:cs typeface="+mn-ea"/>
              </a:rPr>
              <a:t>层次命令趋于程序化 </a:t>
            </a:r>
            <a:endParaRPr lang="zh-CN" altLang="en-US" dirty="0">
              <a:cs typeface="+mn-ea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3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sz="3600" dirty="0"/>
              <a:t> 1.2  </a:t>
            </a:r>
            <a:r>
              <a:rPr lang="zh-CN" altLang="en-US" sz="3600" dirty="0"/>
              <a:t>数据模型</a:t>
            </a:r>
            <a:endParaRPr lang="zh-CN" altLang="en-US" sz="3600" dirty="0"/>
          </a:p>
        </p:txBody>
      </p:sp>
      <p:sp>
        <p:nvSpPr>
          <p:cNvPr id="110594" name="Rectangle 3"/>
          <p:cNvSpPr>
            <a:spLocks noGrp="1"/>
          </p:cNvSpPr>
          <p:nvPr>
            <p:ph idx="1"/>
          </p:nvPr>
        </p:nvSpPr>
        <p:spPr>
          <a:xfrm>
            <a:off x="1919536" y="1268760"/>
            <a:ext cx="8137277" cy="4697412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130000"/>
              </a:lnSpc>
              <a:buNone/>
            </a:pPr>
            <a:r>
              <a:rPr lang="zh-CN" altLang="en-US" dirty="0"/>
              <a:t>  </a:t>
            </a:r>
            <a:r>
              <a:rPr lang="en-US" altLang="zh-CN" dirty="0"/>
              <a:t>1.2.1  </a:t>
            </a:r>
            <a:r>
              <a:rPr lang="zh-CN" altLang="en-US" dirty="0"/>
              <a:t>数据建模</a:t>
            </a:r>
            <a:endParaRPr lang="zh-CN" altLang="en-US" dirty="0"/>
          </a:p>
          <a:p>
            <a:pPr eaLnBrk="1" hangingPunct="1">
              <a:lnSpc>
                <a:spcPct val="130000"/>
              </a:lnSpc>
              <a:buNone/>
            </a:pPr>
            <a:r>
              <a:rPr lang="zh-CN" altLang="en-US" dirty="0"/>
              <a:t>  </a:t>
            </a:r>
            <a:r>
              <a:rPr lang="en-US" altLang="zh-CN" dirty="0"/>
              <a:t>1.2.2  </a:t>
            </a:r>
            <a:r>
              <a:rPr lang="zh-CN" altLang="en-US" dirty="0"/>
              <a:t>概念模型</a:t>
            </a:r>
            <a:endParaRPr lang="zh-CN" altLang="en-US" dirty="0"/>
          </a:p>
          <a:p>
            <a:pPr eaLnBrk="1" hangingPunct="1">
              <a:lnSpc>
                <a:spcPct val="130000"/>
              </a:lnSpc>
              <a:buNone/>
            </a:pPr>
            <a:r>
              <a:rPr lang="zh-CN" altLang="en-US" dirty="0"/>
              <a:t>  </a:t>
            </a:r>
            <a:r>
              <a:rPr lang="en-US" altLang="zh-CN" dirty="0"/>
              <a:t>1.2.3  </a:t>
            </a:r>
            <a:r>
              <a:rPr lang="zh-CN" altLang="en-US" dirty="0"/>
              <a:t>数据模型的三要素</a:t>
            </a:r>
            <a:endParaRPr lang="zh-CN" altLang="en-US" dirty="0"/>
          </a:p>
          <a:p>
            <a:pPr eaLnBrk="1" hangingPunct="1">
              <a:lnSpc>
                <a:spcPct val="130000"/>
              </a:lnSpc>
              <a:buNone/>
            </a:pPr>
            <a:r>
              <a:rPr lang="zh-CN" altLang="en-US" dirty="0"/>
              <a:t>  </a:t>
            </a:r>
            <a:r>
              <a:rPr lang="en-US" altLang="zh-CN" dirty="0"/>
              <a:t>1.2.4  </a:t>
            </a:r>
            <a:r>
              <a:rPr lang="zh-CN" altLang="en-US" dirty="0"/>
              <a:t>层次模型</a:t>
            </a:r>
            <a:endParaRPr lang="en-US" altLang="zh-CN" dirty="0"/>
          </a:p>
          <a:p>
            <a:pPr eaLnBrk="1" hangingPunct="1">
              <a:lnSpc>
                <a:spcPct val="130000"/>
              </a:lnSpc>
              <a:buNone/>
            </a:pPr>
            <a:r>
              <a:rPr lang="zh-CN" altLang="en-US" dirty="0">
                <a:solidFill>
                  <a:srgbClr val="00B050"/>
                </a:solidFill>
              </a:rPr>
              <a:t>  </a:t>
            </a:r>
            <a:r>
              <a:rPr lang="en-US" altLang="zh-CN" dirty="0">
                <a:solidFill>
                  <a:srgbClr val="00B050"/>
                </a:solidFill>
              </a:rPr>
              <a:t>1.2.5  </a:t>
            </a:r>
            <a:r>
              <a:rPr lang="zh-CN" altLang="en-US" dirty="0">
                <a:solidFill>
                  <a:srgbClr val="00B050"/>
                </a:solidFill>
              </a:rPr>
              <a:t>网状模型</a:t>
            </a:r>
            <a:endParaRPr lang="zh-CN" altLang="en-US" dirty="0">
              <a:solidFill>
                <a:srgbClr val="00B050"/>
              </a:solidFill>
            </a:endParaRPr>
          </a:p>
          <a:p>
            <a:pPr eaLnBrk="1" hangingPunct="1">
              <a:lnSpc>
                <a:spcPct val="130000"/>
              </a:lnSpc>
              <a:buNone/>
            </a:pPr>
            <a:r>
              <a:rPr lang="zh-CN" altLang="en-US" dirty="0"/>
              <a:t>  </a:t>
            </a:r>
            <a:r>
              <a:rPr lang="en-US" altLang="zh-CN" dirty="0"/>
              <a:t>1.2.6  </a:t>
            </a:r>
            <a:r>
              <a:rPr lang="zh-CN" altLang="en-US" dirty="0"/>
              <a:t>关系模型</a:t>
            </a:r>
            <a:endParaRPr lang="en-US" altLang="zh-CN" dirty="0"/>
          </a:p>
          <a:p>
            <a:pPr eaLnBrk="1" hangingPunct="1">
              <a:lnSpc>
                <a:spcPct val="130000"/>
              </a:lnSpc>
              <a:buNone/>
            </a:pPr>
            <a:r>
              <a:rPr lang="zh-CN" altLang="en-US" dirty="0"/>
              <a:t>  </a:t>
            </a:r>
            <a:r>
              <a:rPr lang="en-US" altLang="zh-CN" dirty="0"/>
              <a:t>1.2.7  </a:t>
            </a:r>
            <a:r>
              <a:rPr lang="zh-CN" altLang="en-US" dirty="0"/>
              <a:t>数据库领域中不断涌现的数据模型</a:t>
            </a:r>
            <a:endParaRPr lang="zh-CN" altLang="en-US" sz="24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7" name="Rectangle 2050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sz="3600" dirty="0"/>
              <a:t>1.2.5  </a:t>
            </a:r>
            <a:r>
              <a:rPr lang="zh-CN" altLang="en-US" sz="3600" dirty="0"/>
              <a:t>网状模型</a:t>
            </a:r>
            <a:endParaRPr lang="zh-CN" altLang="en-US" sz="3600" dirty="0"/>
          </a:p>
        </p:txBody>
      </p:sp>
      <p:sp>
        <p:nvSpPr>
          <p:cNvPr id="111618" name="Rectangle 2051"/>
          <p:cNvSpPr>
            <a:spLocks noGrp="1"/>
          </p:cNvSpPr>
          <p:nvPr>
            <p:ph idx="1"/>
          </p:nvPr>
        </p:nvSpPr>
        <p:spPr>
          <a:xfrm>
            <a:off x="1631504" y="1268414"/>
            <a:ext cx="8579296" cy="4695825"/>
          </a:xfrm>
        </p:spPr>
        <p:txBody>
          <a:bodyPr vert="horz" wrap="square" lIns="91440" tIns="45720" rIns="91440" bIns="45720" anchor="t" anchorCtr="0">
            <a:normAutofit lnSpcReduction="10000"/>
          </a:bodyPr>
          <a:lstStyle/>
          <a:p>
            <a:pPr eaLnBrk="1" hangingPunct="1"/>
            <a:r>
              <a:rPr lang="zh-CN" altLang="en-US" sz="2600" dirty="0"/>
              <a:t>网状数据库系统采用</a:t>
            </a:r>
            <a:r>
              <a:rPr lang="zh-CN" altLang="en-US" sz="2600" dirty="0">
                <a:solidFill>
                  <a:srgbClr val="FB33F1"/>
                </a:solidFill>
              </a:rPr>
              <a:t>网状模型</a:t>
            </a:r>
            <a:r>
              <a:rPr lang="zh-CN" altLang="en-US" sz="2600" dirty="0"/>
              <a:t>作为数据的组织方式 </a:t>
            </a:r>
            <a:endParaRPr lang="zh-CN" altLang="en-US" sz="2600" dirty="0"/>
          </a:p>
          <a:p>
            <a:pPr eaLnBrk="1" hangingPunct="1"/>
            <a:r>
              <a:rPr lang="zh-CN" altLang="en-US" sz="2600" dirty="0"/>
              <a:t>典型代表是</a:t>
            </a:r>
            <a:r>
              <a:rPr lang="en-US" altLang="zh-CN" sz="2600" dirty="0"/>
              <a:t>DBTG</a:t>
            </a:r>
            <a:r>
              <a:rPr lang="zh-CN" altLang="en-US" sz="2600" dirty="0"/>
              <a:t>系统：</a:t>
            </a:r>
            <a:endParaRPr lang="zh-CN" altLang="en-US" sz="2600" dirty="0"/>
          </a:p>
          <a:p>
            <a:pPr lvl="1" eaLnBrk="1" hangingPunct="1"/>
            <a:r>
              <a:rPr lang="zh-CN" altLang="en-US" dirty="0"/>
              <a:t>亦称</a:t>
            </a:r>
            <a:r>
              <a:rPr lang="en-US" altLang="zh-CN" dirty="0"/>
              <a:t>CODASYL</a:t>
            </a:r>
            <a:r>
              <a:rPr lang="zh-CN" altLang="en-US" dirty="0"/>
              <a:t>系统</a:t>
            </a:r>
            <a:endParaRPr lang="zh-CN" altLang="en-US" dirty="0"/>
          </a:p>
          <a:p>
            <a:pPr lvl="1" algn="just" eaLnBrk="1" hangingPunct="1">
              <a:lnSpc>
                <a:spcPct val="120000"/>
              </a:lnSpc>
            </a:pPr>
            <a:r>
              <a:rPr lang="en-US" altLang="zh-CN" dirty="0"/>
              <a:t>20</a:t>
            </a:r>
            <a:r>
              <a:rPr lang="zh-CN" altLang="en-US" dirty="0"/>
              <a:t>世纪</a:t>
            </a:r>
            <a:r>
              <a:rPr lang="en-US" altLang="zh-CN" dirty="0"/>
              <a:t>70</a:t>
            </a:r>
            <a:r>
              <a:rPr lang="zh-CN" altLang="en-US" dirty="0"/>
              <a:t>年代由</a:t>
            </a:r>
            <a:r>
              <a:rPr lang="en-US" altLang="zh-CN" dirty="0"/>
              <a:t>DBTG</a:t>
            </a:r>
            <a:r>
              <a:rPr lang="zh-CN" altLang="en-US" dirty="0"/>
              <a:t>提出的一个系统方案</a:t>
            </a:r>
            <a:endParaRPr lang="zh-CN" altLang="en-US" dirty="0"/>
          </a:p>
          <a:p>
            <a:pPr algn="just" eaLnBrk="1" hangingPunct="1"/>
            <a:r>
              <a:rPr lang="zh-CN" altLang="en-US" sz="2600" dirty="0"/>
              <a:t>实际系统</a:t>
            </a:r>
            <a:endParaRPr lang="zh-CN" altLang="en-US" sz="2600" dirty="0"/>
          </a:p>
          <a:p>
            <a:pPr lvl="1" algn="just" eaLnBrk="1" hangingPunct="1">
              <a:lnSpc>
                <a:spcPct val="120000"/>
              </a:lnSpc>
            </a:pPr>
            <a:r>
              <a:rPr lang="en-US" altLang="zh-CN" dirty="0"/>
              <a:t>Cullinet  Software</a:t>
            </a:r>
            <a:r>
              <a:rPr lang="zh-CN" altLang="en-US" dirty="0"/>
              <a:t>公司的 </a:t>
            </a:r>
            <a:r>
              <a:rPr lang="en-US" altLang="zh-CN" dirty="0"/>
              <a:t>IDMS</a:t>
            </a:r>
            <a:endParaRPr lang="en-US" altLang="zh-CN" dirty="0"/>
          </a:p>
          <a:p>
            <a:pPr lvl="1" algn="just" eaLnBrk="1" hangingPunct="1">
              <a:lnSpc>
                <a:spcPct val="120000"/>
              </a:lnSpc>
            </a:pPr>
            <a:r>
              <a:rPr lang="en-US" altLang="zh-CN" dirty="0"/>
              <a:t>Univac</a:t>
            </a:r>
            <a:r>
              <a:rPr lang="zh-CN" altLang="en-US" dirty="0"/>
              <a:t>公司的 </a:t>
            </a:r>
            <a:r>
              <a:rPr lang="en-US" altLang="zh-CN" dirty="0"/>
              <a:t>DMS1100</a:t>
            </a:r>
            <a:endParaRPr lang="en-US" altLang="zh-CN" dirty="0"/>
          </a:p>
          <a:p>
            <a:pPr lvl="1" algn="just" eaLnBrk="1" hangingPunct="1">
              <a:lnSpc>
                <a:spcPct val="120000"/>
              </a:lnSpc>
            </a:pPr>
            <a:r>
              <a:rPr lang="en-US" altLang="zh-CN" dirty="0"/>
              <a:t>Honeywell</a:t>
            </a:r>
            <a:r>
              <a:rPr lang="zh-CN" altLang="en-US" dirty="0"/>
              <a:t>公司的</a:t>
            </a:r>
            <a:r>
              <a:rPr lang="en-US" altLang="zh-CN" dirty="0"/>
              <a:t>IDS/2</a:t>
            </a:r>
            <a:endParaRPr lang="en-US" altLang="zh-CN" dirty="0"/>
          </a:p>
          <a:p>
            <a:pPr lvl="1" algn="just" eaLnBrk="1" hangingPunct="1">
              <a:lnSpc>
                <a:spcPct val="120000"/>
              </a:lnSpc>
            </a:pPr>
            <a:r>
              <a:rPr lang="en-US" altLang="zh-CN" dirty="0"/>
              <a:t>HP</a:t>
            </a:r>
            <a:r>
              <a:rPr lang="zh-CN" altLang="en-US" dirty="0"/>
              <a:t>公司的</a:t>
            </a:r>
            <a:r>
              <a:rPr lang="en-US" altLang="zh-CN" dirty="0"/>
              <a:t>IMAGE</a:t>
            </a:r>
            <a:endParaRPr lang="en-US" altLang="zh-CN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1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sz="3600" dirty="0"/>
              <a:t>1.  </a:t>
            </a:r>
            <a:r>
              <a:rPr lang="zh-CN" altLang="en-US" sz="3600" dirty="0"/>
              <a:t>网状模型的数据结构</a:t>
            </a:r>
            <a:endParaRPr lang="zh-CN" altLang="en-US" sz="3600" dirty="0"/>
          </a:p>
        </p:txBody>
      </p:sp>
      <p:sp>
        <p:nvSpPr>
          <p:cNvPr id="112642" name="Rectangle 3"/>
          <p:cNvSpPr>
            <a:spLocks noGrp="1"/>
          </p:cNvSpPr>
          <p:nvPr>
            <p:ph idx="1"/>
          </p:nvPr>
        </p:nvSpPr>
        <p:spPr>
          <a:xfrm>
            <a:off x="2286000" y="1341438"/>
            <a:ext cx="7543800" cy="4781550"/>
          </a:xfrm>
        </p:spPr>
        <p:txBody>
          <a:bodyPr vert="horz" wrap="square" lIns="91440" tIns="45720" rIns="91440" bIns="45720" anchor="t" anchorCtr="0"/>
          <a:lstStyle/>
          <a:p>
            <a:pPr eaLnBrk="1" hangingPunct="1"/>
            <a:r>
              <a:rPr lang="zh-CN" altLang="en-US" dirty="0"/>
              <a:t>网状模型</a:t>
            </a:r>
            <a:endParaRPr lang="zh-CN" altLang="en-US" dirty="0"/>
          </a:p>
          <a:p>
            <a:pPr lvl="1" algn="just" eaLnBrk="1" hangingPunct="1">
              <a:lnSpc>
                <a:spcPct val="130000"/>
              </a:lnSpc>
              <a:buNone/>
            </a:pPr>
            <a:r>
              <a:rPr lang="zh-CN" altLang="en-US" sz="2800" dirty="0"/>
              <a:t>满足下面两个条件的基本层次联系集合：</a:t>
            </a:r>
            <a:endParaRPr lang="zh-CN" altLang="en-US" sz="2800" dirty="0"/>
          </a:p>
          <a:p>
            <a:pPr lvl="1" algn="just" eaLnBrk="1" hangingPunct="1">
              <a:lnSpc>
                <a:spcPct val="130000"/>
              </a:lnSpc>
              <a:buNone/>
            </a:pPr>
            <a:r>
              <a:rPr lang="en-US" altLang="zh-CN" sz="2800" dirty="0"/>
              <a:t>1. </a:t>
            </a:r>
            <a:r>
              <a:rPr lang="zh-CN" altLang="en-US" sz="2800" dirty="0"/>
              <a:t>允许一个以上的结点无双亲</a:t>
            </a:r>
            <a:endParaRPr lang="zh-CN" altLang="en-US" sz="2800" dirty="0"/>
          </a:p>
          <a:p>
            <a:pPr lvl="1" algn="just" eaLnBrk="1" hangingPunct="1">
              <a:lnSpc>
                <a:spcPct val="130000"/>
              </a:lnSpc>
              <a:buNone/>
            </a:pPr>
            <a:r>
              <a:rPr lang="en-US" altLang="zh-CN" sz="2800" dirty="0"/>
              <a:t>2. </a:t>
            </a:r>
            <a:r>
              <a:rPr lang="zh-CN" altLang="en-US" sz="2800" dirty="0"/>
              <a:t>一个结点可以有多于一个的双亲</a:t>
            </a:r>
            <a:endParaRPr lang="zh-CN" altLang="en-US" sz="2800" dirty="0"/>
          </a:p>
          <a:p>
            <a:pPr lvl="1" eaLnBrk="1" hangingPunct="1"/>
            <a:endParaRPr lang="en-US" altLang="zh-CN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5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网状模型的数据结构（续）</a:t>
            </a:r>
            <a:endParaRPr lang="zh-CN" altLang="en-US" sz="3600" dirty="0"/>
          </a:p>
        </p:txBody>
      </p:sp>
      <p:sp>
        <p:nvSpPr>
          <p:cNvPr id="113666" name="Rectangle 3"/>
          <p:cNvSpPr>
            <a:spLocks noGrp="1"/>
          </p:cNvSpPr>
          <p:nvPr>
            <p:ph idx="1"/>
          </p:nvPr>
        </p:nvSpPr>
        <p:spPr>
          <a:xfrm>
            <a:off x="1559496" y="1098551"/>
            <a:ext cx="8651304" cy="5095875"/>
          </a:xfrm>
        </p:spPr>
        <p:txBody>
          <a:bodyPr vert="horz" wrap="square" lIns="91440" tIns="45720" rIns="91440" bIns="45720" anchor="t" anchorCtr="0"/>
          <a:lstStyle/>
          <a:p>
            <a:pPr algn="just" eaLnBrk="1" hangingPunct="1">
              <a:lnSpc>
                <a:spcPct val="160000"/>
              </a:lnSpc>
            </a:pPr>
            <a:r>
              <a:rPr lang="zh-CN" altLang="en-US" dirty="0"/>
              <a:t>表示方法（与层次数据模型相同）</a:t>
            </a:r>
            <a:endParaRPr lang="en-US" altLang="zh-CN" dirty="0"/>
          </a:p>
          <a:p>
            <a:pPr lvl="1" algn="just" eaLnBrk="1" hangingPunct="1">
              <a:lnSpc>
                <a:spcPct val="150000"/>
              </a:lnSpc>
              <a:buNone/>
            </a:pPr>
            <a:r>
              <a:rPr lang="zh-CN" altLang="en-US" dirty="0">
                <a:solidFill>
                  <a:schemeClr val="hlink"/>
                </a:solidFill>
              </a:rPr>
              <a:t>实体型</a:t>
            </a:r>
            <a:r>
              <a:rPr lang="zh-CN" altLang="en-US" dirty="0"/>
              <a:t>：用记录类型描述</a:t>
            </a:r>
            <a:endParaRPr lang="zh-CN" altLang="en-US" dirty="0"/>
          </a:p>
          <a:p>
            <a:pPr lvl="1" algn="just" eaLnBrk="1" hangingPunct="1">
              <a:lnSpc>
                <a:spcPct val="150000"/>
              </a:lnSpc>
              <a:buNone/>
            </a:pPr>
            <a:r>
              <a:rPr lang="zh-CN" altLang="en-US" dirty="0"/>
              <a:t>               每个结点表示一个记录类型（实体）</a:t>
            </a:r>
            <a:endParaRPr lang="zh-CN" altLang="en-US" dirty="0"/>
          </a:p>
          <a:p>
            <a:pPr lvl="1" algn="just" eaLnBrk="1" hangingPunct="1">
              <a:lnSpc>
                <a:spcPct val="150000"/>
              </a:lnSpc>
              <a:buNone/>
            </a:pPr>
            <a:r>
              <a:rPr lang="zh-CN" altLang="en-US" dirty="0">
                <a:solidFill>
                  <a:schemeClr val="hlink"/>
                </a:solidFill>
              </a:rPr>
              <a:t>属性</a:t>
            </a:r>
            <a:r>
              <a:rPr lang="zh-CN" altLang="en-US" dirty="0"/>
              <a:t>：用字段描述</a:t>
            </a:r>
            <a:endParaRPr lang="zh-CN" altLang="en-US" dirty="0"/>
          </a:p>
          <a:p>
            <a:pPr lvl="1" algn="just" eaLnBrk="1" hangingPunct="1">
              <a:lnSpc>
                <a:spcPct val="150000"/>
              </a:lnSpc>
              <a:buNone/>
            </a:pPr>
            <a:r>
              <a:rPr lang="zh-CN" altLang="en-US" dirty="0"/>
              <a:t>            每个记录类型可包含若干个字段</a:t>
            </a:r>
            <a:endParaRPr lang="zh-CN" altLang="en-US" dirty="0"/>
          </a:p>
          <a:p>
            <a:pPr lvl="1" algn="just" eaLnBrk="1" hangingPunct="1">
              <a:lnSpc>
                <a:spcPct val="150000"/>
              </a:lnSpc>
              <a:buNone/>
            </a:pPr>
            <a:r>
              <a:rPr lang="zh-CN" altLang="en-US" dirty="0">
                <a:solidFill>
                  <a:schemeClr val="hlink"/>
                </a:solidFill>
              </a:rPr>
              <a:t>联系</a:t>
            </a:r>
            <a:r>
              <a:rPr lang="zh-CN" altLang="en-US" dirty="0"/>
              <a:t>：用结点之间的连线表示记录类型（实体）之</a:t>
            </a:r>
            <a:endParaRPr lang="zh-CN" altLang="en-US" dirty="0"/>
          </a:p>
          <a:p>
            <a:pPr lvl="1" algn="just" eaLnBrk="1" hangingPunct="1">
              <a:lnSpc>
                <a:spcPct val="150000"/>
              </a:lnSpc>
              <a:buNone/>
            </a:pPr>
            <a:r>
              <a:rPr lang="zh-CN" altLang="en-US" dirty="0"/>
              <a:t>            间的</a:t>
            </a:r>
            <a:r>
              <a:rPr lang="zh-CN" altLang="en-US" dirty="0">
                <a:solidFill>
                  <a:srgbClr val="5F9F25"/>
                </a:solidFill>
              </a:rPr>
              <a:t>一对多的父子联系</a:t>
            </a:r>
            <a:endParaRPr lang="zh-CN" altLang="en-US" dirty="0">
              <a:solidFill>
                <a:srgbClr val="5F9F25"/>
              </a:solidFill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5" name="Rectangle 1026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>
            <a:normAutofit/>
          </a:bodyPr>
          <a:lstStyle/>
          <a:p>
            <a:pPr eaLnBrk="1" hangingPunct="1"/>
            <a:r>
              <a:rPr lang="en-US" altLang="zh-CN" sz="3600" dirty="0"/>
              <a:t>2. </a:t>
            </a:r>
            <a:r>
              <a:rPr lang="zh-CN" altLang="en-US" sz="3600" dirty="0"/>
              <a:t>网状模型的数据操纵与完整性约束</a:t>
            </a:r>
            <a:endParaRPr lang="zh-CN" altLang="en-US" sz="3600" dirty="0"/>
          </a:p>
        </p:txBody>
      </p:sp>
      <p:sp>
        <p:nvSpPr>
          <p:cNvPr id="118786" name="Rectangle 1027"/>
          <p:cNvSpPr>
            <a:spLocks noGrp="1"/>
          </p:cNvSpPr>
          <p:nvPr>
            <p:ph idx="1"/>
          </p:nvPr>
        </p:nvSpPr>
        <p:spPr>
          <a:xfrm>
            <a:off x="1127448" y="1268413"/>
            <a:ext cx="10441160" cy="4546600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140000"/>
              </a:lnSpc>
            </a:pPr>
            <a:r>
              <a:rPr lang="zh-CN" altLang="en-US" dirty="0"/>
              <a:t>网状数据库系统（如</a:t>
            </a:r>
            <a:r>
              <a:rPr lang="en-US" altLang="zh-CN" dirty="0"/>
              <a:t>DBTG</a:t>
            </a:r>
            <a:r>
              <a:rPr lang="zh-CN" altLang="en-US" dirty="0"/>
              <a:t>）对数据操纵加限制，提供了一定的完整性约束</a:t>
            </a:r>
            <a:endParaRPr lang="zh-CN" altLang="en-US" dirty="0"/>
          </a:p>
          <a:p>
            <a:pPr marL="819150" lvl="1" eaLnBrk="1" hangingPunct="1">
              <a:lnSpc>
                <a:spcPct val="140000"/>
              </a:lnSpc>
            </a:pPr>
            <a:r>
              <a:rPr lang="zh-CN" altLang="en-US" dirty="0"/>
              <a:t>码：唯一标识记录的数据项的集合 </a:t>
            </a:r>
            <a:endParaRPr lang="zh-CN" altLang="en-US" dirty="0"/>
          </a:p>
          <a:p>
            <a:pPr marL="819150" lvl="1" eaLnBrk="1" hangingPunct="1">
              <a:lnSpc>
                <a:spcPct val="140000"/>
              </a:lnSpc>
            </a:pPr>
            <a:r>
              <a:rPr lang="zh-CN" altLang="en-US" dirty="0"/>
              <a:t>一个联系中双亲记录与子女记录之间是一对多联系</a:t>
            </a:r>
            <a:endParaRPr lang="zh-CN" altLang="en-US" dirty="0"/>
          </a:p>
          <a:p>
            <a:pPr marL="819150" lvl="1" eaLnBrk="1" hangingPunct="1">
              <a:lnSpc>
                <a:spcPct val="140000"/>
              </a:lnSpc>
            </a:pPr>
            <a:r>
              <a:rPr lang="zh-CN" altLang="en-US" dirty="0"/>
              <a:t>支持双亲记录和子女记录之间某些约束条件 </a:t>
            </a:r>
            <a:endParaRPr lang="zh-CN" altLang="en-US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09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sz="3600" dirty="0"/>
              <a:t>3. </a:t>
            </a:r>
            <a:r>
              <a:rPr lang="zh-CN" altLang="en-US" sz="3600" dirty="0"/>
              <a:t>网状模型的优缺点</a:t>
            </a:r>
            <a:endParaRPr lang="zh-CN" altLang="en-US" sz="3600" dirty="0"/>
          </a:p>
        </p:txBody>
      </p:sp>
      <p:sp>
        <p:nvSpPr>
          <p:cNvPr id="119810" name="Rectangle 3"/>
          <p:cNvSpPr>
            <a:spLocks noGrp="1"/>
          </p:cNvSpPr>
          <p:nvPr>
            <p:ph idx="1"/>
          </p:nvPr>
        </p:nvSpPr>
        <p:spPr>
          <a:xfrm>
            <a:off x="1271464" y="1125539"/>
            <a:ext cx="10081120" cy="5254625"/>
          </a:xfrm>
        </p:spPr>
        <p:txBody>
          <a:bodyPr vert="horz" wrap="square" lIns="91440" tIns="45720" rIns="91440" bIns="45720" anchor="t" anchorCtr="0"/>
          <a:lstStyle/>
          <a:p>
            <a:pPr algn="just" eaLnBrk="1" hangingPunct="1">
              <a:lnSpc>
                <a:spcPct val="90000"/>
              </a:lnSpc>
              <a:spcBef>
                <a:spcPct val="0"/>
              </a:spcBef>
            </a:pPr>
            <a:r>
              <a:rPr lang="zh-CN" altLang="en-US" dirty="0"/>
              <a:t>优点</a:t>
            </a:r>
            <a:endParaRPr lang="zh-CN" altLang="en-US" dirty="0"/>
          </a:p>
          <a:p>
            <a:pPr lvl="1" algn="just" eaLnBrk="1" hangingPunct="1">
              <a:lnSpc>
                <a:spcPct val="120000"/>
              </a:lnSpc>
              <a:spcBef>
                <a:spcPct val="0"/>
              </a:spcBef>
            </a:pPr>
            <a:r>
              <a:rPr lang="zh-CN" altLang="en-US" dirty="0"/>
              <a:t>能够更直接地描述现实世界，如一个结点可以有多个双亲</a:t>
            </a:r>
            <a:r>
              <a:rPr lang="zh-CN" altLang="zh-CN" dirty="0"/>
              <a:t>，结点之间可以有多种联系</a:t>
            </a:r>
            <a:endParaRPr lang="zh-CN" altLang="en-US" dirty="0"/>
          </a:p>
          <a:p>
            <a:pPr lvl="1" algn="just" eaLnBrk="1" hangingPunct="1">
              <a:lnSpc>
                <a:spcPct val="120000"/>
              </a:lnSpc>
              <a:spcBef>
                <a:spcPct val="0"/>
              </a:spcBef>
            </a:pPr>
            <a:r>
              <a:rPr lang="zh-CN" altLang="en-US" dirty="0"/>
              <a:t>具有良好的性能，存取效率较高</a:t>
            </a:r>
            <a:endParaRPr lang="zh-CN" altLang="en-US" dirty="0"/>
          </a:p>
          <a:p>
            <a:pPr eaLnBrk="1" hangingPunct="1">
              <a:lnSpc>
                <a:spcPct val="90000"/>
              </a:lnSpc>
              <a:spcBef>
                <a:spcPct val="0"/>
              </a:spcBef>
            </a:pPr>
            <a:r>
              <a:rPr lang="zh-CN" altLang="en-US" dirty="0"/>
              <a:t>缺点</a:t>
            </a:r>
            <a:endParaRPr lang="zh-CN" altLang="en-US" dirty="0"/>
          </a:p>
          <a:p>
            <a:pPr lvl="1" eaLnBrk="1" hangingPunct="1">
              <a:lnSpc>
                <a:spcPct val="140000"/>
              </a:lnSpc>
              <a:spcBef>
                <a:spcPct val="0"/>
              </a:spcBef>
            </a:pPr>
            <a:r>
              <a:rPr lang="zh-CN" altLang="en-US" dirty="0">
                <a:solidFill>
                  <a:srgbClr val="C00000"/>
                </a:solidFill>
              </a:rPr>
              <a:t>结构比较复杂</a:t>
            </a:r>
            <a:r>
              <a:rPr lang="zh-CN" altLang="en-US" dirty="0"/>
              <a:t>，随着应用环境的扩大，数据库结构就变得越来越复杂，不利于最终用户掌握</a:t>
            </a:r>
            <a:endParaRPr lang="zh-CN" altLang="en-US" dirty="0"/>
          </a:p>
          <a:p>
            <a:pPr lvl="1" eaLnBrk="1" hangingPunct="1">
              <a:lnSpc>
                <a:spcPct val="140000"/>
              </a:lnSpc>
              <a:spcBef>
                <a:spcPct val="0"/>
              </a:spcBef>
            </a:pPr>
            <a:r>
              <a:rPr lang="en-US" altLang="zh-CN" dirty="0"/>
              <a:t>DDL</a:t>
            </a:r>
            <a:r>
              <a:rPr lang="zh-CN" altLang="en-US" dirty="0"/>
              <a:t>、</a:t>
            </a:r>
            <a:r>
              <a:rPr lang="en-US" altLang="zh-CN" dirty="0"/>
              <a:t>DML</a:t>
            </a:r>
            <a:r>
              <a:rPr lang="zh-CN" altLang="en-US" dirty="0"/>
              <a:t>语言复杂，</a:t>
            </a:r>
            <a:r>
              <a:rPr lang="zh-CN" altLang="zh-CN" dirty="0"/>
              <a:t>要嵌入某一种高级语言</a:t>
            </a:r>
            <a:r>
              <a:rPr lang="zh-CN" altLang="en-US" dirty="0"/>
              <a:t>中，用户不容易使用</a:t>
            </a:r>
            <a:endParaRPr lang="en-US" altLang="zh-CN" dirty="0"/>
          </a:p>
          <a:p>
            <a:pPr lvl="1" eaLnBrk="1" hangingPunct="1">
              <a:lnSpc>
                <a:spcPct val="140000"/>
              </a:lnSpc>
              <a:spcBef>
                <a:spcPct val="0"/>
              </a:spcBef>
            </a:pPr>
            <a:r>
              <a:rPr lang="zh-CN" altLang="en-US" dirty="0"/>
              <a:t>记录之间联系是通过存取路径实现，</a:t>
            </a:r>
            <a:r>
              <a:rPr lang="zh-CN" altLang="en-US" dirty="0">
                <a:solidFill>
                  <a:srgbClr val="C00000"/>
                </a:solidFill>
              </a:rPr>
              <a:t>用户必须了解系统结构的细节</a:t>
            </a:r>
            <a:endParaRPr lang="zh-CN" altLang="en-US" sz="2800" dirty="0"/>
          </a:p>
          <a:p>
            <a:pPr eaLnBrk="1" hangingPunct="1">
              <a:lnSpc>
                <a:spcPct val="90000"/>
              </a:lnSpc>
            </a:pPr>
            <a:endParaRPr lang="en-US" altLang="zh-CN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3" name="Rectangle 2050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sz="3600" dirty="0"/>
              <a:t> 1.2  </a:t>
            </a:r>
            <a:r>
              <a:rPr lang="zh-CN" altLang="en-US" sz="3600" dirty="0"/>
              <a:t>数据模型</a:t>
            </a:r>
            <a:endParaRPr lang="zh-CN" altLang="en-US" sz="3600" dirty="0"/>
          </a:p>
        </p:txBody>
      </p:sp>
      <p:sp>
        <p:nvSpPr>
          <p:cNvPr id="120834" name="Rectangle 2051"/>
          <p:cNvSpPr>
            <a:spLocks noGrp="1"/>
          </p:cNvSpPr>
          <p:nvPr>
            <p:ph idx="1"/>
          </p:nvPr>
        </p:nvSpPr>
        <p:spPr>
          <a:xfrm>
            <a:off x="2279576" y="1098550"/>
            <a:ext cx="7704213" cy="4922838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130000"/>
              </a:lnSpc>
              <a:buNone/>
            </a:pPr>
            <a:r>
              <a:rPr lang="zh-CN" altLang="en-US" dirty="0"/>
              <a:t>  </a:t>
            </a:r>
            <a:r>
              <a:rPr lang="en-US" altLang="zh-CN" dirty="0"/>
              <a:t>1.2.1  </a:t>
            </a:r>
            <a:r>
              <a:rPr lang="zh-CN" altLang="en-US" dirty="0"/>
              <a:t>数据建模</a:t>
            </a:r>
            <a:endParaRPr lang="zh-CN" altLang="en-US" dirty="0"/>
          </a:p>
          <a:p>
            <a:pPr eaLnBrk="1" hangingPunct="1">
              <a:lnSpc>
                <a:spcPct val="130000"/>
              </a:lnSpc>
              <a:buNone/>
            </a:pPr>
            <a:r>
              <a:rPr lang="zh-CN" altLang="en-US" dirty="0"/>
              <a:t>  </a:t>
            </a:r>
            <a:r>
              <a:rPr lang="en-US" altLang="zh-CN" dirty="0"/>
              <a:t>1.2.2  </a:t>
            </a:r>
            <a:r>
              <a:rPr lang="zh-CN" altLang="en-US" dirty="0"/>
              <a:t>概念模型</a:t>
            </a:r>
            <a:endParaRPr lang="zh-CN" altLang="en-US" dirty="0"/>
          </a:p>
          <a:p>
            <a:pPr eaLnBrk="1" hangingPunct="1">
              <a:lnSpc>
                <a:spcPct val="130000"/>
              </a:lnSpc>
              <a:buNone/>
            </a:pPr>
            <a:r>
              <a:rPr lang="zh-CN" altLang="en-US" dirty="0"/>
              <a:t>  </a:t>
            </a:r>
            <a:r>
              <a:rPr lang="en-US" altLang="zh-CN" dirty="0"/>
              <a:t>1.2.3  </a:t>
            </a:r>
            <a:r>
              <a:rPr lang="zh-CN" altLang="en-US" dirty="0"/>
              <a:t>数据模型的三要素</a:t>
            </a:r>
            <a:endParaRPr lang="zh-CN" altLang="en-US" dirty="0"/>
          </a:p>
          <a:p>
            <a:pPr eaLnBrk="1" hangingPunct="1">
              <a:lnSpc>
                <a:spcPct val="130000"/>
              </a:lnSpc>
              <a:buNone/>
            </a:pPr>
            <a:r>
              <a:rPr lang="zh-CN" altLang="en-US" dirty="0"/>
              <a:t>  </a:t>
            </a:r>
            <a:r>
              <a:rPr lang="en-US" altLang="zh-CN" dirty="0"/>
              <a:t>1.2.4  </a:t>
            </a:r>
            <a:r>
              <a:rPr lang="zh-CN" altLang="en-US" dirty="0"/>
              <a:t>层次模型</a:t>
            </a:r>
            <a:endParaRPr lang="en-US" altLang="zh-CN" dirty="0"/>
          </a:p>
          <a:p>
            <a:pPr eaLnBrk="1" hangingPunct="1">
              <a:lnSpc>
                <a:spcPct val="130000"/>
              </a:lnSpc>
              <a:buNone/>
            </a:pPr>
            <a:r>
              <a:rPr lang="zh-CN" altLang="en-US" dirty="0"/>
              <a:t>  </a:t>
            </a:r>
            <a:r>
              <a:rPr lang="en-US" altLang="zh-CN" dirty="0"/>
              <a:t>1.2.5  </a:t>
            </a:r>
            <a:r>
              <a:rPr lang="zh-CN" altLang="en-US" dirty="0"/>
              <a:t>网状模型</a:t>
            </a:r>
            <a:endParaRPr lang="zh-CN" altLang="en-US" dirty="0"/>
          </a:p>
          <a:p>
            <a:pPr eaLnBrk="1" hangingPunct="1">
              <a:lnSpc>
                <a:spcPct val="130000"/>
              </a:lnSpc>
              <a:buNone/>
            </a:pPr>
            <a:r>
              <a:rPr lang="zh-CN" altLang="en-US" dirty="0">
                <a:solidFill>
                  <a:srgbClr val="00B050"/>
                </a:solidFill>
              </a:rPr>
              <a:t>  </a:t>
            </a:r>
            <a:r>
              <a:rPr lang="en-US" altLang="zh-CN" dirty="0">
                <a:solidFill>
                  <a:srgbClr val="00B050"/>
                </a:solidFill>
              </a:rPr>
              <a:t>1.2.6  </a:t>
            </a:r>
            <a:r>
              <a:rPr lang="zh-CN" altLang="en-US" dirty="0">
                <a:solidFill>
                  <a:srgbClr val="00B050"/>
                </a:solidFill>
              </a:rPr>
              <a:t>关系模型</a:t>
            </a:r>
            <a:endParaRPr lang="en-US" altLang="zh-CN" dirty="0">
              <a:solidFill>
                <a:srgbClr val="00B050"/>
              </a:solidFill>
            </a:endParaRPr>
          </a:p>
          <a:p>
            <a:pPr eaLnBrk="1" hangingPunct="1">
              <a:lnSpc>
                <a:spcPct val="130000"/>
              </a:lnSpc>
              <a:buNone/>
            </a:pPr>
            <a:r>
              <a:rPr lang="zh-CN" altLang="en-US" dirty="0"/>
              <a:t>  </a:t>
            </a:r>
            <a:r>
              <a:rPr lang="en-US" altLang="zh-CN" dirty="0"/>
              <a:t>1.2.7  </a:t>
            </a:r>
            <a:r>
              <a:rPr lang="zh-CN" altLang="en-US" dirty="0"/>
              <a:t>数据库领域中不断涌现的数据模型</a:t>
            </a:r>
            <a:endParaRPr lang="zh-CN" altLang="en-US" sz="24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7" name="Rectangle 1026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sz="3600" dirty="0"/>
              <a:t>1.2.6 </a:t>
            </a:r>
            <a:r>
              <a:rPr lang="zh-CN" altLang="en-US" sz="3600" dirty="0"/>
              <a:t>关系模型</a:t>
            </a:r>
            <a:endParaRPr lang="zh-CN" altLang="en-US" sz="3600" dirty="0"/>
          </a:p>
        </p:txBody>
      </p:sp>
      <p:sp>
        <p:nvSpPr>
          <p:cNvPr id="121858" name="Rectangle 1027"/>
          <p:cNvSpPr>
            <a:spLocks noGrp="1"/>
          </p:cNvSpPr>
          <p:nvPr>
            <p:ph idx="1"/>
          </p:nvPr>
        </p:nvSpPr>
        <p:spPr>
          <a:xfrm>
            <a:off x="1415480" y="1098551"/>
            <a:ext cx="9505055" cy="5095875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180000"/>
              </a:lnSpc>
            </a:pPr>
            <a:r>
              <a:rPr lang="zh-CN" altLang="en-US" dirty="0"/>
              <a:t>关系数据库系统采用关系模型作为数据的组织方式 </a:t>
            </a:r>
            <a:endParaRPr lang="zh-CN" altLang="en-US" dirty="0"/>
          </a:p>
          <a:p>
            <a:pPr eaLnBrk="1" hangingPunct="1">
              <a:lnSpc>
                <a:spcPct val="180000"/>
              </a:lnSpc>
            </a:pPr>
            <a:r>
              <a:rPr lang="en-US" altLang="zh-CN" dirty="0"/>
              <a:t>1970</a:t>
            </a:r>
            <a:r>
              <a:rPr lang="zh-CN" altLang="en-US" dirty="0"/>
              <a:t>年美国</a:t>
            </a:r>
            <a:r>
              <a:rPr lang="en-US" altLang="zh-CN" dirty="0"/>
              <a:t>IBM</a:t>
            </a:r>
            <a:r>
              <a:rPr lang="zh-CN" altLang="en-US" dirty="0"/>
              <a:t>公司</a:t>
            </a:r>
            <a:r>
              <a:rPr lang="en-US" altLang="zh-CN" dirty="0"/>
              <a:t>San Jose</a:t>
            </a:r>
            <a:r>
              <a:rPr lang="zh-CN" altLang="en-US" dirty="0"/>
              <a:t>研究室的研究员</a:t>
            </a:r>
            <a:r>
              <a:rPr lang="en-US" altLang="zh-CN" dirty="0"/>
              <a:t>E.F.Codd</a:t>
            </a:r>
            <a:r>
              <a:rPr lang="zh-CN" altLang="en-US" dirty="0"/>
              <a:t>首次提出了数据库系统的关系模型 </a:t>
            </a:r>
            <a:endParaRPr lang="zh-CN" altLang="en-US" dirty="0"/>
          </a:p>
          <a:p>
            <a:pPr eaLnBrk="1" hangingPunct="1">
              <a:lnSpc>
                <a:spcPct val="180000"/>
              </a:lnSpc>
            </a:pPr>
            <a:r>
              <a:rPr lang="en-US" altLang="zh-CN" dirty="0"/>
              <a:t>1980</a:t>
            </a:r>
            <a:r>
              <a:rPr lang="zh-CN" altLang="zh-CN" dirty="0"/>
              <a:t>年代以来，</a:t>
            </a:r>
            <a:r>
              <a:rPr lang="zh-CN" altLang="en-US" dirty="0"/>
              <a:t>计算机厂商新推出的数据库管理系统几乎都支持关系模型 </a:t>
            </a:r>
            <a:endParaRPr lang="zh-CN" altLang="en-US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881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19400" y="2878138"/>
            <a:ext cx="6553200" cy="30353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22882" name="Rectangle 1026"/>
          <p:cNvSpPr>
            <a:spLocks noGrp="1"/>
          </p:cNvSpPr>
          <p:nvPr>
            <p:ph type="title"/>
          </p:nvPr>
        </p:nvSpPr>
        <p:spPr>
          <a:xfrm>
            <a:off x="2438400" y="188913"/>
            <a:ext cx="7391400" cy="563562"/>
          </a:xfrm>
        </p:spPr>
        <p:txBody>
          <a:bodyPr vert="horz" wrap="square" lIns="91440" tIns="45720" rIns="91440" bIns="45720" anchor="ctr" anchorCtr="0">
            <a:normAutofit fontScale="90000"/>
          </a:bodyPr>
          <a:lstStyle/>
          <a:p>
            <a:pPr algn="ctr"/>
            <a:r>
              <a:rPr lang="en-US" altLang="zh-CN" sz="3600" b="1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1.  </a:t>
            </a:r>
            <a:r>
              <a:rPr lang="zh-CN" altLang="en-US" sz="3600" b="1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关系模型的数据结构 </a:t>
            </a:r>
            <a:endParaRPr lang="zh-CN" altLang="en-US" sz="3600" b="1" dirty="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2883" name="Rectangle 1027"/>
          <p:cNvSpPr>
            <a:spLocks noGrp="1"/>
          </p:cNvSpPr>
          <p:nvPr>
            <p:ph type="body" sz="half" idx="1"/>
          </p:nvPr>
        </p:nvSpPr>
        <p:spPr>
          <a:xfrm>
            <a:off x="1199456" y="861220"/>
            <a:ext cx="10081120" cy="1752599"/>
          </a:xfrm>
        </p:spPr>
        <p:txBody>
          <a:bodyPr vert="horz" wrap="square" lIns="91440" tIns="45720" rIns="91440" bIns="45720" anchor="t" anchorCtr="0">
            <a:noAutofit/>
          </a:bodyPr>
          <a:lstStyle/>
          <a:p>
            <a:pPr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n"/>
            </a:pP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从用户观点看，</a:t>
            </a:r>
            <a:r>
              <a:rPr lang="zh-CN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关系模型由一组关系组成</a:t>
            </a:r>
            <a:endParaRPr lang="en-US" altLang="zh-CN" sz="2400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n"/>
            </a:pPr>
            <a:r>
              <a:rPr lang="zh-CN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每个关系的数据结构是一张</a:t>
            </a:r>
            <a:r>
              <a:rPr lang="zh-CN" altLang="zh-CN" sz="24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规范化</a:t>
            </a:r>
            <a:r>
              <a:rPr lang="zh-CN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的二维表</a:t>
            </a:r>
            <a:endParaRPr lang="zh-CN" altLang="en-US" sz="24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2884" name="Text Box 1224"/>
          <p:cNvSpPr txBox="1"/>
          <p:nvPr/>
        </p:nvSpPr>
        <p:spPr>
          <a:xfrm>
            <a:off x="1743073" y="2225675"/>
            <a:ext cx="1731963" cy="461963"/>
          </a:xfrm>
          <a:prstGeom prst="rect">
            <a:avLst/>
          </a:prstGeom>
          <a:noFill/>
          <a:ln w="25400">
            <a:noFill/>
          </a:ln>
        </p:spPr>
        <p:txBody>
          <a:bodyPr wrap="none" anchor="t" anchorCtr="0">
            <a:spAutoFit/>
          </a:bodyPr>
          <a:lstStyle/>
          <a:p>
            <a:pPr marL="342900" indent="-342900">
              <a:buFont typeface="Arial" panose="020B0604020202020204" pitchFamily="34" charset="0"/>
            </a:pPr>
            <a:r>
              <a:rPr lang="zh-CN" altLang="en-US" sz="2400" b="1" dirty="0"/>
              <a:t>学生登记表</a:t>
            </a:r>
            <a:endParaRPr lang="zh-CN" altLang="en-US" sz="2400" b="1" dirty="0"/>
          </a:p>
        </p:txBody>
      </p:sp>
      <p:sp>
        <p:nvSpPr>
          <p:cNvPr id="122885" name="AutoShape 1285"/>
          <p:cNvSpPr/>
          <p:nvPr/>
        </p:nvSpPr>
        <p:spPr>
          <a:xfrm>
            <a:off x="4440238" y="2225676"/>
            <a:ext cx="914400" cy="461963"/>
          </a:xfrm>
          <a:prstGeom prst="wedgeRectCallout">
            <a:avLst>
              <a:gd name="adj1" fmla="val -148611"/>
              <a:gd name="adj2" fmla="val 126301"/>
            </a:avLst>
          </a:prstGeom>
          <a:gradFill rotWithShape="0">
            <a:gsLst>
              <a:gs pos="0">
                <a:srgbClr val="FFFFFF"/>
              </a:gs>
              <a:gs pos="100000">
                <a:srgbClr val="BBBBBB"/>
              </a:gs>
            </a:gsLst>
            <a:lin ang="5400000" scaled="1"/>
            <a:tileRect/>
          </a:gradFill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lstStyle/>
          <a:p>
            <a:pPr marL="342900" indent="-342900">
              <a:buFont typeface="Arial" panose="020B0604020202020204" pitchFamily="34" charset="0"/>
            </a:pPr>
            <a:r>
              <a:rPr lang="zh-CN" altLang="en-US" b="1" dirty="0">
                <a:latin typeface="Arial" panose="020B0604020202020204" pitchFamily="34" charset="0"/>
                <a:ea typeface="宋体" panose="02010600030101010101" pitchFamily="2" charset="-122"/>
              </a:rPr>
              <a:t>属性</a:t>
            </a:r>
            <a:endParaRPr lang="zh-CN" altLang="en-US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2886" name="AutoShape 1286"/>
          <p:cNvSpPr/>
          <p:nvPr/>
        </p:nvSpPr>
        <p:spPr>
          <a:xfrm>
            <a:off x="9344025" y="2349500"/>
            <a:ext cx="914400" cy="609600"/>
          </a:xfrm>
          <a:prstGeom prst="wedgeRectCallout">
            <a:avLst>
              <a:gd name="adj1" fmla="val -70315"/>
              <a:gd name="adj2" fmla="val 204426"/>
            </a:avLst>
          </a:prstGeom>
          <a:gradFill rotWithShape="0">
            <a:gsLst>
              <a:gs pos="0">
                <a:srgbClr val="FFFFFF"/>
              </a:gs>
              <a:gs pos="100000">
                <a:srgbClr val="BBBBBB"/>
              </a:gs>
            </a:gsLst>
            <a:lin ang="5400000" scaled="1"/>
            <a:tileRect/>
          </a:gradFill>
          <a:ln w="254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lstStyle/>
          <a:p>
            <a:pPr marL="342900" indent="-342900">
              <a:buFont typeface="Arial" panose="020B0604020202020204" pitchFamily="34" charset="0"/>
            </a:pPr>
            <a:r>
              <a:rPr lang="zh-CN" altLang="en-US" b="1" dirty="0">
                <a:latin typeface="Arial" panose="020B0604020202020204" pitchFamily="34" charset="0"/>
                <a:ea typeface="宋体" panose="02010600030101010101" pitchFamily="2" charset="-122"/>
              </a:rPr>
              <a:t>元组</a:t>
            </a:r>
            <a:endParaRPr lang="zh-CN" altLang="en-US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2887" name="矩形 4"/>
          <p:cNvSpPr/>
          <p:nvPr/>
        </p:nvSpPr>
        <p:spPr>
          <a:xfrm>
            <a:off x="3287688" y="5946924"/>
            <a:ext cx="5202237" cy="46166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indent="1371600" algn="just" eaLnBrk="0" hangingPunct="0"/>
            <a:r>
              <a:rPr lang="zh-CN" altLang="zh-CN" b="1" dirty="0"/>
              <a:t>表</a:t>
            </a:r>
            <a:r>
              <a:rPr lang="en-US" altLang="zh-CN" b="1" dirty="0"/>
              <a:t>1.2  </a:t>
            </a:r>
            <a:r>
              <a:rPr lang="zh-CN" altLang="zh-CN" b="1" dirty="0"/>
              <a:t>关系模型的数据结构示</a:t>
            </a:r>
            <a:r>
              <a:rPr lang="zh-CN" altLang="en-US" b="1" dirty="0"/>
              <a:t>例</a:t>
            </a:r>
            <a:endParaRPr lang="zh-CN" altLang="zh-CN" sz="2400" b="1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5" name="Rectangle 1026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关系模型的数据结构（续）</a:t>
            </a:r>
            <a:endParaRPr lang="zh-CN" altLang="en-US" sz="3600" dirty="0"/>
          </a:p>
        </p:txBody>
      </p:sp>
      <p:sp>
        <p:nvSpPr>
          <p:cNvPr id="123906" name="Rectangle 1027"/>
          <p:cNvSpPr>
            <a:spLocks noGrp="1"/>
          </p:cNvSpPr>
          <p:nvPr>
            <p:ph idx="1"/>
          </p:nvPr>
        </p:nvSpPr>
        <p:spPr>
          <a:xfrm>
            <a:off x="1199456" y="1098550"/>
            <a:ext cx="9361040" cy="5226050"/>
          </a:xfrm>
        </p:spPr>
        <p:txBody>
          <a:bodyPr vert="horz" wrap="square" lIns="91440" tIns="45720" rIns="91440" bIns="45720" anchor="t" anchorCtr="0"/>
          <a:lstStyle/>
          <a:p>
            <a:pPr lvl="1" algn="just" eaLnBrk="1" hangingPunct="1">
              <a:lnSpc>
                <a:spcPct val="130000"/>
              </a:lnSpc>
              <a:spcBef>
                <a:spcPct val="0"/>
              </a:spcBef>
            </a:pPr>
            <a:r>
              <a:rPr lang="zh-CN" altLang="en-US" dirty="0"/>
              <a:t>关系（</a:t>
            </a:r>
            <a:r>
              <a:rPr lang="en-US" altLang="zh-CN" dirty="0"/>
              <a:t>relation</a:t>
            </a:r>
            <a:r>
              <a:rPr lang="zh-CN" altLang="en-US" dirty="0"/>
              <a:t>）</a:t>
            </a:r>
            <a:endParaRPr lang="zh-CN" altLang="en-US" dirty="0"/>
          </a:p>
          <a:p>
            <a:pPr lvl="2" algn="just" eaLnBrk="1" hangingPunct="1">
              <a:lnSpc>
                <a:spcPct val="130000"/>
              </a:lnSpc>
              <a:spcBef>
                <a:spcPct val="0"/>
              </a:spcBef>
              <a:buSzPct val="87000"/>
              <a:buFont typeface="Wingdings" panose="05000000000000000000" pitchFamily="2" charset="2"/>
              <a:buChar char="l"/>
            </a:pPr>
            <a:r>
              <a:rPr lang="zh-CN" altLang="en-US" sz="2200" dirty="0"/>
              <a:t>一个关系对应通常说的一张表</a:t>
            </a:r>
            <a:endParaRPr lang="zh-CN" altLang="en-US" sz="2200" dirty="0"/>
          </a:p>
          <a:p>
            <a:pPr lvl="1" algn="just" eaLnBrk="1" hangingPunct="1">
              <a:lnSpc>
                <a:spcPct val="130000"/>
              </a:lnSpc>
              <a:spcBef>
                <a:spcPct val="0"/>
              </a:spcBef>
            </a:pPr>
            <a:r>
              <a:rPr lang="zh-CN" altLang="en-US" dirty="0"/>
              <a:t>元组（</a:t>
            </a:r>
            <a:r>
              <a:rPr lang="en-US" altLang="zh-CN" dirty="0"/>
              <a:t>tuple</a:t>
            </a:r>
            <a:r>
              <a:rPr lang="zh-CN" altLang="en-US" dirty="0"/>
              <a:t>）</a:t>
            </a:r>
            <a:endParaRPr lang="zh-CN" altLang="en-US" dirty="0"/>
          </a:p>
          <a:p>
            <a:pPr lvl="2" algn="just" eaLnBrk="1" hangingPunct="1">
              <a:lnSpc>
                <a:spcPct val="130000"/>
              </a:lnSpc>
              <a:spcBef>
                <a:spcPct val="0"/>
              </a:spcBef>
              <a:buSzPct val="87000"/>
              <a:buFont typeface="Wingdings" panose="05000000000000000000" pitchFamily="2" charset="2"/>
              <a:buChar char="l"/>
            </a:pPr>
            <a:r>
              <a:rPr lang="zh-CN" altLang="en-US" sz="2200" dirty="0"/>
              <a:t>表中的一行即为一个元组</a:t>
            </a:r>
            <a:endParaRPr lang="zh-CN" altLang="en-US" sz="2200" dirty="0"/>
          </a:p>
          <a:p>
            <a:pPr lvl="1" algn="just" eaLnBrk="1" hangingPunct="1">
              <a:lnSpc>
                <a:spcPct val="130000"/>
              </a:lnSpc>
              <a:spcBef>
                <a:spcPct val="0"/>
              </a:spcBef>
            </a:pPr>
            <a:r>
              <a:rPr lang="zh-CN" altLang="en-US" dirty="0"/>
              <a:t>属性（</a:t>
            </a:r>
            <a:r>
              <a:rPr lang="en-US" altLang="zh-CN" dirty="0"/>
              <a:t>attribute</a:t>
            </a:r>
            <a:r>
              <a:rPr lang="zh-CN" altLang="en-US" dirty="0"/>
              <a:t>）</a:t>
            </a:r>
            <a:endParaRPr lang="zh-CN" altLang="en-US" dirty="0"/>
          </a:p>
          <a:p>
            <a:pPr lvl="2" algn="just" eaLnBrk="1" hangingPunct="1">
              <a:lnSpc>
                <a:spcPct val="130000"/>
              </a:lnSpc>
              <a:spcBef>
                <a:spcPct val="0"/>
              </a:spcBef>
              <a:buSzPct val="87000"/>
              <a:buFont typeface="Wingdings" panose="05000000000000000000" pitchFamily="2" charset="2"/>
              <a:buChar char="l"/>
            </a:pPr>
            <a:r>
              <a:rPr lang="zh-CN" altLang="en-US" sz="2200" dirty="0"/>
              <a:t>表中的一列即为一个属性，给每一个属性起一个名称即属性名</a:t>
            </a:r>
            <a:endParaRPr lang="en-US" altLang="zh-CN" sz="2200" dirty="0"/>
          </a:p>
          <a:p>
            <a:pPr lvl="1" algn="just" eaLnBrk="1" hangingPunct="1">
              <a:lnSpc>
                <a:spcPct val="130000"/>
              </a:lnSpc>
              <a:spcBef>
                <a:spcPct val="0"/>
              </a:spcBef>
            </a:pPr>
            <a:r>
              <a:rPr lang="zh-CN" altLang="en-US" dirty="0"/>
              <a:t>码（</a:t>
            </a:r>
            <a:r>
              <a:rPr lang="en-US" altLang="zh-CN" dirty="0"/>
              <a:t>key</a:t>
            </a:r>
            <a:r>
              <a:rPr lang="zh-CN" altLang="en-US" dirty="0"/>
              <a:t>）</a:t>
            </a:r>
            <a:endParaRPr lang="zh-CN" altLang="en-US" dirty="0"/>
          </a:p>
          <a:p>
            <a:pPr lvl="2" algn="just" eaLnBrk="1" hangingPunct="1">
              <a:lnSpc>
                <a:spcPct val="130000"/>
              </a:lnSpc>
              <a:spcBef>
                <a:spcPct val="0"/>
              </a:spcBef>
              <a:buSzPct val="87000"/>
              <a:buFont typeface="Wingdings" panose="05000000000000000000" pitchFamily="2" charset="2"/>
              <a:buChar char="l"/>
            </a:pPr>
            <a:r>
              <a:rPr lang="zh-CN" altLang="en-US" sz="2200" dirty="0"/>
              <a:t>又称</a:t>
            </a:r>
            <a:r>
              <a:rPr lang="zh-CN" altLang="zh-CN" sz="2200" dirty="0"/>
              <a:t>码键或键</a:t>
            </a:r>
            <a:r>
              <a:rPr lang="zh-CN" altLang="en-US" sz="2200" dirty="0"/>
              <a:t>。表</a:t>
            </a:r>
            <a:r>
              <a:rPr lang="zh-CN" altLang="zh-CN" sz="2200" dirty="0"/>
              <a:t>中的</a:t>
            </a:r>
            <a:r>
              <a:rPr lang="zh-CN" altLang="zh-CN" sz="2200" dirty="0">
                <a:solidFill>
                  <a:srgbClr val="C00000"/>
                </a:solidFill>
              </a:rPr>
              <a:t>某一个属性或一组属性</a:t>
            </a:r>
            <a:r>
              <a:rPr lang="zh-CN" altLang="en-US" sz="2200" dirty="0"/>
              <a:t>，它的值可以</a:t>
            </a:r>
            <a:r>
              <a:rPr lang="zh-CN" altLang="en-US" sz="2200" dirty="0">
                <a:solidFill>
                  <a:srgbClr val="C00000"/>
                </a:solidFill>
              </a:rPr>
              <a:t>唯一确定一个元组</a:t>
            </a:r>
            <a:endParaRPr lang="zh-CN" altLang="en-US" sz="2200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29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关系模型的数据结构（续）</a:t>
            </a:r>
            <a:endParaRPr lang="zh-CN" altLang="en-US" sz="3600" dirty="0"/>
          </a:p>
        </p:txBody>
      </p:sp>
      <p:sp>
        <p:nvSpPr>
          <p:cNvPr id="124930" name="Rectangle 3"/>
          <p:cNvSpPr>
            <a:spLocks noGrp="1"/>
          </p:cNvSpPr>
          <p:nvPr>
            <p:ph idx="1"/>
          </p:nvPr>
        </p:nvSpPr>
        <p:spPr>
          <a:xfrm>
            <a:off x="1631504" y="1196752"/>
            <a:ext cx="10009112" cy="4695825"/>
          </a:xfrm>
        </p:spPr>
        <p:txBody>
          <a:bodyPr vert="horz" wrap="square" lIns="91440" tIns="45720" rIns="91440" bIns="45720" anchor="t" anchorCtr="0"/>
          <a:lstStyle/>
          <a:p>
            <a:pPr lvl="1" algn="just" eaLnBrk="1" hangingPunct="1">
              <a:lnSpc>
                <a:spcPct val="120000"/>
              </a:lnSpc>
            </a:pPr>
            <a:r>
              <a:rPr lang="zh-CN" altLang="en-US" dirty="0"/>
              <a:t>域（</a:t>
            </a:r>
            <a:r>
              <a:rPr lang="en-US" altLang="zh-CN" dirty="0"/>
              <a:t>domain</a:t>
            </a:r>
            <a:r>
              <a:rPr lang="zh-CN" altLang="en-US" dirty="0"/>
              <a:t>）</a:t>
            </a:r>
            <a:endParaRPr lang="zh-CN" altLang="en-US" dirty="0"/>
          </a:p>
          <a:p>
            <a:pPr lvl="2" algn="just" eaLnBrk="1" hangingPunct="1">
              <a:lnSpc>
                <a:spcPct val="120000"/>
              </a:lnSpc>
              <a:spcBef>
                <a:spcPct val="0"/>
              </a:spcBef>
              <a:buSzPct val="87000"/>
              <a:buFont typeface="Wingdings" panose="05000000000000000000" pitchFamily="2" charset="2"/>
              <a:buChar char="l"/>
            </a:pPr>
            <a:r>
              <a:rPr lang="zh-CN" altLang="en-US" sz="2200" dirty="0"/>
              <a:t>是一组具有相同数据类型的值的集合。属性的取值范围来自某个域。</a:t>
            </a:r>
            <a:endParaRPr lang="zh-CN" altLang="en-US" sz="2200" dirty="0"/>
          </a:p>
          <a:p>
            <a:pPr lvl="1" algn="just" eaLnBrk="1" hangingPunct="1">
              <a:lnSpc>
                <a:spcPct val="120000"/>
              </a:lnSpc>
            </a:pPr>
            <a:r>
              <a:rPr lang="zh-CN" altLang="en-US" dirty="0"/>
              <a:t>分量</a:t>
            </a:r>
            <a:endParaRPr lang="zh-CN" altLang="en-US" dirty="0"/>
          </a:p>
          <a:p>
            <a:pPr lvl="2" algn="just" eaLnBrk="1" hangingPunct="1">
              <a:lnSpc>
                <a:spcPct val="120000"/>
              </a:lnSpc>
              <a:spcBef>
                <a:spcPct val="0"/>
              </a:spcBef>
              <a:buSzPct val="87000"/>
              <a:buFont typeface="Wingdings" panose="05000000000000000000" pitchFamily="2" charset="2"/>
              <a:buChar char="l"/>
            </a:pPr>
            <a:r>
              <a:rPr lang="zh-CN" altLang="en-US" sz="2200" dirty="0"/>
              <a:t>元组中的一个属性值。</a:t>
            </a:r>
            <a:endParaRPr lang="zh-CN" altLang="en-US" sz="2200" dirty="0"/>
          </a:p>
          <a:p>
            <a:pPr lvl="1" eaLnBrk="1" hangingPunct="1">
              <a:lnSpc>
                <a:spcPct val="120000"/>
              </a:lnSpc>
            </a:pPr>
            <a:r>
              <a:rPr lang="zh-CN" altLang="en-US" dirty="0"/>
              <a:t>关系模式</a:t>
            </a:r>
            <a:endParaRPr lang="zh-CN" altLang="en-US" dirty="0"/>
          </a:p>
          <a:p>
            <a:pPr lvl="2" algn="just" eaLnBrk="1" hangingPunct="1">
              <a:lnSpc>
                <a:spcPct val="120000"/>
              </a:lnSpc>
              <a:spcBef>
                <a:spcPct val="0"/>
              </a:spcBef>
              <a:buSzPct val="87000"/>
              <a:buFont typeface="Wingdings" panose="05000000000000000000" pitchFamily="2" charset="2"/>
              <a:buChar char="l"/>
            </a:pPr>
            <a:r>
              <a:rPr lang="zh-CN" altLang="en-US" sz="2200" dirty="0"/>
              <a:t>对关系的描述</a:t>
            </a:r>
            <a:endParaRPr lang="zh-CN" altLang="en-US" sz="2200" dirty="0"/>
          </a:p>
          <a:p>
            <a:pPr lvl="2" eaLnBrk="1" hangingPunct="1">
              <a:lnSpc>
                <a:spcPct val="120000"/>
              </a:lnSpc>
              <a:buFontTx/>
              <a:buNone/>
            </a:pPr>
            <a:r>
              <a:rPr lang="zh-CN" altLang="en-US" sz="2200" dirty="0"/>
              <a:t>关系名（属性</a:t>
            </a:r>
            <a:r>
              <a:rPr lang="en-US" altLang="zh-CN" sz="2200" dirty="0"/>
              <a:t>1</a:t>
            </a:r>
            <a:r>
              <a:rPr lang="zh-CN" altLang="en-US" sz="2200" dirty="0"/>
              <a:t>，属性</a:t>
            </a:r>
            <a:r>
              <a:rPr lang="en-US" altLang="zh-CN" sz="2200" dirty="0"/>
              <a:t>2</a:t>
            </a:r>
            <a:r>
              <a:rPr lang="zh-CN" altLang="en-US" sz="2200" dirty="0"/>
              <a:t>，</a:t>
            </a:r>
            <a:r>
              <a:rPr lang="en-US" altLang="zh-CN" sz="2200" dirty="0"/>
              <a:t>…</a:t>
            </a:r>
            <a:r>
              <a:rPr lang="zh-CN" altLang="en-US" sz="2200" dirty="0"/>
              <a:t>，属性</a:t>
            </a:r>
            <a:r>
              <a:rPr lang="en-US" altLang="zh-CN" sz="2200" dirty="0"/>
              <a:t>n</a:t>
            </a:r>
            <a:r>
              <a:rPr lang="zh-CN" altLang="en-US" sz="2200" dirty="0"/>
              <a:t>）</a:t>
            </a:r>
            <a:endParaRPr lang="zh-CN" altLang="en-US" sz="2200" dirty="0"/>
          </a:p>
          <a:p>
            <a:pPr lvl="2" eaLnBrk="1" hangingPunct="1">
              <a:lnSpc>
                <a:spcPct val="120000"/>
              </a:lnSpc>
              <a:buFontTx/>
              <a:buNone/>
            </a:pPr>
            <a:r>
              <a:rPr lang="zh-CN" altLang="en-US" sz="2200" dirty="0"/>
              <a:t>学生（</a:t>
            </a:r>
            <a:r>
              <a:rPr lang="zh-CN" altLang="en-US" sz="2200" u="sng" dirty="0"/>
              <a:t>学号</a:t>
            </a:r>
            <a:r>
              <a:rPr lang="zh-CN" altLang="en-US" sz="2200" dirty="0"/>
              <a:t>，姓名，性别，出生日期，主修专业）</a:t>
            </a:r>
            <a:endParaRPr lang="zh-CN" altLang="en-US" sz="22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3" name="Rectangle 2"/>
          <p:cNvSpPr>
            <a:spLocks noGrp="1"/>
          </p:cNvSpPr>
          <p:nvPr>
            <p:ph type="title"/>
          </p:nvPr>
        </p:nvSpPr>
        <p:spPr>
          <a:xfrm>
            <a:off x="2438400" y="188913"/>
            <a:ext cx="7391400" cy="563562"/>
          </a:xfrm>
        </p:spPr>
        <p:txBody>
          <a:bodyPr vert="horz" wrap="square" lIns="91440" tIns="45720" rIns="91440" bIns="45720" anchor="ctr" anchorCtr="0">
            <a:noAutofit/>
          </a:bodyPr>
          <a:lstStyle/>
          <a:p>
            <a:pPr algn="ctr"/>
            <a:r>
              <a:rPr lang="zh-CN" altLang="en-US" sz="3600" b="1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关系模型的数据结构（续）</a:t>
            </a:r>
            <a:endParaRPr lang="zh-CN" altLang="en-US" sz="3600" b="1" dirty="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5954" name="Rectangle 3"/>
          <p:cNvSpPr>
            <a:spLocks noGrp="1"/>
          </p:cNvSpPr>
          <p:nvPr>
            <p:ph type="body" sz="half" idx="1"/>
          </p:nvPr>
        </p:nvSpPr>
        <p:spPr>
          <a:xfrm>
            <a:off x="623392" y="965200"/>
            <a:ext cx="11233248" cy="2330451"/>
          </a:xfrm>
        </p:spPr>
        <p:txBody>
          <a:bodyPr vert="horz" wrap="square" lIns="91440" tIns="45720" rIns="91440" bIns="45720" anchor="t" anchorCtr="0">
            <a:normAutofit/>
          </a:bodyPr>
          <a:lstStyle/>
          <a:p>
            <a:pPr marL="342900" indent="-342900" fontAlgn="base">
              <a:lnSpc>
                <a:spcPct val="19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v"/>
            </a:pPr>
            <a:r>
              <a:rPr lang="zh-CN" altLang="en-US" b="1" dirty="0">
                <a:latin typeface="Arial" panose="020B0604020202020204" pitchFamily="34" charset="0"/>
                <a:ea typeface="宋体" panose="02010600030101010101" pitchFamily="2" charset="-122"/>
              </a:rPr>
              <a:t>关系必须是规范化的，满足一定的规范条件</a:t>
            </a:r>
            <a:endParaRPr lang="zh-CN" altLang="en-US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lvl="1" algn="just" eaLnBrk="1" hangingPunct="1">
              <a:lnSpc>
                <a:spcPct val="120000"/>
              </a:lnSpc>
              <a:buSzPct val="100000"/>
              <a:buFont typeface="Wingdings" panose="05000000000000000000" pitchFamily="2" charset="2"/>
              <a:buNone/>
            </a:pPr>
            <a:r>
              <a:rPr lang="zh-CN" altLang="en-US" sz="2200" b="1" dirty="0">
                <a:latin typeface="Arial" panose="020B0604020202020204" pitchFamily="34" charset="0"/>
                <a:ea typeface="宋体" panose="02010600030101010101" pitchFamily="2" charset="-122"/>
              </a:rPr>
              <a:t>最基本的规范条件：关系的每一个分量必须是一个不可分的数据项</a:t>
            </a:r>
            <a:r>
              <a:rPr lang="en-US" altLang="zh-CN" sz="2200" b="1" dirty="0">
                <a:latin typeface="Arial" panose="020B0604020202020204" pitchFamily="34" charset="0"/>
                <a:ea typeface="宋体" panose="02010600030101010101" pitchFamily="2" charset="-122"/>
              </a:rPr>
              <a:t>, </a:t>
            </a:r>
            <a:r>
              <a:rPr lang="zh-CN" altLang="en-US" sz="2200" b="1" dirty="0">
                <a:solidFill>
                  <a:srgbClr val="FF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不允许表中还有表 </a:t>
            </a:r>
            <a:endParaRPr lang="zh-CN" altLang="en-US" sz="2200" b="1" dirty="0">
              <a:solidFill>
                <a:srgbClr val="FF00F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just" eaLnBrk="1" hangingPunct="1">
              <a:lnSpc>
                <a:spcPct val="120000"/>
              </a:lnSpc>
              <a:buClrTx/>
              <a:buSzPct val="100000"/>
              <a:buFont typeface="Wingdings" panose="05000000000000000000" pitchFamily="2" charset="2"/>
              <a:buNone/>
            </a:pPr>
            <a:r>
              <a:rPr lang="en-US" altLang="zh-CN" sz="2200" b="1" dirty="0">
                <a:latin typeface="Arial" panose="020B0604020202020204" pitchFamily="34" charset="0"/>
                <a:ea typeface="宋体" panose="02010600030101010101" pitchFamily="2" charset="-122"/>
              </a:rPr>
              <a:t>      </a:t>
            </a:r>
            <a:r>
              <a:rPr lang="zh-CN" altLang="zh-CN" sz="2200" b="1" dirty="0">
                <a:latin typeface="Arial" panose="020B0604020202020204" pitchFamily="34" charset="0"/>
                <a:ea typeface="宋体" panose="02010600030101010101" pitchFamily="2" charset="-122"/>
              </a:rPr>
              <a:t>表</a:t>
            </a:r>
            <a:r>
              <a:rPr lang="en-US" altLang="zh-CN" sz="2200" b="1" dirty="0">
                <a:latin typeface="Arial" panose="020B0604020202020204" pitchFamily="34" charset="0"/>
                <a:ea typeface="宋体" panose="02010600030101010101" pitchFamily="2" charset="-122"/>
              </a:rPr>
              <a:t>1.3</a:t>
            </a:r>
            <a:r>
              <a:rPr lang="zh-CN" altLang="zh-CN" sz="2200" b="1" dirty="0">
                <a:latin typeface="Arial" panose="020B0604020202020204" pitchFamily="34" charset="0"/>
                <a:ea typeface="宋体" panose="02010600030101010101" pitchFamily="2" charset="-122"/>
              </a:rPr>
              <a:t>中联系方式是可分的数据项，</a:t>
            </a:r>
            <a:r>
              <a:rPr lang="zh-CN" altLang="en-US" sz="2200" b="1" dirty="0">
                <a:solidFill>
                  <a:srgbClr val="FF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不符合关系模型要求 </a:t>
            </a:r>
            <a:endParaRPr lang="zh-CN" altLang="en-US" sz="2200" b="1" dirty="0">
              <a:solidFill>
                <a:srgbClr val="FF00F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5955" name="Rectangle 373"/>
          <p:cNvSpPr/>
          <p:nvPr/>
        </p:nvSpPr>
        <p:spPr>
          <a:xfrm>
            <a:off x="4187825" y="5447184"/>
            <a:ext cx="4103688" cy="646112"/>
          </a:xfrm>
          <a:prstGeom prst="rect">
            <a:avLst/>
          </a:prstGeom>
          <a:noFill/>
          <a:ln w="25400">
            <a:noFill/>
          </a:ln>
        </p:spPr>
        <p:txBody>
          <a:bodyPr anchor="ctr" anchorCtr="0">
            <a:spAutoFit/>
          </a:bodyPr>
          <a:lstStyle/>
          <a:p>
            <a:pPr marL="342900" indent="-342900">
              <a:buFont typeface="Wingdings" panose="05000000000000000000" pitchFamily="2" charset="2"/>
            </a:pPr>
            <a:r>
              <a:rPr lang="zh-CN" altLang="zh-CN" b="1" dirty="0">
                <a:latin typeface="Arial" panose="020B0604020202020204" pitchFamily="34" charset="0"/>
                <a:ea typeface="宋体" panose="02010600030101010101" pitchFamily="2" charset="-122"/>
              </a:rPr>
              <a:t>表</a:t>
            </a:r>
            <a:r>
              <a:rPr lang="en-US" altLang="zh-CN" b="1" dirty="0">
                <a:latin typeface="Arial" panose="020B0604020202020204" pitchFamily="34" charset="0"/>
                <a:ea typeface="宋体" panose="02010600030101010101" pitchFamily="2" charset="-122"/>
              </a:rPr>
              <a:t>1.3  </a:t>
            </a:r>
            <a:r>
              <a:rPr lang="zh-CN" altLang="zh-CN" b="1" dirty="0">
                <a:latin typeface="Arial" panose="020B0604020202020204" pitchFamily="34" charset="0"/>
                <a:ea typeface="宋体" panose="02010600030101010101" pitchFamily="2" charset="-122"/>
              </a:rPr>
              <a:t>一个学生表（表中有表）实例</a:t>
            </a:r>
            <a:endParaRPr lang="zh-CN" altLang="zh-CN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342900" indent="-342900">
              <a:buFont typeface="Arial" panose="020B0604020202020204" pitchFamily="34" charset="0"/>
            </a:pPr>
            <a:endParaRPr lang="zh-CN" altLang="en-US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25956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6667" y="3295651"/>
            <a:ext cx="9512771" cy="195103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1" name="Rectangle 2"/>
          <p:cNvSpPr>
            <a:spLocks noGrp="1"/>
          </p:cNvSpPr>
          <p:nvPr>
            <p:ph type="title"/>
          </p:nvPr>
        </p:nvSpPr>
        <p:spPr>
          <a:xfrm>
            <a:off x="2135188" y="-100012"/>
            <a:ext cx="7848600" cy="1143000"/>
          </a:xfrm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sz="3600" dirty="0"/>
              <a:t>2.  </a:t>
            </a:r>
            <a:r>
              <a:rPr lang="zh-CN" altLang="en-US" sz="3600" dirty="0"/>
              <a:t>关系模型的数据操纵与完整性约束</a:t>
            </a:r>
            <a:endParaRPr lang="zh-CN" altLang="en-US" sz="3600" dirty="0"/>
          </a:p>
        </p:txBody>
      </p:sp>
      <p:sp>
        <p:nvSpPr>
          <p:cNvPr id="128002" name="Rectangle 3"/>
          <p:cNvSpPr>
            <a:spLocks noGrp="1"/>
          </p:cNvSpPr>
          <p:nvPr>
            <p:ph idx="1"/>
          </p:nvPr>
        </p:nvSpPr>
        <p:spPr>
          <a:xfrm>
            <a:off x="1199456" y="1196752"/>
            <a:ext cx="10009112" cy="4896544"/>
          </a:xfrm>
        </p:spPr>
        <p:txBody>
          <a:bodyPr vert="horz" wrap="square" lIns="91440" tIns="45720" rIns="91440" bIns="45720" anchor="t" anchorCtr="0"/>
          <a:lstStyle/>
          <a:p>
            <a:pPr algn="just" eaLnBrk="1" hangingPunct="1">
              <a:lnSpc>
                <a:spcPct val="150000"/>
              </a:lnSpc>
              <a:spcBef>
                <a:spcPct val="0"/>
              </a:spcBef>
            </a:pPr>
            <a:r>
              <a:rPr lang="zh-CN" altLang="en-US" dirty="0"/>
              <a:t>数据操作是集合操作，操作对象和操作结果都是关系</a:t>
            </a:r>
            <a:endParaRPr lang="zh-CN" altLang="en-US" dirty="0"/>
          </a:p>
          <a:p>
            <a:pPr lvl="1" algn="just" eaLnBrk="1" hangingPunct="1">
              <a:lnSpc>
                <a:spcPct val="150000"/>
              </a:lnSpc>
              <a:spcBef>
                <a:spcPct val="0"/>
              </a:spcBef>
            </a:pPr>
            <a:r>
              <a:rPr lang="zh-CN" altLang="en-US" dirty="0"/>
              <a:t>查询</a:t>
            </a:r>
            <a:endParaRPr lang="zh-CN" altLang="en-US" dirty="0"/>
          </a:p>
          <a:p>
            <a:pPr lvl="1" algn="just" eaLnBrk="1" hangingPunct="1">
              <a:lnSpc>
                <a:spcPct val="150000"/>
              </a:lnSpc>
              <a:spcBef>
                <a:spcPct val="0"/>
              </a:spcBef>
            </a:pPr>
            <a:r>
              <a:rPr lang="zh-CN" altLang="en-US" dirty="0"/>
              <a:t>插入</a:t>
            </a:r>
            <a:endParaRPr lang="zh-CN" altLang="en-US" dirty="0"/>
          </a:p>
          <a:p>
            <a:pPr lvl="1" algn="just" eaLnBrk="1" hangingPunct="1">
              <a:lnSpc>
                <a:spcPct val="150000"/>
              </a:lnSpc>
              <a:spcBef>
                <a:spcPct val="0"/>
              </a:spcBef>
            </a:pPr>
            <a:r>
              <a:rPr lang="zh-CN" altLang="en-US" dirty="0"/>
              <a:t>删除</a:t>
            </a:r>
            <a:endParaRPr lang="zh-CN" altLang="en-US" dirty="0"/>
          </a:p>
          <a:p>
            <a:pPr lvl="1" algn="just" eaLnBrk="1" hangingPunct="1">
              <a:lnSpc>
                <a:spcPct val="150000"/>
              </a:lnSpc>
              <a:spcBef>
                <a:spcPct val="0"/>
              </a:spcBef>
            </a:pPr>
            <a:r>
              <a:rPr lang="zh-CN" altLang="en-US" dirty="0"/>
              <a:t>更新</a:t>
            </a:r>
            <a:endParaRPr lang="zh-CN" altLang="en-US" dirty="0"/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</a:pPr>
            <a:endParaRPr lang="zh-CN" altLang="en-US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5" name="Rectangle 2"/>
          <p:cNvSpPr>
            <a:spLocks noGrp="1"/>
          </p:cNvSpPr>
          <p:nvPr>
            <p:ph type="title"/>
          </p:nvPr>
        </p:nvSpPr>
        <p:spPr>
          <a:xfrm>
            <a:off x="1981200" y="-99392"/>
            <a:ext cx="8763000" cy="1070942"/>
          </a:xfrm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关系模型的数据操纵与完整性约束（续）</a:t>
            </a:r>
            <a:endParaRPr lang="zh-CN" altLang="en-US" sz="3600" dirty="0"/>
          </a:p>
        </p:txBody>
      </p:sp>
      <p:sp>
        <p:nvSpPr>
          <p:cNvPr id="129026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lstStyle/>
          <a:p>
            <a:pPr algn="just" eaLnBrk="1" hangingPunct="1">
              <a:lnSpc>
                <a:spcPct val="190000"/>
              </a:lnSpc>
            </a:pPr>
            <a:r>
              <a:rPr lang="zh-CN" altLang="en-US" dirty="0"/>
              <a:t>关系的完整性约束条件 </a:t>
            </a:r>
            <a:endParaRPr lang="zh-CN" altLang="en-US" dirty="0"/>
          </a:p>
          <a:p>
            <a:pPr lvl="1" algn="just" eaLnBrk="1" hangingPunct="1">
              <a:lnSpc>
                <a:spcPct val="190000"/>
              </a:lnSpc>
            </a:pPr>
            <a:r>
              <a:rPr lang="zh-CN" altLang="en-US" dirty="0"/>
              <a:t>实体完整性</a:t>
            </a:r>
            <a:endParaRPr lang="zh-CN" altLang="en-US" dirty="0"/>
          </a:p>
          <a:p>
            <a:pPr lvl="1" algn="just" eaLnBrk="1" hangingPunct="1">
              <a:lnSpc>
                <a:spcPct val="190000"/>
              </a:lnSpc>
            </a:pPr>
            <a:r>
              <a:rPr lang="zh-CN" altLang="en-US" dirty="0"/>
              <a:t>参照完整性</a:t>
            </a:r>
            <a:endParaRPr lang="zh-CN" altLang="en-US" dirty="0"/>
          </a:p>
          <a:p>
            <a:pPr lvl="1" algn="just" eaLnBrk="1" hangingPunct="1">
              <a:lnSpc>
                <a:spcPct val="190000"/>
              </a:lnSpc>
            </a:pPr>
            <a:r>
              <a:rPr lang="zh-CN" altLang="en-US" dirty="0"/>
              <a:t>用户定义的完整性</a:t>
            </a:r>
            <a:endParaRPr lang="zh-CN" altLang="en-US" dirty="0"/>
          </a:p>
          <a:p>
            <a:pPr algn="just" eaLnBrk="1" hangingPunct="1">
              <a:buFont typeface="Wingdings" panose="05000000000000000000" pitchFamily="2" charset="2"/>
              <a:buChar char="l"/>
            </a:pPr>
            <a:endParaRPr lang="en-US" altLang="zh-CN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49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sz="3600" dirty="0"/>
              <a:t>3.  </a:t>
            </a:r>
            <a:r>
              <a:rPr lang="zh-CN" altLang="en-US" sz="3600" dirty="0"/>
              <a:t>关系模型的优缺点</a:t>
            </a:r>
            <a:endParaRPr lang="zh-CN" altLang="en-US" sz="3600" dirty="0"/>
          </a:p>
        </p:txBody>
      </p:sp>
      <p:sp>
        <p:nvSpPr>
          <p:cNvPr id="130050" name="Rectangle 3"/>
          <p:cNvSpPr>
            <a:spLocks noGrp="1"/>
          </p:cNvSpPr>
          <p:nvPr>
            <p:ph idx="1"/>
          </p:nvPr>
        </p:nvSpPr>
        <p:spPr>
          <a:xfrm>
            <a:off x="1487488" y="1098551"/>
            <a:ext cx="8723312" cy="5095875"/>
          </a:xfrm>
        </p:spPr>
        <p:txBody>
          <a:bodyPr vert="horz" wrap="square" lIns="91440" tIns="45720" rIns="91440" bIns="45720" anchor="t" anchorCtr="0"/>
          <a:lstStyle/>
          <a:p>
            <a:pPr algn="just" eaLnBrk="1" hangingPunct="1">
              <a:lnSpc>
                <a:spcPct val="150000"/>
              </a:lnSpc>
            </a:pPr>
            <a:r>
              <a:rPr lang="zh-CN" altLang="en-US" dirty="0"/>
              <a:t>优点</a:t>
            </a:r>
            <a:endParaRPr lang="zh-CN" altLang="en-US" dirty="0"/>
          </a:p>
          <a:p>
            <a:pPr lvl="1" algn="just" eaLnBrk="1" hangingPunct="1">
              <a:lnSpc>
                <a:spcPct val="150000"/>
              </a:lnSpc>
            </a:pPr>
            <a:r>
              <a:rPr lang="zh-CN" altLang="en-US" dirty="0"/>
              <a:t>建立在</a:t>
            </a:r>
            <a:r>
              <a:rPr lang="zh-CN" altLang="en-US" dirty="0">
                <a:solidFill>
                  <a:srgbClr val="C00000"/>
                </a:solidFill>
              </a:rPr>
              <a:t>严格的数学概念</a:t>
            </a:r>
            <a:r>
              <a:rPr lang="zh-CN" altLang="en-US" dirty="0"/>
              <a:t>的基础上</a:t>
            </a:r>
            <a:endParaRPr lang="zh-CN" altLang="en-US" dirty="0"/>
          </a:p>
          <a:p>
            <a:pPr lvl="1" algn="just" eaLnBrk="1" hangingPunct="1">
              <a:lnSpc>
                <a:spcPct val="150000"/>
              </a:lnSpc>
            </a:pPr>
            <a:r>
              <a:rPr lang="zh-CN" altLang="en-US" dirty="0"/>
              <a:t>概念单一</a:t>
            </a:r>
            <a:endParaRPr lang="zh-CN" altLang="en-US" dirty="0"/>
          </a:p>
          <a:p>
            <a:pPr lvl="2" algn="just" eaLnBrk="1" hangingPunct="1">
              <a:lnSpc>
                <a:spcPct val="120000"/>
              </a:lnSpc>
              <a:buSzPct val="87000"/>
              <a:buFont typeface="Wingdings" panose="05000000000000000000" pitchFamily="2" charset="2"/>
              <a:buChar char="l"/>
            </a:pPr>
            <a:r>
              <a:rPr lang="zh-CN" altLang="en-US" sz="2200" dirty="0"/>
              <a:t>实体和实体之间联系都用关系来表示</a:t>
            </a:r>
            <a:endParaRPr lang="zh-CN" altLang="en-US" sz="2200" dirty="0"/>
          </a:p>
          <a:p>
            <a:pPr lvl="2" algn="just" eaLnBrk="1" hangingPunct="1">
              <a:lnSpc>
                <a:spcPct val="120000"/>
              </a:lnSpc>
              <a:buSzPct val="87000"/>
              <a:buFont typeface="Wingdings" panose="05000000000000000000" pitchFamily="2" charset="2"/>
              <a:buChar char="l"/>
            </a:pPr>
            <a:r>
              <a:rPr lang="zh-CN" altLang="en-US" sz="2200" dirty="0"/>
              <a:t>对数据的检索和更新结果也是关系</a:t>
            </a:r>
            <a:endParaRPr lang="zh-CN" altLang="en-US" sz="2200" dirty="0"/>
          </a:p>
          <a:p>
            <a:pPr lvl="1" algn="just" eaLnBrk="1" hangingPunct="1">
              <a:lnSpc>
                <a:spcPct val="150000"/>
              </a:lnSpc>
            </a:pPr>
            <a:r>
              <a:rPr lang="zh-CN" altLang="en-US" dirty="0"/>
              <a:t>关系模型的存取路径对用户是隐蔽的</a:t>
            </a:r>
            <a:endParaRPr lang="zh-CN" altLang="en-US" dirty="0"/>
          </a:p>
          <a:p>
            <a:pPr lvl="2" algn="just" eaLnBrk="1" hangingPunct="1">
              <a:lnSpc>
                <a:spcPct val="120000"/>
              </a:lnSpc>
              <a:buSzPct val="87000"/>
              <a:buFont typeface="Wingdings" panose="05000000000000000000" pitchFamily="2" charset="2"/>
              <a:buChar char="l"/>
            </a:pPr>
            <a:r>
              <a:rPr lang="zh-CN" altLang="en-US" sz="2200" dirty="0"/>
              <a:t>具有更高的数据独立性，更好的安全保密性</a:t>
            </a:r>
            <a:endParaRPr lang="zh-CN" altLang="en-US" sz="2200" dirty="0"/>
          </a:p>
          <a:p>
            <a:pPr lvl="2" algn="just" eaLnBrk="1" hangingPunct="1">
              <a:lnSpc>
                <a:spcPct val="120000"/>
              </a:lnSpc>
              <a:buSzPct val="87000"/>
              <a:buFont typeface="Wingdings" panose="05000000000000000000" pitchFamily="2" charset="2"/>
              <a:buChar char="l"/>
            </a:pPr>
            <a:r>
              <a:rPr lang="zh-CN" altLang="en-US" sz="2200" dirty="0">
                <a:solidFill>
                  <a:srgbClr val="C00000"/>
                </a:solidFill>
              </a:rPr>
              <a:t>简化了程序员的工作</a:t>
            </a:r>
            <a:r>
              <a:rPr lang="zh-CN" altLang="en-US" sz="2200" dirty="0"/>
              <a:t>和数据库开发建立的工作</a:t>
            </a:r>
            <a:endParaRPr lang="zh-CN" altLang="en-US" sz="22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3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关系模型的优缺点（续）</a:t>
            </a:r>
            <a:endParaRPr lang="zh-CN" altLang="en-US" sz="3600" dirty="0"/>
          </a:p>
        </p:txBody>
      </p:sp>
      <p:sp>
        <p:nvSpPr>
          <p:cNvPr id="131074" name="Rectangle 3"/>
          <p:cNvSpPr>
            <a:spLocks noGrp="1"/>
          </p:cNvSpPr>
          <p:nvPr>
            <p:ph idx="1"/>
          </p:nvPr>
        </p:nvSpPr>
        <p:spPr>
          <a:xfrm>
            <a:off x="1127448" y="1113355"/>
            <a:ext cx="10515600" cy="4351338"/>
          </a:xfrm>
        </p:spPr>
        <p:txBody>
          <a:bodyPr vert="horz" wrap="square" lIns="91440" tIns="45720" rIns="91440" bIns="45720" anchor="t" anchorCtr="0"/>
          <a:lstStyle/>
          <a:p>
            <a:pPr algn="just" eaLnBrk="1" hangingPunct="1">
              <a:lnSpc>
                <a:spcPct val="160000"/>
              </a:lnSpc>
            </a:pPr>
            <a:r>
              <a:rPr lang="zh-CN" altLang="en-US" dirty="0"/>
              <a:t>缺点</a:t>
            </a:r>
            <a:endParaRPr lang="zh-CN" altLang="en-US" dirty="0"/>
          </a:p>
          <a:p>
            <a:pPr lvl="1" algn="just" eaLnBrk="1" hangingPunct="1">
              <a:lnSpc>
                <a:spcPct val="160000"/>
              </a:lnSpc>
            </a:pPr>
            <a:r>
              <a:rPr lang="zh-CN" altLang="en-US" dirty="0"/>
              <a:t>存取路径对用户隐蔽，查询效率往往不如</a:t>
            </a:r>
            <a:r>
              <a:rPr lang="zh-CN" altLang="zh-CN" dirty="0"/>
              <a:t>层次模型和网状模型。</a:t>
            </a:r>
            <a:endParaRPr lang="zh-CN" altLang="zh-CN" dirty="0"/>
          </a:p>
          <a:p>
            <a:pPr lvl="1" algn="just" eaLnBrk="1" hangingPunct="1">
              <a:lnSpc>
                <a:spcPct val="160000"/>
              </a:lnSpc>
            </a:pPr>
            <a:r>
              <a:rPr lang="zh-CN" altLang="en-US" dirty="0"/>
              <a:t>为提高性能，必须对用户的查询请求进行优化，增加了开发数据库管理系统的难度</a:t>
            </a:r>
            <a:endParaRPr lang="zh-CN" altLang="en-US" sz="2000" dirty="0"/>
          </a:p>
          <a:p>
            <a:pPr lvl="1" eaLnBrk="1" hangingPunct="1"/>
            <a:endParaRPr lang="en-US" altLang="zh-CN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7" name="Rectangle 2050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sz="3600" dirty="0"/>
              <a:t> 1.2  </a:t>
            </a:r>
            <a:r>
              <a:rPr lang="zh-CN" altLang="en-US" sz="3600" dirty="0"/>
              <a:t>数据模型</a:t>
            </a:r>
            <a:endParaRPr lang="zh-CN" altLang="en-US" sz="3600" dirty="0"/>
          </a:p>
        </p:txBody>
      </p:sp>
      <p:sp>
        <p:nvSpPr>
          <p:cNvPr id="132098" name="Rectangle 2051"/>
          <p:cNvSpPr>
            <a:spLocks noGrp="1"/>
          </p:cNvSpPr>
          <p:nvPr>
            <p:ph idx="1"/>
          </p:nvPr>
        </p:nvSpPr>
        <p:spPr>
          <a:xfrm>
            <a:off x="2481264" y="1098550"/>
            <a:ext cx="7502525" cy="4922838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130000"/>
              </a:lnSpc>
              <a:buNone/>
            </a:pPr>
            <a:r>
              <a:rPr lang="zh-CN" altLang="en-US" dirty="0"/>
              <a:t>  </a:t>
            </a:r>
            <a:r>
              <a:rPr lang="en-US" altLang="zh-CN" dirty="0"/>
              <a:t>1.2.1  </a:t>
            </a:r>
            <a:r>
              <a:rPr lang="zh-CN" altLang="en-US" dirty="0"/>
              <a:t>数据建模</a:t>
            </a:r>
            <a:endParaRPr lang="zh-CN" altLang="en-US" dirty="0"/>
          </a:p>
          <a:p>
            <a:pPr eaLnBrk="1" hangingPunct="1">
              <a:lnSpc>
                <a:spcPct val="130000"/>
              </a:lnSpc>
              <a:buNone/>
            </a:pPr>
            <a:r>
              <a:rPr lang="zh-CN" altLang="en-US" dirty="0"/>
              <a:t>  </a:t>
            </a:r>
            <a:r>
              <a:rPr lang="en-US" altLang="zh-CN" dirty="0"/>
              <a:t>1.2.2  </a:t>
            </a:r>
            <a:r>
              <a:rPr lang="zh-CN" altLang="en-US" dirty="0"/>
              <a:t>概念模型</a:t>
            </a:r>
            <a:endParaRPr lang="zh-CN" altLang="en-US" dirty="0"/>
          </a:p>
          <a:p>
            <a:pPr eaLnBrk="1" hangingPunct="1">
              <a:lnSpc>
                <a:spcPct val="130000"/>
              </a:lnSpc>
              <a:buNone/>
            </a:pPr>
            <a:r>
              <a:rPr lang="zh-CN" altLang="en-US" dirty="0"/>
              <a:t>  </a:t>
            </a:r>
            <a:r>
              <a:rPr lang="en-US" altLang="zh-CN" dirty="0"/>
              <a:t>1.2.3  </a:t>
            </a:r>
            <a:r>
              <a:rPr lang="zh-CN" altLang="en-US" dirty="0"/>
              <a:t>数据模型的三要素</a:t>
            </a:r>
            <a:endParaRPr lang="zh-CN" altLang="en-US" dirty="0"/>
          </a:p>
          <a:p>
            <a:pPr eaLnBrk="1" hangingPunct="1">
              <a:lnSpc>
                <a:spcPct val="130000"/>
              </a:lnSpc>
              <a:buNone/>
            </a:pPr>
            <a:r>
              <a:rPr lang="zh-CN" altLang="en-US" dirty="0"/>
              <a:t>  </a:t>
            </a:r>
            <a:r>
              <a:rPr lang="en-US" altLang="zh-CN" dirty="0"/>
              <a:t>1.2.4  </a:t>
            </a:r>
            <a:r>
              <a:rPr lang="zh-CN" altLang="en-US" dirty="0"/>
              <a:t>层次模型</a:t>
            </a:r>
            <a:endParaRPr lang="en-US" altLang="zh-CN" dirty="0"/>
          </a:p>
          <a:p>
            <a:pPr eaLnBrk="1" hangingPunct="1">
              <a:lnSpc>
                <a:spcPct val="130000"/>
              </a:lnSpc>
              <a:buNone/>
            </a:pPr>
            <a:r>
              <a:rPr lang="zh-CN" altLang="en-US" dirty="0"/>
              <a:t>  </a:t>
            </a:r>
            <a:r>
              <a:rPr lang="en-US" altLang="zh-CN" dirty="0"/>
              <a:t>1.2.5  </a:t>
            </a:r>
            <a:r>
              <a:rPr lang="zh-CN" altLang="en-US" dirty="0"/>
              <a:t>网状模型</a:t>
            </a:r>
            <a:endParaRPr lang="zh-CN" altLang="en-US" dirty="0"/>
          </a:p>
          <a:p>
            <a:pPr eaLnBrk="1" hangingPunct="1">
              <a:lnSpc>
                <a:spcPct val="130000"/>
              </a:lnSpc>
              <a:buNone/>
            </a:pPr>
            <a:r>
              <a:rPr lang="zh-CN" altLang="en-US" dirty="0"/>
              <a:t>  </a:t>
            </a:r>
            <a:r>
              <a:rPr lang="en-US" altLang="zh-CN" dirty="0"/>
              <a:t>1.2.6  </a:t>
            </a:r>
            <a:r>
              <a:rPr lang="zh-CN" altLang="en-US" dirty="0"/>
              <a:t>关系模型</a:t>
            </a:r>
            <a:endParaRPr lang="en-US" altLang="zh-CN" dirty="0"/>
          </a:p>
          <a:p>
            <a:pPr eaLnBrk="1" hangingPunct="1">
              <a:lnSpc>
                <a:spcPct val="130000"/>
              </a:lnSpc>
              <a:buNone/>
            </a:pPr>
            <a:r>
              <a:rPr lang="zh-CN" altLang="en-US" dirty="0">
                <a:solidFill>
                  <a:srgbClr val="00B050"/>
                </a:solidFill>
              </a:rPr>
              <a:t>  </a:t>
            </a:r>
            <a:r>
              <a:rPr lang="en-US" altLang="zh-CN" dirty="0">
                <a:solidFill>
                  <a:srgbClr val="00B050"/>
                </a:solidFill>
              </a:rPr>
              <a:t>1.2.7  </a:t>
            </a:r>
            <a:r>
              <a:rPr lang="zh-CN" altLang="en-US" dirty="0">
                <a:solidFill>
                  <a:srgbClr val="00B050"/>
                </a:solidFill>
              </a:rPr>
              <a:t>数据库领域中不断涌现的数据模型</a:t>
            </a:r>
            <a:endParaRPr lang="zh-CN" altLang="en-US" sz="2400" dirty="0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1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>
            <a:normAutofit/>
          </a:bodyPr>
          <a:lstStyle/>
          <a:p>
            <a:pPr eaLnBrk="1" hangingPunct="1"/>
            <a:r>
              <a:rPr lang="en-US" altLang="zh-CN" sz="3600" dirty="0"/>
              <a:t>1.2.7</a:t>
            </a:r>
            <a:r>
              <a:rPr lang="zh-CN" altLang="en-US" sz="3600" dirty="0"/>
              <a:t> 数据库领域中不断涌现的数据模型</a:t>
            </a:r>
            <a:endParaRPr lang="zh-CN" altLang="en-US" sz="3600" dirty="0"/>
          </a:p>
        </p:txBody>
      </p:sp>
      <p:sp>
        <p:nvSpPr>
          <p:cNvPr id="133122" name="Rectangle 3"/>
          <p:cNvSpPr>
            <a:spLocks noGrp="1"/>
          </p:cNvSpPr>
          <p:nvPr>
            <p:ph idx="1"/>
          </p:nvPr>
        </p:nvSpPr>
        <p:spPr>
          <a:xfrm>
            <a:off x="191770" y="837566"/>
            <a:ext cx="8229600" cy="5095875"/>
          </a:xfrm>
        </p:spPr>
        <p:txBody>
          <a:bodyPr vert="horz" wrap="square" lIns="91440" tIns="45720" rIns="91440" bIns="45720" anchor="t" anchorCtr="0">
            <a:normAutofit lnSpcReduction="10000"/>
          </a:bodyPr>
          <a:lstStyle/>
          <a:p>
            <a:pPr algn="just" eaLnBrk="1" hangingPunct="1">
              <a:lnSpc>
                <a:spcPct val="150000"/>
              </a:lnSpc>
            </a:pPr>
            <a:r>
              <a:rPr lang="zh-CN" altLang="en-US" dirty="0"/>
              <a:t>数据模型的发展进程</a:t>
            </a:r>
            <a:endParaRPr lang="zh-CN" altLang="en-US" dirty="0"/>
          </a:p>
          <a:p>
            <a:pPr lvl="1" algn="just" eaLnBrk="1" hangingPunct="1">
              <a:lnSpc>
                <a:spcPct val="150000"/>
              </a:lnSpc>
            </a:pPr>
            <a:r>
              <a:rPr lang="zh-CN" altLang="en-US" dirty="0"/>
              <a:t>层次模型、网状模型</a:t>
            </a:r>
            <a:endParaRPr lang="en-US" altLang="zh-CN" dirty="0"/>
          </a:p>
          <a:p>
            <a:pPr lvl="1" algn="just" eaLnBrk="1" hangingPunct="1">
              <a:lnSpc>
                <a:spcPct val="150000"/>
              </a:lnSpc>
            </a:pPr>
            <a:r>
              <a:rPr lang="zh-CN" altLang="en-US" dirty="0"/>
              <a:t>关系模型</a:t>
            </a:r>
            <a:endParaRPr lang="en-US" altLang="zh-CN" dirty="0"/>
          </a:p>
          <a:p>
            <a:pPr lvl="1" algn="just" eaLnBrk="1" hangingPunct="1">
              <a:lnSpc>
                <a:spcPct val="150000"/>
              </a:lnSpc>
            </a:pPr>
            <a:r>
              <a:rPr lang="zh-CN" altLang="en-US" dirty="0"/>
              <a:t>面向对象数据模型、对象关系数据模型</a:t>
            </a:r>
            <a:endParaRPr lang="en-US" altLang="zh-CN" dirty="0"/>
          </a:p>
          <a:p>
            <a:pPr lvl="1" algn="just" eaLnBrk="1" hangingPunct="1">
              <a:lnSpc>
                <a:spcPct val="150000"/>
              </a:lnSpc>
            </a:pPr>
            <a:r>
              <a:rPr lang="zh-CN" altLang="en-US" dirty="0"/>
              <a:t>半结构化的</a:t>
            </a:r>
            <a:r>
              <a:rPr lang="en-US" altLang="zh-CN" dirty="0"/>
              <a:t>XML</a:t>
            </a:r>
            <a:r>
              <a:rPr lang="zh-CN" altLang="en-US" dirty="0"/>
              <a:t>数据模型等</a:t>
            </a:r>
            <a:endParaRPr lang="en-US" altLang="zh-CN" dirty="0"/>
          </a:p>
          <a:p>
            <a:pPr lvl="1" algn="just" eaLnBrk="1" hangingPunct="1">
              <a:lnSpc>
                <a:spcPct val="150000"/>
              </a:lnSpc>
            </a:pPr>
            <a:r>
              <a:rPr lang="zh-CN" altLang="en-US" dirty="0"/>
              <a:t>新型数据模型</a:t>
            </a:r>
            <a:endParaRPr lang="zh-CN" altLang="en-US" dirty="0"/>
          </a:p>
          <a:p>
            <a:pPr lvl="2" algn="just" eaLnBrk="1" hangingPunct="1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200" dirty="0"/>
              <a:t>键值对数据模型</a:t>
            </a:r>
            <a:r>
              <a:rPr lang="en-US" altLang="zh-CN" sz="2200" dirty="0"/>
              <a:t>(Key</a:t>
            </a:r>
            <a:r>
              <a:rPr lang="zh-CN" altLang="en-US" sz="2200" dirty="0"/>
              <a:t> </a:t>
            </a:r>
            <a:r>
              <a:rPr lang="en-US" altLang="zh-CN" sz="2200" dirty="0"/>
              <a:t>-</a:t>
            </a:r>
            <a:r>
              <a:rPr lang="zh-CN" altLang="en-US" sz="2200" dirty="0"/>
              <a:t> </a:t>
            </a:r>
            <a:r>
              <a:rPr lang="en-US" altLang="zh-CN" sz="2200" dirty="0"/>
              <a:t>Value)</a:t>
            </a:r>
            <a:r>
              <a:rPr lang="zh-CN" altLang="en-US" sz="2200" dirty="0"/>
              <a:t>、文档数据模型、图数据模型、时序数据模型、时空数据模型、流数据模型、多媒体数据模型等</a:t>
            </a:r>
            <a:endParaRPr lang="en-US" altLang="zh-CN" sz="2200" dirty="0"/>
          </a:p>
          <a:p>
            <a:pPr lvl="1" algn="just" eaLnBrk="1" hangingPunct="1">
              <a:lnSpc>
                <a:spcPct val="150000"/>
              </a:lnSpc>
            </a:pPr>
            <a:endParaRPr lang="zh-CN" altLang="en-US" dirty="0"/>
          </a:p>
        </p:txBody>
      </p:sp>
      <p:pic>
        <p:nvPicPr>
          <p:cNvPr id="100" name="图片 99"/>
          <p:cNvPicPr/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7680325" y="1196975"/>
            <a:ext cx="3114675" cy="172847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2" name="图片 101"/>
          <p:cNvPicPr/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6240145" y="3357245"/>
            <a:ext cx="2905125" cy="91694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" name="图片 102"/>
          <p:cNvPicPr/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9417050" y="3742690"/>
            <a:ext cx="2755900" cy="163004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3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第一章  绪论</a:t>
            </a:r>
            <a:endParaRPr lang="zh-CN" altLang="en-US" sz="3600" dirty="0"/>
          </a:p>
        </p:txBody>
      </p:sp>
      <p:sp>
        <p:nvSpPr>
          <p:cNvPr id="136194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lstStyle/>
          <a:p>
            <a:pPr lvl="1" eaLnBrk="1" hangingPunct="1">
              <a:lnSpc>
                <a:spcPct val="150000"/>
              </a:lnSpc>
              <a:buNone/>
            </a:pPr>
            <a:r>
              <a:rPr lang="en-US" altLang="zh-CN" sz="2800" dirty="0"/>
              <a:t>  1.1 </a:t>
            </a:r>
            <a:r>
              <a:rPr lang="zh-CN" altLang="en-US" sz="2800" dirty="0"/>
              <a:t>数据库系统概述</a:t>
            </a:r>
            <a:endParaRPr lang="zh-CN" altLang="en-US" sz="2800" dirty="0"/>
          </a:p>
          <a:p>
            <a:pPr lvl="1" eaLnBrk="1" hangingPunct="1">
              <a:lnSpc>
                <a:spcPct val="150000"/>
              </a:lnSpc>
              <a:buNone/>
            </a:pPr>
            <a:r>
              <a:rPr lang="en-US" altLang="zh-CN" sz="2800" dirty="0"/>
              <a:t>  1.2  </a:t>
            </a:r>
            <a:r>
              <a:rPr lang="zh-CN" altLang="en-US" sz="2800" dirty="0"/>
              <a:t>数据模型</a:t>
            </a:r>
            <a:endParaRPr lang="zh-CN" altLang="en-US" sz="2800" dirty="0"/>
          </a:p>
          <a:p>
            <a:pPr lvl="1" eaLnBrk="1" hangingPunct="1">
              <a:lnSpc>
                <a:spcPct val="150000"/>
              </a:lnSpc>
              <a:buNone/>
            </a:pPr>
            <a:r>
              <a:rPr lang="en-US" altLang="zh-CN" sz="2800" dirty="0">
                <a:solidFill>
                  <a:srgbClr val="0066FF"/>
                </a:solidFill>
              </a:rPr>
              <a:t>  1.3  </a:t>
            </a:r>
            <a:r>
              <a:rPr lang="zh-CN" altLang="en-US" sz="2800" dirty="0">
                <a:solidFill>
                  <a:srgbClr val="0066FF"/>
                </a:solidFill>
              </a:rPr>
              <a:t>数据库系统的三级模式结构</a:t>
            </a:r>
            <a:endParaRPr lang="zh-CN" altLang="en-US" sz="2800" dirty="0">
              <a:solidFill>
                <a:srgbClr val="0066FF"/>
              </a:solidFill>
            </a:endParaRPr>
          </a:p>
          <a:p>
            <a:pPr lvl="1" eaLnBrk="1" hangingPunct="1">
              <a:lnSpc>
                <a:spcPct val="150000"/>
              </a:lnSpc>
              <a:buNone/>
            </a:pPr>
            <a:r>
              <a:rPr lang="en-US" altLang="zh-CN" sz="2800" dirty="0"/>
              <a:t>  1.4  </a:t>
            </a:r>
            <a:r>
              <a:rPr lang="zh-CN" altLang="en-US" sz="2800" dirty="0"/>
              <a:t>数据库系统的组成</a:t>
            </a:r>
            <a:endParaRPr lang="en-US" altLang="zh-CN" sz="2800" dirty="0"/>
          </a:p>
          <a:p>
            <a:pPr lvl="1" eaLnBrk="1" hangingPunct="1">
              <a:lnSpc>
                <a:spcPct val="150000"/>
              </a:lnSpc>
              <a:buNone/>
            </a:pPr>
            <a:r>
              <a:rPr lang="en-US" altLang="zh-CN" sz="3200" dirty="0">
                <a:sym typeface="Calibri" panose="020F0502020204030204" pitchFamily="34" charset="0"/>
              </a:rPr>
              <a:t>* </a:t>
            </a:r>
            <a:r>
              <a:rPr lang="en-US" altLang="zh-CN" sz="2800" dirty="0"/>
              <a:t>1.5  </a:t>
            </a:r>
            <a:r>
              <a:rPr lang="zh-CN" altLang="en-US" sz="2800" dirty="0"/>
              <a:t>数据库系统的体系结构</a:t>
            </a:r>
            <a:endParaRPr lang="en-US" altLang="zh-CN" sz="2800" dirty="0"/>
          </a:p>
          <a:p>
            <a:pPr lvl="1" eaLnBrk="1" hangingPunct="1">
              <a:lnSpc>
                <a:spcPct val="150000"/>
              </a:lnSpc>
              <a:buNone/>
            </a:pPr>
            <a:r>
              <a:rPr lang="en-US" altLang="zh-CN" sz="2800" dirty="0"/>
              <a:t>  1.6</a:t>
            </a:r>
            <a:r>
              <a:rPr lang="zh-CN" altLang="en-US" sz="2800" dirty="0"/>
              <a:t>  小结</a:t>
            </a:r>
            <a:endParaRPr lang="zh-CN" altLang="en-US" sz="28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5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>
            <a:normAutofit/>
          </a:bodyPr>
          <a:lstStyle/>
          <a:p>
            <a:pPr eaLnBrk="1" hangingPunct="1">
              <a:buNone/>
            </a:pPr>
            <a:r>
              <a:rPr lang="en-US" altLang="zh-CN" dirty="0">
                <a:sym typeface="+mn-ea"/>
              </a:rPr>
              <a:t>1.3 </a:t>
            </a:r>
            <a:r>
              <a:rPr lang="zh-CN" altLang="zh-CN" sz="3600" dirty="0"/>
              <a:t>数据库系统</a:t>
            </a:r>
            <a:r>
              <a:rPr lang="zh-CN" altLang="en-US" sz="3600" dirty="0"/>
              <a:t>的三级模式</a:t>
            </a:r>
            <a:r>
              <a:rPr lang="zh-CN" altLang="zh-CN" sz="3600" dirty="0"/>
              <a:t>结构</a:t>
            </a:r>
            <a:r>
              <a:rPr lang="en-US" altLang="zh-CN" sz="3600" dirty="0"/>
              <a:t> </a:t>
            </a:r>
            <a:endParaRPr lang="en-US" altLang="zh-CN" sz="3600" dirty="0"/>
          </a:p>
        </p:txBody>
      </p:sp>
      <p:sp>
        <p:nvSpPr>
          <p:cNvPr id="139266" name="Rectangle 3"/>
          <p:cNvSpPr>
            <a:spLocks noGrp="1"/>
          </p:cNvSpPr>
          <p:nvPr>
            <p:ph idx="1"/>
          </p:nvPr>
        </p:nvSpPr>
        <p:spPr>
          <a:xfrm>
            <a:off x="2114550" y="1339851"/>
            <a:ext cx="8229600" cy="4854575"/>
          </a:xfrm>
        </p:spPr>
        <p:txBody>
          <a:bodyPr vert="horz" wrap="square" lIns="91440" tIns="45720" rIns="91440" bIns="45720" anchor="t" anchorCtr="0"/>
          <a:lstStyle/>
          <a:p>
            <a:pPr algn="just" eaLnBrk="1" hangingPunct="1">
              <a:lnSpc>
                <a:spcPct val="190000"/>
              </a:lnSpc>
              <a:buNone/>
            </a:pPr>
            <a:r>
              <a:rPr lang="en-US" altLang="zh-CN" dirty="0">
                <a:solidFill>
                  <a:srgbClr val="00B050"/>
                </a:solidFill>
              </a:rPr>
              <a:t>1.3.1  </a:t>
            </a:r>
            <a:r>
              <a:rPr lang="zh-CN" altLang="en-US" dirty="0">
                <a:solidFill>
                  <a:srgbClr val="00B050"/>
                </a:solidFill>
              </a:rPr>
              <a:t>数据库系统模式的概念 </a:t>
            </a:r>
            <a:endParaRPr lang="zh-CN" altLang="en-US" dirty="0">
              <a:solidFill>
                <a:srgbClr val="00B050"/>
              </a:solidFill>
            </a:endParaRPr>
          </a:p>
          <a:p>
            <a:pPr algn="just" eaLnBrk="1" hangingPunct="1">
              <a:lnSpc>
                <a:spcPct val="190000"/>
              </a:lnSpc>
              <a:buNone/>
            </a:pPr>
            <a:r>
              <a:rPr lang="en-US" altLang="zh-CN" dirty="0"/>
              <a:t>1.3.2  </a:t>
            </a:r>
            <a:r>
              <a:rPr lang="zh-CN" altLang="en-US" dirty="0"/>
              <a:t>数据库系统的三级模式结构 </a:t>
            </a:r>
            <a:endParaRPr lang="zh-CN" altLang="en-US" dirty="0"/>
          </a:p>
          <a:p>
            <a:pPr algn="just" eaLnBrk="1" hangingPunct="1">
              <a:lnSpc>
                <a:spcPct val="190000"/>
              </a:lnSpc>
              <a:buNone/>
            </a:pPr>
            <a:r>
              <a:rPr lang="en-US" altLang="zh-CN" dirty="0"/>
              <a:t>1.3.3  </a:t>
            </a:r>
            <a:r>
              <a:rPr lang="zh-CN" altLang="en-US" dirty="0"/>
              <a:t>数据库的二级映像与数据独立性 </a:t>
            </a:r>
            <a:endParaRPr lang="zh-CN" altLang="en-US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89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>
            <a:normAutofit/>
          </a:bodyPr>
          <a:lstStyle/>
          <a:p>
            <a:pPr eaLnBrk="1" hangingPunct="1"/>
            <a:r>
              <a:rPr lang="en-US" altLang="zh-CN" sz="3600" dirty="0"/>
              <a:t>1.3.1 </a:t>
            </a:r>
            <a:r>
              <a:rPr lang="zh-CN" altLang="en-US" sz="3600" dirty="0"/>
              <a:t>数据库系统模式的概念</a:t>
            </a:r>
            <a:endParaRPr lang="zh-CN" altLang="en-US" sz="3600" dirty="0"/>
          </a:p>
        </p:txBody>
      </p:sp>
      <p:sp>
        <p:nvSpPr>
          <p:cNvPr id="140290" name="Rectangle 3"/>
          <p:cNvSpPr>
            <a:spLocks noGrp="1"/>
          </p:cNvSpPr>
          <p:nvPr>
            <p:ph idx="1"/>
          </p:nvPr>
        </p:nvSpPr>
        <p:spPr>
          <a:xfrm>
            <a:off x="1415480" y="1268413"/>
            <a:ext cx="10369152" cy="4787900"/>
          </a:xfrm>
        </p:spPr>
        <p:txBody>
          <a:bodyPr vert="horz" wrap="square" lIns="91440" tIns="45720" rIns="91440" bIns="45720" anchor="t" anchorCtr="0">
            <a:normAutofit lnSpcReduction="10000"/>
          </a:bodyPr>
          <a:lstStyle/>
          <a:p>
            <a:pPr eaLnBrk="1" hangingPunct="1">
              <a:lnSpc>
                <a:spcPct val="120000"/>
              </a:lnSpc>
              <a:spcBef>
                <a:spcPct val="0"/>
              </a:spcBef>
            </a:pPr>
            <a:r>
              <a:rPr lang="en-US" altLang="zh-CN" dirty="0"/>
              <a:t>“</a:t>
            </a:r>
            <a:r>
              <a:rPr lang="zh-CN" altLang="en-US" dirty="0"/>
              <a:t>型” 和“值” 的概念</a:t>
            </a:r>
            <a:endParaRPr lang="zh-CN" altLang="en-US" dirty="0"/>
          </a:p>
          <a:p>
            <a:pPr lvl="1" algn="just" eaLnBrk="1" hangingPunct="1">
              <a:lnSpc>
                <a:spcPct val="120000"/>
              </a:lnSpc>
              <a:spcBef>
                <a:spcPct val="0"/>
              </a:spcBef>
            </a:pPr>
            <a:r>
              <a:rPr lang="zh-CN" altLang="en-US" dirty="0">
                <a:solidFill>
                  <a:schemeClr val="hlink"/>
                </a:solidFill>
              </a:rPr>
              <a:t>型</a:t>
            </a:r>
            <a:r>
              <a:rPr lang="zh-CN" altLang="en-US" dirty="0"/>
              <a:t>（</a:t>
            </a:r>
            <a:r>
              <a:rPr lang="en-US" altLang="zh-CN" dirty="0"/>
              <a:t>type</a:t>
            </a:r>
            <a:r>
              <a:rPr lang="zh-CN" altLang="en-US" dirty="0"/>
              <a:t>）</a:t>
            </a:r>
            <a:endParaRPr lang="en-US" altLang="zh-CN" dirty="0"/>
          </a:p>
          <a:p>
            <a:pPr lvl="2" algn="just" eaLnBrk="1" hangingPunct="1">
              <a:lnSpc>
                <a:spcPct val="120000"/>
              </a:lnSpc>
              <a:spcBef>
                <a:spcPct val="0"/>
              </a:spcBef>
              <a:buSzPct val="87000"/>
              <a:buFont typeface="Wingdings" panose="05000000000000000000" pitchFamily="2" charset="2"/>
              <a:buChar char="l"/>
            </a:pPr>
            <a:r>
              <a:rPr lang="zh-CN" altLang="en-US" sz="2200" dirty="0"/>
              <a:t>对某一类数据的结构和属性的说明</a:t>
            </a:r>
            <a:endParaRPr lang="zh-CN" altLang="en-US" sz="2200" dirty="0"/>
          </a:p>
          <a:p>
            <a:pPr lvl="1" algn="just" eaLnBrk="1" hangingPunct="1">
              <a:lnSpc>
                <a:spcPct val="120000"/>
              </a:lnSpc>
              <a:spcBef>
                <a:spcPct val="0"/>
              </a:spcBef>
            </a:pPr>
            <a:r>
              <a:rPr lang="zh-CN" altLang="en-US" dirty="0">
                <a:solidFill>
                  <a:schemeClr val="hlink"/>
                </a:solidFill>
              </a:rPr>
              <a:t>值</a:t>
            </a:r>
            <a:r>
              <a:rPr lang="zh-CN" altLang="en-US" dirty="0"/>
              <a:t>（</a:t>
            </a:r>
            <a:r>
              <a:rPr lang="en-US" altLang="zh-CN" dirty="0"/>
              <a:t>value</a:t>
            </a:r>
            <a:r>
              <a:rPr lang="zh-CN" altLang="en-US" dirty="0"/>
              <a:t>）</a:t>
            </a:r>
            <a:endParaRPr lang="en-US" altLang="zh-CN" dirty="0"/>
          </a:p>
          <a:p>
            <a:pPr lvl="2" algn="just" eaLnBrk="1" hangingPunct="1">
              <a:lnSpc>
                <a:spcPct val="120000"/>
              </a:lnSpc>
              <a:spcBef>
                <a:spcPct val="0"/>
              </a:spcBef>
              <a:buSzPct val="87000"/>
              <a:buFont typeface="Wingdings" panose="05000000000000000000" pitchFamily="2" charset="2"/>
              <a:buChar char="l"/>
            </a:pPr>
            <a:r>
              <a:rPr lang="zh-CN" altLang="en-US" sz="2200" dirty="0"/>
              <a:t>是型的一个具体赋值</a:t>
            </a:r>
            <a:endParaRPr lang="zh-CN" altLang="en-US" sz="2200" dirty="0"/>
          </a:p>
          <a:p>
            <a:pPr marL="342900" lvl="0" indent="-342900" algn="just" eaLnBrk="1" hangingPunct="1">
              <a:lnSpc>
                <a:spcPct val="120000"/>
              </a:lnSpc>
              <a:spcBef>
                <a:spcPct val="0"/>
              </a:spcBef>
              <a:buSzPct val="87000"/>
              <a:buFont typeface="Wingdings" panose="05000000000000000000" charset="0"/>
              <a:buChar char="v"/>
            </a:pPr>
            <a:r>
              <a:rPr>
                <a:sym typeface="+mn-ea"/>
              </a:rPr>
              <a:t>模式是数据库中全体数据的</a:t>
            </a:r>
            <a:r>
              <a:rPr>
                <a:solidFill>
                  <a:srgbClr val="C00000"/>
                </a:solidFill>
                <a:sym typeface="+mn-ea"/>
              </a:rPr>
              <a:t>逻辑结构和特征</a:t>
            </a:r>
            <a:r>
              <a:rPr>
                <a:sym typeface="+mn-ea"/>
              </a:rPr>
              <a:t>的描述</a:t>
            </a:r>
            <a:endParaRPr>
              <a:sym typeface="+mn-ea"/>
            </a:endParaRPr>
          </a:p>
          <a:p>
            <a:pPr lvl="1" algn="just" eaLnBrk="1" hangingPunct="1">
              <a:lnSpc>
                <a:spcPct val="110000"/>
              </a:lnSpc>
            </a:pPr>
            <a:r>
              <a:rPr lang="zh-CN" altLang="en-US" dirty="0">
                <a:sym typeface="+mn-ea"/>
              </a:rPr>
              <a:t>反映的是数据的结构及其联系</a:t>
            </a:r>
            <a:endParaRPr lang="zh-CN" altLang="en-US" dirty="0"/>
          </a:p>
          <a:p>
            <a:pPr lvl="1" algn="just" eaLnBrk="1" hangingPunct="1">
              <a:lnSpc>
                <a:spcPct val="110000"/>
              </a:lnSpc>
            </a:pPr>
            <a:r>
              <a:rPr lang="zh-CN" altLang="en-US" dirty="0">
                <a:sym typeface="+mn-ea"/>
              </a:rPr>
              <a:t>模式是相对稳定的</a:t>
            </a:r>
            <a:endParaRPr lang="zh-CN" altLang="en-US" dirty="0">
              <a:sym typeface="+mn-ea"/>
            </a:endParaRPr>
          </a:p>
          <a:p>
            <a:pPr marL="342900" lvl="0" indent="-342900" algn="just" eaLnBrk="1" hangingPunct="1">
              <a:lnSpc>
                <a:spcPct val="110000"/>
              </a:lnSpc>
              <a:buFont typeface="Wingdings" panose="05000000000000000000" charset="0"/>
              <a:buChar char="v"/>
            </a:pPr>
            <a:r>
              <a:rPr lang="zh-CN" altLang="en-US" dirty="0">
                <a:solidFill>
                  <a:schemeClr val="tx1"/>
                </a:solidFill>
              </a:rPr>
              <a:t>同一个模式可以有很多实例</a:t>
            </a:r>
            <a:endParaRPr lang="zh-CN" altLang="en-US" dirty="0">
              <a:solidFill>
                <a:schemeClr val="tx1"/>
              </a:solidFill>
            </a:endParaRPr>
          </a:p>
          <a:p>
            <a:pPr marL="800100" lvl="1" indent="-342900" algn="just" eaLnBrk="1" hangingPunct="1">
              <a:lnSpc>
                <a:spcPct val="110000"/>
              </a:lnSpc>
              <a:buFont typeface="Wingdings" panose="05000000000000000000" charset="0"/>
              <a:buChar char="v"/>
            </a:pPr>
            <a:r>
              <a:rPr lang="zh-CN" altLang="en-US" dirty="0">
                <a:solidFill>
                  <a:schemeClr val="tx1"/>
                </a:solidFill>
              </a:rPr>
              <a:t>“</a:t>
            </a:r>
            <a:r>
              <a:rPr lang="en-US" altLang="zh-CN" dirty="0">
                <a:solidFill>
                  <a:schemeClr val="tx1"/>
                </a:solidFill>
              </a:rPr>
              <a:t>2019</a:t>
            </a:r>
            <a:r>
              <a:rPr lang="zh-CN" altLang="en-US" dirty="0">
                <a:solidFill>
                  <a:schemeClr val="tx1"/>
                </a:solidFill>
              </a:rPr>
              <a:t>年学生选课”数据库实例与“</a:t>
            </a:r>
            <a:r>
              <a:rPr lang="en-US" altLang="zh-CN" dirty="0">
                <a:solidFill>
                  <a:schemeClr val="tx1"/>
                </a:solidFill>
              </a:rPr>
              <a:t>2020</a:t>
            </a:r>
            <a:r>
              <a:rPr lang="zh-CN" altLang="en-US" dirty="0">
                <a:solidFill>
                  <a:schemeClr val="tx1"/>
                </a:solidFill>
              </a:rPr>
              <a:t>年学生选课”数据库实例是不同的</a:t>
            </a:r>
            <a:endParaRPr lang="zh-CN" altLang="en-US" dirty="0">
              <a:solidFill>
                <a:schemeClr val="tx1"/>
              </a:solidFill>
            </a:endParaRPr>
          </a:p>
          <a:p>
            <a:pPr lvl="1" algn="just" eaLnBrk="1" hangingPunct="1">
              <a:lnSpc>
                <a:spcPct val="120000"/>
              </a:lnSpc>
              <a:spcBef>
                <a:spcPct val="0"/>
              </a:spcBef>
              <a:buNone/>
            </a:pPr>
            <a:endParaRPr lang="zh-CN" alt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1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zh-CN" sz="3600" dirty="0"/>
              <a:t>数据库系统结构</a:t>
            </a:r>
            <a:r>
              <a:rPr lang="zh-CN" altLang="en-US" sz="3600" dirty="0"/>
              <a:t>（续）</a:t>
            </a:r>
            <a:endParaRPr lang="zh-CN" altLang="en-US" sz="3600" dirty="0"/>
          </a:p>
        </p:txBody>
      </p:sp>
      <p:sp>
        <p:nvSpPr>
          <p:cNvPr id="143362" name="Rectangle 3"/>
          <p:cNvSpPr>
            <a:spLocks noGrp="1"/>
          </p:cNvSpPr>
          <p:nvPr>
            <p:ph idx="1"/>
          </p:nvPr>
        </p:nvSpPr>
        <p:spPr>
          <a:xfrm>
            <a:off x="1356030" y="1340768"/>
            <a:ext cx="10515600" cy="4351338"/>
          </a:xfrm>
        </p:spPr>
        <p:txBody>
          <a:bodyPr vert="horz" wrap="square" lIns="91440" tIns="45720" rIns="91440" bIns="45720" anchor="t" anchorCtr="0"/>
          <a:lstStyle/>
          <a:p>
            <a:pPr algn="just" eaLnBrk="1" hangingPunct="1">
              <a:lnSpc>
                <a:spcPct val="190000"/>
              </a:lnSpc>
              <a:buNone/>
            </a:pPr>
            <a:r>
              <a:rPr lang="en-US" altLang="zh-CN" dirty="0"/>
              <a:t>1.3.1  </a:t>
            </a:r>
            <a:r>
              <a:rPr lang="zh-CN" altLang="en-US" dirty="0"/>
              <a:t>数据库系统模式的概念 </a:t>
            </a:r>
            <a:endParaRPr lang="zh-CN" altLang="en-US" dirty="0"/>
          </a:p>
          <a:p>
            <a:pPr algn="just" eaLnBrk="1" hangingPunct="1">
              <a:lnSpc>
                <a:spcPct val="190000"/>
              </a:lnSpc>
              <a:buNone/>
            </a:pPr>
            <a:r>
              <a:rPr lang="en-US" altLang="zh-CN" dirty="0">
                <a:solidFill>
                  <a:srgbClr val="00B050"/>
                </a:solidFill>
              </a:rPr>
              <a:t>1.3.2  </a:t>
            </a:r>
            <a:r>
              <a:rPr lang="zh-CN" altLang="en-US" dirty="0">
                <a:solidFill>
                  <a:srgbClr val="00B050"/>
                </a:solidFill>
              </a:rPr>
              <a:t>数据库系统的三级模式结构 </a:t>
            </a:r>
            <a:endParaRPr lang="zh-CN" altLang="en-US" dirty="0">
              <a:solidFill>
                <a:srgbClr val="00B050"/>
              </a:solidFill>
            </a:endParaRPr>
          </a:p>
          <a:p>
            <a:pPr algn="just" eaLnBrk="1" hangingPunct="1">
              <a:lnSpc>
                <a:spcPct val="190000"/>
              </a:lnSpc>
              <a:buNone/>
            </a:pPr>
            <a:r>
              <a:rPr lang="en-US" altLang="zh-CN" dirty="0"/>
              <a:t>1.3.3  </a:t>
            </a:r>
            <a:r>
              <a:rPr lang="zh-CN" altLang="en-US" dirty="0"/>
              <a:t>数据库的二级映像与数据独立性 </a:t>
            </a:r>
            <a:endParaRPr lang="zh-CN" altLang="en-US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5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>
            <a:normAutofit/>
          </a:bodyPr>
          <a:lstStyle/>
          <a:p>
            <a:pPr eaLnBrk="1" hangingPunct="1"/>
            <a:r>
              <a:rPr lang="en-US" altLang="zh-CN" sz="3600" dirty="0"/>
              <a:t>1.3.2 </a:t>
            </a:r>
            <a:r>
              <a:rPr lang="zh-CN" altLang="en-US" sz="3600" dirty="0"/>
              <a:t>数据库系统的三级模式结构</a:t>
            </a:r>
            <a:endParaRPr lang="zh-CN" altLang="en-US" sz="3600" dirty="0"/>
          </a:p>
        </p:txBody>
      </p:sp>
      <p:sp>
        <p:nvSpPr>
          <p:cNvPr id="144386" name="Rectangle 3"/>
          <p:cNvSpPr>
            <a:spLocks noGrp="1"/>
          </p:cNvSpPr>
          <p:nvPr>
            <p:ph idx="1"/>
          </p:nvPr>
        </p:nvSpPr>
        <p:spPr>
          <a:xfrm>
            <a:off x="2208213" y="1773238"/>
            <a:ext cx="7931150" cy="4495800"/>
          </a:xfrm>
        </p:spPr>
        <p:txBody>
          <a:bodyPr vert="horz" wrap="square" lIns="91440" tIns="45720" rIns="91440" bIns="45720" anchor="t" anchorCtr="0"/>
          <a:lstStyle/>
          <a:p>
            <a:pPr eaLnBrk="1" hangingPunct="1"/>
            <a:r>
              <a:rPr lang="zh-CN" altLang="en-US" dirty="0"/>
              <a:t>模式（</a:t>
            </a:r>
            <a:r>
              <a:rPr lang="en-US" altLang="zh-CN" dirty="0"/>
              <a:t>schema</a:t>
            </a:r>
            <a:r>
              <a:rPr lang="zh-CN" altLang="en-US" dirty="0"/>
              <a:t>） </a:t>
            </a:r>
            <a:endParaRPr lang="zh-CN" altLang="en-US" dirty="0"/>
          </a:p>
          <a:p>
            <a:pPr eaLnBrk="1" hangingPunct="1"/>
            <a:r>
              <a:rPr lang="zh-CN" altLang="en-US" dirty="0"/>
              <a:t>外模式（</a:t>
            </a:r>
            <a:r>
              <a:rPr lang="en-US" altLang="zh-CN" dirty="0"/>
              <a:t>external schema</a:t>
            </a:r>
            <a:r>
              <a:rPr lang="zh-CN" altLang="en-US" dirty="0"/>
              <a:t>）</a:t>
            </a:r>
            <a:endParaRPr lang="zh-CN" altLang="en-US" dirty="0"/>
          </a:p>
          <a:p>
            <a:pPr eaLnBrk="1" hangingPunct="1"/>
            <a:r>
              <a:rPr lang="zh-CN" altLang="en-US" dirty="0"/>
              <a:t>内模式（</a:t>
            </a:r>
            <a:r>
              <a:rPr lang="en-US" altLang="zh-CN" dirty="0"/>
              <a:t>internal schema</a:t>
            </a:r>
            <a:r>
              <a:rPr lang="zh-CN" altLang="en-US" dirty="0"/>
              <a:t>） </a:t>
            </a:r>
            <a:endParaRPr lang="zh-CN" altLang="en-US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09" name="Rectangle 1026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>
            <a:normAutofit/>
          </a:bodyPr>
          <a:lstStyle/>
          <a:p>
            <a:pPr eaLnBrk="1" hangingPunct="1"/>
            <a:r>
              <a:rPr lang="zh-CN" altLang="en-US" sz="3600" dirty="0"/>
              <a:t>数据库系统的三级模式结构（续）</a:t>
            </a:r>
            <a:endParaRPr lang="zh-CN" altLang="en-US" sz="3600" dirty="0"/>
          </a:p>
        </p:txBody>
      </p:sp>
      <p:sp>
        <p:nvSpPr>
          <p:cNvPr id="145410" name="Rectangle 2050"/>
          <p:cNvSpPr>
            <a:spLocks noGrp="1"/>
          </p:cNvSpPr>
          <p:nvPr>
            <p:ph idx="1"/>
          </p:nvPr>
        </p:nvSpPr>
        <p:spPr>
          <a:xfrm>
            <a:off x="3719512" y="5661024"/>
            <a:ext cx="5256807" cy="504279"/>
          </a:xfrm>
        </p:spPr>
        <p:txBody>
          <a:bodyPr vert="horz" wrap="square" lIns="91440" tIns="45720" rIns="91440" bIns="45720" anchor="t" anchorCtr="0">
            <a:normAutofit/>
          </a:bodyPr>
          <a:lstStyle/>
          <a:p>
            <a:pPr eaLnBrk="1" hangingPunct="1">
              <a:lnSpc>
                <a:spcPct val="80000"/>
              </a:lnSpc>
              <a:buNone/>
            </a:pPr>
            <a:r>
              <a:rPr lang="zh-CN" altLang="en-US" sz="1800" dirty="0"/>
              <a:t>       图</a:t>
            </a:r>
            <a:r>
              <a:rPr lang="en-US" altLang="zh-CN" sz="1800" dirty="0"/>
              <a:t>1.15  </a:t>
            </a:r>
            <a:r>
              <a:rPr lang="zh-CN" altLang="en-US" sz="1800" dirty="0"/>
              <a:t>数据库系统的三级模式结构 </a:t>
            </a:r>
            <a:endParaRPr lang="zh-CN" altLang="en-US" sz="1800" dirty="0"/>
          </a:p>
        </p:txBody>
      </p:sp>
      <p:pic>
        <p:nvPicPr>
          <p:cNvPr id="145411" name="Picture 2055" descr="databas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40014" y="1412876"/>
            <a:ext cx="6480175" cy="39274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3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sz="3600" dirty="0"/>
              <a:t>1.  </a:t>
            </a:r>
            <a:r>
              <a:rPr lang="zh-CN" altLang="en-US" sz="3600" dirty="0"/>
              <a:t>模式（</a:t>
            </a:r>
            <a:r>
              <a:rPr lang="en-US" altLang="zh-CN" sz="3600" dirty="0"/>
              <a:t>schema</a:t>
            </a:r>
            <a:r>
              <a:rPr lang="zh-CN" altLang="en-US" sz="3600" dirty="0"/>
              <a:t>）</a:t>
            </a:r>
            <a:endParaRPr lang="zh-CN" altLang="en-US" sz="3600" dirty="0"/>
          </a:p>
        </p:txBody>
      </p:sp>
      <p:sp>
        <p:nvSpPr>
          <p:cNvPr id="146434" name="Rectangle 3"/>
          <p:cNvSpPr>
            <a:spLocks noGrp="1"/>
          </p:cNvSpPr>
          <p:nvPr>
            <p:ph idx="1"/>
          </p:nvPr>
        </p:nvSpPr>
        <p:spPr>
          <a:xfrm>
            <a:off x="1981200" y="1339851"/>
            <a:ext cx="8362950" cy="4854575"/>
          </a:xfrm>
        </p:spPr>
        <p:txBody>
          <a:bodyPr vert="horz" wrap="square" lIns="91440" tIns="45720" rIns="91440" bIns="45720" anchor="t" anchorCtr="0">
            <a:normAutofit lnSpcReduction="10000"/>
          </a:bodyPr>
          <a:lstStyle/>
          <a:p>
            <a:pPr algn="just" eaLnBrk="1" hangingPunct="1">
              <a:lnSpc>
                <a:spcPct val="140000"/>
              </a:lnSpc>
            </a:pPr>
            <a:r>
              <a:rPr lang="zh-CN" altLang="en-US" dirty="0"/>
              <a:t>模式（也称逻辑模式）</a:t>
            </a:r>
            <a:endParaRPr lang="zh-CN" altLang="en-US" dirty="0"/>
          </a:p>
          <a:p>
            <a:pPr lvl="1" algn="just" eaLnBrk="1" hangingPunct="1">
              <a:lnSpc>
                <a:spcPct val="140000"/>
              </a:lnSpc>
            </a:pPr>
            <a:r>
              <a:rPr lang="zh-CN" altLang="en-US" dirty="0"/>
              <a:t>所有用户的</a:t>
            </a:r>
            <a:r>
              <a:rPr lang="zh-CN" altLang="en-US" dirty="0">
                <a:solidFill>
                  <a:srgbClr val="C00000"/>
                </a:solidFill>
              </a:rPr>
              <a:t>公共数据视图</a:t>
            </a:r>
            <a:endParaRPr lang="zh-CN" altLang="en-US" dirty="0"/>
          </a:p>
          <a:p>
            <a:pPr lvl="1" algn="just" eaLnBrk="1" hangingPunct="1">
              <a:lnSpc>
                <a:spcPct val="140000"/>
              </a:lnSpc>
            </a:pPr>
            <a:r>
              <a:rPr lang="zh-CN" altLang="en-US" dirty="0"/>
              <a:t>数据的逻辑结构，数据之间的联系，以及数据安全性和完整性</a:t>
            </a:r>
            <a:r>
              <a:rPr lang="zh-CN" altLang="en-US" dirty="0"/>
              <a:t>要求</a:t>
            </a:r>
            <a:endParaRPr lang="zh-CN" altLang="en-US" dirty="0"/>
          </a:p>
          <a:p>
            <a:pPr algn="just" eaLnBrk="1" hangingPunct="1">
              <a:lnSpc>
                <a:spcPct val="140000"/>
              </a:lnSpc>
            </a:pPr>
            <a:r>
              <a:rPr lang="zh-CN" altLang="en-US" dirty="0"/>
              <a:t>一个数据库只有一个模式</a:t>
            </a:r>
            <a:endParaRPr lang="zh-CN" altLang="en-US" dirty="0"/>
          </a:p>
          <a:p>
            <a:pPr algn="just" eaLnBrk="1" hangingPunct="1">
              <a:lnSpc>
                <a:spcPct val="140000"/>
              </a:lnSpc>
            </a:pPr>
            <a:r>
              <a:rPr lang="zh-CN" altLang="en-US" dirty="0"/>
              <a:t>模式的地位：是数据库系统模式结构的中间层</a:t>
            </a:r>
            <a:endParaRPr lang="zh-CN" altLang="en-US" dirty="0"/>
          </a:p>
          <a:p>
            <a:pPr lvl="1" algn="just" eaLnBrk="1" hangingPunct="1">
              <a:lnSpc>
                <a:spcPct val="140000"/>
              </a:lnSpc>
            </a:pPr>
            <a:r>
              <a:rPr lang="zh-CN" altLang="en-US" dirty="0"/>
              <a:t>与数据的物理存储细节和硬件环境无关</a:t>
            </a:r>
            <a:endParaRPr lang="zh-CN" altLang="en-US" dirty="0"/>
          </a:p>
          <a:p>
            <a:pPr lvl="1" algn="just" eaLnBrk="1" hangingPunct="1">
              <a:lnSpc>
                <a:spcPct val="140000"/>
              </a:lnSpc>
            </a:pPr>
            <a:r>
              <a:rPr lang="zh-CN" altLang="en-US" dirty="0"/>
              <a:t>与具体的应用程序、开发工具及高级程序设计语言无关</a:t>
            </a:r>
            <a:endParaRPr lang="zh-CN" altLang="en-US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1" name="Rectangle 1026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>
            <a:normAutofit/>
          </a:bodyPr>
          <a:lstStyle/>
          <a:p>
            <a:pPr eaLnBrk="1" hangingPunct="1">
              <a:buNone/>
            </a:pPr>
            <a:r>
              <a:rPr lang="en-US" altLang="zh-CN" sz="3600" dirty="0"/>
              <a:t>2.  </a:t>
            </a:r>
            <a:r>
              <a:rPr lang="zh-CN" altLang="en-US" sz="3600" dirty="0"/>
              <a:t>外模式（</a:t>
            </a:r>
            <a:r>
              <a:rPr lang="en-US" altLang="zh-CN" sz="3600" dirty="0"/>
              <a:t>external schema</a:t>
            </a:r>
            <a:r>
              <a:rPr lang="zh-CN" altLang="en-US" sz="3600" dirty="0"/>
              <a:t>）</a:t>
            </a:r>
            <a:endParaRPr lang="zh-CN" altLang="en-US" sz="3600" dirty="0"/>
          </a:p>
        </p:txBody>
      </p:sp>
      <p:sp>
        <p:nvSpPr>
          <p:cNvPr id="148482" name="Rectangle 1027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>
            <a:normAutofit lnSpcReduction="20000"/>
          </a:bodyPr>
          <a:lstStyle/>
          <a:p>
            <a:pPr algn="just" eaLnBrk="1" hangingPunct="1">
              <a:lnSpc>
                <a:spcPct val="180000"/>
              </a:lnSpc>
            </a:pPr>
            <a:r>
              <a:rPr lang="zh-CN" altLang="en-US" dirty="0"/>
              <a:t>外模式（也称子模式或用户模式）</a:t>
            </a:r>
            <a:endParaRPr lang="zh-CN" altLang="en-US" dirty="0"/>
          </a:p>
          <a:p>
            <a:pPr lvl="1" algn="just" eaLnBrk="1" hangingPunct="1">
              <a:lnSpc>
                <a:spcPct val="180000"/>
              </a:lnSpc>
            </a:pPr>
            <a:r>
              <a:rPr lang="zh-CN" altLang="en-US" dirty="0"/>
              <a:t>数据库用户（包括应用程序员和最终用户）能够看见和使用的</a:t>
            </a:r>
            <a:r>
              <a:rPr lang="zh-CN" altLang="en-US" dirty="0">
                <a:solidFill>
                  <a:srgbClr val="FF00FF"/>
                </a:solidFill>
              </a:rPr>
              <a:t>局部</a:t>
            </a:r>
            <a:r>
              <a:rPr lang="zh-CN" altLang="en-US" dirty="0"/>
              <a:t>数据的逻辑结构和特征的描述</a:t>
            </a:r>
            <a:endParaRPr lang="zh-CN" altLang="en-US" dirty="0"/>
          </a:p>
          <a:p>
            <a:pPr algn="just" eaLnBrk="1" hangingPunct="1">
              <a:lnSpc>
                <a:spcPct val="150000"/>
              </a:lnSpc>
            </a:pPr>
            <a:r>
              <a:rPr lang="zh-CN" altLang="en-US" dirty="0">
                <a:sym typeface="+mn-ea"/>
              </a:rPr>
              <a:t>一个数据库可以有多个外模式</a:t>
            </a:r>
            <a:endParaRPr dirty="0"/>
          </a:p>
          <a:p>
            <a:pPr lvl="1" algn="just" eaLnBrk="1" hangingPunct="1">
              <a:lnSpc>
                <a:spcPct val="150000"/>
              </a:lnSpc>
            </a:pPr>
            <a:r>
              <a:rPr lang="zh-CN" altLang="en-US" sz="2400" dirty="0">
                <a:sym typeface="+mn-ea"/>
              </a:rPr>
              <a:t>不同在用户的应用需求、看待数据的方式、对数据保密的要求等方面存在差异</a:t>
            </a:r>
            <a:endParaRPr lang="zh-CN" altLang="en-US" sz="2400" dirty="0"/>
          </a:p>
          <a:p>
            <a:pPr lvl="1" algn="just" eaLnBrk="1" hangingPunct="1">
              <a:lnSpc>
                <a:spcPct val="180000"/>
              </a:lnSpc>
            </a:pPr>
            <a:endParaRPr lang="zh-CN" altLang="en-US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3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>
            <a:normAutofit/>
          </a:bodyPr>
          <a:lstStyle/>
          <a:p>
            <a:pPr eaLnBrk="1" hangingPunct="1">
              <a:buNone/>
            </a:pPr>
            <a:r>
              <a:rPr lang="en-US" altLang="zh-CN" sz="3600" dirty="0"/>
              <a:t>3. </a:t>
            </a:r>
            <a:r>
              <a:rPr lang="zh-CN" altLang="en-US" sz="3600" dirty="0"/>
              <a:t>内模式（</a:t>
            </a:r>
            <a:r>
              <a:rPr lang="en-US" altLang="zh-CN" sz="3600" dirty="0"/>
              <a:t>internal schema</a:t>
            </a:r>
            <a:r>
              <a:rPr lang="zh-CN" altLang="en-US" sz="3600" dirty="0"/>
              <a:t>）</a:t>
            </a:r>
            <a:endParaRPr lang="zh-CN" altLang="en-US" sz="3600" dirty="0"/>
          </a:p>
        </p:txBody>
      </p:sp>
      <p:sp>
        <p:nvSpPr>
          <p:cNvPr id="151555" name="Rectangle 3"/>
          <p:cNvSpPr>
            <a:spLocks noGrp="1" noChangeArrowheads="1"/>
          </p:cNvSpPr>
          <p:nvPr>
            <p:ph idx="1"/>
          </p:nvPr>
        </p:nvSpPr>
        <p:spPr>
          <a:xfrm>
            <a:off x="1055440" y="1098550"/>
            <a:ext cx="10225136" cy="5149850"/>
          </a:xfrm>
        </p:spPr>
        <p:txBody>
          <a:bodyPr vert="horz" wrap="square" lIns="91440" tIns="45720" rIns="91440" bIns="45720" numCol="1" anchor="t" anchorCtr="0" compatLnSpc="1"/>
          <a:lstStyle/>
          <a:p>
            <a:pPr algn="just" eaLnBrk="1" hangingPunct="1">
              <a:lnSpc>
                <a:spcPct val="120000"/>
              </a:lnSpc>
              <a:buSzTx/>
              <a:defRPr/>
            </a:pPr>
            <a:r>
              <a:rPr lang="zh-CN" altLang="en-US" dirty="0"/>
              <a:t>内模式（也称存储模式）</a:t>
            </a:r>
            <a:endParaRPr lang="zh-CN" altLang="en-US" dirty="0"/>
          </a:p>
          <a:p>
            <a:pPr lvl="1" algn="just" eaLnBrk="1" hangingPunct="1">
              <a:lnSpc>
                <a:spcPct val="120000"/>
              </a:lnSpc>
              <a:buSzTx/>
              <a:defRPr/>
            </a:pPr>
            <a:r>
              <a:rPr lang="zh-CN" altLang="en-US" dirty="0">
                <a:cs typeface="+mn-ea"/>
              </a:rPr>
              <a:t>是数据物理结构和组织方式的描述</a:t>
            </a:r>
            <a:endParaRPr lang="zh-CN" altLang="en-US" dirty="0">
              <a:cs typeface="+mn-ea"/>
            </a:endParaRPr>
          </a:p>
          <a:p>
            <a:pPr lvl="1" algn="just" eaLnBrk="1" hangingPunct="1">
              <a:lnSpc>
                <a:spcPct val="120000"/>
              </a:lnSpc>
              <a:buSzTx/>
              <a:defRPr/>
            </a:pPr>
            <a:r>
              <a:rPr lang="zh-CN" altLang="en-US" dirty="0">
                <a:cs typeface="+mn-ea"/>
              </a:rPr>
              <a:t>是数据在数据库内部的表示方式</a:t>
            </a:r>
            <a:endParaRPr lang="zh-CN" altLang="en-US" dirty="0">
              <a:cs typeface="+mn-ea"/>
            </a:endParaRPr>
          </a:p>
          <a:p>
            <a:pPr lvl="2" algn="just" eaLnBrk="1" hangingPunct="1">
              <a:lnSpc>
                <a:spcPct val="130000"/>
              </a:lnSpc>
              <a:spcBef>
                <a:spcPct val="0"/>
              </a:spcBef>
              <a:buSzPct val="87000"/>
              <a:buFont typeface="Wingdings" panose="05000000000000000000" pitchFamily="2" charset="2"/>
              <a:buChar char="l"/>
              <a:defRPr/>
            </a:pPr>
            <a:r>
              <a:rPr lang="zh-CN" altLang="en-US" sz="2200" dirty="0">
                <a:cs typeface="+mn-ea"/>
              </a:rPr>
              <a:t>记录的存储方式</a:t>
            </a:r>
            <a:endParaRPr lang="zh-CN" altLang="en-US" sz="2200" dirty="0">
              <a:cs typeface="+mn-ea"/>
            </a:endParaRPr>
          </a:p>
          <a:p>
            <a:pPr lvl="2" algn="just" eaLnBrk="1" hangingPunct="1">
              <a:lnSpc>
                <a:spcPct val="130000"/>
              </a:lnSpc>
              <a:spcBef>
                <a:spcPct val="0"/>
              </a:spcBef>
              <a:buSzPct val="87000"/>
              <a:buFont typeface="Wingdings" panose="05000000000000000000" pitchFamily="2" charset="2"/>
              <a:buChar char="l"/>
              <a:defRPr/>
            </a:pPr>
            <a:r>
              <a:rPr lang="zh-CN" altLang="en-US" sz="2200" dirty="0">
                <a:cs typeface="+mn-ea"/>
              </a:rPr>
              <a:t>索引的组织方式（</a:t>
            </a:r>
            <a:r>
              <a:rPr lang="zh-CN" altLang="zh-CN" sz="2200" kern="1050" spc="2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</a:t>
            </a:r>
            <a:r>
              <a:rPr lang="en-US" altLang="zh-CN" sz="2200" i="1" kern="1050" spc="20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B</a:t>
            </a:r>
            <a:r>
              <a:rPr lang="en-US" altLang="zh-CN" sz="2200" kern="1050" spc="20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+</a:t>
            </a:r>
            <a:r>
              <a:rPr lang="zh-CN" altLang="zh-CN" sz="2200" kern="1050" spc="2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树索引还是</a:t>
            </a:r>
            <a:r>
              <a:rPr lang="en-US" altLang="zh-CN" sz="2200" kern="1050" spc="20" dirty="0"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  <a:t>hash</a:t>
            </a:r>
            <a:r>
              <a:rPr lang="zh-CN" altLang="zh-CN" sz="2200" kern="1050" spc="2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索引</a:t>
            </a:r>
            <a:r>
              <a:rPr lang="zh-CN" altLang="en-US" sz="2200" kern="1050" spc="2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endParaRPr lang="zh-CN" altLang="en-US" sz="2200" dirty="0">
              <a:cs typeface="+mn-ea"/>
            </a:endParaRPr>
          </a:p>
          <a:p>
            <a:pPr lvl="2" algn="just" eaLnBrk="1" hangingPunct="1">
              <a:lnSpc>
                <a:spcPct val="130000"/>
              </a:lnSpc>
              <a:spcBef>
                <a:spcPct val="0"/>
              </a:spcBef>
              <a:buSzPct val="87000"/>
              <a:buFont typeface="Wingdings" panose="05000000000000000000" pitchFamily="2" charset="2"/>
              <a:buChar char="l"/>
              <a:defRPr/>
            </a:pPr>
            <a:r>
              <a:rPr lang="zh-CN" altLang="en-US" sz="2200" dirty="0">
                <a:cs typeface="+mn-ea"/>
              </a:rPr>
              <a:t>数据是否压缩存储</a:t>
            </a:r>
            <a:endParaRPr lang="zh-CN" altLang="en-US" sz="2200" dirty="0">
              <a:cs typeface="+mn-ea"/>
            </a:endParaRPr>
          </a:p>
          <a:p>
            <a:pPr lvl="2" algn="just" eaLnBrk="1" hangingPunct="1">
              <a:lnSpc>
                <a:spcPct val="130000"/>
              </a:lnSpc>
              <a:spcBef>
                <a:spcPct val="0"/>
              </a:spcBef>
              <a:buSzPct val="87000"/>
              <a:buFont typeface="Wingdings" panose="05000000000000000000" pitchFamily="2" charset="2"/>
              <a:buChar char="l"/>
              <a:defRPr/>
            </a:pPr>
            <a:r>
              <a:rPr lang="zh-CN" altLang="en-US" sz="2200" dirty="0">
                <a:cs typeface="+mn-ea"/>
              </a:rPr>
              <a:t>数据是否加密</a:t>
            </a:r>
            <a:endParaRPr lang="zh-CN" altLang="en-US" sz="2200" dirty="0">
              <a:cs typeface="+mn-ea"/>
            </a:endParaRPr>
          </a:p>
          <a:p>
            <a:pPr lvl="2" algn="just" eaLnBrk="1" hangingPunct="1">
              <a:lnSpc>
                <a:spcPct val="130000"/>
              </a:lnSpc>
              <a:spcBef>
                <a:spcPct val="0"/>
              </a:spcBef>
              <a:buSzPct val="87000"/>
              <a:buFont typeface="Wingdings" panose="05000000000000000000" pitchFamily="2" charset="2"/>
              <a:buChar char="l"/>
              <a:defRPr/>
            </a:pPr>
            <a:r>
              <a:rPr lang="zh-CN" altLang="en-US" sz="2200" dirty="0">
                <a:cs typeface="+mn-ea"/>
              </a:rPr>
              <a:t>数据存储记录结构的规定</a:t>
            </a:r>
            <a:endParaRPr lang="zh-CN" altLang="en-US" sz="2200" dirty="0">
              <a:cs typeface="+mn-ea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7" name="Rectangle 1026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zh-CN" sz="3600" dirty="0"/>
              <a:t>数据库系统结构</a:t>
            </a:r>
            <a:r>
              <a:rPr lang="zh-CN" altLang="en-US" sz="3600" dirty="0"/>
              <a:t>（续）</a:t>
            </a:r>
            <a:endParaRPr lang="zh-CN" altLang="en-US" sz="3600" dirty="0"/>
          </a:p>
        </p:txBody>
      </p:sp>
      <p:sp>
        <p:nvSpPr>
          <p:cNvPr id="152578" name="Rectangle 1027"/>
          <p:cNvSpPr>
            <a:spLocks noGrp="1"/>
          </p:cNvSpPr>
          <p:nvPr>
            <p:ph idx="1"/>
          </p:nvPr>
        </p:nvSpPr>
        <p:spPr>
          <a:xfrm>
            <a:off x="767408" y="1113355"/>
            <a:ext cx="10515600" cy="4351338"/>
          </a:xfrm>
        </p:spPr>
        <p:txBody>
          <a:bodyPr vert="horz" wrap="square" lIns="91440" tIns="45720" rIns="91440" bIns="45720" anchor="t" anchorCtr="0"/>
          <a:lstStyle/>
          <a:p>
            <a:pPr algn="just" eaLnBrk="1" hangingPunct="1">
              <a:lnSpc>
                <a:spcPct val="200000"/>
              </a:lnSpc>
              <a:buNone/>
            </a:pPr>
            <a:r>
              <a:rPr lang="en-US" altLang="zh-CN" dirty="0"/>
              <a:t>1.3.1  </a:t>
            </a:r>
            <a:r>
              <a:rPr lang="zh-CN" altLang="en-US" dirty="0"/>
              <a:t>数据库系统模式的概念 </a:t>
            </a:r>
            <a:endParaRPr lang="zh-CN" altLang="en-US" dirty="0"/>
          </a:p>
          <a:p>
            <a:pPr algn="just" eaLnBrk="1" hangingPunct="1">
              <a:lnSpc>
                <a:spcPct val="200000"/>
              </a:lnSpc>
              <a:buNone/>
            </a:pPr>
            <a:r>
              <a:rPr lang="en-US" altLang="zh-CN" dirty="0"/>
              <a:t>1.3.2  </a:t>
            </a:r>
            <a:r>
              <a:rPr lang="zh-CN" altLang="en-US" dirty="0"/>
              <a:t>数据库系统的三级模式结构 </a:t>
            </a:r>
            <a:endParaRPr lang="zh-CN" altLang="en-US" dirty="0"/>
          </a:p>
          <a:p>
            <a:pPr algn="just" eaLnBrk="1" hangingPunct="1">
              <a:lnSpc>
                <a:spcPct val="200000"/>
              </a:lnSpc>
              <a:buNone/>
            </a:pPr>
            <a:r>
              <a:rPr lang="en-US" altLang="zh-CN" dirty="0">
                <a:solidFill>
                  <a:srgbClr val="00B050"/>
                </a:solidFill>
              </a:rPr>
              <a:t>1.3.3  </a:t>
            </a:r>
            <a:r>
              <a:rPr lang="zh-CN" altLang="en-US" dirty="0">
                <a:solidFill>
                  <a:srgbClr val="00B050"/>
                </a:solidFill>
              </a:rPr>
              <a:t>数据库的二级映像与数据独立性 </a:t>
            </a:r>
            <a:endParaRPr lang="zh-CN" altLang="en-US" dirty="0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1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>
            <a:normAutofit/>
          </a:bodyPr>
          <a:lstStyle/>
          <a:p>
            <a:pPr eaLnBrk="1" hangingPunct="1"/>
            <a:r>
              <a:rPr lang="zh-CN" altLang="en-US" sz="3600" dirty="0"/>
              <a:t>数据库的二级映像与数据独立性</a:t>
            </a:r>
            <a:endParaRPr lang="zh-CN" altLang="en-US" sz="3600" dirty="0"/>
          </a:p>
        </p:txBody>
      </p:sp>
      <p:sp>
        <p:nvSpPr>
          <p:cNvPr id="153602" name="Rectangle 3"/>
          <p:cNvSpPr>
            <a:spLocks noGrp="1"/>
          </p:cNvSpPr>
          <p:nvPr>
            <p:ph idx="1"/>
          </p:nvPr>
        </p:nvSpPr>
        <p:spPr>
          <a:xfrm>
            <a:off x="616818" y="1113355"/>
            <a:ext cx="11023797" cy="4351338"/>
          </a:xfrm>
        </p:spPr>
        <p:txBody>
          <a:bodyPr vert="horz" wrap="square" lIns="91440" tIns="45720" rIns="91440" bIns="45720" anchor="t" anchorCtr="0"/>
          <a:lstStyle/>
          <a:p>
            <a:pPr algn="just" eaLnBrk="1" hangingPunct="1"/>
            <a:r>
              <a:rPr lang="zh-CN" altLang="en-US" dirty="0"/>
              <a:t>三级模式是对数据的三个抽象级别</a:t>
            </a:r>
            <a:endParaRPr lang="zh-CN" altLang="en-US" dirty="0"/>
          </a:p>
          <a:p>
            <a:pPr algn="just" eaLnBrk="1" hangingPunct="1">
              <a:lnSpc>
                <a:spcPct val="160000"/>
              </a:lnSpc>
            </a:pPr>
            <a:r>
              <a:rPr lang="zh-CN" altLang="en-US" dirty="0"/>
              <a:t>二级映象在数据库管理系统内部实现三个抽象层次的联系和转换</a:t>
            </a:r>
            <a:endParaRPr lang="zh-CN" altLang="en-US" dirty="0"/>
          </a:p>
          <a:p>
            <a:pPr lvl="1" algn="just" eaLnBrk="1" hangingPunct="1">
              <a:lnSpc>
                <a:spcPct val="160000"/>
              </a:lnSpc>
            </a:pPr>
            <a:r>
              <a:rPr lang="zh-CN" altLang="en-US" dirty="0"/>
              <a:t>外模式／模式映像</a:t>
            </a:r>
            <a:endParaRPr lang="zh-CN" altLang="en-US" dirty="0"/>
          </a:p>
          <a:p>
            <a:pPr lvl="1" eaLnBrk="1" hangingPunct="1">
              <a:lnSpc>
                <a:spcPct val="160000"/>
              </a:lnSpc>
            </a:pPr>
            <a:r>
              <a:rPr lang="zh-CN" altLang="en-US" dirty="0"/>
              <a:t>模式／内模式映像 </a:t>
            </a:r>
            <a:endParaRPr lang="zh-CN" altLang="en-US" dirty="0"/>
          </a:p>
          <a:p>
            <a:pPr eaLnBrk="1" hangingPunct="1"/>
            <a:endParaRPr lang="en-US" altLang="zh-CN" sz="24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5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dirty="0"/>
              <a:t>1.  </a:t>
            </a:r>
            <a:r>
              <a:rPr lang="zh-CN" altLang="en-US" dirty="0"/>
              <a:t>外模式／模式映像</a:t>
            </a:r>
            <a:endParaRPr lang="zh-CN" altLang="en-US" dirty="0"/>
          </a:p>
        </p:txBody>
      </p:sp>
      <p:sp>
        <p:nvSpPr>
          <p:cNvPr id="154626" name="Rectangle 3"/>
          <p:cNvSpPr>
            <a:spLocks noGrp="1"/>
          </p:cNvSpPr>
          <p:nvPr>
            <p:ph idx="1"/>
          </p:nvPr>
        </p:nvSpPr>
        <p:spPr>
          <a:xfrm>
            <a:off x="983432" y="1098550"/>
            <a:ext cx="9793088" cy="4789488"/>
          </a:xfrm>
        </p:spPr>
        <p:txBody>
          <a:bodyPr vert="horz" wrap="square" lIns="91440" tIns="45720" rIns="91440" bIns="45720" anchor="t" anchorCtr="0"/>
          <a:lstStyle/>
          <a:p>
            <a:pPr algn="just" eaLnBrk="1" hangingPunct="1">
              <a:lnSpc>
                <a:spcPct val="160000"/>
              </a:lnSpc>
            </a:pPr>
            <a:r>
              <a:rPr lang="zh-CN" altLang="en-US" dirty="0"/>
              <a:t>模式：描述的是数据的全局逻辑结构</a:t>
            </a:r>
            <a:endParaRPr lang="zh-CN" altLang="en-US" dirty="0"/>
          </a:p>
          <a:p>
            <a:pPr algn="just" eaLnBrk="1" hangingPunct="1">
              <a:lnSpc>
                <a:spcPct val="160000"/>
              </a:lnSpc>
            </a:pPr>
            <a:r>
              <a:rPr lang="zh-CN" altLang="en-US" dirty="0"/>
              <a:t>外模式：描述的是数据的局部逻辑结构 </a:t>
            </a:r>
            <a:endParaRPr lang="zh-CN" altLang="en-US" dirty="0"/>
          </a:p>
          <a:p>
            <a:pPr algn="just" eaLnBrk="1" hangingPunct="1">
              <a:lnSpc>
                <a:spcPct val="160000"/>
              </a:lnSpc>
            </a:pPr>
            <a:r>
              <a:rPr lang="zh-CN" altLang="en-US" dirty="0"/>
              <a:t>同一个模式可以有任意多个外模式 </a:t>
            </a:r>
            <a:endParaRPr lang="zh-CN" altLang="en-US" dirty="0"/>
          </a:p>
          <a:p>
            <a:pPr algn="just" eaLnBrk="1" hangingPunct="1">
              <a:lnSpc>
                <a:spcPct val="160000"/>
              </a:lnSpc>
            </a:pPr>
            <a:r>
              <a:rPr lang="zh-CN" altLang="en-US" dirty="0"/>
              <a:t>每一个外模式，数据库系统都有一个外模式／模式映象，定义外模式与模式之间的对应关系</a:t>
            </a:r>
            <a:endParaRPr lang="zh-CN" altLang="en-US" dirty="0"/>
          </a:p>
          <a:p>
            <a:pPr algn="just" eaLnBrk="1" hangingPunct="1">
              <a:lnSpc>
                <a:spcPct val="160000"/>
              </a:lnSpc>
            </a:pPr>
            <a:r>
              <a:rPr lang="zh-CN" altLang="en-US" dirty="0"/>
              <a:t>映象定义通常包含在各自外模式的描述中</a:t>
            </a:r>
            <a:endParaRPr lang="zh-CN" altLang="en-US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49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外模式／模式映象（续）</a:t>
            </a:r>
            <a:endParaRPr lang="zh-CN" altLang="en-US" sz="3600" dirty="0"/>
          </a:p>
        </p:txBody>
      </p:sp>
      <p:sp>
        <p:nvSpPr>
          <p:cNvPr id="155650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lstStyle/>
          <a:p>
            <a:pPr algn="just" eaLnBrk="1" hangingPunct="1">
              <a:buNone/>
            </a:pPr>
            <a:r>
              <a:rPr lang="zh-CN" altLang="en-US" dirty="0"/>
              <a:t>保证数据的逻辑独立性</a:t>
            </a:r>
            <a:endParaRPr lang="zh-CN" altLang="en-US" dirty="0"/>
          </a:p>
          <a:p>
            <a:pPr lvl="1" algn="just" eaLnBrk="1" hangingPunct="1">
              <a:lnSpc>
                <a:spcPct val="150000"/>
              </a:lnSpc>
            </a:pPr>
            <a:r>
              <a:rPr lang="zh-CN" altLang="en-US" dirty="0"/>
              <a:t>当模式改变时，数据库管理员对外模式／模式映象作相应改变，使外模式保持不变</a:t>
            </a:r>
            <a:endParaRPr lang="zh-CN" altLang="en-US" dirty="0"/>
          </a:p>
          <a:p>
            <a:pPr lvl="1" algn="just" eaLnBrk="1" hangingPunct="1">
              <a:lnSpc>
                <a:spcPct val="150000"/>
              </a:lnSpc>
            </a:pPr>
            <a:r>
              <a:rPr lang="zh-CN" altLang="en-US" dirty="0"/>
              <a:t>应用程序是依据数据的外模式编写的，应用程序不必修改，保证了数据与程序的逻辑独立性，简称数据的逻辑独立性</a:t>
            </a:r>
            <a:endParaRPr lang="zh-CN" altLang="en-US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3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sz="3600" dirty="0"/>
              <a:t>2.  </a:t>
            </a:r>
            <a:r>
              <a:rPr lang="zh-CN" altLang="en-US" sz="3600" dirty="0"/>
              <a:t>模式／内模式映像</a:t>
            </a:r>
            <a:endParaRPr lang="zh-CN" altLang="en-US" sz="3600" dirty="0"/>
          </a:p>
        </p:txBody>
      </p:sp>
      <p:sp>
        <p:nvSpPr>
          <p:cNvPr id="156674" name="Rectangle 3"/>
          <p:cNvSpPr>
            <a:spLocks noGrp="1"/>
          </p:cNvSpPr>
          <p:nvPr>
            <p:ph idx="1"/>
          </p:nvPr>
        </p:nvSpPr>
        <p:spPr>
          <a:xfrm>
            <a:off x="1487488" y="1098550"/>
            <a:ext cx="9937104" cy="4789488"/>
          </a:xfrm>
        </p:spPr>
        <p:txBody>
          <a:bodyPr vert="horz" wrap="square" lIns="91440" tIns="45720" rIns="91440" bIns="45720" anchor="t" anchorCtr="0"/>
          <a:lstStyle/>
          <a:p>
            <a:pPr algn="just" eaLnBrk="1" hangingPunct="1">
              <a:lnSpc>
                <a:spcPct val="150000"/>
              </a:lnSpc>
            </a:pPr>
            <a:r>
              <a:rPr lang="zh-CN" altLang="en-US" dirty="0"/>
              <a:t>模式／内模式映象定义了数据全局逻辑结构与存储结构之间的对应关系。</a:t>
            </a:r>
            <a:endParaRPr lang="zh-CN" altLang="en-US" dirty="0"/>
          </a:p>
          <a:p>
            <a:pPr lvl="1" algn="just" eaLnBrk="1" hangingPunct="1">
              <a:lnSpc>
                <a:spcPct val="150000"/>
              </a:lnSpc>
            </a:pPr>
            <a:r>
              <a:rPr lang="zh-CN" altLang="en-US" dirty="0"/>
              <a:t>例如，说明逻辑记录和字段在内部是如何表示的</a:t>
            </a:r>
            <a:endParaRPr lang="zh-CN" altLang="en-US" dirty="0"/>
          </a:p>
          <a:p>
            <a:pPr algn="just" eaLnBrk="1" hangingPunct="1">
              <a:lnSpc>
                <a:spcPct val="150000"/>
              </a:lnSpc>
            </a:pPr>
            <a:r>
              <a:rPr lang="zh-CN" altLang="en-US" dirty="0"/>
              <a:t>数据库中模式／内模式映象是唯一的</a:t>
            </a:r>
            <a:endParaRPr lang="zh-CN" altLang="en-US" dirty="0"/>
          </a:p>
          <a:p>
            <a:pPr algn="just" eaLnBrk="1" hangingPunct="1">
              <a:lnSpc>
                <a:spcPct val="150000"/>
              </a:lnSpc>
            </a:pPr>
            <a:r>
              <a:rPr lang="zh-CN" altLang="en-US" dirty="0"/>
              <a:t>该映象定义通常包含在模式描述中</a:t>
            </a:r>
            <a:endParaRPr lang="zh-CN" altLang="en-US" dirty="0"/>
          </a:p>
          <a:p>
            <a:pPr lvl="1" algn="just" eaLnBrk="1" hangingPunct="1"/>
            <a:endParaRPr lang="en-US" altLang="zh-CN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7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模式／内模式映象（续）</a:t>
            </a:r>
            <a:endParaRPr lang="zh-CN" altLang="en-US" sz="3600" dirty="0"/>
          </a:p>
        </p:txBody>
      </p:sp>
      <p:sp>
        <p:nvSpPr>
          <p:cNvPr id="157698" name="Rectangle 3"/>
          <p:cNvSpPr>
            <a:spLocks noGrp="1"/>
          </p:cNvSpPr>
          <p:nvPr>
            <p:ph idx="1"/>
          </p:nvPr>
        </p:nvSpPr>
        <p:spPr>
          <a:xfrm>
            <a:off x="839416" y="1196976"/>
            <a:ext cx="10369152" cy="4854575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150000"/>
              </a:lnSpc>
            </a:pPr>
            <a:r>
              <a:rPr lang="zh-CN" altLang="en-US" dirty="0"/>
              <a:t>保证数据的物理独立性</a:t>
            </a:r>
            <a:endParaRPr lang="zh-CN" altLang="en-US" dirty="0"/>
          </a:p>
          <a:p>
            <a:pPr lvl="1" algn="just" eaLnBrk="1" hangingPunct="1">
              <a:lnSpc>
                <a:spcPct val="140000"/>
              </a:lnSpc>
            </a:pPr>
            <a:r>
              <a:rPr lang="zh-CN" altLang="en-US" dirty="0"/>
              <a:t>当数据库的存储结构改变时（例如选用了另一种存储结构），数据库管理员修改模式／内模式映象，使模式保持不变</a:t>
            </a:r>
            <a:endParaRPr lang="zh-CN" altLang="en-US" dirty="0"/>
          </a:p>
          <a:p>
            <a:pPr lvl="1" algn="just" eaLnBrk="1" hangingPunct="1">
              <a:lnSpc>
                <a:spcPct val="140000"/>
              </a:lnSpc>
            </a:pPr>
            <a:r>
              <a:rPr lang="zh-CN" altLang="en-US" dirty="0"/>
              <a:t>模式保持不变，应用程序不必改变。保证了数据与程序的物理独立性，简称数据的物理独立性。</a:t>
            </a:r>
            <a:endParaRPr lang="zh-CN" altLang="en-US" dirty="0"/>
          </a:p>
          <a:p>
            <a:pPr eaLnBrk="1" hangingPunct="1"/>
            <a:endParaRPr lang="en-US" altLang="zh-CN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8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>
              <a:buNone/>
            </a:pPr>
            <a:r>
              <a:rPr lang="zh-CN" altLang="en-US" sz="3600" dirty="0"/>
              <a:t>讨论：关于数据独立性（三级模式）</a:t>
            </a:r>
            <a:endParaRPr lang="zh-CN" altLang="en-US" sz="3600" dirty="0"/>
          </a:p>
        </p:txBody>
      </p:sp>
      <p:sp>
        <p:nvSpPr>
          <p:cNvPr id="4099" name="内容占位符 2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r>
              <a:rPr lang="zh-CN" altLang="zh-CN" sz="3200" dirty="0"/>
              <a:t>如何理解外模式</a:t>
            </a:r>
            <a:r>
              <a:rPr lang="en-US" altLang="zh-CN" sz="3200" dirty="0"/>
              <a:t>-</a:t>
            </a:r>
            <a:r>
              <a:rPr lang="zh-CN" altLang="zh-CN" sz="3200" dirty="0"/>
              <a:t>模式映像可以保证数据的逻辑独立性，而模式</a:t>
            </a:r>
            <a:r>
              <a:rPr lang="en-US" altLang="zh-CN" sz="3200" dirty="0"/>
              <a:t>-</a:t>
            </a:r>
            <a:r>
              <a:rPr lang="zh-CN" altLang="zh-CN" sz="3200" dirty="0"/>
              <a:t>内模式映像保证数据的物理独立性？</a:t>
            </a:r>
            <a:endParaRPr lang="en-US" altLang="zh-CN" sz="3200" dirty="0"/>
          </a:p>
          <a:p>
            <a:endParaRPr lang="en-US" altLang="zh-CN" sz="32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zh-CN" altLang="en-US" dirty="0"/>
              <a:t>独立性</a:t>
            </a:r>
            <a:endParaRPr lang="zh-CN" altLang="en-US" dirty="0"/>
          </a:p>
        </p:txBody>
      </p:sp>
      <p:sp>
        <p:nvSpPr>
          <p:cNvPr id="5123" name="内容占位符 2"/>
          <p:cNvSpPr>
            <a:spLocks noGrp="1"/>
          </p:cNvSpPr>
          <p:nvPr>
            <p:ph idx="1"/>
          </p:nvPr>
        </p:nvSpPr>
        <p:spPr>
          <a:xfrm>
            <a:off x="479425" y="908685"/>
            <a:ext cx="11880215" cy="4854575"/>
          </a:xfrm>
        </p:spPr>
        <p:txBody>
          <a:bodyPr vert="horz" wrap="square" lIns="91440" tIns="45720" rIns="91440" bIns="45720" anchor="t" anchorCtr="0">
            <a:noAutofit/>
          </a:bodyPr>
          <a:p>
            <a:r>
              <a:rPr lang="zh-CN" altLang="en-US" sz="2400" dirty="0"/>
              <a:t>所谓独立，就是通过</a:t>
            </a:r>
            <a:r>
              <a:rPr lang="zh-CN" altLang="en-US" sz="2400" dirty="0">
                <a:solidFill>
                  <a:srgbClr val="FF0000"/>
                </a:solidFill>
              </a:rPr>
              <a:t>解耦合</a:t>
            </a:r>
            <a:r>
              <a:rPr lang="zh-CN" altLang="en-US" sz="2400" dirty="0"/>
              <a:t>，使</a:t>
            </a:r>
            <a:r>
              <a:rPr lang="en-US" altLang="zh-CN" sz="2400" dirty="0"/>
              <a:t>A</a:t>
            </a:r>
            <a:r>
              <a:rPr lang="zh-CN" altLang="en-US" sz="2400" dirty="0"/>
              <a:t>发生改变时不影响</a:t>
            </a:r>
            <a:r>
              <a:rPr lang="en-US" altLang="zh-CN" sz="2400" dirty="0"/>
              <a:t>B</a:t>
            </a:r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r>
              <a:rPr lang="zh-CN" altLang="en-US" sz="2400" dirty="0"/>
              <a:t>以“基于文件系统的疫情防控”为例，实现功能“</a:t>
            </a:r>
            <a:r>
              <a:rPr lang="zh-CN" altLang="zh-CN" sz="2400" dirty="0"/>
              <a:t>根据身份证号，删除该条信息</a:t>
            </a:r>
            <a:r>
              <a:rPr lang="zh-CN" altLang="en-US" sz="2400" dirty="0"/>
              <a:t>”</a:t>
            </a:r>
            <a:endParaRPr lang="en-US" altLang="zh-CN" sz="2400" dirty="0"/>
          </a:p>
          <a:p>
            <a:r>
              <a:rPr lang="zh-CN" altLang="en-US" sz="2400" dirty="0"/>
              <a:t>实现方式一：读入身份证号，打开居民信息文件（</a:t>
            </a:r>
            <a:r>
              <a:rPr lang="en-US" altLang="zh-CN" sz="2400" dirty="0"/>
              <a:t>TXT</a:t>
            </a:r>
            <a:r>
              <a:rPr sz="2400" dirty="0"/>
              <a:t>）</a:t>
            </a:r>
            <a:r>
              <a:rPr lang="zh-CN" altLang="en-US" sz="2400" dirty="0"/>
              <a:t>，查找定位，执行删除</a:t>
            </a:r>
            <a:endParaRPr lang="en-US" altLang="zh-CN" sz="2400" dirty="0"/>
          </a:p>
          <a:p>
            <a:r>
              <a:rPr lang="zh-CN" altLang="en-US" sz="2400" dirty="0"/>
              <a:t>实现方式二：设计单独的删除数据函数（模块），函数的输入是身份证号，函数功能是扫描表格</a:t>
            </a:r>
            <a:r>
              <a:rPr sz="2400" dirty="0"/>
              <a:t>，删除身份证号相同的行</a:t>
            </a:r>
            <a:endParaRPr lang="en-US" altLang="zh-CN" sz="2400" dirty="0"/>
          </a:p>
          <a:p>
            <a:r>
              <a:rPr lang="zh-CN" altLang="en-US" sz="2400" dirty="0"/>
              <a:t>若文件格式发生变化（比如从</a:t>
            </a:r>
            <a:r>
              <a:rPr lang="en-US" altLang="zh-CN" sz="2400" dirty="0"/>
              <a:t>TXT</a:t>
            </a:r>
            <a:r>
              <a:rPr sz="2400" dirty="0"/>
              <a:t>变为</a:t>
            </a:r>
            <a:r>
              <a:rPr lang="en-US" altLang="zh-CN" sz="2400">
                <a:sym typeface="+mn-ea"/>
              </a:rPr>
              <a:t>Excel</a:t>
            </a:r>
            <a:r>
              <a:rPr sz="2400" dirty="0"/>
              <a:t>）</a:t>
            </a:r>
            <a:r>
              <a:rPr lang="zh-CN" altLang="en-US" sz="2400" dirty="0"/>
              <a:t>，方式一和方式二有何不同？</a:t>
            </a:r>
            <a:endParaRPr lang="en-US" altLang="zh-CN" sz="2400" dirty="0"/>
          </a:p>
          <a:p>
            <a:endParaRPr lang="en-US" altLang="zh-CN" sz="2400" dirty="0"/>
          </a:p>
        </p:txBody>
      </p:sp>
      <p:cxnSp>
        <p:nvCxnSpPr>
          <p:cNvPr id="7" name="直接连接符 6"/>
          <p:cNvCxnSpPr/>
          <p:nvPr/>
        </p:nvCxnSpPr>
        <p:spPr bwMode="auto">
          <a:xfrm>
            <a:off x="3219450" y="2473325"/>
            <a:ext cx="784225" cy="1905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图文框 13"/>
          <p:cNvSpPr/>
          <p:nvPr/>
        </p:nvSpPr>
        <p:spPr bwMode="auto">
          <a:xfrm>
            <a:off x="2820988" y="2259013"/>
            <a:ext cx="398463" cy="503238"/>
          </a:xfrm>
          <a:prstGeom prst="frame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图文框 14"/>
          <p:cNvSpPr/>
          <p:nvPr/>
        </p:nvSpPr>
        <p:spPr bwMode="auto">
          <a:xfrm>
            <a:off x="3983038" y="2220913"/>
            <a:ext cx="398463" cy="504825"/>
          </a:xfrm>
          <a:prstGeom prst="frame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B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6" name="直接连接符 15"/>
          <p:cNvCxnSpPr/>
          <p:nvPr/>
        </p:nvCxnSpPr>
        <p:spPr bwMode="auto">
          <a:xfrm>
            <a:off x="6846888" y="2473325"/>
            <a:ext cx="784225" cy="1905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图文框 16"/>
          <p:cNvSpPr/>
          <p:nvPr/>
        </p:nvSpPr>
        <p:spPr bwMode="auto">
          <a:xfrm>
            <a:off x="6448425" y="2259013"/>
            <a:ext cx="398463" cy="503238"/>
          </a:xfrm>
          <a:prstGeom prst="frame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图文框 17"/>
          <p:cNvSpPr/>
          <p:nvPr/>
        </p:nvSpPr>
        <p:spPr bwMode="auto">
          <a:xfrm>
            <a:off x="9048750" y="2259013"/>
            <a:ext cx="398463" cy="503238"/>
          </a:xfrm>
          <a:prstGeom prst="frame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B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130" name="六边形 18"/>
          <p:cNvSpPr/>
          <p:nvPr/>
        </p:nvSpPr>
        <p:spPr>
          <a:xfrm>
            <a:off x="7643813" y="2220913"/>
            <a:ext cx="647700" cy="504825"/>
          </a:xfrm>
          <a:prstGeom prst="hexagon">
            <a:avLst>
              <a:gd name="adj" fmla="val 24947"/>
              <a:gd name="vf" fmla="val 115470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SzTx/>
              <a:buFont typeface="Arial" panose="020B0604020202020204" pitchFamily="34" charset="0"/>
              <a:buNone/>
            </a:pPr>
            <a:endParaRPr lang="zh-CN" altLang="en-US" sz="1800" b="0" dirty="0"/>
          </a:p>
        </p:txBody>
      </p:sp>
      <p:cxnSp>
        <p:nvCxnSpPr>
          <p:cNvPr id="20" name="直接连接符 19"/>
          <p:cNvCxnSpPr/>
          <p:nvPr/>
        </p:nvCxnSpPr>
        <p:spPr bwMode="auto">
          <a:xfrm>
            <a:off x="8291513" y="2492375"/>
            <a:ext cx="757238" cy="1905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zh-CN" altLang="en-US" dirty="0"/>
              <a:t>三级模式例子：数字人大</a:t>
            </a:r>
            <a:endParaRPr lang="zh-CN" altLang="en-US" dirty="0"/>
          </a:p>
        </p:txBody>
      </p:sp>
      <p:sp>
        <p:nvSpPr>
          <p:cNvPr id="7171" name="内容占位符 2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r>
              <a:rPr lang="zh-CN" altLang="en-US" dirty="0"/>
              <a:t>模式</a:t>
            </a:r>
            <a:endParaRPr lang="en-US" altLang="zh-CN" dirty="0"/>
          </a:p>
          <a:p>
            <a:pPr lvl="1"/>
            <a:r>
              <a:rPr lang="zh-CN" altLang="en-US" dirty="0"/>
              <a:t>数据的逻辑结构（关系表）：学生表、教师表、课程表、选课表、部门表、设备表等等</a:t>
            </a:r>
            <a:endParaRPr lang="en-US" altLang="zh-CN" dirty="0"/>
          </a:p>
          <a:p>
            <a:pPr lvl="1"/>
            <a:r>
              <a:rPr lang="zh-CN" altLang="en-US" dirty="0"/>
              <a:t>数据之间的联系：选课表中每一条记录的“学号”一定对应某个学生</a:t>
            </a:r>
            <a:endParaRPr lang="en-US" altLang="zh-CN" dirty="0"/>
          </a:p>
          <a:p>
            <a:pPr lvl="1"/>
            <a:r>
              <a:rPr lang="zh-CN" altLang="en-US" dirty="0"/>
              <a:t>数据有关的安全性、完整性要求：学号是</a:t>
            </a:r>
            <a:r>
              <a:rPr lang="en-US" altLang="zh-CN" dirty="0"/>
              <a:t>10</a:t>
            </a:r>
            <a:r>
              <a:rPr lang="zh-CN" altLang="en-US" dirty="0"/>
              <a:t>位数字，职工号是</a:t>
            </a:r>
            <a:r>
              <a:rPr lang="en-US" altLang="zh-CN" dirty="0"/>
              <a:t>8</a:t>
            </a:r>
            <a:r>
              <a:rPr lang="zh-CN" altLang="en-US" dirty="0"/>
              <a:t>位数字，只有任课老师可以修改选课成绩等等</a:t>
            </a:r>
            <a:endParaRPr lang="en-US" altLang="zh-CN" dirty="0"/>
          </a:p>
          <a:p>
            <a:pPr lvl="1"/>
            <a:endParaRPr lang="zh-CN" altLang="en-US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767398" y="4148773"/>
          <a:ext cx="2232025" cy="130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8165"/>
                <a:gridCol w="557530"/>
                <a:gridCol w="558165"/>
                <a:gridCol w="558165"/>
              </a:tblGrid>
              <a:tr h="325120"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solidFill>
                            <a:schemeClr val="tx1"/>
                          </a:solidFill>
                        </a:rPr>
                        <a:t>学号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91431" marR="91431" marT="45737" marB="45737"/>
                </a:tc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solidFill>
                            <a:schemeClr val="tx1"/>
                          </a:solidFill>
                        </a:rPr>
                        <a:t>姓名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91431" marR="91431" marT="45737" marB="45737"/>
                </a:tc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solidFill>
                            <a:schemeClr val="tx1"/>
                          </a:solidFill>
                        </a:rPr>
                        <a:t>性别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91431" marR="91431" marT="45737" marB="45737"/>
                </a:tc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solidFill>
                            <a:schemeClr val="tx1"/>
                          </a:solidFill>
                        </a:rPr>
                        <a:t>生日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91431" marR="91431" marT="45737" marB="45737"/>
                </a:tc>
              </a:tr>
              <a:tr h="325120">
                <a:tc>
                  <a:txBody>
                    <a:bodyPr/>
                    <a:lstStyle/>
                    <a:p>
                      <a:endParaRPr lang="zh-CN" altLang="en-US" sz="1400">
                        <a:solidFill>
                          <a:schemeClr val="tx1"/>
                        </a:solidFill>
                      </a:endParaRPr>
                    </a:p>
                  </a:txBody>
                  <a:tcPr marL="91431" marR="91431" marT="45737" marB="45737"/>
                </a:tc>
                <a:tc>
                  <a:txBody>
                    <a:bodyPr/>
                    <a:lstStyle/>
                    <a:p>
                      <a:endParaRPr lang="zh-CN" altLang="en-US" sz="1400">
                        <a:solidFill>
                          <a:schemeClr val="tx1"/>
                        </a:solidFill>
                      </a:endParaRPr>
                    </a:p>
                  </a:txBody>
                  <a:tcPr marL="91431" marR="91431" marT="45737" marB="45737"/>
                </a:tc>
                <a:tc>
                  <a:txBody>
                    <a:bodyPr/>
                    <a:lstStyle/>
                    <a:p>
                      <a:endParaRPr lang="zh-CN" altLang="en-US" sz="1400">
                        <a:solidFill>
                          <a:schemeClr val="tx1"/>
                        </a:solidFill>
                      </a:endParaRPr>
                    </a:p>
                  </a:txBody>
                  <a:tcPr marL="91431" marR="91431" marT="45737" marB="45737"/>
                </a:tc>
                <a:tc>
                  <a:txBody>
                    <a:bodyPr/>
                    <a:lstStyle/>
                    <a:p>
                      <a:endParaRPr lang="zh-CN" altLang="en-US" sz="1400">
                        <a:solidFill>
                          <a:schemeClr val="tx1"/>
                        </a:solidFill>
                      </a:endParaRPr>
                    </a:p>
                  </a:txBody>
                  <a:tcPr marL="91431" marR="91431" marT="45737" marB="45737"/>
                </a:tc>
              </a:tr>
              <a:tr h="325120">
                <a:tc>
                  <a:txBody>
                    <a:bodyPr/>
                    <a:lstStyle/>
                    <a:p>
                      <a:endParaRPr lang="zh-CN" altLang="en-US" sz="1400">
                        <a:solidFill>
                          <a:schemeClr val="tx1"/>
                        </a:solidFill>
                      </a:endParaRPr>
                    </a:p>
                  </a:txBody>
                  <a:tcPr marL="91431" marR="91431" marT="45737" marB="45737"/>
                </a:tc>
                <a:tc>
                  <a:txBody>
                    <a:bodyPr/>
                    <a:lstStyle/>
                    <a:p>
                      <a:endParaRPr lang="zh-CN" altLang="en-US" sz="1400">
                        <a:solidFill>
                          <a:schemeClr val="tx1"/>
                        </a:solidFill>
                      </a:endParaRPr>
                    </a:p>
                  </a:txBody>
                  <a:tcPr marL="91431" marR="91431" marT="45737" marB="45737"/>
                </a:tc>
                <a:tc>
                  <a:txBody>
                    <a:bodyPr/>
                    <a:lstStyle/>
                    <a:p>
                      <a:endParaRPr lang="zh-CN" altLang="en-US" sz="1400">
                        <a:solidFill>
                          <a:schemeClr val="tx1"/>
                        </a:solidFill>
                      </a:endParaRPr>
                    </a:p>
                  </a:txBody>
                  <a:tcPr marL="91431" marR="91431" marT="45737" marB="45737"/>
                </a:tc>
                <a:tc>
                  <a:txBody>
                    <a:bodyPr/>
                    <a:lstStyle/>
                    <a:p>
                      <a:endParaRPr lang="zh-CN" altLang="en-US" sz="1400">
                        <a:solidFill>
                          <a:schemeClr val="tx1"/>
                        </a:solidFill>
                      </a:endParaRPr>
                    </a:p>
                  </a:txBody>
                  <a:tcPr marL="91431" marR="91431" marT="45737" marB="45737"/>
                </a:tc>
              </a:tr>
              <a:tr h="325120">
                <a:tc>
                  <a:txBody>
                    <a:bodyPr/>
                    <a:lstStyle/>
                    <a:p>
                      <a:endParaRPr lang="zh-CN" altLang="en-US" sz="1400">
                        <a:solidFill>
                          <a:schemeClr val="tx1"/>
                        </a:solidFill>
                      </a:endParaRPr>
                    </a:p>
                  </a:txBody>
                  <a:tcPr marL="91431" marR="91431" marT="45737" marB="45737"/>
                </a:tc>
                <a:tc>
                  <a:txBody>
                    <a:bodyPr/>
                    <a:lstStyle/>
                    <a:p>
                      <a:endParaRPr lang="zh-CN" altLang="en-US" sz="1400">
                        <a:solidFill>
                          <a:schemeClr val="tx1"/>
                        </a:solidFill>
                      </a:endParaRPr>
                    </a:p>
                  </a:txBody>
                  <a:tcPr marL="91431" marR="91431" marT="45737" marB="45737"/>
                </a:tc>
                <a:tc>
                  <a:txBody>
                    <a:bodyPr/>
                    <a:lstStyle/>
                    <a:p>
                      <a:endParaRPr lang="zh-CN" altLang="en-US" sz="1400">
                        <a:solidFill>
                          <a:schemeClr val="tx1"/>
                        </a:solidFill>
                      </a:endParaRPr>
                    </a:p>
                  </a:txBody>
                  <a:tcPr marL="91431" marR="91431" marT="45737" marB="45737"/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91431" marR="91431" marT="45737" marB="45737"/>
                </a:tc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3863658" y="4165918"/>
          <a:ext cx="2787650" cy="12985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6430"/>
                <a:gridCol w="646430"/>
                <a:gridCol w="560070"/>
                <a:gridCol w="934720"/>
              </a:tblGrid>
              <a:tr h="324644"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solidFill>
                            <a:schemeClr val="tx1"/>
                          </a:solidFill>
                        </a:rPr>
                        <a:t>工号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91470" marR="91470" marT="45681" marB="45681"/>
                </a:tc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solidFill>
                            <a:schemeClr val="tx1"/>
                          </a:solidFill>
                        </a:rPr>
                        <a:t>姓名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91470" marR="91470" marT="45681" marB="45681"/>
                </a:tc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solidFill>
                            <a:schemeClr val="tx1"/>
                          </a:solidFill>
                        </a:rPr>
                        <a:t>性别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91470" marR="91470" marT="45681" marB="45681"/>
                </a:tc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solidFill>
                            <a:schemeClr val="tx1"/>
                          </a:solidFill>
                        </a:rPr>
                        <a:t>所在部门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91470" marR="91470" marT="45681" marB="45681"/>
                </a:tc>
              </a:tr>
              <a:tr h="324644">
                <a:tc>
                  <a:txBody>
                    <a:bodyPr/>
                    <a:lstStyle/>
                    <a:p>
                      <a:endParaRPr lang="zh-CN" altLang="en-US" sz="1400">
                        <a:solidFill>
                          <a:schemeClr val="tx1"/>
                        </a:solidFill>
                      </a:endParaRPr>
                    </a:p>
                  </a:txBody>
                  <a:tcPr marL="91470" marR="91470" marT="45681" marB="45681"/>
                </a:tc>
                <a:tc>
                  <a:txBody>
                    <a:bodyPr/>
                    <a:lstStyle/>
                    <a:p>
                      <a:endParaRPr lang="zh-CN" altLang="en-US" sz="1400">
                        <a:solidFill>
                          <a:schemeClr val="tx1"/>
                        </a:solidFill>
                      </a:endParaRPr>
                    </a:p>
                  </a:txBody>
                  <a:tcPr marL="91470" marR="91470" marT="45681" marB="45681"/>
                </a:tc>
                <a:tc>
                  <a:txBody>
                    <a:bodyPr/>
                    <a:lstStyle/>
                    <a:p>
                      <a:endParaRPr lang="zh-CN" altLang="en-US" sz="1400">
                        <a:solidFill>
                          <a:schemeClr val="tx1"/>
                        </a:solidFill>
                      </a:endParaRPr>
                    </a:p>
                  </a:txBody>
                  <a:tcPr marL="91470" marR="91470" marT="45681" marB="45681"/>
                </a:tc>
                <a:tc>
                  <a:txBody>
                    <a:bodyPr/>
                    <a:lstStyle/>
                    <a:p>
                      <a:endParaRPr lang="zh-CN" altLang="en-US" sz="1400">
                        <a:solidFill>
                          <a:schemeClr val="tx1"/>
                        </a:solidFill>
                      </a:endParaRPr>
                    </a:p>
                  </a:txBody>
                  <a:tcPr marL="91470" marR="91470" marT="45681" marB="45681"/>
                </a:tc>
              </a:tr>
              <a:tr h="324485">
                <a:tc>
                  <a:txBody>
                    <a:bodyPr/>
                    <a:lstStyle/>
                    <a:p>
                      <a:endParaRPr lang="zh-CN" altLang="en-US" sz="1400">
                        <a:solidFill>
                          <a:schemeClr val="tx1"/>
                        </a:solidFill>
                      </a:endParaRPr>
                    </a:p>
                  </a:txBody>
                  <a:tcPr marL="91470" marR="91470" marT="45681" marB="45681"/>
                </a:tc>
                <a:tc>
                  <a:txBody>
                    <a:bodyPr/>
                    <a:lstStyle/>
                    <a:p>
                      <a:endParaRPr lang="zh-CN" altLang="en-US" sz="1400">
                        <a:solidFill>
                          <a:schemeClr val="tx1"/>
                        </a:solidFill>
                      </a:endParaRPr>
                    </a:p>
                  </a:txBody>
                  <a:tcPr marL="91470" marR="91470" marT="45681" marB="45681"/>
                </a:tc>
                <a:tc>
                  <a:txBody>
                    <a:bodyPr/>
                    <a:lstStyle/>
                    <a:p>
                      <a:endParaRPr lang="zh-CN" altLang="en-US" sz="1400">
                        <a:solidFill>
                          <a:schemeClr val="tx1"/>
                        </a:solidFill>
                      </a:endParaRPr>
                    </a:p>
                  </a:txBody>
                  <a:tcPr marL="91470" marR="91470" marT="45681" marB="45681"/>
                </a:tc>
                <a:tc>
                  <a:txBody>
                    <a:bodyPr/>
                    <a:lstStyle/>
                    <a:p>
                      <a:endParaRPr lang="zh-CN" altLang="en-US" sz="1400">
                        <a:solidFill>
                          <a:schemeClr val="tx1"/>
                        </a:solidFill>
                      </a:endParaRPr>
                    </a:p>
                  </a:txBody>
                  <a:tcPr marL="91470" marR="91470" marT="45681" marB="45681"/>
                </a:tc>
              </a:tr>
              <a:tr h="324644">
                <a:tc>
                  <a:txBody>
                    <a:bodyPr/>
                    <a:lstStyle/>
                    <a:p>
                      <a:endParaRPr lang="zh-CN" altLang="en-US" sz="1400">
                        <a:solidFill>
                          <a:schemeClr val="tx1"/>
                        </a:solidFill>
                      </a:endParaRPr>
                    </a:p>
                  </a:txBody>
                  <a:tcPr marL="91470" marR="91470" marT="45681" marB="45681"/>
                </a:tc>
                <a:tc>
                  <a:txBody>
                    <a:bodyPr/>
                    <a:lstStyle/>
                    <a:p>
                      <a:endParaRPr lang="zh-CN" altLang="en-US" sz="1400">
                        <a:solidFill>
                          <a:schemeClr val="tx1"/>
                        </a:solidFill>
                      </a:endParaRPr>
                    </a:p>
                  </a:txBody>
                  <a:tcPr marL="91470" marR="91470" marT="45681" marB="45681"/>
                </a:tc>
                <a:tc>
                  <a:txBody>
                    <a:bodyPr/>
                    <a:lstStyle/>
                    <a:p>
                      <a:endParaRPr lang="zh-CN" altLang="en-US" sz="1400">
                        <a:solidFill>
                          <a:schemeClr val="tx1"/>
                        </a:solidFill>
                      </a:endParaRPr>
                    </a:p>
                  </a:txBody>
                  <a:tcPr marL="91470" marR="91470" marT="45681" marB="45681"/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91470" marR="91470" marT="45681" marB="45681"/>
                </a:tc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>
            <p:custDataLst>
              <p:tags r:id="rId3"/>
            </p:custDataLst>
          </p:nvPr>
        </p:nvGraphicFramePr>
        <p:xfrm>
          <a:off x="7895908" y="4165283"/>
          <a:ext cx="2099945" cy="12992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9770"/>
                <a:gridCol w="742315"/>
                <a:gridCol w="657860"/>
              </a:tblGrid>
              <a:tr h="324644"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solidFill>
                            <a:schemeClr val="tx1"/>
                          </a:solidFill>
                        </a:rPr>
                        <a:t>学号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91428" marR="91428" marT="45681" marB="45681"/>
                </a:tc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solidFill>
                            <a:schemeClr val="tx1"/>
                          </a:solidFill>
                        </a:rPr>
                        <a:t>课程号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91428" marR="91428" marT="45681" marB="45681"/>
                </a:tc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solidFill>
                            <a:schemeClr val="tx1"/>
                          </a:solidFill>
                        </a:rPr>
                        <a:t>成绩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91428" marR="91428" marT="45681" marB="45681"/>
                </a:tc>
              </a:tr>
              <a:tr h="325120">
                <a:tc>
                  <a:txBody>
                    <a:bodyPr/>
                    <a:lstStyle/>
                    <a:p>
                      <a:endParaRPr lang="zh-CN" altLang="en-US" sz="1400">
                        <a:solidFill>
                          <a:schemeClr val="tx1"/>
                        </a:solidFill>
                      </a:endParaRPr>
                    </a:p>
                  </a:txBody>
                  <a:tcPr marL="91428" marR="91428" marT="45681" marB="45681"/>
                </a:tc>
                <a:tc>
                  <a:txBody>
                    <a:bodyPr/>
                    <a:lstStyle/>
                    <a:p>
                      <a:endParaRPr lang="zh-CN" altLang="en-US" sz="1400">
                        <a:solidFill>
                          <a:schemeClr val="tx1"/>
                        </a:solidFill>
                      </a:endParaRPr>
                    </a:p>
                  </a:txBody>
                  <a:tcPr marL="91428" marR="91428" marT="45681" marB="45681"/>
                </a:tc>
                <a:tc>
                  <a:txBody>
                    <a:bodyPr/>
                    <a:lstStyle/>
                    <a:p>
                      <a:endParaRPr lang="zh-CN" altLang="en-US" sz="1400">
                        <a:solidFill>
                          <a:schemeClr val="tx1"/>
                        </a:solidFill>
                      </a:endParaRPr>
                    </a:p>
                  </a:txBody>
                  <a:tcPr marL="91428" marR="91428" marT="45681" marB="45681"/>
                </a:tc>
              </a:tr>
              <a:tr h="324644">
                <a:tc>
                  <a:txBody>
                    <a:bodyPr/>
                    <a:lstStyle/>
                    <a:p>
                      <a:endParaRPr lang="zh-CN" altLang="en-US" sz="1400">
                        <a:solidFill>
                          <a:schemeClr val="tx1"/>
                        </a:solidFill>
                      </a:endParaRPr>
                    </a:p>
                  </a:txBody>
                  <a:tcPr marL="91428" marR="91428" marT="45681" marB="45681"/>
                </a:tc>
                <a:tc>
                  <a:txBody>
                    <a:bodyPr/>
                    <a:lstStyle/>
                    <a:p>
                      <a:endParaRPr lang="zh-CN" altLang="en-US" sz="1400">
                        <a:solidFill>
                          <a:schemeClr val="tx1"/>
                        </a:solidFill>
                      </a:endParaRPr>
                    </a:p>
                  </a:txBody>
                  <a:tcPr marL="91428" marR="91428" marT="45681" marB="45681"/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91428" marR="91428" marT="45681" marB="45681"/>
                </a:tc>
              </a:tr>
              <a:tr h="324644">
                <a:tc>
                  <a:txBody>
                    <a:bodyPr/>
                    <a:lstStyle/>
                    <a:p>
                      <a:endParaRPr lang="zh-CN" altLang="en-US" sz="1400">
                        <a:solidFill>
                          <a:schemeClr val="tx1"/>
                        </a:solidFill>
                      </a:endParaRPr>
                    </a:p>
                  </a:txBody>
                  <a:tcPr marL="91428" marR="91428" marT="45681" marB="45681"/>
                </a:tc>
                <a:tc>
                  <a:txBody>
                    <a:bodyPr/>
                    <a:lstStyle/>
                    <a:p>
                      <a:endParaRPr lang="zh-CN" altLang="en-US" sz="1400">
                        <a:solidFill>
                          <a:schemeClr val="tx1"/>
                        </a:solidFill>
                      </a:endParaRPr>
                    </a:p>
                  </a:txBody>
                  <a:tcPr marL="91428" marR="91428" marT="45681" marB="45681"/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91428" marR="91428" marT="45681" marB="45681"/>
                </a:tc>
              </a:tr>
            </a:tbl>
          </a:graphicData>
        </a:graphic>
      </p:graphicFrame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4" name="内容占位符 2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r>
              <a:rPr lang="zh-CN" altLang="en-US" dirty="0"/>
              <a:t>外模式</a:t>
            </a:r>
            <a:endParaRPr lang="en-US" altLang="zh-CN" dirty="0"/>
          </a:p>
          <a:p>
            <a:pPr lvl="1"/>
            <a:r>
              <a:rPr lang="zh-CN" altLang="en-US" dirty="0"/>
              <a:t>数据库用户</a:t>
            </a:r>
            <a:endParaRPr lang="en-US" altLang="zh-CN" dirty="0"/>
          </a:p>
          <a:p>
            <a:pPr lvl="2"/>
            <a:r>
              <a:rPr lang="zh-CN" altLang="en-US" dirty="0"/>
              <a:t>应用程序：教务系统，财务系统，科研系统</a:t>
            </a:r>
            <a:endParaRPr lang="en-US" altLang="zh-CN" dirty="0"/>
          </a:p>
          <a:p>
            <a:pPr lvl="2"/>
            <a:r>
              <a:rPr lang="zh-CN" altLang="en-US" dirty="0"/>
              <a:t>最终用户：教师，学生，部门管理人员</a:t>
            </a:r>
            <a:endParaRPr lang="en-US" altLang="zh-CN" dirty="0"/>
          </a:p>
          <a:p>
            <a:pPr lvl="1"/>
            <a:endParaRPr lang="zh-CN" altLang="en-US" dirty="0"/>
          </a:p>
        </p:txBody>
      </p:sp>
      <p:sp>
        <p:nvSpPr>
          <p:cNvPr id="8195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zh-CN" altLang="en-US" dirty="0"/>
              <a:t>例：数字人大</a:t>
            </a:r>
            <a:endParaRPr lang="zh-CN" altLang="en-US" dirty="0"/>
          </a:p>
        </p:txBody>
      </p:sp>
      <p:sp>
        <p:nvSpPr>
          <p:cNvPr id="8196" name="笑脸 3"/>
          <p:cNvSpPr/>
          <p:nvPr/>
        </p:nvSpPr>
        <p:spPr>
          <a:xfrm>
            <a:off x="2279650" y="3644900"/>
            <a:ext cx="720725" cy="720725"/>
          </a:xfrm>
          <a:prstGeom prst="smileyFace">
            <a:avLst>
              <a:gd name="adj" fmla="val 4653"/>
            </a:avLst>
          </a:prstGeom>
          <a:noFill/>
          <a:ln w="9525" cap="flat" cmpd="sng">
            <a:solidFill>
              <a:srgbClr val="0070C0"/>
            </a:solidFill>
            <a:prstDash val="solid"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SzTx/>
              <a:buFont typeface="Arial" panose="020B0604020202020204" pitchFamily="34" charset="0"/>
              <a:buNone/>
            </a:pPr>
            <a:endParaRPr lang="zh-CN" altLang="en-US" sz="1800" b="0" dirty="0"/>
          </a:p>
        </p:txBody>
      </p:sp>
      <p:sp>
        <p:nvSpPr>
          <p:cNvPr id="8197" name="矩形 7"/>
          <p:cNvSpPr/>
          <p:nvPr/>
        </p:nvSpPr>
        <p:spPr>
          <a:xfrm>
            <a:off x="2197100" y="4606925"/>
            <a:ext cx="1097280" cy="3683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SzTx/>
              <a:buFontTx/>
              <a:buNone/>
            </a:pPr>
            <a:r>
              <a:rPr lang="zh-CN" altLang="en-US" sz="1800" b="0" dirty="0"/>
              <a:t>最终用户</a:t>
            </a:r>
            <a:endParaRPr lang="zh-CN" altLang="en-US" sz="1800" b="0" dirty="0"/>
          </a:p>
        </p:txBody>
      </p:sp>
      <p:sp>
        <p:nvSpPr>
          <p:cNvPr id="9" name="图文框 8"/>
          <p:cNvSpPr/>
          <p:nvPr/>
        </p:nvSpPr>
        <p:spPr bwMode="auto">
          <a:xfrm>
            <a:off x="4440238" y="3573463"/>
            <a:ext cx="2376488" cy="1150938"/>
          </a:xfrm>
          <a:prstGeom prst="frame">
            <a:avLst/>
          </a:prstGeom>
          <a:noFill/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199" name="矩形 9"/>
          <p:cNvSpPr/>
          <p:nvPr/>
        </p:nvSpPr>
        <p:spPr>
          <a:xfrm>
            <a:off x="5028248" y="3903663"/>
            <a:ext cx="1198880" cy="39878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SzTx/>
              <a:buFontTx/>
              <a:buNone/>
            </a:pPr>
            <a:r>
              <a:rPr lang="zh-CN" altLang="en-US" sz="2000" dirty="0"/>
              <a:t>应用程序</a:t>
            </a:r>
            <a:endParaRPr lang="zh-CN" altLang="en-US" sz="2000" dirty="0"/>
          </a:p>
        </p:txBody>
      </p:sp>
      <p:sp>
        <p:nvSpPr>
          <p:cNvPr id="11" name="圆柱形 10"/>
          <p:cNvSpPr/>
          <p:nvPr/>
        </p:nvSpPr>
        <p:spPr bwMode="auto">
          <a:xfrm>
            <a:off x="8256588" y="3211513"/>
            <a:ext cx="1223963" cy="1873250"/>
          </a:xfrm>
          <a:prstGeom prst="can">
            <a:avLst/>
          </a:prstGeom>
          <a:noFill/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201" name="矩形 11"/>
          <p:cNvSpPr/>
          <p:nvPr/>
        </p:nvSpPr>
        <p:spPr>
          <a:xfrm>
            <a:off x="8242300" y="3746500"/>
            <a:ext cx="1223963" cy="70675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SzTx/>
              <a:buFontTx/>
              <a:buNone/>
            </a:pPr>
            <a:r>
              <a:rPr lang="zh-CN" altLang="en-US" sz="2000" dirty="0"/>
              <a:t>数据库</a:t>
            </a:r>
            <a:endParaRPr lang="en-US" altLang="zh-CN" sz="2000" dirty="0"/>
          </a:p>
          <a:p>
            <a:pPr marL="0" lvl="0" indent="0" algn="ctr" eaLnBrk="1" hangingPunct="1">
              <a:spcBef>
                <a:spcPct val="0"/>
              </a:spcBef>
              <a:buSzTx/>
              <a:buFontTx/>
              <a:buNone/>
            </a:pPr>
            <a:endParaRPr lang="zh-CN" altLang="en-US" sz="2000" dirty="0"/>
          </a:p>
        </p:txBody>
      </p:sp>
      <p:cxnSp>
        <p:nvCxnSpPr>
          <p:cNvPr id="14" name="直接箭头连接符 13"/>
          <p:cNvCxnSpPr>
            <a:endCxn id="9" idx="1"/>
          </p:cNvCxnSpPr>
          <p:nvPr/>
        </p:nvCxnSpPr>
        <p:spPr bwMode="auto">
          <a:xfrm>
            <a:off x="3146425" y="4149725"/>
            <a:ext cx="1293813" cy="0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直接箭头连接符 16"/>
          <p:cNvCxnSpPr>
            <a:stCxn id="9" idx="3"/>
            <a:endCxn id="11" idx="2"/>
          </p:cNvCxnSpPr>
          <p:nvPr/>
        </p:nvCxnSpPr>
        <p:spPr bwMode="auto">
          <a:xfrm flipV="1">
            <a:off x="6816725" y="4148138"/>
            <a:ext cx="1439863" cy="1588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8" name="内容占位符 2"/>
          <p:cNvSpPr>
            <a:spLocks noGrp="1"/>
          </p:cNvSpPr>
          <p:nvPr>
            <p:ph idx="1"/>
          </p:nvPr>
        </p:nvSpPr>
        <p:spPr>
          <a:xfrm>
            <a:off x="1981200" y="1319213"/>
            <a:ext cx="8229600" cy="1831975"/>
          </a:xfrm>
        </p:spPr>
        <p:txBody>
          <a:bodyPr vert="horz" wrap="square" lIns="91440" tIns="45720" rIns="91440" bIns="45720" anchor="t" anchorCtr="0"/>
          <a:p>
            <a:r>
              <a:rPr lang="zh-CN" altLang="en-US" dirty="0"/>
              <a:t>外模式和模式之间的关系</a:t>
            </a:r>
            <a:endParaRPr lang="en-US" altLang="zh-CN" dirty="0"/>
          </a:p>
          <a:p>
            <a:pPr lvl="1"/>
            <a:endParaRPr lang="zh-CN" altLang="en-US" dirty="0"/>
          </a:p>
        </p:txBody>
      </p:sp>
      <p:sp>
        <p:nvSpPr>
          <p:cNvPr id="9219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zh-CN" altLang="en-US" dirty="0"/>
              <a:t>例：数字人大</a:t>
            </a:r>
            <a:endParaRPr lang="zh-CN" altLang="en-US" dirty="0"/>
          </a:p>
        </p:txBody>
      </p:sp>
      <p:sp>
        <p:nvSpPr>
          <p:cNvPr id="9" name="图文框 8"/>
          <p:cNvSpPr/>
          <p:nvPr/>
        </p:nvSpPr>
        <p:spPr bwMode="auto">
          <a:xfrm>
            <a:off x="1957388" y="2557463"/>
            <a:ext cx="1820863" cy="874713"/>
          </a:xfrm>
          <a:prstGeom prst="frame">
            <a:avLst/>
          </a:prstGeom>
          <a:noFill/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221" name="矩形 9"/>
          <p:cNvSpPr/>
          <p:nvPr/>
        </p:nvSpPr>
        <p:spPr>
          <a:xfrm>
            <a:off x="2288223" y="2820988"/>
            <a:ext cx="1097280" cy="3683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SzTx/>
              <a:buFontTx/>
              <a:buNone/>
            </a:pPr>
            <a:r>
              <a:rPr lang="zh-CN" altLang="en-US" sz="1800" dirty="0"/>
              <a:t>财务系统</a:t>
            </a:r>
            <a:endParaRPr lang="zh-CN" altLang="en-US" sz="1800" dirty="0"/>
          </a:p>
        </p:txBody>
      </p:sp>
      <p:sp>
        <p:nvSpPr>
          <p:cNvPr id="11" name="圆柱形 10"/>
          <p:cNvSpPr/>
          <p:nvPr/>
        </p:nvSpPr>
        <p:spPr bwMode="auto">
          <a:xfrm>
            <a:off x="9009063" y="3143250"/>
            <a:ext cx="1225550" cy="1873250"/>
          </a:xfrm>
          <a:prstGeom prst="can">
            <a:avLst/>
          </a:prstGeom>
          <a:noFill/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223" name="矩形 11"/>
          <p:cNvSpPr/>
          <p:nvPr/>
        </p:nvSpPr>
        <p:spPr>
          <a:xfrm>
            <a:off x="8996363" y="3678238"/>
            <a:ext cx="1223962" cy="101473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SzTx/>
              <a:buFontTx/>
              <a:buNone/>
            </a:pPr>
            <a:r>
              <a:rPr lang="zh-CN" altLang="en-US" sz="2000" dirty="0"/>
              <a:t>微人大</a:t>
            </a:r>
            <a:endParaRPr lang="en-US" altLang="zh-CN" sz="2000" dirty="0"/>
          </a:p>
          <a:p>
            <a:pPr marL="0" lvl="0" indent="0" algn="ctr" eaLnBrk="1" hangingPunct="1">
              <a:spcBef>
                <a:spcPct val="0"/>
              </a:spcBef>
              <a:buSzTx/>
              <a:buFontTx/>
              <a:buNone/>
            </a:pPr>
            <a:r>
              <a:rPr lang="zh-CN" altLang="en-US" sz="2000" dirty="0"/>
              <a:t>数据库</a:t>
            </a:r>
            <a:endParaRPr lang="en-US" altLang="zh-CN" sz="2000" dirty="0"/>
          </a:p>
          <a:p>
            <a:pPr marL="0" lvl="0" indent="0" algn="ctr" eaLnBrk="1" hangingPunct="1">
              <a:spcBef>
                <a:spcPct val="0"/>
              </a:spcBef>
              <a:buSzTx/>
              <a:buFontTx/>
              <a:buNone/>
            </a:pPr>
            <a:endParaRPr lang="zh-CN" altLang="en-US" sz="2000" dirty="0"/>
          </a:p>
        </p:txBody>
      </p:sp>
      <p:cxnSp>
        <p:nvCxnSpPr>
          <p:cNvPr id="17" name="直接箭头连接符 16"/>
          <p:cNvCxnSpPr>
            <a:stCxn id="9" idx="3"/>
          </p:cNvCxnSpPr>
          <p:nvPr/>
        </p:nvCxnSpPr>
        <p:spPr bwMode="auto">
          <a:xfrm>
            <a:off x="3778250" y="2994025"/>
            <a:ext cx="804863" cy="0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图文框 19"/>
          <p:cNvSpPr/>
          <p:nvPr/>
        </p:nvSpPr>
        <p:spPr bwMode="auto">
          <a:xfrm>
            <a:off x="1984375" y="3735388"/>
            <a:ext cx="1819275" cy="874713"/>
          </a:xfrm>
          <a:prstGeom prst="frame">
            <a:avLst/>
          </a:prstGeom>
          <a:noFill/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226" name="矩形 20"/>
          <p:cNvSpPr/>
          <p:nvPr/>
        </p:nvSpPr>
        <p:spPr>
          <a:xfrm>
            <a:off x="2313623" y="3998913"/>
            <a:ext cx="1097280" cy="3683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SzTx/>
              <a:buFontTx/>
              <a:buNone/>
            </a:pPr>
            <a:r>
              <a:rPr lang="zh-CN" altLang="en-US" sz="1800" dirty="0"/>
              <a:t>教学系统</a:t>
            </a:r>
            <a:endParaRPr lang="zh-CN" altLang="en-US" sz="1800" dirty="0"/>
          </a:p>
        </p:txBody>
      </p:sp>
      <p:sp>
        <p:nvSpPr>
          <p:cNvPr id="22" name="图文框 21"/>
          <p:cNvSpPr/>
          <p:nvPr/>
        </p:nvSpPr>
        <p:spPr bwMode="auto">
          <a:xfrm>
            <a:off x="1984375" y="4940300"/>
            <a:ext cx="1819275" cy="874713"/>
          </a:xfrm>
          <a:prstGeom prst="frame">
            <a:avLst/>
          </a:prstGeom>
          <a:noFill/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228" name="矩形 22"/>
          <p:cNvSpPr/>
          <p:nvPr/>
        </p:nvSpPr>
        <p:spPr>
          <a:xfrm>
            <a:off x="2313623" y="5203825"/>
            <a:ext cx="1097280" cy="3683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SzTx/>
              <a:buFontTx/>
              <a:buNone/>
            </a:pPr>
            <a:r>
              <a:rPr lang="zh-CN" altLang="en-US" sz="1800" dirty="0"/>
              <a:t>科研系统</a:t>
            </a:r>
            <a:endParaRPr lang="zh-CN" altLang="en-US" sz="1800" dirty="0"/>
          </a:p>
        </p:txBody>
      </p:sp>
      <p:sp>
        <p:nvSpPr>
          <p:cNvPr id="24" name="圆柱形 23"/>
          <p:cNvSpPr/>
          <p:nvPr/>
        </p:nvSpPr>
        <p:spPr bwMode="auto">
          <a:xfrm>
            <a:off x="4651375" y="2492375"/>
            <a:ext cx="1223963" cy="966788"/>
          </a:xfrm>
          <a:prstGeom prst="can">
            <a:avLst/>
          </a:prstGeom>
          <a:noFill/>
          <a:ln w="952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230" name="矩形 24"/>
          <p:cNvSpPr/>
          <p:nvPr/>
        </p:nvSpPr>
        <p:spPr>
          <a:xfrm>
            <a:off x="4713923" y="2901950"/>
            <a:ext cx="1097280" cy="3683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SzTx/>
              <a:buFontTx/>
              <a:buNone/>
            </a:pPr>
            <a:r>
              <a:rPr lang="zh-CN" altLang="en-US" sz="1800" dirty="0"/>
              <a:t>财务数据</a:t>
            </a:r>
            <a:endParaRPr lang="en-US" altLang="zh-CN" sz="1800" dirty="0"/>
          </a:p>
        </p:txBody>
      </p:sp>
      <p:sp>
        <p:nvSpPr>
          <p:cNvPr id="26" name="圆柱形 25"/>
          <p:cNvSpPr/>
          <p:nvPr/>
        </p:nvSpPr>
        <p:spPr bwMode="auto">
          <a:xfrm>
            <a:off x="4651375" y="3733800"/>
            <a:ext cx="1223963" cy="877888"/>
          </a:xfrm>
          <a:prstGeom prst="can">
            <a:avLst/>
          </a:prstGeom>
          <a:noFill/>
          <a:ln w="952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232" name="矩形 26"/>
          <p:cNvSpPr/>
          <p:nvPr/>
        </p:nvSpPr>
        <p:spPr>
          <a:xfrm>
            <a:off x="4713923" y="4116388"/>
            <a:ext cx="1097280" cy="3683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SzTx/>
              <a:buFontTx/>
              <a:buNone/>
            </a:pPr>
            <a:r>
              <a:rPr lang="zh-CN" altLang="en-US" sz="1800" dirty="0"/>
              <a:t>教学数据</a:t>
            </a:r>
            <a:endParaRPr lang="en-US" altLang="zh-CN" sz="1800" dirty="0"/>
          </a:p>
        </p:txBody>
      </p:sp>
      <p:sp>
        <p:nvSpPr>
          <p:cNvPr id="28" name="圆柱形 27"/>
          <p:cNvSpPr/>
          <p:nvPr/>
        </p:nvSpPr>
        <p:spPr bwMode="auto">
          <a:xfrm>
            <a:off x="4651375" y="4916488"/>
            <a:ext cx="1223963" cy="966788"/>
          </a:xfrm>
          <a:prstGeom prst="can">
            <a:avLst/>
          </a:prstGeom>
          <a:noFill/>
          <a:ln w="952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234" name="矩形 28"/>
          <p:cNvSpPr/>
          <p:nvPr/>
        </p:nvSpPr>
        <p:spPr>
          <a:xfrm>
            <a:off x="4713923" y="5326063"/>
            <a:ext cx="1097280" cy="3683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SzTx/>
              <a:buFontTx/>
              <a:buNone/>
            </a:pPr>
            <a:r>
              <a:rPr lang="zh-CN" altLang="en-US" sz="1800" dirty="0"/>
              <a:t>科研数据</a:t>
            </a:r>
            <a:endParaRPr lang="en-US" altLang="zh-CN" sz="1800" dirty="0"/>
          </a:p>
        </p:txBody>
      </p:sp>
      <p:cxnSp>
        <p:nvCxnSpPr>
          <p:cNvPr id="30" name="直接箭头连接符 29"/>
          <p:cNvCxnSpPr>
            <a:stCxn id="20" idx="3"/>
            <a:endCxn id="26" idx="2"/>
          </p:cNvCxnSpPr>
          <p:nvPr/>
        </p:nvCxnSpPr>
        <p:spPr bwMode="auto">
          <a:xfrm>
            <a:off x="3803650" y="4171950"/>
            <a:ext cx="847725" cy="1588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直接箭头连接符 32"/>
          <p:cNvCxnSpPr>
            <a:stCxn id="22" idx="3"/>
            <a:endCxn id="28" idx="2"/>
          </p:cNvCxnSpPr>
          <p:nvPr/>
        </p:nvCxnSpPr>
        <p:spPr bwMode="auto">
          <a:xfrm>
            <a:off x="3803650" y="5378450"/>
            <a:ext cx="847725" cy="22225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237" name="六边形 36"/>
          <p:cNvSpPr/>
          <p:nvPr/>
        </p:nvSpPr>
        <p:spPr>
          <a:xfrm>
            <a:off x="6638925" y="2611438"/>
            <a:ext cx="936625" cy="719137"/>
          </a:xfrm>
          <a:prstGeom prst="hexagon">
            <a:avLst>
              <a:gd name="adj" fmla="val 25047"/>
              <a:gd name="vf" fmla="val 115470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SzTx/>
              <a:buFont typeface="Arial" panose="020B0604020202020204" pitchFamily="34" charset="0"/>
              <a:buNone/>
            </a:pPr>
            <a:r>
              <a:rPr lang="zh-CN" altLang="en-US" sz="1600" b="0" dirty="0"/>
              <a:t>财务映像</a:t>
            </a:r>
            <a:endParaRPr lang="zh-CN" altLang="en-US" sz="1600" b="0" dirty="0"/>
          </a:p>
        </p:txBody>
      </p:sp>
      <p:sp>
        <p:nvSpPr>
          <p:cNvPr id="9238" name="六边形 37"/>
          <p:cNvSpPr/>
          <p:nvPr/>
        </p:nvSpPr>
        <p:spPr>
          <a:xfrm>
            <a:off x="6638925" y="3822700"/>
            <a:ext cx="936625" cy="720725"/>
          </a:xfrm>
          <a:prstGeom prst="hexagon">
            <a:avLst>
              <a:gd name="adj" fmla="val 24991"/>
              <a:gd name="vf" fmla="val 115470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SzTx/>
              <a:buFont typeface="Arial" panose="020B0604020202020204" pitchFamily="34" charset="0"/>
              <a:buNone/>
            </a:pPr>
            <a:r>
              <a:rPr lang="zh-CN" altLang="en-US" sz="1600" b="0" dirty="0"/>
              <a:t>教学映像</a:t>
            </a:r>
            <a:endParaRPr lang="zh-CN" altLang="en-US" sz="1600" b="0" dirty="0"/>
          </a:p>
        </p:txBody>
      </p:sp>
      <p:sp>
        <p:nvSpPr>
          <p:cNvPr id="9239" name="六边形 38"/>
          <p:cNvSpPr/>
          <p:nvPr/>
        </p:nvSpPr>
        <p:spPr>
          <a:xfrm>
            <a:off x="6638925" y="5018088"/>
            <a:ext cx="936625" cy="719137"/>
          </a:xfrm>
          <a:prstGeom prst="hexagon">
            <a:avLst>
              <a:gd name="adj" fmla="val 25047"/>
              <a:gd name="vf" fmla="val 115470"/>
            </a:avLst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SzTx/>
              <a:buFont typeface="Arial" panose="020B0604020202020204" pitchFamily="34" charset="0"/>
              <a:buNone/>
            </a:pPr>
            <a:r>
              <a:rPr lang="zh-CN" altLang="en-US" sz="1600" b="0" dirty="0"/>
              <a:t>科研映像</a:t>
            </a:r>
            <a:endParaRPr lang="zh-CN" altLang="en-US" sz="1600" b="0" dirty="0"/>
          </a:p>
        </p:txBody>
      </p:sp>
      <p:cxnSp>
        <p:nvCxnSpPr>
          <p:cNvPr id="40" name="直接箭头连接符 39"/>
          <p:cNvCxnSpPr>
            <a:stCxn id="24" idx="4"/>
            <a:endCxn id="9237" idx="2"/>
          </p:cNvCxnSpPr>
          <p:nvPr/>
        </p:nvCxnSpPr>
        <p:spPr bwMode="auto">
          <a:xfrm flipV="1">
            <a:off x="5875338" y="2971800"/>
            <a:ext cx="763588" cy="4763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直接箭头连接符 42"/>
          <p:cNvCxnSpPr>
            <a:stCxn id="26" idx="4"/>
            <a:endCxn id="9238" idx="2"/>
          </p:cNvCxnSpPr>
          <p:nvPr/>
        </p:nvCxnSpPr>
        <p:spPr bwMode="auto">
          <a:xfrm>
            <a:off x="5875338" y="4173538"/>
            <a:ext cx="763588" cy="9525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直接箭头连接符 47"/>
          <p:cNvCxnSpPr>
            <a:stCxn id="28" idx="4"/>
            <a:endCxn id="9239" idx="2"/>
          </p:cNvCxnSpPr>
          <p:nvPr/>
        </p:nvCxnSpPr>
        <p:spPr bwMode="auto">
          <a:xfrm flipV="1">
            <a:off x="5875338" y="5378450"/>
            <a:ext cx="763588" cy="22225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直接箭头连接符 50"/>
          <p:cNvCxnSpPr>
            <a:stCxn id="9237" idx="1"/>
            <a:endCxn id="11" idx="2"/>
          </p:cNvCxnSpPr>
          <p:nvPr/>
        </p:nvCxnSpPr>
        <p:spPr bwMode="auto">
          <a:xfrm>
            <a:off x="7575550" y="2971800"/>
            <a:ext cx="1433513" cy="1108075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" name="直接箭头连接符 53"/>
          <p:cNvCxnSpPr>
            <a:stCxn id="9238" idx="0"/>
          </p:cNvCxnSpPr>
          <p:nvPr/>
        </p:nvCxnSpPr>
        <p:spPr bwMode="auto">
          <a:xfrm flipV="1">
            <a:off x="7575550" y="4116388"/>
            <a:ext cx="1433830" cy="66675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直接箭头连接符 56"/>
          <p:cNvCxnSpPr>
            <a:stCxn id="9239" idx="1"/>
          </p:cNvCxnSpPr>
          <p:nvPr/>
        </p:nvCxnSpPr>
        <p:spPr bwMode="auto">
          <a:xfrm flipV="1">
            <a:off x="7575550" y="4305300"/>
            <a:ext cx="1433513" cy="1073150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1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第一章  绪论</a:t>
            </a:r>
            <a:endParaRPr lang="zh-CN" altLang="en-US" sz="3600" dirty="0"/>
          </a:p>
        </p:txBody>
      </p:sp>
      <p:sp>
        <p:nvSpPr>
          <p:cNvPr id="163842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>
            <a:normAutofit/>
          </a:bodyPr>
          <a:lstStyle/>
          <a:p>
            <a:pPr lvl="1" eaLnBrk="1" hangingPunct="1">
              <a:lnSpc>
                <a:spcPct val="150000"/>
              </a:lnSpc>
              <a:buNone/>
            </a:pPr>
            <a:r>
              <a:rPr lang="en-US" altLang="zh-CN" sz="2800" dirty="0"/>
              <a:t>  1.1 </a:t>
            </a:r>
            <a:r>
              <a:rPr lang="zh-CN" altLang="en-US" sz="2800" dirty="0"/>
              <a:t>数据库系统概述</a:t>
            </a:r>
            <a:endParaRPr lang="zh-CN" altLang="en-US" sz="2800" dirty="0"/>
          </a:p>
          <a:p>
            <a:pPr lvl="1" eaLnBrk="1" hangingPunct="1">
              <a:lnSpc>
                <a:spcPct val="150000"/>
              </a:lnSpc>
              <a:buNone/>
            </a:pPr>
            <a:r>
              <a:rPr lang="en-US" altLang="zh-CN" sz="2800" dirty="0"/>
              <a:t>  1.2  </a:t>
            </a:r>
            <a:r>
              <a:rPr lang="zh-CN" altLang="en-US" sz="2800" dirty="0"/>
              <a:t>数据模型</a:t>
            </a:r>
            <a:endParaRPr lang="zh-CN" altLang="en-US" sz="2800" dirty="0"/>
          </a:p>
          <a:p>
            <a:pPr lvl="1" eaLnBrk="1" hangingPunct="1">
              <a:lnSpc>
                <a:spcPct val="150000"/>
              </a:lnSpc>
              <a:buNone/>
            </a:pPr>
            <a:r>
              <a:rPr lang="en-US" altLang="zh-CN" sz="2800" dirty="0"/>
              <a:t>  1.3  </a:t>
            </a:r>
            <a:r>
              <a:rPr lang="zh-CN" altLang="en-US" sz="2800" dirty="0"/>
              <a:t>数据库系统的三级模式结构</a:t>
            </a:r>
            <a:endParaRPr lang="zh-CN" altLang="en-US" sz="2800" dirty="0"/>
          </a:p>
          <a:p>
            <a:pPr lvl="1" eaLnBrk="1" hangingPunct="1">
              <a:lnSpc>
                <a:spcPct val="150000"/>
              </a:lnSpc>
              <a:buNone/>
            </a:pPr>
            <a:r>
              <a:rPr lang="en-US" altLang="zh-CN" sz="3200" dirty="0">
                <a:solidFill>
                  <a:srgbClr val="0066FF"/>
                </a:solidFill>
              </a:rPr>
              <a:t>  1.4  </a:t>
            </a:r>
            <a:r>
              <a:rPr lang="zh-CN" altLang="en-US" sz="3200" dirty="0">
                <a:solidFill>
                  <a:srgbClr val="0066FF"/>
                </a:solidFill>
              </a:rPr>
              <a:t>数据库系统的组成</a:t>
            </a:r>
            <a:endParaRPr lang="en-US" altLang="zh-CN" sz="3200" dirty="0">
              <a:solidFill>
                <a:srgbClr val="0066FF"/>
              </a:solidFill>
            </a:endParaRPr>
          </a:p>
          <a:p>
            <a:pPr lvl="1" eaLnBrk="1" hangingPunct="1">
              <a:lnSpc>
                <a:spcPct val="150000"/>
              </a:lnSpc>
              <a:buNone/>
            </a:pPr>
            <a:r>
              <a:rPr lang="en-US" altLang="zh-CN" sz="3200" dirty="0">
                <a:sym typeface="Calibri" panose="020F0502020204030204" pitchFamily="34" charset="0"/>
              </a:rPr>
              <a:t>* </a:t>
            </a:r>
            <a:r>
              <a:rPr lang="en-US" altLang="zh-CN" sz="2800" dirty="0"/>
              <a:t>1.5  </a:t>
            </a:r>
            <a:r>
              <a:rPr lang="zh-CN" altLang="en-US" sz="2800" dirty="0"/>
              <a:t>数据库系统的体系结构</a:t>
            </a:r>
            <a:endParaRPr lang="en-US" altLang="zh-CN" sz="2800" dirty="0"/>
          </a:p>
          <a:p>
            <a:pPr lvl="1" eaLnBrk="1" hangingPunct="1">
              <a:lnSpc>
                <a:spcPct val="150000"/>
              </a:lnSpc>
              <a:buNone/>
            </a:pPr>
            <a:r>
              <a:rPr lang="en-US" altLang="zh-CN" sz="2800" dirty="0"/>
              <a:t>  1.6</a:t>
            </a:r>
            <a:r>
              <a:rPr lang="zh-CN" altLang="en-US" sz="2800" dirty="0"/>
              <a:t>  小结</a:t>
            </a:r>
            <a:endParaRPr lang="zh-CN" altLang="en-US" sz="28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 dirty="0">
                <a:sym typeface="+mn-ea"/>
              </a:rPr>
              <a:t>1.4  </a:t>
            </a:r>
            <a:r>
              <a:rPr lang="zh-CN" altLang="en-US" dirty="0">
                <a:sym typeface="+mn-ea"/>
              </a:rPr>
              <a:t>数据库系统的组成</a:t>
            </a:r>
            <a:endParaRPr lang="zh-CN" altLang="en-US"/>
          </a:p>
        </p:txBody>
      </p:sp>
      <p:pic>
        <p:nvPicPr>
          <p:cNvPr id="4" name="内容占位符 3" descr="1-4 数据库系统的组成-导出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616585" y="1576070"/>
            <a:ext cx="10515600" cy="3425190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89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sz="3600" dirty="0"/>
              <a:t>1.4  </a:t>
            </a:r>
            <a:r>
              <a:rPr lang="zh-CN" altLang="en-US" sz="3600" dirty="0"/>
              <a:t>数据库系统的组成</a:t>
            </a:r>
            <a:endParaRPr lang="zh-CN" altLang="en-US" sz="3600" dirty="0"/>
          </a:p>
        </p:txBody>
      </p:sp>
      <p:sp>
        <p:nvSpPr>
          <p:cNvPr id="165890" name="Rectangle 3"/>
          <p:cNvSpPr>
            <a:spLocks noGrp="1"/>
          </p:cNvSpPr>
          <p:nvPr>
            <p:ph idx="1"/>
          </p:nvPr>
        </p:nvSpPr>
        <p:spPr>
          <a:xfrm>
            <a:off x="263525" y="1264285"/>
            <a:ext cx="3848735" cy="4537075"/>
          </a:xfrm>
        </p:spPr>
        <p:txBody>
          <a:bodyPr vert="horz" wrap="square" lIns="91440" tIns="45720" rIns="91440" bIns="45720" anchor="t" anchorCtr="0"/>
          <a:lstStyle/>
          <a:p>
            <a:pPr algn="just" eaLnBrk="1" hangingPunct="1">
              <a:lnSpc>
                <a:spcPct val="140000"/>
              </a:lnSpc>
            </a:pPr>
            <a:endParaRPr lang="zh-CN" altLang="en-US" dirty="0"/>
          </a:p>
          <a:p>
            <a:pPr algn="just" eaLnBrk="1" hangingPunct="1">
              <a:lnSpc>
                <a:spcPct val="140000"/>
              </a:lnSpc>
            </a:pPr>
            <a:r>
              <a:rPr lang="zh-CN" altLang="en-US" dirty="0"/>
              <a:t>数据库</a:t>
            </a:r>
            <a:endParaRPr lang="zh-CN" altLang="en-US" dirty="0"/>
          </a:p>
          <a:p>
            <a:pPr algn="just" eaLnBrk="1" hangingPunct="1">
              <a:lnSpc>
                <a:spcPct val="140000"/>
              </a:lnSpc>
            </a:pPr>
            <a:r>
              <a:rPr lang="zh-CN" altLang="en-US" dirty="0"/>
              <a:t>数据库管理系统（及其应用开发工具）</a:t>
            </a:r>
            <a:endParaRPr lang="zh-CN" altLang="en-US" dirty="0"/>
          </a:p>
          <a:p>
            <a:pPr algn="just" eaLnBrk="1" hangingPunct="1">
              <a:lnSpc>
                <a:spcPct val="140000"/>
              </a:lnSpc>
            </a:pPr>
            <a:r>
              <a:rPr lang="zh-CN" altLang="en-US" dirty="0"/>
              <a:t>应用系统</a:t>
            </a:r>
            <a:endParaRPr lang="zh-CN" altLang="en-US" dirty="0"/>
          </a:p>
          <a:p>
            <a:pPr algn="just" eaLnBrk="1" hangingPunct="1">
              <a:lnSpc>
                <a:spcPct val="140000"/>
              </a:lnSpc>
            </a:pPr>
            <a:r>
              <a:rPr lang="zh-CN" altLang="en-US" dirty="0"/>
              <a:t>数据库管理员</a:t>
            </a:r>
            <a:endParaRPr lang="zh-CN" altLang="en-US" dirty="0"/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5664200" y="836930"/>
            <a:ext cx="4345940" cy="5044440"/>
          </a:xfrm>
          <a:prstGeom prst="rect">
            <a:avLst/>
          </a:prstGeom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3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-39687"/>
            <a:ext cx="8229600" cy="1138238"/>
          </a:xfrm>
        </p:spPr>
        <p:txBody>
          <a:bodyPr vert="horz" wrap="square" lIns="91440" tIns="45720" rIns="91440" bIns="45720" numCol="1" anchor="ctr" anchorCtr="0" compatLnSpc="1"/>
          <a:lstStyle/>
          <a:p>
            <a:pPr eaLnBrk="1" hangingPunct="1">
              <a:defRPr/>
            </a:pPr>
            <a:r>
              <a:rPr lang="zh-CN" altLang="en-US" sz="3600" dirty="0">
                <a:latin typeface="+mn-ea"/>
                <a:ea typeface="+mn-ea"/>
              </a:rPr>
              <a:t>人员</a:t>
            </a:r>
            <a:endParaRPr lang="zh-CN" altLang="en-US" sz="3600" dirty="0">
              <a:latin typeface="+mn-ea"/>
              <a:ea typeface="+mn-ea"/>
            </a:endParaRPr>
          </a:p>
        </p:txBody>
      </p:sp>
      <p:sp>
        <p:nvSpPr>
          <p:cNvPr id="169986" name="Rectangle 3"/>
          <p:cNvSpPr>
            <a:spLocks noGrp="1"/>
          </p:cNvSpPr>
          <p:nvPr>
            <p:ph idx="1"/>
          </p:nvPr>
        </p:nvSpPr>
        <p:spPr>
          <a:xfrm>
            <a:off x="2279650" y="1268413"/>
            <a:ext cx="7786688" cy="5072062"/>
          </a:xfrm>
        </p:spPr>
        <p:txBody>
          <a:bodyPr vert="horz" wrap="square" lIns="91440" tIns="45720" rIns="91440" bIns="45720" anchor="t" anchorCtr="0"/>
          <a:lstStyle/>
          <a:p>
            <a:pPr algn="just" eaLnBrk="1" hangingPunct="1">
              <a:lnSpc>
                <a:spcPct val="140000"/>
              </a:lnSpc>
              <a:buSzPct val="90000"/>
              <a:buFont typeface="Wingdings" panose="05000000000000000000" pitchFamily="2" charset="2"/>
              <a:buChar char="n"/>
            </a:pPr>
            <a:r>
              <a:rPr lang="zh-CN" altLang="en-US" dirty="0"/>
              <a:t>数据库管理员</a:t>
            </a:r>
            <a:endParaRPr lang="zh-CN" altLang="en-US" dirty="0"/>
          </a:p>
          <a:p>
            <a:pPr algn="just" eaLnBrk="1" hangingPunct="1">
              <a:lnSpc>
                <a:spcPct val="140000"/>
              </a:lnSpc>
              <a:buSzPct val="90000"/>
              <a:buFont typeface="Wingdings" panose="05000000000000000000" pitchFamily="2" charset="2"/>
              <a:buChar char="n"/>
            </a:pPr>
            <a:r>
              <a:rPr lang="zh-CN" altLang="en-US" dirty="0"/>
              <a:t>系统分析员和数据库设计人员</a:t>
            </a:r>
            <a:endParaRPr lang="zh-CN" altLang="en-US" dirty="0"/>
          </a:p>
          <a:p>
            <a:pPr algn="just" eaLnBrk="1" hangingPunct="1">
              <a:lnSpc>
                <a:spcPct val="140000"/>
              </a:lnSpc>
              <a:buSzPct val="90000"/>
              <a:buFont typeface="Wingdings" panose="05000000000000000000" pitchFamily="2" charset="2"/>
              <a:buChar char="n"/>
            </a:pPr>
            <a:r>
              <a:rPr lang="zh-CN" altLang="en-US" dirty="0"/>
              <a:t>应用程序员</a:t>
            </a:r>
            <a:endParaRPr lang="zh-CN" altLang="en-US" dirty="0"/>
          </a:p>
          <a:p>
            <a:pPr algn="just" eaLnBrk="1" hangingPunct="1">
              <a:lnSpc>
                <a:spcPct val="140000"/>
              </a:lnSpc>
              <a:buSzPct val="90000"/>
              <a:buFont typeface="Wingdings" panose="05000000000000000000" pitchFamily="2" charset="2"/>
              <a:buChar char="n"/>
            </a:pPr>
            <a:r>
              <a:rPr lang="zh-CN" altLang="en-US" dirty="0"/>
              <a:t>最终用户</a:t>
            </a:r>
            <a:endParaRPr lang="zh-CN" altLang="en-US" dirty="0"/>
          </a:p>
          <a:p>
            <a:pPr eaLnBrk="1" hangingPunct="1">
              <a:buFont typeface="Wingdings" panose="05000000000000000000" pitchFamily="2" charset="2"/>
              <a:buChar char="v"/>
            </a:pPr>
            <a:endParaRPr lang="en-US" altLang="zh-CN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09" name="Rectangle 1026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人员（续）</a:t>
            </a:r>
            <a:endParaRPr lang="zh-CN" altLang="en-US" sz="3600" dirty="0">
              <a:ea typeface="Arial" panose="020B0604020202020204" pitchFamily="34" charset="0"/>
            </a:endParaRPr>
          </a:p>
        </p:txBody>
      </p:sp>
      <p:sp>
        <p:nvSpPr>
          <p:cNvPr id="171010" name="Rectangle 1027"/>
          <p:cNvSpPr>
            <a:spLocks noGrp="1"/>
          </p:cNvSpPr>
          <p:nvPr>
            <p:ph idx="1"/>
          </p:nvPr>
        </p:nvSpPr>
        <p:spPr>
          <a:xfrm>
            <a:off x="4367214" y="5949950"/>
            <a:ext cx="4105275" cy="304800"/>
          </a:xfrm>
        </p:spPr>
        <p:txBody>
          <a:bodyPr vert="horz" wrap="square" lIns="91440" tIns="45720" rIns="91440" bIns="45720" anchor="t" anchorCtr="0">
            <a:normAutofit lnSpcReduction="10000"/>
          </a:bodyPr>
          <a:lstStyle/>
          <a:p>
            <a:pPr eaLnBrk="1" hangingPunct="1">
              <a:lnSpc>
                <a:spcPct val="80000"/>
              </a:lnSpc>
              <a:buNone/>
            </a:pPr>
            <a:r>
              <a:rPr lang="zh-CN" altLang="en-US" sz="1800" dirty="0"/>
              <a:t>图</a:t>
            </a:r>
            <a:r>
              <a:rPr lang="en-US" altLang="zh-CN" sz="1800" dirty="0"/>
              <a:t>1.16</a:t>
            </a:r>
            <a:r>
              <a:rPr lang="zh-CN" altLang="en-US" sz="1800" dirty="0"/>
              <a:t>（</a:t>
            </a:r>
            <a:r>
              <a:rPr lang="en-US" altLang="zh-CN" sz="1800" dirty="0"/>
              <a:t>b</a:t>
            </a:r>
            <a:r>
              <a:rPr lang="zh-CN" altLang="en-US" sz="1800" dirty="0"/>
              <a:t>）</a:t>
            </a:r>
            <a:r>
              <a:rPr lang="en-US" altLang="zh-CN" sz="1800" dirty="0"/>
              <a:t>  </a:t>
            </a:r>
            <a:r>
              <a:rPr lang="zh-CN" altLang="en-US" sz="1800" dirty="0"/>
              <a:t>各种人员的数据视图 </a:t>
            </a:r>
            <a:endParaRPr lang="zh-CN" altLang="en-US" sz="1800" dirty="0"/>
          </a:p>
        </p:txBody>
      </p:sp>
      <p:sp>
        <p:nvSpPr>
          <p:cNvPr id="171011" name="Rectangle 1029"/>
          <p:cNvSpPr/>
          <p:nvPr/>
        </p:nvSpPr>
        <p:spPr>
          <a:xfrm>
            <a:off x="1055440" y="1302072"/>
            <a:ext cx="10297144" cy="491481"/>
          </a:xfrm>
          <a:prstGeom prst="rect">
            <a:avLst/>
          </a:prstGeom>
          <a:noFill/>
          <a:ln w="25400">
            <a:noFill/>
          </a:ln>
        </p:spPr>
        <p:txBody>
          <a:bodyPr wrap="square" anchor="ctr" anchorCtr="0">
            <a:spAutoFit/>
          </a:bodyPr>
          <a:lstStyle/>
          <a:p>
            <a:pPr>
              <a:lnSpc>
                <a:spcPct val="120000"/>
              </a:lnSpc>
              <a:buFont typeface="Wingdings" panose="05000000000000000000" pitchFamily="2" charset="2"/>
              <a:buChar char="n"/>
            </a:pPr>
            <a:r>
              <a:rPr lang="zh-CN" altLang="en-US" sz="2400" b="1" dirty="0"/>
              <a:t>不同的人员各司其职，涉及不同数据抽象级别，具有不同的数据视图</a:t>
            </a:r>
            <a:endParaRPr lang="zh-CN" altLang="en-US" sz="2400" b="1" dirty="0"/>
          </a:p>
        </p:txBody>
      </p:sp>
      <p:pic>
        <p:nvPicPr>
          <p:cNvPr id="171012" name="图片 5" descr="1z1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16325" y="2014539"/>
            <a:ext cx="4643438" cy="37623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71013" name="矩形 1"/>
          <p:cNvSpPr/>
          <p:nvPr/>
        </p:nvSpPr>
        <p:spPr>
          <a:xfrm>
            <a:off x="3616326" y="2014539"/>
            <a:ext cx="1255713" cy="3762375"/>
          </a:xfrm>
          <a:prstGeom prst="rect">
            <a:avLst/>
          </a:prstGeom>
          <a:noFill/>
          <a:ln w="34925" cap="flat" cmpd="sng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 anchorCtr="0"/>
          <a:lstStyle/>
          <a:p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71014" name="思想气泡: 云 3"/>
          <p:cNvSpPr/>
          <p:nvPr/>
        </p:nvSpPr>
        <p:spPr>
          <a:xfrm>
            <a:off x="2135188" y="3429001"/>
            <a:ext cx="914400" cy="612775"/>
          </a:xfrm>
          <a:prstGeom prst="cloudCallout">
            <a:avLst>
              <a:gd name="adj1" fmla="val -20833"/>
              <a:gd name="adj2" fmla="val 62500"/>
            </a:avLst>
          </a:prstGeom>
          <a:noFill/>
          <a:ln w="9525">
            <a:noFill/>
          </a:ln>
        </p:spPr>
        <p:txBody>
          <a:bodyPr anchor="t" anchorCtr="0"/>
          <a:lstStyle/>
          <a:p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71015" name="对话气泡: 椭圆形 4"/>
          <p:cNvSpPr/>
          <p:nvPr/>
        </p:nvSpPr>
        <p:spPr>
          <a:xfrm>
            <a:off x="1981200" y="2963864"/>
            <a:ext cx="1068388" cy="612775"/>
          </a:xfrm>
          <a:prstGeom prst="wedgeEllipseCallout">
            <a:avLst>
              <a:gd name="adj1" fmla="val 100060"/>
              <a:gd name="adj2" fmla="val 26991"/>
            </a:avLst>
          </a:prstGeom>
          <a:solidFill>
            <a:srgbClr val="00B050"/>
          </a:solidFill>
          <a:ln w="9525" cap="flat" cmpd="sng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 anchorCtr="0"/>
          <a:lstStyle/>
          <a:p>
            <a:r>
              <a:rPr lang="zh-CN" altLang="en-US" sz="2000" b="1" dirty="0"/>
              <a:t>人员</a:t>
            </a:r>
            <a:endParaRPr lang="zh-CN" altLang="en-US" sz="2000" b="1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3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（</a:t>
            </a:r>
            <a:r>
              <a:rPr lang="en-US" altLang="zh-CN" sz="3600" dirty="0"/>
              <a:t>1</a:t>
            </a:r>
            <a:r>
              <a:rPr lang="zh-CN" altLang="en-US" sz="3600" dirty="0"/>
              <a:t>）</a:t>
            </a:r>
            <a:r>
              <a:rPr lang="en-US" altLang="zh-CN" sz="3600" dirty="0"/>
              <a:t> </a:t>
            </a:r>
            <a:r>
              <a:rPr lang="zh-CN" altLang="en-US" sz="3600" dirty="0"/>
              <a:t>数据库管理员（</a:t>
            </a:r>
            <a:r>
              <a:rPr lang="en-US" altLang="zh-CN" sz="3600" dirty="0"/>
              <a:t>DBA</a:t>
            </a:r>
            <a:r>
              <a:rPr lang="zh-CN" altLang="en-US" sz="3600" dirty="0"/>
              <a:t>）</a:t>
            </a:r>
            <a:endParaRPr lang="en-US" altLang="zh-CN" sz="3600" dirty="0"/>
          </a:p>
        </p:txBody>
      </p:sp>
      <p:sp>
        <p:nvSpPr>
          <p:cNvPr id="173059" name="Rectangle 3"/>
          <p:cNvSpPr>
            <a:spLocks noGrp="1" noChangeArrowheads="1"/>
          </p:cNvSpPr>
          <p:nvPr>
            <p:ph idx="1"/>
          </p:nvPr>
        </p:nvSpPr>
        <p:spPr>
          <a:xfrm>
            <a:off x="983432" y="1146176"/>
            <a:ext cx="10585175" cy="4983163"/>
          </a:xfrm>
        </p:spPr>
        <p:txBody>
          <a:bodyPr vert="horz" wrap="square" lIns="91440" tIns="45720" rIns="91440" bIns="45720" numCol="1" anchor="t" anchorCtr="0" compatLnSpc="1"/>
          <a:lstStyle/>
          <a:p>
            <a:pPr algn="just" eaLnBrk="1" hangingPunct="1">
              <a:lnSpc>
                <a:spcPct val="120000"/>
              </a:lnSpc>
              <a:buSzTx/>
              <a:buNone/>
              <a:defRPr/>
            </a:pPr>
            <a:r>
              <a:rPr lang="zh-CN" altLang="en-US" dirty="0"/>
              <a:t>主要职责： </a:t>
            </a:r>
            <a:endParaRPr lang="zh-CN" altLang="en-US" dirty="0"/>
          </a:p>
          <a:p>
            <a:pPr lvl="1" algn="just" eaLnBrk="1" hangingPunct="1">
              <a:lnSpc>
                <a:spcPct val="120000"/>
              </a:lnSpc>
              <a:buSzPct val="90000"/>
              <a:defRPr/>
            </a:pPr>
            <a:r>
              <a:rPr lang="zh-CN" altLang="zh-CN" sz="2600" dirty="0">
                <a:cs typeface="Times New Roman" panose="02020603050405020304" pitchFamily="18" charset="0"/>
              </a:rPr>
              <a:t>设计与定义数据库</a:t>
            </a:r>
            <a:endParaRPr lang="en-US" altLang="zh-CN" sz="2600" dirty="0">
              <a:cs typeface="Times New Roman" panose="02020603050405020304" pitchFamily="18" charset="0"/>
            </a:endParaRPr>
          </a:p>
          <a:p>
            <a:pPr lvl="2" algn="just" eaLnBrk="1" hangingPunct="1">
              <a:lnSpc>
                <a:spcPct val="120000"/>
              </a:lnSpc>
              <a:buSzPct val="90000"/>
              <a:buFont typeface="Wingdings" panose="05000000000000000000" pitchFamily="2" charset="2"/>
              <a:buChar char="l"/>
              <a:defRPr/>
            </a:pPr>
            <a:r>
              <a:rPr lang="en-US" altLang="zh-CN" sz="2200" kern="1050" dirty="0">
                <a:cs typeface="Arial" panose="020B0604020202020204" pitchFamily="34" charset="0"/>
              </a:rPr>
              <a:t>DBA</a:t>
            </a:r>
            <a:r>
              <a:rPr lang="zh-CN" altLang="zh-CN" sz="2200" kern="1050" dirty="0">
                <a:cs typeface="Arial" panose="020B0604020202020204" pitchFamily="34" charset="0"/>
              </a:rPr>
              <a:t>必</a:t>
            </a:r>
            <a:r>
              <a:rPr lang="zh-CN" altLang="zh-CN" sz="2200" kern="1050" dirty="0">
                <a:ea typeface="宋体" panose="02010600030101010101" pitchFamily="2" charset="-122"/>
                <a:cs typeface="Times New Roman" panose="02020603050405020304" pitchFamily="18" charset="0"/>
              </a:rPr>
              <a:t>须参与数据库设计的全过程</a:t>
            </a:r>
            <a:endParaRPr lang="en-US" altLang="zh-CN" sz="2200" kern="1050" dirty="0"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2" algn="just" eaLnBrk="1" hangingPunct="1">
              <a:lnSpc>
                <a:spcPct val="120000"/>
              </a:lnSpc>
              <a:buSzPct val="90000"/>
              <a:buFont typeface="Wingdings" panose="05000000000000000000" pitchFamily="2" charset="2"/>
              <a:buChar char="l"/>
              <a:defRPr/>
            </a:pPr>
            <a:r>
              <a:rPr lang="zh-CN" altLang="zh-CN" sz="2200" kern="1050" dirty="0">
                <a:ea typeface="宋体" panose="02010600030101010101" pitchFamily="2" charset="-122"/>
                <a:cs typeface="Times New Roman" panose="02020603050405020304" pitchFamily="18" charset="0"/>
              </a:rPr>
              <a:t>与用户、应用开发人员、系统分析员密切结合</a:t>
            </a:r>
            <a:endParaRPr lang="en-US" altLang="zh-CN" sz="2200" kern="1050" dirty="0"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2" algn="just" eaLnBrk="1" hangingPunct="1">
              <a:lnSpc>
                <a:spcPct val="120000"/>
              </a:lnSpc>
              <a:buSzPct val="90000"/>
              <a:buFont typeface="Wingdings" panose="05000000000000000000" pitchFamily="2" charset="2"/>
              <a:buChar char="l"/>
              <a:defRPr/>
            </a:pPr>
            <a:r>
              <a:rPr lang="zh-CN" altLang="zh-CN" sz="2200" kern="1050" dirty="0">
                <a:ea typeface="宋体" panose="02010600030101010101" pitchFamily="2" charset="-122"/>
                <a:cs typeface="Times New Roman" panose="02020603050405020304" pitchFamily="18" charset="0"/>
              </a:rPr>
              <a:t>设计概念模式、数据库模式以及各个应用的外模式</a:t>
            </a:r>
            <a:endParaRPr lang="en-US" altLang="zh-CN" sz="2200" kern="1050" dirty="0"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2" algn="just" eaLnBrk="1" hangingPunct="1">
              <a:lnSpc>
                <a:spcPct val="120000"/>
              </a:lnSpc>
              <a:buSzPct val="90000"/>
              <a:buFont typeface="Wingdings" panose="05000000000000000000" pitchFamily="2" charset="2"/>
              <a:buChar char="l"/>
              <a:defRPr/>
            </a:pPr>
            <a:r>
              <a:rPr lang="zh-CN" altLang="zh-CN" sz="2200" kern="1050" dirty="0">
                <a:ea typeface="宋体" panose="02010600030101010101" pitchFamily="2" charset="-122"/>
                <a:cs typeface="Times New Roman" panose="02020603050405020304" pitchFamily="18" charset="0"/>
              </a:rPr>
              <a:t>熟悉</a:t>
            </a:r>
            <a:r>
              <a:rPr lang="en-US" altLang="zh-CN" sz="2200" kern="1050" dirty="0">
                <a:ea typeface="宋体" panose="02010600030101010101" pitchFamily="2" charset="-122"/>
                <a:cs typeface="Times New Roman" panose="02020603050405020304" pitchFamily="18" charset="0"/>
              </a:rPr>
              <a:t>DBMS</a:t>
            </a:r>
            <a:r>
              <a:rPr lang="zh-CN" altLang="zh-CN" sz="2200" kern="1050" dirty="0">
                <a:ea typeface="宋体" panose="02010600030101010101" pitchFamily="2" charset="-122"/>
                <a:cs typeface="Times New Roman" panose="02020603050405020304" pitchFamily="18" charset="0"/>
              </a:rPr>
              <a:t>产品</a:t>
            </a:r>
            <a:r>
              <a:rPr lang="zh-CN" altLang="en-US" sz="2200" kern="1050" dirty="0"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zh-CN" altLang="zh-CN" sz="2200" kern="1050" dirty="0">
                <a:ea typeface="宋体" panose="02010600030101010101" pitchFamily="2" charset="-122"/>
                <a:cs typeface="Times New Roman" panose="02020603050405020304" pitchFamily="18" charset="0"/>
              </a:rPr>
              <a:t>决定数据库的存储结构和存取策略，设计数据库的内模式</a:t>
            </a:r>
            <a:endParaRPr lang="en-US" altLang="zh-CN" sz="2200" dirty="0">
              <a:cs typeface="+mn-ea"/>
            </a:endParaRPr>
          </a:p>
          <a:p>
            <a:pPr lvl="1" algn="just" eaLnBrk="1" hangingPunct="1">
              <a:lnSpc>
                <a:spcPct val="120000"/>
              </a:lnSpc>
              <a:buSzPct val="90000"/>
              <a:defRPr/>
            </a:pPr>
            <a:r>
              <a:rPr lang="zh-CN" altLang="zh-CN" sz="2600" dirty="0">
                <a:cs typeface="Times New Roman" panose="02020603050405020304" pitchFamily="18" charset="0"/>
              </a:rPr>
              <a:t>帮助最终用户使用数据库系统</a:t>
            </a:r>
            <a:endParaRPr lang="zh-CN" altLang="en-US" sz="2600" dirty="0">
              <a:cs typeface="+mn-ea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7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>
              <a:buNone/>
            </a:pPr>
            <a:r>
              <a:rPr lang="zh-CN" altLang="en-US" sz="3600" dirty="0"/>
              <a:t>数据库管理员（续）</a:t>
            </a:r>
            <a:endParaRPr lang="en-US" altLang="zh-CN" sz="3600" dirty="0"/>
          </a:p>
        </p:txBody>
      </p:sp>
      <p:sp>
        <p:nvSpPr>
          <p:cNvPr id="173059" name="Rectangle 3"/>
          <p:cNvSpPr>
            <a:spLocks noGrp="1" noChangeArrowheads="1"/>
          </p:cNvSpPr>
          <p:nvPr>
            <p:ph idx="1"/>
          </p:nvPr>
        </p:nvSpPr>
        <p:spPr>
          <a:xfrm>
            <a:off x="1343472" y="1146176"/>
            <a:ext cx="9324528" cy="4983163"/>
          </a:xfrm>
        </p:spPr>
        <p:txBody>
          <a:bodyPr vert="horz" wrap="square" lIns="91440" tIns="45720" rIns="91440" bIns="45720" numCol="1" anchor="t" anchorCtr="0" compatLnSpc="1"/>
          <a:lstStyle/>
          <a:p>
            <a:pPr algn="just" eaLnBrk="1" hangingPunct="1">
              <a:lnSpc>
                <a:spcPct val="160000"/>
              </a:lnSpc>
              <a:buSzTx/>
              <a:buNone/>
              <a:defRPr/>
            </a:pPr>
            <a:r>
              <a:rPr lang="zh-CN" altLang="en-US" dirty="0"/>
              <a:t>主要职责： </a:t>
            </a:r>
            <a:endParaRPr lang="zh-CN" altLang="en-US" dirty="0"/>
          </a:p>
          <a:p>
            <a:pPr lvl="1" algn="just" eaLnBrk="1" hangingPunct="1">
              <a:lnSpc>
                <a:spcPct val="150000"/>
              </a:lnSpc>
              <a:buSzPct val="90000"/>
              <a:defRPr/>
            </a:pPr>
            <a:r>
              <a:rPr lang="zh-CN" altLang="zh-CN" sz="2600" dirty="0">
                <a:cs typeface="Times New Roman" panose="02020603050405020304" pitchFamily="18" charset="0"/>
              </a:rPr>
              <a:t>负责数据库系统的运（行）和维（护）工作</a:t>
            </a:r>
            <a:endParaRPr lang="en-US" altLang="zh-CN" sz="2600" dirty="0">
              <a:cs typeface="Times New Roman" panose="02020603050405020304" pitchFamily="18" charset="0"/>
            </a:endParaRPr>
          </a:p>
          <a:p>
            <a:pPr lvl="2" algn="just" eaLnBrk="1" hangingPunct="1">
              <a:lnSpc>
                <a:spcPct val="150000"/>
              </a:lnSpc>
              <a:buSzPct val="90000"/>
              <a:buFont typeface="Wingdings" panose="05000000000000000000" pitchFamily="2" charset="2"/>
              <a:buChar char="l"/>
              <a:defRPr/>
            </a:pPr>
            <a:r>
              <a:rPr lang="en-US" altLang="zh-CN" sz="2200" kern="1050" dirty="0">
                <a:cs typeface="Times New Roman" panose="02020603050405020304" pitchFamily="18" charset="0"/>
              </a:rPr>
              <a:t>DBA</a:t>
            </a:r>
            <a:r>
              <a:rPr lang="zh-CN" altLang="zh-CN" sz="2200" kern="1050" dirty="0">
                <a:ea typeface="宋体" panose="02010600030101010101" pitchFamily="2" charset="-122"/>
                <a:cs typeface="Times New Roman" panose="02020603050405020304" pitchFamily="18" charset="0"/>
              </a:rPr>
              <a:t>负责监视数据库系统的运行情况</a:t>
            </a:r>
            <a:endParaRPr lang="en-US" altLang="zh-CN" sz="2200" kern="1050" dirty="0"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2" algn="just" eaLnBrk="1" hangingPunct="1">
              <a:lnSpc>
                <a:spcPct val="150000"/>
              </a:lnSpc>
              <a:buSzPct val="90000"/>
              <a:buFont typeface="Wingdings" panose="05000000000000000000" pitchFamily="2" charset="2"/>
              <a:buChar char="l"/>
              <a:defRPr/>
            </a:pPr>
            <a:r>
              <a:rPr lang="zh-CN" altLang="zh-CN" sz="2200" kern="1050" dirty="0">
                <a:ea typeface="宋体" panose="02010600030101010101" pitchFamily="2" charset="-122"/>
                <a:cs typeface="Times New Roman" panose="02020603050405020304" pitchFamily="18" charset="0"/>
              </a:rPr>
              <a:t>及时处理运行过程中出现的问题</a:t>
            </a:r>
            <a:endParaRPr lang="en-US" altLang="zh-CN" sz="2200" kern="1050" dirty="0"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2" algn="just" eaLnBrk="1" hangingPunct="1">
              <a:lnSpc>
                <a:spcPct val="150000"/>
              </a:lnSpc>
              <a:buSzPct val="90000"/>
              <a:buFont typeface="Wingdings" panose="05000000000000000000" pitchFamily="2" charset="2"/>
              <a:buChar char="l"/>
              <a:defRPr/>
            </a:pPr>
            <a:r>
              <a:rPr lang="zh-CN" altLang="zh-CN" sz="2200" kern="1050" dirty="0">
                <a:ea typeface="宋体" panose="02010600030101010101" pitchFamily="2" charset="-122"/>
                <a:cs typeface="Times New Roman" panose="02020603050405020304" pitchFamily="18" charset="0"/>
              </a:rPr>
              <a:t>控制不同用户访问数据库的权限</a:t>
            </a:r>
            <a:endParaRPr lang="en-US" altLang="zh-CN" sz="2200" kern="1050" dirty="0"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2" algn="just" eaLnBrk="1" hangingPunct="1">
              <a:lnSpc>
                <a:spcPct val="150000"/>
              </a:lnSpc>
              <a:buSzPct val="90000"/>
              <a:buFont typeface="Wingdings" panose="05000000000000000000" pitchFamily="2" charset="2"/>
              <a:buChar char="l"/>
              <a:defRPr/>
            </a:pPr>
            <a:r>
              <a:rPr lang="zh-CN" altLang="zh-CN" sz="2200" kern="1050" dirty="0">
                <a:ea typeface="宋体" panose="02010600030101010101" pitchFamily="2" charset="-122"/>
                <a:cs typeface="Times New Roman" panose="02020603050405020304" pitchFamily="18" charset="0"/>
              </a:rPr>
              <a:t>收集数据库的审计信息，</a:t>
            </a:r>
            <a:r>
              <a:rPr lang="zh-CN" altLang="zh-CN" sz="2200" kern="105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保证数据库的安全性和完整性</a:t>
            </a:r>
            <a:endParaRPr lang="en-US" altLang="zh-CN" sz="2200" dirty="0"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1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数据库管理员（续）</a:t>
            </a:r>
            <a:endParaRPr lang="en-US" altLang="zh-CN" sz="3600" dirty="0"/>
          </a:p>
        </p:txBody>
      </p:sp>
      <p:sp>
        <p:nvSpPr>
          <p:cNvPr id="173059" name="Rectangle 3"/>
          <p:cNvSpPr>
            <a:spLocks noGrp="1" noChangeArrowheads="1"/>
          </p:cNvSpPr>
          <p:nvPr>
            <p:ph idx="1"/>
          </p:nvPr>
        </p:nvSpPr>
        <p:spPr>
          <a:xfrm>
            <a:off x="839416" y="1146176"/>
            <a:ext cx="10873207" cy="4983163"/>
          </a:xfrm>
        </p:spPr>
        <p:txBody>
          <a:bodyPr vert="horz" wrap="square" lIns="91440" tIns="45720" rIns="91440" bIns="45720" numCol="1" anchor="t" anchorCtr="0" compatLnSpc="1"/>
          <a:lstStyle/>
          <a:p>
            <a:pPr algn="just" eaLnBrk="1" hangingPunct="1">
              <a:lnSpc>
                <a:spcPct val="160000"/>
              </a:lnSpc>
              <a:buSzTx/>
              <a:buNone/>
              <a:defRPr/>
            </a:pPr>
            <a:r>
              <a:rPr lang="zh-CN" altLang="en-US" dirty="0"/>
              <a:t>主要职责： </a:t>
            </a:r>
            <a:endParaRPr lang="zh-CN" altLang="en-US" dirty="0"/>
          </a:p>
          <a:p>
            <a:pPr lvl="1" algn="just" eaLnBrk="1" hangingPunct="1">
              <a:lnSpc>
                <a:spcPct val="150000"/>
              </a:lnSpc>
              <a:buSzPct val="90000"/>
              <a:defRPr/>
            </a:pPr>
            <a:r>
              <a:rPr lang="zh-CN" altLang="zh-CN" dirty="0">
                <a:cs typeface="Times New Roman" panose="02020603050405020304" pitchFamily="18" charset="0"/>
              </a:rPr>
              <a:t>改进和重组数据库系统，调优数据库系统的性能</a:t>
            </a:r>
            <a:endParaRPr lang="en-US" altLang="zh-CN" dirty="0">
              <a:cs typeface="Times New Roman" panose="02020603050405020304" pitchFamily="18" charset="0"/>
            </a:endParaRPr>
          </a:p>
          <a:p>
            <a:pPr lvl="2" algn="just" eaLnBrk="1" hangingPunct="1">
              <a:lnSpc>
                <a:spcPct val="150000"/>
              </a:lnSpc>
              <a:buSzPct val="90000"/>
              <a:buFont typeface="Wingdings" panose="05000000000000000000" pitchFamily="2" charset="2"/>
              <a:buChar char="l"/>
              <a:defRPr/>
            </a:pPr>
            <a:r>
              <a:rPr lang="en-US" altLang="zh-CN" kern="1050" dirty="0">
                <a:cs typeface="Times New Roman" panose="02020603050405020304" pitchFamily="18" charset="0"/>
              </a:rPr>
              <a:t>DBA</a:t>
            </a:r>
            <a:r>
              <a:rPr lang="zh-CN" altLang="zh-CN" sz="2200" kern="1050" dirty="0">
                <a:ea typeface="宋体" panose="02010600030101010101" pitchFamily="2" charset="-122"/>
                <a:cs typeface="Times New Roman" panose="02020603050405020304" pitchFamily="18" charset="0"/>
              </a:rPr>
              <a:t>负责监视、分析数据库系统的性能，包括空间利用率和处理效率</a:t>
            </a:r>
            <a:r>
              <a:rPr lang="zh-CN" altLang="en-US" sz="2200" kern="1050" dirty="0"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r>
              <a:rPr lang="zh-CN" altLang="zh-CN" sz="2200" kern="1050" dirty="0">
                <a:ea typeface="宋体" panose="02010600030101010101" pitchFamily="2" charset="-122"/>
                <a:cs typeface="Times New Roman" panose="02020603050405020304" pitchFamily="18" charset="0"/>
              </a:rPr>
              <a:t>根据实际应用环境不断改进数据库设计</a:t>
            </a:r>
            <a:endParaRPr lang="en-US" altLang="zh-CN" sz="2200" kern="1050" dirty="0"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2" algn="just" eaLnBrk="1" hangingPunct="1">
              <a:lnSpc>
                <a:spcPct val="150000"/>
              </a:lnSpc>
              <a:buSzPct val="90000"/>
              <a:buFont typeface="Wingdings" panose="05000000000000000000" pitchFamily="2" charset="2"/>
              <a:buChar char="l"/>
              <a:defRPr/>
            </a:pPr>
            <a:r>
              <a:rPr lang="zh-CN" altLang="zh-CN" sz="2200" kern="1050" dirty="0">
                <a:ea typeface="宋体" panose="02010600030101010101" pitchFamily="2" charset="-122"/>
                <a:cs typeface="Times New Roman" panose="02020603050405020304" pitchFamily="18" charset="0"/>
              </a:rPr>
              <a:t>数据库运行过程中不断地插入、删除、修改数据，</a:t>
            </a:r>
            <a:r>
              <a:rPr lang="en-US" altLang="zh-CN" sz="2200" kern="1050" dirty="0">
                <a:ea typeface="宋体" panose="02010600030101010101" pitchFamily="2" charset="-122"/>
                <a:cs typeface="Times New Roman" panose="02020603050405020304" pitchFamily="18" charset="0"/>
              </a:rPr>
              <a:t>DBA</a:t>
            </a:r>
            <a:r>
              <a:rPr lang="zh-CN" altLang="zh-CN" sz="2200" kern="1050" dirty="0">
                <a:ea typeface="宋体" panose="02010600030101010101" pitchFamily="2" charset="-122"/>
                <a:cs typeface="Times New Roman" panose="02020603050405020304" pitchFamily="18" charset="0"/>
              </a:rPr>
              <a:t>要定期地或按一定的策略对数据库进行重组织</a:t>
            </a:r>
            <a:endParaRPr lang="en-US" altLang="zh-CN" sz="2200" dirty="0"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5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zh-CN" altLang="en-US" sz="3600" dirty="0"/>
              <a:t>数据库管理员（续）</a:t>
            </a:r>
            <a:endParaRPr lang="en-US" altLang="zh-CN" sz="3600" dirty="0"/>
          </a:p>
        </p:txBody>
      </p:sp>
      <p:sp>
        <p:nvSpPr>
          <p:cNvPr id="173059" name="Rectangle 3"/>
          <p:cNvSpPr>
            <a:spLocks noGrp="1" noChangeArrowheads="1"/>
          </p:cNvSpPr>
          <p:nvPr>
            <p:ph idx="1"/>
          </p:nvPr>
        </p:nvSpPr>
        <p:spPr>
          <a:xfrm>
            <a:off x="1055440" y="936626"/>
            <a:ext cx="10585175" cy="4983163"/>
          </a:xfrm>
        </p:spPr>
        <p:txBody>
          <a:bodyPr vert="horz" wrap="square" lIns="91440" tIns="45720" rIns="91440" bIns="45720" numCol="1" anchor="t" anchorCtr="0" compatLnSpc="1">
            <a:normAutofit/>
          </a:bodyPr>
          <a:lstStyle/>
          <a:p>
            <a:pPr algn="just" eaLnBrk="1" hangingPunct="1">
              <a:lnSpc>
                <a:spcPct val="160000"/>
              </a:lnSpc>
              <a:buSzTx/>
              <a:buNone/>
              <a:defRPr/>
            </a:pPr>
            <a:r>
              <a:rPr lang="zh-CN" altLang="en-US" dirty="0"/>
              <a:t>主要职责： </a:t>
            </a:r>
            <a:endParaRPr lang="zh-CN" altLang="en-US" dirty="0"/>
          </a:p>
          <a:p>
            <a:pPr lvl="1" algn="just" eaLnBrk="1" hangingPunct="1">
              <a:lnSpc>
                <a:spcPct val="150000"/>
              </a:lnSpc>
              <a:buSzPct val="90000"/>
              <a:defRPr/>
            </a:pPr>
            <a:r>
              <a:rPr lang="zh-CN" altLang="zh-CN" dirty="0">
                <a:cs typeface="Times New Roman" panose="02020603050405020304" pitchFamily="18" charset="0"/>
              </a:rPr>
              <a:t>转储与恢复数据库</a:t>
            </a:r>
            <a:endParaRPr lang="en-US" altLang="zh-CN" dirty="0">
              <a:cs typeface="Times New Roman" panose="02020603050405020304" pitchFamily="18" charset="0"/>
            </a:endParaRPr>
          </a:p>
          <a:p>
            <a:pPr lvl="2" algn="just" eaLnBrk="1" hangingPunct="1">
              <a:lnSpc>
                <a:spcPct val="150000"/>
              </a:lnSpc>
              <a:buSzPct val="90000"/>
              <a:buFont typeface="Wingdings" panose="05000000000000000000" pitchFamily="2" charset="2"/>
              <a:buChar char="l"/>
              <a:defRPr/>
            </a:pPr>
            <a:r>
              <a:rPr lang="zh-CN" altLang="zh-CN" sz="2200" kern="1050" dirty="0">
                <a:ea typeface="宋体" panose="02010600030101010101" pitchFamily="2" charset="-122"/>
                <a:cs typeface="Times New Roman" panose="02020603050405020304" pitchFamily="18" charset="0"/>
              </a:rPr>
              <a:t>为减少硬件、软件或人为故障对数据库系统的破坏，</a:t>
            </a:r>
            <a:r>
              <a:rPr lang="en-US" altLang="zh-CN" sz="2200" kern="1050" dirty="0">
                <a:ea typeface="宋体" panose="02010600030101010101" pitchFamily="2" charset="-122"/>
                <a:cs typeface="Times New Roman" panose="02020603050405020304" pitchFamily="18" charset="0"/>
              </a:rPr>
              <a:t>DBA</a:t>
            </a:r>
            <a:r>
              <a:rPr lang="zh-CN" altLang="zh-CN" sz="2200" kern="1050" dirty="0">
                <a:ea typeface="宋体" panose="02010600030101010101" pitchFamily="2" charset="-122"/>
                <a:cs typeface="Times New Roman" panose="02020603050405020304" pitchFamily="18" charset="0"/>
              </a:rPr>
              <a:t>必须定义和实施适当的后援和恢复策略</a:t>
            </a:r>
            <a:endParaRPr lang="en-US" altLang="zh-CN" sz="2200" kern="1050" dirty="0"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2" algn="just" eaLnBrk="1" hangingPunct="1">
              <a:lnSpc>
                <a:spcPct val="150000"/>
              </a:lnSpc>
              <a:buSzPct val="90000"/>
              <a:buFont typeface="Wingdings" panose="05000000000000000000" pitchFamily="2" charset="2"/>
              <a:buChar char="l"/>
              <a:defRPr/>
            </a:pPr>
            <a:r>
              <a:rPr lang="zh-CN" altLang="zh-CN" sz="2200" kern="1050" dirty="0">
                <a:ea typeface="宋体" panose="02010600030101010101" pitchFamily="2" charset="-122"/>
                <a:cs typeface="Times New Roman" panose="02020603050405020304" pitchFamily="18" charset="0"/>
              </a:rPr>
              <a:t>一旦系统故障，</a:t>
            </a:r>
            <a:r>
              <a:rPr lang="en-US" altLang="zh-CN" sz="2200" kern="1050" dirty="0">
                <a:ea typeface="宋体" panose="02010600030101010101" pitchFamily="2" charset="-122"/>
                <a:cs typeface="Times New Roman" panose="02020603050405020304" pitchFamily="18" charset="0"/>
              </a:rPr>
              <a:t>DBA</a:t>
            </a:r>
            <a:r>
              <a:rPr lang="zh-CN" altLang="zh-CN" sz="2200" kern="1050" dirty="0">
                <a:ea typeface="宋体" panose="02010600030101010101" pitchFamily="2" charset="-122"/>
                <a:cs typeface="Times New Roman" panose="02020603050405020304" pitchFamily="18" charset="0"/>
              </a:rPr>
              <a:t>必须能够在最短时间内把数据库恢复到某一正确状态</a:t>
            </a:r>
            <a:endParaRPr lang="en-US" altLang="zh-CN" sz="2200" dirty="0">
              <a:cs typeface="Times New Roman" panose="02020603050405020304" pitchFamily="18" charset="0"/>
            </a:endParaRPr>
          </a:p>
          <a:p>
            <a:pPr lvl="1" algn="just" eaLnBrk="1" hangingPunct="1">
              <a:lnSpc>
                <a:spcPct val="150000"/>
              </a:lnSpc>
              <a:buSzPct val="90000"/>
              <a:defRPr/>
            </a:pPr>
            <a:r>
              <a:rPr lang="zh-CN" altLang="zh-CN" dirty="0">
                <a:cs typeface="Times New Roman" panose="02020603050405020304" pitchFamily="18" charset="0"/>
              </a:rPr>
              <a:t>重构数据库</a:t>
            </a:r>
            <a:endParaRPr lang="en-US" altLang="zh-CN" dirty="0">
              <a:cs typeface="Times New Roman" panose="02020603050405020304" pitchFamily="18" charset="0"/>
            </a:endParaRPr>
          </a:p>
          <a:p>
            <a:pPr lvl="2" algn="just" eaLnBrk="1" hangingPunct="1">
              <a:lnSpc>
                <a:spcPct val="150000"/>
              </a:lnSpc>
              <a:buSzPct val="90000"/>
              <a:buFont typeface="Wingdings" panose="05000000000000000000" pitchFamily="2" charset="2"/>
              <a:buChar char="l"/>
              <a:defRPr/>
            </a:pPr>
            <a:r>
              <a:rPr lang="zh-CN" altLang="zh-CN" sz="2200" kern="1050" dirty="0">
                <a:ea typeface="宋体" panose="02010600030101010101" pitchFamily="2" charset="-122"/>
                <a:cs typeface="Times New Roman" panose="02020603050405020304" pitchFamily="18" charset="0"/>
              </a:rPr>
              <a:t>用户应用需求改变时，</a:t>
            </a:r>
            <a:r>
              <a:rPr lang="en-US" altLang="zh-CN" sz="2200" kern="1050" dirty="0">
                <a:ea typeface="宋体" panose="02010600030101010101" pitchFamily="2" charset="-122"/>
                <a:cs typeface="Times New Roman" panose="02020603050405020304" pitchFamily="18" charset="0"/>
              </a:rPr>
              <a:t>DBA</a:t>
            </a:r>
            <a:r>
              <a:rPr lang="zh-CN" altLang="zh-CN" sz="2200" kern="1050" dirty="0">
                <a:ea typeface="宋体" panose="02010600030101010101" pitchFamily="2" charset="-122"/>
                <a:cs typeface="Times New Roman" panose="02020603050405020304" pitchFamily="18" charset="0"/>
              </a:rPr>
              <a:t>需要重新构造数据库，包括修改内模式或模式</a:t>
            </a:r>
            <a:endParaRPr lang="en-US" altLang="zh-CN" sz="2200" kern="1050" dirty="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PA" val="v3.0.1"/>
</p:tagLst>
</file>

<file path=ppt/tags/tag2.xml><?xml version="1.0" encoding="utf-8"?>
<p:tagLst xmlns:p="http://schemas.openxmlformats.org/presentationml/2006/main">
  <p:tag name="KSO_WM_UNIT_PLACING_PICTURE_USER_VIEWPORT" val="{&quot;height&quot;:5085,&quot;width&quot;:19200}"/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UNIT_TABLE_BEAUTIFY" val="smartTable{8bc0549a-7cd8-4325-94a6-4e5bfb393fca}"/>
</p:tagLst>
</file>

<file path=ppt/tags/tag8.xml><?xml version="1.0" encoding="utf-8"?>
<p:tagLst xmlns:p="http://schemas.openxmlformats.org/presentationml/2006/main">
  <p:tag name="KSO_WM_UNIT_TABLE_BEAUTIFY" val="smartTable{09c328ef-a343-4cb2-9c7a-12263e79b7dd}"/>
</p:tagLst>
</file>

<file path=ppt/tags/tag9.xml><?xml version="1.0" encoding="utf-8"?>
<p:tagLst xmlns:p="http://schemas.openxmlformats.org/presentationml/2006/main">
  <p:tag name="KSO_WM_UNIT_TABLE_BEAUTIFY" val="smartTable{05b58f35-c972-48ee-b751-44371fd3fdff}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COMMONDATA" val="eyJoZGlkIjoiYzFiMmY5NjgwNzk1ZWQ4YjczNmJjOGRhMTg3Mzg1NjcifQ=="/>
  <p:tag name="KSO_WPP_MARK_KEY" val="2789fab7-faed-4c5f-b1f2-504434b7d79a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8371</Words>
  <Application>WPS 演示</Application>
  <PresentationFormat>宽屏</PresentationFormat>
  <Paragraphs>796</Paragraphs>
  <Slides>82</Slides>
  <Notes>30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82</vt:i4>
      </vt:variant>
    </vt:vector>
  </HeadingPairs>
  <TitlesOfParts>
    <vt:vector size="97" baseType="lpstr">
      <vt:lpstr>Arial</vt:lpstr>
      <vt:lpstr>宋体</vt:lpstr>
      <vt:lpstr>Wingdings</vt:lpstr>
      <vt:lpstr>Times New Roman</vt:lpstr>
      <vt:lpstr>Calibri</vt:lpstr>
      <vt:lpstr>黑体</vt:lpstr>
      <vt:lpstr>Times-Roman</vt:lpstr>
      <vt:lpstr>隶书</vt:lpstr>
      <vt:lpstr>等线 Light</vt:lpstr>
      <vt:lpstr>等线</vt:lpstr>
      <vt:lpstr>微软雅黑</vt:lpstr>
      <vt:lpstr>Arial Unicode MS</vt:lpstr>
      <vt:lpstr>Wingdings</vt:lpstr>
      <vt:lpstr>Therese</vt:lpstr>
      <vt:lpstr>Office 主题​​</vt:lpstr>
      <vt:lpstr>PowerPoint 演示文稿</vt:lpstr>
      <vt:lpstr>PowerPoint 演示文稿</vt:lpstr>
      <vt:lpstr>第一章  绪论</vt:lpstr>
      <vt:lpstr>PowerPoint 演示文稿</vt:lpstr>
      <vt:lpstr>数据！=数字</vt:lpstr>
      <vt:lpstr>数据库</vt:lpstr>
      <vt:lpstr>关于冗余的讨论</vt:lpstr>
      <vt:lpstr>参考答案</vt:lpstr>
      <vt:lpstr>3.数据库管理系统</vt:lpstr>
      <vt:lpstr>数据库管理系统的主要功能</vt:lpstr>
      <vt:lpstr>数据库管理系统的主要功能（续）</vt:lpstr>
      <vt:lpstr>数据库管理系统的主要功能（续）</vt:lpstr>
      <vt:lpstr>4.数据库系统</vt:lpstr>
      <vt:lpstr>PowerPoint 演示文稿</vt:lpstr>
      <vt:lpstr>1.1  数据库系统概述</vt:lpstr>
      <vt:lpstr>数据管理技术的产生和发展</vt:lpstr>
      <vt:lpstr>PowerPoint 演示文稿</vt:lpstr>
      <vt:lpstr>1.2  数据模型</vt:lpstr>
      <vt:lpstr> 1.2  数据模型</vt:lpstr>
      <vt:lpstr>数据建模</vt:lpstr>
      <vt:lpstr>数据建模（续）</vt:lpstr>
      <vt:lpstr> 1.2  数据模型</vt:lpstr>
      <vt:lpstr>1.2.2 概念模型 </vt:lpstr>
      <vt:lpstr>1.  信息世界中的基本概念</vt:lpstr>
      <vt:lpstr>实体-联系方法</vt:lpstr>
      <vt:lpstr>实体-联系方法（续）</vt:lpstr>
      <vt:lpstr> 1.2  数据模型</vt:lpstr>
      <vt:lpstr> 数据模型的三要素</vt:lpstr>
      <vt:lpstr> 1.  数据结构</vt:lpstr>
      <vt:lpstr> 2.  数据操纵 </vt:lpstr>
      <vt:lpstr>3. 完整性约束 </vt:lpstr>
      <vt:lpstr> 1.2  数据模型</vt:lpstr>
      <vt:lpstr>1.2.4  层次模型</vt:lpstr>
      <vt:lpstr>层次模型（续）</vt:lpstr>
      <vt:lpstr>3.层次模型的优缺点</vt:lpstr>
      <vt:lpstr> 1.2  数据模型</vt:lpstr>
      <vt:lpstr>1.2.5  网状模型</vt:lpstr>
      <vt:lpstr>1.  网状模型的数据结构</vt:lpstr>
      <vt:lpstr>网状模型的数据结构（续）</vt:lpstr>
      <vt:lpstr>2. 网状模型的数据操纵与完整性约束</vt:lpstr>
      <vt:lpstr>3. 网状模型的优缺点</vt:lpstr>
      <vt:lpstr> 1.2  数据模型</vt:lpstr>
      <vt:lpstr>1.2.6 关系模型</vt:lpstr>
      <vt:lpstr>1.  关系模型的数据结构 </vt:lpstr>
      <vt:lpstr>关系模型的数据结构（续）</vt:lpstr>
      <vt:lpstr>关系模型的数据结构（续）</vt:lpstr>
      <vt:lpstr>关系模型的数据结构（续）</vt:lpstr>
      <vt:lpstr>2.  关系模型的数据操纵与完整性约束</vt:lpstr>
      <vt:lpstr>关系模型的数据操纵与完整性约束（续）</vt:lpstr>
      <vt:lpstr>3.  关系模型的优缺点</vt:lpstr>
      <vt:lpstr>关系模型的优缺点（续）</vt:lpstr>
      <vt:lpstr> 1.2  数据模型</vt:lpstr>
      <vt:lpstr>1.2.7 数据库领域中不断涌现的数据模型</vt:lpstr>
      <vt:lpstr>第一章  绪论</vt:lpstr>
      <vt:lpstr>1.3 数据库系统的三级模式结构 </vt:lpstr>
      <vt:lpstr>1.3.1 数据库系统模式的概念</vt:lpstr>
      <vt:lpstr>数据库系统结构（续）</vt:lpstr>
      <vt:lpstr>1.3.2 数据库系统的三级模式结构</vt:lpstr>
      <vt:lpstr>数据库系统的三级模式结构（续）</vt:lpstr>
      <vt:lpstr>1.  模式（schema）</vt:lpstr>
      <vt:lpstr>2.  外模式（external schema）</vt:lpstr>
      <vt:lpstr>3. 内模式（internal schema）</vt:lpstr>
      <vt:lpstr>数据库系统结构（续）</vt:lpstr>
      <vt:lpstr>数据库的二级映像与数据独立性</vt:lpstr>
      <vt:lpstr>1.  外模式／模式映像</vt:lpstr>
      <vt:lpstr>外模式／模式映象（续）</vt:lpstr>
      <vt:lpstr>2.  模式／内模式映像</vt:lpstr>
      <vt:lpstr>模式／内模式映象（续）</vt:lpstr>
      <vt:lpstr>讨论：关于数据独立性（三级模式）</vt:lpstr>
      <vt:lpstr>独立性</vt:lpstr>
      <vt:lpstr>三级模式例子：数字人大</vt:lpstr>
      <vt:lpstr>例：数字人大</vt:lpstr>
      <vt:lpstr>例：数字人大</vt:lpstr>
      <vt:lpstr>第一章  绪论</vt:lpstr>
      <vt:lpstr>1.4  数据库系统的组成</vt:lpstr>
      <vt:lpstr>1.4  数据库系统的组成</vt:lpstr>
      <vt:lpstr>人员</vt:lpstr>
      <vt:lpstr>人员（续）</vt:lpstr>
      <vt:lpstr>（1） 数据库管理员（DBA）</vt:lpstr>
      <vt:lpstr>数据库管理员（续）</vt:lpstr>
      <vt:lpstr>数据库管理员（续）</vt:lpstr>
      <vt:lpstr>数据库管理员（续）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jiao</dc:creator>
  <cp:lastModifiedBy>陈晋川</cp:lastModifiedBy>
  <cp:revision>523</cp:revision>
  <cp:lastPrinted>2021-10-28T01:53:00Z</cp:lastPrinted>
  <dcterms:created xsi:type="dcterms:W3CDTF">2021-11-04T03:01:00Z</dcterms:created>
  <dcterms:modified xsi:type="dcterms:W3CDTF">2025-09-10T12:48:06Z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4337A13AC07445B38C0B0611B1BFCF31</vt:lpwstr>
  </property>
  <property fmtid="{D5CDD505-2E9C-101B-9397-08002B2CF9AE}" pid="3" name="KSOProductBuildVer">
    <vt:lpwstr>2052-12.1.0.21915</vt:lpwstr>
  </property>
</Properties>
</file>