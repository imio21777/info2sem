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146"/>
  </p:notesMasterIdLst>
  <p:sldIdLst>
    <p:sldId id="441" r:id="rId3"/>
    <p:sldId id="260" r:id="rId4"/>
    <p:sldId id="261" r:id="rId5"/>
    <p:sldId id="262" r:id="rId6"/>
    <p:sldId id="389" r:id="rId7"/>
    <p:sldId id="265" r:id="rId8"/>
    <p:sldId id="266" r:id="rId9"/>
    <p:sldId id="267" r:id="rId10"/>
    <p:sldId id="268" r:id="rId11"/>
    <p:sldId id="269" r:id="rId12"/>
    <p:sldId id="270" r:id="rId13"/>
    <p:sldId id="271" r:id="rId14"/>
    <p:sldId id="272" r:id="rId15"/>
    <p:sldId id="422" r:id="rId16"/>
    <p:sldId id="423" r:id="rId17"/>
    <p:sldId id="273" r:id="rId18"/>
    <p:sldId id="275" r:id="rId19"/>
    <p:sldId id="276" r:id="rId20"/>
    <p:sldId id="575" r:id="rId21"/>
    <p:sldId id="279" r:id="rId22"/>
    <p:sldId id="574" r:id="rId23"/>
    <p:sldId id="280" r:id="rId24"/>
    <p:sldId id="424" r:id="rId25"/>
    <p:sldId id="282" r:id="rId26"/>
    <p:sldId id="427" r:id="rId27"/>
    <p:sldId id="428" r:id="rId28"/>
    <p:sldId id="429" r:id="rId29"/>
    <p:sldId id="430" r:id="rId30"/>
    <p:sldId id="425" r:id="rId31"/>
    <p:sldId id="431" r:id="rId32"/>
    <p:sldId id="433" r:id="rId33"/>
    <p:sldId id="426" r:id="rId34"/>
    <p:sldId id="283" r:id="rId35"/>
    <p:sldId id="284" r:id="rId36"/>
    <p:sldId id="285" r:id="rId37"/>
    <p:sldId id="286" r:id="rId38"/>
    <p:sldId id="287" r:id="rId39"/>
    <p:sldId id="432" r:id="rId40"/>
    <p:sldId id="290" r:id="rId41"/>
    <p:sldId id="291" r:id="rId42"/>
    <p:sldId id="292" r:id="rId43"/>
    <p:sldId id="293" r:id="rId44"/>
    <p:sldId id="294" r:id="rId45"/>
    <p:sldId id="296" r:id="rId46"/>
    <p:sldId id="298" r:id="rId47"/>
    <p:sldId id="299" r:id="rId48"/>
    <p:sldId id="300" r:id="rId49"/>
    <p:sldId id="434" r:id="rId50"/>
    <p:sldId id="303" r:id="rId51"/>
    <p:sldId id="398" r:id="rId52"/>
    <p:sldId id="304" r:id="rId53"/>
    <p:sldId id="305" r:id="rId54"/>
    <p:sldId id="306" r:id="rId55"/>
    <p:sldId id="399" r:id="rId56"/>
    <p:sldId id="307" r:id="rId57"/>
    <p:sldId id="308" r:id="rId58"/>
    <p:sldId id="309" r:id="rId59"/>
    <p:sldId id="310" r:id="rId60"/>
    <p:sldId id="311" r:id="rId61"/>
    <p:sldId id="312" r:id="rId62"/>
    <p:sldId id="314" r:id="rId63"/>
    <p:sldId id="692" r:id="rId64"/>
    <p:sldId id="315" r:id="rId65"/>
    <p:sldId id="316" r:id="rId66"/>
    <p:sldId id="317" r:id="rId67"/>
    <p:sldId id="318" r:id="rId68"/>
    <p:sldId id="319" r:id="rId69"/>
    <p:sldId id="320" r:id="rId70"/>
    <p:sldId id="321" r:id="rId71"/>
    <p:sldId id="693" r:id="rId72"/>
    <p:sldId id="435" r:id="rId73"/>
    <p:sldId id="323" r:id="rId74"/>
    <p:sldId id="400" r:id="rId75"/>
    <p:sldId id="324" r:id="rId76"/>
    <p:sldId id="325" r:id="rId77"/>
    <p:sldId id="326" r:id="rId78"/>
    <p:sldId id="327" r:id="rId79"/>
    <p:sldId id="328" r:id="rId80"/>
    <p:sldId id="329" r:id="rId81"/>
    <p:sldId id="768" r:id="rId82"/>
    <p:sldId id="401" r:id="rId83"/>
    <p:sldId id="330" r:id="rId84"/>
    <p:sldId id="332" r:id="rId85"/>
    <p:sldId id="333" r:id="rId86"/>
    <p:sldId id="419" r:id="rId87"/>
    <p:sldId id="341" r:id="rId88"/>
    <p:sldId id="769" r:id="rId89"/>
    <p:sldId id="770" r:id="rId90"/>
    <p:sldId id="771" r:id="rId91"/>
    <p:sldId id="436" r:id="rId92"/>
    <p:sldId id="344" r:id="rId93"/>
    <p:sldId id="345" r:id="rId94"/>
    <p:sldId id="346" r:id="rId95"/>
    <p:sldId id="347" r:id="rId96"/>
    <p:sldId id="348" r:id="rId97"/>
    <p:sldId id="349" r:id="rId98"/>
    <p:sldId id="350" r:id="rId99"/>
    <p:sldId id="437" r:id="rId100"/>
    <p:sldId id="353" r:id="rId101"/>
    <p:sldId id="354" r:id="rId102"/>
    <p:sldId id="355" r:id="rId103"/>
    <p:sldId id="356" r:id="rId104"/>
    <p:sldId id="402" r:id="rId105"/>
    <p:sldId id="357" r:id="rId106"/>
    <p:sldId id="358" r:id="rId107"/>
    <p:sldId id="359" r:id="rId108"/>
    <p:sldId id="360" r:id="rId109"/>
    <p:sldId id="361" r:id="rId110"/>
    <p:sldId id="362" r:id="rId111"/>
    <p:sldId id="403" r:id="rId112"/>
    <p:sldId id="363" r:id="rId113"/>
    <p:sldId id="365" r:id="rId114"/>
    <p:sldId id="366" r:id="rId115"/>
    <p:sldId id="367" r:id="rId116"/>
    <p:sldId id="368" r:id="rId117"/>
    <p:sldId id="369" r:id="rId118"/>
    <p:sldId id="370" r:id="rId119"/>
    <p:sldId id="371" r:id="rId120"/>
    <p:sldId id="372" r:id="rId121"/>
    <p:sldId id="438" r:id="rId122"/>
    <p:sldId id="405" r:id="rId123"/>
    <p:sldId id="374" r:id="rId124"/>
    <p:sldId id="830" r:id="rId125"/>
    <p:sldId id="831" r:id="rId126"/>
    <p:sldId id="406" r:id="rId127"/>
    <p:sldId id="407" r:id="rId128"/>
    <p:sldId id="376" r:id="rId129"/>
    <p:sldId id="377" r:id="rId130"/>
    <p:sldId id="416" r:id="rId131"/>
    <p:sldId id="420" r:id="rId132"/>
    <p:sldId id="421" r:id="rId133"/>
    <p:sldId id="409" r:id="rId134"/>
    <p:sldId id="380" r:id="rId135"/>
    <p:sldId id="381" r:id="rId136"/>
    <p:sldId id="382" r:id="rId137"/>
    <p:sldId id="383" r:id="rId138"/>
    <p:sldId id="384" r:id="rId139"/>
    <p:sldId id="411" r:id="rId140"/>
    <p:sldId id="418" r:id="rId141"/>
    <p:sldId id="439" r:id="rId142"/>
    <p:sldId id="412" r:id="rId143"/>
    <p:sldId id="413" r:id="rId144"/>
    <p:sldId id="415" r:id="rId145"/>
  </p:sldIdLst>
  <p:sldSz cx="12192000" cy="6858000"/>
  <p:notesSz cx="6834188" cy="9979025"/>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066FF"/>
    <a:srgbClr val="FFCCFF"/>
    <a:srgbClr val="CCFFCC"/>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20"/>
    <p:restoredTop sz="94660"/>
  </p:normalViewPr>
  <p:slideViewPr>
    <p:cSldViewPr snapToObjects="1" showGuides="1">
      <p:cViewPr varScale="1">
        <p:scale>
          <a:sx n="108" d="100"/>
          <a:sy n="108" d="100"/>
        </p:scale>
        <p:origin x="702" y="84"/>
      </p:cViewPr>
      <p:guideLst>
        <p:guide orient="horz" pos="2160"/>
        <p:guide pos="3864"/>
      </p:guideLst>
    </p:cSldViewPr>
  </p:slideViewPr>
  <p:notesTextViewPr>
    <p:cViewPr>
      <p:scale>
        <a:sx n="100" d="100"/>
        <a:sy n="100" d="100"/>
      </p:scale>
      <p:origin x="0" y="0"/>
    </p:cViewPr>
  </p:notesTextViewPr>
  <p:sorterViewPr showFormatting="0">
    <p:cViewPr>
      <p:scale>
        <a:sx n="100" d="100"/>
        <a:sy n="100" d="100"/>
      </p:scale>
      <p:origin x="0" y="26226"/>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theme" Target="theme/theme1.xml"/><Relationship Id="rId5" Type="http://schemas.openxmlformats.org/officeDocument/2006/relationships/slide" Target="slides/slide3.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tableStyles" Target="tableStyles.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60688" cy="498475"/>
          </a:xfrm>
          <a:prstGeom prst="rect">
            <a:avLst/>
          </a:prstGeom>
          <a:noFill/>
          <a:ln w="9525">
            <a:noFill/>
            <a:miter lim="800000"/>
          </a:ln>
          <a:effectLst/>
        </p:spPr>
        <p:txBody>
          <a:bodyPr vert="horz" wrap="square" lIns="91440" tIns="45720" rIns="91440" bIns="45720" numCol="1" anchor="t"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Rectangle 3"/>
          <p:cNvSpPr>
            <a:spLocks noGrp="1" noChangeArrowheads="1"/>
          </p:cNvSpPr>
          <p:nvPr>
            <p:ph type="dt" idx="1"/>
          </p:nvPr>
        </p:nvSpPr>
        <p:spPr bwMode="auto">
          <a:xfrm>
            <a:off x="3870325" y="0"/>
            <a:ext cx="2962275" cy="498475"/>
          </a:xfrm>
          <a:prstGeom prst="rect">
            <a:avLst/>
          </a:prstGeom>
          <a:noFill/>
          <a:ln w="9525">
            <a:noFill/>
            <a:miter lim="800000"/>
          </a:ln>
          <a:effectLst/>
        </p:spPr>
        <p:txBody>
          <a:bodyPr vert="horz" wrap="square" lIns="91440" tIns="45720" rIns="91440" bIns="45720" numCol="1" anchor="t" anchorCtr="0" compatLnSpc="1"/>
          <a:lstStyle>
            <a:lvl1pPr algn="r" eaLnBrk="0" hangingPunct="0">
              <a:buFont typeface="Arial" panose="020B0604020202020204" pitchFamily="34" charset="0"/>
              <a:buNone/>
              <a:defRPr sz="1200"/>
            </a:lvl1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E81A4BC9-C0E6-42D6-9932-C56A0B8E7A85}"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2024/12/24</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2" name="Rectangle 4"/>
          <p:cNvSpPr>
            <a:spLocks noGrp="1" noRot="1" noChangeAspect="1"/>
          </p:cNvSpPr>
          <p:nvPr>
            <p:ph type="sldImg" idx="2"/>
          </p:nvPr>
        </p:nvSpPr>
        <p:spPr>
          <a:xfrm>
            <a:off x="90488" y="747713"/>
            <a:ext cx="6651625" cy="3741737"/>
          </a:xfrm>
          <a:prstGeom prst="rect">
            <a:avLst/>
          </a:prstGeom>
          <a:noFill/>
          <a:ln w="9525">
            <a:noFill/>
          </a:ln>
        </p:spPr>
      </p:sp>
      <p:sp>
        <p:nvSpPr>
          <p:cNvPr id="2053" name="Rectangle 5"/>
          <p:cNvSpPr>
            <a:spLocks noGrp="1" noChangeArrowheads="1"/>
          </p:cNvSpPr>
          <p:nvPr>
            <p:ph type="body" sz="quarter" idx="3"/>
          </p:nvPr>
        </p:nvSpPr>
        <p:spPr bwMode="auto">
          <a:xfrm>
            <a:off x="682625" y="4740275"/>
            <a:ext cx="5467350" cy="4489450"/>
          </a:xfrm>
          <a:prstGeom prst="rect">
            <a:avLst/>
          </a:prstGeom>
          <a:noFill/>
          <a:ln w="9525">
            <a:noFill/>
            <a:miter lim="800000"/>
          </a:ln>
          <a:effec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p>
        </p:txBody>
      </p:sp>
      <p:sp>
        <p:nvSpPr>
          <p:cNvPr id="2054" name="Rectangle 6"/>
          <p:cNvSpPr>
            <a:spLocks noGrp="1" noChangeArrowheads="1"/>
          </p:cNvSpPr>
          <p:nvPr>
            <p:ph type="ftr" sz="quarter" idx="4"/>
          </p:nvPr>
        </p:nvSpPr>
        <p:spPr bwMode="auto">
          <a:xfrm>
            <a:off x="0" y="9477375"/>
            <a:ext cx="2960688" cy="500063"/>
          </a:xfrm>
          <a:prstGeom prst="rect">
            <a:avLst/>
          </a:prstGeom>
          <a:noFill/>
          <a:ln w="9525">
            <a:noFill/>
            <a:miter lim="800000"/>
          </a:ln>
          <a:effectLst/>
        </p:spPr>
        <p:txBody>
          <a:bodyPr vert="horz" wrap="square" lIns="91440" tIns="45720" rIns="91440" bIns="45720" numCol="1" anchor="b"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Rectangle 7"/>
          <p:cNvSpPr>
            <a:spLocks noGrp="1" noChangeArrowheads="1"/>
          </p:cNvSpPr>
          <p:nvPr>
            <p:ph type="sldNum" sz="quarter" idx="5"/>
          </p:nvPr>
        </p:nvSpPr>
        <p:spPr bwMode="auto">
          <a:xfrm>
            <a:off x="3870325" y="9477375"/>
            <a:ext cx="2962275" cy="500063"/>
          </a:xfrm>
          <a:prstGeom prst="rect">
            <a:avLst/>
          </a:prstGeom>
          <a:noFill/>
          <a:ln w="9525">
            <a:noFill/>
            <a:miter lim="800000"/>
          </a:ln>
          <a:effectLst/>
        </p:spPr>
        <p:txBody>
          <a:bodyPr vert="horz" wrap="square" lIns="91440" tIns="45720" rIns="91440" bIns="45720" numCol="1" anchor="b" anchorCtr="0" compatLnSpc="1"/>
          <a:lstStyle>
            <a:lvl1pPr algn="r" eaLnBrk="0" hangingPunct="0">
              <a:buFont typeface="Arial" panose="020B0604020202020204" pitchFamily="34" charset="0"/>
              <a:buNone/>
              <a:defRPr sz="1200"/>
            </a:lvl1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66502868-0008-468C-9C26-FEDD17CE37FD}"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p:sp>
      <p:sp>
        <p:nvSpPr>
          <p:cNvPr id="4099" name="备注占位符 2"/>
          <p:cNvSpPr>
            <a:spLocks noGrp="1"/>
          </p:cNvSpPr>
          <p:nvPr>
            <p:ph type="body" idx="1"/>
          </p:nvPr>
        </p:nvSpPr>
        <p:spPr/>
        <p:txBody>
          <a:bodyPr wrap="square" lIns="91440" tIns="45720" rIns="91440" bIns="45720" anchor="ctr" anchorCtr="0"/>
          <a:lstStyle/>
          <a:p>
            <a:pPr lvl="0"/>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p:cNvSpPr>
            <a:spLocks noGrp="1" noRot="1" noChangeAspect="1" noTextEdit="1"/>
          </p:cNvSpPr>
          <p:nvPr>
            <p:ph type="sldImg"/>
          </p:nvPr>
        </p:nvSpPr>
        <p:spPr/>
      </p:sp>
      <p:sp>
        <p:nvSpPr>
          <p:cNvPr id="12390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12390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spcBef>
                <a:spcPct val="0"/>
              </a:spcBef>
            </a:pPr>
            <a:fld id="{9A0DB2DC-4C9A-4742-B13C-FB6460FD3503}" type="slidenum">
              <a:rPr lang="zh-CN" altLang="en-US" dirty="0">
                <a:latin typeface="Arial" panose="020B0604020202020204" pitchFamily="34" charset="0"/>
              </a:rPr>
              <a:t>127</a:t>
            </a:fld>
            <a:endParaRPr lang="zh-CN" altLang="en-US" dirty="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atin typeface="+mn-ea"/>
                <a:ea typeface="+mn-ea"/>
              </a:defRPr>
            </a:lvl1pPr>
          </a:lstStyle>
          <a:p>
            <a:r>
              <a:rPr lang="zh-CN" altLang="en-US" dirty="0"/>
              <a:t>单击此处编辑母版标题样式</a:t>
            </a:r>
          </a:p>
        </p:txBody>
      </p:sp>
      <p:sp>
        <p:nvSpPr>
          <p:cNvPr id="3" name="内容占位符 2"/>
          <p:cNvSpPr>
            <a:spLocks noGrp="1"/>
          </p:cNvSpPr>
          <p:nvPr>
            <p:ph idx="1"/>
          </p:nvPr>
        </p:nvSpPr>
        <p:spPr/>
        <p:txBody>
          <a:bodyPr/>
          <a:lstStyle>
            <a:lvl3pPr>
              <a:defRPr sz="2200"/>
            </a:lvl3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dirty="0"/>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38100"/>
            <a:ext cx="2743200" cy="6232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38100"/>
            <a:ext cx="8026400" cy="6232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38100"/>
            <a:ext cx="10972800" cy="113665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339851"/>
            <a:ext cx="5384800" cy="4854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339851"/>
            <a:ext cx="5384800" cy="4854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atin typeface="+mn-ea"/>
                <a:ea typeface="+mn-ea"/>
              </a:defRPr>
            </a:lvl1pPr>
          </a:lstStyle>
          <a:p>
            <a:r>
              <a:rPr lang="zh-CN" altLang="en-US" dirty="0"/>
              <a:t>单击此处编辑母版标题样式</a:t>
            </a:r>
          </a:p>
        </p:txBody>
      </p:sp>
      <p:sp>
        <p:nvSpPr>
          <p:cNvPr id="3" name="内容占位符 2"/>
          <p:cNvSpPr>
            <a:spLocks noGrp="1"/>
          </p:cNvSpPr>
          <p:nvPr>
            <p:ph idx="1"/>
          </p:nvPr>
        </p:nvSpPr>
        <p:spPr/>
        <p:txBody>
          <a:bodyPr/>
          <a:lstStyle>
            <a:lvl3pPr>
              <a:defRPr sz="2200"/>
            </a:lvl3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dirty="0"/>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38100"/>
            <a:ext cx="2743200" cy="6232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38100"/>
            <a:ext cx="8026400" cy="6232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38100"/>
            <a:ext cx="10972800" cy="113665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339851"/>
            <a:ext cx="5384800" cy="4854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339851"/>
            <a:ext cx="5384800" cy="4854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2.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09600" y="-38100"/>
            <a:ext cx="10972800" cy="1136650"/>
          </a:xfrm>
          <a:prstGeom prst="rect">
            <a:avLst/>
          </a:prstGeom>
          <a:noFill/>
          <a:ln w="9525">
            <a:noFill/>
          </a:ln>
        </p:spPr>
        <p:txBody>
          <a:bodyPr anchor="ctr" anchorCtr="0"/>
          <a:lstStyle/>
          <a:p>
            <a:pPr lvl="0"/>
            <a:r>
              <a:rPr lang="zh-CN" altLang="zh-CN" dirty="0"/>
              <a:t>单击此处编辑母版标题样式</a:t>
            </a:r>
          </a:p>
        </p:txBody>
      </p:sp>
      <p:sp>
        <p:nvSpPr>
          <p:cNvPr id="1027" name="Rectangle 3"/>
          <p:cNvSpPr>
            <a:spLocks noGrp="1"/>
          </p:cNvSpPr>
          <p:nvPr>
            <p:ph type="body" idx="1"/>
          </p:nvPr>
        </p:nvSpPr>
        <p:spPr>
          <a:xfrm>
            <a:off x="609600" y="1339850"/>
            <a:ext cx="10972800" cy="4854575"/>
          </a:xfrm>
          <a:prstGeom prst="rect">
            <a:avLst/>
          </a:prstGeom>
          <a:noFill/>
          <a:ln w="9525">
            <a:noFill/>
          </a:ln>
        </p:spPr>
        <p:txBody>
          <a:bodyPr/>
          <a:lstStyle/>
          <a:p>
            <a:pPr lvl="0"/>
            <a:r>
              <a:rPr lang="zh-CN" altLang="zh-CN" dirty="0"/>
              <a:t>单击此处编辑母版文本样式</a:t>
            </a:r>
          </a:p>
          <a:p>
            <a:pPr lvl="1"/>
            <a:r>
              <a:rPr lang="zh-CN" altLang="zh-CN" dirty="0"/>
              <a:t>第二级</a:t>
            </a:r>
          </a:p>
          <a:p>
            <a:pPr lvl="2"/>
            <a:r>
              <a:rPr lang="zh-CN" altLang="zh-CN" dirty="0"/>
              <a:t>第三级</a:t>
            </a:r>
          </a:p>
          <a:p>
            <a:pPr lvl="3"/>
            <a:r>
              <a:rPr lang="zh-CN" altLang="zh-CN" dirty="0"/>
              <a:t>第四级</a:t>
            </a:r>
          </a:p>
          <a:p>
            <a:pPr lvl="4"/>
            <a:r>
              <a:rPr lang="zh-CN" altLang="zh-CN" dirty="0"/>
              <a:t>第五级</a:t>
            </a:r>
          </a:p>
        </p:txBody>
      </p:sp>
      <p:pic>
        <p:nvPicPr>
          <p:cNvPr id="10" name="图片 9"/>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 y="-1"/>
            <a:ext cx="12191999" cy="6866939"/>
          </a:xfrm>
          <a:prstGeom prst="rect">
            <a:avLst/>
          </a:prstGeom>
          <a:effectLst>
            <a:glow>
              <a:schemeClr val="accent1">
                <a:alpha val="40000"/>
              </a:schemeClr>
            </a:glow>
            <a:softEdge rad="0"/>
          </a:effectLst>
        </p:spPr>
      </p:pic>
      <p:pic>
        <p:nvPicPr>
          <p:cNvPr id="1029" name="图片 10"/>
          <p:cNvPicPr>
            <a:picLocks noChangeAspect="1"/>
          </p:cNvPicPr>
          <p:nvPr userDrawn="1"/>
        </p:nvPicPr>
        <p:blipFill>
          <a:blip r:embed="rId15"/>
          <a:stretch>
            <a:fillRect/>
          </a:stretch>
        </p:blipFill>
        <p:spPr>
          <a:xfrm>
            <a:off x="0" y="838200"/>
            <a:ext cx="12192000" cy="5586413"/>
          </a:xfrm>
          <a:prstGeom prst="rect">
            <a:avLst/>
          </a:prstGeom>
          <a:noFill/>
          <a:ln w="9525">
            <a:noFill/>
          </a:ln>
        </p:spPr>
      </p:pic>
      <p:pic>
        <p:nvPicPr>
          <p:cNvPr id="1030" name="Picture 9" descr="图片3"/>
          <p:cNvPicPr>
            <a:picLocks noChangeAspect="1"/>
          </p:cNvPicPr>
          <p:nvPr userDrawn="1"/>
        </p:nvPicPr>
        <p:blipFill>
          <a:blip r:embed="rId16"/>
          <a:stretch>
            <a:fillRect/>
          </a:stretch>
        </p:blipFill>
        <p:spPr>
          <a:xfrm>
            <a:off x="10488613" y="4799013"/>
            <a:ext cx="1528762" cy="2028825"/>
          </a:xfrm>
          <a:prstGeom prst="rect">
            <a:avLst/>
          </a:prstGeom>
          <a:noFill/>
          <a:ln w="9525">
            <a:noFill/>
          </a:ln>
        </p:spPr>
      </p:pic>
      <p:sp>
        <p:nvSpPr>
          <p:cNvPr id="13" name="灯片编号占位符 5"/>
          <p:cNvSpPr txBox="1"/>
          <p:nvPr/>
        </p:nvSpPr>
        <p:spPr>
          <a:xfrm>
            <a:off x="8443913" y="6435725"/>
            <a:ext cx="3748088" cy="365125"/>
          </a:xfrm>
          <a:prstGeom prst="rect">
            <a:avLst/>
          </a:prstGeom>
        </p:spPr>
        <p:txBody>
          <a:bodyPr/>
          <a:lstStyle>
            <a:defPPr>
              <a:defRPr lang="zh-CN"/>
            </a:defPPr>
            <a:lvl1pPr marL="0" algn="l" defTabSz="914400" rtl="0" eaLnBrk="1" latinLnBrk="0" hangingPunct="1">
              <a:defRPr sz="1800" kern="1200">
                <a:solidFill>
                  <a:schemeClr val="bg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bg1"/>
                </a:solidFill>
                <a:effectLst/>
                <a:uLnTx/>
                <a:uFillTx/>
                <a:latin typeface="Arial" panose="020B0604020202020204" pitchFamily="34" charset="0"/>
                <a:ea typeface="+mn-ea"/>
                <a:cs typeface="Times New Roman" panose="02020603050405020304" pitchFamily="18" charset="0"/>
              </a:rPr>
              <a:t>Introduction to Database Systems</a:t>
            </a:r>
            <a:endParaRPr kumimoji="0" lang="zh-CN" altLang="en-US" sz="1800" b="0" i="0" u="none" strike="noStrike" kern="1200" cap="none" spc="0" normalizeH="0" baseline="0" noProof="0" dirty="0">
              <a:ln>
                <a:noFill/>
              </a:ln>
              <a:solidFill>
                <a:schemeClr val="bg1"/>
              </a:solidFill>
              <a:effectLst/>
              <a:uLnTx/>
              <a:uFillTx/>
              <a:latin typeface="Arial" panose="020B0604020202020204" pitchFamily="34" charset="0"/>
              <a:ea typeface="+mn-ea"/>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09600" y="-38100"/>
            <a:ext cx="10972800" cy="1136650"/>
          </a:xfrm>
          <a:prstGeom prst="rect">
            <a:avLst/>
          </a:prstGeom>
          <a:noFill/>
          <a:ln w="9525">
            <a:noFill/>
          </a:ln>
        </p:spPr>
        <p:txBody>
          <a:bodyPr anchor="ctr" anchorCtr="0"/>
          <a:lstStyle/>
          <a:p>
            <a:pPr lvl="0"/>
            <a:r>
              <a:rPr lang="zh-CN" altLang="zh-CN" dirty="0"/>
              <a:t>单击此处编辑母版标题样式</a:t>
            </a:r>
          </a:p>
        </p:txBody>
      </p:sp>
      <p:sp>
        <p:nvSpPr>
          <p:cNvPr id="1027" name="Rectangle 3"/>
          <p:cNvSpPr>
            <a:spLocks noGrp="1"/>
          </p:cNvSpPr>
          <p:nvPr>
            <p:ph type="body" idx="1"/>
          </p:nvPr>
        </p:nvSpPr>
        <p:spPr>
          <a:xfrm>
            <a:off x="609600" y="1339850"/>
            <a:ext cx="10972800" cy="4854575"/>
          </a:xfrm>
          <a:prstGeom prst="rect">
            <a:avLst/>
          </a:prstGeom>
          <a:noFill/>
          <a:ln w="9525">
            <a:noFill/>
          </a:ln>
        </p:spPr>
        <p:txBody>
          <a:bodyPr/>
          <a:lstStyle/>
          <a:p>
            <a:pPr lvl="0"/>
            <a:r>
              <a:rPr lang="zh-CN" altLang="zh-CN" dirty="0"/>
              <a:t>单击此处编辑母版文本样式</a:t>
            </a:r>
          </a:p>
          <a:p>
            <a:pPr lvl="1"/>
            <a:r>
              <a:rPr lang="zh-CN" altLang="zh-CN" dirty="0"/>
              <a:t>第二级</a:t>
            </a:r>
          </a:p>
          <a:p>
            <a:pPr lvl="2"/>
            <a:r>
              <a:rPr lang="zh-CN" altLang="zh-CN" dirty="0"/>
              <a:t>第三级</a:t>
            </a:r>
          </a:p>
          <a:p>
            <a:pPr lvl="3"/>
            <a:r>
              <a:rPr lang="zh-CN" altLang="zh-CN" dirty="0"/>
              <a:t>第四级</a:t>
            </a:r>
          </a:p>
          <a:p>
            <a:pPr lvl="4"/>
            <a:r>
              <a:rPr lang="zh-CN" altLang="zh-CN" dirty="0"/>
              <a:t>第五级</a:t>
            </a:r>
          </a:p>
        </p:txBody>
      </p:sp>
      <p:pic>
        <p:nvPicPr>
          <p:cNvPr id="10" name="图片 9"/>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 y="-1"/>
            <a:ext cx="12191999" cy="6866939"/>
          </a:xfrm>
          <a:prstGeom prst="rect">
            <a:avLst/>
          </a:prstGeom>
          <a:effectLst>
            <a:glow>
              <a:schemeClr val="accent1">
                <a:alpha val="40000"/>
              </a:schemeClr>
            </a:glow>
            <a:softEdge rad="0"/>
          </a:effectLst>
        </p:spPr>
      </p:pic>
      <p:pic>
        <p:nvPicPr>
          <p:cNvPr id="1029" name="图片 10"/>
          <p:cNvPicPr>
            <a:picLocks noChangeAspect="1"/>
          </p:cNvPicPr>
          <p:nvPr userDrawn="1"/>
        </p:nvPicPr>
        <p:blipFill>
          <a:blip r:embed="rId15"/>
          <a:stretch>
            <a:fillRect/>
          </a:stretch>
        </p:blipFill>
        <p:spPr>
          <a:xfrm>
            <a:off x="0" y="838200"/>
            <a:ext cx="12192000" cy="5586413"/>
          </a:xfrm>
          <a:prstGeom prst="rect">
            <a:avLst/>
          </a:prstGeom>
          <a:noFill/>
          <a:ln w="9525">
            <a:noFill/>
          </a:ln>
        </p:spPr>
      </p:pic>
      <p:pic>
        <p:nvPicPr>
          <p:cNvPr id="1030" name="Picture 9" descr="图片3"/>
          <p:cNvPicPr>
            <a:picLocks noChangeAspect="1"/>
          </p:cNvPicPr>
          <p:nvPr userDrawn="1"/>
        </p:nvPicPr>
        <p:blipFill>
          <a:blip r:embed="rId16"/>
          <a:stretch>
            <a:fillRect/>
          </a:stretch>
        </p:blipFill>
        <p:spPr>
          <a:xfrm>
            <a:off x="10488613" y="4799013"/>
            <a:ext cx="1528762" cy="2028825"/>
          </a:xfrm>
          <a:prstGeom prst="rect">
            <a:avLst/>
          </a:prstGeom>
          <a:noFill/>
          <a:ln w="9525">
            <a:noFill/>
          </a:ln>
        </p:spPr>
      </p:pic>
      <p:sp>
        <p:nvSpPr>
          <p:cNvPr id="13" name="灯片编号占位符 5"/>
          <p:cNvSpPr txBox="1"/>
          <p:nvPr/>
        </p:nvSpPr>
        <p:spPr>
          <a:xfrm>
            <a:off x="8443913" y="6435725"/>
            <a:ext cx="3748088" cy="365125"/>
          </a:xfrm>
          <a:prstGeom prst="rect">
            <a:avLst/>
          </a:prstGeom>
        </p:spPr>
        <p:txBody>
          <a:bodyPr/>
          <a:lstStyle>
            <a:defPPr>
              <a:defRPr lang="zh-CN"/>
            </a:defPPr>
            <a:lvl1pPr marL="0" algn="l" defTabSz="914400" rtl="0" eaLnBrk="1" latinLnBrk="0" hangingPunct="1">
              <a:defRPr sz="1800" kern="1200">
                <a:solidFill>
                  <a:schemeClr val="bg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bg1"/>
                </a:solidFill>
                <a:effectLst/>
                <a:uLnTx/>
                <a:uFillTx/>
                <a:latin typeface="Arial" panose="020B0604020202020204" pitchFamily="34" charset="0"/>
                <a:ea typeface="+mn-ea"/>
                <a:cs typeface="Times New Roman" panose="02020603050405020304" pitchFamily="18" charset="0"/>
              </a:rPr>
              <a:t>Introduction to Database Systems</a:t>
            </a:r>
            <a:endParaRPr kumimoji="0" lang="zh-CN" altLang="en-US" sz="1800" b="0" i="0" u="none" strike="noStrike" kern="1200" cap="none" spc="0" normalizeH="0" baseline="0" noProof="0" dirty="0">
              <a:ln>
                <a:noFill/>
              </a:ln>
              <a:solidFill>
                <a:schemeClr val="bg1"/>
              </a:solidFill>
              <a:effectLst/>
              <a:uLnTx/>
              <a:uFillTx/>
              <a:latin typeface="Arial" panose="020B0604020202020204" pitchFamily="34" charset="0"/>
              <a:ea typeface="+mn-ea"/>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8.wmf"/></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slideLayout" Target="../slideLayouts/slideLayout2.xml"/><Relationship Id="rId4" Type="http://schemas.openxmlformats.org/officeDocument/2006/relationships/tags" Target="../tags/tag4.xml"/><Relationship Id="rId9" Type="http://schemas.openxmlformats.org/officeDocument/2006/relationships/tags" Target="../tags/tag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10.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p:cNvSpPr>
            <a:spLocks noGrp="1"/>
          </p:cNvSpPr>
          <p:nvPr>
            <p:ph type="ctrTitle"/>
          </p:nvPr>
        </p:nvSpPr>
        <p:spPr>
          <a:xfrm>
            <a:off x="1524000" y="1122363"/>
            <a:ext cx="9144000" cy="2387600"/>
          </a:xfrm>
        </p:spPr>
        <p:txBody>
          <a:bodyPr vert="horz" wrap="square" lIns="91440" tIns="45720" rIns="91440" bIns="45720" anchor="ctr" anchorCtr="0"/>
          <a:lstStyle/>
          <a:p>
            <a:pPr>
              <a:buClrTx/>
              <a:buSzTx/>
              <a:buFontTx/>
              <a:buNone/>
            </a:pPr>
            <a:endParaRPr lang="zh-CN" altLang="en-US" dirty="0"/>
          </a:p>
        </p:txBody>
      </p:sp>
      <p:sp>
        <p:nvSpPr>
          <p:cNvPr id="3075" name="副标题 2"/>
          <p:cNvSpPr>
            <a:spLocks noGrp="1"/>
          </p:cNvSpPr>
          <p:nvPr>
            <p:ph type="subTitle" idx="1"/>
          </p:nvPr>
        </p:nvSpPr>
        <p:spPr>
          <a:xfrm>
            <a:off x="1524000" y="3602038"/>
            <a:ext cx="9144000" cy="1655762"/>
          </a:xfrm>
        </p:spPr>
        <p:txBody>
          <a:bodyPr vert="horz" wrap="square" lIns="91440" tIns="45720" rIns="91440" bIns="45720" anchor="t" anchorCtr="0"/>
          <a:lstStyle/>
          <a:p>
            <a:pPr>
              <a:buClrTx/>
              <a:buSzPct val="100000"/>
            </a:pPr>
            <a:endParaRPr lang="zh-CN" altLang="en-US" dirty="0">
              <a:latin typeface="+mn-lt"/>
              <a:ea typeface="+mn-ea"/>
              <a:cs typeface="+mn-cs"/>
            </a:endParaRPr>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642"/>
            <a:ext cx="12513417" cy="6858000"/>
          </a:xfrm>
          <a:prstGeom prst="rect">
            <a:avLst/>
          </a:prstGeom>
          <a:effectLst>
            <a:glow>
              <a:schemeClr val="accent1">
                <a:alpha val="40000"/>
              </a:schemeClr>
            </a:glow>
            <a:softEdge rad="0"/>
          </a:effectLst>
        </p:spPr>
      </p:pic>
      <p:sp>
        <p:nvSpPr>
          <p:cNvPr id="7" name="文本框 6"/>
          <p:cNvSpPr txBox="1"/>
          <p:nvPr/>
        </p:nvSpPr>
        <p:spPr>
          <a:xfrm>
            <a:off x="615614" y="2232898"/>
            <a:ext cx="10960767" cy="830997"/>
          </a:xfrm>
          <a:prstGeom prst="rect">
            <a:avLst/>
          </a:prstGeom>
          <a:noFill/>
        </p:spPr>
        <p:txBody>
          <a:bodyPr wrap="square" rtlCol="0">
            <a:spAutoFit/>
            <a:scene3d>
              <a:camera prst="orthographicFront"/>
              <a:lightRig rig="threePt" dir="t"/>
            </a:scene3d>
            <a:sp3d extrusionH="57150">
              <a:bevelT w="38100" h="38100"/>
              <a:bevelB w="38100" h="38100"/>
            </a:sp3d>
          </a:bodyPr>
          <a:lstStyle/>
          <a:p>
            <a:pPr marR="0" algn="ctr" defTabSz="914400">
              <a:buClrTx/>
              <a:buSzTx/>
              <a:buFont typeface="Arial" panose="020B0604020202020204" pitchFamily="34" charset="0"/>
              <a:buNone/>
              <a:defRPr/>
            </a:pPr>
            <a:r>
              <a:rPr kumimoji="0" lang="en-US" altLang="zh-CN" sz="4800" b="1" kern="1200" cap="none" spc="0" normalizeH="0" baseline="0" noProof="0" dirty="0">
                <a:solidFill>
                  <a:schemeClr val="bg1"/>
                </a:solidFill>
                <a:latin typeface="Times New Roman" panose="02020603050405020304" pitchFamily="18" charset="0"/>
                <a:ea typeface="宋体" panose="02010600030101010101" pitchFamily="2" charset="-122"/>
                <a:cs typeface="+mn-cs"/>
                <a:sym typeface="宋体" panose="02010600030101010101" pitchFamily="2" charset="-122"/>
              </a:rPr>
              <a:t>Introduction to Database Systems</a:t>
            </a:r>
            <a:r>
              <a:rPr kumimoji="0" lang="zh-CN" altLang="en-US" sz="4800" kern="1200" cap="none" spc="0" normalizeH="0" baseline="0" noProof="0" dirty="0">
                <a:latin typeface="黑体" panose="02010609060101010101" pitchFamily="49" charset="-122"/>
                <a:ea typeface="黑体" panose="02010609060101010101" pitchFamily="49" charset="-122"/>
                <a:cs typeface="+mn-cs"/>
                <a:sym typeface="宋体" panose="02010600030101010101" pitchFamily="2" charset="-122"/>
              </a:rPr>
              <a:t> </a:t>
            </a:r>
            <a:endParaRPr kumimoji="0" lang="en-US" altLang="zh-CN" sz="4800" b="1" kern="1200" cap="none" spc="0" normalizeH="0" baseline="0" noProof="0" dirty="0">
              <a:solidFill>
                <a:schemeClr val="bg1"/>
              </a:solidFill>
              <a:latin typeface="Times New Roman" panose="02020603050405020304" pitchFamily="18" charset="0"/>
              <a:ea typeface="宋体" panose="02010600030101010101" pitchFamily="2" charset="-122"/>
              <a:cs typeface="+mn-cs"/>
              <a:sym typeface="宋体" panose="02010600030101010101" pitchFamily="2" charset="-122"/>
            </a:endParaRPr>
          </a:p>
        </p:txBody>
      </p:sp>
      <p:sp>
        <p:nvSpPr>
          <p:cNvPr id="10" name="矩形 9"/>
          <p:cNvSpPr/>
          <p:nvPr/>
        </p:nvSpPr>
        <p:spPr>
          <a:xfrm rot="18900000">
            <a:off x="5953558" y="3199971"/>
            <a:ext cx="284886" cy="284884"/>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grpSp>
        <p:nvGrpSpPr>
          <p:cNvPr id="3081" name="组合 14"/>
          <p:cNvGrpSpPr/>
          <p:nvPr/>
        </p:nvGrpSpPr>
        <p:grpSpPr>
          <a:xfrm>
            <a:off x="2400300" y="3357563"/>
            <a:ext cx="7391400" cy="365125"/>
            <a:chOff x="2400300" y="3894867"/>
            <a:chExt cx="7391400" cy="365792"/>
          </a:xfrm>
        </p:grpSpPr>
        <p:cxnSp>
          <p:nvCxnSpPr>
            <p:cNvPr id="8" name="直接连接符 7"/>
            <p:cNvCxnSpPr/>
            <p:nvPr/>
          </p:nvCxnSpPr>
          <p:spPr>
            <a:xfrm>
              <a:off x="2400300" y="3878483"/>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878483"/>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4"/>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3082" name="矩形 11"/>
          <p:cNvSpPr/>
          <p:nvPr/>
        </p:nvSpPr>
        <p:spPr>
          <a:xfrm>
            <a:off x="4511675" y="5732463"/>
            <a:ext cx="3767138" cy="388937"/>
          </a:xfrm>
          <a:prstGeom prst="rect">
            <a:avLst/>
          </a:prstGeom>
          <a:noFill/>
          <a:ln w="9525">
            <a:noFill/>
          </a:ln>
        </p:spPr>
        <p:txBody>
          <a:bodyPr>
            <a:spAutoFit/>
          </a:bodyPr>
          <a:lstStyle/>
          <a:p>
            <a:pPr algn="ctr">
              <a:lnSpc>
                <a:spcPct val="80000"/>
              </a:lnSpc>
              <a:spcBef>
                <a:spcPct val="20000"/>
              </a:spcBef>
              <a:buFont typeface="Wingdings" panose="05000000000000000000" pitchFamily="2" charset="2"/>
              <a:buNone/>
            </a:pPr>
            <a:r>
              <a:rPr lang="zh-CN" altLang="en-US" sz="2400" b="1" dirty="0">
                <a:solidFill>
                  <a:schemeClr val="bg1"/>
                </a:solidFill>
                <a:latin typeface="Times-Roman" charset="0"/>
                <a:ea typeface="隶书" panose="02010509060101010101" pitchFamily="49" charset="-122"/>
              </a:rPr>
              <a:t>中国人民大学信息学院</a:t>
            </a:r>
          </a:p>
        </p:txBody>
      </p:sp>
      <p:sp>
        <p:nvSpPr>
          <p:cNvPr id="14" name="文本框 13"/>
          <p:cNvSpPr txBox="1"/>
          <p:nvPr/>
        </p:nvSpPr>
        <p:spPr>
          <a:xfrm>
            <a:off x="1421816" y="1046085"/>
            <a:ext cx="8945479" cy="1107996"/>
          </a:xfrm>
          <a:prstGeom prst="rect">
            <a:avLst/>
          </a:prstGeom>
          <a:noFill/>
        </p:spPr>
        <p:txBody>
          <a:bodyPr wrap="square" rtlCol="0">
            <a:spAutoFit/>
            <a:scene3d>
              <a:camera prst="orthographicFront"/>
              <a:lightRig rig="threePt" dir="t"/>
            </a:scene3d>
            <a:sp3d extrusionH="57150">
              <a:bevelT w="38100" h="38100"/>
              <a:bevelB w="38100" h="38100"/>
            </a:sp3d>
          </a:bodyPr>
          <a:lstStyle/>
          <a:p>
            <a:pPr marR="0" algn="ctr" defTabSz="914400">
              <a:buClrTx/>
              <a:buSzTx/>
              <a:buFont typeface="Arial" panose="020B0604020202020204" pitchFamily="34" charset="0"/>
              <a:buNone/>
              <a:defRPr/>
            </a:pPr>
            <a:r>
              <a:rPr kumimoji="0" lang="zh-CN" altLang="en-US" sz="6600" kern="1200" cap="none" spc="0" normalizeH="0" baseline="0" noProof="0" dirty="0">
                <a:solidFill>
                  <a:schemeClr val="bg1"/>
                </a:solidFill>
                <a:latin typeface="黑体" panose="02010609060101010101" pitchFamily="49" charset="-122"/>
                <a:ea typeface="黑体" panose="02010609060101010101" pitchFamily="49" charset="-122"/>
                <a:cs typeface="+mn-cs"/>
                <a:sym typeface="宋体" panose="02010600030101010101" pitchFamily="2" charset="-122"/>
              </a:rPr>
              <a:t>数据库系统概论</a:t>
            </a:r>
            <a:endParaRPr kumimoji="0" lang="en-US" altLang="zh-CN" sz="6600" kern="1200" cap="none" spc="0" normalizeH="0" baseline="0" noProof="0" dirty="0">
              <a:solidFill>
                <a:schemeClr val="bg1"/>
              </a:solidFill>
              <a:latin typeface="黑体" panose="02010609060101010101" pitchFamily="49" charset="-122"/>
              <a:ea typeface="黑体" panose="02010609060101010101" pitchFamily="49" charset="-122"/>
              <a:cs typeface="+mn-cs"/>
              <a:sym typeface="宋体" panose="02010600030101010101" pitchFamily="2" charset="-122"/>
            </a:endParaRPr>
          </a:p>
        </p:txBody>
      </p:sp>
      <p:sp>
        <p:nvSpPr>
          <p:cNvPr id="3084" name="矩形 1"/>
          <p:cNvSpPr/>
          <p:nvPr/>
        </p:nvSpPr>
        <p:spPr>
          <a:xfrm>
            <a:off x="1854200" y="4292600"/>
            <a:ext cx="8418513" cy="1508125"/>
          </a:xfrm>
          <a:prstGeom prst="rect">
            <a:avLst/>
          </a:prstGeom>
          <a:noFill/>
          <a:ln w="9525">
            <a:noFill/>
          </a:ln>
        </p:spPr>
        <p:txBody>
          <a:bodyPr>
            <a:spAutoFit/>
          </a:bodyPr>
          <a:lstStyle/>
          <a:p>
            <a:pPr algn="ctr" eaLnBrk="1" hangingPunct="1">
              <a:buNone/>
            </a:pPr>
            <a:r>
              <a:rPr lang="zh-CN" altLang="en-US" sz="4800" dirty="0">
                <a:solidFill>
                  <a:schemeClr val="bg1"/>
                </a:solidFill>
                <a:latin typeface="黑体" panose="02010609060101010101" pitchFamily="49" charset="-122"/>
                <a:ea typeface="黑体" panose="02010609060101010101" pitchFamily="49" charset="-122"/>
                <a:sym typeface="宋体" panose="02010600030101010101" pitchFamily="2" charset="-122"/>
              </a:rPr>
              <a:t>第十二章  并发控制</a:t>
            </a:r>
          </a:p>
          <a:p>
            <a:pPr algn="ctr">
              <a:lnSpc>
                <a:spcPct val="80000"/>
              </a:lnSpc>
              <a:spcBef>
                <a:spcPct val="20000"/>
              </a:spcBef>
              <a:buFont typeface="Wingdings" panose="05000000000000000000" pitchFamily="2" charset="2"/>
              <a:buNone/>
            </a:pPr>
            <a:endParaRPr lang="zh-CN" altLang="en-US" sz="4400" b="1" dirty="0">
              <a:solidFill>
                <a:schemeClr val="bg1"/>
              </a:solidFill>
              <a:latin typeface="Times-Roman" charset="0"/>
              <a:ea typeface="隶书" panose="020105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p:nvPr>
        </p:nvSpPr>
        <p:spPr>
          <a:xfrm>
            <a:off x="2438400" y="122238"/>
            <a:ext cx="7391400" cy="563562"/>
          </a:xfrm>
        </p:spPr>
        <p:txBody>
          <a:bodyPr vert="horz" wrap="square" lIns="91440" tIns="45720" rIns="91440" bIns="45720" anchor="ctr" anchorCtr="0"/>
          <a:lstStyle/>
          <a:p>
            <a:pPr eaLnBrk="1" hangingPunct="1"/>
            <a:r>
              <a:rPr lang="en-US" altLang="zh-CN" sz="3600" dirty="0"/>
              <a:t> </a:t>
            </a:r>
            <a:r>
              <a:rPr lang="zh-CN" altLang="en-US" sz="3600" dirty="0"/>
              <a:t>并发控制</a:t>
            </a:r>
          </a:p>
        </p:txBody>
      </p:sp>
      <p:sp>
        <p:nvSpPr>
          <p:cNvPr id="5123" name="Rectangle 3"/>
          <p:cNvSpPr>
            <a:spLocks noGrp="1"/>
          </p:cNvSpPr>
          <p:nvPr>
            <p:ph type="body"/>
          </p:nvPr>
        </p:nvSpPr>
        <p:spPr>
          <a:xfrm>
            <a:off x="1127125" y="981075"/>
            <a:ext cx="8229600" cy="4697413"/>
          </a:xfrm>
        </p:spPr>
        <p:txBody>
          <a:bodyPr vert="horz" wrap="square" lIns="91440" tIns="45720" rIns="91440" bIns="45720" anchor="t" anchorCtr="0"/>
          <a:lstStyle/>
          <a:p>
            <a:pPr eaLnBrk="1" hangingPunct="1">
              <a:lnSpc>
                <a:spcPct val="180000"/>
              </a:lnSpc>
            </a:pPr>
            <a:r>
              <a:rPr lang="zh-CN" altLang="en-US" dirty="0"/>
              <a:t>多用户数据库系统</a:t>
            </a:r>
          </a:p>
          <a:p>
            <a:pPr eaLnBrk="1" hangingPunct="1">
              <a:lnSpc>
                <a:spcPct val="180000"/>
              </a:lnSpc>
              <a:buNone/>
            </a:pPr>
            <a:r>
              <a:rPr lang="zh-CN" altLang="en-US" dirty="0"/>
              <a:t>    允许多个用户同时使用的数据库系统</a:t>
            </a:r>
          </a:p>
          <a:p>
            <a:pPr lvl="1" eaLnBrk="1" hangingPunct="1">
              <a:lnSpc>
                <a:spcPct val="180000"/>
              </a:lnSpc>
            </a:pPr>
            <a:r>
              <a:rPr lang="zh-CN" altLang="en-US" dirty="0"/>
              <a:t>飞机定票系统</a:t>
            </a:r>
          </a:p>
          <a:p>
            <a:pPr lvl="1" eaLnBrk="1" hangingPunct="1">
              <a:lnSpc>
                <a:spcPct val="180000"/>
              </a:lnSpc>
            </a:pPr>
            <a:r>
              <a:rPr lang="zh-CN" altLang="en-US" dirty="0"/>
              <a:t>银行数据库系统 </a:t>
            </a:r>
            <a:endParaRPr lang="en-US" altLang="zh-CN" dirty="0"/>
          </a:p>
          <a:p>
            <a:pPr lvl="1" eaLnBrk="1" hangingPunct="1">
              <a:lnSpc>
                <a:spcPct val="180000"/>
              </a:lnSpc>
            </a:pPr>
            <a:r>
              <a:rPr lang="zh-CN" altLang="en-US" dirty="0"/>
              <a:t>网上购物系统</a:t>
            </a:r>
          </a:p>
          <a:p>
            <a:pPr lvl="1" eaLnBrk="1" hangingPunct="1">
              <a:lnSpc>
                <a:spcPct val="180000"/>
              </a:lnSpc>
            </a:pPr>
            <a:r>
              <a:rPr lang="zh-CN" altLang="en-US" dirty="0"/>
              <a:t>特点：在同一时刻</a:t>
            </a:r>
            <a:r>
              <a:rPr lang="zh-CN" altLang="en-US" dirty="0">
                <a:solidFill>
                  <a:srgbClr val="FF0000"/>
                </a:solidFill>
              </a:rPr>
              <a:t>并发</a:t>
            </a:r>
            <a:r>
              <a:rPr lang="zh-CN" altLang="en-US" dirty="0"/>
              <a:t>运行的事务数可达成千上万个 </a:t>
            </a:r>
          </a:p>
        </p:txBody>
      </p:sp>
      <p:sp>
        <p:nvSpPr>
          <p:cNvPr id="2" name="文本框 1"/>
          <p:cNvSpPr txBox="1"/>
          <p:nvPr/>
        </p:nvSpPr>
        <p:spPr>
          <a:xfrm>
            <a:off x="1775460" y="5733415"/>
            <a:ext cx="8898255" cy="460375"/>
          </a:xfrm>
          <a:prstGeom prst="rect">
            <a:avLst/>
          </a:prstGeom>
        </p:spPr>
        <p:txBody>
          <a:bodyPr wrap="square">
            <a:spAutoFit/>
          </a:bodyPr>
          <a:lstStyle/>
          <a:p>
            <a:pPr marL="0" indent="0" algn="l"/>
            <a:r>
              <a:rPr lang="zh-CN" altLang="en-US" sz="2400" b="0" i="0">
                <a:solidFill>
                  <a:srgbClr val="060607"/>
                </a:solidFill>
                <a:latin typeface="-apple-system"/>
                <a:ea typeface="-apple-system"/>
              </a:rPr>
              <a:t>注意：并发指的是在同一时间段内，多个任务在</a:t>
            </a:r>
            <a:r>
              <a:rPr lang="zh-CN" altLang="en-US" sz="2400" b="0" i="0">
                <a:solidFill>
                  <a:srgbClr val="FF0000"/>
                </a:solidFill>
                <a:latin typeface="-apple-system"/>
                <a:ea typeface="-apple-system"/>
              </a:rPr>
              <a:t>逻辑上</a:t>
            </a:r>
            <a:r>
              <a:rPr lang="zh-CN" altLang="en-US" sz="2400" b="0" i="0">
                <a:solidFill>
                  <a:srgbClr val="060607"/>
                </a:solidFill>
                <a:latin typeface="-apple-system"/>
                <a:ea typeface="-apple-system"/>
              </a:rPr>
              <a:t>同时进行</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a:xfrm>
            <a:off x="2438400" y="122238"/>
            <a:ext cx="7391400" cy="563562"/>
          </a:xfrm>
        </p:spPr>
        <p:txBody>
          <a:bodyPr vert="horz" wrap="square" lIns="91440" tIns="45720" rIns="91440" bIns="45720" anchor="ctr" anchorCtr="0"/>
          <a:lstStyle/>
          <a:p>
            <a:pPr eaLnBrk="1" hangingPunct="1"/>
            <a:r>
              <a:rPr lang="en-US" altLang="zh-CN" sz="3600" dirty="0"/>
              <a:t> </a:t>
            </a:r>
            <a:r>
              <a:rPr lang="zh-CN" altLang="en-US" sz="3600" dirty="0"/>
              <a:t>并发控制（续）</a:t>
            </a:r>
          </a:p>
        </p:txBody>
      </p:sp>
      <p:sp>
        <p:nvSpPr>
          <p:cNvPr id="6147" name="Rectangle 3"/>
          <p:cNvSpPr>
            <a:spLocks noGrp="1"/>
          </p:cNvSpPr>
          <p:nvPr>
            <p:ph type="body"/>
          </p:nvPr>
        </p:nvSpPr>
        <p:spPr>
          <a:xfrm>
            <a:off x="1055688" y="1177925"/>
            <a:ext cx="9144000" cy="4495800"/>
          </a:xfrm>
        </p:spPr>
        <p:txBody>
          <a:bodyPr vert="horz" wrap="square" lIns="91440" tIns="45720" rIns="91440" bIns="45720" anchor="t" anchorCtr="0"/>
          <a:lstStyle/>
          <a:p>
            <a:pPr eaLnBrk="1" hangingPunct="1">
              <a:lnSpc>
                <a:spcPct val="180000"/>
              </a:lnSpc>
            </a:pPr>
            <a:r>
              <a:rPr lang="zh-CN" altLang="en-US" dirty="0"/>
              <a:t>多事务执行方式 </a:t>
            </a:r>
          </a:p>
          <a:p>
            <a:pPr algn="just" eaLnBrk="1" hangingPunct="1">
              <a:lnSpc>
                <a:spcPct val="150000"/>
              </a:lnSpc>
              <a:spcBef>
                <a:spcPct val="50000"/>
              </a:spcBef>
              <a:buNone/>
            </a:pPr>
            <a:r>
              <a:rPr lang="zh-CN" altLang="en-US" sz="2000" dirty="0"/>
              <a:t>  （</a:t>
            </a:r>
            <a:r>
              <a:rPr lang="en-US" altLang="zh-CN" sz="2000" dirty="0"/>
              <a:t>1</a:t>
            </a:r>
            <a:r>
              <a:rPr lang="zh-CN" altLang="en-US" sz="2000" dirty="0"/>
              <a:t>）</a:t>
            </a:r>
            <a:r>
              <a:rPr lang="zh-CN" altLang="en-US" sz="2400" dirty="0"/>
              <a:t>事务串行执行</a:t>
            </a:r>
          </a:p>
          <a:p>
            <a:pPr lvl="1" algn="just" eaLnBrk="1" hangingPunct="1">
              <a:lnSpc>
                <a:spcPct val="150000"/>
              </a:lnSpc>
              <a:spcBef>
                <a:spcPct val="50000"/>
              </a:spcBef>
            </a:pPr>
            <a:r>
              <a:rPr lang="zh-CN" altLang="en-US" sz="2200" dirty="0"/>
              <a:t>每个时刻只有一个事务运行，其他事务必须等到这个事务结束以后方能运行</a:t>
            </a:r>
          </a:p>
          <a:p>
            <a:pPr lvl="1" algn="just" eaLnBrk="1" hangingPunct="1">
              <a:lnSpc>
                <a:spcPct val="150000"/>
              </a:lnSpc>
              <a:spcBef>
                <a:spcPct val="50000"/>
              </a:spcBef>
            </a:pPr>
            <a:r>
              <a:rPr lang="zh-CN" altLang="en-US" sz="2200" dirty="0"/>
              <a:t>事务在执行过程需要不同的资源，如</a:t>
            </a:r>
            <a:r>
              <a:rPr lang="en-US" altLang="zh-CN" sz="2200" dirty="0"/>
              <a:t>CPU</a:t>
            </a:r>
            <a:r>
              <a:rPr lang="zh-CN" altLang="en-US" sz="2200" dirty="0"/>
              <a:t>、磁盘、通信</a:t>
            </a:r>
            <a:endParaRPr lang="en-US" altLang="zh-CN" sz="2200" dirty="0"/>
          </a:p>
          <a:p>
            <a:pPr lvl="1" algn="just" eaLnBrk="1" hangingPunct="1">
              <a:lnSpc>
                <a:spcPct val="150000"/>
              </a:lnSpc>
              <a:spcBef>
                <a:spcPct val="50000"/>
              </a:spcBef>
            </a:pPr>
            <a:r>
              <a:rPr lang="zh-CN" altLang="en-US" sz="2200" dirty="0"/>
              <a:t>串行执行不能充分利用系统资源，发挥数据库共享资源的特点</a:t>
            </a:r>
          </a:p>
        </p:txBody>
      </p:sp>
      <p:sp>
        <p:nvSpPr>
          <p:cNvPr id="6148" name="Line 10"/>
          <p:cNvSpPr/>
          <p:nvPr/>
        </p:nvSpPr>
        <p:spPr>
          <a:xfrm>
            <a:off x="10518775" y="2070100"/>
            <a:ext cx="0" cy="3024188"/>
          </a:xfrm>
          <a:prstGeom prst="line">
            <a:avLst/>
          </a:prstGeom>
          <a:ln w="25400" cap="flat" cmpd="sng">
            <a:solidFill>
              <a:schemeClr val="tx1"/>
            </a:solidFill>
            <a:prstDash val="solid"/>
            <a:headEnd type="none" w="med" len="med"/>
            <a:tailEnd type="none" w="med" len="med"/>
          </a:ln>
        </p:spPr>
      </p:sp>
      <p:sp>
        <p:nvSpPr>
          <p:cNvPr id="6149" name="Line 11"/>
          <p:cNvSpPr/>
          <p:nvPr/>
        </p:nvSpPr>
        <p:spPr>
          <a:xfrm>
            <a:off x="10520363" y="3435350"/>
            <a:ext cx="215900" cy="0"/>
          </a:xfrm>
          <a:prstGeom prst="line">
            <a:avLst/>
          </a:prstGeom>
          <a:ln w="25400" cap="flat" cmpd="sng">
            <a:solidFill>
              <a:schemeClr val="tx1"/>
            </a:solidFill>
            <a:prstDash val="solid"/>
            <a:headEnd type="none" w="med" len="med"/>
            <a:tailEnd type="none" w="med" len="med"/>
          </a:ln>
        </p:spPr>
      </p:sp>
      <p:sp>
        <p:nvSpPr>
          <p:cNvPr id="6150" name="Line 12"/>
          <p:cNvSpPr/>
          <p:nvPr/>
        </p:nvSpPr>
        <p:spPr>
          <a:xfrm>
            <a:off x="10520363" y="4371975"/>
            <a:ext cx="215900" cy="0"/>
          </a:xfrm>
          <a:prstGeom prst="line">
            <a:avLst/>
          </a:prstGeom>
          <a:ln w="25400" cap="flat" cmpd="sng">
            <a:solidFill>
              <a:schemeClr val="tx1"/>
            </a:solidFill>
            <a:prstDash val="solid"/>
            <a:headEnd type="none" w="med" len="med"/>
            <a:tailEnd type="none" w="med" len="med"/>
          </a:ln>
        </p:spPr>
      </p:sp>
      <p:sp>
        <p:nvSpPr>
          <p:cNvPr id="6151" name="Text Box 13"/>
          <p:cNvSpPr txBox="1"/>
          <p:nvPr/>
        </p:nvSpPr>
        <p:spPr>
          <a:xfrm>
            <a:off x="10518775" y="2565400"/>
            <a:ext cx="415925" cy="369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None/>
            </a:pPr>
            <a:r>
              <a:rPr lang="en-US" altLang="zh-CN" sz="1800" dirty="0">
                <a:latin typeface="Times New Roman" panose="02020603050405020304" pitchFamily="18" charset="0"/>
              </a:rPr>
              <a:t>T</a:t>
            </a:r>
            <a:r>
              <a:rPr lang="en-US" altLang="zh-CN" sz="1800" baseline="-25000" dirty="0">
                <a:latin typeface="Times New Roman" panose="02020603050405020304" pitchFamily="18" charset="0"/>
              </a:rPr>
              <a:t>1</a:t>
            </a:r>
          </a:p>
        </p:txBody>
      </p:sp>
      <p:sp>
        <p:nvSpPr>
          <p:cNvPr id="6152" name="Text Box 14"/>
          <p:cNvSpPr txBox="1"/>
          <p:nvPr/>
        </p:nvSpPr>
        <p:spPr>
          <a:xfrm>
            <a:off x="10537825" y="3579813"/>
            <a:ext cx="415925" cy="3698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None/>
            </a:pPr>
            <a:r>
              <a:rPr lang="en-US" altLang="zh-CN" sz="1800" dirty="0">
                <a:latin typeface="Times New Roman" panose="02020603050405020304" pitchFamily="18" charset="0"/>
              </a:rPr>
              <a:t>T</a:t>
            </a:r>
            <a:r>
              <a:rPr lang="en-US" altLang="zh-CN" sz="1800" baseline="-25000" dirty="0">
                <a:latin typeface="Times New Roman" panose="02020603050405020304" pitchFamily="18" charset="0"/>
              </a:rPr>
              <a:t>2</a:t>
            </a:r>
          </a:p>
        </p:txBody>
      </p:sp>
      <p:sp>
        <p:nvSpPr>
          <p:cNvPr id="6153" name="Text Box 15"/>
          <p:cNvSpPr txBox="1"/>
          <p:nvPr/>
        </p:nvSpPr>
        <p:spPr>
          <a:xfrm>
            <a:off x="10537825" y="4443413"/>
            <a:ext cx="415925" cy="3698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None/>
            </a:pPr>
            <a:r>
              <a:rPr lang="en-US" altLang="zh-CN" sz="1800" dirty="0">
                <a:latin typeface="Times New Roman" panose="02020603050405020304" pitchFamily="18" charset="0"/>
              </a:rPr>
              <a:t>T</a:t>
            </a:r>
            <a:r>
              <a:rPr lang="en-US" altLang="zh-CN" sz="1800" baseline="-25000" dirty="0">
                <a:latin typeface="Times New Roman" panose="02020603050405020304" pitchFamily="18" charset="0"/>
              </a:rPr>
              <a:t>3</a:t>
            </a:r>
          </a:p>
        </p:txBody>
      </p:sp>
      <p:sp>
        <p:nvSpPr>
          <p:cNvPr id="6154" name="Text Box 16"/>
          <p:cNvSpPr txBox="1"/>
          <p:nvPr/>
        </p:nvSpPr>
        <p:spPr>
          <a:xfrm>
            <a:off x="9277350" y="5383213"/>
            <a:ext cx="2276475" cy="3698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None/>
            </a:pPr>
            <a:r>
              <a:rPr lang="zh-CN" altLang="zh-CN" sz="1800" dirty="0">
                <a:latin typeface="Times New Roman" panose="02020603050405020304" pitchFamily="18" charset="0"/>
              </a:rPr>
              <a:t>事务的串行执行方式</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p:nvPr>
        </p:nvSpPr>
        <p:spPr>
          <a:xfrm>
            <a:off x="2438400" y="184150"/>
            <a:ext cx="7391400" cy="563563"/>
          </a:xfrm>
        </p:spPr>
        <p:txBody>
          <a:bodyPr vert="horz" wrap="square" lIns="91440" tIns="45720" rIns="91440" bIns="45720" anchor="ctr" anchorCtr="0"/>
          <a:lstStyle/>
          <a:p>
            <a:pPr eaLnBrk="1" hangingPunct="1"/>
            <a:r>
              <a:rPr lang="zh-CN" altLang="zh-CN" sz="3600" dirty="0"/>
              <a:t>并发控制（续）</a:t>
            </a:r>
          </a:p>
        </p:txBody>
      </p:sp>
      <p:sp>
        <p:nvSpPr>
          <p:cNvPr id="7171" name="Rectangle 3"/>
          <p:cNvSpPr>
            <a:spLocks noGrp="1"/>
          </p:cNvSpPr>
          <p:nvPr>
            <p:ph type="body"/>
          </p:nvPr>
        </p:nvSpPr>
        <p:spPr>
          <a:xfrm>
            <a:off x="623888" y="2205038"/>
            <a:ext cx="8208962" cy="3762375"/>
          </a:xfrm>
        </p:spPr>
        <p:txBody>
          <a:bodyPr vert="horz" wrap="square" lIns="91440" tIns="45720" rIns="91440" bIns="45720" anchor="t" anchorCtr="0"/>
          <a:lstStyle/>
          <a:p>
            <a:pPr lvl="1" algn="just" eaLnBrk="1" hangingPunct="1">
              <a:lnSpc>
                <a:spcPct val="150000"/>
              </a:lnSpc>
              <a:spcBef>
                <a:spcPct val="50000"/>
              </a:spcBef>
            </a:pPr>
            <a:r>
              <a:rPr lang="zh-CN" altLang="en-US" sz="2200" dirty="0"/>
              <a:t>在单处理机系统中，事务的并发执行是这些事务的并发操作轮流交叉运行</a:t>
            </a:r>
          </a:p>
          <a:p>
            <a:pPr lvl="1" algn="just" eaLnBrk="1" hangingPunct="1">
              <a:lnSpc>
                <a:spcPct val="150000"/>
              </a:lnSpc>
              <a:spcBef>
                <a:spcPct val="50000"/>
              </a:spcBef>
            </a:pPr>
            <a:r>
              <a:rPr lang="zh-CN" altLang="en-US" sz="2200" dirty="0"/>
              <a:t>单处理机系统中的并发事务并没有在物理上真正并行运行，但能够减少处理机的空闲时间，提高系统的效率</a:t>
            </a:r>
          </a:p>
          <a:p>
            <a:pPr lvl="1" algn="just" eaLnBrk="1" hangingPunct="1">
              <a:lnSpc>
                <a:spcPct val="150000"/>
              </a:lnSpc>
              <a:spcBef>
                <a:spcPct val="50000"/>
              </a:spcBef>
            </a:pPr>
            <a:r>
              <a:rPr lang="zh-CN" altLang="en-US" sz="2200" dirty="0"/>
              <a:t>充分利用</a:t>
            </a:r>
            <a:r>
              <a:rPr lang="en-US" altLang="zh-CN" sz="2200" dirty="0"/>
              <a:t>CPU</a:t>
            </a:r>
            <a:r>
              <a:rPr lang="zh-CN" altLang="en-US" sz="2200" dirty="0"/>
              <a:t>和</a:t>
            </a:r>
            <a:r>
              <a:rPr lang="en-US" altLang="zh-CN" sz="2200" dirty="0"/>
              <a:t>I/O</a:t>
            </a:r>
            <a:r>
              <a:rPr lang="zh-CN" altLang="en-US" sz="2200" dirty="0"/>
              <a:t>等系统资源</a:t>
            </a:r>
          </a:p>
        </p:txBody>
      </p:sp>
      <p:pic>
        <p:nvPicPr>
          <p:cNvPr id="7172" name="Picture 2"/>
          <p:cNvPicPr>
            <a:picLocks noChangeAspect="1"/>
          </p:cNvPicPr>
          <p:nvPr/>
        </p:nvPicPr>
        <p:blipFill>
          <a:blip r:embed="rId2"/>
          <a:stretch>
            <a:fillRect/>
          </a:stretch>
        </p:blipFill>
        <p:spPr>
          <a:xfrm>
            <a:off x="9048750" y="2276475"/>
            <a:ext cx="2198688" cy="2887663"/>
          </a:xfrm>
          <a:prstGeom prst="rect">
            <a:avLst/>
          </a:prstGeom>
          <a:noFill/>
          <a:ln w="9525">
            <a:noFill/>
          </a:ln>
        </p:spPr>
      </p:pic>
      <p:sp>
        <p:nvSpPr>
          <p:cNvPr id="7173" name="TextBox 1"/>
          <p:cNvSpPr txBox="1"/>
          <p:nvPr/>
        </p:nvSpPr>
        <p:spPr>
          <a:xfrm>
            <a:off x="911225" y="1412875"/>
            <a:ext cx="9212263" cy="1014413"/>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eaLnBrk="1" hangingPunct="1">
              <a:lnSpc>
                <a:spcPct val="150000"/>
              </a:lnSpc>
              <a:spcBef>
                <a:spcPct val="0"/>
              </a:spcBef>
              <a:buSzTx/>
              <a:buNone/>
            </a:pPr>
            <a:r>
              <a:rPr lang="zh-CN" altLang="en-US" sz="2400" dirty="0"/>
              <a:t>（</a:t>
            </a:r>
            <a:r>
              <a:rPr lang="en-US" altLang="zh-CN" sz="2400" dirty="0"/>
              <a:t>2</a:t>
            </a:r>
            <a:r>
              <a:rPr lang="zh-CN" altLang="en-US" sz="2400" dirty="0"/>
              <a:t>）交叉并发方式（</a:t>
            </a:r>
            <a:r>
              <a:rPr lang="en-US" altLang="zh-CN" sz="2400" dirty="0"/>
              <a:t>Interleaved  Concurrency</a:t>
            </a:r>
            <a:r>
              <a:rPr lang="zh-CN" altLang="en-US" sz="2400" dirty="0"/>
              <a:t>）</a:t>
            </a:r>
          </a:p>
          <a:p>
            <a:pPr marL="0" lvl="0" indent="0" eaLnBrk="1" hangingPunct="1">
              <a:spcBef>
                <a:spcPct val="0"/>
              </a:spcBef>
              <a:buSzTx/>
              <a:buFont typeface="Arial" panose="020B0604020202020204" pitchFamily="34" charset="0"/>
              <a:buNone/>
            </a:pPr>
            <a:endParaRPr lang="zh-CN" alt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a:ln>
                  <a:noFill/>
                </a:ln>
                <a:solidFill>
                  <a:schemeClr val="bg1"/>
                </a:solidFill>
                <a:effectLst/>
                <a:uLnTx/>
                <a:uFillTx/>
                <a:latin typeface="+mn-ea"/>
                <a:ea typeface="+mn-ea"/>
                <a:cs typeface="+mj-cs"/>
              </a:rPr>
              <a:t>并发控制（续）</a:t>
            </a:r>
          </a:p>
        </p:txBody>
      </p:sp>
      <p:sp>
        <p:nvSpPr>
          <p:cNvPr id="8195" name="Rectangle 3"/>
          <p:cNvSpPr>
            <a:spLocks noGrp="1"/>
          </p:cNvSpPr>
          <p:nvPr>
            <p:ph idx="1"/>
          </p:nvPr>
        </p:nvSpPr>
        <p:spPr>
          <a:xfrm>
            <a:off x="1020763" y="1484313"/>
            <a:ext cx="9937750" cy="5095875"/>
          </a:xfrm>
        </p:spPr>
        <p:txBody>
          <a:bodyPr vert="horz" wrap="square" lIns="91440" tIns="45720" rIns="91440" bIns="45720" anchor="t" anchorCtr="0"/>
          <a:lstStyle/>
          <a:p>
            <a:pPr algn="just" eaLnBrk="1" hangingPunct="1">
              <a:lnSpc>
                <a:spcPct val="150000"/>
              </a:lnSpc>
              <a:spcBef>
                <a:spcPct val="0"/>
              </a:spcBef>
              <a:buNone/>
            </a:pPr>
            <a:r>
              <a:rPr lang="en-US" altLang="zh-CN" sz="2400" dirty="0"/>
              <a:t> </a:t>
            </a:r>
            <a:r>
              <a:rPr lang="zh-CN" altLang="en-US" sz="2400" dirty="0"/>
              <a:t>（</a:t>
            </a:r>
            <a:r>
              <a:rPr lang="en-US" altLang="zh-CN" sz="2400" dirty="0"/>
              <a:t>3</a:t>
            </a:r>
            <a:r>
              <a:rPr lang="zh-CN" altLang="en-US" sz="2400" dirty="0"/>
              <a:t>）同时并发方式（</a:t>
            </a:r>
            <a:r>
              <a:rPr lang="en-US" altLang="zh-CN" sz="2400" dirty="0"/>
              <a:t>simultaneous  concurrency</a:t>
            </a:r>
            <a:r>
              <a:rPr lang="zh-CN" altLang="en-US" sz="2400" dirty="0"/>
              <a:t>）</a:t>
            </a:r>
          </a:p>
          <a:p>
            <a:pPr lvl="1" algn="just" eaLnBrk="1" hangingPunct="1">
              <a:lnSpc>
                <a:spcPct val="150000"/>
              </a:lnSpc>
              <a:spcBef>
                <a:spcPct val="0"/>
              </a:spcBef>
            </a:pPr>
            <a:r>
              <a:rPr lang="zh-CN" altLang="en-US" sz="2200" dirty="0"/>
              <a:t>多处理机系统中，每个处理机可以运行一个事务，多个处理机可以同时运行多个事务，实现多个事务真正的并行运行</a:t>
            </a:r>
          </a:p>
          <a:p>
            <a:pPr lvl="1" algn="just" eaLnBrk="1" hangingPunct="1">
              <a:lnSpc>
                <a:spcPct val="150000"/>
              </a:lnSpc>
              <a:spcBef>
                <a:spcPct val="0"/>
              </a:spcBef>
            </a:pPr>
            <a:r>
              <a:rPr lang="zh-CN" altLang="en-US" sz="2200" dirty="0"/>
              <a:t>受制于硬件环境，需要更复杂的并发控制机制</a:t>
            </a:r>
          </a:p>
          <a:p>
            <a:pPr algn="just" eaLnBrk="1" hangingPunct="1">
              <a:lnSpc>
                <a:spcPct val="150000"/>
              </a:lnSpc>
              <a:spcBef>
                <a:spcPct val="0"/>
              </a:spcBef>
            </a:pPr>
            <a:r>
              <a:rPr lang="zh-CN" altLang="en-US" sz="2400" dirty="0"/>
              <a:t>本章讨论的数据库系统并发控制技术是以单处理机系统为基础的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p:nvPr>
        </p:nvSpPr>
        <p:spPr>
          <a:xfrm>
            <a:off x="2438400" y="184150"/>
            <a:ext cx="7391400" cy="563563"/>
          </a:xfrm>
        </p:spPr>
        <p:txBody>
          <a:bodyPr vert="horz" wrap="square" lIns="91440" tIns="45720" rIns="91440" bIns="45720" anchor="ctr" anchorCtr="0"/>
          <a:lstStyle/>
          <a:p>
            <a:pPr eaLnBrk="1" hangingPunct="1"/>
            <a:r>
              <a:rPr lang="zh-CN" altLang="zh-CN" sz="3600" dirty="0"/>
              <a:t>并发控制（续）</a:t>
            </a:r>
          </a:p>
        </p:txBody>
      </p:sp>
      <p:sp>
        <p:nvSpPr>
          <p:cNvPr id="9219" name="Rectangle 3"/>
          <p:cNvSpPr>
            <a:spLocks noGrp="1"/>
          </p:cNvSpPr>
          <p:nvPr>
            <p:ph type="body"/>
          </p:nvPr>
        </p:nvSpPr>
        <p:spPr>
          <a:xfrm>
            <a:off x="1055688" y="1196975"/>
            <a:ext cx="10440987" cy="4840288"/>
          </a:xfrm>
        </p:spPr>
        <p:txBody>
          <a:bodyPr vert="horz" wrap="square" lIns="91440" tIns="45720" rIns="91440" bIns="45720" anchor="t" anchorCtr="0"/>
          <a:lstStyle/>
          <a:p>
            <a:pPr algn="just" eaLnBrk="1" hangingPunct="1">
              <a:lnSpc>
                <a:spcPct val="130000"/>
              </a:lnSpc>
            </a:pPr>
            <a:r>
              <a:rPr lang="zh-CN" altLang="en-US" dirty="0"/>
              <a:t>事务并发执行带来的问题</a:t>
            </a:r>
          </a:p>
          <a:p>
            <a:pPr lvl="1" algn="just" eaLnBrk="1" hangingPunct="1">
              <a:lnSpc>
                <a:spcPct val="130000"/>
              </a:lnSpc>
            </a:pPr>
            <a:r>
              <a:rPr lang="zh-CN" altLang="en-US" dirty="0"/>
              <a:t>会产生并发的多个事务存取同一数据的情况 </a:t>
            </a:r>
          </a:p>
          <a:p>
            <a:pPr lvl="1" algn="just" eaLnBrk="1" hangingPunct="1">
              <a:lnSpc>
                <a:spcPct val="130000"/>
              </a:lnSpc>
            </a:pPr>
            <a:r>
              <a:rPr lang="zh-CN" altLang="en-US" dirty="0"/>
              <a:t>可能会读取和存储不正确的数据，破坏事务隔离性和数据库的一致性</a:t>
            </a:r>
          </a:p>
          <a:p>
            <a:pPr algn="just" eaLnBrk="1" hangingPunct="1">
              <a:lnSpc>
                <a:spcPct val="130000"/>
              </a:lnSpc>
              <a:spcBef>
                <a:spcPct val="60000"/>
              </a:spcBef>
            </a:pPr>
            <a:r>
              <a:rPr lang="zh-CN" altLang="en-US" dirty="0"/>
              <a:t>数据库管理系统必须提供并发控制机制</a:t>
            </a:r>
          </a:p>
          <a:p>
            <a:pPr algn="just" eaLnBrk="1" hangingPunct="1">
              <a:lnSpc>
                <a:spcPct val="130000"/>
              </a:lnSpc>
              <a:spcBef>
                <a:spcPct val="60000"/>
              </a:spcBef>
            </a:pPr>
            <a:r>
              <a:rPr lang="zh-CN" altLang="en-US" dirty="0"/>
              <a:t>并发控制机制是衡量一个数据库管理系统性能的重要标志之一</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a:xfrm>
            <a:off x="2438400" y="184150"/>
            <a:ext cx="7391400" cy="563563"/>
          </a:xfrm>
        </p:spPr>
        <p:txBody>
          <a:bodyPr vert="horz" wrap="square" lIns="91440" tIns="45720" rIns="91440" bIns="45720" anchor="ctr" anchorCtr="0"/>
          <a:lstStyle/>
          <a:p>
            <a:pPr eaLnBrk="1" hangingPunct="1"/>
            <a:r>
              <a:rPr lang="zh-CN" altLang="zh-CN" sz="3600" dirty="0"/>
              <a:t>第十</a:t>
            </a:r>
            <a:r>
              <a:rPr lang="zh-CN" altLang="en-US" sz="3600" dirty="0"/>
              <a:t>二</a:t>
            </a:r>
            <a:r>
              <a:rPr lang="zh-CN" altLang="zh-CN" sz="3600" dirty="0"/>
              <a:t>章  并发控制</a:t>
            </a:r>
          </a:p>
        </p:txBody>
      </p:sp>
      <p:sp>
        <p:nvSpPr>
          <p:cNvPr id="10243" name="Rectangle 3"/>
          <p:cNvSpPr>
            <a:spLocks noGrp="1"/>
          </p:cNvSpPr>
          <p:nvPr>
            <p:ph type="body"/>
          </p:nvPr>
        </p:nvSpPr>
        <p:spPr>
          <a:xfrm>
            <a:off x="1476375" y="873125"/>
            <a:ext cx="7715250" cy="5111750"/>
          </a:xfrm>
        </p:spPr>
        <p:txBody>
          <a:bodyPr vert="horz" wrap="square" lIns="91440" tIns="45720" rIns="91440" bIns="45720" anchor="t" anchorCtr="0"/>
          <a:lstStyle/>
          <a:p>
            <a:pPr marL="0" indent="0" algn="just" eaLnBrk="1" hangingPunct="1">
              <a:lnSpc>
                <a:spcPct val="130000"/>
              </a:lnSpc>
              <a:buNone/>
            </a:pPr>
            <a:r>
              <a:rPr lang="en-US" altLang="zh-CN" sz="2400" dirty="0">
                <a:solidFill>
                  <a:srgbClr val="0066FF"/>
                </a:solidFill>
              </a:rPr>
              <a:t>12.1  </a:t>
            </a:r>
            <a:r>
              <a:rPr lang="zh-CN" altLang="en-US" sz="2400" dirty="0">
                <a:solidFill>
                  <a:srgbClr val="0066FF"/>
                </a:solidFill>
              </a:rPr>
              <a:t>并发控制概述</a:t>
            </a:r>
          </a:p>
          <a:p>
            <a:pPr marL="0" indent="0" algn="just" eaLnBrk="1" hangingPunct="1">
              <a:lnSpc>
                <a:spcPct val="130000"/>
              </a:lnSpc>
              <a:buNone/>
            </a:pPr>
            <a:r>
              <a:rPr lang="en-US" altLang="zh-CN" sz="2400" dirty="0"/>
              <a:t>12.2  </a:t>
            </a:r>
            <a:r>
              <a:rPr lang="zh-CN" altLang="en-US" sz="2400" dirty="0"/>
              <a:t>事务的隔离级别</a:t>
            </a:r>
            <a:endParaRPr lang="en-US" altLang="zh-CN" sz="2400" dirty="0"/>
          </a:p>
          <a:p>
            <a:pPr marL="0" indent="0" algn="just" eaLnBrk="1" hangingPunct="1">
              <a:lnSpc>
                <a:spcPct val="130000"/>
              </a:lnSpc>
              <a:buNone/>
            </a:pPr>
            <a:r>
              <a:rPr lang="en-US" altLang="zh-CN" sz="2400" dirty="0"/>
              <a:t>12.3  </a:t>
            </a:r>
            <a:r>
              <a:rPr lang="zh-CN" altLang="en-US" sz="2400" dirty="0"/>
              <a:t>封锁</a:t>
            </a:r>
            <a:endParaRPr lang="en-US" altLang="zh-CN" sz="2400" dirty="0"/>
          </a:p>
          <a:p>
            <a:pPr marL="0" indent="0" algn="just" eaLnBrk="1" hangingPunct="1">
              <a:lnSpc>
                <a:spcPct val="130000"/>
              </a:lnSpc>
              <a:buNone/>
            </a:pPr>
            <a:r>
              <a:rPr lang="en-US" altLang="zh-CN" sz="2400" dirty="0"/>
              <a:t>12.4 </a:t>
            </a:r>
            <a:r>
              <a:rPr lang="zh-CN" altLang="en-US" sz="2400" dirty="0"/>
              <a:t> 封锁协议</a:t>
            </a:r>
          </a:p>
          <a:p>
            <a:pPr marL="0" indent="0" algn="just" eaLnBrk="1" hangingPunct="1">
              <a:lnSpc>
                <a:spcPct val="130000"/>
              </a:lnSpc>
              <a:buNone/>
            </a:pPr>
            <a:r>
              <a:rPr lang="en-US" altLang="zh-CN" sz="2400" dirty="0"/>
              <a:t>12.5  </a:t>
            </a:r>
            <a:r>
              <a:rPr lang="zh-CN" altLang="en-US" sz="2400" dirty="0"/>
              <a:t>活锁和死锁</a:t>
            </a:r>
          </a:p>
          <a:p>
            <a:pPr marL="0" indent="0" algn="just" eaLnBrk="1" hangingPunct="1">
              <a:lnSpc>
                <a:spcPct val="130000"/>
              </a:lnSpc>
              <a:buNone/>
            </a:pPr>
            <a:r>
              <a:rPr lang="en-US" altLang="zh-CN" sz="2400" dirty="0"/>
              <a:t>12.6  </a:t>
            </a:r>
            <a:r>
              <a:rPr lang="zh-CN" altLang="en-US" sz="2400" dirty="0"/>
              <a:t>并发调度的可串行性</a:t>
            </a:r>
          </a:p>
          <a:p>
            <a:pPr marL="0" indent="0" algn="just" eaLnBrk="1" hangingPunct="1">
              <a:lnSpc>
                <a:spcPct val="130000"/>
              </a:lnSpc>
              <a:buNone/>
            </a:pPr>
            <a:r>
              <a:rPr lang="en-US" altLang="zh-CN" sz="2400" dirty="0"/>
              <a:t>12.7  </a:t>
            </a:r>
            <a:r>
              <a:rPr lang="zh-CN" altLang="en-US" sz="2400" dirty="0"/>
              <a:t>两段锁协议</a:t>
            </a:r>
          </a:p>
          <a:p>
            <a:pPr marL="0" indent="0" algn="just" eaLnBrk="1" hangingPunct="1">
              <a:lnSpc>
                <a:spcPct val="130000"/>
              </a:lnSpc>
              <a:buNone/>
            </a:pPr>
            <a:r>
              <a:rPr lang="en-US" altLang="zh-CN" sz="2400" dirty="0"/>
              <a:t>12.8  </a:t>
            </a:r>
            <a:r>
              <a:rPr lang="zh-CN" altLang="en-US" sz="2400" dirty="0"/>
              <a:t>封锁的粒度</a:t>
            </a:r>
          </a:p>
          <a:p>
            <a:pPr marL="0" indent="0" algn="just" eaLnBrk="1" hangingPunct="1">
              <a:lnSpc>
                <a:spcPct val="130000"/>
              </a:lnSpc>
              <a:buNone/>
            </a:pPr>
            <a:r>
              <a:rPr lang="zh-CN" altLang="en-US" sz="2400" dirty="0"/>
              <a:t>*</a:t>
            </a:r>
            <a:r>
              <a:rPr lang="en-US" altLang="zh-CN" sz="2400" dirty="0"/>
              <a:t>12.9  </a:t>
            </a:r>
            <a:r>
              <a:rPr lang="zh-CN" altLang="en-US" sz="2400" dirty="0"/>
              <a:t>其他并发控制机制</a:t>
            </a:r>
          </a:p>
          <a:p>
            <a:pPr marL="0" indent="0" algn="just" eaLnBrk="1" hangingPunct="1">
              <a:lnSpc>
                <a:spcPct val="130000"/>
              </a:lnSpc>
              <a:buNone/>
            </a:pPr>
            <a:r>
              <a:rPr lang="zh-CN" altLang="en-US" sz="2400" dirty="0"/>
              <a:t>1</a:t>
            </a:r>
            <a:r>
              <a:rPr lang="en-US" altLang="zh-CN" sz="2400" dirty="0"/>
              <a:t>2</a:t>
            </a:r>
            <a:r>
              <a:rPr lang="zh-CN" altLang="en-US" sz="2400" dirty="0"/>
              <a:t>.</a:t>
            </a:r>
            <a:r>
              <a:rPr lang="en-US" altLang="zh-CN" sz="2400" dirty="0"/>
              <a:t>10</a:t>
            </a:r>
            <a:r>
              <a:rPr lang="zh-CN" altLang="en-US" sz="2400" dirty="0"/>
              <a:t>  小结</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a:xfrm>
            <a:off x="2438400" y="111125"/>
            <a:ext cx="7391400" cy="565150"/>
          </a:xfrm>
        </p:spPr>
        <p:txBody>
          <a:bodyPr vert="horz" wrap="square" lIns="91440" tIns="45720" rIns="91440" bIns="45720" anchor="ctr" anchorCtr="0"/>
          <a:lstStyle/>
          <a:p>
            <a:pPr eaLnBrk="1" hangingPunct="1"/>
            <a:r>
              <a:rPr lang="en-US" altLang="zh-CN" sz="3600" dirty="0"/>
              <a:t>12.1  </a:t>
            </a:r>
            <a:r>
              <a:rPr lang="zh-CN" altLang="en-US" sz="3600" dirty="0"/>
              <a:t>并发控制概述</a:t>
            </a:r>
          </a:p>
        </p:txBody>
      </p:sp>
      <p:sp>
        <p:nvSpPr>
          <p:cNvPr id="11267" name="Rectangle 3"/>
          <p:cNvSpPr>
            <a:spLocks noGrp="1"/>
          </p:cNvSpPr>
          <p:nvPr>
            <p:ph type="body"/>
          </p:nvPr>
        </p:nvSpPr>
        <p:spPr>
          <a:xfrm>
            <a:off x="1343025" y="1341438"/>
            <a:ext cx="8229600" cy="4695825"/>
          </a:xfrm>
        </p:spPr>
        <p:txBody>
          <a:bodyPr vert="horz" wrap="square" lIns="91440" tIns="45720" rIns="91440" bIns="45720" anchor="t" anchorCtr="0"/>
          <a:lstStyle/>
          <a:p>
            <a:pPr algn="just" eaLnBrk="1" hangingPunct="1">
              <a:lnSpc>
                <a:spcPct val="160000"/>
              </a:lnSpc>
            </a:pPr>
            <a:r>
              <a:rPr lang="zh-CN" altLang="en-US" dirty="0"/>
              <a:t>事务是并发控制的基本单位</a:t>
            </a:r>
            <a:endParaRPr lang="en-US" altLang="zh-CN" dirty="0"/>
          </a:p>
          <a:p>
            <a:pPr algn="just" eaLnBrk="1" hangingPunct="1">
              <a:lnSpc>
                <a:spcPct val="160000"/>
              </a:lnSpc>
            </a:pPr>
            <a:r>
              <a:rPr lang="zh-CN" altLang="en-US" dirty="0"/>
              <a:t>并发控制机制的任务</a:t>
            </a:r>
          </a:p>
          <a:p>
            <a:pPr lvl="1" algn="just" eaLnBrk="1" hangingPunct="1">
              <a:lnSpc>
                <a:spcPct val="160000"/>
              </a:lnSpc>
            </a:pPr>
            <a:r>
              <a:rPr lang="zh-CN" altLang="en-US" dirty="0"/>
              <a:t>对并发操作进行正确调度</a:t>
            </a:r>
          </a:p>
          <a:p>
            <a:pPr lvl="1" algn="just" eaLnBrk="1" hangingPunct="1">
              <a:lnSpc>
                <a:spcPct val="160000"/>
              </a:lnSpc>
            </a:pPr>
            <a:r>
              <a:rPr lang="zh-CN" altLang="en-US" dirty="0"/>
              <a:t>保证事务的隔离性</a:t>
            </a:r>
          </a:p>
          <a:p>
            <a:pPr lvl="1" algn="just" eaLnBrk="1" hangingPunct="1">
              <a:lnSpc>
                <a:spcPct val="160000"/>
              </a:lnSpc>
            </a:pPr>
            <a:r>
              <a:rPr lang="zh-CN" altLang="en-US" dirty="0"/>
              <a:t>保证数据库的一致性</a:t>
            </a:r>
          </a:p>
          <a:p>
            <a:pPr algn="just" eaLnBrk="1" hangingPunct="1"/>
            <a:endParaRPr lang="en-US" altLang="zh-C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p:nvPr>
        </p:nvSpPr>
        <p:spPr>
          <a:xfrm>
            <a:off x="2667000" y="5105400"/>
            <a:ext cx="7772400" cy="1143000"/>
          </a:xfrm>
        </p:spPr>
        <p:txBody>
          <a:bodyPr vert="horz" wrap="square" lIns="91440" tIns="45720" rIns="91440" bIns="45720" anchor="ctr" anchorCtr="0"/>
          <a:lstStyle/>
          <a:p>
            <a:pPr eaLnBrk="1" hangingPunct="1"/>
            <a:r>
              <a:rPr lang="en-US" altLang="zh-CN" sz="2400" dirty="0">
                <a:solidFill>
                  <a:srgbClr val="FF0000"/>
                </a:solidFill>
              </a:rPr>
              <a:t>T1</a:t>
            </a:r>
            <a:r>
              <a:rPr lang="zh-CN" altLang="en-US" sz="2400" dirty="0">
                <a:solidFill>
                  <a:srgbClr val="FF0000"/>
                </a:solidFill>
              </a:rPr>
              <a:t>的修改被</a:t>
            </a:r>
            <a:r>
              <a:rPr lang="en-US" altLang="zh-CN" sz="2400" dirty="0">
                <a:solidFill>
                  <a:srgbClr val="FF0000"/>
                </a:solidFill>
              </a:rPr>
              <a:t>T2</a:t>
            </a:r>
            <a:r>
              <a:rPr lang="zh-CN" altLang="en-US" sz="2400" dirty="0">
                <a:solidFill>
                  <a:srgbClr val="FF0000"/>
                </a:solidFill>
              </a:rPr>
              <a:t>覆盖了！</a:t>
            </a:r>
            <a:endParaRPr lang="zh-CN" altLang="en-US" dirty="0">
              <a:solidFill>
                <a:srgbClr val="FF0000"/>
              </a:solidFill>
            </a:endParaRPr>
          </a:p>
        </p:txBody>
      </p:sp>
      <p:sp>
        <p:nvSpPr>
          <p:cNvPr id="12291" name="Rectangle 14"/>
          <p:cNvSpPr/>
          <p:nvPr/>
        </p:nvSpPr>
        <p:spPr>
          <a:xfrm>
            <a:off x="3432175" y="187325"/>
            <a:ext cx="5486400" cy="647700"/>
          </a:xfrm>
          <a:prstGeom prst="rect">
            <a:avLst/>
          </a:prstGeom>
          <a:noFill/>
          <a:ln w="9525">
            <a:noFill/>
          </a:ln>
        </p:spPr>
        <p:txBody>
          <a:bodyPr lIns="90000" tIns="46800" rIns="90000" bIns="46800" anchor="ctr" anchorCtr="0">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None/>
            </a:pPr>
            <a:r>
              <a:rPr lang="zh-CN" altLang="zh-CN" sz="3600" dirty="0">
                <a:solidFill>
                  <a:schemeClr val="bg1"/>
                </a:solidFill>
                <a:latin typeface="宋体" panose="02010600030101010101" pitchFamily="2" charset="-122"/>
              </a:rPr>
              <a:t>并发控制概述（续）</a:t>
            </a:r>
          </a:p>
        </p:txBody>
      </p:sp>
      <p:sp>
        <p:nvSpPr>
          <p:cNvPr id="12292" name="Rectangle 16"/>
          <p:cNvSpPr>
            <a:spLocks noGrp="1"/>
          </p:cNvSpPr>
          <p:nvPr>
            <p:ph type="body"/>
          </p:nvPr>
        </p:nvSpPr>
        <p:spPr>
          <a:xfrm>
            <a:off x="1235075" y="908050"/>
            <a:ext cx="10477500" cy="4321175"/>
          </a:xfrm>
        </p:spPr>
        <p:txBody>
          <a:bodyPr vert="horz" wrap="square" lIns="91440" tIns="45720" rIns="91440" bIns="45720" anchor="t" anchorCtr="0"/>
          <a:lstStyle/>
          <a:p>
            <a:pPr eaLnBrk="1" hangingPunct="1">
              <a:lnSpc>
                <a:spcPct val="150000"/>
              </a:lnSpc>
              <a:spcBef>
                <a:spcPct val="0"/>
              </a:spcBef>
              <a:buNone/>
            </a:pPr>
            <a:r>
              <a:rPr lang="zh-CN" altLang="en-US" dirty="0"/>
              <a:t>并发操作带来数据的不一致性实例</a:t>
            </a:r>
          </a:p>
          <a:p>
            <a:pPr eaLnBrk="1" hangingPunct="1">
              <a:lnSpc>
                <a:spcPct val="150000"/>
              </a:lnSpc>
              <a:spcBef>
                <a:spcPct val="0"/>
              </a:spcBef>
              <a:buNone/>
            </a:pPr>
            <a:r>
              <a:rPr lang="en-US" altLang="zh-CN" sz="2400" dirty="0"/>
              <a:t>[</a:t>
            </a:r>
            <a:r>
              <a:rPr lang="zh-CN" altLang="en-US" sz="2400" dirty="0"/>
              <a:t>例</a:t>
            </a:r>
            <a:r>
              <a:rPr lang="en-US" altLang="zh-CN" sz="2400" dirty="0"/>
              <a:t>12</a:t>
            </a:r>
            <a:r>
              <a:rPr lang="zh-CN" altLang="en-US" sz="2400" dirty="0"/>
              <a:t>.1</a:t>
            </a:r>
            <a:r>
              <a:rPr lang="en-US" altLang="zh-CN" sz="2400" dirty="0"/>
              <a:t>]</a:t>
            </a:r>
            <a:r>
              <a:rPr lang="zh-CN" altLang="en-US" sz="2400" dirty="0"/>
              <a:t>飞机订票系统中的一个活动序列 </a:t>
            </a:r>
          </a:p>
          <a:p>
            <a:pPr lvl="1" eaLnBrk="1" hangingPunct="1">
              <a:lnSpc>
                <a:spcPct val="150000"/>
              </a:lnSpc>
              <a:buNone/>
            </a:pPr>
            <a:r>
              <a:rPr lang="zh-CN" altLang="en-US" sz="2200" dirty="0"/>
              <a:t>① 甲售票点</a:t>
            </a:r>
            <a:r>
              <a:rPr lang="en-US" altLang="zh-CN" sz="2200" dirty="0"/>
              <a:t>(</a:t>
            </a:r>
            <a:r>
              <a:rPr lang="zh-CN" altLang="en-US" sz="2200" dirty="0"/>
              <a:t>事务</a:t>
            </a:r>
            <a:r>
              <a:rPr lang="en-US" altLang="zh-CN" sz="2200" dirty="0"/>
              <a:t>T</a:t>
            </a:r>
            <a:r>
              <a:rPr lang="en-US" altLang="zh-CN" sz="2200" baseline="-25000" dirty="0"/>
              <a:t>1</a:t>
            </a:r>
            <a:r>
              <a:rPr lang="en-US" altLang="zh-CN" sz="2200" dirty="0"/>
              <a:t>)</a:t>
            </a:r>
            <a:r>
              <a:rPr lang="zh-CN" altLang="en-US" sz="2200" dirty="0"/>
              <a:t>读出某航班的机票余额</a:t>
            </a:r>
            <a:r>
              <a:rPr lang="en-US" altLang="zh-CN" sz="2200" dirty="0"/>
              <a:t>A</a:t>
            </a:r>
            <a:r>
              <a:rPr lang="zh-CN" altLang="en-US" sz="2200" dirty="0"/>
              <a:t>，设</a:t>
            </a:r>
            <a:r>
              <a:rPr lang="en-US" altLang="zh-CN" sz="2200" dirty="0"/>
              <a:t>A=16</a:t>
            </a:r>
            <a:r>
              <a:rPr lang="zh-CN" altLang="en-US" sz="2200" dirty="0"/>
              <a:t>；</a:t>
            </a:r>
          </a:p>
          <a:p>
            <a:pPr lvl="1" eaLnBrk="1" hangingPunct="1">
              <a:lnSpc>
                <a:spcPct val="150000"/>
              </a:lnSpc>
              <a:buNone/>
            </a:pPr>
            <a:r>
              <a:rPr lang="zh-CN" altLang="en-US" sz="2200" dirty="0"/>
              <a:t>② 乙售票点</a:t>
            </a:r>
            <a:r>
              <a:rPr lang="en-US" altLang="zh-CN" sz="2200" dirty="0"/>
              <a:t>(</a:t>
            </a:r>
            <a:r>
              <a:rPr lang="zh-CN" altLang="en-US" sz="2200" dirty="0"/>
              <a:t>事务</a:t>
            </a:r>
            <a:r>
              <a:rPr lang="en-US" altLang="zh-CN" sz="2200" dirty="0"/>
              <a:t>T</a:t>
            </a:r>
            <a:r>
              <a:rPr lang="en-US" altLang="zh-CN" sz="2200" baseline="-25000" dirty="0"/>
              <a:t>2</a:t>
            </a:r>
            <a:r>
              <a:rPr lang="en-US" altLang="zh-CN" sz="2200" dirty="0"/>
              <a:t>)</a:t>
            </a:r>
            <a:r>
              <a:rPr lang="zh-CN" altLang="en-US" sz="2200" dirty="0"/>
              <a:t>读出同一航班的机票余额</a:t>
            </a:r>
            <a:r>
              <a:rPr lang="en-US" altLang="zh-CN" sz="2200" dirty="0"/>
              <a:t>A</a:t>
            </a:r>
            <a:r>
              <a:rPr lang="zh-CN" altLang="en-US" sz="2200" dirty="0"/>
              <a:t>，也为</a:t>
            </a:r>
            <a:r>
              <a:rPr lang="en-US" altLang="zh-CN" sz="2200" dirty="0"/>
              <a:t>16</a:t>
            </a:r>
            <a:r>
              <a:rPr lang="zh-CN" altLang="en-US" sz="2200" dirty="0"/>
              <a:t>；</a:t>
            </a:r>
          </a:p>
          <a:p>
            <a:pPr lvl="1" eaLnBrk="1" hangingPunct="1">
              <a:lnSpc>
                <a:spcPct val="150000"/>
              </a:lnSpc>
              <a:buNone/>
            </a:pPr>
            <a:r>
              <a:rPr lang="zh-CN" altLang="en-US" sz="2200" dirty="0"/>
              <a:t>③ 甲售票点卖出一张机票，修改余额</a:t>
            </a:r>
            <a:r>
              <a:rPr lang="en-US" altLang="zh-CN" sz="2200" dirty="0"/>
              <a:t>A←A-1</a:t>
            </a:r>
            <a:r>
              <a:rPr lang="zh-CN" altLang="en-US" sz="2200" dirty="0"/>
              <a:t>，所以</a:t>
            </a:r>
            <a:r>
              <a:rPr lang="en-US" altLang="zh-CN" sz="2200" dirty="0"/>
              <a:t>A</a:t>
            </a:r>
            <a:r>
              <a:rPr lang="zh-CN" altLang="en-US" sz="2200" dirty="0"/>
              <a:t>为</a:t>
            </a:r>
            <a:r>
              <a:rPr lang="en-US" altLang="zh-CN" sz="2200" dirty="0"/>
              <a:t>15</a:t>
            </a:r>
            <a:r>
              <a:rPr lang="zh-CN" altLang="en-US" sz="2200" dirty="0"/>
              <a:t>，把</a:t>
            </a:r>
            <a:r>
              <a:rPr lang="en-US" altLang="zh-CN" sz="2200" dirty="0"/>
              <a:t>A</a:t>
            </a:r>
            <a:r>
              <a:rPr lang="zh-CN" altLang="en-US" sz="2200" dirty="0"/>
              <a:t>写回数据库；</a:t>
            </a:r>
          </a:p>
          <a:p>
            <a:pPr lvl="1" eaLnBrk="1" hangingPunct="1">
              <a:lnSpc>
                <a:spcPct val="150000"/>
              </a:lnSpc>
              <a:buNone/>
            </a:pPr>
            <a:r>
              <a:rPr lang="zh-CN" altLang="en-US" sz="2200" dirty="0"/>
              <a:t>④ 乙售票点也卖出一张机票，修改余额</a:t>
            </a:r>
            <a:r>
              <a:rPr lang="en-US" altLang="zh-CN" sz="2200" dirty="0"/>
              <a:t>A←A-1</a:t>
            </a:r>
            <a:r>
              <a:rPr lang="zh-CN" altLang="en-US" sz="2200" dirty="0"/>
              <a:t>，所以</a:t>
            </a:r>
            <a:r>
              <a:rPr lang="en-US" altLang="zh-CN" sz="2200" dirty="0"/>
              <a:t>A</a:t>
            </a:r>
            <a:r>
              <a:rPr lang="zh-CN" altLang="en-US" sz="2200" dirty="0"/>
              <a:t>为</a:t>
            </a:r>
            <a:r>
              <a:rPr lang="en-US" altLang="zh-CN" sz="2200" dirty="0"/>
              <a:t>15</a:t>
            </a:r>
            <a:r>
              <a:rPr lang="zh-CN" altLang="en-US" sz="2200" dirty="0"/>
              <a:t>，把</a:t>
            </a:r>
            <a:r>
              <a:rPr lang="en-US" altLang="zh-CN" sz="2200" dirty="0"/>
              <a:t>A</a:t>
            </a:r>
            <a:r>
              <a:rPr lang="zh-CN" altLang="en-US" sz="2200" dirty="0"/>
              <a:t>写回数据库 </a:t>
            </a:r>
          </a:p>
          <a:p>
            <a:pPr lvl="1" eaLnBrk="1" hangingPunct="1">
              <a:lnSpc>
                <a:spcPct val="150000"/>
              </a:lnSpc>
            </a:pPr>
            <a:r>
              <a:rPr lang="zh-CN" altLang="en-US" sz="2200" dirty="0"/>
              <a:t>结果明明卖出两张机票，数据库中机票余额只减少</a:t>
            </a:r>
            <a:r>
              <a:rPr lang="en-US" altLang="zh-CN" sz="2200" dirty="0"/>
              <a:t>1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并发控制概述（续）</a:t>
            </a:r>
          </a:p>
        </p:txBody>
      </p:sp>
      <p:sp>
        <p:nvSpPr>
          <p:cNvPr id="13315" name="Rectangle 3"/>
          <p:cNvSpPr>
            <a:spLocks noGrp="1"/>
          </p:cNvSpPr>
          <p:nvPr>
            <p:ph type="body"/>
          </p:nvPr>
        </p:nvSpPr>
        <p:spPr>
          <a:xfrm>
            <a:off x="838835" y="1124268"/>
            <a:ext cx="10945813" cy="4911725"/>
          </a:xfrm>
        </p:spPr>
        <p:txBody>
          <a:bodyPr vert="horz" wrap="square" lIns="91440" tIns="45720" rIns="91440" bIns="45720" anchor="t" anchorCtr="0"/>
          <a:lstStyle/>
          <a:p>
            <a:pPr eaLnBrk="1" hangingPunct="1">
              <a:lnSpc>
                <a:spcPct val="200000"/>
              </a:lnSpc>
              <a:spcBef>
                <a:spcPct val="0"/>
              </a:spcBef>
            </a:pPr>
            <a:r>
              <a:rPr lang="zh-CN" altLang="en-US" sz="2400" dirty="0"/>
              <a:t>这种情况数据库的不一致性，是由并发操作引起的。</a:t>
            </a:r>
          </a:p>
          <a:p>
            <a:pPr eaLnBrk="1" hangingPunct="1">
              <a:lnSpc>
                <a:spcPct val="200000"/>
              </a:lnSpc>
              <a:spcBef>
                <a:spcPct val="0"/>
              </a:spcBef>
            </a:pPr>
            <a:r>
              <a:rPr lang="zh-CN" altLang="en-US" sz="2400" dirty="0"/>
              <a:t>在并发操作情况下，对</a:t>
            </a:r>
            <a:r>
              <a:rPr lang="en-US" altLang="zh-CN" sz="2400" dirty="0"/>
              <a:t>T</a:t>
            </a:r>
            <a:r>
              <a:rPr lang="en-US" altLang="zh-CN" sz="2400" baseline="-25000" dirty="0"/>
              <a:t>1</a:t>
            </a:r>
            <a:r>
              <a:rPr lang="zh-CN" altLang="en-US" sz="2400" dirty="0"/>
              <a:t>、</a:t>
            </a:r>
            <a:r>
              <a:rPr lang="en-US" altLang="zh-CN" sz="2400" dirty="0"/>
              <a:t>T</a:t>
            </a:r>
            <a:r>
              <a:rPr lang="en-US" altLang="zh-CN" sz="2400" baseline="-25000" dirty="0"/>
              <a:t>2</a:t>
            </a:r>
            <a:r>
              <a:rPr lang="zh-CN" altLang="en-US" sz="2400" dirty="0"/>
              <a:t>两个事务操作的调度是随机的，可能产生多个不同的调度序列。</a:t>
            </a:r>
          </a:p>
          <a:p>
            <a:pPr lvl="1" eaLnBrk="1" hangingPunct="1">
              <a:lnSpc>
                <a:spcPct val="200000"/>
              </a:lnSpc>
              <a:spcBef>
                <a:spcPct val="0"/>
              </a:spcBef>
            </a:pPr>
            <a:r>
              <a:rPr lang="zh-CN" altLang="en-US" sz="2000" dirty="0"/>
              <a:t>比如</a:t>
            </a:r>
            <a:r>
              <a:rPr lang="en-US" altLang="zh-CN" sz="2000" dirty="0"/>
              <a:t> T1.R(A) T2.R(A) T1.W(A) T2.W(A); </a:t>
            </a:r>
            <a:r>
              <a:rPr lang="en-US" altLang="zh-CN" sz="2000" dirty="0">
                <a:sym typeface="+mn-ea"/>
              </a:rPr>
              <a:t>T1.R(A) T1.W(A) T2.R(A) T2.W(A)</a:t>
            </a:r>
          </a:p>
          <a:p>
            <a:pPr lvl="0" eaLnBrk="1" hangingPunct="1">
              <a:lnSpc>
                <a:spcPct val="200000"/>
              </a:lnSpc>
              <a:spcBef>
                <a:spcPct val="0"/>
              </a:spcBef>
            </a:pPr>
            <a:r>
              <a:rPr lang="zh-CN" altLang="en-US" sz="2330" dirty="0"/>
              <a:t>若按第一个调度序列执行，</a:t>
            </a:r>
            <a:r>
              <a:rPr lang="en-US" altLang="zh-CN" sz="2330" dirty="0"/>
              <a:t>T</a:t>
            </a:r>
            <a:r>
              <a:rPr lang="en-US" altLang="zh-CN" sz="2330" baseline="-25000" dirty="0"/>
              <a:t>1</a:t>
            </a:r>
            <a:r>
              <a:rPr lang="zh-CN" altLang="en-US" sz="2330" dirty="0"/>
              <a:t>事务对数据</a:t>
            </a:r>
            <a:r>
              <a:rPr lang="en-US" altLang="zh-CN" sz="2330" dirty="0"/>
              <a:t>A</a:t>
            </a:r>
            <a:r>
              <a:rPr lang="zh-CN" altLang="en-US" sz="2330" dirty="0"/>
              <a:t>的修改就丢失了。</a:t>
            </a:r>
          </a:p>
          <a:p>
            <a:pPr lvl="1" eaLnBrk="1" hangingPunct="1">
              <a:lnSpc>
                <a:spcPct val="200000"/>
              </a:lnSpc>
              <a:spcBef>
                <a:spcPct val="0"/>
              </a:spcBef>
            </a:pPr>
            <a:r>
              <a:rPr lang="zh-CN" altLang="en-US" sz="2000" dirty="0"/>
              <a:t>原因：第</a:t>
            </a:r>
            <a:r>
              <a:rPr lang="en-US" altLang="zh-CN" sz="2000" dirty="0"/>
              <a:t>4</a:t>
            </a:r>
            <a:r>
              <a:rPr lang="zh-CN" altLang="en-US" sz="2000" dirty="0"/>
              <a:t>步中</a:t>
            </a:r>
            <a:r>
              <a:rPr lang="en-US" altLang="zh-CN" sz="2000" dirty="0"/>
              <a:t>T</a:t>
            </a:r>
            <a:r>
              <a:rPr lang="en-US" altLang="zh-CN" sz="2000" baseline="-25000" dirty="0"/>
              <a:t>2</a:t>
            </a:r>
            <a:r>
              <a:rPr lang="zh-CN" altLang="en-US" sz="2000" dirty="0"/>
              <a:t>事务修改</a:t>
            </a:r>
            <a:r>
              <a:rPr lang="en-US" altLang="zh-CN" sz="2000" dirty="0"/>
              <a:t>A</a:t>
            </a:r>
            <a:r>
              <a:rPr lang="zh-CN" altLang="en-US" sz="2000" dirty="0"/>
              <a:t>并写回后覆盖了</a:t>
            </a:r>
            <a:r>
              <a:rPr lang="en-US" altLang="zh-CN" sz="2000" dirty="0"/>
              <a:t>T</a:t>
            </a:r>
            <a:r>
              <a:rPr lang="en-US" altLang="zh-CN" sz="2000" baseline="-25000" dirty="0"/>
              <a:t>1</a:t>
            </a:r>
            <a:r>
              <a:rPr lang="zh-CN" altLang="en-US" sz="2000" dirty="0"/>
              <a:t>事务的修改</a:t>
            </a:r>
          </a:p>
        </p:txBody>
      </p:sp>
      <p:sp>
        <p:nvSpPr>
          <p:cNvPr id="12290" name="Rectangle 2"/>
          <p:cNvSpPr>
            <a:spLocks noGrp="1"/>
          </p:cNvSpPr>
          <p:nvPr/>
        </p:nvSpPr>
        <p:spPr>
          <a:xfrm>
            <a:off x="551180" y="5157470"/>
            <a:ext cx="7772400" cy="1143000"/>
          </a:xfrm>
          <a:prstGeom prst="rect">
            <a:avLst/>
          </a:prstGeom>
          <a:noFill/>
          <a:ln w="9525">
            <a:noFill/>
          </a:ln>
        </p:spPr>
        <p:txBody>
          <a:bodyPr vert="horz" wrap="square" lIns="91440" tIns="45720" rIns="91440" bIns="45720" anchor="ctr" anchorCtr="0"/>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2400" dirty="0">
                <a:solidFill>
                  <a:srgbClr val="FF0000"/>
                </a:solidFill>
              </a:rPr>
              <a:t>若按第二个调度序列执行，你认为是正确的吗？</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并发控制概述（续）</a:t>
            </a:r>
          </a:p>
        </p:txBody>
      </p:sp>
      <p:sp>
        <p:nvSpPr>
          <p:cNvPr id="14339" name="Rectangle 3"/>
          <p:cNvSpPr>
            <a:spLocks noGrp="1" noChangeArrowheads="1"/>
          </p:cNvSpPr>
          <p:nvPr>
            <p:ph type="body" idx="1"/>
          </p:nvPr>
        </p:nvSpPr>
        <p:spPr>
          <a:xfrm>
            <a:off x="1703388" y="1052513"/>
            <a:ext cx="8229600" cy="4840288"/>
          </a:xfrm>
        </p:spPr>
        <p:txBody>
          <a:bodyPr vert="horz" wrap="square" lIns="91440" tIns="45720" rIns="91440" bIns="45720" numCol="1" anchor="t" anchorCtr="0" compatLnSpc="1"/>
          <a:lstStyle/>
          <a:p>
            <a:pPr marL="342900" marR="0" lvl="0" indent="-342900" algn="just" defTabSz="914400" rtl="0" eaLnBrk="1" fontAlgn="base" latinLnBrk="0" hangingPunct="1">
              <a:lnSpc>
                <a:spcPct val="150000"/>
              </a:lnSpc>
              <a:spcBef>
                <a:spcPct val="20000"/>
              </a:spcBef>
              <a:spcAft>
                <a:spcPct val="0"/>
              </a:spcAft>
              <a:buClrTx/>
              <a:buSzPct val="100000"/>
              <a:buFont typeface="Wingdings" panose="05000000000000000000" pitchFamily="2" charset="2"/>
              <a:buChar char="v"/>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并发操作带来的数据不一致性</a:t>
            </a:r>
          </a:p>
          <a:p>
            <a:pPr marL="457200" marR="0" lvl="1" indent="0" algn="just" defTabSz="914400" rtl="0" eaLnBrk="1" fontAlgn="base" latinLnBrk="0" hangingPunct="1">
              <a:lnSpc>
                <a:spcPct val="150000"/>
              </a:lnSpc>
              <a:spcBef>
                <a:spcPct val="20000"/>
              </a:spcBef>
              <a:spcAft>
                <a:spcPct val="0"/>
              </a:spcAft>
              <a:buClrTx/>
              <a:buSzPct val="10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mn-ea"/>
              </a:rPr>
              <a:t>1.</a:t>
            </a:r>
            <a:r>
              <a:rPr kumimoji="0" lang="zh-CN" altLang="en-US" sz="2400" b="1" i="0" u="none" strike="noStrike" kern="0" cap="none" spc="0" normalizeH="0" baseline="0" noProof="0" dirty="0">
                <a:ln>
                  <a:noFill/>
                </a:ln>
                <a:solidFill>
                  <a:schemeClr val="tx1"/>
                </a:solidFill>
                <a:effectLst/>
                <a:uLnTx/>
                <a:uFillTx/>
                <a:latin typeface="+mn-lt"/>
                <a:ea typeface="+mn-ea"/>
              </a:rPr>
              <a:t>丢失修改（</a:t>
            </a:r>
            <a:r>
              <a:rPr kumimoji="0" lang="en-US" altLang="zh-CN" sz="2400" b="1" i="0" u="none" strike="noStrike" kern="0" cap="none" spc="0" normalizeH="0" baseline="0" noProof="0" dirty="0">
                <a:ln>
                  <a:noFill/>
                </a:ln>
                <a:solidFill>
                  <a:schemeClr val="tx1"/>
                </a:solidFill>
                <a:effectLst/>
                <a:uLnTx/>
                <a:uFillTx/>
                <a:latin typeface="+mn-lt"/>
                <a:ea typeface="+mn-ea"/>
              </a:rPr>
              <a:t>Lost Update</a:t>
            </a:r>
            <a:r>
              <a:rPr kumimoji="0" lang="zh-CN" altLang="en-US" sz="2400" b="1" i="0" u="none" strike="noStrike" kern="0" cap="none" spc="0" normalizeH="0" baseline="0" noProof="0" dirty="0">
                <a:ln>
                  <a:noFill/>
                </a:ln>
                <a:solidFill>
                  <a:schemeClr val="tx1"/>
                </a:solidFill>
                <a:effectLst/>
                <a:uLnTx/>
                <a:uFillTx/>
                <a:latin typeface="+mn-lt"/>
                <a:ea typeface="+mn-ea"/>
              </a:rPr>
              <a:t>）</a:t>
            </a:r>
          </a:p>
          <a:p>
            <a:pPr marL="457200" marR="0" lvl="1" indent="0" algn="just" defTabSz="914400" rtl="0" eaLnBrk="1" fontAlgn="base" latinLnBrk="0" hangingPunct="1">
              <a:lnSpc>
                <a:spcPct val="150000"/>
              </a:lnSpc>
              <a:spcBef>
                <a:spcPct val="20000"/>
              </a:spcBef>
              <a:spcAft>
                <a:spcPct val="0"/>
              </a:spcAft>
              <a:buClrTx/>
              <a:buSzPct val="10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mn-ea"/>
              </a:rPr>
              <a:t>2.</a:t>
            </a:r>
            <a:r>
              <a:rPr kumimoji="0" lang="zh-CN" altLang="en-US" sz="2400" b="1" i="0" u="none" strike="noStrike" kern="0" cap="none" spc="0" normalizeH="0" baseline="0" noProof="0" dirty="0">
                <a:ln>
                  <a:noFill/>
                </a:ln>
                <a:solidFill>
                  <a:schemeClr val="tx1"/>
                </a:solidFill>
                <a:effectLst/>
                <a:uLnTx/>
                <a:uFillTx/>
                <a:latin typeface="+mn-lt"/>
                <a:ea typeface="+mn-ea"/>
              </a:rPr>
              <a:t>不可重复读（</a:t>
            </a:r>
            <a:r>
              <a:rPr kumimoji="0" lang="en-US" altLang="zh-CN" sz="2400" b="1" i="0" u="none" strike="noStrike" kern="0" cap="none" spc="0" normalizeH="0" baseline="0" noProof="0" dirty="0">
                <a:ln>
                  <a:noFill/>
                </a:ln>
                <a:solidFill>
                  <a:schemeClr val="tx1"/>
                </a:solidFill>
                <a:effectLst/>
                <a:uLnTx/>
                <a:uFillTx/>
                <a:latin typeface="+mn-lt"/>
                <a:ea typeface="+mn-ea"/>
              </a:rPr>
              <a:t>Non-repeatable Read</a:t>
            </a:r>
            <a:r>
              <a:rPr kumimoji="0" lang="zh-CN" altLang="en-US" sz="2400" b="1" i="0" u="none" strike="noStrike" kern="0" cap="none" spc="0" normalizeH="0" baseline="0" noProof="0" dirty="0">
                <a:ln>
                  <a:noFill/>
                </a:ln>
                <a:solidFill>
                  <a:schemeClr val="tx1"/>
                </a:solidFill>
                <a:effectLst/>
                <a:uLnTx/>
                <a:uFillTx/>
                <a:latin typeface="+mn-lt"/>
                <a:ea typeface="+mn-ea"/>
              </a:rPr>
              <a:t>）</a:t>
            </a:r>
          </a:p>
          <a:p>
            <a:pPr marL="457200" marR="0" lvl="1" indent="0" algn="just" defTabSz="914400" rtl="0" eaLnBrk="1" fontAlgn="base" latinLnBrk="0" hangingPunct="1">
              <a:lnSpc>
                <a:spcPct val="150000"/>
              </a:lnSpc>
              <a:spcBef>
                <a:spcPct val="20000"/>
              </a:spcBef>
              <a:spcAft>
                <a:spcPct val="0"/>
              </a:spcAft>
              <a:buClrTx/>
              <a:buSzPct val="10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mn-ea"/>
              </a:rPr>
              <a:t>3.</a:t>
            </a:r>
            <a:r>
              <a:rPr kumimoji="0" lang="zh-CN" altLang="en-US" sz="2400" b="1" i="0" u="none" strike="noStrike" kern="0" cap="none" spc="0" normalizeH="0" baseline="0" noProof="0" dirty="0">
                <a:ln>
                  <a:noFill/>
                </a:ln>
                <a:solidFill>
                  <a:schemeClr val="tx1"/>
                </a:solidFill>
                <a:effectLst/>
                <a:uLnTx/>
                <a:uFillTx/>
                <a:latin typeface="+mn-lt"/>
                <a:ea typeface="+mn-ea"/>
              </a:rPr>
              <a:t>读“脏”数据（</a:t>
            </a:r>
            <a:r>
              <a:rPr kumimoji="0" lang="en-US" altLang="zh-CN" sz="2400" b="1" i="0" u="none" strike="noStrike" kern="0" cap="none" spc="0" normalizeH="0" baseline="0" noProof="0" dirty="0">
                <a:ln>
                  <a:noFill/>
                </a:ln>
                <a:solidFill>
                  <a:schemeClr val="tx1"/>
                </a:solidFill>
                <a:effectLst/>
                <a:uLnTx/>
                <a:uFillTx/>
                <a:latin typeface="+mn-lt"/>
                <a:ea typeface="+mn-ea"/>
              </a:rPr>
              <a:t>Dirty Read</a:t>
            </a:r>
            <a:r>
              <a:rPr kumimoji="0" lang="zh-CN" altLang="en-US" sz="2400" b="1" i="0" u="none" strike="noStrike" kern="0" cap="none" spc="0" normalizeH="0" baseline="0" noProof="0" dirty="0">
                <a:ln>
                  <a:noFill/>
                </a:ln>
                <a:solidFill>
                  <a:schemeClr val="tx1"/>
                </a:solidFill>
                <a:effectLst/>
                <a:uLnTx/>
                <a:uFillTx/>
                <a:latin typeface="+mn-lt"/>
                <a:ea typeface="+mn-ea"/>
              </a:rPr>
              <a:t>）</a:t>
            </a:r>
            <a:endParaRPr kumimoji="0" lang="en-US" altLang="zh-CN" sz="2400" b="1" i="0" u="none" strike="noStrike" kern="0" cap="none" spc="0" normalizeH="0" baseline="0" noProof="0" dirty="0">
              <a:ln>
                <a:noFill/>
              </a:ln>
              <a:solidFill>
                <a:schemeClr val="tx1"/>
              </a:solidFill>
              <a:effectLst/>
              <a:uLnTx/>
              <a:uFillTx/>
              <a:latin typeface="+mn-lt"/>
              <a:ea typeface="+mn-ea"/>
            </a:endParaRPr>
          </a:p>
          <a:p>
            <a:pPr marL="457200" marR="0" lvl="1" indent="0" algn="just" defTabSz="914400" rtl="0" eaLnBrk="1" fontAlgn="base" latinLnBrk="0" hangingPunct="1">
              <a:lnSpc>
                <a:spcPct val="150000"/>
              </a:lnSpc>
              <a:spcBef>
                <a:spcPct val="20000"/>
              </a:spcBef>
              <a:spcAft>
                <a:spcPct val="0"/>
              </a:spcAft>
              <a:buClrTx/>
              <a:buSzPct val="10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mn-ea"/>
              </a:rPr>
              <a:t>4.</a:t>
            </a:r>
            <a:r>
              <a:rPr kumimoji="0" lang="zh-CN" altLang="en-US" sz="2400" b="1" i="0" u="none" strike="noStrike" kern="0" cap="none" spc="0" normalizeH="0" baseline="0" noProof="0" dirty="0">
                <a:ln>
                  <a:noFill/>
                </a:ln>
                <a:solidFill>
                  <a:schemeClr val="tx1"/>
                </a:solidFill>
                <a:effectLst/>
                <a:uLnTx/>
                <a:uFillTx/>
                <a:latin typeface="+mn-lt"/>
                <a:ea typeface="+mn-ea"/>
              </a:rPr>
              <a:t>幻读（ </a:t>
            </a:r>
            <a:r>
              <a:rPr kumimoji="0" lang="en-US" altLang="zh-CN" sz="2400" b="1" i="0" u="none" strike="noStrike" kern="0" cap="none" spc="0" normalizeH="0" baseline="0" noProof="0" dirty="0">
                <a:ln>
                  <a:noFill/>
                </a:ln>
                <a:solidFill>
                  <a:schemeClr val="tx1"/>
                </a:solidFill>
                <a:effectLst/>
                <a:uLnTx/>
                <a:uFillTx/>
                <a:latin typeface="+mn-lt"/>
                <a:ea typeface="+mn-ea"/>
              </a:rPr>
              <a:t>Phantom Row </a:t>
            </a:r>
            <a:r>
              <a:rPr kumimoji="0" lang="zh-CN" altLang="en-US" sz="2400" b="1" i="0" u="none" strike="noStrike" kern="0" cap="none" spc="0" normalizeH="0" baseline="0" noProof="0" dirty="0">
                <a:ln>
                  <a:noFill/>
                </a:ln>
                <a:solidFill>
                  <a:schemeClr val="tx1"/>
                </a:solidFill>
                <a:effectLst/>
                <a:uLnTx/>
                <a:uFillTx/>
                <a:latin typeface="+mn-lt"/>
                <a:ea typeface="+mn-ea"/>
              </a:rPr>
              <a:t>）</a:t>
            </a:r>
          </a:p>
          <a:p>
            <a:pPr marL="342900" marR="0" lvl="0" indent="-342900" algn="just" defTabSz="914400" rtl="0" eaLnBrk="1" fontAlgn="base" latinLnBrk="0" hangingPunct="1">
              <a:lnSpc>
                <a:spcPct val="150000"/>
              </a:lnSpc>
              <a:spcBef>
                <a:spcPct val="20000"/>
              </a:spcBef>
              <a:spcAft>
                <a:spcPct val="0"/>
              </a:spcAft>
              <a:buClrTx/>
              <a:buSzPct val="100000"/>
              <a:buFont typeface="Wingdings" panose="05000000000000000000" pitchFamily="2" charset="2"/>
              <a:buChar char="v"/>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记号</a:t>
            </a:r>
          </a:p>
          <a:p>
            <a:pPr marL="742950" marR="0" lvl="1" indent="-285750" algn="just" defTabSz="914400" rtl="0" eaLnBrk="1" fontAlgn="base" latinLnBrk="0" hangingPunct="1">
              <a:lnSpc>
                <a:spcPct val="150000"/>
              </a:lnSpc>
              <a:spcBef>
                <a:spcPct val="20000"/>
              </a:spcBef>
              <a:spcAft>
                <a:spcPct val="0"/>
              </a:spcAft>
              <a:buClrTx/>
              <a:buSzPct val="100000"/>
              <a:buFont typeface="Wingdings" panose="05000000000000000000" pitchFamily="2" charset="2"/>
              <a:buChar char="n"/>
              <a:defRPr/>
            </a:pPr>
            <a:r>
              <a:rPr kumimoji="0" lang="en-US" altLang="zh-CN" sz="2400" b="1" i="0" u="none" strike="noStrike" kern="0" cap="none" spc="0" normalizeH="0" baseline="0" noProof="0" dirty="0">
                <a:ln>
                  <a:noFill/>
                </a:ln>
                <a:solidFill>
                  <a:schemeClr val="tx1"/>
                </a:solidFill>
                <a:effectLst/>
                <a:uLnTx/>
                <a:uFillTx/>
                <a:latin typeface="+mn-lt"/>
                <a:ea typeface="+mn-ea"/>
              </a:rPr>
              <a:t>R(x):</a:t>
            </a:r>
            <a:r>
              <a:rPr kumimoji="0" lang="zh-CN" altLang="en-US" sz="2400" b="1" i="0" u="none" strike="noStrike" kern="0" cap="none" spc="0" normalizeH="0" baseline="0" noProof="0" dirty="0">
                <a:ln>
                  <a:noFill/>
                </a:ln>
                <a:solidFill>
                  <a:schemeClr val="tx1"/>
                </a:solidFill>
                <a:effectLst/>
                <a:uLnTx/>
                <a:uFillTx/>
                <a:latin typeface="+mn-lt"/>
                <a:ea typeface="+mn-ea"/>
              </a:rPr>
              <a:t>读数据</a:t>
            </a:r>
            <a:r>
              <a:rPr kumimoji="0" lang="en-US" altLang="zh-CN" sz="2400" b="1" i="0" u="none" strike="noStrike" kern="0" cap="none" spc="0" normalizeH="0" baseline="0" noProof="0" dirty="0">
                <a:ln>
                  <a:noFill/>
                </a:ln>
                <a:solidFill>
                  <a:schemeClr val="tx1"/>
                </a:solidFill>
                <a:effectLst/>
                <a:uLnTx/>
                <a:uFillTx/>
                <a:latin typeface="+mn-lt"/>
                <a:ea typeface="+mn-ea"/>
              </a:rPr>
              <a:t>x</a:t>
            </a:r>
          </a:p>
          <a:p>
            <a:pPr marL="742950" marR="0" lvl="1" indent="-285750" algn="just" defTabSz="914400" rtl="0" eaLnBrk="1" fontAlgn="base" latinLnBrk="0" hangingPunct="1">
              <a:lnSpc>
                <a:spcPct val="150000"/>
              </a:lnSpc>
              <a:spcBef>
                <a:spcPct val="20000"/>
              </a:spcBef>
              <a:spcAft>
                <a:spcPct val="0"/>
              </a:spcAft>
              <a:buClrTx/>
              <a:buSzPct val="100000"/>
              <a:buFont typeface="Wingdings" panose="05000000000000000000" pitchFamily="2" charset="2"/>
              <a:buChar char="n"/>
              <a:defRPr/>
            </a:pPr>
            <a:r>
              <a:rPr kumimoji="0" lang="en-US" altLang="zh-CN" sz="2400" b="1" i="0" u="none" strike="noStrike" kern="0" cap="none" spc="0" normalizeH="0" baseline="0" noProof="0" dirty="0">
                <a:ln>
                  <a:noFill/>
                </a:ln>
                <a:solidFill>
                  <a:schemeClr val="tx1"/>
                </a:solidFill>
                <a:effectLst/>
                <a:uLnTx/>
                <a:uFillTx/>
                <a:latin typeface="+mn-lt"/>
                <a:ea typeface="+mn-ea"/>
              </a:rPr>
              <a:t>W(x):</a:t>
            </a:r>
            <a:r>
              <a:rPr kumimoji="0" lang="zh-CN" altLang="en-US" sz="2400" b="1" i="0" u="none" strike="noStrike" kern="0" cap="none" spc="0" normalizeH="0" baseline="0" noProof="0" dirty="0">
                <a:ln>
                  <a:noFill/>
                </a:ln>
                <a:solidFill>
                  <a:schemeClr val="tx1"/>
                </a:solidFill>
                <a:effectLst/>
                <a:uLnTx/>
                <a:uFillTx/>
                <a:latin typeface="+mn-lt"/>
                <a:ea typeface="+mn-ea"/>
              </a:rPr>
              <a:t>写数据</a:t>
            </a:r>
            <a:r>
              <a:rPr kumimoji="0" lang="en-US" altLang="zh-CN" sz="2400" b="1" i="0" u="none" strike="noStrike" kern="0" cap="none" spc="0" normalizeH="0" baseline="0" noProof="0" dirty="0">
                <a:ln>
                  <a:noFill/>
                </a:ln>
                <a:solidFill>
                  <a:schemeClr val="tx1"/>
                </a:solidFill>
                <a:effectLst/>
                <a:uLnTx/>
                <a:uFillTx/>
                <a:latin typeface="+mn-lt"/>
                <a:ea typeface="+mn-ea"/>
              </a:rPr>
              <a:t>x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en-US" altLang="zh-CN" sz="3600" dirty="0"/>
              <a:t>1. </a:t>
            </a:r>
            <a:r>
              <a:rPr lang="zh-CN" altLang="en-US" sz="3600" dirty="0"/>
              <a:t>丢失修改</a:t>
            </a:r>
          </a:p>
        </p:txBody>
      </p:sp>
      <p:sp>
        <p:nvSpPr>
          <p:cNvPr id="15363" name="Rectangle 3"/>
          <p:cNvSpPr>
            <a:spLocks noGrp="1"/>
          </p:cNvSpPr>
          <p:nvPr>
            <p:ph type="body"/>
          </p:nvPr>
        </p:nvSpPr>
        <p:spPr>
          <a:xfrm>
            <a:off x="1604963" y="1619250"/>
            <a:ext cx="8229600" cy="4983163"/>
          </a:xfrm>
        </p:spPr>
        <p:txBody>
          <a:bodyPr vert="horz" wrap="square" lIns="91440" tIns="45720" rIns="91440" bIns="45720" anchor="t" anchorCtr="0"/>
          <a:lstStyle/>
          <a:p>
            <a:pPr algn="just" eaLnBrk="1" hangingPunct="1">
              <a:lnSpc>
                <a:spcPct val="130000"/>
              </a:lnSpc>
            </a:pPr>
            <a:r>
              <a:rPr lang="zh-CN" altLang="en-US" dirty="0"/>
              <a:t>两个事务</a:t>
            </a:r>
            <a:r>
              <a:rPr lang="en-US" altLang="zh-CN" dirty="0"/>
              <a:t>T</a:t>
            </a:r>
            <a:r>
              <a:rPr lang="en-US" altLang="zh-CN" baseline="-25000" dirty="0"/>
              <a:t>1</a:t>
            </a:r>
            <a:r>
              <a:rPr lang="zh-CN" altLang="en-US" dirty="0"/>
              <a:t>和</a:t>
            </a:r>
            <a:r>
              <a:rPr lang="en-US" altLang="zh-CN" dirty="0"/>
              <a:t>T</a:t>
            </a:r>
            <a:r>
              <a:rPr lang="en-US" altLang="zh-CN" baseline="-25000" dirty="0"/>
              <a:t>2</a:t>
            </a:r>
            <a:r>
              <a:rPr lang="zh-CN" altLang="en-US" dirty="0"/>
              <a:t>读入同一数据并修改，</a:t>
            </a:r>
            <a:r>
              <a:rPr lang="en-US" altLang="zh-CN" dirty="0"/>
              <a:t>T</a:t>
            </a:r>
            <a:r>
              <a:rPr lang="en-US" altLang="zh-CN" baseline="-25000" dirty="0"/>
              <a:t>2</a:t>
            </a:r>
            <a:r>
              <a:rPr lang="zh-CN" altLang="en-US" dirty="0"/>
              <a:t>的提交结果破坏了</a:t>
            </a:r>
            <a:r>
              <a:rPr lang="en-US" altLang="zh-CN" dirty="0"/>
              <a:t>T</a:t>
            </a:r>
            <a:r>
              <a:rPr lang="en-US" altLang="zh-CN" baseline="-25000" dirty="0"/>
              <a:t>1</a:t>
            </a:r>
            <a:r>
              <a:rPr lang="zh-CN" altLang="en-US" dirty="0"/>
              <a:t>提交的结果，导致</a:t>
            </a:r>
            <a:r>
              <a:rPr lang="en-US" altLang="zh-CN" dirty="0"/>
              <a:t>T</a:t>
            </a:r>
            <a:r>
              <a:rPr lang="en-US" altLang="zh-CN" baseline="-25000" dirty="0"/>
              <a:t>1</a:t>
            </a:r>
            <a:r>
              <a:rPr lang="zh-CN" altLang="en-US" dirty="0"/>
              <a:t>的修改丢失。</a:t>
            </a:r>
          </a:p>
          <a:p>
            <a:pPr algn="just" eaLnBrk="1" hangingPunct="1">
              <a:lnSpc>
                <a:spcPct val="130000"/>
              </a:lnSpc>
            </a:pPr>
            <a:r>
              <a:rPr lang="zh-CN" altLang="en-US" dirty="0"/>
              <a:t>上面飞机订票例子就属此类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p:cNvSpPr>
          <p:nvPr>
            <p:ph type="title"/>
          </p:nvPr>
        </p:nvSpPr>
        <p:spPr>
          <a:xfrm>
            <a:off x="2438400" y="184150"/>
            <a:ext cx="7391400" cy="563563"/>
          </a:xfrm>
        </p:spPr>
        <p:txBody>
          <a:bodyPr vert="horz" wrap="square" lIns="91440" tIns="45720" rIns="91440" bIns="45720" anchor="ctr" anchorCtr="0"/>
          <a:lstStyle/>
          <a:p>
            <a:pPr eaLnBrk="1" hangingPunct="1"/>
            <a:r>
              <a:rPr lang="zh-CN" altLang="zh-CN" sz="3600" dirty="0"/>
              <a:t>丢失修改（续）</a:t>
            </a:r>
          </a:p>
        </p:txBody>
      </p:sp>
      <p:graphicFrame>
        <p:nvGraphicFramePr>
          <p:cNvPr id="14339" name="Group 3"/>
          <p:cNvGraphicFramePr>
            <a:graphicFrameLocks noGrp="1"/>
          </p:cNvGraphicFramePr>
          <p:nvPr>
            <p:ph idx="1"/>
          </p:nvPr>
        </p:nvGraphicFramePr>
        <p:xfrm>
          <a:off x="3143250" y="1268413"/>
          <a:ext cx="5473700" cy="4727575"/>
        </p:xfrm>
        <a:graphic>
          <a:graphicData uri="http://schemas.openxmlformats.org/drawingml/2006/table">
            <a:tbl>
              <a:tblPr/>
              <a:tblGrid>
                <a:gridCol w="2627313">
                  <a:extLst>
                    <a:ext uri="{9D8B030D-6E8A-4147-A177-3AD203B41FA5}">
                      <a16:colId xmlns:a16="http://schemas.microsoft.com/office/drawing/2014/main" val="20000"/>
                    </a:ext>
                  </a:extLst>
                </a:gridCol>
                <a:gridCol w="2846387">
                  <a:extLst>
                    <a:ext uri="{9D8B030D-6E8A-4147-A177-3AD203B41FA5}">
                      <a16:colId xmlns:a16="http://schemas.microsoft.com/office/drawing/2014/main" val="20001"/>
                    </a:ext>
                  </a:extLst>
                </a:gridCol>
              </a:tblGrid>
              <a:tr h="460314">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en-US" sz="22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en-US" sz="22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426726">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①     R(A)=16</a:t>
                      </a:r>
                      <a:endParaRPr kumimoji="0" 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r h="426726">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2"/>
                  </a:ext>
                </a:extLst>
              </a:tr>
              <a:tr h="426726">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②</a:t>
                      </a:r>
                      <a:endParaRPr kumimoji="0" lang="en-US"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R(A)=16</a:t>
                      </a:r>
                      <a:endParaRPr kumimoji="0" 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3"/>
                  </a:ext>
                </a:extLst>
              </a:tr>
              <a:tr h="426726">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4"/>
                  </a:ext>
                </a:extLst>
              </a:tr>
              <a:tr h="426726">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③     A←A-1</a:t>
                      </a:r>
                      <a:endParaRPr kumimoji="0" lang="en-US"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5"/>
                  </a:ext>
                </a:extLst>
              </a:tr>
              <a:tr h="426726">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W(A)=15</a:t>
                      </a:r>
                      <a:endParaRPr kumimoji="0" 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6"/>
                  </a:ext>
                </a:extLst>
              </a:tr>
              <a:tr h="426726">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7"/>
                  </a:ext>
                </a:extLst>
              </a:tr>
              <a:tr h="426726">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④</a:t>
                      </a:r>
                      <a:endParaRPr kumimoji="0" 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A←A-1</a:t>
                      </a:r>
                      <a:endParaRPr kumimoji="0" 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8"/>
                  </a:ext>
                </a:extLst>
              </a:tr>
              <a:tr h="426726">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W(A)=15</a:t>
                      </a:r>
                      <a:endParaRPr kumimoji="0" 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9"/>
                  </a:ext>
                </a:extLst>
              </a:tr>
              <a:tr h="426726">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0"/>
                  </a:ext>
                </a:extLst>
              </a:tr>
            </a:tbl>
          </a:graphicData>
        </a:graphic>
      </p:graphicFrame>
      <p:sp>
        <p:nvSpPr>
          <p:cNvPr id="16424" name="Text Box 185"/>
          <p:cNvSpPr txBox="1"/>
          <p:nvPr/>
        </p:nvSpPr>
        <p:spPr>
          <a:xfrm>
            <a:off x="5154613" y="6021388"/>
            <a:ext cx="1114425" cy="3698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None/>
            </a:pPr>
            <a:r>
              <a:rPr lang="zh-CN" altLang="zh-CN" sz="1800" dirty="0">
                <a:latin typeface="Times New Roman" panose="02020603050405020304" pitchFamily="18" charset="0"/>
              </a:rPr>
              <a:t>丢失修改</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a:xfrm>
            <a:off x="2438400" y="193675"/>
            <a:ext cx="7391400" cy="563563"/>
          </a:xfrm>
        </p:spPr>
        <p:txBody>
          <a:bodyPr vert="horz" wrap="square" lIns="91440" tIns="45720" rIns="91440" bIns="45720" anchor="ctr" anchorCtr="0"/>
          <a:lstStyle/>
          <a:p>
            <a:pPr eaLnBrk="1" hangingPunct="1"/>
            <a:r>
              <a:rPr lang="en-US" altLang="zh-CN" sz="3600" dirty="0"/>
              <a:t>2. </a:t>
            </a:r>
            <a:r>
              <a:rPr lang="zh-CN" altLang="en-US" sz="3600" dirty="0"/>
              <a:t>脏读（</a:t>
            </a:r>
            <a:r>
              <a:rPr lang="en-US" altLang="zh-CN" sz="3600" dirty="0"/>
              <a:t>dirty read</a:t>
            </a:r>
            <a:r>
              <a:rPr lang="zh-CN" altLang="en-US" sz="3600" dirty="0"/>
              <a:t>）</a:t>
            </a:r>
          </a:p>
        </p:txBody>
      </p:sp>
      <p:sp>
        <p:nvSpPr>
          <p:cNvPr id="17411" name="Rectangle 3"/>
          <p:cNvSpPr>
            <a:spLocks noGrp="1"/>
          </p:cNvSpPr>
          <p:nvPr>
            <p:ph type="body"/>
          </p:nvPr>
        </p:nvSpPr>
        <p:spPr>
          <a:xfrm>
            <a:off x="1416050" y="1268413"/>
            <a:ext cx="8229600" cy="4495800"/>
          </a:xfrm>
        </p:spPr>
        <p:txBody>
          <a:bodyPr vert="horz" wrap="square" lIns="91440" tIns="45720" rIns="91440" bIns="45720" anchor="t" anchorCtr="0"/>
          <a:lstStyle/>
          <a:p>
            <a:pPr algn="just" eaLnBrk="1" hangingPunct="1">
              <a:lnSpc>
                <a:spcPct val="160000"/>
              </a:lnSpc>
              <a:buNone/>
            </a:pPr>
            <a:r>
              <a:rPr lang="en-US" altLang="zh-CN" dirty="0"/>
              <a:t>   </a:t>
            </a:r>
            <a:r>
              <a:rPr lang="zh-CN" altLang="en-US" dirty="0"/>
              <a:t>也称读“脏”数据：</a:t>
            </a:r>
          </a:p>
          <a:p>
            <a:pPr lvl="1" algn="just" eaLnBrk="1" hangingPunct="1">
              <a:lnSpc>
                <a:spcPct val="160000"/>
              </a:lnSpc>
            </a:pPr>
            <a:r>
              <a:rPr lang="zh-CN" altLang="en-US" dirty="0"/>
              <a:t>事务</a:t>
            </a:r>
            <a:r>
              <a:rPr lang="en-US" altLang="zh-CN" dirty="0"/>
              <a:t>T</a:t>
            </a:r>
            <a:r>
              <a:rPr lang="en-US" altLang="zh-CN" baseline="-25000" dirty="0"/>
              <a:t>1</a:t>
            </a:r>
            <a:r>
              <a:rPr lang="zh-CN" altLang="en-US" dirty="0"/>
              <a:t>修改某一数据，并将其写回磁盘</a:t>
            </a:r>
          </a:p>
          <a:p>
            <a:pPr lvl="1" algn="just" eaLnBrk="1" hangingPunct="1">
              <a:lnSpc>
                <a:spcPct val="160000"/>
              </a:lnSpc>
            </a:pPr>
            <a:r>
              <a:rPr lang="zh-CN" altLang="en-US" dirty="0"/>
              <a:t>事务</a:t>
            </a:r>
            <a:r>
              <a:rPr lang="en-US" altLang="zh-CN" dirty="0"/>
              <a:t>T</a:t>
            </a:r>
            <a:r>
              <a:rPr lang="en-US" altLang="zh-CN" baseline="-25000" dirty="0"/>
              <a:t>2</a:t>
            </a:r>
            <a:r>
              <a:rPr lang="zh-CN" altLang="en-US" dirty="0"/>
              <a:t>读取同一数据后，</a:t>
            </a:r>
            <a:r>
              <a:rPr lang="en-US" altLang="zh-CN" dirty="0"/>
              <a:t>T</a:t>
            </a:r>
            <a:r>
              <a:rPr lang="en-US" altLang="zh-CN" baseline="-25000" dirty="0"/>
              <a:t>1</a:t>
            </a:r>
            <a:r>
              <a:rPr lang="zh-CN" altLang="en-US" dirty="0"/>
              <a:t>由于某种原因被撤销</a:t>
            </a:r>
          </a:p>
          <a:p>
            <a:pPr lvl="1" algn="just" eaLnBrk="1" hangingPunct="1">
              <a:lnSpc>
                <a:spcPct val="160000"/>
              </a:lnSpc>
            </a:pPr>
            <a:r>
              <a:rPr lang="zh-CN" altLang="en-US" dirty="0"/>
              <a:t>这时</a:t>
            </a:r>
            <a:r>
              <a:rPr lang="en-US" altLang="zh-CN" dirty="0"/>
              <a:t>T</a:t>
            </a:r>
            <a:r>
              <a:rPr lang="en-US" altLang="zh-CN" baseline="-25000" dirty="0"/>
              <a:t>1</a:t>
            </a:r>
            <a:r>
              <a:rPr lang="zh-CN" altLang="en-US" dirty="0"/>
              <a:t>已修改过的数据恢复原值，</a:t>
            </a:r>
            <a:r>
              <a:rPr lang="en-US" altLang="zh-CN" dirty="0"/>
              <a:t>T</a:t>
            </a:r>
            <a:r>
              <a:rPr lang="en-US" altLang="zh-CN" baseline="-25000" dirty="0"/>
              <a:t>2</a:t>
            </a:r>
            <a:r>
              <a:rPr lang="zh-CN" altLang="en-US" dirty="0"/>
              <a:t>读到的数据就与数据库中的数据不一致</a:t>
            </a:r>
          </a:p>
          <a:p>
            <a:pPr lvl="1" algn="just" eaLnBrk="1" hangingPunct="1">
              <a:lnSpc>
                <a:spcPct val="160000"/>
              </a:lnSpc>
            </a:pPr>
            <a:r>
              <a:rPr lang="en-US" altLang="zh-CN" dirty="0"/>
              <a:t>T</a:t>
            </a:r>
            <a:r>
              <a:rPr lang="en-US" altLang="zh-CN" baseline="-25000" dirty="0"/>
              <a:t>2</a:t>
            </a:r>
            <a:r>
              <a:rPr lang="zh-CN" altLang="en-US" dirty="0"/>
              <a:t>读到的数据就为“脏”数据，即不正确的数据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读“脏”数据（续）</a:t>
            </a:r>
          </a:p>
        </p:txBody>
      </p:sp>
      <p:graphicFrame>
        <p:nvGraphicFramePr>
          <p:cNvPr id="20483" name="Group 3"/>
          <p:cNvGraphicFramePr>
            <a:graphicFrameLocks noGrp="1"/>
          </p:cNvGraphicFramePr>
          <p:nvPr>
            <p:ph idx="1"/>
          </p:nvPr>
        </p:nvGraphicFramePr>
        <p:xfrm>
          <a:off x="1630363" y="1257300"/>
          <a:ext cx="4103688" cy="4545014"/>
        </p:xfrm>
        <a:graphic>
          <a:graphicData uri="http://schemas.openxmlformats.org/drawingml/2006/table">
            <a:tbl>
              <a:tblPr/>
              <a:tblGrid>
                <a:gridCol w="2303611">
                  <a:extLst>
                    <a:ext uri="{9D8B030D-6E8A-4147-A177-3AD203B41FA5}">
                      <a16:colId xmlns:a16="http://schemas.microsoft.com/office/drawing/2014/main" val="20000"/>
                    </a:ext>
                  </a:extLst>
                </a:gridCol>
                <a:gridCol w="1800076">
                  <a:extLst>
                    <a:ext uri="{9D8B030D-6E8A-4147-A177-3AD203B41FA5}">
                      <a16:colId xmlns:a16="http://schemas.microsoft.com/office/drawing/2014/main" val="20001"/>
                    </a:ext>
                  </a:extLst>
                </a:gridCol>
              </a:tblGrid>
              <a:tr h="460407">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en-US" sz="22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en-US" sz="22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426750">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①  R(C)=100</a:t>
                      </a:r>
                      <a:endParaRPr kumimoji="0" lang="en-US"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r h="426750">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C←C*2</a:t>
                      </a:r>
                      <a:endParaRPr kumimoji="0" lang="en-US"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2"/>
                  </a:ext>
                </a:extLst>
              </a:tr>
              <a:tr h="426750">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W(C)=200</a:t>
                      </a:r>
                      <a:endParaRPr kumimoji="0" 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3"/>
                  </a:ext>
                </a:extLst>
              </a:tr>
              <a:tr h="426750">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②</a:t>
                      </a:r>
                      <a:endParaRPr kumimoji="0" 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R(C)=200</a:t>
                      </a:r>
                      <a:endParaRPr kumimoji="0" 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4"/>
                  </a:ext>
                </a:extLst>
              </a:tr>
              <a:tr h="4267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5"/>
                  </a:ext>
                </a:extLst>
              </a:tr>
              <a:tr h="4267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6"/>
                  </a:ext>
                </a:extLst>
              </a:tr>
              <a:tr h="1097357">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③  ROLLBACK</a:t>
                      </a:r>
                      <a:endParaRPr kumimoji="0" lang="en-US"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7"/>
                  </a:ext>
                </a:extLst>
              </a:tr>
              <a:tr h="426750">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C</a:t>
                      </a:r>
                      <a:r>
                        <a:rPr kumimoji="0"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恢复为</a:t>
                      </a: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100</a:t>
                      </a:r>
                      <a:endParaRPr kumimoji="0" lang="en-US"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8"/>
                  </a:ext>
                </a:extLst>
              </a:tr>
            </a:tbl>
          </a:graphicData>
        </a:graphic>
      </p:graphicFrame>
      <p:sp>
        <p:nvSpPr>
          <p:cNvPr id="18466" name="Text Box 177"/>
          <p:cNvSpPr txBox="1"/>
          <p:nvPr/>
        </p:nvSpPr>
        <p:spPr>
          <a:xfrm>
            <a:off x="1557338" y="825500"/>
            <a:ext cx="1365250" cy="45720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spcBef>
                <a:spcPct val="0"/>
              </a:spcBef>
              <a:buNone/>
            </a:pPr>
            <a:r>
              <a:rPr lang="zh-CN" altLang="zh-CN" sz="2400" dirty="0">
                <a:latin typeface="Times New Roman" panose="02020603050405020304" pitchFamily="18" charset="0"/>
              </a:rPr>
              <a:t>例如</a:t>
            </a:r>
          </a:p>
        </p:txBody>
      </p:sp>
      <p:sp>
        <p:nvSpPr>
          <p:cNvPr id="18467" name="Rectangle 178"/>
          <p:cNvSpPr/>
          <p:nvPr/>
        </p:nvSpPr>
        <p:spPr>
          <a:xfrm>
            <a:off x="2995613" y="6080125"/>
            <a:ext cx="1636712" cy="369888"/>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None/>
            </a:pPr>
            <a:r>
              <a:rPr lang="zh-CN" altLang="zh-CN" sz="1800" dirty="0">
                <a:latin typeface="Times New Roman" panose="02020603050405020304" pitchFamily="18" charset="0"/>
              </a:rPr>
              <a:t>读“脏”数据 </a:t>
            </a:r>
          </a:p>
        </p:txBody>
      </p:sp>
      <p:sp>
        <p:nvSpPr>
          <p:cNvPr id="18468" name="Text Box 180"/>
          <p:cNvSpPr txBox="1"/>
          <p:nvPr/>
        </p:nvSpPr>
        <p:spPr>
          <a:xfrm>
            <a:off x="7104063" y="2565400"/>
            <a:ext cx="2611437" cy="366713"/>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None/>
            </a:pPr>
            <a:endParaRPr lang="zh-CN" altLang="zh-CN" sz="1800" dirty="0">
              <a:latin typeface="Times New Roman" panose="02020603050405020304" pitchFamily="18" charset="0"/>
            </a:endParaRPr>
          </a:p>
        </p:txBody>
      </p:sp>
      <p:sp>
        <p:nvSpPr>
          <p:cNvPr id="18469" name="Text Box 181"/>
          <p:cNvSpPr txBox="1"/>
          <p:nvPr/>
        </p:nvSpPr>
        <p:spPr>
          <a:xfrm>
            <a:off x="8040688" y="2425700"/>
            <a:ext cx="19431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None/>
            </a:pPr>
            <a:endParaRPr lang="zh-CN" altLang="zh-CN" sz="1800" dirty="0">
              <a:latin typeface="Times New Roman" panose="02020603050405020304" pitchFamily="18" charset="0"/>
            </a:endParaRPr>
          </a:p>
        </p:txBody>
      </p:sp>
      <p:sp>
        <p:nvSpPr>
          <p:cNvPr id="18470" name="Text Box 182"/>
          <p:cNvSpPr txBox="1"/>
          <p:nvPr/>
        </p:nvSpPr>
        <p:spPr>
          <a:xfrm>
            <a:off x="6440488" y="1752600"/>
            <a:ext cx="4105275" cy="335280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lnSpc>
                <a:spcPct val="140000"/>
              </a:lnSpc>
              <a:spcBef>
                <a:spcPct val="0"/>
              </a:spcBef>
              <a:buSzPct val="85000"/>
              <a:buFont typeface="Wingdings" panose="05000000000000000000" pitchFamily="2" charset="2"/>
              <a:buChar char="n"/>
            </a:pP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1</a:t>
            </a:r>
            <a:r>
              <a:rPr lang="zh-CN" altLang="en-US" sz="2200" dirty="0">
                <a:latin typeface="Times New Roman" panose="02020603050405020304" pitchFamily="18" charset="0"/>
              </a:rPr>
              <a:t>将</a:t>
            </a:r>
            <a:r>
              <a:rPr lang="en-US" altLang="zh-CN" sz="2200" dirty="0">
                <a:latin typeface="Times New Roman" panose="02020603050405020304" pitchFamily="18" charset="0"/>
              </a:rPr>
              <a:t>C</a:t>
            </a:r>
            <a:r>
              <a:rPr lang="zh-CN" altLang="en-US" sz="2200" dirty="0">
                <a:latin typeface="Times New Roman" panose="02020603050405020304" pitchFamily="18" charset="0"/>
              </a:rPr>
              <a:t>值修改为</a:t>
            </a:r>
            <a:r>
              <a:rPr lang="en-US" altLang="zh-CN" sz="2200" dirty="0">
                <a:latin typeface="Times New Roman" panose="02020603050405020304" pitchFamily="18" charset="0"/>
              </a:rPr>
              <a:t>200</a:t>
            </a:r>
            <a:r>
              <a:rPr lang="zh-CN" altLang="en-US" sz="2200" dirty="0">
                <a:latin typeface="Times New Roman" panose="02020603050405020304" pitchFamily="18" charset="0"/>
              </a:rPr>
              <a:t>，</a:t>
            </a: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2</a:t>
            </a:r>
            <a:r>
              <a:rPr lang="zh-CN" altLang="en-US" sz="2200" dirty="0">
                <a:latin typeface="Times New Roman" panose="02020603050405020304" pitchFamily="18" charset="0"/>
              </a:rPr>
              <a:t>读到</a:t>
            </a:r>
            <a:r>
              <a:rPr lang="en-US" altLang="zh-CN" sz="2200" dirty="0">
                <a:latin typeface="Times New Roman" panose="02020603050405020304" pitchFamily="18" charset="0"/>
              </a:rPr>
              <a:t>C</a:t>
            </a:r>
            <a:r>
              <a:rPr lang="zh-CN" altLang="en-US" sz="2200" dirty="0">
                <a:latin typeface="Times New Roman" panose="02020603050405020304" pitchFamily="18" charset="0"/>
              </a:rPr>
              <a:t>为</a:t>
            </a:r>
            <a:r>
              <a:rPr lang="en-US" altLang="zh-CN" sz="2200" dirty="0">
                <a:latin typeface="Times New Roman" panose="02020603050405020304" pitchFamily="18" charset="0"/>
              </a:rPr>
              <a:t>200</a:t>
            </a:r>
          </a:p>
          <a:p>
            <a:pPr marL="342900" lvl="0" indent="-342900" eaLnBrk="1" hangingPunct="1">
              <a:lnSpc>
                <a:spcPct val="140000"/>
              </a:lnSpc>
              <a:spcBef>
                <a:spcPct val="0"/>
              </a:spcBef>
              <a:buSzPct val="85000"/>
              <a:buFont typeface="Wingdings" panose="05000000000000000000" pitchFamily="2" charset="2"/>
              <a:buChar char="n"/>
            </a:pP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1</a:t>
            </a:r>
            <a:r>
              <a:rPr lang="zh-CN" altLang="en-US" sz="2200" dirty="0">
                <a:latin typeface="Times New Roman" panose="02020603050405020304" pitchFamily="18" charset="0"/>
              </a:rPr>
              <a:t>由于某种原因撤销，其修改作废，</a:t>
            </a:r>
            <a:r>
              <a:rPr lang="en-US" altLang="zh-CN" sz="2200" dirty="0">
                <a:latin typeface="Times New Roman" panose="02020603050405020304" pitchFamily="18" charset="0"/>
              </a:rPr>
              <a:t>C</a:t>
            </a:r>
            <a:r>
              <a:rPr lang="zh-CN" altLang="en-US" sz="2200" dirty="0">
                <a:latin typeface="Times New Roman" panose="02020603050405020304" pitchFamily="18" charset="0"/>
              </a:rPr>
              <a:t>恢复原值</a:t>
            </a:r>
            <a:r>
              <a:rPr lang="en-US" altLang="zh-CN" sz="2200" dirty="0">
                <a:latin typeface="Times New Roman" panose="02020603050405020304" pitchFamily="18" charset="0"/>
              </a:rPr>
              <a:t>100</a:t>
            </a:r>
          </a:p>
          <a:p>
            <a:pPr marL="342900" lvl="0" indent="-342900" eaLnBrk="1" hangingPunct="1">
              <a:lnSpc>
                <a:spcPct val="140000"/>
              </a:lnSpc>
              <a:spcBef>
                <a:spcPct val="0"/>
              </a:spcBef>
              <a:buSzPct val="85000"/>
              <a:buFont typeface="Wingdings" panose="05000000000000000000" pitchFamily="2" charset="2"/>
              <a:buChar char="n"/>
            </a:pPr>
            <a:r>
              <a:rPr lang="zh-CN" altLang="en-US" sz="2200" dirty="0">
                <a:latin typeface="Times New Roman" panose="02020603050405020304" pitchFamily="18" charset="0"/>
              </a:rPr>
              <a:t>这时</a:t>
            </a: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2</a:t>
            </a:r>
            <a:r>
              <a:rPr lang="zh-CN" altLang="en-US" sz="2200" dirty="0">
                <a:latin typeface="Times New Roman" panose="02020603050405020304" pitchFamily="18" charset="0"/>
              </a:rPr>
              <a:t>读到的</a:t>
            </a:r>
            <a:r>
              <a:rPr lang="en-US" altLang="zh-CN" sz="2200" dirty="0">
                <a:latin typeface="Times New Roman" panose="02020603050405020304" pitchFamily="18" charset="0"/>
              </a:rPr>
              <a:t>C</a:t>
            </a:r>
            <a:r>
              <a:rPr lang="zh-CN" altLang="en-US" sz="2200" dirty="0">
                <a:latin typeface="Times New Roman" panose="02020603050405020304" pitchFamily="18" charset="0"/>
              </a:rPr>
              <a:t>为</a:t>
            </a:r>
            <a:r>
              <a:rPr lang="en-US" altLang="zh-CN" sz="2200" dirty="0">
                <a:latin typeface="Times New Roman" panose="02020603050405020304" pitchFamily="18" charset="0"/>
              </a:rPr>
              <a:t>200</a:t>
            </a:r>
            <a:r>
              <a:rPr lang="zh-CN" altLang="en-US" sz="2200" dirty="0">
                <a:latin typeface="Times New Roman" panose="02020603050405020304" pitchFamily="18" charset="0"/>
              </a:rPr>
              <a:t>，与数据库内容不一致，就是“脏”数据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a:xfrm>
            <a:off x="2438400" y="255588"/>
            <a:ext cx="8121650" cy="563562"/>
          </a:xfrm>
        </p:spPr>
        <p:txBody>
          <a:bodyPr vert="horz" wrap="square" lIns="90170" tIns="46990" rIns="90170" bIns="46990" anchor="ctr" anchorCtr="0"/>
          <a:lstStyle/>
          <a:p>
            <a:pPr eaLnBrk="1" hangingPunct="1"/>
            <a:r>
              <a:rPr lang="en-US" altLang="zh-CN" sz="3600" dirty="0"/>
              <a:t>3. </a:t>
            </a:r>
            <a:r>
              <a:rPr lang="zh-CN" altLang="en-US" sz="3600" dirty="0"/>
              <a:t>不可重复读（</a:t>
            </a:r>
            <a:r>
              <a:rPr lang="en-US" altLang="zh-CN" sz="3600" dirty="0"/>
              <a:t>non-repeatable read</a:t>
            </a:r>
            <a:r>
              <a:rPr lang="zh-CN" altLang="en-US" sz="3600" dirty="0"/>
              <a:t>）</a:t>
            </a:r>
          </a:p>
        </p:txBody>
      </p:sp>
      <p:sp>
        <p:nvSpPr>
          <p:cNvPr id="19459" name="Rectangle 3"/>
          <p:cNvSpPr>
            <a:spLocks noGrp="1"/>
          </p:cNvSpPr>
          <p:nvPr>
            <p:ph type="body"/>
          </p:nvPr>
        </p:nvSpPr>
        <p:spPr>
          <a:xfrm>
            <a:off x="1631950" y="1412875"/>
            <a:ext cx="8567738" cy="5056188"/>
          </a:xfrm>
        </p:spPr>
        <p:txBody>
          <a:bodyPr vert="horz" wrap="square" lIns="91440" tIns="45720" rIns="91440" bIns="45720" anchor="t" anchorCtr="0"/>
          <a:lstStyle/>
          <a:p>
            <a:pPr algn="just" eaLnBrk="1" hangingPunct="1">
              <a:lnSpc>
                <a:spcPct val="130000"/>
              </a:lnSpc>
            </a:pPr>
            <a:r>
              <a:rPr lang="zh-CN" altLang="en-US" dirty="0"/>
              <a:t>不可重复读是指事务</a:t>
            </a:r>
            <a:r>
              <a:rPr lang="en-US" altLang="zh-CN" dirty="0"/>
              <a:t>T</a:t>
            </a:r>
            <a:r>
              <a:rPr lang="en-US" altLang="zh-CN" baseline="-25000" dirty="0"/>
              <a:t>1</a:t>
            </a:r>
            <a:r>
              <a:rPr lang="zh-CN" altLang="en-US" dirty="0"/>
              <a:t>读取数据后，事务</a:t>
            </a:r>
            <a:r>
              <a:rPr lang="en-US" altLang="zh-CN" dirty="0"/>
              <a:t>T</a:t>
            </a:r>
            <a:r>
              <a:rPr lang="en-US" altLang="zh-CN" baseline="-25000" dirty="0"/>
              <a:t>2</a:t>
            </a:r>
          </a:p>
          <a:p>
            <a:pPr algn="just" eaLnBrk="1" hangingPunct="1">
              <a:lnSpc>
                <a:spcPct val="130000"/>
              </a:lnSpc>
              <a:buNone/>
            </a:pPr>
            <a:r>
              <a:rPr lang="en-US" altLang="zh-CN" dirty="0"/>
              <a:t>    </a:t>
            </a:r>
            <a:r>
              <a:rPr lang="zh-CN" altLang="en-US" dirty="0"/>
              <a:t>执行更新操作，使</a:t>
            </a:r>
            <a:r>
              <a:rPr lang="en-US" altLang="zh-CN" dirty="0"/>
              <a:t>T</a:t>
            </a:r>
            <a:r>
              <a:rPr lang="en-US" altLang="zh-CN" baseline="-25000" dirty="0"/>
              <a:t>1</a:t>
            </a:r>
            <a:r>
              <a:rPr lang="zh-CN" altLang="en-US" dirty="0"/>
              <a:t>无法再现前一次读取结果。</a:t>
            </a:r>
            <a:endParaRPr lang="en-US" altLang="zh-CN" dirty="0"/>
          </a:p>
          <a:p>
            <a:pPr algn="just" eaLnBrk="1" hangingPunct="1">
              <a:lnSpc>
                <a:spcPct val="130000"/>
              </a:lnSpc>
              <a:buNone/>
            </a:pPr>
            <a:endParaRPr lang="en-US" altLang="zh-CN" dirty="0"/>
          </a:p>
          <a:p>
            <a:pPr algn="just" eaLnBrk="1" hangingPunct="1">
              <a:lnSpc>
                <a:spcPct val="130000"/>
              </a:lnSpc>
            </a:pPr>
            <a:r>
              <a:rPr lang="zh-CN" altLang="en-US" dirty="0"/>
              <a:t>事务</a:t>
            </a:r>
            <a:r>
              <a:rPr lang="en-US" altLang="zh-CN" dirty="0"/>
              <a:t>T</a:t>
            </a:r>
            <a:r>
              <a:rPr lang="en-US" altLang="zh-CN" baseline="-25000" dirty="0"/>
              <a:t>1</a:t>
            </a:r>
            <a:r>
              <a:rPr lang="zh-CN" altLang="en-US" dirty="0"/>
              <a:t>读取某一数据后，事务</a:t>
            </a:r>
            <a:r>
              <a:rPr lang="en-US" altLang="zh-CN" dirty="0"/>
              <a:t>T</a:t>
            </a:r>
            <a:r>
              <a:rPr lang="en-US" altLang="zh-CN" baseline="-25000" dirty="0"/>
              <a:t>2</a:t>
            </a:r>
            <a:r>
              <a:rPr lang="zh-CN" altLang="en-US" dirty="0"/>
              <a:t>对其做了修改，当事务</a:t>
            </a:r>
            <a:r>
              <a:rPr lang="en-US" altLang="zh-CN" dirty="0"/>
              <a:t>T</a:t>
            </a:r>
            <a:r>
              <a:rPr lang="en-US" altLang="zh-CN" baseline="-25000" dirty="0"/>
              <a:t>1</a:t>
            </a:r>
            <a:r>
              <a:rPr lang="zh-CN" altLang="en-US" dirty="0"/>
              <a:t>再次读该数据时，得到与前一次不同的值 </a:t>
            </a:r>
          </a:p>
          <a:p>
            <a:pPr algn="just" eaLnBrk="1" hangingPunct="1">
              <a:lnSpc>
                <a:spcPct val="130000"/>
              </a:lnSpc>
              <a:buNone/>
            </a:pPr>
            <a:endParaRPr lang="zh-CN" altLang="en-US" sz="3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不可重复读（续）</a:t>
            </a:r>
          </a:p>
        </p:txBody>
      </p:sp>
      <p:sp>
        <p:nvSpPr>
          <p:cNvPr id="20483" name="Rectangle 3"/>
          <p:cNvSpPr>
            <a:spLocks noGrp="1"/>
          </p:cNvSpPr>
          <p:nvPr>
            <p:ph type="body" sz="half"/>
          </p:nvPr>
        </p:nvSpPr>
        <p:spPr>
          <a:xfrm>
            <a:off x="6383338" y="1700213"/>
            <a:ext cx="4038600" cy="4495800"/>
          </a:xfrm>
        </p:spPr>
        <p:txBody>
          <a:bodyPr vert="horz" wrap="square" lIns="91440" tIns="45720" rIns="91440" bIns="45720" anchor="t" anchorCtr="0"/>
          <a:lstStyle>
            <a:lvl1pPr lvl="0">
              <a:buClrTx/>
              <a:buSzPct val="100000"/>
              <a:buFont typeface="Wingdings" panose="05000000000000000000" pitchFamily="2" charset="2"/>
              <a:defRPr sz="2400"/>
            </a:lvl1pPr>
            <a:lvl2pPr lvl="1">
              <a:buClrTx/>
              <a:buSzPct val="100000"/>
              <a:buFont typeface="Wingdings" panose="05000000000000000000" pitchFamily="2" charset="2"/>
              <a:defRPr sz="2000"/>
            </a:lvl2pPr>
            <a:lvl3pPr lvl="2">
              <a:buClrTx/>
              <a:buSzTx/>
              <a:buFont typeface="Arial" panose="020B0604020202020204" pitchFamily="34" charset="0"/>
              <a:defRPr sz="1800"/>
            </a:lvl3pPr>
            <a:lvl4pPr lvl="3">
              <a:buClrTx/>
              <a:buSzTx/>
              <a:buFont typeface="Arial" panose="020B0604020202020204" pitchFamily="34" charset="0"/>
              <a:defRPr sz="1800"/>
            </a:lvl4pPr>
            <a:lvl5pPr lvl="4">
              <a:buClrTx/>
              <a:buSzTx/>
              <a:buFont typeface="Arial" panose="020B0604020202020204" pitchFamily="34" charset="0"/>
              <a:defRPr sz="1800"/>
            </a:lvl5pPr>
          </a:lstStyle>
          <a:p>
            <a:pPr lvl="0" eaLnBrk="1" hangingPunct="1">
              <a:lnSpc>
                <a:spcPct val="140000"/>
              </a:lnSpc>
              <a:buFont typeface="Wingdings" panose="05000000000000000000" pitchFamily="2" charset="2"/>
              <a:buChar char="n"/>
            </a:pPr>
            <a:r>
              <a:rPr lang="en-US" altLang="zh-CN" sz="2200" dirty="0"/>
              <a:t>T</a:t>
            </a:r>
            <a:r>
              <a:rPr lang="en-US" altLang="zh-CN" sz="2200" baseline="-25000" dirty="0"/>
              <a:t>1</a:t>
            </a:r>
            <a:r>
              <a:rPr lang="zh-CN" altLang="en-US" sz="2200" dirty="0"/>
              <a:t>读取</a:t>
            </a:r>
            <a:r>
              <a:rPr lang="en-US" altLang="zh-CN" sz="2200" dirty="0"/>
              <a:t>B=100</a:t>
            </a:r>
            <a:r>
              <a:rPr lang="zh-CN" altLang="en-US" sz="2200" dirty="0"/>
              <a:t>进行运算</a:t>
            </a:r>
          </a:p>
          <a:p>
            <a:pPr lvl="0" eaLnBrk="1" hangingPunct="1">
              <a:lnSpc>
                <a:spcPct val="140000"/>
              </a:lnSpc>
              <a:buFont typeface="Wingdings" panose="05000000000000000000" pitchFamily="2" charset="2"/>
              <a:buChar char="n"/>
            </a:pPr>
            <a:r>
              <a:rPr lang="en-US" altLang="zh-CN" sz="2200" dirty="0"/>
              <a:t>T</a:t>
            </a:r>
            <a:r>
              <a:rPr lang="en-US" altLang="zh-CN" sz="2200" baseline="-25000" dirty="0"/>
              <a:t>2</a:t>
            </a:r>
            <a:r>
              <a:rPr lang="zh-CN" altLang="en-US" sz="2200" dirty="0"/>
              <a:t>读取同一数据</a:t>
            </a:r>
            <a:r>
              <a:rPr lang="en-US" altLang="zh-CN" sz="2200" dirty="0"/>
              <a:t>B</a:t>
            </a:r>
            <a:r>
              <a:rPr lang="zh-CN" altLang="en-US" sz="2200" dirty="0"/>
              <a:t>，对其进行修改后将</a:t>
            </a:r>
            <a:r>
              <a:rPr lang="en-US" altLang="zh-CN" sz="2200" dirty="0"/>
              <a:t>B=200</a:t>
            </a:r>
            <a:r>
              <a:rPr lang="zh-CN" altLang="en-US" sz="2200" dirty="0"/>
              <a:t>写回数据库。</a:t>
            </a:r>
          </a:p>
          <a:p>
            <a:pPr lvl="0" eaLnBrk="1" hangingPunct="1">
              <a:lnSpc>
                <a:spcPct val="140000"/>
              </a:lnSpc>
              <a:buFont typeface="Wingdings" panose="05000000000000000000" pitchFamily="2" charset="2"/>
              <a:buChar char="n"/>
            </a:pPr>
            <a:r>
              <a:rPr lang="en-US" altLang="zh-CN" sz="2200" dirty="0"/>
              <a:t>T</a:t>
            </a:r>
            <a:r>
              <a:rPr lang="en-US" altLang="zh-CN" sz="2200" baseline="-25000" dirty="0"/>
              <a:t>1</a:t>
            </a:r>
            <a:r>
              <a:rPr lang="zh-CN" altLang="en-US" sz="2200" dirty="0"/>
              <a:t>为了对读取值校对重读</a:t>
            </a:r>
            <a:r>
              <a:rPr lang="en-US" altLang="zh-CN" sz="2200" dirty="0"/>
              <a:t>B</a:t>
            </a:r>
            <a:r>
              <a:rPr lang="zh-CN" altLang="en-US" sz="2200" dirty="0"/>
              <a:t>，</a:t>
            </a:r>
            <a:r>
              <a:rPr lang="en-US" altLang="zh-CN" sz="2200" dirty="0"/>
              <a:t>B</a:t>
            </a:r>
            <a:r>
              <a:rPr lang="zh-CN" altLang="en-US" sz="2200" dirty="0"/>
              <a:t>已为</a:t>
            </a:r>
            <a:r>
              <a:rPr lang="en-US" altLang="zh-CN" sz="2200" dirty="0"/>
              <a:t>200</a:t>
            </a:r>
            <a:r>
              <a:rPr lang="zh-CN" altLang="en-US" sz="2200" dirty="0"/>
              <a:t>，与第一次读取值不一致 </a:t>
            </a:r>
          </a:p>
        </p:txBody>
      </p:sp>
      <p:graphicFrame>
        <p:nvGraphicFramePr>
          <p:cNvPr id="17412" name="Group 4"/>
          <p:cNvGraphicFramePr>
            <a:graphicFrameLocks noGrp="1"/>
          </p:cNvGraphicFramePr>
          <p:nvPr>
            <p:ph sz="half" idx="1"/>
          </p:nvPr>
        </p:nvGraphicFramePr>
        <p:xfrm>
          <a:off x="2135188" y="1341438"/>
          <a:ext cx="3967163" cy="4727575"/>
        </p:xfrm>
        <a:graphic>
          <a:graphicData uri="http://schemas.openxmlformats.org/drawingml/2006/table">
            <a:tbl>
              <a:tblPr/>
              <a:tblGrid>
                <a:gridCol w="1984375">
                  <a:extLst>
                    <a:ext uri="{9D8B030D-6E8A-4147-A177-3AD203B41FA5}">
                      <a16:colId xmlns:a16="http://schemas.microsoft.com/office/drawing/2014/main" val="20000"/>
                    </a:ext>
                  </a:extLst>
                </a:gridCol>
                <a:gridCol w="1982787">
                  <a:extLst>
                    <a:ext uri="{9D8B030D-6E8A-4147-A177-3AD203B41FA5}">
                      <a16:colId xmlns:a16="http://schemas.microsoft.com/office/drawing/2014/main" val="20001"/>
                    </a:ext>
                  </a:extLst>
                </a:gridCol>
              </a:tblGrid>
              <a:tr h="460314">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en-US" sz="22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en-US" sz="22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426726">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① R(A)=50</a:t>
                      </a:r>
                      <a:endParaRPr kumimoji="0" lang="en-US"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r h="426726">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R(B)=100</a:t>
                      </a:r>
                      <a:endParaRPr kumimoji="0" 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2"/>
                  </a:ext>
                </a:extLst>
              </a:tr>
              <a:tr h="426726">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求和</a:t>
                      </a: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=150</a:t>
                      </a:r>
                      <a:endParaRPr kumimoji="0" 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3"/>
                  </a:ext>
                </a:extLst>
              </a:tr>
              <a:tr h="426726">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②</a:t>
                      </a:r>
                      <a:endParaRPr kumimoji="0" 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R(B)=100</a:t>
                      </a:r>
                      <a:endParaRPr kumimoji="0" 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4"/>
                  </a:ext>
                </a:extLst>
              </a:tr>
              <a:tr h="426726">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B←B*2</a:t>
                      </a:r>
                      <a:endParaRPr kumimoji="0" 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5"/>
                  </a:ext>
                </a:extLst>
              </a:tr>
              <a:tr h="426726">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(B)=200</a:t>
                      </a:r>
                      <a:endParaRPr kumimoji="0" lang="en-US"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6"/>
                  </a:ext>
                </a:extLst>
              </a:tr>
              <a:tr h="426726">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③  R(A)=50</a:t>
                      </a:r>
                      <a:endParaRPr kumimoji="0" 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7"/>
                  </a:ext>
                </a:extLst>
              </a:tr>
              <a:tr h="426726">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R(B)=200</a:t>
                      </a:r>
                      <a:endParaRPr kumimoji="0" 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8"/>
                  </a:ext>
                </a:extLst>
              </a:tr>
              <a:tr h="426726">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求和</a:t>
                      </a: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=250</a:t>
                      </a:r>
                      <a:endParaRPr kumimoji="0" lang="en-US"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9"/>
                  </a:ext>
                </a:extLst>
              </a:tr>
              <a:tr h="426726">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验算不对</a:t>
                      </a: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0"/>
                  </a:ext>
                </a:extLst>
              </a:tr>
            </a:tbl>
          </a:graphicData>
        </a:graphic>
      </p:graphicFrame>
      <p:sp>
        <p:nvSpPr>
          <p:cNvPr id="20520" name="Text Box 177"/>
          <p:cNvSpPr txBox="1"/>
          <p:nvPr/>
        </p:nvSpPr>
        <p:spPr>
          <a:xfrm>
            <a:off x="3494088" y="6086475"/>
            <a:ext cx="1403350" cy="369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None/>
            </a:pPr>
            <a:r>
              <a:rPr lang="zh-CN" altLang="zh-CN" sz="1800" dirty="0">
                <a:latin typeface="Times New Roman" panose="02020603050405020304" pitchFamily="18" charset="0"/>
              </a:rPr>
              <a:t>不可重复读 </a:t>
            </a:r>
          </a:p>
        </p:txBody>
      </p:sp>
      <p:sp>
        <p:nvSpPr>
          <p:cNvPr id="20521" name="Rectangle 178"/>
          <p:cNvSpPr/>
          <p:nvPr/>
        </p:nvSpPr>
        <p:spPr>
          <a:xfrm>
            <a:off x="1843088" y="823913"/>
            <a:ext cx="1190625" cy="4921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buNone/>
            </a:pPr>
            <a:r>
              <a:rPr lang="zh-CN" altLang="zh-CN" sz="2600" dirty="0">
                <a:latin typeface="Times New Roman" panose="02020603050405020304" pitchFamily="18" charset="0"/>
              </a:rPr>
              <a:t>例如：</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en-US" altLang="zh-CN" sz="3600" dirty="0"/>
              <a:t>*4. </a:t>
            </a:r>
            <a:r>
              <a:rPr lang="zh-CN" altLang="en-US" sz="3600" dirty="0"/>
              <a:t>幻读（</a:t>
            </a:r>
            <a:r>
              <a:rPr lang="en-US" altLang="zh-CN" sz="3600" dirty="0"/>
              <a:t> Phantom Row </a:t>
            </a:r>
            <a:r>
              <a:rPr lang="zh-CN" altLang="en-US" sz="3600" dirty="0"/>
              <a:t>）</a:t>
            </a:r>
            <a:endParaRPr lang="zh-CN" altLang="zh-CN" sz="3600" dirty="0"/>
          </a:p>
        </p:txBody>
      </p:sp>
      <p:sp>
        <p:nvSpPr>
          <p:cNvPr id="21507" name="Rectangle 3"/>
          <p:cNvSpPr>
            <a:spLocks noGrp="1"/>
          </p:cNvSpPr>
          <p:nvPr>
            <p:ph type="body"/>
          </p:nvPr>
        </p:nvSpPr>
        <p:spPr>
          <a:xfrm>
            <a:off x="982663" y="1125538"/>
            <a:ext cx="9904412" cy="4822825"/>
          </a:xfrm>
        </p:spPr>
        <p:txBody>
          <a:bodyPr vert="horz" wrap="square" lIns="91440" tIns="45720" rIns="91440" bIns="45720" anchor="t" anchorCtr="0"/>
          <a:lstStyle/>
          <a:p>
            <a:pPr eaLnBrk="1" hangingPunct="1">
              <a:lnSpc>
                <a:spcPct val="140000"/>
              </a:lnSpc>
              <a:spcBef>
                <a:spcPct val="60000"/>
              </a:spcBef>
            </a:pPr>
            <a:r>
              <a:rPr lang="zh-CN" altLang="zh-CN" dirty="0"/>
              <a:t>幻读也称作幻影（</a:t>
            </a:r>
            <a:r>
              <a:rPr lang="en-US" altLang="zh-CN" dirty="0"/>
              <a:t>phantom row</a:t>
            </a:r>
            <a:r>
              <a:rPr lang="zh-CN" altLang="zh-CN" dirty="0"/>
              <a:t>）现象，是指事务</a:t>
            </a:r>
            <a:r>
              <a:rPr lang="en-US" altLang="zh-CN" dirty="0"/>
              <a:t>T</a:t>
            </a:r>
            <a:r>
              <a:rPr lang="en-US" altLang="zh-CN" baseline="-25000" dirty="0"/>
              <a:t>1</a:t>
            </a:r>
            <a:r>
              <a:rPr lang="zh-CN" altLang="zh-CN" dirty="0"/>
              <a:t>读取数据后，事务</a:t>
            </a:r>
            <a:r>
              <a:rPr lang="en-US" altLang="zh-CN" dirty="0"/>
              <a:t>T</a:t>
            </a:r>
            <a:r>
              <a:rPr lang="en-US" altLang="zh-CN" baseline="-25000" dirty="0"/>
              <a:t>2</a:t>
            </a:r>
            <a:r>
              <a:rPr lang="zh-CN" altLang="zh-CN" dirty="0"/>
              <a:t>执行</a:t>
            </a:r>
            <a:r>
              <a:rPr lang="zh-CN" altLang="zh-CN" dirty="0">
                <a:solidFill>
                  <a:srgbClr val="FF0000"/>
                </a:solidFill>
              </a:rPr>
              <a:t>插入或删除</a:t>
            </a:r>
            <a:r>
              <a:rPr lang="zh-CN" altLang="zh-CN" dirty="0"/>
              <a:t>操作，使</a:t>
            </a:r>
            <a:r>
              <a:rPr lang="en-US" altLang="zh-CN" dirty="0"/>
              <a:t>T</a:t>
            </a:r>
            <a:r>
              <a:rPr lang="en-US" altLang="zh-CN" baseline="-25000" dirty="0"/>
              <a:t>1</a:t>
            </a:r>
            <a:r>
              <a:rPr lang="zh-CN" altLang="zh-CN" dirty="0"/>
              <a:t>无法再现前一次读取结果。</a:t>
            </a:r>
            <a:endParaRPr lang="en-US" altLang="zh-CN" dirty="0"/>
          </a:p>
          <a:p>
            <a:pPr eaLnBrk="1" hangingPunct="1">
              <a:lnSpc>
                <a:spcPct val="140000"/>
              </a:lnSpc>
              <a:spcBef>
                <a:spcPct val="60000"/>
              </a:spcBef>
              <a:buNone/>
            </a:pPr>
            <a:r>
              <a:rPr lang="zh-CN" altLang="en-US" sz="2400" dirty="0"/>
              <a:t>（</a:t>
            </a:r>
            <a:r>
              <a:rPr lang="en-US" altLang="zh-CN" sz="2400" dirty="0"/>
              <a:t>2</a:t>
            </a:r>
            <a:r>
              <a:rPr lang="zh-CN" altLang="en-US" sz="2400" dirty="0"/>
              <a:t>）事务</a:t>
            </a:r>
            <a:r>
              <a:rPr lang="en-US" altLang="zh-CN" sz="2400" dirty="0"/>
              <a:t>T</a:t>
            </a:r>
            <a:r>
              <a:rPr lang="en-US" altLang="zh-CN" sz="2400" baseline="-25000" dirty="0"/>
              <a:t>1</a:t>
            </a:r>
            <a:r>
              <a:rPr lang="zh-CN" altLang="en-US" sz="2400" dirty="0"/>
              <a:t>按一定条件从数据库中读取了某些数据记录后，</a:t>
            </a:r>
            <a:r>
              <a:rPr lang="zh-CN" altLang="en-US" sz="2400" dirty="0">
                <a:solidFill>
                  <a:srgbClr val="FF00FF"/>
                </a:solidFill>
              </a:rPr>
              <a:t>事务</a:t>
            </a:r>
            <a:r>
              <a:rPr lang="en-US" altLang="zh-CN" sz="2400" dirty="0">
                <a:solidFill>
                  <a:srgbClr val="FF00FF"/>
                </a:solidFill>
              </a:rPr>
              <a:t>T</a:t>
            </a:r>
            <a:r>
              <a:rPr lang="en-US" altLang="zh-CN" sz="2400" baseline="-25000" dirty="0">
                <a:solidFill>
                  <a:srgbClr val="FF00FF"/>
                </a:solidFill>
              </a:rPr>
              <a:t>2</a:t>
            </a:r>
            <a:r>
              <a:rPr lang="zh-CN" altLang="en-US" sz="2400" dirty="0">
                <a:solidFill>
                  <a:srgbClr val="FF00FF"/>
                </a:solidFill>
              </a:rPr>
              <a:t>删除了其中部分记录</a:t>
            </a:r>
            <a:r>
              <a:rPr lang="zh-CN" altLang="en-US" sz="2400" dirty="0"/>
              <a:t>，当</a:t>
            </a:r>
            <a:r>
              <a:rPr lang="en-US" altLang="zh-CN" sz="2400" dirty="0"/>
              <a:t>T</a:t>
            </a:r>
            <a:r>
              <a:rPr lang="en-US" altLang="zh-CN" sz="2400" baseline="-25000" dirty="0"/>
              <a:t>1</a:t>
            </a:r>
            <a:r>
              <a:rPr lang="zh-CN" altLang="en-US" sz="2400" dirty="0"/>
              <a:t>再次按相同条件读取数据时，发现某些记录消失了。 </a:t>
            </a:r>
          </a:p>
          <a:p>
            <a:pPr eaLnBrk="1" hangingPunct="1">
              <a:lnSpc>
                <a:spcPct val="140000"/>
              </a:lnSpc>
              <a:buNone/>
            </a:pPr>
            <a:r>
              <a:rPr lang="zh-CN" altLang="en-US" sz="2400" dirty="0"/>
              <a:t>（</a:t>
            </a:r>
            <a:r>
              <a:rPr lang="en-US" altLang="zh-CN" sz="2400" dirty="0"/>
              <a:t>3</a:t>
            </a:r>
            <a:r>
              <a:rPr lang="zh-CN" altLang="en-US" sz="2400" dirty="0"/>
              <a:t>）事务</a:t>
            </a:r>
            <a:r>
              <a:rPr lang="en-US" altLang="zh-CN" sz="2400" dirty="0"/>
              <a:t>T</a:t>
            </a:r>
            <a:r>
              <a:rPr lang="en-US" altLang="zh-CN" sz="2400" baseline="-25000" dirty="0"/>
              <a:t>1</a:t>
            </a:r>
            <a:r>
              <a:rPr lang="zh-CN" altLang="en-US" sz="2400" dirty="0"/>
              <a:t>按一定条件从数据库中读取某些数据记录后，</a:t>
            </a:r>
            <a:r>
              <a:rPr lang="zh-CN" altLang="en-US" sz="2400" dirty="0">
                <a:solidFill>
                  <a:srgbClr val="FF00FF"/>
                </a:solidFill>
              </a:rPr>
              <a:t>事务</a:t>
            </a:r>
            <a:r>
              <a:rPr lang="en-US" altLang="zh-CN" sz="2400" dirty="0">
                <a:solidFill>
                  <a:srgbClr val="FF00FF"/>
                </a:solidFill>
              </a:rPr>
              <a:t>T</a:t>
            </a:r>
            <a:r>
              <a:rPr lang="en-US" altLang="zh-CN" sz="2400" baseline="-25000" dirty="0">
                <a:solidFill>
                  <a:srgbClr val="FF00FF"/>
                </a:solidFill>
              </a:rPr>
              <a:t>2</a:t>
            </a:r>
            <a:r>
              <a:rPr lang="zh-CN" altLang="en-US" sz="2400" dirty="0">
                <a:solidFill>
                  <a:srgbClr val="FF00FF"/>
                </a:solidFill>
              </a:rPr>
              <a:t>插入了一些记录</a:t>
            </a:r>
            <a:r>
              <a:rPr lang="zh-CN" altLang="en-US" sz="2400" dirty="0"/>
              <a:t>，当</a:t>
            </a:r>
            <a:r>
              <a:rPr lang="en-US" altLang="zh-CN" sz="2400" dirty="0"/>
              <a:t>T</a:t>
            </a:r>
            <a:r>
              <a:rPr lang="en-US" altLang="zh-CN" sz="2400" baseline="-25000" dirty="0"/>
              <a:t>1</a:t>
            </a:r>
            <a:r>
              <a:rPr lang="zh-CN" altLang="en-US" sz="2400" dirty="0"/>
              <a:t>再次按相同条件读取数据时，发现多了一些记录。</a:t>
            </a:r>
          </a:p>
          <a:p>
            <a:pPr eaLnBrk="1" hangingPunct="1"/>
            <a:endParaRPr lang="en-US" altLang="zh-C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351405" y="188595"/>
            <a:ext cx="8456295" cy="460375"/>
          </a:xfrm>
          <a:prstGeom prst="rect">
            <a:avLst/>
          </a:prstGeom>
          <a:noFill/>
        </p:spPr>
        <p:txBody>
          <a:bodyPr wrap="square" rtlCol="0" anchor="t">
            <a:spAutoFit/>
          </a:bodyPr>
          <a:lstStyle/>
          <a:p>
            <a:r>
              <a:rPr lang="zh-CN" altLang="en-US" sz="2400" b="1">
                <a:solidFill>
                  <a:schemeClr val="bg1"/>
                </a:solidFill>
                <a:sym typeface="+mn-ea"/>
              </a:rPr>
              <a:t>思考：下面两个事务并发执行，可能出现哪类不一致</a:t>
            </a:r>
          </a:p>
        </p:txBody>
      </p:sp>
      <p:sp>
        <p:nvSpPr>
          <p:cNvPr id="3" name="内容占位符 2"/>
          <p:cNvSpPr>
            <a:spLocks noGrp="1"/>
          </p:cNvSpPr>
          <p:nvPr/>
        </p:nvSpPr>
        <p:spPr>
          <a:xfrm>
            <a:off x="911225" y="1196665"/>
            <a:ext cx="10337800" cy="4922520"/>
          </a:xfrm>
          <a:prstGeom prst="rect">
            <a:avLst/>
          </a:prstGeom>
          <a:noFill/>
          <a:ln>
            <a:noFill/>
          </a:ln>
        </p:spPr>
        <p:txBody>
          <a:bodyPr vert="horz" wrap="square" lIns="68580" tIns="34290" rIns="68580" bIns="34290" numCol="1" anchor="t" anchorCtr="0" compatLnSpc="1"/>
          <a:lstStyle>
            <a:lvl1pPr marL="455930" indent="-455930" algn="l" rtl="0" eaLnBrk="0" fontAlgn="base" hangingPunct="0">
              <a:lnSpc>
                <a:spcPct val="150000"/>
              </a:lnSpc>
              <a:spcBef>
                <a:spcPts val="1000"/>
              </a:spcBef>
              <a:spcAft>
                <a:spcPct val="0"/>
              </a:spcAft>
              <a:buClr>
                <a:srgbClr val="3F762B"/>
              </a:buClr>
              <a:buFont typeface="Wingdings" panose="05000000000000000000" pitchFamily="2" charset="2"/>
              <a:buChar char="n"/>
              <a:defRPr sz="2400">
                <a:solidFill>
                  <a:schemeClr val="tx1"/>
                </a:solidFill>
                <a:latin typeface="+mn-ea"/>
                <a:ea typeface="+mn-ea"/>
                <a:cs typeface="+mn-cs"/>
                <a:sym typeface="Calibri" panose="020F0502020204030204" pitchFamily="34" charset="0"/>
              </a:defRPr>
            </a:lvl1pPr>
            <a:lvl2pPr marL="913130" indent="-455930" algn="l" rtl="0" eaLnBrk="0" fontAlgn="base" hangingPunct="0">
              <a:lnSpc>
                <a:spcPct val="150000"/>
              </a:lnSpc>
              <a:spcBef>
                <a:spcPts val="500"/>
              </a:spcBef>
              <a:spcAft>
                <a:spcPct val="0"/>
              </a:spcAft>
              <a:buClr>
                <a:srgbClr val="3F762B"/>
              </a:buClr>
              <a:buFont typeface="Wingdings" panose="05000000000000000000" pitchFamily="2" charset="2"/>
              <a:buChar char="l"/>
              <a:defRPr sz="2200">
                <a:solidFill>
                  <a:schemeClr val="tx1"/>
                </a:solidFill>
                <a:latin typeface="+mn-ea"/>
                <a:ea typeface="+mn-ea"/>
                <a:sym typeface="Calibri" panose="020F0502020204030204" pitchFamily="34" charset="0"/>
              </a:defRPr>
            </a:lvl2pPr>
            <a:lvl3pPr marL="1370330" indent="-455930" algn="l" rtl="0" eaLnBrk="0" fontAlgn="base" hangingPunct="0">
              <a:lnSpc>
                <a:spcPct val="150000"/>
              </a:lnSpc>
              <a:spcBef>
                <a:spcPts val="500"/>
              </a:spcBef>
              <a:spcAft>
                <a:spcPct val="0"/>
              </a:spcAft>
              <a:buClr>
                <a:srgbClr val="3F762B"/>
              </a:buClr>
              <a:buFont typeface="Wingdings" panose="05000000000000000000" pitchFamily="2" charset="2"/>
              <a:buChar char="Ø"/>
              <a:defRPr sz="2000">
                <a:solidFill>
                  <a:schemeClr val="tx1"/>
                </a:solidFill>
                <a:latin typeface="+mn-ea"/>
                <a:ea typeface="+mn-ea"/>
                <a:sym typeface="Calibri" panose="020F0502020204030204" pitchFamily="34" charset="0"/>
              </a:defRPr>
            </a:lvl3pPr>
            <a:lvl4pPr marL="1827530" indent="-455930" algn="l" rtl="0" eaLnBrk="0" fontAlgn="base" hangingPunct="0">
              <a:lnSpc>
                <a:spcPct val="150000"/>
              </a:lnSpc>
              <a:spcBef>
                <a:spcPts val="500"/>
              </a:spcBef>
              <a:spcAft>
                <a:spcPct val="0"/>
              </a:spcAft>
              <a:buClr>
                <a:srgbClr val="3F762B"/>
              </a:buClr>
              <a:buFont typeface="Arial" panose="020B0604020202020204" pitchFamily="34" charset="0"/>
              <a:buChar char="•"/>
              <a:defRPr sz="1900">
                <a:solidFill>
                  <a:schemeClr val="tx1"/>
                </a:solidFill>
                <a:latin typeface="+mn-ea"/>
                <a:ea typeface="+mn-ea"/>
                <a:sym typeface="Calibri" panose="020F0502020204030204" pitchFamily="34" charset="0"/>
              </a:defRPr>
            </a:lvl4pPr>
            <a:lvl5pPr marL="2114550" indent="-285750" algn="l" rtl="0" eaLnBrk="0" fontAlgn="base" hangingPunct="0">
              <a:lnSpc>
                <a:spcPct val="150000"/>
              </a:lnSpc>
              <a:spcBef>
                <a:spcPts val="500"/>
              </a:spcBef>
              <a:spcAft>
                <a:spcPct val="0"/>
              </a:spcAft>
              <a:buClr>
                <a:srgbClr val="3F762B"/>
              </a:buClr>
              <a:buFont typeface="Arial" panose="020B0604020202020204" pitchFamily="34" charset="0"/>
              <a:buChar char="•"/>
              <a:defRPr sz="1800">
                <a:solidFill>
                  <a:schemeClr val="tx1"/>
                </a:solidFill>
                <a:latin typeface="+mn-ea"/>
                <a:ea typeface="+mn-ea"/>
                <a:sym typeface="Calibri" panose="020F0502020204030204" pitchFamily="34" charset="0"/>
              </a:defRPr>
            </a:lvl5pPr>
            <a:lvl6pPr marL="2514600" indent="-228600" algn="l" rtl="0" eaLnBrk="1" fontAlgn="base" hangingPunct="1">
              <a:lnSpc>
                <a:spcPct val="90000"/>
              </a:lnSpc>
              <a:spcBef>
                <a:spcPts val="500"/>
              </a:spcBef>
              <a:spcAft>
                <a:spcPct val="0"/>
              </a:spcAft>
              <a:buFont typeface="Arial" panose="020B0604020202020204" pitchFamily="34" charset="0"/>
              <a:buChar char="•"/>
              <a:defRPr sz="2600">
                <a:solidFill>
                  <a:schemeClr val="tx1"/>
                </a:solidFill>
                <a:latin typeface="+mn-lt"/>
                <a:ea typeface="+mn-ea"/>
                <a:sym typeface="Calibri" panose="020F0502020204030204" pitchFamily="34" charset="0"/>
              </a:defRPr>
            </a:lvl6pPr>
            <a:lvl7pPr marL="2971800" indent="-228600" algn="l" rtl="0" eaLnBrk="1" fontAlgn="base" hangingPunct="1">
              <a:lnSpc>
                <a:spcPct val="90000"/>
              </a:lnSpc>
              <a:spcBef>
                <a:spcPts val="500"/>
              </a:spcBef>
              <a:spcAft>
                <a:spcPct val="0"/>
              </a:spcAft>
              <a:buFont typeface="Arial" panose="020B0604020202020204" pitchFamily="34" charset="0"/>
              <a:buChar char="•"/>
              <a:defRPr sz="2600">
                <a:solidFill>
                  <a:schemeClr val="tx1"/>
                </a:solidFill>
                <a:latin typeface="+mn-lt"/>
                <a:ea typeface="+mn-ea"/>
                <a:sym typeface="Calibri" panose="020F0502020204030204" pitchFamily="34" charset="0"/>
              </a:defRPr>
            </a:lvl7pPr>
            <a:lvl8pPr marL="3429000" indent="-228600" algn="l" rtl="0" eaLnBrk="1" fontAlgn="base" hangingPunct="1">
              <a:lnSpc>
                <a:spcPct val="90000"/>
              </a:lnSpc>
              <a:spcBef>
                <a:spcPts val="500"/>
              </a:spcBef>
              <a:spcAft>
                <a:spcPct val="0"/>
              </a:spcAft>
              <a:buFont typeface="Arial" panose="020B0604020202020204" pitchFamily="34" charset="0"/>
              <a:buChar char="•"/>
              <a:defRPr sz="2600">
                <a:solidFill>
                  <a:schemeClr val="tx1"/>
                </a:solidFill>
                <a:latin typeface="+mn-lt"/>
                <a:ea typeface="+mn-ea"/>
                <a:sym typeface="Calibri" panose="020F0502020204030204" pitchFamily="34" charset="0"/>
              </a:defRPr>
            </a:lvl8pPr>
            <a:lvl9pPr marL="3886200" indent="-228600" algn="l" rtl="0" eaLnBrk="1" fontAlgn="base" hangingPunct="1">
              <a:lnSpc>
                <a:spcPct val="90000"/>
              </a:lnSpc>
              <a:spcBef>
                <a:spcPts val="500"/>
              </a:spcBef>
              <a:spcAft>
                <a:spcPct val="0"/>
              </a:spcAft>
              <a:buFont typeface="Arial" panose="020B0604020202020204" pitchFamily="34" charset="0"/>
              <a:buChar char="•"/>
              <a:defRPr sz="2600">
                <a:solidFill>
                  <a:schemeClr val="tx1"/>
                </a:solidFill>
                <a:latin typeface="+mn-lt"/>
                <a:ea typeface="+mn-ea"/>
                <a:sym typeface="Calibri" panose="020F0502020204030204" pitchFamily="34" charset="0"/>
              </a:defRPr>
            </a:lvl9pPr>
          </a:lstStyle>
          <a:p>
            <a:pPr marL="0" indent="0">
              <a:buNone/>
            </a:pPr>
            <a:r>
              <a:rPr lang="zh-CN" altLang="en-US" sz="2800"/>
              <a:t>假设事务执行过程没有发生故障，也不会主动回滚</a:t>
            </a:r>
            <a:endParaRPr lang="en-US" altLang="zh-CN" sz="2800"/>
          </a:p>
          <a:p>
            <a:pPr marL="0" indent="0">
              <a:buNone/>
            </a:pPr>
            <a:r>
              <a:rPr lang="en-US" altLang="zh-CN" sz="2800"/>
              <a:t>T</a:t>
            </a:r>
            <a:r>
              <a:rPr lang="en-US" altLang="zh-CN" sz="2800" baseline="-25000"/>
              <a:t>1</a:t>
            </a:r>
            <a:endParaRPr lang="en-US" altLang="zh-CN" sz="2800"/>
          </a:p>
          <a:p>
            <a:pPr marL="457200" lvl="1" indent="0">
              <a:buNone/>
            </a:pPr>
            <a:r>
              <a:rPr lang="en-US" altLang="zh-CN" sz="2400"/>
              <a:t>UPDATE SC SET Grade = GRADE + 10 WHERE SNO = ‘1001’</a:t>
            </a:r>
          </a:p>
          <a:p>
            <a:pPr marL="457200" lvl="1" indent="0">
              <a:buNone/>
            </a:pPr>
            <a:r>
              <a:rPr lang="en-US" altLang="zh-CN" sz="2400"/>
              <a:t>SELECT AVG(Grade) FROM SC </a:t>
            </a:r>
            <a:r>
              <a:rPr lang="en-US" altLang="zh-CN" sz="2400">
                <a:sym typeface="+mn-ea"/>
              </a:rPr>
              <a:t>WHERE SNO = ‘1001’</a:t>
            </a:r>
          </a:p>
          <a:p>
            <a:pPr marL="0" lvl="0" indent="0">
              <a:buNone/>
            </a:pPr>
            <a:r>
              <a:rPr lang="en-US" altLang="zh-CN" sz="2800"/>
              <a:t>T</a:t>
            </a:r>
            <a:r>
              <a:rPr lang="en-US" altLang="zh-CN" sz="2800" baseline="-25000"/>
              <a:t>2</a:t>
            </a:r>
            <a:endParaRPr lang="en-US" altLang="zh-CN" sz="2800"/>
          </a:p>
          <a:p>
            <a:pPr marL="457200" lvl="1" indent="0">
              <a:buNone/>
            </a:pPr>
            <a:r>
              <a:rPr lang="en-US" altLang="zh-CN" sz="2400"/>
              <a:t>INSERT INTO SC (CNO, SNO, GRADE) VALUES (‘3’,’1001’,80)</a:t>
            </a:r>
          </a:p>
        </p:txBody>
      </p:sp>
      <p:sp>
        <p:nvSpPr>
          <p:cNvPr id="4" name="文本框 3"/>
          <p:cNvSpPr txBox="1"/>
          <p:nvPr/>
        </p:nvSpPr>
        <p:spPr>
          <a:xfrm>
            <a:off x="767715" y="5372735"/>
            <a:ext cx="10685780" cy="829945"/>
          </a:xfrm>
          <a:prstGeom prst="rect">
            <a:avLst/>
          </a:prstGeom>
          <a:noFill/>
        </p:spPr>
        <p:txBody>
          <a:bodyPr wrap="square" rtlCol="0" anchor="t">
            <a:spAutoFit/>
          </a:bodyPr>
          <a:lstStyle/>
          <a:p>
            <a:r>
              <a:rPr lang="zh-CN" altLang="en-US" sz="2400">
                <a:sym typeface="+mn-ea"/>
              </a:rPr>
              <a:t>可能出现幻读。因为</a:t>
            </a:r>
            <a:r>
              <a:rPr lang="en-US" altLang="zh-CN" sz="2400">
                <a:sym typeface="+mn-ea"/>
              </a:rPr>
              <a:t>T</a:t>
            </a:r>
            <a:r>
              <a:rPr lang="en-US" altLang="zh-CN" sz="2400" baseline="-25000">
                <a:sym typeface="+mn-ea"/>
              </a:rPr>
              <a:t>1</a:t>
            </a:r>
            <a:r>
              <a:rPr lang="zh-CN" altLang="en-US" sz="2400">
                <a:sym typeface="+mn-ea"/>
              </a:rPr>
              <a:t>执行两条语句都需要根据条件</a:t>
            </a:r>
            <a:r>
              <a:rPr lang="en-US" altLang="zh-CN" sz="2400">
                <a:sym typeface="+mn-ea"/>
              </a:rPr>
              <a:t>SNO = ‘1001’</a:t>
            </a:r>
            <a:r>
              <a:rPr lang="zh-CN" altLang="en-US" sz="2400">
                <a:sym typeface="+mn-ea"/>
              </a:rPr>
              <a:t>读取相应的元组集合，而</a:t>
            </a:r>
            <a:r>
              <a:rPr lang="en-US" altLang="zh-CN" sz="2400">
                <a:sym typeface="+mn-ea"/>
              </a:rPr>
              <a:t>T</a:t>
            </a:r>
            <a:r>
              <a:rPr lang="en-US" altLang="zh-CN" sz="2400" baseline="-25000">
                <a:sym typeface="+mn-ea"/>
              </a:rPr>
              <a:t>2</a:t>
            </a:r>
            <a:r>
              <a:rPr lang="zh-CN" altLang="en-US" sz="2400">
                <a:sym typeface="+mn-ea"/>
              </a:rPr>
              <a:t>将插入一条满足该条件的元组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并发控制概述（续）</a:t>
            </a:r>
          </a:p>
        </p:txBody>
      </p:sp>
      <p:sp>
        <p:nvSpPr>
          <p:cNvPr id="22531" name="Rectangle 3"/>
          <p:cNvSpPr>
            <a:spLocks noGrp="1"/>
          </p:cNvSpPr>
          <p:nvPr>
            <p:ph type="body"/>
          </p:nvPr>
        </p:nvSpPr>
        <p:spPr>
          <a:xfrm>
            <a:off x="695325" y="1077913"/>
            <a:ext cx="11233150" cy="5000625"/>
          </a:xfrm>
        </p:spPr>
        <p:txBody>
          <a:bodyPr vert="horz" wrap="square" lIns="91440" tIns="45720" rIns="91440" bIns="45720" anchor="t" anchorCtr="0"/>
          <a:lstStyle/>
          <a:p>
            <a:pPr eaLnBrk="1" hangingPunct="1">
              <a:lnSpc>
                <a:spcPct val="160000"/>
              </a:lnSpc>
            </a:pPr>
            <a:r>
              <a:rPr lang="zh-CN" altLang="zh-CN" dirty="0"/>
              <a:t>数据不一致性：由于</a:t>
            </a:r>
            <a:r>
              <a:rPr lang="zh-CN" altLang="zh-CN" dirty="0">
                <a:solidFill>
                  <a:srgbClr val="FF00FF"/>
                </a:solidFill>
              </a:rPr>
              <a:t>并发操作破坏了事务的隔离性</a:t>
            </a:r>
          </a:p>
          <a:p>
            <a:pPr eaLnBrk="1" hangingPunct="1">
              <a:lnSpc>
                <a:spcPct val="160000"/>
              </a:lnSpc>
            </a:pPr>
            <a:r>
              <a:rPr lang="zh-CN" altLang="zh-CN" dirty="0"/>
              <a:t>并发控制就是要用</a:t>
            </a:r>
            <a:r>
              <a:rPr lang="zh-CN" altLang="zh-CN" dirty="0">
                <a:solidFill>
                  <a:srgbClr val="FF00FF"/>
                </a:solidFill>
              </a:rPr>
              <a:t>正确的方式调度并发操作</a:t>
            </a:r>
            <a:r>
              <a:rPr lang="zh-CN" altLang="zh-CN" dirty="0"/>
              <a:t>，使一个用户事务的执行不受其他事务的干扰，从而避免造成数据的不一致性 </a:t>
            </a:r>
          </a:p>
          <a:p>
            <a:pPr eaLnBrk="1" hangingPunct="1">
              <a:lnSpc>
                <a:spcPct val="160000"/>
              </a:lnSpc>
            </a:pPr>
            <a:r>
              <a:rPr lang="zh-CN" altLang="zh-CN" dirty="0"/>
              <a:t>对数据库的应用有时允许某些不一致性，例如有些统计工作涉及数据量很大，读到一些“脏”数据对统计精度没什么影响，可以降低对一致性的要求以减少系统开销 </a:t>
            </a:r>
            <a:endParaRPr lang="en-US" altLang="zh-CN" dirty="0"/>
          </a:p>
          <a:p>
            <a:pPr eaLnBrk="1" hangingPunct="1">
              <a:lnSpc>
                <a:spcPct val="160000"/>
              </a:lnSpc>
            </a:pPr>
            <a:endParaRPr lang="zh-CN" altLang="zh-C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en-US" sz="3600" dirty="0"/>
              <a:t>关于</a:t>
            </a:r>
            <a:r>
              <a:rPr lang="en-US" altLang="zh-CN" sz="3600" dirty="0"/>
              <a:t>“</a:t>
            </a:r>
            <a:r>
              <a:rPr lang="zh-CN" altLang="zh-CN" sz="3600" dirty="0"/>
              <a:t>一致</a:t>
            </a:r>
            <a:r>
              <a:rPr lang="en-US" altLang="zh-CN" sz="3600" dirty="0"/>
              <a:t>”</a:t>
            </a:r>
            <a:r>
              <a:rPr lang="zh-CN" altLang="en-US" sz="3600" dirty="0"/>
              <a:t>或</a:t>
            </a:r>
            <a:r>
              <a:rPr lang="en-US" altLang="zh-CN" sz="3600" dirty="0"/>
              <a:t>“</a:t>
            </a:r>
            <a:r>
              <a:rPr lang="zh-CN" altLang="en-US" sz="3600" dirty="0"/>
              <a:t>一致性</a:t>
            </a:r>
            <a:r>
              <a:rPr lang="en-US" altLang="zh-CN" sz="3600" dirty="0"/>
              <a:t>”</a:t>
            </a:r>
            <a:r>
              <a:rPr lang="zh-CN" altLang="en-US" sz="3600" dirty="0"/>
              <a:t>的</a:t>
            </a:r>
            <a:r>
              <a:rPr lang="zh-CN" altLang="zh-CN" sz="3600" dirty="0"/>
              <a:t>讨论</a:t>
            </a:r>
          </a:p>
        </p:txBody>
      </p:sp>
      <p:sp>
        <p:nvSpPr>
          <p:cNvPr id="22531" name="Rectangle 3"/>
          <p:cNvSpPr>
            <a:spLocks noGrp="1"/>
          </p:cNvSpPr>
          <p:nvPr>
            <p:ph type="body"/>
          </p:nvPr>
        </p:nvSpPr>
        <p:spPr>
          <a:xfrm>
            <a:off x="551815" y="790893"/>
            <a:ext cx="11233150" cy="5000625"/>
          </a:xfrm>
        </p:spPr>
        <p:txBody>
          <a:bodyPr vert="horz" wrap="square" lIns="91440" tIns="45720" rIns="91440" bIns="45720" anchor="t" anchorCtr="0"/>
          <a:lstStyle/>
          <a:p>
            <a:pPr eaLnBrk="1" hangingPunct="1">
              <a:lnSpc>
                <a:spcPct val="160000"/>
              </a:lnSpc>
            </a:pPr>
            <a:r>
              <a:rPr lang="en-US" altLang="zh-CN" sz="2400" dirty="0"/>
              <a:t> </a:t>
            </a:r>
            <a:r>
              <a:rPr lang="zh-CN" altLang="en-US" sz="2400" dirty="0"/>
              <a:t>一致（</a:t>
            </a:r>
            <a:r>
              <a:rPr lang="en-US" altLang="zh-CN" sz="2400" dirty="0"/>
              <a:t>consistent</a:t>
            </a:r>
            <a:r>
              <a:rPr lang="zh-CN" altLang="en-US" sz="2400" dirty="0"/>
              <a:t>），一致性</a:t>
            </a:r>
            <a:r>
              <a:rPr lang="en-US" altLang="zh-CN" sz="2400" dirty="0"/>
              <a:t>consistency</a:t>
            </a:r>
            <a:r>
              <a:rPr lang="zh-CN" altLang="en-US" sz="2400" dirty="0"/>
              <a:t>，在本书多次出现，但是含义不同</a:t>
            </a:r>
          </a:p>
          <a:p>
            <a:pPr eaLnBrk="1" hangingPunct="1">
              <a:lnSpc>
                <a:spcPct val="160000"/>
              </a:lnSpc>
            </a:pPr>
            <a:r>
              <a:rPr lang="zh-CN" altLang="en-US" sz="2400" dirty="0"/>
              <a:t>绪论中，冗余的数据可能造成数据的不一致</a:t>
            </a:r>
          </a:p>
          <a:p>
            <a:pPr eaLnBrk="1" hangingPunct="1">
              <a:lnSpc>
                <a:spcPct val="160000"/>
              </a:lnSpc>
            </a:pPr>
            <a:r>
              <a:rPr lang="zh-CN" altLang="en-US" sz="2400" dirty="0"/>
              <a:t>数据恢复中，故障可能造成</a:t>
            </a:r>
            <a:r>
              <a:rPr lang="en-US" altLang="zh-CN" sz="2400" dirty="0"/>
              <a:t>DBMS</a:t>
            </a:r>
            <a:r>
              <a:rPr lang="zh-CN" altLang="en-US" sz="2400" dirty="0"/>
              <a:t>处于不一致的状态。一致性是指</a:t>
            </a:r>
            <a:r>
              <a:rPr lang="zh-CN" altLang="en-US" sz="2400"/>
              <a:t>在事务间没有干扰的情况下，数据库中只包含成功事务提交的结果</a:t>
            </a:r>
          </a:p>
          <a:p>
            <a:pPr eaLnBrk="1" hangingPunct="1">
              <a:lnSpc>
                <a:spcPct val="160000"/>
              </a:lnSpc>
            </a:pPr>
            <a:r>
              <a:rPr lang="zh-CN" altLang="en-US" sz="2400"/>
              <a:t>并发控制中，说</a:t>
            </a:r>
            <a:r>
              <a:rPr lang="zh-CN" altLang="zh-CN" sz="2400" dirty="0">
                <a:sym typeface="+mn-ea"/>
              </a:rPr>
              <a:t>数据不一致</a:t>
            </a:r>
            <a:r>
              <a:rPr lang="zh-CN" altLang="en-US" sz="2400">
                <a:sym typeface="+mn-ea"/>
              </a:rPr>
              <a:t>性是由于并发操作破坏了事务的隔离性</a:t>
            </a:r>
            <a:endParaRPr lang="zh-CN" altLang="en-US" sz="2400"/>
          </a:p>
          <a:p>
            <a:pPr eaLnBrk="1" hangingPunct="1">
              <a:lnSpc>
                <a:spcPct val="160000"/>
              </a:lnSpc>
            </a:pPr>
            <a:r>
              <a:rPr lang="zh-CN" altLang="en-US" sz="2400"/>
              <a:t>一致，或者说一致性，在数据库中，强调的是</a:t>
            </a:r>
            <a:r>
              <a:rPr lang="en-US" altLang="zh-CN" sz="2400"/>
              <a:t>“</a:t>
            </a:r>
            <a:r>
              <a:rPr lang="zh-CN" altLang="en-US" sz="2400"/>
              <a:t>正确</a:t>
            </a:r>
            <a:r>
              <a:rPr lang="en-US" altLang="zh-CN" sz="2400"/>
              <a:t>”</a:t>
            </a:r>
          </a:p>
          <a:p>
            <a:pPr lvl="1" eaLnBrk="1" hangingPunct="1">
              <a:lnSpc>
                <a:spcPct val="160000"/>
              </a:lnSpc>
            </a:pPr>
            <a:r>
              <a:rPr lang="zh-CN" altLang="en-US" sz="2055"/>
              <a:t>正确设定约束，可以保证同一个数据（比如张三的年龄）在不同地方是相同的</a:t>
            </a:r>
          </a:p>
          <a:p>
            <a:pPr lvl="1" eaLnBrk="1" hangingPunct="1">
              <a:lnSpc>
                <a:spcPct val="160000"/>
              </a:lnSpc>
            </a:pPr>
            <a:r>
              <a:rPr lang="zh-CN" altLang="en-US" sz="2055"/>
              <a:t>正确进行数据库恢复，可以保证数据库中只包含成功事务提交的结果</a:t>
            </a:r>
          </a:p>
          <a:p>
            <a:pPr lvl="1" eaLnBrk="1" hangingPunct="1">
              <a:lnSpc>
                <a:spcPct val="160000"/>
              </a:lnSpc>
            </a:pPr>
            <a:r>
              <a:rPr lang="zh-CN" altLang="en-US" sz="2055"/>
              <a:t>正确进行并发控制，可以保证对并发事务的调度是满足某个隔离级别的</a:t>
            </a:r>
          </a:p>
          <a:p>
            <a:pPr eaLnBrk="1" hangingPunct="1">
              <a:lnSpc>
                <a:spcPct val="160000"/>
              </a:lnSpc>
            </a:pPr>
            <a:endParaRPr lang="zh-CN" altLang="en-US" sz="2400" dirty="0"/>
          </a:p>
          <a:p>
            <a:pPr eaLnBrk="1" hangingPunct="1">
              <a:lnSpc>
                <a:spcPct val="160000"/>
              </a:lnSpc>
            </a:pP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2531">
                                            <p:txEl>
                                              <p:pRg st="4" end="4"/>
                                            </p:txEl>
                                          </p:spTgt>
                                        </p:tgtEl>
                                        <p:attrNameLst>
                                          <p:attrName>style.visibility</p:attrName>
                                        </p:attrNameLst>
                                      </p:cBhvr>
                                      <p:to>
                                        <p:strVal val="visible"/>
                                      </p:to>
                                    </p:set>
                                    <p:animEffect transition="in" filter="blinds(horizontal)">
                                      <p:cBhvr>
                                        <p:cTn id="7" dur="500"/>
                                        <p:tgtEl>
                                          <p:spTgt spid="22531">
                                            <p:txEl>
                                              <p:pRg st="4" end="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2531">
                                            <p:txEl>
                                              <p:pRg st="5" end="5"/>
                                            </p:txEl>
                                          </p:spTgt>
                                        </p:tgtEl>
                                        <p:attrNameLst>
                                          <p:attrName>style.visibility</p:attrName>
                                        </p:attrNameLst>
                                      </p:cBhvr>
                                      <p:to>
                                        <p:strVal val="visible"/>
                                      </p:to>
                                    </p:set>
                                    <p:animEffect transition="in" filter="blinds(horizontal)">
                                      <p:cBhvr>
                                        <p:cTn id="10" dur="500"/>
                                        <p:tgtEl>
                                          <p:spTgt spid="22531">
                                            <p:txEl>
                                              <p:pRg st="5" end="5"/>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2531">
                                            <p:txEl>
                                              <p:pRg st="6" end="6"/>
                                            </p:txEl>
                                          </p:spTgt>
                                        </p:tgtEl>
                                        <p:attrNameLst>
                                          <p:attrName>style.visibility</p:attrName>
                                        </p:attrNameLst>
                                      </p:cBhvr>
                                      <p:to>
                                        <p:strVal val="visible"/>
                                      </p:to>
                                    </p:set>
                                    <p:animEffect transition="in" filter="blinds(horizontal)">
                                      <p:cBhvr>
                                        <p:cTn id="13" dur="500"/>
                                        <p:tgtEl>
                                          <p:spTgt spid="22531">
                                            <p:txEl>
                                              <p:pRg st="6" end="6"/>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2531">
                                            <p:txEl>
                                              <p:pRg st="7" end="7"/>
                                            </p:txEl>
                                          </p:spTgt>
                                        </p:tgtEl>
                                        <p:attrNameLst>
                                          <p:attrName>style.visibility</p:attrName>
                                        </p:attrNameLst>
                                      </p:cBhvr>
                                      <p:to>
                                        <p:strVal val="visible"/>
                                      </p:to>
                                    </p:set>
                                    <p:animEffect transition="in" filter="blinds(horizontal)">
                                      <p:cBhvr>
                                        <p:cTn id="16" dur="500"/>
                                        <p:tgtEl>
                                          <p:spTgt spid="2253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并发控制概述（续）</a:t>
            </a:r>
          </a:p>
        </p:txBody>
      </p:sp>
      <p:sp>
        <p:nvSpPr>
          <p:cNvPr id="23555" name="Rectangle 3"/>
          <p:cNvSpPr>
            <a:spLocks noGrp="1"/>
          </p:cNvSpPr>
          <p:nvPr>
            <p:ph type="body"/>
          </p:nvPr>
        </p:nvSpPr>
        <p:spPr>
          <a:xfrm>
            <a:off x="1271588" y="1265238"/>
            <a:ext cx="8229600" cy="4697412"/>
          </a:xfrm>
        </p:spPr>
        <p:txBody>
          <a:bodyPr vert="horz" wrap="square" lIns="91440" tIns="45720" rIns="91440" bIns="45720" anchor="t" anchorCtr="0"/>
          <a:lstStyle/>
          <a:p>
            <a:pPr eaLnBrk="1" hangingPunct="1">
              <a:lnSpc>
                <a:spcPct val="170000"/>
              </a:lnSpc>
            </a:pPr>
            <a:r>
              <a:rPr lang="zh-CN" altLang="en-US" dirty="0"/>
              <a:t>并发控制的主要技术</a:t>
            </a:r>
          </a:p>
          <a:p>
            <a:pPr lvl="1" eaLnBrk="1" hangingPunct="1">
              <a:lnSpc>
                <a:spcPct val="170000"/>
              </a:lnSpc>
            </a:pPr>
            <a:r>
              <a:rPr lang="zh-CN" altLang="en-US" dirty="0"/>
              <a:t>封锁</a:t>
            </a:r>
            <a:r>
              <a:rPr lang="en-US" altLang="zh-CN" dirty="0"/>
              <a:t>(locking)</a:t>
            </a:r>
          </a:p>
          <a:p>
            <a:pPr lvl="1" eaLnBrk="1" hangingPunct="1">
              <a:lnSpc>
                <a:spcPct val="170000"/>
              </a:lnSpc>
            </a:pPr>
            <a:r>
              <a:rPr lang="zh-CN" altLang="en-US" dirty="0"/>
              <a:t>时间戳</a:t>
            </a:r>
            <a:r>
              <a:rPr lang="en-US" altLang="zh-CN" dirty="0"/>
              <a:t>(timestamp)</a:t>
            </a:r>
          </a:p>
          <a:p>
            <a:pPr lvl="1" eaLnBrk="1" hangingPunct="1">
              <a:lnSpc>
                <a:spcPct val="170000"/>
              </a:lnSpc>
            </a:pPr>
            <a:r>
              <a:rPr lang="zh-CN" altLang="en-US" dirty="0"/>
              <a:t>乐观控制法</a:t>
            </a:r>
            <a:r>
              <a:rPr lang="zh-CN" altLang="zh-CN" dirty="0"/>
              <a:t>（</a:t>
            </a:r>
            <a:r>
              <a:rPr lang="en-US" altLang="zh-CN" dirty="0"/>
              <a:t>optimistic scheduler</a:t>
            </a:r>
            <a:r>
              <a:rPr lang="zh-CN" altLang="zh-CN" dirty="0"/>
              <a:t>）</a:t>
            </a:r>
            <a:endParaRPr lang="en-US" altLang="zh-CN" dirty="0"/>
          </a:p>
          <a:p>
            <a:pPr lvl="1" eaLnBrk="1" hangingPunct="1">
              <a:lnSpc>
                <a:spcPct val="170000"/>
              </a:lnSpc>
            </a:pPr>
            <a:r>
              <a:rPr lang="zh-CN" altLang="en-US" dirty="0"/>
              <a:t>多版本并发控制</a:t>
            </a:r>
            <a:r>
              <a:rPr lang="en-US" altLang="zh-CN" dirty="0"/>
              <a:t>(MVCC)</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type="title"/>
          </p:nvPr>
        </p:nvSpPr>
        <p:spPr>
          <a:xfrm>
            <a:off x="2438400" y="184150"/>
            <a:ext cx="7391400" cy="563563"/>
          </a:xfrm>
        </p:spPr>
        <p:txBody>
          <a:bodyPr vert="horz" wrap="square" lIns="91440" tIns="45720" rIns="91440" bIns="45720" anchor="ctr" anchorCtr="0"/>
          <a:lstStyle/>
          <a:p>
            <a:pPr eaLnBrk="1" hangingPunct="1"/>
            <a:r>
              <a:rPr lang="zh-CN" altLang="zh-CN" sz="3600" dirty="0"/>
              <a:t>第十</a:t>
            </a:r>
            <a:r>
              <a:rPr lang="zh-CN" altLang="en-US" sz="3600" dirty="0"/>
              <a:t>二</a:t>
            </a:r>
            <a:r>
              <a:rPr lang="zh-CN" altLang="zh-CN" sz="3600" dirty="0"/>
              <a:t>章  并发控制</a:t>
            </a:r>
          </a:p>
        </p:txBody>
      </p:sp>
      <p:sp>
        <p:nvSpPr>
          <p:cNvPr id="24579" name="Rectangle 3"/>
          <p:cNvSpPr>
            <a:spLocks noGrp="1"/>
          </p:cNvSpPr>
          <p:nvPr>
            <p:ph type="body"/>
          </p:nvPr>
        </p:nvSpPr>
        <p:spPr>
          <a:xfrm>
            <a:off x="1558925" y="908050"/>
            <a:ext cx="7715250" cy="5111750"/>
          </a:xfrm>
        </p:spPr>
        <p:txBody>
          <a:bodyPr vert="horz" wrap="square" lIns="91440" tIns="45720" rIns="91440" bIns="45720" anchor="t" anchorCtr="0"/>
          <a:lstStyle/>
          <a:p>
            <a:pPr marL="0" indent="0" algn="just" eaLnBrk="1" hangingPunct="1">
              <a:lnSpc>
                <a:spcPct val="130000"/>
              </a:lnSpc>
              <a:buNone/>
            </a:pPr>
            <a:r>
              <a:rPr lang="en-US" altLang="zh-CN" sz="2400" dirty="0"/>
              <a:t>12.1  </a:t>
            </a:r>
            <a:r>
              <a:rPr lang="zh-CN" altLang="en-US" sz="2400" dirty="0"/>
              <a:t>并发控制概述</a:t>
            </a:r>
          </a:p>
          <a:p>
            <a:pPr marL="0" indent="0" algn="just" eaLnBrk="1" hangingPunct="1">
              <a:lnSpc>
                <a:spcPct val="130000"/>
              </a:lnSpc>
              <a:buNone/>
            </a:pPr>
            <a:r>
              <a:rPr lang="en-US" altLang="zh-CN" sz="2400" dirty="0">
                <a:solidFill>
                  <a:srgbClr val="0066FF"/>
                </a:solidFill>
              </a:rPr>
              <a:t>12.2  </a:t>
            </a:r>
            <a:r>
              <a:rPr lang="zh-CN" altLang="en-US" sz="2400" dirty="0">
                <a:solidFill>
                  <a:srgbClr val="0066FF"/>
                </a:solidFill>
              </a:rPr>
              <a:t>事务的隔离级别</a:t>
            </a:r>
            <a:endParaRPr lang="en-US" altLang="zh-CN" sz="2400" dirty="0">
              <a:solidFill>
                <a:srgbClr val="0066FF"/>
              </a:solidFill>
            </a:endParaRPr>
          </a:p>
          <a:p>
            <a:pPr marL="0" indent="0" algn="just" eaLnBrk="1" hangingPunct="1">
              <a:lnSpc>
                <a:spcPct val="130000"/>
              </a:lnSpc>
              <a:buNone/>
            </a:pPr>
            <a:r>
              <a:rPr lang="en-US" altLang="zh-CN" sz="2400" dirty="0"/>
              <a:t>12.3  </a:t>
            </a:r>
            <a:r>
              <a:rPr lang="zh-CN" altLang="en-US" sz="2400" dirty="0"/>
              <a:t>封锁</a:t>
            </a:r>
            <a:endParaRPr lang="en-US" altLang="zh-CN" sz="2400" dirty="0"/>
          </a:p>
          <a:p>
            <a:pPr marL="0" indent="0" algn="just" eaLnBrk="1" hangingPunct="1">
              <a:lnSpc>
                <a:spcPct val="130000"/>
              </a:lnSpc>
              <a:buNone/>
            </a:pPr>
            <a:r>
              <a:rPr lang="en-US" altLang="zh-CN" sz="2400" dirty="0"/>
              <a:t>12.4 </a:t>
            </a:r>
            <a:r>
              <a:rPr lang="zh-CN" altLang="en-US" sz="2400" dirty="0"/>
              <a:t> 封锁协议</a:t>
            </a:r>
          </a:p>
          <a:p>
            <a:pPr marL="0" indent="0" algn="just" eaLnBrk="1" hangingPunct="1">
              <a:lnSpc>
                <a:spcPct val="130000"/>
              </a:lnSpc>
              <a:buNone/>
            </a:pPr>
            <a:r>
              <a:rPr lang="en-US" altLang="zh-CN" sz="2400" dirty="0"/>
              <a:t>12.5  </a:t>
            </a:r>
            <a:r>
              <a:rPr lang="zh-CN" altLang="en-US" sz="2400" dirty="0"/>
              <a:t>活锁和死锁</a:t>
            </a:r>
          </a:p>
          <a:p>
            <a:pPr marL="0" indent="0" algn="just" eaLnBrk="1" hangingPunct="1">
              <a:lnSpc>
                <a:spcPct val="130000"/>
              </a:lnSpc>
              <a:buNone/>
            </a:pPr>
            <a:r>
              <a:rPr lang="en-US" altLang="zh-CN" sz="2400" dirty="0"/>
              <a:t>12.6  </a:t>
            </a:r>
            <a:r>
              <a:rPr lang="zh-CN" altLang="en-US" sz="2400" dirty="0"/>
              <a:t>并发调度的可串行性</a:t>
            </a:r>
          </a:p>
          <a:p>
            <a:pPr marL="0" indent="0" algn="just" eaLnBrk="1" hangingPunct="1">
              <a:lnSpc>
                <a:spcPct val="130000"/>
              </a:lnSpc>
              <a:buNone/>
            </a:pPr>
            <a:r>
              <a:rPr lang="en-US" altLang="zh-CN" sz="2400" dirty="0"/>
              <a:t>12.7  </a:t>
            </a:r>
            <a:r>
              <a:rPr lang="zh-CN" altLang="en-US" sz="2400" dirty="0"/>
              <a:t>两段锁协议</a:t>
            </a:r>
          </a:p>
          <a:p>
            <a:pPr marL="0" indent="0" algn="just" eaLnBrk="1" hangingPunct="1">
              <a:lnSpc>
                <a:spcPct val="130000"/>
              </a:lnSpc>
              <a:buNone/>
            </a:pPr>
            <a:r>
              <a:rPr lang="en-US" altLang="zh-CN" sz="2400" dirty="0"/>
              <a:t>12.8  </a:t>
            </a:r>
            <a:r>
              <a:rPr lang="zh-CN" altLang="en-US" sz="2400" dirty="0"/>
              <a:t>封锁的粒度</a:t>
            </a:r>
          </a:p>
          <a:p>
            <a:pPr marL="0" indent="0" algn="just" eaLnBrk="1" hangingPunct="1">
              <a:lnSpc>
                <a:spcPct val="130000"/>
              </a:lnSpc>
              <a:buNone/>
            </a:pPr>
            <a:r>
              <a:rPr lang="zh-CN" altLang="en-US" sz="2400" dirty="0"/>
              <a:t>*</a:t>
            </a:r>
            <a:r>
              <a:rPr lang="en-US" altLang="zh-CN" sz="2400" dirty="0"/>
              <a:t>12.9  </a:t>
            </a:r>
            <a:r>
              <a:rPr lang="zh-CN" altLang="en-US" sz="2400" dirty="0"/>
              <a:t>其他并发控制机制</a:t>
            </a:r>
          </a:p>
          <a:p>
            <a:pPr marL="0" indent="0" algn="just" eaLnBrk="1" hangingPunct="1">
              <a:lnSpc>
                <a:spcPct val="130000"/>
              </a:lnSpc>
              <a:buNone/>
            </a:pPr>
            <a:r>
              <a:rPr lang="zh-CN" altLang="en-US" sz="2400" dirty="0"/>
              <a:t>1</a:t>
            </a:r>
            <a:r>
              <a:rPr lang="en-US" altLang="zh-CN" sz="2400" dirty="0"/>
              <a:t>2</a:t>
            </a:r>
            <a:r>
              <a:rPr lang="zh-CN" altLang="en-US" sz="2400" dirty="0"/>
              <a:t>.</a:t>
            </a:r>
            <a:r>
              <a:rPr lang="en-US" altLang="zh-CN" sz="2400" dirty="0"/>
              <a:t>10</a:t>
            </a:r>
            <a:r>
              <a:rPr lang="zh-CN" altLang="en-US" sz="2400" dirty="0"/>
              <a:t>  小结</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en-US" altLang="zh-CN" sz="3600" dirty="0"/>
              <a:t>12.2  </a:t>
            </a:r>
            <a:r>
              <a:rPr lang="zh-CN" altLang="en-US" sz="3600" dirty="0"/>
              <a:t>事务的隔离级别</a:t>
            </a:r>
          </a:p>
        </p:txBody>
      </p:sp>
      <p:sp>
        <p:nvSpPr>
          <p:cNvPr id="25603" name="Rectangle 3"/>
          <p:cNvSpPr>
            <a:spLocks noGrp="1"/>
          </p:cNvSpPr>
          <p:nvPr>
            <p:ph type="body"/>
          </p:nvPr>
        </p:nvSpPr>
        <p:spPr>
          <a:xfrm>
            <a:off x="446088" y="1212850"/>
            <a:ext cx="11376025" cy="4981575"/>
          </a:xfrm>
        </p:spPr>
        <p:txBody>
          <a:bodyPr vert="horz" wrap="square" lIns="91440" tIns="45720" rIns="91440" bIns="45720" anchor="t" anchorCtr="0"/>
          <a:lstStyle/>
          <a:p>
            <a:pPr eaLnBrk="1" hangingPunct="1">
              <a:lnSpc>
                <a:spcPct val="150000"/>
              </a:lnSpc>
            </a:pPr>
            <a:r>
              <a:rPr lang="zh-CN" altLang="en-US" dirty="0"/>
              <a:t>为防止数据不一致，需要</a:t>
            </a:r>
            <a:r>
              <a:rPr lang="en-US" altLang="zh-CN" dirty="0"/>
              <a:t>DBMS</a:t>
            </a:r>
            <a:r>
              <a:rPr lang="zh-CN" altLang="en-US" dirty="0"/>
              <a:t>对并发操作进行控制</a:t>
            </a:r>
            <a:endParaRPr lang="en-US" altLang="zh-CN" dirty="0"/>
          </a:p>
          <a:p>
            <a:pPr eaLnBrk="1" hangingPunct="1">
              <a:lnSpc>
                <a:spcPct val="150000"/>
              </a:lnSpc>
            </a:pPr>
            <a:r>
              <a:rPr lang="zh-CN" altLang="en-US" dirty="0"/>
              <a:t>这种控制越严格，事务的隔离性就越强，数据的一致性就越有保障，但系统的效率也会随之下降。</a:t>
            </a:r>
            <a:endParaRPr lang="en-US" altLang="zh-CN" dirty="0"/>
          </a:p>
          <a:p>
            <a:pPr eaLnBrk="1" hangingPunct="1">
              <a:lnSpc>
                <a:spcPct val="150000"/>
              </a:lnSpc>
            </a:pPr>
            <a:r>
              <a:rPr lang="en-US" altLang="zh-CN" dirty="0"/>
              <a:t>SQL</a:t>
            </a:r>
            <a:r>
              <a:rPr lang="zh-CN" altLang="zh-CN" dirty="0"/>
              <a:t>标准中给出了事务的四类隔离级别，以满足不同应用场景的需求</a:t>
            </a:r>
            <a:endParaRPr lang="en-US" altLang="zh-CN" dirty="0"/>
          </a:p>
          <a:p>
            <a:pPr lvl="1" eaLnBrk="1" hangingPunct="1">
              <a:lnSpc>
                <a:spcPct val="150000"/>
              </a:lnSpc>
            </a:pPr>
            <a:r>
              <a:rPr lang="zh-CN" altLang="en-US" dirty="0"/>
              <a:t>四类隔离级别由低到高分别是：读未提交、读已提交、可重复读、可串行化</a:t>
            </a:r>
            <a:endParaRPr lang="zh-CN" altLang="zh-CN" dirty="0"/>
          </a:p>
        </p:txBody>
      </p:sp>
      <p:sp>
        <p:nvSpPr>
          <p:cNvPr id="2" name="文本框 1"/>
          <p:cNvSpPr txBox="1"/>
          <p:nvPr/>
        </p:nvSpPr>
        <p:spPr>
          <a:xfrm>
            <a:off x="2207260" y="5157470"/>
            <a:ext cx="6096000" cy="460375"/>
          </a:xfrm>
          <a:prstGeom prst="rect">
            <a:avLst/>
          </a:prstGeom>
          <a:noFill/>
        </p:spPr>
        <p:txBody>
          <a:bodyPr wrap="square" rtlCol="0" anchor="t">
            <a:spAutoFit/>
          </a:bodyPr>
          <a:lstStyle/>
          <a:p>
            <a:pPr algn="ctr"/>
            <a:r>
              <a:rPr lang="zh-CN" altLang="zh-CN" sz="2400" dirty="0">
                <a:sym typeface="+mn-ea"/>
              </a:rPr>
              <a:t>隔离级别意味着一致性等级</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p:cNvSpPr>
          <p:nvPr>
            <p:ph type="title"/>
          </p:nvPr>
        </p:nvSpPr>
        <p:spPr>
          <a:xfrm>
            <a:off x="2438400" y="255588"/>
            <a:ext cx="8121650" cy="563562"/>
          </a:xfrm>
        </p:spPr>
        <p:txBody>
          <a:bodyPr vert="horz" wrap="square" lIns="90170" tIns="46990" rIns="90170" bIns="46990" anchor="ctr" anchorCtr="0"/>
          <a:lstStyle/>
          <a:p>
            <a:pPr eaLnBrk="1" hangingPunct="1"/>
            <a:r>
              <a:rPr lang="en-US" altLang="zh-CN" sz="3600" dirty="0"/>
              <a:t>1.	</a:t>
            </a:r>
            <a:r>
              <a:rPr lang="zh-CN" altLang="en-US" sz="3600" dirty="0"/>
              <a:t>读未提交（</a:t>
            </a:r>
            <a:r>
              <a:rPr lang="en-US" altLang="zh-CN" sz="3600" dirty="0"/>
              <a:t>Read uncommitted</a:t>
            </a:r>
            <a:r>
              <a:rPr lang="zh-CN" altLang="en-US" sz="3600" dirty="0"/>
              <a:t>）</a:t>
            </a:r>
          </a:p>
        </p:txBody>
      </p:sp>
      <p:sp>
        <p:nvSpPr>
          <p:cNvPr id="26627" name="Rectangle 3"/>
          <p:cNvSpPr>
            <a:spLocks noGrp="1"/>
          </p:cNvSpPr>
          <p:nvPr>
            <p:ph type="body"/>
          </p:nvPr>
        </p:nvSpPr>
        <p:spPr>
          <a:xfrm>
            <a:off x="1055688" y="1484313"/>
            <a:ext cx="10225087" cy="5056187"/>
          </a:xfrm>
        </p:spPr>
        <p:txBody>
          <a:bodyPr vert="horz" wrap="square" lIns="91440" tIns="45720" rIns="91440" bIns="45720" anchor="t" anchorCtr="0"/>
          <a:lstStyle/>
          <a:p>
            <a:pPr algn="just" eaLnBrk="1" hangingPunct="1">
              <a:lnSpc>
                <a:spcPct val="130000"/>
              </a:lnSpc>
            </a:pPr>
            <a:r>
              <a:rPr lang="zh-CN" altLang="en-US" dirty="0"/>
              <a:t>“读未提交”是允许一个事务可以读取另一个未提交事务正在修改的数据。它可能出现脏读、不可重复读和幻读的情形。 </a:t>
            </a:r>
          </a:p>
          <a:p>
            <a:pPr algn="just" eaLnBrk="1" hangingPunct="1">
              <a:lnSpc>
                <a:spcPct val="130000"/>
              </a:lnSpc>
              <a:buNone/>
            </a:pPr>
            <a:endParaRPr lang="zh-CN" altLang="en-US" sz="3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p:nvPr>
        </p:nvSpPr>
        <p:spPr>
          <a:xfrm>
            <a:off x="2438400" y="255588"/>
            <a:ext cx="8121650" cy="563562"/>
          </a:xfrm>
        </p:spPr>
        <p:txBody>
          <a:bodyPr vert="horz" wrap="square" lIns="90170" tIns="46990" rIns="90170" bIns="46990" anchor="ctr" anchorCtr="0"/>
          <a:lstStyle/>
          <a:p>
            <a:pPr eaLnBrk="1" hangingPunct="1"/>
            <a:r>
              <a:rPr lang="en-US" altLang="zh-CN" sz="3600" dirty="0"/>
              <a:t>2.	</a:t>
            </a:r>
            <a:r>
              <a:rPr lang="zh-CN" altLang="en-US" sz="3600" dirty="0"/>
              <a:t>读已提交（</a:t>
            </a:r>
            <a:r>
              <a:rPr lang="en-US" altLang="zh-CN" sz="3600" dirty="0"/>
              <a:t>Read committed</a:t>
            </a:r>
            <a:r>
              <a:rPr lang="zh-CN" altLang="en-US" sz="3600" dirty="0"/>
              <a:t>）</a:t>
            </a:r>
          </a:p>
        </p:txBody>
      </p:sp>
      <p:sp>
        <p:nvSpPr>
          <p:cNvPr id="27651" name="Rectangle 3"/>
          <p:cNvSpPr>
            <a:spLocks noGrp="1"/>
          </p:cNvSpPr>
          <p:nvPr>
            <p:ph type="body"/>
          </p:nvPr>
        </p:nvSpPr>
        <p:spPr>
          <a:xfrm>
            <a:off x="982663" y="1276350"/>
            <a:ext cx="10226675" cy="5056188"/>
          </a:xfrm>
        </p:spPr>
        <p:txBody>
          <a:bodyPr vert="horz" wrap="square" lIns="91440" tIns="45720" rIns="91440" bIns="45720" anchor="t" anchorCtr="0"/>
          <a:lstStyle/>
          <a:p>
            <a:pPr algn="just" eaLnBrk="1" hangingPunct="1">
              <a:lnSpc>
                <a:spcPct val="130000"/>
              </a:lnSpc>
            </a:pPr>
            <a:r>
              <a:rPr lang="zh-CN" altLang="en-US" dirty="0"/>
              <a:t>“读已提交”是只允许一个事务读其他事务已提交的数据。显然，“读已提交”可以有效避免读“脏”数据，但是它不能保证可重复读和不幻读。</a:t>
            </a:r>
            <a:endParaRPr lang="zh-CN" altLang="en-US" sz="3200" dirty="0"/>
          </a:p>
        </p:txBody>
      </p:sp>
      <p:sp>
        <p:nvSpPr>
          <p:cNvPr id="2" name="文本框 1"/>
          <p:cNvSpPr txBox="1"/>
          <p:nvPr/>
        </p:nvSpPr>
        <p:spPr>
          <a:xfrm>
            <a:off x="1127125" y="3933190"/>
            <a:ext cx="10022205" cy="521970"/>
          </a:xfrm>
          <a:prstGeom prst="rect">
            <a:avLst/>
          </a:prstGeom>
          <a:noFill/>
        </p:spPr>
        <p:txBody>
          <a:bodyPr wrap="square" rtlCol="0" anchor="t">
            <a:spAutoFit/>
          </a:bodyPr>
          <a:lstStyle/>
          <a:p>
            <a:r>
              <a:rPr lang="zh-CN" altLang="en-US" sz="2800" dirty="0">
                <a:sym typeface="+mn-ea"/>
              </a:rPr>
              <a:t>思考：请举例说明</a:t>
            </a:r>
            <a:r>
              <a:rPr lang="en-US" altLang="zh-CN" sz="2800" dirty="0">
                <a:sym typeface="+mn-ea"/>
              </a:rPr>
              <a:t>“</a:t>
            </a:r>
            <a:r>
              <a:rPr lang="zh-CN" altLang="en-US" sz="2800" dirty="0">
                <a:sym typeface="+mn-ea"/>
              </a:rPr>
              <a:t>读已提交</a:t>
            </a:r>
            <a:r>
              <a:rPr lang="en-US" altLang="zh-CN" sz="2800" dirty="0">
                <a:sym typeface="+mn-ea"/>
              </a:rPr>
              <a:t>”</a:t>
            </a:r>
            <a:r>
              <a:rPr lang="zh-CN" altLang="en-US" sz="2800" dirty="0">
                <a:sym typeface="+mn-ea"/>
              </a:rPr>
              <a:t>不能保证避免</a:t>
            </a:r>
            <a:r>
              <a:rPr lang="en-US" altLang="zh-CN" sz="2800" dirty="0">
                <a:sym typeface="+mn-ea"/>
              </a:rPr>
              <a:t>“</a:t>
            </a:r>
            <a:r>
              <a:rPr lang="zh-CN" altLang="en-US" sz="2800" dirty="0">
                <a:sym typeface="+mn-ea"/>
              </a:rPr>
              <a:t>可重复读</a:t>
            </a:r>
            <a:r>
              <a:rPr lang="en-US" altLang="zh-CN" sz="2800" dirty="0">
                <a:sym typeface="+mn-ea"/>
              </a:rPr>
              <a:t>”</a:t>
            </a:r>
            <a:r>
              <a:rPr lang="zh-CN" altLang="en-US" sz="2800" dirty="0">
                <a:sym typeface="+mn-ea"/>
              </a:rPr>
              <a:t>或</a:t>
            </a:r>
            <a:r>
              <a:rPr lang="en-US" altLang="zh-CN" sz="2800" dirty="0">
                <a:sym typeface="+mn-ea"/>
              </a:rPr>
              <a:t>“</a:t>
            </a:r>
            <a:r>
              <a:rPr lang="zh-CN" altLang="en-US" sz="2800" dirty="0">
                <a:sym typeface="+mn-ea"/>
              </a:rPr>
              <a:t>幻读</a:t>
            </a:r>
            <a:r>
              <a:rPr lang="en-US" altLang="zh-CN" sz="2800" dirty="0">
                <a:sym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p:cNvSpPr>
          <p:nvPr>
            <p:ph type="title"/>
          </p:nvPr>
        </p:nvSpPr>
        <p:spPr>
          <a:xfrm>
            <a:off x="2438400" y="255588"/>
            <a:ext cx="8121650" cy="563562"/>
          </a:xfrm>
        </p:spPr>
        <p:txBody>
          <a:bodyPr vert="horz" wrap="square" lIns="90170" tIns="46990" rIns="90170" bIns="46990" anchor="ctr" anchorCtr="0"/>
          <a:lstStyle/>
          <a:p>
            <a:pPr eaLnBrk="1" hangingPunct="1"/>
            <a:r>
              <a:rPr lang="en-US" altLang="zh-CN" sz="3600" dirty="0"/>
              <a:t>3.	</a:t>
            </a:r>
            <a:r>
              <a:rPr lang="zh-CN" altLang="en-US" sz="3600" dirty="0"/>
              <a:t>可重复读（</a:t>
            </a:r>
            <a:r>
              <a:rPr lang="en-US" altLang="zh-CN" sz="3600" dirty="0"/>
              <a:t>Repeatable Read</a:t>
            </a:r>
            <a:r>
              <a:rPr lang="zh-CN" altLang="en-US" sz="3600" dirty="0"/>
              <a:t>）</a:t>
            </a:r>
          </a:p>
        </p:txBody>
      </p:sp>
      <p:sp>
        <p:nvSpPr>
          <p:cNvPr id="28675" name="Rectangle 3"/>
          <p:cNvSpPr>
            <a:spLocks noGrp="1"/>
          </p:cNvSpPr>
          <p:nvPr>
            <p:ph type="body"/>
          </p:nvPr>
        </p:nvSpPr>
        <p:spPr>
          <a:xfrm>
            <a:off x="911225" y="1268413"/>
            <a:ext cx="10298113" cy="5056187"/>
          </a:xfrm>
        </p:spPr>
        <p:txBody>
          <a:bodyPr vert="horz" wrap="square" lIns="91440" tIns="45720" rIns="91440" bIns="45720" anchor="t" anchorCtr="0"/>
          <a:lstStyle/>
          <a:p>
            <a:pPr algn="just" eaLnBrk="1" hangingPunct="1">
              <a:lnSpc>
                <a:spcPct val="130000"/>
              </a:lnSpc>
            </a:pPr>
            <a:r>
              <a:rPr lang="zh-CN" altLang="en-US" dirty="0"/>
              <a:t>“可重复读”是一个事务开始读取数据后，其他事务就不能再对该数据执行</a:t>
            </a:r>
            <a:r>
              <a:rPr lang="en-US" altLang="zh-CN" dirty="0"/>
              <a:t>UPDATE</a:t>
            </a:r>
            <a:r>
              <a:rPr lang="zh-CN" altLang="en-US" dirty="0"/>
              <a:t>操作了。</a:t>
            </a:r>
            <a:endParaRPr lang="en-US" altLang="zh-CN" dirty="0"/>
          </a:p>
          <a:p>
            <a:pPr algn="just" eaLnBrk="1" hangingPunct="1">
              <a:lnSpc>
                <a:spcPct val="130000"/>
              </a:lnSpc>
            </a:pPr>
            <a:r>
              <a:rPr lang="zh-CN" altLang="en-US" dirty="0"/>
              <a:t>“可重复读”杜绝了脏读和不可重复读</a:t>
            </a:r>
            <a:endParaRPr lang="en-US" altLang="zh-CN" dirty="0"/>
          </a:p>
          <a:p>
            <a:pPr algn="just" eaLnBrk="1" hangingPunct="1">
              <a:lnSpc>
                <a:spcPct val="130000"/>
              </a:lnSpc>
            </a:pPr>
            <a:r>
              <a:rPr lang="zh-CN" altLang="en-US" dirty="0"/>
              <a:t>不能保证不幻读</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p:cNvSpPr>
          <p:nvPr>
            <p:ph type="title"/>
          </p:nvPr>
        </p:nvSpPr>
        <p:spPr>
          <a:xfrm>
            <a:off x="2438400" y="255588"/>
            <a:ext cx="8121650" cy="563562"/>
          </a:xfrm>
        </p:spPr>
        <p:txBody>
          <a:bodyPr vert="horz" wrap="square" lIns="90170" tIns="46990" rIns="90170" bIns="46990" anchor="ctr" anchorCtr="0"/>
          <a:lstStyle/>
          <a:p>
            <a:pPr eaLnBrk="1" hangingPunct="1"/>
            <a:r>
              <a:rPr lang="es-ES" altLang="zh-CN" sz="3600" dirty="0"/>
              <a:t>4.	</a:t>
            </a:r>
            <a:r>
              <a:rPr lang="zh-CN" altLang="es-ES" sz="3600" dirty="0"/>
              <a:t>可串行化（</a:t>
            </a:r>
            <a:r>
              <a:rPr lang="es-ES" altLang="zh-CN" sz="3600" dirty="0"/>
              <a:t>Serializable</a:t>
            </a:r>
            <a:r>
              <a:rPr lang="zh-CN" altLang="es-ES" sz="3600" dirty="0"/>
              <a:t>）</a:t>
            </a:r>
            <a:endParaRPr lang="zh-CN" altLang="en-US" sz="3600" dirty="0"/>
          </a:p>
        </p:txBody>
      </p:sp>
      <p:sp>
        <p:nvSpPr>
          <p:cNvPr id="29699" name="Rectangle 3"/>
          <p:cNvSpPr>
            <a:spLocks noGrp="1"/>
          </p:cNvSpPr>
          <p:nvPr>
            <p:ph type="body"/>
          </p:nvPr>
        </p:nvSpPr>
        <p:spPr>
          <a:xfrm>
            <a:off x="982663" y="1412875"/>
            <a:ext cx="10153650" cy="5056188"/>
          </a:xfrm>
        </p:spPr>
        <p:txBody>
          <a:bodyPr vert="horz" wrap="square" lIns="91440" tIns="45720" rIns="91440" bIns="45720" anchor="t" anchorCtr="0"/>
          <a:lstStyle/>
          <a:p>
            <a:pPr algn="just" eaLnBrk="1" hangingPunct="1">
              <a:lnSpc>
                <a:spcPct val="130000"/>
              </a:lnSpc>
            </a:pPr>
            <a:r>
              <a:rPr lang="zh-CN" altLang="en-US" dirty="0"/>
              <a:t>“可串行化”是最高的事务隔离级别</a:t>
            </a:r>
            <a:endParaRPr lang="en-US" altLang="zh-CN" dirty="0"/>
          </a:p>
          <a:p>
            <a:pPr algn="just" eaLnBrk="1" hangingPunct="1">
              <a:lnSpc>
                <a:spcPct val="130000"/>
              </a:lnSpc>
            </a:pPr>
            <a:r>
              <a:rPr lang="zh-CN" altLang="en-US" dirty="0"/>
              <a:t>事务执行顺序是可串行化的，可以避免丢失修改、脏读、不可重复读和幻读</a:t>
            </a:r>
            <a:endParaRPr lang="en-US" altLang="zh-CN" dirty="0"/>
          </a:p>
          <a:p>
            <a:pPr algn="just" eaLnBrk="1" hangingPunct="1">
              <a:lnSpc>
                <a:spcPct val="130000"/>
              </a:lnSpc>
            </a:pPr>
            <a:endParaRPr lang="zh-CN" altLang="en-US" dirty="0"/>
          </a:p>
        </p:txBody>
      </p:sp>
      <p:sp>
        <p:nvSpPr>
          <p:cNvPr id="2" name="文本框 1"/>
          <p:cNvSpPr txBox="1"/>
          <p:nvPr/>
        </p:nvSpPr>
        <p:spPr>
          <a:xfrm>
            <a:off x="695325" y="4149090"/>
            <a:ext cx="10648315" cy="829945"/>
          </a:xfrm>
          <a:prstGeom prst="rect">
            <a:avLst/>
          </a:prstGeom>
          <a:noFill/>
        </p:spPr>
        <p:txBody>
          <a:bodyPr wrap="square" rtlCol="0" anchor="t">
            <a:spAutoFit/>
          </a:bodyPr>
          <a:lstStyle/>
          <a:p>
            <a:pPr algn="ctr"/>
            <a:r>
              <a:rPr lang="en-US" altLang="zh-CN" sz="2400" dirty="0">
                <a:sym typeface="+mn-ea"/>
              </a:rPr>
              <a:t>“</a:t>
            </a:r>
            <a:r>
              <a:rPr lang="zh-CN" altLang="en-US" sz="2400" dirty="0">
                <a:sym typeface="+mn-ea"/>
              </a:rPr>
              <a:t>可串行化</a:t>
            </a:r>
            <a:r>
              <a:rPr lang="en-US" altLang="zh-CN" sz="2400" dirty="0">
                <a:sym typeface="+mn-ea"/>
              </a:rPr>
              <a:t>”</a:t>
            </a:r>
            <a:r>
              <a:rPr lang="zh-CN" altLang="en-US" sz="2400" dirty="0">
                <a:sym typeface="+mn-ea"/>
              </a:rPr>
              <a:t>指事务执行顺序是可串行化的，即对并发事务的调度与按某个串行顺序执行这些事务的调度，效果相同</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2438400" y="255588"/>
            <a:ext cx="812165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170" tIns="46990" rIns="90170" bIns="46990" anchor="ctr"/>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a:ln>
                  <a:noFill/>
                </a:ln>
                <a:solidFill>
                  <a:schemeClr val="bg1"/>
                </a:solidFill>
                <a:effectLst/>
                <a:uLnTx/>
                <a:uFillTx/>
                <a:latin typeface="+mj-lt"/>
                <a:ea typeface="+mj-ea"/>
                <a:cs typeface="+mj-cs"/>
              </a:rPr>
              <a:t>事务隔离级别与数据不一致性的关系</a:t>
            </a:r>
            <a:endParaRPr kumimoji="0" lang="zh-CN" altLang="en-US" sz="3600" b="1" i="0" u="none" strike="noStrike" kern="0" cap="none" spc="0" normalizeH="0" baseline="0" noProof="0" dirty="0">
              <a:ln>
                <a:noFill/>
              </a:ln>
              <a:solidFill>
                <a:schemeClr val="bg1"/>
              </a:solidFill>
              <a:effectLst/>
              <a:uLnTx/>
              <a:uFillTx/>
              <a:latin typeface="+mj-lt"/>
              <a:ea typeface="+mj-ea"/>
              <a:cs typeface="+mj-cs"/>
            </a:endParaRPr>
          </a:p>
        </p:txBody>
      </p:sp>
      <p:pic>
        <p:nvPicPr>
          <p:cNvPr id="30723" name="图片 2"/>
          <p:cNvPicPr>
            <a:picLocks noChangeAspect="1"/>
          </p:cNvPicPr>
          <p:nvPr/>
        </p:nvPicPr>
        <p:blipFill>
          <a:blip r:embed="rId2"/>
          <a:stretch>
            <a:fillRect/>
          </a:stretch>
        </p:blipFill>
        <p:spPr>
          <a:xfrm>
            <a:off x="-241300" y="1989138"/>
            <a:ext cx="11414125" cy="3168650"/>
          </a:xfrm>
          <a:prstGeom prst="rect">
            <a:avLst/>
          </a:prstGeom>
          <a:noFill/>
          <a:ln w="9525">
            <a:noFill/>
          </a:ln>
        </p:spPr>
      </p:pic>
      <p:sp>
        <p:nvSpPr>
          <p:cNvPr id="4" name="文本框 3"/>
          <p:cNvSpPr txBox="1"/>
          <p:nvPr/>
        </p:nvSpPr>
        <p:spPr>
          <a:xfrm>
            <a:off x="1055370" y="5085080"/>
            <a:ext cx="10307955" cy="398780"/>
          </a:xfrm>
          <a:prstGeom prst="rect">
            <a:avLst/>
          </a:prstGeom>
          <a:noFill/>
        </p:spPr>
        <p:txBody>
          <a:bodyPr wrap="square" rtlCol="0" anchor="t">
            <a:spAutoFit/>
          </a:bodyPr>
          <a:lstStyle/>
          <a:p>
            <a:r>
              <a:rPr lang="zh-CN" altLang="en-US" sz="2000" b="1">
                <a:solidFill>
                  <a:srgbClr val="C00000"/>
                </a:solidFill>
                <a:latin typeface="+mn-ea"/>
                <a:ea typeface="+mn-ea"/>
                <a:cs typeface="+mn-ea"/>
                <a:sym typeface="+mn-ea"/>
              </a:rPr>
              <a:t>实际上，</a:t>
            </a:r>
            <a:r>
              <a:rPr lang="en-US" altLang="zh-CN" sz="2000" b="1">
                <a:solidFill>
                  <a:srgbClr val="C00000"/>
                </a:solidFill>
                <a:latin typeface="+mn-ea"/>
                <a:ea typeface="+mn-ea"/>
                <a:cs typeface="+mn-ea"/>
                <a:sym typeface="+mn-ea"/>
              </a:rPr>
              <a:t>SQL</a:t>
            </a:r>
            <a:r>
              <a:rPr lang="zh-CN" altLang="en-US" sz="2000" b="1">
                <a:solidFill>
                  <a:srgbClr val="C00000"/>
                </a:solidFill>
                <a:latin typeface="+mn-ea"/>
                <a:ea typeface="+mn-ea"/>
                <a:cs typeface="+mn-ea"/>
                <a:sym typeface="+mn-ea"/>
              </a:rPr>
              <a:t>标准是用</a:t>
            </a:r>
            <a:r>
              <a:rPr lang="en-US" altLang="zh-CN" sz="2000" b="1">
                <a:solidFill>
                  <a:srgbClr val="C00000"/>
                </a:solidFill>
                <a:latin typeface="+mn-ea"/>
                <a:ea typeface="+mn-ea"/>
                <a:cs typeface="+mn-ea"/>
                <a:sym typeface="+mn-ea"/>
              </a:rPr>
              <a:t>“</a:t>
            </a:r>
            <a:r>
              <a:rPr lang="zh-CN" altLang="en-US" sz="2000" b="1">
                <a:solidFill>
                  <a:srgbClr val="C00000"/>
                </a:solidFill>
                <a:latin typeface="+mn-ea"/>
                <a:ea typeface="+mn-ea"/>
                <a:cs typeface="+mn-ea"/>
                <a:sym typeface="+mn-ea"/>
              </a:rPr>
              <a:t>所避免的数据不一致现象</a:t>
            </a:r>
            <a:r>
              <a:rPr lang="en-US" altLang="zh-CN" sz="2000" b="1">
                <a:solidFill>
                  <a:srgbClr val="C00000"/>
                </a:solidFill>
                <a:latin typeface="+mn-ea"/>
                <a:ea typeface="+mn-ea"/>
                <a:cs typeface="+mn-ea"/>
                <a:sym typeface="+mn-ea"/>
              </a:rPr>
              <a:t>”</a:t>
            </a:r>
            <a:r>
              <a:rPr lang="zh-CN" altLang="en-US" sz="2000" b="1">
                <a:solidFill>
                  <a:srgbClr val="C00000"/>
                </a:solidFill>
                <a:latin typeface="+mn-ea"/>
                <a:ea typeface="+mn-ea"/>
                <a:cs typeface="+mn-ea"/>
                <a:sym typeface="+mn-ea"/>
              </a:rPr>
              <a:t>来定义</a:t>
            </a:r>
            <a:r>
              <a:rPr lang="en-US" altLang="zh-CN" sz="2000" b="1">
                <a:solidFill>
                  <a:srgbClr val="C00000"/>
                </a:solidFill>
                <a:latin typeface="+mn-ea"/>
                <a:ea typeface="+mn-ea"/>
                <a:cs typeface="+mn-ea"/>
                <a:sym typeface="+mn-ea"/>
              </a:rPr>
              <a:t>4</a:t>
            </a:r>
            <a:r>
              <a:rPr lang="zh-CN" altLang="en-US" sz="2000" b="1">
                <a:solidFill>
                  <a:srgbClr val="C00000"/>
                </a:solidFill>
                <a:latin typeface="+mn-ea"/>
                <a:ea typeface="+mn-ea"/>
                <a:cs typeface="+mn-ea"/>
                <a:sym typeface="+mn-ea"/>
              </a:rPr>
              <a:t>种隔离级别</a:t>
            </a:r>
          </a:p>
        </p:txBody>
      </p:sp>
      <p:sp>
        <p:nvSpPr>
          <p:cNvPr id="15364" name="矩形 1"/>
          <p:cNvSpPr/>
          <p:nvPr/>
        </p:nvSpPr>
        <p:spPr>
          <a:xfrm>
            <a:off x="551180" y="5622290"/>
            <a:ext cx="112236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600" b="0" i="1" dirty="0">
                <a:solidFill>
                  <a:srgbClr val="333333"/>
                </a:solidFill>
                <a:latin typeface="Courier New" panose="02070309020205020404" pitchFamily="49" charset="0"/>
              </a:rPr>
              <a:t>参考阅读：</a:t>
            </a:r>
            <a:r>
              <a:rPr lang="en-US" altLang="zh-CN" sz="1600" b="0" i="1" dirty="0">
                <a:solidFill>
                  <a:srgbClr val="333333"/>
                </a:solidFill>
                <a:latin typeface="Courier New" panose="02070309020205020404" pitchFamily="49" charset="0"/>
              </a:rPr>
              <a:t>Hal Berenson, Phil Bernstein, </a:t>
            </a:r>
            <a:r>
              <a:rPr lang="en-US" altLang="zh-CN" sz="1600" i="1" dirty="0">
                <a:solidFill>
                  <a:srgbClr val="333333"/>
                </a:solidFill>
                <a:latin typeface="Courier New" panose="02070309020205020404" pitchFamily="49" charset="0"/>
              </a:rPr>
              <a:t>Jim Gray</a:t>
            </a:r>
            <a:r>
              <a:rPr lang="en-US" altLang="zh-CN" sz="1600" b="0" i="1" dirty="0">
                <a:solidFill>
                  <a:srgbClr val="333333"/>
                </a:solidFill>
                <a:latin typeface="Courier New" panose="02070309020205020404" pitchFamily="49" charset="0"/>
              </a:rPr>
              <a:t>, Jim Melton, Elizabeth O'Neil, and Patrick O'Neil. 1995. A critique of ANSI SQL isolation levels. SIGMOD Rec. 24, 2 (May 1995), 1–10. </a:t>
            </a:r>
            <a:endParaRPr lang="zh-CN" altLang="en-US" sz="16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15364" grpId="0"/>
      <p:bldP spid="15364"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p:cNvSpPr>
          <p:nvPr>
            <p:ph type="title"/>
          </p:nvPr>
        </p:nvSpPr>
        <p:spPr>
          <a:xfrm>
            <a:off x="2438400" y="255588"/>
            <a:ext cx="8121650" cy="563562"/>
          </a:xfrm>
        </p:spPr>
        <p:txBody>
          <a:bodyPr vert="horz" wrap="square" lIns="90170" tIns="46990" rIns="90170" bIns="46990" anchor="ctr" anchorCtr="0"/>
          <a:lstStyle/>
          <a:p>
            <a:pPr eaLnBrk="1" hangingPunct="1"/>
            <a:r>
              <a:rPr lang="zh-CN" altLang="en-US" sz="2800" dirty="0"/>
              <a:t>事务隔离级别与数据一致性以及系统代价的关系</a:t>
            </a:r>
          </a:p>
        </p:txBody>
      </p:sp>
      <p:pic>
        <p:nvPicPr>
          <p:cNvPr id="31747" name="图片 1"/>
          <p:cNvPicPr>
            <a:picLocks noChangeAspect="1"/>
          </p:cNvPicPr>
          <p:nvPr/>
        </p:nvPicPr>
        <p:blipFill>
          <a:blip r:embed="rId2"/>
          <a:stretch>
            <a:fillRect/>
          </a:stretch>
        </p:blipFill>
        <p:spPr>
          <a:xfrm>
            <a:off x="6816725" y="1865313"/>
            <a:ext cx="4327525" cy="2917825"/>
          </a:xfrm>
          <a:prstGeom prst="rect">
            <a:avLst/>
          </a:prstGeom>
          <a:noFill/>
          <a:ln w="9525">
            <a:noFill/>
          </a:ln>
        </p:spPr>
      </p:pic>
      <p:sp>
        <p:nvSpPr>
          <p:cNvPr id="3" name="矩形 2"/>
          <p:cNvSpPr/>
          <p:nvPr/>
        </p:nvSpPr>
        <p:spPr>
          <a:xfrm>
            <a:off x="263525" y="1196975"/>
            <a:ext cx="6048375" cy="4559935"/>
          </a:xfrm>
          <a:prstGeom prst="rect">
            <a:avLst/>
          </a:prstGeom>
        </p:spPr>
        <p:txBody>
          <a:bodyPr wrap="square">
            <a:spAutoFit/>
          </a:bodyPr>
          <a:lstStyle/>
          <a:p>
            <a:pPr marL="742950" marR="0" lvl="1" indent="-285750" algn="l" defTabSz="914400" rtl="0" eaLnBrk="1" fontAlgn="base" latinLnBrk="0" hangingPunct="1">
              <a:lnSpc>
                <a:spcPct val="150000"/>
              </a:lnSpc>
              <a:spcBef>
                <a:spcPct val="20000"/>
              </a:spcBef>
              <a:spcAft>
                <a:spcPct val="0"/>
              </a:spcAft>
              <a:buClrTx/>
              <a:buSzPct val="100000"/>
              <a:buFont typeface="Wingdings" panose="05000000000000000000" pitchFamily="2" charset="2"/>
              <a:buChar char="n"/>
              <a:defRPr/>
            </a:pPr>
            <a:r>
              <a:rPr kumimoji="0" lang="zh-CN" altLang="zh-CN" sz="2400" b="1" i="0" u="none" strike="noStrike" kern="1200" cap="none" spc="0" normalizeH="0" baseline="0" noProof="0" dirty="0">
                <a:ln>
                  <a:noFill/>
                </a:ln>
                <a:solidFill>
                  <a:schemeClr val="tx1"/>
                </a:solidFill>
                <a:effectLst/>
                <a:uLnTx/>
                <a:uFillTx/>
                <a:latin typeface="+mn-lt"/>
                <a:ea typeface="+mn-ea"/>
                <a:cs typeface="+mn-cs"/>
              </a:rPr>
              <a:t>事务隔离级别并不是越高越好</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150000"/>
              </a:lnSpc>
              <a:spcBef>
                <a:spcPct val="20000"/>
              </a:spcBef>
              <a:spcAft>
                <a:spcPct val="0"/>
              </a:spcAft>
              <a:buClrTx/>
              <a:buSzPct val="100000"/>
              <a:buFont typeface="Wingdings" panose="05000000000000000000" pitchFamily="2" charset="2"/>
              <a:buChar char="n"/>
              <a:defRPr/>
            </a:pPr>
            <a:r>
              <a:rPr kumimoji="0" lang="zh-CN" altLang="zh-CN" sz="2400" b="1" i="0" u="none" strike="noStrike" kern="1200" cap="none" spc="0" normalizeH="0" baseline="0" noProof="0" dirty="0">
                <a:ln>
                  <a:noFill/>
                </a:ln>
                <a:solidFill>
                  <a:schemeClr val="tx1"/>
                </a:solidFill>
                <a:effectLst/>
                <a:uLnTx/>
                <a:uFillTx/>
                <a:latin typeface="+mn-lt"/>
                <a:ea typeface="+mn-ea"/>
                <a:cs typeface="+mn-cs"/>
              </a:rPr>
              <a:t>应根据应用的特点和需求选择合适的事务隔离级别</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15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目前大多数数据库默认的事务隔离级别是“读已提交”，如</a:t>
            </a:r>
            <a:r>
              <a:rPr kumimoji="0" lang="en-US" altLang="zh-CN" sz="2400" b="1" i="0" u="none" strike="noStrike" kern="1200" cap="none" spc="0" normalizeH="0" baseline="0" noProof="0" dirty="0" err="1">
                <a:ln>
                  <a:noFill/>
                </a:ln>
                <a:solidFill>
                  <a:schemeClr val="tx1"/>
                </a:solidFill>
                <a:effectLst/>
                <a:uLnTx/>
                <a:uFillTx/>
                <a:latin typeface="+mn-lt"/>
                <a:ea typeface="+mn-ea"/>
                <a:cs typeface="+mn-cs"/>
              </a:rPr>
              <a:t>KingBase</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SQL Server</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Oracle</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p>
          <a:p>
            <a:pPr marL="742950" marR="0" lvl="1" indent="-285750" algn="l" defTabSz="914400" rtl="0" eaLnBrk="1" fontAlgn="base" latinLnBrk="0" hangingPunct="1">
              <a:lnSpc>
                <a:spcPct val="150000"/>
              </a:lnSpc>
              <a:spcBef>
                <a:spcPct val="20000"/>
              </a:spcBef>
              <a:spcAft>
                <a:spcPct val="0"/>
              </a:spcAft>
              <a:buClrTx/>
              <a:buSzPct val="100000"/>
              <a:buFont typeface="Wingdings" panose="05000000000000000000" pitchFamily="2" charset="2"/>
              <a:buChar char="n"/>
              <a:defRPr/>
            </a:pPr>
            <a:r>
              <a:rPr kumimoji="0" lang="en-US" altLang="zh-CN" sz="2400" b="1" i="0" u="none" strike="noStrike" kern="1200" cap="none" spc="0" normalizeH="0" baseline="0" noProof="0" dirty="0" err="1">
                <a:ln>
                  <a:noFill/>
                </a:ln>
                <a:solidFill>
                  <a:schemeClr val="tx1"/>
                </a:solidFill>
                <a:effectLst/>
                <a:uLnTx/>
                <a:uFillTx/>
                <a:latin typeface="+mn-lt"/>
                <a:ea typeface="+mn-ea"/>
                <a:cs typeface="+mn-cs"/>
              </a:rPr>
              <a:t>MySql</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的默认级别是“可重复读”</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endPar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p:nvPr>
        </p:nvSpPr>
        <p:spPr>
          <a:xfrm>
            <a:off x="2438400" y="184150"/>
            <a:ext cx="7391400" cy="563563"/>
          </a:xfrm>
        </p:spPr>
        <p:txBody>
          <a:bodyPr vert="horz" wrap="square" lIns="91440" tIns="45720" rIns="91440" bIns="45720" anchor="ctr" anchorCtr="0"/>
          <a:lstStyle/>
          <a:p>
            <a:pPr eaLnBrk="1" hangingPunct="1"/>
            <a:r>
              <a:rPr lang="zh-CN" altLang="zh-CN" sz="3600" dirty="0"/>
              <a:t>第十</a:t>
            </a:r>
            <a:r>
              <a:rPr lang="zh-CN" altLang="en-US" sz="3600" dirty="0"/>
              <a:t>二</a:t>
            </a:r>
            <a:r>
              <a:rPr lang="zh-CN" altLang="zh-CN" sz="3600" dirty="0"/>
              <a:t>章  并发控制</a:t>
            </a:r>
          </a:p>
        </p:txBody>
      </p:sp>
      <p:sp>
        <p:nvSpPr>
          <p:cNvPr id="32771" name="Rectangle 3"/>
          <p:cNvSpPr>
            <a:spLocks noGrp="1"/>
          </p:cNvSpPr>
          <p:nvPr>
            <p:ph type="body"/>
          </p:nvPr>
        </p:nvSpPr>
        <p:spPr>
          <a:xfrm>
            <a:off x="1416050" y="873125"/>
            <a:ext cx="7715250" cy="5111750"/>
          </a:xfrm>
        </p:spPr>
        <p:txBody>
          <a:bodyPr vert="horz" wrap="square" lIns="91440" tIns="45720" rIns="91440" bIns="45720" anchor="t" anchorCtr="0"/>
          <a:lstStyle/>
          <a:p>
            <a:pPr marL="0" indent="0" algn="just" eaLnBrk="1" hangingPunct="1">
              <a:lnSpc>
                <a:spcPct val="130000"/>
              </a:lnSpc>
              <a:buNone/>
            </a:pPr>
            <a:r>
              <a:rPr lang="en-US" altLang="zh-CN" sz="2400" dirty="0"/>
              <a:t>12.1  </a:t>
            </a:r>
            <a:r>
              <a:rPr lang="zh-CN" altLang="en-US" sz="2400" dirty="0"/>
              <a:t>并发控制概述</a:t>
            </a:r>
          </a:p>
          <a:p>
            <a:pPr marL="0" indent="0" algn="just" eaLnBrk="1" hangingPunct="1">
              <a:lnSpc>
                <a:spcPct val="130000"/>
              </a:lnSpc>
              <a:buNone/>
            </a:pPr>
            <a:r>
              <a:rPr lang="en-US" altLang="zh-CN" sz="2400" dirty="0"/>
              <a:t>12.2  </a:t>
            </a:r>
            <a:r>
              <a:rPr lang="zh-CN" altLang="en-US" sz="2400" dirty="0"/>
              <a:t>事务的隔离级别</a:t>
            </a:r>
            <a:endParaRPr lang="en-US" altLang="zh-CN" sz="2400" dirty="0"/>
          </a:p>
          <a:p>
            <a:pPr marL="0" indent="0" algn="just" eaLnBrk="1" hangingPunct="1">
              <a:lnSpc>
                <a:spcPct val="130000"/>
              </a:lnSpc>
              <a:buNone/>
            </a:pPr>
            <a:r>
              <a:rPr lang="en-US" altLang="zh-CN" sz="2400" dirty="0">
                <a:solidFill>
                  <a:srgbClr val="0066FF"/>
                </a:solidFill>
              </a:rPr>
              <a:t>12.3  </a:t>
            </a:r>
            <a:r>
              <a:rPr lang="zh-CN" altLang="en-US" sz="2400" dirty="0">
                <a:solidFill>
                  <a:srgbClr val="0066FF"/>
                </a:solidFill>
              </a:rPr>
              <a:t>封锁</a:t>
            </a:r>
            <a:endParaRPr lang="en-US" altLang="zh-CN" sz="2400" dirty="0">
              <a:solidFill>
                <a:srgbClr val="0066FF"/>
              </a:solidFill>
            </a:endParaRPr>
          </a:p>
          <a:p>
            <a:pPr marL="0" indent="0" algn="just" eaLnBrk="1" hangingPunct="1">
              <a:lnSpc>
                <a:spcPct val="130000"/>
              </a:lnSpc>
              <a:buNone/>
            </a:pPr>
            <a:r>
              <a:rPr lang="en-US" altLang="zh-CN" sz="2400" dirty="0"/>
              <a:t>12.4 </a:t>
            </a:r>
            <a:r>
              <a:rPr lang="zh-CN" altLang="en-US" sz="2400" dirty="0"/>
              <a:t> 封锁协议</a:t>
            </a:r>
          </a:p>
          <a:p>
            <a:pPr marL="0" indent="0" algn="just" eaLnBrk="1" hangingPunct="1">
              <a:lnSpc>
                <a:spcPct val="130000"/>
              </a:lnSpc>
              <a:buNone/>
            </a:pPr>
            <a:r>
              <a:rPr lang="en-US" altLang="zh-CN" sz="2400" dirty="0"/>
              <a:t>12.5  </a:t>
            </a:r>
            <a:r>
              <a:rPr lang="zh-CN" altLang="en-US" sz="2400" dirty="0"/>
              <a:t>活锁和死锁</a:t>
            </a:r>
          </a:p>
          <a:p>
            <a:pPr marL="0" indent="0" algn="just" eaLnBrk="1" hangingPunct="1">
              <a:lnSpc>
                <a:spcPct val="130000"/>
              </a:lnSpc>
              <a:buNone/>
            </a:pPr>
            <a:r>
              <a:rPr lang="en-US" altLang="zh-CN" sz="2400" dirty="0"/>
              <a:t>12.6  </a:t>
            </a:r>
            <a:r>
              <a:rPr lang="zh-CN" altLang="en-US" sz="2400" dirty="0"/>
              <a:t>并发调度的可串行性</a:t>
            </a:r>
          </a:p>
          <a:p>
            <a:pPr marL="0" indent="0" algn="just" eaLnBrk="1" hangingPunct="1">
              <a:lnSpc>
                <a:spcPct val="130000"/>
              </a:lnSpc>
              <a:buNone/>
            </a:pPr>
            <a:r>
              <a:rPr lang="en-US" altLang="zh-CN" sz="2400" dirty="0"/>
              <a:t>12.7  </a:t>
            </a:r>
            <a:r>
              <a:rPr lang="zh-CN" altLang="en-US" sz="2400" dirty="0"/>
              <a:t>两段锁协议</a:t>
            </a:r>
          </a:p>
          <a:p>
            <a:pPr marL="0" indent="0" algn="just" eaLnBrk="1" hangingPunct="1">
              <a:lnSpc>
                <a:spcPct val="130000"/>
              </a:lnSpc>
              <a:buNone/>
            </a:pPr>
            <a:r>
              <a:rPr lang="en-US" altLang="zh-CN" sz="2400" dirty="0"/>
              <a:t>12.8  </a:t>
            </a:r>
            <a:r>
              <a:rPr lang="zh-CN" altLang="en-US" sz="2400" dirty="0"/>
              <a:t>封锁的粒度</a:t>
            </a:r>
          </a:p>
          <a:p>
            <a:pPr marL="0" indent="0" algn="just" eaLnBrk="1" hangingPunct="1">
              <a:lnSpc>
                <a:spcPct val="130000"/>
              </a:lnSpc>
              <a:buNone/>
            </a:pPr>
            <a:r>
              <a:rPr lang="zh-CN" altLang="en-US" sz="2400" dirty="0"/>
              <a:t>*</a:t>
            </a:r>
            <a:r>
              <a:rPr lang="en-US" altLang="zh-CN" sz="2400" dirty="0"/>
              <a:t>12.9  </a:t>
            </a:r>
            <a:r>
              <a:rPr lang="zh-CN" altLang="en-US" sz="2400" dirty="0"/>
              <a:t>其他并发控制机制</a:t>
            </a:r>
          </a:p>
          <a:p>
            <a:pPr marL="0" indent="0" algn="just" eaLnBrk="1" hangingPunct="1">
              <a:lnSpc>
                <a:spcPct val="130000"/>
              </a:lnSpc>
              <a:buNone/>
            </a:pPr>
            <a:r>
              <a:rPr lang="zh-CN" altLang="en-US" sz="2400" dirty="0"/>
              <a:t>1</a:t>
            </a:r>
            <a:r>
              <a:rPr lang="en-US" altLang="zh-CN" sz="2400" dirty="0"/>
              <a:t>2</a:t>
            </a:r>
            <a:r>
              <a:rPr lang="zh-CN" altLang="en-US" sz="2400" dirty="0"/>
              <a:t>.</a:t>
            </a:r>
            <a:r>
              <a:rPr lang="en-US" altLang="zh-CN" sz="2400" dirty="0"/>
              <a:t>10</a:t>
            </a:r>
            <a:r>
              <a:rPr lang="zh-CN" altLang="en-US" sz="2400" dirty="0"/>
              <a:t>  小结</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en-US" altLang="zh-CN" sz="3600" dirty="0"/>
              <a:t>12.3  </a:t>
            </a:r>
            <a:r>
              <a:rPr lang="zh-CN" altLang="en-US" sz="3600" dirty="0"/>
              <a:t>封锁</a:t>
            </a:r>
          </a:p>
        </p:txBody>
      </p:sp>
      <p:sp>
        <p:nvSpPr>
          <p:cNvPr id="33795" name="Rectangle 3"/>
          <p:cNvSpPr>
            <a:spLocks noGrp="1"/>
          </p:cNvSpPr>
          <p:nvPr>
            <p:ph type="body"/>
          </p:nvPr>
        </p:nvSpPr>
        <p:spPr>
          <a:xfrm>
            <a:off x="1416050" y="1196975"/>
            <a:ext cx="8229600" cy="4983163"/>
          </a:xfrm>
        </p:spPr>
        <p:txBody>
          <a:bodyPr vert="horz" wrap="square" lIns="91440" tIns="45720" rIns="91440" bIns="45720" anchor="t" anchorCtr="0"/>
          <a:lstStyle/>
          <a:p>
            <a:pPr eaLnBrk="1" hangingPunct="1">
              <a:lnSpc>
                <a:spcPct val="150000"/>
              </a:lnSpc>
            </a:pPr>
            <a:r>
              <a:rPr lang="zh-CN" altLang="zh-CN" dirty="0"/>
              <a:t>什么是封锁</a:t>
            </a:r>
          </a:p>
          <a:p>
            <a:pPr eaLnBrk="1" hangingPunct="1">
              <a:lnSpc>
                <a:spcPct val="150000"/>
              </a:lnSpc>
            </a:pPr>
            <a:r>
              <a:rPr lang="zh-CN" altLang="zh-CN" dirty="0"/>
              <a:t>基本封锁类型</a:t>
            </a:r>
          </a:p>
          <a:p>
            <a:pPr eaLnBrk="1" hangingPunct="1">
              <a:lnSpc>
                <a:spcPct val="150000"/>
              </a:lnSpc>
            </a:pPr>
            <a:r>
              <a:rPr lang="zh-CN" altLang="zh-CN" dirty="0"/>
              <a:t>锁的相容矩阵</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什么是封锁</a:t>
            </a:r>
          </a:p>
        </p:txBody>
      </p:sp>
      <p:sp>
        <p:nvSpPr>
          <p:cNvPr id="34819" name="Rectangle 3"/>
          <p:cNvSpPr>
            <a:spLocks noGrp="1"/>
          </p:cNvSpPr>
          <p:nvPr>
            <p:ph type="body"/>
          </p:nvPr>
        </p:nvSpPr>
        <p:spPr>
          <a:xfrm>
            <a:off x="839788" y="1125538"/>
            <a:ext cx="10210800" cy="4840287"/>
          </a:xfrm>
        </p:spPr>
        <p:txBody>
          <a:bodyPr vert="horz" wrap="square" lIns="91440" tIns="45720" rIns="91440" bIns="45720" anchor="t" anchorCtr="0"/>
          <a:lstStyle/>
          <a:p>
            <a:pPr eaLnBrk="1" hangingPunct="1">
              <a:lnSpc>
                <a:spcPct val="200000"/>
              </a:lnSpc>
            </a:pPr>
            <a:r>
              <a:rPr lang="zh-CN" altLang="en-US" dirty="0"/>
              <a:t>封锁就是事务</a:t>
            </a:r>
            <a:r>
              <a:rPr lang="en-US" altLang="zh-CN" dirty="0"/>
              <a:t>T</a:t>
            </a:r>
            <a:r>
              <a:rPr lang="zh-CN" altLang="en-US" dirty="0"/>
              <a:t>在对某个数据对象（例如表、记录等）操作之前，先向系统发出请求，对其加锁</a:t>
            </a:r>
          </a:p>
          <a:p>
            <a:pPr eaLnBrk="1" hangingPunct="1">
              <a:lnSpc>
                <a:spcPct val="200000"/>
              </a:lnSpc>
            </a:pPr>
            <a:r>
              <a:rPr lang="zh-CN" altLang="en-US" dirty="0"/>
              <a:t>加锁后事务</a:t>
            </a:r>
            <a:r>
              <a:rPr lang="en-US" altLang="zh-CN" dirty="0"/>
              <a:t>T</a:t>
            </a:r>
            <a:r>
              <a:rPr lang="zh-CN" altLang="en-US" dirty="0"/>
              <a:t>就对该数据对象有了一定的控制，在事务</a:t>
            </a:r>
            <a:r>
              <a:rPr lang="en-US" altLang="zh-CN" dirty="0"/>
              <a:t>T</a:t>
            </a:r>
            <a:r>
              <a:rPr lang="zh-CN" altLang="en-US" dirty="0"/>
              <a:t>释放它的锁之前，其它的事务不能更新或读取此数据对象。</a:t>
            </a:r>
          </a:p>
          <a:p>
            <a:pPr eaLnBrk="1" hangingPunct="1">
              <a:lnSpc>
                <a:spcPct val="200000"/>
              </a:lnSpc>
            </a:pPr>
            <a:r>
              <a:rPr lang="zh-CN" altLang="en-US" dirty="0"/>
              <a:t>封锁是实现并发控制的一个非常重要的技术</a:t>
            </a:r>
          </a:p>
          <a:p>
            <a:pPr eaLnBrk="1" hangingPunct="1"/>
            <a:endParaRPr lang="en-US" altLang="zh-CN"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type="title"/>
          </p:nvPr>
        </p:nvSpPr>
        <p:spPr>
          <a:xfrm>
            <a:off x="2438400" y="184150"/>
            <a:ext cx="7391400" cy="563563"/>
          </a:xfrm>
        </p:spPr>
        <p:txBody>
          <a:bodyPr vert="horz" wrap="square" lIns="91440" tIns="45720" rIns="91440" bIns="45720" anchor="ctr" anchorCtr="0"/>
          <a:lstStyle/>
          <a:p>
            <a:pPr eaLnBrk="1" hangingPunct="1"/>
            <a:r>
              <a:rPr lang="zh-CN" altLang="zh-CN" sz="3600" dirty="0"/>
              <a:t>基本封锁类型</a:t>
            </a:r>
          </a:p>
        </p:txBody>
      </p:sp>
      <p:sp>
        <p:nvSpPr>
          <p:cNvPr id="35843" name="Rectangle 3"/>
          <p:cNvSpPr>
            <a:spLocks noGrp="1"/>
          </p:cNvSpPr>
          <p:nvPr>
            <p:ph type="body"/>
          </p:nvPr>
        </p:nvSpPr>
        <p:spPr>
          <a:xfrm>
            <a:off x="1271588" y="1196975"/>
            <a:ext cx="9720262" cy="4840288"/>
          </a:xfrm>
        </p:spPr>
        <p:txBody>
          <a:bodyPr vert="horz" wrap="square" lIns="91440" tIns="45720" rIns="91440" bIns="45720" anchor="t" anchorCtr="0"/>
          <a:lstStyle/>
          <a:p>
            <a:pPr eaLnBrk="1" hangingPunct="1">
              <a:lnSpc>
                <a:spcPct val="190000"/>
              </a:lnSpc>
            </a:pPr>
            <a:r>
              <a:rPr lang="zh-CN" altLang="en-US" dirty="0"/>
              <a:t>一个事务对某个数据对象加锁后究竟拥有什么样的控制由封锁的类型决定。</a:t>
            </a:r>
          </a:p>
          <a:p>
            <a:pPr eaLnBrk="1" hangingPunct="1">
              <a:lnSpc>
                <a:spcPct val="190000"/>
              </a:lnSpc>
            </a:pPr>
            <a:r>
              <a:rPr lang="zh-CN" altLang="en-US" dirty="0"/>
              <a:t>基本封锁类型</a:t>
            </a:r>
          </a:p>
          <a:p>
            <a:pPr lvl="1" eaLnBrk="1" hangingPunct="1">
              <a:lnSpc>
                <a:spcPct val="190000"/>
              </a:lnSpc>
            </a:pPr>
            <a:r>
              <a:rPr lang="zh-CN" altLang="en-US" dirty="0"/>
              <a:t>排它锁（</a:t>
            </a:r>
            <a:r>
              <a:rPr lang="en-US" altLang="zh-CN" dirty="0"/>
              <a:t>Exclusive Locks</a:t>
            </a:r>
            <a:r>
              <a:rPr lang="zh-CN" altLang="en-US" dirty="0"/>
              <a:t>，简记为</a:t>
            </a:r>
            <a:r>
              <a:rPr lang="en-US" altLang="zh-CN" dirty="0"/>
              <a:t>X</a:t>
            </a:r>
            <a:r>
              <a:rPr lang="zh-CN" altLang="en-US" dirty="0"/>
              <a:t>锁）</a:t>
            </a:r>
          </a:p>
          <a:p>
            <a:pPr lvl="1" eaLnBrk="1" hangingPunct="1">
              <a:lnSpc>
                <a:spcPct val="190000"/>
              </a:lnSpc>
            </a:pPr>
            <a:r>
              <a:rPr lang="zh-CN" altLang="en-US" dirty="0"/>
              <a:t>共享锁（</a:t>
            </a:r>
            <a:r>
              <a:rPr lang="en-US" altLang="zh-CN" dirty="0"/>
              <a:t>Share Locks</a:t>
            </a:r>
            <a:r>
              <a:rPr lang="zh-CN" altLang="en-US" dirty="0"/>
              <a:t>，简记为</a:t>
            </a:r>
            <a:r>
              <a:rPr lang="en-US" altLang="zh-CN" dirty="0"/>
              <a:t>S</a:t>
            </a:r>
            <a:r>
              <a:rPr lang="zh-CN" altLang="en-US" dirty="0"/>
              <a:t>锁）</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排它锁</a:t>
            </a:r>
          </a:p>
        </p:txBody>
      </p:sp>
      <p:sp>
        <p:nvSpPr>
          <p:cNvPr id="36867" name="Rectangle 3"/>
          <p:cNvSpPr>
            <a:spLocks noGrp="1"/>
          </p:cNvSpPr>
          <p:nvPr>
            <p:ph type="body"/>
          </p:nvPr>
        </p:nvSpPr>
        <p:spPr>
          <a:xfrm>
            <a:off x="911225" y="1150938"/>
            <a:ext cx="10225088" cy="5199062"/>
          </a:xfrm>
        </p:spPr>
        <p:txBody>
          <a:bodyPr vert="horz" wrap="square" lIns="91440" tIns="45720" rIns="91440" bIns="45720" anchor="t" anchorCtr="0"/>
          <a:lstStyle/>
          <a:p>
            <a:pPr eaLnBrk="1" hangingPunct="1">
              <a:lnSpc>
                <a:spcPct val="150000"/>
              </a:lnSpc>
              <a:spcBef>
                <a:spcPct val="60000"/>
              </a:spcBef>
            </a:pPr>
            <a:r>
              <a:rPr lang="zh-CN" altLang="en-US" dirty="0"/>
              <a:t>排它锁又称为写锁，</a:t>
            </a:r>
            <a:r>
              <a:rPr lang="en-US" altLang="zh-CN" dirty="0"/>
              <a:t>X</a:t>
            </a:r>
            <a:r>
              <a:rPr lang="zh-CN" altLang="en-US" dirty="0"/>
              <a:t>锁</a:t>
            </a:r>
          </a:p>
          <a:p>
            <a:pPr eaLnBrk="1" hangingPunct="1">
              <a:lnSpc>
                <a:spcPct val="150000"/>
              </a:lnSpc>
              <a:spcBef>
                <a:spcPct val="60000"/>
              </a:spcBef>
            </a:pPr>
            <a:r>
              <a:rPr lang="zh-CN" altLang="en-US" dirty="0"/>
              <a:t>若事务</a:t>
            </a:r>
            <a:r>
              <a:rPr lang="en-US" altLang="zh-CN" dirty="0"/>
              <a:t>T</a:t>
            </a:r>
            <a:r>
              <a:rPr lang="zh-CN" altLang="en-US" dirty="0"/>
              <a:t>对数据对象</a:t>
            </a:r>
            <a:r>
              <a:rPr lang="en-US" altLang="zh-CN" dirty="0"/>
              <a:t>A</a:t>
            </a:r>
            <a:r>
              <a:rPr lang="zh-CN" altLang="en-US" dirty="0"/>
              <a:t>加上</a:t>
            </a:r>
            <a:r>
              <a:rPr lang="en-US" altLang="zh-CN" dirty="0"/>
              <a:t>X</a:t>
            </a:r>
            <a:r>
              <a:rPr lang="zh-CN" altLang="en-US" dirty="0"/>
              <a:t>锁，则只允许</a:t>
            </a:r>
            <a:r>
              <a:rPr lang="en-US" altLang="zh-CN" dirty="0"/>
              <a:t>T</a:t>
            </a:r>
            <a:r>
              <a:rPr lang="zh-CN" altLang="en-US" dirty="0"/>
              <a:t>读取和修改</a:t>
            </a:r>
            <a:r>
              <a:rPr lang="en-US" altLang="zh-CN" dirty="0"/>
              <a:t>A</a:t>
            </a:r>
            <a:r>
              <a:rPr lang="zh-CN" altLang="en-US" dirty="0"/>
              <a:t>，其它任何事务都不能再对</a:t>
            </a:r>
            <a:r>
              <a:rPr lang="en-US" altLang="zh-CN" dirty="0"/>
              <a:t>A</a:t>
            </a:r>
            <a:r>
              <a:rPr lang="zh-CN" altLang="en-US" dirty="0"/>
              <a:t>加任何类型的锁，直到</a:t>
            </a:r>
            <a:r>
              <a:rPr lang="en-US" altLang="zh-CN" dirty="0"/>
              <a:t>T</a:t>
            </a:r>
            <a:r>
              <a:rPr lang="zh-CN" altLang="en-US" dirty="0"/>
              <a:t>释放</a:t>
            </a:r>
            <a:r>
              <a:rPr lang="en-US" altLang="zh-CN" dirty="0"/>
              <a:t>A</a:t>
            </a:r>
            <a:r>
              <a:rPr lang="zh-CN" altLang="en-US" dirty="0"/>
              <a:t>上的锁</a:t>
            </a:r>
          </a:p>
          <a:p>
            <a:pPr eaLnBrk="1" hangingPunct="1">
              <a:lnSpc>
                <a:spcPct val="150000"/>
              </a:lnSpc>
              <a:spcBef>
                <a:spcPct val="60000"/>
              </a:spcBef>
            </a:pPr>
            <a:r>
              <a:rPr lang="zh-CN" altLang="en-US" dirty="0"/>
              <a:t>保证其他事务在</a:t>
            </a:r>
            <a:r>
              <a:rPr lang="en-US" altLang="zh-CN" dirty="0"/>
              <a:t>T</a:t>
            </a:r>
            <a:r>
              <a:rPr lang="zh-CN" altLang="en-US" dirty="0"/>
              <a:t>释放</a:t>
            </a:r>
            <a:r>
              <a:rPr lang="en-US" altLang="zh-CN" dirty="0"/>
              <a:t>A</a:t>
            </a:r>
            <a:r>
              <a:rPr lang="zh-CN" altLang="en-US" dirty="0"/>
              <a:t>上的锁之前不能再读取和修改</a:t>
            </a:r>
            <a:r>
              <a:rPr lang="en-US" altLang="zh-CN" dirty="0"/>
              <a:t>A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共享锁</a:t>
            </a:r>
          </a:p>
        </p:txBody>
      </p:sp>
      <p:sp>
        <p:nvSpPr>
          <p:cNvPr id="37891" name="Rectangle 3"/>
          <p:cNvSpPr>
            <a:spLocks noGrp="1"/>
          </p:cNvSpPr>
          <p:nvPr>
            <p:ph type="body"/>
          </p:nvPr>
        </p:nvSpPr>
        <p:spPr>
          <a:xfrm>
            <a:off x="839788" y="1276350"/>
            <a:ext cx="10440987" cy="5056188"/>
          </a:xfrm>
        </p:spPr>
        <p:txBody>
          <a:bodyPr vert="horz" wrap="square" lIns="91440" tIns="45720" rIns="91440" bIns="45720" anchor="t" anchorCtr="0"/>
          <a:lstStyle/>
          <a:p>
            <a:pPr eaLnBrk="1" hangingPunct="1">
              <a:lnSpc>
                <a:spcPct val="150000"/>
              </a:lnSpc>
            </a:pPr>
            <a:r>
              <a:rPr lang="zh-CN" altLang="en-US" dirty="0"/>
              <a:t>共享锁又称为读锁，</a:t>
            </a:r>
            <a:r>
              <a:rPr lang="en-US" altLang="zh-CN" dirty="0"/>
              <a:t>S</a:t>
            </a:r>
            <a:r>
              <a:rPr lang="zh-CN" altLang="en-US" dirty="0"/>
              <a:t>锁</a:t>
            </a:r>
          </a:p>
          <a:p>
            <a:pPr eaLnBrk="1" hangingPunct="1">
              <a:lnSpc>
                <a:spcPct val="150000"/>
              </a:lnSpc>
              <a:spcBef>
                <a:spcPct val="60000"/>
              </a:spcBef>
            </a:pPr>
            <a:r>
              <a:rPr lang="zh-CN" altLang="en-US" dirty="0"/>
              <a:t>若事务</a:t>
            </a:r>
            <a:r>
              <a:rPr lang="en-US" altLang="zh-CN" dirty="0"/>
              <a:t>T</a:t>
            </a:r>
            <a:r>
              <a:rPr lang="zh-CN" altLang="en-US" dirty="0"/>
              <a:t>对数据对象</a:t>
            </a:r>
            <a:r>
              <a:rPr lang="en-US" altLang="zh-CN" dirty="0"/>
              <a:t>A</a:t>
            </a:r>
            <a:r>
              <a:rPr lang="zh-CN" altLang="en-US" dirty="0"/>
              <a:t>加上</a:t>
            </a:r>
            <a:r>
              <a:rPr lang="en-US" altLang="zh-CN" dirty="0"/>
              <a:t>S</a:t>
            </a:r>
            <a:r>
              <a:rPr lang="zh-CN" altLang="en-US" dirty="0"/>
              <a:t>锁，则事务</a:t>
            </a:r>
            <a:r>
              <a:rPr lang="en-US" altLang="zh-CN" dirty="0"/>
              <a:t>T</a:t>
            </a:r>
            <a:r>
              <a:rPr lang="zh-CN" altLang="en-US" dirty="0"/>
              <a:t>可以读</a:t>
            </a:r>
            <a:r>
              <a:rPr lang="en-US" altLang="zh-CN" dirty="0"/>
              <a:t>A</a:t>
            </a:r>
            <a:r>
              <a:rPr lang="zh-CN" altLang="en-US" dirty="0"/>
              <a:t>但不能修改</a:t>
            </a:r>
            <a:r>
              <a:rPr lang="en-US" altLang="zh-CN" dirty="0"/>
              <a:t>A</a:t>
            </a:r>
            <a:r>
              <a:rPr lang="zh-CN" altLang="en-US" dirty="0"/>
              <a:t>，其它事务只能再对</a:t>
            </a:r>
            <a:r>
              <a:rPr lang="en-US" altLang="zh-CN" dirty="0"/>
              <a:t>A</a:t>
            </a:r>
            <a:r>
              <a:rPr lang="zh-CN" altLang="en-US" dirty="0"/>
              <a:t>加</a:t>
            </a:r>
            <a:r>
              <a:rPr lang="en-US" altLang="zh-CN" dirty="0"/>
              <a:t>S</a:t>
            </a:r>
            <a:r>
              <a:rPr lang="zh-CN" altLang="en-US" dirty="0"/>
              <a:t>锁，不能加</a:t>
            </a:r>
            <a:r>
              <a:rPr lang="en-US" altLang="zh-CN" dirty="0"/>
              <a:t>X</a:t>
            </a:r>
            <a:r>
              <a:rPr lang="zh-CN" altLang="en-US" dirty="0"/>
              <a:t>锁，直到</a:t>
            </a:r>
            <a:r>
              <a:rPr lang="en-US" altLang="zh-CN" dirty="0"/>
              <a:t>T</a:t>
            </a:r>
            <a:r>
              <a:rPr lang="zh-CN" altLang="en-US" dirty="0"/>
              <a:t>释放</a:t>
            </a:r>
            <a:r>
              <a:rPr lang="en-US" altLang="zh-CN" dirty="0"/>
              <a:t>A</a:t>
            </a:r>
            <a:r>
              <a:rPr lang="zh-CN" altLang="en-US" dirty="0"/>
              <a:t>上的</a:t>
            </a:r>
            <a:r>
              <a:rPr lang="en-US" altLang="zh-CN" dirty="0"/>
              <a:t>S</a:t>
            </a:r>
            <a:r>
              <a:rPr lang="zh-CN" altLang="en-US" dirty="0"/>
              <a:t>锁</a:t>
            </a:r>
          </a:p>
          <a:p>
            <a:pPr eaLnBrk="1" hangingPunct="1">
              <a:lnSpc>
                <a:spcPct val="150000"/>
              </a:lnSpc>
              <a:spcBef>
                <a:spcPct val="60000"/>
              </a:spcBef>
            </a:pPr>
            <a:r>
              <a:rPr lang="zh-CN" altLang="en-US" dirty="0"/>
              <a:t>保证其他事务可以读</a:t>
            </a:r>
            <a:r>
              <a:rPr lang="en-US" altLang="zh-CN" dirty="0"/>
              <a:t>A</a:t>
            </a:r>
            <a:r>
              <a:rPr lang="zh-CN" altLang="en-US" dirty="0"/>
              <a:t>，但在</a:t>
            </a:r>
            <a:r>
              <a:rPr lang="en-US" altLang="zh-CN" dirty="0"/>
              <a:t>T</a:t>
            </a:r>
            <a:r>
              <a:rPr lang="zh-CN" altLang="en-US" dirty="0"/>
              <a:t>释放</a:t>
            </a:r>
            <a:r>
              <a:rPr lang="en-US" altLang="zh-CN" dirty="0"/>
              <a:t>A</a:t>
            </a:r>
            <a:r>
              <a:rPr lang="zh-CN" altLang="en-US" dirty="0"/>
              <a:t>上的</a:t>
            </a:r>
            <a:r>
              <a:rPr lang="en-US" altLang="zh-CN" dirty="0"/>
              <a:t>S</a:t>
            </a:r>
            <a:r>
              <a:rPr lang="zh-CN" altLang="en-US" dirty="0"/>
              <a:t>锁之前不能对</a:t>
            </a:r>
            <a:r>
              <a:rPr lang="en-US" altLang="zh-CN" dirty="0"/>
              <a:t>A</a:t>
            </a:r>
            <a:r>
              <a:rPr lang="zh-CN" altLang="en-US" dirty="0"/>
              <a:t>做任何修改 </a:t>
            </a:r>
          </a:p>
          <a:p>
            <a:pPr eaLnBrk="1" hangingPunct="1">
              <a:lnSpc>
                <a:spcPct val="110000"/>
              </a:lnSpc>
              <a:spcBef>
                <a:spcPct val="60000"/>
              </a:spcBef>
            </a:pPr>
            <a:endParaRPr lang="en-US" altLang="zh-CN"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p:cNvSpPr>
          <p:nvPr>
            <p:ph type="title"/>
          </p:nvPr>
        </p:nvSpPr>
        <p:spPr>
          <a:xfrm>
            <a:off x="2438400" y="184150"/>
            <a:ext cx="7391400" cy="563563"/>
          </a:xfrm>
        </p:spPr>
        <p:txBody>
          <a:bodyPr vert="horz" wrap="square" lIns="91440" tIns="45720" rIns="91440" bIns="45720" anchor="ctr" anchorCtr="0"/>
          <a:lstStyle/>
          <a:p>
            <a:pPr eaLnBrk="1" hangingPunct="1"/>
            <a:r>
              <a:rPr lang="zh-CN" altLang="zh-CN" sz="3600" dirty="0"/>
              <a:t>相容矩阵</a:t>
            </a:r>
          </a:p>
        </p:txBody>
      </p:sp>
      <p:sp>
        <p:nvSpPr>
          <p:cNvPr id="38915" name="Text Box 4"/>
          <p:cNvSpPr txBox="1"/>
          <p:nvPr/>
        </p:nvSpPr>
        <p:spPr>
          <a:xfrm>
            <a:off x="4800600" y="4797425"/>
            <a:ext cx="2811463" cy="11080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None/>
            </a:pPr>
            <a:r>
              <a:rPr lang="en-US" altLang="zh-CN" sz="2000" dirty="0">
                <a:latin typeface="Times New Roman" panose="02020603050405020304" pitchFamily="18" charset="0"/>
              </a:rPr>
              <a:t>Y=Yes</a:t>
            </a:r>
            <a:r>
              <a:rPr lang="zh-CN" altLang="en-US" sz="2000" dirty="0">
                <a:latin typeface="Times New Roman" panose="02020603050405020304" pitchFamily="18" charset="0"/>
              </a:rPr>
              <a:t>，相容的请求</a:t>
            </a:r>
            <a:endParaRPr lang="zh-CN" altLang="en-US" sz="3200" dirty="0">
              <a:latin typeface="Times New Roman" panose="02020603050405020304" pitchFamily="18" charset="0"/>
            </a:endParaRPr>
          </a:p>
          <a:p>
            <a:pPr marL="0" lvl="0" indent="0" eaLnBrk="1" hangingPunct="1">
              <a:spcBef>
                <a:spcPct val="0"/>
              </a:spcBef>
              <a:buNone/>
            </a:pPr>
            <a:r>
              <a:rPr lang="en-US" altLang="zh-CN" sz="2000" dirty="0">
                <a:latin typeface="Times New Roman" panose="02020603050405020304" pitchFamily="18" charset="0"/>
              </a:rPr>
              <a:t>N=No</a:t>
            </a:r>
            <a:r>
              <a:rPr lang="zh-CN" altLang="en-US" sz="2000" dirty="0">
                <a:latin typeface="Times New Roman" panose="02020603050405020304" pitchFamily="18" charset="0"/>
              </a:rPr>
              <a:t>，不相容的请求</a:t>
            </a:r>
            <a:endParaRPr lang="zh-CN" altLang="en-US" sz="6000" dirty="0">
              <a:latin typeface="Times New Roman" panose="02020603050405020304" pitchFamily="18" charset="0"/>
            </a:endParaRPr>
          </a:p>
        </p:txBody>
      </p:sp>
      <p:sp>
        <p:nvSpPr>
          <p:cNvPr id="38916" name="Line 57"/>
          <p:cNvSpPr/>
          <p:nvPr/>
        </p:nvSpPr>
        <p:spPr>
          <a:xfrm>
            <a:off x="2663825" y="1773238"/>
            <a:ext cx="1727200" cy="863600"/>
          </a:xfrm>
          <a:prstGeom prst="line">
            <a:avLst/>
          </a:prstGeom>
          <a:ln w="31750" cap="flat" cmpd="sng">
            <a:solidFill>
              <a:srgbClr val="FF0000"/>
            </a:solidFill>
            <a:prstDash val="solid"/>
            <a:headEnd type="none" w="med" len="med"/>
            <a:tailEnd type="none" w="med" len="med"/>
          </a:ln>
        </p:spPr>
      </p:sp>
      <p:graphicFrame>
        <p:nvGraphicFramePr>
          <p:cNvPr id="59" name="表格 58"/>
          <p:cNvGraphicFramePr>
            <a:graphicFrameLocks noGrp="1"/>
          </p:cNvGraphicFramePr>
          <p:nvPr/>
        </p:nvGraphicFramePr>
        <p:xfrm>
          <a:off x="2663825" y="1773238"/>
          <a:ext cx="6829425" cy="2820988"/>
        </p:xfrm>
        <a:graphic>
          <a:graphicData uri="http://schemas.openxmlformats.org/drawingml/2006/table">
            <a:tbl>
              <a:tblPr firstRow="1" bandRow="1">
                <a:tableStyleId>{5C22544A-7EE6-4342-B048-85BDC9FD1C3A}</a:tableStyleId>
              </a:tblPr>
              <a:tblGrid>
                <a:gridCol w="1707356">
                  <a:extLst>
                    <a:ext uri="{9D8B030D-6E8A-4147-A177-3AD203B41FA5}">
                      <a16:colId xmlns:a16="http://schemas.microsoft.com/office/drawing/2014/main" val="20000"/>
                    </a:ext>
                  </a:extLst>
                </a:gridCol>
                <a:gridCol w="1707356">
                  <a:extLst>
                    <a:ext uri="{9D8B030D-6E8A-4147-A177-3AD203B41FA5}">
                      <a16:colId xmlns:a16="http://schemas.microsoft.com/office/drawing/2014/main" val="20001"/>
                    </a:ext>
                  </a:extLst>
                </a:gridCol>
                <a:gridCol w="1707356">
                  <a:extLst>
                    <a:ext uri="{9D8B030D-6E8A-4147-A177-3AD203B41FA5}">
                      <a16:colId xmlns:a16="http://schemas.microsoft.com/office/drawing/2014/main" val="20002"/>
                    </a:ext>
                  </a:extLst>
                </a:gridCol>
                <a:gridCol w="1707356">
                  <a:extLst>
                    <a:ext uri="{9D8B030D-6E8A-4147-A177-3AD203B41FA5}">
                      <a16:colId xmlns:a16="http://schemas.microsoft.com/office/drawing/2014/main" val="20003"/>
                    </a:ext>
                  </a:extLst>
                </a:gridCol>
              </a:tblGrid>
              <a:tr h="822952">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dirty="0">
                          <a:solidFill>
                            <a:schemeClr val="tx1"/>
                          </a:solidFill>
                        </a:rPr>
                        <a:t>T</a:t>
                      </a:r>
                      <a:r>
                        <a:rPr lang="en-US" altLang="zh-CN" sz="2400" b="1" baseline="-25000" dirty="0">
                          <a:solidFill>
                            <a:schemeClr val="tx1"/>
                          </a:solidFill>
                        </a:rPr>
                        <a:t>1</a:t>
                      </a:r>
                    </a:p>
                    <a:p>
                      <a:pPr marL="0" marR="0" indent="0" algn="ctr" defTabSz="914400" rtl="0" eaLnBrk="1" fontAlgn="auto" latinLnBrk="0" hangingPunct="1">
                        <a:lnSpc>
                          <a:spcPct val="100000"/>
                        </a:lnSpc>
                        <a:spcBef>
                          <a:spcPts val="0"/>
                        </a:spcBef>
                        <a:spcAft>
                          <a:spcPts val="0"/>
                        </a:spcAft>
                        <a:buClrTx/>
                        <a:buSzTx/>
                        <a:buFontTx/>
                        <a:buNone/>
                        <a:defRPr/>
                      </a:pPr>
                      <a:endParaRPr lang="en-US" altLang="zh-CN" sz="2400" b="1" dirty="0">
                        <a:solidFill>
                          <a:schemeClr val="tx1"/>
                        </a:solidFill>
                      </a:endParaRPr>
                    </a:p>
                  </a:txBody>
                  <a:tcPr marL="91430" marR="91430"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90000"/>
                      </a:schemeClr>
                    </a:solidFill>
                  </a:tcPr>
                </a:tc>
                <a:tc>
                  <a:txBody>
                    <a:bodyPr/>
                    <a:lstStyle/>
                    <a:p>
                      <a:pPr algn="ctr"/>
                      <a:r>
                        <a:rPr lang="en-US" altLang="zh-CN" sz="2400" b="1" dirty="0">
                          <a:solidFill>
                            <a:schemeClr val="tx1"/>
                          </a:solidFill>
                        </a:rPr>
                        <a:t>X</a:t>
                      </a:r>
                      <a:endParaRPr lang="zh-CN" altLang="en-US" sz="2400" b="1" dirty="0">
                        <a:solidFill>
                          <a:schemeClr val="tx1"/>
                        </a:solidFill>
                      </a:endParaRPr>
                    </a:p>
                  </a:txBody>
                  <a:tcPr marL="91430" marR="91430"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90000"/>
                      </a:schemeClr>
                    </a:solidFill>
                  </a:tcPr>
                </a:tc>
                <a:tc>
                  <a:txBody>
                    <a:bodyPr/>
                    <a:lstStyle/>
                    <a:p>
                      <a:pPr algn="ctr"/>
                      <a:r>
                        <a:rPr lang="en-US" altLang="zh-CN" sz="2400" b="1" dirty="0">
                          <a:solidFill>
                            <a:schemeClr val="tx1"/>
                          </a:solidFill>
                        </a:rPr>
                        <a:t>S</a:t>
                      </a:r>
                      <a:endParaRPr lang="zh-CN" altLang="en-US" sz="2400" b="1" dirty="0">
                        <a:solidFill>
                          <a:schemeClr val="tx1"/>
                        </a:solidFill>
                      </a:endParaRPr>
                    </a:p>
                  </a:txBody>
                  <a:tcPr marL="91430" marR="91430"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90000"/>
                      </a:schemeClr>
                    </a:solidFill>
                  </a:tcPr>
                </a:tc>
                <a:tc>
                  <a:txBody>
                    <a:bodyPr/>
                    <a:lstStyle/>
                    <a:p>
                      <a:pPr algn="ctr"/>
                      <a:r>
                        <a:rPr lang="en-US" altLang="zh-CN" sz="2400" b="1" dirty="0">
                          <a:solidFill>
                            <a:schemeClr val="tx1"/>
                          </a:solidFill>
                        </a:rPr>
                        <a:t>_</a:t>
                      </a:r>
                      <a:endParaRPr lang="zh-CN" altLang="en-US" sz="2400" b="1" dirty="0">
                        <a:solidFill>
                          <a:schemeClr val="tx1"/>
                        </a:solidFill>
                      </a:endParaRPr>
                    </a:p>
                  </a:txBody>
                  <a:tcPr marL="91430" marR="91430"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90000"/>
                      </a:schemeClr>
                    </a:solidFill>
                  </a:tcPr>
                </a:tc>
                <a:extLst>
                  <a:ext uri="{0D108BD9-81ED-4DB2-BD59-A6C34878D82A}">
                    <a16:rowId xmlns:a16="http://schemas.microsoft.com/office/drawing/2014/main" val="10000"/>
                  </a:ext>
                </a:extLst>
              </a:tr>
              <a:tr h="666012">
                <a:tc>
                  <a:txBody>
                    <a:bodyPr/>
                    <a:lstStyle/>
                    <a:p>
                      <a:pPr algn="ctr"/>
                      <a:r>
                        <a:rPr lang="en-US" altLang="zh-CN" sz="2400" b="1" dirty="0"/>
                        <a:t>X</a:t>
                      </a:r>
                      <a:endParaRPr lang="zh-CN" altLang="en-US" sz="2400" b="1" dirty="0"/>
                    </a:p>
                  </a:txBody>
                  <a:tcPr marL="91430" marR="91430"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90000"/>
                      </a:schemeClr>
                    </a:solidFill>
                  </a:tcPr>
                </a:tc>
                <a:tc>
                  <a:txBody>
                    <a:bodyPr/>
                    <a:lstStyle/>
                    <a:p>
                      <a:pPr algn="ctr"/>
                      <a:r>
                        <a:rPr lang="en-US" altLang="zh-CN" sz="2400" b="1" dirty="0"/>
                        <a:t>N</a:t>
                      </a:r>
                      <a:endParaRPr lang="zh-CN" altLang="en-US" sz="2400" b="1" dirty="0"/>
                    </a:p>
                  </a:txBody>
                  <a:tcPr marL="91430" marR="91430"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90000"/>
                      </a:schemeClr>
                    </a:solidFill>
                  </a:tcPr>
                </a:tc>
                <a:tc>
                  <a:txBody>
                    <a:bodyPr/>
                    <a:lstStyle/>
                    <a:p>
                      <a:pPr algn="ctr"/>
                      <a:r>
                        <a:rPr lang="en-US" altLang="zh-CN" sz="2400" b="1" dirty="0"/>
                        <a:t>N</a:t>
                      </a:r>
                      <a:endParaRPr lang="zh-CN" altLang="en-US" sz="2400" b="1" dirty="0"/>
                    </a:p>
                  </a:txBody>
                  <a:tcPr marL="91430" marR="91430"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90000"/>
                      </a:schemeClr>
                    </a:solidFill>
                  </a:tcPr>
                </a:tc>
                <a:tc>
                  <a:txBody>
                    <a:bodyPr/>
                    <a:lstStyle/>
                    <a:p>
                      <a:pPr algn="ctr"/>
                      <a:r>
                        <a:rPr lang="en-US" altLang="zh-CN" sz="2400" b="1" dirty="0"/>
                        <a:t>Y</a:t>
                      </a:r>
                      <a:endParaRPr lang="zh-CN" altLang="en-US" sz="2400" b="1" dirty="0"/>
                    </a:p>
                  </a:txBody>
                  <a:tcPr marL="91430" marR="91430"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90000"/>
                      </a:schemeClr>
                    </a:solidFill>
                  </a:tcPr>
                </a:tc>
                <a:extLst>
                  <a:ext uri="{0D108BD9-81ED-4DB2-BD59-A6C34878D82A}">
                    <a16:rowId xmlns:a16="http://schemas.microsoft.com/office/drawing/2014/main" val="10001"/>
                  </a:ext>
                </a:extLst>
              </a:tr>
              <a:tr h="666012">
                <a:tc>
                  <a:txBody>
                    <a:bodyPr/>
                    <a:lstStyle/>
                    <a:p>
                      <a:pPr algn="ctr"/>
                      <a:r>
                        <a:rPr lang="en-US" altLang="zh-CN" sz="2400" b="1" dirty="0"/>
                        <a:t>S</a:t>
                      </a:r>
                      <a:endParaRPr lang="zh-CN" altLang="en-US" sz="2400" b="1" dirty="0"/>
                    </a:p>
                  </a:txBody>
                  <a:tcPr marL="91430" marR="91430"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90000"/>
                      </a:schemeClr>
                    </a:solidFill>
                  </a:tcPr>
                </a:tc>
                <a:tc>
                  <a:txBody>
                    <a:bodyPr/>
                    <a:lstStyle/>
                    <a:p>
                      <a:pPr algn="ctr"/>
                      <a:r>
                        <a:rPr lang="en-US" altLang="zh-CN" sz="2400" b="1" dirty="0"/>
                        <a:t>N</a:t>
                      </a:r>
                      <a:endParaRPr lang="zh-CN" altLang="en-US" sz="2400" b="1" dirty="0"/>
                    </a:p>
                  </a:txBody>
                  <a:tcPr marL="91430" marR="91430"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90000"/>
                      </a:schemeClr>
                    </a:solidFill>
                  </a:tcPr>
                </a:tc>
                <a:tc>
                  <a:txBody>
                    <a:bodyPr/>
                    <a:lstStyle/>
                    <a:p>
                      <a:pPr algn="ctr"/>
                      <a:r>
                        <a:rPr lang="en-US" altLang="zh-CN" sz="2400" b="1" dirty="0"/>
                        <a:t>Y</a:t>
                      </a:r>
                      <a:endParaRPr lang="zh-CN" altLang="en-US" sz="2400" b="1" dirty="0"/>
                    </a:p>
                  </a:txBody>
                  <a:tcPr marL="91430" marR="91430"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90000"/>
                      </a:schemeClr>
                    </a:solidFill>
                  </a:tcPr>
                </a:tc>
                <a:tc>
                  <a:txBody>
                    <a:bodyPr/>
                    <a:lstStyle/>
                    <a:p>
                      <a:pPr algn="ctr"/>
                      <a:r>
                        <a:rPr lang="en-US" altLang="zh-CN" sz="2400" b="1" dirty="0"/>
                        <a:t>Y</a:t>
                      </a:r>
                      <a:endParaRPr lang="zh-CN" altLang="en-US" sz="2400" b="1" dirty="0"/>
                    </a:p>
                  </a:txBody>
                  <a:tcPr marL="91430" marR="91430"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90000"/>
                      </a:schemeClr>
                    </a:solidFill>
                  </a:tcPr>
                </a:tc>
                <a:extLst>
                  <a:ext uri="{0D108BD9-81ED-4DB2-BD59-A6C34878D82A}">
                    <a16:rowId xmlns:a16="http://schemas.microsoft.com/office/drawing/2014/main" val="10002"/>
                  </a:ext>
                </a:extLst>
              </a:tr>
              <a:tr h="666012">
                <a:tc>
                  <a:txBody>
                    <a:bodyPr/>
                    <a:lstStyle/>
                    <a:p>
                      <a:pPr algn="ctr"/>
                      <a:r>
                        <a:rPr lang="en-US" altLang="zh-CN" sz="2400" b="1" dirty="0"/>
                        <a:t>_</a:t>
                      </a:r>
                      <a:endParaRPr lang="zh-CN" altLang="en-US" sz="2400" b="1" dirty="0"/>
                    </a:p>
                  </a:txBody>
                  <a:tcPr marL="91430" marR="91430"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90000"/>
                      </a:schemeClr>
                    </a:solidFill>
                  </a:tcPr>
                </a:tc>
                <a:tc>
                  <a:txBody>
                    <a:bodyPr/>
                    <a:lstStyle/>
                    <a:p>
                      <a:pPr algn="ctr"/>
                      <a:r>
                        <a:rPr lang="en-US" altLang="zh-CN" sz="2400" b="1" dirty="0"/>
                        <a:t>Y</a:t>
                      </a:r>
                      <a:endParaRPr lang="zh-CN" altLang="en-US" sz="2400" b="1" dirty="0"/>
                    </a:p>
                  </a:txBody>
                  <a:tcPr marL="91430" marR="91430"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90000"/>
                      </a:schemeClr>
                    </a:solidFill>
                  </a:tcPr>
                </a:tc>
                <a:tc>
                  <a:txBody>
                    <a:bodyPr/>
                    <a:lstStyle/>
                    <a:p>
                      <a:pPr algn="ctr"/>
                      <a:r>
                        <a:rPr lang="en-US" altLang="zh-CN" sz="2400" b="1" dirty="0"/>
                        <a:t>Y</a:t>
                      </a:r>
                      <a:endParaRPr lang="zh-CN" altLang="en-US" sz="2400" b="1" dirty="0"/>
                    </a:p>
                  </a:txBody>
                  <a:tcPr marL="91430" marR="91430"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90000"/>
                      </a:schemeClr>
                    </a:solidFill>
                  </a:tcPr>
                </a:tc>
                <a:tc>
                  <a:txBody>
                    <a:bodyPr/>
                    <a:lstStyle/>
                    <a:p>
                      <a:pPr algn="ctr"/>
                      <a:r>
                        <a:rPr lang="en-US" altLang="zh-CN" sz="2400" b="1" dirty="0"/>
                        <a:t>Y</a:t>
                      </a:r>
                      <a:endParaRPr lang="zh-CN" altLang="en-US" sz="2400" b="1" dirty="0"/>
                    </a:p>
                  </a:txBody>
                  <a:tcPr marL="91430" marR="91430"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90000"/>
                      </a:schemeClr>
                    </a:solidFill>
                  </a:tcPr>
                </a:tc>
                <a:extLst>
                  <a:ext uri="{0D108BD9-81ED-4DB2-BD59-A6C34878D82A}">
                    <a16:rowId xmlns:a16="http://schemas.microsoft.com/office/drawing/2014/main" val="10003"/>
                  </a:ext>
                </a:extLst>
              </a:tr>
            </a:tbl>
          </a:graphicData>
        </a:graphic>
      </p:graphicFrame>
      <p:sp>
        <p:nvSpPr>
          <p:cNvPr id="38944" name="TextBox 59"/>
          <p:cNvSpPr txBox="1"/>
          <p:nvPr/>
        </p:nvSpPr>
        <p:spPr>
          <a:xfrm>
            <a:off x="2735263" y="2060575"/>
            <a:ext cx="427037"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en-US" altLang="zh-CN" sz="2000" dirty="0"/>
              <a:t>T</a:t>
            </a:r>
            <a:r>
              <a:rPr lang="en-US" altLang="zh-CN" sz="1800" baseline="-25000" dirty="0"/>
              <a:t>2</a:t>
            </a:r>
            <a:endParaRPr lang="zh-CN" altLang="en-US" sz="1800" baseline="-25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p:cNvSpPr>
          <p:nvPr>
            <p:ph type="title"/>
          </p:nvPr>
        </p:nvSpPr>
        <p:spPr>
          <a:xfrm>
            <a:off x="2438400" y="184150"/>
            <a:ext cx="7391400" cy="563563"/>
          </a:xfrm>
        </p:spPr>
        <p:txBody>
          <a:bodyPr vert="horz" wrap="square" lIns="91440" tIns="45720" rIns="91440" bIns="45720" anchor="ctr" anchorCtr="0"/>
          <a:lstStyle/>
          <a:p>
            <a:pPr eaLnBrk="1" hangingPunct="1"/>
            <a:r>
              <a:rPr lang="zh-CN" altLang="zh-CN" sz="3600" dirty="0"/>
              <a:t>第十</a:t>
            </a:r>
            <a:r>
              <a:rPr lang="zh-CN" altLang="en-US" sz="3600" dirty="0"/>
              <a:t>二</a:t>
            </a:r>
            <a:r>
              <a:rPr lang="zh-CN" altLang="zh-CN" sz="3600" dirty="0"/>
              <a:t>章  并发控制</a:t>
            </a:r>
          </a:p>
        </p:txBody>
      </p:sp>
      <p:sp>
        <p:nvSpPr>
          <p:cNvPr id="39939" name="Rectangle 3"/>
          <p:cNvSpPr>
            <a:spLocks noGrp="1"/>
          </p:cNvSpPr>
          <p:nvPr>
            <p:ph type="body"/>
          </p:nvPr>
        </p:nvSpPr>
        <p:spPr>
          <a:xfrm>
            <a:off x="1416050" y="873125"/>
            <a:ext cx="7715250" cy="5111750"/>
          </a:xfrm>
        </p:spPr>
        <p:txBody>
          <a:bodyPr vert="horz" wrap="square" lIns="91440" tIns="45720" rIns="91440" bIns="45720" anchor="t" anchorCtr="0"/>
          <a:lstStyle/>
          <a:p>
            <a:pPr marL="0" indent="0" algn="just" eaLnBrk="1" hangingPunct="1">
              <a:lnSpc>
                <a:spcPct val="130000"/>
              </a:lnSpc>
              <a:buNone/>
            </a:pPr>
            <a:r>
              <a:rPr lang="en-US" altLang="zh-CN" sz="2400" dirty="0"/>
              <a:t>12.1  </a:t>
            </a:r>
            <a:r>
              <a:rPr lang="zh-CN" altLang="en-US" sz="2400" dirty="0"/>
              <a:t>并发控制概述</a:t>
            </a:r>
          </a:p>
          <a:p>
            <a:pPr marL="0" indent="0" algn="just" eaLnBrk="1" hangingPunct="1">
              <a:lnSpc>
                <a:spcPct val="130000"/>
              </a:lnSpc>
              <a:buNone/>
            </a:pPr>
            <a:r>
              <a:rPr lang="en-US" altLang="zh-CN" sz="2400" dirty="0"/>
              <a:t>12.2  </a:t>
            </a:r>
            <a:r>
              <a:rPr lang="zh-CN" altLang="en-US" sz="2400" dirty="0"/>
              <a:t>事务的隔离级别</a:t>
            </a:r>
            <a:endParaRPr lang="en-US" altLang="zh-CN" sz="2400" dirty="0"/>
          </a:p>
          <a:p>
            <a:pPr marL="0" indent="0" algn="just" eaLnBrk="1" hangingPunct="1">
              <a:lnSpc>
                <a:spcPct val="130000"/>
              </a:lnSpc>
              <a:buNone/>
            </a:pPr>
            <a:r>
              <a:rPr lang="en-US" altLang="zh-CN" sz="2400" dirty="0"/>
              <a:t>12.3  </a:t>
            </a:r>
            <a:r>
              <a:rPr lang="zh-CN" altLang="en-US" sz="2400" dirty="0"/>
              <a:t>封锁</a:t>
            </a:r>
            <a:endParaRPr lang="en-US" altLang="zh-CN" sz="2400" dirty="0"/>
          </a:p>
          <a:p>
            <a:pPr marL="0" indent="0" algn="just" eaLnBrk="1" hangingPunct="1">
              <a:lnSpc>
                <a:spcPct val="130000"/>
              </a:lnSpc>
              <a:buNone/>
            </a:pPr>
            <a:r>
              <a:rPr lang="en-US" altLang="zh-CN" sz="2400" dirty="0">
                <a:solidFill>
                  <a:srgbClr val="0066FF"/>
                </a:solidFill>
              </a:rPr>
              <a:t>12.4 </a:t>
            </a:r>
            <a:r>
              <a:rPr lang="zh-CN" altLang="en-US" sz="2400" dirty="0">
                <a:solidFill>
                  <a:srgbClr val="0066FF"/>
                </a:solidFill>
              </a:rPr>
              <a:t> 封锁协议</a:t>
            </a:r>
          </a:p>
          <a:p>
            <a:pPr marL="0" indent="0" algn="just" eaLnBrk="1" hangingPunct="1">
              <a:lnSpc>
                <a:spcPct val="130000"/>
              </a:lnSpc>
              <a:buNone/>
            </a:pPr>
            <a:r>
              <a:rPr lang="en-US" altLang="zh-CN" sz="2400" dirty="0"/>
              <a:t>12.5  </a:t>
            </a:r>
            <a:r>
              <a:rPr lang="zh-CN" altLang="en-US" sz="2400" dirty="0"/>
              <a:t>活锁和死锁</a:t>
            </a:r>
          </a:p>
          <a:p>
            <a:pPr marL="0" indent="0" algn="just" eaLnBrk="1" hangingPunct="1">
              <a:lnSpc>
                <a:spcPct val="130000"/>
              </a:lnSpc>
              <a:buNone/>
            </a:pPr>
            <a:r>
              <a:rPr lang="en-US" altLang="zh-CN" sz="2400" dirty="0"/>
              <a:t>12.6  </a:t>
            </a:r>
            <a:r>
              <a:rPr lang="zh-CN" altLang="en-US" sz="2400" dirty="0"/>
              <a:t>并发调度的可串行性</a:t>
            </a:r>
          </a:p>
          <a:p>
            <a:pPr marL="0" indent="0" algn="just" eaLnBrk="1" hangingPunct="1">
              <a:lnSpc>
                <a:spcPct val="130000"/>
              </a:lnSpc>
              <a:buNone/>
            </a:pPr>
            <a:r>
              <a:rPr lang="en-US" altLang="zh-CN" sz="2400" dirty="0"/>
              <a:t>12.7  </a:t>
            </a:r>
            <a:r>
              <a:rPr lang="zh-CN" altLang="en-US" sz="2400" dirty="0"/>
              <a:t>两段锁协议</a:t>
            </a:r>
          </a:p>
          <a:p>
            <a:pPr marL="0" indent="0" algn="just" eaLnBrk="1" hangingPunct="1">
              <a:lnSpc>
                <a:spcPct val="130000"/>
              </a:lnSpc>
              <a:buNone/>
            </a:pPr>
            <a:r>
              <a:rPr lang="en-US" altLang="zh-CN" sz="2400" dirty="0"/>
              <a:t>12.8  </a:t>
            </a:r>
            <a:r>
              <a:rPr lang="zh-CN" altLang="en-US" sz="2400" dirty="0"/>
              <a:t>封锁的粒度</a:t>
            </a:r>
          </a:p>
          <a:p>
            <a:pPr marL="0" indent="0" algn="just" eaLnBrk="1" hangingPunct="1">
              <a:lnSpc>
                <a:spcPct val="130000"/>
              </a:lnSpc>
              <a:buNone/>
            </a:pPr>
            <a:r>
              <a:rPr lang="zh-CN" altLang="en-US" sz="2400" dirty="0"/>
              <a:t>*</a:t>
            </a:r>
            <a:r>
              <a:rPr lang="en-US" altLang="zh-CN" sz="2400" dirty="0"/>
              <a:t>12.9  </a:t>
            </a:r>
            <a:r>
              <a:rPr lang="zh-CN" altLang="en-US" sz="2400" dirty="0"/>
              <a:t>其他并发控制机制</a:t>
            </a:r>
          </a:p>
          <a:p>
            <a:pPr marL="0" indent="0" algn="just" eaLnBrk="1" hangingPunct="1">
              <a:lnSpc>
                <a:spcPct val="130000"/>
              </a:lnSpc>
              <a:buNone/>
            </a:pPr>
            <a:r>
              <a:rPr lang="zh-CN" altLang="en-US" sz="2400" dirty="0"/>
              <a:t>1</a:t>
            </a:r>
            <a:r>
              <a:rPr lang="en-US" altLang="zh-CN" sz="2400" dirty="0"/>
              <a:t>2</a:t>
            </a:r>
            <a:r>
              <a:rPr lang="zh-CN" altLang="en-US" sz="2400" dirty="0"/>
              <a:t>.</a:t>
            </a:r>
            <a:r>
              <a:rPr lang="en-US" altLang="zh-CN" sz="2400" dirty="0"/>
              <a:t>10</a:t>
            </a:r>
            <a:r>
              <a:rPr lang="zh-CN" altLang="en-US" sz="2400" dirty="0"/>
              <a:t>  小结</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en-US" altLang="zh-CN" sz="3600" dirty="0"/>
              <a:t>12.4  </a:t>
            </a:r>
            <a:r>
              <a:rPr lang="zh-CN" altLang="en-US" sz="3600" dirty="0"/>
              <a:t>封锁协议</a:t>
            </a:r>
          </a:p>
        </p:txBody>
      </p:sp>
      <p:sp>
        <p:nvSpPr>
          <p:cNvPr id="40963" name="Rectangle 3"/>
          <p:cNvSpPr>
            <a:spLocks noGrp="1"/>
          </p:cNvSpPr>
          <p:nvPr>
            <p:ph type="body"/>
          </p:nvPr>
        </p:nvSpPr>
        <p:spPr>
          <a:xfrm>
            <a:off x="1127125" y="1109663"/>
            <a:ext cx="9648825" cy="4638675"/>
          </a:xfrm>
        </p:spPr>
        <p:txBody>
          <a:bodyPr vert="horz" wrap="square" lIns="91440" tIns="45720" rIns="91440" bIns="45720" anchor="t" anchorCtr="0"/>
          <a:lstStyle/>
          <a:p>
            <a:pPr eaLnBrk="1" hangingPunct="1">
              <a:lnSpc>
                <a:spcPct val="150000"/>
              </a:lnSpc>
              <a:spcBef>
                <a:spcPct val="0"/>
              </a:spcBef>
            </a:pPr>
            <a:r>
              <a:rPr lang="zh-CN" altLang="en-US" dirty="0"/>
              <a:t>什么是封锁协议</a:t>
            </a:r>
          </a:p>
          <a:p>
            <a:pPr lvl="1">
              <a:lnSpc>
                <a:spcPct val="150000"/>
              </a:lnSpc>
              <a:spcBef>
                <a:spcPct val="0"/>
              </a:spcBef>
            </a:pPr>
            <a:r>
              <a:rPr lang="zh-CN" altLang="en-US" dirty="0"/>
              <a:t>在运用</a:t>
            </a:r>
            <a:r>
              <a:rPr lang="en-US" altLang="zh-CN" dirty="0"/>
              <a:t>X</a:t>
            </a:r>
            <a:r>
              <a:rPr lang="zh-CN" altLang="en-US" dirty="0"/>
              <a:t>锁和</a:t>
            </a:r>
            <a:r>
              <a:rPr lang="en-US" altLang="zh-CN" dirty="0"/>
              <a:t>S</a:t>
            </a:r>
            <a:r>
              <a:rPr lang="zh-CN" altLang="en-US" dirty="0"/>
              <a:t>锁对数据对象加锁时，需要约定一些规则，这些规则为封锁协议（</a:t>
            </a:r>
            <a:r>
              <a:rPr lang="en-US" altLang="zh-CN" dirty="0"/>
              <a:t>Locking Protocol</a:t>
            </a:r>
            <a:r>
              <a:rPr lang="zh-CN" altLang="en-US" dirty="0"/>
              <a:t>）。 </a:t>
            </a:r>
          </a:p>
          <a:p>
            <a:pPr lvl="2">
              <a:lnSpc>
                <a:spcPct val="150000"/>
              </a:lnSpc>
              <a:spcBef>
                <a:spcPct val="0"/>
              </a:spcBef>
              <a:buSzPct val="87000"/>
              <a:buFont typeface="Wingdings" panose="05000000000000000000" pitchFamily="2" charset="2"/>
              <a:buChar char="l"/>
            </a:pPr>
            <a:r>
              <a:rPr lang="zh-CN" altLang="en-US" sz="2400" dirty="0"/>
              <a:t>何时申请</a:t>
            </a:r>
            <a:r>
              <a:rPr lang="en-US" altLang="zh-CN" sz="2400" dirty="0"/>
              <a:t>X</a:t>
            </a:r>
            <a:r>
              <a:rPr lang="zh-CN" altLang="en-US" sz="2400" dirty="0"/>
              <a:t>锁或</a:t>
            </a:r>
            <a:r>
              <a:rPr lang="en-US" altLang="zh-CN" sz="2400" dirty="0"/>
              <a:t>S</a:t>
            </a:r>
            <a:r>
              <a:rPr lang="zh-CN" altLang="en-US" sz="2400" dirty="0"/>
              <a:t>锁</a:t>
            </a:r>
          </a:p>
          <a:p>
            <a:pPr lvl="2">
              <a:lnSpc>
                <a:spcPct val="150000"/>
              </a:lnSpc>
              <a:spcBef>
                <a:spcPct val="0"/>
              </a:spcBef>
              <a:buSzPct val="87000"/>
              <a:buFont typeface="Wingdings" panose="05000000000000000000" pitchFamily="2" charset="2"/>
              <a:buChar char="l"/>
            </a:pPr>
            <a:r>
              <a:rPr lang="zh-CN" altLang="en-US" sz="2400" dirty="0"/>
              <a:t>持锁时间</a:t>
            </a:r>
          </a:p>
          <a:p>
            <a:pPr lvl="2">
              <a:lnSpc>
                <a:spcPct val="150000"/>
              </a:lnSpc>
              <a:spcBef>
                <a:spcPct val="0"/>
              </a:spcBef>
              <a:buSzPct val="87000"/>
              <a:buFont typeface="Wingdings" panose="05000000000000000000" pitchFamily="2" charset="2"/>
              <a:buChar char="l"/>
            </a:pPr>
            <a:r>
              <a:rPr lang="zh-CN" altLang="en-US" sz="2400" dirty="0"/>
              <a:t>何时释放</a:t>
            </a:r>
          </a:p>
          <a:p>
            <a:pPr lvl="1">
              <a:lnSpc>
                <a:spcPct val="150000"/>
              </a:lnSpc>
              <a:spcBef>
                <a:spcPct val="0"/>
              </a:spcBef>
            </a:pPr>
            <a:r>
              <a:rPr lang="zh-CN" altLang="en-US" dirty="0"/>
              <a:t>对封锁方式规定不同的规则，就形成了各种不同的封锁协议。</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p:cNvSpPr>
          <p:nvPr>
            <p:ph type="title"/>
          </p:nvPr>
        </p:nvSpPr>
        <p:spPr>
          <a:xfrm>
            <a:off x="2424113" y="-38100"/>
            <a:ext cx="8064500" cy="1136650"/>
          </a:xfrm>
        </p:spPr>
        <p:txBody>
          <a:bodyPr vert="horz" wrap="square" lIns="91440" tIns="45720" rIns="91440" bIns="45720" anchor="ctr" anchorCtr="0"/>
          <a:lstStyle/>
          <a:p>
            <a:pPr eaLnBrk="1" hangingPunct="1"/>
            <a:r>
              <a:rPr lang="zh-CN" altLang="zh-CN" sz="3600" dirty="0"/>
              <a:t>保持数据一致性的常用封锁协议</a:t>
            </a:r>
          </a:p>
        </p:txBody>
      </p:sp>
      <p:sp>
        <p:nvSpPr>
          <p:cNvPr id="35843" name="Rectangle 3"/>
          <p:cNvSpPr>
            <a:spLocks noGrp="1" noChangeArrowheads="1"/>
          </p:cNvSpPr>
          <p:nvPr>
            <p:ph type="body" idx="1"/>
          </p:nvPr>
        </p:nvSpPr>
        <p:spPr>
          <a:xfrm>
            <a:off x="911225" y="1090613"/>
            <a:ext cx="10585450" cy="5127625"/>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Pct val="100000"/>
              <a:buFont typeface="Wingdings" panose="05000000000000000000" pitchFamily="2" charset="2"/>
              <a:buChar char="v"/>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三级封锁协议</a:t>
            </a:r>
          </a:p>
          <a:p>
            <a:pPr marL="476250" marR="0" lvl="0" indent="-342900" algn="l" defTabSz="914400" rtl="0" eaLnBrk="0" fontAlgn="base" latinLnBrk="0" hangingPunct="0">
              <a:lnSpc>
                <a:spcPct val="160000"/>
              </a:lnSpc>
              <a:spcBef>
                <a:spcPct val="20000"/>
              </a:spcBef>
              <a:spcAft>
                <a:spcPct val="0"/>
              </a:spcAft>
              <a:buClrTx/>
              <a:buSzPct val="100000"/>
              <a:buFont typeface="Wingdings" panose="05000000000000000000" pitchFamily="2" charset="2"/>
              <a:buChar char="v"/>
              <a:defRPr/>
            </a:pPr>
            <a:r>
              <a:rPr kumimoji="0" lang="zh-CN" altLang="zh-CN" sz="2800" b="1" i="0" u="none" strike="noStrike" kern="0" cap="none" spc="0" normalizeH="0" baseline="0" noProof="0" dirty="0">
                <a:ln>
                  <a:noFill/>
                </a:ln>
                <a:solidFill>
                  <a:schemeClr val="tx1"/>
                </a:solidFill>
                <a:effectLst/>
                <a:uLnTx/>
                <a:uFillTx/>
                <a:latin typeface="+mn-lt"/>
                <a:ea typeface="+mn-ea"/>
                <a:cs typeface="+mn-cs"/>
              </a:rPr>
              <a:t>对并发操作的不正确调度可能会带来丢失修改、不可重复读和读“脏”数据等数据不一致性问题</a:t>
            </a: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a:p>
            <a:pPr marL="476250" marR="0" lvl="0" indent="-342900" algn="l" defTabSz="914400" rtl="0" eaLnBrk="0" fontAlgn="base" latinLnBrk="0" hangingPunct="0">
              <a:lnSpc>
                <a:spcPct val="160000"/>
              </a:lnSpc>
              <a:spcBef>
                <a:spcPct val="20000"/>
              </a:spcBef>
              <a:spcAft>
                <a:spcPct val="0"/>
              </a:spcAft>
              <a:buClrTx/>
              <a:buSzPct val="100000"/>
              <a:buFont typeface="Wingdings" panose="05000000000000000000" pitchFamily="2" charset="2"/>
              <a:buChar char="v"/>
              <a:defRPr/>
            </a:pPr>
            <a:r>
              <a:rPr kumimoji="0" lang="zh-CN" altLang="zh-CN" sz="2800" b="1" i="0" u="none" strike="noStrike" kern="0" cap="none" spc="0" normalizeH="0" baseline="0" noProof="0" dirty="0">
                <a:ln>
                  <a:noFill/>
                </a:ln>
                <a:solidFill>
                  <a:schemeClr val="tx1"/>
                </a:solidFill>
                <a:effectLst/>
                <a:uLnTx/>
                <a:uFillTx/>
                <a:latin typeface="+mn-lt"/>
                <a:ea typeface="+mn-ea"/>
                <a:cs typeface="+mn-cs"/>
              </a:rPr>
              <a:t>三级封锁协议分别在不同程度上解决了这些问题，为并发操作的正确调度提供一定的保证。</a:t>
            </a: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a:p>
            <a:pPr marL="476250" marR="0" lvl="0" indent="-342900" algn="l" defTabSz="914400" rtl="0" eaLnBrk="0" fontAlgn="base" latinLnBrk="0" hangingPunct="0">
              <a:lnSpc>
                <a:spcPct val="160000"/>
              </a:lnSpc>
              <a:spcBef>
                <a:spcPct val="20000"/>
              </a:spcBef>
              <a:spcAft>
                <a:spcPct val="0"/>
              </a:spcAft>
              <a:buClrTx/>
              <a:buSzPct val="100000"/>
              <a:buFont typeface="Wingdings" panose="05000000000000000000" pitchFamily="2" charset="2"/>
              <a:buChar char="v"/>
              <a:defRPr/>
            </a:pPr>
            <a:r>
              <a:rPr kumimoji="0" lang="zh-CN" altLang="zh-CN" sz="2800" b="1" i="0" u="none" strike="noStrike" kern="0" cap="none" spc="0" normalizeH="0" baseline="0" noProof="0" dirty="0">
                <a:ln>
                  <a:noFill/>
                </a:ln>
                <a:solidFill>
                  <a:schemeClr val="tx1"/>
                </a:solidFill>
                <a:effectLst/>
                <a:uLnTx/>
                <a:uFillTx/>
                <a:latin typeface="+mn-lt"/>
                <a:ea typeface="+mn-ea"/>
                <a:cs typeface="+mn-cs"/>
              </a:rPr>
              <a:t>不同级别的封锁协议达到的数据一致性级别是不同的。</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en-US" altLang="zh-CN" sz="3600" dirty="0"/>
              <a:t>1. </a:t>
            </a:r>
            <a:r>
              <a:rPr lang="zh-CN" altLang="en-US" sz="3600" dirty="0"/>
              <a:t>一级封锁协议</a:t>
            </a:r>
          </a:p>
        </p:txBody>
      </p:sp>
      <p:sp>
        <p:nvSpPr>
          <p:cNvPr id="43011" name="Rectangle 3"/>
          <p:cNvSpPr>
            <a:spLocks noGrp="1"/>
          </p:cNvSpPr>
          <p:nvPr>
            <p:ph type="body"/>
          </p:nvPr>
        </p:nvSpPr>
        <p:spPr>
          <a:xfrm>
            <a:off x="841375" y="1196975"/>
            <a:ext cx="10585450" cy="4913313"/>
          </a:xfrm>
        </p:spPr>
        <p:txBody>
          <a:bodyPr vert="horz" wrap="square" lIns="91440" tIns="45720" rIns="91440" bIns="45720" anchor="t" anchorCtr="0"/>
          <a:lstStyle/>
          <a:p>
            <a:pPr eaLnBrk="1" hangingPunct="1">
              <a:lnSpc>
                <a:spcPct val="150000"/>
              </a:lnSpc>
              <a:spcBef>
                <a:spcPct val="0"/>
              </a:spcBef>
            </a:pPr>
            <a:r>
              <a:rPr lang="zh-CN" altLang="en-US" dirty="0"/>
              <a:t>一级封锁协议</a:t>
            </a:r>
          </a:p>
          <a:p>
            <a:pPr lvl="1">
              <a:lnSpc>
                <a:spcPct val="150000"/>
              </a:lnSpc>
              <a:spcBef>
                <a:spcPct val="0"/>
              </a:spcBef>
            </a:pPr>
            <a:r>
              <a:rPr lang="zh-CN" altLang="en-US" dirty="0"/>
              <a:t>事务</a:t>
            </a:r>
            <a:r>
              <a:rPr lang="en-US" altLang="zh-CN" dirty="0"/>
              <a:t>T</a:t>
            </a:r>
            <a:r>
              <a:rPr lang="zh-CN" altLang="en-US" dirty="0"/>
              <a:t>在修改数据</a:t>
            </a:r>
            <a:r>
              <a:rPr lang="en-US" altLang="zh-CN" dirty="0"/>
              <a:t>R</a:t>
            </a:r>
            <a:r>
              <a:rPr lang="zh-CN" altLang="en-US" dirty="0"/>
              <a:t>之前必须先对其加</a:t>
            </a:r>
            <a:r>
              <a:rPr lang="en-US" altLang="zh-CN" dirty="0"/>
              <a:t>X</a:t>
            </a:r>
            <a:r>
              <a:rPr lang="zh-CN" altLang="en-US" dirty="0"/>
              <a:t>锁，直到事务结束才释放。</a:t>
            </a:r>
          </a:p>
          <a:p>
            <a:pPr lvl="2">
              <a:lnSpc>
                <a:spcPct val="150000"/>
              </a:lnSpc>
              <a:spcBef>
                <a:spcPct val="0"/>
              </a:spcBef>
              <a:buSzPct val="87000"/>
              <a:buFont typeface="Wingdings" panose="05000000000000000000" pitchFamily="2" charset="2"/>
              <a:buChar char="l"/>
            </a:pPr>
            <a:r>
              <a:rPr lang="zh-CN" altLang="en-US" sz="2200" dirty="0"/>
              <a:t>正常结束（</a:t>
            </a:r>
            <a:r>
              <a:rPr lang="en-US" altLang="zh-CN" sz="2200" dirty="0"/>
              <a:t>COMMIT</a:t>
            </a:r>
            <a:r>
              <a:rPr lang="zh-CN" altLang="en-US" sz="2200" dirty="0"/>
              <a:t>）</a:t>
            </a:r>
          </a:p>
          <a:p>
            <a:pPr lvl="2">
              <a:lnSpc>
                <a:spcPct val="150000"/>
              </a:lnSpc>
              <a:spcBef>
                <a:spcPct val="0"/>
              </a:spcBef>
              <a:buSzPct val="87000"/>
              <a:buFont typeface="Wingdings" panose="05000000000000000000" pitchFamily="2" charset="2"/>
              <a:buChar char="l"/>
            </a:pPr>
            <a:r>
              <a:rPr lang="zh-CN" altLang="en-US" sz="2200" dirty="0"/>
              <a:t>非正常结束（</a:t>
            </a:r>
            <a:r>
              <a:rPr lang="en-US" altLang="zh-CN" sz="2200" dirty="0"/>
              <a:t>ROLLBACK</a:t>
            </a:r>
            <a:r>
              <a:rPr lang="zh-CN" altLang="en-US" sz="2200" dirty="0"/>
              <a:t>）</a:t>
            </a:r>
          </a:p>
          <a:p>
            <a:pPr eaLnBrk="1" hangingPunct="1">
              <a:lnSpc>
                <a:spcPct val="150000"/>
              </a:lnSpc>
              <a:spcBef>
                <a:spcPct val="0"/>
              </a:spcBef>
            </a:pPr>
            <a:r>
              <a:rPr lang="zh-CN" altLang="en-US" dirty="0"/>
              <a:t>一级封锁协议可防止丢失修改，并保证事务</a:t>
            </a:r>
            <a:r>
              <a:rPr lang="en-US" altLang="zh-CN" dirty="0"/>
              <a:t>T</a:t>
            </a:r>
            <a:r>
              <a:rPr lang="zh-CN" altLang="en-US" dirty="0"/>
              <a:t>是可恢复的。</a:t>
            </a:r>
          </a:p>
          <a:p>
            <a:pPr eaLnBrk="1" hangingPunct="1">
              <a:lnSpc>
                <a:spcPct val="150000"/>
              </a:lnSpc>
              <a:spcBef>
                <a:spcPct val="0"/>
              </a:spcBef>
            </a:pPr>
            <a:r>
              <a:rPr lang="zh-CN" altLang="en-US" dirty="0"/>
              <a:t>在一级封锁协议中，如果仅仅是读数据不对其进行修改，是不需要加锁的，所以它不能保证可重复读和不读“脏”数据。</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使用封锁机制解决丢失修改问题</a:t>
            </a:r>
          </a:p>
        </p:txBody>
      </p:sp>
      <p:graphicFrame>
        <p:nvGraphicFramePr>
          <p:cNvPr id="35843" name="Group 3"/>
          <p:cNvGraphicFramePr>
            <a:graphicFrameLocks noGrp="1"/>
          </p:cNvGraphicFramePr>
          <p:nvPr>
            <p:ph idx="1"/>
          </p:nvPr>
        </p:nvGraphicFramePr>
        <p:xfrm>
          <a:off x="1416050" y="852488"/>
          <a:ext cx="4546600" cy="5556250"/>
        </p:xfrm>
        <a:graphic>
          <a:graphicData uri="http://schemas.openxmlformats.org/drawingml/2006/table">
            <a:tbl>
              <a:tblPr/>
              <a:tblGrid>
                <a:gridCol w="2278063">
                  <a:extLst>
                    <a:ext uri="{9D8B030D-6E8A-4147-A177-3AD203B41FA5}">
                      <a16:colId xmlns:a16="http://schemas.microsoft.com/office/drawing/2014/main" val="20000"/>
                    </a:ext>
                  </a:extLst>
                </a:gridCol>
                <a:gridCol w="2268537">
                  <a:extLst>
                    <a:ext uri="{9D8B030D-6E8A-4147-A177-3AD203B41FA5}">
                      <a16:colId xmlns:a16="http://schemas.microsoft.com/office/drawing/2014/main" val="20001"/>
                    </a:ext>
                  </a:extLst>
                </a:gridCol>
              </a:tblGrid>
              <a:tr h="39687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39687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①    Xlock A</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r h="39687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②    R(A)=16</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2"/>
                  </a:ext>
                </a:extLst>
              </a:tr>
              <a:tr h="39687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③</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 A</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3"/>
                  </a:ext>
                </a:extLst>
              </a:tr>
              <a:tr h="39687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④    A←A-1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4"/>
                  </a:ext>
                </a:extLst>
              </a:tr>
              <a:tr h="39687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W(A)=15</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5"/>
                  </a:ext>
                </a:extLst>
              </a:tr>
              <a:tr h="39687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Commit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6"/>
                  </a:ext>
                </a:extLst>
              </a:tr>
              <a:tr h="39687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Unlock A</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7"/>
                  </a:ext>
                </a:extLst>
              </a:tr>
              <a:tr h="39687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⑤</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获得</a:t>
                      </a: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 A</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8"/>
                  </a:ext>
                </a:extLst>
              </a:tr>
              <a:tr h="39687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R(A)=15</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9"/>
                  </a:ext>
                </a:extLst>
              </a:tr>
              <a:tr h="39687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0"/>
                  </a:ext>
                </a:extLst>
              </a:tr>
              <a:tr h="39687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2000" b="1" i="0" u="none" strike="noStrike" cap="none" normalizeH="0" baseline="0">
                          <a:ln>
                            <a:noFill/>
                          </a:ln>
                          <a:solidFill>
                            <a:schemeClr val="tx1"/>
                          </a:solidFill>
                          <a:effectLst/>
                          <a:latin typeface="仿宋" panose="02010609060101010101" pitchFamily="49" charset="-122"/>
                          <a:ea typeface="仿宋" panose="02010609060101010101" pitchFamily="49" charset="-122"/>
                          <a:cs typeface="Times New Roman" panose="02020603050405020304" pitchFamily="18" charset="0"/>
                        </a:rPr>
                        <a:t>⑥</a:t>
                      </a:r>
                      <a:endParaRPr kumimoji="0"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Times New Roman" panose="02020603050405020304" pitchFamily="18" charset="0"/>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W(A)=14</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1"/>
                  </a:ext>
                </a:extLst>
              </a:tr>
              <a:tr h="39687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Commit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2"/>
                  </a:ext>
                </a:extLst>
              </a:tr>
              <a:tr h="39687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A</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3"/>
                  </a:ext>
                </a:extLst>
              </a:tr>
            </a:tbl>
          </a:graphicData>
        </a:graphic>
      </p:graphicFrame>
      <p:sp>
        <p:nvSpPr>
          <p:cNvPr id="44081" name="Text Box 194"/>
          <p:cNvSpPr txBox="1"/>
          <p:nvPr/>
        </p:nvSpPr>
        <p:spPr>
          <a:xfrm>
            <a:off x="692150" y="925513"/>
            <a:ext cx="803275" cy="4619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None/>
            </a:pPr>
            <a:r>
              <a:rPr lang="zh-CN" altLang="zh-CN" sz="2400" dirty="0">
                <a:latin typeface="Times New Roman" panose="02020603050405020304" pitchFamily="18" charset="0"/>
              </a:rPr>
              <a:t>例：</a:t>
            </a:r>
          </a:p>
        </p:txBody>
      </p:sp>
      <p:sp>
        <p:nvSpPr>
          <p:cNvPr id="44082" name="Text Box 240"/>
          <p:cNvSpPr txBox="1"/>
          <p:nvPr/>
        </p:nvSpPr>
        <p:spPr>
          <a:xfrm>
            <a:off x="6456363" y="1484313"/>
            <a:ext cx="5327650" cy="381635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spcBef>
                <a:spcPct val="50000"/>
              </a:spcBef>
              <a:buFont typeface="Wingdings" panose="05000000000000000000" pitchFamily="2" charset="2"/>
              <a:buChar char="n"/>
            </a:pPr>
            <a:r>
              <a:rPr lang="zh-CN" altLang="en-US" sz="2200" dirty="0">
                <a:latin typeface="Times New Roman" panose="02020603050405020304" pitchFamily="18" charset="0"/>
              </a:rPr>
              <a:t>事务</a:t>
            </a: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1</a:t>
            </a:r>
            <a:r>
              <a:rPr lang="zh-CN" altLang="en-US" sz="2200" dirty="0">
                <a:latin typeface="Times New Roman" panose="02020603050405020304" pitchFamily="18" charset="0"/>
              </a:rPr>
              <a:t>在读</a:t>
            </a:r>
            <a:r>
              <a:rPr lang="en-US" altLang="zh-CN" sz="2200" dirty="0">
                <a:latin typeface="Times New Roman" panose="02020603050405020304" pitchFamily="18" charset="0"/>
              </a:rPr>
              <a:t>A</a:t>
            </a:r>
            <a:r>
              <a:rPr lang="zh-CN" altLang="en-US" sz="2200" dirty="0">
                <a:latin typeface="Times New Roman" panose="02020603050405020304" pitchFamily="18" charset="0"/>
              </a:rPr>
              <a:t>进行修改之前先对</a:t>
            </a:r>
            <a:r>
              <a:rPr lang="en-US" altLang="zh-CN" sz="2200" dirty="0">
                <a:latin typeface="Times New Roman" panose="02020603050405020304" pitchFamily="18" charset="0"/>
              </a:rPr>
              <a:t>A</a:t>
            </a:r>
            <a:r>
              <a:rPr lang="zh-CN" altLang="en-US" sz="2200" dirty="0">
                <a:latin typeface="Times New Roman" panose="02020603050405020304" pitchFamily="18" charset="0"/>
              </a:rPr>
              <a:t>加</a:t>
            </a:r>
            <a:r>
              <a:rPr lang="en-US" altLang="zh-CN" sz="2200" dirty="0">
                <a:latin typeface="Times New Roman" panose="02020603050405020304" pitchFamily="18" charset="0"/>
              </a:rPr>
              <a:t>X</a:t>
            </a:r>
            <a:r>
              <a:rPr lang="zh-CN" altLang="en-US" sz="2200" dirty="0">
                <a:latin typeface="Times New Roman" panose="02020603050405020304" pitchFamily="18" charset="0"/>
              </a:rPr>
              <a:t>锁</a:t>
            </a:r>
          </a:p>
          <a:p>
            <a:pPr marL="342900" lvl="0" indent="-342900" eaLnBrk="1" hangingPunct="1">
              <a:spcBef>
                <a:spcPct val="50000"/>
              </a:spcBef>
              <a:buFont typeface="Wingdings" panose="05000000000000000000" pitchFamily="2" charset="2"/>
              <a:buChar char="n"/>
            </a:pPr>
            <a:r>
              <a:rPr lang="zh-CN" altLang="en-US" sz="2200" dirty="0">
                <a:latin typeface="Times New Roman" panose="02020603050405020304" pitchFamily="18" charset="0"/>
              </a:rPr>
              <a:t>当</a:t>
            </a: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2</a:t>
            </a:r>
            <a:r>
              <a:rPr lang="zh-CN" altLang="en-US" sz="2200" dirty="0">
                <a:latin typeface="Times New Roman" panose="02020603050405020304" pitchFamily="18" charset="0"/>
              </a:rPr>
              <a:t>再请求对</a:t>
            </a:r>
            <a:r>
              <a:rPr lang="en-US" altLang="zh-CN" sz="2200" dirty="0">
                <a:latin typeface="Times New Roman" panose="02020603050405020304" pitchFamily="18" charset="0"/>
              </a:rPr>
              <a:t>A</a:t>
            </a:r>
            <a:r>
              <a:rPr lang="zh-CN" altLang="en-US" sz="2200" dirty="0">
                <a:latin typeface="Times New Roman" panose="02020603050405020304" pitchFamily="18" charset="0"/>
              </a:rPr>
              <a:t>加</a:t>
            </a:r>
            <a:r>
              <a:rPr lang="en-US" altLang="zh-CN" sz="2200" dirty="0">
                <a:latin typeface="Times New Roman" panose="02020603050405020304" pitchFamily="18" charset="0"/>
              </a:rPr>
              <a:t>X</a:t>
            </a:r>
            <a:r>
              <a:rPr lang="zh-CN" altLang="en-US" sz="2200" dirty="0">
                <a:latin typeface="Times New Roman" panose="02020603050405020304" pitchFamily="18" charset="0"/>
              </a:rPr>
              <a:t>锁时被拒绝</a:t>
            </a:r>
          </a:p>
          <a:p>
            <a:pPr marL="342900" lvl="0" indent="-342900" eaLnBrk="1" hangingPunct="1">
              <a:spcBef>
                <a:spcPct val="50000"/>
              </a:spcBef>
              <a:buFont typeface="Wingdings" panose="05000000000000000000" pitchFamily="2" charset="2"/>
              <a:buChar char="n"/>
            </a:pP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2</a:t>
            </a:r>
            <a:r>
              <a:rPr lang="zh-CN" altLang="en-US" sz="2200" dirty="0">
                <a:latin typeface="Times New Roman" panose="02020603050405020304" pitchFamily="18" charset="0"/>
              </a:rPr>
              <a:t>只能等待</a:t>
            </a: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1</a:t>
            </a:r>
            <a:r>
              <a:rPr lang="zh-CN" altLang="en-US" sz="2200" dirty="0">
                <a:latin typeface="Times New Roman" panose="02020603050405020304" pitchFamily="18" charset="0"/>
              </a:rPr>
              <a:t>释放</a:t>
            </a:r>
            <a:r>
              <a:rPr lang="en-US" altLang="zh-CN" sz="2200" dirty="0">
                <a:latin typeface="Times New Roman" panose="02020603050405020304" pitchFamily="18" charset="0"/>
              </a:rPr>
              <a:t>A</a:t>
            </a:r>
            <a:r>
              <a:rPr lang="zh-CN" altLang="en-US" sz="2200" dirty="0">
                <a:latin typeface="Times New Roman" panose="02020603050405020304" pitchFamily="18" charset="0"/>
              </a:rPr>
              <a:t>上的锁后获得对</a:t>
            </a:r>
            <a:r>
              <a:rPr lang="en-US" altLang="zh-CN" sz="2200" dirty="0">
                <a:latin typeface="Times New Roman" panose="02020603050405020304" pitchFamily="18" charset="0"/>
              </a:rPr>
              <a:t>A</a:t>
            </a:r>
            <a:r>
              <a:rPr lang="zh-CN" altLang="en-US" sz="2200" dirty="0">
                <a:latin typeface="Times New Roman" panose="02020603050405020304" pitchFamily="18" charset="0"/>
              </a:rPr>
              <a:t>的</a:t>
            </a:r>
            <a:r>
              <a:rPr lang="en-US" altLang="zh-CN" sz="2200" dirty="0">
                <a:latin typeface="Times New Roman" panose="02020603050405020304" pitchFamily="18" charset="0"/>
              </a:rPr>
              <a:t>X</a:t>
            </a:r>
            <a:r>
              <a:rPr lang="zh-CN" altLang="en-US" sz="2200" dirty="0">
                <a:latin typeface="Times New Roman" panose="02020603050405020304" pitchFamily="18" charset="0"/>
              </a:rPr>
              <a:t>锁</a:t>
            </a:r>
          </a:p>
          <a:p>
            <a:pPr marL="342900" lvl="0" indent="-342900" eaLnBrk="1" hangingPunct="1">
              <a:spcBef>
                <a:spcPct val="50000"/>
              </a:spcBef>
              <a:buFont typeface="Wingdings" panose="05000000000000000000" pitchFamily="2" charset="2"/>
              <a:buChar char="n"/>
            </a:pPr>
            <a:r>
              <a:rPr lang="zh-CN" altLang="en-US" sz="2200" dirty="0">
                <a:latin typeface="Times New Roman" panose="02020603050405020304" pitchFamily="18" charset="0"/>
              </a:rPr>
              <a:t>这时</a:t>
            </a: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2</a:t>
            </a:r>
            <a:r>
              <a:rPr lang="zh-CN" altLang="en-US" sz="2200" dirty="0">
                <a:latin typeface="Times New Roman" panose="02020603050405020304" pitchFamily="18" charset="0"/>
              </a:rPr>
              <a:t>读到的</a:t>
            </a:r>
            <a:r>
              <a:rPr lang="en-US" altLang="zh-CN" sz="2200" dirty="0">
                <a:latin typeface="Times New Roman" panose="02020603050405020304" pitchFamily="18" charset="0"/>
              </a:rPr>
              <a:t>A</a:t>
            </a:r>
            <a:r>
              <a:rPr lang="zh-CN" altLang="en-US" sz="2200" dirty="0">
                <a:latin typeface="Times New Roman" panose="02020603050405020304" pitchFamily="18" charset="0"/>
              </a:rPr>
              <a:t>已经是</a:t>
            </a: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1</a:t>
            </a:r>
            <a:r>
              <a:rPr lang="zh-CN" altLang="en-US" sz="2200" dirty="0">
                <a:latin typeface="Times New Roman" panose="02020603050405020304" pitchFamily="18" charset="0"/>
              </a:rPr>
              <a:t>更新过的值</a:t>
            </a:r>
            <a:r>
              <a:rPr lang="en-US" altLang="zh-CN" sz="2200" dirty="0">
                <a:latin typeface="Times New Roman" panose="02020603050405020304" pitchFamily="18" charset="0"/>
              </a:rPr>
              <a:t>15</a:t>
            </a:r>
          </a:p>
          <a:p>
            <a:pPr marL="342900" lvl="0" indent="-342900" eaLnBrk="1" hangingPunct="1">
              <a:spcBef>
                <a:spcPct val="50000"/>
              </a:spcBef>
              <a:buFont typeface="Wingdings" panose="05000000000000000000" pitchFamily="2" charset="2"/>
              <a:buChar char="n"/>
            </a:pP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2</a:t>
            </a:r>
            <a:r>
              <a:rPr lang="zh-CN" altLang="en-US" sz="2200" dirty="0">
                <a:latin typeface="Times New Roman" panose="02020603050405020304" pitchFamily="18" charset="0"/>
              </a:rPr>
              <a:t>按此新的</a:t>
            </a:r>
            <a:r>
              <a:rPr lang="en-US" altLang="zh-CN" sz="2200" dirty="0">
                <a:latin typeface="Times New Roman" panose="02020603050405020304" pitchFamily="18" charset="0"/>
              </a:rPr>
              <a:t>A</a:t>
            </a:r>
            <a:r>
              <a:rPr lang="zh-CN" altLang="en-US" sz="2200" dirty="0">
                <a:latin typeface="Times New Roman" panose="02020603050405020304" pitchFamily="18" charset="0"/>
              </a:rPr>
              <a:t>值进行运算，并将结果值</a:t>
            </a:r>
            <a:r>
              <a:rPr lang="en-US" altLang="zh-CN" sz="2200" dirty="0">
                <a:latin typeface="Times New Roman" panose="02020603050405020304" pitchFamily="18" charset="0"/>
              </a:rPr>
              <a:t>A=14</a:t>
            </a:r>
            <a:r>
              <a:rPr lang="zh-CN" altLang="en-US" sz="2200" dirty="0">
                <a:latin typeface="Times New Roman" panose="02020603050405020304" pitchFamily="18" charset="0"/>
              </a:rPr>
              <a:t>写回到磁盘。避免了丢失</a:t>
            </a: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1</a:t>
            </a:r>
            <a:r>
              <a:rPr lang="zh-CN" altLang="en-US" sz="2200" dirty="0">
                <a:latin typeface="Times New Roman" panose="02020603050405020304" pitchFamily="18" charset="0"/>
              </a:rPr>
              <a:t>的更新。</a:t>
            </a:r>
          </a:p>
        </p:txBody>
      </p:sp>
      <p:sp>
        <p:nvSpPr>
          <p:cNvPr id="44083" name="Text Box 241"/>
          <p:cNvSpPr txBox="1"/>
          <p:nvPr/>
        </p:nvSpPr>
        <p:spPr>
          <a:xfrm>
            <a:off x="5475288" y="936625"/>
            <a:ext cx="3663950" cy="430213"/>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None/>
            </a:pPr>
            <a:r>
              <a:rPr lang="zh-CN" altLang="zh-CN" sz="2200" dirty="0">
                <a:solidFill>
                  <a:schemeClr val="tx2"/>
                </a:solidFill>
                <a:latin typeface="Times New Roman" panose="02020603050405020304" pitchFamily="18" charset="0"/>
              </a:rPr>
              <a:t>没有丢失修改</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en-US" altLang="zh-CN" sz="3600" dirty="0"/>
              <a:t>2. </a:t>
            </a:r>
            <a:r>
              <a:rPr lang="zh-CN" altLang="en-US" sz="3600" dirty="0"/>
              <a:t>二级封锁协议</a:t>
            </a:r>
          </a:p>
        </p:txBody>
      </p:sp>
      <p:sp>
        <p:nvSpPr>
          <p:cNvPr id="45059" name="Rectangle 3"/>
          <p:cNvSpPr>
            <a:spLocks noGrp="1"/>
          </p:cNvSpPr>
          <p:nvPr>
            <p:ph type="body"/>
          </p:nvPr>
        </p:nvSpPr>
        <p:spPr>
          <a:xfrm>
            <a:off x="911225" y="1341438"/>
            <a:ext cx="10585450" cy="4675187"/>
          </a:xfrm>
        </p:spPr>
        <p:txBody>
          <a:bodyPr vert="horz" wrap="square" lIns="91440" tIns="45720" rIns="91440" bIns="45720" anchor="t" anchorCtr="0"/>
          <a:lstStyle/>
          <a:p>
            <a:pPr eaLnBrk="1" hangingPunct="1"/>
            <a:r>
              <a:rPr lang="zh-CN" altLang="en-US" dirty="0"/>
              <a:t>二级封锁协议</a:t>
            </a:r>
          </a:p>
          <a:p>
            <a:pPr lvl="1"/>
            <a:r>
              <a:rPr lang="zh-CN" altLang="en-US" dirty="0"/>
              <a:t>一级封锁协议基础上，增加事务</a:t>
            </a:r>
            <a:r>
              <a:rPr lang="en-US" altLang="zh-CN" dirty="0"/>
              <a:t>T</a:t>
            </a:r>
            <a:r>
              <a:rPr lang="zh-CN" altLang="en-US" dirty="0"/>
              <a:t>在读取数据</a:t>
            </a:r>
            <a:r>
              <a:rPr lang="en-US" altLang="zh-CN" dirty="0"/>
              <a:t>R</a:t>
            </a:r>
            <a:r>
              <a:rPr lang="zh-CN" altLang="en-US" dirty="0"/>
              <a:t>之前必须先对其加</a:t>
            </a:r>
            <a:r>
              <a:rPr lang="en-US" altLang="zh-CN" dirty="0"/>
              <a:t>S</a:t>
            </a:r>
            <a:r>
              <a:rPr lang="zh-CN" altLang="en-US" dirty="0"/>
              <a:t>锁，读完后即可释放</a:t>
            </a:r>
            <a:r>
              <a:rPr lang="en-US" altLang="zh-CN" dirty="0"/>
              <a:t>S</a:t>
            </a:r>
            <a:r>
              <a:rPr lang="zh-CN" altLang="en-US" dirty="0"/>
              <a:t>锁。</a:t>
            </a:r>
          </a:p>
          <a:p>
            <a:pPr eaLnBrk="1" hangingPunct="1"/>
            <a:endParaRPr lang="zh-CN" altLang="en-US" dirty="0"/>
          </a:p>
          <a:p>
            <a:pPr eaLnBrk="1" hangingPunct="1"/>
            <a:r>
              <a:rPr lang="zh-CN" altLang="en-US" dirty="0"/>
              <a:t>二级封锁协议可以防止丢失修改和读“脏”数据。</a:t>
            </a:r>
          </a:p>
          <a:p>
            <a:pPr eaLnBrk="1" hangingPunct="1"/>
            <a:endParaRPr lang="zh-CN" altLang="en-US" dirty="0"/>
          </a:p>
          <a:p>
            <a:pPr eaLnBrk="1" hangingPunct="1"/>
            <a:r>
              <a:rPr lang="zh-CN" altLang="en-US" dirty="0"/>
              <a:t>在二级封锁协议中，由于读完数据后即可释放</a:t>
            </a:r>
            <a:r>
              <a:rPr lang="en-US" altLang="zh-CN" dirty="0"/>
              <a:t>S</a:t>
            </a:r>
            <a:r>
              <a:rPr lang="zh-CN" altLang="en-US" dirty="0"/>
              <a:t>锁，所以它不能保证可重复读。</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p:cNvSpPr>
          <p:nvPr>
            <p:ph type="title"/>
          </p:nvPr>
        </p:nvSpPr>
        <p:spPr>
          <a:xfrm>
            <a:off x="1992313" y="188913"/>
            <a:ext cx="7991475" cy="563562"/>
          </a:xfrm>
        </p:spPr>
        <p:txBody>
          <a:bodyPr vert="horz" wrap="square" lIns="91440" tIns="45720" rIns="91440" bIns="45720" anchor="ctr" anchorCtr="0"/>
          <a:lstStyle/>
          <a:p>
            <a:pPr eaLnBrk="1" hangingPunct="1"/>
            <a:r>
              <a:rPr lang="zh-CN" altLang="zh-CN" sz="3600" dirty="0"/>
              <a:t>使用封锁机制解决读“脏”数据问题</a:t>
            </a:r>
          </a:p>
        </p:txBody>
      </p:sp>
      <p:graphicFrame>
        <p:nvGraphicFramePr>
          <p:cNvPr id="38915" name="Group 3"/>
          <p:cNvGraphicFramePr>
            <a:graphicFrameLocks noGrp="1"/>
          </p:cNvGraphicFramePr>
          <p:nvPr>
            <p:ph idx="1"/>
          </p:nvPr>
        </p:nvGraphicFramePr>
        <p:xfrm>
          <a:off x="1487488" y="879475"/>
          <a:ext cx="3786188" cy="5556250"/>
        </p:xfrm>
        <a:graphic>
          <a:graphicData uri="http://schemas.openxmlformats.org/drawingml/2006/table">
            <a:tbl>
              <a:tblPr/>
              <a:tblGrid>
                <a:gridCol w="2069827">
                  <a:extLst>
                    <a:ext uri="{9D8B030D-6E8A-4147-A177-3AD203B41FA5}">
                      <a16:colId xmlns:a16="http://schemas.microsoft.com/office/drawing/2014/main" val="20000"/>
                    </a:ext>
                  </a:extLst>
                </a:gridCol>
                <a:gridCol w="1716360">
                  <a:extLst>
                    <a:ext uri="{9D8B030D-6E8A-4147-A177-3AD203B41FA5}">
                      <a16:colId xmlns:a16="http://schemas.microsoft.com/office/drawing/2014/main" val="20001"/>
                    </a:ext>
                  </a:extLst>
                </a:gridCol>
              </a:tblGrid>
              <a:tr h="404842">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en-US" sz="20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en-US"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39626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① </a:t>
                      </a:r>
                      <a:r>
                        <a:rPr kumimoji="0" lang="en-US" sz="20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a:t>
                      </a:r>
                      <a:r>
                        <a:rPr kumimoji="0" 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C</a:t>
                      </a:r>
                      <a:endParaRPr kumimoji="0" 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r h="39626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R(C)=100</a:t>
                      </a:r>
                      <a:endParaRPr kumimoji="0" 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2"/>
                  </a:ext>
                </a:extLst>
              </a:tr>
              <a:tr h="39626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C←C*2</a:t>
                      </a:r>
                      <a:endParaRPr kumimoji="0" 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3"/>
                  </a:ext>
                </a:extLst>
              </a:tr>
              <a:tr h="39626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W(C)=200</a:t>
                      </a:r>
                      <a:endParaRPr kumimoji="0" 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4"/>
                  </a:ext>
                </a:extLst>
              </a:tr>
              <a:tr h="39626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②</a:t>
                      </a:r>
                      <a:endParaRPr kumimoji="0" 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 C</a:t>
                      </a:r>
                      <a:endParaRPr kumimoji="0" 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5"/>
                  </a:ext>
                </a:extLst>
              </a:tr>
              <a:tr h="39626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0" 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6"/>
                  </a:ext>
                </a:extLst>
              </a:tr>
              <a:tr h="39626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③</a:t>
                      </a: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ROLLBACK</a:t>
                      </a:r>
                      <a:endParaRPr kumimoji="0" 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0" 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7"/>
                  </a:ext>
                </a:extLst>
              </a:tr>
              <a:tr h="39626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(C</a:t>
                      </a: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恢复为</a:t>
                      </a: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100)</a:t>
                      </a:r>
                      <a:endParaRPr kumimoji="0" 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0" 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8"/>
                  </a:ext>
                </a:extLst>
              </a:tr>
              <a:tr h="39626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Unlock C</a:t>
                      </a:r>
                      <a:endParaRPr kumimoji="0" 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0" 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9"/>
                  </a:ext>
                </a:extLst>
              </a:tr>
              <a:tr h="39626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④</a:t>
                      </a:r>
                      <a:endParaRPr kumimoji="0" 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获得</a:t>
                      </a: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 C</a:t>
                      </a:r>
                      <a:endParaRPr kumimoji="0" 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0"/>
                  </a:ext>
                </a:extLst>
              </a:tr>
              <a:tr h="39626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R(C)=100</a:t>
                      </a:r>
                      <a:endParaRPr kumimoji="0" 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1"/>
                  </a:ext>
                </a:extLst>
              </a:tr>
              <a:tr h="39626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⑤</a:t>
                      </a:r>
                      <a:endParaRPr kumimoji="0" 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Commit C</a:t>
                      </a:r>
                      <a:endParaRPr kumimoji="0" 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2"/>
                  </a:ext>
                </a:extLst>
              </a:tr>
              <a:tr h="39626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C</a:t>
                      </a:r>
                      <a:endParaRPr kumimoji="0" 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3"/>
                  </a:ext>
                </a:extLst>
              </a:tr>
            </a:tbl>
          </a:graphicData>
        </a:graphic>
      </p:graphicFrame>
      <p:sp>
        <p:nvSpPr>
          <p:cNvPr id="46129" name="Text Box 222"/>
          <p:cNvSpPr txBox="1"/>
          <p:nvPr/>
        </p:nvSpPr>
        <p:spPr>
          <a:xfrm>
            <a:off x="996950" y="1009650"/>
            <a:ext cx="49053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None/>
            </a:pPr>
            <a:r>
              <a:rPr lang="zh-CN" altLang="zh-CN" sz="2400" dirty="0">
                <a:latin typeface="Times New Roman" panose="02020603050405020304" pitchFamily="18" charset="0"/>
              </a:rPr>
              <a:t>例</a:t>
            </a:r>
          </a:p>
        </p:txBody>
      </p:sp>
      <p:sp>
        <p:nvSpPr>
          <p:cNvPr id="46130" name="Text Box 225"/>
          <p:cNvSpPr txBox="1"/>
          <p:nvPr/>
        </p:nvSpPr>
        <p:spPr>
          <a:xfrm>
            <a:off x="5591175" y="1773238"/>
            <a:ext cx="5689600" cy="2897187"/>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lnSpc>
                <a:spcPct val="120000"/>
              </a:lnSpc>
              <a:spcBef>
                <a:spcPct val="0"/>
              </a:spcBef>
              <a:buFont typeface="Wingdings" panose="05000000000000000000" pitchFamily="2" charset="2"/>
              <a:buChar char="n"/>
            </a:pPr>
            <a:r>
              <a:rPr lang="zh-CN" altLang="en-US" sz="2200" dirty="0">
                <a:latin typeface="Times New Roman" panose="02020603050405020304" pitchFamily="18" charset="0"/>
              </a:rPr>
              <a:t>事务</a:t>
            </a: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1</a:t>
            </a:r>
            <a:r>
              <a:rPr lang="zh-CN" altLang="en-US" sz="2200" dirty="0">
                <a:latin typeface="Times New Roman" panose="02020603050405020304" pitchFamily="18" charset="0"/>
              </a:rPr>
              <a:t>在对</a:t>
            </a:r>
            <a:r>
              <a:rPr lang="en-US" altLang="zh-CN" sz="2200" dirty="0">
                <a:latin typeface="Times New Roman" panose="02020603050405020304" pitchFamily="18" charset="0"/>
              </a:rPr>
              <a:t>C</a:t>
            </a:r>
            <a:r>
              <a:rPr lang="zh-CN" altLang="en-US" sz="2200" dirty="0">
                <a:latin typeface="Times New Roman" panose="02020603050405020304" pitchFamily="18" charset="0"/>
              </a:rPr>
              <a:t>进行修改之前，先对</a:t>
            </a:r>
            <a:r>
              <a:rPr lang="en-US" altLang="zh-CN" sz="2200" dirty="0">
                <a:latin typeface="Times New Roman" panose="02020603050405020304" pitchFamily="18" charset="0"/>
              </a:rPr>
              <a:t>C</a:t>
            </a:r>
            <a:r>
              <a:rPr lang="zh-CN" altLang="en-US" sz="2200" dirty="0">
                <a:latin typeface="Times New Roman" panose="02020603050405020304" pitchFamily="18" charset="0"/>
              </a:rPr>
              <a:t>加</a:t>
            </a:r>
            <a:r>
              <a:rPr lang="en-US" altLang="zh-CN" sz="2200" dirty="0">
                <a:latin typeface="Times New Roman" panose="02020603050405020304" pitchFamily="18" charset="0"/>
              </a:rPr>
              <a:t>X</a:t>
            </a:r>
            <a:r>
              <a:rPr lang="zh-CN" altLang="en-US" sz="2200" dirty="0">
                <a:latin typeface="Times New Roman" panose="02020603050405020304" pitchFamily="18" charset="0"/>
              </a:rPr>
              <a:t>锁，修改其值后写回磁盘</a:t>
            </a:r>
          </a:p>
          <a:p>
            <a:pPr marL="342900" lvl="0" indent="-342900" eaLnBrk="1" hangingPunct="1">
              <a:lnSpc>
                <a:spcPct val="120000"/>
              </a:lnSpc>
              <a:spcBef>
                <a:spcPct val="0"/>
              </a:spcBef>
              <a:buFont typeface="Wingdings" panose="05000000000000000000" pitchFamily="2" charset="2"/>
              <a:buChar char="n"/>
            </a:pP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2</a:t>
            </a:r>
            <a:r>
              <a:rPr lang="zh-CN" altLang="en-US" sz="2200" dirty="0">
                <a:latin typeface="Times New Roman" panose="02020603050405020304" pitchFamily="18" charset="0"/>
              </a:rPr>
              <a:t>请求在</a:t>
            </a:r>
            <a:r>
              <a:rPr lang="en-US" altLang="zh-CN" sz="2200" dirty="0">
                <a:latin typeface="Times New Roman" panose="02020603050405020304" pitchFamily="18" charset="0"/>
              </a:rPr>
              <a:t>C</a:t>
            </a:r>
            <a:r>
              <a:rPr lang="zh-CN" altLang="en-US" sz="2200" dirty="0">
                <a:latin typeface="Times New Roman" panose="02020603050405020304" pitchFamily="18" charset="0"/>
              </a:rPr>
              <a:t>上加</a:t>
            </a:r>
            <a:r>
              <a:rPr lang="en-US" altLang="zh-CN" sz="2200" dirty="0">
                <a:latin typeface="Times New Roman" panose="02020603050405020304" pitchFamily="18" charset="0"/>
              </a:rPr>
              <a:t>S</a:t>
            </a:r>
            <a:r>
              <a:rPr lang="zh-CN" altLang="en-US" sz="2200" dirty="0">
                <a:latin typeface="Times New Roman" panose="02020603050405020304" pitchFamily="18" charset="0"/>
              </a:rPr>
              <a:t>锁，因</a:t>
            </a: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1</a:t>
            </a:r>
            <a:r>
              <a:rPr lang="zh-CN" altLang="en-US" sz="2200" dirty="0">
                <a:latin typeface="Times New Roman" panose="02020603050405020304" pitchFamily="18" charset="0"/>
              </a:rPr>
              <a:t>已在</a:t>
            </a:r>
            <a:r>
              <a:rPr lang="en-US" altLang="zh-CN" sz="2200" dirty="0">
                <a:latin typeface="Times New Roman" panose="02020603050405020304" pitchFamily="18" charset="0"/>
              </a:rPr>
              <a:t>C</a:t>
            </a:r>
            <a:r>
              <a:rPr lang="zh-CN" altLang="en-US" sz="2200" dirty="0">
                <a:latin typeface="Times New Roman" panose="02020603050405020304" pitchFamily="18" charset="0"/>
              </a:rPr>
              <a:t>上加了</a:t>
            </a:r>
            <a:r>
              <a:rPr lang="en-US" altLang="zh-CN" sz="2200" dirty="0">
                <a:latin typeface="Times New Roman" panose="02020603050405020304" pitchFamily="18" charset="0"/>
              </a:rPr>
              <a:t>X</a:t>
            </a:r>
            <a:r>
              <a:rPr lang="zh-CN" altLang="en-US" sz="2200" dirty="0">
                <a:latin typeface="Times New Roman" panose="02020603050405020304" pitchFamily="18" charset="0"/>
              </a:rPr>
              <a:t>锁，</a:t>
            </a: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2</a:t>
            </a:r>
            <a:r>
              <a:rPr lang="zh-CN" altLang="en-US" sz="2200" dirty="0">
                <a:latin typeface="Times New Roman" panose="02020603050405020304" pitchFamily="18" charset="0"/>
              </a:rPr>
              <a:t>只能等待</a:t>
            </a:r>
          </a:p>
          <a:p>
            <a:pPr marL="342900" lvl="0" indent="-342900" eaLnBrk="1" hangingPunct="1">
              <a:lnSpc>
                <a:spcPct val="120000"/>
              </a:lnSpc>
              <a:spcBef>
                <a:spcPct val="0"/>
              </a:spcBef>
              <a:buFont typeface="Wingdings" panose="05000000000000000000" pitchFamily="2" charset="2"/>
              <a:buChar char="n"/>
            </a:pP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1</a:t>
            </a:r>
            <a:r>
              <a:rPr lang="zh-CN" altLang="en-US" sz="2200" dirty="0">
                <a:latin typeface="Times New Roman" panose="02020603050405020304" pitchFamily="18" charset="0"/>
              </a:rPr>
              <a:t>因某种原因被撤销，</a:t>
            </a:r>
            <a:r>
              <a:rPr lang="en-US" altLang="zh-CN" sz="2200" dirty="0">
                <a:latin typeface="Times New Roman" panose="02020603050405020304" pitchFamily="18" charset="0"/>
              </a:rPr>
              <a:t>C</a:t>
            </a:r>
            <a:r>
              <a:rPr lang="zh-CN" altLang="en-US" sz="2200" dirty="0">
                <a:latin typeface="Times New Roman" panose="02020603050405020304" pitchFamily="18" charset="0"/>
              </a:rPr>
              <a:t>恢复为原值</a:t>
            </a:r>
            <a:r>
              <a:rPr lang="en-US" altLang="zh-CN" sz="2200" dirty="0">
                <a:latin typeface="Times New Roman" panose="02020603050405020304" pitchFamily="18" charset="0"/>
              </a:rPr>
              <a:t>100</a:t>
            </a:r>
          </a:p>
          <a:p>
            <a:pPr marL="342900" lvl="0" indent="-342900" eaLnBrk="1" hangingPunct="1">
              <a:lnSpc>
                <a:spcPct val="120000"/>
              </a:lnSpc>
              <a:spcBef>
                <a:spcPct val="0"/>
              </a:spcBef>
              <a:buFont typeface="Wingdings" panose="05000000000000000000" pitchFamily="2" charset="2"/>
              <a:buChar char="n"/>
            </a:pP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1</a:t>
            </a:r>
            <a:r>
              <a:rPr lang="zh-CN" altLang="en-US" sz="2200" dirty="0">
                <a:latin typeface="Times New Roman" panose="02020603050405020304" pitchFamily="18" charset="0"/>
              </a:rPr>
              <a:t>释放</a:t>
            </a:r>
            <a:r>
              <a:rPr lang="en-US" altLang="zh-CN" sz="2200" dirty="0">
                <a:latin typeface="Times New Roman" panose="02020603050405020304" pitchFamily="18" charset="0"/>
              </a:rPr>
              <a:t>C</a:t>
            </a:r>
            <a:r>
              <a:rPr lang="zh-CN" altLang="en-US" sz="2200" dirty="0">
                <a:latin typeface="Times New Roman" panose="02020603050405020304" pitchFamily="18" charset="0"/>
              </a:rPr>
              <a:t>上的</a:t>
            </a:r>
            <a:r>
              <a:rPr lang="en-US" altLang="zh-CN" sz="2200" dirty="0">
                <a:latin typeface="Times New Roman" panose="02020603050405020304" pitchFamily="18" charset="0"/>
              </a:rPr>
              <a:t>X</a:t>
            </a:r>
            <a:r>
              <a:rPr lang="zh-CN" altLang="en-US" sz="2200" dirty="0">
                <a:latin typeface="Times New Roman" panose="02020603050405020304" pitchFamily="18" charset="0"/>
              </a:rPr>
              <a:t>锁后</a:t>
            </a: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2</a:t>
            </a:r>
            <a:r>
              <a:rPr lang="zh-CN" altLang="en-US" sz="2200" dirty="0">
                <a:latin typeface="Times New Roman" panose="02020603050405020304" pitchFamily="18" charset="0"/>
              </a:rPr>
              <a:t>获得</a:t>
            </a:r>
            <a:r>
              <a:rPr lang="en-US" altLang="zh-CN" sz="2200" dirty="0">
                <a:latin typeface="Times New Roman" panose="02020603050405020304" pitchFamily="18" charset="0"/>
              </a:rPr>
              <a:t>C</a:t>
            </a:r>
            <a:r>
              <a:rPr lang="zh-CN" altLang="en-US" sz="2200" dirty="0">
                <a:latin typeface="Times New Roman" panose="02020603050405020304" pitchFamily="18" charset="0"/>
              </a:rPr>
              <a:t>上的</a:t>
            </a:r>
            <a:r>
              <a:rPr lang="en-US" altLang="zh-CN" sz="2200" dirty="0">
                <a:latin typeface="Times New Roman" panose="02020603050405020304" pitchFamily="18" charset="0"/>
              </a:rPr>
              <a:t>S</a:t>
            </a:r>
            <a:r>
              <a:rPr lang="zh-CN" altLang="en-US" sz="2200" dirty="0">
                <a:latin typeface="Times New Roman" panose="02020603050405020304" pitchFamily="18" charset="0"/>
              </a:rPr>
              <a:t>锁，读</a:t>
            </a:r>
            <a:r>
              <a:rPr lang="en-US" altLang="zh-CN" sz="2200" dirty="0">
                <a:latin typeface="Times New Roman" panose="02020603050405020304" pitchFamily="18" charset="0"/>
              </a:rPr>
              <a:t>C=100</a:t>
            </a:r>
            <a:r>
              <a:rPr lang="zh-CN" altLang="en-US" sz="2200" dirty="0">
                <a:latin typeface="Times New Roman" panose="02020603050405020304" pitchFamily="18" charset="0"/>
              </a:rPr>
              <a:t>。避免了</a:t>
            </a: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2</a:t>
            </a:r>
            <a:r>
              <a:rPr lang="zh-CN" altLang="en-US" sz="2200" dirty="0">
                <a:latin typeface="Times New Roman" panose="02020603050405020304" pitchFamily="18" charset="0"/>
              </a:rPr>
              <a:t>读“脏”数据</a:t>
            </a:r>
          </a:p>
        </p:txBody>
      </p:sp>
      <p:sp>
        <p:nvSpPr>
          <p:cNvPr id="46131" name="Text Box 226"/>
          <p:cNvSpPr txBox="1"/>
          <p:nvPr/>
        </p:nvSpPr>
        <p:spPr>
          <a:xfrm>
            <a:off x="5354638" y="1276350"/>
            <a:ext cx="3001962" cy="430213"/>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None/>
            </a:pPr>
            <a:r>
              <a:rPr lang="zh-CN" altLang="zh-CN" sz="2200" dirty="0">
                <a:solidFill>
                  <a:schemeClr val="tx2"/>
                </a:solidFill>
                <a:latin typeface="Times New Roman" panose="02020603050405020304" pitchFamily="18" charset="0"/>
              </a:rPr>
              <a:t>不读“脏”数据</a:t>
            </a:r>
            <a:r>
              <a:rPr lang="zh-CN" altLang="zh-CN" sz="2200" dirty="0">
                <a:latin typeface="Times New Roman" panose="02020603050405020304" pitchFamily="18" charset="0"/>
              </a:rPr>
              <a:t>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en-US" altLang="zh-CN" sz="3600" dirty="0"/>
              <a:t>3. </a:t>
            </a:r>
            <a:r>
              <a:rPr lang="zh-CN" altLang="en-US" sz="3600" dirty="0"/>
              <a:t>三级封锁协议</a:t>
            </a:r>
          </a:p>
        </p:txBody>
      </p:sp>
      <p:sp>
        <p:nvSpPr>
          <p:cNvPr id="47107" name="Rectangle 3"/>
          <p:cNvSpPr>
            <a:spLocks noGrp="1"/>
          </p:cNvSpPr>
          <p:nvPr>
            <p:ph type="body"/>
          </p:nvPr>
        </p:nvSpPr>
        <p:spPr>
          <a:xfrm>
            <a:off x="982663" y="1125538"/>
            <a:ext cx="10369550" cy="5199062"/>
          </a:xfrm>
        </p:spPr>
        <p:txBody>
          <a:bodyPr vert="horz" wrap="square" lIns="91440" tIns="45720" rIns="91440" bIns="45720" anchor="t" anchorCtr="0"/>
          <a:lstStyle/>
          <a:p>
            <a:pPr eaLnBrk="1" hangingPunct="1">
              <a:lnSpc>
                <a:spcPct val="150000"/>
              </a:lnSpc>
            </a:pPr>
            <a:r>
              <a:rPr lang="zh-CN" altLang="en-US" dirty="0"/>
              <a:t>三级封锁协议</a:t>
            </a:r>
          </a:p>
          <a:p>
            <a:pPr lvl="1">
              <a:lnSpc>
                <a:spcPct val="150000"/>
              </a:lnSpc>
            </a:pPr>
            <a:r>
              <a:rPr lang="zh-CN" altLang="en-US" dirty="0"/>
              <a:t>一级封锁协议基础上，增加事务</a:t>
            </a:r>
            <a:r>
              <a:rPr lang="en-US" altLang="zh-CN" dirty="0"/>
              <a:t>T</a:t>
            </a:r>
            <a:r>
              <a:rPr lang="zh-CN" altLang="en-US" dirty="0"/>
              <a:t>在读取数据</a:t>
            </a:r>
            <a:r>
              <a:rPr lang="en-US" altLang="zh-CN" dirty="0"/>
              <a:t>R</a:t>
            </a:r>
            <a:r>
              <a:rPr lang="zh-CN" altLang="en-US" dirty="0"/>
              <a:t>之前必须先对其加</a:t>
            </a:r>
            <a:r>
              <a:rPr lang="en-US" altLang="zh-CN" dirty="0"/>
              <a:t>S</a:t>
            </a:r>
            <a:r>
              <a:rPr lang="zh-CN" altLang="en-US" dirty="0"/>
              <a:t>锁，直到事务结束才释放。</a:t>
            </a:r>
          </a:p>
          <a:p>
            <a:pPr lvl="1">
              <a:lnSpc>
                <a:spcPct val="150000"/>
              </a:lnSpc>
            </a:pPr>
            <a:endParaRPr lang="zh-CN" altLang="en-US" dirty="0"/>
          </a:p>
          <a:p>
            <a:pPr eaLnBrk="1" hangingPunct="1">
              <a:lnSpc>
                <a:spcPct val="150000"/>
              </a:lnSpc>
            </a:pPr>
            <a:r>
              <a:rPr lang="zh-CN" altLang="en-US" dirty="0"/>
              <a:t>三级封锁协议可防止丢失修改、读脏数据和不可重复读。</a:t>
            </a:r>
          </a:p>
          <a:p>
            <a:pPr eaLnBrk="1" hangingPunct="1"/>
            <a:endParaRPr lang="en-US" altLang="zh-CN"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p:cNvSpPr>
          <p:nvPr>
            <p:ph type="title"/>
          </p:nvPr>
        </p:nvSpPr>
        <p:spPr>
          <a:xfrm>
            <a:off x="2424113" y="188913"/>
            <a:ext cx="7391400" cy="563562"/>
          </a:xfrm>
        </p:spPr>
        <p:txBody>
          <a:bodyPr vert="horz" wrap="square" lIns="91440" tIns="45720" rIns="91440" bIns="45720" anchor="ctr" anchorCtr="0"/>
          <a:lstStyle/>
          <a:p>
            <a:pPr eaLnBrk="1" hangingPunct="1"/>
            <a:r>
              <a:rPr lang="zh-CN" altLang="zh-CN" sz="3600" dirty="0"/>
              <a:t>使用封锁机制解决不可重复读问题</a:t>
            </a:r>
          </a:p>
        </p:txBody>
      </p:sp>
      <p:graphicFrame>
        <p:nvGraphicFramePr>
          <p:cNvPr id="41987" name="Group 3"/>
          <p:cNvGraphicFramePr>
            <a:graphicFrameLocks noGrp="1"/>
          </p:cNvGraphicFramePr>
          <p:nvPr>
            <p:ph idx="1"/>
          </p:nvPr>
        </p:nvGraphicFramePr>
        <p:xfrm>
          <a:off x="1343025" y="842963"/>
          <a:ext cx="3025775" cy="5816917"/>
        </p:xfrm>
        <a:graphic>
          <a:graphicData uri="http://schemas.openxmlformats.org/drawingml/2006/table">
            <a:tbl>
              <a:tblPr/>
              <a:tblGrid>
                <a:gridCol w="1482725">
                  <a:extLst>
                    <a:ext uri="{9D8B030D-6E8A-4147-A177-3AD203B41FA5}">
                      <a16:colId xmlns:a16="http://schemas.microsoft.com/office/drawing/2014/main" val="20000"/>
                    </a:ext>
                  </a:extLst>
                </a:gridCol>
                <a:gridCol w="1543050">
                  <a:extLst>
                    <a:ext uri="{9D8B030D-6E8A-4147-A177-3AD203B41FA5}">
                      <a16:colId xmlns:a16="http://schemas.microsoft.com/office/drawing/2014/main" val="20001"/>
                    </a:ext>
                  </a:extLst>
                </a:gridCol>
              </a:tblGrid>
              <a:tr h="312737">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3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en-US" sz="13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3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en-US" sz="13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27463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3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①  </a:t>
                      </a:r>
                      <a:r>
                        <a:rPr kumimoji="0" lang="en-US" sz="13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a:t>
                      </a:r>
                      <a:r>
                        <a:rPr kumimoji="0" lang="en-US" sz="13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3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r h="27463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3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Slock B</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3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2"/>
                  </a:ext>
                </a:extLst>
              </a:tr>
              <a:tr h="27463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3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R(A)=50</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3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3"/>
                  </a:ext>
                </a:extLst>
              </a:tr>
              <a:tr h="27463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3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R(B)=100</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3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4"/>
                  </a:ext>
                </a:extLst>
              </a:tr>
              <a:tr h="27463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3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3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求和</a:t>
                      </a:r>
                      <a:r>
                        <a:rPr kumimoji="0" lang="en-US" sz="13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=150</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3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5"/>
                  </a:ext>
                </a:extLst>
              </a:tr>
              <a:tr h="274638">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3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②</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3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a:t>
                      </a:r>
                      <a:r>
                        <a:rPr kumimoji="0" lang="en-US" sz="13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B</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6"/>
                  </a:ext>
                </a:extLst>
              </a:tr>
              <a:tr h="27463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3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sz="13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7"/>
                  </a:ext>
                </a:extLst>
              </a:tr>
              <a:tr h="288925">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3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③  R(A)=50</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sz="13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8"/>
                  </a:ext>
                </a:extLst>
              </a:tr>
              <a:tr h="288925">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3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R(B)=100</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sz="13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9"/>
                  </a:ext>
                </a:extLst>
              </a:tr>
              <a:tr h="292100">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3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3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A+B</a:t>
                      </a:r>
                      <a:r>
                        <a:rPr kumimoji="0" lang="en-US" sz="13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=150</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sz="13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0"/>
                  </a:ext>
                </a:extLst>
              </a:tr>
              <a:tr h="27463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3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Commit</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sz="13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1"/>
                  </a:ext>
                </a:extLst>
              </a:tr>
              <a:tr h="27463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3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Unlock A</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sz="13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2"/>
                  </a:ext>
                </a:extLst>
              </a:tr>
              <a:tr h="27463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3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Unlock B</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sz="13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3"/>
                  </a:ext>
                </a:extLst>
              </a:tr>
              <a:tr h="27463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3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④</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en-US" sz="13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获得</a:t>
                      </a:r>
                      <a:r>
                        <a:rPr kumimoji="0" lang="en-US" sz="13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XlockB</a:t>
                      </a:r>
                      <a:endParaRPr kumimoji="0" lang="en-US" sz="13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4"/>
                  </a:ext>
                </a:extLst>
              </a:tr>
              <a:tr h="27463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3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3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R(B)=100</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5"/>
                  </a:ext>
                </a:extLst>
              </a:tr>
              <a:tr h="27463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3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3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B=B*2</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6"/>
                  </a:ext>
                </a:extLst>
              </a:tr>
              <a:tr h="27463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3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⑤</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3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W(B)=200</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7"/>
                  </a:ext>
                </a:extLst>
              </a:tr>
              <a:tr h="27463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3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3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Commit</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8"/>
                  </a:ext>
                </a:extLst>
              </a:tr>
              <a:tr h="27463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3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3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B</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9"/>
                  </a:ext>
                </a:extLst>
              </a:tr>
            </a:tbl>
          </a:graphicData>
        </a:graphic>
      </p:graphicFrame>
      <p:sp>
        <p:nvSpPr>
          <p:cNvPr id="48193" name="Text Box 773"/>
          <p:cNvSpPr txBox="1"/>
          <p:nvPr/>
        </p:nvSpPr>
        <p:spPr>
          <a:xfrm>
            <a:off x="4943475" y="1760538"/>
            <a:ext cx="6049963" cy="3011487"/>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lnSpc>
                <a:spcPct val="120000"/>
              </a:lnSpc>
              <a:spcBef>
                <a:spcPct val="0"/>
              </a:spcBef>
              <a:buFont typeface="Wingdings" panose="05000000000000000000" pitchFamily="2" charset="2"/>
              <a:buChar char="n"/>
            </a:pPr>
            <a:r>
              <a:rPr lang="zh-CN" altLang="en-US" sz="2000" dirty="0">
                <a:latin typeface="Times New Roman" panose="02020603050405020304" pitchFamily="18" charset="0"/>
              </a:rPr>
              <a:t>事务</a:t>
            </a:r>
            <a:r>
              <a:rPr lang="en-US" altLang="zh-CN" sz="2000" dirty="0">
                <a:latin typeface="Times New Roman" panose="02020603050405020304" pitchFamily="18" charset="0"/>
              </a:rPr>
              <a:t>T</a:t>
            </a:r>
            <a:r>
              <a:rPr lang="en-US" altLang="zh-CN" sz="2000" baseline="-25000" dirty="0">
                <a:latin typeface="Times New Roman" panose="02020603050405020304" pitchFamily="18" charset="0"/>
              </a:rPr>
              <a:t>1</a:t>
            </a:r>
            <a:r>
              <a:rPr lang="zh-CN" altLang="en-US" sz="2000" dirty="0">
                <a:latin typeface="Times New Roman" panose="02020603050405020304" pitchFamily="18" charset="0"/>
              </a:rPr>
              <a:t>在读</a:t>
            </a:r>
            <a:r>
              <a:rPr lang="en-US" altLang="zh-CN" sz="2000" dirty="0">
                <a:latin typeface="Times New Roman" panose="02020603050405020304" pitchFamily="18" charset="0"/>
              </a:rPr>
              <a:t>A</a:t>
            </a:r>
            <a:r>
              <a:rPr lang="zh-CN" altLang="en-US" sz="2000" dirty="0">
                <a:latin typeface="Times New Roman" panose="02020603050405020304" pitchFamily="18" charset="0"/>
              </a:rPr>
              <a:t>，</a:t>
            </a:r>
            <a:r>
              <a:rPr lang="en-US" altLang="zh-CN" sz="2000" dirty="0">
                <a:latin typeface="Times New Roman" panose="02020603050405020304" pitchFamily="18" charset="0"/>
              </a:rPr>
              <a:t>B</a:t>
            </a:r>
            <a:r>
              <a:rPr lang="zh-CN" altLang="en-US" sz="2000" dirty="0">
                <a:latin typeface="Times New Roman" panose="02020603050405020304" pitchFamily="18" charset="0"/>
              </a:rPr>
              <a:t>之前，先对</a:t>
            </a:r>
            <a:r>
              <a:rPr lang="en-US" altLang="zh-CN" sz="2000" dirty="0">
                <a:latin typeface="Times New Roman" panose="02020603050405020304" pitchFamily="18" charset="0"/>
              </a:rPr>
              <a:t>A</a:t>
            </a:r>
            <a:r>
              <a:rPr lang="zh-CN" altLang="en-US" sz="2000" dirty="0">
                <a:latin typeface="Times New Roman" panose="02020603050405020304" pitchFamily="18" charset="0"/>
              </a:rPr>
              <a:t>，</a:t>
            </a:r>
            <a:r>
              <a:rPr lang="en-US" altLang="zh-CN" sz="2000" dirty="0">
                <a:latin typeface="Times New Roman" panose="02020603050405020304" pitchFamily="18" charset="0"/>
              </a:rPr>
              <a:t>B</a:t>
            </a:r>
            <a:r>
              <a:rPr lang="zh-CN" altLang="en-US" sz="2000" dirty="0">
                <a:latin typeface="Times New Roman" panose="02020603050405020304" pitchFamily="18" charset="0"/>
              </a:rPr>
              <a:t>加</a:t>
            </a:r>
            <a:r>
              <a:rPr lang="en-US" altLang="zh-CN" sz="2000" dirty="0">
                <a:latin typeface="Times New Roman" panose="02020603050405020304" pitchFamily="18" charset="0"/>
              </a:rPr>
              <a:t>S</a:t>
            </a:r>
            <a:r>
              <a:rPr lang="zh-CN" altLang="en-US" sz="2000" dirty="0">
                <a:latin typeface="Times New Roman" panose="02020603050405020304" pitchFamily="18" charset="0"/>
              </a:rPr>
              <a:t>锁</a:t>
            </a:r>
          </a:p>
          <a:p>
            <a:pPr marL="342900" lvl="0" indent="-342900" eaLnBrk="1" hangingPunct="1">
              <a:lnSpc>
                <a:spcPct val="120000"/>
              </a:lnSpc>
              <a:spcBef>
                <a:spcPct val="0"/>
              </a:spcBef>
              <a:buFont typeface="Wingdings" panose="05000000000000000000" pitchFamily="2" charset="2"/>
              <a:buChar char="n"/>
            </a:pPr>
            <a:r>
              <a:rPr lang="zh-CN" altLang="en-US" sz="2000" dirty="0">
                <a:latin typeface="Times New Roman" panose="02020603050405020304" pitchFamily="18" charset="0"/>
              </a:rPr>
              <a:t>其他事务只能再对</a:t>
            </a:r>
            <a:r>
              <a:rPr lang="en-US" altLang="zh-CN" sz="2000" dirty="0">
                <a:latin typeface="Times New Roman" panose="02020603050405020304" pitchFamily="18" charset="0"/>
              </a:rPr>
              <a:t>A</a:t>
            </a:r>
            <a:r>
              <a:rPr lang="zh-CN" altLang="en-US" sz="2000" dirty="0">
                <a:latin typeface="Times New Roman" panose="02020603050405020304" pitchFamily="18" charset="0"/>
              </a:rPr>
              <a:t>，</a:t>
            </a:r>
            <a:r>
              <a:rPr lang="en-US" altLang="zh-CN" sz="2000" dirty="0">
                <a:latin typeface="Times New Roman" panose="02020603050405020304" pitchFamily="18" charset="0"/>
              </a:rPr>
              <a:t>B</a:t>
            </a:r>
            <a:r>
              <a:rPr lang="zh-CN" altLang="en-US" sz="2000" dirty="0">
                <a:latin typeface="Times New Roman" panose="02020603050405020304" pitchFamily="18" charset="0"/>
              </a:rPr>
              <a:t>加</a:t>
            </a:r>
            <a:r>
              <a:rPr lang="en-US" altLang="zh-CN" sz="2000" dirty="0">
                <a:latin typeface="Times New Roman" panose="02020603050405020304" pitchFamily="18" charset="0"/>
              </a:rPr>
              <a:t>S</a:t>
            </a:r>
            <a:r>
              <a:rPr lang="zh-CN" altLang="en-US" sz="2000" dirty="0">
                <a:latin typeface="Times New Roman" panose="02020603050405020304" pitchFamily="18" charset="0"/>
              </a:rPr>
              <a:t>锁，而不能加</a:t>
            </a:r>
            <a:r>
              <a:rPr lang="en-US" altLang="zh-CN" sz="2000" dirty="0">
                <a:latin typeface="Times New Roman" panose="02020603050405020304" pitchFamily="18" charset="0"/>
              </a:rPr>
              <a:t>X</a:t>
            </a:r>
            <a:r>
              <a:rPr lang="zh-CN" altLang="en-US" sz="2000" dirty="0">
                <a:latin typeface="Times New Roman" panose="02020603050405020304" pitchFamily="18" charset="0"/>
              </a:rPr>
              <a:t>锁，即其他事务只能读</a:t>
            </a:r>
            <a:r>
              <a:rPr lang="en-US" altLang="zh-CN" sz="2000" dirty="0">
                <a:latin typeface="Times New Roman" panose="02020603050405020304" pitchFamily="18" charset="0"/>
              </a:rPr>
              <a:t>A</a:t>
            </a:r>
            <a:r>
              <a:rPr lang="zh-CN" altLang="en-US" sz="2000" dirty="0">
                <a:latin typeface="Times New Roman" panose="02020603050405020304" pitchFamily="18" charset="0"/>
              </a:rPr>
              <a:t>，</a:t>
            </a:r>
            <a:r>
              <a:rPr lang="en-US" altLang="zh-CN" sz="2000" dirty="0">
                <a:latin typeface="Times New Roman" panose="02020603050405020304" pitchFamily="18" charset="0"/>
              </a:rPr>
              <a:t>B</a:t>
            </a:r>
            <a:r>
              <a:rPr lang="zh-CN" altLang="en-US" sz="2000" dirty="0">
                <a:latin typeface="Times New Roman" panose="02020603050405020304" pitchFamily="18" charset="0"/>
              </a:rPr>
              <a:t>，而不能修改</a:t>
            </a:r>
          </a:p>
          <a:p>
            <a:pPr marL="342900" lvl="0" indent="-342900" eaLnBrk="1" hangingPunct="1">
              <a:lnSpc>
                <a:spcPct val="120000"/>
              </a:lnSpc>
              <a:spcBef>
                <a:spcPct val="0"/>
              </a:spcBef>
              <a:buFont typeface="Wingdings" panose="05000000000000000000" pitchFamily="2" charset="2"/>
              <a:buChar char="n"/>
            </a:pPr>
            <a:r>
              <a:rPr lang="zh-CN" altLang="en-US" sz="2000" dirty="0">
                <a:latin typeface="Times New Roman" panose="02020603050405020304" pitchFamily="18" charset="0"/>
              </a:rPr>
              <a:t>当</a:t>
            </a:r>
            <a:r>
              <a:rPr lang="en-US" altLang="zh-CN" sz="2000" dirty="0">
                <a:latin typeface="Times New Roman" panose="02020603050405020304" pitchFamily="18" charset="0"/>
              </a:rPr>
              <a:t>T</a:t>
            </a:r>
            <a:r>
              <a:rPr lang="en-US" altLang="zh-CN" sz="2000" baseline="-25000" dirty="0">
                <a:latin typeface="Times New Roman" panose="02020603050405020304" pitchFamily="18" charset="0"/>
              </a:rPr>
              <a:t>2</a:t>
            </a:r>
            <a:r>
              <a:rPr lang="zh-CN" altLang="en-US" sz="2000" dirty="0">
                <a:latin typeface="Times New Roman" panose="02020603050405020304" pitchFamily="18" charset="0"/>
              </a:rPr>
              <a:t>为修改</a:t>
            </a:r>
            <a:r>
              <a:rPr lang="en-US" altLang="zh-CN" sz="2000" dirty="0">
                <a:latin typeface="Times New Roman" panose="02020603050405020304" pitchFamily="18" charset="0"/>
              </a:rPr>
              <a:t>B</a:t>
            </a:r>
            <a:r>
              <a:rPr lang="zh-CN" altLang="en-US" sz="2000" dirty="0">
                <a:latin typeface="Times New Roman" panose="02020603050405020304" pitchFamily="18" charset="0"/>
              </a:rPr>
              <a:t>而申请对</a:t>
            </a:r>
            <a:r>
              <a:rPr lang="en-US" altLang="zh-CN" sz="2000" dirty="0">
                <a:latin typeface="Times New Roman" panose="02020603050405020304" pitchFamily="18" charset="0"/>
              </a:rPr>
              <a:t>B</a:t>
            </a:r>
            <a:r>
              <a:rPr lang="zh-CN" altLang="en-US" sz="2000" dirty="0">
                <a:latin typeface="Times New Roman" panose="02020603050405020304" pitchFamily="18" charset="0"/>
              </a:rPr>
              <a:t>的</a:t>
            </a:r>
            <a:r>
              <a:rPr lang="en-US" altLang="zh-CN" sz="2000" dirty="0">
                <a:latin typeface="Times New Roman" panose="02020603050405020304" pitchFamily="18" charset="0"/>
              </a:rPr>
              <a:t>X</a:t>
            </a:r>
            <a:r>
              <a:rPr lang="zh-CN" altLang="en-US" sz="2000" dirty="0">
                <a:latin typeface="Times New Roman" panose="02020603050405020304" pitchFamily="18" charset="0"/>
              </a:rPr>
              <a:t>锁时被拒绝只能等待</a:t>
            </a:r>
            <a:r>
              <a:rPr lang="en-US" altLang="zh-CN" sz="2000" dirty="0">
                <a:latin typeface="Times New Roman" panose="02020603050405020304" pitchFamily="18" charset="0"/>
              </a:rPr>
              <a:t>T</a:t>
            </a:r>
            <a:r>
              <a:rPr lang="en-US" altLang="zh-CN" sz="2000" baseline="-25000" dirty="0">
                <a:latin typeface="Times New Roman" panose="02020603050405020304" pitchFamily="18" charset="0"/>
              </a:rPr>
              <a:t>1</a:t>
            </a:r>
            <a:r>
              <a:rPr lang="zh-CN" altLang="en-US" sz="2000" dirty="0">
                <a:latin typeface="Times New Roman" panose="02020603050405020304" pitchFamily="18" charset="0"/>
              </a:rPr>
              <a:t>释放</a:t>
            </a:r>
            <a:r>
              <a:rPr lang="en-US" altLang="zh-CN" sz="2000" dirty="0">
                <a:latin typeface="Times New Roman" panose="02020603050405020304" pitchFamily="18" charset="0"/>
              </a:rPr>
              <a:t>B</a:t>
            </a:r>
            <a:r>
              <a:rPr lang="zh-CN" altLang="en-US" sz="2000" dirty="0">
                <a:latin typeface="Times New Roman" panose="02020603050405020304" pitchFamily="18" charset="0"/>
              </a:rPr>
              <a:t>上的锁</a:t>
            </a:r>
          </a:p>
          <a:p>
            <a:pPr marL="342900" lvl="0" indent="-342900" eaLnBrk="1" hangingPunct="1">
              <a:lnSpc>
                <a:spcPct val="120000"/>
              </a:lnSpc>
              <a:spcBef>
                <a:spcPct val="0"/>
              </a:spcBef>
              <a:buFont typeface="Wingdings" panose="05000000000000000000" pitchFamily="2" charset="2"/>
              <a:buChar char="n"/>
            </a:pPr>
            <a:r>
              <a:rPr lang="en-US" altLang="zh-CN" sz="2000" dirty="0">
                <a:latin typeface="Times New Roman" panose="02020603050405020304" pitchFamily="18" charset="0"/>
              </a:rPr>
              <a:t>T</a:t>
            </a:r>
            <a:r>
              <a:rPr lang="en-US" altLang="zh-CN" sz="2000" baseline="-25000" dirty="0">
                <a:latin typeface="Times New Roman" panose="02020603050405020304" pitchFamily="18" charset="0"/>
              </a:rPr>
              <a:t>1</a:t>
            </a:r>
            <a:r>
              <a:rPr lang="zh-CN" altLang="en-US" sz="2000" dirty="0">
                <a:latin typeface="Times New Roman" panose="02020603050405020304" pitchFamily="18" charset="0"/>
              </a:rPr>
              <a:t>为验算再读</a:t>
            </a:r>
            <a:r>
              <a:rPr lang="en-US" altLang="zh-CN" sz="2000" dirty="0">
                <a:latin typeface="Times New Roman" panose="02020603050405020304" pitchFamily="18" charset="0"/>
              </a:rPr>
              <a:t>A</a:t>
            </a:r>
            <a:r>
              <a:rPr lang="zh-CN" altLang="en-US" sz="2000" dirty="0">
                <a:latin typeface="Times New Roman" panose="02020603050405020304" pitchFamily="18" charset="0"/>
              </a:rPr>
              <a:t>，</a:t>
            </a:r>
            <a:r>
              <a:rPr lang="en-US" altLang="zh-CN" sz="2000" dirty="0">
                <a:latin typeface="Times New Roman" panose="02020603050405020304" pitchFamily="18" charset="0"/>
              </a:rPr>
              <a:t>B</a:t>
            </a:r>
            <a:r>
              <a:rPr lang="zh-CN" altLang="en-US" sz="2000" dirty="0">
                <a:latin typeface="Times New Roman" panose="02020603050405020304" pitchFamily="18" charset="0"/>
              </a:rPr>
              <a:t>，这时读出的</a:t>
            </a:r>
            <a:r>
              <a:rPr lang="en-US" altLang="zh-CN" sz="2000" dirty="0">
                <a:latin typeface="Times New Roman" panose="02020603050405020304" pitchFamily="18" charset="0"/>
              </a:rPr>
              <a:t>B</a:t>
            </a:r>
            <a:r>
              <a:rPr lang="zh-CN" altLang="en-US" sz="2000" dirty="0">
                <a:latin typeface="Times New Roman" panose="02020603050405020304" pitchFamily="18" charset="0"/>
              </a:rPr>
              <a:t>仍是</a:t>
            </a:r>
            <a:r>
              <a:rPr lang="en-US" altLang="zh-CN" sz="2000" dirty="0">
                <a:latin typeface="Times New Roman" panose="02020603050405020304" pitchFamily="18" charset="0"/>
              </a:rPr>
              <a:t>100</a:t>
            </a:r>
            <a:r>
              <a:rPr lang="zh-CN" altLang="en-US" sz="2000" dirty="0">
                <a:latin typeface="Times New Roman" panose="02020603050405020304" pitchFamily="18" charset="0"/>
              </a:rPr>
              <a:t>，求和结果仍为</a:t>
            </a:r>
            <a:r>
              <a:rPr lang="en-US" altLang="zh-CN" sz="2000" dirty="0">
                <a:latin typeface="Times New Roman" panose="02020603050405020304" pitchFamily="18" charset="0"/>
              </a:rPr>
              <a:t>150</a:t>
            </a:r>
            <a:r>
              <a:rPr lang="zh-CN" altLang="en-US" sz="2000" dirty="0">
                <a:latin typeface="Times New Roman" panose="02020603050405020304" pitchFamily="18" charset="0"/>
              </a:rPr>
              <a:t>，即可重复读</a:t>
            </a:r>
          </a:p>
          <a:p>
            <a:pPr marL="342900" lvl="0" indent="-342900" eaLnBrk="1" hangingPunct="1">
              <a:lnSpc>
                <a:spcPct val="120000"/>
              </a:lnSpc>
              <a:spcBef>
                <a:spcPct val="0"/>
              </a:spcBef>
              <a:buFont typeface="Wingdings" panose="05000000000000000000" pitchFamily="2" charset="2"/>
              <a:buChar char="n"/>
            </a:pPr>
            <a:r>
              <a:rPr lang="en-US" altLang="zh-CN" sz="2000" dirty="0">
                <a:latin typeface="Times New Roman" panose="02020603050405020304" pitchFamily="18" charset="0"/>
              </a:rPr>
              <a:t>T</a:t>
            </a:r>
            <a:r>
              <a:rPr lang="en-US" altLang="zh-CN" sz="2000" baseline="-25000" dirty="0">
                <a:latin typeface="Times New Roman" panose="02020603050405020304" pitchFamily="18" charset="0"/>
              </a:rPr>
              <a:t>1</a:t>
            </a:r>
            <a:r>
              <a:rPr lang="zh-CN" altLang="en-US" sz="2000" dirty="0">
                <a:latin typeface="Times New Roman" panose="02020603050405020304" pitchFamily="18" charset="0"/>
              </a:rPr>
              <a:t>结束才释放</a:t>
            </a:r>
            <a:r>
              <a:rPr lang="en-US" altLang="zh-CN" sz="2000" dirty="0">
                <a:latin typeface="Times New Roman" panose="02020603050405020304" pitchFamily="18" charset="0"/>
              </a:rPr>
              <a:t>A</a:t>
            </a:r>
            <a:r>
              <a:rPr lang="zh-CN" altLang="en-US" sz="2000" dirty="0">
                <a:latin typeface="Times New Roman" panose="02020603050405020304" pitchFamily="18" charset="0"/>
              </a:rPr>
              <a:t>，</a:t>
            </a:r>
            <a:r>
              <a:rPr lang="en-US" altLang="zh-CN" sz="2000" dirty="0">
                <a:latin typeface="Times New Roman" panose="02020603050405020304" pitchFamily="18" charset="0"/>
              </a:rPr>
              <a:t>B</a:t>
            </a:r>
            <a:r>
              <a:rPr lang="zh-CN" altLang="en-US" sz="2000" dirty="0">
                <a:latin typeface="Times New Roman" panose="02020603050405020304" pitchFamily="18" charset="0"/>
              </a:rPr>
              <a:t>上的</a:t>
            </a:r>
            <a:r>
              <a:rPr lang="en-US" altLang="zh-CN" sz="2000" dirty="0">
                <a:latin typeface="Times New Roman" panose="02020603050405020304" pitchFamily="18" charset="0"/>
              </a:rPr>
              <a:t>S</a:t>
            </a:r>
            <a:r>
              <a:rPr lang="zh-CN" altLang="en-US" sz="2000" dirty="0">
                <a:latin typeface="Times New Roman" panose="02020603050405020304" pitchFamily="18" charset="0"/>
              </a:rPr>
              <a:t>锁。</a:t>
            </a:r>
            <a:r>
              <a:rPr lang="en-US" altLang="zh-CN" sz="2000" dirty="0">
                <a:latin typeface="Times New Roman" panose="02020603050405020304" pitchFamily="18" charset="0"/>
              </a:rPr>
              <a:t>T</a:t>
            </a:r>
            <a:r>
              <a:rPr lang="en-US" altLang="zh-CN" sz="2000" baseline="-25000" dirty="0">
                <a:latin typeface="Times New Roman" panose="02020603050405020304" pitchFamily="18" charset="0"/>
              </a:rPr>
              <a:t>2</a:t>
            </a:r>
            <a:r>
              <a:rPr lang="zh-CN" altLang="en-US" sz="2000" dirty="0">
                <a:latin typeface="Times New Roman" panose="02020603050405020304" pitchFamily="18" charset="0"/>
              </a:rPr>
              <a:t>才获得对</a:t>
            </a:r>
            <a:r>
              <a:rPr lang="en-US" altLang="zh-CN" sz="2000" dirty="0">
                <a:latin typeface="Times New Roman" panose="02020603050405020304" pitchFamily="18" charset="0"/>
              </a:rPr>
              <a:t>B</a:t>
            </a:r>
            <a:r>
              <a:rPr lang="zh-CN" altLang="en-US" sz="2000" dirty="0">
                <a:latin typeface="Times New Roman" panose="02020603050405020304" pitchFamily="18" charset="0"/>
              </a:rPr>
              <a:t>的</a:t>
            </a:r>
            <a:r>
              <a:rPr lang="en-US" altLang="zh-CN" sz="2000" dirty="0">
                <a:latin typeface="Times New Roman" panose="02020603050405020304" pitchFamily="18" charset="0"/>
              </a:rPr>
              <a:t>X</a:t>
            </a:r>
            <a:r>
              <a:rPr lang="zh-CN" altLang="en-US" sz="2000" dirty="0">
                <a:latin typeface="Times New Roman" panose="02020603050405020304" pitchFamily="18" charset="0"/>
              </a:rPr>
              <a:t>锁 </a:t>
            </a:r>
          </a:p>
        </p:txBody>
      </p:sp>
      <p:sp>
        <p:nvSpPr>
          <p:cNvPr id="48194" name="Text Box 774"/>
          <p:cNvSpPr txBox="1"/>
          <p:nvPr/>
        </p:nvSpPr>
        <p:spPr>
          <a:xfrm>
            <a:off x="4727575" y="1401763"/>
            <a:ext cx="1647825" cy="40005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None/>
            </a:pPr>
            <a:r>
              <a:rPr lang="zh-CN" altLang="zh-CN" sz="2000" dirty="0">
                <a:solidFill>
                  <a:schemeClr val="tx2"/>
                </a:solidFill>
                <a:latin typeface="Times New Roman" panose="02020603050405020304" pitchFamily="18" charset="0"/>
              </a:rPr>
              <a:t>可重复读</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en-US" altLang="zh-CN" sz="3600" dirty="0"/>
              <a:t>4</a:t>
            </a:r>
            <a:r>
              <a:rPr lang="zh-CN" altLang="en-US" sz="3600" dirty="0"/>
              <a:t>．封锁协议小结</a:t>
            </a:r>
          </a:p>
        </p:txBody>
      </p:sp>
      <p:sp>
        <p:nvSpPr>
          <p:cNvPr id="49155" name="Rectangle 3"/>
          <p:cNvSpPr>
            <a:spLocks noGrp="1"/>
          </p:cNvSpPr>
          <p:nvPr>
            <p:ph type="body"/>
          </p:nvPr>
        </p:nvSpPr>
        <p:spPr>
          <a:xfrm>
            <a:off x="1487488" y="1057275"/>
            <a:ext cx="9864725" cy="2208213"/>
          </a:xfrm>
        </p:spPr>
        <p:txBody>
          <a:bodyPr vert="horz" wrap="square" lIns="91440" tIns="45720" rIns="91440" bIns="45720" anchor="t" anchorCtr="0"/>
          <a:lstStyle/>
          <a:p>
            <a:pPr eaLnBrk="1" hangingPunct="1">
              <a:lnSpc>
                <a:spcPct val="120000"/>
              </a:lnSpc>
              <a:spcBef>
                <a:spcPct val="0"/>
              </a:spcBef>
            </a:pPr>
            <a:r>
              <a:rPr lang="zh-CN" altLang="en-US" dirty="0"/>
              <a:t>三级协议的主要区别</a:t>
            </a:r>
          </a:p>
          <a:p>
            <a:pPr lvl="1">
              <a:lnSpc>
                <a:spcPct val="120000"/>
              </a:lnSpc>
              <a:spcBef>
                <a:spcPct val="0"/>
              </a:spcBef>
            </a:pPr>
            <a:r>
              <a:rPr lang="zh-CN" altLang="en-US" dirty="0"/>
              <a:t>什么操作需要申请封锁以及何时释放锁（即持锁时间）</a:t>
            </a:r>
            <a:endParaRPr lang="en-US" altLang="zh-CN" dirty="0"/>
          </a:p>
          <a:p>
            <a:pPr>
              <a:lnSpc>
                <a:spcPct val="120000"/>
              </a:lnSpc>
              <a:spcBef>
                <a:spcPct val="0"/>
              </a:spcBef>
            </a:pPr>
            <a:r>
              <a:rPr lang="zh-CN" altLang="zh-CN" dirty="0"/>
              <a:t>不同的封锁协议使事务达到的一致性级别不同</a:t>
            </a:r>
            <a:endParaRPr lang="en-US" altLang="zh-CN" dirty="0"/>
          </a:p>
          <a:p>
            <a:pPr lvl="1">
              <a:lnSpc>
                <a:spcPct val="120000"/>
              </a:lnSpc>
              <a:spcBef>
                <a:spcPct val="0"/>
              </a:spcBef>
            </a:pPr>
            <a:r>
              <a:rPr lang="zh-CN" altLang="zh-CN" dirty="0"/>
              <a:t>封锁协议级别越高，一致性程度越高</a:t>
            </a:r>
            <a:endParaRPr lang="zh-CN" altLang="en-US" dirty="0"/>
          </a:p>
        </p:txBody>
      </p:sp>
      <p:sp>
        <p:nvSpPr>
          <p:cNvPr id="49156" name="Rectangle 4"/>
          <p:cNvSpPr/>
          <p:nvPr/>
        </p:nvSpPr>
        <p:spPr>
          <a:xfrm>
            <a:off x="3575050" y="5948363"/>
            <a:ext cx="4856163" cy="401637"/>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Font typeface="Arial" panose="020B0604020202020204" pitchFamily="34" charset="0"/>
              <a:buNone/>
            </a:pPr>
            <a:r>
              <a:rPr lang="zh-CN" altLang="zh-CN" sz="2000" dirty="0">
                <a:latin typeface="Times New Roman" panose="02020603050405020304" pitchFamily="18" charset="0"/>
                <a:cs typeface="Times New Roman" panose="02020603050405020304" pitchFamily="18" charset="0"/>
              </a:rPr>
              <a:t>表</a:t>
            </a:r>
            <a:r>
              <a:rPr lang="en-US" altLang="zh-CN" sz="2000" dirty="0">
                <a:latin typeface="Times New Roman" panose="02020603050405020304" pitchFamily="18" charset="0"/>
                <a:cs typeface="Times New Roman" panose="02020603050405020304" pitchFamily="18" charset="0"/>
              </a:rPr>
              <a:t>12.2  </a:t>
            </a:r>
            <a:r>
              <a:rPr lang="zh-CN" altLang="en-US" sz="2000" dirty="0">
                <a:latin typeface="Times New Roman" panose="02020603050405020304" pitchFamily="18" charset="0"/>
                <a:cs typeface="Times New Roman" panose="02020603050405020304" pitchFamily="18" charset="0"/>
              </a:rPr>
              <a:t>不同级别的封锁协议和一致性保证</a:t>
            </a:r>
            <a:endParaRPr lang="zh-CN" altLang="en-US" sz="2000" dirty="0"/>
          </a:p>
        </p:txBody>
      </p:sp>
      <p:graphicFrame>
        <p:nvGraphicFramePr>
          <p:cNvPr id="7" name="表格 6"/>
          <p:cNvGraphicFramePr>
            <a:graphicFrameLocks noGrp="1"/>
          </p:cNvGraphicFramePr>
          <p:nvPr/>
        </p:nvGraphicFramePr>
        <p:xfrm>
          <a:off x="1006475" y="3217863"/>
          <a:ext cx="9993809" cy="2654299"/>
        </p:xfrm>
        <a:graphic>
          <a:graphicData uri="http://schemas.openxmlformats.org/drawingml/2006/table">
            <a:tbl>
              <a:tblPr>
                <a:tableStyleId>{5C22544A-7EE6-4342-B048-85BDC9FD1C3A}</a:tableStyleId>
              </a:tblPr>
              <a:tblGrid>
                <a:gridCol w="1714553">
                  <a:extLst>
                    <a:ext uri="{9D8B030D-6E8A-4147-A177-3AD203B41FA5}">
                      <a16:colId xmlns:a16="http://schemas.microsoft.com/office/drawing/2014/main" val="20000"/>
                    </a:ext>
                  </a:extLst>
                </a:gridCol>
                <a:gridCol w="862431">
                  <a:extLst>
                    <a:ext uri="{9D8B030D-6E8A-4147-A177-3AD203B41FA5}">
                      <a16:colId xmlns:a16="http://schemas.microsoft.com/office/drawing/2014/main" val="20001"/>
                    </a:ext>
                  </a:extLst>
                </a:gridCol>
                <a:gridCol w="1080120">
                  <a:extLst>
                    <a:ext uri="{9D8B030D-6E8A-4147-A177-3AD203B41FA5}">
                      <a16:colId xmlns:a16="http://schemas.microsoft.com/office/drawing/2014/main" val="20002"/>
                    </a:ext>
                  </a:extLst>
                </a:gridCol>
                <a:gridCol w="1008112">
                  <a:extLst>
                    <a:ext uri="{9D8B030D-6E8A-4147-A177-3AD203B41FA5}">
                      <a16:colId xmlns:a16="http://schemas.microsoft.com/office/drawing/2014/main" val="20003"/>
                    </a:ext>
                  </a:extLst>
                </a:gridCol>
                <a:gridCol w="1008112">
                  <a:extLst>
                    <a:ext uri="{9D8B030D-6E8A-4147-A177-3AD203B41FA5}">
                      <a16:colId xmlns:a16="http://schemas.microsoft.com/office/drawing/2014/main" val="20004"/>
                    </a:ext>
                  </a:extLst>
                </a:gridCol>
                <a:gridCol w="1008112">
                  <a:extLst>
                    <a:ext uri="{9D8B030D-6E8A-4147-A177-3AD203B41FA5}">
                      <a16:colId xmlns:a16="http://schemas.microsoft.com/office/drawing/2014/main" val="20005"/>
                    </a:ext>
                  </a:extLst>
                </a:gridCol>
                <a:gridCol w="1008112">
                  <a:extLst>
                    <a:ext uri="{9D8B030D-6E8A-4147-A177-3AD203B41FA5}">
                      <a16:colId xmlns:a16="http://schemas.microsoft.com/office/drawing/2014/main" val="20006"/>
                    </a:ext>
                  </a:extLst>
                </a:gridCol>
                <a:gridCol w="1008112">
                  <a:extLst>
                    <a:ext uri="{9D8B030D-6E8A-4147-A177-3AD203B41FA5}">
                      <a16:colId xmlns:a16="http://schemas.microsoft.com/office/drawing/2014/main" val="20007"/>
                    </a:ext>
                  </a:extLst>
                </a:gridCol>
                <a:gridCol w="1296145">
                  <a:extLst>
                    <a:ext uri="{9D8B030D-6E8A-4147-A177-3AD203B41FA5}">
                      <a16:colId xmlns:a16="http://schemas.microsoft.com/office/drawing/2014/main" val="20008"/>
                    </a:ext>
                  </a:extLst>
                </a:gridCol>
              </a:tblGrid>
              <a:tr h="415227">
                <a:tc>
                  <a:txBody>
                    <a:bodyPr/>
                    <a:lstStyle/>
                    <a:p>
                      <a:pPr algn="just">
                        <a:spcAft>
                          <a:spcPts val="0"/>
                        </a:spcAft>
                      </a:pPr>
                      <a:r>
                        <a:rPr lang="en-US" sz="1800" b="1" kern="100" baseline="0" dirty="0">
                          <a:effectLst/>
                          <a:latin typeface="Arial" panose="020B0604020202020204" pitchFamily="34" charset="0"/>
                          <a:ea typeface="+mn-ea"/>
                        </a:rPr>
                        <a:t> </a:t>
                      </a:r>
                      <a:endParaRPr lang="zh-CN" sz="1800" b="1" kern="100" baseline="0" dirty="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a:spcAft>
                          <a:spcPts val="0"/>
                        </a:spcAft>
                      </a:pPr>
                      <a:r>
                        <a:rPr lang="en-US" sz="1800" b="1" kern="100" baseline="0" dirty="0">
                          <a:effectLst/>
                          <a:latin typeface="Arial" panose="020B0604020202020204" pitchFamily="34" charset="0"/>
                          <a:ea typeface="+mn-ea"/>
                        </a:rPr>
                        <a:t>X</a:t>
                      </a:r>
                      <a:r>
                        <a:rPr lang="zh-CN" sz="1800" b="1" kern="100" baseline="0" dirty="0">
                          <a:effectLst/>
                          <a:latin typeface="Arial" panose="020B0604020202020204" pitchFamily="34" charset="0"/>
                          <a:ea typeface="+mn-ea"/>
                        </a:rPr>
                        <a:t>锁</a:t>
                      </a:r>
                      <a:endParaRPr lang="zh-CN" sz="1800" b="1" kern="100" baseline="0" dirty="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CN"/>
                    </a:p>
                  </a:txBody>
                  <a:tcPr/>
                </a:tc>
                <a:tc gridSpan="2">
                  <a:txBody>
                    <a:bodyPr/>
                    <a:lstStyle/>
                    <a:p>
                      <a:pPr algn="ctr">
                        <a:spcAft>
                          <a:spcPts val="0"/>
                        </a:spcAft>
                      </a:pPr>
                      <a:r>
                        <a:rPr lang="en-US" sz="1800" b="1" kern="100" baseline="0" dirty="0">
                          <a:effectLst/>
                          <a:latin typeface="Arial" panose="020B0604020202020204" pitchFamily="34" charset="0"/>
                          <a:ea typeface="+mn-ea"/>
                        </a:rPr>
                        <a:t>S</a:t>
                      </a:r>
                      <a:r>
                        <a:rPr lang="zh-CN" sz="1800" b="1" kern="100" baseline="0" dirty="0">
                          <a:effectLst/>
                          <a:latin typeface="Arial" panose="020B0604020202020204" pitchFamily="34" charset="0"/>
                          <a:ea typeface="+mn-ea"/>
                        </a:rPr>
                        <a:t>锁</a:t>
                      </a:r>
                      <a:endParaRPr lang="zh-CN" sz="1800" b="1" kern="100" baseline="0" dirty="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CN"/>
                    </a:p>
                  </a:txBody>
                  <a:tcPr/>
                </a:tc>
                <a:tc gridSpan="3">
                  <a:txBody>
                    <a:bodyPr/>
                    <a:lstStyle/>
                    <a:p>
                      <a:pPr algn="ctr">
                        <a:spcAft>
                          <a:spcPts val="0"/>
                        </a:spcAft>
                      </a:pPr>
                      <a:r>
                        <a:rPr lang="zh-CN" sz="1800" b="1" kern="100" baseline="0" dirty="0">
                          <a:effectLst/>
                          <a:latin typeface="Arial" panose="020B0604020202020204" pitchFamily="34" charset="0"/>
                          <a:ea typeface="+mn-ea"/>
                        </a:rPr>
                        <a:t>一致性保证</a:t>
                      </a:r>
                      <a:endParaRPr lang="zh-CN" sz="1800" b="1" kern="100" baseline="0" dirty="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CN"/>
                    </a:p>
                  </a:txBody>
                  <a:tcPr/>
                </a:tc>
                <a:tc hMerge="1">
                  <a:txBody>
                    <a:bodyPr/>
                    <a:lstStyle/>
                    <a:p>
                      <a:endParaRPr lang="zh-CN"/>
                    </a:p>
                  </a:txBody>
                  <a:tcPr/>
                </a:tc>
                <a:tc rowSpan="2">
                  <a:txBody>
                    <a:bodyPr/>
                    <a:lstStyle/>
                    <a:p>
                      <a:pPr algn="ctr"/>
                      <a:r>
                        <a:rPr lang="zh-CN" altLang="en-US" sz="1800" b="1" baseline="0" dirty="0">
                          <a:latin typeface="Arial" panose="020B0604020202020204" pitchFamily="34" charset="0"/>
                          <a:ea typeface="+mn-ea"/>
                        </a:rPr>
                        <a:t>隔离性级别保证</a:t>
                      </a: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593182">
                <a:tc>
                  <a:txBody>
                    <a:bodyPr/>
                    <a:lstStyle/>
                    <a:p>
                      <a:pPr algn="just">
                        <a:spcAft>
                          <a:spcPts val="0"/>
                        </a:spcAft>
                      </a:pPr>
                      <a:r>
                        <a:rPr lang="en-US" sz="1800" b="1" kern="100" baseline="0">
                          <a:effectLst/>
                          <a:latin typeface="Arial" panose="020B0604020202020204" pitchFamily="34" charset="0"/>
                          <a:ea typeface="+mn-ea"/>
                        </a:rPr>
                        <a:t> </a:t>
                      </a:r>
                      <a:endParaRPr lang="zh-CN" sz="1800" b="1" kern="100" baseline="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zh-CN" sz="1800" b="1" kern="100" baseline="0" dirty="0">
                          <a:effectLst/>
                          <a:latin typeface="Arial" panose="020B0604020202020204" pitchFamily="34" charset="0"/>
                          <a:ea typeface="+mn-ea"/>
                        </a:rPr>
                        <a:t>操作结束释放</a:t>
                      </a:r>
                      <a:endParaRPr lang="zh-CN" sz="1800" b="1" kern="100" baseline="0" dirty="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zh-CN" sz="1800" b="1" kern="100" baseline="0">
                          <a:effectLst/>
                          <a:latin typeface="Arial" panose="020B0604020202020204" pitchFamily="34" charset="0"/>
                          <a:ea typeface="+mn-ea"/>
                        </a:rPr>
                        <a:t>事务结束释放</a:t>
                      </a:r>
                      <a:endParaRPr lang="zh-CN" sz="1800" b="1" kern="100" baseline="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zh-CN" sz="1800" b="1" kern="100" baseline="0" dirty="0">
                          <a:effectLst/>
                          <a:latin typeface="Arial" panose="020B0604020202020204" pitchFamily="34" charset="0"/>
                          <a:ea typeface="+mn-ea"/>
                        </a:rPr>
                        <a:t>操作结束释放</a:t>
                      </a:r>
                      <a:endParaRPr lang="zh-CN" sz="1800" b="1" kern="100" baseline="0" dirty="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zh-CN" sz="1800" b="1" kern="100" baseline="0" dirty="0">
                          <a:effectLst/>
                          <a:latin typeface="Arial" panose="020B0604020202020204" pitchFamily="34" charset="0"/>
                          <a:ea typeface="+mn-ea"/>
                        </a:rPr>
                        <a:t>事务结束释放</a:t>
                      </a:r>
                      <a:endParaRPr lang="zh-CN" sz="1800" b="1" kern="100" baseline="0" dirty="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zh-CN" sz="1800" b="1" kern="100" baseline="0" dirty="0">
                          <a:effectLst/>
                          <a:latin typeface="Arial" panose="020B0604020202020204" pitchFamily="34" charset="0"/>
                          <a:ea typeface="+mn-ea"/>
                        </a:rPr>
                        <a:t>不丢失</a:t>
                      </a:r>
                    </a:p>
                    <a:p>
                      <a:pPr algn="ctr">
                        <a:spcAft>
                          <a:spcPts val="0"/>
                        </a:spcAft>
                      </a:pPr>
                      <a:r>
                        <a:rPr lang="zh-CN" sz="1800" b="1" kern="100" baseline="0" dirty="0">
                          <a:effectLst/>
                          <a:latin typeface="Arial" panose="020B0604020202020204" pitchFamily="34" charset="0"/>
                          <a:ea typeface="+mn-ea"/>
                        </a:rPr>
                        <a:t>修改</a:t>
                      </a:r>
                      <a:endParaRPr lang="zh-CN" sz="1800" b="1" kern="100" baseline="0" dirty="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zh-CN" sz="1800" b="1" kern="100" baseline="0" dirty="0">
                          <a:effectLst/>
                          <a:latin typeface="Arial" panose="020B0604020202020204" pitchFamily="34" charset="0"/>
                          <a:ea typeface="+mn-ea"/>
                        </a:rPr>
                        <a:t>不“脏”</a:t>
                      </a:r>
                      <a:r>
                        <a:rPr lang="zh-CN" altLang="en-US" sz="1800" b="1" kern="100" baseline="0" dirty="0">
                          <a:effectLst/>
                          <a:latin typeface="Arial" panose="020B0604020202020204" pitchFamily="34" charset="0"/>
                          <a:ea typeface="+mn-ea"/>
                        </a:rPr>
                        <a:t>读</a:t>
                      </a:r>
                      <a:endParaRPr lang="zh-CN" sz="1800" b="1" kern="100" baseline="0" dirty="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zh-CN" sz="1800" b="1" kern="100" baseline="0" dirty="0">
                          <a:effectLst/>
                          <a:latin typeface="Arial" panose="020B0604020202020204" pitchFamily="34" charset="0"/>
                          <a:ea typeface="+mn-ea"/>
                        </a:rPr>
                        <a:t>可重复</a:t>
                      </a:r>
                    </a:p>
                    <a:p>
                      <a:pPr algn="ctr">
                        <a:spcAft>
                          <a:spcPts val="0"/>
                        </a:spcAft>
                      </a:pPr>
                      <a:r>
                        <a:rPr lang="zh-CN" sz="1800" b="1" kern="100" baseline="0" dirty="0">
                          <a:effectLst/>
                          <a:latin typeface="Arial" panose="020B0604020202020204" pitchFamily="34" charset="0"/>
                          <a:ea typeface="+mn-ea"/>
                        </a:rPr>
                        <a:t>读</a:t>
                      </a:r>
                      <a:endParaRPr lang="zh-CN" sz="1800" b="1" kern="100" baseline="0" dirty="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zh-CN"/>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548630">
                <a:tc>
                  <a:txBody>
                    <a:bodyPr/>
                    <a:lstStyle/>
                    <a:p>
                      <a:pPr algn="just">
                        <a:spcAft>
                          <a:spcPts val="0"/>
                        </a:spcAft>
                      </a:pPr>
                      <a:r>
                        <a:rPr lang="zh-CN" sz="1800" b="1" kern="100" baseline="0" dirty="0">
                          <a:effectLst/>
                          <a:latin typeface="Arial" panose="020B0604020202020204" pitchFamily="34" charset="0"/>
                          <a:ea typeface="+mn-ea"/>
                        </a:rPr>
                        <a:t>一级封锁协议</a:t>
                      </a:r>
                      <a:endParaRPr lang="zh-CN" sz="1800" b="1" kern="100" baseline="0" dirty="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en-US" sz="1800" b="1" kern="100" baseline="0">
                          <a:effectLst/>
                          <a:latin typeface="Arial" panose="020B0604020202020204" pitchFamily="34" charset="0"/>
                          <a:ea typeface="+mn-ea"/>
                        </a:rPr>
                        <a:t> </a:t>
                      </a:r>
                      <a:endParaRPr lang="zh-CN" sz="1800" b="1" kern="100" baseline="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zh-CN" sz="1800" b="1" kern="100" baseline="0" dirty="0">
                          <a:effectLst/>
                          <a:latin typeface="Arial" panose="020B0604020202020204" pitchFamily="34" charset="0"/>
                          <a:ea typeface="+mn-ea"/>
                        </a:rPr>
                        <a:t>√</a:t>
                      </a:r>
                      <a:endParaRPr lang="zh-CN" sz="1800" b="1" kern="100" baseline="0" dirty="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en-US" sz="1800" b="1" kern="100" baseline="0">
                          <a:effectLst/>
                          <a:latin typeface="Arial" panose="020B0604020202020204" pitchFamily="34" charset="0"/>
                          <a:ea typeface="+mn-ea"/>
                        </a:rPr>
                        <a:t> </a:t>
                      </a:r>
                      <a:endParaRPr lang="zh-CN" sz="1800" b="1" kern="100" baseline="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en-US" sz="1800" b="1" kern="100" baseline="0" dirty="0">
                          <a:effectLst/>
                          <a:latin typeface="Arial" panose="020B0604020202020204" pitchFamily="34" charset="0"/>
                          <a:ea typeface="+mn-ea"/>
                        </a:rPr>
                        <a:t> </a:t>
                      </a:r>
                      <a:endParaRPr lang="zh-CN" sz="1800" b="1" kern="100" baseline="0" dirty="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zh-CN" sz="1800" b="1" kern="100" baseline="0" dirty="0">
                          <a:effectLst/>
                          <a:latin typeface="Arial" panose="020B0604020202020204" pitchFamily="34" charset="0"/>
                          <a:ea typeface="+mn-ea"/>
                        </a:rPr>
                        <a:t>√</a:t>
                      </a:r>
                      <a:endParaRPr lang="zh-CN" sz="1800" b="1" kern="100" baseline="0" dirty="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en-US" sz="1800" b="1" kern="100" baseline="0" dirty="0">
                          <a:effectLst/>
                          <a:latin typeface="Arial" panose="020B0604020202020204" pitchFamily="34" charset="0"/>
                          <a:ea typeface="+mn-ea"/>
                        </a:rPr>
                        <a:t> </a:t>
                      </a:r>
                      <a:endParaRPr lang="zh-CN" sz="1800" b="1" kern="100" baseline="0" dirty="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en-US" sz="1800" b="1" kern="100" baseline="0" dirty="0">
                          <a:effectLst/>
                          <a:latin typeface="Arial" panose="020B0604020202020204" pitchFamily="34" charset="0"/>
                          <a:ea typeface="+mn-ea"/>
                        </a:rPr>
                        <a:t> </a:t>
                      </a:r>
                      <a:endParaRPr lang="zh-CN" sz="1800" b="1" kern="100" baseline="0" dirty="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zh-CN" altLang="en-US" sz="1800" b="1" kern="100" baseline="0" dirty="0">
                          <a:effectLst/>
                          <a:latin typeface="Arial" panose="020B0604020202020204" pitchFamily="34" charset="0"/>
                          <a:ea typeface="+mn-ea"/>
                          <a:cs typeface="Times New Roman" panose="02020603050405020304"/>
                        </a:rPr>
                        <a:t>读未提交</a:t>
                      </a:r>
                      <a:endParaRPr lang="zh-CN" sz="1800" b="1" kern="100" baseline="0" dirty="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548630">
                <a:tc>
                  <a:txBody>
                    <a:bodyPr/>
                    <a:lstStyle/>
                    <a:p>
                      <a:pPr algn="just">
                        <a:spcAft>
                          <a:spcPts val="0"/>
                        </a:spcAft>
                      </a:pPr>
                      <a:r>
                        <a:rPr lang="zh-CN" sz="1800" b="1" kern="100" baseline="0">
                          <a:effectLst/>
                          <a:latin typeface="Arial" panose="020B0604020202020204" pitchFamily="34" charset="0"/>
                          <a:ea typeface="+mn-ea"/>
                        </a:rPr>
                        <a:t>二级封锁协议</a:t>
                      </a:r>
                      <a:endParaRPr lang="zh-CN" sz="1800" b="1" kern="100" baseline="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en-US" sz="1800" b="1" kern="100" baseline="0">
                          <a:effectLst/>
                          <a:latin typeface="Arial" panose="020B0604020202020204" pitchFamily="34" charset="0"/>
                          <a:ea typeface="+mn-ea"/>
                        </a:rPr>
                        <a:t> </a:t>
                      </a:r>
                      <a:endParaRPr lang="zh-CN" sz="1800" b="1" kern="100" baseline="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zh-CN" sz="1800" b="1" kern="100" baseline="0" dirty="0">
                          <a:effectLst/>
                          <a:latin typeface="Arial" panose="020B0604020202020204" pitchFamily="34" charset="0"/>
                          <a:ea typeface="+mn-ea"/>
                        </a:rPr>
                        <a:t>√</a:t>
                      </a:r>
                      <a:endParaRPr lang="zh-CN" sz="1800" b="1" kern="100" baseline="0" dirty="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zh-CN" sz="1800" b="1" kern="100" baseline="0" dirty="0">
                          <a:effectLst/>
                          <a:latin typeface="Arial" panose="020B0604020202020204" pitchFamily="34" charset="0"/>
                          <a:ea typeface="+mn-ea"/>
                        </a:rPr>
                        <a:t>√</a:t>
                      </a:r>
                      <a:endParaRPr lang="zh-CN" sz="1800" b="1" kern="100" baseline="0" dirty="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en-US" sz="1800" b="1" kern="100" baseline="0" dirty="0">
                          <a:effectLst/>
                          <a:latin typeface="Arial" panose="020B0604020202020204" pitchFamily="34" charset="0"/>
                          <a:ea typeface="+mn-ea"/>
                        </a:rPr>
                        <a:t> </a:t>
                      </a:r>
                      <a:endParaRPr lang="zh-CN" sz="1800" b="1" kern="100" baseline="0" dirty="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zh-CN" sz="1800" b="1" kern="100" baseline="0" dirty="0">
                          <a:effectLst/>
                          <a:latin typeface="Arial" panose="020B0604020202020204" pitchFamily="34" charset="0"/>
                          <a:ea typeface="+mn-ea"/>
                        </a:rPr>
                        <a:t>√</a:t>
                      </a:r>
                      <a:endParaRPr lang="zh-CN" sz="1800" b="1" kern="100" baseline="0" dirty="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zh-CN" sz="1800" b="1" kern="100" baseline="0" dirty="0">
                          <a:effectLst/>
                          <a:latin typeface="Arial" panose="020B0604020202020204" pitchFamily="34" charset="0"/>
                          <a:ea typeface="+mn-ea"/>
                        </a:rPr>
                        <a:t>√</a:t>
                      </a:r>
                      <a:endParaRPr lang="zh-CN" sz="1800" b="1" kern="100" baseline="0" dirty="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en-US" sz="1800" b="1" kern="100" baseline="0" dirty="0">
                          <a:effectLst/>
                          <a:latin typeface="Arial" panose="020B0604020202020204" pitchFamily="34" charset="0"/>
                          <a:ea typeface="+mn-ea"/>
                        </a:rPr>
                        <a:t> </a:t>
                      </a:r>
                      <a:endParaRPr lang="zh-CN" sz="1800" b="1" kern="100" baseline="0" dirty="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zh-CN" altLang="en-US" sz="1800" b="1" kern="100" baseline="0" dirty="0">
                          <a:effectLst/>
                          <a:latin typeface="Arial" panose="020B0604020202020204" pitchFamily="34" charset="0"/>
                          <a:ea typeface="+mn-ea"/>
                          <a:cs typeface="Times New Roman" panose="02020603050405020304"/>
                        </a:rPr>
                        <a:t>读已提交</a:t>
                      </a:r>
                      <a:endParaRPr lang="zh-CN" sz="1800" b="1" kern="100" baseline="0" dirty="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548630">
                <a:tc>
                  <a:txBody>
                    <a:bodyPr/>
                    <a:lstStyle/>
                    <a:p>
                      <a:pPr algn="just">
                        <a:spcAft>
                          <a:spcPts val="0"/>
                        </a:spcAft>
                      </a:pPr>
                      <a:r>
                        <a:rPr lang="zh-CN" sz="1800" b="1" kern="100" baseline="0">
                          <a:effectLst/>
                          <a:latin typeface="Arial" panose="020B0604020202020204" pitchFamily="34" charset="0"/>
                          <a:ea typeface="+mn-ea"/>
                        </a:rPr>
                        <a:t>三级封锁协议</a:t>
                      </a:r>
                      <a:endParaRPr lang="zh-CN" sz="1800" b="1" kern="100" baseline="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en-US" sz="1800" b="1" kern="100" baseline="0">
                          <a:effectLst/>
                          <a:latin typeface="Arial" panose="020B0604020202020204" pitchFamily="34" charset="0"/>
                          <a:ea typeface="+mn-ea"/>
                        </a:rPr>
                        <a:t> </a:t>
                      </a:r>
                      <a:endParaRPr lang="zh-CN" sz="1800" b="1" kern="100" baseline="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zh-CN" sz="1800" b="1" kern="100" baseline="0">
                          <a:effectLst/>
                          <a:latin typeface="Arial" panose="020B0604020202020204" pitchFamily="34" charset="0"/>
                          <a:ea typeface="+mn-ea"/>
                        </a:rPr>
                        <a:t>√</a:t>
                      </a:r>
                      <a:endParaRPr lang="zh-CN" sz="1800" b="1" kern="100" baseline="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en-US" sz="1800" b="1" kern="100" baseline="0">
                          <a:effectLst/>
                          <a:latin typeface="Arial" panose="020B0604020202020204" pitchFamily="34" charset="0"/>
                          <a:ea typeface="+mn-ea"/>
                        </a:rPr>
                        <a:t> </a:t>
                      </a:r>
                      <a:endParaRPr lang="zh-CN" sz="1800" b="1" kern="100" baseline="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zh-CN" sz="1800" b="1" kern="100" baseline="0">
                          <a:effectLst/>
                          <a:latin typeface="Arial" panose="020B0604020202020204" pitchFamily="34" charset="0"/>
                          <a:ea typeface="+mn-ea"/>
                        </a:rPr>
                        <a:t>√</a:t>
                      </a:r>
                      <a:endParaRPr lang="zh-CN" sz="1800" b="1" kern="100" baseline="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zh-CN" sz="1800" b="1" kern="100" baseline="0" dirty="0">
                          <a:effectLst/>
                          <a:latin typeface="Arial" panose="020B0604020202020204" pitchFamily="34" charset="0"/>
                          <a:ea typeface="+mn-ea"/>
                        </a:rPr>
                        <a:t>√</a:t>
                      </a:r>
                      <a:endParaRPr lang="zh-CN" sz="1800" b="1" kern="100" baseline="0" dirty="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zh-CN" sz="1800" b="1" kern="100" baseline="0" dirty="0">
                          <a:effectLst/>
                          <a:latin typeface="Arial" panose="020B0604020202020204" pitchFamily="34" charset="0"/>
                          <a:ea typeface="+mn-ea"/>
                        </a:rPr>
                        <a:t>√</a:t>
                      </a:r>
                      <a:endParaRPr lang="zh-CN" sz="1800" b="1" kern="100" baseline="0" dirty="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zh-CN" sz="1800" b="1" kern="100" baseline="0" dirty="0">
                          <a:effectLst/>
                          <a:latin typeface="Arial" panose="020B0604020202020204" pitchFamily="34" charset="0"/>
                          <a:ea typeface="+mn-ea"/>
                        </a:rPr>
                        <a:t>√</a:t>
                      </a:r>
                      <a:endParaRPr lang="zh-CN" sz="1800" b="1" kern="100" baseline="0" dirty="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zh-CN" altLang="en-US" sz="1800" b="1" kern="100" baseline="0" dirty="0">
                          <a:effectLst/>
                          <a:latin typeface="Arial" panose="020B0604020202020204" pitchFamily="34" charset="0"/>
                          <a:ea typeface="+mn-ea"/>
                          <a:cs typeface="Times New Roman" panose="02020603050405020304"/>
                        </a:rPr>
                        <a:t>可串行化</a:t>
                      </a:r>
                      <a:endParaRPr lang="zh-CN" sz="1800" b="1" kern="100" baseline="0" dirty="0">
                        <a:effectLst/>
                        <a:latin typeface="Arial" panose="020B0604020202020204" pitchFamily="34" charset="0"/>
                        <a:ea typeface="+mn-ea"/>
                        <a:cs typeface="Times New Roman" panose="02020603050405020304"/>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p:cNvSpPr>
          <p:nvPr>
            <p:ph type="title"/>
          </p:nvPr>
        </p:nvSpPr>
        <p:spPr>
          <a:xfrm>
            <a:off x="2438400" y="184150"/>
            <a:ext cx="7391400" cy="563563"/>
          </a:xfrm>
        </p:spPr>
        <p:txBody>
          <a:bodyPr vert="horz" wrap="square" lIns="91440" tIns="45720" rIns="91440" bIns="45720" anchor="ctr" anchorCtr="0"/>
          <a:lstStyle/>
          <a:p>
            <a:pPr eaLnBrk="1" hangingPunct="1"/>
            <a:r>
              <a:rPr lang="zh-CN" altLang="zh-CN" sz="3600" dirty="0"/>
              <a:t>第十</a:t>
            </a:r>
            <a:r>
              <a:rPr lang="zh-CN" altLang="en-US" sz="3600" dirty="0"/>
              <a:t>二</a:t>
            </a:r>
            <a:r>
              <a:rPr lang="zh-CN" altLang="zh-CN" sz="3600" dirty="0"/>
              <a:t>章  并发控制</a:t>
            </a:r>
          </a:p>
        </p:txBody>
      </p:sp>
      <p:sp>
        <p:nvSpPr>
          <p:cNvPr id="50179" name="Rectangle 3"/>
          <p:cNvSpPr>
            <a:spLocks noGrp="1"/>
          </p:cNvSpPr>
          <p:nvPr>
            <p:ph type="body"/>
          </p:nvPr>
        </p:nvSpPr>
        <p:spPr>
          <a:xfrm>
            <a:off x="1271588" y="873125"/>
            <a:ext cx="7715250" cy="5111750"/>
          </a:xfrm>
        </p:spPr>
        <p:txBody>
          <a:bodyPr vert="horz" wrap="square" lIns="91440" tIns="45720" rIns="91440" bIns="45720" anchor="t" anchorCtr="0"/>
          <a:lstStyle/>
          <a:p>
            <a:pPr marL="0" indent="0" algn="just" eaLnBrk="1" hangingPunct="1">
              <a:lnSpc>
                <a:spcPct val="130000"/>
              </a:lnSpc>
              <a:buNone/>
            </a:pPr>
            <a:r>
              <a:rPr lang="en-US" altLang="zh-CN" sz="2400" dirty="0"/>
              <a:t>12.1  </a:t>
            </a:r>
            <a:r>
              <a:rPr lang="zh-CN" altLang="en-US" sz="2400" dirty="0"/>
              <a:t>并发控制概述</a:t>
            </a:r>
          </a:p>
          <a:p>
            <a:pPr marL="0" indent="0" algn="just" eaLnBrk="1" hangingPunct="1">
              <a:lnSpc>
                <a:spcPct val="130000"/>
              </a:lnSpc>
              <a:buNone/>
            </a:pPr>
            <a:r>
              <a:rPr lang="en-US" altLang="zh-CN" sz="2400" dirty="0"/>
              <a:t>12.2  </a:t>
            </a:r>
            <a:r>
              <a:rPr lang="zh-CN" altLang="en-US" sz="2400" dirty="0"/>
              <a:t>事务的隔离级别</a:t>
            </a:r>
            <a:endParaRPr lang="en-US" altLang="zh-CN" sz="2400" dirty="0"/>
          </a:p>
          <a:p>
            <a:pPr marL="0" indent="0" algn="just" eaLnBrk="1" hangingPunct="1">
              <a:lnSpc>
                <a:spcPct val="130000"/>
              </a:lnSpc>
              <a:buNone/>
            </a:pPr>
            <a:r>
              <a:rPr lang="en-US" altLang="zh-CN" sz="2400" dirty="0"/>
              <a:t>12.3  </a:t>
            </a:r>
            <a:r>
              <a:rPr lang="zh-CN" altLang="en-US" sz="2400" dirty="0"/>
              <a:t>封锁</a:t>
            </a:r>
            <a:endParaRPr lang="en-US" altLang="zh-CN" sz="2400" dirty="0"/>
          </a:p>
          <a:p>
            <a:pPr marL="0" indent="0" algn="just" eaLnBrk="1" hangingPunct="1">
              <a:lnSpc>
                <a:spcPct val="130000"/>
              </a:lnSpc>
              <a:buNone/>
            </a:pPr>
            <a:r>
              <a:rPr lang="en-US" altLang="zh-CN" sz="2400" dirty="0"/>
              <a:t>12.4 </a:t>
            </a:r>
            <a:r>
              <a:rPr lang="zh-CN" altLang="en-US" sz="2400" dirty="0"/>
              <a:t> 封锁协议</a:t>
            </a:r>
          </a:p>
          <a:p>
            <a:pPr marL="0" indent="0" algn="just" eaLnBrk="1" hangingPunct="1">
              <a:lnSpc>
                <a:spcPct val="130000"/>
              </a:lnSpc>
              <a:buNone/>
            </a:pPr>
            <a:r>
              <a:rPr lang="en-US" altLang="zh-CN" sz="2400" dirty="0">
                <a:solidFill>
                  <a:srgbClr val="0066FF"/>
                </a:solidFill>
              </a:rPr>
              <a:t>12.5  </a:t>
            </a:r>
            <a:r>
              <a:rPr lang="zh-CN" altLang="en-US" sz="2400" dirty="0">
                <a:solidFill>
                  <a:srgbClr val="0066FF"/>
                </a:solidFill>
              </a:rPr>
              <a:t>活锁和死锁</a:t>
            </a:r>
          </a:p>
          <a:p>
            <a:pPr marL="0" indent="0" algn="just" eaLnBrk="1" hangingPunct="1">
              <a:lnSpc>
                <a:spcPct val="130000"/>
              </a:lnSpc>
              <a:buNone/>
            </a:pPr>
            <a:r>
              <a:rPr lang="en-US" altLang="zh-CN" sz="2400" dirty="0"/>
              <a:t>12.6  </a:t>
            </a:r>
            <a:r>
              <a:rPr lang="zh-CN" altLang="en-US" sz="2400" dirty="0"/>
              <a:t>并发调度的可串行性</a:t>
            </a:r>
          </a:p>
          <a:p>
            <a:pPr marL="0" indent="0" algn="just" eaLnBrk="1" hangingPunct="1">
              <a:lnSpc>
                <a:spcPct val="130000"/>
              </a:lnSpc>
              <a:buNone/>
            </a:pPr>
            <a:r>
              <a:rPr lang="en-US" altLang="zh-CN" sz="2400" dirty="0"/>
              <a:t>12.7  </a:t>
            </a:r>
            <a:r>
              <a:rPr lang="zh-CN" altLang="en-US" sz="2400" dirty="0"/>
              <a:t>两段锁协议</a:t>
            </a:r>
          </a:p>
          <a:p>
            <a:pPr marL="0" indent="0" algn="just" eaLnBrk="1" hangingPunct="1">
              <a:lnSpc>
                <a:spcPct val="130000"/>
              </a:lnSpc>
              <a:buNone/>
            </a:pPr>
            <a:r>
              <a:rPr lang="en-US" altLang="zh-CN" sz="2400" dirty="0"/>
              <a:t>12.8  </a:t>
            </a:r>
            <a:r>
              <a:rPr lang="zh-CN" altLang="en-US" sz="2400" dirty="0"/>
              <a:t>封锁的粒度</a:t>
            </a:r>
          </a:p>
          <a:p>
            <a:pPr marL="0" indent="0" algn="just" eaLnBrk="1" hangingPunct="1">
              <a:lnSpc>
                <a:spcPct val="130000"/>
              </a:lnSpc>
              <a:buNone/>
            </a:pPr>
            <a:r>
              <a:rPr lang="zh-CN" altLang="en-US" sz="2400" dirty="0"/>
              <a:t>*</a:t>
            </a:r>
            <a:r>
              <a:rPr lang="en-US" altLang="zh-CN" sz="2400" dirty="0"/>
              <a:t>12.9  </a:t>
            </a:r>
            <a:r>
              <a:rPr lang="zh-CN" altLang="en-US" sz="2400" dirty="0"/>
              <a:t>其他并发控制机制</a:t>
            </a:r>
          </a:p>
          <a:p>
            <a:pPr marL="0" indent="0" algn="just" eaLnBrk="1" hangingPunct="1">
              <a:lnSpc>
                <a:spcPct val="130000"/>
              </a:lnSpc>
              <a:buNone/>
            </a:pPr>
            <a:r>
              <a:rPr lang="zh-CN" altLang="en-US" sz="2400" dirty="0"/>
              <a:t>1</a:t>
            </a:r>
            <a:r>
              <a:rPr lang="en-US" altLang="zh-CN" sz="2400" dirty="0"/>
              <a:t>2</a:t>
            </a:r>
            <a:r>
              <a:rPr lang="zh-CN" altLang="en-US" sz="2400" dirty="0"/>
              <a:t>.</a:t>
            </a:r>
            <a:r>
              <a:rPr lang="en-US" altLang="zh-CN" sz="2400" dirty="0"/>
              <a:t>10</a:t>
            </a:r>
            <a:r>
              <a:rPr lang="zh-CN" altLang="en-US" sz="2400" dirty="0"/>
              <a:t>  小结</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en-US" altLang="zh-CN" sz="3600" dirty="0"/>
              <a:t>12.5  </a:t>
            </a:r>
            <a:r>
              <a:rPr lang="zh-CN" altLang="en-US" sz="3600" dirty="0"/>
              <a:t>活锁和死锁</a:t>
            </a:r>
          </a:p>
        </p:txBody>
      </p:sp>
      <p:sp>
        <p:nvSpPr>
          <p:cNvPr id="51203" name="Rectangle 3"/>
          <p:cNvSpPr>
            <a:spLocks noGrp="1"/>
          </p:cNvSpPr>
          <p:nvPr>
            <p:ph type="body"/>
          </p:nvPr>
        </p:nvSpPr>
        <p:spPr>
          <a:xfrm>
            <a:off x="1127125" y="1412875"/>
            <a:ext cx="9659938" cy="4983163"/>
          </a:xfrm>
        </p:spPr>
        <p:txBody>
          <a:bodyPr vert="horz" wrap="square" lIns="91440" tIns="45720" rIns="91440" bIns="45720" anchor="t" anchorCtr="0"/>
          <a:lstStyle/>
          <a:p>
            <a:pPr eaLnBrk="1" hangingPunct="1"/>
            <a:r>
              <a:rPr lang="zh-CN" altLang="en-US" dirty="0"/>
              <a:t>封锁技术可以有效地解决并行操作的一致性问题，但也带来一些新的问题</a:t>
            </a:r>
          </a:p>
          <a:p>
            <a:pPr lvl="1" eaLnBrk="1" hangingPunct="1">
              <a:lnSpc>
                <a:spcPct val="160000"/>
              </a:lnSpc>
            </a:pPr>
            <a:r>
              <a:rPr lang="zh-CN" altLang="en-US" dirty="0"/>
              <a:t>死锁</a:t>
            </a:r>
          </a:p>
          <a:p>
            <a:pPr lvl="1" eaLnBrk="1" hangingPunct="1">
              <a:lnSpc>
                <a:spcPct val="160000"/>
              </a:lnSpc>
            </a:pPr>
            <a:r>
              <a:rPr lang="zh-CN" altLang="en-US" dirty="0"/>
              <a:t>活锁</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内容占位符 2"/>
          <p:cNvSpPr>
            <a:spLocks noGrp="1"/>
          </p:cNvSpPr>
          <p:nvPr>
            <p:ph idx="1"/>
          </p:nvPr>
        </p:nvSpPr>
        <p:spPr>
          <a:xfrm>
            <a:off x="1558925" y="1341438"/>
            <a:ext cx="8229600" cy="4911725"/>
          </a:xfrm>
        </p:spPr>
        <p:txBody>
          <a:bodyPr vert="horz" wrap="square" lIns="91440" tIns="45720" rIns="91440" bIns="45720" anchor="t" anchorCtr="0"/>
          <a:lstStyle/>
          <a:p>
            <a:pPr marL="0" indent="0" eaLnBrk="1" hangingPunct="1">
              <a:buNone/>
            </a:pPr>
            <a:r>
              <a:rPr lang="en-US" altLang="zh-CN" dirty="0">
                <a:solidFill>
                  <a:srgbClr val="00B050"/>
                </a:solidFill>
              </a:rPr>
              <a:t>12.5.1 </a:t>
            </a:r>
            <a:r>
              <a:rPr lang="zh-CN" altLang="en-US" dirty="0">
                <a:solidFill>
                  <a:srgbClr val="00B050"/>
                </a:solidFill>
              </a:rPr>
              <a:t>活锁</a:t>
            </a:r>
          </a:p>
          <a:p>
            <a:pPr marL="0" indent="0" eaLnBrk="1" hangingPunct="1">
              <a:buNone/>
            </a:pPr>
            <a:endParaRPr lang="en-US" altLang="zh-CN" dirty="0"/>
          </a:p>
          <a:p>
            <a:pPr marL="0" indent="0" eaLnBrk="1" hangingPunct="1">
              <a:buNone/>
            </a:pPr>
            <a:r>
              <a:rPr lang="en-US" altLang="zh-CN" dirty="0"/>
              <a:t>12.5.2 </a:t>
            </a:r>
            <a:r>
              <a:rPr lang="zh-CN" altLang="en-US" dirty="0"/>
              <a:t>死锁</a:t>
            </a:r>
          </a:p>
        </p:txBody>
      </p:sp>
      <p:sp>
        <p:nvSpPr>
          <p:cNvPr id="52227" name="Rectangle 2"/>
          <p:cNvSpPr txBox="1"/>
          <p:nvPr/>
        </p:nvSpPr>
        <p:spPr>
          <a:xfrm>
            <a:off x="2438400" y="255588"/>
            <a:ext cx="7391400" cy="563562"/>
          </a:xfrm>
          <a:prstGeom prst="rect">
            <a:avLst/>
          </a:prstGeom>
          <a:noFill/>
          <a:ln w="9525">
            <a:noFill/>
          </a:ln>
        </p:spPr>
        <p:txBody>
          <a:bodyPr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SzTx/>
              <a:buFont typeface="Arial" panose="020B0604020202020204" pitchFamily="34" charset="0"/>
              <a:buNone/>
            </a:pPr>
            <a:r>
              <a:rPr lang="en-US" altLang="zh-CN" sz="3600" dirty="0">
                <a:solidFill>
                  <a:schemeClr val="bg1"/>
                </a:solidFill>
              </a:rPr>
              <a:t>12.5  </a:t>
            </a:r>
            <a:r>
              <a:rPr lang="zh-CN" altLang="en-US" sz="3600" dirty="0">
                <a:solidFill>
                  <a:schemeClr val="bg1"/>
                </a:solidFill>
              </a:rPr>
              <a:t>活锁和死锁</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en-US" altLang="zh-CN" sz="3600" dirty="0"/>
              <a:t>12.5.1 </a:t>
            </a:r>
            <a:r>
              <a:rPr lang="zh-CN" altLang="en-US" sz="3600" dirty="0"/>
              <a:t>活锁</a:t>
            </a:r>
          </a:p>
        </p:txBody>
      </p:sp>
      <p:sp>
        <p:nvSpPr>
          <p:cNvPr id="53251" name="Text Box 5"/>
          <p:cNvSpPr txBox="1"/>
          <p:nvPr/>
        </p:nvSpPr>
        <p:spPr>
          <a:xfrm>
            <a:off x="3556000" y="2138363"/>
            <a:ext cx="18415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None/>
            </a:pPr>
            <a:endParaRPr lang="zh-CN" altLang="zh-CN" sz="1800" dirty="0">
              <a:latin typeface="Times New Roman" panose="02020603050405020304" pitchFamily="18" charset="0"/>
            </a:endParaRPr>
          </a:p>
        </p:txBody>
      </p:sp>
      <p:sp>
        <p:nvSpPr>
          <p:cNvPr id="53252" name="Rectangle 7"/>
          <p:cNvSpPr>
            <a:spLocks noGrp="1"/>
          </p:cNvSpPr>
          <p:nvPr>
            <p:ph type="body"/>
          </p:nvPr>
        </p:nvSpPr>
        <p:spPr>
          <a:xfrm>
            <a:off x="766763" y="1125538"/>
            <a:ext cx="10298112" cy="4768850"/>
          </a:xfrm>
        </p:spPr>
        <p:txBody>
          <a:bodyPr vert="horz" wrap="square" lIns="91440" tIns="45720" rIns="91440" bIns="45720" anchor="t" anchorCtr="0"/>
          <a:lstStyle/>
          <a:p>
            <a:pPr eaLnBrk="1" hangingPunct="1">
              <a:lnSpc>
                <a:spcPct val="150000"/>
              </a:lnSpc>
            </a:pPr>
            <a:r>
              <a:rPr lang="zh-CN" altLang="en-US" dirty="0"/>
              <a:t>事务</a:t>
            </a:r>
            <a:r>
              <a:rPr lang="en-US" altLang="zh-CN" dirty="0"/>
              <a:t>T</a:t>
            </a:r>
            <a:r>
              <a:rPr lang="en-US" altLang="zh-CN" baseline="-25000" dirty="0"/>
              <a:t>1</a:t>
            </a:r>
            <a:r>
              <a:rPr lang="zh-CN" altLang="en-US" dirty="0"/>
              <a:t>封锁了数据</a:t>
            </a:r>
            <a:r>
              <a:rPr lang="en-US" altLang="zh-CN" dirty="0"/>
              <a:t>R</a:t>
            </a:r>
          </a:p>
          <a:p>
            <a:pPr eaLnBrk="1" hangingPunct="1">
              <a:lnSpc>
                <a:spcPct val="150000"/>
              </a:lnSpc>
            </a:pPr>
            <a:r>
              <a:rPr lang="zh-CN" altLang="en-US" dirty="0"/>
              <a:t>事务</a:t>
            </a:r>
            <a:r>
              <a:rPr lang="en-US" altLang="zh-CN" dirty="0"/>
              <a:t>T</a:t>
            </a:r>
            <a:r>
              <a:rPr lang="en-US" altLang="zh-CN" baseline="-25000" dirty="0"/>
              <a:t>2</a:t>
            </a:r>
            <a:r>
              <a:rPr lang="zh-CN" altLang="en-US" dirty="0"/>
              <a:t>又请求封锁</a:t>
            </a:r>
            <a:r>
              <a:rPr lang="en-US" altLang="zh-CN" dirty="0"/>
              <a:t>R</a:t>
            </a:r>
            <a:r>
              <a:rPr lang="zh-CN" altLang="en-US" dirty="0"/>
              <a:t>，于是</a:t>
            </a:r>
            <a:r>
              <a:rPr lang="en-US" altLang="zh-CN" dirty="0"/>
              <a:t>T</a:t>
            </a:r>
            <a:r>
              <a:rPr lang="en-US" altLang="zh-CN" baseline="-25000" dirty="0"/>
              <a:t>2</a:t>
            </a:r>
            <a:r>
              <a:rPr lang="zh-CN" altLang="en-US" dirty="0"/>
              <a:t>等待。</a:t>
            </a:r>
          </a:p>
          <a:p>
            <a:pPr eaLnBrk="1" hangingPunct="1">
              <a:lnSpc>
                <a:spcPct val="150000"/>
              </a:lnSpc>
            </a:pPr>
            <a:r>
              <a:rPr lang="en-US" altLang="zh-CN" dirty="0"/>
              <a:t>T</a:t>
            </a:r>
            <a:r>
              <a:rPr lang="en-US" altLang="zh-CN" baseline="-25000" dirty="0"/>
              <a:t>3</a:t>
            </a:r>
            <a:r>
              <a:rPr lang="zh-CN" altLang="en-US" dirty="0"/>
              <a:t>也请求封锁</a:t>
            </a:r>
            <a:r>
              <a:rPr lang="en-US" altLang="zh-CN" dirty="0"/>
              <a:t>R</a:t>
            </a:r>
            <a:r>
              <a:rPr lang="zh-CN" altLang="en-US" dirty="0"/>
              <a:t>，当</a:t>
            </a:r>
            <a:r>
              <a:rPr lang="en-US" altLang="zh-CN" dirty="0"/>
              <a:t>T</a:t>
            </a:r>
            <a:r>
              <a:rPr lang="en-US" altLang="zh-CN" baseline="-25000" dirty="0"/>
              <a:t>1</a:t>
            </a:r>
            <a:r>
              <a:rPr lang="zh-CN" altLang="en-US" dirty="0"/>
              <a:t>释放了</a:t>
            </a:r>
            <a:r>
              <a:rPr lang="en-US" altLang="zh-CN" dirty="0"/>
              <a:t>R</a:t>
            </a:r>
            <a:r>
              <a:rPr lang="zh-CN" altLang="en-US" dirty="0"/>
              <a:t>上的封锁之后系统首先批准了</a:t>
            </a:r>
            <a:r>
              <a:rPr lang="en-US" altLang="zh-CN" dirty="0"/>
              <a:t>T</a:t>
            </a:r>
            <a:r>
              <a:rPr lang="en-US" altLang="zh-CN" baseline="-25000" dirty="0"/>
              <a:t>3</a:t>
            </a:r>
            <a:r>
              <a:rPr lang="zh-CN" altLang="en-US" dirty="0"/>
              <a:t>的请求，</a:t>
            </a:r>
            <a:r>
              <a:rPr lang="en-US" altLang="zh-CN" dirty="0"/>
              <a:t>T</a:t>
            </a:r>
            <a:r>
              <a:rPr lang="en-US" altLang="zh-CN" baseline="-25000" dirty="0"/>
              <a:t>2</a:t>
            </a:r>
            <a:r>
              <a:rPr lang="zh-CN" altLang="en-US" dirty="0"/>
              <a:t>仍然等待。</a:t>
            </a:r>
          </a:p>
          <a:p>
            <a:pPr eaLnBrk="1" hangingPunct="1">
              <a:lnSpc>
                <a:spcPct val="150000"/>
              </a:lnSpc>
            </a:pPr>
            <a:r>
              <a:rPr lang="en-US" altLang="zh-CN" dirty="0"/>
              <a:t>T</a:t>
            </a:r>
            <a:r>
              <a:rPr lang="en-US" altLang="zh-CN" baseline="-25000" dirty="0"/>
              <a:t>4</a:t>
            </a:r>
            <a:r>
              <a:rPr lang="zh-CN" altLang="en-US" dirty="0"/>
              <a:t>又请求封锁</a:t>
            </a:r>
            <a:r>
              <a:rPr lang="en-US" altLang="zh-CN" dirty="0"/>
              <a:t>R</a:t>
            </a:r>
            <a:r>
              <a:rPr lang="zh-CN" altLang="en-US" dirty="0"/>
              <a:t>，当</a:t>
            </a:r>
            <a:r>
              <a:rPr lang="en-US" altLang="zh-CN" dirty="0"/>
              <a:t>T</a:t>
            </a:r>
            <a:r>
              <a:rPr lang="en-US" altLang="zh-CN" baseline="-25000" dirty="0"/>
              <a:t>3</a:t>
            </a:r>
            <a:r>
              <a:rPr lang="zh-CN" altLang="en-US" dirty="0"/>
              <a:t>释放了</a:t>
            </a:r>
            <a:r>
              <a:rPr lang="en-US" altLang="zh-CN" dirty="0"/>
              <a:t>R</a:t>
            </a:r>
            <a:r>
              <a:rPr lang="zh-CN" altLang="en-US" dirty="0"/>
              <a:t>上的封锁之后系统又批准了</a:t>
            </a:r>
            <a:r>
              <a:rPr lang="en-US" altLang="zh-CN" dirty="0"/>
              <a:t>T</a:t>
            </a:r>
            <a:r>
              <a:rPr lang="en-US" altLang="zh-CN" baseline="-25000" dirty="0"/>
              <a:t>4</a:t>
            </a:r>
            <a:r>
              <a:rPr lang="zh-CN" altLang="en-US" dirty="0"/>
              <a:t>的请求</a:t>
            </a:r>
            <a:r>
              <a:rPr lang="en-US" altLang="zh-CN" dirty="0"/>
              <a:t>……</a:t>
            </a:r>
          </a:p>
          <a:p>
            <a:pPr eaLnBrk="1" hangingPunct="1">
              <a:lnSpc>
                <a:spcPct val="150000"/>
              </a:lnSpc>
            </a:pPr>
            <a:r>
              <a:rPr lang="en-US" altLang="zh-CN" dirty="0"/>
              <a:t>T</a:t>
            </a:r>
            <a:r>
              <a:rPr lang="en-US" altLang="zh-CN" baseline="-25000" dirty="0"/>
              <a:t>2</a:t>
            </a:r>
            <a:r>
              <a:rPr lang="zh-CN" altLang="en-US" dirty="0"/>
              <a:t>有可能永远等待，这就是</a:t>
            </a:r>
            <a:r>
              <a:rPr lang="zh-CN" altLang="en-US" dirty="0">
                <a:solidFill>
                  <a:srgbClr val="FF00FF"/>
                </a:solidFill>
              </a:rPr>
              <a:t>活锁</a:t>
            </a:r>
            <a:r>
              <a:rPr lang="zh-CN" altLang="en-US" dirty="0"/>
              <a:t>的情形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活锁（续）</a:t>
            </a:r>
          </a:p>
        </p:txBody>
      </p:sp>
      <p:sp>
        <p:nvSpPr>
          <p:cNvPr id="54275" name="Text Box 5"/>
          <p:cNvSpPr txBox="1"/>
          <p:nvPr/>
        </p:nvSpPr>
        <p:spPr>
          <a:xfrm>
            <a:off x="5448300" y="5989638"/>
            <a:ext cx="1127125"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None/>
            </a:pPr>
            <a:r>
              <a:rPr lang="en-US" altLang="zh-CN" sz="2000" dirty="0">
                <a:latin typeface="Times New Roman" panose="02020603050405020304" pitchFamily="18" charset="0"/>
              </a:rPr>
              <a:t>(a)</a:t>
            </a:r>
            <a:r>
              <a:rPr lang="zh-CN" altLang="zh-CN" sz="2000" dirty="0">
                <a:latin typeface="Times New Roman" panose="02020603050405020304" pitchFamily="18" charset="0"/>
              </a:rPr>
              <a:t>活  锁</a:t>
            </a:r>
          </a:p>
        </p:txBody>
      </p:sp>
      <p:graphicFrame>
        <p:nvGraphicFramePr>
          <p:cNvPr id="2" name="表格 1"/>
          <p:cNvGraphicFramePr>
            <a:graphicFrameLocks noGrp="1"/>
          </p:cNvGraphicFramePr>
          <p:nvPr/>
        </p:nvGraphicFramePr>
        <p:xfrm>
          <a:off x="2279650" y="954088"/>
          <a:ext cx="7550151" cy="5035552"/>
        </p:xfrm>
        <a:graphic>
          <a:graphicData uri="http://schemas.openxmlformats.org/drawingml/2006/table">
            <a:tbl>
              <a:tblPr>
                <a:effectLst/>
                <a:tableStyleId>{5C22544A-7EE6-4342-B048-85BDC9FD1C3A}</a:tableStyleId>
              </a:tblPr>
              <a:tblGrid>
                <a:gridCol w="1554607">
                  <a:extLst>
                    <a:ext uri="{9D8B030D-6E8A-4147-A177-3AD203B41FA5}">
                      <a16:colId xmlns:a16="http://schemas.microsoft.com/office/drawing/2014/main" val="20000"/>
                    </a:ext>
                  </a:extLst>
                </a:gridCol>
                <a:gridCol w="1997586">
                  <a:extLst>
                    <a:ext uri="{9D8B030D-6E8A-4147-A177-3AD203B41FA5}">
                      <a16:colId xmlns:a16="http://schemas.microsoft.com/office/drawing/2014/main" val="20001"/>
                    </a:ext>
                  </a:extLst>
                </a:gridCol>
                <a:gridCol w="1998979">
                  <a:extLst>
                    <a:ext uri="{9D8B030D-6E8A-4147-A177-3AD203B41FA5}">
                      <a16:colId xmlns:a16="http://schemas.microsoft.com/office/drawing/2014/main" val="20002"/>
                    </a:ext>
                  </a:extLst>
                </a:gridCol>
                <a:gridCol w="1998979">
                  <a:extLst>
                    <a:ext uri="{9D8B030D-6E8A-4147-A177-3AD203B41FA5}">
                      <a16:colId xmlns:a16="http://schemas.microsoft.com/office/drawing/2014/main" val="20003"/>
                    </a:ext>
                  </a:extLst>
                </a:gridCol>
              </a:tblGrid>
              <a:tr h="335986">
                <a:tc>
                  <a:txBody>
                    <a:bodyPr/>
                    <a:lstStyle/>
                    <a:p>
                      <a:pPr algn="ctr">
                        <a:spcAft>
                          <a:spcPts val="0"/>
                        </a:spcAft>
                      </a:pPr>
                      <a:r>
                        <a:rPr lang="en-US" sz="2200" b="1" kern="100" dirty="0">
                          <a:effectLst/>
                        </a:rPr>
                        <a:t>T</a:t>
                      </a:r>
                      <a:r>
                        <a:rPr lang="en-US" sz="2200" b="1" kern="100" baseline="-25000" dirty="0">
                          <a:effectLst/>
                        </a:rPr>
                        <a:t>1</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CCFFCC"/>
                    </a:solidFill>
                  </a:tcPr>
                </a:tc>
                <a:tc>
                  <a:txBody>
                    <a:bodyPr/>
                    <a:lstStyle/>
                    <a:p>
                      <a:pPr algn="ctr">
                        <a:spcAft>
                          <a:spcPts val="0"/>
                        </a:spcAft>
                      </a:pPr>
                      <a:r>
                        <a:rPr lang="en-US" sz="2200" b="1" kern="100" dirty="0">
                          <a:effectLst/>
                        </a:rPr>
                        <a:t>T</a:t>
                      </a:r>
                      <a:r>
                        <a:rPr lang="en-US" sz="2200" b="1" kern="100" baseline="-25000" dirty="0">
                          <a:effectLst/>
                        </a:rPr>
                        <a:t>2</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CCFFCC"/>
                    </a:solidFill>
                  </a:tcPr>
                </a:tc>
                <a:tc>
                  <a:txBody>
                    <a:bodyPr/>
                    <a:lstStyle/>
                    <a:p>
                      <a:pPr algn="ctr">
                        <a:spcAft>
                          <a:spcPts val="0"/>
                        </a:spcAft>
                      </a:pPr>
                      <a:r>
                        <a:rPr lang="en-US" sz="2200" b="1" kern="100">
                          <a:effectLst/>
                        </a:rPr>
                        <a:t>T</a:t>
                      </a:r>
                      <a:r>
                        <a:rPr lang="en-US" sz="2200" b="1" kern="100" baseline="-25000">
                          <a:effectLst/>
                        </a:rPr>
                        <a:t>3</a:t>
                      </a:r>
                      <a:endParaRPr lang="zh-CN" sz="2200" b="1" kern="10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CCFFCC"/>
                    </a:solidFill>
                  </a:tcPr>
                </a:tc>
                <a:tc>
                  <a:txBody>
                    <a:bodyPr/>
                    <a:lstStyle/>
                    <a:p>
                      <a:pPr algn="ctr">
                        <a:spcAft>
                          <a:spcPts val="0"/>
                        </a:spcAft>
                      </a:pPr>
                      <a:r>
                        <a:rPr lang="en-US" sz="2200" b="1" kern="100">
                          <a:effectLst/>
                        </a:rPr>
                        <a:t>T</a:t>
                      </a:r>
                      <a:r>
                        <a:rPr lang="en-US" sz="2200" b="1" kern="100" baseline="-25000">
                          <a:effectLst/>
                        </a:rPr>
                        <a:t>4</a:t>
                      </a:r>
                      <a:endParaRPr lang="zh-CN" sz="2200" b="1" kern="10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CCFFCC"/>
                    </a:solidFill>
                  </a:tcPr>
                </a:tc>
                <a:extLst>
                  <a:ext uri="{0D108BD9-81ED-4DB2-BD59-A6C34878D82A}">
                    <a16:rowId xmlns:a16="http://schemas.microsoft.com/office/drawing/2014/main" val="10000"/>
                  </a:ext>
                </a:extLst>
              </a:tr>
              <a:tr h="1005839">
                <a:tc>
                  <a:txBody>
                    <a:bodyPr/>
                    <a:lstStyle/>
                    <a:p>
                      <a:pPr algn="ctr">
                        <a:spcAft>
                          <a:spcPts val="0"/>
                        </a:spcAft>
                      </a:pPr>
                      <a:r>
                        <a:rPr lang="en-US" sz="2200" b="1" kern="100" dirty="0">
                          <a:effectLst/>
                        </a:rPr>
                        <a:t>Lock R</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a:t>
                      </a:r>
                      <a:endParaRPr lang="en-US" altLang="zh-CN" sz="2200" b="1" kern="100" dirty="0">
                        <a:effectLst/>
                      </a:endParaRPr>
                    </a:p>
                    <a:p>
                      <a:pPr marL="0" marR="0" indent="0" algn="ctr" defTabSz="914400" rtl="0" eaLnBrk="1" fontAlgn="auto" latinLnBrk="0" hangingPunct="1">
                        <a:lnSpc>
                          <a:spcPct val="100000"/>
                        </a:lnSpc>
                        <a:spcBef>
                          <a:spcPts val="0"/>
                        </a:spcBef>
                        <a:spcAft>
                          <a:spcPts val="0"/>
                        </a:spcAft>
                        <a:buClrTx/>
                        <a:buSzTx/>
                        <a:buFontTx/>
                        <a:buNone/>
                        <a:defRPr/>
                      </a:pPr>
                      <a:r>
                        <a:rPr lang="zh-CN" altLang="zh-CN" sz="2200" b="1" kern="100" dirty="0">
                          <a:effectLst/>
                        </a:rPr>
                        <a:t>•</a:t>
                      </a:r>
                      <a:endParaRPr lang="en-US" altLang="zh-CN" sz="2200" b="1" kern="100" dirty="0">
                        <a:effectLst/>
                      </a:endParaRPr>
                    </a:p>
                    <a:p>
                      <a:pPr marL="0" marR="0" indent="0" algn="ctr" defTabSz="914400" rtl="0" eaLnBrk="1" fontAlgn="auto" latinLnBrk="0" hangingPunct="1">
                        <a:lnSpc>
                          <a:spcPct val="100000"/>
                        </a:lnSpc>
                        <a:spcBef>
                          <a:spcPts val="0"/>
                        </a:spcBef>
                        <a:spcAft>
                          <a:spcPts val="0"/>
                        </a:spcAft>
                        <a:buClrTx/>
                        <a:buSzTx/>
                        <a:buFontTx/>
                        <a:buNone/>
                        <a:defRPr/>
                      </a:pPr>
                      <a:r>
                        <a:rPr lang="zh-CN" altLang="zh-CN" sz="2200" b="1" kern="100" dirty="0">
                          <a:effectLst/>
                        </a:rPr>
                        <a:t>•</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a:t>
                      </a:r>
                      <a:endParaRPr lang="en-US" altLang="zh-CN" sz="2200" b="1" kern="100" dirty="0">
                        <a:effectLst/>
                      </a:endParaRPr>
                    </a:p>
                    <a:p>
                      <a:pPr marL="0" marR="0" indent="0" algn="ctr" defTabSz="914400" rtl="0" eaLnBrk="1" fontAlgn="auto" latinLnBrk="0" hangingPunct="1">
                        <a:lnSpc>
                          <a:spcPct val="100000"/>
                        </a:lnSpc>
                        <a:spcBef>
                          <a:spcPts val="0"/>
                        </a:spcBef>
                        <a:spcAft>
                          <a:spcPts val="0"/>
                        </a:spcAft>
                        <a:buClrTx/>
                        <a:buSzTx/>
                        <a:buFontTx/>
                        <a:buNone/>
                        <a:defRPr/>
                      </a:pPr>
                      <a:r>
                        <a:rPr lang="zh-CN" altLang="zh-CN" sz="2200" b="1" kern="100" dirty="0">
                          <a:effectLst/>
                        </a:rPr>
                        <a:t>•</a:t>
                      </a:r>
                      <a:endParaRPr lang="en-US" altLang="zh-CN" sz="2200" b="1" kern="100" dirty="0">
                        <a:effectLst/>
                      </a:endParaRPr>
                    </a:p>
                    <a:p>
                      <a:pPr marL="0" marR="0" indent="0" algn="ctr" defTabSz="914400" rtl="0" eaLnBrk="1" fontAlgn="auto" latinLnBrk="0" hangingPunct="1">
                        <a:lnSpc>
                          <a:spcPct val="100000"/>
                        </a:lnSpc>
                        <a:spcBef>
                          <a:spcPts val="0"/>
                        </a:spcBef>
                        <a:spcAft>
                          <a:spcPts val="0"/>
                        </a:spcAft>
                        <a:buClrTx/>
                        <a:buSzTx/>
                        <a:buFontTx/>
                        <a:buNone/>
                        <a:defRPr/>
                      </a:pPr>
                      <a:r>
                        <a:rPr lang="zh-CN" altLang="zh-CN" sz="2200" b="1" kern="100" dirty="0">
                          <a:effectLst/>
                        </a:rPr>
                        <a:t>•</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zh-CN" sz="2200" b="1" kern="100" dirty="0">
                          <a:effectLst/>
                        </a:rPr>
                        <a:t>•</a:t>
                      </a:r>
                      <a:endParaRPr lang="zh-CN" altLang="zh-CN" sz="2200" b="1" kern="100" dirty="0">
                        <a:effectLst/>
                        <a:latin typeface="宋体" panose="02010600030101010101" pitchFamily="2" charset="-122"/>
                        <a:cs typeface="Courier New" panose="02070309020205020404"/>
                      </a:endParaRPr>
                    </a:p>
                    <a:p>
                      <a:pPr marL="0" marR="0" indent="0" algn="ctr" defTabSz="914400" rtl="0" eaLnBrk="1" fontAlgn="auto" latinLnBrk="0" hangingPunct="1">
                        <a:lnSpc>
                          <a:spcPct val="100000"/>
                        </a:lnSpc>
                        <a:spcBef>
                          <a:spcPts val="0"/>
                        </a:spcBef>
                        <a:spcAft>
                          <a:spcPts val="0"/>
                        </a:spcAft>
                        <a:buClrTx/>
                        <a:buSzTx/>
                        <a:buFontTx/>
                        <a:buNone/>
                        <a:defRPr/>
                      </a:pPr>
                      <a:r>
                        <a:rPr lang="zh-CN" altLang="zh-CN" sz="2200" b="1" kern="100" dirty="0">
                          <a:effectLst/>
                        </a:rPr>
                        <a:t>•</a:t>
                      </a:r>
                      <a:endParaRPr lang="zh-CN" altLang="zh-CN" sz="2200" b="1" kern="100" dirty="0">
                        <a:effectLst/>
                        <a:latin typeface="宋体" panose="02010600030101010101" pitchFamily="2" charset="-122"/>
                        <a:cs typeface="Courier New" panose="02070309020205020404"/>
                      </a:endParaRPr>
                    </a:p>
                    <a:p>
                      <a:pPr algn="ctr">
                        <a:spcAft>
                          <a:spcPts val="0"/>
                        </a:spcAft>
                      </a:pPr>
                      <a:r>
                        <a:rPr lang="zh-CN" sz="2200" b="1" kern="100" dirty="0">
                          <a:effectLst/>
                        </a:rPr>
                        <a:t>•</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extLst>
                  <a:ext uri="{0D108BD9-81ED-4DB2-BD59-A6C34878D82A}">
                    <a16:rowId xmlns:a16="http://schemas.microsoft.com/office/drawing/2014/main" val="10001"/>
                  </a:ext>
                </a:extLst>
              </a:tr>
              <a:tr h="335986">
                <a:tc>
                  <a:txBody>
                    <a:bodyPr/>
                    <a:lstStyle/>
                    <a:p>
                      <a:pPr algn="ctr">
                        <a:spcAft>
                          <a:spcPts val="0"/>
                        </a:spcAft>
                      </a:pPr>
                      <a:r>
                        <a:rPr lang="zh-CN" sz="2200" b="1" kern="100" dirty="0">
                          <a:effectLst/>
                        </a:rPr>
                        <a:t>•</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en-US" sz="2200" b="1" kern="100" dirty="0">
                          <a:effectLst/>
                        </a:rPr>
                        <a:t>Lock R</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extLst>
                  <a:ext uri="{0D108BD9-81ED-4DB2-BD59-A6C34878D82A}">
                    <a16:rowId xmlns:a16="http://schemas.microsoft.com/office/drawing/2014/main" val="10002"/>
                  </a:ext>
                </a:extLst>
              </a:tr>
              <a:tr h="335986">
                <a:tc>
                  <a:txBody>
                    <a:bodyPr/>
                    <a:lstStyle/>
                    <a:p>
                      <a:pPr algn="ctr">
                        <a:spcAft>
                          <a:spcPts val="0"/>
                        </a:spcAft>
                      </a:pPr>
                      <a:r>
                        <a:rPr lang="zh-CN" sz="2200" b="1" kern="100" dirty="0">
                          <a:effectLst/>
                        </a:rPr>
                        <a:t>•</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en-US" sz="2200" b="1" kern="100" dirty="0">
                          <a:effectLst/>
                        </a:rPr>
                        <a:t>Lock R</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extLst>
                  <a:ext uri="{0D108BD9-81ED-4DB2-BD59-A6C34878D82A}">
                    <a16:rowId xmlns:a16="http://schemas.microsoft.com/office/drawing/2014/main" val="10003"/>
                  </a:ext>
                </a:extLst>
              </a:tr>
              <a:tr h="33598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zh-CN" sz="2200" b="1" kern="100" dirty="0">
                          <a:effectLst/>
                        </a:rPr>
                        <a:t>•</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en-US" sz="2200" b="1" kern="100" dirty="0">
                          <a:effectLst/>
                        </a:rPr>
                        <a:t>Lock R</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extLst>
                  <a:ext uri="{0D108BD9-81ED-4DB2-BD59-A6C34878D82A}">
                    <a16:rowId xmlns:a16="http://schemas.microsoft.com/office/drawing/2014/main" val="10004"/>
                  </a:ext>
                </a:extLst>
              </a:tr>
              <a:tr h="335986">
                <a:tc>
                  <a:txBody>
                    <a:bodyPr/>
                    <a:lstStyle/>
                    <a:p>
                      <a:pPr algn="ctr">
                        <a:spcAft>
                          <a:spcPts val="0"/>
                        </a:spcAft>
                      </a:pPr>
                      <a:r>
                        <a:rPr lang="en-US" sz="2200" b="1" kern="100" dirty="0">
                          <a:effectLst/>
                        </a:rPr>
                        <a:t>Unlock R</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extLst>
                  <a:ext uri="{0D108BD9-81ED-4DB2-BD59-A6C34878D82A}">
                    <a16:rowId xmlns:a16="http://schemas.microsoft.com/office/drawing/2014/main" val="10005"/>
                  </a:ext>
                </a:extLst>
              </a:tr>
              <a:tr h="335986">
                <a:tc>
                  <a:txBody>
                    <a:bodyPr/>
                    <a:lstStyle/>
                    <a:p>
                      <a:pPr algn="ctr">
                        <a:spcAft>
                          <a:spcPts val="0"/>
                        </a:spcAft>
                      </a:pP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en-US" sz="2200" b="1" kern="100" dirty="0">
                          <a:effectLst/>
                        </a:rPr>
                        <a:t>Lock R</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extLst>
                  <a:ext uri="{0D108BD9-81ED-4DB2-BD59-A6C34878D82A}">
                    <a16:rowId xmlns:a16="http://schemas.microsoft.com/office/drawing/2014/main" val="10006"/>
                  </a:ext>
                </a:extLst>
              </a:tr>
              <a:tr h="335986">
                <a:tc>
                  <a:txBody>
                    <a:bodyPr/>
                    <a:lstStyle/>
                    <a:p>
                      <a:pPr algn="ctr">
                        <a:spcAft>
                          <a:spcPts val="0"/>
                        </a:spcAft>
                      </a:pPr>
                      <a:r>
                        <a:rPr lang="zh-CN" sz="2200" b="1" kern="100" dirty="0">
                          <a:effectLst/>
                        </a:rPr>
                        <a:t>•</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a:effectLst/>
                        </a:rPr>
                        <a:t>•</a:t>
                      </a:r>
                      <a:endParaRPr lang="zh-CN" sz="2200" b="1" kern="10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extLst>
                  <a:ext uri="{0D108BD9-81ED-4DB2-BD59-A6C34878D82A}">
                    <a16:rowId xmlns:a16="http://schemas.microsoft.com/office/drawing/2014/main" val="10007"/>
                  </a:ext>
                </a:extLst>
              </a:tr>
              <a:tr h="335986">
                <a:tc>
                  <a:txBody>
                    <a:bodyPr/>
                    <a:lstStyle/>
                    <a:p>
                      <a:pPr algn="ctr">
                        <a:spcAft>
                          <a:spcPts val="0"/>
                        </a:spcAft>
                      </a:pPr>
                      <a:r>
                        <a:rPr lang="zh-CN" sz="2200" b="1" kern="100" dirty="0">
                          <a:effectLst/>
                        </a:rPr>
                        <a:t>•</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en-US" sz="2200" b="1" kern="100">
                          <a:effectLst/>
                        </a:rPr>
                        <a:t>Unlock</a:t>
                      </a:r>
                      <a:endParaRPr lang="zh-CN" sz="2200" b="1" kern="10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extLst>
                  <a:ext uri="{0D108BD9-81ED-4DB2-BD59-A6C34878D82A}">
                    <a16:rowId xmlns:a16="http://schemas.microsoft.com/office/drawing/2014/main" val="10008"/>
                  </a:ext>
                </a:extLst>
              </a:tr>
              <a:tr h="335986">
                <a:tc>
                  <a:txBody>
                    <a:bodyPr/>
                    <a:lstStyle/>
                    <a:p>
                      <a:pPr algn="ctr">
                        <a:spcAft>
                          <a:spcPts val="0"/>
                        </a:spcAft>
                      </a:pPr>
                      <a:r>
                        <a:rPr lang="zh-CN" sz="2200" b="1" kern="100" dirty="0">
                          <a:effectLst/>
                        </a:rPr>
                        <a:t>•</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en-US" sz="2200" b="1" kern="100" dirty="0">
                          <a:effectLst/>
                        </a:rPr>
                        <a:t>Lock R</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extLst>
                  <a:ext uri="{0D108BD9-81ED-4DB2-BD59-A6C34878D82A}">
                    <a16:rowId xmlns:a16="http://schemas.microsoft.com/office/drawing/2014/main" val="10009"/>
                  </a:ext>
                </a:extLst>
              </a:tr>
              <a:tr h="1005839">
                <a:tc>
                  <a:txBody>
                    <a:bodyPr/>
                    <a:lstStyle/>
                    <a:p>
                      <a:pPr algn="ctr">
                        <a:spcAft>
                          <a:spcPts val="0"/>
                        </a:spcAft>
                      </a:pP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CCFFCC"/>
                    </a:solidFill>
                  </a:tcPr>
                </a:tc>
                <a:tc>
                  <a:txBody>
                    <a:bodyPr/>
                    <a:lstStyle/>
                    <a:p>
                      <a:pPr algn="ctr">
                        <a:spcAft>
                          <a:spcPts val="0"/>
                        </a:spcAft>
                      </a:pPr>
                      <a:r>
                        <a:rPr lang="zh-CN" sz="2200" b="1" kern="100" dirty="0">
                          <a:effectLst/>
                        </a:rPr>
                        <a:t>•</a:t>
                      </a: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CCFFCC"/>
                    </a:solidFill>
                  </a:tcPr>
                </a:tc>
                <a:tc>
                  <a:txBody>
                    <a:bodyPr/>
                    <a:lstStyle/>
                    <a:p>
                      <a:pPr algn="ctr">
                        <a:spcAft>
                          <a:spcPts val="0"/>
                        </a:spcAft>
                      </a:pPr>
                      <a:r>
                        <a:rPr lang="zh-CN" sz="2200" b="1" kern="100" dirty="0">
                          <a:effectLst/>
                        </a:rPr>
                        <a:t>•</a:t>
                      </a:r>
                      <a:endParaRPr lang="en-US" altLang="zh-CN" sz="2200" b="1" kern="100" dirty="0">
                        <a:effectLst/>
                      </a:endParaRPr>
                    </a:p>
                    <a:p>
                      <a:pPr marL="0" marR="0" indent="0" algn="ctr" defTabSz="914400" rtl="0" eaLnBrk="1" fontAlgn="auto" latinLnBrk="0" hangingPunct="1">
                        <a:lnSpc>
                          <a:spcPct val="100000"/>
                        </a:lnSpc>
                        <a:spcBef>
                          <a:spcPts val="0"/>
                        </a:spcBef>
                        <a:spcAft>
                          <a:spcPts val="0"/>
                        </a:spcAft>
                        <a:buClrTx/>
                        <a:buSzTx/>
                        <a:buFontTx/>
                        <a:buNone/>
                        <a:defRPr/>
                      </a:pPr>
                      <a:r>
                        <a:rPr lang="zh-CN" altLang="zh-CN" sz="2200" b="1" kern="100" dirty="0">
                          <a:effectLst/>
                        </a:rPr>
                        <a:t>•</a:t>
                      </a:r>
                      <a:endParaRPr lang="en-US" altLang="zh-CN" sz="2200" b="1" kern="100" dirty="0">
                        <a:effectLst/>
                      </a:endParaRPr>
                    </a:p>
                    <a:p>
                      <a:pPr algn="ctr">
                        <a:spcAft>
                          <a:spcPts val="0"/>
                        </a:spcAft>
                      </a:pPr>
                      <a:endParaRPr lang="zh-CN" sz="2200" b="1" kern="100" dirty="0">
                        <a:effectLst/>
                        <a:latin typeface="宋体" panose="02010600030101010101" pitchFamily="2" charset="-122"/>
                        <a:cs typeface="Courier New" panose="02070309020205020404"/>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CCFFCC"/>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活锁（续）</a:t>
            </a:r>
          </a:p>
        </p:txBody>
      </p:sp>
      <p:sp>
        <p:nvSpPr>
          <p:cNvPr id="55299" name="Rectangle 3"/>
          <p:cNvSpPr>
            <a:spLocks noGrp="1"/>
          </p:cNvSpPr>
          <p:nvPr>
            <p:ph type="body"/>
          </p:nvPr>
        </p:nvSpPr>
        <p:spPr>
          <a:xfrm>
            <a:off x="1271588" y="1268413"/>
            <a:ext cx="10153650" cy="4840287"/>
          </a:xfrm>
        </p:spPr>
        <p:txBody>
          <a:bodyPr vert="horz" wrap="square" lIns="91440" tIns="45720" rIns="91440" bIns="45720" anchor="t" anchorCtr="0"/>
          <a:lstStyle/>
          <a:p>
            <a:pPr algn="just" eaLnBrk="1" hangingPunct="1">
              <a:lnSpc>
                <a:spcPct val="170000"/>
              </a:lnSpc>
            </a:pPr>
            <a:r>
              <a:rPr lang="zh-CN" altLang="en-US" sz="3200" dirty="0"/>
              <a:t>避免活锁：</a:t>
            </a:r>
            <a:r>
              <a:rPr lang="zh-CN" altLang="en-US" dirty="0"/>
              <a:t>采用先来先服务的策略</a:t>
            </a:r>
          </a:p>
          <a:p>
            <a:pPr lvl="1" algn="just" eaLnBrk="1" hangingPunct="1">
              <a:lnSpc>
                <a:spcPct val="170000"/>
              </a:lnSpc>
            </a:pPr>
            <a:r>
              <a:rPr lang="zh-CN" altLang="en-US" dirty="0"/>
              <a:t>当多个事务请求封锁同一数据对象时</a:t>
            </a:r>
          </a:p>
          <a:p>
            <a:pPr lvl="1" algn="just" eaLnBrk="1" hangingPunct="1">
              <a:lnSpc>
                <a:spcPct val="170000"/>
              </a:lnSpc>
            </a:pPr>
            <a:r>
              <a:rPr lang="zh-CN" altLang="en-US" dirty="0"/>
              <a:t>按请求封锁的先后次序对这些事务排队</a:t>
            </a:r>
          </a:p>
          <a:p>
            <a:pPr lvl="1" algn="just" eaLnBrk="1" hangingPunct="1">
              <a:lnSpc>
                <a:spcPct val="170000"/>
              </a:lnSpc>
            </a:pPr>
            <a:r>
              <a:rPr lang="zh-CN" altLang="en-US" dirty="0"/>
              <a:t>该数据对象上的锁一旦释放，首先批准申请队列中第一个事务获得锁</a:t>
            </a:r>
          </a:p>
          <a:p>
            <a:pPr eaLnBrk="1" hangingPunct="1">
              <a:buNone/>
            </a:pPr>
            <a:endParaRPr lang="en-US" altLang="zh-CN"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内容占位符 2"/>
          <p:cNvSpPr>
            <a:spLocks noGrp="1"/>
          </p:cNvSpPr>
          <p:nvPr>
            <p:ph idx="1"/>
          </p:nvPr>
        </p:nvSpPr>
        <p:spPr>
          <a:xfrm>
            <a:off x="1981200" y="1412875"/>
            <a:ext cx="8229600" cy="4911725"/>
          </a:xfrm>
        </p:spPr>
        <p:txBody>
          <a:bodyPr vert="horz" wrap="square" lIns="91440" tIns="45720" rIns="91440" bIns="45720" anchor="t" anchorCtr="0"/>
          <a:lstStyle/>
          <a:p>
            <a:pPr marL="0" indent="0" eaLnBrk="1" hangingPunct="1">
              <a:buNone/>
            </a:pPr>
            <a:r>
              <a:rPr lang="en-US" altLang="zh-CN" dirty="0"/>
              <a:t>12.5.1 </a:t>
            </a:r>
            <a:r>
              <a:rPr lang="zh-CN" altLang="en-US" dirty="0"/>
              <a:t>活锁</a:t>
            </a:r>
          </a:p>
          <a:p>
            <a:pPr marL="0" indent="0" eaLnBrk="1" hangingPunct="1">
              <a:buNone/>
            </a:pPr>
            <a:endParaRPr lang="en-US" altLang="zh-CN" dirty="0"/>
          </a:p>
          <a:p>
            <a:pPr marL="0" indent="0" eaLnBrk="1" hangingPunct="1">
              <a:buNone/>
            </a:pPr>
            <a:r>
              <a:rPr lang="en-US" altLang="zh-CN" dirty="0">
                <a:solidFill>
                  <a:srgbClr val="00B050"/>
                </a:solidFill>
              </a:rPr>
              <a:t>12.5.2 </a:t>
            </a:r>
            <a:r>
              <a:rPr lang="zh-CN" altLang="en-US" dirty="0">
                <a:solidFill>
                  <a:srgbClr val="00B050"/>
                </a:solidFill>
              </a:rPr>
              <a:t>死锁</a:t>
            </a:r>
          </a:p>
        </p:txBody>
      </p:sp>
      <p:sp>
        <p:nvSpPr>
          <p:cNvPr id="56323" name="Rectangle 2"/>
          <p:cNvSpPr txBox="1"/>
          <p:nvPr/>
        </p:nvSpPr>
        <p:spPr>
          <a:xfrm>
            <a:off x="2438400" y="255588"/>
            <a:ext cx="7391400" cy="563562"/>
          </a:xfrm>
          <a:prstGeom prst="rect">
            <a:avLst/>
          </a:prstGeom>
          <a:noFill/>
          <a:ln w="9525">
            <a:noFill/>
          </a:ln>
        </p:spPr>
        <p:txBody>
          <a:bodyPr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SzTx/>
              <a:buFont typeface="Arial" panose="020B0604020202020204" pitchFamily="34" charset="0"/>
              <a:buNone/>
            </a:pPr>
            <a:r>
              <a:rPr lang="en-US" altLang="zh-CN" sz="3600" dirty="0">
                <a:solidFill>
                  <a:schemeClr val="bg1"/>
                </a:solidFill>
              </a:rPr>
              <a:t>12.5  </a:t>
            </a:r>
            <a:r>
              <a:rPr lang="zh-CN" altLang="en-US" sz="3600" dirty="0">
                <a:solidFill>
                  <a:schemeClr val="bg1"/>
                </a:solidFill>
              </a:rPr>
              <a:t>活锁和死锁</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p:cNvSpPr>
          <p:nvPr>
            <p:ph type="title"/>
          </p:nvPr>
        </p:nvSpPr>
        <p:spPr>
          <a:xfrm>
            <a:off x="2438400" y="260350"/>
            <a:ext cx="7391400" cy="563563"/>
          </a:xfrm>
        </p:spPr>
        <p:txBody>
          <a:bodyPr vert="horz" wrap="square" lIns="91440" tIns="45720" rIns="91440" bIns="45720" anchor="ctr" anchorCtr="0"/>
          <a:lstStyle/>
          <a:p>
            <a:pPr eaLnBrk="1" hangingPunct="1"/>
            <a:r>
              <a:rPr lang="en-US" altLang="zh-CN" sz="3600" dirty="0"/>
              <a:t>12.5.2  </a:t>
            </a:r>
            <a:r>
              <a:rPr lang="zh-CN" altLang="en-US" sz="3600" dirty="0"/>
              <a:t>死锁</a:t>
            </a:r>
          </a:p>
        </p:txBody>
      </p:sp>
      <p:sp>
        <p:nvSpPr>
          <p:cNvPr id="57347" name="Rectangle 10"/>
          <p:cNvSpPr>
            <a:spLocks noGrp="1"/>
          </p:cNvSpPr>
          <p:nvPr>
            <p:ph type="body"/>
          </p:nvPr>
        </p:nvSpPr>
        <p:spPr>
          <a:xfrm>
            <a:off x="982663" y="1125538"/>
            <a:ext cx="10729912" cy="4911725"/>
          </a:xfrm>
        </p:spPr>
        <p:txBody>
          <a:bodyPr vert="horz" wrap="square" lIns="91440" tIns="45720" rIns="91440" bIns="45720" anchor="t" anchorCtr="0"/>
          <a:lstStyle/>
          <a:p>
            <a:pPr eaLnBrk="1" hangingPunct="1">
              <a:lnSpc>
                <a:spcPct val="130000"/>
              </a:lnSpc>
            </a:pPr>
            <a:r>
              <a:rPr lang="zh-CN" altLang="en-US" dirty="0"/>
              <a:t>事务</a:t>
            </a:r>
            <a:r>
              <a:rPr lang="en-US" altLang="zh-CN" dirty="0"/>
              <a:t>T</a:t>
            </a:r>
            <a:r>
              <a:rPr lang="en-US" altLang="zh-CN" baseline="-25000" dirty="0"/>
              <a:t>1</a:t>
            </a:r>
            <a:r>
              <a:rPr lang="zh-CN" altLang="en-US" dirty="0"/>
              <a:t>封锁了数据</a:t>
            </a:r>
            <a:r>
              <a:rPr lang="en-US" altLang="zh-CN" dirty="0"/>
              <a:t>R</a:t>
            </a:r>
            <a:r>
              <a:rPr lang="en-US" altLang="zh-CN" baseline="-25000" dirty="0"/>
              <a:t>1</a:t>
            </a:r>
          </a:p>
          <a:p>
            <a:pPr eaLnBrk="1" hangingPunct="1">
              <a:lnSpc>
                <a:spcPct val="130000"/>
              </a:lnSpc>
            </a:pPr>
            <a:r>
              <a:rPr lang="en-US" altLang="zh-CN" dirty="0"/>
              <a:t>T</a:t>
            </a:r>
            <a:r>
              <a:rPr lang="en-US" altLang="zh-CN" baseline="-25000" dirty="0"/>
              <a:t>2</a:t>
            </a:r>
            <a:r>
              <a:rPr lang="zh-CN" altLang="en-US" dirty="0"/>
              <a:t>封锁了数据</a:t>
            </a:r>
            <a:r>
              <a:rPr lang="en-US" altLang="zh-CN" dirty="0"/>
              <a:t>R</a:t>
            </a:r>
            <a:r>
              <a:rPr lang="en-US" altLang="zh-CN" baseline="-25000" dirty="0"/>
              <a:t>2</a:t>
            </a:r>
          </a:p>
          <a:p>
            <a:pPr eaLnBrk="1" hangingPunct="1">
              <a:lnSpc>
                <a:spcPct val="130000"/>
              </a:lnSpc>
            </a:pPr>
            <a:r>
              <a:rPr lang="en-US" altLang="zh-CN" dirty="0"/>
              <a:t>T</a:t>
            </a:r>
            <a:r>
              <a:rPr lang="en-US" altLang="zh-CN" baseline="-25000" dirty="0"/>
              <a:t>1</a:t>
            </a:r>
            <a:r>
              <a:rPr lang="zh-CN" altLang="en-US" dirty="0"/>
              <a:t>又请求封锁</a:t>
            </a:r>
            <a:r>
              <a:rPr lang="en-US" altLang="zh-CN" dirty="0"/>
              <a:t>R</a:t>
            </a:r>
            <a:r>
              <a:rPr lang="en-US" altLang="zh-CN" baseline="-25000" dirty="0"/>
              <a:t>2</a:t>
            </a:r>
            <a:r>
              <a:rPr lang="zh-CN" altLang="en-US" dirty="0"/>
              <a:t>，因</a:t>
            </a:r>
            <a:r>
              <a:rPr lang="en-US" altLang="zh-CN" dirty="0"/>
              <a:t>T</a:t>
            </a:r>
            <a:r>
              <a:rPr lang="en-US" altLang="zh-CN" baseline="-25000" dirty="0"/>
              <a:t>2</a:t>
            </a:r>
            <a:r>
              <a:rPr lang="zh-CN" altLang="en-US" dirty="0"/>
              <a:t>已封锁了</a:t>
            </a:r>
            <a:r>
              <a:rPr lang="en-US" altLang="zh-CN" dirty="0"/>
              <a:t>R</a:t>
            </a:r>
            <a:r>
              <a:rPr lang="en-US" altLang="zh-CN" baseline="-25000" dirty="0"/>
              <a:t>2</a:t>
            </a:r>
            <a:r>
              <a:rPr lang="zh-CN" altLang="en-US" dirty="0"/>
              <a:t>，于是</a:t>
            </a:r>
            <a:r>
              <a:rPr lang="en-US" altLang="zh-CN" dirty="0"/>
              <a:t>T</a:t>
            </a:r>
            <a:r>
              <a:rPr lang="en-US" altLang="zh-CN" baseline="-25000" dirty="0"/>
              <a:t>1</a:t>
            </a:r>
            <a:r>
              <a:rPr lang="zh-CN" altLang="en-US" dirty="0"/>
              <a:t>等待</a:t>
            </a:r>
            <a:r>
              <a:rPr lang="en-US" altLang="zh-CN" dirty="0"/>
              <a:t>T</a:t>
            </a:r>
            <a:r>
              <a:rPr lang="en-US" altLang="zh-CN" baseline="-25000" dirty="0"/>
              <a:t>2</a:t>
            </a:r>
            <a:r>
              <a:rPr lang="zh-CN" altLang="en-US" dirty="0"/>
              <a:t>释放</a:t>
            </a:r>
            <a:r>
              <a:rPr lang="en-US" altLang="zh-CN" dirty="0"/>
              <a:t>R</a:t>
            </a:r>
            <a:r>
              <a:rPr lang="en-US" altLang="zh-CN" baseline="-25000" dirty="0"/>
              <a:t>2</a:t>
            </a:r>
            <a:r>
              <a:rPr lang="zh-CN" altLang="en-US" dirty="0"/>
              <a:t>上的锁</a:t>
            </a:r>
          </a:p>
          <a:p>
            <a:pPr eaLnBrk="1" hangingPunct="1">
              <a:lnSpc>
                <a:spcPct val="130000"/>
              </a:lnSpc>
            </a:pPr>
            <a:r>
              <a:rPr lang="zh-CN" altLang="en-US" dirty="0"/>
              <a:t>接着</a:t>
            </a:r>
            <a:r>
              <a:rPr lang="en-US" altLang="zh-CN" dirty="0"/>
              <a:t>T</a:t>
            </a:r>
            <a:r>
              <a:rPr lang="en-US" altLang="zh-CN" baseline="-25000" dirty="0"/>
              <a:t>2</a:t>
            </a:r>
            <a:r>
              <a:rPr lang="zh-CN" altLang="en-US" dirty="0"/>
              <a:t>又申请封锁</a:t>
            </a:r>
            <a:r>
              <a:rPr lang="en-US" altLang="zh-CN" dirty="0"/>
              <a:t>R</a:t>
            </a:r>
            <a:r>
              <a:rPr lang="en-US" altLang="zh-CN" baseline="-25000" dirty="0"/>
              <a:t>1</a:t>
            </a:r>
            <a:r>
              <a:rPr lang="zh-CN" altLang="en-US" dirty="0"/>
              <a:t>，因</a:t>
            </a:r>
            <a:r>
              <a:rPr lang="en-US" altLang="zh-CN" dirty="0"/>
              <a:t>T</a:t>
            </a:r>
            <a:r>
              <a:rPr lang="en-US" altLang="zh-CN" baseline="-25000" dirty="0"/>
              <a:t>1</a:t>
            </a:r>
            <a:r>
              <a:rPr lang="zh-CN" altLang="en-US" dirty="0"/>
              <a:t>已封锁了</a:t>
            </a:r>
            <a:r>
              <a:rPr lang="en-US" altLang="zh-CN" dirty="0"/>
              <a:t>R</a:t>
            </a:r>
            <a:r>
              <a:rPr lang="en-US" altLang="zh-CN" baseline="-25000" dirty="0"/>
              <a:t>1</a:t>
            </a:r>
            <a:r>
              <a:rPr lang="zh-CN" altLang="en-US" dirty="0"/>
              <a:t>，</a:t>
            </a:r>
            <a:r>
              <a:rPr lang="en-US" altLang="zh-CN" dirty="0"/>
              <a:t>T</a:t>
            </a:r>
            <a:r>
              <a:rPr lang="en-US" altLang="zh-CN" baseline="-25000" dirty="0"/>
              <a:t>2</a:t>
            </a:r>
            <a:r>
              <a:rPr lang="zh-CN" altLang="en-US" dirty="0"/>
              <a:t>也只能等待</a:t>
            </a:r>
            <a:r>
              <a:rPr lang="en-US" altLang="zh-CN" dirty="0"/>
              <a:t>T</a:t>
            </a:r>
            <a:r>
              <a:rPr lang="en-US" altLang="zh-CN" baseline="-25000" dirty="0"/>
              <a:t>1</a:t>
            </a:r>
            <a:r>
              <a:rPr lang="zh-CN" altLang="en-US" dirty="0"/>
              <a:t>释放</a:t>
            </a:r>
            <a:r>
              <a:rPr lang="en-US" altLang="zh-CN" dirty="0"/>
              <a:t>R</a:t>
            </a:r>
            <a:r>
              <a:rPr lang="en-US" altLang="zh-CN" baseline="-25000" dirty="0"/>
              <a:t>1</a:t>
            </a:r>
            <a:r>
              <a:rPr lang="zh-CN" altLang="en-US" dirty="0"/>
              <a:t>上的锁</a:t>
            </a:r>
          </a:p>
          <a:p>
            <a:pPr eaLnBrk="1" hangingPunct="1">
              <a:lnSpc>
                <a:spcPct val="130000"/>
              </a:lnSpc>
            </a:pPr>
            <a:r>
              <a:rPr lang="zh-CN" altLang="en-US" dirty="0"/>
              <a:t>这样</a:t>
            </a:r>
            <a:r>
              <a:rPr lang="en-US" altLang="zh-CN" dirty="0"/>
              <a:t>T</a:t>
            </a:r>
            <a:r>
              <a:rPr lang="en-US" altLang="zh-CN" baseline="-25000" dirty="0"/>
              <a:t>1</a:t>
            </a:r>
            <a:r>
              <a:rPr lang="zh-CN" altLang="en-US" dirty="0"/>
              <a:t>在等待</a:t>
            </a:r>
            <a:r>
              <a:rPr lang="en-US" altLang="zh-CN" dirty="0"/>
              <a:t>T</a:t>
            </a:r>
            <a:r>
              <a:rPr lang="en-US" altLang="zh-CN" baseline="-25000" dirty="0"/>
              <a:t>2</a:t>
            </a:r>
            <a:r>
              <a:rPr lang="zh-CN" altLang="en-US" dirty="0"/>
              <a:t>，而</a:t>
            </a:r>
            <a:r>
              <a:rPr lang="en-US" altLang="zh-CN" dirty="0"/>
              <a:t>T</a:t>
            </a:r>
            <a:r>
              <a:rPr lang="en-US" altLang="zh-CN" baseline="-25000" dirty="0"/>
              <a:t>2</a:t>
            </a:r>
            <a:r>
              <a:rPr lang="zh-CN" altLang="en-US" dirty="0"/>
              <a:t>又在等待</a:t>
            </a:r>
            <a:r>
              <a:rPr lang="en-US" altLang="zh-CN" dirty="0"/>
              <a:t>T</a:t>
            </a:r>
            <a:r>
              <a:rPr lang="en-US" altLang="zh-CN" baseline="-25000" dirty="0"/>
              <a:t>1</a:t>
            </a:r>
            <a:r>
              <a:rPr lang="zh-CN" altLang="en-US" dirty="0"/>
              <a:t>，</a:t>
            </a:r>
            <a:r>
              <a:rPr lang="en-US" altLang="zh-CN" dirty="0"/>
              <a:t>T</a:t>
            </a:r>
            <a:r>
              <a:rPr lang="en-US" altLang="zh-CN" baseline="-25000" dirty="0"/>
              <a:t>1</a:t>
            </a:r>
            <a:r>
              <a:rPr lang="zh-CN" altLang="en-US" dirty="0"/>
              <a:t>和</a:t>
            </a:r>
            <a:r>
              <a:rPr lang="en-US" altLang="zh-CN" dirty="0"/>
              <a:t>T</a:t>
            </a:r>
            <a:r>
              <a:rPr lang="en-US" altLang="zh-CN" baseline="-25000" dirty="0"/>
              <a:t>2</a:t>
            </a:r>
            <a:r>
              <a:rPr lang="zh-CN" altLang="en-US" dirty="0"/>
              <a:t>两个事务永远不能结束，形成</a:t>
            </a:r>
            <a:r>
              <a:rPr lang="zh-CN" altLang="en-US" dirty="0">
                <a:solidFill>
                  <a:srgbClr val="FF00FF"/>
                </a:solidFill>
              </a:rPr>
              <a:t>死锁</a:t>
            </a:r>
            <a:r>
              <a:rPr lang="zh-CN" altLang="en-US" dirty="0"/>
              <a:t>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死锁（续）</a:t>
            </a:r>
          </a:p>
        </p:txBody>
      </p:sp>
      <p:graphicFrame>
        <p:nvGraphicFramePr>
          <p:cNvPr id="2" name="表格 1"/>
          <p:cNvGraphicFramePr>
            <a:graphicFrameLocks noGrp="1"/>
          </p:cNvGraphicFramePr>
          <p:nvPr/>
        </p:nvGraphicFramePr>
        <p:xfrm>
          <a:off x="2782888" y="1052513"/>
          <a:ext cx="5761038" cy="5011738"/>
        </p:xfrm>
        <a:graphic>
          <a:graphicData uri="http://schemas.openxmlformats.org/drawingml/2006/table">
            <a:tbl>
              <a:tblPr>
                <a:tableStyleId>{5C22544A-7EE6-4342-B048-85BDC9FD1C3A}</a:tableStyleId>
              </a:tblPr>
              <a:tblGrid>
                <a:gridCol w="3102097">
                  <a:extLst>
                    <a:ext uri="{9D8B030D-6E8A-4147-A177-3AD203B41FA5}">
                      <a16:colId xmlns:a16="http://schemas.microsoft.com/office/drawing/2014/main" val="20000"/>
                    </a:ext>
                  </a:extLst>
                </a:gridCol>
                <a:gridCol w="2658940">
                  <a:extLst>
                    <a:ext uri="{9D8B030D-6E8A-4147-A177-3AD203B41FA5}">
                      <a16:colId xmlns:a16="http://schemas.microsoft.com/office/drawing/2014/main" val="20001"/>
                    </a:ext>
                  </a:extLst>
                </a:gridCol>
              </a:tblGrid>
              <a:tr h="304799">
                <a:tc>
                  <a:txBody>
                    <a:bodyPr/>
                    <a:lstStyle/>
                    <a:p>
                      <a:pPr algn="ctr">
                        <a:spcAft>
                          <a:spcPts val="0"/>
                        </a:spcAft>
                      </a:pPr>
                      <a:r>
                        <a:rPr lang="en-US" sz="2000" b="1" kern="100" dirty="0">
                          <a:effectLst/>
                        </a:rPr>
                        <a:t>T</a:t>
                      </a:r>
                      <a:r>
                        <a:rPr lang="en-US" sz="2000" b="1" kern="100" baseline="-25000" dirty="0">
                          <a:effectLst/>
                        </a:rPr>
                        <a:t>1</a:t>
                      </a:r>
                      <a:endParaRPr lang="zh-CN" sz="2000" b="1" kern="100" dirty="0">
                        <a:effectLst/>
                        <a:latin typeface="宋体" panose="02010600030101010101" pitchFamily="2" charset="-122"/>
                        <a:cs typeface="Courier New" panose="02070309020205020404"/>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CCFF"/>
                    </a:solidFill>
                  </a:tcPr>
                </a:tc>
                <a:tc>
                  <a:txBody>
                    <a:bodyPr/>
                    <a:lstStyle/>
                    <a:p>
                      <a:pPr algn="ctr">
                        <a:spcAft>
                          <a:spcPts val="0"/>
                        </a:spcAft>
                      </a:pPr>
                      <a:r>
                        <a:rPr lang="en-US" sz="2000" b="1" kern="100">
                          <a:effectLst/>
                        </a:rPr>
                        <a:t>T</a:t>
                      </a:r>
                      <a:r>
                        <a:rPr lang="en-US" sz="2000" b="1" kern="100" baseline="-25000">
                          <a:effectLst/>
                        </a:rPr>
                        <a:t>2</a:t>
                      </a:r>
                      <a:endParaRPr lang="zh-CN" sz="2000" b="1" kern="100">
                        <a:effectLst/>
                        <a:latin typeface="宋体" panose="02010600030101010101" pitchFamily="2" charset="-122"/>
                        <a:cs typeface="Courier New" panose="02070309020205020404"/>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CCFF"/>
                    </a:solidFill>
                  </a:tcPr>
                </a:tc>
                <a:extLst>
                  <a:ext uri="{0D108BD9-81ED-4DB2-BD59-A6C34878D82A}">
                    <a16:rowId xmlns:a16="http://schemas.microsoft.com/office/drawing/2014/main" val="10000"/>
                  </a:ext>
                </a:extLst>
              </a:tr>
              <a:tr h="914396">
                <a:tc>
                  <a:txBody>
                    <a:bodyPr/>
                    <a:lstStyle/>
                    <a:p>
                      <a:pPr algn="ctr">
                        <a:spcAft>
                          <a:spcPts val="0"/>
                        </a:spcAft>
                      </a:pPr>
                      <a:r>
                        <a:rPr lang="en-US" altLang="zh-CN" sz="2000" b="1" kern="100" dirty="0">
                          <a:effectLst/>
                        </a:rPr>
                        <a:t>L</a:t>
                      </a:r>
                      <a:r>
                        <a:rPr lang="en-US" sz="2000" b="1" kern="100" dirty="0">
                          <a:effectLst/>
                        </a:rPr>
                        <a:t>ock R</a:t>
                      </a:r>
                      <a:r>
                        <a:rPr lang="en-US" sz="2000" b="1" kern="100" baseline="-25000" dirty="0">
                          <a:effectLst/>
                        </a:rPr>
                        <a:t>1</a:t>
                      </a:r>
                      <a:endParaRPr lang="zh-CN" sz="2000" b="1" kern="100" dirty="0">
                        <a:effectLst/>
                        <a:latin typeface="宋体" panose="02010600030101010101" pitchFamily="2" charset="-122"/>
                        <a:cs typeface="Courier New" panose="02070309020205020404"/>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tc>
                  <a:txBody>
                    <a:bodyPr/>
                    <a:lstStyle/>
                    <a:p>
                      <a:pPr algn="ctr">
                        <a:spcAft>
                          <a:spcPts val="0"/>
                        </a:spcAft>
                      </a:pPr>
                      <a:r>
                        <a:rPr lang="zh-CN" sz="2000" b="1" kern="100" dirty="0">
                          <a:effectLst/>
                        </a:rPr>
                        <a:t>•</a:t>
                      </a:r>
                      <a:endParaRPr lang="en-US" altLang="zh-CN" sz="2000" b="1" kern="100" dirty="0">
                        <a:effectLst/>
                      </a:endParaRPr>
                    </a:p>
                    <a:p>
                      <a:pPr marL="0" marR="0" indent="0" algn="ctr" defTabSz="914400" rtl="0" eaLnBrk="1" fontAlgn="auto" latinLnBrk="0" hangingPunct="1">
                        <a:lnSpc>
                          <a:spcPct val="100000"/>
                        </a:lnSpc>
                        <a:spcBef>
                          <a:spcPts val="0"/>
                        </a:spcBef>
                        <a:spcAft>
                          <a:spcPts val="0"/>
                        </a:spcAft>
                        <a:buClrTx/>
                        <a:buSzTx/>
                        <a:buFontTx/>
                        <a:buNone/>
                        <a:defRPr/>
                      </a:pPr>
                      <a:r>
                        <a:rPr lang="zh-CN" altLang="zh-CN" sz="2000" b="1" kern="100" dirty="0">
                          <a:effectLst/>
                        </a:rPr>
                        <a:t>•</a:t>
                      </a:r>
                      <a:endParaRPr lang="en-US" altLang="zh-CN" sz="2000" b="1" kern="100" dirty="0">
                        <a:effectLst/>
                      </a:endParaRPr>
                    </a:p>
                    <a:p>
                      <a:pPr marL="0" marR="0" indent="0" algn="ctr" defTabSz="914400" rtl="0" eaLnBrk="1" fontAlgn="auto" latinLnBrk="0" hangingPunct="1">
                        <a:lnSpc>
                          <a:spcPct val="100000"/>
                        </a:lnSpc>
                        <a:spcBef>
                          <a:spcPts val="0"/>
                        </a:spcBef>
                        <a:spcAft>
                          <a:spcPts val="0"/>
                        </a:spcAft>
                        <a:buClrTx/>
                        <a:buSzTx/>
                        <a:buFontTx/>
                        <a:buNone/>
                        <a:defRPr/>
                      </a:pPr>
                      <a:r>
                        <a:rPr lang="zh-CN" altLang="zh-CN" sz="2000" b="1" kern="100" dirty="0">
                          <a:effectLst/>
                        </a:rPr>
                        <a:t>•</a:t>
                      </a:r>
                      <a:endParaRPr lang="zh-CN" sz="2000" b="1" kern="100" dirty="0">
                        <a:effectLst/>
                        <a:latin typeface="宋体" panose="02010600030101010101" pitchFamily="2" charset="-122"/>
                        <a:cs typeface="Courier New" panose="02070309020205020404"/>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extLst>
                  <a:ext uri="{0D108BD9-81ED-4DB2-BD59-A6C34878D82A}">
                    <a16:rowId xmlns:a16="http://schemas.microsoft.com/office/drawing/2014/main" val="10001"/>
                  </a:ext>
                </a:extLst>
              </a:tr>
              <a:tr h="333516">
                <a:tc>
                  <a:txBody>
                    <a:bodyPr/>
                    <a:lstStyle/>
                    <a:p>
                      <a:pPr algn="ctr">
                        <a:spcAft>
                          <a:spcPts val="0"/>
                        </a:spcAft>
                      </a:pPr>
                      <a:r>
                        <a:rPr lang="zh-CN" sz="2000" b="1" kern="100" dirty="0">
                          <a:effectLst/>
                        </a:rPr>
                        <a:t>•</a:t>
                      </a:r>
                      <a:endParaRPr lang="zh-CN" sz="2000" b="1" kern="100" dirty="0">
                        <a:effectLst/>
                        <a:latin typeface="宋体" panose="02010600030101010101" pitchFamily="2" charset="-122"/>
                        <a:cs typeface="Courier New" panose="02070309020205020404"/>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tc>
                  <a:txBody>
                    <a:bodyPr/>
                    <a:lstStyle/>
                    <a:p>
                      <a:pPr algn="ctr">
                        <a:spcAft>
                          <a:spcPts val="0"/>
                        </a:spcAft>
                      </a:pPr>
                      <a:r>
                        <a:rPr lang="en-US" sz="2000" b="1" kern="100">
                          <a:effectLst/>
                        </a:rPr>
                        <a:t>Lock R</a:t>
                      </a:r>
                      <a:r>
                        <a:rPr lang="en-US" sz="2000" b="1" kern="100" baseline="-25000">
                          <a:effectLst/>
                        </a:rPr>
                        <a:t>2</a:t>
                      </a:r>
                      <a:endParaRPr lang="zh-CN" sz="2000" b="1" kern="100">
                        <a:effectLst/>
                        <a:latin typeface="宋体" panose="02010600030101010101" pitchFamily="2" charset="-122"/>
                        <a:cs typeface="Courier New" panose="02070309020205020404"/>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extLst>
                  <a:ext uri="{0D108BD9-81ED-4DB2-BD59-A6C34878D82A}">
                    <a16:rowId xmlns:a16="http://schemas.microsoft.com/office/drawing/2014/main" val="10002"/>
                  </a:ext>
                </a:extLst>
              </a:tr>
              <a:tr h="609597">
                <a:tc>
                  <a:txBody>
                    <a:bodyPr/>
                    <a:lstStyle/>
                    <a:p>
                      <a:pPr algn="ctr">
                        <a:spcAft>
                          <a:spcPts val="0"/>
                        </a:spcAft>
                      </a:pPr>
                      <a:r>
                        <a:rPr lang="zh-CN" sz="2000" b="1" kern="100" dirty="0">
                          <a:effectLst/>
                        </a:rPr>
                        <a:t>•</a:t>
                      </a:r>
                      <a:endParaRPr lang="en-US" altLang="zh-CN" sz="2000" b="1" kern="100" dirty="0">
                        <a:effectLst/>
                      </a:endParaRPr>
                    </a:p>
                    <a:p>
                      <a:pPr marL="0" marR="0" indent="0" algn="ctr" defTabSz="914400" rtl="0" eaLnBrk="1" fontAlgn="auto" latinLnBrk="0" hangingPunct="1">
                        <a:lnSpc>
                          <a:spcPct val="100000"/>
                        </a:lnSpc>
                        <a:spcBef>
                          <a:spcPts val="0"/>
                        </a:spcBef>
                        <a:spcAft>
                          <a:spcPts val="0"/>
                        </a:spcAft>
                        <a:buClrTx/>
                        <a:buSzTx/>
                        <a:buFontTx/>
                        <a:buNone/>
                        <a:defRPr/>
                      </a:pPr>
                      <a:r>
                        <a:rPr lang="zh-CN" altLang="zh-CN" sz="2000" b="1" kern="100" dirty="0">
                          <a:effectLst/>
                        </a:rPr>
                        <a:t>•</a:t>
                      </a:r>
                      <a:endParaRPr lang="zh-CN" sz="2000" b="1" kern="100" dirty="0">
                        <a:effectLst/>
                        <a:latin typeface="宋体" panose="02010600030101010101" pitchFamily="2" charset="-122"/>
                        <a:cs typeface="Courier New" panose="02070309020205020404"/>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sz="2000" b="1" kern="100" dirty="0">
                          <a:effectLst/>
                        </a:rPr>
                        <a:t>•</a:t>
                      </a:r>
                      <a:endParaRPr lang="en-US" altLang="zh-CN" sz="2000" b="1" kern="100" dirty="0">
                        <a:effectLst/>
                      </a:endParaRPr>
                    </a:p>
                    <a:p>
                      <a:pPr marL="0" marR="0" indent="0" algn="ctr" defTabSz="914400" rtl="0" eaLnBrk="1" fontAlgn="auto" latinLnBrk="0" hangingPunct="1">
                        <a:lnSpc>
                          <a:spcPct val="100000"/>
                        </a:lnSpc>
                        <a:spcBef>
                          <a:spcPts val="0"/>
                        </a:spcBef>
                        <a:spcAft>
                          <a:spcPts val="0"/>
                        </a:spcAft>
                        <a:buClrTx/>
                        <a:buSzTx/>
                        <a:buFontTx/>
                        <a:buNone/>
                        <a:defRPr/>
                      </a:pPr>
                      <a:r>
                        <a:rPr lang="zh-CN" altLang="zh-CN" sz="2000" b="1" kern="100" dirty="0">
                          <a:effectLst/>
                        </a:rPr>
                        <a:t>•</a:t>
                      </a:r>
                      <a:endParaRPr lang="zh-CN" sz="2000" b="1" kern="100" dirty="0">
                        <a:effectLst/>
                        <a:latin typeface="宋体" panose="02010600030101010101" pitchFamily="2" charset="-122"/>
                        <a:cs typeface="Courier New" panose="02070309020205020404"/>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extLst>
                  <a:ext uri="{0D108BD9-81ED-4DB2-BD59-A6C34878D82A}">
                    <a16:rowId xmlns:a16="http://schemas.microsoft.com/office/drawing/2014/main" val="10003"/>
                  </a:ext>
                </a:extLst>
              </a:tr>
              <a:tr h="343187">
                <a:tc>
                  <a:txBody>
                    <a:bodyPr/>
                    <a:lstStyle/>
                    <a:p>
                      <a:pPr algn="ctr">
                        <a:spcAft>
                          <a:spcPts val="0"/>
                        </a:spcAft>
                      </a:pPr>
                      <a:r>
                        <a:rPr lang="en-US" sz="2000" b="1" kern="100" dirty="0">
                          <a:effectLst/>
                        </a:rPr>
                        <a:t>Lock R</a:t>
                      </a:r>
                      <a:r>
                        <a:rPr lang="en-US" sz="2000" b="1" kern="100" baseline="-25000" dirty="0">
                          <a:effectLst/>
                        </a:rPr>
                        <a:t>2</a:t>
                      </a:r>
                      <a:endParaRPr lang="zh-CN" sz="2000" b="1" kern="100" dirty="0">
                        <a:effectLst/>
                        <a:latin typeface="宋体" panose="02010600030101010101" pitchFamily="2" charset="-122"/>
                        <a:cs typeface="Courier New" panose="02070309020205020404"/>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tc>
                  <a:txBody>
                    <a:bodyPr/>
                    <a:lstStyle/>
                    <a:p>
                      <a:pPr algn="ctr">
                        <a:spcAft>
                          <a:spcPts val="0"/>
                        </a:spcAft>
                      </a:pPr>
                      <a:r>
                        <a:rPr lang="zh-CN" sz="2000" b="1" kern="100">
                          <a:effectLst/>
                        </a:rPr>
                        <a:t>•</a:t>
                      </a:r>
                      <a:endParaRPr lang="zh-CN" sz="2000" b="1" kern="100">
                        <a:effectLst/>
                        <a:latin typeface="宋体" panose="02010600030101010101" pitchFamily="2" charset="-122"/>
                        <a:cs typeface="Courier New" panose="02070309020205020404"/>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extLst>
                  <a:ext uri="{0D108BD9-81ED-4DB2-BD59-A6C34878D82A}">
                    <a16:rowId xmlns:a16="http://schemas.microsoft.com/office/drawing/2014/main" val="10004"/>
                  </a:ext>
                </a:extLst>
              </a:tr>
              <a:tr h="304799">
                <a:tc>
                  <a:txBody>
                    <a:bodyPr/>
                    <a:lstStyle/>
                    <a:p>
                      <a:pPr algn="ctr">
                        <a:spcAft>
                          <a:spcPts val="0"/>
                        </a:spcAft>
                      </a:pPr>
                      <a:r>
                        <a:rPr lang="zh-CN" sz="2000" b="1" kern="100">
                          <a:effectLst/>
                        </a:rPr>
                        <a:t>等待</a:t>
                      </a:r>
                      <a:endParaRPr lang="zh-CN" sz="2000" b="1" kern="100">
                        <a:effectLst/>
                        <a:latin typeface="宋体" panose="02010600030101010101" pitchFamily="2" charset="-122"/>
                        <a:cs typeface="Courier New" panose="02070309020205020404"/>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tc>
                  <a:txBody>
                    <a:bodyPr/>
                    <a:lstStyle/>
                    <a:p>
                      <a:pPr algn="ctr">
                        <a:spcAft>
                          <a:spcPts val="0"/>
                        </a:spcAft>
                      </a:pPr>
                      <a:endParaRPr lang="zh-CN" sz="2000" b="1" kern="100" dirty="0">
                        <a:effectLst/>
                        <a:latin typeface="宋体" panose="02010600030101010101" pitchFamily="2" charset="-122"/>
                        <a:cs typeface="Courier New" panose="02070309020205020404"/>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extLst>
                  <a:ext uri="{0D108BD9-81ED-4DB2-BD59-A6C34878D82A}">
                    <a16:rowId xmlns:a16="http://schemas.microsoft.com/office/drawing/2014/main" val="10005"/>
                  </a:ext>
                </a:extLst>
              </a:tr>
              <a:tr h="304799">
                <a:tc>
                  <a:txBody>
                    <a:bodyPr/>
                    <a:lstStyle/>
                    <a:p>
                      <a:pPr algn="ctr">
                        <a:spcAft>
                          <a:spcPts val="0"/>
                        </a:spcAft>
                      </a:pPr>
                      <a:r>
                        <a:rPr lang="zh-CN" sz="2000" b="1" kern="100">
                          <a:effectLst/>
                        </a:rPr>
                        <a:t>等待</a:t>
                      </a:r>
                      <a:endParaRPr lang="zh-CN" sz="2000" b="1" kern="100">
                        <a:effectLst/>
                        <a:latin typeface="宋体" panose="02010600030101010101" pitchFamily="2" charset="-122"/>
                        <a:cs typeface="Courier New" panose="02070309020205020404"/>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tc>
                  <a:txBody>
                    <a:bodyPr/>
                    <a:lstStyle/>
                    <a:p>
                      <a:pPr algn="ctr">
                        <a:spcAft>
                          <a:spcPts val="0"/>
                        </a:spcAft>
                      </a:pPr>
                      <a:endParaRPr lang="zh-CN" sz="2000" b="1" kern="100" dirty="0">
                        <a:effectLst/>
                        <a:latin typeface="宋体" panose="02010600030101010101" pitchFamily="2" charset="-122"/>
                        <a:cs typeface="Courier New" panose="02070309020205020404"/>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extLst>
                  <a:ext uri="{0D108BD9-81ED-4DB2-BD59-A6C34878D82A}">
                    <a16:rowId xmlns:a16="http://schemas.microsoft.com/office/drawing/2014/main" val="10006"/>
                  </a:ext>
                </a:extLst>
              </a:tr>
              <a:tr h="372651">
                <a:tc>
                  <a:txBody>
                    <a:bodyPr/>
                    <a:lstStyle/>
                    <a:p>
                      <a:pPr algn="ctr">
                        <a:spcAft>
                          <a:spcPts val="0"/>
                        </a:spcAft>
                      </a:pPr>
                      <a:r>
                        <a:rPr lang="zh-CN" sz="2000" b="1" kern="100">
                          <a:effectLst/>
                        </a:rPr>
                        <a:t>等待</a:t>
                      </a:r>
                      <a:endParaRPr lang="zh-CN" sz="2000" b="1" kern="100">
                        <a:effectLst/>
                        <a:latin typeface="宋体" panose="02010600030101010101" pitchFamily="2" charset="-122"/>
                        <a:cs typeface="Courier New" panose="02070309020205020404"/>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tc>
                  <a:txBody>
                    <a:bodyPr/>
                    <a:lstStyle/>
                    <a:p>
                      <a:pPr algn="ctr">
                        <a:spcAft>
                          <a:spcPts val="0"/>
                        </a:spcAft>
                      </a:pPr>
                      <a:r>
                        <a:rPr lang="en-US" sz="2000" b="1" kern="100">
                          <a:effectLst/>
                        </a:rPr>
                        <a:t>Lock R</a:t>
                      </a:r>
                      <a:r>
                        <a:rPr lang="en-US" sz="2000" b="1" kern="100" baseline="-25000">
                          <a:effectLst/>
                        </a:rPr>
                        <a:t>1</a:t>
                      </a:r>
                      <a:endParaRPr lang="zh-CN" sz="2000" b="1" kern="100">
                        <a:effectLst/>
                        <a:latin typeface="宋体" panose="02010600030101010101" pitchFamily="2" charset="-122"/>
                        <a:cs typeface="Courier New" panose="02070309020205020404"/>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extLst>
                  <a:ext uri="{0D108BD9-81ED-4DB2-BD59-A6C34878D82A}">
                    <a16:rowId xmlns:a16="http://schemas.microsoft.com/office/drawing/2014/main" val="10007"/>
                  </a:ext>
                </a:extLst>
              </a:tr>
              <a:tr h="304799">
                <a:tc>
                  <a:txBody>
                    <a:bodyPr/>
                    <a:lstStyle/>
                    <a:p>
                      <a:pPr algn="ctr">
                        <a:spcAft>
                          <a:spcPts val="0"/>
                        </a:spcAft>
                      </a:pPr>
                      <a:r>
                        <a:rPr lang="zh-CN" sz="2000" b="1" kern="100">
                          <a:effectLst/>
                        </a:rPr>
                        <a:t>等待</a:t>
                      </a:r>
                      <a:endParaRPr lang="zh-CN" sz="2000" b="1" kern="100">
                        <a:effectLst/>
                        <a:latin typeface="宋体" panose="02010600030101010101" pitchFamily="2" charset="-122"/>
                        <a:cs typeface="Courier New" panose="02070309020205020404"/>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tc>
                  <a:txBody>
                    <a:bodyPr/>
                    <a:lstStyle/>
                    <a:p>
                      <a:pPr algn="ctr">
                        <a:spcAft>
                          <a:spcPts val="0"/>
                        </a:spcAft>
                      </a:pPr>
                      <a:r>
                        <a:rPr lang="zh-CN" sz="2000" b="1" kern="100">
                          <a:effectLst/>
                        </a:rPr>
                        <a:t>等待</a:t>
                      </a:r>
                      <a:endParaRPr lang="zh-CN" sz="2000" b="1" kern="100">
                        <a:effectLst/>
                        <a:latin typeface="宋体" panose="02010600030101010101" pitchFamily="2" charset="-122"/>
                        <a:cs typeface="Courier New" panose="02070309020205020404"/>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extLst>
                  <a:ext uri="{0D108BD9-81ED-4DB2-BD59-A6C34878D82A}">
                    <a16:rowId xmlns:a16="http://schemas.microsoft.com/office/drawing/2014/main" val="10008"/>
                  </a:ext>
                </a:extLst>
              </a:tr>
              <a:tr h="304799">
                <a:tc>
                  <a:txBody>
                    <a:bodyPr/>
                    <a:lstStyle/>
                    <a:p>
                      <a:pPr algn="ctr">
                        <a:spcAft>
                          <a:spcPts val="0"/>
                        </a:spcAft>
                      </a:pPr>
                      <a:r>
                        <a:rPr lang="zh-CN" sz="2000" b="1" kern="100">
                          <a:effectLst/>
                        </a:rPr>
                        <a:t>等待</a:t>
                      </a:r>
                      <a:endParaRPr lang="zh-CN" sz="2000" b="1" kern="100">
                        <a:effectLst/>
                        <a:latin typeface="宋体" panose="02010600030101010101" pitchFamily="2" charset="-122"/>
                        <a:cs typeface="Courier New" panose="02070309020205020404"/>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tc>
                  <a:txBody>
                    <a:bodyPr/>
                    <a:lstStyle/>
                    <a:p>
                      <a:pPr algn="ctr">
                        <a:spcAft>
                          <a:spcPts val="0"/>
                        </a:spcAft>
                      </a:pPr>
                      <a:r>
                        <a:rPr lang="zh-CN" sz="2000" b="1" kern="100">
                          <a:effectLst/>
                        </a:rPr>
                        <a:t>等待</a:t>
                      </a:r>
                      <a:endParaRPr lang="zh-CN" sz="2000" b="1" kern="100">
                        <a:effectLst/>
                        <a:latin typeface="宋体" panose="02010600030101010101" pitchFamily="2" charset="-122"/>
                        <a:cs typeface="Courier New" panose="02070309020205020404"/>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extLst>
                  <a:ext uri="{0D108BD9-81ED-4DB2-BD59-A6C34878D82A}">
                    <a16:rowId xmlns:a16="http://schemas.microsoft.com/office/drawing/2014/main" val="10009"/>
                  </a:ext>
                </a:extLst>
              </a:tr>
              <a:tr h="914396">
                <a:tc>
                  <a:txBody>
                    <a:bodyPr/>
                    <a:lstStyle/>
                    <a:p>
                      <a:pPr algn="ctr">
                        <a:spcAft>
                          <a:spcPts val="0"/>
                        </a:spcAft>
                      </a:pPr>
                      <a:r>
                        <a:rPr lang="en-US" sz="2000" b="1" kern="100" dirty="0">
                          <a:effectLst/>
                        </a:rPr>
                        <a:t> </a:t>
                      </a:r>
                      <a:endParaRPr lang="zh-CN" sz="2000" b="1" kern="100" dirty="0">
                        <a:effectLst/>
                        <a:latin typeface="宋体" panose="02010600030101010101" pitchFamily="2" charset="-122"/>
                        <a:cs typeface="Courier New" panose="02070309020205020404"/>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CCFF"/>
                    </a:solidFill>
                  </a:tcPr>
                </a:tc>
                <a:tc>
                  <a:txBody>
                    <a:bodyPr/>
                    <a:lstStyle/>
                    <a:p>
                      <a:pPr algn="ctr">
                        <a:spcAft>
                          <a:spcPts val="0"/>
                        </a:spcAft>
                      </a:pPr>
                      <a:r>
                        <a:rPr lang="zh-CN" sz="2000" b="1" kern="100" dirty="0">
                          <a:effectLst/>
                        </a:rPr>
                        <a:t>•</a:t>
                      </a:r>
                      <a:endParaRPr lang="en-US" altLang="zh-CN" sz="2000" b="1" kern="100" dirty="0">
                        <a:effectLst/>
                      </a:endParaRPr>
                    </a:p>
                    <a:p>
                      <a:pPr marL="0" marR="0" indent="0" algn="ctr" defTabSz="914400" rtl="0" eaLnBrk="1" fontAlgn="auto" latinLnBrk="0" hangingPunct="1">
                        <a:lnSpc>
                          <a:spcPct val="100000"/>
                        </a:lnSpc>
                        <a:spcBef>
                          <a:spcPts val="0"/>
                        </a:spcBef>
                        <a:spcAft>
                          <a:spcPts val="0"/>
                        </a:spcAft>
                        <a:buClrTx/>
                        <a:buSzTx/>
                        <a:buFontTx/>
                        <a:buNone/>
                        <a:defRPr/>
                      </a:pPr>
                      <a:r>
                        <a:rPr lang="zh-CN" altLang="zh-CN" sz="2000" b="1" kern="100" dirty="0">
                          <a:effectLst/>
                        </a:rPr>
                        <a:t>•</a:t>
                      </a:r>
                      <a:endParaRPr lang="en-US" altLang="zh-CN" sz="2000" b="1" kern="100" dirty="0">
                        <a:effectLst/>
                        <a:latin typeface="宋体" panose="02010600030101010101" pitchFamily="2" charset="-122"/>
                        <a:cs typeface="Courier New" panose="02070309020205020404"/>
                      </a:endParaRPr>
                    </a:p>
                    <a:p>
                      <a:pPr marL="0" marR="0" indent="0" algn="ctr" defTabSz="914400" rtl="0" eaLnBrk="1" fontAlgn="auto" latinLnBrk="0" hangingPunct="1">
                        <a:lnSpc>
                          <a:spcPct val="100000"/>
                        </a:lnSpc>
                        <a:spcBef>
                          <a:spcPts val="0"/>
                        </a:spcBef>
                        <a:spcAft>
                          <a:spcPts val="0"/>
                        </a:spcAft>
                        <a:buClrTx/>
                        <a:buSzTx/>
                        <a:buFontTx/>
                        <a:buNone/>
                        <a:defRPr/>
                      </a:pPr>
                      <a:r>
                        <a:rPr lang="zh-CN" altLang="zh-CN" sz="2000" b="1" kern="100" dirty="0">
                          <a:effectLst/>
                        </a:rPr>
                        <a:t>•</a:t>
                      </a:r>
                      <a:endParaRPr lang="zh-CN" sz="2000" b="1" kern="100" dirty="0">
                        <a:effectLst/>
                        <a:latin typeface="宋体" panose="02010600030101010101" pitchFamily="2" charset="-122"/>
                        <a:cs typeface="Courier New" panose="02070309020205020404"/>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CCFF"/>
                    </a:solidFill>
                  </a:tcPr>
                </a:tc>
                <a:extLst>
                  <a:ext uri="{0D108BD9-81ED-4DB2-BD59-A6C34878D82A}">
                    <a16:rowId xmlns:a16="http://schemas.microsoft.com/office/drawing/2014/main" val="10010"/>
                  </a:ext>
                </a:extLst>
              </a:tr>
            </a:tbl>
          </a:graphicData>
        </a:graphic>
      </p:graphicFrame>
      <p:sp>
        <p:nvSpPr>
          <p:cNvPr id="4" name="矩形 3"/>
          <p:cNvSpPr/>
          <p:nvPr/>
        </p:nvSpPr>
        <p:spPr>
          <a:xfrm>
            <a:off x="5186363" y="6092825"/>
            <a:ext cx="1098550" cy="400050"/>
          </a:xfrm>
          <a:prstGeom prst="rect">
            <a:avLst/>
          </a:prstGeom>
        </p:spPr>
        <p:txBody>
          <a:bodyPr wrap="none">
            <a:spAutoFit/>
          </a:bodyPr>
          <a:lstStyle/>
          <a:p>
            <a:pPr marL="0" marR="0" lvl="0" indent="0" algn="ctr" defTabSz="914400" rtl="0" eaLnBrk="1" fontAlgn="base" latinLnBrk="0" hangingPunct="1">
              <a:lnSpc>
                <a:spcPct val="100000"/>
              </a:lnSpc>
              <a:spcBef>
                <a:spcPct val="0"/>
              </a:spcBef>
              <a:spcAft>
                <a:spcPts val="0"/>
              </a:spcAft>
              <a:buClrTx/>
              <a:buSzTx/>
              <a:buFontTx/>
              <a:buNone/>
              <a:defRPr/>
            </a:pPr>
            <a:r>
              <a:rPr kumimoji="0" lang="en-US" altLang="zh-CN" sz="2000" b="1" i="0" u="none" strike="noStrike" kern="1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(b) </a:t>
            </a:r>
            <a:r>
              <a:rPr kumimoji="0" lang="zh-CN" altLang="zh-CN" sz="2000" b="1" i="0" u="none" strike="noStrike" kern="1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死锁</a:t>
            </a:r>
            <a:endParaRPr kumimoji="0" lang="zh-CN" altLang="zh-CN" sz="2000" b="1" i="0" u="none" strike="noStrike" kern="1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Courier New" panose="02070309020205020404"/>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p:cNvSpPr>
          <p:nvPr>
            <p:ph type="title"/>
          </p:nvPr>
        </p:nvSpPr>
        <p:spPr>
          <a:xfrm>
            <a:off x="2438400" y="184150"/>
            <a:ext cx="7391400" cy="563563"/>
          </a:xfrm>
        </p:spPr>
        <p:txBody>
          <a:bodyPr vert="horz" wrap="square" lIns="91440" tIns="45720" rIns="91440" bIns="45720" anchor="ctr" anchorCtr="0"/>
          <a:lstStyle/>
          <a:p>
            <a:pPr eaLnBrk="1" hangingPunct="1"/>
            <a:r>
              <a:rPr lang="zh-CN" altLang="zh-CN" sz="3600" dirty="0"/>
              <a:t>解决死锁的方法</a:t>
            </a:r>
          </a:p>
        </p:txBody>
      </p:sp>
      <p:sp>
        <p:nvSpPr>
          <p:cNvPr id="59395" name="Rectangle 3"/>
          <p:cNvSpPr>
            <a:spLocks noGrp="1"/>
          </p:cNvSpPr>
          <p:nvPr>
            <p:ph type="body"/>
          </p:nvPr>
        </p:nvSpPr>
        <p:spPr>
          <a:xfrm>
            <a:off x="1487488" y="1268413"/>
            <a:ext cx="8229600" cy="4983162"/>
          </a:xfrm>
        </p:spPr>
        <p:txBody>
          <a:bodyPr vert="horz" wrap="square" lIns="91440" tIns="45720" rIns="91440" bIns="45720" anchor="t" anchorCtr="0"/>
          <a:lstStyle/>
          <a:p>
            <a:pPr eaLnBrk="1" hangingPunct="1">
              <a:buNone/>
            </a:pPr>
            <a:r>
              <a:rPr lang="zh-CN" altLang="en-US" sz="3200" dirty="0"/>
              <a:t>两类方法</a:t>
            </a:r>
          </a:p>
          <a:p>
            <a:pPr lvl="1" eaLnBrk="1" hangingPunct="1">
              <a:lnSpc>
                <a:spcPct val="150000"/>
              </a:lnSpc>
              <a:buNone/>
            </a:pPr>
            <a:r>
              <a:rPr lang="en-US" altLang="zh-CN" dirty="0"/>
              <a:t>1. </a:t>
            </a:r>
            <a:r>
              <a:rPr lang="zh-CN" altLang="en-US" dirty="0"/>
              <a:t>死锁的预防</a:t>
            </a:r>
          </a:p>
          <a:p>
            <a:pPr lvl="1" eaLnBrk="1" hangingPunct="1">
              <a:lnSpc>
                <a:spcPct val="150000"/>
              </a:lnSpc>
              <a:buNone/>
            </a:pPr>
            <a:r>
              <a:rPr lang="en-US" altLang="zh-CN" dirty="0"/>
              <a:t>2. </a:t>
            </a:r>
            <a:r>
              <a:rPr lang="zh-CN" altLang="en-US" dirty="0"/>
              <a:t>死锁的诊断与解除</a:t>
            </a:r>
          </a:p>
          <a:p>
            <a:pPr eaLnBrk="1" hangingPunct="1"/>
            <a:endParaRPr lang="en-US" altLang="zh-CN"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en-US" altLang="zh-CN" sz="3600" dirty="0"/>
              <a:t>1. </a:t>
            </a:r>
            <a:r>
              <a:rPr lang="zh-CN" altLang="en-US" sz="3600" dirty="0"/>
              <a:t>死锁的预防</a:t>
            </a:r>
          </a:p>
        </p:txBody>
      </p:sp>
      <p:sp>
        <p:nvSpPr>
          <p:cNvPr id="60419" name="Rectangle 3"/>
          <p:cNvSpPr>
            <a:spLocks noGrp="1"/>
          </p:cNvSpPr>
          <p:nvPr>
            <p:ph type="body"/>
          </p:nvPr>
        </p:nvSpPr>
        <p:spPr>
          <a:xfrm>
            <a:off x="839788" y="1125538"/>
            <a:ext cx="11088687" cy="5199062"/>
          </a:xfrm>
        </p:spPr>
        <p:txBody>
          <a:bodyPr vert="horz" wrap="square" lIns="91440" tIns="45720" rIns="91440" bIns="45720" anchor="t" anchorCtr="0"/>
          <a:lstStyle/>
          <a:p>
            <a:pPr eaLnBrk="1" hangingPunct="1">
              <a:lnSpc>
                <a:spcPct val="210000"/>
              </a:lnSpc>
            </a:pPr>
            <a:r>
              <a:rPr lang="zh-CN" altLang="zh-CN" dirty="0"/>
              <a:t>产生死锁的原因是两个或多个事务都已封锁了一些数据对象，然后又都请求对已为其他事务封锁的数据对象加锁，从而出现死等待。</a:t>
            </a:r>
          </a:p>
          <a:p>
            <a:pPr eaLnBrk="1" hangingPunct="1">
              <a:lnSpc>
                <a:spcPct val="210000"/>
              </a:lnSpc>
              <a:spcBef>
                <a:spcPct val="60000"/>
              </a:spcBef>
            </a:pPr>
            <a:r>
              <a:rPr lang="zh-CN" altLang="zh-CN" dirty="0"/>
              <a:t>预防死锁的发生就是要破坏产生死锁的条件</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死锁的预防（续）</a:t>
            </a:r>
          </a:p>
        </p:txBody>
      </p:sp>
      <p:sp>
        <p:nvSpPr>
          <p:cNvPr id="55299" name="Rectangle 3"/>
          <p:cNvSpPr>
            <a:spLocks noGrp="1" noChangeArrowheads="1"/>
          </p:cNvSpPr>
          <p:nvPr>
            <p:ph type="body" idx="1"/>
          </p:nvPr>
        </p:nvSpPr>
        <p:spPr>
          <a:xfrm>
            <a:off x="1558925" y="1341438"/>
            <a:ext cx="7427913" cy="5072063"/>
          </a:xfrm>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ct val="20000"/>
              </a:spcBef>
              <a:spcAft>
                <a:spcPct val="0"/>
              </a:spcAft>
              <a:buClrTx/>
              <a:buSzPct val="100000"/>
              <a:buFont typeface="Wingdings" panose="05000000000000000000" pitchFamily="2" charset="2"/>
              <a:buNone/>
              <a:defRPr/>
            </a:pPr>
            <a:r>
              <a:rPr kumimoji="0" lang="zh-CN" sz="2800" b="1" i="0" u="none" strike="noStrike" kern="0" cap="none" spc="0" normalizeH="0" baseline="0" noProof="0" dirty="0">
                <a:ln>
                  <a:noFill/>
                </a:ln>
                <a:solidFill>
                  <a:schemeClr val="tx1"/>
                </a:solidFill>
                <a:effectLst/>
                <a:uLnTx/>
                <a:uFillTx/>
                <a:latin typeface="+mn-lt"/>
                <a:ea typeface="+mn-ea"/>
                <a:cs typeface="+mn-cs"/>
              </a:rPr>
              <a:t>预防死锁的方法</a:t>
            </a:r>
          </a:p>
          <a:p>
            <a:pPr marL="0" marR="0" lvl="0" indent="0" algn="l" defTabSz="914400" rtl="0" eaLnBrk="1" fontAlgn="base" latinLnBrk="0" hangingPunct="1">
              <a:lnSpc>
                <a:spcPct val="150000"/>
              </a:lnSpc>
              <a:spcBef>
                <a:spcPct val="20000"/>
              </a:spcBef>
              <a:spcAft>
                <a:spcPct val="0"/>
              </a:spcAft>
              <a:buClrTx/>
              <a:buSzPct val="10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1</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a:t>
            </a:r>
            <a:r>
              <a:rPr kumimoji="0" lang="zh-CN" sz="2400" b="1" i="0" u="none" strike="noStrike" kern="0" cap="none" spc="0" normalizeH="0" baseline="0" noProof="0" dirty="0">
                <a:ln>
                  <a:noFill/>
                </a:ln>
                <a:solidFill>
                  <a:schemeClr val="tx1"/>
                </a:solidFill>
                <a:effectLst/>
                <a:uLnTx/>
                <a:uFillTx/>
                <a:latin typeface="+mn-lt"/>
                <a:ea typeface="+mn-ea"/>
                <a:cs typeface="+mn-cs"/>
              </a:rPr>
              <a:t>一次封锁法</a:t>
            </a:r>
          </a:p>
          <a:p>
            <a:pPr marL="0" marR="0" lvl="0" indent="0" algn="l" defTabSz="914400" rtl="0" eaLnBrk="1" fontAlgn="base" latinLnBrk="0" hangingPunct="1">
              <a:lnSpc>
                <a:spcPct val="150000"/>
              </a:lnSpc>
              <a:spcBef>
                <a:spcPct val="20000"/>
              </a:spcBef>
              <a:spcAft>
                <a:spcPct val="0"/>
              </a:spcAft>
              <a:buClrTx/>
              <a:buSzPct val="10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2</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a:t>
            </a:r>
            <a:r>
              <a:rPr kumimoji="0" lang="zh-CN" sz="2400" b="1" i="0" u="none" strike="noStrike" kern="0" cap="none" spc="0" normalizeH="0" baseline="0" noProof="0" dirty="0">
                <a:ln>
                  <a:noFill/>
                </a:ln>
                <a:solidFill>
                  <a:schemeClr val="tx1"/>
                </a:solidFill>
                <a:effectLst/>
                <a:uLnTx/>
                <a:uFillTx/>
                <a:latin typeface="+mn-lt"/>
                <a:ea typeface="+mn-ea"/>
                <a:cs typeface="+mn-cs"/>
              </a:rPr>
              <a:t>顺序封锁法</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p:cNvSpPr>
          <p:nvPr>
            <p:ph type="title"/>
          </p:nvPr>
        </p:nvSpPr>
        <p:spPr>
          <a:xfrm>
            <a:off x="2438400" y="184150"/>
            <a:ext cx="7391400" cy="563563"/>
          </a:xfrm>
        </p:spPr>
        <p:txBody>
          <a:bodyPr vert="horz" wrap="square" lIns="91440" tIns="45720" rIns="91440" bIns="45720" anchor="ctr" anchorCtr="0"/>
          <a:lstStyle/>
          <a:p>
            <a:pPr eaLnBrk="1" hangingPunct="1"/>
            <a:r>
              <a:rPr lang="zh-CN" altLang="en-US" sz="3600" dirty="0"/>
              <a:t>（</a:t>
            </a:r>
            <a:r>
              <a:rPr lang="en-US" altLang="zh-CN" sz="3600" dirty="0"/>
              <a:t>1</a:t>
            </a:r>
            <a:r>
              <a:rPr lang="zh-CN" altLang="en-US" sz="3600" dirty="0"/>
              <a:t>）一次封锁法</a:t>
            </a:r>
          </a:p>
        </p:txBody>
      </p:sp>
      <p:sp>
        <p:nvSpPr>
          <p:cNvPr id="62467" name="Rectangle 3"/>
          <p:cNvSpPr>
            <a:spLocks noGrp="1"/>
          </p:cNvSpPr>
          <p:nvPr>
            <p:ph type="body"/>
          </p:nvPr>
        </p:nvSpPr>
        <p:spPr>
          <a:xfrm>
            <a:off x="839788" y="1341438"/>
            <a:ext cx="10512425" cy="4762500"/>
          </a:xfrm>
        </p:spPr>
        <p:txBody>
          <a:bodyPr vert="horz" wrap="square" lIns="91440" tIns="45720" rIns="91440" bIns="45720" anchor="t" anchorCtr="0"/>
          <a:lstStyle/>
          <a:p>
            <a:pPr eaLnBrk="1" hangingPunct="1">
              <a:lnSpc>
                <a:spcPct val="160000"/>
              </a:lnSpc>
            </a:pPr>
            <a:r>
              <a:rPr lang="zh-CN" altLang="en-US" dirty="0"/>
              <a:t>要求每个事务必须一次将所有要使用的数据全部加锁，否则就不能继续执行</a:t>
            </a:r>
          </a:p>
          <a:p>
            <a:pPr eaLnBrk="1" hangingPunct="1">
              <a:lnSpc>
                <a:spcPct val="160000"/>
              </a:lnSpc>
            </a:pPr>
            <a:r>
              <a:rPr lang="zh-CN" altLang="en-US" dirty="0"/>
              <a:t>存在的问题：降低系统并发度。</a:t>
            </a:r>
            <a:endParaRPr lang="en-US" altLang="zh-CN" dirty="0"/>
          </a:p>
          <a:p>
            <a:pPr lvl="1" eaLnBrk="1" hangingPunct="1">
              <a:lnSpc>
                <a:spcPct val="160000"/>
              </a:lnSpc>
            </a:pPr>
            <a:r>
              <a:rPr lang="zh-CN" altLang="en-US" dirty="0"/>
              <a:t>一次就将以后要用到的全部数据加锁，势必扩大了封锁的范围。</a:t>
            </a:r>
            <a:endParaRPr lang="en-US" altLang="zh-CN" dirty="0"/>
          </a:p>
          <a:p>
            <a:pPr lvl="1" eaLnBrk="1" hangingPunct="1">
              <a:lnSpc>
                <a:spcPct val="160000"/>
              </a:lnSpc>
            </a:pPr>
            <a:r>
              <a:rPr lang="zh-CN" altLang="en-US" dirty="0">
                <a:solidFill>
                  <a:srgbClr val="FF0000"/>
                </a:solidFill>
              </a:rPr>
              <a:t>很难事先精确地确定</a:t>
            </a:r>
            <a:r>
              <a:rPr lang="zh-CN" altLang="en-US" dirty="0"/>
              <a:t>每个事务所要封锁的数据对象，为此只能扩大封锁范围</a:t>
            </a:r>
            <a:endParaRPr lang="en-US" altLang="zh-CN" dirty="0"/>
          </a:p>
          <a:p>
            <a:pPr lvl="1" eaLnBrk="1" hangingPunct="1">
              <a:lnSpc>
                <a:spcPct val="160000"/>
              </a:lnSpc>
            </a:pPr>
            <a:endParaRPr lang="en-US" altLang="zh-CN" dirty="0"/>
          </a:p>
          <a:p>
            <a:pPr lvl="1" eaLnBrk="1" hangingPunct="1">
              <a:lnSpc>
                <a:spcPct val="160000"/>
              </a:lnSpc>
            </a:pP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en-US" sz="3600" dirty="0"/>
              <a:t>（</a:t>
            </a:r>
            <a:r>
              <a:rPr lang="en-US" altLang="zh-CN" sz="3600" dirty="0"/>
              <a:t>2</a:t>
            </a:r>
            <a:r>
              <a:rPr lang="zh-CN" altLang="en-US" sz="3600" dirty="0"/>
              <a:t>）顺序封锁法</a:t>
            </a:r>
          </a:p>
        </p:txBody>
      </p:sp>
      <p:sp>
        <p:nvSpPr>
          <p:cNvPr id="63491" name="Rectangle 3"/>
          <p:cNvSpPr>
            <a:spLocks noGrp="1"/>
          </p:cNvSpPr>
          <p:nvPr>
            <p:ph type="body"/>
          </p:nvPr>
        </p:nvSpPr>
        <p:spPr>
          <a:xfrm>
            <a:off x="804863" y="1268413"/>
            <a:ext cx="10658475" cy="4968875"/>
          </a:xfrm>
        </p:spPr>
        <p:txBody>
          <a:bodyPr vert="horz" wrap="square" lIns="91440" tIns="45720" rIns="91440" bIns="45720" anchor="t" anchorCtr="0"/>
          <a:lstStyle/>
          <a:p>
            <a:pPr eaLnBrk="1" hangingPunct="1">
              <a:lnSpc>
                <a:spcPct val="120000"/>
              </a:lnSpc>
            </a:pPr>
            <a:r>
              <a:rPr lang="zh-CN" altLang="en-US" dirty="0"/>
              <a:t>顺序封锁法是预先对数据对象规定一个封锁顺序，所有事务都按这个顺序实行封锁。</a:t>
            </a:r>
          </a:p>
          <a:p>
            <a:pPr eaLnBrk="1" hangingPunct="1">
              <a:lnSpc>
                <a:spcPct val="120000"/>
              </a:lnSpc>
            </a:pPr>
            <a:r>
              <a:rPr lang="zh-CN" altLang="en-US" dirty="0"/>
              <a:t>顺序封锁法存在的问题</a:t>
            </a:r>
          </a:p>
          <a:p>
            <a:pPr lvl="1" eaLnBrk="1" hangingPunct="1">
              <a:lnSpc>
                <a:spcPct val="120000"/>
              </a:lnSpc>
            </a:pPr>
            <a:r>
              <a:rPr lang="zh-CN" altLang="en-US" sz="2200" dirty="0"/>
              <a:t>维护成本</a:t>
            </a:r>
          </a:p>
          <a:p>
            <a:pPr lvl="1" eaLnBrk="1" hangingPunct="1">
              <a:lnSpc>
                <a:spcPct val="120000"/>
              </a:lnSpc>
              <a:buNone/>
            </a:pPr>
            <a:r>
              <a:rPr lang="zh-CN" altLang="en-US" sz="2200" dirty="0"/>
              <a:t>    数据库系统中封锁的数据对象极多，并且随数据的插入、删除等操作而不断地变化，要维护这样的资源的封锁顺序非常困难，</a:t>
            </a:r>
            <a:r>
              <a:rPr lang="zh-CN" altLang="en-US" sz="2200" dirty="0">
                <a:solidFill>
                  <a:srgbClr val="FF00FF"/>
                </a:solidFill>
              </a:rPr>
              <a:t>成本很高</a:t>
            </a:r>
            <a:r>
              <a:rPr lang="zh-CN" altLang="en-US" sz="2200" dirty="0"/>
              <a:t>。</a:t>
            </a:r>
          </a:p>
          <a:p>
            <a:pPr lvl="1" eaLnBrk="1" hangingPunct="1">
              <a:lnSpc>
                <a:spcPct val="120000"/>
              </a:lnSpc>
            </a:pPr>
            <a:r>
              <a:rPr lang="zh-CN" altLang="en-US" sz="2200" dirty="0"/>
              <a:t>难以实现</a:t>
            </a:r>
          </a:p>
          <a:p>
            <a:pPr lvl="1" eaLnBrk="1" hangingPunct="1">
              <a:lnSpc>
                <a:spcPct val="120000"/>
              </a:lnSpc>
              <a:buNone/>
            </a:pPr>
            <a:r>
              <a:rPr lang="zh-CN" altLang="en-US" sz="2200" dirty="0"/>
              <a:t>    事务的封锁请求可以随着事务的执行而动态地决定，很难事先确定每一个事务要封锁哪些对象，因此也就</a:t>
            </a:r>
            <a:r>
              <a:rPr lang="zh-CN" altLang="en-US" sz="2200" dirty="0">
                <a:solidFill>
                  <a:srgbClr val="FF00FF"/>
                </a:solidFill>
              </a:rPr>
              <a:t>很难按规定的顺序去施加封锁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矩形 1"/>
          <p:cNvSpPr/>
          <p:nvPr/>
        </p:nvSpPr>
        <p:spPr>
          <a:xfrm>
            <a:off x="695325" y="1340803"/>
            <a:ext cx="6583680" cy="521970"/>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b="0" dirty="0"/>
              <a:t>思考：为什么顺序封锁法可以避免死锁？</a:t>
            </a:r>
          </a:p>
        </p:txBody>
      </p:sp>
      <p:sp>
        <p:nvSpPr>
          <p:cNvPr id="2" name="文本框 1"/>
          <p:cNvSpPr txBox="1"/>
          <p:nvPr/>
        </p:nvSpPr>
        <p:spPr>
          <a:xfrm>
            <a:off x="551180" y="2637155"/>
            <a:ext cx="11240135" cy="1938020"/>
          </a:xfrm>
          <a:prstGeom prst="rect">
            <a:avLst/>
          </a:prstGeom>
          <a:noFill/>
        </p:spPr>
        <p:txBody>
          <a:bodyPr wrap="square" rtlCol="0" anchor="t">
            <a:spAutoFit/>
          </a:bodyPr>
          <a:lstStyle/>
          <a:p>
            <a:pPr lvl="0"/>
            <a:r>
              <a:rPr lang="zh-CN" altLang="en-US" sz="2400" dirty="0">
                <a:sym typeface="+mn-ea"/>
              </a:rPr>
              <a:t>若死锁，必然存在环 </a:t>
            </a:r>
            <a:r>
              <a:rPr lang="en-US" altLang="zh-CN" sz="2400" dirty="0">
                <a:sym typeface="+mn-ea"/>
              </a:rPr>
              <a:t>T1 </a:t>
            </a:r>
            <a:r>
              <a:rPr lang="en-US" altLang="zh-CN" sz="2400" dirty="0">
                <a:sym typeface="Wingdings" panose="05000000000000000000" pitchFamily="2" charset="2"/>
              </a:rPr>
              <a:t>T2……-&gt;Tn -&gt;T1</a:t>
            </a:r>
          </a:p>
          <a:p>
            <a:pPr lvl="0"/>
            <a:r>
              <a:rPr lang="zh-CN" altLang="en-US" sz="2400" dirty="0">
                <a:sym typeface="Wingdings" panose="05000000000000000000" pitchFamily="2" charset="2"/>
              </a:rPr>
              <a:t>假设</a:t>
            </a:r>
            <a:r>
              <a:rPr lang="en-US" altLang="zh-CN" sz="2400" dirty="0">
                <a:sym typeface="Wingdings" panose="05000000000000000000" pitchFamily="2" charset="2"/>
              </a:rPr>
              <a:t>T1</a:t>
            </a:r>
            <a:r>
              <a:rPr lang="zh-CN" altLang="en-US" sz="2400" dirty="0">
                <a:sym typeface="Wingdings" panose="05000000000000000000" pitchFamily="2" charset="2"/>
              </a:rPr>
              <a:t>在请求</a:t>
            </a:r>
            <a:r>
              <a:rPr lang="en-US" altLang="zh-CN" sz="2400" dirty="0">
                <a:sym typeface="Wingdings" panose="05000000000000000000" pitchFamily="2" charset="2"/>
              </a:rPr>
              <a:t>T2</a:t>
            </a:r>
            <a:r>
              <a:rPr lang="zh-CN" altLang="en-US" sz="2400" dirty="0">
                <a:sym typeface="Wingdings" panose="05000000000000000000" pitchFamily="2" charset="2"/>
              </a:rPr>
              <a:t>锁住的</a:t>
            </a:r>
            <a:r>
              <a:rPr lang="en-US" altLang="zh-CN" sz="2400" dirty="0">
                <a:sym typeface="Wingdings" panose="05000000000000000000" pitchFamily="2" charset="2"/>
              </a:rPr>
              <a:t>X2, T2</a:t>
            </a:r>
            <a:r>
              <a:rPr lang="zh-CN" altLang="en-US" sz="2400" dirty="0">
                <a:sym typeface="Wingdings" panose="05000000000000000000" pitchFamily="2" charset="2"/>
              </a:rPr>
              <a:t>在请求</a:t>
            </a:r>
            <a:r>
              <a:rPr lang="en-US" altLang="zh-CN" sz="2400" dirty="0">
                <a:sym typeface="Wingdings" panose="05000000000000000000" pitchFamily="2" charset="2"/>
              </a:rPr>
              <a:t>T3</a:t>
            </a:r>
            <a:r>
              <a:rPr lang="zh-CN" altLang="en-US" sz="2400" dirty="0">
                <a:sym typeface="Wingdings" panose="05000000000000000000" pitchFamily="2" charset="2"/>
              </a:rPr>
              <a:t>锁住的</a:t>
            </a:r>
            <a:r>
              <a:rPr lang="en-US" altLang="zh-CN" sz="2400" dirty="0">
                <a:sym typeface="Wingdings" panose="05000000000000000000" pitchFamily="2" charset="2"/>
              </a:rPr>
              <a:t>X3</a:t>
            </a:r>
            <a:r>
              <a:rPr lang="zh-CN" altLang="en-US" sz="2400" dirty="0">
                <a:sym typeface="Wingdings" panose="05000000000000000000" pitchFamily="2" charset="2"/>
              </a:rPr>
              <a:t>。依次类推，可以得到一个序列</a:t>
            </a:r>
            <a:r>
              <a:rPr lang="en-US" altLang="zh-CN" sz="2400" dirty="0">
                <a:sym typeface="Wingdings" panose="05000000000000000000" pitchFamily="2" charset="2"/>
              </a:rPr>
              <a:t>X2,….Xn,X1</a:t>
            </a:r>
            <a:r>
              <a:rPr lang="zh-CN" altLang="en-US" sz="2400" dirty="0">
                <a:sym typeface="Wingdings" panose="05000000000000000000" pitchFamily="2" charset="2"/>
              </a:rPr>
              <a:t>。根据顺序封锁法，</a:t>
            </a:r>
            <a:r>
              <a:rPr lang="zh-CN" altLang="en-US" sz="2400" dirty="0">
                <a:sym typeface="+mn-ea"/>
              </a:rPr>
              <a:t>预先对数据对象所规定一个封锁顺序应该满足</a:t>
            </a:r>
            <a:r>
              <a:rPr lang="en-US" altLang="zh-CN" sz="2400" dirty="0">
                <a:sym typeface="+mn-ea"/>
              </a:rPr>
              <a:t>Xn &lt; X1</a:t>
            </a:r>
            <a:r>
              <a:rPr lang="zh-CN" altLang="en-US" sz="2400" dirty="0">
                <a:sym typeface="+mn-ea"/>
              </a:rPr>
              <a:t>（此处</a:t>
            </a:r>
            <a:r>
              <a:rPr lang="en-US" altLang="zh-CN" sz="2400" dirty="0">
                <a:sym typeface="+mn-ea"/>
              </a:rPr>
              <a:t> &lt;</a:t>
            </a:r>
            <a:r>
              <a:rPr lang="zh-CN" altLang="en-US" sz="2400" dirty="0">
                <a:sym typeface="+mn-ea"/>
              </a:rPr>
              <a:t>表示优先级），因为</a:t>
            </a:r>
            <a:r>
              <a:rPr lang="en-US" altLang="zh-CN" sz="2400" dirty="0">
                <a:sym typeface="+mn-ea"/>
              </a:rPr>
              <a:t>Tn</a:t>
            </a:r>
            <a:r>
              <a:rPr lang="zh-CN" altLang="en-US" sz="2400" dirty="0">
                <a:sym typeface="+mn-ea"/>
              </a:rPr>
              <a:t>先锁住</a:t>
            </a:r>
            <a:r>
              <a:rPr lang="en-US" altLang="zh-CN" sz="2400" dirty="0">
                <a:sym typeface="+mn-ea"/>
              </a:rPr>
              <a:t>Xn</a:t>
            </a:r>
            <a:r>
              <a:rPr lang="zh-CN" altLang="en-US" sz="2400" dirty="0">
                <a:sym typeface="+mn-ea"/>
              </a:rPr>
              <a:t>再请求</a:t>
            </a:r>
            <a:r>
              <a:rPr lang="en-US" altLang="zh-CN" sz="2400" dirty="0">
                <a:sym typeface="+mn-ea"/>
              </a:rPr>
              <a:t>X1</a:t>
            </a:r>
            <a:r>
              <a:rPr lang="zh-CN" altLang="en-US" sz="2400" dirty="0">
                <a:sym typeface="+mn-ea"/>
              </a:rPr>
              <a:t>。但是由于</a:t>
            </a:r>
            <a:r>
              <a:rPr lang="en-US" altLang="zh-CN" sz="2400" dirty="0">
                <a:sym typeface="+mn-ea"/>
              </a:rPr>
              <a:t>T1</a:t>
            </a:r>
            <a:r>
              <a:rPr lang="zh-CN" altLang="en-US" sz="2400" dirty="0">
                <a:sym typeface="+mn-ea"/>
              </a:rPr>
              <a:t>先锁住</a:t>
            </a:r>
            <a:r>
              <a:rPr lang="en-US" altLang="zh-CN" sz="2400" dirty="0">
                <a:sym typeface="+mn-ea"/>
              </a:rPr>
              <a:t>X1</a:t>
            </a:r>
            <a:r>
              <a:rPr lang="zh-CN" altLang="en-US" sz="2400" dirty="0">
                <a:sym typeface="+mn-ea"/>
              </a:rPr>
              <a:t>再请求</a:t>
            </a:r>
            <a:r>
              <a:rPr lang="en-US" altLang="zh-CN" sz="2400" dirty="0">
                <a:sym typeface="+mn-ea"/>
              </a:rPr>
              <a:t>X2</a:t>
            </a:r>
            <a:r>
              <a:rPr lang="zh-CN" altLang="en-US" sz="2400" dirty="0">
                <a:sym typeface="+mn-ea"/>
              </a:rPr>
              <a:t>，则有</a:t>
            </a:r>
            <a:r>
              <a:rPr lang="en-US" altLang="zh-CN" sz="2400" dirty="0">
                <a:sym typeface="+mn-ea"/>
              </a:rPr>
              <a:t>X1&lt;X2</a:t>
            </a:r>
            <a:r>
              <a:rPr lang="zh-CN" altLang="en-US" sz="2400" dirty="0">
                <a:sym typeface="+mn-ea"/>
              </a:rPr>
              <a:t>，类似有</a:t>
            </a:r>
            <a:r>
              <a:rPr lang="en-US" altLang="zh-CN" sz="2400" dirty="0">
                <a:sym typeface="+mn-ea"/>
              </a:rPr>
              <a:t>X2&lt;X3&lt;...&lt;Xn</a:t>
            </a:r>
            <a:r>
              <a:rPr lang="zh-CN" altLang="en-US" sz="2400" dirty="0">
                <a:sym typeface="+mn-ea"/>
              </a:rPr>
              <a:t>，故又有</a:t>
            </a:r>
            <a:r>
              <a:rPr lang="en-US" altLang="zh-CN" sz="2400" dirty="0">
                <a:sym typeface="+mn-ea"/>
              </a:rPr>
              <a:t> X1&lt;Xn</a:t>
            </a:r>
            <a:r>
              <a:rPr lang="zh-CN" altLang="en-US" sz="2400" dirty="0">
                <a:sym typeface="+mn-ea"/>
              </a:rPr>
              <a:t>。矛盾。</a:t>
            </a:r>
            <a:endParaRPr lang="zh-CN" altLang="en-US" sz="2400" dirty="0">
              <a:sym typeface="Wingdings" panose="05000000000000000000"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死锁的预防（续）</a:t>
            </a:r>
          </a:p>
        </p:txBody>
      </p:sp>
      <p:sp>
        <p:nvSpPr>
          <p:cNvPr id="64515" name="Rectangle 3"/>
          <p:cNvSpPr>
            <a:spLocks noGrp="1"/>
          </p:cNvSpPr>
          <p:nvPr>
            <p:ph type="body"/>
          </p:nvPr>
        </p:nvSpPr>
        <p:spPr>
          <a:xfrm>
            <a:off x="623888" y="1393825"/>
            <a:ext cx="11233150" cy="5056188"/>
          </a:xfrm>
        </p:spPr>
        <p:txBody>
          <a:bodyPr vert="horz" wrap="square" lIns="91440" tIns="45720" rIns="91440" bIns="45720" anchor="t" anchorCtr="0"/>
          <a:lstStyle/>
          <a:p>
            <a:pPr eaLnBrk="1" hangingPunct="1">
              <a:lnSpc>
                <a:spcPct val="140000"/>
              </a:lnSpc>
            </a:pPr>
            <a:r>
              <a:rPr lang="zh-CN" altLang="en-US" dirty="0"/>
              <a:t>结论</a:t>
            </a:r>
          </a:p>
          <a:p>
            <a:pPr lvl="1" eaLnBrk="1" hangingPunct="1">
              <a:lnSpc>
                <a:spcPct val="140000"/>
              </a:lnSpc>
            </a:pPr>
            <a:r>
              <a:rPr lang="zh-CN" altLang="en-US" dirty="0"/>
              <a:t>在操作系统中广为采用的预防死锁的策略并不太适合数据库的特点</a:t>
            </a:r>
          </a:p>
          <a:p>
            <a:pPr lvl="1" eaLnBrk="1" hangingPunct="1">
              <a:lnSpc>
                <a:spcPct val="140000"/>
              </a:lnSpc>
              <a:spcBef>
                <a:spcPct val="80000"/>
              </a:spcBef>
            </a:pPr>
            <a:r>
              <a:rPr lang="zh-CN" altLang="en-US" dirty="0"/>
              <a:t>数据库管理系统在解决死锁的问题上更普遍采用的是诊断并解除死锁的方法</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en-US" altLang="zh-CN" sz="3600" dirty="0"/>
              <a:t>2. </a:t>
            </a:r>
            <a:r>
              <a:rPr lang="zh-CN" altLang="en-US" sz="3600" dirty="0"/>
              <a:t>死锁的诊断与解除</a:t>
            </a:r>
          </a:p>
        </p:txBody>
      </p:sp>
      <p:sp>
        <p:nvSpPr>
          <p:cNvPr id="65539" name="Rectangle 3"/>
          <p:cNvSpPr>
            <a:spLocks noGrp="1"/>
          </p:cNvSpPr>
          <p:nvPr>
            <p:ph type="body"/>
          </p:nvPr>
        </p:nvSpPr>
        <p:spPr>
          <a:xfrm>
            <a:off x="1487488" y="1268413"/>
            <a:ext cx="7772400" cy="4402137"/>
          </a:xfrm>
        </p:spPr>
        <p:txBody>
          <a:bodyPr vert="horz" wrap="square" lIns="91440" tIns="45720" rIns="91440" bIns="45720" anchor="t" anchorCtr="0"/>
          <a:lstStyle/>
          <a:p>
            <a:pPr eaLnBrk="1" hangingPunct="1">
              <a:lnSpc>
                <a:spcPct val="190000"/>
              </a:lnSpc>
            </a:pPr>
            <a:r>
              <a:rPr lang="zh-CN" altLang="en-US" dirty="0"/>
              <a:t>死锁的诊断</a:t>
            </a:r>
          </a:p>
          <a:p>
            <a:pPr marL="457200" lvl="1" indent="0" eaLnBrk="1" hangingPunct="1">
              <a:lnSpc>
                <a:spcPct val="190000"/>
              </a:lnSpc>
              <a:buNone/>
            </a:pPr>
            <a:r>
              <a:rPr lang="zh-CN" altLang="en-US" dirty="0"/>
              <a:t>（</a:t>
            </a:r>
            <a:r>
              <a:rPr lang="en-US" altLang="zh-CN" dirty="0"/>
              <a:t>1</a:t>
            </a:r>
            <a:r>
              <a:rPr lang="zh-CN" altLang="en-US" dirty="0"/>
              <a:t>）超时法</a:t>
            </a:r>
          </a:p>
          <a:p>
            <a:pPr marL="457200" lvl="1" indent="0" eaLnBrk="1" hangingPunct="1">
              <a:lnSpc>
                <a:spcPct val="190000"/>
              </a:lnSpc>
              <a:buNone/>
            </a:pPr>
            <a:r>
              <a:rPr lang="zh-CN" altLang="en-US" dirty="0"/>
              <a:t>（</a:t>
            </a:r>
            <a:r>
              <a:rPr lang="en-US" altLang="zh-CN" dirty="0"/>
              <a:t>2</a:t>
            </a:r>
            <a:r>
              <a:rPr lang="zh-CN" altLang="en-US" dirty="0"/>
              <a:t>）等待图法 </a:t>
            </a:r>
            <a:endParaRPr lang="zh-CN" altLang="en-US" sz="2800" dirty="0"/>
          </a:p>
          <a:p>
            <a:pPr eaLnBrk="1" hangingPunct="1"/>
            <a:endParaRPr lang="en-US" altLang="zh-CN" sz="3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en-US" sz="3600" dirty="0"/>
              <a:t>（</a:t>
            </a:r>
            <a:r>
              <a:rPr lang="en-US" altLang="zh-CN" sz="3600" dirty="0"/>
              <a:t>1</a:t>
            </a:r>
            <a:r>
              <a:rPr lang="zh-CN" altLang="en-US" sz="3600" dirty="0"/>
              <a:t>）</a:t>
            </a:r>
            <a:r>
              <a:rPr lang="en-US" altLang="zh-CN" sz="3600" dirty="0"/>
              <a:t> </a:t>
            </a:r>
            <a:r>
              <a:rPr lang="zh-CN" altLang="en-US" sz="3600" dirty="0"/>
              <a:t>超时法</a:t>
            </a:r>
          </a:p>
        </p:txBody>
      </p:sp>
      <p:sp>
        <p:nvSpPr>
          <p:cNvPr id="66563" name="Rectangle 3"/>
          <p:cNvSpPr>
            <a:spLocks noGrp="1"/>
          </p:cNvSpPr>
          <p:nvPr>
            <p:ph type="body"/>
          </p:nvPr>
        </p:nvSpPr>
        <p:spPr>
          <a:xfrm>
            <a:off x="803275" y="1412875"/>
            <a:ext cx="10585450" cy="4762500"/>
          </a:xfrm>
        </p:spPr>
        <p:txBody>
          <a:bodyPr vert="horz" wrap="square" lIns="91440" tIns="45720" rIns="91440" bIns="45720" anchor="t" anchorCtr="0"/>
          <a:lstStyle/>
          <a:p>
            <a:pPr eaLnBrk="1" hangingPunct="1">
              <a:lnSpc>
                <a:spcPct val="140000"/>
              </a:lnSpc>
            </a:pPr>
            <a:r>
              <a:rPr lang="zh-CN" altLang="en-US" dirty="0"/>
              <a:t>如果一个事务的等待时间超过了规定的时限，就认为发生了死锁</a:t>
            </a:r>
          </a:p>
          <a:p>
            <a:pPr eaLnBrk="1" hangingPunct="1">
              <a:lnSpc>
                <a:spcPct val="140000"/>
              </a:lnSpc>
            </a:pPr>
            <a:r>
              <a:rPr lang="zh-CN" altLang="en-US" dirty="0"/>
              <a:t>优点：实现简单</a:t>
            </a:r>
          </a:p>
          <a:p>
            <a:pPr eaLnBrk="1" hangingPunct="1">
              <a:lnSpc>
                <a:spcPct val="140000"/>
              </a:lnSpc>
            </a:pPr>
            <a:r>
              <a:rPr lang="zh-CN" altLang="en-US" dirty="0"/>
              <a:t>缺点</a:t>
            </a:r>
          </a:p>
          <a:p>
            <a:pPr lvl="1" eaLnBrk="1" hangingPunct="1">
              <a:lnSpc>
                <a:spcPct val="140000"/>
              </a:lnSpc>
            </a:pPr>
            <a:r>
              <a:rPr lang="zh-CN" altLang="en-US" dirty="0"/>
              <a:t>时限设置太短，则有可能误判死锁（过于敏感）</a:t>
            </a:r>
          </a:p>
          <a:p>
            <a:pPr lvl="1" eaLnBrk="1" hangingPunct="1">
              <a:lnSpc>
                <a:spcPct val="140000"/>
              </a:lnSpc>
            </a:pPr>
            <a:r>
              <a:rPr lang="zh-CN" altLang="en-US" dirty="0"/>
              <a:t>时限若设置得太长，死锁发生后不能及时发现（过于迟钝）</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en-US" sz="3600" dirty="0"/>
              <a:t>（</a:t>
            </a:r>
            <a:r>
              <a:rPr lang="en-US" altLang="zh-CN" sz="3600" dirty="0"/>
              <a:t>2</a:t>
            </a:r>
            <a:r>
              <a:rPr lang="zh-CN" altLang="en-US" sz="3600" dirty="0"/>
              <a:t>）等待图法</a:t>
            </a:r>
          </a:p>
        </p:txBody>
      </p:sp>
      <p:sp>
        <p:nvSpPr>
          <p:cNvPr id="67587" name="Rectangle 3"/>
          <p:cNvSpPr>
            <a:spLocks noGrp="1"/>
          </p:cNvSpPr>
          <p:nvPr>
            <p:ph type="body" sz="half"/>
          </p:nvPr>
        </p:nvSpPr>
        <p:spPr>
          <a:xfrm>
            <a:off x="949325" y="1268413"/>
            <a:ext cx="10369550" cy="4826000"/>
          </a:xfrm>
        </p:spPr>
        <p:txBody>
          <a:bodyPr vert="horz" wrap="square" lIns="91440" tIns="45720" rIns="91440" bIns="45720" anchor="t" anchorCtr="0"/>
          <a:lstStyle>
            <a:lvl1pPr lvl="0">
              <a:buClrTx/>
              <a:buSzPct val="100000"/>
              <a:buFont typeface="Wingdings" panose="05000000000000000000" pitchFamily="2" charset="2"/>
              <a:defRPr sz="2400"/>
            </a:lvl1pPr>
            <a:lvl2pPr lvl="1">
              <a:buClrTx/>
              <a:buSzPct val="100000"/>
              <a:buFont typeface="Wingdings" panose="05000000000000000000" pitchFamily="2" charset="2"/>
              <a:defRPr sz="2000"/>
            </a:lvl2pPr>
            <a:lvl3pPr lvl="2">
              <a:buClrTx/>
              <a:buSzTx/>
              <a:buFont typeface="Arial" panose="020B0604020202020204" pitchFamily="34" charset="0"/>
              <a:defRPr sz="1800"/>
            </a:lvl3pPr>
            <a:lvl4pPr lvl="3">
              <a:buClrTx/>
              <a:buSzTx/>
              <a:buFont typeface="Arial" panose="020B0604020202020204" pitchFamily="34" charset="0"/>
              <a:defRPr sz="1800"/>
            </a:lvl4pPr>
            <a:lvl5pPr lvl="4">
              <a:buClrTx/>
              <a:buSzTx/>
              <a:buFont typeface="Arial" panose="020B0604020202020204" pitchFamily="34" charset="0"/>
              <a:defRPr sz="1800"/>
            </a:lvl5pPr>
          </a:lstStyle>
          <a:p>
            <a:pPr lvl="0" eaLnBrk="1" hangingPunct="1">
              <a:lnSpc>
                <a:spcPct val="220000"/>
              </a:lnSpc>
            </a:pPr>
            <a:r>
              <a:rPr lang="zh-CN" altLang="en-US" sz="2800" dirty="0"/>
              <a:t>用事务等待图动态反映所有事务的等待情况</a:t>
            </a:r>
            <a:endParaRPr lang="zh-CN" altLang="en-US" sz="2000" dirty="0"/>
          </a:p>
          <a:p>
            <a:pPr lvl="1" eaLnBrk="1" hangingPunct="1">
              <a:lnSpc>
                <a:spcPct val="150000"/>
              </a:lnSpc>
            </a:pPr>
            <a:r>
              <a:rPr lang="zh-CN" altLang="en-US" sz="2400" dirty="0"/>
              <a:t>事务等待图是一个有向图</a:t>
            </a:r>
            <a:r>
              <a:rPr lang="en-US" altLang="zh-CN" sz="2400" i="1" dirty="0"/>
              <a:t>G</a:t>
            </a:r>
            <a:r>
              <a:rPr lang="en-US" altLang="zh-CN" sz="2400" dirty="0"/>
              <a:t>=(</a:t>
            </a:r>
            <a:r>
              <a:rPr lang="en-US" altLang="zh-CN" sz="2400" i="1" dirty="0"/>
              <a:t>T</a:t>
            </a:r>
            <a:r>
              <a:rPr lang="zh-CN" altLang="en-US" sz="2400" dirty="0"/>
              <a:t>，</a:t>
            </a:r>
            <a:r>
              <a:rPr lang="en-US" altLang="zh-CN" sz="2400" i="1" dirty="0"/>
              <a:t>U</a:t>
            </a:r>
            <a:r>
              <a:rPr lang="en-US" altLang="zh-CN" sz="2400" dirty="0"/>
              <a:t>)</a:t>
            </a:r>
          </a:p>
          <a:p>
            <a:pPr lvl="1" eaLnBrk="1" hangingPunct="1">
              <a:lnSpc>
                <a:spcPct val="150000"/>
              </a:lnSpc>
            </a:pPr>
            <a:r>
              <a:rPr lang="en-US" altLang="zh-CN" sz="2400" i="1" dirty="0"/>
              <a:t>T</a:t>
            </a:r>
            <a:r>
              <a:rPr lang="zh-CN" altLang="en-US" sz="2400" dirty="0"/>
              <a:t>为结点的集合，每个结点表示正运行的事务</a:t>
            </a:r>
          </a:p>
          <a:p>
            <a:pPr lvl="1" eaLnBrk="1" hangingPunct="1">
              <a:lnSpc>
                <a:spcPct val="150000"/>
              </a:lnSpc>
            </a:pPr>
            <a:r>
              <a:rPr lang="en-US" altLang="zh-CN" sz="2400" i="1" dirty="0"/>
              <a:t>U</a:t>
            </a:r>
            <a:r>
              <a:rPr lang="zh-CN" altLang="en-US" sz="2400" dirty="0"/>
              <a:t>为边的集合，每条边表示事务等待的情况</a:t>
            </a:r>
          </a:p>
          <a:p>
            <a:pPr lvl="1" eaLnBrk="1" hangingPunct="1">
              <a:lnSpc>
                <a:spcPct val="150000"/>
              </a:lnSpc>
            </a:pPr>
            <a:r>
              <a:rPr lang="zh-CN" altLang="en-US" sz="2400" dirty="0"/>
              <a:t>若</a:t>
            </a:r>
            <a:r>
              <a:rPr lang="en-US" altLang="zh-CN" sz="2400" dirty="0"/>
              <a:t>T</a:t>
            </a:r>
            <a:r>
              <a:rPr lang="en-US" altLang="zh-CN" sz="2400" baseline="-25000" dirty="0"/>
              <a:t>1</a:t>
            </a:r>
            <a:r>
              <a:rPr lang="zh-CN" altLang="en-US" sz="2400" dirty="0"/>
              <a:t>等待</a:t>
            </a:r>
            <a:r>
              <a:rPr lang="en-US" altLang="zh-CN" sz="2400" dirty="0"/>
              <a:t>T</a:t>
            </a:r>
            <a:r>
              <a:rPr lang="en-US" altLang="zh-CN" sz="2400" baseline="-25000" dirty="0"/>
              <a:t>2</a:t>
            </a:r>
            <a:r>
              <a:rPr lang="zh-CN" altLang="en-US" sz="2400" dirty="0"/>
              <a:t>，则</a:t>
            </a:r>
            <a:r>
              <a:rPr lang="en-US" altLang="zh-CN" sz="2400" dirty="0"/>
              <a:t>T</a:t>
            </a:r>
            <a:r>
              <a:rPr lang="en-US" altLang="zh-CN" sz="2400" baseline="-25000" dirty="0"/>
              <a:t>1</a:t>
            </a:r>
            <a:r>
              <a:rPr lang="zh-CN" altLang="en-US" sz="2400" dirty="0"/>
              <a:t>，</a:t>
            </a:r>
            <a:r>
              <a:rPr lang="en-US" altLang="zh-CN" sz="2400" dirty="0"/>
              <a:t>T</a:t>
            </a:r>
            <a:r>
              <a:rPr lang="en-US" altLang="zh-CN" sz="2400" baseline="-25000" dirty="0"/>
              <a:t>2</a:t>
            </a:r>
            <a:r>
              <a:rPr lang="zh-CN" altLang="en-US" sz="2400" dirty="0"/>
              <a:t>之间划一条有向边，从</a:t>
            </a:r>
            <a:r>
              <a:rPr lang="en-US" altLang="zh-CN" sz="2400" dirty="0"/>
              <a:t>T</a:t>
            </a:r>
            <a:r>
              <a:rPr lang="en-US" altLang="zh-CN" sz="2400" baseline="-25000" dirty="0"/>
              <a:t>1</a:t>
            </a:r>
            <a:r>
              <a:rPr lang="zh-CN" altLang="en-US" sz="2400" dirty="0"/>
              <a:t>指向</a:t>
            </a:r>
            <a:r>
              <a:rPr lang="en-US" altLang="zh-CN" sz="2400" dirty="0"/>
              <a:t>T</a:t>
            </a:r>
            <a:r>
              <a:rPr lang="en-US" altLang="zh-CN" sz="2400" baseline="-25000" dirty="0"/>
              <a:t>2</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等待图法（续）</a:t>
            </a:r>
          </a:p>
        </p:txBody>
      </p:sp>
      <p:grpSp>
        <p:nvGrpSpPr>
          <p:cNvPr id="2" name="Group 3"/>
          <p:cNvGrpSpPr/>
          <p:nvPr/>
        </p:nvGrpSpPr>
        <p:grpSpPr>
          <a:xfrm>
            <a:off x="2782888" y="1376363"/>
            <a:ext cx="6334125" cy="2424112"/>
            <a:chOff x="-137" y="22"/>
            <a:chExt cx="3990" cy="1527"/>
          </a:xfrm>
        </p:grpSpPr>
        <p:graphicFrame>
          <p:nvGraphicFramePr>
            <p:cNvPr id="68613" name="Object 4"/>
            <p:cNvGraphicFramePr>
              <a:graphicFrameLocks noChangeAspect="1"/>
            </p:cNvGraphicFramePr>
            <p:nvPr/>
          </p:nvGraphicFramePr>
          <p:xfrm>
            <a:off x="-137" y="22"/>
            <a:ext cx="3990" cy="1268"/>
          </p:xfrm>
          <a:graphic>
            <a:graphicData uri="http://schemas.openxmlformats.org/presentationml/2006/ole">
              <mc:AlternateContent xmlns:mc="http://schemas.openxmlformats.org/markup-compatibility/2006">
                <mc:Choice xmlns:v="urn:schemas-microsoft-com:vml" Requires="v">
                  <p:oleObj spid="_x0000_s3081" r:id="rId3" imgW="2246630" imgH="713105" progId="Word.Picture.8">
                    <p:embed/>
                  </p:oleObj>
                </mc:Choice>
                <mc:Fallback>
                  <p:oleObj r:id="rId3" imgW="2246630" imgH="713105" progId="Word.Picture.8">
                    <p:embed/>
                    <p:pic>
                      <p:nvPicPr>
                        <p:cNvPr id="0" name="图片 3076"/>
                        <p:cNvPicPr/>
                        <p:nvPr/>
                      </p:nvPicPr>
                      <p:blipFill>
                        <a:blip r:embed="rId4"/>
                        <a:stretch>
                          <a:fillRect/>
                        </a:stretch>
                      </p:blipFill>
                      <p:spPr>
                        <a:xfrm>
                          <a:off x="-137" y="22"/>
                          <a:ext cx="3990" cy="1268"/>
                        </a:xfrm>
                        <a:prstGeom prst="rect">
                          <a:avLst/>
                        </a:prstGeom>
                        <a:noFill/>
                        <a:ln w="38100">
                          <a:noFill/>
                          <a:miter/>
                        </a:ln>
                      </p:spPr>
                    </p:pic>
                  </p:oleObj>
                </mc:Fallback>
              </mc:AlternateContent>
            </a:graphicData>
          </a:graphic>
        </p:graphicFrame>
        <p:sp>
          <p:nvSpPr>
            <p:cNvPr id="68614" name="Text Box 5"/>
            <p:cNvSpPr txBox="1"/>
            <p:nvPr/>
          </p:nvSpPr>
          <p:spPr>
            <a:xfrm>
              <a:off x="1406" y="1316"/>
              <a:ext cx="848" cy="233"/>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None/>
              </a:pPr>
              <a:r>
                <a:rPr lang="zh-CN" altLang="zh-CN" sz="1800" dirty="0">
                  <a:latin typeface="Times New Roman" panose="02020603050405020304" pitchFamily="18" charset="0"/>
                </a:rPr>
                <a:t>事务等待图</a:t>
              </a:r>
            </a:p>
          </p:txBody>
        </p:sp>
      </p:grpSp>
      <p:sp>
        <p:nvSpPr>
          <p:cNvPr id="62470" name="Text Box 6"/>
          <p:cNvSpPr txBox="1"/>
          <p:nvPr/>
        </p:nvSpPr>
        <p:spPr>
          <a:xfrm>
            <a:off x="1416050" y="4076700"/>
            <a:ext cx="9612313" cy="1550988"/>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lnSpc>
                <a:spcPct val="150000"/>
              </a:lnSpc>
              <a:spcBef>
                <a:spcPct val="0"/>
              </a:spcBef>
              <a:buFont typeface="Wingdings" panose="05000000000000000000" pitchFamily="2" charset="2"/>
              <a:buChar char="n"/>
            </a:pPr>
            <a:r>
              <a:rPr lang="zh-CN" altLang="en-US" sz="2200" dirty="0">
                <a:latin typeface="Times New Roman" panose="02020603050405020304" pitchFamily="18" charset="0"/>
              </a:rPr>
              <a:t>图</a:t>
            </a:r>
            <a:r>
              <a:rPr lang="en-US" altLang="zh-CN" sz="2200" dirty="0">
                <a:latin typeface="Times New Roman" panose="02020603050405020304" pitchFamily="18" charset="0"/>
              </a:rPr>
              <a:t>(a)</a:t>
            </a:r>
            <a:r>
              <a:rPr lang="zh-CN" altLang="en-US" sz="2200" dirty="0">
                <a:latin typeface="Times New Roman" panose="02020603050405020304" pitchFamily="18" charset="0"/>
              </a:rPr>
              <a:t>中，事务</a:t>
            </a: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1</a:t>
            </a:r>
            <a:r>
              <a:rPr lang="zh-CN" altLang="en-US" sz="2200" dirty="0">
                <a:latin typeface="Times New Roman" panose="02020603050405020304" pitchFamily="18" charset="0"/>
              </a:rPr>
              <a:t>等待</a:t>
            </a: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2</a:t>
            </a:r>
            <a:r>
              <a:rPr lang="zh-CN" altLang="en-US" sz="2200" dirty="0">
                <a:latin typeface="Times New Roman" panose="02020603050405020304" pitchFamily="18" charset="0"/>
              </a:rPr>
              <a:t>，</a:t>
            </a: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2</a:t>
            </a:r>
            <a:r>
              <a:rPr lang="zh-CN" altLang="en-US" sz="2200" dirty="0">
                <a:latin typeface="Times New Roman" panose="02020603050405020304" pitchFamily="18" charset="0"/>
              </a:rPr>
              <a:t>等待</a:t>
            </a: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1</a:t>
            </a:r>
            <a:r>
              <a:rPr lang="zh-CN" altLang="en-US" sz="2200" dirty="0">
                <a:latin typeface="Times New Roman" panose="02020603050405020304" pitchFamily="18" charset="0"/>
              </a:rPr>
              <a:t>，产生了死锁</a:t>
            </a:r>
          </a:p>
          <a:p>
            <a:pPr marL="342900" lvl="0" indent="-342900" eaLnBrk="1" hangingPunct="1">
              <a:lnSpc>
                <a:spcPct val="150000"/>
              </a:lnSpc>
              <a:spcBef>
                <a:spcPct val="0"/>
              </a:spcBef>
              <a:buFont typeface="Wingdings" panose="05000000000000000000" pitchFamily="2" charset="2"/>
              <a:buChar char="n"/>
            </a:pPr>
            <a:r>
              <a:rPr lang="zh-CN" altLang="en-US" sz="2200" dirty="0">
                <a:latin typeface="Times New Roman" panose="02020603050405020304" pitchFamily="18" charset="0"/>
              </a:rPr>
              <a:t>图</a:t>
            </a:r>
            <a:r>
              <a:rPr lang="en-US" altLang="zh-CN" sz="2200" dirty="0">
                <a:latin typeface="Times New Roman" panose="02020603050405020304" pitchFamily="18" charset="0"/>
              </a:rPr>
              <a:t>(b)</a:t>
            </a:r>
            <a:r>
              <a:rPr lang="zh-CN" altLang="en-US" sz="2200" dirty="0">
                <a:latin typeface="Times New Roman" panose="02020603050405020304" pitchFamily="18" charset="0"/>
              </a:rPr>
              <a:t>中，事务</a:t>
            </a: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1</a:t>
            </a:r>
            <a:r>
              <a:rPr lang="zh-CN" altLang="en-US" sz="2200" dirty="0">
                <a:latin typeface="Times New Roman" panose="02020603050405020304" pitchFamily="18" charset="0"/>
              </a:rPr>
              <a:t>等待</a:t>
            </a: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2</a:t>
            </a:r>
            <a:r>
              <a:rPr lang="zh-CN" altLang="en-US" sz="2200" dirty="0">
                <a:latin typeface="Times New Roman" panose="02020603050405020304" pitchFamily="18" charset="0"/>
              </a:rPr>
              <a:t>，</a:t>
            </a: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2</a:t>
            </a:r>
            <a:r>
              <a:rPr lang="zh-CN" altLang="en-US" sz="2200" dirty="0">
                <a:latin typeface="Times New Roman" panose="02020603050405020304" pitchFamily="18" charset="0"/>
              </a:rPr>
              <a:t>等待</a:t>
            </a: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3</a:t>
            </a:r>
            <a:r>
              <a:rPr lang="zh-CN" altLang="en-US" sz="2200" dirty="0">
                <a:latin typeface="Times New Roman" panose="02020603050405020304" pitchFamily="18" charset="0"/>
              </a:rPr>
              <a:t>，</a:t>
            </a: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3</a:t>
            </a:r>
            <a:r>
              <a:rPr lang="zh-CN" altLang="en-US" sz="2200" dirty="0">
                <a:latin typeface="Times New Roman" panose="02020603050405020304" pitchFamily="18" charset="0"/>
              </a:rPr>
              <a:t>等待</a:t>
            </a: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4</a:t>
            </a:r>
            <a:r>
              <a:rPr lang="zh-CN" altLang="en-US" sz="2200" dirty="0">
                <a:latin typeface="Times New Roman" panose="02020603050405020304" pitchFamily="18" charset="0"/>
              </a:rPr>
              <a:t>，</a:t>
            </a: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4</a:t>
            </a:r>
            <a:r>
              <a:rPr lang="zh-CN" altLang="en-US" sz="2200" dirty="0">
                <a:latin typeface="Times New Roman" panose="02020603050405020304" pitchFamily="18" charset="0"/>
              </a:rPr>
              <a:t>又等待</a:t>
            </a: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1</a:t>
            </a:r>
            <a:r>
              <a:rPr lang="zh-CN" altLang="en-US" sz="2200" dirty="0">
                <a:latin typeface="Times New Roman" panose="02020603050405020304" pitchFamily="18" charset="0"/>
              </a:rPr>
              <a:t>，产生了死锁 </a:t>
            </a:r>
          </a:p>
          <a:p>
            <a:pPr marL="342900" lvl="0" indent="-342900" eaLnBrk="1" hangingPunct="1">
              <a:lnSpc>
                <a:spcPct val="150000"/>
              </a:lnSpc>
              <a:spcBef>
                <a:spcPct val="0"/>
              </a:spcBef>
              <a:buFont typeface="Wingdings" panose="05000000000000000000" pitchFamily="2" charset="2"/>
              <a:buChar char="n"/>
            </a:pPr>
            <a:r>
              <a:rPr lang="zh-CN" altLang="en-US" sz="2200" dirty="0">
                <a:latin typeface="Times New Roman" panose="02020603050405020304" pitchFamily="18" charset="0"/>
              </a:rPr>
              <a:t>图</a:t>
            </a:r>
            <a:r>
              <a:rPr lang="en-US" altLang="zh-CN" sz="2200" dirty="0">
                <a:latin typeface="Times New Roman" panose="02020603050405020304" pitchFamily="18" charset="0"/>
              </a:rPr>
              <a:t>(b)</a:t>
            </a:r>
            <a:r>
              <a:rPr lang="zh-CN" altLang="en-US" sz="2200" dirty="0">
                <a:latin typeface="Times New Roman" panose="02020603050405020304" pitchFamily="18" charset="0"/>
              </a:rPr>
              <a:t>中，事务</a:t>
            </a: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3</a:t>
            </a:r>
            <a:r>
              <a:rPr lang="zh-CN" altLang="en-US" sz="2200" dirty="0">
                <a:latin typeface="Times New Roman" panose="02020603050405020304" pitchFamily="18" charset="0"/>
              </a:rPr>
              <a:t>可能还等待</a:t>
            </a:r>
            <a:r>
              <a:rPr lang="en-US" altLang="zh-CN" sz="2200" dirty="0">
                <a:latin typeface="Times New Roman" panose="02020603050405020304" pitchFamily="18" charset="0"/>
              </a:rPr>
              <a:t>T</a:t>
            </a:r>
            <a:r>
              <a:rPr lang="en-US" altLang="zh-CN" sz="2200" baseline="-25000" dirty="0">
                <a:latin typeface="Times New Roman" panose="02020603050405020304" pitchFamily="18" charset="0"/>
              </a:rPr>
              <a:t>2</a:t>
            </a:r>
            <a:r>
              <a:rPr lang="zh-CN" altLang="en-US" sz="2200" dirty="0">
                <a:latin typeface="Times New Roman" panose="02020603050405020304" pitchFamily="18" charset="0"/>
              </a:rPr>
              <a:t>，在大回路中又有小的回路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2470"/>
                                        </p:tgtEl>
                                        <p:attrNameLst>
                                          <p:attrName>style.visibility</p:attrName>
                                        </p:attrNameLst>
                                      </p:cBhvr>
                                      <p:to>
                                        <p:strVal val="visible"/>
                                      </p:to>
                                    </p:set>
                                    <p:anim calcmode="lin" valueType="num">
                                      <p:cBhvr additive="base">
                                        <p:cTn id="12" dur="500" fill="hold"/>
                                        <p:tgtEl>
                                          <p:spTgt spid="62470"/>
                                        </p:tgtEl>
                                        <p:attrNameLst>
                                          <p:attrName>ppt_x</p:attrName>
                                        </p:attrNameLst>
                                      </p:cBhvr>
                                      <p:tavLst>
                                        <p:tav tm="0">
                                          <p:val>
                                            <p:strVal val="#ppt_x"/>
                                          </p:val>
                                        </p:tav>
                                        <p:tav tm="100000">
                                          <p:val>
                                            <p:strVal val="#ppt_x"/>
                                          </p:val>
                                        </p:tav>
                                      </p:tavLst>
                                    </p:anim>
                                    <p:anim calcmode="lin" valueType="num">
                                      <p:cBhvr additive="base">
                                        <p:cTn id="13" dur="500" fill="hold"/>
                                        <p:tgtEl>
                                          <p:spTgt spid="624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0"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等待图法（续）</a:t>
            </a:r>
          </a:p>
        </p:txBody>
      </p:sp>
      <p:sp>
        <p:nvSpPr>
          <p:cNvPr id="69635" name="Rectangle 3"/>
          <p:cNvSpPr>
            <a:spLocks noGrp="1"/>
          </p:cNvSpPr>
          <p:nvPr>
            <p:ph type="body"/>
          </p:nvPr>
        </p:nvSpPr>
        <p:spPr>
          <a:xfrm>
            <a:off x="1200150" y="1341438"/>
            <a:ext cx="9575800" cy="4495800"/>
          </a:xfrm>
        </p:spPr>
        <p:txBody>
          <a:bodyPr vert="horz" wrap="square" lIns="91440" tIns="45720" rIns="91440" bIns="45720" anchor="t" anchorCtr="0"/>
          <a:lstStyle/>
          <a:p>
            <a:pPr eaLnBrk="1" hangingPunct="1">
              <a:lnSpc>
                <a:spcPct val="170000"/>
              </a:lnSpc>
            </a:pPr>
            <a:r>
              <a:rPr lang="zh-CN" altLang="zh-CN" dirty="0"/>
              <a:t>并发控制子系统周期性地（比如每隔数秒）生成事务等待图，检测事务。</a:t>
            </a:r>
            <a:r>
              <a:rPr lang="zh-CN" altLang="zh-CN" dirty="0">
                <a:solidFill>
                  <a:srgbClr val="FF0000"/>
                </a:solidFill>
              </a:rPr>
              <a:t>如果发现图中存在回路</a:t>
            </a:r>
            <a:r>
              <a:rPr lang="zh-CN" altLang="zh-CN" dirty="0"/>
              <a:t>，则表示系统中出现了死锁。</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死锁的诊断与解除（续）</a:t>
            </a:r>
          </a:p>
        </p:txBody>
      </p:sp>
      <p:sp>
        <p:nvSpPr>
          <p:cNvPr id="70659" name="Rectangle 3"/>
          <p:cNvSpPr>
            <a:spLocks noGrp="1"/>
          </p:cNvSpPr>
          <p:nvPr>
            <p:ph type="body"/>
          </p:nvPr>
        </p:nvSpPr>
        <p:spPr>
          <a:xfrm>
            <a:off x="1343025" y="1544638"/>
            <a:ext cx="9432925" cy="5056187"/>
          </a:xfrm>
        </p:spPr>
        <p:txBody>
          <a:bodyPr vert="horz" wrap="square" lIns="91440" tIns="45720" rIns="91440" bIns="45720" anchor="t" anchorCtr="0"/>
          <a:lstStyle/>
          <a:p>
            <a:pPr eaLnBrk="1" hangingPunct="1"/>
            <a:r>
              <a:rPr lang="zh-CN" altLang="en-US" sz="3200" dirty="0"/>
              <a:t>解除死锁</a:t>
            </a:r>
          </a:p>
          <a:p>
            <a:pPr lvl="1" eaLnBrk="1" hangingPunct="1">
              <a:lnSpc>
                <a:spcPct val="140000"/>
              </a:lnSpc>
            </a:pPr>
            <a:r>
              <a:rPr lang="zh-CN" altLang="en-US" dirty="0"/>
              <a:t>选择一个</a:t>
            </a:r>
            <a:r>
              <a:rPr lang="zh-CN" altLang="en-US" dirty="0">
                <a:solidFill>
                  <a:srgbClr val="FF0000"/>
                </a:solidFill>
              </a:rPr>
              <a:t>处理死锁代价最小</a:t>
            </a:r>
            <a:r>
              <a:rPr lang="zh-CN" altLang="en-US" dirty="0"/>
              <a:t>的事务，将其撤消</a:t>
            </a:r>
          </a:p>
          <a:p>
            <a:pPr lvl="1" eaLnBrk="1" hangingPunct="1">
              <a:lnSpc>
                <a:spcPct val="140000"/>
              </a:lnSpc>
            </a:pPr>
            <a:r>
              <a:rPr lang="zh-CN" altLang="en-US" dirty="0"/>
              <a:t>释放此事务持有的所有的锁，使其它事务能继续运行下去</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思考</a:t>
            </a:r>
          </a:p>
        </p:txBody>
      </p:sp>
      <p:sp>
        <p:nvSpPr>
          <p:cNvPr id="3" name="内容占位符 2"/>
          <p:cNvSpPr>
            <a:spLocks noGrp="1"/>
          </p:cNvSpPr>
          <p:nvPr>
            <p:ph idx="1"/>
          </p:nvPr>
        </p:nvSpPr>
        <p:spPr/>
        <p:txBody>
          <a:bodyPr/>
          <a:lstStyle/>
          <a:p>
            <a:r>
              <a:rPr kumimoji="1" lang="zh-CN" altLang="en-US" dirty="0">
                <a:sym typeface="+mn-ea"/>
              </a:rPr>
              <a:t>如何选择</a:t>
            </a:r>
            <a:r>
              <a:rPr kumimoji="1" lang="zh-CN" altLang="en-US" dirty="0">
                <a:solidFill>
                  <a:srgbClr val="C00000"/>
                </a:solidFill>
                <a:sym typeface="+mn-ea"/>
              </a:rPr>
              <a:t>处理死锁代价最小</a:t>
            </a:r>
            <a:r>
              <a:rPr kumimoji="1" lang="zh-CN" altLang="en-US" dirty="0">
                <a:sym typeface="+mn-ea"/>
              </a:rPr>
              <a:t>的事务集？</a:t>
            </a:r>
          </a:p>
          <a:p>
            <a:r>
              <a:rPr kumimoji="1" lang="zh-CN" altLang="en-US" dirty="0">
                <a:sym typeface="+mn-ea"/>
              </a:rPr>
              <a:t>如果不要求最小，当输入一个图，如何去掉部分顶点使其无环？</a:t>
            </a:r>
          </a:p>
          <a:p>
            <a:endParaRPr lang="zh-CN" altLang="en-US"/>
          </a:p>
        </p:txBody>
      </p:sp>
      <p:sp>
        <p:nvSpPr>
          <p:cNvPr id="4" name="椭圆 3"/>
          <p:cNvSpPr/>
          <p:nvPr/>
        </p:nvSpPr>
        <p:spPr>
          <a:xfrm>
            <a:off x="767715" y="2727325"/>
            <a:ext cx="644525" cy="642620"/>
          </a:xfrm>
          <a:prstGeom prst="ellipse">
            <a:avLst/>
          </a:prstGeom>
          <a:noFill/>
          <a:ln w="9525"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T</a:t>
            </a:r>
            <a:r>
              <a:rPr kumimoji="0" lang="en-US" altLang="zh-CN" sz="2000" b="1" i="0" u="none" strike="noStrike" cap="none" normalizeH="0" baseline="-25000">
                <a:ln>
                  <a:noFill/>
                </a:ln>
                <a:solidFill>
                  <a:schemeClr val="tx1"/>
                </a:solidFill>
                <a:effectLst/>
                <a:latin typeface="Arial" panose="020B0604020202020204" pitchFamily="34" charset="0"/>
                <a:ea typeface="宋体" panose="02010600030101010101" pitchFamily="2" charset="-122"/>
              </a:rPr>
              <a:t>1</a:t>
            </a:r>
          </a:p>
        </p:txBody>
      </p:sp>
      <p:sp>
        <p:nvSpPr>
          <p:cNvPr id="5" name="椭圆 4"/>
          <p:cNvSpPr/>
          <p:nvPr>
            <p:custDataLst>
              <p:tags r:id="rId1"/>
            </p:custDataLst>
          </p:nvPr>
        </p:nvSpPr>
        <p:spPr>
          <a:xfrm>
            <a:off x="3503930" y="2943225"/>
            <a:ext cx="644525" cy="642620"/>
          </a:xfrm>
          <a:prstGeom prst="ellipse">
            <a:avLst/>
          </a:prstGeom>
          <a:noFill/>
          <a:ln w="9525"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T</a:t>
            </a:r>
            <a:r>
              <a:rPr kumimoji="0" lang="en-US" altLang="zh-CN" sz="2000" b="1" i="0" u="none" strike="noStrike" cap="none" normalizeH="0" baseline="-25000">
                <a:ln>
                  <a:noFill/>
                </a:ln>
                <a:solidFill>
                  <a:schemeClr val="tx1"/>
                </a:solidFill>
                <a:effectLst/>
                <a:latin typeface="Arial" panose="020B0604020202020204" pitchFamily="34" charset="0"/>
                <a:ea typeface="宋体" panose="02010600030101010101" pitchFamily="2" charset="-122"/>
              </a:rPr>
              <a:t>2</a:t>
            </a:r>
          </a:p>
        </p:txBody>
      </p:sp>
      <p:sp>
        <p:nvSpPr>
          <p:cNvPr id="6" name="椭圆 5"/>
          <p:cNvSpPr/>
          <p:nvPr>
            <p:custDataLst>
              <p:tags r:id="rId2"/>
            </p:custDataLst>
          </p:nvPr>
        </p:nvSpPr>
        <p:spPr>
          <a:xfrm>
            <a:off x="695325" y="4599305"/>
            <a:ext cx="644525" cy="642620"/>
          </a:xfrm>
          <a:prstGeom prst="ellipse">
            <a:avLst/>
          </a:prstGeom>
          <a:noFill/>
          <a:ln w="9525"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T</a:t>
            </a:r>
            <a:r>
              <a:rPr kumimoji="0" lang="en-US" altLang="zh-CN" sz="2000" b="1" i="0" u="none" strike="noStrike" cap="none" normalizeH="0" baseline="-25000">
                <a:ln>
                  <a:noFill/>
                </a:ln>
                <a:solidFill>
                  <a:schemeClr val="tx1"/>
                </a:solidFill>
                <a:effectLst/>
                <a:latin typeface="Arial" panose="020B0604020202020204" pitchFamily="34" charset="0"/>
                <a:ea typeface="宋体" panose="02010600030101010101" pitchFamily="2" charset="-122"/>
              </a:rPr>
              <a:t>4</a:t>
            </a:r>
          </a:p>
        </p:txBody>
      </p:sp>
      <p:sp>
        <p:nvSpPr>
          <p:cNvPr id="7" name="椭圆 6"/>
          <p:cNvSpPr/>
          <p:nvPr>
            <p:custDataLst>
              <p:tags r:id="rId3"/>
            </p:custDataLst>
          </p:nvPr>
        </p:nvSpPr>
        <p:spPr>
          <a:xfrm>
            <a:off x="4799965" y="4311650"/>
            <a:ext cx="644525" cy="642620"/>
          </a:xfrm>
          <a:prstGeom prst="ellipse">
            <a:avLst/>
          </a:prstGeom>
          <a:noFill/>
          <a:ln w="9525"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T</a:t>
            </a:r>
            <a:r>
              <a:rPr kumimoji="0" lang="en-US" altLang="zh-CN" sz="2000" b="1" i="0" u="none" strike="noStrike" cap="none" normalizeH="0" baseline="-25000">
                <a:ln>
                  <a:noFill/>
                </a:ln>
                <a:solidFill>
                  <a:schemeClr val="tx1"/>
                </a:solidFill>
                <a:effectLst/>
                <a:latin typeface="Arial" panose="020B0604020202020204" pitchFamily="34" charset="0"/>
                <a:ea typeface="宋体" panose="02010600030101010101" pitchFamily="2" charset="-122"/>
              </a:rPr>
              <a:t>5</a:t>
            </a:r>
          </a:p>
        </p:txBody>
      </p:sp>
      <p:cxnSp>
        <p:nvCxnSpPr>
          <p:cNvPr id="8" name="直接箭头连接符 7"/>
          <p:cNvCxnSpPr>
            <a:stCxn id="4" idx="6"/>
            <a:endCxn id="5" idx="2"/>
          </p:cNvCxnSpPr>
          <p:nvPr/>
        </p:nvCxnSpPr>
        <p:spPr>
          <a:xfrm>
            <a:off x="1412240" y="3048635"/>
            <a:ext cx="2091690" cy="21590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9" name="直接箭头连接符 8"/>
          <p:cNvCxnSpPr>
            <a:stCxn id="5" idx="3"/>
            <a:endCxn id="13" idx="7"/>
          </p:cNvCxnSpPr>
          <p:nvPr>
            <p:custDataLst>
              <p:tags r:id="rId4"/>
            </p:custDataLst>
          </p:nvPr>
        </p:nvCxnSpPr>
        <p:spPr>
          <a:xfrm flipH="1">
            <a:off x="2973705" y="3491865"/>
            <a:ext cx="624840" cy="1633855"/>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10" name="直接箭头连接符 9"/>
          <p:cNvCxnSpPr>
            <a:stCxn id="6" idx="0"/>
            <a:endCxn id="4" idx="4"/>
          </p:cNvCxnSpPr>
          <p:nvPr>
            <p:custDataLst>
              <p:tags r:id="rId5"/>
            </p:custDataLst>
          </p:nvPr>
        </p:nvCxnSpPr>
        <p:spPr>
          <a:xfrm flipV="1">
            <a:off x="1017905" y="3369945"/>
            <a:ext cx="72390" cy="122936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11" name="直接箭头连接符 10"/>
          <p:cNvCxnSpPr>
            <a:endCxn id="5" idx="5"/>
          </p:cNvCxnSpPr>
          <p:nvPr>
            <p:custDataLst>
              <p:tags r:id="rId6"/>
            </p:custDataLst>
          </p:nvPr>
        </p:nvCxnSpPr>
        <p:spPr>
          <a:xfrm flipH="1" flipV="1">
            <a:off x="4053840" y="3491865"/>
            <a:ext cx="817880" cy="819785"/>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12" name="直接箭头连接符 11"/>
          <p:cNvCxnSpPr>
            <a:endCxn id="7" idx="3"/>
          </p:cNvCxnSpPr>
          <p:nvPr>
            <p:custDataLst>
              <p:tags r:id="rId7"/>
            </p:custDataLst>
          </p:nvPr>
        </p:nvCxnSpPr>
        <p:spPr>
          <a:xfrm flipV="1">
            <a:off x="3071495" y="4860290"/>
            <a:ext cx="1823085" cy="531495"/>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sp>
        <p:nvSpPr>
          <p:cNvPr id="13" name="椭圆 12"/>
          <p:cNvSpPr/>
          <p:nvPr>
            <p:custDataLst>
              <p:tags r:id="rId8"/>
            </p:custDataLst>
          </p:nvPr>
        </p:nvSpPr>
        <p:spPr>
          <a:xfrm>
            <a:off x="2423795" y="5031740"/>
            <a:ext cx="644525" cy="642620"/>
          </a:xfrm>
          <a:prstGeom prst="ellipse">
            <a:avLst/>
          </a:prstGeom>
          <a:noFill/>
          <a:ln w="9525"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T</a:t>
            </a:r>
            <a:r>
              <a:rPr kumimoji="0" lang="en-US" altLang="zh-CN" sz="2000" b="1" i="0" u="none" strike="noStrike" cap="none" normalizeH="0" baseline="-25000">
                <a:ln>
                  <a:noFill/>
                </a:ln>
                <a:solidFill>
                  <a:schemeClr val="tx1"/>
                </a:solidFill>
                <a:effectLst/>
                <a:latin typeface="Arial" panose="020B0604020202020204" pitchFamily="34" charset="0"/>
                <a:ea typeface="宋体" panose="02010600030101010101" pitchFamily="2" charset="-122"/>
              </a:rPr>
              <a:t>3</a:t>
            </a:r>
          </a:p>
        </p:txBody>
      </p:sp>
      <p:cxnSp>
        <p:nvCxnSpPr>
          <p:cNvPr id="15" name="直接箭头连接符 14"/>
          <p:cNvCxnSpPr>
            <a:stCxn id="13" idx="2"/>
            <a:endCxn id="6" idx="5"/>
          </p:cNvCxnSpPr>
          <p:nvPr>
            <p:custDataLst>
              <p:tags r:id="rId9"/>
            </p:custDataLst>
          </p:nvPr>
        </p:nvCxnSpPr>
        <p:spPr>
          <a:xfrm flipH="1" flipV="1">
            <a:off x="1245235" y="5147945"/>
            <a:ext cx="1178560" cy="205105"/>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sp>
        <p:nvSpPr>
          <p:cNvPr id="16" name="文本框 15"/>
          <p:cNvSpPr txBox="1"/>
          <p:nvPr/>
        </p:nvSpPr>
        <p:spPr>
          <a:xfrm>
            <a:off x="5735955" y="2708910"/>
            <a:ext cx="6004560" cy="829945"/>
          </a:xfrm>
          <a:prstGeom prst="rect">
            <a:avLst/>
          </a:prstGeom>
          <a:noFill/>
        </p:spPr>
        <p:txBody>
          <a:bodyPr wrap="square" rtlCol="0" anchor="t">
            <a:spAutoFit/>
          </a:bodyPr>
          <a:lstStyle/>
          <a:p>
            <a:r>
              <a:rPr lang="zh-CN" altLang="en-US" sz="2400" b="1"/>
              <a:t>第一个问题是The Feedback Vertex Set Problem</a:t>
            </a:r>
          </a:p>
        </p:txBody>
      </p:sp>
      <p:sp>
        <p:nvSpPr>
          <p:cNvPr id="14" name="文本框 13"/>
          <p:cNvSpPr txBox="1"/>
          <p:nvPr/>
        </p:nvSpPr>
        <p:spPr>
          <a:xfrm>
            <a:off x="5807710" y="4220845"/>
            <a:ext cx="6004560" cy="829945"/>
          </a:xfrm>
          <a:prstGeom prst="rect">
            <a:avLst/>
          </a:prstGeom>
          <a:noFill/>
        </p:spPr>
        <p:txBody>
          <a:bodyPr wrap="square" rtlCol="0" anchor="t">
            <a:spAutoFit/>
          </a:bodyPr>
          <a:lstStyle/>
          <a:p>
            <a:r>
              <a:rPr lang="zh-CN" altLang="en-US" sz="2400" b="1"/>
              <a:t>第二个问题就大为简化，可以参考拓扑排序算法</a:t>
            </a:r>
            <a:r>
              <a:rPr lang="en-US" altLang="zh-CN" sz="2400" b="1"/>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6" grpId="1"/>
      <p:bldP spid="14" grpId="0"/>
      <p:bldP spid="14" grpId="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p:cNvSpPr>
          <p:nvPr>
            <p:ph type="title"/>
          </p:nvPr>
        </p:nvSpPr>
        <p:spPr>
          <a:xfrm>
            <a:off x="2438400" y="184150"/>
            <a:ext cx="7391400" cy="563563"/>
          </a:xfrm>
        </p:spPr>
        <p:txBody>
          <a:bodyPr vert="horz" wrap="square" lIns="91440" tIns="45720" rIns="91440" bIns="45720" anchor="ctr" anchorCtr="0"/>
          <a:lstStyle/>
          <a:p>
            <a:pPr eaLnBrk="1" hangingPunct="1"/>
            <a:r>
              <a:rPr lang="zh-CN" altLang="zh-CN" sz="3600" dirty="0"/>
              <a:t>第十</a:t>
            </a:r>
            <a:r>
              <a:rPr lang="zh-CN" altLang="en-US" sz="3600" dirty="0"/>
              <a:t>二</a:t>
            </a:r>
            <a:r>
              <a:rPr lang="zh-CN" altLang="zh-CN" sz="3600" dirty="0"/>
              <a:t>章  并发控制</a:t>
            </a:r>
          </a:p>
        </p:txBody>
      </p:sp>
      <p:sp>
        <p:nvSpPr>
          <p:cNvPr id="71683" name="Rectangle 3"/>
          <p:cNvSpPr>
            <a:spLocks noGrp="1"/>
          </p:cNvSpPr>
          <p:nvPr>
            <p:ph type="body"/>
          </p:nvPr>
        </p:nvSpPr>
        <p:spPr>
          <a:xfrm>
            <a:off x="1558925" y="873125"/>
            <a:ext cx="7715250" cy="5111750"/>
          </a:xfrm>
        </p:spPr>
        <p:txBody>
          <a:bodyPr vert="horz" wrap="square" lIns="91440" tIns="45720" rIns="91440" bIns="45720" anchor="t" anchorCtr="0"/>
          <a:lstStyle/>
          <a:p>
            <a:pPr marL="0" indent="0" algn="just" eaLnBrk="1" hangingPunct="1">
              <a:lnSpc>
                <a:spcPct val="130000"/>
              </a:lnSpc>
              <a:buNone/>
            </a:pPr>
            <a:r>
              <a:rPr lang="en-US" altLang="zh-CN" sz="2400" dirty="0"/>
              <a:t>12.1  </a:t>
            </a:r>
            <a:r>
              <a:rPr lang="zh-CN" altLang="en-US" sz="2400" dirty="0"/>
              <a:t>并发控制概述</a:t>
            </a:r>
          </a:p>
          <a:p>
            <a:pPr marL="0" indent="0" algn="just" eaLnBrk="1" hangingPunct="1">
              <a:lnSpc>
                <a:spcPct val="130000"/>
              </a:lnSpc>
              <a:buNone/>
            </a:pPr>
            <a:r>
              <a:rPr lang="en-US" altLang="zh-CN" sz="2400" dirty="0"/>
              <a:t>12.2  </a:t>
            </a:r>
            <a:r>
              <a:rPr lang="zh-CN" altLang="en-US" sz="2400" dirty="0"/>
              <a:t>事务的隔离级别</a:t>
            </a:r>
            <a:endParaRPr lang="en-US" altLang="zh-CN" sz="2400" dirty="0"/>
          </a:p>
          <a:p>
            <a:pPr marL="0" indent="0" algn="just" eaLnBrk="1" hangingPunct="1">
              <a:lnSpc>
                <a:spcPct val="130000"/>
              </a:lnSpc>
              <a:buNone/>
            </a:pPr>
            <a:r>
              <a:rPr lang="en-US" altLang="zh-CN" sz="2400" dirty="0"/>
              <a:t>12.3  </a:t>
            </a:r>
            <a:r>
              <a:rPr lang="zh-CN" altLang="en-US" sz="2400" dirty="0"/>
              <a:t>封锁</a:t>
            </a:r>
            <a:endParaRPr lang="en-US" altLang="zh-CN" sz="2400" dirty="0"/>
          </a:p>
          <a:p>
            <a:pPr marL="0" indent="0" algn="just" eaLnBrk="1" hangingPunct="1">
              <a:lnSpc>
                <a:spcPct val="130000"/>
              </a:lnSpc>
              <a:buNone/>
            </a:pPr>
            <a:r>
              <a:rPr lang="en-US" altLang="zh-CN" sz="2400" dirty="0"/>
              <a:t>12.4 </a:t>
            </a:r>
            <a:r>
              <a:rPr lang="zh-CN" altLang="en-US" sz="2400" dirty="0"/>
              <a:t> 封锁协议</a:t>
            </a:r>
          </a:p>
          <a:p>
            <a:pPr marL="0" indent="0" algn="just" eaLnBrk="1" hangingPunct="1">
              <a:lnSpc>
                <a:spcPct val="130000"/>
              </a:lnSpc>
              <a:buNone/>
            </a:pPr>
            <a:r>
              <a:rPr lang="en-US" altLang="zh-CN" sz="2400" dirty="0"/>
              <a:t>12.5  </a:t>
            </a:r>
            <a:r>
              <a:rPr lang="zh-CN" altLang="en-US" sz="2400" dirty="0"/>
              <a:t>活锁和死锁</a:t>
            </a:r>
          </a:p>
          <a:p>
            <a:pPr marL="0" indent="0" algn="just" eaLnBrk="1" hangingPunct="1">
              <a:lnSpc>
                <a:spcPct val="130000"/>
              </a:lnSpc>
              <a:buNone/>
            </a:pPr>
            <a:r>
              <a:rPr lang="en-US" altLang="zh-CN" sz="2400" dirty="0">
                <a:solidFill>
                  <a:srgbClr val="0066FF"/>
                </a:solidFill>
              </a:rPr>
              <a:t>12.6  </a:t>
            </a:r>
            <a:r>
              <a:rPr lang="zh-CN" altLang="en-US" sz="2400" dirty="0">
                <a:solidFill>
                  <a:srgbClr val="0066FF"/>
                </a:solidFill>
              </a:rPr>
              <a:t>并发调度的可串行性</a:t>
            </a:r>
          </a:p>
          <a:p>
            <a:pPr marL="0" indent="0" algn="just" eaLnBrk="1" hangingPunct="1">
              <a:lnSpc>
                <a:spcPct val="130000"/>
              </a:lnSpc>
              <a:buNone/>
            </a:pPr>
            <a:r>
              <a:rPr lang="en-US" altLang="zh-CN" sz="2400" dirty="0"/>
              <a:t>12.7  </a:t>
            </a:r>
            <a:r>
              <a:rPr lang="zh-CN" altLang="en-US" sz="2400" dirty="0"/>
              <a:t>两段锁协议</a:t>
            </a:r>
          </a:p>
          <a:p>
            <a:pPr marL="0" indent="0" algn="just" eaLnBrk="1" hangingPunct="1">
              <a:lnSpc>
                <a:spcPct val="130000"/>
              </a:lnSpc>
              <a:buNone/>
            </a:pPr>
            <a:r>
              <a:rPr lang="en-US" altLang="zh-CN" sz="2400" dirty="0"/>
              <a:t>12.8  </a:t>
            </a:r>
            <a:r>
              <a:rPr lang="zh-CN" altLang="en-US" sz="2400" dirty="0"/>
              <a:t>封锁的粒度</a:t>
            </a:r>
          </a:p>
          <a:p>
            <a:pPr marL="0" indent="0" algn="just" eaLnBrk="1" hangingPunct="1">
              <a:lnSpc>
                <a:spcPct val="130000"/>
              </a:lnSpc>
              <a:buNone/>
            </a:pPr>
            <a:r>
              <a:rPr lang="zh-CN" altLang="en-US" sz="2400" dirty="0"/>
              <a:t>*</a:t>
            </a:r>
            <a:r>
              <a:rPr lang="en-US" altLang="zh-CN" sz="2400" dirty="0"/>
              <a:t>12.9  </a:t>
            </a:r>
            <a:r>
              <a:rPr lang="zh-CN" altLang="en-US" sz="2400" dirty="0"/>
              <a:t>其他并发控制机制</a:t>
            </a:r>
          </a:p>
          <a:p>
            <a:pPr marL="0" indent="0" algn="just" eaLnBrk="1" hangingPunct="1">
              <a:lnSpc>
                <a:spcPct val="130000"/>
              </a:lnSpc>
              <a:buNone/>
            </a:pPr>
            <a:r>
              <a:rPr lang="zh-CN" altLang="en-US" sz="2400" dirty="0"/>
              <a:t>1</a:t>
            </a:r>
            <a:r>
              <a:rPr lang="en-US" altLang="zh-CN" sz="2400" dirty="0"/>
              <a:t>2</a:t>
            </a:r>
            <a:r>
              <a:rPr lang="zh-CN" altLang="en-US" sz="2400" dirty="0"/>
              <a:t>.</a:t>
            </a:r>
            <a:r>
              <a:rPr lang="en-US" altLang="zh-CN" sz="2400" dirty="0"/>
              <a:t>10</a:t>
            </a:r>
            <a:r>
              <a:rPr lang="zh-CN" altLang="en-US" sz="2400" dirty="0"/>
              <a:t>  小结</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en-US" altLang="zh-CN" sz="3600" dirty="0"/>
              <a:t>12.6  </a:t>
            </a:r>
            <a:r>
              <a:rPr lang="zh-CN" altLang="en-US" sz="3600" dirty="0"/>
              <a:t>并发调度的可串行性</a:t>
            </a:r>
          </a:p>
        </p:txBody>
      </p:sp>
      <p:sp>
        <p:nvSpPr>
          <p:cNvPr id="72707" name="Rectangle 3"/>
          <p:cNvSpPr>
            <a:spLocks noGrp="1"/>
          </p:cNvSpPr>
          <p:nvPr>
            <p:ph type="body"/>
          </p:nvPr>
        </p:nvSpPr>
        <p:spPr>
          <a:xfrm>
            <a:off x="769938" y="1412875"/>
            <a:ext cx="10728325" cy="4984750"/>
          </a:xfrm>
        </p:spPr>
        <p:txBody>
          <a:bodyPr vert="horz" wrap="square" lIns="91440" tIns="45720" rIns="91440" bIns="45720" anchor="t" anchorCtr="0"/>
          <a:lstStyle/>
          <a:p>
            <a:pPr eaLnBrk="1" hangingPunct="1">
              <a:lnSpc>
                <a:spcPct val="180000"/>
              </a:lnSpc>
            </a:pPr>
            <a:r>
              <a:rPr lang="zh-CN" altLang="en-US" dirty="0"/>
              <a:t>数据库管理系统对并发事务不同的调度可能会产生不同的结果</a:t>
            </a:r>
          </a:p>
          <a:p>
            <a:pPr eaLnBrk="1" hangingPunct="1">
              <a:lnSpc>
                <a:spcPct val="180000"/>
              </a:lnSpc>
            </a:pPr>
            <a:r>
              <a:rPr lang="zh-CN" altLang="en-US" dirty="0"/>
              <a:t>串行调度是正确的</a:t>
            </a:r>
          </a:p>
          <a:p>
            <a:pPr eaLnBrk="1" hangingPunct="1">
              <a:lnSpc>
                <a:spcPct val="180000"/>
              </a:lnSpc>
            </a:pPr>
            <a:r>
              <a:rPr lang="zh-CN" altLang="en-US" dirty="0"/>
              <a:t>执行结果等价于串行调度的调度也是正确的，称为</a:t>
            </a:r>
            <a:r>
              <a:rPr lang="zh-CN" altLang="en-US" dirty="0">
                <a:solidFill>
                  <a:srgbClr val="FF00FF"/>
                </a:solidFill>
              </a:rPr>
              <a:t>可串行化调度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内容占位符 2"/>
          <p:cNvSpPr>
            <a:spLocks noGrp="1"/>
          </p:cNvSpPr>
          <p:nvPr>
            <p:ph idx="1"/>
          </p:nvPr>
        </p:nvSpPr>
        <p:spPr>
          <a:xfrm>
            <a:off x="1416050" y="1387475"/>
            <a:ext cx="8229600" cy="4911725"/>
          </a:xfrm>
        </p:spPr>
        <p:txBody>
          <a:bodyPr vert="horz" wrap="square" lIns="91440" tIns="45720" rIns="91440" bIns="45720" anchor="t" anchorCtr="0"/>
          <a:lstStyle/>
          <a:p>
            <a:pPr marL="0" indent="0" eaLnBrk="1" hangingPunct="1">
              <a:buNone/>
            </a:pPr>
            <a:r>
              <a:rPr lang="en-US" altLang="zh-CN" dirty="0">
                <a:solidFill>
                  <a:srgbClr val="00B050"/>
                </a:solidFill>
              </a:rPr>
              <a:t>12.6.1 </a:t>
            </a:r>
            <a:r>
              <a:rPr lang="zh-CN" altLang="en-US" dirty="0">
                <a:solidFill>
                  <a:srgbClr val="00B050"/>
                </a:solidFill>
              </a:rPr>
              <a:t>可串行化调度</a:t>
            </a:r>
          </a:p>
          <a:p>
            <a:pPr marL="0" indent="0" eaLnBrk="1" hangingPunct="1">
              <a:buNone/>
            </a:pPr>
            <a:endParaRPr lang="en-US" altLang="zh-CN" dirty="0"/>
          </a:p>
          <a:p>
            <a:pPr marL="0" indent="0" eaLnBrk="1" hangingPunct="1">
              <a:buNone/>
            </a:pPr>
            <a:r>
              <a:rPr lang="en-US" altLang="zh-CN" dirty="0"/>
              <a:t>12.6.2 </a:t>
            </a:r>
            <a:r>
              <a:rPr lang="zh-CN" altLang="en-US" dirty="0"/>
              <a:t>冲突可串行化调度</a:t>
            </a:r>
          </a:p>
        </p:txBody>
      </p:sp>
      <p:sp>
        <p:nvSpPr>
          <p:cNvPr id="73731" name="Rectangle 2"/>
          <p:cNvSpPr txBox="1"/>
          <p:nvPr/>
        </p:nvSpPr>
        <p:spPr>
          <a:xfrm>
            <a:off x="2438400" y="255588"/>
            <a:ext cx="7391400" cy="563562"/>
          </a:xfrm>
          <a:prstGeom prst="rect">
            <a:avLst/>
          </a:prstGeom>
          <a:noFill/>
          <a:ln w="9525">
            <a:noFill/>
          </a:ln>
        </p:spPr>
        <p:txBody>
          <a:bodyPr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SzTx/>
              <a:buFont typeface="Arial" panose="020B0604020202020204" pitchFamily="34" charset="0"/>
              <a:buNone/>
            </a:pPr>
            <a:r>
              <a:rPr lang="en-US" altLang="zh-CN" sz="3600" dirty="0">
                <a:solidFill>
                  <a:schemeClr val="bg1"/>
                </a:solidFill>
              </a:rPr>
              <a:t>12.6  </a:t>
            </a:r>
            <a:r>
              <a:rPr lang="zh-CN" altLang="en-US" sz="3600" dirty="0">
                <a:solidFill>
                  <a:schemeClr val="bg1"/>
                </a:solidFill>
              </a:rPr>
              <a:t>并发调度的可串行性</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p:cNvSpPr>
          <p:nvPr>
            <p:ph type="title"/>
          </p:nvPr>
        </p:nvSpPr>
        <p:spPr>
          <a:xfrm>
            <a:off x="2438400" y="260350"/>
            <a:ext cx="7391400" cy="563563"/>
          </a:xfrm>
        </p:spPr>
        <p:txBody>
          <a:bodyPr vert="horz" wrap="square" lIns="91440" tIns="45720" rIns="91440" bIns="45720" anchor="ctr" anchorCtr="0"/>
          <a:lstStyle/>
          <a:p>
            <a:pPr eaLnBrk="1" hangingPunct="1"/>
            <a:r>
              <a:rPr lang="en-US" altLang="zh-CN" sz="3600" dirty="0"/>
              <a:t>12.6.1 </a:t>
            </a:r>
            <a:r>
              <a:rPr lang="zh-CN" altLang="en-US" sz="3600" dirty="0"/>
              <a:t>可串行化调度</a:t>
            </a:r>
          </a:p>
        </p:txBody>
      </p:sp>
      <p:sp>
        <p:nvSpPr>
          <p:cNvPr id="74755" name="Rectangle 3"/>
          <p:cNvSpPr>
            <a:spLocks noGrp="1"/>
          </p:cNvSpPr>
          <p:nvPr>
            <p:ph type="body"/>
          </p:nvPr>
        </p:nvSpPr>
        <p:spPr>
          <a:xfrm>
            <a:off x="766763" y="1412875"/>
            <a:ext cx="10298112" cy="4610100"/>
          </a:xfrm>
        </p:spPr>
        <p:txBody>
          <a:bodyPr vert="horz" wrap="square" lIns="91440" tIns="45720" rIns="91440" bIns="45720" anchor="t" anchorCtr="0"/>
          <a:lstStyle/>
          <a:p>
            <a:pPr eaLnBrk="1" hangingPunct="1">
              <a:lnSpc>
                <a:spcPct val="140000"/>
              </a:lnSpc>
            </a:pPr>
            <a:r>
              <a:rPr lang="zh-CN" altLang="en-US" dirty="0"/>
              <a:t>可串行化</a:t>
            </a:r>
            <a:r>
              <a:rPr lang="en-US" altLang="zh-CN" dirty="0"/>
              <a:t>(Serializable)</a:t>
            </a:r>
            <a:r>
              <a:rPr lang="zh-CN" altLang="en-US" dirty="0"/>
              <a:t>调度</a:t>
            </a:r>
          </a:p>
          <a:p>
            <a:pPr lvl="1" eaLnBrk="1" hangingPunct="1">
              <a:lnSpc>
                <a:spcPct val="140000"/>
              </a:lnSpc>
            </a:pPr>
            <a:r>
              <a:rPr lang="zh-CN" altLang="en-US" dirty="0"/>
              <a:t>多个事务的并发执行是正确的，当且仅当其结果与按某一次序串行地执行这些事务时的结果相同</a:t>
            </a:r>
          </a:p>
          <a:p>
            <a:pPr eaLnBrk="1" hangingPunct="1">
              <a:lnSpc>
                <a:spcPct val="140000"/>
              </a:lnSpc>
            </a:pPr>
            <a:r>
              <a:rPr lang="zh-CN" altLang="en-US" dirty="0"/>
              <a:t>可串行性</a:t>
            </a:r>
            <a:r>
              <a:rPr lang="en-US" altLang="zh-CN" dirty="0"/>
              <a:t>(Serializability)</a:t>
            </a:r>
          </a:p>
          <a:p>
            <a:pPr lvl="1" eaLnBrk="1" hangingPunct="1">
              <a:lnSpc>
                <a:spcPct val="140000"/>
              </a:lnSpc>
            </a:pPr>
            <a:r>
              <a:rPr lang="zh-CN" altLang="en-US" dirty="0"/>
              <a:t>是并发事务正确调度的准则</a:t>
            </a:r>
          </a:p>
          <a:p>
            <a:pPr lvl="1" eaLnBrk="1" hangingPunct="1">
              <a:lnSpc>
                <a:spcPct val="140000"/>
              </a:lnSpc>
            </a:pPr>
            <a:r>
              <a:rPr lang="zh-CN" altLang="en-US" dirty="0"/>
              <a:t>一个给定的并发调度，当且仅当它是可串行化的，才认为是正确调度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可串行化调度（续）</a:t>
            </a:r>
          </a:p>
        </p:txBody>
      </p:sp>
      <p:sp>
        <p:nvSpPr>
          <p:cNvPr id="75779" name="Rectangle 3"/>
          <p:cNvSpPr>
            <a:spLocks noGrp="1"/>
          </p:cNvSpPr>
          <p:nvPr>
            <p:ph type="body"/>
          </p:nvPr>
        </p:nvSpPr>
        <p:spPr>
          <a:xfrm>
            <a:off x="1127125" y="1484313"/>
            <a:ext cx="9145588" cy="5056187"/>
          </a:xfrm>
        </p:spPr>
        <p:txBody>
          <a:bodyPr vert="horz" wrap="square" lIns="91440" tIns="45720" rIns="91440" bIns="45720" anchor="t" anchorCtr="0"/>
          <a:lstStyle/>
          <a:p>
            <a:pPr eaLnBrk="1" hangingPunct="1">
              <a:lnSpc>
                <a:spcPct val="170000"/>
              </a:lnSpc>
              <a:buNone/>
            </a:pPr>
            <a:r>
              <a:rPr lang="en-US" altLang="zh-CN" dirty="0"/>
              <a:t>[</a:t>
            </a:r>
            <a:r>
              <a:rPr lang="zh-CN" altLang="en-US" dirty="0"/>
              <a:t>例</a:t>
            </a:r>
            <a:r>
              <a:rPr lang="en-US" altLang="zh-CN" dirty="0"/>
              <a:t>12.2]</a:t>
            </a:r>
            <a:r>
              <a:rPr lang="zh-CN" altLang="en-US" dirty="0"/>
              <a:t>现在有两个事务，分别包含下列操作：</a:t>
            </a:r>
          </a:p>
          <a:p>
            <a:pPr lvl="1" eaLnBrk="1" hangingPunct="1">
              <a:lnSpc>
                <a:spcPct val="170000"/>
              </a:lnSpc>
            </a:pPr>
            <a:r>
              <a:rPr lang="zh-CN" altLang="en-US" dirty="0"/>
              <a:t>事务</a:t>
            </a:r>
            <a:r>
              <a:rPr lang="en-US" altLang="zh-CN" dirty="0"/>
              <a:t>T1</a:t>
            </a:r>
            <a:r>
              <a:rPr lang="zh-CN" altLang="en-US" dirty="0"/>
              <a:t>：读</a:t>
            </a:r>
            <a:r>
              <a:rPr lang="en-US" altLang="zh-CN" dirty="0"/>
              <a:t>B</a:t>
            </a:r>
            <a:r>
              <a:rPr lang="zh-CN" altLang="en-US" dirty="0"/>
              <a:t>；</a:t>
            </a:r>
            <a:r>
              <a:rPr lang="en-US" altLang="zh-CN" dirty="0"/>
              <a:t>A=B+1</a:t>
            </a:r>
            <a:r>
              <a:rPr lang="zh-CN" altLang="en-US" dirty="0"/>
              <a:t>；写回</a:t>
            </a:r>
            <a:r>
              <a:rPr lang="en-US" altLang="zh-CN" dirty="0"/>
              <a:t>A</a:t>
            </a:r>
          </a:p>
          <a:p>
            <a:pPr lvl="1" eaLnBrk="1" hangingPunct="1">
              <a:lnSpc>
                <a:spcPct val="170000"/>
              </a:lnSpc>
            </a:pPr>
            <a:r>
              <a:rPr lang="zh-CN" altLang="en-US" dirty="0"/>
              <a:t>事务</a:t>
            </a:r>
            <a:r>
              <a:rPr lang="en-US" altLang="zh-CN" dirty="0"/>
              <a:t>T2</a:t>
            </a:r>
            <a:r>
              <a:rPr lang="zh-CN" altLang="en-US" dirty="0"/>
              <a:t>：读</a:t>
            </a:r>
            <a:r>
              <a:rPr lang="en-US" altLang="zh-CN" dirty="0"/>
              <a:t>A</a:t>
            </a:r>
            <a:r>
              <a:rPr lang="zh-CN" altLang="en-US" dirty="0"/>
              <a:t>；</a:t>
            </a:r>
            <a:r>
              <a:rPr lang="en-US" altLang="zh-CN" dirty="0"/>
              <a:t>B=A+1</a:t>
            </a:r>
            <a:r>
              <a:rPr lang="zh-CN" altLang="en-US" dirty="0"/>
              <a:t>；写回</a:t>
            </a:r>
            <a:r>
              <a:rPr lang="en-US" altLang="zh-CN" dirty="0"/>
              <a:t>B</a:t>
            </a:r>
          </a:p>
          <a:p>
            <a:pPr lvl="1" eaLnBrk="1" hangingPunct="1">
              <a:lnSpc>
                <a:spcPct val="170000"/>
              </a:lnSpc>
              <a:buNone/>
            </a:pPr>
            <a:r>
              <a:rPr lang="zh-CN" altLang="en-US" dirty="0"/>
              <a:t>现给出对这两个事务不同的调度策略 </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en-US" sz="3600" dirty="0"/>
              <a:t>串行调度</a:t>
            </a:r>
            <a:r>
              <a:rPr lang="en-US" altLang="zh-CN" sz="3600" dirty="0"/>
              <a:t>,</a:t>
            </a:r>
            <a:r>
              <a:rPr lang="zh-CN" altLang="en-US" sz="3600" dirty="0"/>
              <a:t>正确的调度</a:t>
            </a:r>
          </a:p>
        </p:txBody>
      </p:sp>
      <p:graphicFrame>
        <p:nvGraphicFramePr>
          <p:cNvPr id="69635" name="Group 3"/>
          <p:cNvGraphicFramePr>
            <a:graphicFrameLocks noGrp="1"/>
          </p:cNvGraphicFramePr>
          <p:nvPr>
            <p:ph idx="1"/>
          </p:nvPr>
        </p:nvGraphicFramePr>
        <p:xfrm>
          <a:off x="1774825" y="827088"/>
          <a:ext cx="4013200" cy="5324480"/>
        </p:xfrm>
        <a:graphic>
          <a:graphicData uri="http://schemas.openxmlformats.org/drawingml/2006/table">
            <a:tbl>
              <a:tblPr/>
              <a:tblGrid>
                <a:gridCol w="1976437">
                  <a:extLst>
                    <a:ext uri="{9D8B030D-6E8A-4147-A177-3AD203B41FA5}">
                      <a16:colId xmlns:a16="http://schemas.microsoft.com/office/drawing/2014/main" val="20000"/>
                    </a:ext>
                  </a:extLst>
                </a:gridCol>
                <a:gridCol w="2036763">
                  <a:extLst>
                    <a:ext uri="{9D8B030D-6E8A-4147-A177-3AD203B41FA5}">
                      <a16:colId xmlns:a16="http://schemas.microsoft.com/office/drawing/2014/main" val="20001"/>
                    </a:ext>
                  </a:extLst>
                </a:gridCol>
              </a:tblGrid>
              <a:tr h="404837">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en-US" sz="17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en-US" sz="17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75000"/>
                      </a:schemeClr>
                    </a:solidFill>
                  </a:tcPr>
                </a:tc>
                <a:extLst>
                  <a:ext uri="{0D108BD9-81ED-4DB2-BD59-A6C34878D82A}">
                    <a16:rowId xmlns:a16="http://schemas.microsoft.com/office/drawing/2014/main" val="10000"/>
                  </a:ext>
                </a:extLst>
              </a:tr>
              <a:tr h="350859">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a:t>
                      </a: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B</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350859">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Y=R(B)=2</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352446">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B</a:t>
                      </a:r>
                      <a:endParaRPr kumimoji="0" lang="en-US" sz="17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350859">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 A</a:t>
                      </a:r>
                      <a:endParaRPr kumimoji="0" lang="en-US" sz="17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352446">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A=Y+1=3</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5"/>
                  </a:ext>
                </a:extLst>
              </a:tr>
              <a:tr h="350859">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a:t>
                      </a:r>
                      <a:endParaRPr kumimoji="0" lang="en-US" sz="17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6"/>
                  </a:ext>
                </a:extLst>
              </a:tr>
              <a:tr h="350541">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A</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7"/>
                  </a:ext>
                </a:extLst>
              </a:tr>
              <a:tr h="350859">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a:t>
                      </a: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8"/>
                  </a:ext>
                </a:extLst>
              </a:tr>
              <a:tr h="352446">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X=R(A)=3</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9"/>
                  </a:ext>
                </a:extLst>
              </a:tr>
              <a:tr h="350859">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A</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0"/>
                  </a:ext>
                </a:extLst>
              </a:tr>
              <a:tr h="352446">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a:t>
                      </a: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B</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1"/>
                  </a:ext>
                </a:extLst>
              </a:tr>
              <a:tr h="350859">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B=X+1=4</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2"/>
                  </a:ext>
                </a:extLst>
              </a:tr>
              <a:tr h="352446">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W(B)</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3"/>
                  </a:ext>
                </a:extLst>
              </a:tr>
              <a:tr h="350859">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B</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4"/>
                  </a:ext>
                </a:extLst>
              </a:tr>
            </a:tbl>
          </a:graphicData>
        </a:graphic>
      </p:graphicFrame>
      <p:sp>
        <p:nvSpPr>
          <p:cNvPr id="76850" name="Text Box 549"/>
          <p:cNvSpPr txBox="1"/>
          <p:nvPr/>
        </p:nvSpPr>
        <p:spPr>
          <a:xfrm>
            <a:off x="3216275" y="6153150"/>
            <a:ext cx="1384300" cy="369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None/>
            </a:pPr>
            <a:r>
              <a:rPr lang="zh-CN" altLang="en-US" sz="1800" dirty="0">
                <a:latin typeface="Times New Roman" panose="02020603050405020304" pitchFamily="18" charset="0"/>
              </a:rPr>
              <a:t>串行调度</a:t>
            </a:r>
            <a:r>
              <a:rPr lang="en-US" altLang="zh-CN" sz="1800" dirty="0">
                <a:latin typeface="Times New Roman" panose="02020603050405020304" pitchFamily="18" charset="0"/>
              </a:rPr>
              <a:t>(a)</a:t>
            </a:r>
          </a:p>
        </p:txBody>
      </p:sp>
      <p:sp>
        <p:nvSpPr>
          <p:cNvPr id="76851" name="Text Box 550"/>
          <p:cNvSpPr txBox="1"/>
          <p:nvPr/>
        </p:nvSpPr>
        <p:spPr>
          <a:xfrm>
            <a:off x="6403975" y="2492375"/>
            <a:ext cx="4814888" cy="1462088"/>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lnSpc>
                <a:spcPct val="160000"/>
              </a:lnSpc>
              <a:spcBef>
                <a:spcPct val="0"/>
              </a:spcBef>
              <a:buFont typeface="Wingdings" panose="05000000000000000000" pitchFamily="2" charset="2"/>
              <a:buChar char="n"/>
            </a:pPr>
            <a:r>
              <a:rPr lang="zh-CN" altLang="en-US" sz="2000" dirty="0">
                <a:latin typeface="Times New Roman" panose="02020603050405020304" pitchFamily="18" charset="0"/>
              </a:rPr>
              <a:t>假设</a:t>
            </a:r>
            <a:r>
              <a:rPr lang="en-US" altLang="zh-CN" sz="2000" dirty="0">
                <a:latin typeface="Times New Roman" panose="02020603050405020304" pitchFamily="18" charset="0"/>
              </a:rPr>
              <a:t>A</a:t>
            </a:r>
            <a:r>
              <a:rPr lang="zh-CN" altLang="en-US" sz="2000" dirty="0">
                <a:latin typeface="Times New Roman" panose="02020603050405020304" pitchFamily="18" charset="0"/>
              </a:rPr>
              <a:t>、</a:t>
            </a:r>
            <a:r>
              <a:rPr lang="en-US" altLang="zh-CN" sz="2000" dirty="0">
                <a:latin typeface="Times New Roman" panose="02020603050405020304" pitchFamily="18" charset="0"/>
              </a:rPr>
              <a:t>B</a:t>
            </a:r>
            <a:r>
              <a:rPr lang="zh-CN" altLang="en-US" sz="2000" dirty="0">
                <a:latin typeface="Times New Roman" panose="02020603050405020304" pitchFamily="18" charset="0"/>
              </a:rPr>
              <a:t>的初值均为</a:t>
            </a:r>
            <a:r>
              <a:rPr lang="en-US" altLang="zh-CN" sz="2000" dirty="0">
                <a:latin typeface="Times New Roman" panose="02020603050405020304" pitchFamily="18" charset="0"/>
              </a:rPr>
              <a:t>2</a:t>
            </a:r>
            <a:r>
              <a:rPr lang="zh-CN" altLang="en-US" sz="2000" dirty="0">
                <a:latin typeface="Times New Roman" panose="02020603050405020304" pitchFamily="18" charset="0"/>
              </a:rPr>
              <a:t>。</a:t>
            </a:r>
          </a:p>
          <a:p>
            <a:pPr marL="342900" lvl="0" indent="-342900" eaLnBrk="1" hangingPunct="1">
              <a:lnSpc>
                <a:spcPct val="160000"/>
              </a:lnSpc>
              <a:spcBef>
                <a:spcPct val="0"/>
              </a:spcBef>
              <a:buFont typeface="Wingdings" panose="05000000000000000000" pitchFamily="2" charset="2"/>
              <a:buChar char="n"/>
            </a:pPr>
            <a:r>
              <a:rPr lang="zh-CN" altLang="en-US" sz="2000" dirty="0">
                <a:latin typeface="Times New Roman" panose="02020603050405020304" pitchFamily="18" charset="0"/>
              </a:rPr>
              <a:t>按</a:t>
            </a:r>
            <a:r>
              <a:rPr lang="en-US" altLang="zh-CN" sz="2000" dirty="0">
                <a:latin typeface="Times New Roman" panose="02020603050405020304" pitchFamily="18" charset="0"/>
              </a:rPr>
              <a:t>T</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→T</a:t>
            </a:r>
            <a:r>
              <a:rPr lang="en-US" altLang="zh-CN" sz="2000" baseline="-25000" dirty="0">
                <a:latin typeface="Times New Roman" panose="02020603050405020304" pitchFamily="18" charset="0"/>
              </a:rPr>
              <a:t>2</a:t>
            </a:r>
            <a:r>
              <a:rPr lang="zh-CN" altLang="en-US" sz="2000" dirty="0">
                <a:latin typeface="Times New Roman" panose="02020603050405020304" pitchFamily="18" charset="0"/>
              </a:rPr>
              <a:t>次序执行结果为</a:t>
            </a:r>
            <a:r>
              <a:rPr lang="en-US" altLang="zh-CN" sz="2000" dirty="0">
                <a:latin typeface="Times New Roman" panose="02020603050405020304" pitchFamily="18" charset="0"/>
              </a:rPr>
              <a:t>A=3</a:t>
            </a:r>
            <a:r>
              <a:rPr lang="zh-CN" altLang="en-US" sz="2000" dirty="0">
                <a:latin typeface="Times New Roman" panose="02020603050405020304" pitchFamily="18" charset="0"/>
              </a:rPr>
              <a:t>，</a:t>
            </a:r>
            <a:r>
              <a:rPr lang="en-US" altLang="zh-CN" sz="2000" dirty="0">
                <a:latin typeface="Times New Roman" panose="02020603050405020304" pitchFamily="18" charset="0"/>
              </a:rPr>
              <a:t>B=4 </a:t>
            </a:r>
          </a:p>
          <a:p>
            <a:pPr marL="342900" lvl="0" indent="-342900" eaLnBrk="1" hangingPunct="1">
              <a:lnSpc>
                <a:spcPct val="160000"/>
              </a:lnSpc>
              <a:spcBef>
                <a:spcPct val="0"/>
              </a:spcBef>
              <a:buFont typeface="Wingdings" panose="05000000000000000000" pitchFamily="2" charset="2"/>
              <a:buChar char="n"/>
            </a:pPr>
            <a:r>
              <a:rPr lang="zh-CN" altLang="en-US" sz="1800" dirty="0">
                <a:latin typeface="Times New Roman" panose="02020603050405020304" pitchFamily="18" charset="0"/>
              </a:rPr>
              <a:t>串行调度策略</a:t>
            </a:r>
            <a:r>
              <a:rPr lang="en-US" altLang="zh-CN" sz="1800" dirty="0">
                <a:latin typeface="Times New Roman" panose="02020603050405020304" pitchFamily="18" charset="0"/>
              </a:rPr>
              <a:t>,</a:t>
            </a:r>
            <a:r>
              <a:rPr lang="zh-CN" altLang="en-US" sz="1800" dirty="0">
                <a:latin typeface="Times New Roman" panose="02020603050405020304" pitchFamily="18" charset="0"/>
              </a:rPr>
              <a:t>正确的调度 </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en-US" sz="3600" dirty="0"/>
              <a:t>串行调度</a:t>
            </a:r>
            <a:r>
              <a:rPr lang="en-US" altLang="zh-CN" sz="3600" dirty="0"/>
              <a:t>,</a:t>
            </a:r>
            <a:r>
              <a:rPr lang="zh-CN" altLang="en-US" sz="3600" dirty="0"/>
              <a:t>正确的调度</a:t>
            </a:r>
          </a:p>
        </p:txBody>
      </p:sp>
      <p:graphicFrame>
        <p:nvGraphicFramePr>
          <p:cNvPr id="70659" name="Group 3"/>
          <p:cNvGraphicFramePr>
            <a:graphicFrameLocks noGrp="1"/>
          </p:cNvGraphicFramePr>
          <p:nvPr>
            <p:ph idx="1"/>
          </p:nvPr>
        </p:nvGraphicFramePr>
        <p:xfrm>
          <a:off x="1774825" y="908050"/>
          <a:ext cx="3816350" cy="5292742"/>
        </p:xfrm>
        <a:graphic>
          <a:graphicData uri="http://schemas.openxmlformats.org/drawingml/2006/table">
            <a:tbl>
              <a:tblPr/>
              <a:tblGrid>
                <a:gridCol w="1906587">
                  <a:extLst>
                    <a:ext uri="{9D8B030D-6E8A-4147-A177-3AD203B41FA5}">
                      <a16:colId xmlns:a16="http://schemas.microsoft.com/office/drawing/2014/main" val="20000"/>
                    </a:ext>
                  </a:extLst>
                </a:gridCol>
                <a:gridCol w="1909763">
                  <a:extLst>
                    <a:ext uri="{9D8B030D-6E8A-4147-A177-3AD203B41FA5}">
                      <a16:colId xmlns:a16="http://schemas.microsoft.com/office/drawing/2014/main" val="20001"/>
                    </a:ext>
                  </a:extLst>
                </a:gridCol>
              </a:tblGrid>
              <a:tr h="385686">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en-US" sz="17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12" marB="45712"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en-US" sz="17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12" marB="45712"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75000"/>
                      </a:schemeClr>
                    </a:solidFill>
                  </a:tcPr>
                </a:tc>
                <a:extLst>
                  <a:ext uri="{0D108BD9-81ED-4DB2-BD59-A6C34878D82A}">
                    <a16:rowId xmlns:a16="http://schemas.microsoft.com/office/drawing/2014/main" val="10000"/>
                  </a:ext>
                </a:extLst>
              </a:tr>
              <a:tr h="35050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 A</a:t>
                      </a:r>
                      <a:endParaRPr kumimoji="0" lang="en-US" sz="17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35050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X=R(A)=2</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35050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A</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35050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a:t>
                      </a: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B</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35050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B=X+1=3</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5"/>
                  </a:ext>
                </a:extLst>
              </a:tr>
              <a:tr h="35050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W(B)</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6"/>
                  </a:ext>
                </a:extLst>
              </a:tr>
              <a:tr h="35050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Unlock B</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7"/>
                  </a:ext>
                </a:extLst>
              </a:tr>
              <a:tr h="350503">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 B</a:t>
                      </a:r>
                      <a:endParaRPr kumimoji="0" lang="en-US" sz="17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8"/>
                  </a:ext>
                </a:extLst>
              </a:tr>
              <a:tr h="350503">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Y=R(B)=3</a:t>
                      </a:r>
                      <a:endParaRPr kumimoji="0" lang="en-US" sz="17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9"/>
                  </a:ext>
                </a:extLst>
              </a:tr>
              <a:tr h="350503">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B</a:t>
                      </a:r>
                      <a:endParaRPr kumimoji="0" lang="en-US" sz="17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0"/>
                  </a:ext>
                </a:extLst>
              </a:tr>
              <a:tr h="350503">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a:t>
                      </a: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1"/>
                  </a:ext>
                </a:extLst>
              </a:tr>
              <a:tr h="350503">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A=Y+1=4</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2"/>
                  </a:ext>
                </a:extLst>
              </a:tr>
              <a:tr h="350503">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3"/>
                  </a:ext>
                </a:extLst>
              </a:tr>
              <a:tr h="350503">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A</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4"/>
                  </a:ext>
                </a:extLst>
              </a:tr>
            </a:tbl>
          </a:graphicData>
        </a:graphic>
      </p:graphicFrame>
      <p:sp>
        <p:nvSpPr>
          <p:cNvPr id="77874" name="Text Box 273"/>
          <p:cNvSpPr txBox="1"/>
          <p:nvPr/>
        </p:nvSpPr>
        <p:spPr>
          <a:xfrm>
            <a:off x="2778125" y="6142038"/>
            <a:ext cx="1397000" cy="3698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None/>
            </a:pPr>
            <a:r>
              <a:rPr lang="zh-CN" altLang="en-US" sz="1800" dirty="0">
                <a:latin typeface="Times New Roman" panose="02020603050405020304" pitchFamily="18" charset="0"/>
              </a:rPr>
              <a:t>串行调度</a:t>
            </a:r>
            <a:r>
              <a:rPr lang="en-US" altLang="zh-CN" sz="1800" dirty="0">
                <a:latin typeface="Times New Roman" panose="02020603050405020304" pitchFamily="18" charset="0"/>
              </a:rPr>
              <a:t>(b)</a:t>
            </a:r>
          </a:p>
        </p:txBody>
      </p:sp>
      <p:sp>
        <p:nvSpPr>
          <p:cNvPr id="77875" name="Text Box 274"/>
          <p:cNvSpPr txBox="1"/>
          <p:nvPr/>
        </p:nvSpPr>
        <p:spPr>
          <a:xfrm>
            <a:off x="6100763" y="2492375"/>
            <a:ext cx="4527550" cy="1503363"/>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lnSpc>
                <a:spcPct val="160000"/>
              </a:lnSpc>
              <a:spcBef>
                <a:spcPct val="0"/>
              </a:spcBef>
              <a:buFont typeface="Wingdings" panose="05000000000000000000" pitchFamily="2" charset="2"/>
              <a:buChar char="n"/>
            </a:pPr>
            <a:r>
              <a:rPr lang="zh-CN" altLang="en-US" sz="2000" dirty="0">
                <a:latin typeface="Times New Roman" panose="02020603050405020304" pitchFamily="18" charset="0"/>
              </a:rPr>
              <a:t>假设</a:t>
            </a:r>
            <a:r>
              <a:rPr lang="en-US" altLang="zh-CN" sz="2000" dirty="0">
                <a:latin typeface="Times New Roman" panose="02020603050405020304" pitchFamily="18" charset="0"/>
              </a:rPr>
              <a:t>A</a:t>
            </a:r>
            <a:r>
              <a:rPr lang="zh-CN" altLang="en-US" sz="2000" dirty="0">
                <a:latin typeface="Times New Roman" panose="02020603050405020304" pitchFamily="18" charset="0"/>
              </a:rPr>
              <a:t>、</a:t>
            </a:r>
            <a:r>
              <a:rPr lang="en-US" altLang="zh-CN" sz="2000" dirty="0">
                <a:latin typeface="Times New Roman" panose="02020603050405020304" pitchFamily="18" charset="0"/>
              </a:rPr>
              <a:t>B</a:t>
            </a:r>
            <a:r>
              <a:rPr lang="zh-CN" altLang="en-US" sz="2000" dirty="0">
                <a:latin typeface="Times New Roman" panose="02020603050405020304" pitchFamily="18" charset="0"/>
              </a:rPr>
              <a:t>的初值均为</a:t>
            </a:r>
            <a:r>
              <a:rPr lang="en-US" altLang="zh-CN" sz="2000" dirty="0">
                <a:latin typeface="Times New Roman" panose="02020603050405020304" pitchFamily="18" charset="0"/>
              </a:rPr>
              <a:t>2</a:t>
            </a:r>
            <a:r>
              <a:rPr lang="zh-CN" altLang="en-US" sz="2000" dirty="0">
                <a:latin typeface="Times New Roman" panose="02020603050405020304" pitchFamily="18" charset="0"/>
              </a:rPr>
              <a:t>。</a:t>
            </a:r>
          </a:p>
          <a:p>
            <a:pPr marL="342900" lvl="0" indent="-342900" eaLnBrk="1" hangingPunct="1">
              <a:lnSpc>
                <a:spcPct val="160000"/>
              </a:lnSpc>
              <a:spcBef>
                <a:spcPct val="0"/>
              </a:spcBef>
              <a:buFont typeface="Wingdings" panose="05000000000000000000" pitchFamily="2" charset="2"/>
              <a:buChar char="n"/>
            </a:pPr>
            <a:r>
              <a:rPr lang="en-US" altLang="zh-CN" sz="2000" dirty="0">
                <a:latin typeface="Times New Roman" panose="02020603050405020304" pitchFamily="18" charset="0"/>
              </a:rPr>
              <a:t>T</a:t>
            </a:r>
            <a:r>
              <a:rPr lang="en-US" altLang="zh-CN" sz="2000" baseline="-25000" dirty="0">
                <a:latin typeface="Times New Roman" panose="02020603050405020304" pitchFamily="18" charset="0"/>
              </a:rPr>
              <a:t>2</a:t>
            </a:r>
            <a:r>
              <a:rPr lang="en-US" altLang="zh-CN" sz="2000" dirty="0">
                <a:latin typeface="Times New Roman" panose="02020603050405020304" pitchFamily="18" charset="0"/>
              </a:rPr>
              <a:t>→T</a:t>
            </a:r>
            <a:r>
              <a:rPr lang="en-US" altLang="zh-CN" sz="2000" baseline="-25000" dirty="0">
                <a:latin typeface="Times New Roman" panose="02020603050405020304" pitchFamily="18" charset="0"/>
              </a:rPr>
              <a:t>1</a:t>
            </a:r>
            <a:r>
              <a:rPr lang="zh-CN" altLang="en-US" sz="2000" dirty="0">
                <a:latin typeface="Times New Roman" panose="02020603050405020304" pitchFamily="18" charset="0"/>
              </a:rPr>
              <a:t>次序执行结果为</a:t>
            </a:r>
            <a:r>
              <a:rPr lang="en-US" altLang="zh-CN" sz="2000" dirty="0">
                <a:latin typeface="Times New Roman" panose="02020603050405020304" pitchFamily="18" charset="0"/>
              </a:rPr>
              <a:t>B=3</a:t>
            </a:r>
            <a:r>
              <a:rPr lang="zh-CN" altLang="en-US" sz="2000" dirty="0">
                <a:latin typeface="Times New Roman" panose="02020603050405020304" pitchFamily="18" charset="0"/>
              </a:rPr>
              <a:t>，</a:t>
            </a:r>
            <a:r>
              <a:rPr lang="en-US" altLang="zh-CN" sz="2000" dirty="0">
                <a:latin typeface="Times New Roman" panose="02020603050405020304" pitchFamily="18" charset="0"/>
              </a:rPr>
              <a:t>A=4 </a:t>
            </a:r>
          </a:p>
          <a:p>
            <a:pPr marL="342900" lvl="0" indent="-342900" eaLnBrk="1" hangingPunct="1">
              <a:lnSpc>
                <a:spcPct val="160000"/>
              </a:lnSpc>
              <a:spcBef>
                <a:spcPct val="0"/>
              </a:spcBef>
              <a:buFont typeface="Wingdings" panose="05000000000000000000" pitchFamily="2" charset="2"/>
              <a:buChar char="n"/>
            </a:pPr>
            <a:r>
              <a:rPr lang="zh-CN" altLang="en-US" sz="2000" dirty="0">
                <a:latin typeface="Times New Roman" panose="02020603050405020304" pitchFamily="18" charset="0"/>
              </a:rPr>
              <a:t>串行调度策略</a:t>
            </a:r>
            <a:r>
              <a:rPr lang="en-US" altLang="zh-CN" sz="2000" dirty="0">
                <a:latin typeface="Times New Roman" panose="02020603050405020304" pitchFamily="18" charset="0"/>
              </a:rPr>
              <a:t>,</a:t>
            </a:r>
            <a:r>
              <a:rPr lang="zh-CN" altLang="en-US" sz="2000" dirty="0">
                <a:latin typeface="Times New Roman" panose="02020603050405020304" pitchFamily="18" charset="0"/>
              </a:rPr>
              <a:t>正确的调度 </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不可串行化调度，错误的调度</a:t>
            </a:r>
          </a:p>
        </p:txBody>
      </p:sp>
      <p:graphicFrame>
        <p:nvGraphicFramePr>
          <p:cNvPr id="71683" name="Group 3"/>
          <p:cNvGraphicFramePr>
            <a:graphicFrameLocks noGrp="1"/>
          </p:cNvGraphicFramePr>
          <p:nvPr>
            <p:ph idx="1"/>
          </p:nvPr>
        </p:nvGraphicFramePr>
        <p:xfrm>
          <a:off x="1343025" y="863600"/>
          <a:ext cx="4824413" cy="5270505"/>
        </p:xfrm>
        <a:graphic>
          <a:graphicData uri="http://schemas.openxmlformats.org/drawingml/2006/table">
            <a:tbl>
              <a:tblPr/>
              <a:tblGrid>
                <a:gridCol w="2409211">
                  <a:extLst>
                    <a:ext uri="{9D8B030D-6E8A-4147-A177-3AD203B41FA5}">
                      <a16:colId xmlns:a16="http://schemas.microsoft.com/office/drawing/2014/main" val="20000"/>
                    </a:ext>
                  </a:extLst>
                </a:gridCol>
                <a:gridCol w="2415202">
                  <a:extLst>
                    <a:ext uri="{9D8B030D-6E8A-4147-A177-3AD203B41FA5}">
                      <a16:colId xmlns:a16="http://schemas.microsoft.com/office/drawing/2014/main" val="20001"/>
                    </a:ext>
                  </a:extLst>
                </a:gridCol>
              </a:tblGrid>
              <a:tr h="351367">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en-US" sz="17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en-US" sz="17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75000"/>
                      </a:schemeClr>
                    </a:solidFill>
                  </a:tcPr>
                </a:tc>
                <a:extLst>
                  <a:ext uri="{0D108BD9-81ED-4DB2-BD59-A6C34878D82A}">
                    <a16:rowId xmlns:a16="http://schemas.microsoft.com/office/drawing/2014/main" val="10000"/>
                  </a:ext>
                </a:extLst>
              </a:tr>
              <a:tr h="351367">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a:t>
                      </a: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B</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351367">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Y=R(B)=2</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35136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a:t>
                      </a: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35136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X=R(A)=2</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351367">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B</a:t>
                      </a:r>
                      <a:endParaRPr kumimoji="0" lang="en-US" sz="17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5"/>
                  </a:ext>
                </a:extLst>
              </a:tr>
              <a:tr h="35136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A</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6"/>
                  </a:ext>
                </a:extLst>
              </a:tr>
              <a:tr h="351367">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a:t>
                      </a: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7"/>
                  </a:ext>
                </a:extLst>
              </a:tr>
              <a:tr h="351367">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A=Y+1=3</a:t>
                      </a:r>
                      <a:endParaRPr kumimoji="0" lang="en-US" sz="17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8"/>
                  </a:ext>
                </a:extLst>
              </a:tr>
              <a:tr h="351367">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9"/>
                  </a:ext>
                </a:extLst>
              </a:tr>
              <a:tr h="35136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a:t>
                      </a: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B</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0"/>
                  </a:ext>
                </a:extLst>
              </a:tr>
              <a:tr h="35136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B=X+1=3</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1"/>
                  </a:ext>
                </a:extLst>
              </a:tr>
              <a:tr h="35136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W(B)</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2"/>
                  </a:ext>
                </a:extLst>
              </a:tr>
              <a:tr h="351367">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A</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3"/>
                  </a:ext>
                </a:extLst>
              </a:tr>
              <a:tr h="35136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Unlock B</a:t>
                      </a:r>
                      <a:endParaRPr kumimoji="0" 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4"/>
                  </a:ext>
                </a:extLst>
              </a:tr>
            </a:tbl>
          </a:graphicData>
        </a:graphic>
      </p:graphicFrame>
      <p:sp>
        <p:nvSpPr>
          <p:cNvPr id="78898" name="Text Box 236"/>
          <p:cNvSpPr txBox="1"/>
          <p:nvPr/>
        </p:nvSpPr>
        <p:spPr>
          <a:xfrm>
            <a:off x="2551113" y="6061075"/>
            <a:ext cx="2101850" cy="369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None/>
            </a:pPr>
            <a:r>
              <a:rPr lang="zh-CN" altLang="zh-CN" sz="1800" dirty="0">
                <a:latin typeface="Times New Roman" panose="02020603050405020304" pitchFamily="18" charset="0"/>
              </a:rPr>
              <a:t>不可串行化的调度 </a:t>
            </a:r>
          </a:p>
        </p:txBody>
      </p:sp>
      <p:sp>
        <p:nvSpPr>
          <p:cNvPr id="78899" name="Text Box 237"/>
          <p:cNvSpPr txBox="1"/>
          <p:nvPr/>
        </p:nvSpPr>
        <p:spPr>
          <a:xfrm>
            <a:off x="6600825" y="2708275"/>
            <a:ext cx="4391025" cy="166052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lnSpc>
                <a:spcPct val="170000"/>
              </a:lnSpc>
              <a:spcBef>
                <a:spcPct val="0"/>
              </a:spcBef>
              <a:buFont typeface="Wingdings" panose="05000000000000000000" pitchFamily="2" charset="2"/>
              <a:buChar char="n"/>
            </a:pPr>
            <a:r>
              <a:rPr lang="zh-CN" altLang="en-US" sz="2000" dirty="0">
                <a:latin typeface="Times New Roman" panose="02020603050405020304" pitchFamily="18" charset="0"/>
              </a:rPr>
              <a:t>执行结果与</a:t>
            </a:r>
            <a:r>
              <a:rPr lang="en-US" altLang="zh-CN" sz="2000" dirty="0">
                <a:latin typeface="Times New Roman" panose="02020603050405020304" pitchFamily="18" charset="0"/>
              </a:rPr>
              <a:t>(a)</a:t>
            </a:r>
            <a:r>
              <a:rPr lang="zh-CN" altLang="en-US" sz="2000" dirty="0">
                <a:latin typeface="Times New Roman" panose="02020603050405020304" pitchFamily="18" charset="0"/>
              </a:rPr>
              <a:t>、</a:t>
            </a:r>
            <a:r>
              <a:rPr lang="en-US" altLang="zh-CN" sz="2000" dirty="0">
                <a:latin typeface="Times New Roman" panose="02020603050405020304" pitchFamily="18" charset="0"/>
              </a:rPr>
              <a:t>(b)</a:t>
            </a:r>
            <a:r>
              <a:rPr lang="zh-CN" altLang="en-US" sz="2000" dirty="0">
                <a:latin typeface="Times New Roman" panose="02020603050405020304" pitchFamily="18" charset="0"/>
              </a:rPr>
              <a:t>的结果都不同</a:t>
            </a:r>
          </a:p>
          <a:p>
            <a:pPr marL="342900" lvl="0" indent="-342900" eaLnBrk="1" hangingPunct="1">
              <a:lnSpc>
                <a:spcPct val="170000"/>
              </a:lnSpc>
              <a:spcBef>
                <a:spcPct val="0"/>
              </a:spcBef>
              <a:buFont typeface="Wingdings" panose="05000000000000000000" pitchFamily="2" charset="2"/>
              <a:buChar char="n"/>
            </a:pPr>
            <a:r>
              <a:rPr lang="zh-CN" altLang="en-US" sz="2000" dirty="0">
                <a:latin typeface="Times New Roman" panose="02020603050405020304" pitchFamily="18" charset="0"/>
              </a:rPr>
              <a:t>是错误的调度 （因为只有这两种串行调度）</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可串行化调度，正确的调度</a:t>
            </a:r>
          </a:p>
        </p:txBody>
      </p:sp>
      <p:graphicFrame>
        <p:nvGraphicFramePr>
          <p:cNvPr id="72707" name="Group 3"/>
          <p:cNvGraphicFramePr>
            <a:graphicFrameLocks noGrp="1"/>
          </p:cNvGraphicFramePr>
          <p:nvPr>
            <p:ph idx="1"/>
          </p:nvPr>
        </p:nvGraphicFramePr>
        <p:xfrm>
          <a:off x="1487488" y="879475"/>
          <a:ext cx="4824412" cy="5099054"/>
        </p:xfrm>
        <a:graphic>
          <a:graphicData uri="http://schemas.openxmlformats.org/drawingml/2006/table">
            <a:tbl>
              <a:tblPr/>
              <a:tblGrid>
                <a:gridCol w="2303795">
                  <a:extLst>
                    <a:ext uri="{9D8B030D-6E8A-4147-A177-3AD203B41FA5}">
                      <a16:colId xmlns:a16="http://schemas.microsoft.com/office/drawing/2014/main" val="20000"/>
                    </a:ext>
                  </a:extLst>
                </a:gridCol>
                <a:gridCol w="2520617">
                  <a:extLst>
                    <a:ext uri="{9D8B030D-6E8A-4147-A177-3AD203B41FA5}">
                      <a16:colId xmlns:a16="http://schemas.microsoft.com/office/drawing/2014/main" val="20001"/>
                    </a:ext>
                  </a:extLst>
                </a:gridCol>
              </a:tblGrid>
              <a:tr h="385830">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en-US" sz="16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52" marR="91452" marT="45727" marB="45727"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en-US" sz="16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52" marR="91452" marT="45727" marB="45727"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75000"/>
                      </a:schemeClr>
                    </a:solidFill>
                  </a:tcPr>
                </a:tc>
                <a:extLst>
                  <a:ext uri="{0D108BD9-81ED-4DB2-BD59-A6C34878D82A}">
                    <a16:rowId xmlns:a16="http://schemas.microsoft.com/office/drawing/2014/main" val="10000"/>
                  </a:ext>
                </a:extLst>
              </a:tr>
              <a:tr h="335370">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6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a:t>
                      </a:r>
                      <a:r>
                        <a:rPr kumimoji="0" 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B</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52" marR="91452" marT="45727" marB="45727"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2" marR="91452" marT="45727" marB="45727"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336609">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Y=R(B)=2</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52" marR="91452" marT="45727" marB="45727"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2" marR="91452" marT="45727" marB="45727"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339785">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B</a:t>
                      </a:r>
                      <a:endParaRPr kumimoji="0" 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52" marR="91452" marT="45727" marB="45727"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2" marR="91452" marT="45727" marB="45727"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336609">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 A</a:t>
                      </a:r>
                      <a:endParaRPr kumimoji="0" 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52" marR="91452" marT="45727" marB="45727"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2" marR="91452" marT="45727" marB="45727"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336609">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52" marR="91452" marT="45727" marB="45727"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6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a:t>
                      </a:r>
                      <a:r>
                        <a:rPr kumimoji="0" 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52" marR="91452" marT="45727" marB="45727"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5"/>
                  </a:ext>
                </a:extLst>
              </a:tr>
              <a:tr h="336609">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A=Y+1=3</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52" marR="91452" marT="45727" marB="45727"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0" 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52" marR="91452" marT="45727" marB="45727"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6"/>
                  </a:ext>
                </a:extLst>
              </a:tr>
              <a:tr h="336609">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a:t>
                      </a:r>
                      <a:endParaRPr kumimoji="0" 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52" marR="91452" marT="45727" marB="45727"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0" 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52" marR="91452" marT="45727" marB="45727"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7"/>
                  </a:ext>
                </a:extLst>
              </a:tr>
              <a:tr h="336609">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A</a:t>
                      </a:r>
                      <a:endParaRPr kumimoji="0" 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52" marR="91452" marT="45727" marB="45727"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0" 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52" marR="91452" marT="45727" marB="45727"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8"/>
                  </a:ext>
                </a:extLst>
              </a:tr>
              <a:tr h="336609">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52" marR="91452" marT="45727" marB="45727"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X=R(A)=3</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52" marR="91452" marT="45727" marB="45727"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9"/>
                  </a:ext>
                </a:extLst>
              </a:tr>
              <a:tr h="33537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52" marR="91452" marT="45727" marB="45727"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A</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52" marR="91452" marT="45727" marB="45727"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0"/>
                  </a:ext>
                </a:extLst>
              </a:tr>
              <a:tr h="336609">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52" marR="91452" marT="45727" marB="45727"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6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a:t>
                      </a:r>
                      <a:r>
                        <a:rPr kumimoji="0" 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B</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52" marR="91452" marT="45727" marB="45727"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1"/>
                  </a:ext>
                </a:extLst>
              </a:tr>
              <a:tr h="336609">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52" marR="91452" marT="45727" marB="45727"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B=X+1=4</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52" marR="91452" marT="45727" marB="45727"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2"/>
                  </a:ext>
                </a:extLst>
              </a:tr>
              <a:tr h="336609">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52" marR="91452" marT="45727" marB="45727"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W(B)</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52" marR="91452" marT="45727" marB="45727"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3"/>
                  </a:ext>
                </a:extLst>
              </a:tr>
              <a:tr h="336609">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endParaRPr kumimoji="0" lang="zh-CN"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52" marR="91452" marT="45727" marB="45727"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Unlock B</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2" marR="91452" marT="45727" marB="45727"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4"/>
                  </a:ext>
                </a:extLst>
              </a:tr>
            </a:tbl>
          </a:graphicData>
        </a:graphic>
      </p:graphicFrame>
      <p:sp>
        <p:nvSpPr>
          <p:cNvPr id="79923" name="Text Box 238"/>
          <p:cNvSpPr txBox="1"/>
          <p:nvPr/>
        </p:nvSpPr>
        <p:spPr>
          <a:xfrm>
            <a:off x="3128963" y="6054725"/>
            <a:ext cx="1870075" cy="369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None/>
            </a:pPr>
            <a:r>
              <a:rPr lang="zh-CN" altLang="zh-CN" sz="1800" dirty="0">
                <a:latin typeface="Times New Roman" panose="02020603050405020304" pitchFamily="18" charset="0"/>
              </a:rPr>
              <a:t>可串行化的调度 </a:t>
            </a:r>
          </a:p>
        </p:txBody>
      </p:sp>
      <p:sp>
        <p:nvSpPr>
          <p:cNvPr id="79924" name="Text Box 239"/>
          <p:cNvSpPr txBox="1"/>
          <p:nvPr/>
        </p:nvSpPr>
        <p:spPr>
          <a:xfrm>
            <a:off x="7104063" y="2492375"/>
            <a:ext cx="3455987" cy="158750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lnSpc>
                <a:spcPct val="170000"/>
              </a:lnSpc>
              <a:spcBef>
                <a:spcPct val="0"/>
              </a:spcBef>
              <a:buFont typeface="Wingdings" panose="05000000000000000000" pitchFamily="2" charset="2"/>
              <a:buChar char="n"/>
            </a:pPr>
            <a:r>
              <a:rPr lang="zh-CN" altLang="en-US" sz="2000" dirty="0">
                <a:latin typeface="Times New Roman" panose="02020603050405020304" pitchFamily="18" charset="0"/>
              </a:rPr>
              <a:t>执行结果与串行调度</a:t>
            </a:r>
            <a:r>
              <a:rPr lang="en-US" altLang="zh-CN" sz="2000" dirty="0">
                <a:latin typeface="Times New Roman" panose="02020603050405020304" pitchFamily="18" charset="0"/>
              </a:rPr>
              <a:t>(a)</a:t>
            </a:r>
            <a:r>
              <a:rPr lang="zh-CN" altLang="en-US" sz="2000" dirty="0">
                <a:latin typeface="Times New Roman" panose="02020603050405020304" pitchFamily="18" charset="0"/>
              </a:rPr>
              <a:t>的执行结果相同</a:t>
            </a:r>
          </a:p>
          <a:p>
            <a:pPr marL="342900" lvl="0" indent="-342900" eaLnBrk="1" hangingPunct="1">
              <a:lnSpc>
                <a:spcPct val="170000"/>
              </a:lnSpc>
              <a:spcBef>
                <a:spcPct val="0"/>
              </a:spcBef>
              <a:buFont typeface="Wingdings" panose="05000000000000000000" pitchFamily="2" charset="2"/>
              <a:buChar char="n"/>
            </a:pPr>
            <a:r>
              <a:rPr lang="zh-CN" altLang="en-US" sz="2000" dirty="0">
                <a:latin typeface="Times New Roman" panose="02020603050405020304" pitchFamily="18" charset="0"/>
              </a:rPr>
              <a:t>是正确的调度 </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讨论</a:t>
            </a:r>
            <a:r>
              <a:rPr lang="en-US" altLang="zh-CN"/>
              <a:t>“</a:t>
            </a:r>
            <a:r>
              <a:rPr lang="zh-CN" altLang="en-US"/>
              <a:t>可串行化调度</a:t>
            </a:r>
            <a:r>
              <a:rPr lang="en-US" altLang="zh-CN"/>
              <a:t>”</a:t>
            </a:r>
          </a:p>
        </p:txBody>
      </p:sp>
      <p:sp>
        <p:nvSpPr>
          <p:cNvPr id="3" name="内容占位符 2"/>
          <p:cNvSpPr>
            <a:spLocks noGrp="1"/>
          </p:cNvSpPr>
          <p:nvPr>
            <p:ph idx="1"/>
          </p:nvPr>
        </p:nvSpPr>
        <p:spPr/>
        <p:txBody>
          <a:bodyPr/>
          <a:lstStyle/>
          <a:p>
            <a:pPr marL="0" lvl="1"/>
            <a:r>
              <a:rPr lang="zh-CN" altLang="en-US" sz="2400" dirty="0">
                <a:sym typeface="+mn-ea"/>
              </a:rPr>
              <a:t>多个事务的并发执行是正确的，当且仅当其结果与</a:t>
            </a:r>
            <a:r>
              <a:rPr lang="zh-CN" altLang="en-US" sz="2400" dirty="0">
                <a:solidFill>
                  <a:srgbClr val="C00000"/>
                </a:solidFill>
                <a:sym typeface="+mn-ea"/>
              </a:rPr>
              <a:t>按某一次序串行地执行这些事务</a:t>
            </a:r>
            <a:r>
              <a:rPr lang="zh-CN" altLang="en-US" sz="2400" dirty="0">
                <a:sym typeface="+mn-ea"/>
              </a:rPr>
              <a:t>时的结果相同</a:t>
            </a:r>
          </a:p>
          <a:p>
            <a:pPr marL="0" lvl="1"/>
            <a:endParaRPr lang="zh-CN" altLang="en-US" sz="2400" dirty="0"/>
          </a:p>
          <a:p>
            <a:r>
              <a:rPr lang="zh-CN" altLang="en-US"/>
              <a:t>若有</a:t>
            </a:r>
            <a:r>
              <a:rPr lang="en-US" altLang="zh-CN"/>
              <a:t>n</a:t>
            </a:r>
            <a:r>
              <a:rPr lang="zh-CN" altLang="en-US"/>
              <a:t>个事务并发执行，一共有多少个可能的串行执行顺序？</a:t>
            </a:r>
          </a:p>
          <a:p>
            <a:endParaRPr lang="zh-CN" altLang="en-US"/>
          </a:p>
          <a:p>
            <a:r>
              <a:rPr lang="zh-CN" altLang="en-US"/>
              <a:t>因此，实际中不可能采用定义来判断一个并发调度是否为可串行化调度</a:t>
            </a:r>
          </a:p>
          <a:p>
            <a:endParaRPr lang="zh-CN" altLang="en-US"/>
          </a:p>
        </p:txBody>
      </p:sp>
      <p:sp>
        <p:nvSpPr>
          <p:cNvPr id="4" name="文本框 3"/>
          <p:cNvSpPr txBox="1"/>
          <p:nvPr/>
        </p:nvSpPr>
        <p:spPr>
          <a:xfrm>
            <a:off x="4584065" y="2996565"/>
            <a:ext cx="2304415" cy="645160"/>
          </a:xfrm>
          <a:prstGeom prst="rect">
            <a:avLst/>
          </a:prstGeom>
          <a:noFill/>
        </p:spPr>
        <p:txBody>
          <a:bodyPr wrap="square" rtlCol="0" anchor="t">
            <a:spAutoFit/>
          </a:bodyPr>
          <a:lstStyle/>
          <a:p>
            <a:r>
              <a:rPr lang="en-US" altLang="zh-CN" sz="3600" b="1">
                <a:solidFill>
                  <a:srgbClr val="C00000"/>
                </a:solidFill>
                <a:sym typeface="+mn-ea"/>
              </a:rPr>
              <a:t>n</a:t>
            </a:r>
            <a:r>
              <a:rPr lang="zh-CN" altLang="en-US" sz="3600" b="1">
                <a:solidFill>
                  <a:srgbClr val="C00000"/>
                </a:solidFill>
                <a:sym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内容占位符 2"/>
          <p:cNvSpPr>
            <a:spLocks noGrp="1"/>
          </p:cNvSpPr>
          <p:nvPr>
            <p:ph idx="1"/>
          </p:nvPr>
        </p:nvSpPr>
        <p:spPr>
          <a:xfrm>
            <a:off x="1600200" y="1412875"/>
            <a:ext cx="8229600" cy="4911725"/>
          </a:xfrm>
        </p:spPr>
        <p:txBody>
          <a:bodyPr vert="horz" wrap="square" lIns="91440" tIns="45720" rIns="91440" bIns="45720" anchor="t" anchorCtr="0"/>
          <a:lstStyle/>
          <a:p>
            <a:pPr marL="0" indent="0" eaLnBrk="1" hangingPunct="1">
              <a:buNone/>
            </a:pPr>
            <a:r>
              <a:rPr lang="en-US" altLang="zh-CN" dirty="0"/>
              <a:t>12.6.1 </a:t>
            </a:r>
            <a:r>
              <a:rPr lang="zh-CN" altLang="en-US" dirty="0"/>
              <a:t>可串行化调度</a:t>
            </a:r>
          </a:p>
          <a:p>
            <a:pPr marL="0" indent="0" eaLnBrk="1" hangingPunct="1">
              <a:buNone/>
            </a:pPr>
            <a:endParaRPr lang="en-US" altLang="zh-CN" dirty="0"/>
          </a:p>
          <a:p>
            <a:pPr marL="0" indent="0" eaLnBrk="1" hangingPunct="1">
              <a:buNone/>
            </a:pPr>
            <a:r>
              <a:rPr lang="en-US" altLang="zh-CN" dirty="0">
                <a:solidFill>
                  <a:srgbClr val="00B050"/>
                </a:solidFill>
              </a:rPr>
              <a:t>12.6.2 </a:t>
            </a:r>
            <a:r>
              <a:rPr lang="zh-CN" altLang="en-US" dirty="0">
                <a:solidFill>
                  <a:srgbClr val="00B050"/>
                </a:solidFill>
              </a:rPr>
              <a:t>冲突可串行化调度</a:t>
            </a:r>
          </a:p>
        </p:txBody>
      </p:sp>
      <p:sp>
        <p:nvSpPr>
          <p:cNvPr id="80899" name="Rectangle 2"/>
          <p:cNvSpPr txBox="1"/>
          <p:nvPr/>
        </p:nvSpPr>
        <p:spPr>
          <a:xfrm>
            <a:off x="2438400" y="255588"/>
            <a:ext cx="7391400" cy="563562"/>
          </a:xfrm>
          <a:prstGeom prst="rect">
            <a:avLst/>
          </a:prstGeom>
          <a:noFill/>
          <a:ln w="9525">
            <a:noFill/>
          </a:ln>
        </p:spPr>
        <p:txBody>
          <a:bodyPr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SzTx/>
              <a:buFont typeface="Arial" panose="020B0604020202020204" pitchFamily="34" charset="0"/>
              <a:buNone/>
            </a:pPr>
            <a:r>
              <a:rPr lang="en-US" altLang="zh-CN" sz="3600" dirty="0">
                <a:solidFill>
                  <a:schemeClr val="bg1"/>
                </a:solidFill>
              </a:rPr>
              <a:t>12.6  </a:t>
            </a:r>
            <a:r>
              <a:rPr lang="zh-CN" altLang="en-US" sz="3600" dirty="0">
                <a:solidFill>
                  <a:schemeClr val="bg1"/>
                </a:solidFill>
              </a:rPr>
              <a:t>并发调度的可串行性</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p:cNvSpPr>
          <p:nvPr>
            <p:ph type="title"/>
          </p:nvPr>
        </p:nvSpPr>
        <p:spPr>
          <a:xfrm>
            <a:off x="2238375" y="212725"/>
            <a:ext cx="7772400" cy="641350"/>
          </a:xfrm>
        </p:spPr>
        <p:txBody>
          <a:bodyPr vert="horz" wrap="square" lIns="91440" tIns="45720" rIns="91440" bIns="45720" anchor="ctr" anchorCtr="0"/>
          <a:lstStyle/>
          <a:p>
            <a:pPr eaLnBrk="1" hangingPunct="1"/>
            <a:r>
              <a:rPr lang="en-US" altLang="zh-CN" sz="3600" dirty="0"/>
              <a:t>12.6.2  </a:t>
            </a:r>
            <a:r>
              <a:rPr lang="zh-CN" altLang="en-US" sz="3600" dirty="0"/>
              <a:t>冲突可串行化调度</a:t>
            </a:r>
            <a:endParaRPr lang="en-US" altLang="zh-CN" sz="3600" dirty="0"/>
          </a:p>
        </p:txBody>
      </p:sp>
      <p:sp>
        <p:nvSpPr>
          <p:cNvPr id="81923" name="Rectangle 3"/>
          <p:cNvSpPr>
            <a:spLocks noGrp="1"/>
          </p:cNvSpPr>
          <p:nvPr>
            <p:ph type="body"/>
          </p:nvPr>
        </p:nvSpPr>
        <p:spPr>
          <a:xfrm>
            <a:off x="976313" y="1268413"/>
            <a:ext cx="10296525" cy="4984750"/>
          </a:xfrm>
        </p:spPr>
        <p:txBody>
          <a:bodyPr vert="horz" wrap="square" lIns="91440" tIns="45720" rIns="91440" bIns="45720" anchor="t" anchorCtr="0"/>
          <a:lstStyle/>
          <a:p>
            <a:pPr eaLnBrk="1" hangingPunct="1">
              <a:lnSpc>
                <a:spcPct val="140000"/>
              </a:lnSpc>
            </a:pPr>
            <a:r>
              <a:rPr lang="zh-CN" altLang="en-US" dirty="0"/>
              <a:t>冲突可串行化</a:t>
            </a:r>
          </a:p>
          <a:p>
            <a:pPr lvl="1">
              <a:lnSpc>
                <a:spcPct val="140000"/>
              </a:lnSpc>
            </a:pPr>
            <a:r>
              <a:rPr lang="zh-CN" altLang="en-US" dirty="0"/>
              <a:t>一个比可串行化更严格的条件</a:t>
            </a:r>
          </a:p>
          <a:p>
            <a:pPr lvl="1">
              <a:lnSpc>
                <a:spcPct val="140000"/>
              </a:lnSpc>
            </a:pPr>
            <a:r>
              <a:rPr lang="zh-CN" altLang="en-US" dirty="0"/>
              <a:t>商用系统中的调度器采用</a:t>
            </a:r>
          </a:p>
          <a:p>
            <a:pPr eaLnBrk="1" hangingPunct="1">
              <a:lnSpc>
                <a:spcPct val="140000"/>
              </a:lnSpc>
            </a:pPr>
            <a:r>
              <a:rPr lang="zh-CN" altLang="en-US" dirty="0"/>
              <a:t>冲突操作：是指不同的事务对同一数据的读写操作和写写操作：</a:t>
            </a:r>
            <a:endParaRPr lang="en-US" altLang="zh-CN" dirty="0"/>
          </a:p>
          <a:p>
            <a:pPr eaLnBrk="1" hangingPunct="1">
              <a:lnSpc>
                <a:spcPct val="140000"/>
              </a:lnSpc>
              <a:buNone/>
            </a:pPr>
            <a:r>
              <a:rPr lang="en-US" altLang="zh-CN" dirty="0"/>
              <a:t>  	</a:t>
            </a:r>
            <a:r>
              <a:rPr lang="en-US" altLang="zh-CN" sz="2400" dirty="0"/>
              <a:t>  R</a:t>
            </a:r>
            <a:r>
              <a:rPr lang="en-US" altLang="zh-CN" sz="2400" baseline="-25000" dirty="0"/>
              <a:t>i</a:t>
            </a:r>
            <a:r>
              <a:rPr lang="en-US" altLang="zh-CN" sz="2400" dirty="0"/>
              <a:t>(x)</a:t>
            </a:r>
            <a:r>
              <a:rPr lang="zh-CN" altLang="en-US" sz="2400" dirty="0"/>
              <a:t>与</a:t>
            </a:r>
            <a:r>
              <a:rPr lang="en-US" altLang="zh-CN" sz="2400" dirty="0"/>
              <a:t>W</a:t>
            </a:r>
            <a:r>
              <a:rPr lang="en-US" altLang="zh-CN" sz="2400" baseline="-25000" dirty="0"/>
              <a:t>j</a:t>
            </a:r>
            <a:r>
              <a:rPr lang="en-US" altLang="zh-CN" sz="2400" dirty="0"/>
              <a:t>(x)	       /*</a:t>
            </a:r>
            <a:r>
              <a:rPr lang="zh-CN" altLang="en-US" sz="2400" dirty="0"/>
              <a:t>事务</a:t>
            </a:r>
            <a:r>
              <a:rPr lang="en-US" altLang="zh-CN" sz="2400" dirty="0"/>
              <a:t>T</a:t>
            </a:r>
            <a:r>
              <a:rPr lang="en-US" altLang="zh-CN" sz="2400" baseline="-25000" dirty="0"/>
              <a:t>i</a:t>
            </a:r>
            <a:r>
              <a:rPr lang="zh-CN" altLang="en-US" sz="2400" dirty="0"/>
              <a:t>读</a:t>
            </a:r>
            <a:r>
              <a:rPr lang="en-US" altLang="zh-CN" sz="2400" dirty="0"/>
              <a:t>x</a:t>
            </a:r>
            <a:r>
              <a:rPr lang="zh-CN" altLang="en-US" sz="2400" dirty="0"/>
              <a:t>，</a:t>
            </a:r>
            <a:r>
              <a:rPr lang="en-US" altLang="zh-CN" sz="2400" dirty="0"/>
              <a:t>T</a:t>
            </a:r>
            <a:r>
              <a:rPr lang="en-US" altLang="zh-CN" sz="2400" baseline="-25000" dirty="0"/>
              <a:t>j</a:t>
            </a:r>
            <a:r>
              <a:rPr lang="zh-CN" altLang="en-US" sz="2400" dirty="0"/>
              <a:t>写</a:t>
            </a:r>
            <a:r>
              <a:rPr lang="en-US" altLang="zh-CN" sz="2400" dirty="0"/>
              <a:t>x</a:t>
            </a:r>
            <a:r>
              <a:rPr lang="zh-CN" altLang="en-US" sz="2400" dirty="0"/>
              <a:t>，其中</a:t>
            </a:r>
            <a:r>
              <a:rPr lang="en-US" altLang="zh-CN" sz="2400" dirty="0"/>
              <a:t>i≠j*/</a:t>
            </a:r>
          </a:p>
          <a:p>
            <a:pPr eaLnBrk="1" hangingPunct="1">
              <a:lnSpc>
                <a:spcPct val="140000"/>
              </a:lnSpc>
              <a:buNone/>
            </a:pPr>
            <a:r>
              <a:rPr lang="en-US" altLang="zh-CN" sz="2400" dirty="0"/>
              <a:t>	  W</a:t>
            </a:r>
            <a:r>
              <a:rPr lang="en-US" altLang="zh-CN" sz="2400" baseline="-25000" dirty="0"/>
              <a:t>i</a:t>
            </a:r>
            <a:r>
              <a:rPr lang="en-US" altLang="zh-CN" sz="2400" dirty="0"/>
              <a:t>(x)</a:t>
            </a:r>
            <a:r>
              <a:rPr lang="zh-CN" altLang="en-US" sz="2400" dirty="0"/>
              <a:t>与</a:t>
            </a:r>
            <a:r>
              <a:rPr lang="en-US" altLang="zh-CN" sz="2400" dirty="0"/>
              <a:t>W</a:t>
            </a:r>
            <a:r>
              <a:rPr lang="en-US" altLang="zh-CN" sz="2400" baseline="-25000" dirty="0"/>
              <a:t>j</a:t>
            </a:r>
            <a:r>
              <a:rPr lang="en-US" altLang="zh-CN" sz="2400" dirty="0"/>
              <a:t>(x)         /*</a:t>
            </a:r>
            <a:r>
              <a:rPr lang="zh-CN" altLang="en-US" sz="2400" dirty="0"/>
              <a:t>事务</a:t>
            </a:r>
            <a:r>
              <a:rPr lang="en-US" altLang="zh-CN" sz="2400" dirty="0"/>
              <a:t>T</a:t>
            </a:r>
            <a:r>
              <a:rPr lang="en-US" altLang="zh-CN" sz="2400" baseline="-25000" dirty="0"/>
              <a:t>i</a:t>
            </a:r>
            <a:r>
              <a:rPr lang="zh-CN" altLang="en-US" sz="2400" dirty="0"/>
              <a:t>写</a:t>
            </a:r>
            <a:r>
              <a:rPr lang="en-US" altLang="zh-CN" sz="2400" dirty="0"/>
              <a:t>x</a:t>
            </a:r>
            <a:r>
              <a:rPr lang="zh-CN" altLang="en-US" sz="2400" dirty="0"/>
              <a:t>，</a:t>
            </a:r>
            <a:r>
              <a:rPr lang="en-US" altLang="zh-CN" sz="2400" dirty="0"/>
              <a:t>T</a:t>
            </a:r>
            <a:r>
              <a:rPr lang="en-US" altLang="zh-CN" sz="2400" baseline="-25000" dirty="0"/>
              <a:t>j</a:t>
            </a:r>
            <a:r>
              <a:rPr lang="zh-CN" altLang="en-US" sz="2400" dirty="0"/>
              <a:t>写</a:t>
            </a:r>
            <a:r>
              <a:rPr lang="en-US" altLang="zh-CN" sz="2400" dirty="0"/>
              <a:t>x</a:t>
            </a:r>
            <a:r>
              <a:rPr lang="zh-CN" altLang="en-US" sz="2400" dirty="0"/>
              <a:t>，其中</a:t>
            </a:r>
            <a:r>
              <a:rPr lang="en-US" altLang="zh-CN" sz="2400" dirty="0"/>
              <a:t>i≠j*/</a:t>
            </a:r>
          </a:p>
          <a:p>
            <a:pPr eaLnBrk="1" hangingPunct="1">
              <a:lnSpc>
                <a:spcPct val="140000"/>
              </a:lnSpc>
              <a:buNone/>
            </a:pPr>
            <a:r>
              <a:rPr lang="en-US" altLang="zh-CN" dirty="0"/>
              <a:t>  	 </a:t>
            </a:r>
            <a:r>
              <a:rPr lang="zh-CN" altLang="en-US" dirty="0"/>
              <a:t>其他操作是不冲突操作</a:t>
            </a:r>
          </a:p>
        </p:txBody>
      </p:sp>
    </p:spTree>
  </p:cSld>
  <p:clrMapOvr>
    <a:masterClrMapping/>
  </p:clrMapOvr>
  <p:transition spd="med">
    <p:strips dir="rd"/>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p:cNvSpPr>
            <a:spLocks noGrp="1"/>
          </p:cNvSpPr>
          <p:nvPr>
            <p:ph type="body"/>
          </p:nvPr>
        </p:nvSpPr>
        <p:spPr>
          <a:xfrm>
            <a:off x="1416050" y="1557338"/>
            <a:ext cx="8069263" cy="5184775"/>
          </a:xfrm>
        </p:spPr>
        <p:txBody>
          <a:bodyPr vert="horz" wrap="square" lIns="91440" tIns="45720" rIns="91440" bIns="45720" anchor="t" anchorCtr="0"/>
          <a:lstStyle/>
          <a:p>
            <a:pPr eaLnBrk="1" hangingPunct="1"/>
            <a:r>
              <a:rPr lang="zh-CN" altLang="en-US" dirty="0"/>
              <a:t>不能交换（</a:t>
            </a:r>
            <a:r>
              <a:rPr lang="en-US" altLang="zh-CN" dirty="0"/>
              <a:t>Swap）</a:t>
            </a:r>
            <a:r>
              <a:rPr lang="zh-CN" altLang="en-US" dirty="0"/>
              <a:t>的动作</a:t>
            </a:r>
            <a:r>
              <a:rPr lang="en-US" altLang="zh-CN" dirty="0"/>
              <a:t>:</a:t>
            </a:r>
          </a:p>
          <a:p>
            <a:pPr lvl="1">
              <a:lnSpc>
                <a:spcPct val="150000"/>
              </a:lnSpc>
            </a:pPr>
            <a:r>
              <a:rPr lang="zh-CN" altLang="en-US" dirty="0"/>
              <a:t>同一事务的两个操作</a:t>
            </a:r>
            <a:endParaRPr lang="en-US" altLang="zh-CN" dirty="0"/>
          </a:p>
          <a:p>
            <a:pPr lvl="1">
              <a:lnSpc>
                <a:spcPct val="150000"/>
              </a:lnSpc>
            </a:pPr>
            <a:r>
              <a:rPr lang="zh-CN" altLang="en-US" dirty="0"/>
              <a:t>不同事务的冲突操作</a:t>
            </a:r>
            <a:endParaRPr lang="en-US" altLang="zh-CN" dirty="0"/>
          </a:p>
          <a:p>
            <a:pPr lvl="1">
              <a:buNone/>
            </a:pPr>
            <a:endParaRPr lang="en-US" altLang="zh-CN" sz="2800" dirty="0"/>
          </a:p>
        </p:txBody>
      </p:sp>
      <p:sp>
        <p:nvSpPr>
          <p:cNvPr id="82947" name="Rectangle 5"/>
          <p:cNvSpPr>
            <a:spLocks noGrp="1"/>
          </p:cNvSpPr>
          <p:nvPr>
            <p:ph type="title"/>
          </p:nvPr>
        </p:nvSpPr>
        <p:spPr>
          <a:xfrm>
            <a:off x="1595438" y="0"/>
            <a:ext cx="8234362" cy="860425"/>
          </a:xfrm>
        </p:spPr>
        <p:txBody>
          <a:bodyPr vert="horz" wrap="square" lIns="91440" tIns="45720" rIns="91440" bIns="45720" anchor="ctr" anchorCtr="0"/>
          <a:lstStyle/>
          <a:p>
            <a:pPr eaLnBrk="1" hangingPunct="1"/>
            <a:r>
              <a:rPr lang="zh-CN" altLang="en-US" sz="3700" dirty="0"/>
              <a:t>冲突</a:t>
            </a:r>
            <a:endParaRPr lang="en-US" altLang="zh-CN" dirty="0"/>
          </a:p>
        </p:txBody>
      </p:sp>
    </p:spTree>
  </p:cSld>
  <p:clrMapOvr>
    <a:masterClrMapping/>
  </p:clrMapOvr>
  <p:transition spd="med">
    <p:strips dir="rd"/>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3"/>
          <p:cNvSpPr>
            <a:spLocks noGrp="1"/>
          </p:cNvSpPr>
          <p:nvPr>
            <p:ph type="body"/>
          </p:nvPr>
        </p:nvSpPr>
        <p:spPr>
          <a:xfrm>
            <a:off x="982663" y="1268413"/>
            <a:ext cx="10226675" cy="4737100"/>
          </a:xfrm>
        </p:spPr>
        <p:txBody>
          <a:bodyPr vert="horz" wrap="square" lIns="91440" tIns="45720" rIns="91440" bIns="45720" anchor="t" anchorCtr="0"/>
          <a:lstStyle/>
          <a:p>
            <a:pPr eaLnBrk="1" hangingPunct="1">
              <a:lnSpc>
                <a:spcPct val="130000"/>
              </a:lnSpc>
            </a:pPr>
            <a:r>
              <a:rPr lang="zh-CN" altLang="en-US" dirty="0"/>
              <a:t>一个调度</a:t>
            </a:r>
            <a:r>
              <a:rPr lang="en-US" altLang="zh-CN" dirty="0"/>
              <a:t>Sc</a:t>
            </a:r>
            <a:r>
              <a:rPr lang="zh-CN" altLang="en-US" dirty="0"/>
              <a:t>在保证冲突操作的次序不变的情况下，通过交换两个事务不冲突操作的次序得到另一个调度</a:t>
            </a:r>
            <a:r>
              <a:rPr lang="en-US" altLang="zh-CN" dirty="0"/>
              <a:t>Sc’</a:t>
            </a:r>
            <a:r>
              <a:rPr lang="zh-CN" altLang="en-US" dirty="0"/>
              <a:t>，如果</a:t>
            </a:r>
            <a:r>
              <a:rPr lang="en-US" altLang="zh-CN" dirty="0"/>
              <a:t>Sc’</a:t>
            </a:r>
            <a:r>
              <a:rPr lang="zh-CN" altLang="en-US" dirty="0"/>
              <a:t>是串行的，称调度</a:t>
            </a:r>
            <a:r>
              <a:rPr lang="en-US" altLang="zh-CN" dirty="0"/>
              <a:t>Sc</a:t>
            </a:r>
            <a:r>
              <a:rPr lang="zh-CN" altLang="en-US" dirty="0"/>
              <a:t>是</a:t>
            </a:r>
            <a:r>
              <a:rPr lang="zh-CN" altLang="en-US" dirty="0">
                <a:solidFill>
                  <a:srgbClr val="FF00FF"/>
                </a:solidFill>
              </a:rPr>
              <a:t>冲突可串行化</a:t>
            </a:r>
            <a:r>
              <a:rPr lang="zh-CN" altLang="en-US" dirty="0"/>
              <a:t>的调度</a:t>
            </a:r>
            <a:endParaRPr lang="en-US" altLang="zh-CN" dirty="0"/>
          </a:p>
          <a:p>
            <a:pPr eaLnBrk="1" hangingPunct="1">
              <a:lnSpc>
                <a:spcPct val="130000"/>
              </a:lnSpc>
            </a:pPr>
            <a:r>
              <a:rPr lang="zh-CN" altLang="en-US" dirty="0"/>
              <a:t>若一个调度是冲突可串行化，则一定是可串行化的调度</a:t>
            </a:r>
            <a:endParaRPr lang="en-US" altLang="zh-CN" dirty="0"/>
          </a:p>
          <a:p>
            <a:pPr eaLnBrk="1" hangingPunct="1">
              <a:lnSpc>
                <a:spcPct val="130000"/>
              </a:lnSpc>
            </a:pPr>
            <a:r>
              <a:rPr lang="zh-CN" altLang="en-US" dirty="0"/>
              <a:t>可用这种方法判断一个调度是否是冲突可串行化的</a:t>
            </a:r>
            <a:endParaRPr lang="en-US" altLang="zh-CN" dirty="0"/>
          </a:p>
        </p:txBody>
      </p:sp>
      <p:sp>
        <p:nvSpPr>
          <p:cNvPr id="83971" name="Rectangle 5"/>
          <p:cNvSpPr>
            <a:spLocks noGrp="1"/>
          </p:cNvSpPr>
          <p:nvPr>
            <p:ph type="title"/>
          </p:nvPr>
        </p:nvSpPr>
        <p:spPr>
          <a:xfrm>
            <a:off x="1595438" y="69850"/>
            <a:ext cx="8234362" cy="862013"/>
          </a:xfrm>
        </p:spPr>
        <p:txBody>
          <a:bodyPr vert="horz" wrap="square" lIns="91440" tIns="45720" rIns="91440" bIns="45720" anchor="ctr" anchorCtr="0"/>
          <a:lstStyle/>
          <a:p>
            <a:pPr eaLnBrk="1" hangingPunct="1"/>
            <a:r>
              <a:rPr lang="zh-CN" altLang="en-US" sz="3700" dirty="0"/>
              <a:t>冲突可串行化（续）</a:t>
            </a:r>
            <a:endParaRPr lang="en-US" altLang="zh-CN" dirty="0"/>
          </a:p>
        </p:txBody>
      </p:sp>
    </p:spTree>
  </p:cSld>
  <p:clrMapOvr>
    <a:masterClrMapping/>
  </p:clrMapOvr>
  <p:transition spd="med">
    <p:strips dir="rd"/>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p:cNvSpPr>
          <p:nvPr>
            <p:ph idx="1"/>
          </p:nvPr>
        </p:nvSpPr>
        <p:spPr>
          <a:xfrm>
            <a:off x="1828800" y="3638550"/>
            <a:ext cx="8839200" cy="1698625"/>
          </a:xfrm>
        </p:spPr>
        <p:txBody>
          <a:bodyPr vert="horz" wrap="square" lIns="91440" tIns="45720" rIns="91440" bIns="45720" anchor="t" anchorCtr="0"/>
          <a:lstStyle/>
          <a:p>
            <a:pPr>
              <a:lnSpc>
                <a:spcPct val="90000"/>
              </a:lnSpc>
              <a:buNone/>
            </a:pPr>
            <a:r>
              <a:rPr lang="en-US" altLang="zh-CN" dirty="0"/>
              <a:t>Sc</a:t>
            </a:r>
            <a:r>
              <a:rPr lang="en-US" altLang="zh-CN" baseline="-25000" dirty="0"/>
              <a:t>2</a:t>
            </a:r>
            <a:r>
              <a:rPr lang="en-US" altLang="zh-CN" dirty="0"/>
              <a:t>=r</a:t>
            </a:r>
            <a:r>
              <a:rPr lang="en-US" altLang="zh-CN" baseline="-25000" dirty="0"/>
              <a:t>1</a:t>
            </a:r>
            <a:r>
              <a:rPr lang="en-US" altLang="zh-CN" dirty="0"/>
              <a:t>(A)w</a:t>
            </a:r>
            <a:r>
              <a:rPr lang="en-US" altLang="zh-CN" baseline="-25000" dirty="0"/>
              <a:t>1</a:t>
            </a:r>
            <a:r>
              <a:rPr lang="en-US" altLang="zh-CN" dirty="0"/>
              <a:t>(A)</a:t>
            </a:r>
            <a:r>
              <a:rPr lang="en-US" altLang="zh-CN" dirty="0">
                <a:solidFill>
                  <a:srgbClr val="0D51B5"/>
                </a:solidFill>
              </a:rPr>
              <a:t>r</a:t>
            </a:r>
            <a:r>
              <a:rPr lang="en-US" altLang="zh-CN" baseline="-25000" dirty="0">
                <a:solidFill>
                  <a:srgbClr val="0D51B5"/>
                </a:solidFill>
              </a:rPr>
              <a:t>1</a:t>
            </a:r>
            <a:r>
              <a:rPr lang="en-US" altLang="zh-CN" dirty="0">
                <a:solidFill>
                  <a:srgbClr val="0D51B5"/>
                </a:solidFill>
              </a:rPr>
              <a:t>(B)w</a:t>
            </a:r>
            <a:r>
              <a:rPr lang="en-US" altLang="zh-CN" baseline="-25000" dirty="0">
                <a:solidFill>
                  <a:srgbClr val="0D51B5"/>
                </a:solidFill>
              </a:rPr>
              <a:t>1</a:t>
            </a:r>
            <a:r>
              <a:rPr lang="en-US" altLang="zh-CN" dirty="0">
                <a:solidFill>
                  <a:srgbClr val="0D51B5"/>
                </a:solidFill>
              </a:rPr>
              <a:t>(B)</a:t>
            </a:r>
            <a:r>
              <a:rPr lang="en-US" altLang="zh-CN" dirty="0">
                <a:solidFill>
                  <a:srgbClr val="DB0D3E"/>
                </a:solidFill>
              </a:rPr>
              <a:t>r</a:t>
            </a:r>
            <a:r>
              <a:rPr lang="en-US" altLang="zh-CN" baseline="-25000" dirty="0">
                <a:solidFill>
                  <a:srgbClr val="DB0D3E"/>
                </a:solidFill>
              </a:rPr>
              <a:t>2</a:t>
            </a:r>
            <a:r>
              <a:rPr lang="en-US" altLang="zh-CN" dirty="0">
                <a:solidFill>
                  <a:srgbClr val="DB0D3E"/>
                </a:solidFill>
              </a:rPr>
              <a:t>(A)w</a:t>
            </a:r>
            <a:r>
              <a:rPr lang="en-US" altLang="zh-CN" baseline="-25000" dirty="0">
                <a:solidFill>
                  <a:srgbClr val="DB0D3E"/>
                </a:solidFill>
              </a:rPr>
              <a:t>2</a:t>
            </a:r>
            <a:r>
              <a:rPr lang="en-US" altLang="zh-CN" dirty="0">
                <a:solidFill>
                  <a:srgbClr val="DB0D3E"/>
                </a:solidFill>
              </a:rPr>
              <a:t>(A)</a:t>
            </a:r>
            <a:r>
              <a:rPr lang="en-US" altLang="zh-CN" dirty="0"/>
              <a:t>r</a:t>
            </a:r>
            <a:r>
              <a:rPr lang="en-US" altLang="zh-CN" baseline="-25000" dirty="0"/>
              <a:t>2</a:t>
            </a:r>
            <a:r>
              <a:rPr lang="en-US" altLang="zh-CN" dirty="0"/>
              <a:t>(B)w</a:t>
            </a:r>
            <a:r>
              <a:rPr lang="en-US" altLang="zh-CN" baseline="-25000" dirty="0"/>
              <a:t>2</a:t>
            </a:r>
            <a:r>
              <a:rPr lang="en-US" altLang="zh-CN" dirty="0"/>
              <a:t>(B)</a:t>
            </a:r>
          </a:p>
          <a:p>
            <a:pPr>
              <a:lnSpc>
                <a:spcPct val="90000"/>
              </a:lnSpc>
              <a:buNone/>
            </a:pPr>
            <a:endParaRPr lang="en-US" altLang="zh-CN" sz="2400" dirty="0"/>
          </a:p>
          <a:p>
            <a:pPr>
              <a:lnSpc>
                <a:spcPct val="90000"/>
              </a:lnSpc>
              <a:buNone/>
            </a:pPr>
            <a:r>
              <a:rPr lang="en-US" altLang="zh-CN" sz="1600" dirty="0"/>
              <a:t>			             </a:t>
            </a:r>
            <a:r>
              <a:rPr lang="en-US" altLang="zh-CN" dirty="0"/>
              <a:t>T</a:t>
            </a:r>
            <a:r>
              <a:rPr lang="en-US" altLang="zh-CN" sz="1800" dirty="0"/>
              <a:t>1                                                    </a:t>
            </a:r>
            <a:r>
              <a:rPr lang="en-US" altLang="zh-CN" dirty="0"/>
              <a:t>T</a:t>
            </a:r>
            <a:r>
              <a:rPr lang="en-US" altLang="zh-CN" sz="1800" dirty="0"/>
              <a:t>2</a:t>
            </a:r>
          </a:p>
        </p:txBody>
      </p:sp>
      <p:sp>
        <p:nvSpPr>
          <p:cNvPr id="84995" name="AutoShape 3"/>
          <p:cNvSpPr/>
          <p:nvPr/>
        </p:nvSpPr>
        <p:spPr>
          <a:xfrm rot="-5400000">
            <a:off x="4125913" y="2757488"/>
            <a:ext cx="381000" cy="3097212"/>
          </a:xfrm>
          <a:prstGeom prst="leftBrace">
            <a:avLst>
              <a:gd name="adj1" fmla="val 76098"/>
              <a:gd name="adj2" fmla="val 50000"/>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84996" name="AutoShape 4"/>
          <p:cNvSpPr/>
          <p:nvPr/>
        </p:nvSpPr>
        <p:spPr>
          <a:xfrm rot="-5400000">
            <a:off x="7348538" y="2786063"/>
            <a:ext cx="469900" cy="3119437"/>
          </a:xfrm>
          <a:prstGeom prst="leftBrace">
            <a:avLst>
              <a:gd name="adj1" fmla="val 59931"/>
              <a:gd name="adj2" fmla="val 50000"/>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84997" name="Line 5"/>
          <p:cNvSpPr/>
          <p:nvPr/>
        </p:nvSpPr>
        <p:spPr>
          <a:xfrm flipH="1">
            <a:off x="5016500" y="3046413"/>
            <a:ext cx="1752600" cy="533400"/>
          </a:xfrm>
          <a:prstGeom prst="line">
            <a:avLst/>
          </a:prstGeom>
          <a:ln w="9525" cap="flat" cmpd="sng">
            <a:solidFill>
              <a:srgbClr val="0D51B5"/>
            </a:solidFill>
            <a:prstDash val="solid"/>
            <a:headEnd type="none" w="med" len="med"/>
            <a:tailEnd type="triangle" w="med" len="med"/>
          </a:ln>
        </p:spPr>
      </p:sp>
      <p:sp>
        <p:nvSpPr>
          <p:cNvPr id="84998" name="Line 6"/>
          <p:cNvSpPr/>
          <p:nvPr/>
        </p:nvSpPr>
        <p:spPr>
          <a:xfrm>
            <a:off x="5124450" y="3000375"/>
            <a:ext cx="1828800" cy="609600"/>
          </a:xfrm>
          <a:prstGeom prst="line">
            <a:avLst/>
          </a:prstGeom>
          <a:ln w="9525" cap="flat" cmpd="sng">
            <a:solidFill>
              <a:srgbClr val="DB0D3E"/>
            </a:solidFill>
            <a:prstDash val="solid"/>
            <a:headEnd type="none" w="med" len="med"/>
            <a:tailEnd type="triangle" w="med" len="med"/>
          </a:ln>
        </p:spPr>
      </p:sp>
      <p:sp>
        <p:nvSpPr>
          <p:cNvPr id="84999" name="Rectangle 7"/>
          <p:cNvSpPr/>
          <p:nvPr/>
        </p:nvSpPr>
        <p:spPr>
          <a:xfrm>
            <a:off x="1809750" y="1214438"/>
            <a:ext cx="8458200" cy="129540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spcBef>
                <a:spcPct val="0"/>
              </a:spcBef>
              <a:buSzTx/>
              <a:buNone/>
            </a:pPr>
            <a:r>
              <a:rPr lang="en-US" altLang="zh-CN" dirty="0"/>
              <a:t>[</a:t>
            </a:r>
            <a:r>
              <a:rPr lang="zh-CN" altLang="en-US" dirty="0"/>
              <a:t>例</a:t>
            </a:r>
            <a:r>
              <a:rPr lang="en-US" altLang="zh-CN" dirty="0"/>
              <a:t>12.3] </a:t>
            </a:r>
            <a:r>
              <a:rPr lang="zh-CN" altLang="zh-CN" dirty="0"/>
              <a:t>今有调度</a:t>
            </a:r>
            <a:endParaRPr lang="en-US" altLang="zh-CN" dirty="0"/>
          </a:p>
          <a:p>
            <a:pPr marL="342900" lvl="0" indent="-342900" eaLnBrk="1" hangingPunct="1">
              <a:spcBef>
                <a:spcPct val="0"/>
              </a:spcBef>
              <a:buSzTx/>
              <a:buNone/>
            </a:pPr>
            <a:endParaRPr lang="en-US" altLang="zh-CN" dirty="0"/>
          </a:p>
          <a:p>
            <a:pPr marL="342900" lvl="0" indent="-342900" eaLnBrk="1" hangingPunct="1">
              <a:spcBef>
                <a:spcPct val="0"/>
              </a:spcBef>
              <a:buSzTx/>
              <a:buNone/>
            </a:pPr>
            <a:r>
              <a:rPr lang="en-US" altLang="zh-CN" dirty="0"/>
              <a:t>Sc</a:t>
            </a:r>
            <a:r>
              <a:rPr lang="en-US" altLang="zh-CN" baseline="-25000" dirty="0"/>
              <a:t>1</a:t>
            </a:r>
            <a:r>
              <a:rPr lang="en-US" altLang="zh-CN" dirty="0"/>
              <a:t>=r</a:t>
            </a:r>
            <a:r>
              <a:rPr lang="en-US" altLang="zh-CN" baseline="-25000" dirty="0"/>
              <a:t>1</a:t>
            </a:r>
            <a:r>
              <a:rPr lang="en-US" altLang="zh-CN" dirty="0"/>
              <a:t>(A)w</a:t>
            </a:r>
            <a:r>
              <a:rPr lang="en-US" altLang="zh-CN" baseline="-25000" dirty="0"/>
              <a:t>1</a:t>
            </a:r>
            <a:r>
              <a:rPr lang="en-US" altLang="zh-CN" dirty="0"/>
              <a:t>(A)</a:t>
            </a:r>
            <a:r>
              <a:rPr lang="en-US" altLang="zh-CN" dirty="0">
                <a:solidFill>
                  <a:srgbClr val="DB0D3E"/>
                </a:solidFill>
              </a:rPr>
              <a:t>r</a:t>
            </a:r>
            <a:r>
              <a:rPr lang="en-US" altLang="zh-CN" baseline="-25000" dirty="0">
                <a:solidFill>
                  <a:srgbClr val="DB0D3E"/>
                </a:solidFill>
              </a:rPr>
              <a:t>2</a:t>
            </a:r>
            <a:r>
              <a:rPr lang="en-US" altLang="zh-CN" dirty="0">
                <a:solidFill>
                  <a:srgbClr val="DB0D3E"/>
                </a:solidFill>
              </a:rPr>
              <a:t>(A)w</a:t>
            </a:r>
            <a:r>
              <a:rPr lang="en-US" altLang="zh-CN" baseline="-25000" dirty="0">
                <a:solidFill>
                  <a:srgbClr val="DB0D3E"/>
                </a:solidFill>
              </a:rPr>
              <a:t>2</a:t>
            </a:r>
            <a:r>
              <a:rPr lang="en-US" altLang="zh-CN" dirty="0">
                <a:solidFill>
                  <a:srgbClr val="DB0D3E"/>
                </a:solidFill>
              </a:rPr>
              <a:t>(A)</a:t>
            </a:r>
            <a:r>
              <a:rPr lang="en-US" altLang="zh-CN" dirty="0">
                <a:solidFill>
                  <a:srgbClr val="0D51B5"/>
                </a:solidFill>
              </a:rPr>
              <a:t>r</a:t>
            </a:r>
            <a:r>
              <a:rPr lang="en-US" altLang="zh-CN" baseline="-25000" dirty="0">
                <a:solidFill>
                  <a:srgbClr val="0D51B5"/>
                </a:solidFill>
              </a:rPr>
              <a:t>1</a:t>
            </a:r>
            <a:r>
              <a:rPr lang="en-US" altLang="zh-CN" dirty="0">
                <a:solidFill>
                  <a:srgbClr val="0D51B5"/>
                </a:solidFill>
              </a:rPr>
              <a:t>(B)w</a:t>
            </a:r>
            <a:r>
              <a:rPr lang="en-US" altLang="zh-CN" baseline="-25000" dirty="0">
                <a:solidFill>
                  <a:srgbClr val="0D51B5"/>
                </a:solidFill>
              </a:rPr>
              <a:t>1</a:t>
            </a:r>
            <a:r>
              <a:rPr lang="en-US" altLang="zh-CN" dirty="0">
                <a:solidFill>
                  <a:srgbClr val="0D51B5"/>
                </a:solidFill>
              </a:rPr>
              <a:t>(B)</a:t>
            </a:r>
            <a:r>
              <a:rPr lang="en-US" altLang="zh-CN" dirty="0"/>
              <a:t>r</a:t>
            </a:r>
            <a:r>
              <a:rPr lang="en-US" altLang="zh-CN" baseline="-25000" dirty="0"/>
              <a:t>2</a:t>
            </a:r>
            <a:r>
              <a:rPr lang="en-US" altLang="zh-CN" dirty="0"/>
              <a:t>(B)w</a:t>
            </a:r>
            <a:r>
              <a:rPr lang="en-US" altLang="zh-CN" baseline="-25000" dirty="0"/>
              <a:t>2</a:t>
            </a:r>
            <a:r>
              <a:rPr lang="en-US" altLang="zh-CN" dirty="0"/>
              <a:t>(B)</a:t>
            </a:r>
          </a:p>
        </p:txBody>
      </p:sp>
      <p:sp>
        <p:nvSpPr>
          <p:cNvPr id="85000" name="AutoShape 8"/>
          <p:cNvSpPr/>
          <p:nvPr/>
        </p:nvSpPr>
        <p:spPr>
          <a:xfrm rot="-5400000">
            <a:off x="4954588" y="2030413"/>
            <a:ext cx="304800" cy="1517650"/>
          </a:xfrm>
          <a:prstGeom prst="leftBrace">
            <a:avLst>
              <a:gd name="adj1" fmla="val 44950"/>
              <a:gd name="adj2" fmla="val 50000"/>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85001" name="AutoShape 9"/>
          <p:cNvSpPr/>
          <p:nvPr/>
        </p:nvSpPr>
        <p:spPr>
          <a:xfrm rot="-5400000">
            <a:off x="6575425" y="2070100"/>
            <a:ext cx="304800" cy="1471613"/>
          </a:xfrm>
          <a:prstGeom prst="leftBrace">
            <a:avLst>
              <a:gd name="adj1" fmla="val 43587"/>
              <a:gd name="adj2" fmla="val 50000"/>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1697802" name="Rectangle 10"/>
          <p:cNvSpPr/>
          <p:nvPr/>
        </p:nvSpPr>
        <p:spPr>
          <a:xfrm>
            <a:off x="1905000" y="5158105"/>
            <a:ext cx="9146540" cy="130619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spcBef>
                <a:spcPct val="0"/>
              </a:spcBef>
              <a:buSzTx/>
              <a:buNone/>
            </a:pPr>
            <a:r>
              <a:rPr lang="en-US" altLang="zh-CN" sz="2400" dirty="0"/>
              <a:t>Sc</a:t>
            </a:r>
            <a:r>
              <a:rPr lang="en-US" altLang="zh-CN" sz="2400" baseline="-25000" dirty="0"/>
              <a:t>2</a:t>
            </a:r>
            <a:r>
              <a:rPr lang="zh-CN" altLang="zh-CN" sz="2400" dirty="0"/>
              <a:t>等价于一个串行调度</a:t>
            </a:r>
            <a:r>
              <a:rPr lang="en-US" altLang="zh-CN" sz="2400" dirty="0"/>
              <a:t>T</a:t>
            </a:r>
            <a:r>
              <a:rPr lang="en-US" altLang="zh-CN" sz="2400" baseline="-25000" dirty="0"/>
              <a:t>1</a:t>
            </a:r>
            <a:r>
              <a:rPr lang="zh-CN" altLang="zh-CN" sz="2400" dirty="0"/>
              <a:t>，</a:t>
            </a:r>
            <a:r>
              <a:rPr lang="en-US" altLang="zh-CN" sz="2400" dirty="0"/>
              <a:t>T</a:t>
            </a:r>
            <a:r>
              <a:rPr lang="en-US" altLang="zh-CN" sz="2400" baseline="-25000" dirty="0"/>
              <a:t>2</a:t>
            </a:r>
            <a:r>
              <a:rPr lang="zh-CN" altLang="zh-CN" sz="2400" dirty="0"/>
              <a:t>。所以</a:t>
            </a:r>
            <a:r>
              <a:rPr lang="en-US" altLang="zh-CN" sz="2400" dirty="0"/>
              <a:t>Sc</a:t>
            </a:r>
            <a:r>
              <a:rPr lang="en-US" altLang="zh-CN" sz="2400" baseline="-25000" dirty="0"/>
              <a:t>1</a:t>
            </a:r>
            <a:r>
              <a:rPr lang="zh-CN" altLang="zh-CN" sz="2400" dirty="0"/>
              <a:t>是</a:t>
            </a:r>
            <a:r>
              <a:rPr lang="zh-CN" altLang="zh-CN" sz="2400" dirty="0">
                <a:sym typeface="+mn-ea"/>
              </a:rPr>
              <a:t>冲</a:t>
            </a:r>
            <a:r>
              <a:rPr lang="zh-CN" altLang="zh-CN" sz="2400" dirty="0"/>
              <a:t>突可串行化的调度</a:t>
            </a:r>
            <a:endParaRPr lang="en-US" altLang="zh-CN" sz="2400" dirty="0"/>
          </a:p>
        </p:txBody>
      </p:sp>
      <p:sp>
        <p:nvSpPr>
          <p:cNvPr id="83979" name="Rectangle 5"/>
          <p:cNvSpPr>
            <a:spLocks noGrp="1" noChangeArrowheads="1"/>
          </p:cNvSpPr>
          <p:nvPr>
            <p:ph type="title"/>
          </p:nvPr>
        </p:nvSpPr>
        <p:spPr>
          <a:xfrm>
            <a:off x="1749425" y="44450"/>
            <a:ext cx="8234363" cy="862013"/>
          </a:xfrm>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3600" b="1" i="0" u="none" strike="noStrike" kern="0" cap="none" spc="0" normalizeH="0" baseline="0" noProof="0">
                <a:ln>
                  <a:noFill/>
                </a:ln>
                <a:solidFill>
                  <a:schemeClr val="bg1"/>
                </a:solidFill>
                <a:effectLst/>
                <a:uLnTx/>
                <a:uFillTx/>
                <a:latin typeface="+mn-ea"/>
                <a:ea typeface="+mn-ea"/>
                <a:cs typeface="+mj-cs"/>
              </a:rPr>
              <a:t>冲突可串行化（续）</a:t>
            </a:r>
            <a:endParaRPr kumimoji="0" lang="en-US" altLang="zh-CN" sz="3600" b="1" i="0" u="none" strike="noStrike" kern="0" cap="none" spc="0" normalizeH="0" baseline="0" noProof="0">
              <a:ln>
                <a:noFill/>
              </a:ln>
              <a:solidFill>
                <a:schemeClr val="bg1"/>
              </a:solidFill>
              <a:effectLst/>
              <a:uLnTx/>
              <a:uFillTx/>
              <a:latin typeface="+mn-ea"/>
              <a:ea typeface="+mn-ea"/>
              <a:cs typeface="+mj-cs"/>
            </a:endParaRPr>
          </a:p>
        </p:txBody>
      </p:sp>
    </p:spTree>
  </p:cSld>
  <p:clrMapOvr>
    <a:masterClrMapping/>
  </p:clrMapOvr>
  <p:transition spd="med">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97802"/>
                                        </p:tgtEl>
                                        <p:attrNameLst>
                                          <p:attrName>style.visibility</p:attrName>
                                        </p:attrNameLst>
                                      </p:cBhvr>
                                      <p:to>
                                        <p:strVal val="visible"/>
                                      </p:to>
                                    </p:set>
                                    <p:anim calcmode="lin" valueType="num">
                                      <p:cBhvr additive="base">
                                        <p:cTn id="7" dur="500" fill="hold"/>
                                        <p:tgtEl>
                                          <p:spTgt spid="1697802"/>
                                        </p:tgtEl>
                                        <p:attrNameLst>
                                          <p:attrName>ppt_x</p:attrName>
                                        </p:attrNameLst>
                                      </p:cBhvr>
                                      <p:tavLst>
                                        <p:tav tm="0">
                                          <p:val>
                                            <p:strVal val="0-#ppt_w/2"/>
                                          </p:val>
                                        </p:tav>
                                        <p:tav tm="100000">
                                          <p:val>
                                            <p:strVal val="#ppt_x"/>
                                          </p:val>
                                        </p:tav>
                                      </p:tavLst>
                                    </p:anim>
                                    <p:anim calcmode="lin" valueType="num">
                                      <p:cBhvr additive="base">
                                        <p:cTn id="8" dur="500" fill="hold"/>
                                        <p:tgtEl>
                                          <p:spTgt spid="169780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7802"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冲突可串行化调度</a:t>
            </a:r>
          </a:p>
        </p:txBody>
      </p:sp>
      <p:sp>
        <p:nvSpPr>
          <p:cNvPr id="86019" name="Rectangle 3"/>
          <p:cNvSpPr>
            <a:spLocks noGrp="1"/>
          </p:cNvSpPr>
          <p:nvPr>
            <p:ph type="body"/>
          </p:nvPr>
        </p:nvSpPr>
        <p:spPr>
          <a:xfrm>
            <a:off x="1416050" y="1073150"/>
            <a:ext cx="9802813" cy="5127625"/>
          </a:xfrm>
        </p:spPr>
        <p:txBody>
          <a:bodyPr vert="horz" wrap="square" lIns="91440" tIns="45720" rIns="91440" bIns="45720" anchor="t" anchorCtr="0"/>
          <a:lstStyle/>
          <a:p>
            <a:pPr eaLnBrk="1" hangingPunct="1">
              <a:lnSpc>
                <a:spcPct val="150000"/>
              </a:lnSpc>
              <a:spcBef>
                <a:spcPct val="0"/>
              </a:spcBef>
            </a:pPr>
            <a:r>
              <a:rPr lang="zh-CN" altLang="en-US" dirty="0"/>
              <a:t>冲突可串行化调度是可串行化调度的</a:t>
            </a:r>
            <a:r>
              <a:rPr lang="zh-CN" altLang="en-US" dirty="0">
                <a:solidFill>
                  <a:srgbClr val="FF00FF"/>
                </a:solidFill>
              </a:rPr>
              <a:t>充分条件</a:t>
            </a:r>
            <a:r>
              <a:rPr lang="zh-CN" altLang="en-US" dirty="0"/>
              <a:t>，不是必要条件。还有不满足冲突可串行化条件的可串行化调度。</a:t>
            </a:r>
          </a:p>
          <a:p>
            <a:pPr eaLnBrk="1" hangingPunct="1">
              <a:lnSpc>
                <a:spcPct val="120000"/>
              </a:lnSpc>
              <a:spcBef>
                <a:spcPct val="0"/>
              </a:spcBef>
              <a:buNone/>
            </a:pPr>
            <a:r>
              <a:rPr lang="zh-CN" altLang="en-US" sz="2400" dirty="0"/>
              <a:t>    </a:t>
            </a:r>
            <a:r>
              <a:rPr lang="en-US" altLang="zh-CN" sz="2400" dirty="0"/>
              <a:t>[</a:t>
            </a:r>
            <a:r>
              <a:rPr lang="zh-CN" altLang="en-US" sz="2400" dirty="0"/>
              <a:t>例</a:t>
            </a:r>
            <a:r>
              <a:rPr lang="en-US" altLang="zh-CN" sz="2400" dirty="0"/>
              <a:t>12.4]</a:t>
            </a:r>
            <a:r>
              <a:rPr lang="zh-CN" altLang="en-US" sz="2400" dirty="0"/>
              <a:t>有</a:t>
            </a:r>
            <a:r>
              <a:rPr lang="en-US" altLang="zh-CN" sz="2400" dirty="0"/>
              <a:t>3</a:t>
            </a:r>
            <a:r>
              <a:rPr lang="zh-CN" altLang="en-US" sz="2400" dirty="0"/>
              <a:t>个事务</a:t>
            </a:r>
          </a:p>
          <a:p>
            <a:pPr eaLnBrk="1" hangingPunct="1">
              <a:lnSpc>
                <a:spcPct val="120000"/>
              </a:lnSpc>
              <a:spcBef>
                <a:spcPct val="0"/>
              </a:spcBef>
              <a:buNone/>
            </a:pPr>
            <a:r>
              <a:rPr lang="zh-CN" altLang="en-US" sz="2400" dirty="0"/>
              <a:t>       </a:t>
            </a:r>
            <a:r>
              <a:rPr lang="en-US" altLang="zh-CN" sz="2400" dirty="0"/>
              <a:t>T</a:t>
            </a:r>
            <a:r>
              <a:rPr lang="en-US" altLang="zh-CN" sz="2400" baseline="-25000" dirty="0"/>
              <a:t>1</a:t>
            </a:r>
            <a:r>
              <a:rPr lang="en-US" altLang="zh-CN" sz="2400" dirty="0"/>
              <a:t>=W</a:t>
            </a:r>
            <a:r>
              <a:rPr lang="en-US" altLang="zh-CN" sz="2400" baseline="-25000" dirty="0"/>
              <a:t>1</a:t>
            </a:r>
            <a:r>
              <a:rPr lang="en-US" altLang="zh-CN" sz="2400" dirty="0"/>
              <a:t>(Y)W</a:t>
            </a:r>
            <a:r>
              <a:rPr lang="en-US" altLang="zh-CN" sz="2400" baseline="-25000" dirty="0"/>
              <a:t>1</a:t>
            </a:r>
            <a:r>
              <a:rPr lang="en-US" altLang="zh-CN" sz="2400" dirty="0"/>
              <a:t>(X)</a:t>
            </a:r>
            <a:r>
              <a:rPr lang="zh-CN" altLang="en-US" sz="2400" dirty="0"/>
              <a:t>，</a:t>
            </a:r>
            <a:r>
              <a:rPr lang="en-US" altLang="zh-CN" sz="2400" dirty="0"/>
              <a:t>T</a:t>
            </a:r>
            <a:r>
              <a:rPr lang="en-US" altLang="zh-CN" sz="2400" baseline="-25000" dirty="0"/>
              <a:t>2</a:t>
            </a:r>
            <a:r>
              <a:rPr lang="en-US" altLang="zh-CN" sz="2400" dirty="0"/>
              <a:t>=W</a:t>
            </a:r>
            <a:r>
              <a:rPr lang="en-US" altLang="zh-CN" sz="2400" baseline="-25000" dirty="0"/>
              <a:t>2</a:t>
            </a:r>
            <a:r>
              <a:rPr lang="en-US" altLang="zh-CN" sz="2400" dirty="0"/>
              <a:t>(Y)W</a:t>
            </a:r>
            <a:r>
              <a:rPr lang="en-US" altLang="zh-CN" sz="2400" baseline="-25000" dirty="0"/>
              <a:t>2</a:t>
            </a:r>
            <a:r>
              <a:rPr lang="en-US" altLang="zh-CN" sz="2400" dirty="0"/>
              <a:t>(X)</a:t>
            </a:r>
            <a:r>
              <a:rPr lang="zh-CN" altLang="en-US" sz="2400" dirty="0"/>
              <a:t>，</a:t>
            </a:r>
            <a:r>
              <a:rPr lang="en-US" altLang="zh-CN" sz="2400" dirty="0"/>
              <a:t>T</a:t>
            </a:r>
            <a:r>
              <a:rPr lang="en-US" altLang="zh-CN" sz="2400" baseline="-25000" dirty="0"/>
              <a:t>3</a:t>
            </a:r>
            <a:r>
              <a:rPr lang="en-US" altLang="zh-CN" sz="2400" dirty="0"/>
              <a:t>=W</a:t>
            </a:r>
            <a:r>
              <a:rPr lang="en-US" altLang="zh-CN" sz="2400" baseline="-25000" dirty="0"/>
              <a:t>3</a:t>
            </a:r>
            <a:r>
              <a:rPr lang="en-US" altLang="zh-CN" sz="2400" dirty="0"/>
              <a:t>(X)</a:t>
            </a:r>
          </a:p>
          <a:p>
            <a:pPr lvl="1" eaLnBrk="1" hangingPunct="1">
              <a:lnSpc>
                <a:spcPct val="150000"/>
              </a:lnSpc>
              <a:spcBef>
                <a:spcPct val="0"/>
              </a:spcBef>
            </a:pPr>
            <a:r>
              <a:rPr lang="zh-CN" altLang="en-US" sz="2000" dirty="0"/>
              <a:t>调度</a:t>
            </a:r>
            <a:r>
              <a:rPr lang="en-US" altLang="zh-CN" sz="2000" dirty="0"/>
              <a:t>L</a:t>
            </a:r>
            <a:r>
              <a:rPr lang="en-US" altLang="zh-CN" sz="2000" baseline="-25000" dirty="0"/>
              <a:t>1</a:t>
            </a:r>
            <a:r>
              <a:rPr lang="en-US" altLang="zh-CN" sz="2000" dirty="0"/>
              <a:t>=W</a:t>
            </a:r>
            <a:r>
              <a:rPr lang="en-US" altLang="zh-CN" sz="2000" baseline="-25000" dirty="0"/>
              <a:t>1</a:t>
            </a:r>
            <a:r>
              <a:rPr lang="en-US" altLang="zh-CN" sz="2000" dirty="0"/>
              <a:t>(Y)W</a:t>
            </a:r>
            <a:r>
              <a:rPr lang="en-US" altLang="zh-CN" sz="2000" baseline="-25000" dirty="0"/>
              <a:t>1</a:t>
            </a:r>
            <a:r>
              <a:rPr lang="en-US" altLang="zh-CN" sz="2000" dirty="0"/>
              <a:t>(X)W</a:t>
            </a:r>
            <a:r>
              <a:rPr lang="en-US" altLang="zh-CN" sz="2000" baseline="-25000" dirty="0"/>
              <a:t>2</a:t>
            </a:r>
            <a:r>
              <a:rPr lang="en-US" altLang="zh-CN" sz="2000" dirty="0"/>
              <a:t>(Y)W</a:t>
            </a:r>
            <a:r>
              <a:rPr lang="en-US" altLang="zh-CN" sz="2000" baseline="-25000" dirty="0"/>
              <a:t>2</a:t>
            </a:r>
            <a:r>
              <a:rPr lang="en-US" altLang="zh-CN" sz="2000" dirty="0"/>
              <a:t>(X) W</a:t>
            </a:r>
            <a:r>
              <a:rPr lang="en-US" altLang="zh-CN" sz="2000" baseline="-25000" dirty="0"/>
              <a:t>3</a:t>
            </a:r>
            <a:r>
              <a:rPr lang="en-US" altLang="zh-CN" sz="2000" dirty="0"/>
              <a:t>(X)</a:t>
            </a:r>
            <a:r>
              <a:rPr lang="zh-CN" altLang="en-US" sz="2000" dirty="0"/>
              <a:t>是一个串行调度。</a:t>
            </a:r>
          </a:p>
          <a:p>
            <a:pPr lvl="1" eaLnBrk="1" hangingPunct="1">
              <a:lnSpc>
                <a:spcPct val="150000"/>
              </a:lnSpc>
              <a:spcBef>
                <a:spcPct val="0"/>
              </a:spcBef>
            </a:pPr>
            <a:r>
              <a:rPr lang="zh-CN" altLang="en-US" sz="2000" dirty="0"/>
              <a:t>调度</a:t>
            </a:r>
            <a:r>
              <a:rPr lang="en-US" altLang="zh-CN" sz="2000" dirty="0"/>
              <a:t>L</a:t>
            </a:r>
            <a:r>
              <a:rPr lang="en-US" altLang="zh-CN" sz="2000" baseline="-25000" dirty="0"/>
              <a:t>2</a:t>
            </a:r>
            <a:r>
              <a:rPr lang="en-US" altLang="zh-CN" sz="2000" dirty="0"/>
              <a:t>=W</a:t>
            </a:r>
            <a:r>
              <a:rPr lang="en-US" altLang="zh-CN" sz="2000" baseline="-25000" dirty="0"/>
              <a:t>1</a:t>
            </a:r>
            <a:r>
              <a:rPr lang="en-US" altLang="zh-CN" sz="2000" dirty="0"/>
              <a:t>(Y)W</a:t>
            </a:r>
            <a:r>
              <a:rPr lang="en-US" altLang="zh-CN" sz="2000" baseline="-25000" dirty="0"/>
              <a:t>2</a:t>
            </a:r>
            <a:r>
              <a:rPr lang="en-US" altLang="zh-CN" sz="2000" dirty="0"/>
              <a:t>(Y)W</a:t>
            </a:r>
            <a:r>
              <a:rPr lang="en-US" altLang="zh-CN" sz="2000" baseline="-25000" dirty="0"/>
              <a:t>2</a:t>
            </a:r>
            <a:r>
              <a:rPr lang="en-US" altLang="zh-CN" sz="2000" dirty="0"/>
              <a:t>(X)W</a:t>
            </a:r>
            <a:r>
              <a:rPr lang="en-US" altLang="zh-CN" sz="2000" baseline="-25000" dirty="0"/>
              <a:t>1</a:t>
            </a:r>
            <a:r>
              <a:rPr lang="en-US" altLang="zh-CN" sz="2000" dirty="0"/>
              <a:t>(X)W</a:t>
            </a:r>
            <a:r>
              <a:rPr lang="en-US" altLang="zh-CN" sz="2000" baseline="-25000" dirty="0"/>
              <a:t>3</a:t>
            </a:r>
            <a:r>
              <a:rPr lang="en-US" altLang="zh-CN" sz="2000" dirty="0"/>
              <a:t>(X)</a:t>
            </a:r>
            <a:r>
              <a:rPr lang="zh-CN" altLang="en-US" sz="2000" dirty="0"/>
              <a:t>不满足冲突可串行化。但是调度</a:t>
            </a:r>
            <a:r>
              <a:rPr lang="en-US" altLang="zh-CN" sz="2000" dirty="0"/>
              <a:t>L</a:t>
            </a:r>
            <a:r>
              <a:rPr lang="en-US" altLang="zh-CN" sz="2000" baseline="-25000" dirty="0"/>
              <a:t>2</a:t>
            </a:r>
            <a:r>
              <a:rPr lang="zh-CN" altLang="en-US" sz="2000" dirty="0"/>
              <a:t>是可串行化的，因为</a:t>
            </a:r>
            <a:r>
              <a:rPr lang="en-US" altLang="zh-CN" sz="2000" dirty="0"/>
              <a:t>L</a:t>
            </a:r>
            <a:r>
              <a:rPr lang="en-US" altLang="zh-CN" sz="2000" baseline="-25000" dirty="0"/>
              <a:t>2</a:t>
            </a:r>
            <a:r>
              <a:rPr lang="zh-CN" altLang="en-US" sz="2000" dirty="0"/>
              <a:t>执行的结果与调度</a:t>
            </a:r>
            <a:r>
              <a:rPr lang="en-US" altLang="zh-CN" sz="2000" dirty="0"/>
              <a:t>L</a:t>
            </a:r>
            <a:r>
              <a:rPr lang="en-US" altLang="zh-CN" sz="2000" baseline="-25000" dirty="0"/>
              <a:t>1</a:t>
            </a:r>
            <a:r>
              <a:rPr lang="zh-CN" altLang="en-US" sz="2000" dirty="0"/>
              <a:t>相同，</a:t>
            </a:r>
            <a:r>
              <a:rPr lang="en-US" altLang="zh-CN" sz="2000" dirty="0"/>
              <a:t>Y</a:t>
            </a:r>
            <a:r>
              <a:rPr lang="zh-CN" altLang="en-US" sz="2000" dirty="0"/>
              <a:t>的值都等于</a:t>
            </a:r>
            <a:r>
              <a:rPr lang="en-US" altLang="zh-CN" sz="2000" dirty="0"/>
              <a:t>T</a:t>
            </a:r>
            <a:r>
              <a:rPr lang="en-US" altLang="zh-CN" sz="2000" baseline="-25000" dirty="0"/>
              <a:t>2</a:t>
            </a:r>
            <a:r>
              <a:rPr lang="zh-CN" altLang="en-US" sz="2000" dirty="0"/>
              <a:t>的值，</a:t>
            </a:r>
            <a:r>
              <a:rPr lang="en-US" altLang="zh-CN" sz="2000" dirty="0"/>
              <a:t>X</a:t>
            </a:r>
            <a:r>
              <a:rPr lang="zh-CN" altLang="en-US" sz="2000" dirty="0"/>
              <a:t>的值都等于</a:t>
            </a:r>
            <a:r>
              <a:rPr lang="en-US" altLang="zh-CN" sz="2000" dirty="0"/>
              <a:t>T</a:t>
            </a:r>
            <a:r>
              <a:rPr lang="en-US" altLang="zh-CN" sz="2000" baseline="-25000" dirty="0"/>
              <a:t>3</a:t>
            </a:r>
            <a:r>
              <a:rPr lang="zh-CN" altLang="en-US" sz="2000" dirty="0"/>
              <a:t>的值 </a:t>
            </a:r>
            <a:endParaRPr lang="en-US" altLang="zh-CN" sz="2000" dirty="0"/>
          </a:p>
          <a:p>
            <a:pPr eaLnBrk="1" hangingPunct="1">
              <a:lnSpc>
                <a:spcPct val="150000"/>
              </a:lnSpc>
              <a:spcBef>
                <a:spcPct val="0"/>
              </a:spcBef>
            </a:pPr>
            <a:r>
              <a:rPr lang="zh-CN" altLang="en-US" dirty="0"/>
              <a:t>参见爱课程网</a:t>
            </a:r>
            <a:r>
              <a:rPr lang="en-US" altLang="zh-CN" dirty="0"/>
              <a:t>11.4</a:t>
            </a:r>
            <a:r>
              <a:rPr lang="zh-CN" altLang="en-US" dirty="0"/>
              <a:t>节动画</a:t>
            </a:r>
            <a:r>
              <a:rPr lang="en-US" altLang="zh-CN" dirty="0"/>
              <a:t>《</a:t>
            </a:r>
            <a:r>
              <a:rPr lang="zh-CN" altLang="en-US" dirty="0"/>
              <a:t>冲突可串行化 </a:t>
            </a:r>
            <a:r>
              <a:rPr lang="en-US" altLang="zh-CN" dirty="0"/>
              <a:t>》</a:t>
            </a:r>
            <a:r>
              <a:rPr lang="zh-CN" altLang="zh-CN" dirty="0"/>
              <a:t> </a:t>
            </a:r>
          </a:p>
          <a:p>
            <a:pPr lvl="1" eaLnBrk="1" hangingPunct="1">
              <a:lnSpc>
                <a:spcPct val="120000"/>
              </a:lnSpc>
              <a:spcBef>
                <a:spcPct val="0"/>
              </a:spcBef>
            </a:pPr>
            <a:endParaRPr lang="zh-CN" alt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冲突可串行化（续）</a:t>
            </a:r>
            <a:endParaRPr kumimoji="1" lang="zh-CN" altLang="en-US" dirty="0"/>
          </a:p>
        </p:txBody>
      </p:sp>
      <p:sp>
        <p:nvSpPr>
          <p:cNvPr id="3" name="内容占位符 2"/>
          <p:cNvSpPr>
            <a:spLocks noGrp="1"/>
          </p:cNvSpPr>
          <p:nvPr>
            <p:ph idx="1"/>
          </p:nvPr>
        </p:nvSpPr>
        <p:spPr>
          <a:xfrm>
            <a:off x="983540" y="1196030"/>
            <a:ext cx="10337800" cy="4922520"/>
          </a:xfrm>
        </p:spPr>
        <p:txBody>
          <a:bodyPr/>
          <a:lstStyle/>
          <a:p>
            <a:pPr marL="0" indent="0">
              <a:lnSpc>
                <a:spcPct val="100000"/>
              </a:lnSpc>
              <a:buNone/>
            </a:pPr>
            <a:r>
              <a:rPr kumimoji="1" lang="en-US" altLang="zh-CN" dirty="0"/>
              <a:t>[</a:t>
            </a:r>
            <a:r>
              <a:rPr kumimoji="1" lang="zh-CN" altLang="en-US" dirty="0"/>
              <a:t>例</a:t>
            </a:r>
            <a:r>
              <a:rPr kumimoji="1" lang="en-US" altLang="zh-CN" dirty="0"/>
              <a:t>] </a:t>
            </a:r>
            <a:r>
              <a:rPr kumimoji="1" lang="zh-CN" altLang="en-US" dirty="0"/>
              <a:t>今有</a:t>
            </a:r>
            <a:r>
              <a:rPr kumimoji="1" lang="en-US" altLang="zh-CN" dirty="0"/>
              <a:t>3</a:t>
            </a:r>
            <a:r>
              <a:rPr kumimoji="1" lang="zh-CN" altLang="en-US" dirty="0"/>
              <a:t>个事务的一个调度 </a:t>
            </a:r>
            <a:endParaRPr kumimoji="1" lang="en-US" altLang="zh-CN" dirty="0"/>
          </a:p>
          <a:p>
            <a:pPr marL="0" indent="0">
              <a:lnSpc>
                <a:spcPct val="100000"/>
              </a:lnSpc>
              <a:buNone/>
            </a:pPr>
            <a:r>
              <a:rPr kumimoji="1" lang="zh-CN" altLang="en-US" dirty="0"/>
              <a:t>       </a:t>
            </a:r>
            <a:r>
              <a:rPr kumimoji="1" lang="en-IE" altLang="zh-CN" dirty="0"/>
              <a:t>r3(B) r1(A) w3(B) r2(B) r2(A) w2(B) r1(B) w1(A)</a:t>
            </a:r>
          </a:p>
          <a:p>
            <a:pPr marL="0" indent="0">
              <a:lnSpc>
                <a:spcPct val="100000"/>
              </a:lnSpc>
              <a:buNone/>
            </a:pPr>
            <a:r>
              <a:rPr kumimoji="1" lang="zh-CN" altLang="en-US" dirty="0"/>
              <a:t>      判断该调度是否是冲突可串行化的调度。</a:t>
            </a:r>
            <a:endParaRPr kumimoji="1" lang="en-US" altLang="zh-CN" dirty="0"/>
          </a:p>
          <a:p>
            <a:pPr marL="0" indent="0">
              <a:lnSpc>
                <a:spcPct val="100000"/>
              </a:lnSpc>
              <a:buNone/>
            </a:pPr>
            <a:r>
              <a:rPr kumimoji="1" lang="en-IE" altLang="zh-CN" dirty="0"/>
              <a:t>Sc</a:t>
            </a:r>
            <a:r>
              <a:rPr kumimoji="1" lang="en-US" altLang="zh-CN" dirty="0"/>
              <a:t>1</a:t>
            </a:r>
            <a:r>
              <a:rPr kumimoji="1" lang="zh-CN" altLang="en-US" dirty="0"/>
              <a:t> </a:t>
            </a:r>
            <a:r>
              <a:rPr kumimoji="1" lang="en-US" altLang="zh-CN" dirty="0"/>
              <a:t>=</a:t>
            </a:r>
            <a:r>
              <a:rPr kumimoji="1" lang="zh-CN" altLang="en-US" dirty="0"/>
              <a:t> </a:t>
            </a:r>
            <a:r>
              <a:rPr kumimoji="1" lang="en-IE" altLang="zh-CN" dirty="0"/>
              <a:t>r3(B) r1(A) w3(B) r2(B) r2(A) w2(B) r1(B) w1(A)</a:t>
            </a:r>
          </a:p>
          <a:p>
            <a:pPr marL="0" indent="0">
              <a:lnSpc>
                <a:spcPct val="100000"/>
              </a:lnSpc>
              <a:buNone/>
            </a:pPr>
            <a:r>
              <a:rPr kumimoji="1" lang="en-IE" altLang="zh-CN" dirty="0"/>
              <a:t>Sc</a:t>
            </a:r>
            <a:r>
              <a:rPr kumimoji="1" lang="en-US" altLang="zh-CN" dirty="0"/>
              <a:t>2</a:t>
            </a:r>
            <a:r>
              <a:rPr kumimoji="1" lang="zh-CN" altLang="en-US" dirty="0"/>
              <a:t> </a:t>
            </a:r>
            <a:r>
              <a:rPr kumimoji="1" lang="en-US" altLang="zh-CN" dirty="0"/>
              <a:t>=</a:t>
            </a:r>
            <a:r>
              <a:rPr kumimoji="1" lang="zh-CN" altLang="en-US" dirty="0"/>
              <a:t> </a:t>
            </a:r>
            <a:r>
              <a:rPr kumimoji="1" lang="en-IE" altLang="zh-CN" dirty="0"/>
              <a:t>r3(B) w3(B) r1(A) r2(B) r2(A) w2(B) r1(B) w1(A)</a:t>
            </a:r>
          </a:p>
          <a:p>
            <a:pPr marL="0" indent="0">
              <a:lnSpc>
                <a:spcPct val="100000"/>
              </a:lnSpc>
              <a:buNone/>
            </a:pPr>
            <a:endParaRPr kumimoji="1" lang="en-IE" altLang="zh-CN" dirty="0"/>
          </a:p>
          <a:p>
            <a:pPr marL="0" indent="0">
              <a:lnSpc>
                <a:spcPct val="100000"/>
              </a:lnSpc>
              <a:buNone/>
            </a:pPr>
            <a:r>
              <a:rPr kumimoji="1" lang="en-IE" altLang="zh-CN" dirty="0"/>
              <a:t>Sc</a:t>
            </a:r>
            <a:r>
              <a:rPr kumimoji="1" lang="en-US" altLang="zh-CN" dirty="0"/>
              <a:t>3</a:t>
            </a:r>
            <a:r>
              <a:rPr kumimoji="1" lang="zh-CN" altLang="en-US" dirty="0"/>
              <a:t> </a:t>
            </a:r>
            <a:r>
              <a:rPr kumimoji="1" lang="en-US" altLang="zh-CN" dirty="0"/>
              <a:t>=</a:t>
            </a:r>
            <a:r>
              <a:rPr kumimoji="1" lang="zh-CN" altLang="en-US" dirty="0"/>
              <a:t> </a:t>
            </a:r>
            <a:r>
              <a:rPr kumimoji="1" lang="en-IE" altLang="zh-CN" dirty="0"/>
              <a:t>r3(B) w3(B) r2(B) r2(A) w2(B) r1(A) r1(B) w1(A)</a:t>
            </a:r>
          </a:p>
          <a:p>
            <a:pPr marL="0" indent="0">
              <a:lnSpc>
                <a:spcPct val="100000"/>
              </a:lnSpc>
              <a:buNone/>
            </a:pPr>
            <a:endParaRPr kumimoji="1" lang="en-IE" altLang="zh-CN" dirty="0"/>
          </a:p>
          <a:p>
            <a:pPr marL="0" indent="0">
              <a:lnSpc>
                <a:spcPct val="100000"/>
              </a:lnSpc>
              <a:buNone/>
            </a:pPr>
            <a:r>
              <a:rPr kumimoji="1" lang="zh-CN" altLang="en-IE" dirty="0"/>
              <a:t>所以</a:t>
            </a:r>
            <a:r>
              <a:rPr kumimoji="1" lang="en-US" altLang="zh-CN" dirty="0"/>
              <a:t>Sc1</a:t>
            </a:r>
            <a:r>
              <a:rPr kumimoji="1" lang="zh-CN" altLang="en-US" dirty="0"/>
              <a:t>是冲突可串行化调度。</a:t>
            </a:r>
            <a:endParaRPr kumimoji="1" lang="en-IE" altLang="zh-CN" dirty="0"/>
          </a:p>
          <a:p>
            <a:pPr marL="0" indent="0">
              <a:lnSpc>
                <a:spcPct val="100000"/>
              </a:lnSpc>
              <a:buNone/>
            </a:pPr>
            <a:endParaRPr kumimoji="1" lang="en-IE" altLang="zh-CN" dirty="0"/>
          </a:p>
          <a:p>
            <a:pPr marL="0" indent="0">
              <a:lnSpc>
                <a:spcPct val="100000"/>
              </a:lnSpc>
              <a:buNone/>
            </a:pPr>
            <a:endParaRPr kumimoji="1" lang="en-IE" altLang="zh-CN" dirty="0"/>
          </a:p>
          <a:p>
            <a:pPr marL="0" indent="0">
              <a:lnSpc>
                <a:spcPct val="100000"/>
              </a:lnSpc>
              <a:buNone/>
            </a:pPr>
            <a:endParaRPr kumimoji="1" lang="zh-CN" altLang="en-US" dirty="0"/>
          </a:p>
        </p:txBody>
      </p:sp>
      <p:cxnSp>
        <p:nvCxnSpPr>
          <p:cNvPr id="7" name="直线连接符 6"/>
          <p:cNvCxnSpPr/>
          <p:nvPr/>
        </p:nvCxnSpPr>
        <p:spPr bwMode="auto">
          <a:xfrm>
            <a:off x="3070905" y="3213735"/>
            <a:ext cx="648072" cy="0"/>
          </a:xfrm>
          <a:prstGeom prst="line">
            <a:avLst/>
          </a:prstGeom>
          <a:solidFill>
            <a:schemeClr val="accent1"/>
          </a:solidFill>
          <a:ln w="25400" cap="flat" cmpd="sng" algn="ctr">
            <a:solidFill>
              <a:srgbClr val="FF0000"/>
            </a:solidFill>
            <a:prstDash val="solid"/>
            <a:round/>
            <a:headEnd type="none" w="med" len="med"/>
            <a:tailEnd type="none" w="med" len="med"/>
          </a:ln>
        </p:spPr>
      </p:cxnSp>
      <p:cxnSp>
        <p:nvCxnSpPr>
          <p:cNvPr id="8" name="直线连接符 7"/>
          <p:cNvCxnSpPr/>
          <p:nvPr/>
        </p:nvCxnSpPr>
        <p:spPr bwMode="auto">
          <a:xfrm>
            <a:off x="3935001" y="3213735"/>
            <a:ext cx="648072" cy="0"/>
          </a:xfrm>
          <a:prstGeom prst="line">
            <a:avLst/>
          </a:prstGeom>
          <a:solidFill>
            <a:schemeClr val="accent1"/>
          </a:solidFill>
          <a:ln w="25400" cap="flat" cmpd="sng" algn="ctr">
            <a:solidFill>
              <a:srgbClr val="FF0000"/>
            </a:solidFill>
            <a:prstDash val="solid"/>
            <a:round/>
            <a:headEnd type="none" w="med" len="med"/>
            <a:tailEnd type="none" w="med" len="med"/>
          </a:ln>
        </p:spPr>
      </p:cxnSp>
      <p:cxnSp>
        <p:nvCxnSpPr>
          <p:cNvPr id="9" name="直线连接符 8"/>
          <p:cNvCxnSpPr/>
          <p:nvPr/>
        </p:nvCxnSpPr>
        <p:spPr bwMode="auto">
          <a:xfrm>
            <a:off x="4150772" y="3862819"/>
            <a:ext cx="504056" cy="0"/>
          </a:xfrm>
          <a:prstGeom prst="line">
            <a:avLst/>
          </a:prstGeom>
          <a:solidFill>
            <a:schemeClr val="accent1"/>
          </a:solidFill>
          <a:ln w="25400" cap="flat" cmpd="sng" algn="ctr">
            <a:solidFill>
              <a:srgbClr val="FF0000"/>
            </a:solidFill>
            <a:prstDash val="solid"/>
            <a:round/>
            <a:headEnd type="none" w="med" len="med"/>
            <a:tailEnd type="none" w="med" len="med"/>
          </a:ln>
        </p:spPr>
      </p:cxnSp>
      <p:cxnSp>
        <p:nvCxnSpPr>
          <p:cNvPr id="10" name="直线连接符 9"/>
          <p:cNvCxnSpPr/>
          <p:nvPr/>
        </p:nvCxnSpPr>
        <p:spPr bwMode="auto">
          <a:xfrm>
            <a:off x="4798844" y="3862819"/>
            <a:ext cx="2953385" cy="0"/>
          </a:xfrm>
          <a:prstGeom prst="line">
            <a:avLst/>
          </a:prstGeom>
          <a:solidFill>
            <a:schemeClr val="accent1"/>
          </a:solidFill>
          <a:ln w="25400" cap="flat" cmpd="sng" algn="ctr">
            <a:solidFill>
              <a:srgbClr val="FF0000"/>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xit" presetSubtype="0" fill="hold" nodeType="clickEffect">
                                  <p:stCondLst>
                                    <p:cond delay="0"/>
                                  </p:stCondLst>
                                  <p:childTnLst>
                                    <p:set>
                                      <p:cBhvr>
                                        <p:cTn id="15" dur="1" fill="hold">
                                          <p:stCondLst>
                                            <p:cond delay="0"/>
                                          </p:stCondLst>
                                        </p:cTn>
                                        <p:tgtEl>
                                          <p:spTgt spid="7"/>
                                        </p:tgtEl>
                                        <p:attrNameLst>
                                          <p:attrName>style.visibility</p:attrName>
                                        </p:attrNameLst>
                                      </p:cBhvr>
                                      <p:to>
                                        <p:strVal val="hidden"/>
                                      </p:to>
                                    </p:set>
                                  </p:childTnLst>
                                </p:cTn>
                              </p:par>
                            </p:childTnLst>
                          </p:cTn>
                        </p:par>
                        <p:par>
                          <p:cTn id="16" fill="hold">
                            <p:stCondLst>
                              <p:cond delay="0"/>
                            </p:stCondLst>
                            <p:childTnLst>
                              <p:par>
                                <p:cTn id="17" presetID="1" presetClass="exit" presetSubtype="0" fill="hold" nodeType="after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left)">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xit" presetSubtype="0" fill="hold" nodeType="clickEffect">
                                  <p:stCondLst>
                                    <p:cond delay="0"/>
                                  </p:stCondLst>
                                  <p:childTnLst>
                                    <p:set>
                                      <p:cBhvr>
                                        <p:cTn id="35" dur="1" fill="hold">
                                          <p:stCondLst>
                                            <p:cond delay="0"/>
                                          </p:stCondLst>
                                        </p:cTn>
                                        <p:tgtEl>
                                          <p:spTgt spid="9"/>
                                        </p:tgtEl>
                                        <p:attrNameLst>
                                          <p:attrName>style.visibility</p:attrName>
                                        </p:attrNameLst>
                                      </p:cBhvr>
                                      <p:to>
                                        <p:strVal val="hidden"/>
                                      </p:to>
                                    </p:set>
                                  </p:childTnLst>
                                </p:cTn>
                              </p:par>
                            </p:childTnLst>
                          </p:cTn>
                        </p:par>
                        <p:par>
                          <p:cTn id="36" fill="hold">
                            <p:stCondLst>
                              <p:cond delay="0"/>
                            </p:stCondLst>
                            <p:childTnLst>
                              <p:par>
                                <p:cTn id="37" presetID="1" presetClass="exit" presetSubtype="0" fill="hold" nodeType="afterEffect">
                                  <p:stCondLst>
                                    <p:cond delay="0"/>
                                  </p:stCondLst>
                                  <p:childTnLst>
                                    <p:set>
                                      <p:cBhvr>
                                        <p:cTn id="38" dur="1" fill="hold">
                                          <p:stCondLst>
                                            <p:cond delay="0"/>
                                          </p:stCondLst>
                                        </p:cTn>
                                        <p:tgtEl>
                                          <p:spTgt spid="10"/>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冲突可串行化（续）</a:t>
            </a:r>
            <a:endParaRPr kumimoji="1" lang="zh-CN" altLang="en-US" dirty="0"/>
          </a:p>
        </p:txBody>
      </p:sp>
      <p:sp>
        <p:nvSpPr>
          <p:cNvPr id="3" name="内容占位符 2"/>
          <p:cNvSpPr>
            <a:spLocks noGrp="1"/>
          </p:cNvSpPr>
          <p:nvPr>
            <p:ph idx="1"/>
          </p:nvPr>
        </p:nvSpPr>
        <p:spPr/>
        <p:txBody>
          <a:bodyPr/>
          <a:lstStyle/>
          <a:p>
            <a:r>
              <a:rPr kumimoji="1" lang="zh-CN" altLang="en-US" dirty="0"/>
              <a:t>例：</a:t>
            </a:r>
            <a:r>
              <a:rPr kumimoji="1" lang="en-IE" altLang="zh-CN" dirty="0"/>
              <a:t>Sd=r1(A)w1(A)r2(A)w2(A) r2(B)w2(B)r1(B)w1(B)</a:t>
            </a:r>
          </a:p>
          <a:p>
            <a:endParaRPr kumimoji="1" lang="en-IE" altLang="zh-CN" dirty="0"/>
          </a:p>
          <a:p>
            <a:endParaRPr kumimoji="1" lang="en-IE" altLang="zh-CN" dirty="0"/>
          </a:p>
          <a:p>
            <a:r>
              <a:rPr kumimoji="1" lang="zh-CN" altLang="en-US" dirty="0"/>
              <a:t>不能通过无冲突交换将</a:t>
            </a:r>
            <a:r>
              <a:rPr kumimoji="1" lang="en-IE" altLang="zh-CN" dirty="0"/>
              <a:t>Sd</a:t>
            </a:r>
            <a:r>
              <a:rPr kumimoji="1" lang="zh-CN" altLang="en-US" dirty="0"/>
              <a:t>变换为串行调度</a:t>
            </a:r>
          </a:p>
          <a:p>
            <a:r>
              <a:rPr kumimoji="1" lang="en-US" altLang="zh-CN" dirty="0"/>
              <a:t>w1(A)</a:t>
            </a:r>
            <a:r>
              <a:rPr kumimoji="1" lang="zh-CN" altLang="en-US" dirty="0"/>
              <a:t>在</a:t>
            </a:r>
            <a:r>
              <a:rPr kumimoji="1" lang="en-US" altLang="zh-CN" dirty="0"/>
              <a:t>w2(A)</a:t>
            </a:r>
            <a:r>
              <a:rPr kumimoji="1" lang="zh-CN" altLang="en-US" dirty="0"/>
              <a:t>之前，因此</a:t>
            </a:r>
            <a:r>
              <a:rPr kumimoji="1" lang="en-US" altLang="zh-CN" dirty="0"/>
              <a:t>T1</a:t>
            </a:r>
            <a:r>
              <a:rPr kumimoji="1" lang="zh-CN" altLang="en-US" dirty="0"/>
              <a:t>必须在</a:t>
            </a:r>
            <a:r>
              <a:rPr kumimoji="1" lang="en-US" altLang="zh-CN" dirty="0"/>
              <a:t>T2</a:t>
            </a:r>
            <a:r>
              <a:rPr kumimoji="1" lang="zh-CN" altLang="en-US" dirty="0"/>
              <a:t>之前；又</a:t>
            </a:r>
            <a:r>
              <a:rPr kumimoji="1" lang="en-US" altLang="zh-CN" dirty="0"/>
              <a:t>w2(B)</a:t>
            </a:r>
            <a:r>
              <a:rPr kumimoji="1" lang="zh-CN" altLang="en-US" dirty="0"/>
              <a:t>在</a:t>
            </a:r>
            <a:r>
              <a:rPr kumimoji="1" lang="en-US" altLang="zh-CN" dirty="0"/>
              <a:t>r1(B)</a:t>
            </a:r>
            <a:r>
              <a:rPr kumimoji="1" lang="zh-CN" altLang="en-US" dirty="0"/>
              <a:t>之前，故</a:t>
            </a:r>
            <a:r>
              <a:rPr kumimoji="1" lang="en-US" altLang="zh-CN" dirty="0"/>
              <a:t>T2</a:t>
            </a:r>
            <a:r>
              <a:rPr kumimoji="1" lang="zh-CN" altLang="en-US" dirty="0"/>
              <a:t>必须在</a:t>
            </a:r>
            <a:r>
              <a:rPr kumimoji="1" lang="en-US" altLang="zh-CN" dirty="0"/>
              <a:t>T1</a:t>
            </a:r>
            <a:r>
              <a:rPr kumimoji="1" lang="zh-CN" altLang="en-US" dirty="0"/>
              <a:t>之前。无法同时满足这两个条件</a:t>
            </a:r>
          </a:p>
          <a:p>
            <a:r>
              <a:rPr kumimoji="1" lang="en-IE" altLang="zh-CN" dirty="0"/>
              <a:t>Sd</a:t>
            </a:r>
            <a:r>
              <a:rPr kumimoji="1" lang="zh-CN" altLang="en-US" dirty="0"/>
              <a:t>不是冲突可串行化的调度</a:t>
            </a:r>
          </a:p>
        </p:txBody>
      </p:sp>
      <p:cxnSp>
        <p:nvCxnSpPr>
          <p:cNvPr id="5" name="直线连接符 4"/>
          <p:cNvCxnSpPr/>
          <p:nvPr/>
        </p:nvCxnSpPr>
        <p:spPr bwMode="auto">
          <a:xfrm>
            <a:off x="7968342" y="1916321"/>
            <a:ext cx="1440160" cy="0"/>
          </a:xfrm>
          <a:prstGeom prst="line">
            <a:avLst/>
          </a:prstGeom>
          <a:solidFill>
            <a:schemeClr val="accent1"/>
          </a:solidFill>
          <a:ln w="28575" cap="flat" cmpd="sng" algn="ctr">
            <a:solidFill>
              <a:srgbClr val="FF0000"/>
            </a:solidFill>
            <a:prstDash val="solid"/>
            <a:round/>
            <a:headEnd type="none" w="med" len="med"/>
            <a:tailEnd type="none" w="med" len="med"/>
          </a:ln>
        </p:spPr>
      </p:cxnSp>
      <p:cxnSp>
        <p:nvCxnSpPr>
          <p:cNvPr id="6" name="直线连接符 5"/>
          <p:cNvCxnSpPr/>
          <p:nvPr/>
        </p:nvCxnSpPr>
        <p:spPr bwMode="auto">
          <a:xfrm>
            <a:off x="2423969" y="1916321"/>
            <a:ext cx="1584176" cy="0"/>
          </a:xfrm>
          <a:prstGeom prst="line">
            <a:avLst/>
          </a:prstGeom>
          <a:solidFill>
            <a:schemeClr val="accent1"/>
          </a:solidFill>
          <a:ln w="28575" cap="flat" cmpd="sng" algn="ctr">
            <a:solidFill>
              <a:srgbClr val="FF0000"/>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例题</a:t>
            </a:r>
          </a:p>
        </p:txBody>
      </p:sp>
      <p:sp>
        <p:nvSpPr>
          <p:cNvPr id="3" name="内容占位符 2"/>
          <p:cNvSpPr>
            <a:spLocks noGrp="1"/>
          </p:cNvSpPr>
          <p:nvPr>
            <p:ph idx="1"/>
          </p:nvPr>
        </p:nvSpPr>
        <p:spPr>
          <a:xfrm>
            <a:off x="623570" y="980440"/>
            <a:ext cx="10972800" cy="4854575"/>
          </a:xfrm>
        </p:spPr>
        <p:txBody>
          <a:bodyPr/>
          <a:lstStyle/>
          <a:p>
            <a:pPr eaLnBrk="1" hangingPunct="1">
              <a:lnSpc>
                <a:spcPct val="100000"/>
              </a:lnSpc>
            </a:pPr>
            <a:r>
              <a:rPr lang="zh-CN" altLang="en-US" sz="2400" dirty="0"/>
              <a:t>假定</a:t>
            </a:r>
            <a:r>
              <a:rPr lang="en-US" altLang="zh-CN" sz="2400" dirty="0"/>
              <a:t>A</a:t>
            </a:r>
            <a:r>
              <a:rPr lang="zh-CN" altLang="en-US" sz="2400" dirty="0"/>
              <a:t>的初值是</a:t>
            </a:r>
            <a:r>
              <a:rPr lang="en-US" altLang="zh-CN" sz="2400" dirty="0"/>
              <a:t>5</a:t>
            </a:r>
            <a:r>
              <a:rPr lang="zh-CN" altLang="en-US" sz="2400" dirty="0"/>
              <a:t>，现在有两个事务：</a:t>
            </a:r>
            <a:endParaRPr lang="en-US" altLang="zh-CN" sz="2400" dirty="0"/>
          </a:p>
          <a:p>
            <a:pPr lvl="1" eaLnBrk="1" hangingPunct="1">
              <a:lnSpc>
                <a:spcPct val="100000"/>
              </a:lnSpc>
            </a:pPr>
            <a:r>
              <a:rPr lang="en-US" altLang="zh-CN" sz="2000" dirty="0"/>
              <a:t>T1</a:t>
            </a:r>
            <a:r>
              <a:rPr lang="zh-CN" altLang="en-US" sz="2000" dirty="0"/>
              <a:t>： </a:t>
            </a:r>
            <a:r>
              <a:rPr lang="en-US" altLang="zh-CN" sz="2000" dirty="0"/>
              <a:t>R(A);   A:=A+100;  W(A); </a:t>
            </a:r>
          </a:p>
          <a:p>
            <a:pPr lvl="1" eaLnBrk="1" hangingPunct="1">
              <a:lnSpc>
                <a:spcPct val="100000"/>
              </a:lnSpc>
            </a:pPr>
            <a:r>
              <a:rPr lang="en-US" altLang="zh-CN" sz="2000" dirty="0"/>
              <a:t>T2</a:t>
            </a:r>
            <a:r>
              <a:rPr lang="zh-CN" altLang="en-US" sz="2000" dirty="0"/>
              <a:t>： </a:t>
            </a:r>
            <a:r>
              <a:rPr lang="en-US" altLang="zh-CN" sz="2000" dirty="0"/>
              <a:t>R(A);   A:=A</a:t>
            </a:r>
            <a:r>
              <a:rPr lang="zh-CN" altLang="en-US" sz="2000" dirty="0"/>
              <a:t>*</a:t>
            </a:r>
            <a:r>
              <a:rPr lang="en-US" altLang="zh-CN" sz="2000" dirty="0"/>
              <a:t>2;  W(A); </a:t>
            </a:r>
          </a:p>
          <a:p>
            <a:pPr eaLnBrk="1" hangingPunct="1">
              <a:lnSpc>
                <a:spcPct val="100000"/>
              </a:lnSpc>
            </a:pPr>
            <a:r>
              <a:rPr lang="zh-CN" altLang="en-US" sz="2400" dirty="0"/>
              <a:t>请问如果不加控制按任意顺序执行</a:t>
            </a:r>
            <a:r>
              <a:rPr lang="en-US" altLang="zh-CN" sz="2400" dirty="0"/>
              <a:t>T1</a:t>
            </a:r>
            <a:r>
              <a:rPr lang="zh-CN" altLang="en-US" sz="2400" dirty="0"/>
              <a:t>和</a:t>
            </a:r>
            <a:r>
              <a:rPr lang="en-US" altLang="zh-CN" sz="2400" dirty="0"/>
              <a:t>T2</a:t>
            </a:r>
            <a:r>
              <a:rPr lang="zh-CN" altLang="en-US" sz="2400" dirty="0"/>
              <a:t>，会有哪些可能的结果？</a:t>
            </a:r>
            <a:endParaRPr lang="en-US" altLang="zh-CN" sz="2400" dirty="0"/>
          </a:p>
          <a:p>
            <a:pPr eaLnBrk="1" hangingPunct="1">
              <a:lnSpc>
                <a:spcPct val="100000"/>
              </a:lnSpc>
            </a:pPr>
            <a:r>
              <a:rPr lang="zh-CN" altLang="en-US" sz="2400" dirty="0"/>
              <a:t>请问哪个结果是“合理的”？</a:t>
            </a:r>
            <a:endParaRPr lang="en-US" altLang="zh-CN" sz="2400" dirty="0"/>
          </a:p>
          <a:p>
            <a:endParaRPr kumimoji="1" lang="en-US" altLang="zh-CN" sz="2400" dirty="0"/>
          </a:p>
        </p:txBody>
      </p:sp>
      <p:sp>
        <p:nvSpPr>
          <p:cNvPr id="4" name="文本框 3"/>
          <p:cNvSpPr txBox="1"/>
          <p:nvPr/>
        </p:nvSpPr>
        <p:spPr>
          <a:xfrm>
            <a:off x="520700" y="3068955"/>
            <a:ext cx="11061700" cy="829945"/>
          </a:xfrm>
          <a:prstGeom prst="rect">
            <a:avLst/>
          </a:prstGeom>
          <a:noFill/>
        </p:spPr>
        <p:txBody>
          <a:bodyPr wrap="square" rtlCol="0" anchor="t">
            <a:spAutoFit/>
          </a:bodyPr>
          <a:lstStyle/>
          <a:p>
            <a:r>
              <a:rPr lang="zh-CN" altLang="en-US" sz="2400" dirty="0">
                <a:solidFill>
                  <a:srgbClr val="C00000"/>
                </a:solidFill>
                <a:sym typeface="+mn-ea"/>
              </a:rPr>
              <a:t>讨论每个事务读到的值是什么，哪个事务先写。注意存在依赖关系，比如若</a:t>
            </a:r>
            <a:r>
              <a:rPr lang="en-US" altLang="zh-CN" sz="2400" dirty="0">
                <a:solidFill>
                  <a:srgbClr val="C00000"/>
                </a:solidFill>
                <a:sym typeface="+mn-ea"/>
              </a:rPr>
              <a:t>T1</a:t>
            </a:r>
            <a:r>
              <a:rPr lang="zh-CN" altLang="en-US" sz="2400" dirty="0">
                <a:solidFill>
                  <a:srgbClr val="C00000"/>
                </a:solidFill>
                <a:sym typeface="+mn-ea"/>
              </a:rPr>
              <a:t>读到的是</a:t>
            </a:r>
            <a:r>
              <a:rPr lang="en-US" altLang="zh-CN" sz="2400" dirty="0">
                <a:solidFill>
                  <a:srgbClr val="C00000"/>
                </a:solidFill>
                <a:sym typeface="+mn-ea"/>
              </a:rPr>
              <a:t>10</a:t>
            </a:r>
            <a:r>
              <a:rPr lang="zh-CN" altLang="en-US" sz="2400" dirty="0">
                <a:solidFill>
                  <a:srgbClr val="C00000"/>
                </a:solidFill>
                <a:sym typeface="+mn-ea"/>
              </a:rPr>
              <a:t>，则必然</a:t>
            </a:r>
            <a:r>
              <a:rPr lang="en-US" altLang="zh-CN" sz="2400" dirty="0">
                <a:solidFill>
                  <a:srgbClr val="C00000"/>
                </a:solidFill>
                <a:sym typeface="+mn-ea"/>
              </a:rPr>
              <a:t>T2</a:t>
            </a:r>
            <a:r>
              <a:rPr lang="zh-CN" altLang="en-US" sz="2400" dirty="0">
                <a:solidFill>
                  <a:srgbClr val="C00000"/>
                </a:solidFill>
                <a:sym typeface="+mn-ea"/>
              </a:rPr>
              <a:t>先写</a:t>
            </a:r>
          </a:p>
        </p:txBody>
      </p:sp>
      <p:graphicFrame>
        <p:nvGraphicFramePr>
          <p:cNvPr id="5" name="表格 4"/>
          <p:cNvGraphicFramePr/>
          <p:nvPr/>
        </p:nvGraphicFramePr>
        <p:xfrm>
          <a:off x="1487805" y="4004945"/>
          <a:ext cx="8533130" cy="1905000"/>
        </p:xfrm>
        <a:graphic>
          <a:graphicData uri="http://schemas.openxmlformats.org/drawingml/2006/table">
            <a:tbl>
              <a:tblPr firstRow="1" bandRow="1">
                <a:tableStyleId>{5C22544A-7EE6-4342-B048-85BDC9FD1C3A}</a:tableStyleId>
              </a:tblPr>
              <a:tblGrid>
                <a:gridCol w="2844377">
                  <a:extLst>
                    <a:ext uri="{9D8B030D-6E8A-4147-A177-3AD203B41FA5}">
                      <a16:colId xmlns:a16="http://schemas.microsoft.com/office/drawing/2014/main" val="20000"/>
                    </a:ext>
                  </a:extLst>
                </a:gridCol>
                <a:gridCol w="2844376">
                  <a:extLst>
                    <a:ext uri="{9D8B030D-6E8A-4147-A177-3AD203B41FA5}">
                      <a16:colId xmlns:a16="http://schemas.microsoft.com/office/drawing/2014/main" val="20001"/>
                    </a:ext>
                  </a:extLst>
                </a:gridCol>
                <a:gridCol w="2844377">
                  <a:extLst>
                    <a:ext uri="{9D8B030D-6E8A-4147-A177-3AD203B41FA5}">
                      <a16:colId xmlns:a16="http://schemas.microsoft.com/office/drawing/2014/main" val="20002"/>
                    </a:ext>
                  </a:extLst>
                </a:gridCol>
              </a:tblGrid>
              <a:tr h="381000">
                <a:tc>
                  <a:txBody>
                    <a:bodyPr/>
                    <a:lstStyle/>
                    <a:p>
                      <a:pPr algn="ctr">
                        <a:buNone/>
                      </a:pPr>
                      <a:r>
                        <a:rPr lang="zh-CN" altLang="en-US"/>
                        <a:t>读到的值</a:t>
                      </a:r>
                    </a:p>
                  </a:txBody>
                  <a:tcPr anchor="ctr">
                    <a:solidFill>
                      <a:schemeClr val="accent1">
                        <a:lumMod val="50000"/>
                      </a:schemeClr>
                    </a:solidFill>
                  </a:tcPr>
                </a:tc>
                <a:tc>
                  <a:txBody>
                    <a:bodyPr/>
                    <a:lstStyle/>
                    <a:p>
                      <a:pPr algn="ctr">
                        <a:buNone/>
                      </a:pPr>
                      <a:r>
                        <a:rPr lang="zh-CN" altLang="en-US"/>
                        <a:t>写的顺序</a:t>
                      </a:r>
                    </a:p>
                  </a:txBody>
                  <a:tcPr anchor="ctr">
                    <a:solidFill>
                      <a:schemeClr val="accent1">
                        <a:lumMod val="50000"/>
                      </a:schemeClr>
                    </a:solidFill>
                  </a:tcPr>
                </a:tc>
                <a:tc>
                  <a:txBody>
                    <a:bodyPr/>
                    <a:lstStyle/>
                    <a:p>
                      <a:pPr algn="ctr">
                        <a:buNone/>
                      </a:pPr>
                      <a:r>
                        <a:rPr lang="zh-CN" altLang="en-US"/>
                        <a:t>结果</a:t>
                      </a:r>
                    </a:p>
                  </a:txBody>
                  <a:tcPr anchor="ctr">
                    <a:solidFill>
                      <a:schemeClr val="accent1">
                        <a:lumMod val="50000"/>
                      </a:schemeClr>
                    </a:solidFill>
                  </a:tcPr>
                </a:tc>
                <a:extLst>
                  <a:ext uri="{0D108BD9-81ED-4DB2-BD59-A6C34878D82A}">
                    <a16:rowId xmlns:a16="http://schemas.microsoft.com/office/drawing/2014/main" val="10000"/>
                  </a:ext>
                </a:extLst>
              </a:tr>
              <a:tr h="381000">
                <a:tc>
                  <a:txBody>
                    <a:bodyPr/>
                    <a:lstStyle/>
                    <a:p>
                      <a:pPr algn="ctr">
                        <a:buNone/>
                      </a:pPr>
                      <a:r>
                        <a:rPr lang="en-US" altLang="zh-CN"/>
                        <a:t>T1.R(A)=5, T2.R(A) =5; </a:t>
                      </a:r>
                      <a:endParaRPr lang="zh-CN" altLang="en-US"/>
                    </a:p>
                  </a:txBody>
                  <a:tcPr/>
                </a:tc>
                <a:tc>
                  <a:txBody>
                    <a:bodyPr/>
                    <a:lstStyle/>
                    <a:p>
                      <a:pPr algn="ctr">
                        <a:buNone/>
                      </a:pPr>
                      <a:r>
                        <a:rPr lang="en-US" altLang="zh-CN" sz="1800">
                          <a:sym typeface="+mn-ea"/>
                        </a:rPr>
                        <a:t>T1</a:t>
                      </a:r>
                      <a:r>
                        <a:rPr lang="zh-CN" altLang="en-US" sz="1800">
                          <a:sym typeface="+mn-ea"/>
                        </a:rPr>
                        <a:t>先写</a:t>
                      </a:r>
                      <a:endParaRPr lang="zh-CN" altLang="en-US"/>
                    </a:p>
                  </a:txBody>
                  <a:tcPr/>
                </a:tc>
                <a:tc>
                  <a:txBody>
                    <a:bodyPr/>
                    <a:lstStyle/>
                    <a:p>
                      <a:pPr algn="ctr">
                        <a:buNone/>
                      </a:pPr>
                      <a:r>
                        <a:rPr lang="en-US" altLang="zh-CN"/>
                        <a:t>10</a:t>
                      </a:r>
                    </a:p>
                  </a:txBody>
                  <a:tcPr/>
                </a:tc>
                <a:extLst>
                  <a:ext uri="{0D108BD9-81ED-4DB2-BD59-A6C34878D82A}">
                    <a16:rowId xmlns:a16="http://schemas.microsoft.com/office/drawing/2014/main" val="10001"/>
                  </a:ext>
                </a:extLst>
              </a:tr>
              <a:tr h="381000">
                <a:tc>
                  <a:txBody>
                    <a:bodyPr/>
                    <a:lstStyle/>
                    <a:p>
                      <a:pPr algn="ctr">
                        <a:buNone/>
                      </a:pPr>
                      <a:r>
                        <a:rPr lang="en-US" altLang="zh-CN"/>
                        <a:t>T1.R(A)=5, T2.R(A) =5; </a:t>
                      </a:r>
                      <a:endParaRPr lang="zh-CN" altLang="en-US"/>
                    </a:p>
                  </a:txBody>
                  <a:tcPr/>
                </a:tc>
                <a:tc>
                  <a:txBody>
                    <a:bodyPr/>
                    <a:lstStyle/>
                    <a:p>
                      <a:pPr algn="ctr">
                        <a:buNone/>
                      </a:pPr>
                      <a:r>
                        <a:rPr lang="en-US" altLang="zh-CN" sz="1800">
                          <a:sym typeface="+mn-ea"/>
                        </a:rPr>
                        <a:t>T2</a:t>
                      </a:r>
                      <a:r>
                        <a:rPr lang="zh-CN" altLang="en-US" sz="1800">
                          <a:sym typeface="+mn-ea"/>
                        </a:rPr>
                        <a:t>先写</a:t>
                      </a:r>
                      <a:endParaRPr lang="zh-CN" altLang="en-US"/>
                    </a:p>
                  </a:txBody>
                  <a:tcPr/>
                </a:tc>
                <a:tc>
                  <a:txBody>
                    <a:bodyPr/>
                    <a:lstStyle/>
                    <a:p>
                      <a:pPr algn="ctr">
                        <a:buNone/>
                      </a:pPr>
                      <a:r>
                        <a:rPr lang="en-US" altLang="zh-CN"/>
                        <a:t>105</a:t>
                      </a:r>
                    </a:p>
                  </a:txBody>
                  <a:tcPr/>
                </a:tc>
                <a:extLst>
                  <a:ext uri="{0D108BD9-81ED-4DB2-BD59-A6C34878D82A}">
                    <a16:rowId xmlns:a16="http://schemas.microsoft.com/office/drawing/2014/main" val="10002"/>
                  </a:ext>
                </a:extLst>
              </a:tr>
              <a:tr h="381000">
                <a:tc>
                  <a:txBody>
                    <a:bodyPr/>
                    <a:lstStyle/>
                    <a:p>
                      <a:pPr algn="ctr">
                        <a:buNone/>
                      </a:pPr>
                      <a:r>
                        <a:rPr lang="en-US" altLang="zh-CN" sz="1800">
                          <a:sym typeface="+mn-ea"/>
                        </a:rPr>
                        <a:t>T1.R(A)=5, T2.R(A) =105; </a:t>
                      </a:r>
                      <a:endParaRPr lang="zh-CN" altLang="en-US"/>
                    </a:p>
                  </a:txBody>
                  <a:tcPr/>
                </a:tc>
                <a:tc>
                  <a:txBody>
                    <a:bodyPr/>
                    <a:lstStyle/>
                    <a:p>
                      <a:pPr algn="ctr">
                        <a:buNone/>
                      </a:pPr>
                      <a:r>
                        <a:rPr lang="zh-CN" altLang="en-US"/>
                        <a:t>必然</a:t>
                      </a:r>
                      <a:r>
                        <a:rPr lang="en-US" altLang="zh-CN"/>
                        <a:t>T1</a:t>
                      </a:r>
                      <a:r>
                        <a:rPr lang="zh-CN" altLang="en-US"/>
                        <a:t>先写</a:t>
                      </a:r>
                    </a:p>
                  </a:txBody>
                  <a:tcPr/>
                </a:tc>
                <a:tc>
                  <a:txBody>
                    <a:bodyPr/>
                    <a:lstStyle/>
                    <a:p>
                      <a:pPr algn="ctr">
                        <a:buNone/>
                      </a:pPr>
                      <a:r>
                        <a:rPr lang="en-US" altLang="zh-CN"/>
                        <a:t>210</a:t>
                      </a:r>
                    </a:p>
                  </a:txBody>
                  <a:tcPr/>
                </a:tc>
                <a:extLst>
                  <a:ext uri="{0D108BD9-81ED-4DB2-BD59-A6C34878D82A}">
                    <a16:rowId xmlns:a16="http://schemas.microsoft.com/office/drawing/2014/main" val="10003"/>
                  </a:ext>
                </a:extLst>
              </a:tr>
              <a:tr h="381000">
                <a:tc>
                  <a:txBody>
                    <a:bodyPr/>
                    <a:lstStyle/>
                    <a:p>
                      <a:pPr algn="ctr">
                        <a:buNone/>
                      </a:pPr>
                      <a:r>
                        <a:rPr lang="en-US" altLang="zh-CN" sz="1800">
                          <a:sym typeface="+mn-ea"/>
                        </a:rPr>
                        <a:t>T1.R(A)=10, T2.R(A) =5;</a:t>
                      </a:r>
                      <a:endParaRPr lang="zh-CN" altLang="en-US"/>
                    </a:p>
                  </a:txBody>
                  <a:tcPr/>
                </a:tc>
                <a:tc>
                  <a:txBody>
                    <a:bodyPr/>
                    <a:lstStyle/>
                    <a:p>
                      <a:pPr algn="ctr">
                        <a:buNone/>
                      </a:pPr>
                      <a:r>
                        <a:rPr lang="zh-CN" altLang="en-US" sz="1800">
                          <a:sym typeface="+mn-ea"/>
                        </a:rPr>
                        <a:t>必然</a:t>
                      </a:r>
                      <a:r>
                        <a:rPr lang="en-US" altLang="zh-CN" sz="1800">
                          <a:sym typeface="+mn-ea"/>
                        </a:rPr>
                        <a:t>T2</a:t>
                      </a:r>
                      <a:r>
                        <a:rPr lang="zh-CN" altLang="en-US" sz="1800">
                          <a:sym typeface="+mn-ea"/>
                        </a:rPr>
                        <a:t>先写</a:t>
                      </a:r>
                      <a:endParaRPr lang="zh-CN" altLang="en-US"/>
                    </a:p>
                  </a:txBody>
                  <a:tcPr/>
                </a:tc>
                <a:tc>
                  <a:txBody>
                    <a:bodyPr/>
                    <a:lstStyle/>
                    <a:p>
                      <a:pPr algn="ctr">
                        <a:buNone/>
                      </a:pPr>
                      <a:r>
                        <a:rPr lang="en-US" altLang="zh-CN"/>
                        <a:t>110</a:t>
                      </a:r>
                    </a:p>
                  </a:txBody>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p:cNvSpPr>
          <p:nvPr>
            <p:ph type="title"/>
          </p:nvPr>
        </p:nvSpPr>
        <p:spPr>
          <a:xfrm>
            <a:off x="2438400" y="184150"/>
            <a:ext cx="7391400" cy="563563"/>
          </a:xfrm>
        </p:spPr>
        <p:txBody>
          <a:bodyPr vert="horz" wrap="square" lIns="91440" tIns="45720" rIns="91440" bIns="45720" anchor="ctr" anchorCtr="0"/>
          <a:lstStyle/>
          <a:p>
            <a:pPr eaLnBrk="1" hangingPunct="1"/>
            <a:r>
              <a:rPr lang="zh-CN" altLang="zh-CN" sz="3600" dirty="0"/>
              <a:t>第十</a:t>
            </a:r>
            <a:r>
              <a:rPr lang="zh-CN" altLang="en-US" sz="3600" dirty="0"/>
              <a:t>二</a:t>
            </a:r>
            <a:r>
              <a:rPr lang="zh-CN" altLang="zh-CN" sz="3600" dirty="0"/>
              <a:t>章  并发控制</a:t>
            </a:r>
          </a:p>
        </p:txBody>
      </p:sp>
      <p:sp>
        <p:nvSpPr>
          <p:cNvPr id="87043" name="Rectangle 3"/>
          <p:cNvSpPr>
            <a:spLocks noGrp="1"/>
          </p:cNvSpPr>
          <p:nvPr>
            <p:ph type="body"/>
          </p:nvPr>
        </p:nvSpPr>
        <p:spPr>
          <a:xfrm>
            <a:off x="1558925" y="908050"/>
            <a:ext cx="7715250" cy="5111750"/>
          </a:xfrm>
        </p:spPr>
        <p:txBody>
          <a:bodyPr vert="horz" wrap="square" lIns="91440" tIns="45720" rIns="91440" bIns="45720" anchor="t" anchorCtr="0"/>
          <a:lstStyle/>
          <a:p>
            <a:pPr marL="0" indent="0" algn="just" eaLnBrk="1" hangingPunct="1">
              <a:lnSpc>
                <a:spcPct val="130000"/>
              </a:lnSpc>
              <a:buNone/>
            </a:pPr>
            <a:r>
              <a:rPr lang="en-US" altLang="zh-CN" sz="2400" dirty="0"/>
              <a:t>12.1  </a:t>
            </a:r>
            <a:r>
              <a:rPr lang="zh-CN" altLang="en-US" sz="2400" dirty="0"/>
              <a:t>并发控制概述</a:t>
            </a:r>
          </a:p>
          <a:p>
            <a:pPr marL="0" indent="0" algn="just" eaLnBrk="1" hangingPunct="1">
              <a:lnSpc>
                <a:spcPct val="130000"/>
              </a:lnSpc>
              <a:buNone/>
            </a:pPr>
            <a:r>
              <a:rPr lang="en-US" altLang="zh-CN" sz="2400" dirty="0"/>
              <a:t>12.2  </a:t>
            </a:r>
            <a:r>
              <a:rPr lang="zh-CN" altLang="en-US" sz="2400" dirty="0"/>
              <a:t>事务的隔离级别</a:t>
            </a:r>
            <a:endParaRPr lang="en-US" altLang="zh-CN" sz="2400" dirty="0"/>
          </a:p>
          <a:p>
            <a:pPr marL="0" indent="0" algn="just" eaLnBrk="1" hangingPunct="1">
              <a:lnSpc>
                <a:spcPct val="130000"/>
              </a:lnSpc>
              <a:buNone/>
            </a:pPr>
            <a:r>
              <a:rPr lang="en-US" altLang="zh-CN" sz="2400" dirty="0"/>
              <a:t>12.3  </a:t>
            </a:r>
            <a:r>
              <a:rPr lang="zh-CN" altLang="en-US" sz="2400" dirty="0"/>
              <a:t>封锁</a:t>
            </a:r>
            <a:endParaRPr lang="en-US" altLang="zh-CN" sz="2400" dirty="0"/>
          </a:p>
          <a:p>
            <a:pPr marL="0" indent="0" algn="just" eaLnBrk="1" hangingPunct="1">
              <a:lnSpc>
                <a:spcPct val="130000"/>
              </a:lnSpc>
              <a:buNone/>
            </a:pPr>
            <a:r>
              <a:rPr lang="en-US" altLang="zh-CN" sz="2400" dirty="0"/>
              <a:t>12.4 </a:t>
            </a:r>
            <a:r>
              <a:rPr lang="zh-CN" altLang="en-US" sz="2400" dirty="0"/>
              <a:t> 封锁协议</a:t>
            </a:r>
          </a:p>
          <a:p>
            <a:pPr marL="0" indent="0" algn="just" eaLnBrk="1" hangingPunct="1">
              <a:lnSpc>
                <a:spcPct val="130000"/>
              </a:lnSpc>
              <a:buNone/>
            </a:pPr>
            <a:r>
              <a:rPr lang="en-US" altLang="zh-CN" sz="2400" dirty="0"/>
              <a:t>12.5  </a:t>
            </a:r>
            <a:r>
              <a:rPr lang="zh-CN" altLang="en-US" sz="2400" dirty="0"/>
              <a:t>活锁和死锁</a:t>
            </a:r>
          </a:p>
          <a:p>
            <a:pPr marL="0" indent="0" algn="just" eaLnBrk="1" hangingPunct="1">
              <a:lnSpc>
                <a:spcPct val="130000"/>
              </a:lnSpc>
              <a:buNone/>
            </a:pPr>
            <a:r>
              <a:rPr lang="en-US" altLang="zh-CN" sz="2400" dirty="0"/>
              <a:t>12.6  </a:t>
            </a:r>
            <a:r>
              <a:rPr lang="zh-CN" altLang="en-US" sz="2400" dirty="0"/>
              <a:t>并发调度的可串行性</a:t>
            </a:r>
          </a:p>
          <a:p>
            <a:pPr marL="0" indent="0" algn="just" eaLnBrk="1" hangingPunct="1">
              <a:lnSpc>
                <a:spcPct val="130000"/>
              </a:lnSpc>
              <a:buNone/>
            </a:pPr>
            <a:r>
              <a:rPr lang="en-US" altLang="zh-CN" sz="2400" dirty="0">
                <a:solidFill>
                  <a:srgbClr val="0066FF"/>
                </a:solidFill>
              </a:rPr>
              <a:t>12.7  </a:t>
            </a:r>
            <a:r>
              <a:rPr lang="zh-CN" altLang="en-US" sz="2400" dirty="0">
                <a:solidFill>
                  <a:srgbClr val="0066FF"/>
                </a:solidFill>
              </a:rPr>
              <a:t>两段锁协议</a:t>
            </a:r>
          </a:p>
          <a:p>
            <a:pPr marL="0" indent="0" algn="just" eaLnBrk="1" hangingPunct="1">
              <a:lnSpc>
                <a:spcPct val="130000"/>
              </a:lnSpc>
              <a:buNone/>
            </a:pPr>
            <a:r>
              <a:rPr lang="en-US" altLang="zh-CN" sz="2400" dirty="0"/>
              <a:t>12.8  </a:t>
            </a:r>
            <a:r>
              <a:rPr lang="zh-CN" altLang="en-US" sz="2400" dirty="0"/>
              <a:t>封锁的粒度</a:t>
            </a:r>
          </a:p>
          <a:p>
            <a:pPr marL="0" indent="0" algn="just" eaLnBrk="1" hangingPunct="1">
              <a:lnSpc>
                <a:spcPct val="130000"/>
              </a:lnSpc>
              <a:buNone/>
            </a:pPr>
            <a:r>
              <a:rPr lang="zh-CN" altLang="en-US" sz="2400" dirty="0"/>
              <a:t>*</a:t>
            </a:r>
            <a:r>
              <a:rPr lang="en-US" altLang="zh-CN" sz="2400" dirty="0"/>
              <a:t>12.9  </a:t>
            </a:r>
            <a:r>
              <a:rPr lang="zh-CN" altLang="en-US" sz="2400" dirty="0"/>
              <a:t>其他并发控制机制</a:t>
            </a:r>
          </a:p>
          <a:p>
            <a:pPr marL="0" indent="0" algn="just" eaLnBrk="1" hangingPunct="1">
              <a:lnSpc>
                <a:spcPct val="130000"/>
              </a:lnSpc>
              <a:buNone/>
            </a:pPr>
            <a:r>
              <a:rPr lang="zh-CN" altLang="en-US" sz="2400" dirty="0"/>
              <a:t>1</a:t>
            </a:r>
            <a:r>
              <a:rPr lang="en-US" altLang="zh-CN" sz="2400" dirty="0"/>
              <a:t>2</a:t>
            </a:r>
            <a:r>
              <a:rPr lang="zh-CN" altLang="en-US" sz="2400" dirty="0"/>
              <a:t>.</a:t>
            </a:r>
            <a:r>
              <a:rPr lang="en-US" altLang="zh-CN" sz="2400" dirty="0"/>
              <a:t>10</a:t>
            </a:r>
            <a:r>
              <a:rPr lang="zh-CN" altLang="en-US" sz="2400" dirty="0"/>
              <a:t>  小结</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en-US" altLang="zh-CN" sz="3600" dirty="0"/>
              <a:t>12.7  </a:t>
            </a:r>
            <a:r>
              <a:rPr lang="zh-CN" altLang="en-US" sz="3600" dirty="0"/>
              <a:t>两段锁协议</a:t>
            </a:r>
            <a:endParaRPr lang="zh-CN" altLang="zh-CN" sz="3600" dirty="0"/>
          </a:p>
        </p:txBody>
      </p:sp>
      <p:sp>
        <p:nvSpPr>
          <p:cNvPr id="88067" name="Rectangle 3"/>
          <p:cNvSpPr>
            <a:spLocks noGrp="1"/>
          </p:cNvSpPr>
          <p:nvPr>
            <p:ph type="body"/>
          </p:nvPr>
        </p:nvSpPr>
        <p:spPr>
          <a:xfrm>
            <a:off x="982663" y="936625"/>
            <a:ext cx="10298112" cy="4984750"/>
          </a:xfrm>
        </p:spPr>
        <p:txBody>
          <a:bodyPr vert="horz" wrap="square" lIns="91440" tIns="45720" rIns="91440" bIns="45720" anchor="t" anchorCtr="0"/>
          <a:lstStyle/>
          <a:p>
            <a:pPr eaLnBrk="1" hangingPunct="1">
              <a:lnSpc>
                <a:spcPct val="150000"/>
              </a:lnSpc>
            </a:pPr>
            <a:r>
              <a:rPr lang="zh-CN" altLang="en-US" dirty="0"/>
              <a:t>数据库管理系统普遍采用两段锁协议（</a:t>
            </a:r>
            <a:r>
              <a:rPr lang="en-US" altLang="zh-CN" dirty="0"/>
              <a:t>Two Phase Locking</a:t>
            </a:r>
            <a:r>
              <a:rPr lang="zh-CN" altLang="en-US" dirty="0"/>
              <a:t>，简称</a:t>
            </a:r>
            <a:r>
              <a:rPr lang="en-US" altLang="zh-CN" dirty="0"/>
              <a:t>2PL</a:t>
            </a:r>
            <a:r>
              <a:rPr lang="zh-CN" altLang="en-US" dirty="0"/>
              <a:t>）的方法实现并发调度的可串行性，从而保证调度的正确性 </a:t>
            </a:r>
          </a:p>
          <a:p>
            <a:pPr eaLnBrk="1" hangingPunct="1">
              <a:lnSpc>
                <a:spcPct val="150000"/>
              </a:lnSpc>
            </a:pPr>
            <a:r>
              <a:rPr lang="zh-CN" altLang="en-US" dirty="0"/>
              <a:t>两段锁协议</a:t>
            </a:r>
          </a:p>
          <a:p>
            <a:pPr eaLnBrk="1" hangingPunct="1">
              <a:lnSpc>
                <a:spcPct val="150000"/>
              </a:lnSpc>
              <a:buNone/>
            </a:pPr>
            <a:r>
              <a:rPr lang="zh-CN" altLang="en-US" sz="2400" dirty="0"/>
              <a:t>     指所有事务必须分两个阶段对数据项加锁和解锁</a:t>
            </a:r>
            <a:r>
              <a:rPr lang="zh-CN" altLang="en-US" dirty="0"/>
              <a:t> </a:t>
            </a:r>
          </a:p>
          <a:p>
            <a:pPr lvl="1" eaLnBrk="1" hangingPunct="1">
              <a:lnSpc>
                <a:spcPct val="150000"/>
              </a:lnSpc>
            </a:pPr>
            <a:r>
              <a:rPr lang="zh-CN" altLang="en-US" dirty="0"/>
              <a:t>在对任何数据进行读、写操作之前，事务首先要获得对该数据的封锁</a:t>
            </a:r>
          </a:p>
          <a:p>
            <a:pPr lvl="1" eaLnBrk="1" hangingPunct="1">
              <a:lnSpc>
                <a:spcPct val="150000"/>
              </a:lnSpc>
            </a:pPr>
            <a:r>
              <a:rPr lang="zh-CN" altLang="en-US" dirty="0"/>
              <a:t> 在释放一个封锁之后，事务不再申请和获得任何其他封锁</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两段锁协议（续）</a:t>
            </a:r>
          </a:p>
        </p:txBody>
      </p:sp>
      <p:sp>
        <p:nvSpPr>
          <p:cNvPr id="89091" name="Rectangle 3"/>
          <p:cNvSpPr>
            <a:spLocks noGrp="1"/>
          </p:cNvSpPr>
          <p:nvPr>
            <p:ph type="body"/>
          </p:nvPr>
        </p:nvSpPr>
        <p:spPr>
          <a:xfrm>
            <a:off x="1055688" y="1125538"/>
            <a:ext cx="10225087" cy="4897437"/>
          </a:xfrm>
        </p:spPr>
        <p:txBody>
          <a:bodyPr vert="horz" wrap="square" lIns="91440" tIns="45720" rIns="91440" bIns="45720" anchor="t" anchorCtr="0"/>
          <a:lstStyle/>
          <a:p>
            <a:pPr eaLnBrk="1" hangingPunct="1">
              <a:lnSpc>
                <a:spcPct val="150000"/>
              </a:lnSpc>
            </a:pPr>
            <a:r>
              <a:rPr lang="en-US" altLang="zh-CN" dirty="0"/>
              <a:t>“</a:t>
            </a:r>
            <a:r>
              <a:rPr lang="zh-CN" altLang="en-US" dirty="0"/>
              <a:t>两段”锁的含义</a:t>
            </a:r>
          </a:p>
          <a:p>
            <a:pPr lvl="1" eaLnBrk="1" hangingPunct="1">
              <a:lnSpc>
                <a:spcPct val="150000"/>
              </a:lnSpc>
              <a:buNone/>
            </a:pPr>
            <a:r>
              <a:rPr lang="zh-CN" altLang="en-US" dirty="0"/>
              <a:t>事务分为两个阶段</a:t>
            </a:r>
          </a:p>
          <a:p>
            <a:pPr lvl="1" eaLnBrk="1" hangingPunct="1">
              <a:lnSpc>
                <a:spcPct val="150000"/>
              </a:lnSpc>
            </a:pPr>
            <a:r>
              <a:rPr lang="zh-CN" altLang="en-US" dirty="0"/>
              <a:t> 第一阶段是获得封锁，也称为扩展阶段</a:t>
            </a:r>
          </a:p>
          <a:p>
            <a:pPr lvl="2" eaLnBrk="1" hangingPunct="1">
              <a:lnSpc>
                <a:spcPct val="150000"/>
              </a:lnSpc>
              <a:buSzPct val="87000"/>
              <a:buFont typeface="Wingdings" panose="05000000000000000000" pitchFamily="2" charset="2"/>
              <a:buChar char="l"/>
            </a:pPr>
            <a:r>
              <a:rPr lang="zh-CN" altLang="en-US" sz="2200" dirty="0"/>
              <a:t>事务可以申请获得任何数据项上的任何类型的锁，但是不能释放任何锁 </a:t>
            </a:r>
          </a:p>
          <a:p>
            <a:pPr lvl="1" eaLnBrk="1" hangingPunct="1">
              <a:lnSpc>
                <a:spcPct val="150000"/>
              </a:lnSpc>
            </a:pPr>
            <a:r>
              <a:rPr lang="zh-CN" altLang="en-US" dirty="0"/>
              <a:t> 第二阶段是释放封锁，也称为收缩阶段</a:t>
            </a:r>
          </a:p>
          <a:p>
            <a:pPr lvl="2" eaLnBrk="1" hangingPunct="1">
              <a:lnSpc>
                <a:spcPct val="150000"/>
              </a:lnSpc>
              <a:buSzPct val="87000"/>
              <a:buFont typeface="Wingdings" panose="05000000000000000000" pitchFamily="2" charset="2"/>
              <a:buChar char="l"/>
            </a:pPr>
            <a:r>
              <a:rPr lang="zh-CN" altLang="en-US" sz="2200" dirty="0"/>
              <a:t>事务可以释放任何数据项上的任何类型的锁，但是不能再申请任何锁 </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两段锁协议（续）</a:t>
            </a:r>
          </a:p>
        </p:txBody>
      </p:sp>
      <p:sp>
        <p:nvSpPr>
          <p:cNvPr id="90115" name="Rectangle 3"/>
          <p:cNvSpPr>
            <a:spLocks noGrp="1"/>
          </p:cNvSpPr>
          <p:nvPr>
            <p:ph type="body"/>
          </p:nvPr>
        </p:nvSpPr>
        <p:spPr>
          <a:xfrm>
            <a:off x="1343025" y="1371600"/>
            <a:ext cx="9074150" cy="4114800"/>
          </a:xfrm>
        </p:spPr>
        <p:txBody>
          <a:bodyPr vert="horz" wrap="square" lIns="91440" tIns="45720" rIns="91440" bIns="45720" anchor="t" anchorCtr="0"/>
          <a:lstStyle/>
          <a:p>
            <a:pPr eaLnBrk="1" hangingPunct="1">
              <a:lnSpc>
                <a:spcPct val="160000"/>
              </a:lnSpc>
              <a:buNone/>
            </a:pPr>
            <a:r>
              <a:rPr lang="zh-CN" altLang="en-US" sz="2400" dirty="0"/>
              <a:t>例</a:t>
            </a:r>
          </a:p>
          <a:p>
            <a:pPr eaLnBrk="1" hangingPunct="1">
              <a:lnSpc>
                <a:spcPct val="160000"/>
              </a:lnSpc>
              <a:buNone/>
            </a:pPr>
            <a:r>
              <a:rPr lang="zh-CN" altLang="en-US" sz="2400" dirty="0"/>
              <a:t>事务</a:t>
            </a:r>
            <a:r>
              <a:rPr lang="en-US" altLang="zh-CN" sz="2400" dirty="0"/>
              <a:t>T</a:t>
            </a:r>
            <a:r>
              <a:rPr lang="en-US" altLang="zh-CN" sz="2400" i="1" baseline="-25000" dirty="0"/>
              <a:t>i</a:t>
            </a:r>
            <a:r>
              <a:rPr lang="zh-CN" altLang="en-US" sz="2400" dirty="0"/>
              <a:t>遵守两段锁协议，其封锁序列是 ：</a:t>
            </a:r>
          </a:p>
          <a:p>
            <a:pPr eaLnBrk="1" hangingPunct="1">
              <a:lnSpc>
                <a:spcPct val="160000"/>
              </a:lnSpc>
              <a:buNone/>
            </a:pPr>
            <a:r>
              <a:rPr lang="en-US" altLang="zh-CN" sz="2000" dirty="0"/>
              <a:t>Slock A    Slock B    Xlock C     Unlock B    Unlock A   Unlock C</a:t>
            </a:r>
            <a:r>
              <a:rPr lang="zh-CN" altLang="en-US" sz="2000" dirty="0"/>
              <a:t>；</a:t>
            </a:r>
            <a:endParaRPr lang="zh-CN" altLang="en-US" sz="2400" dirty="0"/>
          </a:p>
          <a:p>
            <a:pPr eaLnBrk="1" hangingPunct="1">
              <a:lnSpc>
                <a:spcPct val="160000"/>
              </a:lnSpc>
              <a:buNone/>
            </a:pPr>
            <a:r>
              <a:rPr lang="en-US" altLang="zh-CN" sz="2000" dirty="0"/>
              <a:t>|←	   	    </a:t>
            </a:r>
            <a:r>
              <a:rPr lang="zh-CN" altLang="en-US" sz="2000" dirty="0"/>
              <a:t>扩展阶段	    →</a:t>
            </a:r>
            <a:r>
              <a:rPr lang="en-US" altLang="zh-CN" sz="2000" dirty="0"/>
              <a:t>|	|←	         </a:t>
            </a:r>
            <a:r>
              <a:rPr lang="zh-CN" altLang="en-US" sz="2000" dirty="0"/>
              <a:t>收缩阶段               →</a:t>
            </a:r>
            <a:r>
              <a:rPr lang="en-US" altLang="zh-CN" sz="2000" dirty="0"/>
              <a:t>|</a:t>
            </a:r>
          </a:p>
          <a:p>
            <a:pPr eaLnBrk="1" hangingPunct="1">
              <a:lnSpc>
                <a:spcPct val="160000"/>
              </a:lnSpc>
              <a:buNone/>
            </a:pPr>
            <a:r>
              <a:rPr lang="zh-CN" altLang="en-US" sz="2400" dirty="0"/>
              <a:t>事务</a:t>
            </a:r>
            <a:r>
              <a:rPr lang="en-US" altLang="zh-CN" sz="2400" dirty="0"/>
              <a:t>T</a:t>
            </a:r>
            <a:r>
              <a:rPr lang="en-US" altLang="zh-CN" sz="2400" i="1" baseline="-25000" dirty="0"/>
              <a:t>j</a:t>
            </a:r>
            <a:r>
              <a:rPr lang="zh-CN" altLang="en-US" sz="2400" dirty="0"/>
              <a:t>不遵守两段锁协议，其封锁序列是：</a:t>
            </a:r>
            <a:r>
              <a:rPr lang="zh-CN" altLang="en-US" dirty="0"/>
              <a:t> </a:t>
            </a:r>
            <a:endParaRPr lang="zh-CN" altLang="en-US" sz="2400" dirty="0"/>
          </a:p>
          <a:p>
            <a:pPr eaLnBrk="1" hangingPunct="1">
              <a:lnSpc>
                <a:spcPct val="160000"/>
              </a:lnSpc>
              <a:buNone/>
            </a:pPr>
            <a:r>
              <a:rPr lang="en-US" altLang="zh-CN" sz="2000" dirty="0"/>
              <a:t>Slock A    Unlock A    Slock B    Xlock C    Unlock C    Unlock B</a:t>
            </a:r>
            <a:r>
              <a:rPr lang="zh-CN" altLang="en-US" sz="2000" dirty="0"/>
              <a: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两段锁协议（续）</a:t>
            </a:r>
          </a:p>
        </p:txBody>
      </p:sp>
      <p:graphicFrame>
        <p:nvGraphicFramePr>
          <p:cNvPr id="91139" name="Group 3"/>
          <p:cNvGraphicFramePr>
            <a:graphicFrameLocks noGrp="1"/>
          </p:cNvGraphicFramePr>
          <p:nvPr>
            <p:ph idx="1"/>
          </p:nvPr>
        </p:nvGraphicFramePr>
        <p:xfrm>
          <a:off x="1333500" y="836613"/>
          <a:ext cx="4762500" cy="5332408"/>
        </p:xfrm>
        <a:graphic>
          <a:graphicData uri="http://schemas.openxmlformats.org/drawingml/2006/table">
            <a:tbl>
              <a:tblPr>
                <a:tableStyleId>{17292A2E-F333-43FB-9621-5CBBE7FDCDCB}</a:tableStyleId>
              </a:tblPr>
              <a:tblGrid>
                <a:gridCol w="2647950">
                  <a:extLst>
                    <a:ext uri="{9D8B030D-6E8A-4147-A177-3AD203B41FA5}">
                      <a16:colId xmlns:a16="http://schemas.microsoft.com/office/drawing/2014/main" val="20000"/>
                    </a:ext>
                  </a:extLst>
                </a:gridCol>
                <a:gridCol w="2114550">
                  <a:extLst>
                    <a:ext uri="{9D8B030D-6E8A-4147-A177-3AD203B41FA5}">
                      <a16:colId xmlns:a16="http://schemas.microsoft.com/office/drawing/2014/main" val="20001"/>
                    </a:ext>
                  </a:extLst>
                </a:gridCol>
              </a:tblGrid>
              <a:tr h="310024">
                <a:tc>
                  <a:txBody>
                    <a:bodyPr/>
                    <a:lstStyle/>
                    <a:p>
                      <a:pPr marL="342900" marR="0" lvl="0" indent="-342900" algn="ctr" defTabSz="914400" rtl="0" eaLnBrk="1" fontAlgn="base" latinLnBrk="0" hangingPunct="1">
                        <a:lnSpc>
                          <a:spcPts val="1300"/>
                        </a:lnSpc>
                        <a:spcBef>
                          <a:spcPct val="0"/>
                        </a:spcBef>
                        <a:spcAft>
                          <a:spcPct val="0"/>
                        </a:spcAft>
                        <a:buClrTx/>
                        <a:buSzPct val="100000"/>
                        <a:buFont typeface="Arial" panose="020B0604020202020204" pitchFamily="34" charset="0"/>
                        <a:buNone/>
                      </a:pPr>
                      <a:r>
                        <a:rPr kumimoji="0" lang="zh-CN" altLang="en-US" sz="1600" b="1" u="none" strike="noStrike" cap="none" normalizeH="0" baseline="0" dirty="0">
                          <a:ln>
                            <a:noFill/>
                          </a:ln>
                          <a:effectLst/>
                        </a:rPr>
                        <a:t>事务</a:t>
                      </a:r>
                      <a:r>
                        <a:rPr kumimoji="0" lang="en-US" sz="1600" b="1" u="none" strike="noStrike" cap="none" normalizeH="0" baseline="0" dirty="0">
                          <a:ln>
                            <a:noFill/>
                          </a:ln>
                          <a:effectLst/>
                        </a:rPr>
                        <a:t>T</a:t>
                      </a:r>
                      <a:r>
                        <a:rPr kumimoji="0" lang="en-US" sz="1600" b="1" u="none" strike="noStrike" cap="none" normalizeH="0" baseline="-30000" dirty="0">
                          <a:ln>
                            <a:noFill/>
                          </a:ln>
                          <a:effectLst/>
                        </a:rPr>
                        <a:t>1</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lumMod val="75000"/>
                      </a:schemeClr>
                    </a:solidFill>
                  </a:tcPr>
                </a:tc>
                <a:tc>
                  <a:txBody>
                    <a:bodyPr/>
                    <a:lstStyle/>
                    <a:p>
                      <a:pPr marL="342900" marR="0" lvl="0" indent="-342900" algn="ctr" defTabSz="914400" rtl="0" eaLnBrk="1" fontAlgn="base" latinLnBrk="0" hangingPunct="1">
                        <a:lnSpc>
                          <a:spcPts val="1300"/>
                        </a:lnSpc>
                        <a:spcBef>
                          <a:spcPct val="0"/>
                        </a:spcBef>
                        <a:spcAft>
                          <a:spcPct val="0"/>
                        </a:spcAft>
                        <a:buClrTx/>
                        <a:buSzPct val="100000"/>
                        <a:buFont typeface="Arial" panose="020B0604020202020204" pitchFamily="34" charset="0"/>
                        <a:buNone/>
                      </a:pPr>
                      <a:r>
                        <a:rPr kumimoji="0" lang="zh-CN" altLang="en-US" sz="1600" b="1" u="none" strike="noStrike" cap="none" normalizeH="0" baseline="0" dirty="0">
                          <a:ln>
                            <a:noFill/>
                          </a:ln>
                          <a:effectLst/>
                        </a:rPr>
                        <a:t>事务</a:t>
                      </a:r>
                      <a:r>
                        <a:rPr kumimoji="0" lang="en-US" sz="1600" b="1" u="none" strike="noStrike" cap="none" normalizeH="0" baseline="0" dirty="0">
                          <a:ln>
                            <a:noFill/>
                          </a:ln>
                          <a:effectLst/>
                        </a:rPr>
                        <a:t>T</a:t>
                      </a:r>
                      <a:r>
                        <a:rPr kumimoji="0" lang="en-US" sz="1600" b="1" u="none" strike="noStrike" cap="none" normalizeH="0" baseline="-30000" dirty="0">
                          <a:ln>
                            <a:noFill/>
                          </a:ln>
                          <a:effectLst/>
                        </a:rPr>
                        <a:t>2</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lumMod val="75000"/>
                      </a:schemeClr>
                    </a:solidFill>
                  </a:tcPr>
                </a:tc>
                <a:extLst>
                  <a:ext uri="{0D108BD9-81ED-4DB2-BD59-A6C34878D82A}">
                    <a16:rowId xmlns:a16="http://schemas.microsoft.com/office/drawing/2014/main" val="10000"/>
                  </a:ext>
                </a:extLst>
              </a:tr>
              <a:tr h="264336">
                <a:tc>
                  <a:txBody>
                    <a:bodyPr/>
                    <a:lstStyle/>
                    <a:p>
                      <a:pPr marL="342900" marR="0" lvl="0" indent="-342900" algn="l" defTabSz="914400" rtl="0" eaLnBrk="1" fontAlgn="base" latinLnBrk="0" hangingPunct="1">
                        <a:lnSpc>
                          <a:spcPts val="1300"/>
                        </a:lnSpc>
                        <a:spcBef>
                          <a:spcPct val="0"/>
                        </a:spcBef>
                        <a:spcAft>
                          <a:spcPct val="0"/>
                        </a:spcAft>
                        <a:buClrTx/>
                        <a:buSzPct val="100000"/>
                        <a:buFont typeface="Arial" panose="020B0604020202020204" pitchFamily="34" charset="0"/>
                        <a:buNone/>
                      </a:pPr>
                      <a:r>
                        <a:rPr kumimoji="0" lang="en-US" sz="1600" b="1" u="none" strike="noStrike" cap="none" normalizeH="0" baseline="0" dirty="0" err="1">
                          <a:ln>
                            <a:noFill/>
                          </a:ln>
                          <a:effectLst/>
                        </a:rPr>
                        <a:t>Slock</a:t>
                      </a:r>
                      <a:r>
                        <a:rPr kumimoji="0" lang="en-US" sz="1600" b="1" u="none" strike="noStrike" cap="none" normalizeH="0" baseline="0" dirty="0">
                          <a:ln>
                            <a:noFill/>
                          </a:ln>
                          <a:effectLst/>
                        </a:rPr>
                        <a:t>  A</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tc>
                  <a:txBody>
                    <a:bodyPr/>
                    <a:lstStyle/>
                    <a:p>
                      <a:pPr marL="0" marR="0" lvl="0" indent="0" algn="l" defTabSz="914400" rtl="0" eaLnBrk="1" fontAlgn="base" latinLnBrk="0" hangingPunct="1">
                        <a:lnSpc>
                          <a:spcPts val="1300"/>
                        </a:lnSpc>
                        <a:spcBef>
                          <a:spcPct val="20000"/>
                        </a:spcBef>
                        <a:spcAft>
                          <a:spcPct val="0"/>
                        </a:spcAft>
                        <a:buClr>
                          <a:schemeClr val="hlink"/>
                        </a:buClr>
                        <a:buSzPct val="100000"/>
                        <a:buFont typeface="Wingdings" panose="05000000000000000000" pitchFamily="2" charset="2"/>
                        <a:buNone/>
                      </a:pPr>
                      <a:endParaRPr kumimoji="0" lang="zh-CN"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extLst>
                  <a:ext uri="{0D108BD9-81ED-4DB2-BD59-A6C34878D82A}">
                    <a16:rowId xmlns:a16="http://schemas.microsoft.com/office/drawing/2014/main" val="10001"/>
                  </a:ext>
                </a:extLst>
              </a:tr>
              <a:tr h="264336">
                <a:tc>
                  <a:txBody>
                    <a:bodyPr/>
                    <a:lstStyle/>
                    <a:p>
                      <a:pPr marL="342900" marR="0" lvl="0" indent="-342900" algn="l" defTabSz="914400" rtl="0" eaLnBrk="1" fontAlgn="base" latinLnBrk="0" hangingPunct="1">
                        <a:lnSpc>
                          <a:spcPts val="1300"/>
                        </a:lnSpc>
                        <a:spcBef>
                          <a:spcPct val="0"/>
                        </a:spcBef>
                        <a:spcAft>
                          <a:spcPct val="0"/>
                        </a:spcAft>
                        <a:buClrTx/>
                        <a:buSzPct val="100000"/>
                        <a:buFont typeface="Arial" panose="020B0604020202020204" pitchFamily="34" charset="0"/>
                        <a:buNone/>
                      </a:pPr>
                      <a:r>
                        <a:rPr kumimoji="0" lang="en-US" sz="1600" b="1" u="none" strike="noStrike" cap="none" normalizeH="0" baseline="0" dirty="0">
                          <a:ln>
                            <a:noFill/>
                          </a:ln>
                          <a:effectLst/>
                        </a:rPr>
                        <a:t>R(A)=260</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tc>
                  <a:txBody>
                    <a:bodyPr/>
                    <a:lstStyle/>
                    <a:p>
                      <a:pPr marL="0" marR="0" lvl="0" indent="0" algn="l" defTabSz="914400" rtl="0" eaLnBrk="1" fontAlgn="base" latinLnBrk="0" hangingPunct="1">
                        <a:lnSpc>
                          <a:spcPts val="1300"/>
                        </a:lnSpc>
                        <a:spcBef>
                          <a:spcPct val="20000"/>
                        </a:spcBef>
                        <a:spcAft>
                          <a:spcPct val="0"/>
                        </a:spcAft>
                        <a:buClr>
                          <a:schemeClr val="hlink"/>
                        </a:buClr>
                        <a:buSzPct val="100000"/>
                        <a:buFont typeface="Wingdings" panose="05000000000000000000" pitchFamily="2" charset="2"/>
                        <a:buNone/>
                      </a:pPr>
                      <a:endParaRPr kumimoji="0" lang="zh-CN"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extLst>
                  <a:ext uri="{0D108BD9-81ED-4DB2-BD59-A6C34878D82A}">
                    <a16:rowId xmlns:a16="http://schemas.microsoft.com/office/drawing/2014/main" val="10002"/>
                  </a:ext>
                </a:extLst>
              </a:tr>
              <a:tr h="264336">
                <a:tc>
                  <a:txBody>
                    <a:bodyPr/>
                    <a:lstStyle/>
                    <a:p>
                      <a:pPr marL="0" marR="0" lvl="0" indent="0" algn="l" defTabSz="914400" rtl="0" eaLnBrk="1" fontAlgn="base" latinLnBrk="0" hangingPunct="1">
                        <a:lnSpc>
                          <a:spcPts val="1300"/>
                        </a:lnSpc>
                        <a:spcBef>
                          <a:spcPct val="20000"/>
                        </a:spcBef>
                        <a:spcAft>
                          <a:spcPct val="0"/>
                        </a:spcAft>
                        <a:buClr>
                          <a:schemeClr val="hlink"/>
                        </a:buClr>
                        <a:buSzPct val="100000"/>
                        <a:buFont typeface="Wingdings" panose="05000000000000000000" pitchFamily="2" charset="2"/>
                        <a:buNone/>
                      </a:pPr>
                      <a:endParaRPr kumimoji="0" lang="zh-CN"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tc>
                  <a:txBody>
                    <a:bodyPr/>
                    <a:lstStyle/>
                    <a:p>
                      <a:pPr marL="342900" marR="0" lvl="0" indent="-342900" algn="l" defTabSz="914400" rtl="0" eaLnBrk="1" fontAlgn="base" latinLnBrk="0" hangingPunct="1">
                        <a:lnSpc>
                          <a:spcPts val="1300"/>
                        </a:lnSpc>
                        <a:spcBef>
                          <a:spcPct val="0"/>
                        </a:spcBef>
                        <a:spcAft>
                          <a:spcPct val="0"/>
                        </a:spcAft>
                        <a:buClrTx/>
                        <a:buSzPct val="100000"/>
                        <a:buFont typeface="Arial" panose="020B0604020202020204" pitchFamily="34" charset="0"/>
                        <a:buNone/>
                      </a:pPr>
                      <a:r>
                        <a:rPr kumimoji="0" lang="en-US" sz="1600" b="1" u="none" strike="noStrike" cap="none" normalizeH="0" baseline="0" dirty="0" err="1">
                          <a:ln>
                            <a:noFill/>
                          </a:ln>
                          <a:effectLst/>
                        </a:rPr>
                        <a:t>Slock</a:t>
                      </a:r>
                      <a:r>
                        <a:rPr kumimoji="0" lang="en-US" sz="1600" b="1" u="none" strike="noStrike" cap="none" normalizeH="0" baseline="0" dirty="0">
                          <a:ln>
                            <a:noFill/>
                          </a:ln>
                          <a:effectLst/>
                        </a:rPr>
                        <a:t>  C</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extLst>
                  <a:ext uri="{0D108BD9-81ED-4DB2-BD59-A6C34878D82A}">
                    <a16:rowId xmlns:a16="http://schemas.microsoft.com/office/drawing/2014/main" val="10003"/>
                  </a:ext>
                </a:extLst>
              </a:tr>
              <a:tr h="264336">
                <a:tc>
                  <a:txBody>
                    <a:bodyPr/>
                    <a:lstStyle/>
                    <a:p>
                      <a:pPr marL="0" marR="0" lvl="0" indent="0" algn="l" defTabSz="914400" rtl="0" eaLnBrk="1" fontAlgn="base" latinLnBrk="0" hangingPunct="1">
                        <a:lnSpc>
                          <a:spcPts val="1300"/>
                        </a:lnSpc>
                        <a:spcBef>
                          <a:spcPct val="20000"/>
                        </a:spcBef>
                        <a:spcAft>
                          <a:spcPct val="0"/>
                        </a:spcAft>
                        <a:buClr>
                          <a:schemeClr val="hlink"/>
                        </a:buClr>
                        <a:buSzPct val="100000"/>
                        <a:buFont typeface="Wingdings" panose="05000000000000000000" pitchFamily="2" charset="2"/>
                        <a:buNone/>
                      </a:pPr>
                      <a:endParaRPr kumimoji="0" lang="zh-CN"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tc>
                  <a:txBody>
                    <a:bodyPr/>
                    <a:lstStyle/>
                    <a:p>
                      <a:pPr marL="342900" marR="0" lvl="0" indent="-342900" algn="l" defTabSz="914400" rtl="0" eaLnBrk="1" fontAlgn="base" latinLnBrk="0" hangingPunct="1">
                        <a:lnSpc>
                          <a:spcPts val="1300"/>
                        </a:lnSpc>
                        <a:spcBef>
                          <a:spcPct val="0"/>
                        </a:spcBef>
                        <a:spcAft>
                          <a:spcPct val="0"/>
                        </a:spcAft>
                        <a:buClrTx/>
                        <a:buSzPct val="100000"/>
                        <a:buFont typeface="Arial" panose="020B0604020202020204" pitchFamily="34" charset="0"/>
                        <a:buNone/>
                      </a:pPr>
                      <a:r>
                        <a:rPr kumimoji="0" lang="en-US" sz="1600" b="1" u="none" strike="noStrike" cap="none" normalizeH="0" baseline="0" dirty="0">
                          <a:ln>
                            <a:noFill/>
                          </a:ln>
                          <a:effectLst/>
                        </a:rPr>
                        <a:t>R(C)=300</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extLst>
                  <a:ext uri="{0D108BD9-81ED-4DB2-BD59-A6C34878D82A}">
                    <a16:rowId xmlns:a16="http://schemas.microsoft.com/office/drawing/2014/main" val="10004"/>
                  </a:ext>
                </a:extLst>
              </a:tr>
              <a:tr h="264336">
                <a:tc>
                  <a:txBody>
                    <a:bodyPr/>
                    <a:lstStyle/>
                    <a:p>
                      <a:pPr marL="342900" marR="0" lvl="0" indent="-342900" algn="l" defTabSz="914400" rtl="0" eaLnBrk="1" fontAlgn="base" latinLnBrk="0" hangingPunct="1">
                        <a:lnSpc>
                          <a:spcPts val="1300"/>
                        </a:lnSpc>
                        <a:spcBef>
                          <a:spcPct val="0"/>
                        </a:spcBef>
                        <a:spcAft>
                          <a:spcPct val="0"/>
                        </a:spcAft>
                        <a:buClrTx/>
                        <a:buSzPct val="100000"/>
                        <a:buFont typeface="Arial" panose="020B0604020202020204" pitchFamily="34" charset="0"/>
                        <a:buNone/>
                      </a:pPr>
                      <a:r>
                        <a:rPr kumimoji="0" lang="en-US" sz="1600" b="1" u="none" strike="noStrike" cap="none" normalizeH="0" baseline="0" dirty="0" err="1">
                          <a:ln>
                            <a:noFill/>
                          </a:ln>
                          <a:effectLst/>
                        </a:rPr>
                        <a:t>Xlock</a:t>
                      </a:r>
                      <a:r>
                        <a:rPr kumimoji="0" lang="en-US" sz="1600" b="1" u="none" strike="noStrike" cap="none" normalizeH="0" baseline="0" dirty="0">
                          <a:ln>
                            <a:noFill/>
                          </a:ln>
                          <a:effectLst/>
                        </a:rPr>
                        <a:t> A</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tc>
                  <a:txBody>
                    <a:bodyPr/>
                    <a:lstStyle/>
                    <a:p>
                      <a:pPr marL="0" marR="0" lvl="0" indent="0" algn="l" defTabSz="914400" rtl="0" eaLnBrk="1" fontAlgn="base" latinLnBrk="0" hangingPunct="1">
                        <a:lnSpc>
                          <a:spcPts val="1300"/>
                        </a:lnSpc>
                        <a:spcBef>
                          <a:spcPct val="20000"/>
                        </a:spcBef>
                        <a:spcAft>
                          <a:spcPct val="0"/>
                        </a:spcAft>
                        <a:buClr>
                          <a:schemeClr val="hlink"/>
                        </a:buClr>
                        <a:buSzPct val="100000"/>
                        <a:buFont typeface="Wingdings" panose="05000000000000000000" pitchFamily="2" charset="2"/>
                        <a:buNone/>
                      </a:pPr>
                      <a:endParaRPr kumimoji="0" lang="zh-CN"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extLst>
                  <a:ext uri="{0D108BD9-81ED-4DB2-BD59-A6C34878D82A}">
                    <a16:rowId xmlns:a16="http://schemas.microsoft.com/office/drawing/2014/main" val="10005"/>
                  </a:ext>
                </a:extLst>
              </a:tr>
              <a:tr h="264336">
                <a:tc>
                  <a:txBody>
                    <a:bodyPr/>
                    <a:lstStyle/>
                    <a:p>
                      <a:pPr marL="342900" marR="0" lvl="0" indent="-342900" algn="l" defTabSz="914400" rtl="0" eaLnBrk="1" fontAlgn="base" latinLnBrk="0" hangingPunct="1">
                        <a:lnSpc>
                          <a:spcPts val="1300"/>
                        </a:lnSpc>
                        <a:spcBef>
                          <a:spcPct val="0"/>
                        </a:spcBef>
                        <a:spcAft>
                          <a:spcPct val="0"/>
                        </a:spcAft>
                        <a:buClrTx/>
                        <a:buSzPct val="100000"/>
                        <a:buFont typeface="Arial" panose="020B0604020202020204" pitchFamily="34" charset="0"/>
                        <a:buNone/>
                      </a:pPr>
                      <a:r>
                        <a:rPr kumimoji="0" lang="en-US" sz="1600" b="1" u="none" strike="noStrike" cap="none" normalizeH="0" baseline="0" dirty="0">
                          <a:ln>
                            <a:noFill/>
                          </a:ln>
                          <a:effectLst/>
                        </a:rPr>
                        <a:t>W(A)=160</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tc>
                  <a:txBody>
                    <a:bodyPr/>
                    <a:lstStyle/>
                    <a:p>
                      <a:pPr marL="0" marR="0" lvl="0" indent="0" algn="l" defTabSz="914400" rtl="0" eaLnBrk="1" fontAlgn="base" latinLnBrk="0" hangingPunct="1">
                        <a:lnSpc>
                          <a:spcPts val="1300"/>
                        </a:lnSpc>
                        <a:spcBef>
                          <a:spcPct val="20000"/>
                        </a:spcBef>
                        <a:spcAft>
                          <a:spcPct val="0"/>
                        </a:spcAft>
                        <a:buClr>
                          <a:schemeClr val="hlink"/>
                        </a:buClr>
                        <a:buSzPct val="100000"/>
                        <a:buFont typeface="Wingdings" panose="05000000000000000000" pitchFamily="2" charset="2"/>
                        <a:buNone/>
                      </a:pPr>
                      <a:endParaRPr kumimoji="0" lang="zh-CN"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extLst>
                  <a:ext uri="{0D108BD9-81ED-4DB2-BD59-A6C34878D82A}">
                    <a16:rowId xmlns:a16="http://schemas.microsoft.com/office/drawing/2014/main" val="10006"/>
                  </a:ext>
                </a:extLst>
              </a:tr>
              <a:tr h="264336">
                <a:tc>
                  <a:txBody>
                    <a:bodyPr/>
                    <a:lstStyle/>
                    <a:p>
                      <a:pPr marL="0" marR="0" lvl="0" indent="0" algn="l" defTabSz="914400" rtl="0" eaLnBrk="1" fontAlgn="base" latinLnBrk="0" hangingPunct="1">
                        <a:lnSpc>
                          <a:spcPts val="1300"/>
                        </a:lnSpc>
                        <a:spcBef>
                          <a:spcPct val="20000"/>
                        </a:spcBef>
                        <a:spcAft>
                          <a:spcPct val="0"/>
                        </a:spcAft>
                        <a:buClr>
                          <a:schemeClr val="hlink"/>
                        </a:buClr>
                        <a:buSzPct val="100000"/>
                        <a:buFont typeface="Wingdings" panose="05000000000000000000" pitchFamily="2" charset="2"/>
                        <a:buNone/>
                      </a:pPr>
                      <a:endParaRPr kumimoji="0" lang="zh-CN"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tc>
                  <a:txBody>
                    <a:bodyPr/>
                    <a:lstStyle/>
                    <a:p>
                      <a:pPr marL="342900" marR="0" lvl="0" indent="-342900" algn="l" defTabSz="914400" rtl="0" eaLnBrk="1" fontAlgn="base" latinLnBrk="0" hangingPunct="1">
                        <a:lnSpc>
                          <a:spcPts val="1300"/>
                        </a:lnSpc>
                        <a:spcBef>
                          <a:spcPct val="0"/>
                        </a:spcBef>
                        <a:spcAft>
                          <a:spcPct val="0"/>
                        </a:spcAft>
                        <a:buClrTx/>
                        <a:buSzPct val="100000"/>
                        <a:buFont typeface="Arial" panose="020B0604020202020204" pitchFamily="34" charset="0"/>
                        <a:buNone/>
                      </a:pPr>
                      <a:r>
                        <a:rPr kumimoji="0" lang="en-US" sz="1600" b="1" u="none" strike="noStrike" cap="none" normalizeH="0" baseline="0" dirty="0" err="1">
                          <a:ln>
                            <a:noFill/>
                          </a:ln>
                          <a:effectLst/>
                        </a:rPr>
                        <a:t>Xlock</a:t>
                      </a:r>
                      <a:r>
                        <a:rPr kumimoji="0" lang="en-US" sz="1600" b="1" u="none" strike="noStrike" cap="none" normalizeH="0" baseline="0" dirty="0">
                          <a:ln>
                            <a:noFill/>
                          </a:ln>
                          <a:effectLst/>
                        </a:rPr>
                        <a:t>  C</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extLst>
                  <a:ext uri="{0D108BD9-81ED-4DB2-BD59-A6C34878D82A}">
                    <a16:rowId xmlns:a16="http://schemas.microsoft.com/office/drawing/2014/main" val="10007"/>
                  </a:ext>
                </a:extLst>
              </a:tr>
              <a:tr h="264336">
                <a:tc>
                  <a:txBody>
                    <a:bodyPr/>
                    <a:lstStyle/>
                    <a:p>
                      <a:pPr marL="0" marR="0" lvl="0" indent="0" algn="l" defTabSz="914400" rtl="0" eaLnBrk="1" fontAlgn="base" latinLnBrk="0" hangingPunct="1">
                        <a:lnSpc>
                          <a:spcPts val="1300"/>
                        </a:lnSpc>
                        <a:spcBef>
                          <a:spcPct val="20000"/>
                        </a:spcBef>
                        <a:spcAft>
                          <a:spcPct val="0"/>
                        </a:spcAft>
                        <a:buClr>
                          <a:schemeClr val="hlink"/>
                        </a:buClr>
                        <a:buSzPct val="100000"/>
                        <a:buFont typeface="Wingdings" panose="05000000000000000000" pitchFamily="2" charset="2"/>
                        <a:buNone/>
                      </a:pPr>
                      <a:endParaRPr kumimoji="0" lang="zh-CN"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tc>
                  <a:txBody>
                    <a:bodyPr/>
                    <a:lstStyle/>
                    <a:p>
                      <a:pPr marL="342900" marR="0" lvl="0" indent="-342900" algn="l" defTabSz="914400" rtl="0" eaLnBrk="1" fontAlgn="base" latinLnBrk="0" hangingPunct="1">
                        <a:lnSpc>
                          <a:spcPts val="1300"/>
                        </a:lnSpc>
                        <a:spcBef>
                          <a:spcPct val="0"/>
                        </a:spcBef>
                        <a:spcAft>
                          <a:spcPct val="0"/>
                        </a:spcAft>
                        <a:buClrTx/>
                        <a:buSzPct val="100000"/>
                        <a:buFont typeface="Arial" panose="020B0604020202020204" pitchFamily="34" charset="0"/>
                        <a:buNone/>
                      </a:pPr>
                      <a:r>
                        <a:rPr kumimoji="0" lang="en-US" sz="1600" b="1" u="none" strike="noStrike" cap="none" normalizeH="0" baseline="0" dirty="0">
                          <a:ln>
                            <a:noFill/>
                          </a:ln>
                          <a:effectLst/>
                        </a:rPr>
                        <a:t>W(C)=250</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extLst>
                  <a:ext uri="{0D108BD9-81ED-4DB2-BD59-A6C34878D82A}">
                    <a16:rowId xmlns:a16="http://schemas.microsoft.com/office/drawing/2014/main" val="10008"/>
                  </a:ext>
                </a:extLst>
              </a:tr>
              <a:tr h="264336">
                <a:tc>
                  <a:txBody>
                    <a:bodyPr/>
                    <a:lstStyle/>
                    <a:p>
                      <a:pPr marL="0" marR="0" lvl="0" indent="0" algn="l" defTabSz="914400" rtl="0" eaLnBrk="1" fontAlgn="base" latinLnBrk="0" hangingPunct="1">
                        <a:lnSpc>
                          <a:spcPts val="1300"/>
                        </a:lnSpc>
                        <a:spcBef>
                          <a:spcPct val="20000"/>
                        </a:spcBef>
                        <a:spcAft>
                          <a:spcPct val="0"/>
                        </a:spcAft>
                        <a:buClr>
                          <a:schemeClr val="hlink"/>
                        </a:buClr>
                        <a:buSzPct val="100000"/>
                        <a:buFont typeface="Wingdings" panose="05000000000000000000" pitchFamily="2" charset="2"/>
                        <a:buNone/>
                      </a:pPr>
                      <a:endParaRPr kumimoji="0" lang="zh-CN"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tc>
                  <a:txBody>
                    <a:bodyPr/>
                    <a:lstStyle/>
                    <a:p>
                      <a:pPr marL="342900" marR="0" lvl="0" indent="-342900" algn="l" defTabSz="914400" rtl="0" eaLnBrk="1" fontAlgn="base" latinLnBrk="0" hangingPunct="1">
                        <a:lnSpc>
                          <a:spcPts val="1300"/>
                        </a:lnSpc>
                        <a:spcBef>
                          <a:spcPct val="0"/>
                        </a:spcBef>
                        <a:spcAft>
                          <a:spcPct val="0"/>
                        </a:spcAft>
                        <a:buClrTx/>
                        <a:buSzPct val="100000"/>
                        <a:buFont typeface="Arial" panose="020B0604020202020204" pitchFamily="34" charset="0"/>
                        <a:buNone/>
                      </a:pPr>
                      <a:r>
                        <a:rPr kumimoji="0" lang="en-US" sz="1600" b="1" u="none" strike="noStrike" cap="none" normalizeH="0" baseline="0" dirty="0" err="1">
                          <a:ln>
                            <a:noFill/>
                          </a:ln>
                          <a:effectLst/>
                        </a:rPr>
                        <a:t>Slock</a:t>
                      </a:r>
                      <a:r>
                        <a:rPr kumimoji="0" lang="en-US" sz="1600" b="1" u="none" strike="noStrike" cap="none" normalizeH="0" baseline="0" dirty="0">
                          <a:ln>
                            <a:noFill/>
                          </a:ln>
                          <a:effectLst/>
                        </a:rPr>
                        <a:t>  A</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extLst>
                  <a:ext uri="{0D108BD9-81ED-4DB2-BD59-A6C34878D82A}">
                    <a16:rowId xmlns:a16="http://schemas.microsoft.com/office/drawing/2014/main" val="10009"/>
                  </a:ext>
                </a:extLst>
              </a:tr>
              <a:tr h="264336">
                <a:tc>
                  <a:txBody>
                    <a:bodyPr/>
                    <a:lstStyle/>
                    <a:p>
                      <a:pPr marL="342900" marR="0" lvl="0" indent="-342900" algn="l" defTabSz="914400" rtl="0" eaLnBrk="1" fontAlgn="base" latinLnBrk="0" hangingPunct="1">
                        <a:lnSpc>
                          <a:spcPts val="1300"/>
                        </a:lnSpc>
                        <a:spcBef>
                          <a:spcPct val="0"/>
                        </a:spcBef>
                        <a:spcAft>
                          <a:spcPct val="0"/>
                        </a:spcAft>
                        <a:buClrTx/>
                        <a:buSzPct val="100000"/>
                        <a:buFont typeface="Arial" panose="020B0604020202020204" pitchFamily="34" charset="0"/>
                        <a:buNone/>
                      </a:pPr>
                      <a:r>
                        <a:rPr kumimoji="0" lang="en-US" sz="1600" b="1" u="none" strike="noStrike" cap="none" normalizeH="0" baseline="0" dirty="0" err="1">
                          <a:ln>
                            <a:noFill/>
                          </a:ln>
                          <a:effectLst/>
                        </a:rPr>
                        <a:t>Slock</a:t>
                      </a:r>
                      <a:r>
                        <a:rPr kumimoji="0" lang="en-US" sz="1600" b="1" u="none" strike="noStrike" cap="none" normalizeH="0" baseline="0" dirty="0">
                          <a:ln>
                            <a:noFill/>
                          </a:ln>
                          <a:effectLst/>
                        </a:rPr>
                        <a:t>  B</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tc>
                  <a:txBody>
                    <a:bodyPr/>
                    <a:lstStyle/>
                    <a:p>
                      <a:pPr marL="342900" marR="0" lvl="0" indent="-342900" algn="l" defTabSz="914400" rtl="0" eaLnBrk="1" fontAlgn="base" latinLnBrk="0" hangingPunct="1">
                        <a:lnSpc>
                          <a:spcPts val="1300"/>
                        </a:lnSpc>
                        <a:spcBef>
                          <a:spcPct val="0"/>
                        </a:spcBef>
                        <a:spcAft>
                          <a:spcPct val="0"/>
                        </a:spcAft>
                        <a:buClrTx/>
                        <a:buSzPct val="100000"/>
                        <a:buFont typeface="Arial" panose="020B0604020202020204" pitchFamily="34" charset="0"/>
                        <a:buNone/>
                      </a:pPr>
                      <a:r>
                        <a:rPr kumimoji="0" lang="zh-CN" sz="1600" b="1" u="none" strike="noStrike" cap="none" normalizeH="0" baseline="0" dirty="0">
                          <a:ln>
                            <a:noFill/>
                          </a:ln>
                          <a:effectLst/>
                        </a:rPr>
                        <a:t>等待</a:t>
                      </a:r>
                      <a:endParaRPr kumimoji="0" 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extLst>
                  <a:ext uri="{0D108BD9-81ED-4DB2-BD59-A6C34878D82A}">
                    <a16:rowId xmlns:a16="http://schemas.microsoft.com/office/drawing/2014/main" val="10010"/>
                  </a:ext>
                </a:extLst>
              </a:tr>
              <a:tr h="264336">
                <a:tc>
                  <a:txBody>
                    <a:bodyPr/>
                    <a:lstStyle/>
                    <a:p>
                      <a:pPr marL="342900" marR="0" lvl="0" indent="-342900" algn="l" defTabSz="914400" rtl="0" eaLnBrk="1" fontAlgn="base" latinLnBrk="0" hangingPunct="1">
                        <a:lnSpc>
                          <a:spcPts val="1300"/>
                        </a:lnSpc>
                        <a:spcBef>
                          <a:spcPct val="0"/>
                        </a:spcBef>
                        <a:spcAft>
                          <a:spcPct val="0"/>
                        </a:spcAft>
                        <a:buClrTx/>
                        <a:buSzPct val="100000"/>
                        <a:buFont typeface="Arial" panose="020B0604020202020204" pitchFamily="34" charset="0"/>
                        <a:buNone/>
                      </a:pPr>
                      <a:r>
                        <a:rPr kumimoji="0" lang="en-US" sz="1600" b="1" u="none" strike="noStrike" cap="none" normalizeH="0" baseline="0" dirty="0">
                          <a:ln>
                            <a:noFill/>
                          </a:ln>
                          <a:effectLst/>
                        </a:rPr>
                        <a:t>R(B)=1000</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tc>
                  <a:txBody>
                    <a:bodyPr/>
                    <a:lstStyle/>
                    <a:p>
                      <a:pPr marL="342900" marR="0" lvl="0" indent="-342900" algn="l" defTabSz="914400" rtl="0" eaLnBrk="1" fontAlgn="base" latinLnBrk="0" hangingPunct="1">
                        <a:lnSpc>
                          <a:spcPts val="1300"/>
                        </a:lnSpc>
                        <a:spcBef>
                          <a:spcPct val="0"/>
                        </a:spcBef>
                        <a:spcAft>
                          <a:spcPct val="0"/>
                        </a:spcAft>
                        <a:buClrTx/>
                        <a:buSzPct val="100000"/>
                        <a:buFont typeface="Arial" panose="020B0604020202020204" pitchFamily="34" charset="0"/>
                        <a:buNone/>
                      </a:pPr>
                      <a:r>
                        <a:rPr kumimoji="0" lang="zh-CN" sz="1600" b="1" u="none" strike="noStrike" cap="none" normalizeH="0" baseline="0" dirty="0">
                          <a:ln>
                            <a:noFill/>
                          </a:ln>
                          <a:effectLst/>
                        </a:rPr>
                        <a:t>等待</a:t>
                      </a:r>
                      <a:endParaRPr kumimoji="0" 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extLst>
                  <a:ext uri="{0D108BD9-81ED-4DB2-BD59-A6C34878D82A}">
                    <a16:rowId xmlns:a16="http://schemas.microsoft.com/office/drawing/2014/main" val="10011"/>
                  </a:ext>
                </a:extLst>
              </a:tr>
              <a:tr h="264336">
                <a:tc>
                  <a:txBody>
                    <a:bodyPr/>
                    <a:lstStyle/>
                    <a:p>
                      <a:pPr marL="342900" marR="0" lvl="0" indent="-342900" algn="l" defTabSz="914400" rtl="0" eaLnBrk="1" fontAlgn="base" latinLnBrk="0" hangingPunct="1">
                        <a:lnSpc>
                          <a:spcPts val="1300"/>
                        </a:lnSpc>
                        <a:spcBef>
                          <a:spcPct val="0"/>
                        </a:spcBef>
                        <a:spcAft>
                          <a:spcPct val="0"/>
                        </a:spcAft>
                        <a:buClrTx/>
                        <a:buSzPct val="100000"/>
                        <a:buFont typeface="Arial" panose="020B0604020202020204" pitchFamily="34" charset="0"/>
                        <a:buNone/>
                      </a:pPr>
                      <a:r>
                        <a:rPr kumimoji="0" lang="en-US" sz="1600" b="1" u="none" strike="noStrike" cap="none" normalizeH="0" baseline="0" dirty="0" err="1">
                          <a:ln>
                            <a:noFill/>
                          </a:ln>
                          <a:effectLst/>
                        </a:rPr>
                        <a:t>Xlock</a:t>
                      </a:r>
                      <a:r>
                        <a:rPr kumimoji="0" lang="en-US" sz="1600" b="1" u="none" strike="noStrike" cap="none" normalizeH="0" baseline="0" dirty="0">
                          <a:ln>
                            <a:noFill/>
                          </a:ln>
                          <a:effectLst/>
                        </a:rPr>
                        <a:t> B</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tc>
                  <a:txBody>
                    <a:bodyPr/>
                    <a:lstStyle/>
                    <a:p>
                      <a:pPr marL="342900" marR="0" lvl="0" indent="-342900" algn="l" defTabSz="914400" rtl="0" eaLnBrk="1" fontAlgn="base" latinLnBrk="0" hangingPunct="1">
                        <a:lnSpc>
                          <a:spcPts val="1300"/>
                        </a:lnSpc>
                        <a:spcBef>
                          <a:spcPct val="0"/>
                        </a:spcBef>
                        <a:spcAft>
                          <a:spcPct val="0"/>
                        </a:spcAft>
                        <a:buClrTx/>
                        <a:buSzPct val="100000"/>
                        <a:buFont typeface="Arial" panose="020B0604020202020204" pitchFamily="34" charset="0"/>
                        <a:buNone/>
                      </a:pPr>
                      <a:r>
                        <a:rPr kumimoji="0" lang="zh-CN" sz="1600" b="1" u="none" strike="noStrike" cap="none" normalizeH="0" baseline="0" dirty="0">
                          <a:ln>
                            <a:noFill/>
                          </a:ln>
                          <a:effectLst/>
                        </a:rPr>
                        <a:t>等待</a:t>
                      </a:r>
                      <a:endParaRPr kumimoji="0" 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extLst>
                  <a:ext uri="{0D108BD9-81ED-4DB2-BD59-A6C34878D82A}">
                    <a16:rowId xmlns:a16="http://schemas.microsoft.com/office/drawing/2014/main" val="10012"/>
                  </a:ext>
                </a:extLst>
              </a:tr>
              <a:tr h="264336">
                <a:tc>
                  <a:txBody>
                    <a:bodyPr/>
                    <a:lstStyle/>
                    <a:p>
                      <a:pPr marL="342900" marR="0" lvl="0" indent="-342900" algn="l" defTabSz="914400" rtl="0" eaLnBrk="1" fontAlgn="base" latinLnBrk="0" hangingPunct="1">
                        <a:lnSpc>
                          <a:spcPts val="1300"/>
                        </a:lnSpc>
                        <a:spcBef>
                          <a:spcPct val="0"/>
                        </a:spcBef>
                        <a:spcAft>
                          <a:spcPct val="0"/>
                        </a:spcAft>
                        <a:buClrTx/>
                        <a:buSzPct val="100000"/>
                        <a:buFont typeface="Arial" panose="020B0604020202020204" pitchFamily="34" charset="0"/>
                        <a:buNone/>
                      </a:pPr>
                      <a:r>
                        <a:rPr kumimoji="0" lang="en-US" sz="1600" b="1" u="none" strike="noStrike" cap="none" normalizeH="0" baseline="0">
                          <a:ln>
                            <a:noFill/>
                          </a:ln>
                          <a:effectLst/>
                        </a:rPr>
                        <a:t>W(B)=1100</a:t>
                      </a:r>
                      <a:endParaRPr kumimoji="0" 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tc>
                  <a:txBody>
                    <a:bodyPr/>
                    <a:lstStyle/>
                    <a:p>
                      <a:pPr marL="342900" marR="0" lvl="0" indent="-342900" algn="l" defTabSz="914400" rtl="0" eaLnBrk="1" fontAlgn="base" latinLnBrk="0" hangingPunct="1">
                        <a:lnSpc>
                          <a:spcPts val="1300"/>
                        </a:lnSpc>
                        <a:spcBef>
                          <a:spcPct val="0"/>
                        </a:spcBef>
                        <a:spcAft>
                          <a:spcPct val="0"/>
                        </a:spcAft>
                        <a:buClrTx/>
                        <a:buSzPct val="100000"/>
                        <a:buFont typeface="Arial" panose="020B0604020202020204" pitchFamily="34" charset="0"/>
                        <a:buNone/>
                      </a:pPr>
                      <a:r>
                        <a:rPr kumimoji="0" lang="en-US" sz="1600" b="1" u="none" strike="noStrike" cap="none" normalizeH="0" baseline="0" dirty="0">
                          <a:ln>
                            <a:noFill/>
                          </a:ln>
                          <a:effectLst/>
                        </a:rPr>
                        <a:t> </a:t>
                      </a:r>
                      <a:r>
                        <a:rPr kumimoji="0" lang="zh-CN" altLang="en-US" sz="1600" b="1" u="none" strike="noStrike" cap="none" normalizeH="0" baseline="0" dirty="0">
                          <a:ln>
                            <a:noFill/>
                          </a:ln>
                          <a:effectLst/>
                        </a:rPr>
                        <a:t>等待</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extLst>
                  <a:ext uri="{0D108BD9-81ED-4DB2-BD59-A6C34878D82A}">
                    <a16:rowId xmlns:a16="http://schemas.microsoft.com/office/drawing/2014/main" val="10013"/>
                  </a:ext>
                </a:extLst>
              </a:tr>
              <a:tr h="264336">
                <a:tc>
                  <a:txBody>
                    <a:bodyPr/>
                    <a:lstStyle/>
                    <a:p>
                      <a:pPr marL="342900" marR="0" lvl="0" indent="-342900" algn="l" defTabSz="914400" rtl="0" eaLnBrk="1" fontAlgn="base" latinLnBrk="0" hangingPunct="1">
                        <a:lnSpc>
                          <a:spcPts val="1300"/>
                        </a:lnSpc>
                        <a:spcBef>
                          <a:spcPct val="0"/>
                        </a:spcBef>
                        <a:spcAft>
                          <a:spcPct val="0"/>
                        </a:spcAft>
                        <a:buClrTx/>
                        <a:buSzPct val="100000"/>
                        <a:buFont typeface="Arial" panose="020B0604020202020204" pitchFamily="34" charset="0"/>
                        <a:buNone/>
                      </a:pPr>
                      <a:r>
                        <a:rPr kumimoji="0" lang="en-US" sz="1600" b="1" u="none" strike="noStrike" cap="none" normalizeH="0" baseline="0" dirty="0">
                          <a:ln>
                            <a:noFill/>
                          </a:ln>
                          <a:effectLst/>
                        </a:rPr>
                        <a:t>Unlock  A</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tc>
                  <a:txBody>
                    <a:bodyPr/>
                    <a:lstStyle/>
                    <a:p>
                      <a:pPr marL="342900" marR="0" lvl="0" indent="-342900" algn="l" defTabSz="914400" rtl="0" eaLnBrk="1" fontAlgn="base" latinLnBrk="0" hangingPunct="1">
                        <a:lnSpc>
                          <a:spcPts val="1300"/>
                        </a:lnSpc>
                        <a:spcBef>
                          <a:spcPct val="0"/>
                        </a:spcBef>
                        <a:spcAft>
                          <a:spcPct val="0"/>
                        </a:spcAft>
                        <a:buClrTx/>
                        <a:buSzPct val="100000"/>
                        <a:buFont typeface="Arial" panose="020B0604020202020204" pitchFamily="34" charset="0"/>
                        <a:buNone/>
                      </a:pPr>
                      <a:r>
                        <a:rPr kumimoji="0" lang="zh-CN" sz="1600" b="1" u="none" strike="noStrike" cap="none" normalizeH="0" baseline="0" dirty="0">
                          <a:ln>
                            <a:noFill/>
                          </a:ln>
                          <a:effectLst/>
                        </a:rPr>
                        <a:t>等待</a:t>
                      </a:r>
                      <a:endParaRPr kumimoji="0" 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extLst>
                  <a:ext uri="{0D108BD9-81ED-4DB2-BD59-A6C34878D82A}">
                    <a16:rowId xmlns:a16="http://schemas.microsoft.com/office/drawing/2014/main" val="10014"/>
                  </a:ext>
                </a:extLst>
              </a:tr>
              <a:tr h="264336">
                <a:tc>
                  <a:txBody>
                    <a:bodyPr/>
                    <a:lstStyle/>
                    <a:p>
                      <a:pPr marL="0" marR="0" lvl="0" indent="0" algn="l" defTabSz="914400" rtl="0" eaLnBrk="1" fontAlgn="base" latinLnBrk="0" hangingPunct="1">
                        <a:lnSpc>
                          <a:spcPts val="1300"/>
                        </a:lnSpc>
                        <a:spcBef>
                          <a:spcPct val="20000"/>
                        </a:spcBef>
                        <a:spcAft>
                          <a:spcPct val="0"/>
                        </a:spcAft>
                        <a:buClr>
                          <a:schemeClr val="hlink"/>
                        </a:buClr>
                        <a:buSzPct val="100000"/>
                        <a:buFont typeface="Wingdings" panose="05000000000000000000" pitchFamily="2" charset="2"/>
                        <a:buNone/>
                      </a:pPr>
                      <a:endParaRPr kumimoji="0" lang="zh-CN"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tc>
                  <a:txBody>
                    <a:bodyPr/>
                    <a:lstStyle/>
                    <a:p>
                      <a:pPr marL="342900" marR="0" lvl="0" indent="-342900" algn="l" defTabSz="914400" rtl="0" eaLnBrk="1" fontAlgn="base" latinLnBrk="0" hangingPunct="1">
                        <a:lnSpc>
                          <a:spcPts val="1300"/>
                        </a:lnSpc>
                        <a:spcBef>
                          <a:spcPct val="0"/>
                        </a:spcBef>
                        <a:spcAft>
                          <a:spcPct val="0"/>
                        </a:spcAft>
                        <a:buClrTx/>
                        <a:buSzPct val="100000"/>
                        <a:buFont typeface="Arial" panose="020B0604020202020204" pitchFamily="34" charset="0"/>
                        <a:buNone/>
                      </a:pPr>
                      <a:r>
                        <a:rPr kumimoji="0" lang="en-US" sz="1600" b="1" u="none" strike="noStrike" cap="none" normalizeH="0" baseline="0" dirty="0">
                          <a:ln>
                            <a:noFill/>
                          </a:ln>
                          <a:effectLst/>
                        </a:rPr>
                        <a:t>R(A)=160</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extLst>
                  <a:ext uri="{0D108BD9-81ED-4DB2-BD59-A6C34878D82A}">
                    <a16:rowId xmlns:a16="http://schemas.microsoft.com/office/drawing/2014/main" val="10015"/>
                  </a:ext>
                </a:extLst>
              </a:tr>
              <a:tr h="264336">
                <a:tc>
                  <a:txBody>
                    <a:bodyPr/>
                    <a:lstStyle/>
                    <a:p>
                      <a:pPr marL="0" marR="0" lvl="0" indent="0" algn="l" defTabSz="914400" rtl="0" eaLnBrk="1" fontAlgn="base" latinLnBrk="0" hangingPunct="1">
                        <a:lnSpc>
                          <a:spcPts val="1300"/>
                        </a:lnSpc>
                        <a:spcBef>
                          <a:spcPct val="20000"/>
                        </a:spcBef>
                        <a:spcAft>
                          <a:spcPct val="0"/>
                        </a:spcAft>
                        <a:buClr>
                          <a:schemeClr val="hlink"/>
                        </a:buClr>
                        <a:buSzPct val="100000"/>
                        <a:buFont typeface="Wingdings" panose="05000000000000000000" pitchFamily="2" charset="2"/>
                        <a:buNone/>
                      </a:pPr>
                      <a:endParaRPr kumimoji="0" lang="zh-CN"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tc>
                  <a:txBody>
                    <a:bodyPr/>
                    <a:lstStyle/>
                    <a:p>
                      <a:pPr marL="342900" marR="0" lvl="0" indent="-342900" algn="l" defTabSz="914400" rtl="0" eaLnBrk="1" fontAlgn="base" latinLnBrk="0" hangingPunct="1">
                        <a:lnSpc>
                          <a:spcPts val="1300"/>
                        </a:lnSpc>
                        <a:spcBef>
                          <a:spcPct val="0"/>
                        </a:spcBef>
                        <a:spcAft>
                          <a:spcPct val="0"/>
                        </a:spcAft>
                        <a:buClrTx/>
                        <a:buSzPct val="100000"/>
                        <a:buFont typeface="Arial" panose="020B0604020202020204" pitchFamily="34" charset="0"/>
                        <a:buNone/>
                      </a:pPr>
                      <a:r>
                        <a:rPr kumimoji="0" lang="en-US" sz="1600" b="1" u="none" strike="noStrike" cap="none" normalizeH="0" baseline="0" dirty="0" err="1">
                          <a:ln>
                            <a:noFill/>
                          </a:ln>
                          <a:effectLst/>
                        </a:rPr>
                        <a:t>Xlock</a:t>
                      </a:r>
                      <a:r>
                        <a:rPr kumimoji="0" lang="en-US" sz="1600" b="1" u="none" strike="noStrike" cap="none" normalizeH="0" baseline="0" dirty="0">
                          <a:ln>
                            <a:noFill/>
                          </a:ln>
                          <a:effectLst/>
                        </a:rPr>
                        <a:t>  A</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extLst>
                  <a:ext uri="{0D108BD9-81ED-4DB2-BD59-A6C34878D82A}">
                    <a16:rowId xmlns:a16="http://schemas.microsoft.com/office/drawing/2014/main" val="10016"/>
                  </a:ext>
                </a:extLst>
              </a:tr>
              <a:tr h="264336">
                <a:tc>
                  <a:txBody>
                    <a:bodyPr/>
                    <a:lstStyle/>
                    <a:p>
                      <a:pPr marL="342900" marR="0" lvl="0" indent="-342900" algn="l" defTabSz="914400" rtl="0" eaLnBrk="1" fontAlgn="base" latinLnBrk="0" hangingPunct="1">
                        <a:lnSpc>
                          <a:spcPts val="1300"/>
                        </a:lnSpc>
                        <a:spcBef>
                          <a:spcPct val="0"/>
                        </a:spcBef>
                        <a:spcAft>
                          <a:spcPct val="0"/>
                        </a:spcAft>
                        <a:buClrTx/>
                        <a:buSzPct val="100000"/>
                        <a:buFont typeface="Arial" panose="020B0604020202020204" pitchFamily="34" charset="0"/>
                        <a:buNone/>
                      </a:pPr>
                      <a:r>
                        <a:rPr kumimoji="0" lang="en-US" sz="1600" b="1" u="none" strike="noStrike" cap="none" normalizeH="0" baseline="0" dirty="0">
                          <a:ln>
                            <a:noFill/>
                          </a:ln>
                          <a:effectLst/>
                        </a:rPr>
                        <a:t>Unlock  B</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tc>
                  <a:txBody>
                    <a:bodyPr/>
                    <a:lstStyle/>
                    <a:p>
                      <a:pPr marL="0" marR="0" lvl="0" indent="0" algn="l" defTabSz="914400" rtl="0" eaLnBrk="1" fontAlgn="base" latinLnBrk="0" hangingPunct="1">
                        <a:lnSpc>
                          <a:spcPts val="1300"/>
                        </a:lnSpc>
                        <a:spcBef>
                          <a:spcPct val="20000"/>
                        </a:spcBef>
                        <a:spcAft>
                          <a:spcPct val="0"/>
                        </a:spcAft>
                        <a:buClr>
                          <a:schemeClr val="hlink"/>
                        </a:buClr>
                        <a:buSzPct val="100000"/>
                        <a:buFont typeface="Wingdings" panose="05000000000000000000" pitchFamily="2" charset="2"/>
                        <a:buNone/>
                      </a:pPr>
                      <a:endParaRPr kumimoji="0" lang="zh-CN"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extLst>
                  <a:ext uri="{0D108BD9-81ED-4DB2-BD59-A6C34878D82A}">
                    <a16:rowId xmlns:a16="http://schemas.microsoft.com/office/drawing/2014/main" val="10017"/>
                  </a:ext>
                </a:extLst>
              </a:tr>
              <a:tr h="264336">
                <a:tc>
                  <a:txBody>
                    <a:bodyPr/>
                    <a:lstStyle/>
                    <a:p>
                      <a:pPr marL="0" marR="0" lvl="0" indent="0" algn="l" defTabSz="914400" rtl="0" eaLnBrk="1" fontAlgn="base" latinLnBrk="0" hangingPunct="1">
                        <a:lnSpc>
                          <a:spcPts val="1300"/>
                        </a:lnSpc>
                        <a:spcBef>
                          <a:spcPct val="20000"/>
                        </a:spcBef>
                        <a:spcAft>
                          <a:spcPct val="0"/>
                        </a:spcAft>
                        <a:buClr>
                          <a:schemeClr val="hlink"/>
                        </a:buClr>
                        <a:buSzPct val="100000"/>
                        <a:buFont typeface="Wingdings" panose="05000000000000000000" pitchFamily="2" charset="2"/>
                        <a:buNone/>
                      </a:pPr>
                      <a:endParaRPr kumimoji="0" lang="zh-CN"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tc>
                  <a:txBody>
                    <a:bodyPr/>
                    <a:lstStyle/>
                    <a:p>
                      <a:pPr marL="342900" marR="0" lvl="0" indent="-342900" algn="l" defTabSz="914400" rtl="0" eaLnBrk="1" fontAlgn="base" latinLnBrk="0" hangingPunct="1">
                        <a:lnSpc>
                          <a:spcPts val="1300"/>
                        </a:lnSpc>
                        <a:spcBef>
                          <a:spcPct val="0"/>
                        </a:spcBef>
                        <a:spcAft>
                          <a:spcPct val="0"/>
                        </a:spcAft>
                        <a:buClrTx/>
                        <a:buSzPct val="100000"/>
                        <a:buFont typeface="Arial" panose="020B0604020202020204" pitchFamily="34" charset="0"/>
                        <a:buNone/>
                      </a:pPr>
                      <a:r>
                        <a:rPr kumimoji="0" lang="en-US" sz="1600" b="1" u="none" strike="noStrike" cap="none" normalizeH="0" baseline="0" dirty="0">
                          <a:ln>
                            <a:noFill/>
                          </a:ln>
                          <a:effectLst/>
                        </a:rPr>
                        <a:t>W(A)=210</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extLst>
                  <a:ext uri="{0D108BD9-81ED-4DB2-BD59-A6C34878D82A}">
                    <a16:rowId xmlns:a16="http://schemas.microsoft.com/office/drawing/2014/main" val="10018"/>
                  </a:ext>
                </a:extLst>
              </a:tr>
              <a:tr h="264336">
                <a:tc>
                  <a:txBody>
                    <a:bodyPr/>
                    <a:lstStyle/>
                    <a:p>
                      <a:pPr marL="0" marR="0" lvl="0" indent="0" algn="l" defTabSz="914400" rtl="0" eaLnBrk="1" fontAlgn="base" latinLnBrk="0" hangingPunct="1">
                        <a:lnSpc>
                          <a:spcPts val="1300"/>
                        </a:lnSpc>
                        <a:spcBef>
                          <a:spcPct val="20000"/>
                        </a:spcBef>
                        <a:spcAft>
                          <a:spcPct val="0"/>
                        </a:spcAft>
                        <a:buClr>
                          <a:schemeClr val="hlink"/>
                        </a:buClr>
                        <a:buSzPct val="100000"/>
                        <a:buFont typeface="Wingdings" panose="05000000000000000000" pitchFamily="2" charset="2"/>
                        <a:buNone/>
                      </a:pPr>
                      <a:endParaRPr kumimoji="0" lang="zh-CN"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tc>
                  <a:txBody>
                    <a:bodyPr/>
                    <a:lstStyle/>
                    <a:p>
                      <a:pPr marL="342900" marR="0" lvl="0" indent="-342900" algn="l" defTabSz="914400" rtl="0" eaLnBrk="1" fontAlgn="base" latinLnBrk="0" hangingPunct="1">
                        <a:lnSpc>
                          <a:spcPts val="1300"/>
                        </a:lnSpc>
                        <a:spcBef>
                          <a:spcPct val="0"/>
                        </a:spcBef>
                        <a:spcAft>
                          <a:spcPct val="0"/>
                        </a:spcAft>
                        <a:buClrTx/>
                        <a:buSzPct val="100000"/>
                        <a:buFont typeface="Arial" panose="020B0604020202020204" pitchFamily="34" charset="0"/>
                        <a:buNone/>
                      </a:pPr>
                      <a:r>
                        <a:rPr kumimoji="0" lang="en-US" sz="1600" b="1" u="none" strike="noStrike" cap="none" normalizeH="0" baseline="0" dirty="0">
                          <a:ln>
                            <a:noFill/>
                          </a:ln>
                          <a:effectLst/>
                        </a:rPr>
                        <a:t>Unlock  C </a:t>
                      </a:r>
                      <a:endPar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6" marB="45726" horzOverflow="overflow">
                    <a:lnL w="12700" cap="flat" cmpd="sng" algn="ctr">
                      <a:solidFill>
                        <a:srgbClr val="CCFFCC"/>
                      </a:solidFill>
                      <a:prstDash val="sysDot"/>
                      <a:round/>
                      <a:headEnd type="none" w="med" len="med"/>
                      <a:tailEnd type="none" w="med" len="med"/>
                    </a:lnL>
                    <a:lnR w="12700" cap="flat" cmpd="sng" algn="ctr">
                      <a:solidFill>
                        <a:srgbClr val="CCFFCC"/>
                      </a:solidFill>
                      <a:prstDash val="sysDot"/>
                      <a:round/>
                      <a:headEnd type="none" w="med" len="med"/>
                      <a:tailEnd type="none" w="med" len="med"/>
                    </a:lnR>
                    <a:lnT w="12700" cap="flat" cmpd="sng" algn="ctr">
                      <a:solidFill>
                        <a:srgbClr val="CCFFCC"/>
                      </a:solidFill>
                      <a:prstDash val="sysDot"/>
                      <a:round/>
                      <a:headEnd type="none" w="med" len="med"/>
                      <a:tailEnd type="none" w="med" len="med"/>
                    </a:lnT>
                    <a:lnB w="12700" cap="flat" cmpd="sng" algn="ctr">
                      <a:solidFill>
                        <a:srgbClr val="CCFFCC"/>
                      </a:solidFill>
                      <a:prstDash val="sysDot"/>
                      <a:round/>
                      <a:headEnd type="none" w="med" len="med"/>
                      <a:tailEnd type="none" w="med" len="med"/>
                    </a:lnB>
                    <a:solidFill>
                      <a:schemeClr val="accent1"/>
                    </a:solidFill>
                  </a:tcPr>
                </a:tc>
                <a:extLst>
                  <a:ext uri="{0D108BD9-81ED-4DB2-BD59-A6C34878D82A}">
                    <a16:rowId xmlns:a16="http://schemas.microsoft.com/office/drawing/2014/main" val="10019"/>
                  </a:ext>
                </a:extLst>
              </a:tr>
            </a:tbl>
          </a:graphicData>
        </a:graphic>
      </p:graphicFrame>
      <p:sp>
        <p:nvSpPr>
          <p:cNvPr id="91204" name="Text Box 584"/>
          <p:cNvSpPr txBox="1"/>
          <p:nvPr/>
        </p:nvSpPr>
        <p:spPr>
          <a:xfrm>
            <a:off x="2033588" y="6165850"/>
            <a:ext cx="3079750" cy="3381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None/>
            </a:pPr>
            <a:r>
              <a:rPr lang="zh-CN" altLang="zh-CN" sz="1600" dirty="0">
                <a:latin typeface="Times New Roman" panose="02020603050405020304" pitchFamily="18" charset="0"/>
              </a:rPr>
              <a:t>遵守两段锁协议的可串行化调度</a:t>
            </a:r>
          </a:p>
        </p:txBody>
      </p:sp>
      <p:sp>
        <p:nvSpPr>
          <p:cNvPr id="91205" name="Text Box 586"/>
          <p:cNvSpPr txBox="1"/>
          <p:nvPr/>
        </p:nvSpPr>
        <p:spPr>
          <a:xfrm>
            <a:off x="6240463" y="2276475"/>
            <a:ext cx="5616575" cy="2192338"/>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lnSpc>
                <a:spcPct val="200000"/>
              </a:lnSpc>
              <a:spcBef>
                <a:spcPct val="0"/>
              </a:spcBef>
              <a:buFont typeface="Wingdings" panose="05000000000000000000" pitchFamily="2" charset="2"/>
              <a:buChar char="n"/>
            </a:pPr>
            <a:r>
              <a:rPr lang="zh-CN" altLang="zh-CN" sz="2400" dirty="0">
                <a:latin typeface="Times New Roman" panose="02020603050405020304" pitchFamily="18" charset="0"/>
              </a:rPr>
              <a:t>左图的调度是遵守两段锁协议的，因此一定是一个可行化调度。</a:t>
            </a:r>
          </a:p>
          <a:p>
            <a:pPr marL="342900" lvl="0" indent="-342900" eaLnBrk="1" hangingPunct="1">
              <a:lnSpc>
                <a:spcPct val="200000"/>
              </a:lnSpc>
              <a:spcBef>
                <a:spcPct val="0"/>
              </a:spcBef>
              <a:buFont typeface="Wingdings" panose="05000000000000000000" pitchFamily="2" charset="2"/>
              <a:buChar char="n"/>
            </a:pPr>
            <a:r>
              <a:rPr lang="zh-CN" altLang="zh-CN" sz="2400" dirty="0">
                <a:latin typeface="Times New Roman" panose="02020603050405020304" pitchFamily="18" charset="0"/>
              </a:rPr>
              <a:t>如何验证？ </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两段锁协议（续）</a:t>
            </a:r>
          </a:p>
        </p:txBody>
      </p:sp>
      <p:sp>
        <p:nvSpPr>
          <p:cNvPr id="92163" name="Rectangle 3"/>
          <p:cNvSpPr>
            <a:spLocks noGrp="1"/>
          </p:cNvSpPr>
          <p:nvPr>
            <p:ph type="body"/>
          </p:nvPr>
        </p:nvSpPr>
        <p:spPr>
          <a:xfrm>
            <a:off x="977900" y="1052513"/>
            <a:ext cx="10236200" cy="4911725"/>
          </a:xfrm>
        </p:spPr>
        <p:txBody>
          <a:bodyPr vert="horz" wrap="square" lIns="91440" tIns="45720" rIns="91440" bIns="45720" anchor="t" anchorCtr="0"/>
          <a:lstStyle/>
          <a:p>
            <a:pPr eaLnBrk="1" hangingPunct="1">
              <a:lnSpc>
                <a:spcPct val="170000"/>
              </a:lnSpc>
            </a:pPr>
            <a:r>
              <a:rPr lang="zh-CN" altLang="zh-CN" dirty="0"/>
              <a:t>事务遵守两段锁协议是可串行化调度的充分条件，而不是必要条件。</a:t>
            </a:r>
          </a:p>
          <a:p>
            <a:pPr eaLnBrk="1" hangingPunct="1">
              <a:lnSpc>
                <a:spcPct val="170000"/>
              </a:lnSpc>
            </a:pPr>
            <a:r>
              <a:rPr lang="zh-CN" altLang="zh-CN" dirty="0"/>
              <a:t>若并发事务都遵守两段锁协议，则对这些事务的任何并发调度策略都是可串行化的</a:t>
            </a:r>
          </a:p>
          <a:p>
            <a:pPr eaLnBrk="1" hangingPunct="1">
              <a:lnSpc>
                <a:spcPct val="170000"/>
              </a:lnSpc>
            </a:pPr>
            <a:r>
              <a:rPr lang="zh-CN" altLang="zh-CN" dirty="0"/>
              <a:t>若并发事务的一个调度是可串行化的，不一定所有事务都符合两段锁协议</a:t>
            </a:r>
            <a:r>
              <a:rPr lang="zh-CN" altLang="en-US" dirty="0"/>
              <a:t>（图</a:t>
            </a:r>
            <a:r>
              <a:rPr lang="en-US" altLang="zh-CN" dirty="0"/>
              <a:t>12.8</a:t>
            </a:r>
            <a:r>
              <a:rPr lang="zh-CN" altLang="en-US" dirty="0"/>
              <a:t>（</a:t>
            </a:r>
            <a:r>
              <a:rPr lang="en-US" altLang="zh-CN" dirty="0"/>
              <a:t>d</a:t>
            </a:r>
            <a:r>
              <a:rPr lang="zh-CN" altLang="en-US" dirty="0"/>
              <a:t>））</a:t>
            </a:r>
            <a:endParaRPr lang="en-US" altLang="zh-CN" dirty="0"/>
          </a:p>
          <a:p>
            <a:pPr eaLnBrk="1" hangingPunct="1">
              <a:lnSpc>
                <a:spcPct val="170000"/>
              </a:lnSpc>
            </a:pPr>
            <a:r>
              <a:rPr lang="zh-CN" altLang="en-US" dirty="0"/>
              <a:t>参见爱课程网</a:t>
            </a:r>
            <a:r>
              <a:rPr lang="en-US" altLang="zh-CN" dirty="0"/>
              <a:t>11.5</a:t>
            </a:r>
            <a:r>
              <a:rPr lang="zh-CN" altLang="en-US" dirty="0"/>
              <a:t>节动画</a:t>
            </a:r>
            <a:r>
              <a:rPr lang="en-US" altLang="zh-CN" dirty="0"/>
              <a:t>《</a:t>
            </a:r>
            <a:r>
              <a:rPr lang="zh-CN" altLang="en-US" dirty="0"/>
              <a:t>两段锁协议</a:t>
            </a:r>
            <a:r>
              <a:rPr lang="en-US" altLang="zh-CN" dirty="0"/>
              <a:t>》</a:t>
            </a:r>
            <a:r>
              <a:rPr lang="zh-CN" altLang="zh-CN" dirty="0"/>
              <a:t> </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两段锁协议（续）</a:t>
            </a:r>
          </a:p>
        </p:txBody>
      </p:sp>
      <p:sp>
        <p:nvSpPr>
          <p:cNvPr id="93187" name="Rectangle 3"/>
          <p:cNvSpPr>
            <a:spLocks noGrp="1"/>
          </p:cNvSpPr>
          <p:nvPr>
            <p:ph type="body"/>
          </p:nvPr>
        </p:nvSpPr>
        <p:spPr>
          <a:xfrm>
            <a:off x="912813" y="1268413"/>
            <a:ext cx="10442575" cy="4913312"/>
          </a:xfrm>
        </p:spPr>
        <p:txBody>
          <a:bodyPr vert="horz" wrap="square" lIns="91440" tIns="45720" rIns="91440" bIns="45720" anchor="t" anchorCtr="0"/>
          <a:lstStyle/>
          <a:p>
            <a:pPr eaLnBrk="1" hangingPunct="1">
              <a:lnSpc>
                <a:spcPct val="150000"/>
              </a:lnSpc>
            </a:pPr>
            <a:r>
              <a:rPr lang="zh-CN" altLang="en-US" dirty="0"/>
              <a:t>两段锁协议与防止死锁的一次封锁法</a:t>
            </a:r>
            <a:endParaRPr lang="zh-CN" altLang="en-US" sz="2400" dirty="0"/>
          </a:p>
          <a:p>
            <a:pPr lvl="1" eaLnBrk="1" hangingPunct="1">
              <a:lnSpc>
                <a:spcPct val="150000"/>
              </a:lnSpc>
              <a:spcBef>
                <a:spcPct val="60000"/>
              </a:spcBef>
            </a:pPr>
            <a:r>
              <a:rPr lang="zh-CN" altLang="en-US" dirty="0"/>
              <a:t>一次封锁法要求每个事务必须一次将所有要使用的数据全部加锁，否则就不能继续执行，因此一次封锁法遵守两段锁协议</a:t>
            </a:r>
          </a:p>
          <a:p>
            <a:pPr lvl="1" eaLnBrk="1" hangingPunct="1">
              <a:lnSpc>
                <a:spcPct val="150000"/>
              </a:lnSpc>
              <a:spcBef>
                <a:spcPct val="60000"/>
              </a:spcBef>
            </a:pPr>
            <a:r>
              <a:rPr lang="zh-CN" altLang="en-US" dirty="0"/>
              <a:t>但是两段锁协议并不要求事务必须一次将所有要使用的数据全部加锁，因此遵守两段锁协议的事务可能发生死锁</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两段锁协议（续）</a:t>
            </a:r>
          </a:p>
        </p:txBody>
      </p:sp>
      <p:sp>
        <p:nvSpPr>
          <p:cNvPr id="94211" name="Rectangle 3"/>
          <p:cNvSpPr>
            <a:spLocks noGrp="1"/>
          </p:cNvSpPr>
          <p:nvPr>
            <p:ph type="body"/>
          </p:nvPr>
        </p:nvSpPr>
        <p:spPr>
          <a:xfrm>
            <a:off x="1981200" y="1327150"/>
            <a:ext cx="8229600" cy="588963"/>
          </a:xfrm>
        </p:spPr>
        <p:txBody>
          <a:bodyPr vert="horz" wrap="square" lIns="91440" tIns="45720" rIns="91440" bIns="45720" anchor="t" anchorCtr="0"/>
          <a:lstStyle/>
          <a:p>
            <a:pPr eaLnBrk="1" hangingPunct="1">
              <a:buNone/>
            </a:pPr>
            <a:r>
              <a:rPr lang="en-US" altLang="zh-CN" sz="2400" dirty="0"/>
              <a:t>[</a:t>
            </a:r>
            <a:r>
              <a:rPr lang="zh-CN" altLang="en-US" sz="2400" dirty="0"/>
              <a:t>例</a:t>
            </a:r>
            <a:r>
              <a:rPr lang="en-US" altLang="zh-CN" sz="2400" dirty="0"/>
              <a:t>]</a:t>
            </a:r>
            <a:r>
              <a:rPr lang="zh-CN" altLang="en-US" sz="2400" dirty="0"/>
              <a:t>遵守两段锁协议的事务发生死锁</a:t>
            </a:r>
          </a:p>
        </p:txBody>
      </p:sp>
      <p:sp>
        <p:nvSpPr>
          <p:cNvPr id="94212" name="Text Box 8"/>
          <p:cNvSpPr txBox="1"/>
          <p:nvPr/>
        </p:nvSpPr>
        <p:spPr>
          <a:xfrm>
            <a:off x="3806825" y="5661025"/>
            <a:ext cx="4376738"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None/>
            </a:pPr>
            <a:r>
              <a:rPr lang="zh-CN" altLang="zh-CN" sz="2000" dirty="0">
                <a:latin typeface="Times New Roman" panose="02020603050405020304" pitchFamily="18" charset="0"/>
              </a:rPr>
              <a:t>遵守两段锁协议的事务可能发生死锁 </a:t>
            </a:r>
          </a:p>
        </p:txBody>
      </p:sp>
      <p:graphicFrame>
        <p:nvGraphicFramePr>
          <p:cNvPr id="9" name="表格 8"/>
          <p:cNvGraphicFramePr>
            <a:graphicFrameLocks noGrp="1"/>
          </p:cNvGraphicFramePr>
          <p:nvPr>
            <p:extLst>
              <p:ext uri="{D42A27DB-BD31-4B8C-83A1-F6EECF244321}">
                <p14:modId xmlns:p14="http://schemas.microsoft.com/office/powerpoint/2010/main" val="2222331258"/>
              </p:ext>
            </p:extLst>
          </p:nvPr>
        </p:nvGraphicFramePr>
        <p:xfrm>
          <a:off x="3048000" y="1916113"/>
          <a:ext cx="6096000" cy="3413152"/>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426641">
                <a:tc>
                  <a:txBody>
                    <a:bodyPr/>
                    <a:lstStyle/>
                    <a:p>
                      <a:pPr algn="ctr"/>
                      <a:r>
                        <a:rPr lang="zh-CN" altLang="en-US" sz="2200" b="1" dirty="0">
                          <a:solidFill>
                            <a:schemeClr val="tx1"/>
                          </a:solidFill>
                        </a:rPr>
                        <a:t>事务</a:t>
                      </a:r>
                      <a:r>
                        <a:rPr lang="en-US" altLang="zh-CN" sz="2200" b="1" dirty="0">
                          <a:solidFill>
                            <a:schemeClr val="tx1"/>
                          </a:solidFill>
                        </a:rPr>
                        <a:t>T</a:t>
                      </a:r>
                      <a:r>
                        <a:rPr lang="en-US" altLang="zh-CN" sz="2200" b="1" baseline="-25000" dirty="0">
                          <a:solidFill>
                            <a:schemeClr val="tx1"/>
                          </a:solidFill>
                        </a:rPr>
                        <a:t>1</a:t>
                      </a:r>
                      <a:endParaRPr lang="zh-CN" altLang="en-US" sz="2200" b="1" baseline="-25000" dirty="0">
                        <a:solidFill>
                          <a:schemeClr val="tx1"/>
                        </a:solidFill>
                      </a:endParaRPr>
                    </a:p>
                  </a:txBody>
                  <a:tcPr marT="45682" marB="45682">
                    <a:solidFill>
                      <a:schemeClr val="accent1">
                        <a:lumMod val="90000"/>
                      </a:schemeClr>
                    </a:solidFill>
                  </a:tcPr>
                </a:tc>
                <a:tc>
                  <a:txBody>
                    <a:bodyPr/>
                    <a:lstStyle/>
                    <a:p>
                      <a:pPr algn="ctr"/>
                      <a:r>
                        <a:rPr lang="zh-CN" altLang="en-US" sz="2200" b="1" dirty="0">
                          <a:solidFill>
                            <a:schemeClr val="tx1"/>
                          </a:solidFill>
                        </a:rPr>
                        <a:t>事务</a:t>
                      </a:r>
                      <a:r>
                        <a:rPr lang="en-US" altLang="zh-CN" sz="2200" b="1" dirty="0">
                          <a:solidFill>
                            <a:schemeClr val="tx1"/>
                          </a:solidFill>
                        </a:rPr>
                        <a:t>T</a:t>
                      </a:r>
                      <a:r>
                        <a:rPr lang="en-US" altLang="zh-CN" sz="2200" b="1" baseline="-25000" dirty="0">
                          <a:solidFill>
                            <a:schemeClr val="tx1"/>
                          </a:solidFill>
                        </a:rPr>
                        <a:t>2</a:t>
                      </a:r>
                      <a:endParaRPr lang="zh-CN" altLang="en-US" sz="2200" b="1" baseline="-25000" dirty="0">
                        <a:solidFill>
                          <a:schemeClr val="tx1"/>
                        </a:solidFill>
                      </a:endParaRPr>
                    </a:p>
                  </a:txBody>
                  <a:tcPr marT="45682" marB="45682">
                    <a:solidFill>
                      <a:schemeClr val="accent1">
                        <a:lumMod val="90000"/>
                      </a:schemeClr>
                    </a:solidFill>
                  </a:tcPr>
                </a:tc>
                <a:extLst>
                  <a:ext uri="{0D108BD9-81ED-4DB2-BD59-A6C34878D82A}">
                    <a16:rowId xmlns:a16="http://schemas.microsoft.com/office/drawing/2014/main" val="10000"/>
                  </a:ext>
                </a:extLst>
              </a:tr>
              <a:tr h="426641">
                <a:tc>
                  <a:txBody>
                    <a:bodyPr/>
                    <a:lstStyle/>
                    <a:p>
                      <a:pPr algn="ctr"/>
                      <a:r>
                        <a:rPr lang="en-US" altLang="zh-CN" sz="2200" b="1" dirty="0" err="1">
                          <a:solidFill>
                            <a:schemeClr val="tx1"/>
                          </a:solidFill>
                        </a:rPr>
                        <a:t>Slock</a:t>
                      </a:r>
                      <a:r>
                        <a:rPr lang="en-US" altLang="zh-CN" sz="2200" b="1" dirty="0">
                          <a:solidFill>
                            <a:schemeClr val="tx1"/>
                          </a:solidFill>
                        </a:rPr>
                        <a:t> B</a:t>
                      </a:r>
                      <a:endParaRPr lang="zh-CN" altLang="en-US" sz="2200" b="1" dirty="0">
                        <a:solidFill>
                          <a:schemeClr val="tx1"/>
                        </a:solidFill>
                      </a:endParaRPr>
                    </a:p>
                  </a:txBody>
                  <a:tcPr marT="45682" marB="45682">
                    <a:solidFill>
                      <a:schemeClr val="accent1">
                        <a:lumMod val="90000"/>
                      </a:schemeClr>
                    </a:solidFill>
                  </a:tcPr>
                </a:tc>
                <a:tc>
                  <a:txBody>
                    <a:bodyPr/>
                    <a:lstStyle/>
                    <a:p>
                      <a:pPr algn="ctr"/>
                      <a:endParaRPr lang="zh-CN" altLang="en-US" sz="2200" b="1" dirty="0">
                        <a:solidFill>
                          <a:schemeClr val="tx1"/>
                        </a:solidFill>
                      </a:endParaRPr>
                    </a:p>
                  </a:txBody>
                  <a:tcPr marT="45682" marB="45682">
                    <a:solidFill>
                      <a:schemeClr val="accent1">
                        <a:lumMod val="90000"/>
                      </a:schemeClr>
                    </a:solidFill>
                  </a:tcPr>
                </a:tc>
                <a:extLst>
                  <a:ext uri="{0D108BD9-81ED-4DB2-BD59-A6C34878D82A}">
                    <a16:rowId xmlns:a16="http://schemas.microsoft.com/office/drawing/2014/main" val="10001"/>
                  </a:ext>
                </a:extLst>
              </a:tr>
              <a:tr h="426641">
                <a:tc>
                  <a:txBody>
                    <a:bodyPr/>
                    <a:lstStyle/>
                    <a:p>
                      <a:pPr algn="ctr"/>
                      <a:r>
                        <a:rPr lang="en-US" altLang="zh-CN" sz="2200" b="1" dirty="0">
                          <a:solidFill>
                            <a:schemeClr val="tx1"/>
                          </a:solidFill>
                        </a:rPr>
                        <a:t>R(B)=2</a:t>
                      </a:r>
                      <a:endParaRPr lang="zh-CN" altLang="en-US" sz="2200" b="1" dirty="0">
                        <a:solidFill>
                          <a:schemeClr val="tx1"/>
                        </a:solidFill>
                      </a:endParaRPr>
                    </a:p>
                  </a:txBody>
                  <a:tcPr marT="45682" marB="45682">
                    <a:solidFill>
                      <a:schemeClr val="accent1">
                        <a:lumMod val="90000"/>
                      </a:schemeClr>
                    </a:solidFill>
                  </a:tcPr>
                </a:tc>
                <a:tc>
                  <a:txBody>
                    <a:bodyPr/>
                    <a:lstStyle/>
                    <a:p>
                      <a:pPr algn="ctr"/>
                      <a:endParaRPr lang="zh-CN" altLang="en-US" sz="2200" b="1" dirty="0">
                        <a:solidFill>
                          <a:schemeClr val="tx1"/>
                        </a:solidFill>
                      </a:endParaRPr>
                    </a:p>
                  </a:txBody>
                  <a:tcPr marT="45682" marB="45682">
                    <a:solidFill>
                      <a:schemeClr val="accent1">
                        <a:lumMod val="90000"/>
                      </a:schemeClr>
                    </a:solidFill>
                  </a:tcPr>
                </a:tc>
                <a:extLst>
                  <a:ext uri="{0D108BD9-81ED-4DB2-BD59-A6C34878D82A}">
                    <a16:rowId xmlns:a16="http://schemas.microsoft.com/office/drawing/2014/main" val="10002"/>
                  </a:ext>
                </a:extLst>
              </a:tr>
              <a:tr h="426641">
                <a:tc>
                  <a:txBody>
                    <a:bodyPr/>
                    <a:lstStyle/>
                    <a:p>
                      <a:pPr algn="ctr"/>
                      <a:endParaRPr lang="zh-CN" altLang="en-US" sz="2200" b="1" dirty="0">
                        <a:solidFill>
                          <a:schemeClr val="tx1"/>
                        </a:solidFill>
                      </a:endParaRPr>
                    </a:p>
                  </a:txBody>
                  <a:tcPr marT="45682" marB="45682">
                    <a:solidFill>
                      <a:schemeClr val="accent1">
                        <a:lumMod val="90000"/>
                      </a:schemeClr>
                    </a:solidFill>
                  </a:tcPr>
                </a:tc>
                <a:tc>
                  <a:txBody>
                    <a:bodyPr/>
                    <a:lstStyle/>
                    <a:p>
                      <a:pPr algn="ctr"/>
                      <a:r>
                        <a:rPr lang="en-US" altLang="zh-CN" sz="2200" b="1" dirty="0" err="1">
                          <a:solidFill>
                            <a:schemeClr val="tx1"/>
                          </a:solidFill>
                        </a:rPr>
                        <a:t>Slock</a:t>
                      </a:r>
                      <a:r>
                        <a:rPr lang="en-US" altLang="zh-CN" sz="2200" b="1" dirty="0">
                          <a:solidFill>
                            <a:schemeClr val="tx1"/>
                          </a:solidFill>
                        </a:rPr>
                        <a:t> A</a:t>
                      </a:r>
                      <a:endParaRPr lang="zh-CN" altLang="en-US" sz="2200" b="1" dirty="0">
                        <a:solidFill>
                          <a:schemeClr val="tx1"/>
                        </a:solidFill>
                      </a:endParaRPr>
                    </a:p>
                  </a:txBody>
                  <a:tcPr marT="45682" marB="45682">
                    <a:solidFill>
                      <a:schemeClr val="accent1">
                        <a:lumMod val="90000"/>
                      </a:schemeClr>
                    </a:solidFill>
                  </a:tcPr>
                </a:tc>
                <a:extLst>
                  <a:ext uri="{0D108BD9-81ED-4DB2-BD59-A6C34878D82A}">
                    <a16:rowId xmlns:a16="http://schemas.microsoft.com/office/drawing/2014/main" val="10003"/>
                  </a:ext>
                </a:extLst>
              </a:tr>
              <a:tr h="426641">
                <a:tc>
                  <a:txBody>
                    <a:bodyPr/>
                    <a:lstStyle/>
                    <a:p>
                      <a:pPr algn="ctr"/>
                      <a:endParaRPr lang="zh-CN" altLang="en-US" sz="2200" b="1">
                        <a:solidFill>
                          <a:schemeClr val="tx1"/>
                        </a:solidFill>
                      </a:endParaRPr>
                    </a:p>
                  </a:txBody>
                  <a:tcPr marT="45682" marB="45682">
                    <a:solidFill>
                      <a:schemeClr val="accent1">
                        <a:lumMod val="90000"/>
                      </a:schemeClr>
                    </a:solidFill>
                  </a:tcPr>
                </a:tc>
                <a:tc>
                  <a:txBody>
                    <a:bodyPr/>
                    <a:lstStyle/>
                    <a:p>
                      <a:pPr algn="ctr"/>
                      <a:r>
                        <a:rPr lang="en-US" altLang="zh-CN" sz="2200" b="1" dirty="0">
                          <a:solidFill>
                            <a:schemeClr val="tx1"/>
                          </a:solidFill>
                        </a:rPr>
                        <a:t>R(A)=2</a:t>
                      </a:r>
                      <a:endParaRPr lang="zh-CN" altLang="en-US" sz="2200" b="1" dirty="0">
                        <a:solidFill>
                          <a:schemeClr val="tx1"/>
                        </a:solidFill>
                      </a:endParaRPr>
                    </a:p>
                  </a:txBody>
                  <a:tcPr marT="45682" marB="45682">
                    <a:solidFill>
                      <a:schemeClr val="accent1">
                        <a:lumMod val="90000"/>
                      </a:schemeClr>
                    </a:solidFill>
                  </a:tcPr>
                </a:tc>
                <a:extLst>
                  <a:ext uri="{0D108BD9-81ED-4DB2-BD59-A6C34878D82A}">
                    <a16:rowId xmlns:a16="http://schemas.microsoft.com/office/drawing/2014/main" val="10004"/>
                  </a:ext>
                </a:extLst>
              </a:tr>
              <a:tr h="426641">
                <a:tc>
                  <a:txBody>
                    <a:bodyPr/>
                    <a:lstStyle/>
                    <a:p>
                      <a:pPr algn="ctr"/>
                      <a:r>
                        <a:rPr lang="en-US" altLang="zh-CN" sz="2200" b="1" dirty="0" err="1">
                          <a:solidFill>
                            <a:schemeClr val="tx1"/>
                          </a:solidFill>
                        </a:rPr>
                        <a:t>Xlock</a:t>
                      </a:r>
                      <a:r>
                        <a:rPr lang="en-US" altLang="zh-CN" sz="2200" b="1" baseline="0" dirty="0">
                          <a:solidFill>
                            <a:schemeClr val="tx1"/>
                          </a:solidFill>
                        </a:rPr>
                        <a:t> A</a:t>
                      </a:r>
                      <a:endParaRPr lang="zh-CN" altLang="en-US" sz="2200" b="1" dirty="0">
                        <a:solidFill>
                          <a:schemeClr val="tx1"/>
                        </a:solidFill>
                      </a:endParaRPr>
                    </a:p>
                  </a:txBody>
                  <a:tcPr marT="45682" marB="45682">
                    <a:solidFill>
                      <a:schemeClr val="accent1">
                        <a:lumMod val="90000"/>
                      </a:schemeClr>
                    </a:solidFill>
                  </a:tcPr>
                </a:tc>
                <a:tc>
                  <a:txBody>
                    <a:bodyPr/>
                    <a:lstStyle/>
                    <a:p>
                      <a:pPr algn="ctr"/>
                      <a:endParaRPr lang="zh-CN" altLang="en-US" sz="2200" b="1" dirty="0">
                        <a:solidFill>
                          <a:schemeClr val="tx1"/>
                        </a:solidFill>
                      </a:endParaRPr>
                    </a:p>
                  </a:txBody>
                  <a:tcPr marT="45682" marB="45682">
                    <a:solidFill>
                      <a:schemeClr val="accent1">
                        <a:lumMod val="90000"/>
                      </a:schemeClr>
                    </a:solidFill>
                  </a:tcPr>
                </a:tc>
                <a:extLst>
                  <a:ext uri="{0D108BD9-81ED-4DB2-BD59-A6C34878D82A}">
                    <a16:rowId xmlns:a16="http://schemas.microsoft.com/office/drawing/2014/main" val="10005"/>
                  </a:ext>
                </a:extLst>
              </a:tr>
              <a:tr h="426641">
                <a:tc>
                  <a:txBody>
                    <a:bodyPr/>
                    <a:lstStyle/>
                    <a:p>
                      <a:pPr algn="ctr"/>
                      <a:r>
                        <a:rPr lang="zh-CN" altLang="en-US" sz="2200" b="1" dirty="0">
                          <a:solidFill>
                            <a:schemeClr val="tx1"/>
                          </a:solidFill>
                        </a:rPr>
                        <a:t>等待</a:t>
                      </a:r>
                    </a:p>
                  </a:txBody>
                  <a:tcPr marT="45682" marB="45682">
                    <a:solidFill>
                      <a:schemeClr val="accent1">
                        <a:lumMod val="90000"/>
                      </a:schemeClr>
                    </a:solidFill>
                  </a:tcPr>
                </a:tc>
                <a:tc>
                  <a:txBody>
                    <a:bodyPr/>
                    <a:lstStyle/>
                    <a:p>
                      <a:pPr algn="ctr"/>
                      <a:r>
                        <a:rPr lang="en-US" altLang="zh-CN" sz="2200" b="1" dirty="0" err="1">
                          <a:solidFill>
                            <a:schemeClr val="tx1"/>
                          </a:solidFill>
                        </a:rPr>
                        <a:t>Xlock</a:t>
                      </a:r>
                      <a:r>
                        <a:rPr lang="en-US" altLang="zh-CN" sz="2200" b="1" baseline="0" dirty="0">
                          <a:solidFill>
                            <a:schemeClr val="tx1"/>
                          </a:solidFill>
                        </a:rPr>
                        <a:t> B</a:t>
                      </a:r>
                      <a:endParaRPr lang="zh-CN" altLang="en-US" sz="2200" b="1" dirty="0">
                        <a:solidFill>
                          <a:schemeClr val="tx1"/>
                        </a:solidFill>
                      </a:endParaRPr>
                    </a:p>
                  </a:txBody>
                  <a:tcPr marT="45682" marB="45682">
                    <a:solidFill>
                      <a:schemeClr val="accent1">
                        <a:lumMod val="90000"/>
                      </a:schemeClr>
                    </a:solidFill>
                  </a:tcPr>
                </a:tc>
                <a:extLst>
                  <a:ext uri="{0D108BD9-81ED-4DB2-BD59-A6C34878D82A}">
                    <a16:rowId xmlns:a16="http://schemas.microsoft.com/office/drawing/2014/main" val="10006"/>
                  </a:ext>
                </a:extLst>
              </a:tr>
              <a:tr h="426641">
                <a:tc>
                  <a:txBody>
                    <a:bodyPr/>
                    <a:lstStyle/>
                    <a:p>
                      <a:pPr algn="ctr"/>
                      <a:r>
                        <a:rPr lang="zh-CN" altLang="en-US" sz="2200" b="1" dirty="0">
                          <a:solidFill>
                            <a:schemeClr val="tx1"/>
                          </a:solidFill>
                        </a:rPr>
                        <a:t>等待</a:t>
                      </a:r>
                    </a:p>
                  </a:txBody>
                  <a:tcPr marT="45682" marB="45682">
                    <a:solidFill>
                      <a:schemeClr val="accent1">
                        <a:lumMod val="90000"/>
                      </a:schemeClr>
                    </a:solidFill>
                  </a:tcPr>
                </a:tc>
                <a:tc>
                  <a:txBody>
                    <a:bodyPr/>
                    <a:lstStyle/>
                    <a:p>
                      <a:pPr algn="ctr"/>
                      <a:r>
                        <a:rPr lang="zh-CN" altLang="en-US" sz="2200" b="1" dirty="0">
                          <a:solidFill>
                            <a:schemeClr val="tx1"/>
                          </a:solidFill>
                        </a:rPr>
                        <a:t>等待</a:t>
                      </a:r>
                    </a:p>
                  </a:txBody>
                  <a:tcPr marT="45682" marB="45682">
                    <a:solidFill>
                      <a:schemeClr val="accent1">
                        <a:lumMod val="90000"/>
                      </a:schemeClr>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p:cNvSpPr>
          <p:nvPr>
            <p:ph type="title"/>
          </p:nvPr>
        </p:nvSpPr>
        <p:spPr>
          <a:xfrm>
            <a:off x="2438400" y="184150"/>
            <a:ext cx="7391400" cy="563563"/>
          </a:xfrm>
        </p:spPr>
        <p:txBody>
          <a:bodyPr vert="horz" wrap="square" lIns="91440" tIns="45720" rIns="91440" bIns="45720" anchor="ctr" anchorCtr="0"/>
          <a:lstStyle/>
          <a:p>
            <a:pPr eaLnBrk="1" hangingPunct="1"/>
            <a:r>
              <a:rPr lang="zh-CN" altLang="zh-CN" sz="3600" dirty="0"/>
              <a:t>第十</a:t>
            </a:r>
            <a:r>
              <a:rPr lang="zh-CN" altLang="en-US" sz="3600" dirty="0"/>
              <a:t>二</a:t>
            </a:r>
            <a:r>
              <a:rPr lang="zh-CN" altLang="zh-CN" sz="3600" dirty="0"/>
              <a:t>章  并发控制</a:t>
            </a:r>
          </a:p>
        </p:txBody>
      </p:sp>
      <p:sp>
        <p:nvSpPr>
          <p:cNvPr id="95235" name="Rectangle 3"/>
          <p:cNvSpPr>
            <a:spLocks noGrp="1"/>
          </p:cNvSpPr>
          <p:nvPr>
            <p:ph type="body"/>
          </p:nvPr>
        </p:nvSpPr>
        <p:spPr>
          <a:xfrm>
            <a:off x="1343025" y="873125"/>
            <a:ext cx="7715250" cy="5111750"/>
          </a:xfrm>
        </p:spPr>
        <p:txBody>
          <a:bodyPr vert="horz" wrap="square" lIns="91440" tIns="45720" rIns="91440" bIns="45720" anchor="t" anchorCtr="0"/>
          <a:lstStyle/>
          <a:p>
            <a:pPr marL="0" indent="0" algn="just" eaLnBrk="1" hangingPunct="1">
              <a:lnSpc>
                <a:spcPct val="130000"/>
              </a:lnSpc>
              <a:buNone/>
            </a:pPr>
            <a:r>
              <a:rPr lang="en-US" altLang="zh-CN" sz="2400" dirty="0"/>
              <a:t>12.1  </a:t>
            </a:r>
            <a:r>
              <a:rPr lang="zh-CN" altLang="en-US" sz="2400" dirty="0"/>
              <a:t>并发控制概述</a:t>
            </a:r>
          </a:p>
          <a:p>
            <a:pPr marL="0" indent="0" algn="just" eaLnBrk="1" hangingPunct="1">
              <a:lnSpc>
                <a:spcPct val="130000"/>
              </a:lnSpc>
              <a:buNone/>
            </a:pPr>
            <a:r>
              <a:rPr lang="en-US" altLang="zh-CN" sz="2400" dirty="0"/>
              <a:t>12.2  </a:t>
            </a:r>
            <a:r>
              <a:rPr lang="zh-CN" altLang="en-US" sz="2400" dirty="0"/>
              <a:t>事务的隔离级别</a:t>
            </a:r>
            <a:endParaRPr lang="en-US" altLang="zh-CN" sz="2400" dirty="0"/>
          </a:p>
          <a:p>
            <a:pPr marL="0" indent="0" algn="just" eaLnBrk="1" hangingPunct="1">
              <a:lnSpc>
                <a:spcPct val="130000"/>
              </a:lnSpc>
              <a:buNone/>
            </a:pPr>
            <a:r>
              <a:rPr lang="en-US" altLang="zh-CN" sz="2400" dirty="0"/>
              <a:t>12.3  </a:t>
            </a:r>
            <a:r>
              <a:rPr lang="zh-CN" altLang="en-US" sz="2400" dirty="0"/>
              <a:t>封锁</a:t>
            </a:r>
            <a:endParaRPr lang="en-US" altLang="zh-CN" sz="2400" dirty="0"/>
          </a:p>
          <a:p>
            <a:pPr marL="0" indent="0" algn="just" eaLnBrk="1" hangingPunct="1">
              <a:lnSpc>
                <a:spcPct val="130000"/>
              </a:lnSpc>
              <a:buNone/>
            </a:pPr>
            <a:r>
              <a:rPr lang="en-US" altLang="zh-CN" sz="2400" dirty="0"/>
              <a:t>12.4 </a:t>
            </a:r>
            <a:r>
              <a:rPr lang="zh-CN" altLang="en-US" sz="2400" dirty="0"/>
              <a:t> 封锁协议</a:t>
            </a:r>
          </a:p>
          <a:p>
            <a:pPr marL="0" indent="0" algn="just" eaLnBrk="1" hangingPunct="1">
              <a:lnSpc>
                <a:spcPct val="130000"/>
              </a:lnSpc>
              <a:buNone/>
            </a:pPr>
            <a:r>
              <a:rPr lang="en-US" altLang="zh-CN" sz="2400" dirty="0"/>
              <a:t>12.5  </a:t>
            </a:r>
            <a:r>
              <a:rPr lang="zh-CN" altLang="en-US" sz="2400" dirty="0"/>
              <a:t>活锁和死锁</a:t>
            </a:r>
          </a:p>
          <a:p>
            <a:pPr marL="0" indent="0" algn="just" eaLnBrk="1" hangingPunct="1">
              <a:lnSpc>
                <a:spcPct val="130000"/>
              </a:lnSpc>
              <a:buNone/>
            </a:pPr>
            <a:r>
              <a:rPr lang="en-US" altLang="zh-CN" sz="2400" dirty="0"/>
              <a:t>12.6  </a:t>
            </a:r>
            <a:r>
              <a:rPr lang="zh-CN" altLang="en-US" sz="2400" dirty="0"/>
              <a:t>并发调度的可串行性</a:t>
            </a:r>
          </a:p>
          <a:p>
            <a:pPr marL="0" indent="0" algn="just" eaLnBrk="1" hangingPunct="1">
              <a:lnSpc>
                <a:spcPct val="130000"/>
              </a:lnSpc>
              <a:buNone/>
            </a:pPr>
            <a:r>
              <a:rPr lang="en-US" altLang="zh-CN" sz="2400" dirty="0"/>
              <a:t>12.7  </a:t>
            </a:r>
            <a:r>
              <a:rPr lang="zh-CN" altLang="en-US" sz="2400" dirty="0"/>
              <a:t>两段锁协议</a:t>
            </a:r>
          </a:p>
          <a:p>
            <a:pPr marL="0" indent="0" algn="just" eaLnBrk="1" hangingPunct="1">
              <a:lnSpc>
                <a:spcPct val="130000"/>
              </a:lnSpc>
              <a:buNone/>
            </a:pPr>
            <a:r>
              <a:rPr lang="en-US" altLang="zh-CN" sz="2400" dirty="0">
                <a:solidFill>
                  <a:srgbClr val="0066FF"/>
                </a:solidFill>
              </a:rPr>
              <a:t>12.8  </a:t>
            </a:r>
            <a:r>
              <a:rPr lang="zh-CN" altLang="en-US" sz="2400" dirty="0">
                <a:solidFill>
                  <a:srgbClr val="0066FF"/>
                </a:solidFill>
              </a:rPr>
              <a:t>封锁的粒度</a:t>
            </a:r>
          </a:p>
          <a:p>
            <a:pPr marL="0" indent="0" algn="just" eaLnBrk="1" hangingPunct="1">
              <a:lnSpc>
                <a:spcPct val="130000"/>
              </a:lnSpc>
              <a:buNone/>
            </a:pPr>
            <a:r>
              <a:rPr lang="zh-CN" altLang="en-US" sz="2400" dirty="0"/>
              <a:t>*</a:t>
            </a:r>
            <a:r>
              <a:rPr lang="en-US" altLang="zh-CN" sz="2400" dirty="0"/>
              <a:t>12.9  </a:t>
            </a:r>
            <a:r>
              <a:rPr lang="zh-CN" altLang="en-US" sz="2400" dirty="0"/>
              <a:t>其他并发控制机制</a:t>
            </a:r>
          </a:p>
          <a:p>
            <a:pPr marL="0" indent="0" algn="just" eaLnBrk="1" hangingPunct="1">
              <a:lnSpc>
                <a:spcPct val="130000"/>
              </a:lnSpc>
              <a:buNone/>
            </a:pPr>
            <a:r>
              <a:rPr lang="zh-CN" altLang="en-US" sz="2400" dirty="0"/>
              <a:t>1</a:t>
            </a:r>
            <a:r>
              <a:rPr lang="en-US" altLang="zh-CN" sz="2400" dirty="0"/>
              <a:t>2</a:t>
            </a:r>
            <a:r>
              <a:rPr lang="zh-CN" altLang="en-US" sz="2400" dirty="0"/>
              <a:t>.</a:t>
            </a:r>
            <a:r>
              <a:rPr lang="en-US" altLang="zh-CN" sz="2400" dirty="0"/>
              <a:t>10</a:t>
            </a:r>
            <a:r>
              <a:rPr lang="zh-CN" altLang="en-US" sz="2400" dirty="0"/>
              <a:t>  小结</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封锁粒度</a:t>
            </a:r>
          </a:p>
        </p:txBody>
      </p:sp>
      <p:sp>
        <p:nvSpPr>
          <p:cNvPr id="96259" name="Rectangle 3"/>
          <p:cNvSpPr>
            <a:spLocks noGrp="1"/>
          </p:cNvSpPr>
          <p:nvPr>
            <p:ph type="body"/>
          </p:nvPr>
        </p:nvSpPr>
        <p:spPr>
          <a:xfrm>
            <a:off x="1200150" y="1125538"/>
            <a:ext cx="9432925" cy="4911725"/>
          </a:xfrm>
        </p:spPr>
        <p:txBody>
          <a:bodyPr vert="horz" wrap="square" lIns="91440" tIns="45720" rIns="91440" bIns="45720" anchor="t" anchorCtr="0"/>
          <a:lstStyle/>
          <a:p>
            <a:pPr eaLnBrk="1" hangingPunct="1">
              <a:lnSpc>
                <a:spcPct val="170000"/>
              </a:lnSpc>
            </a:pPr>
            <a:r>
              <a:rPr lang="zh-CN" altLang="en-US" dirty="0"/>
              <a:t>封锁对象的大小称为封锁粒度</a:t>
            </a:r>
            <a:r>
              <a:rPr lang="en-US" altLang="zh-CN" dirty="0"/>
              <a:t>(Granularity) </a:t>
            </a:r>
          </a:p>
          <a:p>
            <a:pPr eaLnBrk="1" hangingPunct="1">
              <a:lnSpc>
                <a:spcPct val="170000"/>
              </a:lnSpc>
            </a:pPr>
            <a:r>
              <a:rPr lang="zh-CN" altLang="en-US" dirty="0"/>
              <a:t>封锁的对象</a:t>
            </a:r>
            <a:r>
              <a:rPr lang="en-US" altLang="zh-CN" dirty="0"/>
              <a:t>:</a:t>
            </a:r>
            <a:r>
              <a:rPr lang="zh-CN" altLang="en-US" dirty="0"/>
              <a:t>逻辑单元，物理单元 </a:t>
            </a:r>
          </a:p>
          <a:p>
            <a:pPr eaLnBrk="1" hangingPunct="1">
              <a:lnSpc>
                <a:spcPct val="170000"/>
              </a:lnSpc>
              <a:buNone/>
            </a:pPr>
            <a:r>
              <a:rPr lang="zh-CN" altLang="en-US" sz="2400" dirty="0"/>
              <a:t>     例：在关系数据库中，封锁对象：</a:t>
            </a:r>
            <a:endParaRPr lang="zh-CN" altLang="en-US" dirty="0"/>
          </a:p>
          <a:p>
            <a:pPr lvl="1" eaLnBrk="1" hangingPunct="1">
              <a:lnSpc>
                <a:spcPct val="170000"/>
              </a:lnSpc>
            </a:pPr>
            <a:r>
              <a:rPr lang="zh-CN" altLang="en-US" dirty="0"/>
              <a:t>逻辑单元</a:t>
            </a:r>
            <a:r>
              <a:rPr lang="en-US" altLang="zh-CN" dirty="0"/>
              <a:t>: </a:t>
            </a:r>
            <a:r>
              <a:rPr lang="zh-CN" altLang="en-US" dirty="0"/>
              <a:t>属性值、属性值的集合、元组、关系、索引项、整个索引、整个数据库等</a:t>
            </a:r>
          </a:p>
          <a:p>
            <a:pPr lvl="1" eaLnBrk="1" hangingPunct="1">
              <a:lnSpc>
                <a:spcPct val="170000"/>
              </a:lnSpc>
            </a:pPr>
            <a:r>
              <a:rPr lang="zh-CN" altLang="en-US" dirty="0"/>
              <a:t>物理单元：页（数据页或索引页）、物理记录等</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选择封锁粒度原则</a:t>
            </a:r>
          </a:p>
        </p:txBody>
      </p:sp>
      <p:sp>
        <p:nvSpPr>
          <p:cNvPr id="97283" name="Rectangle 3"/>
          <p:cNvSpPr>
            <a:spLocks noGrp="1"/>
          </p:cNvSpPr>
          <p:nvPr>
            <p:ph type="body"/>
          </p:nvPr>
        </p:nvSpPr>
        <p:spPr>
          <a:xfrm>
            <a:off x="1200150" y="1484313"/>
            <a:ext cx="9648825" cy="4983162"/>
          </a:xfrm>
        </p:spPr>
        <p:txBody>
          <a:bodyPr vert="horz" wrap="square" lIns="91440" tIns="45720" rIns="91440" bIns="45720" anchor="t" anchorCtr="0"/>
          <a:lstStyle/>
          <a:p>
            <a:pPr eaLnBrk="1" hangingPunct="1">
              <a:lnSpc>
                <a:spcPct val="140000"/>
              </a:lnSpc>
            </a:pPr>
            <a:r>
              <a:rPr lang="zh-CN" altLang="en-US" dirty="0"/>
              <a:t>封锁粒度与系统的并发度和并发控制的开销密切相关。</a:t>
            </a:r>
          </a:p>
          <a:p>
            <a:pPr lvl="1" eaLnBrk="1" hangingPunct="1">
              <a:lnSpc>
                <a:spcPct val="180000"/>
              </a:lnSpc>
            </a:pPr>
            <a:r>
              <a:rPr lang="zh-CN" altLang="en-US" dirty="0"/>
              <a:t>封锁的粒度越大，数据库所能够封锁的数据单元就越少，并发度就越小，系统开销也越小；</a:t>
            </a:r>
          </a:p>
          <a:p>
            <a:pPr lvl="1" eaLnBrk="1" hangingPunct="1">
              <a:lnSpc>
                <a:spcPct val="180000"/>
              </a:lnSpc>
            </a:pPr>
            <a:r>
              <a:rPr lang="zh-CN" altLang="en-US" dirty="0"/>
              <a:t>封锁的粒度越小，并发度较高，但系统开销也就越大</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选择封锁粒度的原则（续）</a:t>
            </a:r>
          </a:p>
        </p:txBody>
      </p:sp>
      <p:sp>
        <p:nvSpPr>
          <p:cNvPr id="98307" name="Rectangle 3"/>
          <p:cNvSpPr>
            <a:spLocks noGrp="1"/>
          </p:cNvSpPr>
          <p:nvPr>
            <p:ph type="body"/>
          </p:nvPr>
        </p:nvSpPr>
        <p:spPr>
          <a:xfrm>
            <a:off x="839788" y="1133475"/>
            <a:ext cx="10091737" cy="4783138"/>
          </a:xfrm>
        </p:spPr>
        <p:txBody>
          <a:bodyPr vert="horz" wrap="square" lIns="91440" tIns="45720" rIns="91440" bIns="45720" anchor="t" anchorCtr="0"/>
          <a:lstStyle/>
          <a:p>
            <a:pPr eaLnBrk="1" hangingPunct="1">
              <a:buNone/>
            </a:pPr>
            <a:r>
              <a:rPr lang="zh-CN" altLang="en-US" sz="2400" dirty="0"/>
              <a:t>例</a:t>
            </a:r>
          </a:p>
          <a:p>
            <a:pPr eaLnBrk="1" hangingPunct="1">
              <a:lnSpc>
                <a:spcPct val="140000"/>
              </a:lnSpc>
            </a:pPr>
            <a:r>
              <a:rPr lang="zh-CN" altLang="en-US" dirty="0"/>
              <a:t>若封锁粒度是数据页，事务</a:t>
            </a:r>
            <a:r>
              <a:rPr lang="en-US" altLang="zh-CN" dirty="0"/>
              <a:t>T</a:t>
            </a:r>
            <a:r>
              <a:rPr lang="en-US" altLang="zh-CN" baseline="-25000" dirty="0"/>
              <a:t>1</a:t>
            </a:r>
            <a:r>
              <a:rPr lang="zh-CN" altLang="en-US" dirty="0"/>
              <a:t>需要修改元组</a:t>
            </a:r>
            <a:r>
              <a:rPr lang="en-US" altLang="zh-CN" dirty="0"/>
              <a:t>L</a:t>
            </a:r>
            <a:r>
              <a:rPr lang="en-US" altLang="zh-CN" baseline="-25000" dirty="0"/>
              <a:t>1</a:t>
            </a:r>
            <a:r>
              <a:rPr lang="zh-CN" altLang="en-US" dirty="0"/>
              <a:t>，则</a:t>
            </a:r>
            <a:r>
              <a:rPr lang="en-US" altLang="zh-CN" dirty="0"/>
              <a:t>T</a:t>
            </a:r>
            <a:r>
              <a:rPr lang="en-US" altLang="zh-CN" baseline="-25000" dirty="0"/>
              <a:t>1</a:t>
            </a:r>
            <a:r>
              <a:rPr lang="zh-CN" altLang="en-US" dirty="0"/>
              <a:t>必须对包含</a:t>
            </a:r>
            <a:r>
              <a:rPr lang="en-US" altLang="zh-CN" dirty="0"/>
              <a:t>L</a:t>
            </a:r>
            <a:r>
              <a:rPr lang="en-US" altLang="zh-CN" baseline="-25000" dirty="0"/>
              <a:t>1</a:t>
            </a:r>
            <a:r>
              <a:rPr lang="zh-CN" altLang="en-US" dirty="0"/>
              <a:t>的整个数据页</a:t>
            </a:r>
            <a:r>
              <a:rPr lang="en-US" altLang="zh-CN" dirty="0"/>
              <a:t>A</a:t>
            </a:r>
            <a:r>
              <a:rPr lang="zh-CN" altLang="en-US" dirty="0"/>
              <a:t>加锁。如果</a:t>
            </a:r>
            <a:r>
              <a:rPr lang="en-US" altLang="zh-CN" dirty="0"/>
              <a:t>T</a:t>
            </a:r>
            <a:r>
              <a:rPr lang="en-US" altLang="zh-CN" baseline="-25000" dirty="0"/>
              <a:t>1</a:t>
            </a:r>
            <a:r>
              <a:rPr lang="zh-CN" altLang="en-US" dirty="0"/>
              <a:t>对</a:t>
            </a:r>
            <a:r>
              <a:rPr lang="en-US" altLang="zh-CN" dirty="0"/>
              <a:t>A</a:t>
            </a:r>
            <a:r>
              <a:rPr lang="zh-CN" altLang="en-US" dirty="0"/>
              <a:t>加锁后事务</a:t>
            </a:r>
            <a:r>
              <a:rPr lang="en-US" altLang="zh-CN" dirty="0"/>
              <a:t>T</a:t>
            </a:r>
            <a:r>
              <a:rPr lang="en-US" altLang="zh-CN" baseline="-25000" dirty="0"/>
              <a:t>2</a:t>
            </a:r>
            <a:r>
              <a:rPr lang="zh-CN" altLang="en-US" dirty="0"/>
              <a:t>要修改</a:t>
            </a:r>
            <a:r>
              <a:rPr lang="en-US" altLang="zh-CN" dirty="0"/>
              <a:t>A</a:t>
            </a:r>
            <a:r>
              <a:rPr lang="zh-CN" altLang="en-US" dirty="0"/>
              <a:t>中元组</a:t>
            </a:r>
            <a:r>
              <a:rPr lang="en-US" altLang="zh-CN" dirty="0"/>
              <a:t>L</a:t>
            </a:r>
            <a:r>
              <a:rPr lang="en-US" altLang="zh-CN" baseline="-25000" dirty="0"/>
              <a:t>2</a:t>
            </a:r>
            <a:r>
              <a:rPr lang="zh-CN" altLang="en-US" dirty="0"/>
              <a:t>，则</a:t>
            </a:r>
            <a:r>
              <a:rPr lang="en-US" altLang="zh-CN" dirty="0"/>
              <a:t>T</a:t>
            </a:r>
            <a:r>
              <a:rPr lang="en-US" altLang="zh-CN" baseline="-25000" dirty="0"/>
              <a:t>2</a:t>
            </a:r>
            <a:r>
              <a:rPr lang="zh-CN" altLang="en-US" dirty="0"/>
              <a:t>被迫等待，直到</a:t>
            </a:r>
            <a:r>
              <a:rPr lang="en-US" altLang="zh-CN" dirty="0"/>
              <a:t>T</a:t>
            </a:r>
            <a:r>
              <a:rPr lang="en-US" altLang="zh-CN" baseline="-25000" dirty="0"/>
              <a:t>1</a:t>
            </a:r>
            <a:r>
              <a:rPr lang="zh-CN" altLang="en-US" dirty="0"/>
              <a:t>释放</a:t>
            </a:r>
            <a:r>
              <a:rPr lang="en-US" altLang="zh-CN" dirty="0"/>
              <a:t>A</a:t>
            </a:r>
            <a:r>
              <a:rPr lang="zh-CN" altLang="en-US" dirty="0"/>
              <a:t>。</a:t>
            </a:r>
          </a:p>
          <a:p>
            <a:pPr eaLnBrk="1" hangingPunct="1">
              <a:lnSpc>
                <a:spcPct val="140000"/>
              </a:lnSpc>
            </a:pPr>
            <a:r>
              <a:rPr lang="zh-CN" altLang="en-US" dirty="0"/>
              <a:t>如果封锁粒度是元组，则</a:t>
            </a:r>
            <a:r>
              <a:rPr lang="en-US" altLang="zh-CN" dirty="0"/>
              <a:t>T</a:t>
            </a:r>
            <a:r>
              <a:rPr lang="en-US" altLang="zh-CN" baseline="-25000" dirty="0"/>
              <a:t>1</a:t>
            </a:r>
            <a:r>
              <a:rPr lang="zh-CN" altLang="en-US" dirty="0"/>
              <a:t>和</a:t>
            </a:r>
            <a:r>
              <a:rPr lang="en-US" altLang="zh-CN" dirty="0"/>
              <a:t>T</a:t>
            </a:r>
            <a:r>
              <a:rPr lang="en-US" altLang="zh-CN" baseline="-25000" dirty="0"/>
              <a:t>2</a:t>
            </a:r>
            <a:r>
              <a:rPr lang="zh-CN" altLang="en-US" dirty="0"/>
              <a:t>可以同时对</a:t>
            </a:r>
            <a:r>
              <a:rPr lang="en-US" altLang="zh-CN" dirty="0"/>
              <a:t>L</a:t>
            </a:r>
            <a:r>
              <a:rPr lang="en-US" altLang="zh-CN" baseline="-25000" dirty="0"/>
              <a:t>1</a:t>
            </a:r>
            <a:r>
              <a:rPr lang="zh-CN" altLang="en-US" dirty="0"/>
              <a:t>和</a:t>
            </a:r>
            <a:r>
              <a:rPr lang="en-US" altLang="zh-CN" dirty="0"/>
              <a:t>L</a:t>
            </a:r>
            <a:r>
              <a:rPr lang="en-US" altLang="zh-CN" baseline="-25000" dirty="0"/>
              <a:t>2</a:t>
            </a:r>
            <a:r>
              <a:rPr lang="zh-CN" altLang="en-US" dirty="0"/>
              <a:t>加锁，不需要互相等待，提高了系统的并行度。</a:t>
            </a:r>
          </a:p>
          <a:p>
            <a:pPr eaLnBrk="1" hangingPunct="1">
              <a:lnSpc>
                <a:spcPct val="140000"/>
              </a:lnSpc>
            </a:pPr>
            <a:r>
              <a:rPr lang="zh-CN" altLang="en-US" dirty="0"/>
              <a:t>又如，事务</a:t>
            </a:r>
            <a:r>
              <a:rPr lang="en-US" altLang="zh-CN" dirty="0"/>
              <a:t>T</a:t>
            </a:r>
            <a:r>
              <a:rPr lang="zh-CN" altLang="en-US" dirty="0"/>
              <a:t>需要读取整个表，若封锁粒度是元组，</a:t>
            </a:r>
            <a:r>
              <a:rPr lang="en-US" altLang="zh-CN" dirty="0"/>
              <a:t>T</a:t>
            </a:r>
            <a:r>
              <a:rPr lang="zh-CN" altLang="en-US" dirty="0"/>
              <a:t>必须对表中的每一个元组加锁，开销极大 </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选择封锁粒度的原则（续）</a:t>
            </a:r>
          </a:p>
        </p:txBody>
      </p:sp>
      <p:sp>
        <p:nvSpPr>
          <p:cNvPr id="99331" name="Rectangle 3"/>
          <p:cNvSpPr>
            <a:spLocks noGrp="1"/>
          </p:cNvSpPr>
          <p:nvPr>
            <p:ph type="body"/>
          </p:nvPr>
        </p:nvSpPr>
        <p:spPr>
          <a:xfrm>
            <a:off x="1200150" y="1103313"/>
            <a:ext cx="9575800" cy="5040312"/>
          </a:xfrm>
        </p:spPr>
        <p:txBody>
          <a:bodyPr vert="horz" wrap="square" lIns="91440" tIns="45720" rIns="91440" bIns="45720" anchor="t" anchorCtr="0"/>
          <a:lstStyle/>
          <a:p>
            <a:pPr eaLnBrk="1" hangingPunct="1">
              <a:lnSpc>
                <a:spcPct val="120000"/>
              </a:lnSpc>
            </a:pPr>
            <a:r>
              <a:rPr lang="zh-CN" altLang="en-US" dirty="0"/>
              <a:t>多粒度封锁</a:t>
            </a:r>
            <a:r>
              <a:rPr lang="en-US" altLang="zh-CN" dirty="0"/>
              <a:t>(Multiple Granularity Locking)</a:t>
            </a:r>
          </a:p>
          <a:p>
            <a:pPr eaLnBrk="1" hangingPunct="1">
              <a:lnSpc>
                <a:spcPct val="120000"/>
              </a:lnSpc>
              <a:buNone/>
            </a:pPr>
            <a:r>
              <a:rPr lang="en-US" altLang="zh-CN" sz="2400" dirty="0"/>
              <a:t>    </a:t>
            </a:r>
            <a:r>
              <a:rPr lang="zh-CN" altLang="en-US" sz="2400" dirty="0"/>
              <a:t>在一个系统中同时支持多种封锁粒度供不同的事务选择</a:t>
            </a:r>
            <a:endParaRPr lang="en-US" altLang="zh-CN" sz="2400" dirty="0"/>
          </a:p>
          <a:p>
            <a:pPr eaLnBrk="1" hangingPunct="1">
              <a:lnSpc>
                <a:spcPct val="120000"/>
              </a:lnSpc>
              <a:buNone/>
            </a:pPr>
            <a:endParaRPr lang="zh-CN" altLang="en-US" sz="2400" dirty="0"/>
          </a:p>
          <a:p>
            <a:pPr eaLnBrk="1" hangingPunct="1">
              <a:lnSpc>
                <a:spcPct val="120000"/>
              </a:lnSpc>
            </a:pPr>
            <a:r>
              <a:rPr lang="zh-CN" altLang="en-US" dirty="0"/>
              <a:t>选择封锁粒度</a:t>
            </a:r>
          </a:p>
          <a:p>
            <a:pPr eaLnBrk="1" hangingPunct="1">
              <a:lnSpc>
                <a:spcPct val="120000"/>
              </a:lnSpc>
              <a:buNone/>
            </a:pPr>
            <a:r>
              <a:rPr lang="zh-CN" altLang="en-US" sz="2400" dirty="0"/>
              <a:t>     同时考虑封锁开销和并发度两个因素</a:t>
            </a:r>
            <a:r>
              <a:rPr lang="en-US" altLang="zh-CN" sz="2400" dirty="0"/>
              <a:t>, </a:t>
            </a:r>
            <a:r>
              <a:rPr lang="zh-CN" altLang="en-US" sz="2400" dirty="0"/>
              <a:t>适当选择封锁粒度</a:t>
            </a:r>
          </a:p>
          <a:p>
            <a:pPr lvl="1" eaLnBrk="1" hangingPunct="1">
              <a:lnSpc>
                <a:spcPct val="120000"/>
              </a:lnSpc>
            </a:pPr>
            <a:r>
              <a:rPr lang="zh-CN" altLang="en-US" dirty="0"/>
              <a:t>需要处理多个关系的大量元组的用户事务：以数据库为封锁单位</a:t>
            </a:r>
          </a:p>
          <a:p>
            <a:pPr lvl="1" eaLnBrk="1" hangingPunct="1">
              <a:lnSpc>
                <a:spcPct val="120000"/>
              </a:lnSpc>
            </a:pPr>
            <a:r>
              <a:rPr lang="zh-CN" altLang="en-US" dirty="0"/>
              <a:t>需要处理大量元组的用户事务：以关系为封锁单元</a:t>
            </a:r>
          </a:p>
          <a:p>
            <a:pPr lvl="1" eaLnBrk="1" hangingPunct="1">
              <a:lnSpc>
                <a:spcPct val="120000"/>
              </a:lnSpc>
            </a:pPr>
            <a:r>
              <a:rPr lang="zh-CN" altLang="en-US" dirty="0"/>
              <a:t>只处理少量元组的用户事务：以元组为封锁单位</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内容占位符 2"/>
          <p:cNvSpPr>
            <a:spLocks noGrp="1"/>
          </p:cNvSpPr>
          <p:nvPr>
            <p:ph idx="1"/>
          </p:nvPr>
        </p:nvSpPr>
        <p:spPr>
          <a:xfrm>
            <a:off x="1631950" y="1557338"/>
            <a:ext cx="8229600" cy="4911725"/>
          </a:xfrm>
        </p:spPr>
        <p:txBody>
          <a:bodyPr vert="horz" wrap="square" lIns="91440" tIns="45720" rIns="91440" bIns="45720" anchor="t" anchorCtr="0"/>
          <a:lstStyle/>
          <a:p>
            <a:pPr marL="0" indent="0" eaLnBrk="1" hangingPunct="1">
              <a:buNone/>
            </a:pPr>
            <a:r>
              <a:rPr lang="en-US" altLang="zh-CN" dirty="0">
                <a:solidFill>
                  <a:srgbClr val="00B050"/>
                </a:solidFill>
              </a:rPr>
              <a:t>12.8.1 </a:t>
            </a:r>
            <a:r>
              <a:rPr lang="zh-CN" altLang="en-US" dirty="0">
                <a:solidFill>
                  <a:srgbClr val="00B050"/>
                </a:solidFill>
              </a:rPr>
              <a:t>多粒度封锁</a:t>
            </a:r>
          </a:p>
          <a:p>
            <a:pPr marL="0" indent="0" eaLnBrk="1" hangingPunct="1">
              <a:buNone/>
            </a:pPr>
            <a:endParaRPr lang="en-US" altLang="zh-CN" dirty="0"/>
          </a:p>
          <a:p>
            <a:pPr marL="0" indent="0" eaLnBrk="1" hangingPunct="1">
              <a:buNone/>
            </a:pPr>
            <a:r>
              <a:rPr lang="en-US" altLang="zh-CN" dirty="0"/>
              <a:t>12.8.2 </a:t>
            </a:r>
            <a:r>
              <a:rPr lang="zh-CN" altLang="en-US" dirty="0"/>
              <a:t>意向锁</a:t>
            </a:r>
          </a:p>
        </p:txBody>
      </p:sp>
      <p:sp>
        <p:nvSpPr>
          <p:cNvPr id="100355" name="Rectangle 2"/>
          <p:cNvSpPr txBox="1"/>
          <p:nvPr/>
        </p:nvSpPr>
        <p:spPr>
          <a:xfrm>
            <a:off x="2438400" y="255588"/>
            <a:ext cx="7391400" cy="563562"/>
          </a:xfrm>
          <a:prstGeom prst="rect">
            <a:avLst/>
          </a:prstGeom>
          <a:noFill/>
          <a:ln w="9525">
            <a:noFill/>
          </a:ln>
        </p:spPr>
        <p:txBody>
          <a:bodyPr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SzTx/>
              <a:buFont typeface="Arial" panose="020B0604020202020204" pitchFamily="34" charset="0"/>
              <a:buNone/>
            </a:pPr>
            <a:r>
              <a:rPr lang="en-US" altLang="zh-CN" sz="3600" dirty="0">
                <a:solidFill>
                  <a:schemeClr val="bg1"/>
                </a:solidFill>
              </a:rPr>
              <a:t>12.8 </a:t>
            </a:r>
            <a:r>
              <a:rPr lang="zh-CN" altLang="en-US" sz="3600" dirty="0">
                <a:solidFill>
                  <a:schemeClr val="bg1"/>
                </a:solidFill>
              </a:rPr>
              <a:t>封锁的粒度</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en-US" altLang="zh-CN" sz="3600" dirty="0"/>
              <a:t>12.8.1 </a:t>
            </a:r>
            <a:r>
              <a:rPr lang="zh-CN" altLang="en-US" sz="3600" dirty="0"/>
              <a:t>多粒度封锁</a:t>
            </a:r>
          </a:p>
        </p:txBody>
      </p:sp>
      <p:sp>
        <p:nvSpPr>
          <p:cNvPr id="101379" name="Rectangle 3"/>
          <p:cNvSpPr>
            <a:spLocks noGrp="1"/>
          </p:cNvSpPr>
          <p:nvPr>
            <p:ph type="body"/>
          </p:nvPr>
        </p:nvSpPr>
        <p:spPr>
          <a:xfrm>
            <a:off x="1487488" y="1341438"/>
            <a:ext cx="8229600" cy="4840287"/>
          </a:xfrm>
        </p:spPr>
        <p:txBody>
          <a:bodyPr vert="horz" wrap="square" lIns="91440" tIns="45720" rIns="91440" bIns="45720" anchor="t" anchorCtr="0"/>
          <a:lstStyle/>
          <a:p>
            <a:pPr eaLnBrk="1" hangingPunct="1">
              <a:lnSpc>
                <a:spcPct val="190000"/>
              </a:lnSpc>
            </a:pPr>
            <a:r>
              <a:rPr lang="zh-CN" altLang="en-US" dirty="0"/>
              <a:t>多粒度树</a:t>
            </a:r>
          </a:p>
          <a:p>
            <a:pPr lvl="1" eaLnBrk="1" hangingPunct="1">
              <a:lnSpc>
                <a:spcPct val="190000"/>
              </a:lnSpc>
              <a:spcBef>
                <a:spcPct val="60000"/>
              </a:spcBef>
            </a:pPr>
            <a:r>
              <a:rPr lang="zh-CN" altLang="en-US" dirty="0"/>
              <a:t>以树形结构来表示多级封锁粒度</a:t>
            </a:r>
          </a:p>
          <a:p>
            <a:pPr lvl="1" eaLnBrk="1" hangingPunct="1">
              <a:lnSpc>
                <a:spcPct val="190000"/>
              </a:lnSpc>
              <a:spcBef>
                <a:spcPct val="60000"/>
              </a:spcBef>
            </a:pPr>
            <a:r>
              <a:rPr lang="zh-CN" altLang="en-US" dirty="0"/>
              <a:t>根结点是整个数据库，表示最大的数据粒度</a:t>
            </a:r>
          </a:p>
          <a:p>
            <a:pPr lvl="1" eaLnBrk="1" hangingPunct="1">
              <a:lnSpc>
                <a:spcPct val="190000"/>
              </a:lnSpc>
              <a:spcBef>
                <a:spcPct val="60000"/>
              </a:spcBef>
            </a:pPr>
            <a:r>
              <a:rPr lang="zh-CN" altLang="en-US" dirty="0"/>
              <a:t>叶结点表示最小的数据粒度</a:t>
            </a:r>
          </a:p>
          <a:p>
            <a:pPr lvl="3" eaLnBrk="1" hangingPunct="1">
              <a:lnSpc>
                <a:spcPct val="90000"/>
              </a:lnSpc>
            </a:pPr>
            <a:endParaRPr lang="zh-CN" altLang="en-US" sz="2400" dirty="0"/>
          </a:p>
          <a:p>
            <a:pPr eaLnBrk="1" hangingPunct="1">
              <a:lnSpc>
                <a:spcPct val="90000"/>
              </a:lnSpc>
              <a:buNone/>
            </a:pPr>
            <a:r>
              <a:rPr lang="zh-CN" altLang="en-US" sz="2400" dirty="0"/>
              <a:t>    </a:t>
            </a:r>
            <a:endParaRPr lang="zh-CN" altLang="en-US" sz="20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多粒度封锁（续）</a:t>
            </a:r>
          </a:p>
        </p:txBody>
      </p:sp>
      <p:sp>
        <p:nvSpPr>
          <p:cNvPr id="102403" name="Rectangle 3"/>
          <p:cNvSpPr>
            <a:spLocks noGrp="1"/>
          </p:cNvSpPr>
          <p:nvPr>
            <p:ph type="body"/>
          </p:nvPr>
        </p:nvSpPr>
        <p:spPr>
          <a:xfrm>
            <a:off x="1830388" y="1196975"/>
            <a:ext cx="8229600" cy="4840288"/>
          </a:xfrm>
        </p:spPr>
        <p:txBody>
          <a:bodyPr vert="horz" wrap="square" lIns="91440" tIns="45720" rIns="91440" bIns="45720" anchor="t" anchorCtr="0"/>
          <a:lstStyle/>
          <a:p>
            <a:pPr eaLnBrk="1" hangingPunct="1">
              <a:lnSpc>
                <a:spcPct val="130000"/>
              </a:lnSpc>
              <a:buNone/>
            </a:pPr>
            <a:r>
              <a:rPr lang="zh-CN" altLang="zh-CN" sz="2400" dirty="0"/>
              <a:t>例：三级粒度树。根结点为数据库，数据库的子结点为关系，关系的子结点为元组。</a:t>
            </a:r>
          </a:p>
        </p:txBody>
      </p:sp>
      <p:grpSp>
        <p:nvGrpSpPr>
          <p:cNvPr id="102404" name="Group 4"/>
          <p:cNvGrpSpPr/>
          <p:nvPr/>
        </p:nvGrpSpPr>
        <p:grpSpPr>
          <a:xfrm>
            <a:off x="3505200" y="2855913"/>
            <a:ext cx="5257800" cy="2536825"/>
            <a:chOff x="0" y="0"/>
            <a:chExt cx="3183" cy="1829"/>
          </a:xfrm>
        </p:grpSpPr>
        <p:sp>
          <p:nvSpPr>
            <p:cNvPr id="102406" name="Line 5"/>
            <p:cNvSpPr/>
            <p:nvPr/>
          </p:nvSpPr>
          <p:spPr>
            <a:xfrm flipH="1">
              <a:off x="779" y="370"/>
              <a:ext cx="510" cy="381"/>
            </a:xfrm>
            <a:prstGeom prst="line">
              <a:avLst/>
            </a:prstGeom>
            <a:ln w="6350" cap="flat" cmpd="sng">
              <a:solidFill>
                <a:srgbClr val="000000"/>
              </a:solidFill>
              <a:prstDash val="solid"/>
              <a:headEnd type="none" w="med" len="med"/>
              <a:tailEnd type="stealth" w="sm" len="sm"/>
            </a:ln>
          </p:spPr>
        </p:sp>
        <p:sp>
          <p:nvSpPr>
            <p:cNvPr id="102407" name="Line 6"/>
            <p:cNvSpPr/>
            <p:nvPr/>
          </p:nvSpPr>
          <p:spPr>
            <a:xfrm>
              <a:off x="1529" y="370"/>
              <a:ext cx="645" cy="366"/>
            </a:xfrm>
            <a:prstGeom prst="line">
              <a:avLst/>
            </a:prstGeom>
            <a:ln w="6350" cap="flat" cmpd="sng">
              <a:solidFill>
                <a:srgbClr val="000000"/>
              </a:solidFill>
              <a:prstDash val="solid"/>
              <a:headEnd type="none" w="med" len="med"/>
              <a:tailEnd type="stealth" w="sm" len="sm"/>
            </a:ln>
          </p:spPr>
        </p:sp>
        <p:sp>
          <p:nvSpPr>
            <p:cNvPr id="102408" name="Line 7"/>
            <p:cNvSpPr/>
            <p:nvPr/>
          </p:nvSpPr>
          <p:spPr>
            <a:xfrm flipH="1">
              <a:off x="314" y="1055"/>
              <a:ext cx="345" cy="436"/>
            </a:xfrm>
            <a:prstGeom prst="line">
              <a:avLst/>
            </a:prstGeom>
            <a:ln w="6350" cap="flat" cmpd="sng">
              <a:solidFill>
                <a:srgbClr val="000000"/>
              </a:solidFill>
              <a:prstDash val="solid"/>
              <a:headEnd type="none" w="med" len="med"/>
              <a:tailEnd type="stealth" w="sm" len="sm"/>
            </a:ln>
          </p:spPr>
        </p:sp>
        <p:sp>
          <p:nvSpPr>
            <p:cNvPr id="102409" name="Line 8"/>
            <p:cNvSpPr/>
            <p:nvPr/>
          </p:nvSpPr>
          <p:spPr>
            <a:xfrm>
              <a:off x="824" y="1053"/>
              <a:ext cx="330" cy="443"/>
            </a:xfrm>
            <a:prstGeom prst="line">
              <a:avLst/>
            </a:prstGeom>
            <a:ln w="6350" cap="flat" cmpd="sng">
              <a:solidFill>
                <a:srgbClr val="000000"/>
              </a:solidFill>
              <a:prstDash val="solid"/>
              <a:headEnd type="none" w="med" len="med"/>
              <a:tailEnd type="stealth" w="sm" len="sm"/>
            </a:ln>
          </p:spPr>
        </p:sp>
        <p:sp>
          <p:nvSpPr>
            <p:cNvPr id="102410" name="Line 9"/>
            <p:cNvSpPr/>
            <p:nvPr/>
          </p:nvSpPr>
          <p:spPr>
            <a:xfrm flipH="1">
              <a:off x="1754" y="1079"/>
              <a:ext cx="315" cy="390"/>
            </a:xfrm>
            <a:prstGeom prst="line">
              <a:avLst/>
            </a:prstGeom>
            <a:ln w="6350" cap="flat" cmpd="sng">
              <a:solidFill>
                <a:srgbClr val="000000"/>
              </a:solidFill>
              <a:prstDash val="solid"/>
              <a:headEnd type="none" w="med" len="med"/>
              <a:tailEnd type="stealth" w="sm" len="sm"/>
            </a:ln>
          </p:spPr>
        </p:sp>
        <p:sp>
          <p:nvSpPr>
            <p:cNvPr id="102411" name="Line 10"/>
            <p:cNvSpPr/>
            <p:nvPr/>
          </p:nvSpPr>
          <p:spPr>
            <a:xfrm>
              <a:off x="2309" y="1090"/>
              <a:ext cx="375" cy="379"/>
            </a:xfrm>
            <a:prstGeom prst="line">
              <a:avLst/>
            </a:prstGeom>
            <a:ln w="6350" cap="flat" cmpd="sng">
              <a:solidFill>
                <a:srgbClr val="000000"/>
              </a:solidFill>
              <a:prstDash val="solid"/>
              <a:headEnd type="none" w="med" len="med"/>
              <a:tailEnd type="stealth" w="sm" len="sm"/>
            </a:ln>
          </p:spPr>
        </p:sp>
        <p:sp>
          <p:nvSpPr>
            <p:cNvPr id="102412" name="Text Box 11"/>
            <p:cNvSpPr txBox="1"/>
            <p:nvPr/>
          </p:nvSpPr>
          <p:spPr>
            <a:xfrm>
              <a:off x="1068" y="0"/>
              <a:ext cx="795" cy="42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lnSpc>
                  <a:spcPct val="96000"/>
                </a:lnSpc>
                <a:spcBef>
                  <a:spcPct val="0"/>
                </a:spcBef>
                <a:buNone/>
              </a:pPr>
              <a:r>
                <a:rPr lang="zh-CN" altLang="zh-CN" sz="2400" dirty="0">
                  <a:latin typeface="Times New Roman" panose="02020603050405020304" pitchFamily="18" charset="0"/>
                </a:rPr>
                <a:t>数据库</a:t>
              </a:r>
            </a:p>
          </p:txBody>
        </p:sp>
        <p:sp>
          <p:nvSpPr>
            <p:cNvPr id="102413" name="Text Box 12"/>
            <p:cNvSpPr txBox="1"/>
            <p:nvPr/>
          </p:nvSpPr>
          <p:spPr>
            <a:xfrm>
              <a:off x="1818" y="690"/>
              <a:ext cx="810" cy="37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lnSpc>
                  <a:spcPct val="96000"/>
                </a:lnSpc>
                <a:spcBef>
                  <a:spcPct val="0"/>
                </a:spcBef>
                <a:buNone/>
              </a:pPr>
              <a:r>
                <a:rPr lang="zh-CN" altLang="en-US" sz="2400" dirty="0">
                  <a:latin typeface="Times New Roman" panose="02020603050405020304" pitchFamily="18" charset="0"/>
                </a:rPr>
                <a:t>关系</a:t>
              </a:r>
              <a:r>
                <a:rPr lang="en-US" altLang="zh-CN" sz="2400" dirty="0">
                  <a:latin typeface="Times New Roman" panose="02020603050405020304" pitchFamily="18" charset="0"/>
                </a:rPr>
                <a:t>R</a:t>
              </a:r>
              <a:r>
                <a:rPr lang="en-US" altLang="zh-CN" sz="2400" i="1" baseline="-25000" dirty="0">
                  <a:latin typeface="Times New Roman" panose="02020603050405020304" pitchFamily="18" charset="0"/>
                </a:rPr>
                <a:t>n</a:t>
              </a:r>
              <a:endParaRPr lang="en-US" altLang="zh-CN" sz="2400" dirty="0">
                <a:latin typeface="Times New Roman" panose="02020603050405020304" pitchFamily="18" charset="0"/>
              </a:endParaRPr>
            </a:p>
          </p:txBody>
        </p:sp>
        <p:sp>
          <p:nvSpPr>
            <p:cNvPr id="102414" name="Text Box 13"/>
            <p:cNvSpPr txBox="1"/>
            <p:nvPr/>
          </p:nvSpPr>
          <p:spPr>
            <a:xfrm>
              <a:off x="363" y="690"/>
              <a:ext cx="930" cy="60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lnSpc>
                  <a:spcPct val="96000"/>
                </a:lnSpc>
                <a:spcBef>
                  <a:spcPct val="0"/>
                </a:spcBef>
                <a:buNone/>
              </a:pPr>
              <a:r>
                <a:rPr lang="zh-CN" altLang="en-US" sz="2000" dirty="0">
                  <a:latin typeface="Times New Roman" panose="02020603050405020304" pitchFamily="18" charset="0"/>
                </a:rPr>
                <a:t>关系</a:t>
              </a:r>
              <a:r>
                <a:rPr lang="en-US" altLang="zh-CN" sz="2000" dirty="0">
                  <a:latin typeface="Times New Roman" panose="02020603050405020304" pitchFamily="18" charset="0"/>
                </a:rPr>
                <a:t>R</a:t>
              </a:r>
              <a:r>
                <a:rPr lang="en-US" altLang="zh-CN" sz="2000" baseline="-25000" dirty="0">
                  <a:latin typeface="Times New Roman" panose="02020603050405020304" pitchFamily="18" charset="0"/>
                </a:rPr>
                <a:t>1</a:t>
              </a:r>
              <a:endParaRPr lang="en-US" altLang="zh-CN" sz="2000" dirty="0">
                <a:latin typeface="Times New Roman" panose="02020603050405020304" pitchFamily="18" charset="0"/>
              </a:endParaRPr>
            </a:p>
          </p:txBody>
        </p:sp>
        <p:sp>
          <p:nvSpPr>
            <p:cNvPr id="102415" name="Text Box 14"/>
            <p:cNvSpPr txBox="1"/>
            <p:nvPr/>
          </p:nvSpPr>
          <p:spPr>
            <a:xfrm>
              <a:off x="0" y="1380"/>
              <a:ext cx="630" cy="39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lnSpc>
                  <a:spcPct val="96000"/>
                </a:lnSpc>
                <a:spcBef>
                  <a:spcPct val="0"/>
                </a:spcBef>
                <a:buNone/>
              </a:pPr>
              <a:r>
                <a:rPr lang="zh-CN" altLang="zh-CN" sz="2400" dirty="0">
                  <a:latin typeface="Times New Roman" panose="02020603050405020304" pitchFamily="18" charset="0"/>
                </a:rPr>
                <a:t>元组</a:t>
              </a:r>
            </a:p>
          </p:txBody>
        </p:sp>
        <p:sp>
          <p:nvSpPr>
            <p:cNvPr id="102416" name="Text Box 15"/>
            <p:cNvSpPr txBox="1"/>
            <p:nvPr/>
          </p:nvSpPr>
          <p:spPr>
            <a:xfrm>
              <a:off x="2388" y="1380"/>
              <a:ext cx="795" cy="43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lnSpc>
                  <a:spcPct val="96000"/>
                </a:lnSpc>
                <a:spcBef>
                  <a:spcPct val="0"/>
                </a:spcBef>
                <a:buNone/>
              </a:pPr>
              <a:r>
                <a:rPr lang="zh-CN" altLang="zh-CN" sz="2400" dirty="0">
                  <a:latin typeface="Times New Roman" panose="02020603050405020304" pitchFamily="18" charset="0"/>
                </a:rPr>
                <a:t>元组</a:t>
              </a:r>
            </a:p>
          </p:txBody>
        </p:sp>
        <p:sp>
          <p:nvSpPr>
            <p:cNvPr id="102417" name="Text Box 16"/>
            <p:cNvSpPr txBox="1"/>
            <p:nvPr/>
          </p:nvSpPr>
          <p:spPr>
            <a:xfrm>
              <a:off x="810" y="1398"/>
              <a:ext cx="630" cy="39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lnSpc>
                  <a:spcPct val="96000"/>
                </a:lnSpc>
                <a:spcBef>
                  <a:spcPct val="0"/>
                </a:spcBef>
                <a:buNone/>
              </a:pPr>
              <a:r>
                <a:rPr lang="zh-CN" altLang="zh-CN" sz="2400" dirty="0">
                  <a:latin typeface="Times New Roman" panose="02020603050405020304" pitchFamily="18" charset="0"/>
                </a:rPr>
                <a:t>元组</a:t>
              </a:r>
            </a:p>
          </p:txBody>
        </p:sp>
        <p:sp>
          <p:nvSpPr>
            <p:cNvPr id="102418" name="Text Box 17"/>
            <p:cNvSpPr txBox="1"/>
            <p:nvPr/>
          </p:nvSpPr>
          <p:spPr>
            <a:xfrm>
              <a:off x="1455" y="1398"/>
              <a:ext cx="630" cy="39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lnSpc>
                  <a:spcPct val="96000"/>
                </a:lnSpc>
                <a:spcBef>
                  <a:spcPct val="0"/>
                </a:spcBef>
                <a:buNone/>
              </a:pPr>
              <a:r>
                <a:rPr lang="zh-CN" altLang="zh-CN" sz="2400" dirty="0">
                  <a:latin typeface="Times New Roman" panose="02020603050405020304" pitchFamily="18" charset="0"/>
                </a:rPr>
                <a:t>元组</a:t>
              </a:r>
            </a:p>
          </p:txBody>
        </p:sp>
        <p:sp>
          <p:nvSpPr>
            <p:cNvPr id="102419" name="Text Box 18"/>
            <p:cNvSpPr txBox="1"/>
            <p:nvPr/>
          </p:nvSpPr>
          <p:spPr>
            <a:xfrm>
              <a:off x="1245" y="780"/>
              <a:ext cx="1170" cy="615"/>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eaLnBrk="1" hangingPunct="1">
                <a:lnSpc>
                  <a:spcPct val="96000"/>
                </a:lnSpc>
                <a:spcBef>
                  <a:spcPct val="0"/>
                </a:spcBef>
                <a:buNone/>
              </a:pPr>
              <a:endParaRPr lang="zh-CN" altLang="zh-CN" sz="700" dirty="0">
                <a:latin typeface="Times New Roman" panose="02020603050405020304" pitchFamily="18" charset="0"/>
              </a:endParaRPr>
            </a:p>
          </p:txBody>
        </p:sp>
        <p:sp>
          <p:nvSpPr>
            <p:cNvPr id="102420" name="Text Box 19"/>
            <p:cNvSpPr txBox="1"/>
            <p:nvPr/>
          </p:nvSpPr>
          <p:spPr>
            <a:xfrm>
              <a:off x="1218" y="705"/>
              <a:ext cx="810" cy="31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eaLnBrk="1" hangingPunct="1">
                <a:lnSpc>
                  <a:spcPct val="96000"/>
                </a:lnSpc>
                <a:spcBef>
                  <a:spcPct val="0"/>
                </a:spcBef>
                <a:buNone/>
              </a:pPr>
              <a:r>
                <a:rPr lang="en-US" altLang="zh-CN" sz="2400" dirty="0">
                  <a:latin typeface="Times New Roman" panose="02020603050405020304" pitchFamily="18" charset="0"/>
                </a:rPr>
                <a:t>……</a:t>
              </a:r>
            </a:p>
          </p:txBody>
        </p:sp>
        <p:sp>
          <p:nvSpPr>
            <p:cNvPr id="102421" name="Text Box 20"/>
            <p:cNvSpPr txBox="1"/>
            <p:nvPr/>
          </p:nvSpPr>
          <p:spPr>
            <a:xfrm>
              <a:off x="1908" y="1395"/>
              <a:ext cx="810" cy="43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eaLnBrk="1" hangingPunct="1">
                <a:lnSpc>
                  <a:spcPct val="96000"/>
                </a:lnSpc>
                <a:spcBef>
                  <a:spcPct val="0"/>
                </a:spcBef>
                <a:buNone/>
              </a:pPr>
              <a:r>
                <a:rPr lang="en-US" altLang="zh-CN" sz="2000" dirty="0">
                  <a:latin typeface="宋体" panose="02010600030101010101" pitchFamily="2" charset="-122"/>
                </a:rPr>
                <a:t>   </a:t>
              </a:r>
              <a:r>
                <a:rPr lang="en-US" altLang="zh-CN" sz="2000" dirty="0">
                  <a:latin typeface="Times New Roman" panose="02020603050405020304" pitchFamily="18" charset="0"/>
                </a:rPr>
                <a:t>……</a:t>
              </a:r>
            </a:p>
          </p:txBody>
        </p:sp>
        <p:sp>
          <p:nvSpPr>
            <p:cNvPr id="102422" name="Text Box 21"/>
            <p:cNvSpPr txBox="1"/>
            <p:nvPr/>
          </p:nvSpPr>
          <p:spPr>
            <a:xfrm>
              <a:off x="393" y="1395"/>
              <a:ext cx="810" cy="31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eaLnBrk="1" hangingPunct="1">
                <a:lnSpc>
                  <a:spcPct val="96000"/>
                </a:lnSpc>
                <a:spcBef>
                  <a:spcPct val="0"/>
                </a:spcBef>
                <a:buNone/>
              </a:pPr>
              <a:r>
                <a:rPr lang="en-US" altLang="zh-CN" sz="2000" dirty="0">
                  <a:latin typeface="宋体" panose="02010600030101010101" pitchFamily="2" charset="-122"/>
                </a:rPr>
                <a:t>  </a:t>
              </a:r>
              <a:r>
                <a:rPr lang="en-US" altLang="zh-CN" sz="2000" dirty="0">
                  <a:latin typeface="Times New Roman" panose="02020603050405020304" pitchFamily="18" charset="0"/>
                </a:rPr>
                <a:t>……</a:t>
              </a:r>
            </a:p>
          </p:txBody>
        </p:sp>
      </p:grpSp>
      <p:sp>
        <p:nvSpPr>
          <p:cNvPr id="102405" name="Text Box 22"/>
          <p:cNvSpPr txBox="1"/>
          <p:nvPr/>
        </p:nvSpPr>
        <p:spPr>
          <a:xfrm>
            <a:off x="5430838" y="5532438"/>
            <a:ext cx="1335087"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None/>
            </a:pPr>
            <a:r>
              <a:rPr lang="zh-CN" altLang="zh-CN" sz="1800" dirty="0">
                <a:latin typeface="Times New Roman" panose="02020603050405020304" pitchFamily="18" charset="0"/>
              </a:rPr>
              <a:t>三级粒度树</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多粒度封锁协议</a:t>
            </a:r>
          </a:p>
        </p:txBody>
      </p:sp>
      <p:sp>
        <p:nvSpPr>
          <p:cNvPr id="103427" name="Rectangle 3"/>
          <p:cNvSpPr>
            <a:spLocks noGrp="1"/>
          </p:cNvSpPr>
          <p:nvPr>
            <p:ph type="body"/>
          </p:nvPr>
        </p:nvSpPr>
        <p:spPr>
          <a:xfrm>
            <a:off x="1343025" y="1268413"/>
            <a:ext cx="10009188" cy="5199062"/>
          </a:xfrm>
        </p:spPr>
        <p:txBody>
          <a:bodyPr vert="horz" wrap="square" lIns="91440" tIns="45720" rIns="91440" bIns="45720" anchor="t" anchorCtr="0"/>
          <a:lstStyle/>
          <a:p>
            <a:pPr eaLnBrk="1" hangingPunct="1">
              <a:lnSpc>
                <a:spcPct val="150000"/>
              </a:lnSpc>
            </a:pPr>
            <a:r>
              <a:rPr lang="zh-CN" altLang="zh-CN" dirty="0"/>
              <a:t>允许多粒度树中的每个结点被独立地加锁</a:t>
            </a:r>
          </a:p>
          <a:p>
            <a:pPr eaLnBrk="1" hangingPunct="1">
              <a:lnSpc>
                <a:spcPct val="150000"/>
              </a:lnSpc>
              <a:spcBef>
                <a:spcPct val="60000"/>
              </a:spcBef>
            </a:pPr>
            <a:r>
              <a:rPr lang="zh-CN" altLang="zh-CN" dirty="0"/>
              <a:t>对一个结点加锁意味着这个结点的所有后裔结点也被加以同样类型的锁</a:t>
            </a:r>
          </a:p>
          <a:p>
            <a:pPr eaLnBrk="1" hangingPunct="1">
              <a:lnSpc>
                <a:spcPct val="150000"/>
              </a:lnSpc>
              <a:spcBef>
                <a:spcPct val="60000"/>
              </a:spcBef>
            </a:pPr>
            <a:r>
              <a:rPr lang="zh-CN" altLang="zh-CN" dirty="0"/>
              <a:t>在多粒度封锁中一个数据对象可能以两种方式封锁：</a:t>
            </a:r>
            <a:r>
              <a:rPr lang="zh-CN" altLang="zh-CN" dirty="0">
                <a:solidFill>
                  <a:srgbClr val="FF00FF"/>
                </a:solidFill>
              </a:rPr>
              <a:t>显式封锁和隐式封锁</a:t>
            </a:r>
            <a:endParaRPr lang="zh-CN" altLang="zh-CN" sz="3200" dirty="0">
              <a:solidFill>
                <a:srgbClr val="FF00FF"/>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显式封锁和隐式封锁</a:t>
            </a:r>
          </a:p>
        </p:txBody>
      </p:sp>
      <p:sp>
        <p:nvSpPr>
          <p:cNvPr id="104451" name="Rectangle 3"/>
          <p:cNvSpPr>
            <a:spLocks noGrp="1"/>
          </p:cNvSpPr>
          <p:nvPr>
            <p:ph type="body"/>
          </p:nvPr>
        </p:nvSpPr>
        <p:spPr>
          <a:xfrm>
            <a:off x="1577975" y="1403350"/>
            <a:ext cx="9342438" cy="5199063"/>
          </a:xfrm>
        </p:spPr>
        <p:txBody>
          <a:bodyPr vert="horz" wrap="square" lIns="91440" tIns="45720" rIns="91440" bIns="45720" anchor="t" anchorCtr="0"/>
          <a:lstStyle/>
          <a:p>
            <a:pPr eaLnBrk="1" hangingPunct="1">
              <a:lnSpc>
                <a:spcPct val="140000"/>
              </a:lnSpc>
            </a:pPr>
            <a:r>
              <a:rPr lang="zh-CN" altLang="en-US" dirty="0"/>
              <a:t>显式封锁</a:t>
            </a:r>
            <a:r>
              <a:rPr lang="en-US" altLang="zh-CN" dirty="0"/>
              <a:t>: </a:t>
            </a:r>
            <a:r>
              <a:rPr lang="zh-CN" altLang="en-US" dirty="0"/>
              <a:t>直接加到数据对象上的封锁</a:t>
            </a:r>
          </a:p>
          <a:p>
            <a:pPr eaLnBrk="1" hangingPunct="1">
              <a:lnSpc>
                <a:spcPct val="140000"/>
              </a:lnSpc>
              <a:spcBef>
                <a:spcPct val="60000"/>
              </a:spcBef>
            </a:pPr>
            <a:r>
              <a:rPr lang="zh-CN" altLang="en-US" dirty="0"/>
              <a:t>隐式封锁</a:t>
            </a:r>
            <a:r>
              <a:rPr lang="en-US" altLang="zh-CN" dirty="0"/>
              <a:t>:</a:t>
            </a:r>
            <a:r>
              <a:rPr lang="zh-CN" altLang="en-US" dirty="0"/>
              <a:t>是该数据对象没有独立加锁，是由于其上级结点加锁而使该数据对象加上了锁</a:t>
            </a:r>
          </a:p>
          <a:p>
            <a:pPr eaLnBrk="1" hangingPunct="1">
              <a:lnSpc>
                <a:spcPct val="140000"/>
              </a:lnSpc>
              <a:spcBef>
                <a:spcPct val="60000"/>
              </a:spcBef>
            </a:pPr>
            <a:r>
              <a:rPr lang="zh-CN" altLang="en-US" dirty="0"/>
              <a:t>显式封锁和隐式封锁的效果是一样的</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显式封锁和隐式封锁（续）</a:t>
            </a:r>
          </a:p>
        </p:txBody>
      </p:sp>
      <p:sp>
        <p:nvSpPr>
          <p:cNvPr id="105475" name="Rectangle 3"/>
          <p:cNvSpPr>
            <a:spLocks noGrp="1"/>
          </p:cNvSpPr>
          <p:nvPr>
            <p:ph type="body"/>
          </p:nvPr>
        </p:nvSpPr>
        <p:spPr>
          <a:xfrm>
            <a:off x="1271588" y="1052513"/>
            <a:ext cx="9504362" cy="4999037"/>
          </a:xfrm>
        </p:spPr>
        <p:txBody>
          <a:bodyPr vert="horz" wrap="square" lIns="91440" tIns="45720" rIns="91440" bIns="45720" anchor="t" anchorCtr="0"/>
          <a:lstStyle/>
          <a:p>
            <a:pPr eaLnBrk="1" hangingPunct="1">
              <a:lnSpc>
                <a:spcPct val="160000"/>
              </a:lnSpc>
            </a:pPr>
            <a:r>
              <a:rPr lang="zh-CN" altLang="en-US" dirty="0"/>
              <a:t>系统检查封锁冲突时</a:t>
            </a:r>
          </a:p>
          <a:p>
            <a:pPr lvl="1" eaLnBrk="1" hangingPunct="1">
              <a:lnSpc>
                <a:spcPct val="160000"/>
              </a:lnSpc>
            </a:pPr>
            <a:r>
              <a:rPr lang="zh-CN" altLang="en-US" dirty="0"/>
              <a:t>要检查显式封锁和隐式封锁</a:t>
            </a:r>
          </a:p>
          <a:p>
            <a:pPr eaLnBrk="1" hangingPunct="1">
              <a:lnSpc>
                <a:spcPct val="160000"/>
              </a:lnSpc>
            </a:pPr>
            <a:r>
              <a:rPr lang="zh-CN" altLang="en-US" dirty="0"/>
              <a:t>例如事务</a:t>
            </a:r>
            <a:r>
              <a:rPr lang="en-US" altLang="zh-CN" dirty="0"/>
              <a:t>T</a:t>
            </a:r>
            <a:r>
              <a:rPr lang="zh-CN" altLang="en-US" dirty="0"/>
              <a:t>要对关系</a:t>
            </a:r>
            <a:r>
              <a:rPr lang="en-US" altLang="zh-CN" i="1" dirty="0"/>
              <a:t>R</a:t>
            </a:r>
            <a:r>
              <a:rPr lang="en-US" altLang="zh-CN" baseline="-25000" dirty="0"/>
              <a:t>1</a:t>
            </a:r>
            <a:r>
              <a:rPr lang="zh-CN" altLang="en-US" dirty="0"/>
              <a:t>加</a:t>
            </a:r>
            <a:r>
              <a:rPr lang="en-US" altLang="zh-CN" dirty="0"/>
              <a:t>X</a:t>
            </a:r>
            <a:r>
              <a:rPr lang="zh-CN" altLang="en-US" dirty="0"/>
              <a:t>锁</a:t>
            </a:r>
          </a:p>
          <a:p>
            <a:pPr lvl="1" eaLnBrk="1" hangingPunct="1">
              <a:lnSpc>
                <a:spcPct val="160000"/>
              </a:lnSpc>
            </a:pPr>
            <a:r>
              <a:rPr lang="zh-CN" altLang="en-US" dirty="0"/>
              <a:t>系统必须搜索其上级结点数据库、关系</a:t>
            </a:r>
            <a:r>
              <a:rPr lang="en-US" altLang="zh-CN" i="1" dirty="0"/>
              <a:t>R</a:t>
            </a:r>
            <a:r>
              <a:rPr lang="en-US" altLang="zh-CN" baseline="-25000" dirty="0"/>
              <a:t>1</a:t>
            </a:r>
          </a:p>
          <a:p>
            <a:pPr lvl="1" eaLnBrk="1" hangingPunct="1">
              <a:lnSpc>
                <a:spcPct val="160000"/>
              </a:lnSpc>
            </a:pPr>
            <a:r>
              <a:rPr lang="zh-CN" altLang="en-US" dirty="0"/>
              <a:t>还要搜索</a:t>
            </a:r>
            <a:r>
              <a:rPr lang="en-US" altLang="zh-CN" i="1" dirty="0"/>
              <a:t>R</a:t>
            </a:r>
            <a:r>
              <a:rPr lang="en-US" altLang="zh-CN" baseline="-25000" dirty="0"/>
              <a:t>1</a:t>
            </a:r>
            <a:r>
              <a:rPr lang="zh-CN" altLang="en-US" dirty="0"/>
              <a:t>的下级结点，即</a:t>
            </a:r>
            <a:r>
              <a:rPr lang="en-US" altLang="zh-CN" i="1" dirty="0"/>
              <a:t>R</a:t>
            </a:r>
            <a:r>
              <a:rPr lang="en-US" altLang="zh-CN" baseline="-25000" dirty="0"/>
              <a:t>1</a:t>
            </a:r>
            <a:r>
              <a:rPr lang="zh-CN" altLang="en-US" dirty="0"/>
              <a:t>中的每一个元组</a:t>
            </a:r>
          </a:p>
          <a:p>
            <a:pPr lvl="1" eaLnBrk="1" hangingPunct="1">
              <a:lnSpc>
                <a:spcPct val="160000"/>
              </a:lnSpc>
            </a:pPr>
            <a:r>
              <a:rPr lang="zh-CN" altLang="en-US" dirty="0"/>
              <a:t>如果其中某一个数据对象已经加了不相容锁，则</a:t>
            </a:r>
            <a:r>
              <a:rPr lang="en-US" altLang="zh-CN" dirty="0"/>
              <a:t>T</a:t>
            </a:r>
            <a:r>
              <a:rPr lang="zh-CN" altLang="en-US" dirty="0"/>
              <a:t>必须等待 </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显式封锁和隐式封锁（续）</a:t>
            </a:r>
          </a:p>
        </p:txBody>
      </p:sp>
      <p:sp>
        <p:nvSpPr>
          <p:cNvPr id="106499" name="Rectangle 3"/>
          <p:cNvSpPr>
            <a:spLocks noGrp="1"/>
          </p:cNvSpPr>
          <p:nvPr>
            <p:ph type="body"/>
          </p:nvPr>
        </p:nvSpPr>
        <p:spPr>
          <a:xfrm>
            <a:off x="1416050" y="1125538"/>
            <a:ext cx="9001125" cy="4999037"/>
          </a:xfrm>
        </p:spPr>
        <p:txBody>
          <a:bodyPr vert="horz" wrap="square" lIns="91440" tIns="45720" rIns="91440" bIns="45720" anchor="t" anchorCtr="0"/>
          <a:lstStyle/>
          <a:p>
            <a:pPr eaLnBrk="1" hangingPunct="1">
              <a:lnSpc>
                <a:spcPct val="150000"/>
              </a:lnSpc>
              <a:spcBef>
                <a:spcPct val="0"/>
              </a:spcBef>
            </a:pPr>
            <a:r>
              <a:rPr lang="zh-CN" altLang="en-US" dirty="0"/>
              <a:t>对某个数据对象加锁，系统要检查</a:t>
            </a:r>
          </a:p>
          <a:p>
            <a:pPr lvl="1" eaLnBrk="1" hangingPunct="1">
              <a:lnSpc>
                <a:spcPct val="150000"/>
              </a:lnSpc>
              <a:spcBef>
                <a:spcPct val="0"/>
              </a:spcBef>
            </a:pPr>
            <a:r>
              <a:rPr lang="zh-CN" altLang="en-US" dirty="0"/>
              <a:t> </a:t>
            </a:r>
            <a:r>
              <a:rPr lang="zh-CN" altLang="en-US" dirty="0">
                <a:solidFill>
                  <a:srgbClr val="0000FF"/>
                </a:solidFill>
              </a:rPr>
              <a:t>该数据对象</a:t>
            </a:r>
          </a:p>
          <a:p>
            <a:pPr lvl="2" eaLnBrk="1" hangingPunct="1">
              <a:lnSpc>
                <a:spcPct val="150000"/>
              </a:lnSpc>
              <a:spcBef>
                <a:spcPct val="0"/>
              </a:spcBef>
              <a:buSzPct val="87000"/>
              <a:buFont typeface="Wingdings" panose="05000000000000000000" pitchFamily="2" charset="2"/>
              <a:buChar char="l"/>
            </a:pPr>
            <a:r>
              <a:rPr lang="zh-CN" altLang="en-US" sz="2200" dirty="0"/>
              <a:t>有无显式封锁与之冲突</a:t>
            </a:r>
          </a:p>
          <a:p>
            <a:pPr lvl="1" eaLnBrk="1" hangingPunct="1">
              <a:lnSpc>
                <a:spcPct val="150000"/>
              </a:lnSpc>
              <a:spcBef>
                <a:spcPct val="0"/>
              </a:spcBef>
            </a:pPr>
            <a:r>
              <a:rPr lang="zh-CN" altLang="en-US" dirty="0"/>
              <a:t> </a:t>
            </a:r>
            <a:r>
              <a:rPr lang="zh-CN" altLang="en-US" dirty="0">
                <a:solidFill>
                  <a:srgbClr val="0000FF"/>
                </a:solidFill>
              </a:rPr>
              <a:t>所有上级结点</a:t>
            </a:r>
            <a:endParaRPr lang="zh-CN" altLang="en-US" dirty="0"/>
          </a:p>
          <a:p>
            <a:pPr lvl="2" eaLnBrk="1" hangingPunct="1">
              <a:lnSpc>
                <a:spcPct val="150000"/>
              </a:lnSpc>
              <a:spcBef>
                <a:spcPct val="0"/>
              </a:spcBef>
              <a:buSzPct val="87000"/>
              <a:buFont typeface="Wingdings" panose="05000000000000000000" pitchFamily="2" charset="2"/>
              <a:buChar char="l"/>
            </a:pPr>
            <a:r>
              <a:rPr lang="zh-CN" altLang="en-US" sz="2200" dirty="0"/>
              <a:t>检查本事务的显式封锁是否与该数据对象上的隐式封锁冲突：</a:t>
            </a:r>
            <a:r>
              <a:rPr lang="en-US" altLang="zh-CN" sz="2200" dirty="0">
                <a:solidFill>
                  <a:srgbClr val="0000FF"/>
                </a:solidFill>
              </a:rPr>
              <a:t>(</a:t>
            </a:r>
            <a:r>
              <a:rPr lang="zh-CN" altLang="en-US" sz="2200" dirty="0">
                <a:solidFill>
                  <a:srgbClr val="0000FF"/>
                </a:solidFill>
              </a:rPr>
              <a:t>由上级结点已加的封锁造成的）</a:t>
            </a:r>
            <a:endParaRPr lang="zh-CN" altLang="en-US" sz="2200" dirty="0"/>
          </a:p>
          <a:p>
            <a:pPr lvl="1" eaLnBrk="1" hangingPunct="1">
              <a:lnSpc>
                <a:spcPct val="150000"/>
              </a:lnSpc>
              <a:spcBef>
                <a:spcPct val="0"/>
              </a:spcBef>
            </a:pPr>
            <a:r>
              <a:rPr lang="zh-CN" altLang="en-US" dirty="0">
                <a:solidFill>
                  <a:srgbClr val="0000FF"/>
                </a:solidFill>
              </a:rPr>
              <a:t>所有下级结点</a:t>
            </a:r>
            <a:endParaRPr lang="zh-CN" altLang="en-US" dirty="0"/>
          </a:p>
          <a:p>
            <a:pPr lvl="2" eaLnBrk="1" hangingPunct="1">
              <a:lnSpc>
                <a:spcPct val="150000"/>
              </a:lnSpc>
              <a:spcBef>
                <a:spcPct val="0"/>
              </a:spcBef>
              <a:buSzPct val="87000"/>
              <a:buFont typeface="Wingdings" panose="05000000000000000000" pitchFamily="2" charset="2"/>
              <a:buChar char="l"/>
            </a:pPr>
            <a:r>
              <a:rPr lang="zh-CN" altLang="en-US" sz="2200" dirty="0"/>
              <a:t>看上面的显式封锁是否与本事务的隐式封锁</a:t>
            </a:r>
            <a:r>
              <a:rPr lang="zh-CN" altLang="en-US" sz="2200" dirty="0">
                <a:solidFill>
                  <a:srgbClr val="0000FF"/>
                </a:solidFill>
              </a:rPr>
              <a:t>（将加到下级结点的封锁）</a:t>
            </a:r>
            <a:r>
              <a:rPr lang="zh-CN" altLang="en-US" sz="2200" dirty="0"/>
              <a:t>冲突</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内容占位符 2"/>
          <p:cNvSpPr>
            <a:spLocks noGrp="1"/>
          </p:cNvSpPr>
          <p:nvPr>
            <p:ph idx="1"/>
          </p:nvPr>
        </p:nvSpPr>
        <p:spPr>
          <a:xfrm>
            <a:off x="1609725" y="1423988"/>
            <a:ext cx="8229600" cy="4911725"/>
          </a:xfrm>
        </p:spPr>
        <p:txBody>
          <a:bodyPr vert="horz" wrap="square" lIns="91440" tIns="45720" rIns="91440" bIns="45720" anchor="t" anchorCtr="0"/>
          <a:lstStyle/>
          <a:p>
            <a:pPr marL="0" indent="0" eaLnBrk="1" hangingPunct="1">
              <a:buNone/>
            </a:pPr>
            <a:r>
              <a:rPr lang="en-US" altLang="zh-CN" dirty="0"/>
              <a:t>12.8.1 </a:t>
            </a:r>
            <a:r>
              <a:rPr lang="zh-CN" altLang="en-US" dirty="0"/>
              <a:t>多粒度封锁</a:t>
            </a:r>
          </a:p>
          <a:p>
            <a:pPr marL="0" indent="0" eaLnBrk="1" hangingPunct="1">
              <a:buNone/>
            </a:pPr>
            <a:endParaRPr lang="en-US" altLang="zh-CN" dirty="0"/>
          </a:p>
          <a:p>
            <a:pPr marL="0" indent="0" eaLnBrk="1" hangingPunct="1">
              <a:buNone/>
            </a:pPr>
            <a:r>
              <a:rPr lang="en-US" altLang="zh-CN" dirty="0">
                <a:solidFill>
                  <a:srgbClr val="00B050"/>
                </a:solidFill>
              </a:rPr>
              <a:t>12.8.2 </a:t>
            </a:r>
            <a:r>
              <a:rPr lang="zh-CN" altLang="en-US" dirty="0">
                <a:solidFill>
                  <a:srgbClr val="00B050"/>
                </a:solidFill>
              </a:rPr>
              <a:t>意向锁</a:t>
            </a:r>
          </a:p>
        </p:txBody>
      </p:sp>
      <p:sp>
        <p:nvSpPr>
          <p:cNvPr id="107523" name="Rectangle 2"/>
          <p:cNvSpPr txBox="1"/>
          <p:nvPr/>
        </p:nvSpPr>
        <p:spPr>
          <a:xfrm>
            <a:off x="2438400" y="255588"/>
            <a:ext cx="7391400" cy="563562"/>
          </a:xfrm>
          <a:prstGeom prst="rect">
            <a:avLst/>
          </a:prstGeom>
          <a:noFill/>
          <a:ln w="9525">
            <a:noFill/>
          </a:ln>
        </p:spPr>
        <p:txBody>
          <a:bodyPr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SzTx/>
              <a:buFont typeface="Arial" panose="020B0604020202020204" pitchFamily="34" charset="0"/>
              <a:buNone/>
            </a:pPr>
            <a:r>
              <a:rPr lang="en-US" altLang="zh-CN" sz="3600" dirty="0">
                <a:solidFill>
                  <a:schemeClr val="bg1"/>
                </a:solidFill>
              </a:rPr>
              <a:t>12.8 </a:t>
            </a:r>
            <a:r>
              <a:rPr lang="zh-CN" altLang="en-US" sz="3600" dirty="0">
                <a:solidFill>
                  <a:schemeClr val="bg1"/>
                </a:solidFill>
              </a:rPr>
              <a:t>封锁的粒度</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p:cNvSpPr>
          <p:nvPr>
            <p:ph type="title"/>
          </p:nvPr>
        </p:nvSpPr>
        <p:spPr>
          <a:xfrm>
            <a:off x="2438400" y="327025"/>
            <a:ext cx="7391400" cy="563563"/>
          </a:xfrm>
        </p:spPr>
        <p:txBody>
          <a:bodyPr vert="horz" wrap="square" lIns="91440" tIns="45720" rIns="91440" bIns="45720" anchor="ctr" anchorCtr="0"/>
          <a:lstStyle/>
          <a:p>
            <a:pPr eaLnBrk="1" hangingPunct="1"/>
            <a:r>
              <a:rPr lang="en-US" altLang="zh-CN" sz="3600" dirty="0"/>
              <a:t>12.8.2 </a:t>
            </a:r>
            <a:r>
              <a:rPr lang="zh-CN" altLang="en-US" sz="3600" dirty="0"/>
              <a:t>意向锁</a:t>
            </a:r>
          </a:p>
        </p:txBody>
      </p:sp>
      <p:sp>
        <p:nvSpPr>
          <p:cNvPr id="108547" name="Rectangle 3"/>
          <p:cNvSpPr>
            <a:spLocks noGrp="1"/>
          </p:cNvSpPr>
          <p:nvPr>
            <p:ph type="body"/>
          </p:nvPr>
        </p:nvSpPr>
        <p:spPr>
          <a:xfrm>
            <a:off x="982663" y="1557338"/>
            <a:ext cx="10729912" cy="5199062"/>
          </a:xfrm>
        </p:spPr>
        <p:txBody>
          <a:bodyPr vert="horz" wrap="square" lIns="91440" tIns="45720" rIns="91440" bIns="45720" anchor="t" anchorCtr="0"/>
          <a:lstStyle/>
          <a:p>
            <a:pPr eaLnBrk="1" hangingPunct="1">
              <a:lnSpc>
                <a:spcPct val="120000"/>
              </a:lnSpc>
            </a:pPr>
            <a:r>
              <a:rPr lang="zh-CN" altLang="en-US" dirty="0"/>
              <a:t>引进意向锁（</a:t>
            </a:r>
            <a:r>
              <a:rPr lang="en-US" altLang="zh-CN" dirty="0"/>
              <a:t>intention lock</a:t>
            </a:r>
            <a:r>
              <a:rPr lang="zh-CN" altLang="en-US" dirty="0"/>
              <a:t>）目的</a:t>
            </a:r>
            <a:endParaRPr lang="zh-CN" altLang="en-US" sz="2400" dirty="0"/>
          </a:p>
          <a:p>
            <a:pPr lvl="1" eaLnBrk="1" hangingPunct="1">
              <a:lnSpc>
                <a:spcPct val="150000"/>
              </a:lnSpc>
            </a:pPr>
            <a:r>
              <a:rPr lang="zh-CN" altLang="en-US" dirty="0"/>
              <a:t>提高对某个数据对象加锁时系统的检查效率</a:t>
            </a:r>
            <a:endParaRPr lang="en-US" altLang="zh-CN" dirty="0"/>
          </a:p>
          <a:p>
            <a:pPr eaLnBrk="1" hangingPunct="1">
              <a:lnSpc>
                <a:spcPct val="150000"/>
              </a:lnSpc>
              <a:spcBef>
                <a:spcPct val="0"/>
              </a:spcBef>
            </a:pPr>
            <a:r>
              <a:rPr lang="zh-CN" altLang="en-US" dirty="0"/>
              <a:t>如果对一个结点加意向锁，则说明该结点的</a:t>
            </a:r>
            <a:r>
              <a:rPr lang="zh-CN" altLang="en-US" dirty="0">
                <a:solidFill>
                  <a:srgbClr val="FF00FF"/>
                </a:solidFill>
              </a:rPr>
              <a:t>下层结点</a:t>
            </a:r>
            <a:r>
              <a:rPr lang="zh-CN" altLang="en-US" dirty="0"/>
              <a:t>正在被加锁</a:t>
            </a:r>
          </a:p>
          <a:p>
            <a:pPr eaLnBrk="1" hangingPunct="1">
              <a:lnSpc>
                <a:spcPct val="150000"/>
              </a:lnSpc>
              <a:spcBef>
                <a:spcPct val="0"/>
              </a:spcBef>
            </a:pPr>
            <a:r>
              <a:rPr lang="zh-CN" altLang="en-US" dirty="0"/>
              <a:t>对任一结点加锁，必须</a:t>
            </a:r>
            <a:r>
              <a:rPr lang="zh-CN" altLang="en-US" dirty="0">
                <a:solidFill>
                  <a:srgbClr val="FF00FF"/>
                </a:solidFill>
              </a:rPr>
              <a:t>先</a:t>
            </a:r>
            <a:r>
              <a:rPr lang="zh-CN" altLang="en-US" dirty="0"/>
              <a:t>对它的上层结点</a:t>
            </a:r>
            <a:r>
              <a:rPr lang="zh-CN" altLang="en-US" dirty="0">
                <a:solidFill>
                  <a:srgbClr val="FF00FF"/>
                </a:solidFill>
              </a:rPr>
              <a:t>加意向锁</a:t>
            </a:r>
            <a:endParaRPr lang="en-US" altLang="zh-CN" dirty="0">
              <a:solidFill>
                <a:srgbClr val="FF00FF"/>
              </a:solidFill>
            </a:endParaRPr>
          </a:p>
          <a:p>
            <a:pPr lvl="1" eaLnBrk="1" hangingPunct="1">
              <a:lnSpc>
                <a:spcPct val="150000"/>
              </a:lnSpc>
              <a:spcBef>
                <a:spcPct val="0"/>
              </a:spcBef>
            </a:pPr>
            <a:r>
              <a:rPr lang="zh-CN" altLang="en-US" dirty="0"/>
              <a:t>例如，对任一元组加锁时，必须先对它所在的数据库和关系加意向锁 </a:t>
            </a:r>
            <a:endParaRPr lang="zh-CN" altLang="en-US" dirty="0">
              <a:solidFill>
                <a:srgbClr val="FF66FF"/>
              </a:solidFill>
            </a:endParaRPr>
          </a:p>
          <a:p>
            <a:pPr eaLnBrk="1" hangingPunct="1">
              <a:lnSpc>
                <a:spcPct val="150000"/>
              </a:lnSpc>
            </a:pPr>
            <a:endParaRPr lang="zh-CN" altLang="en-U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常用意向锁</a:t>
            </a:r>
          </a:p>
        </p:txBody>
      </p:sp>
      <p:sp>
        <p:nvSpPr>
          <p:cNvPr id="109571" name="Rectangle 3"/>
          <p:cNvSpPr>
            <a:spLocks noGrp="1"/>
          </p:cNvSpPr>
          <p:nvPr>
            <p:ph type="body"/>
          </p:nvPr>
        </p:nvSpPr>
        <p:spPr>
          <a:xfrm>
            <a:off x="1055688" y="1638300"/>
            <a:ext cx="10512425" cy="4525963"/>
          </a:xfrm>
        </p:spPr>
        <p:txBody>
          <a:bodyPr vert="horz" wrap="square" lIns="91440" tIns="45720" rIns="91440" bIns="45720" anchor="t" anchorCtr="0"/>
          <a:lstStyle/>
          <a:p>
            <a:pPr eaLnBrk="1" hangingPunct="1">
              <a:lnSpc>
                <a:spcPct val="160000"/>
              </a:lnSpc>
            </a:pPr>
            <a:r>
              <a:rPr lang="zh-CN" altLang="en-US" dirty="0"/>
              <a:t>意向共享锁</a:t>
            </a:r>
            <a:r>
              <a:rPr lang="en-US" altLang="zh-CN" dirty="0"/>
              <a:t>(Intent Share Lock</a:t>
            </a:r>
            <a:r>
              <a:rPr lang="zh-CN" altLang="en-US" dirty="0"/>
              <a:t>，简称</a:t>
            </a:r>
            <a:r>
              <a:rPr lang="en-US" altLang="zh-CN" dirty="0"/>
              <a:t>IS</a:t>
            </a:r>
            <a:r>
              <a:rPr lang="zh-CN" altLang="en-US" dirty="0"/>
              <a:t>锁</a:t>
            </a:r>
            <a:r>
              <a:rPr lang="en-US" altLang="zh-CN" dirty="0"/>
              <a:t>)</a:t>
            </a:r>
          </a:p>
          <a:p>
            <a:pPr eaLnBrk="1" hangingPunct="1">
              <a:lnSpc>
                <a:spcPct val="160000"/>
              </a:lnSpc>
              <a:spcBef>
                <a:spcPct val="60000"/>
              </a:spcBef>
            </a:pPr>
            <a:r>
              <a:rPr lang="zh-CN" altLang="en-US" dirty="0"/>
              <a:t>意向排它锁</a:t>
            </a:r>
            <a:r>
              <a:rPr lang="en-US" altLang="zh-CN" dirty="0"/>
              <a:t>(Intent Exclusive Lock</a:t>
            </a:r>
            <a:r>
              <a:rPr lang="zh-CN" altLang="en-US" dirty="0"/>
              <a:t>，简称</a:t>
            </a:r>
            <a:r>
              <a:rPr lang="en-US" altLang="zh-CN" dirty="0"/>
              <a:t>IX</a:t>
            </a:r>
            <a:r>
              <a:rPr lang="zh-CN" altLang="en-US" dirty="0"/>
              <a:t>锁</a:t>
            </a:r>
            <a:r>
              <a:rPr lang="en-US" altLang="zh-CN" dirty="0"/>
              <a:t>)</a:t>
            </a:r>
          </a:p>
          <a:p>
            <a:pPr eaLnBrk="1" hangingPunct="1">
              <a:lnSpc>
                <a:spcPct val="160000"/>
              </a:lnSpc>
              <a:spcBef>
                <a:spcPct val="60000"/>
              </a:spcBef>
            </a:pPr>
            <a:r>
              <a:rPr lang="zh-CN" altLang="en-US" dirty="0"/>
              <a:t>共享意向排它锁</a:t>
            </a:r>
            <a:r>
              <a:rPr lang="en-US" altLang="zh-CN" dirty="0"/>
              <a:t>(Share Intent Exclusive Lock</a:t>
            </a:r>
            <a:r>
              <a:rPr lang="zh-CN" altLang="en-US" dirty="0"/>
              <a:t>，简称</a:t>
            </a:r>
            <a:r>
              <a:rPr lang="en-US" altLang="zh-CN" dirty="0"/>
              <a:t>SIX</a:t>
            </a:r>
            <a:r>
              <a:rPr lang="zh-CN" altLang="en-US" dirty="0"/>
              <a:t>锁</a:t>
            </a:r>
            <a:r>
              <a:rPr lang="en-US" altLang="zh-CN" dirty="0"/>
              <a:t>)</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意向锁（续）</a:t>
            </a:r>
          </a:p>
        </p:txBody>
      </p:sp>
      <p:sp>
        <p:nvSpPr>
          <p:cNvPr id="110595" name="Rectangle 3"/>
          <p:cNvSpPr>
            <a:spLocks noGrp="1"/>
          </p:cNvSpPr>
          <p:nvPr>
            <p:ph type="body"/>
          </p:nvPr>
        </p:nvSpPr>
        <p:spPr>
          <a:xfrm>
            <a:off x="1200150" y="1492250"/>
            <a:ext cx="9936163" cy="5127625"/>
          </a:xfrm>
        </p:spPr>
        <p:txBody>
          <a:bodyPr vert="horz" wrap="square" lIns="91440" tIns="45720" rIns="91440" bIns="45720" anchor="t" anchorCtr="0"/>
          <a:lstStyle/>
          <a:p>
            <a:pPr algn="just" eaLnBrk="1" hangingPunct="1"/>
            <a:r>
              <a:rPr lang="en-US" altLang="zh-CN" sz="3200" dirty="0"/>
              <a:t>IS</a:t>
            </a:r>
            <a:r>
              <a:rPr lang="zh-CN" altLang="en-US" sz="3200" dirty="0"/>
              <a:t>锁</a:t>
            </a:r>
          </a:p>
          <a:p>
            <a:pPr lvl="1" algn="just" eaLnBrk="1" hangingPunct="1">
              <a:lnSpc>
                <a:spcPct val="180000"/>
              </a:lnSpc>
            </a:pPr>
            <a:r>
              <a:rPr lang="zh-CN" altLang="en-US" dirty="0"/>
              <a:t>如果对一个数据对象加</a:t>
            </a:r>
            <a:r>
              <a:rPr lang="en-US" altLang="zh-CN" dirty="0"/>
              <a:t>IS</a:t>
            </a:r>
            <a:r>
              <a:rPr lang="zh-CN" altLang="en-US" dirty="0"/>
              <a:t>锁，表示它的后裔结点拟（意向）加</a:t>
            </a:r>
            <a:r>
              <a:rPr lang="en-US" altLang="zh-CN" dirty="0"/>
              <a:t>S</a:t>
            </a:r>
            <a:r>
              <a:rPr lang="zh-CN" altLang="en-US" dirty="0"/>
              <a:t>锁。</a:t>
            </a:r>
            <a:endParaRPr lang="zh-CN" altLang="en-US" sz="2800" dirty="0"/>
          </a:p>
          <a:p>
            <a:pPr lvl="1" algn="just" eaLnBrk="1" hangingPunct="1">
              <a:lnSpc>
                <a:spcPct val="180000"/>
              </a:lnSpc>
              <a:buNone/>
            </a:pPr>
            <a:r>
              <a:rPr lang="zh-CN" altLang="en-US" dirty="0"/>
              <a:t>  例如：事务</a:t>
            </a:r>
            <a:r>
              <a:rPr lang="en-US" altLang="zh-CN" dirty="0"/>
              <a:t>T</a:t>
            </a:r>
            <a:r>
              <a:rPr lang="en-US" altLang="zh-CN" baseline="-25000" dirty="0"/>
              <a:t>1</a:t>
            </a:r>
            <a:r>
              <a:rPr lang="zh-CN" altLang="en-US" dirty="0"/>
              <a:t>要对</a:t>
            </a:r>
            <a:r>
              <a:rPr lang="en-US" altLang="zh-CN" i="1" dirty="0"/>
              <a:t>R</a:t>
            </a:r>
            <a:r>
              <a:rPr lang="en-US" altLang="zh-CN" baseline="-25000" dirty="0"/>
              <a:t>1</a:t>
            </a:r>
            <a:r>
              <a:rPr lang="zh-CN" altLang="en-US" dirty="0"/>
              <a:t>中某个元组加</a:t>
            </a:r>
            <a:r>
              <a:rPr lang="en-US" altLang="zh-CN" dirty="0"/>
              <a:t>S</a:t>
            </a:r>
            <a:r>
              <a:rPr lang="zh-CN" altLang="en-US" dirty="0"/>
              <a:t>锁，则要首先对关系</a:t>
            </a:r>
            <a:r>
              <a:rPr lang="en-US" altLang="zh-CN" i="1" dirty="0"/>
              <a:t>R</a:t>
            </a:r>
            <a:r>
              <a:rPr lang="en-US" altLang="zh-CN" baseline="-25000" dirty="0"/>
              <a:t>1</a:t>
            </a:r>
            <a:r>
              <a:rPr lang="zh-CN" altLang="en-US" dirty="0"/>
              <a:t>和数据库加</a:t>
            </a:r>
            <a:r>
              <a:rPr lang="en-US" altLang="zh-CN" dirty="0"/>
              <a:t>IS</a:t>
            </a:r>
            <a:r>
              <a:rPr lang="zh-CN" altLang="en-US" dirty="0"/>
              <a:t>锁 </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意向锁（续）</a:t>
            </a:r>
          </a:p>
        </p:txBody>
      </p:sp>
      <p:sp>
        <p:nvSpPr>
          <p:cNvPr id="111619" name="Rectangle 3"/>
          <p:cNvSpPr>
            <a:spLocks noGrp="1"/>
          </p:cNvSpPr>
          <p:nvPr>
            <p:ph type="body"/>
          </p:nvPr>
        </p:nvSpPr>
        <p:spPr>
          <a:xfrm>
            <a:off x="1201738" y="1474788"/>
            <a:ext cx="9864725" cy="5127625"/>
          </a:xfrm>
        </p:spPr>
        <p:txBody>
          <a:bodyPr vert="horz" wrap="square" lIns="91440" tIns="45720" rIns="91440" bIns="45720" anchor="t" anchorCtr="0"/>
          <a:lstStyle/>
          <a:p>
            <a:pPr eaLnBrk="1" hangingPunct="1">
              <a:lnSpc>
                <a:spcPct val="150000"/>
              </a:lnSpc>
            </a:pPr>
            <a:r>
              <a:rPr lang="en-US" altLang="zh-CN" sz="3200" dirty="0"/>
              <a:t>IX</a:t>
            </a:r>
            <a:r>
              <a:rPr lang="zh-CN" altLang="en-US" sz="3200" dirty="0"/>
              <a:t>锁</a:t>
            </a:r>
          </a:p>
          <a:p>
            <a:pPr lvl="1" eaLnBrk="1" hangingPunct="1">
              <a:lnSpc>
                <a:spcPct val="150000"/>
              </a:lnSpc>
            </a:pPr>
            <a:r>
              <a:rPr lang="zh-CN" altLang="en-US" dirty="0"/>
              <a:t>如果对一个数据对象加</a:t>
            </a:r>
            <a:r>
              <a:rPr lang="en-US" altLang="zh-CN" dirty="0"/>
              <a:t>IX</a:t>
            </a:r>
            <a:r>
              <a:rPr lang="zh-CN" altLang="en-US" dirty="0"/>
              <a:t>锁，表示它的后裔结点拟（意向）加</a:t>
            </a:r>
            <a:r>
              <a:rPr lang="en-US" altLang="zh-CN" dirty="0"/>
              <a:t>X</a:t>
            </a:r>
            <a:r>
              <a:rPr lang="zh-CN" altLang="en-US" dirty="0"/>
              <a:t>锁。</a:t>
            </a:r>
          </a:p>
          <a:p>
            <a:pPr eaLnBrk="1" hangingPunct="1">
              <a:lnSpc>
                <a:spcPct val="150000"/>
              </a:lnSpc>
              <a:buNone/>
            </a:pPr>
            <a:r>
              <a:rPr lang="zh-CN" altLang="en-US" sz="2400" dirty="0"/>
              <a:t>      例如：事务</a:t>
            </a:r>
            <a:r>
              <a:rPr lang="en-US" altLang="zh-CN" sz="2400" dirty="0"/>
              <a:t>T</a:t>
            </a:r>
            <a:r>
              <a:rPr lang="en-US" altLang="zh-CN" sz="2400" baseline="-25000" dirty="0"/>
              <a:t>1</a:t>
            </a:r>
            <a:r>
              <a:rPr lang="zh-CN" altLang="en-US" sz="2400" dirty="0"/>
              <a:t>要对</a:t>
            </a:r>
            <a:r>
              <a:rPr lang="en-US" altLang="zh-CN" sz="2400" i="1" dirty="0"/>
              <a:t>R</a:t>
            </a:r>
            <a:r>
              <a:rPr lang="en-US" altLang="zh-CN" sz="2400" baseline="-25000" dirty="0"/>
              <a:t>1</a:t>
            </a:r>
            <a:r>
              <a:rPr lang="zh-CN" altLang="en-US" sz="2400" dirty="0"/>
              <a:t>中某个元组加</a:t>
            </a:r>
            <a:r>
              <a:rPr lang="en-US" altLang="zh-CN" sz="2400" dirty="0"/>
              <a:t>X</a:t>
            </a:r>
            <a:r>
              <a:rPr lang="zh-CN" altLang="en-US" sz="2400" dirty="0"/>
              <a:t>锁，则要首先对关   </a:t>
            </a:r>
            <a:endParaRPr lang="en-US" altLang="zh-CN" sz="2400" dirty="0"/>
          </a:p>
          <a:p>
            <a:pPr eaLnBrk="1" hangingPunct="1">
              <a:lnSpc>
                <a:spcPct val="150000"/>
              </a:lnSpc>
              <a:buNone/>
            </a:pPr>
            <a:r>
              <a:rPr lang="en-US" altLang="zh-CN" sz="2400" dirty="0"/>
              <a:t>      </a:t>
            </a:r>
            <a:r>
              <a:rPr lang="zh-CN" altLang="en-US" sz="2400" dirty="0"/>
              <a:t>系</a:t>
            </a:r>
            <a:r>
              <a:rPr lang="en-US" altLang="zh-CN" sz="2400" i="1" dirty="0"/>
              <a:t>R</a:t>
            </a:r>
            <a:r>
              <a:rPr lang="en-US" altLang="zh-CN" sz="2400" baseline="-25000" dirty="0"/>
              <a:t>1</a:t>
            </a:r>
            <a:r>
              <a:rPr lang="zh-CN" altLang="en-US" sz="2400" dirty="0"/>
              <a:t>和数据库加</a:t>
            </a:r>
            <a:r>
              <a:rPr lang="en-US" altLang="zh-CN" sz="2400" dirty="0"/>
              <a:t>IX</a:t>
            </a:r>
            <a:r>
              <a:rPr lang="zh-CN" altLang="en-US" sz="2400" dirty="0"/>
              <a:t>锁 </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意向锁（续）</a:t>
            </a:r>
          </a:p>
        </p:txBody>
      </p:sp>
      <p:sp>
        <p:nvSpPr>
          <p:cNvPr id="112643" name="Rectangle 3"/>
          <p:cNvSpPr>
            <a:spLocks noGrp="1"/>
          </p:cNvSpPr>
          <p:nvPr>
            <p:ph type="body"/>
          </p:nvPr>
        </p:nvSpPr>
        <p:spPr>
          <a:xfrm>
            <a:off x="1271588" y="1484313"/>
            <a:ext cx="9864725" cy="4983162"/>
          </a:xfrm>
        </p:spPr>
        <p:txBody>
          <a:bodyPr vert="horz" wrap="square" lIns="91440" tIns="45720" rIns="91440" bIns="45720" anchor="t" anchorCtr="0"/>
          <a:lstStyle/>
          <a:p>
            <a:pPr eaLnBrk="1" hangingPunct="1">
              <a:lnSpc>
                <a:spcPct val="120000"/>
              </a:lnSpc>
            </a:pPr>
            <a:r>
              <a:rPr lang="en-US" altLang="zh-CN" sz="3200" dirty="0"/>
              <a:t>SIX</a:t>
            </a:r>
            <a:r>
              <a:rPr lang="zh-CN" altLang="en-US" sz="3200" dirty="0"/>
              <a:t>锁</a:t>
            </a:r>
          </a:p>
          <a:p>
            <a:pPr lvl="1" eaLnBrk="1" hangingPunct="1">
              <a:lnSpc>
                <a:spcPct val="120000"/>
              </a:lnSpc>
            </a:pPr>
            <a:r>
              <a:rPr lang="zh-CN" altLang="en-US" dirty="0"/>
              <a:t>如果对一个数据对象加</a:t>
            </a:r>
            <a:r>
              <a:rPr lang="en-US" altLang="zh-CN" dirty="0"/>
              <a:t>SIX</a:t>
            </a:r>
            <a:r>
              <a:rPr lang="zh-CN" altLang="en-US" dirty="0"/>
              <a:t>锁，表示对它加</a:t>
            </a:r>
            <a:r>
              <a:rPr lang="en-US" altLang="zh-CN" dirty="0"/>
              <a:t>S</a:t>
            </a:r>
            <a:r>
              <a:rPr lang="zh-CN" altLang="en-US" dirty="0"/>
              <a:t>锁，再加</a:t>
            </a:r>
            <a:r>
              <a:rPr lang="en-US" altLang="zh-CN" dirty="0"/>
              <a:t>IX</a:t>
            </a:r>
            <a:r>
              <a:rPr lang="zh-CN" altLang="en-US" dirty="0"/>
              <a:t>锁，即</a:t>
            </a:r>
            <a:r>
              <a:rPr lang="en-US" altLang="zh-CN" dirty="0"/>
              <a:t>SIX = S + IX</a:t>
            </a:r>
            <a:r>
              <a:rPr lang="zh-CN" altLang="en-US" dirty="0"/>
              <a:t>。</a:t>
            </a:r>
          </a:p>
          <a:p>
            <a:pPr lvl="1" eaLnBrk="1" hangingPunct="1">
              <a:lnSpc>
                <a:spcPct val="120000"/>
              </a:lnSpc>
            </a:pPr>
            <a:endParaRPr lang="zh-CN" altLang="en-US" dirty="0"/>
          </a:p>
          <a:p>
            <a:pPr eaLnBrk="1" hangingPunct="1">
              <a:lnSpc>
                <a:spcPct val="120000"/>
              </a:lnSpc>
              <a:buNone/>
            </a:pPr>
            <a:r>
              <a:rPr lang="zh-CN" altLang="en-US" sz="2400" dirty="0"/>
              <a:t>    例：对某个表加</a:t>
            </a:r>
            <a:r>
              <a:rPr lang="en-US" altLang="zh-CN" sz="2400" dirty="0"/>
              <a:t>SIX</a:t>
            </a:r>
            <a:r>
              <a:rPr lang="zh-CN" altLang="en-US" sz="2400" dirty="0"/>
              <a:t>锁，则表示该事务要读整个表（所以要对该表加</a:t>
            </a:r>
            <a:r>
              <a:rPr lang="en-US" altLang="zh-CN" sz="2400" dirty="0"/>
              <a:t>S</a:t>
            </a:r>
            <a:r>
              <a:rPr lang="zh-CN" altLang="en-US" sz="2400" dirty="0"/>
              <a:t>锁），同时会更新个别元组（所以要对该表加</a:t>
            </a:r>
            <a:r>
              <a:rPr lang="en-US" altLang="zh-CN" sz="2400" dirty="0"/>
              <a:t>IX</a:t>
            </a:r>
            <a:r>
              <a:rPr lang="zh-CN" altLang="en-US" sz="2400" dirty="0"/>
              <a:t>锁）。</a:t>
            </a:r>
            <a:endParaRPr lang="zh-CN" alt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意向锁（续）</a:t>
            </a:r>
          </a:p>
        </p:txBody>
      </p:sp>
      <p:pic>
        <p:nvPicPr>
          <p:cNvPr id="113667" name="Picture 11" descr="未标题-3"/>
          <p:cNvPicPr>
            <a:picLocks noChangeAspect="1"/>
          </p:cNvPicPr>
          <p:nvPr/>
        </p:nvPicPr>
        <p:blipFill>
          <a:blip r:embed="rId2"/>
          <a:stretch>
            <a:fillRect/>
          </a:stretch>
        </p:blipFill>
        <p:spPr>
          <a:xfrm>
            <a:off x="335280" y="1844358"/>
            <a:ext cx="6624816" cy="3388171"/>
          </a:xfrm>
          <a:prstGeom prst="rect">
            <a:avLst/>
          </a:prstGeom>
          <a:noFill/>
          <a:ln w="9525">
            <a:noFill/>
          </a:ln>
        </p:spPr>
      </p:pic>
      <p:sp>
        <p:nvSpPr>
          <p:cNvPr id="113668" name="Text Box 12"/>
          <p:cNvSpPr txBox="1"/>
          <p:nvPr/>
        </p:nvSpPr>
        <p:spPr>
          <a:xfrm>
            <a:off x="2332038" y="1417638"/>
            <a:ext cx="18415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None/>
            </a:pPr>
            <a:endParaRPr lang="zh-CN" altLang="zh-CN" sz="1800" dirty="0">
              <a:latin typeface="Times New Roman" panose="02020603050405020304" pitchFamily="18" charset="0"/>
            </a:endParaRPr>
          </a:p>
        </p:txBody>
      </p:sp>
      <p:sp>
        <p:nvSpPr>
          <p:cNvPr id="113669" name="Text Box 13"/>
          <p:cNvSpPr txBox="1"/>
          <p:nvPr/>
        </p:nvSpPr>
        <p:spPr>
          <a:xfrm>
            <a:off x="1774825" y="1189038"/>
            <a:ext cx="26352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None/>
            </a:pPr>
            <a:r>
              <a:rPr lang="zh-CN" altLang="zh-CN" sz="2400" dirty="0">
                <a:solidFill>
                  <a:srgbClr val="3333FF"/>
                </a:solidFill>
                <a:latin typeface="Times New Roman" panose="02020603050405020304" pitchFamily="18" charset="0"/>
              </a:rPr>
              <a:t>意向锁的相容矩阵</a:t>
            </a:r>
          </a:p>
        </p:txBody>
      </p:sp>
      <p:sp>
        <p:nvSpPr>
          <p:cNvPr id="8" name="文本框 7"/>
          <p:cNvSpPr txBox="1"/>
          <p:nvPr/>
        </p:nvSpPr>
        <p:spPr>
          <a:xfrm>
            <a:off x="7104112" y="1878616"/>
            <a:ext cx="5087888" cy="1631216"/>
          </a:xfrm>
          <a:prstGeom prst="rect">
            <a:avLst/>
          </a:prstGeom>
          <a:noFill/>
        </p:spPr>
        <p:txBody>
          <a:bodyPr wrap="square" rtlCol="0" anchor="t">
            <a:spAutoFit/>
          </a:bodyPr>
          <a:lstStyle/>
          <a:p>
            <a:r>
              <a:rPr lang="en-US" altLang="zh-CN" sz="2000" dirty="0">
                <a:solidFill>
                  <a:srgbClr val="3333FF"/>
                </a:solidFill>
                <a:latin typeface="Times New Roman" panose="02020603050405020304" pitchFamily="18" charset="0"/>
                <a:sym typeface="+mn-ea"/>
              </a:rPr>
              <a:t>I* </a:t>
            </a:r>
            <a:r>
              <a:rPr lang="zh-CN" altLang="en-US" sz="2000" dirty="0">
                <a:solidFill>
                  <a:srgbClr val="3333FF"/>
                </a:solidFill>
                <a:latin typeface="Times New Roman" panose="02020603050405020304" pitchFamily="18" charset="0"/>
                <a:sym typeface="+mn-ea"/>
              </a:rPr>
              <a:t>与</a:t>
            </a:r>
            <a:r>
              <a:rPr lang="en-US" altLang="zh-CN" sz="2000" dirty="0">
                <a:solidFill>
                  <a:srgbClr val="3333FF"/>
                </a:solidFill>
                <a:latin typeface="Times New Roman" panose="02020603050405020304" pitchFamily="18" charset="0"/>
                <a:sym typeface="+mn-ea"/>
              </a:rPr>
              <a:t>I* </a:t>
            </a:r>
            <a:r>
              <a:rPr lang="zh-CN" altLang="en-US" sz="2000" dirty="0">
                <a:solidFill>
                  <a:srgbClr val="3333FF"/>
                </a:solidFill>
                <a:latin typeface="Times New Roman" panose="02020603050405020304" pitchFamily="18" charset="0"/>
                <a:sym typeface="+mn-ea"/>
              </a:rPr>
              <a:t>相容</a:t>
            </a:r>
            <a:r>
              <a:rPr lang="en-US" altLang="zh-CN" sz="2000" dirty="0">
                <a:solidFill>
                  <a:srgbClr val="3333FF"/>
                </a:solidFill>
                <a:latin typeface="Times New Roman" panose="02020603050405020304" pitchFamily="18" charset="0"/>
                <a:sym typeface="+mn-ea"/>
              </a:rPr>
              <a:t>: </a:t>
            </a:r>
            <a:r>
              <a:rPr lang="zh-CN" altLang="en-US" sz="2000" dirty="0">
                <a:solidFill>
                  <a:srgbClr val="3333FF"/>
                </a:solidFill>
                <a:latin typeface="Times New Roman" panose="02020603050405020304" pitchFamily="18" charset="0"/>
                <a:sym typeface="+mn-ea"/>
              </a:rPr>
              <a:t>当前节点并未真正加锁</a:t>
            </a:r>
            <a:r>
              <a:rPr lang="en-US" altLang="zh-CN" sz="2000" dirty="0">
                <a:solidFill>
                  <a:srgbClr val="3333FF"/>
                </a:solidFill>
                <a:latin typeface="Times New Roman" panose="02020603050405020304" pitchFamily="18" charset="0"/>
                <a:sym typeface="+mn-ea"/>
              </a:rPr>
              <a:t> </a:t>
            </a:r>
            <a:endParaRPr lang="zh-CN" altLang="en-US" sz="2000" dirty="0">
              <a:solidFill>
                <a:srgbClr val="3333FF"/>
              </a:solidFill>
              <a:latin typeface="Times New Roman" panose="02020603050405020304" pitchFamily="18" charset="0"/>
              <a:sym typeface="+mn-ea"/>
            </a:endParaRPr>
          </a:p>
          <a:p>
            <a:r>
              <a:rPr lang="en-US" altLang="zh-CN" sz="2000" dirty="0">
                <a:solidFill>
                  <a:srgbClr val="3333FF"/>
                </a:solidFill>
                <a:latin typeface="Times New Roman" panose="02020603050405020304" pitchFamily="18" charset="0"/>
                <a:sym typeface="+mn-ea"/>
              </a:rPr>
              <a:t>X</a:t>
            </a:r>
            <a:r>
              <a:rPr lang="zh-CN" altLang="en-US" sz="2000" dirty="0">
                <a:solidFill>
                  <a:srgbClr val="3333FF"/>
                </a:solidFill>
                <a:latin typeface="Times New Roman" panose="02020603050405020304" pitchFamily="18" charset="0"/>
                <a:sym typeface="+mn-ea"/>
              </a:rPr>
              <a:t>与所有锁不相容</a:t>
            </a:r>
          </a:p>
          <a:p>
            <a:r>
              <a:rPr lang="en-US" altLang="zh-CN" sz="2000" dirty="0">
                <a:solidFill>
                  <a:srgbClr val="3333FF"/>
                </a:solidFill>
                <a:latin typeface="Times New Roman" panose="02020603050405020304" pitchFamily="18" charset="0"/>
                <a:sym typeface="+mn-ea"/>
              </a:rPr>
              <a:t>S</a:t>
            </a:r>
            <a:r>
              <a:rPr lang="zh-CN" altLang="en-US" sz="2000" dirty="0">
                <a:solidFill>
                  <a:srgbClr val="3333FF"/>
                </a:solidFill>
                <a:latin typeface="Times New Roman" panose="02020603050405020304" pitchFamily="18" charset="0"/>
                <a:sym typeface="+mn-ea"/>
              </a:rPr>
              <a:t>与</a:t>
            </a:r>
            <a:r>
              <a:rPr lang="en-US" altLang="zh-CN" sz="2000" dirty="0">
                <a:solidFill>
                  <a:srgbClr val="3333FF"/>
                </a:solidFill>
                <a:latin typeface="Times New Roman" panose="02020603050405020304" pitchFamily="18" charset="0"/>
                <a:sym typeface="+mn-ea"/>
              </a:rPr>
              <a:t>IX</a:t>
            </a:r>
            <a:r>
              <a:rPr lang="zh-CN" altLang="en-US" sz="2000" dirty="0">
                <a:solidFill>
                  <a:srgbClr val="3333FF"/>
                </a:solidFill>
                <a:latin typeface="Times New Roman" panose="02020603050405020304" pitchFamily="18" charset="0"/>
                <a:sym typeface="+mn-ea"/>
              </a:rPr>
              <a:t>不相容：在当前节点的某个下级节点同时存在</a:t>
            </a:r>
            <a:r>
              <a:rPr lang="en-US" altLang="zh-CN" sz="2000" dirty="0">
                <a:solidFill>
                  <a:srgbClr val="3333FF"/>
                </a:solidFill>
                <a:latin typeface="Times New Roman" panose="02020603050405020304" pitchFamily="18" charset="0"/>
                <a:sym typeface="+mn-ea"/>
              </a:rPr>
              <a:t>S</a:t>
            </a:r>
            <a:r>
              <a:rPr lang="zh-CN" altLang="en-US" sz="2000" dirty="0">
                <a:solidFill>
                  <a:srgbClr val="3333FF"/>
                </a:solidFill>
                <a:latin typeface="Times New Roman" panose="02020603050405020304" pitchFamily="18" charset="0"/>
                <a:sym typeface="+mn-ea"/>
              </a:rPr>
              <a:t>和</a:t>
            </a:r>
            <a:r>
              <a:rPr lang="en-US" altLang="zh-CN" sz="2000" dirty="0">
                <a:solidFill>
                  <a:srgbClr val="3333FF"/>
                </a:solidFill>
                <a:latin typeface="Times New Roman" panose="02020603050405020304" pitchFamily="18" charset="0"/>
                <a:sym typeface="+mn-ea"/>
              </a:rPr>
              <a:t>X</a:t>
            </a:r>
          </a:p>
          <a:p>
            <a:r>
              <a:rPr lang="en-US" altLang="zh-CN" sz="2000" dirty="0">
                <a:solidFill>
                  <a:srgbClr val="3333FF"/>
                </a:solidFill>
                <a:latin typeface="Times New Roman" panose="02020603050405020304" pitchFamily="18" charset="0"/>
                <a:sym typeface="+mn-ea"/>
              </a:rPr>
              <a:t>SIX </a:t>
            </a:r>
            <a:r>
              <a:rPr lang="zh-CN" altLang="en-US" sz="2000" dirty="0">
                <a:solidFill>
                  <a:srgbClr val="3333FF"/>
                </a:solidFill>
                <a:latin typeface="Times New Roman" panose="02020603050405020304" pitchFamily="18" charset="0"/>
                <a:sym typeface="+mn-ea"/>
              </a:rPr>
              <a:t>与</a:t>
            </a:r>
            <a:r>
              <a:rPr lang="en-US" altLang="zh-CN" sz="2000" dirty="0">
                <a:solidFill>
                  <a:srgbClr val="3333FF"/>
                </a:solidFill>
                <a:latin typeface="Times New Roman" panose="02020603050405020304" pitchFamily="18" charset="0"/>
                <a:sym typeface="+mn-ea"/>
              </a:rPr>
              <a:t> *</a:t>
            </a:r>
            <a:r>
              <a:rPr lang="zh-CN" altLang="en-US" sz="2000" dirty="0">
                <a:solidFill>
                  <a:srgbClr val="3333FF"/>
                </a:solidFill>
                <a:latin typeface="Times New Roman" panose="02020603050405020304" pitchFamily="18" charset="0"/>
                <a:sym typeface="+mn-ea"/>
              </a:rPr>
              <a:t>相容：当且仅当</a:t>
            </a:r>
            <a:r>
              <a:rPr lang="en-US" altLang="zh-CN" sz="2000" dirty="0">
                <a:solidFill>
                  <a:srgbClr val="3333FF"/>
                </a:solidFill>
                <a:latin typeface="Times New Roman" panose="02020603050405020304" pitchFamily="18" charset="0"/>
                <a:sym typeface="+mn-ea"/>
              </a:rPr>
              <a:t>  S</a:t>
            </a:r>
            <a:r>
              <a:rPr lang="zh-CN" altLang="en-US" sz="2000" dirty="0">
                <a:solidFill>
                  <a:srgbClr val="3333FF"/>
                </a:solidFill>
                <a:latin typeface="Times New Roman" panose="02020603050405020304" pitchFamily="18" charset="0"/>
                <a:sym typeface="+mn-ea"/>
              </a:rPr>
              <a:t>和</a:t>
            </a:r>
            <a:r>
              <a:rPr lang="en-US" altLang="zh-CN" sz="2000" dirty="0">
                <a:solidFill>
                  <a:srgbClr val="3333FF"/>
                </a:solidFill>
                <a:latin typeface="Times New Roman" panose="02020603050405020304" pitchFamily="18" charset="0"/>
                <a:sym typeface="+mn-ea"/>
              </a:rPr>
              <a:t>IX</a:t>
            </a:r>
            <a:r>
              <a:rPr lang="zh-CN" altLang="en-US" sz="2000" dirty="0">
                <a:solidFill>
                  <a:srgbClr val="3333FF"/>
                </a:solidFill>
                <a:latin typeface="Times New Roman" panose="02020603050405020304" pitchFamily="18" charset="0"/>
                <a:sym typeface="+mn-ea"/>
              </a:rPr>
              <a:t>均与</a:t>
            </a:r>
            <a:r>
              <a:rPr lang="en-US" altLang="zh-CN" sz="2000" dirty="0">
                <a:solidFill>
                  <a:srgbClr val="3333FF"/>
                </a:solidFill>
                <a:latin typeface="Times New Roman" panose="02020603050405020304" pitchFamily="18" charset="0"/>
                <a:sym typeface="+mn-ea"/>
              </a:rPr>
              <a:t>*</a:t>
            </a:r>
            <a:r>
              <a:rPr lang="zh-CN" altLang="en-US" sz="2000" dirty="0">
                <a:solidFill>
                  <a:srgbClr val="3333FF"/>
                </a:solidFill>
                <a:latin typeface="Times New Roman" panose="02020603050405020304" pitchFamily="18" charset="0"/>
                <a:sym typeface="+mn-ea"/>
              </a:rPr>
              <a:t>相容</a:t>
            </a:r>
            <a:r>
              <a:rPr lang="en-US" altLang="zh-CN" sz="2000" dirty="0">
                <a:solidFill>
                  <a:srgbClr val="3333FF"/>
                </a:solidFill>
                <a:latin typeface="Times New Roman" panose="02020603050405020304" pitchFamily="18" charset="0"/>
                <a:sym typeface="+mn-ea"/>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意向锁（续）</a:t>
            </a:r>
          </a:p>
        </p:txBody>
      </p:sp>
      <p:sp>
        <p:nvSpPr>
          <p:cNvPr id="114691" name="Rectangle 3"/>
          <p:cNvSpPr>
            <a:spLocks noGrp="1"/>
          </p:cNvSpPr>
          <p:nvPr>
            <p:ph type="body" sz="half"/>
          </p:nvPr>
        </p:nvSpPr>
        <p:spPr>
          <a:xfrm>
            <a:off x="623888" y="1412875"/>
            <a:ext cx="5976937" cy="4495800"/>
          </a:xfrm>
        </p:spPr>
        <p:txBody>
          <a:bodyPr vert="horz" wrap="square" lIns="91440" tIns="45720" rIns="91440" bIns="45720" anchor="t" anchorCtr="0"/>
          <a:lstStyle>
            <a:lvl1pPr lvl="0">
              <a:buClrTx/>
              <a:buSzPct val="100000"/>
              <a:buFont typeface="Wingdings" panose="05000000000000000000" pitchFamily="2" charset="2"/>
              <a:defRPr sz="2400"/>
            </a:lvl1pPr>
            <a:lvl2pPr lvl="1">
              <a:buClrTx/>
              <a:buSzPct val="100000"/>
              <a:buFont typeface="Wingdings" panose="05000000000000000000" pitchFamily="2" charset="2"/>
              <a:defRPr sz="2000"/>
            </a:lvl2pPr>
            <a:lvl3pPr lvl="2">
              <a:buClrTx/>
              <a:buSzTx/>
              <a:buFont typeface="Arial" panose="020B0604020202020204" pitchFamily="34" charset="0"/>
              <a:defRPr sz="1800"/>
            </a:lvl3pPr>
            <a:lvl4pPr lvl="3">
              <a:buClrTx/>
              <a:buSzTx/>
              <a:buFont typeface="Arial" panose="020B0604020202020204" pitchFamily="34" charset="0"/>
              <a:defRPr sz="1800"/>
            </a:lvl4pPr>
            <a:lvl5pPr lvl="4">
              <a:buClrTx/>
              <a:buSzTx/>
              <a:buFont typeface="Arial" panose="020B0604020202020204" pitchFamily="34" charset="0"/>
              <a:defRPr sz="1800"/>
            </a:lvl5pPr>
          </a:lstStyle>
          <a:p>
            <a:pPr lvl="0" eaLnBrk="1" hangingPunct="1">
              <a:lnSpc>
                <a:spcPct val="180000"/>
              </a:lnSpc>
            </a:pPr>
            <a:r>
              <a:rPr lang="zh-CN" altLang="zh-CN" sz="2800" dirty="0"/>
              <a:t>锁的强度</a:t>
            </a:r>
          </a:p>
          <a:p>
            <a:pPr lvl="1" eaLnBrk="1" hangingPunct="1">
              <a:lnSpc>
                <a:spcPct val="180000"/>
              </a:lnSpc>
            </a:pPr>
            <a:r>
              <a:rPr lang="zh-CN" altLang="zh-CN" sz="2400" dirty="0"/>
              <a:t>锁的强度是指它对其他锁的排斥程度</a:t>
            </a:r>
          </a:p>
          <a:p>
            <a:pPr lvl="1" eaLnBrk="1" hangingPunct="1">
              <a:lnSpc>
                <a:spcPct val="180000"/>
              </a:lnSpc>
            </a:pPr>
            <a:r>
              <a:rPr lang="zh-CN" altLang="zh-CN" sz="2400" dirty="0"/>
              <a:t>一个事务在申请封锁时以强锁代替弱锁是安全的，反之则不然</a:t>
            </a:r>
          </a:p>
        </p:txBody>
      </p:sp>
      <p:graphicFrame>
        <p:nvGraphicFramePr>
          <p:cNvPr id="114692" name="Object 21"/>
          <p:cNvGraphicFramePr>
            <a:graphicFrameLocks noGrp="1" noChangeAspect="1"/>
          </p:cNvGraphicFramePr>
          <p:nvPr>
            <p:ph sz="half" idx="1"/>
          </p:nvPr>
        </p:nvGraphicFramePr>
        <p:xfrm>
          <a:off x="7319963" y="1341438"/>
          <a:ext cx="3084512" cy="4495800"/>
        </p:xfrm>
        <a:graphic>
          <a:graphicData uri="http://schemas.openxmlformats.org/presentationml/2006/ole">
            <mc:AlternateContent xmlns:mc="http://schemas.openxmlformats.org/markup-compatibility/2006">
              <mc:Choice xmlns:v="urn:schemas-microsoft-com:vml" Requires="v">
                <p:oleObj spid="_x0000_s4099" r:id="rId3" imgW="10160000" imgH="14808200" progId="Photoshop.Image.7">
                  <p:embed/>
                </p:oleObj>
              </mc:Choice>
              <mc:Fallback>
                <p:oleObj r:id="rId3" imgW="10160000" imgH="14808200" progId="Photoshop.Image.7">
                  <p:embed/>
                  <p:pic>
                    <p:nvPicPr>
                      <p:cNvPr id="0" name="图片 3075"/>
                      <p:cNvPicPr/>
                      <p:nvPr/>
                    </p:nvPicPr>
                    <p:blipFill>
                      <a:blip r:embed="rId4"/>
                      <a:srcRect/>
                      <a:stretch>
                        <a:fillRect/>
                      </a:stretch>
                    </p:blipFill>
                    <p:spPr>
                      <a:xfrm>
                        <a:off x="7319963" y="1341438"/>
                        <a:ext cx="3084512" cy="4495800"/>
                      </a:xfrm>
                      <a:prstGeom prst="rect">
                        <a:avLst/>
                      </a:prstGeom>
                      <a:noFill/>
                      <a:ln w="38100">
                        <a:miter/>
                      </a:ln>
                    </p:spPr>
                  </p:pic>
                </p:oleObj>
              </mc:Fallback>
            </mc:AlternateContent>
          </a:graphicData>
        </a:graphic>
      </p:graphicFrame>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意向锁（续）</a:t>
            </a:r>
          </a:p>
        </p:txBody>
      </p:sp>
      <p:sp>
        <p:nvSpPr>
          <p:cNvPr id="115715" name="Rectangle 3"/>
          <p:cNvSpPr>
            <a:spLocks noGrp="1"/>
          </p:cNvSpPr>
          <p:nvPr>
            <p:ph type="body"/>
          </p:nvPr>
        </p:nvSpPr>
        <p:spPr>
          <a:xfrm>
            <a:off x="982663" y="1196975"/>
            <a:ext cx="10298112" cy="4841875"/>
          </a:xfrm>
        </p:spPr>
        <p:txBody>
          <a:bodyPr vert="horz" wrap="square" lIns="91440" tIns="45720" rIns="91440" bIns="45720" anchor="t" anchorCtr="0"/>
          <a:lstStyle/>
          <a:p>
            <a:pPr eaLnBrk="1" hangingPunct="1">
              <a:lnSpc>
                <a:spcPct val="130000"/>
              </a:lnSpc>
            </a:pPr>
            <a:r>
              <a:rPr lang="zh-CN" altLang="en-US" dirty="0"/>
              <a:t>具有意向锁的多粒度封锁方法</a:t>
            </a:r>
          </a:p>
          <a:p>
            <a:pPr marL="819150" lvl="1" eaLnBrk="1" hangingPunct="1">
              <a:lnSpc>
                <a:spcPct val="150000"/>
              </a:lnSpc>
              <a:spcBef>
                <a:spcPct val="0"/>
              </a:spcBef>
            </a:pPr>
            <a:r>
              <a:rPr lang="zh-CN" altLang="en-US" dirty="0"/>
              <a:t>申请封锁时应该按自上而下的次序进行</a:t>
            </a:r>
          </a:p>
          <a:p>
            <a:pPr marL="819150" lvl="1" eaLnBrk="1" hangingPunct="1">
              <a:lnSpc>
                <a:spcPct val="150000"/>
              </a:lnSpc>
              <a:spcBef>
                <a:spcPct val="0"/>
              </a:spcBef>
            </a:pPr>
            <a:r>
              <a:rPr lang="zh-CN" altLang="en-US" dirty="0"/>
              <a:t>释放封锁时则应该按自下而上的次序进行</a:t>
            </a:r>
          </a:p>
          <a:p>
            <a:pPr eaLnBrk="1" hangingPunct="1">
              <a:lnSpc>
                <a:spcPct val="130000"/>
              </a:lnSpc>
              <a:spcBef>
                <a:spcPct val="60000"/>
              </a:spcBef>
              <a:buNone/>
            </a:pPr>
            <a:r>
              <a:rPr lang="zh-CN" altLang="en-US" sz="2400" dirty="0"/>
              <a:t>   例如：事务</a:t>
            </a:r>
            <a:r>
              <a:rPr lang="en-US" altLang="zh-CN" sz="2400" dirty="0"/>
              <a:t>T</a:t>
            </a:r>
            <a:r>
              <a:rPr lang="en-US" altLang="zh-CN" sz="2400" baseline="-25000" dirty="0"/>
              <a:t>1</a:t>
            </a:r>
            <a:r>
              <a:rPr lang="zh-CN" altLang="en-US" sz="2400" dirty="0"/>
              <a:t>要对关系</a:t>
            </a:r>
            <a:r>
              <a:rPr lang="en-US" altLang="zh-CN" sz="2400" i="1" dirty="0"/>
              <a:t>R</a:t>
            </a:r>
            <a:r>
              <a:rPr lang="en-US" altLang="zh-CN" sz="2400" baseline="-25000" dirty="0"/>
              <a:t>1</a:t>
            </a:r>
            <a:r>
              <a:rPr lang="zh-CN" altLang="en-US" sz="2400" dirty="0"/>
              <a:t>加</a:t>
            </a:r>
            <a:r>
              <a:rPr lang="en-US" altLang="zh-CN" sz="2400" dirty="0"/>
              <a:t>S</a:t>
            </a:r>
            <a:r>
              <a:rPr lang="zh-CN" altLang="en-US" sz="2400" dirty="0"/>
              <a:t>锁</a:t>
            </a:r>
          </a:p>
          <a:p>
            <a:pPr marL="819150" lvl="1" eaLnBrk="1" hangingPunct="1">
              <a:lnSpc>
                <a:spcPct val="150000"/>
              </a:lnSpc>
              <a:spcBef>
                <a:spcPct val="0"/>
              </a:spcBef>
            </a:pPr>
            <a:r>
              <a:rPr lang="zh-CN" altLang="en-US" dirty="0"/>
              <a:t>要首先对数据库加</a:t>
            </a:r>
            <a:r>
              <a:rPr lang="en-US" altLang="zh-CN" dirty="0"/>
              <a:t>IS</a:t>
            </a:r>
            <a:r>
              <a:rPr lang="zh-CN" altLang="en-US" dirty="0"/>
              <a:t>锁</a:t>
            </a:r>
          </a:p>
          <a:p>
            <a:pPr marL="819150" lvl="1" eaLnBrk="1" hangingPunct="1">
              <a:lnSpc>
                <a:spcPct val="150000"/>
              </a:lnSpc>
              <a:spcBef>
                <a:spcPct val="0"/>
              </a:spcBef>
            </a:pPr>
            <a:r>
              <a:rPr lang="zh-CN" altLang="en-US" dirty="0"/>
              <a:t>检查数据库和</a:t>
            </a:r>
            <a:r>
              <a:rPr lang="en-US" altLang="zh-CN" i="1" dirty="0"/>
              <a:t>R</a:t>
            </a:r>
            <a:r>
              <a:rPr lang="en-US" altLang="zh-CN" baseline="-25000" dirty="0"/>
              <a:t>1</a:t>
            </a:r>
            <a:r>
              <a:rPr lang="zh-CN" altLang="en-US" dirty="0"/>
              <a:t>是否已加了不相容的锁</a:t>
            </a:r>
            <a:r>
              <a:rPr lang="en-US" altLang="zh-CN" dirty="0"/>
              <a:t>(X</a:t>
            </a:r>
            <a:r>
              <a:rPr lang="zh-CN" altLang="en-US" dirty="0"/>
              <a:t>或</a:t>
            </a:r>
            <a:r>
              <a:rPr lang="en-US" altLang="zh-CN" dirty="0"/>
              <a:t>IX)</a:t>
            </a:r>
          </a:p>
          <a:p>
            <a:pPr marL="819150" lvl="1" eaLnBrk="1" hangingPunct="1">
              <a:lnSpc>
                <a:spcPct val="150000"/>
              </a:lnSpc>
              <a:spcBef>
                <a:spcPct val="0"/>
              </a:spcBef>
            </a:pPr>
            <a:r>
              <a:rPr lang="zh-CN" altLang="en-US" dirty="0"/>
              <a:t>不再需要搜索和检查</a:t>
            </a:r>
            <a:r>
              <a:rPr lang="en-US" altLang="zh-CN" i="1" dirty="0"/>
              <a:t>R</a:t>
            </a:r>
            <a:r>
              <a:rPr lang="en-US" altLang="zh-CN" baseline="-25000" dirty="0"/>
              <a:t>1</a:t>
            </a:r>
            <a:r>
              <a:rPr lang="zh-CN" altLang="en-US" dirty="0"/>
              <a:t>中的元组是否加了不相容的锁</a:t>
            </a:r>
            <a:r>
              <a:rPr lang="en-US" altLang="zh-CN" dirty="0"/>
              <a:t>(X</a:t>
            </a:r>
            <a:r>
              <a:rPr lang="zh-CN" altLang="en-US" dirty="0"/>
              <a:t>锁</a:t>
            </a:r>
            <a:r>
              <a:rPr lang="en-US" altLang="zh-CN" dirty="0"/>
              <a:t>) </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zh-CN" sz="3600" dirty="0"/>
              <a:t>意向锁（续）</a:t>
            </a:r>
          </a:p>
        </p:txBody>
      </p:sp>
      <p:sp>
        <p:nvSpPr>
          <p:cNvPr id="116739" name="Rectangle 3"/>
          <p:cNvSpPr>
            <a:spLocks noGrp="1"/>
          </p:cNvSpPr>
          <p:nvPr>
            <p:ph type="body"/>
          </p:nvPr>
        </p:nvSpPr>
        <p:spPr>
          <a:xfrm>
            <a:off x="1487488" y="1341438"/>
            <a:ext cx="9288462" cy="5199062"/>
          </a:xfrm>
        </p:spPr>
        <p:txBody>
          <a:bodyPr vert="horz" wrap="square" lIns="91440" tIns="45720" rIns="91440" bIns="45720" anchor="t" anchorCtr="0"/>
          <a:lstStyle/>
          <a:p>
            <a:pPr eaLnBrk="1" hangingPunct="1">
              <a:lnSpc>
                <a:spcPct val="160000"/>
              </a:lnSpc>
            </a:pPr>
            <a:r>
              <a:rPr lang="zh-CN" altLang="en-US" dirty="0"/>
              <a:t>具有意向锁的多粒度封锁方法</a:t>
            </a:r>
          </a:p>
          <a:p>
            <a:pPr lvl="1" eaLnBrk="1" hangingPunct="1">
              <a:lnSpc>
                <a:spcPct val="160000"/>
              </a:lnSpc>
            </a:pPr>
            <a:r>
              <a:rPr lang="zh-CN" altLang="en-US" dirty="0"/>
              <a:t>提高了系统的并发度</a:t>
            </a:r>
          </a:p>
          <a:p>
            <a:pPr lvl="1" eaLnBrk="1" hangingPunct="1">
              <a:lnSpc>
                <a:spcPct val="160000"/>
              </a:lnSpc>
            </a:pPr>
            <a:r>
              <a:rPr lang="zh-CN" altLang="en-US" dirty="0"/>
              <a:t>减少了加锁和解锁的开销</a:t>
            </a:r>
          </a:p>
          <a:p>
            <a:pPr lvl="1" eaLnBrk="1" hangingPunct="1">
              <a:lnSpc>
                <a:spcPct val="160000"/>
              </a:lnSpc>
            </a:pPr>
            <a:r>
              <a:rPr lang="zh-CN" altLang="en-US" dirty="0"/>
              <a:t>在实际的数据库管理系统产品中得到广泛应用 </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p:cNvSpPr>
          <p:nvPr>
            <p:ph type="title"/>
          </p:nvPr>
        </p:nvSpPr>
        <p:spPr>
          <a:xfrm>
            <a:off x="2438400" y="184150"/>
            <a:ext cx="7391400" cy="563563"/>
          </a:xfrm>
        </p:spPr>
        <p:txBody>
          <a:bodyPr vert="horz" wrap="square" lIns="91440" tIns="45720" rIns="91440" bIns="45720" anchor="ctr" anchorCtr="0"/>
          <a:lstStyle/>
          <a:p>
            <a:pPr eaLnBrk="1" hangingPunct="1"/>
            <a:r>
              <a:rPr lang="zh-CN" altLang="zh-CN" sz="3600" dirty="0"/>
              <a:t>第十</a:t>
            </a:r>
            <a:r>
              <a:rPr lang="zh-CN" altLang="en-US" sz="3600" dirty="0"/>
              <a:t>二</a:t>
            </a:r>
            <a:r>
              <a:rPr lang="zh-CN" altLang="zh-CN" sz="3600" dirty="0"/>
              <a:t>章  并发控制</a:t>
            </a:r>
          </a:p>
        </p:txBody>
      </p:sp>
      <p:sp>
        <p:nvSpPr>
          <p:cNvPr id="117763" name="Rectangle 3"/>
          <p:cNvSpPr>
            <a:spLocks noGrp="1"/>
          </p:cNvSpPr>
          <p:nvPr>
            <p:ph type="body"/>
          </p:nvPr>
        </p:nvSpPr>
        <p:spPr>
          <a:xfrm>
            <a:off x="1416050" y="973138"/>
            <a:ext cx="7715250" cy="5111750"/>
          </a:xfrm>
        </p:spPr>
        <p:txBody>
          <a:bodyPr vert="horz" wrap="square" lIns="91440" tIns="45720" rIns="91440" bIns="45720" anchor="t" anchorCtr="0"/>
          <a:lstStyle/>
          <a:p>
            <a:pPr marL="0" indent="0" algn="just" eaLnBrk="1" hangingPunct="1">
              <a:lnSpc>
                <a:spcPct val="130000"/>
              </a:lnSpc>
              <a:buNone/>
            </a:pPr>
            <a:r>
              <a:rPr lang="en-US" altLang="zh-CN" sz="2400" dirty="0"/>
              <a:t>12.1  </a:t>
            </a:r>
            <a:r>
              <a:rPr lang="zh-CN" altLang="en-US" sz="2400" dirty="0"/>
              <a:t>并发控制概述</a:t>
            </a:r>
          </a:p>
          <a:p>
            <a:pPr marL="0" indent="0" algn="just" eaLnBrk="1" hangingPunct="1">
              <a:lnSpc>
                <a:spcPct val="130000"/>
              </a:lnSpc>
              <a:buNone/>
            </a:pPr>
            <a:r>
              <a:rPr lang="en-US" altLang="zh-CN" sz="2400" dirty="0"/>
              <a:t>12.2  </a:t>
            </a:r>
            <a:r>
              <a:rPr lang="zh-CN" altLang="en-US" sz="2400" dirty="0"/>
              <a:t>事务的隔离级别</a:t>
            </a:r>
            <a:endParaRPr lang="en-US" altLang="zh-CN" sz="2400" dirty="0"/>
          </a:p>
          <a:p>
            <a:pPr marL="0" indent="0" algn="just" eaLnBrk="1" hangingPunct="1">
              <a:lnSpc>
                <a:spcPct val="130000"/>
              </a:lnSpc>
              <a:buNone/>
            </a:pPr>
            <a:r>
              <a:rPr lang="en-US" altLang="zh-CN" sz="2400" dirty="0"/>
              <a:t>12.3  </a:t>
            </a:r>
            <a:r>
              <a:rPr lang="zh-CN" altLang="en-US" sz="2400" dirty="0"/>
              <a:t>封锁</a:t>
            </a:r>
            <a:endParaRPr lang="en-US" altLang="zh-CN" sz="2400" dirty="0"/>
          </a:p>
          <a:p>
            <a:pPr marL="0" indent="0" algn="just" eaLnBrk="1" hangingPunct="1">
              <a:lnSpc>
                <a:spcPct val="130000"/>
              </a:lnSpc>
              <a:buNone/>
            </a:pPr>
            <a:r>
              <a:rPr lang="en-US" altLang="zh-CN" sz="2400" dirty="0"/>
              <a:t>12.4 </a:t>
            </a:r>
            <a:r>
              <a:rPr lang="zh-CN" altLang="en-US" sz="2400" dirty="0"/>
              <a:t> 封锁协议</a:t>
            </a:r>
          </a:p>
          <a:p>
            <a:pPr marL="0" indent="0" algn="just" eaLnBrk="1" hangingPunct="1">
              <a:lnSpc>
                <a:spcPct val="130000"/>
              </a:lnSpc>
              <a:buNone/>
            </a:pPr>
            <a:r>
              <a:rPr lang="en-US" altLang="zh-CN" sz="2400" dirty="0"/>
              <a:t>12.5  </a:t>
            </a:r>
            <a:r>
              <a:rPr lang="zh-CN" altLang="en-US" sz="2400" dirty="0"/>
              <a:t>活锁和死锁</a:t>
            </a:r>
          </a:p>
          <a:p>
            <a:pPr marL="0" indent="0" algn="just" eaLnBrk="1" hangingPunct="1">
              <a:lnSpc>
                <a:spcPct val="130000"/>
              </a:lnSpc>
              <a:buNone/>
            </a:pPr>
            <a:r>
              <a:rPr lang="en-US" altLang="zh-CN" sz="2400" dirty="0"/>
              <a:t>12.6  </a:t>
            </a:r>
            <a:r>
              <a:rPr lang="zh-CN" altLang="en-US" sz="2400" dirty="0"/>
              <a:t>并发调度的可串行性</a:t>
            </a:r>
          </a:p>
          <a:p>
            <a:pPr marL="0" indent="0" algn="just" eaLnBrk="1" hangingPunct="1">
              <a:lnSpc>
                <a:spcPct val="130000"/>
              </a:lnSpc>
              <a:buNone/>
            </a:pPr>
            <a:r>
              <a:rPr lang="en-US" altLang="zh-CN" sz="2400" dirty="0"/>
              <a:t>12.7  </a:t>
            </a:r>
            <a:r>
              <a:rPr lang="zh-CN" altLang="en-US" sz="2400" dirty="0"/>
              <a:t>两段锁协议</a:t>
            </a:r>
          </a:p>
          <a:p>
            <a:pPr marL="0" indent="0" algn="just" eaLnBrk="1" hangingPunct="1">
              <a:lnSpc>
                <a:spcPct val="130000"/>
              </a:lnSpc>
              <a:buNone/>
            </a:pPr>
            <a:r>
              <a:rPr lang="en-US" altLang="zh-CN" sz="2400" dirty="0"/>
              <a:t>12.8  </a:t>
            </a:r>
            <a:r>
              <a:rPr lang="zh-CN" altLang="en-US" sz="2400" dirty="0"/>
              <a:t>封锁的粒度</a:t>
            </a:r>
          </a:p>
          <a:p>
            <a:pPr marL="0" indent="0" algn="just" eaLnBrk="1" hangingPunct="1">
              <a:lnSpc>
                <a:spcPct val="130000"/>
              </a:lnSpc>
              <a:buNone/>
            </a:pPr>
            <a:r>
              <a:rPr lang="zh-CN" altLang="en-US" sz="2400" dirty="0">
                <a:solidFill>
                  <a:srgbClr val="0066FF"/>
                </a:solidFill>
              </a:rPr>
              <a:t>*</a:t>
            </a:r>
            <a:r>
              <a:rPr lang="en-US" altLang="zh-CN" sz="2400" dirty="0">
                <a:solidFill>
                  <a:srgbClr val="0066FF"/>
                </a:solidFill>
              </a:rPr>
              <a:t>12.9  </a:t>
            </a:r>
            <a:r>
              <a:rPr lang="zh-CN" altLang="en-US" sz="2400" dirty="0">
                <a:solidFill>
                  <a:srgbClr val="0066FF"/>
                </a:solidFill>
              </a:rPr>
              <a:t>其他并发控制机制</a:t>
            </a:r>
          </a:p>
          <a:p>
            <a:pPr marL="0" indent="0" algn="just" eaLnBrk="1" hangingPunct="1">
              <a:lnSpc>
                <a:spcPct val="130000"/>
              </a:lnSpc>
              <a:buNone/>
            </a:pPr>
            <a:r>
              <a:rPr lang="zh-CN" altLang="en-US" sz="2400" dirty="0"/>
              <a:t>1</a:t>
            </a:r>
            <a:r>
              <a:rPr lang="en-US" altLang="zh-CN" sz="2400" dirty="0"/>
              <a:t>2</a:t>
            </a:r>
            <a:r>
              <a:rPr lang="zh-CN" altLang="en-US" sz="2400" dirty="0"/>
              <a:t>.</a:t>
            </a:r>
            <a:r>
              <a:rPr lang="en-US" altLang="zh-CN" sz="2400" dirty="0"/>
              <a:t>10</a:t>
            </a:r>
            <a:r>
              <a:rPr lang="zh-CN" altLang="en-US" sz="2400" dirty="0"/>
              <a:t>  小结</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
          <p:cNvSpPr txBox="1"/>
          <p:nvPr/>
        </p:nvSpPr>
        <p:spPr>
          <a:xfrm>
            <a:off x="2438400" y="255588"/>
            <a:ext cx="7391400" cy="563562"/>
          </a:xfrm>
          <a:prstGeom prst="rect">
            <a:avLst/>
          </a:prstGeom>
          <a:noFill/>
          <a:ln w="9525">
            <a:noFill/>
          </a:ln>
        </p:spPr>
        <p:txBody>
          <a:bodyPr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SzTx/>
              <a:buFont typeface="Arial" panose="020B0604020202020204" pitchFamily="34" charset="0"/>
              <a:buNone/>
            </a:pPr>
            <a:r>
              <a:rPr lang="en-US" altLang="zh-CN" sz="3600" dirty="0">
                <a:solidFill>
                  <a:schemeClr val="bg1"/>
                </a:solidFill>
              </a:rPr>
              <a:t>11.8 </a:t>
            </a:r>
            <a:r>
              <a:rPr lang="zh-CN" altLang="en-US" sz="3600" dirty="0">
                <a:solidFill>
                  <a:schemeClr val="bg1"/>
                </a:solidFill>
              </a:rPr>
              <a:t>其他并发控制机制</a:t>
            </a:r>
          </a:p>
        </p:txBody>
      </p:sp>
      <p:sp>
        <p:nvSpPr>
          <p:cNvPr id="118787" name="内容占位符 2"/>
          <p:cNvSpPr txBox="1"/>
          <p:nvPr/>
        </p:nvSpPr>
        <p:spPr>
          <a:xfrm>
            <a:off x="1558925" y="1341438"/>
            <a:ext cx="9866313" cy="449580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r>
              <a:rPr lang="zh-CN" altLang="en-US" dirty="0"/>
              <a:t>其他并发控制方法</a:t>
            </a:r>
          </a:p>
          <a:p>
            <a:pPr marL="742950" lvl="1" indent="-285750">
              <a:lnSpc>
                <a:spcPct val="150000"/>
              </a:lnSpc>
            </a:pPr>
            <a:r>
              <a:rPr lang="zh-CN" altLang="en-US" dirty="0"/>
              <a:t>时间戳方法</a:t>
            </a:r>
          </a:p>
          <a:p>
            <a:pPr marL="742950" lvl="1" indent="-285750">
              <a:lnSpc>
                <a:spcPct val="150000"/>
              </a:lnSpc>
            </a:pPr>
            <a:r>
              <a:rPr lang="zh-CN" altLang="en-US" dirty="0"/>
              <a:t>乐观控制法</a:t>
            </a:r>
          </a:p>
          <a:p>
            <a:pPr marL="742950" lvl="1" indent="-285750">
              <a:lnSpc>
                <a:spcPct val="150000"/>
              </a:lnSpc>
            </a:pPr>
            <a:r>
              <a:rPr lang="zh-CN" altLang="en-US" dirty="0"/>
              <a:t>多版本并发控制（Multiversion Concurrency Control, MVCC）</a:t>
            </a:r>
          </a:p>
          <a:p>
            <a:pPr marL="742950" lvl="1" indent="-285750"/>
            <a:endParaRPr lang="en-US" altLang="zh-CN" sz="20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en-US" sz="3600" dirty="0"/>
              <a:t>其他并发控制机制（续）</a:t>
            </a:r>
          </a:p>
        </p:txBody>
      </p:sp>
      <p:sp>
        <p:nvSpPr>
          <p:cNvPr id="119811" name="内容占位符 2"/>
          <p:cNvSpPr>
            <a:spLocks noGrp="1"/>
          </p:cNvSpPr>
          <p:nvPr>
            <p:ph idx="1"/>
          </p:nvPr>
        </p:nvSpPr>
        <p:spPr>
          <a:xfrm>
            <a:off x="1343025" y="1484313"/>
            <a:ext cx="9793288" cy="4495800"/>
          </a:xfrm>
        </p:spPr>
        <p:txBody>
          <a:bodyPr vert="horz" wrap="square" lIns="91440" tIns="45720" rIns="91440" bIns="45720" anchor="t" anchorCtr="0"/>
          <a:lstStyle/>
          <a:p>
            <a:pPr eaLnBrk="1" hangingPunct="1"/>
            <a:r>
              <a:rPr lang="zh-CN" altLang="en-US" dirty="0"/>
              <a:t>时间戳方法</a:t>
            </a:r>
            <a:endParaRPr lang="en-US" altLang="zh-CN" dirty="0"/>
          </a:p>
          <a:p>
            <a:pPr lvl="1">
              <a:lnSpc>
                <a:spcPct val="150000"/>
              </a:lnSpc>
            </a:pPr>
            <a:r>
              <a:rPr lang="zh-CN" altLang="en-US" dirty="0"/>
              <a:t>给每个事务盖上一个时标，即事务的开始时间</a:t>
            </a:r>
            <a:endParaRPr lang="en-US" altLang="zh-CN" dirty="0"/>
          </a:p>
          <a:p>
            <a:pPr lvl="1">
              <a:lnSpc>
                <a:spcPct val="150000"/>
              </a:lnSpc>
            </a:pPr>
            <a:r>
              <a:rPr lang="zh-CN" altLang="en-US" dirty="0"/>
              <a:t>每个事务具有唯一的时间戳，并按照这个时间戳解决事务的冲突</a:t>
            </a:r>
            <a:endParaRPr lang="en-US" altLang="zh-CN" dirty="0"/>
          </a:p>
          <a:p>
            <a:pPr lvl="1">
              <a:lnSpc>
                <a:spcPct val="150000"/>
              </a:lnSpc>
            </a:pPr>
            <a:r>
              <a:rPr lang="zh-CN" altLang="en-US" dirty="0"/>
              <a:t>如果发生冲突操作，就回滚具有较早时间戳的事务</a:t>
            </a:r>
            <a:endParaRPr lang="en-US" altLang="zh-CN" dirty="0"/>
          </a:p>
          <a:p>
            <a:pPr lvl="1">
              <a:lnSpc>
                <a:spcPct val="150000"/>
              </a:lnSpc>
            </a:pPr>
            <a:r>
              <a:rPr lang="zh-CN" altLang="en-US" dirty="0"/>
              <a:t>被回滚的事务被赋予新的时间戳并从头开始执行</a:t>
            </a:r>
            <a:endParaRPr lang="en-US" altLang="zh-CN" dirty="0"/>
          </a:p>
          <a:p>
            <a:pPr lvl="1"/>
            <a:endParaRPr lang="en-US" altLang="zh-CN" sz="20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
          <p:cNvSpPr>
            <a:spLocks noGrp="1"/>
          </p:cNvSpPr>
          <p:nvPr/>
        </p:nvSpPr>
        <p:spPr>
          <a:xfrm>
            <a:off x="2438400" y="255588"/>
            <a:ext cx="7391400" cy="563562"/>
          </a:xfrm>
          <a:prstGeom prst="rect">
            <a:avLst/>
          </a:prstGeom>
          <a:noFill/>
          <a:ln w="9525">
            <a:noFill/>
          </a:ln>
        </p:spPr>
        <p:txBody>
          <a:bodyPr vert="horz" wrap="square" lIns="91440" tIns="45720" rIns="91440" bIns="45720" anchor="ctr" anchorCtr="0"/>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dirty="0"/>
              <a:t>基于时间戳的并发控制协议</a:t>
            </a:r>
          </a:p>
        </p:txBody>
      </p:sp>
      <p:sp>
        <p:nvSpPr>
          <p:cNvPr id="119811" name="内容占位符 2"/>
          <p:cNvSpPr>
            <a:spLocks noGrp="1"/>
          </p:cNvSpPr>
          <p:nvPr/>
        </p:nvSpPr>
        <p:spPr>
          <a:xfrm>
            <a:off x="1343025" y="1484313"/>
            <a:ext cx="9793288" cy="449580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9pPr>
          </a:lstStyle>
          <a:p>
            <a:pPr eaLnBrk="1" hangingPunct="1"/>
            <a:r>
              <a:rPr lang="zh-CN" altLang="en-US" dirty="0"/>
              <a:t>每个事务具有一个全局唯一的时间戳</a:t>
            </a:r>
            <a:r>
              <a:rPr lang="en-US" altLang="zh-CN" dirty="0"/>
              <a:t> TS(</a:t>
            </a:r>
            <a:r>
              <a:rPr lang="en-US" altLang="zh-CN" i="1" dirty="0"/>
              <a:t>T</a:t>
            </a:r>
            <a:r>
              <a:rPr lang="en-US" altLang="zh-CN" i="1" baseline="-25000" dirty="0"/>
              <a:t>i</a:t>
            </a:r>
            <a:r>
              <a:rPr lang="en-US" altLang="zh-CN" dirty="0"/>
              <a:t>)</a:t>
            </a:r>
            <a:endParaRPr lang="zh-CN" altLang="en-US" dirty="0"/>
          </a:p>
          <a:p>
            <a:pPr lvl="1" eaLnBrk="1" hangingPunct="1"/>
            <a:r>
              <a:rPr lang="zh-CN" altLang="en-US" dirty="0"/>
              <a:t>在事务开始执行之前生成</a:t>
            </a:r>
          </a:p>
          <a:p>
            <a:pPr lvl="1" eaLnBrk="1" hangingPunct="1"/>
            <a:r>
              <a:rPr lang="zh-CN" altLang="en-US" dirty="0"/>
              <a:t>可以是系统时间</a:t>
            </a:r>
          </a:p>
          <a:p>
            <a:pPr lvl="1" eaLnBrk="1" hangingPunct="1"/>
            <a:r>
              <a:rPr lang="zh-CN" altLang="en-US" dirty="0"/>
              <a:t>也可以是序列号</a:t>
            </a:r>
          </a:p>
          <a:p>
            <a:pPr eaLnBrk="1" hangingPunct="1"/>
            <a:r>
              <a:rPr lang="zh-CN" altLang="en-US" dirty="0"/>
              <a:t>每个数据对象</a:t>
            </a:r>
            <a:r>
              <a:rPr lang="en-US" altLang="zh-CN" i="1" dirty="0"/>
              <a:t>Q</a:t>
            </a:r>
            <a:r>
              <a:rPr lang="zh-CN" altLang="en-US" dirty="0"/>
              <a:t>具有两个时间戳</a:t>
            </a:r>
            <a:endParaRPr lang="en-US" altLang="zh-CN" dirty="0"/>
          </a:p>
          <a:p>
            <a:pPr lvl="1">
              <a:lnSpc>
                <a:spcPct val="150000"/>
              </a:lnSpc>
            </a:pPr>
            <a:r>
              <a:rPr lang="en-US" altLang="zh-CN" dirty="0"/>
              <a:t>W-timestamp(</a:t>
            </a:r>
            <a:r>
              <a:rPr lang="en-US" altLang="zh-CN" i="1" dirty="0"/>
              <a:t>Q</a:t>
            </a:r>
            <a:r>
              <a:rPr lang="en-US" altLang="zh-CN" dirty="0"/>
              <a:t>):</a:t>
            </a:r>
            <a:r>
              <a:rPr lang="zh-CN" altLang="en-US" dirty="0"/>
              <a:t>所有成功对</a:t>
            </a:r>
            <a:r>
              <a:rPr lang="en-US" altLang="zh-CN" i="1" dirty="0"/>
              <a:t>Q</a:t>
            </a:r>
            <a:r>
              <a:rPr lang="zh-CN" altLang="en-US" dirty="0"/>
              <a:t>执行写操作事务的最大时间戳</a:t>
            </a:r>
            <a:endParaRPr lang="en-US" altLang="zh-CN" dirty="0"/>
          </a:p>
          <a:p>
            <a:pPr lvl="1">
              <a:lnSpc>
                <a:spcPct val="150000"/>
              </a:lnSpc>
            </a:pPr>
            <a:r>
              <a:rPr lang="en-US" altLang="zh-CN" dirty="0"/>
              <a:t>R-timestampe(</a:t>
            </a:r>
            <a:r>
              <a:rPr lang="en-US" altLang="zh-CN" i="1" dirty="0"/>
              <a:t>Q</a:t>
            </a:r>
            <a:r>
              <a:rPr lang="en-US" altLang="zh-CN" dirty="0"/>
              <a:t>):</a:t>
            </a:r>
            <a:r>
              <a:rPr lang="zh-CN" altLang="en-US" dirty="0">
                <a:sym typeface="+mn-ea"/>
              </a:rPr>
              <a:t>所有成功对</a:t>
            </a:r>
            <a:r>
              <a:rPr lang="en-US" altLang="zh-CN" i="1" dirty="0">
                <a:sym typeface="+mn-ea"/>
              </a:rPr>
              <a:t>Q</a:t>
            </a:r>
            <a:r>
              <a:rPr lang="zh-CN" altLang="en-US" dirty="0">
                <a:sym typeface="+mn-ea"/>
              </a:rPr>
              <a:t>执行读操作事务的最大时间戳</a:t>
            </a:r>
            <a:endParaRPr lang="zh-CN" altLang="en-US" dirty="0"/>
          </a:p>
          <a:p>
            <a:pPr lvl="0">
              <a:lnSpc>
                <a:spcPct val="150000"/>
              </a:lnSpc>
            </a:pPr>
            <a:endParaRPr lang="en-US" altLang="zh-CN" dirty="0"/>
          </a:p>
          <a:p>
            <a:pPr lvl="1"/>
            <a:endParaRPr lang="en-US" altLang="zh-CN" sz="20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
          <p:cNvSpPr>
            <a:spLocks noGrp="1"/>
          </p:cNvSpPr>
          <p:nvPr/>
        </p:nvSpPr>
        <p:spPr>
          <a:xfrm>
            <a:off x="2438400" y="255588"/>
            <a:ext cx="7391400" cy="563562"/>
          </a:xfrm>
          <a:prstGeom prst="rect">
            <a:avLst/>
          </a:prstGeom>
          <a:noFill/>
          <a:ln w="9525">
            <a:noFill/>
          </a:ln>
        </p:spPr>
        <p:txBody>
          <a:bodyPr vert="horz" wrap="square" lIns="91440" tIns="45720" rIns="91440" bIns="45720" anchor="ctr" anchorCtr="0"/>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dirty="0"/>
              <a:t>基于时间戳的并发控制协议</a:t>
            </a:r>
          </a:p>
        </p:txBody>
      </p:sp>
      <p:sp>
        <p:nvSpPr>
          <p:cNvPr id="119811" name="内容占位符 2"/>
          <p:cNvSpPr>
            <a:spLocks noGrp="1"/>
          </p:cNvSpPr>
          <p:nvPr/>
        </p:nvSpPr>
        <p:spPr>
          <a:xfrm>
            <a:off x="410210" y="982028"/>
            <a:ext cx="9793288" cy="449580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9pPr>
          </a:lstStyle>
          <a:p>
            <a:pPr eaLnBrk="1" hangingPunct="1"/>
            <a:r>
              <a:rPr lang="zh-CN" altLang="en-US" dirty="0"/>
              <a:t>若事务</a:t>
            </a:r>
            <a:r>
              <a:rPr lang="en-US" altLang="zh-CN" i="1" dirty="0">
                <a:sym typeface="+mn-ea"/>
              </a:rPr>
              <a:t>T</a:t>
            </a:r>
            <a:r>
              <a:rPr lang="en-US" altLang="zh-CN" i="1" baseline="-25000" dirty="0">
                <a:sym typeface="+mn-ea"/>
              </a:rPr>
              <a:t>i</a:t>
            </a:r>
            <a:r>
              <a:rPr lang="zh-CN" altLang="en-US" dirty="0"/>
              <a:t>尝试读一个数据对象</a:t>
            </a:r>
            <a:r>
              <a:rPr lang="en-US" altLang="zh-CN" i="1" dirty="0"/>
              <a:t>Q</a:t>
            </a:r>
            <a:endParaRPr lang="zh-CN" altLang="en-US" dirty="0"/>
          </a:p>
          <a:p>
            <a:pPr lvl="1" eaLnBrk="1" hangingPunct="1"/>
            <a:r>
              <a:rPr lang="en-US" altLang="zh-CN" dirty="0"/>
              <a:t>IF</a:t>
            </a:r>
            <a:r>
              <a:rPr lang="en-US" altLang="zh-CN" dirty="0">
                <a:sym typeface="+mn-ea"/>
              </a:rPr>
              <a:t> TS(</a:t>
            </a:r>
            <a:r>
              <a:rPr lang="en-US" altLang="zh-CN" i="1" dirty="0">
                <a:sym typeface="+mn-ea"/>
              </a:rPr>
              <a:t>T</a:t>
            </a:r>
            <a:r>
              <a:rPr lang="en-US" altLang="zh-CN" i="1" baseline="-25000" dirty="0">
                <a:sym typeface="+mn-ea"/>
              </a:rPr>
              <a:t>i</a:t>
            </a:r>
            <a:r>
              <a:rPr lang="en-US" altLang="zh-CN" dirty="0">
                <a:sym typeface="+mn-ea"/>
              </a:rPr>
              <a:t>) &lt; W-timestamp(</a:t>
            </a:r>
            <a:r>
              <a:rPr lang="en-US" altLang="zh-CN" i="1" dirty="0">
                <a:sym typeface="+mn-ea"/>
              </a:rPr>
              <a:t>Q</a:t>
            </a:r>
            <a:r>
              <a:rPr lang="en-US" altLang="zh-CN" dirty="0">
                <a:sym typeface="+mn-ea"/>
              </a:rPr>
              <a:t>): </a:t>
            </a:r>
            <a:r>
              <a:rPr lang="zh-CN" altLang="en-US" dirty="0">
                <a:sym typeface="+mn-ea"/>
              </a:rPr>
              <a:t>拒绝，回滚</a:t>
            </a:r>
            <a:r>
              <a:rPr lang="en-US" altLang="zh-CN" i="1" dirty="0">
                <a:sym typeface="+mn-ea"/>
              </a:rPr>
              <a:t>T</a:t>
            </a:r>
            <a:r>
              <a:rPr lang="en-US" altLang="zh-CN" i="1" baseline="-25000" dirty="0">
                <a:sym typeface="+mn-ea"/>
              </a:rPr>
              <a:t>i</a:t>
            </a:r>
            <a:endParaRPr lang="zh-CN" altLang="en-US" dirty="0"/>
          </a:p>
          <a:p>
            <a:pPr lvl="1" eaLnBrk="1" hangingPunct="1"/>
            <a:r>
              <a:rPr lang="en-US" altLang="zh-CN" dirty="0"/>
              <a:t>ELSE</a:t>
            </a:r>
            <a:r>
              <a:rPr lang="zh-CN" altLang="en-US" dirty="0"/>
              <a:t>：</a:t>
            </a:r>
            <a:r>
              <a:rPr lang="en-US" altLang="zh-CN" dirty="0"/>
              <a:t> </a:t>
            </a:r>
          </a:p>
          <a:p>
            <a:pPr lvl="2" eaLnBrk="1" hangingPunct="1"/>
            <a:r>
              <a:rPr lang="zh-CN" altLang="en-US" dirty="0"/>
              <a:t>执行读操作</a:t>
            </a:r>
          </a:p>
          <a:p>
            <a:pPr lvl="2" eaLnBrk="1" hangingPunct="1"/>
            <a:r>
              <a:rPr lang="zh-CN" altLang="en-US" dirty="0"/>
              <a:t>设置</a:t>
            </a:r>
            <a:r>
              <a:rPr lang="en-US" altLang="zh-CN" dirty="0"/>
              <a:t> </a:t>
            </a:r>
            <a:r>
              <a:rPr lang="en-US" altLang="zh-CN" dirty="0">
                <a:sym typeface="+mn-ea"/>
              </a:rPr>
              <a:t>R-timestamp(</a:t>
            </a:r>
            <a:r>
              <a:rPr lang="en-US" altLang="zh-CN" i="1" dirty="0">
                <a:sym typeface="+mn-ea"/>
              </a:rPr>
              <a:t>Q</a:t>
            </a:r>
            <a:r>
              <a:rPr lang="en-US" altLang="zh-CN" dirty="0">
                <a:sym typeface="+mn-ea"/>
              </a:rPr>
              <a:t>)= Max(R-timestamp(</a:t>
            </a:r>
            <a:r>
              <a:rPr lang="en-US" altLang="zh-CN" i="1" dirty="0">
                <a:sym typeface="+mn-ea"/>
              </a:rPr>
              <a:t>Q</a:t>
            </a:r>
            <a:r>
              <a:rPr lang="en-US" altLang="zh-CN" dirty="0">
                <a:sym typeface="+mn-ea"/>
              </a:rPr>
              <a:t>), TS(</a:t>
            </a:r>
            <a:r>
              <a:rPr lang="en-US" altLang="zh-CN" i="1" dirty="0">
                <a:sym typeface="+mn-ea"/>
              </a:rPr>
              <a:t>T</a:t>
            </a:r>
            <a:r>
              <a:rPr lang="en-US" altLang="zh-CN" i="1" baseline="-25000" dirty="0">
                <a:sym typeface="+mn-ea"/>
              </a:rPr>
              <a:t>i</a:t>
            </a:r>
            <a:r>
              <a:rPr lang="en-US" altLang="zh-CN" dirty="0">
                <a:sym typeface="+mn-ea"/>
              </a:rPr>
              <a:t>))</a:t>
            </a:r>
            <a:r>
              <a:rPr lang="en-US" altLang="zh-CN" dirty="0"/>
              <a:t> </a:t>
            </a:r>
            <a:endParaRPr lang="zh-CN" altLang="en-US" dirty="0"/>
          </a:p>
          <a:p>
            <a:pPr eaLnBrk="1" hangingPunct="1"/>
            <a:r>
              <a:rPr lang="zh-CN" altLang="en-US" dirty="0">
                <a:sym typeface="+mn-ea"/>
              </a:rPr>
              <a:t>若事务</a:t>
            </a:r>
            <a:r>
              <a:rPr lang="en-US" altLang="zh-CN" i="1" dirty="0">
                <a:sym typeface="+mn-ea"/>
              </a:rPr>
              <a:t>T</a:t>
            </a:r>
            <a:r>
              <a:rPr lang="en-US" altLang="zh-CN" i="1" baseline="-25000" dirty="0">
                <a:sym typeface="+mn-ea"/>
              </a:rPr>
              <a:t>i</a:t>
            </a:r>
            <a:r>
              <a:rPr lang="zh-CN" altLang="en-US" dirty="0">
                <a:sym typeface="+mn-ea"/>
              </a:rPr>
              <a:t>尝试写一个数据对象</a:t>
            </a:r>
            <a:r>
              <a:rPr lang="en-US" altLang="zh-CN" i="1" dirty="0">
                <a:sym typeface="+mn-ea"/>
              </a:rPr>
              <a:t>Q</a:t>
            </a:r>
            <a:endParaRPr lang="en-US" altLang="zh-CN" dirty="0"/>
          </a:p>
          <a:p>
            <a:pPr lvl="1">
              <a:lnSpc>
                <a:spcPct val="150000"/>
              </a:lnSpc>
            </a:pPr>
            <a:r>
              <a:rPr lang="en-US" altLang="zh-CN" dirty="0">
                <a:sym typeface="+mn-ea"/>
              </a:rPr>
              <a:t>IF TS(</a:t>
            </a:r>
            <a:r>
              <a:rPr lang="en-US" altLang="zh-CN" i="1" dirty="0">
                <a:sym typeface="+mn-ea"/>
              </a:rPr>
              <a:t>T</a:t>
            </a:r>
            <a:r>
              <a:rPr lang="en-US" altLang="zh-CN" i="1" baseline="-25000" dirty="0">
                <a:sym typeface="+mn-ea"/>
              </a:rPr>
              <a:t>i</a:t>
            </a:r>
            <a:r>
              <a:rPr lang="en-US" altLang="zh-CN" dirty="0">
                <a:sym typeface="+mn-ea"/>
              </a:rPr>
              <a:t>) &lt; R-timestamp(</a:t>
            </a:r>
            <a:r>
              <a:rPr lang="en-US" altLang="zh-CN" i="1" dirty="0">
                <a:sym typeface="+mn-ea"/>
              </a:rPr>
              <a:t>Q</a:t>
            </a:r>
            <a:r>
              <a:rPr lang="en-US" altLang="zh-CN" dirty="0">
                <a:sym typeface="+mn-ea"/>
              </a:rPr>
              <a:t>):  </a:t>
            </a:r>
            <a:r>
              <a:rPr lang="zh-CN" altLang="en-US" dirty="0">
                <a:sym typeface="+mn-ea"/>
              </a:rPr>
              <a:t>拒绝，回滚</a:t>
            </a:r>
            <a:r>
              <a:rPr lang="en-US" altLang="zh-CN" i="1" dirty="0">
                <a:sym typeface="+mn-ea"/>
              </a:rPr>
              <a:t>T</a:t>
            </a:r>
            <a:r>
              <a:rPr lang="en-US" altLang="zh-CN" i="1" baseline="-25000" dirty="0">
                <a:sym typeface="+mn-ea"/>
              </a:rPr>
              <a:t>i</a:t>
            </a:r>
            <a:endParaRPr lang="zh-CN" altLang="en-US" dirty="0"/>
          </a:p>
          <a:p>
            <a:pPr lvl="1">
              <a:lnSpc>
                <a:spcPct val="150000"/>
              </a:lnSpc>
            </a:pPr>
            <a:r>
              <a:rPr lang="en-US" altLang="zh-CN" dirty="0">
                <a:sym typeface="+mn-ea"/>
              </a:rPr>
              <a:t>IF TS(</a:t>
            </a:r>
            <a:r>
              <a:rPr lang="en-US" altLang="zh-CN" i="1" dirty="0">
                <a:sym typeface="+mn-ea"/>
              </a:rPr>
              <a:t>T</a:t>
            </a:r>
            <a:r>
              <a:rPr lang="en-US" altLang="zh-CN" i="1" baseline="-25000" dirty="0">
                <a:sym typeface="+mn-ea"/>
              </a:rPr>
              <a:t>i</a:t>
            </a:r>
            <a:r>
              <a:rPr lang="en-US" altLang="zh-CN" dirty="0">
                <a:sym typeface="+mn-ea"/>
              </a:rPr>
              <a:t>) &lt; W-timestamp(</a:t>
            </a:r>
            <a:r>
              <a:rPr lang="en-US" altLang="zh-CN" i="1" dirty="0">
                <a:sym typeface="+mn-ea"/>
              </a:rPr>
              <a:t>Q</a:t>
            </a:r>
            <a:r>
              <a:rPr lang="en-US" altLang="zh-CN" dirty="0">
                <a:sym typeface="+mn-ea"/>
              </a:rPr>
              <a:t>):  </a:t>
            </a:r>
            <a:r>
              <a:rPr lang="zh-CN" altLang="en-US" dirty="0">
                <a:sym typeface="+mn-ea"/>
              </a:rPr>
              <a:t>拒绝，回滚</a:t>
            </a:r>
            <a:r>
              <a:rPr lang="en-US" altLang="zh-CN" i="1" dirty="0">
                <a:sym typeface="+mn-ea"/>
              </a:rPr>
              <a:t>T</a:t>
            </a:r>
            <a:r>
              <a:rPr lang="en-US" altLang="zh-CN" i="1" baseline="-25000" dirty="0">
                <a:sym typeface="+mn-ea"/>
              </a:rPr>
              <a:t>i</a:t>
            </a:r>
            <a:endParaRPr lang="en-US" altLang="zh-CN" dirty="0"/>
          </a:p>
          <a:p>
            <a:pPr lvl="1"/>
            <a:r>
              <a:rPr lang="en-US" altLang="zh-CN" sz="2400" dirty="0"/>
              <a:t>otherwise:</a:t>
            </a:r>
          </a:p>
          <a:p>
            <a:pPr lvl="2" eaLnBrk="1" hangingPunct="1"/>
            <a:r>
              <a:rPr lang="zh-CN" altLang="en-US" dirty="0">
                <a:sym typeface="+mn-ea"/>
              </a:rPr>
              <a:t>执行写操作</a:t>
            </a:r>
            <a:endParaRPr lang="zh-CN" altLang="en-US" dirty="0"/>
          </a:p>
          <a:p>
            <a:pPr lvl="2" eaLnBrk="1" hangingPunct="1"/>
            <a:r>
              <a:rPr lang="zh-CN" altLang="en-US" dirty="0">
                <a:sym typeface="+mn-ea"/>
              </a:rPr>
              <a:t>设置</a:t>
            </a:r>
            <a:r>
              <a:rPr lang="en-US" altLang="zh-CN" dirty="0">
                <a:sym typeface="+mn-ea"/>
              </a:rPr>
              <a:t> W-timestamp(</a:t>
            </a:r>
            <a:r>
              <a:rPr lang="en-US" altLang="zh-CN" i="1" dirty="0">
                <a:sym typeface="+mn-ea"/>
              </a:rPr>
              <a:t>Q</a:t>
            </a:r>
            <a:r>
              <a:rPr lang="en-US" altLang="zh-CN" dirty="0">
                <a:sym typeface="+mn-ea"/>
              </a:rPr>
              <a:t>)=  TS(</a:t>
            </a:r>
            <a:r>
              <a:rPr lang="en-US" altLang="zh-CN" i="1" dirty="0">
                <a:sym typeface="+mn-ea"/>
              </a:rPr>
              <a:t>T</a:t>
            </a:r>
            <a:r>
              <a:rPr lang="en-US" altLang="zh-CN" i="1" baseline="-25000" dirty="0">
                <a:sym typeface="+mn-ea"/>
              </a:rPr>
              <a:t>i</a:t>
            </a:r>
            <a:r>
              <a:rPr lang="en-US" altLang="zh-CN" dirty="0">
                <a:sym typeface="+mn-ea"/>
              </a:rPr>
              <a:t>)</a:t>
            </a:r>
            <a:endParaRPr lang="en-US" altLang="zh-CN" sz="2000" dirty="0"/>
          </a:p>
        </p:txBody>
      </p:sp>
      <p:sp>
        <p:nvSpPr>
          <p:cNvPr id="2" name="文本框 1"/>
          <p:cNvSpPr txBox="1"/>
          <p:nvPr/>
        </p:nvSpPr>
        <p:spPr>
          <a:xfrm>
            <a:off x="8328025" y="3356610"/>
            <a:ext cx="3176270" cy="1198880"/>
          </a:xfrm>
          <a:prstGeom prst="rect">
            <a:avLst/>
          </a:prstGeom>
          <a:noFill/>
        </p:spPr>
        <p:txBody>
          <a:bodyPr wrap="square" rtlCol="0" anchor="t">
            <a:spAutoFit/>
          </a:bodyPr>
          <a:lstStyle/>
          <a:p>
            <a:r>
              <a:rPr lang="zh-CN" altLang="en-US" sz="2400" dirty="0">
                <a:solidFill>
                  <a:srgbClr val="C00000"/>
                </a:solidFill>
                <a:sym typeface="+mn-ea"/>
              </a:rPr>
              <a:t>要求调度等价于按时间戳顺序串行执行的调度序列</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标题 1"/>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en-US" sz="3600" dirty="0"/>
              <a:t>其他并发控制机制（续）</a:t>
            </a:r>
          </a:p>
        </p:txBody>
      </p:sp>
      <p:sp>
        <p:nvSpPr>
          <p:cNvPr id="120835" name="内容占位符 2"/>
          <p:cNvSpPr>
            <a:spLocks noGrp="1"/>
          </p:cNvSpPr>
          <p:nvPr>
            <p:ph idx="1"/>
          </p:nvPr>
        </p:nvSpPr>
        <p:spPr>
          <a:xfrm>
            <a:off x="1271588" y="1484313"/>
            <a:ext cx="9648825" cy="4495800"/>
          </a:xfrm>
        </p:spPr>
        <p:txBody>
          <a:bodyPr vert="horz" wrap="square" lIns="91440" tIns="45720" rIns="91440" bIns="45720" anchor="t" anchorCtr="0"/>
          <a:lstStyle/>
          <a:p>
            <a:pPr eaLnBrk="1" hangingPunct="1"/>
            <a:r>
              <a:rPr lang="zh-CN" altLang="zh-CN" dirty="0"/>
              <a:t>乐观</a:t>
            </a:r>
            <a:r>
              <a:rPr lang="zh-CN" altLang="en-US" dirty="0"/>
              <a:t>控制法，</a:t>
            </a:r>
            <a:r>
              <a:rPr lang="zh-CN" altLang="zh-CN" dirty="0"/>
              <a:t>又称为验证方法（</a:t>
            </a:r>
            <a:r>
              <a:rPr lang="en-US" altLang="zh-CN" dirty="0"/>
              <a:t>certifier</a:t>
            </a:r>
            <a:r>
              <a:rPr lang="zh-CN" altLang="zh-CN" dirty="0"/>
              <a:t>）</a:t>
            </a:r>
            <a:endParaRPr lang="en-US" altLang="zh-CN" dirty="0"/>
          </a:p>
          <a:p>
            <a:pPr lvl="1">
              <a:lnSpc>
                <a:spcPct val="150000"/>
              </a:lnSpc>
            </a:pPr>
            <a:r>
              <a:rPr lang="zh-CN" altLang="zh-CN" dirty="0"/>
              <a:t>认为事务执行时很少发生冲突，因此不对事务进行特殊的管制</a:t>
            </a:r>
            <a:endParaRPr lang="en-US" altLang="zh-CN" dirty="0"/>
          </a:p>
          <a:p>
            <a:pPr lvl="1">
              <a:lnSpc>
                <a:spcPct val="150000"/>
              </a:lnSpc>
            </a:pPr>
            <a:r>
              <a:rPr lang="zh-CN" altLang="zh-CN" dirty="0"/>
              <a:t>而是让它自由地执行，事务提交前再进行正确性检查</a:t>
            </a:r>
            <a:endParaRPr lang="en-US" altLang="zh-CN" dirty="0"/>
          </a:p>
          <a:p>
            <a:pPr lvl="1">
              <a:lnSpc>
                <a:spcPct val="150000"/>
              </a:lnSpc>
            </a:pPr>
            <a:r>
              <a:rPr lang="zh-CN" altLang="zh-CN" dirty="0"/>
              <a:t>如果检查后发现该事务执行中出现过冲突并影响了可串行性，则拒绝提交并回滚该事务。</a:t>
            </a:r>
            <a:endParaRPr lang="en-US" altLang="zh-CN" sz="20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标题 1"/>
          <p:cNvSpPr txBox="1"/>
          <p:nvPr/>
        </p:nvSpPr>
        <p:spPr>
          <a:xfrm>
            <a:off x="2438400" y="255588"/>
            <a:ext cx="7391400" cy="563562"/>
          </a:xfrm>
          <a:prstGeom prst="rect">
            <a:avLst/>
          </a:prstGeom>
          <a:noFill/>
          <a:ln w="9525">
            <a:noFill/>
          </a:ln>
        </p:spPr>
        <p:txBody>
          <a:bodyPr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SzTx/>
              <a:buFont typeface="Arial" panose="020B0604020202020204" pitchFamily="34" charset="0"/>
              <a:buNone/>
            </a:pPr>
            <a:r>
              <a:rPr lang="zh-CN" altLang="en-US" sz="3600" dirty="0">
                <a:solidFill>
                  <a:schemeClr val="bg1"/>
                </a:solidFill>
              </a:rPr>
              <a:t>其他并发控制机制（续）</a:t>
            </a:r>
          </a:p>
        </p:txBody>
      </p:sp>
      <p:sp>
        <p:nvSpPr>
          <p:cNvPr id="121859" name="内容占位符 2"/>
          <p:cNvSpPr txBox="1"/>
          <p:nvPr/>
        </p:nvSpPr>
        <p:spPr>
          <a:xfrm>
            <a:off x="1200150" y="1641475"/>
            <a:ext cx="9288463" cy="449580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r>
              <a:rPr lang="zh-CN" altLang="zh-CN" dirty="0"/>
              <a:t>多版本并发控制</a:t>
            </a:r>
            <a:endParaRPr lang="en-US" altLang="zh-CN" dirty="0"/>
          </a:p>
          <a:p>
            <a:pPr marL="742950" lvl="1" indent="-285750">
              <a:lnSpc>
                <a:spcPct val="150000"/>
              </a:lnSpc>
            </a:pPr>
            <a:r>
              <a:rPr lang="en-US" altLang="zh-CN" dirty="0"/>
              <a:t>MVCC</a:t>
            </a:r>
            <a:r>
              <a:rPr lang="zh-CN" altLang="zh-CN" dirty="0"/>
              <a:t>（</a:t>
            </a:r>
            <a:r>
              <a:rPr lang="en-US" altLang="zh-CN" dirty="0"/>
              <a:t>MultiVersion Concurrency Control</a:t>
            </a:r>
            <a:r>
              <a:rPr lang="zh-CN" altLang="zh-CN" dirty="0"/>
              <a:t>）是指在数据库中通过维护数据对象的多个版本信息，来实现高效并发控制的一种策略</a:t>
            </a:r>
            <a:endParaRPr lang="en-US" altLang="zh-CN" sz="20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标题 1"/>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en-US" altLang="zh-CN" sz="3600" dirty="0"/>
              <a:t>12.9 </a:t>
            </a:r>
            <a:r>
              <a:rPr lang="zh-CN" altLang="en-US" sz="3600" dirty="0"/>
              <a:t>其他并发控制机制</a:t>
            </a:r>
          </a:p>
        </p:txBody>
      </p:sp>
      <p:sp>
        <p:nvSpPr>
          <p:cNvPr id="122883" name="内容占位符 2"/>
          <p:cNvSpPr>
            <a:spLocks noGrp="1"/>
          </p:cNvSpPr>
          <p:nvPr>
            <p:ph idx="1"/>
          </p:nvPr>
        </p:nvSpPr>
        <p:spPr>
          <a:xfrm>
            <a:off x="1635125" y="1484313"/>
            <a:ext cx="8229600" cy="4911725"/>
          </a:xfrm>
        </p:spPr>
        <p:txBody>
          <a:bodyPr vert="horz" wrap="square" lIns="91440" tIns="45720" rIns="91440" bIns="45720" anchor="t" anchorCtr="0"/>
          <a:lstStyle/>
          <a:p>
            <a:pPr marL="0" indent="0" eaLnBrk="1" hangingPunct="1">
              <a:buNone/>
            </a:pPr>
            <a:r>
              <a:rPr lang="en-US" altLang="zh-CN" dirty="0">
                <a:solidFill>
                  <a:srgbClr val="00B050"/>
                </a:solidFill>
              </a:rPr>
              <a:t>12.9.1 </a:t>
            </a:r>
            <a:r>
              <a:rPr lang="zh-CN" altLang="en-US" dirty="0">
                <a:solidFill>
                  <a:srgbClr val="00B050"/>
                </a:solidFill>
              </a:rPr>
              <a:t>多版本并发控制</a:t>
            </a:r>
          </a:p>
          <a:p>
            <a:pPr marL="0" indent="0" eaLnBrk="1" hangingPunct="1">
              <a:buNone/>
            </a:pPr>
            <a:endParaRPr lang="en-US" altLang="zh-CN" dirty="0">
              <a:solidFill>
                <a:schemeClr val="tx2"/>
              </a:solidFill>
            </a:endParaRPr>
          </a:p>
          <a:p>
            <a:pPr marL="0" indent="0" eaLnBrk="1" hangingPunct="1">
              <a:buNone/>
            </a:pPr>
            <a:r>
              <a:rPr lang="en-US" altLang="zh-CN" dirty="0"/>
              <a:t>12.9.2 </a:t>
            </a:r>
            <a:r>
              <a:rPr lang="zh-CN" altLang="en-US" dirty="0"/>
              <a:t>改进的多版本并发控制</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标题 1"/>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en-US" altLang="zh-CN" sz="3600" dirty="0"/>
              <a:t>12.9.1 </a:t>
            </a:r>
            <a:r>
              <a:rPr lang="zh-CN" altLang="en-US" sz="3600" dirty="0"/>
              <a:t>多版本并发控制</a:t>
            </a:r>
          </a:p>
        </p:txBody>
      </p:sp>
      <p:sp>
        <p:nvSpPr>
          <p:cNvPr id="124931" name="内容占位符 2"/>
          <p:cNvSpPr>
            <a:spLocks noGrp="1"/>
          </p:cNvSpPr>
          <p:nvPr>
            <p:ph idx="1"/>
          </p:nvPr>
        </p:nvSpPr>
        <p:spPr>
          <a:xfrm>
            <a:off x="1343025" y="1466850"/>
            <a:ext cx="9648825" cy="5127625"/>
          </a:xfrm>
        </p:spPr>
        <p:txBody>
          <a:bodyPr vert="horz" wrap="square" lIns="91440" tIns="45720" rIns="91440" bIns="45720" anchor="t" anchorCtr="0"/>
          <a:lstStyle/>
          <a:p>
            <a:pPr eaLnBrk="1" hangingPunct="1"/>
            <a:r>
              <a:rPr lang="zh-CN" altLang="en-US" dirty="0"/>
              <a:t>版本</a:t>
            </a:r>
          </a:p>
          <a:p>
            <a:pPr lvl="1">
              <a:lnSpc>
                <a:spcPct val="150000"/>
              </a:lnSpc>
            </a:pPr>
            <a:r>
              <a:rPr lang="zh-CN" altLang="en-US" dirty="0"/>
              <a:t>是指数据库中数据对象的一个快照，记录了数据对象，某个时刻的状态。</a:t>
            </a:r>
          </a:p>
          <a:p>
            <a:pPr lvl="1">
              <a:lnSpc>
                <a:spcPct val="150000"/>
              </a:lnSpc>
            </a:pPr>
            <a:r>
              <a:rPr lang="zh-CN" altLang="en-US" dirty="0"/>
              <a:t>可以为数据库系统的数据对象保留多个版本，以提高系统的并发操作程度</a:t>
            </a:r>
            <a:endParaRPr lang="en-US" altLang="zh-CN"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标题 1"/>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en-US" sz="3600" dirty="0"/>
              <a:t>多版本并发控制（续）  </a:t>
            </a:r>
          </a:p>
        </p:txBody>
      </p:sp>
      <p:sp>
        <p:nvSpPr>
          <p:cNvPr id="125955" name="内容占位符 2"/>
          <p:cNvSpPr>
            <a:spLocks noGrp="1"/>
          </p:cNvSpPr>
          <p:nvPr>
            <p:ph idx="1"/>
          </p:nvPr>
        </p:nvSpPr>
        <p:spPr>
          <a:xfrm>
            <a:off x="1600200" y="1341438"/>
            <a:ext cx="8229600" cy="4711700"/>
          </a:xfrm>
        </p:spPr>
        <p:txBody>
          <a:bodyPr vert="horz" wrap="square" lIns="91440" tIns="45720" rIns="91440" bIns="45720" anchor="t" anchorCtr="0"/>
          <a:lstStyle/>
          <a:p>
            <a:pPr eaLnBrk="1" hangingPunct="1">
              <a:lnSpc>
                <a:spcPct val="150000"/>
              </a:lnSpc>
            </a:pPr>
            <a:r>
              <a:rPr lang="en-US" altLang="zh-CN" dirty="0"/>
              <a:t>[</a:t>
            </a:r>
            <a:r>
              <a:rPr lang="zh-CN" altLang="en-US" dirty="0"/>
              <a:t>例</a:t>
            </a:r>
            <a:r>
              <a:rPr lang="en-US" altLang="zh-CN" dirty="0"/>
              <a:t>]</a:t>
            </a:r>
          </a:p>
          <a:p>
            <a:pPr eaLnBrk="1" hangingPunct="1">
              <a:lnSpc>
                <a:spcPct val="150000"/>
              </a:lnSpc>
              <a:buNone/>
            </a:pPr>
            <a:r>
              <a:rPr lang="en-US" altLang="zh-CN" dirty="0"/>
              <a:t>   </a:t>
            </a:r>
            <a:r>
              <a:rPr lang="zh-CN" altLang="zh-CN" dirty="0"/>
              <a:t>有两个事务，</a:t>
            </a:r>
            <a:r>
              <a:rPr lang="zh-CN" altLang="en-US" dirty="0"/>
              <a:t>都对</a:t>
            </a:r>
            <a:r>
              <a:rPr lang="zh-CN" altLang="zh-CN" dirty="0"/>
              <a:t>数据对象</a:t>
            </a:r>
            <a:r>
              <a:rPr lang="en-US" altLang="zh-CN" dirty="0"/>
              <a:t>A</a:t>
            </a:r>
            <a:r>
              <a:rPr lang="zh-CN" altLang="en-US" dirty="0"/>
              <a:t>进行读写</a:t>
            </a:r>
            <a:endParaRPr lang="en-US" altLang="zh-CN" dirty="0"/>
          </a:p>
          <a:p>
            <a:pPr eaLnBrk="1" hangingPunct="1">
              <a:lnSpc>
                <a:spcPct val="150000"/>
              </a:lnSpc>
              <a:buNone/>
            </a:pPr>
            <a:r>
              <a:rPr lang="en-US" altLang="zh-CN" dirty="0"/>
              <a:t>   </a:t>
            </a:r>
            <a:r>
              <a:rPr lang="zh-CN" altLang="zh-CN" dirty="0"/>
              <a:t>其中</a:t>
            </a:r>
            <a:r>
              <a:rPr lang="en-US" altLang="zh-CN" dirty="0"/>
              <a:t>T</a:t>
            </a:r>
            <a:r>
              <a:rPr lang="en-US" altLang="zh-CN" baseline="-25000" dirty="0"/>
              <a:t>1</a:t>
            </a:r>
            <a:r>
              <a:rPr lang="zh-CN" altLang="zh-CN" dirty="0"/>
              <a:t>是写事务，</a:t>
            </a:r>
            <a:r>
              <a:rPr lang="en-US" altLang="zh-CN" dirty="0"/>
              <a:t>T</a:t>
            </a:r>
            <a:r>
              <a:rPr lang="en-US" altLang="zh-CN" baseline="-25000" dirty="0"/>
              <a:t>2</a:t>
            </a:r>
            <a:r>
              <a:rPr lang="zh-CN" altLang="zh-CN" dirty="0"/>
              <a:t>是读事务</a:t>
            </a:r>
            <a:r>
              <a:rPr lang="zh-CN" altLang="en-US" dirty="0"/>
              <a:t>，</a:t>
            </a:r>
            <a:endParaRPr lang="en-US" altLang="zh-CN" dirty="0"/>
          </a:p>
          <a:p>
            <a:pPr eaLnBrk="1" hangingPunct="1">
              <a:lnSpc>
                <a:spcPct val="150000"/>
              </a:lnSpc>
              <a:buNone/>
            </a:pPr>
            <a:r>
              <a:rPr lang="en-US" altLang="zh-CN" dirty="0"/>
              <a:t>   </a:t>
            </a:r>
            <a:r>
              <a:rPr lang="zh-CN" altLang="zh-CN" dirty="0"/>
              <a:t>假定</a:t>
            </a:r>
            <a:r>
              <a:rPr lang="en-US" altLang="zh-CN" dirty="0"/>
              <a:t>T</a:t>
            </a:r>
            <a:r>
              <a:rPr lang="en-US" altLang="zh-CN" baseline="-25000" dirty="0"/>
              <a:t>1</a:t>
            </a:r>
            <a:r>
              <a:rPr lang="zh-CN" altLang="zh-CN" dirty="0"/>
              <a:t>事务先启动，</a:t>
            </a:r>
            <a:r>
              <a:rPr lang="en-US" altLang="zh-CN" dirty="0"/>
              <a:t>T</a:t>
            </a:r>
            <a:r>
              <a:rPr lang="en-US" altLang="zh-CN" baseline="-25000" dirty="0"/>
              <a:t>2</a:t>
            </a:r>
            <a:r>
              <a:rPr lang="zh-CN" altLang="zh-CN" dirty="0"/>
              <a:t>事务后启动。</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a:ln>
                  <a:noFill/>
                </a:ln>
                <a:solidFill>
                  <a:schemeClr val="bg1"/>
                </a:solidFill>
                <a:effectLst/>
                <a:uLnTx/>
                <a:uFillTx/>
                <a:latin typeface="+mn-ea"/>
                <a:ea typeface="+mn-ea"/>
                <a:cs typeface="+mj-cs"/>
              </a:rPr>
              <a:t>多版本并发控制（续）</a:t>
            </a:r>
          </a:p>
        </p:txBody>
      </p:sp>
      <p:sp>
        <p:nvSpPr>
          <p:cNvPr id="126979" name="内容占位符 11"/>
          <p:cNvSpPr>
            <a:spLocks noGrp="1"/>
          </p:cNvSpPr>
          <p:nvPr>
            <p:ph idx="1"/>
          </p:nvPr>
        </p:nvSpPr>
        <p:spPr>
          <a:xfrm>
            <a:off x="5016500" y="1628775"/>
            <a:ext cx="6480175" cy="4854575"/>
          </a:xfrm>
        </p:spPr>
        <p:txBody>
          <a:bodyPr vert="horz" wrap="square" lIns="91440" tIns="45720" rIns="91440" bIns="45720" anchor="t" anchorCtr="0"/>
          <a:lstStyle/>
          <a:p>
            <a:pPr>
              <a:lnSpc>
                <a:spcPct val="150000"/>
              </a:lnSpc>
            </a:pPr>
            <a:r>
              <a:rPr lang="zh-CN" altLang="zh-CN" dirty="0"/>
              <a:t>按照传统的封锁协议</a:t>
            </a:r>
            <a:endParaRPr lang="en-US" altLang="zh-CN" dirty="0"/>
          </a:p>
          <a:p>
            <a:pPr lvl="1">
              <a:lnSpc>
                <a:spcPct val="150000"/>
              </a:lnSpc>
            </a:pPr>
            <a:r>
              <a:rPr lang="en-US" altLang="zh-CN" dirty="0"/>
              <a:t>T</a:t>
            </a:r>
            <a:r>
              <a:rPr lang="en-US" altLang="zh-CN" baseline="-25000" dirty="0"/>
              <a:t>2</a:t>
            </a:r>
            <a:r>
              <a:rPr lang="zh-CN" altLang="zh-CN" dirty="0"/>
              <a:t>事务必须等待事务</a:t>
            </a:r>
            <a:r>
              <a:rPr lang="en-US" altLang="zh-CN" dirty="0"/>
              <a:t>T</a:t>
            </a:r>
            <a:r>
              <a:rPr lang="en-US" altLang="zh-CN" baseline="-25000" dirty="0"/>
              <a:t>1</a:t>
            </a:r>
            <a:r>
              <a:rPr lang="zh-CN" altLang="zh-CN" dirty="0"/>
              <a:t>执行结束释放</a:t>
            </a:r>
            <a:r>
              <a:rPr lang="en-US" altLang="zh-CN" dirty="0"/>
              <a:t>A</a:t>
            </a:r>
            <a:r>
              <a:rPr lang="zh-CN" altLang="zh-CN" dirty="0"/>
              <a:t>上的封锁后才能获得对</a:t>
            </a:r>
            <a:r>
              <a:rPr lang="en-US" altLang="zh-CN" dirty="0"/>
              <a:t>A</a:t>
            </a:r>
            <a:r>
              <a:rPr lang="zh-CN" altLang="zh-CN" dirty="0"/>
              <a:t>的封锁。也就是说，</a:t>
            </a:r>
            <a:r>
              <a:rPr lang="en-US" altLang="zh-CN" dirty="0"/>
              <a:t>T</a:t>
            </a:r>
            <a:r>
              <a:rPr lang="en-US" altLang="zh-CN" baseline="-25000" dirty="0"/>
              <a:t>1</a:t>
            </a:r>
            <a:r>
              <a:rPr lang="zh-CN" altLang="zh-CN" dirty="0"/>
              <a:t>和</a:t>
            </a:r>
            <a:r>
              <a:rPr lang="en-US" altLang="zh-CN" dirty="0"/>
              <a:t>T</a:t>
            </a:r>
            <a:r>
              <a:rPr lang="en-US" altLang="zh-CN" baseline="-25000" dirty="0"/>
              <a:t>2</a:t>
            </a:r>
            <a:r>
              <a:rPr lang="zh-CN" altLang="zh-CN" dirty="0"/>
              <a:t>实际上是串行执行的。</a:t>
            </a:r>
            <a:endParaRPr lang="en-US" altLang="zh-CN" dirty="0"/>
          </a:p>
          <a:p>
            <a:pPr>
              <a:buNone/>
            </a:pPr>
            <a:endParaRPr lang="zh-CN" altLang="en-US" dirty="0"/>
          </a:p>
        </p:txBody>
      </p:sp>
      <p:sp>
        <p:nvSpPr>
          <p:cNvPr id="126980" name="Text Box 143"/>
          <p:cNvSpPr txBox="1"/>
          <p:nvPr/>
        </p:nvSpPr>
        <p:spPr>
          <a:xfrm>
            <a:off x="2438400" y="5910263"/>
            <a:ext cx="1692275" cy="366712"/>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SzTx/>
              <a:buFont typeface="Arial" panose="020B0604020202020204" pitchFamily="34" charset="0"/>
              <a:buNone/>
            </a:pPr>
            <a:r>
              <a:rPr lang="zh-CN" altLang="en-US" sz="1800" dirty="0"/>
              <a:t>(a) 封锁方法</a:t>
            </a:r>
          </a:p>
        </p:txBody>
      </p:sp>
      <p:graphicFrame>
        <p:nvGraphicFramePr>
          <p:cNvPr id="13" name="Group 3"/>
          <p:cNvGraphicFramePr/>
          <p:nvPr/>
        </p:nvGraphicFramePr>
        <p:xfrm>
          <a:off x="1774825" y="1181100"/>
          <a:ext cx="3178175" cy="4495800"/>
        </p:xfrm>
        <a:graphic>
          <a:graphicData uri="http://schemas.openxmlformats.org/drawingml/2006/table">
            <a:tbl>
              <a:tblPr/>
              <a:tblGrid>
                <a:gridCol w="1589088">
                  <a:extLst>
                    <a:ext uri="{9D8B030D-6E8A-4147-A177-3AD203B41FA5}">
                      <a16:colId xmlns:a16="http://schemas.microsoft.com/office/drawing/2014/main" val="20000"/>
                    </a:ext>
                  </a:extLst>
                </a:gridCol>
                <a:gridCol w="1589087">
                  <a:extLst>
                    <a:ext uri="{9D8B030D-6E8A-4147-A177-3AD203B41FA5}">
                      <a16:colId xmlns:a16="http://schemas.microsoft.com/office/drawing/2014/main" val="20001"/>
                    </a:ext>
                  </a:extLst>
                </a:gridCol>
              </a:tblGrid>
              <a:tr h="374650">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事务</a:t>
                      </a:r>
                      <a:r>
                        <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T1</a:t>
                      </a:r>
                    </a:p>
                  </a:txBody>
                  <a:tcPr marL="90170" marR="90170" marT="46990" marB="4699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sz="1800" b="1" i="0" u="none" strike="noStrike" cap="none" normalizeH="0" baseline="0">
                          <a:ln>
                            <a:noFill/>
                          </a:ln>
                          <a:solidFill>
                            <a:srgbClr val="FFFFFF"/>
                          </a:solidFill>
                          <a:effectLst/>
                          <a:latin typeface="Calibri" panose="020F0502020204030204" pitchFamily="34" charset="0"/>
                          <a:ea typeface="宋体" panose="02010600030101010101" pitchFamily="2" charset="-122"/>
                        </a:rPr>
                        <a:t>事务</a:t>
                      </a:r>
                      <a:r>
                        <a:rPr kumimoji="0" lang="zh-CN" altLang="zh-CN" sz="1800" b="1" i="0" u="none" strike="noStrike" cap="none" normalizeH="0" baseline="0">
                          <a:ln>
                            <a:noFill/>
                          </a:ln>
                          <a:solidFill>
                            <a:srgbClr val="FFFFFF"/>
                          </a:solidFill>
                          <a:effectLst/>
                          <a:latin typeface="Calibri" panose="020F0502020204030204" pitchFamily="34" charset="0"/>
                          <a:ea typeface="宋体" panose="02010600030101010101" pitchFamily="2" charset="-122"/>
                        </a:rPr>
                        <a:t>T2</a:t>
                      </a:r>
                    </a:p>
                  </a:txBody>
                  <a:tcPr marL="90170" marR="90170" marT="46990" marB="4699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extLst>
                  <a:ext uri="{0D108BD9-81ED-4DB2-BD59-A6C34878D82A}">
                    <a16:rowId xmlns:a16="http://schemas.microsoft.com/office/drawing/2014/main" val="10000"/>
                  </a:ext>
                </a:extLst>
              </a:tr>
              <a:tr h="374650">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altLang="zh-CN"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Xlock A</a:t>
                      </a:r>
                    </a:p>
                  </a:txBody>
                  <a:tcPr marL="90170" marR="90170" marT="46990" marB="4699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endParaRPr kumimoji="0" lang="zh-CN" altLang="zh-CN"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90170" marR="90170" marT="46990" marB="4699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1"/>
                  </a:ext>
                </a:extLst>
              </a:tr>
              <a:tr h="374650">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Read (A)</a:t>
                      </a:r>
                    </a:p>
                  </a:txBody>
                  <a:tcPr marL="90170" marR="90170" marT="46990" marB="4699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endParaRPr kumimoji="0" lang="zh-CN"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0170" marR="90170" marT="46990" marB="4699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374650">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Write (A)</a:t>
                      </a:r>
                    </a:p>
                  </a:txBody>
                  <a:tcPr marL="90170" marR="90170" marT="46990" marB="4699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endParaRPr kumimoji="0" lang="zh-CN"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0170" marR="90170" marT="46990" marB="4699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3"/>
                  </a:ext>
                </a:extLst>
              </a:tr>
              <a:tr h="374650">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endParaRPr kumimoji="0" lang="zh-CN"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0170" marR="90170" marT="46990" marB="4699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Slock A</a:t>
                      </a:r>
                    </a:p>
                  </a:txBody>
                  <a:tcPr marL="90170" marR="90170" marT="46990" marB="4699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374650">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endParaRPr kumimoji="0" lang="zh-CN"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0170" marR="90170" marT="46990" marB="4699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等待</a:t>
                      </a:r>
                    </a:p>
                  </a:txBody>
                  <a:tcPr marL="90170" marR="90170" marT="46990" marB="4699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5"/>
                  </a:ext>
                </a:extLst>
              </a:tr>
              <a:tr h="374650">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Commit</a:t>
                      </a:r>
                    </a:p>
                  </a:txBody>
                  <a:tcPr marL="90170" marR="90170" marT="46990" marB="4699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等待</a:t>
                      </a:r>
                    </a:p>
                  </a:txBody>
                  <a:tcPr marL="90170" marR="90170" marT="46990" marB="4699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r h="374650">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Unlock A</a:t>
                      </a:r>
                    </a:p>
                  </a:txBody>
                  <a:tcPr marL="90170" marR="90170" marT="46990" marB="4699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等待</a:t>
                      </a:r>
                    </a:p>
                  </a:txBody>
                  <a:tcPr marL="90170" marR="90170" marT="46990" marB="4699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7"/>
                  </a:ext>
                </a:extLst>
              </a:tr>
              <a:tr h="374650">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endParaRPr kumimoji="0" lang="zh-CN"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0170" marR="90170" marT="46990" marB="4699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Slock A</a:t>
                      </a:r>
                    </a:p>
                  </a:txBody>
                  <a:tcPr marL="90170" marR="90170" marT="46990" marB="4699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8"/>
                  </a:ext>
                </a:extLst>
              </a:tr>
              <a:tr h="374650">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endParaRPr kumimoji="0" lang="zh-CN"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0170" marR="90170" marT="46990" marB="4699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Read (A)</a:t>
                      </a:r>
                    </a:p>
                  </a:txBody>
                  <a:tcPr marL="90170" marR="90170" marT="46990" marB="4699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9"/>
                  </a:ext>
                </a:extLst>
              </a:tr>
              <a:tr h="374650">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endParaRPr kumimoji="0" lang="zh-CN"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0170" marR="90170" marT="46990" marB="4699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Commit</a:t>
                      </a:r>
                    </a:p>
                  </a:txBody>
                  <a:tcPr marL="90170" marR="90170" marT="46990" marB="4699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10"/>
                  </a:ext>
                </a:extLst>
              </a:tr>
              <a:tr h="374650">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endParaRPr kumimoji="0" lang="zh-CN" altLang="zh-CN"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90170" marR="90170" marT="46990" marB="4699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altLang="zh-CN"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Unlock A</a:t>
                      </a:r>
                    </a:p>
                  </a:txBody>
                  <a:tcPr marL="90170" marR="90170" marT="46990" marB="4699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标题 1"/>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en-US" sz="3600" dirty="0"/>
              <a:t>多版本并发控制（续） </a:t>
            </a:r>
          </a:p>
        </p:txBody>
      </p:sp>
      <p:sp>
        <p:nvSpPr>
          <p:cNvPr id="128003" name="内容占位符 2"/>
          <p:cNvSpPr>
            <a:spLocks noGrp="1"/>
          </p:cNvSpPr>
          <p:nvPr>
            <p:ph idx="1"/>
          </p:nvPr>
        </p:nvSpPr>
        <p:spPr>
          <a:xfrm>
            <a:off x="4727575" y="1412875"/>
            <a:ext cx="6870700" cy="4711700"/>
          </a:xfrm>
        </p:spPr>
        <p:txBody>
          <a:bodyPr vert="horz" wrap="square" lIns="91440" tIns="45720" rIns="91440" bIns="45720" anchor="t" anchorCtr="0"/>
          <a:lstStyle/>
          <a:p>
            <a:pPr eaLnBrk="1" hangingPunct="1">
              <a:lnSpc>
                <a:spcPct val="120000"/>
              </a:lnSpc>
              <a:spcBef>
                <a:spcPct val="0"/>
              </a:spcBef>
            </a:pPr>
            <a:r>
              <a:rPr lang="zh-CN" altLang="en-US" dirty="0"/>
              <a:t>多版本机制</a:t>
            </a:r>
            <a:endParaRPr lang="en-US" altLang="zh-CN" dirty="0"/>
          </a:p>
          <a:p>
            <a:pPr lvl="1" eaLnBrk="1" hangingPunct="1">
              <a:lnSpc>
                <a:spcPct val="120000"/>
              </a:lnSpc>
              <a:spcBef>
                <a:spcPct val="0"/>
              </a:spcBef>
            </a:pPr>
            <a:r>
              <a:rPr lang="zh-CN" altLang="zh-CN" sz="2200" dirty="0"/>
              <a:t>在</a:t>
            </a:r>
            <a:r>
              <a:rPr lang="en-US" altLang="zh-CN" sz="2200" dirty="0"/>
              <a:t>T</a:t>
            </a:r>
            <a:r>
              <a:rPr lang="en-US" altLang="zh-CN" sz="2200" baseline="-25000" dirty="0"/>
              <a:t>1</a:t>
            </a:r>
            <a:r>
              <a:rPr lang="zh-CN" altLang="zh-CN" sz="2200" dirty="0"/>
              <a:t>准备写</a:t>
            </a:r>
            <a:r>
              <a:rPr lang="en-US" altLang="zh-CN" sz="2200" dirty="0"/>
              <a:t>A</a:t>
            </a:r>
            <a:r>
              <a:rPr lang="zh-CN" altLang="zh-CN" sz="2200" dirty="0"/>
              <a:t>的时候，</a:t>
            </a:r>
            <a:r>
              <a:rPr lang="en-US" altLang="zh-CN" sz="2200" dirty="0"/>
              <a:t> </a:t>
            </a:r>
            <a:r>
              <a:rPr lang="zh-CN" altLang="zh-CN" sz="2200" dirty="0"/>
              <a:t>为</a:t>
            </a:r>
            <a:r>
              <a:rPr lang="en-US" altLang="zh-CN" sz="2200" dirty="0"/>
              <a:t>A</a:t>
            </a:r>
            <a:r>
              <a:rPr lang="zh-CN" altLang="zh-CN" sz="2200" dirty="0"/>
              <a:t>生成一个新的版本（表示为</a:t>
            </a:r>
            <a:r>
              <a:rPr lang="en-US" altLang="zh-CN" sz="2200" dirty="0"/>
              <a:t>A</a:t>
            </a:r>
            <a:r>
              <a:rPr lang="zh-CN" altLang="zh-CN" sz="2200" dirty="0"/>
              <a:t>’）</a:t>
            </a:r>
            <a:r>
              <a:rPr lang="zh-CN" altLang="en-US" sz="2200" dirty="0"/>
              <a:t>，</a:t>
            </a:r>
            <a:r>
              <a:rPr lang="en-US" altLang="zh-CN" sz="2200" dirty="0"/>
              <a:t>T</a:t>
            </a:r>
            <a:r>
              <a:rPr lang="en-US" altLang="zh-CN" sz="2200" baseline="-25000" dirty="0"/>
              <a:t>2</a:t>
            </a:r>
            <a:r>
              <a:rPr lang="zh-CN" altLang="zh-CN" sz="2200" dirty="0"/>
              <a:t>事务不是等待，而可以继续在</a:t>
            </a:r>
            <a:r>
              <a:rPr lang="en-US" altLang="zh-CN" sz="2200" dirty="0"/>
              <a:t>A</a:t>
            </a:r>
            <a:r>
              <a:rPr lang="zh-CN" altLang="zh-CN" sz="2200" dirty="0"/>
              <a:t>’上执行。</a:t>
            </a:r>
            <a:endParaRPr lang="en-US" altLang="zh-CN" sz="2200" dirty="0"/>
          </a:p>
          <a:p>
            <a:pPr lvl="1" eaLnBrk="1" hangingPunct="1">
              <a:lnSpc>
                <a:spcPct val="120000"/>
              </a:lnSpc>
              <a:spcBef>
                <a:spcPct val="0"/>
              </a:spcBef>
            </a:pPr>
            <a:r>
              <a:rPr lang="en-US" altLang="zh-CN" sz="2200" dirty="0"/>
              <a:t>T</a:t>
            </a:r>
            <a:r>
              <a:rPr lang="en-US" altLang="zh-CN" sz="2200" baseline="-25000" dirty="0"/>
              <a:t>2</a:t>
            </a:r>
            <a:r>
              <a:rPr lang="zh-CN" altLang="zh-CN" sz="2200" dirty="0"/>
              <a:t>准备提交时</a:t>
            </a:r>
            <a:r>
              <a:rPr lang="zh-CN" altLang="en-US" sz="2200" dirty="0"/>
              <a:t>，</a:t>
            </a:r>
            <a:r>
              <a:rPr lang="zh-CN" altLang="zh-CN" sz="2200" dirty="0"/>
              <a:t>看一下事务</a:t>
            </a:r>
            <a:r>
              <a:rPr lang="en-US" altLang="zh-CN" sz="2200" dirty="0"/>
              <a:t>T</a:t>
            </a:r>
            <a:r>
              <a:rPr lang="en-US" altLang="zh-CN" sz="2200" baseline="-25000" dirty="0"/>
              <a:t>1</a:t>
            </a:r>
            <a:r>
              <a:rPr lang="zh-CN" altLang="zh-CN" sz="2200" dirty="0"/>
              <a:t>是否已经完成。</a:t>
            </a:r>
            <a:endParaRPr lang="en-US" altLang="zh-CN" sz="2200" dirty="0"/>
          </a:p>
          <a:p>
            <a:pPr lvl="1" eaLnBrk="1" hangingPunct="1">
              <a:lnSpc>
                <a:spcPct val="120000"/>
              </a:lnSpc>
              <a:spcBef>
                <a:spcPct val="0"/>
              </a:spcBef>
            </a:pPr>
            <a:r>
              <a:rPr lang="zh-CN" altLang="zh-CN" sz="2200" dirty="0"/>
              <a:t>如果</a:t>
            </a:r>
            <a:r>
              <a:rPr lang="en-US" altLang="zh-CN" sz="2200" dirty="0"/>
              <a:t>T</a:t>
            </a:r>
            <a:r>
              <a:rPr lang="en-US" altLang="zh-CN" sz="2200" baseline="-25000" dirty="0"/>
              <a:t>1</a:t>
            </a:r>
            <a:r>
              <a:rPr lang="zh-CN" altLang="zh-CN" sz="2200" dirty="0"/>
              <a:t>已经完成了，</a:t>
            </a:r>
            <a:r>
              <a:rPr lang="en-US" altLang="zh-CN" sz="2200" dirty="0"/>
              <a:t>T</a:t>
            </a:r>
            <a:r>
              <a:rPr lang="en-US" altLang="zh-CN" sz="2200" baseline="-25000" dirty="0"/>
              <a:t>2</a:t>
            </a:r>
            <a:r>
              <a:rPr lang="zh-CN" altLang="zh-CN" sz="2200" dirty="0"/>
              <a:t>就可以放心地提交。</a:t>
            </a:r>
            <a:endParaRPr lang="en-US" altLang="zh-CN" sz="2200" dirty="0"/>
          </a:p>
          <a:p>
            <a:pPr lvl="1" eaLnBrk="1" hangingPunct="1">
              <a:lnSpc>
                <a:spcPct val="120000"/>
              </a:lnSpc>
              <a:spcBef>
                <a:spcPct val="0"/>
              </a:spcBef>
            </a:pPr>
            <a:r>
              <a:rPr lang="zh-CN" altLang="zh-CN" sz="2200" dirty="0"/>
              <a:t>如果</a:t>
            </a:r>
            <a:r>
              <a:rPr lang="en-US" altLang="zh-CN" sz="2200" dirty="0"/>
              <a:t>T</a:t>
            </a:r>
            <a:r>
              <a:rPr lang="en-US" altLang="zh-CN" sz="2200" baseline="-25000" dirty="0"/>
              <a:t>1</a:t>
            </a:r>
            <a:r>
              <a:rPr lang="zh-CN" altLang="zh-CN" sz="2200" dirty="0"/>
              <a:t>还没有完成，那么</a:t>
            </a:r>
            <a:r>
              <a:rPr lang="en-US" altLang="zh-CN" sz="2200" dirty="0"/>
              <a:t>T</a:t>
            </a:r>
            <a:r>
              <a:rPr lang="en-US" altLang="zh-CN" sz="2200" baseline="-25000" dirty="0"/>
              <a:t>2</a:t>
            </a:r>
            <a:r>
              <a:rPr lang="zh-CN" altLang="zh-CN" sz="2200" dirty="0"/>
              <a:t>必须等待直到</a:t>
            </a:r>
            <a:r>
              <a:rPr lang="en-US" altLang="zh-CN" sz="2200" dirty="0"/>
              <a:t>T</a:t>
            </a:r>
            <a:r>
              <a:rPr lang="en-US" altLang="zh-CN" sz="2200" baseline="-25000" dirty="0"/>
              <a:t>1</a:t>
            </a:r>
            <a:r>
              <a:rPr lang="zh-CN" altLang="zh-CN" sz="2200" dirty="0"/>
              <a:t>完成。</a:t>
            </a:r>
          </a:p>
        </p:txBody>
      </p:sp>
      <p:graphicFrame>
        <p:nvGraphicFramePr>
          <p:cNvPr id="4" name="Group 90"/>
          <p:cNvGraphicFramePr>
            <a:graphicFrameLocks noGrp="1"/>
          </p:cNvGraphicFramePr>
          <p:nvPr/>
        </p:nvGraphicFramePr>
        <p:xfrm>
          <a:off x="1343025" y="1916113"/>
          <a:ext cx="3287713" cy="2928938"/>
        </p:xfrm>
        <a:graphic>
          <a:graphicData uri="http://schemas.openxmlformats.org/drawingml/2006/table">
            <a:tbl>
              <a:tblPr/>
              <a:tblGrid>
                <a:gridCol w="1834988">
                  <a:extLst>
                    <a:ext uri="{9D8B030D-6E8A-4147-A177-3AD203B41FA5}">
                      <a16:colId xmlns:a16="http://schemas.microsoft.com/office/drawing/2014/main" val="20000"/>
                    </a:ext>
                  </a:extLst>
                </a:gridCol>
                <a:gridCol w="1452725">
                  <a:extLst>
                    <a:ext uri="{9D8B030D-6E8A-4147-A177-3AD203B41FA5}">
                      <a16:colId xmlns:a16="http://schemas.microsoft.com/office/drawing/2014/main" val="20001"/>
                    </a:ext>
                  </a:extLst>
                </a:gridCol>
              </a:tblGrid>
              <a:tr h="403337">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事务</a:t>
                      </a:r>
                      <a:r>
                        <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T1</a:t>
                      </a:r>
                    </a:p>
                  </a:txBody>
                  <a:tcPr marL="91421" marR="91421" marT="45708" marB="45708"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sz="1800" b="1" i="0" u="none" strike="noStrike" cap="none" normalizeH="0" baseline="0">
                          <a:ln>
                            <a:noFill/>
                          </a:ln>
                          <a:solidFill>
                            <a:srgbClr val="FFFFFF"/>
                          </a:solidFill>
                          <a:effectLst/>
                          <a:latin typeface="Calibri" panose="020F0502020204030204" pitchFamily="34" charset="0"/>
                          <a:ea typeface="宋体" panose="02010600030101010101" pitchFamily="2" charset="-122"/>
                        </a:rPr>
                        <a:t>事务</a:t>
                      </a:r>
                      <a:r>
                        <a:rPr kumimoji="0" lang="zh-CN" altLang="zh-CN" sz="1800" b="1" i="0" u="none" strike="noStrike" cap="none" normalizeH="0" baseline="0">
                          <a:ln>
                            <a:noFill/>
                          </a:ln>
                          <a:solidFill>
                            <a:srgbClr val="FFFFFF"/>
                          </a:solidFill>
                          <a:effectLst/>
                          <a:latin typeface="Calibri" panose="020F0502020204030204" pitchFamily="34" charset="0"/>
                          <a:ea typeface="宋体" panose="02010600030101010101" pitchFamily="2" charset="-122"/>
                        </a:rPr>
                        <a:t>T2</a:t>
                      </a:r>
                    </a:p>
                  </a:txBody>
                  <a:tcPr marL="91421" marR="91421" marT="45708" marB="45708"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extLst>
                  <a:ext uri="{0D108BD9-81ED-4DB2-BD59-A6C34878D82A}">
                    <a16:rowId xmlns:a16="http://schemas.microsoft.com/office/drawing/2014/main" val="10000"/>
                  </a:ext>
                </a:extLst>
              </a:tr>
              <a:tr h="425310">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Read (A)</a:t>
                      </a:r>
                    </a:p>
                  </a:txBody>
                  <a:tcPr marL="91421" marR="91421" marT="45708" marB="45708"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endParaRPr kumimoji="0" lang="zh-CN" altLang="zh-CN"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91421" marR="91421" marT="45708" marB="45708"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1"/>
                  </a:ext>
                </a:extLst>
              </a:tr>
              <a:tr h="420058">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altLang="zh-CN"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Write (A)</a:t>
                      </a:r>
                    </a:p>
                  </a:txBody>
                  <a:tcPr marL="91421" marR="91421" marT="45708" marB="45708"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endParaRPr kumimoji="0" lang="zh-CN"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21" marR="91421" marT="45708" marB="45708"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420058">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sz="1800" b="1" i="0" u="none" strike="noStrike" cap="none" normalizeH="0" baseline="0" dirty="0">
                          <a:ln>
                            <a:noFill/>
                          </a:ln>
                          <a:solidFill>
                            <a:srgbClr val="FF0000"/>
                          </a:solidFill>
                          <a:effectLst/>
                          <a:latin typeface="Calibri" panose="020F0502020204030204" pitchFamily="34" charset="0"/>
                          <a:ea typeface="宋体" panose="02010600030101010101" pitchFamily="2" charset="-122"/>
                        </a:rPr>
                        <a:t>创建新版本</a:t>
                      </a:r>
                      <a:r>
                        <a:rPr kumimoji="0" lang="zh-CN" altLang="zh-CN" sz="1800" b="1" i="0" u="none" strike="noStrike" cap="none" normalizeH="0" baseline="0" dirty="0">
                          <a:ln>
                            <a:noFill/>
                          </a:ln>
                          <a:solidFill>
                            <a:srgbClr val="FF0000"/>
                          </a:solidFill>
                          <a:effectLst/>
                          <a:latin typeface="Calibri" panose="020F0502020204030204" pitchFamily="34" charset="0"/>
                          <a:ea typeface="宋体" panose="02010600030101010101" pitchFamily="2" charset="-122"/>
                        </a:rPr>
                        <a:t>A'</a:t>
                      </a:r>
                    </a:p>
                  </a:txBody>
                  <a:tcPr marL="91421" marR="91421" marT="45708" marB="45708"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endParaRPr kumimoji="0" lang="zh-CN" altLang="zh-CN"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91421" marR="91421" marT="45708" marB="45708"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3"/>
                  </a:ext>
                </a:extLst>
              </a:tr>
              <a:tr h="420058">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endParaRPr kumimoji="0" lang="zh-CN"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21" marR="91421" marT="45708" marB="45708"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Read (A')</a:t>
                      </a:r>
                    </a:p>
                  </a:txBody>
                  <a:tcPr marL="91421" marR="91421" marT="45708" marB="45708"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420058">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rPr>
                        <a:t>Commit</a:t>
                      </a:r>
                    </a:p>
                  </a:txBody>
                  <a:tcPr marL="91421" marR="91421" marT="45708" marB="45708"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endParaRPr kumimoji="0" lang="zh-CN"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21" marR="91421" marT="45708" marB="45708"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5"/>
                  </a:ext>
                </a:extLst>
              </a:tr>
              <a:tr h="420058">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endParaRPr kumimoji="0" lang="zh-CN" altLang="zh-CN" sz="1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21" marR="91421" marT="45708" marB="45708"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altLang="zh-CN" sz="1800" b="1"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Commit</a:t>
                      </a:r>
                    </a:p>
                  </a:txBody>
                  <a:tcPr marL="91421" marR="91421" marT="45708" marB="45708"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bl>
          </a:graphicData>
        </a:graphic>
      </p:graphicFrame>
      <p:sp>
        <p:nvSpPr>
          <p:cNvPr id="128030" name="Text Box 144"/>
          <p:cNvSpPr txBox="1"/>
          <p:nvPr/>
        </p:nvSpPr>
        <p:spPr>
          <a:xfrm>
            <a:off x="1924050" y="5075238"/>
            <a:ext cx="1773238" cy="369887"/>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SzTx/>
              <a:buFont typeface="Arial" panose="020B0604020202020204" pitchFamily="34" charset="0"/>
              <a:buNone/>
            </a:pPr>
            <a:r>
              <a:rPr lang="zh-CN" altLang="en-US" sz="1800" dirty="0"/>
              <a:t>(b) MVCC</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内容占位符 2"/>
          <p:cNvSpPr>
            <a:spLocks noGrp="1"/>
          </p:cNvSpPr>
          <p:nvPr>
            <p:ph idx="1"/>
          </p:nvPr>
        </p:nvSpPr>
        <p:spPr>
          <a:xfrm>
            <a:off x="982663" y="1125538"/>
            <a:ext cx="10442575" cy="5040312"/>
          </a:xfrm>
        </p:spPr>
        <p:txBody>
          <a:bodyPr vert="horz" wrap="square" lIns="91440" tIns="45720" rIns="91440" bIns="45720" anchor="t" anchorCtr="0"/>
          <a:lstStyle/>
          <a:p>
            <a:pPr eaLnBrk="1" hangingPunct="1">
              <a:lnSpc>
                <a:spcPct val="150000"/>
              </a:lnSpc>
            </a:pPr>
            <a:r>
              <a:rPr lang="zh-CN" altLang="zh-CN" dirty="0"/>
              <a:t>多版本机制中</a:t>
            </a:r>
          </a:p>
          <a:p>
            <a:pPr lvl="1">
              <a:lnSpc>
                <a:spcPct val="150000"/>
              </a:lnSpc>
            </a:pPr>
            <a:r>
              <a:rPr lang="zh-CN" altLang="zh-CN" sz="2200" dirty="0"/>
              <a:t>Write(Q)操作：创建Q的一个新版本</a:t>
            </a:r>
          </a:p>
          <a:p>
            <a:pPr lvl="1">
              <a:lnSpc>
                <a:spcPct val="150000"/>
              </a:lnSpc>
            </a:pPr>
            <a:r>
              <a:rPr lang="zh-CN" altLang="zh-CN" sz="2200" dirty="0"/>
              <a:t>一个数据对象有一个版本序列Q</a:t>
            </a:r>
            <a:r>
              <a:rPr lang="zh-CN" altLang="zh-CN" sz="2200" baseline="-25000" dirty="0"/>
              <a:t>1</a:t>
            </a:r>
            <a:r>
              <a:rPr lang="zh-CN" altLang="zh-CN" sz="2200" dirty="0"/>
              <a:t>，Q</a:t>
            </a:r>
            <a:r>
              <a:rPr lang="zh-CN" altLang="zh-CN" sz="2200" baseline="-25000" dirty="0"/>
              <a:t>2</a:t>
            </a:r>
            <a:r>
              <a:rPr lang="zh-CN" altLang="zh-CN" sz="2200" dirty="0"/>
              <a:t>，…，Q</a:t>
            </a:r>
            <a:r>
              <a:rPr lang="zh-CN" altLang="zh-CN" sz="2200" baseline="-25000" dirty="0"/>
              <a:t>m</a:t>
            </a:r>
            <a:r>
              <a:rPr lang="zh-CN" altLang="zh-CN" sz="2200" dirty="0"/>
              <a:t>,与之相关联</a:t>
            </a:r>
          </a:p>
          <a:p>
            <a:pPr lvl="1">
              <a:lnSpc>
                <a:spcPct val="150000"/>
              </a:lnSpc>
            </a:pPr>
            <a:r>
              <a:rPr lang="zh-CN" altLang="zh-CN" sz="2200" dirty="0"/>
              <a:t>每一个版本Q</a:t>
            </a:r>
            <a:r>
              <a:rPr lang="zh-CN" altLang="zh-CN" sz="2200" baseline="-25000" dirty="0"/>
              <a:t>k</a:t>
            </a:r>
            <a:r>
              <a:rPr lang="zh-CN" altLang="zh-CN" sz="2200" dirty="0"/>
              <a:t>拥有版本的值、创建Q</a:t>
            </a:r>
            <a:r>
              <a:rPr lang="zh-CN" altLang="zh-CN" sz="2200" baseline="-25000" dirty="0"/>
              <a:t>k</a:t>
            </a:r>
            <a:r>
              <a:rPr lang="zh-CN" altLang="zh-CN" sz="2200" dirty="0"/>
              <a:t>的事务的时间戳W-timestamp(Q</a:t>
            </a:r>
            <a:r>
              <a:rPr lang="zh-CN" altLang="zh-CN" sz="2200" baseline="-25000" dirty="0"/>
              <a:t>k</a:t>
            </a:r>
            <a:r>
              <a:rPr lang="zh-CN" altLang="zh-CN" sz="2200" dirty="0"/>
              <a:t>)，和成功读取Q</a:t>
            </a:r>
            <a:r>
              <a:rPr lang="zh-CN" altLang="zh-CN" sz="2200" baseline="-25000" dirty="0"/>
              <a:t>k</a:t>
            </a:r>
            <a:r>
              <a:rPr lang="zh-CN" altLang="zh-CN" sz="2200" dirty="0"/>
              <a:t>的事务的最大时间戳R-timestamp(Q</a:t>
            </a:r>
            <a:r>
              <a:rPr lang="zh-CN" altLang="zh-CN" sz="2200" baseline="-25000" dirty="0"/>
              <a:t>k</a:t>
            </a:r>
            <a:r>
              <a:rPr lang="zh-CN" altLang="zh-CN" sz="2200" dirty="0"/>
              <a:t>)</a:t>
            </a:r>
          </a:p>
          <a:p>
            <a:pPr lvl="1">
              <a:lnSpc>
                <a:spcPct val="150000"/>
              </a:lnSpc>
            </a:pPr>
            <a:r>
              <a:rPr lang="zh-CN" altLang="zh-CN" sz="2200" dirty="0"/>
              <a:t>W-timestamp(Q)表示在数据项Q上成功执行Write(Q)操作的所有事务中的最大时间戳，R-timestamp(Q)表示在数据项Q上成功执行Read(Q)操作的所有事务中的最大时间戳</a:t>
            </a:r>
          </a:p>
          <a:p>
            <a:pPr eaLnBrk="1" hangingPunct="1"/>
            <a:endParaRPr lang="zh-CN" altLang="zh-CN" dirty="0"/>
          </a:p>
        </p:txBody>
      </p:sp>
      <p:sp>
        <p:nvSpPr>
          <p:cNvPr id="129027" name="标题 1"/>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en-US" sz="3600" dirty="0"/>
              <a:t>多版本并发控制（续）</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a:xfrm>
            <a:off x="2438400" y="255588"/>
            <a:ext cx="7391400" cy="5635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a:ln>
                  <a:noFill/>
                </a:ln>
                <a:solidFill>
                  <a:schemeClr val="bg1"/>
                </a:solidFill>
                <a:effectLst/>
                <a:uLnTx/>
                <a:uFillTx/>
                <a:latin typeface="+mn-ea"/>
                <a:ea typeface="+mn-ea"/>
                <a:cs typeface="+mj-cs"/>
              </a:rPr>
              <a:t>多版本并发控制（续）</a:t>
            </a:r>
          </a:p>
        </p:txBody>
      </p:sp>
      <p:sp>
        <p:nvSpPr>
          <p:cNvPr id="130051" name="Rectangle 3"/>
          <p:cNvSpPr>
            <a:spLocks noGrp="1"/>
          </p:cNvSpPr>
          <p:nvPr>
            <p:ph idx="1"/>
          </p:nvPr>
        </p:nvSpPr>
        <p:spPr>
          <a:xfrm>
            <a:off x="839788" y="908050"/>
            <a:ext cx="10944225" cy="5184775"/>
          </a:xfrm>
        </p:spPr>
        <p:txBody>
          <a:bodyPr vert="horz" wrap="square" lIns="91440" tIns="45720" rIns="91440" bIns="45720" anchor="t" anchorCtr="0"/>
          <a:lstStyle/>
          <a:p>
            <a:pPr eaLnBrk="1" hangingPunct="1">
              <a:lnSpc>
                <a:spcPct val="120000"/>
              </a:lnSpc>
            </a:pPr>
            <a:r>
              <a:rPr lang="zh-CN" altLang="zh-CN" dirty="0"/>
              <a:t>TS(T)表示事务T的时间戳，TS(Ti)&lt;TS(Tj)表示事务Ti在事务Tj之前开始执行</a:t>
            </a:r>
          </a:p>
          <a:p>
            <a:pPr eaLnBrk="1" hangingPunct="1">
              <a:lnSpc>
                <a:spcPct val="120000"/>
              </a:lnSpc>
            </a:pPr>
            <a:r>
              <a:rPr lang="zh-CN" altLang="zh-CN" dirty="0"/>
              <a:t>多版本协议描述：</a:t>
            </a:r>
          </a:p>
          <a:p>
            <a:pPr eaLnBrk="1" hangingPunct="1">
              <a:lnSpc>
                <a:spcPct val="120000"/>
              </a:lnSpc>
              <a:spcBef>
                <a:spcPct val="0"/>
              </a:spcBef>
              <a:buNone/>
            </a:pPr>
            <a:r>
              <a:rPr lang="zh-CN" altLang="zh-CN" sz="2200" dirty="0"/>
              <a:t>	</a:t>
            </a:r>
            <a:r>
              <a:rPr lang="zh-CN" altLang="en-US" sz="2200" dirty="0"/>
              <a:t>（</a:t>
            </a:r>
            <a:r>
              <a:rPr lang="zh-CN" altLang="zh-CN" sz="2200" dirty="0"/>
              <a:t>假设版本Q</a:t>
            </a:r>
            <a:r>
              <a:rPr lang="zh-CN" altLang="zh-CN" sz="2200" baseline="-25000" dirty="0"/>
              <a:t>k</a:t>
            </a:r>
            <a:r>
              <a:rPr lang="zh-CN" altLang="zh-CN" sz="2200" dirty="0"/>
              <a:t>具有小于或等于TS(T)的最大时间戳</a:t>
            </a:r>
            <a:r>
              <a:rPr lang="zh-CN" altLang="en-US" sz="2200" dirty="0"/>
              <a:t>）</a:t>
            </a:r>
            <a:endParaRPr lang="zh-CN" altLang="zh-CN" sz="2200" dirty="0"/>
          </a:p>
          <a:p>
            <a:pPr lvl="1">
              <a:lnSpc>
                <a:spcPct val="120000"/>
              </a:lnSpc>
              <a:spcBef>
                <a:spcPct val="0"/>
              </a:spcBef>
            </a:pPr>
            <a:r>
              <a:rPr lang="zh-CN" altLang="zh-CN" sz="2200" dirty="0"/>
              <a:t>若事务T发出Read(Q)，则返回版本Q</a:t>
            </a:r>
            <a:r>
              <a:rPr lang="zh-CN" altLang="zh-CN" sz="2200" baseline="-25000" dirty="0"/>
              <a:t>k</a:t>
            </a:r>
            <a:r>
              <a:rPr lang="zh-CN" altLang="zh-CN" sz="2200" dirty="0"/>
              <a:t>的内容</a:t>
            </a:r>
          </a:p>
          <a:p>
            <a:pPr lvl="1">
              <a:lnSpc>
                <a:spcPct val="120000"/>
              </a:lnSpc>
              <a:spcBef>
                <a:spcPct val="0"/>
              </a:spcBef>
            </a:pPr>
            <a:r>
              <a:rPr lang="zh-CN" altLang="zh-CN" sz="2200" dirty="0"/>
              <a:t>若事务T发出Write(Q)，则：</a:t>
            </a:r>
          </a:p>
          <a:p>
            <a:pPr lvl="2">
              <a:lnSpc>
                <a:spcPct val="120000"/>
              </a:lnSpc>
              <a:spcBef>
                <a:spcPct val="0"/>
              </a:spcBef>
              <a:buSzPct val="87000"/>
              <a:buFont typeface="Wingdings" panose="05000000000000000000" pitchFamily="2" charset="2"/>
              <a:buChar char="l"/>
            </a:pPr>
            <a:r>
              <a:rPr lang="zh-CN" altLang="zh-CN" dirty="0">
                <a:latin typeface="+mn-lt"/>
                <a:ea typeface="+mn-ea"/>
              </a:rPr>
              <a:t>当TS(T) &lt; R-timestamp(Q</a:t>
            </a:r>
            <a:r>
              <a:rPr lang="zh-CN" altLang="zh-CN" baseline="-25000" dirty="0">
                <a:latin typeface="+mn-lt"/>
                <a:ea typeface="+mn-ea"/>
              </a:rPr>
              <a:t>k</a:t>
            </a:r>
            <a:r>
              <a:rPr lang="zh-CN" altLang="zh-CN" dirty="0">
                <a:latin typeface="+mn-lt"/>
                <a:ea typeface="+mn-ea"/>
              </a:rPr>
              <a:t>)时，回滚T；</a:t>
            </a:r>
          </a:p>
          <a:p>
            <a:pPr lvl="2">
              <a:lnSpc>
                <a:spcPct val="120000"/>
              </a:lnSpc>
              <a:spcBef>
                <a:spcPct val="0"/>
              </a:spcBef>
              <a:buSzPct val="87000"/>
              <a:buFont typeface="Wingdings" panose="05000000000000000000" pitchFamily="2" charset="2"/>
              <a:buChar char="l"/>
            </a:pPr>
            <a:r>
              <a:rPr lang="zh-CN" altLang="zh-CN" dirty="0">
                <a:latin typeface="+mn-lt"/>
                <a:ea typeface="+mn-ea"/>
              </a:rPr>
              <a:t>当TS(T) = W-timestamp(Q</a:t>
            </a:r>
            <a:r>
              <a:rPr lang="zh-CN" altLang="zh-CN" baseline="-25000" dirty="0">
                <a:latin typeface="+mn-lt"/>
                <a:ea typeface="+mn-ea"/>
              </a:rPr>
              <a:t>k</a:t>
            </a:r>
            <a:r>
              <a:rPr lang="zh-CN" altLang="zh-CN" dirty="0">
                <a:latin typeface="+mn-lt"/>
                <a:ea typeface="+mn-ea"/>
              </a:rPr>
              <a:t>)时，覆盖Q</a:t>
            </a:r>
            <a:r>
              <a:rPr lang="zh-CN" altLang="zh-CN" baseline="-25000" dirty="0">
                <a:latin typeface="+mn-lt"/>
                <a:ea typeface="+mn-ea"/>
              </a:rPr>
              <a:t>k</a:t>
            </a:r>
            <a:r>
              <a:rPr lang="zh-CN" altLang="zh-CN" dirty="0">
                <a:latin typeface="+mn-lt"/>
                <a:ea typeface="+mn-ea"/>
              </a:rPr>
              <a:t>的内容</a:t>
            </a:r>
          </a:p>
          <a:p>
            <a:pPr lvl="1">
              <a:lnSpc>
                <a:spcPct val="120000"/>
              </a:lnSpc>
              <a:spcBef>
                <a:spcPct val="0"/>
              </a:spcBef>
            </a:pPr>
            <a:r>
              <a:rPr lang="zh-CN" altLang="zh-CN" sz="2200" dirty="0"/>
              <a:t>否则，创建Q的新版本</a:t>
            </a:r>
          </a:p>
          <a:p>
            <a:pPr lvl="1">
              <a:lnSpc>
                <a:spcPct val="120000"/>
              </a:lnSpc>
              <a:spcBef>
                <a:spcPct val="0"/>
              </a:spcBef>
            </a:pPr>
            <a:r>
              <a:rPr lang="zh-CN" altLang="zh-CN" sz="2200" dirty="0"/>
              <a:t>若一个数据对象的两个版本和，其W-timestamp都小于系统中最老的事务的时间戳，那么这两个版本中较旧的那个版本将不再被用到，可以从系统中删除</a:t>
            </a:r>
          </a:p>
          <a:p>
            <a:pPr eaLnBrk="1" hangingPunct="1"/>
            <a:endParaRPr lang="zh-CN" altLang="zh-CN" sz="18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a:xfrm>
            <a:off x="2438400" y="255588"/>
            <a:ext cx="7391400" cy="5635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a:ln>
                  <a:noFill/>
                </a:ln>
                <a:solidFill>
                  <a:schemeClr val="bg1"/>
                </a:solidFill>
                <a:effectLst/>
                <a:uLnTx/>
                <a:uFillTx/>
                <a:latin typeface="+mn-ea"/>
                <a:ea typeface="+mn-ea"/>
                <a:cs typeface="+mj-cs"/>
              </a:rPr>
              <a:t>多版本并发控制（续）</a:t>
            </a:r>
          </a:p>
        </p:txBody>
      </p:sp>
      <p:sp>
        <p:nvSpPr>
          <p:cNvPr id="131075" name="Rectangle 3"/>
          <p:cNvSpPr>
            <a:spLocks noGrp="1"/>
          </p:cNvSpPr>
          <p:nvPr>
            <p:ph idx="1"/>
          </p:nvPr>
        </p:nvSpPr>
        <p:spPr>
          <a:xfrm>
            <a:off x="644525" y="1196975"/>
            <a:ext cx="10656888" cy="4783138"/>
          </a:xfrm>
        </p:spPr>
        <p:txBody>
          <a:bodyPr vert="horz" wrap="square" lIns="91440" tIns="45720" rIns="91440" bIns="45720" anchor="t" anchorCtr="0"/>
          <a:lstStyle/>
          <a:p>
            <a:pPr eaLnBrk="1" hangingPunct="1">
              <a:lnSpc>
                <a:spcPct val="150000"/>
              </a:lnSpc>
            </a:pPr>
            <a:r>
              <a:rPr lang="zh-CN" altLang="zh-CN" dirty="0"/>
              <a:t>多版本并发控制利用物理存储上的多版本来维护数据的一致性</a:t>
            </a:r>
          </a:p>
          <a:p>
            <a:pPr eaLnBrk="1" hangingPunct="1">
              <a:lnSpc>
                <a:spcPct val="150000"/>
              </a:lnSpc>
            </a:pPr>
            <a:r>
              <a:rPr lang="zh-CN" altLang="zh-CN" dirty="0"/>
              <a:t>多版本并发控制和封锁机制相比，主要的好处是消除了数据库中数据对象读和写操作的冲突，有效地提高了系统的性能</a:t>
            </a:r>
          </a:p>
          <a:p>
            <a:pPr eaLnBrk="1" hangingPunct="1">
              <a:lnSpc>
                <a:spcPct val="150000"/>
              </a:lnSpc>
            </a:pPr>
            <a:r>
              <a:rPr lang="zh-CN" altLang="zh-CN" dirty="0"/>
              <a:t>多版本并发控制方法有利于提高事务的并发度，但也会产生大量的无效版本，而且在事务的结束时刻，其所影响的元组的有效性不能马上确定。</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标题 1"/>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en-US" altLang="zh-CN" sz="3600" dirty="0"/>
              <a:t>12.9 </a:t>
            </a:r>
            <a:r>
              <a:rPr lang="zh-CN" altLang="en-US" sz="3600" dirty="0"/>
              <a:t>其他并发控制机制</a:t>
            </a:r>
          </a:p>
        </p:txBody>
      </p:sp>
      <p:sp>
        <p:nvSpPr>
          <p:cNvPr id="132099" name="内容占位符 2"/>
          <p:cNvSpPr>
            <a:spLocks noGrp="1"/>
          </p:cNvSpPr>
          <p:nvPr>
            <p:ph idx="1"/>
          </p:nvPr>
        </p:nvSpPr>
        <p:spPr>
          <a:xfrm>
            <a:off x="1558925" y="1341438"/>
            <a:ext cx="8229600" cy="4911725"/>
          </a:xfrm>
        </p:spPr>
        <p:txBody>
          <a:bodyPr vert="horz" wrap="square" lIns="91440" tIns="45720" rIns="91440" bIns="45720" anchor="t" anchorCtr="0"/>
          <a:lstStyle/>
          <a:p>
            <a:pPr marL="0" indent="0" eaLnBrk="1" hangingPunct="1">
              <a:buNone/>
            </a:pPr>
            <a:r>
              <a:rPr lang="en-US" altLang="zh-CN" dirty="0"/>
              <a:t>12.9.1 </a:t>
            </a:r>
            <a:r>
              <a:rPr lang="zh-CN" altLang="en-US" dirty="0"/>
              <a:t>多版本并发控制</a:t>
            </a:r>
          </a:p>
          <a:p>
            <a:pPr marL="0" indent="0" eaLnBrk="1" hangingPunct="1">
              <a:buNone/>
            </a:pPr>
            <a:endParaRPr lang="en-US" altLang="zh-CN" dirty="0"/>
          </a:p>
          <a:p>
            <a:pPr marL="0" indent="0" eaLnBrk="1" hangingPunct="1">
              <a:buNone/>
            </a:pPr>
            <a:r>
              <a:rPr lang="en-US" altLang="zh-CN" dirty="0">
                <a:solidFill>
                  <a:srgbClr val="00B050"/>
                </a:solidFill>
              </a:rPr>
              <a:t>12.9.2 </a:t>
            </a:r>
            <a:r>
              <a:rPr lang="zh-CN" altLang="en-US" dirty="0">
                <a:solidFill>
                  <a:srgbClr val="00B050"/>
                </a:solidFill>
              </a:rPr>
              <a:t>改进的多版本并发控制</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a:xfrm>
            <a:off x="2438400" y="255588"/>
            <a:ext cx="7391400" cy="5635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0" cap="none" spc="0" normalizeH="0" baseline="0" noProof="0">
                <a:ln>
                  <a:noFill/>
                </a:ln>
                <a:solidFill>
                  <a:schemeClr val="bg1"/>
                </a:solidFill>
                <a:effectLst/>
                <a:uLnTx/>
                <a:uFillTx/>
                <a:latin typeface="+mn-ea"/>
                <a:ea typeface="+mn-ea"/>
                <a:cs typeface="+mj-cs"/>
              </a:rPr>
              <a:t>12.9.2 </a:t>
            </a:r>
            <a:r>
              <a:rPr kumimoji="0" lang="zh-CN" altLang="en-US" sz="3600" b="1" i="0" u="none" strike="noStrike" kern="0" cap="none" spc="0" normalizeH="0" baseline="0" noProof="0">
                <a:ln>
                  <a:noFill/>
                </a:ln>
                <a:solidFill>
                  <a:schemeClr val="bg1"/>
                </a:solidFill>
                <a:effectLst/>
                <a:uLnTx/>
                <a:uFillTx/>
                <a:latin typeface="+mn-ea"/>
                <a:ea typeface="+mn-ea"/>
                <a:cs typeface="+mj-cs"/>
              </a:rPr>
              <a:t>改进的多版本并发控制</a:t>
            </a:r>
          </a:p>
        </p:txBody>
      </p:sp>
      <p:sp>
        <p:nvSpPr>
          <p:cNvPr id="133123" name="Rectangle 3"/>
          <p:cNvSpPr>
            <a:spLocks noGrp="1"/>
          </p:cNvSpPr>
          <p:nvPr>
            <p:ph idx="1"/>
          </p:nvPr>
        </p:nvSpPr>
        <p:spPr>
          <a:xfrm>
            <a:off x="982663" y="1341438"/>
            <a:ext cx="10226675" cy="5127625"/>
          </a:xfrm>
        </p:spPr>
        <p:txBody>
          <a:bodyPr vert="horz" wrap="square" lIns="91440" tIns="45720" rIns="91440" bIns="45720" anchor="t" anchorCtr="0"/>
          <a:lstStyle/>
          <a:p>
            <a:pPr eaLnBrk="1" hangingPunct="1">
              <a:lnSpc>
                <a:spcPct val="150000"/>
              </a:lnSpc>
            </a:pPr>
            <a:r>
              <a:rPr lang="zh-CN" altLang="zh-CN" dirty="0"/>
              <a:t>区分事务的类型</a:t>
            </a:r>
          </a:p>
          <a:p>
            <a:pPr lvl="1">
              <a:lnSpc>
                <a:spcPct val="150000"/>
              </a:lnSpc>
            </a:pPr>
            <a:r>
              <a:rPr lang="zh-CN" altLang="zh-CN" dirty="0"/>
              <a:t>只读事务：发生冲突的可能性很小，可以采用多版本时间戳</a:t>
            </a:r>
          </a:p>
          <a:p>
            <a:pPr lvl="1">
              <a:lnSpc>
                <a:spcPct val="150000"/>
              </a:lnSpc>
            </a:pPr>
            <a:r>
              <a:rPr lang="zh-CN" altLang="zh-CN" dirty="0"/>
              <a:t>更新事务：采用较保守的两阶段封锁(2PL)协议</a:t>
            </a:r>
          </a:p>
          <a:p>
            <a:pPr eaLnBrk="1" hangingPunct="1">
              <a:lnSpc>
                <a:spcPct val="150000"/>
              </a:lnSpc>
            </a:pPr>
            <a:r>
              <a:rPr lang="zh-CN" altLang="zh-CN" dirty="0"/>
              <a:t>以上两种混合协议称为MV2PL</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en-US" sz="3600" dirty="0"/>
              <a:t>改进的多版本并发控制（续）</a:t>
            </a:r>
          </a:p>
        </p:txBody>
      </p:sp>
      <p:sp>
        <p:nvSpPr>
          <p:cNvPr id="119811" name="Rectangle 3"/>
          <p:cNvSpPr>
            <a:spLocks noGrp="1" noChangeArrowheads="1"/>
          </p:cNvSpPr>
          <p:nvPr>
            <p:ph type="body" sz="half" idx="1"/>
          </p:nvPr>
        </p:nvSpPr>
        <p:spPr>
          <a:xfrm>
            <a:off x="1117600" y="1073150"/>
            <a:ext cx="9720263" cy="5184775"/>
          </a:xfrm>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ct val="20000"/>
              </a:spcBef>
              <a:spcAft>
                <a:spcPct val="0"/>
              </a:spcAft>
              <a:buClrTx/>
              <a:buSzPct val="100000"/>
              <a:buFont typeface="Wingdings" panose="05000000000000000000" pitchFamily="2" charset="2"/>
              <a:buChar char="v"/>
              <a:defRPr/>
            </a:pPr>
            <a:r>
              <a:rPr kumimoji="0" lang="zh-CN" altLang="zh-CN" sz="2800" b="1" i="0" u="none" strike="noStrike" kern="0" cap="none" spc="0" normalizeH="0" baseline="0" noProof="0" dirty="0">
                <a:ln>
                  <a:noFill/>
                </a:ln>
                <a:solidFill>
                  <a:schemeClr val="tx1"/>
                </a:solidFill>
                <a:effectLst/>
                <a:uLnTx/>
                <a:uFillTx/>
                <a:latin typeface="+mn-lt"/>
                <a:ea typeface="+mn-ea"/>
                <a:cs typeface="+mn-cs"/>
              </a:rPr>
              <a:t>MV2PL</a:t>
            </a:r>
            <a:r>
              <a:rPr kumimoji="0" lang="zh-CN" sz="2800" b="1" i="0" u="none" strike="noStrike" kern="0" cap="none" spc="0" normalizeH="0" baseline="0" noProof="0" dirty="0">
                <a:ln>
                  <a:noFill/>
                </a:ln>
                <a:solidFill>
                  <a:schemeClr val="tx1"/>
                </a:solidFill>
                <a:effectLst/>
                <a:uLnTx/>
                <a:uFillTx/>
                <a:latin typeface="+mn-lt"/>
                <a:ea typeface="+mn-ea"/>
                <a:cs typeface="+mn-cs"/>
              </a:rPr>
              <a:t>的具体做法</a:t>
            </a:r>
            <a:r>
              <a:rPr kumimoji="0" lang="zh-CN" altLang="en-US" sz="2000" b="1" i="0" u="none" strike="noStrike" kern="0" cap="none" spc="0" normalizeH="0" baseline="0" noProof="0" dirty="0">
                <a:ln>
                  <a:noFill/>
                </a:ln>
                <a:solidFill>
                  <a:schemeClr val="tx1"/>
                </a:solidFill>
                <a:effectLst/>
                <a:uLnTx/>
                <a:uFillTx/>
                <a:latin typeface="+mn-lt"/>
                <a:ea typeface="+mn-ea"/>
                <a:cs typeface="+mn-cs"/>
              </a:rPr>
              <a:t>：</a:t>
            </a:r>
          </a:p>
          <a:p>
            <a:pPr marL="742950" marR="0" lvl="1" indent="-285750" algn="l" defTabSz="914400" rtl="0" eaLnBrk="0" fontAlgn="base" latinLnBrk="0" hangingPunct="0">
              <a:lnSpc>
                <a:spcPct val="150000"/>
              </a:lnSpc>
              <a:spcBef>
                <a:spcPts val="0"/>
              </a:spcBef>
              <a:spcAft>
                <a:spcPct val="0"/>
              </a:spcAft>
              <a:buClrTx/>
              <a:buSzPct val="100000"/>
              <a:buFont typeface="Wingdings" panose="05000000000000000000" pitchFamily="2" charset="2"/>
              <a:buChar char="n"/>
              <a:defRPr/>
            </a:pPr>
            <a:r>
              <a:rPr kumimoji="0" lang="zh-CN" sz="2400" b="1" i="0" u="none" strike="noStrike" kern="0" cap="none" spc="0" normalizeH="0" baseline="0" noProof="0" dirty="0">
                <a:ln>
                  <a:noFill/>
                </a:ln>
                <a:solidFill>
                  <a:schemeClr val="tx1"/>
                </a:solidFill>
                <a:effectLst/>
                <a:uLnTx/>
                <a:uFillTx/>
                <a:latin typeface="+mn-lt"/>
                <a:ea typeface="+mn-ea"/>
              </a:rPr>
              <a:t>引进一个新的封锁类型：验证锁</a:t>
            </a:r>
            <a:r>
              <a:rPr kumimoji="0" lang="zh-CN" altLang="zh-CN" sz="2400" b="1" i="0" u="none" strike="noStrike" kern="0" cap="none" spc="0" normalizeH="0" baseline="0" noProof="0" dirty="0">
                <a:ln>
                  <a:noFill/>
                </a:ln>
                <a:solidFill>
                  <a:schemeClr val="tx1"/>
                </a:solidFill>
                <a:effectLst/>
                <a:uLnTx/>
                <a:uFillTx/>
                <a:latin typeface="+mn-lt"/>
                <a:ea typeface="+mn-ea"/>
              </a:rPr>
              <a:t>(certify-lock,</a:t>
            </a:r>
            <a:r>
              <a:rPr kumimoji="0" lang="zh-CN" sz="2400" b="1" i="0" u="none" strike="noStrike" kern="0" cap="none" spc="0" normalizeH="0" baseline="0" noProof="0" dirty="0">
                <a:ln>
                  <a:noFill/>
                </a:ln>
                <a:solidFill>
                  <a:schemeClr val="tx1"/>
                </a:solidFill>
                <a:effectLst/>
                <a:uLnTx/>
                <a:uFillTx/>
                <a:latin typeface="+mn-lt"/>
                <a:ea typeface="+mn-ea"/>
              </a:rPr>
              <a:t>或</a:t>
            </a:r>
            <a:r>
              <a:rPr kumimoji="0" lang="zh-CN" altLang="zh-CN" sz="2400" b="1" i="0" u="none" strike="noStrike" kern="0" cap="none" spc="0" normalizeH="0" baseline="0" noProof="0" dirty="0">
                <a:ln>
                  <a:noFill/>
                </a:ln>
                <a:solidFill>
                  <a:schemeClr val="tx1"/>
                </a:solidFill>
                <a:effectLst/>
                <a:uLnTx/>
                <a:uFillTx/>
                <a:latin typeface="+mn-lt"/>
                <a:ea typeface="+mn-ea"/>
              </a:rPr>
              <a:t>C</a:t>
            </a:r>
            <a:r>
              <a:rPr kumimoji="0" lang="zh-CN" sz="2400" b="1" i="0" u="none" strike="noStrike" kern="0" cap="none" spc="0" normalizeH="0" baseline="0" noProof="0" dirty="0">
                <a:ln>
                  <a:noFill/>
                </a:ln>
                <a:solidFill>
                  <a:schemeClr val="tx1"/>
                </a:solidFill>
                <a:effectLst/>
                <a:uLnTx/>
                <a:uFillTx/>
                <a:latin typeface="+mn-lt"/>
                <a:ea typeface="+mn-ea"/>
              </a:rPr>
              <a:t>锁</a:t>
            </a:r>
            <a:r>
              <a:rPr kumimoji="0" lang="zh-CN" altLang="zh-CN" sz="2400" b="1" i="0" u="none" strike="noStrike" kern="0" cap="none" spc="0" normalizeH="0" baseline="0" noProof="0" dirty="0">
                <a:ln>
                  <a:noFill/>
                </a:ln>
                <a:solidFill>
                  <a:schemeClr val="tx1"/>
                </a:solidFill>
                <a:effectLst/>
                <a:uLnTx/>
                <a:uFillTx/>
                <a:latin typeface="+mn-lt"/>
                <a:ea typeface="+mn-ea"/>
              </a:rPr>
              <a:t>)</a:t>
            </a:r>
          </a:p>
          <a:p>
            <a:pPr marL="742950" marR="0" lvl="1" indent="-285750" algn="l" defTabSz="914400" rtl="0" eaLnBrk="0" fontAlgn="base" latinLnBrk="0" hangingPunct="0">
              <a:lnSpc>
                <a:spcPct val="150000"/>
              </a:lnSpc>
              <a:spcBef>
                <a:spcPts val="0"/>
              </a:spcBef>
              <a:spcAft>
                <a:spcPct val="0"/>
              </a:spcAft>
              <a:buClrTx/>
              <a:buSzPct val="100000"/>
              <a:buFont typeface="Wingdings" panose="05000000000000000000" pitchFamily="2" charset="2"/>
              <a:buChar char="n"/>
              <a:defRPr/>
            </a:pPr>
            <a:r>
              <a:rPr kumimoji="0" lang="zh-CN" sz="2400" b="1" i="0" u="none" strike="noStrike" kern="0" cap="none" spc="0" normalizeH="0" baseline="0" noProof="0" dirty="0">
                <a:ln>
                  <a:noFill/>
                </a:ln>
                <a:solidFill>
                  <a:schemeClr val="tx1"/>
                </a:solidFill>
                <a:effectLst/>
                <a:uLnTx/>
                <a:uFillTx/>
                <a:latin typeface="+mn-lt"/>
                <a:ea typeface="+mn-ea"/>
              </a:rPr>
              <a:t>封锁的相容矩阵如图</a:t>
            </a:r>
            <a:endParaRPr kumimoji="0" lang="en-US" altLang="zh-CN" sz="24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50000"/>
              </a:lnSpc>
              <a:spcBef>
                <a:spcPct val="20000"/>
              </a:spcBef>
              <a:spcAft>
                <a:spcPct val="0"/>
              </a:spcAft>
              <a:buClrTx/>
              <a:buSzPct val="100000"/>
              <a:buFont typeface="Wingdings" panose="05000000000000000000" pitchFamily="2" charset="2"/>
              <a:buChar char="n"/>
              <a:defRPr/>
            </a:pPr>
            <a:endParaRPr kumimoji="0" lang="en-US" altLang="zh-CN" sz="18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50000"/>
              </a:lnSpc>
              <a:spcBef>
                <a:spcPct val="20000"/>
              </a:spcBef>
              <a:spcAft>
                <a:spcPct val="0"/>
              </a:spcAft>
              <a:buClrTx/>
              <a:buSzPct val="100000"/>
              <a:buFont typeface="Wingdings" panose="05000000000000000000" pitchFamily="2" charset="2"/>
              <a:buChar char="n"/>
              <a:defRPr/>
            </a:pPr>
            <a:endParaRPr kumimoji="0" lang="en-US" altLang="zh-CN" sz="18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50000"/>
              </a:lnSpc>
              <a:spcBef>
                <a:spcPct val="20000"/>
              </a:spcBef>
              <a:spcAft>
                <a:spcPct val="0"/>
              </a:spcAft>
              <a:buClrTx/>
              <a:buSzPct val="100000"/>
              <a:buFont typeface="Wingdings" panose="05000000000000000000" pitchFamily="2" charset="2"/>
              <a:buChar char="n"/>
              <a:defRPr/>
            </a:pPr>
            <a:endParaRPr kumimoji="0" lang="en-US" altLang="zh-CN" sz="18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50000"/>
              </a:lnSpc>
              <a:spcBef>
                <a:spcPct val="20000"/>
              </a:spcBef>
              <a:spcAft>
                <a:spcPct val="0"/>
              </a:spcAft>
              <a:buClrTx/>
              <a:buSzPct val="100000"/>
              <a:buFont typeface="Wingdings" panose="05000000000000000000" pitchFamily="2" charset="2"/>
              <a:buChar char="n"/>
              <a:defRPr/>
            </a:pPr>
            <a:endParaRPr kumimoji="0" lang="en-US" altLang="zh-CN" sz="18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50000"/>
              </a:lnSpc>
              <a:spcBef>
                <a:spcPct val="20000"/>
              </a:spcBef>
              <a:spcAft>
                <a:spcPct val="0"/>
              </a:spcAft>
              <a:buClrTx/>
              <a:buSzPct val="100000"/>
              <a:buFont typeface="Wingdings" panose="05000000000000000000" pitchFamily="2" charset="2"/>
              <a:buChar char="n"/>
              <a:defRPr/>
            </a:pPr>
            <a:endParaRPr kumimoji="0" lang="en-US" altLang="zh-CN" sz="18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50000"/>
              </a:lnSpc>
              <a:spcBef>
                <a:spcPct val="20000"/>
              </a:spcBef>
              <a:spcAft>
                <a:spcPct val="0"/>
              </a:spcAft>
              <a:buClrTx/>
              <a:buSzPct val="100000"/>
              <a:buFont typeface="Wingdings" panose="05000000000000000000" pitchFamily="2" charset="2"/>
              <a:buChar char="n"/>
              <a:defRPr/>
            </a:pPr>
            <a:endParaRPr kumimoji="0" lang="en-US" altLang="zh-CN" sz="1800" b="1" i="0" u="none" strike="noStrike" kern="0" cap="none" spc="0" normalizeH="0" baseline="0" noProof="0" dirty="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Pct val="100000"/>
              <a:buFont typeface="Wingdings" panose="05000000000000000000" pitchFamily="2" charset="2"/>
              <a:buNone/>
              <a:defRPr/>
            </a:pPr>
            <a:r>
              <a:rPr kumimoji="0" lang="en-US" altLang="zh-CN" sz="1800" b="1" i="0" u="none" strike="noStrike" kern="0" cap="none" spc="0" normalizeH="0" baseline="0" noProof="0" dirty="0">
                <a:ln>
                  <a:noFill/>
                </a:ln>
                <a:solidFill>
                  <a:schemeClr val="tx1"/>
                </a:solidFill>
                <a:effectLst/>
                <a:uLnTx/>
                <a:uFillTx/>
                <a:latin typeface="+mn-lt"/>
                <a:ea typeface="+mn-ea"/>
              </a:rPr>
              <a:t>           Y=Yes</a:t>
            </a:r>
            <a:r>
              <a:rPr kumimoji="0" lang="zh-CN" altLang="en-US" sz="1800" b="1" i="0" u="none" strike="noStrike" kern="0" cap="none" spc="0" normalizeH="0" baseline="0" noProof="0" dirty="0">
                <a:ln>
                  <a:noFill/>
                </a:ln>
                <a:solidFill>
                  <a:schemeClr val="tx1"/>
                </a:solidFill>
                <a:effectLst/>
                <a:uLnTx/>
                <a:uFillTx/>
                <a:latin typeface="+mn-lt"/>
                <a:ea typeface="+mn-ea"/>
              </a:rPr>
              <a:t>，表示相容的请求；</a:t>
            </a:r>
            <a:r>
              <a:rPr kumimoji="0" lang="en-US" altLang="zh-CN" sz="1800" b="1" i="0" u="none" strike="noStrike" kern="0" cap="none" spc="0" normalizeH="0" baseline="0" noProof="0" dirty="0">
                <a:ln>
                  <a:noFill/>
                </a:ln>
                <a:solidFill>
                  <a:schemeClr val="tx1"/>
                </a:solidFill>
                <a:effectLst/>
                <a:uLnTx/>
                <a:uFillTx/>
                <a:latin typeface="+mn-lt"/>
                <a:ea typeface="+mn-ea"/>
              </a:rPr>
              <a:t>N=No</a:t>
            </a:r>
            <a:r>
              <a:rPr kumimoji="0" lang="zh-CN" altLang="en-US" sz="1800" b="1" i="0" u="none" strike="noStrike" kern="0" cap="none" spc="0" normalizeH="0" baseline="0" noProof="0" dirty="0">
                <a:ln>
                  <a:noFill/>
                </a:ln>
                <a:solidFill>
                  <a:schemeClr val="tx1"/>
                </a:solidFill>
                <a:effectLst/>
                <a:uLnTx/>
                <a:uFillTx/>
                <a:latin typeface="+mn-lt"/>
                <a:ea typeface="+mn-ea"/>
              </a:rPr>
              <a:t>，表示不相容的请求</a:t>
            </a:r>
          </a:p>
        </p:txBody>
      </p:sp>
      <p:graphicFrame>
        <p:nvGraphicFramePr>
          <p:cNvPr id="129028" name="Group 4"/>
          <p:cNvGraphicFramePr>
            <a:graphicFrameLocks noGrp="1"/>
          </p:cNvGraphicFramePr>
          <p:nvPr>
            <p:ph sz="half" idx="1"/>
          </p:nvPr>
        </p:nvGraphicFramePr>
        <p:xfrm>
          <a:off x="2927350" y="2924175"/>
          <a:ext cx="6121400" cy="2520950"/>
        </p:xfrm>
        <a:graphic>
          <a:graphicData uri="http://schemas.openxmlformats.org/drawingml/2006/table">
            <a:tbl>
              <a:tblPr/>
              <a:tblGrid>
                <a:gridCol w="1530350">
                  <a:extLst>
                    <a:ext uri="{9D8B030D-6E8A-4147-A177-3AD203B41FA5}">
                      <a16:colId xmlns:a16="http://schemas.microsoft.com/office/drawing/2014/main" val="20000"/>
                    </a:ext>
                  </a:extLst>
                </a:gridCol>
                <a:gridCol w="1528763">
                  <a:extLst>
                    <a:ext uri="{9D8B030D-6E8A-4147-A177-3AD203B41FA5}">
                      <a16:colId xmlns:a16="http://schemas.microsoft.com/office/drawing/2014/main" val="20001"/>
                    </a:ext>
                  </a:extLst>
                </a:gridCol>
                <a:gridCol w="1530350">
                  <a:extLst>
                    <a:ext uri="{9D8B030D-6E8A-4147-A177-3AD203B41FA5}">
                      <a16:colId xmlns:a16="http://schemas.microsoft.com/office/drawing/2014/main" val="20002"/>
                    </a:ext>
                  </a:extLst>
                </a:gridCol>
                <a:gridCol w="1531937">
                  <a:extLst>
                    <a:ext uri="{9D8B030D-6E8A-4147-A177-3AD203B41FA5}">
                      <a16:colId xmlns:a16="http://schemas.microsoft.com/office/drawing/2014/main" val="20003"/>
                    </a:ext>
                  </a:extLst>
                </a:gridCol>
              </a:tblGrid>
              <a:tr h="720725">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endParaRPr kumimoji="0" lang="zh-CN" altLang="zh-CN" sz="2000" b="1" i="0" u="none" strike="noStrike" cap="none" normalizeH="0" baseline="0">
                        <a:ln>
                          <a:noFill/>
                        </a:ln>
                        <a:solidFill>
                          <a:srgbClr val="FFFFFF"/>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rgbClr val="FFFFFF"/>
                          </a:solidFill>
                          <a:effectLst/>
                          <a:latin typeface="Calibri" panose="020F0502020204030204" pitchFamily="34" charset="0"/>
                          <a:ea typeface="宋体" panose="02010600030101010101" pitchFamily="2" charset="-122"/>
                        </a:rPr>
                        <a:t>R-Lock</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rgbClr val="FFFFFF"/>
                          </a:solidFill>
                          <a:effectLst/>
                          <a:latin typeface="Calibri" panose="020F0502020204030204" pitchFamily="34" charset="0"/>
                          <a:ea typeface="宋体" panose="02010600030101010101" pitchFamily="2" charset="-122"/>
                        </a:rPr>
                        <a:t>W-Lock</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altLang="zh-CN" sz="20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C-Lock</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extLst>
                  <a:ext uri="{0D108BD9-81ED-4DB2-BD59-A6C34878D82A}">
                    <a16:rowId xmlns:a16="http://schemas.microsoft.com/office/drawing/2014/main" val="10000"/>
                  </a:ext>
                </a:extLst>
              </a:tr>
              <a:tr h="600075">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rgbClr val="000000"/>
                          </a:solidFill>
                          <a:effectLst/>
                          <a:latin typeface="Calibri" panose="020F0502020204030204" pitchFamily="34" charset="0"/>
                          <a:ea typeface="宋体" panose="02010600030101010101" pitchFamily="2" charset="-122"/>
                        </a:rPr>
                        <a:t>R-Lock</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rgbClr val="000000"/>
                          </a:solidFill>
                          <a:effectLst/>
                          <a:latin typeface="Calibri" panose="020F0502020204030204" pitchFamily="34" charset="0"/>
                          <a:ea typeface="宋体" panose="02010600030101010101" pitchFamily="2" charset="-122"/>
                        </a:rPr>
                        <a:t>Y</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rgbClr val="000000"/>
                          </a:solidFill>
                          <a:effectLst/>
                          <a:latin typeface="Calibri" panose="020F0502020204030204" pitchFamily="34" charset="0"/>
                          <a:ea typeface="宋体" panose="02010600030101010101" pitchFamily="2" charset="-122"/>
                        </a:rPr>
                        <a:t>Y</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rgbClr val="000000"/>
                          </a:solidFill>
                          <a:effectLst/>
                          <a:latin typeface="Calibri" panose="020F0502020204030204" pitchFamily="34" charset="0"/>
                          <a:ea typeface="宋体" panose="02010600030101010101" pitchFamily="2" charset="-122"/>
                        </a:rPr>
                        <a:t>N</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600075">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rgbClr val="000000"/>
                          </a:solidFill>
                          <a:effectLst/>
                          <a:latin typeface="Calibri" panose="020F0502020204030204" pitchFamily="34" charset="0"/>
                          <a:ea typeface="宋体" panose="02010600030101010101" pitchFamily="2" charset="-122"/>
                        </a:rPr>
                        <a:t>W-Lock</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rgbClr val="000000"/>
                          </a:solidFill>
                          <a:effectLst/>
                          <a:latin typeface="Calibri" panose="020F0502020204030204" pitchFamily="34" charset="0"/>
                          <a:ea typeface="宋体" panose="02010600030101010101" pitchFamily="2" charset="-122"/>
                        </a:rPr>
                        <a:t>Y</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rgbClr val="000000"/>
                          </a:solidFill>
                          <a:effectLst/>
                          <a:latin typeface="Calibri" panose="020F0502020204030204" pitchFamily="34" charset="0"/>
                          <a:ea typeface="宋体" panose="02010600030101010101" pitchFamily="2" charset="-122"/>
                        </a:rPr>
                        <a:t>N</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altLang="zh-CN" sz="2000" b="1"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N</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600075">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altLang="zh-CN" sz="2000" b="1"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C-Lock</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rgbClr val="000000"/>
                          </a:solidFill>
                          <a:effectLst/>
                          <a:latin typeface="Calibri" panose="020F0502020204030204" pitchFamily="34" charset="0"/>
                          <a:ea typeface="宋体" panose="02010600030101010101" pitchFamily="2" charset="-122"/>
                        </a:rPr>
                        <a:t>N</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rgbClr val="000000"/>
                          </a:solidFill>
                          <a:effectLst/>
                          <a:latin typeface="Calibri" panose="020F0502020204030204" pitchFamily="34" charset="0"/>
                          <a:ea typeface="宋体" panose="02010600030101010101" pitchFamily="2" charset="-122"/>
                        </a:rPr>
                        <a:t>N</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r>
                        <a:rPr kumimoji="0" lang="zh-CN" altLang="zh-CN" sz="2000" b="1"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N</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p:cNvSpPr>
          <p:nvPr>
            <p:ph type="title"/>
          </p:nvPr>
        </p:nvSpPr>
        <p:spPr>
          <a:xfrm>
            <a:off x="2438400" y="255588"/>
            <a:ext cx="7391400" cy="563562"/>
          </a:xfrm>
        </p:spPr>
        <p:txBody>
          <a:bodyPr vert="horz" wrap="square" lIns="91440" tIns="45720" rIns="91440" bIns="45720" anchor="ctr" anchorCtr="0"/>
          <a:lstStyle/>
          <a:p>
            <a:pPr eaLnBrk="1" hangingPunct="1"/>
            <a:r>
              <a:rPr lang="zh-CN" altLang="en-US" sz="3600" dirty="0"/>
              <a:t>改进的多版本并发控制（续）</a:t>
            </a:r>
          </a:p>
        </p:txBody>
      </p:sp>
      <p:sp>
        <p:nvSpPr>
          <p:cNvPr id="135171" name="Rectangle 3"/>
          <p:cNvSpPr>
            <a:spLocks noGrp="1"/>
          </p:cNvSpPr>
          <p:nvPr>
            <p:ph type="body" sz="half" idx="1"/>
          </p:nvPr>
        </p:nvSpPr>
        <p:spPr>
          <a:xfrm>
            <a:off x="839788" y="981075"/>
            <a:ext cx="10512425" cy="5256213"/>
          </a:xfrm>
        </p:spPr>
        <p:txBody>
          <a:bodyPr vert="horz" wrap="square" lIns="91440" tIns="45720" rIns="91440" bIns="45720" anchor="t" anchorCtr="0"/>
          <a:lstStyle/>
          <a:p>
            <a:pPr eaLnBrk="1" hangingPunct="1">
              <a:lnSpc>
                <a:spcPct val="120000"/>
              </a:lnSpc>
              <a:spcBef>
                <a:spcPct val="0"/>
              </a:spcBef>
              <a:buClrTx/>
              <a:buSzPct val="100000"/>
              <a:buFont typeface="Wingdings" panose="05000000000000000000" pitchFamily="2" charset="2"/>
            </a:pPr>
            <a:r>
              <a:rPr lang="zh-CN" altLang="en-US" dirty="0"/>
              <a:t>相容矩阵中</a:t>
            </a:r>
            <a:endParaRPr lang="zh-CN" altLang="zh-CN" dirty="0"/>
          </a:p>
          <a:p>
            <a:pPr lvl="1">
              <a:lnSpc>
                <a:spcPct val="120000"/>
              </a:lnSpc>
              <a:spcBef>
                <a:spcPct val="0"/>
              </a:spcBef>
              <a:buSzPct val="100000"/>
              <a:buFont typeface="Wingdings" panose="05000000000000000000" pitchFamily="2" charset="2"/>
            </a:pPr>
            <a:r>
              <a:rPr lang="zh-CN" altLang="zh-CN" dirty="0"/>
              <a:t>读锁和写锁变</a:t>
            </a:r>
            <a:r>
              <a:rPr lang="zh-CN" altLang="en-US" dirty="0"/>
              <a:t>得是</a:t>
            </a:r>
            <a:r>
              <a:rPr lang="zh-CN" altLang="zh-CN" dirty="0"/>
              <a:t>相容的了</a:t>
            </a:r>
          </a:p>
          <a:p>
            <a:pPr lvl="1">
              <a:lnSpc>
                <a:spcPct val="120000"/>
              </a:lnSpc>
              <a:spcBef>
                <a:spcPct val="0"/>
              </a:spcBef>
              <a:buSzPct val="100000"/>
              <a:buFont typeface="Wingdings" panose="05000000000000000000" pitchFamily="2" charset="2"/>
            </a:pPr>
            <a:r>
              <a:rPr lang="zh-CN" altLang="zh-CN" dirty="0"/>
              <a:t>当某个事务写数据对象的时候，允许其他事务读数据</a:t>
            </a:r>
            <a:r>
              <a:rPr lang="zh-CN" altLang="en-US" dirty="0"/>
              <a:t>（</a:t>
            </a:r>
            <a:r>
              <a:rPr lang="zh-CN" altLang="zh-CN" dirty="0"/>
              <a:t>写操作将生成一个新的版本，而读操作就是在旧的版本上读）</a:t>
            </a:r>
          </a:p>
          <a:p>
            <a:pPr lvl="1">
              <a:lnSpc>
                <a:spcPct val="120000"/>
              </a:lnSpc>
              <a:spcBef>
                <a:spcPct val="0"/>
              </a:spcBef>
              <a:buSzPct val="100000"/>
              <a:buFont typeface="Wingdings" panose="05000000000000000000" pitchFamily="2" charset="2"/>
            </a:pPr>
            <a:r>
              <a:rPr lang="zh-CN" altLang="zh-CN" dirty="0"/>
              <a:t>一旦写事务要提交的时候，必须首先获得在那些加了写锁的数据对象上的验证锁</a:t>
            </a:r>
          </a:p>
          <a:p>
            <a:pPr lvl="1">
              <a:lnSpc>
                <a:spcPct val="120000"/>
              </a:lnSpc>
              <a:spcBef>
                <a:spcPct val="0"/>
              </a:spcBef>
              <a:buSzPct val="100000"/>
              <a:buFont typeface="Wingdings" panose="05000000000000000000" pitchFamily="2" charset="2"/>
            </a:pPr>
            <a:r>
              <a:rPr lang="zh-CN" altLang="zh-CN" dirty="0"/>
              <a:t>为了得到验证锁，写事务需要延迟它的提交，直到所有被</a:t>
            </a:r>
            <a:r>
              <a:rPr lang="zh-CN" altLang="en-US" dirty="0"/>
              <a:t>它</a:t>
            </a:r>
            <a:r>
              <a:rPr lang="zh-CN" altLang="zh-CN" dirty="0"/>
              <a:t>加上写锁的数据对象都被所有那些正在读</a:t>
            </a:r>
            <a:r>
              <a:rPr lang="zh-CN" altLang="en-US" dirty="0"/>
              <a:t>它</a:t>
            </a:r>
            <a:r>
              <a:rPr lang="zh-CN" altLang="zh-CN" dirty="0"/>
              <a:t>们的事务释放</a:t>
            </a:r>
          </a:p>
          <a:p>
            <a:pPr lvl="1">
              <a:lnSpc>
                <a:spcPct val="120000"/>
              </a:lnSpc>
              <a:spcBef>
                <a:spcPct val="0"/>
              </a:spcBef>
              <a:buSzPct val="100000"/>
              <a:buFont typeface="Wingdings" panose="05000000000000000000" pitchFamily="2" charset="2"/>
            </a:pPr>
            <a:r>
              <a:rPr lang="zh-CN" altLang="zh-CN" dirty="0"/>
              <a:t>一旦写事务获得验证锁，系统丢弃数据对象的旧值，代之以新版本，然后释放验证锁，提交事务。</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a:xfrm>
            <a:off x="2438400" y="255588"/>
            <a:ext cx="7391400" cy="5635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a:ln>
                  <a:noFill/>
                </a:ln>
                <a:solidFill>
                  <a:schemeClr val="bg1"/>
                </a:solidFill>
                <a:effectLst/>
                <a:uLnTx/>
                <a:uFillTx/>
                <a:latin typeface="+mn-ea"/>
                <a:ea typeface="+mn-ea"/>
                <a:cs typeface="+mj-cs"/>
              </a:rPr>
              <a:t>改进的多版本并发控制（续）</a:t>
            </a:r>
          </a:p>
        </p:txBody>
      </p:sp>
      <p:sp>
        <p:nvSpPr>
          <p:cNvPr id="136195" name="Rectangle 3"/>
          <p:cNvSpPr>
            <a:spLocks noGrp="1"/>
          </p:cNvSpPr>
          <p:nvPr>
            <p:ph idx="1"/>
          </p:nvPr>
        </p:nvSpPr>
        <p:spPr>
          <a:xfrm>
            <a:off x="334963" y="1341438"/>
            <a:ext cx="11377612" cy="4751387"/>
          </a:xfrm>
        </p:spPr>
        <p:txBody>
          <a:bodyPr vert="horz" wrap="square" lIns="91440" tIns="45720" rIns="91440" bIns="45720" anchor="t" anchorCtr="0"/>
          <a:lstStyle/>
          <a:p>
            <a:pPr eaLnBrk="1" hangingPunct="1">
              <a:lnSpc>
                <a:spcPct val="150000"/>
              </a:lnSpc>
              <a:spcBef>
                <a:spcPct val="0"/>
              </a:spcBef>
            </a:pPr>
            <a:r>
              <a:rPr lang="zh-CN" altLang="zh-CN" dirty="0"/>
              <a:t>系统最多只要维护数据对象的两个版本，多个读操作可以和一个写操作并发执行，提高了读写事务之间的并发度</a:t>
            </a:r>
          </a:p>
          <a:p>
            <a:pPr eaLnBrk="1" hangingPunct="1">
              <a:lnSpc>
                <a:spcPct val="150000"/>
              </a:lnSpc>
              <a:spcBef>
                <a:spcPct val="0"/>
              </a:spcBef>
            </a:pPr>
            <a:r>
              <a:rPr lang="zh-CN" altLang="zh-CN" dirty="0"/>
              <a:t>MV2PL把封锁机制和时间戳方法相结合，维护一个数据的多个版本</a:t>
            </a:r>
          </a:p>
          <a:p>
            <a:pPr eaLnBrk="1" hangingPunct="1">
              <a:lnSpc>
                <a:spcPct val="150000"/>
              </a:lnSpc>
              <a:spcBef>
                <a:spcPct val="0"/>
              </a:spcBef>
            </a:pPr>
            <a:r>
              <a:rPr lang="zh-CN" altLang="zh-CN" dirty="0"/>
              <a:t>MV2PL和封锁机制相比，多版本并发控制对读锁与写锁要求不冲突，所以读不会阻塞写，写也不阻塞读，从而有效地提高了系统的并发性</a:t>
            </a:r>
          </a:p>
          <a:p>
            <a:pPr eaLnBrk="1" hangingPunct="1"/>
            <a:endParaRPr lang="zh-CN" altLang="zh-CN" sz="18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p:cNvSpPr>
          <p:nvPr>
            <p:ph type="title"/>
          </p:nvPr>
        </p:nvSpPr>
        <p:spPr>
          <a:xfrm>
            <a:off x="2438400" y="184150"/>
            <a:ext cx="7391400" cy="563563"/>
          </a:xfrm>
        </p:spPr>
        <p:txBody>
          <a:bodyPr vert="horz" wrap="square" lIns="91440" tIns="45720" rIns="91440" bIns="45720" anchor="ctr" anchorCtr="0"/>
          <a:lstStyle/>
          <a:p>
            <a:pPr eaLnBrk="1" hangingPunct="1"/>
            <a:r>
              <a:rPr lang="zh-CN" altLang="zh-CN" sz="3600" dirty="0"/>
              <a:t>第十</a:t>
            </a:r>
            <a:r>
              <a:rPr lang="zh-CN" altLang="en-US" sz="3600" dirty="0"/>
              <a:t>二</a:t>
            </a:r>
            <a:r>
              <a:rPr lang="zh-CN" altLang="zh-CN" sz="3600" dirty="0"/>
              <a:t>章  并发控制</a:t>
            </a:r>
          </a:p>
        </p:txBody>
      </p:sp>
      <p:sp>
        <p:nvSpPr>
          <p:cNvPr id="137219" name="Rectangle 3"/>
          <p:cNvSpPr>
            <a:spLocks noGrp="1"/>
          </p:cNvSpPr>
          <p:nvPr>
            <p:ph type="body"/>
          </p:nvPr>
        </p:nvSpPr>
        <p:spPr>
          <a:xfrm>
            <a:off x="1416050" y="981075"/>
            <a:ext cx="7715250" cy="5111750"/>
          </a:xfrm>
        </p:spPr>
        <p:txBody>
          <a:bodyPr vert="horz" wrap="square" lIns="91440" tIns="45720" rIns="91440" bIns="45720" anchor="t" anchorCtr="0"/>
          <a:lstStyle/>
          <a:p>
            <a:pPr marL="0" indent="0" algn="just" eaLnBrk="1" hangingPunct="1">
              <a:lnSpc>
                <a:spcPct val="130000"/>
              </a:lnSpc>
              <a:buNone/>
            </a:pPr>
            <a:r>
              <a:rPr lang="en-US" altLang="zh-CN" sz="2400" dirty="0"/>
              <a:t>12.1  </a:t>
            </a:r>
            <a:r>
              <a:rPr lang="zh-CN" altLang="en-US" sz="2400" dirty="0"/>
              <a:t>并发控制概述</a:t>
            </a:r>
          </a:p>
          <a:p>
            <a:pPr marL="0" indent="0" algn="just" eaLnBrk="1" hangingPunct="1">
              <a:lnSpc>
                <a:spcPct val="130000"/>
              </a:lnSpc>
              <a:buNone/>
            </a:pPr>
            <a:r>
              <a:rPr lang="en-US" altLang="zh-CN" sz="2400" dirty="0"/>
              <a:t>12.2  </a:t>
            </a:r>
            <a:r>
              <a:rPr lang="zh-CN" altLang="en-US" sz="2400" dirty="0"/>
              <a:t>事务的隔离级别</a:t>
            </a:r>
            <a:endParaRPr lang="en-US" altLang="zh-CN" sz="2400" dirty="0"/>
          </a:p>
          <a:p>
            <a:pPr marL="0" indent="0" algn="just" eaLnBrk="1" hangingPunct="1">
              <a:lnSpc>
                <a:spcPct val="130000"/>
              </a:lnSpc>
              <a:buNone/>
            </a:pPr>
            <a:r>
              <a:rPr lang="en-US" altLang="zh-CN" sz="2400" dirty="0"/>
              <a:t>12.3  </a:t>
            </a:r>
            <a:r>
              <a:rPr lang="zh-CN" altLang="en-US" sz="2400" dirty="0"/>
              <a:t>封锁</a:t>
            </a:r>
            <a:endParaRPr lang="en-US" altLang="zh-CN" sz="2400" dirty="0"/>
          </a:p>
          <a:p>
            <a:pPr marL="0" indent="0" algn="just" eaLnBrk="1" hangingPunct="1">
              <a:lnSpc>
                <a:spcPct val="130000"/>
              </a:lnSpc>
              <a:buNone/>
            </a:pPr>
            <a:r>
              <a:rPr lang="en-US" altLang="zh-CN" sz="2400" dirty="0"/>
              <a:t>12.4 </a:t>
            </a:r>
            <a:r>
              <a:rPr lang="zh-CN" altLang="en-US" sz="2400" dirty="0"/>
              <a:t> 封锁协议</a:t>
            </a:r>
          </a:p>
          <a:p>
            <a:pPr marL="0" indent="0" algn="just" eaLnBrk="1" hangingPunct="1">
              <a:lnSpc>
                <a:spcPct val="130000"/>
              </a:lnSpc>
              <a:buNone/>
            </a:pPr>
            <a:r>
              <a:rPr lang="en-US" altLang="zh-CN" sz="2400" dirty="0"/>
              <a:t>12.5  </a:t>
            </a:r>
            <a:r>
              <a:rPr lang="zh-CN" altLang="en-US" sz="2400" dirty="0"/>
              <a:t>活锁和死锁</a:t>
            </a:r>
          </a:p>
          <a:p>
            <a:pPr marL="0" indent="0" algn="just" eaLnBrk="1" hangingPunct="1">
              <a:lnSpc>
                <a:spcPct val="130000"/>
              </a:lnSpc>
              <a:buNone/>
            </a:pPr>
            <a:r>
              <a:rPr lang="en-US" altLang="zh-CN" sz="2400" dirty="0"/>
              <a:t>12.6  </a:t>
            </a:r>
            <a:r>
              <a:rPr lang="zh-CN" altLang="en-US" sz="2400" dirty="0"/>
              <a:t>并发调度的可串行性</a:t>
            </a:r>
          </a:p>
          <a:p>
            <a:pPr marL="0" indent="0" algn="just" eaLnBrk="1" hangingPunct="1">
              <a:lnSpc>
                <a:spcPct val="130000"/>
              </a:lnSpc>
              <a:buNone/>
            </a:pPr>
            <a:r>
              <a:rPr lang="en-US" altLang="zh-CN" sz="2400" dirty="0"/>
              <a:t>12.7  </a:t>
            </a:r>
            <a:r>
              <a:rPr lang="zh-CN" altLang="en-US" sz="2400" dirty="0"/>
              <a:t>两段锁协议</a:t>
            </a:r>
          </a:p>
          <a:p>
            <a:pPr marL="0" indent="0" algn="just" eaLnBrk="1" hangingPunct="1">
              <a:lnSpc>
                <a:spcPct val="130000"/>
              </a:lnSpc>
              <a:buNone/>
            </a:pPr>
            <a:r>
              <a:rPr lang="en-US" altLang="zh-CN" sz="2400" dirty="0"/>
              <a:t>12.8  </a:t>
            </a:r>
            <a:r>
              <a:rPr lang="zh-CN" altLang="en-US" sz="2400" dirty="0"/>
              <a:t>封锁的粒度</a:t>
            </a:r>
          </a:p>
          <a:p>
            <a:pPr marL="0" indent="0" algn="just" eaLnBrk="1" hangingPunct="1">
              <a:lnSpc>
                <a:spcPct val="130000"/>
              </a:lnSpc>
              <a:buNone/>
            </a:pPr>
            <a:r>
              <a:rPr lang="zh-CN" altLang="en-US" sz="2400" dirty="0"/>
              <a:t>*</a:t>
            </a:r>
            <a:r>
              <a:rPr lang="en-US" altLang="zh-CN" sz="2400" dirty="0"/>
              <a:t>12.9  </a:t>
            </a:r>
            <a:r>
              <a:rPr lang="zh-CN" altLang="en-US" sz="2400" dirty="0"/>
              <a:t>其他并发控制机制</a:t>
            </a:r>
          </a:p>
          <a:p>
            <a:pPr marL="0" indent="0" algn="just" eaLnBrk="1" hangingPunct="1">
              <a:lnSpc>
                <a:spcPct val="130000"/>
              </a:lnSpc>
              <a:buNone/>
            </a:pPr>
            <a:r>
              <a:rPr lang="zh-CN" altLang="en-US" sz="2400" dirty="0">
                <a:solidFill>
                  <a:srgbClr val="0066FF"/>
                </a:solidFill>
              </a:rPr>
              <a:t>1</a:t>
            </a:r>
            <a:r>
              <a:rPr lang="en-US" altLang="zh-CN" sz="2400" dirty="0">
                <a:solidFill>
                  <a:srgbClr val="0066FF"/>
                </a:solidFill>
              </a:rPr>
              <a:t>2</a:t>
            </a:r>
            <a:r>
              <a:rPr lang="zh-CN" altLang="en-US" sz="2400" dirty="0">
                <a:solidFill>
                  <a:srgbClr val="0066FF"/>
                </a:solidFill>
              </a:rPr>
              <a:t>.</a:t>
            </a:r>
            <a:r>
              <a:rPr lang="en-US" altLang="zh-CN" sz="2400" dirty="0">
                <a:solidFill>
                  <a:srgbClr val="0066FF"/>
                </a:solidFill>
              </a:rPr>
              <a:t>10</a:t>
            </a:r>
            <a:r>
              <a:rPr lang="zh-CN" altLang="en-US" sz="2400" dirty="0">
                <a:solidFill>
                  <a:srgbClr val="0066FF"/>
                </a:solidFill>
              </a:rPr>
              <a:t>  小结</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0" cap="none" spc="0" normalizeH="0" baseline="0" noProof="0">
                <a:ln>
                  <a:noFill/>
                </a:ln>
                <a:solidFill>
                  <a:schemeClr val="bg1"/>
                </a:solidFill>
                <a:effectLst/>
                <a:uLnTx/>
                <a:uFillTx/>
                <a:latin typeface="+mn-ea"/>
                <a:ea typeface="+mn-ea"/>
                <a:cs typeface="+mj-cs"/>
              </a:rPr>
              <a:t>12.10 </a:t>
            </a:r>
            <a:r>
              <a:rPr kumimoji="0" lang="zh-CN" altLang="en-US" sz="3600" b="1" i="0" u="none" strike="noStrike" kern="0" cap="none" spc="0" normalizeH="0" baseline="0" noProof="0">
                <a:ln>
                  <a:noFill/>
                </a:ln>
                <a:solidFill>
                  <a:schemeClr val="bg1"/>
                </a:solidFill>
                <a:effectLst/>
                <a:uLnTx/>
                <a:uFillTx/>
                <a:latin typeface="+mn-ea"/>
                <a:ea typeface="+mn-ea"/>
                <a:cs typeface="+mj-cs"/>
              </a:rPr>
              <a:t>小结</a:t>
            </a:r>
          </a:p>
        </p:txBody>
      </p:sp>
      <p:sp>
        <p:nvSpPr>
          <p:cNvPr id="138243" name="Rectangle 3"/>
          <p:cNvSpPr>
            <a:spLocks noGrp="1"/>
          </p:cNvSpPr>
          <p:nvPr>
            <p:ph idx="1"/>
          </p:nvPr>
        </p:nvSpPr>
        <p:spPr>
          <a:xfrm>
            <a:off x="1127125" y="1339850"/>
            <a:ext cx="10972800" cy="4854575"/>
          </a:xfrm>
        </p:spPr>
        <p:txBody>
          <a:bodyPr vert="horz" wrap="square" lIns="91440" tIns="45720" rIns="91440" bIns="45720" anchor="t" anchorCtr="0"/>
          <a:lstStyle/>
          <a:p>
            <a:pPr eaLnBrk="1" hangingPunct="1">
              <a:lnSpc>
                <a:spcPct val="190000"/>
              </a:lnSpc>
            </a:pPr>
            <a:r>
              <a:rPr lang="zh-CN" altLang="en-US" dirty="0"/>
              <a:t>数据库的并发控制以事务为单位</a:t>
            </a:r>
          </a:p>
          <a:p>
            <a:pPr eaLnBrk="1" hangingPunct="1">
              <a:lnSpc>
                <a:spcPct val="190000"/>
              </a:lnSpc>
            </a:pPr>
            <a:r>
              <a:rPr lang="zh-CN" altLang="en-US" dirty="0"/>
              <a:t>数据库的并发控制通常使用封锁机制</a:t>
            </a:r>
          </a:p>
          <a:p>
            <a:pPr lvl="1" eaLnBrk="1" hangingPunct="1">
              <a:lnSpc>
                <a:spcPct val="190000"/>
              </a:lnSpc>
            </a:pPr>
            <a:r>
              <a:rPr lang="zh-CN" altLang="en-US" dirty="0"/>
              <a:t>基本封锁</a:t>
            </a:r>
            <a:endParaRPr lang="en-US" altLang="zh-CN" dirty="0"/>
          </a:p>
          <a:p>
            <a:pPr lvl="1" eaLnBrk="1" hangingPunct="1">
              <a:lnSpc>
                <a:spcPct val="190000"/>
              </a:lnSpc>
            </a:pPr>
            <a:r>
              <a:rPr lang="zh-CN" altLang="en-US" dirty="0"/>
              <a:t>多粒度封锁</a:t>
            </a:r>
            <a:endParaRPr lang="en-US" altLang="zh-CN" dirty="0"/>
          </a:p>
          <a:p>
            <a:pPr eaLnBrk="1" hangingPunct="1">
              <a:lnSpc>
                <a:spcPct val="190000"/>
              </a:lnSpc>
            </a:pPr>
            <a:r>
              <a:rPr lang="zh-CN" altLang="en-US" dirty="0"/>
              <a:t>活锁和死锁</a:t>
            </a:r>
            <a:endParaRPr lang="en-US" altLang="zh-CN" dirty="0"/>
          </a:p>
          <a:p>
            <a:pPr eaLnBrk="1" hangingPunct="1">
              <a:lnSpc>
                <a:spcPct val="190000"/>
              </a:lnSpc>
            </a:pPr>
            <a:endParaRPr lang="zh-CN" altLang="en-US" dirty="0"/>
          </a:p>
          <a:p>
            <a:pPr eaLnBrk="1" hangingPunct="1"/>
            <a:endParaRPr lang="en-US" altLang="zh-CN" sz="24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a:ln>
                  <a:noFill/>
                </a:ln>
                <a:solidFill>
                  <a:schemeClr val="bg1"/>
                </a:solidFill>
                <a:effectLst/>
                <a:uLnTx/>
                <a:uFillTx/>
                <a:latin typeface="+mn-ea"/>
                <a:ea typeface="+mn-ea"/>
                <a:cs typeface="+mj-cs"/>
              </a:rPr>
              <a:t>小结（续）</a:t>
            </a:r>
          </a:p>
        </p:txBody>
      </p:sp>
      <p:sp>
        <p:nvSpPr>
          <p:cNvPr id="139267" name="Rectangle 3"/>
          <p:cNvSpPr>
            <a:spLocks noGrp="1"/>
          </p:cNvSpPr>
          <p:nvPr>
            <p:ph idx="1"/>
          </p:nvPr>
        </p:nvSpPr>
        <p:spPr>
          <a:xfrm>
            <a:off x="1055688" y="1557338"/>
            <a:ext cx="8401050" cy="4854575"/>
          </a:xfrm>
        </p:spPr>
        <p:txBody>
          <a:bodyPr vert="horz" wrap="square" lIns="91440" tIns="45720" rIns="91440" bIns="45720" anchor="t" anchorCtr="0"/>
          <a:lstStyle/>
          <a:p>
            <a:pPr eaLnBrk="1" hangingPunct="1"/>
            <a:r>
              <a:rPr lang="zh-CN" altLang="en-US" dirty="0"/>
              <a:t>并发事务调度的正确性</a:t>
            </a:r>
            <a:endParaRPr lang="en-US" altLang="zh-CN" dirty="0"/>
          </a:p>
          <a:p>
            <a:pPr lvl="1" eaLnBrk="1" hangingPunct="1"/>
            <a:r>
              <a:rPr lang="zh-CN" altLang="en-US" dirty="0"/>
              <a:t>可串行性</a:t>
            </a:r>
          </a:p>
          <a:p>
            <a:pPr lvl="2" eaLnBrk="1" hangingPunct="1">
              <a:spcBef>
                <a:spcPct val="60000"/>
              </a:spcBef>
              <a:buSzPct val="87000"/>
              <a:buFont typeface="Wingdings" panose="05000000000000000000" pitchFamily="2" charset="2"/>
              <a:buChar char="l"/>
            </a:pPr>
            <a:r>
              <a:rPr lang="zh-CN" altLang="en-US" dirty="0">
                <a:latin typeface="+mn-lt"/>
                <a:ea typeface="+mn-ea"/>
              </a:rPr>
              <a:t>并发操作的正确性则通常由两段锁协议来保证。</a:t>
            </a:r>
          </a:p>
          <a:p>
            <a:pPr lvl="2" eaLnBrk="1" hangingPunct="1">
              <a:spcBef>
                <a:spcPct val="60000"/>
              </a:spcBef>
              <a:buSzPct val="87000"/>
              <a:buFont typeface="Wingdings" panose="05000000000000000000" pitchFamily="2" charset="2"/>
              <a:buChar char="l"/>
            </a:pPr>
            <a:r>
              <a:rPr lang="zh-CN" altLang="en-US" dirty="0">
                <a:latin typeface="+mn-lt"/>
                <a:ea typeface="+mn-ea"/>
              </a:rPr>
              <a:t>两段锁协议是可串行化调度的充分条件，但不是必要条件</a:t>
            </a:r>
            <a:endParaRPr lang="en-US" altLang="zh-CN" dirty="0">
              <a:latin typeface="+mn-lt"/>
              <a:ea typeface="+mn-ea"/>
            </a:endParaRPr>
          </a:p>
          <a:p>
            <a:pPr lvl="1" eaLnBrk="1" hangingPunct="1">
              <a:spcBef>
                <a:spcPct val="60000"/>
              </a:spcBef>
            </a:pPr>
            <a:r>
              <a:rPr lang="zh-CN" altLang="en-US" dirty="0"/>
              <a:t>冲突可串行性</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a:ln>
                  <a:noFill/>
                </a:ln>
                <a:solidFill>
                  <a:schemeClr val="bg1"/>
                </a:solidFill>
                <a:effectLst/>
                <a:uLnTx/>
                <a:uFillTx/>
                <a:latin typeface="+mn-ea"/>
                <a:ea typeface="+mn-ea"/>
                <a:cs typeface="+mj-cs"/>
              </a:rPr>
              <a:t>小结（续）</a:t>
            </a:r>
          </a:p>
        </p:txBody>
      </p:sp>
      <p:sp>
        <p:nvSpPr>
          <p:cNvPr id="140291" name="Rectangle 3"/>
          <p:cNvSpPr>
            <a:spLocks noGrp="1"/>
          </p:cNvSpPr>
          <p:nvPr>
            <p:ph idx="1"/>
          </p:nvPr>
        </p:nvSpPr>
        <p:spPr>
          <a:xfrm>
            <a:off x="766763" y="1484313"/>
            <a:ext cx="10972800" cy="4854575"/>
          </a:xfrm>
        </p:spPr>
        <p:txBody>
          <a:bodyPr vert="horz" wrap="square" lIns="91440" tIns="45720" rIns="91440" bIns="45720" anchor="t" anchorCtr="0"/>
          <a:lstStyle/>
          <a:p>
            <a:pPr eaLnBrk="1" hangingPunct="1"/>
            <a:r>
              <a:rPr lang="zh-CN" altLang="en-US" dirty="0"/>
              <a:t>其他并发控制机制</a:t>
            </a:r>
            <a:endParaRPr lang="en-US" altLang="zh-CN" dirty="0"/>
          </a:p>
          <a:p>
            <a:pPr lvl="2" eaLnBrk="1" hangingPunct="1">
              <a:spcBef>
                <a:spcPct val="60000"/>
              </a:spcBef>
              <a:buSzPct val="85000"/>
              <a:buFont typeface="Wingdings" panose="05000000000000000000" pitchFamily="2" charset="2"/>
              <a:buChar char="n"/>
            </a:pPr>
            <a:r>
              <a:rPr lang="zh-CN" altLang="en-US" sz="2400" dirty="0">
                <a:latin typeface="+mn-lt"/>
                <a:ea typeface="+mn-ea"/>
              </a:rPr>
              <a:t>时间戳方法</a:t>
            </a:r>
            <a:endParaRPr lang="en-US" altLang="zh-CN" sz="2400" dirty="0">
              <a:latin typeface="+mn-lt"/>
              <a:ea typeface="+mn-ea"/>
            </a:endParaRPr>
          </a:p>
          <a:p>
            <a:pPr lvl="2" eaLnBrk="1" hangingPunct="1">
              <a:spcBef>
                <a:spcPct val="60000"/>
              </a:spcBef>
              <a:buSzPct val="85000"/>
              <a:buFont typeface="Wingdings" panose="05000000000000000000" pitchFamily="2" charset="2"/>
              <a:buChar char="n"/>
            </a:pPr>
            <a:r>
              <a:rPr lang="zh-CN" altLang="en-US" sz="2400" dirty="0">
                <a:latin typeface="+mn-lt"/>
                <a:ea typeface="+mn-ea"/>
              </a:rPr>
              <a:t>乐观控制法</a:t>
            </a:r>
            <a:endParaRPr lang="en-US" altLang="zh-CN" sz="2400" dirty="0">
              <a:latin typeface="+mn-lt"/>
              <a:ea typeface="+mn-ea"/>
            </a:endParaRPr>
          </a:p>
          <a:p>
            <a:pPr lvl="2" eaLnBrk="1" hangingPunct="1">
              <a:spcBef>
                <a:spcPct val="60000"/>
              </a:spcBef>
              <a:buSzPct val="85000"/>
              <a:buFont typeface="Wingdings" panose="05000000000000000000" pitchFamily="2" charset="2"/>
              <a:buChar char="n"/>
            </a:pPr>
            <a:r>
              <a:rPr lang="zh-CN" altLang="en-US" sz="2400" dirty="0">
                <a:latin typeface="+mn-lt"/>
                <a:ea typeface="+mn-ea"/>
              </a:rPr>
              <a:t>多版本并发控制</a:t>
            </a:r>
            <a:endParaRPr lang="zh-CN" altLang="en-US" dirty="0">
              <a:latin typeface="+mn-lt"/>
              <a:ea typeface="+mn-ea"/>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TotalTime>
  <Words>10123</Words>
  <Application>Microsoft Office PowerPoint</Application>
  <PresentationFormat>宽屏</PresentationFormat>
  <Paragraphs>1236</Paragraphs>
  <Slides>143</Slides>
  <Notes>2</Notes>
  <HiddenSlides>0</HiddenSlides>
  <MMClips>0</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2</vt:i4>
      </vt:variant>
      <vt:variant>
        <vt:lpstr>幻灯片标题</vt:lpstr>
      </vt:variant>
      <vt:variant>
        <vt:i4>143</vt:i4>
      </vt:variant>
    </vt:vector>
  </HeadingPairs>
  <TitlesOfParts>
    <vt:vector size="157" baseType="lpstr">
      <vt:lpstr>-apple-system</vt:lpstr>
      <vt:lpstr>Times-Roman</vt:lpstr>
      <vt:lpstr>仿宋</vt:lpstr>
      <vt:lpstr>黑体</vt:lpstr>
      <vt:lpstr>宋体</vt:lpstr>
      <vt:lpstr>Arial</vt:lpstr>
      <vt:lpstr>Calibri</vt:lpstr>
      <vt:lpstr>Courier New</vt:lpstr>
      <vt:lpstr>Times New Roman</vt:lpstr>
      <vt:lpstr>Wingdings</vt:lpstr>
      <vt:lpstr>数据库系统概论</vt:lpstr>
      <vt:lpstr>1_数据库系统概论</vt:lpstr>
      <vt:lpstr>Microsoft Word Picture</vt:lpstr>
      <vt:lpstr>Photoshop.Image.7</vt:lpstr>
      <vt:lpstr>PowerPoint 演示文稿</vt:lpstr>
      <vt:lpstr> 并发控制</vt:lpstr>
      <vt:lpstr> 并发控制（续）</vt:lpstr>
      <vt:lpstr>并发控制（续）</vt:lpstr>
      <vt:lpstr>并发控制（续）</vt:lpstr>
      <vt:lpstr>并发控制（续）</vt:lpstr>
      <vt:lpstr>第十二章  并发控制</vt:lpstr>
      <vt:lpstr>12.1  并发控制概述</vt:lpstr>
      <vt:lpstr>T1的修改被T2覆盖了！</vt:lpstr>
      <vt:lpstr>并发控制概述（续）</vt:lpstr>
      <vt:lpstr>并发控制概述（续）</vt:lpstr>
      <vt:lpstr>1. 丢失修改</vt:lpstr>
      <vt:lpstr>丢失修改（续）</vt:lpstr>
      <vt:lpstr>2. 脏读（dirty read）</vt:lpstr>
      <vt:lpstr>读“脏”数据（续）</vt:lpstr>
      <vt:lpstr>3. 不可重复读（non-repeatable read）</vt:lpstr>
      <vt:lpstr>不可重复读（续）</vt:lpstr>
      <vt:lpstr>*4. 幻读（ Phantom Row ）</vt:lpstr>
      <vt:lpstr>PowerPoint 演示文稿</vt:lpstr>
      <vt:lpstr>并发控制概述（续）</vt:lpstr>
      <vt:lpstr>关于“一致”或“一致性”的讨论</vt:lpstr>
      <vt:lpstr>并发控制概述（续）</vt:lpstr>
      <vt:lpstr>第十二章  并发控制</vt:lpstr>
      <vt:lpstr>12.2  事务的隔离级别</vt:lpstr>
      <vt:lpstr>1. 读未提交（Read uncommitted）</vt:lpstr>
      <vt:lpstr>2. 读已提交（Read committed）</vt:lpstr>
      <vt:lpstr>3. 可重复读（Repeatable Read）</vt:lpstr>
      <vt:lpstr>4. 可串行化（Serializable）</vt:lpstr>
      <vt:lpstr>PowerPoint 演示文稿</vt:lpstr>
      <vt:lpstr>事务隔离级别与数据一致性以及系统代价的关系</vt:lpstr>
      <vt:lpstr>第十二章  并发控制</vt:lpstr>
      <vt:lpstr>12.3  封锁</vt:lpstr>
      <vt:lpstr>什么是封锁</vt:lpstr>
      <vt:lpstr>基本封锁类型</vt:lpstr>
      <vt:lpstr>排它锁</vt:lpstr>
      <vt:lpstr>共享锁</vt:lpstr>
      <vt:lpstr>相容矩阵</vt:lpstr>
      <vt:lpstr>第十二章  并发控制</vt:lpstr>
      <vt:lpstr>12.4  封锁协议</vt:lpstr>
      <vt:lpstr>保持数据一致性的常用封锁协议</vt:lpstr>
      <vt:lpstr>1. 一级封锁协议</vt:lpstr>
      <vt:lpstr>使用封锁机制解决丢失修改问题</vt:lpstr>
      <vt:lpstr>2. 二级封锁协议</vt:lpstr>
      <vt:lpstr>使用封锁机制解决读“脏”数据问题</vt:lpstr>
      <vt:lpstr>3. 三级封锁协议</vt:lpstr>
      <vt:lpstr>使用封锁机制解决不可重复读问题</vt:lpstr>
      <vt:lpstr>4．封锁协议小结</vt:lpstr>
      <vt:lpstr>第十二章  并发控制</vt:lpstr>
      <vt:lpstr>12.5  活锁和死锁</vt:lpstr>
      <vt:lpstr>PowerPoint 演示文稿</vt:lpstr>
      <vt:lpstr>12.5.1 活锁</vt:lpstr>
      <vt:lpstr>活锁（续）</vt:lpstr>
      <vt:lpstr>活锁（续）</vt:lpstr>
      <vt:lpstr>PowerPoint 演示文稿</vt:lpstr>
      <vt:lpstr>12.5.2  死锁</vt:lpstr>
      <vt:lpstr>死锁（续）</vt:lpstr>
      <vt:lpstr>解决死锁的方法</vt:lpstr>
      <vt:lpstr>1. 死锁的预防</vt:lpstr>
      <vt:lpstr>死锁的预防（续）</vt:lpstr>
      <vt:lpstr>（1）一次封锁法</vt:lpstr>
      <vt:lpstr>（2）顺序封锁法</vt:lpstr>
      <vt:lpstr>PowerPoint 演示文稿</vt:lpstr>
      <vt:lpstr>死锁的预防（续）</vt:lpstr>
      <vt:lpstr>2. 死锁的诊断与解除</vt:lpstr>
      <vt:lpstr>（1） 超时法</vt:lpstr>
      <vt:lpstr>（2）等待图法</vt:lpstr>
      <vt:lpstr>等待图法（续）</vt:lpstr>
      <vt:lpstr>等待图法（续）</vt:lpstr>
      <vt:lpstr>死锁的诊断与解除（续）</vt:lpstr>
      <vt:lpstr>思考</vt:lpstr>
      <vt:lpstr>第十二章  并发控制</vt:lpstr>
      <vt:lpstr>12.6  并发调度的可串行性</vt:lpstr>
      <vt:lpstr>PowerPoint 演示文稿</vt:lpstr>
      <vt:lpstr>12.6.1 可串行化调度</vt:lpstr>
      <vt:lpstr>可串行化调度（续）</vt:lpstr>
      <vt:lpstr>串行调度,正确的调度</vt:lpstr>
      <vt:lpstr>串行调度,正确的调度</vt:lpstr>
      <vt:lpstr>不可串行化调度，错误的调度</vt:lpstr>
      <vt:lpstr>可串行化调度，正确的调度</vt:lpstr>
      <vt:lpstr>讨论“可串行化调度”</vt:lpstr>
      <vt:lpstr>PowerPoint 演示文稿</vt:lpstr>
      <vt:lpstr>12.6.2  冲突可串行化调度</vt:lpstr>
      <vt:lpstr>冲突</vt:lpstr>
      <vt:lpstr>冲突可串行化（续）</vt:lpstr>
      <vt:lpstr>冲突可串行化（续）</vt:lpstr>
      <vt:lpstr>冲突可串行化调度</vt:lpstr>
      <vt:lpstr>冲突可串行化（续）</vt:lpstr>
      <vt:lpstr>冲突可串行化（续）</vt:lpstr>
      <vt:lpstr>例题</vt:lpstr>
      <vt:lpstr>第十二章  并发控制</vt:lpstr>
      <vt:lpstr>12.7  两段锁协议</vt:lpstr>
      <vt:lpstr>两段锁协议（续）</vt:lpstr>
      <vt:lpstr>两段锁协议（续）</vt:lpstr>
      <vt:lpstr>两段锁协议（续）</vt:lpstr>
      <vt:lpstr>两段锁协议（续）</vt:lpstr>
      <vt:lpstr>两段锁协议（续）</vt:lpstr>
      <vt:lpstr>两段锁协议（续）</vt:lpstr>
      <vt:lpstr>第十二章  并发控制</vt:lpstr>
      <vt:lpstr>封锁粒度</vt:lpstr>
      <vt:lpstr>选择封锁粒度原则</vt:lpstr>
      <vt:lpstr>选择封锁粒度的原则（续）</vt:lpstr>
      <vt:lpstr>选择封锁粒度的原则（续）</vt:lpstr>
      <vt:lpstr>PowerPoint 演示文稿</vt:lpstr>
      <vt:lpstr>12.8.1 多粒度封锁</vt:lpstr>
      <vt:lpstr>多粒度封锁（续）</vt:lpstr>
      <vt:lpstr>多粒度封锁协议</vt:lpstr>
      <vt:lpstr>显式封锁和隐式封锁</vt:lpstr>
      <vt:lpstr>显式封锁和隐式封锁（续）</vt:lpstr>
      <vt:lpstr>显式封锁和隐式封锁（续）</vt:lpstr>
      <vt:lpstr>PowerPoint 演示文稿</vt:lpstr>
      <vt:lpstr>12.8.2 意向锁</vt:lpstr>
      <vt:lpstr>常用意向锁</vt:lpstr>
      <vt:lpstr>意向锁（续）</vt:lpstr>
      <vt:lpstr>意向锁（续）</vt:lpstr>
      <vt:lpstr>意向锁（续）</vt:lpstr>
      <vt:lpstr>意向锁（续）</vt:lpstr>
      <vt:lpstr>意向锁（续）</vt:lpstr>
      <vt:lpstr>意向锁（续）</vt:lpstr>
      <vt:lpstr>意向锁（续）</vt:lpstr>
      <vt:lpstr>第十二章  并发控制</vt:lpstr>
      <vt:lpstr>PowerPoint 演示文稿</vt:lpstr>
      <vt:lpstr>其他并发控制机制（续）</vt:lpstr>
      <vt:lpstr>PowerPoint 演示文稿</vt:lpstr>
      <vt:lpstr>PowerPoint 演示文稿</vt:lpstr>
      <vt:lpstr>其他并发控制机制（续）</vt:lpstr>
      <vt:lpstr>PowerPoint 演示文稿</vt:lpstr>
      <vt:lpstr>12.9 其他并发控制机制</vt:lpstr>
      <vt:lpstr>12.9.1 多版本并发控制</vt:lpstr>
      <vt:lpstr>多版本并发控制（续）  </vt:lpstr>
      <vt:lpstr>多版本并发控制（续）</vt:lpstr>
      <vt:lpstr>多版本并发控制（续） </vt:lpstr>
      <vt:lpstr>多版本并发控制（续）</vt:lpstr>
      <vt:lpstr>多版本并发控制（续）</vt:lpstr>
      <vt:lpstr>多版本并发控制（续）</vt:lpstr>
      <vt:lpstr>12.9 其他并发控制机制</vt:lpstr>
      <vt:lpstr>12.9.2 改进的多版本并发控制</vt:lpstr>
      <vt:lpstr>改进的多版本并发控制（续）</vt:lpstr>
      <vt:lpstr>改进的多版本并发控制（续）</vt:lpstr>
      <vt:lpstr>改进的多版本并发控制（续）</vt:lpstr>
      <vt:lpstr>第十二章  并发控制</vt:lpstr>
      <vt:lpstr>12.10 小结</vt:lpstr>
      <vt:lpstr>小结（续）</vt:lpstr>
      <vt:lpstr>小结（续）</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Shu</dc:creator>
  <cp:lastModifiedBy>Administrator</cp:lastModifiedBy>
  <cp:revision>217</cp:revision>
  <dcterms:created xsi:type="dcterms:W3CDTF">2024-12-16T13:37:00Z</dcterms:created>
  <dcterms:modified xsi:type="dcterms:W3CDTF">2024-12-24T03:30:22Z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C997AAFF93B844DB960927FA5ACE232B_13</vt:lpwstr>
  </property>
  <property fmtid="{D5CDD505-2E9C-101B-9397-08002B2CF9AE}" pid="3" name="KSOProductBuildVer">
    <vt:lpwstr>2052-12.1.0.19302</vt:lpwstr>
  </property>
</Properties>
</file>