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tiff" ContentType="image/tiff"/>
  <Default Extension="emf" ContentType="image/x-emf"/>
  <Default Extension="rels" ContentType="application/vnd.openxmlformats-package.relationships+xml"/>
  <Default Extension="wdp" ContentType="image/vnd.ms-photo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</p:sldMasterIdLst>
  <p:notesMasterIdLst>
    <p:notesMasterId r:id="rId66"/>
  </p:notesMasterIdLst>
  <p:sldIdLst>
    <p:sldId id="960" r:id="rId3"/>
    <p:sldId id="1026" r:id="rId4"/>
    <p:sldId id="1046" r:id="rId5"/>
    <p:sldId id="1027" r:id="rId6"/>
    <p:sldId id="1028" r:id="rId7"/>
    <p:sldId id="1029" r:id="rId8"/>
    <p:sldId id="1030" r:id="rId9"/>
    <p:sldId id="1031" r:id="rId10"/>
    <p:sldId id="1038" r:id="rId11"/>
    <p:sldId id="1039" r:id="rId12"/>
    <p:sldId id="1040" r:id="rId13"/>
    <p:sldId id="1041" r:id="rId14"/>
    <p:sldId id="1042" r:id="rId15"/>
    <p:sldId id="1043" r:id="rId16"/>
    <p:sldId id="1044" r:id="rId17"/>
    <p:sldId id="962" r:id="rId18"/>
    <p:sldId id="964" r:id="rId19"/>
    <p:sldId id="965" r:id="rId20"/>
    <p:sldId id="966" r:id="rId21"/>
    <p:sldId id="967" r:id="rId22"/>
    <p:sldId id="968" r:id="rId23"/>
    <p:sldId id="969" r:id="rId24"/>
    <p:sldId id="970" r:id="rId25"/>
    <p:sldId id="971" r:id="rId26"/>
    <p:sldId id="976" r:id="rId27"/>
    <p:sldId id="977" r:id="rId28"/>
    <p:sldId id="978" r:id="rId29"/>
    <p:sldId id="980" r:id="rId30"/>
    <p:sldId id="1048" r:id="rId31"/>
    <p:sldId id="1049" r:id="rId32"/>
    <p:sldId id="1050" r:id="rId33"/>
    <p:sldId id="1051" r:id="rId34"/>
    <p:sldId id="1047" r:id="rId35"/>
    <p:sldId id="983" r:id="rId36"/>
    <p:sldId id="984" r:id="rId37"/>
    <p:sldId id="985" r:id="rId38"/>
    <p:sldId id="987" r:id="rId39"/>
    <p:sldId id="988" r:id="rId40"/>
    <p:sldId id="989" r:id="rId41"/>
    <p:sldId id="990" r:id="rId42"/>
    <p:sldId id="991" r:id="rId43"/>
    <p:sldId id="992" r:id="rId44"/>
    <p:sldId id="993" r:id="rId45"/>
    <p:sldId id="994" r:id="rId46"/>
    <p:sldId id="995" r:id="rId47"/>
    <p:sldId id="996" r:id="rId48"/>
    <p:sldId id="997" r:id="rId49"/>
    <p:sldId id="999" r:id="rId50"/>
    <p:sldId id="1000" r:id="rId51"/>
    <p:sldId id="1001" r:id="rId52"/>
    <p:sldId id="1002" r:id="rId53"/>
    <p:sldId id="1003" r:id="rId54"/>
    <p:sldId id="1004" r:id="rId55"/>
    <p:sldId id="1005" r:id="rId56"/>
    <p:sldId id="1006" r:id="rId57"/>
    <p:sldId id="1007" r:id="rId58"/>
    <p:sldId id="1008" r:id="rId59"/>
    <p:sldId id="1009" r:id="rId60"/>
    <p:sldId id="1011" r:id="rId61"/>
    <p:sldId id="1012" r:id="rId62"/>
    <p:sldId id="1013" r:id="rId63"/>
    <p:sldId id="1014" r:id="rId64"/>
    <p:sldId id="1052" r:id="rId65"/>
  </p:sldIdLst>
  <p:sldSz cx="9144000" cy="5143500" type="screen16x9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EA258"/>
    <a:srgbClr val="69B035"/>
    <a:srgbClr val="4F81BD"/>
    <a:srgbClr val="DD8452"/>
    <a:srgbClr val="55A868"/>
    <a:srgbClr val="FEC002"/>
    <a:srgbClr val="ED7D31"/>
    <a:srgbClr val="46BCDE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20" autoAdjust="0"/>
    <p:restoredTop sz="83455" autoAdjust="0"/>
  </p:normalViewPr>
  <p:slideViewPr>
    <p:cSldViewPr snapToGrid="0">
      <p:cViewPr>
        <p:scale>
          <a:sx n="136" d="100"/>
          <a:sy n="136" d="100"/>
        </p:scale>
        <p:origin x="1072" y="5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notesMaster" Target="notesMasters/notesMaster1.xml"/><Relationship Id="rId67" Type="http://schemas.openxmlformats.org/officeDocument/2006/relationships/tags" Target="tags/tag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453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答案：</a:t>
            </a:r>
            <a:r>
              <a:rPr lang="en-US" altLang="zh-CN" dirty="0" err="1"/>
              <a:t>ahat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1/2;</a:t>
            </a:r>
            <a:r>
              <a:rPr lang="zh-CN" altLang="en-US" baseline="0" dirty="0"/>
              <a:t> </a:t>
            </a:r>
            <a:r>
              <a:rPr lang="en-US" altLang="zh-CN" baseline="0" dirty="0" err="1"/>
              <a:t>bhat</a:t>
            </a:r>
            <a:r>
              <a:rPr lang="zh-CN" altLang="en-US" baseline="0" dirty="0"/>
              <a:t> </a:t>
            </a:r>
            <a:r>
              <a:rPr lang="en-US" altLang="zh-CN" baseline="0" dirty="0"/>
              <a:t>=</a:t>
            </a:r>
            <a:r>
              <a:rPr lang="zh-CN" altLang="en-US" baseline="0" dirty="0"/>
              <a:t> </a:t>
            </a:r>
            <a:r>
              <a:rPr lang="en-US" altLang="zh-CN" baseline="0" dirty="0"/>
              <a:t>5/6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28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77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017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566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694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628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参考答案：是、是、不是（非线性组合）、不是（加入了常数项）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90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986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917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B</a:t>
            </a:r>
          </a:p>
          <a:p>
            <a:pPr marL="228600" indent="-228600">
              <a:buAutoNum type="arabicPeriod"/>
            </a:pP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951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31.6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355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216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98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6.6</a:t>
            </a:r>
            <a:r>
              <a:rPr lang="zh-CN" altLang="en-US" dirty="0"/>
              <a:t>和</a:t>
            </a:r>
            <a:r>
              <a:rPr lang="en-US" altLang="zh-CN" dirty="0"/>
              <a:t>5.5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4864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6.6</a:t>
            </a:r>
            <a:r>
              <a:rPr lang="zh-CN" altLang="en-US" dirty="0"/>
              <a:t>和</a:t>
            </a:r>
            <a:r>
              <a:rPr lang="en-US" altLang="zh-CN" dirty="0"/>
              <a:t>5.5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818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8924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*</a:t>
            </a:r>
            <a:r>
              <a:rPr lang="en-US" altLang="zh-CN" dirty="0"/>
              <a:t>d^2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 dirty="0"/>
              <a:t>d^3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 dirty="0"/>
              <a:t>d^2</a:t>
            </a:r>
            <a:r>
              <a:rPr lang="zh-CN" altLang="en-US" baseline="0" dirty="0"/>
              <a:t>*</a:t>
            </a:r>
            <a:r>
              <a:rPr lang="en-US" altLang="zh-CN" baseline="0" dirty="0"/>
              <a:t>n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 dirty="0"/>
              <a:t>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6204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*</a:t>
            </a:r>
            <a:r>
              <a:rPr lang="en-US" altLang="zh-CN" dirty="0"/>
              <a:t>d^2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 dirty="0"/>
              <a:t>d^3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 dirty="0"/>
              <a:t>d^2</a:t>
            </a:r>
            <a:r>
              <a:rPr lang="zh-CN" altLang="en-US" baseline="0" dirty="0"/>
              <a:t>*</a:t>
            </a:r>
            <a:r>
              <a:rPr lang="en-US" altLang="zh-CN" baseline="0" dirty="0"/>
              <a:t>n</a:t>
            </a:r>
            <a:r>
              <a:rPr lang="zh-CN" altLang="en-US" baseline="0" dirty="0"/>
              <a:t> </a:t>
            </a:r>
            <a:r>
              <a:rPr lang="en-US" altLang="zh-CN" baseline="0" dirty="0"/>
              <a:t>+</a:t>
            </a:r>
            <a:r>
              <a:rPr lang="zh-CN" altLang="en-US" baseline="0" dirty="0"/>
              <a:t> </a:t>
            </a:r>
            <a:r>
              <a:rPr lang="en-US" altLang="zh-CN" baseline="0"/>
              <a:t>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9001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898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参考答案：</a:t>
            </a:r>
            <a:r>
              <a:rPr lang="en-US" altLang="zh-CN" dirty="0"/>
              <a:t>[19,3].T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099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</a:t>
            </a:r>
            <a:r>
              <a:rPr lang="en-US" altLang="zh-CN" dirty="0"/>
              <a:t>:</a:t>
            </a:r>
            <a:r>
              <a:rPr lang="zh-CN" altLang="en-US" baseline="0" dirty="0"/>
              <a:t> </a:t>
            </a:r>
            <a:r>
              <a:rPr lang="en-US" altLang="zh-CN" baseline="0" dirty="0"/>
              <a:t>[0,0]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182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参考答案</a:t>
            </a:r>
            <a:r>
              <a:rPr lang="en-US" altLang="zh-CN" dirty="0"/>
              <a:t>:</a:t>
            </a:r>
            <a:r>
              <a:rPr lang="zh-CN" altLang="en-US" baseline="0" dirty="0"/>
              <a:t> </a:t>
            </a:r>
            <a:r>
              <a:rPr lang="en-US" altLang="zh-CN" baseline="0" dirty="0"/>
              <a:t>[0,0]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266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答案</a:t>
            </a:r>
            <a:r>
              <a:rPr lang="en-US" altLang="zh-CN" dirty="0">
                <a:sym typeface="Wingdings"/>
              </a:rPr>
              <a:t>:</a:t>
            </a:r>
            <a:r>
              <a:rPr lang="zh-CN" altLang="en-US" baseline="0" dirty="0">
                <a:sym typeface="Wingdings"/>
              </a:rPr>
              <a:t> </a:t>
            </a:r>
            <a:r>
              <a:rPr lang="en-US" altLang="zh-CN" baseline="0" dirty="0">
                <a:sym typeface="Wingdings"/>
              </a:rPr>
              <a:t>[</a:t>
            </a:r>
            <a:r>
              <a:rPr lang="en-US" altLang="zh-CN" baseline="0" dirty="0"/>
              <a:t>1/2,</a:t>
            </a:r>
            <a:r>
              <a:rPr lang="zh-CN" altLang="en-US" baseline="0" dirty="0"/>
              <a:t> </a:t>
            </a:r>
            <a:r>
              <a:rPr lang="en-US" altLang="zh-CN" baseline="0" dirty="0"/>
              <a:t>5/6]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277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0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39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Relationship Id="rId1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theme" Target="../theme/theme2.xml"/><Relationship Id="rId18" Type="http://schemas.openxmlformats.org/officeDocument/2006/relationships/image" Target="../media/image1.jpg"/><Relationship Id="rId19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70" r:id="rId15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9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microsoft.com/office/2007/relationships/hdphoto" Target="../media/hdphoto1.wdp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4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4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60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490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4" Type="http://schemas.openxmlformats.org/officeDocument/2006/relationships/image" Target="../media/image591.png"/><Relationship Id="rId5" Type="http://schemas.openxmlformats.org/officeDocument/2006/relationships/image" Target="../media/image601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84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4" Type="http://schemas.openxmlformats.org/officeDocument/2006/relationships/image" Target="../media/image590.png"/><Relationship Id="rId5" Type="http://schemas.openxmlformats.org/officeDocument/2006/relationships/image" Target="../media/image60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96.png"/><Relationship Id="rId5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4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4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4" Type="http://schemas.openxmlformats.org/officeDocument/2006/relationships/image" Target="../media/image850.png"/><Relationship Id="rId5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4" Type="http://schemas.openxmlformats.org/officeDocument/2006/relationships/image" Target="../media/image540.png"/><Relationship Id="rId5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4" Type="http://schemas.openxmlformats.org/officeDocument/2006/relationships/image" Target="../media/image540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0.png"/><Relationship Id="rId3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4" Type="http://schemas.openxmlformats.org/officeDocument/2006/relationships/image" Target="../media/image29.tiff"/><Relationship Id="rId5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3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png"/><Relationship Id="rId3" Type="http://schemas.openxmlformats.org/officeDocument/2006/relationships/image" Target="../media/image37.tif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4" Type="http://schemas.openxmlformats.org/officeDocument/2006/relationships/image" Target="../media/image39.png"/><Relationship Id="rId5" Type="http://schemas.openxmlformats.org/officeDocument/2006/relationships/image" Target="../media/image136.png"/><Relationship Id="rId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tiff"/><Relationship Id="rId3" Type="http://schemas.openxmlformats.org/officeDocument/2006/relationships/image" Target="../media/image13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4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4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68379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571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-74527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85940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85940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prstClr val="white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78371"/>
            <a:ext cx="8945065" cy="584747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讲：数据建模与回归分析（下）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="" xmlns:a16="http://schemas.microsoft.com/office/drawing/2014/main" id="{B11913AF-7BDC-6A43-974D-C041DD8A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908859"/>
            <a:ext cx="52562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defRPr/>
            </a:pPr>
            <a:r>
              <a:rPr kumimoji="1" lang="zh-CN" altLang="mr-IN" b="1" kern="0" dirty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范</a:t>
            </a:r>
            <a:r>
              <a:rPr kumimoji="1" lang="zh-CN" altLang="mr-IN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举</a:t>
            </a:r>
            <a:r>
              <a:rPr kumimoji="1" lang="zh-CN" altLang="en-US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 </a:t>
            </a:r>
            <a:r>
              <a:rPr kumimoji="1" lang="zh-CN" altLang="mr-IN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教授         </a:t>
            </a:r>
            <a:r>
              <a:rPr kumimoji="1" lang="mr-IN" altLang="zh-CN" b="1" kern="0" dirty="0" err="1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fanj@ruc.edu.cn</a:t>
            </a:r>
            <a:endParaRPr kumimoji="1" lang="mr-IN" altLang="zh-CN" b="1" kern="0" dirty="0">
              <a:solidFill>
                <a:prstClr val="white"/>
              </a:solidFill>
              <a:latin typeface="Times-Roman" charset="0"/>
              <a:ea typeface="隶书" pitchFamily="49" charset="-122"/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="" xmlns:a16="http://schemas.microsoft.com/office/drawing/2014/main" id="{9951EC0A-19E6-B749-9332-D3931CB533BE}"/>
              </a:ext>
            </a:extLst>
          </p:cNvPr>
          <p:cNvSpPr txBox="1">
            <a:spLocks/>
          </p:cNvSpPr>
          <p:nvPr/>
        </p:nvSpPr>
        <p:spPr>
          <a:xfrm>
            <a:off x="0" y="2996097"/>
            <a:ext cx="9144000" cy="4988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“数据科学导论”专业核心课</a:t>
            </a:r>
            <a:endParaRPr lang="en-US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191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上节课回顾</a:t>
            </a:r>
            <a:r>
              <a:rPr lang="zh-CN" altLang="en-US" dirty="0" smtClean="0"/>
              <a:t>：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完成课堂</a:t>
            </a:r>
            <a:r>
              <a:rPr lang="zh-CN" altLang="en-US" dirty="0"/>
              <a:t>练习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给定一组训练数据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(2,4)</a:t>
                </a:r>
              </a:p>
              <a:p>
                <a:pPr lvl="1"/>
                <a:r>
                  <a:rPr lang="en-US" altLang="zh-CN" dirty="0"/>
                  <a:t>(5,1)</a:t>
                </a:r>
              </a:p>
              <a:p>
                <a:pPr lvl="1"/>
                <a:r>
                  <a:rPr lang="en-US" altLang="zh-CN" dirty="0"/>
                  <a:t>(8,9)</a:t>
                </a:r>
              </a:p>
              <a:p>
                <a:endParaRPr lang="en-US" dirty="0"/>
              </a:p>
              <a:p>
                <a:r>
                  <a:rPr lang="en-US" altLang="zh-CN" dirty="0" smtClean="0"/>
                  <a:t>Q1:</a:t>
                </a:r>
                <a:r>
                  <a:rPr lang="zh-CN" altLang="en-US" dirty="0" smtClean="0"/>
                  <a:t> 请</a:t>
                </a:r>
                <a:r>
                  <a:rPr lang="zh-CN" altLang="en-US" dirty="0"/>
                  <a:t>计算一个简单线性回归模型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𝑎</m:t>
                    </m:r>
                    <m:r>
                      <a:rPr lang="en-US" altLang="zh-CN" b="0" i="1" smtClean="0"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latin typeface="Cambria Math" charset="0"/>
                      </a:rPr>
                      <m:t>𝑏𝑥</m:t>
                    </m:r>
                  </m:oMath>
                </a14:m>
                <a:r>
                  <a:rPr lang="zh-CN" altLang="en-US" dirty="0"/>
                  <a:t>的最优参数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𝑎</m:t>
                        </m:r>
                      </m:e>
                    </m:acc>
                    <m:r>
                      <a:rPr lang="en-US" altLang="zh-CN" b="0" i="1" dirty="0" smtClean="0">
                        <a:latin typeface="Cambria Math" charset="0"/>
                      </a:rPr>
                      <m:t>=?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dirty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𝑏</m:t>
                        </m:r>
                      </m:e>
                    </m:acc>
                    <m:r>
                      <a:rPr lang="en-US" altLang="zh-CN" i="1" dirty="0">
                        <a:latin typeface="Cambria Math" charset="0"/>
                      </a:rPr>
                      <m:t>=?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Q2:</a:t>
                </a:r>
                <a:r>
                  <a:rPr lang="zh-CN" altLang="en-US" dirty="0" smtClean="0"/>
                  <a:t> 请绘制散点图和拟合的曲线</a:t>
                </a:r>
                <a:endParaRPr lang="en-US" altLang="zh-CN" dirty="0" smtClean="0"/>
              </a:p>
              <a:p>
                <a:r>
                  <a:rPr lang="en-US" altLang="zh-CN" dirty="0" smtClean="0"/>
                  <a:t>Q3:</a:t>
                </a:r>
                <a:r>
                  <a:rPr lang="zh-CN" altLang="en-US" dirty="0" smtClean="0"/>
                  <a:t> 请绘制损失函数的示意图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5471462" y="324165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513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数据建模与回归分析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462807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数据建模与参数估计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模型：简单线性回归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线性回归模型：多元线性回归</a:t>
            </a:r>
            <a:endParaRPr lang="en-US" altLang="zh-CN" b="1" dirty="0" smtClean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梯度下降（</a:t>
            </a:r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Gradient</a:t>
            </a:r>
            <a:r>
              <a:rPr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Descent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39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多元线性回归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MLR</a:t>
            </a:r>
            <a:r>
              <a:rPr lang="zh-CN" altLang="en-US" dirty="0"/>
              <a:t>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多元线性回归（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Multiple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Linear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Regression,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MLR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在简单（一元）线性回归</a:t>
                </a:r>
                <a:r>
                  <a:rPr lang="en-US" altLang="zh-CN" dirty="0"/>
                  <a:t>SLR</a:t>
                </a:r>
                <a:r>
                  <a:rPr lang="zh-CN" altLang="en-US" dirty="0"/>
                  <a:t>模型基础上添加更多的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独立</a:t>
                </a:r>
                <a:r>
                  <a:rPr lang="zh-CN" altLang="en-US" dirty="0"/>
                  <a:t>变量</a:t>
                </a:r>
                <a:endParaRPr lang="en-US" altLang="zh-CN" dirty="0"/>
              </a:p>
              <a:p>
                <a:r>
                  <a:rPr lang="zh-CN" altLang="en-US" dirty="0"/>
                  <a:t>多元线性回归的一般形式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+…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sz="18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/>
              </a:p>
              <a:p>
                <a:r>
                  <a:rPr lang="zh-CN" altLang="en-US" dirty="0"/>
                  <a:t>基本概念：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dirty="0"/>
                  <a:t>也称：特征（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Feature</a:t>
                </a:r>
                <a:r>
                  <a:rPr lang="zh-CN" altLang="en-US" dirty="0"/>
                  <a:t>）、协变量（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Covariate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、解释变量（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Explanatory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Variable</a:t>
                </a:r>
                <a:r>
                  <a:rPr lang="zh-CN" altLang="en-US" dirty="0"/>
                  <a:t>）、回归量（</a:t>
                </a:r>
                <a:r>
                  <a:rPr lang="en-US" altLang="zh-CN" dirty="0" err="1">
                    <a:latin typeface="Calibri" charset="0"/>
                    <a:ea typeface="Calibri" charset="0"/>
                    <a:cs typeface="Calibri" charset="0"/>
                  </a:rPr>
                  <a:t>Regressor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dirty="0"/>
                  <a:t>度量了输入变量对预测值的权重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为截距项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60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多元线性回归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MLR</a:t>
            </a:r>
            <a:r>
              <a:rPr lang="zh-CN" altLang="en-US" dirty="0"/>
              <a:t>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多元线性回归（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Multiple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Linear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Regression,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MLR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在简单（一元）线性回归</a:t>
                </a:r>
                <a:r>
                  <a:rPr lang="en-US" altLang="zh-CN" dirty="0"/>
                  <a:t>SLR</a:t>
                </a:r>
                <a:r>
                  <a:rPr lang="zh-CN" altLang="en-US" dirty="0"/>
                  <a:t>模型基础上添加更多的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独立</a:t>
                </a:r>
                <a:r>
                  <a:rPr lang="zh-CN" altLang="en-US" dirty="0"/>
                  <a:t>变量</a:t>
                </a:r>
                <a:endParaRPr lang="en-US" altLang="zh-CN" dirty="0"/>
              </a:p>
              <a:p>
                <a:r>
                  <a:rPr lang="zh-CN" altLang="en-US" dirty="0"/>
                  <a:t>针对每个数据点，添加一个常数特征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=1</m:t>
                    </m:r>
                  </m:oMath>
                </a14:m>
                <a:r>
                  <a:rPr lang="zh-CN" altLang="en-US" dirty="0"/>
                  <a:t>，得到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sz="18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1800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MLR</a:t>
                </a:r>
                <a:r>
                  <a:rPr lang="zh-CN" altLang="en-US" dirty="0"/>
                  <a:t>模型举例：波士顿房价数据集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输入变量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RM: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average number of rooms per dwelling</a:t>
                </a:r>
              </a:p>
              <a:p>
                <a:pPr lvl="2"/>
                <a:r>
                  <a:rPr lang="en-US" altLang="zh-CN" dirty="0"/>
                  <a:t>LSTAT: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% lower status of the population</a:t>
                </a:r>
              </a:p>
              <a:p>
                <a:pPr lvl="1"/>
                <a:r>
                  <a:rPr lang="zh-CN" altLang="en-US" dirty="0"/>
                  <a:t>输出变量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Price: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price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house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Right Brace 4"/>
          <p:cNvSpPr/>
          <p:nvPr/>
        </p:nvSpPr>
        <p:spPr>
          <a:xfrm>
            <a:off x="6168788" y="2606722"/>
            <a:ext cx="382137" cy="2006221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23880" y="3286666"/>
            <a:ext cx="1589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应该如何建立</a:t>
            </a:r>
            <a:r>
              <a:rPr lang="en-US" altLang="zh-CN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MLR</a:t>
            </a:r>
            <a:r>
              <a:rPr lang="zh-CN" altLang="en-US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模型？</a:t>
            </a:r>
            <a:endParaRPr lang="en-US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028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</a:t>
            </a:r>
            <a:r>
              <a:rPr lang="en-US" altLang="zh-CN" dirty="0"/>
              <a:t>LSR</a:t>
            </a:r>
            <a:r>
              <a:rPr lang="zh-CN" altLang="en-US" dirty="0"/>
              <a:t>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根据公式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𝑏</m:t>
                        </m:r>
                      </m:e>
                    </m:acc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𝑟</m:t>
                    </m:r>
                    <m:f>
                      <m:fPr>
                        <m:ctrlPr>
                          <a:rPr lang="bg-BG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 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;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acc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𝑏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en-US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dirty="0"/>
                  <a:t>，可以计算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charset="0"/>
                        </a:rPr>
                        <m:t>PRICE</m:t>
                      </m:r>
                      <m:r>
                        <a:rPr lang="en-US" altLang="zh-CN" b="0" i="1" dirty="0" smtClean="0">
                          <a:latin typeface="Cambria Math" charset="0"/>
                        </a:rPr>
                        <m:t>=−34.67+9.1</m:t>
                      </m:r>
                      <m:r>
                        <a:rPr lang="zh-CN" altLang="en-US" b="0" i="1" dirty="0" smtClean="0">
                          <a:latin typeface="Cambria Math" charset="0"/>
                        </a:rPr>
                        <m:t> ∗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charset="0"/>
                        </a:rPr>
                        <m:t>RM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7" name="Rounded Rectangular Callout 6"/>
          <p:cNvSpPr/>
          <p:nvPr/>
        </p:nvSpPr>
        <p:spPr>
          <a:xfrm>
            <a:off x="6250676" y="2439408"/>
            <a:ext cx="2688538" cy="1323832"/>
          </a:xfrm>
          <a:prstGeom prst="wedgeRoundRectCallout">
            <a:avLst>
              <a:gd name="adj1" fmla="val -47805"/>
              <a:gd name="adj2" fmla="val 707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给定一个输入变量，如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RM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，线性回归计算的结果是二维中的：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一条直线</a:t>
            </a:r>
            <a:endParaRPr lang="en-US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212" y="1742385"/>
            <a:ext cx="4544547" cy="312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9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</a:t>
            </a:r>
            <a:r>
              <a:rPr lang="en-US" altLang="zh-CN" dirty="0"/>
              <a:t>MLR</a:t>
            </a:r>
            <a:r>
              <a:rPr lang="zh-CN" altLang="en-US" dirty="0"/>
              <a:t>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en-US" altLang="zh-CN" dirty="0" err="1"/>
              <a:t>sklearn</a:t>
            </a:r>
            <a:r>
              <a:rPr lang="zh-CN" altLang="en-US" dirty="0"/>
              <a:t>库的</a:t>
            </a:r>
            <a:r>
              <a:rPr lang="en-US" altLang="zh-CN" dirty="0" err="1"/>
              <a:t>linear_model</a:t>
            </a:r>
            <a:r>
              <a:rPr lang="zh-CN" altLang="en-US" dirty="0"/>
              <a:t>包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607" y="1281374"/>
            <a:ext cx="5600510" cy="9260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81993" y="2325457"/>
                <a:ext cx="48061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charset="0"/>
                        </a:rPr>
                        <m:t>PRICE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=−1.36+5.09</m:t>
                      </m:r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RM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−0.64</m:t>
                          </m: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LSTAT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993" y="2325457"/>
                <a:ext cx="480612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53" r="-38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68528" y="226390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得到模型</a:t>
            </a:r>
            <a:endParaRPr lang="en-US" sz="2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28" y="2664011"/>
            <a:ext cx="3788175" cy="2032032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>
          <a:xfrm>
            <a:off x="5330859" y="2716756"/>
            <a:ext cx="2681785" cy="1323832"/>
          </a:xfrm>
          <a:prstGeom prst="wedgeRoundRectCallout">
            <a:avLst>
              <a:gd name="adj1" fmla="val -47805"/>
              <a:gd name="adj2" fmla="val 707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给定两个输入变量，如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RM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和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LSTAT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，线性回归计算的结果是三维中的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一个平面</a:t>
            </a:r>
            <a:endParaRPr lang="en-US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604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</a:t>
            </a:r>
            <a:r>
              <a:rPr lang="en-US" altLang="zh-CN" dirty="0"/>
              <a:t>MLR</a:t>
            </a:r>
            <a:r>
              <a:rPr lang="zh-CN" altLang="en-US" dirty="0"/>
              <a:t>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将上面求得的</a:t>
            </a:r>
            <a:r>
              <a:rPr lang="en-US" altLang="zh-CN" dirty="0"/>
              <a:t>MLR</a:t>
            </a:r>
            <a:r>
              <a:rPr lang="zh-CN" altLang="en-US" dirty="0"/>
              <a:t>模型可视化在二维平面上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69" y="1254863"/>
            <a:ext cx="7370003" cy="338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5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AAA2A59E-BE71-3346-A055-74A2B1D3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背景知识</a:t>
            </a:r>
            <a:endParaRPr lang="x-none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9CBA62A-CDEB-4349-B90C-E114A4D1D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7087AF1-A492-3F44-8690-1AB9EBAA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18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线性代数背景知识：点积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给定两个向量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𝒂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𝒃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>
                  <a:spcAft>
                    <a:spcPts val="600"/>
                  </a:spcAft>
                </a:pPr>
                <a:r>
                  <a:rPr lang="zh-CN" altLang="en-US" dirty="0"/>
                  <a:t>它们的点积操作定义为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charset="0"/>
                        </a:rPr>
                        <m:t>𝒂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⋅</m:t>
                      </m:r>
                      <m:r>
                        <a:rPr lang="en-US" altLang="zh-CN" b="1" i="1" smtClean="0">
                          <a:latin typeface="Cambria Math" charset="0"/>
                        </a:rPr>
                        <m:t>𝒃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+…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smtClean="0">
                          <a:latin typeface="Cambria Math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lvl="1"/>
                <a:r>
                  <a:rPr lang="zh-CN" altLang="en-US" dirty="0"/>
                  <a:t>两个向量的点积是一个标量，而非向量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点积操作只能定义在两个相同长度的向量上</a:t>
                </a:r>
                <a:endParaRPr lang="en-US" altLang="zh-CN" dirty="0"/>
              </a:p>
              <a:p>
                <a:r>
                  <a:rPr lang="zh-CN" altLang="en-US" dirty="0"/>
                  <a:t>练习：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𝑎</m:t>
                    </m:r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en-US" altLang="zh-CN" i="1">
                        <a:latin typeface="Cambria Math" charset="0"/>
                      </a:rPr>
                      <m:t>𝑏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表示为点积的形式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27896" y="819150"/>
                <a:ext cx="941155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charset="0"/>
                        </a:rPr>
                        <m:t>𝒂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896" y="819150"/>
                <a:ext cx="941155" cy="102047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339976" y="795970"/>
                <a:ext cx="937949" cy="1066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charset="0"/>
                        </a:rPr>
                        <m:t>𝒃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976" y="795970"/>
                <a:ext cx="937949" cy="10668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00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线性代数背景知识：张成空间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张成空间，也称线性生成（</a:t>
                </a:r>
                <a:r>
                  <a:rPr lang="en-US" altLang="zh-CN" dirty="0"/>
                  <a:t>Linear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Span</a:t>
                </a:r>
                <a:r>
                  <a:rPr lang="zh-CN" altLang="en-US" dirty="0"/>
                  <a:t>）的定义如下</a:t>
                </a:r>
                <a:endParaRPr lang="en-US" altLang="zh-CN" dirty="0"/>
              </a:p>
              <a:p>
                <a:pPr lvl="1">
                  <a:spcAft>
                    <a:spcPts val="600"/>
                  </a:spcAft>
                </a:pPr>
                <a:r>
                  <a:rPr lang="zh-CN" altLang="en-US" dirty="0"/>
                  <a:t>给定线性空间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𝑉</m:t>
                    </m:r>
                  </m:oMath>
                </a14:m>
                <a:r>
                  <a:rPr lang="zh-CN" altLang="en-US" dirty="0"/>
                  <a:t>，用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𝑉</m:t>
                    </m:r>
                  </m:oMath>
                </a14:m>
                <a:r>
                  <a:rPr lang="zh-CN" altLang="en-US" dirty="0"/>
                  <a:t>的若干向量构成集合</a:t>
                </a:r>
                <a14:m>
                  <m:oMath xmlns:m="http://schemas.openxmlformats.org/officeDocument/2006/math">
                    <m:r>
                      <a:rPr lang="zh-CN" altLang="en-US" b="0" i="0" dirty="0" smtClean="0">
                        <a:latin typeface="Cambria Math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𝑆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={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charset="0"/>
                          </a:rPr>
                          <m:t>𝒗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𝛼</m:t>
                        </m:r>
                      </m:sub>
                    </m:sSub>
                    <m:r>
                      <a:rPr lang="en-US" altLang="zh-CN" b="0" i="1" dirty="0" smtClean="0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𝑆</m:t>
                    </m:r>
                  </m:oMath>
                </a14:m>
                <a:r>
                  <a:rPr lang="zh-CN" altLang="en-US" dirty="0"/>
                  <a:t>中向量可以线性相关，也可线性无关。从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𝑆</m:t>
                    </m:r>
                  </m:oMath>
                </a14:m>
                <a:r>
                  <a:rPr lang="zh-CN" altLang="en-US" dirty="0"/>
                  <a:t>任意选择有限个向量进行线性组合所得到的集合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{</m:t>
                    </m:r>
                    <m:nary>
                      <m:naryPr>
                        <m:chr m:val="∑"/>
                        <m:ctrlPr>
                          <a:rPr lang="is-IS" altLang="zh-CN" b="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charset="0"/>
                      </a:rPr>
                      <m:t>|</m:t>
                    </m:r>
                    <m:r>
                      <a:rPr lang="en-US" altLang="zh-CN" b="0" i="1" smtClean="0">
                        <a:latin typeface="Cambria Math" charset="0"/>
                      </a:rPr>
                      <m:t>𝑁</m:t>
                    </m:r>
                    <m:r>
                      <a:rPr lang="en-US" altLang="zh-CN" b="0" i="1" smtClean="0">
                        <a:latin typeface="Cambria Math" charset="0"/>
                      </a:rPr>
                      <m:t>∈</m:t>
                    </m:r>
                    <m:r>
                      <a:rPr lang="en-US" altLang="zh-CN" b="0" i="1" smtClean="0">
                        <a:latin typeface="Cambria Math" charset="0"/>
                      </a:rPr>
                      <m:t>ℤ</m:t>
                    </m:r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∈</m:t>
                    </m:r>
                    <m:r>
                      <a:rPr lang="en-US" altLang="zh-CN" b="0" i="1" smtClean="0">
                        <a:latin typeface="Cambria Math" charset="0"/>
                      </a:rPr>
                      <m:t>ℝ</m:t>
                    </m:r>
                    <m:r>
                      <a:rPr lang="en-US" altLang="zh-CN" b="0" i="1" smtClean="0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/>
                  <a:t>称为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𝑆</m:t>
                    </m:r>
                  </m:oMath>
                </a14:m>
                <a:r>
                  <a:rPr lang="zh-CN" altLang="en-US" dirty="0"/>
                  <a:t>张成（</a:t>
                </a:r>
                <a:r>
                  <a:rPr lang="en-US" altLang="zh-CN" dirty="0"/>
                  <a:t>span</a:t>
                </a:r>
                <a:r>
                  <a:rPr lang="zh-CN" altLang="en-US" dirty="0"/>
                  <a:t>）的空间，记为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charset="0"/>
                      </a:rPr>
                      <m:t>span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charset="0"/>
                      </a:rPr>
                      <m:t>𝑆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zh-CN" altLang="en-US" dirty="0"/>
                  <a:t>张成空间最直观的例子就是子空间（</a:t>
                </a:r>
                <a:r>
                  <a:rPr lang="en-US" altLang="zh-CN" dirty="0"/>
                  <a:t>subspace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给定三维空间中三个向量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𝒖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𝒗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𝒘</m:t>
                    </m:r>
                  </m:oMath>
                </a14:m>
                <a:r>
                  <a:rPr lang="zh-CN" altLang="en-US" b="1" dirty="0"/>
                  <a:t>，</a:t>
                </a:r>
                <a:r>
                  <a:rPr lang="zh-CN" altLang="en-US" dirty="0"/>
                  <a:t>它们张成子空间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charset="0"/>
                      </a:rPr>
                      <m:t>span</m:t>
                    </m:r>
                    <m:r>
                      <a:rPr lang="en-US" altLang="zh-CN" i="1" dirty="0">
                        <a:latin typeface="Cambria Math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𝒖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,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𝒗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,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𝒘</m:t>
                    </m:r>
                    <m:r>
                      <a:rPr lang="en-US" altLang="zh-CN" i="1" dirty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请回答以下线性组合是否属于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charset="0"/>
                      </a:rPr>
                      <m:t>span</m:t>
                    </m:r>
                    <m:r>
                      <a:rPr lang="en-US" altLang="zh-CN" i="1" dirty="0">
                        <a:latin typeface="Cambria Math" charset="0"/>
                      </a:rPr>
                      <m:t>(</m:t>
                    </m:r>
                    <m:r>
                      <a:rPr lang="en-US" altLang="zh-CN" b="1" i="1" dirty="0">
                        <a:latin typeface="Cambria Math" charset="0"/>
                      </a:rPr>
                      <m:t>𝒖</m:t>
                    </m:r>
                    <m:r>
                      <a:rPr lang="en-US" altLang="zh-CN" i="1" dirty="0">
                        <a:latin typeface="Cambria Math" charset="0"/>
                      </a:rPr>
                      <m:t>,</m:t>
                    </m:r>
                    <m:r>
                      <a:rPr lang="en-US" altLang="zh-CN" b="1" i="1" dirty="0">
                        <a:latin typeface="Cambria Math" charset="0"/>
                      </a:rPr>
                      <m:t>𝒗</m:t>
                    </m:r>
                    <m:r>
                      <a:rPr lang="en-US" altLang="zh-CN" i="1" dirty="0">
                        <a:latin typeface="Cambria Math" charset="0"/>
                      </a:rPr>
                      <m:t>,</m:t>
                    </m:r>
                    <m:r>
                      <a:rPr lang="en-US" altLang="zh-CN" b="1" i="1" dirty="0">
                        <a:latin typeface="Cambria Math" charset="0"/>
                      </a:rPr>
                      <m:t>𝒘</m:t>
                    </m:r>
                    <m:r>
                      <a:rPr lang="en-US" altLang="zh-CN" i="1" dirty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𝒖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3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𝒖</m:t>
                    </m:r>
                    <m:r>
                      <a:rPr lang="en-US" altLang="zh-CN" i="1" dirty="0" smtClean="0">
                        <a:latin typeface="Cambria Math" charset="0"/>
                      </a:rPr>
                      <m:t>+0.5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𝒗</m:t>
                    </m:r>
                    <m:r>
                      <a:rPr lang="en-US" altLang="zh-CN" i="1" dirty="0" smtClean="0">
                        <a:latin typeface="Cambria Math" charset="0"/>
                      </a:rPr>
                      <m:t>+10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𝒘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𝒖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⋅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𝒗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𝒘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2</m:t>
                    </m:r>
                    <m:r>
                      <a:rPr lang="en-US" altLang="zh-CN" b="1" i="1" dirty="0">
                        <a:latin typeface="Cambria Math" charset="0"/>
                      </a:rPr>
                      <m:t>𝒖</m:t>
                    </m:r>
                    <m:r>
                      <a:rPr lang="en-US" altLang="zh-CN" i="1" dirty="0">
                        <a:latin typeface="Cambria Math" charset="0"/>
                      </a:rPr>
                      <m:t>+5</m:t>
                    </m:r>
                    <m:r>
                      <a:rPr lang="en-US" altLang="zh-CN" b="1" i="1" dirty="0">
                        <a:latin typeface="Cambria Math" charset="0"/>
                      </a:rPr>
                      <m:t>𝒗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−6</m:t>
                    </m:r>
                    <m:r>
                      <a:rPr lang="en-US" altLang="zh-CN" b="1" i="1" dirty="0">
                        <a:latin typeface="Cambria Math" charset="0"/>
                      </a:rPr>
                      <m:t>𝒘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+10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32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张成空间的一种直观解释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假设只给你黄色和红色颜料进行绘画，能够调制出的颜色集合，就可以形象地理解为黄色和红色的张成空间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606" y="1753255"/>
            <a:ext cx="6082253" cy="216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线性代数背景知识：张成空间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在二维空间（记作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）的一个向量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𝒗</m:t>
                    </m:r>
                  </m:oMath>
                </a14:m>
                <a:r>
                  <a:rPr lang="zh-CN" altLang="en-US" dirty="0"/>
                  <a:t>张成空间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charset="0"/>
                      </a:rPr>
                      <m:t>span</m:t>
                    </m:r>
                    <m:r>
                      <a:rPr lang="en-US" altLang="zh-CN" i="1" dirty="0">
                        <a:latin typeface="Cambria Math" charset="0"/>
                      </a:rPr>
                      <m:t>(</m:t>
                    </m:r>
                    <m:r>
                      <a:rPr lang="en-US" altLang="zh-CN" b="1" i="1" dirty="0">
                        <a:latin typeface="Cambria Math" charset="0"/>
                      </a:rPr>
                      <m:t>𝒗</m:t>
                    </m:r>
                    <m:r>
                      <a:rPr lang="en-US" altLang="zh-CN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的直观含义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例：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charset="0"/>
                      </a:rPr>
                      <m:t>𝒗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=(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1,1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509" y="1593130"/>
            <a:ext cx="3600670" cy="3163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90134" y="2712975"/>
                <a:ext cx="19938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二维空间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上通过向量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C00000"/>
                        </a:solidFill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𝒗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的一条无限长的直线</a:t>
                </a:r>
                <a:endParaRPr lang="en-US" altLang="zh-CN" dirty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134" y="2712975"/>
                <a:ext cx="1993842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917" t="-3289" r="-1223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5401559" y="3033238"/>
            <a:ext cx="399436" cy="2828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0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线性代数背景知识：张成空间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思考：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二维空间（记作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）中两个向量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charset="0"/>
                          </a:rPr>
                          <m:t>𝒗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charset="0"/>
                          </a:rPr>
                          <m:t>𝒗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的张成空间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charset="0"/>
                      </a:rPr>
                      <m:t>span</m:t>
                    </m:r>
                    <m:r>
                      <a:rPr lang="en-US" altLang="zh-CN" i="1" dirty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charset="0"/>
                          </a:rPr>
                          <m:t>𝒗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的直观几何含义是什么？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是一个二维的平面吗？不一定！</a:t>
                </a:r>
                <a:endParaRPr lang="en-US" dirty="0"/>
              </a:p>
              <a:p>
                <a:r>
                  <a:rPr lang="zh-CN" altLang="en-US" dirty="0"/>
                  <a:t>取决于两个向量是否线性无关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873" y="2545332"/>
            <a:ext cx="2234455" cy="21210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682" y="2545331"/>
            <a:ext cx="2439605" cy="212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3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线性代数背景知识：矩阵的秩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一个矩阵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的秩，记为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charset="0"/>
                      </a:rPr>
                      <m:t>rank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𝐴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定义为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𝐴</m:t>
                    </m:r>
                  </m:oMath>
                </a14:m>
                <a:r>
                  <a:rPr lang="zh-CN" altLang="en-US" dirty="0"/>
                  <a:t>包含的线性无关的列（或行）的最大个数</a:t>
                </a:r>
                <a:endParaRPr lang="en-US" altLang="zh-CN" dirty="0"/>
              </a:p>
              <a:p>
                <a:endParaRPr lang="en-US" dirty="0"/>
              </a:p>
              <a:p>
                <a:r>
                  <a:rPr lang="zh-CN" altLang="en-US" dirty="0"/>
                  <a:t>一些基本的性质：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矩阵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𝐴</m:t>
                    </m:r>
                  </m:oMath>
                </a14:m>
                <a:r>
                  <a:rPr lang="zh-CN" altLang="en-US" dirty="0"/>
                  <a:t>的秩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charset="0"/>
                      </a:rPr>
                      <m:t>rank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𝐴</m:t>
                    </m:r>
                    <m:r>
                      <a:rPr lang="en-US" altLang="zh-CN" b="0" i="1" smtClean="0">
                        <a:latin typeface="Cambria Math" charset="0"/>
                      </a:rPr>
                      <m:t>)≤</m:t>
                    </m:r>
                    <m:func>
                      <m:funcPr>
                        <m:ctrlPr>
                          <a:rPr lang="zh-CN" alt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min</m:t>
                        </m:r>
                      </m:fName>
                      <m:e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在方块矩阵（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𝑚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）的情况下，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𝐴</m:t>
                    </m:r>
                  </m:oMath>
                </a14:m>
                <a:r>
                  <a:rPr lang="zh-CN" altLang="en-US" dirty="0"/>
                  <a:t>是可逆的，当且仅当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charset="0"/>
                      </a:rPr>
                      <m:t>rank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，即矩阵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𝐴</m:t>
                    </m:r>
                  </m:oMath>
                </a14:m>
                <a:r>
                  <a:rPr lang="zh-CN" altLang="en-US" dirty="0"/>
                  <a:t>有满秩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2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多元线性回归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MLR</a:t>
            </a:r>
            <a:r>
              <a:rPr lang="zh-CN" altLang="en-US" dirty="0"/>
              <a:t>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多元线性回归（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Multiple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Linear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Regression,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MLR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在简单（一元）线性回归</a:t>
            </a:r>
            <a:r>
              <a:rPr lang="en-US" altLang="zh-CN" dirty="0"/>
              <a:t>SLR</a:t>
            </a:r>
            <a:r>
              <a:rPr lang="zh-CN" altLang="en-US" dirty="0"/>
              <a:t>模型基础上添加更多的</a:t>
            </a:r>
            <a:r>
              <a:rPr lang="zh-CN" altLang="en-US" dirty="0">
                <a:solidFill>
                  <a:srgbClr val="C00000"/>
                </a:solidFill>
              </a:rPr>
              <a:t>独立变量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zh-CN" altLang="en-US" dirty="0"/>
              <a:t>思考：</a:t>
            </a:r>
            <a:endParaRPr lang="en-US" altLang="zh-CN" dirty="0"/>
          </a:p>
          <a:p>
            <a:pPr lvl="1"/>
            <a:r>
              <a:rPr lang="zh-CN" altLang="en-US" b="1" dirty="0"/>
              <a:t>假设：</a:t>
            </a:r>
            <a:r>
              <a:rPr lang="zh-CN" altLang="en-US" dirty="0"/>
              <a:t>上面为什么强调</a:t>
            </a:r>
            <a:r>
              <a:rPr lang="zh-CN" altLang="en-US" dirty="0">
                <a:solidFill>
                  <a:srgbClr val="C00000"/>
                </a:solidFill>
              </a:rPr>
              <a:t>独立变量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b="1" dirty="0"/>
              <a:t>理论：</a:t>
            </a:r>
            <a:r>
              <a:rPr lang="zh-CN" altLang="en-US" dirty="0"/>
              <a:t>给定</a:t>
            </a:r>
            <a:r>
              <a:rPr lang="en-US" altLang="zh-CN" dirty="0"/>
              <a:t>MSE</a:t>
            </a:r>
            <a:r>
              <a:rPr lang="zh-CN" altLang="en-US" dirty="0"/>
              <a:t>损失函数，</a:t>
            </a:r>
            <a:r>
              <a:rPr lang="en-US" altLang="zh-CN" dirty="0"/>
              <a:t>MLR</a:t>
            </a:r>
            <a:r>
              <a:rPr lang="zh-CN" altLang="en-US" dirty="0"/>
              <a:t>有</a:t>
            </a:r>
            <a:r>
              <a:rPr lang="zh-CN" altLang="en-US" dirty="0">
                <a:solidFill>
                  <a:srgbClr val="C00000"/>
                </a:solidFill>
              </a:rPr>
              <a:t>唯一解</a:t>
            </a:r>
            <a:r>
              <a:rPr lang="zh-CN" altLang="en-US" dirty="0"/>
              <a:t>吗？换言之，如果希望</a:t>
            </a:r>
            <a:r>
              <a:rPr lang="en-US" altLang="zh-CN" dirty="0"/>
              <a:t>MLR</a:t>
            </a:r>
            <a:r>
              <a:rPr lang="zh-CN" altLang="en-US" dirty="0"/>
              <a:t>满足在</a:t>
            </a:r>
            <a:r>
              <a:rPr lang="en-US" altLang="zh-CN" dirty="0"/>
              <a:t>MSE</a:t>
            </a:r>
            <a:r>
              <a:rPr lang="zh-CN" altLang="en-US" dirty="0"/>
              <a:t>损失函数下有唯一解的</a:t>
            </a:r>
            <a:r>
              <a:rPr lang="zh-CN" altLang="en-US" dirty="0">
                <a:solidFill>
                  <a:srgbClr val="C00000"/>
                </a:solidFill>
              </a:rPr>
              <a:t>条件</a:t>
            </a:r>
            <a:r>
              <a:rPr lang="zh-CN" altLang="en-US" dirty="0"/>
              <a:t>是什么？</a:t>
            </a:r>
            <a:endParaRPr lang="en-US" altLang="zh-CN" dirty="0"/>
          </a:p>
          <a:p>
            <a:pPr lvl="1"/>
            <a:r>
              <a:rPr lang="zh-CN" altLang="en-US" b="1" dirty="0"/>
              <a:t>计算：</a:t>
            </a:r>
            <a:r>
              <a:rPr lang="zh-CN" altLang="en-US" dirty="0"/>
              <a:t>给定</a:t>
            </a:r>
            <a:r>
              <a:rPr lang="en-US" altLang="zh-CN" dirty="0"/>
              <a:t>MSE</a:t>
            </a:r>
            <a:r>
              <a:rPr lang="zh-CN" altLang="en-US" dirty="0"/>
              <a:t>损失函数，应该如何</a:t>
            </a:r>
            <a:r>
              <a:rPr lang="zh-CN" altLang="en-US" dirty="0">
                <a:solidFill>
                  <a:srgbClr val="C00000"/>
                </a:solidFill>
              </a:rPr>
              <a:t>高效地计算</a:t>
            </a:r>
            <a:r>
              <a:rPr lang="en-US" altLang="zh-CN" dirty="0"/>
              <a:t>MLR</a:t>
            </a:r>
            <a:r>
              <a:rPr lang="zh-CN" altLang="en-US" dirty="0"/>
              <a:t>的参数？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要想回答上述问题，我们需要引入</a:t>
            </a:r>
            <a:r>
              <a:rPr lang="zh-CN" altLang="en-US" dirty="0">
                <a:solidFill>
                  <a:srgbClr val="C00000"/>
                </a:solidFill>
              </a:rPr>
              <a:t>线性代数</a:t>
            </a:r>
            <a:r>
              <a:rPr lang="zh-CN" altLang="en-US" dirty="0"/>
              <a:t>的工具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线性回归模型的向量化表示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多元线性回归（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Multiple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Linear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Regression,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MLR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1800" i="1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1800" i="1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sz="18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𝑗</m:t>
                          </m:r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引入两个向量：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lvl="1"/>
                <a:r>
                  <a:rPr lang="zh-CN" altLang="en-US" dirty="0"/>
                  <a:t>注：我们使用粗体表示向量及矩阵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44053" y="2402005"/>
                <a:ext cx="1004442" cy="1489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charset="0"/>
                        </a:rPr>
                        <m:t>𝜽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sz="2000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53" y="2402005"/>
                <a:ext cx="1004442" cy="148963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15566" y="2402005"/>
                <a:ext cx="1004442" cy="1489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charset="0"/>
                        </a:rPr>
                        <m:t>𝒙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sz="2000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566" y="2402005"/>
                <a:ext cx="1004442" cy="148963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3852079" y="2928459"/>
            <a:ext cx="593677" cy="4367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45815" y="2895354"/>
                <a:ext cx="13698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800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815" y="2895354"/>
                <a:ext cx="1369862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977882" y="3748808"/>
                <a:ext cx="297598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请问上述公式中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1600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是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A.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d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1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的向量 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B.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标量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882" y="3748808"/>
                <a:ext cx="2975989" cy="584775"/>
              </a:xfrm>
              <a:prstGeom prst="rect">
                <a:avLst/>
              </a:prstGeom>
              <a:blipFill rotWithShape="0">
                <a:blip r:embed="rId7"/>
                <a:stretch>
                  <a:fillRect l="-1230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5450698" y="3781192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581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设计矩阵（</a:t>
            </a:r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Matrix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13749"/>
          </a:xfrm>
        </p:spPr>
        <p:txBody>
          <a:bodyPr/>
          <a:lstStyle/>
          <a:p>
            <a:r>
              <a:rPr lang="zh-CN" altLang="en-US" dirty="0"/>
              <a:t>给定训练集，我们可以定义设计矩阵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71600" y="1745533"/>
                <a:ext cx="4183709" cy="1728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charset="0"/>
                        </a:rPr>
                        <m:t>𝕏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sz="2000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2000" b="0" i="1" smtClean="0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13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1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23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2000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31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33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41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42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43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4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sz="2000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r>
                                      <a:rPr lang="uk-UA" altLang="zh-CN" sz="2000" i="1">
                                        <a:latin typeface="Cambria Math" charset="0"/>
                                      </a:rPr>
                                      <m:t>⋮</m:t>
                                    </m:r>
                                    <m: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lang="zh-CN" altLang="en-US" sz="2000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uk-UA" altLang="zh-CN" sz="2000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sz="2000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r>
                                            <a:rPr lang="zh-CN" altLang="en-US" sz="2000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uk-UA" altLang="zh-CN" sz="2000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sz="2000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sz="2000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sz="2000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000" b="0" i="1" smtClean="0">
                                                  <a:latin typeface="Cambria Math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sz="2000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𝑛</m:t>
                                                    </m:r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sz="200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b="0" i="1" smtClean="0">
                                                        <a:latin typeface="Cambria Math" charset="0"/>
                                                      </a:rPr>
                                                      <m:t>𝑛𝑑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745533"/>
                <a:ext cx="4183709" cy="17287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095928" y="1654139"/>
            <a:ext cx="3205537" cy="380144"/>
          </a:xfrm>
          <a:prstGeom prst="rect">
            <a:avLst/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07517" y="1582220"/>
            <a:ext cx="543908" cy="1993188"/>
          </a:xfrm>
          <a:prstGeom prst="rect">
            <a:avLst/>
          </a:prstGeom>
          <a:solidFill>
            <a:schemeClr val="accent3">
              <a:alpha val="29804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6437381" y="986319"/>
            <a:ext cx="2131265" cy="1047964"/>
          </a:xfrm>
          <a:prstGeom prst="wedgeRoundRectCallout">
            <a:avLst>
              <a:gd name="adj1" fmla="val -96354"/>
              <a:gd name="adj2" fmla="val 35049"/>
              <a:gd name="adj3" fmla="val 16667"/>
            </a:avLst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每行代表一个数据实例（数据点）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如数据点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的特征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4760981" y="3708186"/>
            <a:ext cx="2985734" cy="1047964"/>
          </a:xfrm>
          <a:prstGeom prst="wedgeRoundRectCallout">
            <a:avLst>
              <a:gd name="adj1" fmla="val -110761"/>
              <a:gd name="adj2" fmla="val -65931"/>
              <a:gd name="adj3" fmla="val 16667"/>
            </a:avLst>
          </a:prstGeom>
          <a:solidFill>
            <a:schemeClr val="accent3">
              <a:alpha val="29804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每列代表一个数据特征（输入变量）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如所有点在特征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上的取值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23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设计矩阵（</a:t>
            </a:r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Matrix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3806575" cy="3937000"/>
          </a:xfrm>
        </p:spPr>
        <p:txBody>
          <a:bodyPr/>
          <a:lstStyle/>
          <a:p>
            <a:r>
              <a:rPr lang="zh-CN" altLang="en-US" dirty="0"/>
              <a:t>考虑之前波士顿房价的例子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470" y="1356189"/>
            <a:ext cx="1835649" cy="3287730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017793" y="1356190"/>
            <a:ext cx="4669007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基于设计矩阵，</a:t>
            </a:r>
            <a:r>
              <a:rPr lang="en-US" altLang="zh-CN" dirty="0"/>
              <a:t>MLR</a:t>
            </a:r>
            <a:r>
              <a:rPr lang="zh-CN" altLang="en-US" dirty="0"/>
              <a:t>模型表示为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62021" y="1964801"/>
                <a:ext cx="1254318" cy="44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𝕐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𝕏</m:t>
                      </m:r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021" y="1964801"/>
                <a:ext cx="1254318" cy="442429"/>
              </a:xfrm>
              <a:prstGeom prst="rect">
                <a:avLst/>
              </a:prstGeom>
              <a:blipFill>
                <a:blip r:embed="rId4"/>
                <a:stretch>
                  <a:fillRect l="-7071" t="-19444" r="-6061" b="-555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601186" y="2658789"/>
                <a:ext cx="3566769" cy="591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请结合左图分别说出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𝕐</m:t>
                        </m:r>
                      </m:e>
                    </m:acc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的维数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A.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506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1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B.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506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3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C.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3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506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D.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3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*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186" y="2658789"/>
                <a:ext cx="3566769" cy="591444"/>
              </a:xfrm>
              <a:prstGeom prst="rect">
                <a:avLst/>
              </a:prstGeom>
              <a:blipFill>
                <a:blip r:embed="rId5"/>
                <a:stretch>
                  <a:fillRect l="-1064" t="-6383" b="-1063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074002" y="269117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093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将线性回归表示为矩阵相乘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58739"/>
          </a:xfrm>
        </p:spPr>
        <p:txBody>
          <a:bodyPr/>
          <a:lstStyle/>
          <a:p>
            <a:r>
              <a:rPr lang="zh-CN" altLang="en-US" dirty="0"/>
              <a:t>基于设计矩阵，</a:t>
            </a:r>
            <a:r>
              <a:rPr lang="en-US" altLang="zh-CN" dirty="0"/>
              <a:t>MLR</a:t>
            </a:r>
            <a:r>
              <a:rPr lang="zh-CN" altLang="en-US" dirty="0"/>
              <a:t>模型表示为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37398" y="1473594"/>
                <a:ext cx="4550989" cy="1898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uk-UA" altLang="zh-CN" b="1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1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uk-UA" altLang="zh-CN" b="1" i="1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b="0" i="1" smtClean="0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13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1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b="0" i="1" smtClean="0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23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b="0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31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23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33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41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42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43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4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uk-UA" altLang="zh-CN" i="1">
                                      <a:latin typeface="Cambria Math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r>
                                      <a:rPr lang="uk-UA" altLang="zh-CN" i="1">
                                        <a:latin typeface="Cambria Math" charset="0"/>
                                      </a:rPr>
                                      <m:t>⋮</m:t>
                                    </m:r>
                                    <m: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  </m:t>
                                    </m:r>
                                  </m:e>
                                  <m:e>
                                    <m: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 </m:t>
                                    </m:r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uk-UA" altLang="zh-CN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r>
                                            <a:rPr lang="zh-CN" altLang="en-US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uk-UA" altLang="zh-CN" i="1" smtClean="0">
                                              <a:latin typeface="Cambria Math" charset="0"/>
                                            </a:rPr>
                                            <m:t>⋮</m:t>
                                          </m:r>
                                          <m:r>
                                            <a:rPr lang="zh-CN" altLang="en-US" b="0" i="1" smtClean="0">
                                              <a:latin typeface="Cambria Math" charset="0"/>
                                            </a:rPr>
                                            <m:t>  </m:t>
                                          </m:r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⋮</m:t>
                                                </m:r>
                                                <m:r>
                                                  <a:rPr lang="zh-CN" altLang="en-US" b="0" i="1" smtClean="0">
                                                    <a:latin typeface="Cambria Math" charset="0"/>
                                                  </a:rPr>
                                                  <m:t>  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uk-UA" altLang="zh-CN" i="1">
                                            <a:latin typeface="Cambria Math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b="0" i="1" smtClean="0">
                                                  <a:latin typeface="Cambria Math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uk-UA" altLang="zh-CN" i="1">
                                                  <a:latin typeface="Cambria Math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𝑛</m:t>
                                                    </m:r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uk-UA" altLang="zh-CN" i="1" smtClean="0">
                                                    <a:latin typeface="Cambria Math" charset="0"/>
                                                  </a:rPr>
                                                  <m:t>⋯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b="0" i="1" smtClean="0">
                                                        <a:latin typeface="Cambria Math" charset="0"/>
                                                      </a:rPr>
                                                      <m:t>𝑛𝑑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398" y="1473594"/>
                <a:ext cx="4550989" cy="189827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62940" y="2201517"/>
                <a:ext cx="1254318" cy="44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𝕐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𝕏</m:t>
                      </m:r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40" y="2201517"/>
                <a:ext cx="1254318" cy="44242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2922998" y="2201517"/>
            <a:ext cx="505785" cy="4501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85017" y="1910993"/>
            <a:ext cx="3051424" cy="290524"/>
          </a:xfrm>
          <a:prstGeom prst="rect">
            <a:avLst/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844479" y="1378683"/>
            <a:ext cx="543908" cy="2093982"/>
          </a:xfrm>
          <a:prstGeom prst="rect">
            <a:avLst/>
          </a:prstGeom>
          <a:solidFill>
            <a:schemeClr val="accent3">
              <a:alpha val="29804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15605" y="4144197"/>
                <a:ext cx="3594574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2,:</m:t>
                          </m:r>
                        </m:sub>
                      </m:sSub>
                      <m:r>
                        <a:rPr lang="en-US" altLang="zh-CN" b="1" i="1" smtClean="0">
                          <a:latin typeface="Cambria Math" charset="0"/>
                        </a:rPr>
                        <m:t>𝜽</m:t>
                      </m:r>
                      <m:r>
                        <a:rPr lang="en-US" altLang="zh-CN" b="1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605" y="4144197"/>
                <a:ext cx="3594574" cy="289182"/>
              </a:xfrm>
              <a:prstGeom prst="rect">
                <a:avLst/>
              </a:prstGeom>
              <a:blipFill rotWithShape="0">
                <a:blip r:embed="rId4"/>
                <a:stretch>
                  <a:fillRect l="-508" t="-19149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 rot="5400000">
            <a:off x="5945771" y="3289499"/>
            <a:ext cx="334243" cy="70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将线性回归表示为矩阵相乘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3806575" cy="3937000"/>
          </a:xfrm>
        </p:spPr>
        <p:txBody>
          <a:bodyPr/>
          <a:lstStyle/>
          <a:p>
            <a:r>
              <a:rPr lang="zh-CN" altLang="en-US" dirty="0"/>
              <a:t>考虑之前波士顿房价的例子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470" y="1356189"/>
            <a:ext cx="1835649" cy="3287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04819" y="2570470"/>
            <a:ext cx="1582219" cy="290524"/>
          </a:xfrm>
          <a:prstGeom prst="rect">
            <a:avLst/>
          </a:prstGeom>
          <a:solidFill>
            <a:srgbClr val="4F81BD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3214" y="2350343"/>
                <a:ext cx="1288623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charset="0"/>
                        </a:rPr>
                        <m:t>𝜽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−1.36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5.09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−0.64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214" y="2350343"/>
                <a:ext cx="1288623" cy="730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806090" y="2392565"/>
                <a:ext cx="138602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练习：</a:t>
                </a:r>
                <a:endParaRPr lang="en-US" altLang="zh-CN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285750" indent="-285750">
                  <a:buFont typeface="Arial" charset="0"/>
                  <a:buChar char="•"/>
                </a:pPr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请计算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ea typeface="Microsoft YaHei" charset="-122"/>
                            <a:cs typeface="Microsoft YaHei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 smtClean="0">
                                <a:latin typeface="Cambria Math" charset="0"/>
                                <a:ea typeface="Microsoft YaHei" charset="-122"/>
                                <a:cs typeface="Microsoft YaHei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charset="0"/>
                                <a:ea typeface="Microsoft YaHei" charset="-122"/>
                                <a:cs typeface="Microsoft YaHei" charset="-122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  <a:ea typeface="Microsoft YaHei" charset="-122"/>
                            <a:cs typeface="Microsoft YaHei" charset="-122"/>
                          </a:rPr>
                          <m:t>4</m:t>
                        </m:r>
                      </m:sub>
                    </m:sSub>
                  </m:oMath>
                </a14:m>
                <a:endParaRPr lang="en-US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090" y="2392565"/>
                <a:ext cx="1386020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3509" t="-4673" r="-12719" b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60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</a:t>
            </a:r>
            <a:r>
              <a:rPr lang="zh-CN" altLang="en-US" dirty="0"/>
              <a:t> 符号定义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9" name="Text Placeholder 4"/>
          <p:cNvSpPr txBox="1">
            <a:spLocks/>
          </p:cNvSpPr>
          <p:nvPr/>
        </p:nvSpPr>
        <p:spPr>
          <a:xfrm>
            <a:off x="504825" y="896811"/>
            <a:ext cx="4040188" cy="479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针对单一数据点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5"/>
              <p:cNvSpPr>
                <a:spLocks noGrp="1"/>
              </p:cNvSpPr>
              <p:nvPr>
                <p:ph sz="half" idx="4294967295"/>
              </p:nvPr>
            </p:nvSpPr>
            <p:spPr>
              <a:xfrm>
                <a:off x="504825" y="1376632"/>
                <a:ext cx="4040188" cy="2963466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模型表示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𝑦</m:t>
                          </m:r>
                        </m:e>
                      </m:acc>
                      <m:r>
                        <a:rPr lang="en-US" altLang="zh-CN" b="0" i="1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𝜽</m:t>
                      </m:r>
                    </m:oMath>
                  </m:oMathPara>
                </a14:m>
                <a:endParaRPr lang="en-US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:endParaRPr lang="en-US" sz="1800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𝒙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𝑑</m:t>
                    </m:r>
                    <m:r>
                      <a:rPr lang="en-US" altLang="zh-CN" sz="180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+1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的向量</a:t>
                </a:r>
                <a:endParaRPr lang="en-US" altLang="zh-CN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1800" i="1" smtClean="0">
                            <a:latin typeface="Cambria Math" charset="0"/>
                            <a:ea typeface="Microsoft YaHei" charset="-122"/>
                            <a:cs typeface="Microsoft YaHei" charset="-122"/>
                          </a:rPr>
                        </m:ctrlPr>
                      </m:accPr>
                      <m:e>
                        <m:r>
                          <a:rPr lang="en-US" altLang="zh-CN" sz="1800" b="0" i="1" smtClean="0">
                            <a:latin typeface="Cambria Math" charset="0"/>
                            <a:ea typeface="Microsoft YaHei" charset="-122"/>
                            <a:cs typeface="Microsoft YaHei" charset="-122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是标量</a:t>
                </a:r>
                <a:endParaRPr lang="en-US" altLang="zh-CN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𝜽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𝑑</m:t>
                    </m:r>
                    <m:r>
                      <a:rPr lang="en-US" altLang="zh-CN" sz="1800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+1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的向量</a:t>
                </a:r>
                <a:endParaRPr lang="en-US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10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4294967295"/>
              </p:nvPr>
            </p:nvSpPr>
            <p:spPr>
              <a:xfrm>
                <a:off x="504825" y="1376632"/>
                <a:ext cx="4040188" cy="2963466"/>
              </a:xfrm>
              <a:prstGeom prst="rect">
                <a:avLst/>
              </a:prstGeom>
              <a:blipFill rotWithShape="0">
                <a:blip r:embed="rId2"/>
                <a:stretch>
                  <a:fillRect l="-1357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6"/>
          <p:cNvSpPr txBox="1">
            <a:spLocks/>
          </p:cNvSpPr>
          <p:nvPr/>
        </p:nvSpPr>
        <p:spPr>
          <a:xfrm>
            <a:off x="4692651" y="896811"/>
            <a:ext cx="4041775" cy="47982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latin typeface="Microsoft YaHei" charset="-122"/>
                <a:ea typeface="Microsoft YaHei" charset="-122"/>
                <a:cs typeface="Microsoft YaHei" charset="-122"/>
              </a:rPr>
              <a:t>针对整个训练集</a:t>
            </a:r>
            <a:endParaRPr lang="en-US" sz="2000" b="1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7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4692651" y="1376632"/>
                <a:ext cx="4041775" cy="2963466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模型表示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𝕐</m:t>
                          </m:r>
                        </m:e>
                      </m:acc>
                      <m:r>
                        <a:rPr lang="en-US" altLang="zh-CN" i="1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r>
                        <a:rPr lang="en-US" altLang="zh-CN" i="1" smtClean="0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𝕏</m:t>
                      </m:r>
                      <m:r>
                        <a:rPr lang="en-US" altLang="zh-CN" b="1" i="1"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𝜽</m:t>
                      </m:r>
                    </m:oMath>
                  </m:oMathPara>
                </a14:m>
                <a:endParaRPr lang="en-US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:endParaRPr lang="en-US" sz="1800" b="1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𝕏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𝑛</m:t>
                    </m:r>
                    <m:r>
                      <a:rPr lang="en-US" altLang="zh-CN" sz="1800" b="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×(</m:t>
                    </m:r>
                    <m:r>
                      <a:rPr lang="en-US" altLang="zh-CN" sz="1800" b="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𝑑</m:t>
                    </m:r>
                    <m:r>
                      <a:rPr lang="en-US" altLang="zh-CN" sz="1800" b="0" i="1" dirty="0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+1)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的矩阵</a:t>
                </a:r>
                <a:endParaRPr lang="en-US" altLang="zh-CN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𝕐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𝑛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的向量</a:t>
                </a:r>
                <a:endParaRPr lang="en-US" altLang="zh-CN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𝜽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是长度为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𝑑</m:t>
                    </m:r>
                    <m:r>
                      <a:rPr lang="en-US" altLang="zh-CN" sz="1800" i="1" dirty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+1</m:t>
                    </m:r>
                  </m:oMath>
                </a14:m>
                <a:r>
                  <a:rPr lang="zh-CN" altLang="en-US" sz="18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的向量</a:t>
                </a:r>
                <a:endParaRPr lang="en-US" sz="18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12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4692651" y="1376632"/>
                <a:ext cx="4041775" cy="2963466"/>
              </a:xfrm>
              <a:prstGeom prst="rect">
                <a:avLst/>
              </a:prstGeom>
              <a:blipFill rotWithShape="0">
                <a:blip r:embed="rId3"/>
                <a:stretch>
                  <a:fillRect l="-1357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92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MSE</a:t>
            </a:r>
            <a:r>
              <a:rPr lang="zh-CN" altLang="en-US" dirty="0"/>
              <a:t>目标函数的矩阵形式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</a:t>
                </a:r>
                <a:r>
                  <a:rPr lang="en-US" altLang="zh-CN" dirty="0"/>
                  <a:t>SLR</a:t>
                </a:r>
                <a:r>
                  <a:rPr lang="zh-CN" altLang="en-US" dirty="0"/>
                  <a:t>模型，均方误差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可以写为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charset="0"/>
                            </a:rPr>
                            <m:t>𝑎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 dirty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i="1" dirty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i="1" dirty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dirty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i="1" dirty="0">
                                          <a:latin typeface="Cambria Math" charset="0"/>
                                        </a:rPr>
                                        <m:t>𝑏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i="1" dirty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altLang="zh-CN" dirty="0"/>
              </a:p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给定线性回归的矩阵形式，我们有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𝕐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𝕏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注：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上式省略了常数项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altLang="zh-C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uk-UA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charset="0"/>
                              </a:rPr>
                              <m:t>𝒙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is-IS" altLang="zh-CN" b="0" i="1" smtClean="0"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r>
                  <a:rPr lang="zh-CN" altLang="en-US" dirty="0"/>
                  <a:t> 称为向量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L2</a:t>
                </a:r>
                <a:r>
                  <a:rPr lang="zh-CN" altLang="en-US" dirty="0"/>
                  <a:t>范数（</a:t>
                </a:r>
                <a:r>
                  <a:rPr lang="en-US" altLang="zh-CN" dirty="0"/>
                  <a:t>L2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Norm</a:t>
                </a:r>
                <a:r>
                  <a:rPr lang="zh-CN" altLang="en-US" dirty="0"/>
                  <a:t>）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Right Brace 4"/>
          <p:cNvSpPr/>
          <p:nvPr/>
        </p:nvSpPr>
        <p:spPr>
          <a:xfrm>
            <a:off x="6113124" y="2528130"/>
            <a:ext cx="283688" cy="1081701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34364" y="2643074"/>
                <a:ext cx="220006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应该如何优化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？</a:t>
                </a:r>
                <a:endParaRPr lang="en-US" altLang="zh-CN" dirty="0">
                  <a:solidFill>
                    <a:schemeClr val="tx1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285750" indent="-285750">
                  <a:buFont typeface="Arial" charset="0"/>
                  <a:buChar char="•"/>
                </a:pPr>
                <a:r>
                  <a:rPr lang="zh-CN" altLang="en-US" sz="1600" dirty="0">
                    <a:latin typeface="Microsoft YaHei" charset="-122"/>
                    <a:ea typeface="Microsoft YaHei" charset="-122"/>
                    <a:cs typeface="Microsoft YaHei" charset="-122"/>
                  </a:rPr>
                  <a:t>矩阵求导</a:t>
                </a:r>
                <a:endParaRPr lang="en-US" altLang="zh-CN" sz="16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285750" indent="-285750">
                  <a:buFont typeface="Arial" charset="0"/>
                  <a:buChar char="•"/>
                </a:pPr>
                <a:r>
                  <a:rPr lang="zh-CN" altLang="en-US" sz="1600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利用几何含义求解</a:t>
                </a:r>
                <a:endParaRPr lang="en-US" sz="160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364" y="2643074"/>
                <a:ext cx="2200062" cy="861774"/>
              </a:xfrm>
              <a:prstGeom prst="rect">
                <a:avLst/>
              </a:prstGeom>
              <a:blipFill>
                <a:blip r:embed="rId4"/>
                <a:stretch>
                  <a:fillRect l="-2299" t="-4412" r="-12644" b="-882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383659" y="3724131"/>
            <a:ext cx="3821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注：矩阵求导计算超出本课的范围。但其对后续深入理解机器学习，包括深度学习很有帮助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21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线性代数背景知识：线性组合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462166"/>
              </a:xfrm>
            </p:spPr>
            <p:txBody>
              <a:bodyPr/>
              <a:lstStyle/>
              <a:p>
                <a:r>
                  <a:rPr lang="zh-CN" altLang="en-US" dirty="0"/>
                  <a:t>线性回归的矩阵表示可以看成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zh-CN" altLang="en-US" dirty="0"/>
                  <a:t>个特征向量的线性组合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462166"/>
              </a:xfrm>
              <a:blipFill rotWithShape="0">
                <a:blip r:embed="rId2"/>
                <a:stretch>
                  <a:fillRect l="-667" t="-657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457199" y="4293984"/>
                <a:ext cx="8229600" cy="4621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预测值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𝕐</m:t>
                        </m:r>
                      </m:e>
                    </m:acc>
                  </m:oMath>
                </a14:m>
                <a:r>
                  <a:rPr lang="zh-CN" altLang="en-US" dirty="0"/>
                  <a:t>可以看为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中各列的线性组合</a:t>
                </a:r>
                <a:endParaRPr lang="en-US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4293984"/>
                <a:ext cx="8229600" cy="462166"/>
              </a:xfrm>
              <a:prstGeom prst="rect">
                <a:avLst/>
              </a:prstGeom>
              <a:blipFill>
                <a:blip r:embed="rId3"/>
                <a:stretch>
                  <a:fillRect l="-617" t="-2632" b="-105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EA085914-2299-8C41-BCA5-00E488487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49" y="1281316"/>
            <a:ext cx="68961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0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利用几何含义解释</a:t>
            </a:r>
            <a:r>
              <a:rPr lang="en-US" altLang="zh-CN" dirty="0"/>
              <a:t>MSE</a:t>
            </a:r>
            <a:r>
              <a:rPr lang="zh-CN" altLang="en-US" dirty="0"/>
              <a:t>目标函数优化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49"/>
                <a:ext cx="4178326" cy="384571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1800" dirty="0"/>
                  <a:t>设计矩阵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zh-CN" altLang="en-US" sz="1800" dirty="0"/>
                  <a:t>个列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charset="0"/>
                          </a:rPr>
                          <m:t>:,1</m:t>
                        </m:r>
                      </m:sub>
                    </m:sSub>
                    <m:r>
                      <a:rPr lang="en-US" altLang="zh-CN" sz="1800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charset="0"/>
                          </a:rPr>
                          <m:t>:,2</m:t>
                        </m:r>
                      </m:sub>
                    </m:sSub>
                    <m:r>
                      <a:rPr lang="en-US" altLang="zh-CN" sz="1800" b="0" i="1" smtClean="0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charset="0"/>
                          </a:rPr>
                          <m:t>:,</m:t>
                        </m:r>
                        <m:r>
                          <a:rPr lang="en-US" altLang="zh-CN" sz="1800" b="0" i="1" smtClean="0">
                            <a:latin typeface="Cambria Math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sz="1800" dirty="0"/>
                  <a:t>张成的子空间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 smtClean="0">
                        <a:latin typeface="Cambria Math" charset="0"/>
                      </a:rPr>
                      <m:t>span</m:t>
                    </m:r>
                    <m:r>
                      <a:rPr lang="en-US" altLang="zh-CN" sz="1800" b="0" i="1" dirty="0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:,1</m:t>
                        </m:r>
                      </m:sub>
                    </m:sSub>
                    <m:r>
                      <a:rPr lang="en-US" altLang="zh-CN" sz="18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:,2</m:t>
                        </m:r>
                      </m:sub>
                    </m:sSub>
                    <m:r>
                      <a:rPr lang="en-US" altLang="zh-CN" sz="1800" i="1">
                        <a:latin typeface="Cambria Math" charset="0"/>
                      </a:rPr>
                      <m:t>,…,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:,</m:t>
                        </m:r>
                        <m:r>
                          <a:rPr lang="en-US" altLang="zh-CN" sz="1800" i="1">
                            <a:latin typeface="Cambria Math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r>
                  <a:rPr lang="zh-CN" altLang="en-US" sz="1800" dirty="0"/>
                  <a:t>预测模型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charset="0"/>
                      </a:rPr>
                      <m:t>𝕏</m:t>
                    </m:r>
                    <m:r>
                      <a:rPr lang="en-US" altLang="zh-CN" sz="1800" b="1" i="1" smtClean="0"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800" dirty="0"/>
                  <a:t>是张成空间上的一个任意的向量（红色）</a:t>
                </a:r>
                <a:endParaRPr lang="en-US" altLang="zh-CN" sz="1800" dirty="0"/>
              </a:p>
              <a:p>
                <a:r>
                  <a:rPr lang="zh-CN" altLang="en-US" sz="1800" dirty="0"/>
                  <a:t>观测值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charset="0"/>
                      </a:rPr>
                      <m:t>𝕐</m:t>
                    </m:r>
                  </m:oMath>
                </a14:m>
                <a:r>
                  <a:rPr lang="zh-CN" altLang="en-US" sz="1800" dirty="0"/>
                  <a:t>表示为另一向量（绿色）</a:t>
                </a:r>
                <a:endParaRPr lang="en-US" altLang="zh-CN" sz="1800" dirty="0"/>
              </a:p>
              <a:p>
                <a:r>
                  <a:rPr lang="zh-CN" altLang="en-US" sz="1800" dirty="0"/>
                  <a:t>目标函数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latin typeface="Cambria Math" charset="0"/>
                          </a:rPr>
                          <m:t>𝜽</m:t>
                        </m:r>
                      </m:e>
                    </m:d>
                    <m:r>
                      <a:rPr lang="en-US" altLang="zh-CN" sz="1800" i="1">
                        <a:latin typeface="Cambria Math" charset="0"/>
                      </a:rPr>
                      <m:t>=</m:t>
                    </m:r>
                    <m:sSubSup>
                      <m:sSubSup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uk-UA" altLang="zh-CN" sz="18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charset="0"/>
                              </a:rPr>
                              <m:t>𝕐</m:t>
                            </m:r>
                            <m:r>
                              <a:rPr lang="en-US" altLang="zh-CN" sz="1800" i="1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1800" i="1">
                                <a:latin typeface="Cambria Math" charset="0"/>
                              </a:rPr>
                              <m:t>𝕏</m:t>
                            </m:r>
                            <m:r>
                              <a:rPr lang="en-US" altLang="zh-CN" sz="1800" b="1" i="1">
                                <a:latin typeface="Cambria Math" charset="0"/>
                              </a:rPr>
                              <m:t>𝜽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altLang="zh-CN" sz="1800" i="1">
                            <a:latin typeface="Cambria Math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800" dirty="0"/>
                  <a:t>的几何含义是向量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𝕐</m:t>
                    </m:r>
                  </m:oMath>
                </a14:m>
                <a:r>
                  <a:rPr lang="zh-CN" altLang="en-US" sz="1800" dirty="0"/>
                  <a:t>和向量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𝕏</m:t>
                    </m:r>
                    <m:r>
                      <a:rPr lang="en-US" altLang="zh-CN" sz="1800" b="1" i="1"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800" dirty="0"/>
                  <a:t>之间的欧几里得距离</a:t>
                </a:r>
                <a:endParaRPr lang="en-US" altLang="zh-CN" sz="1800" dirty="0"/>
              </a:p>
              <a:p>
                <a:r>
                  <a:rPr lang="zh-CN" altLang="en-US" sz="18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latin typeface="Cambria Math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sz="1800" dirty="0"/>
                  <a:t>最小化的条件：</a:t>
                </a:r>
                <a:endParaRPr lang="en-US" altLang="zh-CN" sz="1800" dirty="0"/>
              </a:p>
              <a:p>
                <a:pPr lvl="1"/>
                <a:r>
                  <a:rPr lang="zh-CN" altLang="en-US" sz="1600" dirty="0"/>
                  <a:t>向量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charset="0"/>
                      </a:rPr>
                      <m:t>𝕐</m:t>
                    </m:r>
                    <m:r>
                      <a:rPr lang="en-US" altLang="zh-CN" sz="1600" i="1">
                        <a:latin typeface="Cambria Math" charset="0"/>
                      </a:rPr>
                      <m:t>−</m:t>
                    </m:r>
                    <m:r>
                      <a:rPr lang="en-US" altLang="zh-CN" sz="1600" i="1">
                        <a:latin typeface="Cambria Math" charset="0"/>
                      </a:rPr>
                      <m:t>𝕏</m:t>
                    </m:r>
                    <m:r>
                      <a:rPr lang="en-US" altLang="zh-CN" sz="1600" b="1" i="1"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600" dirty="0"/>
                  <a:t>与设计矩阵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sz="1600" dirty="0"/>
                  <a:t>张成的</a:t>
                </a:r>
                <a:r>
                  <a:rPr lang="en-US" altLang="zh-CN" sz="1600" i="1" dirty="0">
                    <a:latin typeface="Calibri" charset="0"/>
                    <a:ea typeface="Calibri" charset="0"/>
                    <a:cs typeface="Calibri" charset="0"/>
                  </a:rPr>
                  <a:t>n</a:t>
                </a:r>
                <a:r>
                  <a:rPr lang="zh-CN" altLang="en-US" sz="1600" dirty="0"/>
                  <a:t>维子空间正交（</a:t>
                </a:r>
                <a:r>
                  <a:rPr lang="en-US" altLang="zh-CN" sz="1600" dirty="0">
                    <a:latin typeface="Calibri" charset="0"/>
                    <a:ea typeface="Calibri" charset="0"/>
                    <a:cs typeface="Calibri" charset="0"/>
                  </a:rPr>
                  <a:t>Orthogonal</a:t>
                </a:r>
                <a:r>
                  <a:rPr lang="zh-CN" altLang="en-US" sz="1600" dirty="0"/>
                  <a:t>）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49"/>
                <a:ext cx="4178326" cy="3845719"/>
              </a:xfrm>
              <a:blipFill rotWithShape="0">
                <a:blip r:embed="rId3"/>
                <a:stretch>
                  <a:fillRect l="-876" t="-792" r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25</a:t>
            </a:fld>
            <a:endParaRPr lang="zh-CN" alt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4563578" y="1582621"/>
            <a:ext cx="2876765" cy="750013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563578" y="2332634"/>
            <a:ext cx="1407560" cy="2332234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971138" y="3914855"/>
            <a:ext cx="2866491" cy="750013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430068" y="1582621"/>
            <a:ext cx="1407560" cy="2332234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7311835" y="3086094"/>
            <a:ext cx="572892" cy="1219219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525546" y="3498751"/>
            <a:ext cx="1786289" cy="806562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768013" y="3303522"/>
            <a:ext cx="543822" cy="1001791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7311834" y="2411382"/>
            <a:ext cx="1312085" cy="1893931"/>
          </a:xfrm>
          <a:prstGeom prst="line">
            <a:avLst/>
          </a:prstGeom>
          <a:ln w="28575">
            <a:solidFill>
              <a:schemeClr val="accent3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6768012" y="2411382"/>
            <a:ext cx="1855907" cy="8921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481108" y="3139196"/>
                <a:ext cx="39748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:,1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108" y="3139196"/>
                <a:ext cx="397481" cy="289182"/>
              </a:xfrm>
              <a:prstGeom prst="rect">
                <a:avLst/>
              </a:prstGeom>
              <a:blipFill rotWithShape="0">
                <a:blip r:embed="rId4"/>
                <a:stretch>
                  <a:fillRect l="-12308" r="-7692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804219" y="2806584"/>
                <a:ext cx="39748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:,2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219" y="2806584"/>
                <a:ext cx="397481" cy="289182"/>
              </a:xfrm>
              <a:prstGeom prst="rect">
                <a:avLst/>
              </a:prstGeom>
              <a:blipFill rotWithShape="0">
                <a:blip r:embed="rId5"/>
                <a:stretch>
                  <a:fillRect l="-12308" r="-7692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6292642" y="3139196"/>
                <a:ext cx="3542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𝕏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b="1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642" y="3139196"/>
                <a:ext cx="354263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3793" r="-1896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8668404" y="2223326"/>
                <a:ext cx="2051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3"/>
                          </a:solidFill>
                          <a:latin typeface="Cambria Math" charset="0"/>
                        </a:rPr>
                        <m:t>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404" y="2223326"/>
                <a:ext cx="205184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26471" r="-2352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920700" y="2443464"/>
                <a:ext cx="7822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𝕐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𝕏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𝜽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700" y="2443464"/>
                <a:ext cx="782265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6202" r="-697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717961" y="1225873"/>
                <a:ext cx="2233304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span</m:t>
                      </m:r>
                      <m:r>
                        <a:rPr lang="en-US" altLang="zh-CN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:,1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:,2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:,</m:t>
                          </m:r>
                          <m:r>
                            <a:rPr lang="en-US" altLang="zh-CN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961" y="1225873"/>
                <a:ext cx="2233304" cy="289182"/>
              </a:xfrm>
              <a:prstGeom prst="rect">
                <a:avLst/>
              </a:prstGeom>
              <a:blipFill rotWithShape="0">
                <a:blip r:embed="rId9"/>
                <a:stretch>
                  <a:fillRect l="-1913" r="-3552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18814" y="935593"/>
                <a:ext cx="30037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Subspace</a:t>
                </a:r>
                <a:r>
                  <a:rPr lang="zh-CN" alt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of</a:t>
                </a:r>
                <a:r>
                  <a:rPr lang="zh-CN" alt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spanned</a:t>
                </a:r>
                <a:r>
                  <a:rPr lang="zh-CN" alt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by</a:t>
                </a:r>
                <a:r>
                  <a:rPr lang="zh-CN" alt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charset="0"/>
                      </a:rPr>
                      <m:t>𝕏</m:t>
                    </m:r>
                  </m:oMath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814" y="935593"/>
                <a:ext cx="3003771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182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90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利用几何含义解释</a:t>
            </a:r>
            <a:r>
              <a:rPr lang="en-US" altLang="zh-CN" dirty="0"/>
              <a:t>MSE</a:t>
            </a:r>
            <a:r>
              <a:rPr lang="zh-CN" altLang="en-US" dirty="0"/>
              <a:t>目标函数优化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1"/>
                <a:ext cx="8229600" cy="29115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18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latin typeface="Cambria Math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sz="1800" dirty="0"/>
                  <a:t>最小化的条件：</a:t>
                </a:r>
                <a:endParaRPr lang="en-US" altLang="zh-CN" sz="1800" dirty="0"/>
              </a:p>
              <a:p>
                <a:pPr lvl="1"/>
                <a:r>
                  <a:rPr lang="zh-CN" altLang="en-US" sz="1600" dirty="0"/>
                  <a:t>向量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charset="0"/>
                      </a:rPr>
                      <m:t>𝕐</m:t>
                    </m:r>
                    <m:r>
                      <a:rPr lang="en-US" altLang="zh-CN" sz="1600" i="1">
                        <a:latin typeface="Cambria Math" charset="0"/>
                      </a:rPr>
                      <m:t>−</m:t>
                    </m:r>
                    <m:r>
                      <a:rPr lang="en-US" altLang="zh-CN" sz="1600" i="1">
                        <a:latin typeface="Cambria Math" charset="0"/>
                      </a:rPr>
                      <m:t>𝕏</m:t>
                    </m:r>
                    <m:r>
                      <a:rPr lang="en-US" altLang="zh-CN" sz="1600" b="1" i="1">
                        <a:latin typeface="Cambria Math" charset="0"/>
                      </a:rPr>
                      <m:t>𝜽</m:t>
                    </m:r>
                  </m:oMath>
                </a14:m>
                <a:r>
                  <a:rPr lang="zh-CN" altLang="en-US" sz="1600" dirty="0"/>
                  <a:t>与设计矩阵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sz="1600" dirty="0"/>
                  <a:t>张成的</a:t>
                </a:r>
                <a:r>
                  <a:rPr lang="en-US" altLang="zh-CN" sz="1600" i="1" dirty="0">
                    <a:latin typeface="Calibri" charset="0"/>
                    <a:ea typeface="Calibri" charset="0"/>
                    <a:cs typeface="Calibri" charset="0"/>
                  </a:rPr>
                  <a:t>d</a:t>
                </a:r>
                <a:r>
                  <a:rPr lang="zh-CN" altLang="en-US" sz="1600" dirty="0"/>
                  <a:t>维子空间正交（</a:t>
                </a:r>
                <a:r>
                  <a:rPr lang="en-US" altLang="zh-CN" sz="1600" dirty="0">
                    <a:latin typeface="Calibri" charset="0"/>
                    <a:ea typeface="Calibri" charset="0"/>
                    <a:cs typeface="Calibri" charset="0"/>
                  </a:rPr>
                  <a:t>Orthogonal</a:t>
                </a:r>
                <a:r>
                  <a:rPr lang="zh-CN" altLang="en-US" sz="1600" dirty="0"/>
                  <a:t>）</a:t>
                </a:r>
                <a:endParaRPr lang="en-US" altLang="zh-CN" sz="1600" dirty="0"/>
              </a:p>
              <a:p>
                <a:pPr lvl="1"/>
                <a:r>
                  <a:rPr lang="zh-CN" altLang="en-US" sz="1600" dirty="0">
                    <a:solidFill>
                      <a:srgbClr val="C00000"/>
                    </a:solidFill>
                  </a:rPr>
                  <a:t>证明</a:t>
                </a:r>
                <a:r>
                  <a:rPr lang="zh-CN" altLang="x-none" sz="1600" dirty="0">
                    <a:solidFill>
                      <a:srgbClr val="C00000"/>
                    </a:solidFill>
                  </a:rPr>
                  <a:t>留为</a:t>
                </a:r>
                <a:r>
                  <a:rPr lang="zh-CN" altLang="x-none" sz="1600" dirty="0" smtClean="0">
                    <a:solidFill>
                      <a:srgbClr val="C00000"/>
                    </a:solidFill>
                  </a:rPr>
                  <a:t>作业</a:t>
                </a:r>
                <a:endParaRPr lang="en-US" altLang="zh-CN" sz="1600" dirty="0">
                  <a:solidFill>
                    <a:srgbClr val="C00000"/>
                  </a:solidFill>
                </a:endParaRPr>
              </a:p>
              <a:p>
                <a:endParaRPr lang="en-US" altLang="zh-CN" dirty="0"/>
              </a:p>
              <a:p>
                <a:r>
                  <a:rPr lang="zh-CN" altLang="en-US" dirty="0"/>
                  <a:t>根据正交的定义，我们得到</a:t>
                </a:r>
                <a:endParaRPr lang="en-US" altLang="zh-CN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根据上式得到最优的参数估计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1"/>
                <a:ext cx="8229600" cy="2911528"/>
              </a:xfrm>
              <a:blipFill rotWithShape="0">
                <a:blip r:embed="rId2"/>
                <a:stretch>
                  <a:fillRect l="-667" t="-1883" b="-2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53991" y="2378868"/>
                <a:ext cx="186422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𝕐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𝕏</m:t>
                          </m:r>
                          <m:r>
                            <a:rPr lang="en-US" altLang="zh-CN" sz="2000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991" y="2378868"/>
                <a:ext cx="1864228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2614" t="-1961" r="-2614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53991" y="2854820"/>
                <a:ext cx="22518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i="1">
                          <a:latin typeface="Cambria Math" charset="0"/>
                        </a:rPr>
                        <m:t>𝕐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charset="0"/>
                        </a:rPr>
                        <m:t>𝕏</m:t>
                      </m:r>
                      <m:r>
                        <a:rPr lang="en-US" altLang="zh-CN" sz="2000" b="1" i="1" smtClean="0">
                          <a:latin typeface="Cambria Math" charset="0"/>
                        </a:rPr>
                        <m:t>𝜽</m:t>
                      </m:r>
                      <m:r>
                        <a:rPr lang="en-US" altLang="zh-CN" sz="2000" b="0" i="1" smtClean="0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991" y="2854820"/>
                <a:ext cx="2251835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1622" t="-1961" r="-2162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77791" y="3938586"/>
                <a:ext cx="1977529" cy="3207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000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𝕏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000" b="0" i="1" smtClean="0">
                                  <a:latin typeface="Cambria Math" charset="0"/>
                                </a:rPr>
                                <m:t>𝕏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000" i="1" smtClean="0">
                              <a:latin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charset="0"/>
                        </a:rPr>
                        <m:t>𝕐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791" y="3938586"/>
                <a:ext cx="1977529" cy="320729"/>
              </a:xfrm>
              <a:prstGeom prst="rect">
                <a:avLst/>
              </a:prstGeom>
              <a:blipFill rotWithShape="0">
                <a:blip r:embed="rId5"/>
                <a:stretch>
                  <a:fillRect l="-2778" t="-20755" r="-2778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921794" y="3807619"/>
            <a:ext cx="2684032" cy="5286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深入理解最优参数估计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最优的参数估计（当维数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𝑑</m:t>
                    </m:r>
                  </m:oMath>
                </a14:m>
                <a:r>
                  <a:rPr lang="zh-CN" altLang="en-US" dirty="0"/>
                  <a:t>远小于数据量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/>
                  <a:t>时）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312" y="1434692"/>
            <a:ext cx="6429375" cy="2705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6998" y="2920986"/>
            <a:ext cx="29206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69B035"/>
                </a:solidFill>
              </a:rPr>
              <a:t>d</a:t>
            </a:r>
            <a:endParaRPr lang="en-US" sz="1600">
              <a:solidFill>
                <a:srgbClr val="69B035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84170" y="2920986"/>
            <a:ext cx="49885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69B035"/>
                </a:solidFill>
              </a:rPr>
              <a:t>d+1</a:t>
            </a:r>
            <a:endParaRPr lang="en-US" sz="1600" dirty="0">
              <a:solidFill>
                <a:srgbClr val="69B035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66082" y="2215939"/>
            <a:ext cx="49885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69B035"/>
                </a:solidFill>
              </a:rPr>
              <a:t>d+1</a:t>
            </a:r>
            <a:endParaRPr lang="en-US" sz="1600" dirty="0">
              <a:solidFill>
                <a:srgbClr val="69B03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="" xmlns:a16="http://schemas.microsoft.com/office/drawing/2014/main" id="{B80742CF-0800-E342-9A3F-D43F0B64FC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199" y="4293984"/>
                <a:ext cx="8229600" cy="4621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提问</a:t>
                </a:r>
                <a:r>
                  <a:rPr lang="zh-CN" altLang="en-US" dirty="0"/>
                  <a:t>：何时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有唯一解</a:t>
                </a:r>
                <a:r>
                  <a:rPr lang="zh-CN" altLang="en-US" dirty="0"/>
                  <a:t>？</a:t>
                </a:r>
                <a:endParaRPr lang="en-US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80742CF-0800-E342-9A3F-D43F0B64F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4293984"/>
                <a:ext cx="8229600" cy="462166"/>
              </a:xfrm>
              <a:prstGeom prst="rect">
                <a:avLst/>
              </a:prstGeom>
              <a:blipFill>
                <a:blip r:embed="rId4"/>
                <a:stretch>
                  <a:fillRect l="-617" t="-2632" b="-105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44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深入理解最优参数估计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上式中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zh-CN" altLang="en-US" dirty="0"/>
                  <a:t>有唯一解的条件是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𝕏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可逆</a:t>
                </a:r>
                <a:endParaRPr lang="en-US" altLang="zh-CN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𝕏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可逆的充分必要条件是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𝕏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满秩，即秩为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𝑑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矩阵秩的含义：包含线性独立的列（或行）的个数</a:t>
                </a:r>
                <a:endParaRPr lang="en-US" altLang="zh-CN" dirty="0"/>
              </a:p>
              <a:p>
                <a:endParaRPr lang="en-US" dirty="0"/>
              </a:p>
              <a:p>
                <a:r>
                  <a:rPr lang="zh-CN" altLang="en-US" dirty="0"/>
                  <a:t>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𝕏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的秩相等，上述条件等价于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zh-CN" altLang="en-US" dirty="0"/>
                  <a:t>的秩为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因此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zh-CN" altLang="en-US" dirty="0"/>
                  <a:t>有唯一解的条件是，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𝑑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个输入变量彼此线性独立！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8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</a:t>
            </a:r>
            <a:r>
              <a:rPr lang="zh-CN" altLang="en-US" dirty="0" smtClean="0"/>
              <a:t>评判回归模型</a:t>
            </a:r>
            <a:r>
              <a:rPr lang="zh-CN" altLang="en-US" dirty="0"/>
              <a:t>的优劣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基本想法：度量观测值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/>
                  <a:t>与预测值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之间的差异</a:t>
                </a:r>
                <a:endParaRPr lang="en-US" altLang="zh-CN" dirty="0"/>
              </a:p>
              <a:p>
                <a:r>
                  <a:rPr lang="zh-CN" altLang="en-US" dirty="0"/>
                  <a:t>均方根误差（</a:t>
                </a:r>
                <a:r>
                  <a:rPr lang="en-US" altLang="zh-CN" dirty="0"/>
                  <a:t>Root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Mean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Squared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Error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charset="0"/>
                        </a:rPr>
                        <m:t>RMSE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𝑦</m:t>
                          </m:r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bg-BG" altLang="zh-CN" b="0" i="1" dirty="0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b="0" i="1" dirty="0" smtClean="0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dirty="0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b="0" i="1" dirty="0" smtClean="0">
                                                  <a:latin typeface="Cambria Math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b="0" i="1" dirty="0" smtClean="0">
                                                  <a:latin typeface="Cambria Math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b="0" i="1" dirty="0" smtClean="0">
                                              <a:latin typeface="Cambria Math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均方根误差</a:t>
                </a:r>
                <a:r>
                  <a:rPr lang="en-US" altLang="zh-CN" dirty="0"/>
                  <a:t>RMSE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损失函数的平方根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均方根误差</a:t>
                </a:r>
                <a:r>
                  <a:rPr lang="en-US" altLang="zh-CN" dirty="0"/>
                  <a:t>RMSE</a:t>
                </a:r>
                <a:r>
                  <a:rPr lang="zh-CN" altLang="en-US" dirty="0"/>
                  <a:t>与观测值𝑦与预测值𝑦 ̂的量纲相同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均方根误差</a:t>
                </a:r>
                <a:r>
                  <a:rPr lang="en-US" altLang="zh-CN" dirty="0"/>
                  <a:t>RMSE</a:t>
                </a:r>
                <a:r>
                  <a:rPr lang="zh-CN" altLang="en-US" dirty="0"/>
                  <a:t>越小，说明模型越准确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59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均方根误差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课堂编程练习：</a:t>
            </a:r>
            <a:endParaRPr lang="en-US" altLang="zh-CN" dirty="0"/>
          </a:p>
          <a:p>
            <a:pPr lvl="1"/>
            <a:r>
              <a:rPr lang="zh-CN" altLang="en-US" dirty="0"/>
              <a:t>请在</a:t>
            </a:r>
            <a:r>
              <a:rPr lang="en-US" altLang="zh-CN" dirty="0"/>
              <a:t>notebook</a:t>
            </a:r>
            <a:r>
              <a:rPr lang="zh-CN" altLang="en-US" dirty="0"/>
              <a:t>中编写</a:t>
            </a:r>
            <a:r>
              <a:rPr lang="en-US" altLang="zh-CN" dirty="0" err="1"/>
              <a:t>rmse</a:t>
            </a:r>
            <a:r>
              <a:rPr lang="zh-CN" altLang="en-US" dirty="0"/>
              <a:t>函数计算均方根误差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请计算以下两个模型的均方根误差，并比较大小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latin typeface="Cambria Math" charset="0"/>
                        </a:rPr>
                        <m:t>PRICE</m:t>
                      </m:r>
                      <m:r>
                        <a:rPr lang="en-US" altLang="zh-CN" i="1" dirty="0">
                          <a:latin typeface="Cambria Math" charset="0"/>
                        </a:rPr>
                        <m:t>=−34.67+9.1 ∗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charset="0"/>
                        </a:rPr>
                        <m:t>RM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95082" b="-1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charset="0"/>
                        </a:rPr>
                        <m:t>PRICE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=−1.36+5.09</m:t>
                      </m:r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RM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−0.64</m:t>
                          </m: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LSTAT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81" r="-38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10" y="1535047"/>
            <a:ext cx="3545515" cy="82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21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拟合优度（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Multiple R</a:t>
            </a:r>
            <a:r>
              <a:rPr lang="en-US" altLang="zh-CN" baseline="30000" dirty="0">
                <a:latin typeface="Calibri" charset="0"/>
                <a:ea typeface="Calibri" charset="0"/>
                <a:cs typeface="Calibri" charset="0"/>
              </a:rPr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拟合优度（</a:t>
                </a:r>
                <a:r>
                  <a:rPr lang="en-US" dirty="0">
                    <a:latin typeface="Calibri" charset="0"/>
                    <a:ea typeface="Calibri" charset="0"/>
                    <a:cs typeface="Calibri" charset="0"/>
                  </a:rPr>
                  <a:t>Multiple 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R</a:t>
                </a:r>
                <a:r>
                  <a:rPr lang="en-US" altLang="zh-CN" baseline="30000" dirty="0">
                    <a:latin typeface="Calibri" charset="0"/>
                    <a:ea typeface="Calibri" charset="0"/>
                    <a:cs typeface="Calibri" charset="0"/>
                  </a:rPr>
                  <a:t>2</a:t>
                </a:r>
                <a:r>
                  <a:rPr lang="zh-CN" altLang="en-US" dirty="0"/>
                  <a:t>）度量预测值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对观测值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/>
                  <a:t>的拟合程度</a:t>
                </a:r>
                <a:endParaRPr lang="en-US" altLang="zh-CN" dirty="0"/>
              </a:p>
              <a:p>
                <a:r>
                  <a:rPr lang="zh-CN" altLang="en-US" dirty="0"/>
                  <a:t>拟合优度</a:t>
                </a:r>
                <a:r>
                  <a:rPr lang="en-US" altLang="zh-CN" dirty="0"/>
                  <a:t>R</a:t>
                </a:r>
                <a:r>
                  <a:rPr lang="en-US" altLang="zh-CN" baseline="30000" dirty="0"/>
                  <a:t>2</a:t>
                </a:r>
                <a:r>
                  <a:rPr lang="zh-CN" altLang="en-US" dirty="0"/>
                  <a:t>定义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/>
                  <a:t>皮尔森相关系数的平方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zh-CN" altLang="en-US" dirty="0"/>
                  <a:t>拟合优度的取值范围在</a:t>
                </a:r>
                <a:r>
                  <a:rPr lang="en-US" altLang="zh-CN" dirty="0"/>
                  <a:t>[0,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1]</a:t>
                </a:r>
                <a:r>
                  <a:rPr lang="zh-CN" altLang="en-US" dirty="0"/>
                  <a:t>，越高说明模型准确性越好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拟合优度的含义：模型在多大程度上解释了观测值的变化</a:t>
                </a:r>
                <a:endParaRPr lang="en-US" altLang="zh-CN" dirty="0"/>
              </a:p>
              <a:p>
                <a:pPr lvl="1">
                  <a:spcAft>
                    <a:spcPts val="1200"/>
                  </a:spcAft>
                </a:pPr>
                <a:r>
                  <a:rPr lang="zh-CN" altLang="en-US" dirty="0"/>
                  <a:t>针对包含截距的线性回归模型，拟合优度也可如下计算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dirty="0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variance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of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fitted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values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variance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of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true</m:t>
                          </m:r>
                          <m:r>
                            <a:rPr lang="zh-CN" altLang="en-US" b="0" i="0" dirty="0" smtClean="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charset="0"/>
                            </a:rPr>
                            <m:t>values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dirty="0" smtClean="0">
                              <a:latin typeface="Cambria Math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altLang="zh-CN" b="0" i="1" dirty="0" smtClean="0"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92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拟合优度（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Multiple R</a:t>
            </a:r>
            <a:r>
              <a:rPr lang="en-US" altLang="zh-CN" baseline="30000" dirty="0">
                <a:latin typeface="Calibri" charset="0"/>
                <a:ea typeface="Calibri" charset="0"/>
                <a:cs typeface="Calibri" charset="0"/>
              </a:rPr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课堂编程练习：</a:t>
            </a:r>
            <a:endParaRPr lang="en-US" altLang="zh-CN" dirty="0"/>
          </a:p>
          <a:p>
            <a:pPr lvl="1"/>
            <a:r>
              <a:rPr lang="zh-CN" altLang="en-US" dirty="0"/>
              <a:t>请在</a:t>
            </a:r>
            <a:r>
              <a:rPr lang="en-US" altLang="zh-CN" dirty="0"/>
              <a:t>notebook</a:t>
            </a:r>
            <a:r>
              <a:rPr lang="zh-CN" altLang="en-US" dirty="0"/>
              <a:t>中编写</a:t>
            </a:r>
            <a:r>
              <a:rPr lang="en-US" altLang="zh-CN" dirty="0"/>
              <a:t>multiple-r-</a:t>
            </a:r>
            <a:r>
              <a:rPr lang="en-US" altLang="zh-CN" dirty="0" err="1"/>
              <a:t>squred</a:t>
            </a:r>
            <a:r>
              <a:rPr lang="zh-CN" altLang="en-US" dirty="0"/>
              <a:t>函数计算拟合优度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请计算以下两个模型的拟合优度，并比较大小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latin typeface="Cambria Math" charset="0"/>
                        </a:rPr>
                        <m:t>PRICE</m:t>
                      </m:r>
                      <m:r>
                        <a:rPr lang="en-US" altLang="zh-CN" i="1" dirty="0">
                          <a:latin typeface="Cambria Math" charset="0"/>
                        </a:rPr>
                        <m:t>=−34.67+9.1 ∗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charset="0"/>
                        </a:rPr>
                        <m:t>RM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239027"/>
                <a:ext cx="3062056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95082" b="-1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charset="0"/>
                        </a:rPr>
                        <m:t>PRICE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=−1.36+5.09</m:t>
                      </m:r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RM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−0.64</m:t>
                          </m:r>
                        </m:e>
                      </m:d>
                      <m:r>
                        <a:rPr lang="zh-CN" altLang="en-US" b="0" i="1" smtClean="0">
                          <a:latin typeface="Cambria Math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charset="0"/>
                        </a:rPr>
                        <m:t>LSTAT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810" y="3722659"/>
                <a:ext cx="480612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81" r="-38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611" y="1592833"/>
            <a:ext cx="4277123" cy="105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6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数据建模与回归分析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462807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数据建模与参数估计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模型：简单线性回归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线性回归模型：多元线性回归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梯度下降（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Gradient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Descent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95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如何求解最优参数估计？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：利用之前得到的解析解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34</a:t>
            </a:fld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1357312" y="1348964"/>
            <a:ext cx="6429375" cy="2705915"/>
            <a:chOff x="1357312" y="1434692"/>
            <a:chExt cx="6429375" cy="270591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7312" y="1434692"/>
              <a:ext cx="6429375" cy="2705915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357312" y="2939840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74456" y="2939840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862387" y="2215939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402448" y="416917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时间复杂度</a:t>
            </a:r>
            <a:r>
              <a:rPr lang="zh-CN" altLang="en-US" sz="2400">
                <a:solidFill>
                  <a:srgbClr val="C00000"/>
                </a:solidFill>
              </a:rPr>
              <a:t>高！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14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如何求解最优参数估计？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方法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：暴力搜索方法，枚举可能的参数值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zh-CN" altLang="en-US" dirty="0"/>
                  <a:t>，计算</a:t>
                </a:r>
                <a:r>
                  <a:rPr lang="en-US" altLang="zh-CN" dirty="0"/>
                  <a:t>MSE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082" y="1252537"/>
            <a:ext cx="6549835" cy="35036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59798" y="425147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枚举复杂度高！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20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梯度下降方法（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Gradient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Decent,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GD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选择损失函数曲面上的某个点作为初始点，迭代地更新参数</a:t>
            </a:r>
            <a:endParaRPr lang="en-US" altLang="zh-CN" dirty="0"/>
          </a:p>
          <a:p>
            <a:pPr lvl="1"/>
            <a:r>
              <a:rPr lang="zh-CN" altLang="en-US" dirty="0"/>
              <a:t>在每次迭代中，选择损失函数下降最快的方向更新参数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579" y="1979793"/>
            <a:ext cx="4958841" cy="277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9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求解一维函数的最小值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考虑下面的一维函数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latin typeface="Cambria Math" charset="0"/>
                      </a:rPr>
                      <m:t>=(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4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−15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+80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−180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+144)/10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1" y="1640839"/>
            <a:ext cx="4357920" cy="310261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028329" y="4203369"/>
            <a:ext cx="139700" cy="1397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ular Callout 6"/>
              <p:cNvSpPr/>
              <p:nvPr/>
            </p:nvSpPr>
            <p:spPr>
              <a:xfrm>
                <a:off x="5679741" y="2530228"/>
                <a:ext cx="2688538" cy="1323832"/>
              </a:xfrm>
              <a:prstGeom prst="wedgeRoundRectCallout">
                <a:avLst>
                  <a:gd name="adj1" fmla="val -95522"/>
                  <a:gd name="adj2" fmla="val 77964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如何求解：</a:t>
                </a:r>
                <a:endParaRPr lang="en-US" altLang="zh-CN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charset="0"/>
                          <a:ea typeface="Microsoft YaHei" charset="-122"/>
                          <a:cs typeface="Microsoft YaHei" charset="-122"/>
                        </a:rPr>
                        <m:t>=</m:t>
                      </m:r>
                      <m:func>
                        <m:funcPr>
                          <m:ctrlPr>
                            <a:rPr lang="zh-CN" altLang="en-US" sz="24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Microsoft YaHei" charset="-122"/>
                              <a:cs typeface="Microsoft YaHei" charset="-122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zh-CN" altLang="en-US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Microsoft YaHei" charset="-122"/>
                                  <a:cs typeface="Microsoft YaHei" charset="-122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Microsoft YaHei" charset="-122"/>
                                      <a:cs typeface="Microsoft YaHei" charset="-122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Microsoft YaHei" charset="-122"/>
                                      <a:cs typeface="Microsoft YaHei" charset="-122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CN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Microsoft YaHei" charset="-122"/>
                                      <a:cs typeface="Microsoft YaHei" charset="-122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Microsoft YaHei" charset="-122"/>
                                  <a:cs typeface="Microsoft YaHei" charset="-122"/>
                                </a:rPr>
                                <m:t>𝑓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Microsoft YaHei" charset="-122"/>
                                  <a:cs typeface="Microsoft YaHei" charset="-122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Microsoft YaHei" charset="-122"/>
                                  <a:cs typeface="Microsoft YaHei" charset="-122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Microsoft YaHei" charset="-122"/>
                                  <a:cs typeface="Microsoft YaHei" charset="-122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7" name="Rounded Rectangular Callou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741" y="2530228"/>
                <a:ext cx="2688538" cy="1323832"/>
              </a:xfrm>
              <a:prstGeom prst="wedgeRoundRectCallout">
                <a:avLst>
                  <a:gd name="adj1" fmla="val -95522"/>
                  <a:gd name="adj2" fmla="val 77964"/>
                  <a:gd name="adj3" fmla="val 16667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4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梯度下降的基本思想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一维梯度下降方法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在最小值点左侧，导数是负数 </a:t>
                </a:r>
                <a:r>
                  <a:rPr lang="zh-CN" altLang="en-US" dirty="0">
                    <a:sym typeface="Wingdings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  <a:sym typeface="Wingdings"/>
                      </a:rPr>
                      <m:t>𝑥</m:t>
                    </m:r>
                  </m:oMath>
                </a14:m>
                <a:r>
                  <a:rPr lang="zh-CN" altLang="en-US" dirty="0"/>
                  <a:t>应该增大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在最小值点右侧，导数是正数 </a:t>
                </a:r>
                <a:r>
                  <a:rPr lang="zh-CN" altLang="en-US" dirty="0">
                    <a:sym typeface="Wingdings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  <a:sym typeface="Wingdings"/>
                      </a:rPr>
                      <m:t>𝑥</m:t>
                    </m:r>
                  </m:oMath>
                </a14:m>
                <a:r>
                  <a:rPr lang="zh-CN" altLang="en-US" dirty="0">
                    <a:sym typeface="Wingdings"/>
                  </a:rPr>
                  <a:t>应该减小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9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35" y="2145480"/>
            <a:ext cx="7603930" cy="2485059"/>
          </a:xfrm>
          <a:prstGeom prst="rect">
            <a:avLst/>
          </a:prstGeom>
        </p:spPr>
      </p:pic>
      <p:sp>
        <p:nvSpPr>
          <p:cNvPr id="6" name="Right Brace 5"/>
          <p:cNvSpPr/>
          <p:nvPr/>
        </p:nvSpPr>
        <p:spPr>
          <a:xfrm>
            <a:off x="5806709" y="1043151"/>
            <a:ext cx="315389" cy="976718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4418" y="1100623"/>
            <a:ext cx="22000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导数告诉我们：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往哪个</a:t>
            </a:r>
            <a:r>
              <a:rPr lang="zh-CN" altLang="en-US" sz="16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方向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走</a:t>
            </a:r>
            <a:endParaRPr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应该走</a:t>
            </a:r>
            <a:r>
              <a:rPr lang="zh-CN" altLang="en-US" sz="16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多远</a:t>
            </a:r>
            <a:endParaRPr lang="en-US" sz="1600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045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梯度</a:t>
            </a:r>
            <a:r>
              <a:rPr lang="zh-CN" altLang="en-US" dirty="0"/>
              <a:t>下降算法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4292221" cy="27051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一维梯度下降算法：极简实现版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输入：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gradient:</a:t>
                </a:r>
                <a:r>
                  <a:rPr lang="zh-CN" altLang="en-US" dirty="0"/>
                  <a:t> 梯度（导数）函数</a:t>
                </a:r>
                <a:endParaRPr lang="en-US" altLang="zh-CN" dirty="0"/>
              </a:p>
              <a:p>
                <a:pPr lvl="2"/>
                <a:r>
                  <a:rPr lang="en-US" altLang="zh-CN" dirty="0" err="1"/>
                  <a:t>init_guess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初始猜测</a:t>
                </a:r>
                <a:endParaRPr lang="en-US" altLang="zh-CN" dirty="0"/>
              </a:p>
              <a:p>
                <a:pPr lvl="2"/>
                <a:r>
                  <a:rPr lang="en-US" altLang="zh-CN" dirty="0" err="1"/>
                  <a:t>learn_rate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学习率</a:t>
                </a:r>
                <a:endParaRPr lang="en-US" altLang="zh-CN" dirty="0"/>
              </a:p>
              <a:p>
                <a:pPr lvl="2"/>
                <a:r>
                  <a:rPr lang="en-US" altLang="zh-CN" dirty="0" err="1"/>
                  <a:t>n_iter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迭代次数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输出：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求解的极小值点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4292221" cy="2705100"/>
              </a:xfrm>
              <a:blipFill rotWithShape="0">
                <a:blip r:embed="rId2"/>
                <a:stretch>
                  <a:fillRect l="-1278" t="-1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10" y="3483306"/>
            <a:ext cx="6832600" cy="1231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610436" y="4189862"/>
            <a:ext cx="4817660" cy="265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421" y="1700544"/>
            <a:ext cx="3937379" cy="92494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9" name="Straight Arrow Connector 8"/>
          <p:cNvCxnSpPr/>
          <p:nvPr/>
        </p:nvCxnSpPr>
        <p:spPr>
          <a:xfrm flipV="1">
            <a:off x="4913194" y="2702256"/>
            <a:ext cx="1064526" cy="14603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24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一起来测试一下梯度下降算法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2565495"/>
          </a:xfrm>
        </p:spPr>
        <p:txBody>
          <a:bodyPr/>
          <a:lstStyle/>
          <a:p>
            <a:r>
              <a:rPr lang="zh-CN" altLang="en-US" dirty="0"/>
              <a:t>定义梯度函数</a:t>
            </a:r>
            <a:r>
              <a:rPr lang="en-US" altLang="zh-CN" dirty="0"/>
              <a:t>gradient</a:t>
            </a:r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选择超参数</a:t>
            </a:r>
            <a:endParaRPr lang="en-US" altLang="zh-CN" dirty="0"/>
          </a:p>
          <a:p>
            <a:pPr lvl="1"/>
            <a:r>
              <a:rPr lang="en-US" altLang="zh-CN" dirty="0" err="1"/>
              <a:t>init_guess</a:t>
            </a:r>
            <a:r>
              <a:rPr lang="zh-CN" altLang="en-US" dirty="0"/>
              <a:t>：一般是随机选择。作为示例，请大家都选择 </a:t>
            </a:r>
            <a:r>
              <a:rPr lang="en-US" altLang="zh-CN" b="1" dirty="0"/>
              <a:t>1</a:t>
            </a:r>
          </a:p>
          <a:p>
            <a:pPr lvl="1"/>
            <a:r>
              <a:rPr lang="en-US" altLang="zh-CN" dirty="0" err="1"/>
              <a:t>n_iter</a:t>
            </a:r>
            <a:r>
              <a:rPr lang="en-US" altLang="zh-CN" dirty="0"/>
              <a:t>:</a:t>
            </a:r>
            <a:r>
              <a:rPr lang="zh-CN" altLang="en-US" dirty="0"/>
              <a:t> 根据实际情况，选择迭代次数。作为示例，请选择 </a:t>
            </a:r>
            <a:r>
              <a:rPr lang="en-US" altLang="zh-CN" b="1" dirty="0"/>
              <a:t>20</a:t>
            </a:r>
          </a:p>
          <a:p>
            <a:pPr lvl="1"/>
            <a:r>
              <a:rPr lang="en-US" altLang="zh-CN" dirty="0" err="1">
                <a:solidFill>
                  <a:srgbClr val="C00000"/>
                </a:solidFill>
              </a:rPr>
              <a:t>learn_rate</a:t>
            </a:r>
            <a:r>
              <a:rPr lang="en-US" altLang="zh-CN" dirty="0">
                <a:solidFill>
                  <a:srgbClr val="C00000"/>
                </a:solidFill>
              </a:rPr>
              <a:t>:</a:t>
            </a:r>
            <a:r>
              <a:rPr lang="zh-CN" altLang="en-US" dirty="0">
                <a:solidFill>
                  <a:srgbClr val="C00000"/>
                </a:solidFill>
              </a:rPr>
              <a:t> 应该如何选择？请你做出尝试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10" y="3483306"/>
            <a:ext cx="6832600" cy="1231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610436" y="4189862"/>
            <a:ext cx="4817660" cy="265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27" y="1302223"/>
            <a:ext cx="5041900" cy="546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5849841" y="289710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0115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学习率的选择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选择一个很小的学习率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𝛼</m:t>
                    </m:r>
                    <m:r>
                      <a:rPr lang="en-US" altLang="zh-CN" b="0" i="1" smtClean="0">
                        <a:latin typeface="Cambria Math" charset="0"/>
                      </a:rPr>
                      <m:t>=0.01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033" y="1030144"/>
            <a:ext cx="4530180" cy="31783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04572" y="422912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应该如何解决？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04" y="1550024"/>
            <a:ext cx="3639530" cy="317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4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学习率的选择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选择一个略小的学习率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𝛼</m:t>
                    </m:r>
                    <m:r>
                      <a:rPr lang="en-US" altLang="zh-CN" b="0" i="1" smtClean="0">
                        <a:latin typeface="Cambria Math" charset="0"/>
                      </a:rPr>
                      <m:t>=0.3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79368" y="4223934"/>
            <a:ext cx="2494594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梯度已经减为</a:t>
            </a:r>
            <a:r>
              <a:rPr lang="en-US" altLang="zh-CN" sz="2400" dirty="0">
                <a:solidFill>
                  <a:srgbClr val="C00000"/>
                </a:solidFill>
              </a:rPr>
              <a:t>0</a:t>
            </a:r>
            <a:r>
              <a:rPr lang="zh-CN" altLang="en-US" sz="2400" dirty="0">
                <a:solidFill>
                  <a:srgbClr val="C00000"/>
                </a:solidFill>
              </a:rPr>
              <a:t>！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440" y="951312"/>
            <a:ext cx="4440986" cy="316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24" y="1548559"/>
            <a:ext cx="3622593" cy="22045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316176" y="3554067"/>
            <a:ext cx="3996000" cy="265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811439" y="3819216"/>
            <a:ext cx="300251" cy="3000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ular Callout 16"/>
          <p:cNvSpPr/>
          <p:nvPr/>
        </p:nvSpPr>
        <p:spPr>
          <a:xfrm>
            <a:off x="5134344" y="3774177"/>
            <a:ext cx="3576269" cy="911422"/>
          </a:xfrm>
          <a:prstGeom prst="wedgeRoundRectCallout">
            <a:avLst>
              <a:gd name="adj1" fmla="val -32133"/>
              <a:gd name="adj2" fmla="val -83160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梯度下降可能陷入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局部最优（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Local Minima</a:t>
            </a:r>
            <a:r>
              <a:rPr lang="zh-CN" altLang="en-US" sz="20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）</a:t>
            </a:r>
            <a:endParaRPr lang="en-US" altLang="zh-CN" sz="2000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7095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函数的凸性（</a:t>
            </a:r>
            <a:r>
              <a:rPr lang="en-US" altLang="zh-CN" dirty="0"/>
              <a:t>Convexity</a:t>
            </a:r>
            <a:r>
              <a:rPr lang="zh-CN" altLang="en-US" dirty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1828516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endParaRPr lang="en-US" altLang="zh-CN" dirty="0"/>
              </a:p>
              <a:p>
                <a:pPr lvl="1">
                  <a:spcAft>
                    <a:spcPts val="1200"/>
                  </a:spcAft>
                </a:pPr>
                <a:r>
                  <a:rPr lang="zh-CN" altLang="en-US" dirty="0"/>
                  <a:t>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𝑓</m:t>
                    </m:r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</a:rPr>
                      <m:t>𝑥</m:t>
                    </m:r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/>
                  <a:t>为凸函数的充分必要条件是给定定义域中任意两个点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及某个常数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𝑡</m:t>
                    </m:r>
                    <m:r>
                      <a:rPr lang="en-US" altLang="zh-CN" b="0" i="1" smtClean="0">
                        <a:latin typeface="Cambria Math" charset="0"/>
                      </a:rPr>
                      <m:t>∈[0,1]</m:t>
                    </m:r>
                  </m:oMath>
                </a14:m>
                <a:r>
                  <a:rPr lang="zh-CN" altLang="en-US" dirty="0"/>
                  <a:t>，都有：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charset="0"/>
                        </a:rPr>
                        <m:t>𝑡</m:t>
                      </m:r>
                      <m:r>
                        <a:rPr lang="en-US" altLang="zh-CN" sz="2000" b="0" i="1" dirty="0" smtClean="0">
                          <a:latin typeface="Cambria Math" charset="0"/>
                        </a:rPr>
                        <m:t>⋅</m:t>
                      </m:r>
                      <m:r>
                        <a:rPr lang="en-US" altLang="zh-CN" sz="2000" b="0" i="1" dirty="0" smtClean="0">
                          <a:latin typeface="Cambria Math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dirty="0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dirty="0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charset="0"/>
                            </a:rPr>
                            <m:t>1−</m:t>
                          </m:r>
                          <m:r>
                            <a:rPr lang="en-US" altLang="zh-CN" sz="2000" b="0" i="1" dirty="0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charset="0"/>
                        </a:rPr>
                        <m:t>⋅</m:t>
                      </m:r>
                      <m:r>
                        <a:rPr lang="en-US" altLang="zh-CN" sz="2000" b="0" i="1" dirty="0" smtClean="0">
                          <a:latin typeface="Cambria Math" charset="0"/>
                        </a:rPr>
                        <m:t>𝑓</m:t>
                      </m:r>
                      <m:r>
                        <a:rPr lang="en-US" altLang="zh-CN" sz="2000" b="0" i="1" dirty="0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charset="0"/>
                        </a:rPr>
                        <m:t>)</m:t>
                      </m:r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𝑓</m:t>
                      </m:r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</m:t>
                      </m:r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1−</m:t>
                          </m:r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1828516"/>
              </a:xfrm>
              <a:blipFill rotWithShape="0">
                <a:blip r:embed="rId2"/>
                <a:stretch>
                  <a:fillRect l="-667" t="-1667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6" y="2402967"/>
            <a:ext cx="3704634" cy="2316423"/>
          </a:xfrm>
          <a:prstGeom prst="rect">
            <a:avLst/>
          </a:prstGeom>
        </p:spPr>
      </p:pic>
      <p:sp>
        <p:nvSpPr>
          <p:cNvPr id="6" name="Right Brace 5"/>
          <p:cNvSpPr/>
          <p:nvPr/>
        </p:nvSpPr>
        <p:spPr>
          <a:xfrm>
            <a:off x="4876826" y="2426078"/>
            <a:ext cx="295675" cy="2316423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06184" y="2787650"/>
                <a:ext cx="320442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在函数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𝑓</m:t>
                    </m:r>
                    <m:r>
                      <a:rPr lang="en-US" altLang="zh-CN" sz="2000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𝑥</m:t>
                    </m:r>
                    <m:r>
                      <a:rPr lang="en-US" altLang="zh-CN" sz="2000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为凸函数的情况下，梯度下降方法能够找到函数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𝑓</m:t>
                    </m:r>
                    <m:r>
                      <a:rPr lang="en-US" altLang="zh-CN" sz="2000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(</m:t>
                    </m:r>
                    <m:r>
                      <a:rPr lang="en-US" altLang="zh-CN" sz="2000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𝑥</m:t>
                    </m:r>
                    <m:r>
                      <a:rPr lang="en-US" altLang="zh-CN" sz="2000" i="1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Microsoft YaHei" charset="-122"/>
                    <a:ea typeface="Microsoft YaHei" charset="-122"/>
                    <a:cs typeface="Microsoft YaHei" charset="-122"/>
                  </a:rPr>
                  <a:t>的最小值点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184" y="2787650"/>
                <a:ext cx="3204429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1901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918130" y="3979863"/>
            <a:ext cx="31367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MSE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目标函数是凸函数吗？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 是  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 否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75005" y="4043921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198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函数的凸性（</a:t>
            </a:r>
            <a:r>
              <a:rPr lang="en-US" altLang="zh-CN" dirty="0"/>
              <a:t>Convexity</a:t>
            </a:r>
            <a:r>
              <a:rPr lang="zh-CN" altLang="en-US" dirty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请给出此一维函数不符合凸性的例子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latin typeface="Cambria Math" charset="0"/>
                      </a:rPr>
                      <m:t>=(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4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−15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+80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dirty="0" smtClean="0">
                        <a:latin typeface="Cambria Math" charset="0"/>
                      </a:rPr>
                      <m:t>−180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charset="0"/>
                      </a:rPr>
                      <m:t>+144)/10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733" y="1570501"/>
            <a:ext cx="4357920" cy="310261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653425" y="3785559"/>
            <a:ext cx="139700" cy="1397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83649" y="3925259"/>
            <a:ext cx="139700" cy="1397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stCxn id="6" idx="6"/>
            <a:endCxn id="8" idx="2"/>
          </p:cNvCxnSpPr>
          <p:nvPr/>
        </p:nvCxnSpPr>
        <p:spPr>
          <a:xfrm>
            <a:off x="3793125" y="3855409"/>
            <a:ext cx="890524" cy="1397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50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学习率的选择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选择一个大一些的学习率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𝛼</m:t>
                    </m:r>
                    <m:r>
                      <a:rPr lang="en-US" altLang="zh-CN" b="0" i="1" smtClean="0">
                        <a:latin typeface="Cambria Math" charset="0"/>
                      </a:rPr>
                      <m:t>=0.9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01" y="1055934"/>
            <a:ext cx="4440987" cy="316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5" y="1506382"/>
            <a:ext cx="3467920" cy="27175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1238615" y="4306208"/>
            <a:ext cx="7168437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更大的学习率可以使算法在更大的范围</a:t>
            </a:r>
            <a:r>
              <a:rPr lang="zh-CN" altLang="en-US" sz="2400">
                <a:solidFill>
                  <a:srgbClr val="C00000"/>
                </a:solidFill>
              </a:rPr>
              <a:t>内进行试探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60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学习率的选择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选择一个再大一些的学习率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𝛼</m:t>
                    </m:r>
                    <m:r>
                      <a:rPr lang="en-US" altLang="zh-CN" b="0" i="1" smtClean="0">
                        <a:latin typeface="Cambria Math" charset="0"/>
                      </a:rPr>
                      <m:t>=0.95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23" y="1576168"/>
            <a:ext cx="7760677" cy="24229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04002" y="4113431"/>
            <a:ext cx="582730" cy="58273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199998" y="4220130"/>
            <a:ext cx="40952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Helvetica Neue" charset="0"/>
              </a:rPr>
              <a:t>请你解释出现上述情况的</a:t>
            </a:r>
            <a:r>
              <a:rPr lang="zh-CN" altLang="en-US" sz="2000" b="1">
                <a:solidFill>
                  <a:srgbClr val="C00000"/>
                </a:solidFill>
                <a:latin typeface="Helvetica Neue" charset="0"/>
              </a:rPr>
              <a:t>原因？</a:t>
            </a:r>
            <a:endParaRPr lang="en-US" altLang="zh-CN" sz="2000" b="1" dirty="0">
              <a:solidFill>
                <a:srgbClr val="C00000"/>
              </a:solidFill>
              <a:latin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85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4149969" cy="2557096"/>
          </a:xfrm>
        </p:spPr>
        <p:txBody>
          <a:bodyPr/>
          <a:lstStyle/>
          <a:p>
            <a:r>
              <a:rPr lang="zh-CN" altLang="en-US" dirty="0"/>
              <a:t>学习率的选择</a:t>
            </a:r>
            <a:endParaRPr lang="en-US" altLang="zh-CN" dirty="0"/>
          </a:p>
          <a:p>
            <a:pPr lvl="1"/>
            <a:r>
              <a:rPr lang="zh-CN" altLang="en-US" dirty="0"/>
              <a:t>过大的学习率导致学习的不稳定，甚至不能收敛</a:t>
            </a:r>
            <a:endParaRPr lang="en-US" altLang="zh-CN" dirty="0"/>
          </a:p>
          <a:p>
            <a:pPr lvl="2"/>
            <a:r>
              <a:rPr lang="zh-CN" altLang="en-US" dirty="0"/>
              <a:t>如之前的“螺旋上升”现象</a:t>
            </a:r>
            <a:endParaRPr lang="en-US" altLang="zh-CN" dirty="0"/>
          </a:p>
          <a:p>
            <a:pPr lvl="1"/>
            <a:r>
              <a:rPr lang="zh-CN" altLang="en-US" dirty="0"/>
              <a:t>过小的学习率导致训练步数多读</a:t>
            </a:r>
            <a:endParaRPr lang="en-US" altLang="zh-CN" dirty="0"/>
          </a:p>
          <a:p>
            <a:pPr lvl="2"/>
            <a:r>
              <a:rPr lang="zh-CN" altLang="en-US" dirty="0"/>
              <a:t>导致过长的训练时间</a:t>
            </a:r>
            <a:endParaRPr lang="en-US" altLang="zh-CN" dirty="0"/>
          </a:p>
          <a:p>
            <a:pPr lvl="1"/>
            <a:r>
              <a:rPr lang="zh-CN" altLang="en-US" dirty="0"/>
              <a:t>复杂的</a:t>
            </a:r>
            <a:r>
              <a:rPr lang="zh-CN" altLang="en-US" dirty="0">
                <a:solidFill>
                  <a:srgbClr val="C00000"/>
                </a:solidFill>
              </a:rPr>
              <a:t>工程</a:t>
            </a:r>
            <a:r>
              <a:rPr lang="zh-CN" altLang="en-US" dirty="0"/>
              <a:t>问题！</a:t>
            </a:r>
            <a:endParaRPr lang="en-US" altLang="zh-CN" dirty="0"/>
          </a:p>
          <a:p>
            <a:pPr lvl="2"/>
            <a:r>
              <a:rPr lang="zh-CN" altLang="en-US" dirty="0"/>
              <a:t>你会设计什么机制？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10" y="3483306"/>
            <a:ext cx="6832600" cy="1231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610436" y="4189862"/>
            <a:ext cx="4817660" cy="265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421" y="1700544"/>
            <a:ext cx="3937379" cy="92494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 flipV="1">
            <a:off x="4913194" y="2702256"/>
            <a:ext cx="1064526" cy="14603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27901" y="2702256"/>
            <a:ext cx="582730" cy="58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使用梯度下降训练线性回归模型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zh-CN" altLang="en-US" dirty="0"/>
                  <a:t>给定</a:t>
                </a:r>
                <a:r>
                  <a:rPr lang="en-US" altLang="zh-CN" dirty="0"/>
                  <a:t>Boston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Housing</a:t>
                </a:r>
                <a:r>
                  <a:rPr lang="zh-CN" altLang="en-US" dirty="0"/>
                  <a:t>数据集，只考虑</a:t>
                </a:r>
                <a:r>
                  <a:rPr lang="en-US" altLang="zh-CN" dirty="0"/>
                  <a:t>Rm</a:t>
                </a:r>
                <a:r>
                  <a:rPr lang="zh-CN" altLang="en-US" dirty="0"/>
                  <a:t>变量，不考虑截距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40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𝜃</m:t>
                      </m:r>
                      <m:r>
                        <a:rPr lang="en-US" altLang="zh-CN" sz="24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85" y="1754221"/>
            <a:ext cx="4514362" cy="2793577"/>
          </a:xfrm>
          <a:prstGeom prst="rect">
            <a:avLst/>
          </a:prstGeom>
        </p:spPr>
      </p:pic>
      <p:sp>
        <p:nvSpPr>
          <p:cNvPr id="8" name="Right Brace 7"/>
          <p:cNvSpPr/>
          <p:nvPr/>
        </p:nvSpPr>
        <p:spPr>
          <a:xfrm>
            <a:off x="5525813" y="1754221"/>
            <a:ext cx="295675" cy="2793577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63286" y="2244592"/>
                <a:ext cx="2523514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>
                    <a:latin typeface="Microsoft YaHei" charset="-122"/>
                    <a:ea typeface="Microsoft YaHei" charset="-122"/>
                    <a:cs typeface="Microsoft YaHei" charset="-122"/>
                  </a:rPr>
                  <a:t>求解最优参数</a:t>
                </a:r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marL="342900" indent="-342900">
                  <a:buFont typeface="Arial" charset="0"/>
                  <a:buChar char="•"/>
                </a:pPr>
                <a:r>
                  <a:rPr lang="zh-CN" altLang="en-US" dirty="0">
                    <a:latin typeface="Microsoft YaHei" charset="-122"/>
                    <a:ea typeface="Microsoft YaHei" charset="-122"/>
                    <a:cs typeface="Microsoft YaHei" charset="-122"/>
                  </a:rPr>
                  <a:t>目标函数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𝑅</m:t>
                    </m:r>
                    <m:r>
                      <a:rPr lang="en-US" altLang="zh-CN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(</m:t>
                    </m:r>
                    <m:r>
                      <a:rPr lang="en-US" altLang="zh-CN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𝜃</m:t>
                    </m:r>
                    <m:r>
                      <a:rPr lang="en-US" altLang="zh-CN" b="0" i="1" smtClean="0">
                        <a:latin typeface="Cambria Math" charset="0"/>
                        <a:ea typeface="Microsoft YaHei" charset="-122"/>
                        <a:cs typeface="Microsoft YaHei" charset="-122"/>
                      </a:rPr>
                      <m:t>)</m:t>
                    </m:r>
                  </m:oMath>
                </a14:m>
                <a:endParaRPr lang="en-US" altLang="zh-CN" sz="2000" dirty="0"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286" y="2244592"/>
                <a:ext cx="2523514" cy="677108"/>
              </a:xfrm>
              <a:prstGeom prst="rect">
                <a:avLst/>
              </a:prstGeom>
              <a:blipFill rotWithShape="0">
                <a:blip r:embed="rId4"/>
                <a:stretch>
                  <a:fillRect l="-2415" t="-4505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13965" y="3151009"/>
                <a:ext cx="2620461" cy="5563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zh-CN" altLang="en-US" b="0" i="1" smtClean="0">
                          <a:latin typeface="Cambria Math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𝜃</m:t>
                                  </m:r>
                                  <m:r>
                                    <a:rPr lang="en-US" altLang="zh-CN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965" y="3151009"/>
                <a:ext cx="2620461" cy="556306"/>
              </a:xfrm>
              <a:prstGeom prst="rect">
                <a:avLst/>
              </a:prstGeom>
              <a:blipFill rotWithShape="0">
                <a:blip r:embed="rId5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6868652" y="3494002"/>
            <a:ext cx="247256" cy="213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113965" y="4147087"/>
            <a:ext cx="2236510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为了</a:t>
            </a:r>
            <a:r>
              <a:rPr lang="zh-CN" altLang="en-US" sz="2000">
                <a:solidFill>
                  <a:srgbClr val="C00000"/>
                </a:solidFill>
              </a:rPr>
              <a:t>后续计算方便</a:t>
            </a:r>
            <a:endParaRPr lang="en-US" sz="2000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/>
          <p:cNvCxnSpPr>
            <a:stCxn id="11" idx="2"/>
            <a:endCxn id="12" idx="0"/>
          </p:cNvCxnSpPr>
          <p:nvPr/>
        </p:nvCxnSpPr>
        <p:spPr>
          <a:xfrm>
            <a:off x="6992280" y="3707315"/>
            <a:ext cx="239940" cy="4397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93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考虑最简单的</a:t>
            </a:r>
            <a:r>
              <a:rPr lang="en-US" altLang="zh-CN" dirty="0"/>
              <a:t>SLR</a:t>
            </a:r>
            <a:r>
              <a:rPr lang="zh-CN" altLang="en-US" dirty="0"/>
              <a:t>例子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求解方法</a:t>
            </a:r>
            <a:r>
              <a:rPr lang="en-US" altLang="zh-CN" dirty="0"/>
              <a:t>#1</a:t>
            </a:r>
            <a:r>
              <a:rPr lang="zh-CN" altLang="en-US" dirty="0"/>
              <a:t>：使用解析解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49</a:t>
            </a:fld>
            <a:endParaRPr lang="zh-CN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357312" y="1348964"/>
            <a:ext cx="6429375" cy="2705915"/>
            <a:chOff x="1357312" y="1434692"/>
            <a:chExt cx="6429375" cy="270591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7312" y="1434692"/>
              <a:ext cx="6429375" cy="270591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357312" y="2939840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74456" y="2939840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862387" y="2215939"/>
              <a:ext cx="49885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69B035"/>
                  </a:solidFill>
                </a:rPr>
                <a:t>d+1</a:t>
              </a:r>
              <a:endParaRPr lang="en-US" sz="1600">
                <a:solidFill>
                  <a:srgbClr val="69B035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32919" y="4202124"/>
                <a:ext cx="2878160" cy="47711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C00000"/>
                    </a:solidFill>
                  </a:rPr>
                  <a:t>计算结果：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=3.65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919" y="4202124"/>
                <a:ext cx="2878160" cy="477118"/>
              </a:xfrm>
              <a:prstGeom prst="rect">
                <a:avLst/>
              </a:prstGeom>
              <a:blipFill rotWithShape="0">
                <a:blip r:embed="rId3"/>
                <a:stretch>
                  <a:fillRect l="-3165" t="-11111" b="-1975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82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考虑最简单的</a:t>
            </a:r>
            <a:r>
              <a:rPr lang="en-US" altLang="zh-CN" dirty="0"/>
              <a:t>SLR</a:t>
            </a:r>
            <a:r>
              <a:rPr lang="zh-CN" altLang="en-US" dirty="0"/>
              <a:t>例子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求解方法</a:t>
            </a:r>
            <a:r>
              <a:rPr lang="en-US" altLang="zh-CN" dirty="0"/>
              <a:t>#2</a:t>
            </a:r>
            <a:r>
              <a:rPr lang="zh-CN" altLang="en-US" dirty="0"/>
              <a:t>：使用枚举法，如枚举</a:t>
            </a:r>
            <a:r>
              <a:rPr lang="en-US" altLang="zh-CN" dirty="0"/>
              <a:t>11</a:t>
            </a:r>
            <a:r>
              <a:rPr lang="zh-CN" altLang="en-US" dirty="0"/>
              <a:t>个点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980105" y="2549091"/>
                <a:ext cx="2878160" cy="47711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C00000"/>
                    </a:solidFill>
                  </a:rPr>
                  <a:t>计算结果：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=3.80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105" y="2549091"/>
                <a:ext cx="2878160" cy="477118"/>
              </a:xfrm>
              <a:prstGeom prst="rect">
                <a:avLst/>
              </a:prstGeom>
              <a:blipFill rotWithShape="0">
                <a:blip r:embed="rId2"/>
                <a:stretch>
                  <a:fillRect l="-3165" t="-11250" b="-21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50" y="1297055"/>
            <a:ext cx="5008508" cy="343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3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使用梯度下降方法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58665"/>
          </a:xfrm>
        </p:spPr>
        <p:txBody>
          <a:bodyPr/>
          <a:lstStyle/>
          <a:p>
            <a:r>
              <a:rPr lang="zh-CN" altLang="en-US" dirty="0"/>
              <a:t>请用</a:t>
            </a:r>
            <a:r>
              <a:rPr lang="en-US" altLang="zh-CN" dirty="0">
                <a:solidFill>
                  <a:srgbClr val="C00000"/>
                </a:solidFill>
              </a:rPr>
              <a:t>python</a:t>
            </a:r>
            <a:r>
              <a:rPr lang="zh-CN" altLang="en-US" dirty="0"/>
              <a:t>写出目标函数和梯度函数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54" y="1674744"/>
            <a:ext cx="3642946" cy="69758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2384" y="1554285"/>
                <a:ext cx="502637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280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84" y="1554285"/>
                <a:ext cx="502637" cy="81804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"/>
          <a:stretch/>
        </p:blipFill>
        <p:spPr>
          <a:xfrm>
            <a:off x="5533292" y="1547922"/>
            <a:ext cx="3004845" cy="951226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53072" y="1777314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072" y="1777314"/>
                <a:ext cx="399148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08" y="3250406"/>
            <a:ext cx="6832600" cy="1231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1728834" y="3956962"/>
            <a:ext cx="4817660" cy="265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/>
          <p:cNvCxnSpPr>
            <a:stCxn id="7" idx="2"/>
            <a:endCxn id="9" idx="0"/>
          </p:cNvCxnSpPr>
          <p:nvPr/>
        </p:nvCxnSpPr>
        <p:spPr>
          <a:xfrm rot="5400000">
            <a:off x="5303183" y="1517874"/>
            <a:ext cx="751258" cy="271380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52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求解方法</a:t>
            </a:r>
            <a:r>
              <a:rPr lang="en-US" altLang="zh-CN" dirty="0"/>
              <a:t>#3</a:t>
            </a:r>
            <a:r>
              <a:rPr lang="zh-CN" altLang="en-US" dirty="0"/>
              <a:t>：使用梯度下降法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27" y="1289539"/>
            <a:ext cx="4837682" cy="33408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80105" y="2549091"/>
                <a:ext cx="2878160" cy="47711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C00000"/>
                    </a:solidFill>
                  </a:rPr>
                  <a:t>计算结果：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𝜃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=3.65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105" y="2549091"/>
                <a:ext cx="2878160" cy="477118"/>
              </a:xfrm>
              <a:prstGeom prst="rect">
                <a:avLst/>
              </a:prstGeom>
              <a:blipFill rotWithShape="0">
                <a:blip r:embed="rId3"/>
                <a:stretch>
                  <a:fillRect l="-3165" t="-11250" b="-21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343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使用梯度下降求解多元线性回归模型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给定线性回归的矩阵形式，我们有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lang="bg-BG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begChr m:val="‖"/>
                              <m:endChr m:val="‖"/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𝕐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𝕏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例子：考虑变量</a:t>
                </a:r>
                <a:r>
                  <a:rPr lang="en-US" altLang="zh-CN" dirty="0"/>
                  <a:t>RM</a:t>
                </a:r>
                <a:r>
                  <a:rPr lang="zh-CN" altLang="en-US" dirty="0"/>
                  <a:t>和截距的情况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853" y="2344135"/>
            <a:ext cx="5152293" cy="24120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776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使用梯度下降求解二元线性回归模型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梯度下降的参数更新表示为</a:t>
            </a:r>
            <a:r>
              <a:rPr lang="en-US" altLang="zh-CN" dirty="0"/>
              <a:t>2D</a:t>
            </a:r>
            <a:r>
              <a:rPr lang="zh-CN" altLang="en-US" dirty="0"/>
              <a:t>的向量形式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69" y="1280695"/>
            <a:ext cx="4586654" cy="3338533"/>
          </a:xfrm>
          <a:prstGeom prst="rect">
            <a:avLst/>
          </a:prstGeom>
        </p:spPr>
      </p:pic>
      <p:sp>
        <p:nvSpPr>
          <p:cNvPr id="6" name="Right Brace 5"/>
          <p:cNvSpPr/>
          <p:nvPr/>
        </p:nvSpPr>
        <p:spPr>
          <a:xfrm>
            <a:off x="5525813" y="1280695"/>
            <a:ext cx="295675" cy="3267103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63286" y="2244592"/>
            <a:ext cx="25235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求解梯度函数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Arial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分别对每个参数求解偏导操作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667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考虑函数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charset="0"/>
                      </a:rPr>
                      <m:t>=8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dirty="0" smtClean="0">
                        <a:latin typeface="Cambria Math" charset="0"/>
                      </a:rPr>
                      <m:t>+3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，请完成一下计算：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推导以下公式</a:t>
                </a:r>
                <a:endParaRPr lang="en-US" altLang="zh-CN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zh-CN" altLang="en-US" dirty="0"/>
                  <a:t>并给出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𝜽</m:t>
                    </m:r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1,1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𝑅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/>
                  <a:t>的解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3862" y="1494692"/>
                <a:ext cx="2217402" cy="2020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k-UA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uk-UA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bg-BG" altLang="zh-CN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altLang="zh-CN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𝑅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𝜽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𝑅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𝜽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⋮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bg-BG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𝑅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𝜽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862" y="1494692"/>
                <a:ext cx="2217402" cy="2020040"/>
              </a:xfrm>
              <a:prstGeom prst="rect">
                <a:avLst/>
              </a:prstGeom>
              <a:blipFill>
                <a:blip r:embed="rId4"/>
                <a:stretch>
                  <a:fillRect t="-625" b="-18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46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使用梯度下降求解多元线性回归模型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给定线性回归的矩阵形式，我们有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lang="bg-BG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begChr m:val="‖"/>
                              <m:endChr m:val="‖"/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𝕐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𝕏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请推导出梯度向量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𝑅</m:t>
                    </m:r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altLang="zh-CN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𝜽</m:t>
                    </m:r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课堂练习：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给定一组训练数据：</a:t>
                </a:r>
                <a:r>
                  <a:rPr lang="en-US" altLang="zh-CN" dirty="0"/>
                  <a:t>(2,4),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(5,1),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(8,9)</a:t>
                </a:r>
              </a:p>
              <a:p>
                <a:pPr lvl="1"/>
                <a:r>
                  <a:rPr lang="zh-CN" altLang="en-US" dirty="0"/>
                  <a:t>请计算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charset="0"/>
                      </a:rPr>
                      <m:t>𝜽</m:t>
                    </m:r>
                    <m:r>
                      <a:rPr lang="en-US" altLang="zh-CN" b="0" i="1" smtClean="0">
                        <a:latin typeface="Cambria Math" charset="0"/>
                      </a:rPr>
                      <m:t>=[</m:t>
                    </m:r>
                    <m:f>
                      <m:fPr>
                        <m:ctrlPr>
                          <a:rPr lang="bg-BG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f>
                      <m:fPr>
                        <m:ctrlPr>
                          <a:rPr lang="bg-BG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charset="0"/>
                          </a:rPr>
                          <m:t>5</m:t>
                        </m:r>
                      </m:num>
                      <m:den>
                        <m:r>
                          <a:rPr lang="en-US" altLang="zh-CN" b="0" i="1" smtClean="0">
                            <a:latin typeface="Cambria Math" charset="0"/>
                          </a:rPr>
                          <m:t>6</m:t>
                        </m:r>
                      </m:den>
                    </m:f>
                    <m:r>
                      <a:rPr lang="en-US" altLang="zh-CN" b="0" i="1" smtClean="0">
                        <a:latin typeface="Cambria Math" charset="0"/>
                      </a:rPr>
                      <m:t>]</m:t>
                    </m:r>
                  </m:oMath>
                </a14:m>
                <a:r>
                  <a:rPr lang="zh-CN" altLang="en-US" dirty="0"/>
                  <a:t>时的梯度向量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𝑅</m:t>
                    </m:r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altLang="zh-CN" b="1" i="1">
                        <a:latin typeface="Cambria Math" charset="0"/>
                        <a:ea typeface="Cambria Math" charset="0"/>
                        <a:cs typeface="Cambria Math" charset="0"/>
                      </a:rPr>
                      <m:t>𝜽</m:t>
                    </m:r>
                    <m:r>
                      <a:rPr lang="en-US" altLang="zh-CN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0509" y="2527450"/>
                <a:ext cx="246298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𝕏</m:t>
                      </m:r>
                      <m:r>
                        <a:rPr lang="en-US" altLang="zh-CN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𝜽</m:t>
                      </m:r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𝕐</m:t>
                      </m:r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509" y="2527450"/>
                <a:ext cx="2462982" cy="52039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3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将上述数学推导用</a:t>
            </a:r>
            <a:r>
              <a:rPr lang="en-US" altLang="zh-CN" dirty="0"/>
              <a:t>Python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58665"/>
          </a:xfrm>
        </p:spPr>
        <p:txBody>
          <a:bodyPr/>
          <a:lstStyle/>
          <a:p>
            <a:r>
              <a:rPr lang="zh-CN" altLang="en-US" dirty="0"/>
              <a:t>请用</a:t>
            </a:r>
            <a:r>
              <a:rPr lang="en-US" altLang="zh-CN" dirty="0">
                <a:solidFill>
                  <a:srgbClr val="C00000"/>
                </a:solidFill>
              </a:rPr>
              <a:t>python</a:t>
            </a:r>
            <a:r>
              <a:rPr lang="zh-CN" altLang="en-US" dirty="0"/>
              <a:t>写出目标函数和梯度函数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2384" y="1554285"/>
                <a:ext cx="502637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sz="280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latin typeface="Cambria Math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84" y="1554285"/>
                <a:ext cx="502637" cy="81804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53072" y="1777314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072" y="1777314"/>
                <a:ext cx="399148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96" y="1676775"/>
            <a:ext cx="3797300" cy="6935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731" y="1636720"/>
            <a:ext cx="3426069" cy="7736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679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更复杂的梯度下降算法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3"/>
          <a:stretch/>
        </p:blipFill>
        <p:spPr>
          <a:xfrm>
            <a:off x="844062" y="794194"/>
            <a:ext cx="3834634" cy="3961955"/>
          </a:xfrm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640136" y="1059898"/>
            <a:ext cx="2497928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详细讲解请参考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en-US" altLang="zh-CN" sz="2400" dirty="0">
                <a:solidFill>
                  <a:srgbClr val="C00000"/>
                </a:solidFill>
              </a:rPr>
              <a:t>Lec07-demo.ipynb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79191" y="2245943"/>
            <a:ext cx="360760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几个关键点：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添加了</a:t>
            </a:r>
            <a:r>
              <a:rPr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tolerance</a:t>
            </a: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参数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添加了异常判断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梯度函数的输入和输出均为向量</a:t>
            </a:r>
            <a:endParaRPr lang="en-US" altLang="zh-CN" sz="2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749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使用梯度下降求解多元线性回归模型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给定线性回归的矩阵形式，我们有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SupPr>
                        <m:e>
                          <m:f>
                            <m:fPr>
                              <m:ctrlPr>
                                <a:rPr lang="bg-BG" altLang="zh-CN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begChr m:val="‖"/>
                              <m:endChr m:val="‖"/>
                              <m:ctrlPr>
                                <a:rPr lang="uk-UA" altLang="zh-CN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𝕐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𝕏</m:t>
                              </m:r>
                              <m:r>
                                <a:rPr lang="en-US" altLang="zh-CN" b="1" i="1" smtClean="0">
                                  <a:latin typeface="Cambria Math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zh-CN" altLang="en-US" dirty="0"/>
                  <a:t>请推导出梯度向量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𝜽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𝑅</m:t>
                    </m:r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altLang="zh-CN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𝜽</m:t>
                    </m:r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altLang="zh-CN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74026" y="2514003"/>
                <a:ext cx="4827604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𝕏</m:t>
                          </m:r>
                          <m:r>
                            <a:rPr lang="en-US" altLang="zh-CN" b="1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𝜽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𝕐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uk-UA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uk-UA" altLang="zh-CN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 smtClean="0">
                                      <a:latin typeface="Cambria Math" charset="0"/>
                                    </a:rPr>
                                    <m:t>⋮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charset="0"/>
                                        </a:rPr>
                                        <m:t>𝑖𝑑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026" y="2514003"/>
                <a:ext cx="4827604" cy="102047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5236653" y="2399703"/>
            <a:ext cx="2320594" cy="13116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0" y="4005188"/>
            <a:ext cx="3886000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载入和遍历所有的数据点！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E7C83D0-0D9B-744E-B880-87D65A2A12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4276" y="3524051"/>
            <a:ext cx="582730" cy="582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0F00795-1324-9348-9567-0102269C261B}"/>
              </a:ext>
            </a:extLst>
          </p:cNvPr>
          <p:cNvSpPr/>
          <p:nvPr/>
        </p:nvSpPr>
        <p:spPr>
          <a:xfrm>
            <a:off x="1040271" y="3630750"/>
            <a:ext cx="28670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Helvetica Neue" charset="0"/>
              </a:rPr>
              <a:t>思考：哪一步的计算最耗时，为什么？</a:t>
            </a:r>
            <a:endParaRPr lang="en-US" altLang="zh-CN" sz="2000" b="1" dirty="0">
              <a:solidFill>
                <a:srgbClr val="C00000"/>
              </a:solidFill>
              <a:latin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33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600" dirty="0"/>
              <a:t>随机梯度下降（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Stochastic</a:t>
            </a:r>
            <a:r>
              <a:rPr lang="zh-CN" altLang="en-US" sz="2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Gradient</a:t>
            </a:r>
            <a:r>
              <a:rPr lang="zh-CN" altLang="en-US" sz="2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Descent,</a:t>
            </a:r>
            <a:r>
              <a:rPr lang="zh-CN" altLang="en-US" sz="26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2600" dirty="0">
                <a:latin typeface="Calibri" charset="0"/>
                <a:ea typeface="Calibri" charset="0"/>
                <a:cs typeface="Calibri" charset="0"/>
              </a:rPr>
              <a:t>SGD</a:t>
            </a:r>
            <a:r>
              <a:rPr lang="zh-CN" altLang="en-US" sz="2600" dirty="0"/>
              <a:t>）</a:t>
            </a:r>
            <a:endParaRPr 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主流机器学习（深度学习）的参数优化方法</a:t>
                </a:r>
                <a:endParaRPr lang="en-US" altLang="zh-CN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altLang="zh-CN" dirty="0"/>
                  <a:t>Shuffle:</a:t>
                </a:r>
                <a:r>
                  <a:rPr lang="zh-CN" altLang="en-US" dirty="0"/>
                  <a:t> 将数据做一次随机化排序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𝕐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dirty="0"/>
                  <a:t>):</a:t>
                </a:r>
                <a:r>
                  <a:rPr lang="zh-CN" altLang="en-US" dirty="0"/>
                  <a:t> 大小为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的一个</a:t>
                </a:r>
                <a:r>
                  <a:rPr lang="en-US" altLang="zh-CN" dirty="0"/>
                  <a:t>mini-batch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02860" y="1415930"/>
                <a:ext cx="5472267" cy="227241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000" b="0" dirty="0"/>
                  <a:t>In</a:t>
                </a:r>
                <a:r>
                  <a:rPr lang="en-US" altLang="zh-CN" sz="2000" dirty="0"/>
                  <a:t>itialize</a:t>
                </a:r>
                <a:r>
                  <a:rPr lang="zh-CN" altLang="en-US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charset="0"/>
                          </a:rPr>
                          <m:t>(0)</m:t>
                        </m:r>
                      </m:sup>
                    </m:sSup>
                    <m:r>
                      <a:rPr lang="en-US" altLang="zh-CN" sz="2000" b="0" i="0" smtClean="0">
                        <a:latin typeface="Cambria Math" charset="0"/>
                      </a:rPr>
                      <m:t>←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Zero,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Random,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etc.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000" dirty="0"/>
                  <a:t>For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t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from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to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convergence:</a:t>
                </a:r>
                <a:r>
                  <a:rPr lang="zh-CN" altLang="en-US" sz="2000" dirty="0"/>
                  <a:t> </a:t>
                </a:r>
                <a:endParaRPr lang="en-US" altLang="zh-CN" sz="20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</a:t>
                </a:r>
                <a:r>
                  <a:rPr lang="en-US" altLang="zh-CN" sz="2000" dirty="0"/>
                  <a:t>Shuffle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charset="0"/>
                      </a:rPr>
                      <m:t>𝕏</m:t>
                    </m:r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charset="0"/>
                      </a:rPr>
                      <m:t>𝕐</m:t>
                    </m:r>
                  </m:oMath>
                </a14:m>
                <a:r>
                  <a:rPr lang="en-US" altLang="zh-CN" sz="2000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</a:t>
                </a:r>
                <a:r>
                  <a:rPr lang="en-US" altLang="zh-CN" sz="2000" dirty="0"/>
                  <a:t>For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each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B-sized</a:t>
                </a:r>
                <a:r>
                  <a:rPr lang="zh-CN" altLang="en-US" sz="2000" dirty="0"/>
                  <a:t> </a:t>
                </a:r>
                <a:r>
                  <a:rPr lang="en-US" altLang="zh-CN" sz="2000" dirty="0" err="1"/>
                  <a:t>minibatch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) 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in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charset="0"/>
                      </a:rPr>
                      <m:t>𝕏</m:t>
                    </m:r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charset="0"/>
                      </a:rPr>
                      <m:t>𝕐</m:t>
                    </m:r>
                  </m:oMath>
                </a14:m>
                <a:r>
                  <a:rPr lang="en-US" altLang="zh-CN" sz="2000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i="1">
                            <a:latin typeface="Cambria Math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charset="0"/>
                          </a:rPr>
                          <m:t>+1)</m:t>
                        </m:r>
                      </m:sup>
                    </m:sSup>
                    <m:r>
                      <a:rPr lang="en-US" altLang="zh-CN" sz="2000" b="0" i="1" smtClean="0">
                        <a:latin typeface="Cambria Math" charset="0"/>
                      </a:rPr>
                      <m:t>←</m:t>
                    </m:r>
                  </m:oMath>
                </a14:m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i="1">
                            <a:latin typeface="Cambria Math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)</m:t>
                        </m:r>
                      </m:sup>
                    </m:sSup>
                    <m:r>
                      <a:rPr lang="en-US" altLang="zh-CN" sz="2000" b="0" i="1" smtClean="0">
                        <a:latin typeface="Cambria Math" charset="0"/>
                      </a:rPr>
                      <m:t>−</m:t>
                    </m:r>
                    <m:r>
                      <a:rPr lang="en-US" altLang="zh-CN" sz="2000" b="0" i="1" smtClean="0">
                        <a:latin typeface="Cambria Math" charset="0"/>
                      </a:rPr>
                      <m:t>𝛼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Gradient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𝕏</m:t>
                        </m:r>
                      </m:e>
                      <m:sub>
                        <m:r>
                          <a:rPr lang="en-US" altLang="zh-CN" sz="2000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𝕐</m:t>
                        </m:r>
                      </m:e>
                      <m:sub>
                        <m:r>
                          <a:rPr lang="en-US" altLang="zh-CN" sz="2000" i="1">
                            <a:latin typeface="Cambria Math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i="1">
                            <a:latin typeface="Cambria Math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000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000" dirty="0"/>
                  <a:t>    </a:t>
                </a:r>
                <a:r>
                  <a:rPr lang="en-US" altLang="zh-CN" sz="2000" dirty="0"/>
                  <a:t>End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For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000" dirty="0"/>
                  <a:t>End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For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860" y="1415930"/>
                <a:ext cx="5472267" cy="2272417"/>
              </a:xfrm>
              <a:prstGeom prst="rect">
                <a:avLst/>
              </a:prstGeom>
              <a:blipFill rotWithShape="0">
                <a:blip r:embed="rId3"/>
                <a:stretch>
                  <a:fillRect l="-1111" t="-800" b="-37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 rot="10800000">
            <a:off x="2265268" y="1795427"/>
            <a:ext cx="389965" cy="1445314"/>
          </a:xfrm>
          <a:prstGeom prst="rightBrace">
            <a:avLst>
              <a:gd name="adj1" fmla="val 6547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0804" y="2352083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一个</a:t>
            </a:r>
            <a:r>
              <a:rPr lang="en-US" altLang="zh-CN" sz="2000" dirty="0">
                <a:solidFill>
                  <a:srgbClr val="C00000"/>
                </a:solidFill>
              </a:rPr>
              <a:t>epoch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5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</a:t>
            </a:r>
            <a:r>
              <a:rPr lang="zh-CN" altLang="en-US" dirty="0"/>
              <a:t>与</a:t>
            </a:r>
            <a:r>
              <a:rPr lang="en-US" altLang="zh-CN" dirty="0"/>
              <a:t>SGD</a:t>
            </a:r>
            <a:r>
              <a:rPr lang="zh-CN" altLang="en-US" dirty="0"/>
              <a:t>的比较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72639"/>
            <a:ext cx="8229600" cy="363002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89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GD</a:t>
            </a:r>
            <a:r>
              <a:rPr lang="zh-CN" altLang="en-US" dirty="0"/>
              <a:t>与</a:t>
            </a:r>
            <a:r>
              <a:rPr lang="en-US" altLang="zh-CN" dirty="0"/>
              <a:t>SGD</a:t>
            </a:r>
            <a:r>
              <a:rPr lang="zh-CN" altLang="en-US" dirty="0"/>
              <a:t>的比较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34627"/>
            <a:ext cx="8229600" cy="3706045"/>
          </a:xfrm>
        </p:spPr>
      </p:pic>
    </p:spTree>
    <p:extLst>
      <p:ext uri="{BB962C8B-B14F-4D97-AF65-F5344CB8AC3E}">
        <p14:creationId xmlns:p14="http://schemas.microsoft.com/office/powerpoint/2010/main" val="967185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给定一组训练数据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(2,4)</a:t>
                </a:r>
              </a:p>
              <a:p>
                <a:pPr lvl="1"/>
                <a:r>
                  <a:rPr lang="en-US" altLang="zh-CN" dirty="0"/>
                  <a:t>(5,1)</a:t>
                </a:r>
              </a:p>
              <a:p>
                <a:pPr lvl="1"/>
                <a:r>
                  <a:rPr lang="en-US" altLang="zh-CN" dirty="0"/>
                  <a:t>(8,9)</a:t>
                </a:r>
              </a:p>
              <a:p>
                <a:endParaRPr lang="en-US" dirty="0"/>
              </a:p>
              <a:p>
                <a:r>
                  <a:rPr lang="zh-CN" altLang="en-US" dirty="0"/>
                  <a:t>请按照以下公式计算线性回归模型的最优参数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b="1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 charset="0"/>
                          </a:rPr>
                          <m:t>𝜽</m:t>
                        </m:r>
                      </m:e>
                    </m:acc>
                  </m:oMath>
                </a14:m>
                <a:endParaRPr lang="en-US" altLang="zh-CN" b="1" dirty="0"/>
              </a:p>
              <a:p>
                <a:pPr lvl="1"/>
                <a:r>
                  <a:rPr lang="zh-CN" altLang="en-US" dirty="0"/>
                  <a:t>注：可以使用</a:t>
                </a:r>
                <a:r>
                  <a:rPr lang="en-US" altLang="zh-CN" dirty="0"/>
                  <a:t>python</a:t>
                </a:r>
                <a:r>
                  <a:rPr lang="zh-CN" altLang="en-US" dirty="0"/>
                  <a:t>辅助计算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4" r="21221" b="78307"/>
          <a:stretch/>
        </p:blipFill>
        <p:spPr>
          <a:xfrm>
            <a:off x="2725341" y="3406367"/>
            <a:ext cx="3693318" cy="58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2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11403</TotalTime>
  <Words>4633</Words>
  <Application>Microsoft Macintosh PowerPoint</Application>
  <PresentationFormat>On-screen Show (16:9)</PresentationFormat>
  <Paragraphs>544</Paragraphs>
  <Slides>63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78" baseType="lpstr">
      <vt:lpstr>Calibri</vt:lpstr>
      <vt:lpstr>Cambria Math</vt:lpstr>
      <vt:lpstr>Helvetica Neue</vt:lpstr>
      <vt:lpstr>Mangal</vt:lpstr>
      <vt:lpstr>Microsoft YaHei</vt:lpstr>
      <vt:lpstr>Times-Roman</vt:lpstr>
      <vt:lpstr>Wingdings</vt:lpstr>
      <vt:lpstr>宋体</vt:lpstr>
      <vt:lpstr>微软雅黑</vt:lpstr>
      <vt:lpstr>方正兰亭细黑_GBK</vt:lpstr>
      <vt:lpstr>方正超粗黑简体</vt:lpstr>
      <vt:lpstr>隶书</vt:lpstr>
      <vt:lpstr>Arial</vt:lpstr>
      <vt:lpstr>清风素材 https://12sc.taobao.com/</vt:lpstr>
      <vt:lpstr>1_清风素材 https://12sc.taobao.com/</vt:lpstr>
      <vt:lpstr>PowerPoint Presentation</vt:lpstr>
      <vt:lpstr>上节课回顾：使用Python完成课堂练习</vt:lpstr>
      <vt:lpstr>PowerPoint Presentation</vt:lpstr>
      <vt:lpstr>多元线性回归 – MLR模型</vt:lpstr>
      <vt:lpstr>多元线性回归 – MLR模型</vt:lpstr>
      <vt:lpstr>建立LSR模型</vt:lpstr>
      <vt:lpstr>建立MLR模型</vt:lpstr>
      <vt:lpstr>建立MLR模型</vt:lpstr>
      <vt:lpstr>背景知识</vt:lpstr>
      <vt:lpstr>线性代数背景知识：点积</vt:lpstr>
      <vt:lpstr>线性代数背景知识：张成空间</vt:lpstr>
      <vt:lpstr>张成空间的一种直观解释</vt:lpstr>
      <vt:lpstr>线性代数背景知识：张成空间</vt:lpstr>
      <vt:lpstr>线性代数背景知识：张成空间</vt:lpstr>
      <vt:lpstr>线性代数背景知识：矩阵的秩</vt:lpstr>
      <vt:lpstr>多元线性回归 – MLR模型</vt:lpstr>
      <vt:lpstr>线性回归模型的向量化表示</vt:lpstr>
      <vt:lpstr>设计矩阵（Design Matrix）</vt:lpstr>
      <vt:lpstr>设计矩阵（Design Matrix）</vt:lpstr>
      <vt:lpstr>将线性回归表示为矩阵相乘</vt:lpstr>
      <vt:lpstr>将线性回归表示为矩阵相乘</vt:lpstr>
      <vt:lpstr>Recap: 符号定义</vt:lpstr>
      <vt:lpstr>MSE目标函数的矩阵形式</vt:lpstr>
      <vt:lpstr>线性代数背景知识：线性组合</vt:lpstr>
      <vt:lpstr>利用几何含义解释MSE目标函数优化</vt:lpstr>
      <vt:lpstr>利用几何含义解释MSE目标函数优化</vt:lpstr>
      <vt:lpstr>深入理解最优参数估计</vt:lpstr>
      <vt:lpstr>深入理解最优参数估计</vt:lpstr>
      <vt:lpstr>如何评判回归模型的优劣</vt:lpstr>
      <vt:lpstr>均方根误差</vt:lpstr>
      <vt:lpstr>拟合优度（Multiple R2）</vt:lpstr>
      <vt:lpstr>拟合优度（Multiple R2）</vt:lpstr>
      <vt:lpstr>PowerPoint Presentation</vt:lpstr>
      <vt:lpstr>如何求解最优参数估计？</vt:lpstr>
      <vt:lpstr>如何求解最优参数估计？</vt:lpstr>
      <vt:lpstr>梯度下降方法（Gradient Decent, GD）</vt:lpstr>
      <vt:lpstr>求解一维函数的最小值</vt:lpstr>
      <vt:lpstr>梯度下降的基本思想</vt:lpstr>
      <vt:lpstr>梯度下降算法</vt:lpstr>
      <vt:lpstr>一起来测试一下梯度下降算法</vt:lpstr>
      <vt:lpstr>学习率的选择</vt:lpstr>
      <vt:lpstr>学习率的选择</vt:lpstr>
      <vt:lpstr>函数的凸性（Convexity）</vt:lpstr>
      <vt:lpstr>函数的凸性（Convexity）</vt:lpstr>
      <vt:lpstr>学习率的选择</vt:lpstr>
      <vt:lpstr>学习率的选择</vt:lpstr>
      <vt:lpstr>梯度下降算法</vt:lpstr>
      <vt:lpstr>使用梯度下降训练线性回归模型</vt:lpstr>
      <vt:lpstr>考虑最简单的SLR例子</vt:lpstr>
      <vt:lpstr>考虑最简单的SLR例子</vt:lpstr>
      <vt:lpstr>使用梯度下降方法</vt:lpstr>
      <vt:lpstr>使用梯度下降</vt:lpstr>
      <vt:lpstr>使用梯度下降求解多元线性回归模型</vt:lpstr>
      <vt:lpstr>使用梯度下降求解二元线性回归模型</vt:lpstr>
      <vt:lpstr>课堂练习</vt:lpstr>
      <vt:lpstr>使用梯度下降求解多元线性回归模型</vt:lpstr>
      <vt:lpstr>将上述数学推导用Python实现</vt:lpstr>
      <vt:lpstr>更复杂的梯度下降算法</vt:lpstr>
      <vt:lpstr>使用梯度下降求解多元线性回归模型</vt:lpstr>
      <vt:lpstr>随机梯度下降（Stochastic Gradient Descent, SGD）</vt:lpstr>
      <vt:lpstr>GD与SGD的比较</vt:lpstr>
      <vt:lpstr>GD与SGD的比较</vt:lpstr>
      <vt:lpstr>课堂练习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范 举</cp:lastModifiedBy>
  <cp:revision>695</cp:revision>
  <cp:lastPrinted>2021-04-07T15:50:12Z</cp:lastPrinted>
  <dcterms:created xsi:type="dcterms:W3CDTF">2015-01-23T04:02:45Z</dcterms:created>
  <dcterms:modified xsi:type="dcterms:W3CDTF">2024-10-30T09:46:47Z</dcterms:modified>
  <cp:category/>
  <cp:contentStatus>12sc.taobao.com</cp:contentStatus>
</cp:coreProperties>
</file>