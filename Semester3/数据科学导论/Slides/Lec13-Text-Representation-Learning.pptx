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jpg" ContentType="image/jpeg"/>
  <Default Extension="emf" ContentType="image/x-emf"/>
  <Default Extension="tiff" ContentType="image/tiff"/>
  <Default Extension="rels" ContentType="application/vnd.openxmlformats-package.relationships+xml"/>
  <Default Extension="vml" ContentType="application/vnd.openxmlformats-officedocument.vmlDrawing"/>
  <Default Extension="wdp" ContentType="image/vnd.ms-photo"/>
  <Default Extension="png" ContentType="image/png"/>
  <Default Extension="bin" ContentType="application/vnd.openxmlformats-officedocument.oleObjec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6"/>
  </p:notesMasterIdLst>
  <p:sldIdLst>
    <p:sldId id="301" r:id="rId2"/>
    <p:sldId id="1085" r:id="rId3"/>
    <p:sldId id="1087" r:id="rId4"/>
    <p:sldId id="1088" r:id="rId5"/>
    <p:sldId id="1089" r:id="rId6"/>
    <p:sldId id="1091" r:id="rId7"/>
    <p:sldId id="1090" r:id="rId8"/>
    <p:sldId id="1092" r:id="rId9"/>
    <p:sldId id="1093" r:id="rId10"/>
    <p:sldId id="1094" r:id="rId11"/>
    <p:sldId id="1096" r:id="rId12"/>
    <p:sldId id="1095" r:id="rId13"/>
    <p:sldId id="1097" r:id="rId14"/>
    <p:sldId id="1098" r:id="rId15"/>
    <p:sldId id="1099" r:id="rId16"/>
    <p:sldId id="1100" r:id="rId17"/>
    <p:sldId id="457" r:id="rId18"/>
    <p:sldId id="1133" r:id="rId19"/>
    <p:sldId id="1135" r:id="rId20"/>
    <p:sldId id="1136" r:id="rId21"/>
    <p:sldId id="1102" r:id="rId22"/>
    <p:sldId id="1101" r:id="rId23"/>
    <p:sldId id="1105" r:id="rId24"/>
    <p:sldId id="1106" r:id="rId25"/>
    <p:sldId id="1104" r:id="rId26"/>
    <p:sldId id="1107" r:id="rId27"/>
    <p:sldId id="1108" r:id="rId28"/>
    <p:sldId id="1117" r:id="rId29"/>
    <p:sldId id="1118" r:id="rId30"/>
    <p:sldId id="533" r:id="rId31"/>
    <p:sldId id="532" r:id="rId32"/>
    <p:sldId id="502" r:id="rId33"/>
    <p:sldId id="1138" r:id="rId34"/>
    <p:sldId id="1139" r:id="rId35"/>
    <p:sldId id="1140" r:id="rId36"/>
    <p:sldId id="1141" r:id="rId37"/>
    <p:sldId id="505" r:id="rId38"/>
    <p:sldId id="506" r:id="rId39"/>
    <p:sldId id="508" r:id="rId40"/>
    <p:sldId id="509" r:id="rId41"/>
    <p:sldId id="510" r:id="rId42"/>
    <p:sldId id="511" r:id="rId43"/>
    <p:sldId id="513" r:id="rId44"/>
    <p:sldId id="536" r:id="rId45"/>
    <p:sldId id="514" r:id="rId46"/>
    <p:sldId id="1110" r:id="rId47"/>
    <p:sldId id="1109" r:id="rId48"/>
    <p:sldId id="1143" r:id="rId49"/>
    <p:sldId id="1144" r:id="rId50"/>
    <p:sldId id="1114" r:id="rId51"/>
    <p:sldId id="276" r:id="rId52"/>
    <p:sldId id="275" r:id="rId53"/>
    <p:sldId id="279" r:id="rId54"/>
    <p:sldId id="278" r:id="rId55"/>
    <p:sldId id="280" r:id="rId56"/>
    <p:sldId id="283" r:id="rId57"/>
    <p:sldId id="284" r:id="rId58"/>
    <p:sldId id="285" r:id="rId59"/>
    <p:sldId id="1122" r:id="rId60"/>
    <p:sldId id="1123" r:id="rId61"/>
    <p:sldId id="547" r:id="rId62"/>
    <p:sldId id="286" r:id="rId63"/>
    <p:sldId id="264" r:id="rId64"/>
    <p:sldId id="1124" r:id="rId65"/>
  </p:sldIdLst>
  <p:sldSz cx="9144000" cy="5143500" type="screen16x9"/>
  <p:notesSz cx="6858000" cy="9144000"/>
  <p:custDataLst>
    <p:tags r:id="rId6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97" userDrawn="1">
          <p15:clr>
            <a:srgbClr val="A4A3A4"/>
          </p15:clr>
        </p15:guide>
        <p15:guide id="2" pos="2789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vagelis hristidis" initials="vh" lastIdx="2" clrIdx="0">
    <p:extLst/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85FF"/>
    <a:srgbClr val="1A3F6C"/>
    <a:srgbClr val="0E22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241" autoAdjust="0"/>
    <p:restoredTop sz="88339" autoAdjust="0"/>
  </p:normalViewPr>
  <p:slideViewPr>
    <p:cSldViewPr snapToGrid="0">
      <p:cViewPr>
        <p:scale>
          <a:sx n="173" d="100"/>
          <a:sy n="173" d="100"/>
        </p:scale>
        <p:origin x="1360" y="56"/>
      </p:cViewPr>
      <p:guideLst>
        <p:guide orient="horz" pos="1597"/>
        <p:guide pos="278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notesMaster" Target="notesMasters/notesMaster1.xml"/><Relationship Id="rId67" Type="http://schemas.openxmlformats.org/officeDocument/2006/relationships/tags" Target="tags/tag1.xml"/><Relationship Id="rId68" Type="http://schemas.openxmlformats.org/officeDocument/2006/relationships/commentAuthors" Target="commentAuthors.xml"/><Relationship Id="rId69" Type="http://schemas.openxmlformats.org/officeDocument/2006/relationships/presProps" Target="presProps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70" Type="http://schemas.openxmlformats.org/officeDocument/2006/relationships/viewProps" Target="viewProps.xml"/><Relationship Id="rId71" Type="http://schemas.openxmlformats.org/officeDocument/2006/relationships/theme" Target="theme/theme1.xml"/><Relationship Id="rId72" Type="http://schemas.openxmlformats.org/officeDocument/2006/relationships/tableStyles" Target="tableStyles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6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7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8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49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50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37FD7A-F41B-4FED-8E35-F78DB9F4D037}" type="datetimeFigureOut">
              <a:rPr lang="zh-CN" altLang="en-US" smtClean="0"/>
              <a:t>2024/12/4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537CBA-0E44-4282-A4F0-C3BCC1A4C2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58367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1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DEAE63-D6C4-437F-B8DA-DA689F991AA7}" type="slidenum">
              <a:rPr lang="zh-CN" altLang="en-US" smtClean="0"/>
              <a:pPr/>
              <a:t>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622027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FC198-2D83-4DFC-8CDD-7D23AF44D411}" type="slidenum">
              <a:rPr lang="zh-CN" altLang="en-US" smtClean="0"/>
              <a:pPr/>
              <a:t>16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776941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537CBA-0E44-4282-A4F0-C3BCC1A4C2D1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0026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537CBA-0E44-4282-A4F0-C3BCC1A4C2D1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67049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537CBA-0E44-4282-A4F0-C3BCC1A4C2D1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06208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431EBBF-AD57-430A-8BD0-43CA7D3D9EBB}" type="slidenum">
              <a:rPr lang="en-US" altLang="zh-CN"/>
              <a:pPr/>
              <a:t>37</a:t>
            </a:fld>
            <a:endParaRPr lang="en-US" altLang="zh-CN"/>
          </a:p>
        </p:txBody>
      </p:sp>
      <p:sp>
        <p:nvSpPr>
          <p:cNvPr id="143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 lIns="91861" tIns="45931" rIns="91861" bIns="45931"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8346646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815C644-21FF-415E-9C73-E978911A74E6}" type="slidenum">
              <a:rPr lang="en-US" altLang="zh-CN"/>
              <a:pPr/>
              <a:t>38</a:t>
            </a:fld>
            <a:endParaRPr lang="en-US" altLang="zh-CN"/>
          </a:p>
        </p:txBody>
      </p:sp>
      <p:sp>
        <p:nvSpPr>
          <p:cNvPr id="174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 lIns="91861" tIns="45931" rIns="91861" bIns="45931"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9755883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31A78BE-C5B5-4A6A-9864-2E23FFD53CB0}" type="slidenum">
              <a:rPr lang="en-US" altLang="zh-CN"/>
              <a:pPr/>
              <a:t>39</a:t>
            </a:fld>
            <a:endParaRPr lang="en-US" altLang="zh-CN"/>
          </a:p>
        </p:txBody>
      </p:sp>
      <p:sp>
        <p:nvSpPr>
          <p:cNvPr id="215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 lIns="91861" tIns="45931" rIns="91861" bIns="45931"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4566762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81A6954-93E8-4815-8261-B299BB726F51}" type="slidenum">
              <a:rPr lang="en-US" altLang="zh-CN"/>
              <a:pPr/>
              <a:t>40</a:t>
            </a:fld>
            <a:endParaRPr lang="en-US" altLang="zh-CN"/>
          </a:p>
        </p:txBody>
      </p:sp>
      <p:sp>
        <p:nvSpPr>
          <p:cNvPr id="23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 lIns="91861" tIns="45931" rIns="91861" bIns="45931"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26097070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BF39158-F5AF-48B4-9F61-BBE0DC3E5D20}" type="slidenum">
              <a:rPr lang="en-US" altLang="zh-CN"/>
              <a:pPr/>
              <a:t>41</a:t>
            </a:fld>
            <a:endParaRPr lang="en-US" altLang="zh-CN"/>
          </a:p>
        </p:txBody>
      </p:sp>
      <p:sp>
        <p:nvSpPr>
          <p:cNvPr id="256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 lIns="91861" tIns="45931" rIns="91861" bIns="45931"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7511331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67EF589-C953-404A-8FDD-F1DF3D9C76B7}" type="slidenum">
              <a:rPr lang="en-US" altLang="zh-CN"/>
              <a:pPr/>
              <a:t>42</a:t>
            </a:fld>
            <a:endParaRPr lang="en-US" altLang="zh-CN"/>
          </a:p>
        </p:txBody>
      </p:sp>
      <p:sp>
        <p:nvSpPr>
          <p:cNvPr id="276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 lIns="91861" tIns="45931" rIns="91861" bIns="45931"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14538218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537CBA-0E44-4282-A4F0-C3BCC1A4C2D1}" type="slidenum">
              <a:rPr lang="zh-CN" altLang="en-US" smtClean="0"/>
              <a:t>43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590075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FC198-2D83-4DFC-8CDD-7D23AF44D411}" type="slidenum">
              <a:rPr lang="zh-CN" altLang="en-US" smtClean="0"/>
              <a:pPr/>
              <a:t>47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5971367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E69103-2D17-4832-98EE-51E176497DD9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86087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537CBA-0E44-4282-A4F0-C3BCC1A4C2D1}" type="slidenum">
              <a:rPr lang="zh-CN" altLang="en-US" smtClean="0"/>
              <a:t>56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70169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</a:t>
            </a:r>
            <a:r>
              <a:rPr lang="en-US" baseline="0" dirty="0"/>
              <a:t> contains input word vectors.</a:t>
            </a:r>
          </a:p>
          <a:p>
            <a:r>
              <a:rPr lang="en-US" baseline="0" dirty="0"/>
              <a:t>W’ contains output word vectors.</a:t>
            </a:r>
          </a:p>
          <a:p>
            <a:endParaRPr lang="en-US" baseline="0" dirty="0"/>
          </a:p>
          <a:p>
            <a:r>
              <a:rPr lang="en-US" baseline="0" dirty="0"/>
              <a:t>We can consider either W or W’ as the word’s representation. Or even take the average.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E69103-2D17-4832-98EE-51E176497DD9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892728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E69103-2D17-4832-98EE-51E176497DD9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23307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E9E4D-0BE1-4AAA-A57B-DA425863F4AF}" type="datetimeFigureOut">
              <a:rPr lang="zh-CN" altLang="en-US" smtClean="0"/>
              <a:t>2024/12/4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="" xmlns:a16="http://schemas.microsoft.com/office/drawing/2014/main" id="{1AB5419B-BD18-9943-B2FA-F86BB8A677BF}"/>
              </a:ext>
            </a:extLst>
          </p:cNvPr>
          <p:cNvSpPr/>
          <p:nvPr userDrawn="1"/>
        </p:nvSpPr>
        <p:spPr>
          <a:xfrm>
            <a:off x="0" y="4835507"/>
            <a:ext cx="9144000" cy="307777"/>
          </a:xfrm>
          <a:prstGeom prst="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3" tIns="45706" rIns="91413" bIns="45706" rtlCol="0" anchor="ctr"/>
          <a:lstStyle/>
          <a:p>
            <a:pPr algn="ctr"/>
            <a:endParaRPr lang="zh-CN" altLang="en-US"/>
          </a:p>
        </p:txBody>
      </p:sp>
      <p:sp>
        <p:nvSpPr>
          <p:cNvPr id="9" name="TextBox 4">
            <a:extLst>
              <a:ext uri="{FF2B5EF4-FFF2-40B4-BE49-F238E27FC236}">
                <a16:creationId xmlns="" xmlns:a16="http://schemas.microsoft.com/office/drawing/2014/main" id="{BDB6BC3B-4E32-BF49-9D91-F1931FBC69C4}"/>
              </a:ext>
            </a:extLst>
          </p:cNvPr>
          <p:cNvSpPr txBox="1"/>
          <p:nvPr userDrawn="1"/>
        </p:nvSpPr>
        <p:spPr>
          <a:xfrm>
            <a:off x="4366084" y="4835723"/>
            <a:ext cx="47854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4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《</a:t>
            </a:r>
            <a:r>
              <a:rPr lang="zh-CN" altLang="en-US" sz="14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数据科学导论</a:t>
            </a:r>
            <a:r>
              <a:rPr lang="en-US" altLang="zh-CN" sz="14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》</a:t>
            </a:r>
            <a:r>
              <a:rPr lang="zh-CN" altLang="en-US" sz="14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中国人民大学信息学院</a:t>
            </a:r>
          </a:p>
        </p:txBody>
      </p:sp>
    </p:spTree>
    <p:extLst>
      <p:ext uri="{BB962C8B-B14F-4D97-AF65-F5344CB8AC3E}">
        <p14:creationId xmlns:p14="http://schemas.microsoft.com/office/powerpoint/2010/main" val="815011272"/>
      </p:ext>
    </p:extLst>
  </p:cSld>
  <p:clrMapOvr>
    <a:masterClrMapping/>
  </p:clrMapOvr>
  <p:transition spd="slow">
    <p:pull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498872"/>
          </a:xfrm>
        </p:spPr>
        <p:txBody>
          <a:bodyPr>
            <a:noAutofit/>
          </a:bodyPr>
          <a:lstStyle>
            <a:lvl1pPr>
              <a:defRPr sz="2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819150"/>
            <a:ext cx="8229600" cy="3937000"/>
          </a:xfrm>
        </p:spPr>
        <p:txBody>
          <a:bodyPr>
            <a:normAutofit/>
          </a:bodyPr>
          <a:lstStyle>
            <a:lvl1pPr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sz="14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4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4426" y="4482306"/>
            <a:ext cx="409574" cy="273844"/>
          </a:xfrm>
        </p:spPr>
        <p:txBody>
          <a:bodyPr/>
          <a:lstStyle/>
          <a:p>
            <a:fld id="{E1BEBC7A-FD02-486B-81B5-A845787C689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="" xmlns:a16="http://schemas.microsoft.com/office/drawing/2014/main" id="{0EDCEBCB-EE73-45D6-92CE-B2AE1D434CFB}"/>
              </a:ext>
            </a:extLst>
          </p:cNvPr>
          <p:cNvSpPr/>
          <p:nvPr userDrawn="1"/>
        </p:nvSpPr>
        <p:spPr>
          <a:xfrm>
            <a:off x="646880" y="268997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0677444"/>
      </p:ext>
    </p:extLst>
  </p:cSld>
  <p:clrMapOvr>
    <a:masterClrMapping/>
  </p:clrMapOvr>
  <p:transition spd="slow">
    <p:pull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E9E4D-0BE1-4AAA-A57B-DA425863F4AF}" type="datetimeFigureOut">
              <a:rPr lang="zh-CN" altLang="en-US" smtClean="0"/>
              <a:t>2024/12/4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2218166"/>
      </p:ext>
    </p:extLst>
  </p:cSld>
  <p:clrMapOvr>
    <a:masterClrMapping/>
  </p:clrMapOvr>
  <p:transition spd="slow">
    <p:pull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E9E4D-0BE1-4AAA-A57B-DA425863F4AF}" type="datetimeFigureOut">
              <a:rPr lang="zh-CN" altLang="en-US" smtClean="0"/>
              <a:t>2024/12/4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1850969"/>
      </p:ext>
    </p:extLst>
  </p:cSld>
  <p:clrMapOvr>
    <a:masterClrMapping/>
  </p:clrMapOvr>
  <p:transition spd="slow">
    <p:pull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E9E4D-0BE1-4AAA-A57B-DA425863F4AF}" type="datetimeFigureOut">
              <a:rPr lang="zh-CN" altLang="en-US" smtClean="0"/>
              <a:t>2024/12/4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1343882"/>
      </p:ext>
    </p:extLst>
  </p:cSld>
  <p:clrMapOvr>
    <a:masterClrMapping/>
  </p:clrMapOvr>
  <p:transition spd="slow">
    <p:pull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309573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 advTm="0">
        <p:blinds dir="vert"/>
      </p:transition>
    </mc:Choice>
    <mc:Fallback xmlns="">
      <p:transition spd="slow" advClick="0" advTm="0">
        <p:blinds dir="vert"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1_标题幻灯片">
    <p:bg>
      <p:bgPr>
        <a:pattFill prst="ltUpDiag">
          <a:fgClr>
            <a:schemeClr val="accent6">
              <a:lumMod val="8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="" xmlns:a16="http://schemas.microsoft.com/office/drawing/2014/main" id="{36B1EA47-AA99-4F55-AEF3-3DA66267A0C2}"/>
              </a:ext>
            </a:extLst>
          </p:cNvPr>
          <p:cNvSpPr/>
          <p:nvPr userDrawn="1"/>
        </p:nvSpPr>
        <p:spPr>
          <a:xfrm>
            <a:off x="0" y="4835507"/>
            <a:ext cx="9144000" cy="307777"/>
          </a:xfrm>
          <a:prstGeom prst="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3" tIns="45706" rIns="91413" bIns="45706" rtlCol="0" anchor="ctr"/>
          <a:lstStyle/>
          <a:p>
            <a:pPr algn="ctr"/>
            <a:endParaRPr lang="zh-CN" altLang="en-US"/>
          </a:p>
        </p:txBody>
      </p:sp>
      <p:sp>
        <p:nvSpPr>
          <p:cNvPr id="3" name="TextBox 4">
            <a:extLst>
              <a:ext uri="{FF2B5EF4-FFF2-40B4-BE49-F238E27FC236}">
                <a16:creationId xmlns="" xmlns:a16="http://schemas.microsoft.com/office/drawing/2014/main" id="{5F7FC5D6-12C6-4838-8F59-CADA2CC0F644}"/>
              </a:ext>
            </a:extLst>
          </p:cNvPr>
          <p:cNvSpPr txBox="1"/>
          <p:nvPr userDrawn="1"/>
        </p:nvSpPr>
        <p:spPr>
          <a:xfrm>
            <a:off x="4366084" y="4835723"/>
            <a:ext cx="47854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4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《</a:t>
            </a:r>
            <a:r>
              <a:rPr lang="zh-CN" altLang="en-US" sz="14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数据科学导论</a:t>
            </a:r>
            <a:r>
              <a:rPr lang="en-US" altLang="zh-CN" sz="14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》</a:t>
            </a:r>
            <a:r>
              <a:rPr lang="zh-CN" altLang="en-US" sz="14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中国人民大学信息学院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="" xmlns:a16="http://schemas.microsoft.com/office/drawing/2014/main" id="{B9470B42-93C0-4049-B9CB-A8EBAAC7803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5054" y="0"/>
            <a:ext cx="1064467" cy="963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937429"/>
      </p:ext>
    </p:extLst>
  </p:cSld>
  <p:clrMapOvr>
    <a:masterClrMapping/>
  </p:clrMapOvr>
  <p:transition spd="slow">
    <p:cover dir="rd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43000" y="57150"/>
            <a:ext cx="8001000" cy="6858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7208954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43000" y="57150"/>
            <a:ext cx="8001000" cy="6858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106595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4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43000" y="57150"/>
            <a:ext cx="8001000" cy="6858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0727171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5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43000" y="57150"/>
            <a:ext cx="8001000" cy="6858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2595410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6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43000" y="57150"/>
            <a:ext cx="8001000" cy="6858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1750899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7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43000" y="57150"/>
            <a:ext cx="8001000" cy="6858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6548201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8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43000" y="57150"/>
            <a:ext cx="8001000" cy="6858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54476668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9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43000" y="57150"/>
            <a:ext cx="8001000" cy="6858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97495740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0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43000" y="57150"/>
            <a:ext cx="8001000" cy="6858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45291839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43000" y="57150"/>
            <a:ext cx="8001000" cy="6858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83604131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43000" y="57150"/>
            <a:ext cx="8001000" cy="6858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67252659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43000" y="57150"/>
            <a:ext cx="8001000" cy="6858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99527377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4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43000" y="57150"/>
            <a:ext cx="8001000" cy="6858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12783804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7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43000" y="57150"/>
            <a:ext cx="8001000" cy="6858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45340480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43000" y="57150"/>
            <a:ext cx="8001000" cy="6858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84459370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楷体" panose="02010609060101010101" pitchFamily="49" charset="-122"/>
                <a:ea typeface="楷体" panose="02010609060101010101" pitchFamily="49" charset="-122"/>
              </a:defRPr>
            </a:lvl1pPr>
          </a:lstStyle>
          <a:p>
            <a:fld id="{2F264DDB-364C-410E-A66B-B19CEFA5EF0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376555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73163" y="342900"/>
            <a:ext cx="7772400" cy="85725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1173163" y="1485900"/>
            <a:ext cx="7772400" cy="30861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1173163" y="4699397"/>
            <a:ext cx="1905000" cy="3429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7010400" y="4686300"/>
            <a:ext cx="1905000" cy="342900"/>
          </a:xfrm>
        </p:spPr>
        <p:txBody>
          <a:bodyPr/>
          <a:lstStyle>
            <a:lvl1pPr>
              <a:defRPr/>
            </a:lvl1pPr>
          </a:lstStyle>
          <a:p>
            <a:fld id="{29258CEF-A3D6-4AF8-9AFF-0A82E84999C5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823055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theme" Target="../theme/theme1.xml"/><Relationship Id="rId26" Type="http://schemas.openxmlformats.org/officeDocument/2006/relationships/image" Target="../media/image1.jpg"/><Relationship Id="rId27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6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1E9E4D-0BE1-4AAA-A57B-DA425863F4AF}" type="datetimeFigureOut">
              <a:rPr lang="zh-CN" altLang="en-US" smtClean="0"/>
              <a:t>2024/12/4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BEBC7A-FD02-486B-81B5-A845787C689C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="" xmlns:a16="http://schemas.microsoft.com/office/drawing/2014/main" id="{341F63DC-E866-4077-8215-C471E38E7305}"/>
              </a:ext>
            </a:extLst>
          </p:cNvPr>
          <p:cNvPicPr>
            <a:picLocks noChangeAspect="1"/>
          </p:cNvPicPr>
          <p:nvPr userDrawn="1"/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5054" y="0"/>
            <a:ext cx="1064467" cy="963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97878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4" r:id="rId5"/>
    <p:sldLayoutId id="2147483664" r:id="rId6"/>
    <p:sldLayoutId id="2147483669" r:id="rId7"/>
    <p:sldLayoutId id="2147483708" r:id="rId8"/>
    <p:sldLayoutId id="2147483710" r:id="rId9"/>
    <p:sldLayoutId id="2147483711" r:id="rId10"/>
    <p:sldLayoutId id="2147483712" r:id="rId11"/>
    <p:sldLayoutId id="2147483713" r:id="rId12"/>
    <p:sldLayoutId id="2147483714" r:id="rId13"/>
    <p:sldLayoutId id="2147483715" r:id="rId14"/>
    <p:sldLayoutId id="2147483716" r:id="rId15"/>
    <p:sldLayoutId id="2147483717" r:id="rId16"/>
    <p:sldLayoutId id="2147483718" r:id="rId17"/>
    <p:sldLayoutId id="2147483719" r:id="rId18"/>
    <p:sldLayoutId id="2147483720" r:id="rId19"/>
    <p:sldLayoutId id="2147483721" r:id="rId20"/>
    <p:sldLayoutId id="2147483724" r:id="rId21"/>
    <p:sldLayoutId id="2147483725" r:id="rId22"/>
    <p:sldLayoutId id="2147483726" r:id="rId23"/>
    <p:sldLayoutId id="2147483727" r:id="rId24"/>
  </p:sldLayoutIdLst>
  <p:transition spd="slow">
    <p:pull/>
  </p:transition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lnSpc>
          <a:spcPct val="100000"/>
        </a:lnSpc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lnSpc>
          <a:spcPct val="100000"/>
        </a:lnSpc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4" Type="http://schemas.openxmlformats.org/officeDocument/2006/relationships/image" Target="../media/image3.png"/><Relationship Id="rId5" Type="http://schemas.microsoft.com/office/2007/relationships/hdphoto" Target="../media/hdphoto1.wdp"/><Relationship Id="rId6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0.png"/><Relationship Id="rId3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4" Type="http://schemas.openxmlformats.org/officeDocument/2006/relationships/image" Target="../media/image17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4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3.jpe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0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4" Type="http://schemas.openxmlformats.org/officeDocument/2006/relationships/image" Target="../media/image17.emf"/><Relationship Id="rId5" Type="http://schemas.openxmlformats.org/officeDocument/2006/relationships/image" Target="../media/image24.png"/><Relationship Id="rId6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4" Type="http://schemas.openxmlformats.org/officeDocument/2006/relationships/image" Target="../media/image410.png"/><Relationship Id="rId5" Type="http://schemas.openxmlformats.org/officeDocument/2006/relationships/image" Target="../media/image26.png"/><Relationship Id="rId6" Type="http://schemas.openxmlformats.org/officeDocument/2006/relationships/image" Target="../media/image27.png"/><Relationship Id="rId7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0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0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0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image" Target="../media/image28.png"/><Relationship Id="rId7" Type="http://schemas.openxmlformats.org/officeDocument/2006/relationships/image" Target="../media/image470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80.png"/><Relationship Id="rId3" Type="http://schemas.openxmlformats.org/officeDocument/2006/relationships/image" Target="../media/image30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00.png"/><Relationship Id="rId3" Type="http://schemas.openxmlformats.org/officeDocument/2006/relationships/image" Target="../media/image3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4" Type="http://schemas.openxmlformats.org/officeDocument/2006/relationships/image" Target="../media/image520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4" Type="http://schemas.openxmlformats.org/officeDocument/2006/relationships/image" Target="../media/image580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70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90.png"/><Relationship Id="rId3" Type="http://schemas.openxmlformats.org/officeDocument/2006/relationships/image" Target="../media/image30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00.png"/><Relationship Id="rId3" Type="http://schemas.openxmlformats.org/officeDocument/2006/relationships/image" Target="../media/image36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4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7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1.png"/><Relationship Id="rId4" Type="http://schemas.openxmlformats.org/officeDocument/2006/relationships/image" Target="../media/image671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0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3.png"/><Relationship Id="rId3" Type="http://schemas.openxmlformats.org/officeDocument/2006/relationships/image" Target="../media/image44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5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4" Type="http://schemas.openxmlformats.org/officeDocument/2006/relationships/oleObject" Target="../embeddings/oleObject1.bin"/><Relationship Id="rId5" Type="http://schemas.openxmlformats.org/officeDocument/2006/relationships/image" Target="../media/image46.emf"/><Relationship Id="rId6" Type="http://schemas.openxmlformats.org/officeDocument/2006/relationships/image" Target="../media/image640.png"/><Relationship Id="rId1" Type="http://schemas.openxmlformats.org/officeDocument/2006/relationships/vmlDrawing" Target="../drawings/vmlDrawing1.vml"/><Relationship Id="rId2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4" Type="http://schemas.openxmlformats.org/officeDocument/2006/relationships/image" Target="../media/image660.png"/><Relationship Id="rId5" Type="http://schemas.openxmlformats.org/officeDocument/2006/relationships/oleObject" Target="../embeddings/oleObject2.bin"/><Relationship Id="rId6" Type="http://schemas.openxmlformats.org/officeDocument/2006/relationships/image" Target="../media/image47.emf"/><Relationship Id="rId7" Type="http://schemas.openxmlformats.org/officeDocument/2006/relationships/image" Target="../media/image670.png"/><Relationship Id="rId1" Type="http://schemas.openxmlformats.org/officeDocument/2006/relationships/vmlDrawing" Target="../drawings/vmlDrawing2.vml"/><Relationship Id="rId2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4" Type="http://schemas.openxmlformats.org/officeDocument/2006/relationships/image" Target="../media/image690.png"/><Relationship Id="rId5" Type="http://schemas.openxmlformats.org/officeDocument/2006/relationships/oleObject" Target="../embeddings/oleObject3.bin"/><Relationship Id="rId6" Type="http://schemas.openxmlformats.org/officeDocument/2006/relationships/image" Target="../media/image48.emf"/><Relationship Id="rId7" Type="http://schemas.openxmlformats.org/officeDocument/2006/relationships/image" Target="../media/image700.png"/><Relationship Id="rId1" Type="http://schemas.openxmlformats.org/officeDocument/2006/relationships/vmlDrawing" Target="../drawings/vmlDrawing3.vml"/><Relationship Id="rId2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4" Type="http://schemas.openxmlformats.org/officeDocument/2006/relationships/oleObject" Target="../embeddings/oleObject4.bin"/><Relationship Id="rId5" Type="http://schemas.openxmlformats.org/officeDocument/2006/relationships/image" Target="../media/image49.emf"/><Relationship Id="rId6" Type="http://schemas.openxmlformats.org/officeDocument/2006/relationships/image" Target="../media/image720.png"/><Relationship Id="rId1" Type="http://schemas.openxmlformats.org/officeDocument/2006/relationships/vmlDrawing" Target="../drawings/vmlDrawing4.vml"/><Relationship Id="rId2" Type="http://schemas.openxmlformats.org/officeDocument/2006/relationships/slideLayout" Target="../slideLayouts/slideLayout24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4" Type="http://schemas.openxmlformats.org/officeDocument/2006/relationships/oleObject" Target="../embeddings/oleObject5.bin"/><Relationship Id="rId5" Type="http://schemas.openxmlformats.org/officeDocument/2006/relationships/image" Target="../media/image50.emf"/><Relationship Id="rId1" Type="http://schemas.openxmlformats.org/officeDocument/2006/relationships/vmlDrawing" Target="../drawings/vmlDrawing5.vml"/><Relationship Id="rId2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1.png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3" Type="http://schemas.openxmlformats.org/officeDocument/2006/relationships/image" Target="../media/image17.emf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4" Type="http://schemas.openxmlformats.org/officeDocument/2006/relationships/hyperlink" Target="http://bionlp-www.utu.fi/wv_demo/" TargetMode="External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2.png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4.png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5.png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0.png"/><Relationship Id="rId4" Type="http://schemas.openxmlformats.org/officeDocument/2006/relationships/image" Target="../media/image880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60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4" Type="http://schemas.openxmlformats.org/officeDocument/2006/relationships/image" Target="../media/image91.png"/><Relationship Id="rId5" Type="http://schemas.openxmlformats.org/officeDocument/2006/relationships/image" Target="../media/image92.png"/><Relationship Id="rId6" Type="http://schemas.openxmlformats.org/officeDocument/2006/relationships/image" Target="../media/image93.png"/><Relationship Id="rId7" Type="http://schemas.openxmlformats.org/officeDocument/2006/relationships/image" Target="../media/image940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9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0.png"/><Relationship Id="rId4" Type="http://schemas.openxmlformats.org/officeDocument/2006/relationships/image" Target="../media/image900.png"/><Relationship Id="rId5" Type="http://schemas.openxmlformats.org/officeDocument/2006/relationships/image" Target="../media/image910.png"/><Relationship Id="rId6" Type="http://schemas.openxmlformats.org/officeDocument/2006/relationships/image" Target="../media/image951.png"/><Relationship Id="rId7" Type="http://schemas.openxmlformats.org/officeDocument/2006/relationships/image" Target="../media/image930.png"/><Relationship Id="rId8" Type="http://schemas.openxmlformats.org/officeDocument/2006/relationships/image" Target="../media/image961.png"/><Relationship Id="rId9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0.png"/><Relationship Id="rId4" Type="http://schemas.openxmlformats.org/officeDocument/2006/relationships/image" Target="../media/image970.png"/><Relationship Id="rId5" Type="http://schemas.openxmlformats.org/officeDocument/2006/relationships/image" Target="../media/image980.png"/><Relationship Id="rId6" Type="http://schemas.openxmlformats.org/officeDocument/2006/relationships/image" Target="../media/image990.png"/><Relationship Id="rId7" Type="http://schemas.openxmlformats.org/officeDocument/2006/relationships/image" Target="../media/image100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50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4" Type="http://schemas.openxmlformats.org/officeDocument/2006/relationships/image" Target="../media/image102.png"/><Relationship Id="rId5" Type="http://schemas.openxmlformats.org/officeDocument/2006/relationships/image" Target="../media/image103.png"/><Relationship Id="rId6" Type="http://schemas.openxmlformats.org/officeDocument/2006/relationships/image" Target="../media/image104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7.tiff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tiff"/><Relationship Id="rId4" Type="http://schemas.openxmlformats.org/officeDocument/2006/relationships/image" Target="../media/image107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5.png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9.png"/><Relationship Id="rId3" Type="http://schemas.openxmlformats.org/officeDocument/2006/relationships/image" Target="../media/image60.png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1.png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2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4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2059145"/>
            <a:ext cx="9144000" cy="854123"/>
          </a:xfrm>
          <a:prstGeom prst="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3" tIns="45706" rIns="91413" bIns="45706" rtlCol="0" anchor="ctr"/>
          <a:lstStyle/>
          <a:p>
            <a:pPr algn="ctr"/>
            <a:endParaRPr lang="zh-CN" altLang="en-US"/>
          </a:p>
        </p:txBody>
      </p:sp>
      <p:pic>
        <p:nvPicPr>
          <p:cNvPr id="103" name="Picture 2" descr="C:\Users\Administrator\Desktop\微立体创业计划\001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5941" y="158700"/>
            <a:ext cx="1967244" cy="1966978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" name="Picture 3" descr="C:\Users\Administrator\Desktop\微立体创业计划\002.pn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91057" y="27073"/>
            <a:ext cx="2230535" cy="2230233"/>
          </a:xfrm>
          <a:prstGeom prst="rect">
            <a:avLst/>
          </a:prstGeom>
          <a:noFill/>
          <a:effectLst>
            <a:outerShdw blurRad="292100" dist="177800" dir="2460000" sx="99000" sy="99000" algn="l" rotWithShape="0">
              <a:prstClr val="black">
                <a:alpha val="39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圆角矩形 22"/>
          <p:cNvSpPr/>
          <p:nvPr/>
        </p:nvSpPr>
        <p:spPr>
          <a:xfrm>
            <a:off x="2612468" y="3309841"/>
            <a:ext cx="3919063" cy="409134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3" tIns="45706" rIns="91413" bIns="45706" rtlCol="0" anchor="ctr"/>
          <a:lstStyle/>
          <a:p>
            <a:pPr algn="ctr"/>
            <a:r>
              <a:rPr lang="zh-CN" altLang="mr-IN" dirty="0"/>
              <a:t>范</a:t>
            </a:r>
            <a:r>
              <a:rPr lang="zh-CN" altLang="mr-IN" dirty="0" smtClean="0"/>
              <a:t>举</a:t>
            </a:r>
            <a:r>
              <a:rPr lang="zh-CN" altLang="en-US" dirty="0" smtClean="0"/>
              <a:t> </a:t>
            </a:r>
            <a:r>
              <a:rPr lang="zh-CN" altLang="mr-IN" dirty="0" smtClean="0"/>
              <a:t>教授         </a:t>
            </a:r>
            <a:r>
              <a:rPr lang="mr-IN" altLang="zh-CN" dirty="0" err="1"/>
              <a:t>fanj@ruc.edu.cn</a:t>
            </a:r>
            <a:endParaRPr lang="mr-IN" altLang="zh-CN" dirty="0"/>
          </a:p>
        </p:txBody>
      </p:sp>
      <p:grpSp>
        <p:nvGrpSpPr>
          <p:cNvPr id="25" name="Group 91"/>
          <p:cNvGrpSpPr>
            <a:grpSpLocks/>
          </p:cNvGrpSpPr>
          <p:nvPr/>
        </p:nvGrpSpPr>
        <p:grpSpPr bwMode="auto">
          <a:xfrm>
            <a:off x="1822357" y="3309841"/>
            <a:ext cx="390552" cy="616758"/>
            <a:chOff x="936" y="1480"/>
            <a:chExt cx="1589" cy="2510"/>
          </a:xfrm>
        </p:grpSpPr>
        <p:grpSp>
          <p:nvGrpSpPr>
            <p:cNvPr id="26" name="组合 33"/>
            <p:cNvGrpSpPr>
              <a:grpSpLocks/>
            </p:cNvGrpSpPr>
            <p:nvPr/>
          </p:nvGrpSpPr>
          <p:grpSpPr bwMode="auto">
            <a:xfrm>
              <a:off x="985" y="1583"/>
              <a:ext cx="1441" cy="2407"/>
              <a:chOff x="1754168" y="3653262"/>
              <a:chExt cx="1857599" cy="3107815"/>
            </a:xfrm>
          </p:grpSpPr>
          <p:sp>
            <p:nvSpPr>
              <p:cNvPr id="31" name="椭圆 30"/>
              <p:cNvSpPr/>
              <p:nvPr/>
            </p:nvSpPr>
            <p:spPr>
              <a:xfrm>
                <a:off x="1754168" y="3653262"/>
                <a:ext cx="1857599" cy="1857597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  <a:effectLst>
                <a:innerShdw blurRad="88900" dist="635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/>
              <a:p>
                <a:pPr algn="ctr">
                  <a:defRPr/>
                </a:pPr>
                <a:endParaRPr lang="zh-CN" altLang="en-US" sz="3000" dirty="0">
                  <a:latin typeface="+mj-lt"/>
                  <a:ea typeface="方正超粗黑简体" panose="03000509000000000000" pitchFamily="65" charset="-122"/>
                </a:endParaRPr>
              </a:p>
            </p:txBody>
          </p:sp>
          <p:sp>
            <p:nvSpPr>
              <p:cNvPr id="32" name="椭圆 31"/>
              <p:cNvSpPr/>
              <p:nvPr/>
            </p:nvSpPr>
            <p:spPr>
              <a:xfrm>
                <a:off x="1911556" y="3810650"/>
                <a:ext cx="1542822" cy="1542820"/>
              </a:xfrm>
              <a:prstGeom prst="ellipse">
                <a:avLst/>
              </a:prstGeom>
              <a:solidFill>
                <a:srgbClr val="C20100"/>
              </a:solidFill>
              <a:ln w="28575">
                <a:gradFill flip="none" rotWithShape="1">
                  <a:gsLst>
                    <a:gs pos="100000">
                      <a:srgbClr val="FFFFFF"/>
                    </a:gs>
                    <a:gs pos="0">
                      <a:srgbClr val="CECED0"/>
                    </a:gs>
                  </a:gsLst>
                  <a:lin ang="13500000" scaled="1"/>
                  <a:tileRect/>
                </a:gradFill>
              </a:ln>
              <a:effectLst>
                <a:outerShdw blurRad="190500" dist="88900" dir="2700000" algn="tl" rotWithShape="0">
                  <a:prstClr val="black">
                    <a:alpha val="3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33" name="椭圆 32"/>
              <p:cNvSpPr/>
              <p:nvPr/>
            </p:nvSpPr>
            <p:spPr>
              <a:xfrm>
                <a:off x="1890879" y="3789973"/>
                <a:ext cx="1584176" cy="1584174"/>
              </a:xfrm>
              <a:prstGeom prst="ellipse">
                <a:avLst/>
              </a:prstGeom>
              <a:solidFill>
                <a:srgbClr val="1A3F6C"/>
              </a:solidFill>
              <a:ln>
                <a:noFill/>
              </a:ln>
              <a:effectLst>
                <a:innerShdw blurRad="88900" dist="635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/>
              <a:p>
                <a:pPr algn="ctr">
                  <a:defRPr/>
                </a:pPr>
                <a:endParaRPr lang="zh-CN" altLang="en-US" sz="3000" dirty="0">
                  <a:solidFill>
                    <a:srgbClr val="0087CF"/>
                  </a:solidFill>
                  <a:latin typeface="+mj-lt"/>
                  <a:ea typeface="方正超粗黑简体" panose="03000509000000000000" pitchFamily="65" charset="-122"/>
                </a:endParaRPr>
              </a:p>
            </p:txBody>
          </p:sp>
          <p:sp>
            <p:nvSpPr>
              <p:cNvPr id="34" name="矩形 33"/>
              <p:cNvSpPr/>
              <p:nvPr/>
            </p:nvSpPr>
            <p:spPr>
              <a:xfrm>
                <a:off x="2196990" y="4093185"/>
                <a:ext cx="968886" cy="266789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algn="ctr"/>
                <a:endParaRPr lang="zh-CN" altLang="zh-CN" sz="2700" b="1">
                  <a:solidFill>
                    <a:srgbClr val="CA0098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  <p:grpSp>
          <p:nvGrpSpPr>
            <p:cNvPr id="27" name="组合 4"/>
            <p:cNvGrpSpPr>
              <a:grpSpLocks/>
            </p:cNvGrpSpPr>
            <p:nvPr/>
          </p:nvGrpSpPr>
          <p:grpSpPr bwMode="auto">
            <a:xfrm>
              <a:off x="936" y="1480"/>
              <a:ext cx="1589" cy="1588"/>
              <a:chOff x="3733576" y="3930057"/>
              <a:chExt cx="1801556" cy="1800152"/>
            </a:xfrm>
          </p:grpSpPr>
          <p:sp>
            <p:nvSpPr>
              <p:cNvPr id="28" name="椭圆 27"/>
              <p:cNvSpPr/>
              <p:nvPr/>
            </p:nvSpPr>
            <p:spPr>
              <a:xfrm>
                <a:off x="4003576" y="4200057"/>
                <a:ext cx="1260000" cy="1260000"/>
              </a:xfrm>
              <a:prstGeom prst="ellipse">
                <a:avLst/>
              </a:prstGeom>
              <a:noFill/>
              <a:ln>
                <a:gradFill flip="none" rotWithShape="1">
                  <a:gsLst>
                    <a:gs pos="100000">
                      <a:schemeClr val="bg1"/>
                    </a:gs>
                    <a:gs pos="0">
                      <a:schemeClr val="bg1">
                        <a:lumMod val="75000"/>
                      </a:schemeClr>
                    </a:gs>
                  </a:gsLst>
                  <a:lin ang="2700000" scaled="1"/>
                  <a:tileRect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29" name="任意多边形 6"/>
              <p:cNvSpPr/>
              <p:nvPr/>
            </p:nvSpPr>
            <p:spPr>
              <a:xfrm>
                <a:off x="3734710" y="3930057"/>
                <a:ext cx="1800422" cy="1800152"/>
              </a:xfrm>
              <a:custGeom>
                <a:avLst/>
                <a:gdLst>
                  <a:gd name="connsiteX0" fmla="*/ 900000 w 1800000"/>
                  <a:gd name="connsiteY0" fmla="*/ 0 h 1800000"/>
                  <a:gd name="connsiteX1" fmla="*/ 1800000 w 1800000"/>
                  <a:gd name="connsiteY1" fmla="*/ 900000 h 1800000"/>
                  <a:gd name="connsiteX2" fmla="*/ 900000 w 1800000"/>
                  <a:gd name="connsiteY2" fmla="*/ 1800000 h 1800000"/>
                  <a:gd name="connsiteX3" fmla="*/ 0 w 1800000"/>
                  <a:gd name="connsiteY3" fmla="*/ 900000 h 1800000"/>
                  <a:gd name="connsiteX4" fmla="*/ 900000 w 1800000"/>
                  <a:gd name="connsiteY4" fmla="*/ 0 h 1800000"/>
                  <a:gd name="connsiteX5" fmla="*/ 900000 w 1800000"/>
                  <a:gd name="connsiteY5" fmla="*/ 270000 h 1800000"/>
                  <a:gd name="connsiteX6" fmla="*/ 270000 w 1800000"/>
                  <a:gd name="connsiteY6" fmla="*/ 900000 h 1800000"/>
                  <a:gd name="connsiteX7" fmla="*/ 900000 w 1800000"/>
                  <a:gd name="connsiteY7" fmla="*/ 1530000 h 1800000"/>
                  <a:gd name="connsiteX8" fmla="*/ 1530000 w 1800000"/>
                  <a:gd name="connsiteY8" fmla="*/ 900000 h 1800000"/>
                  <a:gd name="connsiteX9" fmla="*/ 900000 w 1800000"/>
                  <a:gd name="connsiteY9" fmla="*/ 270000 h 180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800000" h="1800000">
                    <a:moveTo>
                      <a:pt x="900000" y="0"/>
                    </a:moveTo>
                    <a:cubicBezTo>
                      <a:pt x="1397056" y="0"/>
                      <a:pt x="1800000" y="402944"/>
                      <a:pt x="1800000" y="900000"/>
                    </a:cubicBezTo>
                    <a:cubicBezTo>
                      <a:pt x="1800000" y="1397056"/>
                      <a:pt x="1397056" y="1800000"/>
                      <a:pt x="900000" y="1800000"/>
                    </a:cubicBezTo>
                    <a:cubicBezTo>
                      <a:pt x="402944" y="1800000"/>
                      <a:pt x="0" y="1397056"/>
                      <a:pt x="0" y="900000"/>
                    </a:cubicBezTo>
                    <a:cubicBezTo>
                      <a:pt x="0" y="402944"/>
                      <a:pt x="402944" y="0"/>
                      <a:pt x="900000" y="0"/>
                    </a:cubicBezTo>
                    <a:close/>
                    <a:moveTo>
                      <a:pt x="900000" y="270000"/>
                    </a:moveTo>
                    <a:cubicBezTo>
                      <a:pt x="552061" y="270000"/>
                      <a:pt x="270000" y="552061"/>
                      <a:pt x="270000" y="900000"/>
                    </a:cubicBezTo>
                    <a:cubicBezTo>
                      <a:pt x="270000" y="1247939"/>
                      <a:pt x="552061" y="1530000"/>
                      <a:pt x="900000" y="1530000"/>
                    </a:cubicBezTo>
                    <a:cubicBezTo>
                      <a:pt x="1247939" y="1530000"/>
                      <a:pt x="1530000" y="1247939"/>
                      <a:pt x="1530000" y="900000"/>
                    </a:cubicBezTo>
                    <a:cubicBezTo>
                      <a:pt x="1530000" y="552061"/>
                      <a:pt x="1247939" y="270000"/>
                      <a:pt x="900000" y="270000"/>
                    </a:cubicBezTo>
                    <a:close/>
                  </a:path>
                </a:pathLst>
              </a:custGeom>
              <a:gradFill>
                <a:gsLst>
                  <a:gs pos="0">
                    <a:srgbClr val="F0F0F0"/>
                  </a:gs>
                  <a:gs pos="100000">
                    <a:srgbClr val="DBDBDB"/>
                  </a:gs>
                </a:gsLst>
                <a:lin ang="2700000" scaled="1"/>
              </a:gradFill>
              <a:ln>
                <a:noFill/>
              </a:ln>
              <a:effectLst>
                <a:outerShdw blurRad="88900" dist="635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30" name="椭圆 7"/>
              <p:cNvSpPr/>
              <p:nvPr/>
            </p:nvSpPr>
            <p:spPr>
              <a:xfrm>
                <a:off x="3733576" y="3930057"/>
                <a:ext cx="1800000" cy="1800000"/>
              </a:xfrm>
              <a:prstGeom prst="ellipse">
                <a:avLst/>
              </a:prstGeom>
              <a:noFill/>
              <a:ln>
                <a:gradFill flip="none" rotWithShape="1">
                  <a:gsLst>
                    <a:gs pos="0">
                      <a:schemeClr val="bg1"/>
                    </a:gs>
                    <a:gs pos="100000">
                      <a:schemeClr val="bg1">
                        <a:lumMod val="75000"/>
                      </a:schemeClr>
                    </a:gs>
                  </a:gsLst>
                  <a:lin ang="2700000" scaled="1"/>
                  <a:tileRect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>
                  <a:solidFill>
                    <a:prstClr val="white"/>
                  </a:solidFill>
                </a:endParaRPr>
              </a:p>
            </p:txBody>
          </p:sp>
        </p:grpSp>
      </p:grpSp>
      <p:sp>
        <p:nvSpPr>
          <p:cNvPr id="2" name="TextBox 1"/>
          <p:cNvSpPr txBox="1"/>
          <p:nvPr/>
        </p:nvSpPr>
        <p:spPr>
          <a:xfrm>
            <a:off x="122153" y="2169137"/>
            <a:ext cx="8945065" cy="584747"/>
          </a:xfrm>
          <a:prstGeom prst="rect">
            <a:avLst/>
          </a:prstGeom>
          <a:noFill/>
        </p:spPr>
        <p:txBody>
          <a:bodyPr wrap="square" lIns="91413" tIns="45706" rIns="91413" bIns="45706" rtlCol="0">
            <a:spAutoFit/>
          </a:bodyPr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数据科学导论</a:t>
            </a:r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》——</a:t>
            </a: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32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文本表示学习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77344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3DAC97D6-A7DB-3B45-81D4-B6CDDD0614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独热表达的不足（</a:t>
            </a:r>
            <a:r>
              <a:rPr kumimoji="1" lang="en-US" altLang="zh-CN" dirty="0"/>
              <a:t>1</a:t>
            </a:r>
            <a:r>
              <a:rPr kumimoji="1" lang="zh-CN" altLang="en-US" dirty="0"/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="" xmlns:a16="http://schemas.microsoft.com/office/drawing/2014/main" id="{6CD3BA5A-E4C1-734D-B73E-CC7D3271C7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从表达语义的角度看，高维、稀疏的独热表达还有巨大改进空间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每一个单词对应一个坐标轴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任意两个坐标轴垂直 </a:t>
            </a:r>
            <a:r>
              <a:rPr kumimoji="1" lang="en-US" altLang="zh-CN" dirty="0">
                <a:sym typeface="Wingdings" pitchFamily="2" charset="2"/>
              </a:rPr>
              <a:t></a:t>
            </a:r>
            <a:r>
              <a:rPr kumimoji="1" lang="zh-CN" altLang="en-US" dirty="0">
                <a:sym typeface="Wingdings" pitchFamily="2" charset="2"/>
              </a:rPr>
              <a:t>  任意不同的单词语义无关</a:t>
            </a:r>
            <a:endParaRPr kumimoji="1" lang="en-US" altLang="zh-CN" dirty="0">
              <a:sym typeface="Wingdings" pitchFamily="2" charset="2"/>
            </a:endParaRPr>
          </a:p>
          <a:p>
            <a:pPr lvl="1"/>
            <a:endParaRPr kumimoji="1" lang="en-US" altLang="zh-CN" dirty="0">
              <a:sym typeface="Wingdings" pitchFamily="2" charset="2"/>
            </a:endParaRPr>
          </a:p>
          <a:p>
            <a:pPr lvl="1"/>
            <a:endParaRPr kumimoji="1" lang="en-US" altLang="zh-CN" dirty="0">
              <a:sym typeface="Wingdings" pitchFamily="2" charset="2"/>
            </a:endParaRPr>
          </a:p>
          <a:p>
            <a:pPr lvl="1"/>
            <a:endParaRPr kumimoji="1" lang="en-US" altLang="zh-CN" dirty="0">
              <a:sym typeface="Wingdings" pitchFamily="2" charset="2"/>
            </a:endParaRPr>
          </a:p>
          <a:p>
            <a:pPr lvl="1"/>
            <a:endParaRPr kumimoji="1" lang="en-US" altLang="zh-CN" dirty="0">
              <a:sym typeface="Wingdings" pitchFamily="2" charset="2"/>
            </a:endParaRPr>
          </a:p>
          <a:p>
            <a:pPr lvl="1"/>
            <a:endParaRPr kumimoji="1" lang="en-US" altLang="zh-CN" dirty="0">
              <a:sym typeface="Wingdings" pitchFamily="2" charset="2"/>
            </a:endParaRPr>
          </a:p>
          <a:p>
            <a:pPr lvl="1"/>
            <a:endParaRPr kumimoji="1" lang="en-US" altLang="zh-CN" dirty="0"/>
          </a:p>
          <a:p>
            <a:pPr lvl="1"/>
            <a:r>
              <a:rPr kumimoji="1" lang="zh-CN" altLang="en-US" dirty="0"/>
              <a:t>但是：自然语言中存在大量的近义词、同义词、反义词等</a:t>
            </a:r>
            <a:endParaRPr kumimoji="1" lang="en-US" altLang="zh-CN" dirty="0"/>
          </a:p>
          <a:p>
            <a:pPr lvl="1"/>
            <a:endParaRPr kumimoji="1" lang="en-US" altLang="zh-CN" dirty="0"/>
          </a:p>
        </p:txBody>
      </p:sp>
      <p:pic>
        <p:nvPicPr>
          <p:cNvPr id="4" name="图片 3">
            <a:extLst>
              <a:ext uri="{FF2B5EF4-FFF2-40B4-BE49-F238E27FC236}">
                <a16:creationId xmlns="" xmlns:a16="http://schemas.microsoft.com/office/drawing/2014/main" id="{6ADC5EB8-98A7-1E46-BF5F-64BAD7E84E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140" y="2183518"/>
            <a:ext cx="8519720" cy="1469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47696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F38E0B69-FEB8-FB4B-9921-7E6D3F893C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独热表达的不足（</a:t>
            </a:r>
            <a:r>
              <a:rPr kumimoji="1" lang="en-US" altLang="zh-CN" dirty="0"/>
              <a:t>2</a:t>
            </a:r>
            <a:r>
              <a:rPr kumimoji="1" lang="zh-CN" altLang="en-US" dirty="0"/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="" xmlns:a16="http://schemas.microsoft.com/office/drawing/2014/main" id="{6810E090-7B7C-7045-8B14-E54C5954B5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19150"/>
            <a:ext cx="7689273" cy="3937000"/>
          </a:xfrm>
        </p:spPr>
        <p:txBody>
          <a:bodyPr/>
          <a:lstStyle/>
          <a:p>
            <a:r>
              <a:rPr kumimoji="1" lang="zh-CN" altLang="en-US" dirty="0">
                <a:sym typeface="Wingdings" pitchFamily="2" charset="2"/>
              </a:rPr>
              <a:t>语义“可泛化性”</a:t>
            </a:r>
            <a:endParaRPr kumimoji="1" lang="en-US" altLang="zh-CN" dirty="0">
              <a:sym typeface="Wingdings" pitchFamily="2" charset="2"/>
            </a:endParaRPr>
          </a:p>
          <a:p>
            <a:endParaRPr kumimoji="1" lang="en-US" altLang="zh-CN" dirty="0">
              <a:sym typeface="Wingdings" pitchFamily="2" charset="2"/>
            </a:endParaRPr>
          </a:p>
          <a:p>
            <a:endParaRPr kumimoji="1" lang="en-US" altLang="zh-CN" dirty="0">
              <a:sym typeface="Wingdings" pitchFamily="2" charset="2"/>
            </a:endParaRPr>
          </a:p>
          <a:p>
            <a:endParaRPr kumimoji="1" lang="en-US" altLang="zh-CN" dirty="0">
              <a:sym typeface="Wingdings" pitchFamily="2" charset="2"/>
            </a:endParaRPr>
          </a:p>
          <a:p>
            <a:endParaRPr kumimoji="1" lang="en-US" altLang="zh-CN" dirty="0">
              <a:sym typeface="Wingdings" pitchFamily="2" charset="2"/>
            </a:endParaRPr>
          </a:p>
          <a:p>
            <a:endParaRPr kumimoji="1" lang="en-US" altLang="zh-CN" dirty="0">
              <a:sym typeface="Wingdings" pitchFamily="2" charset="2"/>
            </a:endParaRPr>
          </a:p>
          <a:p>
            <a:endParaRPr kumimoji="1" lang="en-US" altLang="zh-CN" dirty="0">
              <a:sym typeface="Wingdings" pitchFamily="2" charset="2"/>
            </a:endParaRPr>
          </a:p>
          <a:p>
            <a:r>
              <a:rPr kumimoji="1" lang="zh-CN" altLang="en-US" dirty="0">
                <a:sym typeface="Wingdings" pitchFamily="2" charset="2"/>
              </a:rPr>
              <a:t>虽然训练文本中没有出现过词组“</a:t>
            </a:r>
            <a:r>
              <a:rPr kumimoji="1" lang="en-US" altLang="zh-CN" dirty="0">
                <a:solidFill>
                  <a:srgbClr val="C00000"/>
                </a:solidFill>
                <a:sym typeface="Wingdings" pitchFamily="2" charset="2"/>
              </a:rPr>
              <a:t>three</a:t>
            </a:r>
            <a:r>
              <a:rPr kumimoji="1" lang="zh-CN" altLang="en-US" dirty="0">
                <a:solidFill>
                  <a:srgbClr val="C00000"/>
                </a:solidFill>
                <a:sym typeface="Wingdings" pitchFamily="2" charset="2"/>
              </a:rPr>
              <a:t> </a:t>
            </a:r>
            <a:r>
              <a:rPr kumimoji="1" lang="en-US" altLang="zh-CN" dirty="0">
                <a:solidFill>
                  <a:srgbClr val="C00000"/>
                </a:solidFill>
                <a:sym typeface="Wingdings" pitchFamily="2" charset="2"/>
              </a:rPr>
              <a:t>groups</a:t>
            </a:r>
            <a:r>
              <a:rPr kumimoji="1" lang="zh-CN" altLang="en-US" dirty="0">
                <a:sym typeface="Wingdings" pitchFamily="2" charset="2"/>
              </a:rPr>
              <a:t>”</a:t>
            </a:r>
            <a:r>
              <a:rPr kumimoji="1" lang="en-US" altLang="zh-CN" dirty="0">
                <a:sym typeface="Wingdings" pitchFamily="2" charset="2"/>
              </a:rPr>
              <a:t>,</a:t>
            </a:r>
            <a:r>
              <a:rPr kumimoji="1" lang="zh-CN" altLang="en-US" dirty="0">
                <a:sym typeface="Wingdings" pitchFamily="2" charset="2"/>
              </a:rPr>
              <a:t>但是人可以中意识到“</a:t>
            </a:r>
            <a:r>
              <a:rPr kumimoji="1" lang="en-US" altLang="zh-CN" dirty="0">
                <a:solidFill>
                  <a:srgbClr val="C00000"/>
                </a:solidFill>
                <a:sym typeface="Wingdings" pitchFamily="2" charset="2"/>
              </a:rPr>
              <a:t>three</a:t>
            </a:r>
            <a:r>
              <a:rPr kumimoji="1" lang="zh-CN" altLang="en-US" dirty="0">
                <a:solidFill>
                  <a:srgbClr val="C00000"/>
                </a:solidFill>
                <a:sym typeface="Wingdings" pitchFamily="2" charset="2"/>
              </a:rPr>
              <a:t> </a:t>
            </a:r>
            <a:r>
              <a:rPr kumimoji="1" lang="en-US" altLang="zh-CN" dirty="0">
                <a:solidFill>
                  <a:srgbClr val="C00000"/>
                </a:solidFill>
                <a:sym typeface="Wingdings" pitchFamily="2" charset="2"/>
              </a:rPr>
              <a:t>groups</a:t>
            </a:r>
            <a:r>
              <a:rPr kumimoji="1" lang="zh-CN" altLang="en-US" dirty="0">
                <a:sym typeface="Wingdings" pitchFamily="2" charset="2"/>
              </a:rPr>
              <a:t>”有很大概率是一个正确的表达，即 </a:t>
            </a:r>
            <a:r>
              <a:rPr kumimoji="1" lang="en-US" altLang="zh-CN" dirty="0">
                <a:sym typeface="Wingdings" pitchFamily="2" charset="2"/>
              </a:rPr>
              <a:t>P(</a:t>
            </a:r>
            <a:r>
              <a:rPr kumimoji="1" lang="en-US" altLang="zh-CN" dirty="0" err="1">
                <a:sym typeface="Wingdings" pitchFamily="2" charset="2"/>
              </a:rPr>
              <a:t>groups|three</a:t>
            </a:r>
            <a:r>
              <a:rPr kumimoji="1" lang="en-US" altLang="zh-CN" dirty="0">
                <a:sym typeface="Wingdings" pitchFamily="2" charset="2"/>
              </a:rPr>
              <a:t>)&gt;0</a:t>
            </a:r>
          </a:p>
          <a:p>
            <a:r>
              <a:rPr kumimoji="1" lang="zh-CN" altLang="en-US" dirty="0">
                <a:sym typeface="Wingdings" pitchFamily="2" charset="2"/>
              </a:rPr>
              <a:t>独热表达没有泛化能力，很容易导出 </a:t>
            </a:r>
            <a:r>
              <a:rPr kumimoji="1" lang="en-US" altLang="zh-CN" dirty="0">
                <a:sym typeface="Wingdings" pitchFamily="2" charset="2"/>
              </a:rPr>
              <a:t>P(groups</a:t>
            </a:r>
            <a:r>
              <a:rPr kumimoji="1" lang="zh-CN" altLang="en-US" dirty="0">
                <a:sym typeface="Wingdings" pitchFamily="2" charset="2"/>
              </a:rPr>
              <a:t> </a:t>
            </a:r>
            <a:r>
              <a:rPr kumimoji="1" lang="en-US" altLang="zh-CN" dirty="0">
                <a:sym typeface="Wingdings" pitchFamily="2" charset="2"/>
              </a:rPr>
              <a:t>|</a:t>
            </a:r>
            <a:r>
              <a:rPr kumimoji="1" lang="zh-CN" altLang="en-US" dirty="0">
                <a:sym typeface="Wingdings" pitchFamily="2" charset="2"/>
              </a:rPr>
              <a:t> </a:t>
            </a:r>
            <a:r>
              <a:rPr kumimoji="1" lang="en-US" altLang="zh-CN" dirty="0">
                <a:sym typeface="Wingdings" pitchFamily="2" charset="2"/>
              </a:rPr>
              <a:t>three)</a:t>
            </a:r>
            <a:r>
              <a:rPr kumimoji="1" lang="zh-CN" altLang="en-US" dirty="0">
                <a:sym typeface="Wingdings" pitchFamily="2" charset="2"/>
              </a:rPr>
              <a:t> </a:t>
            </a:r>
            <a:r>
              <a:rPr kumimoji="1" lang="en-US" altLang="zh-CN" dirty="0">
                <a:sym typeface="Wingdings" pitchFamily="2" charset="2"/>
              </a:rPr>
              <a:t>=</a:t>
            </a:r>
            <a:r>
              <a:rPr kumimoji="1" lang="zh-CN" altLang="en-US" dirty="0">
                <a:sym typeface="Wingdings" pitchFamily="2" charset="2"/>
              </a:rPr>
              <a:t> </a:t>
            </a:r>
            <a:r>
              <a:rPr kumimoji="1" lang="en-US" altLang="zh-CN" dirty="0">
                <a:sym typeface="Wingdings" pitchFamily="2" charset="2"/>
              </a:rPr>
              <a:t>0</a:t>
            </a:r>
          </a:p>
          <a:p>
            <a:endParaRPr kumimoji="1"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="" xmlns:a16="http://schemas.microsoft.com/office/drawing/2014/main" id="{57438D4B-945F-5044-A394-9E5DFA3882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7305" y="1276538"/>
            <a:ext cx="4709061" cy="1869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37172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75E8B26D-76E7-0A4D-BB18-1E080BB617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单词的分布式表达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="" xmlns:a16="http://schemas.microsoft.com/office/drawing/2014/main" id="{389D6436-6E1D-794A-9D29-E76DA26234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将单词（本文）表达为</a:t>
            </a:r>
            <a:r>
              <a:rPr kumimoji="1" lang="zh-CN" altLang="en-US" dirty="0">
                <a:solidFill>
                  <a:srgbClr val="C00000"/>
                </a:solidFill>
              </a:rPr>
              <a:t>低维、稠密</a:t>
            </a:r>
            <a:r>
              <a:rPr kumimoji="1" lang="zh-CN" altLang="en-US" dirty="0"/>
              <a:t>的向量</a:t>
            </a:r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每一个维度不再具有显式的意义</a:t>
            </a:r>
            <a:endParaRPr kumimoji="1" lang="en-US" altLang="zh-CN" dirty="0"/>
          </a:p>
          <a:p>
            <a:r>
              <a:rPr kumimoji="1" lang="zh-CN" altLang="en-US" dirty="0"/>
              <a:t>单词表达为隐空间</a:t>
            </a:r>
            <a:r>
              <a:rPr kumimoji="1" lang="en-US" altLang="zh-CN" dirty="0"/>
              <a:t>(latent</a:t>
            </a:r>
            <a:r>
              <a:rPr kumimoji="1" lang="zh-CN" altLang="en-US" dirty="0"/>
              <a:t> </a:t>
            </a:r>
            <a:r>
              <a:rPr kumimoji="1" lang="en-US" altLang="zh-CN" dirty="0"/>
              <a:t>space)</a:t>
            </a:r>
            <a:r>
              <a:rPr kumimoji="1" lang="zh-CN" altLang="en-US" dirty="0"/>
              <a:t>中的一个向量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="" xmlns:a16="http://schemas.microsoft.com/office/drawing/2014/main" id="{EF525F14-CA51-A745-9046-09F69FAC64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6761" y="1416518"/>
            <a:ext cx="6050478" cy="2041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03889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0B17128F-3FBD-5044-9D13-06F5297C2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分布式表达的优势（</a:t>
            </a:r>
            <a:r>
              <a:rPr kumimoji="1" lang="en-US" altLang="zh-CN" dirty="0"/>
              <a:t>1</a:t>
            </a:r>
            <a:r>
              <a:rPr kumimoji="1" lang="zh-CN" altLang="en-US" dirty="0"/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="" xmlns:a16="http://schemas.microsoft.com/office/drawing/2014/main" id="{3EB4C7AF-70EA-E64C-A8A8-50413F87AD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降低表达维度，更少的参数和存储空间</a:t>
            </a:r>
            <a:endParaRPr kumimoji="1" lang="en-US" altLang="zh-CN" dirty="0"/>
          </a:p>
          <a:p>
            <a:r>
              <a:rPr kumimoji="1" lang="zh-CN" altLang="en-US" dirty="0"/>
              <a:t>能够承载语义信息和运算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="" xmlns:a16="http://schemas.microsoft.com/office/drawing/2014/main" id="{A280F8B5-F4A7-8E48-B375-53C2D400E1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2382" y="1713385"/>
            <a:ext cx="5859236" cy="2893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25365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A4E6EBD2-E4E7-5F4A-8DD3-64811847CE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基于分布式表达的相似单词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="" xmlns:a16="http://schemas.microsoft.com/office/drawing/2014/main" id="{764F6845-0337-1446-B436-16D44AE904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78306"/>
            <a:ext cx="9144000" cy="3186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61643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0B17128F-3FBD-5044-9D13-06F5297C2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分布式表达的优势（</a:t>
            </a:r>
            <a:r>
              <a:rPr kumimoji="1" lang="en-US" altLang="zh-CN" dirty="0"/>
              <a:t>2</a:t>
            </a:r>
            <a:r>
              <a:rPr kumimoji="1" lang="zh-CN" altLang="en-US" dirty="0"/>
              <a:t>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="" xmlns:a16="http://schemas.microsoft.com/office/drawing/2014/main" id="{3EB4C7AF-70EA-E64C-A8A8-50413F87AD2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kumimoji="1" lang="zh-CN" altLang="en-US" dirty="0"/>
                  <a:t>具有</a:t>
                </a:r>
                <a:r>
                  <a:rPr kumimoji="1" lang="zh-CN" altLang="en-US" dirty="0">
                    <a:sym typeface="Wingdings" pitchFamily="2" charset="2"/>
                  </a:rPr>
                  <a:t>“语义可泛化性”</a:t>
                </a:r>
                <a:endParaRPr kumimoji="1" lang="en-US" altLang="zh-CN" dirty="0">
                  <a:sym typeface="Wingdings" pitchFamily="2" charset="2"/>
                </a:endParaRPr>
              </a:p>
              <a:p>
                <a:endParaRPr kumimoji="1" lang="en-US" altLang="zh-CN" dirty="0">
                  <a:sym typeface="Wingdings" pitchFamily="2" charset="2"/>
                </a:endParaRPr>
              </a:p>
              <a:p>
                <a:endParaRPr kumimoji="1" lang="en-US" altLang="zh-CN" dirty="0">
                  <a:sym typeface="Wingdings" pitchFamily="2" charset="2"/>
                </a:endParaRPr>
              </a:p>
              <a:p>
                <a:endParaRPr kumimoji="1" lang="en-US" altLang="zh-CN" dirty="0">
                  <a:sym typeface="Wingdings" pitchFamily="2" charset="2"/>
                </a:endParaRPr>
              </a:p>
              <a:p>
                <a:endParaRPr kumimoji="1" lang="en-US" altLang="zh-CN" dirty="0">
                  <a:sym typeface="Wingdings" pitchFamily="2" charset="2"/>
                </a:endParaRPr>
              </a:p>
              <a:p>
                <a:endParaRPr kumimoji="1" lang="en-US" altLang="zh-CN" dirty="0">
                  <a:sym typeface="Wingdings" pitchFamily="2" charset="2"/>
                </a:endParaRPr>
              </a:p>
              <a:p>
                <a:endParaRPr kumimoji="1" lang="en-US" altLang="zh-CN" dirty="0">
                  <a:sym typeface="Wingdings" pitchFamily="2" charset="2"/>
                </a:endParaRPr>
              </a:p>
              <a:p>
                <a:r>
                  <a:rPr kumimoji="1" lang="zh-CN" altLang="en-US" dirty="0">
                    <a:sym typeface="Wingdings" pitchFamily="2" charset="2"/>
                  </a:rPr>
                  <a:t>单词“</a:t>
                </a:r>
                <a:r>
                  <a:rPr kumimoji="1" lang="en-US" altLang="zh-CN" dirty="0">
                    <a:sym typeface="Wingdings" pitchFamily="2" charset="2"/>
                  </a:rPr>
                  <a:t>three”</a:t>
                </a:r>
                <a:r>
                  <a:rPr kumimoji="1" lang="zh-CN" altLang="en-US" dirty="0">
                    <a:sym typeface="Wingdings" pitchFamily="2" charset="2"/>
                  </a:rPr>
                  <a:t>和“</a:t>
                </a:r>
                <a:r>
                  <a:rPr kumimoji="1" lang="en-US" altLang="zh-CN" dirty="0">
                    <a:sym typeface="Wingdings" pitchFamily="2" charset="2"/>
                  </a:rPr>
                  <a:t>four”</a:t>
                </a:r>
                <a:r>
                  <a:rPr kumimoji="1" lang="zh-CN" altLang="en-US" dirty="0">
                    <a:sym typeface="Wingdings" pitchFamily="2" charset="2"/>
                  </a:rPr>
                  <a:t>在隐空间的表达相似</a:t>
                </a:r>
                <a:endParaRPr kumimoji="1" lang="en-US" altLang="zh-CN" dirty="0">
                  <a:sym typeface="Wingdings" pitchFamily="2" charset="2"/>
                </a:endParaRPr>
              </a:p>
              <a:p>
                <a:r>
                  <a:rPr kumimoji="1" lang="zh-CN" altLang="en-US" dirty="0">
                    <a:sym typeface="Wingdings" pitchFamily="2" charset="2"/>
                  </a:rPr>
                  <a:t>单词“</a:t>
                </a:r>
                <a:r>
                  <a:rPr kumimoji="1" lang="en-US" altLang="zh-CN" dirty="0">
                    <a:sym typeface="Wingdings" pitchFamily="2" charset="2"/>
                  </a:rPr>
                  <a:t>teams</a:t>
                </a:r>
                <a:r>
                  <a:rPr kumimoji="1" lang="zh-CN" altLang="en-US" dirty="0">
                    <a:sym typeface="Wingdings" pitchFamily="2" charset="2"/>
                  </a:rPr>
                  <a:t>”和“</a:t>
                </a:r>
                <a:r>
                  <a:rPr kumimoji="1" lang="en-US" altLang="zh-CN" dirty="0">
                    <a:sym typeface="Wingdings" pitchFamily="2" charset="2"/>
                  </a:rPr>
                  <a:t>groups</a:t>
                </a:r>
                <a:r>
                  <a:rPr kumimoji="1" lang="zh-CN" altLang="en-US" dirty="0">
                    <a:sym typeface="Wingdings" pitchFamily="2" charset="2"/>
                  </a:rPr>
                  <a:t>”在隐空间内的表达相似</a:t>
                </a:r>
                <a:endParaRPr kumimoji="1" lang="en-US" altLang="zh-CN" dirty="0">
                  <a:sym typeface="Wingdings" pitchFamily="2" charset="2"/>
                </a:endParaRPr>
              </a:p>
              <a:p>
                <a:r>
                  <a:rPr kumimoji="1" lang="en-US" altLang="zh-CN" dirty="0">
                    <a:sym typeface="Wingdings" pitchFamily="2" charset="2"/>
                  </a:rPr>
                  <a:t></a:t>
                </a:r>
                <a:r>
                  <a:rPr kumimoji="1" lang="zh-CN" altLang="en-US" dirty="0">
                    <a:sym typeface="Wingdings" pitchFamily="2" charset="2"/>
                  </a:rPr>
                  <a:t> 训练数据中未出现的</a:t>
                </a:r>
                <a:r>
                  <a:rPr kumimoji="1" lang="en-US" altLang="zh-CN" dirty="0">
                    <a:sym typeface="Wingdings" pitchFamily="2" charset="2"/>
                  </a:rPr>
                  <a:t>bigram</a:t>
                </a:r>
                <a:r>
                  <a:rPr kumimoji="1" lang="zh-CN" altLang="en-US" dirty="0">
                    <a:sym typeface="Wingdings" pitchFamily="2" charset="2"/>
                  </a:rPr>
                  <a:t>：</a:t>
                </a:r>
                <a:r>
                  <a:rPr kumimoji="1" lang="en-US" altLang="zh-CN" dirty="0">
                    <a:solidFill>
                      <a:srgbClr val="C00000"/>
                    </a:solidFill>
                    <a:sym typeface="Wingdings" pitchFamily="2" charset="2"/>
                  </a:rPr>
                  <a:t>three</a:t>
                </a:r>
                <a:r>
                  <a:rPr kumimoji="1" lang="zh-CN" altLang="en-US" dirty="0">
                    <a:solidFill>
                      <a:srgbClr val="C00000"/>
                    </a:solidFill>
                    <a:sym typeface="Wingdings" pitchFamily="2" charset="2"/>
                  </a:rPr>
                  <a:t> </a:t>
                </a:r>
                <a:r>
                  <a:rPr kumimoji="1" lang="en-US" altLang="zh-CN" dirty="0">
                    <a:solidFill>
                      <a:srgbClr val="C00000"/>
                    </a:solidFill>
                    <a:sym typeface="Wingdings" pitchFamily="2" charset="2"/>
                  </a:rPr>
                  <a:t>groups</a:t>
                </a:r>
              </a:p>
              <a:p>
                <a:endParaRPr kumimoji="1" lang="en-US" altLang="zh-CN" dirty="0">
                  <a:sym typeface="Wingdings" pitchFamily="2" charset="2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i="1" dirty="0" smtClean="0">
                          <a:latin typeface="Cambria Math" panose="02040503050406030204" pitchFamily="18" charset="0"/>
                          <a:sym typeface="Wingdings" pitchFamily="2" charset="2"/>
                        </a:rPr>
                        <m:t>𝑃</m:t>
                      </m:r>
                      <m:r>
                        <a:rPr kumimoji="1" lang="en-US" altLang="zh-CN" i="1" dirty="0" smtClean="0">
                          <a:latin typeface="Cambria Math" panose="02040503050406030204" pitchFamily="18" charset="0"/>
                          <a:sym typeface="Wingdings" pitchFamily="2" charset="2"/>
                        </a:rPr>
                        <m:t>(</m:t>
                      </m:r>
                      <m:r>
                        <m:rPr>
                          <m:sty m:val="p"/>
                        </m:rPr>
                        <a:rPr kumimoji="1" lang="en-US" altLang="zh-CN" i="0" dirty="0" smtClean="0">
                          <a:latin typeface="Cambria Math" panose="02040503050406030204" pitchFamily="18" charset="0"/>
                          <a:sym typeface="Wingdings" pitchFamily="2" charset="2"/>
                        </a:rPr>
                        <m:t>groups</m:t>
                      </m:r>
                      <m:r>
                        <a:rPr kumimoji="1" lang="zh-CN" altLang="en-US" i="1" dirty="0" smtClean="0">
                          <a:latin typeface="Cambria Math" panose="02040503050406030204" pitchFamily="18" charset="0"/>
                          <a:sym typeface="Wingdings" pitchFamily="2" charset="2"/>
                        </a:rPr>
                        <m:t> </m:t>
                      </m:r>
                      <m:r>
                        <a:rPr kumimoji="1" lang="en-US" altLang="zh-CN" i="1" dirty="0" smtClean="0">
                          <a:latin typeface="Cambria Math" panose="02040503050406030204" pitchFamily="18" charset="0"/>
                          <a:sym typeface="Wingdings" pitchFamily="2" charset="2"/>
                        </a:rPr>
                        <m:t>|</m:t>
                      </m:r>
                      <m:r>
                        <a:rPr kumimoji="1" lang="zh-CN" altLang="en-US" i="1" dirty="0" smtClean="0">
                          <a:latin typeface="Cambria Math" panose="02040503050406030204" pitchFamily="18" charset="0"/>
                          <a:sym typeface="Wingdings" pitchFamily="2" charset="2"/>
                        </a:rPr>
                        <m:t> </m:t>
                      </m:r>
                      <m:r>
                        <m:rPr>
                          <m:sty m:val="p"/>
                        </m:rPr>
                        <a:rPr kumimoji="1" lang="en-US" altLang="zh-CN" i="0" dirty="0" smtClean="0">
                          <a:latin typeface="Cambria Math" panose="02040503050406030204" pitchFamily="18" charset="0"/>
                          <a:sym typeface="Wingdings" pitchFamily="2" charset="2"/>
                        </a:rPr>
                        <m:t>four</m:t>
                      </m:r>
                      <m:r>
                        <a:rPr kumimoji="1" lang="en-US" altLang="zh-CN" i="1" dirty="0" smtClean="0">
                          <a:latin typeface="Cambria Math" panose="02040503050406030204" pitchFamily="18" charset="0"/>
                          <a:sym typeface="Wingdings" pitchFamily="2" charset="2"/>
                        </a:rPr>
                        <m:t>)&gt;0</m:t>
                      </m:r>
                      <m:r>
                        <a:rPr kumimoji="1" lang="zh-CN" altLang="en-US" b="0" i="1" dirty="0" smtClean="0">
                          <a:latin typeface="Cambria Math" panose="02040503050406030204" pitchFamily="18" charset="0"/>
                          <a:sym typeface="Wingdings" pitchFamily="2" charset="2"/>
                        </a:rPr>
                        <m:t> </m:t>
                      </m:r>
                      <m:r>
                        <a:rPr kumimoji="1" lang="en-US" altLang="zh-CN" b="0" i="1" dirty="0" smtClean="0">
                          <a:latin typeface="Cambria Math" panose="02040503050406030204" pitchFamily="18" charset="0"/>
                          <a:sym typeface="Wingdings" pitchFamily="2" charset="2"/>
                        </a:rPr>
                        <m:t>,</m:t>
                      </m:r>
                      <m:r>
                        <a:rPr kumimoji="1" lang="zh-CN" altLang="en-US" b="0" i="1" dirty="0" smtClean="0">
                          <a:latin typeface="Cambria Math" panose="02040503050406030204" pitchFamily="18" charset="0"/>
                          <a:sym typeface="Wingdings" pitchFamily="2" charset="2"/>
                        </a:rPr>
                        <m:t> </m:t>
                      </m:r>
                      <m:r>
                        <a:rPr kumimoji="1" lang="en-US" altLang="zh-CN" b="0" i="1" dirty="0" smtClean="0">
                          <a:latin typeface="Cambria Math" panose="02040503050406030204" pitchFamily="18" charset="0"/>
                          <a:sym typeface="Wingdings" pitchFamily="2" charset="2"/>
                        </a:rPr>
                        <m:t>𝑃</m:t>
                      </m:r>
                      <m:r>
                        <a:rPr kumimoji="1" lang="en-US" altLang="zh-CN" b="0" i="1" dirty="0" smtClean="0">
                          <a:latin typeface="Cambria Math" panose="02040503050406030204" pitchFamily="18" charset="0"/>
                          <a:sym typeface="Wingdings" pitchFamily="2" charset="2"/>
                        </a:rPr>
                        <m:t>(</m:t>
                      </m:r>
                      <m:r>
                        <m:rPr>
                          <m:sty m:val="p"/>
                        </m:rPr>
                        <a:rPr kumimoji="1" lang="en-US" altLang="zh-CN" b="0" i="0" dirty="0" smtClean="0">
                          <a:latin typeface="Cambria Math" panose="02040503050406030204" pitchFamily="18" charset="0"/>
                          <a:sym typeface="Wingdings" pitchFamily="2" charset="2"/>
                        </a:rPr>
                        <m:t>teams</m:t>
                      </m:r>
                      <m:d>
                        <m:dPr>
                          <m:begChr m:val="|"/>
                          <m:ctrlPr>
                            <a:rPr kumimoji="1" lang="en-US" altLang="zh-CN" b="0" i="1" dirty="0" smtClean="0">
                              <a:latin typeface="Cambria Math" charset="0"/>
                              <a:sym typeface="Wingdings" pitchFamily="2" charset="2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kumimoji="1" lang="en-US" altLang="zh-CN" b="0" i="0" dirty="0" smtClean="0">
                              <a:latin typeface="Cambria Math" panose="02040503050406030204" pitchFamily="18" charset="0"/>
                              <a:sym typeface="Wingdings" pitchFamily="2" charset="2"/>
                            </a:rPr>
                            <m:t>three</m:t>
                          </m:r>
                        </m:e>
                      </m:d>
                      <m:r>
                        <a:rPr kumimoji="1" lang="en-US" altLang="zh-CN" b="0" i="1" dirty="0" smtClean="0">
                          <a:latin typeface="Cambria Math" panose="02040503050406030204" pitchFamily="18" charset="0"/>
                          <a:sym typeface="Wingdings" pitchFamily="2" charset="2"/>
                        </a:rPr>
                        <m:t>&gt;0</m:t>
                      </m:r>
                      <m:r>
                        <a:rPr kumimoji="1" lang="zh-CN" altLang="en-US" b="0" i="1" dirty="0" smtClean="0">
                          <a:latin typeface="Cambria Math" panose="02040503050406030204" pitchFamily="18" charset="0"/>
                          <a:sym typeface="Wingdings" pitchFamily="2" charset="2"/>
                        </a:rPr>
                        <m:t> </m:t>
                      </m:r>
                      <m:r>
                        <a:rPr kumimoji="1" lang="en-US" altLang="zh-CN" b="0" i="1" dirty="0" smtClean="0">
                          <a:latin typeface="Cambria Math" panose="02040503050406030204" pitchFamily="18" charset="0"/>
                          <a:sym typeface="Wingdings" pitchFamily="2" charset="2"/>
                        </a:rPr>
                        <m:t></m:t>
                      </m:r>
                      <m:r>
                        <a:rPr kumimoji="1" lang="zh-CN" altLang="en-US" b="0" i="1" dirty="0" smtClean="0">
                          <a:latin typeface="Cambria Math" panose="02040503050406030204" pitchFamily="18" charset="0"/>
                          <a:sym typeface="Wingdings" pitchFamily="2" charset="2"/>
                        </a:rPr>
                        <m:t> </m:t>
                      </m:r>
                      <m:r>
                        <a:rPr kumimoji="1" lang="en-US" altLang="zh-CN" i="1" dirty="0" smtClean="0">
                          <a:latin typeface="Cambria Math" panose="02040503050406030204" pitchFamily="18" charset="0"/>
                          <a:sym typeface="Wingdings" pitchFamily="2" charset="2"/>
                        </a:rPr>
                        <m:t>𝑃</m:t>
                      </m:r>
                      <m:r>
                        <a:rPr kumimoji="1" lang="en-US" altLang="zh-CN" i="1" dirty="0" smtClean="0">
                          <a:latin typeface="Cambria Math" panose="02040503050406030204" pitchFamily="18" charset="0"/>
                          <a:sym typeface="Wingdings" pitchFamily="2" charset="2"/>
                        </a:rPr>
                        <m:t>(</m:t>
                      </m:r>
                      <m:r>
                        <m:rPr>
                          <m:sty m:val="p"/>
                        </m:rPr>
                        <a:rPr kumimoji="1" lang="en-US" altLang="zh-CN" i="0" dirty="0" smtClean="0">
                          <a:latin typeface="Cambria Math" panose="02040503050406030204" pitchFamily="18" charset="0"/>
                          <a:sym typeface="Wingdings" pitchFamily="2" charset="2"/>
                        </a:rPr>
                        <m:t>groups</m:t>
                      </m:r>
                      <m:r>
                        <a:rPr kumimoji="1" lang="zh-CN" altLang="en-US" i="1" dirty="0" smtClean="0">
                          <a:latin typeface="Cambria Math" panose="02040503050406030204" pitchFamily="18" charset="0"/>
                          <a:sym typeface="Wingdings" pitchFamily="2" charset="2"/>
                        </a:rPr>
                        <m:t> </m:t>
                      </m:r>
                      <m:r>
                        <a:rPr kumimoji="1" lang="en-US" altLang="zh-CN" i="1" dirty="0" smtClean="0">
                          <a:latin typeface="Cambria Math" panose="02040503050406030204" pitchFamily="18" charset="0"/>
                          <a:sym typeface="Wingdings" pitchFamily="2" charset="2"/>
                        </a:rPr>
                        <m:t>|</m:t>
                      </m:r>
                      <m:r>
                        <a:rPr kumimoji="1" lang="zh-CN" altLang="en-US" i="1" dirty="0" smtClean="0">
                          <a:latin typeface="Cambria Math" panose="02040503050406030204" pitchFamily="18" charset="0"/>
                          <a:sym typeface="Wingdings" pitchFamily="2" charset="2"/>
                        </a:rPr>
                        <m:t> </m:t>
                      </m:r>
                      <m:r>
                        <m:rPr>
                          <m:sty m:val="p"/>
                        </m:rPr>
                        <a:rPr kumimoji="1" lang="en-US" altLang="zh-CN" i="0" dirty="0" smtClean="0">
                          <a:latin typeface="Cambria Math" panose="02040503050406030204" pitchFamily="18" charset="0"/>
                          <a:sym typeface="Wingdings" pitchFamily="2" charset="2"/>
                        </a:rPr>
                        <m:t>three</m:t>
                      </m:r>
                      <m:r>
                        <a:rPr kumimoji="1" lang="en-US" altLang="zh-CN" i="1" dirty="0" smtClean="0">
                          <a:latin typeface="Cambria Math" panose="02040503050406030204" pitchFamily="18" charset="0"/>
                          <a:sym typeface="Wingdings" pitchFamily="2" charset="2"/>
                        </a:rPr>
                        <m:t>)&gt;0</m:t>
                      </m:r>
                    </m:oMath>
                  </m:oMathPara>
                </a14:m>
                <a:endParaRPr kumimoji="1" lang="en-US" altLang="zh-CN" dirty="0">
                  <a:sym typeface="Wingdings" pitchFamily="2" charset="2"/>
                </a:endParaRPr>
              </a:p>
              <a:p>
                <a:endParaRPr kumimoji="1"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EB4C7AF-70EA-E64C-A8A8-50413F87AD2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17" t="-12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4">
            <a:extLst>
              <a:ext uri="{FF2B5EF4-FFF2-40B4-BE49-F238E27FC236}">
                <a16:creationId xmlns="" xmlns:a16="http://schemas.microsoft.com/office/drawing/2014/main" id="{C6F3EBB1-6D1A-C04C-9817-B144668CB1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522" y="1199227"/>
            <a:ext cx="7528956" cy="1892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2907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="" xmlns:a16="http://schemas.microsoft.com/office/drawing/2014/main" id="{6F4FDD1C-3A2D-214A-93D1-D64F58B6075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如何得到</a:t>
            </a:r>
            <a:r>
              <a:rPr kumimoji="1" lang="en-US" altLang="zh-CN" dirty="0"/>
              <a:t>(</a:t>
            </a:r>
            <a:r>
              <a:rPr kumimoji="1" lang="zh-CN" altLang="en-US" dirty="0"/>
              <a:t>学习</a:t>
            </a:r>
            <a:r>
              <a:rPr kumimoji="1" lang="en-US" altLang="zh-CN" dirty="0"/>
              <a:t>)</a:t>
            </a:r>
            <a:r>
              <a:rPr kumimoji="1" lang="zh-CN" altLang="en-US" dirty="0"/>
              <a:t>分布式表达？</a:t>
            </a:r>
          </a:p>
        </p:txBody>
      </p:sp>
      <p:sp>
        <p:nvSpPr>
          <p:cNvPr id="5" name="副标题 4">
            <a:extLst>
              <a:ext uri="{FF2B5EF4-FFF2-40B4-BE49-F238E27FC236}">
                <a16:creationId xmlns="" xmlns:a16="http://schemas.microsoft.com/office/drawing/2014/main" id="{8C785ECB-C269-AF4E-A8DD-D97FF58BD9F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21559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64D22444-E3C4-EB42-9FBE-550B999632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先来猜一下单词“</a:t>
            </a:r>
            <a:r>
              <a:rPr lang="en" altLang="zh-CN" dirty="0" err="1"/>
              <a:t>bardiwac</a:t>
            </a:r>
            <a:r>
              <a:rPr kumimoji="1" lang="zh-CN" altLang="en-US" dirty="0"/>
              <a:t>”大致的含义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="" xmlns:a16="http://schemas.microsoft.com/office/drawing/2014/main" id="{78344AC2-F69F-654D-BE65-D3F94E296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19150"/>
            <a:ext cx="6537366" cy="3937000"/>
          </a:xfrm>
        </p:spPr>
        <p:txBody>
          <a:bodyPr>
            <a:normAutofit/>
          </a:bodyPr>
          <a:lstStyle/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</p:txBody>
      </p:sp>
      <p:pic>
        <p:nvPicPr>
          <p:cNvPr id="4" name="图片 3">
            <a:extLst>
              <a:ext uri="{FF2B5EF4-FFF2-40B4-BE49-F238E27FC236}">
                <a16:creationId xmlns="" xmlns:a16="http://schemas.microsoft.com/office/drawing/2014/main" id="{E5F8D25F-B4D8-CE4E-A6D9-E4CE344365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506" y="985405"/>
            <a:ext cx="6567055" cy="3218292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="" xmlns:a16="http://schemas.microsoft.com/office/drawing/2014/main" id="{6D380C88-83F5-3145-B685-886838884200}"/>
              </a:ext>
            </a:extLst>
          </p:cNvPr>
          <p:cNvSpPr txBox="1"/>
          <p:nvPr/>
        </p:nvSpPr>
        <p:spPr>
          <a:xfrm>
            <a:off x="6804561" y="1948220"/>
            <a:ext cx="193354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</a:rPr>
              <a:t>A</a:t>
            </a:r>
            <a:r>
              <a:rPr kumimoji="1" lang="zh-CN" altLang="en-US" dirty="0">
                <a:solidFill>
                  <a:srgbClr val="C00000"/>
                </a:solidFill>
              </a:rPr>
              <a:t>：一种红葡萄酒</a:t>
            </a:r>
            <a:endParaRPr kumimoji="1" lang="en-US" altLang="zh-CN" dirty="0">
              <a:solidFill>
                <a:srgbClr val="C00000"/>
              </a:solidFill>
            </a:endParaRPr>
          </a:p>
          <a:p>
            <a:r>
              <a:rPr kumimoji="1" lang="en-US" altLang="zh-CN" dirty="0">
                <a:solidFill>
                  <a:srgbClr val="C00000"/>
                </a:solidFill>
              </a:rPr>
              <a:t>B</a:t>
            </a:r>
            <a:r>
              <a:rPr kumimoji="1" lang="zh-CN" altLang="en-US" dirty="0">
                <a:solidFill>
                  <a:srgbClr val="C00000"/>
                </a:solidFill>
              </a:rPr>
              <a:t>：一个地名</a:t>
            </a:r>
            <a:endParaRPr kumimoji="1" lang="en-US" altLang="zh-CN" dirty="0">
              <a:solidFill>
                <a:srgbClr val="C00000"/>
              </a:solidFill>
            </a:endParaRPr>
          </a:p>
          <a:p>
            <a:r>
              <a:rPr kumimoji="1" lang="en-US" altLang="zh-CN" dirty="0">
                <a:solidFill>
                  <a:srgbClr val="C00000"/>
                </a:solidFill>
              </a:rPr>
              <a:t>C</a:t>
            </a:r>
            <a:r>
              <a:rPr kumimoji="1" lang="zh-CN" altLang="en-US" dirty="0">
                <a:solidFill>
                  <a:srgbClr val="C00000"/>
                </a:solidFill>
              </a:rPr>
              <a:t>：一个人名</a:t>
            </a:r>
          </a:p>
        </p:txBody>
      </p:sp>
      <p:sp>
        <p:nvSpPr>
          <p:cNvPr id="6" name="Rectangle 5"/>
          <p:cNvSpPr/>
          <p:nvPr/>
        </p:nvSpPr>
        <p:spPr>
          <a:xfrm>
            <a:off x="7354767" y="1425000"/>
            <a:ext cx="64312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rgbClr val="000000"/>
                </a:solidFill>
                <a:latin typeface="Helvetica Neue" charset="0"/>
              </a:rPr>
              <a:t>🔔</a:t>
            </a:r>
            <a:r>
              <a:rPr lang="zh-CN" altLang="en-US" sz="2800" dirty="0">
                <a:solidFill>
                  <a:srgbClr val="000000"/>
                </a:solidFill>
                <a:latin typeface="Helvetica Neue" charset="0"/>
              </a:rPr>
              <a:t> 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8373541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FED019BF-511B-774F-B585-68917F2775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为什么可以猜到？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="" xmlns:a16="http://schemas.microsoft.com/office/drawing/2014/main" id="{EC411639-0812-E344-A4DE-5B8165A831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 err="1"/>
              <a:t>Bardiwac</a:t>
            </a:r>
            <a:r>
              <a:rPr kumimoji="1" lang="zh-CN" altLang="en-US" dirty="0"/>
              <a:t>在多个文档中的上下文是关键！！！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="" xmlns:a16="http://schemas.microsoft.com/office/drawing/2014/main" id="{3FCFB90F-05E4-6A4B-B206-2DBFC1462A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1259" y="1277150"/>
            <a:ext cx="6421482" cy="3771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46360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D9FA463E-C954-C44E-AD10-AF480EDE3B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语言学中的分布式假设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="" xmlns:a16="http://schemas.microsoft.com/office/drawing/2014/main" id="{7C061F0A-3302-4047-8B33-B0D88437DE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="" xmlns:a16="http://schemas.microsoft.com/office/drawing/2014/main" id="{5EFFEE1E-320B-014F-825C-BF1694650A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032" y="819150"/>
            <a:ext cx="8172768" cy="3129809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="" xmlns:a16="http://schemas.microsoft.com/office/drawing/2014/main" id="{A2276DDF-70C1-0D4C-B9B0-569BDB65FA92}"/>
              </a:ext>
            </a:extLst>
          </p:cNvPr>
          <p:cNvSpPr/>
          <p:nvPr/>
        </p:nvSpPr>
        <p:spPr>
          <a:xfrm>
            <a:off x="970850" y="1460808"/>
            <a:ext cx="382213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“</a:t>
            </a:r>
            <a:r>
              <a:rPr lang="en" altLang="zh-CN" dirty="0"/>
              <a:t>The meaning of a word lies in its use</a:t>
            </a:r>
            <a:r>
              <a:rPr lang="en-US" altLang="zh-CN" dirty="0"/>
              <a:t>.”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943228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49C864E5-16B0-2B46-8209-7CE99C341C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单词的语义隐藏在它们的共现数据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="" xmlns:a16="http://schemas.microsoft.com/office/drawing/2014/main" id="{4C4C526C-1B03-8E40-9C15-128B35BAA0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0458" y="812556"/>
            <a:ext cx="5763083" cy="4212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65907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7F81980C-217C-2840-A85E-C9D1AB0C30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分布式假设的表现形式</a:t>
            </a:r>
            <a:r>
              <a:rPr kumimoji="1" lang="en-US" altLang="zh-CN" dirty="0"/>
              <a:t>1</a:t>
            </a:r>
            <a:r>
              <a:rPr kumimoji="1" lang="zh-CN" altLang="en-US" dirty="0"/>
              <a:t>（文档内共现）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="" xmlns:a16="http://schemas.microsoft.com/office/drawing/2014/main" id="{6750F4E8-D917-C147-AEA9-7C8FCFBD9B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389" y="1948315"/>
            <a:ext cx="2416930" cy="1435219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="" xmlns:a16="http://schemas.microsoft.com/office/drawing/2014/main" id="{528048F6-FB62-BD4E-A039-7E2CBAEAF4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2971" y="1863187"/>
            <a:ext cx="2179599" cy="1644980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="" xmlns:a16="http://schemas.microsoft.com/office/drawing/2014/main" id="{C62FE65E-5BE8-D24A-8F58-304D45418325}"/>
              </a:ext>
            </a:extLst>
          </p:cNvPr>
          <p:cNvSpPr txBox="1"/>
          <p:nvPr/>
        </p:nvSpPr>
        <p:spPr>
          <a:xfrm>
            <a:off x="1821625" y="3561990"/>
            <a:ext cx="46291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600" dirty="0">
                <a:latin typeface="Microsoft YaHei" charset="-122"/>
                <a:ea typeface="Microsoft YaHei" charset="-122"/>
                <a:cs typeface="Microsoft YaHei" charset="-122"/>
              </a:rPr>
              <a:t>适合长文本的表达：单词</a:t>
            </a:r>
            <a:r>
              <a:rPr kumimoji="1" lang="zh-CN" altLang="en-US" sz="1600" b="1" dirty="0">
                <a:solidFill>
                  <a:srgbClr val="00B0F0"/>
                </a:solidFill>
                <a:latin typeface="Microsoft YaHei" charset="-122"/>
                <a:ea typeface="Microsoft YaHei" charset="-122"/>
                <a:cs typeface="Microsoft YaHei" charset="-122"/>
              </a:rPr>
              <a:t>共现</a:t>
            </a:r>
            <a:r>
              <a:rPr kumimoji="1" lang="zh-CN" altLang="en-US" sz="1600" dirty="0">
                <a:latin typeface="Microsoft YaHei" charset="-122"/>
                <a:ea typeface="Microsoft YaHei" charset="-122"/>
                <a:cs typeface="Microsoft YaHei" charset="-122"/>
              </a:rPr>
              <a:t>关系建模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="" xmlns:a16="http://schemas.microsoft.com/office/drawing/2014/main" id="{A888B7CB-394C-4D46-930C-EB684BE96C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7445" y="1948300"/>
            <a:ext cx="2320968" cy="1334679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="" xmlns:a16="http://schemas.microsoft.com/office/drawing/2014/main" id="{5BB0C433-2C33-A045-B1CE-E779FF6F4139}"/>
              </a:ext>
            </a:extLst>
          </p:cNvPr>
          <p:cNvSpPr txBox="1"/>
          <p:nvPr/>
        </p:nvSpPr>
        <p:spPr>
          <a:xfrm>
            <a:off x="1821625" y="4341763"/>
            <a:ext cx="55007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>
                <a:latin typeface="Microsoft YaHei" charset="-122"/>
                <a:ea typeface="Microsoft YaHei" charset="-122"/>
                <a:cs typeface="Microsoft YaHei" charset="-122"/>
              </a:rPr>
              <a:t>话题模型：</a:t>
            </a:r>
            <a:r>
              <a:rPr kumimoji="1" lang="en-US" altLang="zh-CN" dirty="0">
                <a:latin typeface="Microsoft YaHei" charset="-122"/>
                <a:ea typeface="Microsoft YaHei" charset="-122"/>
                <a:cs typeface="Microsoft YaHei" charset="-122"/>
              </a:rPr>
              <a:t>LSI</a:t>
            </a:r>
            <a:r>
              <a:rPr kumimoji="1" lang="zh-CN" altLang="en-US" dirty="0">
                <a:latin typeface="Microsoft YaHei" charset="-122"/>
                <a:ea typeface="Microsoft YaHei" charset="-122"/>
                <a:cs typeface="Microsoft YaHei" charset="-122"/>
              </a:rPr>
              <a:t>、</a:t>
            </a:r>
            <a:r>
              <a:rPr kumimoji="1" lang="en-US" altLang="zh-CN" dirty="0">
                <a:latin typeface="Microsoft YaHei" charset="-122"/>
                <a:ea typeface="Microsoft YaHei" charset="-122"/>
                <a:cs typeface="Microsoft YaHei" charset="-122"/>
              </a:rPr>
              <a:t>NMF</a:t>
            </a:r>
            <a:r>
              <a:rPr kumimoji="1" lang="zh-CN" altLang="en-US" dirty="0">
                <a:latin typeface="Microsoft YaHei" charset="-122"/>
                <a:ea typeface="Microsoft YaHei" charset="-122"/>
                <a:cs typeface="Microsoft YaHei" charset="-122"/>
              </a:rPr>
              <a:t>、</a:t>
            </a:r>
            <a:r>
              <a:rPr kumimoji="1" lang="en-US" altLang="zh-CN" dirty="0">
                <a:latin typeface="Microsoft YaHei" charset="-122"/>
                <a:ea typeface="Microsoft YaHei" charset="-122"/>
                <a:cs typeface="Microsoft YaHei" charset="-122"/>
              </a:rPr>
              <a:t>PLSI</a:t>
            </a:r>
            <a:r>
              <a:rPr kumimoji="1" lang="zh-CN" altLang="en-US" dirty="0">
                <a:latin typeface="Microsoft YaHei" charset="-122"/>
                <a:ea typeface="Microsoft YaHei" charset="-122"/>
                <a:cs typeface="Microsoft YaHei" charset="-122"/>
              </a:rPr>
              <a:t>、</a:t>
            </a:r>
            <a:r>
              <a:rPr kumimoji="1" lang="en-US" altLang="zh-CN" dirty="0">
                <a:latin typeface="Microsoft YaHei" charset="-122"/>
                <a:ea typeface="Microsoft YaHei" charset="-122"/>
                <a:cs typeface="Microsoft YaHei" charset="-122"/>
              </a:rPr>
              <a:t>LDA</a:t>
            </a:r>
            <a:r>
              <a:rPr kumimoji="1" lang="zh-CN" altLang="en-US" dirty="0">
                <a:latin typeface="Microsoft YaHei" charset="-122"/>
                <a:ea typeface="Microsoft YaHei" charset="-122"/>
                <a:cs typeface="Microsoft YaHei" charset="-122"/>
              </a:rPr>
              <a:t>等</a:t>
            </a:r>
          </a:p>
        </p:txBody>
      </p:sp>
      <p:sp>
        <p:nvSpPr>
          <p:cNvPr id="12" name="右箭头 11">
            <a:extLst>
              <a:ext uri="{FF2B5EF4-FFF2-40B4-BE49-F238E27FC236}">
                <a16:creationId xmlns="" xmlns:a16="http://schemas.microsoft.com/office/drawing/2014/main" id="{CAC7C04D-2915-D644-9EC0-140E0405546A}"/>
              </a:ext>
            </a:extLst>
          </p:cNvPr>
          <p:cNvSpPr/>
          <p:nvPr/>
        </p:nvSpPr>
        <p:spPr>
          <a:xfrm>
            <a:off x="2731324" y="2450783"/>
            <a:ext cx="415637" cy="43293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右箭头 12">
            <a:extLst>
              <a:ext uri="{FF2B5EF4-FFF2-40B4-BE49-F238E27FC236}">
                <a16:creationId xmlns="" xmlns:a16="http://schemas.microsoft.com/office/drawing/2014/main" id="{D7F36AB3-74DB-9E4B-98D4-61EAC0F14010}"/>
              </a:ext>
            </a:extLst>
          </p:cNvPr>
          <p:cNvSpPr/>
          <p:nvPr/>
        </p:nvSpPr>
        <p:spPr>
          <a:xfrm>
            <a:off x="5887334" y="2456595"/>
            <a:ext cx="415637" cy="43293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225235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7F81980C-217C-2840-A85E-C9D1AB0C30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分布式假设的表现形式</a:t>
            </a:r>
            <a:r>
              <a:rPr kumimoji="1" lang="en-US" altLang="zh-CN" dirty="0"/>
              <a:t>2</a:t>
            </a:r>
            <a:r>
              <a:rPr kumimoji="1" lang="zh-CN" altLang="en-US" dirty="0"/>
              <a:t>（上下文共现）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="" xmlns:a16="http://schemas.microsoft.com/office/drawing/2014/main" id="{D57B7013-E147-3D42-8B5C-951C18BAE9BE}"/>
              </a:ext>
            </a:extLst>
          </p:cNvPr>
          <p:cNvSpPr txBox="1"/>
          <p:nvPr/>
        </p:nvSpPr>
        <p:spPr>
          <a:xfrm>
            <a:off x="2107062" y="3277862"/>
            <a:ext cx="46291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600" dirty="0">
                <a:latin typeface="Microsoft YaHei" charset="-122"/>
                <a:ea typeface="Microsoft YaHei" charset="-122"/>
                <a:cs typeface="Microsoft YaHei" charset="-122"/>
              </a:rPr>
              <a:t>适合短文本的表达：单词</a:t>
            </a:r>
            <a:r>
              <a:rPr kumimoji="1" lang="zh-CN" altLang="en-US" sz="1600" b="1" dirty="0">
                <a:solidFill>
                  <a:srgbClr val="00B0F0"/>
                </a:solidFill>
                <a:latin typeface="Microsoft YaHei" charset="-122"/>
                <a:ea typeface="Microsoft YaHei" charset="-122"/>
                <a:cs typeface="Microsoft YaHei" charset="-122"/>
              </a:rPr>
              <a:t>聚合</a:t>
            </a:r>
            <a:r>
              <a:rPr kumimoji="1" lang="zh-CN" altLang="en-US" sz="1600" dirty="0">
                <a:latin typeface="Microsoft YaHei" charset="-122"/>
                <a:ea typeface="Microsoft YaHei" charset="-122"/>
                <a:cs typeface="Microsoft YaHei" charset="-122"/>
              </a:rPr>
              <a:t>关系建模</a:t>
            </a:r>
          </a:p>
        </p:txBody>
      </p:sp>
      <p:pic>
        <p:nvPicPr>
          <p:cNvPr id="18" name="图片 17">
            <a:extLst>
              <a:ext uri="{FF2B5EF4-FFF2-40B4-BE49-F238E27FC236}">
                <a16:creationId xmlns="" xmlns:a16="http://schemas.microsoft.com/office/drawing/2014/main" id="{D6E6C031-8DB3-B944-A2AE-3D47790CD4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999" y="1915664"/>
            <a:ext cx="2841607" cy="909565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="" xmlns:a16="http://schemas.microsoft.com/office/drawing/2014/main" id="{E60B3C8C-ACE0-4D40-8497-24E53DE6FB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7497" y="1713160"/>
            <a:ext cx="2286000" cy="1314571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="" xmlns:a16="http://schemas.microsoft.com/office/drawing/2014/main" id="{0A6503BE-BF4F-3F43-A731-9FD8AF9BC2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9388" y="1745396"/>
            <a:ext cx="1587653" cy="1282335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="" xmlns:a16="http://schemas.microsoft.com/office/drawing/2014/main" id="{537A5469-FD33-C542-98DE-01C2B768D832}"/>
              </a:ext>
            </a:extLst>
          </p:cNvPr>
          <p:cNvSpPr txBox="1"/>
          <p:nvPr/>
        </p:nvSpPr>
        <p:spPr>
          <a:xfrm>
            <a:off x="1199408" y="3776679"/>
            <a:ext cx="58375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dirty="0">
                <a:latin typeface="Microsoft YaHei" charset="-122"/>
                <a:ea typeface="Microsoft YaHei" charset="-122"/>
                <a:cs typeface="Microsoft YaHei" charset="-122"/>
              </a:rPr>
              <a:t>词嵌入模型：</a:t>
            </a:r>
            <a:r>
              <a:rPr kumimoji="1" lang="en-US" altLang="zh-CN" dirty="0">
                <a:latin typeface="Microsoft YaHei" charset="-122"/>
                <a:ea typeface="Microsoft YaHei" charset="-122"/>
                <a:cs typeface="Microsoft YaHei" charset="-122"/>
              </a:rPr>
              <a:t>Word2Vec</a:t>
            </a:r>
            <a:r>
              <a:rPr kumimoji="1" lang="zh-CN" altLang="en-US" dirty="0">
                <a:latin typeface="Microsoft YaHei" charset="-122"/>
                <a:ea typeface="Microsoft YaHei" charset="-122"/>
                <a:cs typeface="Microsoft YaHei" charset="-122"/>
              </a:rPr>
              <a:t>、</a:t>
            </a:r>
            <a:r>
              <a:rPr kumimoji="1" lang="en-US" altLang="zh-CN" dirty="0">
                <a:latin typeface="Microsoft YaHei" charset="-122"/>
                <a:ea typeface="Microsoft YaHei" charset="-122"/>
                <a:cs typeface="Microsoft YaHei" charset="-122"/>
              </a:rPr>
              <a:t>Glove</a:t>
            </a:r>
            <a:r>
              <a:rPr kumimoji="1" lang="zh-CN" altLang="en-US" dirty="0">
                <a:latin typeface="Microsoft YaHei" charset="-122"/>
                <a:ea typeface="Microsoft YaHei" charset="-122"/>
                <a:cs typeface="Microsoft YaHei" charset="-122"/>
              </a:rPr>
              <a:t>、</a:t>
            </a:r>
            <a:r>
              <a:rPr kumimoji="1" lang="en-US" altLang="zh-CN" dirty="0">
                <a:latin typeface="Microsoft YaHei" charset="-122"/>
                <a:ea typeface="Microsoft YaHei" charset="-122"/>
                <a:cs typeface="Microsoft YaHei" charset="-122"/>
              </a:rPr>
              <a:t>BTM</a:t>
            </a:r>
            <a:r>
              <a:rPr kumimoji="1" lang="zh-CN" altLang="en-US" dirty="0">
                <a:latin typeface="Microsoft YaHei" charset="-122"/>
                <a:ea typeface="Microsoft YaHei" charset="-122"/>
                <a:cs typeface="Microsoft YaHei" charset="-122"/>
              </a:rPr>
              <a:t>等词嵌入模型</a:t>
            </a:r>
          </a:p>
        </p:txBody>
      </p:sp>
      <p:sp>
        <p:nvSpPr>
          <p:cNvPr id="21" name="右箭头 20">
            <a:extLst>
              <a:ext uri="{FF2B5EF4-FFF2-40B4-BE49-F238E27FC236}">
                <a16:creationId xmlns="" xmlns:a16="http://schemas.microsoft.com/office/drawing/2014/main" id="{454B44F1-AF57-3A4B-A057-62C3566F0FDD}"/>
              </a:ext>
            </a:extLst>
          </p:cNvPr>
          <p:cNvSpPr/>
          <p:nvPr/>
        </p:nvSpPr>
        <p:spPr>
          <a:xfrm>
            <a:off x="3233836" y="2203151"/>
            <a:ext cx="415637" cy="43293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右箭头 21">
            <a:extLst>
              <a:ext uri="{FF2B5EF4-FFF2-40B4-BE49-F238E27FC236}">
                <a16:creationId xmlns="" xmlns:a16="http://schemas.microsoft.com/office/drawing/2014/main" id="{97BADF3B-C483-B94F-9E2A-337F8651EC4B}"/>
              </a:ext>
            </a:extLst>
          </p:cNvPr>
          <p:cNvSpPr/>
          <p:nvPr/>
        </p:nvSpPr>
        <p:spPr>
          <a:xfrm>
            <a:off x="6389846" y="2208963"/>
            <a:ext cx="415637" cy="43293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63927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ABD47BEB-F029-7044-89C8-1086D3E6AA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隐空间中与</a:t>
            </a:r>
            <a:r>
              <a:rPr kumimoji="1" lang="en-US" altLang="zh-CN" dirty="0"/>
              <a:t>Feynman</a:t>
            </a:r>
            <a:r>
              <a:rPr kumimoji="1" lang="zh-CN" altLang="en-US" dirty="0"/>
              <a:t>相近的词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="" xmlns:a16="http://schemas.microsoft.com/office/drawing/2014/main" id="{39A2E1A7-EA8D-9E48-A86C-314AECF143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67125"/>
            <a:ext cx="9144000" cy="3019245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="" xmlns:a16="http://schemas.microsoft.com/office/drawing/2014/main" id="{67B6C277-EAB3-4147-947D-4A9EDCDB5373}"/>
              </a:ext>
            </a:extLst>
          </p:cNvPr>
          <p:cNvSpPr/>
          <p:nvPr/>
        </p:nvSpPr>
        <p:spPr>
          <a:xfrm>
            <a:off x="307700" y="4063979"/>
            <a:ext cx="37493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dirty="0">
                <a:latin typeface="Microsoft YaHei" charset="-122"/>
                <a:ea typeface="Microsoft YaHei" charset="-122"/>
                <a:cs typeface="Microsoft YaHei" charset="-122"/>
              </a:rPr>
              <a:t>基于</a:t>
            </a:r>
            <a:r>
              <a:rPr kumimoji="1" lang="zh-CN" altLang="en-US" b="1" dirty="0">
                <a:solidFill>
                  <a:srgbClr val="00B0F0"/>
                </a:solidFill>
                <a:latin typeface="Microsoft YaHei" charset="-122"/>
                <a:ea typeface="Microsoft YaHei" charset="-122"/>
                <a:cs typeface="Microsoft YaHei" charset="-122"/>
              </a:rPr>
              <a:t>话题模型</a:t>
            </a:r>
            <a:r>
              <a:rPr kumimoji="1" lang="zh-CN" altLang="en-US" dirty="0">
                <a:latin typeface="Microsoft YaHei" charset="-122"/>
                <a:ea typeface="Microsoft YaHei" charset="-122"/>
                <a:cs typeface="Microsoft YaHei" charset="-122"/>
              </a:rPr>
              <a:t>得到的语义相近的词</a:t>
            </a:r>
            <a:endParaRPr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="" xmlns:a16="http://schemas.microsoft.com/office/drawing/2014/main" id="{609AB675-F774-154C-BDDD-011895E9EF10}"/>
              </a:ext>
            </a:extLst>
          </p:cNvPr>
          <p:cNvSpPr/>
          <p:nvPr/>
        </p:nvSpPr>
        <p:spPr>
          <a:xfrm>
            <a:off x="4804350" y="4063979"/>
            <a:ext cx="43396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dirty="0">
                <a:latin typeface="Microsoft YaHei" charset="-122"/>
                <a:ea typeface="Microsoft YaHei" charset="-122"/>
                <a:cs typeface="Microsoft YaHei" charset="-122"/>
              </a:rPr>
              <a:t>基于</a:t>
            </a:r>
            <a:r>
              <a:rPr kumimoji="1" lang="zh-CN" altLang="en-US" b="1" dirty="0">
                <a:solidFill>
                  <a:srgbClr val="00B0F0"/>
                </a:solidFill>
                <a:latin typeface="Microsoft YaHei" charset="-122"/>
                <a:ea typeface="Microsoft YaHei" charset="-122"/>
                <a:cs typeface="Microsoft YaHei" charset="-122"/>
              </a:rPr>
              <a:t>词嵌入模型</a:t>
            </a:r>
            <a:r>
              <a:rPr kumimoji="1" lang="zh-CN" altLang="en-US" dirty="0">
                <a:latin typeface="Microsoft YaHei" charset="-122"/>
                <a:ea typeface="Microsoft YaHei" charset="-122"/>
                <a:cs typeface="Microsoft YaHei" charset="-122"/>
              </a:rPr>
              <a:t>关系得到的语义相近的词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823186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3779912" cy="5143500"/>
          </a:xfrm>
          <a:prstGeom prst="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3995936" y="157881"/>
            <a:ext cx="12105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>
                <a:latin typeface="方正兰亭细黑_GBK" pitchFamily="2" charset="-122"/>
                <a:ea typeface="方正兰亭细黑_GBK" pitchFamily="2" charset="-122"/>
              </a:rPr>
              <a:t>提纲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1124" y="3052428"/>
            <a:ext cx="1537664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文本表达</a:t>
            </a:r>
          </a:p>
        </p:txBody>
      </p:sp>
      <p:grpSp>
        <p:nvGrpSpPr>
          <p:cNvPr id="33" name="组合 32"/>
          <p:cNvGrpSpPr/>
          <p:nvPr/>
        </p:nvGrpSpPr>
        <p:grpSpPr>
          <a:xfrm>
            <a:off x="1239403" y="947342"/>
            <a:ext cx="1301106" cy="1301106"/>
            <a:chOff x="2262782" y="1446400"/>
            <a:chExt cx="1301106" cy="1301106"/>
          </a:xfrm>
        </p:grpSpPr>
        <p:sp>
          <p:nvSpPr>
            <p:cNvPr id="5" name="椭圆 4"/>
            <p:cNvSpPr/>
            <p:nvPr/>
          </p:nvSpPr>
          <p:spPr>
            <a:xfrm>
              <a:off x="2262782" y="1446400"/>
              <a:ext cx="1301106" cy="130110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KSO_Shape"/>
            <p:cNvSpPr>
              <a:spLocks/>
            </p:cNvSpPr>
            <p:nvPr/>
          </p:nvSpPr>
          <p:spPr bwMode="auto">
            <a:xfrm>
              <a:off x="2523120" y="1821416"/>
              <a:ext cx="836342" cy="574285"/>
            </a:xfrm>
            <a:custGeom>
              <a:avLst/>
              <a:gdLst>
                <a:gd name="T0" fmla="*/ 2147483646 w 112"/>
                <a:gd name="T1" fmla="*/ 2147483646 h 77"/>
                <a:gd name="T2" fmla="*/ 2147483646 w 112"/>
                <a:gd name="T3" fmla="*/ 2147483646 h 77"/>
                <a:gd name="T4" fmla="*/ 2147483646 w 112"/>
                <a:gd name="T5" fmla="*/ 2147483646 h 77"/>
                <a:gd name="T6" fmla="*/ 2147483646 w 112"/>
                <a:gd name="T7" fmla="*/ 2147483646 h 77"/>
                <a:gd name="T8" fmla="*/ 2147483646 w 112"/>
                <a:gd name="T9" fmla="*/ 2147483646 h 77"/>
                <a:gd name="T10" fmla="*/ 0 w 112"/>
                <a:gd name="T11" fmla="*/ 2147483646 h 77"/>
                <a:gd name="T12" fmla="*/ 2147483646 w 112"/>
                <a:gd name="T13" fmla="*/ 2147483646 h 77"/>
                <a:gd name="T14" fmla="*/ 2147483646 w 112"/>
                <a:gd name="T15" fmla="*/ 2147483646 h 77"/>
                <a:gd name="T16" fmla="*/ 2147483646 w 112"/>
                <a:gd name="T17" fmla="*/ 2147483646 h 77"/>
                <a:gd name="T18" fmla="*/ 2147483646 w 112"/>
                <a:gd name="T19" fmla="*/ 2147483646 h 77"/>
                <a:gd name="T20" fmla="*/ 2147483646 w 112"/>
                <a:gd name="T21" fmla="*/ 2147483646 h 77"/>
                <a:gd name="T22" fmla="*/ 2147483646 w 112"/>
                <a:gd name="T23" fmla="*/ 2147483646 h 77"/>
                <a:gd name="T24" fmla="*/ 2147483646 w 112"/>
                <a:gd name="T25" fmla="*/ 2147483646 h 77"/>
                <a:gd name="T26" fmla="*/ 2147483646 w 112"/>
                <a:gd name="T27" fmla="*/ 2147483646 h 77"/>
                <a:gd name="T28" fmla="*/ 2147483646 w 112"/>
                <a:gd name="T29" fmla="*/ 2147483646 h 77"/>
                <a:gd name="T30" fmla="*/ 2147483646 w 112"/>
                <a:gd name="T31" fmla="*/ 2147483646 h 77"/>
                <a:gd name="T32" fmla="*/ 2147483646 w 112"/>
                <a:gd name="T33" fmla="*/ 2147483646 h 77"/>
                <a:gd name="T34" fmla="*/ 2147483646 w 112"/>
                <a:gd name="T35" fmla="*/ 2147483646 h 77"/>
                <a:gd name="T36" fmla="*/ 2147483646 w 112"/>
                <a:gd name="T37" fmla="*/ 2147483646 h 77"/>
                <a:gd name="T38" fmla="*/ 2147483646 w 112"/>
                <a:gd name="T39" fmla="*/ 2147483646 h 77"/>
                <a:gd name="T40" fmla="*/ 2147483646 w 112"/>
                <a:gd name="T41" fmla="*/ 2147483646 h 77"/>
                <a:gd name="T42" fmla="*/ 2147483646 w 112"/>
                <a:gd name="T43" fmla="*/ 2147483646 h 77"/>
                <a:gd name="T44" fmla="*/ 2147483646 w 112"/>
                <a:gd name="T45" fmla="*/ 2147483646 h 77"/>
                <a:gd name="T46" fmla="*/ 2147483646 w 112"/>
                <a:gd name="T47" fmla="*/ 2147483646 h 77"/>
                <a:gd name="T48" fmla="*/ 2147483646 w 112"/>
                <a:gd name="T49" fmla="*/ 2147483646 h 77"/>
                <a:gd name="T50" fmla="*/ 2147483646 w 112"/>
                <a:gd name="T51" fmla="*/ 2147483646 h 77"/>
                <a:gd name="T52" fmla="*/ 2147483646 w 112"/>
                <a:gd name="T53" fmla="*/ 2147483646 h 77"/>
                <a:gd name="T54" fmla="*/ 2147483646 w 112"/>
                <a:gd name="T55" fmla="*/ 2147483646 h 77"/>
                <a:gd name="T56" fmla="*/ 2147483646 w 112"/>
                <a:gd name="T57" fmla="*/ 2147483646 h 77"/>
                <a:gd name="T58" fmla="*/ 2147483646 w 112"/>
                <a:gd name="T59" fmla="*/ 2147483646 h 77"/>
                <a:gd name="T60" fmla="*/ 2147483646 w 112"/>
                <a:gd name="T61" fmla="*/ 2147483646 h 77"/>
                <a:gd name="T62" fmla="*/ 2147483646 w 112"/>
                <a:gd name="T63" fmla="*/ 2147483646 h 77"/>
                <a:gd name="T64" fmla="*/ 2147483646 w 112"/>
                <a:gd name="T65" fmla="*/ 2147483646 h 77"/>
                <a:gd name="T66" fmla="*/ 2147483646 w 112"/>
                <a:gd name="T67" fmla="*/ 2147483646 h 77"/>
                <a:gd name="T68" fmla="*/ 2147483646 w 112"/>
                <a:gd name="T69" fmla="*/ 2147483646 h 77"/>
                <a:gd name="T70" fmla="*/ 2147483646 w 112"/>
                <a:gd name="T71" fmla="*/ 2147483646 h 77"/>
                <a:gd name="T72" fmla="*/ 2147483646 w 112"/>
                <a:gd name="T73" fmla="*/ 2147483646 h 77"/>
                <a:gd name="T74" fmla="*/ 2147483646 w 112"/>
                <a:gd name="T75" fmla="*/ 2147483646 h 77"/>
                <a:gd name="T76" fmla="*/ 2147483646 w 112"/>
                <a:gd name="T77" fmla="*/ 2147483646 h 77"/>
                <a:gd name="T78" fmla="*/ 2147483646 w 112"/>
                <a:gd name="T79" fmla="*/ 2147483646 h 77"/>
                <a:gd name="T80" fmla="*/ 2147483646 w 112"/>
                <a:gd name="T81" fmla="*/ 2147483646 h 77"/>
                <a:gd name="T82" fmla="*/ 2147483646 w 112"/>
                <a:gd name="T83" fmla="*/ 2147483646 h 77"/>
                <a:gd name="T84" fmla="*/ 2147483646 w 112"/>
                <a:gd name="T85" fmla="*/ 2147483646 h 77"/>
                <a:gd name="T86" fmla="*/ 2147483646 w 112"/>
                <a:gd name="T87" fmla="*/ 2147483646 h 77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112" h="77">
                  <a:moveTo>
                    <a:pt x="56" y="0"/>
                  </a:moveTo>
                  <a:cubicBezTo>
                    <a:pt x="62" y="0"/>
                    <a:pt x="66" y="4"/>
                    <a:pt x="66" y="10"/>
                  </a:cubicBezTo>
                  <a:cubicBezTo>
                    <a:pt x="66" y="15"/>
                    <a:pt x="62" y="20"/>
                    <a:pt x="56" y="20"/>
                  </a:cubicBezTo>
                  <a:cubicBezTo>
                    <a:pt x="51" y="20"/>
                    <a:pt x="46" y="15"/>
                    <a:pt x="46" y="10"/>
                  </a:cubicBezTo>
                  <a:cubicBezTo>
                    <a:pt x="46" y="4"/>
                    <a:pt x="51" y="0"/>
                    <a:pt x="56" y="0"/>
                  </a:cubicBezTo>
                  <a:close/>
                  <a:moveTo>
                    <a:pt x="15" y="49"/>
                  </a:moveTo>
                  <a:cubicBezTo>
                    <a:pt x="15" y="66"/>
                    <a:pt x="15" y="66"/>
                    <a:pt x="15" y="66"/>
                  </a:cubicBezTo>
                  <a:cubicBezTo>
                    <a:pt x="10" y="66"/>
                    <a:pt x="10" y="66"/>
                    <a:pt x="10" y="66"/>
                  </a:cubicBezTo>
                  <a:cubicBezTo>
                    <a:pt x="10" y="52"/>
                    <a:pt x="10" y="52"/>
                    <a:pt x="10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66"/>
                    <a:pt x="9" y="66"/>
                    <a:pt x="9" y="66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49"/>
                    <a:pt x="4" y="49"/>
                    <a:pt x="4" y="49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0" y="31"/>
                    <a:pt x="1" y="29"/>
                    <a:pt x="4" y="29"/>
                  </a:cubicBezTo>
                  <a:cubicBezTo>
                    <a:pt x="13" y="29"/>
                    <a:pt x="13" y="29"/>
                    <a:pt x="13" y="29"/>
                  </a:cubicBezTo>
                  <a:cubicBezTo>
                    <a:pt x="13" y="30"/>
                    <a:pt x="13" y="30"/>
                    <a:pt x="13" y="31"/>
                  </a:cubicBezTo>
                  <a:cubicBezTo>
                    <a:pt x="13" y="49"/>
                    <a:pt x="13" y="49"/>
                    <a:pt x="13" y="49"/>
                  </a:cubicBezTo>
                  <a:cubicBezTo>
                    <a:pt x="15" y="49"/>
                    <a:pt x="15" y="49"/>
                    <a:pt x="15" y="49"/>
                  </a:cubicBezTo>
                  <a:close/>
                  <a:moveTo>
                    <a:pt x="10" y="15"/>
                  </a:moveTo>
                  <a:cubicBezTo>
                    <a:pt x="13" y="15"/>
                    <a:pt x="16" y="18"/>
                    <a:pt x="16" y="22"/>
                  </a:cubicBezTo>
                  <a:cubicBezTo>
                    <a:pt x="16" y="23"/>
                    <a:pt x="16" y="24"/>
                    <a:pt x="15" y="25"/>
                  </a:cubicBezTo>
                  <a:cubicBezTo>
                    <a:pt x="15" y="26"/>
                    <a:pt x="15" y="26"/>
                    <a:pt x="14" y="26"/>
                  </a:cubicBezTo>
                  <a:cubicBezTo>
                    <a:pt x="13" y="27"/>
                    <a:pt x="12" y="28"/>
                    <a:pt x="10" y="28"/>
                  </a:cubicBezTo>
                  <a:cubicBezTo>
                    <a:pt x="6" y="28"/>
                    <a:pt x="3" y="25"/>
                    <a:pt x="3" y="22"/>
                  </a:cubicBezTo>
                  <a:cubicBezTo>
                    <a:pt x="3" y="18"/>
                    <a:pt x="6" y="15"/>
                    <a:pt x="10" y="15"/>
                  </a:cubicBezTo>
                  <a:close/>
                  <a:moveTo>
                    <a:pt x="96" y="49"/>
                  </a:moveTo>
                  <a:cubicBezTo>
                    <a:pt x="96" y="66"/>
                    <a:pt x="96" y="66"/>
                    <a:pt x="96" y="66"/>
                  </a:cubicBezTo>
                  <a:cubicBezTo>
                    <a:pt x="101" y="66"/>
                    <a:pt x="101" y="66"/>
                    <a:pt x="101" y="66"/>
                  </a:cubicBezTo>
                  <a:cubicBezTo>
                    <a:pt x="101" y="52"/>
                    <a:pt x="101" y="52"/>
                    <a:pt x="101" y="52"/>
                  </a:cubicBezTo>
                  <a:cubicBezTo>
                    <a:pt x="102" y="52"/>
                    <a:pt x="102" y="52"/>
                    <a:pt x="102" y="52"/>
                  </a:cubicBezTo>
                  <a:cubicBezTo>
                    <a:pt x="102" y="66"/>
                    <a:pt x="102" y="66"/>
                    <a:pt x="102" y="66"/>
                  </a:cubicBezTo>
                  <a:cubicBezTo>
                    <a:pt x="107" y="66"/>
                    <a:pt x="107" y="66"/>
                    <a:pt x="107" y="66"/>
                  </a:cubicBezTo>
                  <a:cubicBezTo>
                    <a:pt x="107" y="49"/>
                    <a:pt x="107" y="49"/>
                    <a:pt x="107" y="49"/>
                  </a:cubicBezTo>
                  <a:cubicBezTo>
                    <a:pt x="107" y="46"/>
                    <a:pt x="107" y="46"/>
                    <a:pt x="107" y="46"/>
                  </a:cubicBezTo>
                  <a:cubicBezTo>
                    <a:pt x="107" y="37"/>
                    <a:pt x="107" y="37"/>
                    <a:pt x="107" y="37"/>
                  </a:cubicBezTo>
                  <a:cubicBezTo>
                    <a:pt x="107" y="37"/>
                    <a:pt x="107" y="37"/>
                    <a:pt x="107" y="37"/>
                  </a:cubicBezTo>
                  <a:cubicBezTo>
                    <a:pt x="107" y="46"/>
                    <a:pt x="107" y="46"/>
                    <a:pt x="107" y="46"/>
                  </a:cubicBezTo>
                  <a:cubicBezTo>
                    <a:pt x="112" y="46"/>
                    <a:pt x="112" y="46"/>
                    <a:pt x="112" y="46"/>
                  </a:cubicBezTo>
                  <a:cubicBezTo>
                    <a:pt x="112" y="33"/>
                    <a:pt x="112" y="33"/>
                    <a:pt x="112" y="33"/>
                  </a:cubicBezTo>
                  <a:cubicBezTo>
                    <a:pt x="112" y="31"/>
                    <a:pt x="110" y="29"/>
                    <a:pt x="107" y="29"/>
                  </a:cubicBezTo>
                  <a:cubicBezTo>
                    <a:pt x="98" y="29"/>
                    <a:pt x="98" y="29"/>
                    <a:pt x="98" y="29"/>
                  </a:cubicBezTo>
                  <a:cubicBezTo>
                    <a:pt x="98" y="30"/>
                    <a:pt x="98" y="30"/>
                    <a:pt x="98" y="31"/>
                  </a:cubicBezTo>
                  <a:cubicBezTo>
                    <a:pt x="98" y="49"/>
                    <a:pt x="98" y="49"/>
                    <a:pt x="98" y="49"/>
                  </a:cubicBezTo>
                  <a:cubicBezTo>
                    <a:pt x="96" y="49"/>
                    <a:pt x="96" y="49"/>
                    <a:pt x="96" y="49"/>
                  </a:cubicBezTo>
                  <a:close/>
                  <a:moveTo>
                    <a:pt x="101" y="15"/>
                  </a:moveTo>
                  <a:cubicBezTo>
                    <a:pt x="98" y="15"/>
                    <a:pt x="95" y="18"/>
                    <a:pt x="95" y="22"/>
                  </a:cubicBezTo>
                  <a:cubicBezTo>
                    <a:pt x="95" y="23"/>
                    <a:pt x="95" y="24"/>
                    <a:pt x="96" y="25"/>
                  </a:cubicBezTo>
                  <a:cubicBezTo>
                    <a:pt x="96" y="26"/>
                    <a:pt x="97" y="26"/>
                    <a:pt x="97" y="26"/>
                  </a:cubicBezTo>
                  <a:cubicBezTo>
                    <a:pt x="98" y="27"/>
                    <a:pt x="100" y="28"/>
                    <a:pt x="101" y="28"/>
                  </a:cubicBezTo>
                  <a:cubicBezTo>
                    <a:pt x="105" y="28"/>
                    <a:pt x="108" y="25"/>
                    <a:pt x="108" y="22"/>
                  </a:cubicBezTo>
                  <a:cubicBezTo>
                    <a:pt x="108" y="18"/>
                    <a:pt x="105" y="15"/>
                    <a:pt x="101" y="15"/>
                  </a:cubicBezTo>
                  <a:close/>
                  <a:moveTo>
                    <a:pt x="75" y="51"/>
                  </a:moveTo>
                  <a:cubicBezTo>
                    <a:pt x="75" y="72"/>
                    <a:pt x="75" y="72"/>
                    <a:pt x="75" y="72"/>
                  </a:cubicBezTo>
                  <a:cubicBezTo>
                    <a:pt x="80" y="72"/>
                    <a:pt x="80" y="72"/>
                    <a:pt x="80" y="72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2" y="54"/>
                    <a:pt x="82" y="54"/>
                    <a:pt x="82" y="54"/>
                  </a:cubicBezTo>
                  <a:cubicBezTo>
                    <a:pt x="82" y="72"/>
                    <a:pt x="82" y="72"/>
                    <a:pt x="82" y="72"/>
                  </a:cubicBezTo>
                  <a:cubicBezTo>
                    <a:pt x="87" y="72"/>
                    <a:pt x="87" y="72"/>
                    <a:pt x="87" y="72"/>
                  </a:cubicBezTo>
                  <a:cubicBezTo>
                    <a:pt x="87" y="51"/>
                    <a:pt x="87" y="51"/>
                    <a:pt x="87" y="51"/>
                  </a:cubicBezTo>
                  <a:cubicBezTo>
                    <a:pt x="87" y="47"/>
                    <a:pt x="87" y="47"/>
                    <a:pt x="87" y="47"/>
                  </a:cubicBezTo>
                  <a:cubicBezTo>
                    <a:pt x="87" y="36"/>
                    <a:pt x="87" y="36"/>
                    <a:pt x="87" y="36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4" y="31"/>
                    <a:pt x="94" y="31"/>
                    <a:pt x="94" y="31"/>
                  </a:cubicBezTo>
                  <a:cubicBezTo>
                    <a:pt x="94" y="28"/>
                    <a:pt x="91" y="26"/>
                    <a:pt x="88" y="26"/>
                  </a:cubicBezTo>
                  <a:cubicBezTo>
                    <a:pt x="77" y="26"/>
                    <a:pt x="77" y="26"/>
                    <a:pt x="77" y="26"/>
                  </a:cubicBezTo>
                  <a:cubicBezTo>
                    <a:pt x="77" y="27"/>
                    <a:pt x="77" y="28"/>
                    <a:pt x="77" y="28"/>
                  </a:cubicBezTo>
                  <a:cubicBezTo>
                    <a:pt x="77" y="51"/>
                    <a:pt x="77" y="51"/>
                    <a:pt x="77" y="51"/>
                  </a:cubicBezTo>
                  <a:cubicBezTo>
                    <a:pt x="75" y="51"/>
                    <a:pt x="75" y="51"/>
                    <a:pt x="75" y="51"/>
                  </a:cubicBezTo>
                  <a:close/>
                  <a:moveTo>
                    <a:pt x="65" y="47"/>
                  </a:moveTo>
                  <a:cubicBezTo>
                    <a:pt x="65" y="32"/>
                    <a:pt x="65" y="32"/>
                    <a:pt x="65" y="32"/>
                  </a:cubicBezTo>
                  <a:cubicBezTo>
                    <a:pt x="64" y="32"/>
                    <a:pt x="64" y="32"/>
                    <a:pt x="64" y="32"/>
                  </a:cubicBezTo>
                  <a:cubicBezTo>
                    <a:pt x="64" y="47"/>
                    <a:pt x="64" y="47"/>
                    <a:pt x="64" y="47"/>
                  </a:cubicBezTo>
                  <a:cubicBezTo>
                    <a:pt x="64" y="50"/>
                    <a:pt x="64" y="50"/>
                    <a:pt x="64" y="50"/>
                  </a:cubicBezTo>
                  <a:cubicBezTo>
                    <a:pt x="64" y="77"/>
                    <a:pt x="64" y="77"/>
                    <a:pt x="64" y="77"/>
                  </a:cubicBezTo>
                  <a:cubicBezTo>
                    <a:pt x="57" y="77"/>
                    <a:pt x="57" y="77"/>
                    <a:pt x="57" y="77"/>
                  </a:cubicBezTo>
                  <a:cubicBezTo>
                    <a:pt x="57" y="55"/>
                    <a:pt x="57" y="55"/>
                    <a:pt x="57" y="55"/>
                  </a:cubicBezTo>
                  <a:cubicBezTo>
                    <a:pt x="55" y="55"/>
                    <a:pt x="55" y="55"/>
                    <a:pt x="55" y="55"/>
                  </a:cubicBezTo>
                  <a:cubicBezTo>
                    <a:pt x="55" y="77"/>
                    <a:pt x="55" y="77"/>
                    <a:pt x="55" y="77"/>
                  </a:cubicBezTo>
                  <a:cubicBezTo>
                    <a:pt x="48" y="77"/>
                    <a:pt x="48" y="77"/>
                    <a:pt x="48" y="77"/>
                  </a:cubicBezTo>
                  <a:cubicBezTo>
                    <a:pt x="48" y="50"/>
                    <a:pt x="48" y="50"/>
                    <a:pt x="48" y="50"/>
                  </a:cubicBezTo>
                  <a:cubicBezTo>
                    <a:pt x="48" y="47"/>
                    <a:pt x="48" y="47"/>
                    <a:pt x="48" y="47"/>
                  </a:cubicBezTo>
                  <a:cubicBezTo>
                    <a:pt x="48" y="32"/>
                    <a:pt x="48" y="32"/>
                    <a:pt x="48" y="32"/>
                  </a:cubicBezTo>
                  <a:cubicBezTo>
                    <a:pt x="47" y="32"/>
                    <a:pt x="47" y="32"/>
                    <a:pt x="47" y="32"/>
                  </a:cubicBezTo>
                  <a:cubicBezTo>
                    <a:pt x="47" y="47"/>
                    <a:pt x="47" y="47"/>
                    <a:pt x="47" y="47"/>
                  </a:cubicBezTo>
                  <a:cubicBezTo>
                    <a:pt x="41" y="47"/>
                    <a:pt x="41" y="47"/>
                    <a:pt x="41" y="47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1" y="24"/>
                    <a:pt x="44" y="21"/>
                    <a:pt x="47" y="21"/>
                  </a:cubicBezTo>
                  <a:cubicBezTo>
                    <a:pt x="66" y="21"/>
                    <a:pt x="46" y="21"/>
                    <a:pt x="65" y="21"/>
                  </a:cubicBezTo>
                  <a:cubicBezTo>
                    <a:pt x="69" y="21"/>
                    <a:pt x="71" y="24"/>
                    <a:pt x="71" y="27"/>
                  </a:cubicBezTo>
                  <a:cubicBezTo>
                    <a:pt x="71" y="47"/>
                    <a:pt x="71" y="47"/>
                    <a:pt x="71" y="47"/>
                  </a:cubicBezTo>
                  <a:cubicBezTo>
                    <a:pt x="70" y="47"/>
                    <a:pt x="68" y="47"/>
                    <a:pt x="65" y="47"/>
                  </a:cubicBezTo>
                  <a:close/>
                  <a:moveTo>
                    <a:pt x="37" y="51"/>
                  </a:moveTo>
                  <a:cubicBezTo>
                    <a:pt x="37" y="72"/>
                    <a:pt x="37" y="72"/>
                    <a:pt x="37" y="72"/>
                  </a:cubicBezTo>
                  <a:cubicBezTo>
                    <a:pt x="31" y="72"/>
                    <a:pt x="31" y="72"/>
                    <a:pt x="31" y="72"/>
                  </a:cubicBezTo>
                  <a:cubicBezTo>
                    <a:pt x="31" y="54"/>
                    <a:pt x="31" y="54"/>
                    <a:pt x="31" y="54"/>
                  </a:cubicBezTo>
                  <a:cubicBezTo>
                    <a:pt x="30" y="54"/>
                    <a:pt x="30" y="54"/>
                    <a:pt x="30" y="54"/>
                  </a:cubicBezTo>
                  <a:cubicBezTo>
                    <a:pt x="30" y="72"/>
                    <a:pt x="30" y="72"/>
                    <a:pt x="30" y="72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51"/>
                    <a:pt x="24" y="51"/>
                    <a:pt x="24" y="51"/>
                  </a:cubicBezTo>
                  <a:cubicBezTo>
                    <a:pt x="24" y="47"/>
                    <a:pt x="24" y="47"/>
                    <a:pt x="24" y="47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3" y="47"/>
                    <a:pt x="23" y="47"/>
                    <a:pt x="23" y="47"/>
                  </a:cubicBezTo>
                  <a:cubicBezTo>
                    <a:pt x="18" y="47"/>
                    <a:pt x="18" y="47"/>
                    <a:pt x="18" y="47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28"/>
                    <a:pt x="20" y="26"/>
                    <a:pt x="23" y="26"/>
                  </a:cubicBezTo>
                  <a:cubicBezTo>
                    <a:pt x="35" y="26"/>
                    <a:pt x="35" y="26"/>
                    <a:pt x="35" y="26"/>
                  </a:cubicBezTo>
                  <a:cubicBezTo>
                    <a:pt x="35" y="27"/>
                    <a:pt x="35" y="28"/>
                    <a:pt x="35" y="28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7" y="51"/>
                    <a:pt x="37" y="51"/>
                    <a:pt x="37" y="51"/>
                  </a:cubicBezTo>
                  <a:close/>
                  <a:moveTo>
                    <a:pt x="31" y="9"/>
                  </a:moveTo>
                  <a:cubicBezTo>
                    <a:pt x="35" y="9"/>
                    <a:pt x="39" y="12"/>
                    <a:pt x="39" y="17"/>
                  </a:cubicBezTo>
                  <a:cubicBezTo>
                    <a:pt x="39" y="19"/>
                    <a:pt x="38" y="20"/>
                    <a:pt x="37" y="22"/>
                  </a:cubicBezTo>
                  <a:cubicBezTo>
                    <a:pt x="37" y="22"/>
                    <a:pt x="37" y="22"/>
                    <a:pt x="37" y="23"/>
                  </a:cubicBezTo>
                  <a:cubicBezTo>
                    <a:pt x="35" y="24"/>
                    <a:pt x="33" y="25"/>
                    <a:pt x="31" y="25"/>
                  </a:cubicBezTo>
                  <a:cubicBezTo>
                    <a:pt x="26" y="25"/>
                    <a:pt x="22" y="21"/>
                    <a:pt x="22" y="17"/>
                  </a:cubicBezTo>
                  <a:cubicBezTo>
                    <a:pt x="22" y="12"/>
                    <a:pt x="26" y="9"/>
                    <a:pt x="31" y="9"/>
                  </a:cubicBezTo>
                  <a:close/>
                  <a:moveTo>
                    <a:pt x="81" y="9"/>
                  </a:moveTo>
                  <a:cubicBezTo>
                    <a:pt x="76" y="9"/>
                    <a:pt x="73" y="12"/>
                    <a:pt x="73" y="17"/>
                  </a:cubicBezTo>
                  <a:cubicBezTo>
                    <a:pt x="73" y="19"/>
                    <a:pt x="73" y="20"/>
                    <a:pt x="74" y="22"/>
                  </a:cubicBezTo>
                  <a:cubicBezTo>
                    <a:pt x="75" y="22"/>
                    <a:pt x="75" y="22"/>
                    <a:pt x="75" y="23"/>
                  </a:cubicBezTo>
                  <a:cubicBezTo>
                    <a:pt x="77" y="24"/>
                    <a:pt x="79" y="25"/>
                    <a:pt x="81" y="25"/>
                  </a:cubicBezTo>
                  <a:cubicBezTo>
                    <a:pt x="85" y="25"/>
                    <a:pt x="89" y="21"/>
                    <a:pt x="89" y="17"/>
                  </a:cubicBezTo>
                  <a:cubicBezTo>
                    <a:pt x="89" y="12"/>
                    <a:pt x="85" y="9"/>
                    <a:pt x="81" y="9"/>
                  </a:cubicBezTo>
                  <a:close/>
                </a:path>
              </a:pathLst>
            </a:custGeom>
            <a:solidFill>
              <a:srgbClr val="1A3F6C"/>
            </a:solidFill>
            <a:ln>
              <a:noFill/>
            </a:ln>
            <a:extLst/>
          </p:spPr>
          <p:txBody>
            <a:bodyPr anchor="ctr">
              <a:scene3d>
                <a:camera prst="orthographicFront"/>
                <a:lightRig rig="threePt" dir="t"/>
              </a:scene3d>
              <a:sp3d contourW="12700">
                <a:contourClr>
                  <a:srgbClr val="FFFFFF"/>
                </a:contourClr>
              </a:sp3d>
            </a:bodyPr>
            <a:lstStyle/>
            <a:p>
              <a:pPr algn="ctr">
                <a:defRPr/>
              </a:pPr>
              <a:endParaRPr lang="zh-CN" altLang="en-US" dirty="0">
                <a:solidFill>
                  <a:srgbClr val="FFFFFF"/>
                </a:solidFill>
                <a:ea typeface="微软雅黑" pitchFamily="34" charset="-122"/>
              </a:endParaRPr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4272013" y="1082507"/>
            <a:ext cx="4772955" cy="22504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 b="1" dirty="0">
                <a:solidFill>
                  <a:schemeClr val="tx2">
                    <a:lumMod val="40000"/>
                    <a:lumOff val="60000"/>
                  </a:schemeClr>
                </a:solidFill>
                <a:latin typeface="Heiti SC Medium" pitchFamily="2" charset="-128"/>
                <a:ea typeface="Heiti SC Medium" pitchFamily="2" charset="-128"/>
                <a:cs typeface="Yuppy SC" panose="020F0603040207020204" pitchFamily="34" charset="-122"/>
              </a:rPr>
              <a:t>独热表达</a:t>
            </a:r>
            <a:endParaRPr lang="en-US" altLang="zh-CN" sz="1600" b="1" dirty="0">
              <a:solidFill>
                <a:schemeClr val="tx2">
                  <a:lumMod val="40000"/>
                  <a:lumOff val="60000"/>
                </a:schemeClr>
              </a:solidFill>
              <a:latin typeface="Heiti SC Medium" pitchFamily="2" charset="-128"/>
              <a:ea typeface="Heiti SC Medium" pitchFamily="2" charset="-128"/>
              <a:cs typeface="Yuppy SC" panose="020F0603040207020204" pitchFamily="34" charset="-122"/>
            </a:endParaRPr>
          </a:p>
          <a:p>
            <a:pPr marL="342900" indent="-342900" algn="just">
              <a:lnSpc>
                <a:spcPct val="150000"/>
              </a:lnSpc>
              <a:buFont typeface="+mj-ea"/>
              <a:buAutoNum type="arabicPeriod"/>
            </a:pPr>
            <a:r>
              <a:rPr lang="zh-CN" altLang="en-US" sz="1600" b="1" dirty="0">
                <a:solidFill>
                  <a:schemeClr val="tx2"/>
                </a:solidFill>
                <a:latin typeface="Heiti SC Medium" pitchFamily="2" charset="-128"/>
                <a:ea typeface="Heiti SC Medium" pitchFamily="2" charset="-128"/>
                <a:cs typeface="Yuppy SC" panose="020F0603040207020204" pitchFamily="34" charset="-122"/>
              </a:rPr>
              <a:t>分布式表达</a:t>
            </a:r>
            <a:endParaRPr lang="en-US" altLang="zh-CN" sz="1600" b="1" dirty="0">
              <a:solidFill>
                <a:schemeClr val="tx2"/>
              </a:solidFill>
              <a:latin typeface="Heiti SC Medium" pitchFamily="2" charset="-128"/>
              <a:ea typeface="Heiti SC Medium" pitchFamily="2" charset="-128"/>
              <a:cs typeface="Yuppy SC" panose="020F0603040207020204" pitchFamily="34" charset="-122"/>
            </a:endParaRP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b="1" dirty="0">
                <a:solidFill>
                  <a:schemeClr val="tx2">
                    <a:lumMod val="40000"/>
                    <a:lumOff val="60000"/>
                  </a:schemeClr>
                </a:solidFill>
                <a:latin typeface="Heiti SC Medium" pitchFamily="2" charset="-128"/>
                <a:ea typeface="Heiti SC Medium" pitchFamily="2" charset="-128"/>
                <a:cs typeface="Yuppy SC" panose="020F0603040207020204" pitchFamily="34" charset="-122"/>
              </a:rPr>
              <a:t>分布表达背景介绍</a:t>
            </a:r>
            <a:endParaRPr lang="en-US" altLang="zh-CN" sz="1600" b="1" dirty="0">
              <a:solidFill>
                <a:schemeClr val="tx2">
                  <a:lumMod val="40000"/>
                  <a:lumOff val="60000"/>
                </a:schemeClr>
              </a:solidFill>
              <a:latin typeface="Heiti SC Medium" pitchFamily="2" charset="-128"/>
              <a:ea typeface="Heiti SC Medium" pitchFamily="2" charset="-128"/>
              <a:cs typeface="Yuppy SC" panose="020F0603040207020204" pitchFamily="34" charset="-122"/>
            </a:endParaRP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b="1" dirty="0">
                <a:solidFill>
                  <a:schemeClr val="tx2"/>
                </a:solidFill>
                <a:latin typeface="Heiti SC Medium" pitchFamily="2" charset="-128"/>
                <a:ea typeface="Heiti SC Medium" pitchFamily="2" charset="-128"/>
                <a:cs typeface="Yuppy SC" panose="020F0603040207020204" pitchFamily="34" charset="-122"/>
              </a:rPr>
              <a:t>话题模型</a:t>
            </a:r>
            <a:endParaRPr lang="en-US" altLang="zh-CN" sz="1600" b="1" dirty="0">
              <a:solidFill>
                <a:schemeClr val="tx2"/>
              </a:solidFill>
              <a:latin typeface="Heiti SC Medium" pitchFamily="2" charset="-128"/>
              <a:ea typeface="Heiti SC Medium" pitchFamily="2" charset="-128"/>
              <a:cs typeface="Yuppy SC" panose="020F0603040207020204" pitchFamily="34" charset="-122"/>
            </a:endParaRP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b="1" dirty="0">
                <a:solidFill>
                  <a:schemeClr val="tx2">
                    <a:lumMod val="40000"/>
                    <a:lumOff val="60000"/>
                  </a:schemeClr>
                </a:solidFill>
                <a:latin typeface="Heiti SC Medium" pitchFamily="2" charset="-128"/>
                <a:ea typeface="Heiti SC Medium" pitchFamily="2" charset="-128"/>
                <a:cs typeface="Yuppy SC" panose="020F0603040207020204" pitchFamily="34" charset="-122"/>
              </a:rPr>
              <a:t>词嵌入</a:t>
            </a:r>
            <a:endParaRPr lang="en-US" altLang="zh-CN" sz="1600" b="1" dirty="0">
              <a:solidFill>
                <a:schemeClr val="tx2">
                  <a:lumMod val="40000"/>
                  <a:lumOff val="60000"/>
                </a:schemeClr>
              </a:solidFill>
              <a:latin typeface="Heiti SC Medium" pitchFamily="2" charset="-128"/>
              <a:ea typeface="Heiti SC Medium" pitchFamily="2" charset="-128"/>
              <a:cs typeface="Yuppy SC" panose="020F0603040207020204" pitchFamily="34" charset="-122"/>
            </a:endParaRPr>
          </a:p>
          <a:p>
            <a:pPr marL="342900" indent="-342900" algn="just">
              <a:lnSpc>
                <a:spcPct val="150000"/>
              </a:lnSpc>
              <a:buFont typeface="+mj-ea"/>
              <a:buAutoNum type="arabicPeriod"/>
            </a:pPr>
            <a:r>
              <a:rPr lang="zh-CN" altLang="en-US" sz="1600" b="1" dirty="0">
                <a:solidFill>
                  <a:schemeClr val="tx2">
                    <a:lumMod val="40000"/>
                    <a:lumOff val="60000"/>
                  </a:schemeClr>
                </a:solidFill>
                <a:latin typeface="Heiti SC Medium" pitchFamily="2" charset="-128"/>
                <a:ea typeface="Heiti SC Medium" pitchFamily="2" charset="-128"/>
                <a:cs typeface="Yuppy SC" panose="020F0603040207020204" pitchFamily="34" charset="-122"/>
              </a:rPr>
              <a:t>文本表达实践</a:t>
            </a:r>
            <a:endParaRPr lang="en-US" altLang="zh-CN" sz="1600" b="1" dirty="0">
              <a:solidFill>
                <a:schemeClr val="tx2">
                  <a:lumMod val="40000"/>
                  <a:lumOff val="60000"/>
                </a:schemeClr>
              </a:solidFill>
              <a:latin typeface="Heiti SC Medium" pitchFamily="2" charset="-128"/>
              <a:ea typeface="Heiti SC Medium" pitchFamily="2" charset="-128"/>
              <a:cs typeface="Yuppy SC" panose="020F0603040207020204" pitchFamily="34" charset="-122"/>
            </a:endParaRPr>
          </a:p>
        </p:txBody>
      </p:sp>
      <p:sp>
        <p:nvSpPr>
          <p:cNvPr id="24" name="椭圆 23"/>
          <p:cNvSpPr/>
          <p:nvPr/>
        </p:nvSpPr>
        <p:spPr>
          <a:xfrm>
            <a:off x="3858547" y="1207481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A3F6C"/>
              </a:solidFill>
            </a:endParaRPr>
          </a:p>
        </p:txBody>
      </p:sp>
      <p:sp>
        <p:nvSpPr>
          <p:cNvPr id="25" name="椭圆 24"/>
          <p:cNvSpPr/>
          <p:nvPr/>
        </p:nvSpPr>
        <p:spPr>
          <a:xfrm>
            <a:off x="3858547" y="1896643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A3F6C"/>
              </a:solidFill>
            </a:endParaRPr>
          </a:p>
        </p:txBody>
      </p:sp>
      <p:sp>
        <p:nvSpPr>
          <p:cNvPr id="26" name="椭圆 25"/>
          <p:cNvSpPr/>
          <p:nvPr/>
        </p:nvSpPr>
        <p:spPr>
          <a:xfrm>
            <a:off x="3858547" y="2262426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A3F6C"/>
              </a:solidFill>
            </a:endParaRPr>
          </a:p>
        </p:txBody>
      </p:sp>
      <p:sp>
        <p:nvSpPr>
          <p:cNvPr id="27" name="椭圆 26"/>
          <p:cNvSpPr/>
          <p:nvPr/>
        </p:nvSpPr>
        <p:spPr>
          <a:xfrm>
            <a:off x="3858547" y="2628210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A3F6C"/>
              </a:solidFill>
            </a:endParaRPr>
          </a:p>
        </p:txBody>
      </p:sp>
      <p:sp>
        <p:nvSpPr>
          <p:cNvPr id="30" name="椭圆 29"/>
          <p:cNvSpPr/>
          <p:nvPr/>
        </p:nvSpPr>
        <p:spPr>
          <a:xfrm>
            <a:off x="3858547" y="1549195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A3F6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5838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矩阵分解应用</a:t>
            </a:r>
            <a:r>
              <a:rPr lang="en-US" altLang="zh-CN" dirty="0"/>
              <a:t>:</a:t>
            </a:r>
            <a:r>
              <a:rPr lang="zh-CN" altLang="en-US" dirty="0"/>
              <a:t>主题模型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57200" y="3201877"/>
            <a:ext cx="8229600" cy="1988252"/>
          </a:xfrm>
        </p:spPr>
        <p:txBody>
          <a:bodyPr>
            <a:normAutofit/>
          </a:bodyPr>
          <a:lstStyle/>
          <a:p>
            <a:r>
              <a:rPr lang="zh-CN" altLang="en-US" sz="2100" dirty="0"/>
              <a:t>输入：文档集合（</a:t>
            </a:r>
            <a:r>
              <a:rPr lang="en-US" altLang="zh-CN" sz="2100" dirty="0"/>
              <a:t>Bag</a:t>
            </a:r>
            <a:r>
              <a:rPr lang="zh-CN" altLang="en-US" sz="2100" dirty="0"/>
              <a:t> </a:t>
            </a:r>
            <a:r>
              <a:rPr lang="en-US" altLang="zh-CN" sz="2100" dirty="0"/>
              <a:t>of</a:t>
            </a:r>
            <a:r>
              <a:rPr lang="zh-CN" altLang="en-US" sz="2100" dirty="0"/>
              <a:t> </a:t>
            </a:r>
            <a:r>
              <a:rPr lang="en-US" altLang="zh-CN" sz="2100" dirty="0"/>
              <a:t>words</a:t>
            </a:r>
            <a:r>
              <a:rPr lang="zh-CN" altLang="en-US" sz="2100" dirty="0"/>
              <a:t>表达）</a:t>
            </a:r>
            <a:endParaRPr lang="en-US" sz="2100" dirty="0"/>
          </a:p>
          <a:p>
            <a:r>
              <a:rPr lang="zh-CN" altLang="en-US" sz="2100" dirty="0"/>
              <a:t>目标：发现文档中“潜在的”话题</a:t>
            </a:r>
            <a:endParaRPr lang="en-US" sz="2100" dirty="0"/>
          </a:p>
          <a:p>
            <a:r>
              <a:rPr lang="zh-CN" altLang="en-US" sz="2100" dirty="0"/>
              <a:t>输出</a:t>
            </a:r>
            <a:endParaRPr lang="en-US" sz="2100" dirty="0"/>
          </a:p>
          <a:p>
            <a:pPr lvl="1"/>
            <a:r>
              <a:rPr lang="zh-CN" altLang="en-US" dirty="0"/>
              <a:t>潜在话题（不同权重的词）</a:t>
            </a:r>
            <a:endParaRPr lang="en-US" altLang="zh-CN" dirty="0"/>
          </a:p>
          <a:p>
            <a:pPr lvl="1"/>
            <a:r>
              <a:rPr lang="zh-CN" altLang="en-US" dirty="0"/>
              <a:t>用话题表达的文档</a:t>
            </a:r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64DDB-364C-410E-A66B-B19CEFA5EF0F}" type="slidenum">
              <a:rPr lang="zh-CN" altLang="en-US" smtClean="0"/>
              <a:pPr/>
              <a:t>17</a:t>
            </a:fld>
            <a:endParaRPr lang="zh-CN" altLang="en-US"/>
          </a:p>
        </p:txBody>
      </p:sp>
      <p:grpSp>
        <p:nvGrpSpPr>
          <p:cNvPr id="6" name="Group 59"/>
          <p:cNvGrpSpPr/>
          <p:nvPr/>
        </p:nvGrpSpPr>
        <p:grpSpPr>
          <a:xfrm>
            <a:off x="2717598" y="1037920"/>
            <a:ext cx="748154" cy="1918102"/>
            <a:chOff x="2057400" y="2602468"/>
            <a:chExt cx="997537" cy="2557468"/>
          </a:xfrm>
        </p:grpSpPr>
        <p:sp>
          <p:nvSpPr>
            <p:cNvPr id="7" name="TextBox 3"/>
            <p:cNvSpPr txBox="1"/>
            <p:nvPr/>
          </p:nvSpPr>
          <p:spPr>
            <a:xfrm>
              <a:off x="2057400" y="2602468"/>
              <a:ext cx="847923" cy="400109"/>
            </a:xfrm>
            <a:prstGeom prst="rect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lang="en-US" sz="1350" dirty="0"/>
                <a:t>word1</a:t>
              </a:r>
            </a:p>
          </p:txBody>
        </p:sp>
        <p:sp>
          <p:nvSpPr>
            <p:cNvPr id="8" name="TextBox 5"/>
            <p:cNvSpPr txBox="1"/>
            <p:nvPr/>
          </p:nvSpPr>
          <p:spPr>
            <a:xfrm>
              <a:off x="2057400" y="3133725"/>
              <a:ext cx="847923" cy="400109"/>
            </a:xfrm>
            <a:prstGeom prst="rect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lang="en-US" sz="1350" dirty="0"/>
                <a:t>word2</a:t>
              </a:r>
            </a:p>
          </p:txBody>
        </p:sp>
        <p:sp>
          <p:nvSpPr>
            <p:cNvPr id="9" name="TextBox 6"/>
            <p:cNvSpPr txBox="1"/>
            <p:nvPr/>
          </p:nvSpPr>
          <p:spPr>
            <a:xfrm>
              <a:off x="2057400" y="3688794"/>
              <a:ext cx="847923" cy="400109"/>
            </a:xfrm>
            <a:prstGeom prst="rect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lang="en-US" sz="1350" dirty="0"/>
                <a:t>word3</a:t>
              </a:r>
            </a:p>
          </p:txBody>
        </p:sp>
        <p:sp>
          <p:nvSpPr>
            <p:cNvPr id="10" name="TextBox 7"/>
            <p:cNvSpPr txBox="1"/>
            <p:nvPr/>
          </p:nvSpPr>
          <p:spPr>
            <a:xfrm>
              <a:off x="2278389" y="4200472"/>
              <a:ext cx="406522" cy="40010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lang="en-US" sz="1350" dirty="0"/>
                <a:t>…</a:t>
              </a:r>
            </a:p>
          </p:txBody>
        </p:sp>
        <p:sp>
          <p:nvSpPr>
            <p:cNvPr id="11" name="TextBox 8"/>
            <p:cNvSpPr txBox="1"/>
            <p:nvPr/>
          </p:nvSpPr>
          <p:spPr>
            <a:xfrm>
              <a:off x="2057400" y="4759827"/>
              <a:ext cx="997537" cy="400109"/>
            </a:xfrm>
            <a:prstGeom prst="rect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lang="en-US" sz="1350" dirty="0"/>
                <a:t>word-M</a:t>
              </a:r>
            </a:p>
          </p:txBody>
        </p:sp>
      </p:grpSp>
      <p:grpSp>
        <p:nvGrpSpPr>
          <p:cNvPr id="12" name="Group 61"/>
          <p:cNvGrpSpPr/>
          <p:nvPr/>
        </p:nvGrpSpPr>
        <p:grpSpPr>
          <a:xfrm>
            <a:off x="4155977" y="1124856"/>
            <a:ext cx="679930" cy="1618421"/>
            <a:chOff x="3962400" y="2812018"/>
            <a:chExt cx="906572" cy="2157895"/>
          </a:xfrm>
        </p:grpSpPr>
        <p:sp>
          <p:nvSpPr>
            <p:cNvPr id="13" name="TextBox 9"/>
            <p:cNvSpPr txBox="1"/>
            <p:nvPr/>
          </p:nvSpPr>
          <p:spPr>
            <a:xfrm>
              <a:off x="3962400" y="2812018"/>
              <a:ext cx="833903" cy="400109"/>
            </a:xfrm>
            <a:prstGeom prst="rect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lang="en-US" sz="1350" dirty="0"/>
                <a:t>topic1</a:t>
              </a:r>
            </a:p>
          </p:txBody>
        </p:sp>
        <p:sp>
          <p:nvSpPr>
            <p:cNvPr id="14" name="TextBox 10"/>
            <p:cNvSpPr txBox="1"/>
            <p:nvPr/>
          </p:nvSpPr>
          <p:spPr>
            <a:xfrm>
              <a:off x="3962400" y="3504127"/>
              <a:ext cx="833903" cy="400109"/>
            </a:xfrm>
            <a:prstGeom prst="rect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lang="en-US" sz="1350" dirty="0"/>
                <a:t>topic2</a:t>
              </a:r>
            </a:p>
          </p:txBody>
        </p:sp>
        <p:sp>
          <p:nvSpPr>
            <p:cNvPr id="15" name="TextBox 11"/>
            <p:cNvSpPr txBox="1"/>
            <p:nvPr/>
          </p:nvSpPr>
          <p:spPr>
            <a:xfrm>
              <a:off x="3962400" y="4569804"/>
              <a:ext cx="906572" cy="400109"/>
            </a:xfrm>
            <a:prstGeom prst="rect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lang="en-US" sz="1350" dirty="0"/>
                <a:t>topic-K</a:t>
              </a:r>
            </a:p>
          </p:txBody>
        </p:sp>
        <p:sp>
          <p:nvSpPr>
            <p:cNvPr id="16" name="TextBox 12"/>
            <p:cNvSpPr txBox="1"/>
            <p:nvPr/>
          </p:nvSpPr>
          <p:spPr>
            <a:xfrm>
              <a:off x="4176080" y="4015805"/>
              <a:ext cx="406522" cy="40010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>
              <a:defPPr>
                <a:defRPr lang="en-US"/>
              </a:defPPr>
            </a:lstStyle>
            <a:p>
              <a:r>
                <a:rPr lang="en-US" sz="1350" dirty="0"/>
                <a:t>…</a:t>
              </a:r>
            </a:p>
          </p:txBody>
        </p:sp>
      </p:grpSp>
      <p:grpSp>
        <p:nvGrpSpPr>
          <p:cNvPr id="17" name="Group 62"/>
          <p:cNvGrpSpPr/>
          <p:nvPr/>
        </p:nvGrpSpPr>
        <p:grpSpPr>
          <a:xfrm>
            <a:off x="3353542" y="1187961"/>
            <a:ext cx="802436" cy="1618020"/>
            <a:chOff x="2896526" y="1472958"/>
            <a:chExt cx="1069914" cy="2157361"/>
          </a:xfrm>
        </p:grpSpPr>
        <p:cxnSp>
          <p:nvCxnSpPr>
            <p:cNvPr id="18" name="Straight Arrow Connector 17"/>
            <p:cNvCxnSpPr>
              <a:stCxn id="8" idx="3"/>
              <a:endCxn id="13" idx="1"/>
            </p:cNvCxnSpPr>
            <p:nvPr/>
          </p:nvCxnSpPr>
          <p:spPr>
            <a:xfrm flipV="1">
              <a:off x="2896527" y="1588873"/>
              <a:ext cx="1069913" cy="415343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Straight Arrow Connector 19"/>
            <p:cNvCxnSpPr>
              <a:stCxn id="7" idx="3"/>
              <a:endCxn id="14" idx="1"/>
            </p:cNvCxnSpPr>
            <p:nvPr/>
          </p:nvCxnSpPr>
          <p:spPr>
            <a:xfrm>
              <a:off x="2896526" y="1472958"/>
              <a:ext cx="1069913" cy="808024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Straight Arrow Connector 22"/>
            <p:cNvCxnSpPr>
              <a:stCxn id="7" idx="3"/>
              <a:endCxn id="15" idx="1"/>
            </p:cNvCxnSpPr>
            <p:nvPr/>
          </p:nvCxnSpPr>
          <p:spPr>
            <a:xfrm>
              <a:off x="2896526" y="1472958"/>
              <a:ext cx="1069914" cy="1873701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Straight Arrow Connector 26"/>
            <p:cNvCxnSpPr>
              <a:stCxn id="11" idx="3"/>
              <a:endCxn id="15" idx="1"/>
            </p:cNvCxnSpPr>
            <p:nvPr/>
          </p:nvCxnSpPr>
          <p:spPr>
            <a:xfrm flipV="1">
              <a:off x="3046140" y="3346659"/>
              <a:ext cx="920300" cy="283660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Straight Arrow Connector 29"/>
            <p:cNvCxnSpPr>
              <a:stCxn id="11" idx="3"/>
              <a:endCxn id="14" idx="1"/>
            </p:cNvCxnSpPr>
            <p:nvPr/>
          </p:nvCxnSpPr>
          <p:spPr>
            <a:xfrm flipV="1">
              <a:off x="3046140" y="2280982"/>
              <a:ext cx="920298" cy="1349337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Straight Arrow Connector 32"/>
            <p:cNvCxnSpPr>
              <a:stCxn id="9" idx="3"/>
              <a:endCxn id="13" idx="1"/>
            </p:cNvCxnSpPr>
            <p:nvPr/>
          </p:nvCxnSpPr>
          <p:spPr>
            <a:xfrm flipV="1">
              <a:off x="2896526" y="1588873"/>
              <a:ext cx="1069913" cy="970412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Straight Arrow Connector 35"/>
            <p:cNvCxnSpPr>
              <a:stCxn id="8" idx="3"/>
              <a:endCxn id="15" idx="1"/>
            </p:cNvCxnSpPr>
            <p:nvPr/>
          </p:nvCxnSpPr>
          <p:spPr>
            <a:xfrm>
              <a:off x="2896526" y="2004216"/>
              <a:ext cx="1069914" cy="1342443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5" name="Group 60"/>
          <p:cNvGrpSpPr/>
          <p:nvPr/>
        </p:nvGrpSpPr>
        <p:grpSpPr>
          <a:xfrm>
            <a:off x="5581699" y="1039342"/>
            <a:ext cx="628651" cy="2055978"/>
            <a:chOff x="6172199" y="2417801"/>
            <a:chExt cx="838201" cy="2741303"/>
          </a:xfrm>
        </p:grpSpPr>
        <p:sp>
          <p:nvSpPr>
            <p:cNvPr id="26" name="Flowchart: Document 4"/>
            <p:cNvSpPr/>
            <p:nvPr/>
          </p:nvSpPr>
          <p:spPr>
            <a:xfrm>
              <a:off x="6172199" y="2417801"/>
              <a:ext cx="833911" cy="406332"/>
            </a:xfrm>
            <a:prstGeom prst="flowChartDocument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350" dirty="0"/>
                <a:t>doc1</a:t>
              </a:r>
            </a:p>
          </p:txBody>
        </p:sp>
        <p:sp>
          <p:nvSpPr>
            <p:cNvPr id="27" name="Flowchart: Document 14"/>
            <p:cNvSpPr/>
            <p:nvPr/>
          </p:nvSpPr>
          <p:spPr>
            <a:xfrm>
              <a:off x="6172200" y="3025503"/>
              <a:ext cx="833899" cy="413477"/>
            </a:xfrm>
            <a:prstGeom prst="flowChartDocument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350" dirty="0"/>
                <a:t>doc2</a:t>
              </a:r>
            </a:p>
          </p:txBody>
        </p:sp>
        <p:sp>
          <p:nvSpPr>
            <p:cNvPr id="28" name="Flowchart: Document 15"/>
            <p:cNvSpPr/>
            <p:nvPr/>
          </p:nvSpPr>
          <p:spPr>
            <a:xfrm>
              <a:off x="6172200" y="3688794"/>
              <a:ext cx="833898" cy="429720"/>
            </a:xfrm>
            <a:prstGeom prst="flowChartDocument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350" dirty="0"/>
                <a:t>doc3</a:t>
              </a:r>
            </a:p>
          </p:txBody>
        </p:sp>
        <p:sp>
          <p:nvSpPr>
            <p:cNvPr id="29" name="Flowchart: Document 16"/>
            <p:cNvSpPr/>
            <p:nvPr/>
          </p:nvSpPr>
          <p:spPr>
            <a:xfrm>
              <a:off x="6172200" y="4764888"/>
              <a:ext cx="838200" cy="394216"/>
            </a:xfrm>
            <a:prstGeom prst="flowChartDocument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350" dirty="0"/>
                <a:t>doc-N</a:t>
              </a:r>
            </a:p>
          </p:txBody>
        </p:sp>
        <p:sp>
          <p:nvSpPr>
            <p:cNvPr id="30" name="TextBox 44"/>
            <p:cNvSpPr txBox="1"/>
            <p:nvPr/>
          </p:nvSpPr>
          <p:spPr>
            <a:xfrm>
              <a:off x="6343419" y="4191000"/>
              <a:ext cx="406523" cy="40010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>
              <a:defPPr>
                <a:defRPr lang="en-US"/>
              </a:defPPr>
            </a:lstStyle>
            <a:p>
              <a:r>
                <a:rPr lang="en-US" sz="1350" dirty="0"/>
                <a:t>…</a:t>
              </a:r>
            </a:p>
          </p:txBody>
        </p:sp>
      </p:grpSp>
      <p:grpSp>
        <p:nvGrpSpPr>
          <p:cNvPr id="31" name="Group 2047"/>
          <p:cNvGrpSpPr/>
          <p:nvPr/>
        </p:nvGrpSpPr>
        <p:grpSpPr>
          <a:xfrm>
            <a:off x="4781404" y="1191717"/>
            <a:ext cx="800296" cy="1755772"/>
            <a:chOff x="4800339" y="1486963"/>
            <a:chExt cx="1067061" cy="2341029"/>
          </a:xfrm>
        </p:grpSpPr>
        <p:cxnSp>
          <p:nvCxnSpPr>
            <p:cNvPr id="32" name="Straight Arrow Connector 38"/>
            <p:cNvCxnSpPr>
              <a:cxnSpLocks/>
              <a:stCxn id="13" idx="3"/>
              <a:endCxn id="26" idx="1"/>
            </p:cNvCxnSpPr>
            <p:nvPr/>
          </p:nvCxnSpPr>
          <p:spPr>
            <a:xfrm flipV="1">
              <a:off x="4800339" y="1486963"/>
              <a:ext cx="1067058" cy="110907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Straight Arrow Connector 41"/>
            <p:cNvCxnSpPr>
              <a:cxnSpLocks/>
              <a:stCxn id="15" idx="3"/>
              <a:endCxn id="26" idx="1"/>
            </p:cNvCxnSpPr>
            <p:nvPr/>
          </p:nvCxnSpPr>
          <p:spPr>
            <a:xfrm flipV="1">
              <a:off x="4873010" y="1486963"/>
              <a:ext cx="994389" cy="1868692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4" name="Straight Arrow Connector 45"/>
            <p:cNvCxnSpPr>
              <a:stCxn id="14" idx="3"/>
              <a:endCxn id="29" idx="1"/>
            </p:cNvCxnSpPr>
            <p:nvPr/>
          </p:nvCxnSpPr>
          <p:spPr>
            <a:xfrm>
              <a:off x="4800341" y="2289979"/>
              <a:ext cx="1067059" cy="1538013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5" name="Straight Arrow Connector 48"/>
            <p:cNvCxnSpPr>
              <a:stCxn id="13" idx="3"/>
              <a:endCxn id="29" idx="1"/>
            </p:cNvCxnSpPr>
            <p:nvPr/>
          </p:nvCxnSpPr>
          <p:spPr>
            <a:xfrm>
              <a:off x="4800341" y="1597870"/>
              <a:ext cx="1067059" cy="2230122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6" name="Straight Arrow Connector 51"/>
            <p:cNvCxnSpPr>
              <a:cxnSpLocks/>
              <a:stCxn id="15" idx="3"/>
              <a:endCxn id="27" idx="1"/>
            </p:cNvCxnSpPr>
            <p:nvPr/>
          </p:nvCxnSpPr>
          <p:spPr>
            <a:xfrm flipV="1">
              <a:off x="4873010" y="2098238"/>
              <a:ext cx="994390" cy="1257417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7" name="Straight Arrow Connector 55"/>
            <p:cNvCxnSpPr>
              <a:cxnSpLocks/>
              <a:stCxn id="13" idx="3"/>
              <a:endCxn id="27" idx="1"/>
            </p:cNvCxnSpPr>
            <p:nvPr/>
          </p:nvCxnSpPr>
          <p:spPr>
            <a:xfrm>
              <a:off x="4800339" y="1597870"/>
              <a:ext cx="1067059" cy="500368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Straight Arrow Connector 56"/>
            <p:cNvCxnSpPr>
              <a:cxnSpLocks/>
              <a:stCxn id="13" idx="3"/>
              <a:endCxn id="28" idx="1"/>
            </p:cNvCxnSpPr>
            <p:nvPr/>
          </p:nvCxnSpPr>
          <p:spPr>
            <a:xfrm>
              <a:off x="4800340" y="1597870"/>
              <a:ext cx="1067060" cy="1171780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9" name="Group 67"/>
          <p:cNvGrpSpPr/>
          <p:nvPr/>
        </p:nvGrpSpPr>
        <p:grpSpPr>
          <a:xfrm>
            <a:off x="3353539" y="1187961"/>
            <a:ext cx="2228161" cy="1759528"/>
            <a:chOff x="1944914" y="-836802"/>
            <a:chExt cx="2970880" cy="2346038"/>
          </a:xfrm>
        </p:grpSpPr>
        <p:cxnSp>
          <p:nvCxnSpPr>
            <p:cNvPr id="40" name="Straight Arrow Connector 68"/>
            <p:cNvCxnSpPr>
              <a:cxnSpLocks/>
              <a:stCxn id="11" idx="3"/>
              <a:endCxn id="26" idx="1"/>
            </p:cNvCxnSpPr>
            <p:nvPr/>
          </p:nvCxnSpPr>
          <p:spPr>
            <a:xfrm flipV="1">
              <a:off x="2094531" y="-831794"/>
              <a:ext cx="2821263" cy="2152353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1" name="Straight Arrow Connector 69"/>
            <p:cNvCxnSpPr>
              <a:cxnSpLocks/>
              <a:stCxn id="11" idx="3"/>
              <a:endCxn id="27" idx="1"/>
            </p:cNvCxnSpPr>
            <p:nvPr/>
          </p:nvCxnSpPr>
          <p:spPr>
            <a:xfrm flipV="1">
              <a:off x="2094531" y="-220519"/>
              <a:ext cx="2821263" cy="1541078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2" name="Straight Arrow Connector 70"/>
            <p:cNvCxnSpPr>
              <a:cxnSpLocks/>
              <a:stCxn id="11" idx="3"/>
              <a:endCxn id="28" idx="1"/>
            </p:cNvCxnSpPr>
            <p:nvPr/>
          </p:nvCxnSpPr>
          <p:spPr>
            <a:xfrm flipV="1">
              <a:off x="2094531" y="450893"/>
              <a:ext cx="2821263" cy="869666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3" name="Straight Arrow Connector 71"/>
            <p:cNvCxnSpPr>
              <a:stCxn id="9" idx="3"/>
              <a:endCxn id="29" idx="1"/>
            </p:cNvCxnSpPr>
            <p:nvPr/>
          </p:nvCxnSpPr>
          <p:spPr>
            <a:xfrm>
              <a:off x="1944914" y="249525"/>
              <a:ext cx="2970877" cy="1259711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4" name="Straight Arrow Connector 72"/>
            <p:cNvCxnSpPr>
              <a:cxnSpLocks/>
              <a:stCxn id="8" idx="3"/>
              <a:endCxn id="28" idx="1"/>
            </p:cNvCxnSpPr>
            <p:nvPr/>
          </p:nvCxnSpPr>
          <p:spPr>
            <a:xfrm>
              <a:off x="1944917" y="-305545"/>
              <a:ext cx="2970877" cy="756438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5" name="Straight Arrow Connector 73"/>
            <p:cNvCxnSpPr>
              <a:cxnSpLocks/>
              <a:stCxn id="7" idx="3"/>
              <a:endCxn id="26" idx="1"/>
            </p:cNvCxnSpPr>
            <p:nvPr/>
          </p:nvCxnSpPr>
          <p:spPr>
            <a:xfrm>
              <a:off x="1944917" y="-836802"/>
              <a:ext cx="2970877" cy="5008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2549306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6A4FC916-6987-2A47-84DB-C998A4E3A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话题模型</a:t>
            </a:r>
            <a:r>
              <a:rPr kumimoji="1" lang="en-US" altLang="zh-CN" dirty="0"/>
              <a:t>LSI</a:t>
            </a:r>
            <a:endParaRPr kumimoji="1" lang="zh-CN" altLang="en-US" dirty="0"/>
          </a:p>
        </p:txBody>
      </p:sp>
      <p:sp>
        <p:nvSpPr>
          <p:cNvPr id="4" name="内容占位符 3">
            <a:extLst>
              <a:ext uri="{FF2B5EF4-FFF2-40B4-BE49-F238E27FC236}">
                <a16:creationId xmlns="" xmlns:a16="http://schemas.microsoft.com/office/drawing/2014/main" id="{B7A5909A-5939-AF43-898E-4516F1DDF0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kumimoji="1" lang="zh-CN" altLang="en-US" dirty="0"/>
              <a:t>潜语义索引：</a:t>
            </a:r>
            <a:r>
              <a:rPr kumimoji="1" lang="en-US" altLang="zh-CN" dirty="0"/>
              <a:t>Latent</a:t>
            </a:r>
            <a:r>
              <a:rPr kumimoji="1" lang="zh-CN" altLang="en-US" dirty="0"/>
              <a:t> </a:t>
            </a:r>
            <a:r>
              <a:rPr kumimoji="1" lang="en-US" altLang="zh-CN" dirty="0"/>
              <a:t>Semantic</a:t>
            </a:r>
            <a:r>
              <a:rPr kumimoji="1" lang="zh-CN" altLang="en-US" dirty="0"/>
              <a:t> </a:t>
            </a:r>
            <a:r>
              <a:rPr kumimoji="1" lang="en-US" altLang="zh-CN" dirty="0"/>
              <a:t>Index</a:t>
            </a:r>
            <a:r>
              <a:rPr kumimoji="1" lang="zh-CN" altLang="en-US" dirty="0"/>
              <a:t> </a:t>
            </a:r>
            <a:r>
              <a:rPr kumimoji="1" lang="en-US" altLang="zh-CN" dirty="0"/>
              <a:t>(LSI)</a:t>
            </a:r>
          </a:p>
          <a:p>
            <a:r>
              <a:rPr lang="zh-CN" altLang="en" dirty="0"/>
              <a:t>也被</a:t>
            </a:r>
            <a:r>
              <a:rPr lang="zh-CN" altLang="en-US" dirty="0"/>
              <a:t>称为</a:t>
            </a:r>
            <a:r>
              <a:rPr lang="en" altLang="zh-CN" dirty="0"/>
              <a:t>Latent Semantic Analysis</a:t>
            </a:r>
            <a:r>
              <a:rPr lang="zh-CN" altLang="en-US" dirty="0"/>
              <a:t> </a:t>
            </a:r>
            <a:r>
              <a:rPr lang="en-US" altLang="zh-CN" dirty="0"/>
              <a:t>(LSA)</a:t>
            </a:r>
            <a:endParaRPr lang="en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基于矩阵分解的话题模型</a:t>
            </a:r>
            <a:endParaRPr kumimoji="1" lang="en-US" altLang="zh-CN" dirty="0"/>
          </a:p>
          <a:p>
            <a:r>
              <a:rPr kumimoji="1" lang="zh-CN" altLang="en-US" dirty="0"/>
              <a:t>通过求解单词</a:t>
            </a:r>
            <a:r>
              <a:rPr kumimoji="1" lang="en-US" altLang="zh-CN" dirty="0"/>
              <a:t>-</a:t>
            </a:r>
            <a:r>
              <a:rPr kumimoji="1" lang="zh-CN" altLang="en-US" dirty="0"/>
              <a:t>文档共现矩阵的</a:t>
            </a:r>
            <a:r>
              <a:rPr kumimoji="1" lang="zh-CN" altLang="en-US" dirty="0">
                <a:solidFill>
                  <a:srgbClr val="C00000"/>
                </a:solidFill>
              </a:rPr>
              <a:t>低秩近似</a:t>
            </a:r>
            <a:r>
              <a:rPr kumimoji="1" lang="zh-CN" altLang="en-US" dirty="0"/>
              <a:t>得到话题</a:t>
            </a:r>
            <a:endParaRPr kumimoji="1" lang="en-US" altLang="zh-CN" dirty="0"/>
          </a:p>
          <a:p>
            <a:endParaRPr kumimoji="1" lang="en-US" altLang="zh-CN" dirty="0"/>
          </a:p>
          <a:p>
            <a:endParaRPr kumimoji="1"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="" xmlns:a16="http://schemas.microsoft.com/office/drawing/2014/main" id="{EEDB24A5-3BF7-A742-B445-E96A9E53DE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98650"/>
            <a:ext cx="7848600" cy="1778000"/>
          </a:xfrm>
          <a:prstGeom prst="rect">
            <a:avLst/>
          </a:prstGeom>
        </p:spPr>
      </p:pic>
      <p:sp>
        <p:nvSpPr>
          <p:cNvPr id="7" name="椭圆 6">
            <a:extLst>
              <a:ext uri="{FF2B5EF4-FFF2-40B4-BE49-F238E27FC236}">
                <a16:creationId xmlns="" xmlns:a16="http://schemas.microsoft.com/office/drawing/2014/main" id="{4EABDFFA-DF9C-264E-9AF1-794731890B30}"/>
              </a:ext>
            </a:extLst>
          </p:cNvPr>
          <p:cNvSpPr/>
          <p:nvPr/>
        </p:nvSpPr>
        <p:spPr>
          <a:xfrm>
            <a:off x="1898073" y="3160871"/>
            <a:ext cx="1634837" cy="429491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="" xmlns:a16="http://schemas.microsoft.com/office/drawing/2014/main" id="{C62D7811-4698-0F49-ACD9-1FB2D0A331D7}"/>
              </a:ext>
            </a:extLst>
          </p:cNvPr>
          <p:cNvSpPr/>
          <p:nvPr/>
        </p:nvSpPr>
        <p:spPr>
          <a:xfrm>
            <a:off x="765920" y="1484138"/>
            <a:ext cx="792088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 err="1">
                <a:latin typeface="Times" panose="02020603050405020304" pitchFamily="18" charset="0"/>
                <a:cs typeface="Times" panose="02020603050405020304" pitchFamily="18" charset="0"/>
              </a:rPr>
              <a:t>Deerwester</a:t>
            </a:r>
            <a:r>
              <a:rPr lang="en-US" altLang="zh-CN" sz="2000" dirty="0">
                <a:latin typeface="Times" panose="02020603050405020304" pitchFamily="18" charset="0"/>
                <a:cs typeface="Times" panose="02020603050405020304" pitchFamily="18" charset="0"/>
              </a:rPr>
              <a:t> et al., Indexing by Latent Semantic Analysis. 1990.</a:t>
            </a:r>
            <a:endParaRPr lang="zh-CN" altLang="en-US" sz="2000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87917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话题模型</a:t>
            </a:r>
            <a:r>
              <a:rPr kumimoji="1" lang="en-US" altLang="zh-CN" dirty="0"/>
              <a:t>LSI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通过求解单词</a:t>
            </a:r>
            <a:r>
              <a:rPr kumimoji="1" lang="en-US" altLang="zh-CN" dirty="0"/>
              <a:t>-</a:t>
            </a:r>
            <a:r>
              <a:rPr kumimoji="1" lang="zh-CN" altLang="en-US" dirty="0"/>
              <a:t>文档共现矩阵的</a:t>
            </a:r>
            <a:r>
              <a:rPr kumimoji="1" lang="zh-CN" altLang="en-US" dirty="0">
                <a:solidFill>
                  <a:srgbClr val="C00000"/>
                </a:solidFill>
              </a:rPr>
              <a:t>低秩近似</a:t>
            </a:r>
            <a:r>
              <a:rPr kumimoji="1" lang="zh-CN" altLang="en-US" dirty="0"/>
              <a:t>得到</a:t>
            </a:r>
            <a:r>
              <a:rPr kumimoji="1" lang="zh-CN" altLang="en-US" dirty="0" smtClean="0"/>
              <a:t>话题</a:t>
            </a:r>
            <a:endParaRPr kumimoji="1" lang="en-US" altLang="zh-CN" dirty="0"/>
          </a:p>
        </p:txBody>
      </p:sp>
      <p:pic>
        <p:nvPicPr>
          <p:cNvPr id="1026" name="Picture 2" descr="http://2.bp.blogspot.com/-ioaZgsdpE6c/TldjQYe_LLI/AAAAAAAAE1U/eu0bLJb5kYc/s1600/lpluss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577" y="1576380"/>
            <a:ext cx="7954845" cy="29228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594577" y="4037122"/>
            <a:ext cx="3759200" cy="925974"/>
            <a:chOff x="1143000" y="4614334"/>
            <a:chExt cx="5012266" cy="1234632"/>
          </a:xfrm>
        </p:grpSpPr>
        <p:sp>
          <p:nvSpPr>
            <p:cNvPr id="4" name="TextBox 3"/>
            <p:cNvSpPr txBox="1"/>
            <p:nvPr/>
          </p:nvSpPr>
          <p:spPr>
            <a:xfrm>
              <a:off x="1143000" y="5448857"/>
              <a:ext cx="5012266" cy="4001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350" i="1" dirty="0">
                  <a:solidFill>
                    <a:srgbClr val="FF0000"/>
                  </a:solidFill>
                </a:rPr>
                <a:t>Imagine this is our observed term-document matrix</a:t>
              </a:r>
            </a:p>
          </p:txBody>
        </p:sp>
        <p:cxnSp>
          <p:nvCxnSpPr>
            <p:cNvPr id="6" name="Straight Arrow Connector 5"/>
            <p:cNvCxnSpPr/>
            <p:nvPr/>
          </p:nvCxnSpPr>
          <p:spPr>
            <a:xfrm flipH="1" flipV="1">
              <a:off x="2988734" y="4614334"/>
              <a:ext cx="397933" cy="793221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Group 9"/>
          <p:cNvGrpSpPr/>
          <p:nvPr/>
        </p:nvGrpSpPr>
        <p:grpSpPr>
          <a:xfrm>
            <a:off x="4648367" y="1177908"/>
            <a:ext cx="3759200" cy="756325"/>
            <a:chOff x="2065867" y="5448856"/>
            <a:chExt cx="5012266" cy="1008433"/>
          </a:xfrm>
        </p:grpSpPr>
        <p:sp>
          <p:nvSpPr>
            <p:cNvPr id="11" name="TextBox 10"/>
            <p:cNvSpPr txBox="1"/>
            <p:nvPr/>
          </p:nvSpPr>
          <p:spPr>
            <a:xfrm>
              <a:off x="2065867" y="5448856"/>
              <a:ext cx="5012266" cy="4001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350" i="1" dirty="0">
                  <a:solidFill>
                    <a:srgbClr val="FF0000"/>
                  </a:solidFill>
                </a:rPr>
                <a:t>Imagine this is *true* concept-document matrix</a:t>
              </a:r>
            </a:p>
          </p:txBody>
        </p:sp>
        <p:cxnSp>
          <p:nvCxnSpPr>
            <p:cNvPr id="12" name="Straight Arrow Connector 11"/>
            <p:cNvCxnSpPr/>
            <p:nvPr/>
          </p:nvCxnSpPr>
          <p:spPr>
            <a:xfrm flipH="1">
              <a:off x="3742266" y="5814882"/>
              <a:ext cx="296335" cy="642407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Group 13"/>
          <p:cNvGrpSpPr/>
          <p:nvPr/>
        </p:nvGrpSpPr>
        <p:grpSpPr>
          <a:xfrm>
            <a:off x="4796631" y="3865697"/>
            <a:ext cx="4142582" cy="1179002"/>
            <a:chOff x="631825" y="4276963"/>
            <a:chExt cx="5523442" cy="1572003"/>
          </a:xfrm>
        </p:grpSpPr>
        <p:sp>
          <p:nvSpPr>
            <p:cNvPr id="15" name="TextBox 14"/>
            <p:cNvSpPr txBox="1"/>
            <p:nvPr/>
          </p:nvSpPr>
          <p:spPr>
            <a:xfrm>
              <a:off x="631825" y="5448857"/>
              <a:ext cx="5523442" cy="4001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350" i="1" dirty="0">
                  <a:solidFill>
                    <a:srgbClr val="FF0000"/>
                  </a:solidFill>
                </a:rPr>
                <a:t>Random noise over the word selection in each document</a:t>
              </a:r>
            </a:p>
          </p:txBody>
        </p:sp>
        <p:cxnSp>
          <p:nvCxnSpPr>
            <p:cNvPr id="16" name="Straight Arrow Connector 15"/>
            <p:cNvCxnSpPr/>
            <p:nvPr/>
          </p:nvCxnSpPr>
          <p:spPr>
            <a:xfrm flipV="1">
              <a:off x="3386668" y="4276963"/>
              <a:ext cx="335489" cy="1130593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F503B-9254-4CBE-AEB6-4A271B586631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667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Latent Semantic Analysis (LSA)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通过求解单词</a:t>
            </a:r>
            <a:r>
              <a:rPr kumimoji="1" lang="en-US" altLang="zh-CN" dirty="0"/>
              <a:t>-</a:t>
            </a:r>
            <a:r>
              <a:rPr kumimoji="1" lang="zh-CN" altLang="en-US" dirty="0"/>
              <a:t>文档共现矩阵的</a:t>
            </a:r>
            <a:r>
              <a:rPr kumimoji="1" lang="zh-CN" altLang="en-US" dirty="0">
                <a:solidFill>
                  <a:srgbClr val="C00000"/>
                </a:solidFill>
              </a:rPr>
              <a:t>低秩近似</a:t>
            </a:r>
            <a:r>
              <a:rPr kumimoji="1" lang="zh-CN" altLang="en-US" dirty="0"/>
              <a:t>得到话题</a:t>
            </a:r>
            <a:endParaRPr kumimoji="1" lang="en-US" altLang="zh-CN" dirty="0"/>
          </a:p>
          <a:p>
            <a:pPr lvl="1"/>
            <a:r>
              <a:rPr lang="zh-CN" altLang="en-US" dirty="0" smtClean="0"/>
              <a:t>目标：去除掉文档共现矩阵中的“噪音”</a:t>
            </a:r>
            <a:endParaRPr lang="en-US" dirty="0" smtClean="0"/>
          </a:p>
          <a:p>
            <a:pPr lvl="1"/>
            <a:r>
              <a:rPr lang="zh-CN" altLang="en-US" dirty="0" smtClean="0"/>
              <a:t>解决思路：找到一个秩为</a:t>
            </a:r>
            <a:r>
              <a:rPr lang="en-US" altLang="zh-CN" dirty="0" smtClean="0"/>
              <a:t>k</a:t>
            </a:r>
            <a:r>
              <a:rPr lang="zh-CN" altLang="en-US" dirty="0" smtClean="0"/>
              <a:t>的矩阵，使其与文档近似矩阵最为相近。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181547" y="2360428"/>
                <a:ext cx="6890031" cy="145334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2400" i="1" smtClean="0">
                              <a:solidFill>
                                <a:srgbClr val="C00000"/>
                              </a:solidFill>
                              <a:latin typeface="Cambria Math" charset="0"/>
                            </a:rPr>
                          </m:ctrlPr>
                        </m:accPr>
                        <m:e>
                          <m: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</m:acc>
                      <m:r>
                        <a:rPr lang="en-US" sz="240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2400" i="1">
                              <a:solidFill>
                                <a:srgbClr val="C00000"/>
                              </a:solidFill>
                              <a:latin typeface="Cambria Math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400" i="1">
                                  <a:solidFill>
                                    <a:srgbClr val="C00000"/>
                                  </a:solidFill>
                                  <a:latin typeface="Cambria Math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40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argmin</m:t>
                              </m:r>
                            </m:e>
                            <m:lim>
                              <m:r>
                                <a:rPr lang="en-US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  <m:r>
                                <a:rPr lang="en-US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𝑟𝑎𝑛𝑘</m:t>
                              </m:r>
                              <m:d>
                                <m:dPr>
                                  <m:ctrlPr>
                                    <a:rPr lang="en-US" sz="2400" i="1">
                                      <a:solidFill>
                                        <a:srgbClr val="C00000"/>
                                      </a:solidFill>
                                      <a:latin typeface="Cambria Math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</m:d>
                              <m:r>
                                <a:rPr lang="en-US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lim>
                          </m:limLow>
                        </m:fName>
                        <m:e>
                          <m:sSub>
                            <m:sSubPr>
                              <m:ctrlPr>
                                <a:rPr lang="en-US" sz="2400" i="1">
                                  <a:solidFill>
                                    <a:srgbClr val="C00000"/>
                                  </a:solidFill>
                                  <a:latin typeface="Cambria Math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sz="2400" i="1">
                                      <a:solidFill>
                                        <a:srgbClr val="C00000"/>
                                      </a:solidFill>
                                      <a:latin typeface="Cambria Math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  <m:r>
                                    <a:rPr lang="en-US" sz="2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</m:d>
                            </m:e>
                            <m:sub>
                              <m:r>
                                <a:rPr lang="en-US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sub>
                          </m:sSub>
                        </m:e>
                      </m:func>
                    </m:oMath>
                  </m:oMathPara>
                </a14:m>
                <a:endParaRPr lang="en-US" sz="2400" i="1" dirty="0">
                  <a:solidFill>
                    <a:srgbClr val="C00000"/>
                  </a:solidFill>
                  <a:latin typeface="Cambria Math" panose="02040503050406030204" pitchFamily="18" charset="0"/>
                </a:endParaRPr>
              </a:p>
              <a:p>
                <a:r>
                  <a:rPr lang="en-US" sz="2400" dirty="0">
                    <a:solidFill>
                      <a:srgbClr val="C00000"/>
                    </a:solidFill>
                  </a:rPr>
                  <a:t>                             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sz="2400" i="1">
                            <a:solidFill>
                              <a:srgbClr val="C00000"/>
                            </a:solidFill>
                            <a:latin typeface="Cambria Math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2400" i="1">
                                <a:solidFill>
                                  <a:srgbClr val="C00000"/>
                                </a:solidFill>
                                <a:latin typeface="Cambria Math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240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argmin</m:t>
                            </m:r>
                          </m:e>
                          <m:lim>
                            <m:r>
                              <a:rPr lang="en-US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𝑍</m:t>
                            </m:r>
                            <m:r>
                              <a:rPr lang="en-US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𝑟𝑎𝑛𝑘</m:t>
                            </m:r>
                            <m:d>
                              <m:dPr>
                                <m:ctrlPr>
                                  <a:rPr lang="en-US" sz="2400" i="1">
                                    <a:solidFill>
                                      <a:srgbClr val="C00000"/>
                                    </a:solidFill>
                                    <a:latin typeface="Cambria Math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𝑍</m:t>
                                </m:r>
                              </m:e>
                            </m:d>
                            <m:r>
                              <a:rPr lang="en-US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lim>
                        </m:limLow>
                      </m:fName>
                      <m:e>
                        <m:rad>
                          <m:radPr>
                            <m:degHide m:val="on"/>
                            <m:ctrlPr>
                              <a:rPr lang="en-US" sz="2400" i="1">
                                <a:solidFill>
                                  <a:srgbClr val="C00000"/>
                                </a:solidFill>
                                <a:latin typeface="Cambria Math" charset="0"/>
                              </a:rPr>
                            </m:ctrlPr>
                          </m:radPr>
                          <m:deg/>
                          <m:e>
                            <m:nary>
                              <m:naryPr>
                                <m:chr m:val="∑"/>
                                <m:ctrlPr>
                                  <a:rPr lang="en-US" sz="2400" i="1">
                                    <a:solidFill>
                                      <a:srgbClr val="C00000"/>
                                    </a:solidFill>
                                    <a:latin typeface="Cambria Math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3"/>
                                  </m:rPr>
                                  <a:rPr lang="en-US" sz="24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24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sz="24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</m:sup>
                              <m:e>
                                <m:nary>
                                  <m:naryPr>
                                    <m:chr m:val="∑"/>
                                    <m:ctrlPr>
                                      <a:rPr lang="en-US" sz="2400" i="1">
                                        <a:solidFill>
                                          <a:srgbClr val="C00000"/>
                                        </a:solidFill>
                                        <a:latin typeface="Cambria Math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en-US" sz="2400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en-US" sz="2400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sz="2400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sup>
                                  <m:e>
                                    <m:sSup>
                                      <m:sSupPr>
                                        <m:ctrlPr>
                                          <a:rPr lang="en-US" sz="2400" i="1">
                                            <a:solidFill>
                                              <a:srgbClr val="C00000"/>
                                            </a:solidFill>
                                            <a:latin typeface="Cambria Math" charset="0"/>
                                          </a:rPr>
                                        </m:ctrlPr>
                                      </m:sSupPr>
                                      <m:e>
                                        <m:d>
                                          <m:dPr>
                                            <m:ctrlPr>
                                              <a:rPr lang="en-US" sz="2400" i="1">
                                                <a:solidFill>
                                                  <a:srgbClr val="C00000"/>
                                                </a:solidFill>
                                                <a:latin typeface="Cambria Math" charset="0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sz="2400" i="1">
                                                    <a:solidFill>
                                                      <a:srgbClr val="C00000"/>
                                                    </a:solidFill>
                                                    <a:latin typeface="Cambria Math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2400" i="1">
                                                    <a:solidFill>
                                                      <a:srgbClr val="C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𝐶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2400" i="1">
                                                    <a:solidFill>
                                                      <a:srgbClr val="C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𝑖𝑗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en-US" sz="2400" i="1">
                                                <a:solidFill>
                                                  <a:srgbClr val="C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en-US" sz="2400" i="1">
                                                    <a:solidFill>
                                                      <a:srgbClr val="C00000"/>
                                                    </a:solidFill>
                                                    <a:latin typeface="Cambria Math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2400" i="1">
                                                    <a:solidFill>
                                                      <a:srgbClr val="C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𝑍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2400" i="1">
                                                    <a:solidFill>
                                                      <a:srgbClr val="C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𝑖𝑗</m:t>
                                                </m:r>
                                              </m:sub>
                                            </m:sSub>
                                          </m:e>
                                        </m:d>
                                      </m:e>
                                      <m:sup>
                                        <m:r>
                                          <a:rPr lang="en-US" sz="2400" i="1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nary>
                              </m:e>
                            </m:nary>
                          </m:e>
                        </m:rad>
                      </m:e>
                    </m:func>
                  </m:oMath>
                </a14:m>
                <a:endParaRPr lang="en-US" sz="2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547" y="2360428"/>
                <a:ext cx="6890031" cy="1453347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F503B-9254-4CBE-AEB6-4A271B586631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288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7F81980C-217C-2840-A85E-C9D1AB0C30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LSI:</a:t>
            </a:r>
            <a:r>
              <a:rPr kumimoji="1" lang="zh-CN" altLang="en-US" dirty="0"/>
              <a:t> 从单词</a:t>
            </a:r>
            <a:r>
              <a:rPr kumimoji="1" lang="en-US" altLang="zh-CN" dirty="0"/>
              <a:t>-</a:t>
            </a:r>
            <a:r>
              <a:rPr kumimoji="1" lang="zh-CN" altLang="en-US" dirty="0"/>
              <a:t>文档的共现矩阵开始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="" xmlns:a16="http://schemas.microsoft.com/office/drawing/2014/main" id="{6750F4E8-D917-C147-AEA9-7C8FCFBD9B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14" y="959039"/>
            <a:ext cx="2416930" cy="1435219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="" xmlns:a16="http://schemas.microsoft.com/office/drawing/2014/main" id="{528048F6-FB62-BD4E-A039-7E2CBAEAF4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1096" y="873911"/>
            <a:ext cx="2179599" cy="164498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="" xmlns:a16="http://schemas.microsoft.com/office/drawing/2014/main" id="{A888B7CB-394C-4D46-930C-EB684BE96C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25570" y="959024"/>
            <a:ext cx="2320968" cy="1334679"/>
          </a:xfrm>
          <a:prstGeom prst="rect">
            <a:avLst/>
          </a:prstGeom>
        </p:spPr>
      </p:pic>
      <p:sp>
        <p:nvSpPr>
          <p:cNvPr id="12" name="右箭头 11">
            <a:extLst>
              <a:ext uri="{FF2B5EF4-FFF2-40B4-BE49-F238E27FC236}">
                <a16:creationId xmlns="" xmlns:a16="http://schemas.microsoft.com/office/drawing/2014/main" id="{CAC7C04D-2915-D644-9EC0-140E0405546A}"/>
              </a:ext>
            </a:extLst>
          </p:cNvPr>
          <p:cNvSpPr/>
          <p:nvPr/>
        </p:nvSpPr>
        <p:spPr>
          <a:xfrm>
            <a:off x="2719449" y="1461507"/>
            <a:ext cx="415637" cy="43293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右箭头 12">
            <a:extLst>
              <a:ext uri="{FF2B5EF4-FFF2-40B4-BE49-F238E27FC236}">
                <a16:creationId xmlns="" xmlns:a16="http://schemas.microsoft.com/office/drawing/2014/main" id="{D7F36AB3-74DB-9E4B-98D4-61EAC0F14010}"/>
              </a:ext>
            </a:extLst>
          </p:cNvPr>
          <p:cNvSpPr/>
          <p:nvPr/>
        </p:nvSpPr>
        <p:spPr>
          <a:xfrm>
            <a:off x="5875459" y="1467319"/>
            <a:ext cx="415637" cy="43293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15" name="图片 14">
            <a:extLst>
              <a:ext uri="{FF2B5EF4-FFF2-40B4-BE49-F238E27FC236}">
                <a16:creationId xmlns="" xmlns:a16="http://schemas.microsoft.com/office/drawing/2014/main" id="{D56380C7-207F-B649-A278-EEE0C8B537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514" y="3258444"/>
            <a:ext cx="3619257" cy="1491657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="" xmlns:a16="http://schemas.microsoft.com/office/drawing/2014/main" id="{4263EE71-79A8-F341-8AD4-8D8D873426D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40338" y="3259853"/>
            <a:ext cx="3673413" cy="1490248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="" xmlns:a16="http://schemas.microsoft.com/office/drawing/2014/main" id="{3EFD7245-B7B3-DA46-8B7B-A80753077E46}"/>
              </a:ext>
            </a:extLst>
          </p:cNvPr>
          <p:cNvSpPr txBox="1"/>
          <p:nvPr/>
        </p:nvSpPr>
        <p:spPr>
          <a:xfrm>
            <a:off x="1779600" y="4774168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词频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="" xmlns:a16="http://schemas.microsoft.com/office/drawing/2014/main" id="{392B208B-BC83-CF4F-88F3-C600CFEC30C3}"/>
              </a:ext>
            </a:extLst>
          </p:cNvPr>
          <p:cNvSpPr txBox="1"/>
          <p:nvPr/>
        </p:nvSpPr>
        <p:spPr>
          <a:xfrm>
            <a:off x="6487353" y="4750532"/>
            <a:ext cx="7793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TF-IDF</a:t>
            </a:r>
            <a:endParaRPr kumimoji="1"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="" xmlns:a16="http://schemas.microsoft.com/office/drawing/2014/main" id="{4B93DA9F-3DC7-7244-96D6-2F767557C560}"/>
              </a:ext>
            </a:extLst>
          </p:cNvPr>
          <p:cNvSpPr txBox="1"/>
          <p:nvPr/>
        </p:nvSpPr>
        <p:spPr>
          <a:xfrm>
            <a:off x="4062889" y="3912644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或者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="" xmlns:a16="http://schemas.microsoft.com/office/drawing/2014/main" id="{9B1D42F0-C81A-5A47-B5CA-68E52FFF7B03}"/>
              </a:ext>
            </a:extLst>
          </p:cNvPr>
          <p:cNvSpPr txBox="1"/>
          <p:nvPr/>
        </p:nvSpPr>
        <p:spPr>
          <a:xfrm>
            <a:off x="25170" y="2706927"/>
            <a:ext cx="30251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单词</a:t>
            </a:r>
            <a:r>
              <a:rPr kumimoji="1" lang="en-US" altLang="zh-CN" dirty="0"/>
              <a:t>-</a:t>
            </a:r>
            <a:r>
              <a:rPr kumimoji="1" lang="zh-CN" altLang="en-US" dirty="0"/>
              <a:t>文档共现矩阵可以为：</a:t>
            </a:r>
          </a:p>
        </p:txBody>
      </p:sp>
    </p:spTree>
    <p:extLst>
      <p:ext uri="{BB962C8B-B14F-4D97-AF65-F5344CB8AC3E}">
        <p14:creationId xmlns:p14="http://schemas.microsoft.com/office/powerpoint/2010/main" val="35587652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56B9FE15-BF2E-3A49-8188-3032B8A637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LSI</a:t>
            </a:r>
            <a:r>
              <a:rPr kumimoji="1" lang="zh-CN" altLang="en-US" dirty="0"/>
              <a:t>第一步：对单词</a:t>
            </a:r>
            <a:r>
              <a:rPr kumimoji="1" lang="en-US" altLang="zh-CN" dirty="0"/>
              <a:t>-</a:t>
            </a:r>
            <a:r>
              <a:rPr kumimoji="1" lang="zh-CN" altLang="en-US" dirty="0"/>
              <a:t>文档共现矩阵进行分解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>
                <a:extLst>
                  <a:ext uri="{FF2B5EF4-FFF2-40B4-BE49-F238E27FC236}">
                    <a16:creationId xmlns="" xmlns:a16="http://schemas.microsoft.com/office/drawing/2014/main" id="{2280A3FD-E6C1-A847-B028-A7973805D384}"/>
                  </a:ext>
                </a:extLst>
              </p:cNvPr>
              <p:cNvSpPr/>
              <p:nvPr/>
            </p:nvSpPr>
            <p:spPr>
              <a:xfrm>
                <a:off x="890982" y="2654648"/>
                <a:ext cx="7290778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800" dirty="0"/>
                  <a:t>SVD (singular</a:t>
                </a:r>
                <a:r>
                  <a:rPr lang="zh-CN" altLang="en-US" sz="2800" dirty="0"/>
                  <a:t> </a:t>
                </a:r>
                <a:r>
                  <a:rPr lang="en-US" altLang="zh-CN" sz="2800" dirty="0"/>
                  <a:t>value</a:t>
                </a:r>
                <a:r>
                  <a:rPr lang="zh-CN" altLang="en-US" sz="2800" dirty="0"/>
                  <a:t> </a:t>
                </a:r>
                <a:r>
                  <a:rPr lang="en-US" altLang="zh-CN" sz="2800" dirty="0"/>
                  <a:t>decomposition)</a:t>
                </a:r>
                <a:r>
                  <a:rPr lang="zh-CN" altLang="en-US" sz="2800" dirty="0"/>
                  <a:t>：</a:t>
                </a:r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altLang="zh-CN" sz="2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8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𝑈</m:t>
                    </m:r>
                    <m:r>
                      <m:rPr>
                        <m:sty m:val="p"/>
                      </m:rPr>
                      <a:rPr lang="en-US" altLang="zh-CN" sz="2800">
                        <a:latin typeface="Cambria Math" panose="02040503050406030204" pitchFamily="18" charset="0"/>
                      </a:rPr>
                      <m:t>Σ</m:t>
                    </m:r>
                    <m:sSup>
                      <m:sSupPr>
                        <m:ctrlPr>
                          <a:rPr lang="en-US" altLang="zh-CN" sz="2800" i="1"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p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2280A3FD-E6C1-A847-B028-A7973805D38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0982" y="2654648"/>
                <a:ext cx="7290778" cy="523220"/>
              </a:xfrm>
              <a:prstGeom prst="rect">
                <a:avLst/>
              </a:prstGeom>
              <a:blipFill>
                <a:blip r:embed="rId2"/>
                <a:stretch>
                  <a:fillRect l="-1565" t="-14286" b="-3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" name="组合 11">
            <a:extLst>
              <a:ext uri="{FF2B5EF4-FFF2-40B4-BE49-F238E27FC236}">
                <a16:creationId xmlns="" xmlns:a16="http://schemas.microsoft.com/office/drawing/2014/main" id="{575F241C-218D-0A46-A284-6AA08FEE4640}"/>
              </a:ext>
            </a:extLst>
          </p:cNvPr>
          <p:cNvGrpSpPr/>
          <p:nvPr/>
        </p:nvGrpSpPr>
        <p:grpSpPr>
          <a:xfrm>
            <a:off x="2053460" y="1003633"/>
            <a:ext cx="4568115" cy="1490248"/>
            <a:chOff x="1840591" y="884812"/>
            <a:chExt cx="4568115" cy="1490248"/>
          </a:xfrm>
        </p:grpSpPr>
        <p:pic>
          <p:nvPicPr>
            <p:cNvPr id="10" name="图片 9">
              <a:extLst>
                <a:ext uri="{FF2B5EF4-FFF2-40B4-BE49-F238E27FC236}">
                  <a16:creationId xmlns="" xmlns:a16="http://schemas.microsoft.com/office/drawing/2014/main" id="{3EF2106A-9BA5-614A-929C-D9103224E32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735293" y="884812"/>
              <a:ext cx="3673413" cy="1490248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矩形 10">
                  <a:extLst>
                    <a:ext uri="{FF2B5EF4-FFF2-40B4-BE49-F238E27FC236}">
                      <a16:creationId xmlns="" xmlns:a16="http://schemas.microsoft.com/office/drawing/2014/main" id="{38493B6E-13FA-D44F-B865-14918571FA49}"/>
                    </a:ext>
                  </a:extLst>
                </p:cNvPr>
                <p:cNvSpPr/>
                <p:nvPr/>
              </p:nvSpPr>
              <p:spPr>
                <a:xfrm>
                  <a:off x="1840591" y="1282077"/>
                  <a:ext cx="892873" cy="52322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i="1" smtClean="0"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11" name="矩形 10">
                  <a:extLst>
                    <a:ext uri="{FF2B5EF4-FFF2-40B4-BE49-F238E27FC236}">
                      <a16:creationId xmlns:a16="http://schemas.microsoft.com/office/drawing/2014/main" id="{38493B6E-13FA-D44F-B865-14918571FA4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40591" y="1282077"/>
                  <a:ext cx="892873" cy="52322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7" name="组合 26">
            <a:extLst>
              <a:ext uri="{FF2B5EF4-FFF2-40B4-BE49-F238E27FC236}">
                <a16:creationId xmlns="" xmlns:a16="http://schemas.microsoft.com/office/drawing/2014/main" id="{286A4ADE-B487-B342-82D6-53140FDBDBC8}"/>
              </a:ext>
            </a:extLst>
          </p:cNvPr>
          <p:cNvGrpSpPr/>
          <p:nvPr/>
        </p:nvGrpSpPr>
        <p:grpSpPr>
          <a:xfrm>
            <a:off x="272569" y="3312053"/>
            <a:ext cx="8621032" cy="1592449"/>
            <a:chOff x="165694" y="3110178"/>
            <a:chExt cx="8621032" cy="1592449"/>
          </a:xfrm>
        </p:grpSpPr>
        <p:grpSp>
          <p:nvGrpSpPr>
            <p:cNvPr id="20" name="组合 19">
              <a:extLst>
                <a:ext uri="{FF2B5EF4-FFF2-40B4-BE49-F238E27FC236}">
                  <a16:creationId xmlns="" xmlns:a16="http://schemas.microsoft.com/office/drawing/2014/main" id="{36A32F5E-7653-E446-856F-F90CA79447FE}"/>
                </a:ext>
              </a:extLst>
            </p:cNvPr>
            <p:cNvGrpSpPr/>
            <p:nvPr/>
          </p:nvGrpSpPr>
          <p:grpSpPr>
            <a:xfrm>
              <a:off x="165694" y="3110178"/>
              <a:ext cx="8621032" cy="1592449"/>
              <a:chOff x="165694" y="3110178"/>
              <a:chExt cx="8621032" cy="1592449"/>
            </a:xfrm>
          </p:grpSpPr>
          <p:pic>
            <p:nvPicPr>
              <p:cNvPr id="14" name="图片 13">
                <a:extLst>
                  <a:ext uri="{FF2B5EF4-FFF2-40B4-BE49-F238E27FC236}">
                    <a16:creationId xmlns="" xmlns:a16="http://schemas.microsoft.com/office/drawing/2014/main" id="{7A04D648-FECE-804E-B088-3A61143B8F38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5"/>
              <a:srcRect r="36618"/>
              <a:stretch/>
            </p:blipFill>
            <p:spPr>
              <a:xfrm>
                <a:off x="165694" y="3111389"/>
                <a:ext cx="4668404" cy="1591238"/>
              </a:xfrm>
              <a:prstGeom prst="rect">
                <a:avLst/>
              </a:prstGeom>
            </p:spPr>
          </p:pic>
          <p:sp>
            <p:nvSpPr>
              <p:cNvPr id="15" name="文本框 14">
                <a:extLst>
                  <a:ext uri="{FF2B5EF4-FFF2-40B4-BE49-F238E27FC236}">
                    <a16:creationId xmlns="" xmlns:a16="http://schemas.microsoft.com/office/drawing/2014/main" id="{2857EAB4-3F18-B847-9766-28EA88E85483}"/>
                  </a:ext>
                </a:extLst>
              </p:cNvPr>
              <p:cNvSpPr txBox="1"/>
              <p:nvPr/>
            </p:nvSpPr>
            <p:spPr>
              <a:xfrm>
                <a:off x="2946333" y="3365027"/>
                <a:ext cx="486888" cy="64633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3600" dirty="0"/>
                  <a:t>=</a:t>
                </a:r>
                <a:endParaRPr kumimoji="1" lang="zh-CN" altLang="en-US" dirty="0"/>
              </a:p>
            </p:txBody>
          </p:sp>
          <p:pic>
            <p:nvPicPr>
              <p:cNvPr id="17" name="图片 16">
                <a:extLst>
                  <a:ext uri="{FF2B5EF4-FFF2-40B4-BE49-F238E27FC236}">
                    <a16:creationId xmlns="" xmlns:a16="http://schemas.microsoft.com/office/drawing/2014/main" id="{5AEBF67F-3AC6-FB41-BDD7-BF160BDD9D94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5"/>
              <a:srcRect l="56092" r="19"/>
              <a:stretch/>
            </p:blipFill>
            <p:spPr>
              <a:xfrm>
                <a:off x="5554098" y="3111389"/>
                <a:ext cx="3232628" cy="1591238"/>
              </a:xfrm>
              <a:prstGeom prst="rect">
                <a:avLst/>
              </a:prstGeom>
            </p:spPr>
          </p:pic>
          <p:sp>
            <p:nvSpPr>
              <p:cNvPr id="18" name="矩形 17">
                <a:extLst>
                  <a:ext uri="{FF2B5EF4-FFF2-40B4-BE49-F238E27FC236}">
                    <a16:creationId xmlns="" xmlns:a16="http://schemas.microsoft.com/office/drawing/2014/main" id="{46DE96B4-1EDD-644E-BCC4-9465428912E7}"/>
                  </a:ext>
                </a:extLst>
              </p:cNvPr>
              <p:cNvSpPr/>
              <p:nvPr/>
            </p:nvSpPr>
            <p:spPr>
              <a:xfrm>
                <a:off x="4834098" y="3110178"/>
                <a:ext cx="1459336" cy="25484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9" name="矩形 18">
                <a:extLst>
                  <a:ext uri="{FF2B5EF4-FFF2-40B4-BE49-F238E27FC236}">
                    <a16:creationId xmlns="" xmlns:a16="http://schemas.microsoft.com/office/drawing/2014/main" id="{D9673C53-39EB-3C41-ACF2-65238A7C50AB}"/>
                  </a:ext>
                </a:extLst>
              </p:cNvPr>
              <p:cNvSpPr/>
              <p:nvPr/>
            </p:nvSpPr>
            <p:spPr>
              <a:xfrm>
                <a:off x="4429496" y="4119257"/>
                <a:ext cx="1268192" cy="58336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6" name="矩形 15">
                <a:extLst>
                  <a:ext uri="{FF2B5EF4-FFF2-40B4-BE49-F238E27FC236}">
                    <a16:creationId xmlns="" xmlns:a16="http://schemas.microsoft.com/office/drawing/2014/main" id="{98620C1E-9DB7-B343-B070-2E81658D87D8}"/>
                  </a:ext>
                </a:extLst>
              </p:cNvPr>
              <p:cNvSpPr/>
              <p:nvPr/>
            </p:nvSpPr>
            <p:spPr>
              <a:xfrm>
                <a:off x="4869723" y="3365027"/>
                <a:ext cx="720000" cy="720000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  <p:cxnSp>
          <p:nvCxnSpPr>
            <p:cNvPr id="22" name="直线连接符 21">
              <a:extLst>
                <a:ext uri="{FF2B5EF4-FFF2-40B4-BE49-F238E27FC236}">
                  <a16:creationId xmlns="" xmlns:a16="http://schemas.microsoft.com/office/drawing/2014/main" id="{10242D61-F5C4-2F44-B5D0-A64F9E0CC420}"/>
                </a:ext>
              </a:extLst>
            </p:cNvPr>
            <p:cNvCxnSpPr/>
            <p:nvPr/>
          </p:nvCxnSpPr>
          <p:spPr>
            <a:xfrm>
              <a:off x="4869723" y="3365027"/>
              <a:ext cx="720000" cy="720000"/>
            </a:xfrm>
            <a:prstGeom prst="line">
              <a:avLst/>
            </a:prstGeom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23" name="文本框 22">
              <a:extLst>
                <a:ext uri="{FF2B5EF4-FFF2-40B4-BE49-F238E27FC236}">
                  <a16:creationId xmlns="" xmlns:a16="http://schemas.microsoft.com/office/drawing/2014/main" id="{DBC26E6B-C6BA-D948-83A6-2551F96544C7}"/>
                </a:ext>
              </a:extLst>
            </p:cNvPr>
            <p:cNvSpPr txBox="1"/>
            <p:nvPr/>
          </p:nvSpPr>
          <p:spPr>
            <a:xfrm>
              <a:off x="5216787" y="3399257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dirty="0"/>
                <a:t>0</a:t>
              </a:r>
              <a:endParaRPr kumimoji="1" lang="zh-CN" altLang="en-US" dirty="0"/>
            </a:p>
          </p:txBody>
        </p:sp>
        <p:sp>
          <p:nvSpPr>
            <p:cNvPr id="24" name="文本框 23">
              <a:extLst>
                <a:ext uri="{FF2B5EF4-FFF2-40B4-BE49-F238E27FC236}">
                  <a16:creationId xmlns="" xmlns:a16="http://schemas.microsoft.com/office/drawing/2014/main" id="{C07AB665-0BEF-D04D-A770-728F9BC11AF5}"/>
                </a:ext>
              </a:extLst>
            </p:cNvPr>
            <p:cNvSpPr txBox="1"/>
            <p:nvPr/>
          </p:nvSpPr>
          <p:spPr>
            <a:xfrm>
              <a:off x="4928037" y="371349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dirty="0"/>
                <a:t>0</a:t>
              </a:r>
              <a:endParaRPr kumimoji="1" lang="zh-CN" altLang="en-US" dirty="0"/>
            </a:p>
          </p:txBody>
        </p:sp>
        <p:pic>
          <p:nvPicPr>
            <p:cNvPr id="25" name="图片 24">
              <a:extLst>
                <a:ext uri="{FF2B5EF4-FFF2-40B4-BE49-F238E27FC236}">
                  <a16:creationId xmlns="" xmlns:a16="http://schemas.microsoft.com/office/drawing/2014/main" id="{2D3B2EF7-5B20-0F42-82D1-2E9440047B3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654987" y="4117060"/>
              <a:ext cx="503486" cy="456650"/>
            </a:xfrm>
            <a:prstGeom prst="rect">
              <a:avLst/>
            </a:prstGeom>
          </p:spPr>
        </p:pic>
        <p:pic>
          <p:nvPicPr>
            <p:cNvPr id="26" name="图片 25">
              <a:extLst>
                <a:ext uri="{FF2B5EF4-FFF2-40B4-BE49-F238E27FC236}">
                  <a16:creationId xmlns="" xmlns:a16="http://schemas.microsoft.com/office/drawing/2014/main" id="{112CFDA6-7D29-DB41-AFFF-395B9F6DA64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618280" y="3139170"/>
              <a:ext cx="461978" cy="37535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794301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标题 1">
                <a:extLst>
                  <a:ext uri="{FF2B5EF4-FFF2-40B4-BE49-F238E27FC236}">
                    <a16:creationId xmlns="" xmlns:a16="http://schemas.microsoft.com/office/drawing/2014/main" id="{96C050E8-2FE5-A640-8A8F-34449B8E662F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kumimoji="1" lang="en-US" altLang="zh-CN" dirty="0"/>
                  <a:t>SVD</a:t>
                </a:r>
                <a:r>
                  <a:rPr kumimoji="1" lang="zh-CN" altLang="en-US" dirty="0"/>
                  <a:t>得到的</a:t>
                </a:r>
                <a:r>
                  <a:rPr kumimoji="1" lang="en-US" altLang="zh-CN" b="1" dirty="0">
                    <a:latin typeface="Times" pitchFamily="2" charset="0"/>
                  </a:rPr>
                  <a:t>U</a:t>
                </a:r>
                <a:r>
                  <a:rPr kumimoji="1" lang="zh-CN" altLang="en-US" b="1" dirty="0">
                    <a:latin typeface="Times" pitchFamily="2" charset="0"/>
                  </a:rPr>
                  <a:t>、</a:t>
                </a:r>
                <a14:m>
                  <m:oMath xmlns:m="http://schemas.openxmlformats.org/officeDocument/2006/math">
                    <m:r>
                      <a:rPr kumimoji="1" lang="en-US" altLang="zh-CN" sz="3200" b="1" i="0" smtClean="0">
                        <a:latin typeface="Cambria Math" panose="02040503050406030204" pitchFamily="18" charset="0"/>
                      </a:rPr>
                      <m:t>𝚺</m:t>
                    </m:r>
                  </m:oMath>
                </a14:m>
                <a:r>
                  <a:rPr kumimoji="1" lang="zh-CN" altLang="en-US" b="1" dirty="0">
                    <a:latin typeface="Times" pitchFamily="2" charset="0"/>
                  </a:rPr>
                  <a:t>、</a:t>
                </a:r>
                <a:r>
                  <a:rPr kumimoji="1" lang="en-US" altLang="zh-CN" b="1" dirty="0">
                    <a:latin typeface="Times" pitchFamily="2" charset="0"/>
                  </a:rPr>
                  <a:t>V</a:t>
                </a:r>
                <a:endParaRPr kumimoji="1" lang="zh-CN" altLang="en-US" b="1" dirty="0">
                  <a:latin typeface="Times" pitchFamily="2" charset="0"/>
                </a:endParaRPr>
              </a:p>
            </p:txBody>
          </p:sp>
        </mc:Choice>
        <mc:Fallback xmlns="">
          <p:sp>
            <p:nvSpPr>
              <p:cNvPr id="2" name="标题 1">
                <a:extLst>
                  <a:ext uri="{FF2B5EF4-FFF2-40B4-BE49-F238E27FC236}">
                    <a16:creationId xmlns:a16="http://schemas.microsoft.com/office/drawing/2014/main" id="{96C050E8-2FE5-A640-8A8F-34449B8E662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t="-12195" b="-365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="" xmlns:a16="http://schemas.microsoft.com/office/drawing/2014/main" id="{61EFDC3E-1BB1-3A45-B432-7041C872B01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2640570"/>
                <a:ext cx="8229600" cy="2115579"/>
              </a:xfrm>
            </p:spPr>
            <p:txBody>
              <a:bodyPr>
                <a:normAutofit fontScale="92500" lnSpcReduction="20000"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n-US" altLang="zh-CN" smtClean="0">
                        <a:latin typeface="Cambria Math" panose="02040503050406030204" pitchFamily="18" charset="0"/>
                      </a:rPr>
                      <m:t>Σ</m:t>
                    </m:r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kumimoji="1" lang="en-US" altLang="zh-CN" i="1">
                            <a:latin typeface="Cambria Math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kumimoji="1" lang="en-US" altLang="zh-CN" i="1">
                                <a:latin typeface="Cambria Math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kumimoji="1" lang="en-US" altLang="zh-CN" b="0" i="1" smtClean="0">
                                      <a:latin typeface="Cambria Math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b="0" i="1" smtClean="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kumimoji="1" lang="en-US" altLang="zh-CN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</m:e>
                            <m:e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  <m:e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⋱</m:t>
                              </m:r>
                            </m:e>
                            <m:e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</m:mr>
                          <m:mr>
                            <m:e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kumimoji="1" lang="en-US" altLang="zh-CN" b="0" i="1" smtClean="0">
                                      <a:latin typeface="Cambria Math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b="0" i="1" smtClean="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kumimoji="1" lang="en-US" altLang="zh-CN" b="0" i="1" smtClean="0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r>
                  <a:rPr kumimoji="1" lang="zh-CN" altLang="en-US" dirty="0"/>
                  <a:t>是对角方阵，</a:t>
                </a:r>
                <a:r>
                  <a:rPr kumimoji="1" lang="en-US" altLang="zh-CN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⋯</m:t>
                    </m:r>
                    <m:sSub>
                      <m:sSubPr>
                        <m:ctrlPr>
                          <a:rPr kumimoji="1" lang="en-US" altLang="zh-CN" b="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kumimoji="1" lang="zh-CN" altLang="en-US" dirty="0"/>
                  <a:t>是</a:t>
                </a:r>
                <a:r>
                  <a:rPr kumimoji="1" lang="en-US" altLang="zh-CN" dirty="0"/>
                  <a:t>D</a:t>
                </a:r>
                <a:r>
                  <a:rPr kumimoji="1" lang="zh-CN" altLang="en-US" dirty="0"/>
                  <a:t>的</a:t>
                </a:r>
                <a:r>
                  <a:rPr kumimoji="1" lang="en-US" altLang="zh-CN" dirty="0"/>
                  <a:t>R</a:t>
                </a:r>
                <a:r>
                  <a:rPr kumimoji="1" lang="zh-CN" altLang="en-US" dirty="0"/>
                  <a:t>个</a:t>
                </a:r>
                <a:r>
                  <a:rPr kumimoji="1" lang="zh-CN" altLang="en-US" dirty="0">
                    <a:solidFill>
                      <a:srgbClr val="C00000"/>
                    </a:solidFill>
                  </a:rPr>
                  <a:t>特征根</a:t>
                </a:r>
              </a:p>
              <a:p>
                <a:r>
                  <a:rPr kumimoji="1" lang="en-US" altLang="zh-CN" b="1" dirty="0">
                    <a:latin typeface="Times" pitchFamily="2" charset="0"/>
                  </a:rPr>
                  <a:t>U</a:t>
                </a:r>
                <a:r>
                  <a:rPr kumimoji="1" lang="zh-CN" altLang="en-US" dirty="0">
                    <a:latin typeface="Times" pitchFamily="2" charset="0"/>
                  </a:rPr>
                  <a:t>所</a:t>
                </a:r>
                <a:r>
                  <a:rPr kumimoji="1" lang="zh-CN" altLang="en-US" dirty="0"/>
                  <a:t>有的列都正交</a:t>
                </a:r>
                <a:r>
                  <a:rPr kumimoji="1" lang="en-US" altLang="zh-CN" dirty="0"/>
                  <a:t>:</a:t>
                </a:r>
                <a:r>
                  <a:rPr kumimoji="1" lang="zh-CN" altLang="en-US" dirty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kumimoji="1" lang="en-US" altLang="zh-CN" i="1">
                            <a:latin typeface="Cambria Math" charset="0"/>
                          </a:rPr>
                        </m:ctrlPr>
                      </m:sSubSupPr>
                      <m:e>
                        <m:r>
                          <a:rPr kumimoji="1" lang="en-US" altLang="zh-CN" b="1">
                            <a:latin typeface="Cambria Math" panose="02040503050406030204" pitchFamily="18" charset="0"/>
                          </a:rPr>
                          <m:t>𝐮</m:t>
                        </m:r>
                      </m:e>
                      <m:sub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  <m:sSubSup>
                      <m:sSubSupPr>
                        <m:ctrlPr>
                          <a:rPr kumimoji="1" lang="en-US" altLang="zh-CN" i="1">
                            <a:latin typeface="Cambria Math" charset="0"/>
                          </a:rPr>
                        </m:ctrlPr>
                      </m:sSubSupPr>
                      <m:e>
                        <m:r>
                          <a:rPr kumimoji="1" lang="en-US" altLang="zh-CN" b="1">
                            <a:latin typeface="Cambria Math" panose="02040503050406030204" pitchFamily="18" charset="0"/>
                          </a:rPr>
                          <m:t>𝐮</m:t>
                        </m:r>
                      </m:e>
                      <m:sub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kumimoji="1" lang="zh-CN" alt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sup>
                    </m:sSubSup>
                    <m:r>
                      <a:rPr kumimoji="1" lang="en-US" altLang="zh-CN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kumimoji="1" lang="en-US" altLang="zh-CN" i="1">
                            <a:latin typeface="Cambria Math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kumimoji="1" lang="en-US" altLang="zh-CN" i="1">
                                <a:latin typeface="Cambria Math" charset="0"/>
                              </a:rPr>
                            </m:ctrlPr>
                          </m:eqArrPr>
                          <m:e>
                            <m:r>
                              <a:rPr kumimoji="1" lang="en-US" altLang="zh-CN" i="1">
                                <a:latin typeface="Cambria Math" panose="02040503050406030204" pitchFamily="18" charset="0"/>
                              </a:rPr>
                              <m:t>1,  </m:t>
                            </m:r>
                            <m:r>
                              <a:rPr kumimoji="1" lang="en-US" altLang="zh-CN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kumimoji="1" lang="en-US" altLang="zh-CN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kumimoji="1" lang="en-US" altLang="zh-CN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  <m:e>
                            <m:r>
                              <a:rPr kumimoji="1" lang="en-US" altLang="zh-CN" i="1"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a:rPr kumimoji="1" lang="en-US" altLang="zh-CN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kumimoji="1" lang="en-US" altLang="zh-CN" i="1">
                                <a:latin typeface="Cambria Math" panose="02040503050406030204" pitchFamily="18" charset="0"/>
                              </a:rPr>
                              <m:t>,  </m:t>
                            </m:r>
                            <m:r>
                              <a:rPr kumimoji="1" lang="en-US" altLang="zh-CN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kumimoji="1" lang="en-US" altLang="zh-CN" i="1">
                                <a:latin typeface="Cambria Math" panose="02040503050406030204" pitchFamily="18" charset="0"/>
                              </a:rPr>
                              <m:t>≠</m:t>
                            </m:r>
                            <m:r>
                              <a:rPr kumimoji="1" lang="en-US" altLang="zh-CN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</m:eqArr>
                      </m:e>
                    </m:d>
                  </m:oMath>
                </a14:m>
                <a:r>
                  <a:rPr kumimoji="1" lang="zh-CN" altLang="en-US" dirty="0"/>
                  <a:t>，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kumimoji="1" lang="en-US" altLang="zh-CN" i="1">
                            <a:latin typeface="Cambria Math" charset="0"/>
                          </a:rPr>
                        </m:ctrlPr>
                      </m:sSubSupPr>
                      <m:e>
                        <m:r>
                          <a:rPr kumimoji="1" lang="en-US" altLang="zh-CN" b="1">
                            <a:latin typeface="Cambria Math" panose="02040503050406030204" pitchFamily="18" charset="0"/>
                          </a:rPr>
                          <m:t>𝐮</m:t>
                        </m:r>
                      </m:e>
                      <m:sub>
                        <m:r>
                          <a:rPr kumimoji="1" lang="en-US" altLang="zh-CN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  <m:sup>
                        <m:r>
                          <a:rPr kumimoji="1" lang="zh-CN" altLang="en-US" i="1">
                            <a:latin typeface="Cambria Math" panose="02040503050406030204" pitchFamily="18" charset="0"/>
                          </a:rPr>
                          <m:t> </m:t>
                        </m:r>
                      </m:sup>
                    </m:sSubSup>
                  </m:oMath>
                </a14:m>
                <a:r>
                  <a:rPr kumimoji="1" lang="zh-CN" altLang="en-US" dirty="0"/>
                  <a:t>是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kumimoji="1" lang="zh-CN" altLang="en-US" dirty="0"/>
                  <a:t>对应</a:t>
                </a:r>
                <a:r>
                  <a:rPr kumimoji="1" lang="zh-CN" altLang="en-US" dirty="0">
                    <a:solidFill>
                      <a:srgbClr val="C00000"/>
                    </a:solidFill>
                  </a:rPr>
                  <a:t>左特征向量</a:t>
                </a:r>
                <a:endParaRPr kumimoji="1" lang="en-US" altLang="zh-CN" dirty="0">
                  <a:solidFill>
                    <a:srgbClr val="C00000"/>
                  </a:solidFill>
                </a:endParaRPr>
              </a:p>
              <a:p>
                <a:r>
                  <a:rPr kumimoji="1" lang="en-US" altLang="zh-CN" b="1" dirty="0">
                    <a:latin typeface="Times" pitchFamily="2" charset="0"/>
                  </a:rPr>
                  <a:t>V</a:t>
                </a:r>
                <a:r>
                  <a:rPr kumimoji="1" lang="zh-CN" altLang="en-US" dirty="0">
                    <a:latin typeface="Times" pitchFamily="2" charset="0"/>
                  </a:rPr>
                  <a:t>所</a:t>
                </a:r>
                <a:r>
                  <a:rPr kumimoji="1" lang="zh-CN" altLang="en-US" dirty="0"/>
                  <a:t>有的列都正交</a:t>
                </a:r>
                <a:r>
                  <a:rPr kumimoji="1" lang="en-US" altLang="zh-CN" dirty="0"/>
                  <a:t>:</a:t>
                </a:r>
                <a:r>
                  <a:rPr kumimoji="1" lang="zh-CN" altLang="en-US" dirty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kumimoji="1" lang="en-US" altLang="zh-CN" i="1">
                            <a:latin typeface="Cambria Math" charset="0"/>
                          </a:rPr>
                        </m:ctrlPr>
                      </m:sSubSupPr>
                      <m:e>
                        <m:r>
                          <a:rPr kumimoji="1" lang="en-US" altLang="zh-CN" b="1" i="0" smtClean="0">
                            <a:latin typeface="Cambria Math" panose="02040503050406030204" pitchFamily="18" charset="0"/>
                          </a:rPr>
                          <m:t>𝐯</m:t>
                        </m:r>
                      </m:e>
                      <m:sub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  <m:sSubSup>
                      <m:sSubSupPr>
                        <m:ctrlPr>
                          <a:rPr kumimoji="1" lang="en-US" altLang="zh-CN" i="1">
                            <a:latin typeface="Cambria Math" charset="0"/>
                          </a:rPr>
                        </m:ctrlPr>
                      </m:sSubSupPr>
                      <m:e>
                        <m:r>
                          <a:rPr kumimoji="1" lang="en-US" altLang="zh-CN" b="1" i="0" smtClean="0">
                            <a:latin typeface="Cambria Math" panose="02040503050406030204" pitchFamily="18" charset="0"/>
                          </a:rPr>
                          <m:t>𝐯</m:t>
                        </m:r>
                      </m:e>
                      <m:sub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kumimoji="1" lang="zh-CN" alt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sup>
                    </m:sSubSup>
                    <m:r>
                      <a:rPr kumimoji="1" lang="en-US" altLang="zh-CN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kumimoji="1" lang="en-US" altLang="zh-CN" i="1">
                            <a:latin typeface="Cambria Math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kumimoji="1" lang="en-US" altLang="zh-CN" i="1">
                                <a:latin typeface="Cambria Math" charset="0"/>
                              </a:rPr>
                            </m:ctrlPr>
                          </m:eqArrPr>
                          <m:e>
                            <m:r>
                              <a:rPr kumimoji="1" lang="en-US" altLang="zh-CN" i="1">
                                <a:latin typeface="Cambria Math" panose="02040503050406030204" pitchFamily="18" charset="0"/>
                              </a:rPr>
                              <m:t>1,  </m:t>
                            </m:r>
                            <m:r>
                              <a:rPr kumimoji="1" lang="en-US" altLang="zh-CN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kumimoji="1" lang="en-US" altLang="zh-CN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kumimoji="1" lang="en-US" altLang="zh-CN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  <m:e>
                            <m:r>
                              <a:rPr kumimoji="1" lang="en-US" altLang="zh-CN" i="1"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a:rPr kumimoji="1" lang="en-US" altLang="zh-CN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kumimoji="1" lang="en-US" altLang="zh-CN" i="1">
                                <a:latin typeface="Cambria Math" panose="02040503050406030204" pitchFamily="18" charset="0"/>
                              </a:rPr>
                              <m:t>,  </m:t>
                            </m:r>
                            <m:r>
                              <a:rPr kumimoji="1" lang="en-US" altLang="zh-CN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kumimoji="1" lang="en-US" altLang="zh-CN" i="1">
                                <a:latin typeface="Cambria Math" panose="02040503050406030204" pitchFamily="18" charset="0"/>
                              </a:rPr>
                              <m:t>≠</m:t>
                            </m:r>
                            <m:r>
                              <a:rPr kumimoji="1" lang="en-US" altLang="zh-CN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</m:eqArr>
                      </m:e>
                    </m:d>
                  </m:oMath>
                </a14:m>
                <a:r>
                  <a:rPr kumimoji="1" lang="zh-CN" altLang="en-US" dirty="0"/>
                  <a:t>，</a:t>
                </a:r>
                <a:r>
                  <a:rPr kumimoji="1" lang="en-US" altLang="zh-CN" dirty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kumimoji="1" lang="en-US" altLang="zh-CN" i="1">
                            <a:latin typeface="Cambria Math" charset="0"/>
                          </a:rPr>
                        </m:ctrlPr>
                      </m:sSubSupPr>
                      <m:e>
                        <m:r>
                          <a:rPr kumimoji="1" lang="en-US" altLang="zh-CN" b="1" i="0" smtClean="0">
                            <a:latin typeface="Cambria Math" panose="02040503050406030204" pitchFamily="18" charset="0"/>
                          </a:rPr>
                          <m:t>𝐯</m:t>
                        </m:r>
                      </m:e>
                      <m:sub>
                        <m:r>
                          <a:rPr kumimoji="1" lang="en-US" altLang="zh-CN" b="1" i="1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  <m:sup>
                        <m:r>
                          <a:rPr kumimoji="1" lang="zh-CN" altLang="en-US" i="1">
                            <a:latin typeface="Cambria Math" panose="02040503050406030204" pitchFamily="18" charset="0"/>
                          </a:rPr>
                          <m:t> </m:t>
                        </m:r>
                      </m:sup>
                    </m:sSubSup>
                  </m:oMath>
                </a14:m>
                <a:r>
                  <a:rPr kumimoji="1" lang="zh-CN" altLang="en-US" dirty="0"/>
                  <a:t>是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kumimoji="1" lang="zh-CN" altLang="en-US" dirty="0"/>
                  <a:t>对应</a:t>
                </a:r>
                <a:r>
                  <a:rPr kumimoji="1" lang="zh-CN" altLang="en-US" dirty="0">
                    <a:solidFill>
                      <a:srgbClr val="C00000"/>
                    </a:solidFill>
                  </a:rPr>
                  <a:t>右特征向量</a:t>
                </a:r>
                <a:endParaRPr kumimoji="1" lang="en-US" altLang="zh-CN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61EFDC3E-1BB1-3A45-B432-7041C872B01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2640570"/>
                <a:ext cx="8229600" cy="2115579"/>
              </a:xfrm>
              <a:blipFill>
                <a:blip r:embed="rId3"/>
                <a:stretch>
                  <a:fillRect l="-617" t="-35329" b="-9640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组合 3">
            <a:extLst>
              <a:ext uri="{FF2B5EF4-FFF2-40B4-BE49-F238E27FC236}">
                <a16:creationId xmlns="" xmlns:a16="http://schemas.microsoft.com/office/drawing/2014/main" id="{71F6CC1C-083B-2649-B5A9-4672DF9CF542}"/>
              </a:ext>
            </a:extLst>
          </p:cNvPr>
          <p:cNvGrpSpPr/>
          <p:nvPr/>
        </p:nvGrpSpPr>
        <p:grpSpPr>
          <a:xfrm>
            <a:off x="367571" y="794484"/>
            <a:ext cx="8621032" cy="1592449"/>
            <a:chOff x="165694" y="3110178"/>
            <a:chExt cx="8621032" cy="1592449"/>
          </a:xfrm>
        </p:grpSpPr>
        <p:grpSp>
          <p:nvGrpSpPr>
            <p:cNvPr id="5" name="组合 4">
              <a:extLst>
                <a:ext uri="{FF2B5EF4-FFF2-40B4-BE49-F238E27FC236}">
                  <a16:creationId xmlns="" xmlns:a16="http://schemas.microsoft.com/office/drawing/2014/main" id="{79C75C0A-D00D-954C-8C00-0D8DA01A4945}"/>
                </a:ext>
              </a:extLst>
            </p:cNvPr>
            <p:cNvGrpSpPr/>
            <p:nvPr/>
          </p:nvGrpSpPr>
          <p:grpSpPr>
            <a:xfrm>
              <a:off x="165694" y="3110178"/>
              <a:ext cx="8621032" cy="1592449"/>
              <a:chOff x="165694" y="3110178"/>
              <a:chExt cx="8621032" cy="1592449"/>
            </a:xfrm>
          </p:grpSpPr>
          <p:pic>
            <p:nvPicPr>
              <p:cNvPr id="11" name="图片 10">
                <a:extLst>
                  <a:ext uri="{FF2B5EF4-FFF2-40B4-BE49-F238E27FC236}">
                    <a16:creationId xmlns="" xmlns:a16="http://schemas.microsoft.com/office/drawing/2014/main" id="{B88E7BA1-C893-6440-825B-21C0AB21DB6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/>
              <a:srcRect r="36618"/>
              <a:stretch/>
            </p:blipFill>
            <p:spPr>
              <a:xfrm>
                <a:off x="165694" y="3111389"/>
                <a:ext cx="4668404" cy="1591238"/>
              </a:xfrm>
              <a:prstGeom prst="rect">
                <a:avLst/>
              </a:prstGeom>
            </p:spPr>
          </p:pic>
          <p:sp>
            <p:nvSpPr>
              <p:cNvPr id="12" name="文本框 11">
                <a:extLst>
                  <a:ext uri="{FF2B5EF4-FFF2-40B4-BE49-F238E27FC236}">
                    <a16:creationId xmlns="" xmlns:a16="http://schemas.microsoft.com/office/drawing/2014/main" id="{0F1B7AB3-8330-8244-8715-A8C91C36F3AD}"/>
                  </a:ext>
                </a:extLst>
              </p:cNvPr>
              <p:cNvSpPr txBox="1"/>
              <p:nvPr/>
            </p:nvSpPr>
            <p:spPr>
              <a:xfrm>
                <a:off x="2946333" y="3365027"/>
                <a:ext cx="486888" cy="64633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3600" dirty="0"/>
                  <a:t>=</a:t>
                </a:r>
                <a:endParaRPr kumimoji="1" lang="zh-CN" altLang="en-US" dirty="0"/>
              </a:p>
            </p:txBody>
          </p:sp>
          <p:pic>
            <p:nvPicPr>
              <p:cNvPr id="13" name="图片 12">
                <a:extLst>
                  <a:ext uri="{FF2B5EF4-FFF2-40B4-BE49-F238E27FC236}">
                    <a16:creationId xmlns="" xmlns:a16="http://schemas.microsoft.com/office/drawing/2014/main" id="{AFA7C138-BD05-CE47-B3A7-AE962575BE0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/>
              <a:srcRect l="56092" r="19"/>
              <a:stretch/>
            </p:blipFill>
            <p:spPr>
              <a:xfrm>
                <a:off x="5554098" y="3111389"/>
                <a:ext cx="3232628" cy="1591238"/>
              </a:xfrm>
              <a:prstGeom prst="rect">
                <a:avLst/>
              </a:prstGeom>
            </p:spPr>
          </p:pic>
          <p:sp>
            <p:nvSpPr>
              <p:cNvPr id="14" name="矩形 13">
                <a:extLst>
                  <a:ext uri="{FF2B5EF4-FFF2-40B4-BE49-F238E27FC236}">
                    <a16:creationId xmlns="" xmlns:a16="http://schemas.microsoft.com/office/drawing/2014/main" id="{1E35FFE4-BBD3-AE47-8351-3825A52C7216}"/>
                  </a:ext>
                </a:extLst>
              </p:cNvPr>
              <p:cNvSpPr/>
              <p:nvPr/>
            </p:nvSpPr>
            <p:spPr>
              <a:xfrm>
                <a:off x="4834098" y="3110178"/>
                <a:ext cx="1459336" cy="25484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5" name="矩形 14">
                <a:extLst>
                  <a:ext uri="{FF2B5EF4-FFF2-40B4-BE49-F238E27FC236}">
                    <a16:creationId xmlns="" xmlns:a16="http://schemas.microsoft.com/office/drawing/2014/main" id="{1D285966-6795-8041-BD76-8180A9ACA22C}"/>
                  </a:ext>
                </a:extLst>
              </p:cNvPr>
              <p:cNvSpPr/>
              <p:nvPr/>
            </p:nvSpPr>
            <p:spPr>
              <a:xfrm>
                <a:off x="4429496" y="4119257"/>
                <a:ext cx="1268192" cy="58336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6" name="矩形 15">
                <a:extLst>
                  <a:ext uri="{FF2B5EF4-FFF2-40B4-BE49-F238E27FC236}">
                    <a16:creationId xmlns="" xmlns:a16="http://schemas.microsoft.com/office/drawing/2014/main" id="{2DB5EAD1-99DF-6A47-9F3E-5DBC63544A8B}"/>
                  </a:ext>
                </a:extLst>
              </p:cNvPr>
              <p:cNvSpPr/>
              <p:nvPr/>
            </p:nvSpPr>
            <p:spPr>
              <a:xfrm>
                <a:off x="4869723" y="3365027"/>
                <a:ext cx="720000" cy="720000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  <p:cxnSp>
          <p:nvCxnSpPr>
            <p:cNvPr id="6" name="直线连接符 5">
              <a:extLst>
                <a:ext uri="{FF2B5EF4-FFF2-40B4-BE49-F238E27FC236}">
                  <a16:creationId xmlns="" xmlns:a16="http://schemas.microsoft.com/office/drawing/2014/main" id="{0517E093-4037-D041-BBEE-53FF3CABFBD1}"/>
                </a:ext>
              </a:extLst>
            </p:cNvPr>
            <p:cNvCxnSpPr/>
            <p:nvPr/>
          </p:nvCxnSpPr>
          <p:spPr>
            <a:xfrm>
              <a:off x="4869723" y="3365027"/>
              <a:ext cx="720000" cy="720000"/>
            </a:xfrm>
            <a:prstGeom prst="line">
              <a:avLst/>
            </a:prstGeom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7" name="文本框 6">
              <a:extLst>
                <a:ext uri="{FF2B5EF4-FFF2-40B4-BE49-F238E27FC236}">
                  <a16:creationId xmlns="" xmlns:a16="http://schemas.microsoft.com/office/drawing/2014/main" id="{CCB18FA7-28A6-3548-BAA3-1C08874FFF12}"/>
                </a:ext>
              </a:extLst>
            </p:cNvPr>
            <p:cNvSpPr txBox="1"/>
            <p:nvPr/>
          </p:nvSpPr>
          <p:spPr>
            <a:xfrm>
              <a:off x="5216787" y="3399257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dirty="0"/>
                <a:t>0</a:t>
              </a:r>
              <a:endParaRPr kumimoji="1" lang="zh-CN" altLang="en-US" dirty="0"/>
            </a:p>
          </p:txBody>
        </p:sp>
        <p:sp>
          <p:nvSpPr>
            <p:cNvPr id="8" name="文本框 7">
              <a:extLst>
                <a:ext uri="{FF2B5EF4-FFF2-40B4-BE49-F238E27FC236}">
                  <a16:creationId xmlns="" xmlns:a16="http://schemas.microsoft.com/office/drawing/2014/main" id="{D5B642B4-B36D-4E47-B482-BFC545049F62}"/>
                </a:ext>
              </a:extLst>
            </p:cNvPr>
            <p:cNvSpPr txBox="1"/>
            <p:nvPr/>
          </p:nvSpPr>
          <p:spPr>
            <a:xfrm>
              <a:off x="4928037" y="371349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dirty="0"/>
                <a:t>0</a:t>
              </a:r>
              <a:endParaRPr kumimoji="1" lang="zh-CN" altLang="en-US" dirty="0"/>
            </a:p>
          </p:txBody>
        </p:sp>
        <p:pic>
          <p:nvPicPr>
            <p:cNvPr id="9" name="图片 8">
              <a:extLst>
                <a:ext uri="{FF2B5EF4-FFF2-40B4-BE49-F238E27FC236}">
                  <a16:creationId xmlns="" xmlns:a16="http://schemas.microsoft.com/office/drawing/2014/main" id="{CE084DAF-8F12-1E4E-B556-6A5FB13E9ED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654987" y="4117060"/>
              <a:ext cx="503486" cy="456650"/>
            </a:xfrm>
            <a:prstGeom prst="rect">
              <a:avLst/>
            </a:prstGeom>
          </p:spPr>
        </p:pic>
        <p:pic>
          <p:nvPicPr>
            <p:cNvPr id="10" name="图片 9">
              <a:extLst>
                <a:ext uri="{FF2B5EF4-FFF2-40B4-BE49-F238E27FC236}">
                  <a16:creationId xmlns="" xmlns:a16="http://schemas.microsoft.com/office/drawing/2014/main" id="{2EE080FC-4A97-FE42-B4C6-A2EFBBDE2B5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618280" y="3139170"/>
              <a:ext cx="461978" cy="37535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31473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4489AF57-A441-A44D-9776-16FA4B70F2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LSI</a:t>
            </a:r>
            <a:r>
              <a:rPr kumimoji="1" lang="zh-CN" altLang="en-US" dirty="0"/>
              <a:t>第二步：对特征根进行排序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="" xmlns:a16="http://schemas.microsoft.com/office/drawing/2014/main" id="{E292C1DB-17B0-104A-9EA0-539E96BAACE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2411598"/>
                <a:ext cx="8229600" cy="2955468"/>
              </a:xfrm>
            </p:spPr>
            <p:txBody>
              <a:bodyPr>
                <a:normAutofit/>
              </a:bodyPr>
              <a:lstStyle/>
              <a:p>
                <a:r>
                  <a:rPr kumimoji="1" lang="zh-CN" altLang="en-US" sz="1600" dirty="0"/>
                  <a:t>原</a:t>
                </a:r>
                <a14:m>
                  <m:oMath xmlns:m="http://schemas.openxmlformats.org/officeDocument/2006/math">
                    <m:r>
                      <a:rPr kumimoji="1" lang="zh-CN" altLang="en-US" sz="1600" i="1" smtClean="0">
                        <a:latin typeface="Cambria Math" panose="02040503050406030204" pitchFamily="18" charset="0"/>
                      </a:rPr>
                      <m:t>特征</m:t>
                    </m:r>
                    <m:r>
                      <a:rPr kumimoji="1" lang="zh-CN" altLang="en-US" sz="1600" i="1">
                        <a:latin typeface="Cambria Math" panose="02040503050406030204" pitchFamily="18" charset="0"/>
                      </a:rPr>
                      <m:t>根</m:t>
                    </m:r>
                    <m:r>
                      <a:rPr kumimoji="1" lang="zh-CN" altLang="en-US" sz="1600" i="1" smtClean="0">
                        <a:latin typeface="Cambria Math" panose="02040503050406030204" pitchFamily="18" charset="0"/>
                      </a:rPr>
                      <m:t>矩阵</m:t>
                    </m:r>
                    <m:r>
                      <m:rPr>
                        <m:sty m:val="p"/>
                      </m:rPr>
                      <a:rPr kumimoji="1" lang="en-US" altLang="zh-CN" sz="1600" smtClean="0">
                        <a:latin typeface="Cambria Math" panose="02040503050406030204" pitchFamily="18" charset="0"/>
                      </a:rPr>
                      <m:t>Σ</m:t>
                    </m:r>
                  </m:oMath>
                </a14:m>
                <a:r>
                  <a:rPr lang="en-US" altLang="zh-CN" sz="1600" dirty="0">
                    <a:sym typeface="Wingdings" pitchFamily="2" charset="2"/>
                  </a:rPr>
                  <a:t></a:t>
                </a:r>
                <a:r>
                  <a:rPr lang="zh-CN" altLang="en-US" sz="1600" dirty="0">
                    <a:sym typeface="Wingdings" pitchFamily="2" charset="2"/>
                  </a:rPr>
                  <a:t>排序后的特征根矩阵</a:t>
                </a:r>
                <a:r>
                  <a:rPr kumimoji="1" lang="en-US" altLang="zh-CN" sz="16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zh-CN" sz="1600" b="0" i="1" smtClean="0">
                            <a:latin typeface="Cambria Math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kumimoji="1" lang="en-US" altLang="zh-CN" sz="160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kumimoji="1" lang="en-US" altLang="zh-CN" sz="1600" b="0" i="0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endParaRPr lang="en-US" altLang="zh-CN" sz="1600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zh-CN" sz="1600" b="0" i="1" smtClean="0">
                            <a:latin typeface="Cambria Math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kumimoji="1" lang="en-US" altLang="zh-CN" sz="160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kumimoji="1" lang="en-US" altLang="zh-CN" sz="1600" b="0" i="0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kumimoji="1" lang="en-US" altLang="zh-CN" sz="16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kumimoji="1" lang="en-US" altLang="zh-CN" sz="1600" i="1">
                            <a:latin typeface="Cambria Math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kumimoji="1" lang="en-US" altLang="zh-CN" sz="1600" i="1">
                                <a:latin typeface="Cambria Math" charset="0"/>
                              </a:rPr>
                            </m:ctrlPr>
                          </m:mPr>
                          <m:mr>
                            <m:e>
                              <m:sSubSup>
                                <m:sSubSupPr>
                                  <m:ctrlPr>
                                    <a:rPr kumimoji="1" lang="en-US" altLang="zh-CN" sz="1600" b="0" i="1" smtClean="0">
                                      <a:latin typeface="Cambria Math" charset="0"/>
                                    </a:rPr>
                                  </m:ctrlPr>
                                </m:sSubSupPr>
                                <m:e>
                                  <m:r>
                                    <a:rPr kumimoji="1" lang="en-US" altLang="zh-CN" sz="1600" i="1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kumimoji="1" lang="en-US" altLang="zh-CN" sz="16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kumimoji="1" lang="en-US" altLang="zh-CN" sz="1600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</m:e>
                            <m:e>
                              <m:r>
                                <a:rPr kumimoji="1" lang="en-US" altLang="zh-CN" sz="1600" i="1"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</m:e>
                            <m:e>
                              <m:r>
                                <a:rPr kumimoji="1" lang="en-US" altLang="zh-CN" sz="16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kumimoji="1" lang="en-US" altLang="zh-CN" sz="1600" i="1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  <m:e>
                              <m:r>
                                <a:rPr kumimoji="1" lang="en-US" altLang="zh-CN" sz="1600" i="1">
                                  <a:latin typeface="Cambria Math" panose="02040503050406030204" pitchFamily="18" charset="0"/>
                                </a:rPr>
                                <m:t>⋱</m:t>
                              </m:r>
                            </m:e>
                            <m:e>
                              <m:r>
                                <a:rPr kumimoji="1" lang="en-US" altLang="zh-CN" sz="1600" i="1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</m:mr>
                          <m:mr>
                            <m:e>
                              <m:r>
                                <a:rPr kumimoji="1" lang="en-US" altLang="zh-CN" sz="16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kumimoji="1" lang="en-US" altLang="zh-CN" sz="1600" i="1"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</m:e>
                            <m:e>
                              <m:sSubSup>
                                <m:sSubSupPr>
                                  <m:ctrlPr>
                                    <a:rPr kumimoji="1" lang="en-US" altLang="zh-CN" sz="1600" b="0" i="1" smtClean="0">
                                      <a:latin typeface="Cambria Math" charset="0"/>
                                    </a:rPr>
                                  </m:ctrlPr>
                                </m:sSubSupPr>
                                <m:e>
                                  <m:r>
                                    <a:rPr kumimoji="1" lang="en-US" altLang="zh-CN" sz="1600" i="1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kumimoji="1" lang="en-US" altLang="zh-CN" sz="1600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sub>
                                <m:sup>
                                  <m:r>
                                    <a:rPr kumimoji="1" lang="en-US" altLang="zh-CN" sz="1600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</m:e>
                          </m:mr>
                        </m:m>
                      </m:e>
                    </m:d>
                  </m:oMath>
                </a14:m>
                <a:r>
                  <a:rPr lang="zh-CN" altLang="en-US" sz="1600" dirty="0"/>
                  <a:t>，其中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kumimoji="1" lang="en-US" altLang="zh-CN" sz="1600" i="1">
                            <a:latin typeface="Cambria Math" charset="0"/>
                          </a:rPr>
                        </m:ctrlPr>
                      </m:sSubSupPr>
                      <m:e>
                        <m:r>
                          <a:rPr kumimoji="1" lang="en-US" altLang="zh-CN" sz="1600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kumimoji="1" lang="en-US" altLang="zh-CN" sz="16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kumimoji="1" lang="en-US" altLang="zh-CN" sz="16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kumimoji="1" lang="en-US" altLang="zh-CN" sz="1600" b="0" i="1" smtClean="0">
                        <a:latin typeface="Cambria Math" panose="02040503050406030204" pitchFamily="18" charset="0"/>
                      </a:rPr>
                      <m:t>≥</m:t>
                    </m:r>
                    <m:sSubSup>
                      <m:sSubSupPr>
                        <m:ctrlPr>
                          <a:rPr kumimoji="1" lang="en-US" altLang="zh-CN" sz="1600" i="1">
                            <a:latin typeface="Cambria Math" charset="0"/>
                          </a:rPr>
                        </m:ctrlPr>
                      </m:sSubSupPr>
                      <m:e>
                        <m:r>
                          <a:rPr kumimoji="1" lang="en-US" altLang="zh-CN" sz="1600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kumimoji="1" lang="en-US" altLang="zh-CN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kumimoji="1" lang="en-US" altLang="zh-CN" sz="16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kumimoji="1" lang="en-US" altLang="zh-CN" sz="1600" b="0" i="1" smtClean="0">
                        <a:latin typeface="Cambria Math" panose="02040503050406030204" pitchFamily="18" charset="0"/>
                      </a:rPr>
                      <m:t>≥⋯≥</m:t>
                    </m:r>
                    <m:sSubSup>
                      <m:sSubSupPr>
                        <m:ctrlPr>
                          <a:rPr kumimoji="1" lang="en-US" altLang="zh-CN" sz="1600" i="1">
                            <a:latin typeface="Cambria Math" charset="0"/>
                          </a:rPr>
                        </m:ctrlPr>
                      </m:sSubSupPr>
                      <m:e>
                        <m:r>
                          <a:rPr kumimoji="1" lang="en-US" altLang="zh-CN" sz="1600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kumimoji="1" lang="en-US" altLang="zh-CN" sz="16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  <m:sup>
                        <m:r>
                          <a:rPr kumimoji="1" lang="en-US" altLang="zh-CN" sz="16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</m:oMath>
                </a14:m>
                <a:endParaRPr lang="en-US" altLang="zh-CN" sz="1600" dirty="0"/>
              </a:p>
              <a:p>
                <a:r>
                  <a:rPr lang="zh-CN" altLang="en-US" sz="1600" dirty="0"/>
                  <a:t>左特征向量</a:t>
                </a:r>
                <a:r>
                  <a:rPr lang="zh-CN" altLang="en-US" sz="1600" dirty="0">
                    <a:latin typeface="Times" pitchFamily="2" charset="0"/>
                  </a:rPr>
                  <a:t>矩阵也按照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zh-CN" sz="1600" i="1">
                            <a:latin typeface="Cambria Math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kumimoji="1" lang="en-US" altLang="zh-CN" sz="160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kumimoji="1" lang="en-US" altLang="zh-CN" sz="160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zh-CN" altLang="en-US" sz="1600" dirty="0">
                    <a:latin typeface="Times" pitchFamily="2" charset="0"/>
                  </a:rPr>
                  <a:t>进行相应的调整</a:t>
                </a:r>
                <a:endParaRPr lang="en-US" altLang="zh-CN" sz="1600" dirty="0">
                  <a:latin typeface="Times" pitchFamily="2" charset="0"/>
                </a:endParaRPr>
              </a:p>
              <a:p>
                <a:pPr lvl="1"/>
                <a14:m>
                  <m:oMath xmlns:m="http://schemas.openxmlformats.org/officeDocument/2006/math">
                    <m:sSubSup>
                      <m:sSubSupPr>
                        <m:ctrlPr>
                          <a:rPr kumimoji="1" lang="en-US" altLang="zh-CN" sz="1400" i="1">
                            <a:latin typeface="Cambria Math" charset="0"/>
                          </a:rPr>
                        </m:ctrlPr>
                      </m:sSubSupPr>
                      <m:e>
                        <m:r>
                          <a:rPr kumimoji="1" lang="en-US" altLang="zh-CN" sz="1400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kumimoji="1" lang="en-US" altLang="zh-CN" sz="1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kumimoji="1" lang="en-US" altLang="zh-CN" sz="14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</m:oMath>
                </a14:m>
                <a:r>
                  <a:rPr lang="zh-CN" altLang="en-US" sz="1400" dirty="0">
                    <a:latin typeface="Times" pitchFamily="2" charset="0"/>
                  </a:rPr>
                  <a:t>所对应的</a:t>
                </a:r>
                <a:r>
                  <a:rPr lang="zh-CN" altLang="en-US" sz="1400" dirty="0">
                    <a:solidFill>
                      <a:srgbClr val="00B050"/>
                    </a:solidFill>
                    <a:latin typeface="Times" pitchFamily="2" charset="0"/>
                  </a:rPr>
                  <a:t>左</a:t>
                </a:r>
                <a:r>
                  <a:rPr lang="zh-CN" altLang="en-US" sz="1400" dirty="0">
                    <a:latin typeface="Times" pitchFamily="2" charset="0"/>
                  </a:rPr>
                  <a:t>特征向量调整到</a:t>
                </a:r>
                <a:r>
                  <a:rPr lang="en-US" altLang="zh-CN" sz="1400" b="1" dirty="0">
                    <a:solidFill>
                      <a:srgbClr val="00B050"/>
                    </a:solidFill>
                    <a:latin typeface="Times" pitchFamily="2" charset="0"/>
                  </a:rPr>
                  <a:t>U</a:t>
                </a:r>
                <a:r>
                  <a:rPr lang="zh-CN" altLang="en-US" sz="1400" dirty="0">
                    <a:latin typeface="Times" pitchFamily="2" charset="0"/>
                  </a:rPr>
                  <a:t>的第</a:t>
                </a:r>
                <a:r>
                  <a:rPr lang="en-US" altLang="zh-CN" sz="1400" i="1" dirty="0" err="1">
                    <a:solidFill>
                      <a:srgbClr val="C00000"/>
                    </a:solidFill>
                    <a:latin typeface="Times" pitchFamily="2" charset="0"/>
                  </a:rPr>
                  <a:t>i</a:t>
                </a:r>
                <a:r>
                  <a:rPr lang="zh-CN" altLang="en-US" sz="1400" dirty="0">
                    <a:latin typeface="Times" pitchFamily="2" charset="0"/>
                  </a:rPr>
                  <a:t>列</a:t>
                </a:r>
                <a:endParaRPr lang="en-US" altLang="zh-CN" sz="1400" dirty="0">
                  <a:latin typeface="Times" pitchFamily="2" charset="0"/>
                </a:endParaRPr>
              </a:p>
              <a:p>
                <a:pPr lvl="1"/>
                <a14:m>
                  <m:oMath xmlns:m="http://schemas.openxmlformats.org/officeDocument/2006/math">
                    <m:sSubSup>
                      <m:sSubSupPr>
                        <m:ctrlPr>
                          <a:rPr kumimoji="1" lang="en-US" altLang="zh-CN" sz="1400" i="1">
                            <a:latin typeface="Cambria Math" charset="0"/>
                          </a:rPr>
                        </m:ctrlPr>
                      </m:sSubSupPr>
                      <m:e>
                        <m:r>
                          <a:rPr kumimoji="1" lang="en-US" altLang="zh-CN" sz="1400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kumimoji="1" lang="en-US" altLang="zh-CN" sz="14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kumimoji="1" lang="en-US" altLang="zh-CN" sz="14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</m:oMath>
                </a14:m>
                <a:r>
                  <a:rPr lang="zh-CN" altLang="en-US" sz="1400" dirty="0">
                    <a:latin typeface="Times" pitchFamily="2" charset="0"/>
                  </a:rPr>
                  <a:t>所对应的</a:t>
                </a:r>
                <a:r>
                  <a:rPr lang="zh-CN" altLang="en-US" sz="1400" dirty="0">
                    <a:solidFill>
                      <a:srgbClr val="00B050"/>
                    </a:solidFill>
                    <a:latin typeface="Times" pitchFamily="2" charset="0"/>
                  </a:rPr>
                  <a:t>右</a:t>
                </a:r>
                <a:r>
                  <a:rPr lang="zh-CN" altLang="en-US" sz="1400" dirty="0">
                    <a:latin typeface="Times" pitchFamily="2" charset="0"/>
                  </a:rPr>
                  <a:t>特征向量调整到</a:t>
                </a:r>
                <a:r>
                  <a:rPr lang="en-US" altLang="zh-CN" sz="1400" b="1" dirty="0">
                    <a:solidFill>
                      <a:srgbClr val="00B050"/>
                    </a:solidFill>
                    <a:latin typeface="Times" pitchFamily="2" charset="0"/>
                  </a:rPr>
                  <a:t>V</a:t>
                </a:r>
                <a:r>
                  <a:rPr lang="zh-CN" altLang="en-US" sz="1400" dirty="0">
                    <a:latin typeface="Times" pitchFamily="2" charset="0"/>
                  </a:rPr>
                  <a:t>的第</a:t>
                </a:r>
                <a:r>
                  <a:rPr lang="en-US" altLang="zh-CN" sz="1400" i="1" dirty="0" err="1">
                    <a:solidFill>
                      <a:srgbClr val="C00000"/>
                    </a:solidFill>
                    <a:latin typeface="Times" pitchFamily="2" charset="0"/>
                  </a:rPr>
                  <a:t>i</a:t>
                </a:r>
                <a:r>
                  <a:rPr lang="zh-CN" altLang="en-US" sz="1400" dirty="0">
                    <a:latin typeface="Times" pitchFamily="2" charset="0"/>
                  </a:rPr>
                  <a:t>列</a:t>
                </a:r>
                <a:endParaRPr lang="en-US" altLang="zh-CN" sz="1400" dirty="0">
                  <a:latin typeface="Times" pitchFamily="2" charset="0"/>
                </a:endParaRPr>
              </a:p>
              <a:p>
                <a:r>
                  <a:rPr lang="zh-CN" altLang="en-US" sz="1600" dirty="0"/>
                  <a:t>调整后，等号依然</a:t>
                </a:r>
                <a:r>
                  <a:rPr lang="zh-CN" altLang="en-US" sz="1600" dirty="0" smtClean="0"/>
                  <a:t>成立</a:t>
                </a:r>
                <a:endParaRPr lang="en-US" altLang="zh-CN" sz="1600" dirty="0"/>
              </a:p>
              <a:p>
                <a:r>
                  <a:rPr lang="zh-CN" altLang="en-US" sz="1600" dirty="0"/>
                  <a:t>为表述简单：以下</a:t>
                </a:r>
                <a:r>
                  <a:rPr lang="en-US" altLang="zh-CN" sz="1600" dirty="0"/>
                  <a:t>PPT</a:t>
                </a:r>
                <a:r>
                  <a:rPr lang="zh-CN" altLang="en-US" sz="1600" dirty="0"/>
                  <a:t>中，依然用符号</a:t>
                </a:r>
                <a:r>
                  <a:rPr lang="en-US" altLang="zh-CN" sz="1600" b="1" dirty="0">
                    <a:latin typeface="Times" pitchFamily="2" charset="0"/>
                  </a:rPr>
                  <a:t>U</a:t>
                </a:r>
                <a:r>
                  <a:rPr lang="zh-CN" altLang="en-US" sz="1600" b="1" dirty="0">
                    <a:latin typeface="Times" pitchFamily="2" charset="0"/>
                  </a:rPr>
                  <a:t>、</a:t>
                </a:r>
                <a14:m>
                  <m:oMath xmlns:m="http://schemas.openxmlformats.org/officeDocument/2006/math">
                    <m:r>
                      <a:rPr kumimoji="1" lang="en-US" altLang="zh-CN" b="1" i="1">
                        <a:latin typeface="Cambria Math" panose="02040503050406030204" pitchFamily="18" charset="0"/>
                      </a:rPr>
                      <m:t>𝚺</m:t>
                    </m:r>
                  </m:oMath>
                </a14:m>
                <a:r>
                  <a:rPr lang="zh-CN" altLang="en-US" sz="1600" b="1" dirty="0">
                    <a:latin typeface="Times" pitchFamily="2" charset="0"/>
                  </a:rPr>
                  <a:t>、</a:t>
                </a:r>
                <a:r>
                  <a:rPr lang="en-US" altLang="zh-CN" sz="1600" b="1" dirty="0">
                    <a:latin typeface="Times" pitchFamily="2" charset="0"/>
                  </a:rPr>
                  <a:t>V</a:t>
                </a:r>
                <a:r>
                  <a:rPr lang="zh-CN" altLang="en-US" sz="1600" dirty="0"/>
                  <a:t>表示调整后的矩阵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E292C1DB-17B0-104A-9EA0-539E96BAACE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2411598"/>
                <a:ext cx="8229600" cy="2955468"/>
              </a:xfrm>
              <a:blipFill rotWithShape="0">
                <a:blip r:embed="rId3"/>
                <a:stretch>
                  <a:fillRect l="-296" t="-6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组合 3">
            <a:extLst>
              <a:ext uri="{FF2B5EF4-FFF2-40B4-BE49-F238E27FC236}">
                <a16:creationId xmlns="" xmlns:a16="http://schemas.microsoft.com/office/drawing/2014/main" id="{2C707B83-BAE7-6246-A78B-42211925B1DB}"/>
              </a:ext>
            </a:extLst>
          </p:cNvPr>
          <p:cNvGrpSpPr/>
          <p:nvPr/>
        </p:nvGrpSpPr>
        <p:grpSpPr>
          <a:xfrm>
            <a:off x="367571" y="819150"/>
            <a:ext cx="8621032" cy="1592449"/>
            <a:chOff x="165694" y="3110178"/>
            <a:chExt cx="8621032" cy="1592449"/>
          </a:xfrm>
        </p:grpSpPr>
        <p:grpSp>
          <p:nvGrpSpPr>
            <p:cNvPr id="5" name="组合 4">
              <a:extLst>
                <a:ext uri="{FF2B5EF4-FFF2-40B4-BE49-F238E27FC236}">
                  <a16:creationId xmlns="" xmlns:a16="http://schemas.microsoft.com/office/drawing/2014/main" id="{DC6FD584-160A-BC4F-9E30-8FB16EE1C15C}"/>
                </a:ext>
              </a:extLst>
            </p:cNvPr>
            <p:cNvGrpSpPr/>
            <p:nvPr/>
          </p:nvGrpSpPr>
          <p:grpSpPr>
            <a:xfrm>
              <a:off x="165694" y="3110178"/>
              <a:ext cx="8621032" cy="1592449"/>
              <a:chOff x="165694" y="3110178"/>
              <a:chExt cx="8621032" cy="1592449"/>
            </a:xfrm>
          </p:grpSpPr>
          <p:pic>
            <p:nvPicPr>
              <p:cNvPr id="11" name="图片 10">
                <a:extLst>
                  <a:ext uri="{FF2B5EF4-FFF2-40B4-BE49-F238E27FC236}">
                    <a16:creationId xmlns="" xmlns:a16="http://schemas.microsoft.com/office/drawing/2014/main" id="{BE813B98-BA62-3143-911B-FA49E809616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/>
              <a:srcRect r="36618"/>
              <a:stretch/>
            </p:blipFill>
            <p:spPr>
              <a:xfrm>
                <a:off x="165694" y="3111389"/>
                <a:ext cx="4668404" cy="1591238"/>
              </a:xfrm>
              <a:prstGeom prst="rect">
                <a:avLst/>
              </a:prstGeom>
            </p:spPr>
          </p:pic>
          <p:sp>
            <p:nvSpPr>
              <p:cNvPr id="12" name="文本框 11">
                <a:extLst>
                  <a:ext uri="{FF2B5EF4-FFF2-40B4-BE49-F238E27FC236}">
                    <a16:creationId xmlns="" xmlns:a16="http://schemas.microsoft.com/office/drawing/2014/main" id="{50AD6D0C-E9F4-6247-9F8D-52528968BF86}"/>
                  </a:ext>
                </a:extLst>
              </p:cNvPr>
              <p:cNvSpPr txBox="1"/>
              <p:nvPr/>
            </p:nvSpPr>
            <p:spPr>
              <a:xfrm>
                <a:off x="2946333" y="3365027"/>
                <a:ext cx="486888" cy="64633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3600" dirty="0"/>
                  <a:t>=</a:t>
                </a:r>
                <a:endParaRPr kumimoji="1" lang="zh-CN" altLang="en-US" dirty="0"/>
              </a:p>
            </p:txBody>
          </p:sp>
          <p:pic>
            <p:nvPicPr>
              <p:cNvPr id="13" name="图片 12">
                <a:extLst>
                  <a:ext uri="{FF2B5EF4-FFF2-40B4-BE49-F238E27FC236}">
                    <a16:creationId xmlns="" xmlns:a16="http://schemas.microsoft.com/office/drawing/2014/main" id="{570B246F-A9DE-CD4C-8395-B4F18B5C326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/>
              <a:srcRect l="56092" r="19"/>
              <a:stretch/>
            </p:blipFill>
            <p:spPr>
              <a:xfrm>
                <a:off x="5554098" y="3111389"/>
                <a:ext cx="3232628" cy="1591238"/>
              </a:xfrm>
              <a:prstGeom prst="rect">
                <a:avLst/>
              </a:prstGeom>
            </p:spPr>
          </p:pic>
          <p:sp>
            <p:nvSpPr>
              <p:cNvPr id="14" name="矩形 13">
                <a:extLst>
                  <a:ext uri="{FF2B5EF4-FFF2-40B4-BE49-F238E27FC236}">
                    <a16:creationId xmlns="" xmlns:a16="http://schemas.microsoft.com/office/drawing/2014/main" id="{B0F92698-A6C4-6346-AD4B-9FF1214CB025}"/>
                  </a:ext>
                </a:extLst>
              </p:cNvPr>
              <p:cNvSpPr/>
              <p:nvPr/>
            </p:nvSpPr>
            <p:spPr>
              <a:xfrm>
                <a:off x="4834098" y="3110178"/>
                <a:ext cx="1459336" cy="25484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5" name="矩形 14">
                <a:extLst>
                  <a:ext uri="{FF2B5EF4-FFF2-40B4-BE49-F238E27FC236}">
                    <a16:creationId xmlns="" xmlns:a16="http://schemas.microsoft.com/office/drawing/2014/main" id="{05B2EBE0-E912-7841-9D2F-33A79A03F04B}"/>
                  </a:ext>
                </a:extLst>
              </p:cNvPr>
              <p:cNvSpPr/>
              <p:nvPr/>
            </p:nvSpPr>
            <p:spPr>
              <a:xfrm>
                <a:off x="4429496" y="4119257"/>
                <a:ext cx="1268192" cy="58336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6" name="矩形 15">
                <a:extLst>
                  <a:ext uri="{FF2B5EF4-FFF2-40B4-BE49-F238E27FC236}">
                    <a16:creationId xmlns="" xmlns:a16="http://schemas.microsoft.com/office/drawing/2014/main" id="{2337A4C6-C1AA-FF4A-AF07-85A6635D8E80}"/>
                  </a:ext>
                </a:extLst>
              </p:cNvPr>
              <p:cNvSpPr/>
              <p:nvPr/>
            </p:nvSpPr>
            <p:spPr>
              <a:xfrm>
                <a:off x="4869723" y="3365027"/>
                <a:ext cx="720000" cy="720000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  <p:cxnSp>
          <p:nvCxnSpPr>
            <p:cNvPr id="6" name="直线连接符 5">
              <a:extLst>
                <a:ext uri="{FF2B5EF4-FFF2-40B4-BE49-F238E27FC236}">
                  <a16:creationId xmlns="" xmlns:a16="http://schemas.microsoft.com/office/drawing/2014/main" id="{24F14839-DE3A-C94A-BF76-95532D0CC4E0}"/>
                </a:ext>
              </a:extLst>
            </p:cNvPr>
            <p:cNvCxnSpPr/>
            <p:nvPr/>
          </p:nvCxnSpPr>
          <p:spPr>
            <a:xfrm>
              <a:off x="4869723" y="3365027"/>
              <a:ext cx="720000" cy="720000"/>
            </a:xfrm>
            <a:prstGeom prst="line">
              <a:avLst/>
            </a:prstGeom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7" name="文本框 6">
              <a:extLst>
                <a:ext uri="{FF2B5EF4-FFF2-40B4-BE49-F238E27FC236}">
                  <a16:creationId xmlns="" xmlns:a16="http://schemas.microsoft.com/office/drawing/2014/main" id="{7613F622-97C1-0C48-A361-3AB99E876A4A}"/>
                </a:ext>
              </a:extLst>
            </p:cNvPr>
            <p:cNvSpPr txBox="1"/>
            <p:nvPr/>
          </p:nvSpPr>
          <p:spPr>
            <a:xfrm>
              <a:off x="5216787" y="3399257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kumimoji="1" lang="zh-CN" altLang="en-US" dirty="0"/>
            </a:p>
          </p:txBody>
        </p:sp>
        <p:sp>
          <p:nvSpPr>
            <p:cNvPr id="8" name="文本框 7">
              <a:extLst>
                <a:ext uri="{FF2B5EF4-FFF2-40B4-BE49-F238E27FC236}">
                  <a16:creationId xmlns="" xmlns:a16="http://schemas.microsoft.com/office/drawing/2014/main" id="{7E75B7A4-AC3A-F546-8527-AEB474B19773}"/>
                </a:ext>
              </a:extLst>
            </p:cNvPr>
            <p:cNvSpPr txBox="1"/>
            <p:nvPr/>
          </p:nvSpPr>
          <p:spPr>
            <a:xfrm>
              <a:off x="4928037" y="3713498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kumimoji="1" lang="zh-CN" altLang="en-US" dirty="0"/>
            </a:p>
          </p:txBody>
        </p:sp>
        <p:pic>
          <p:nvPicPr>
            <p:cNvPr id="9" name="图片 8">
              <a:extLst>
                <a:ext uri="{FF2B5EF4-FFF2-40B4-BE49-F238E27FC236}">
                  <a16:creationId xmlns="" xmlns:a16="http://schemas.microsoft.com/office/drawing/2014/main" id="{21AEA4AE-04E8-044C-BF08-120D734487C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654987" y="4117060"/>
              <a:ext cx="503486" cy="456650"/>
            </a:xfrm>
            <a:prstGeom prst="rect">
              <a:avLst/>
            </a:prstGeom>
          </p:spPr>
        </p:pic>
        <p:pic>
          <p:nvPicPr>
            <p:cNvPr id="10" name="图片 9">
              <a:extLst>
                <a:ext uri="{FF2B5EF4-FFF2-40B4-BE49-F238E27FC236}">
                  <a16:creationId xmlns="" xmlns:a16="http://schemas.microsoft.com/office/drawing/2014/main" id="{683F5CD2-7B33-2F4A-AFD3-ABD70746E6E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618280" y="3139170"/>
              <a:ext cx="461978" cy="375357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矩形 16">
                <a:extLst>
                  <a:ext uri="{FF2B5EF4-FFF2-40B4-BE49-F238E27FC236}">
                    <a16:creationId xmlns="" xmlns:a16="http://schemas.microsoft.com/office/drawing/2014/main" id="{85325142-951E-1647-8102-0E9E34672116}"/>
                  </a:ext>
                </a:extLst>
              </p:cNvPr>
              <p:cNvSpPr/>
              <p:nvPr/>
            </p:nvSpPr>
            <p:spPr>
              <a:xfrm>
                <a:off x="5199806" y="1187301"/>
                <a:ext cx="463588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en-US" altLang="zh-CN" sz="2800" smtClean="0">
                          <a:latin typeface="Cambria Math" panose="02040503050406030204" pitchFamily="18" charset="0"/>
                        </a:rPr>
                        <m:t>Σ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85325142-951E-1647-8102-0E9E3467211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9806" y="1187301"/>
                <a:ext cx="463588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676134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56B9FE15-BF2E-3A49-8188-3032B8A637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LSI</a:t>
            </a:r>
            <a:r>
              <a:rPr kumimoji="1" lang="zh-CN" altLang="en-US" dirty="0"/>
              <a:t>第三步：只保留前</a:t>
            </a:r>
            <a:r>
              <a:rPr kumimoji="1" lang="en-US" altLang="zh-CN" dirty="0"/>
              <a:t>K</a:t>
            </a:r>
            <a:r>
              <a:rPr kumimoji="1" lang="zh-CN" altLang="en-US" dirty="0"/>
              <a:t>个特征值，其余置零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="" xmlns:a16="http://schemas.microsoft.com/office/drawing/2014/main" id="{2FEFDE02-C034-DF46-96C1-4F32C5B6B7F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3236164"/>
                <a:ext cx="8229600" cy="1701932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kumimoji="1" lang="zh-CN" altLang="en-US" dirty="0"/>
                  <a:t>等号不再成立</a:t>
                </a:r>
                <a:endParaRPr kumimoji="1" lang="en-US" altLang="zh-CN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i="1">
                            <a:latin typeface="Cambria Math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1" lang="en-US" altLang="zh-CN" i="1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</m:oMath>
                </a14:m>
                <a:r>
                  <a:rPr kumimoji="1" lang="zh-CN" altLang="en-US" dirty="0"/>
                  <a:t>：只保留了前</a:t>
                </a:r>
                <a:r>
                  <a:rPr kumimoji="1" lang="en-US" altLang="zh-CN" dirty="0"/>
                  <a:t>K</a:t>
                </a:r>
                <a:r>
                  <a:rPr kumimoji="1" lang="zh-CN" altLang="en-US" dirty="0"/>
                  <a:t>个特征值的对角阵</a:t>
                </a:r>
                <a:endParaRPr kumimoji="1" lang="en-US" altLang="zh-CN" dirty="0"/>
              </a:p>
              <a:p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rank(</a:t>
                </a:r>
                <a:r>
                  <a:rPr lang="en-US" altLang="zh-C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b="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1" lang="en-US" altLang="zh-CN" b="0" i="1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</m:oMath>
                </a14:m>
                <a:r>
                  <a:rPr lang="en-US" altLang="zh-C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altLang="zh-CN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func>
                      <m:funcPr>
                        <m:ctrlPr>
                          <a:rPr lang="en-US" altLang="zh-CN" i="1">
                            <a:latin typeface="Cambria Math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min</m:t>
                        </m:r>
                      </m:fName>
                      <m:e>
                        <m:d>
                          <m:dPr>
                            <m:ctrlPr>
                              <a:rPr lang="en-US" altLang="zh-CN" i="1">
                                <a:latin typeface="Cambria Math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altLang="zh-CN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rank</m:t>
                            </m:r>
                            <m:d>
                              <m:dPr>
                                <m:ctrlPr>
                                  <a:rPr lang="en-US" altLang="zh-CN" i="1">
                                    <a:latin typeface="Cambria Math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𝑈</m:t>
                                </m:r>
                              </m:e>
                            </m:d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 </m:t>
                            </m:r>
                            <m:r>
                              <m:rPr>
                                <m:sty m:val="p"/>
                              </m:rPr>
                              <a:rPr lang="en-US" altLang="zh-CN" b="0" i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rank</m:t>
                            </m:r>
                            <m:d>
                              <m:dPr>
                                <m:ctrlPr>
                                  <a:rPr lang="en-US" altLang="zh-CN" b="0" i="1" smtClean="0">
                                    <a:latin typeface="Cambria Math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kumimoji="1" lang="en-US" altLang="zh-CN" b="1" i="1" smtClean="0">
                                        <a:latin typeface="Cambria Math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zh-CN" b="1">
                                        <a:latin typeface="Cambria Math" panose="02040503050406030204" pitchFamily="18" charset="0"/>
                                      </a:rPr>
                                      <m:t>𝚺</m:t>
                                    </m:r>
                                  </m:e>
                                  <m:sub>
                                    <m:r>
                                      <a:rPr kumimoji="1"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altLang="zh-CN" b="0" i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  <m:r>
                              <a:rPr lang="zh-CN" altLang="en-US" b="0" i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altLang="zh-CN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rank</m:t>
                            </m:r>
                            <m:d>
                              <m:dPr>
                                <m:ctrlPr>
                                  <a:rPr lang="en-US" altLang="zh-CN" i="1">
                                    <a:latin typeface="Cambria Math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𝑉</m:t>
                                </m:r>
                              </m:e>
                            </m:d>
                          </m:e>
                        </m:d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≤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𝐾</m:t>
                        </m:r>
                      </m:e>
                    </m:func>
                  </m:oMath>
                </a14:m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与文档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/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单词的数目而言，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比较小，如：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K=50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、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100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、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200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、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500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等</a:t>
                </a:r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C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b="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1" lang="en-US" altLang="zh-CN" i="1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</m:oMath>
                </a14:m>
                <a:r>
                  <a:rPr lang="en-US" altLang="zh-C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altLang="zh-CN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是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的</a:t>
                </a:r>
                <a:r>
                  <a:rPr lang="zh-CN" alt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低秩近似</a:t>
                </a:r>
                <a:endParaRPr lang="en-US" altLang="zh-CN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kumimoji="1"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2FEFDE02-C034-DF46-96C1-4F32C5B6B7F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3236164"/>
                <a:ext cx="8229600" cy="1701932"/>
              </a:xfrm>
              <a:blipFill>
                <a:blip r:embed="rId2"/>
                <a:stretch>
                  <a:fillRect l="-617" t="-2963" b="-44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>
            <a:extLst>
              <a:ext uri="{FF2B5EF4-FFF2-40B4-BE49-F238E27FC236}">
                <a16:creationId xmlns="" xmlns:a16="http://schemas.microsoft.com/office/drawing/2014/main" id="{DB71ABB2-1520-0C47-920C-8A0C767B03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9192" y="1034885"/>
            <a:ext cx="5725616" cy="2076648"/>
          </a:xfrm>
          <a:prstGeom prst="rect">
            <a:avLst/>
          </a:prstGeom>
        </p:spPr>
      </p:pic>
      <p:sp>
        <p:nvSpPr>
          <p:cNvPr id="5" name="Rectangle 5">
            <a:extLst>
              <a:ext uri="{FF2B5EF4-FFF2-40B4-BE49-F238E27FC236}">
                <a16:creationId xmlns="" xmlns:a16="http://schemas.microsoft.com/office/drawing/2014/main" id="{3C76BF3F-F486-D441-AAB0-A98213BA0812}"/>
              </a:ext>
            </a:extLst>
          </p:cNvPr>
          <p:cNvSpPr/>
          <p:nvPr/>
        </p:nvSpPr>
        <p:spPr>
          <a:xfrm>
            <a:off x="1157845" y="1191731"/>
            <a:ext cx="538570" cy="23214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word</a:t>
            </a:r>
            <a:endParaRPr lang="en-US" dirty="0"/>
          </a:p>
        </p:txBody>
      </p:sp>
      <p:sp>
        <p:nvSpPr>
          <p:cNvPr id="6" name="Line 9">
            <a:extLst>
              <a:ext uri="{FF2B5EF4-FFF2-40B4-BE49-F238E27FC236}">
                <a16:creationId xmlns="" xmlns:a16="http://schemas.microsoft.com/office/drawing/2014/main" id="{E4ACF93E-0C24-274F-A497-2DBFAF09E240}"/>
              </a:ext>
            </a:extLst>
          </p:cNvPr>
          <p:cNvSpPr>
            <a:spLocks noChangeShapeType="1"/>
          </p:cNvSpPr>
          <p:nvPr/>
        </p:nvSpPr>
        <p:spPr bwMode="auto">
          <a:xfrm>
            <a:off x="1371508" y="1515161"/>
            <a:ext cx="469083" cy="0"/>
          </a:xfrm>
          <a:prstGeom prst="line">
            <a:avLst/>
          </a:prstGeom>
          <a:noFill/>
          <a:ln w="38100" cmpd="dbl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" name="Rectangle 7">
            <a:extLst>
              <a:ext uri="{FF2B5EF4-FFF2-40B4-BE49-F238E27FC236}">
                <a16:creationId xmlns="" xmlns:a16="http://schemas.microsoft.com/office/drawing/2014/main" id="{FAD6282E-BB7D-0147-B879-0FF49071E6E8}"/>
              </a:ext>
            </a:extLst>
          </p:cNvPr>
          <p:cNvSpPr/>
          <p:nvPr/>
        </p:nvSpPr>
        <p:spPr>
          <a:xfrm>
            <a:off x="1606049" y="704850"/>
            <a:ext cx="894823" cy="23214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document</a:t>
            </a:r>
            <a:endParaRPr lang="en-US" dirty="0"/>
          </a:p>
        </p:txBody>
      </p:sp>
      <p:sp>
        <p:nvSpPr>
          <p:cNvPr id="8" name="Line 15">
            <a:extLst>
              <a:ext uri="{FF2B5EF4-FFF2-40B4-BE49-F238E27FC236}">
                <a16:creationId xmlns="" xmlns:a16="http://schemas.microsoft.com/office/drawing/2014/main" id="{FCCC3B35-2786-FC40-B48C-FF26E212F53E}"/>
              </a:ext>
            </a:extLst>
          </p:cNvPr>
          <p:cNvSpPr>
            <a:spLocks noChangeShapeType="1"/>
          </p:cNvSpPr>
          <p:nvPr/>
        </p:nvSpPr>
        <p:spPr bwMode="auto">
          <a:xfrm rot="5400000">
            <a:off x="1991969" y="1160812"/>
            <a:ext cx="343253" cy="0"/>
          </a:xfrm>
          <a:prstGeom prst="line">
            <a:avLst/>
          </a:prstGeom>
          <a:noFill/>
          <a:ln w="38100" cmpd="dbl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1855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2232A845-4983-9441-8FB6-9DF1EF2A10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LSI</a:t>
            </a:r>
            <a:r>
              <a:rPr kumimoji="1" lang="zh-CN" altLang="en-US" dirty="0"/>
              <a:t>算法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2">
                <a:extLst>
                  <a:ext uri="{FF2B5EF4-FFF2-40B4-BE49-F238E27FC236}">
                    <a16:creationId xmlns="" xmlns:a16="http://schemas.microsoft.com/office/drawing/2014/main" id="{4FE591C2-D725-8349-B6EA-8BB55D1A3DA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3030361"/>
                <a:ext cx="8229600" cy="2187113"/>
              </a:xfrm>
            </p:spPr>
            <p:txBody>
              <a:bodyPr>
                <a:normAutofit fontScale="62500" lnSpcReduction="20000"/>
              </a:bodyPr>
              <a:lstStyle/>
              <a:p>
                <a:pPr marL="514350" indent="-51435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zh-CN" altLang="en-US" sz="2800" dirty="0">
                    <a:latin typeface="Times" panose="02020603050405020304" pitchFamily="18" charset="0"/>
                    <a:cs typeface="Times" panose="02020603050405020304" pitchFamily="18" charset="0"/>
                  </a:rPr>
                  <a:t>给定一个文档集合，构建单词</a:t>
                </a:r>
                <a:r>
                  <a:rPr lang="en-US" altLang="zh-CN" sz="2800" dirty="0">
                    <a:latin typeface="Times" panose="02020603050405020304" pitchFamily="18" charset="0"/>
                    <a:cs typeface="Times" panose="02020603050405020304" pitchFamily="18" charset="0"/>
                  </a:rPr>
                  <a:t>-</a:t>
                </a:r>
                <a:r>
                  <a:rPr lang="zh-CN" altLang="en-US" sz="2800" dirty="0">
                    <a:latin typeface="Times" panose="02020603050405020304" pitchFamily="18" charset="0"/>
                    <a:cs typeface="Times" panose="02020603050405020304" pitchFamily="18" charset="0"/>
                  </a:rPr>
                  <a:t>文档共现矩阵</a:t>
                </a:r>
                <a:r>
                  <a:rPr lang="en-US" altLang="zh-CN" sz="2800" b="1" dirty="0">
                    <a:latin typeface="Times" panose="02020603050405020304" pitchFamily="18" charset="0"/>
                    <a:cs typeface="Times" panose="02020603050405020304" pitchFamily="18" charset="0"/>
                  </a:rPr>
                  <a:t>D</a:t>
                </a:r>
                <a:r>
                  <a:rPr lang="zh-CN" altLang="en-US" sz="2800" dirty="0">
                    <a:latin typeface="Times" panose="02020603050405020304" pitchFamily="18" charset="0"/>
                    <a:cs typeface="Times" panose="02020603050405020304" pitchFamily="18" charset="0"/>
                  </a:rPr>
                  <a:t>（通常为稀疏矩阵）</a:t>
                </a:r>
                <a:endParaRPr lang="en-US" altLang="zh-CN" sz="2700" dirty="0">
                  <a:latin typeface="Times" panose="02020603050405020304" pitchFamily="18" charset="0"/>
                </a:endParaRPr>
              </a:p>
              <a:p>
                <a:pPr marL="514350" indent="-51435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zh-CN" altLang="en-US" sz="2700" dirty="0">
                    <a:latin typeface="Times" panose="02020603050405020304" pitchFamily="18" charset="0"/>
                  </a:rPr>
                  <a:t>对</a:t>
                </a:r>
                <a:r>
                  <a:rPr lang="en-US" altLang="zh-CN" sz="2700" b="1" dirty="0">
                    <a:latin typeface="Times" panose="02020603050405020304" pitchFamily="18" charset="0"/>
                  </a:rPr>
                  <a:t>D</a:t>
                </a:r>
                <a:r>
                  <a:rPr lang="zh-CN" altLang="en-US" sz="2700" dirty="0">
                    <a:latin typeface="Times" panose="02020603050405020304" pitchFamily="18" charset="0"/>
                  </a:rPr>
                  <a:t>进行</a:t>
                </a:r>
                <a:r>
                  <a:rPr lang="en-US" altLang="zh-CN" sz="2700" dirty="0">
                    <a:latin typeface="Times" panose="02020603050405020304" pitchFamily="18" charset="0"/>
                  </a:rPr>
                  <a:t>SVD</a:t>
                </a:r>
              </a:p>
              <a:p>
                <a:pPr marL="514350" indent="-51435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zh-CN" altLang="en-US" sz="2700" dirty="0">
                    <a:latin typeface="Times" panose="02020603050405020304" pitchFamily="18" charset="0"/>
                  </a:rPr>
                  <a:t>将特征值矩阵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700">
                        <a:latin typeface="Cambria Math" panose="02040503050406030204" pitchFamily="18" charset="0"/>
                      </a:rPr>
                      <m:t>Σ</m:t>
                    </m:r>
                  </m:oMath>
                </a14:m>
                <a:r>
                  <a:rPr lang="zh-CN" altLang="en-US" sz="2700" dirty="0">
                    <a:latin typeface="Times" panose="02020603050405020304" pitchFamily="18" charset="0"/>
                  </a:rPr>
                  <a:t>按照从大到小排序</a:t>
                </a:r>
                <a:endParaRPr lang="en-US" altLang="zh-CN" sz="2700" dirty="0">
                  <a:latin typeface="Times" panose="02020603050405020304" pitchFamily="18" charset="0"/>
                </a:endParaRPr>
              </a:p>
              <a:p>
                <a:pPr marL="514350" indent="-51435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zh-CN" altLang="en-US" sz="2700" dirty="0">
                    <a:latin typeface="Times" panose="02020603050405020304" pitchFamily="18" charset="0"/>
                  </a:rPr>
                  <a:t>保留</a:t>
                </a:r>
                <a14:m>
                  <m:oMath xmlns:m="http://schemas.openxmlformats.org/officeDocument/2006/math">
                    <m:r>
                      <a:rPr lang="en-US" altLang="zh-CN" sz="2700" dirty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zh-CN" altLang="en-US" sz="2700" dirty="0">
                    <a:latin typeface="Times" panose="02020603050405020304" pitchFamily="18" charset="0"/>
                  </a:rPr>
                  <a:t>个最大的特征值，其余置</a:t>
                </a:r>
                <a:r>
                  <a:rPr lang="en-US" altLang="zh-CN" sz="2700" dirty="0">
                    <a:latin typeface="Times" panose="02020603050405020304" pitchFamily="18" charset="0"/>
                  </a:rPr>
                  <a:t>0,</a:t>
                </a:r>
                <a:r>
                  <a:rPr lang="zh-CN" altLang="en-US" sz="2700" dirty="0">
                    <a:latin typeface="Times" panose="02020603050405020304" pitchFamily="18" charset="0"/>
                  </a:rPr>
                  <a:t>得到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700" i="1">
                            <a:latin typeface="Cambria Math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70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700">
                            <a:latin typeface="Cambria Math" panose="02040503050406030204" pitchFamily="18" charset="0"/>
                          </a:rPr>
                          <m:t>K</m:t>
                        </m:r>
                      </m:sub>
                    </m:sSub>
                  </m:oMath>
                </a14:m>
                <a:endParaRPr lang="en-US" altLang="zh-CN" sz="2700" dirty="0">
                  <a:latin typeface="Times" panose="02020603050405020304" pitchFamily="18" charset="0"/>
                </a:endParaRPr>
              </a:p>
              <a:p>
                <a:pPr marL="514350" indent="-51435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zh-CN" altLang="en-US" sz="2700" dirty="0">
                    <a:latin typeface="Times" panose="02020603050405020304" pitchFamily="18" charset="0"/>
                  </a:rPr>
                  <a:t>返回：</a:t>
                </a:r>
                <a:endParaRPr lang="en-US" altLang="zh-CN" sz="2700" dirty="0">
                  <a:latin typeface="Times" panose="02020603050405020304" pitchFamily="18" charset="0"/>
                </a:endParaRPr>
              </a:p>
              <a:p>
                <a:pPr lvl="1">
                  <a:lnSpc>
                    <a:spcPct val="120000"/>
                  </a:lnSpc>
                </a:pPr>
                <a:r>
                  <a:rPr lang="en-US" altLang="zh-CN" sz="2200" dirty="0">
                    <a:solidFill>
                      <a:srgbClr val="C00000"/>
                    </a:solidFill>
                    <a:latin typeface="Times" panose="02020603050405020304" pitchFamily="18" charset="0"/>
                    <a:cs typeface="Times" panose="02020603050405020304" pitchFamily="18" charset="0"/>
                  </a:rPr>
                  <a:t>U</a:t>
                </a:r>
                <a:r>
                  <a:rPr lang="zh-CN" altLang="en-US" sz="2200" dirty="0">
                    <a:solidFill>
                      <a:srgbClr val="C00000"/>
                    </a:solidFill>
                    <a:latin typeface="Times" panose="02020603050405020304" pitchFamily="18" charset="0"/>
                    <a:cs typeface="Times" panose="02020603050405020304" pitchFamily="18" charset="0"/>
                  </a:rPr>
                  <a:t>矩阵</a:t>
                </a:r>
                <a:r>
                  <a:rPr lang="zh-CN" altLang="en-US" sz="2200" dirty="0">
                    <a:latin typeface="Times" panose="02020603050405020304" pitchFamily="18" charset="0"/>
                    <a:cs typeface="Times" panose="02020603050405020304" pitchFamily="18" charset="0"/>
                  </a:rPr>
                  <a:t>的每一行，为对应</a:t>
                </a:r>
                <a:r>
                  <a:rPr lang="zh-CN" altLang="en-US" sz="2200" dirty="0">
                    <a:solidFill>
                      <a:srgbClr val="C00000"/>
                    </a:solidFill>
                    <a:latin typeface="Times" panose="02020603050405020304" pitchFamily="18" charset="0"/>
                    <a:cs typeface="Times" panose="02020603050405020304" pitchFamily="18" charset="0"/>
                  </a:rPr>
                  <a:t>单词</a:t>
                </a:r>
                <a:r>
                  <a:rPr lang="zh-CN" altLang="en-US" sz="2200" dirty="0">
                    <a:latin typeface="Times" panose="02020603050405020304" pitchFamily="18" charset="0"/>
                    <a:cs typeface="Times" panose="02020603050405020304" pitchFamily="18" charset="0"/>
                  </a:rPr>
                  <a:t>的表达向量</a:t>
                </a:r>
                <a:r>
                  <a:rPr lang="en-US" altLang="zh-CN" sz="2200" dirty="0">
                    <a:latin typeface="Times" panose="02020603050405020304" pitchFamily="18" charset="0"/>
                    <a:cs typeface="Times" panose="02020603050405020304" pitchFamily="18" charset="0"/>
                  </a:rPr>
                  <a:t>(K</a:t>
                </a:r>
                <a:r>
                  <a:rPr lang="zh-CN" altLang="en-US" sz="2200" dirty="0">
                    <a:latin typeface="Times" panose="02020603050405020304" pitchFamily="18" charset="0"/>
                    <a:cs typeface="Times" panose="02020603050405020304" pitchFamily="18" charset="0"/>
                  </a:rPr>
                  <a:t>维</a:t>
                </a:r>
                <a:r>
                  <a:rPr lang="en-US" altLang="zh-CN" sz="2200" dirty="0">
                    <a:latin typeface="Times" panose="02020603050405020304" pitchFamily="18" charset="0"/>
                    <a:cs typeface="Times" panose="02020603050405020304" pitchFamily="18" charset="0"/>
                  </a:rPr>
                  <a:t>)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n-US" altLang="zh-CN" sz="2200" dirty="0">
                    <a:solidFill>
                      <a:srgbClr val="C00000"/>
                    </a:solidFill>
                    <a:latin typeface="Times" panose="02020603050405020304" pitchFamily="18" charset="0"/>
                    <a:cs typeface="Times" panose="02020603050405020304" pitchFamily="18" charset="0"/>
                  </a:rPr>
                  <a:t>V</a:t>
                </a:r>
                <a:r>
                  <a:rPr lang="zh-CN" altLang="en-US" sz="2200" dirty="0">
                    <a:solidFill>
                      <a:srgbClr val="C00000"/>
                    </a:solidFill>
                    <a:latin typeface="Times" panose="02020603050405020304" pitchFamily="18" charset="0"/>
                    <a:cs typeface="Times" panose="02020603050405020304" pitchFamily="18" charset="0"/>
                  </a:rPr>
                  <a:t>矩阵</a:t>
                </a:r>
                <a:r>
                  <a:rPr lang="zh-CN" altLang="en-US" sz="2200" dirty="0">
                    <a:latin typeface="Times" panose="02020603050405020304" pitchFamily="18" charset="0"/>
                    <a:cs typeface="Times" panose="02020603050405020304" pitchFamily="18" charset="0"/>
                  </a:rPr>
                  <a:t>的每一列，为对应</a:t>
                </a:r>
                <a:r>
                  <a:rPr lang="zh-CN" altLang="en-US" sz="2200" dirty="0">
                    <a:solidFill>
                      <a:srgbClr val="C00000"/>
                    </a:solidFill>
                    <a:latin typeface="Times" panose="02020603050405020304" pitchFamily="18" charset="0"/>
                    <a:cs typeface="Times" panose="02020603050405020304" pitchFamily="18" charset="0"/>
                  </a:rPr>
                  <a:t>文档</a:t>
                </a:r>
                <a:r>
                  <a:rPr lang="zh-CN" altLang="en-US" sz="2200" dirty="0">
                    <a:latin typeface="Times" panose="02020603050405020304" pitchFamily="18" charset="0"/>
                    <a:cs typeface="Times" panose="02020603050405020304" pitchFamily="18" charset="0"/>
                  </a:rPr>
                  <a:t>的表达向量</a:t>
                </a:r>
                <a:r>
                  <a:rPr lang="en-US" altLang="zh-CN" sz="2200" dirty="0">
                    <a:latin typeface="Times" panose="02020603050405020304" pitchFamily="18" charset="0"/>
                    <a:cs typeface="Times" panose="02020603050405020304" pitchFamily="18" charset="0"/>
                  </a:rPr>
                  <a:t>(K</a:t>
                </a:r>
                <a:r>
                  <a:rPr lang="zh-CN" altLang="en-US" sz="2200" dirty="0">
                    <a:latin typeface="Times" panose="02020603050405020304" pitchFamily="18" charset="0"/>
                    <a:cs typeface="Times" panose="02020603050405020304" pitchFamily="18" charset="0"/>
                  </a:rPr>
                  <a:t>维</a:t>
                </a:r>
                <a:r>
                  <a:rPr lang="en-US" altLang="zh-CN" sz="2200" dirty="0">
                    <a:latin typeface="Times" panose="02020603050405020304" pitchFamily="18" charset="0"/>
                    <a:cs typeface="Times" panose="02020603050405020304" pitchFamily="18" charset="0"/>
                  </a:rPr>
                  <a:t>)</a:t>
                </a:r>
              </a:p>
              <a:p>
                <a:pPr>
                  <a:lnSpc>
                    <a:spcPct val="120000"/>
                  </a:lnSpc>
                </a:pPr>
                <a:endParaRPr lang="zh-CN" altLang="en-US" sz="2400" dirty="0">
                  <a:latin typeface="Times" panose="02020603050405020304" pitchFamily="18" charset="0"/>
                  <a:cs typeface="Times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4FE591C2-D725-8349-B6EA-8BB55D1A3DA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3030361"/>
                <a:ext cx="8229600" cy="2187113"/>
              </a:xfrm>
              <a:blipFill>
                <a:blip r:embed="rId2"/>
                <a:stretch>
                  <a:fillRect l="-309" t="-173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图片 10">
            <a:extLst>
              <a:ext uri="{FF2B5EF4-FFF2-40B4-BE49-F238E27FC236}">
                <a16:creationId xmlns="" xmlns:a16="http://schemas.microsoft.com/office/drawing/2014/main" id="{F41E3AE5-AEB4-F14D-B921-C2648107C7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3570" y="1473139"/>
            <a:ext cx="4293485" cy="1557222"/>
          </a:xfrm>
          <a:prstGeom prst="rect">
            <a:avLst/>
          </a:prstGeom>
        </p:spPr>
      </p:pic>
      <p:sp>
        <p:nvSpPr>
          <p:cNvPr id="12" name="Rectangle 5">
            <a:extLst>
              <a:ext uri="{FF2B5EF4-FFF2-40B4-BE49-F238E27FC236}">
                <a16:creationId xmlns="" xmlns:a16="http://schemas.microsoft.com/office/drawing/2014/main" id="{86E5932D-FF64-0E48-B7A2-6B79D6695BA7}"/>
              </a:ext>
            </a:extLst>
          </p:cNvPr>
          <p:cNvSpPr/>
          <p:nvPr/>
        </p:nvSpPr>
        <p:spPr>
          <a:xfrm>
            <a:off x="1417369" y="1657342"/>
            <a:ext cx="94279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word</a:t>
            </a:r>
          </a:p>
        </p:txBody>
      </p:sp>
      <p:sp>
        <p:nvSpPr>
          <p:cNvPr id="13" name="Line 9">
            <a:extLst>
              <a:ext uri="{FF2B5EF4-FFF2-40B4-BE49-F238E27FC236}">
                <a16:creationId xmlns="" xmlns:a16="http://schemas.microsoft.com/office/drawing/2014/main" id="{91587440-B3CB-5944-8AA8-0FD8BADF1841}"/>
              </a:ext>
            </a:extLst>
          </p:cNvPr>
          <p:cNvSpPr>
            <a:spLocks noChangeShapeType="1"/>
          </p:cNvSpPr>
          <p:nvPr/>
        </p:nvSpPr>
        <p:spPr bwMode="auto">
          <a:xfrm>
            <a:off x="2048399" y="1846171"/>
            <a:ext cx="311768" cy="0"/>
          </a:xfrm>
          <a:prstGeom prst="line">
            <a:avLst/>
          </a:prstGeom>
          <a:noFill/>
          <a:ln w="38100" cmpd="dbl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14" name="Rectangle 7">
            <a:extLst>
              <a:ext uri="{FF2B5EF4-FFF2-40B4-BE49-F238E27FC236}">
                <a16:creationId xmlns="" xmlns:a16="http://schemas.microsoft.com/office/drawing/2014/main" id="{23F7A068-073F-6D40-8D93-AE6DD6720140}"/>
              </a:ext>
            </a:extLst>
          </p:cNvPr>
          <p:cNvSpPr/>
          <p:nvPr/>
        </p:nvSpPr>
        <p:spPr>
          <a:xfrm>
            <a:off x="1917773" y="1070669"/>
            <a:ext cx="136861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document</a:t>
            </a:r>
          </a:p>
        </p:txBody>
      </p:sp>
      <p:sp>
        <p:nvSpPr>
          <p:cNvPr id="15" name="Line 15">
            <a:extLst>
              <a:ext uri="{FF2B5EF4-FFF2-40B4-BE49-F238E27FC236}">
                <a16:creationId xmlns="" xmlns:a16="http://schemas.microsoft.com/office/drawing/2014/main" id="{02FF4CFF-7BEF-6E45-AD2B-421F72D24E18}"/>
              </a:ext>
            </a:extLst>
          </p:cNvPr>
          <p:cNvSpPr>
            <a:spLocks noChangeShapeType="1"/>
          </p:cNvSpPr>
          <p:nvPr/>
        </p:nvSpPr>
        <p:spPr bwMode="auto">
          <a:xfrm rot="5400000">
            <a:off x="2259824" y="1516527"/>
            <a:ext cx="372983" cy="0"/>
          </a:xfrm>
          <a:prstGeom prst="line">
            <a:avLst/>
          </a:prstGeom>
          <a:noFill/>
          <a:ln w="38100" cmpd="dbl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68698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C2C7AE90-01A3-E843-A929-79E1BF7F9C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理解</a:t>
            </a:r>
            <a:r>
              <a:rPr kumimoji="1" lang="en-US" altLang="zh-CN" dirty="0"/>
              <a:t>LSI</a:t>
            </a:r>
            <a:r>
              <a:rPr kumimoji="1" lang="zh-CN" altLang="en-US" dirty="0"/>
              <a:t>：为何舍弃小的特征根？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="" xmlns:a16="http://schemas.microsoft.com/office/drawing/2014/main" id="{0BC7F316-FC60-A349-A96A-17427A13E6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446" y="4089909"/>
            <a:ext cx="8484920" cy="903966"/>
          </a:xfrm>
        </p:spPr>
        <p:txBody>
          <a:bodyPr>
            <a:normAutofit fontScale="85000" lnSpcReduction="10000"/>
          </a:bodyPr>
          <a:lstStyle/>
          <a:p>
            <a:r>
              <a:rPr kumimoji="1" lang="zh-CN" altLang="en-US" dirty="0"/>
              <a:t>特征根大</a:t>
            </a:r>
            <a:r>
              <a:rPr kumimoji="1" lang="en-US" altLang="zh-CN" dirty="0"/>
              <a:t>&lt;=&gt;</a:t>
            </a:r>
            <a:r>
              <a:rPr kumimoji="1" lang="zh-CN" altLang="en-US" dirty="0"/>
              <a:t>方差大</a:t>
            </a:r>
            <a:r>
              <a:rPr kumimoji="1" lang="en-US" altLang="zh-CN" dirty="0"/>
              <a:t>&lt;</a:t>
            </a:r>
            <a:r>
              <a:rPr kumimoji="1" lang="en-US" altLang="zh-CN" dirty="0">
                <a:sym typeface="Wingdings" pitchFamily="2" charset="2"/>
              </a:rPr>
              <a:t>=&gt;</a:t>
            </a:r>
            <a:r>
              <a:rPr kumimoji="1" lang="zh-CN" altLang="en-US" dirty="0">
                <a:sym typeface="Wingdings" pitchFamily="2" charset="2"/>
              </a:rPr>
              <a:t>能量大：此方向（特征向量方向）承载较多有效信息</a:t>
            </a:r>
            <a:endParaRPr kumimoji="1" lang="en-US" altLang="zh-CN" dirty="0">
              <a:sym typeface="Wingdings" pitchFamily="2" charset="2"/>
            </a:endParaRPr>
          </a:p>
          <a:p>
            <a:r>
              <a:rPr kumimoji="1" lang="zh-CN" altLang="en-US" dirty="0"/>
              <a:t>特征根小</a:t>
            </a:r>
            <a:r>
              <a:rPr kumimoji="1" lang="en-US" altLang="zh-CN" dirty="0"/>
              <a:t>&lt;=&gt;</a:t>
            </a:r>
            <a:r>
              <a:rPr kumimoji="1" lang="zh-CN" altLang="en-US" dirty="0"/>
              <a:t>方差小</a:t>
            </a:r>
            <a:r>
              <a:rPr kumimoji="1" lang="en-US" altLang="zh-CN" dirty="0"/>
              <a:t>&lt;</a:t>
            </a:r>
            <a:r>
              <a:rPr kumimoji="1" lang="en-US" altLang="zh-CN" dirty="0">
                <a:sym typeface="Wingdings" pitchFamily="2" charset="2"/>
              </a:rPr>
              <a:t>=&gt;</a:t>
            </a:r>
            <a:r>
              <a:rPr kumimoji="1" lang="zh-CN" altLang="en-US" dirty="0">
                <a:sym typeface="Wingdings" pitchFamily="2" charset="2"/>
              </a:rPr>
              <a:t>能量小：此方向的波动可能是噪声</a:t>
            </a:r>
            <a:endParaRPr kumimoji="1" lang="en-US" altLang="zh-CN" dirty="0">
              <a:sym typeface="Wingdings" pitchFamily="2" charset="2"/>
            </a:endParaRPr>
          </a:p>
          <a:p>
            <a:r>
              <a:rPr kumimoji="1" lang="zh-CN" altLang="en-US" dirty="0">
                <a:sym typeface="Wingdings" pitchFamily="2" charset="2"/>
              </a:rPr>
              <a:t>舍弃小的特征根：降低表达维度 </a:t>
            </a:r>
            <a:r>
              <a:rPr kumimoji="1" lang="en-US" altLang="zh-CN" dirty="0">
                <a:sym typeface="Wingdings" pitchFamily="2" charset="2"/>
              </a:rPr>
              <a:t>+</a:t>
            </a:r>
            <a:r>
              <a:rPr kumimoji="1" lang="zh-CN" altLang="en-US" dirty="0">
                <a:sym typeface="Wingdings" pitchFamily="2" charset="2"/>
              </a:rPr>
              <a:t>去除噪声信号</a:t>
            </a:r>
            <a:endParaRPr kumimoji="1" lang="en-US" altLang="zh-CN" dirty="0">
              <a:sym typeface="Wingdings" pitchFamily="2" charset="2"/>
            </a:endParaRPr>
          </a:p>
        </p:txBody>
      </p:sp>
      <p:pic>
        <p:nvPicPr>
          <p:cNvPr id="6" name="Picture 2" descr="https://upload.wikimedia.org/wikipedia/commons/1/15/GaussianScatterPCA.png">
            <a:extLst>
              <a:ext uri="{FF2B5EF4-FFF2-40B4-BE49-F238E27FC236}">
                <a16:creationId xmlns="" xmlns:a16="http://schemas.microsoft.com/office/drawing/2014/main" id="{D7F4B09E-FF48-9B4F-AC44-A0B2922B53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0222" y="844742"/>
            <a:ext cx="2659099" cy="24952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直接连接符 6">
            <a:extLst>
              <a:ext uri="{FF2B5EF4-FFF2-40B4-BE49-F238E27FC236}">
                <a16:creationId xmlns="" xmlns:a16="http://schemas.microsoft.com/office/drawing/2014/main" id="{608A5832-F418-5943-A986-09600E02839F}"/>
              </a:ext>
            </a:extLst>
          </p:cNvPr>
          <p:cNvCxnSpPr>
            <a:cxnSpLocks/>
          </p:cNvCxnSpPr>
          <p:nvPr/>
        </p:nvCxnSpPr>
        <p:spPr>
          <a:xfrm>
            <a:off x="5648412" y="882975"/>
            <a:ext cx="1531703" cy="2456981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8" name="椭圆 7">
            <a:extLst>
              <a:ext uri="{FF2B5EF4-FFF2-40B4-BE49-F238E27FC236}">
                <a16:creationId xmlns="" xmlns:a16="http://schemas.microsoft.com/office/drawing/2014/main" id="{30DB43BB-56A6-964A-B33C-7ACA54EC76F3}"/>
              </a:ext>
            </a:extLst>
          </p:cNvPr>
          <p:cNvSpPr/>
          <p:nvPr/>
        </p:nvSpPr>
        <p:spPr>
          <a:xfrm>
            <a:off x="6325242" y="1995992"/>
            <a:ext cx="108000" cy="108000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" name="直接箭头连接符 9">
            <a:extLst>
              <a:ext uri="{FF2B5EF4-FFF2-40B4-BE49-F238E27FC236}">
                <a16:creationId xmlns="" xmlns:a16="http://schemas.microsoft.com/office/drawing/2014/main" id="{AF1DD1F9-748B-6148-A2E5-51DB600E769A}"/>
              </a:ext>
            </a:extLst>
          </p:cNvPr>
          <p:cNvCxnSpPr/>
          <p:nvPr/>
        </p:nvCxnSpPr>
        <p:spPr>
          <a:xfrm flipV="1">
            <a:off x="6413875" y="1632927"/>
            <a:ext cx="556697" cy="3757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11">
            <a:extLst>
              <a:ext uri="{FF2B5EF4-FFF2-40B4-BE49-F238E27FC236}">
                <a16:creationId xmlns="" xmlns:a16="http://schemas.microsoft.com/office/drawing/2014/main" id="{8BB3B9DC-F415-F643-803B-4AEFB59D7644}"/>
              </a:ext>
            </a:extLst>
          </p:cNvPr>
          <p:cNvCxnSpPr/>
          <p:nvPr/>
        </p:nvCxnSpPr>
        <p:spPr>
          <a:xfrm>
            <a:off x="4934308" y="3635234"/>
            <a:ext cx="3466728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直接箭头连接符 14">
            <a:extLst>
              <a:ext uri="{FF2B5EF4-FFF2-40B4-BE49-F238E27FC236}">
                <a16:creationId xmlns="" xmlns:a16="http://schemas.microsoft.com/office/drawing/2014/main" id="{EDBBD050-6BCF-F644-8CC9-B5C666F8F27C}"/>
              </a:ext>
            </a:extLst>
          </p:cNvPr>
          <p:cNvCxnSpPr>
            <a:cxnSpLocks/>
          </p:cNvCxnSpPr>
          <p:nvPr/>
        </p:nvCxnSpPr>
        <p:spPr>
          <a:xfrm flipV="1">
            <a:off x="4934308" y="688770"/>
            <a:ext cx="0" cy="294646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="" xmlns:a16="http://schemas.microsoft.com/office/drawing/2014/main" id="{8CDEC099-68C8-2244-BA00-C0691DB68956}"/>
                  </a:ext>
                </a:extLst>
              </p:cNvPr>
              <p:cNvSpPr txBox="1"/>
              <p:nvPr/>
            </p:nvSpPr>
            <p:spPr>
              <a:xfrm>
                <a:off x="7019694" y="1481752"/>
                <a:ext cx="18626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8CDEC099-68C8-2244-BA00-C0691DB689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9694" y="1481752"/>
                <a:ext cx="186269" cy="276999"/>
              </a:xfrm>
              <a:prstGeom prst="rect">
                <a:avLst/>
              </a:prstGeom>
              <a:blipFill>
                <a:blip r:embed="rId4"/>
                <a:stretch>
                  <a:fillRect l="-40000" r="-40000" b="-3636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矩形 12">
            <a:extLst>
              <a:ext uri="{FF2B5EF4-FFF2-40B4-BE49-F238E27FC236}">
                <a16:creationId xmlns="" xmlns:a16="http://schemas.microsoft.com/office/drawing/2014/main" id="{1C16377D-E71A-C047-8B70-21B3E397CEBB}"/>
              </a:ext>
            </a:extLst>
          </p:cNvPr>
          <p:cNvSpPr/>
          <p:nvPr/>
        </p:nvSpPr>
        <p:spPr>
          <a:xfrm>
            <a:off x="1514941" y="3635234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统计上：方差</a:t>
            </a:r>
            <a:endParaRPr lang="en-US" altLang="zh-CN" dirty="0"/>
          </a:p>
        </p:txBody>
      </p:sp>
      <p:sp>
        <p:nvSpPr>
          <p:cNvPr id="14" name="矩形 13">
            <a:extLst>
              <a:ext uri="{FF2B5EF4-FFF2-40B4-BE49-F238E27FC236}">
                <a16:creationId xmlns="" xmlns:a16="http://schemas.microsoft.com/office/drawing/2014/main" id="{C0209FB5-F042-E741-A9F0-C646C2389B8E}"/>
              </a:ext>
            </a:extLst>
          </p:cNvPr>
          <p:cNvSpPr/>
          <p:nvPr/>
        </p:nvSpPr>
        <p:spPr>
          <a:xfrm>
            <a:off x="5648412" y="3640887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物理上：能量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="" xmlns:a16="http://schemas.microsoft.com/office/drawing/2014/main" id="{2694510F-2089-F948-B24E-E65A96F948AA}"/>
              </a:ext>
            </a:extLst>
          </p:cNvPr>
          <p:cNvSpPr/>
          <p:nvPr/>
        </p:nvSpPr>
        <p:spPr>
          <a:xfrm>
            <a:off x="7069744" y="3059686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dirty="0"/>
              <a:t>📌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="" xmlns:a16="http://schemas.microsoft.com/office/drawing/2014/main" id="{17F03156-4C1D-A94F-9789-4D59EE4DA2A7}"/>
              </a:ext>
            </a:extLst>
          </p:cNvPr>
          <p:cNvSpPr/>
          <p:nvPr/>
        </p:nvSpPr>
        <p:spPr>
          <a:xfrm>
            <a:off x="5551034" y="609844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dirty="0"/>
              <a:t>📌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="" xmlns:a16="http://schemas.microsoft.com/office/drawing/2014/main" id="{A544607D-BC38-6B42-8FE9-89E7ECF1A492}"/>
              </a:ext>
            </a:extLst>
          </p:cNvPr>
          <p:cNvSpPr txBox="1"/>
          <p:nvPr/>
        </p:nvSpPr>
        <p:spPr>
          <a:xfrm>
            <a:off x="7229266" y="2269706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橡皮筋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72" y="4729953"/>
            <a:ext cx="21755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>
                <a:solidFill>
                  <a:srgbClr val="C00000"/>
                </a:solidFill>
              </a:rPr>
              <a:t>相关证明可参考</a:t>
            </a:r>
            <a:r>
              <a:rPr lang="en-US" altLang="zh-CN" dirty="0" smtClean="0">
                <a:solidFill>
                  <a:srgbClr val="C00000"/>
                </a:solidFill>
              </a:rPr>
              <a:t>PCA</a:t>
            </a:r>
            <a:endParaRPr 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90260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7F85D82A-9DA6-0644-8BA1-92F23A716B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特征向量的方向</a:t>
            </a:r>
            <a:r>
              <a:rPr kumimoji="1" lang="en-US" altLang="zh-CN" dirty="0"/>
              <a:t>?</a:t>
            </a:r>
            <a:endParaRPr kumimoji="1"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="" xmlns:a16="http://schemas.microsoft.com/office/drawing/2014/main" id="{30E9C722-F587-874D-B272-69D6D86E37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7356" y="837953"/>
            <a:ext cx="3949288" cy="3949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55252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7F85D82A-9DA6-0644-8BA1-92F23A716B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特征向量：选一个方差最大的方向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="" xmlns:a16="http://schemas.microsoft.com/office/drawing/2014/main" id="{C997750F-D3CE-1141-8EE9-D1AFDE4BF6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964" y="1051711"/>
            <a:ext cx="2743200" cy="274320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="" xmlns:a16="http://schemas.microsoft.com/office/drawing/2014/main" id="{0E0023C4-49DD-2649-B9CB-65867E10DA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6114" y="1058391"/>
            <a:ext cx="2736520" cy="273652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="" xmlns:a16="http://schemas.microsoft.com/office/drawing/2014/main" id="{4AF5EF7D-4905-1D40-A713-76308E84B8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1585" y="1051712"/>
            <a:ext cx="2743200" cy="2743200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="" xmlns:a16="http://schemas.microsoft.com/office/drawing/2014/main" id="{E66A5E59-7CC5-8543-9037-07F70FE91F5C}"/>
              </a:ext>
            </a:extLst>
          </p:cNvPr>
          <p:cNvSpPr txBox="1"/>
          <p:nvPr/>
        </p:nvSpPr>
        <p:spPr>
          <a:xfrm>
            <a:off x="1183888" y="3957106"/>
            <a:ext cx="7633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方向</a:t>
            </a:r>
            <a:r>
              <a:rPr kumimoji="1" lang="en-US" altLang="zh-CN" dirty="0"/>
              <a:t>1</a:t>
            </a:r>
            <a:endParaRPr kumimoji="1"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="" xmlns:a16="http://schemas.microsoft.com/office/drawing/2014/main" id="{76CF7540-5EB1-CE41-89DB-4C64DF4E7B82}"/>
              </a:ext>
            </a:extLst>
          </p:cNvPr>
          <p:cNvSpPr txBox="1"/>
          <p:nvPr/>
        </p:nvSpPr>
        <p:spPr>
          <a:xfrm>
            <a:off x="4142698" y="3957106"/>
            <a:ext cx="7633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方向</a:t>
            </a:r>
            <a:r>
              <a:rPr kumimoji="1" lang="en-US" altLang="zh-CN" dirty="0"/>
              <a:t>2</a:t>
            </a:r>
            <a:endParaRPr kumimoji="1"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="" xmlns:a16="http://schemas.microsoft.com/office/drawing/2014/main" id="{F5D9E2F9-8516-6D49-A2D4-D77BE49EC63E}"/>
              </a:ext>
            </a:extLst>
          </p:cNvPr>
          <p:cNvSpPr txBox="1"/>
          <p:nvPr/>
        </p:nvSpPr>
        <p:spPr>
          <a:xfrm>
            <a:off x="7101508" y="3957106"/>
            <a:ext cx="7633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solidFill>
                  <a:srgbClr val="C00000"/>
                </a:solidFill>
              </a:rPr>
              <a:t>方向</a:t>
            </a:r>
            <a:r>
              <a:rPr kumimoji="1" lang="en-US" altLang="zh-CN" dirty="0">
                <a:solidFill>
                  <a:srgbClr val="C00000"/>
                </a:solidFill>
              </a:rPr>
              <a:t>3</a:t>
            </a:r>
            <a:endParaRPr kumimoji="1" lang="zh-CN" altLang="en-US" dirty="0">
              <a:solidFill>
                <a:srgbClr val="C00000"/>
              </a:solidFill>
            </a:endParaRPr>
          </a:p>
        </p:txBody>
      </p:sp>
      <p:sp>
        <p:nvSpPr>
          <p:cNvPr id="11" name="左大括号 10">
            <a:extLst>
              <a:ext uri="{FF2B5EF4-FFF2-40B4-BE49-F238E27FC236}">
                <a16:creationId xmlns="" xmlns:a16="http://schemas.microsoft.com/office/drawing/2014/main" id="{5B965428-95C2-D142-B68A-11282806E29D}"/>
              </a:ext>
            </a:extLst>
          </p:cNvPr>
          <p:cNvSpPr/>
          <p:nvPr/>
        </p:nvSpPr>
        <p:spPr>
          <a:xfrm rot="12718631">
            <a:off x="7886091" y="1210501"/>
            <a:ext cx="469818" cy="2018652"/>
          </a:xfrm>
          <a:prstGeom prst="leftBrace">
            <a:avLst/>
          </a:prstGeom>
          <a:ln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左大括号 11">
            <a:extLst>
              <a:ext uri="{FF2B5EF4-FFF2-40B4-BE49-F238E27FC236}">
                <a16:creationId xmlns="" xmlns:a16="http://schemas.microsoft.com/office/drawing/2014/main" id="{BDC5604B-9437-294C-9BD5-BAF1DC5B2227}"/>
              </a:ext>
            </a:extLst>
          </p:cNvPr>
          <p:cNvSpPr/>
          <p:nvPr/>
        </p:nvSpPr>
        <p:spPr>
          <a:xfrm rot="14963438">
            <a:off x="4719361" y="1632700"/>
            <a:ext cx="440565" cy="1870620"/>
          </a:xfrm>
          <a:prstGeom prst="leftBrace">
            <a:avLst/>
          </a:prstGeom>
          <a:ln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左大括号 12">
            <a:extLst>
              <a:ext uri="{FF2B5EF4-FFF2-40B4-BE49-F238E27FC236}">
                <a16:creationId xmlns="" xmlns:a16="http://schemas.microsoft.com/office/drawing/2014/main" id="{4EC1C87E-654A-E341-BE94-9D604E4D3F80}"/>
              </a:ext>
            </a:extLst>
          </p:cNvPr>
          <p:cNvSpPr/>
          <p:nvPr/>
        </p:nvSpPr>
        <p:spPr>
          <a:xfrm rot="18471310">
            <a:off x="1048779" y="1529004"/>
            <a:ext cx="480364" cy="1673068"/>
          </a:xfrm>
          <a:prstGeom prst="leftBrace">
            <a:avLst/>
          </a:prstGeom>
          <a:ln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146502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Times" panose="02020603050405020304" pitchFamily="18" charset="0"/>
                <a:cs typeface="Times" panose="02020603050405020304" pitchFamily="18" charset="0"/>
              </a:rPr>
              <a:t>理解</a:t>
            </a:r>
            <a:r>
              <a:rPr lang="en-US" altLang="zh-CN" dirty="0">
                <a:latin typeface="Times" panose="02020603050405020304" pitchFamily="18" charset="0"/>
                <a:cs typeface="Times" panose="02020603050405020304" pitchFamily="18" charset="0"/>
              </a:rPr>
              <a:t>LSI</a:t>
            </a:r>
            <a:r>
              <a:rPr lang="zh-CN" altLang="en-US" dirty="0">
                <a:latin typeface="Times" panose="02020603050405020304" pitchFamily="18" charset="0"/>
                <a:cs typeface="Times" panose="02020603050405020304" pitchFamily="18" charset="0"/>
              </a:rPr>
              <a:t>：左特征向量</a:t>
            </a:r>
            <a:r>
              <a:rPr lang="en-US" altLang="zh-CN" dirty="0">
                <a:latin typeface="Times" panose="02020603050405020304" pitchFamily="18" charset="0"/>
                <a:cs typeface="Times" panose="02020603050405020304" pitchFamily="18" charset="0"/>
              </a:rPr>
              <a:t>U</a:t>
            </a:r>
            <a:r>
              <a:rPr lang="zh-CN" altLang="en-US" dirty="0">
                <a:latin typeface="Times" panose="02020603050405020304" pitchFamily="18" charset="0"/>
                <a:cs typeface="Times" panose="02020603050405020304" pitchFamily="18" charset="0"/>
              </a:rPr>
              <a:t>是什么？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内容占位符 15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3266848"/>
                <a:ext cx="8229600" cy="1675798"/>
              </a:xfrm>
            </p:spPr>
            <p:txBody>
              <a:bodyPr>
                <a:normAutofit fontScale="85000" lnSpcReduction="20000"/>
              </a:bodyPr>
              <a:lstStyle/>
              <a:p>
                <a:r>
                  <a:rPr lang="en-US" altLang="zh-CN" b="0" i="0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D: </a:t>
                </a:r>
                <a:r>
                  <a:rPr lang="zh-CN" altLang="en-US" b="0" i="0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每一个文档由所有的</a:t>
                </a:r>
                <a:r>
                  <a:rPr lang="en-US" altLang="zh-CN" b="0" i="0" dirty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M</a:t>
                </a:r>
                <a:r>
                  <a:rPr lang="zh-CN" altLang="en-US" dirty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个</a:t>
                </a:r>
                <a:r>
                  <a:rPr lang="zh-CN" altLang="en-US" b="0" i="0" dirty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单词</a:t>
                </a:r>
                <a:r>
                  <a:rPr lang="zh-CN" altLang="en-US" b="0" i="0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进行表示，每一个维度表示此单词是否在文档中出现的</a:t>
                </a:r>
                <a:r>
                  <a:rPr lang="en-US" altLang="zh-CN" b="0" i="0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TF-IDF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b="1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𝐮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</m:oMath>
                </a14:m>
                <a:r>
                  <a:rPr lang="zh-CN" altLang="en-US" dirty="0">
                    <a:solidFill>
                      <a:schemeClr val="tx1"/>
                    </a:solidFill>
                    <a:latin typeface="Times" panose="02020603050405020304" pitchFamily="18" charset="0"/>
                    <a:cs typeface="Times" panose="02020603050405020304" pitchFamily="18" charset="0"/>
                  </a:rPr>
                  <a:t>为</a:t>
                </a:r>
                <a:r>
                  <a:rPr lang="en-US" altLang="zh-CN" dirty="0">
                    <a:latin typeface="Times" panose="02020603050405020304" pitchFamily="18" charset="0"/>
                    <a:cs typeface="Times" panose="02020603050405020304" pitchFamily="18" charset="0"/>
                  </a:rPr>
                  <a:t>M</a:t>
                </a:r>
                <a:r>
                  <a:rPr lang="zh-CN" altLang="en-US" dirty="0">
                    <a:solidFill>
                      <a:schemeClr val="tx1"/>
                    </a:solidFill>
                    <a:latin typeface="Times" panose="02020603050405020304" pitchFamily="18" charset="0"/>
                    <a:cs typeface="Times" panose="02020603050405020304" pitchFamily="18" charset="0"/>
                  </a:rPr>
                  <a:t>维向量，每一个维度对应一个</a:t>
                </a:r>
                <a:r>
                  <a:rPr lang="zh-CN" altLang="en-US" dirty="0">
                    <a:solidFill>
                      <a:srgbClr val="FF0000"/>
                    </a:solidFill>
                    <a:latin typeface="Times" panose="02020603050405020304" pitchFamily="18" charset="0"/>
                    <a:cs typeface="Times" panose="02020603050405020304" pitchFamily="18" charset="0"/>
                  </a:rPr>
                  <a:t>单词</a:t>
                </a:r>
                <a:endParaRPr lang="en-US" altLang="zh-CN" dirty="0">
                  <a:solidFill>
                    <a:srgbClr val="FF0000"/>
                  </a:solidFill>
                  <a:latin typeface="Times" panose="02020603050405020304" pitchFamily="18" charset="0"/>
                  <a:cs typeface="Times" panose="020206030504050203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b="1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𝐮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dirty="0">
                    <a:solidFill>
                      <a:schemeClr val="tx1"/>
                    </a:solidFill>
                    <a:latin typeface="Times" panose="02020603050405020304" pitchFamily="18" charset="0"/>
                    <a:cs typeface="Times" panose="02020603050405020304" pitchFamily="18" charset="0"/>
                  </a:rPr>
                  <a:t>对应由</a:t>
                </a:r>
                <a:r>
                  <a:rPr lang="zh-CN" altLang="en-US" dirty="0">
                    <a:solidFill>
                      <a:srgbClr val="FF0000"/>
                    </a:solidFill>
                    <a:latin typeface="Times" panose="02020603050405020304" pitchFamily="18" charset="0"/>
                    <a:cs typeface="Times" panose="02020603050405020304" pitchFamily="18" charset="0"/>
                  </a:rPr>
                  <a:t>所有单词张成的空间</a:t>
                </a:r>
                <a:r>
                  <a:rPr lang="zh-CN" altLang="en-US" dirty="0">
                    <a:solidFill>
                      <a:schemeClr val="tx1"/>
                    </a:solidFill>
                    <a:latin typeface="Times" panose="02020603050405020304" pitchFamily="18" charset="0"/>
                    <a:cs typeface="Times" panose="02020603050405020304" pitchFamily="18" charset="0"/>
                  </a:rPr>
                  <a:t>中，方差最大的方向</a:t>
                </a:r>
                <a:endParaRPr lang="en-US" altLang="zh-CN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b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𝐮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dirty="0">
                    <a:solidFill>
                      <a:schemeClr val="tx1"/>
                    </a:solidFill>
                    <a:latin typeface="Times" panose="02020603050405020304" pitchFamily="18" charset="0"/>
                    <a:cs typeface="Times" panose="02020603050405020304" pitchFamily="18" charset="0"/>
                  </a:rPr>
                  <a:t>对应与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b="1">
                            <a:latin typeface="Cambria Math" panose="02040503050406030204" pitchFamily="18" charset="0"/>
                          </a:rPr>
                          <m:t>𝐮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dirty="0">
                    <a:solidFill>
                      <a:schemeClr val="tx1"/>
                    </a:solidFill>
                    <a:latin typeface="Times" panose="02020603050405020304" pitchFamily="18" charset="0"/>
                    <a:cs typeface="Times" panose="02020603050405020304" pitchFamily="18" charset="0"/>
                  </a:rPr>
                  <a:t>垂直的所有方向中，方差最大的方向</a:t>
                </a:r>
                <a:endParaRPr lang="en-US" altLang="zh-CN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endParaRPr>
              </a:p>
              <a:p>
                <a:r>
                  <a:rPr lang="en-US" altLang="zh-CN" dirty="0">
                    <a:latin typeface="Times" panose="02020603050405020304" pitchFamily="18" charset="0"/>
                    <a:cs typeface="Times" panose="02020603050405020304" pitchFamily="18" charset="0"/>
                  </a:rPr>
                  <a:t>……</a:t>
                </a:r>
                <a:endParaRPr lang="zh-CN" altLang="en-US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endParaRPr>
              </a:p>
            </p:txBody>
          </p:sp>
        </mc:Choice>
        <mc:Fallback xmlns="">
          <p:sp>
            <p:nvSpPr>
              <p:cNvPr id="16" name="内容占位符 1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3266848"/>
                <a:ext cx="8229600" cy="1675798"/>
              </a:xfrm>
              <a:blipFill>
                <a:blip r:embed="rId2"/>
                <a:stretch>
                  <a:fillRect l="-463" t="-375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64DDB-364C-410E-A66B-B19CEFA5EF0F}" type="slidenum">
              <a:rPr lang="zh-CN" altLang="en-US" smtClean="0"/>
              <a:pPr/>
              <a:t>30</a:t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1760" y="1466789"/>
            <a:ext cx="4294212" cy="155748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984665" y="1522866"/>
            <a:ext cx="540533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350" dirty="0">
                <a:latin typeface="Times New Roman" pitchFamily="18" charset="0"/>
                <a:cs typeface="Times New Roman" pitchFamily="18" charset="0"/>
              </a:rPr>
              <a:t>word</a:t>
            </a:r>
            <a:endParaRPr lang="en-US" sz="1350" dirty="0"/>
          </a:p>
        </p:txBody>
      </p:sp>
      <p:sp>
        <p:nvSpPr>
          <p:cNvPr id="7" name="Line 9"/>
          <p:cNvSpPr>
            <a:spLocks noChangeShapeType="1"/>
          </p:cNvSpPr>
          <p:nvPr/>
        </p:nvSpPr>
        <p:spPr bwMode="auto">
          <a:xfrm>
            <a:off x="2144912" y="1765439"/>
            <a:ext cx="351812" cy="0"/>
          </a:xfrm>
          <a:prstGeom prst="line">
            <a:avLst/>
          </a:prstGeom>
          <a:noFill/>
          <a:ln w="38100" cmpd="dbl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8" name="Rectangle 7"/>
          <p:cNvSpPr/>
          <p:nvPr/>
        </p:nvSpPr>
        <p:spPr>
          <a:xfrm>
            <a:off x="2320818" y="1157705"/>
            <a:ext cx="867545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350" dirty="0">
                <a:latin typeface="Times New Roman" pitchFamily="18" charset="0"/>
                <a:cs typeface="Times New Roman" pitchFamily="18" charset="0"/>
              </a:rPr>
              <a:t>document</a:t>
            </a:r>
            <a:endParaRPr lang="en-US" sz="1350" dirty="0"/>
          </a:p>
        </p:txBody>
      </p:sp>
      <p:sp>
        <p:nvSpPr>
          <p:cNvPr id="9" name="Line 15"/>
          <p:cNvSpPr>
            <a:spLocks noChangeShapeType="1"/>
          </p:cNvSpPr>
          <p:nvPr/>
        </p:nvSpPr>
        <p:spPr bwMode="auto">
          <a:xfrm rot="5400000">
            <a:off x="2610258" y="1499677"/>
            <a:ext cx="257440" cy="0"/>
          </a:xfrm>
          <a:prstGeom prst="line">
            <a:avLst/>
          </a:prstGeom>
          <a:noFill/>
          <a:ln w="38100" cmpd="dbl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3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/>
              <p:cNvSpPr/>
              <p:nvPr/>
            </p:nvSpPr>
            <p:spPr>
              <a:xfrm>
                <a:off x="3693226" y="897900"/>
                <a:ext cx="1805238" cy="5078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700" i="1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altLang="zh-CN" sz="27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7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𝑈</m:t>
                      </m:r>
                      <m:r>
                        <m:rPr>
                          <m:sty m:val="p"/>
                        </m:rPr>
                        <a:rPr lang="en-US" altLang="zh-CN" sz="2700">
                          <a:latin typeface="Cambria Math" panose="02040503050406030204" pitchFamily="18" charset="0"/>
                        </a:rPr>
                        <m:t>Σ</m:t>
                      </m:r>
                      <m:sSup>
                        <m:sSupPr>
                          <m:ctrlPr>
                            <a:rPr lang="en-US" altLang="zh-CN" sz="2700" i="1">
                              <a:latin typeface="Cambria Math" charset="0"/>
                            </a:rPr>
                          </m:ctrlPr>
                        </m:sSupPr>
                        <m:e>
                          <m:r>
                            <a:rPr lang="en-US" altLang="zh-CN" sz="2700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p>
                          <m:r>
                            <a:rPr lang="en-US" altLang="zh-CN" sz="270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zh-CN" altLang="en-US" sz="2700" dirty="0"/>
              </a:p>
            </p:txBody>
          </p:sp>
        </mc:Choice>
        <mc:Fallback xmlns="">
          <p:sp>
            <p:nvSpPr>
              <p:cNvPr id="10" name="矩形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3226" y="897900"/>
                <a:ext cx="1805238" cy="50783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262361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Times" panose="02020603050405020304" pitchFamily="18" charset="0"/>
                <a:cs typeface="Times" panose="02020603050405020304" pitchFamily="18" charset="0"/>
              </a:rPr>
              <a:t>理解</a:t>
            </a:r>
            <a:r>
              <a:rPr lang="en-US" altLang="zh-CN" dirty="0">
                <a:latin typeface="Times" panose="02020603050405020304" pitchFamily="18" charset="0"/>
                <a:cs typeface="Times" panose="02020603050405020304" pitchFamily="18" charset="0"/>
              </a:rPr>
              <a:t>LSI</a:t>
            </a:r>
            <a:r>
              <a:rPr lang="zh-CN" altLang="en-US" dirty="0">
                <a:latin typeface="Times" panose="02020603050405020304" pitchFamily="18" charset="0"/>
                <a:cs typeface="Times" panose="02020603050405020304" pitchFamily="18" charset="0"/>
              </a:rPr>
              <a:t>：右特征向量</a:t>
            </a:r>
            <a:r>
              <a:rPr lang="en-US" altLang="zh-CN" dirty="0">
                <a:latin typeface="Times" panose="02020603050405020304" pitchFamily="18" charset="0"/>
                <a:cs typeface="Times" panose="02020603050405020304" pitchFamily="18" charset="0"/>
              </a:rPr>
              <a:t>V</a:t>
            </a:r>
            <a:r>
              <a:rPr lang="zh-CN" altLang="en-US" dirty="0">
                <a:latin typeface="Times" panose="02020603050405020304" pitchFamily="18" charset="0"/>
                <a:cs typeface="Times" panose="02020603050405020304" pitchFamily="18" charset="0"/>
              </a:rPr>
              <a:t>是什么？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819149"/>
                <a:ext cx="8229600" cy="4227863"/>
              </a:xfrm>
            </p:spPr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altLang="zh-CN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𝑈</m:t>
                      </m:r>
                      <m:r>
                        <m:rPr>
                          <m:sty m:val="p"/>
                        </m:rPr>
                        <a:rPr lang="en-US" altLang="zh-CN">
                          <a:latin typeface="Cambria Math" panose="02040503050406030204" pitchFamily="18" charset="0"/>
                        </a:rPr>
                        <m:t>Σ</m:t>
                      </m:r>
                      <m:sSup>
                        <m:sSupPr>
                          <m:ctrlPr>
                            <a:rPr lang="en-US" altLang="zh-CN" i="1" smtClean="0">
                              <a:solidFill>
                                <a:srgbClr val="FF0000"/>
                              </a:solidFill>
                              <a:latin typeface="Cambria Math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p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⇒</m:t>
                      </m:r>
                      <m:sSup>
                        <m:sSupPr>
                          <m:ctrlPr>
                            <a:rPr lang="en-US" altLang="zh-CN" b="0" i="1" smtClean="0">
                              <a:latin typeface="Cambria Math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r>
                        <m:rPr>
                          <m:sty m:val="p"/>
                        </m:rPr>
                        <a:rPr lang="en-US" altLang="zh-CN">
                          <a:latin typeface="Cambria Math" panose="02040503050406030204" pitchFamily="18" charset="0"/>
                        </a:rPr>
                        <m:t>Σ</m:t>
                      </m:r>
                      <m:sSup>
                        <m:sSupPr>
                          <m:ctrlP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altLang="zh-CN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</m:oMath>
                  </m:oMathPara>
                </a14:m>
                <a:endParaRPr lang="en-US" altLang="zh-CN" dirty="0"/>
              </a:p>
              <a:p>
                <a:pPr lvl="1"/>
                <a:endParaRPr lang="en-US" altLang="zh-CN" dirty="0"/>
              </a:p>
              <a:p>
                <a:pPr lvl="1"/>
                <a:endParaRPr lang="en-US" altLang="zh-CN" dirty="0"/>
              </a:p>
              <a:p>
                <a:pPr lvl="1"/>
                <a:endParaRPr lang="en-US" altLang="zh-CN" dirty="0"/>
              </a:p>
              <a:p>
                <a:pPr lvl="1"/>
                <a:endParaRPr lang="en-US" altLang="zh-CN" dirty="0"/>
              </a:p>
              <a:p>
                <a:pPr lvl="1"/>
                <a:endParaRPr lang="en-US" altLang="zh-CN" dirty="0"/>
              </a:p>
              <a:p>
                <a:pPr lvl="1"/>
                <a:endParaRPr lang="en-US" altLang="zh-CN" dirty="0"/>
              </a:p>
              <a:p>
                <a:pPr lvl="1"/>
                <a:endParaRPr lang="en-US" altLang="zh-CN" dirty="0"/>
              </a:p>
              <a:p>
                <a:endParaRPr lang="en-US" altLang="zh-CN" dirty="0"/>
              </a:p>
              <a:p>
                <a:r>
                  <a:rPr lang="zh-CN" altLang="en-US" dirty="0"/>
                  <a:t>从另外一个角度看待被分解矩阵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altLang="zh-CN" dirty="0"/>
                  <a:t>:</a:t>
                </a:r>
                <a:r>
                  <a:rPr lang="zh-CN" altLang="en-US" dirty="0">
                    <a:latin typeface="Cambria Math" panose="02040503050406030204" pitchFamily="18" charset="0"/>
                  </a:rPr>
                  <a:t>每一个</a:t>
                </a:r>
                <a:r>
                  <a:rPr lang="zh-CN" altLang="en-US" dirty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单词</a:t>
                </a:r>
                <a:r>
                  <a:rPr lang="zh-CN" altLang="en-US" dirty="0">
                    <a:latin typeface="Cambria Math" panose="02040503050406030204" pitchFamily="18" charset="0"/>
                  </a:rPr>
                  <a:t>由所有的</a:t>
                </a:r>
                <a:r>
                  <a:rPr lang="en-US" altLang="zh-CN" dirty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N</a:t>
                </a:r>
                <a:r>
                  <a:rPr lang="zh-CN" altLang="en-US" dirty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个文档</a:t>
                </a:r>
                <a:r>
                  <a:rPr lang="zh-CN" altLang="en-US" dirty="0">
                    <a:latin typeface="Cambria Math" panose="02040503050406030204" pitchFamily="18" charset="0"/>
                  </a:rPr>
                  <a:t>进行表示，每一个维度表示此文档中是否出现该单词</a:t>
                </a:r>
                <a:endParaRPr lang="en-US" altLang="zh-CN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b="1" i="0" smtClean="0">
                            <a:latin typeface="Cambria Math" panose="02040503050406030204" pitchFamily="18" charset="0"/>
                          </a:rPr>
                          <m:t>𝐯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</m:oMath>
                </a14:m>
                <a:r>
                  <a:rPr lang="zh-CN" altLang="en-US" dirty="0">
                    <a:latin typeface="Times" panose="02020603050405020304" pitchFamily="18" charset="0"/>
                    <a:cs typeface="Times" panose="02020603050405020304" pitchFamily="18" charset="0"/>
                  </a:rPr>
                  <a:t>为</a:t>
                </a:r>
                <a:r>
                  <a:rPr lang="en-US" altLang="zh-CN" dirty="0">
                    <a:latin typeface="Times" panose="02020603050405020304" pitchFamily="18" charset="0"/>
                    <a:cs typeface="Times" panose="02020603050405020304" pitchFamily="18" charset="0"/>
                  </a:rPr>
                  <a:t>N</a:t>
                </a:r>
                <a:r>
                  <a:rPr lang="zh-CN" altLang="en-US" dirty="0">
                    <a:latin typeface="Times" panose="02020603050405020304" pitchFamily="18" charset="0"/>
                    <a:cs typeface="Times" panose="02020603050405020304" pitchFamily="18" charset="0"/>
                  </a:rPr>
                  <a:t>维向量，每一个维度对应一个</a:t>
                </a:r>
                <a:r>
                  <a:rPr lang="zh-CN" altLang="en-US" dirty="0">
                    <a:solidFill>
                      <a:srgbClr val="FF0000"/>
                    </a:solidFill>
                    <a:latin typeface="Times" panose="02020603050405020304" pitchFamily="18" charset="0"/>
                    <a:cs typeface="Times" panose="02020603050405020304" pitchFamily="18" charset="0"/>
                  </a:rPr>
                  <a:t>文档</a:t>
                </a:r>
                <a:endParaRPr lang="en-US" altLang="zh-CN" dirty="0">
                  <a:solidFill>
                    <a:srgbClr val="FF0000"/>
                  </a:solidFill>
                  <a:latin typeface="Times" panose="02020603050405020304" pitchFamily="18" charset="0"/>
                  <a:cs typeface="Times" panose="020206030504050203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b="1" i="0" smtClean="0">
                            <a:latin typeface="Cambria Math" panose="02040503050406030204" pitchFamily="18" charset="0"/>
                          </a:rPr>
                          <m:t>𝐯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dirty="0">
                    <a:latin typeface="Times" panose="02020603050405020304" pitchFamily="18" charset="0"/>
                    <a:cs typeface="Times" panose="02020603050405020304" pitchFamily="18" charset="0"/>
                  </a:rPr>
                  <a:t>对应由</a:t>
                </a:r>
                <a:r>
                  <a:rPr lang="zh-CN" altLang="en-US" dirty="0">
                    <a:solidFill>
                      <a:srgbClr val="FF0000"/>
                    </a:solidFill>
                    <a:latin typeface="Times" panose="02020603050405020304" pitchFamily="18" charset="0"/>
                    <a:cs typeface="Times" panose="02020603050405020304" pitchFamily="18" charset="0"/>
                  </a:rPr>
                  <a:t>所有文档张成的空间</a:t>
                </a:r>
                <a:r>
                  <a:rPr lang="zh-CN" altLang="en-US" dirty="0">
                    <a:latin typeface="Times" panose="02020603050405020304" pitchFamily="18" charset="0"/>
                    <a:cs typeface="Times" panose="02020603050405020304" pitchFamily="18" charset="0"/>
                  </a:rPr>
                  <a:t>中，方差最大的方向</a:t>
                </a:r>
                <a:endParaRPr lang="en-US" altLang="zh-CN" dirty="0">
                  <a:latin typeface="Times" panose="02020603050405020304" pitchFamily="18" charset="0"/>
                  <a:cs typeface="Times" panose="020206030504050203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b="1" i="0" smtClean="0">
                            <a:latin typeface="Cambria Math" panose="02040503050406030204" pitchFamily="18" charset="0"/>
                          </a:rPr>
                          <m:t>𝐯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dirty="0">
                    <a:latin typeface="Times" panose="02020603050405020304" pitchFamily="18" charset="0"/>
                    <a:cs typeface="Times" panose="02020603050405020304" pitchFamily="18" charset="0"/>
                  </a:rPr>
                  <a:t>对应与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b="1" i="0" smtClean="0">
                            <a:latin typeface="Cambria Math" panose="02040503050406030204" pitchFamily="18" charset="0"/>
                          </a:rPr>
                          <m:t>𝐯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dirty="0">
                    <a:latin typeface="Times" panose="02020603050405020304" pitchFamily="18" charset="0"/>
                    <a:cs typeface="Times" panose="02020603050405020304" pitchFamily="18" charset="0"/>
                  </a:rPr>
                  <a:t>垂直的所有方向中，方差最大的方向</a:t>
                </a:r>
                <a:endParaRPr lang="en-US" altLang="zh-CN" dirty="0">
                  <a:latin typeface="Times" panose="02020603050405020304" pitchFamily="18" charset="0"/>
                  <a:cs typeface="Times" panose="02020603050405020304" pitchFamily="18" charset="0"/>
                </a:endParaRPr>
              </a:p>
              <a:p>
                <a:r>
                  <a:rPr lang="en-US" altLang="zh-CN" dirty="0">
                    <a:latin typeface="Times" panose="02020603050405020304" pitchFamily="18" charset="0"/>
                  </a:rPr>
                  <a:t>……</a:t>
                </a:r>
                <a:endParaRPr lang="en-US" altLang="zh-CN" dirty="0">
                  <a:latin typeface="Cambria Math" panose="02040503050406030204" pitchFamily="18" charset="0"/>
                </a:endParaRPr>
              </a:p>
              <a:p>
                <a:pPr lvl="1"/>
                <a:endParaRPr lang="en-US" altLang="zh-CN" dirty="0"/>
              </a:p>
              <a:p>
                <a:pPr lvl="1"/>
                <a:endParaRPr lang="en-US" altLang="zh-CN" dirty="0"/>
              </a:p>
              <a:p>
                <a:pPr lvl="1"/>
                <a:endParaRPr lang="en-US" altLang="zh-CN" dirty="0"/>
              </a:p>
              <a:p>
                <a:pPr lvl="1"/>
                <a:endParaRPr lang="en-US" altLang="zh-CN" dirty="0"/>
              </a:p>
              <a:p>
                <a:pPr marL="342900" lvl="1" indent="0">
                  <a:buNone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819149"/>
                <a:ext cx="8229600" cy="4227863"/>
              </a:xfrm>
              <a:blipFill>
                <a:blip r:embed="rId2"/>
                <a:stretch>
                  <a:fillRect l="-617" r="-3549" b="-119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64DDB-364C-410E-A66B-B19CEFA5EF0F}" type="slidenum">
              <a:rPr lang="zh-CN" altLang="en-US" smtClean="0"/>
              <a:pPr/>
              <a:t>31</a:t>
            </a:fld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6523" y="1483867"/>
            <a:ext cx="4020362" cy="1458162"/>
          </a:xfrm>
          <a:prstGeom prst="rect">
            <a:avLst/>
          </a:prstGeom>
        </p:spPr>
      </p:pic>
      <p:sp>
        <p:nvSpPr>
          <p:cNvPr id="11" name="Rectangle 5"/>
          <p:cNvSpPr/>
          <p:nvPr/>
        </p:nvSpPr>
        <p:spPr>
          <a:xfrm>
            <a:off x="2039428" y="1539944"/>
            <a:ext cx="540533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350" dirty="0">
                <a:latin typeface="Times New Roman" pitchFamily="18" charset="0"/>
                <a:cs typeface="Times New Roman" pitchFamily="18" charset="0"/>
              </a:rPr>
              <a:t>word</a:t>
            </a:r>
            <a:endParaRPr lang="en-US" sz="1350" dirty="0"/>
          </a:p>
        </p:txBody>
      </p:sp>
      <p:sp>
        <p:nvSpPr>
          <p:cNvPr id="12" name="Line 9"/>
          <p:cNvSpPr>
            <a:spLocks noChangeShapeType="1"/>
          </p:cNvSpPr>
          <p:nvPr/>
        </p:nvSpPr>
        <p:spPr bwMode="auto">
          <a:xfrm>
            <a:off x="2199675" y="1782517"/>
            <a:ext cx="351812" cy="0"/>
          </a:xfrm>
          <a:prstGeom prst="line">
            <a:avLst/>
          </a:prstGeom>
          <a:noFill/>
          <a:ln w="38100" cmpd="dbl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13" name="Rectangle 7"/>
          <p:cNvSpPr/>
          <p:nvPr/>
        </p:nvSpPr>
        <p:spPr>
          <a:xfrm>
            <a:off x="2375581" y="1174784"/>
            <a:ext cx="867545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350" dirty="0">
                <a:latin typeface="Times New Roman" pitchFamily="18" charset="0"/>
                <a:cs typeface="Times New Roman" pitchFamily="18" charset="0"/>
              </a:rPr>
              <a:t>document</a:t>
            </a:r>
            <a:endParaRPr lang="en-US" sz="1350" dirty="0"/>
          </a:p>
        </p:txBody>
      </p:sp>
      <p:sp>
        <p:nvSpPr>
          <p:cNvPr id="14" name="Line 15"/>
          <p:cNvSpPr>
            <a:spLocks noChangeShapeType="1"/>
          </p:cNvSpPr>
          <p:nvPr/>
        </p:nvSpPr>
        <p:spPr bwMode="auto">
          <a:xfrm rot="5400000">
            <a:off x="2665021" y="1516755"/>
            <a:ext cx="257440" cy="0"/>
          </a:xfrm>
          <a:prstGeom prst="line">
            <a:avLst/>
          </a:prstGeom>
          <a:noFill/>
          <a:ln w="38100" cmpd="dbl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2609746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理解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LSI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LSI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的输出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矩阵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 panose="02040503050406030204" pitchFamily="18" charset="0"/>
                          </a:rPr>
                          <m:t>M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[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b="1" i="0" smtClean="0">
                            <a:latin typeface="Cambria Math" panose="02040503050406030204" pitchFamily="18" charset="0"/>
                          </a:rPr>
                          <m:t>𝐮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b="1">
                            <a:latin typeface="Cambria Math" panose="02040503050406030204" pitchFamily="18" charset="0"/>
                          </a:rPr>
                          <m:t>𝐮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,⋯,</m:t>
                    </m:r>
                    <m:sSub>
                      <m:sSubPr>
                        <m:ctrlPr>
                          <a:rPr lang="en-US" altLang="zh-CN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b="1">
                            <a:latin typeface="Cambria Math" panose="02040503050406030204" pitchFamily="18" charset="0"/>
                          </a:rPr>
                          <m:t>𝐮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/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由于对应的特征根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为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，其余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个特征向量对计算不造成影响</a:t>
                </a:r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b="1">
                            <a:latin typeface="Cambria Math" panose="02040503050406030204" pitchFamily="18" charset="0"/>
                          </a:rPr>
                          <m:t>𝐮</m:t>
                        </m:r>
                      </m:e>
                      <m:sub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𝒌</m:t>
                        </m:r>
                      </m:sub>
                    </m:sSub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第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个话题，由带权的词向量组成</a:t>
                </a:r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/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/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/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/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/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/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矩阵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zh-CN" b="0" i="1" smtClean="0">
                                <a:latin typeface="Cambria Math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altLang="zh-CN" b="0" i="1" smtClean="0">
                                    <a:latin typeface="Cambria Math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b="1" i="0" smtClean="0">
                                    <a:latin typeface="Cambria Math" panose="02040503050406030204" pitchFamily="18" charset="0"/>
                                  </a:rPr>
                                  <m:t>𝐯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b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,⋯,</m:t>
                            </m:r>
                            <m:sSubSup>
                              <m:sSubSupPr>
                                <m:ctrlPr>
                                  <a:rPr lang="en-US" altLang="zh-CN" i="1">
                                    <a:latin typeface="Cambria Math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b="1">
                                    <a:latin typeface="Cambria Math" panose="02040503050406030204" pitchFamily="18" charset="0"/>
                                  </a:rPr>
                                  <m:t>𝐯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sub>
                              <m:sup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bSup>
                          </m:e>
                        </m:d>
                      </m:e>
                      <m:sup/>
                    </m:sSup>
                  </m:oMath>
                </a14:m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i="1">
                            <a:latin typeface="Cambria Math" charset="0"/>
                          </a:rPr>
                        </m:ctrlPr>
                      </m:sSubSupPr>
                      <m:e>
                        <m:r>
                          <a:rPr lang="en-US" altLang="zh-CN" b="1">
                            <a:latin typeface="Cambria Math" panose="02040503050406030204" pitchFamily="18" charset="0"/>
                          </a:rPr>
                          <m:t>𝐯</m:t>
                        </m:r>
                      </m:e>
                      <m:sub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由话题进行表达的第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个文档</a:t>
                </a:r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LSI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的原理：发现词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文档矩阵中的</a:t>
                </a:r>
                <a:r>
                  <a:rPr lang="zh-CN" alt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低秩结构</a:t>
                </a:r>
                <a:endParaRPr lang="en-US" altLang="zh-CN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/>
                <a:r>
                  <a:rPr lang="zh-CN" altLang="en-US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分布式语义假设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：语义相关的词倾向共现在同一个文档中</a:t>
                </a: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17" t="-19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64DDB-364C-410E-A66B-B19CEFA5EF0F}" type="slidenum">
              <a:rPr lang="zh-CN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32</a:t>
            </a:fld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3815" y="1724067"/>
            <a:ext cx="5309911" cy="1268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22367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回到之前的例子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339849"/>
            <a:ext cx="3850631" cy="2268589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3671" y="1764007"/>
            <a:ext cx="4161503" cy="142027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1201" y="3931265"/>
            <a:ext cx="2626442" cy="856694"/>
          </a:xfrm>
          <a:prstGeom prst="rect">
            <a:avLst/>
          </a:prstGeom>
        </p:spPr>
      </p:pic>
      <p:sp>
        <p:nvSpPr>
          <p:cNvPr id="7" name="Down Arrow 6"/>
          <p:cNvSpPr/>
          <p:nvPr/>
        </p:nvSpPr>
        <p:spPr>
          <a:xfrm>
            <a:off x="6813755" y="3342968"/>
            <a:ext cx="678426" cy="39329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8969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回到之前的例子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9050" y="1092200"/>
            <a:ext cx="6565900" cy="3390900"/>
          </a:xfr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4083726" y="2133600"/>
                <a:ext cx="528734" cy="40011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0" i="1" smtClean="0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charset="0"/>
                            </a:rPr>
                            <m:t>𝑈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3726" y="2133600"/>
                <a:ext cx="528734" cy="400110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532255" y="3829664"/>
                <a:ext cx="548547" cy="40440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2000" b="0" i="1" smtClean="0">
                              <a:latin typeface="Cambria Math" charset="0"/>
                            </a:rPr>
                          </m:ctrlPr>
                        </m:sSubSupPr>
                        <m:e>
                          <m:r>
                            <a:rPr lang="en-US" altLang="zh-CN" sz="2000" b="0" i="1" smtClean="0">
                              <a:latin typeface="Cambria Math" charset="0"/>
                            </a:rPr>
                            <m:t>𝑉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charset="0"/>
                            </a:rPr>
                            <m:t>2</m:t>
                          </m:r>
                        </m:sub>
                        <m:sup>
                          <m:r>
                            <a:rPr lang="en-US" altLang="zh-CN" sz="2000" b="0" i="1" smtClean="0">
                              <a:latin typeface="Cambria Math" charset="0"/>
                            </a:rPr>
                            <m:t>𝑇</m:t>
                          </m:r>
                        </m:sup>
                      </m:sSubSup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2255" y="3829664"/>
                <a:ext cx="548547" cy="404406"/>
              </a:xfrm>
              <a:prstGeom prst="rect">
                <a:avLst/>
              </a:prstGeom>
              <a:blipFill rotWithShape="0">
                <a:blip r:embed="rId4"/>
                <a:stretch>
                  <a:fillRect b="-14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8821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回到之前的例子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176517"/>
            <a:ext cx="8229600" cy="1767092"/>
          </a:xfr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3309374"/>
            <a:ext cx="8180439" cy="731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6764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回到之前的例子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6805" y="1064957"/>
            <a:ext cx="4876254" cy="3657191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26" y="1064957"/>
            <a:ext cx="3529781" cy="74311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-221225" y="1877889"/>
            <a:ext cx="3819832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en-US" dirty="0"/>
              <a:t>d1 : Romeo and Juliet. </a:t>
            </a:r>
          </a:p>
          <a:p>
            <a:pPr lvl="1"/>
            <a:r>
              <a:rPr lang="en-US" dirty="0"/>
              <a:t>d2 : Juliet: O happy dagger! </a:t>
            </a:r>
          </a:p>
          <a:p>
            <a:pPr lvl="1"/>
            <a:r>
              <a:rPr lang="en-US" dirty="0"/>
              <a:t>d3 : Romeo died by dagger. </a:t>
            </a:r>
          </a:p>
          <a:p>
            <a:pPr lvl="1"/>
            <a:r>
              <a:rPr lang="en-US" dirty="0"/>
              <a:t>d4 : “Live free or die”, that’s the New-Hampshire’s motto. </a:t>
            </a:r>
          </a:p>
          <a:p>
            <a:pPr lvl="1"/>
            <a:r>
              <a:rPr lang="en-US" dirty="0"/>
              <a:t>d5 : Did you know, New-Hampshire is in New-England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="" xmlns:a16="http://schemas.microsoft.com/office/drawing/2014/main" id="{6D380C88-83F5-3145-B685-886838884200}"/>
              </a:ext>
            </a:extLst>
          </p:cNvPr>
          <p:cNvSpPr txBox="1"/>
          <p:nvPr/>
        </p:nvSpPr>
        <p:spPr>
          <a:xfrm>
            <a:off x="1100325" y="3979034"/>
            <a:ext cx="353744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 smtClean="0">
                <a:solidFill>
                  <a:srgbClr val="C00000"/>
                </a:solidFill>
              </a:rPr>
              <a:t>将文档按照与</a:t>
            </a:r>
            <a:r>
              <a:rPr kumimoji="1" lang="en-US" altLang="zh-CN" dirty="0" smtClean="0">
                <a:solidFill>
                  <a:srgbClr val="C00000"/>
                </a:solidFill>
              </a:rPr>
              <a:t>q</a:t>
            </a:r>
            <a:r>
              <a:rPr kumimoji="1" lang="zh-CN" altLang="en-US" dirty="0" smtClean="0">
                <a:solidFill>
                  <a:srgbClr val="C00000"/>
                </a:solidFill>
              </a:rPr>
              <a:t>的</a:t>
            </a:r>
            <a:r>
              <a:rPr kumimoji="1" lang="en-US" altLang="zh-CN" dirty="0" smtClean="0">
                <a:solidFill>
                  <a:srgbClr val="C00000"/>
                </a:solidFill>
              </a:rPr>
              <a:t>cosine</a:t>
            </a:r>
            <a:r>
              <a:rPr kumimoji="1" lang="zh-CN" altLang="en-US" dirty="0" smtClean="0">
                <a:solidFill>
                  <a:srgbClr val="C00000"/>
                </a:solidFill>
              </a:rPr>
              <a:t>距离排序</a:t>
            </a:r>
            <a:endParaRPr kumimoji="1" lang="en-US" altLang="zh-CN" dirty="0" smtClean="0">
              <a:solidFill>
                <a:srgbClr val="C00000"/>
              </a:solidFill>
            </a:endParaRPr>
          </a:p>
          <a:p>
            <a:r>
              <a:rPr kumimoji="1" lang="en-US" altLang="zh-CN" dirty="0" smtClean="0">
                <a:solidFill>
                  <a:srgbClr val="C00000"/>
                </a:solidFill>
              </a:rPr>
              <a:t>A</a:t>
            </a:r>
            <a:r>
              <a:rPr kumimoji="1" lang="zh-CN" altLang="en-US" dirty="0" smtClean="0">
                <a:solidFill>
                  <a:srgbClr val="C00000"/>
                </a:solidFill>
              </a:rPr>
              <a:t>：</a:t>
            </a:r>
            <a:r>
              <a:rPr kumimoji="1" lang="en-US" altLang="zh-CN" dirty="0" smtClean="0">
                <a:solidFill>
                  <a:srgbClr val="C00000"/>
                </a:solidFill>
              </a:rPr>
              <a:t>d3</a:t>
            </a:r>
            <a:r>
              <a:rPr kumimoji="1" lang="zh-CN" altLang="en-US" dirty="0" smtClean="0">
                <a:solidFill>
                  <a:srgbClr val="C00000"/>
                </a:solidFill>
              </a:rPr>
              <a:t> </a:t>
            </a:r>
            <a:r>
              <a:rPr kumimoji="1" lang="en-US" altLang="zh-CN" dirty="0" smtClean="0">
                <a:solidFill>
                  <a:srgbClr val="C00000"/>
                </a:solidFill>
              </a:rPr>
              <a:t>&gt;</a:t>
            </a:r>
            <a:r>
              <a:rPr kumimoji="1" lang="zh-CN" altLang="en-US" dirty="0" smtClean="0">
                <a:solidFill>
                  <a:srgbClr val="C00000"/>
                </a:solidFill>
              </a:rPr>
              <a:t> </a:t>
            </a:r>
            <a:r>
              <a:rPr kumimoji="1" lang="en-US" altLang="zh-CN" dirty="0" smtClean="0">
                <a:solidFill>
                  <a:srgbClr val="C00000"/>
                </a:solidFill>
              </a:rPr>
              <a:t>d2</a:t>
            </a:r>
            <a:r>
              <a:rPr kumimoji="1" lang="zh-CN" altLang="en-US" dirty="0" smtClean="0">
                <a:solidFill>
                  <a:srgbClr val="C00000"/>
                </a:solidFill>
              </a:rPr>
              <a:t> </a:t>
            </a:r>
            <a:r>
              <a:rPr kumimoji="1" lang="en-US" altLang="zh-CN" dirty="0" smtClean="0">
                <a:solidFill>
                  <a:srgbClr val="C00000"/>
                </a:solidFill>
              </a:rPr>
              <a:t>&gt;</a:t>
            </a:r>
            <a:r>
              <a:rPr kumimoji="1" lang="zh-CN" altLang="en-US" dirty="0" smtClean="0">
                <a:solidFill>
                  <a:srgbClr val="C00000"/>
                </a:solidFill>
              </a:rPr>
              <a:t> </a:t>
            </a:r>
            <a:r>
              <a:rPr kumimoji="1" lang="en-US" altLang="zh-CN" dirty="0" smtClean="0">
                <a:solidFill>
                  <a:srgbClr val="C00000"/>
                </a:solidFill>
              </a:rPr>
              <a:t>d4</a:t>
            </a:r>
            <a:r>
              <a:rPr kumimoji="1" lang="zh-CN" altLang="en-US" dirty="0" smtClean="0">
                <a:solidFill>
                  <a:srgbClr val="C00000"/>
                </a:solidFill>
              </a:rPr>
              <a:t> </a:t>
            </a:r>
            <a:r>
              <a:rPr kumimoji="1" lang="en-US" altLang="zh-CN" dirty="0" smtClean="0">
                <a:solidFill>
                  <a:srgbClr val="C00000"/>
                </a:solidFill>
              </a:rPr>
              <a:t>&gt;</a:t>
            </a:r>
            <a:r>
              <a:rPr kumimoji="1" lang="zh-CN" altLang="en-US" dirty="0" smtClean="0">
                <a:solidFill>
                  <a:srgbClr val="C00000"/>
                </a:solidFill>
              </a:rPr>
              <a:t> </a:t>
            </a:r>
            <a:r>
              <a:rPr kumimoji="1" lang="en-US" altLang="zh-CN" dirty="0" smtClean="0">
                <a:solidFill>
                  <a:srgbClr val="C00000"/>
                </a:solidFill>
              </a:rPr>
              <a:t>d1</a:t>
            </a:r>
            <a:r>
              <a:rPr kumimoji="1" lang="zh-CN" altLang="en-US" dirty="0" smtClean="0">
                <a:solidFill>
                  <a:srgbClr val="C00000"/>
                </a:solidFill>
              </a:rPr>
              <a:t> </a:t>
            </a:r>
            <a:r>
              <a:rPr kumimoji="1" lang="en-US" altLang="zh-CN" dirty="0" smtClean="0">
                <a:solidFill>
                  <a:srgbClr val="C00000"/>
                </a:solidFill>
              </a:rPr>
              <a:t>&gt;</a:t>
            </a:r>
            <a:r>
              <a:rPr kumimoji="1" lang="zh-CN" altLang="en-US" dirty="0" smtClean="0">
                <a:solidFill>
                  <a:srgbClr val="C00000"/>
                </a:solidFill>
              </a:rPr>
              <a:t> </a:t>
            </a:r>
            <a:r>
              <a:rPr kumimoji="1" lang="en-US" altLang="zh-CN" dirty="0" smtClean="0">
                <a:solidFill>
                  <a:srgbClr val="C00000"/>
                </a:solidFill>
              </a:rPr>
              <a:t>d5</a:t>
            </a:r>
            <a:endParaRPr kumimoji="1" lang="en-US" altLang="zh-CN" dirty="0">
              <a:solidFill>
                <a:srgbClr val="C00000"/>
              </a:solidFill>
            </a:endParaRPr>
          </a:p>
          <a:p>
            <a:r>
              <a:rPr kumimoji="1" lang="en-US" altLang="zh-CN" dirty="0">
                <a:solidFill>
                  <a:srgbClr val="C00000"/>
                </a:solidFill>
              </a:rPr>
              <a:t>B</a:t>
            </a:r>
            <a:r>
              <a:rPr kumimoji="1" lang="zh-CN" altLang="en-US" dirty="0" smtClean="0">
                <a:solidFill>
                  <a:srgbClr val="C00000"/>
                </a:solidFill>
              </a:rPr>
              <a:t>：</a:t>
            </a:r>
            <a:r>
              <a:rPr kumimoji="1" lang="en-US" altLang="zh-CN" dirty="0" smtClean="0">
                <a:solidFill>
                  <a:srgbClr val="C00000"/>
                </a:solidFill>
              </a:rPr>
              <a:t>d3</a:t>
            </a:r>
            <a:r>
              <a:rPr kumimoji="1" lang="zh-CN" altLang="en-US" dirty="0" smtClean="0">
                <a:solidFill>
                  <a:srgbClr val="C00000"/>
                </a:solidFill>
              </a:rPr>
              <a:t> </a:t>
            </a:r>
            <a:r>
              <a:rPr kumimoji="1" lang="en-US" altLang="zh-CN" dirty="0" smtClean="0">
                <a:solidFill>
                  <a:srgbClr val="C00000"/>
                </a:solidFill>
              </a:rPr>
              <a:t>&gt;</a:t>
            </a:r>
            <a:r>
              <a:rPr kumimoji="1" lang="zh-CN" altLang="en-US" dirty="0" smtClean="0">
                <a:solidFill>
                  <a:srgbClr val="C00000"/>
                </a:solidFill>
              </a:rPr>
              <a:t> </a:t>
            </a:r>
            <a:r>
              <a:rPr kumimoji="1" lang="en-US" altLang="zh-CN" dirty="0" smtClean="0">
                <a:solidFill>
                  <a:srgbClr val="C00000"/>
                </a:solidFill>
              </a:rPr>
              <a:t>d1</a:t>
            </a:r>
            <a:r>
              <a:rPr kumimoji="1" lang="zh-CN" altLang="en-US" dirty="0" smtClean="0">
                <a:solidFill>
                  <a:srgbClr val="C00000"/>
                </a:solidFill>
              </a:rPr>
              <a:t> </a:t>
            </a:r>
            <a:r>
              <a:rPr kumimoji="1" lang="en-US" altLang="zh-CN" dirty="0" smtClean="0">
                <a:solidFill>
                  <a:srgbClr val="C00000"/>
                </a:solidFill>
              </a:rPr>
              <a:t>&gt;</a:t>
            </a:r>
            <a:r>
              <a:rPr kumimoji="1" lang="zh-CN" altLang="en-US" dirty="0" smtClean="0">
                <a:solidFill>
                  <a:srgbClr val="C00000"/>
                </a:solidFill>
              </a:rPr>
              <a:t> </a:t>
            </a:r>
            <a:r>
              <a:rPr kumimoji="1" lang="en-US" altLang="zh-CN" dirty="0" smtClean="0">
                <a:solidFill>
                  <a:srgbClr val="C00000"/>
                </a:solidFill>
              </a:rPr>
              <a:t>d2</a:t>
            </a:r>
            <a:r>
              <a:rPr kumimoji="1" lang="zh-CN" altLang="en-US" dirty="0" smtClean="0">
                <a:solidFill>
                  <a:srgbClr val="C00000"/>
                </a:solidFill>
              </a:rPr>
              <a:t> </a:t>
            </a:r>
            <a:r>
              <a:rPr kumimoji="1" lang="en-US" altLang="zh-CN" dirty="0" smtClean="0">
                <a:solidFill>
                  <a:srgbClr val="C00000"/>
                </a:solidFill>
              </a:rPr>
              <a:t>&gt;</a:t>
            </a:r>
            <a:r>
              <a:rPr kumimoji="1" lang="zh-CN" altLang="en-US" dirty="0" smtClean="0">
                <a:solidFill>
                  <a:srgbClr val="C00000"/>
                </a:solidFill>
              </a:rPr>
              <a:t> </a:t>
            </a:r>
            <a:r>
              <a:rPr kumimoji="1" lang="en-US" altLang="zh-CN" dirty="0" smtClean="0">
                <a:solidFill>
                  <a:srgbClr val="C00000"/>
                </a:solidFill>
              </a:rPr>
              <a:t>d4</a:t>
            </a:r>
            <a:r>
              <a:rPr kumimoji="1" lang="zh-CN" altLang="en-US" dirty="0" smtClean="0">
                <a:solidFill>
                  <a:srgbClr val="C00000"/>
                </a:solidFill>
              </a:rPr>
              <a:t> </a:t>
            </a:r>
            <a:r>
              <a:rPr kumimoji="1" lang="en-US" altLang="zh-CN" dirty="0" smtClean="0">
                <a:solidFill>
                  <a:srgbClr val="C00000"/>
                </a:solidFill>
              </a:rPr>
              <a:t>&gt;</a:t>
            </a:r>
            <a:r>
              <a:rPr kumimoji="1" lang="zh-CN" altLang="en-US" dirty="0" smtClean="0">
                <a:solidFill>
                  <a:srgbClr val="C00000"/>
                </a:solidFill>
              </a:rPr>
              <a:t> </a:t>
            </a:r>
            <a:r>
              <a:rPr kumimoji="1" lang="en-US" altLang="zh-CN" dirty="0" smtClean="0">
                <a:solidFill>
                  <a:srgbClr val="C00000"/>
                </a:solidFill>
              </a:rPr>
              <a:t>d5</a:t>
            </a:r>
            <a:endParaRPr kumimoji="1" lang="en-US" altLang="zh-CN" dirty="0">
              <a:solidFill>
                <a:srgbClr val="C00000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88101" y="4179089"/>
            <a:ext cx="64312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rgbClr val="000000"/>
                </a:solidFill>
                <a:latin typeface="Helvetica Neue" charset="0"/>
              </a:rPr>
              <a:t>🔔</a:t>
            </a:r>
            <a:r>
              <a:rPr lang="zh-CN" altLang="en-US" sz="2800" dirty="0">
                <a:solidFill>
                  <a:srgbClr val="000000"/>
                </a:solidFill>
                <a:latin typeface="Helvetica Neue" charset="0"/>
              </a:rPr>
              <a:t> 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1663223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LSI</a:t>
            </a:r>
            <a:r>
              <a:rPr lang="zh-CN" altLang="en-US" dirty="0"/>
              <a:t>举例</a:t>
            </a:r>
            <a:endParaRPr lang="en-US" altLang="zh-CN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9522" y="837598"/>
            <a:ext cx="5364956" cy="2964656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86CF4488-F288-7243-B88D-5FF83C06DF02}"/>
              </a:ext>
            </a:extLst>
          </p:cNvPr>
          <p:cNvSpPr txBox="1"/>
          <p:nvPr/>
        </p:nvSpPr>
        <p:spPr>
          <a:xfrm>
            <a:off x="2402175" y="3963022"/>
            <a:ext cx="43396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两类文档</a:t>
            </a:r>
            <a:r>
              <a:rPr kumimoji="1" lang="en-US" altLang="zh-CN" dirty="0"/>
              <a:t>Title</a:t>
            </a:r>
            <a:r>
              <a:rPr kumimoji="1" lang="zh-CN" altLang="en-US" dirty="0"/>
              <a:t>：计算机（</a:t>
            </a:r>
            <a:r>
              <a:rPr kumimoji="1" lang="en-US" altLang="zh-CN" dirty="0"/>
              <a:t>c</a:t>
            </a:r>
            <a:r>
              <a:rPr kumimoji="1" lang="zh-CN" altLang="en-US" dirty="0"/>
              <a:t>）和数学（</a:t>
            </a:r>
            <a:r>
              <a:rPr kumimoji="1" lang="en-US" altLang="zh-CN" dirty="0"/>
              <a:t>m</a:t>
            </a:r>
            <a:r>
              <a:rPr kumimoji="1" lang="zh-CN" altLang="en-US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1296569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举例</a:t>
            </a:r>
            <a:endParaRPr lang="en-US" altLang="zh-CN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8821432"/>
              </p:ext>
            </p:extLst>
          </p:nvPr>
        </p:nvGraphicFramePr>
        <p:xfrm>
          <a:off x="2033718" y="1207757"/>
          <a:ext cx="5292583" cy="34359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8627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456257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456257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456257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456257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456257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456257">
                  <a:extLst>
                    <a:ext uri="{9D8B030D-6E8A-4147-A177-3AD203B41FA5}">
                      <a16:colId xmlns="" xmlns:a16="http://schemas.microsoft.com/office/drawing/2014/main" val="20006"/>
                    </a:ext>
                  </a:extLst>
                </a:gridCol>
                <a:gridCol w="456257">
                  <a:extLst>
                    <a:ext uri="{9D8B030D-6E8A-4147-A177-3AD203B41FA5}">
                      <a16:colId xmlns="" xmlns:a16="http://schemas.microsoft.com/office/drawing/2014/main" val="20007"/>
                    </a:ext>
                  </a:extLst>
                </a:gridCol>
                <a:gridCol w="456257">
                  <a:extLst>
                    <a:ext uri="{9D8B030D-6E8A-4147-A177-3AD203B41FA5}">
                      <a16:colId xmlns="" xmlns:a16="http://schemas.microsoft.com/office/drawing/2014/main" val="20008"/>
                    </a:ext>
                  </a:extLst>
                </a:gridCol>
                <a:gridCol w="456257">
                  <a:extLst>
                    <a:ext uri="{9D8B030D-6E8A-4147-A177-3AD203B41FA5}">
                      <a16:colId xmlns="" xmlns:a16="http://schemas.microsoft.com/office/drawing/2014/main" val="20009"/>
                    </a:ext>
                  </a:extLst>
                </a:gridCol>
              </a:tblGrid>
              <a:tr h="293389">
                <a:tc>
                  <a:txBody>
                    <a:bodyPr/>
                    <a:lstStyle/>
                    <a:p>
                      <a:pPr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 </a:t>
                      </a:r>
                      <a:endParaRPr lang="zh-CN" sz="1400" dirty="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3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</a:rPr>
                        <a:t>c1</a:t>
                      </a:r>
                      <a:endParaRPr lang="zh-CN" sz="1400" b="1" dirty="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3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</a:rPr>
                        <a:t>c2</a:t>
                      </a:r>
                      <a:endParaRPr lang="zh-CN" sz="1400" b="1" dirty="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3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</a:rPr>
                        <a:t>c3</a:t>
                      </a:r>
                      <a:endParaRPr lang="zh-CN" sz="1400" b="1" dirty="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3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</a:rPr>
                        <a:t>c4</a:t>
                      </a:r>
                      <a:endParaRPr lang="zh-CN" sz="1400" b="1" dirty="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3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</a:rPr>
                        <a:t>c5</a:t>
                      </a:r>
                      <a:endParaRPr lang="zh-CN" sz="1400" b="1" dirty="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3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</a:rPr>
                        <a:t>m1</a:t>
                      </a:r>
                      <a:endParaRPr lang="zh-CN" sz="1400" b="1" dirty="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3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</a:rPr>
                        <a:t>m2</a:t>
                      </a:r>
                      <a:endParaRPr lang="zh-CN" sz="1400" b="1" dirty="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3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</a:rPr>
                        <a:t>m3</a:t>
                      </a:r>
                      <a:endParaRPr lang="zh-CN" sz="1400" b="1" dirty="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3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</a:rPr>
                        <a:t>m4</a:t>
                      </a:r>
                      <a:endParaRPr lang="zh-CN" sz="1400" b="1" dirty="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0" marB="0"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5458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human </a:t>
                      </a:r>
                      <a:endParaRPr lang="zh-CN" sz="1400" b="1" dirty="0">
                        <a:effectLst/>
                        <a:latin typeface="Times New Roman" panose="02020603050405020304" pitchFamily="18" charset="0"/>
                        <a:ea typeface="Times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sz="1400">
                        <a:effectLst/>
                        <a:latin typeface="Times New Roman" panose="02020603050405020304" pitchFamily="18" charset="0"/>
                        <a:ea typeface="Times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sz="1400">
                        <a:effectLst/>
                        <a:latin typeface="Times New Roman" panose="02020603050405020304" pitchFamily="18" charset="0"/>
                        <a:ea typeface="Times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sz="1400">
                        <a:effectLst/>
                        <a:latin typeface="Times New Roman" panose="02020603050405020304" pitchFamily="18" charset="0"/>
                        <a:ea typeface="Times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sz="1400">
                        <a:effectLst/>
                        <a:latin typeface="Times New Roman" panose="02020603050405020304" pitchFamily="18" charset="0"/>
                        <a:ea typeface="Times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sz="1400">
                        <a:effectLst/>
                        <a:latin typeface="Times New Roman" panose="02020603050405020304" pitchFamily="18" charset="0"/>
                        <a:ea typeface="Times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sz="1400">
                        <a:effectLst/>
                        <a:latin typeface="Times New Roman" panose="02020603050405020304" pitchFamily="18" charset="0"/>
                        <a:ea typeface="Times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sz="1400">
                        <a:effectLst/>
                        <a:latin typeface="Times New Roman" panose="02020603050405020304" pitchFamily="18" charset="0"/>
                        <a:ea typeface="Times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sz="1400">
                        <a:effectLst/>
                        <a:latin typeface="Times New Roman" panose="02020603050405020304" pitchFamily="18" charset="0"/>
                        <a:ea typeface="Times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sz="1400">
                        <a:effectLst/>
                        <a:latin typeface="Times New Roman" panose="02020603050405020304" pitchFamily="18" charset="0"/>
                        <a:ea typeface="Times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0" marB="0"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25458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interface</a:t>
                      </a:r>
                      <a:endParaRPr lang="zh-CN" sz="1400" b="1" dirty="0">
                        <a:effectLst/>
                        <a:latin typeface="Times New Roman" panose="02020603050405020304" pitchFamily="18" charset="0"/>
                        <a:ea typeface="Times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sz="1400">
                        <a:effectLst/>
                        <a:latin typeface="Times New Roman" panose="02020603050405020304" pitchFamily="18" charset="0"/>
                        <a:ea typeface="Times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sz="1400">
                        <a:effectLst/>
                        <a:latin typeface="Times New Roman" panose="02020603050405020304" pitchFamily="18" charset="0"/>
                        <a:ea typeface="Times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sz="1400">
                        <a:effectLst/>
                        <a:latin typeface="Times New Roman" panose="02020603050405020304" pitchFamily="18" charset="0"/>
                        <a:ea typeface="Times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sz="1400" dirty="0">
                        <a:effectLst/>
                        <a:latin typeface="Times New Roman" panose="02020603050405020304" pitchFamily="18" charset="0"/>
                        <a:ea typeface="Times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sz="1400">
                        <a:effectLst/>
                        <a:latin typeface="Times New Roman" panose="02020603050405020304" pitchFamily="18" charset="0"/>
                        <a:ea typeface="Times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sz="1400">
                        <a:effectLst/>
                        <a:latin typeface="Times New Roman" panose="02020603050405020304" pitchFamily="18" charset="0"/>
                        <a:ea typeface="Times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sz="1400">
                        <a:effectLst/>
                        <a:latin typeface="Times New Roman" panose="02020603050405020304" pitchFamily="18" charset="0"/>
                        <a:ea typeface="Times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sz="1400">
                        <a:effectLst/>
                        <a:latin typeface="Times New Roman" panose="02020603050405020304" pitchFamily="18" charset="0"/>
                        <a:ea typeface="Times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sz="1400">
                        <a:effectLst/>
                        <a:latin typeface="Times New Roman" panose="02020603050405020304" pitchFamily="18" charset="0"/>
                        <a:ea typeface="Times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0" marB="0"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25458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computer</a:t>
                      </a:r>
                      <a:endParaRPr lang="zh-CN" sz="1400" b="1" dirty="0">
                        <a:effectLst/>
                        <a:latin typeface="Times New Roman" panose="02020603050405020304" pitchFamily="18" charset="0"/>
                        <a:ea typeface="Times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sz="1400" dirty="0">
                        <a:effectLst/>
                        <a:latin typeface="Times New Roman" panose="02020603050405020304" pitchFamily="18" charset="0"/>
                        <a:ea typeface="Times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sz="1400">
                        <a:effectLst/>
                        <a:latin typeface="Times New Roman" panose="02020603050405020304" pitchFamily="18" charset="0"/>
                        <a:ea typeface="Times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sz="1400">
                        <a:effectLst/>
                        <a:latin typeface="Times New Roman" panose="02020603050405020304" pitchFamily="18" charset="0"/>
                        <a:ea typeface="Times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sz="1400">
                        <a:effectLst/>
                        <a:latin typeface="Times New Roman" panose="02020603050405020304" pitchFamily="18" charset="0"/>
                        <a:ea typeface="Times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sz="1400">
                        <a:effectLst/>
                        <a:latin typeface="Times New Roman" panose="02020603050405020304" pitchFamily="18" charset="0"/>
                        <a:ea typeface="Times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sz="1400">
                        <a:effectLst/>
                        <a:latin typeface="Times New Roman" panose="02020603050405020304" pitchFamily="18" charset="0"/>
                        <a:ea typeface="Times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sz="1400">
                        <a:effectLst/>
                        <a:latin typeface="Times New Roman" panose="02020603050405020304" pitchFamily="18" charset="0"/>
                        <a:ea typeface="Times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sz="1400">
                        <a:effectLst/>
                        <a:latin typeface="Times New Roman" panose="02020603050405020304" pitchFamily="18" charset="0"/>
                        <a:ea typeface="Times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sz="1400">
                        <a:effectLst/>
                        <a:latin typeface="Times New Roman" panose="02020603050405020304" pitchFamily="18" charset="0"/>
                        <a:ea typeface="Times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0" marB="0"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25458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user</a:t>
                      </a:r>
                      <a:endParaRPr lang="zh-CN" sz="1400" b="1" dirty="0">
                        <a:effectLst/>
                        <a:latin typeface="Times New Roman" panose="02020603050405020304" pitchFamily="18" charset="0"/>
                        <a:ea typeface="Times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sz="1400" dirty="0">
                        <a:effectLst/>
                        <a:latin typeface="Times New Roman" panose="02020603050405020304" pitchFamily="18" charset="0"/>
                        <a:ea typeface="Times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sz="1400" dirty="0">
                        <a:effectLst/>
                        <a:latin typeface="Times New Roman" panose="02020603050405020304" pitchFamily="18" charset="0"/>
                        <a:ea typeface="Times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sz="1400">
                        <a:effectLst/>
                        <a:latin typeface="Times New Roman" panose="02020603050405020304" pitchFamily="18" charset="0"/>
                        <a:ea typeface="Times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sz="1400">
                        <a:effectLst/>
                        <a:latin typeface="Times New Roman" panose="02020603050405020304" pitchFamily="18" charset="0"/>
                        <a:ea typeface="Times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sz="1400">
                        <a:effectLst/>
                        <a:latin typeface="Times New Roman" panose="02020603050405020304" pitchFamily="18" charset="0"/>
                        <a:ea typeface="Times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sz="1400">
                        <a:effectLst/>
                        <a:latin typeface="Times New Roman" panose="02020603050405020304" pitchFamily="18" charset="0"/>
                        <a:ea typeface="Times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sz="1400">
                        <a:effectLst/>
                        <a:latin typeface="Times New Roman" panose="02020603050405020304" pitchFamily="18" charset="0"/>
                        <a:ea typeface="Times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sz="1400">
                        <a:effectLst/>
                        <a:latin typeface="Times New Roman" panose="02020603050405020304" pitchFamily="18" charset="0"/>
                        <a:ea typeface="Times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sz="1400" dirty="0">
                        <a:effectLst/>
                        <a:latin typeface="Times New Roman" panose="02020603050405020304" pitchFamily="18" charset="0"/>
                        <a:ea typeface="Times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0" marB="0"/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25458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system</a:t>
                      </a:r>
                      <a:endParaRPr lang="zh-CN" sz="1400" b="1" dirty="0">
                        <a:effectLst/>
                        <a:latin typeface="Times New Roman" panose="02020603050405020304" pitchFamily="18" charset="0"/>
                        <a:ea typeface="Times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sz="1400">
                        <a:effectLst/>
                        <a:latin typeface="Times New Roman" panose="02020603050405020304" pitchFamily="18" charset="0"/>
                        <a:ea typeface="Times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sz="1400" dirty="0">
                        <a:effectLst/>
                        <a:latin typeface="Times New Roman" panose="02020603050405020304" pitchFamily="18" charset="0"/>
                        <a:ea typeface="Times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sz="1400" dirty="0">
                        <a:effectLst/>
                        <a:latin typeface="Times New Roman" panose="02020603050405020304" pitchFamily="18" charset="0"/>
                        <a:ea typeface="Times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CN" sz="1400">
                        <a:effectLst/>
                        <a:latin typeface="Times New Roman" panose="02020603050405020304" pitchFamily="18" charset="0"/>
                        <a:ea typeface="Times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sz="1400">
                        <a:effectLst/>
                        <a:latin typeface="Times New Roman" panose="02020603050405020304" pitchFamily="18" charset="0"/>
                        <a:ea typeface="Times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sz="1400">
                        <a:effectLst/>
                        <a:latin typeface="Times New Roman" panose="02020603050405020304" pitchFamily="18" charset="0"/>
                        <a:ea typeface="Times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sz="1400">
                        <a:effectLst/>
                        <a:latin typeface="Times New Roman" panose="02020603050405020304" pitchFamily="18" charset="0"/>
                        <a:ea typeface="Times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sz="1400">
                        <a:effectLst/>
                        <a:latin typeface="Times New Roman" panose="02020603050405020304" pitchFamily="18" charset="0"/>
                        <a:ea typeface="Times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sz="1400">
                        <a:effectLst/>
                        <a:latin typeface="Times New Roman" panose="02020603050405020304" pitchFamily="18" charset="0"/>
                        <a:ea typeface="Times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0" marB="0"/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25458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response</a:t>
                      </a:r>
                      <a:endParaRPr lang="zh-CN" sz="1400" b="1" dirty="0">
                        <a:effectLst/>
                        <a:latin typeface="Times New Roman" panose="02020603050405020304" pitchFamily="18" charset="0"/>
                        <a:ea typeface="Times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sz="1400">
                        <a:effectLst/>
                        <a:latin typeface="Times New Roman" panose="02020603050405020304" pitchFamily="18" charset="0"/>
                        <a:ea typeface="Times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sz="1400">
                        <a:effectLst/>
                        <a:latin typeface="Times New Roman" panose="02020603050405020304" pitchFamily="18" charset="0"/>
                        <a:ea typeface="Times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sz="1400" dirty="0">
                        <a:effectLst/>
                        <a:latin typeface="Times New Roman" panose="02020603050405020304" pitchFamily="18" charset="0"/>
                        <a:ea typeface="Times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sz="1400">
                        <a:effectLst/>
                        <a:latin typeface="Times New Roman" panose="02020603050405020304" pitchFamily="18" charset="0"/>
                        <a:ea typeface="Times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sz="1400">
                        <a:effectLst/>
                        <a:latin typeface="Times New Roman" panose="02020603050405020304" pitchFamily="18" charset="0"/>
                        <a:ea typeface="Times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sz="1400">
                        <a:effectLst/>
                        <a:latin typeface="Times New Roman" panose="02020603050405020304" pitchFamily="18" charset="0"/>
                        <a:ea typeface="Times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sz="1400">
                        <a:effectLst/>
                        <a:latin typeface="Times New Roman" panose="02020603050405020304" pitchFamily="18" charset="0"/>
                        <a:ea typeface="Times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sz="1400">
                        <a:effectLst/>
                        <a:latin typeface="Times New Roman" panose="02020603050405020304" pitchFamily="18" charset="0"/>
                        <a:ea typeface="Times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sz="1400">
                        <a:effectLst/>
                        <a:latin typeface="Times New Roman" panose="02020603050405020304" pitchFamily="18" charset="0"/>
                        <a:ea typeface="Times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0" marB="0"/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25458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time</a:t>
                      </a:r>
                      <a:endParaRPr lang="zh-CN" sz="1400" b="1" dirty="0">
                        <a:effectLst/>
                        <a:latin typeface="Times New Roman" panose="02020603050405020304" pitchFamily="18" charset="0"/>
                        <a:ea typeface="Times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sz="1400">
                        <a:effectLst/>
                        <a:latin typeface="Times New Roman" panose="02020603050405020304" pitchFamily="18" charset="0"/>
                        <a:ea typeface="Times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sz="1400">
                        <a:effectLst/>
                        <a:latin typeface="Times New Roman" panose="02020603050405020304" pitchFamily="18" charset="0"/>
                        <a:ea typeface="Times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sz="1400" dirty="0">
                        <a:effectLst/>
                        <a:latin typeface="Times New Roman" panose="02020603050405020304" pitchFamily="18" charset="0"/>
                        <a:ea typeface="Times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sz="1400" dirty="0">
                        <a:effectLst/>
                        <a:latin typeface="Times New Roman" panose="02020603050405020304" pitchFamily="18" charset="0"/>
                        <a:ea typeface="Times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sz="1400">
                        <a:effectLst/>
                        <a:latin typeface="Times New Roman" panose="02020603050405020304" pitchFamily="18" charset="0"/>
                        <a:ea typeface="Times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sz="1400">
                        <a:effectLst/>
                        <a:latin typeface="Times New Roman" panose="02020603050405020304" pitchFamily="18" charset="0"/>
                        <a:ea typeface="Times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sz="1400">
                        <a:effectLst/>
                        <a:latin typeface="Times New Roman" panose="02020603050405020304" pitchFamily="18" charset="0"/>
                        <a:ea typeface="Times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sz="1400">
                        <a:effectLst/>
                        <a:latin typeface="Times New Roman" panose="02020603050405020304" pitchFamily="18" charset="0"/>
                        <a:ea typeface="Times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sz="1400">
                        <a:effectLst/>
                        <a:latin typeface="Times New Roman" panose="02020603050405020304" pitchFamily="18" charset="0"/>
                        <a:ea typeface="Times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0" marB="0"/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25458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EPS</a:t>
                      </a:r>
                      <a:endParaRPr lang="zh-CN" sz="1400" b="1" dirty="0">
                        <a:effectLst/>
                        <a:latin typeface="Times New Roman" panose="02020603050405020304" pitchFamily="18" charset="0"/>
                        <a:ea typeface="Times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sz="1400">
                        <a:effectLst/>
                        <a:latin typeface="Times New Roman" panose="02020603050405020304" pitchFamily="18" charset="0"/>
                        <a:ea typeface="Times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sz="1400">
                        <a:effectLst/>
                        <a:latin typeface="Times New Roman" panose="02020603050405020304" pitchFamily="18" charset="0"/>
                        <a:ea typeface="Times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sz="1400">
                        <a:effectLst/>
                        <a:latin typeface="Times New Roman" panose="02020603050405020304" pitchFamily="18" charset="0"/>
                        <a:ea typeface="Times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sz="1400" dirty="0">
                        <a:effectLst/>
                        <a:latin typeface="Times New Roman" panose="02020603050405020304" pitchFamily="18" charset="0"/>
                        <a:ea typeface="Times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sz="1400" dirty="0">
                        <a:effectLst/>
                        <a:latin typeface="Times New Roman" panose="02020603050405020304" pitchFamily="18" charset="0"/>
                        <a:ea typeface="Times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sz="1400">
                        <a:effectLst/>
                        <a:latin typeface="Times New Roman" panose="02020603050405020304" pitchFamily="18" charset="0"/>
                        <a:ea typeface="Times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sz="1400">
                        <a:effectLst/>
                        <a:latin typeface="Times New Roman" panose="02020603050405020304" pitchFamily="18" charset="0"/>
                        <a:ea typeface="Times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sz="1400">
                        <a:effectLst/>
                        <a:latin typeface="Times New Roman" panose="02020603050405020304" pitchFamily="18" charset="0"/>
                        <a:ea typeface="Times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sz="1400">
                        <a:effectLst/>
                        <a:latin typeface="Times New Roman" panose="02020603050405020304" pitchFamily="18" charset="0"/>
                        <a:ea typeface="Times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0" marB="0"/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  <a:tr h="25458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survey</a:t>
                      </a:r>
                      <a:endParaRPr lang="zh-CN" sz="1400" b="1" dirty="0">
                        <a:effectLst/>
                        <a:latin typeface="Times New Roman" panose="02020603050405020304" pitchFamily="18" charset="0"/>
                        <a:ea typeface="Times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sz="1400">
                        <a:effectLst/>
                        <a:latin typeface="Times New Roman" panose="02020603050405020304" pitchFamily="18" charset="0"/>
                        <a:ea typeface="Times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sz="1400">
                        <a:effectLst/>
                        <a:latin typeface="Times New Roman" panose="02020603050405020304" pitchFamily="18" charset="0"/>
                        <a:ea typeface="Times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sz="1400">
                        <a:effectLst/>
                        <a:latin typeface="Times New Roman" panose="02020603050405020304" pitchFamily="18" charset="0"/>
                        <a:ea typeface="Times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sz="1400">
                        <a:effectLst/>
                        <a:latin typeface="Times New Roman" panose="02020603050405020304" pitchFamily="18" charset="0"/>
                        <a:ea typeface="Times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sz="1400" dirty="0">
                        <a:effectLst/>
                        <a:latin typeface="Times New Roman" panose="02020603050405020304" pitchFamily="18" charset="0"/>
                        <a:ea typeface="Times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sz="1400" dirty="0">
                        <a:effectLst/>
                        <a:latin typeface="Times New Roman" panose="02020603050405020304" pitchFamily="18" charset="0"/>
                        <a:ea typeface="Times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sz="1400">
                        <a:effectLst/>
                        <a:latin typeface="Times New Roman" panose="02020603050405020304" pitchFamily="18" charset="0"/>
                        <a:ea typeface="Times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sz="1400">
                        <a:effectLst/>
                        <a:latin typeface="Times New Roman" panose="02020603050405020304" pitchFamily="18" charset="0"/>
                        <a:ea typeface="Times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sz="1400">
                        <a:effectLst/>
                        <a:latin typeface="Times New Roman" panose="02020603050405020304" pitchFamily="18" charset="0"/>
                        <a:ea typeface="Times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0" marB="0"/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25458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trees </a:t>
                      </a:r>
                      <a:endParaRPr lang="zh-CN" sz="1400" b="1" dirty="0">
                        <a:effectLst/>
                        <a:latin typeface="Times New Roman" panose="02020603050405020304" pitchFamily="18" charset="0"/>
                        <a:ea typeface="Times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sz="1400">
                        <a:effectLst/>
                        <a:latin typeface="Times New Roman" panose="02020603050405020304" pitchFamily="18" charset="0"/>
                        <a:ea typeface="Times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sz="1400">
                        <a:effectLst/>
                        <a:latin typeface="Times New Roman" panose="02020603050405020304" pitchFamily="18" charset="0"/>
                        <a:ea typeface="Times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sz="1400">
                        <a:effectLst/>
                        <a:latin typeface="Times New Roman" panose="02020603050405020304" pitchFamily="18" charset="0"/>
                        <a:ea typeface="Times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sz="1400">
                        <a:effectLst/>
                        <a:latin typeface="Times New Roman" panose="02020603050405020304" pitchFamily="18" charset="0"/>
                        <a:ea typeface="Times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sz="1400">
                        <a:effectLst/>
                        <a:latin typeface="Times New Roman" panose="02020603050405020304" pitchFamily="18" charset="0"/>
                        <a:ea typeface="Times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sz="1400" dirty="0">
                        <a:effectLst/>
                        <a:latin typeface="Times New Roman" panose="02020603050405020304" pitchFamily="18" charset="0"/>
                        <a:ea typeface="Times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sz="1400" dirty="0">
                        <a:effectLst/>
                        <a:latin typeface="Times New Roman" panose="02020603050405020304" pitchFamily="18" charset="0"/>
                        <a:ea typeface="Times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sz="1400">
                        <a:effectLst/>
                        <a:latin typeface="Times New Roman" panose="02020603050405020304" pitchFamily="18" charset="0"/>
                        <a:ea typeface="Times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sz="1400">
                        <a:effectLst/>
                        <a:latin typeface="Times New Roman" panose="02020603050405020304" pitchFamily="18" charset="0"/>
                        <a:ea typeface="Times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0" marB="0"/>
                </a:tc>
                <a:extLst>
                  <a:ext uri="{0D108BD9-81ED-4DB2-BD59-A6C34878D82A}">
                    <a16:rowId xmlns="" xmlns:a16="http://schemas.microsoft.com/office/drawing/2014/main" val="10010"/>
                  </a:ext>
                </a:extLst>
              </a:tr>
              <a:tr h="25458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graph </a:t>
                      </a:r>
                      <a:endParaRPr lang="zh-CN" sz="1400" b="1" dirty="0">
                        <a:effectLst/>
                        <a:latin typeface="Times New Roman" panose="02020603050405020304" pitchFamily="18" charset="0"/>
                        <a:ea typeface="Times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sz="1400">
                        <a:effectLst/>
                        <a:latin typeface="Times New Roman" panose="02020603050405020304" pitchFamily="18" charset="0"/>
                        <a:ea typeface="Times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sz="1400">
                        <a:effectLst/>
                        <a:latin typeface="Times New Roman" panose="02020603050405020304" pitchFamily="18" charset="0"/>
                        <a:ea typeface="Times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sz="1400">
                        <a:effectLst/>
                        <a:latin typeface="Times New Roman" panose="02020603050405020304" pitchFamily="18" charset="0"/>
                        <a:ea typeface="Times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sz="1400">
                        <a:effectLst/>
                        <a:latin typeface="Times New Roman" panose="02020603050405020304" pitchFamily="18" charset="0"/>
                        <a:ea typeface="Times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sz="1400">
                        <a:effectLst/>
                        <a:latin typeface="Times New Roman" panose="02020603050405020304" pitchFamily="18" charset="0"/>
                        <a:ea typeface="Times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sz="1400">
                        <a:effectLst/>
                        <a:latin typeface="Times New Roman" panose="02020603050405020304" pitchFamily="18" charset="0"/>
                        <a:ea typeface="Times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sz="1400" dirty="0">
                        <a:effectLst/>
                        <a:latin typeface="Times New Roman" panose="02020603050405020304" pitchFamily="18" charset="0"/>
                        <a:ea typeface="Times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sz="1400" dirty="0">
                        <a:effectLst/>
                        <a:latin typeface="Times New Roman" panose="02020603050405020304" pitchFamily="18" charset="0"/>
                        <a:ea typeface="Times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sz="1400">
                        <a:effectLst/>
                        <a:latin typeface="Times New Roman" panose="02020603050405020304" pitchFamily="18" charset="0"/>
                        <a:ea typeface="Times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0" marB="0"/>
                </a:tc>
                <a:extLst>
                  <a:ext uri="{0D108BD9-81ED-4DB2-BD59-A6C34878D82A}">
                    <a16:rowId xmlns="" xmlns:a16="http://schemas.microsoft.com/office/drawing/2014/main" val="10011"/>
                  </a:ext>
                </a:extLst>
              </a:tr>
              <a:tr h="25458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minors</a:t>
                      </a:r>
                      <a:endParaRPr lang="zh-CN" sz="1400" b="1" dirty="0">
                        <a:effectLst/>
                        <a:latin typeface="Times New Roman" panose="02020603050405020304" pitchFamily="18" charset="0"/>
                        <a:ea typeface="Times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sz="1400" dirty="0">
                        <a:effectLst/>
                        <a:latin typeface="Times New Roman" panose="02020603050405020304" pitchFamily="18" charset="0"/>
                        <a:ea typeface="Times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sz="1400">
                        <a:effectLst/>
                        <a:latin typeface="Times New Roman" panose="02020603050405020304" pitchFamily="18" charset="0"/>
                        <a:ea typeface="Times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sz="1400">
                        <a:effectLst/>
                        <a:latin typeface="Times New Roman" panose="02020603050405020304" pitchFamily="18" charset="0"/>
                        <a:ea typeface="Times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sz="1400">
                        <a:effectLst/>
                        <a:latin typeface="Times New Roman" panose="02020603050405020304" pitchFamily="18" charset="0"/>
                        <a:ea typeface="Times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sz="1400">
                        <a:effectLst/>
                        <a:latin typeface="Times New Roman" panose="02020603050405020304" pitchFamily="18" charset="0"/>
                        <a:ea typeface="Times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sz="1400">
                        <a:effectLst/>
                        <a:latin typeface="Times New Roman" panose="02020603050405020304" pitchFamily="18" charset="0"/>
                        <a:ea typeface="Times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sz="1400">
                        <a:effectLst/>
                        <a:latin typeface="Times New Roman" panose="02020603050405020304" pitchFamily="18" charset="0"/>
                        <a:ea typeface="Times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sz="1400" dirty="0">
                        <a:effectLst/>
                        <a:latin typeface="Times New Roman" panose="02020603050405020304" pitchFamily="18" charset="0"/>
                        <a:ea typeface="Times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sz="1400" dirty="0">
                        <a:effectLst/>
                        <a:latin typeface="Times New Roman" panose="02020603050405020304" pitchFamily="18" charset="0"/>
                        <a:ea typeface="Times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0" marB="0"/>
                </a:tc>
                <a:extLst>
                  <a:ext uri="{0D108BD9-81ED-4DB2-BD59-A6C34878D82A}">
                    <a16:rowId xmlns=""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7" name="文本框 6"/>
          <p:cNvSpPr txBox="1"/>
          <p:nvPr/>
        </p:nvSpPr>
        <p:spPr>
          <a:xfrm>
            <a:off x="4396351" y="671344"/>
            <a:ext cx="434734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zh-CN" altLang="en-US" sz="27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5"/>
          <p:cNvSpPr/>
          <p:nvPr/>
        </p:nvSpPr>
        <p:spPr>
          <a:xfrm>
            <a:off x="1461129" y="1397232"/>
            <a:ext cx="540533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350" dirty="0">
                <a:latin typeface="Times New Roman" pitchFamily="18" charset="0"/>
                <a:cs typeface="Times New Roman" pitchFamily="18" charset="0"/>
              </a:rPr>
              <a:t>word</a:t>
            </a:r>
            <a:endParaRPr lang="en-US" sz="1350" dirty="0"/>
          </a:p>
        </p:txBody>
      </p:sp>
      <p:sp>
        <p:nvSpPr>
          <p:cNvPr id="12" name="Line 9"/>
          <p:cNvSpPr>
            <a:spLocks noChangeShapeType="1"/>
          </p:cNvSpPr>
          <p:nvPr/>
        </p:nvSpPr>
        <p:spPr bwMode="auto">
          <a:xfrm>
            <a:off x="1621377" y="1639805"/>
            <a:ext cx="351812" cy="0"/>
          </a:xfrm>
          <a:prstGeom prst="line">
            <a:avLst/>
          </a:prstGeom>
          <a:noFill/>
          <a:ln w="38100" cmpd="dbl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13" name="Rectangle 7"/>
          <p:cNvSpPr/>
          <p:nvPr/>
        </p:nvSpPr>
        <p:spPr>
          <a:xfrm>
            <a:off x="3059832" y="584287"/>
            <a:ext cx="867545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350" dirty="0">
                <a:latin typeface="Times New Roman" pitchFamily="18" charset="0"/>
                <a:cs typeface="Times New Roman" pitchFamily="18" charset="0"/>
              </a:rPr>
              <a:t>document</a:t>
            </a:r>
            <a:endParaRPr lang="en-US" sz="1350" dirty="0"/>
          </a:p>
        </p:txBody>
      </p:sp>
      <p:sp>
        <p:nvSpPr>
          <p:cNvPr id="14" name="Line 15"/>
          <p:cNvSpPr>
            <a:spLocks noChangeShapeType="1"/>
          </p:cNvSpPr>
          <p:nvPr/>
        </p:nvSpPr>
        <p:spPr bwMode="auto">
          <a:xfrm rot="5400000">
            <a:off x="3291298" y="928209"/>
            <a:ext cx="257440" cy="0"/>
          </a:xfrm>
          <a:prstGeom prst="line">
            <a:avLst/>
          </a:prstGeom>
          <a:noFill/>
          <a:ln w="38100" cmpd="dbl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9" name="文本框 8">
            <a:extLst>
              <a:ext uri="{FF2B5EF4-FFF2-40B4-BE49-F238E27FC236}">
                <a16:creationId xmlns="" xmlns:a16="http://schemas.microsoft.com/office/drawing/2014/main" id="{E608D7BC-B86F-2947-9255-4C1A02584621}"/>
              </a:ext>
            </a:extLst>
          </p:cNvPr>
          <p:cNvSpPr txBox="1"/>
          <p:nvPr/>
        </p:nvSpPr>
        <p:spPr>
          <a:xfrm>
            <a:off x="2309232" y="4731268"/>
            <a:ext cx="4741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单词</a:t>
            </a:r>
            <a:r>
              <a:rPr kumimoji="1" lang="en-US" altLang="zh-CN" dirty="0"/>
              <a:t>-</a:t>
            </a:r>
            <a:r>
              <a:rPr kumimoji="1" lang="zh-CN" altLang="en-US" dirty="0"/>
              <a:t>文档矩阵：值为单词频率，大部分值为</a:t>
            </a:r>
            <a:r>
              <a:rPr kumimoji="1" lang="en-US" altLang="zh-CN" dirty="0"/>
              <a:t>0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864069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700" dirty="0"/>
              <a:t>举例</a:t>
            </a:r>
            <a:endParaRPr lang="en-US" altLang="zh-CN" sz="2700" dirty="0">
              <a:latin typeface="华文楷体" panose="02010600040101010101" pitchFamily="2" charset="-122"/>
              <a:ea typeface="华文楷体" panose="02010600040101010101" pitchFamily="2" charset="-122"/>
              <a:cs typeface="Times" panose="02020603050405020304" pitchFamily="18" charset="0"/>
            </a:endParaRPr>
          </a:p>
        </p:txBody>
      </p:sp>
      <p:graphicFrame>
        <p:nvGraphicFramePr>
          <p:cNvPr id="20483" name="Object 3"/>
          <p:cNvGraphicFramePr>
            <a:graphicFrameLocks noGrp="1" noChangeAspect="1"/>
          </p:cNvGraphicFramePr>
          <p:nvPr>
            <p:ph type="tbl" idx="4294967295"/>
            <p:extLst>
              <p:ext uri="{D42A27DB-BD31-4B8C-83A1-F6EECF244321}">
                <p14:modId xmlns:p14="http://schemas.microsoft.com/office/powerpoint/2010/main" val="3326816387"/>
              </p:ext>
            </p:extLst>
          </p:nvPr>
        </p:nvGraphicFramePr>
        <p:xfrm>
          <a:off x="1861140" y="1399365"/>
          <a:ext cx="6221108" cy="26360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13" name="Document" r:id="rId4" imgW="5605603" imgH="2284958" progId="Word.Document.8">
                  <p:embed/>
                </p:oleObj>
              </mc:Choice>
              <mc:Fallback>
                <p:oleObj name="Document" r:id="rId4" imgW="5605603" imgH="2284958" progId="Word.Document.8">
                  <p:embed/>
                  <p:pic>
                    <p:nvPicPr>
                      <p:cNvPr id="20483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61140" y="1399365"/>
                        <a:ext cx="6221108" cy="263604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0484" name="Rectangle 4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1334815" y="854183"/>
                <a:ext cx="5909072" cy="3086100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𝐷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=</m:t>
                      </m:r>
                      <m:r>
                        <a:rPr lang="en-US" altLang="zh-CN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𝑈</m:t>
                      </m:r>
                      <m:r>
                        <m:rPr>
                          <m:sty m:val="p"/>
                        </m:rPr>
                        <a:rPr lang="en-US" altLang="zh-CN" b="0" i="0" smtClean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Σ</m:t>
                      </m:r>
                      <m:sSup>
                        <m:sSupPr>
                          <m:ctrlPr>
                            <a:rPr lang="en-US" altLang="zh-CN" b="0" i="1" smtClean="0">
                              <a:latin typeface="Cambria Math" charset="0"/>
                              <a:ea typeface="宋体" panose="02010600030101010101" pitchFamily="2" charset="-122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𝑉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en-US" altLang="zh-CN" dirty="0">
                  <a:ea typeface="宋体" panose="02010600030101010101" pitchFamily="2" charset="-122"/>
                </a:endParaRPr>
              </a:p>
              <a:p>
                <a:pPr marL="0" indent="0">
                  <a:buNone/>
                </a:pPr>
                <a:endParaRPr lang="en-US" altLang="zh-CN" dirty="0">
                  <a:ea typeface="宋体" panose="02010600030101010101" pitchFamily="2" charset="-122"/>
                </a:endParaRPr>
              </a:p>
              <a:p>
                <a:pPr marL="0" indent="0">
                  <a:buNone/>
                </a:pPr>
                <a:endParaRPr lang="en-US" altLang="zh-CN" dirty="0">
                  <a:ea typeface="宋体" panose="02010600030101010101" pitchFamily="2" charset="-122"/>
                </a:endParaRPr>
              </a:p>
              <a:p>
                <a:pPr marL="0" indent="0">
                  <a:buNone/>
                </a:pPr>
                <a:endParaRPr lang="en-US" altLang="zh-CN" dirty="0">
                  <a:ea typeface="宋体" panose="02010600030101010101" pitchFamily="2" charset="-122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𝑈</m:t>
                    </m:r>
                  </m:oMath>
                </a14:m>
                <a:r>
                  <a:rPr lang="en-US" altLang="zh-CN" dirty="0">
                    <a:ea typeface="宋体" panose="02010600030101010101" pitchFamily="2" charset="-122"/>
                  </a:rPr>
                  <a:t>=</a:t>
                </a:r>
              </a:p>
            </p:txBody>
          </p:sp>
        </mc:Choice>
        <mc:Fallback xmlns="">
          <p:sp>
            <p:nvSpPr>
              <p:cNvPr id="20484" name="Rectangle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334815" y="854183"/>
                <a:ext cx="5909072" cy="3086100"/>
              </a:xfr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5"/>
          <p:cNvSpPr/>
          <p:nvPr/>
        </p:nvSpPr>
        <p:spPr>
          <a:xfrm>
            <a:off x="1138943" y="1358030"/>
            <a:ext cx="540533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350" dirty="0">
                <a:latin typeface="Times New Roman" pitchFamily="18" charset="0"/>
                <a:cs typeface="Times New Roman" pitchFamily="18" charset="0"/>
              </a:rPr>
              <a:t>word</a:t>
            </a:r>
            <a:endParaRPr lang="en-US" sz="1350" dirty="0"/>
          </a:p>
        </p:txBody>
      </p:sp>
      <p:sp>
        <p:nvSpPr>
          <p:cNvPr id="6" name="Line 9"/>
          <p:cNvSpPr>
            <a:spLocks noChangeShapeType="1"/>
          </p:cNvSpPr>
          <p:nvPr/>
        </p:nvSpPr>
        <p:spPr bwMode="auto">
          <a:xfrm>
            <a:off x="1581872" y="1508071"/>
            <a:ext cx="351812" cy="0"/>
          </a:xfrm>
          <a:prstGeom prst="line">
            <a:avLst/>
          </a:prstGeom>
          <a:noFill/>
          <a:ln w="38100" cmpd="dbl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7" name="Rectangle 7"/>
          <p:cNvSpPr/>
          <p:nvPr/>
        </p:nvSpPr>
        <p:spPr>
          <a:xfrm>
            <a:off x="1793403" y="826692"/>
            <a:ext cx="569387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350" dirty="0">
                <a:latin typeface="Times New Roman" pitchFamily="18" charset="0"/>
                <a:cs typeface="Times New Roman" pitchFamily="18" charset="0"/>
              </a:rPr>
              <a:t>latent</a:t>
            </a:r>
            <a:endParaRPr lang="en-US" sz="1350" dirty="0"/>
          </a:p>
        </p:txBody>
      </p:sp>
      <p:sp>
        <p:nvSpPr>
          <p:cNvPr id="8" name="Line 15"/>
          <p:cNvSpPr>
            <a:spLocks noChangeShapeType="1"/>
          </p:cNvSpPr>
          <p:nvPr/>
        </p:nvSpPr>
        <p:spPr bwMode="auto">
          <a:xfrm rot="5400000">
            <a:off x="1932620" y="1255494"/>
            <a:ext cx="257440" cy="0"/>
          </a:xfrm>
          <a:prstGeom prst="line">
            <a:avLst/>
          </a:prstGeom>
          <a:noFill/>
          <a:ln w="38100" cmpd="dbl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9" name="右大括号 8"/>
          <p:cNvSpPr/>
          <p:nvPr/>
        </p:nvSpPr>
        <p:spPr>
          <a:xfrm rot="5400000">
            <a:off x="2516314" y="3390891"/>
            <a:ext cx="270030" cy="1217517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2100"/>
          </a:p>
        </p:txBody>
      </p:sp>
      <p:sp>
        <p:nvSpPr>
          <p:cNvPr id="10" name="文本框 9"/>
          <p:cNvSpPr txBox="1"/>
          <p:nvPr/>
        </p:nvSpPr>
        <p:spPr>
          <a:xfrm>
            <a:off x="2449832" y="4163639"/>
            <a:ext cx="595035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100" dirty="0"/>
              <a:t>K=2</a:t>
            </a:r>
            <a:endParaRPr lang="zh-CN" altLang="en-US" sz="2100" dirty="0"/>
          </a:p>
        </p:txBody>
      </p:sp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C2C80390-9F6C-6C46-A27D-34EC6443856A}"/>
              </a:ext>
            </a:extLst>
          </p:cNvPr>
          <p:cNvSpPr txBox="1"/>
          <p:nvPr/>
        </p:nvSpPr>
        <p:spPr>
          <a:xfrm>
            <a:off x="1679476" y="4633342"/>
            <a:ext cx="70459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SVD</a:t>
            </a:r>
            <a:r>
              <a:rPr kumimoji="1" lang="zh-CN" altLang="en-US" dirty="0"/>
              <a:t>得到的</a:t>
            </a:r>
            <a:r>
              <a:rPr kumimoji="1" lang="en-US" altLang="zh-CN" dirty="0"/>
              <a:t>U</a:t>
            </a:r>
            <a:r>
              <a:rPr kumimoji="1" lang="zh-CN" altLang="en-US" dirty="0"/>
              <a:t>矩阵，为稠密矩阵（左特征向量的顺序已经调整完毕）</a:t>
            </a:r>
          </a:p>
        </p:txBody>
      </p:sp>
    </p:spTree>
    <p:extLst>
      <p:ext uri="{BB962C8B-B14F-4D97-AF65-F5344CB8AC3E}">
        <p14:creationId xmlns:p14="http://schemas.microsoft.com/office/powerpoint/2010/main" val="33677885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700" dirty="0"/>
              <a:t>举例</a:t>
            </a:r>
            <a:endParaRPr lang="en-US" altLang="zh-CN" sz="2700" i="1" dirty="0">
              <a:solidFill>
                <a:srgbClr val="000099"/>
              </a:solidFill>
              <a:latin typeface="Arial Black" panose="020B0A04020102020204" pitchFamily="34" charset="0"/>
              <a:ea typeface="宋体" panose="02010600030101010101" pitchFamily="2" charset="-122"/>
              <a:cs typeface="Times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531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1485900" y="1078056"/>
                <a:ext cx="6172200" cy="3156998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smtClean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𝐷</m:t>
                      </m:r>
                      <m:r>
                        <a:rPr lang="en-US" altLang="zh-CN" i="1" smtClean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=</m:t>
                      </m:r>
                      <m:r>
                        <a:rPr lang="en-US" altLang="zh-CN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𝑈</m:t>
                      </m:r>
                      <m:r>
                        <m:rPr>
                          <m:sty m:val="p"/>
                        </m:rPr>
                        <a:rPr lang="en-US" altLang="zh-CN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Σ</m:t>
                      </m:r>
                      <m:sSup>
                        <m:sSupPr>
                          <m:ctrlPr>
                            <a:rPr lang="en-US" altLang="zh-CN" i="1">
                              <a:latin typeface="Cambria Math" charset="0"/>
                              <a:ea typeface="宋体" panose="02010600030101010101" pitchFamily="2" charset="-122"/>
                            </a:rPr>
                          </m:ctrlPr>
                        </m:sSupPr>
                        <m:e>
                          <m:r>
                            <a:rPr lang="en-US" altLang="zh-CN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𝑉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en-US" altLang="zh-CN" dirty="0">
                  <a:ea typeface="宋体" panose="02010600030101010101" pitchFamily="2" charset="-122"/>
                </a:endParaRPr>
              </a:p>
              <a:p>
                <a:pPr marL="0" indent="0">
                  <a:buNone/>
                </a:pPr>
                <a:endParaRPr lang="en-US" altLang="zh-CN" dirty="0">
                  <a:ea typeface="宋体" panose="02010600030101010101" pitchFamily="2" charset="-122"/>
                </a:endParaRPr>
              </a:p>
              <a:p>
                <a:pPr marL="0" indent="0">
                  <a:buNone/>
                </a:pPr>
                <a:endParaRPr lang="en-US" altLang="zh-CN" dirty="0">
                  <a:ea typeface="宋体" panose="02010600030101010101" pitchFamily="2" charset="-122"/>
                </a:endParaRPr>
              </a:p>
              <a:p>
                <a:pPr marL="0" indent="0">
                  <a:buNone/>
                </a:pPr>
                <a:endParaRPr lang="en-US" altLang="zh-CN" dirty="0">
                  <a:ea typeface="宋体" panose="02010600030101010101" pitchFamily="2" charset="-122"/>
                </a:endParaRPr>
              </a:p>
              <a:p>
                <a:pPr marL="0" indent="0">
                  <a:buNone/>
                </a:pPr>
                <a:endParaRPr lang="en-US" altLang="zh-CN" dirty="0">
                  <a:ea typeface="宋体" panose="02010600030101010101" pitchFamily="2" charset="-122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Σ</m:t>
                    </m:r>
                  </m:oMath>
                </a14:m>
                <a:r>
                  <a:rPr lang="en-US" altLang="zh-CN" dirty="0">
                    <a:ea typeface="宋体" panose="02010600030101010101" pitchFamily="2" charset="-122"/>
                  </a:rPr>
                  <a:t>=</a:t>
                </a:r>
              </a:p>
              <a:p>
                <a:pPr marL="0" indent="0">
                  <a:buNone/>
                </a:pPr>
                <a:endParaRPr lang="en-US" altLang="zh-CN" dirty="0">
                  <a:ea typeface="宋体" panose="02010600030101010101" pitchFamily="2" charset="-122"/>
                </a:endParaRPr>
              </a:p>
            </p:txBody>
          </p:sp>
        </mc:Choice>
        <mc:Fallback xmlns="">
          <p:sp>
            <p:nvSpPr>
              <p:cNvPr id="22531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485900" y="1078056"/>
                <a:ext cx="6172200" cy="3156998"/>
              </a:xfr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2532" name="Object 4"/>
          <p:cNvGraphicFramePr>
            <a:graphicFrameLocks noChangeAspect="1"/>
          </p:cNvGraphicFramePr>
          <p:nvPr>
            <p:extLst/>
          </p:nvPr>
        </p:nvGraphicFramePr>
        <p:xfrm>
          <a:off x="2057400" y="1950244"/>
          <a:ext cx="5687616" cy="17740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37" name="Document" r:id="rId5" imgW="5605603" imgH="1755275" progId="Word.Document.8">
                  <p:embed/>
                </p:oleObj>
              </mc:Choice>
              <mc:Fallback>
                <p:oleObj name="Document" r:id="rId5" imgW="5605603" imgH="1755275" progId="Word.Document.8">
                  <p:embed/>
                  <p:pic>
                    <p:nvPicPr>
                      <p:cNvPr id="2253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1950244"/>
                        <a:ext cx="5687616" cy="177403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右大括号 1"/>
          <p:cNvSpPr/>
          <p:nvPr/>
        </p:nvSpPr>
        <p:spPr>
          <a:xfrm rot="5400000">
            <a:off x="2532083" y="2047796"/>
            <a:ext cx="270030" cy="1217517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3" name="文本框 2"/>
          <p:cNvSpPr txBox="1"/>
          <p:nvPr/>
        </p:nvSpPr>
        <p:spPr>
          <a:xfrm>
            <a:off x="2465599" y="2820544"/>
            <a:ext cx="449162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50" dirty="0"/>
              <a:t>K=2</a:t>
            </a:r>
            <a:endParaRPr lang="zh-CN" altLang="en-US" sz="135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="" xmlns:a16="http://schemas.microsoft.com/office/drawing/2014/main" id="{F1776BCC-292D-6148-9176-A19E48DB3B7C}"/>
                  </a:ext>
                </a:extLst>
              </p:cNvPr>
              <p:cNvSpPr txBox="1"/>
              <p:nvPr/>
            </p:nvSpPr>
            <p:spPr>
              <a:xfrm>
                <a:off x="1263840" y="4516740"/>
                <a:ext cx="655435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CN" dirty="0"/>
                  <a:t>SVD</a:t>
                </a:r>
                <a:r>
                  <a:rPr kumimoji="1" lang="zh-CN" altLang="en-US" dirty="0"/>
                  <a:t>得到的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Σ</m:t>
                    </m:r>
                  </m:oMath>
                </a14:m>
                <a:r>
                  <a:rPr kumimoji="1" lang="zh-CN" altLang="en-US" dirty="0"/>
                  <a:t>矩阵，为对角方阵（特征根的顺序已经排序完毕）</a:t>
                </a: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F1776BCC-292D-6148-9176-A19E48DB3B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3840" y="4516740"/>
                <a:ext cx="6554358" cy="369332"/>
              </a:xfrm>
              <a:prstGeom prst="rect">
                <a:avLst/>
              </a:prstGeom>
              <a:blipFill>
                <a:blip r:embed="rId7"/>
                <a:stretch>
                  <a:fillRect l="-774" t="-13333" b="-2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061733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700" dirty="0"/>
              <a:t>举例</a:t>
            </a:r>
            <a:endParaRPr lang="en-US" altLang="zh-CN" sz="2700" i="1" dirty="0">
              <a:solidFill>
                <a:srgbClr val="000099"/>
              </a:solidFill>
              <a:latin typeface="Arial Black" panose="020B0A04020102020204" pitchFamily="34" charset="0"/>
              <a:ea typeface="宋体" panose="02010600030101010101" pitchFamily="2" charset="-122"/>
              <a:cs typeface="Times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579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1111233" y="966247"/>
                <a:ext cx="5737622" cy="3086100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smtClean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𝐷</m:t>
                      </m:r>
                      <m:r>
                        <a:rPr lang="en-US" altLang="zh-CN" i="1" smtClean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=</m:t>
                      </m:r>
                      <m:r>
                        <a:rPr lang="en-US" altLang="zh-CN" i="1" smtClean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𝑈</m:t>
                      </m:r>
                      <m:r>
                        <m:rPr>
                          <m:sty m:val="p"/>
                        </m:rPr>
                        <a:rPr lang="en-US" altLang="zh-CN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Σ</m:t>
                      </m:r>
                      <m:sSup>
                        <m:sSupPr>
                          <m:ctrlPr>
                            <a:rPr lang="en-US" altLang="zh-CN" i="1">
                              <a:latin typeface="Cambria Math" charset="0"/>
                              <a:ea typeface="宋体" panose="02010600030101010101" pitchFamily="2" charset="-122"/>
                            </a:rPr>
                          </m:ctrlPr>
                        </m:sSupPr>
                        <m:e>
                          <m:r>
                            <a:rPr lang="en-US" altLang="zh-CN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𝑉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en-US" altLang="zh-CN" dirty="0">
                  <a:ea typeface="宋体" panose="02010600030101010101" pitchFamily="2" charset="-122"/>
                </a:endParaRPr>
              </a:p>
              <a:p>
                <a:pPr marL="0" indent="0">
                  <a:buNone/>
                </a:pPr>
                <a:endParaRPr lang="en-US" altLang="zh-CN" dirty="0">
                  <a:ea typeface="宋体" panose="02010600030101010101" pitchFamily="2" charset="-122"/>
                </a:endParaRPr>
              </a:p>
              <a:p>
                <a:pPr marL="0" indent="0">
                  <a:buNone/>
                </a:pPr>
                <a:endParaRPr lang="en-US" altLang="zh-CN" dirty="0">
                  <a:ea typeface="宋体" panose="02010600030101010101" pitchFamily="2" charset="-122"/>
                </a:endParaRPr>
              </a:p>
              <a:p>
                <a:pPr marL="0" indent="0">
                  <a:buNone/>
                </a:pPr>
                <a:endParaRPr lang="en-US" altLang="zh-CN" dirty="0">
                  <a:ea typeface="宋体" panose="02010600030101010101" pitchFamily="2" charset="-122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𝑉</m:t>
                    </m:r>
                  </m:oMath>
                </a14:m>
                <a:r>
                  <a:rPr lang="en-US" altLang="zh-CN" dirty="0">
                    <a:ea typeface="宋体" panose="02010600030101010101" pitchFamily="2" charset="-122"/>
                  </a:rPr>
                  <a:t>=</a:t>
                </a:r>
              </a:p>
              <a:p>
                <a:pPr marL="0" indent="0">
                  <a:buNone/>
                </a:pPr>
                <a:endParaRPr lang="en-US" altLang="zh-CN" dirty="0">
                  <a:ea typeface="宋体" panose="02010600030101010101" pitchFamily="2" charset="-122"/>
                </a:endParaRPr>
              </a:p>
              <a:p>
                <a:pPr marL="0" indent="0">
                  <a:buNone/>
                </a:pPr>
                <a:endParaRPr lang="en-US" altLang="zh-CN" dirty="0">
                  <a:ea typeface="宋体" panose="02010600030101010101" pitchFamily="2" charset="-122"/>
                </a:endParaRPr>
              </a:p>
              <a:p>
                <a:pPr marL="0" indent="0">
                  <a:buNone/>
                </a:pPr>
                <a:endParaRPr lang="en-US" altLang="zh-CN" dirty="0">
                  <a:ea typeface="宋体" panose="02010600030101010101" pitchFamily="2" charset="-122"/>
                </a:endParaRPr>
              </a:p>
            </p:txBody>
          </p:sp>
        </mc:Choice>
        <mc:Fallback xmlns="">
          <p:sp>
            <p:nvSpPr>
              <p:cNvPr id="24579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111233" y="966247"/>
                <a:ext cx="5737622" cy="3086100"/>
              </a:xfr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458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44846772"/>
              </p:ext>
            </p:extLst>
          </p:nvPr>
        </p:nvGraphicFramePr>
        <p:xfrm>
          <a:off x="1961333" y="1560220"/>
          <a:ext cx="5539978" cy="21552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61" name="Document" r:id="rId5" imgW="5605603" imgH="1755275" progId="Word.Document.8">
                  <p:embed/>
                </p:oleObj>
              </mc:Choice>
              <mc:Fallback>
                <p:oleObj name="Document" r:id="rId5" imgW="5605603" imgH="1755275" progId="Word.Document.8">
                  <p:embed/>
                  <p:pic>
                    <p:nvPicPr>
                      <p:cNvPr id="2458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61333" y="1560220"/>
                        <a:ext cx="5539978" cy="215529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7"/>
          <p:cNvSpPr/>
          <p:nvPr/>
        </p:nvSpPr>
        <p:spPr>
          <a:xfrm>
            <a:off x="1111233" y="1474331"/>
            <a:ext cx="867545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350" dirty="0">
                <a:latin typeface="Times New Roman" pitchFamily="18" charset="0"/>
                <a:cs typeface="Times New Roman" pitchFamily="18" charset="0"/>
              </a:rPr>
              <a:t>document</a:t>
            </a:r>
            <a:endParaRPr lang="en-US" sz="1350" dirty="0"/>
          </a:p>
        </p:txBody>
      </p:sp>
      <p:sp>
        <p:nvSpPr>
          <p:cNvPr id="6" name="Line 15"/>
          <p:cNvSpPr>
            <a:spLocks noChangeShapeType="1"/>
          </p:cNvSpPr>
          <p:nvPr/>
        </p:nvSpPr>
        <p:spPr bwMode="auto">
          <a:xfrm rot="5400000" flipV="1">
            <a:off x="1707092" y="1566489"/>
            <a:ext cx="0" cy="360186"/>
          </a:xfrm>
          <a:prstGeom prst="line">
            <a:avLst/>
          </a:prstGeom>
          <a:noFill/>
          <a:ln w="38100" cmpd="dbl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7" name="Rectangle 7"/>
          <p:cNvSpPr/>
          <p:nvPr/>
        </p:nvSpPr>
        <p:spPr>
          <a:xfrm>
            <a:off x="1868607" y="1058605"/>
            <a:ext cx="569387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350" dirty="0">
                <a:latin typeface="Times New Roman" pitchFamily="18" charset="0"/>
                <a:cs typeface="Times New Roman" pitchFamily="18" charset="0"/>
              </a:rPr>
              <a:t>latent</a:t>
            </a:r>
            <a:endParaRPr lang="en-US" sz="1350" dirty="0"/>
          </a:p>
        </p:txBody>
      </p:sp>
      <p:sp>
        <p:nvSpPr>
          <p:cNvPr id="8" name="Line 15"/>
          <p:cNvSpPr>
            <a:spLocks noChangeShapeType="1"/>
          </p:cNvSpPr>
          <p:nvPr/>
        </p:nvSpPr>
        <p:spPr bwMode="auto">
          <a:xfrm rot="5400000">
            <a:off x="2100073" y="1402526"/>
            <a:ext cx="257440" cy="0"/>
          </a:xfrm>
          <a:prstGeom prst="line">
            <a:avLst/>
          </a:prstGeom>
          <a:noFill/>
          <a:ln w="38100" cmpd="dbl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9" name="右大括号 8"/>
          <p:cNvSpPr/>
          <p:nvPr/>
        </p:nvSpPr>
        <p:spPr>
          <a:xfrm rot="5400000">
            <a:off x="2342351" y="3063637"/>
            <a:ext cx="270030" cy="1217517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2100"/>
          </a:p>
        </p:txBody>
      </p:sp>
      <p:sp>
        <p:nvSpPr>
          <p:cNvPr id="10" name="文本框 9"/>
          <p:cNvSpPr txBox="1"/>
          <p:nvPr/>
        </p:nvSpPr>
        <p:spPr>
          <a:xfrm>
            <a:off x="2275868" y="3836385"/>
            <a:ext cx="595035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100" dirty="0"/>
              <a:t>K=2</a:t>
            </a:r>
            <a:endParaRPr lang="zh-CN" altLang="en-US" sz="21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="" xmlns:a16="http://schemas.microsoft.com/office/drawing/2014/main" id="{99EAA2DB-E8FD-044C-BCB8-970F0BB5A932}"/>
                  </a:ext>
                </a:extLst>
              </p:cNvPr>
              <p:cNvSpPr txBox="1"/>
              <p:nvPr/>
            </p:nvSpPr>
            <p:spPr>
              <a:xfrm>
                <a:off x="1263840" y="4516740"/>
                <a:ext cx="693491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CN" dirty="0"/>
                  <a:t>SVD</a:t>
                </a:r>
                <a:r>
                  <a:rPr kumimoji="1" lang="zh-CN" altLang="en-US" dirty="0"/>
                  <a:t>得到的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n-US" altLang="zh-CN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V</m:t>
                    </m:r>
                  </m:oMath>
                </a14:m>
                <a:r>
                  <a:rPr kumimoji="1" lang="zh-CN" altLang="en-US" dirty="0"/>
                  <a:t>矩阵，为稠密阵（右特征向量的顺序已经排序完毕）</a:t>
                </a: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99EAA2DB-E8FD-044C-BCB8-970F0BB5A9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3840" y="4516740"/>
                <a:ext cx="6934912" cy="369332"/>
              </a:xfrm>
              <a:prstGeom prst="rect">
                <a:avLst/>
              </a:prstGeom>
              <a:blipFill>
                <a:blip r:embed="rId7"/>
                <a:stretch>
                  <a:fillRect l="-731" t="-13333" b="-2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35356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1885950" y="0"/>
            <a:ext cx="5600700" cy="800100"/>
          </a:xfrm>
        </p:spPr>
        <p:txBody>
          <a:bodyPr/>
          <a:lstStyle/>
          <a:p>
            <a:r>
              <a:rPr lang="zh-CN" altLang="en-US" sz="2700" dirty="0"/>
              <a:t>举例</a:t>
            </a:r>
            <a:endParaRPr lang="en-US" altLang="zh-CN" sz="2700" i="1" dirty="0">
              <a:solidFill>
                <a:srgbClr val="000099"/>
              </a:solidFill>
              <a:latin typeface="Arial Black" panose="020B0A04020102020204" pitchFamily="34" charset="0"/>
              <a:ea typeface="宋体" panose="02010600030101010101" pitchFamily="2" charset="-122"/>
              <a:cs typeface="Times" panose="02020603050405020304" pitchFamily="18" charset="0"/>
            </a:endParaRPr>
          </a:p>
        </p:txBody>
      </p:sp>
      <p:graphicFrame>
        <p:nvGraphicFramePr>
          <p:cNvPr id="26628" name="Object 4"/>
          <p:cNvGraphicFramePr>
            <a:graphicFrameLocks noGrp="1" noChangeAspect="1"/>
          </p:cNvGraphicFramePr>
          <p:nvPr>
            <p:ph type="tbl" idx="1"/>
            <p:extLst>
              <p:ext uri="{D42A27DB-BD31-4B8C-83A1-F6EECF244321}">
                <p14:modId xmlns:p14="http://schemas.microsoft.com/office/powerpoint/2010/main" val="484893176"/>
              </p:ext>
            </p:extLst>
          </p:nvPr>
        </p:nvGraphicFramePr>
        <p:xfrm>
          <a:off x="2693164" y="720937"/>
          <a:ext cx="4964906" cy="3738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85" name="Document" r:id="rId4" imgW="5605603" imgH="4220521" progId="Word.Document.8">
                  <p:embed/>
                </p:oleObj>
              </mc:Choice>
              <mc:Fallback>
                <p:oleObj name="Document" r:id="rId4" imgW="5605603" imgH="4220521" progId="Word.Document.8">
                  <p:embed/>
                  <p:pic>
                    <p:nvPicPr>
                      <p:cNvPr id="2662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93164" y="720937"/>
                        <a:ext cx="4964906" cy="37385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/>
              <p:cNvSpPr/>
              <p:nvPr/>
            </p:nvSpPr>
            <p:spPr>
              <a:xfrm>
                <a:off x="855857" y="2290136"/>
                <a:ext cx="1665008" cy="60016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3300" i="1">
                        <a:latin typeface="Cambria Math" panose="02040503050406030204" pitchFamily="18" charset="0"/>
                      </a:rPr>
                      <m:t>𝑈</m:t>
                    </m:r>
                    <m:sSub>
                      <m:sSubPr>
                        <m:ctrlPr>
                          <a:rPr lang="en-US" altLang="zh-CN" sz="3300" i="1">
                            <a:latin typeface="Cambria Math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330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3300">
                            <a:latin typeface="Cambria Math" panose="02040503050406030204" pitchFamily="18" charset="0"/>
                          </a:rPr>
                          <m:t>K</m:t>
                        </m:r>
                      </m:sub>
                    </m:sSub>
                    <m:sSup>
                      <m:sSupPr>
                        <m:ctrlPr>
                          <a:rPr lang="en-US" altLang="zh-CN" sz="3300" i="1"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altLang="zh-CN" sz="3300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p>
                        <m:r>
                          <a:rPr lang="en-US" altLang="zh-CN" sz="3300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 altLang="zh-CN" sz="3300" dirty="0"/>
                  <a:t>=</a:t>
                </a:r>
                <a:endParaRPr lang="zh-CN" altLang="en-US" sz="3300" dirty="0"/>
              </a:p>
            </p:txBody>
          </p:sp>
        </mc:Choice>
        <mc:Fallback xmlns="">
          <p:sp>
            <p:nvSpPr>
              <p:cNvPr id="2" name="矩形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5857" y="2290136"/>
                <a:ext cx="1665008" cy="600164"/>
              </a:xfrm>
              <a:prstGeom prst="rect">
                <a:avLst/>
              </a:prstGeom>
              <a:blipFill>
                <a:blip r:embed="rId6"/>
                <a:stretch>
                  <a:fillRect l="-2273" t="-14583" r="-9091" b="-3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文本框 4">
            <a:extLst>
              <a:ext uri="{FF2B5EF4-FFF2-40B4-BE49-F238E27FC236}">
                <a16:creationId xmlns="" xmlns:a16="http://schemas.microsoft.com/office/drawing/2014/main" id="{89B210B8-729B-E947-B70F-C379131BD8D6}"/>
              </a:ext>
            </a:extLst>
          </p:cNvPr>
          <p:cNvSpPr txBox="1"/>
          <p:nvPr/>
        </p:nvSpPr>
        <p:spPr>
          <a:xfrm>
            <a:off x="2471849" y="4459500"/>
            <a:ext cx="53912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低秩近似得到的恢复矩阵（</a:t>
            </a:r>
            <a:r>
              <a:rPr kumimoji="1" lang="en-US" altLang="zh-CN" dirty="0"/>
              <a:t>K=2</a:t>
            </a:r>
            <a:r>
              <a:rPr kumimoji="1" lang="zh-CN" altLang="en-US" dirty="0"/>
              <a:t>），变成了稠密矩阵</a:t>
            </a:r>
          </a:p>
        </p:txBody>
      </p:sp>
    </p:spTree>
    <p:extLst>
      <p:ext uri="{BB962C8B-B14F-4D97-AF65-F5344CB8AC3E}">
        <p14:creationId xmlns:p14="http://schemas.microsoft.com/office/powerpoint/2010/main" val="5040171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="" xmlns:a16="http://schemas.microsoft.com/office/drawing/2014/main" id="{1AB79880-C352-DA49-B532-EDC541D578A9}"/>
              </a:ext>
            </a:extLst>
          </p:cNvPr>
          <p:cNvSpPr/>
          <p:nvPr/>
        </p:nvSpPr>
        <p:spPr>
          <a:xfrm>
            <a:off x="6042198" y="3935485"/>
            <a:ext cx="1664254" cy="911838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="" xmlns:a16="http://schemas.microsoft.com/office/drawing/2014/main" id="{1C94F163-33A9-E843-B854-A06293FE061E}"/>
              </a:ext>
            </a:extLst>
          </p:cNvPr>
          <p:cNvSpPr/>
          <p:nvPr/>
        </p:nvSpPr>
        <p:spPr>
          <a:xfrm>
            <a:off x="2951821" y="3170711"/>
            <a:ext cx="3090376" cy="80519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="" xmlns:a16="http://schemas.microsoft.com/office/drawing/2014/main" id="{03ED8540-B92B-4E4D-A18B-D80137A24363}"/>
              </a:ext>
            </a:extLst>
          </p:cNvPr>
          <p:cNvSpPr/>
          <p:nvPr/>
        </p:nvSpPr>
        <p:spPr>
          <a:xfrm>
            <a:off x="6054707" y="1755100"/>
            <a:ext cx="1664254" cy="911838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="" xmlns:a16="http://schemas.microsoft.com/office/drawing/2014/main" id="{FF60FECD-C540-0E4D-97F2-C718DC708E97}"/>
              </a:ext>
            </a:extLst>
          </p:cNvPr>
          <p:cNvSpPr/>
          <p:nvPr/>
        </p:nvSpPr>
        <p:spPr>
          <a:xfrm>
            <a:off x="2951820" y="857250"/>
            <a:ext cx="3090377" cy="107462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aphicFrame>
        <p:nvGraphicFramePr>
          <p:cNvPr id="3072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96648744"/>
              </p:ext>
            </p:extLst>
          </p:nvPr>
        </p:nvGraphicFramePr>
        <p:xfrm>
          <a:off x="2997987" y="774121"/>
          <a:ext cx="5155406" cy="52232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09" name="Document" r:id="rId4" imgW="6226607" imgH="6330425" progId="Word.Document.8">
                  <p:embed/>
                </p:oleObj>
              </mc:Choice>
              <mc:Fallback>
                <p:oleObj name="Document" r:id="rId4" imgW="6226607" imgH="6330425" progId="Word.Document.8">
                  <p:embed/>
                  <p:pic>
                    <p:nvPicPr>
                      <p:cNvPr id="30722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97987" y="774121"/>
                        <a:ext cx="5155406" cy="522327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56122" y="0"/>
            <a:ext cx="6172200" cy="857250"/>
          </a:xfrm>
        </p:spPr>
        <p:txBody>
          <a:bodyPr/>
          <a:lstStyle/>
          <a:p>
            <a:r>
              <a:rPr lang="zh-CN" altLang="en-US" dirty="0">
                <a:latin typeface="Times" panose="02020603050405020304" pitchFamily="18" charset="0"/>
                <a:cs typeface="Times" panose="02020603050405020304" pitchFamily="18" charset="0"/>
              </a:rPr>
              <a:t>文档相似度</a:t>
            </a:r>
            <a:r>
              <a:rPr lang="en-US" altLang="zh-CN" dirty="0">
                <a:latin typeface="Times" panose="02020603050405020304" pitchFamily="18" charset="0"/>
                <a:cs typeface="Times" panose="02020603050405020304" pitchFamily="18" charset="0"/>
              </a:rPr>
              <a:t>(cosine)</a:t>
            </a:r>
            <a:endParaRPr lang="zh-CN" altLang="en-US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197494" y="1516381"/>
            <a:ext cx="1800493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100" dirty="0"/>
              <a:t>基于原始表达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1584018" y="3975906"/>
            <a:ext cx="1027845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100" dirty="0"/>
              <a:t>基于</a:t>
            </a:r>
            <a:r>
              <a:rPr lang="en-US" altLang="zh-CN" sz="2100" dirty="0"/>
              <a:t>LSI</a:t>
            </a:r>
            <a:endParaRPr lang="zh-CN" altLang="en-US" sz="2100" dirty="0"/>
          </a:p>
        </p:txBody>
      </p:sp>
    </p:spTree>
    <p:extLst>
      <p:ext uri="{BB962C8B-B14F-4D97-AF65-F5344CB8AC3E}">
        <p14:creationId xmlns:p14="http://schemas.microsoft.com/office/powerpoint/2010/main" val="31682592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64DDB-364C-410E-A66B-B19CEFA5EF0F}" type="slidenum">
              <a:rPr lang="zh-CN" altLang="en-US" smtClean="0"/>
              <a:pPr/>
              <a:t>44</a:t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9228" y="0"/>
            <a:ext cx="6566578" cy="5160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795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LSI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的总结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第一个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?)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话题模型，求解单词和文档的分布式表达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对单词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文档矩阵进行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SVD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分解，保留最大的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个特征值，其余置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是对原始输入矩阵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的低秩近似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优点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数学优美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有效（被广泛应用于各种文本分析应用中）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缺点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低秩近似矩阵和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中有负值，不好解释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特征值、特征向量计算复杂度高（</a:t>
            </a:r>
            <a:r>
              <a:rPr lang="en-US" altLang="zh-CN" dirty="0"/>
              <a:t> M x N</a:t>
            </a:r>
            <a:r>
              <a:rPr lang="zh-CN" altLang="en-US" dirty="0"/>
              <a:t>矩阵，</a:t>
            </a:r>
            <a:r>
              <a:rPr lang="en-US" altLang="zh-CN" dirty="0"/>
              <a:t>N&lt;M</a:t>
            </a:r>
            <a:r>
              <a:rPr lang="zh-CN" altLang="en-US" dirty="0"/>
              <a:t>，复杂度</a:t>
            </a:r>
            <a:r>
              <a:rPr lang="en-US" altLang="zh-CN" dirty="0"/>
              <a:t> O(</a:t>
            </a:r>
            <a:r>
              <a:rPr lang="en-US" altLang="zh-CN" i="1" dirty="0"/>
              <a:t>MN</a:t>
            </a:r>
            <a:r>
              <a:rPr lang="en-US" altLang="zh-CN" i="1" baseline="30000" dirty="0"/>
              <a:t>2</a:t>
            </a:r>
            <a:r>
              <a:rPr lang="zh-CN" altLang="en-US" i="1" baseline="30000" dirty="0"/>
              <a:t> </a:t>
            </a:r>
            <a:r>
              <a:rPr lang="en-US" altLang="zh-CN" dirty="0"/>
              <a:t>)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64DDB-364C-410E-A66B-B19CEFA5EF0F}" type="slidenum">
              <a:rPr lang="zh-CN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45</a:t>
            </a:fld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0440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2CF5B3B1-32E2-CE43-B6A0-0E220C53DE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更多的话题模型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="" xmlns:a16="http://schemas.microsoft.com/office/drawing/2014/main" id="{D53A84C9-E3DB-6845-8110-5289F3E174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755074"/>
            <a:ext cx="8229600" cy="2001075"/>
          </a:xfrm>
        </p:spPr>
        <p:txBody>
          <a:bodyPr/>
          <a:lstStyle/>
          <a:p>
            <a:r>
              <a:rPr kumimoji="1" lang="zh-CN" altLang="en-US" dirty="0"/>
              <a:t>采用不同的方式建模单词在文档中的</a:t>
            </a:r>
            <a:r>
              <a:rPr kumimoji="1" lang="zh-CN" altLang="en-US" dirty="0">
                <a:solidFill>
                  <a:srgbClr val="C00000"/>
                </a:solidFill>
              </a:rPr>
              <a:t>共现</a:t>
            </a:r>
            <a:r>
              <a:rPr kumimoji="1" lang="zh-CN" altLang="en-US" dirty="0"/>
              <a:t>关系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基于矩阵分解的方法，如：</a:t>
            </a:r>
            <a:r>
              <a:rPr kumimoji="1" lang="en-US" altLang="zh-CN" dirty="0"/>
              <a:t>SSI</a:t>
            </a:r>
            <a:r>
              <a:rPr kumimoji="1" lang="zh-CN" altLang="en-US" dirty="0"/>
              <a:t>等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基于概率图的方法，如：</a:t>
            </a:r>
            <a:r>
              <a:rPr kumimoji="1" lang="en-US" altLang="zh-CN" dirty="0"/>
              <a:t>PLSI</a:t>
            </a:r>
            <a:r>
              <a:rPr kumimoji="1" lang="zh-CN" altLang="en-US" dirty="0"/>
              <a:t>、</a:t>
            </a:r>
            <a:r>
              <a:rPr kumimoji="1" lang="en-US" altLang="zh-CN" dirty="0"/>
              <a:t>LDA</a:t>
            </a:r>
            <a:r>
              <a:rPr kumimoji="1" lang="zh-CN" altLang="en-US" dirty="0"/>
              <a:t>（最广为使用的话题模型）等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="" xmlns:a16="http://schemas.microsoft.com/office/drawing/2014/main" id="{57B09EEC-7A14-3B40-B9F9-DCFCF6BB41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688" y="909772"/>
            <a:ext cx="2416930" cy="1435219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="" xmlns:a16="http://schemas.microsoft.com/office/drawing/2014/main" id="{3F42C623-21AC-AE42-8AA9-B209C18148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8744" y="909757"/>
            <a:ext cx="2320968" cy="1334679"/>
          </a:xfrm>
          <a:prstGeom prst="rect">
            <a:avLst/>
          </a:prstGeom>
        </p:spPr>
      </p:pic>
      <p:sp>
        <p:nvSpPr>
          <p:cNvPr id="6" name="右箭头 5">
            <a:extLst>
              <a:ext uri="{FF2B5EF4-FFF2-40B4-BE49-F238E27FC236}">
                <a16:creationId xmlns="" xmlns:a16="http://schemas.microsoft.com/office/drawing/2014/main" id="{6ACFB302-CED3-534E-A8FC-D36202CF0B4E}"/>
              </a:ext>
            </a:extLst>
          </p:cNvPr>
          <p:cNvSpPr/>
          <p:nvPr/>
        </p:nvSpPr>
        <p:spPr>
          <a:xfrm>
            <a:off x="4512623" y="1412240"/>
            <a:ext cx="415637" cy="43293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14429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3779912" cy="5143500"/>
          </a:xfrm>
          <a:prstGeom prst="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3995936" y="157881"/>
            <a:ext cx="12105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>
                <a:latin typeface="方正兰亭细黑_GBK" pitchFamily="2" charset="-122"/>
                <a:ea typeface="方正兰亭细黑_GBK" pitchFamily="2" charset="-122"/>
              </a:rPr>
              <a:t>提纲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1124" y="3052428"/>
            <a:ext cx="1537664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文本表达</a:t>
            </a:r>
          </a:p>
        </p:txBody>
      </p:sp>
      <p:grpSp>
        <p:nvGrpSpPr>
          <p:cNvPr id="33" name="组合 32"/>
          <p:cNvGrpSpPr/>
          <p:nvPr/>
        </p:nvGrpSpPr>
        <p:grpSpPr>
          <a:xfrm>
            <a:off x="1239403" y="947342"/>
            <a:ext cx="1301106" cy="1301106"/>
            <a:chOff x="2262782" y="1446400"/>
            <a:chExt cx="1301106" cy="1301106"/>
          </a:xfrm>
        </p:grpSpPr>
        <p:sp>
          <p:nvSpPr>
            <p:cNvPr id="5" name="椭圆 4"/>
            <p:cNvSpPr/>
            <p:nvPr/>
          </p:nvSpPr>
          <p:spPr>
            <a:xfrm>
              <a:off x="2262782" y="1446400"/>
              <a:ext cx="1301106" cy="130110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KSO_Shape"/>
            <p:cNvSpPr>
              <a:spLocks/>
            </p:cNvSpPr>
            <p:nvPr/>
          </p:nvSpPr>
          <p:spPr bwMode="auto">
            <a:xfrm>
              <a:off x="2523120" y="1821416"/>
              <a:ext cx="836342" cy="574285"/>
            </a:xfrm>
            <a:custGeom>
              <a:avLst/>
              <a:gdLst>
                <a:gd name="T0" fmla="*/ 2147483646 w 112"/>
                <a:gd name="T1" fmla="*/ 2147483646 h 77"/>
                <a:gd name="T2" fmla="*/ 2147483646 w 112"/>
                <a:gd name="T3" fmla="*/ 2147483646 h 77"/>
                <a:gd name="T4" fmla="*/ 2147483646 w 112"/>
                <a:gd name="T5" fmla="*/ 2147483646 h 77"/>
                <a:gd name="T6" fmla="*/ 2147483646 w 112"/>
                <a:gd name="T7" fmla="*/ 2147483646 h 77"/>
                <a:gd name="T8" fmla="*/ 2147483646 w 112"/>
                <a:gd name="T9" fmla="*/ 2147483646 h 77"/>
                <a:gd name="T10" fmla="*/ 0 w 112"/>
                <a:gd name="T11" fmla="*/ 2147483646 h 77"/>
                <a:gd name="T12" fmla="*/ 2147483646 w 112"/>
                <a:gd name="T13" fmla="*/ 2147483646 h 77"/>
                <a:gd name="T14" fmla="*/ 2147483646 w 112"/>
                <a:gd name="T15" fmla="*/ 2147483646 h 77"/>
                <a:gd name="T16" fmla="*/ 2147483646 w 112"/>
                <a:gd name="T17" fmla="*/ 2147483646 h 77"/>
                <a:gd name="T18" fmla="*/ 2147483646 w 112"/>
                <a:gd name="T19" fmla="*/ 2147483646 h 77"/>
                <a:gd name="T20" fmla="*/ 2147483646 w 112"/>
                <a:gd name="T21" fmla="*/ 2147483646 h 77"/>
                <a:gd name="T22" fmla="*/ 2147483646 w 112"/>
                <a:gd name="T23" fmla="*/ 2147483646 h 77"/>
                <a:gd name="T24" fmla="*/ 2147483646 w 112"/>
                <a:gd name="T25" fmla="*/ 2147483646 h 77"/>
                <a:gd name="T26" fmla="*/ 2147483646 w 112"/>
                <a:gd name="T27" fmla="*/ 2147483646 h 77"/>
                <a:gd name="T28" fmla="*/ 2147483646 w 112"/>
                <a:gd name="T29" fmla="*/ 2147483646 h 77"/>
                <a:gd name="T30" fmla="*/ 2147483646 w 112"/>
                <a:gd name="T31" fmla="*/ 2147483646 h 77"/>
                <a:gd name="T32" fmla="*/ 2147483646 w 112"/>
                <a:gd name="T33" fmla="*/ 2147483646 h 77"/>
                <a:gd name="T34" fmla="*/ 2147483646 w 112"/>
                <a:gd name="T35" fmla="*/ 2147483646 h 77"/>
                <a:gd name="T36" fmla="*/ 2147483646 w 112"/>
                <a:gd name="T37" fmla="*/ 2147483646 h 77"/>
                <a:gd name="T38" fmla="*/ 2147483646 w 112"/>
                <a:gd name="T39" fmla="*/ 2147483646 h 77"/>
                <a:gd name="T40" fmla="*/ 2147483646 w 112"/>
                <a:gd name="T41" fmla="*/ 2147483646 h 77"/>
                <a:gd name="T42" fmla="*/ 2147483646 w 112"/>
                <a:gd name="T43" fmla="*/ 2147483646 h 77"/>
                <a:gd name="T44" fmla="*/ 2147483646 w 112"/>
                <a:gd name="T45" fmla="*/ 2147483646 h 77"/>
                <a:gd name="T46" fmla="*/ 2147483646 w 112"/>
                <a:gd name="T47" fmla="*/ 2147483646 h 77"/>
                <a:gd name="T48" fmla="*/ 2147483646 w 112"/>
                <a:gd name="T49" fmla="*/ 2147483646 h 77"/>
                <a:gd name="T50" fmla="*/ 2147483646 w 112"/>
                <a:gd name="T51" fmla="*/ 2147483646 h 77"/>
                <a:gd name="T52" fmla="*/ 2147483646 w 112"/>
                <a:gd name="T53" fmla="*/ 2147483646 h 77"/>
                <a:gd name="T54" fmla="*/ 2147483646 w 112"/>
                <a:gd name="T55" fmla="*/ 2147483646 h 77"/>
                <a:gd name="T56" fmla="*/ 2147483646 w 112"/>
                <a:gd name="T57" fmla="*/ 2147483646 h 77"/>
                <a:gd name="T58" fmla="*/ 2147483646 w 112"/>
                <a:gd name="T59" fmla="*/ 2147483646 h 77"/>
                <a:gd name="T60" fmla="*/ 2147483646 w 112"/>
                <a:gd name="T61" fmla="*/ 2147483646 h 77"/>
                <a:gd name="T62" fmla="*/ 2147483646 w 112"/>
                <a:gd name="T63" fmla="*/ 2147483646 h 77"/>
                <a:gd name="T64" fmla="*/ 2147483646 w 112"/>
                <a:gd name="T65" fmla="*/ 2147483646 h 77"/>
                <a:gd name="T66" fmla="*/ 2147483646 w 112"/>
                <a:gd name="T67" fmla="*/ 2147483646 h 77"/>
                <a:gd name="T68" fmla="*/ 2147483646 w 112"/>
                <a:gd name="T69" fmla="*/ 2147483646 h 77"/>
                <a:gd name="T70" fmla="*/ 2147483646 w 112"/>
                <a:gd name="T71" fmla="*/ 2147483646 h 77"/>
                <a:gd name="T72" fmla="*/ 2147483646 w 112"/>
                <a:gd name="T73" fmla="*/ 2147483646 h 77"/>
                <a:gd name="T74" fmla="*/ 2147483646 w 112"/>
                <a:gd name="T75" fmla="*/ 2147483646 h 77"/>
                <a:gd name="T76" fmla="*/ 2147483646 w 112"/>
                <a:gd name="T77" fmla="*/ 2147483646 h 77"/>
                <a:gd name="T78" fmla="*/ 2147483646 w 112"/>
                <a:gd name="T79" fmla="*/ 2147483646 h 77"/>
                <a:gd name="T80" fmla="*/ 2147483646 w 112"/>
                <a:gd name="T81" fmla="*/ 2147483646 h 77"/>
                <a:gd name="T82" fmla="*/ 2147483646 w 112"/>
                <a:gd name="T83" fmla="*/ 2147483646 h 77"/>
                <a:gd name="T84" fmla="*/ 2147483646 w 112"/>
                <a:gd name="T85" fmla="*/ 2147483646 h 77"/>
                <a:gd name="T86" fmla="*/ 2147483646 w 112"/>
                <a:gd name="T87" fmla="*/ 2147483646 h 77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112" h="77">
                  <a:moveTo>
                    <a:pt x="56" y="0"/>
                  </a:moveTo>
                  <a:cubicBezTo>
                    <a:pt x="62" y="0"/>
                    <a:pt x="66" y="4"/>
                    <a:pt x="66" y="10"/>
                  </a:cubicBezTo>
                  <a:cubicBezTo>
                    <a:pt x="66" y="15"/>
                    <a:pt x="62" y="20"/>
                    <a:pt x="56" y="20"/>
                  </a:cubicBezTo>
                  <a:cubicBezTo>
                    <a:pt x="51" y="20"/>
                    <a:pt x="46" y="15"/>
                    <a:pt x="46" y="10"/>
                  </a:cubicBezTo>
                  <a:cubicBezTo>
                    <a:pt x="46" y="4"/>
                    <a:pt x="51" y="0"/>
                    <a:pt x="56" y="0"/>
                  </a:cubicBezTo>
                  <a:close/>
                  <a:moveTo>
                    <a:pt x="15" y="49"/>
                  </a:moveTo>
                  <a:cubicBezTo>
                    <a:pt x="15" y="66"/>
                    <a:pt x="15" y="66"/>
                    <a:pt x="15" y="66"/>
                  </a:cubicBezTo>
                  <a:cubicBezTo>
                    <a:pt x="10" y="66"/>
                    <a:pt x="10" y="66"/>
                    <a:pt x="10" y="66"/>
                  </a:cubicBezTo>
                  <a:cubicBezTo>
                    <a:pt x="10" y="52"/>
                    <a:pt x="10" y="52"/>
                    <a:pt x="10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66"/>
                    <a:pt x="9" y="66"/>
                    <a:pt x="9" y="66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49"/>
                    <a:pt x="4" y="49"/>
                    <a:pt x="4" y="49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0" y="31"/>
                    <a:pt x="1" y="29"/>
                    <a:pt x="4" y="29"/>
                  </a:cubicBezTo>
                  <a:cubicBezTo>
                    <a:pt x="13" y="29"/>
                    <a:pt x="13" y="29"/>
                    <a:pt x="13" y="29"/>
                  </a:cubicBezTo>
                  <a:cubicBezTo>
                    <a:pt x="13" y="30"/>
                    <a:pt x="13" y="30"/>
                    <a:pt x="13" y="31"/>
                  </a:cubicBezTo>
                  <a:cubicBezTo>
                    <a:pt x="13" y="49"/>
                    <a:pt x="13" y="49"/>
                    <a:pt x="13" y="49"/>
                  </a:cubicBezTo>
                  <a:cubicBezTo>
                    <a:pt x="15" y="49"/>
                    <a:pt x="15" y="49"/>
                    <a:pt x="15" y="49"/>
                  </a:cubicBezTo>
                  <a:close/>
                  <a:moveTo>
                    <a:pt x="10" y="15"/>
                  </a:moveTo>
                  <a:cubicBezTo>
                    <a:pt x="13" y="15"/>
                    <a:pt x="16" y="18"/>
                    <a:pt x="16" y="22"/>
                  </a:cubicBezTo>
                  <a:cubicBezTo>
                    <a:pt x="16" y="23"/>
                    <a:pt x="16" y="24"/>
                    <a:pt x="15" y="25"/>
                  </a:cubicBezTo>
                  <a:cubicBezTo>
                    <a:pt x="15" y="26"/>
                    <a:pt x="15" y="26"/>
                    <a:pt x="14" y="26"/>
                  </a:cubicBezTo>
                  <a:cubicBezTo>
                    <a:pt x="13" y="27"/>
                    <a:pt x="12" y="28"/>
                    <a:pt x="10" y="28"/>
                  </a:cubicBezTo>
                  <a:cubicBezTo>
                    <a:pt x="6" y="28"/>
                    <a:pt x="3" y="25"/>
                    <a:pt x="3" y="22"/>
                  </a:cubicBezTo>
                  <a:cubicBezTo>
                    <a:pt x="3" y="18"/>
                    <a:pt x="6" y="15"/>
                    <a:pt x="10" y="15"/>
                  </a:cubicBezTo>
                  <a:close/>
                  <a:moveTo>
                    <a:pt x="96" y="49"/>
                  </a:moveTo>
                  <a:cubicBezTo>
                    <a:pt x="96" y="66"/>
                    <a:pt x="96" y="66"/>
                    <a:pt x="96" y="66"/>
                  </a:cubicBezTo>
                  <a:cubicBezTo>
                    <a:pt x="101" y="66"/>
                    <a:pt x="101" y="66"/>
                    <a:pt x="101" y="66"/>
                  </a:cubicBezTo>
                  <a:cubicBezTo>
                    <a:pt x="101" y="52"/>
                    <a:pt x="101" y="52"/>
                    <a:pt x="101" y="52"/>
                  </a:cubicBezTo>
                  <a:cubicBezTo>
                    <a:pt x="102" y="52"/>
                    <a:pt x="102" y="52"/>
                    <a:pt x="102" y="52"/>
                  </a:cubicBezTo>
                  <a:cubicBezTo>
                    <a:pt x="102" y="66"/>
                    <a:pt x="102" y="66"/>
                    <a:pt x="102" y="66"/>
                  </a:cubicBezTo>
                  <a:cubicBezTo>
                    <a:pt x="107" y="66"/>
                    <a:pt x="107" y="66"/>
                    <a:pt x="107" y="66"/>
                  </a:cubicBezTo>
                  <a:cubicBezTo>
                    <a:pt x="107" y="49"/>
                    <a:pt x="107" y="49"/>
                    <a:pt x="107" y="49"/>
                  </a:cubicBezTo>
                  <a:cubicBezTo>
                    <a:pt x="107" y="46"/>
                    <a:pt x="107" y="46"/>
                    <a:pt x="107" y="46"/>
                  </a:cubicBezTo>
                  <a:cubicBezTo>
                    <a:pt x="107" y="37"/>
                    <a:pt x="107" y="37"/>
                    <a:pt x="107" y="37"/>
                  </a:cubicBezTo>
                  <a:cubicBezTo>
                    <a:pt x="107" y="37"/>
                    <a:pt x="107" y="37"/>
                    <a:pt x="107" y="37"/>
                  </a:cubicBezTo>
                  <a:cubicBezTo>
                    <a:pt x="107" y="46"/>
                    <a:pt x="107" y="46"/>
                    <a:pt x="107" y="46"/>
                  </a:cubicBezTo>
                  <a:cubicBezTo>
                    <a:pt x="112" y="46"/>
                    <a:pt x="112" y="46"/>
                    <a:pt x="112" y="46"/>
                  </a:cubicBezTo>
                  <a:cubicBezTo>
                    <a:pt x="112" y="33"/>
                    <a:pt x="112" y="33"/>
                    <a:pt x="112" y="33"/>
                  </a:cubicBezTo>
                  <a:cubicBezTo>
                    <a:pt x="112" y="31"/>
                    <a:pt x="110" y="29"/>
                    <a:pt x="107" y="29"/>
                  </a:cubicBezTo>
                  <a:cubicBezTo>
                    <a:pt x="98" y="29"/>
                    <a:pt x="98" y="29"/>
                    <a:pt x="98" y="29"/>
                  </a:cubicBezTo>
                  <a:cubicBezTo>
                    <a:pt x="98" y="30"/>
                    <a:pt x="98" y="30"/>
                    <a:pt x="98" y="31"/>
                  </a:cubicBezTo>
                  <a:cubicBezTo>
                    <a:pt x="98" y="49"/>
                    <a:pt x="98" y="49"/>
                    <a:pt x="98" y="49"/>
                  </a:cubicBezTo>
                  <a:cubicBezTo>
                    <a:pt x="96" y="49"/>
                    <a:pt x="96" y="49"/>
                    <a:pt x="96" y="49"/>
                  </a:cubicBezTo>
                  <a:close/>
                  <a:moveTo>
                    <a:pt x="101" y="15"/>
                  </a:moveTo>
                  <a:cubicBezTo>
                    <a:pt x="98" y="15"/>
                    <a:pt x="95" y="18"/>
                    <a:pt x="95" y="22"/>
                  </a:cubicBezTo>
                  <a:cubicBezTo>
                    <a:pt x="95" y="23"/>
                    <a:pt x="95" y="24"/>
                    <a:pt x="96" y="25"/>
                  </a:cubicBezTo>
                  <a:cubicBezTo>
                    <a:pt x="96" y="26"/>
                    <a:pt x="97" y="26"/>
                    <a:pt x="97" y="26"/>
                  </a:cubicBezTo>
                  <a:cubicBezTo>
                    <a:pt x="98" y="27"/>
                    <a:pt x="100" y="28"/>
                    <a:pt x="101" y="28"/>
                  </a:cubicBezTo>
                  <a:cubicBezTo>
                    <a:pt x="105" y="28"/>
                    <a:pt x="108" y="25"/>
                    <a:pt x="108" y="22"/>
                  </a:cubicBezTo>
                  <a:cubicBezTo>
                    <a:pt x="108" y="18"/>
                    <a:pt x="105" y="15"/>
                    <a:pt x="101" y="15"/>
                  </a:cubicBezTo>
                  <a:close/>
                  <a:moveTo>
                    <a:pt x="75" y="51"/>
                  </a:moveTo>
                  <a:cubicBezTo>
                    <a:pt x="75" y="72"/>
                    <a:pt x="75" y="72"/>
                    <a:pt x="75" y="72"/>
                  </a:cubicBezTo>
                  <a:cubicBezTo>
                    <a:pt x="80" y="72"/>
                    <a:pt x="80" y="72"/>
                    <a:pt x="80" y="72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2" y="54"/>
                    <a:pt x="82" y="54"/>
                    <a:pt x="82" y="54"/>
                  </a:cubicBezTo>
                  <a:cubicBezTo>
                    <a:pt x="82" y="72"/>
                    <a:pt x="82" y="72"/>
                    <a:pt x="82" y="72"/>
                  </a:cubicBezTo>
                  <a:cubicBezTo>
                    <a:pt x="87" y="72"/>
                    <a:pt x="87" y="72"/>
                    <a:pt x="87" y="72"/>
                  </a:cubicBezTo>
                  <a:cubicBezTo>
                    <a:pt x="87" y="51"/>
                    <a:pt x="87" y="51"/>
                    <a:pt x="87" y="51"/>
                  </a:cubicBezTo>
                  <a:cubicBezTo>
                    <a:pt x="87" y="47"/>
                    <a:pt x="87" y="47"/>
                    <a:pt x="87" y="47"/>
                  </a:cubicBezTo>
                  <a:cubicBezTo>
                    <a:pt x="87" y="36"/>
                    <a:pt x="87" y="36"/>
                    <a:pt x="87" y="36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4" y="31"/>
                    <a:pt x="94" y="31"/>
                    <a:pt x="94" y="31"/>
                  </a:cubicBezTo>
                  <a:cubicBezTo>
                    <a:pt x="94" y="28"/>
                    <a:pt x="91" y="26"/>
                    <a:pt x="88" y="26"/>
                  </a:cubicBezTo>
                  <a:cubicBezTo>
                    <a:pt x="77" y="26"/>
                    <a:pt x="77" y="26"/>
                    <a:pt x="77" y="26"/>
                  </a:cubicBezTo>
                  <a:cubicBezTo>
                    <a:pt x="77" y="27"/>
                    <a:pt x="77" y="28"/>
                    <a:pt x="77" y="28"/>
                  </a:cubicBezTo>
                  <a:cubicBezTo>
                    <a:pt x="77" y="51"/>
                    <a:pt x="77" y="51"/>
                    <a:pt x="77" y="51"/>
                  </a:cubicBezTo>
                  <a:cubicBezTo>
                    <a:pt x="75" y="51"/>
                    <a:pt x="75" y="51"/>
                    <a:pt x="75" y="51"/>
                  </a:cubicBezTo>
                  <a:close/>
                  <a:moveTo>
                    <a:pt x="65" y="47"/>
                  </a:moveTo>
                  <a:cubicBezTo>
                    <a:pt x="65" y="32"/>
                    <a:pt x="65" y="32"/>
                    <a:pt x="65" y="32"/>
                  </a:cubicBezTo>
                  <a:cubicBezTo>
                    <a:pt x="64" y="32"/>
                    <a:pt x="64" y="32"/>
                    <a:pt x="64" y="32"/>
                  </a:cubicBezTo>
                  <a:cubicBezTo>
                    <a:pt x="64" y="47"/>
                    <a:pt x="64" y="47"/>
                    <a:pt x="64" y="47"/>
                  </a:cubicBezTo>
                  <a:cubicBezTo>
                    <a:pt x="64" y="50"/>
                    <a:pt x="64" y="50"/>
                    <a:pt x="64" y="50"/>
                  </a:cubicBezTo>
                  <a:cubicBezTo>
                    <a:pt x="64" y="77"/>
                    <a:pt x="64" y="77"/>
                    <a:pt x="64" y="77"/>
                  </a:cubicBezTo>
                  <a:cubicBezTo>
                    <a:pt x="57" y="77"/>
                    <a:pt x="57" y="77"/>
                    <a:pt x="57" y="77"/>
                  </a:cubicBezTo>
                  <a:cubicBezTo>
                    <a:pt x="57" y="55"/>
                    <a:pt x="57" y="55"/>
                    <a:pt x="57" y="55"/>
                  </a:cubicBezTo>
                  <a:cubicBezTo>
                    <a:pt x="55" y="55"/>
                    <a:pt x="55" y="55"/>
                    <a:pt x="55" y="55"/>
                  </a:cubicBezTo>
                  <a:cubicBezTo>
                    <a:pt x="55" y="77"/>
                    <a:pt x="55" y="77"/>
                    <a:pt x="55" y="77"/>
                  </a:cubicBezTo>
                  <a:cubicBezTo>
                    <a:pt x="48" y="77"/>
                    <a:pt x="48" y="77"/>
                    <a:pt x="48" y="77"/>
                  </a:cubicBezTo>
                  <a:cubicBezTo>
                    <a:pt x="48" y="50"/>
                    <a:pt x="48" y="50"/>
                    <a:pt x="48" y="50"/>
                  </a:cubicBezTo>
                  <a:cubicBezTo>
                    <a:pt x="48" y="47"/>
                    <a:pt x="48" y="47"/>
                    <a:pt x="48" y="47"/>
                  </a:cubicBezTo>
                  <a:cubicBezTo>
                    <a:pt x="48" y="32"/>
                    <a:pt x="48" y="32"/>
                    <a:pt x="48" y="32"/>
                  </a:cubicBezTo>
                  <a:cubicBezTo>
                    <a:pt x="47" y="32"/>
                    <a:pt x="47" y="32"/>
                    <a:pt x="47" y="32"/>
                  </a:cubicBezTo>
                  <a:cubicBezTo>
                    <a:pt x="47" y="47"/>
                    <a:pt x="47" y="47"/>
                    <a:pt x="47" y="47"/>
                  </a:cubicBezTo>
                  <a:cubicBezTo>
                    <a:pt x="41" y="47"/>
                    <a:pt x="41" y="47"/>
                    <a:pt x="41" y="47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1" y="24"/>
                    <a:pt x="44" y="21"/>
                    <a:pt x="47" y="21"/>
                  </a:cubicBezTo>
                  <a:cubicBezTo>
                    <a:pt x="66" y="21"/>
                    <a:pt x="46" y="21"/>
                    <a:pt x="65" y="21"/>
                  </a:cubicBezTo>
                  <a:cubicBezTo>
                    <a:pt x="69" y="21"/>
                    <a:pt x="71" y="24"/>
                    <a:pt x="71" y="27"/>
                  </a:cubicBezTo>
                  <a:cubicBezTo>
                    <a:pt x="71" y="47"/>
                    <a:pt x="71" y="47"/>
                    <a:pt x="71" y="47"/>
                  </a:cubicBezTo>
                  <a:cubicBezTo>
                    <a:pt x="70" y="47"/>
                    <a:pt x="68" y="47"/>
                    <a:pt x="65" y="47"/>
                  </a:cubicBezTo>
                  <a:close/>
                  <a:moveTo>
                    <a:pt x="37" y="51"/>
                  </a:moveTo>
                  <a:cubicBezTo>
                    <a:pt x="37" y="72"/>
                    <a:pt x="37" y="72"/>
                    <a:pt x="37" y="72"/>
                  </a:cubicBezTo>
                  <a:cubicBezTo>
                    <a:pt x="31" y="72"/>
                    <a:pt x="31" y="72"/>
                    <a:pt x="31" y="72"/>
                  </a:cubicBezTo>
                  <a:cubicBezTo>
                    <a:pt x="31" y="54"/>
                    <a:pt x="31" y="54"/>
                    <a:pt x="31" y="54"/>
                  </a:cubicBezTo>
                  <a:cubicBezTo>
                    <a:pt x="30" y="54"/>
                    <a:pt x="30" y="54"/>
                    <a:pt x="30" y="54"/>
                  </a:cubicBezTo>
                  <a:cubicBezTo>
                    <a:pt x="30" y="72"/>
                    <a:pt x="30" y="72"/>
                    <a:pt x="30" y="72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51"/>
                    <a:pt x="24" y="51"/>
                    <a:pt x="24" y="51"/>
                  </a:cubicBezTo>
                  <a:cubicBezTo>
                    <a:pt x="24" y="47"/>
                    <a:pt x="24" y="47"/>
                    <a:pt x="24" y="47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3" y="47"/>
                    <a:pt x="23" y="47"/>
                    <a:pt x="23" y="47"/>
                  </a:cubicBezTo>
                  <a:cubicBezTo>
                    <a:pt x="18" y="47"/>
                    <a:pt x="18" y="47"/>
                    <a:pt x="18" y="47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28"/>
                    <a:pt x="20" y="26"/>
                    <a:pt x="23" y="26"/>
                  </a:cubicBezTo>
                  <a:cubicBezTo>
                    <a:pt x="35" y="26"/>
                    <a:pt x="35" y="26"/>
                    <a:pt x="35" y="26"/>
                  </a:cubicBezTo>
                  <a:cubicBezTo>
                    <a:pt x="35" y="27"/>
                    <a:pt x="35" y="28"/>
                    <a:pt x="35" y="28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7" y="51"/>
                    <a:pt x="37" y="51"/>
                    <a:pt x="37" y="51"/>
                  </a:cubicBezTo>
                  <a:close/>
                  <a:moveTo>
                    <a:pt x="31" y="9"/>
                  </a:moveTo>
                  <a:cubicBezTo>
                    <a:pt x="35" y="9"/>
                    <a:pt x="39" y="12"/>
                    <a:pt x="39" y="17"/>
                  </a:cubicBezTo>
                  <a:cubicBezTo>
                    <a:pt x="39" y="19"/>
                    <a:pt x="38" y="20"/>
                    <a:pt x="37" y="22"/>
                  </a:cubicBezTo>
                  <a:cubicBezTo>
                    <a:pt x="37" y="22"/>
                    <a:pt x="37" y="22"/>
                    <a:pt x="37" y="23"/>
                  </a:cubicBezTo>
                  <a:cubicBezTo>
                    <a:pt x="35" y="24"/>
                    <a:pt x="33" y="25"/>
                    <a:pt x="31" y="25"/>
                  </a:cubicBezTo>
                  <a:cubicBezTo>
                    <a:pt x="26" y="25"/>
                    <a:pt x="22" y="21"/>
                    <a:pt x="22" y="17"/>
                  </a:cubicBezTo>
                  <a:cubicBezTo>
                    <a:pt x="22" y="12"/>
                    <a:pt x="26" y="9"/>
                    <a:pt x="31" y="9"/>
                  </a:cubicBezTo>
                  <a:close/>
                  <a:moveTo>
                    <a:pt x="81" y="9"/>
                  </a:moveTo>
                  <a:cubicBezTo>
                    <a:pt x="76" y="9"/>
                    <a:pt x="73" y="12"/>
                    <a:pt x="73" y="17"/>
                  </a:cubicBezTo>
                  <a:cubicBezTo>
                    <a:pt x="73" y="19"/>
                    <a:pt x="73" y="20"/>
                    <a:pt x="74" y="22"/>
                  </a:cubicBezTo>
                  <a:cubicBezTo>
                    <a:pt x="75" y="22"/>
                    <a:pt x="75" y="22"/>
                    <a:pt x="75" y="23"/>
                  </a:cubicBezTo>
                  <a:cubicBezTo>
                    <a:pt x="77" y="24"/>
                    <a:pt x="79" y="25"/>
                    <a:pt x="81" y="25"/>
                  </a:cubicBezTo>
                  <a:cubicBezTo>
                    <a:pt x="85" y="25"/>
                    <a:pt x="89" y="21"/>
                    <a:pt x="89" y="17"/>
                  </a:cubicBezTo>
                  <a:cubicBezTo>
                    <a:pt x="89" y="12"/>
                    <a:pt x="85" y="9"/>
                    <a:pt x="81" y="9"/>
                  </a:cubicBezTo>
                  <a:close/>
                </a:path>
              </a:pathLst>
            </a:custGeom>
            <a:solidFill>
              <a:srgbClr val="1A3F6C"/>
            </a:solidFill>
            <a:ln>
              <a:noFill/>
            </a:ln>
            <a:extLst/>
          </p:spPr>
          <p:txBody>
            <a:bodyPr anchor="ctr">
              <a:scene3d>
                <a:camera prst="orthographicFront"/>
                <a:lightRig rig="threePt" dir="t"/>
              </a:scene3d>
              <a:sp3d contourW="12700">
                <a:contourClr>
                  <a:srgbClr val="FFFFFF"/>
                </a:contourClr>
              </a:sp3d>
            </a:bodyPr>
            <a:lstStyle/>
            <a:p>
              <a:pPr algn="ctr">
                <a:defRPr/>
              </a:pPr>
              <a:endParaRPr lang="zh-CN" altLang="en-US" dirty="0">
                <a:solidFill>
                  <a:srgbClr val="FFFFFF"/>
                </a:solidFill>
                <a:ea typeface="微软雅黑" pitchFamily="34" charset="-122"/>
              </a:endParaRPr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4272013" y="1082507"/>
            <a:ext cx="4772955" cy="22504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 b="1" dirty="0">
                <a:solidFill>
                  <a:schemeClr val="tx2">
                    <a:lumMod val="40000"/>
                    <a:lumOff val="60000"/>
                  </a:schemeClr>
                </a:solidFill>
                <a:latin typeface="Heiti SC Medium" pitchFamily="2" charset="-128"/>
                <a:ea typeface="Heiti SC Medium" pitchFamily="2" charset="-128"/>
                <a:cs typeface="Yuppy SC" panose="020F0603040207020204" pitchFamily="34" charset="-122"/>
              </a:rPr>
              <a:t>独热表达</a:t>
            </a:r>
            <a:endParaRPr lang="en-US" altLang="zh-CN" sz="1600" b="1" dirty="0">
              <a:solidFill>
                <a:schemeClr val="tx2">
                  <a:lumMod val="40000"/>
                  <a:lumOff val="60000"/>
                </a:schemeClr>
              </a:solidFill>
              <a:latin typeface="Heiti SC Medium" pitchFamily="2" charset="-128"/>
              <a:ea typeface="Heiti SC Medium" pitchFamily="2" charset="-128"/>
              <a:cs typeface="Yuppy SC" panose="020F0603040207020204" pitchFamily="34" charset="-122"/>
            </a:endParaRPr>
          </a:p>
          <a:p>
            <a:pPr marL="342900" indent="-342900" algn="just">
              <a:lnSpc>
                <a:spcPct val="150000"/>
              </a:lnSpc>
              <a:buFont typeface="+mj-ea"/>
              <a:buAutoNum type="arabicPeriod"/>
            </a:pPr>
            <a:r>
              <a:rPr lang="zh-CN" altLang="en-US" sz="1600" b="1" dirty="0">
                <a:solidFill>
                  <a:schemeClr val="tx2"/>
                </a:solidFill>
                <a:latin typeface="Heiti SC Medium" pitchFamily="2" charset="-128"/>
                <a:ea typeface="Heiti SC Medium" pitchFamily="2" charset="-128"/>
                <a:cs typeface="Yuppy SC" panose="020F0603040207020204" pitchFamily="34" charset="-122"/>
              </a:rPr>
              <a:t>分布式表达</a:t>
            </a:r>
            <a:endParaRPr lang="en-US" altLang="zh-CN" sz="1600" b="1" dirty="0">
              <a:solidFill>
                <a:schemeClr val="tx2"/>
              </a:solidFill>
              <a:latin typeface="Heiti SC Medium" pitchFamily="2" charset="-128"/>
              <a:ea typeface="Heiti SC Medium" pitchFamily="2" charset="-128"/>
              <a:cs typeface="Yuppy SC" panose="020F0603040207020204" pitchFamily="34" charset="-122"/>
            </a:endParaRP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b="1" dirty="0">
                <a:solidFill>
                  <a:schemeClr val="tx2">
                    <a:lumMod val="40000"/>
                    <a:lumOff val="60000"/>
                  </a:schemeClr>
                </a:solidFill>
                <a:latin typeface="Heiti SC Medium" pitchFamily="2" charset="-128"/>
                <a:ea typeface="Heiti SC Medium" pitchFamily="2" charset="-128"/>
                <a:cs typeface="Yuppy SC" panose="020F0603040207020204" pitchFamily="34" charset="-122"/>
              </a:rPr>
              <a:t>分布表达背景介绍</a:t>
            </a:r>
            <a:endParaRPr lang="en-US" altLang="zh-CN" sz="1600" b="1" dirty="0">
              <a:solidFill>
                <a:schemeClr val="tx2">
                  <a:lumMod val="40000"/>
                  <a:lumOff val="60000"/>
                </a:schemeClr>
              </a:solidFill>
              <a:latin typeface="Heiti SC Medium" pitchFamily="2" charset="-128"/>
              <a:ea typeface="Heiti SC Medium" pitchFamily="2" charset="-128"/>
              <a:cs typeface="Yuppy SC" panose="020F0603040207020204" pitchFamily="34" charset="-122"/>
            </a:endParaRP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b="1" dirty="0">
                <a:solidFill>
                  <a:schemeClr val="tx2">
                    <a:lumMod val="40000"/>
                    <a:lumOff val="60000"/>
                  </a:schemeClr>
                </a:solidFill>
                <a:latin typeface="Heiti SC Medium" pitchFamily="2" charset="-128"/>
                <a:ea typeface="Heiti SC Medium" pitchFamily="2" charset="-128"/>
                <a:cs typeface="Yuppy SC" panose="020F0603040207020204" pitchFamily="34" charset="-122"/>
              </a:rPr>
              <a:t>话题模型</a:t>
            </a:r>
            <a:endParaRPr lang="en-US" altLang="zh-CN" sz="1600" b="1" dirty="0">
              <a:solidFill>
                <a:schemeClr val="tx2">
                  <a:lumMod val="40000"/>
                  <a:lumOff val="60000"/>
                </a:schemeClr>
              </a:solidFill>
              <a:latin typeface="Heiti SC Medium" pitchFamily="2" charset="-128"/>
              <a:ea typeface="Heiti SC Medium" pitchFamily="2" charset="-128"/>
              <a:cs typeface="Yuppy SC" panose="020F0603040207020204" pitchFamily="34" charset="-122"/>
            </a:endParaRP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b="1" dirty="0">
                <a:solidFill>
                  <a:schemeClr val="tx2"/>
                </a:solidFill>
                <a:latin typeface="Heiti SC Medium" pitchFamily="2" charset="-128"/>
                <a:ea typeface="Heiti SC Medium" pitchFamily="2" charset="-128"/>
                <a:cs typeface="Yuppy SC" panose="020F0603040207020204" pitchFamily="34" charset="-122"/>
              </a:rPr>
              <a:t>词嵌入</a:t>
            </a:r>
            <a:endParaRPr lang="en-US" altLang="zh-CN" sz="1600" b="1" dirty="0">
              <a:solidFill>
                <a:schemeClr val="tx2"/>
              </a:solidFill>
              <a:latin typeface="Heiti SC Medium" pitchFamily="2" charset="-128"/>
              <a:ea typeface="Heiti SC Medium" pitchFamily="2" charset="-128"/>
              <a:cs typeface="Yuppy SC" panose="020F0603040207020204" pitchFamily="34" charset="-122"/>
            </a:endParaRPr>
          </a:p>
          <a:p>
            <a:pPr marL="342900" indent="-342900" algn="just">
              <a:lnSpc>
                <a:spcPct val="150000"/>
              </a:lnSpc>
              <a:buFont typeface="+mj-ea"/>
              <a:buAutoNum type="arabicPeriod"/>
            </a:pPr>
            <a:r>
              <a:rPr lang="zh-CN" altLang="en-US" sz="1600" b="1" dirty="0">
                <a:solidFill>
                  <a:schemeClr val="tx2">
                    <a:lumMod val="40000"/>
                    <a:lumOff val="60000"/>
                  </a:schemeClr>
                </a:solidFill>
                <a:latin typeface="Heiti SC Medium" pitchFamily="2" charset="-128"/>
                <a:ea typeface="Heiti SC Medium" pitchFamily="2" charset="-128"/>
                <a:cs typeface="Yuppy SC" panose="020F0603040207020204" pitchFamily="34" charset="-122"/>
              </a:rPr>
              <a:t>文本表达实践</a:t>
            </a:r>
            <a:endParaRPr lang="en-US" altLang="zh-CN" sz="1600" b="1" dirty="0">
              <a:solidFill>
                <a:schemeClr val="tx2">
                  <a:lumMod val="40000"/>
                  <a:lumOff val="60000"/>
                </a:schemeClr>
              </a:solidFill>
              <a:latin typeface="Heiti SC Medium" pitchFamily="2" charset="-128"/>
              <a:ea typeface="Heiti SC Medium" pitchFamily="2" charset="-128"/>
              <a:cs typeface="Yuppy SC" panose="020F0603040207020204" pitchFamily="34" charset="-122"/>
            </a:endParaRPr>
          </a:p>
        </p:txBody>
      </p:sp>
      <p:sp>
        <p:nvSpPr>
          <p:cNvPr id="24" name="椭圆 23"/>
          <p:cNvSpPr/>
          <p:nvPr/>
        </p:nvSpPr>
        <p:spPr>
          <a:xfrm>
            <a:off x="3858547" y="1207481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A3F6C"/>
              </a:solidFill>
            </a:endParaRPr>
          </a:p>
        </p:txBody>
      </p:sp>
      <p:sp>
        <p:nvSpPr>
          <p:cNvPr id="25" name="椭圆 24"/>
          <p:cNvSpPr/>
          <p:nvPr/>
        </p:nvSpPr>
        <p:spPr>
          <a:xfrm>
            <a:off x="3858547" y="1896643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A3F6C"/>
              </a:solidFill>
            </a:endParaRPr>
          </a:p>
        </p:txBody>
      </p:sp>
      <p:sp>
        <p:nvSpPr>
          <p:cNvPr id="26" name="椭圆 25"/>
          <p:cNvSpPr/>
          <p:nvPr/>
        </p:nvSpPr>
        <p:spPr>
          <a:xfrm>
            <a:off x="3858547" y="2262426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A3F6C"/>
              </a:solidFill>
            </a:endParaRPr>
          </a:p>
        </p:txBody>
      </p:sp>
      <p:sp>
        <p:nvSpPr>
          <p:cNvPr id="27" name="椭圆 26"/>
          <p:cNvSpPr/>
          <p:nvPr/>
        </p:nvSpPr>
        <p:spPr>
          <a:xfrm>
            <a:off x="3858547" y="2628210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A3F6C"/>
              </a:solidFill>
            </a:endParaRPr>
          </a:p>
        </p:txBody>
      </p:sp>
      <p:sp>
        <p:nvSpPr>
          <p:cNvPr id="30" name="椭圆 29"/>
          <p:cNvSpPr/>
          <p:nvPr/>
        </p:nvSpPr>
        <p:spPr>
          <a:xfrm>
            <a:off x="3858547" y="1549195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A3F6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2406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15" grpId="0"/>
      <p:bldP spid="24" grpId="0" animBg="1"/>
      <p:bldP spid="25" grpId="0" animBg="1"/>
      <p:bldP spid="26" grpId="0" animBg="1"/>
      <p:bldP spid="27" grpId="0" animBg="1"/>
      <p:bldP spid="30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64D22444-E3C4-EB42-9FBE-550B999632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 smtClean="0"/>
              <a:t>回顾之前的例子： “</a:t>
            </a:r>
            <a:r>
              <a:rPr lang="en" altLang="zh-CN" dirty="0" err="1"/>
              <a:t>bardiwac</a:t>
            </a:r>
            <a:r>
              <a:rPr kumimoji="1" lang="zh-CN" altLang="en-US" dirty="0"/>
              <a:t>”大致的含义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="" xmlns:a16="http://schemas.microsoft.com/office/drawing/2014/main" id="{78344AC2-F69F-654D-BE65-D3F94E296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19150"/>
            <a:ext cx="6537366" cy="3937000"/>
          </a:xfrm>
        </p:spPr>
        <p:txBody>
          <a:bodyPr>
            <a:normAutofit/>
          </a:bodyPr>
          <a:lstStyle/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</p:txBody>
      </p:sp>
      <p:pic>
        <p:nvPicPr>
          <p:cNvPr id="4" name="图片 3">
            <a:extLst>
              <a:ext uri="{FF2B5EF4-FFF2-40B4-BE49-F238E27FC236}">
                <a16:creationId xmlns="" xmlns:a16="http://schemas.microsoft.com/office/drawing/2014/main" id="{E5F8D25F-B4D8-CE4E-A6D9-E4CE344365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506" y="985405"/>
            <a:ext cx="6567055" cy="3218292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="" xmlns:a16="http://schemas.microsoft.com/office/drawing/2014/main" id="{6D380C88-83F5-3145-B685-886838884200}"/>
              </a:ext>
            </a:extLst>
          </p:cNvPr>
          <p:cNvSpPr txBox="1"/>
          <p:nvPr/>
        </p:nvSpPr>
        <p:spPr>
          <a:xfrm>
            <a:off x="6804561" y="1948220"/>
            <a:ext cx="193354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</a:rPr>
              <a:t>A</a:t>
            </a:r>
            <a:r>
              <a:rPr kumimoji="1" lang="zh-CN" altLang="en-US" dirty="0">
                <a:solidFill>
                  <a:srgbClr val="C00000"/>
                </a:solidFill>
              </a:rPr>
              <a:t>：一种红葡萄酒</a:t>
            </a:r>
            <a:endParaRPr kumimoji="1" lang="en-US" altLang="zh-CN" dirty="0">
              <a:solidFill>
                <a:srgbClr val="C00000"/>
              </a:solidFill>
            </a:endParaRPr>
          </a:p>
          <a:p>
            <a:r>
              <a:rPr kumimoji="1" lang="en-US" altLang="zh-CN" dirty="0">
                <a:solidFill>
                  <a:srgbClr val="C00000"/>
                </a:solidFill>
              </a:rPr>
              <a:t>B</a:t>
            </a:r>
            <a:r>
              <a:rPr kumimoji="1" lang="zh-CN" altLang="en-US" dirty="0">
                <a:solidFill>
                  <a:srgbClr val="C00000"/>
                </a:solidFill>
              </a:rPr>
              <a:t>：一个地名</a:t>
            </a:r>
            <a:endParaRPr kumimoji="1" lang="en-US" altLang="zh-CN" dirty="0">
              <a:solidFill>
                <a:srgbClr val="C00000"/>
              </a:solidFill>
            </a:endParaRPr>
          </a:p>
          <a:p>
            <a:r>
              <a:rPr kumimoji="1" lang="en-US" altLang="zh-CN" dirty="0">
                <a:solidFill>
                  <a:srgbClr val="C00000"/>
                </a:solidFill>
              </a:rPr>
              <a:t>C</a:t>
            </a:r>
            <a:r>
              <a:rPr kumimoji="1" lang="zh-CN" altLang="en-US" dirty="0">
                <a:solidFill>
                  <a:srgbClr val="C00000"/>
                </a:solidFill>
              </a:rPr>
              <a:t>：一个人名</a:t>
            </a:r>
          </a:p>
        </p:txBody>
      </p:sp>
      <p:sp>
        <p:nvSpPr>
          <p:cNvPr id="6" name="Rectangle 5"/>
          <p:cNvSpPr/>
          <p:nvPr/>
        </p:nvSpPr>
        <p:spPr>
          <a:xfrm>
            <a:off x="7354767" y="1425000"/>
            <a:ext cx="64312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rgbClr val="000000"/>
                </a:solidFill>
                <a:latin typeface="Helvetica Neue" charset="0"/>
              </a:rPr>
              <a:t>🔔</a:t>
            </a:r>
            <a:r>
              <a:rPr lang="zh-CN" altLang="en-US" sz="2800" dirty="0">
                <a:solidFill>
                  <a:srgbClr val="000000"/>
                </a:solidFill>
                <a:latin typeface="Helvetica Neue" charset="0"/>
              </a:rPr>
              <a:t> 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0382657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FED019BF-511B-774F-B585-68917F2775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为什么可以猜到？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="" xmlns:a16="http://schemas.microsoft.com/office/drawing/2014/main" id="{EC411639-0812-E344-A4DE-5B8165A831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 err="1"/>
              <a:t>Bardiwac</a:t>
            </a:r>
            <a:r>
              <a:rPr kumimoji="1" lang="zh-CN" altLang="en-US" dirty="0"/>
              <a:t>在多个文档中的上下文是关键！！！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="" xmlns:a16="http://schemas.microsoft.com/office/drawing/2014/main" id="{3FCFB90F-05E4-6A4B-B206-2DBFC1462A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1259" y="1277150"/>
            <a:ext cx="6421482" cy="3771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85174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6252C8BE-F484-CD45-83A8-C4C9355E5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Word2Vec</a:t>
            </a:r>
            <a:endParaRPr kumimoji="1" lang="zh-CN" altLang="en-US" dirty="0"/>
          </a:p>
        </p:txBody>
      </p:sp>
      <p:sp>
        <p:nvSpPr>
          <p:cNvPr id="5" name="内容占位符 4">
            <a:extLst>
              <a:ext uri="{FF2B5EF4-FFF2-40B4-BE49-F238E27FC236}">
                <a16:creationId xmlns="" xmlns:a16="http://schemas.microsoft.com/office/drawing/2014/main" id="{0A707BF5-53DC-AC46-8E29-AF380EBCE0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3111335"/>
            <a:ext cx="8229600" cy="1870447"/>
          </a:xfrm>
        </p:spPr>
        <p:txBody>
          <a:bodyPr>
            <a:normAutofit fontScale="92500" lnSpcReduction="10000"/>
          </a:bodyPr>
          <a:lstStyle/>
          <a:p>
            <a:r>
              <a:rPr kumimoji="1" lang="zh-CN" altLang="en-US" dirty="0"/>
              <a:t>关注于单词的分布式表达（后来的</a:t>
            </a:r>
            <a:r>
              <a:rPr kumimoji="1" lang="en-US" altLang="zh-CN" dirty="0"/>
              <a:t>doc2vec</a:t>
            </a:r>
            <a:r>
              <a:rPr kumimoji="1" lang="zh-CN" altLang="en-US" dirty="0"/>
              <a:t>考虑了文档表达）</a:t>
            </a:r>
            <a:endParaRPr kumimoji="1" lang="en-US" altLang="zh-CN" dirty="0"/>
          </a:p>
          <a:p>
            <a:r>
              <a:rPr kumimoji="1" lang="zh-CN" altLang="en-US" dirty="0"/>
              <a:t>核心想法：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两个单词的相似性 </a:t>
            </a:r>
            <a:r>
              <a:rPr kumimoji="1" lang="en-US" altLang="zh-CN" dirty="0"/>
              <a:t>=</a:t>
            </a:r>
            <a:r>
              <a:rPr kumimoji="1" lang="zh-CN" altLang="en-US" dirty="0"/>
              <a:t> 其对应的词向量的相似度</a:t>
            </a:r>
            <a:endParaRPr kumimoji="1" lang="en-US" altLang="zh-CN" dirty="0"/>
          </a:p>
          <a:p>
            <a:pPr lvl="1"/>
            <a:r>
              <a:rPr lang="zh-CN" altLang="en-US" dirty="0"/>
              <a:t>对文档集合中的每一个词（中心词），计算它周围的词（上下文）的相似度</a:t>
            </a:r>
            <a:endParaRPr lang="en-US" altLang="zh-CN" dirty="0"/>
          </a:p>
          <a:p>
            <a:pPr lvl="2"/>
            <a:r>
              <a:rPr lang="zh-CN" altLang="en-US" dirty="0"/>
              <a:t>用中心词去预测上下文所出现的单词</a:t>
            </a:r>
            <a:endParaRPr lang="en-US" altLang="zh-CN" dirty="0"/>
          </a:p>
          <a:p>
            <a:pPr lvl="2"/>
            <a:r>
              <a:rPr lang="zh-CN" altLang="en-US" dirty="0"/>
              <a:t>或者：用上下文出现的词预测中心词</a:t>
            </a:r>
            <a:endParaRPr lang="en-US" altLang="zh-CN" dirty="0"/>
          </a:p>
          <a:p>
            <a:pPr lvl="1"/>
            <a:endParaRPr lang="en-US" altLang="zh-CN" dirty="0"/>
          </a:p>
          <a:p>
            <a:endParaRPr kumimoji="1" lang="zh-CN" altLang="en-US" dirty="0"/>
          </a:p>
        </p:txBody>
      </p:sp>
      <p:pic>
        <p:nvPicPr>
          <p:cNvPr id="6" name="内容占位符 3">
            <a:extLst>
              <a:ext uri="{FF2B5EF4-FFF2-40B4-BE49-F238E27FC236}">
                <a16:creationId xmlns="" xmlns:a16="http://schemas.microsoft.com/office/drawing/2014/main" id="{3488E55F-36D5-B244-9B41-D92062C9AD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93" y="958190"/>
            <a:ext cx="3557816" cy="189980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="" xmlns:a16="http://schemas.microsoft.com/office/drawing/2014/main" id="{DE5C467A-CAAA-254E-BCA9-D45874A6FA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0345" y="1640115"/>
            <a:ext cx="5428265" cy="1217880"/>
          </a:xfrm>
          <a:prstGeom prst="rect">
            <a:avLst/>
          </a:prstGeom>
        </p:spPr>
      </p:pic>
      <p:sp>
        <p:nvSpPr>
          <p:cNvPr id="8" name="椭圆 7">
            <a:extLst>
              <a:ext uri="{FF2B5EF4-FFF2-40B4-BE49-F238E27FC236}">
                <a16:creationId xmlns="" xmlns:a16="http://schemas.microsoft.com/office/drawing/2014/main" id="{52E311DC-7D27-C741-8F90-3C35FF8DAF00}"/>
              </a:ext>
            </a:extLst>
          </p:cNvPr>
          <p:cNvSpPr/>
          <p:nvPr/>
        </p:nvSpPr>
        <p:spPr>
          <a:xfrm>
            <a:off x="5140036" y="2507673"/>
            <a:ext cx="942109" cy="350322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/>
          </a:p>
        </p:txBody>
      </p:sp>
      <p:sp>
        <p:nvSpPr>
          <p:cNvPr id="3" name="Rectangle 2"/>
          <p:cNvSpPr/>
          <p:nvPr/>
        </p:nvSpPr>
        <p:spPr>
          <a:xfrm>
            <a:off x="3920345" y="1017443"/>
            <a:ext cx="497847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/>
              <a:t>Online</a:t>
            </a:r>
            <a:r>
              <a:rPr lang="zh-CN" altLang="en-US" dirty="0" smtClean="0"/>
              <a:t> </a:t>
            </a:r>
            <a:r>
              <a:rPr lang="en-US" altLang="zh-CN" dirty="0" smtClean="0"/>
              <a:t>Demo:</a:t>
            </a:r>
            <a:r>
              <a:rPr lang="zh-CN" altLang="en-US" dirty="0" smtClean="0"/>
              <a:t> </a:t>
            </a:r>
            <a:r>
              <a:rPr lang="en-US" dirty="0" smtClean="0">
                <a:hlinkClick r:id="rId4"/>
              </a:rPr>
              <a:t>http</a:t>
            </a:r>
            <a:r>
              <a:rPr lang="en-US" dirty="0">
                <a:hlinkClick r:id="rId4"/>
              </a:rPr>
              <a:t>://</a:t>
            </a:r>
            <a:r>
              <a:rPr lang="en-US" dirty="0" smtClean="0">
                <a:hlinkClick r:id="rId4"/>
              </a:rPr>
              <a:t>bionlp-www.utu.fi/wv_demo/</a:t>
            </a: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76129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Word2vec</a:t>
            </a:r>
            <a:r>
              <a:rPr lang="zh-CN" altLang="en-US" dirty="0"/>
              <a:t>两大类基本模型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两大基本模型：</a:t>
            </a:r>
            <a:endParaRPr lang="en-US" dirty="0"/>
          </a:p>
          <a:p>
            <a:pPr lvl="1"/>
            <a:r>
              <a:rPr lang="zh-CN" altLang="en-US" dirty="0"/>
              <a:t>用上下文出现的单词去预测中心词：</a:t>
            </a:r>
            <a:r>
              <a:rPr lang="en-US" dirty="0"/>
              <a:t>Continuous Bag of Word (CBOW):</a:t>
            </a:r>
          </a:p>
          <a:p>
            <a:pPr lvl="1"/>
            <a:r>
              <a:rPr lang="zh-CN" altLang="en-US" dirty="0"/>
              <a:t>用中心词去预测上下文出现的单词：</a:t>
            </a:r>
            <a:r>
              <a:rPr lang="en-US" dirty="0"/>
              <a:t>Skip-gram (SG</a:t>
            </a:r>
            <a:r>
              <a:rPr lang="zh-CN" altLang="en-US" dirty="0"/>
              <a:t>）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51</a:t>
            </a:fld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6803" y="2256463"/>
            <a:ext cx="4512128" cy="2744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35468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以</a:t>
            </a:r>
            <a:r>
              <a:rPr lang="en-US" dirty="0"/>
              <a:t>Continuous Bag of Word</a:t>
            </a:r>
            <a:r>
              <a:rPr lang="en-US" altLang="zh-CN" dirty="0"/>
              <a:t>(CBOW)</a:t>
            </a:r>
            <a:r>
              <a:rPr lang="zh-CN" altLang="en-US" dirty="0"/>
              <a:t>为例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例句：“</a:t>
            </a:r>
            <a:r>
              <a:rPr lang="en-US" dirty="0"/>
              <a:t>The cat sat on mat”</a:t>
            </a:r>
          </a:p>
          <a:p>
            <a:pPr lvl="1"/>
            <a:r>
              <a:rPr lang="zh-CN" altLang="en-US" dirty="0"/>
              <a:t>上下文窗口大小</a:t>
            </a:r>
            <a:r>
              <a:rPr lang="en-US" dirty="0"/>
              <a:t> = 2</a:t>
            </a:r>
            <a:r>
              <a:rPr lang="zh-CN" altLang="en-US" dirty="0"/>
              <a:t>（上文和下文均取同一句话中的两个单词）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52</a:t>
            </a:fld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1184" y="1834471"/>
            <a:ext cx="2636045" cy="307344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067596" y="2237524"/>
            <a:ext cx="4635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the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67596" y="2714370"/>
            <a:ext cx="43428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cat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67596" y="3898968"/>
            <a:ext cx="4010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69846" y="4336121"/>
            <a:ext cx="5129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mat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04047" y="3295405"/>
            <a:ext cx="42960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2">
                    <a:lumMod val="75000"/>
                  </a:schemeClr>
                </a:solidFill>
              </a:rPr>
              <a:t>sat</a:t>
            </a:r>
          </a:p>
        </p:txBody>
      </p:sp>
    </p:spTree>
    <p:extLst>
      <p:ext uri="{BB962C8B-B14F-4D97-AF65-F5344CB8AC3E}">
        <p14:creationId xmlns:p14="http://schemas.microsoft.com/office/powerpoint/2010/main" val="41238814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5855C9DE-5635-0947-9AC6-D9DB991FD9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CBOW</a:t>
            </a:r>
            <a:r>
              <a:rPr kumimoji="1" lang="zh-CN" altLang="en-US" dirty="0"/>
              <a:t>预测网络结构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53</a:t>
            </a:fld>
            <a:endParaRPr lang="en-US" dirty="0"/>
          </a:p>
        </p:txBody>
      </p:sp>
      <p:grpSp>
        <p:nvGrpSpPr>
          <p:cNvPr id="20" name="Group 19"/>
          <p:cNvGrpSpPr/>
          <p:nvPr/>
        </p:nvGrpSpPr>
        <p:grpSpPr>
          <a:xfrm>
            <a:off x="2502750" y="1332906"/>
            <a:ext cx="154305" cy="1337310"/>
            <a:chOff x="1800225" y="419100"/>
            <a:chExt cx="182880" cy="1828800"/>
          </a:xfrm>
        </p:grpSpPr>
        <p:sp>
          <p:nvSpPr>
            <p:cNvPr id="9" name="Rectangle 8"/>
            <p:cNvSpPr/>
            <p:nvPr/>
          </p:nvSpPr>
          <p:spPr>
            <a:xfrm>
              <a:off x="1800225" y="41910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00225" y="60198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b="1" dirty="0">
                  <a:solidFill>
                    <a:srgbClr val="FF0000"/>
                  </a:solidFill>
                </a:rPr>
                <a:t>1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00225" y="78486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800225" y="96774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00225" y="115062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800225" y="133350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800225" y="151638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1800225" y="169926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1800225" y="188214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…</a:t>
              </a: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1800225" y="206502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2502751" y="2945976"/>
            <a:ext cx="154305" cy="1337310"/>
            <a:chOff x="1800225" y="419100"/>
            <a:chExt cx="182880" cy="1828800"/>
          </a:xfrm>
        </p:grpSpPr>
        <p:sp>
          <p:nvSpPr>
            <p:cNvPr id="22" name="Rectangle 21"/>
            <p:cNvSpPr/>
            <p:nvPr/>
          </p:nvSpPr>
          <p:spPr>
            <a:xfrm>
              <a:off x="1800225" y="41910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1800225" y="60198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1800225" y="78486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1800225" y="96774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b="1" dirty="0">
                  <a:solidFill>
                    <a:srgbClr val="FF0000"/>
                  </a:solidFill>
                </a:rPr>
                <a:t>1</a:t>
              </a: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1800225" y="115062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1800225" y="133350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28" name="Rectangle 27"/>
            <p:cNvSpPr/>
            <p:nvPr/>
          </p:nvSpPr>
          <p:spPr>
            <a:xfrm>
              <a:off x="1800225" y="151638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800225" y="169926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800225" y="188214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…</a:t>
              </a: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1800225" y="206502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</p:grpSp>
      <p:sp>
        <p:nvSpPr>
          <p:cNvPr id="32" name="TextBox 31"/>
          <p:cNvSpPr txBox="1"/>
          <p:nvPr/>
        </p:nvSpPr>
        <p:spPr>
          <a:xfrm>
            <a:off x="2043269" y="1393868"/>
            <a:ext cx="466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Cat</a:t>
            </a:r>
            <a:r>
              <a:rPr lang="zh-CN" altLang="en-US" sz="1400" dirty="0"/>
              <a:t> </a:t>
            </a:r>
            <a:endParaRPr lang="en-US" sz="1400" dirty="0"/>
          </a:p>
        </p:txBody>
      </p:sp>
      <p:sp>
        <p:nvSpPr>
          <p:cNvPr id="33" name="TextBox 32"/>
          <p:cNvSpPr txBox="1"/>
          <p:nvPr/>
        </p:nvSpPr>
        <p:spPr>
          <a:xfrm>
            <a:off x="2062108" y="3280303"/>
            <a:ext cx="3738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on</a:t>
            </a:r>
          </a:p>
        </p:txBody>
      </p:sp>
      <p:grpSp>
        <p:nvGrpSpPr>
          <p:cNvPr id="46" name="Group 45"/>
          <p:cNvGrpSpPr/>
          <p:nvPr/>
        </p:nvGrpSpPr>
        <p:grpSpPr>
          <a:xfrm>
            <a:off x="4449257" y="2354316"/>
            <a:ext cx="154305" cy="802386"/>
            <a:chOff x="1800225" y="419100"/>
            <a:chExt cx="182880" cy="1097280"/>
          </a:xfrm>
        </p:grpSpPr>
        <p:sp>
          <p:nvSpPr>
            <p:cNvPr id="47" name="Rectangle 46"/>
            <p:cNvSpPr/>
            <p:nvPr/>
          </p:nvSpPr>
          <p:spPr>
            <a:xfrm>
              <a:off x="1800225" y="41910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endParaRPr lang="en-US" sz="619" dirty="0">
                <a:solidFill>
                  <a:schemeClr val="tx1"/>
                </a:solidFill>
              </a:endParaRPr>
            </a:p>
          </p:txBody>
        </p:sp>
        <p:sp>
          <p:nvSpPr>
            <p:cNvPr id="48" name="Rectangle 47"/>
            <p:cNvSpPr/>
            <p:nvPr/>
          </p:nvSpPr>
          <p:spPr>
            <a:xfrm>
              <a:off x="1800225" y="60198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endParaRPr lang="en-US" sz="619" b="1" dirty="0">
                <a:solidFill>
                  <a:srgbClr val="FF0000"/>
                </a:solidFill>
              </a:endParaRPr>
            </a:p>
          </p:txBody>
        </p:sp>
        <p:sp>
          <p:nvSpPr>
            <p:cNvPr id="49" name="Rectangle 48"/>
            <p:cNvSpPr/>
            <p:nvPr/>
          </p:nvSpPr>
          <p:spPr>
            <a:xfrm>
              <a:off x="1800225" y="78486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endParaRPr lang="en-US" sz="619" dirty="0">
                <a:solidFill>
                  <a:schemeClr val="tx1"/>
                </a:solidFill>
              </a:endParaRPr>
            </a:p>
          </p:txBody>
        </p:sp>
        <p:sp>
          <p:nvSpPr>
            <p:cNvPr id="50" name="Rectangle 49"/>
            <p:cNvSpPr/>
            <p:nvPr/>
          </p:nvSpPr>
          <p:spPr>
            <a:xfrm>
              <a:off x="1800225" y="96774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endParaRPr lang="en-US" sz="619" dirty="0">
                <a:solidFill>
                  <a:schemeClr val="tx1"/>
                </a:solidFill>
              </a:endParaRPr>
            </a:p>
          </p:txBody>
        </p:sp>
        <p:sp>
          <p:nvSpPr>
            <p:cNvPr id="51" name="Rectangle 50"/>
            <p:cNvSpPr/>
            <p:nvPr/>
          </p:nvSpPr>
          <p:spPr>
            <a:xfrm>
              <a:off x="1800225" y="115062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endParaRPr lang="en-US" sz="619" dirty="0">
                <a:solidFill>
                  <a:schemeClr val="tx1"/>
                </a:solidFill>
              </a:endParaRPr>
            </a:p>
          </p:txBody>
        </p:sp>
        <p:sp>
          <p:nvSpPr>
            <p:cNvPr id="52" name="Rectangle 51"/>
            <p:cNvSpPr/>
            <p:nvPr/>
          </p:nvSpPr>
          <p:spPr>
            <a:xfrm>
              <a:off x="1800225" y="133350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endParaRPr lang="en-US" sz="619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57" name="Group 56"/>
          <p:cNvGrpSpPr/>
          <p:nvPr/>
        </p:nvGrpSpPr>
        <p:grpSpPr>
          <a:xfrm>
            <a:off x="6400484" y="2135292"/>
            <a:ext cx="154305" cy="1337310"/>
            <a:chOff x="1800225" y="419100"/>
            <a:chExt cx="182880" cy="1828800"/>
          </a:xfrm>
        </p:grpSpPr>
        <p:sp>
          <p:nvSpPr>
            <p:cNvPr id="58" name="Rectangle 57"/>
            <p:cNvSpPr/>
            <p:nvPr/>
          </p:nvSpPr>
          <p:spPr>
            <a:xfrm>
              <a:off x="1800225" y="41910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59" name="Rectangle 58"/>
            <p:cNvSpPr/>
            <p:nvPr/>
          </p:nvSpPr>
          <p:spPr>
            <a:xfrm>
              <a:off x="1800225" y="60198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60" name="Rectangle 59"/>
            <p:cNvSpPr/>
            <p:nvPr/>
          </p:nvSpPr>
          <p:spPr>
            <a:xfrm>
              <a:off x="1800225" y="78486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61" name="Rectangle 60"/>
            <p:cNvSpPr/>
            <p:nvPr/>
          </p:nvSpPr>
          <p:spPr>
            <a:xfrm>
              <a:off x="1800225" y="96774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62" name="Rectangle 61"/>
            <p:cNvSpPr/>
            <p:nvPr/>
          </p:nvSpPr>
          <p:spPr>
            <a:xfrm>
              <a:off x="1800225" y="115062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63" name="Rectangle 62"/>
            <p:cNvSpPr/>
            <p:nvPr/>
          </p:nvSpPr>
          <p:spPr>
            <a:xfrm>
              <a:off x="1800225" y="133350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64" name="Rectangle 63"/>
            <p:cNvSpPr/>
            <p:nvPr/>
          </p:nvSpPr>
          <p:spPr>
            <a:xfrm>
              <a:off x="1800225" y="151638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65" name="Rectangle 64"/>
            <p:cNvSpPr/>
            <p:nvPr/>
          </p:nvSpPr>
          <p:spPr>
            <a:xfrm>
              <a:off x="1800225" y="169926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b="1" dirty="0">
                  <a:solidFill>
                    <a:srgbClr val="FF0000"/>
                  </a:solidFill>
                </a:rPr>
                <a:t>1</a:t>
              </a:r>
            </a:p>
          </p:txBody>
        </p:sp>
        <p:sp>
          <p:nvSpPr>
            <p:cNvPr id="66" name="Rectangle 65"/>
            <p:cNvSpPr/>
            <p:nvPr/>
          </p:nvSpPr>
          <p:spPr>
            <a:xfrm>
              <a:off x="1800225" y="188214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…</a:t>
              </a:r>
            </a:p>
          </p:txBody>
        </p:sp>
        <p:sp>
          <p:nvSpPr>
            <p:cNvPr id="67" name="Rectangle 66"/>
            <p:cNvSpPr/>
            <p:nvPr/>
          </p:nvSpPr>
          <p:spPr>
            <a:xfrm>
              <a:off x="1800225" y="206502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</p:grpSp>
      <p:sp>
        <p:nvSpPr>
          <p:cNvPr id="68" name="TextBox 67"/>
          <p:cNvSpPr txBox="1"/>
          <p:nvPr/>
        </p:nvSpPr>
        <p:spPr>
          <a:xfrm>
            <a:off x="1724656" y="896067"/>
            <a:ext cx="182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/>
              <a:t>输入层：独热表示</a:t>
            </a:r>
            <a:endParaRPr lang="en-US" sz="1600" dirty="0"/>
          </a:p>
        </p:txBody>
      </p:sp>
      <p:cxnSp>
        <p:nvCxnSpPr>
          <p:cNvPr id="70" name="Straight Connector 69"/>
          <p:cNvCxnSpPr/>
          <p:nvPr/>
        </p:nvCxnSpPr>
        <p:spPr>
          <a:xfrm>
            <a:off x="2657056" y="1332908"/>
            <a:ext cx="1792202" cy="102140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/>
          <p:cNvCxnSpPr/>
          <p:nvPr/>
        </p:nvCxnSpPr>
        <p:spPr>
          <a:xfrm flipV="1">
            <a:off x="2657055" y="2352099"/>
            <a:ext cx="1792202" cy="59387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/>
          <p:cNvCxnSpPr/>
          <p:nvPr/>
        </p:nvCxnSpPr>
        <p:spPr>
          <a:xfrm>
            <a:off x="2652337" y="2668799"/>
            <a:ext cx="1796921" cy="4879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/>
          <p:cNvCxnSpPr/>
          <p:nvPr/>
        </p:nvCxnSpPr>
        <p:spPr>
          <a:xfrm flipV="1">
            <a:off x="2657055" y="3165000"/>
            <a:ext cx="1792202" cy="11182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TextBox 81"/>
          <p:cNvSpPr txBox="1"/>
          <p:nvPr/>
        </p:nvSpPr>
        <p:spPr>
          <a:xfrm>
            <a:off x="3605228" y="1810651"/>
            <a:ext cx="193354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/>
              <a:t>隐层：</a:t>
            </a:r>
            <a:r>
              <a:rPr lang="en-US" altLang="zh-CN" sz="1600" dirty="0"/>
              <a:t>K</a:t>
            </a:r>
            <a:r>
              <a:rPr lang="zh-CN" altLang="en-US" sz="1600" dirty="0"/>
              <a:t>维稠密向量</a:t>
            </a:r>
            <a:endParaRPr lang="en-US" sz="1600" dirty="0"/>
          </a:p>
        </p:txBody>
      </p:sp>
      <p:sp>
        <p:nvSpPr>
          <p:cNvPr id="83" name="TextBox 82"/>
          <p:cNvSpPr txBox="1"/>
          <p:nvPr/>
        </p:nvSpPr>
        <p:spPr>
          <a:xfrm>
            <a:off x="6550068" y="2937678"/>
            <a:ext cx="4598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sat</a:t>
            </a:r>
          </a:p>
        </p:txBody>
      </p:sp>
      <p:cxnSp>
        <p:nvCxnSpPr>
          <p:cNvPr id="84" name="Straight Connector 83"/>
          <p:cNvCxnSpPr/>
          <p:nvPr/>
        </p:nvCxnSpPr>
        <p:spPr>
          <a:xfrm flipV="1">
            <a:off x="4603562" y="2134608"/>
            <a:ext cx="1796922" cy="2174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/>
          <p:cNvCxnSpPr/>
          <p:nvPr/>
        </p:nvCxnSpPr>
        <p:spPr>
          <a:xfrm>
            <a:off x="4603562" y="3156703"/>
            <a:ext cx="1796922" cy="31590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TextBox 90"/>
          <p:cNvSpPr txBox="1"/>
          <p:nvPr/>
        </p:nvSpPr>
        <p:spPr>
          <a:xfrm>
            <a:off x="5656062" y="1106043"/>
            <a:ext cx="164314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/>
              <a:t>输出层：</a:t>
            </a:r>
            <a:endParaRPr lang="en-US" altLang="zh-CN" sz="1600" dirty="0"/>
          </a:p>
          <a:p>
            <a:pPr algn="ctr"/>
            <a:r>
              <a:rPr lang="en-US" altLang="zh-CN" sz="1600" dirty="0"/>
              <a:t>0-1</a:t>
            </a:r>
            <a:r>
              <a:rPr lang="zh-CN" altLang="en-US" sz="1600" dirty="0"/>
              <a:t>独热向量表示预测的单词</a:t>
            </a:r>
            <a:endParaRPr lang="en-US" sz="1600" dirty="0"/>
          </a:p>
        </p:txBody>
      </p:sp>
      <p:sp>
        <p:nvSpPr>
          <p:cNvPr id="69" name="TextBox 68"/>
          <p:cNvSpPr txBox="1"/>
          <p:nvPr/>
        </p:nvSpPr>
        <p:spPr>
          <a:xfrm>
            <a:off x="353788" y="1412356"/>
            <a:ext cx="165371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solidFill>
                  <a:srgbClr val="FF0000"/>
                </a:solidFill>
              </a:rPr>
              <a:t>0-1</a:t>
            </a:r>
            <a:r>
              <a:rPr lang="zh-CN" altLang="en-US" sz="1600" dirty="0">
                <a:solidFill>
                  <a:srgbClr val="FF0000"/>
                </a:solidFill>
              </a:rPr>
              <a:t>向量，每一个单词占据一个维度</a:t>
            </a:r>
            <a:endParaRPr lang="en-US" sz="1600" dirty="0">
              <a:solidFill>
                <a:srgbClr val="FF0000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="" xmlns:a16="http://schemas.microsoft.com/office/drawing/2014/main" id="{CA5CE84E-4ED2-4A43-BCBC-1A70006EE3C7}"/>
              </a:ext>
            </a:extLst>
          </p:cNvPr>
          <p:cNvSpPr/>
          <p:nvPr/>
        </p:nvSpPr>
        <p:spPr>
          <a:xfrm>
            <a:off x="0" y="4655782"/>
            <a:ext cx="27254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dirty="0"/>
              <a:t>（本图假设窗口大小</a:t>
            </a:r>
            <a:r>
              <a:rPr kumimoji="1" lang="en-US" altLang="zh-CN" dirty="0"/>
              <a:t>=1</a:t>
            </a:r>
            <a:r>
              <a:rPr kumimoji="1" lang="zh-CN" altLang="en-US" dirty="0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36036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54</a:t>
            </a:fld>
            <a:endParaRPr lang="en-US" dirty="0"/>
          </a:p>
        </p:txBody>
      </p:sp>
      <p:grpSp>
        <p:nvGrpSpPr>
          <p:cNvPr id="20" name="Group 19"/>
          <p:cNvGrpSpPr/>
          <p:nvPr/>
        </p:nvGrpSpPr>
        <p:grpSpPr>
          <a:xfrm>
            <a:off x="1787295" y="1770281"/>
            <a:ext cx="154305" cy="1337310"/>
            <a:chOff x="1800225" y="419100"/>
            <a:chExt cx="182880" cy="1828800"/>
          </a:xfrm>
        </p:grpSpPr>
        <p:sp>
          <p:nvSpPr>
            <p:cNvPr id="9" name="Rectangle 8"/>
            <p:cNvSpPr/>
            <p:nvPr/>
          </p:nvSpPr>
          <p:spPr>
            <a:xfrm>
              <a:off x="1800225" y="41910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00225" y="60198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b="1" dirty="0">
                  <a:solidFill>
                    <a:srgbClr val="FF0000"/>
                  </a:solidFill>
                </a:rPr>
                <a:t>1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00225" y="78486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800225" y="96774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00225" y="115062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800225" y="133350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800225" y="151638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1800225" y="169926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1800225" y="188214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…</a:t>
              </a: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1800225" y="206502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1787295" y="3383350"/>
            <a:ext cx="154305" cy="1337310"/>
            <a:chOff x="1800225" y="419100"/>
            <a:chExt cx="182880" cy="1828800"/>
          </a:xfrm>
        </p:grpSpPr>
        <p:sp>
          <p:nvSpPr>
            <p:cNvPr id="22" name="Rectangle 21"/>
            <p:cNvSpPr/>
            <p:nvPr/>
          </p:nvSpPr>
          <p:spPr>
            <a:xfrm>
              <a:off x="1800225" y="41910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1800225" y="60198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1800225" y="78486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1800225" y="96774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b="1" dirty="0">
                  <a:solidFill>
                    <a:srgbClr val="FF0000"/>
                  </a:solidFill>
                </a:rPr>
                <a:t>1</a:t>
              </a: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1800225" y="115062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1800225" y="133350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28" name="Rectangle 27"/>
            <p:cNvSpPr/>
            <p:nvPr/>
          </p:nvSpPr>
          <p:spPr>
            <a:xfrm>
              <a:off x="1800225" y="151638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800225" y="169926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800225" y="188214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…</a:t>
              </a: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1800225" y="206502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</p:grpSp>
      <p:sp>
        <p:nvSpPr>
          <p:cNvPr id="32" name="TextBox 31"/>
          <p:cNvSpPr txBox="1"/>
          <p:nvPr/>
        </p:nvSpPr>
        <p:spPr>
          <a:xfrm>
            <a:off x="1481256" y="2268196"/>
            <a:ext cx="344966" cy="248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13" dirty="0"/>
              <a:t>cat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81255" y="3918274"/>
            <a:ext cx="322524" cy="248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13" dirty="0"/>
              <a:t>on</a:t>
            </a:r>
          </a:p>
        </p:txBody>
      </p:sp>
      <p:grpSp>
        <p:nvGrpSpPr>
          <p:cNvPr id="46" name="Group 45"/>
          <p:cNvGrpSpPr/>
          <p:nvPr/>
        </p:nvGrpSpPr>
        <p:grpSpPr>
          <a:xfrm>
            <a:off x="3733802" y="2791690"/>
            <a:ext cx="154305" cy="802386"/>
            <a:chOff x="1800225" y="419100"/>
            <a:chExt cx="182880" cy="1097280"/>
          </a:xfrm>
        </p:grpSpPr>
        <p:sp>
          <p:nvSpPr>
            <p:cNvPr id="47" name="Rectangle 46"/>
            <p:cNvSpPr/>
            <p:nvPr/>
          </p:nvSpPr>
          <p:spPr>
            <a:xfrm>
              <a:off x="1800225" y="41910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endParaRPr lang="en-US" sz="619" dirty="0">
                <a:solidFill>
                  <a:schemeClr val="tx1"/>
                </a:solidFill>
              </a:endParaRPr>
            </a:p>
          </p:txBody>
        </p:sp>
        <p:sp>
          <p:nvSpPr>
            <p:cNvPr id="48" name="Rectangle 47"/>
            <p:cNvSpPr/>
            <p:nvPr/>
          </p:nvSpPr>
          <p:spPr>
            <a:xfrm>
              <a:off x="1800225" y="60198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endParaRPr lang="en-US" sz="619" b="1" dirty="0">
                <a:solidFill>
                  <a:srgbClr val="FF0000"/>
                </a:solidFill>
              </a:endParaRPr>
            </a:p>
          </p:txBody>
        </p:sp>
        <p:sp>
          <p:nvSpPr>
            <p:cNvPr id="49" name="Rectangle 48"/>
            <p:cNvSpPr/>
            <p:nvPr/>
          </p:nvSpPr>
          <p:spPr>
            <a:xfrm>
              <a:off x="1800225" y="78486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endParaRPr lang="en-US" sz="619" dirty="0">
                <a:solidFill>
                  <a:schemeClr val="tx1"/>
                </a:solidFill>
              </a:endParaRPr>
            </a:p>
          </p:txBody>
        </p:sp>
        <p:sp>
          <p:nvSpPr>
            <p:cNvPr id="50" name="Rectangle 49"/>
            <p:cNvSpPr/>
            <p:nvPr/>
          </p:nvSpPr>
          <p:spPr>
            <a:xfrm>
              <a:off x="1800225" y="96774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endParaRPr lang="en-US" sz="619" dirty="0">
                <a:solidFill>
                  <a:schemeClr val="tx1"/>
                </a:solidFill>
              </a:endParaRPr>
            </a:p>
          </p:txBody>
        </p:sp>
        <p:sp>
          <p:nvSpPr>
            <p:cNvPr id="51" name="Rectangle 50"/>
            <p:cNvSpPr/>
            <p:nvPr/>
          </p:nvSpPr>
          <p:spPr>
            <a:xfrm>
              <a:off x="1800225" y="115062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endParaRPr lang="en-US" sz="619" dirty="0">
                <a:solidFill>
                  <a:schemeClr val="tx1"/>
                </a:solidFill>
              </a:endParaRPr>
            </a:p>
          </p:txBody>
        </p:sp>
        <p:sp>
          <p:nvSpPr>
            <p:cNvPr id="52" name="Rectangle 51"/>
            <p:cNvSpPr/>
            <p:nvPr/>
          </p:nvSpPr>
          <p:spPr>
            <a:xfrm>
              <a:off x="1800225" y="133350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endParaRPr lang="en-US" sz="619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57" name="Group 56"/>
          <p:cNvGrpSpPr/>
          <p:nvPr/>
        </p:nvGrpSpPr>
        <p:grpSpPr>
          <a:xfrm>
            <a:off x="5685029" y="2572667"/>
            <a:ext cx="154305" cy="1337310"/>
            <a:chOff x="1800225" y="419100"/>
            <a:chExt cx="182880" cy="1828800"/>
          </a:xfrm>
        </p:grpSpPr>
        <p:sp>
          <p:nvSpPr>
            <p:cNvPr id="58" name="Rectangle 57"/>
            <p:cNvSpPr/>
            <p:nvPr/>
          </p:nvSpPr>
          <p:spPr>
            <a:xfrm>
              <a:off x="1800225" y="41910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59" name="Rectangle 58"/>
            <p:cNvSpPr/>
            <p:nvPr/>
          </p:nvSpPr>
          <p:spPr>
            <a:xfrm>
              <a:off x="1800225" y="60198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60" name="Rectangle 59"/>
            <p:cNvSpPr/>
            <p:nvPr/>
          </p:nvSpPr>
          <p:spPr>
            <a:xfrm>
              <a:off x="1800225" y="78486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61" name="Rectangle 60"/>
            <p:cNvSpPr/>
            <p:nvPr/>
          </p:nvSpPr>
          <p:spPr>
            <a:xfrm>
              <a:off x="1800225" y="96774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62" name="Rectangle 61"/>
            <p:cNvSpPr/>
            <p:nvPr/>
          </p:nvSpPr>
          <p:spPr>
            <a:xfrm>
              <a:off x="1800225" y="115062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63" name="Rectangle 62"/>
            <p:cNvSpPr/>
            <p:nvPr/>
          </p:nvSpPr>
          <p:spPr>
            <a:xfrm>
              <a:off x="1800225" y="133350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64" name="Rectangle 63"/>
            <p:cNvSpPr/>
            <p:nvPr/>
          </p:nvSpPr>
          <p:spPr>
            <a:xfrm>
              <a:off x="1800225" y="151638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65" name="Rectangle 64"/>
            <p:cNvSpPr/>
            <p:nvPr/>
          </p:nvSpPr>
          <p:spPr>
            <a:xfrm>
              <a:off x="1800225" y="169926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b="1" dirty="0">
                  <a:solidFill>
                    <a:srgbClr val="FF0000"/>
                  </a:solidFill>
                </a:rPr>
                <a:t>1</a:t>
              </a:r>
            </a:p>
          </p:txBody>
        </p:sp>
        <p:sp>
          <p:nvSpPr>
            <p:cNvPr id="66" name="Rectangle 65"/>
            <p:cNvSpPr/>
            <p:nvPr/>
          </p:nvSpPr>
          <p:spPr>
            <a:xfrm>
              <a:off x="1800225" y="188214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…</a:t>
              </a:r>
            </a:p>
          </p:txBody>
        </p:sp>
        <p:sp>
          <p:nvSpPr>
            <p:cNvPr id="67" name="Rectangle 66"/>
            <p:cNvSpPr/>
            <p:nvPr/>
          </p:nvSpPr>
          <p:spPr>
            <a:xfrm>
              <a:off x="1800225" y="206502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</p:grpSp>
      <p:sp>
        <p:nvSpPr>
          <p:cNvPr id="68" name="TextBox 67"/>
          <p:cNvSpPr txBox="1"/>
          <p:nvPr/>
        </p:nvSpPr>
        <p:spPr>
          <a:xfrm>
            <a:off x="1528676" y="1487368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/>
              <a:t>输入层</a:t>
            </a:r>
            <a:endParaRPr lang="en-US" sz="1400" dirty="0"/>
          </a:p>
        </p:txBody>
      </p:sp>
      <p:cxnSp>
        <p:nvCxnSpPr>
          <p:cNvPr id="70" name="Straight Connector 69"/>
          <p:cNvCxnSpPr/>
          <p:nvPr/>
        </p:nvCxnSpPr>
        <p:spPr>
          <a:xfrm>
            <a:off x="1941602" y="1770282"/>
            <a:ext cx="1792202" cy="102140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/>
          <p:cNvCxnSpPr/>
          <p:nvPr/>
        </p:nvCxnSpPr>
        <p:spPr>
          <a:xfrm flipV="1">
            <a:off x="1941599" y="2789473"/>
            <a:ext cx="1792202" cy="59387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/>
          <p:cNvCxnSpPr/>
          <p:nvPr/>
        </p:nvCxnSpPr>
        <p:spPr>
          <a:xfrm>
            <a:off x="1936882" y="3106173"/>
            <a:ext cx="1796921" cy="4879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/>
          <p:cNvCxnSpPr/>
          <p:nvPr/>
        </p:nvCxnSpPr>
        <p:spPr>
          <a:xfrm flipV="1">
            <a:off x="1941599" y="3602374"/>
            <a:ext cx="1792202" cy="11182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TextBox 81"/>
          <p:cNvSpPr txBox="1"/>
          <p:nvPr/>
        </p:nvSpPr>
        <p:spPr>
          <a:xfrm>
            <a:off x="3532341" y="2298021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/>
              <a:t>隐藏层</a:t>
            </a:r>
            <a:endParaRPr lang="en-US" sz="1400" dirty="0"/>
          </a:p>
        </p:txBody>
      </p:sp>
      <p:sp>
        <p:nvSpPr>
          <p:cNvPr id="83" name="TextBox 82"/>
          <p:cNvSpPr txBox="1"/>
          <p:nvPr/>
        </p:nvSpPr>
        <p:spPr>
          <a:xfrm>
            <a:off x="6006823" y="3126018"/>
            <a:ext cx="341760" cy="248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13" dirty="0"/>
              <a:t>sat</a:t>
            </a:r>
          </a:p>
        </p:txBody>
      </p:sp>
      <p:cxnSp>
        <p:nvCxnSpPr>
          <p:cNvPr id="84" name="Straight Connector 83"/>
          <p:cNvCxnSpPr/>
          <p:nvPr/>
        </p:nvCxnSpPr>
        <p:spPr>
          <a:xfrm flipV="1">
            <a:off x="3888107" y="2571982"/>
            <a:ext cx="1796922" cy="2174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/>
          <p:cNvCxnSpPr/>
          <p:nvPr/>
        </p:nvCxnSpPr>
        <p:spPr>
          <a:xfrm>
            <a:off x="3888107" y="3594077"/>
            <a:ext cx="1796922" cy="31590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TextBox 90"/>
          <p:cNvSpPr txBox="1"/>
          <p:nvPr/>
        </p:nvSpPr>
        <p:spPr>
          <a:xfrm>
            <a:off x="5376368" y="2246046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/>
              <a:t>输出层</a:t>
            </a:r>
            <a:endParaRPr lang="en-US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/>
              <p:cNvSpPr txBox="1"/>
              <p:nvPr/>
            </p:nvSpPr>
            <p:spPr>
              <a:xfrm>
                <a:off x="2095905" y="2266453"/>
                <a:ext cx="725583" cy="3347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575" i="1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sz="1575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1575" i="1"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n-US" sz="1575" i="1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US" sz="1575" i="1"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</m:oMath>
                  </m:oMathPara>
                </a14:m>
                <a:endParaRPr lang="en-US" sz="1575" dirty="0"/>
              </a:p>
            </p:txBody>
          </p:sp>
        </mc:Choice>
        <mc:Fallback xmlns="">
          <p:sp>
            <p:nvSpPr>
              <p:cNvPr id="71" name="TextBox 7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5905" y="2266453"/>
                <a:ext cx="725583" cy="33470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/>
              <p:cNvSpPr txBox="1"/>
              <p:nvPr/>
            </p:nvSpPr>
            <p:spPr>
              <a:xfrm>
                <a:off x="2111876" y="3716471"/>
                <a:ext cx="725583" cy="3347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575" i="1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sz="1575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1575" i="1"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n-US" sz="1575" i="1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US" sz="1575" i="1"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</m:oMath>
                  </m:oMathPara>
                </a14:m>
                <a:endParaRPr lang="en-US" sz="1575" dirty="0"/>
              </a:p>
            </p:txBody>
          </p:sp>
        </mc:Choice>
        <mc:Fallback xmlns="">
          <p:sp>
            <p:nvSpPr>
              <p:cNvPr id="73" name="TextBox 7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1876" y="3716471"/>
                <a:ext cx="725583" cy="33470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4" name="TextBox 73"/>
          <p:cNvSpPr txBox="1"/>
          <p:nvPr/>
        </p:nvSpPr>
        <p:spPr>
          <a:xfrm>
            <a:off x="1307682" y="2925421"/>
            <a:ext cx="502061" cy="248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13" dirty="0"/>
              <a:t>V-dim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307682" y="4520064"/>
            <a:ext cx="502061" cy="248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13" dirty="0"/>
              <a:t>V-dim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601222" y="3697902"/>
            <a:ext cx="511679" cy="248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13" dirty="0"/>
              <a:t>N-dim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/>
              <p:cNvSpPr txBox="1"/>
              <p:nvPr/>
            </p:nvSpPr>
            <p:spPr>
              <a:xfrm>
                <a:off x="4596874" y="3030086"/>
                <a:ext cx="805285" cy="3347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575" i="1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sz="1575" i="1">
                              <a:latin typeface="Cambria Math" panose="02040503050406030204" pitchFamily="18" charset="0"/>
                            </a:rPr>
                            <m:t>𝑊</m:t>
                          </m:r>
                          <m:r>
                            <a:rPr lang="en-US" sz="1575" i="1"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  <m:sub>
                          <m:r>
                            <a:rPr lang="en-US" sz="1575" i="1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sz="1575" i="1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US" sz="1575" i="1">
                              <a:latin typeface="Cambria Math" panose="02040503050406030204" pitchFamily="18" charset="0"/>
                            </a:rPr>
                            <m:t>𝑉</m:t>
                          </m:r>
                        </m:sub>
                      </m:sSub>
                    </m:oMath>
                  </m:oMathPara>
                </a14:m>
                <a:endParaRPr lang="en-US" sz="1575" dirty="0"/>
              </a:p>
            </p:txBody>
          </p:sp>
        </mc:Choice>
        <mc:Fallback xmlns="">
          <p:sp>
            <p:nvSpPr>
              <p:cNvPr id="78" name="TextBox 7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6874" y="3030086"/>
                <a:ext cx="805285" cy="33470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0" name="TextBox 79"/>
          <p:cNvSpPr txBox="1"/>
          <p:nvPr/>
        </p:nvSpPr>
        <p:spPr>
          <a:xfrm>
            <a:off x="5926429" y="3734380"/>
            <a:ext cx="502061" cy="248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13" dirty="0"/>
              <a:t>V-dim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996660" y="4299309"/>
            <a:ext cx="20152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1400">
                <a:solidFill>
                  <a:srgbClr val="FF0000"/>
                </a:solidFill>
              </a:defRPr>
            </a:lvl1pPr>
          </a:lstStyle>
          <a:p>
            <a:r>
              <a:rPr lang="en-US" sz="2000" dirty="0"/>
              <a:t>N:</a:t>
            </a:r>
            <a:r>
              <a:rPr lang="zh-CN" altLang="en-US" sz="2000" dirty="0"/>
              <a:t> 词向量</a:t>
            </a:r>
            <a:r>
              <a:rPr lang="zh-CN" altLang="en-US" sz="2000"/>
              <a:t>的维度</a:t>
            </a:r>
            <a:endParaRPr lang="en-US" sz="2000" dirty="0"/>
          </a:p>
        </p:txBody>
      </p:sp>
      <p:sp>
        <p:nvSpPr>
          <p:cNvPr id="81" name="TextBox 80"/>
          <p:cNvSpPr txBox="1"/>
          <p:nvPr/>
        </p:nvSpPr>
        <p:spPr>
          <a:xfrm>
            <a:off x="2561456" y="1269242"/>
            <a:ext cx="224465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solidFill>
                  <a:srgbClr val="FF0000"/>
                </a:solidFill>
              </a:rPr>
              <a:t>模型参数：</a:t>
            </a:r>
            <a:r>
              <a:rPr lang="en-US" altLang="zh-CN" sz="2000" dirty="0">
                <a:solidFill>
                  <a:srgbClr val="FF0000"/>
                </a:solidFill>
              </a:rPr>
              <a:t>W</a:t>
            </a:r>
            <a:r>
              <a:rPr lang="zh-CN" altLang="en-US" sz="2000" dirty="0">
                <a:solidFill>
                  <a:srgbClr val="FF0000"/>
                </a:solidFill>
              </a:rPr>
              <a:t>和</a:t>
            </a:r>
            <a:r>
              <a:rPr lang="en-US" altLang="zh-CN" sz="2000" dirty="0">
                <a:solidFill>
                  <a:srgbClr val="FF0000"/>
                </a:solidFill>
              </a:rPr>
              <a:t>W’</a:t>
            </a:r>
            <a:endParaRPr lang="en-US" sz="2000" dirty="0">
              <a:solidFill>
                <a:srgbClr val="FF0000"/>
              </a:solidFill>
            </a:endParaRPr>
          </a:p>
        </p:txBody>
      </p:sp>
      <p:cxnSp>
        <p:nvCxnSpPr>
          <p:cNvPr id="3" name="Straight Arrow Connector 2"/>
          <p:cNvCxnSpPr>
            <a:stCxn id="81" idx="2"/>
            <a:endCxn id="71" idx="3"/>
          </p:cNvCxnSpPr>
          <p:nvPr/>
        </p:nvCxnSpPr>
        <p:spPr>
          <a:xfrm flipH="1">
            <a:off x="2821488" y="1669352"/>
            <a:ext cx="862295" cy="7644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/>
          <p:cNvCxnSpPr>
            <a:stCxn id="81" idx="2"/>
            <a:endCxn id="78" idx="0"/>
          </p:cNvCxnSpPr>
          <p:nvPr/>
        </p:nvCxnSpPr>
        <p:spPr>
          <a:xfrm>
            <a:off x="3683783" y="1669352"/>
            <a:ext cx="1315734" cy="13607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标题 1">
            <a:extLst>
              <a:ext uri="{FF2B5EF4-FFF2-40B4-BE49-F238E27FC236}">
                <a16:creationId xmlns="" xmlns:a16="http://schemas.microsoft.com/office/drawing/2014/main" id="{5CB489A5-E236-CC4E-979B-D15B7DFB4B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498872"/>
          </a:xfrm>
        </p:spPr>
        <p:txBody>
          <a:bodyPr/>
          <a:lstStyle/>
          <a:p>
            <a:r>
              <a:rPr kumimoji="1" lang="en-US" altLang="zh-CN" dirty="0"/>
              <a:t>CBOW</a:t>
            </a:r>
            <a:r>
              <a:rPr kumimoji="1" lang="zh-CN" altLang="en-US" dirty="0"/>
              <a:t>参数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B5A6E338-0133-9148-BC89-F90C05C63B85}"/>
              </a:ext>
            </a:extLst>
          </p:cNvPr>
          <p:cNvSpPr txBox="1"/>
          <p:nvPr/>
        </p:nvSpPr>
        <p:spPr>
          <a:xfrm>
            <a:off x="4910828" y="1128364"/>
            <a:ext cx="308930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W</a:t>
            </a:r>
            <a:r>
              <a:rPr kumimoji="1" lang="zh-CN" altLang="en-US" dirty="0"/>
              <a:t>：独热表示 </a:t>
            </a:r>
            <a:r>
              <a:rPr kumimoji="1" lang="en-US" altLang="zh-CN" dirty="0">
                <a:sym typeface="Wingdings" pitchFamily="2" charset="2"/>
              </a:rPr>
              <a:t></a:t>
            </a:r>
            <a:r>
              <a:rPr kumimoji="1" lang="zh-CN" altLang="en-US" dirty="0">
                <a:sym typeface="Wingdings" pitchFamily="2" charset="2"/>
              </a:rPr>
              <a:t> 词嵌入表示</a:t>
            </a:r>
            <a:endParaRPr kumimoji="1" lang="en-US" altLang="zh-CN" dirty="0">
              <a:sym typeface="Wingdings" pitchFamily="2" charset="2"/>
            </a:endParaRPr>
          </a:p>
          <a:p>
            <a:r>
              <a:rPr kumimoji="1" lang="en-US" altLang="zh-CN" dirty="0">
                <a:sym typeface="Wingdings" pitchFamily="2" charset="2"/>
              </a:rPr>
              <a:t>W’</a:t>
            </a:r>
            <a:r>
              <a:rPr kumimoji="1" lang="zh-CN" altLang="en-US" dirty="0">
                <a:sym typeface="Wingdings" pitchFamily="2" charset="2"/>
              </a:rPr>
              <a:t>：词嵌入表示 </a:t>
            </a:r>
            <a:r>
              <a:rPr kumimoji="1" lang="en-US" altLang="zh-CN" dirty="0">
                <a:sym typeface="Wingdings" pitchFamily="2" charset="2"/>
              </a:rPr>
              <a:t></a:t>
            </a:r>
            <a:r>
              <a:rPr kumimoji="1" lang="zh-CN" altLang="en-US" dirty="0">
                <a:sym typeface="Wingdings" pitchFamily="2" charset="2"/>
              </a:rPr>
              <a:t> 独热表示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811467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55</a:t>
            </a:fld>
            <a:endParaRPr lang="en-US" dirty="0"/>
          </a:p>
        </p:txBody>
      </p:sp>
      <p:grpSp>
        <p:nvGrpSpPr>
          <p:cNvPr id="20" name="Group 19"/>
          <p:cNvGrpSpPr/>
          <p:nvPr/>
        </p:nvGrpSpPr>
        <p:grpSpPr>
          <a:xfrm>
            <a:off x="2534369" y="1973212"/>
            <a:ext cx="154305" cy="1337310"/>
            <a:chOff x="1800225" y="419100"/>
            <a:chExt cx="182880" cy="1828800"/>
          </a:xfrm>
        </p:grpSpPr>
        <p:sp>
          <p:nvSpPr>
            <p:cNvPr id="9" name="Rectangle 8"/>
            <p:cNvSpPr/>
            <p:nvPr/>
          </p:nvSpPr>
          <p:spPr>
            <a:xfrm>
              <a:off x="1800225" y="41910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00225" y="60198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b="1" dirty="0">
                  <a:solidFill>
                    <a:srgbClr val="FF0000"/>
                  </a:solidFill>
                </a:rPr>
                <a:t>1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00225" y="78486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800225" y="96774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00225" y="115062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800225" y="133350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800225" y="151638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1800225" y="169926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1800225" y="188214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…</a:t>
              </a: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1800225" y="206502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2534370" y="3586282"/>
            <a:ext cx="154305" cy="1337310"/>
            <a:chOff x="1800225" y="419100"/>
            <a:chExt cx="182880" cy="1828800"/>
          </a:xfrm>
        </p:grpSpPr>
        <p:sp>
          <p:nvSpPr>
            <p:cNvPr id="22" name="Rectangle 21"/>
            <p:cNvSpPr/>
            <p:nvPr/>
          </p:nvSpPr>
          <p:spPr>
            <a:xfrm>
              <a:off x="1800225" y="41910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1800225" y="60198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1800225" y="78486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1800225" y="96774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b="1" dirty="0">
                  <a:solidFill>
                    <a:srgbClr val="FF0000"/>
                  </a:solidFill>
                </a:rPr>
                <a:t>1</a:t>
              </a: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1800225" y="115062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1800225" y="133350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28" name="Rectangle 27"/>
            <p:cNvSpPr/>
            <p:nvPr/>
          </p:nvSpPr>
          <p:spPr>
            <a:xfrm>
              <a:off x="1800225" y="151638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800225" y="169926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800225" y="188214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…</a:t>
              </a: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1800225" y="206502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</p:grpSp>
      <p:sp>
        <p:nvSpPr>
          <p:cNvPr id="32" name="TextBox 31"/>
          <p:cNvSpPr txBox="1"/>
          <p:nvPr/>
        </p:nvSpPr>
        <p:spPr>
          <a:xfrm>
            <a:off x="2228329" y="2471128"/>
            <a:ext cx="348172" cy="248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13" dirty="0" err="1"/>
              <a:t>x</a:t>
            </a:r>
            <a:r>
              <a:rPr lang="en-US" sz="1013" baseline="-25000" dirty="0" err="1"/>
              <a:t>cat</a:t>
            </a:r>
            <a:endParaRPr lang="en-US" sz="1013" dirty="0"/>
          </a:p>
        </p:txBody>
      </p:sp>
      <p:sp>
        <p:nvSpPr>
          <p:cNvPr id="33" name="TextBox 32"/>
          <p:cNvSpPr txBox="1"/>
          <p:nvPr/>
        </p:nvSpPr>
        <p:spPr>
          <a:xfrm>
            <a:off x="2228330" y="4121206"/>
            <a:ext cx="330540" cy="248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13" dirty="0" err="1"/>
              <a:t>x</a:t>
            </a:r>
            <a:r>
              <a:rPr lang="en-US" sz="1013" baseline="-25000" dirty="0" err="1"/>
              <a:t>on</a:t>
            </a:r>
            <a:endParaRPr lang="en-US" sz="1013" dirty="0"/>
          </a:p>
        </p:txBody>
      </p:sp>
      <p:grpSp>
        <p:nvGrpSpPr>
          <p:cNvPr id="46" name="Group 45"/>
          <p:cNvGrpSpPr/>
          <p:nvPr/>
        </p:nvGrpSpPr>
        <p:grpSpPr>
          <a:xfrm>
            <a:off x="4481947" y="2994622"/>
            <a:ext cx="154305" cy="802386"/>
            <a:chOff x="1800225" y="419100"/>
            <a:chExt cx="182880" cy="1097280"/>
          </a:xfrm>
        </p:grpSpPr>
        <p:sp>
          <p:nvSpPr>
            <p:cNvPr id="47" name="Rectangle 46"/>
            <p:cNvSpPr/>
            <p:nvPr/>
          </p:nvSpPr>
          <p:spPr>
            <a:xfrm>
              <a:off x="1800225" y="41910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endParaRPr lang="en-US" sz="619" dirty="0">
                <a:solidFill>
                  <a:schemeClr val="tx1"/>
                </a:solidFill>
              </a:endParaRPr>
            </a:p>
          </p:txBody>
        </p:sp>
        <p:sp>
          <p:nvSpPr>
            <p:cNvPr id="48" name="Rectangle 47"/>
            <p:cNvSpPr/>
            <p:nvPr/>
          </p:nvSpPr>
          <p:spPr>
            <a:xfrm>
              <a:off x="1800225" y="60198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endParaRPr lang="en-US" sz="619" b="1" dirty="0">
                <a:solidFill>
                  <a:srgbClr val="FF0000"/>
                </a:solidFill>
              </a:endParaRPr>
            </a:p>
          </p:txBody>
        </p:sp>
        <p:sp>
          <p:nvSpPr>
            <p:cNvPr id="49" name="Rectangle 48"/>
            <p:cNvSpPr/>
            <p:nvPr/>
          </p:nvSpPr>
          <p:spPr>
            <a:xfrm>
              <a:off x="1800225" y="78486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endParaRPr lang="en-US" sz="619" dirty="0">
                <a:solidFill>
                  <a:schemeClr val="tx1"/>
                </a:solidFill>
              </a:endParaRPr>
            </a:p>
          </p:txBody>
        </p:sp>
        <p:sp>
          <p:nvSpPr>
            <p:cNvPr id="50" name="Rectangle 49"/>
            <p:cNvSpPr/>
            <p:nvPr/>
          </p:nvSpPr>
          <p:spPr>
            <a:xfrm>
              <a:off x="1800225" y="96774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endParaRPr lang="en-US" sz="619" dirty="0">
                <a:solidFill>
                  <a:schemeClr val="tx1"/>
                </a:solidFill>
              </a:endParaRPr>
            </a:p>
          </p:txBody>
        </p:sp>
        <p:sp>
          <p:nvSpPr>
            <p:cNvPr id="51" name="Rectangle 50"/>
            <p:cNvSpPr/>
            <p:nvPr/>
          </p:nvSpPr>
          <p:spPr>
            <a:xfrm>
              <a:off x="1800225" y="115062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endParaRPr lang="en-US" sz="619" dirty="0">
                <a:solidFill>
                  <a:schemeClr val="tx1"/>
                </a:solidFill>
              </a:endParaRPr>
            </a:p>
          </p:txBody>
        </p:sp>
        <p:sp>
          <p:nvSpPr>
            <p:cNvPr id="52" name="Rectangle 51"/>
            <p:cNvSpPr/>
            <p:nvPr/>
          </p:nvSpPr>
          <p:spPr>
            <a:xfrm>
              <a:off x="1800225" y="133350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endParaRPr lang="en-US" sz="619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57" name="Group 56"/>
          <p:cNvGrpSpPr/>
          <p:nvPr/>
        </p:nvGrpSpPr>
        <p:grpSpPr>
          <a:xfrm>
            <a:off x="6433174" y="2775598"/>
            <a:ext cx="154305" cy="1337310"/>
            <a:chOff x="1800225" y="419100"/>
            <a:chExt cx="182880" cy="1828800"/>
          </a:xfrm>
        </p:grpSpPr>
        <p:sp>
          <p:nvSpPr>
            <p:cNvPr id="58" name="Rectangle 57"/>
            <p:cNvSpPr/>
            <p:nvPr/>
          </p:nvSpPr>
          <p:spPr>
            <a:xfrm>
              <a:off x="1800225" y="41910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59" name="Rectangle 58"/>
            <p:cNvSpPr/>
            <p:nvPr/>
          </p:nvSpPr>
          <p:spPr>
            <a:xfrm>
              <a:off x="1800225" y="60198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60" name="Rectangle 59"/>
            <p:cNvSpPr/>
            <p:nvPr/>
          </p:nvSpPr>
          <p:spPr>
            <a:xfrm>
              <a:off x="1800225" y="78486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61" name="Rectangle 60"/>
            <p:cNvSpPr/>
            <p:nvPr/>
          </p:nvSpPr>
          <p:spPr>
            <a:xfrm>
              <a:off x="1800225" y="96774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62" name="Rectangle 61"/>
            <p:cNvSpPr/>
            <p:nvPr/>
          </p:nvSpPr>
          <p:spPr>
            <a:xfrm>
              <a:off x="1800225" y="115062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63" name="Rectangle 62"/>
            <p:cNvSpPr/>
            <p:nvPr/>
          </p:nvSpPr>
          <p:spPr>
            <a:xfrm>
              <a:off x="1800225" y="133350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64" name="Rectangle 63"/>
            <p:cNvSpPr/>
            <p:nvPr/>
          </p:nvSpPr>
          <p:spPr>
            <a:xfrm>
              <a:off x="1800225" y="151638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65" name="Rectangle 64"/>
            <p:cNvSpPr/>
            <p:nvPr/>
          </p:nvSpPr>
          <p:spPr>
            <a:xfrm>
              <a:off x="1800225" y="169926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b="1" dirty="0">
                  <a:solidFill>
                    <a:srgbClr val="FF0000"/>
                  </a:solidFill>
                </a:rPr>
                <a:t>1</a:t>
              </a:r>
            </a:p>
          </p:txBody>
        </p:sp>
        <p:sp>
          <p:nvSpPr>
            <p:cNvPr id="66" name="Rectangle 65"/>
            <p:cNvSpPr/>
            <p:nvPr/>
          </p:nvSpPr>
          <p:spPr>
            <a:xfrm>
              <a:off x="1800225" y="188214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…</a:t>
              </a:r>
            </a:p>
          </p:txBody>
        </p:sp>
        <p:sp>
          <p:nvSpPr>
            <p:cNvPr id="67" name="Rectangle 66"/>
            <p:cNvSpPr/>
            <p:nvPr/>
          </p:nvSpPr>
          <p:spPr>
            <a:xfrm>
              <a:off x="1800225" y="206502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</p:grpSp>
      <p:sp>
        <p:nvSpPr>
          <p:cNvPr id="68" name="TextBox 67"/>
          <p:cNvSpPr txBox="1"/>
          <p:nvPr/>
        </p:nvSpPr>
        <p:spPr>
          <a:xfrm>
            <a:off x="2275749" y="1690300"/>
            <a:ext cx="756938" cy="248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13" dirty="0"/>
              <a:t>Input layer</a:t>
            </a:r>
          </a:p>
        </p:txBody>
      </p:sp>
      <p:cxnSp>
        <p:nvCxnSpPr>
          <p:cNvPr id="70" name="Straight Connector 69"/>
          <p:cNvCxnSpPr/>
          <p:nvPr/>
        </p:nvCxnSpPr>
        <p:spPr>
          <a:xfrm>
            <a:off x="2689747" y="1973214"/>
            <a:ext cx="1792202" cy="102140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/>
          <p:cNvCxnSpPr/>
          <p:nvPr/>
        </p:nvCxnSpPr>
        <p:spPr>
          <a:xfrm flipV="1">
            <a:off x="2689745" y="2992405"/>
            <a:ext cx="1792202" cy="59387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/>
          <p:cNvCxnSpPr/>
          <p:nvPr/>
        </p:nvCxnSpPr>
        <p:spPr>
          <a:xfrm>
            <a:off x="2685027" y="3309105"/>
            <a:ext cx="1796921" cy="4879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/>
          <p:cNvCxnSpPr/>
          <p:nvPr/>
        </p:nvCxnSpPr>
        <p:spPr>
          <a:xfrm flipV="1">
            <a:off x="2689745" y="3805306"/>
            <a:ext cx="1792202" cy="11182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TextBox 82"/>
          <p:cNvSpPr txBox="1"/>
          <p:nvPr/>
        </p:nvSpPr>
        <p:spPr>
          <a:xfrm>
            <a:off x="6754968" y="3328949"/>
            <a:ext cx="341760" cy="248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13" dirty="0"/>
              <a:t>sat</a:t>
            </a:r>
          </a:p>
        </p:txBody>
      </p:sp>
      <p:cxnSp>
        <p:nvCxnSpPr>
          <p:cNvPr id="84" name="Straight Connector 83"/>
          <p:cNvCxnSpPr/>
          <p:nvPr/>
        </p:nvCxnSpPr>
        <p:spPr>
          <a:xfrm flipV="1">
            <a:off x="4636252" y="2774914"/>
            <a:ext cx="1796922" cy="2174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/>
          <p:cNvCxnSpPr/>
          <p:nvPr/>
        </p:nvCxnSpPr>
        <p:spPr>
          <a:xfrm>
            <a:off x="4636252" y="3797009"/>
            <a:ext cx="1796922" cy="31590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TextBox 90"/>
          <p:cNvSpPr txBox="1"/>
          <p:nvPr/>
        </p:nvSpPr>
        <p:spPr>
          <a:xfrm>
            <a:off x="6124513" y="2448978"/>
            <a:ext cx="854721" cy="248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13" dirty="0"/>
              <a:t>Output layer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054756" y="3128353"/>
            <a:ext cx="502061" cy="248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13" dirty="0"/>
              <a:t>V-dim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054756" y="4722995"/>
            <a:ext cx="502061" cy="248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13" dirty="0"/>
              <a:t>V-dim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674575" y="3937312"/>
            <a:ext cx="502061" cy="248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13" dirty="0"/>
              <a:t>V-dim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8" name="TextBox 97"/>
              <p:cNvSpPr txBox="1"/>
              <p:nvPr/>
            </p:nvSpPr>
            <p:spPr>
              <a:xfrm rot="1413182">
                <a:off x="2704071" y="2717968"/>
                <a:ext cx="1829860" cy="33964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575" i="1" smtClean="0">
                              <a:solidFill>
                                <a:srgbClr val="C00000"/>
                              </a:solidFill>
                              <a:latin typeface="Cambria Math" charset="0"/>
                            </a:rPr>
                          </m:ctrlPr>
                        </m:sSubSupPr>
                        <m:e>
                          <m:r>
                            <a:rPr lang="en-US" sz="1575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1575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n-US" sz="1575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US" sz="1575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  <m:sup>
                          <m:r>
                            <a:rPr lang="en-US" sz="1575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r>
                        <a:rPr lang="en-US" sz="1575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US" sz="1575" i="1">
                              <a:solidFill>
                                <a:srgbClr val="C00000"/>
                              </a:solidFill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sz="1575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575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𝑐𝑎𝑡</m:t>
                          </m:r>
                        </m:sub>
                      </m:sSub>
                      <m:r>
                        <a:rPr lang="en-US" sz="1575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575" i="1">
                              <a:solidFill>
                                <a:srgbClr val="C00000"/>
                              </a:solidFill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sz="1575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575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𝑐𝑎𝑡</m:t>
                          </m:r>
                        </m:sub>
                      </m:sSub>
                    </m:oMath>
                  </m:oMathPara>
                </a14:m>
                <a:endParaRPr lang="en-US" sz="1575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98" name="TextBox 9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413182">
                <a:off x="2704071" y="2717968"/>
                <a:ext cx="1829860" cy="33964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9" name="TextBox 98"/>
              <p:cNvSpPr txBox="1"/>
              <p:nvPr/>
            </p:nvSpPr>
            <p:spPr>
              <a:xfrm rot="19631347">
                <a:off x="2778618" y="3799997"/>
                <a:ext cx="1724190" cy="33964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575" i="1" smtClean="0">
                              <a:solidFill>
                                <a:srgbClr val="C00000"/>
                              </a:solidFill>
                              <a:latin typeface="Cambria Math" charset="0"/>
                            </a:rPr>
                          </m:ctrlPr>
                        </m:sSubSupPr>
                        <m:e>
                          <m:r>
                            <a:rPr lang="en-US" sz="1575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1575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n-US" sz="1575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US" sz="1575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  <m:sup>
                          <m:r>
                            <a:rPr lang="en-US" sz="1575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r>
                        <a:rPr lang="en-US" sz="1575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US" sz="1575" i="1">
                              <a:solidFill>
                                <a:srgbClr val="C00000"/>
                              </a:solidFill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sz="1575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575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𝑜𝑛</m:t>
                          </m:r>
                        </m:sub>
                      </m:sSub>
                      <m:r>
                        <a:rPr lang="en-US" sz="1575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575" i="1">
                              <a:solidFill>
                                <a:srgbClr val="C00000"/>
                              </a:solidFill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sz="1575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575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𝑜𝑛</m:t>
                          </m:r>
                        </m:sub>
                      </m:sSub>
                    </m:oMath>
                  </m:oMathPara>
                </a14:m>
                <a:endParaRPr lang="en-US" sz="1575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99" name="TextBox 9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631347">
                <a:off x="2778618" y="3799997"/>
                <a:ext cx="1724190" cy="33964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0" name="TextBox 99"/>
          <p:cNvSpPr txBox="1"/>
          <p:nvPr/>
        </p:nvSpPr>
        <p:spPr>
          <a:xfrm>
            <a:off x="4097789" y="3321796"/>
            <a:ext cx="248786" cy="248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13" dirty="0"/>
              <a:t>+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TextBox 100"/>
              <p:cNvSpPr txBox="1"/>
              <p:nvPr/>
            </p:nvSpPr>
            <p:spPr>
              <a:xfrm>
                <a:off x="4587348" y="3244625"/>
                <a:ext cx="1026756" cy="3748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1013" i="1" smtClean="0">
                              <a:solidFill>
                                <a:srgbClr val="C00000"/>
                              </a:solidFill>
                              <a:latin typeface="Cambria Math" charset="0"/>
                            </a:rPr>
                          </m:ctrlPr>
                        </m:accPr>
                        <m:e>
                          <m:r>
                            <a:rPr lang="en-US" sz="1013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n-US" sz="1013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013" i="1">
                              <a:solidFill>
                                <a:srgbClr val="C00000"/>
                              </a:solidFill>
                              <a:latin typeface="Cambria Math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013" i="1">
                                  <a:solidFill>
                                    <a:srgbClr val="C00000"/>
                                  </a:solidFill>
                                  <a:latin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sz="1013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1013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𝑐𝑎𝑡</m:t>
                              </m:r>
                            </m:sub>
                          </m:sSub>
                          <m:r>
                            <a:rPr lang="en-US" sz="1013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1013" i="1">
                                  <a:solidFill>
                                    <a:srgbClr val="C00000"/>
                                  </a:solidFill>
                                  <a:latin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sz="1013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1013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𝑜𝑛</m:t>
                              </m:r>
                            </m:sub>
                          </m:sSub>
                        </m:num>
                        <m:den>
                          <m:r>
                            <a:rPr lang="en-US" sz="1013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sz="1013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01" name="TextBox 10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7348" y="3244625"/>
                <a:ext cx="1026756" cy="37484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792476"/>
              </p:ext>
            </p:extLst>
          </p:nvPr>
        </p:nvGraphicFramePr>
        <p:xfrm>
          <a:off x="3059548" y="1579209"/>
          <a:ext cx="1851660" cy="92583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85166">
                  <a:extLst>
                    <a:ext uri="{9D8B030D-6E8A-4147-A177-3AD203B41FA5}">
                      <a16:colId xmlns="" xmlns:a16="http://schemas.microsoft.com/office/drawing/2014/main" val="4253241636"/>
                    </a:ext>
                  </a:extLst>
                </a:gridCol>
                <a:gridCol w="185166">
                  <a:extLst>
                    <a:ext uri="{9D8B030D-6E8A-4147-A177-3AD203B41FA5}">
                      <a16:colId xmlns="" xmlns:a16="http://schemas.microsoft.com/office/drawing/2014/main" val="4278168359"/>
                    </a:ext>
                  </a:extLst>
                </a:gridCol>
                <a:gridCol w="185166">
                  <a:extLst>
                    <a:ext uri="{9D8B030D-6E8A-4147-A177-3AD203B41FA5}">
                      <a16:colId xmlns="" xmlns:a16="http://schemas.microsoft.com/office/drawing/2014/main" val="1775200123"/>
                    </a:ext>
                  </a:extLst>
                </a:gridCol>
                <a:gridCol w="185166">
                  <a:extLst>
                    <a:ext uri="{9D8B030D-6E8A-4147-A177-3AD203B41FA5}">
                      <a16:colId xmlns="" xmlns:a16="http://schemas.microsoft.com/office/drawing/2014/main" val="3058570661"/>
                    </a:ext>
                  </a:extLst>
                </a:gridCol>
                <a:gridCol w="185166">
                  <a:extLst>
                    <a:ext uri="{9D8B030D-6E8A-4147-A177-3AD203B41FA5}">
                      <a16:colId xmlns="" xmlns:a16="http://schemas.microsoft.com/office/drawing/2014/main" val="3635929464"/>
                    </a:ext>
                  </a:extLst>
                </a:gridCol>
                <a:gridCol w="185166">
                  <a:extLst>
                    <a:ext uri="{9D8B030D-6E8A-4147-A177-3AD203B41FA5}">
                      <a16:colId xmlns="" xmlns:a16="http://schemas.microsoft.com/office/drawing/2014/main" val="1060927547"/>
                    </a:ext>
                  </a:extLst>
                </a:gridCol>
                <a:gridCol w="185166">
                  <a:extLst>
                    <a:ext uri="{9D8B030D-6E8A-4147-A177-3AD203B41FA5}">
                      <a16:colId xmlns="" xmlns:a16="http://schemas.microsoft.com/office/drawing/2014/main" val="2648937507"/>
                    </a:ext>
                  </a:extLst>
                </a:gridCol>
                <a:gridCol w="185166">
                  <a:extLst>
                    <a:ext uri="{9D8B030D-6E8A-4147-A177-3AD203B41FA5}">
                      <a16:colId xmlns="" xmlns:a16="http://schemas.microsoft.com/office/drawing/2014/main" val="3865230097"/>
                    </a:ext>
                  </a:extLst>
                </a:gridCol>
                <a:gridCol w="185166">
                  <a:extLst>
                    <a:ext uri="{9D8B030D-6E8A-4147-A177-3AD203B41FA5}">
                      <a16:colId xmlns="" xmlns:a16="http://schemas.microsoft.com/office/drawing/2014/main" val="2604712063"/>
                    </a:ext>
                  </a:extLst>
                </a:gridCol>
                <a:gridCol w="185166">
                  <a:extLst>
                    <a:ext uri="{9D8B030D-6E8A-4147-A177-3AD203B41FA5}">
                      <a16:colId xmlns="" xmlns:a16="http://schemas.microsoft.com/office/drawing/2014/main" val="3797226581"/>
                    </a:ext>
                  </a:extLst>
                </a:gridCol>
              </a:tblGrid>
              <a:tr h="185166"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/>
                        <a:t>0.1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1" dirty="0">
                          <a:solidFill>
                            <a:srgbClr val="FF0000"/>
                          </a:solidFill>
                        </a:rPr>
                        <a:t>2.4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/>
                        <a:t>1.6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/>
                        <a:t>1.8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/>
                        <a:t>0.5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/>
                        <a:t>0.9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/>
                        <a:t>…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/>
                        <a:t>…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/>
                        <a:t>…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/>
                        <a:t>3.2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811048262"/>
                  </a:ext>
                </a:extLst>
              </a:tr>
              <a:tr h="185166"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/>
                        <a:t>0.5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1" dirty="0">
                          <a:solidFill>
                            <a:srgbClr val="FF0000"/>
                          </a:solidFill>
                        </a:rPr>
                        <a:t>2.6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/>
                        <a:t>1.4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/>
                        <a:t>2.9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/>
                        <a:t>1.5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/>
                        <a:t>3.6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/>
                        <a:t>…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/>
                        <a:t>…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/>
                        <a:t>…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/>
                        <a:t>6.1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623160804"/>
                  </a:ext>
                </a:extLst>
              </a:tr>
              <a:tr h="185166"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/>
                        <a:t>…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1" dirty="0">
                          <a:solidFill>
                            <a:srgbClr val="FF0000"/>
                          </a:solidFill>
                        </a:rPr>
                        <a:t>…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/>
                        <a:t>…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/>
                        <a:t>…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/>
                        <a:t>…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/>
                        <a:t>…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/>
                        <a:t>…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/>
                        <a:t>…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/>
                        <a:t>…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/>
                        <a:t>…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4268311445"/>
                  </a:ext>
                </a:extLst>
              </a:tr>
              <a:tr h="185166"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/>
                        <a:t>…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1" dirty="0">
                          <a:solidFill>
                            <a:srgbClr val="FF0000"/>
                          </a:solidFill>
                        </a:rPr>
                        <a:t>…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/>
                        <a:t>…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/>
                        <a:t>…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/>
                        <a:t>…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/>
                        <a:t>…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/>
                        <a:t>…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/>
                        <a:t>…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/>
                        <a:t>…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/>
                        <a:t>…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457582356"/>
                  </a:ext>
                </a:extLst>
              </a:tr>
              <a:tr h="185166"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/>
                        <a:t>0.6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1" dirty="0">
                          <a:solidFill>
                            <a:srgbClr val="FF0000"/>
                          </a:solidFill>
                        </a:rPr>
                        <a:t>1.8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/>
                        <a:t>2.7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/>
                        <a:t>1.9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/>
                        <a:t>2.4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/>
                        <a:t>2.0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/>
                        <a:t>…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/>
                        <a:t>…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/>
                        <a:t>…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/>
                        <a:t>1.2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633999658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57" name="TextBox 156"/>
              <p:cNvSpPr txBox="1"/>
              <p:nvPr/>
            </p:nvSpPr>
            <p:spPr>
              <a:xfrm>
                <a:off x="4947309" y="1938435"/>
                <a:ext cx="306494" cy="2482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13" i="1"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sz="1013" dirty="0"/>
              </a:p>
            </p:txBody>
          </p:sp>
        </mc:Choice>
        <mc:Fallback xmlns="">
          <p:sp>
            <p:nvSpPr>
              <p:cNvPr id="157" name="TextBox 15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7309" y="1938435"/>
                <a:ext cx="306494" cy="24820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9" name="Group 158"/>
          <p:cNvGrpSpPr/>
          <p:nvPr/>
        </p:nvGrpSpPr>
        <p:grpSpPr>
          <a:xfrm>
            <a:off x="5209917" y="1577190"/>
            <a:ext cx="154305" cy="1337310"/>
            <a:chOff x="1800225" y="419100"/>
            <a:chExt cx="182880" cy="1828800"/>
          </a:xfrm>
        </p:grpSpPr>
        <p:sp>
          <p:nvSpPr>
            <p:cNvPr id="160" name="Rectangle 159"/>
            <p:cNvSpPr/>
            <p:nvPr/>
          </p:nvSpPr>
          <p:spPr>
            <a:xfrm>
              <a:off x="1800225" y="41910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161" name="Rectangle 160"/>
            <p:cNvSpPr/>
            <p:nvPr/>
          </p:nvSpPr>
          <p:spPr>
            <a:xfrm>
              <a:off x="1800225" y="60198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b="1" dirty="0">
                  <a:solidFill>
                    <a:srgbClr val="FF0000"/>
                  </a:solidFill>
                </a:rPr>
                <a:t>1</a:t>
              </a:r>
            </a:p>
          </p:txBody>
        </p:sp>
        <p:sp>
          <p:nvSpPr>
            <p:cNvPr id="162" name="Rectangle 161"/>
            <p:cNvSpPr/>
            <p:nvPr/>
          </p:nvSpPr>
          <p:spPr>
            <a:xfrm>
              <a:off x="1800225" y="78486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163" name="Rectangle 162"/>
            <p:cNvSpPr/>
            <p:nvPr/>
          </p:nvSpPr>
          <p:spPr>
            <a:xfrm>
              <a:off x="1800225" y="96774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164" name="Rectangle 163"/>
            <p:cNvSpPr/>
            <p:nvPr/>
          </p:nvSpPr>
          <p:spPr>
            <a:xfrm>
              <a:off x="1800225" y="115062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165" name="Rectangle 164"/>
            <p:cNvSpPr/>
            <p:nvPr/>
          </p:nvSpPr>
          <p:spPr>
            <a:xfrm>
              <a:off x="1800225" y="133350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166" name="Rectangle 165"/>
            <p:cNvSpPr/>
            <p:nvPr/>
          </p:nvSpPr>
          <p:spPr>
            <a:xfrm>
              <a:off x="1800225" y="151638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167" name="Rectangle 166"/>
            <p:cNvSpPr/>
            <p:nvPr/>
          </p:nvSpPr>
          <p:spPr>
            <a:xfrm>
              <a:off x="1800225" y="169926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168" name="Rectangle 167"/>
            <p:cNvSpPr/>
            <p:nvPr/>
          </p:nvSpPr>
          <p:spPr>
            <a:xfrm>
              <a:off x="1800225" y="188214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…</a:t>
              </a:r>
            </a:p>
          </p:txBody>
        </p:sp>
        <p:sp>
          <p:nvSpPr>
            <p:cNvPr id="169" name="Rectangle 168"/>
            <p:cNvSpPr/>
            <p:nvPr/>
          </p:nvSpPr>
          <p:spPr>
            <a:xfrm>
              <a:off x="1800225" y="206502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70" name="TextBox 169"/>
              <p:cNvSpPr txBox="1"/>
              <p:nvPr/>
            </p:nvSpPr>
            <p:spPr>
              <a:xfrm>
                <a:off x="3680186" y="1269719"/>
                <a:ext cx="2458237" cy="33964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575" i="1">
                              <a:latin typeface="Cambria Math" charset="0"/>
                            </a:rPr>
                          </m:ctrlPr>
                        </m:sSubSupPr>
                        <m:e>
                          <m:r>
                            <a:rPr lang="en-US" sz="1575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1575" i="1"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n-US" sz="1575" i="1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US" sz="1575" i="1"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  <m:sup>
                          <m:r>
                            <a:rPr lang="en-US" sz="1575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r>
                        <a:rPr lang="en-US" sz="1575" i="1">
                          <a:latin typeface="Cambria Math" panose="02040503050406030204" pitchFamily="18" charset="0"/>
                        </a:rPr>
                        <m:t>              ×</m:t>
                      </m:r>
                      <m:sSub>
                        <m:sSubPr>
                          <m:ctrlPr>
                            <a:rPr lang="en-US" sz="1575" i="1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sz="1575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575" i="1">
                              <a:latin typeface="Cambria Math" panose="02040503050406030204" pitchFamily="18" charset="0"/>
                            </a:rPr>
                            <m:t>𝑐𝑎𝑡</m:t>
                          </m:r>
                        </m:sub>
                      </m:sSub>
                      <m:r>
                        <a:rPr lang="en-US" sz="1575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575" i="1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sz="1575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575" i="1">
                              <a:latin typeface="Cambria Math" panose="02040503050406030204" pitchFamily="18" charset="0"/>
                            </a:rPr>
                            <m:t>𝑐𝑎𝑡</m:t>
                          </m:r>
                        </m:sub>
                      </m:sSub>
                    </m:oMath>
                  </m:oMathPara>
                </a14:m>
                <a:endParaRPr lang="en-US" sz="1575" dirty="0"/>
              </a:p>
            </p:txBody>
          </p:sp>
        </mc:Choice>
        <mc:Fallback xmlns="">
          <p:sp>
            <p:nvSpPr>
              <p:cNvPr id="170" name="TextBox 16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0186" y="1269719"/>
                <a:ext cx="2458237" cy="339645"/>
              </a:xfrm>
              <a:prstGeom prst="rect">
                <a:avLst/>
              </a:prstGeom>
              <a:blipFill>
                <a:blip r:embed="rId6"/>
                <a:stretch>
                  <a:fillRect b="-107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1668513"/>
              </p:ext>
            </p:extLst>
          </p:nvPr>
        </p:nvGraphicFramePr>
        <p:xfrm>
          <a:off x="5742537" y="1580445"/>
          <a:ext cx="185166" cy="92583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85166">
                  <a:extLst>
                    <a:ext uri="{9D8B030D-6E8A-4147-A177-3AD203B41FA5}">
                      <a16:colId xmlns="" xmlns:a16="http://schemas.microsoft.com/office/drawing/2014/main" val="4255159121"/>
                    </a:ext>
                  </a:extLst>
                </a:gridCol>
              </a:tblGrid>
              <a:tr h="185166">
                <a:tc>
                  <a:txBody>
                    <a:bodyPr/>
                    <a:lstStyle/>
                    <a:p>
                      <a:pPr algn="ctr"/>
                      <a:r>
                        <a:rPr lang="en-US" sz="700" b="1" dirty="0">
                          <a:solidFill>
                            <a:srgbClr val="FF0000"/>
                          </a:solidFill>
                        </a:rPr>
                        <a:t>2.4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404443869"/>
                  </a:ext>
                </a:extLst>
              </a:tr>
              <a:tr h="185166">
                <a:tc>
                  <a:txBody>
                    <a:bodyPr/>
                    <a:lstStyle/>
                    <a:p>
                      <a:pPr algn="ctr"/>
                      <a:r>
                        <a:rPr lang="en-US" sz="700" b="1" dirty="0">
                          <a:solidFill>
                            <a:srgbClr val="FF0000"/>
                          </a:solidFill>
                        </a:rPr>
                        <a:t>2.6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4045244593"/>
                  </a:ext>
                </a:extLst>
              </a:tr>
              <a:tr h="185166">
                <a:tc>
                  <a:txBody>
                    <a:bodyPr/>
                    <a:lstStyle/>
                    <a:p>
                      <a:pPr algn="ctr"/>
                      <a:r>
                        <a:rPr lang="en-US" sz="700" b="1" dirty="0">
                          <a:solidFill>
                            <a:srgbClr val="FF0000"/>
                          </a:solidFill>
                        </a:rPr>
                        <a:t>…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752563613"/>
                  </a:ext>
                </a:extLst>
              </a:tr>
              <a:tr h="185166">
                <a:tc>
                  <a:txBody>
                    <a:bodyPr/>
                    <a:lstStyle/>
                    <a:p>
                      <a:pPr algn="ctr"/>
                      <a:r>
                        <a:rPr lang="en-US" sz="700" b="1" dirty="0">
                          <a:solidFill>
                            <a:srgbClr val="FF0000"/>
                          </a:solidFill>
                        </a:rPr>
                        <a:t>…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01681552"/>
                  </a:ext>
                </a:extLst>
              </a:tr>
              <a:tr h="185166">
                <a:tc>
                  <a:txBody>
                    <a:bodyPr/>
                    <a:lstStyle/>
                    <a:p>
                      <a:pPr algn="ctr"/>
                      <a:r>
                        <a:rPr lang="en-US" sz="700" b="1" dirty="0">
                          <a:solidFill>
                            <a:srgbClr val="FF0000"/>
                          </a:solidFill>
                        </a:rPr>
                        <a:t>1.8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7705309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71" name="TextBox 170"/>
              <p:cNvSpPr txBox="1"/>
              <p:nvPr/>
            </p:nvSpPr>
            <p:spPr>
              <a:xfrm>
                <a:off x="5436426" y="1946043"/>
                <a:ext cx="311304" cy="2482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13" i="1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1013" dirty="0"/>
              </a:p>
            </p:txBody>
          </p:sp>
        </mc:Choice>
        <mc:Fallback xmlns="">
          <p:sp>
            <p:nvSpPr>
              <p:cNvPr id="171" name="TextBox 17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6426" y="1946043"/>
                <a:ext cx="311304" cy="24820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1" name="标题 1">
            <a:extLst>
              <a:ext uri="{FF2B5EF4-FFF2-40B4-BE49-F238E27FC236}">
                <a16:creationId xmlns="" xmlns:a16="http://schemas.microsoft.com/office/drawing/2014/main" id="{33743C5E-C23C-C547-9A42-CB6E0BA531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444" y="38463"/>
            <a:ext cx="8229600" cy="498872"/>
          </a:xfrm>
        </p:spPr>
        <p:txBody>
          <a:bodyPr/>
          <a:lstStyle/>
          <a:p>
            <a:r>
              <a:rPr kumimoji="1" lang="zh-CN" altLang="en-US" dirty="0"/>
              <a:t>隐层的计算：上下文的平均向量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="" xmlns:a16="http://schemas.microsoft.com/office/drawing/2014/main" id="{02A1D9AB-28C4-5247-A1F5-E6AD927A0BBC}"/>
              </a:ext>
            </a:extLst>
          </p:cNvPr>
          <p:cNvSpPr txBox="1"/>
          <p:nvPr/>
        </p:nvSpPr>
        <p:spPr>
          <a:xfrm>
            <a:off x="5927703" y="1746793"/>
            <a:ext cx="14602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600" dirty="0"/>
              <a:t>cat</a:t>
            </a:r>
            <a:r>
              <a:rPr kumimoji="1" lang="zh-CN" altLang="en-US" sz="1600" dirty="0"/>
              <a:t>的表达向量</a:t>
            </a:r>
          </a:p>
        </p:txBody>
      </p:sp>
      <p:sp>
        <p:nvSpPr>
          <p:cNvPr id="85" name="文本框 84">
            <a:extLst>
              <a:ext uri="{FF2B5EF4-FFF2-40B4-BE49-F238E27FC236}">
                <a16:creationId xmlns="" xmlns:a16="http://schemas.microsoft.com/office/drawing/2014/main" id="{898F5C8F-78CF-C644-9BDA-CEBFEDE86230}"/>
              </a:ext>
            </a:extLst>
          </p:cNvPr>
          <p:cNvSpPr txBox="1"/>
          <p:nvPr/>
        </p:nvSpPr>
        <p:spPr>
          <a:xfrm>
            <a:off x="3487101" y="4321802"/>
            <a:ext cx="142699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dirty="0"/>
              <a:t>on</a:t>
            </a:r>
            <a:r>
              <a:rPr kumimoji="1" lang="zh-CN" altLang="en-US" sz="1600" dirty="0"/>
              <a:t>的表达向量</a:t>
            </a:r>
          </a:p>
        </p:txBody>
      </p:sp>
      <p:sp>
        <p:nvSpPr>
          <p:cNvPr id="86" name="文本框 85">
            <a:extLst>
              <a:ext uri="{FF2B5EF4-FFF2-40B4-BE49-F238E27FC236}">
                <a16:creationId xmlns="" xmlns:a16="http://schemas.microsoft.com/office/drawing/2014/main" id="{354978B8-6920-8B4F-80CE-E011F96D88E1}"/>
              </a:ext>
            </a:extLst>
          </p:cNvPr>
          <p:cNvSpPr txBox="1"/>
          <p:nvPr/>
        </p:nvSpPr>
        <p:spPr>
          <a:xfrm>
            <a:off x="4639901" y="3573180"/>
            <a:ext cx="11732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600" dirty="0"/>
              <a:t>上下文的平均向量</a:t>
            </a:r>
          </a:p>
        </p:txBody>
      </p:sp>
      <p:sp>
        <p:nvSpPr>
          <p:cNvPr id="6" name="矩形 5">
            <a:extLst>
              <a:ext uri="{FF2B5EF4-FFF2-40B4-BE49-F238E27FC236}">
                <a16:creationId xmlns="" xmlns:a16="http://schemas.microsoft.com/office/drawing/2014/main" id="{F93BCFFF-75B8-8540-AC70-05155C194613}"/>
              </a:ext>
            </a:extLst>
          </p:cNvPr>
          <p:cNvSpPr/>
          <p:nvPr/>
        </p:nvSpPr>
        <p:spPr>
          <a:xfrm>
            <a:off x="3121253" y="724009"/>
            <a:ext cx="302999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</a:rPr>
              <a:t>W</a:t>
            </a:r>
            <a:r>
              <a:rPr kumimoji="1" lang="zh-CN" altLang="en-US" dirty="0">
                <a:solidFill>
                  <a:srgbClr val="C00000"/>
                </a:solidFill>
              </a:rPr>
              <a:t>：独热表示 </a:t>
            </a:r>
            <a:r>
              <a:rPr kumimoji="1" lang="en-US" altLang="zh-CN" dirty="0">
                <a:solidFill>
                  <a:srgbClr val="C00000"/>
                </a:solidFill>
                <a:sym typeface="Wingdings" pitchFamily="2" charset="2"/>
              </a:rPr>
              <a:t></a:t>
            </a:r>
            <a:r>
              <a:rPr kumimoji="1" lang="zh-CN" altLang="en-US" dirty="0">
                <a:solidFill>
                  <a:srgbClr val="C00000"/>
                </a:solidFill>
                <a:sym typeface="Wingdings" pitchFamily="2" charset="2"/>
              </a:rPr>
              <a:t> 词嵌入表示</a:t>
            </a:r>
            <a:endParaRPr kumimoji="1" lang="en-US" altLang="zh-CN" dirty="0">
              <a:solidFill>
                <a:srgbClr val="C00000"/>
              </a:solidFill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0611203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7" grpId="0"/>
      <p:bldP spid="170" grpId="0"/>
      <p:bldP spid="171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56</a:t>
            </a:fld>
            <a:endParaRPr lang="en-US" dirty="0"/>
          </a:p>
        </p:txBody>
      </p:sp>
      <p:grpSp>
        <p:nvGrpSpPr>
          <p:cNvPr id="20" name="Group 19"/>
          <p:cNvGrpSpPr/>
          <p:nvPr/>
        </p:nvGrpSpPr>
        <p:grpSpPr>
          <a:xfrm>
            <a:off x="2202173" y="1342354"/>
            <a:ext cx="154305" cy="1337310"/>
            <a:chOff x="1800225" y="419100"/>
            <a:chExt cx="182880" cy="1828800"/>
          </a:xfrm>
        </p:grpSpPr>
        <p:sp>
          <p:nvSpPr>
            <p:cNvPr id="9" name="Rectangle 8"/>
            <p:cNvSpPr/>
            <p:nvPr/>
          </p:nvSpPr>
          <p:spPr>
            <a:xfrm>
              <a:off x="1800225" y="41910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00225" y="60198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b="1" dirty="0">
                  <a:solidFill>
                    <a:srgbClr val="FF0000"/>
                  </a:solidFill>
                </a:rPr>
                <a:t>1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00225" y="78486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800225" y="96774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00225" y="115062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800225" y="133350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800225" y="151638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1800225" y="169926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1800225" y="188214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…</a:t>
              </a: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1800225" y="206502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2202173" y="2955423"/>
            <a:ext cx="154305" cy="1337310"/>
            <a:chOff x="1800225" y="419100"/>
            <a:chExt cx="182880" cy="1828800"/>
          </a:xfrm>
        </p:grpSpPr>
        <p:sp>
          <p:nvSpPr>
            <p:cNvPr id="22" name="Rectangle 21"/>
            <p:cNvSpPr/>
            <p:nvPr/>
          </p:nvSpPr>
          <p:spPr>
            <a:xfrm>
              <a:off x="1800225" y="41910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1800225" y="60198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1800225" y="78486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1800225" y="96774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b="1" dirty="0">
                  <a:solidFill>
                    <a:srgbClr val="FF0000"/>
                  </a:solidFill>
                </a:rPr>
                <a:t>1</a:t>
              </a: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1800225" y="115062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1800225" y="133350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28" name="Rectangle 27"/>
            <p:cNvSpPr/>
            <p:nvPr/>
          </p:nvSpPr>
          <p:spPr>
            <a:xfrm>
              <a:off x="1800225" y="151638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800225" y="169926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800225" y="188214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…</a:t>
              </a: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1800225" y="206502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</p:grpSp>
      <p:sp>
        <p:nvSpPr>
          <p:cNvPr id="32" name="TextBox 31"/>
          <p:cNvSpPr txBox="1"/>
          <p:nvPr/>
        </p:nvSpPr>
        <p:spPr>
          <a:xfrm>
            <a:off x="1896134" y="1840269"/>
            <a:ext cx="344966" cy="248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13" dirty="0"/>
              <a:t>cat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96133" y="3490347"/>
            <a:ext cx="322524" cy="248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13" dirty="0"/>
              <a:t>on</a:t>
            </a:r>
          </a:p>
        </p:txBody>
      </p:sp>
      <p:grpSp>
        <p:nvGrpSpPr>
          <p:cNvPr id="46" name="Group 45"/>
          <p:cNvGrpSpPr/>
          <p:nvPr/>
        </p:nvGrpSpPr>
        <p:grpSpPr>
          <a:xfrm>
            <a:off x="4148680" y="2363763"/>
            <a:ext cx="154305" cy="802386"/>
            <a:chOff x="1800225" y="419100"/>
            <a:chExt cx="182880" cy="1097280"/>
          </a:xfrm>
        </p:grpSpPr>
        <p:sp>
          <p:nvSpPr>
            <p:cNvPr id="47" name="Rectangle 46"/>
            <p:cNvSpPr/>
            <p:nvPr/>
          </p:nvSpPr>
          <p:spPr>
            <a:xfrm>
              <a:off x="1800225" y="41910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endParaRPr lang="en-US" sz="619" dirty="0">
                <a:solidFill>
                  <a:schemeClr val="tx1"/>
                </a:solidFill>
              </a:endParaRPr>
            </a:p>
          </p:txBody>
        </p:sp>
        <p:sp>
          <p:nvSpPr>
            <p:cNvPr id="48" name="Rectangle 47"/>
            <p:cNvSpPr/>
            <p:nvPr/>
          </p:nvSpPr>
          <p:spPr>
            <a:xfrm>
              <a:off x="1800225" y="60198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endParaRPr lang="en-US" sz="619" b="1" dirty="0">
                <a:solidFill>
                  <a:srgbClr val="FF0000"/>
                </a:solidFill>
              </a:endParaRPr>
            </a:p>
          </p:txBody>
        </p:sp>
        <p:sp>
          <p:nvSpPr>
            <p:cNvPr id="49" name="Rectangle 48"/>
            <p:cNvSpPr/>
            <p:nvPr/>
          </p:nvSpPr>
          <p:spPr>
            <a:xfrm>
              <a:off x="1800225" y="78486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endParaRPr lang="en-US" sz="619" dirty="0">
                <a:solidFill>
                  <a:schemeClr val="tx1"/>
                </a:solidFill>
              </a:endParaRPr>
            </a:p>
          </p:txBody>
        </p:sp>
        <p:sp>
          <p:nvSpPr>
            <p:cNvPr id="50" name="Rectangle 49"/>
            <p:cNvSpPr/>
            <p:nvPr/>
          </p:nvSpPr>
          <p:spPr>
            <a:xfrm>
              <a:off x="1800225" y="96774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endParaRPr lang="en-US" sz="619" dirty="0">
                <a:solidFill>
                  <a:schemeClr val="tx1"/>
                </a:solidFill>
              </a:endParaRPr>
            </a:p>
          </p:txBody>
        </p:sp>
        <p:sp>
          <p:nvSpPr>
            <p:cNvPr id="51" name="Rectangle 50"/>
            <p:cNvSpPr/>
            <p:nvPr/>
          </p:nvSpPr>
          <p:spPr>
            <a:xfrm>
              <a:off x="1800225" y="115062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endParaRPr lang="en-US" sz="619" dirty="0">
                <a:solidFill>
                  <a:schemeClr val="tx1"/>
                </a:solidFill>
              </a:endParaRPr>
            </a:p>
          </p:txBody>
        </p:sp>
        <p:sp>
          <p:nvSpPr>
            <p:cNvPr id="52" name="Rectangle 51"/>
            <p:cNvSpPr/>
            <p:nvPr/>
          </p:nvSpPr>
          <p:spPr>
            <a:xfrm>
              <a:off x="1800225" y="133350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endParaRPr lang="en-US" sz="619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57" name="Group 56"/>
          <p:cNvGrpSpPr/>
          <p:nvPr/>
        </p:nvGrpSpPr>
        <p:grpSpPr>
          <a:xfrm>
            <a:off x="6099907" y="2144740"/>
            <a:ext cx="154305" cy="1337310"/>
            <a:chOff x="1800225" y="419100"/>
            <a:chExt cx="182880" cy="1828800"/>
          </a:xfrm>
        </p:grpSpPr>
        <p:sp>
          <p:nvSpPr>
            <p:cNvPr id="58" name="Rectangle 57"/>
            <p:cNvSpPr/>
            <p:nvPr/>
          </p:nvSpPr>
          <p:spPr>
            <a:xfrm>
              <a:off x="1800225" y="41910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59" name="Rectangle 58"/>
            <p:cNvSpPr/>
            <p:nvPr/>
          </p:nvSpPr>
          <p:spPr>
            <a:xfrm>
              <a:off x="1800225" y="60198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60" name="Rectangle 59"/>
            <p:cNvSpPr/>
            <p:nvPr/>
          </p:nvSpPr>
          <p:spPr>
            <a:xfrm>
              <a:off x="1800225" y="78486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61" name="Rectangle 60"/>
            <p:cNvSpPr/>
            <p:nvPr/>
          </p:nvSpPr>
          <p:spPr>
            <a:xfrm>
              <a:off x="1800225" y="96774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62" name="Rectangle 61"/>
            <p:cNvSpPr/>
            <p:nvPr/>
          </p:nvSpPr>
          <p:spPr>
            <a:xfrm>
              <a:off x="1800225" y="115062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63" name="Rectangle 62"/>
            <p:cNvSpPr/>
            <p:nvPr/>
          </p:nvSpPr>
          <p:spPr>
            <a:xfrm>
              <a:off x="1800225" y="133350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64" name="Rectangle 63"/>
            <p:cNvSpPr/>
            <p:nvPr/>
          </p:nvSpPr>
          <p:spPr>
            <a:xfrm>
              <a:off x="1800225" y="151638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65" name="Rectangle 64"/>
            <p:cNvSpPr/>
            <p:nvPr/>
          </p:nvSpPr>
          <p:spPr>
            <a:xfrm>
              <a:off x="1800225" y="169926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b="1" dirty="0">
                  <a:solidFill>
                    <a:srgbClr val="FF0000"/>
                  </a:solidFill>
                </a:rPr>
                <a:t>1</a:t>
              </a:r>
            </a:p>
          </p:txBody>
        </p:sp>
        <p:sp>
          <p:nvSpPr>
            <p:cNvPr id="66" name="Rectangle 65"/>
            <p:cNvSpPr/>
            <p:nvPr/>
          </p:nvSpPr>
          <p:spPr>
            <a:xfrm>
              <a:off x="1800225" y="188214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…</a:t>
              </a:r>
            </a:p>
          </p:txBody>
        </p:sp>
        <p:sp>
          <p:nvSpPr>
            <p:cNvPr id="67" name="Rectangle 66"/>
            <p:cNvSpPr/>
            <p:nvPr/>
          </p:nvSpPr>
          <p:spPr>
            <a:xfrm>
              <a:off x="1800225" y="206502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</p:grpSp>
      <p:sp>
        <p:nvSpPr>
          <p:cNvPr id="68" name="TextBox 67"/>
          <p:cNvSpPr txBox="1"/>
          <p:nvPr/>
        </p:nvSpPr>
        <p:spPr>
          <a:xfrm>
            <a:off x="1943554" y="1059441"/>
            <a:ext cx="756938" cy="248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13" dirty="0"/>
              <a:t>Input layer</a:t>
            </a:r>
          </a:p>
        </p:txBody>
      </p:sp>
      <p:cxnSp>
        <p:nvCxnSpPr>
          <p:cNvPr id="70" name="Straight Connector 69"/>
          <p:cNvCxnSpPr/>
          <p:nvPr/>
        </p:nvCxnSpPr>
        <p:spPr>
          <a:xfrm>
            <a:off x="2356480" y="1342355"/>
            <a:ext cx="1792202" cy="102140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/>
          <p:cNvCxnSpPr/>
          <p:nvPr/>
        </p:nvCxnSpPr>
        <p:spPr>
          <a:xfrm flipV="1">
            <a:off x="2356477" y="2361546"/>
            <a:ext cx="1792202" cy="59387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/>
          <p:cNvCxnSpPr/>
          <p:nvPr/>
        </p:nvCxnSpPr>
        <p:spPr>
          <a:xfrm>
            <a:off x="2351760" y="2678246"/>
            <a:ext cx="1796921" cy="4879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/>
          <p:cNvCxnSpPr/>
          <p:nvPr/>
        </p:nvCxnSpPr>
        <p:spPr>
          <a:xfrm flipV="1">
            <a:off x="2356477" y="3174447"/>
            <a:ext cx="1792202" cy="11182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TextBox 81"/>
          <p:cNvSpPr txBox="1"/>
          <p:nvPr/>
        </p:nvSpPr>
        <p:spPr>
          <a:xfrm>
            <a:off x="3890062" y="1784677"/>
            <a:ext cx="856325" cy="248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13" dirty="0"/>
              <a:t>Hidden layer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xtBox 82"/>
              <p:cNvSpPr txBox="1"/>
              <p:nvPr/>
            </p:nvSpPr>
            <p:spPr>
              <a:xfrm>
                <a:off x="6045917" y="3539486"/>
                <a:ext cx="452240" cy="2482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013" i="1">
                            <a:latin typeface="Cambria Math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013" i="1">
                                <a:latin typeface="Cambria Math" charset="0"/>
                              </a:rPr>
                            </m:ctrlPr>
                          </m:accPr>
                          <m:e>
                            <m:r>
                              <a:rPr lang="en-US" sz="1013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m:rPr>
                            <m:sty m:val="p"/>
                          </m:rPr>
                          <a:rPr lang="en-US" sz="1013">
                            <a:latin typeface="Cambria Math" panose="02040503050406030204" pitchFamily="18" charset="0"/>
                          </a:rPr>
                          <m:t>sat</m:t>
                        </m:r>
                      </m:sub>
                    </m:sSub>
                    <m:r>
                      <a:rPr lang="en-US" sz="1013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013" dirty="0"/>
                  <a:t> </a:t>
                </a:r>
              </a:p>
            </p:txBody>
          </p:sp>
        </mc:Choice>
        <mc:Fallback xmlns="">
          <p:sp>
            <p:nvSpPr>
              <p:cNvPr id="83" name="TextBox 8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5917" y="3539486"/>
                <a:ext cx="452240" cy="248209"/>
              </a:xfrm>
              <a:prstGeom prst="rect">
                <a:avLst/>
              </a:prstGeom>
              <a:blipFill>
                <a:blip r:embed="rId3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4" name="Straight Connector 83"/>
          <p:cNvCxnSpPr/>
          <p:nvPr/>
        </p:nvCxnSpPr>
        <p:spPr>
          <a:xfrm flipV="1">
            <a:off x="4302985" y="2144055"/>
            <a:ext cx="1796922" cy="2174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/>
          <p:cNvCxnSpPr/>
          <p:nvPr/>
        </p:nvCxnSpPr>
        <p:spPr>
          <a:xfrm>
            <a:off x="4302985" y="3166150"/>
            <a:ext cx="1796922" cy="31590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TextBox 90"/>
          <p:cNvSpPr txBox="1"/>
          <p:nvPr/>
        </p:nvSpPr>
        <p:spPr>
          <a:xfrm>
            <a:off x="5682264" y="1809483"/>
            <a:ext cx="854721" cy="248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13" dirty="0"/>
              <a:t>Output layer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/>
              <p:cNvSpPr txBox="1"/>
              <p:nvPr/>
            </p:nvSpPr>
            <p:spPr>
              <a:xfrm>
                <a:off x="2510783" y="1838526"/>
                <a:ext cx="725583" cy="3347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575" i="1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sz="1575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1575" i="1"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n-US" sz="1575" i="1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US" sz="1575" i="1"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</m:oMath>
                  </m:oMathPara>
                </a14:m>
                <a:endParaRPr lang="en-US" sz="1575" dirty="0"/>
              </a:p>
            </p:txBody>
          </p:sp>
        </mc:Choice>
        <mc:Fallback xmlns="">
          <p:sp>
            <p:nvSpPr>
              <p:cNvPr id="71" name="TextBox 7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0783" y="1838526"/>
                <a:ext cx="725583" cy="33470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/>
              <p:cNvSpPr txBox="1"/>
              <p:nvPr/>
            </p:nvSpPr>
            <p:spPr>
              <a:xfrm>
                <a:off x="2526754" y="3288544"/>
                <a:ext cx="725583" cy="3347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575" i="1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sz="1575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1575" i="1"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n-US" sz="1575" i="1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US" sz="1575" i="1"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</m:oMath>
                  </m:oMathPara>
                </a14:m>
                <a:endParaRPr lang="en-US" sz="1575" dirty="0"/>
              </a:p>
            </p:txBody>
          </p:sp>
        </mc:Choice>
        <mc:Fallback xmlns="">
          <p:sp>
            <p:nvSpPr>
              <p:cNvPr id="73" name="TextBox 7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6754" y="3288544"/>
                <a:ext cx="725583" cy="33470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4" name="TextBox 73"/>
          <p:cNvSpPr txBox="1"/>
          <p:nvPr/>
        </p:nvSpPr>
        <p:spPr>
          <a:xfrm>
            <a:off x="1722560" y="2497494"/>
            <a:ext cx="502061" cy="248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13" dirty="0"/>
              <a:t>V-dim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722560" y="4092137"/>
            <a:ext cx="502061" cy="248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13" dirty="0"/>
              <a:t>V-dim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016098" y="3445620"/>
            <a:ext cx="511679" cy="248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13" dirty="0"/>
              <a:t>N-dim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/>
              <p:cNvSpPr txBox="1"/>
              <p:nvPr/>
            </p:nvSpPr>
            <p:spPr>
              <a:xfrm>
                <a:off x="4522059" y="2591659"/>
                <a:ext cx="1350498" cy="3347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575" i="1" smtClean="0">
                              <a:solidFill>
                                <a:srgbClr val="C00000"/>
                              </a:solidFill>
                              <a:latin typeface="Cambria Math" charset="0"/>
                            </a:rPr>
                          </m:ctrlPr>
                        </m:sSubSupPr>
                        <m:e>
                          <m:r>
                            <a:rPr lang="en-US" sz="1575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1575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n-US" sz="1575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US" sz="1575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  <m:sup>
                          <m:r>
                            <a:rPr lang="en-US" sz="1575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en-US" sz="1575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acc>
                        <m:accPr>
                          <m:chr m:val="̂"/>
                          <m:ctrlPr>
                            <a:rPr lang="en-US" sz="1575" i="1">
                              <a:solidFill>
                                <a:srgbClr val="C00000"/>
                              </a:solidFill>
                              <a:latin typeface="Cambria Math" charset="0"/>
                            </a:rPr>
                          </m:ctrlPr>
                        </m:accPr>
                        <m:e>
                          <m:r>
                            <a:rPr lang="en-US" sz="1575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n-US" sz="1575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575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sz="1575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78" name="TextBox 7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2059" y="2591659"/>
                <a:ext cx="1350498" cy="334707"/>
              </a:xfrm>
              <a:prstGeom prst="rect">
                <a:avLst/>
              </a:prstGeom>
              <a:blipFill>
                <a:blip r:embed="rId6"/>
                <a:stretch>
                  <a:fillRect b="-384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0" name="TextBox 79"/>
          <p:cNvSpPr txBox="1"/>
          <p:nvPr/>
        </p:nvSpPr>
        <p:spPr>
          <a:xfrm>
            <a:off x="5998671" y="3777177"/>
            <a:ext cx="502061" cy="248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13" dirty="0"/>
              <a:t>V-dim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4109645" y="3181135"/>
                <a:ext cx="287836" cy="24820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1013" i="1">
                              <a:latin typeface="Cambria Math" charset="0"/>
                            </a:rPr>
                          </m:ctrlPr>
                        </m:accPr>
                        <m:e>
                          <m:r>
                            <a:rPr lang="en-US" sz="1013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</m:oMath>
                  </m:oMathPara>
                </a14:m>
                <a:endParaRPr lang="en-US" sz="1013" dirty="0"/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9645" y="3181135"/>
                <a:ext cx="287836" cy="24820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6" name="TextBox 85"/>
              <p:cNvSpPr txBox="1"/>
              <p:nvPr/>
            </p:nvSpPr>
            <p:spPr>
              <a:xfrm>
                <a:off x="6177061" y="2551517"/>
                <a:ext cx="1656371" cy="3347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1575" i="1" smtClean="0">
                              <a:solidFill>
                                <a:srgbClr val="C00000"/>
                              </a:solidFill>
                              <a:latin typeface="Cambria Math" charset="0"/>
                            </a:rPr>
                          </m:ctrlPr>
                        </m:accPr>
                        <m:e>
                          <m:r>
                            <a:rPr lang="en-US" sz="1575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sz="1575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575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𝑠𝑜𝑓𝑡𝑚𝑎𝑥</m:t>
                      </m:r>
                      <m:r>
                        <a:rPr lang="en-US" sz="1575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575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1575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575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86" name="TextBox 8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7061" y="2551517"/>
                <a:ext cx="1656371" cy="334707"/>
              </a:xfrm>
              <a:prstGeom prst="rect">
                <a:avLst/>
              </a:prstGeom>
              <a:blipFill>
                <a:blip r:embed="rId8"/>
                <a:stretch>
                  <a:fillRect b="-740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1" name="标题 1">
            <a:extLst>
              <a:ext uri="{FF2B5EF4-FFF2-40B4-BE49-F238E27FC236}">
                <a16:creationId xmlns="" xmlns:a16="http://schemas.microsoft.com/office/drawing/2014/main" id="{0464236D-B3F7-D248-95D2-197FFC74AC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259" y="272864"/>
            <a:ext cx="8229600" cy="498872"/>
          </a:xfrm>
        </p:spPr>
        <p:txBody>
          <a:bodyPr/>
          <a:lstStyle/>
          <a:p>
            <a:r>
              <a:rPr kumimoji="1" lang="zh-CN" altLang="en-US" dirty="0"/>
              <a:t>从隐层到输出层：选择一个预测单词</a:t>
            </a:r>
          </a:p>
        </p:txBody>
      </p:sp>
      <p:sp>
        <p:nvSpPr>
          <p:cNvPr id="3" name="矩形 2">
            <a:extLst>
              <a:ext uri="{FF2B5EF4-FFF2-40B4-BE49-F238E27FC236}">
                <a16:creationId xmlns="" xmlns:a16="http://schemas.microsoft.com/office/drawing/2014/main" id="{9C8B3D90-7395-434D-9516-67A6C36E359B}"/>
              </a:ext>
            </a:extLst>
          </p:cNvPr>
          <p:cNvSpPr/>
          <p:nvPr/>
        </p:nvSpPr>
        <p:spPr>
          <a:xfrm>
            <a:off x="4397481" y="1166606"/>
            <a:ext cx="308930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  <a:sym typeface="Wingdings" pitchFamily="2" charset="2"/>
              </a:rPr>
              <a:t>W’</a:t>
            </a:r>
            <a:r>
              <a:rPr kumimoji="1" lang="zh-CN" altLang="en-US" dirty="0">
                <a:solidFill>
                  <a:srgbClr val="C00000"/>
                </a:solidFill>
                <a:sym typeface="Wingdings" pitchFamily="2" charset="2"/>
              </a:rPr>
              <a:t>：词嵌入表示 </a:t>
            </a:r>
            <a:r>
              <a:rPr kumimoji="1" lang="en-US" altLang="zh-CN" dirty="0">
                <a:solidFill>
                  <a:srgbClr val="C00000"/>
                </a:solidFill>
                <a:sym typeface="Wingdings" pitchFamily="2" charset="2"/>
              </a:rPr>
              <a:t></a:t>
            </a:r>
            <a:r>
              <a:rPr kumimoji="1" lang="zh-CN" altLang="en-US" dirty="0">
                <a:solidFill>
                  <a:srgbClr val="C00000"/>
                </a:solidFill>
                <a:sym typeface="Wingdings" pitchFamily="2" charset="2"/>
              </a:rPr>
              <a:t> 独热表示</a:t>
            </a:r>
            <a:endParaRPr kumimoji="1" lang="zh-CN" altLang="en-US" dirty="0">
              <a:solidFill>
                <a:srgbClr val="C0000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1242" y="4095087"/>
            <a:ext cx="5842629" cy="1006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8298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57</a:t>
            </a:fld>
            <a:endParaRPr lang="en-US" dirty="0"/>
          </a:p>
        </p:txBody>
      </p:sp>
      <p:grpSp>
        <p:nvGrpSpPr>
          <p:cNvPr id="20" name="Group 19"/>
          <p:cNvGrpSpPr/>
          <p:nvPr/>
        </p:nvGrpSpPr>
        <p:grpSpPr>
          <a:xfrm>
            <a:off x="2493877" y="899008"/>
            <a:ext cx="154305" cy="1337310"/>
            <a:chOff x="1800225" y="419100"/>
            <a:chExt cx="182880" cy="1828800"/>
          </a:xfrm>
        </p:grpSpPr>
        <p:sp>
          <p:nvSpPr>
            <p:cNvPr id="9" name="Rectangle 8"/>
            <p:cNvSpPr/>
            <p:nvPr/>
          </p:nvSpPr>
          <p:spPr>
            <a:xfrm>
              <a:off x="1800225" y="41910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00225" y="60198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b="1" dirty="0">
                  <a:solidFill>
                    <a:srgbClr val="FF0000"/>
                  </a:solidFill>
                </a:rPr>
                <a:t>1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00225" y="78486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800225" y="96774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00225" y="115062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800225" y="133350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800225" y="151638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1800225" y="169926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1800225" y="188214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…</a:t>
              </a: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1800225" y="206502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2493877" y="2512077"/>
            <a:ext cx="154305" cy="1337310"/>
            <a:chOff x="1800225" y="419100"/>
            <a:chExt cx="182880" cy="1828800"/>
          </a:xfrm>
        </p:grpSpPr>
        <p:sp>
          <p:nvSpPr>
            <p:cNvPr id="22" name="Rectangle 21"/>
            <p:cNvSpPr/>
            <p:nvPr/>
          </p:nvSpPr>
          <p:spPr>
            <a:xfrm>
              <a:off x="1800225" y="41910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1800225" y="60198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1800225" y="78486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1800225" y="96774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b="1" dirty="0">
                  <a:solidFill>
                    <a:srgbClr val="FF0000"/>
                  </a:solidFill>
                </a:rPr>
                <a:t>1</a:t>
              </a: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1800225" y="115062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1800225" y="133350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28" name="Rectangle 27"/>
            <p:cNvSpPr/>
            <p:nvPr/>
          </p:nvSpPr>
          <p:spPr>
            <a:xfrm>
              <a:off x="1800225" y="151638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800225" y="169926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800225" y="188214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…</a:t>
              </a: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1800225" y="206502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</p:grpSp>
      <p:sp>
        <p:nvSpPr>
          <p:cNvPr id="32" name="TextBox 31"/>
          <p:cNvSpPr txBox="1"/>
          <p:nvPr/>
        </p:nvSpPr>
        <p:spPr>
          <a:xfrm>
            <a:off x="2187838" y="1396923"/>
            <a:ext cx="344966" cy="248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13" dirty="0"/>
              <a:t>cat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87837" y="3047001"/>
            <a:ext cx="322524" cy="248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13" dirty="0"/>
              <a:t>on</a:t>
            </a:r>
          </a:p>
        </p:txBody>
      </p:sp>
      <p:grpSp>
        <p:nvGrpSpPr>
          <p:cNvPr id="46" name="Group 45"/>
          <p:cNvGrpSpPr/>
          <p:nvPr/>
        </p:nvGrpSpPr>
        <p:grpSpPr>
          <a:xfrm>
            <a:off x="4440384" y="1920417"/>
            <a:ext cx="154305" cy="802386"/>
            <a:chOff x="1800225" y="419100"/>
            <a:chExt cx="182880" cy="1097280"/>
          </a:xfrm>
        </p:grpSpPr>
        <p:sp>
          <p:nvSpPr>
            <p:cNvPr id="47" name="Rectangle 46"/>
            <p:cNvSpPr/>
            <p:nvPr/>
          </p:nvSpPr>
          <p:spPr>
            <a:xfrm>
              <a:off x="1800225" y="41910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endParaRPr lang="en-US" sz="619" dirty="0">
                <a:solidFill>
                  <a:schemeClr val="tx1"/>
                </a:solidFill>
              </a:endParaRPr>
            </a:p>
          </p:txBody>
        </p:sp>
        <p:sp>
          <p:nvSpPr>
            <p:cNvPr id="48" name="Rectangle 47"/>
            <p:cNvSpPr/>
            <p:nvPr/>
          </p:nvSpPr>
          <p:spPr>
            <a:xfrm>
              <a:off x="1800225" y="60198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endParaRPr lang="en-US" sz="619" b="1" dirty="0">
                <a:solidFill>
                  <a:srgbClr val="FF0000"/>
                </a:solidFill>
              </a:endParaRPr>
            </a:p>
          </p:txBody>
        </p:sp>
        <p:sp>
          <p:nvSpPr>
            <p:cNvPr id="49" name="Rectangle 48"/>
            <p:cNvSpPr/>
            <p:nvPr/>
          </p:nvSpPr>
          <p:spPr>
            <a:xfrm>
              <a:off x="1800225" y="78486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endParaRPr lang="en-US" sz="619" dirty="0">
                <a:solidFill>
                  <a:schemeClr val="tx1"/>
                </a:solidFill>
              </a:endParaRPr>
            </a:p>
          </p:txBody>
        </p:sp>
        <p:sp>
          <p:nvSpPr>
            <p:cNvPr id="50" name="Rectangle 49"/>
            <p:cNvSpPr/>
            <p:nvPr/>
          </p:nvSpPr>
          <p:spPr>
            <a:xfrm>
              <a:off x="1800225" y="96774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endParaRPr lang="en-US" sz="619" dirty="0">
                <a:solidFill>
                  <a:schemeClr val="tx1"/>
                </a:solidFill>
              </a:endParaRPr>
            </a:p>
          </p:txBody>
        </p:sp>
        <p:sp>
          <p:nvSpPr>
            <p:cNvPr id="51" name="Rectangle 50"/>
            <p:cNvSpPr/>
            <p:nvPr/>
          </p:nvSpPr>
          <p:spPr>
            <a:xfrm>
              <a:off x="1800225" y="115062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endParaRPr lang="en-US" sz="619" dirty="0">
                <a:solidFill>
                  <a:schemeClr val="tx1"/>
                </a:solidFill>
              </a:endParaRPr>
            </a:p>
          </p:txBody>
        </p:sp>
        <p:sp>
          <p:nvSpPr>
            <p:cNvPr id="52" name="Rectangle 51"/>
            <p:cNvSpPr/>
            <p:nvPr/>
          </p:nvSpPr>
          <p:spPr>
            <a:xfrm>
              <a:off x="1800225" y="133350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endParaRPr lang="en-US" sz="619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57" name="Group 56"/>
          <p:cNvGrpSpPr/>
          <p:nvPr/>
        </p:nvGrpSpPr>
        <p:grpSpPr>
          <a:xfrm>
            <a:off x="6391611" y="1701394"/>
            <a:ext cx="154305" cy="1337310"/>
            <a:chOff x="1800225" y="419100"/>
            <a:chExt cx="182880" cy="1828800"/>
          </a:xfrm>
        </p:grpSpPr>
        <p:sp>
          <p:nvSpPr>
            <p:cNvPr id="58" name="Rectangle 57"/>
            <p:cNvSpPr/>
            <p:nvPr/>
          </p:nvSpPr>
          <p:spPr>
            <a:xfrm>
              <a:off x="1800225" y="41910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59" name="Rectangle 58"/>
            <p:cNvSpPr/>
            <p:nvPr/>
          </p:nvSpPr>
          <p:spPr>
            <a:xfrm>
              <a:off x="1800225" y="60198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60" name="Rectangle 59"/>
            <p:cNvSpPr/>
            <p:nvPr/>
          </p:nvSpPr>
          <p:spPr>
            <a:xfrm>
              <a:off x="1800225" y="78486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61" name="Rectangle 60"/>
            <p:cNvSpPr/>
            <p:nvPr/>
          </p:nvSpPr>
          <p:spPr>
            <a:xfrm>
              <a:off x="1800225" y="96774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62" name="Rectangle 61"/>
            <p:cNvSpPr/>
            <p:nvPr/>
          </p:nvSpPr>
          <p:spPr>
            <a:xfrm>
              <a:off x="1800225" y="115062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63" name="Rectangle 62"/>
            <p:cNvSpPr/>
            <p:nvPr/>
          </p:nvSpPr>
          <p:spPr>
            <a:xfrm>
              <a:off x="1800225" y="133350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64" name="Rectangle 63"/>
            <p:cNvSpPr/>
            <p:nvPr/>
          </p:nvSpPr>
          <p:spPr>
            <a:xfrm>
              <a:off x="1800225" y="151638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65" name="Rectangle 64"/>
            <p:cNvSpPr/>
            <p:nvPr/>
          </p:nvSpPr>
          <p:spPr>
            <a:xfrm>
              <a:off x="1800225" y="169926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b="1" dirty="0">
                  <a:solidFill>
                    <a:srgbClr val="FF0000"/>
                  </a:solidFill>
                </a:rPr>
                <a:t>1</a:t>
              </a:r>
            </a:p>
          </p:txBody>
        </p:sp>
        <p:sp>
          <p:nvSpPr>
            <p:cNvPr id="66" name="Rectangle 65"/>
            <p:cNvSpPr/>
            <p:nvPr/>
          </p:nvSpPr>
          <p:spPr>
            <a:xfrm>
              <a:off x="1800225" y="188214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…</a:t>
              </a:r>
            </a:p>
          </p:txBody>
        </p:sp>
        <p:sp>
          <p:nvSpPr>
            <p:cNvPr id="67" name="Rectangle 66"/>
            <p:cNvSpPr/>
            <p:nvPr/>
          </p:nvSpPr>
          <p:spPr>
            <a:xfrm>
              <a:off x="1800225" y="206502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</p:grpSp>
      <p:sp>
        <p:nvSpPr>
          <p:cNvPr id="68" name="TextBox 67"/>
          <p:cNvSpPr txBox="1"/>
          <p:nvPr/>
        </p:nvSpPr>
        <p:spPr>
          <a:xfrm>
            <a:off x="2235258" y="616095"/>
            <a:ext cx="756938" cy="248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13" dirty="0"/>
              <a:t>Input layer</a:t>
            </a:r>
          </a:p>
        </p:txBody>
      </p:sp>
      <p:cxnSp>
        <p:nvCxnSpPr>
          <p:cNvPr id="70" name="Straight Connector 69"/>
          <p:cNvCxnSpPr/>
          <p:nvPr/>
        </p:nvCxnSpPr>
        <p:spPr>
          <a:xfrm>
            <a:off x="2648184" y="899009"/>
            <a:ext cx="1792202" cy="102140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/>
          <p:cNvCxnSpPr/>
          <p:nvPr/>
        </p:nvCxnSpPr>
        <p:spPr>
          <a:xfrm flipV="1">
            <a:off x="2648181" y="1918200"/>
            <a:ext cx="1792202" cy="59387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/>
          <p:cNvCxnSpPr/>
          <p:nvPr/>
        </p:nvCxnSpPr>
        <p:spPr>
          <a:xfrm>
            <a:off x="2643464" y="2234900"/>
            <a:ext cx="1796921" cy="4879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/>
          <p:cNvCxnSpPr/>
          <p:nvPr/>
        </p:nvCxnSpPr>
        <p:spPr>
          <a:xfrm flipV="1">
            <a:off x="2648181" y="2731101"/>
            <a:ext cx="1792202" cy="11182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TextBox 81"/>
          <p:cNvSpPr txBox="1"/>
          <p:nvPr/>
        </p:nvSpPr>
        <p:spPr>
          <a:xfrm>
            <a:off x="4181766" y="1341331"/>
            <a:ext cx="856325" cy="248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13" dirty="0"/>
              <a:t>Hidden layer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xtBox 82"/>
              <p:cNvSpPr txBox="1"/>
              <p:nvPr/>
            </p:nvSpPr>
            <p:spPr>
              <a:xfrm>
                <a:off x="6337621" y="3096140"/>
                <a:ext cx="452240" cy="2482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013" i="1">
                            <a:latin typeface="Cambria Math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013" i="1">
                                <a:latin typeface="Cambria Math" charset="0"/>
                              </a:rPr>
                            </m:ctrlPr>
                          </m:accPr>
                          <m:e>
                            <m:r>
                              <a:rPr lang="en-US" sz="1013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m:rPr>
                            <m:sty m:val="p"/>
                          </m:rPr>
                          <a:rPr lang="en-US" sz="1013">
                            <a:latin typeface="Cambria Math" panose="02040503050406030204" pitchFamily="18" charset="0"/>
                          </a:rPr>
                          <m:t>sat</m:t>
                        </m:r>
                      </m:sub>
                    </m:sSub>
                    <m:r>
                      <a:rPr lang="en-US" sz="1013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013" dirty="0"/>
                  <a:t> </a:t>
                </a:r>
              </a:p>
            </p:txBody>
          </p:sp>
        </mc:Choice>
        <mc:Fallback xmlns="">
          <p:sp>
            <p:nvSpPr>
              <p:cNvPr id="83" name="TextBox 8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7621" y="3096140"/>
                <a:ext cx="452240" cy="248209"/>
              </a:xfrm>
              <a:prstGeom prst="rect">
                <a:avLst/>
              </a:prstGeom>
              <a:blipFill>
                <a:blip r:embed="rId2"/>
                <a:stretch>
                  <a:fillRect b="-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4" name="Straight Connector 83"/>
          <p:cNvCxnSpPr/>
          <p:nvPr/>
        </p:nvCxnSpPr>
        <p:spPr>
          <a:xfrm flipV="1">
            <a:off x="4594689" y="1700709"/>
            <a:ext cx="1796922" cy="2174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/>
          <p:cNvCxnSpPr/>
          <p:nvPr/>
        </p:nvCxnSpPr>
        <p:spPr>
          <a:xfrm>
            <a:off x="4594689" y="2722804"/>
            <a:ext cx="1796922" cy="31590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TextBox 90"/>
          <p:cNvSpPr txBox="1"/>
          <p:nvPr/>
        </p:nvSpPr>
        <p:spPr>
          <a:xfrm>
            <a:off x="6082950" y="1374773"/>
            <a:ext cx="854721" cy="248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13" dirty="0"/>
              <a:t>Output layer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/>
              <p:cNvSpPr txBox="1"/>
              <p:nvPr/>
            </p:nvSpPr>
            <p:spPr>
              <a:xfrm>
                <a:off x="2802487" y="1395180"/>
                <a:ext cx="725583" cy="3347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575" i="1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sz="1575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1575" i="1"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n-US" sz="1575" i="1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US" sz="1575" i="1"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</m:oMath>
                  </m:oMathPara>
                </a14:m>
                <a:endParaRPr lang="en-US" sz="1575" dirty="0"/>
              </a:p>
            </p:txBody>
          </p:sp>
        </mc:Choice>
        <mc:Fallback xmlns="">
          <p:sp>
            <p:nvSpPr>
              <p:cNvPr id="71" name="TextBox 7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2487" y="1395180"/>
                <a:ext cx="725583" cy="33470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/>
              <p:cNvSpPr txBox="1"/>
              <p:nvPr/>
            </p:nvSpPr>
            <p:spPr>
              <a:xfrm>
                <a:off x="2818458" y="2845198"/>
                <a:ext cx="725583" cy="3347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575" i="1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sz="1575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1575" i="1"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n-US" sz="1575" i="1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US" sz="1575" i="1"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</m:oMath>
                  </m:oMathPara>
                </a14:m>
                <a:endParaRPr lang="en-US" sz="1575" dirty="0"/>
              </a:p>
            </p:txBody>
          </p:sp>
        </mc:Choice>
        <mc:Fallback xmlns="">
          <p:sp>
            <p:nvSpPr>
              <p:cNvPr id="73" name="TextBox 7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8458" y="2845198"/>
                <a:ext cx="725583" cy="33470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4" name="TextBox 73"/>
          <p:cNvSpPr txBox="1"/>
          <p:nvPr/>
        </p:nvSpPr>
        <p:spPr>
          <a:xfrm>
            <a:off x="2014264" y="2054148"/>
            <a:ext cx="502061" cy="248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13" dirty="0"/>
              <a:t>V-dim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014264" y="3648791"/>
            <a:ext cx="502061" cy="248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13" dirty="0"/>
              <a:t>V-dim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307802" y="3002274"/>
            <a:ext cx="511679" cy="248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13" dirty="0"/>
              <a:t>N-dim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/>
              <p:cNvSpPr txBox="1"/>
              <p:nvPr/>
            </p:nvSpPr>
            <p:spPr>
              <a:xfrm>
                <a:off x="4813764" y="2148313"/>
                <a:ext cx="1662828" cy="57708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575" i="1">
                              <a:latin typeface="Cambria Math" charset="0"/>
                            </a:rPr>
                          </m:ctrlPr>
                        </m:sSubSupPr>
                        <m:e>
                          <m:r>
                            <a:rPr lang="en-US" sz="1575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1575" i="1"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n-US" sz="1575" i="1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US" sz="1575" i="1"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  <m:sup>
                          <m:r>
                            <a:rPr lang="en-US" sz="1575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en-US" sz="1575" i="1">
                          <a:latin typeface="Cambria Math" panose="02040503050406030204" pitchFamily="18" charset="0"/>
                        </a:rPr>
                        <m:t>×</m:t>
                      </m:r>
                      <m:acc>
                        <m:accPr>
                          <m:chr m:val="̂"/>
                          <m:ctrlPr>
                            <a:rPr lang="en-US" sz="1575" i="1">
                              <a:latin typeface="Cambria Math" charset="0"/>
                            </a:rPr>
                          </m:ctrlPr>
                        </m:accPr>
                        <m:e>
                          <m:r>
                            <a:rPr lang="en-US" sz="1575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n-US" sz="1575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575" i="1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sz="1575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1575" i="1">
                              <a:latin typeface="Cambria Math" charset="0"/>
                            </a:rPr>
                          </m:ctrlPr>
                        </m:accPr>
                        <m:e>
                          <m:r>
                            <a:rPr lang="en-US" sz="1575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sz="1575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575" i="1">
                          <a:latin typeface="Cambria Math" panose="02040503050406030204" pitchFamily="18" charset="0"/>
                        </a:rPr>
                        <m:t>𝑠𝑜𝑓𝑡𝑚𝑎𝑥</m:t>
                      </m:r>
                      <m:r>
                        <a:rPr lang="en-US" sz="1575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575" i="1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1575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575" dirty="0"/>
              </a:p>
            </p:txBody>
          </p:sp>
        </mc:Choice>
        <mc:Fallback xmlns="">
          <p:sp>
            <p:nvSpPr>
              <p:cNvPr id="78" name="TextBox 7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3764" y="2148313"/>
                <a:ext cx="1662828" cy="577081"/>
              </a:xfrm>
              <a:prstGeom prst="rect">
                <a:avLst/>
              </a:prstGeom>
              <a:blipFill>
                <a:blip r:embed="rId5"/>
                <a:stretch>
                  <a:fillRect b="-212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0" name="TextBox 79"/>
          <p:cNvSpPr txBox="1"/>
          <p:nvPr/>
        </p:nvSpPr>
        <p:spPr>
          <a:xfrm>
            <a:off x="6290375" y="3333831"/>
            <a:ext cx="502061" cy="248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13" dirty="0"/>
              <a:t>V-dim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4401349" y="2737789"/>
                <a:ext cx="287836" cy="24820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1013" i="1">
                              <a:latin typeface="Cambria Math" charset="0"/>
                            </a:rPr>
                          </m:ctrlPr>
                        </m:accPr>
                        <m:e>
                          <m:r>
                            <a:rPr lang="en-US" sz="1013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</m:oMath>
                  </m:oMathPara>
                </a14:m>
                <a:endParaRPr lang="en-US" sz="1013" dirty="0"/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01349" y="2737789"/>
                <a:ext cx="287836" cy="24820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81" name="Table 8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391318"/>
              </p:ext>
            </p:extLst>
          </p:nvPr>
        </p:nvGraphicFramePr>
        <p:xfrm>
          <a:off x="7216665" y="1700710"/>
          <a:ext cx="185166" cy="185166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85166">
                  <a:extLst>
                    <a:ext uri="{9D8B030D-6E8A-4147-A177-3AD203B41FA5}">
                      <a16:colId xmlns="" xmlns:a16="http://schemas.microsoft.com/office/drawing/2014/main" val="4255159121"/>
                    </a:ext>
                  </a:extLst>
                </a:gridCol>
              </a:tblGrid>
              <a:tr h="185166"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>
                          <a:solidFill>
                            <a:schemeClr val="tx1"/>
                          </a:solidFill>
                        </a:rPr>
                        <a:t>0.01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404443869"/>
                  </a:ext>
                </a:extLst>
              </a:tr>
              <a:tr h="185166"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>
                          <a:solidFill>
                            <a:schemeClr val="tx1"/>
                          </a:solidFill>
                        </a:rPr>
                        <a:t>0.02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4045244593"/>
                  </a:ext>
                </a:extLst>
              </a:tr>
              <a:tr h="185166"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>
                          <a:solidFill>
                            <a:schemeClr val="tx1"/>
                          </a:solidFill>
                        </a:rPr>
                        <a:t>0.00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752563613"/>
                  </a:ext>
                </a:extLst>
              </a:tr>
              <a:tr h="185166"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>
                          <a:solidFill>
                            <a:schemeClr val="tx1"/>
                          </a:solidFill>
                        </a:rPr>
                        <a:t>0.02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01681552"/>
                  </a:ext>
                </a:extLst>
              </a:tr>
              <a:tr h="185166"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>
                          <a:solidFill>
                            <a:schemeClr val="tx1"/>
                          </a:solidFill>
                        </a:rPr>
                        <a:t>0.01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77053094"/>
                  </a:ext>
                </a:extLst>
              </a:tr>
              <a:tr h="185166"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>
                          <a:solidFill>
                            <a:schemeClr val="tx1"/>
                          </a:solidFill>
                        </a:rPr>
                        <a:t>0.02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987099312"/>
                  </a:ext>
                </a:extLst>
              </a:tr>
              <a:tr h="185166"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>
                          <a:solidFill>
                            <a:schemeClr val="tx1"/>
                          </a:solidFill>
                        </a:rPr>
                        <a:t>0.01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4040427874"/>
                  </a:ext>
                </a:extLst>
              </a:tr>
              <a:tr h="185166">
                <a:tc>
                  <a:txBody>
                    <a:bodyPr/>
                    <a:lstStyle/>
                    <a:p>
                      <a:pPr algn="ctr"/>
                      <a:r>
                        <a:rPr lang="en-US" sz="700" b="1" dirty="0">
                          <a:solidFill>
                            <a:srgbClr val="FF0000"/>
                          </a:solidFill>
                        </a:rPr>
                        <a:t>0.7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4092259214"/>
                  </a:ext>
                </a:extLst>
              </a:tr>
              <a:tr h="185166"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>
                          <a:solidFill>
                            <a:schemeClr val="tx1"/>
                          </a:solidFill>
                        </a:rPr>
                        <a:t>…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895132886"/>
                  </a:ext>
                </a:extLst>
              </a:tr>
              <a:tr h="185166"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>
                          <a:solidFill>
                            <a:schemeClr val="tx1"/>
                          </a:solidFill>
                        </a:rPr>
                        <a:t>0.00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595132379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85" name="TextBox 84"/>
              <p:cNvSpPr txBox="1"/>
              <p:nvPr/>
            </p:nvSpPr>
            <p:spPr>
              <a:xfrm>
                <a:off x="7216665" y="3641638"/>
                <a:ext cx="316753" cy="2482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013" i="1">
                            <a:latin typeface="Cambria Math" charset="0"/>
                          </a:rPr>
                        </m:ctrlPr>
                      </m:accPr>
                      <m:e>
                        <m:r>
                          <a:rPr lang="en-US" sz="1013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sz="1013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013" dirty="0"/>
                  <a:t> </a:t>
                </a:r>
              </a:p>
            </p:txBody>
          </p:sp>
        </mc:Choice>
        <mc:Fallback xmlns="">
          <p:sp>
            <p:nvSpPr>
              <p:cNvPr id="85" name="TextBox 8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16665" y="3641638"/>
                <a:ext cx="316753" cy="248209"/>
              </a:xfrm>
              <a:prstGeom prst="rect">
                <a:avLst/>
              </a:prstGeom>
              <a:blipFill>
                <a:blip r:embed="rId7"/>
                <a:stretch>
                  <a:fillRect b="-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6" name="标题 1">
            <a:extLst>
              <a:ext uri="{FF2B5EF4-FFF2-40B4-BE49-F238E27FC236}">
                <a16:creationId xmlns="" xmlns:a16="http://schemas.microsoft.com/office/drawing/2014/main" id="{02485D69-9160-9147-815C-92C9FF4F70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259" y="272864"/>
            <a:ext cx="8229600" cy="498872"/>
          </a:xfrm>
        </p:spPr>
        <p:txBody>
          <a:bodyPr/>
          <a:lstStyle/>
          <a:p>
            <a:r>
              <a:rPr kumimoji="1" lang="zh-CN" altLang="en-US" dirty="0"/>
              <a:t>从隐层到输出层：选择一个预测单词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="" xmlns:a16="http://schemas.microsoft.com/office/drawing/2014/main" id="{19290520-C307-634D-8B1B-0951222C0412}"/>
              </a:ext>
            </a:extLst>
          </p:cNvPr>
          <p:cNvSpPr txBox="1"/>
          <p:nvPr/>
        </p:nvSpPr>
        <p:spPr>
          <a:xfrm>
            <a:off x="1964522" y="3800453"/>
            <a:ext cx="6192786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kumimoji="1" lang="zh-CN" altLang="en-US" sz="1600" dirty="0"/>
              <a:t>从隐层向量变回</a:t>
            </a:r>
            <a:r>
              <a:rPr kumimoji="1" lang="en-US" altLang="zh-CN" sz="1600" dirty="0"/>
              <a:t>V</a:t>
            </a:r>
            <a:r>
              <a:rPr kumimoji="1" lang="zh-CN" altLang="en-US" sz="1600" dirty="0"/>
              <a:t>维向量</a:t>
            </a:r>
            <a:endParaRPr kumimoji="1" lang="en-US" altLang="zh-CN" sz="1600" dirty="0"/>
          </a:p>
          <a:p>
            <a:pPr marL="342900" indent="-342900">
              <a:buAutoNum type="arabicPeriod"/>
            </a:pPr>
            <a:r>
              <a:rPr kumimoji="1" lang="en-US" altLang="zh-CN" sz="1600" dirty="0" err="1"/>
              <a:t>Softmax</a:t>
            </a:r>
            <a:r>
              <a:rPr kumimoji="1" lang="zh-CN" altLang="en-US" sz="1600" dirty="0"/>
              <a:t>非线性变换</a:t>
            </a:r>
            <a:endParaRPr kumimoji="1" lang="en-US" altLang="zh-CN" sz="1600" dirty="0"/>
          </a:p>
          <a:p>
            <a:pPr marL="342900" indent="-342900">
              <a:buAutoNum type="arabicPeriod"/>
            </a:pPr>
            <a:r>
              <a:rPr kumimoji="1" lang="zh-CN" altLang="en-US" sz="1600" dirty="0"/>
              <a:t>选择最可能的单词作为预测的单词</a:t>
            </a:r>
            <a:endParaRPr kumimoji="1" lang="en-US" altLang="zh-CN" sz="1600" dirty="0"/>
          </a:p>
          <a:p>
            <a:pPr marL="342900" indent="-342900">
              <a:buAutoNum type="arabicPeriod"/>
            </a:pPr>
            <a:endParaRPr kumimoji="1" lang="en-US" altLang="zh-CN" sz="1600" dirty="0"/>
          </a:p>
          <a:p>
            <a:pPr marL="342900" indent="-342900">
              <a:buAutoNum type="arabicPeriod"/>
            </a:pPr>
            <a:r>
              <a:rPr kumimoji="1" lang="zh-CN" altLang="en-US" sz="1600" dirty="0"/>
              <a:t>训练目标：选择合适的</a:t>
            </a:r>
            <a:r>
              <a:rPr kumimoji="1" lang="en-US" altLang="zh-CN" sz="1600" dirty="0"/>
              <a:t>W</a:t>
            </a:r>
            <a:r>
              <a:rPr kumimoji="1" lang="zh-CN" altLang="en-US" sz="1600" dirty="0"/>
              <a:t>和</a:t>
            </a:r>
            <a:r>
              <a:rPr kumimoji="1" lang="en-US" altLang="zh-CN" sz="1600" dirty="0"/>
              <a:t>W’</a:t>
            </a:r>
            <a:r>
              <a:rPr kumimoji="1" lang="zh-CN" altLang="en-US" sz="1600" dirty="0"/>
              <a:t>参数，使得</a:t>
            </a:r>
            <a:r>
              <a:rPr kumimoji="1" lang="zh-CN" altLang="en-US" sz="1600" dirty="0">
                <a:solidFill>
                  <a:srgbClr val="C00000"/>
                </a:solidFill>
              </a:rPr>
              <a:t>预测到</a:t>
            </a:r>
            <a:r>
              <a:rPr kumimoji="1" lang="en-US" altLang="zh-CN" sz="1600" dirty="0">
                <a:solidFill>
                  <a:srgbClr val="C00000"/>
                </a:solidFill>
              </a:rPr>
              <a:t>sat</a:t>
            </a:r>
            <a:r>
              <a:rPr kumimoji="1" lang="zh-CN" altLang="en-US" sz="1600" dirty="0">
                <a:solidFill>
                  <a:srgbClr val="C00000"/>
                </a:solidFill>
              </a:rPr>
              <a:t>的概率最大</a:t>
            </a:r>
          </a:p>
        </p:txBody>
      </p:sp>
    </p:spTree>
    <p:extLst>
      <p:ext uri="{BB962C8B-B14F-4D97-AF65-F5344CB8AC3E}">
        <p14:creationId xmlns:p14="http://schemas.microsoft.com/office/powerpoint/2010/main" val="3342877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58</a:t>
            </a:fld>
            <a:endParaRPr lang="en-US" dirty="0"/>
          </a:p>
        </p:txBody>
      </p:sp>
      <p:grpSp>
        <p:nvGrpSpPr>
          <p:cNvPr id="20" name="Group 19"/>
          <p:cNvGrpSpPr/>
          <p:nvPr/>
        </p:nvGrpSpPr>
        <p:grpSpPr>
          <a:xfrm>
            <a:off x="2520514" y="1335903"/>
            <a:ext cx="154305" cy="1337310"/>
            <a:chOff x="1800225" y="419100"/>
            <a:chExt cx="182880" cy="1828800"/>
          </a:xfrm>
        </p:grpSpPr>
        <p:sp>
          <p:nvSpPr>
            <p:cNvPr id="9" name="Rectangle 8"/>
            <p:cNvSpPr/>
            <p:nvPr/>
          </p:nvSpPr>
          <p:spPr>
            <a:xfrm>
              <a:off x="1800225" y="41910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00225" y="60198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b="1" dirty="0">
                  <a:solidFill>
                    <a:srgbClr val="FF0000"/>
                  </a:solidFill>
                </a:rPr>
                <a:t>1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00225" y="78486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800225" y="96774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00225" y="115062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800225" y="133350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800225" y="151638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1800225" y="169926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1800225" y="188214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…</a:t>
              </a: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1800225" y="206502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2520515" y="2948973"/>
            <a:ext cx="154305" cy="1337310"/>
            <a:chOff x="1800225" y="419100"/>
            <a:chExt cx="182880" cy="1828800"/>
          </a:xfrm>
        </p:grpSpPr>
        <p:sp>
          <p:nvSpPr>
            <p:cNvPr id="22" name="Rectangle 21"/>
            <p:cNvSpPr/>
            <p:nvPr/>
          </p:nvSpPr>
          <p:spPr>
            <a:xfrm>
              <a:off x="1800225" y="41910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1800225" y="60198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1800225" y="78486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1800225" y="96774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b="1" dirty="0">
                  <a:solidFill>
                    <a:srgbClr val="FF0000"/>
                  </a:solidFill>
                </a:rPr>
                <a:t>1</a:t>
              </a: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1800225" y="115062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1800225" y="133350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28" name="Rectangle 27"/>
            <p:cNvSpPr/>
            <p:nvPr/>
          </p:nvSpPr>
          <p:spPr>
            <a:xfrm>
              <a:off x="1800225" y="151638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800225" y="169926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800225" y="188214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…</a:t>
              </a: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1800225" y="206502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</p:grpSp>
      <p:sp>
        <p:nvSpPr>
          <p:cNvPr id="32" name="TextBox 31"/>
          <p:cNvSpPr txBox="1"/>
          <p:nvPr/>
        </p:nvSpPr>
        <p:spPr>
          <a:xfrm>
            <a:off x="2214474" y="1833819"/>
            <a:ext cx="348172" cy="248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13" dirty="0" err="1"/>
              <a:t>x</a:t>
            </a:r>
            <a:r>
              <a:rPr lang="en-US" sz="1013" baseline="-25000" dirty="0" err="1"/>
              <a:t>cat</a:t>
            </a:r>
            <a:endParaRPr lang="en-US" sz="1013" dirty="0"/>
          </a:p>
        </p:txBody>
      </p:sp>
      <p:sp>
        <p:nvSpPr>
          <p:cNvPr id="33" name="TextBox 32"/>
          <p:cNvSpPr txBox="1"/>
          <p:nvPr/>
        </p:nvSpPr>
        <p:spPr>
          <a:xfrm>
            <a:off x="2214475" y="3483897"/>
            <a:ext cx="330540" cy="248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13" dirty="0" err="1"/>
              <a:t>x</a:t>
            </a:r>
            <a:r>
              <a:rPr lang="en-US" sz="1013" baseline="-25000" dirty="0" err="1"/>
              <a:t>on</a:t>
            </a:r>
            <a:endParaRPr lang="en-US" sz="1013" dirty="0"/>
          </a:p>
        </p:txBody>
      </p:sp>
      <p:grpSp>
        <p:nvGrpSpPr>
          <p:cNvPr id="46" name="Group 45"/>
          <p:cNvGrpSpPr/>
          <p:nvPr/>
        </p:nvGrpSpPr>
        <p:grpSpPr>
          <a:xfrm>
            <a:off x="4468092" y="2357313"/>
            <a:ext cx="154305" cy="802386"/>
            <a:chOff x="1800225" y="419100"/>
            <a:chExt cx="182880" cy="1097280"/>
          </a:xfrm>
        </p:grpSpPr>
        <p:sp>
          <p:nvSpPr>
            <p:cNvPr id="47" name="Rectangle 46"/>
            <p:cNvSpPr/>
            <p:nvPr/>
          </p:nvSpPr>
          <p:spPr>
            <a:xfrm>
              <a:off x="1800225" y="41910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endParaRPr lang="en-US" sz="619" dirty="0">
                <a:solidFill>
                  <a:schemeClr val="tx1"/>
                </a:solidFill>
              </a:endParaRPr>
            </a:p>
          </p:txBody>
        </p:sp>
        <p:sp>
          <p:nvSpPr>
            <p:cNvPr id="48" name="Rectangle 47"/>
            <p:cNvSpPr/>
            <p:nvPr/>
          </p:nvSpPr>
          <p:spPr>
            <a:xfrm>
              <a:off x="1800225" y="60198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endParaRPr lang="en-US" sz="619" b="1" dirty="0">
                <a:solidFill>
                  <a:srgbClr val="FF0000"/>
                </a:solidFill>
              </a:endParaRPr>
            </a:p>
          </p:txBody>
        </p:sp>
        <p:sp>
          <p:nvSpPr>
            <p:cNvPr id="49" name="Rectangle 48"/>
            <p:cNvSpPr/>
            <p:nvPr/>
          </p:nvSpPr>
          <p:spPr>
            <a:xfrm>
              <a:off x="1800225" y="78486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endParaRPr lang="en-US" sz="619" dirty="0">
                <a:solidFill>
                  <a:schemeClr val="tx1"/>
                </a:solidFill>
              </a:endParaRPr>
            </a:p>
          </p:txBody>
        </p:sp>
        <p:sp>
          <p:nvSpPr>
            <p:cNvPr id="50" name="Rectangle 49"/>
            <p:cNvSpPr/>
            <p:nvPr/>
          </p:nvSpPr>
          <p:spPr>
            <a:xfrm>
              <a:off x="1800225" y="96774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endParaRPr lang="en-US" sz="619" dirty="0">
                <a:solidFill>
                  <a:schemeClr val="tx1"/>
                </a:solidFill>
              </a:endParaRPr>
            </a:p>
          </p:txBody>
        </p:sp>
        <p:sp>
          <p:nvSpPr>
            <p:cNvPr id="51" name="Rectangle 50"/>
            <p:cNvSpPr/>
            <p:nvPr/>
          </p:nvSpPr>
          <p:spPr>
            <a:xfrm>
              <a:off x="1800225" y="115062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endParaRPr lang="en-US" sz="619" dirty="0">
                <a:solidFill>
                  <a:schemeClr val="tx1"/>
                </a:solidFill>
              </a:endParaRPr>
            </a:p>
          </p:txBody>
        </p:sp>
        <p:sp>
          <p:nvSpPr>
            <p:cNvPr id="52" name="Rectangle 51"/>
            <p:cNvSpPr/>
            <p:nvPr/>
          </p:nvSpPr>
          <p:spPr>
            <a:xfrm>
              <a:off x="1800225" y="133350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endParaRPr lang="en-US" sz="619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57" name="Group 56"/>
          <p:cNvGrpSpPr/>
          <p:nvPr/>
        </p:nvGrpSpPr>
        <p:grpSpPr>
          <a:xfrm>
            <a:off x="6419319" y="2138289"/>
            <a:ext cx="154305" cy="1337310"/>
            <a:chOff x="1800225" y="419100"/>
            <a:chExt cx="182880" cy="1828800"/>
          </a:xfrm>
        </p:grpSpPr>
        <p:sp>
          <p:nvSpPr>
            <p:cNvPr id="58" name="Rectangle 57"/>
            <p:cNvSpPr/>
            <p:nvPr/>
          </p:nvSpPr>
          <p:spPr>
            <a:xfrm>
              <a:off x="1800225" y="41910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59" name="Rectangle 58"/>
            <p:cNvSpPr/>
            <p:nvPr/>
          </p:nvSpPr>
          <p:spPr>
            <a:xfrm>
              <a:off x="1800225" y="60198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60" name="Rectangle 59"/>
            <p:cNvSpPr/>
            <p:nvPr/>
          </p:nvSpPr>
          <p:spPr>
            <a:xfrm>
              <a:off x="1800225" y="78486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61" name="Rectangle 60"/>
            <p:cNvSpPr/>
            <p:nvPr/>
          </p:nvSpPr>
          <p:spPr>
            <a:xfrm>
              <a:off x="1800225" y="96774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62" name="Rectangle 61"/>
            <p:cNvSpPr/>
            <p:nvPr/>
          </p:nvSpPr>
          <p:spPr>
            <a:xfrm>
              <a:off x="1800225" y="115062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63" name="Rectangle 62"/>
            <p:cNvSpPr/>
            <p:nvPr/>
          </p:nvSpPr>
          <p:spPr>
            <a:xfrm>
              <a:off x="1800225" y="133350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64" name="Rectangle 63"/>
            <p:cNvSpPr/>
            <p:nvPr/>
          </p:nvSpPr>
          <p:spPr>
            <a:xfrm>
              <a:off x="1800225" y="151638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65" name="Rectangle 64"/>
            <p:cNvSpPr/>
            <p:nvPr/>
          </p:nvSpPr>
          <p:spPr>
            <a:xfrm>
              <a:off x="1800225" y="169926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b="1" dirty="0">
                  <a:solidFill>
                    <a:srgbClr val="FF0000"/>
                  </a:solidFill>
                </a:rPr>
                <a:t>1</a:t>
              </a:r>
            </a:p>
          </p:txBody>
        </p:sp>
        <p:sp>
          <p:nvSpPr>
            <p:cNvPr id="66" name="Rectangle 65"/>
            <p:cNvSpPr/>
            <p:nvPr/>
          </p:nvSpPr>
          <p:spPr>
            <a:xfrm>
              <a:off x="1800225" y="188214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…</a:t>
              </a:r>
            </a:p>
          </p:txBody>
        </p:sp>
        <p:sp>
          <p:nvSpPr>
            <p:cNvPr id="67" name="Rectangle 66"/>
            <p:cNvSpPr/>
            <p:nvPr/>
          </p:nvSpPr>
          <p:spPr>
            <a:xfrm>
              <a:off x="1800225" y="206502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</p:grpSp>
      <p:sp>
        <p:nvSpPr>
          <p:cNvPr id="68" name="TextBox 67"/>
          <p:cNvSpPr txBox="1"/>
          <p:nvPr/>
        </p:nvSpPr>
        <p:spPr>
          <a:xfrm>
            <a:off x="2261894" y="1052991"/>
            <a:ext cx="756938" cy="248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13" dirty="0"/>
              <a:t>Input layer</a:t>
            </a:r>
          </a:p>
        </p:txBody>
      </p:sp>
      <p:cxnSp>
        <p:nvCxnSpPr>
          <p:cNvPr id="70" name="Straight Connector 69"/>
          <p:cNvCxnSpPr/>
          <p:nvPr/>
        </p:nvCxnSpPr>
        <p:spPr>
          <a:xfrm>
            <a:off x="2675892" y="1335905"/>
            <a:ext cx="1792202" cy="102140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/>
          <p:cNvCxnSpPr/>
          <p:nvPr/>
        </p:nvCxnSpPr>
        <p:spPr>
          <a:xfrm flipV="1">
            <a:off x="2675890" y="2355096"/>
            <a:ext cx="1792202" cy="59387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/>
          <p:cNvCxnSpPr/>
          <p:nvPr/>
        </p:nvCxnSpPr>
        <p:spPr>
          <a:xfrm>
            <a:off x="2671172" y="2671796"/>
            <a:ext cx="1796921" cy="4879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/>
          <p:cNvCxnSpPr/>
          <p:nvPr/>
        </p:nvCxnSpPr>
        <p:spPr>
          <a:xfrm flipV="1">
            <a:off x="2675890" y="3167997"/>
            <a:ext cx="1792202" cy="11182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TextBox 81"/>
          <p:cNvSpPr txBox="1"/>
          <p:nvPr/>
        </p:nvSpPr>
        <p:spPr>
          <a:xfrm>
            <a:off x="4204077" y="3436682"/>
            <a:ext cx="856325" cy="248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13" dirty="0"/>
              <a:t>Hidden layer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741113" y="2691640"/>
            <a:ext cx="341760" cy="248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13" dirty="0"/>
              <a:t>sat</a:t>
            </a:r>
          </a:p>
        </p:txBody>
      </p:sp>
      <p:cxnSp>
        <p:nvCxnSpPr>
          <p:cNvPr id="84" name="Straight Connector 83"/>
          <p:cNvCxnSpPr/>
          <p:nvPr/>
        </p:nvCxnSpPr>
        <p:spPr>
          <a:xfrm flipV="1">
            <a:off x="4622397" y="2137605"/>
            <a:ext cx="1796922" cy="2174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/>
          <p:cNvCxnSpPr/>
          <p:nvPr/>
        </p:nvCxnSpPr>
        <p:spPr>
          <a:xfrm>
            <a:off x="4622397" y="3159700"/>
            <a:ext cx="1796922" cy="31590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TextBox 90"/>
          <p:cNvSpPr txBox="1"/>
          <p:nvPr/>
        </p:nvSpPr>
        <p:spPr>
          <a:xfrm>
            <a:off x="6110658" y="1811669"/>
            <a:ext cx="854721" cy="248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13" dirty="0"/>
              <a:t>Output layer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040901" y="2491044"/>
            <a:ext cx="502061" cy="248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13" dirty="0"/>
              <a:t>V-dim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040901" y="4085686"/>
            <a:ext cx="502061" cy="248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13" dirty="0"/>
              <a:t>V-dim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346806" y="3634418"/>
            <a:ext cx="511679" cy="248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13" dirty="0"/>
              <a:t>N-dim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660720" y="3300003"/>
            <a:ext cx="502061" cy="248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13" dirty="0"/>
              <a:t>V-dim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8" name="TextBox 97"/>
              <p:cNvSpPr txBox="1"/>
              <p:nvPr/>
            </p:nvSpPr>
            <p:spPr>
              <a:xfrm>
                <a:off x="2683403" y="2100872"/>
                <a:ext cx="725583" cy="3609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575" i="1">
                              <a:latin typeface="Cambria Math" charset="0"/>
                            </a:rPr>
                          </m:ctrlPr>
                        </m:sSubSupPr>
                        <m:e>
                          <m:r>
                            <a:rPr lang="en-US" sz="1575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1575" i="1"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n-US" sz="1575" i="1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US" sz="1575" i="1"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  <m:sup/>
                      </m:sSubSup>
                    </m:oMath>
                  </m:oMathPara>
                </a14:m>
                <a:endParaRPr lang="en-US" sz="1575" dirty="0"/>
              </a:p>
            </p:txBody>
          </p:sp>
        </mc:Choice>
        <mc:Fallback xmlns="">
          <p:sp>
            <p:nvSpPr>
              <p:cNvPr id="98" name="TextBox 9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3403" y="2100872"/>
                <a:ext cx="725583" cy="36093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9" name="TextBox 98"/>
              <p:cNvSpPr txBox="1"/>
              <p:nvPr/>
            </p:nvSpPr>
            <p:spPr>
              <a:xfrm>
                <a:off x="2761074" y="3182901"/>
                <a:ext cx="725583" cy="3609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575" i="1">
                              <a:latin typeface="Cambria Math" charset="0"/>
                            </a:rPr>
                          </m:ctrlPr>
                        </m:sSubSupPr>
                        <m:e>
                          <m:r>
                            <a:rPr lang="en-US" sz="1575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1575" i="1"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n-US" sz="1575" i="1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US" sz="1575" i="1"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  <m:sup/>
                      </m:sSubSup>
                    </m:oMath>
                  </m:oMathPara>
                </a14:m>
                <a:endParaRPr lang="en-US" sz="1575" dirty="0"/>
              </a:p>
            </p:txBody>
          </p:sp>
        </mc:Choice>
        <mc:Fallback xmlns="">
          <p:sp>
            <p:nvSpPr>
              <p:cNvPr id="99" name="TextBox 9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1074" y="3182901"/>
                <a:ext cx="725583" cy="36093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3045693" y="941900"/>
          <a:ext cx="1851660" cy="92583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85166">
                  <a:extLst>
                    <a:ext uri="{9D8B030D-6E8A-4147-A177-3AD203B41FA5}">
                      <a16:colId xmlns="" xmlns:a16="http://schemas.microsoft.com/office/drawing/2014/main" val="4253241636"/>
                    </a:ext>
                  </a:extLst>
                </a:gridCol>
                <a:gridCol w="185166">
                  <a:extLst>
                    <a:ext uri="{9D8B030D-6E8A-4147-A177-3AD203B41FA5}">
                      <a16:colId xmlns="" xmlns:a16="http://schemas.microsoft.com/office/drawing/2014/main" val="4278168359"/>
                    </a:ext>
                  </a:extLst>
                </a:gridCol>
                <a:gridCol w="185166">
                  <a:extLst>
                    <a:ext uri="{9D8B030D-6E8A-4147-A177-3AD203B41FA5}">
                      <a16:colId xmlns="" xmlns:a16="http://schemas.microsoft.com/office/drawing/2014/main" val="1775200123"/>
                    </a:ext>
                  </a:extLst>
                </a:gridCol>
                <a:gridCol w="185166">
                  <a:extLst>
                    <a:ext uri="{9D8B030D-6E8A-4147-A177-3AD203B41FA5}">
                      <a16:colId xmlns="" xmlns:a16="http://schemas.microsoft.com/office/drawing/2014/main" val="3058570661"/>
                    </a:ext>
                  </a:extLst>
                </a:gridCol>
                <a:gridCol w="185166">
                  <a:extLst>
                    <a:ext uri="{9D8B030D-6E8A-4147-A177-3AD203B41FA5}">
                      <a16:colId xmlns="" xmlns:a16="http://schemas.microsoft.com/office/drawing/2014/main" val="3635929464"/>
                    </a:ext>
                  </a:extLst>
                </a:gridCol>
                <a:gridCol w="185166">
                  <a:extLst>
                    <a:ext uri="{9D8B030D-6E8A-4147-A177-3AD203B41FA5}">
                      <a16:colId xmlns="" xmlns:a16="http://schemas.microsoft.com/office/drawing/2014/main" val="1060927547"/>
                    </a:ext>
                  </a:extLst>
                </a:gridCol>
                <a:gridCol w="185166">
                  <a:extLst>
                    <a:ext uri="{9D8B030D-6E8A-4147-A177-3AD203B41FA5}">
                      <a16:colId xmlns="" xmlns:a16="http://schemas.microsoft.com/office/drawing/2014/main" val="2648937507"/>
                    </a:ext>
                  </a:extLst>
                </a:gridCol>
                <a:gridCol w="185166">
                  <a:extLst>
                    <a:ext uri="{9D8B030D-6E8A-4147-A177-3AD203B41FA5}">
                      <a16:colId xmlns="" xmlns:a16="http://schemas.microsoft.com/office/drawing/2014/main" val="3865230097"/>
                    </a:ext>
                  </a:extLst>
                </a:gridCol>
                <a:gridCol w="185166">
                  <a:extLst>
                    <a:ext uri="{9D8B030D-6E8A-4147-A177-3AD203B41FA5}">
                      <a16:colId xmlns="" xmlns:a16="http://schemas.microsoft.com/office/drawing/2014/main" val="2604712063"/>
                    </a:ext>
                  </a:extLst>
                </a:gridCol>
                <a:gridCol w="185166">
                  <a:extLst>
                    <a:ext uri="{9D8B030D-6E8A-4147-A177-3AD203B41FA5}">
                      <a16:colId xmlns="" xmlns:a16="http://schemas.microsoft.com/office/drawing/2014/main" val="3797226581"/>
                    </a:ext>
                  </a:extLst>
                </a:gridCol>
              </a:tblGrid>
              <a:tr h="185166"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/>
                        <a:t>0.1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1" dirty="0">
                          <a:solidFill>
                            <a:srgbClr val="FF0000"/>
                          </a:solidFill>
                        </a:rPr>
                        <a:t>2.4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/>
                        <a:t>1.6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/>
                        <a:t>1.8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/>
                        <a:t>0.5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/>
                        <a:t>0.9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/>
                        <a:t>…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/>
                        <a:t>…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/>
                        <a:t>…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/>
                        <a:t>3.2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811048262"/>
                  </a:ext>
                </a:extLst>
              </a:tr>
              <a:tr h="185166"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/>
                        <a:t>0.5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1" dirty="0">
                          <a:solidFill>
                            <a:srgbClr val="FF0000"/>
                          </a:solidFill>
                        </a:rPr>
                        <a:t>2.6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/>
                        <a:t>1.4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/>
                        <a:t>2.9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/>
                        <a:t>1.5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/>
                        <a:t>3.6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/>
                        <a:t>…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/>
                        <a:t>…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/>
                        <a:t>…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/>
                        <a:t>6.1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623160804"/>
                  </a:ext>
                </a:extLst>
              </a:tr>
              <a:tr h="185166"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/>
                        <a:t>…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1" dirty="0">
                          <a:solidFill>
                            <a:srgbClr val="FF0000"/>
                          </a:solidFill>
                        </a:rPr>
                        <a:t>…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/>
                        <a:t>…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/>
                        <a:t>…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/>
                        <a:t>…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/>
                        <a:t>…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/>
                        <a:t>…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/>
                        <a:t>…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/>
                        <a:t>…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/>
                        <a:t>…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4268311445"/>
                  </a:ext>
                </a:extLst>
              </a:tr>
              <a:tr h="185166"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/>
                        <a:t>…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1" dirty="0">
                          <a:solidFill>
                            <a:srgbClr val="FF0000"/>
                          </a:solidFill>
                        </a:rPr>
                        <a:t>…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/>
                        <a:t>…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/>
                        <a:t>…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/>
                        <a:t>…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/>
                        <a:t>…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/>
                        <a:t>…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/>
                        <a:t>…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/>
                        <a:t>…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/>
                        <a:t>…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457582356"/>
                  </a:ext>
                </a:extLst>
              </a:tr>
              <a:tr h="185166"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/>
                        <a:t>0.6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1" dirty="0">
                          <a:solidFill>
                            <a:srgbClr val="FF0000"/>
                          </a:solidFill>
                        </a:rPr>
                        <a:t>1.8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/>
                        <a:t>2.7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/>
                        <a:t>1.9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/>
                        <a:t>2.4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/>
                        <a:t>2.0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/>
                        <a:t>…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/>
                        <a:t>…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/>
                        <a:t>…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/>
                        <a:t>1.2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633999658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70" name="TextBox 169"/>
              <p:cNvSpPr txBox="1"/>
              <p:nvPr/>
            </p:nvSpPr>
            <p:spPr>
              <a:xfrm>
                <a:off x="3666331" y="632410"/>
                <a:ext cx="725583" cy="33964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575" i="1">
                              <a:latin typeface="Cambria Math" charset="0"/>
                            </a:rPr>
                          </m:ctrlPr>
                        </m:sSubSupPr>
                        <m:e>
                          <m:r>
                            <a:rPr lang="en-US" sz="1575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1575" i="1"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n-US" sz="1575" i="1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US" sz="1575" i="1"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  <m:sup>
                          <m:r>
                            <a:rPr lang="en-US" sz="1575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</m:oMath>
                  </m:oMathPara>
                </a14:m>
                <a:endParaRPr lang="en-US" sz="1575" dirty="0"/>
              </a:p>
            </p:txBody>
          </p:sp>
        </mc:Choice>
        <mc:Fallback xmlns="">
          <p:sp>
            <p:nvSpPr>
              <p:cNvPr id="170" name="TextBox 16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6331" y="632410"/>
                <a:ext cx="725583" cy="33964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1" name="TextBox 80"/>
          <p:cNvSpPr txBox="1"/>
          <p:nvPr/>
        </p:nvSpPr>
        <p:spPr>
          <a:xfrm>
            <a:off x="5361601" y="985638"/>
            <a:ext cx="1399742" cy="248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13" dirty="0">
                <a:solidFill>
                  <a:srgbClr val="FF0000"/>
                </a:solidFill>
              </a:rPr>
              <a:t>Contain word’s vectors</a:t>
            </a:r>
          </a:p>
        </p:txBody>
      </p:sp>
      <p:cxnSp>
        <p:nvCxnSpPr>
          <p:cNvPr id="6" name="Straight Arrow Connector 5"/>
          <p:cNvCxnSpPr>
            <a:stCxn id="81" idx="1"/>
            <a:endCxn id="2" idx="3"/>
          </p:cNvCxnSpPr>
          <p:nvPr/>
        </p:nvCxnSpPr>
        <p:spPr>
          <a:xfrm flipH="1">
            <a:off x="4897353" y="1109743"/>
            <a:ext cx="464248" cy="2950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5" name="TextBox 84"/>
              <p:cNvSpPr txBox="1"/>
              <p:nvPr/>
            </p:nvSpPr>
            <p:spPr>
              <a:xfrm>
                <a:off x="5365983" y="2566430"/>
                <a:ext cx="725583" cy="3347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575" i="1">
                              <a:latin typeface="Cambria Math" charset="0"/>
                            </a:rPr>
                          </m:ctrlPr>
                        </m:sSubSupPr>
                        <m:e>
                          <m:r>
                            <a:rPr lang="en-US" sz="1575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1575" i="1"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n-US" sz="1575" i="1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US" sz="1575" i="1"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  <m:sup>
                          <m:r>
                            <a:rPr lang="en-US" sz="1575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en-US" sz="1575" dirty="0"/>
              </a:p>
            </p:txBody>
          </p:sp>
        </mc:Choice>
        <mc:Fallback xmlns="">
          <p:sp>
            <p:nvSpPr>
              <p:cNvPr id="85" name="TextBox 8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5983" y="2566430"/>
                <a:ext cx="725583" cy="334707"/>
              </a:xfrm>
              <a:prstGeom prst="rect">
                <a:avLst/>
              </a:prstGeom>
              <a:blipFill>
                <a:blip r:embed="rId6"/>
                <a:stretch>
                  <a:fillRect b="-370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/>
          <p:cNvSpPr/>
          <p:nvPr/>
        </p:nvSpPr>
        <p:spPr>
          <a:xfrm>
            <a:off x="2261894" y="4424166"/>
            <a:ext cx="484757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W</a:t>
            </a:r>
            <a:r>
              <a:rPr lang="zh-CN" altLang="en-US" dirty="0"/>
              <a:t>和</a:t>
            </a:r>
            <a:r>
              <a:rPr lang="en-US" altLang="zh-CN" dirty="0"/>
              <a:t>W’</a:t>
            </a:r>
            <a:r>
              <a:rPr lang="zh-CN" altLang="en-US" dirty="0"/>
              <a:t>中的向量都可以作为词向量（或者它们的平均值）</a:t>
            </a:r>
            <a:endParaRPr lang="en-US" dirty="0"/>
          </a:p>
        </p:txBody>
      </p:sp>
      <p:sp>
        <p:nvSpPr>
          <p:cNvPr id="69" name="标题 1">
            <a:extLst>
              <a:ext uri="{FF2B5EF4-FFF2-40B4-BE49-F238E27FC236}">
                <a16:creationId xmlns="" xmlns:a16="http://schemas.microsoft.com/office/drawing/2014/main" id="{4C572066-B93A-F643-951F-162CE66ABE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444" y="133537"/>
            <a:ext cx="8229600" cy="498872"/>
          </a:xfrm>
        </p:spPr>
        <p:txBody>
          <a:bodyPr/>
          <a:lstStyle/>
          <a:p>
            <a:r>
              <a:rPr kumimoji="1" lang="zh-CN" altLang="en-US" dirty="0"/>
              <a:t>学习到的词向量：</a:t>
            </a:r>
            <a:r>
              <a:rPr kumimoji="1" lang="en-US" altLang="zh-CN" dirty="0"/>
              <a:t>W</a:t>
            </a:r>
            <a:r>
              <a:rPr kumimoji="1" lang="zh-CN" altLang="en-US" dirty="0"/>
              <a:t>或者</a:t>
            </a:r>
            <a:r>
              <a:rPr kumimoji="1" lang="en-US" altLang="zh-CN" dirty="0"/>
              <a:t>W</a:t>
            </a:r>
            <a:r>
              <a:rPr kumimoji="1" lang="en-US" altLang="zh-CN" dirty="0">
                <a:latin typeface="Times" pitchFamily="2" charset="0"/>
              </a:rPr>
              <a:t>’</a:t>
            </a:r>
            <a:endParaRPr kumimoji="1" lang="zh-CN" altLang="en-US" dirty="0">
              <a:latin typeface="Time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2702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0827BEEB-AA99-284F-AEA6-A7C8227808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学习过程：上下文训练数据构造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="" xmlns:a16="http://schemas.microsoft.com/office/drawing/2014/main" id="{696CCC8D-9A8E-9B4A-8F6B-C450B11A0F2E}"/>
              </a:ext>
            </a:extLst>
          </p:cNvPr>
          <p:cNvSpPr txBox="1"/>
          <p:nvPr/>
        </p:nvSpPr>
        <p:spPr>
          <a:xfrm>
            <a:off x="1606550" y="809808"/>
            <a:ext cx="1340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窗口大小</a:t>
            </a:r>
            <a:r>
              <a:rPr kumimoji="1" lang="en-US" altLang="zh-CN" dirty="0"/>
              <a:t>=2</a:t>
            </a:r>
            <a:endParaRPr kumimoji="1" lang="zh-CN" altLang="en-US" dirty="0"/>
          </a:p>
        </p:txBody>
      </p:sp>
      <p:pic>
        <p:nvPicPr>
          <p:cNvPr id="9" name="图片 8">
            <a:extLst>
              <a:ext uri="{FF2B5EF4-FFF2-40B4-BE49-F238E27FC236}">
                <a16:creationId xmlns="" xmlns:a16="http://schemas.microsoft.com/office/drawing/2014/main" id="{90BE55CF-AD42-8F48-9A50-91466324F1F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6660"/>
          <a:stretch/>
        </p:blipFill>
        <p:spPr>
          <a:xfrm>
            <a:off x="1606550" y="1867876"/>
            <a:ext cx="6595341" cy="3275624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="" xmlns:a16="http://schemas.microsoft.com/office/drawing/2014/main" id="{5B95DBA1-BA80-664A-8AC2-41F536F04349}"/>
              </a:ext>
            </a:extLst>
          </p:cNvPr>
          <p:cNvSpPr txBox="1"/>
          <p:nvPr/>
        </p:nvSpPr>
        <p:spPr>
          <a:xfrm>
            <a:off x="2078182" y="1510145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/>
              <a:t>原始文本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="" xmlns:a16="http://schemas.microsoft.com/office/drawing/2014/main" id="{0BAC5BDA-012C-0E42-8B87-994D76222784}"/>
              </a:ext>
            </a:extLst>
          </p:cNvPr>
          <p:cNvSpPr/>
          <p:nvPr/>
        </p:nvSpPr>
        <p:spPr>
          <a:xfrm>
            <a:off x="6082329" y="1510145"/>
            <a:ext cx="180690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b="1" dirty="0"/>
              <a:t>生成的训练数据</a:t>
            </a:r>
            <a:endParaRPr lang="zh-CN" altLang="en-US" b="1" dirty="0"/>
          </a:p>
        </p:txBody>
      </p:sp>
      <p:sp>
        <p:nvSpPr>
          <p:cNvPr id="3" name="Rectangle 2"/>
          <p:cNvSpPr/>
          <p:nvPr/>
        </p:nvSpPr>
        <p:spPr>
          <a:xfrm>
            <a:off x="6508955" y="1879477"/>
            <a:ext cx="1209368" cy="55892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6508955" y="2568213"/>
            <a:ext cx="1209368" cy="6666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6508955" y="3356787"/>
            <a:ext cx="1209368" cy="81408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6508955" y="4258261"/>
            <a:ext cx="1209368" cy="81518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</p:spTree>
    <p:extLst>
      <p:ext uri="{BB962C8B-B14F-4D97-AF65-F5344CB8AC3E}">
        <p14:creationId xmlns:p14="http://schemas.microsoft.com/office/powerpoint/2010/main" val="23777196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78197FF4-A253-BC42-826E-BF5A7DE83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学习过程：目标函数构造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="" xmlns:a16="http://schemas.microsoft.com/office/drawing/2014/main" id="{A9974C54-3435-AA4C-93F0-94DA4F2DE9A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199" y="819150"/>
                <a:ext cx="5447053" cy="3937000"/>
              </a:xfrm>
            </p:spPr>
            <p:txBody>
              <a:bodyPr/>
              <a:lstStyle/>
              <a:p>
                <a:r>
                  <a:rPr kumimoji="1" lang="zh-CN" altLang="en-US" dirty="0" smtClean="0"/>
                  <a:t>选择一个中心词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b="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kumimoji="1" lang="zh-CN" altLang="en-US" dirty="0"/>
                  <a:t>和上下文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,⋯,</m:t>
                    </m:r>
                    <m:sSub>
                      <m:sSubPr>
                        <m:ctrlPr>
                          <a:rPr kumimoji="1" lang="en-US" altLang="zh-CN" b="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endParaRPr kumimoji="1" lang="en-US" altLang="zh-CN" dirty="0"/>
              </a:p>
              <a:p>
                <a:r>
                  <a:rPr kumimoji="1" lang="zh-CN" altLang="en-US" dirty="0"/>
                  <a:t>获得上下文的词向量</a:t>
                </a:r>
                <a14:m>
                  <m:oMath xmlns:m="http://schemas.openxmlformats.org/officeDocument/2006/math">
                    <m:r>
                      <a:rPr kumimoji="1" lang="zh-CN" altLang="en-US" i="1" smtClean="0">
                        <a:latin typeface="Cambria Math" panose="02040503050406030204" pitchFamily="18" charset="0"/>
                      </a:rPr>
                      <m:t>：</m:t>
                    </m:r>
                    <m:sSub>
                      <m:sSubPr>
                        <m:ctrlPr>
                          <a:rPr kumimoji="1" lang="en-US" altLang="zh-CN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kumimoji="1" lang="en-US" altLang="zh-CN" b="1" i="0" smtClean="0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kumimoji="1" lang="en-US" altLang="zh-CN" i="1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zh-CN" b="1" i="0">
                        <a:latin typeface="Cambria Math" panose="02040503050406030204" pitchFamily="18" charset="0"/>
                      </a:rPr>
                      <m:t>𝐖</m:t>
                    </m:r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kumimoji="1" lang="en-US" altLang="zh-CN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kumimoji="1" lang="en-US" altLang="zh-CN" i="1">
                        <a:latin typeface="Cambria Math" panose="02040503050406030204" pitchFamily="18" charset="0"/>
                      </a:rPr>
                      <m:t>,</m:t>
                    </m:r>
                    <m:r>
                      <a:rPr kumimoji="1" lang="zh-CN" altLang="en-US" b="0" i="1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kumimoji="1" lang="en-US" altLang="zh-CN" i="1">
                        <a:latin typeface="Cambria Math" panose="02040503050406030204" pitchFamily="18" charset="0"/>
                      </a:rPr>
                      <m:t>⋯,</m:t>
                    </m:r>
                    <m:sSub>
                      <m:sSubPr>
                        <m:ctrlPr>
                          <a:rPr kumimoji="1" lang="en-US" altLang="zh-CN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kumimoji="1" lang="en-US" altLang="zh-CN" b="1" i="0" smtClean="0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kumimoji="1" lang="en-US" altLang="zh-CN" i="1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zh-CN" b="1">
                        <a:latin typeface="Cambria Math" panose="02040503050406030204" pitchFamily="18" charset="0"/>
                      </a:rPr>
                      <m:t>𝐖</m:t>
                    </m:r>
                    <m:r>
                      <a:rPr kumimoji="1" lang="en-US" altLang="zh-CN" i="1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kumimoji="1" lang="en-US" altLang="zh-CN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endParaRPr kumimoji="1" lang="en-US" altLang="zh-CN" dirty="0"/>
              </a:p>
              <a:p>
                <a:r>
                  <a:rPr kumimoji="1" lang="zh-CN" altLang="en-US" dirty="0"/>
                  <a:t>得到上下文的平均向量</a:t>
                </a:r>
                <a:endParaRPr kumimoji="1"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kumimoji="1" lang="en-US" altLang="zh-CN" b="1" i="1" smtClean="0">
                              <a:latin typeface="Cambria Math" charset="0"/>
                            </a:rPr>
                          </m:ctrlPr>
                        </m:accPr>
                        <m:e>
                          <m:r>
                            <a:rPr kumimoji="1" lang="en-US" altLang="zh-CN" b="1">
                              <a:latin typeface="Cambria Math" panose="02040503050406030204" pitchFamily="18" charset="0"/>
                            </a:rPr>
                            <m:t>𝐡</m:t>
                          </m:r>
                        </m:e>
                      </m:acc>
                      <m:r>
                        <a:rPr kumimoji="1" lang="en-US" altLang="zh-CN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zh-CN" i="1" smtClean="0">
                              <a:latin typeface="Cambria Math" charset="0"/>
                            </a:rPr>
                          </m:ctrlPr>
                        </m:fPr>
                        <m:num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kumimoji="1" lang="en-US" altLang="zh-CN" i="1" smtClean="0">
                              <a:latin typeface="Cambria Math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d>
                            <m:dPr>
                              <m:ctrlPr>
                                <a:rPr kumimoji="1" lang="en-US" altLang="zh-CN" i="1" smtClean="0">
                                  <a:latin typeface="Cambria Math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kumimoji="1" lang="en-US" altLang="zh-CN" i="1">
                                      <a:latin typeface="Cambria Math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b="1" i="1">
                                      <a:latin typeface="Cambria Math" panose="02040503050406030204" pitchFamily="18" charset="0"/>
                                    </a:rPr>
                                    <m:t>𝒉</m:t>
                                  </m:r>
                                </m:e>
                                <m:sub>
                                  <m:r>
                                    <a:rPr kumimoji="1" lang="en-US" altLang="zh-CN" b="0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  <m:r>
                                    <a:rPr kumimoji="1" lang="en-US" altLang="zh-CN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kumimoji="1" lang="en-US" altLang="zh-CN" b="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kumimoji="1" lang="en-US" altLang="zh-CN" i="1">
                                      <a:latin typeface="Cambria Math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b="1" i="1">
                                      <a:latin typeface="Cambria Math" panose="02040503050406030204" pitchFamily="18" charset="0"/>
                                    </a:rPr>
                                    <m:t>𝒉</m:t>
                                  </m:r>
                                </m:e>
                                <m:sub>
                                  <m:r>
                                    <a:rPr kumimoji="1" lang="en-US" altLang="zh-CN" b="0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  <m:r>
                                    <a:rPr kumimoji="1" lang="en-US" altLang="zh-CN" b="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kumimoji="1" lang="en-US" altLang="zh-CN" b="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kumimoji="1" lang="en-US" altLang="zh-CN" dirty="0"/>
              </a:p>
              <a:p>
                <a:r>
                  <a:rPr kumimoji="1" lang="zh-CN" altLang="en-US" dirty="0"/>
                  <a:t>预测中心词的概率</a:t>
                </a:r>
                <a:endParaRPr kumimoji="1"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kumimoji="1" lang="en-US" altLang="zh-CN" b="0" i="1" smtClean="0">
                              <a:latin typeface="Cambria Math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1" lang="en-US" altLang="zh-CN" b="0" i="1" smtClean="0">
                                  <a:latin typeface="Cambria Math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b="1" i="0">
                                  <a:latin typeface="Cambria Math" panose="02040503050406030204" pitchFamily="18" charset="0"/>
                                </a:rPr>
                                <m:t>𝐡</m:t>
                              </m:r>
                            </m:e>
                            <m:sub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acc>
                            <m:accPr>
                              <m:chr m:val="̅"/>
                              <m:ctrlPr>
                                <a:rPr kumimoji="1" lang="en-US" altLang="zh-CN" b="1" i="1">
                                  <a:latin typeface="Cambria Math" charset="0"/>
                                </a:rPr>
                              </m:ctrlPr>
                            </m:accPr>
                            <m:e>
                              <m:r>
                                <a:rPr kumimoji="1" lang="en-US" altLang="zh-CN" b="1">
                                  <a:latin typeface="Cambria Math" panose="02040503050406030204" pitchFamily="18" charset="0"/>
                                </a:rPr>
                                <m:t>𝐡</m:t>
                              </m:r>
                            </m:e>
                          </m:acc>
                        </m:e>
                      </m:d>
                      <m:r>
                        <a:rPr kumimoji="1"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zh-CN" b="0" i="1" smtClean="0">
                              <a:latin typeface="Cambria Math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kumimoji="1" lang="en-US" altLang="zh-CN" b="0" i="1" smtClean="0">
                                  <a:latin typeface="Cambria Math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kumimoji="1" lang="en-US" altLang="zh-CN" b="0" i="0" smtClean="0">
                                  <a:latin typeface="Cambria Math" panose="02040503050406030204" pitchFamily="18" charset="0"/>
                                </a:rPr>
                                <m:t>exp</m:t>
                              </m:r>
                            </m:fName>
                            <m:e>
                              <m:d>
                                <m:dPr>
                                  <m:begChr m:val="{"/>
                                  <m:endChr m:val="}"/>
                                  <m:ctrlPr>
                                    <a:rPr kumimoji="1" lang="en-US" altLang="zh-CN" b="0" i="1" smtClean="0">
                                      <a:latin typeface="Cambria Math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kumimoji="1" lang="en-US" altLang="zh-CN" b="0" i="1" smtClean="0">
                                          <a:latin typeface="Cambria Math" charset="0"/>
                                        </a:rPr>
                                      </m:ctrlPr>
                                    </m:sSupPr>
                                    <m:e>
                                      <m:sSub>
                                        <m:sSubPr>
                                          <m:ctrlPr>
                                            <a:rPr kumimoji="1" lang="en-US" altLang="zh-CN" i="1">
                                              <a:latin typeface="Cambria Math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kumimoji="1" lang="en-US" altLang="zh-CN" b="1">
                                              <a:latin typeface="Cambria Math" panose="02040503050406030204" pitchFamily="18" charset="0"/>
                                            </a:rPr>
                                            <m:t>𝐡</m:t>
                                          </m:r>
                                        </m:e>
                                        <m:sub>
                                          <m:r>
                                            <a:rPr kumimoji="1" lang="en-US" altLang="zh-CN" i="1"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sub>
                                      </m:sSub>
                                    </m:e>
                                    <m:sup>
                                      <m:r>
                                        <a:rPr kumimoji="1"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sup>
                                  </m:sSup>
                                  <m:acc>
                                    <m:accPr>
                                      <m:chr m:val="̅"/>
                                      <m:ctrlPr>
                                        <a:rPr kumimoji="1" lang="en-US" altLang="zh-CN" b="1" i="1">
                                          <a:latin typeface="Cambria Math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kumimoji="1" lang="en-US" altLang="zh-CN" b="1">
                                          <a:latin typeface="Cambria Math" panose="02040503050406030204" pitchFamily="18" charset="0"/>
                                        </a:rPr>
                                        <m:t>𝐡</m:t>
                                      </m:r>
                                    </m:e>
                                  </m:acc>
                                </m:e>
                              </m:d>
                            </m:e>
                          </m:func>
                        </m:num>
                        <m:den>
                          <m:nary>
                            <m:naryPr>
                              <m:chr m:val="∑"/>
                              <m:ctrlPr>
                                <a:rPr kumimoji="1" lang="en-US" altLang="zh-CN" b="0" i="1" smtClean="0">
                                  <a:latin typeface="Cambria Math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</m:sup>
                            <m:e>
                              <m:func>
                                <m:funcPr>
                                  <m:ctrlPr>
                                    <a:rPr kumimoji="1" lang="zh-CN" altLang="en-US" b="0" i="1" smtClean="0">
                                      <a:latin typeface="Cambria Math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kumimoji="1" lang="en-US" altLang="zh-CN" b="0" i="0" smtClean="0">
                                      <a:latin typeface="Cambria Math" charset="0"/>
                                    </a:rPr>
                                    <m:t>exp</m:t>
                                  </m:r>
                                </m:fName>
                                <m:e>
                                  <m:r>
                                    <a:rPr kumimoji="1" lang="en-US" altLang="zh-CN" b="0" i="1" smtClean="0">
                                      <a:latin typeface="Cambria Math" charset="0"/>
                                    </a:rPr>
                                    <m:t>{</m:t>
                                  </m:r>
                                  <m:sSup>
                                    <m:sSupPr>
                                      <m:ctrlPr>
                                        <a:rPr kumimoji="1" lang="en-US" altLang="zh-CN" i="1">
                                          <a:latin typeface="Cambria Math" charset="0"/>
                                        </a:rPr>
                                      </m:ctrlPr>
                                    </m:sSupPr>
                                    <m:e>
                                      <m:sSub>
                                        <m:sSubPr>
                                          <m:ctrlPr>
                                            <a:rPr kumimoji="1" lang="en-US" altLang="zh-CN" i="1">
                                              <a:latin typeface="Cambria Math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kumimoji="1" lang="en-US" altLang="zh-CN" b="1">
                                              <a:latin typeface="Cambria Math" panose="02040503050406030204" pitchFamily="18" charset="0"/>
                                            </a:rPr>
                                            <m:t>𝐡</m:t>
                                          </m:r>
                                        </m:e>
                                        <m:sub>
                                          <m:r>
                                            <a:rPr kumimoji="1" lang="en-US" altLang="zh-CN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  <m:sup>
                                      <m:r>
                                        <a:rPr kumimoji="1" lang="en-US" altLang="zh-CN" i="1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sup>
                                  </m:sSup>
                                  <m:acc>
                                    <m:accPr>
                                      <m:chr m:val="̅"/>
                                      <m:ctrlPr>
                                        <a:rPr kumimoji="1" lang="en-US" altLang="zh-CN" b="1" i="1">
                                          <a:latin typeface="Cambria Math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kumimoji="1" lang="en-US" altLang="zh-CN" b="1">
                                          <a:latin typeface="Cambria Math" panose="02040503050406030204" pitchFamily="18" charset="0"/>
                                        </a:rPr>
                                        <m:t>𝐡</m:t>
                                      </m:r>
                                    </m:e>
                                  </m:acc>
                                  <m:r>
                                    <a:rPr kumimoji="1" lang="en-US" altLang="zh-CN" b="0" i="1" smtClean="0">
                                      <a:latin typeface="Cambria Math" charset="0"/>
                                    </a:rPr>
                                    <m:t>}</m:t>
                                  </m:r>
                                </m:e>
                              </m:func>
                            </m:e>
                          </m:nary>
                        </m:den>
                      </m:f>
                      <m:r>
                        <a:rPr kumimoji="1" lang="zh-CN" altLang="en-US" b="0" i="0" smtClean="0">
                          <a:latin typeface="Cambria Math" panose="02040503050406030204" pitchFamily="18" charset="0"/>
                        </a:rPr>
                        <m:t>， </m:t>
                      </m:r>
                      <m:r>
                        <m:rPr>
                          <m:sty m:val="p"/>
                        </m:rPr>
                        <a:rPr kumimoji="1" lang="en-US" altLang="zh-CN" i="1">
                          <a:latin typeface="Cambria Math" panose="02040503050406030204" pitchFamily="18" charset="0"/>
                        </a:rPr>
                        <m:t>where</m:t>
                      </m:r>
                      <m:sSub>
                        <m:sSubPr>
                          <m:ctrlPr>
                            <a:rPr kumimoji="1" lang="en-US" altLang="zh-CN" i="1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kumimoji="1" lang="zh-CN" altLang="en-US" b="1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kumimoji="1" lang="en-US" altLang="zh-CN" b="1">
                              <a:latin typeface="Cambria Math" panose="02040503050406030204" pitchFamily="18" charset="0"/>
                            </a:rPr>
                            <m:t>𝐡</m:t>
                          </m:r>
                        </m:e>
                        <m:sub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kumimoji="1"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kumimoji="1" lang="en-US" altLang="zh-CN" b="0" i="1" smtClean="0">
                              <a:latin typeface="Cambria Math" charset="0"/>
                            </a:rPr>
                          </m:ctrlPr>
                        </m:sSupPr>
                        <m:e>
                          <m:r>
                            <a:rPr kumimoji="1" lang="en-US" altLang="zh-CN" b="1" i="0" smtClean="0">
                              <a:latin typeface="Cambria Math" panose="02040503050406030204" pitchFamily="18" charset="0"/>
                            </a:rPr>
                            <m:t>𝐖</m:t>
                          </m:r>
                        </m:e>
                        <m:sup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sSub>
                        <m:sSubPr>
                          <m:ctrlPr>
                            <a:rPr kumimoji="1" lang="en-US" altLang="zh-CN" b="0" i="1" smtClean="0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kumimoji="1" lang="en-US" altLang="zh-CN" dirty="0"/>
              </a:p>
              <a:p>
                <a:pPr marL="0" indent="0">
                  <a:buNone/>
                </a:pPr>
                <a:endParaRPr kumimoji="1"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A9974C54-3435-AA4C-93F0-94DA4F2DE9A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199" y="819150"/>
                <a:ext cx="5447053" cy="3937000"/>
              </a:xfrm>
              <a:blipFill rotWithShape="0">
                <a:blip r:embed="rId2"/>
                <a:stretch>
                  <a:fillRect l="-1007" t="-7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图片 9">
            <a:extLst>
              <a:ext uri="{FF2B5EF4-FFF2-40B4-BE49-F238E27FC236}">
                <a16:creationId xmlns="" xmlns:a16="http://schemas.microsoft.com/office/drawing/2014/main" id="{DE6C8B03-4C36-5C44-BE1F-CB3C48ED96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4219" y="819150"/>
            <a:ext cx="3449782" cy="332244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="" xmlns:a16="http://schemas.microsoft.com/office/drawing/2014/main" id="{E11B4FC0-8EE5-3F42-9CC1-974BA8DE9806}"/>
                  </a:ext>
                </a:extLst>
              </p:cNvPr>
              <p:cNvSpPr txBox="1"/>
              <p:nvPr/>
            </p:nvSpPr>
            <p:spPr>
              <a:xfrm>
                <a:off x="457198" y="4208116"/>
                <a:ext cx="6561412" cy="9353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zh-CN" altLang="en-US" sz="2400" dirty="0" smtClean="0"/>
                  <a:t>训练优化目标</a:t>
                </a:r>
                <a:r>
                  <a:rPr kumimoji="1" lang="en-US" altLang="zh-CN" sz="2400" dirty="0"/>
                  <a:t>MLE</a:t>
                </a:r>
                <a:r>
                  <a:rPr kumimoji="1" lang="zh-CN" altLang="en-US" sz="2400" dirty="0"/>
                  <a:t>：</a:t>
                </a:r>
                <a14:m>
                  <m:oMath xmlns:m="http://schemas.openxmlformats.org/officeDocument/2006/math">
                    <m:limLow>
                      <m:limLowPr>
                        <m:ctrlPr>
                          <a:rPr kumimoji="1" lang="en-US" altLang="zh-CN" sz="2400" b="0" i="1" smtClean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kumimoji="1" lang="en-US" altLang="zh-CN" sz="2400" b="0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max</m:t>
                        </m:r>
                      </m:e>
                      <m:lim>
                        <m:d>
                          <m:dPr>
                            <m:begChr m:val="{"/>
                            <m:endChr m:val="}"/>
                            <m:ctrlPr>
                              <a:rPr kumimoji="1" lang="en-US" altLang="zh-CN" sz="2400" b="0" i="1" smtClean="0">
                                <a:solidFill>
                                  <a:srgbClr val="C00000"/>
                                </a:solidFill>
                                <a:latin typeface="Cambria Math" charset="0"/>
                              </a:rPr>
                            </m:ctrlPr>
                          </m:dPr>
                          <m:e>
                            <m:r>
                              <a:rPr kumimoji="1" lang="en-US" altLang="zh-CN" sz="2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  <m:r>
                              <a:rPr kumimoji="1" lang="en-US" altLang="zh-CN" sz="2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kumimoji="1" lang="en-US" altLang="zh-CN" sz="2400" b="0" i="1" smtClean="0">
                                    <a:solidFill>
                                      <a:srgbClr val="C00000"/>
                                    </a:solidFill>
                                    <a:latin typeface="Cambria Math" charset="0"/>
                                  </a:rPr>
                                </m:ctrlPr>
                              </m:sSupPr>
                              <m:e>
                                <m:r>
                                  <a:rPr kumimoji="1" lang="en-US" altLang="zh-CN" sz="24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e>
                              <m:sup>
                                <m:r>
                                  <a:rPr kumimoji="1" lang="en-US" altLang="zh-CN" sz="24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e>
                        </m:d>
                      </m:lim>
                    </m:limLow>
                    <m:r>
                      <a:rPr kumimoji="1" lang="zh-CN" altLang="en-US" sz="2400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nary>
                      <m:naryPr>
                        <m:chr m:val="∑"/>
                        <m:supHide m:val="on"/>
                        <m:ctrlPr>
                          <a:rPr kumimoji="1" lang="zh-CN" altLang="en-US" sz="2400" i="1" smtClean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kumimoji="1" lang="en-US" altLang="zh-CN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  <m:sup/>
                      <m:e>
                        <m:func>
                          <m:funcPr>
                            <m:ctrlPr>
                              <a:rPr kumimoji="1" lang="zh-CN" altLang="en-US" sz="2400" b="0" i="1" smtClean="0">
                                <a:solidFill>
                                  <a:srgbClr val="C00000"/>
                                </a:solidFill>
                                <a:latin typeface="Cambria Math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kumimoji="1" lang="en-US" altLang="zh-CN" sz="2400" b="0" i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f>
                              <m:fPr>
                                <m:ctrlPr>
                                  <a:rPr kumimoji="1" lang="en-US" altLang="zh-CN" sz="2400" i="1">
                                    <a:solidFill>
                                      <a:srgbClr val="C00000"/>
                                    </a:solidFill>
                                    <a:latin typeface="Cambria Math" charset="0"/>
                                  </a:rPr>
                                </m:ctrlPr>
                              </m:fPr>
                              <m:num>
                                <m:func>
                                  <m:funcPr>
                                    <m:ctrlPr>
                                      <a:rPr kumimoji="1" lang="en-US" altLang="zh-CN" sz="2400" i="1">
                                        <a:solidFill>
                                          <a:srgbClr val="C00000"/>
                                        </a:solidFill>
                                        <a:latin typeface="Cambria Math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kumimoji="1" lang="en-US" altLang="zh-CN" sz="240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exp</m:t>
                                    </m:r>
                                  </m:fName>
                                  <m:e>
                                    <m:d>
                                      <m:dPr>
                                        <m:begChr m:val="{"/>
                                        <m:endChr m:val="}"/>
                                        <m:ctrlPr>
                                          <a:rPr kumimoji="1" lang="en-US" altLang="zh-CN" sz="2400" i="1">
                                            <a:solidFill>
                                              <a:srgbClr val="C00000"/>
                                            </a:solidFill>
                                            <a:latin typeface="Cambria Math" charset="0"/>
                                          </a:rPr>
                                        </m:ctrlPr>
                                      </m:dPr>
                                      <m:e>
                                        <m:sSup>
                                          <m:sSupPr>
                                            <m:ctrlPr>
                                              <a:rPr kumimoji="1" lang="en-US" altLang="zh-CN" sz="2400" i="1">
                                                <a:solidFill>
                                                  <a:srgbClr val="C00000"/>
                                                </a:solidFill>
                                                <a:latin typeface="Cambria Math" charset="0"/>
                                              </a:rPr>
                                            </m:ctrlPr>
                                          </m:sSupPr>
                                          <m:e>
                                            <m:d>
                                              <m:dPr>
                                                <m:ctrlPr>
                                                  <a:rPr kumimoji="1" lang="en-US" altLang="zh-CN" sz="2400" i="1">
                                                    <a:solidFill>
                                                      <a:srgbClr val="C00000"/>
                                                    </a:solidFill>
                                                    <a:latin typeface="Cambria Math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sSub>
                                                  <m:sSubPr>
                                                    <m:ctrlPr>
                                                      <a:rPr kumimoji="1" lang="en-US" altLang="zh-CN" sz="2400" i="1">
                                                        <a:solidFill>
                                                          <a:srgbClr val="C00000"/>
                                                        </a:solidFill>
                                                        <a:latin typeface="Cambria Math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kumimoji="1" lang="en-US" altLang="zh-CN" sz="2400" i="1">
                                                        <a:solidFill>
                                                          <a:srgbClr val="C00000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  <m:t>𝑤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kumimoji="1" lang="en-US" altLang="zh-CN" sz="2400" i="1">
                                                        <a:solidFill>
                                                          <a:srgbClr val="C00000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  <m:t>𝑐</m:t>
                                                    </m:r>
                                                  </m:sub>
                                                </m:sSub>
                                                <m:sSup>
                                                  <m:sSupPr>
                                                    <m:ctrlPr>
                                                      <a:rPr kumimoji="1" lang="en-US" altLang="zh-CN" sz="2400" i="1">
                                                        <a:solidFill>
                                                          <a:srgbClr val="C00000"/>
                                                        </a:solidFill>
                                                        <a:latin typeface="Cambria Math" charset="0"/>
                                                      </a:rPr>
                                                    </m:ctrlPr>
                                                  </m:sSupPr>
                                                  <m:e>
                                                    <m:r>
                                                      <a:rPr kumimoji="1" lang="en-US" altLang="zh-CN" sz="2400" i="1">
                                                        <a:solidFill>
                                                          <a:srgbClr val="C00000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  <m:t>𝑊</m:t>
                                                    </m:r>
                                                  </m:e>
                                                  <m:sup>
                                                    <m:r>
                                                      <a:rPr kumimoji="1" lang="en-US" altLang="zh-CN" sz="2400" i="1">
                                                        <a:solidFill>
                                                          <a:srgbClr val="C00000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  <m:t>′</m:t>
                                                    </m:r>
                                                  </m:sup>
                                                </m:sSup>
                                              </m:e>
                                            </m:d>
                                          </m:e>
                                          <m:sup>
                                            <m:r>
                                              <a:rPr kumimoji="1" lang="en-US" altLang="zh-CN" sz="2400" i="1">
                                                <a:solidFill>
                                                  <a:srgbClr val="C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𝑇</m:t>
                                            </m:r>
                                          </m:sup>
                                        </m:sSup>
                                        <m:acc>
                                          <m:accPr>
                                            <m:chr m:val="̅"/>
                                            <m:ctrlPr>
                                              <a:rPr kumimoji="1" lang="en-US" altLang="zh-CN" sz="2400" b="1" i="1">
                                                <a:solidFill>
                                                  <a:srgbClr val="C00000"/>
                                                </a:solidFill>
                                                <a:latin typeface="Cambria Math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kumimoji="1" lang="en-US" altLang="zh-CN" sz="2400" b="1">
                                                <a:solidFill>
                                                  <a:srgbClr val="C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𝐡</m:t>
                                            </m:r>
                                          </m:e>
                                        </m:acc>
                                      </m:e>
                                    </m:d>
                                  </m:e>
                                </m:func>
                              </m:num>
                              <m:den>
                                <m:nary>
                                  <m:naryPr>
                                    <m:chr m:val="∑"/>
                                    <m:ctrlPr>
                                      <a:rPr kumimoji="1" lang="en-US" altLang="zh-CN" sz="2400" i="1">
                                        <a:solidFill>
                                          <a:srgbClr val="C00000"/>
                                        </a:solidFill>
                                        <a:latin typeface="Cambria Math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kumimoji="1" lang="en-US" altLang="zh-CN" sz="2400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kumimoji="1" lang="en-US" altLang="zh-CN" sz="2400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kumimoji="1" lang="en-US" altLang="zh-CN" sz="2400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|</m:t>
                                    </m:r>
                                    <m:r>
                                      <a:rPr kumimoji="1" lang="en-US" altLang="zh-CN" sz="2400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  <m:r>
                                      <a:rPr kumimoji="1" lang="en-US" altLang="zh-CN" sz="2400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|</m:t>
                                    </m:r>
                                  </m:sup>
                                  <m:e>
                                    <m:func>
                                      <m:funcPr>
                                        <m:ctrlPr>
                                          <a:rPr kumimoji="1" lang="zh-CN" altLang="en-US" sz="24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kumimoji="1" lang="en-US" altLang="zh-CN" sz="2400" b="0" i="0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charset="0"/>
                                          </a:rPr>
                                          <m:t>exp</m:t>
                                        </m:r>
                                      </m:fName>
                                      <m:e>
                                        <m:sSup>
                                          <m:sSupPr>
                                            <m:ctrlPr>
                                              <a:rPr kumimoji="1" lang="en-US" altLang="zh-CN" sz="2400" i="1">
                                                <a:solidFill>
                                                  <a:srgbClr val="C00000"/>
                                                </a:solidFill>
                                                <a:latin typeface="Cambria Math" charset="0"/>
                                              </a:rPr>
                                            </m:ctrlPr>
                                          </m:sSupPr>
                                          <m:e>
                                            <m:d>
                                              <m:dPr>
                                                <m:ctrlPr>
                                                  <a:rPr kumimoji="1" lang="en-US" altLang="zh-CN" sz="2400" i="1">
                                                    <a:solidFill>
                                                      <a:srgbClr val="C00000"/>
                                                    </a:solidFill>
                                                    <a:latin typeface="Cambria Math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sSub>
                                                  <m:sSubPr>
                                                    <m:ctrlPr>
                                                      <a:rPr kumimoji="1" lang="en-US" altLang="zh-CN" sz="2400" i="1">
                                                        <a:solidFill>
                                                          <a:srgbClr val="C00000"/>
                                                        </a:solidFill>
                                                        <a:latin typeface="Cambria Math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kumimoji="1" lang="en-US" altLang="zh-CN" sz="2400" i="1">
                                                        <a:solidFill>
                                                          <a:srgbClr val="C00000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  <m:t>𝑤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kumimoji="1" lang="en-US" altLang="zh-CN" sz="2400" i="1">
                                                        <a:solidFill>
                                                          <a:srgbClr val="C00000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  <m:t>𝑖</m:t>
                                                    </m:r>
                                                  </m:sub>
                                                </m:sSub>
                                                <m:sSup>
                                                  <m:sSupPr>
                                                    <m:ctrlPr>
                                                      <a:rPr kumimoji="1" lang="en-US" altLang="zh-CN" sz="2400" i="1">
                                                        <a:solidFill>
                                                          <a:srgbClr val="C00000"/>
                                                        </a:solidFill>
                                                        <a:latin typeface="Cambria Math" charset="0"/>
                                                      </a:rPr>
                                                    </m:ctrlPr>
                                                  </m:sSupPr>
                                                  <m:e>
                                                    <m:r>
                                                      <a:rPr kumimoji="1" lang="en-US" altLang="zh-CN" sz="2400" i="1">
                                                        <a:solidFill>
                                                          <a:srgbClr val="C00000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  <m:t>𝑊</m:t>
                                                    </m:r>
                                                  </m:e>
                                                  <m:sup>
                                                    <m:r>
                                                      <a:rPr kumimoji="1" lang="en-US" altLang="zh-CN" sz="2400" i="1">
                                                        <a:solidFill>
                                                          <a:srgbClr val="C00000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  <m:t>′</m:t>
                                                    </m:r>
                                                  </m:sup>
                                                </m:sSup>
                                              </m:e>
                                            </m:d>
                                          </m:e>
                                          <m:sup>
                                            <m:r>
                                              <a:rPr kumimoji="1" lang="en-US" altLang="zh-CN" sz="2400" i="1">
                                                <a:solidFill>
                                                  <a:srgbClr val="C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𝑇</m:t>
                                            </m:r>
                                          </m:sup>
                                        </m:sSup>
                                        <m:acc>
                                          <m:accPr>
                                            <m:chr m:val="̅"/>
                                            <m:ctrlPr>
                                              <a:rPr kumimoji="1" lang="en-US" altLang="zh-CN" sz="2400" b="1" i="1">
                                                <a:solidFill>
                                                  <a:srgbClr val="C00000"/>
                                                </a:solidFill>
                                                <a:latin typeface="Cambria Math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kumimoji="1" lang="en-US" altLang="zh-CN" sz="2400" b="1">
                                                <a:solidFill>
                                                  <a:srgbClr val="C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𝐡</m:t>
                                            </m:r>
                                          </m:e>
                                        </m:acc>
                                      </m:e>
                                    </m:func>
                                  </m:e>
                                </m:nary>
                              </m:den>
                            </m:f>
                          </m:e>
                        </m:func>
                      </m:e>
                    </m:nary>
                  </m:oMath>
                </a14:m>
                <a:endParaRPr kumimoji="1" lang="zh-CN" altLang="en-US" sz="2400" dirty="0"/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E11B4FC0-8EE5-3F42-9CC1-974BA8DE98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198" y="4208116"/>
                <a:ext cx="6561412" cy="935384"/>
              </a:xfrm>
              <a:prstGeom prst="rect">
                <a:avLst/>
              </a:prstGeom>
              <a:blipFill rotWithShape="0">
                <a:blip r:embed="rId4"/>
                <a:stretch>
                  <a:fillRect l="-13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48402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" panose="02020603050405020304" pitchFamily="18" charset="0"/>
                <a:cs typeface="Times" panose="02020603050405020304" pitchFamily="18" charset="0"/>
              </a:rPr>
              <a:t>Skip-Gram</a:t>
            </a:r>
            <a:r>
              <a:rPr lang="zh-CN" altLang="en-US" dirty="0">
                <a:latin typeface="Times" panose="02020603050405020304" pitchFamily="18" charset="0"/>
                <a:cs typeface="Times" panose="02020603050405020304" pitchFamily="18" charset="0"/>
              </a:rPr>
              <a:t>也采用类似的做法</a:t>
            </a:r>
          </a:p>
        </p:txBody>
      </p:sp>
      <p:sp>
        <p:nvSpPr>
          <p:cNvPr id="27" name="内容占位符 26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1800" b="1" dirty="0">
                <a:latin typeface="Times" panose="02020603050405020304" pitchFamily="18" charset="0"/>
                <a:cs typeface="Times" panose="02020603050405020304" pitchFamily="18" charset="0"/>
              </a:rPr>
              <a:t>优化目标构建</a:t>
            </a:r>
            <a:r>
              <a:rPr lang="zh-CN" altLang="en-US" sz="1800" dirty="0">
                <a:latin typeface="Times" panose="02020603050405020304" pitchFamily="18" charset="0"/>
                <a:cs typeface="Times" panose="02020603050405020304" pitchFamily="18" charset="0"/>
              </a:rPr>
              <a:t>：扫描文本数据集合，对遇到的每一个单词，通过当前单词预测从</a:t>
            </a:r>
            <a:r>
              <a:rPr lang="en-US" altLang="zh-CN" sz="1800" dirty="0">
                <a:latin typeface="Times" panose="02020603050405020304" pitchFamily="18" charset="0"/>
                <a:cs typeface="Times" panose="02020603050405020304" pitchFamily="18" charset="0"/>
              </a:rPr>
              <a:t>-</a:t>
            </a:r>
            <a:r>
              <a:rPr lang="en-US" altLang="zh-CN" sz="1800" i="1" dirty="0">
                <a:latin typeface="Times" panose="02020603050405020304" pitchFamily="18" charset="0"/>
                <a:cs typeface="Times" panose="02020603050405020304" pitchFamily="18" charset="0"/>
              </a:rPr>
              <a:t>c</a:t>
            </a:r>
            <a:r>
              <a:rPr lang="zh-CN" altLang="en-US" sz="1800" dirty="0">
                <a:latin typeface="Times" panose="02020603050405020304" pitchFamily="18" charset="0"/>
                <a:cs typeface="Times" panose="02020603050405020304" pitchFamily="18" charset="0"/>
              </a:rPr>
              <a:t>到</a:t>
            </a:r>
            <a:r>
              <a:rPr lang="en-US" altLang="zh-CN" sz="1800" i="1" dirty="0">
                <a:latin typeface="Times" panose="02020603050405020304" pitchFamily="18" charset="0"/>
                <a:cs typeface="Times" panose="02020603050405020304" pitchFamily="18" charset="0"/>
              </a:rPr>
              <a:t>c</a:t>
            </a:r>
            <a:r>
              <a:rPr lang="zh-CN" altLang="en-US" sz="1800" dirty="0">
                <a:latin typeface="Times" panose="02020603050405020304" pitchFamily="18" charset="0"/>
                <a:cs typeface="Times" panose="02020603050405020304" pitchFamily="18" charset="0"/>
              </a:rPr>
              <a:t>的窗口中的单词的概率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64DDB-364C-410E-A66B-B19CEFA5EF0F}" type="slidenum">
              <a:rPr lang="zh-CN" altLang="en-US" smtClean="0"/>
              <a:pPr/>
              <a:t>61</a:t>
            </a:fld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="" xmlns:a16="http://schemas.microsoft.com/office/drawing/2014/main" id="{1CB53C5D-4C58-9B42-B771-52F359BBA1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5237" y="1458836"/>
            <a:ext cx="3987689" cy="3297314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="" xmlns:a16="http://schemas.microsoft.com/office/drawing/2014/main" id="{DA44BAB8-3E4C-CE41-801E-E8CE696AB8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74" y="3264444"/>
            <a:ext cx="4851178" cy="1491706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="" xmlns:a16="http://schemas.microsoft.com/office/drawing/2014/main" id="{CB2F8FDA-A04A-0848-8B91-C59D0CD76041}"/>
              </a:ext>
            </a:extLst>
          </p:cNvPr>
          <p:cNvSpPr txBox="1"/>
          <p:nvPr/>
        </p:nvSpPr>
        <p:spPr>
          <a:xfrm>
            <a:off x="1343892" y="1981201"/>
            <a:ext cx="27847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>
                <a:latin typeface="Times" pitchFamily="2" charset="0"/>
              </a:rPr>
              <a:t>由中心词</a:t>
            </a:r>
            <a:r>
              <a:rPr kumimoji="1" lang="en-US" altLang="zh-CN" dirty="0" err="1">
                <a:latin typeface="Times" pitchFamily="2" charset="0"/>
              </a:rPr>
              <a:t>w</a:t>
            </a:r>
            <a:r>
              <a:rPr kumimoji="1" lang="en-US" altLang="zh-CN" baseline="-25000" dirty="0" err="1">
                <a:latin typeface="Times" pitchFamily="2" charset="0"/>
              </a:rPr>
              <a:t>c</a:t>
            </a:r>
            <a:r>
              <a:rPr kumimoji="1" lang="zh-CN" altLang="en-US" dirty="0">
                <a:latin typeface="Times" pitchFamily="2" charset="0"/>
              </a:rPr>
              <a:t>的表达逐个预测其</a:t>
            </a:r>
            <a:r>
              <a:rPr kumimoji="1" lang="en-US" altLang="zh-CN" dirty="0">
                <a:latin typeface="Times" pitchFamily="2" charset="0"/>
              </a:rPr>
              <a:t>2m</a:t>
            </a:r>
            <a:r>
              <a:rPr kumimoji="1" lang="zh-CN" altLang="en-US" dirty="0">
                <a:latin typeface="Times" pitchFamily="2" charset="0"/>
              </a:rPr>
              <a:t>个上下文词</a:t>
            </a:r>
          </a:p>
        </p:txBody>
      </p:sp>
      <p:cxnSp>
        <p:nvCxnSpPr>
          <p:cNvPr id="8" name="直线箭头连接符 7">
            <a:extLst>
              <a:ext uri="{FF2B5EF4-FFF2-40B4-BE49-F238E27FC236}">
                <a16:creationId xmlns="" xmlns:a16="http://schemas.microsoft.com/office/drawing/2014/main" id="{6621DDC1-E529-7343-98D1-CC15C0CAB5C7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2736274" y="2627532"/>
            <a:ext cx="838199" cy="8361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86154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Word2Vec</a:t>
            </a:r>
            <a:r>
              <a:rPr lang="zh-CN" altLang="en-US" dirty="0"/>
              <a:t>在单词类比上的结果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62</a:t>
            </a:fld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t="18963"/>
          <a:stretch/>
        </p:blipFill>
        <p:spPr>
          <a:xfrm>
            <a:off x="2330694" y="1908944"/>
            <a:ext cx="4482612" cy="2573362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="" xmlns:a16="http://schemas.microsoft.com/office/drawing/2014/main" id="{2A349754-50A3-F14C-AE85-222FE3838503}"/>
              </a:ext>
            </a:extLst>
          </p:cNvPr>
          <p:cNvSpPr/>
          <p:nvPr/>
        </p:nvSpPr>
        <p:spPr>
          <a:xfrm>
            <a:off x="318654" y="893281"/>
            <a:ext cx="8021782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zh-CN" altLang="en-US" sz="2400" dirty="0"/>
              <a:t>单词类比任务：</a:t>
            </a:r>
            <a:endParaRPr lang="en-US" altLang="zh-CN" sz="2400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zh-CN" altLang="en-US" dirty="0"/>
              <a:t>语义关系建模</a:t>
            </a:r>
            <a:r>
              <a:rPr lang="en-US" altLang="zh-CN" dirty="0"/>
              <a:t>: “</a:t>
            </a:r>
            <a:r>
              <a:rPr lang="en-US" altLang="zh-CN" dirty="0">
                <a:solidFill>
                  <a:srgbClr val="C00000"/>
                </a:solidFill>
              </a:rPr>
              <a:t>Beijing</a:t>
            </a:r>
            <a:r>
              <a:rPr lang="en-US" altLang="zh-CN" dirty="0"/>
              <a:t> is to </a:t>
            </a:r>
            <a:r>
              <a:rPr lang="en-US" altLang="zh-CN" dirty="0">
                <a:solidFill>
                  <a:srgbClr val="00B050"/>
                </a:solidFill>
              </a:rPr>
              <a:t>China</a:t>
            </a:r>
            <a:r>
              <a:rPr lang="en-US" altLang="zh-CN" dirty="0"/>
              <a:t> as </a:t>
            </a:r>
            <a:r>
              <a:rPr lang="en-US" altLang="zh-CN" dirty="0">
                <a:solidFill>
                  <a:srgbClr val="C00000"/>
                </a:solidFill>
              </a:rPr>
              <a:t>Paris</a:t>
            </a:r>
            <a:r>
              <a:rPr lang="en-US" altLang="zh-CN" dirty="0"/>
              <a:t> is to _____</a:t>
            </a:r>
            <a:r>
              <a:rPr lang="zh-CN" altLang="en-US" dirty="0"/>
              <a:t> </a:t>
            </a:r>
            <a:r>
              <a:rPr lang="en-US" altLang="zh-CN" dirty="0"/>
              <a:t>”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zh-CN" altLang="en-US" dirty="0"/>
              <a:t>语法关系建模</a:t>
            </a:r>
            <a:r>
              <a:rPr lang="en-US" altLang="zh-CN" dirty="0"/>
              <a:t>: “</a:t>
            </a:r>
            <a:r>
              <a:rPr lang="en-US" altLang="zh-CN" dirty="0">
                <a:solidFill>
                  <a:srgbClr val="C00000"/>
                </a:solidFill>
              </a:rPr>
              <a:t>big</a:t>
            </a:r>
            <a:r>
              <a:rPr lang="en-US" altLang="zh-CN" dirty="0"/>
              <a:t> is to </a:t>
            </a:r>
            <a:r>
              <a:rPr lang="en-US" altLang="zh-CN" dirty="0">
                <a:solidFill>
                  <a:srgbClr val="00B050"/>
                </a:solidFill>
              </a:rPr>
              <a:t>bigger</a:t>
            </a:r>
            <a:r>
              <a:rPr lang="en-US" altLang="zh-CN" dirty="0"/>
              <a:t> as </a:t>
            </a:r>
            <a:r>
              <a:rPr lang="en-US" altLang="zh-CN" dirty="0">
                <a:solidFill>
                  <a:srgbClr val="C00000"/>
                </a:solidFill>
              </a:rPr>
              <a:t>deep</a:t>
            </a:r>
            <a:r>
              <a:rPr lang="en-US" altLang="zh-CN" dirty="0"/>
              <a:t> is to _____”</a:t>
            </a:r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="" xmlns:a16="http://schemas.microsoft.com/office/drawing/2014/main" id="{A96DA0EC-8FC6-944D-8CBE-7DCD48CE8761}"/>
              </a:ext>
            </a:extLst>
          </p:cNvPr>
          <p:cNvSpPr txBox="1"/>
          <p:nvPr/>
        </p:nvSpPr>
        <p:spPr>
          <a:xfrm>
            <a:off x="2560872" y="4571484"/>
            <a:ext cx="40222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dirty="0">
                <a:latin typeface="Times" pitchFamily="2" charset="0"/>
              </a:rPr>
              <a:t>v</a:t>
            </a:r>
            <a:r>
              <a:rPr kumimoji="1" lang="en-US" altLang="zh-CN" dirty="0">
                <a:latin typeface="Times" pitchFamily="2" charset="0"/>
              </a:rPr>
              <a:t>(king)</a:t>
            </a:r>
            <a:r>
              <a:rPr kumimoji="1" lang="zh-CN" altLang="en-US" dirty="0">
                <a:latin typeface="Times" pitchFamily="2" charset="0"/>
              </a:rPr>
              <a:t> </a:t>
            </a:r>
            <a:r>
              <a:rPr kumimoji="1" lang="en-US" altLang="zh-CN" dirty="0">
                <a:latin typeface="Times" pitchFamily="2" charset="0"/>
              </a:rPr>
              <a:t>–</a:t>
            </a:r>
            <a:r>
              <a:rPr kumimoji="1" lang="zh-CN" altLang="en-US" dirty="0">
                <a:latin typeface="Times" pitchFamily="2" charset="0"/>
              </a:rPr>
              <a:t> </a:t>
            </a:r>
            <a:r>
              <a:rPr kumimoji="1" lang="en-US" altLang="zh-CN" b="1" dirty="0">
                <a:latin typeface="Times" pitchFamily="2" charset="0"/>
              </a:rPr>
              <a:t>v</a:t>
            </a:r>
            <a:r>
              <a:rPr kumimoji="1" lang="en-US" altLang="zh-CN" dirty="0">
                <a:latin typeface="Times" pitchFamily="2" charset="0"/>
              </a:rPr>
              <a:t>(man)</a:t>
            </a:r>
            <a:r>
              <a:rPr kumimoji="1" lang="zh-CN" altLang="en-US" dirty="0">
                <a:latin typeface="Times" pitchFamily="2" charset="0"/>
              </a:rPr>
              <a:t> </a:t>
            </a:r>
            <a:r>
              <a:rPr kumimoji="1" lang="en-US" altLang="zh-CN" dirty="0">
                <a:latin typeface="Times" pitchFamily="2" charset="0"/>
              </a:rPr>
              <a:t>+</a:t>
            </a:r>
            <a:r>
              <a:rPr kumimoji="1" lang="zh-CN" altLang="en-US" dirty="0">
                <a:latin typeface="Times" pitchFamily="2" charset="0"/>
              </a:rPr>
              <a:t> </a:t>
            </a:r>
            <a:r>
              <a:rPr kumimoji="1" lang="en-US" altLang="zh-CN" b="1" dirty="0">
                <a:latin typeface="Times" pitchFamily="2" charset="0"/>
              </a:rPr>
              <a:t>v</a:t>
            </a:r>
            <a:r>
              <a:rPr kumimoji="1" lang="en-US" altLang="zh-CN" dirty="0">
                <a:latin typeface="Times" pitchFamily="2" charset="0"/>
              </a:rPr>
              <a:t>(woman)</a:t>
            </a:r>
            <a:r>
              <a:rPr kumimoji="1" lang="zh-CN" altLang="en-US" dirty="0">
                <a:latin typeface="Times" pitchFamily="2" charset="0"/>
              </a:rPr>
              <a:t> </a:t>
            </a:r>
            <a:r>
              <a:rPr kumimoji="1" lang="en-US" altLang="zh-CN" dirty="0">
                <a:latin typeface="Times" pitchFamily="2" charset="0"/>
              </a:rPr>
              <a:t>=</a:t>
            </a:r>
            <a:r>
              <a:rPr kumimoji="1" lang="zh-CN" altLang="en-US" dirty="0">
                <a:latin typeface="Times" pitchFamily="2" charset="0"/>
              </a:rPr>
              <a:t> </a:t>
            </a:r>
            <a:r>
              <a:rPr kumimoji="1" lang="en-US" altLang="zh-CN" b="1" dirty="0">
                <a:latin typeface="Times" pitchFamily="2" charset="0"/>
              </a:rPr>
              <a:t>v</a:t>
            </a:r>
            <a:r>
              <a:rPr kumimoji="1" lang="en-US" altLang="zh-CN" dirty="0">
                <a:latin typeface="Times" pitchFamily="2" charset="0"/>
              </a:rPr>
              <a:t>(queen)</a:t>
            </a:r>
            <a:endParaRPr kumimoji="1" lang="zh-CN" altLang="en-US" dirty="0">
              <a:latin typeface="Time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40588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更多单词类比的结果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63</a:t>
            </a:fld>
            <a:endParaRPr lang="en-US"/>
          </a:p>
        </p:txBody>
      </p:sp>
      <p:pic>
        <p:nvPicPr>
          <p:cNvPr id="7" name="图片 6">
            <a:extLst>
              <a:ext uri="{FF2B5EF4-FFF2-40B4-BE49-F238E27FC236}">
                <a16:creationId xmlns="" xmlns:a16="http://schemas.microsoft.com/office/drawing/2014/main" id="{A632AC27-04AE-6E40-AB97-EC337EE803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8477" y="782969"/>
            <a:ext cx="6327045" cy="4360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79637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7F81980C-217C-2840-A85E-C9D1AB0C30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词嵌入建模分布式假设中的</a:t>
            </a:r>
            <a:r>
              <a:rPr kumimoji="1" lang="zh-CN" altLang="en-US" dirty="0">
                <a:solidFill>
                  <a:srgbClr val="00B0F0"/>
                </a:solidFill>
              </a:rPr>
              <a:t>聚合</a:t>
            </a:r>
            <a:r>
              <a:rPr kumimoji="1" lang="zh-CN" altLang="en-US" dirty="0"/>
              <a:t>关系</a:t>
            </a:r>
          </a:p>
        </p:txBody>
      </p:sp>
      <p:pic>
        <p:nvPicPr>
          <p:cNvPr id="18" name="图片 17">
            <a:extLst>
              <a:ext uri="{FF2B5EF4-FFF2-40B4-BE49-F238E27FC236}">
                <a16:creationId xmlns="" xmlns:a16="http://schemas.microsoft.com/office/drawing/2014/main" id="{D6E6C031-8DB3-B944-A2AE-3D47790CD4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875" y="1808786"/>
            <a:ext cx="2841607" cy="909565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="" xmlns:a16="http://schemas.microsoft.com/office/drawing/2014/main" id="{E60B3C8C-ACE0-4D40-8497-24E53DE6FB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9373" y="1606282"/>
            <a:ext cx="2286000" cy="1314571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="" xmlns:a16="http://schemas.microsoft.com/office/drawing/2014/main" id="{0A6503BE-BF4F-3F43-A731-9FD8AF9BC2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1264" y="1638518"/>
            <a:ext cx="1587653" cy="1282335"/>
          </a:xfrm>
          <a:prstGeom prst="rect">
            <a:avLst/>
          </a:prstGeom>
        </p:spPr>
      </p:pic>
      <p:sp>
        <p:nvSpPr>
          <p:cNvPr id="21" name="右箭头 20">
            <a:extLst>
              <a:ext uri="{FF2B5EF4-FFF2-40B4-BE49-F238E27FC236}">
                <a16:creationId xmlns="" xmlns:a16="http://schemas.microsoft.com/office/drawing/2014/main" id="{454B44F1-AF57-3A4B-A057-62C3566F0FDD}"/>
              </a:ext>
            </a:extLst>
          </p:cNvPr>
          <p:cNvSpPr/>
          <p:nvPr/>
        </p:nvSpPr>
        <p:spPr>
          <a:xfrm>
            <a:off x="3245712" y="2096273"/>
            <a:ext cx="415637" cy="43293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右箭头 21">
            <a:extLst>
              <a:ext uri="{FF2B5EF4-FFF2-40B4-BE49-F238E27FC236}">
                <a16:creationId xmlns="" xmlns:a16="http://schemas.microsoft.com/office/drawing/2014/main" id="{97BADF3B-C483-B94F-9E2A-337F8651EC4B}"/>
              </a:ext>
            </a:extLst>
          </p:cNvPr>
          <p:cNvSpPr/>
          <p:nvPr/>
        </p:nvSpPr>
        <p:spPr>
          <a:xfrm>
            <a:off x="6401722" y="2102085"/>
            <a:ext cx="415637" cy="43293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内容占位符 2">
            <a:extLst>
              <a:ext uri="{FF2B5EF4-FFF2-40B4-BE49-F238E27FC236}">
                <a16:creationId xmlns="" xmlns:a16="http://schemas.microsoft.com/office/drawing/2014/main" id="{57B515E1-AC2B-EA45-9AF4-98CFF66513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3384550"/>
            <a:ext cx="8229600" cy="1638300"/>
          </a:xfrm>
        </p:spPr>
        <p:txBody>
          <a:bodyPr/>
          <a:lstStyle/>
          <a:p>
            <a:r>
              <a:rPr kumimoji="1" lang="zh-CN" altLang="en-US" dirty="0"/>
              <a:t>词嵌入已经成为深度学习时代文本处理的基础，广泛应用于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文本分类、聚类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搜索、推荐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自然语言处理，如：问答、机器翻译、</a:t>
            </a:r>
            <a:r>
              <a:rPr kumimoji="1" lang="en-US" altLang="zh-CN" dirty="0"/>
              <a:t>NLI</a:t>
            </a:r>
            <a:r>
              <a:rPr kumimoji="1" lang="zh-CN" altLang="en-US" dirty="0"/>
              <a:t>等</a:t>
            </a:r>
            <a:endParaRPr kumimoji="1" lang="en-US" altLang="zh-CN" dirty="0"/>
          </a:p>
          <a:p>
            <a:pPr lvl="1"/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48677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1111111111"/>
</p:tagLst>
</file>

<file path=ppt/theme/theme1.xml><?xml version="1.0" encoding="utf-8"?>
<a:theme xmlns:a="http://schemas.openxmlformats.org/drawingml/2006/main" name="清风素材 https://12sc.taobao.com/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32521</TotalTime>
  <Words>3784</Words>
  <Application>Microsoft Macintosh PowerPoint</Application>
  <PresentationFormat>On-screen Show (16:9)</PresentationFormat>
  <Paragraphs>959</Paragraphs>
  <Slides>64</Slides>
  <Notes>17</Notes>
  <HiddenSlides>0</HiddenSlides>
  <MMClips>0</MMClips>
  <ScaleCrop>false</ScaleCrop>
  <HeadingPairs>
    <vt:vector size="8" baseType="variant">
      <vt:variant>
        <vt:lpstr>Fonts Used</vt:lpstr>
      </vt:variant>
      <vt:variant>
        <vt:i4>18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64</vt:i4>
      </vt:variant>
    </vt:vector>
  </HeadingPairs>
  <TitlesOfParts>
    <vt:vector size="84" baseType="lpstr">
      <vt:lpstr>Arial Black</vt:lpstr>
      <vt:lpstr>Calibri</vt:lpstr>
      <vt:lpstr>Cambria Math</vt:lpstr>
      <vt:lpstr>Heiti SC Medium</vt:lpstr>
      <vt:lpstr>Helvetica Neue</vt:lpstr>
      <vt:lpstr>Mangal</vt:lpstr>
      <vt:lpstr>Microsoft YaHei</vt:lpstr>
      <vt:lpstr>Times</vt:lpstr>
      <vt:lpstr>Times New Roman</vt:lpstr>
      <vt:lpstr>Wingdings</vt:lpstr>
      <vt:lpstr>Yuppy SC</vt:lpstr>
      <vt:lpstr>华文楷体</vt:lpstr>
      <vt:lpstr>宋体</vt:lpstr>
      <vt:lpstr>微软雅黑</vt:lpstr>
      <vt:lpstr>方正兰亭细黑_GBK</vt:lpstr>
      <vt:lpstr>方正超粗黑简体</vt:lpstr>
      <vt:lpstr>楷体</vt:lpstr>
      <vt:lpstr>Arial</vt:lpstr>
      <vt:lpstr>清风素材 https://12sc.taobao.com/</vt:lpstr>
      <vt:lpstr>Document</vt:lpstr>
      <vt:lpstr>PowerPoint Presentation</vt:lpstr>
      <vt:lpstr>独热表达的不足（1）</vt:lpstr>
      <vt:lpstr>独热表达的不足（2）</vt:lpstr>
      <vt:lpstr>单词的分布式表达</vt:lpstr>
      <vt:lpstr>分布式表达的优势（1）</vt:lpstr>
      <vt:lpstr>基于分布式表达的相似单词</vt:lpstr>
      <vt:lpstr>分布式表达的优势（2）</vt:lpstr>
      <vt:lpstr>如何得到(学习)分布式表达？</vt:lpstr>
      <vt:lpstr>先来猜一下单词“bardiwac”大致的含义</vt:lpstr>
      <vt:lpstr>为什么可以猜到？</vt:lpstr>
      <vt:lpstr>语言学中的分布式假设</vt:lpstr>
      <vt:lpstr>单词的语义隐藏在它们的共现数据</vt:lpstr>
      <vt:lpstr>分布式假设的表现形式1（文档内共现）</vt:lpstr>
      <vt:lpstr>分布式假设的表现形式2（上下文共现）</vt:lpstr>
      <vt:lpstr>隐空间中与Feynman相近的词</vt:lpstr>
      <vt:lpstr>PowerPoint Presentation</vt:lpstr>
      <vt:lpstr>矩阵分解应用:主题模型</vt:lpstr>
      <vt:lpstr>话题模型LSI</vt:lpstr>
      <vt:lpstr>话题模型LSI</vt:lpstr>
      <vt:lpstr>Latent Semantic Analysis (LSA)</vt:lpstr>
      <vt:lpstr>LSI: 从单词-文档的共现矩阵开始</vt:lpstr>
      <vt:lpstr>LSI第一步：对单词-文档共现矩阵进行分解</vt:lpstr>
      <vt:lpstr>SVD得到的U、Σ、V</vt:lpstr>
      <vt:lpstr>LSI第二步：对特征根进行排序</vt:lpstr>
      <vt:lpstr>LSI第三步：只保留前K个特征值，其余置零</vt:lpstr>
      <vt:lpstr>LSI算法</vt:lpstr>
      <vt:lpstr>理解LSI：为何舍弃小的特征根？</vt:lpstr>
      <vt:lpstr>特征向量的方向?</vt:lpstr>
      <vt:lpstr>特征向量：选一个方差最大的方向</vt:lpstr>
      <vt:lpstr>理解LSI：左特征向量U是什么？</vt:lpstr>
      <vt:lpstr>理解LSI：右特征向量V是什么？</vt:lpstr>
      <vt:lpstr>理解LSI：LSI的输出</vt:lpstr>
      <vt:lpstr>回到之前的例子</vt:lpstr>
      <vt:lpstr>回到之前的例子</vt:lpstr>
      <vt:lpstr>回到之前的例子</vt:lpstr>
      <vt:lpstr>回到之前的例子</vt:lpstr>
      <vt:lpstr>LSI举例</vt:lpstr>
      <vt:lpstr>举例</vt:lpstr>
      <vt:lpstr>举例</vt:lpstr>
      <vt:lpstr>举例</vt:lpstr>
      <vt:lpstr>举例</vt:lpstr>
      <vt:lpstr>举例</vt:lpstr>
      <vt:lpstr>文档相似度(cosine)</vt:lpstr>
      <vt:lpstr>PowerPoint Presentation</vt:lpstr>
      <vt:lpstr>LSI的总结</vt:lpstr>
      <vt:lpstr>更多的话题模型</vt:lpstr>
      <vt:lpstr>PowerPoint Presentation</vt:lpstr>
      <vt:lpstr>回顾之前的例子： “bardiwac”大致的含义</vt:lpstr>
      <vt:lpstr>为什么可以猜到？</vt:lpstr>
      <vt:lpstr>Word2Vec</vt:lpstr>
      <vt:lpstr>Word2vec两大类基本模型</vt:lpstr>
      <vt:lpstr>以Continuous Bag of Word(CBOW)为例</vt:lpstr>
      <vt:lpstr>CBOW预测网络结构</vt:lpstr>
      <vt:lpstr>CBOW参数</vt:lpstr>
      <vt:lpstr>隐层的计算：上下文的平均向量</vt:lpstr>
      <vt:lpstr>从隐层到输出层：选择一个预测单词</vt:lpstr>
      <vt:lpstr>从隐层到输出层：选择一个预测单词</vt:lpstr>
      <vt:lpstr>学习到的词向量：W或者W’</vt:lpstr>
      <vt:lpstr>学习过程：上下文训练数据构造</vt:lpstr>
      <vt:lpstr>学习过程：目标函数构造</vt:lpstr>
      <vt:lpstr>Skip-Gram也采用类似的做法</vt:lpstr>
      <vt:lpstr>Word2Vec在单词类比上的结果</vt:lpstr>
      <vt:lpstr>更多单词类比的结果</vt:lpstr>
      <vt:lpstr>词嵌入建模分布式假设中的聚合关系</vt:lpstr>
    </vt:vector>
  </TitlesOfParts>
  <Company/>
  <LinksUpToDate>false</LinksUpToDate>
  <SharedDoc>false</SharedDoc>
  <HyperlinksChanged>false</HyperlinksChanged>
  <AppVersion>15.0033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/>
  <dc:creator>Administrator</dc:creator>
  <cp:keywords/>
  <dc:description/>
  <cp:lastModifiedBy>范 举</cp:lastModifiedBy>
  <cp:revision>940</cp:revision>
  <dcterms:created xsi:type="dcterms:W3CDTF">2015-01-23T04:02:45Z</dcterms:created>
  <dcterms:modified xsi:type="dcterms:W3CDTF">2024-12-04T09:37:37Z</dcterms:modified>
  <cp:category/>
  <cp:contentStatus>12sc.taobao.com</cp:contentStatus>
</cp:coreProperties>
</file>