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gif" ContentType="image/gi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89"/>
  </p:notesMasterIdLst>
  <p:sldIdLst>
    <p:sldId id="568" r:id="rId3"/>
    <p:sldId id="595" r:id="rId4"/>
    <p:sldId id="596" r:id="rId5"/>
    <p:sldId id="610" r:id="rId6"/>
    <p:sldId id="597" r:id="rId7"/>
    <p:sldId id="598" r:id="rId8"/>
    <p:sldId id="599" r:id="rId9"/>
    <p:sldId id="600" r:id="rId10"/>
    <p:sldId id="601" r:id="rId11"/>
    <p:sldId id="602" r:id="rId12"/>
    <p:sldId id="604" r:id="rId13"/>
    <p:sldId id="605" r:id="rId14"/>
    <p:sldId id="606" r:id="rId15"/>
    <p:sldId id="607" r:id="rId16"/>
    <p:sldId id="608" r:id="rId17"/>
    <p:sldId id="609" r:id="rId18"/>
    <p:sldId id="1394" r:id="rId19"/>
    <p:sldId id="507" r:id="rId20"/>
    <p:sldId id="569" r:id="rId21"/>
    <p:sldId id="570" r:id="rId22"/>
    <p:sldId id="571" r:id="rId23"/>
    <p:sldId id="573" r:id="rId24"/>
    <p:sldId id="574" r:id="rId25"/>
    <p:sldId id="1335" r:id="rId26"/>
    <p:sldId id="1336" r:id="rId27"/>
    <p:sldId id="1337" r:id="rId28"/>
    <p:sldId id="572" r:id="rId29"/>
    <p:sldId id="576" r:id="rId30"/>
    <p:sldId id="629" r:id="rId31"/>
    <p:sldId id="1339" r:id="rId32"/>
    <p:sldId id="1340" r:id="rId33"/>
    <p:sldId id="577" r:id="rId34"/>
    <p:sldId id="578" r:id="rId35"/>
    <p:sldId id="630" r:id="rId36"/>
    <p:sldId id="1428" r:id="rId37"/>
    <p:sldId id="581" r:id="rId38"/>
    <p:sldId id="579" r:id="rId39"/>
    <p:sldId id="582" r:id="rId40"/>
    <p:sldId id="583" r:id="rId41"/>
    <p:sldId id="631" r:id="rId42"/>
    <p:sldId id="1343" r:id="rId43"/>
    <p:sldId id="585" r:id="rId44"/>
    <p:sldId id="584" r:id="rId45"/>
    <p:sldId id="1395" r:id="rId46"/>
    <p:sldId id="1396" r:id="rId47"/>
    <p:sldId id="1402" r:id="rId48"/>
    <p:sldId id="1403" r:id="rId49"/>
    <p:sldId id="1404" r:id="rId50"/>
    <p:sldId id="1405" r:id="rId51"/>
    <p:sldId id="1406" r:id="rId52"/>
    <p:sldId id="1407" r:id="rId53"/>
    <p:sldId id="1408" r:id="rId54"/>
    <p:sldId id="1409" r:id="rId55"/>
    <p:sldId id="1410" r:id="rId56"/>
    <p:sldId id="1411" r:id="rId57"/>
    <p:sldId id="1412" r:id="rId58"/>
    <p:sldId id="1413" r:id="rId59"/>
    <p:sldId id="1414" r:id="rId60"/>
    <p:sldId id="1415" r:id="rId61"/>
    <p:sldId id="1416" r:id="rId62"/>
    <p:sldId id="1417" r:id="rId63"/>
    <p:sldId id="1418" r:id="rId64"/>
    <p:sldId id="1419" r:id="rId65"/>
    <p:sldId id="1420" r:id="rId66"/>
    <p:sldId id="1421" r:id="rId67"/>
    <p:sldId id="1422" r:id="rId68"/>
    <p:sldId id="1423" r:id="rId69"/>
    <p:sldId id="1424" r:id="rId70"/>
    <p:sldId id="1425" r:id="rId71"/>
    <p:sldId id="1443" r:id="rId72"/>
    <p:sldId id="1426" r:id="rId73"/>
    <p:sldId id="1427" r:id="rId74"/>
    <p:sldId id="1429" r:id="rId75"/>
    <p:sldId id="1430" r:id="rId76"/>
    <p:sldId id="1431" r:id="rId77"/>
    <p:sldId id="1432" r:id="rId78"/>
    <p:sldId id="1433" r:id="rId79"/>
    <p:sldId id="1434" r:id="rId80"/>
    <p:sldId id="1435" r:id="rId81"/>
    <p:sldId id="1436" r:id="rId82"/>
    <p:sldId id="1437" r:id="rId83"/>
    <p:sldId id="1438" r:id="rId84"/>
    <p:sldId id="1439" r:id="rId85"/>
    <p:sldId id="1440" r:id="rId86"/>
    <p:sldId id="1441" r:id="rId87"/>
    <p:sldId id="1442" r:id="rId88"/>
  </p:sldIdLst>
  <p:sldSz cx="9144000" cy="5143500" type="screen16x9"/>
  <p:notesSz cx="6858000" cy="9144000"/>
  <p:custDataLst>
    <p:tags r:id="rId9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02000A"/>
    <a:srgbClr val="05172D"/>
    <a:srgbClr val="AE0627"/>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17" autoAdjust="0"/>
    <p:restoredTop sz="86635" autoAdjust="0"/>
  </p:normalViewPr>
  <p:slideViewPr>
    <p:cSldViewPr snapToGrid="0">
      <p:cViewPr>
        <p:scale>
          <a:sx n="118" d="100"/>
          <a:sy n="118" d="100"/>
        </p:scale>
        <p:origin x="2688" y="10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90" Type="http://schemas.openxmlformats.org/officeDocument/2006/relationships/tags" Target="tags/tag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2023/12/17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a:t>
            </a:fld>
            <a:endParaRPr lang="zh-CN" altLang="en-US"/>
          </a:p>
        </p:txBody>
      </p:sp>
    </p:spTree>
    <p:extLst>
      <p:ext uri="{BB962C8B-B14F-4D97-AF65-F5344CB8AC3E}">
        <p14:creationId xmlns:p14="http://schemas.microsoft.com/office/powerpoint/2010/main" val="1958326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我们生活在一个网络化的世界中。社交网络把万千用户关联在一起，例如：微信；另一方面，电商网站，比如亚马逊、淘宝，把无数的买家和卖家通过交易的方式关联在一起，比如在双十一，有</a:t>
            </a:r>
            <a:r>
              <a:rPr lang="en-US" altLang="zh-CN" dirty="0"/>
              <a:t>1200</a:t>
            </a:r>
            <a:r>
              <a:rPr lang="zh-CN" altLang="en-US" dirty="0"/>
              <a:t>亿的交易发生，这就意味着大量的用户通过这些交易关联在了一个复杂的网络世界中。这带给我们一个非常重要的问题，如何展示与分析这样庞大和复杂的网络。</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a:t>
            </a:fld>
            <a:endParaRPr lang="zh-CN" altLang="en-US"/>
          </a:p>
        </p:txBody>
      </p:sp>
    </p:spTree>
    <p:extLst>
      <p:ext uri="{BB962C8B-B14F-4D97-AF65-F5344CB8AC3E}">
        <p14:creationId xmlns:p14="http://schemas.microsoft.com/office/powerpoint/2010/main" val="810907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a:t>
            </a:fld>
            <a:endParaRPr lang="zh-CN" altLang="en-US"/>
          </a:p>
        </p:txBody>
      </p:sp>
    </p:spTree>
    <p:extLst>
      <p:ext uri="{BB962C8B-B14F-4D97-AF65-F5344CB8AC3E}">
        <p14:creationId xmlns:p14="http://schemas.microsoft.com/office/powerpoint/2010/main" val="1862489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a:t>
            </a:fld>
            <a:endParaRPr lang="zh-CN" altLang="en-US" dirty="0"/>
          </a:p>
        </p:txBody>
      </p:sp>
    </p:spTree>
    <p:extLst>
      <p:ext uri="{BB962C8B-B14F-4D97-AF65-F5344CB8AC3E}">
        <p14:creationId xmlns:p14="http://schemas.microsoft.com/office/powerpoint/2010/main" val="1772226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直观地展示了全班级的社交情况，展开一下</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a:t>
            </a:fld>
            <a:endParaRPr lang="zh-CN" altLang="en-US"/>
          </a:p>
        </p:txBody>
      </p:sp>
    </p:spTree>
    <p:extLst>
      <p:ext uri="{BB962C8B-B14F-4D97-AF65-F5344CB8AC3E}">
        <p14:creationId xmlns:p14="http://schemas.microsoft.com/office/powerpoint/2010/main" val="161929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改图的标号</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a:t>
            </a:fld>
            <a:endParaRPr lang="zh-CN" altLang="en-US"/>
          </a:p>
        </p:txBody>
      </p:sp>
    </p:spTree>
    <p:extLst>
      <p:ext uri="{BB962C8B-B14F-4D97-AF65-F5344CB8AC3E}">
        <p14:creationId xmlns:p14="http://schemas.microsoft.com/office/powerpoint/2010/main" val="1103341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9</a:t>
            </a:fld>
            <a:endParaRPr lang="zh-CN" altLang="en-US"/>
          </a:p>
        </p:txBody>
      </p:sp>
    </p:spTree>
    <p:extLst>
      <p:ext uri="{BB962C8B-B14F-4D97-AF65-F5344CB8AC3E}">
        <p14:creationId xmlns:p14="http://schemas.microsoft.com/office/powerpoint/2010/main" val="1001450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11</a:t>
            </a:fld>
            <a:endParaRPr lang="zh-CN" altLang="en-US"/>
          </a:p>
        </p:txBody>
      </p:sp>
    </p:spTree>
    <p:extLst>
      <p:ext uri="{BB962C8B-B14F-4D97-AF65-F5344CB8AC3E}">
        <p14:creationId xmlns:p14="http://schemas.microsoft.com/office/powerpoint/2010/main" val="78145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12</a:t>
            </a:fld>
            <a:endParaRPr lang="zh-CN" altLang="en-US"/>
          </a:p>
        </p:txBody>
      </p:sp>
    </p:spTree>
    <p:extLst>
      <p:ext uri="{BB962C8B-B14F-4D97-AF65-F5344CB8AC3E}">
        <p14:creationId xmlns:p14="http://schemas.microsoft.com/office/powerpoint/2010/main" val="747923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13</a:t>
            </a:fld>
            <a:endParaRPr lang="zh-CN" altLang="en-US"/>
          </a:p>
        </p:txBody>
      </p:sp>
    </p:spTree>
    <p:extLst>
      <p:ext uri="{BB962C8B-B14F-4D97-AF65-F5344CB8AC3E}">
        <p14:creationId xmlns:p14="http://schemas.microsoft.com/office/powerpoint/2010/main" val="1394706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14</a:t>
            </a:fld>
            <a:endParaRPr lang="zh-CN" altLang="en-US"/>
          </a:p>
        </p:txBody>
      </p:sp>
    </p:spTree>
    <p:extLst>
      <p:ext uri="{BB962C8B-B14F-4D97-AF65-F5344CB8AC3E}">
        <p14:creationId xmlns:p14="http://schemas.microsoft.com/office/powerpoint/2010/main" val="929239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15</a:t>
            </a:fld>
            <a:endParaRPr lang="zh-CN" altLang="en-US"/>
          </a:p>
        </p:txBody>
      </p:sp>
    </p:spTree>
    <p:extLst>
      <p:ext uri="{BB962C8B-B14F-4D97-AF65-F5344CB8AC3E}">
        <p14:creationId xmlns:p14="http://schemas.microsoft.com/office/powerpoint/2010/main" val="504011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16</a:t>
            </a:fld>
            <a:endParaRPr lang="zh-CN" altLang="en-US"/>
          </a:p>
        </p:txBody>
      </p:sp>
    </p:spTree>
    <p:extLst>
      <p:ext uri="{BB962C8B-B14F-4D97-AF65-F5344CB8AC3E}">
        <p14:creationId xmlns:p14="http://schemas.microsoft.com/office/powerpoint/2010/main" val="1968253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17</a:t>
            </a:fld>
            <a:endParaRPr lang="zh-CN" altLang="en-US" dirty="0"/>
          </a:p>
        </p:txBody>
      </p:sp>
    </p:spTree>
    <p:extLst>
      <p:ext uri="{BB962C8B-B14F-4D97-AF65-F5344CB8AC3E}">
        <p14:creationId xmlns:p14="http://schemas.microsoft.com/office/powerpoint/2010/main" val="2082377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0335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146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91298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34432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69205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bg1"/>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02632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8578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50627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0741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99203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069738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8277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31375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38559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 Centrality{0: 0.1, 1: 0.1, 2: 0.1, 3: 0.4, 4: 0.30000000000000004, 5: 0.2, 6: 0.4, 7: 0.1, 8: 0.1, 9: 0.30000000000000004, 10: 0.1}</a:t>
            </a:r>
          </a:p>
          <a:p>
            <a:endParaRPr lang="en-US" dirty="0"/>
          </a:p>
          <a:p>
            <a:r>
              <a:rPr lang="en-US" dirty="0"/>
              <a:t>Closeness Centrality{0: 0.3225806451612903, 1: 0.3225806451612903, 2: 0.3225806451612903, 3: 0.45454545454545453, 4: 0.5263157894736842, 5: 0.45454545454545453, 6: 0.43478260869565216, 7: 0.3125, 8: 0.3125, 9: 0.5, 10: 0.3448275862068966}</a:t>
            </a:r>
          </a:p>
          <a:p>
            <a:endParaRPr lang="en-US" dirty="0"/>
          </a:p>
          <a:p>
            <a:r>
              <a:rPr lang="en-US" dirty="0" err="1"/>
              <a:t>Betweenness</a:t>
            </a:r>
            <a:r>
              <a:rPr lang="en-US" dirty="0"/>
              <a:t> Centrality{0: 0.0, 1: 0.0, 2: 0.0, 3: 0.5333333333333333, 4: 0.5555555555555556, 5: 0.16666666666666669, 6: 0.4, 7: 0.0, 8: 0.0, 9: 0.3666666666666667, 10: 0.0}</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078479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429093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365990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44</a:t>
            </a:fld>
            <a:endParaRPr lang="zh-CN" altLang="en-US" dirty="0"/>
          </a:p>
        </p:txBody>
      </p:sp>
    </p:spTree>
    <p:extLst>
      <p:ext uri="{BB962C8B-B14F-4D97-AF65-F5344CB8AC3E}">
        <p14:creationId xmlns:p14="http://schemas.microsoft.com/office/powerpoint/2010/main" val="696379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45</a:t>
            </a:fld>
            <a:endParaRPr lang="zh-CN" altLang="en-US"/>
          </a:p>
        </p:txBody>
      </p:sp>
    </p:spTree>
    <p:extLst>
      <p:ext uri="{BB962C8B-B14F-4D97-AF65-F5344CB8AC3E}">
        <p14:creationId xmlns:p14="http://schemas.microsoft.com/office/powerpoint/2010/main" val="12233620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46</a:t>
            </a:fld>
            <a:endParaRPr lang="zh-CN" altLang="en-US"/>
          </a:p>
        </p:txBody>
      </p:sp>
    </p:spTree>
    <p:extLst>
      <p:ext uri="{BB962C8B-B14F-4D97-AF65-F5344CB8AC3E}">
        <p14:creationId xmlns:p14="http://schemas.microsoft.com/office/powerpoint/2010/main" val="20562189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A8537CBA-0E44-4282-A4F0-C3BCC1A4C2D1}" type="slidenum">
              <a:rPr lang="zh-CN" altLang="en-US" smtClean="0"/>
              <a:t>56</a:t>
            </a:fld>
            <a:endParaRPr lang="zh-CN" altLang="en-US"/>
          </a:p>
        </p:txBody>
      </p:sp>
    </p:spTree>
    <p:extLst>
      <p:ext uri="{BB962C8B-B14F-4D97-AF65-F5344CB8AC3E}">
        <p14:creationId xmlns:p14="http://schemas.microsoft.com/office/powerpoint/2010/main" val="14433160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61</a:t>
            </a:fld>
            <a:endParaRPr lang="zh-CN" altLang="en-US"/>
          </a:p>
        </p:txBody>
      </p:sp>
    </p:spTree>
    <p:extLst>
      <p:ext uri="{BB962C8B-B14F-4D97-AF65-F5344CB8AC3E}">
        <p14:creationId xmlns:p14="http://schemas.microsoft.com/office/powerpoint/2010/main" val="696064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62</a:t>
            </a:fld>
            <a:endParaRPr lang="zh-CN" altLang="en-US"/>
          </a:p>
        </p:txBody>
      </p:sp>
    </p:spTree>
    <p:extLst>
      <p:ext uri="{BB962C8B-B14F-4D97-AF65-F5344CB8AC3E}">
        <p14:creationId xmlns:p14="http://schemas.microsoft.com/office/powerpoint/2010/main" val="8130188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63</a:t>
            </a:fld>
            <a:endParaRPr lang="zh-CN" altLang="en-US"/>
          </a:p>
        </p:txBody>
      </p:sp>
    </p:spTree>
    <p:extLst>
      <p:ext uri="{BB962C8B-B14F-4D97-AF65-F5344CB8AC3E}">
        <p14:creationId xmlns:p14="http://schemas.microsoft.com/office/powerpoint/2010/main" val="19409505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64</a:t>
            </a:fld>
            <a:endParaRPr lang="zh-CN" altLang="en-US"/>
          </a:p>
        </p:txBody>
      </p:sp>
    </p:spTree>
    <p:extLst>
      <p:ext uri="{BB962C8B-B14F-4D97-AF65-F5344CB8AC3E}">
        <p14:creationId xmlns:p14="http://schemas.microsoft.com/office/powerpoint/2010/main" val="11396839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65</a:t>
            </a:fld>
            <a:endParaRPr lang="zh-CN" altLang="en-US"/>
          </a:p>
        </p:txBody>
      </p:sp>
    </p:spTree>
    <p:extLst>
      <p:ext uri="{BB962C8B-B14F-4D97-AF65-F5344CB8AC3E}">
        <p14:creationId xmlns:p14="http://schemas.microsoft.com/office/powerpoint/2010/main" val="6026800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66</a:t>
            </a:fld>
            <a:endParaRPr lang="zh-CN" altLang="en-US"/>
          </a:p>
        </p:txBody>
      </p:sp>
    </p:spTree>
    <p:extLst>
      <p:ext uri="{BB962C8B-B14F-4D97-AF65-F5344CB8AC3E}">
        <p14:creationId xmlns:p14="http://schemas.microsoft.com/office/powerpoint/2010/main" val="12993115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67</a:t>
            </a:fld>
            <a:endParaRPr lang="zh-CN" altLang="en-US"/>
          </a:p>
        </p:txBody>
      </p:sp>
    </p:spTree>
    <p:extLst>
      <p:ext uri="{BB962C8B-B14F-4D97-AF65-F5344CB8AC3E}">
        <p14:creationId xmlns:p14="http://schemas.microsoft.com/office/powerpoint/2010/main" val="11870771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68</a:t>
            </a:fld>
            <a:endParaRPr lang="zh-CN" altLang="en-US"/>
          </a:p>
        </p:txBody>
      </p:sp>
    </p:spTree>
    <p:extLst>
      <p:ext uri="{BB962C8B-B14F-4D97-AF65-F5344CB8AC3E}">
        <p14:creationId xmlns:p14="http://schemas.microsoft.com/office/powerpoint/2010/main" val="17711683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69</a:t>
            </a:fld>
            <a:endParaRPr lang="zh-CN" altLang="en-US"/>
          </a:p>
        </p:txBody>
      </p:sp>
    </p:spTree>
    <p:extLst>
      <p:ext uri="{BB962C8B-B14F-4D97-AF65-F5344CB8AC3E}">
        <p14:creationId xmlns:p14="http://schemas.microsoft.com/office/powerpoint/2010/main" val="638024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73</a:t>
            </a:fld>
            <a:endParaRPr lang="zh-CN" altLang="en-US" dirty="0"/>
          </a:p>
        </p:txBody>
      </p:sp>
    </p:spTree>
    <p:extLst>
      <p:ext uri="{BB962C8B-B14F-4D97-AF65-F5344CB8AC3E}">
        <p14:creationId xmlns:p14="http://schemas.microsoft.com/office/powerpoint/2010/main" val="11459576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400" dirty="0"/>
              <a:t>1967</a:t>
            </a:r>
            <a:r>
              <a:rPr lang="zh-CN" altLang="zh-CN" sz="1400" dirty="0"/>
              <a:t>年，哈佛大学的社会心理学教授</a:t>
            </a:r>
            <a:r>
              <a:rPr lang="en-US" altLang="zh-CN" sz="1400" dirty="0"/>
              <a:t>Stanley Milgram(1933-1984)</a:t>
            </a:r>
            <a:r>
              <a:rPr lang="zh-CN" altLang="zh-CN" sz="1400" dirty="0"/>
              <a:t>，试图描绘一个连接人与社区的人际关系网络。他发现了</a:t>
            </a:r>
            <a:r>
              <a:rPr lang="en-US" altLang="zh-CN" sz="1400" dirty="0"/>
              <a:t>“</a:t>
            </a:r>
            <a:r>
              <a:rPr lang="zh-CN" altLang="zh-CN" sz="1400" dirty="0"/>
              <a:t>六度分隔</a:t>
            </a:r>
            <a:r>
              <a:rPr lang="en-US" altLang="zh-CN" sz="1400" dirty="0"/>
              <a:t>”(Six Degrees of Separation)</a:t>
            </a:r>
            <a:r>
              <a:rPr lang="zh-CN" altLang="zh-CN" sz="1400" dirty="0"/>
              <a:t>现象。</a:t>
            </a:r>
            <a:r>
              <a:rPr lang="en-US" altLang="zh-CN" sz="1400" dirty="0"/>
              <a:t>“</a:t>
            </a:r>
            <a:r>
              <a:rPr lang="zh-CN" altLang="zh-CN" sz="1400" dirty="0"/>
              <a:t>你和任何一个陌生人之间，所间隔的人不会超过</a:t>
            </a:r>
            <a:r>
              <a:rPr lang="en-US" altLang="zh-CN" sz="1400" dirty="0"/>
              <a:t>6</a:t>
            </a:r>
            <a:r>
              <a:rPr lang="zh-CN" altLang="zh-CN" sz="1400" dirty="0"/>
              <a:t>个。</a:t>
            </a:r>
            <a:endParaRPr lang="en-US" altLang="zh-CN" sz="1400" dirty="0"/>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85</a:t>
            </a:fld>
            <a:endParaRPr lang="zh-CN" altLang="en-US"/>
          </a:p>
        </p:txBody>
      </p:sp>
    </p:spTree>
    <p:extLst>
      <p:ext uri="{BB962C8B-B14F-4D97-AF65-F5344CB8AC3E}">
        <p14:creationId xmlns:p14="http://schemas.microsoft.com/office/powerpoint/2010/main" val="1778490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876623"/>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393318148"/>
      </p:ext>
    </p:extLst>
  </p:cSld>
  <p:clrMapOvr>
    <a:masterClrMapping/>
  </p:clrMapOvr>
  <p:transition spd="slow">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06048204"/>
      </p:ext>
    </p:extLst>
  </p:cSld>
  <p:clrMapOvr>
    <a:masterClrMapping/>
  </p:clrMapOvr>
  <p:transition spd="slow">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406658645"/>
      </p:ext>
    </p:extLst>
  </p:cSld>
  <p:clrMapOvr>
    <a:masterClrMapping/>
  </p:clrMapOvr>
  <p:transition spd="slow">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834603108"/>
      </p:ext>
    </p:extLst>
  </p:cSld>
  <p:clrMapOvr>
    <a:masterClrMapping/>
  </p:clrMapOvr>
  <p:transition spd="slow">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866669490"/>
      </p:ext>
    </p:extLst>
  </p:cSld>
  <p:clrMapOvr>
    <a:masterClrMapping/>
  </p:clrMapOvr>
  <p:transition spd="slow">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529902479"/>
      </p:ext>
    </p:extLst>
  </p:cSld>
  <p:clrMapOvr>
    <a:masterClrMapping/>
  </p:clrMapOvr>
  <p:transition spd="slow">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64860649"/>
      </p:ext>
    </p:extLst>
  </p:cSld>
  <p:clrMapOvr>
    <a:masterClrMapping/>
  </p:clrMapOvr>
  <p:transition spd="slow">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098487586"/>
      </p:ext>
    </p:extLst>
  </p:cSld>
  <p:clrMapOvr>
    <a:masterClrMapping/>
  </p:clrMapOvr>
  <p:transition spd="slow">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66280133"/>
      </p:ext>
    </p:extLst>
  </p:cSld>
  <p:clrMapOvr>
    <a:masterClrMapping/>
  </p:clrMapOvr>
  <p:transition spd="slow">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87957619"/>
      </p:ext>
    </p:extLst>
  </p:cSld>
  <p:clrMapOvr>
    <a:masterClrMapping/>
  </p:clrMapOvr>
  <p:transition spd="slow">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4559764"/>
      </p:ext>
    </p:extLst>
  </p:cSld>
  <p:clrMapOvr>
    <a:masterClrMapping/>
  </p:clrMapOvr>
  <p:transition spd="slow">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631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7739"/>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31978"/>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670502"/>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jpg"/><Relationship Id="rId18"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1.jpg"/><Relationship Id="rId18" Type="http://schemas.openxmlformats.org/officeDocument/2006/relationships/image" Target="../media/image2.png"/><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 xmlns:a16="http://schemas.microsoft.com/office/drawing/2014/main" id="{341F63DC-E866-4077-8215-C471E38E7305}"/>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70"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 xmlns:a16="http://schemas.microsoft.com/office/drawing/2014/main" id="{341F63DC-E866-4077-8215-C471E38E7305}"/>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1932595511"/>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jpe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3.emf"/><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4"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hyperlink" Target="http://www.niaogebiji.com/article-16711-1.html" TargetMode="External"/><Relationship Id="rId4" Type="http://schemas.openxmlformats.org/officeDocument/2006/relationships/image" Target="../media/image23.jpeg"/><Relationship Id="rId1" Type="http://schemas.openxmlformats.org/officeDocument/2006/relationships/slideLayout" Target="../slideLayouts/slideLayout2.xml"/><Relationship Id="rId2"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4"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3" Type="http://schemas.openxmlformats.org/officeDocument/2006/relationships/image" Target="../media/image28.gif"/><Relationship Id="rId4" Type="http://schemas.openxmlformats.org/officeDocument/2006/relationships/image" Target="../media/image29.png"/><Relationship Id="rId5" Type="http://schemas.openxmlformats.org/officeDocument/2006/relationships/image" Target="../media/image30.png"/><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30.png"/><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28.gif"/><Relationship Id="rId4"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33.png"/><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5.png"/><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10.png"/><Relationship Id="rId4" Type="http://schemas.openxmlformats.org/officeDocument/2006/relationships/image" Target="../media/image120.png"/><Relationship Id="rId5"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4" Type="http://schemas.openxmlformats.org/officeDocument/2006/relationships/image" Target="../media/image120.png"/><Relationship Id="rId5" Type="http://schemas.openxmlformats.org/officeDocument/2006/relationships/image" Target="../media/image36.png"/><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4" Type="http://schemas.openxmlformats.org/officeDocument/2006/relationships/image" Target="../media/image160.png"/><Relationship Id="rId5" Type="http://schemas.openxmlformats.org/officeDocument/2006/relationships/image" Target="../media/image170.png"/><Relationship Id="rId6"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3" Type="http://schemas.openxmlformats.org/officeDocument/2006/relationships/image" Target="../media/image180.png"/><Relationship Id="rId4" Type="http://schemas.openxmlformats.org/officeDocument/2006/relationships/image" Target="../media/image160.png"/><Relationship Id="rId5" Type="http://schemas.openxmlformats.org/officeDocument/2006/relationships/image" Target="../media/image170.png"/><Relationship Id="rId6" Type="http://schemas.openxmlformats.org/officeDocument/2006/relationships/image" Target="../media/image39.png"/><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3" Type="http://schemas.openxmlformats.org/officeDocument/2006/relationships/image" Target="../media/image200.png"/><Relationship Id="rId4" Type="http://schemas.openxmlformats.org/officeDocument/2006/relationships/image" Target="../media/image211.png"/><Relationship Id="rId5" Type="http://schemas.openxmlformats.org/officeDocument/2006/relationships/image" Target="../media/image220.png"/><Relationship Id="rId6"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3" Type="http://schemas.openxmlformats.org/officeDocument/2006/relationships/image" Target="../media/image200.png"/><Relationship Id="rId4" Type="http://schemas.openxmlformats.org/officeDocument/2006/relationships/image" Target="../media/image41.png"/><Relationship Id="rId5" Type="http://schemas.openxmlformats.org/officeDocument/2006/relationships/image" Target="../media/image240.png"/><Relationship Id="rId6" Type="http://schemas.openxmlformats.org/officeDocument/2006/relationships/image" Target="../media/image250.png"/><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4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1.png"/><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eigenvector-centrality-centrality-measure/" TargetMode="External"/><Relationship Id="rId4" Type="http://schemas.openxmlformats.org/officeDocument/2006/relationships/image" Target="../media/image44.png"/><Relationship Id="rId5" Type="http://schemas.openxmlformats.org/officeDocument/2006/relationships/image" Target="../media/image45.png"/><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141.png"/><Relationship Id="rId5" Type="http://schemas.openxmlformats.org/officeDocument/2006/relationships/image" Target="../media/image150.png"/><Relationship Id="rId6" Type="http://schemas.openxmlformats.org/officeDocument/2006/relationships/image" Target="../media/image160.png"/><Relationship Id="rId7" Type="http://schemas.openxmlformats.org/officeDocument/2006/relationships/image" Target="../media/image1700.png"/><Relationship Id="rId1" Type="http://schemas.openxmlformats.org/officeDocument/2006/relationships/slideLayout" Target="../slideLayouts/slideLayout17.xml"/><Relationship Id="rId2" Type="http://schemas.openxmlformats.org/officeDocument/2006/relationships/image" Target="../media/image191.png"/></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211.png"/><Relationship Id="rId5" Type="http://schemas.openxmlformats.org/officeDocument/2006/relationships/image" Target="../media/image220.png"/><Relationship Id="rId6" Type="http://schemas.openxmlformats.org/officeDocument/2006/relationships/image" Target="../media/image230.png"/><Relationship Id="rId7" Type="http://schemas.openxmlformats.org/officeDocument/2006/relationships/image" Target="../media/image240.png"/><Relationship Id="rId8" Type="http://schemas.openxmlformats.org/officeDocument/2006/relationships/image" Target="../media/image49.png"/><Relationship Id="rId1" Type="http://schemas.openxmlformats.org/officeDocument/2006/relationships/slideLayout" Target="../slideLayouts/slideLayout17.xml"/><Relationship Id="rId2" Type="http://schemas.openxmlformats.org/officeDocument/2006/relationships/image" Target="../media/image201.png"/></Relationships>
</file>

<file path=ppt/slides/_rels/slide49.xml.rels><?xml version="1.0" encoding="UTF-8" standalone="yes"?>
<Relationships xmlns="http://schemas.openxmlformats.org/package/2006/relationships"><Relationship Id="rId3" Type="http://schemas.openxmlformats.org/officeDocument/2006/relationships/image" Target="../media/image270.png"/><Relationship Id="rId4" Type="http://schemas.openxmlformats.org/officeDocument/2006/relationships/image" Target="../media/image280.png"/><Relationship Id="rId5" Type="http://schemas.openxmlformats.org/officeDocument/2006/relationships/image" Target="../media/image292.png"/><Relationship Id="rId1" Type="http://schemas.openxmlformats.org/officeDocument/2006/relationships/slideLayout" Target="../slideLayouts/slideLayout17.xml"/><Relationship Id="rId2" Type="http://schemas.openxmlformats.org/officeDocument/2006/relationships/image" Target="../media/image26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1.png"/><Relationship Id="rId3" Type="http://schemas.openxmlformats.org/officeDocument/2006/relationships/image" Target="../media/image3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4" Type="http://schemas.openxmlformats.org/officeDocument/2006/relationships/image" Target="../media/image350.png"/><Relationship Id="rId5" Type="http://schemas.openxmlformats.org/officeDocument/2006/relationships/image" Target="../media/image361.png"/><Relationship Id="rId6" Type="http://schemas.openxmlformats.org/officeDocument/2006/relationships/image" Target="../media/image370.png"/><Relationship Id="rId7" Type="http://schemas.openxmlformats.org/officeDocument/2006/relationships/image" Target="../media/image381.png"/><Relationship Id="rId8" Type="http://schemas.openxmlformats.org/officeDocument/2006/relationships/image" Target="../media/image392.png"/><Relationship Id="rId9" Type="http://schemas.openxmlformats.org/officeDocument/2006/relationships/image" Target="../media/image400.png"/><Relationship Id="rId1" Type="http://schemas.openxmlformats.org/officeDocument/2006/relationships/slideLayout" Target="../slideLayouts/slideLayout17.xml"/><Relationship Id="rId2" Type="http://schemas.openxmlformats.org/officeDocument/2006/relationships/image" Target="../media/image3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0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20.png"/></Relationships>
</file>

<file path=ppt/slides/_rels/slide56.xml.rels><?xml version="1.0" encoding="UTF-8" standalone="yes"?>
<Relationships xmlns="http://schemas.openxmlformats.org/package/2006/relationships"><Relationship Id="rId3" Type="http://schemas.openxmlformats.org/officeDocument/2006/relationships/image" Target="../media/image420.png"/><Relationship Id="rId4" Type="http://schemas.openxmlformats.org/officeDocument/2006/relationships/image" Target="../media/image430.png"/><Relationship Id="rId5" Type="http://schemas.openxmlformats.org/officeDocument/2006/relationships/image" Target="../media/image441.png"/><Relationship Id="rId6" Type="http://schemas.openxmlformats.org/officeDocument/2006/relationships/image" Target="../media/image451.png"/><Relationship Id="rId7" Type="http://schemas.openxmlformats.org/officeDocument/2006/relationships/image" Target="../media/image460.png"/><Relationship Id="rId8" Type="http://schemas.openxmlformats.org/officeDocument/2006/relationships/image" Target="../media/image470.png"/><Relationship Id="rId9" Type="http://schemas.openxmlformats.org/officeDocument/2006/relationships/image" Target="../media/image480.png"/><Relationship Id="rId1" Type="http://schemas.openxmlformats.org/officeDocument/2006/relationships/slideLayout" Target="../slideLayouts/slideLayout17.xml"/><Relationship Id="rId2" Type="http://schemas.openxmlformats.org/officeDocument/2006/relationships/notesSlide" Target="../notesSlides/notesSlide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9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50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5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39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 Id="rId3" Type="http://schemas.openxmlformats.org/officeDocument/2006/relationships/image" Target="../media/image52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2.png"/><Relationship Id="rId3" Type="http://schemas.openxmlformats.org/officeDocument/2006/relationships/image" Target="../media/image5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hyperlink" Target="https://python-louvain.readthedocs.io/en/latest/"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30.png"/></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1" Type="http://schemas.openxmlformats.org/officeDocument/2006/relationships/slideLayout" Target="../slideLayouts/slideLayout17.xml"/><Relationship Id="rId2" Type="http://schemas.openxmlformats.org/officeDocument/2006/relationships/image" Target="../media/image5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00.png"/><Relationship Id="rId3" Type="http://schemas.openxmlformats.org/officeDocument/2006/relationships/image" Target="../media/image6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20.png"/><Relationship Id="rId3" Type="http://schemas.openxmlformats.org/officeDocument/2006/relationships/image" Target="../media/image62.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40.png"/><Relationship Id="rId3" Type="http://schemas.openxmlformats.org/officeDocument/2006/relationships/image" Target="../media/image5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5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80.png"/><Relationship Id="rId3" Type="http://schemas.openxmlformats.org/officeDocument/2006/relationships/image" Target="../media/image5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 Id="rId3" Type="http://schemas.openxmlformats.org/officeDocument/2006/relationships/image" Target="../media/image6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11922" y="0"/>
            <a:ext cx="4032078"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6835"/>
          <a:stretch/>
        </p:blipFill>
        <p:spPr>
          <a:xfrm>
            <a:off x="-1" y="0"/>
            <a:ext cx="5111923" cy="5143500"/>
          </a:xfrm>
          <a:prstGeom prst="rect">
            <a:avLst/>
          </a:prstGeom>
        </p:spPr>
      </p:pic>
      <p:sp>
        <p:nvSpPr>
          <p:cNvPr id="6" name="Rectangle 5"/>
          <p:cNvSpPr/>
          <p:nvPr/>
        </p:nvSpPr>
        <p:spPr>
          <a:xfrm>
            <a:off x="5474658" y="662456"/>
            <a:ext cx="3306611" cy="1758174"/>
          </a:xfrm>
          <a:prstGeom prst="rect">
            <a:avLst/>
          </a:prstGeom>
        </p:spPr>
        <p:txBody>
          <a:bodyPr wrap="none">
            <a:spAutoFit/>
          </a:bodyPr>
          <a:lstStyle/>
          <a:p>
            <a:pPr algn="ctr">
              <a:lnSpc>
                <a:spcPct val="150000"/>
              </a:lnSpc>
            </a:pPr>
            <a:r>
              <a:rPr lang="zh-CN" altLang="en-US" sz="4000" b="1" dirty="0">
                <a:solidFill>
                  <a:prstClr val="white"/>
                </a:solidFill>
                <a:latin typeface="微软雅黑" panose="020B0503020204020204" pitchFamily="34" charset="-122"/>
                <a:ea typeface="微软雅黑" panose="020B0503020204020204" pitchFamily="34" charset="-122"/>
              </a:rPr>
              <a:t>数据科学导论</a:t>
            </a:r>
            <a:endParaRPr lang="en-US" altLang="zh-CN" sz="4000" b="1" dirty="0">
              <a:solidFill>
                <a:prstClr val="white"/>
              </a:solidFill>
              <a:latin typeface="微软雅黑" panose="020B0503020204020204" pitchFamily="34" charset="-122"/>
              <a:ea typeface="微软雅黑" panose="020B0503020204020204" pitchFamily="34" charset="-122"/>
            </a:endParaRPr>
          </a:p>
          <a:p>
            <a:pPr algn="ctr">
              <a:lnSpc>
                <a:spcPct val="150000"/>
              </a:lnSpc>
            </a:pPr>
            <a:r>
              <a:rPr lang="zh-CN" altLang="x-none" sz="3600" b="1" dirty="0">
                <a:solidFill>
                  <a:prstClr val="white"/>
                </a:solidFill>
                <a:latin typeface="微软雅黑" panose="020B0503020204020204" pitchFamily="34" charset="-122"/>
                <a:ea typeface="微软雅黑" panose="020B0503020204020204" pitchFamily="34" charset="-122"/>
              </a:rPr>
              <a:t>网络</a:t>
            </a:r>
            <a:r>
              <a:rPr lang="zh-CN" altLang="en-US" sz="3600" b="1" dirty="0">
                <a:solidFill>
                  <a:prstClr val="white"/>
                </a:solidFill>
                <a:latin typeface="微软雅黑" panose="020B0503020204020204" pitchFamily="34" charset="-122"/>
                <a:ea typeface="微软雅黑" panose="020B0503020204020204" pitchFamily="34" charset="-122"/>
              </a:rPr>
              <a:t>数据分析</a:t>
            </a:r>
            <a:endParaRPr lang="en-US" sz="3600" dirty="0"/>
          </a:p>
        </p:txBody>
      </p:sp>
      <p:sp>
        <p:nvSpPr>
          <p:cNvPr id="7" name="Rectangle 6"/>
          <p:cNvSpPr/>
          <p:nvPr/>
        </p:nvSpPr>
        <p:spPr>
          <a:xfrm>
            <a:off x="6220501" y="3083150"/>
            <a:ext cx="1598515" cy="461665"/>
          </a:xfrm>
          <a:prstGeom prst="rect">
            <a:avLst/>
          </a:prstGeom>
        </p:spPr>
        <p:txBody>
          <a:bodyPr wrap="none">
            <a:spAutoFit/>
          </a:bodyPr>
          <a:lstStyle/>
          <a:p>
            <a:r>
              <a:rPr lang="zh-CN" altLang="en-US" sz="2400" dirty="0">
                <a:solidFill>
                  <a:prstClr val="white"/>
                </a:solidFill>
                <a:latin typeface="Microsoft YaHei" charset="-122"/>
                <a:ea typeface="Microsoft YaHei" charset="-122"/>
                <a:cs typeface="Microsoft YaHei" charset="-122"/>
              </a:rPr>
              <a:t>范</a:t>
            </a:r>
            <a:r>
              <a:rPr lang="zh-CN" altLang="en-US" sz="2400" dirty="0" smtClean="0">
                <a:solidFill>
                  <a:prstClr val="white"/>
                </a:solidFill>
                <a:latin typeface="Microsoft YaHei" charset="-122"/>
                <a:ea typeface="Microsoft YaHei" charset="-122"/>
                <a:cs typeface="Microsoft YaHei" charset="-122"/>
              </a:rPr>
              <a:t>举 教授 </a:t>
            </a:r>
            <a:endParaRPr lang="en-US" sz="2400" dirty="0">
              <a:latin typeface="Microsoft YaHei" charset="-122"/>
              <a:ea typeface="Microsoft YaHei" charset="-122"/>
              <a:cs typeface="Microsoft YaHei" charset="-122"/>
            </a:endParaRPr>
          </a:p>
        </p:txBody>
      </p:sp>
      <p:sp>
        <p:nvSpPr>
          <p:cNvPr id="8" name="Rectangle 7"/>
          <p:cNvSpPr/>
          <p:nvPr/>
        </p:nvSpPr>
        <p:spPr>
          <a:xfrm>
            <a:off x="6000601" y="3882492"/>
            <a:ext cx="2254720" cy="461665"/>
          </a:xfrm>
          <a:prstGeom prst="rect">
            <a:avLst/>
          </a:prstGeom>
        </p:spPr>
        <p:txBody>
          <a:bodyPr wrap="none">
            <a:spAutoFit/>
          </a:bodyPr>
          <a:lstStyle/>
          <a:p>
            <a:r>
              <a:rPr lang="en-US" altLang="zh-CN" sz="2400" dirty="0" err="1">
                <a:solidFill>
                  <a:prstClr val="white"/>
                </a:solidFill>
              </a:rPr>
              <a:t>fanj@ruc.edu.cn</a:t>
            </a:r>
            <a:endParaRPr lang="en-US" sz="2400" dirty="0"/>
          </a:p>
        </p:txBody>
      </p:sp>
    </p:spTree>
    <p:extLst>
      <p:ext uri="{BB962C8B-B14F-4D97-AF65-F5344CB8AC3E}">
        <p14:creationId xmlns:p14="http://schemas.microsoft.com/office/powerpoint/2010/main" val="110288910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网络化的世界</a:t>
            </a:r>
            <a:endParaRPr lang="en-US" dirty="0"/>
          </a:p>
        </p:txBody>
      </p:sp>
      <p:pic>
        <p:nvPicPr>
          <p:cNvPr id="4" name="图片 5" descr="static-graph.png"/>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a:off x="0" y="-422414"/>
            <a:ext cx="9144000" cy="5565914"/>
          </a:xfrm>
          <a:prstGeom prst="rect">
            <a:avLst/>
          </a:prstGeom>
        </p:spPr>
      </p:pic>
      <p:pic>
        <p:nvPicPr>
          <p:cNvPr id="5" name="Picture 4"/>
          <p:cNvPicPr>
            <a:picLocks noChangeAspect="1" noChangeArrowheads="1"/>
          </p:cNvPicPr>
          <p:nvPr/>
        </p:nvPicPr>
        <p:blipFill>
          <a:blip r:embed="rId4" cstate="print"/>
          <a:srcRect/>
          <a:stretch>
            <a:fillRect/>
          </a:stretch>
        </p:blipFill>
        <p:spPr bwMode="auto">
          <a:xfrm>
            <a:off x="1052733" y="634805"/>
            <a:ext cx="1296421" cy="506222"/>
          </a:xfrm>
          <a:prstGeom prst="rect">
            <a:avLst/>
          </a:prstGeom>
          <a:noFill/>
          <a:ln w="9525">
            <a:noFill/>
            <a:miter lim="800000"/>
            <a:headEnd/>
            <a:tailEnd/>
          </a:ln>
        </p:spPr>
      </p:pic>
      <p:pic>
        <p:nvPicPr>
          <p:cNvPr id="6" name="Picture 11"/>
          <p:cNvPicPr>
            <a:picLocks noChangeAspect="1" noChangeArrowheads="1"/>
          </p:cNvPicPr>
          <p:nvPr/>
        </p:nvPicPr>
        <p:blipFill>
          <a:blip r:embed="rId5" cstate="print"/>
          <a:srcRect/>
          <a:stretch>
            <a:fillRect/>
          </a:stretch>
        </p:blipFill>
        <p:spPr bwMode="auto">
          <a:xfrm>
            <a:off x="6227073" y="550706"/>
            <a:ext cx="713032" cy="713032"/>
          </a:xfrm>
          <a:prstGeom prst="rect">
            <a:avLst/>
          </a:prstGeom>
          <a:noFill/>
          <a:ln w="9525">
            <a:noFill/>
            <a:miter lim="800000"/>
            <a:headEnd/>
            <a:tailEnd/>
          </a:ln>
        </p:spPr>
      </p:pic>
      <p:pic>
        <p:nvPicPr>
          <p:cNvPr id="7" name="Picture 2"/>
          <p:cNvPicPr>
            <a:picLocks noChangeAspect="1" noChangeArrowheads="1"/>
          </p:cNvPicPr>
          <p:nvPr/>
        </p:nvPicPr>
        <p:blipFill>
          <a:blip r:embed="rId6" cstate="print"/>
          <a:srcRect/>
          <a:stretch>
            <a:fillRect/>
          </a:stretch>
        </p:blipFill>
        <p:spPr bwMode="auto">
          <a:xfrm>
            <a:off x="6774391" y="2168811"/>
            <a:ext cx="1746427" cy="583390"/>
          </a:xfrm>
          <a:prstGeom prst="rect">
            <a:avLst/>
          </a:prstGeom>
          <a:noFill/>
          <a:ln w="9525">
            <a:noFill/>
            <a:miter lim="800000"/>
            <a:headEnd/>
            <a:tailEnd/>
          </a:ln>
        </p:spPr>
      </p:pic>
      <p:pic>
        <p:nvPicPr>
          <p:cNvPr id="8" name="Picture 3"/>
          <p:cNvPicPr>
            <a:picLocks noChangeAspect="1" noChangeArrowheads="1"/>
          </p:cNvPicPr>
          <p:nvPr/>
        </p:nvPicPr>
        <p:blipFill>
          <a:blip r:embed="rId7" cstate="print"/>
          <a:srcRect/>
          <a:stretch>
            <a:fillRect/>
          </a:stretch>
        </p:blipFill>
        <p:spPr bwMode="auto">
          <a:xfrm>
            <a:off x="1123585" y="1945992"/>
            <a:ext cx="1166779" cy="614095"/>
          </a:xfrm>
          <a:prstGeom prst="rect">
            <a:avLst/>
          </a:prstGeom>
          <a:noFill/>
          <a:ln w="9525">
            <a:noFill/>
            <a:miter lim="800000"/>
            <a:headEnd/>
            <a:tailEnd/>
          </a:ln>
        </p:spPr>
      </p:pic>
      <p:sp>
        <p:nvSpPr>
          <p:cNvPr id="9" name="矩形 16"/>
          <p:cNvSpPr/>
          <p:nvPr/>
        </p:nvSpPr>
        <p:spPr>
          <a:xfrm>
            <a:off x="490025" y="1197513"/>
            <a:ext cx="2916949" cy="588602"/>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1.65 billion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latin typeface="Microsoft YaHei" charset="-122"/>
              <a:ea typeface="Microsoft YaHei" charset="-122"/>
              <a:cs typeface="Microsoft YaHei" charset="-122"/>
            </a:endParaRPr>
          </a:p>
          <a:p>
            <a:pPr>
              <a:buFont typeface="Arial" pitchFamily="34" charset="0"/>
              <a:buChar char="•"/>
            </a:pPr>
            <a:r>
              <a:rPr lang="en-US" altLang="zh-CN" sz="1846" b="1" dirty="0">
                <a:solidFill>
                  <a:srgbClr val="0000CC"/>
                </a:solidFill>
              </a:rPr>
              <a:t> 2.5 trillion </a:t>
            </a:r>
            <a:r>
              <a:rPr lang="en-US" altLang="zh-CN" sz="1846" dirty="0">
                <a:solidFill>
                  <a:schemeClr val="tx1"/>
                </a:solidFill>
              </a:rPr>
              <a:t>minutes/month</a:t>
            </a:r>
          </a:p>
        </p:txBody>
      </p:sp>
      <p:sp>
        <p:nvSpPr>
          <p:cNvPr id="10" name="矩形 20"/>
          <p:cNvSpPr/>
          <p:nvPr/>
        </p:nvSpPr>
        <p:spPr>
          <a:xfrm>
            <a:off x="6005149" y="2862916"/>
            <a:ext cx="2852128" cy="574625"/>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2.20</a:t>
            </a:r>
            <a:r>
              <a:rPr lang="zh-CN" altLang="en-US" sz="1846" b="1" dirty="0">
                <a:solidFill>
                  <a:srgbClr val="FF0000"/>
                </a:solidFill>
              </a:rPr>
              <a:t>亿</a:t>
            </a:r>
            <a:r>
              <a:rPr lang="en-US" altLang="zh-CN" sz="1846" b="1" dirty="0">
                <a:solidFill>
                  <a:srgbClr val="FF0000"/>
                </a:solidFill>
              </a:rPr>
              <a:t> </a:t>
            </a:r>
            <a:r>
              <a:rPr lang="zh-CN" altLang="en-US" sz="1846" dirty="0">
                <a:solidFill>
                  <a:schemeClr val="tx1"/>
                </a:solidFill>
                <a:latin typeface="Microsoft YaHei" charset="-122"/>
                <a:ea typeface="Microsoft YaHei" charset="-122"/>
                <a:cs typeface="Microsoft YaHei" charset="-122"/>
              </a:rPr>
              <a:t>用户</a:t>
            </a:r>
            <a:endParaRPr lang="en-US" altLang="zh-CN" sz="1846" dirty="0">
              <a:solidFill>
                <a:schemeClr val="tx1"/>
              </a:solidFill>
              <a:latin typeface="Microsoft YaHei" charset="-122"/>
              <a:ea typeface="Microsoft YaHei" charset="-122"/>
              <a:cs typeface="Microsoft YaHei" charset="-122"/>
            </a:endParaRPr>
          </a:p>
          <a:p>
            <a:pPr>
              <a:buFont typeface="Arial" pitchFamily="34" charset="0"/>
              <a:buChar char="•"/>
            </a:pPr>
            <a:r>
              <a:rPr lang="zh-CN" altLang="en-US" sz="1846" b="1" dirty="0">
                <a:solidFill>
                  <a:srgbClr val="0000CC"/>
                </a:solidFill>
              </a:rPr>
              <a:t>影响我们每个人的生活</a:t>
            </a:r>
            <a:endParaRPr lang="en-US" altLang="zh-CN" sz="1846" dirty="0">
              <a:solidFill>
                <a:srgbClr val="000000"/>
              </a:solidFill>
            </a:endParaRPr>
          </a:p>
        </p:txBody>
      </p:sp>
      <p:sp>
        <p:nvSpPr>
          <p:cNvPr id="11" name="矩形 21"/>
          <p:cNvSpPr/>
          <p:nvPr/>
        </p:nvSpPr>
        <p:spPr>
          <a:xfrm>
            <a:off x="5648149" y="1333242"/>
            <a:ext cx="3372383" cy="755662"/>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b="1" dirty="0">
                <a:solidFill>
                  <a:srgbClr val="FF0000"/>
                </a:solidFill>
              </a:rPr>
              <a:t>QQ: 8</a:t>
            </a:r>
            <a:r>
              <a:rPr lang="zh-CN" altLang="en-US" sz="1846" b="1" dirty="0">
                <a:solidFill>
                  <a:srgbClr val="FF0000"/>
                </a:solidFill>
              </a:rPr>
              <a:t>亿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endParaRPr>
          </a:p>
          <a:p>
            <a:pPr>
              <a:buFont typeface="Arial" pitchFamily="34" charset="0"/>
              <a:buChar char="•"/>
            </a:pPr>
            <a:r>
              <a:rPr lang="en-US" altLang="zh-CN" sz="1846" b="1" dirty="0">
                <a:solidFill>
                  <a:srgbClr val="0000CC"/>
                </a:solidFill>
              </a:rPr>
              <a:t> </a:t>
            </a:r>
            <a:r>
              <a:rPr lang="zh-CN" altLang="en-US" sz="1846" b="1" dirty="0">
                <a:solidFill>
                  <a:srgbClr val="0000CC"/>
                </a:solidFill>
              </a:rPr>
              <a:t>微信</a:t>
            </a:r>
            <a:r>
              <a:rPr lang="en-US" altLang="zh-CN" sz="1846" b="1" dirty="0">
                <a:solidFill>
                  <a:srgbClr val="0000CC"/>
                </a:solidFill>
              </a:rPr>
              <a:t>: 7</a:t>
            </a:r>
            <a:r>
              <a:rPr lang="zh-CN" altLang="en-US" sz="1846" b="1" dirty="0">
                <a:solidFill>
                  <a:srgbClr val="0000CC"/>
                </a:solidFill>
              </a:rPr>
              <a:t>亿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rgbClr val="000000"/>
              </a:solidFill>
            </a:endParaRPr>
          </a:p>
        </p:txBody>
      </p:sp>
      <p:sp>
        <p:nvSpPr>
          <p:cNvPr id="12" name="矩形 17"/>
          <p:cNvSpPr/>
          <p:nvPr/>
        </p:nvSpPr>
        <p:spPr>
          <a:xfrm>
            <a:off x="562708" y="2693378"/>
            <a:ext cx="2463202" cy="57535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255 million</a:t>
            </a:r>
            <a:r>
              <a:rPr lang="zh-CN" altLang="en-US" sz="1846" b="1" dirty="0">
                <a:solidFill>
                  <a:srgbClr val="FF0000"/>
                </a:solidFill>
              </a:rPr>
              <a:t>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endParaRPr>
          </a:p>
          <a:p>
            <a:pPr>
              <a:buFont typeface="Arial" pitchFamily="34" charset="0"/>
              <a:buChar char="•"/>
            </a:pPr>
            <a:r>
              <a:rPr lang="en-US" altLang="zh-CN" sz="1846" b="1" dirty="0">
                <a:solidFill>
                  <a:srgbClr val="0000CC"/>
                </a:solidFill>
              </a:rPr>
              <a:t> Peak: 143K </a:t>
            </a:r>
            <a:r>
              <a:rPr lang="en-US" altLang="zh-CN" sz="1846" dirty="0">
                <a:solidFill>
                  <a:schemeClr val="tx1"/>
                </a:solidFill>
              </a:rPr>
              <a:t>tweets/s</a:t>
            </a:r>
          </a:p>
        </p:txBody>
      </p:sp>
      <p:pic>
        <p:nvPicPr>
          <p:cNvPr id="13" name="图片 30" descr="amazon.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92703" y="3443396"/>
            <a:ext cx="1750169" cy="432513"/>
          </a:xfrm>
          <a:prstGeom prst="rect">
            <a:avLst/>
          </a:prstGeom>
        </p:spPr>
      </p:pic>
      <p:pic>
        <p:nvPicPr>
          <p:cNvPr id="14" name="图片 31" descr="alibaba_group2-feature.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50549" y="3578736"/>
            <a:ext cx="1944633" cy="406579"/>
          </a:xfrm>
          <a:prstGeom prst="rect">
            <a:avLst/>
          </a:prstGeom>
        </p:spPr>
      </p:pic>
      <p:pic>
        <p:nvPicPr>
          <p:cNvPr id="15" name="图片 3"/>
          <p:cNvPicPr>
            <a:picLocks noChangeAspect="1"/>
          </p:cNvPicPr>
          <p:nvPr/>
        </p:nvPicPr>
        <p:blipFill>
          <a:blip r:embed="rId10"/>
          <a:stretch>
            <a:fillRect/>
          </a:stretch>
        </p:blipFill>
        <p:spPr>
          <a:xfrm>
            <a:off x="7282150" y="536407"/>
            <a:ext cx="713032" cy="713032"/>
          </a:xfrm>
          <a:prstGeom prst="rect">
            <a:avLst/>
          </a:prstGeom>
        </p:spPr>
      </p:pic>
      <p:sp>
        <p:nvSpPr>
          <p:cNvPr id="16" name="矩形 28"/>
          <p:cNvSpPr/>
          <p:nvPr/>
        </p:nvSpPr>
        <p:spPr>
          <a:xfrm>
            <a:off x="758941" y="4010846"/>
            <a:ext cx="2657665" cy="70423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304 million</a:t>
            </a:r>
            <a:r>
              <a:rPr lang="zh-CN" altLang="en-US" sz="1846" b="1" dirty="0">
                <a:solidFill>
                  <a:srgbClr val="FF0000"/>
                </a:solidFill>
              </a:rPr>
              <a:t>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endParaRPr>
          </a:p>
          <a:p>
            <a:pPr>
              <a:buFont typeface="Arial" pitchFamily="34" charset="0"/>
              <a:buChar char="•"/>
            </a:pPr>
            <a:r>
              <a:rPr lang="en-US" altLang="zh-CN" sz="1846" b="1" dirty="0">
                <a:solidFill>
                  <a:srgbClr val="0000CC"/>
                </a:solidFill>
              </a:rPr>
              <a:t> 14 billion</a:t>
            </a:r>
            <a:r>
              <a:rPr lang="en-US" altLang="zh-CN" sz="1846" b="1" dirty="0">
                <a:solidFill>
                  <a:schemeClr val="tx1"/>
                </a:solidFill>
              </a:rPr>
              <a:t> </a:t>
            </a:r>
            <a:r>
              <a:rPr lang="en-US" altLang="zh-CN" sz="1846" dirty="0">
                <a:solidFill>
                  <a:schemeClr val="tx1"/>
                </a:solidFill>
              </a:rPr>
              <a:t>items/year</a:t>
            </a:r>
          </a:p>
        </p:txBody>
      </p:sp>
      <p:sp>
        <p:nvSpPr>
          <p:cNvPr id="17" name="矩形 27"/>
          <p:cNvSpPr/>
          <p:nvPr/>
        </p:nvSpPr>
        <p:spPr>
          <a:xfrm>
            <a:off x="5648150" y="4021925"/>
            <a:ext cx="3175772" cy="685668"/>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7</a:t>
            </a:r>
            <a:r>
              <a:rPr lang="zh-CN" altLang="en-US" sz="1846" b="1" dirty="0">
                <a:solidFill>
                  <a:srgbClr val="FF0000"/>
                </a:solidFill>
              </a:rPr>
              <a:t>亿</a:t>
            </a:r>
            <a:r>
              <a:rPr lang="en-US" altLang="zh-CN" sz="1846" b="1" dirty="0">
                <a:solidFill>
                  <a:srgbClr val="FF0000"/>
                </a:solidFill>
              </a:rPr>
              <a:t> </a:t>
            </a:r>
            <a:r>
              <a:rPr lang="zh-CN" altLang="en-US" dirty="0">
                <a:solidFill>
                  <a:schemeClr val="tx1"/>
                </a:solidFill>
              </a:rPr>
              <a:t>日交易量</a:t>
            </a:r>
            <a:r>
              <a:rPr lang="en-US" altLang="zh-CN" sz="1846" dirty="0">
                <a:solidFill>
                  <a:schemeClr val="tx1"/>
                </a:solidFill>
              </a:rPr>
              <a:t> (</a:t>
            </a:r>
            <a:r>
              <a:rPr lang="zh-CN" altLang="en-US" sz="1846" dirty="0">
                <a:solidFill>
                  <a:schemeClr val="tx1"/>
                </a:solidFill>
              </a:rPr>
              <a:t>支付宝</a:t>
            </a:r>
            <a:r>
              <a:rPr lang="en-US" altLang="zh-CN" sz="1846" dirty="0">
                <a:solidFill>
                  <a:schemeClr val="tx1"/>
                </a:solidFill>
              </a:rPr>
              <a:t>)</a:t>
            </a:r>
          </a:p>
          <a:p>
            <a:pPr>
              <a:buFont typeface="Arial" pitchFamily="34" charset="0"/>
              <a:buChar char="•"/>
            </a:pPr>
            <a:r>
              <a:rPr lang="en-US" altLang="zh-CN" sz="1846" b="1" dirty="0">
                <a:solidFill>
                  <a:srgbClr val="0000CC"/>
                </a:solidFill>
              </a:rPr>
              <a:t> </a:t>
            </a:r>
            <a:r>
              <a:rPr lang="en-US" altLang="zh-CN" b="1" dirty="0">
                <a:solidFill>
                  <a:srgbClr val="0000CC"/>
                </a:solidFill>
              </a:rPr>
              <a:t>1200</a:t>
            </a:r>
            <a:r>
              <a:rPr lang="zh-CN" altLang="en-US" b="1" dirty="0">
                <a:solidFill>
                  <a:srgbClr val="0000CC"/>
                </a:solidFill>
              </a:rPr>
              <a:t>亿交易关系</a:t>
            </a:r>
            <a:r>
              <a:rPr lang="en-US" altLang="zh-CN" b="1" dirty="0">
                <a:solidFill>
                  <a:srgbClr val="0000CC"/>
                </a:solidFill>
              </a:rPr>
              <a:t>——</a:t>
            </a:r>
            <a:r>
              <a:rPr lang="zh-CN" altLang="en-US" b="1" dirty="0">
                <a:solidFill>
                  <a:srgbClr val="FF0000"/>
                </a:solidFill>
              </a:rPr>
              <a:t>双十一</a:t>
            </a:r>
            <a:endParaRPr lang="en-US" altLang="zh-CN" sz="1846" dirty="0">
              <a:solidFill>
                <a:srgbClr val="FF0000"/>
              </a:solidFill>
            </a:endParaRPr>
          </a:p>
        </p:txBody>
      </p:sp>
      <p:pic>
        <p:nvPicPr>
          <p:cNvPr id="18" name="图片 23" descr="Screen Shot 2013-11-14 at 4.01.22 PM.p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20764" y="1297917"/>
            <a:ext cx="2227711" cy="2771483"/>
          </a:xfrm>
          <a:prstGeom prst="rect">
            <a:avLst/>
          </a:prstGeom>
        </p:spPr>
      </p:pic>
      <p:sp>
        <p:nvSpPr>
          <p:cNvPr id="19" name="椭圆 24"/>
          <p:cNvSpPr/>
          <p:nvPr/>
        </p:nvSpPr>
        <p:spPr>
          <a:xfrm>
            <a:off x="3416606" y="1301758"/>
            <a:ext cx="2231543" cy="2720167"/>
          </a:xfrm>
          <a:prstGeom prst="ellipse">
            <a:avLst/>
          </a:prstGeom>
          <a:noFill/>
          <a:ln w="19050" cmpd="sng">
            <a:solidFill>
              <a:srgbClr val="4F4F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2</a:t>
            </a:fld>
            <a:endParaRPr lang="zh-CN" altLang="en-US"/>
          </a:p>
        </p:txBody>
      </p:sp>
    </p:spTree>
    <p:extLst>
      <p:ext uri="{BB962C8B-B14F-4D97-AF65-F5344CB8AC3E}">
        <p14:creationId xmlns:p14="http://schemas.microsoft.com/office/powerpoint/2010/main" val="317181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如何分析真实世界中的复杂网络？</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1" y="819150"/>
                <a:ext cx="3551962" cy="3937000"/>
              </a:xfrm>
            </p:spPr>
            <p:txBody>
              <a:bodyPr>
                <a:normAutofit/>
              </a:bodyPr>
              <a:lstStyle/>
              <a:p>
                <a:pPr>
                  <a:spcBef>
                    <a:spcPts val="0"/>
                  </a:spcBef>
                  <a:spcAft>
                    <a:spcPts val="600"/>
                  </a:spcAft>
                </a:pPr>
                <a:r>
                  <a:rPr lang="zh-CN" altLang="en-US" sz="2200" dirty="0"/>
                  <a:t>我们学过的</a:t>
                </a:r>
                <a:r>
                  <a:rPr lang="zh-CN" altLang="en-US" sz="2200" b="1" dirty="0"/>
                  <a:t>图模型</a:t>
                </a:r>
                <a:r>
                  <a:rPr lang="zh-CN" altLang="en-US" sz="2200" dirty="0"/>
                  <a:t>提供了有力的分析工具</a:t>
                </a:r>
                <a:endParaRPr lang="en-US" altLang="zh-CN" sz="2200" dirty="0"/>
              </a:p>
              <a:p>
                <a:pPr>
                  <a:lnSpc>
                    <a:spcPct val="110000"/>
                  </a:lnSpc>
                  <a:spcBef>
                    <a:spcPts val="0"/>
                  </a:spcBef>
                  <a:spcAft>
                    <a:spcPts val="600"/>
                  </a:spcAft>
                </a:pPr>
                <a:r>
                  <a:rPr lang="zh-CN" altLang="en-US" sz="2200" b="0" dirty="0"/>
                  <a:t>图的定义</a:t>
                </a:r>
                <a:r>
                  <a:rPr lang="zh-CN" altLang="en-US" sz="2200" b="0" dirty="0">
                    <a:solidFill>
                      <a:srgbClr val="C00000"/>
                    </a:solidFill>
                  </a:rPr>
                  <a:t> </a:t>
                </a:r>
                <a14:m>
                  <m:oMath xmlns:m="http://schemas.openxmlformats.org/officeDocument/2006/math">
                    <m:r>
                      <a:rPr lang="en-US" altLang="zh-CN" sz="2200" b="0" i="1" dirty="0" smtClean="0">
                        <a:solidFill>
                          <a:srgbClr val="C00000"/>
                        </a:solidFill>
                        <a:latin typeface="Cambria Math" charset="0"/>
                      </a:rPr>
                      <m:t>𝐺</m:t>
                    </m:r>
                    <m:r>
                      <a:rPr lang="en-US" altLang="zh-CN" sz="2200" b="0" i="1" dirty="0" smtClean="0">
                        <a:solidFill>
                          <a:srgbClr val="C00000"/>
                        </a:solidFill>
                        <a:latin typeface="Cambria Math" charset="0"/>
                      </a:rPr>
                      <m:t>=(</m:t>
                    </m:r>
                    <m:r>
                      <a:rPr lang="en-US" altLang="zh-CN" sz="2200" b="0" i="1" dirty="0" smtClean="0">
                        <a:solidFill>
                          <a:srgbClr val="C00000"/>
                        </a:solidFill>
                        <a:latin typeface="Cambria Math" charset="0"/>
                      </a:rPr>
                      <m:t>𝑉</m:t>
                    </m:r>
                    <m:r>
                      <a:rPr lang="en-US" altLang="zh-CN" sz="2200" b="0" i="1" dirty="0" smtClean="0">
                        <a:solidFill>
                          <a:srgbClr val="C00000"/>
                        </a:solidFill>
                        <a:latin typeface="Cambria Math" charset="0"/>
                      </a:rPr>
                      <m:t>,</m:t>
                    </m:r>
                    <m:r>
                      <a:rPr lang="en-US" altLang="zh-CN" sz="2200" b="0" i="1" dirty="0" smtClean="0">
                        <a:solidFill>
                          <a:srgbClr val="C00000"/>
                        </a:solidFill>
                        <a:latin typeface="Cambria Math" charset="0"/>
                      </a:rPr>
                      <m:t>𝐸</m:t>
                    </m:r>
                    <m:r>
                      <a:rPr lang="en-US" altLang="zh-CN" sz="2200" b="0" i="1" dirty="0" smtClean="0">
                        <a:solidFill>
                          <a:srgbClr val="C00000"/>
                        </a:solidFill>
                        <a:latin typeface="Cambria Math" charset="0"/>
                      </a:rPr>
                      <m:t>)</m:t>
                    </m:r>
                  </m:oMath>
                </a14:m>
                <a:endParaRPr lang="en-US" altLang="zh-CN" sz="2200" dirty="0"/>
              </a:p>
              <a:p>
                <a:pPr lvl="1">
                  <a:lnSpc>
                    <a:spcPct val="110000"/>
                  </a:lnSpc>
                  <a:spcBef>
                    <a:spcPts val="0"/>
                  </a:spcBef>
                  <a:spcAft>
                    <a:spcPts val="600"/>
                  </a:spcAft>
                </a:pPr>
                <a14:m>
                  <m:oMath xmlns:m="http://schemas.openxmlformats.org/officeDocument/2006/math">
                    <m:r>
                      <a:rPr lang="en-US" altLang="zh-CN" sz="2000" b="0" i="1" smtClean="0">
                        <a:latin typeface="Cambria Math" charset="0"/>
                      </a:rPr>
                      <m:t>𝑉</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𝑛</m:t>
                        </m:r>
                      </m:sub>
                    </m:sSub>
                    <m:r>
                      <a:rPr lang="en-US" altLang="zh-CN" sz="2000" b="0" i="1" smtClean="0">
                        <a:latin typeface="Cambria Math" charset="0"/>
                      </a:rPr>
                      <m:t>}</m:t>
                    </m:r>
                  </m:oMath>
                </a14:m>
                <a:r>
                  <a:rPr lang="zh-CN" altLang="en-US" sz="2000" dirty="0"/>
                  <a:t> 表示图中</a:t>
                </a:r>
                <a14:m>
                  <m:oMath xmlns:m="http://schemas.openxmlformats.org/officeDocument/2006/math">
                    <m:r>
                      <a:rPr lang="en-US" altLang="zh-CN" sz="2000" b="0" i="1" smtClean="0">
                        <a:latin typeface="Cambria Math" charset="0"/>
                      </a:rPr>
                      <m:t>𝑛</m:t>
                    </m:r>
                  </m:oMath>
                </a14:m>
                <a:r>
                  <a:rPr lang="zh-CN" altLang="en-US" sz="2000" dirty="0"/>
                  <a:t>个</a:t>
                </a:r>
                <a:r>
                  <a:rPr lang="zh-CN" altLang="en-US" sz="2000" dirty="0">
                    <a:solidFill>
                      <a:srgbClr val="C00000"/>
                    </a:solidFill>
                  </a:rPr>
                  <a:t>节点</a:t>
                </a:r>
                <a:r>
                  <a:rPr lang="zh-CN" altLang="en-US" sz="2000" dirty="0"/>
                  <a:t>的集合</a:t>
                </a:r>
                <a:endParaRPr lang="en-US" altLang="zh-CN" sz="2000" dirty="0"/>
              </a:p>
              <a:p>
                <a:pPr lvl="1">
                  <a:lnSpc>
                    <a:spcPct val="110000"/>
                  </a:lnSpc>
                  <a:spcBef>
                    <a:spcPts val="0"/>
                  </a:spcBef>
                  <a:spcAft>
                    <a:spcPts val="600"/>
                  </a:spcAft>
                </a:pPr>
                <a14:m>
                  <m:oMath xmlns:m="http://schemas.openxmlformats.org/officeDocument/2006/math">
                    <m:r>
                      <a:rPr lang="en-US" altLang="zh-CN" sz="2000" b="0" i="1" dirty="0" smtClean="0">
                        <a:latin typeface="Cambria Math" charset="0"/>
                      </a:rPr>
                      <m:t>𝐸</m:t>
                    </m:r>
                    <m:r>
                      <a:rPr lang="en-US" altLang="zh-CN" sz="2000" b="0" i="1" dirty="0" smtClean="0">
                        <a:latin typeface="Cambria Math" charset="0"/>
                      </a:rPr>
                      <m:t>={</m:t>
                    </m:r>
                    <m:sSub>
                      <m:sSubPr>
                        <m:ctrlPr>
                          <a:rPr lang="en-US" altLang="zh-CN" sz="2000" b="0" i="1" dirty="0" smtClean="0">
                            <a:latin typeface="Cambria Math" charset="0"/>
                          </a:rPr>
                        </m:ctrlPr>
                      </m:sSubPr>
                      <m:e>
                        <m:r>
                          <a:rPr lang="en-US" altLang="zh-CN" sz="2000" b="0" i="1" dirty="0" smtClean="0">
                            <a:latin typeface="Cambria Math" charset="0"/>
                          </a:rPr>
                          <m:t>𝑒</m:t>
                        </m:r>
                      </m:e>
                      <m:sub>
                        <m:r>
                          <a:rPr lang="en-US" altLang="zh-CN" sz="2000" b="0" i="1" dirty="0" smtClean="0">
                            <a:latin typeface="Cambria Math" charset="0"/>
                          </a:rPr>
                          <m:t>1</m:t>
                        </m:r>
                      </m:sub>
                    </m:sSub>
                    <m:r>
                      <a:rPr lang="en-US" altLang="zh-CN" sz="2000" b="0" i="1" dirty="0" smtClean="0">
                        <a:latin typeface="Cambria Math" charset="0"/>
                      </a:rPr>
                      <m:t>,</m:t>
                    </m:r>
                    <m:sSub>
                      <m:sSubPr>
                        <m:ctrlPr>
                          <a:rPr lang="en-US" altLang="zh-CN" sz="2000" b="0" i="1" dirty="0" smtClean="0">
                            <a:latin typeface="Cambria Math" charset="0"/>
                          </a:rPr>
                        </m:ctrlPr>
                      </m:sSubPr>
                      <m:e>
                        <m:r>
                          <a:rPr lang="en-US" altLang="zh-CN" sz="2000" b="0" i="1" dirty="0" smtClean="0">
                            <a:latin typeface="Cambria Math" charset="0"/>
                          </a:rPr>
                          <m:t>𝑒</m:t>
                        </m:r>
                      </m:e>
                      <m:sub>
                        <m:r>
                          <a:rPr lang="en-US" altLang="zh-CN" sz="2000" b="0" i="1" dirty="0" smtClean="0">
                            <a:latin typeface="Cambria Math" charset="0"/>
                          </a:rPr>
                          <m:t>2</m:t>
                        </m:r>
                      </m:sub>
                    </m:sSub>
                    <m:r>
                      <a:rPr lang="en-US" altLang="zh-CN" sz="2000" b="0" i="1" dirty="0" smtClean="0">
                        <a:latin typeface="Cambria Math" charset="0"/>
                      </a:rPr>
                      <m:t>,…</m:t>
                    </m:r>
                    <m:sSub>
                      <m:sSubPr>
                        <m:ctrlPr>
                          <a:rPr lang="en-US" altLang="zh-CN" sz="2000" b="0" i="1" dirty="0" smtClean="0">
                            <a:latin typeface="Cambria Math" charset="0"/>
                          </a:rPr>
                        </m:ctrlPr>
                      </m:sSubPr>
                      <m:e>
                        <m:r>
                          <a:rPr lang="en-US" altLang="zh-CN" sz="2000" b="0" i="1" dirty="0" smtClean="0">
                            <a:latin typeface="Cambria Math" charset="0"/>
                          </a:rPr>
                          <m:t>𝑒</m:t>
                        </m:r>
                      </m:e>
                      <m:sub>
                        <m:r>
                          <a:rPr lang="en-US" altLang="zh-CN" sz="2000" b="0" i="1" dirty="0" smtClean="0">
                            <a:latin typeface="Cambria Math" charset="0"/>
                          </a:rPr>
                          <m:t>𝑚</m:t>
                        </m:r>
                      </m:sub>
                    </m:sSub>
                    <m:r>
                      <a:rPr lang="en-US" altLang="zh-CN" sz="2000" b="0" i="1" dirty="0" smtClean="0">
                        <a:latin typeface="Cambria Math" charset="0"/>
                      </a:rPr>
                      <m:t>}</m:t>
                    </m:r>
                  </m:oMath>
                </a14:m>
                <a:r>
                  <a:rPr lang="zh-CN" altLang="en-US" sz="2000" dirty="0"/>
                  <a:t> 表示节点之间</a:t>
                </a:r>
                <a:r>
                  <a:rPr lang="zh-CN" altLang="en-US" sz="2000" dirty="0">
                    <a:solidFill>
                      <a:srgbClr val="C00000"/>
                    </a:solidFill>
                  </a:rPr>
                  <a:t>边</a:t>
                </a:r>
                <a:r>
                  <a:rPr lang="zh-CN" altLang="en-US" sz="2000" dirty="0"/>
                  <a:t>的集合</a:t>
                </a:r>
                <a:endParaRPr lang="en-US" altLang="zh-CN" sz="2200" b="1" dirty="0"/>
              </a:p>
              <a:p>
                <a:pPr>
                  <a:spcBef>
                    <a:spcPts val="0"/>
                  </a:spcBef>
                  <a:spcAft>
                    <a:spcPts val="600"/>
                  </a:spcAft>
                </a:pPr>
                <a:r>
                  <a:rPr lang="zh-CN" altLang="en-US" sz="2200" dirty="0"/>
                  <a:t>本讲重点：如何用直观的图模型</a:t>
                </a:r>
                <a:r>
                  <a:rPr lang="zh-CN" altLang="en-US" sz="2200" b="1" dirty="0">
                    <a:solidFill>
                      <a:srgbClr val="C00000"/>
                    </a:solidFill>
                  </a:rPr>
                  <a:t>展示</a:t>
                </a:r>
                <a:r>
                  <a:rPr lang="zh-CN" altLang="en-US" sz="2200" b="1" dirty="0" smtClean="0">
                    <a:solidFill>
                      <a:srgbClr val="C00000"/>
                    </a:solidFill>
                  </a:rPr>
                  <a:t>与探索</a:t>
                </a:r>
                <a:r>
                  <a:rPr lang="zh-CN" altLang="en-US" sz="2200" dirty="0" smtClean="0"/>
                  <a:t>复杂</a:t>
                </a:r>
                <a:r>
                  <a:rPr lang="zh-CN" altLang="en-US" sz="2200" dirty="0"/>
                  <a:t>的网络数据</a:t>
                </a:r>
                <a:endParaRPr lang="en-US" altLang="zh-CN" sz="2200" dirty="0"/>
              </a:p>
              <a:p>
                <a:pPr>
                  <a:spcBef>
                    <a:spcPts val="0"/>
                  </a:spcBef>
                  <a:spcAft>
                    <a:spcPts val="600"/>
                  </a:spcAft>
                </a:pPr>
                <a:endParaRPr lang="en-US" altLang="zh-CN"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1" y="819150"/>
                <a:ext cx="3551962" cy="3937000"/>
              </a:xfrm>
              <a:blipFill rotWithShape="0">
                <a:blip r:embed="rId3"/>
                <a:stretch>
                  <a:fillRect l="-1887" t="-929"/>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4293447" y="1805075"/>
            <a:ext cx="4673011" cy="2546314"/>
          </a:xfrm>
          <a:prstGeom prst="rect">
            <a:avLst/>
          </a:prstGeom>
        </p:spPr>
      </p:pic>
      <p:sp>
        <p:nvSpPr>
          <p:cNvPr id="5" name="TextBox 4"/>
          <p:cNvSpPr txBox="1"/>
          <p:nvPr/>
        </p:nvSpPr>
        <p:spPr>
          <a:xfrm>
            <a:off x="4930562" y="1054907"/>
            <a:ext cx="1987980" cy="400110"/>
          </a:xfrm>
          <a:prstGeom prst="rect">
            <a:avLst/>
          </a:prstGeom>
          <a:noFill/>
        </p:spPr>
        <p:txBody>
          <a:bodyPr wrap="none" rtlCol="0">
            <a:spAutoFit/>
          </a:bodyPr>
          <a:lstStyle/>
          <a:p>
            <a:r>
              <a:rPr lang="zh-CN" altLang="en-US" sz="2000" dirty="0">
                <a:latin typeface="Microsoft YaHei" charset="-122"/>
                <a:ea typeface="Microsoft YaHei" charset="-122"/>
                <a:cs typeface="Microsoft YaHei" charset="-122"/>
              </a:rPr>
              <a:t>节点（</a:t>
            </a:r>
            <a:r>
              <a:rPr lang="en-US" altLang="zh-CN" sz="2000" dirty="0">
                <a:latin typeface="Microsoft YaHei" charset="-122"/>
                <a:ea typeface="Microsoft YaHei" charset="-122"/>
                <a:cs typeface="Microsoft YaHei" charset="-122"/>
              </a:rPr>
              <a:t>Vertex</a:t>
            </a:r>
            <a:r>
              <a:rPr lang="zh-CN" altLang="en-US" sz="2000" dirty="0">
                <a:latin typeface="Microsoft YaHei" charset="-122"/>
                <a:ea typeface="Microsoft YaHei" charset="-122"/>
                <a:cs typeface="Microsoft YaHei" charset="-122"/>
              </a:rPr>
              <a:t>）</a:t>
            </a:r>
            <a:endParaRPr lang="en-US" sz="2000" dirty="0">
              <a:latin typeface="Microsoft YaHei" charset="-122"/>
              <a:ea typeface="Microsoft YaHei" charset="-122"/>
              <a:cs typeface="Microsoft YaHei" charset="-122"/>
            </a:endParaRPr>
          </a:p>
        </p:txBody>
      </p:sp>
      <p:cxnSp>
        <p:nvCxnSpPr>
          <p:cNvPr id="7" name="Straight Arrow Connector 6"/>
          <p:cNvCxnSpPr/>
          <p:nvPr/>
        </p:nvCxnSpPr>
        <p:spPr>
          <a:xfrm flipH="1" flipV="1">
            <a:off x="6156960" y="1524000"/>
            <a:ext cx="320040" cy="2810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7398400" y="1671292"/>
            <a:ext cx="1568058" cy="400110"/>
          </a:xfrm>
          <a:prstGeom prst="rect">
            <a:avLst/>
          </a:prstGeom>
          <a:noFill/>
        </p:spPr>
        <p:txBody>
          <a:bodyPr wrap="none" rtlCol="0">
            <a:spAutoFit/>
          </a:bodyPr>
          <a:lstStyle/>
          <a:p>
            <a:r>
              <a:rPr lang="zh-CN" altLang="en-US" sz="2000" dirty="0">
                <a:latin typeface="Microsoft YaHei" charset="-122"/>
                <a:ea typeface="Microsoft YaHei" charset="-122"/>
                <a:cs typeface="Microsoft YaHei" charset="-122"/>
              </a:rPr>
              <a:t>边（</a:t>
            </a:r>
            <a:r>
              <a:rPr lang="en-US" altLang="zh-CN" sz="2000" dirty="0">
                <a:latin typeface="Microsoft YaHei" charset="-122"/>
                <a:ea typeface="Microsoft YaHei" charset="-122"/>
                <a:cs typeface="Microsoft YaHei" charset="-122"/>
              </a:rPr>
              <a:t>Edge</a:t>
            </a:r>
            <a:r>
              <a:rPr lang="zh-CN" altLang="en-US" sz="2000" dirty="0">
                <a:latin typeface="Microsoft YaHei" charset="-122"/>
                <a:ea typeface="Microsoft YaHei" charset="-122"/>
                <a:cs typeface="Microsoft YaHei" charset="-122"/>
              </a:rPr>
              <a:t>）</a:t>
            </a:r>
            <a:endParaRPr lang="en-US" sz="2000" dirty="0">
              <a:latin typeface="Microsoft YaHei" charset="-122"/>
              <a:ea typeface="Microsoft YaHei" charset="-122"/>
              <a:cs typeface="Microsoft YaHei" charset="-122"/>
            </a:endParaRPr>
          </a:p>
        </p:txBody>
      </p:sp>
      <p:cxnSp>
        <p:nvCxnSpPr>
          <p:cNvPr id="9" name="Straight Arrow Connector 8"/>
          <p:cNvCxnSpPr/>
          <p:nvPr/>
        </p:nvCxnSpPr>
        <p:spPr>
          <a:xfrm flipV="1">
            <a:off x="7718440" y="2071402"/>
            <a:ext cx="236840" cy="4063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Slide Number Placeholder 5"/>
          <p:cNvSpPr>
            <a:spLocks noGrp="1"/>
          </p:cNvSpPr>
          <p:nvPr>
            <p:ph type="sldNum" sz="quarter" idx="12"/>
          </p:nvPr>
        </p:nvSpPr>
        <p:spPr/>
        <p:txBody>
          <a:bodyPr/>
          <a:lstStyle/>
          <a:p>
            <a:fld id="{E1BEBC7A-FD02-486B-81B5-A845787C689C}" type="slidenum">
              <a:rPr lang="zh-CN" altLang="en-US" smtClean="0"/>
              <a:t>3</a:t>
            </a:fld>
            <a:endParaRPr lang="zh-CN" altLang="en-US"/>
          </a:p>
        </p:txBody>
      </p:sp>
    </p:spTree>
    <p:extLst>
      <p:ext uri="{BB962C8B-B14F-4D97-AF65-F5344CB8AC3E}">
        <p14:creationId xmlns:p14="http://schemas.microsoft.com/office/powerpoint/2010/main" val="988052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dissolve">
                                      <p:cBhvr>
                                        <p:cTn id="9" dur="500"/>
                                        <p:tgtEl>
                                          <p:spTgt spid="4"/>
                                        </p:tgtEl>
                                      </p:cBhvr>
                                    </p:animEffect>
                                  </p:childTnLst>
                                </p:cTn>
                              </p:par>
                              <p:par>
                                <p:cTn id="10" presetID="9"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par>
                                <p:cTn id="13" presetID="9"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par>
                                <p:cTn id="19" presetID="9"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dissolve">
                                      <p:cBhvr>
                                        <p:cTn id="24" dur="500"/>
                                        <p:tgtEl>
                                          <p:spTgt spid="3">
                                            <p:txEl>
                                              <p:pRg st="1" end="1"/>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dissolve">
                                      <p:cBhvr>
                                        <p:cTn id="27" dur="500"/>
                                        <p:tgtEl>
                                          <p:spTgt spid="3">
                                            <p:txEl>
                                              <p:pRg st="2" end="2"/>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dissolv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dissolve">
                                      <p:cBhvr>
                                        <p:cTn id="3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308324"/>
          </a:xfrm>
          <a:prstGeom prst="rect">
            <a:avLst/>
          </a:prstGeom>
          <a:noFill/>
        </p:spPr>
        <p:txBody>
          <a:bodyPr wrap="square" rtlCol="0">
            <a:spAutoFit/>
          </a:bodyPr>
          <a:lstStyle/>
          <a:p>
            <a:pPr>
              <a:lnSpc>
                <a:spcPct val="200000"/>
              </a:lnSpc>
            </a:pPr>
            <a:r>
              <a:rPr lang="en-US" altLang="zh-CN" dirty="0">
                <a:solidFill>
                  <a:srgbClr val="AE0627"/>
                </a:solidFill>
                <a:latin typeface="微软雅黑" panose="020B0503020204020204" pitchFamily="34" charset="-122"/>
                <a:ea typeface="微软雅黑" panose="020B0503020204020204" pitchFamily="34" charset="-122"/>
              </a:rPr>
              <a:t>1.</a:t>
            </a:r>
            <a:r>
              <a:rPr lang="zh-CN" altLang="en-US" dirty="0">
                <a:solidFill>
                  <a:srgbClr val="AE0627"/>
                </a:solidFill>
                <a:latin typeface="微软雅黑" panose="020B0503020204020204" pitchFamily="34" charset="-122"/>
                <a:ea typeface="微软雅黑" panose="020B0503020204020204" pitchFamily="34" charset="-122"/>
              </a:rPr>
              <a:t> </a:t>
            </a:r>
            <a:r>
              <a:rPr lang="en-US" altLang="zh-CN" b="1" dirty="0">
                <a:solidFill>
                  <a:srgbClr val="AE0627"/>
                </a:solidFill>
                <a:latin typeface="微软雅黑" panose="020B0503020204020204" pitchFamily="34" charset="-122"/>
                <a:ea typeface="微软雅黑" panose="020B0503020204020204" pitchFamily="34" charset="-122"/>
              </a:rPr>
              <a:t>Why</a:t>
            </a:r>
            <a:r>
              <a:rPr lang="zh-CN" altLang="en-US" dirty="0">
                <a:solidFill>
                  <a:srgbClr val="AE0627"/>
                </a:solidFill>
                <a:latin typeface="微软雅黑" panose="020B0503020204020204" pitchFamily="34" charset="-122"/>
                <a:ea typeface="微软雅黑" panose="020B0503020204020204" pitchFamily="34" charset="-122"/>
              </a:rPr>
              <a:t> </a:t>
            </a:r>
            <a:r>
              <a:rPr lang="en-US" altLang="zh-CN" dirty="0">
                <a:solidFill>
                  <a:srgbClr val="AE0627"/>
                </a:solidFill>
                <a:latin typeface="微软雅黑" panose="020B0503020204020204" pitchFamily="34" charset="-122"/>
                <a:ea typeface="微软雅黑" panose="020B0503020204020204" pitchFamily="34" charset="-122"/>
              </a:rPr>
              <a:t>-</a:t>
            </a:r>
            <a:r>
              <a:rPr lang="zh-CN" altLang="en-US" dirty="0">
                <a:solidFill>
                  <a:srgbClr val="AE0627"/>
                </a:solidFill>
                <a:latin typeface="微软雅黑" panose="020B0503020204020204" pitchFamily="34" charset="-122"/>
                <a:ea typeface="微软雅黑" panose="020B0503020204020204" pitchFamily="34" charset="-122"/>
              </a:rPr>
              <a:t> 为什么用图对数据建模</a:t>
            </a:r>
            <a:endParaRPr lang="en-US" altLang="zh-CN" dirty="0">
              <a:solidFill>
                <a:srgbClr val="AE0627"/>
              </a:solidFill>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节点中心性（</a:t>
            </a:r>
            <a:r>
              <a:rPr lang="en-US" altLang="zh-CN" dirty="0">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3</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社区（</a:t>
            </a:r>
            <a:r>
              <a:rPr lang="en-US" altLang="zh-CN" dirty="0" smtClean="0">
                <a:latin typeface="Calibri" panose="020F0502020204030204" pitchFamily="34" charset="0"/>
                <a:ea typeface="微软雅黑" panose="020B0503020204020204" pitchFamily="34" charset="-122"/>
                <a:cs typeface="Calibri" panose="020F0502020204030204" pitchFamily="34" charset="0"/>
              </a:rPr>
              <a:t>Community</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 附录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图论的基本</a:t>
            </a:r>
            <a:r>
              <a:rPr lang="zh-CN" altLang="en-US" dirty="0" smtClean="0">
                <a:latin typeface="微软雅黑" panose="020B0503020204020204" pitchFamily="34" charset="-122"/>
                <a:ea typeface="微软雅黑" panose="020B0503020204020204" pitchFamily="34" charset="-122"/>
              </a:rPr>
              <a:t>概念</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578359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从一次课堂点名说起</a:t>
            </a:r>
            <a:endParaRPr lang="en-US" dirty="0"/>
          </a:p>
        </p:txBody>
      </p:sp>
      <p:sp>
        <p:nvSpPr>
          <p:cNvPr id="3" name="Content Placeholder 2">
            <a:extLst>
              <a:ext uri="{FF2B5EF4-FFF2-40B4-BE49-F238E27FC236}">
                <a16:creationId xmlns="" xmlns:a16="http://schemas.microsoft.com/office/drawing/2014/main" id="{30608D34-8496-9140-BB2F-6C0D32D8490C}"/>
              </a:ext>
            </a:extLst>
          </p:cNvPr>
          <p:cNvSpPr>
            <a:spLocks noGrp="1"/>
          </p:cNvSpPr>
          <p:nvPr>
            <p:ph idx="1"/>
          </p:nvPr>
        </p:nvSpPr>
        <p:spPr>
          <a:xfrm>
            <a:off x="457200" y="819150"/>
            <a:ext cx="4788783" cy="3937000"/>
          </a:xfrm>
        </p:spPr>
        <p:txBody>
          <a:bodyPr>
            <a:normAutofit/>
          </a:bodyPr>
          <a:lstStyle/>
          <a:p>
            <a:r>
              <a:rPr lang="zh-CN" altLang="en-US" sz="2200" dirty="0"/>
              <a:t>一次特殊的课堂点名</a:t>
            </a:r>
          </a:p>
          <a:p>
            <a:endParaRPr lang="en-US" altLang="zh-CN" dirty="0"/>
          </a:p>
          <a:p>
            <a:r>
              <a:rPr lang="zh-CN" altLang="en-US" sz="2200" b="1" dirty="0"/>
              <a:t>你和你比较熟悉的同学</a:t>
            </a:r>
            <a:endParaRPr lang="en-US" altLang="zh-CN" sz="2200" b="1" dirty="0"/>
          </a:p>
          <a:p>
            <a:pPr lvl="1"/>
            <a:r>
              <a:rPr lang="zh-CN" altLang="en-US" sz="2000" dirty="0"/>
              <a:t>我们希望在点名的同时，对各位同学有更多的了解</a:t>
            </a:r>
            <a:endParaRPr lang="en-US" altLang="zh-CN" sz="2000" dirty="0"/>
          </a:p>
          <a:p>
            <a:pPr lvl="1"/>
            <a:endParaRPr lang="en-US" altLang="zh-CN" dirty="0"/>
          </a:p>
          <a:p>
            <a:pPr lvl="1"/>
            <a:r>
              <a:rPr lang="zh-CN" altLang="en-US" sz="2000" dirty="0"/>
              <a:t>请填写你的姓名</a:t>
            </a:r>
            <a:endParaRPr lang="en-US" altLang="zh-CN" sz="2000" dirty="0"/>
          </a:p>
          <a:p>
            <a:pPr lvl="1"/>
            <a:r>
              <a:rPr lang="zh-CN" altLang="en-US" sz="2000" dirty="0"/>
              <a:t>请在选课同学名单选择出</a:t>
            </a:r>
            <a:r>
              <a:rPr lang="zh-CN" altLang="en-US" sz="2000" dirty="0">
                <a:solidFill>
                  <a:srgbClr val="C00000"/>
                </a:solidFill>
              </a:rPr>
              <a:t>你比较熟悉的同学（不包括你自己）</a:t>
            </a:r>
            <a:endParaRPr lang="en-US" sz="2000" dirty="0">
              <a:solidFill>
                <a:srgbClr val="C00000"/>
              </a:solidFill>
            </a:endParaRPr>
          </a:p>
          <a:p>
            <a:endParaRPr lang="en-US" dirty="0"/>
          </a:p>
        </p:txBody>
      </p:sp>
      <p:sp>
        <p:nvSpPr>
          <p:cNvPr id="4" name="Slide Number Placeholder 3">
            <a:extLst>
              <a:ext uri="{FF2B5EF4-FFF2-40B4-BE49-F238E27FC236}">
                <a16:creationId xmlns="" xmlns:a16="http://schemas.microsoft.com/office/drawing/2014/main" id="{945D50C0-7C6F-0542-9366-F6888A031CE1}"/>
              </a:ext>
            </a:extLst>
          </p:cNvPr>
          <p:cNvSpPr>
            <a:spLocks noGrp="1"/>
          </p:cNvSpPr>
          <p:nvPr>
            <p:ph type="sldNum" sz="quarter" idx="12"/>
          </p:nvPr>
        </p:nvSpPr>
        <p:spPr/>
        <p:txBody>
          <a:bodyPr/>
          <a:lstStyle/>
          <a:p>
            <a:fld id="{E1BEBC7A-FD02-486B-81B5-A845787C689C}" type="slidenum">
              <a:rPr lang="zh-CN" altLang="en-US" smtClean="0"/>
              <a:t>5</a:t>
            </a:fld>
            <a:endParaRPr lang="zh-CN" alt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11470" b="26293"/>
          <a:stretch/>
        </p:blipFill>
        <p:spPr>
          <a:xfrm>
            <a:off x="5245984" y="819150"/>
            <a:ext cx="2924621" cy="3941352"/>
          </a:xfrm>
          <a:prstGeom prst="rect">
            <a:avLst/>
          </a:prstGeom>
        </p:spPr>
      </p:pic>
    </p:spTree>
    <p:extLst>
      <p:ext uri="{BB962C8B-B14F-4D97-AF65-F5344CB8AC3E}">
        <p14:creationId xmlns:p14="http://schemas.microsoft.com/office/powerpoint/2010/main" val="1142665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用图来直观展示社交网络</a:t>
            </a:r>
            <a:endParaRPr lang="en-US" dirty="0"/>
          </a:p>
        </p:txBody>
      </p:sp>
      <p:sp>
        <p:nvSpPr>
          <p:cNvPr id="3" name="Content Placeholder 2"/>
          <p:cNvSpPr>
            <a:spLocks noGrp="1"/>
          </p:cNvSpPr>
          <p:nvPr>
            <p:ph idx="1"/>
          </p:nvPr>
        </p:nvSpPr>
        <p:spPr>
          <a:xfrm>
            <a:off x="457200" y="819150"/>
            <a:ext cx="8229600" cy="468176"/>
          </a:xfrm>
        </p:spPr>
        <p:txBody>
          <a:bodyPr>
            <a:normAutofit/>
          </a:bodyPr>
          <a:lstStyle/>
          <a:p>
            <a:r>
              <a:rPr lang="zh-CN" altLang="en-US" sz="2200" dirty="0"/>
              <a:t>提问：如何</a:t>
            </a:r>
            <a:r>
              <a:rPr lang="zh-CN" altLang="en-US" sz="2200" dirty="0" smtClean="0"/>
              <a:t>展现同学</a:t>
            </a:r>
            <a:r>
              <a:rPr lang="zh-CN" altLang="en-US" sz="2200" dirty="0"/>
              <a:t>与同学之间的</a:t>
            </a:r>
            <a:r>
              <a:rPr lang="zh-CN" altLang="en-US" sz="2200" dirty="0">
                <a:solidFill>
                  <a:srgbClr val="C00000"/>
                </a:solidFill>
              </a:rPr>
              <a:t>社交网络</a:t>
            </a:r>
            <a:r>
              <a:rPr lang="zh-CN" altLang="en-US" sz="2200" dirty="0"/>
              <a:t>？</a:t>
            </a:r>
            <a:endParaRPr lang="en-US" sz="2200"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9414"/>
          <a:stretch/>
        </p:blipFill>
        <p:spPr>
          <a:xfrm>
            <a:off x="899159" y="1287326"/>
            <a:ext cx="2634335" cy="3000648"/>
          </a:xfrm>
          <a:prstGeom prst="rect">
            <a:avLst/>
          </a:prstGeom>
        </p:spPr>
      </p:pic>
      <p:sp>
        <p:nvSpPr>
          <p:cNvPr id="8" name="Right Arrow 7"/>
          <p:cNvSpPr/>
          <p:nvPr/>
        </p:nvSpPr>
        <p:spPr>
          <a:xfrm>
            <a:off x="3886553" y="2353310"/>
            <a:ext cx="472440" cy="868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01040" y="4325263"/>
            <a:ext cx="7741920" cy="430887"/>
          </a:xfrm>
          <a:prstGeom prst="rect">
            <a:avLst/>
          </a:prstGeom>
        </p:spPr>
        <p:txBody>
          <a:bodyPr wrap="square">
            <a:spAutoFit/>
          </a:bodyPr>
          <a:lstStyle/>
          <a:p>
            <a:pPr algn="ctr"/>
            <a:r>
              <a:rPr lang="zh-CN" altLang="en-US" sz="2200" dirty="0">
                <a:latin typeface="微软雅黑" panose="020B0503020204020204" pitchFamily="34" charset="-122"/>
                <a:ea typeface="微软雅黑" panose="020B0503020204020204" pitchFamily="34" charset="-122"/>
              </a:rPr>
              <a:t>我们希望让数据“</a:t>
            </a:r>
            <a:r>
              <a:rPr lang="zh-CN" altLang="en-US" sz="2200" dirty="0">
                <a:solidFill>
                  <a:srgbClr val="C00000"/>
                </a:solidFill>
                <a:latin typeface="微软雅黑" panose="020B0503020204020204" pitchFamily="34" charset="-122"/>
                <a:ea typeface="微软雅黑" panose="020B0503020204020204" pitchFamily="34" charset="-122"/>
              </a:rPr>
              <a:t>说话</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揭示微观数据背后的宏观模式</a:t>
            </a:r>
            <a:endParaRPr lang="en-US" altLang="zh-CN" sz="2200" dirty="0">
              <a:latin typeface="微软雅黑" panose="020B0503020204020204" pitchFamily="34" charset="-122"/>
              <a:ea typeface="微软雅黑" panose="020B0503020204020204" pitchFamily="34" charset="-122"/>
            </a:endParaRP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7080" t="5197" r="10846" b="3508"/>
          <a:stretch/>
        </p:blipFill>
        <p:spPr>
          <a:xfrm>
            <a:off x="4571999" y="1287224"/>
            <a:ext cx="4139079" cy="3000750"/>
          </a:xfrm>
          <a:prstGeom prst="rect">
            <a:avLst/>
          </a:prstGeom>
        </p:spPr>
      </p:pic>
      <p:sp>
        <p:nvSpPr>
          <p:cNvPr id="6" name="Oval 5"/>
          <p:cNvSpPr/>
          <p:nvPr/>
        </p:nvSpPr>
        <p:spPr>
          <a:xfrm>
            <a:off x="6400800" y="2002736"/>
            <a:ext cx="530578" cy="410441"/>
          </a:xfrm>
          <a:prstGeom prst="ellipse">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8496346">
            <a:off x="6703449" y="3515333"/>
            <a:ext cx="1029333" cy="5630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8496346">
            <a:off x="6385200" y="2653195"/>
            <a:ext cx="1105890" cy="1215847"/>
          </a:xfrm>
          <a:prstGeom prst="ellipse">
            <a:avLst/>
          </a:prstGeom>
          <a:noFill/>
          <a:ln>
            <a:solidFill>
              <a:srgbClr val="261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E1BEBC7A-FD02-486B-81B5-A845787C689C}" type="slidenum">
              <a:rPr lang="zh-CN" altLang="en-US" smtClean="0"/>
              <a:t>6</a:t>
            </a:fld>
            <a:endParaRPr lang="zh-CN" altLang="en-US"/>
          </a:p>
        </p:txBody>
      </p:sp>
    </p:spTree>
    <p:extLst>
      <p:ext uri="{BB962C8B-B14F-4D97-AF65-F5344CB8AC3E}">
        <p14:creationId xmlns:p14="http://schemas.microsoft.com/office/powerpoint/2010/main" val="19751272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dissolv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9"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animBg="1"/>
      <p:bldP spid="6" grpId="1" animBg="1"/>
      <p:bldP spid="10" grpId="0" animBg="1"/>
      <p:bldP spid="10" grpId="1"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用图来分析社交网络</a:t>
            </a:r>
            <a:endParaRPr lang="en-US" dirty="0"/>
          </a:p>
        </p:txBody>
      </p:sp>
      <p:sp>
        <p:nvSpPr>
          <p:cNvPr id="3" name="Content Placeholder 2"/>
          <p:cNvSpPr>
            <a:spLocks noGrp="1"/>
          </p:cNvSpPr>
          <p:nvPr>
            <p:ph idx="1"/>
          </p:nvPr>
        </p:nvSpPr>
        <p:spPr>
          <a:xfrm>
            <a:off x="457200" y="819150"/>
            <a:ext cx="7833360" cy="3937000"/>
          </a:xfrm>
        </p:spPr>
        <p:txBody>
          <a:bodyPr/>
          <a:lstStyle/>
          <a:p>
            <a:r>
              <a:rPr lang="zh-CN" altLang="en-US" sz="2200" dirty="0"/>
              <a:t>举例：节点中心性（</a:t>
            </a:r>
            <a:r>
              <a:rPr lang="en-US" altLang="zh-CN" sz="2200" dirty="0"/>
              <a:t>Centrality</a:t>
            </a:r>
            <a:r>
              <a:rPr lang="zh-CN" altLang="en-US" sz="2200" dirty="0"/>
              <a:t>）</a:t>
            </a:r>
          </a:p>
          <a:p>
            <a:pPr lvl="1"/>
            <a:r>
              <a:rPr lang="zh-CN" altLang="en-US" sz="2000" dirty="0"/>
              <a:t>在一个社交网络中，哪些人是“</a:t>
            </a:r>
            <a:r>
              <a:rPr lang="zh-CN" altLang="en-US" sz="2000" dirty="0">
                <a:solidFill>
                  <a:srgbClr val="C00000"/>
                </a:solidFill>
              </a:rPr>
              <a:t>网红</a:t>
            </a:r>
            <a:r>
              <a:rPr lang="zh-CN" altLang="en-US" sz="2000" dirty="0"/>
              <a:t>”？</a:t>
            </a:r>
            <a:endParaRPr lang="en-US" altLang="zh-CN" sz="2000" dirty="0"/>
          </a:p>
          <a:p>
            <a:r>
              <a:rPr lang="zh-CN" altLang="en-US" sz="2200" dirty="0"/>
              <a:t>基于图模型的度量指标：</a:t>
            </a:r>
            <a:r>
              <a:rPr lang="zh-CN" altLang="en-US" sz="2200" dirty="0">
                <a:solidFill>
                  <a:srgbClr val="C00000"/>
                </a:solidFill>
              </a:rPr>
              <a:t>度中心性</a:t>
            </a:r>
            <a:endParaRPr lang="en-US" altLang="zh-CN" sz="2200" dirty="0">
              <a:solidFill>
                <a:srgbClr val="C00000"/>
              </a:solidFill>
            </a:endParaRPr>
          </a:p>
          <a:p>
            <a:pPr lvl="1"/>
            <a:r>
              <a:rPr lang="zh-CN" altLang="en-US" sz="2000" dirty="0"/>
              <a:t>节点𝑣的中心性取决于它的度，即</a:t>
            </a:r>
            <a:r>
              <a:rPr lang="zh-CN" altLang="en-US" sz="2000" dirty="0">
                <a:solidFill>
                  <a:srgbClr val="C00000"/>
                </a:solidFill>
              </a:rPr>
              <a:t>与它连接的节点个数</a:t>
            </a:r>
            <a:endParaRPr lang="en-US" sz="2000" dirty="0">
              <a:solidFill>
                <a:srgbClr val="C00000"/>
              </a:solidFill>
            </a:endParaRPr>
          </a:p>
        </p:txBody>
      </p:sp>
      <mc:AlternateContent xmlns:mc="http://schemas.openxmlformats.org/markup-compatibility/2006" xmlns:a14="http://schemas.microsoft.com/office/drawing/2010/main">
        <mc:Choice Requires="a14">
          <p:sp>
            <p:nvSpPr>
              <p:cNvPr id="4" name="Rectangle 3"/>
              <p:cNvSpPr/>
              <p:nvPr/>
            </p:nvSpPr>
            <p:spPr>
              <a:xfrm>
                <a:off x="1857922" y="2552247"/>
                <a:ext cx="1977080" cy="6785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charset="0"/>
                            </a:rPr>
                          </m:ctrlPr>
                        </m:sSubPr>
                        <m:e>
                          <m:r>
                            <a:rPr lang="en-US" altLang="zh-CN" sz="2000" i="1">
                              <a:latin typeface="Cambria Math" charset="0"/>
                            </a:rPr>
                            <m:t>𝐶</m:t>
                          </m:r>
                        </m:e>
                        <m:sub>
                          <m:r>
                            <a:rPr lang="en-US" altLang="zh-CN" sz="2000" i="1">
                              <a:latin typeface="Cambria Math" charset="0"/>
                            </a:rPr>
                            <m:t>𝐷</m:t>
                          </m:r>
                        </m:sub>
                      </m:sSub>
                      <m:d>
                        <m:dPr>
                          <m:ctrlPr>
                            <a:rPr lang="zh-CN" altLang="zh-CN" sz="2000" i="1">
                              <a:latin typeface="Cambria Math" charset="0"/>
                            </a:rPr>
                          </m:ctrlPr>
                        </m:dPr>
                        <m:e>
                          <m:r>
                            <a:rPr lang="en-US" altLang="zh-CN" sz="2000" i="1">
                              <a:latin typeface="Cambria Math" charset="0"/>
                            </a:rPr>
                            <m:t>𝑣</m:t>
                          </m:r>
                        </m:e>
                      </m:d>
                      <m:r>
                        <a:rPr lang="en-US" altLang="zh-CN" sz="2000">
                          <a:latin typeface="Cambria Math" charset="0"/>
                        </a:rPr>
                        <m:t>=</m:t>
                      </m:r>
                      <m:f>
                        <m:fPr>
                          <m:ctrlPr>
                            <a:rPr lang="zh-CN" altLang="zh-CN" sz="2000" i="1">
                              <a:latin typeface="Cambria Math" charset="0"/>
                            </a:rPr>
                          </m:ctrlPr>
                        </m:fPr>
                        <m:num>
                          <m:r>
                            <m:rPr>
                              <m:sty m:val="p"/>
                            </m:rPr>
                            <a:rPr lang="en-US" altLang="zh-CN" sz="2000">
                              <a:latin typeface="Cambria Math" charset="0"/>
                            </a:rPr>
                            <m:t>deg</m:t>
                          </m:r>
                          <m:r>
                            <a:rPr lang="en-US" altLang="zh-CN" sz="2000">
                              <a:latin typeface="Cambria Math" charset="0"/>
                            </a:rPr>
                            <m:t>⁡(</m:t>
                          </m:r>
                          <m:r>
                            <a:rPr lang="en-US" altLang="zh-CN" sz="2000" i="1">
                              <a:latin typeface="Cambria Math" charset="0"/>
                            </a:rPr>
                            <m:t>𝑣</m:t>
                          </m:r>
                          <m:r>
                            <a:rPr lang="en-US" altLang="zh-CN" sz="2000">
                              <a:latin typeface="Cambria Math" charset="0"/>
                            </a:rPr>
                            <m:t>)</m:t>
                          </m:r>
                        </m:num>
                        <m:den>
                          <m:r>
                            <a:rPr lang="en-US" altLang="zh-CN" sz="2000" i="1">
                              <a:latin typeface="Cambria Math" charset="0"/>
                            </a:rPr>
                            <m:t>𝑛</m:t>
                          </m:r>
                          <m:r>
                            <a:rPr lang="en-US" altLang="zh-CN" sz="2000" i="1">
                              <a:latin typeface="Cambria Math" charset="0"/>
                            </a:rPr>
                            <m:t>−</m:t>
                          </m:r>
                          <m:r>
                            <a:rPr lang="en-US" altLang="zh-CN" sz="2000">
                              <a:latin typeface="Cambria Math" charset="0"/>
                            </a:rPr>
                            <m:t>1</m:t>
                          </m:r>
                        </m:den>
                      </m:f>
                    </m:oMath>
                  </m:oMathPara>
                </a14:m>
                <a:endParaRPr lang="en-US" sz="2000" dirty="0"/>
              </a:p>
            </p:txBody>
          </p:sp>
        </mc:Choice>
        <mc:Fallback xmlns="">
          <p:sp>
            <p:nvSpPr>
              <p:cNvPr id="4" name="Rectangle 3"/>
              <p:cNvSpPr>
                <a:spLocks noRot="1" noChangeAspect="1" noMove="1" noResize="1" noEditPoints="1" noAdjustHandles="1" noChangeArrowheads="1" noChangeShapeType="1" noTextEdit="1"/>
              </p:cNvSpPr>
              <p:nvPr/>
            </p:nvSpPr>
            <p:spPr>
              <a:xfrm>
                <a:off x="1857922" y="2552247"/>
                <a:ext cx="1977080" cy="678584"/>
              </a:xfrm>
              <a:prstGeom prst="rect">
                <a:avLst/>
              </a:prstGeom>
              <a:blipFill rotWithShape="0">
                <a:blip r:embed="rId3"/>
                <a:stretch>
                  <a:fillRect/>
                </a:stretch>
              </a:blipFill>
            </p:spPr>
            <p:txBody>
              <a:bodyPr/>
              <a:lstStyle/>
              <a:p>
                <a:r>
                  <a:rPr lang="en-US">
                    <a:noFill/>
                  </a:rPr>
                  <a:t> </a:t>
                </a:r>
              </a:p>
            </p:txBody>
          </p:sp>
        </mc:Fallback>
      </mc:AlternateContent>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7961"/>
          <a:stretch/>
        </p:blipFill>
        <p:spPr>
          <a:xfrm>
            <a:off x="5781817" y="2445419"/>
            <a:ext cx="3168993" cy="2187541"/>
          </a:xfrm>
          <a:prstGeom prst="rect">
            <a:avLst/>
          </a:prstGeom>
        </p:spPr>
      </p:pic>
      <p:sp>
        <p:nvSpPr>
          <p:cNvPr id="9" name="Rectangle 8">
            <a:extLst>
              <a:ext uri="{FF2B5EF4-FFF2-40B4-BE49-F238E27FC236}">
                <a16:creationId xmlns="" xmlns:a16="http://schemas.microsoft.com/office/drawing/2014/main" id="{5AB094F6-731C-724B-ABD8-A0DD764CB726}"/>
              </a:ext>
            </a:extLst>
          </p:cNvPr>
          <p:cNvSpPr/>
          <p:nvPr/>
        </p:nvSpPr>
        <p:spPr>
          <a:xfrm>
            <a:off x="863513" y="3688416"/>
            <a:ext cx="4583474" cy="769441"/>
          </a:xfrm>
          <a:prstGeom prst="rect">
            <a:avLst/>
          </a:prstGeom>
        </p:spPr>
        <p:txBody>
          <a:bodyPr wrap="square">
            <a:spAutoFit/>
          </a:bodyPr>
          <a:lstStyle/>
          <a:p>
            <a:r>
              <a:rPr lang="zh-CN" altLang="en-US" sz="2200" dirty="0">
                <a:solidFill>
                  <a:srgbClr val="C00000"/>
                </a:solidFill>
                <a:effectLst/>
                <a:latin typeface="Helvetica Neue" charset="0"/>
              </a:rPr>
              <a:t>提问：节点</a:t>
            </a:r>
            <a:r>
              <a:rPr lang="en-US" altLang="zh-CN" sz="2200" dirty="0">
                <a:solidFill>
                  <a:srgbClr val="C00000"/>
                </a:solidFill>
                <a:effectLst/>
                <a:latin typeface="Helvetica Neue" charset="0"/>
              </a:rPr>
              <a:t>6</a:t>
            </a:r>
            <a:r>
              <a:rPr lang="zh-CN" altLang="en-US" sz="2200" dirty="0">
                <a:solidFill>
                  <a:srgbClr val="C00000"/>
                </a:solidFill>
                <a:effectLst/>
                <a:latin typeface="Helvetica Neue" charset="0"/>
              </a:rPr>
              <a:t>的度中心性</a:t>
            </a:r>
            <a:r>
              <a:rPr lang="zh-CN" altLang="en-US" sz="2200" dirty="0">
                <a:solidFill>
                  <a:srgbClr val="C00000"/>
                </a:solidFill>
                <a:latin typeface="Calibri" panose="020F0502020204030204" pitchFamily="34" charset="0"/>
                <a:cs typeface="Calibri" panose="020F0502020204030204" pitchFamily="34" charset="0"/>
              </a:rPr>
              <a:t>：</a:t>
            </a:r>
            <a:r>
              <a:rPr lang="zh-CN" altLang="en-US" sz="2200" dirty="0">
                <a:solidFill>
                  <a:srgbClr val="C00000"/>
                </a:solidFill>
                <a:effectLst/>
                <a:latin typeface="Calibri" panose="020F0502020204030204" pitchFamily="34" charset="0"/>
                <a:cs typeface="Calibri" panose="020F0502020204030204" pitchFamily="34" charset="0"/>
              </a:rPr>
              <a:t>  </a:t>
            </a:r>
            <a:endParaRPr lang="en-US" altLang="zh-CN" sz="2200" dirty="0">
              <a:solidFill>
                <a:srgbClr val="C00000"/>
              </a:solidFill>
              <a:effectLst/>
              <a:latin typeface="Calibri" panose="020F0502020204030204" pitchFamily="34" charset="0"/>
              <a:cs typeface="Calibri" panose="020F0502020204030204" pitchFamily="34" charset="0"/>
            </a:endParaRPr>
          </a:p>
          <a:p>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effectLst/>
                <a:latin typeface="Calibri" panose="020F0502020204030204" pitchFamily="34" charset="0"/>
                <a:cs typeface="Calibri" panose="020F0502020204030204" pitchFamily="34" charset="0"/>
              </a:rPr>
              <a:t>A</a:t>
            </a:r>
            <a:r>
              <a:rPr lang="en-US" altLang="zh-CN" sz="2200" dirty="0">
                <a:solidFill>
                  <a:srgbClr val="C00000"/>
                </a:solidFill>
                <a:latin typeface="Calibri" panose="020F0502020204030204" pitchFamily="34" charset="0"/>
                <a:cs typeface="Calibri" panose="020F0502020204030204" pitchFamily="34" charset="0"/>
              </a:rPr>
              <a:t>.</a:t>
            </a:r>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latin typeface="Calibri" panose="020F0502020204030204" pitchFamily="34" charset="0"/>
                <a:cs typeface="Calibri" panose="020F0502020204030204" pitchFamily="34" charset="0"/>
              </a:rPr>
              <a:t>0.36;</a:t>
            </a:r>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latin typeface="Calibri" panose="020F0502020204030204" pitchFamily="34" charset="0"/>
                <a:cs typeface="Calibri" panose="020F0502020204030204" pitchFamily="34" charset="0"/>
              </a:rPr>
              <a:t>B.</a:t>
            </a:r>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latin typeface="Calibri" panose="020F0502020204030204" pitchFamily="34" charset="0"/>
                <a:cs typeface="Calibri" panose="020F0502020204030204" pitchFamily="34" charset="0"/>
              </a:rPr>
              <a:t>0.4</a:t>
            </a:r>
            <a:endParaRPr lang="en-US" sz="2200" dirty="0">
              <a:solidFill>
                <a:srgbClr val="C00000"/>
              </a:solidFill>
              <a:effectLst/>
              <a:latin typeface="Calibri" panose="020F0502020204030204" pitchFamily="34" charset="0"/>
              <a:cs typeface="Calibri" panose="020F0502020204030204" pitchFamily="34" charset="0"/>
            </a:endParaRPr>
          </a:p>
        </p:txBody>
      </p:sp>
      <p:sp>
        <p:nvSpPr>
          <p:cNvPr id="10" name="Rectangle 9">
            <a:extLst>
              <a:ext uri="{FF2B5EF4-FFF2-40B4-BE49-F238E27FC236}">
                <a16:creationId xmlns="" xmlns:a16="http://schemas.microsoft.com/office/drawing/2014/main" id="{74E8C06C-41D3-EF4E-83BA-C08E0EE6BD89}"/>
              </a:ext>
            </a:extLst>
          </p:cNvPr>
          <p:cNvSpPr/>
          <p:nvPr/>
        </p:nvSpPr>
        <p:spPr>
          <a:xfrm>
            <a:off x="409574" y="3661601"/>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5" name="Oval 4"/>
          <p:cNvSpPr/>
          <p:nvPr/>
        </p:nvSpPr>
        <p:spPr>
          <a:xfrm>
            <a:off x="6932645" y="3163077"/>
            <a:ext cx="289249" cy="28924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4</a:t>
            </a:r>
            <a:endParaRPr lang="en-US"/>
          </a:p>
        </p:txBody>
      </p:sp>
      <p:cxnSp>
        <p:nvCxnSpPr>
          <p:cNvPr id="8" name="Straight Connector 7"/>
          <p:cNvCxnSpPr>
            <a:stCxn id="5" idx="7"/>
          </p:cNvCxnSpPr>
          <p:nvPr/>
        </p:nvCxnSpPr>
        <p:spPr>
          <a:xfrm flipV="1">
            <a:off x="7179534" y="2828925"/>
            <a:ext cx="324261" cy="37651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165543" y="3411543"/>
            <a:ext cx="338252" cy="37493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endCxn id="5" idx="2"/>
          </p:cNvCxnSpPr>
          <p:nvPr/>
        </p:nvCxnSpPr>
        <p:spPr>
          <a:xfrm>
            <a:off x="6843519" y="3307701"/>
            <a:ext cx="89126"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E1BEBC7A-FD02-486B-81B5-A845787C689C}" type="slidenum">
              <a:rPr lang="zh-CN" altLang="en-US" smtClean="0"/>
              <a:t>7</a:t>
            </a:fld>
            <a:endParaRPr lang="zh-CN" altLang="en-US"/>
          </a:p>
        </p:txBody>
      </p:sp>
    </p:spTree>
    <p:extLst>
      <p:ext uri="{BB962C8B-B14F-4D97-AF65-F5344CB8AC3E}">
        <p14:creationId xmlns:p14="http://schemas.microsoft.com/office/powerpoint/2010/main" val="682502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dissolv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par>
                                <p:cTn id="25" presetID="22" presetClass="entr" presetSubtype="8"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2"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righ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用图来分析社交网络</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2769" y="811530"/>
            <a:ext cx="5349581" cy="3937000"/>
          </a:xfrm>
        </p:spPr>
      </p:pic>
      <p:sp>
        <p:nvSpPr>
          <p:cNvPr id="5" name="Rectangle 4"/>
          <p:cNvSpPr/>
          <p:nvPr/>
        </p:nvSpPr>
        <p:spPr>
          <a:xfrm>
            <a:off x="6106450" y="2132955"/>
            <a:ext cx="2743199" cy="1046440"/>
          </a:xfrm>
          <a:prstGeom prst="rect">
            <a:avLst/>
          </a:prstGeom>
        </p:spPr>
        <p:txBody>
          <a:bodyPr wrap="square">
            <a:spAutoFit/>
          </a:bodyPr>
          <a:lstStyle/>
          <a:p>
            <a:pPr>
              <a:spcAft>
                <a:spcPts val="600"/>
              </a:spcAft>
              <a:defRPr/>
            </a:pPr>
            <a:r>
              <a:rPr lang="zh-CN" altLang="en-US" sz="2200" b="1" dirty="0">
                <a:latin typeface="Microsoft YaHei" charset="-122"/>
                <a:ea typeface="Microsoft YaHei" charset="-122"/>
                <a:cs typeface="Microsoft YaHei" charset="-122"/>
              </a:rPr>
              <a:t>思考：</a:t>
            </a:r>
            <a:r>
              <a:rPr lang="zh-CN" altLang="en-US" sz="2000" dirty="0">
                <a:latin typeface="Microsoft YaHei" charset="-122"/>
                <a:ea typeface="Microsoft YaHei" charset="-122"/>
                <a:cs typeface="Microsoft YaHei" charset="-122"/>
              </a:rPr>
              <a:t>从左图的度中心性的分布上你能发现什么规律？</a:t>
            </a:r>
            <a:endParaRPr lang="en-US" sz="2000" dirty="0">
              <a:solidFill>
                <a:srgbClr val="C00000"/>
              </a:solidFill>
              <a:latin typeface="Microsoft YaHei" charset="-122"/>
              <a:ea typeface="Microsoft YaHei" charset="-122"/>
              <a:cs typeface="Microsoft YaHei" charset="-122"/>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186685" y="1270997"/>
            <a:ext cx="582730" cy="582730"/>
          </a:xfrm>
          <a:prstGeom prst="rect">
            <a:avLst/>
          </a:prstGeom>
        </p:spPr>
      </p:pic>
      <p:sp>
        <p:nvSpPr>
          <p:cNvPr id="7" name="Oval 6"/>
          <p:cNvSpPr/>
          <p:nvPr/>
        </p:nvSpPr>
        <p:spPr>
          <a:xfrm rot="18496346">
            <a:off x="2720971" y="2697599"/>
            <a:ext cx="351450" cy="33823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8</a:t>
            </a:fld>
            <a:endParaRPr lang="zh-CN" altLang="en-US"/>
          </a:p>
        </p:txBody>
      </p:sp>
    </p:spTree>
    <p:extLst>
      <p:ext uri="{BB962C8B-B14F-4D97-AF65-F5344CB8AC3E}">
        <p14:creationId xmlns:p14="http://schemas.microsoft.com/office/powerpoint/2010/main" val="347147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061156" y="2065987"/>
            <a:ext cx="7213600" cy="2653786"/>
          </a:xfrm>
          <a:prstGeom prst="rect">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e the source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12644"/>
          <a:stretch/>
        </p:blipFill>
        <p:spPr bwMode="auto">
          <a:xfrm>
            <a:off x="2801703" y="2067397"/>
            <a:ext cx="4239844" cy="247695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 xmlns:a16="http://schemas.microsoft.com/office/drawing/2014/main"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节点度数的幂律分布</a:t>
            </a:r>
            <a:endParaRPr lang="en-US" dirty="0"/>
          </a:p>
        </p:txBody>
      </p:sp>
      <p:sp>
        <p:nvSpPr>
          <p:cNvPr id="3" name="Content Placeholder 2">
            <a:extLst>
              <a:ext uri="{FF2B5EF4-FFF2-40B4-BE49-F238E27FC236}">
                <a16:creationId xmlns="" xmlns:a16="http://schemas.microsoft.com/office/drawing/2014/main" id="{30608D34-8496-9140-BB2F-6C0D32D8490C}"/>
              </a:ext>
            </a:extLst>
          </p:cNvPr>
          <p:cNvSpPr>
            <a:spLocks noGrp="1"/>
          </p:cNvSpPr>
          <p:nvPr>
            <p:ph idx="1"/>
          </p:nvPr>
        </p:nvSpPr>
        <p:spPr>
          <a:xfrm>
            <a:off x="457200" y="819150"/>
            <a:ext cx="7945395" cy="1325860"/>
          </a:xfrm>
        </p:spPr>
        <p:txBody>
          <a:bodyPr>
            <a:normAutofit lnSpcReduction="10000"/>
          </a:bodyPr>
          <a:lstStyle/>
          <a:p>
            <a:r>
              <a:rPr lang="zh-CN" altLang="en-US" dirty="0"/>
              <a:t>问题：在大多数真实图（如社交图）中，节点度数呈现什么分布？</a:t>
            </a:r>
          </a:p>
          <a:p>
            <a:pPr lvl="1"/>
            <a:r>
              <a:rPr lang="en-US" altLang="zh-CN" dirty="0"/>
              <a:t>Power Law</a:t>
            </a:r>
            <a:r>
              <a:rPr lang="zh-CN" altLang="en-US" dirty="0">
                <a:solidFill>
                  <a:srgbClr val="C00000"/>
                </a:solidFill>
              </a:rPr>
              <a:t>幂律分布</a:t>
            </a:r>
            <a:r>
              <a:rPr lang="zh-CN" altLang="en-US" dirty="0"/>
              <a:t>：度量分布函数𝑃（𝐾），其中𝐾为节点度数， 𝑃（𝐾）表示度数为𝐾的节点出现的频率</a:t>
            </a:r>
          </a:p>
          <a:p>
            <a:pPr lvl="1"/>
            <a:r>
              <a:rPr lang="zh-CN" altLang="en-US" dirty="0"/>
              <a:t>著名的“二八定律”</a:t>
            </a:r>
          </a:p>
          <a:p>
            <a:endParaRPr lang="en-US" altLang="zh-CN" dirty="0"/>
          </a:p>
          <a:p>
            <a:pPr marL="0" indent="0">
              <a:buNone/>
            </a:pPr>
            <a:endParaRPr lang="en-US" altLang="zh-CN" dirty="0"/>
          </a:p>
          <a:p>
            <a:endParaRPr lang="en-US" dirty="0"/>
          </a:p>
        </p:txBody>
      </p:sp>
      <p:sp>
        <p:nvSpPr>
          <p:cNvPr id="4" name="Slide Number Placeholder 3">
            <a:extLst>
              <a:ext uri="{FF2B5EF4-FFF2-40B4-BE49-F238E27FC236}">
                <a16:creationId xmlns="" xmlns:a16="http://schemas.microsoft.com/office/drawing/2014/main" id="{945D50C0-7C6F-0542-9366-F6888A031CE1}"/>
              </a:ext>
            </a:extLst>
          </p:cNvPr>
          <p:cNvSpPr>
            <a:spLocks noGrp="1"/>
          </p:cNvSpPr>
          <p:nvPr>
            <p:ph type="sldNum" sz="quarter" idx="12"/>
          </p:nvPr>
        </p:nvSpPr>
        <p:spPr/>
        <p:txBody>
          <a:bodyPr/>
          <a:lstStyle/>
          <a:p>
            <a:fld id="{E1BEBC7A-FD02-486B-81B5-A845787C689C}" type="slidenum">
              <a:rPr lang="zh-CN" altLang="en-US" smtClean="0"/>
              <a:t>9</a:t>
            </a:fld>
            <a:endParaRPr lang="zh-CN" altLang="en-US"/>
          </a:p>
        </p:txBody>
      </p:sp>
      <p:sp>
        <p:nvSpPr>
          <p:cNvPr id="9" name="TextBox 8">
            <a:extLst>
              <a:ext uri="{FF2B5EF4-FFF2-40B4-BE49-F238E27FC236}">
                <a16:creationId xmlns="" xmlns:a16="http://schemas.microsoft.com/office/drawing/2014/main" id="{554B494E-F8D8-7D45-B74A-31C85488ECBF}"/>
              </a:ext>
            </a:extLst>
          </p:cNvPr>
          <p:cNvSpPr txBox="1"/>
          <p:nvPr/>
        </p:nvSpPr>
        <p:spPr>
          <a:xfrm>
            <a:off x="903536" y="2561613"/>
            <a:ext cx="1680653" cy="923330"/>
          </a:xfrm>
          <a:prstGeom prst="rect">
            <a:avLst/>
          </a:prstGeom>
          <a:noFill/>
        </p:spPr>
        <p:txBody>
          <a:bodyPr wrap="square" rtlCol="0">
            <a:spAutoFit/>
          </a:bodyPr>
          <a:lstStyle/>
          <a:p>
            <a:pPr algn="ctr"/>
            <a:r>
              <a:rPr lang="zh-CN" altLang="en-US" dirty="0">
                <a:latin typeface="STZhongsong" panose="02010600040101010101" pitchFamily="2" charset="-122"/>
                <a:ea typeface="STZhongsong" panose="02010600040101010101" pitchFamily="2" charset="-122"/>
              </a:rPr>
              <a:t>只有</a:t>
            </a:r>
            <a:r>
              <a:rPr lang="zh-CN" altLang="en-US" b="1" dirty="0">
                <a:solidFill>
                  <a:srgbClr val="FFC000"/>
                </a:solidFill>
                <a:latin typeface="STZhongsong" panose="02010600040101010101" pitchFamily="2" charset="-122"/>
                <a:ea typeface="STZhongsong" panose="02010600040101010101" pitchFamily="2" charset="-122"/>
              </a:rPr>
              <a:t>很少</a:t>
            </a:r>
            <a:r>
              <a:rPr lang="zh-CN" altLang="en-US" dirty="0">
                <a:latin typeface="STZhongsong" panose="02010600040101010101" pitchFamily="2" charset="-122"/>
                <a:ea typeface="STZhongsong" panose="02010600040101010101" pitchFamily="2" charset="-122"/>
              </a:rPr>
              <a:t>用户的度数很</a:t>
            </a:r>
            <a:r>
              <a:rPr lang="zh-CN" altLang="en-US" b="1" dirty="0">
                <a:solidFill>
                  <a:srgbClr val="FFC000"/>
                </a:solidFill>
                <a:latin typeface="STZhongsong" panose="02010600040101010101" pitchFamily="2" charset="-122"/>
                <a:ea typeface="STZhongsong" panose="02010600040101010101" pitchFamily="2" charset="-122"/>
              </a:rPr>
              <a:t>高</a:t>
            </a:r>
            <a:endParaRPr lang="en-US" altLang="zh-CN" b="1" dirty="0">
              <a:solidFill>
                <a:srgbClr val="FFC000"/>
              </a:solidFill>
              <a:latin typeface="STZhongsong" panose="02010600040101010101" pitchFamily="2" charset="-122"/>
              <a:ea typeface="STZhongsong" panose="02010600040101010101" pitchFamily="2" charset="-122"/>
            </a:endParaRPr>
          </a:p>
          <a:p>
            <a:pPr algn="ctr"/>
            <a:r>
              <a:rPr lang="zh-CN" altLang="en-US" dirty="0">
                <a:latin typeface="STZhongsong" panose="02010600040101010101" pitchFamily="2" charset="-122"/>
                <a:ea typeface="STZhongsong" panose="02010600040101010101" pitchFamily="2" charset="-122"/>
              </a:rPr>
              <a:t>“</a:t>
            </a:r>
            <a:r>
              <a:rPr lang="zh-CN" altLang="en-US" dirty="0">
                <a:solidFill>
                  <a:srgbClr val="C00000"/>
                </a:solidFill>
                <a:latin typeface="STZhongsong" panose="02010600040101010101" pitchFamily="2" charset="-122"/>
                <a:ea typeface="STZhongsong" panose="02010600040101010101" pitchFamily="2" charset="-122"/>
              </a:rPr>
              <a:t>头部用户</a:t>
            </a:r>
            <a:r>
              <a:rPr lang="zh-CN" altLang="en-US" dirty="0">
                <a:latin typeface="STZhongsong" panose="02010600040101010101" pitchFamily="2" charset="-122"/>
                <a:ea typeface="STZhongsong" panose="02010600040101010101" pitchFamily="2" charset="-122"/>
              </a:rPr>
              <a:t>”</a:t>
            </a:r>
            <a:endParaRPr lang="en-US" dirty="0">
              <a:latin typeface="STZhongsong" panose="02010600040101010101" pitchFamily="2" charset="-122"/>
              <a:ea typeface="STZhongsong" panose="02010600040101010101" pitchFamily="2" charset="-122"/>
            </a:endParaRPr>
          </a:p>
        </p:txBody>
      </p:sp>
      <p:sp>
        <p:nvSpPr>
          <p:cNvPr id="10" name="TextBox 9">
            <a:extLst>
              <a:ext uri="{FF2B5EF4-FFF2-40B4-BE49-F238E27FC236}">
                <a16:creationId xmlns="" xmlns:a16="http://schemas.microsoft.com/office/drawing/2014/main" id="{20003502-DFA8-DD49-BD23-050E38349DD3}"/>
              </a:ext>
            </a:extLst>
          </p:cNvPr>
          <p:cNvSpPr txBox="1"/>
          <p:nvPr/>
        </p:nvSpPr>
        <p:spPr>
          <a:xfrm>
            <a:off x="5122820" y="2459969"/>
            <a:ext cx="1918727" cy="923330"/>
          </a:xfrm>
          <a:prstGeom prst="rect">
            <a:avLst/>
          </a:prstGeom>
          <a:noFill/>
        </p:spPr>
        <p:txBody>
          <a:bodyPr wrap="square" rtlCol="0">
            <a:spAutoFit/>
          </a:bodyPr>
          <a:lstStyle/>
          <a:p>
            <a:pPr algn="ctr"/>
            <a:r>
              <a:rPr lang="zh-CN" altLang="en-US" b="1" dirty="0">
                <a:solidFill>
                  <a:srgbClr val="261E96"/>
                </a:solidFill>
                <a:latin typeface="STZhongsong" panose="02010600040101010101" pitchFamily="2" charset="-122"/>
                <a:ea typeface="STZhongsong" panose="02010600040101010101" pitchFamily="2" charset="-122"/>
              </a:rPr>
              <a:t>绝大多数</a:t>
            </a:r>
            <a:r>
              <a:rPr lang="zh-CN" altLang="en-US" dirty="0">
                <a:latin typeface="STZhongsong" panose="02010600040101010101" pitchFamily="2" charset="-122"/>
                <a:ea typeface="STZhongsong" panose="02010600040101010101" pitchFamily="2" charset="-122"/>
              </a:rPr>
              <a:t>用户的度数都很</a:t>
            </a:r>
            <a:r>
              <a:rPr lang="zh-CN" altLang="en-US" b="1" dirty="0">
                <a:solidFill>
                  <a:srgbClr val="261E96"/>
                </a:solidFill>
                <a:latin typeface="STZhongsong" panose="02010600040101010101" pitchFamily="2" charset="-122"/>
                <a:ea typeface="STZhongsong" panose="02010600040101010101" pitchFamily="2" charset="-122"/>
              </a:rPr>
              <a:t>低</a:t>
            </a:r>
            <a:endParaRPr lang="en-US" altLang="zh-CN" b="1" dirty="0">
              <a:solidFill>
                <a:srgbClr val="261E96"/>
              </a:solidFill>
              <a:latin typeface="STZhongsong" panose="02010600040101010101" pitchFamily="2" charset="-122"/>
              <a:ea typeface="STZhongsong" panose="02010600040101010101" pitchFamily="2" charset="-122"/>
            </a:endParaRPr>
          </a:p>
          <a:p>
            <a:pPr algn="ctr"/>
            <a:r>
              <a:rPr lang="zh-CN" altLang="en-US" dirty="0">
                <a:latin typeface="STZhongsong" panose="02010600040101010101" pitchFamily="2" charset="-122"/>
                <a:ea typeface="STZhongsong" panose="02010600040101010101" pitchFamily="2" charset="-122"/>
              </a:rPr>
              <a:t>“</a:t>
            </a:r>
            <a:r>
              <a:rPr lang="zh-CN" altLang="en-US" dirty="0">
                <a:solidFill>
                  <a:srgbClr val="C00000"/>
                </a:solidFill>
                <a:latin typeface="STZhongsong" panose="02010600040101010101" pitchFamily="2" charset="-122"/>
                <a:ea typeface="STZhongsong" panose="02010600040101010101" pitchFamily="2" charset="-122"/>
              </a:rPr>
              <a:t>长尾用户</a:t>
            </a:r>
            <a:r>
              <a:rPr lang="zh-CN" altLang="en-US" dirty="0">
                <a:latin typeface="STZhongsong" panose="02010600040101010101" pitchFamily="2" charset="-122"/>
                <a:ea typeface="STZhongsong" panose="02010600040101010101" pitchFamily="2" charset="-122"/>
              </a:rPr>
              <a:t>”</a:t>
            </a:r>
            <a:endParaRPr lang="en-US" dirty="0">
              <a:latin typeface="STZhongsong" panose="02010600040101010101" pitchFamily="2" charset="-122"/>
              <a:ea typeface="STZhongsong" panose="02010600040101010101" pitchFamily="2" charset="-122"/>
            </a:endParaRPr>
          </a:p>
        </p:txBody>
      </p:sp>
      <p:cxnSp>
        <p:nvCxnSpPr>
          <p:cNvPr id="11" name="Straight Arrow Connector 10">
            <a:extLst>
              <a:ext uri="{FF2B5EF4-FFF2-40B4-BE49-F238E27FC236}">
                <a16:creationId xmlns="" xmlns:a16="http://schemas.microsoft.com/office/drawing/2014/main" id="{3BF75244-903D-3243-A5B2-4B40BAE91816}"/>
              </a:ext>
            </a:extLst>
          </p:cNvPr>
          <p:cNvCxnSpPr/>
          <p:nvPr/>
        </p:nvCxnSpPr>
        <p:spPr>
          <a:xfrm>
            <a:off x="2440549" y="3023278"/>
            <a:ext cx="934829" cy="148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 xmlns:a16="http://schemas.microsoft.com/office/drawing/2014/main" id="{A204E0CD-4F4A-B646-B3FB-36F1ECF7BBF5}"/>
              </a:ext>
            </a:extLst>
          </p:cNvPr>
          <p:cNvCxnSpPr>
            <a:cxnSpLocks/>
          </p:cNvCxnSpPr>
          <p:nvPr/>
        </p:nvCxnSpPr>
        <p:spPr>
          <a:xfrm flipH="1">
            <a:off x="6112959" y="3497599"/>
            <a:ext cx="141085" cy="740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491193" y="2057228"/>
            <a:ext cx="1152880"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节点度数</a:t>
            </a:r>
            <a:r>
              <a:rPr lang="en-US" altLang="zh-CN" sz="1600" dirty="0">
                <a:latin typeface="STZhongsong" panose="02010600040101010101" pitchFamily="2" charset="-122"/>
                <a:ea typeface="STZhongsong" panose="02010600040101010101" pitchFamily="2" charset="-122"/>
              </a:rPr>
              <a:t>K</a:t>
            </a:r>
            <a:endParaRPr lang="en-US" sz="1600" dirty="0">
              <a:latin typeface="STZhongsong" panose="02010600040101010101" pitchFamily="2" charset="-122"/>
              <a:ea typeface="STZhongsong" panose="02010600040101010101" pitchFamily="2" charset="-122"/>
            </a:endParaRPr>
          </a:p>
        </p:txBody>
      </p:sp>
      <p:sp>
        <p:nvSpPr>
          <p:cNvPr id="13" name="Rectangle 12"/>
          <p:cNvSpPr/>
          <p:nvPr/>
        </p:nvSpPr>
        <p:spPr>
          <a:xfrm>
            <a:off x="7016059" y="4068845"/>
            <a:ext cx="997389"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频率</a:t>
            </a:r>
            <a:r>
              <a:rPr lang="en-US" altLang="zh-CN" sz="1600" dirty="0">
                <a:latin typeface="Microsoft YaHei" charset="-122"/>
                <a:ea typeface="Microsoft YaHei" charset="-122"/>
                <a:cs typeface="Microsoft YaHei" charset="-122"/>
              </a:rPr>
              <a:t>P(</a:t>
            </a:r>
            <a:r>
              <a:rPr lang="en-US" altLang="zh-CN" sz="1600" dirty="0">
                <a:latin typeface="STZhongsong" panose="02010600040101010101" pitchFamily="2" charset="-122"/>
                <a:ea typeface="STZhongsong" panose="02010600040101010101" pitchFamily="2" charset="-122"/>
              </a:rPr>
              <a:t>K)</a:t>
            </a:r>
            <a:endParaRPr lang="en-US" sz="1600" dirty="0">
              <a:latin typeface="STZhongsong" panose="02010600040101010101" pitchFamily="2" charset="-122"/>
              <a:ea typeface="STZhongsong" panose="02010600040101010101" pitchFamily="2" charset="-122"/>
            </a:endParaRPr>
          </a:p>
        </p:txBody>
      </p:sp>
      <p:sp>
        <p:nvSpPr>
          <p:cNvPr id="15" name="Rectangle 14"/>
          <p:cNvSpPr/>
          <p:nvPr/>
        </p:nvSpPr>
        <p:spPr>
          <a:xfrm>
            <a:off x="2823178" y="2088967"/>
            <a:ext cx="389850" cy="338554"/>
          </a:xfrm>
          <a:prstGeom prst="rect">
            <a:avLst/>
          </a:prstGeom>
          <a:solidFill>
            <a:schemeClr val="bg1"/>
          </a:solidFill>
        </p:spPr>
        <p:txBody>
          <a:bodyPr wrap="none">
            <a:spAutoFit/>
          </a:bodyPr>
          <a:lstStyle/>
          <a:p>
            <a:r>
              <a:rPr lang="zh-CN" altLang="en-US" sz="1600" b="1" dirty="0">
                <a:solidFill>
                  <a:srgbClr val="FFC000"/>
                </a:solidFill>
                <a:latin typeface="Microsoft YaHei" charset="-122"/>
                <a:ea typeface="Microsoft YaHei" charset="-122"/>
                <a:cs typeface="Microsoft YaHei" charset="-122"/>
              </a:rPr>
              <a:t>高</a:t>
            </a:r>
            <a:endParaRPr lang="en-US" sz="1600" b="1" dirty="0">
              <a:solidFill>
                <a:srgbClr val="FFC000"/>
              </a:solidFill>
              <a:latin typeface="STZhongsong" panose="02010600040101010101" pitchFamily="2" charset="-122"/>
              <a:ea typeface="STZhongsong" panose="02010600040101010101" pitchFamily="2" charset="-122"/>
            </a:endParaRPr>
          </a:p>
        </p:txBody>
      </p:sp>
      <p:sp>
        <p:nvSpPr>
          <p:cNvPr id="16" name="Rectangle 15"/>
          <p:cNvSpPr/>
          <p:nvPr/>
        </p:nvSpPr>
        <p:spPr>
          <a:xfrm>
            <a:off x="2846877" y="4128057"/>
            <a:ext cx="389850" cy="338554"/>
          </a:xfrm>
          <a:prstGeom prst="rect">
            <a:avLst/>
          </a:prstGeom>
          <a:solidFill>
            <a:schemeClr val="bg1"/>
          </a:solidFill>
        </p:spPr>
        <p:txBody>
          <a:bodyPr wrap="none">
            <a:spAutoFit/>
          </a:bodyPr>
          <a:lstStyle/>
          <a:p>
            <a:r>
              <a:rPr lang="zh-CN" altLang="en-US" sz="1600" b="1" dirty="0">
                <a:solidFill>
                  <a:srgbClr val="261E96"/>
                </a:solidFill>
                <a:latin typeface="STZhongsong" panose="02010600040101010101" pitchFamily="2" charset="-122"/>
                <a:ea typeface="STZhongsong" panose="02010600040101010101" pitchFamily="2" charset="-122"/>
              </a:rPr>
              <a:t>低</a:t>
            </a:r>
            <a:endParaRPr lang="en-US" sz="1600" b="1" dirty="0">
              <a:solidFill>
                <a:srgbClr val="261E96"/>
              </a:solidFill>
              <a:latin typeface="STZhongsong" panose="02010600040101010101" pitchFamily="2" charset="-122"/>
              <a:ea typeface="STZhongsong" panose="02010600040101010101" pitchFamily="2" charset="-122"/>
            </a:endParaRPr>
          </a:p>
        </p:txBody>
      </p:sp>
      <p:sp>
        <p:nvSpPr>
          <p:cNvPr id="18" name="Rectangle 17"/>
          <p:cNvSpPr/>
          <p:nvPr/>
        </p:nvSpPr>
        <p:spPr>
          <a:xfrm>
            <a:off x="3236726" y="4381219"/>
            <a:ext cx="513725" cy="338554"/>
          </a:xfrm>
          <a:prstGeom prst="rect">
            <a:avLst/>
          </a:prstGeom>
          <a:solidFill>
            <a:schemeClr val="bg1"/>
          </a:solidFill>
        </p:spPr>
        <p:txBody>
          <a:bodyPr wrap="square">
            <a:spAutoFit/>
          </a:bodyPr>
          <a:lstStyle/>
          <a:p>
            <a:pPr algn="ctr"/>
            <a:r>
              <a:rPr lang="zh-CN" altLang="en-US" sz="1600" b="1" dirty="0">
                <a:solidFill>
                  <a:srgbClr val="FFC000"/>
                </a:solidFill>
                <a:latin typeface="Microsoft YaHei" charset="-122"/>
                <a:ea typeface="Microsoft YaHei" charset="-122"/>
                <a:cs typeface="Microsoft YaHei" charset="-122"/>
              </a:rPr>
              <a:t>少</a:t>
            </a:r>
            <a:endParaRPr lang="en-US" sz="1600" b="1" dirty="0">
              <a:solidFill>
                <a:srgbClr val="FFC000"/>
              </a:solidFill>
              <a:latin typeface="STZhongsong" panose="02010600040101010101" pitchFamily="2" charset="-122"/>
              <a:ea typeface="STZhongsong" panose="02010600040101010101" pitchFamily="2" charset="-122"/>
            </a:endParaRPr>
          </a:p>
        </p:txBody>
      </p:sp>
      <p:sp>
        <p:nvSpPr>
          <p:cNvPr id="19" name="Rectangle 18"/>
          <p:cNvSpPr/>
          <p:nvPr/>
        </p:nvSpPr>
        <p:spPr>
          <a:xfrm>
            <a:off x="6234904" y="4381219"/>
            <a:ext cx="578834" cy="338554"/>
          </a:xfrm>
          <a:prstGeom prst="rect">
            <a:avLst/>
          </a:prstGeom>
          <a:solidFill>
            <a:schemeClr val="bg1"/>
          </a:solidFill>
        </p:spPr>
        <p:txBody>
          <a:bodyPr wrap="square">
            <a:spAutoFit/>
          </a:bodyPr>
          <a:lstStyle/>
          <a:p>
            <a:pPr algn="ctr"/>
            <a:r>
              <a:rPr lang="zh-CN" altLang="en-US" sz="1600" b="1" dirty="0">
                <a:solidFill>
                  <a:srgbClr val="261E96"/>
                </a:solidFill>
                <a:latin typeface="Microsoft YaHei" charset="-122"/>
                <a:ea typeface="Microsoft YaHei" charset="-122"/>
                <a:cs typeface="Microsoft YaHei" charset="-122"/>
              </a:rPr>
              <a:t>多</a:t>
            </a:r>
            <a:endParaRPr lang="en-US" sz="1600" b="1" dirty="0">
              <a:solidFill>
                <a:srgbClr val="261E96"/>
              </a:solidFill>
              <a:latin typeface="STZhongsong" panose="02010600040101010101" pitchFamily="2" charset="-122"/>
              <a:ea typeface="STZhongsong" panose="02010600040101010101" pitchFamily="2" charset="-122"/>
            </a:endParaRPr>
          </a:p>
        </p:txBody>
      </p:sp>
    </p:spTree>
    <p:extLst>
      <p:ext uri="{BB962C8B-B14F-4D97-AF65-F5344CB8AC3E}">
        <p14:creationId xmlns:p14="http://schemas.microsoft.com/office/powerpoint/2010/main" val="1942850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31F28BC-ECA8-3B4E-AB2B-295195CB3A4C}"/>
              </a:ext>
            </a:extLst>
          </p:cNvPr>
          <p:cNvSpPr>
            <a:spLocks noGrp="1"/>
          </p:cNvSpPr>
          <p:nvPr>
            <p:ph type="title"/>
          </p:nvPr>
        </p:nvSpPr>
        <p:spPr/>
        <p:txBody>
          <a:bodyPr/>
          <a:lstStyle/>
          <a:p>
            <a:r>
              <a:rPr lang="zh-CN" altLang="en-US" dirty="0"/>
              <a:t>案例分析：自媒体的幂律分布</a:t>
            </a:r>
            <a:endParaRPr lang="en-US" dirty="0"/>
          </a:p>
        </p:txBody>
      </p:sp>
      <p:sp>
        <p:nvSpPr>
          <p:cNvPr id="3" name="Content Placeholder 2">
            <a:extLst>
              <a:ext uri="{FF2B5EF4-FFF2-40B4-BE49-F238E27FC236}">
                <a16:creationId xmlns="" xmlns:a16="http://schemas.microsoft.com/office/drawing/2014/main" id="{9EC0BE29-C54C-3046-94F0-331788261405}"/>
              </a:ext>
            </a:extLst>
          </p:cNvPr>
          <p:cNvSpPr>
            <a:spLocks noGrp="1"/>
          </p:cNvSpPr>
          <p:nvPr>
            <p:ph idx="1"/>
          </p:nvPr>
        </p:nvSpPr>
        <p:spPr>
          <a:xfrm>
            <a:off x="457200" y="3027404"/>
            <a:ext cx="8229600" cy="1728745"/>
          </a:xfrm>
        </p:spPr>
        <p:txBody>
          <a:bodyPr>
            <a:normAutofit/>
          </a:bodyPr>
          <a:lstStyle/>
          <a:p>
            <a:r>
              <a:rPr lang="zh-CN" altLang="en-US" dirty="0"/>
              <a:t>头部账号：既得利益者，上有远虑</a:t>
            </a:r>
          </a:p>
          <a:p>
            <a:r>
              <a:rPr lang="zh-CN" altLang="en-US" dirty="0">
                <a:solidFill>
                  <a:srgbClr val="C00000"/>
                </a:solidFill>
              </a:rPr>
              <a:t>尾部账号：生无可恋，回天乏术</a:t>
            </a:r>
          </a:p>
          <a:p>
            <a:endParaRPr lang="zh-CN" altLang="en-US" dirty="0"/>
          </a:p>
          <a:p>
            <a:endParaRPr lang="en-US" dirty="0"/>
          </a:p>
        </p:txBody>
      </p:sp>
      <p:sp>
        <p:nvSpPr>
          <p:cNvPr id="4" name="Slide Number Placeholder 3">
            <a:extLst>
              <a:ext uri="{FF2B5EF4-FFF2-40B4-BE49-F238E27FC236}">
                <a16:creationId xmlns="" xmlns:a16="http://schemas.microsoft.com/office/drawing/2014/main" id="{CF4CEEB9-3547-2D46-8D7D-6749FC564AFD}"/>
              </a:ext>
            </a:extLst>
          </p:cNvPr>
          <p:cNvSpPr>
            <a:spLocks noGrp="1"/>
          </p:cNvSpPr>
          <p:nvPr>
            <p:ph type="sldNum" sz="quarter" idx="12"/>
          </p:nvPr>
        </p:nvSpPr>
        <p:spPr/>
        <p:txBody>
          <a:bodyPr/>
          <a:lstStyle/>
          <a:p>
            <a:fld id="{E1BEBC7A-FD02-486B-81B5-A845787C689C}" type="slidenum">
              <a:rPr lang="zh-CN" altLang="en-US" smtClean="0"/>
              <a:t>10</a:t>
            </a:fld>
            <a:endParaRPr lang="zh-CN" altLang="en-US"/>
          </a:p>
        </p:txBody>
      </p:sp>
      <p:pic>
        <p:nvPicPr>
          <p:cNvPr id="5" name="Content Placeholder 6">
            <a:extLst>
              <a:ext uri="{FF2B5EF4-FFF2-40B4-BE49-F238E27FC236}">
                <a16:creationId xmlns="" xmlns:a16="http://schemas.microsoft.com/office/drawing/2014/main" id="{3A4D6AC0-ADD5-AD4A-AF33-05C69D048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85377"/>
            <a:ext cx="6649426" cy="1706208"/>
          </a:xfrm>
          <a:prstGeom prst="rect">
            <a:avLst/>
          </a:prstGeom>
        </p:spPr>
      </p:pic>
      <p:sp>
        <p:nvSpPr>
          <p:cNvPr id="15" name="Rectangle 14">
            <a:extLst>
              <a:ext uri="{FF2B5EF4-FFF2-40B4-BE49-F238E27FC236}">
                <a16:creationId xmlns="" xmlns:a16="http://schemas.microsoft.com/office/drawing/2014/main" id="{0518BA0C-DDA9-5B40-A0F8-F7A9BA9904DB}"/>
              </a:ext>
            </a:extLst>
          </p:cNvPr>
          <p:cNvSpPr/>
          <p:nvPr/>
        </p:nvSpPr>
        <p:spPr>
          <a:xfrm>
            <a:off x="1208054" y="4297640"/>
            <a:ext cx="6336704" cy="369332"/>
          </a:xfrm>
          <a:prstGeom prst="rect">
            <a:avLst/>
          </a:prstGeom>
        </p:spPr>
        <p:txBody>
          <a:bodyPr wrap="square">
            <a:spAutoFit/>
          </a:bodyPr>
          <a:lstStyle/>
          <a:p>
            <a:r>
              <a:rPr lang="en-US" dirty="0">
                <a:hlinkClick r:id="rId3"/>
              </a:rPr>
              <a:t>http://www.niaogebiji.com/article-16711-1.html</a:t>
            </a:r>
            <a:endParaRPr lang="en-US" dirty="0"/>
          </a:p>
        </p:txBody>
      </p:sp>
      <p:sp>
        <p:nvSpPr>
          <p:cNvPr id="16" name="TextBox 15">
            <a:extLst>
              <a:ext uri="{FF2B5EF4-FFF2-40B4-BE49-F238E27FC236}">
                <a16:creationId xmlns="" xmlns:a16="http://schemas.microsoft.com/office/drawing/2014/main" id="{93BFCB58-3F76-1447-A0B7-F3EB83AB0367}"/>
              </a:ext>
            </a:extLst>
          </p:cNvPr>
          <p:cNvSpPr txBox="1"/>
          <p:nvPr/>
        </p:nvSpPr>
        <p:spPr>
          <a:xfrm>
            <a:off x="487974" y="4297640"/>
            <a:ext cx="877163" cy="369332"/>
          </a:xfrm>
          <a:prstGeom prst="rect">
            <a:avLst/>
          </a:prstGeom>
          <a:noFill/>
        </p:spPr>
        <p:txBody>
          <a:bodyPr wrap="none" rtlCol="0">
            <a:spAutoFit/>
          </a:bodyPr>
          <a:lstStyle/>
          <a:p>
            <a:r>
              <a:rPr lang="zh-CN" altLang="en-US" dirty="0"/>
              <a:t>来源：</a:t>
            </a:r>
            <a:endParaRPr lang="en-US" dirty="0"/>
          </a:p>
        </p:txBody>
      </p:sp>
      <p:pic>
        <p:nvPicPr>
          <p:cNvPr id="18" name="Picture 17">
            <a:extLst>
              <a:ext uri="{FF2B5EF4-FFF2-40B4-BE49-F238E27FC236}">
                <a16:creationId xmlns="" xmlns:a16="http://schemas.microsoft.com/office/drawing/2014/main" id="{FBA5AC29-F5D1-B340-A0C4-DCECECD007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3149" y="2225069"/>
            <a:ext cx="2908373" cy="2168060"/>
          </a:xfrm>
          <a:prstGeom prst="rect">
            <a:avLst/>
          </a:prstGeom>
        </p:spPr>
      </p:pic>
    </p:spTree>
    <p:extLst>
      <p:ext uri="{BB962C8B-B14F-4D97-AF65-F5344CB8AC3E}">
        <p14:creationId xmlns:p14="http://schemas.microsoft.com/office/powerpoint/2010/main" val="1548825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1312515"/>
          </a:xfrm>
        </p:spPr>
        <p:txBody>
          <a:bodyPr>
            <a:normAutofit/>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t>分析美国两党政论博客之间的</a:t>
            </a:r>
            <a:r>
              <a:rPr lang="zh-CN" altLang="en-US" dirty="0">
                <a:solidFill>
                  <a:srgbClr val="C00000"/>
                </a:solidFill>
              </a:rPr>
              <a:t>引用关系</a:t>
            </a:r>
            <a:endParaRPr lang="en-US" dirty="0">
              <a:solidFill>
                <a:srgbClr val="C00000"/>
              </a:solidFill>
            </a:endParaRPr>
          </a:p>
        </p:txBody>
      </p:sp>
      <p:sp>
        <p:nvSpPr>
          <p:cNvPr id="5" name="Rectangle 4"/>
          <p:cNvSpPr/>
          <p:nvPr/>
        </p:nvSpPr>
        <p:spPr>
          <a:xfrm>
            <a:off x="3872195" y="950540"/>
            <a:ext cx="4990454" cy="584775"/>
          </a:xfrm>
          <a:prstGeom prst="rect">
            <a:avLst/>
          </a:prstGeom>
        </p:spPr>
        <p:txBody>
          <a:bodyPr wrap="square">
            <a:spAutoFit/>
          </a:bodyPr>
          <a:lstStyle/>
          <a:p>
            <a:r>
              <a:rPr lang="en-US" altLang="zh-CN" sz="1600" dirty="0">
                <a:latin typeface="Microsoft YaHei" charset="-122"/>
                <a:ea typeface="Microsoft YaHei" charset="-122"/>
              </a:rPr>
              <a:t>2004</a:t>
            </a:r>
            <a:r>
              <a:rPr lang="zh-CN" altLang="en-US" sz="1600" dirty="0">
                <a:latin typeface="Microsoft YaHei" charset="-122"/>
                <a:ea typeface="Microsoft YaHei" charset="-122"/>
              </a:rPr>
              <a:t>年美国大选前，政治博客之间的链接网络</a:t>
            </a:r>
            <a:endParaRPr lang="en-US" altLang="ja-JP" sz="1600" dirty="0">
              <a:latin typeface="Microsoft YaHei" charset="-122"/>
              <a:ea typeface="Microsoft YaHei" charset="-122"/>
            </a:endParaRPr>
          </a:p>
          <a:p>
            <a:r>
              <a:rPr lang="zh-CN" altLang="en-US" sz="1600" dirty="0">
                <a:solidFill>
                  <a:srgbClr val="AE0627"/>
                </a:solidFill>
                <a:latin typeface="Microsoft YaHei" charset="-122"/>
                <a:ea typeface="Microsoft YaHei" charset="-122"/>
              </a:rPr>
              <a:t>你能发现什么特点？</a:t>
            </a:r>
            <a:endParaRPr lang="en-US" sz="1600" dirty="0">
              <a:solidFill>
                <a:srgbClr val="AE0627"/>
              </a:solidFill>
            </a:endParaRPr>
          </a:p>
        </p:txBody>
      </p:sp>
      <p:sp>
        <p:nvSpPr>
          <p:cNvPr id="7" name="TextBox 6"/>
          <p:cNvSpPr txBox="1"/>
          <p:nvPr/>
        </p:nvSpPr>
        <p:spPr>
          <a:xfrm>
            <a:off x="4097437" y="4590900"/>
            <a:ext cx="5046564"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[http://www-</a:t>
            </a:r>
            <a:r>
              <a:rPr lang="en-US" altLang="zh-CN" sz="1200" dirty="0" err="1">
                <a:solidFill>
                  <a:schemeClr val="tx1">
                    <a:lumMod val="50000"/>
                    <a:lumOff val="50000"/>
                  </a:schemeClr>
                </a:solidFill>
              </a:rPr>
              <a:t>personal.umich.edu</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ladamic</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img</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politicalblogs.jpg</a:t>
            </a:r>
            <a:r>
              <a:rPr lang="en-US" altLang="zh-CN" sz="1200" dirty="0">
                <a:solidFill>
                  <a:schemeClr val="tx1">
                    <a:lumMod val="50000"/>
                    <a:lumOff val="50000"/>
                  </a:schemeClr>
                </a:solidFill>
              </a:rPr>
              <a:t>]</a:t>
            </a:r>
            <a:endParaRPr lang="en-US" sz="1200" dirty="0">
              <a:solidFill>
                <a:schemeClr val="tx1">
                  <a:lumMod val="50000"/>
                  <a:lumOff val="50000"/>
                </a:schemeClr>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7437" y="1535314"/>
            <a:ext cx="4742905" cy="3055585"/>
          </a:xfrm>
          <a:prstGeom prst="rect">
            <a:avLst/>
          </a:prstGeom>
        </p:spPr>
      </p:pic>
      <p:sp>
        <p:nvSpPr>
          <p:cNvPr id="6" name="TextBox 5"/>
          <p:cNvSpPr txBox="1"/>
          <p:nvPr/>
        </p:nvSpPr>
        <p:spPr>
          <a:xfrm>
            <a:off x="4133418" y="3786038"/>
            <a:ext cx="877163" cy="369332"/>
          </a:xfrm>
          <a:prstGeom prst="rect">
            <a:avLst/>
          </a:prstGeom>
          <a:noFill/>
        </p:spPr>
        <p:txBody>
          <a:bodyPr wrap="none" rtlCol="0">
            <a:spAutoFit/>
          </a:bodyPr>
          <a:lstStyle/>
          <a:p>
            <a:r>
              <a:rPr lang="zh-CN" altLang="en-US" b="1">
                <a:solidFill>
                  <a:srgbClr val="261E96"/>
                </a:solidFill>
                <a:latin typeface="Microsoft YaHei" charset="-122"/>
                <a:ea typeface="Microsoft YaHei" charset="-122"/>
                <a:cs typeface="Microsoft YaHei" charset="-122"/>
              </a:rPr>
              <a:t>民主党</a:t>
            </a:r>
            <a:endParaRPr lang="en-US" b="1" dirty="0">
              <a:solidFill>
                <a:srgbClr val="261E96"/>
              </a:solidFill>
              <a:latin typeface="Microsoft YaHei" charset="-122"/>
              <a:ea typeface="Microsoft YaHei" charset="-122"/>
              <a:cs typeface="Microsoft YaHei" charset="-122"/>
            </a:endParaRPr>
          </a:p>
        </p:txBody>
      </p:sp>
      <p:sp>
        <p:nvSpPr>
          <p:cNvPr id="8" name="TextBox 7"/>
          <p:cNvSpPr txBox="1"/>
          <p:nvPr/>
        </p:nvSpPr>
        <p:spPr>
          <a:xfrm>
            <a:off x="7963179" y="3786038"/>
            <a:ext cx="877163" cy="369332"/>
          </a:xfrm>
          <a:prstGeom prst="rect">
            <a:avLst/>
          </a:prstGeom>
          <a:noFill/>
        </p:spPr>
        <p:txBody>
          <a:bodyPr wrap="none" rtlCol="0">
            <a:spAutoFit/>
          </a:bodyPr>
          <a:lstStyle/>
          <a:p>
            <a:r>
              <a:rPr lang="zh-CN" altLang="en-US" b="1" dirty="0">
                <a:solidFill>
                  <a:srgbClr val="FD2A10"/>
                </a:solidFill>
                <a:latin typeface="Microsoft YaHei" charset="-122"/>
                <a:ea typeface="Microsoft YaHei" charset="-122"/>
                <a:cs typeface="Microsoft YaHei" charset="-122"/>
              </a:rPr>
              <a:t>共和党</a:t>
            </a:r>
            <a:endParaRPr lang="en-US" b="1" dirty="0">
              <a:solidFill>
                <a:srgbClr val="FD2A10"/>
              </a:solidFill>
              <a:latin typeface="Microsoft YaHei" charset="-122"/>
              <a:ea typeface="Microsoft YaHei" charset="-122"/>
              <a:cs typeface="Microsoft YaHei" charset="-122"/>
            </a:endParaRPr>
          </a:p>
        </p:txBody>
      </p:sp>
      <p:sp>
        <p:nvSpPr>
          <p:cNvPr id="9" name="TextBox 8"/>
          <p:cNvSpPr txBox="1"/>
          <p:nvPr/>
        </p:nvSpPr>
        <p:spPr>
          <a:xfrm>
            <a:off x="5540936" y="3985874"/>
            <a:ext cx="2159566" cy="430887"/>
          </a:xfrm>
          <a:prstGeom prst="rect">
            <a:avLst/>
          </a:prstGeom>
          <a:solidFill>
            <a:schemeClr val="bg1"/>
          </a:solidFill>
          <a:ln>
            <a:solidFill>
              <a:srgbClr val="C00000"/>
            </a:solidFill>
          </a:ln>
          <a:effectLst>
            <a:outerShdw blurRad="50800" dist="76200" dir="2700000" algn="tl" rotWithShape="0">
              <a:prstClr val="black">
                <a:alpha val="40000"/>
              </a:prstClr>
            </a:outerShdw>
          </a:effectLst>
        </p:spPr>
        <p:txBody>
          <a:bodyPr wrap="none" rtlCol="0">
            <a:spAutoFit/>
          </a:bodyPr>
          <a:lstStyle/>
          <a:p>
            <a:r>
              <a:rPr lang="zh-CN" altLang="en-US" sz="2200" dirty="0">
                <a:latin typeface="Microsoft YaHei" charset="-122"/>
                <a:ea typeface="Microsoft YaHei" charset="-122"/>
                <a:cs typeface="Microsoft YaHei" charset="-122"/>
              </a:rPr>
              <a:t>美国两党的割裂</a:t>
            </a:r>
            <a:endParaRPr lang="en-US" sz="2200" dirty="0">
              <a:latin typeface="Microsoft YaHei" charset="-122"/>
              <a:ea typeface="Microsoft YaHei" charset="-122"/>
              <a:cs typeface="Microsoft YaHei" charset="-122"/>
            </a:endParaRPr>
          </a:p>
        </p:txBody>
      </p:sp>
      <p:sp>
        <p:nvSpPr>
          <p:cNvPr id="10" name="Slide Number Placeholder 9"/>
          <p:cNvSpPr>
            <a:spLocks noGrp="1"/>
          </p:cNvSpPr>
          <p:nvPr>
            <p:ph type="sldNum" sz="quarter" idx="12"/>
          </p:nvPr>
        </p:nvSpPr>
        <p:spPr/>
        <p:txBody>
          <a:bodyPr/>
          <a:lstStyle/>
          <a:p>
            <a:fld id="{E1BEBC7A-FD02-486B-81B5-A845787C689C}" type="slidenum">
              <a:rPr lang="zh-CN" altLang="en-US" smtClean="0"/>
              <a:t>11</a:t>
            </a:fld>
            <a:endParaRPr lang="zh-CN" altLang="en-US"/>
          </a:p>
        </p:txBody>
      </p:sp>
    </p:spTree>
    <p:extLst>
      <p:ext uri="{BB962C8B-B14F-4D97-AF65-F5344CB8AC3E}">
        <p14:creationId xmlns:p14="http://schemas.microsoft.com/office/powerpoint/2010/main" val="839346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2850025"/>
          </a:xfrm>
        </p:spPr>
        <p:txBody>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t>分析国与国之间的</a:t>
            </a:r>
            <a:r>
              <a:rPr lang="zh-CN" altLang="en-US" dirty="0">
                <a:solidFill>
                  <a:srgbClr val="C00000"/>
                </a:solidFill>
              </a:rPr>
              <a:t>经贸关系</a:t>
            </a:r>
            <a:endParaRPr lang="en-US" dirty="0">
              <a:solidFill>
                <a:srgbClr val="C00000"/>
              </a:solidFill>
            </a:endParaRPr>
          </a:p>
        </p:txBody>
      </p:sp>
      <p:sp>
        <p:nvSpPr>
          <p:cNvPr id="5" name="Rectangle 4"/>
          <p:cNvSpPr/>
          <p:nvPr/>
        </p:nvSpPr>
        <p:spPr>
          <a:xfrm>
            <a:off x="3872195" y="950540"/>
            <a:ext cx="4990454" cy="338554"/>
          </a:xfrm>
          <a:prstGeom prst="rect">
            <a:avLst/>
          </a:prstGeom>
        </p:spPr>
        <p:txBody>
          <a:bodyPr wrap="square">
            <a:spAutoFit/>
          </a:bodyPr>
          <a:lstStyle/>
          <a:p>
            <a:r>
              <a:rPr lang="zh-CN" altLang="en-US" sz="1600" dirty="0">
                <a:latin typeface="Microsoft YaHei" charset="-122"/>
                <a:ea typeface="Microsoft YaHei" charset="-122"/>
              </a:rPr>
              <a:t>国家之间贸易网络：</a:t>
            </a:r>
            <a:r>
              <a:rPr lang="zh-CN" altLang="en-US" sz="1600" dirty="0">
                <a:solidFill>
                  <a:srgbClr val="AE0627"/>
                </a:solidFill>
                <a:latin typeface="Microsoft YaHei" charset="-122"/>
                <a:ea typeface="Microsoft YaHei" charset="-122"/>
              </a:rPr>
              <a:t>地理因素对国际贸易影响巨大</a:t>
            </a:r>
            <a:endParaRPr lang="en-US" sz="1600" dirty="0">
              <a:solidFill>
                <a:srgbClr val="AE0627"/>
              </a:solidFill>
            </a:endParaRPr>
          </a:p>
        </p:txBody>
      </p:sp>
      <p:sp>
        <p:nvSpPr>
          <p:cNvPr id="7" name="TextBox 6"/>
          <p:cNvSpPr txBox="1"/>
          <p:nvPr/>
        </p:nvSpPr>
        <p:spPr>
          <a:xfrm>
            <a:off x="3484443" y="4590900"/>
            <a:ext cx="565955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a:t>
            </a:r>
            <a:r>
              <a:rPr lang="en-US" altLang="zh-CN" sz="1200" dirty="0" err="1">
                <a:solidFill>
                  <a:schemeClr val="tx1">
                    <a:lumMod val="50000"/>
                    <a:lumOff val="50000"/>
                  </a:schemeClr>
                </a:solidFill>
              </a:rPr>
              <a:t>www.cmu.edu</a:t>
            </a:r>
            <a:r>
              <a:rPr lang="en-US" altLang="zh-CN" sz="1200" dirty="0">
                <a:solidFill>
                  <a:schemeClr val="tx1">
                    <a:lumMod val="50000"/>
                    <a:lumOff val="50000"/>
                  </a:schemeClr>
                </a:solidFill>
              </a:rPr>
              <a:t>/joss/content/articles/volume4/</a:t>
            </a:r>
            <a:r>
              <a:rPr lang="en-US" altLang="zh-CN" sz="1200" dirty="0" err="1">
                <a:solidFill>
                  <a:schemeClr val="tx1">
                    <a:lumMod val="50000"/>
                    <a:lumOff val="50000"/>
                  </a:schemeClr>
                </a:solidFill>
              </a:rPr>
              <a:t>KrempelPlumper.html</a:t>
            </a:r>
            <a:r>
              <a:rPr lang="en-US" altLang="zh-CN" sz="1200" dirty="0">
                <a:solidFill>
                  <a:schemeClr val="tx1">
                    <a:lumMod val="50000"/>
                    <a:lumOff val="50000"/>
                  </a:schemeClr>
                </a:solidFill>
              </a:rPr>
              <a:t>]</a:t>
            </a:r>
            <a:endParaRPr lang="en-US" sz="1200" dirty="0">
              <a:solidFill>
                <a:schemeClr val="tx1">
                  <a:lumMod val="50000"/>
                  <a:lumOff val="50000"/>
                </a:schemeClr>
              </a:solidFill>
            </a:endParaRPr>
          </a:p>
        </p:txBody>
      </p:sp>
      <p:pic>
        <p:nvPicPr>
          <p:cNvPr id="9" name="Picture 8" descr="page24image48999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51257" y="1289094"/>
            <a:ext cx="4432329" cy="3324587"/>
          </a:xfrm>
          <a:prstGeom prst="rect">
            <a:avLst/>
          </a:prstGeom>
          <a:noFill/>
        </p:spPr>
      </p:pic>
      <p:sp>
        <p:nvSpPr>
          <p:cNvPr id="4" name="Rectangle 3"/>
          <p:cNvSpPr/>
          <p:nvPr/>
        </p:nvSpPr>
        <p:spPr>
          <a:xfrm>
            <a:off x="350801" y="3183310"/>
            <a:ext cx="3413850" cy="1477328"/>
          </a:xfrm>
          <a:prstGeom prst="rect">
            <a:avLst/>
          </a:prstGeom>
        </p:spPr>
        <p:txBody>
          <a:bodyPr wrap="square">
            <a:spAutoFit/>
          </a:bodyPr>
          <a:lstStyle/>
          <a:p>
            <a:pPr>
              <a:defRPr/>
            </a:pPr>
            <a:r>
              <a:rPr lang="ja-JP" altLang="en-US" kern="0" dirty="0">
                <a:latin typeface="Microsoft YaHei" panose="020B0503020204020204" pitchFamily="34" charset="-122"/>
                <a:ea typeface="Microsoft YaHei" panose="020B0503020204020204" pitchFamily="34" charset="-122"/>
              </a:rPr>
              <a:t>节点大小</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贸易总额</a:t>
            </a: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边的粗细</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所连接两个国家之间的贸易额</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solidFill>
                  <a:srgbClr val="C00000"/>
                </a:solidFill>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p:txBody>
      </p:sp>
      <p:cxnSp>
        <p:nvCxnSpPr>
          <p:cNvPr id="11" name="Straight Arrow Connector 10"/>
          <p:cNvCxnSpPr/>
          <p:nvPr/>
        </p:nvCxnSpPr>
        <p:spPr>
          <a:xfrm flipV="1">
            <a:off x="3344586" y="3069010"/>
            <a:ext cx="700271" cy="35662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6" name="Rectangle 5"/>
          <p:cNvSpPr/>
          <p:nvPr/>
        </p:nvSpPr>
        <p:spPr>
          <a:xfrm>
            <a:off x="5260932" y="1289094"/>
            <a:ext cx="1665961" cy="7902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314222" y="2544883"/>
            <a:ext cx="1364233" cy="19339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389574" y="2368118"/>
            <a:ext cx="1364233" cy="16385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882789" y="1775973"/>
            <a:ext cx="646331" cy="369332"/>
          </a:xfrm>
          <a:prstGeom prst="rect">
            <a:avLst/>
          </a:prstGeom>
          <a:noFill/>
        </p:spPr>
        <p:txBody>
          <a:bodyPr wrap="none" rtlCol="0">
            <a:spAutoFit/>
          </a:bodyPr>
          <a:lstStyle/>
          <a:p>
            <a:r>
              <a:rPr lang="zh-CN" altLang="en-US" b="1">
                <a:solidFill>
                  <a:srgbClr val="FF0000"/>
                </a:solidFill>
              </a:rPr>
              <a:t>美洲</a:t>
            </a:r>
            <a:endParaRPr lang="en-US" b="1" dirty="0">
              <a:solidFill>
                <a:srgbClr val="FF0000"/>
              </a:solidFill>
            </a:endParaRPr>
          </a:p>
        </p:txBody>
      </p:sp>
      <p:sp>
        <p:nvSpPr>
          <p:cNvPr id="13" name="TextBox 12"/>
          <p:cNvSpPr txBox="1"/>
          <p:nvPr/>
        </p:nvSpPr>
        <p:spPr>
          <a:xfrm>
            <a:off x="4325066" y="4006656"/>
            <a:ext cx="646331" cy="369332"/>
          </a:xfrm>
          <a:prstGeom prst="rect">
            <a:avLst/>
          </a:prstGeom>
          <a:noFill/>
        </p:spPr>
        <p:txBody>
          <a:bodyPr wrap="none" rtlCol="0">
            <a:spAutoFit/>
          </a:bodyPr>
          <a:lstStyle/>
          <a:p>
            <a:r>
              <a:rPr lang="zh-CN" altLang="en-US" b="1" dirty="0">
                <a:solidFill>
                  <a:srgbClr val="FF0000"/>
                </a:solidFill>
              </a:rPr>
              <a:t>欧洲</a:t>
            </a:r>
            <a:endParaRPr lang="en-US" b="1" dirty="0">
              <a:solidFill>
                <a:srgbClr val="FF0000"/>
              </a:solidFill>
            </a:endParaRPr>
          </a:p>
        </p:txBody>
      </p:sp>
      <p:sp>
        <p:nvSpPr>
          <p:cNvPr id="14" name="TextBox 13"/>
          <p:cNvSpPr txBox="1"/>
          <p:nvPr/>
        </p:nvSpPr>
        <p:spPr>
          <a:xfrm>
            <a:off x="7708606" y="4094356"/>
            <a:ext cx="646331" cy="369332"/>
          </a:xfrm>
          <a:prstGeom prst="rect">
            <a:avLst/>
          </a:prstGeom>
          <a:noFill/>
        </p:spPr>
        <p:txBody>
          <a:bodyPr wrap="none" rtlCol="0">
            <a:spAutoFit/>
          </a:bodyPr>
          <a:lstStyle/>
          <a:p>
            <a:r>
              <a:rPr lang="zh-CN" altLang="en-US" b="1" dirty="0">
                <a:solidFill>
                  <a:srgbClr val="FF0000"/>
                </a:solidFill>
              </a:rPr>
              <a:t>亚洲</a:t>
            </a:r>
            <a:endParaRPr lang="en-US" b="1" dirty="0">
              <a:solidFill>
                <a:srgbClr val="FF0000"/>
              </a:solidFill>
            </a:endParaRPr>
          </a:p>
        </p:txBody>
      </p:sp>
      <p:sp>
        <p:nvSpPr>
          <p:cNvPr id="15" name="Slide Number Placeholder 14"/>
          <p:cNvSpPr>
            <a:spLocks noGrp="1"/>
          </p:cNvSpPr>
          <p:nvPr>
            <p:ph type="sldNum" sz="quarter" idx="12"/>
          </p:nvPr>
        </p:nvSpPr>
        <p:spPr/>
        <p:txBody>
          <a:bodyPr/>
          <a:lstStyle/>
          <a:p>
            <a:fld id="{E1BEBC7A-FD02-486B-81B5-A845787C689C}" type="slidenum">
              <a:rPr lang="zh-CN" altLang="en-US" smtClean="0"/>
              <a:t>12</a:t>
            </a:fld>
            <a:endParaRPr lang="zh-CN" altLang="en-US"/>
          </a:p>
        </p:txBody>
      </p:sp>
    </p:spTree>
    <p:extLst>
      <p:ext uri="{BB962C8B-B14F-4D97-AF65-F5344CB8AC3E}">
        <p14:creationId xmlns:p14="http://schemas.microsoft.com/office/powerpoint/2010/main" val="1270876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dissolve">
                                      <p:cBhvr>
                                        <p:cTn id="19" dur="500"/>
                                        <p:tgtEl>
                                          <p:spTgt spid="1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8"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2850025"/>
          </a:xfrm>
        </p:spPr>
        <p:txBody>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t>分析国与国之间的</a:t>
            </a:r>
            <a:r>
              <a:rPr lang="zh-CN" altLang="en-US" dirty="0">
                <a:solidFill>
                  <a:srgbClr val="C00000"/>
                </a:solidFill>
              </a:rPr>
              <a:t>经贸关系</a:t>
            </a:r>
            <a:endParaRPr lang="en-US" dirty="0">
              <a:solidFill>
                <a:srgbClr val="C00000"/>
              </a:solidFill>
            </a:endParaRPr>
          </a:p>
        </p:txBody>
      </p:sp>
      <p:sp>
        <p:nvSpPr>
          <p:cNvPr id="5" name="Rectangle 4"/>
          <p:cNvSpPr/>
          <p:nvPr/>
        </p:nvSpPr>
        <p:spPr>
          <a:xfrm>
            <a:off x="3872195" y="950540"/>
            <a:ext cx="4990454" cy="338554"/>
          </a:xfrm>
          <a:prstGeom prst="rect">
            <a:avLst/>
          </a:prstGeom>
        </p:spPr>
        <p:txBody>
          <a:bodyPr wrap="square">
            <a:spAutoFit/>
          </a:bodyPr>
          <a:lstStyle/>
          <a:p>
            <a:r>
              <a:rPr lang="zh-CN" altLang="en-US" sz="1600" dirty="0">
                <a:latin typeface="Microsoft YaHei" charset="-122"/>
                <a:ea typeface="Microsoft YaHei" charset="-122"/>
              </a:rPr>
              <a:t>国家之间贸易网络：</a:t>
            </a:r>
            <a:r>
              <a:rPr lang="zh-CN" altLang="en-US" sz="1600" dirty="0">
                <a:solidFill>
                  <a:srgbClr val="AE0627"/>
                </a:solidFill>
                <a:latin typeface="Microsoft YaHei" charset="-122"/>
                <a:ea typeface="Microsoft YaHei" charset="-122"/>
              </a:rPr>
              <a:t>一些国家对洲际贸易十分关键</a:t>
            </a:r>
            <a:endParaRPr lang="en-US" sz="1600" dirty="0">
              <a:solidFill>
                <a:srgbClr val="AE0627"/>
              </a:solidFill>
            </a:endParaRPr>
          </a:p>
        </p:txBody>
      </p:sp>
      <p:sp>
        <p:nvSpPr>
          <p:cNvPr id="7" name="TextBox 6"/>
          <p:cNvSpPr txBox="1"/>
          <p:nvPr/>
        </p:nvSpPr>
        <p:spPr>
          <a:xfrm>
            <a:off x="3484443" y="4590900"/>
            <a:ext cx="565955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a:t>
            </a:r>
            <a:r>
              <a:rPr lang="en-US" altLang="zh-CN" sz="1200" dirty="0" err="1">
                <a:solidFill>
                  <a:schemeClr val="tx1">
                    <a:lumMod val="50000"/>
                    <a:lumOff val="50000"/>
                  </a:schemeClr>
                </a:solidFill>
              </a:rPr>
              <a:t>www.cmu.edu</a:t>
            </a:r>
            <a:r>
              <a:rPr lang="en-US" altLang="zh-CN" sz="1200" dirty="0">
                <a:solidFill>
                  <a:schemeClr val="tx1">
                    <a:lumMod val="50000"/>
                    <a:lumOff val="50000"/>
                  </a:schemeClr>
                </a:solidFill>
              </a:rPr>
              <a:t>/joss/content/articles/volume4/</a:t>
            </a:r>
            <a:r>
              <a:rPr lang="en-US" altLang="zh-CN" sz="1200" dirty="0" err="1">
                <a:solidFill>
                  <a:schemeClr val="tx1">
                    <a:lumMod val="50000"/>
                    <a:lumOff val="50000"/>
                  </a:schemeClr>
                </a:solidFill>
              </a:rPr>
              <a:t>KrempelPlumper.html</a:t>
            </a:r>
            <a:r>
              <a:rPr lang="en-US" altLang="zh-CN" sz="1200" dirty="0">
                <a:solidFill>
                  <a:schemeClr val="tx1">
                    <a:lumMod val="50000"/>
                    <a:lumOff val="50000"/>
                  </a:schemeClr>
                </a:solidFill>
              </a:rPr>
              <a:t>]</a:t>
            </a:r>
            <a:endParaRPr lang="en-US" sz="1200" dirty="0">
              <a:solidFill>
                <a:schemeClr val="tx1">
                  <a:lumMod val="50000"/>
                  <a:lumOff val="50000"/>
                </a:schemeClr>
              </a:solidFill>
            </a:endParaRPr>
          </a:p>
        </p:txBody>
      </p:sp>
      <p:pic>
        <p:nvPicPr>
          <p:cNvPr id="9" name="Picture 8" descr="page24image48999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51257" y="1289094"/>
            <a:ext cx="4432329" cy="3324587"/>
          </a:xfrm>
          <a:prstGeom prst="rect">
            <a:avLst/>
          </a:prstGeom>
          <a:noFill/>
        </p:spPr>
      </p:pic>
      <p:sp>
        <p:nvSpPr>
          <p:cNvPr id="4" name="Rectangle 3"/>
          <p:cNvSpPr/>
          <p:nvPr/>
        </p:nvSpPr>
        <p:spPr>
          <a:xfrm>
            <a:off x="350801" y="3183310"/>
            <a:ext cx="3413850" cy="1477328"/>
          </a:xfrm>
          <a:prstGeom prst="rect">
            <a:avLst/>
          </a:prstGeom>
        </p:spPr>
        <p:txBody>
          <a:bodyPr wrap="square">
            <a:spAutoFit/>
          </a:bodyPr>
          <a:lstStyle/>
          <a:p>
            <a:pPr>
              <a:defRPr/>
            </a:pPr>
            <a:r>
              <a:rPr lang="ja-JP" altLang="en-US" kern="0" dirty="0">
                <a:latin typeface="Microsoft YaHei" panose="020B0503020204020204" pitchFamily="34" charset="-122"/>
                <a:ea typeface="Microsoft YaHei" panose="020B0503020204020204" pitchFamily="34" charset="-122"/>
              </a:rPr>
              <a:t>节点大小</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贸易总额</a:t>
            </a: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边的粗细</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所连接两个国家之间的贸易额</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solidFill>
                  <a:srgbClr val="C00000"/>
                </a:solidFill>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p:txBody>
      </p:sp>
      <p:cxnSp>
        <p:nvCxnSpPr>
          <p:cNvPr id="11" name="Straight Arrow Connector 10"/>
          <p:cNvCxnSpPr/>
          <p:nvPr/>
        </p:nvCxnSpPr>
        <p:spPr>
          <a:xfrm flipV="1">
            <a:off x="3344586" y="3069010"/>
            <a:ext cx="700271" cy="35662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6" name="Rectangle 5"/>
          <p:cNvSpPr/>
          <p:nvPr/>
        </p:nvSpPr>
        <p:spPr>
          <a:xfrm rot="2066375">
            <a:off x="5077545" y="1902267"/>
            <a:ext cx="2599205" cy="7568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p:cNvSpPr>
            <a:spLocks noGrp="1"/>
          </p:cNvSpPr>
          <p:nvPr>
            <p:ph type="sldNum" sz="quarter" idx="12"/>
          </p:nvPr>
        </p:nvSpPr>
        <p:spPr/>
        <p:txBody>
          <a:bodyPr/>
          <a:lstStyle/>
          <a:p>
            <a:fld id="{E1BEBC7A-FD02-486B-81B5-A845787C689C}" type="slidenum">
              <a:rPr lang="zh-CN" altLang="en-US" smtClean="0"/>
              <a:t>13</a:t>
            </a:fld>
            <a:endParaRPr lang="zh-CN" altLang="en-US"/>
          </a:p>
        </p:txBody>
      </p:sp>
    </p:spTree>
    <p:extLst>
      <p:ext uri="{BB962C8B-B14F-4D97-AF65-F5344CB8AC3E}">
        <p14:creationId xmlns:p14="http://schemas.microsoft.com/office/powerpoint/2010/main" val="1130108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5" name="Rectangle 4"/>
          <p:cNvSpPr/>
          <p:nvPr/>
        </p:nvSpPr>
        <p:spPr>
          <a:xfrm>
            <a:off x="3872195" y="819150"/>
            <a:ext cx="4990454" cy="338554"/>
          </a:xfrm>
          <a:prstGeom prst="rect">
            <a:avLst/>
          </a:prstGeom>
        </p:spPr>
        <p:txBody>
          <a:bodyPr wrap="square">
            <a:spAutoFit/>
          </a:bodyPr>
          <a:lstStyle/>
          <a:p>
            <a:r>
              <a:rPr lang="zh-CN" altLang="en-US" sz="1600" dirty="0">
                <a:latin typeface="Microsoft YaHei" charset="-122"/>
                <a:ea typeface="Microsoft YaHei" charset="-122"/>
              </a:rPr>
              <a:t>唐朝诗人的唱和关系</a:t>
            </a:r>
            <a:endParaRPr lang="en-US" sz="1600" dirty="0">
              <a:solidFill>
                <a:srgbClr val="AE0627"/>
              </a:solidFill>
            </a:endParaRPr>
          </a:p>
        </p:txBody>
      </p:sp>
      <p:sp>
        <p:nvSpPr>
          <p:cNvPr id="9" name="Rectangle 8"/>
          <p:cNvSpPr/>
          <p:nvPr/>
        </p:nvSpPr>
        <p:spPr>
          <a:xfrm>
            <a:off x="4203798" y="1170956"/>
            <a:ext cx="4327248" cy="3693319"/>
          </a:xfrm>
          <a:prstGeom prst="rect">
            <a:avLst/>
          </a:prstGeom>
        </p:spPr>
        <p:txBody>
          <a:bodyPr wrap="square">
            <a:spAutoFit/>
          </a:bodyPr>
          <a:lstStyle/>
          <a:p>
            <a:pPr algn="ctr"/>
            <a:r>
              <a:rPr lang="en-US" dirty="0">
                <a:latin typeface="STZhongsong" charset="-122"/>
                <a:ea typeface="STZhongsong" charset="-122"/>
                <a:cs typeface="STZhongsong" charset="-122"/>
              </a:rPr>
              <a:t>醉赠刘二十八使君</a:t>
            </a:r>
          </a:p>
          <a:p>
            <a:pPr algn="ctr"/>
            <a:r>
              <a:rPr lang="en-US" dirty="0">
                <a:latin typeface="STZhongsong" charset="-122"/>
                <a:ea typeface="STZhongsong" charset="-122"/>
                <a:cs typeface="STZhongsong" charset="-122"/>
              </a:rPr>
              <a:t>【作者】白居易</a:t>
            </a:r>
          </a:p>
          <a:p>
            <a:pPr algn="ctr"/>
            <a:r>
              <a:rPr lang="en-US" dirty="0">
                <a:latin typeface="STZhongsong" charset="-122"/>
                <a:ea typeface="STZhongsong" charset="-122"/>
                <a:cs typeface="STZhongsong" charset="-122"/>
              </a:rPr>
              <a:t>为我引杯添酒饮，与君把箸击盘歌。</a:t>
            </a:r>
          </a:p>
          <a:p>
            <a:pPr algn="ctr"/>
            <a:r>
              <a:rPr lang="en-US" dirty="0">
                <a:latin typeface="STZhongsong" charset="-122"/>
                <a:ea typeface="STZhongsong" charset="-122"/>
                <a:cs typeface="STZhongsong" charset="-122"/>
              </a:rPr>
              <a:t>诗称国手徒为尔，命压人头不奈何。</a:t>
            </a:r>
          </a:p>
          <a:p>
            <a:pPr algn="ctr"/>
            <a:r>
              <a:rPr lang="en-US" dirty="0">
                <a:latin typeface="STZhongsong" charset="-122"/>
                <a:ea typeface="STZhongsong" charset="-122"/>
                <a:cs typeface="STZhongsong" charset="-122"/>
              </a:rPr>
              <a:t>举眼风光长寂寞，满朝官职独蹉跎。</a:t>
            </a:r>
          </a:p>
          <a:p>
            <a:pPr algn="ctr"/>
            <a:r>
              <a:rPr lang="en-US" dirty="0">
                <a:latin typeface="STZhongsong" charset="-122"/>
                <a:ea typeface="STZhongsong" charset="-122"/>
                <a:cs typeface="STZhongsong" charset="-122"/>
              </a:rPr>
              <a:t>亦知合被才名折，二十三年折太多。</a:t>
            </a:r>
          </a:p>
          <a:p>
            <a:pPr algn="ctr"/>
            <a:endParaRPr lang="en-US" dirty="0">
              <a:latin typeface="STZhongsong" charset="-122"/>
              <a:ea typeface="STZhongsong" charset="-122"/>
              <a:cs typeface="STZhongsong" charset="-122"/>
            </a:endParaRPr>
          </a:p>
          <a:p>
            <a:pPr algn="ctr"/>
            <a:r>
              <a:rPr lang="en-US" dirty="0">
                <a:latin typeface="STZhongsong" charset="-122"/>
                <a:ea typeface="STZhongsong" charset="-122"/>
                <a:cs typeface="STZhongsong" charset="-122"/>
              </a:rPr>
              <a:t>酬乐天扬州初逢席上见赠</a:t>
            </a:r>
          </a:p>
          <a:p>
            <a:pPr algn="ctr"/>
            <a:r>
              <a:rPr lang="en-US" dirty="0">
                <a:latin typeface="STZhongsong" charset="-122"/>
                <a:ea typeface="STZhongsong" charset="-122"/>
                <a:cs typeface="STZhongsong" charset="-122"/>
              </a:rPr>
              <a:t>【作者】刘禹锡</a:t>
            </a:r>
          </a:p>
          <a:p>
            <a:pPr algn="ctr"/>
            <a:r>
              <a:rPr lang="en-US" dirty="0">
                <a:latin typeface="STZhongsong" charset="-122"/>
                <a:ea typeface="STZhongsong" charset="-122"/>
                <a:cs typeface="STZhongsong" charset="-122"/>
              </a:rPr>
              <a:t>巴山楚水凄凉地，二十三年弃置身。</a:t>
            </a:r>
          </a:p>
          <a:p>
            <a:pPr algn="ctr"/>
            <a:r>
              <a:rPr lang="en-US" dirty="0">
                <a:latin typeface="STZhongsong" charset="-122"/>
                <a:ea typeface="STZhongsong" charset="-122"/>
                <a:cs typeface="STZhongsong" charset="-122"/>
              </a:rPr>
              <a:t>怀旧空吟闻笛赋，到乡翻似烂柯人。</a:t>
            </a:r>
          </a:p>
          <a:p>
            <a:pPr algn="ctr"/>
            <a:r>
              <a:rPr lang="en-US" dirty="0">
                <a:latin typeface="STZhongsong" charset="-122"/>
                <a:ea typeface="STZhongsong" charset="-122"/>
                <a:cs typeface="STZhongsong" charset="-122"/>
              </a:rPr>
              <a:t>沉舟侧畔千帆过，病树前头万木春。</a:t>
            </a:r>
          </a:p>
          <a:p>
            <a:pPr algn="ctr"/>
            <a:r>
              <a:rPr lang="en-US" dirty="0">
                <a:latin typeface="STZhongsong" charset="-122"/>
                <a:ea typeface="STZhongsong" charset="-122"/>
                <a:cs typeface="STZhongsong" charset="-122"/>
              </a:rPr>
              <a:t>今日听君歌一曲，暂凭杯酒长精神。</a:t>
            </a:r>
          </a:p>
        </p:txBody>
      </p:sp>
      <p:sp>
        <p:nvSpPr>
          <p:cNvPr id="4" name="Content Placeholder 3"/>
          <p:cNvSpPr>
            <a:spLocks noGrp="1"/>
          </p:cNvSpPr>
          <p:nvPr>
            <p:ph idx="1"/>
          </p:nvPr>
        </p:nvSpPr>
        <p:spPr>
          <a:xfrm>
            <a:off x="457200" y="819150"/>
            <a:ext cx="3266661" cy="2666172"/>
          </a:xfrm>
        </p:spPr>
        <p:txBody>
          <a:bodyPr/>
          <a:lstStyle/>
          <a:p>
            <a:endParaRPr lang="en-US" dirty="0"/>
          </a:p>
        </p:txBody>
      </p:sp>
      <p:sp>
        <p:nvSpPr>
          <p:cNvPr id="8" name="Content Placeholder 2"/>
          <p:cNvSpPr txBox="1">
            <a:spLocks/>
          </p:cNvSpPr>
          <p:nvPr/>
        </p:nvSpPr>
        <p:spPr>
          <a:xfrm>
            <a:off x="457200" y="819150"/>
            <a:ext cx="3027243" cy="28500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a:t>使用图模型分析</a:t>
            </a:r>
            <a:r>
              <a:rPr lang="zh-CN" altLang="en-US">
                <a:solidFill>
                  <a:srgbClr val="C00000"/>
                </a:solidFill>
              </a:rPr>
              <a:t>不同领域</a:t>
            </a:r>
            <a:r>
              <a:rPr lang="zh-CN" altLang="en-US"/>
              <a:t>的网络大数据：</a:t>
            </a:r>
            <a:endParaRPr lang="en-US" altLang="zh-CN"/>
          </a:p>
          <a:p>
            <a:pPr lvl="1"/>
            <a:r>
              <a:rPr lang="zh-CN" altLang="en-US">
                <a:solidFill>
                  <a:schemeClr val="tx1">
                    <a:lumMod val="50000"/>
                    <a:lumOff val="50000"/>
                  </a:schemeClr>
                </a:solidFill>
              </a:rPr>
              <a:t>分析美国两党政论博客之间的引用关系</a:t>
            </a:r>
            <a:endParaRPr lang="en-US">
              <a:solidFill>
                <a:schemeClr val="tx1">
                  <a:lumMod val="50000"/>
                  <a:lumOff val="50000"/>
                </a:schemeClr>
              </a:solidFill>
            </a:endParaRPr>
          </a:p>
          <a:p>
            <a:pPr lvl="1"/>
            <a:r>
              <a:rPr lang="zh-CN" altLang="en-US">
                <a:solidFill>
                  <a:schemeClr val="tx1">
                    <a:lumMod val="50000"/>
                    <a:lumOff val="50000"/>
                  </a:schemeClr>
                </a:solidFill>
              </a:rPr>
              <a:t>分析国与国之间的经贸关系</a:t>
            </a:r>
            <a:endParaRPr lang="en-US" altLang="zh-CN">
              <a:solidFill>
                <a:schemeClr val="tx1">
                  <a:lumMod val="50000"/>
                  <a:lumOff val="50000"/>
                </a:schemeClr>
              </a:solidFill>
            </a:endParaRPr>
          </a:p>
          <a:p>
            <a:pPr lvl="1"/>
            <a:r>
              <a:rPr lang="zh-CN" altLang="en-US"/>
              <a:t>分析唐朝诗人之间的</a:t>
            </a:r>
            <a:r>
              <a:rPr lang="zh-CN" altLang="en-US">
                <a:solidFill>
                  <a:srgbClr val="C00000"/>
                </a:solidFill>
              </a:rPr>
              <a:t>唱和关系</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14</a:t>
            </a:fld>
            <a:endParaRPr lang="zh-CN" altLang="en-US"/>
          </a:p>
        </p:txBody>
      </p:sp>
    </p:spTree>
    <p:extLst>
      <p:ext uri="{BB962C8B-B14F-4D97-AF65-F5344CB8AC3E}">
        <p14:creationId xmlns:p14="http://schemas.microsoft.com/office/powerpoint/2010/main" val="1048945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2850025"/>
          </a:xfrm>
        </p:spPr>
        <p:txBody>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solidFill>
                  <a:schemeClr val="tx1">
                    <a:lumMod val="50000"/>
                    <a:lumOff val="50000"/>
                  </a:schemeClr>
                </a:solidFill>
              </a:rPr>
              <a:t>分析国与国之间的经贸关系</a:t>
            </a:r>
            <a:endParaRPr lang="en-US" altLang="zh-CN" dirty="0">
              <a:solidFill>
                <a:schemeClr val="tx1">
                  <a:lumMod val="50000"/>
                  <a:lumOff val="50000"/>
                </a:schemeClr>
              </a:solidFill>
            </a:endParaRPr>
          </a:p>
          <a:p>
            <a:pPr lvl="1"/>
            <a:r>
              <a:rPr lang="zh-CN" altLang="en-US" dirty="0"/>
              <a:t>分析唐朝诗人之间的</a:t>
            </a:r>
            <a:r>
              <a:rPr lang="zh-CN" altLang="en-US" dirty="0">
                <a:solidFill>
                  <a:srgbClr val="C00000"/>
                </a:solidFill>
              </a:rPr>
              <a:t>唱和关系</a:t>
            </a:r>
            <a:endParaRPr lang="en-US" dirty="0">
              <a:solidFill>
                <a:srgbClr val="C00000"/>
              </a:solidFill>
            </a:endParaRPr>
          </a:p>
        </p:txBody>
      </p:sp>
      <p:sp>
        <p:nvSpPr>
          <p:cNvPr id="5" name="Rectangle 4"/>
          <p:cNvSpPr/>
          <p:nvPr/>
        </p:nvSpPr>
        <p:spPr>
          <a:xfrm>
            <a:off x="3872195" y="950540"/>
            <a:ext cx="4990454" cy="338554"/>
          </a:xfrm>
          <a:prstGeom prst="rect">
            <a:avLst/>
          </a:prstGeom>
        </p:spPr>
        <p:txBody>
          <a:bodyPr wrap="square">
            <a:spAutoFit/>
          </a:bodyPr>
          <a:lstStyle/>
          <a:p>
            <a:r>
              <a:rPr lang="zh-CN" altLang="en-US" sz="1600" dirty="0">
                <a:latin typeface="Microsoft YaHei" charset="-122"/>
                <a:ea typeface="Microsoft YaHei" charset="-122"/>
              </a:rPr>
              <a:t>唐朝诗人的唱和关系图：节点大小表示和诗数量</a:t>
            </a:r>
            <a:endParaRPr lang="en-US" sz="1600" dirty="0">
              <a:solidFill>
                <a:srgbClr val="AE0627"/>
              </a:solidFill>
            </a:endParaRPr>
          </a:p>
        </p:txBody>
      </p:sp>
      <p:sp>
        <p:nvSpPr>
          <p:cNvPr id="7" name="TextBox 6"/>
          <p:cNvSpPr txBox="1"/>
          <p:nvPr/>
        </p:nvSpPr>
        <p:spPr>
          <a:xfrm>
            <a:off x="4457769" y="4590902"/>
            <a:ext cx="4686231"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a:t>
            </a:r>
            <a:r>
              <a:rPr lang="en-US" altLang="zh-CN" sz="1200" dirty="0" err="1">
                <a:solidFill>
                  <a:schemeClr val="tx1">
                    <a:lumMod val="50000"/>
                    <a:lumOff val="50000"/>
                  </a:schemeClr>
                </a:solidFill>
              </a:rPr>
              <a:t>www.sohu.com</a:t>
            </a:r>
            <a:r>
              <a:rPr lang="en-US" altLang="zh-CN" sz="1200" dirty="0">
                <a:solidFill>
                  <a:schemeClr val="tx1">
                    <a:lumMod val="50000"/>
                    <a:lumOff val="50000"/>
                  </a:schemeClr>
                </a:solidFill>
              </a:rPr>
              <a:t>/a/248677106_488227]</a:t>
            </a:r>
            <a:endParaRPr lang="en-US" sz="1200" dirty="0">
              <a:solidFill>
                <a:schemeClr val="tx1">
                  <a:lumMod val="50000"/>
                  <a:lumOff val="50000"/>
                </a:schemeClr>
              </a:solidFill>
            </a:endParaRPr>
          </a:p>
        </p:txBody>
      </p:sp>
      <p:sp>
        <p:nvSpPr>
          <p:cNvPr id="4" name="Rectangle 3"/>
          <p:cNvSpPr/>
          <p:nvPr/>
        </p:nvSpPr>
        <p:spPr>
          <a:xfrm>
            <a:off x="834897" y="3444775"/>
            <a:ext cx="3413850" cy="1292662"/>
          </a:xfrm>
          <a:prstGeom prst="rect">
            <a:avLst/>
          </a:prstGeom>
        </p:spPr>
        <p:txBody>
          <a:bodyPr wrap="square">
            <a:spAutoFit/>
          </a:bodyPr>
          <a:lstStyle/>
          <a:p>
            <a:pPr algn="ctr">
              <a:defRPr/>
            </a:pPr>
            <a:r>
              <a:rPr lang="zh-CN" altLang="en-US" sz="2400" kern="0" dirty="0">
                <a:solidFill>
                  <a:srgbClr val="AE0627"/>
                </a:solidFill>
                <a:latin typeface="Microsoft YaHei" panose="020B0503020204020204" pitchFamily="34" charset="-122"/>
                <a:ea typeface="Microsoft YaHei" panose="020B0503020204020204" pitchFamily="34" charset="-122"/>
              </a:rPr>
              <a:t>子曰：诗可以群</a:t>
            </a:r>
            <a:endParaRPr lang="en-US" altLang="zh-CN" sz="2400" kern="0" dirty="0">
              <a:solidFill>
                <a:srgbClr val="AE0627"/>
              </a:solidFill>
              <a:latin typeface="Microsoft YaHei" panose="020B0503020204020204" pitchFamily="34" charset="-122"/>
              <a:ea typeface="Microsoft YaHei" panose="020B0503020204020204" pitchFamily="34" charset="-122"/>
            </a:endParaRPr>
          </a:p>
          <a:p>
            <a:pPr algn="ctr">
              <a:defRPr/>
            </a:pPr>
            <a:endParaRPr lang="en-US" altLang="ja-JP" kern="0" dirty="0">
              <a:latin typeface="Microsoft YaHei" panose="020B0503020204020204" pitchFamily="34" charset="-122"/>
              <a:ea typeface="Microsoft YaHei" panose="020B0503020204020204" pitchFamily="34" charset="-122"/>
            </a:endParaRPr>
          </a:p>
          <a:p>
            <a:pPr algn="ctr">
              <a:defRPr/>
            </a:pPr>
            <a:r>
              <a:rPr lang="zh-CN" altLang="en-US" kern="0" dirty="0">
                <a:latin typeface="Microsoft YaHei" panose="020B0503020204020204" pitchFamily="34" charset="-122"/>
                <a:ea typeface="Microsoft YaHei" panose="020B0503020204020204" pitchFamily="34" charset="-122"/>
              </a:rPr>
              <a:t>元白文学集团</a:t>
            </a:r>
            <a:endParaRPr lang="en-US" altLang="zh-CN" kern="0" dirty="0">
              <a:latin typeface="Microsoft YaHei" panose="020B0503020204020204" pitchFamily="34" charset="-122"/>
              <a:ea typeface="Microsoft YaHei" panose="020B0503020204020204" pitchFamily="34" charset="-122"/>
            </a:endParaRPr>
          </a:p>
          <a:p>
            <a:pPr algn="ctr">
              <a:defRPr/>
            </a:pPr>
            <a:r>
              <a:rPr lang="zh-CN" altLang="en-US" kern="0" dirty="0">
                <a:latin typeface="Microsoft YaHei" panose="020B0503020204020204" pitchFamily="34" charset="-122"/>
                <a:ea typeface="Microsoft YaHei" panose="020B0503020204020204" pitchFamily="34" charset="-122"/>
              </a:rPr>
              <a:t>刘白唱和集</a:t>
            </a:r>
            <a:endParaRPr lang="en-US" altLang="ja-JP" kern="0" dirty="0">
              <a:latin typeface="Microsoft YaHei" panose="020B0503020204020204" pitchFamily="34" charset="-122"/>
              <a:ea typeface="Microsoft YaHei" panose="020B0503020204020204" pitchFamily="34" charset="-122"/>
            </a:endParaRPr>
          </a:p>
        </p:txBody>
      </p:sp>
      <p:cxnSp>
        <p:nvCxnSpPr>
          <p:cNvPr id="11" name="Straight Arrow Connector 10"/>
          <p:cNvCxnSpPr/>
          <p:nvPr/>
        </p:nvCxnSpPr>
        <p:spPr>
          <a:xfrm flipV="1">
            <a:off x="3516459" y="2923511"/>
            <a:ext cx="658024" cy="39080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9145" y="1272608"/>
            <a:ext cx="3816554" cy="3301806"/>
          </a:xfrm>
          <a:prstGeom prst="rect">
            <a:avLst/>
          </a:prstGeom>
        </p:spPr>
      </p:pic>
      <p:sp>
        <p:nvSpPr>
          <p:cNvPr id="9" name="Rectangle 8"/>
          <p:cNvSpPr/>
          <p:nvPr/>
        </p:nvSpPr>
        <p:spPr>
          <a:xfrm>
            <a:off x="4457770" y="2906508"/>
            <a:ext cx="2743199" cy="815608"/>
          </a:xfrm>
          <a:prstGeom prst="rect">
            <a:avLst/>
          </a:prstGeom>
        </p:spPr>
        <p:txBody>
          <a:bodyPr wrap="square">
            <a:spAutoFit/>
          </a:bodyPr>
          <a:lstStyle/>
          <a:p>
            <a:pPr>
              <a:spcAft>
                <a:spcPts val="600"/>
              </a:spcAft>
              <a:defRPr/>
            </a:pPr>
            <a:r>
              <a:rPr lang="zh-CN" altLang="en-US" sz="2200" b="1" dirty="0">
                <a:latin typeface="Microsoft YaHei" charset="-122"/>
                <a:ea typeface="Microsoft YaHei" charset="-122"/>
                <a:cs typeface="Microsoft YaHei" charset="-122"/>
              </a:rPr>
              <a:t>思考：</a:t>
            </a:r>
            <a:endParaRPr lang="en-US" altLang="zh-CN" sz="2200" b="1" dirty="0">
              <a:latin typeface="Microsoft YaHei" charset="-122"/>
              <a:ea typeface="Microsoft YaHei" charset="-122"/>
              <a:cs typeface="Microsoft YaHei" charset="-122"/>
            </a:endParaRPr>
          </a:p>
          <a:p>
            <a:pPr>
              <a:spcAft>
                <a:spcPts val="600"/>
              </a:spcAft>
              <a:defRPr/>
            </a:pPr>
            <a:r>
              <a:rPr lang="zh-CN" altLang="en-US" sz="2000" dirty="0">
                <a:latin typeface="Microsoft YaHei" charset="-122"/>
                <a:ea typeface="Microsoft YaHei" charset="-122"/>
                <a:cs typeface="Microsoft YaHei" charset="-122"/>
              </a:rPr>
              <a:t>你能发现什么规律？</a:t>
            </a:r>
            <a:endParaRPr lang="en-US" sz="2000" dirty="0">
              <a:solidFill>
                <a:srgbClr val="C00000"/>
              </a:solidFill>
              <a:latin typeface="Microsoft YaHei" charset="-122"/>
              <a:ea typeface="Microsoft YaHei" charset="-122"/>
              <a:cs typeface="Microsoft YaHei" charset="-122"/>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5538004" y="2656489"/>
            <a:ext cx="582730" cy="582730"/>
          </a:xfrm>
          <a:prstGeom prst="rect">
            <a:avLst/>
          </a:prstGeom>
        </p:spPr>
      </p:pic>
      <p:sp>
        <p:nvSpPr>
          <p:cNvPr id="12" name="Rectangle 11"/>
          <p:cNvSpPr/>
          <p:nvPr/>
        </p:nvSpPr>
        <p:spPr>
          <a:xfrm>
            <a:off x="7200969" y="2178756"/>
            <a:ext cx="1254409" cy="149041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p:cNvSpPr>
            <a:spLocks noGrp="1"/>
          </p:cNvSpPr>
          <p:nvPr>
            <p:ph type="sldNum" sz="quarter" idx="12"/>
          </p:nvPr>
        </p:nvSpPr>
        <p:spPr/>
        <p:txBody>
          <a:bodyPr/>
          <a:lstStyle/>
          <a:p>
            <a:fld id="{E1BEBC7A-FD02-486B-81B5-A845787C689C}" type="slidenum">
              <a:rPr lang="zh-CN" altLang="en-US" smtClean="0"/>
              <a:t>15</a:t>
            </a:fld>
            <a:endParaRPr lang="zh-CN" altLang="en-US"/>
          </a:p>
        </p:txBody>
      </p:sp>
    </p:spTree>
    <p:extLst>
      <p:ext uri="{BB962C8B-B14F-4D97-AF65-F5344CB8AC3E}">
        <p14:creationId xmlns:p14="http://schemas.microsoft.com/office/powerpoint/2010/main" val="1222052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3157764"/>
          </a:xfrm>
        </p:spPr>
        <p:txBody>
          <a:bodyPr>
            <a:normAutofit/>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solidFill>
                  <a:schemeClr val="tx1">
                    <a:lumMod val="50000"/>
                    <a:lumOff val="50000"/>
                  </a:schemeClr>
                </a:solidFill>
              </a:rPr>
              <a:t>分析国与国之间的经贸关系</a:t>
            </a:r>
            <a:endParaRPr lang="en-US" altLang="zh-CN" dirty="0">
              <a:solidFill>
                <a:schemeClr val="tx1">
                  <a:lumMod val="50000"/>
                  <a:lumOff val="50000"/>
                </a:schemeClr>
              </a:solidFill>
            </a:endParaRPr>
          </a:p>
          <a:p>
            <a:pPr lvl="1"/>
            <a:r>
              <a:rPr lang="zh-CN" altLang="en-US" dirty="0">
                <a:solidFill>
                  <a:schemeClr val="tx1">
                    <a:lumMod val="50000"/>
                    <a:lumOff val="50000"/>
                  </a:schemeClr>
                </a:solidFill>
              </a:rPr>
              <a:t>分析唐朝诗人之间的唱和关系</a:t>
            </a:r>
            <a:endParaRPr lang="en-US" dirty="0">
              <a:solidFill>
                <a:schemeClr val="tx1">
                  <a:lumMod val="50000"/>
                  <a:lumOff val="50000"/>
                </a:schemeClr>
              </a:solidFill>
            </a:endParaRPr>
          </a:p>
          <a:p>
            <a:pPr lvl="1"/>
            <a:r>
              <a:rPr lang="zh-CN" altLang="en-US" dirty="0"/>
              <a:t>分析传染病的</a:t>
            </a:r>
            <a:r>
              <a:rPr lang="zh-CN" altLang="en-US" dirty="0">
                <a:solidFill>
                  <a:srgbClr val="C00000"/>
                </a:solidFill>
              </a:rPr>
              <a:t>人际传播</a:t>
            </a:r>
            <a:r>
              <a:rPr lang="zh-CN" altLang="en-US" dirty="0"/>
              <a:t>与疾病控制手段</a:t>
            </a:r>
            <a:endParaRPr lang="en-US" dirty="0"/>
          </a:p>
        </p:txBody>
      </p:sp>
      <p:sp>
        <p:nvSpPr>
          <p:cNvPr id="5" name="Rectangle 4"/>
          <p:cNvSpPr/>
          <p:nvPr/>
        </p:nvSpPr>
        <p:spPr>
          <a:xfrm>
            <a:off x="3802747" y="996706"/>
            <a:ext cx="4990454" cy="338554"/>
          </a:xfrm>
          <a:prstGeom prst="rect">
            <a:avLst/>
          </a:prstGeom>
        </p:spPr>
        <p:txBody>
          <a:bodyPr wrap="square">
            <a:spAutoFit/>
          </a:bodyPr>
          <a:lstStyle/>
          <a:p>
            <a:r>
              <a:rPr lang="zh-CN" altLang="en-US" sz="1600" dirty="0">
                <a:latin typeface="Microsoft YaHei" charset="-122"/>
                <a:ea typeface="Microsoft YaHei" charset="-122"/>
              </a:rPr>
              <a:t>一次肺结核爆发的扩散过程，信息传播与此也很类似</a:t>
            </a:r>
            <a:endParaRPr lang="en-US" sz="1600" dirty="0">
              <a:latin typeface="Microsoft YaHei" charset="-122"/>
              <a:ea typeface="Microsoft YaHei" charset="-122"/>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4083" y="1335260"/>
            <a:ext cx="4107782" cy="3213896"/>
          </a:xfrm>
          <a:prstGeom prst="rect">
            <a:avLst/>
          </a:prstGeom>
        </p:spPr>
      </p:pic>
      <p:sp>
        <p:nvSpPr>
          <p:cNvPr id="7" name="TextBox 6"/>
          <p:cNvSpPr txBox="1"/>
          <p:nvPr/>
        </p:nvSpPr>
        <p:spPr>
          <a:xfrm>
            <a:off x="4244083" y="4590900"/>
            <a:ext cx="489991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[Andre</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et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American</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Journal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of</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Public</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Health,</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2007]</a:t>
            </a:r>
            <a:endParaRPr lang="en-US" sz="1200" dirty="0">
              <a:solidFill>
                <a:schemeClr val="tx1">
                  <a:lumMod val="50000"/>
                  <a:lumOff val="50000"/>
                </a:schemeClr>
              </a:solidFill>
            </a:endParaRPr>
          </a:p>
        </p:txBody>
      </p:sp>
      <p:sp>
        <p:nvSpPr>
          <p:cNvPr id="19" name="TextBox 18"/>
          <p:cNvSpPr txBox="1"/>
          <p:nvPr/>
        </p:nvSpPr>
        <p:spPr>
          <a:xfrm>
            <a:off x="5540936" y="3985874"/>
            <a:ext cx="2159566" cy="430887"/>
          </a:xfrm>
          <a:prstGeom prst="rect">
            <a:avLst/>
          </a:prstGeom>
          <a:solidFill>
            <a:schemeClr val="bg1"/>
          </a:solidFill>
          <a:ln>
            <a:solidFill>
              <a:srgbClr val="C00000"/>
            </a:solidFill>
          </a:ln>
          <a:effectLst>
            <a:outerShdw blurRad="50800" dist="76200" dir="2700000" algn="tl" rotWithShape="0">
              <a:prstClr val="black">
                <a:alpha val="40000"/>
              </a:prstClr>
            </a:outerShdw>
          </a:effectLst>
        </p:spPr>
        <p:txBody>
          <a:bodyPr wrap="none" rtlCol="0">
            <a:spAutoFit/>
          </a:bodyPr>
          <a:lstStyle/>
          <a:p>
            <a:r>
              <a:rPr lang="zh-CN" altLang="en-US" sz="2200" dirty="0">
                <a:latin typeface="Microsoft YaHei" charset="-122"/>
                <a:ea typeface="Microsoft YaHei" charset="-122"/>
                <a:cs typeface="Microsoft YaHei" charset="-122"/>
              </a:rPr>
              <a:t>“超级传播者”</a:t>
            </a:r>
            <a:endParaRPr lang="en-US" sz="2200" dirty="0">
              <a:latin typeface="Microsoft YaHei" charset="-122"/>
              <a:ea typeface="Microsoft YaHei" charset="-122"/>
              <a:cs typeface="Microsoft YaHei" charset="-122"/>
            </a:endParaRPr>
          </a:p>
        </p:txBody>
      </p:sp>
      <p:sp>
        <p:nvSpPr>
          <p:cNvPr id="6" name="Slide Number Placeholder 5"/>
          <p:cNvSpPr>
            <a:spLocks noGrp="1"/>
          </p:cNvSpPr>
          <p:nvPr>
            <p:ph type="sldNum" sz="quarter" idx="12"/>
          </p:nvPr>
        </p:nvSpPr>
        <p:spPr/>
        <p:txBody>
          <a:bodyPr/>
          <a:lstStyle/>
          <a:p>
            <a:fld id="{E1BEBC7A-FD02-486B-81B5-A845787C689C}" type="slidenum">
              <a:rPr lang="zh-CN" altLang="en-US" smtClean="0"/>
              <a:t>16</a:t>
            </a:fld>
            <a:endParaRPr lang="zh-CN" altLang="en-US"/>
          </a:p>
        </p:txBody>
      </p:sp>
    </p:spTree>
    <p:extLst>
      <p:ext uri="{BB962C8B-B14F-4D97-AF65-F5344CB8AC3E}">
        <p14:creationId xmlns:p14="http://schemas.microsoft.com/office/powerpoint/2010/main" val="1242583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308324"/>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Why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为什么用图对数据建模</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solidFill>
                  <a:srgbClr val="C00000"/>
                </a:solidFill>
                <a:latin typeface="微软雅黑" panose="020B0503020204020204" pitchFamily="34" charset="-122"/>
                <a:ea typeface="微软雅黑" panose="020B0503020204020204" pitchFamily="34" charset="-122"/>
              </a:rPr>
              <a:t>2</a:t>
            </a:r>
            <a:r>
              <a:rPr lang="en-US" altLang="zh-CN" dirty="0" smtClean="0">
                <a:solidFill>
                  <a:srgbClr val="C00000"/>
                </a:solidFill>
                <a:latin typeface="微软雅黑" panose="020B0503020204020204" pitchFamily="34" charset="-122"/>
                <a:ea typeface="微软雅黑" panose="020B0503020204020204" pitchFamily="34" charset="-122"/>
              </a:rPr>
              <a:t>.</a:t>
            </a:r>
            <a:r>
              <a:rPr lang="zh-CN" altLang="en-US" dirty="0" smtClean="0">
                <a:solidFill>
                  <a:srgbClr val="C00000"/>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How</a:t>
            </a:r>
            <a:r>
              <a:rPr lang="zh-CN" altLang="en-US" dirty="0">
                <a:solidFill>
                  <a:srgbClr val="C00000"/>
                </a:solidFill>
                <a:latin typeface="微软雅黑" panose="020B0503020204020204" pitchFamily="34" charset="-122"/>
                <a:ea typeface="微软雅黑" panose="020B0503020204020204" pitchFamily="34" charset="-122"/>
              </a:rPr>
              <a:t> </a:t>
            </a:r>
            <a:r>
              <a:rPr lang="mr-IN"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 节点中心性（</a:t>
            </a:r>
            <a:r>
              <a:rPr lang="en-US" altLang="zh-CN" dirty="0">
                <a:solidFill>
                  <a:srgbClr val="C00000"/>
                </a:solidFill>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solidFill>
                  <a:srgbClr val="C00000"/>
                </a:solidFill>
                <a:latin typeface="微软雅黑" panose="020B0503020204020204" pitchFamily="34" charset="-122"/>
                <a:ea typeface="微软雅黑" panose="020B0503020204020204" pitchFamily="34" charset="-122"/>
              </a:rPr>
              <a:t>）</a:t>
            </a:r>
            <a:r>
              <a:rPr lang="zh-CN" altLang="en-US" dirty="0" smtClean="0">
                <a:solidFill>
                  <a:srgbClr val="C00000"/>
                </a:solidFill>
                <a:latin typeface="微软雅黑" panose="020B0503020204020204" pitchFamily="34" charset="-122"/>
                <a:ea typeface="微软雅黑" panose="020B0503020204020204" pitchFamily="34" charset="-122"/>
              </a:rPr>
              <a:t>分析</a:t>
            </a:r>
            <a:endParaRPr lang="en-US" altLang="zh-CN" dirty="0" smtClean="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社区（</a:t>
            </a:r>
            <a:r>
              <a:rPr lang="en-US" altLang="zh-CN" dirty="0">
                <a:latin typeface="Calibri" panose="020F0502020204030204" pitchFamily="34" charset="0"/>
                <a:ea typeface="微软雅黑" panose="020B0503020204020204" pitchFamily="34" charset="-122"/>
                <a:cs typeface="Calibri" panose="020F0502020204030204" pitchFamily="34" charset="0"/>
              </a:rPr>
              <a:t>Community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 附录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图论的基本</a:t>
            </a:r>
            <a:r>
              <a:rPr lang="zh-CN" altLang="en-US" dirty="0" smtClean="0">
                <a:latin typeface="微软雅黑" panose="020B0503020204020204" pitchFamily="34" charset="-122"/>
                <a:ea typeface="微软雅黑" panose="020B0503020204020204" pitchFamily="34" charset="-122"/>
              </a:rPr>
              <a:t>概念</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2051138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节点中心度（</a:t>
            </a:r>
            <a:r>
              <a:rPr lang="en-US" altLang="zh-CN" dirty="0"/>
              <a:t>Node</a:t>
            </a:r>
            <a:r>
              <a:rPr lang="zh-CN" altLang="en-US" dirty="0"/>
              <a:t> </a:t>
            </a:r>
            <a:r>
              <a:rPr lang="en-US" altLang="zh-CN" dirty="0"/>
              <a:t>Centrality</a:t>
            </a:r>
            <a:r>
              <a:rPr lang="zh-CN" altLang="en-US" dirty="0"/>
              <a:t>）分析</a:t>
            </a:r>
            <a:endParaRPr lang="en-US" dirty="0"/>
          </a:p>
        </p:txBody>
      </p:sp>
      <p:sp>
        <p:nvSpPr>
          <p:cNvPr id="3" name="Content Placeholder 2"/>
          <p:cNvSpPr>
            <a:spLocks noGrp="1"/>
          </p:cNvSpPr>
          <p:nvPr>
            <p:ph idx="1"/>
          </p:nvPr>
        </p:nvSpPr>
        <p:spPr/>
        <p:txBody>
          <a:bodyPr/>
          <a:lstStyle/>
          <a:p>
            <a:r>
              <a:rPr lang="zh-CN" altLang="en-US" dirty="0"/>
              <a:t>在网络中，不同节点的“地位”是不平等的</a:t>
            </a:r>
            <a:endParaRPr lang="en-US" altLang="zh-CN" dirty="0"/>
          </a:p>
          <a:p>
            <a:pPr lvl="1"/>
            <a:r>
              <a:rPr lang="zh-CN" altLang="en-US" dirty="0"/>
              <a:t>例子：美国高中生恋爱关系图</a:t>
            </a:r>
            <a:endParaRPr lang="en-US" altLang="zh-CN" dirty="0"/>
          </a:p>
          <a:p>
            <a:pPr lvl="1"/>
            <a:r>
              <a:rPr lang="zh-CN" altLang="en-US" dirty="0"/>
              <a:t>边表示</a:t>
            </a:r>
            <a:r>
              <a:rPr lang="en-US" altLang="zh-CN" dirty="0"/>
              <a:t>18</a:t>
            </a:r>
            <a:r>
              <a:rPr lang="zh-CN" altLang="en-US" dirty="0"/>
              <a:t>个月内谈过恋爱</a:t>
            </a:r>
            <a:endParaRPr lang="en-US" altLang="zh-CN" dirty="0"/>
          </a:p>
          <a:p>
            <a:pPr lvl="1"/>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5175" y="1321255"/>
            <a:ext cx="3151625" cy="3155345"/>
          </a:xfrm>
          <a:prstGeom prst="rect">
            <a:avLst/>
          </a:prstGeom>
          <a:ln>
            <a:noFill/>
          </a:ln>
          <a:effectLst>
            <a:outerShdw blurRad="190500" algn="tl" rotWithShape="0">
              <a:srgbClr val="000000">
                <a:alpha val="70000"/>
              </a:srgbClr>
            </a:outerShdw>
          </a:effectLst>
        </p:spPr>
      </p:pic>
      <p:sp>
        <p:nvSpPr>
          <p:cNvPr id="6" name="TextBox 5"/>
          <p:cNvSpPr txBox="1"/>
          <p:nvPr/>
        </p:nvSpPr>
        <p:spPr>
          <a:xfrm>
            <a:off x="4872037" y="4535721"/>
            <a:ext cx="4271963" cy="279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图片来源</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lumMod val="50000"/>
                    <a:lumOff val="50000"/>
                  </a:prstClr>
                </a:solidFill>
                <a:effectLst/>
                <a:uLnTx/>
                <a:uFillTx/>
                <a:latin typeface="Calibri"/>
                <a:ea typeface="宋体" panose="02010600030101010101" pitchFamily="2" charset="-122"/>
                <a:cs typeface="+mn-cs"/>
              </a:rPr>
              <a:t>Bearman</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et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al.,</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American</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Journal</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of</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Sociology,</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2004]</a:t>
            </a:r>
            <a:endParaRPr kumimoji="0" lang="en-US" sz="1200" b="0" i="0" u="none" strike="noStrike" kern="1200" cap="none" spc="0" normalizeH="0" baseline="0" noProof="0" dirty="0">
              <a:ln>
                <a:noFill/>
              </a:ln>
              <a:solidFill>
                <a:prstClr val="black">
                  <a:lumMod val="50000"/>
                  <a:lumOff val="50000"/>
                </a:prstClr>
              </a:solidFill>
              <a:effectLst/>
              <a:uLnTx/>
              <a:uFillTx/>
              <a:latin typeface="Calibri"/>
              <a:ea typeface="+mn-ea"/>
              <a:cs typeface="+mn-cs"/>
            </a:endParaRPr>
          </a:p>
        </p:txBody>
      </p:sp>
      <p:sp>
        <p:nvSpPr>
          <p:cNvPr id="7" name="文本框 10"/>
          <p:cNvSpPr txBox="1"/>
          <p:nvPr/>
        </p:nvSpPr>
        <p:spPr>
          <a:xfrm>
            <a:off x="457200" y="3356514"/>
            <a:ext cx="5077975" cy="1064907"/>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思考：</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你觉得哪些节点更重要？</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你怎么解释这种重要性？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498" y="1970692"/>
            <a:ext cx="1108378" cy="1108378"/>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76333" y="1943697"/>
            <a:ext cx="1168752" cy="1168752"/>
          </a:xfrm>
          <a:prstGeom prst="rect">
            <a:avLst/>
          </a:prstGeom>
        </p:spPr>
      </p:pic>
      <p:cxnSp>
        <p:nvCxnSpPr>
          <p:cNvPr id="11" name="Straight Connector 10"/>
          <p:cNvCxnSpPr>
            <a:stCxn id="8" idx="3"/>
            <a:endCxn id="9" idx="1"/>
          </p:cNvCxnSpPr>
          <p:nvPr/>
        </p:nvCxnSpPr>
        <p:spPr>
          <a:xfrm>
            <a:off x="2159876" y="2524881"/>
            <a:ext cx="1616457" cy="3192"/>
          </a:xfrm>
          <a:prstGeom prst="line">
            <a:avLst/>
          </a:prstGeom>
        </p:spPr>
        <p:style>
          <a:lnRef idx="3">
            <a:schemeClr val="dk1"/>
          </a:lnRef>
          <a:fillRef idx="0">
            <a:schemeClr val="dk1"/>
          </a:fillRef>
          <a:effectRef idx="2">
            <a:schemeClr val="dk1"/>
          </a:effectRef>
          <a:fontRef idx="minor">
            <a:schemeClr val="tx1"/>
          </a:fontRef>
        </p:style>
      </p:cxnSp>
      <p:sp>
        <p:nvSpPr>
          <p:cNvPr id="14" name="文本框 10"/>
          <p:cNvSpPr txBox="1"/>
          <p:nvPr/>
        </p:nvSpPr>
        <p:spPr>
          <a:xfrm>
            <a:off x="2481399" y="2709147"/>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无向图</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Slide Number Placeholder 3">
            <a:extLst>
              <a:ext uri="{FF2B5EF4-FFF2-40B4-BE49-F238E27FC236}">
                <a16:creationId xmlns="" xmlns:a16="http://schemas.microsoft.com/office/drawing/2014/main" id="{917C3B08-A074-7947-B86E-1AFB888AD3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25836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节点中心度（</a:t>
            </a:r>
            <a:r>
              <a:rPr lang="en-US" altLang="zh-CN" dirty="0"/>
              <a:t>Node</a:t>
            </a:r>
            <a:r>
              <a:rPr lang="zh-CN" altLang="en-US" dirty="0"/>
              <a:t> </a:t>
            </a:r>
            <a:r>
              <a:rPr lang="en-US" altLang="zh-CN" dirty="0"/>
              <a:t>Centrality</a:t>
            </a:r>
            <a:r>
              <a:rPr lang="zh-CN" altLang="en-US" dirty="0"/>
              <a:t>）分析</a:t>
            </a:r>
            <a:endParaRPr lang="en-US" dirty="0"/>
          </a:p>
        </p:txBody>
      </p:sp>
      <p:sp>
        <p:nvSpPr>
          <p:cNvPr id="3" name="Content Placeholder 2"/>
          <p:cNvSpPr>
            <a:spLocks noGrp="1"/>
          </p:cNvSpPr>
          <p:nvPr>
            <p:ph idx="1"/>
          </p:nvPr>
        </p:nvSpPr>
        <p:spPr/>
        <p:txBody>
          <a:bodyPr/>
          <a:lstStyle/>
          <a:p>
            <a:r>
              <a:rPr lang="zh-CN" altLang="en-US" dirty="0"/>
              <a:t>在网络中，不同节点的“地位”是不平等的</a:t>
            </a:r>
            <a:endParaRPr lang="en-US" altLang="zh-CN" dirty="0"/>
          </a:p>
          <a:p>
            <a:pPr lvl="1"/>
            <a:r>
              <a:rPr lang="zh-CN" altLang="en-US" dirty="0"/>
              <a:t>例子：美国高中生恋爱关系图</a:t>
            </a:r>
            <a:endParaRPr lang="en-US" altLang="zh-CN" dirty="0"/>
          </a:p>
          <a:p>
            <a:pPr lvl="1"/>
            <a:r>
              <a:rPr lang="zh-CN" altLang="en-US" dirty="0"/>
              <a:t>如果定义有向边：“追求”关系</a:t>
            </a:r>
            <a:endParaRPr lang="en-US" altLang="zh-CN" dirty="0"/>
          </a:p>
          <a:p>
            <a:pPr lvl="1"/>
            <a:endParaRPr lang="en-US" dirty="0"/>
          </a:p>
        </p:txBody>
      </p:sp>
      <p:sp>
        <p:nvSpPr>
          <p:cNvPr id="7" name="文本框 10"/>
          <p:cNvSpPr txBox="1"/>
          <p:nvPr/>
        </p:nvSpPr>
        <p:spPr>
          <a:xfrm>
            <a:off x="457200" y="3356514"/>
            <a:ext cx="5077975" cy="1064907"/>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思考：</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右边两图中男生的重要性一样吗？</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你怎么解释这种重要性？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498" y="1970692"/>
            <a:ext cx="1108378" cy="1108378"/>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6333" y="1943697"/>
            <a:ext cx="1168752" cy="1168752"/>
          </a:xfrm>
          <a:prstGeom prst="rect">
            <a:avLst/>
          </a:prstGeom>
        </p:spPr>
      </p:pic>
      <p:cxnSp>
        <p:nvCxnSpPr>
          <p:cNvPr id="11" name="Straight Connector 10"/>
          <p:cNvCxnSpPr>
            <a:stCxn id="8" idx="3"/>
            <a:endCxn id="9" idx="1"/>
          </p:cNvCxnSpPr>
          <p:nvPr/>
        </p:nvCxnSpPr>
        <p:spPr>
          <a:xfrm>
            <a:off x="2159876" y="2524881"/>
            <a:ext cx="1616457" cy="3192"/>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sp>
        <p:nvSpPr>
          <p:cNvPr id="14" name="文本框 10"/>
          <p:cNvSpPr txBox="1"/>
          <p:nvPr/>
        </p:nvSpPr>
        <p:spPr>
          <a:xfrm>
            <a:off x="2481399" y="2709147"/>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有向图</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662" y="1442691"/>
            <a:ext cx="576000" cy="576000"/>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717271"/>
            <a:ext cx="577606" cy="577606"/>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4078" y="1441085"/>
            <a:ext cx="577606" cy="577606"/>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2167308"/>
            <a:ext cx="577606" cy="577606"/>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2034" y="1442273"/>
            <a:ext cx="577606" cy="577606"/>
          </a:xfrm>
          <a:prstGeom prst="rect">
            <a:avLst/>
          </a:prstGeom>
        </p:spPr>
      </p:pic>
      <p:cxnSp>
        <p:nvCxnSpPr>
          <p:cNvPr id="18" name="Straight Connector 17"/>
          <p:cNvCxnSpPr>
            <a:stCxn id="12" idx="0"/>
            <a:endCxn id="13" idx="2"/>
          </p:cNvCxnSpPr>
          <p:nvPr/>
        </p:nvCxnSpPr>
        <p:spPr>
          <a:xfrm flipH="1" flipV="1">
            <a:off x="7466859" y="1294877"/>
            <a:ext cx="803" cy="147814"/>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21" name="Straight Connector 20"/>
          <p:cNvCxnSpPr>
            <a:stCxn id="12" idx="1"/>
            <a:endCxn id="15" idx="3"/>
          </p:cNvCxnSpPr>
          <p:nvPr/>
        </p:nvCxnSpPr>
        <p:spPr>
          <a:xfrm flipH="1" flipV="1">
            <a:off x="6651684" y="1729888"/>
            <a:ext cx="527978" cy="803"/>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25" name="Straight Connector 24"/>
          <p:cNvCxnSpPr>
            <a:stCxn id="12" idx="3"/>
            <a:endCxn id="17" idx="1"/>
          </p:cNvCxnSpPr>
          <p:nvPr/>
        </p:nvCxnSpPr>
        <p:spPr>
          <a:xfrm>
            <a:off x="7755662" y="1730691"/>
            <a:ext cx="526372" cy="385"/>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31" name="Straight Connector 30"/>
          <p:cNvCxnSpPr>
            <a:stCxn id="12" idx="2"/>
            <a:endCxn id="16" idx="0"/>
          </p:cNvCxnSpPr>
          <p:nvPr/>
        </p:nvCxnSpPr>
        <p:spPr>
          <a:xfrm flipH="1">
            <a:off x="7466859" y="2018691"/>
            <a:ext cx="803" cy="148617"/>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pic>
        <p:nvPicPr>
          <p:cNvPr id="55" name="Picture 5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662" y="3482590"/>
            <a:ext cx="576000" cy="576000"/>
          </a:xfrm>
          <a:prstGeom prst="rect">
            <a:avLst/>
          </a:prstGeom>
        </p:spPr>
      </p:pic>
      <p:pic>
        <p:nvPicPr>
          <p:cNvPr id="56" name="Picture 5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2757170"/>
            <a:ext cx="577606" cy="577606"/>
          </a:xfrm>
          <a:prstGeom prst="rect">
            <a:avLst/>
          </a:prstGeom>
        </p:spPr>
      </p:pic>
      <p:pic>
        <p:nvPicPr>
          <p:cNvPr id="57" name="Picture 5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4078" y="3480984"/>
            <a:ext cx="577606" cy="577606"/>
          </a:xfrm>
          <a:prstGeom prst="rect">
            <a:avLst/>
          </a:prstGeom>
        </p:spPr>
      </p:pic>
      <p:pic>
        <p:nvPicPr>
          <p:cNvPr id="58" name="Picture 5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4207207"/>
            <a:ext cx="577606" cy="577606"/>
          </a:xfrm>
          <a:prstGeom prst="rect">
            <a:avLst/>
          </a:prstGeom>
        </p:spPr>
      </p:pic>
      <p:pic>
        <p:nvPicPr>
          <p:cNvPr id="59" name="Picture 5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2034" y="3482172"/>
            <a:ext cx="577606" cy="577606"/>
          </a:xfrm>
          <a:prstGeom prst="rect">
            <a:avLst/>
          </a:prstGeom>
        </p:spPr>
      </p:pic>
      <p:cxnSp>
        <p:nvCxnSpPr>
          <p:cNvPr id="60" name="Straight Connector 59"/>
          <p:cNvCxnSpPr/>
          <p:nvPr/>
        </p:nvCxnSpPr>
        <p:spPr>
          <a:xfrm flipH="1" flipV="1">
            <a:off x="7466859" y="3334776"/>
            <a:ext cx="803" cy="147814"/>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61" name="Straight Connector 60"/>
          <p:cNvCxnSpPr/>
          <p:nvPr/>
        </p:nvCxnSpPr>
        <p:spPr>
          <a:xfrm flipH="1" flipV="1">
            <a:off x="6651684" y="3769787"/>
            <a:ext cx="527978" cy="803"/>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62" name="Straight Connector 61"/>
          <p:cNvCxnSpPr/>
          <p:nvPr/>
        </p:nvCxnSpPr>
        <p:spPr>
          <a:xfrm>
            <a:off x="7755662" y="3770590"/>
            <a:ext cx="526372" cy="385"/>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63" name="Straight Connector 62"/>
          <p:cNvCxnSpPr/>
          <p:nvPr/>
        </p:nvCxnSpPr>
        <p:spPr>
          <a:xfrm flipH="1">
            <a:off x="7466859" y="4058590"/>
            <a:ext cx="803" cy="148617"/>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4" name="Rectangle 63"/>
          <p:cNvSpPr/>
          <p:nvPr/>
        </p:nvSpPr>
        <p:spPr>
          <a:xfrm>
            <a:off x="5951483" y="704850"/>
            <a:ext cx="2979683" cy="2004297"/>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Rectangle 64"/>
          <p:cNvSpPr/>
          <p:nvPr/>
        </p:nvSpPr>
        <p:spPr>
          <a:xfrm>
            <a:off x="5958393" y="2780516"/>
            <a:ext cx="2979683" cy="2004297"/>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 xmlns:a16="http://schemas.microsoft.com/office/drawing/2014/main" id="{B3943C47-96C2-AD48-9980-A7ACC2BC8E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6428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3"/>
          <p:cNvPicPr>
            <a:picLocks noChangeAspect="1"/>
          </p:cNvPicPr>
          <p:nvPr/>
        </p:nvPicPr>
        <p:blipFill rotWithShape="1">
          <a:blip r:embed="rId3"/>
          <a:srcRect l="28190" t="46092" r="17759" b="6092"/>
          <a:stretch/>
        </p:blipFill>
        <p:spPr>
          <a:xfrm>
            <a:off x="5257799" y="2255134"/>
            <a:ext cx="3815255" cy="2531333"/>
          </a:xfrm>
          <a:prstGeom prst="rect">
            <a:avLst/>
          </a:prstGeom>
        </p:spPr>
      </p:pic>
      <p:sp>
        <p:nvSpPr>
          <p:cNvPr id="2" name="Title 1"/>
          <p:cNvSpPr>
            <a:spLocks noGrp="1"/>
          </p:cNvSpPr>
          <p:nvPr>
            <p:ph type="title"/>
          </p:nvPr>
        </p:nvSpPr>
        <p:spPr/>
        <p:txBody>
          <a:bodyPr/>
          <a:lstStyle/>
          <a:p>
            <a:r>
              <a:rPr lang="zh-CN" altLang="en-US" dirty="0"/>
              <a:t>节点中心度（</a:t>
            </a:r>
            <a:r>
              <a:rPr lang="en-US" altLang="zh-CN" dirty="0"/>
              <a:t>Node</a:t>
            </a:r>
            <a:r>
              <a:rPr lang="zh-CN" altLang="en-US" dirty="0"/>
              <a:t> </a:t>
            </a:r>
            <a:r>
              <a:rPr lang="en-US" altLang="zh-CN" dirty="0"/>
              <a:t>Centrality</a:t>
            </a:r>
            <a:r>
              <a:rPr lang="zh-CN" altLang="en-US" dirty="0"/>
              <a:t>）</a:t>
            </a:r>
            <a:endParaRPr lang="en-US" dirty="0"/>
          </a:p>
        </p:txBody>
      </p:sp>
      <p:sp>
        <p:nvSpPr>
          <p:cNvPr id="3" name="Content Placeholder 2"/>
          <p:cNvSpPr>
            <a:spLocks noGrp="1"/>
          </p:cNvSpPr>
          <p:nvPr>
            <p:ph idx="1"/>
          </p:nvPr>
        </p:nvSpPr>
        <p:spPr>
          <a:xfrm>
            <a:off x="457200" y="819150"/>
            <a:ext cx="8229600" cy="3666140"/>
          </a:xfrm>
        </p:spPr>
        <p:txBody>
          <a:bodyPr>
            <a:normAutofit/>
          </a:bodyPr>
          <a:lstStyle/>
          <a:p>
            <a:r>
              <a:rPr lang="zh-CN" altLang="en-US" dirty="0"/>
              <a:t>节点中心度</a:t>
            </a:r>
            <a:endParaRPr lang="en-US" altLang="zh-CN" dirty="0"/>
          </a:p>
          <a:p>
            <a:pPr lvl="1"/>
            <a:r>
              <a:rPr lang="zh-CN" altLang="en-US" dirty="0"/>
              <a:t>给定一个图，哪些节点更重要或更有影响力？</a:t>
            </a:r>
            <a:endParaRPr lang="en-US" altLang="zh-CN" dirty="0"/>
          </a:p>
          <a:p>
            <a:endParaRPr lang="en-US" altLang="zh-CN" dirty="0"/>
          </a:p>
          <a:p>
            <a:r>
              <a:rPr lang="zh-CN" altLang="en-US" dirty="0"/>
              <a:t>为什么要研究节点中心度（</a:t>
            </a:r>
            <a:r>
              <a:rPr lang="en-US" altLang="zh-CN" dirty="0">
                <a:latin typeface="Calibri" charset="0"/>
                <a:ea typeface="Calibri" charset="0"/>
                <a:cs typeface="Calibri" charset="0"/>
              </a:rPr>
              <a:t>Node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r>
              <a:rPr lang="zh-CN" altLang="en-US" dirty="0"/>
              <a:t>）</a:t>
            </a:r>
            <a:r>
              <a:rPr lang="en-US" altLang="zh-CN" dirty="0"/>
              <a:t>?</a:t>
            </a:r>
          </a:p>
          <a:p>
            <a:pPr lvl="1">
              <a:lnSpc>
                <a:spcPct val="150000"/>
              </a:lnSpc>
            </a:pPr>
            <a:r>
              <a:rPr lang="zh-CN" altLang="en-US" dirty="0"/>
              <a:t>在社交网络中，每个人的影响力如何？</a:t>
            </a:r>
            <a:endParaRPr lang="en-US" altLang="zh-CN" dirty="0"/>
          </a:p>
          <a:p>
            <a:pPr lvl="1">
              <a:lnSpc>
                <a:spcPct val="150000"/>
              </a:lnSpc>
            </a:pPr>
            <a:r>
              <a:rPr lang="zh-CN" altLang="en-US" dirty="0"/>
              <a:t>在道路网络中，有哪些“关键节点”？</a:t>
            </a:r>
            <a:endParaRPr lang="en-US" altLang="zh-CN" dirty="0"/>
          </a:p>
          <a:p>
            <a:pPr lvl="1">
              <a:lnSpc>
                <a:spcPct val="150000"/>
              </a:lnSpc>
            </a:pPr>
            <a:r>
              <a:rPr lang="zh-CN" altLang="en-US" dirty="0"/>
              <a:t>在</a:t>
            </a:r>
            <a:r>
              <a:rPr lang="en-US" altLang="zh-CN" dirty="0"/>
              <a:t>Web</a:t>
            </a:r>
            <a:r>
              <a:rPr lang="zh-CN" altLang="en-US" dirty="0"/>
              <a:t>网络中，哪些网页更加重要？</a:t>
            </a:r>
            <a:endParaRPr lang="en-US" altLang="zh-CN" dirty="0"/>
          </a:p>
          <a:p>
            <a:pPr lvl="1">
              <a:lnSpc>
                <a:spcPct val="150000"/>
              </a:lnSpc>
            </a:pPr>
            <a:r>
              <a:rPr lang="zh-CN" altLang="en-US" dirty="0"/>
              <a:t>你能想到其它吗？</a:t>
            </a:r>
            <a:endParaRPr lang="en-US" dirty="0"/>
          </a:p>
        </p:txBody>
      </p:sp>
      <p:sp>
        <p:nvSpPr>
          <p:cNvPr id="4" name="Slide Number Placeholder 3">
            <a:extLst>
              <a:ext uri="{FF2B5EF4-FFF2-40B4-BE49-F238E27FC236}">
                <a16:creationId xmlns="" xmlns:a16="http://schemas.microsoft.com/office/drawing/2014/main" id="{4CE177F3-A9F9-3348-B3DA-6ECE0F3EC4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257599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我们考虑一个小例子</a:t>
            </a:r>
            <a:endParaRPr lang="en-US" dirty="0"/>
          </a:p>
        </p:txBody>
      </p:sp>
      <p:sp>
        <p:nvSpPr>
          <p:cNvPr id="3" name="Content Placeholder 2"/>
          <p:cNvSpPr>
            <a:spLocks noGrp="1"/>
          </p:cNvSpPr>
          <p:nvPr>
            <p:ph idx="1"/>
          </p:nvPr>
        </p:nvSpPr>
        <p:spPr>
          <a:xfrm>
            <a:off x="457200" y="819150"/>
            <a:ext cx="8229600" cy="3666140"/>
          </a:xfrm>
        </p:spPr>
        <p:txBody>
          <a:bodyPr>
            <a:normAutofit/>
          </a:bodyPr>
          <a:lstStyle/>
          <a:p>
            <a:r>
              <a:rPr lang="zh-CN" altLang="en-US" dirty="0"/>
              <a:t>演示示例</a:t>
            </a:r>
            <a:endParaRPr lang="en-US" altLang="zh-CN" dirty="0"/>
          </a:p>
          <a:p>
            <a:pPr lvl="1"/>
            <a:r>
              <a:rPr lang="zh-CN" altLang="en-US" dirty="0"/>
              <a:t>简化版的美国高中生恋爱关系图</a:t>
            </a:r>
            <a:endParaRPr lang="en-US" altLang="zh-CN" dirty="0"/>
          </a:p>
          <a:p>
            <a:pPr lvl="1"/>
            <a:endParaRPr lang="en-US" altLang="zh-CN" dirty="0"/>
          </a:p>
          <a:p>
            <a:endParaRPr lang="en-US" altLang="zh-CN"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985" y="1707284"/>
            <a:ext cx="2774731" cy="2778006"/>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7741" y="1707284"/>
            <a:ext cx="3704009" cy="2778006"/>
          </a:xfrm>
          <a:prstGeom prst="rect">
            <a:avLst/>
          </a:prstGeom>
        </p:spPr>
      </p:pic>
      <p:sp>
        <p:nvSpPr>
          <p:cNvPr id="7" name="Right Arrow 6"/>
          <p:cNvSpPr/>
          <p:nvPr/>
        </p:nvSpPr>
        <p:spPr>
          <a:xfrm>
            <a:off x="4067501" y="2859804"/>
            <a:ext cx="772510" cy="4729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文本框 10"/>
          <p:cNvSpPr txBox="1"/>
          <p:nvPr/>
        </p:nvSpPr>
        <p:spPr>
          <a:xfrm>
            <a:off x="3903991" y="2438669"/>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简化</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Slide Number Placeholder 4">
            <a:extLst>
              <a:ext uri="{FF2B5EF4-FFF2-40B4-BE49-F238E27FC236}">
                <a16:creationId xmlns="" xmlns:a16="http://schemas.microsoft.com/office/drawing/2014/main" id="{0F1B9215-1566-DE40-9E61-2A2F09CF55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1867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分析工具：</a:t>
            </a:r>
            <a:r>
              <a:rPr lang="en-US" altLang="zh-CN" dirty="0" err="1">
                <a:latin typeface="Calibri" charset="0"/>
                <a:ea typeface="Calibri" charset="0"/>
                <a:cs typeface="Calibri" charset="0"/>
              </a:rPr>
              <a:t>NetworkX</a:t>
            </a:r>
            <a:endParaRPr lang="en-US" dirty="0">
              <a:latin typeface="Calibri" charset="0"/>
              <a:ea typeface="Calibri" charset="0"/>
              <a:cs typeface="Calibri" charset="0"/>
            </a:endParaRPr>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t="5023" b="36712"/>
          <a:stretch/>
        </p:blipFill>
        <p:spPr>
          <a:xfrm>
            <a:off x="1019065" y="874988"/>
            <a:ext cx="5799521" cy="1689538"/>
          </a:xfrm>
        </p:spPr>
      </p:pic>
      <p:sp>
        <p:nvSpPr>
          <p:cNvPr id="5" name="Rectangle 4"/>
          <p:cNvSpPr/>
          <p:nvPr/>
        </p:nvSpPr>
        <p:spPr>
          <a:xfrm>
            <a:off x="1019065" y="2697447"/>
            <a:ext cx="3884011" cy="369332"/>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pip install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networkx</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p:txBody>
      </p:sp>
      <p:sp>
        <p:nvSpPr>
          <p:cNvPr id="6" name="Rectangle 5"/>
          <p:cNvSpPr/>
          <p:nvPr/>
        </p:nvSpPr>
        <p:spPr>
          <a:xfrm>
            <a:off x="1019066" y="3199000"/>
            <a:ext cx="3884010" cy="1569660"/>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import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networkx</a:t>
            </a:r>
            <a:r>
              <a:rPr kumimoji="0" lang="en-US" sz="1600" b="0" i="0" u="none" strike="noStrike" kern="1200" cap="none" spc="0" normalizeH="0" baseline="0" noProof="0" dirty="0">
                <a:ln>
                  <a:noFill/>
                </a:ln>
                <a:solidFill>
                  <a:prstClr val="black"/>
                </a:solidFill>
                <a:effectLst/>
                <a:uLnTx/>
                <a:uFillTx/>
                <a:latin typeface="Calibri"/>
                <a:ea typeface="+mn-ea"/>
                <a:cs typeface="+mn-cs"/>
              </a:rPr>
              <a:t> as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nx</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G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nx.Graph</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('A', 'B', weight=4)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('B', 'D', weight=2)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('A', 'C', weight=3)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('C', 'D', weight=4) </a:t>
            </a:r>
          </a:p>
        </p:txBody>
      </p:sp>
      <p:sp>
        <p:nvSpPr>
          <p:cNvPr id="7" name="Rectangle 6"/>
          <p:cNvSpPr/>
          <p:nvPr/>
        </p:nvSpPr>
        <p:spPr>
          <a:xfrm>
            <a:off x="5160141" y="3199000"/>
            <a:ext cx="3884011" cy="369332"/>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pip install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matplotlib</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文本框 10"/>
          <p:cNvSpPr txBox="1"/>
          <p:nvPr/>
        </p:nvSpPr>
        <p:spPr>
          <a:xfrm>
            <a:off x="5078522" y="2697447"/>
            <a:ext cx="3797464"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辅助工具：</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Python plotting lib</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 name="Rectangle 8"/>
          <p:cNvSpPr/>
          <p:nvPr/>
        </p:nvSpPr>
        <p:spPr>
          <a:xfrm>
            <a:off x="5160140" y="3691442"/>
            <a:ext cx="3884011"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import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matplotlib.pyplot</a:t>
            </a:r>
            <a:r>
              <a:rPr kumimoji="0" lang="en-US" sz="1600" b="0" i="0" u="none" strike="noStrike" kern="1200" cap="none" spc="0" normalizeH="0" baseline="0" noProof="0" dirty="0">
                <a:ln>
                  <a:noFill/>
                </a:ln>
                <a:solidFill>
                  <a:prstClr val="black"/>
                </a:solidFill>
                <a:effectLst/>
                <a:uLnTx/>
                <a:uFillTx/>
                <a:latin typeface="Calibri"/>
                <a:ea typeface="+mn-ea"/>
                <a:cs typeface="+mn-cs"/>
              </a:rPr>
              <a:t> as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import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matplotlib.colors</a:t>
            </a:r>
            <a:r>
              <a:rPr kumimoji="0" lang="en-US" sz="1600" b="0" i="0" u="none" strike="noStrike" kern="1200" cap="none" spc="0" normalizeH="0" baseline="0" noProof="0" dirty="0">
                <a:ln>
                  <a:noFill/>
                </a:ln>
                <a:solidFill>
                  <a:prstClr val="black"/>
                </a:solidFill>
                <a:effectLst/>
                <a:uLnTx/>
                <a:uFillTx/>
                <a:latin typeface="Calibri"/>
                <a:ea typeface="+mn-ea"/>
                <a:cs typeface="+mn-cs"/>
              </a:rPr>
              <a:t> as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mcolors</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Slide Number Placeholder 2">
            <a:extLst>
              <a:ext uri="{FF2B5EF4-FFF2-40B4-BE49-F238E27FC236}">
                <a16:creationId xmlns="" xmlns:a16="http://schemas.microsoft.com/office/drawing/2014/main" id="{2045A5B9-27D9-0A42-A7AB-121B5C9521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98089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分析准备</a:t>
            </a:r>
            <a:endParaRPr lang="en-US" dirty="0"/>
          </a:p>
        </p:txBody>
      </p:sp>
      <p:sp>
        <p:nvSpPr>
          <p:cNvPr id="3" name="Content Placeholder 2"/>
          <p:cNvSpPr>
            <a:spLocks noGrp="1"/>
          </p:cNvSpPr>
          <p:nvPr>
            <p:ph idx="1"/>
          </p:nvPr>
        </p:nvSpPr>
        <p:spPr/>
        <p:txBody>
          <a:bodyPr/>
          <a:lstStyle/>
          <a:p>
            <a:r>
              <a:rPr lang="zh-CN" altLang="en-US" dirty="0"/>
              <a:t>步骤</a:t>
            </a:r>
            <a:r>
              <a:rPr lang="en-US" altLang="zh-CN" dirty="0"/>
              <a:t>1</a:t>
            </a:r>
            <a:r>
              <a:rPr lang="zh-CN" altLang="en-US" dirty="0"/>
              <a:t>：生成简化版的美国高中生恋爱关系图</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7702" y="1299123"/>
            <a:ext cx="3364381" cy="25232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 xmlns:a16="http://schemas.microsoft.com/office/drawing/2014/main" id="{29E8AB0D-13B7-3E43-A147-551306C37A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273" y="1343748"/>
            <a:ext cx="5188716" cy="3067614"/>
          </a:xfrm>
          <a:prstGeom prst="rect">
            <a:avLst/>
          </a:prstGeom>
        </p:spPr>
      </p:pic>
      <p:sp>
        <p:nvSpPr>
          <p:cNvPr id="5" name="Slide Number Placeholder 4">
            <a:extLst>
              <a:ext uri="{FF2B5EF4-FFF2-40B4-BE49-F238E27FC236}">
                <a16:creationId xmlns="" xmlns:a16="http://schemas.microsoft.com/office/drawing/2014/main" id="{04F195AD-1034-2D45-A97F-CE14CB60CE4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10456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EA507B-D28D-7C45-A104-0F7AF0690D00}"/>
              </a:ext>
            </a:extLst>
          </p:cNvPr>
          <p:cNvSpPr>
            <a:spLocks noGrp="1"/>
          </p:cNvSpPr>
          <p:nvPr>
            <p:ph type="title"/>
          </p:nvPr>
        </p:nvSpPr>
        <p:spPr/>
        <p:txBody>
          <a:bodyPr/>
          <a:lstStyle/>
          <a:p>
            <a:r>
              <a:rPr lang="en-US" dirty="0" err="1"/>
              <a:t>Net</a:t>
            </a:r>
            <a:r>
              <a:rPr lang="en-US" altLang="zh-CN" dirty="0" err="1"/>
              <a:t>workX</a:t>
            </a:r>
            <a:r>
              <a:rPr lang="zh-CN" altLang="en-US" dirty="0"/>
              <a:t>函数讲解</a:t>
            </a:r>
            <a:endParaRPr lang="en-US" dirty="0"/>
          </a:p>
        </p:txBody>
      </p:sp>
      <p:sp>
        <p:nvSpPr>
          <p:cNvPr id="3" name="Content Placeholder 2">
            <a:extLst>
              <a:ext uri="{FF2B5EF4-FFF2-40B4-BE49-F238E27FC236}">
                <a16:creationId xmlns="" xmlns:a16="http://schemas.microsoft.com/office/drawing/2014/main" id="{63B1FB9A-4269-6442-8AFB-0017C8394CFA}"/>
              </a:ext>
            </a:extLst>
          </p:cNvPr>
          <p:cNvSpPr>
            <a:spLocks noGrp="1"/>
          </p:cNvSpPr>
          <p:nvPr>
            <p:ph idx="1"/>
          </p:nvPr>
        </p:nvSpPr>
        <p:spPr/>
        <p:txBody>
          <a:bodyPr/>
          <a:lstStyle/>
          <a:p>
            <a:endParaRPr lang="en-US"/>
          </a:p>
        </p:txBody>
      </p:sp>
      <p:sp>
        <p:nvSpPr>
          <p:cNvPr id="4" name="Content Placeholder 2">
            <a:extLst>
              <a:ext uri="{FF2B5EF4-FFF2-40B4-BE49-F238E27FC236}">
                <a16:creationId xmlns="" xmlns:a16="http://schemas.microsoft.com/office/drawing/2014/main" id="{73574F80-6886-C846-87CA-7033987C7E50}"/>
              </a:ext>
            </a:extLst>
          </p:cNvPr>
          <p:cNvSpPr txBox="1">
            <a:spLocks/>
          </p:cNvSpPr>
          <p:nvPr/>
        </p:nvSpPr>
        <p:spPr>
          <a:xfrm>
            <a:off x="2219325" y="1085850"/>
            <a:ext cx="5624513" cy="36004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创建图结构</a:t>
            </a:r>
            <a:endParaRPr kumimoji="0" lang="en-US" altLang="zh-CN"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添加节点</a:t>
            </a:r>
            <a:endParaRPr kumimoji="0" lang="en-US" altLang="zh-CN"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1913"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ts val="225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添加边</a:t>
            </a:r>
            <a:endPar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Rectangle 4">
            <a:extLst>
              <a:ext uri="{FF2B5EF4-FFF2-40B4-BE49-F238E27FC236}">
                <a16:creationId xmlns="" xmlns:a16="http://schemas.microsoft.com/office/drawing/2014/main" id="{C3AA2E20-4D09-D945-9278-CF16C4F7D3CC}"/>
              </a:ext>
            </a:extLst>
          </p:cNvPr>
          <p:cNvSpPr/>
          <p:nvPr/>
        </p:nvSpPr>
        <p:spPr>
          <a:xfrm>
            <a:off x="2627784" y="1545636"/>
            <a:ext cx="3780420" cy="923330"/>
          </a:xfrm>
          <a:prstGeom prst="rect">
            <a:avLst/>
          </a:prstGeom>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nx.Graph</a:t>
            </a:r>
            <a:r>
              <a:rPr kumimoji="0" lang="en-US" sz="1350" b="0" i="0" u="none" strike="noStrike" kern="1200" cap="none" spc="0" normalizeH="0" baseline="0" noProof="0" dirty="0">
                <a:ln>
                  <a:noFill/>
                </a:ln>
                <a:solidFill>
                  <a:srgbClr val="333333"/>
                </a:solidFill>
                <a:effectLst/>
                <a:uLnTx/>
                <a:uFillTx/>
                <a:latin typeface="Lato"/>
                <a:ea typeface="+mn-ea"/>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无向图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nx.DiGraph</a:t>
            </a:r>
            <a:r>
              <a:rPr kumimoji="0" lang="en-US" sz="1350" b="0" i="0" u="none" strike="noStrike" kern="1200" cap="none" spc="0" normalizeH="0" baseline="0" noProof="0" dirty="0">
                <a:ln>
                  <a:noFill/>
                </a:ln>
                <a:solidFill>
                  <a:srgbClr val="333333"/>
                </a:solidFill>
                <a:effectLst/>
                <a:uLnTx/>
                <a:uFillTx/>
                <a:latin typeface="Lato"/>
                <a:ea typeface="+mn-ea"/>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有向图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nx.MultiGraph</a:t>
            </a:r>
            <a:r>
              <a:rPr kumimoji="0" lang="en-US" sz="1350" b="0" i="0" u="none" strike="noStrike" kern="1200" cap="none" spc="0" normalizeH="0" baseline="0" noProof="0" dirty="0">
                <a:ln>
                  <a:noFill/>
                </a:ln>
                <a:solidFill>
                  <a:srgbClr val="333333"/>
                </a:solidFill>
                <a:effectLst/>
                <a:uLnTx/>
                <a:uFillTx/>
                <a:latin typeface="Lato"/>
                <a:ea typeface="+mn-ea"/>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无向多重图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nx.MultiDiGraph</a:t>
            </a:r>
            <a:r>
              <a:rPr kumimoji="0" lang="en-US" sz="1350" b="0" i="0" u="none" strike="noStrike" kern="1200" cap="none" spc="0" normalizeH="0" baseline="0" noProof="0" dirty="0">
                <a:ln>
                  <a:noFill/>
                </a:ln>
                <a:solidFill>
                  <a:srgbClr val="333333"/>
                </a:solidFill>
                <a:effectLst/>
                <a:uLnTx/>
                <a:uFillTx/>
                <a:latin typeface="Lato"/>
                <a:ea typeface="+mn-ea"/>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有向多重图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p:txBody>
      </p:sp>
      <p:sp>
        <p:nvSpPr>
          <p:cNvPr id="6" name="Rectangle 5">
            <a:extLst>
              <a:ext uri="{FF2B5EF4-FFF2-40B4-BE49-F238E27FC236}">
                <a16:creationId xmlns="" xmlns:a16="http://schemas.microsoft.com/office/drawing/2014/main" id="{996D6FE9-528E-8E44-8E28-19D6B85BB2DB}"/>
              </a:ext>
            </a:extLst>
          </p:cNvPr>
          <p:cNvSpPr/>
          <p:nvPr/>
        </p:nvSpPr>
        <p:spPr>
          <a:xfrm>
            <a:off x="2627784" y="3057805"/>
            <a:ext cx="3780420" cy="507831"/>
          </a:xfrm>
          <a:prstGeom prst="rect">
            <a:avLst/>
          </a:prstGeom>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333333"/>
                </a:solidFill>
                <a:effectLst/>
                <a:uLnTx/>
                <a:uFillTx/>
                <a:latin typeface="Lato"/>
                <a:ea typeface="+mn-ea"/>
                <a:cs typeface="+mn-cs"/>
              </a:rPr>
              <a:t>G</a:t>
            </a:r>
            <a:r>
              <a:rPr kumimoji="0" lang="en-US" sz="1350" b="1" i="0" u="none" strike="noStrike" kern="1200" cap="none" spc="0" normalizeH="0" baseline="0" noProof="0" dirty="0" err="1">
                <a:ln>
                  <a:noFill/>
                </a:ln>
                <a:solidFill>
                  <a:srgbClr val="404040"/>
                </a:solidFill>
                <a:effectLst/>
                <a:uLnTx/>
                <a:uFillTx/>
                <a:latin typeface="Lato"/>
                <a:ea typeface="+mn-ea"/>
                <a:cs typeface="+mn-cs"/>
              </a:rPr>
              <a:t>.</a:t>
            </a:r>
            <a:r>
              <a:rPr kumimoji="0" lang="en-US" sz="1350" b="0" i="0" u="none" strike="noStrike" kern="1200" cap="none" spc="0" normalizeH="0" baseline="0" noProof="0" dirty="0" err="1">
                <a:ln>
                  <a:noFill/>
                </a:ln>
                <a:solidFill>
                  <a:srgbClr val="333333"/>
                </a:solidFill>
                <a:effectLst/>
                <a:uLnTx/>
                <a:uFillTx/>
                <a:latin typeface="Lato"/>
                <a:ea typeface="+mn-ea"/>
                <a:cs typeface="+mn-cs"/>
              </a:rPr>
              <a:t>add_node</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1</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添加一个节点</a:t>
            </a:r>
            <a:r>
              <a:rPr kumimoji="0" lang="en-US" sz="1350" b="0" i="0" u="none" strike="noStrike" kern="1200" cap="none" spc="0" normalizeH="0" baseline="0" noProof="0" dirty="0">
                <a:ln>
                  <a:noFill/>
                </a:ln>
                <a:solidFill>
                  <a:srgbClr val="404040"/>
                </a:solidFill>
                <a:effectLst/>
                <a:uLnTx/>
                <a:uFillTx/>
                <a:latin typeface="Lato"/>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555555"/>
                </a:solidFill>
                <a:effectLst/>
                <a:uLnTx/>
                <a:uFillTx/>
                <a:latin typeface="Lato"/>
                <a:ea typeface="+mn-ea"/>
                <a:cs typeface="+mn-cs"/>
              </a:rPr>
              <a:t>G.add_nodes_from</a:t>
            </a:r>
            <a:r>
              <a:rPr kumimoji="0" lang="en-US" sz="1350" b="0" i="0" u="none" strike="noStrike" kern="1200" cap="none" spc="0" normalizeH="0" baseline="0" noProof="0" dirty="0">
                <a:ln>
                  <a:noFill/>
                </a:ln>
                <a:solidFill>
                  <a:srgbClr val="555555"/>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2</a:t>
            </a:r>
            <a:r>
              <a:rPr kumimoji="0" lang="en-US" sz="1350" b="0" i="0" u="none" strike="noStrike" kern="1200" cap="none" spc="0" normalizeH="0" baseline="0" noProof="0" dirty="0">
                <a:ln>
                  <a:noFill/>
                </a:ln>
                <a:solidFill>
                  <a:srgbClr val="555555"/>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3</a:t>
            </a:r>
            <a:r>
              <a:rPr kumimoji="0" lang="en-US" sz="1350" b="0" i="0" u="none" strike="noStrike" kern="1200" cap="none" spc="0" normalizeH="0" baseline="0" noProof="0" dirty="0">
                <a:ln>
                  <a:noFill/>
                </a:ln>
                <a:solidFill>
                  <a:srgbClr val="555555"/>
                </a:solidFill>
                <a:effectLst/>
                <a:uLnTx/>
                <a:uFillTx/>
                <a:latin typeface="Lato"/>
                <a:ea typeface="+mn-ea"/>
                <a:cs typeface="+mn-cs"/>
              </a:rPr>
              <a:t>]) </a:t>
            </a:r>
            <a:r>
              <a:rPr kumimoji="0" lang="zh-CN" altLang="en-US" sz="1350" b="0" i="0" u="none" strike="noStrike" kern="1200" cap="none" spc="0" normalizeH="0" baseline="0" noProof="0" dirty="0">
                <a:ln>
                  <a:noFill/>
                </a:ln>
                <a:solidFill>
                  <a:srgbClr val="555555"/>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555555"/>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555555"/>
                </a:solidFill>
                <a:effectLst/>
                <a:uLnTx/>
                <a:uFillTx/>
                <a:latin typeface="Lato"/>
                <a:ea typeface="宋体" panose="02010600030101010101" pitchFamily="2" charset="-122"/>
                <a:cs typeface="+mn-cs"/>
              </a:rPr>
              <a:t> 添加多个节点</a:t>
            </a:r>
            <a:endParaRPr kumimoji="0" lang="en-US" sz="135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Rectangle 6">
            <a:extLst>
              <a:ext uri="{FF2B5EF4-FFF2-40B4-BE49-F238E27FC236}">
                <a16:creationId xmlns="" xmlns:a16="http://schemas.microsoft.com/office/drawing/2014/main" id="{CED35BAC-1F74-8149-A76D-B1B80BF8B3A2}"/>
              </a:ext>
            </a:extLst>
          </p:cNvPr>
          <p:cNvSpPr/>
          <p:nvPr/>
        </p:nvSpPr>
        <p:spPr>
          <a:xfrm>
            <a:off x="2627784" y="4073276"/>
            <a:ext cx="3780420" cy="507831"/>
          </a:xfrm>
          <a:prstGeom prst="rect">
            <a:avLst/>
          </a:prstGeom>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333333"/>
                </a:solidFill>
                <a:effectLst/>
                <a:uLnTx/>
                <a:uFillTx/>
                <a:latin typeface="Calibri"/>
                <a:ea typeface="+mn-ea"/>
                <a:cs typeface="+mn-cs"/>
              </a:rPr>
              <a:t>G</a:t>
            </a:r>
            <a:r>
              <a:rPr kumimoji="0" lang="en-US" sz="1350" b="1" i="0" u="none" strike="noStrike" kern="1200" cap="none" spc="0" normalizeH="0" baseline="0" noProof="0" dirty="0" err="1">
                <a:ln>
                  <a:noFill/>
                </a:ln>
                <a:solidFill>
                  <a:prstClr val="black"/>
                </a:solidFill>
                <a:effectLst/>
                <a:uLnTx/>
                <a:uFillTx/>
                <a:latin typeface="Calibri"/>
                <a:ea typeface="+mn-ea"/>
                <a:cs typeface="+mn-cs"/>
              </a:rPr>
              <a:t>.</a:t>
            </a:r>
            <a:r>
              <a:rPr kumimoji="0" lang="en-US" sz="1350" b="0" i="0" u="none" strike="noStrike" kern="1200" cap="none" spc="0" normalizeH="0" baseline="0" noProof="0" dirty="0" err="1">
                <a:ln>
                  <a:noFill/>
                </a:ln>
                <a:solidFill>
                  <a:srgbClr val="333333"/>
                </a:solidFill>
                <a:effectLst/>
                <a:uLnTx/>
                <a:uFillTx/>
                <a:latin typeface="Calibri"/>
                <a:ea typeface="+mn-ea"/>
                <a:cs typeface="+mn-cs"/>
              </a:rPr>
              <a:t>add_edge</a:t>
            </a:r>
            <a:r>
              <a:rPr kumimoji="0" lang="en-US" sz="1350" b="0" i="0" u="none" strike="noStrike" kern="1200" cap="none" spc="0" normalizeH="0" baseline="0" noProof="0" dirty="0">
                <a:ln>
                  <a:noFill/>
                </a:ln>
                <a:solidFill>
                  <a:prstClr val="black"/>
                </a:solidFill>
                <a:effectLst/>
                <a:uLnTx/>
                <a:uFillTx/>
                <a:latin typeface="Calibri"/>
                <a:ea typeface="+mn-ea"/>
                <a:cs typeface="+mn-cs"/>
              </a:rPr>
              <a:t>(</a:t>
            </a:r>
            <a:r>
              <a:rPr kumimoji="0" lang="en-US" sz="1350" b="0" i="0" u="none" strike="noStrike" kern="1200" cap="none" spc="0" normalizeH="0" baseline="0" noProof="0" dirty="0">
                <a:ln>
                  <a:noFill/>
                </a:ln>
                <a:solidFill>
                  <a:srgbClr val="009999"/>
                </a:solidFill>
                <a:effectLst/>
                <a:uLnTx/>
                <a:uFillTx/>
                <a:latin typeface="Calibri"/>
                <a:ea typeface="+mn-ea"/>
                <a:cs typeface="+mn-cs"/>
              </a:rPr>
              <a:t>1</a:t>
            </a:r>
            <a:r>
              <a:rPr kumimoji="0" lang="en-US" sz="1350" b="0" i="0" u="none" strike="noStrike" kern="1200" cap="none" spc="0" normalizeH="0" baseline="0" noProof="0" dirty="0">
                <a:ln>
                  <a:noFill/>
                </a:ln>
                <a:solidFill>
                  <a:prstClr val="black"/>
                </a:solidFill>
                <a:effectLst/>
                <a:uLnTx/>
                <a:uFillTx/>
                <a:latin typeface="Calibri"/>
                <a:ea typeface="+mn-ea"/>
                <a:cs typeface="+mn-cs"/>
              </a:rPr>
              <a:t>,</a:t>
            </a:r>
            <a:r>
              <a:rPr kumimoji="0" lang="en-US" sz="1350" b="0" i="0" u="none" strike="noStrike" kern="1200" cap="none" spc="0" normalizeH="0" baseline="0" noProof="0" dirty="0">
                <a:ln>
                  <a:noFill/>
                </a:ln>
                <a:solidFill>
                  <a:srgbClr val="009999"/>
                </a:solidFill>
                <a:effectLst/>
                <a:uLnTx/>
                <a:uFillTx/>
                <a:latin typeface="Calibri"/>
                <a:ea typeface="+mn-ea"/>
                <a:cs typeface="+mn-cs"/>
              </a:rPr>
              <a:t>2</a:t>
            </a:r>
            <a:r>
              <a:rPr kumimoji="0" lang="en-US" sz="1350" b="0" i="0" u="none" strike="noStrike" kern="1200" cap="none" spc="0" normalizeH="0" baseline="0" noProof="0" dirty="0">
                <a:ln>
                  <a:noFill/>
                </a:ln>
                <a:solidFill>
                  <a:prstClr val="black"/>
                </a:solidFill>
                <a:effectLst/>
                <a:uLnTx/>
                <a:uFillTx/>
                <a:latin typeface="Calibri"/>
                <a:ea typeface="+mn-ea"/>
                <a:cs typeface="+mn-cs"/>
              </a:rPr>
              <a:t>)</a:t>
            </a:r>
            <a:r>
              <a:rPr kumimoji="0" lang="zh-CN" altLang="en-US" sz="135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35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135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添加一条边</a:t>
            </a:r>
            <a:endParaRPr kumimoji="0" lang="en-US" sz="1350" b="0" i="0" u="none" strike="noStrike" kern="1200" cap="none" spc="0" normalizeH="0" baseline="0" noProof="0" dirty="0">
              <a:ln>
                <a:noFill/>
              </a:ln>
              <a:solidFill>
                <a:srgbClr val="555555"/>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333333"/>
                </a:solidFill>
                <a:effectLst/>
                <a:uLnTx/>
                <a:uFillTx/>
                <a:latin typeface="Lato"/>
                <a:ea typeface="+mn-ea"/>
                <a:cs typeface="+mn-cs"/>
              </a:rPr>
              <a:t>G</a:t>
            </a:r>
            <a:r>
              <a:rPr kumimoji="0" lang="en-US" sz="1350" b="1" i="0" u="none" strike="noStrike" kern="1200" cap="none" spc="0" normalizeH="0" baseline="0" noProof="0" dirty="0" err="1">
                <a:ln>
                  <a:noFill/>
                </a:ln>
                <a:solidFill>
                  <a:srgbClr val="404040"/>
                </a:solidFill>
                <a:effectLst/>
                <a:uLnTx/>
                <a:uFillTx/>
                <a:latin typeface="Lato"/>
                <a:ea typeface="+mn-ea"/>
                <a:cs typeface="+mn-cs"/>
              </a:rPr>
              <a:t>.</a:t>
            </a:r>
            <a:r>
              <a:rPr kumimoji="0" lang="en-US" sz="1350" b="0" i="0" u="none" strike="noStrike" kern="1200" cap="none" spc="0" normalizeH="0" baseline="0" noProof="0" dirty="0" err="1">
                <a:ln>
                  <a:noFill/>
                </a:ln>
                <a:solidFill>
                  <a:srgbClr val="333333"/>
                </a:solidFill>
                <a:effectLst/>
                <a:uLnTx/>
                <a:uFillTx/>
                <a:latin typeface="Lato"/>
                <a:ea typeface="+mn-ea"/>
                <a:cs typeface="+mn-cs"/>
              </a:rPr>
              <a:t>add_edges_from</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1</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2</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1</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3</a:t>
            </a:r>
            <a:r>
              <a:rPr kumimoji="0" lang="en-US" sz="1350" b="0" i="0" u="none" strike="noStrike" kern="1200" cap="none" spc="0" normalizeH="0" baseline="0" noProof="0" dirty="0">
                <a:ln>
                  <a:noFill/>
                </a:ln>
                <a:solidFill>
                  <a:srgbClr val="404040"/>
                </a:solidFill>
                <a:effectLst/>
                <a:uLnTx/>
                <a:uFillTx/>
                <a:latin typeface="Lato"/>
                <a:ea typeface="+mn-ea"/>
                <a:cs typeface="+mn-cs"/>
              </a:rPr>
              <a:t>)]) </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添加多条边</a:t>
            </a:r>
            <a:endParaRPr kumimoji="0" lang="en-US" sz="1350" b="0" i="0" u="none" strike="noStrike" kern="1200" cap="none" spc="0" normalizeH="0" baseline="0" noProof="0" dirty="0">
              <a:ln>
                <a:noFill/>
              </a:ln>
              <a:solidFill>
                <a:srgbClr val="404040"/>
              </a:solidFill>
              <a:effectLst/>
              <a:uLnTx/>
              <a:uFillTx/>
              <a:latin typeface="Lato"/>
              <a:ea typeface="+mn-ea"/>
              <a:cs typeface="+mn-cs"/>
            </a:endParaRPr>
          </a:p>
        </p:txBody>
      </p:sp>
      <p:sp>
        <p:nvSpPr>
          <p:cNvPr id="8" name="Slide Number Placeholder 7">
            <a:extLst>
              <a:ext uri="{FF2B5EF4-FFF2-40B4-BE49-F238E27FC236}">
                <a16:creationId xmlns="" xmlns:a16="http://schemas.microsoft.com/office/drawing/2014/main" id="{EFDA3B4A-0A23-4C47-8606-376CA42056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36264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FF20AB-1CAC-3B49-A8F7-F902D28CB40E}"/>
              </a:ext>
            </a:extLst>
          </p:cNvPr>
          <p:cNvSpPr>
            <a:spLocks noGrp="1"/>
          </p:cNvSpPr>
          <p:nvPr>
            <p:ph type="title"/>
          </p:nvPr>
        </p:nvSpPr>
        <p:spPr/>
        <p:txBody>
          <a:bodyPr/>
          <a:lstStyle/>
          <a:p>
            <a:r>
              <a:rPr lang="zh-CN" altLang="en-US" dirty="0"/>
              <a:t>简化版恋爱关系图的可视化</a:t>
            </a:r>
            <a:endParaRPr lang="en-US" dirty="0"/>
          </a:p>
        </p:txBody>
      </p:sp>
      <p:sp>
        <p:nvSpPr>
          <p:cNvPr id="4" name="Slide Number Placeholder 3">
            <a:extLst>
              <a:ext uri="{FF2B5EF4-FFF2-40B4-BE49-F238E27FC236}">
                <a16:creationId xmlns="" xmlns:a16="http://schemas.microsoft.com/office/drawing/2014/main" id="{86D794CF-28CE-9F4F-93B9-B6852325EF7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5" name="Content Placeholder 4">
            <a:extLst>
              <a:ext uri="{FF2B5EF4-FFF2-40B4-BE49-F238E27FC236}">
                <a16:creationId xmlns="" xmlns:a16="http://schemas.microsoft.com/office/drawing/2014/main" id="{29239CF6-6BE8-AC40-B964-B0BB9D4767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6024" y="819150"/>
            <a:ext cx="4311952" cy="3937000"/>
          </a:xfrm>
          <a:prstGeom prst="rect">
            <a:avLst/>
          </a:prstGeom>
        </p:spPr>
      </p:pic>
    </p:spTree>
    <p:extLst>
      <p:ext uri="{BB962C8B-B14F-4D97-AF65-F5344CB8AC3E}">
        <p14:creationId xmlns:p14="http://schemas.microsoft.com/office/powerpoint/2010/main" val="24906538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347F95-CFCA-4E4D-8E14-77E0162C62A4}"/>
              </a:ext>
            </a:extLst>
          </p:cNvPr>
          <p:cNvSpPr>
            <a:spLocks noGrp="1"/>
          </p:cNvSpPr>
          <p:nvPr>
            <p:ph type="title"/>
          </p:nvPr>
        </p:nvSpPr>
        <p:spPr/>
        <p:txBody>
          <a:bodyPr/>
          <a:lstStyle/>
          <a:p>
            <a:r>
              <a:rPr lang="zh-CN" altLang="en-US" dirty="0"/>
              <a:t>绘制节点热力图</a:t>
            </a:r>
            <a:endParaRPr lang="en-US" dirty="0"/>
          </a:p>
        </p:txBody>
      </p:sp>
      <p:sp>
        <p:nvSpPr>
          <p:cNvPr id="3" name="Content Placeholder 2">
            <a:extLst>
              <a:ext uri="{FF2B5EF4-FFF2-40B4-BE49-F238E27FC236}">
                <a16:creationId xmlns="" xmlns:a16="http://schemas.microsoft.com/office/drawing/2014/main" id="{B6E3BCB4-09D5-4F40-B138-8BE8C3454AEF}"/>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 xmlns:a16="http://schemas.microsoft.com/office/drawing/2014/main" id="{4349F66F-88B3-FA40-916E-41D0A34ED0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5" name="Content Placeholder 6">
            <a:extLst>
              <a:ext uri="{FF2B5EF4-FFF2-40B4-BE49-F238E27FC236}">
                <a16:creationId xmlns="" xmlns:a16="http://schemas.microsoft.com/office/drawing/2014/main" id="{362E05CF-8FB0-D14C-84CD-98AADB03C5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819150"/>
            <a:ext cx="7072442" cy="3847758"/>
          </a:xfrm>
          <a:prstGeom prst="rect">
            <a:avLst/>
          </a:prstGeom>
        </p:spPr>
      </p:pic>
      <p:sp>
        <p:nvSpPr>
          <p:cNvPr id="6" name="Rectangle 5">
            <a:extLst>
              <a:ext uri="{FF2B5EF4-FFF2-40B4-BE49-F238E27FC236}">
                <a16:creationId xmlns="" xmlns:a16="http://schemas.microsoft.com/office/drawing/2014/main" id="{5A702F5C-1916-A748-8F94-CE30F9A463FE}"/>
              </a:ext>
            </a:extLst>
          </p:cNvPr>
          <p:cNvSpPr/>
          <p:nvPr/>
        </p:nvSpPr>
        <p:spPr>
          <a:xfrm>
            <a:off x="929804" y="1215922"/>
            <a:ext cx="6179707" cy="10186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a:extLst>
              <a:ext uri="{FF2B5EF4-FFF2-40B4-BE49-F238E27FC236}">
                <a16:creationId xmlns="" xmlns:a16="http://schemas.microsoft.com/office/drawing/2014/main" id="{D92D44C2-9081-F74F-AD9F-634863AD70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9544" y="2348855"/>
            <a:ext cx="2641651" cy="1981239"/>
          </a:xfrm>
          <a:prstGeom prst="rect">
            <a:avLst/>
          </a:prstGeom>
        </p:spPr>
      </p:pic>
    </p:spTree>
    <p:extLst>
      <p:ext uri="{BB962C8B-B14F-4D97-AF65-F5344CB8AC3E}">
        <p14:creationId xmlns:p14="http://schemas.microsoft.com/office/powerpoint/2010/main" val="244767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基本思想</a:t>
                </a:r>
                <a:endParaRPr lang="en-US" altLang="zh-CN" dirty="0"/>
              </a:p>
              <a:p>
                <a:pPr lvl="1"/>
                <a:r>
                  <a:rPr lang="zh-CN" altLang="en-US" dirty="0"/>
                  <a:t>节点</a:t>
                </a:r>
                <a14:m>
                  <m:oMath xmlns:m="http://schemas.openxmlformats.org/officeDocument/2006/math">
                    <m:r>
                      <a:rPr lang="en-US" altLang="zh-CN" i="1" dirty="0" smtClean="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t>是该节点到</a:t>
                </a:r>
                <a:r>
                  <a:rPr lang="zh-CN" altLang="en-US" dirty="0">
                    <a:solidFill>
                      <a:srgbClr val="C00000"/>
                    </a:solidFill>
                  </a:rPr>
                  <a:t>其它节点的距离</a:t>
                </a:r>
                <a:r>
                  <a:rPr lang="zh-CN" altLang="en-US" dirty="0"/>
                  <a:t>的函数</a:t>
                </a:r>
                <a:endParaRPr lang="en-US" altLang="zh-CN" dirty="0"/>
              </a:p>
              <a:p>
                <a:r>
                  <a:rPr lang="en-US" altLang="zh-CN" dirty="0">
                    <a:latin typeface="Calibri" charset="0"/>
                    <a:ea typeface="Calibri" charset="0"/>
                    <a:cs typeface="Calibri" charset="0"/>
                  </a:rPr>
                  <a:t>(In-)Degree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取决于它的度（如果是有向图，则为入度）</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即到节点</a:t>
                </a:r>
                <a14:m>
                  <m:oMath xmlns:m="http://schemas.openxmlformats.org/officeDocument/2006/math">
                    <m:r>
                      <a:rPr lang="en-US" altLang="zh-CN" i="1" dirty="0" smtClean="0">
                        <a:latin typeface="Cambria Math" charset="0"/>
                        <a:ea typeface="Microsoft YaHei" charset="-122"/>
                        <a:cs typeface="Microsoft YaHei" charset="-122"/>
                      </a:rPr>
                      <m:t>𝑣</m:t>
                    </m:r>
                  </m:oMath>
                </a14:m>
                <a:r>
                  <a:rPr lang="zh-CN" altLang="en-US" dirty="0">
                    <a:latin typeface="Microsoft YaHei" charset="-122"/>
                    <a:ea typeface="Microsoft YaHei" charset="-122"/>
                    <a:cs typeface="Microsoft YaHei" charset="-122"/>
                  </a:rPr>
                  <a:t>距离为</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的节点的个数</a:t>
                </a:r>
                <a:endParaRPr lang="en-US" altLang="zh-CN"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请计算右图中节点的</a:t>
                </a:r>
                <a:r>
                  <a:rPr lang="en-US" altLang="zh-CN" dirty="0">
                    <a:latin typeface="Calibri" charset="0"/>
                    <a:ea typeface="Calibri" charset="0"/>
                    <a:cs typeface="Calibri" charset="0"/>
                  </a:rPr>
                  <a:t>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endParaRPr lang="en-US" dirty="0">
                  <a:latin typeface="Calibri" charset="0"/>
                  <a:ea typeface="Calibri" charset="0"/>
                  <a:cs typeface="Calibri"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67" t="-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949362" y="2574257"/>
                <a:ext cx="1798889" cy="61991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a:ln>
                                <a:noFill/>
                              </a:ln>
                              <a:solidFill>
                                <a:prstClr val="black"/>
                              </a:solidFill>
                              <a:effectLst/>
                              <a:uLnTx/>
                              <a:uFillTx/>
                              <a:latin typeface="Cambria Math" charset="0"/>
                              <a:cs typeface="+mn-cs"/>
                            </a:rPr>
                            <m:t>𝐷</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m:rPr>
                              <m:sty m:val="p"/>
                            </m:rPr>
                            <a:rPr kumimoji="0" lang="en-US" altLang="zh-CN" sz="1800" b="0" i="0" u="none" strike="noStrike" kern="1200" cap="none" spc="0" normalizeH="0" baseline="0" noProof="0">
                              <a:ln>
                                <a:noFill/>
                              </a:ln>
                              <a:solidFill>
                                <a:prstClr val="black"/>
                              </a:solidFill>
                              <a:effectLst/>
                              <a:uLnTx/>
                              <a:uFillTx/>
                              <a:latin typeface="Cambria Math" charset="0"/>
                              <a:cs typeface="+mn-cs"/>
                            </a:rPr>
                            <m:t>deg</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a:ln>
                                <a:noFill/>
                              </a:ln>
                              <a:solidFill>
                                <a:prstClr val="black"/>
                              </a:solidFill>
                              <a:effectLst/>
                              <a:uLnTx/>
                              <a:uFillTx/>
                              <a:latin typeface="Cambria Math" charset="0"/>
                              <a:cs typeface="+mn-cs"/>
                            </a:rPr>
                            <m:t>−</m:t>
                          </m:r>
                          <m:r>
                            <a:rPr kumimoji="0" lang="en-US" altLang="zh-CN" sz="1800" b="0" i="0" u="none" strike="noStrike" kern="1200" cap="none" spc="0" normalizeH="0" baseline="0" noProof="0">
                              <a:ln>
                                <a:noFill/>
                              </a:ln>
                              <a:solidFill>
                                <a:prstClr val="black"/>
                              </a:solidFill>
                              <a:effectLst/>
                              <a:uLnTx/>
                              <a:uFillTx/>
                              <a:latin typeface="Cambria Math" charset="0"/>
                              <a:cs typeface="+mn-cs"/>
                            </a:rPr>
                            <m:t>1</m:t>
                          </m:r>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949362" y="2574257"/>
                <a:ext cx="1798889" cy="619913"/>
              </a:xfrm>
              <a:prstGeom prst="rect">
                <a:avLst/>
              </a:prstGeom>
              <a:blipFill rotWithShape="0">
                <a:blip r:embed="rId4"/>
                <a:stretch>
                  <a:fillRect/>
                </a:stretch>
              </a:blipFill>
            </p:spPr>
            <p:txBody>
              <a:bodyPr/>
              <a:lstStyle/>
              <a:p>
                <a:r>
                  <a:rPr lang="en-US">
                    <a:noFill/>
                  </a:rPr>
                  <a:t> </a:t>
                </a:r>
              </a:p>
            </p:txBody>
          </p:sp>
        </mc:Fallback>
      </mc:AlternateContent>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t="7961"/>
          <a:stretch/>
        </p:blipFill>
        <p:spPr>
          <a:xfrm>
            <a:off x="5636173" y="2372153"/>
            <a:ext cx="3369530" cy="2325971"/>
          </a:xfrm>
          <a:prstGeom prst="rect">
            <a:avLst/>
          </a:prstGeom>
        </p:spPr>
      </p:pic>
      <p:sp>
        <p:nvSpPr>
          <p:cNvPr id="6" name="Rectangle 5"/>
          <p:cNvSpPr/>
          <p:nvPr/>
        </p:nvSpPr>
        <p:spPr>
          <a:xfrm>
            <a:off x="760687" y="4171375"/>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0.1, 1: 0.1, 2: 0.1, 3: 0.4, 4: 0.3, 5: 0.2, 6: 0.4,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sz="1600" b="0" i="0" u="none" strike="noStrike" kern="1200" cap="none" spc="0" normalizeH="0" baseline="0" noProof="0" dirty="0">
                <a:ln>
                  <a:noFill/>
                </a:ln>
                <a:solidFill>
                  <a:prstClr val="black"/>
                </a:solidFill>
                <a:effectLst/>
                <a:uLnTx/>
                <a:uFillTx/>
                <a:latin typeface="Calibri"/>
                <a:ea typeface="+mn-ea"/>
                <a:cs typeface="+mn-cs"/>
              </a:rPr>
              <a:t>7: 0.1, 8: 0.1, 9: 0.3, 10: 0.1}</a:t>
            </a:r>
          </a:p>
        </p:txBody>
      </p:sp>
      <p:sp>
        <p:nvSpPr>
          <p:cNvPr id="7" name="Rectangle 6"/>
          <p:cNvSpPr/>
          <p:nvPr/>
        </p:nvSpPr>
        <p:spPr>
          <a:xfrm>
            <a:off x="2890515" y="2985975"/>
            <a:ext cx="828000" cy="216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3759620" y="2924698"/>
            <a:ext cx="1687367"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为什么除以</a:t>
            </a:r>
            <a:r>
              <a:rPr kumimoji="0" lang="en-US" altLang="zh-CN" sz="16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n-1</a:t>
            </a:r>
            <a:r>
              <a:rPr kumimoji="0" lang="zh-CN" altLang="en-US" sz="16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a:t>
            </a:r>
            <a:endParaRPr kumimoji="0" lang="en-US" sz="1600" b="0" i="0" u="none" strike="noStrike" kern="1200" cap="none" spc="0" normalizeH="0" baseline="0" noProof="0" dirty="0">
              <a:ln>
                <a:noFill/>
              </a:ln>
              <a:solidFill>
                <a:srgbClr val="C00000"/>
              </a:solidFill>
              <a:effectLst/>
              <a:uLnTx/>
              <a:uFillTx/>
              <a:latin typeface="Calibri"/>
              <a:ea typeface="+mn-ea"/>
              <a:cs typeface="+mn-cs"/>
            </a:endParaRPr>
          </a:p>
        </p:txBody>
      </p:sp>
      <p:sp>
        <p:nvSpPr>
          <p:cNvPr id="9" name="Slide Number Placeholder 8">
            <a:extLst>
              <a:ext uri="{FF2B5EF4-FFF2-40B4-BE49-F238E27FC236}">
                <a16:creationId xmlns="" xmlns:a16="http://schemas.microsoft.com/office/drawing/2014/main" id="{DDC2A67E-3FF5-3B44-9027-5BC5330CB8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10" name="Rectangle 9">
            <a:extLst>
              <a:ext uri="{FF2B5EF4-FFF2-40B4-BE49-F238E27FC236}">
                <a16:creationId xmlns="" xmlns:a16="http://schemas.microsoft.com/office/drawing/2014/main" id="{5AB094F6-731C-724B-ABD8-A0DD764CB726}"/>
              </a:ext>
            </a:extLst>
          </p:cNvPr>
          <p:cNvSpPr/>
          <p:nvPr/>
        </p:nvSpPr>
        <p:spPr>
          <a:xfrm>
            <a:off x="863513" y="3674970"/>
            <a:ext cx="4583474"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节点</a:t>
            </a:r>
            <a:r>
              <a:rPr kumimoji="0" lang="en-US" altLang="zh-CN"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6</a:t>
            </a: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的</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Degree</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Centrality</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0.36;</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a:t>
            </a:r>
            <a:endParaRPr kumimoji="0" lang="en-US" sz="28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endParaRPr>
          </a:p>
        </p:txBody>
      </p:sp>
      <p:sp>
        <p:nvSpPr>
          <p:cNvPr id="11" name="Rectangle 10">
            <a:extLst>
              <a:ext uri="{FF2B5EF4-FFF2-40B4-BE49-F238E27FC236}">
                <a16:creationId xmlns="" xmlns:a16="http://schemas.microsoft.com/office/drawing/2014/main" id="{74E8C06C-41D3-EF4E-83BA-C08E0EE6BD89}"/>
              </a:ext>
            </a:extLst>
          </p:cNvPr>
          <p:cNvSpPr/>
          <p:nvPr/>
        </p:nvSpPr>
        <p:spPr>
          <a:xfrm>
            <a:off x="409574" y="3648155"/>
            <a:ext cx="64312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Helvetica Neue" charset="0"/>
                <a:ea typeface="+mn-ea"/>
                <a:cs typeface="+mn-cs"/>
              </a:rPr>
              <a:t>🔔</a:t>
            </a:r>
            <a:r>
              <a:rPr kumimoji="0" lang="zh-CN" altLang="en-US" sz="2800" b="0" i="0" u="none" strike="noStrike" kern="1200" cap="none" spc="0" normalizeH="0" baseline="0" noProof="0" dirty="0">
                <a:ln>
                  <a:noFill/>
                </a:ln>
                <a:solidFill>
                  <a:srgbClr val="000000"/>
                </a:solidFill>
                <a:effectLst/>
                <a:uLnTx/>
                <a:uFillTx/>
                <a:latin typeface="Helvetica Neue" charset="0"/>
                <a:ea typeface="宋体" panose="02010600030101010101" pitchFamily="2" charset="-122"/>
                <a:cs typeface="+mn-cs"/>
              </a:rPr>
              <a:t>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79759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基本思想</a:t>
                </a:r>
                <a:endParaRPr lang="en-US" altLang="zh-CN" dirty="0"/>
              </a:p>
              <a:p>
                <a:pPr lvl="1"/>
                <a:r>
                  <a:rPr lang="zh-CN" altLang="en-US" dirty="0"/>
                  <a:t>节点</a:t>
                </a:r>
                <a14:m>
                  <m:oMath xmlns:m="http://schemas.openxmlformats.org/officeDocument/2006/math">
                    <m:r>
                      <a:rPr lang="en-US" altLang="zh-CN" i="1" dirty="0" smtClean="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t>是该节点到</a:t>
                </a:r>
                <a:r>
                  <a:rPr lang="zh-CN" altLang="en-US" dirty="0">
                    <a:solidFill>
                      <a:srgbClr val="C00000"/>
                    </a:solidFill>
                  </a:rPr>
                  <a:t>其它节点的距离</a:t>
                </a:r>
                <a:r>
                  <a:rPr lang="zh-CN" altLang="en-US" dirty="0"/>
                  <a:t>的函数</a:t>
                </a:r>
                <a:endParaRPr lang="en-US" altLang="zh-CN" dirty="0"/>
              </a:p>
              <a:p>
                <a:r>
                  <a:rPr lang="en-US" altLang="zh-CN" dirty="0">
                    <a:latin typeface="Calibri" charset="0"/>
                    <a:ea typeface="Calibri" charset="0"/>
                    <a:cs typeface="Calibri" charset="0"/>
                  </a:rPr>
                  <a:t>(In-)Degree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取决于它的度（如果是有向图，则为入度）</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即到节点</a:t>
                </a:r>
                <a14:m>
                  <m:oMath xmlns:m="http://schemas.openxmlformats.org/officeDocument/2006/math">
                    <m:r>
                      <a:rPr lang="en-US" altLang="zh-CN" i="1" dirty="0" smtClean="0">
                        <a:latin typeface="Cambria Math" charset="0"/>
                        <a:ea typeface="Microsoft YaHei" charset="-122"/>
                        <a:cs typeface="Microsoft YaHei" charset="-122"/>
                      </a:rPr>
                      <m:t>𝑣</m:t>
                    </m:r>
                  </m:oMath>
                </a14:m>
                <a:r>
                  <a:rPr lang="zh-CN" altLang="en-US" dirty="0">
                    <a:latin typeface="Microsoft YaHei" charset="-122"/>
                    <a:ea typeface="Microsoft YaHei" charset="-122"/>
                    <a:cs typeface="Microsoft YaHei" charset="-122"/>
                  </a:rPr>
                  <a:t>距离为</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的节点的个数</a:t>
                </a:r>
                <a:endParaRPr lang="en-US" altLang="zh-CN"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如何解释</a:t>
                </a:r>
                <a:r>
                  <a:rPr lang="en-US" altLang="zh-CN" dirty="0">
                    <a:latin typeface="Calibri" charset="0"/>
                    <a:ea typeface="Calibri" charset="0"/>
                    <a:cs typeface="Calibri" charset="0"/>
                  </a:rPr>
                  <a:t>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a:t>
                </a:r>
                <a:endParaRPr lang="en-US" altLang="zh-CN" dirty="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微博</a:t>
                </a:r>
                <a:r>
                  <a:rPr lang="zh-CN" altLang="en-US" dirty="0">
                    <a:latin typeface="Microsoft YaHei" charset="-122"/>
                    <a:ea typeface="Microsoft YaHei" charset="-122"/>
                    <a:cs typeface="Microsoft YaHei" charset="-122"/>
                  </a:rPr>
                  <a:t>网络：大</a:t>
                </a:r>
                <a:r>
                  <a:rPr lang="en-US" altLang="zh-CN" dirty="0">
                    <a:latin typeface="Microsoft YaHei" charset="-122"/>
                    <a:ea typeface="Microsoft YaHei" charset="-122"/>
                    <a:cs typeface="Microsoft YaHei" charset="-122"/>
                  </a:rPr>
                  <a:t>V</a:t>
                </a:r>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67" t="-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949362" y="2574257"/>
                <a:ext cx="1798889" cy="61991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a:ln>
                                <a:noFill/>
                              </a:ln>
                              <a:solidFill>
                                <a:prstClr val="black"/>
                              </a:solidFill>
                              <a:effectLst/>
                              <a:uLnTx/>
                              <a:uFillTx/>
                              <a:latin typeface="Cambria Math" charset="0"/>
                              <a:cs typeface="+mn-cs"/>
                            </a:rPr>
                            <m:t>𝐷</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m:rPr>
                              <m:sty m:val="p"/>
                            </m:rPr>
                            <a:rPr kumimoji="0" lang="en-US" altLang="zh-CN" sz="1800" b="0" i="0" u="none" strike="noStrike" kern="1200" cap="none" spc="0" normalizeH="0" baseline="0" noProof="0">
                              <a:ln>
                                <a:noFill/>
                              </a:ln>
                              <a:solidFill>
                                <a:prstClr val="black"/>
                              </a:solidFill>
                              <a:effectLst/>
                              <a:uLnTx/>
                              <a:uFillTx/>
                              <a:latin typeface="Cambria Math" charset="0"/>
                              <a:cs typeface="+mn-cs"/>
                            </a:rPr>
                            <m:t>deg</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a:ln>
                                <a:noFill/>
                              </a:ln>
                              <a:solidFill>
                                <a:prstClr val="black"/>
                              </a:solidFill>
                              <a:effectLst/>
                              <a:uLnTx/>
                              <a:uFillTx/>
                              <a:latin typeface="Cambria Math" charset="0"/>
                              <a:cs typeface="+mn-cs"/>
                            </a:rPr>
                            <m:t>−</m:t>
                          </m:r>
                          <m:r>
                            <a:rPr kumimoji="0" lang="en-US" altLang="zh-CN" sz="1800" b="0" i="0" u="none" strike="noStrike" kern="1200" cap="none" spc="0" normalizeH="0" baseline="0" noProof="0">
                              <a:ln>
                                <a:noFill/>
                              </a:ln>
                              <a:solidFill>
                                <a:prstClr val="black"/>
                              </a:solidFill>
                              <a:effectLst/>
                              <a:uLnTx/>
                              <a:uFillTx/>
                              <a:latin typeface="Cambria Math" charset="0"/>
                              <a:cs typeface="+mn-cs"/>
                            </a:rPr>
                            <m:t>1</m:t>
                          </m:r>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949362" y="2574257"/>
                <a:ext cx="1798889" cy="619913"/>
              </a:xfrm>
              <a:prstGeom prst="rect">
                <a:avLst/>
              </a:prstGeom>
              <a:blipFill rotWithShape="0">
                <a:blip r:embed="rId4"/>
                <a:stretch>
                  <a:fillRect/>
                </a:stretch>
              </a:blipFill>
            </p:spPr>
            <p:txBody>
              <a:bodyPr/>
              <a:lstStyle/>
              <a:p>
                <a:r>
                  <a:rPr lang="en-US">
                    <a:noFill/>
                  </a:rPr>
                  <a:t> </a:t>
                </a:r>
              </a:p>
            </p:txBody>
          </p:sp>
        </mc:Fallback>
      </mc:AlternateContent>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5000" y="2308268"/>
            <a:ext cx="3186474" cy="2389856"/>
          </a:xfrm>
          <a:prstGeom prst="rect">
            <a:avLst/>
          </a:prstGeom>
        </p:spPr>
      </p:pic>
      <p:sp>
        <p:nvSpPr>
          <p:cNvPr id="8" name="Rectangle 7"/>
          <p:cNvSpPr/>
          <p:nvPr/>
        </p:nvSpPr>
        <p:spPr>
          <a:xfrm>
            <a:off x="6392917" y="3221070"/>
            <a:ext cx="630621" cy="29166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5833241" y="3920762"/>
            <a:ext cx="1426780"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你觉得</a:t>
            </a:r>
            <a:r>
              <a:rPr kumimoji="0" lang="en-US" altLang="zh-CN"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3</a:t>
            </a:r>
            <a:r>
              <a:rPr kumimoji="0" lang="zh-CN" altLang="en-US"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和</a:t>
            </a:r>
            <a:r>
              <a:rPr kumimoji="0" lang="en-US" altLang="zh-CN"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4</a:t>
            </a:r>
            <a:r>
              <a:rPr kumimoji="0" lang="zh-CN" altLang="en-US"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谁更重要？</a:t>
            </a:r>
            <a:endParaRPr kumimoji="0" lang="en-US" sz="1600" b="0" i="0" u="none" strike="noStrike" kern="1200" cap="none" spc="0" normalizeH="0" baseline="0" noProof="0" dirty="0">
              <a:ln>
                <a:noFill/>
              </a:ln>
              <a:solidFill>
                <a:srgbClr val="FF0000"/>
              </a:solidFill>
              <a:effectLst/>
              <a:uLnTx/>
              <a:uFillTx/>
              <a:latin typeface="Calibri"/>
              <a:ea typeface="+mn-ea"/>
              <a:cs typeface="+mn-cs"/>
            </a:endParaRPr>
          </a:p>
        </p:txBody>
      </p:sp>
      <p:sp>
        <p:nvSpPr>
          <p:cNvPr id="5" name="Slide Number Placeholder 4">
            <a:extLst>
              <a:ext uri="{FF2B5EF4-FFF2-40B4-BE49-F238E27FC236}">
                <a16:creationId xmlns="" xmlns:a16="http://schemas.microsoft.com/office/drawing/2014/main" id="{BE543AAE-127E-1544-AA48-E4020247FD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94913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blinds(horizontal)">
                                      <p:cBhvr>
                                        <p:cTn id="7" dur="500"/>
                                        <p:tgtEl>
                                          <p:spTgt spid="3">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p>
        </p:txBody>
      </p:sp>
      <p:sp>
        <p:nvSpPr>
          <p:cNvPr id="3" name="Content Placeholder 2"/>
          <p:cNvSpPr>
            <a:spLocks noGrp="1"/>
          </p:cNvSpPr>
          <p:nvPr>
            <p:ph idx="1"/>
          </p:nvPr>
        </p:nvSpPr>
        <p:spPr>
          <a:xfrm>
            <a:off x="457200" y="819150"/>
            <a:ext cx="8229600" cy="761456"/>
          </a:xfrm>
        </p:spPr>
        <p:txBody>
          <a:bodyPr/>
          <a:lstStyle/>
          <a:p>
            <a:r>
              <a:rPr lang="zh-CN" altLang="en-US" dirty="0"/>
              <a:t>源代码</a:t>
            </a:r>
            <a:endParaRPr lang="en-US" dirty="0"/>
          </a:p>
        </p:txBody>
      </p:sp>
      <p:sp>
        <p:nvSpPr>
          <p:cNvPr id="4" name="Rectangle 3"/>
          <p:cNvSpPr/>
          <p:nvPr/>
        </p:nvSpPr>
        <p:spPr>
          <a:xfrm>
            <a:off x="731520" y="1316083"/>
            <a:ext cx="8229600" cy="3416320"/>
          </a:xfrm>
          <a:prstGeom prst="rect">
            <a:avLst/>
          </a:prstGeom>
          <a:solidFill>
            <a:srgbClr val="0E223A"/>
          </a:solidFill>
          <a:ln>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66D9EF"/>
                </a:solidFill>
                <a:effectLst/>
                <a:uLnTx/>
                <a:uFillTx/>
                <a:latin typeface="Calibri"/>
                <a:ea typeface="+mn-ea"/>
                <a:cs typeface="+mn-cs"/>
              </a:rPr>
              <a:t>def</a:t>
            </a:r>
            <a:r>
              <a:rPr kumimoji="0" lang="en-US" sz="1800" b="0" i="1" u="none" strike="noStrike" kern="1200" cap="none" spc="0" normalizeH="0" baseline="0" noProof="0" dirty="0">
                <a:ln>
                  <a:noFill/>
                </a:ln>
                <a:solidFill>
                  <a:srgbClr val="66D9EF"/>
                </a:solidFill>
                <a:effectLst/>
                <a:uLnTx/>
                <a:uFillTx/>
                <a:latin typeface="Calibri"/>
                <a:ea typeface="+mn-ea"/>
                <a:cs typeface="+mn-cs"/>
              </a:rPr>
              <a:t> </a:t>
            </a:r>
            <a:r>
              <a:rPr kumimoji="0" lang="en-US" sz="1800" b="0" i="0" u="none" strike="noStrike" kern="1200" cap="none" spc="0" normalizeH="0" baseline="0" noProof="0" dirty="0" err="1">
                <a:ln>
                  <a:noFill/>
                </a:ln>
                <a:solidFill>
                  <a:srgbClr val="A6E22E"/>
                </a:solidFill>
                <a:effectLst/>
                <a:uLnTx/>
                <a:uFillTx/>
                <a:latin typeface="Calibri"/>
                <a:ea typeface="+mn-ea"/>
                <a:cs typeface="+mn-cs"/>
              </a:rPr>
              <a:t>degree_centrality</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srgbClr val="F92672"/>
                </a:solidFill>
                <a:effectLst/>
                <a:uLnTx/>
                <a:uFillTx/>
                <a:latin typeface="Calibri"/>
                <a:ea typeface="+mn-ea"/>
                <a:cs typeface="+mn-cs"/>
              </a:rPr>
              <a:t>:</a:t>
            </a:r>
            <a:br>
              <a:rPr kumimoji="0" lang="en-US" sz="1800" b="0" i="0" u="none" strike="noStrike" kern="1200" cap="none" spc="0" normalizeH="0" baseline="0" noProof="0" dirty="0">
                <a:ln>
                  <a:noFill/>
                </a:ln>
                <a:solidFill>
                  <a:srgbClr val="F92672"/>
                </a:solidFill>
                <a:effectLst/>
                <a:uLnTx/>
                <a:uFillTx/>
                <a:latin typeface="Calibri"/>
                <a:ea typeface="+mn-ea"/>
                <a:cs typeface="+mn-cs"/>
              </a:rPr>
            </a:b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75715E"/>
                </a:solidFill>
                <a:effectLst/>
                <a:uLnTx/>
                <a:uFillTx/>
                <a:latin typeface="Calibri"/>
                <a:ea typeface="+mn-ea"/>
                <a:cs typeface="+mn-cs"/>
              </a:rPr>
              <a:t>"""Compute the degree centrality for nodes.</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The degree centrality for a node v is the fraction of nodes it</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is connected to.</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if </a:t>
            </a:r>
            <a:r>
              <a:rPr kumimoji="0" lang="en-US" sz="1800" b="0" i="0" u="none" strike="noStrike" kern="1200" cap="none" spc="0" normalizeH="0" baseline="0" noProof="0" dirty="0" err="1">
                <a:ln>
                  <a:noFill/>
                </a:ln>
                <a:solidFill>
                  <a:srgbClr val="66D9EF"/>
                </a:solidFill>
                <a:effectLst/>
                <a:uLnTx/>
                <a:uFillTx/>
                <a:latin typeface="Calibri"/>
                <a:ea typeface="+mn-ea"/>
                <a:cs typeface="+mn-cs"/>
              </a:rPr>
              <a:t>len</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&lt;= </a:t>
            </a:r>
            <a:r>
              <a:rPr kumimoji="0" lang="en-US" sz="1800" b="0" i="0" u="none" strike="noStrike" kern="1200" cap="none" spc="0" normalizeH="0" baseline="0" noProof="0" dirty="0">
                <a:ln>
                  <a:noFill/>
                </a:ln>
                <a:solidFill>
                  <a:srgbClr val="AE81FF"/>
                </a:solidFill>
                <a:effectLst/>
                <a:uLnTx/>
                <a:uFillTx/>
                <a:latin typeface="Calibri"/>
                <a:ea typeface="+mn-ea"/>
                <a:cs typeface="+mn-cs"/>
              </a:rPr>
              <a:t>1</a:t>
            </a:r>
            <a:r>
              <a:rPr kumimoji="0" lang="en-US" sz="1800" b="0" i="0" u="none" strike="noStrike" kern="1200" cap="none" spc="0" normalizeH="0" baseline="0" noProof="0" dirty="0">
                <a:ln>
                  <a:noFill/>
                </a:ln>
                <a:solidFill>
                  <a:srgbClr val="F92672"/>
                </a:solidFill>
                <a:effectLst/>
                <a:uLnTx/>
                <a:uFillTx/>
                <a:latin typeface="Calibri"/>
                <a:ea typeface="+mn-ea"/>
                <a:cs typeface="+mn-cs"/>
              </a:rPr>
              <a:t>:</a:t>
            </a:r>
            <a:br>
              <a:rPr kumimoji="0" lang="en-US" sz="1800" b="0" i="0" u="none" strike="noStrike" kern="1200" cap="none" spc="0" normalizeH="0" baseline="0" noProof="0" dirty="0">
                <a:ln>
                  <a:noFill/>
                </a:ln>
                <a:solidFill>
                  <a:srgbClr val="F92672"/>
                </a:solidFill>
                <a:effectLst/>
                <a:uLnTx/>
                <a:uFillTx/>
                <a:latin typeface="Calibri"/>
                <a:ea typeface="+mn-ea"/>
                <a:cs typeface="+mn-cs"/>
              </a:rPr>
            </a:b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return </a:t>
            </a:r>
            <a:r>
              <a:rPr kumimoji="0" lang="en-US" sz="1800" b="0" i="0" u="none" strike="noStrike" kern="1200" cap="none" spc="0" normalizeH="0" baseline="0" noProof="0" dirty="0">
                <a:ln>
                  <a:noFill/>
                </a:ln>
                <a:solidFill>
                  <a:prstClr val="white"/>
                </a:solidFill>
                <a:effectLst/>
                <a:uLnTx/>
                <a:uFillTx/>
                <a:latin typeface="Calibri"/>
                <a:ea typeface="+mn-ea"/>
                <a:cs typeface="+mn-cs"/>
              </a:rPr>
              <a:t>{n</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AE81FF"/>
                </a:solidFill>
                <a:effectLst/>
                <a:uLnTx/>
                <a:uFillTx/>
                <a:latin typeface="Calibri"/>
                <a:ea typeface="+mn-ea"/>
                <a:cs typeface="+mn-cs"/>
              </a:rPr>
              <a:t>1 </a:t>
            </a:r>
            <a:r>
              <a:rPr kumimoji="0" lang="en-US" sz="1800" b="0" i="1" u="none" strike="noStrike" kern="1200" cap="none" spc="0" normalizeH="0" baseline="0" noProof="0" dirty="0">
                <a:ln>
                  <a:noFill/>
                </a:ln>
                <a:solidFill>
                  <a:srgbClr val="66D9EF"/>
                </a:solidFill>
                <a:effectLst/>
                <a:uLnTx/>
                <a:uFillTx/>
                <a:latin typeface="Calibri"/>
                <a:ea typeface="+mn-ea"/>
                <a:cs typeface="+mn-cs"/>
              </a:rPr>
              <a:t>for </a:t>
            </a:r>
            <a:r>
              <a:rPr kumimoji="0" lang="en-US" sz="1800" b="0" i="0" u="none" strike="noStrike" kern="1200" cap="none" spc="0" normalizeH="0" baseline="0" noProof="0" dirty="0">
                <a:ln>
                  <a:noFill/>
                </a:ln>
                <a:solidFill>
                  <a:prstClr val="white"/>
                </a:solidFill>
                <a:effectLst/>
                <a:uLnTx/>
                <a:uFillTx/>
                <a:latin typeface="Calibri"/>
                <a:ea typeface="+mn-ea"/>
                <a:cs typeface="+mn-cs"/>
              </a:rPr>
              <a:t>n</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in </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s</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AE81FF"/>
                </a:solidFill>
                <a:effectLst/>
                <a:uLnTx/>
                <a:uFillTx/>
                <a:latin typeface="Calibri"/>
                <a:ea typeface="+mn-ea"/>
                <a:cs typeface="+mn-cs"/>
              </a:rPr>
              <a:t>1.0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err="1">
                <a:ln>
                  <a:noFill/>
                </a:ln>
                <a:solidFill>
                  <a:srgbClr val="66D9EF"/>
                </a:solidFill>
                <a:effectLst/>
                <a:uLnTx/>
                <a:uFillTx/>
                <a:latin typeface="Calibri"/>
                <a:ea typeface="+mn-ea"/>
                <a:cs typeface="+mn-cs"/>
              </a:rPr>
              <a:t>len</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AE81FF"/>
                </a:solidFill>
                <a:effectLst/>
                <a:uLnTx/>
                <a:uFillTx/>
                <a:latin typeface="Calibri"/>
                <a:ea typeface="+mn-ea"/>
                <a:cs typeface="+mn-cs"/>
              </a:rPr>
              <a:t>1.0</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centrality</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{n</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d</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s</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for </a:t>
            </a:r>
            <a:r>
              <a:rPr kumimoji="0" lang="en-US" sz="1800" b="0" i="0" u="none" strike="noStrike" kern="1200" cap="none" spc="0" normalizeH="0" baseline="0" noProof="0" dirty="0">
                <a:ln>
                  <a:noFill/>
                </a:ln>
                <a:solidFill>
                  <a:prstClr val="white"/>
                </a:solidFill>
                <a:effectLst/>
                <a:uLnTx/>
                <a:uFillTx/>
                <a:latin typeface="Calibri"/>
                <a:ea typeface="+mn-ea"/>
                <a:cs typeface="+mn-cs"/>
              </a:rPr>
              <a:t>n, d</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in </a:t>
            </a:r>
            <a:r>
              <a:rPr kumimoji="0" lang="en-US" sz="1800" b="0" i="1" u="none" strike="noStrike" kern="1200" cap="none" spc="0" normalizeH="0" baseline="0" noProof="0" dirty="0" err="1">
                <a:ln>
                  <a:noFill/>
                </a:ln>
                <a:solidFill>
                  <a:srgbClr val="FD971F"/>
                </a:solidFill>
                <a:effectLst/>
                <a:uLnTx/>
                <a:uFillTx/>
                <a:latin typeface="Calibri"/>
                <a:ea typeface="+mn-ea"/>
                <a:cs typeface="+mn-cs"/>
              </a:rPr>
              <a:t>G</a:t>
            </a:r>
            <a:r>
              <a:rPr kumimoji="0" lang="en-US" sz="1800" b="0" i="0" u="none" strike="noStrike" kern="1200" cap="none" spc="0" normalizeH="0" baseline="0" noProof="0" dirty="0" err="1">
                <a:ln>
                  <a:noFill/>
                </a:ln>
                <a:solidFill>
                  <a:prstClr val="black"/>
                </a:solidFill>
                <a:effectLst/>
                <a:uLnTx/>
                <a:uFillTx/>
                <a:latin typeface="Calibri"/>
                <a:ea typeface="+mn-ea"/>
                <a:cs typeface="+mn-cs"/>
              </a:rPr>
              <a:t>.</a:t>
            </a:r>
            <a:r>
              <a:rPr kumimoji="0" lang="en-US" sz="1800" b="0" i="0" u="none" strike="noStrike" kern="1200" cap="none" spc="0" normalizeH="0" baseline="0" noProof="0" dirty="0" err="1">
                <a:ln>
                  <a:noFill/>
                </a:ln>
                <a:solidFill>
                  <a:srgbClr val="66D9EF"/>
                </a:solidFill>
                <a:effectLst/>
                <a:uLnTx/>
                <a:uFillTx/>
                <a:latin typeface="Calibri"/>
                <a:ea typeface="+mn-ea"/>
                <a:cs typeface="+mn-cs"/>
              </a:rPr>
              <a:t>degree</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return </a:t>
            </a:r>
            <a:r>
              <a:rPr kumimoji="0" lang="en-US" sz="1800" b="0" i="0" u="none" strike="noStrike" kern="1200" cap="none" spc="0" normalizeH="0" baseline="0" noProof="0" dirty="0">
                <a:ln>
                  <a:noFill/>
                </a:ln>
                <a:solidFill>
                  <a:prstClr val="white"/>
                </a:solidFill>
                <a:effectLst/>
                <a:uLnTx/>
                <a:uFillTx/>
                <a:latin typeface="Calibri"/>
                <a:ea typeface="+mn-ea"/>
                <a:cs typeface="+mn-cs"/>
              </a:rPr>
              <a:t>centrality</a:t>
            </a:r>
          </a:p>
        </p:txBody>
      </p:sp>
      <p:sp>
        <p:nvSpPr>
          <p:cNvPr id="5" name="Slide Number Placeholder 4">
            <a:extLst>
              <a:ext uri="{FF2B5EF4-FFF2-40B4-BE49-F238E27FC236}">
                <a16:creationId xmlns="" xmlns:a16="http://schemas.microsoft.com/office/drawing/2014/main" id="{74D152EE-DC8D-C543-8B83-39FA301826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13636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节点度数的分布</a:t>
            </a:r>
            <a:endParaRPr lang="en-US" dirty="0"/>
          </a:p>
        </p:txBody>
      </p:sp>
      <p:sp>
        <p:nvSpPr>
          <p:cNvPr id="3" name="Content Placeholder 2">
            <a:extLst>
              <a:ext uri="{FF2B5EF4-FFF2-40B4-BE49-F238E27FC236}">
                <a16:creationId xmlns="" xmlns:a16="http://schemas.microsoft.com/office/drawing/2014/main" id="{30608D34-8496-9140-BB2F-6C0D32D8490C}"/>
              </a:ext>
            </a:extLst>
          </p:cNvPr>
          <p:cNvSpPr>
            <a:spLocks noGrp="1"/>
          </p:cNvSpPr>
          <p:nvPr>
            <p:ph idx="1"/>
          </p:nvPr>
        </p:nvSpPr>
        <p:spPr>
          <a:xfrm>
            <a:off x="457200" y="819150"/>
            <a:ext cx="7945395" cy="3937000"/>
          </a:xfrm>
        </p:spPr>
        <p:txBody>
          <a:bodyPr>
            <a:normAutofit/>
          </a:bodyPr>
          <a:lstStyle/>
          <a:p>
            <a:r>
              <a:rPr lang="zh-CN" altLang="en-US" dirty="0"/>
              <a:t>问题：在大多数真实图（如社交图）中，节点度数呈现什么分布？</a:t>
            </a:r>
          </a:p>
          <a:p>
            <a:endParaRPr lang="zh-CN" altLang="en-US" dirty="0"/>
          </a:p>
          <a:p>
            <a:endParaRPr lang="en-US" altLang="zh-CN" dirty="0"/>
          </a:p>
          <a:p>
            <a:pPr marL="0" indent="0">
              <a:buNone/>
            </a:pPr>
            <a:endParaRPr lang="en-US" altLang="zh-CN" dirty="0"/>
          </a:p>
          <a:p>
            <a:endParaRPr lang="en-US" dirty="0"/>
          </a:p>
        </p:txBody>
      </p:sp>
      <p:sp>
        <p:nvSpPr>
          <p:cNvPr id="4" name="Slide Number Placeholder 3">
            <a:extLst>
              <a:ext uri="{FF2B5EF4-FFF2-40B4-BE49-F238E27FC236}">
                <a16:creationId xmlns="" xmlns:a16="http://schemas.microsoft.com/office/drawing/2014/main" id="{945D50C0-7C6F-0542-9366-F6888A031CE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Rectangle 5">
            <a:extLst>
              <a:ext uri="{FF2B5EF4-FFF2-40B4-BE49-F238E27FC236}">
                <a16:creationId xmlns="" xmlns:a16="http://schemas.microsoft.com/office/drawing/2014/main" id="{89A462B3-85B3-5A46-9D6B-42050E8B0DE3}"/>
              </a:ext>
            </a:extLst>
          </p:cNvPr>
          <p:cNvSpPr/>
          <p:nvPr/>
        </p:nvSpPr>
        <p:spPr>
          <a:xfrm>
            <a:off x="457200" y="1244443"/>
            <a:ext cx="5019133" cy="35394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err="1">
                <a:ln>
                  <a:noFill/>
                </a:ln>
                <a:solidFill>
                  <a:prstClr val="black"/>
                </a:solidFill>
                <a:effectLst/>
                <a:uLnTx/>
                <a:uFillTx/>
                <a:latin typeface="Calibri"/>
                <a:ea typeface="+mn-ea"/>
                <a:cs typeface="+mn-cs"/>
              </a:rPr>
              <a:t>def</a:t>
            </a:r>
            <a:r>
              <a:rPr kumimoji="0" lang="en-US" sz="1600" b="0" i="1"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degree_histogram</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1" u="none" strike="noStrike" kern="1200" cap="none" spc="0" normalizeH="0" baseline="0" noProof="0" dirty="0">
                <a:ln>
                  <a:noFill/>
                </a:ln>
                <a:solidFill>
                  <a:prstClr val="black"/>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a:t>
            </a:r>
            <a:r>
              <a:rPr kumimoji="0" lang="en-US" sz="1600" b="0" i="0" u="none" strike="noStrike" kern="1200" cap="none" spc="0" normalizeH="0" baseline="0" noProof="0" dirty="0">
                <a:ln>
                  <a:noFill/>
                </a:ln>
                <a:solidFill>
                  <a:prstClr val="black"/>
                </a:solidFill>
                <a:effectLst/>
                <a:uLnTx/>
                <a:uFillTx/>
                <a:latin typeface="Calibri"/>
                <a:ea typeface="+mn-ea"/>
                <a:cs typeface="+mn-cs"/>
              </a:rPr>
              <a:t>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nx.degree_centrality</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r>
              <a:rPr kumimoji="0" lang="en-US" sz="1600" b="0" i="1" u="none" strike="noStrike" kern="1200" cap="none" spc="0" normalizeH="0" baseline="0" noProof="0" dirty="0">
                <a:ln>
                  <a:noFill/>
                </a:ln>
                <a:solidFill>
                  <a:prstClr val="black"/>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deg_raw</a:t>
            </a:r>
            <a:r>
              <a:rPr kumimoji="0" lang="en-US" sz="1600" b="0" i="0" u="none" strike="noStrike" kern="1200" cap="none" spc="0" normalizeH="0" baseline="0" noProof="0" dirty="0">
                <a:ln>
                  <a:noFill/>
                </a:ln>
                <a:solidFill>
                  <a:prstClr val="black"/>
                </a:solidFill>
                <a:effectLst/>
                <a:uLnTx/>
                <a:uFillTx/>
                <a:latin typeface="Calibri"/>
                <a:ea typeface="+mn-ea"/>
                <a:cs typeface="+mn-cs"/>
              </a:rPr>
              <a:t> = {k: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int</a:t>
            </a:r>
            <a:r>
              <a:rPr kumimoji="0" lang="en-US" sz="1600" b="0" i="0" u="none" strike="noStrike" kern="1200" cap="none" spc="0" normalizeH="0" baseline="0" noProof="0" dirty="0">
                <a:ln>
                  <a:noFill/>
                </a:ln>
                <a:solidFill>
                  <a:prstClr val="black"/>
                </a:solidFill>
                <a:effectLst/>
                <a:uLnTx/>
                <a:uFillTx/>
                <a:latin typeface="Calibri"/>
                <a:ea typeface="+mn-ea"/>
                <a:cs typeface="+mn-cs"/>
              </a:rPr>
              <a:t>(v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len</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r>
              <a:rPr kumimoji="0" lang="en-US" sz="1600" b="0" i="1" u="none" strike="noStrike" kern="1200" cap="none" spc="0" normalizeH="0" baseline="0" noProof="0" dirty="0">
                <a:ln>
                  <a:noFill/>
                </a:ln>
                <a:solidFill>
                  <a:prstClr val="black"/>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- 1)) </a:t>
            </a:r>
            <a:r>
              <a:rPr kumimoji="0" lang="en-US" sz="1600" b="0" i="1" u="none" strike="noStrike" kern="1200" cap="none" spc="0" normalizeH="0" baseline="0" noProof="0" dirty="0">
                <a:ln>
                  <a:noFill/>
                </a:ln>
                <a:solidFill>
                  <a:prstClr val="black"/>
                </a:solidFill>
                <a:effectLst/>
                <a:uLnTx/>
                <a:uFillTx/>
                <a:latin typeface="Calibri"/>
                <a:ea typeface="+mn-ea"/>
                <a:cs typeface="+mn-cs"/>
              </a:rPr>
              <a:t>for </a:t>
            </a:r>
            <a:r>
              <a:rPr kumimoji="0" lang="en-US" sz="1600" b="0" i="0" u="none" strike="noStrike" kern="1200" cap="none" spc="0" normalizeH="0" baseline="0" noProof="0" dirty="0">
                <a:ln>
                  <a:noFill/>
                </a:ln>
                <a:solidFill>
                  <a:prstClr val="black"/>
                </a:solidFill>
                <a:effectLst/>
                <a:uLnTx/>
                <a:uFillTx/>
                <a:latin typeface="Calibri"/>
                <a:ea typeface="+mn-ea"/>
                <a:cs typeface="+mn-cs"/>
              </a:rPr>
              <a:t>k, v </a:t>
            </a:r>
            <a:r>
              <a:rPr kumimoji="0" lang="en-US" sz="1600" b="0" i="1" u="none" strike="noStrike" kern="1200" cap="none" spc="0" normalizeH="0" baseline="0" noProof="0" dirty="0">
                <a:ln>
                  <a:noFill/>
                </a:ln>
                <a:solidFill>
                  <a:prstClr val="black"/>
                </a:solidFill>
                <a:effectLst/>
                <a:uLnTx/>
                <a:uFillTx/>
                <a:latin typeface="Calibri"/>
                <a:ea typeface="+mn-ea"/>
                <a:cs typeface="+mn-cs"/>
              </a:rPr>
              <a:t>in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deg.items</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deg_hist</a:t>
            </a:r>
            <a:r>
              <a:rPr kumimoji="0" lang="en-US" sz="1600" b="0" i="0" u="none" strike="noStrike" kern="1200" cap="none" spc="0" normalizeH="0" baseline="0" noProof="0" dirty="0">
                <a:ln>
                  <a:noFill/>
                </a:ln>
                <a:solidFill>
                  <a:prstClr val="black"/>
                </a:solidFill>
                <a:effectLst/>
                <a:uLnTx/>
                <a:uFillTx/>
                <a:latin typeface="Calibri"/>
                <a:ea typeface="+mn-ea"/>
                <a:cs typeface="+mn-cs"/>
              </a:rPr>
              <a:t>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dict</a:t>
            </a:r>
            <a:r>
              <a:rPr kumimoji="0" lang="en-US" sz="1600" b="0" i="0" u="none" strike="noStrike" kern="1200" cap="none" spc="0" normalizeH="0" baseline="0" noProof="0" dirty="0">
                <a:ln>
                  <a:noFill/>
                </a:ln>
                <a:solidFill>
                  <a:prstClr val="black"/>
                </a:solidFill>
                <a:effectLst/>
                <a:uLnTx/>
                <a:uFillTx/>
                <a:latin typeface="Calibri"/>
                <a:ea typeface="+mn-ea"/>
                <a:cs typeface="+mn-cs"/>
              </a:rPr>
              <a:t>(Counter(</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deg_raw.values</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plt.xscale</a:t>
            </a:r>
            <a:r>
              <a:rPr kumimoji="0" lang="en-US" sz="1600" b="0" i="0" u="none" strike="noStrike" kern="1200" cap="none" spc="0" normalizeH="0" baseline="0" noProof="0" dirty="0">
                <a:ln>
                  <a:noFill/>
                </a:ln>
                <a:solidFill>
                  <a:prstClr val="black"/>
                </a:solidFill>
                <a:effectLst/>
                <a:uLnTx/>
                <a:uFillTx/>
                <a:latin typeface="Calibri"/>
                <a:ea typeface="+mn-ea"/>
                <a:cs typeface="+mn-cs"/>
              </a:rPr>
              <a:t>('log')</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plt.yscale</a:t>
            </a:r>
            <a:r>
              <a:rPr kumimoji="0" lang="en-US" sz="1600" b="0" i="0" u="none" strike="noStrike" kern="1200" cap="none" spc="0" normalizeH="0" baseline="0" noProof="0" dirty="0">
                <a:ln>
                  <a:noFill/>
                </a:ln>
                <a:solidFill>
                  <a:prstClr val="black"/>
                </a:solidFill>
                <a:effectLst/>
                <a:uLnTx/>
                <a:uFillTx/>
                <a:latin typeface="Calibri"/>
                <a:ea typeface="+mn-ea"/>
                <a:cs typeface="+mn-cs"/>
              </a:rPr>
              <a:t>('log')</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plt.scatter</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deg_hist.keys</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deg_hist.values</a:t>
            </a:r>
            <a:r>
              <a:rPr kumimoji="0" lang="en-US" sz="1600" b="0" i="0" u="none" strike="noStrike" kern="1200" cap="none" spc="0" normalizeH="0" baseline="0" noProof="0" dirty="0">
                <a:ln>
                  <a:noFill/>
                </a:ln>
                <a:solidFill>
                  <a:prstClr val="black"/>
                </a:solidFill>
                <a:effectLst/>
                <a:uLnTx/>
                <a:uFillTx/>
                <a:latin typeface="Calibri"/>
                <a:ea typeface="+mn-ea"/>
                <a:cs typeface="+mn-cs"/>
              </a:rPr>
              <a:t>(), c='b', marker='x')</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plt.xlim</a:t>
            </a:r>
            <a:r>
              <a:rPr kumimoji="0" lang="en-US" sz="1600" b="0" i="0" u="none" strike="noStrike" kern="1200" cap="none" spc="0" normalizeH="0" baseline="0" noProof="0" dirty="0">
                <a:ln>
                  <a:noFill/>
                </a:ln>
                <a:solidFill>
                  <a:prstClr val="black"/>
                </a:solidFill>
                <a:effectLst/>
                <a:uLnTx/>
                <a:uFillTx/>
                <a:latin typeface="Calibri"/>
                <a:ea typeface="+mn-ea"/>
                <a:cs typeface="+mn-cs"/>
              </a:rPr>
              <a:t>((1e0, 1e2))</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plt.ylim</a:t>
            </a:r>
            <a:r>
              <a:rPr kumimoji="0" lang="en-US" sz="1600" b="0" i="0" u="none" strike="noStrike" kern="1200" cap="none" spc="0" normalizeH="0" baseline="0" noProof="0" dirty="0">
                <a:ln>
                  <a:noFill/>
                </a:ln>
                <a:solidFill>
                  <a:prstClr val="black"/>
                </a:solidFill>
                <a:effectLst/>
                <a:uLnTx/>
                <a:uFillTx/>
                <a:latin typeface="Calibri"/>
                <a:ea typeface="+mn-ea"/>
                <a:cs typeface="+mn-cs"/>
              </a:rPr>
              <a:t>((1e0, 1e2))</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plt.xlabel</a:t>
            </a:r>
            <a:r>
              <a:rPr kumimoji="0" lang="en-US" sz="1600" b="0" i="0" u="none" strike="noStrike" kern="1200" cap="none" spc="0" normalizeH="0" baseline="0" noProof="0" dirty="0">
                <a:ln>
                  <a:noFill/>
                </a:ln>
                <a:solidFill>
                  <a:prstClr val="black"/>
                </a:solidFill>
                <a:effectLst/>
                <a:uLnTx/>
                <a:uFillTx/>
                <a:latin typeface="Calibri"/>
                <a:ea typeface="+mn-ea"/>
                <a:cs typeface="+mn-cs"/>
              </a:rPr>
              <a:t>('Degree')</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plt.ylabel</a:t>
            </a:r>
            <a:r>
              <a:rPr kumimoji="0" lang="en-US" sz="1600" b="0" i="0" u="none" strike="noStrike" kern="1200" cap="none" spc="0" normalizeH="0" baseline="0" noProof="0" dirty="0">
                <a:ln>
                  <a:noFill/>
                </a:ln>
                <a:solidFill>
                  <a:prstClr val="black"/>
                </a:solidFill>
                <a:effectLst/>
                <a:uLnTx/>
                <a:uFillTx/>
                <a:latin typeface="Calibri"/>
                <a:ea typeface="+mn-ea"/>
                <a:cs typeface="+mn-cs"/>
              </a:rPr>
              <a:t>('Frequency')</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plt.show</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p>
        </p:txBody>
      </p:sp>
      <p:pic>
        <p:nvPicPr>
          <p:cNvPr id="8" name="图片 4">
            <a:extLst>
              <a:ext uri="{FF2B5EF4-FFF2-40B4-BE49-F238E27FC236}">
                <a16:creationId xmlns="" xmlns:a16="http://schemas.microsoft.com/office/drawing/2014/main" id="{25C1584D-26FC-0542-9814-CD2C960DD79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6333" y="1566139"/>
            <a:ext cx="3565226" cy="2431272"/>
          </a:xfrm>
          <a:prstGeom prst="rect">
            <a:avLst/>
          </a:prstGeom>
          <a:noFill/>
          <a:ln>
            <a:noFill/>
          </a:ln>
        </p:spPr>
      </p:pic>
    </p:spTree>
    <p:extLst>
      <p:ext uri="{BB962C8B-B14F-4D97-AF65-F5344CB8AC3E}">
        <p14:creationId xmlns:p14="http://schemas.microsoft.com/office/powerpoint/2010/main" val="3172209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节点度数的分布</a:t>
            </a:r>
            <a:endParaRPr lang="en-US" dirty="0"/>
          </a:p>
        </p:txBody>
      </p:sp>
      <p:sp>
        <p:nvSpPr>
          <p:cNvPr id="3" name="Content Placeholder 2">
            <a:extLst>
              <a:ext uri="{FF2B5EF4-FFF2-40B4-BE49-F238E27FC236}">
                <a16:creationId xmlns="" xmlns:a16="http://schemas.microsoft.com/office/drawing/2014/main" id="{30608D34-8496-9140-BB2F-6C0D32D8490C}"/>
              </a:ext>
            </a:extLst>
          </p:cNvPr>
          <p:cNvSpPr>
            <a:spLocks noGrp="1"/>
          </p:cNvSpPr>
          <p:nvPr>
            <p:ph idx="1"/>
          </p:nvPr>
        </p:nvSpPr>
        <p:spPr>
          <a:xfrm>
            <a:off x="457200" y="819150"/>
            <a:ext cx="7945395" cy="3937000"/>
          </a:xfrm>
        </p:spPr>
        <p:txBody>
          <a:bodyPr>
            <a:normAutofit/>
          </a:bodyPr>
          <a:lstStyle/>
          <a:p>
            <a:r>
              <a:rPr lang="zh-CN" altLang="en-US" dirty="0"/>
              <a:t>问题：在大多数真实图（如社交图）中，节点度数呈现什么分布？</a:t>
            </a:r>
          </a:p>
          <a:p>
            <a:pPr lvl="1"/>
            <a:r>
              <a:rPr lang="en-US" altLang="zh-CN" dirty="0"/>
              <a:t>Power Law</a:t>
            </a:r>
            <a:r>
              <a:rPr lang="zh-CN" altLang="en-US" dirty="0"/>
              <a:t>幂律分布：度量分布函数𝑃（𝐾），其中𝐾为节点度数， 𝑃（𝐾）表示度数为𝐾的节点出现的频率</a:t>
            </a:r>
          </a:p>
          <a:p>
            <a:pPr lvl="1"/>
            <a:r>
              <a:rPr lang="en-US" altLang="zh-CN" dirty="0"/>
              <a:t>Power Law</a:t>
            </a:r>
            <a:r>
              <a:rPr lang="zh-CN" altLang="en-US" dirty="0"/>
              <a:t>度数分布的直观解释 </a:t>
            </a:r>
            <a:r>
              <a:rPr lang="en-US" altLang="zh-CN" dirty="0"/>
              <a:t>– </a:t>
            </a:r>
            <a:r>
              <a:rPr lang="zh-CN" altLang="en-US" dirty="0"/>
              <a:t>长尾分布：大多数节点的度数都很低，只有少部分节点的度数很高，即对他人能够产生较大影响力</a:t>
            </a:r>
          </a:p>
          <a:p>
            <a:pPr lvl="1"/>
            <a:r>
              <a:rPr lang="zh-CN" altLang="en-US" dirty="0"/>
              <a:t>著名的“二八定律”</a:t>
            </a:r>
          </a:p>
          <a:p>
            <a:endParaRPr lang="en-US" altLang="zh-CN" dirty="0"/>
          </a:p>
          <a:p>
            <a:pPr marL="0" indent="0">
              <a:buNone/>
            </a:pPr>
            <a:endParaRPr lang="en-US" altLang="zh-CN" dirty="0"/>
          </a:p>
          <a:p>
            <a:endParaRPr lang="en-US" dirty="0"/>
          </a:p>
        </p:txBody>
      </p:sp>
      <p:sp>
        <p:nvSpPr>
          <p:cNvPr id="4" name="Slide Number Placeholder 3">
            <a:extLst>
              <a:ext uri="{FF2B5EF4-FFF2-40B4-BE49-F238E27FC236}">
                <a16:creationId xmlns="" xmlns:a16="http://schemas.microsoft.com/office/drawing/2014/main" id="{945D50C0-7C6F-0542-9366-F6888A031CE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7" name="Picture 6">
            <a:extLst>
              <a:ext uri="{FF2B5EF4-FFF2-40B4-BE49-F238E27FC236}">
                <a16:creationId xmlns="" xmlns:a16="http://schemas.microsoft.com/office/drawing/2014/main" id="{12894FFE-F49C-954B-9003-F96551EF82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9384" y="2510560"/>
            <a:ext cx="4431323" cy="2304288"/>
          </a:xfrm>
          <a:prstGeom prst="rect">
            <a:avLst/>
          </a:prstGeom>
        </p:spPr>
      </p:pic>
      <p:sp>
        <p:nvSpPr>
          <p:cNvPr id="9" name="TextBox 8">
            <a:extLst>
              <a:ext uri="{FF2B5EF4-FFF2-40B4-BE49-F238E27FC236}">
                <a16:creationId xmlns="" xmlns:a16="http://schemas.microsoft.com/office/drawing/2014/main" id="{554B494E-F8D8-7D45-B74A-31C85488ECBF}"/>
              </a:ext>
            </a:extLst>
          </p:cNvPr>
          <p:cNvSpPr txBox="1"/>
          <p:nvPr/>
        </p:nvSpPr>
        <p:spPr>
          <a:xfrm>
            <a:off x="2279224" y="3014616"/>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rPr>
              <a:t>头部用户</a:t>
            </a:r>
            <a:endParaRPr kumimoji="0" 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endParaRPr>
          </a:p>
        </p:txBody>
      </p:sp>
      <p:sp>
        <p:nvSpPr>
          <p:cNvPr id="10" name="TextBox 9">
            <a:extLst>
              <a:ext uri="{FF2B5EF4-FFF2-40B4-BE49-F238E27FC236}">
                <a16:creationId xmlns="" xmlns:a16="http://schemas.microsoft.com/office/drawing/2014/main" id="{20003502-DFA8-DD49-BD23-050E38349DD3}"/>
              </a:ext>
            </a:extLst>
          </p:cNvPr>
          <p:cNvSpPr txBox="1"/>
          <p:nvPr/>
        </p:nvSpPr>
        <p:spPr>
          <a:xfrm>
            <a:off x="6671712" y="3950720"/>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rPr>
              <a:t>长尾用户</a:t>
            </a:r>
            <a:endParaRPr kumimoji="0" 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endParaRPr>
          </a:p>
        </p:txBody>
      </p:sp>
      <p:cxnSp>
        <p:nvCxnSpPr>
          <p:cNvPr id="11" name="Straight Arrow Connector 10">
            <a:extLst>
              <a:ext uri="{FF2B5EF4-FFF2-40B4-BE49-F238E27FC236}">
                <a16:creationId xmlns="" xmlns:a16="http://schemas.microsoft.com/office/drawing/2014/main" id="{3BF75244-903D-3243-A5B2-4B40BAE91816}"/>
              </a:ext>
            </a:extLst>
          </p:cNvPr>
          <p:cNvCxnSpPr>
            <a:endCxn id="7" idx="1"/>
          </p:cNvCxnSpPr>
          <p:nvPr/>
        </p:nvCxnSpPr>
        <p:spPr>
          <a:xfrm>
            <a:off x="2999304" y="3383948"/>
            <a:ext cx="720080" cy="278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 xmlns:a16="http://schemas.microsoft.com/office/drawing/2014/main" id="{A204E0CD-4F4A-B646-B3FB-36F1ECF7BBF5}"/>
              </a:ext>
            </a:extLst>
          </p:cNvPr>
          <p:cNvCxnSpPr>
            <a:cxnSpLocks/>
          </p:cNvCxnSpPr>
          <p:nvPr/>
        </p:nvCxnSpPr>
        <p:spPr>
          <a:xfrm flipH="1">
            <a:off x="6671712" y="4320052"/>
            <a:ext cx="379449" cy="278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7422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079495"/>
              </a:xfrm>
            </p:spPr>
            <p:txBody>
              <a:bodyPr/>
              <a:lstStyle/>
              <a:p>
                <a:r>
                  <a:rPr lang="en-US" altLang="zh-CN" dirty="0">
                    <a:latin typeface="Calibri" charset="0"/>
                    <a:ea typeface="Calibri" charset="0"/>
                    <a:cs typeface="Calibri" charset="0"/>
                  </a:rPr>
                  <a:t>Closeness 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取决于其它节点到它的距离是否接近</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其它节点到</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的距离越接近，</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079495"/>
              </a:xfrm>
              <a:blipFill rotWithShape="0">
                <a:blip r:embed="rId3"/>
                <a:stretch>
                  <a:fillRect l="-667" t="-2825"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969579" y="1898645"/>
                <a:ext cx="2718886" cy="71404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−1</m:t>
                          </m:r>
                        </m:num>
                        <m:den>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zh-CN" altLang="en-US"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ub>
                            <m:sup/>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𝑑</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e>
                          </m:nary>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969579" y="1898645"/>
                <a:ext cx="2718886" cy="714042"/>
              </a:xfrm>
              <a:prstGeom prst="rect">
                <a:avLst/>
              </a:prstGeom>
              <a:blipFill rotWithShape="0">
                <a:blip r:embed="rId4"/>
                <a:stretch>
                  <a:fillRect/>
                </a:stretch>
              </a:blipFill>
            </p:spPr>
            <p:txBody>
              <a:bodyPr/>
              <a:lstStyle/>
              <a:p>
                <a:r>
                  <a:rPr lang="en-US">
                    <a:noFill/>
                  </a:rPr>
                  <a:t> </a:t>
                </a:r>
              </a:p>
            </p:txBody>
          </p:sp>
        </mc:Fallback>
      </mc:AlternateContent>
      <p:sp>
        <p:nvSpPr>
          <p:cNvPr id="6" name="Rectangle 5"/>
          <p:cNvSpPr/>
          <p:nvPr/>
        </p:nvSpPr>
        <p:spPr>
          <a:xfrm>
            <a:off x="867659" y="4077318"/>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0.32, 1: 0.32, 2: 0.32, 3: 0.45, </a:t>
            </a:r>
            <a:r>
              <a:rPr kumimoji="0" lang="en-US" sz="1600" b="0" i="0" u="none" strike="noStrike" kern="1200" cap="none" spc="0" normalizeH="0" baseline="0" noProof="0" dirty="0">
                <a:ln>
                  <a:noFill/>
                </a:ln>
                <a:solidFill>
                  <a:srgbClr val="FF0000"/>
                </a:solidFill>
                <a:effectLst/>
                <a:uLnTx/>
                <a:uFillTx/>
                <a:latin typeface="Calibri"/>
                <a:ea typeface="+mn-ea"/>
                <a:cs typeface="+mn-cs"/>
              </a:rPr>
              <a:t>4: 0.5</a:t>
            </a:r>
            <a:r>
              <a:rPr kumimoji="0" lang="en-US" altLang="zh-CN"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3</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5: 0.45</a:t>
            </a:r>
            <a:r>
              <a:rPr kumimoji="0" lang="en-US" sz="1600" b="0" i="0" u="none" strike="noStrike" kern="1200" cap="none" spc="0" normalizeH="0" baseline="0" noProof="0" dirty="0">
                <a:ln>
                  <a:noFill/>
                </a:ln>
                <a:solidFill>
                  <a:prstClr val="black"/>
                </a:solidFill>
                <a:effectLst/>
                <a:uLnTx/>
                <a:uFillTx/>
                <a:latin typeface="Calibri"/>
                <a:ea typeface="+mn-ea"/>
                <a:cs typeface="+mn-cs"/>
              </a:rPr>
              <a:t>, 6: 0.43, 7: 0.3</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1</a:t>
            </a:r>
            <a:r>
              <a:rPr kumimoji="0" lang="en-US" sz="1600" b="0" i="0" u="none" strike="noStrike" kern="1200" cap="none" spc="0" normalizeH="0" baseline="0" noProof="0" dirty="0">
                <a:ln>
                  <a:noFill/>
                </a:ln>
                <a:solidFill>
                  <a:prstClr val="black"/>
                </a:solidFill>
                <a:effectLst/>
                <a:uLnTx/>
                <a:uFillTx/>
                <a:latin typeface="Calibri"/>
                <a:ea typeface="+mn-ea"/>
                <a:cs typeface="+mn-cs"/>
              </a:rPr>
              <a:t>, 8: 0.31, </a:t>
            </a:r>
            <a:r>
              <a:rPr kumimoji="0" lang="en-US" sz="1600" b="0" i="0" u="none" strike="noStrike" kern="1200" cap="none" spc="0" normalizeH="0" baseline="0" noProof="0" dirty="0">
                <a:ln>
                  <a:noFill/>
                </a:ln>
                <a:solidFill>
                  <a:srgbClr val="FF0000"/>
                </a:solidFill>
                <a:effectLst/>
                <a:uLnTx/>
                <a:uFillTx/>
                <a:latin typeface="Calibri"/>
                <a:ea typeface="+mn-ea"/>
                <a:cs typeface="+mn-cs"/>
              </a:rPr>
              <a:t>9: 0.5</a:t>
            </a:r>
            <a:r>
              <a:rPr kumimoji="0" lang="en-US" sz="1600" b="0" i="0" u="none" strike="noStrike" kern="1200" cap="none" spc="0" normalizeH="0" baseline="0" noProof="0" dirty="0">
                <a:ln>
                  <a:noFill/>
                </a:ln>
                <a:solidFill>
                  <a:prstClr val="black"/>
                </a:solidFill>
                <a:effectLst/>
                <a:uLnTx/>
                <a:uFillTx/>
                <a:latin typeface="Calibri"/>
                <a:ea typeface="+mn-ea"/>
                <a:cs typeface="+mn-cs"/>
              </a:rPr>
              <a:t>, 10: 0.34}</a:t>
            </a:r>
          </a:p>
        </p:txBody>
      </p:sp>
      <p:sp>
        <p:nvSpPr>
          <p:cNvPr id="9" name="Rectangle 8"/>
          <p:cNvSpPr/>
          <p:nvPr/>
        </p:nvSpPr>
        <p:spPr>
          <a:xfrm>
            <a:off x="-62508" y="4108095"/>
            <a:ext cx="1024759"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Closeness</a:t>
            </a:r>
            <a:r>
              <a:rPr kumimoji="0" lang="zh-CN" altLang="en-US" sz="14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0" name="Rectangle 9"/>
              <p:cNvSpPr/>
              <p:nvPr/>
            </p:nvSpPr>
            <p:spPr>
              <a:xfrm>
                <a:off x="3688465" y="1983808"/>
                <a:ext cx="1456975"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Cambria Math" charset="0"/>
                        <a:cs typeface="+mn-cs"/>
                      </a:rPr>
                      <m:t>𝑑</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𝑢</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𝑣</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𝑢</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的最短距离</a:t>
                </a:r>
                <a:endParaRPr kumimoji="0" 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mc:Choice>
        <mc:Fallback xmlns="">
          <p:sp>
            <p:nvSpPr>
              <p:cNvPr id="10" name="Rectangle 9"/>
              <p:cNvSpPr>
                <a:spLocks noRot="1" noChangeAspect="1" noMove="1" noResize="1" noEditPoints="1" noAdjustHandles="1" noChangeArrowheads="1" noChangeShapeType="1" noTextEdit="1"/>
              </p:cNvSpPr>
              <p:nvPr/>
            </p:nvSpPr>
            <p:spPr>
              <a:xfrm>
                <a:off x="3688465" y="1983808"/>
                <a:ext cx="1456975" cy="584775"/>
              </a:xfrm>
              <a:prstGeom prst="rect">
                <a:avLst/>
              </a:prstGeom>
              <a:blipFill rotWithShape="0">
                <a:blip r:embed="rId5"/>
                <a:stretch>
                  <a:fillRect l="-2092" t="-3125" b="-12500"/>
                </a:stretch>
              </a:blipFill>
            </p:spPr>
            <p:txBody>
              <a:bodyPr/>
              <a:lstStyle/>
              <a:p>
                <a:r>
                  <a:rPr lang="en-US">
                    <a:noFill/>
                  </a:rPr>
                  <a:t> </a:t>
                </a:r>
              </a:p>
            </p:txBody>
          </p:sp>
        </mc:Fallback>
      </mc:AlternateContent>
      <p:pic>
        <p:nvPicPr>
          <p:cNvPr id="12" name="Picture 11"/>
          <p:cNvPicPr>
            <a:picLocks noChangeAspect="1"/>
          </p:cNvPicPr>
          <p:nvPr/>
        </p:nvPicPr>
        <p:blipFill rotWithShape="1">
          <a:blip r:embed="rId6">
            <a:extLst>
              <a:ext uri="{28A0092B-C50C-407E-A947-70E740481C1C}">
                <a14:useLocalDpi xmlns:a14="http://schemas.microsoft.com/office/drawing/2010/main" val="0"/>
              </a:ext>
            </a:extLst>
          </a:blip>
          <a:srcRect t="7961"/>
          <a:stretch/>
        </p:blipFill>
        <p:spPr>
          <a:xfrm>
            <a:off x="5636173" y="2372153"/>
            <a:ext cx="3369530" cy="2325971"/>
          </a:xfrm>
          <a:prstGeom prst="rect">
            <a:avLst/>
          </a:prstGeom>
        </p:spPr>
      </p:pic>
      <p:sp>
        <p:nvSpPr>
          <p:cNvPr id="11" name="Rectangle 10"/>
          <p:cNvSpPr/>
          <p:nvPr/>
        </p:nvSpPr>
        <p:spPr>
          <a:xfrm>
            <a:off x="2369732" y="1960426"/>
            <a:ext cx="828000" cy="216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Slide Number Placeholder 6">
            <a:extLst>
              <a:ext uri="{FF2B5EF4-FFF2-40B4-BE49-F238E27FC236}">
                <a16:creationId xmlns="" xmlns:a16="http://schemas.microsoft.com/office/drawing/2014/main" id="{19DD03BA-062C-5848-AC47-7F49A0ADDA7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13" name="Rectangle 12">
            <a:extLst>
              <a:ext uri="{FF2B5EF4-FFF2-40B4-BE49-F238E27FC236}">
                <a16:creationId xmlns="" xmlns:a16="http://schemas.microsoft.com/office/drawing/2014/main" id="{F3CB569F-0701-5B40-B122-199772DFC03E}"/>
              </a:ext>
            </a:extLst>
          </p:cNvPr>
          <p:cNvSpPr/>
          <p:nvPr/>
        </p:nvSpPr>
        <p:spPr>
          <a:xfrm>
            <a:off x="1205435" y="2817616"/>
            <a:ext cx="3538015" cy="6771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节点</a:t>
            </a:r>
            <a:r>
              <a:rPr kumimoji="0" lang="en-US" altLang="zh-CN"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6</a:t>
            </a: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的</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Closeness</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Centrality</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endPar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 56;</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0.43</a:t>
            </a:r>
            <a:endParaRPr kumimoji="0" lang="en-US" sz="28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endParaRPr>
          </a:p>
        </p:txBody>
      </p:sp>
      <p:sp>
        <p:nvSpPr>
          <p:cNvPr id="14" name="Rectangle 13">
            <a:extLst>
              <a:ext uri="{FF2B5EF4-FFF2-40B4-BE49-F238E27FC236}">
                <a16:creationId xmlns="" xmlns:a16="http://schemas.microsoft.com/office/drawing/2014/main" id="{C90A4780-A37C-6547-8F3A-892B42F6CDB5}"/>
              </a:ext>
            </a:extLst>
          </p:cNvPr>
          <p:cNvSpPr/>
          <p:nvPr/>
        </p:nvSpPr>
        <p:spPr>
          <a:xfrm>
            <a:off x="637625" y="2894560"/>
            <a:ext cx="64312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Helvetica Neue" charset="0"/>
                <a:ea typeface="+mn-ea"/>
                <a:cs typeface="+mn-cs"/>
              </a:rPr>
              <a:t>🔔</a:t>
            </a:r>
            <a:r>
              <a:rPr kumimoji="0" lang="zh-CN" altLang="en-US" sz="2800" b="0" i="0" u="none" strike="noStrike" kern="1200" cap="none" spc="0" normalizeH="0" baseline="0" noProof="0" dirty="0">
                <a:ln>
                  <a:noFill/>
                </a:ln>
                <a:solidFill>
                  <a:srgbClr val="000000"/>
                </a:solidFill>
                <a:effectLst/>
                <a:uLnTx/>
                <a:uFillTx/>
                <a:latin typeface="Helvetica Neue" charset="0"/>
                <a:ea typeface="宋体" panose="02010600030101010101" pitchFamily="2" charset="-122"/>
                <a:cs typeface="+mn-cs"/>
              </a:rPr>
              <a:t>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438518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3878017"/>
              </a:xfrm>
            </p:spPr>
            <p:txBody>
              <a:bodyPr/>
              <a:lstStyle/>
              <a:p>
                <a:r>
                  <a:rPr lang="en-US" altLang="zh-CN" dirty="0">
                    <a:latin typeface="Calibri" charset="0"/>
                    <a:ea typeface="Calibri" charset="0"/>
                    <a:cs typeface="Calibri" charset="0"/>
                  </a:rPr>
                  <a:t>Closeness 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取决于其它节点到它的距离是否接近</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其它节点到</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的距离越接近，</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3878017"/>
              </a:xfrm>
              <a:blipFill rotWithShape="0">
                <a:blip r:embed="rId3"/>
                <a:stretch>
                  <a:fillRect l="-667"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969579" y="1898645"/>
                <a:ext cx="2718886" cy="71404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−1</m:t>
                          </m:r>
                        </m:num>
                        <m:den>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zh-CN" altLang="en-US"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ub>
                            <m:sup/>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𝑑</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e>
                          </m:nary>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969579" y="1898645"/>
                <a:ext cx="2718886" cy="71404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688465" y="1983808"/>
                <a:ext cx="1456975"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Cambria Math" charset="0"/>
                        <a:cs typeface="+mn-cs"/>
                      </a:rPr>
                      <m:t>𝑑</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𝑢</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𝑣</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𝑢</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的最短距离</a:t>
                </a:r>
                <a:endParaRPr kumimoji="0" 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mc:Choice>
        <mc:Fallback xmlns="">
          <p:sp>
            <p:nvSpPr>
              <p:cNvPr id="10" name="Rectangle 9"/>
              <p:cNvSpPr>
                <a:spLocks noRot="1" noChangeAspect="1" noMove="1" noResize="1" noEditPoints="1" noAdjustHandles="1" noChangeArrowheads="1" noChangeShapeType="1" noTextEdit="1"/>
              </p:cNvSpPr>
              <p:nvPr/>
            </p:nvSpPr>
            <p:spPr>
              <a:xfrm>
                <a:off x="3688465" y="1983808"/>
                <a:ext cx="1456975" cy="584775"/>
              </a:xfrm>
              <a:prstGeom prst="rect">
                <a:avLst/>
              </a:prstGeom>
              <a:blipFill rotWithShape="0">
                <a:blip r:embed="rId5"/>
                <a:stretch>
                  <a:fillRect l="-2092" t="-3125" b="-12500"/>
                </a:stretch>
              </a:blipFill>
            </p:spPr>
            <p:txBody>
              <a:bodyPr/>
              <a:lstStyle/>
              <a:p>
                <a:r>
                  <a:rPr lang="en-US">
                    <a:noFill/>
                  </a:rPr>
                  <a:t> </a:t>
                </a:r>
              </a:p>
            </p:txBody>
          </p:sp>
        </mc:Fallback>
      </mc:AlternateContent>
      <p:pic>
        <p:nvPicPr>
          <p:cNvPr id="7" name="Picture 6"/>
          <p:cNvPicPr>
            <a:picLocks noChangeAspect="1"/>
          </p:cNvPicPr>
          <p:nvPr/>
        </p:nvPicPr>
        <p:blipFill rotWithShape="1">
          <a:blip r:embed="rId6">
            <a:extLst>
              <a:ext uri="{28A0092B-C50C-407E-A947-70E740481C1C}">
                <a14:useLocalDpi xmlns:a14="http://schemas.microsoft.com/office/drawing/2010/main" val="0"/>
              </a:ext>
            </a:extLst>
          </a:blip>
          <a:srcRect l="11152"/>
          <a:stretch/>
        </p:blipFill>
        <p:spPr>
          <a:xfrm>
            <a:off x="5628289" y="1887554"/>
            <a:ext cx="3328363" cy="2809613"/>
          </a:xfrm>
          <a:prstGeom prst="rect">
            <a:avLst/>
          </a:prstGeom>
        </p:spPr>
      </p:pic>
      <p:sp>
        <p:nvSpPr>
          <p:cNvPr id="13" name="Rectangle 12"/>
          <p:cNvSpPr/>
          <p:nvPr/>
        </p:nvSpPr>
        <p:spPr>
          <a:xfrm>
            <a:off x="874987" y="2738364"/>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0.32, 1: 0.32, 2: 0.32, 3: 0.45, </a:t>
            </a:r>
            <a:r>
              <a:rPr kumimoji="0" lang="en-US" sz="1600" b="0" i="0" u="none" strike="noStrike" kern="1200" cap="none" spc="0" normalizeH="0" baseline="0" noProof="0" dirty="0">
                <a:ln>
                  <a:noFill/>
                </a:ln>
                <a:solidFill>
                  <a:srgbClr val="FF0000"/>
                </a:solidFill>
                <a:effectLst/>
                <a:uLnTx/>
                <a:uFillTx/>
                <a:latin typeface="Calibri"/>
                <a:ea typeface="+mn-ea"/>
                <a:cs typeface="+mn-cs"/>
              </a:rPr>
              <a:t>4: 0.5</a:t>
            </a:r>
            <a:r>
              <a:rPr kumimoji="0" lang="en-US" altLang="zh-CN"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3</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5: 0.45</a:t>
            </a:r>
            <a:r>
              <a:rPr kumimoji="0" lang="en-US" sz="1600" b="0" i="0" u="none" strike="noStrike" kern="1200" cap="none" spc="0" normalizeH="0" baseline="0" noProof="0" dirty="0">
                <a:ln>
                  <a:noFill/>
                </a:ln>
                <a:solidFill>
                  <a:prstClr val="black"/>
                </a:solidFill>
                <a:effectLst/>
                <a:uLnTx/>
                <a:uFillTx/>
                <a:latin typeface="Calibri"/>
                <a:ea typeface="+mn-ea"/>
                <a:cs typeface="+mn-cs"/>
              </a:rPr>
              <a:t>, 6: 0.43, 7: 0.3</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1</a:t>
            </a:r>
            <a:r>
              <a:rPr kumimoji="0" lang="en-US" sz="1600" b="0" i="0" u="none" strike="noStrike" kern="1200" cap="none" spc="0" normalizeH="0" baseline="0" noProof="0" dirty="0">
                <a:ln>
                  <a:noFill/>
                </a:ln>
                <a:solidFill>
                  <a:prstClr val="black"/>
                </a:solidFill>
                <a:effectLst/>
                <a:uLnTx/>
                <a:uFillTx/>
                <a:latin typeface="Calibri"/>
                <a:ea typeface="+mn-ea"/>
                <a:cs typeface="+mn-cs"/>
              </a:rPr>
              <a:t>, 8: 0.31, </a:t>
            </a:r>
            <a:r>
              <a:rPr kumimoji="0" lang="en-US" sz="1600" b="0" i="0" u="none" strike="noStrike" kern="1200" cap="none" spc="0" normalizeH="0" baseline="0" noProof="0" dirty="0">
                <a:ln>
                  <a:noFill/>
                </a:ln>
                <a:solidFill>
                  <a:srgbClr val="FF0000"/>
                </a:solidFill>
                <a:effectLst/>
                <a:uLnTx/>
                <a:uFillTx/>
                <a:latin typeface="Calibri"/>
                <a:ea typeface="+mn-ea"/>
                <a:cs typeface="+mn-cs"/>
              </a:rPr>
              <a:t>9: 0.5</a:t>
            </a:r>
            <a:r>
              <a:rPr kumimoji="0" lang="en-US" sz="1600" b="0" i="0" u="none" strike="noStrike" kern="1200" cap="none" spc="0" normalizeH="0" baseline="0" noProof="0" dirty="0">
                <a:ln>
                  <a:noFill/>
                </a:ln>
                <a:solidFill>
                  <a:prstClr val="black"/>
                </a:solidFill>
                <a:effectLst/>
                <a:uLnTx/>
                <a:uFillTx/>
                <a:latin typeface="Calibri"/>
                <a:ea typeface="+mn-ea"/>
                <a:cs typeface="+mn-cs"/>
              </a:rPr>
              <a:t>, 10: 0.34}</a:t>
            </a:r>
          </a:p>
        </p:txBody>
      </p:sp>
      <p:sp>
        <p:nvSpPr>
          <p:cNvPr id="14" name="Rectangle 13"/>
          <p:cNvSpPr/>
          <p:nvPr/>
        </p:nvSpPr>
        <p:spPr>
          <a:xfrm>
            <a:off x="-55180" y="2769141"/>
            <a:ext cx="1024759"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Closeness</a:t>
            </a:r>
            <a:r>
              <a:rPr kumimoji="0" lang="zh-CN" altLang="en-US" sz="14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Rectangle 10"/>
          <p:cNvSpPr/>
          <p:nvPr/>
        </p:nvSpPr>
        <p:spPr>
          <a:xfrm>
            <a:off x="457199" y="3442675"/>
            <a:ext cx="4572000" cy="732508"/>
          </a:xfrm>
          <a:prstGeom prst="rect">
            <a:avLst/>
          </a:prstGeom>
        </p:spPr>
        <p:txBody>
          <a:bodyPr>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如何解释</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Closeness Centrality</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a:t>
            </a:r>
            <a:endPar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道路</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网络：中心地标建筑</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Slide Number Placeholder 4">
            <a:extLst>
              <a:ext uri="{FF2B5EF4-FFF2-40B4-BE49-F238E27FC236}">
                <a16:creationId xmlns="" xmlns:a16="http://schemas.microsoft.com/office/drawing/2014/main" id="{4C513365-FAB4-B84A-8FF3-A076297AEC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06225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4944" y="819150"/>
            <a:ext cx="6754111" cy="3937000"/>
          </a:xfrm>
        </p:spPr>
      </p:pic>
      <p:sp>
        <p:nvSpPr>
          <p:cNvPr id="5" name="Rectangle 4"/>
          <p:cNvSpPr/>
          <p:nvPr/>
        </p:nvSpPr>
        <p:spPr>
          <a:xfrm>
            <a:off x="5353288" y="3290458"/>
            <a:ext cx="2027226"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Microsoft YaHei" charset="-122"/>
                <a:ea typeface="Microsoft YaHei" charset="-122"/>
                <a:cs typeface="Microsoft YaHei" charset="-122"/>
              </a:rPr>
              <a:t>课后作业：</a:t>
            </a:r>
            <a:endParaRPr kumimoji="0" lang="en-US" altLang="zh-CN" sz="2000" b="0" i="0" u="none" strike="noStrike" kern="1200" cap="none" spc="0" normalizeH="0" baseline="0" noProof="0" dirty="0">
              <a:ln>
                <a:noFill/>
              </a:ln>
              <a:solidFill>
                <a:prstClr val="white"/>
              </a:solidFill>
              <a:effectLst/>
              <a:uLnTx/>
              <a:uFillTx/>
              <a:latin typeface="Microsoft YaHei" charset="-122"/>
              <a:ea typeface="Microsoft YaHei" charset="-122"/>
              <a:cs typeface="Microsoft YaHei"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Microsoft YaHei" charset="-122"/>
                <a:ea typeface="Microsoft YaHei" charset="-122"/>
                <a:cs typeface="Microsoft YaHei" charset="-122"/>
              </a:rPr>
              <a:t>将源代码看完</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Slide Number Placeholder 2">
            <a:extLst>
              <a:ext uri="{FF2B5EF4-FFF2-40B4-BE49-F238E27FC236}">
                <a16:creationId xmlns="" xmlns:a16="http://schemas.microsoft.com/office/drawing/2014/main" id="{9104D9D4-AC45-AC44-9BAC-3E6EC4969B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2141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最短路径与距离</a:t>
            </a:r>
            <a:endParaRPr lang="en-US" dirty="0"/>
          </a:p>
        </p:txBody>
      </p:sp>
      <p:sp>
        <p:nvSpPr>
          <p:cNvPr id="3" name="Content Placeholder 2"/>
          <p:cNvSpPr>
            <a:spLocks noGrp="1"/>
          </p:cNvSpPr>
          <p:nvPr>
            <p:ph idx="1"/>
          </p:nvPr>
        </p:nvSpPr>
        <p:spPr>
          <a:xfrm>
            <a:off x="457200" y="819150"/>
            <a:ext cx="8229600" cy="1924050"/>
          </a:xfrm>
        </p:spPr>
        <p:txBody>
          <a:bodyPr>
            <a:normAutofit/>
          </a:bodyPr>
          <a:lstStyle/>
          <a:p>
            <a:r>
              <a:rPr lang="zh-CN" altLang="en-US" sz="1800" dirty="0"/>
              <a:t>思考题：如果节点</a:t>
            </a:r>
            <a:r>
              <a:rPr lang="en-US" altLang="zh-CN" sz="1800" dirty="0"/>
              <a:t>Z</a:t>
            </a:r>
            <a:r>
              <a:rPr lang="zh-CN" altLang="en-US" sz="1800" dirty="0"/>
              <a:t>在节点</a:t>
            </a:r>
            <a:r>
              <a:rPr lang="en-US" altLang="zh-CN" sz="1800" dirty="0"/>
              <a:t>X</a:t>
            </a:r>
            <a:r>
              <a:rPr lang="zh-CN" altLang="en-US" sz="1800" dirty="0"/>
              <a:t>和</a:t>
            </a:r>
            <a:r>
              <a:rPr lang="en-US" altLang="zh-CN" sz="1800" dirty="0"/>
              <a:t>Y</a:t>
            </a:r>
            <a:r>
              <a:rPr lang="zh-CN" altLang="en-US" sz="1800" dirty="0"/>
              <a:t>所有的最短路径上，则称</a:t>
            </a:r>
            <a:r>
              <a:rPr lang="en-US" altLang="zh-CN" sz="1800" dirty="0"/>
              <a:t>Z</a:t>
            </a:r>
            <a:r>
              <a:rPr lang="zh-CN" altLang="en-US" sz="1800" dirty="0"/>
              <a:t>为</a:t>
            </a:r>
            <a:r>
              <a:rPr lang="en-US" altLang="zh-CN" sz="1800" dirty="0"/>
              <a:t>X</a:t>
            </a:r>
            <a:r>
              <a:rPr lang="zh-CN" altLang="en-US" sz="1800" dirty="0"/>
              <a:t>和</a:t>
            </a:r>
            <a:r>
              <a:rPr lang="en-US" altLang="zh-CN" sz="1800" dirty="0"/>
              <a:t>Y</a:t>
            </a:r>
            <a:r>
              <a:rPr lang="zh-CN" altLang="en-US" sz="1800" dirty="0"/>
              <a:t>的关键节点（</a:t>
            </a:r>
            <a:r>
              <a:rPr lang="en-US" altLang="zh-CN" sz="1800" dirty="0"/>
              <a:t>Pivot</a:t>
            </a:r>
            <a:r>
              <a:rPr lang="zh-CN" altLang="en-US" sz="1800" dirty="0"/>
              <a:t> </a:t>
            </a:r>
            <a:r>
              <a:rPr lang="en-US" altLang="zh-CN" sz="1800" dirty="0"/>
              <a:t>node</a:t>
            </a:r>
            <a:r>
              <a:rPr lang="zh-CN" altLang="en-US" sz="1800" dirty="0"/>
              <a:t>），其中</a:t>
            </a:r>
            <a:r>
              <a:rPr lang="en-US" altLang="zh-CN" sz="1800" dirty="0"/>
              <a:t>Z</a:t>
            </a:r>
            <a:r>
              <a:rPr lang="zh-CN" altLang="en-US" sz="1800" dirty="0"/>
              <a:t>与</a:t>
            </a:r>
            <a:r>
              <a:rPr lang="en-US" altLang="zh-CN" sz="1800" dirty="0"/>
              <a:t>X</a:t>
            </a:r>
            <a:r>
              <a:rPr lang="zh-CN" altLang="en-US" sz="1800" dirty="0"/>
              <a:t>和</a:t>
            </a:r>
            <a:r>
              <a:rPr lang="en-US" altLang="zh-CN" sz="1800" dirty="0"/>
              <a:t>Y</a:t>
            </a:r>
            <a:r>
              <a:rPr lang="zh-CN" altLang="en-US" sz="1800" dirty="0"/>
              <a:t>均不重合</a:t>
            </a:r>
            <a:endParaRPr lang="en-US" altLang="zh-CN" sz="1800" dirty="0"/>
          </a:p>
          <a:p>
            <a:pPr lvl="1"/>
            <a:r>
              <a:rPr lang="zh-CN" altLang="en-US" sz="1600" dirty="0"/>
              <a:t>请构造一个图：每个节点均为至少一对节点的关键节点</a:t>
            </a:r>
            <a:endParaRPr lang="en-US" altLang="zh-CN" sz="1600" dirty="0"/>
          </a:p>
          <a:p>
            <a:pPr lvl="1"/>
            <a:r>
              <a:rPr lang="zh-CN" altLang="en-US" sz="1600" dirty="0"/>
              <a:t>请构造一个图：每个节点均为至少两对节点的关键节点</a:t>
            </a:r>
            <a:endParaRPr lang="en-US" altLang="zh-CN" sz="1600" dirty="0"/>
          </a:p>
          <a:p>
            <a:pPr lvl="1"/>
            <a:r>
              <a:rPr lang="zh-CN" altLang="en-US" sz="1600" dirty="0"/>
              <a:t>请构造一个图：该图中至少包含四个节点，并存在一个节点</a:t>
            </a:r>
            <a:r>
              <a:rPr lang="en-US" altLang="zh-CN" sz="1600" dirty="0"/>
              <a:t>X</a:t>
            </a:r>
            <a:r>
              <a:rPr lang="zh-CN" altLang="en-US" sz="1600" dirty="0"/>
              <a:t>，它是图中所有节点对的关键节点（不包含</a:t>
            </a:r>
            <a:r>
              <a:rPr lang="en-US" altLang="zh-CN" sz="1600" dirty="0"/>
              <a:t>X</a:t>
            </a:r>
            <a:r>
              <a:rPr lang="zh-CN" altLang="en-US" sz="1600" dirty="0"/>
              <a:t>）</a:t>
            </a:r>
            <a:endParaRPr lang="en-US" altLang="zh-CN" sz="1600" dirty="0"/>
          </a:p>
        </p:txBody>
      </p:sp>
      <p:sp>
        <p:nvSpPr>
          <p:cNvPr id="5" name="Oval 4"/>
          <p:cNvSpPr/>
          <p:nvPr/>
        </p:nvSpPr>
        <p:spPr>
          <a:xfrm>
            <a:off x="4388246"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a:t>E</a:t>
            </a:r>
            <a:endParaRPr lang="en-US"/>
          </a:p>
        </p:txBody>
      </p:sp>
      <p:cxnSp>
        <p:nvCxnSpPr>
          <p:cNvPr id="6" name="Straight Connector 5"/>
          <p:cNvCxnSpPr>
            <a:stCxn id="7" idx="2"/>
            <a:endCxn id="5" idx="6"/>
          </p:cNvCxnSpPr>
          <p:nvPr/>
        </p:nvCxnSpPr>
        <p:spPr>
          <a:xfrm flipH="1">
            <a:off x="4755753" y="2731625"/>
            <a:ext cx="1354948" cy="0"/>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6110701"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A</a:t>
            </a:r>
            <a:endParaRPr lang="en-US" dirty="0"/>
          </a:p>
        </p:txBody>
      </p:sp>
      <p:sp>
        <p:nvSpPr>
          <p:cNvPr id="8" name="Oval 7"/>
          <p:cNvSpPr/>
          <p:nvPr/>
        </p:nvSpPr>
        <p:spPr>
          <a:xfrm>
            <a:off x="4388246"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F</a:t>
            </a:r>
            <a:endParaRPr lang="en-US" dirty="0"/>
          </a:p>
        </p:txBody>
      </p:sp>
      <p:sp>
        <p:nvSpPr>
          <p:cNvPr id="9" name="Oval 8"/>
          <p:cNvSpPr/>
          <p:nvPr/>
        </p:nvSpPr>
        <p:spPr>
          <a:xfrm>
            <a:off x="6110701"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B</a:t>
            </a:r>
            <a:endParaRPr lang="en-US" dirty="0"/>
          </a:p>
        </p:txBody>
      </p:sp>
      <p:sp>
        <p:nvSpPr>
          <p:cNvPr id="10" name="Oval 9"/>
          <p:cNvSpPr/>
          <p:nvPr/>
        </p:nvSpPr>
        <p:spPr>
          <a:xfrm>
            <a:off x="5302402" y="4383152"/>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C</a:t>
            </a:r>
            <a:endParaRPr lang="en-US" dirty="0"/>
          </a:p>
        </p:txBody>
      </p:sp>
      <p:sp>
        <p:nvSpPr>
          <p:cNvPr id="11" name="Oval 10"/>
          <p:cNvSpPr/>
          <p:nvPr/>
        </p:nvSpPr>
        <p:spPr>
          <a:xfrm>
            <a:off x="7086832" y="438819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D</a:t>
            </a:r>
            <a:endParaRPr lang="en-US" dirty="0"/>
          </a:p>
        </p:txBody>
      </p:sp>
      <p:cxnSp>
        <p:nvCxnSpPr>
          <p:cNvPr id="14" name="Straight Connector 13"/>
          <p:cNvCxnSpPr>
            <a:stCxn id="8" idx="0"/>
            <a:endCxn id="5" idx="4"/>
          </p:cNvCxnSpPr>
          <p:nvPr/>
        </p:nvCxnSpPr>
        <p:spPr>
          <a:xfrm flipV="1">
            <a:off x="4572000"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9" idx="0"/>
            <a:endCxn id="7" idx="4"/>
          </p:cNvCxnSpPr>
          <p:nvPr/>
        </p:nvCxnSpPr>
        <p:spPr>
          <a:xfrm flipV="1">
            <a:off x="6294455"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3"/>
            <a:endCxn id="10" idx="0"/>
          </p:cNvCxnSpPr>
          <p:nvPr/>
        </p:nvCxnSpPr>
        <p:spPr>
          <a:xfrm flipH="1">
            <a:off x="5486156" y="3745786"/>
            <a:ext cx="678365"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5"/>
            <a:endCxn id="11" idx="0"/>
          </p:cNvCxnSpPr>
          <p:nvPr/>
        </p:nvCxnSpPr>
        <p:spPr>
          <a:xfrm>
            <a:off x="6424388" y="3745786"/>
            <a:ext cx="846198" cy="642405"/>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0" idx="6"/>
            <a:endCxn id="11" idx="2"/>
          </p:cNvCxnSpPr>
          <p:nvPr/>
        </p:nvCxnSpPr>
        <p:spPr>
          <a:xfrm>
            <a:off x="5669909" y="4566906"/>
            <a:ext cx="1416923" cy="5039"/>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 idx="1"/>
            <a:endCxn id="8" idx="4"/>
          </p:cNvCxnSpPr>
          <p:nvPr/>
        </p:nvCxnSpPr>
        <p:spPr>
          <a:xfrm flipH="1" flipV="1">
            <a:off x="4572000" y="3799606"/>
            <a:ext cx="784222"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919054" y="2836689"/>
            <a:ext cx="1723549" cy="1508105"/>
          </a:xfrm>
          <a:prstGeom prst="rect">
            <a:avLst/>
          </a:prstGeom>
        </p:spPr>
        <p:txBody>
          <a:bodyPr wrap="none">
            <a:spAutoFit/>
          </a:bodyPr>
          <a:lstStyle/>
          <a:p>
            <a:r>
              <a:rPr lang="zh-CN" altLang="en-US" sz="2000" dirty="0">
                <a:solidFill>
                  <a:srgbClr val="C00000"/>
                </a:solidFill>
                <a:latin typeface="Helvetica Neue" charset="0"/>
              </a:rPr>
              <a:t>构造的图为：</a:t>
            </a:r>
            <a:endParaRPr lang="en-US" altLang="zh-CN" sz="2000" dirty="0">
              <a:solidFill>
                <a:srgbClr val="C00000"/>
              </a:solidFill>
              <a:latin typeface="Helvetica Neue" charset="0"/>
            </a:endParaRPr>
          </a:p>
          <a:p>
            <a:r>
              <a:rPr lang="zh-CN" altLang="en-US" dirty="0">
                <a:solidFill>
                  <a:srgbClr val="C00000"/>
                </a:solidFill>
                <a:effectLst/>
                <a:latin typeface="Helvetica Neue" charset="0"/>
              </a:rPr>
              <a:t>  </a:t>
            </a:r>
            <a:r>
              <a:rPr lang="en-US" altLang="zh-CN" dirty="0">
                <a:solidFill>
                  <a:srgbClr val="C00000"/>
                </a:solidFill>
                <a:effectLst/>
                <a:latin typeface="Helvetica Neue" charset="0"/>
              </a:rPr>
              <a:t>A</a:t>
            </a:r>
            <a:r>
              <a:rPr lang="en-US" altLang="zh-CN" dirty="0">
                <a:solidFill>
                  <a:srgbClr val="C00000"/>
                </a:solidFill>
                <a:latin typeface="Helvetica Neue" charset="0"/>
              </a:rPr>
              <a:t>.</a:t>
            </a:r>
            <a:r>
              <a:rPr lang="zh-CN" altLang="en-US" dirty="0">
                <a:solidFill>
                  <a:srgbClr val="C00000"/>
                </a:solidFill>
                <a:latin typeface="Helvetica Neue" charset="0"/>
              </a:rPr>
              <a:t> 三角形</a:t>
            </a:r>
            <a:endParaRPr lang="en-US" altLang="zh-CN" dirty="0">
              <a:solidFill>
                <a:srgbClr val="C00000"/>
              </a:solidFill>
              <a:latin typeface="Helvetica Neue" charset="0"/>
            </a:endParaRPr>
          </a:p>
          <a:p>
            <a:r>
              <a:rPr lang="zh-CN" altLang="en-US" dirty="0">
                <a:solidFill>
                  <a:srgbClr val="C00000"/>
                </a:solidFill>
                <a:latin typeface="Helvetica Neue" charset="0"/>
              </a:rPr>
              <a:t>  </a:t>
            </a:r>
            <a:r>
              <a:rPr lang="en-US" altLang="zh-CN" dirty="0">
                <a:solidFill>
                  <a:srgbClr val="C00000"/>
                </a:solidFill>
                <a:latin typeface="Helvetica Neue" charset="0"/>
              </a:rPr>
              <a:t>B.</a:t>
            </a:r>
            <a:r>
              <a:rPr lang="zh-CN" altLang="en-US" dirty="0">
                <a:solidFill>
                  <a:srgbClr val="C00000"/>
                </a:solidFill>
                <a:latin typeface="Helvetica Neue" charset="0"/>
              </a:rPr>
              <a:t> 五边形</a:t>
            </a:r>
            <a:endParaRPr lang="en-US" altLang="zh-CN" dirty="0">
              <a:solidFill>
                <a:srgbClr val="C00000"/>
              </a:solidFill>
              <a:latin typeface="Helvetica Neue" charset="0"/>
            </a:endParaRPr>
          </a:p>
          <a:p>
            <a:r>
              <a:rPr lang="zh-CN" altLang="en-US" dirty="0">
                <a:solidFill>
                  <a:srgbClr val="C00000"/>
                </a:solidFill>
                <a:latin typeface="Helvetica Neue" charset="0"/>
              </a:rPr>
              <a:t>  </a:t>
            </a:r>
            <a:r>
              <a:rPr lang="en-US" altLang="zh-CN" dirty="0">
                <a:solidFill>
                  <a:srgbClr val="C00000"/>
                </a:solidFill>
                <a:latin typeface="Helvetica Neue" charset="0"/>
              </a:rPr>
              <a:t>C.</a:t>
            </a:r>
            <a:r>
              <a:rPr lang="zh-CN" altLang="en-US" dirty="0">
                <a:solidFill>
                  <a:srgbClr val="C00000"/>
                </a:solidFill>
                <a:latin typeface="Helvetica Neue" charset="0"/>
              </a:rPr>
              <a:t> 七边形</a:t>
            </a:r>
            <a:endParaRPr lang="en-US" altLang="zh-CN" dirty="0">
              <a:solidFill>
                <a:srgbClr val="C00000"/>
              </a:solidFill>
              <a:latin typeface="Helvetica Neue" charset="0"/>
            </a:endParaRPr>
          </a:p>
          <a:p>
            <a:r>
              <a:rPr lang="zh-CN" altLang="en-US" dirty="0">
                <a:solidFill>
                  <a:srgbClr val="C00000"/>
                </a:solidFill>
                <a:latin typeface="Helvetica Neue" charset="0"/>
              </a:rPr>
              <a:t>  </a:t>
            </a:r>
            <a:r>
              <a:rPr lang="en-US" altLang="zh-CN" dirty="0">
                <a:solidFill>
                  <a:srgbClr val="C00000"/>
                </a:solidFill>
                <a:latin typeface="Helvetica Neue" charset="0"/>
              </a:rPr>
              <a:t>D.</a:t>
            </a:r>
            <a:r>
              <a:rPr lang="zh-CN" altLang="en-US" dirty="0">
                <a:solidFill>
                  <a:srgbClr val="C00000"/>
                </a:solidFill>
                <a:latin typeface="Helvetica Neue" charset="0"/>
              </a:rPr>
              <a:t> 星形</a:t>
            </a:r>
            <a:endParaRPr lang="en-US" altLang="zh-CN" dirty="0">
              <a:solidFill>
                <a:srgbClr val="C00000"/>
              </a:solidFill>
              <a:latin typeface="Helvetica Neue" charset="0"/>
            </a:endParaRPr>
          </a:p>
        </p:txBody>
      </p:sp>
      <p:sp>
        <p:nvSpPr>
          <p:cNvPr id="19" name="Rectangle 18"/>
          <p:cNvSpPr/>
          <p:nvPr/>
        </p:nvSpPr>
        <p:spPr>
          <a:xfrm>
            <a:off x="431615" y="2836689"/>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35</a:t>
            </a:fld>
            <a:endParaRPr lang="zh-CN" altLang="en-US"/>
          </a:p>
        </p:txBody>
      </p:sp>
    </p:spTree>
    <p:extLst>
      <p:ext uri="{BB962C8B-B14F-4D97-AF65-F5344CB8AC3E}">
        <p14:creationId xmlns:p14="http://schemas.microsoft.com/office/powerpoint/2010/main" val="1886143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回顾讲</a:t>
            </a:r>
            <a:r>
              <a:rPr lang="zh-CN" altLang="en-US" dirty="0"/>
              <a:t>过</a:t>
            </a:r>
            <a:r>
              <a:rPr lang="zh-CN" altLang="en-US" dirty="0" smtClean="0"/>
              <a:t>的一个概念</a:t>
            </a:r>
            <a:endParaRPr lang="en-US" dirty="0"/>
          </a:p>
        </p:txBody>
      </p:sp>
      <p:sp>
        <p:nvSpPr>
          <p:cNvPr id="3" name="Content Placeholder 2"/>
          <p:cNvSpPr>
            <a:spLocks noGrp="1"/>
          </p:cNvSpPr>
          <p:nvPr>
            <p:ph idx="1"/>
          </p:nvPr>
        </p:nvSpPr>
        <p:spPr>
          <a:xfrm>
            <a:off x="457200" y="819150"/>
            <a:ext cx="8229600" cy="1924050"/>
          </a:xfrm>
        </p:spPr>
        <p:txBody>
          <a:bodyPr>
            <a:normAutofit/>
          </a:bodyPr>
          <a:lstStyle/>
          <a:p>
            <a:r>
              <a:rPr lang="zh-CN" altLang="en-US" sz="1800" dirty="0"/>
              <a:t>思考题：如果节点</a:t>
            </a:r>
            <a:r>
              <a:rPr lang="en-US" altLang="zh-CN" sz="1800" dirty="0"/>
              <a:t>Z</a:t>
            </a:r>
            <a:r>
              <a:rPr lang="zh-CN" altLang="en-US" sz="1800" dirty="0"/>
              <a:t>在节点</a:t>
            </a:r>
            <a:r>
              <a:rPr lang="en-US" altLang="zh-CN" sz="1800" dirty="0"/>
              <a:t>X</a:t>
            </a:r>
            <a:r>
              <a:rPr lang="zh-CN" altLang="en-US" sz="1800" dirty="0"/>
              <a:t>和</a:t>
            </a:r>
            <a:r>
              <a:rPr lang="en-US" altLang="zh-CN" sz="1800" dirty="0"/>
              <a:t>Y</a:t>
            </a:r>
            <a:r>
              <a:rPr lang="zh-CN" altLang="en-US" sz="1800" dirty="0"/>
              <a:t>所有的最短路径上，则称</a:t>
            </a:r>
            <a:r>
              <a:rPr lang="en-US" altLang="zh-CN" sz="1800" dirty="0"/>
              <a:t>Z</a:t>
            </a:r>
            <a:r>
              <a:rPr lang="zh-CN" altLang="en-US" sz="1800" dirty="0"/>
              <a:t>为</a:t>
            </a:r>
            <a:r>
              <a:rPr lang="en-US" altLang="zh-CN" sz="1800" dirty="0"/>
              <a:t>X</a:t>
            </a:r>
            <a:r>
              <a:rPr lang="zh-CN" altLang="en-US" sz="1800" dirty="0"/>
              <a:t>和</a:t>
            </a:r>
            <a:r>
              <a:rPr lang="en-US" altLang="zh-CN" sz="1800" dirty="0"/>
              <a:t>Y</a:t>
            </a:r>
            <a:r>
              <a:rPr lang="zh-CN" altLang="en-US" sz="1800" dirty="0"/>
              <a:t>的关键节点（</a:t>
            </a:r>
            <a:r>
              <a:rPr lang="en-US" altLang="zh-CN" sz="1800" dirty="0"/>
              <a:t>Pivot</a:t>
            </a:r>
            <a:r>
              <a:rPr lang="zh-CN" altLang="en-US" sz="1800" dirty="0"/>
              <a:t> </a:t>
            </a:r>
            <a:r>
              <a:rPr lang="en-US" altLang="zh-CN" sz="1800" dirty="0"/>
              <a:t>node</a:t>
            </a:r>
            <a:r>
              <a:rPr lang="zh-CN" altLang="en-US" sz="1800" dirty="0"/>
              <a:t>），其中</a:t>
            </a:r>
            <a:r>
              <a:rPr lang="en-US" altLang="zh-CN" sz="1800" dirty="0"/>
              <a:t>Z</a:t>
            </a:r>
            <a:r>
              <a:rPr lang="zh-CN" altLang="en-US" sz="1800" dirty="0"/>
              <a:t>与</a:t>
            </a:r>
            <a:r>
              <a:rPr lang="en-US" altLang="zh-CN" sz="1800" dirty="0"/>
              <a:t>X</a:t>
            </a:r>
            <a:r>
              <a:rPr lang="zh-CN" altLang="en-US" sz="1800" dirty="0"/>
              <a:t>和</a:t>
            </a:r>
            <a:r>
              <a:rPr lang="en-US" altLang="zh-CN" sz="1800" dirty="0"/>
              <a:t>Y</a:t>
            </a:r>
            <a:r>
              <a:rPr lang="zh-CN" altLang="en-US" sz="1800" dirty="0"/>
              <a:t>均不重合</a:t>
            </a:r>
            <a:endParaRPr lang="en-US" altLang="zh-CN" sz="1800" dirty="0"/>
          </a:p>
          <a:p>
            <a:pPr lvl="1"/>
            <a:r>
              <a:rPr lang="zh-CN" altLang="en-US" sz="1600" dirty="0"/>
              <a:t>请构造一个图：每个节点均为至少一对节点的关键节点</a:t>
            </a:r>
            <a:endParaRPr lang="en-US" altLang="zh-CN" sz="1600" dirty="0"/>
          </a:p>
          <a:p>
            <a:pPr lvl="1"/>
            <a:r>
              <a:rPr lang="zh-CN" altLang="en-US" sz="1600" dirty="0"/>
              <a:t>请构造一个图：每个节点均为至少两对节点的关键节点</a:t>
            </a:r>
            <a:endParaRPr lang="en-US" altLang="zh-CN" sz="1600" dirty="0"/>
          </a:p>
          <a:p>
            <a:pPr lvl="1"/>
            <a:r>
              <a:rPr lang="zh-CN" altLang="en-US" sz="1600" dirty="0"/>
              <a:t>请构造一个图：该图中至少包含四个节点，并存在一个节点</a:t>
            </a:r>
            <a:r>
              <a:rPr lang="en-US" altLang="zh-CN" sz="1600" dirty="0"/>
              <a:t>X</a:t>
            </a:r>
            <a:r>
              <a:rPr lang="zh-CN" altLang="en-US" sz="1600" dirty="0"/>
              <a:t>，它是图中所有节点对的关键节点（不包含</a:t>
            </a:r>
            <a:r>
              <a:rPr lang="en-US" altLang="zh-CN" sz="1600" dirty="0"/>
              <a:t>X</a:t>
            </a:r>
            <a:r>
              <a:rPr lang="zh-CN" altLang="en-US" sz="1600" dirty="0"/>
              <a:t>）</a:t>
            </a:r>
            <a:endParaRPr lang="en-US" altLang="zh-CN" sz="1600" dirty="0"/>
          </a:p>
        </p:txBody>
      </p:sp>
      <p:sp>
        <p:nvSpPr>
          <p:cNvPr id="5" name="Oval 4"/>
          <p:cNvSpPr/>
          <p:nvPr/>
        </p:nvSpPr>
        <p:spPr>
          <a:xfrm>
            <a:off x="4388246"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E</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 name="Straight Connector 5"/>
          <p:cNvCxnSpPr>
            <a:stCxn id="7" idx="2"/>
            <a:endCxn id="5" idx="6"/>
          </p:cNvCxnSpPr>
          <p:nvPr/>
        </p:nvCxnSpPr>
        <p:spPr>
          <a:xfrm flipH="1">
            <a:off x="4755753" y="2731625"/>
            <a:ext cx="1354948" cy="0"/>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6110701"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A</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Oval 7"/>
          <p:cNvSpPr/>
          <p:nvPr/>
        </p:nvSpPr>
        <p:spPr>
          <a:xfrm>
            <a:off x="4388246"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F</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Oval 8"/>
          <p:cNvSpPr/>
          <p:nvPr/>
        </p:nvSpPr>
        <p:spPr>
          <a:xfrm>
            <a:off x="6110701"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B</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Oval 9"/>
          <p:cNvSpPr/>
          <p:nvPr/>
        </p:nvSpPr>
        <p:spPr>
          <a:xfrm>
            <a:off x="5302402" y="4383152"/>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Oval 10"/>
          <p:cNvSpPr/>
          <p:nvPr/>
        </p:nvSpPr>
        <p:spPr>
          <a:xfrm>
            <a:off x="7086832" y="438819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D</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4" name="Straight Connector 13"/>
          <p:cNvCxnSpPr>
            <a:stCxn id="8" idx="0"/>
            <a:endCxn id="5" idx="4"/>
          </p:cNvCxnSpPr>
          <p:nvPr/>
        </p:nvCxnSpPr>
        <p:spPr>
          <a:xfrm flipV="1">
            <a:off x="4572000"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9" idx="0"/>
            <a:endCxn id="7" idx="4"/>
          </p:cNvCxnSpPr>
          <p:nvPr/>
        </p:nvCxnSpPr>
        <p:spPr>
          <a:xfrm flipV="1">
            <a:off x="6294455"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3"/>
            <a:endCxn id="10" idx="0"/>
          </p:cNvCxnSpPr>
          <p:nvPr/>
        </p:nvCxnSpPr>
        <p:spPr>
          <a:xfrm flipH="1">
            <a:off x="5486156" y="3745786"/>
            <a:ext cx="678365"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5"/>
            <a:endCxn id="11" idx="0"/>
          </p:cNvCxnSpPr>
          <p:nvPr/>
        </p:nvCxnSpPr>
        <p:spPr>
          <a:xfrm>
            <a:off x="6424388" y="3745786"/>
            <a:ext cx="846198" cy="642405"/>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0" idx="6"/>
            <a:endCxn id="11" idx="2"/>
          </p:cNvCxnSpPr>
          <p:nvPr/>
        </p:nvCxnSpPr>
        <p:spPr>
          <a:xfrm>
            <a:off x="5669909" y="4566906"/>
            <a:ext cx="1416923" cy="5039"/>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 idx="1"/>
            <a:endCxn id="8" idx="4"/>
          </p:cNvCxnSpPr>
          <p:nvPr/>
        </p:nvCxnSpPr>
        <p:spPr>
          <a:xfrm flipH="1" flipV="1">
            <a:off x="4572000" y="3799606"/>
            <a:ext cx="784222"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83778" y="2976678"/>
            <a:ext cx="4572000" cy="369332"/>
          </a:xfrm>
          <a:prstGeom prst="rect">
            <a:avLst/>
          </a:prstGeom>
        </p:spPr>
        <p:txBody>
          <a:bodyPr>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思考：</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关键节点起到了什么作用？</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Rectangle 18"/>
          <p:cNvSpPr/>
          <p:nvPr/>
        </p:nvSpPr>
        <p:spPr>
          <a:xfrm>
            <a:off x="413712" y="3526959"/>
            <a:ext cx="3974534" cy="523220"/>
          </a:xfrm>
          <a:prstGeom prst="rect">
            <a:avLst/>
          </a:prstGeom>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zh-CN" altLang="en-US" sz="2800" b="0" i="0" u="none" strike="noStrike" kern="1200" cap="none" spc="0" normalizeH="0" baseline="0" noProof="0" dirty="0">
                <a:ln>
                  <a:noFill/>
                </a:ln>
                <a:solidFill>
                  <a:srgbClr val="AE0627"/>
                </a:solidFill>
                <a:effectLst/>
                <a:uLnTx/>
                <a:uFillTx/>
                <a:latin typeface="Microsoft YaHei" charset="-122"/>
                <a:ea typeface="Microsoft YaHei" charset="-122"/>
                <a:cs typeface="Microsoft YaHei" charset="-122"/>
              </a:rPr>
              <a:t>中介！</a:t>
            </a:r>
            <a:endParaRPr kumimoji="0" lang="en-US" altLang="zh-CN" sz="2800" b="0" i="0" u="none" strike="noStrike" kern="1200" cap="none" spc="0" normalizeH="0" baseline="0" noProof="0" dirty="0">
              <a:ln>
                <a:noFill/>
              </a:ln>
              <a:solidFill>
                <a:srgbClr val="AE0627"/>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3">
            <a:extLst>
              <a:ext uri="{FF2B5EF4-FFF2-40B4-BE49-F238E27FC236}">
                <a16:creationId xmlns="" xmlns:a16="http://schemas.microsoft.com/office/drawing/2014/main" id="{CD6AAF54-C6ED-5247-9975-2199B0E43A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80989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基于路径的度量方法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3878017"/>
              </a:xfrm>
            </p:spPr>
            <p:txBody>
              <a:bodyPr/>
              <a:lstStyle/>
              <a:p>
                <a:r>
                  <a:rPr lang="en-US" altLang="zh-CN" dirty="0" err="1">
                    <a:latin typeface="Calibri" charset="0"/>
                    <a:ea typeface="Calibri" charset="0"/>
                    <a:cs typeface="Calibri" charset="0"/>
                  </a:rPr>
                  <a:t>Betweenness</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取决于它是否</a:t>
                </a:r>
                <a:r>
                  <a:rPr lang="zh-CN" altLang="zh-CN" dirty="0"/>
                  <a:t>经常出现在其它节点</a:t>
                </a:r>
                <a:r>
                  <a:rPr lang="zh-CN" altLang="en-US" dirty="0"/>
                  <a:t>的</a:t>
                </a:r>
                <a:r>
                  <a:rPr lang="zh-CN" altLang="zh-CN" dirty="0"/>
                  <a:t>最短路径</a:t>
                </a:r>
                <a:r>
                  <a:rPr lang="zh-CN" altLang="en-US" dirty="0"/>
                  <a:t>上</a:t>
                </a:r>
                <a:endParaRPr lang="en-US" altLang="zh-CN" dirty="0">
                  <a:latin typeface="Microsoft YaHei" charset="-122"/>
                  <a:ea typeface="Microsoft YaHei" charset="-122"/>
                  <a:cs typeface="Microsoft YaHei" charset="-122"/>
                </a:endParaRPr>
              </a:p>
              <a:p>
                <a:pPr lvl="1"/>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出现在其它节点最短路径上次数越多，</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3878017"/>
              </a:xfrm>
              <a:blipFill rotWithShape="0">
                <a:blip r:embed="rId3"/>
                <a:stretch>
                  <a:fillRect l="-667"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31371" y="1929412"/>
                <a:ext cx="4360681" cy="7857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sub>
                        <m:sup/>
                        <m:e>
                          <m:f>
                            <m:fPr>
                              <m:ctrlPr>
                                <a:rPr kumimoji="0" lang="mr-IN" altLang="zh-CN" sz="1800" b="0" i="1" u="none" strike="noStrike" kern="1200" cap="none" spc="0" normalizeH="0" baseline="0" noProof="0" smtClean="0">
                                  <a:ln>
                                    <a:noFill/>
                                  </a:ln>
                                  <a:solidFill>
                                    <a:prstClr val="black"/>
                                  </a:solidFill>
                                  <a:effectLst/>
                                  <a:uLnTx/>
                                  <a:uFillTx/>
                                  <a:latin typeface="Cambria Math"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srgbClr val="C00000"/>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−1)(</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num>
                            <m:den>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nary>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431371" y="1929412"/>
                <a:ext cx="4360681" cy="785728"/>
              </a:xfrm>
              <a:prstGeom prst="rect">
                <a:avLst/>
              </a:prstGeom>
              <a:blipFill>
                <a:blip r:embed="rId4"/>
                <a:stretch>
                  <a:fillRect t="-117460" b="-1603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51791" y="2759292"/>
                <a:ext cx="436945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14:m>
                  <m:oMath xmlns:m="http://schemas.openxmlformats.org/officeDocument/2006/math">
                    <m:r>
                      <a:rPr kumimoji="0" lang="en-US" altLang="zh-CN" sz="1400" b="0" i="1" u="none" strike="noStrike" kern="1200" cap="none" spc="0" normalizeH="0" baseline="0" noProof="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oMath>
                </a14:m>
                <a:r>
                  <a:rPr kumimoji="0" lang="en-US" altLang="zh-CN" sz="1400" b="0" i="0" u="none" strike="noStrike" kern="1200" cap="none" spc="0" normalizeH="0" baseline="0" noProof="0" dirty="0">
                    <a:ln>
                      <a:noFill/>
                    </a:ln>
                    <a:solidFill>
                      <a:prstClr val="black"/>
                    </a:solidFill>
                    <a:effectLst/>
                    <a:uLnTx/>
                    <a:uFillTx/>
                    <a:latin typeface="Calibri"/>
                    <a:ea typeface="Microsoft YaHei" charset="-122"/>
                    <a:cs typeface="Microsoft YaHei" charset="-122"/>
                  </a:rPr>
                  <a:t> </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经过</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其中</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v</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不等于</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s</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或</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t</a:t>
                </a:r>
                <a:endParaRPr kumimoji="0" 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endParaRPr>
              </a:p>
            </p:txBody>
          </p:sp>
        </mc:Choice>
        <mc:Fallback xmlns="">
          <p:sp>
            <p:nvSpPr>
              <p:cNvPr id="10" name="Rectangle 9"/>
              <p:cNvSpPr>
                <a:spLocks noRot="1" noChangeAspect="1" noMove="1" noResize="1" noEditPoints="1" noAdjustHandles="1" noChangeArrowheads="1" noChangeShapeType="1" noTextEdit="1"/>
              </p:cNvSpPr>
              <p:nvPr/>
            </p:nvSpPr>
            <p:spPr>
              <a:xfrm>
                <a:off x="551791" y="2759292"/>
                <a:ext cx="4369459" cy="523220"/>
              </a:xfrm>
              <a:prstGeom prst="rect">
                <a:avLst/>
              </a:prstGeom>
              <a:blipFill>
                <a:blip r:embed="rId5"/>
                <a:stretch>
                  <a:fillRect l="-289" b="-9524"/>
                </a:stretch>
              </a:blipFill>
            </p:spPr>
            <p:txBody>
              <a:bodyPr/>
              <a:lstStyle/>
              <a:p>
                <a:r>
                  <a:rPr lang="en-US">
                    <a:noFill/>
                  </a:rPr>
                  <a:t> </a:t>
                </a:r>
              </a:p>
            </p:txBody>
          </p:sp>
        </mc:Fallback>
      </mc:AlternateContent>
      <p:sp>
        <p:nvSpPr>
          <p:cNvPr id="13" name="Rectangle 12"/>
          <p:cNvSpPr/>
          <p:nvPr/>
        </p:nvSpPr>
        <p:spPr>
          <a:xfrm>
            <a:off x="969579" y="4112392"/>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0.0, 1: 0.0, 2: 0.0, 3: </a:t>
            </a:r>
            <a:r>
              <a:rPr kumimoji="0" lang="en-US" sz="1600" b="0" i="0" u="none" strike="noStrike" kern="1200" cap="none" spc="0" normalizeH="0" baseline="0" noProof="0" dirty="0">
                <a:ln>
                  <a:noFill/>
                </a:ln>
                <a:solidFill>
                  <a:srgbClr val="FF0000"/>
                </a:solidFill>
                <a:effectLst/>
                <a:uLnTx/>
                <a:uFillTx/>
                <a:latin typeface="Calibri"/>
                <a:ea typeface="+mn-ea"/>
                <a:cs typeface="+mn-cs"/>
              </a:rPr>
              <a:t>0.53</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4: 0.5</a:t>
            </a:r>
            <a:r>
              <a:rPr kumimoji="0" lang="en-US" altLang="zh-CN"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6</a:t>
            </a:r>
            <a:r>
              <a:rPr kumimoji="0" lang="en-US" sz="1600" b="0" i="0" u="none" strike="noStrike" kern="1200" cap="none" spc="0" normalizeH="0" baseline="0" noProof="0" dirty="0">
                <a:ln>
                  <a:noFill/>
                </a:ln>
                <a:solidFill>
                  <a:prstClr val="black"/>
                </a:solidFill>
                <a:effectLst/>
                <a:uLnTx/>
                <a:uFillTx/>
                <a:latin typeface="Calibri"/>
                <a:ea typeface="+mn-ea"/>
                <a:cs typeface="+mn-cs"/>
              </a:rPr>
              <a:t>, 5: 0.1</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7</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6: 0.4</a:t>
            </a:r>
            <a:r>
              <a:rPr kumimoji="0" lang="en-US" sz="1600" b="0" i="0" u="none" strike="noStrike" kern="1200" cap="none" spc="0" normalizeH="0" baseline="0" noProof="0" dirty="0">
                <a:ln>
                  <a:noFill/>
                </a:ln>
                <a:solidFill>
                  <a:prstClr val="black"/>
                </a:solidFill>
                <a:effectLst/>
                <a:uLnTx/>
                <a:uFillTx/>
                <a:latin typeface="Calibri"/>
                <a:ea typeface="+mn-ea"/>
                <a:cs typeface="+mn-cs"/>
              </a:rPr>
              <a:t>, 7: 0.0, 8: 0.0, 9: 0.3</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7</a:t>
            </a:r>
            <a:r>
              <a:rPr kumimoji="0" lang="en-US" sz="1600" b="0" i="0" u="none" strike="noStrike" kern="1200" cap="none" spc="0" normalizeH="0" baseline="0" noProof="0" dirty="0">
                <a:ln>
                  <a:noFill/>
                </a:ln>
                <a:solidFill>
                  <a:prstClr val="black"/>
                </a:solidFill>
                <a:effectLst/>
                <a:uLnTx/>
                <a:uFillTx/>
                <a:latin typeface="Calibri"/>
                <a:ea typeface="+mn-ea"/>
                <a:cs typeface="+mn-cs"/>
              </a:rPr>
              <a:t>, 10: 0.0}</a:t>
            </a:r>
          </a:p>
        </p:txBody>
      </p:sp>
      <p:sp>
        <p:nvSpPr>
          <p:cNvPr id="14" name="Rectangle 13"/>
          <p:cNvSpPr/>
          <p:nvPr/>
        </p:nvSpPr>
        <p:spPr>
          <a:xfrm>
            <a:off x="39412" y="4143169"/>
            <a:ext cx="1024759"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charset="0"/>
                <a:ea typeface="Calibri" charset="0"/>
                <a:cs typeface="Calibri" charset="0"/>
              </a:rPr>
              <a:t>Betweenness</a:t>
            </a:r>
            <a:r>
              <a:rPr kumimoji="0" lang="zh-CN" altLang="en-US" sz="12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12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2" name="Picture 11"/>
          <p:cNvPicPr>
            <a:picLocks noChangeAspect="1"/>
          </p:cNvPicPr>
          <p:nvPr/>
        </p:nvPicPr>
        <p:blipFill rotWithShape="1">
          <a:blip r:embed="rId6">
            <a:extLst>
              <a:ext uri="{28A0092B-C50C-407E-A947-70E740481C1C}">
                <a14:useLocalDpi xmlns:a14="http://schemas.microsoft.com/office/drawing/2010/main" val="0"/>
              </a:ext>
            </a:extLst>
          </a:blip>
          <a:srcRect t="7961"/>
          <a:stretch/>
        </p:blipFill>
        <p:spPr>
          <a:xfrm>
            <a:off x="5636173" y="2372153"/>
            <a:ext cx="3369530" cy="2325971"/>
          </a:xfrm>
          <a:prstGeom prst="rect">
            <a:avLst/>
          </a:prstGeom>
        </p:spPr>
      </p:pic>
      <p:sp>
        <p:nvSpPr>
          <p:cNvPr id="5" name="Slide Number Placeholder 4">
            <a:extLst>
              <a:ext uri="{FF2B5EF4-FFF2-40B4-BE49-F238E27FC236}">
                <a16:creationId xmlns="" xmlns:a16="http://schemas.microsoft.com/office/drawing/2014/main" id="{59CBFC70-A5B2-984C-9912-41491864A3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15" name="Rectangle 14">
            <a:extLst>
              <a:ext uri="{FF2B5EF4-FFF2-40B4-BE49-F238E27FC236}">
                <a16:creationId xmlns="" xmlns:a16="http://schemas.microsoft.com/office/drawing/2014/main" id="{B20B36AF-E566-2D4C-BA19-CFA212A1F88B}"/>
              </a:ext>
            </a:extLst>
          </p:cNvPr>
          <p:cNvSpPr/>
          <p:nvPr/>
        </p:nvSpPr>
        <p:spPr>
          <a:xfrm>
            <a:off x="1205435" y="3320984"/>
            <a:ext cx="3538015" cy="6771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节点</a:t>
            </a:r>
            <a:r>
              <a:rPr kumimoji="0" lang="en-US" altLang="zh-CN"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3</a:t>
            </a: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的</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Betweenness</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Centrality</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endPar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0.42;</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0.53;</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0. 33</a:t>
            </a:r>
            <a:endParaRPr kumimoji="0" lang="en-US" sz="28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endParaRPr>
          </a:p>
        </p:txBody>
      </p:sp>
      <p:sp>
        <p:nvSpPr>
          <p:cNvPr id="20" name="Rectangle 19">
            <a:extLst>
              <a:ext uri="{FF2B5EF4-FFF2-40B4-BE49-F238E27FC236}">
                <a16:creationId xmlns="" xmlns:a16="http://schemas.microsoft.com/office/drawing/2014/main" id="{61D5A539-94B6-784E-883B-42F7133BF9D5}"/>
              </a:ext>
            </a:extLst>
          </p:cNvPr>
          <p:cNvSpPr/>
          <p:nvPr/>
        </p:nvSpPr>
        <p:spPr>
          <a:xfrm>
            <a:off x="637625" y="3397928"/>
            <a:ext cx="64312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Helvetica Neue" charset="0"/>
                <a:ea typeface="+mn-ea"/>
                <a:cs typeface="+mn-cs"/>
              </a:rPr>
              <a:t>🔔</a:t>
            </a:r>
            <a:r>
              <a:rPr kumimoji="0" lang="zh-CN" altLang="en-US" sz="2800" b="0" i="0" u="none" strike="noStrike" kern="1200" cap="none" spc="0" normalizeH="0" baseline="0" noProof="0" dirty="0">
                <a:ln>
                  <a:noFill/>
                </a:ln>
                <a:solidFill>
                  <a:srgbClr val="000000"/>
                </a:solidFill>
                <a:effectLst/>
                <a:uLnTx/>
                <a:uFillTx/>
                <a:latin typeface="Helvetica Neue" charset="0"/>
                <a:ea typeface="宋体" panose="02010600030101010101" pitchFamily="2" charset="-122"/>
                <a:cs typeface="+mn-cs"/>
              </a:rPr>
              <a:t>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9399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基于路径的度量方法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3878017"/>
              </a:xfrm>
            </p:spPr>
            <p:txBody>
              <a:bodyPr/>
              <a:lstStyle/>
              <a:p>
                <a:r>
                  <a:rPr lang="en-US" altLang="zh-CN" dirty="0" err="1">
                    <a:latin typeface="Calibri" charset="0"/>
                    <a:ea typeface="Calibri" charset="0"/>
                    <a:cs typeface="Calibri" charset="0"/>
                  </a:rPr>
                  <a:t>Betweenness</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取决于它是否</a:t>
                </a:r>
                <a:r>
                  <a:rPr lang="zh-CN" altLang="zh-CN" dirty="0"/>
                  <a:t>经常出现在其它节点</a:t>
                </a:r>
                <a:r>
                  <a:rPr lang="zh-CN" altLang="en-US" dirty="0"/>
                  <a:t>的</a:t>
                </a:r>
                <a:r>
                  <a:rPr lang="zh-CN" altLang="zh-CN" dirty="0"/>
                  <a:t>最短路径</a:t>
                </a:r>
                <a:r>
                  <a:rPr lang="zh-CN" altLang="en-US" dirty="0"/>
                  <a:t>上</a:t>
                </a:r>
                <a:endParaRPr lang="en-US" altLang="zh-CN" dirty="0">
                  <a:latin typeface="Microsoft YaHei" charset="-122"/>
                  <a:ea typeface="Microsoft YaHei" charset="-122"/>
                  <a:cs typeface="Microsoft YaHei" charset="-122"/>
                </a:endParaRPr>
              </a:p>
              <a:p>
                <a:pPr lvl="1"/>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出现在其它节点最短路径上次数越多，</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3878017"/>
              </a:xfrm>
              <a:blipFill rotWithShape="0">
                <a:blip r:embed="rId3"/>
                <a:stretch>
                  <a:fillRect l="-667" t="-785"/>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2684"/>
          <a:stretch/>
        </p:blipFill>
        <p:spPr>
          <a:xfrm>
            <a:off x="5680937" y="1922177"/>
            <a:ext cx="3272954" cy="2811304"/>
          </a:xfrm>
          <a:prstGeom prst="rect">
            <a:avLst/>
          </a:prstGeom>
        </p:spPr>
      </p:pic>
      <p:sp>
        <p:nvSpPr>
          <p:cNvPr id="15" name="Rectangle 14"/>
          <p:cNvSpPr/>
          <p:nvPr/>
        </p:nvSpPr>
        <p:spPr>
          <a:xfrm>
            <a:off x="457199" y="3442675"/>
            <a:ext cx="4572000" cy="732508"/>
          </a:xfrm>
          <a:prstGeom prst="rect">
            <a:avLst/>
          </a:prstGeom>
        </p:spPr>
        <p:txBody>
          <a:bodyPr>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如何解释</a:t>
            </a:r>
            <a:r>
              <a:rPr kumimoji="0" lang="en-US" altLang="zh-CN" sz="2000" b="0" i="0" u="none" strike="noStrike" kern="1200" cap="none" spc="0" normalizeH="0" baseline="0" noProof="0" dirty="0" err="1">
                <a:ln>
                  <a:noFill/>
                </a:ln>
                <a:solidFill>
                  <a:prstClr val="black"/>
                </a:solidFill>
                <a:effectLst/>
                <a:uLnTx/>
                <a:uFillTx/>
                <a:latin typeface="Calibri" charset="0"/>
                <a:ea typeface="Calibri" charset="0"/>
                <a:cs typeface="Calibri" charset="0"/>
              </a:rPr>
              <a:t>Betweenness</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a:t>
            </a:r>
            <a:endPar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贸易</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网络：贸易枢纽</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hubs</a:t>
            </a:r>
          </a:p>
        </p:txBody>
      </p:sp>
      <p:sp>
        <p:nvSpPr>
          <p:cNvPr id="6" name="Slide Number Placeholder 5">
            <a:extLst>
              <a:ext uri="{FF2B5EF4-FFF2-40B4-BE49-F238E27FC236}">
                <a16:creationId xmlns="" xmlns:a16="http://schemas.microsoft.com/office/drawing/2014/main" id="{DC4494E2-3889-F344-8000-011F9403E87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 xmlns:a16="http://schemas.microsoft.com/office/drawing/2014/main" id="{C117D5C4-7567-BA49-B5C5-EEE58E950509}"/>
                  </a:ext>
                </a:extLst>
              </p:cNvPr>
              <p:cNvSpPr/>
              <p:nvPr/>
            </p:nvSpPr>
            <p:spPr>
              <a:xfrm>
                <a:off x="539320" y="2000288"/>
                <a:ext cx="4360681" cy="7857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sub>
                        <m:sup/>
                        <m:e>
                          <m:f>
                            <m:fPr>
                              <m:ctrlPr>
                                <a:rPr kumimoji="0" lang="mr-IN" altLang="zh-CN" sz="1800" b="0" i="1" u="none" strike="noStrike" kern="1200" cap="none" spc="0" normalizeH="0" baseline="0" noProof="0" smtClean="0">
                                  <a:ln>
                                    <a:noFill/>
                                  </a:ln>
                                  <a:solidFill>
                                    <a:prstClr val="black"/>
                                  </a:solidFill>
                                  <a:effectLst/>
                                  <a:uLnTx/>
                                  <a:uFillTx/>
                                  <a:latin typeface="Cambria Math"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srgbClr val="C00000"/>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−1)(</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num>
                            <m:den>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nary>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11" name="Rectangle 10">
                <a:extLst>
                  <a:ext uri="{FF2B5EF4-FFF2-40B4-BE49-F238E27FC236}">
                    <a16:creationId xmlns:a16="http://schemas.microsoft.com/office/drawing/2014/main" id="{C117D5C4-7567-BA49-B5C5-EEE58E950509}"/>
                  </a:ext>
                </a:extLst>
              </p:cNvPr>
              <p:cNvSpPr>
                <a:spLocks noRot="1" noChangeAspect="1" noMove="1" noResize="1" noEditPoints="1" noAdjustHandles="1" noChangeArrowheads="1" noChangeShapeType="1" noTextEdit="1"/>
              </p:cNvSpPr>
              <p:nvPr/>
            </p:nvSpPr>
            <p:spPr>
              <a:xfrm>
                <a:off x="539320" y="2000288"/>
                <a:ext cx="4360681" cy="785728"/>
              </a:xfrm>
              <a:prstGeom prst="rect">
                <a:avLst/>
              </a:prstGeom>
              <a:blipFill>
                <a:blip r:embed="rId5"/>
                <a:stretch>
                  <a:fillRect t="-119355" b="-1645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 xmlns:a16="http://schemas.microsoft.com/office/drawing/2014/main" id="{C8C4612A-1A03-8A40-82CC-1046A6E6EE3B}"/>
                  </a:ext>
                </a:extLst>
              </p:cNvPr>
              <p:cNvSpPr/>
              <p:nvPr/>
            </p:nvSpPr>
            <p:spPr>
              <a:xfrm>
                <a:off x="659740" y="2830168"/>
                <a:ext cx="436945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14:m>
                  <m:oMath xmlns:m="http://schemas.openxmlformats.org/officeDocument/2006/math">
                    <m:r>
                      <a:rPr kumimoji="0" lang="en-US" altLang="zh-CN" sz="1400" b="0" i="1" u="none" strike="noStrike" kern="1200" cap="none" spc="0" normalizeH="0" baseline="0" noProof="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oMath>
                </a14:m>
                <a:r>
                  <a:rPr kumimoji="0" lang="en-US" altLang="zh-CN" sz="1400" b="0" i="0" u="none" strike="noStrike" kern="1200" cap="none" spc="0" normalizeH="0" baseline="0" noProof="0" dirty="0">
                    <a:ln>
                      <a:noFill/>
                    </a:ln>
                    <a:solidFill>
                      <a:prstClr val="black"/>
                    </a:solidFill>
                    <a:effectLst/>
                    <a:uLnTx/>
                    <a:uFillTx/>
                    <a:latin typeface="Calibri"/>
                    <a:ea typeface="Microsoft YaHei" charset="-122"/>
                    <a:cs typeface="Microsoft YaHei" charset="-122"/>
                  </a:rPr>
                  <a:t> </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经过</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其中</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v</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不等于</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s</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或</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t</a:t>
                </a:r>
                <a:endParaRPr kumimoji="0" 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endParaRPr>
              </a:p>
            </p:txBody>
          </p:sp>
        </mc:Choice>
        <mc:Fallback xmlns="">
          <p:sp>
            <p:nvSpPr>
              <p:cNvPr id="12" name="Rectangle 11">
                <a:extLst>
                  <a:ext uri="{FF2B5EF4-FFF2-40B4-BE49-F238E27FC236}">
                    <a16:creationId xmlns:a16="http://schemas.microsoft.com/office/drawing/2014/main" id="{C8C4612A-1A03-8A40-82CC-1046A6E6EE3B}"/>
                  </a:ext>
                </a:extLst>
              </p:cNvPr>
              <p:cNvSpPr>
                <a:spLocks noRot="1" noChangeAspect="1" noMove="1" noResize="1" noEditPoints="1" noAdjustHandles="1" noChangeArrowheads="1" noChangeShapeType="1" noTextEdit="1"/>
              </p:cNvSpPr>
              <p:nvPr/>
            </p:nvSpPr>
            <p:spPr>
              <a:xfrm>
                <a:off x="659740" y="2830168"/>
                <a:ext cx="4369459" cy="523220"/>
              </a:xfrm>
              <a:prstGeom prst="rect">
                <a:avLst/>
              </a:prstGeom>
              <a:blipFill>
                <a:blip r:embed="rId6"/>
                <a:stretch>
                  <a:fillRect l="-290" t="-2381" b="-9524"/>
                </a:stretch>
              </a:blipFill>
            </p:spPr>
            <p:txBody>
              <a:bodyPr/>
              <a:lstStyle/>
              <a:p>
                <a:r>
                  <a:rPr lang="en-US">
                    <a:noFill/>
                  </a:rPr>
                  <a:t> </a:t>
                </a:r>
              </a:p>
            </p:txBody>
          </p:sp>
        </mc:Fallback>
      </mc:AlternateContent>
    </p:spTree>
    <p:extLst>
      <p:ext uri="{BB962C8B-B14F-4D97-AF65-F5344CB8AC3E}">
        <p14:creationId xmlns:p14="http://schemas.microsoft.com/office/powerpoint/2010/main" val="820510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思考：新加坡为什么成为全球贸易港？</a:t>
            </a:r>
            <a:endParaRPr lang="en-US"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4366" y="885722"/>
            <a:ext cx="5613447" cy="3245275"/>
          </a:xfrm>
        </p:spPr>
      </p:pic>
      <p:sp>
        <p:nvSpPr>
          <p:cNvPr id="7" name="TextBox 6"/>
          <p:cNvSpPr txBox="1"/>
          <p:nvPr/>
        </p:nvSpPr>
        <p:spPr>
          <a:xfrm>
            <a:off x="244367" y="4311869"/>
            <a:ext cx="561344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波斯湾石油运输航路图</a:t>
            </a:r>
            <a:endParaRPr kumimoji="0" lang="en-US" sz="18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p:sp>
        <p:nvSpPr>
          <p:cNvPr id="8" name="Rectangle 7"/>
          <p:cNvSpPr/>
          <p:nvPr/>
        </p:nvSpPr>
        <p:spPr>
          <a:xfrm>
            <a:off x="5857813" y="880950"/>
            <a:ext cx="3183711" cy="206210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33333"/>
                </a:solidFill>
                <a:effectLst/>
                <a:uLnTx/>
                <a:uFillTx/>
                <a:latin typeface="Roboto" charset="0"/>
                <a:ea typeface="+mn-ea"/>
                <a:cs typeface="+mn-cs"/>
              </a:rPr>
              <a:t>The Persian Gulf is a leading oil-producing region, accounting for 30% of global supply. Meanwhile, </a:t>
            </a:r>
            <a:r>
              <a:rPr kumimoji="0" lang="en-US" sz="1600" b="0" i="0" u="none" strike="noStrike" kern="1200" cap="none" spc="0" normalizeH="0" baseline="0" noProof="0" dirty="0">
                <a:ln>
                  <a:noFill/>
                </a:ln>
                <a:solidFill>
                  <a:srgbClr val="FF0000"/>
                </a:solidFill>
                <a:effectLst/>
                <a:uLnTx/>
                <a:uFillTx/>
                <a:latin typeface="Roboto" charset="0"/>
                <a:ea typeface="+mn-ea"/>
                <a:cs typeface="+mn-cs"/>
              </a:rPr>
              <a:t>East Asia </a:t>
            </a:r>
            <a:r>
              <a:rPr kumimoji="0" lang="en-US" sz="1600" b="0" i="0" u="none" strike="noStrike" kern="1200" cap="none" spc="0" normalizeH="0" baseline="0" noProof="0" dirty="0">
                <a:ln>
                  <a:noFill/>
                </a:ln>
                <a:solidFill>
                  <a:srgbClr val="333333"/>
                </a:solidFill>
                <a:effectLst/>
                <a:uLnTx/>
                <a:uFillTx/>
                <a:latin typeface="Roboto" charset="0"/>
                <a:ea typeface="+mn-ea"/>
                <a:cs typeface="+mn-cs"/>
              </a:rPr>
              <a:t>is a major oil-consuming region and accounts for </a:t>
            </a:r>
            <a:r>
              <a:rPr kumimoji="0" lang="en-US" sz="1600" b="0" i="0" u="none" strike="noStrike" kern="1200" cap="none" spc="0" normalizeH="0" baseline="0" noProof="0" dirty="0">
                <a:ln>
                  <a:noFill/>
                </a:ln>
                <a:solidFill>
                  <a:srgbClr val="FF0000"/>
                </a:solidFill>
                <a:effectLst/>
                <a:uLnTx/>
                <a:uFillTx/>
                <a:latin typeface="Roboto" charset="0"/>
                <a:ea typeface="+mn-ea"/>
                <a:cs typeface="+mn-cs"/>
              </a:rPr>
              <a:t>85%</a:t>
            </a:r>
            <a:r>
              <a:rPr kumimoji="0" lang="en-US" sz="1600" b="0" i="0" u="none" strike="noStrike" kern="1200" cap="none" spc="0" normalizeH="0" baseline="0" noProof="0" dirty="0">
                <a:ln>
                  <a:noFill/>
                </a:ln>
                <a:solidFill>
                  <a:srgbClr val="333333"/>
                </a:solidFill>
                <a:effectLst/>
                <a:uLnTx/>
                <a:uFillTx/>
                <a:latin typeface="Roboto" charset="0"/>
                <a:ea typeface="+mn-ea"/>
                <a:cs typeface="+mn-cs"/>
              </a:rPr>
              <a:t> of the Persian Gulf’s exports, according to the Energy Information Administration (EIA)</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p:cNvSpPr txBox="1"/>
          <p:nvPr/>
        </p:nvSpPr>
        <p:spPr>
          <a:xfrm>
            <a:off x="4144914" y="2628215"/>
            <a:ext cx="6463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F0000"/>
                </a:solidFill>
                <a:effectLst/>
                <a:uLnTx/>
                <a:uFillTx/>
                <a:latin typeface="Calibri"/>
                <a:ea typeface="宋体" panose="02010600030101010101" pitchFamily="2" charset="-122"/>
                <a:cs typeface="+mn-cs"/>
              </a:rPr>
              <a:t>新加坡</a:t>
            </a:r>
            <a:endParaRPr kumimoji="0" lang="en-US" sz="1200" b="0" i="0" u="none" strike="noStrike" kern="1200" cap="none" spc="0" normalizeH="0" baseline="0" noProof="0" dirty="0">
              <a:ln>
                <a:noFill/>
              </a:ln>
              <a:solidFill>
                <a:srgbClr val="FF0000"/>
              </a:solidFill>
              <a:effectLst/>
              <a:uLnTx/>
              <a:uFillTx/>
              <a:latin typeface="Calibri"/>
              <a:ea typeface="+mn-ea"/>
              <a:cs typeface="+mn-cs"/>
            </a:endParaRPr>
          </a:p>
        </p:txBody>
      </p:sp>
      <p:sp>
        <p:nvSpPr>
          <p:cNvPr id="10" name="TextBox 9"/>
          <p:cNvSpPr txBox="1"/>
          <p:nvPr/>
        </p:nvSpPr>
        <p:spPr>
          <a:xfrm>
            <a:off x="5857813" y="2947572"/>
            <a:ext cx="3286187"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地缘政治</a:t>
            </a:r>
            <a:endParaRPr kumimoji="0" lang="en-US" altLang="zh-CN"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与</a:t>
            </a:r>
            <a:endParaRPr kumimoji="0" lang="en-US" altLang="zh-CN"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Microsoft YaHei" charset="-122"/>
                <a:ea typeface="Microsoft YaHei" charset="-122"/>
                <a:cs typeface="Microsoft YaHei" charset="-122"/>
              </a:rPr>
              <a:t>Betweenness</a:t>
            </a:r>
            <a:r>
              <a:rPr kumimoji="0" lang="zh-CN" alt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 </a:t>
            </a:r>
            <a:r>
              <a:rPr kumimoji="0" lang="en-US" altLang="zh-CN"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Centrality</a:t>
            </a:r>
            <a:endParaRPr kumimoji="0" 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p:sp>
        <p:nvSpPr>
          <p:cNvPr id="3" name="Slide Number Placeholder 2">
            <a:extLst>
              <a:ext uri="{FF2B5EF4-FFF2-40B4-BE49-F238E27FC236}">
                <a16:creationId xmlns="" xmlns:a16="http://schemas.microsoft.com/office/drawing/2014/main" id="{A589CF46-B26E-C441-9307-DEBA837E276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24527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基于路径的度量方法</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870" y="819150"/>
            <a:ext cx="6768259" cy="3937000"/>
          </a:xfrm>
        </p:spPr>
      </p:pic>
      <p:sp>
        <p:nvSpPr>
          <p:cNvPr id="3" name="Slide Number Placeholder 2">
            <a:extLst>
              <a:ext uri="{FF2B5EF4-FFF2-40B4-BE49-F238E27FC236}">
                <a16:creationId xmlns="" xmlns:a16="http://schemas.microsoft.com/office/drawing/2014/main" id="{9F7D80F9-68A2-4D4C-AC52-997CC49BFE1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5819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三种</a:t>
            </a:r>
            <a:r>
              <a:rPr lang="en-US" altLang="zh-CN" dirty="0">
                <a:latin typeface="Calibri" charset="0"/>
                <a:ea typeface="Calibri" charset="0"/>
                <a:cs typeface="Calibri" charset="0"/>
              </a:rPr>
              <a:t>Centrality</a:t>
            </a:r>
            <a:r>
              <a:rPr lang="zh-CN" altLang="en-US" dirty="0"/>
              <a:t>度量的比较</a:t>
            </a:r>
            <a:endParaRPr lang="en-US" dirty="0"/>
          </a:p>
        </p:txBody>
      </p:sp>
      <p:pic>
        <p:nvPicPr>
          <p:cNvPr id="6" name="Content Placeholder 5"/>
          <p:cNvPicPr>
            <a:picLocks noGrp="1" noChangeAspect="1"/>
          </p:cNvPicPr>
          <p:nvPr>
            <p:ph idx="1"/>
          </p:nvPr>
        </p:nvPicPr>
        <p:blipFill rotWithShape="1">
          <a:blip r:embed="rId3">
            <a:extLst>
              <a:ext uri="{28A0092B-C50C-407E-A947-70E740481C1C}">
                <a14:useLocalDpi xmlns:a14="http://schemas.microsoft.com/office/drawing/2010/main" val="0"/>
              </a:ext>
            </a:extLst>
          </a:blip>
          <a:srcRect l="10806" r="5091"/>
          <a:stretch/>
        </p:blipFill>
        <p:spPr>
          <a:xfrm>
            <a:off x="160214" y="1299121"/>
            <a:ext cx="2862525" cy="2552701"/>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12532" r="5924"/>
          <a:stretch/>
        </p:blipFill>
        <p:spPr>
          <a:xfrm>
            <a:off x="3182490" y="1299121"/>
            <a:ext cx="2775398" cy="2552701"/>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11275" r="8013"/>
          <a:stretch/>
        </p:blipFill>
        <p:spPr>
          <a:xfrm>
            <a:off x="6117639" y="1299121"/>
            <a:ext cx="2750941" cy="2556249"/>
          </a:xfrm>
          <a:prstGeom prst="rect">
            <a:avLst/>
          </a:prstGeom>
          <a:ln>
            <a:noFill/>
          </a:ln>
          <a:effectLst>
            <a:outerShdw blurRad="190500" algn="tl" rotWithShape="0">
              <a:srgbClr val="000000">
                <a:alpha val="70000"/>
              </a:srgbClr>
            </a:outerShdw>
          </a:effectLst>
        </p:spPr>
      </p:pic>
      <p:sp>
        <p:nvSpPr>
          <p:cNvPr id="9" name="文本框 10"/>
          <p:cNvSpPr txBox="1"/>
          <p:nvPr/>
        </p:nvSpPr>
        <p:spPr>
          <a:xfrm>
            <a:off x="160214" y="3984202"/>
            <a:ext cx="2862525"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Degree</a:t>
            </a:r>
            <a:r>
              <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sp>
        <p:nvSpPr>
          <p:cNvPr id="10" name="文本框 10"/>
          <p:cNvSpPr txBox="1"/>
          <p:nvPr/>
        </p:nvSpPr>
        <p:spPr>
          <a:xfrm>
            <a:off x="3182490" y="3984202"/>
            <a:ext cx="2775398"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Closeness</a:t>
            </a:r>
            <a:r>
              <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sp>
        <p:nvSpPr>
          <p:cNvPr id="11" name="文本框 10"/>
          <p:cNvSpPr txBox="1"/>
          <p:nvPr/>
        </p:nvSpPr>
        <p:spPr>
          <a:xfrm>
            <a:off x="6117638" y="3984202"/>
            <a:ext cx="2750941"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1200" cap="none" spc="0" normalizeH="0" baseline="0" noProof="0" dirty="0" err="1">
                <a:ln>
                  <a:noFill/>
                </a:ln>
                <a:solidFill>
                  <a:prstClr val="black"/>
                </a:solidFill>
                <a:effectLst/>
                <a:uLnTx/>
                <a:uFillTx/>
                <a:latin typeface="Calibri" charset="0"/>
                <a:ea typeface="Calibri" charset="0"/>
                <a:cs typeface="Calibri" charset="0"/>
              </a:rPr>
              <a:t>Betweenness</a:t>
            </a:r>
            <a:r>
              <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sp>
        <p:nvSpPr>
          <p:cNvPr id="3" name="Slide Number Placeholder 2">
            <a:extLst>
              <a:ext uri="{FF2B5EF4-FFF2-40B4-BE49-F238E27FC236}">
                <a16:creationId xmlns="" xmlns:a16="http://schemas.microsoft.com/office/drawing/2014/main" id="{2971376D-33DD-8A4E-9CC7-BC5E56B14E6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51596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三种</a:t>
            </a:r>
            <a:r>
              <a:rPr lang="en-US" altLang="zh-CN" dirty="0">
                <a:latin typeface="Calibri" charset="0"/>
                <a:ea typeface="Calibri" charset="0"/>
                <a:cs typeface="Calibri" charset="0"/>
              </a:rPr>
              <a:t>Centrality</a:t>
            </a:r>
            <a:r>
              <a:rPr lang="zh-CN" altLang="en-US" dirty="0"/>
              <a:t>度量的比较</a:t>
            </a:r>
            <a:endParaRPr lang="en-US" dirty="0"/>
          </a:p>
        </p:txBody>
      </p:sp>
      <p:sp>
        <p:nvSpPr>
          <p:cNvPr id="3" name="Content Placeholder 2"/>
          <p:cNvSpPr>
            <a:spLocks noGrp="1"/>
          </p:cNvSpPr>
          <p:nvPr>
            <p:ph idx="1"/>
          </p:nvPr>
        </p:nvSpPr>
        <p:spPr>
          <a:xfrm>
            <a:off x="457200" y="819150"/>
            <a:ext cx="8229600" cy="479563"/>
          </a:xfrm>
        </p:spPr>
        <p:txBody>
          <a:bodyPr/>
          <a:lstStyle/>
          <a:p>
            <a:r>
              <a:rPr lang="en-US" altLang="zh-CN" dirty="0"/>
              <a:t>Python</a:t>
            </a:r>
            <a:r>
              <a:rPr lang="zh-CN" altLang="en-US" dirty="0"/>
              <a:t>代码实现</a:t>
            </a:r>
            <a:endParaRPr lang="en-US" dirty="0"/>
          </a:p>
        </p:txBody>
      </p:sp>
      <p:sp>
        <p:nvSpPr>
          <p:cNvPr id="4" name="Rectangle 3"/>
          <p:cNvSpPr/>
          <p:nvPr/>
        </p:nvSpPr>
        <p:spPr>
          <a:xfrm>
            <a:off x="997225" y="1233913"/>
            <a:ext cx="7149549" cy="3539430"/>
          </a:xfrm>
          <a:prstGeom prst="rect">
            <a:avLst/>
          </a:prstGeom>
          <a:solidFill>
            <a:schemeClr val="tx1">
              <a:lumMod val="75000"/>
              <a:lumOff val="2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66D9EF"/>
                </a:solidFill>
                <a:effectLst/>
                <a:uLnTx/>
                <a:uFillTx/>
                <a:latin typeface="Calibri"/>
                <a:ea typeface="+mn-ea"/>
                <a:cs typeface="+mn-cs"/>
              </a:rPr>
              <a:t>if </a:t>
            </a:r>
            <a:r>
              <a:rPr kumimoji="0" lang="en-US" sz="1600" b="0" i="0" u="none" strike="noStrike" kern="1200" cap="none" spc="0" normalizeH="0" baseline="0" noProof="0" dirty="0">
                <a:ln>
                  <a:noFill/>
                </a:ln>
                <a:solidFill>
                  <a:prstClr val="white"/>
                </a:solidFill>
                <a:effectLst/>
                <a:uLnTx/>
                <a:uFillTx/>
                <a:latin typeface="Calibri"/>
                <a:ea typeface="+mn-ea"/>
                <a:cs typeface="+mn-cs"/>
              </a:rPr>
              <a:t>__name__ </a:t>
            </a:r>
            <a:r>
              <a:rPr kumimoji="0" lang="en-US" sz="1600" b="0" i="0" u="none" strike="noStrike" kern="1200" cap="none" spc="0" normalizeH="0" baseline="0" noProof="0" dirty="0">
                <a:ln>
                  <a:noFill/>
                </a:ln>
                <a:solidFill>
                  <a:srgbClr val="F92672"/>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'__main__'</a:t>
            </a:r>
            <a:r>
              <a:rPr kumimoji="0" lang="en-US" sz="1600" b="0" i="0" u="none" strike="noStrike" kern="1200" cap="none" spc="0" normalizeH="0" baseline="0" noProof="0" dirty="0">
                <a:ln>
                  <a:noFill/>
                </a:ln>
                <a:solidFill>
                  <a:srgbClr val="F92672"/>
                </a:solidFill>
                <a:effectLst/>
                <a:uLnTx/>
                <a:uFillTx/>
                <a:latin typeface="Calibri"/>
                <a:ea typeface="+mn-ea"/>
                <a:cs typeface="+mn-cs"/>
              </a:rPr>
              <a:t>:</a:t>
            </a:r>
            <a:br>
              <a:rPr kumimoji="0" lang="en-US" sz="1600" b="0" i="0" u="none" strike="noStrike" kern="1200" cap="none" spc="0" normalizeH="0" baseline="0" noProof="0" dirty="0">
                <a:ln>
                  <a:noFill/>
                </a:ln>
                <a:solidFill>
                  <a:srgbClr val="F92672"/>
                </a:solidFill>
                <a:effectLst/>
                <a:uLnTx/>
                <a:uFillTx/>
                <a:latin typeface="Calibri"/>
                <a:ea typeface="+mn-ea"/>
                <a:cs typeface="+mn-cs"/>
              </a:rPr>
            </a:br>
            <a:r>
              <a:rPr kumimoji="0" lang="en-US" sz="1600" b="0" i="0" u="none" strike="noStrike" kern="1200" cap="none" spc="0" normalizeH="0" baseline="0" noProof="0" dirty="0">
                <a:ln>
                  <a:noFill/>
                </a:ln>
                <a:solidFill>
                  <a:prstClr val="white"/>
                </a:solidFill>
                <a:effectLst/>
                <a:uLnTx/>
                <a:uFillTx/>
                <a:latin typeface="Calibri"/>
                <a:ea typeface="+mn-ea"/>
                <a:cs typeface="+mn-cs"/>
              </a:rPr>
              <a:t>    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a:ln>
                  <a:noFill/>
                </a:ln>
                <a:solidFill>
                  <a:srgbClr val="F92672"/>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gen</a:t>
            </a:r>
            <a:r>
              <a:rPr kumimoji="0" lang="en-US" sz="1600" b="0" i="0" u="none" strike="noStrike" kern="1200" cap="none" spc="0" normalizeH="0" baseline="0" noProof="0" dirty="0" err="1">
                <a:ln>
                  <a:noFill/>
                </a:ln>
                <a:solidFill>
                  <a:prstClr val="black"/>
                </a:solidFill>
                <a:effectLst/>
                <a:uLnTx/>
                <a:uFillTx/>
                <a:latin typeface="Calibri"/>
                <a:ea typeface="+mn-ea"/>
                <a:cs typeface="+mn-cs"/>
              </a:rPr>
              <a:t>.</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school_dating_graph</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srgbClr val="E6DB74"/>
                </a:solidFill>
                <a:effectLst/>
                <a:uLnTx/>
                <a:uFillTx/>
                <a:latin typeface="Calibri"/>
                <a:ea typeface="+mn-ea"/>
                <a:cs typeface="+mn-cs"/>
              </a:rPr>
              <a:t>'Degree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degree_centrality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draw</a:t>
            </a:r>
            <a:r>
              <a:rPr kumimoji="0" lang="en-US" sz="1600" b="0" i="0" u="none" strike="noStrike" kern="1200" cap="none" spc="0" normalizeH="0" baseline="0" noProof="0" dirty="0">
                <a:ln>
                  <a:noFill/>
                </a:ln>
                <a:solidFill>
                  <a:prstClr val="white"/>
                </a:solidFill>
                <a:effectLst/>
                <a:uLnTx/>
                <a:uFillTx/>
                <a:latin typeface="Calibri"/>
                <a:ea typeface="+mn-ea"/>
                <a:cs typeface="+mn-cs"/>
              </a:rPr>
              <a:t>(G,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degree_centrality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'Degree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srgbClr val="E6DB74"/>
                </a:solidFill>
                <a:effectLst/>
                <a:uLnTx/>
                <a:uFillTx/>
                <a:latin typeface="Calibri"/>
                <a:ea typeface="+mn-ea"/>
                <a:cs typeface="+mn-cs"/>
              </a:rPr>
              <a:t>'Closeness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closeness_centrality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draw</a:t>
            </a:r>
            <a:r>
              <a:rPr kumimoji="0" lang="en-US" sz="1600" b="0" i="0" u="none" strike="noStrike" kern="1200" cap="none" spc="0" normalizeH="0" baseline="0" noProof="0" dirty="0">
                <a:ln>
                  <a:noFill/>
                </a:ln>
                <a:solidFill>
                  <a:prstClr val="white"/>
                </a:solidFill>
                <a:effectLst/>
                <a:uLnTx/>
                <a:uFillTx/>
                <a:latin typeface="Calibri"/>
                <a:ea typeface="+mn-ea"/>
                <a:cs typeface="+mn-cs"/>
              </a:rPr>
              <a:t>(G,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closeness_centrality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'Closeness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srgbClr val="E6DB74"/>
                </a:solidFill>
                <a:effectLst/>
                <a:uLnTx/>
                <a:uFillTx/>
                <a:latin typeface="Calibri"/>
                <a:ea typeface="+mn-ea"/>
                <a:cs typeface="+mn-cs"/>
              </a:rPr>
              <a:t>'</a:t>
            </a:r>
            <a:r>
              <a:rPr kumimoji="0" lang="en-US" sz="1600" b="0" i="0" u="none" strike="noStrike" kern="1200" cap="none" spc="0" normalizeH="0" baseline="0" noProof="0" dirty="0" err="1">
                <a:ln>
                  <a:noFill/>
                </a:ln>
                <a:solidFill>
                  <a:srgbClr val="E6DB74"/>
                </a:solidFill>
                <a:effectLst/>
                <a:uLnTx/>
                <a:uFillTx/>
                <a:latin typeface="Calibri"/>
                <a:ea typeface="+mn-ea"/>
                <a:cs typeface="+mn-cs"/>
              </a:rPr>
              <a:t>Betweenness</a:t>
            </a:r>
            <a:r>
              <a:rPr kumimoji="0" lang="en-US" sz="1600" b="0" i="0" u="none" strike="noStrike" kern="1200" cap="none" spc="0" normalizeH="0" baseline="0" noProof="0" dirty="0">
                <a:ln>
                  <a:noFill/>
                </a:ln>
                <a:solidFill>
                  <a:srgbClr val="E6DB74"/>
                </a:solidFill>
                <a:effectLst/>
                <a:uLnTx/>
                <a:uFillTx/>
                <a:latin typeface="Calibri"/>
                <a:ea typeface="+mn-ea"/>
                <a:cs typeface="+mn-cs"/>
              </a:rPr>
              <a:t>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betweenness_centrality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draw</a:t>
            </a:r>
            <a:r>
              <a:rPr kumimoji="0" lang="en-US" sz="1600" b="0" i="0" u="none" strike="noStrike" kern="1200" cap="none" spc="0" normalizeH="0" baseline="0" noProof="0" dirty="0">
                <a:ln>
                  <a:noFill/>
                </a:ln>
                <a:solidFill>
                  <a:prstClr val="white"/>
                </a:solidFill>
                <a:effectLst/>
                <a:uLnTx/>
                <a:uFillTx/>
                <a:latin typeface="Calibri"/>
                <a:ea typeface="+mn-ea"/>
                <a:cs typeface="+mn-cs"/>
              </a:rPr>
              <a:t>(G,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betweenness_centrality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a:t>
            </a:r>
            <a:r>
              <a:rPr kumimoji="0" lang="en-US" sz="1600" b="0" i="0" u="none" strike="noStrike" kern="1200" cap="none" spc="0" normalizeH="0" baseline="0" noProof="0" dirty="0" err="1">
                <a:ln>
                  <a:noFill/>
                </a:ln>
                <a:solidFill>
                  <a:srgbClr val="E6DB74"/>
                </a:solidFill>
                <a:effectLst/>
                <a:uLnTx/>
                <a:uFillTx/>
                <a:latin typeface="Calibri"/>
                <a:ea typeface="+mn-ea"/>
                <a:cs typeface="+mn-cs"/>
              </a:rPr>
              <a:t>Betweenness</a:t>
            </a:r>
            <a:r>
              <a:rPr kumimoji="0" lang="en-US" sz="1600" b="0" i="0" u="none" strike="noStrike" kern="1200" cap="none" spc="0" normalizeH="0" baseline="0" noProof="0" dirty="0">
                <a:ln>
                  <a:noFill/>
                </a:ln>
                <a:solidFill>
                  <a:srgbClr val="E6DB74"/>
                </a:solidFill>
                <a:effectLst/>
                <a:uLnTx/>
                <a:uFillTx/>
                <a:latin typeface="Calibri"/>
                <a:ea typeface="+mn-ea"/>
                <a:cs typeface="+mn-cs"/>
              </a:rPr>
              <a:t>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p>
        </p:txBody>
      </p:sp>
      <p:sp>
        <p:nvSpPr>
          <p:cNvPr id="5" name="Slide Number Placeholder 4">
            <a:extLst>
              <a:ext uri="{FF2B5EF4-FFF2-40B4-BE49-F238E27FC236}">
                <a16:creationId xmlns="" xmlns:a16="http://schemas.microsoft.com/office/drawing/2014/main" id="{F822B26C-8129-7B4B-BAC6-575E51A5C4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63228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三种</a:t>
            </a:r>
            <a:r>
              <a:rPr lang="en-US" altLang="zh-CN" dirty="0">
                <a:latin typeface="Calibri" charset="0"/>
                <a:ea typeface="Calibri" charset="0"/>
                <a:cs typeface="Calibri" charset="0"/>
              </a:rPr>
              <a:t>Centrality</a:t>
            </a:r>
            <a:r>
              <a:rPr lang="zh-CN" altLang="en-US" dirty="0"/>
              <a:t>度量的比较</a:t>
            </a:r>
            <a:endParaRPr lang="en-US" dirty="0"/>
          </a:p>
        </p:txBody>
      </p:sp>
      <p:sp>
        <p:nvSpPr>
          <p:cNvPr id="8" name="Content Placeholder 2"/>
          <p:cNvSpPr txBox="1">
            <a:spLocks/>
          </p:cNvSpPr>
          <p:nvPr/>
        </p:nvSpPr>
        <p:spPr>
          <a:xfrm>
            <a:off x="457200" y="819150"/>
            <a:ext cx="8229600" cy="3937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请分别指出</a:t>
            </a:r>
            <a:r>
              <a:rPr kumimoji="0" lang="en-US" altLang="zh-CN" sz="2000" b="0" i="0" u="none" strike="noStrike" kern="1200" cap="none" spc="0" normalizeH="0" baseline="0" noProof="0" dirty="0">
                <a:ln>
                  <a:noFill/>
                </a:ln>
                <a:solidFill>
                  <a:srgbClr val="C00000"/>
                </a:solidFill>
                <a:effectLst/>
                <a:uLnTx/>
                <a:uFillTx/>
                <a:latin typeface="Calibri" charset="0"/>
                <a:ea typeface="Calibri" charset="0"/>
                <a:cs typeface="Calibri" charset="0"/>
              </a:rPr>
              <a:t>Degree</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srgbClr val="00B050"/>
                </a:solidFill>
                <a:effectLst/>
                <a:uLnTx/>
                <a:uFillTx/>
                <a:latin typeface="Calibri" charset="0"/>
                <a:ea typeface="Calibri" charset="0"/>
                <a:cs typeface="Calibri" charset="0"/>
              </a:rPr>
              <a:t>Closeness</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和</a:t>
            </a:r>
            <a:r>
              <a:rPr kumimoji="0" lang="en-US" altLang="zh-CN" sz="2000" b="0" i="0" u="none" strike="noStrike" kern="1200" cap="none" spc="0" normalizeH="0" baseline="0" noProof="0" dirty="0" err="1">
                <a:ln>
                  <a:noFill/>
                </a:ln>
                <a:solidFill>
                  <a:srgbClr val="00B0F0"/>
                </a:solidFill>
                <a:effectLst/>
                <a:uLnTx/>
                <a:uFillTx/>
                <a:latin typeface="Calibri" charset="0"/>
                <a:ea typeface="Calibri" charset="0"/>
                <a:cs typeface="Calibri" charset="0"/>
              </a:rPr>
              <a:t>Betweenness</a:t>
            </a:r>
            <a:r>
              <a:rPr kumimoji="0" lang="zh-CN" altLang="en-US" sz="2000" b="0" i="0" u="none" strike="noStrike" kern="1200" cap="none" spc="0" normalizeH="0" baseline="0" noProof="0" dirty="0">
                <a:ln>
                  <a:noFill/>
                </a:ln>
                <a:solidFill>
                  <a:srgbClr val="00B0F0"/>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ity</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最大的节点</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扩展学习：</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Eigenvector</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与</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PageRank</a:t>
            </a: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算法很相关）</a:t>
            </a:r>
            <a:r>
              <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hlinkClick r:id="rId3"/>
              </a:rPr>
              <a:t>https://www.geeksforgeeks.org/eigenvector-centrality-centrality-measure/</a:t>
            </a:r>
            <a:endParaRPr kumimoji="0" 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pic>
        <p:nvPicPr>
          <p:cNvPr id="10" name="图片 3">
            <a:extLst>
              <a:ext uri="{FF2B5EF4-FFF2-40B4-BE49-F238E27FC236}">
                <a16:creationId xmlns="" xmlns:a16="http://schemas.microsoft.com/office/drawing/2014/main" id="{3EBA37BE-EEE3-4075-A59E-28D05DF6F7B8}"/>
              </a:ext>
            </a:extLst>
          </p:cNvPr>
          <p:cNvPicPr>
            <a:picLocks noChangeAspect="1"/>
          </p:cNvPicPr>
          <p:nvPr/>
        </p:nvPicPr>
        <p:blipFill>
          <a:blip r:embed="rId4"/>
          <a:stretch>
            <a:fillRect/>
          </a:stretch>
        </p:blipFill>
        <p:spPr>
          <a:xfrm>
            <a:off x="457200" y="1374871"/>
            <a:ext cx="3750339" cy="1958729"/>
          </a:xfrm>
          <a:prstGeom prst="rect">
            <a:avLst/>
          </a:prstGeom>
          <a:ln>
            <a:solidFill>
              <a:schemeClr val="accent1"/>
            </a:solidFill>
          </a:ln>
        </p:spPr>
      </p:pic>
      <p:pic>
        <p:nvPicPr>
          <p:cNvPr id="11" name="图片 4">
            <a:extLst>
              <a:ext uri="{FF2B5EF4-FFF2-40B4-BE49-F238E27FC236}">
                <a16:creationId xmlns="" xmlns:a16="http://schemas.microsoft.com/office/drawing/2014/main" id="{FA184433-0099-4DBC-B775-F64EFD63A694}"/>
              </a:ext>
            </a:extLst>
          </p:cNvPr>
          <p:cNvPicPr>
            <a:picLocks noChangeAspect="1"/>
          </p:cNvPicPr>
          <p:nvPr/>
        </p:nvPicPr>
        <p:blipFill>
          <a:blip r:embed="rId5"/>
          <a:stretch>
            <a:fillRect/>
          </a:stretch>
        </p:blipFill>
        <p:spPr>
          <a:xfrm>
            <a:off x="4245131" y="2059319"/>
            <a:ext cx="4860769" cy="1859437"/>
          </a:xfrm>
          <a:prstGeom prst="rect">
            <a:avLst/>
          </a:prstGeom>
          <a:ln>
            <a:solidFill>
              <a:schemeClr val="accent1"/>
            </a:solidFill>
          </a:ln>
        </p:spPr>
      </p:pic>
      <p:sp>
        <p:nvSpPr>
          <p:cNvPr id="12" name="Rectangle 11"/>
          <p:cNvSpPr/>
          <p:nvPr/>
        </p:nvSpPr>
        <p:spPr>
          <a:xfrm>
            <a:off x="1260000" y="2051835"/>
            <a:ext cx="432000" cy="3456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p:nvSpPr>
        <p:spPr>
          <a:xfrm>
            <a:off x="1709501" y="1692285"/>
            <a:ext cx="396000" cy="316800"/>
          </a:xfrm>
          <a:prstGeom prst="rect">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2296800" y="2059319"/>
            <a:ext cx="396000" cy="338115"/>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Slide Number Placeholder 2">
            <a:extLst>
              <a:ext uri="{FF2B5EF4-FFF2-40B4-BE49-F238E27FC236}">
                <a16:creationId xmlns="" xmlns:a16="http://schemas.microsoft.com/office/drawing/2014/main" id="{333EBAEB-8904-2B4E-8AF7-AE2A470C5F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54476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308324"/>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Why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为什么用图对数据建模</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smtClean="0">
                <a:latin typeface="微软雅黑" panose="020B0503020204020204" pitchFamily="34" charset="-122"/>
                <a:ea typeface="微软雅黑" panose="020B0503020204020204" pitchFamily="34" charset="-122"/>
              </a:rPr>
              <a:t>3</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节点中心性（</a:t>
            </a:r>
            <a:r>
              <a:rPr lang="en-US" altLang="zh-CN" dirty="0">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smtClean="0">
                <a:solidFill>
                  <a:srgbClr val="C00000"/>
                </a:solidFill>
                <a:latin typeface="微软雅黑" panose="020B0503020204020204" pitchFamily="34" charset="-122"/>
                <a:ea typeface="微软雅黑" panose="020B0503020204020204" pitchFamily="34" charset="-122"/>
              </a:rPr>
              <a:t>3.</a:t>
            </a:r>
            <a:r>
              <a:rPr lang="zh-CN" altLang="en-US" dirty="0" smtClean="0">
                <a:solidFill>
                  <a:srgbClr val="C00000"/>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How</a:t>
            </a:r>
            <a:r>
              <a:rPr lang="zh-CN" altLang="en-US" dirty="0">
                <a:solidFill>
                  <a:srgbClr val="C00000"/>
                </a:solidFill>
                <a:latin typeface="微软雅黑" panose="020B0503020204020204" pitchFamily="34" charset="-122"/>
                <a:ea typeface="微软雅黑" panose="020B0503020204020204" pitchFamily="34" charset="-122"/>
              </a:rPr>
              <a:t> </a:t>
            </a:r>
            <a:r>
              <a:rPr lang="mr-IN"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 社区（</a:t>
            </a:r>
            <a:r>
              <a:rPr lang="en-US" altLang="zh-CN" dirty="0">
                <a:solidFill>
                  <a:srgbClr val="C00000"/>
                </a:solidFill>
                <a:latin typeface="Calibri" panose="020F0502020204030204" pitchFamily="34" charset="0"/>
                <a:ea typeface="微软雅黑" panose="020B0503020204020204" pitchFamily="34" charset="-122"/>
                <a:cs typeface="Calibri" panose="020F0502020204030204" pitchFamily="34" charset="0"/>
              </a:rPr>
              <a:t>Community</a:t>
            </a:r>
            <a:r>
              <a:rPr lang="zh-CN" altLang="en-US" dirty="0">
                <a:solidFill>
                  <a:srgbClr val="C00000"/>
                </a:solidFill>
                <a:latin typeface="微软雅黑" panose="020B0503020204020204" pitchFamily="34" charset="-122"/>
                <a:ea typeface="微软雅黑" panose="020B0503020204020204" pitchFamily="34" charset="-122"/>
              </a:rPr>
              <a:t>）</a:t>
            </a:r>
            <a:r>
              <a:rPr lang="zh-CN" altLang="en-US" dirty="0" smtClean="0">
                <a:solidFill>
                  <a:srgbClr val="C00000"/>
                </a:solidFill>
                <a:latin typeface="微软雅黑" panose="020B0503020204020204" pitchFamily="34" charset="-122"/>
                <a:ea typeface="微软雅黑" panose="020B0503020204020204" pitchFamily="34" charset="-122"/>
              </a:rPr>
              <a:t>分析</a:t>
            </a:r>
            <a:endParaRPr lang="en-US" altLang="zh-CN" dirty="0" smtClean="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 附录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图论的基本</a:t>
            </a:r>
            <a:r>
              <a:rPr lang="zh-CN" altLang="en-US" dirty="0" smtClean="0">
                <a:latin typeface="微软雅黑" panose="020B0503020204020204" pitchFamily="34" charset="-122"/>
                <a:ea typeface="微软雅黑" panose="020B0503020204020204" pitchFamily="34" charset="-122"/>
              </a:rPr>
              <a:t>概念</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983767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社区检测（</a:t>
            </a:r>
            <a:r>
              <a:rPr lang="en-US" altLang="zh-CN" dirty="0">
                <a:latin typeface="Calibri" charset="0"/>
                <a:ea typeface="Calibri" charset="0"/>
                <a:cs typeface="Calibri" charset="0"/>
              </a:rPr>
              <a:t>Community</a:t>
            </a:r>
            <a:r>
              <a:rPr lang="zh-CN" altLang="en-US" dirty="0">
                <a:latin typeface="Calibri" charset="0"/>
                <a:ea typeface="Calibri" charset="0"/>
                <a:cs typeface="Calibri" charset="0"/>
              </a:rPr>
              <a:t> </a:t>
            </a:r>
            <a:r>
              <a:rPr lang="en-US" altLang="zh-CN" dirty="0">
                <a:latin typeface="Calibri" charset="0"/>
                <a:ea typeface="Calibri" charset="0"/>
                <a:cs typeface="Calibri" charset="0"/>
              </a:rPr>
              <a:t>Detection</a:t>
            </a:r>
            <a:r>
              <a:rPr lang="zh-CN" altLang="en-US" dirty="0"/>
              <a:t>）</a:t>
            </a:r>
            <a:endParaRPr lang="en-US" dirty="0"/>
          </a:p>
        </p:txBody>
      </p:sp>
      <p:sp>
        <p:nvSpPr>
          <p:cNvPr id="3" name="Content Placeholder 2"/>
          <p:cNvSpPr>
            <a:spLocks noGrp="1"/>
          </p:cNvSpPr>
          <p:nvPr>
            <p:ph idx="1"/>
          </p:nvPr>
        </p:nvSpPr>
        <p:spPr>
          <a:xfrm>
            <a:off x="457200" y="819150"/>
            <a:ext cx="3027243" cy="1312515"/>
          </a:xfrm>
        </p:spPr>
        <p:txBody>
          <a:bodyPr/>
          <a:lstStyle/>
          <a:p>
            <a:r>
              <a:rPr lang="zh-CN" altLang="en-US" dirty="0"/>
              <a:t>为什么使用图模型对数据建模？</a:t>
            </a:r>
            <a:endParaRPr lang="en-US" altLang="zh-CN" dirty="0"/>
          </a:p>
          <a:p>
            <a:pPr lvl="1"/>
            <a:r>
              <a:rPr lang="zh-CN" altLang="en-US" dirty="0"/>
              <a:t>图提供了一种观察数据</a:t>
            </a:r>
            <a:r>
              <a:rPr lang="zh-CN" altLang="en-US" dirty="0">
                <a:solidFill>
                  <a:srgbClr val="AE0627"/>
                </a:solidFill>
              </a:rPr>
              <a:t>结构特征</a:t>
            </a:r>
            <a:r>
              <a:rPr lang="zh-CN" altLang="en-US" dirty="0"/>
              <a:t>的视角</a:t>
            </a:r>
            <a:endParaRPr lang="en-US" dirty="0"/>
          </a:p>
        </p:txBody>
      </p:sp>
      <p:sp>
        <p:nvSpPr>
          <p:cNvPr id="5" name="Rectangle 4"/>
          <p:cNvSpPr/>
          <p:nvPr/>
        </p:nvSpPr>
        <p:spPr>
          <a:xfrm>
            <a:off x="3872195" y="950540"/>
            <a:ext cx="4990454" cy="584775"/>
          </a:xfrm>
          <a:prstGeom prst="rect">
            <a:avLst/>
          </a:prstGeom>
        </p:spPr>
        <p:txBody>
          <a:bodyPr wrap="square">
            <a:spAutoFit/>
          </a:bodyPr>
          <a:lstStyle/>
          <a:p>
            <a:r>
              <a:rPr lang="ja-JP" altLang="en-US" sz="1600" dirty="0">
                <a:latin typeface="Microsoft YaHei" charset="-122"/>
                <a:ea typeface="Microsoft YaHei" charset="-122"/>
              </a:rPr>
              <a:t>一个空手道俱乐部中</a:t>
            </a:r>
            <a:r>
              <a:rPr lang="en-US" altLang="zh-CN" sz="1600" dirty="0">
                <a:latin typeface="Microsoft YaHei" charset="-122"/>
                <a:ea typeface="Microsoft YaHei" charset="-122"/>
              </a:rPr>
              <a:t>34</a:t>
            </a:r>
            <a:r>
              <a:rPr lang="ja-JP" altLang="en-US" sz="1600" dirty="0">
                <a:latin typeface="Microsoft YaHei" charset="-122"/>
                <a:ea typeface="Microsoft YaHei" charset="-122"/>
              </a:rPr>
              <a:t>个成员之间朋友关系形成的图</a:t>
            </a:r>
            <a:endParaRPr lang="en-US" altLang="ja-JP" sz="1600" dirty="0">
              <a:latin typeface="Microsoft YaHei" charset="-122"/>
              <a:ea typeface="Microsoft YaHei" charset="-122"/>
            </a:endParaRPr>
          </a:p>
          <a:p>
            <a:r>
              <a:rPr lang="zh-CN" altLang="en-US" sz="1600" dirty="0">
                <a:solidFill>
                  <a:srgbClr val="AE0627"/>
                </a:solidFill>
                <a:latin typeface="Microsoft YaHei" charset="-122"/>
                <a:ea typeface="Microsoft YaHei" charset="-122"/>
              </a:rPr>
              <a:t>你能发现什么特点？</a:t>
            </a:r>
            <a:endParaRPr lang="en-US" sz="1600" dirty="0">
              <a:solidFill>
                <a:srgbClr val="AE0627"/>
              </a:solidFill>
            </a:endParaRPr>
          </a:p>
        </p:txBody>
      </p:sp>
      <p:pic>
        <p:nvPicPr>
          <p:cNvPr id="6"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9299" t="2973" r="6373" b="2833"/>
          <a:stretch/>
        </p:blipFill>
        <p:spPr bwMode="auto">
          <a:xfrm>
            <a:off x="3872195" y="1626064"/>
            <a:ext cx="4469151" cy="2889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4804475" y="4590900"/>
            <a:ext cx="4339526"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[Easley</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and</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Kleinberg,</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Cambridge University Press, 2010]</a:t>
            </a:r>
            <a:endParaRPr lang="en-US" sz="1200" dirty="0">
              <a:solidFill>
                <a:schemeClr val="tx1">
                  <a:lumMod val="50000"/>
                  <a:lumOff val="50000"/>
                </a:schemeClr>
              </a:solidFill>
            </a:endParaRPr>
          </a:p>
        </p:txBody>
      </p:sp>
      <p:sp>
        <p:nvSpPr>
          <p:cNvPr id="8" name="Oval 7"/>
          <p:cNvSpPr/>
          <p:nvPr/>
        </p:nvSpPr>
        <p:spPr>
          <a:xfrm>
            <a:off x="3872196" y="1546890"/>
            <a:ext cx="2540180" cy="2968596"/>
          </a:xfrm>
          <a:prstGeom prst="ellipse">
            <a:avLst/>
          </a:prstGeom>
          <a:noFill/>
          <a:ln>
            <a:solidFill>
              <a:srgbClr val="AE06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504972" y="1622304"/>
            <a:ext cx="1836374" cy="2579306"/>
          </a:xfrm>
          <a:prstGeom prst="ellipse">
            <a:avLst/>
          </a:prstGeom>
          <a:noFill/>
          <a:ln>
            <a:solidFill>
              <a:srgbClr val="AE06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819120" y="2131665"/>
            <a:ext cx="646331" cy="369332"/>
          </a:xfrm>
          <a:prstGeom prst="rect">
            <a:avLst/>
          </a:prstGeom>
          <a:solidFill>
            <a:schemeClr val="bg1"/>
          </a:solidFill>
        </p:spPr>
        <p:txBody>
          <a:bodyPr wrap="none" rtlCol="0">
            <a:spAutoFit/>
          </a:bodyPr>
          <a:lstStyle/>
          <a:p>
            <a:r>
              <a:rPr lang="zh-CN" altLang="en-US" dirty="0">
                <a:solidFill>
                  <a:srgbClr val="AE0627"/>
                </a:solidFill>
                <a:latin typeface="Microsoft YaHei" charset="-122"/>
                <a:ea typeface="Microsoft YaHei" charset="-122"/>
                <a:cs typeface="Microsoft YaHei" charset="-122"/>
              </a:rPr>
              <a:t>教练</a:t>
            </a:r>
            <a:endParaRPr lang="en-US" dirty="0">
              <a:solidFill>
                <a:srgbClr val="AE0627"/>
              </a:solidFill>
              <a:latin typeface="Microsoft YaHei" charset="-122"/>
              <a:ea typeface="Microsoft YaHei" charset="-122"/>
              <a:cs typeface="Microsoft YaHei" charset="-122"/>
            </a:endParaRPr>
          </a:p>
        </p:txBody>
      </p:sp>
      <p:sp>
        <p:nvSpPr>
          <p:cNvPr id="11" name="TextBox 10"/>
          <p:cNvSpPr txBox="1"/>
          <p:nvPr/>
        </p:nvSpPr>
        <p:spPr>
          <a:xfrm>
            <a:off x="7385624" y="2602984"/>
            <a:ext cx="877163" cy="369332"/>
          </a:xfrm>
          <a:prstGeom prst="rect">
            <a:avLst/>
          </a:prstGeom>
          <a:solidFill>
            <a:schemeClr val="bg1"/>
          </a:solidFill>
        </p:spPr>
        <p:txBody>
          <a:bodyPr wrap="none" rtlCol="0">
            <a:spAutoFit/>
          </a:bodyPr>
          <a:lstStyle/>
          <a:p>
            <a:r>
              <a:rPr lang="zh-CN" altLang="en-US" dirty="0">
                <a:solidFill>
                  <a:srgbClr val="AE0627"/>
                </a:solidFill>
                <a:latin typeface="Microsoft YaHei" charset="-122"/>
                <a:ea typeface="Microsoft YaHei" charset="-122"/>
                <a:cs typeface="Microsoft YaHei" charset="-122"/>
              </a:rPr>
              <a:t>创始人</a:t>
            </a:r>
            <a:endParaRPr lang="en-US" dirty="0">
              <a:solidFill>
                <a:srgbClr val="AE0627"/>
              </a:solidFill>
              <a:latin typeface="Microsoft YaHei" charset="-122"/>
              <a:ea typeface="Microsoft YaHei" charset="-122"/>
              <a:cs typeface="Microsoft YaHei" charset="-122"/>
            </a:endParaRPr>
          </a:p>
        </p:txBody>
      </p:sp>
      <p:sp>
        <p:nvSpPr>
          <p:cNvPr id="12" name="Rectangle 11"/>
          <p:cNvSpPr/>
          <p:nvPr/>
        </p:nvSpPr>
        <p:spPr>
          <a:xfrm>
            <a:off x="457200" y="2787650"/>
            <a:ext cx="2714725"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zh-CN" altLang="en-US" dirty="0">
                <a:latin typeface="微软雅黑" panose="020B0503020204020204" pitchFamily="34" charset="-122"/>
                <a:ea typeface="微软雅黑" panose="020B0503020204020204" pitchFamily="34" charset="-122"/>
              </a:rPr>
              <a:t>最终这个俱乐分裂成两个对立的空手道俱乐部</a:t>
            </a:r>
            <a:endParaRPr lang="en-US" altLang="zh-CN" dirty="0">
              <a:latin typeface="微软雅黑" panose="020B0503020204020204" pitchFamily="34" charset="-122"/>
              <a:ea typeface="微软雅黑" panose="020B0503020204020204" pitchFamily="34" charset="-122"/>
            </a:endParaRPr>
          </a:p>
          <a:p>
            <a:endParaRPr lang="en-US" dirty="0">
              <a:latin typeface="微软雅黑" panose="020B0503020204020204" pitchFamily="34" charset="-122"/>
              <a:ea typeface="微软雅黑" panose="020B0503020204020204" pitchFamily="34" charset="-122"/>
            </a:endParaRPr>
          </a:p>
          <a:p>
            <a:pPr algn="ctr"/>
            <a:r>
              <a:rPr lang="zh-CN" altLang="en-US" dirty="0">
                <a:solidFill>
                  <a:srgbClr val="AE0627"/>
                </a:solidFill>
                <a:latin typeface="微软雅黑" panose="020B0503020204020204" pitchFamily="34" charset="-122"/>
                <a:ea typeface="微软雅黑" panose="020B0503020204020204" pitchFamily="34" charset="-122"/>
              </a:rPr>
              <a:t>检测出图中的社区结构</a:t>
            </a:r>
            <a:endParaRPr lang="en-US" dirty="0">
              <a:solidFill>
                <a:srgbClr val="AE0627"/>
              </a:solidFill>
              <a:latin typeface="微软雅黑" panose="020B0503020204020204" pitchFamily="34" charset="-122"/>
              <a:ea typeface="微软雅黑" panose="020B0503020204020204" pitchFamily="34" charset="-122"/>
            </a:endParaRPr>
          </a:p>
        </p:txBody>
      </p:sp>
      <p:cxnSp>
        <p:nvCxnSpPr>
          <p:cNvPr id="14" name="Straight Arrow Connector 13"/>
          <p:cNvCxnSpPr>
            <a:stCxn id="12" idx="3"/>
            <a:endCxn id="8" idx="2"/>
          </p:cNvCxnSpPr>
          <p:nvPr/>
        </p:nvCxnSpPr>
        <p:spPr>
          <a:xfrm flipV="1">
            <a:off x="3171925" y="3031188"/>
            <a:ext cx="700271" cy="35662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86098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我们考虑一个小例子</a:t>
            </a:r>
            <a:endParaRPr lang="en-US" dirty="0"/>
          </a:p>
        </p:txBody>
      </p:sp>
      <p:sp>
        <p:nvSpPr>
          <p:cNvPr id="3" name="Content Placeholder 2"/>
          <p:cNvSpPr>
            <a:spLocks noGrp="1"/>
          </p:cNvSpPr>
          <p:nvPr>
            <p:ph idx="1"/>
          </p:nvPr>
        </p:nvSpPr>
        <p:spPr>
          <a:xfrm>
            <a:off x="457200" y="819150"/>
            <a:ext cx="3640982" cy="1778276"/>
          </a:xfrm>
        </p:spPr>
        <p:txBody>
          <a:bodyPr>
            <a:normAutofit/>
          </a:bodyPr>
          <a:lstStyle/>
          <a:p>
            <a:r>
              <a:rPr lang="zh-CN" altLang="en-US" dirty="0"/>
              <a:t>演示示例</a:t>
            </a:r>
            <a:endParaRPr lang="en-US" altLang="zh-CN" dirty="0"/>
          </a:p>
          <a:p>
            <a:pPr lvl="1"/>
            <a:r>
              <a:rPr lang="zh-CN" altLang="en-US" dirty="0"/>
              <a:t>构造一个简单的社交网络</a:t>
            </a:r>
            <a:endParaRPr lang="en-US" altLang="zh-CN" dirty="0"/>
          </a:p>
          <a:p>
            <a:r>
              <a:rPr lang="zh-CN" altLang="en-US" dirty="0"/>
              <a:t>思考</a:t>
            </a:r>
            <a:endParaRPr lang="en-US" altLang="zh-CN" dirty="0"/>
          </a:p>
          <a:p>
            <a:pPr lvl="1"/>
            <a:r>
              <a:rPr lang="zh-CN" altLang="en-US" dirty="0"/>
              <a:t>如何</a:t>
            </a:r>
            <a:r>
              <a:rPr lang="zh-CN" altLang="en-US" b="1" dirty="0"/>
              <a:t>自动地</a:t>
            </a:r>
            <a:r>
              <a:rPr lang="zh-CN" altLang="en-US" dirty="0"/>
              <a:t>将右图中红色的点与黄色的点分开？</a:t>
            </a:r>
            <a:endParaRPr lang="en-US" altLang="zh-CN" dirty="0"/>
          </a:p>
          <a:p>
            <a:pPr lvl="1"/>
            <a:endParaRPr lang="en-US" altLang="zh-CN" dirty="0"/>
          </a:p>
          <a:p>
            <a:endParaRPr lang="en-US" altLang="zh-C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6319" y="1046535"/>
            <a:ext cx="4588618" cy="3553055"/>
          </a:xfrm>
          <a:prstGeom prst="rect">
            <a:avLst/>
          </a:prstGeom>
        </p:spPr>
      </p:pic>
      <p:sp>
        <p:nvSpPr>
          <p:cNvPr id="9" name="Rectangle 8"/>
          <p:cNvSpPr/>
          <p:nvPr/>
        </p:nvSpPr>
        <p:spPr>
          <a:xfrm>
            <a:off x="249063" y="2783708"/>
            <a:ext cx="3849119" cy="1815882"/>
          </a:xfrm>
          <a:prstGeom prst="rect">
            <a:avLst/>
          </a:prstGeom>
          <a:solidFill>
            <a:srgbClr val="0E223A"/>
          </a:solidFill>
        </p:spPr>
        <p:txBody>
          <a:bodyPr wrap="square">
            <a:spAutoFit/>
          </a:bodyPr>
          <a:lstStyle/>
          <a:p>
            <a:r>
              <a:rPr lang="mr-IN" sz="1600" i="1" dirty="0" err="1">
                <a:solidFill>
                  <a:srgbClr val="66D9EF"/>
                </a:solidFill>
              </a:rPr>
              <a:t>def</a:t>
            </a:r>
            <a:r>
              <a:rPr lang="mr-IN" sz="1600" i="1" dirty="0">
                <a:solidFill>
                  <a:srgbClr val="66D9EF"/>
                </a:solidFill>
              </a:rPr>
              <a:t> </a:t>
            </a:r>
            <a:r>
              <a:rPr lang="mr-IN" sz="1600" dirty="0" err="1">
                <a:solidFill>
                  <a:srgbClr val="A6E22E"/>
                </a:solidFill>
              </a:rPr>
              <a:t>sample_community_graph</a:t>
            </a:r>
            <a:r>
              <a:rPr lang="mr-IN" sz="1600" dirty="0">
                <a:solidFill>
                  <a:srgbClr val="A6E22E"/>
                </a:solidFill>
              </a:rPr>
              <a:t> </a:t>
            </a:r>
            <a:r>
              <a:rPr lang="mr-IN" sz="1600" dirty="0">
                <a:solidFill>
                  <a:schemeClr val="bg1"/>
                </a:solidFill>
              </a:rPr>
              <a:t>()</a:t>
            </a:r>
            <a:r>
              <a:rPr lang="mr-IN" sz="1600" dirty="0">
                <a:solidFill>
                  <a:srgbClr val="F92672"/>
                </a:solidFill>
              </a:rPr>
              <a:t>:</a:t>
            </a:r>
            <a:br>
              <a:rPr lang="mr-IN" sz="1600" dirty="0">
                <a:solidFill>
                  <a:srgbClr val="F92672"/>
                </a:solidFill>
              </a:rPr>
            </a:br>
            <a:r>
              <a:rPr lang="mr-IN" sz="1600" dirty="0">
                <a:solidFill>
                  <a:srgbClr val="F92672"/>
                </a:solidFill>
              </a:rPr>
              <a:t>    </a:t>
            </a:r>
            <a:r>
              <a:rPr lang="mr-IN" sz="1600" dirty="0" err="1">
                <a:solidFill>
                  <a:schemeClr val="bg1"/>
                </a:solidFill>
              </a:rPr>
              <a:t>G</a:t>
            </a:r>
            <a:r>
              <a:rPr lang="mr-IN" sz="1600" dirty="0"/>
              <a:t> </a:t>
            </a:r>
            <a:r>
              <a:rPr lang="mr-IN" sz="1600" dirty="0">
                <a:solidFill>
                  <a:srgbClr val="F92672"/>
                </a:solidFill>
              </a:rPr>
              <a:t>= </a:t>
            </a:r>
            <a:r>
              <a:rPr lang="mr-IN" sz="1600" dirty="0" err="1">
                <a:solidFill>
                  <a:schemeClr val="bg1"/>
                </a:solidFill>
              </a:rPr>
              <a:t>nx.</a:t>
            </a:r>
            <a:r>
              <a:rPr lang="mr-IN" sz="1600" dirty="0" err="1">
                <a:solidFill>
                  <a:srgbClr val="66D9EF"/>
                </a:solidFill>
              </a:rPr>
              <a:t>Graph</a:t>
            </a:r>
            <a:r>
              <a:rPr lang="mr-IN" sz="1600" dirty="0">
                <a:solidFill>
                  <a:schemeClr val="bg1"/>
                </a:solidFill>
              </a:rPr>
              <a:t>()</a:t>
            </a:r>
            <a:r>
              <a:rPr lang="mr-IN" sz="1600" dirty="0"/>
              <a:t/>
            </a:r>
            <a:br>
              <a:rPr lang="mr-IN" sz="1600" dirty="0"/>
            </a:br>
            <a:r>
              <a:rPr lang="mr-IN" sz="1600" dirty="0"/>
              <a:t>    </a:t>
            </a:r>
            <a:r>
              <a:rPr lang="mr-IN" sz="1600" dirty="0" err="1">
                <a:solidFill>
                  <a:schemeClr val="bg1"/>
                </a:solidFill>
              </a:rPr>
              <a:t>G.</a:t>
            </a:r>
            <a:r>
              <a:rPr lang="mr-IN" sz="1600" dirty="0" err="1">
                <a:solidFill>
                  <a:srgbClr val="66D9EF"/>
                </a:solidFill>
              </a:rPr>
              <a:t>add_edges_from</a:t>
            </a:r>
            <a:r>
              <a:rPr lang="mr-IN" sz="1600" dirty="0">
                <a:solidFill>
                  <a:schemeClr val="bg1"/>
                </a:solidFill>
              </a:rPr>
              <a:t>([(</a:t>
            </a:r>
            <a:r>
              <a:rPr lang="mr-IN" sz="1600" dirty="0">
                <a:solidFill>
                  <a:srgbClr val="E6DB74"/>
                </a:solidFill>
              </a:rPr>
              <a:t>‘A’</a:t>
            </a:r>
            <a:r>
              <a:rPr lang="mr-IN" sz="1600" dirty="0">
                <a:solidFill>
                  <a:schemeClr val="bg1"/>
                </a:solidFill>
              </a:rPr>
              <a:t>,</a:t>
            </a:r>
            <a:r>
              <a:rPr lang="mr-IN" sz="1600" dirty="0">
                <a:solidFill>
                  <a:srgbClr val="E6DB74"/>
                </a:solidFill>
              </a:rPr>
              <a:t>‘B’</a:t>
            </a:r>
            <a:r>
              <a:rPr lang="mr-IN" sz="1600" dirty="0">
                <a:solidFill>
                  <a:schemeClr val="bg1"/>
                </a:solidFill>
              </a:rPr>
              <a:t>), (</a:t>
            </a:r>
            <a:r>
              <a:rPr lang="mr-IN" sz="1600" dirty="0">
                <a:solidFill>
                  <a:srgbClr val="E6DB74"/>
                </a:solidFill>
              </a:rPr>
              <a:t>‘A’</a:t>
            </a:r>
            <a:r>
              <a:rPr lang="mr-IN" sz="1600" dirty="0">
                <a:solidFill>
                  <a:schemeClr val="bg1"/>
                </a:solidFill>
              </a:rPr>
              <a:t>,</a:t>
            </a:r>
            <a:r>
              <a:rPr lang="mr-IN" sz="1600" dirty="0">
                <a:solidFill>
                  <a:srgbClr val="E6DB74"/>
                </a:solidFill>
              </a:rPr>
              <a:t>‘C’</a:t>
            </a:r>
            <a:r>
              <a:rPr lang="mr-IN" sz="1600" dirty="0">
                <a:solidFill>
                  <a:schemeClr val="bg1"/>
                </a:solidFill>
              </a:rPr>
              <a:t>)</a:t>
            </a:r>
            <a:r>
              <a:rPr lang="zh-CN" altLang="en-US" sz="1600" dirty="0">
                <a:solidFill>
                  <a:schemeClr val="bg1"/>
                </a:solidFill>
              </a:rPr>
              <a:t>  </a:t>
            </a:r>
            <a:r>
              <a:rPr lang="mr-IN" sz="1600" dirty="0">
                <a:solidFill>
                  <a:schemeClr val="bg1"/>
                </a:solidFill>
              </a:rPr>
              <a:t>, </a:t>
            </a:r>
            <a:endParaRPr lang="en-US" sz="1600" dirty="0">
              <a:solidFill>
                <a:schemeClr val="bg1"/>
              </a:solidFill>
            </a:endParaRPr>
          </a:p>
          <a:p>
            <a:r>
              <a:rPr lang="zh-CN" altLang="en-US" sz="1600" dirty="0">
                <a:solidFill>
                  <a:schemeClr val="bg1"/>
                </a:solidFill>
              </a:rPr>
              <a:t>                             </a:t>
            </a:r>
            <a:r>
              <a:rPr lang="mr-IN" sz="1600" dirty="0">
                <a:solidFill>
                  <a:schemeClr val="bg1"/>
                </a:solidFill>
              </a:rPr>
              <a:t>(</a:t>
            </a:r>
            <a:r>
              <a:rPr lang="mr-IN" sz="1600" dirty="0">
                <a:solidFill>
                  <a:srgbClr val="E6DB74"/>
                </a:solidFill>
              </a:rPr>
              <a:t>'A'</a:t>
            </a:r>
            <a:r>
              <a:rPr lang="mr-IN" sz="1600" dirty="0">
                <a:solidFill>
                  <a:schemeClr val="bg1"/>
                </a:solidFill>
              </a:rPr>
              <a:t>,</a:t>
            </a:r>
            <a:r>
              <a:rPr lang="mr-IN" sz="1600" dirty="0">
                <a:solidFill>
                  <a:srgbClr val="E6DB74"/>
                </a:solidFill>
              </a:rPr>
              <a:t>'D'</a:t>
            </a:r>
            <a:r>
              <a:rPr lang="mr-IN" sz="1600" dirty="0">
                <a:solidFill>
                  <a:schemeClr val="bg1"/>
                </a:solidFill>
              </a:rPr>
              <a:t>), (</a:t>
            </a:r>
            <a:r>
              <a:rPr lang="mr-IN" sz="1600" dirty="0">
                <a:solidFill>
                  <a:srgbClr val="E6DB74"/>
                </a:solidFill>
              </a:rPr>
              <a:t>'B'</a:t>
            </a:r>
            <a:r>
              <a:rPr lang="mr-IN" sz="1600" dirty="0">
                <a:solidFill>
                  <a:schemeClr val="bg1"/>
                </a:solidFill>
              </a:rPr>
              <a:t>,</a:t>
            </a:r>
            <a:r>
              <a:rPr lang="mr-IN" sz="1600" dirty="0">
                <a:solidFill>
                  <a:srgbClr val="E6DB74"/>
                </a:solidFill>
              </a:rPr>
              <a:t>'C'</a:t>
            </a:r>
            <a:r>
              <a:rPr lang="mr-IN" sz="1600" dirty="0">
                <a:solidFill>
                  <a:schemeClr val="bg1"/>
                </a:solidFill>
              </a:rPr>
              <a:t>,),(</a:t>
            </a:r>
            <a:r>
              <a:rPr lang="mr-IN" sz="1600" dirty="0">
                <a:solidFill>
                  <a:srgbClr val="E6DB74"/>
                </a:solidFill>
              </a:rPr>
              <a:t>'B'</a:t>
            </a:r>
            <a:r>
              <a:rPr lang="mr-IN" sz="1600" dirty="0">
                <a:solidFill>
                  <a:schemeClr val="bg1"/>
                </a:solidFill>
              </a:rPr>
              <a:t>,</a:t>
            </a:r>
            <a:r>
              <a:rPr lang="mr-IN" sz="1600" dirty="0">
                <a:solidFill>
                  <a:srgbClr val="E6DB74"/>
                </a:solidFill>
              </a:rPr>
              <a:t>'D'</a:t>
            </a:r>
            <a:r>
              <a:rPr lang="mr-IN" sz="1600" dirty="0">
                <a:solidFill>
                  <a:schemeClr val="bg1"/>
                </a:solidFill>
              </a:rPr>
              <a:t>), </a:t>
            </a:r>
            <a:endParaRPr lang="en-US" sz="1600" dirty="0">
              <a:solidFill>
                <a:schemeClr val="bg1"/>
              </a:solidFill>
            </a:endParaRPr>
          </a:p>
          <a:p>
            <a:r>
              <a:rPr lang="zh-CN" altLang="en-US" sz="1600" dirty="0">
                <a:solidFill>
                  <a:schemeClr val="bg1"/>
                </a:solidFill>
              </a:rPr>
              <a:t>                             </a:t>
            </a:r>
            <a:r>
              <a:rPr lang="mr-IN" sz="1600" dirty="0">
                <a:solidFill>
                  <a:schemeClr val="bg1"/>
                </a:solidFill>
              </a:rPr>
              <a:t>(</a:t>
            </a:r>
            <a:r>
              <a:rPr lang="mr-IN" sz="1600" dirty="0">
                <a:solidFill>
                  <a:srgbClr val="E6DB74"/>
                </a:solidFill>
              </a:rPr>
              <a:t>'C'</a:t>
            </a:r>
            <a:r>
              <a:rPr lang="mr-IN" sz="1600" dirty="0">
                <a:solidFill>
                  <a:schemeClr val="bg1"/>
                </a:solidFill>
              </a:rPr>
              <a:t>,</a:t>
            </a:r>
            <a:r>
              <a:rPr lang="mr-IN" sz="1600" dirty="0">
                <a:solidFill>
                  <a:srgbClr val="E6DB74"/>
                </a:solidFill>
              </a:rPr>
              <a:t>'D'</a:t>
            </a:r>
            <a:r>
              <a:rPr lang="mr-IN" sz="1600" dirty="0">
                <a:solidFill>
                  <a:schemeClr val="bg1"/>
                </a:solidFill>
              </a:rPr>
              <a:t>), (</a:t>
            </a:r>
            <a:r>
              <a:rPr lang="mr-IN" sz="1600" dirty="0">
                <a:solidFill>
                  <a:srgbClr val="E6DB74"/>
                </a:solidFill>
              </a:rPr>
              <a:t>'B'</a:t>
            </a:r>
            <a:r>
              <a:rPr lang="mr-IN" sz="1600" dirty="0">
                <a:solidFill>
                  <a:schemeClr val="bg1"/>
                </a:solidFill>
              </a:rPr>
              <a:t>,</a:t>
            </a:r>
            <a:r>
              <a:rPr lang="mr-IN" sz="1600" dirty="0">
                <a:solidFill>
                  <a:srgbClr val="E6DB74"/>
                </a:solidFill>
              </a:rPr>
              <a:t>'E'</a:t>
            </a:r>
            <a:r>
              <a:rPr lang="mr-IN" sz="1600" dirty="0">
                <a:solidFill>
                  <a:schemeClr val="bg1"/>
                </a:solidFill>
              </a:rPr>
              <a:t>), (</a:t>
            </a:r>
            <a:r>
              <a:rPr lang="mr-IN" sz="1600" dirty="0">
                <a:solidFill>
                  <a:srgbClr val="E6DB74"/>
                </a:solidFill>
              </a:rPr>
              <a:t>'D'</a:t>
            </a:r>
            <a:r>
              <a:rPr lang="mr-IN" sz="1600" dirty="0">
                <a:solidFill>
                  <a:schemeClr val="bg1"/>
                </a:solidFill>
              </a:rPr>
              <a:t>,</a:t>
            </a:r>
            <a:r>
              <a:rPr lang="mr-IN" sz="1600" dirty="0">
                <a:solidFill>
                  <a:srgbClr val="E6DB74"/>
                </a:solidFill>
              </a:rPr>
              <a:t>'G'</a:t>
            </a:r>
            <a:r>
              <a:rPr lang="mr-IN" sz="1600" dirty="0">
                <a:solidFill>
                  <a:schemeClr val="bg1"/>
                </a:solidFill>
              </a:rPr>
              <a:t>),</a:t>
            </a:r>
            <a:endParaRPr lang="en-US" sz="1600" dirty="0">
              <a:solidFill>
                <a:schemeClr val="bg1"/>
              </a:solidFill>
            </a:endParaRPr>
          </a:p>
          <a:p>
            <a:r>
              <a:rPr lang="mr-IN" sz="1600" dirty="0">
                <a:solidFill>
                  <a:schemeClr val="bg1"/>
                </a:solidFill>
              </a:rPr>
              <a:t> </a:t>
            </a:r>
            <a:r>
              <a:rPr lang="zh-CN" altLang="en-US" sz="1600" dirty="0">
                <a:solidFill>
                  <a:schemeClr val="bg1"/>
                </a:solidFill>
              </a:rPr>
              <a:t>                           </a:t>
            </a:r>
            <a:r>
              <a:rPr lang="mr-IN" sz="1600" dirty="0">
                <a:solidFill>
                  <a:schemeClr val="bg1"/>
                </a:solidFill>
              </a:rPr>
              <a:t>(</a:t>
            </a:r>
            <a:r>
              <a:rPr lang="mr-IN" sz="1600" dirty="0">
                <a:solidFill>
                  <a:srgbClr val="E6DB74"/>
                </a:solidFill>
              </a:rPr>
              <a:t>'</a:t>
            </a:r>
            <a:r>
              <a:rPr lang="mr-IN" sz="1600" dirty="0" err="1">
                <a:solidFill>
                  <a:srgbClr val="E6DB74"/>
                </a:solidFill>
              </a:rPr>
              <a:t>E</a:t>
            </a:r>
            <a:r>
              <a:rPr lang="mr-IN" sz="1600" dirty="0">
                <a:solidFill>
                  <a:srgbClr val="E6DB74"/>
                </a:solidFill>
              </a:rPr>
              <a:t>'</a:t>
            </a:r>
            <a:r>
              <a:rPr lang="mr-IN" sz="1600" dirty="0">
                <a:solidFill>
                  <a:schemeClr val="bg1"/>
                </a:solidFill>
              </a:rPr>
              <a:t>,</a:t>
            </a:r>
            <a:r>
              <a:rPr lang="mr-IN" sz="1600" dirty="0"/>
              <a:t> </a:t>
            </a:r>
            <a:r>
              <a:rPr lang="mr-IN" sz="1600" dirty="0">
                <a:solidFill>
                  <a:srgbClr val="E6DB74"/>
                </a:solidFill>
              </a:rPr>
              <a:t>'</a:t>
            </a:r>
            <a:r>
              <a:rPr lang="mr-IN" sz="1600" dirty="0" err="1">
                <a:solidFill>
                  <a:srgbClr val="E6DB74"/>
                </a:solidFill>
              </a:rPr>
              <a:t>G</a:t>
            </a:r>
            <a:r>
              <a:rPr lang="mr-IN" sz="1600" dirty="0">
                <a:solidFill>
                  <a:srgbClr val="E6DB74"/>
                </a:solidFill>
              </a:rPr>
              <a:t>'</a:t>
            </a:r>
            <a:r>
              <a:rPr lang="mr-IN" sz="1600" dirty="0">
                <a:solidFill>
                  <a:schemeClr val="bg1"/>
                </a:solidFill>
              </a:rPr>
              <a:t>),</a:t>
            </a:r>
            <a:r>
              <a:rPr lang="mr-IN" sz="1600" dirty="0"/>
              <a:t> </a:t>
            </a:r>
            <a:r>
              <a:rPr lang="mr-IN" sz="1600" dirty="0">
                <a:solidFill>
                  <a:schemeClr val="bg1"/>
                </a:solidFill>
              </a:rPr>
              <a:t>(</a:t>
            </a:r>
            <a:r>
              <a:rPr lang="mr-IN" sz="1600" dirty="0">
                <a:solidFill>
                  <a:srgbClr val="E6DB74"/>
                </a:solidFill>
              </a:rPr>
              <a:t>'E'</a:t>
            </a:r>
            <a:r>
              <a:rPr lang="mr-IN" sz="1600" dirty="0">
                <a:solidFill>
                  <a:schemeClr val="bg1"/>
                </a:solidFill>
              </a:rPr>
              <a:t>,</a:t>
            </a:r>
            <a:r>
              <a:rPr lang="mr-IN" sz="1600" dirty="0">
                <a:solidFill>
                  <a:srgbClr val="E6DB74"/>
                </a:solidFill>
              </a:rPr>
              <a:t>'F'</a:t>
            </a:r>
            <a:r>
              <a:rPr lang="mr-IN" sz="1600" dirty="0">
                <a:solidFill>
                  <a:schemeClr val="bg1"/>
                </a:solidFill>
              </a:rPr>
              <a:t>), (</a:t>
            </a:r>
            <a:r>
              <a:rPr lang="mr-IN" sz="1600" dirty="0">
                <a:solidFill>
                  <a:srgbClr val="E6DB74"/>
                </a:solidFill>
              </a:rPr>
              <a:t>'F'</a:t>
            </a:r>
            <a:r>
              <a:rPr lang="mr-IN" sz="1600" dirty="0">
                <a:solidFill>
                  <a:schemeClr val="bg1"/>
                </a:solidFill>
              </a:rPr>
              <a:t>,</a:t>
            </a:r>
            <a:r>
              <a:rPr lang="mr-IN" sz="1600" dirty="0">
                <a:solidFill>
                  <a:srgbClr val="E6DB74"/>
                </a:solidFill>
              </a:rPr>
              <a:t>'G'</a:t>
            </a:r>
            <a:r>
              <a:rPr lang="mr-IN" sz="1600" dirty="0">
                <a:solidFill>
                  <a:schemeClr val="bg1"/>
                </a:solidFill>
              </a:rPr>
              <a:t>)])</a:t>
            </a:r>
            <a:r>
              <a:rPr lang="mr-IN" sz="1600" dirty="0"/>
              <a:t/>
            </a:r>
            <a:br>
              <a:rPr lang="mr-IN" sz="1600" dirty="0"/>
            </a:br>
            <a:r>
              <a:rPr lang="mr-IN" sz="1600" dirty="0"/>
              <a:t>    </a:t>
            </a:r>
            <a:r>
              <a:rPr lang="mr-IN" sz="1600" i="1" dirty="0" err="1">
                <a:solidFill>
                  <a:srgbClr val="66D9EF"/>
                </a:solidFill>
              </a:rPr>
              <a:t>return</a:t>
            </a:r>
            <a:r>
              <a:rPr lang="mr-IN" sz="1600" i="1" dirty="0">
                <a:solidFill>
                  <a:srgbClr val="66D9EF"/>
                </a:solidFill>
              </a:rPr>
              <a:t> </a:t>
            </a:r>
            <a:r>
              <a:rPr lang="mr-IN" sz="1600" dirty="0" err="1">
                <a:solidFill>
                  <a:schemeClr val="bg1"/>
                </a:solidFill>
              </a:rPr>
              <a:t>G</a:t>
            </a:r>
            <a:endParaRPr lang="en-US" sz="1600" dirty="0">
              <a:solidFill>
                <a:schemeClr val="bg1"/>
              </a:solidFill>
            </a:endParaRPr>
          </a:p>
        </p:txBody>
      </p:sp>
    </p:spTree>
    <p:extLst>
      <p:ext uri="{BB962C8B-B14F-4D97-AF65-F5344CB8AC3E}">
        <p14:creationId xmlns:p14="http://schemas.microsoft.com/office/powerpoint/2010/main" val="1242716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问题定义</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326835" cy="3937000"/>
              </a:xfrm>
            </p:spPr>
            <p:txBody>
              <a:bodyPr/>
              <a:lstStyle/>
              <a:p>
                <a:r>
                  <a:rPr lang="zh-CN" altLang="en-US" dirty="0"/>
                  <a:t>输入</a:t>
                </a:r>
                <a:endParaRPr lang="en-US" altLang="zh-CN" dirty="0"/>
              </a:p>
              <a:p>
                <a:pPr lvl="1"/>
                <a:r>
                  <a:rPr lang="zh-CN" altLang="en-US" dirty="0"/>
                  <a:t>一个无向图</a:t>
                </a:r>
                <a14:m>
                  <m:oMath xmlns:m="http://schemas.openxmlformats.org/officeDocument/2006/math">
                    <m:r>
                      <a:rPr lang="en-US" altLang="zh-CN" b="0" i="1" dirty="0" smtClean="0">
                        <a:latin typeface="Cambria Math" charset="0"/>
                      </a:rPr>
                      <m:t>𝐺</m:t>
                    </m:r>
                    <m:r>
                      <a:rPr lang="en-US" altLang="zh-CN" b="0" i="1" dirty="0" smtClean="0">
                        <a:latin typeface="Cambria Math" charset="0"/>
                      </a:rPr>
                      <m:t>=(</m:t>
                    </m:r>
                    <m:r>
                      <a:rPr lang="en-US" altLang="zh-CN" b="0" i="1" dirty="0" smtClean="0">
                        <a:latin typeface="Cambria Math" charset="0"/>
                      </a:rPr>
                      <m:t>𝑉</m:t>
                    </m:r>
                    <m:r>
                      <a:rPr lang="en-US" altLang="zh-CN" b="0" i="1" dirty="0" smtClean="0">
                        <a:latin typeface="Cambria Math" charset="0"/>
                      </a:rPr>
                      <m:t>,</m:t>
                    </m:r>
                    <m:r>
                      <a:rPr lang="en-US" altLang="zh-CN" b="0" i="1" dirty="0" smtClean="0">
                        <a:latin typeface="Cambria Math" charset="0"/>
                      </a:rPr>
                      <m:t>𝐸</m:t>
                    </m:r>
                    <m:r>
                      <a:rPr lang="en-US" altLang="zh-CN" b="0" i="1" dirty="0" smtClean="0">
                        <a:latin typeface="Cambria Math" charset="0"/>
                      </a:rPr>
                      <m:t>)</m:t>
                    </m:r>
                  </m:oMath>
                </a14:m>
                <a:endParaRPr lang="en-US" altLang="zh-CN" dirty="0"/>
              </a:p>
              <a:p>
                <a:r>
                  <a:rPr lang="zh-CN" altLang="en-US" dirty="0"/>
                  <a:t>输出</a:t>
                </a:r>
                <a:endParaRPr lang="en-US" altLang="zh-CN" dirty="0"/>
              </a:p>
              <a:p>
                <a:pPr lvl="1"/>
                <a:r>
                  <a:rPr lang="zh-CN" altLang="en-US" dirty="0"/>
                  <a:t>一组点的划分</a:t>
                </a:r>
                <a14:m>
                  <m:oMath xmlns:m="http://schemas.openxmlformats.org/officeDocument/2006/math">
                    <m:r>
                      <a:rPr lang="en-US" altLang="zh-CN" b="0" i="1" smtClean="0">
                        <a:latin typeface="Cambria Math" charset="0"/>
                      </a:rPr>
                      <m:t>𝑆</m:t>
                    </m:r>
                  </m:oMath>
                </a14:m>
                <a:endParaRPr lang="en-US" altLang="zh-CN" dirty="0"/>
              </a:p>
              <a:p>
                <a:pPr lvl="1"/>
                <a14:m>
                  <m:oMath xmlns:m="http://schemas.openxmlformats.org/officeDocument/2006/math">
                    <m:r>
                      <a:rPr lang="en-US" altLang="zh-CN"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𝑠</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𝑆</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𝑠</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𝑉</m:t>
                    </m:r>
                  </m:oMath>
                </a14:m>
                <a:endParaRPr lang="en-US" altLang="zh-CN" dirty="0"/>
              </a:p>
              <a:p>
                <a:pPr lvl="1"/>
                <a14:m>
                  <m:oMath xmlns:m="http://schemas.openxmlformats.org/officeDocument/2006/math">
                    <m:sSub>
                      <m:sSubPr>
                        <m:ctrlPr>
                          <a:rPr lang="en-US" altLang="zh-CN" b="0" i="1" smtClean="0">
                            <a:latin typeface="Cambria Math" charset="0"/>
                            <a:ea typeface="Cambria Math" charset="0"/>
                            <a:cs typeface="Cambria Math" charset="0"/>
                          </a:rPr>
                        </m:ctrlPr>
                      </m:sSubPr>
                      <m:e>
                        <m:r>
                          <a:rPr lang="zh-CN" altLang="en-US" i="1" smtClean="0">
                            <a:latin typeface="Cambria Math" charset="0"/>
                            <a:ea typeface="Cambria Math" charset="0"/>
                            <a:cs typeface="Cambria Math" charset="0"/>
                          </a:rPr>
                          <m:t>∀</m:t>
                        </m:r>
                      </m:e>
                      <m:sub>
                        <m:r>
                          <a:rPr lang="en-US" altLang="zh-CN" b="0" i="1" smtClean="0">
                            <a:latin typeface="Cambria Math" charset="0"/>
                            <a:ea typeface="Cambria Math" charset="0"/>
                            <a:cs typeface="Cambria Math" charset="0"/>
                          </a:rPr>
                          <m:t>𝑖</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𝑗</m:t>
                        </m:r>
                      </m:sub>
                    </m:sSub>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𝑠</m:t>
                        </m:r>
                      </m:e>
                      <m:sub>
                        <m:r>
                          <a:rPr lang="en-US" altLang="zh-CN" b="0" i="1" smtClean="0">
                            <a:latin typeface="Cambria Math" charset="0"/>
                            <a:ea typeface="Cambria Math" charset="0"/>
                            <a:cs typeface="Cambria Math" charset="0"/>
                          </a:rPr>
                          <m:t>𝑖</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𝑠</m:t>
                        </m:r>
                      </m:e>
                      <m:sub>
                        <m:r>
                          <a:rPr lang="en-US" altLang="zh-CN" b="0" i="1" smtClean="0">
                            <a:latin typeface="Cambria Math" charset="0"/>
                            <a:ea typeface="Cambria Math" charset="0"/>
                            <a:cs typeface="Cambria Math" charset="0"/>
                          </a:rPr>
                          <m:t>𝑗</m:t>
                        </m:r>
                      </m:sub>
                    </m:sSub>
                    <m:r>
                      <a:rPr lang="en-US" altLang="zh-CN" b="0" i="1" smtClean="0">
                        <a:latin typeface="Cambria Math" charset="0"/>
                        <a:ea typeface="Cambria Math" charset="0"/>
                        <a:cs typeface="Cambria Math" charset="0"/>
                      </a:rPr>
                      <m:t>=∅</m:t>
                    </m:r>
                  </m:oMath>
                </a14:m>
                <a:r>
                  <a:rPr lang="zh-CN" altLang="en-US" dirty="0"/>
                  <a:t> </a:t>
                </a:r>
                <a:r>
                  <a:rPr lang="en-US" altLang="zh-CN" dirty="0"/>
                  <a:t>and</a:t>
                </a:r>
                <a:r>
                  <a:rPr lang="zh-CN" altLang="en-US" dirty="0"/>
                  <a:t> </a:t>
                </a:r>
                <a14:m>
                  <m:oMath xmlns:m="http://schemas.openxmlformats.org/officeDocument/2006/math">
                    <m:sSub>
                      <m:sSubPr>
                        <m:ctrlPr>
                          <a:rPr lang="en-US" altLang="zh-CN" i="1" dirty="0" smtClean="0">
                            <a:latin typeface="Cambria Math" charset="0"/>
                            <a:ea typeface="Cambria Math" charset="0"/>
                            <a:cs typeface="Cambria Math" charset="0"/>
                          </a:rPr>
                        </m:ctrlPr>
                      </m:sSubPr>
                      <m:e>
                        <m:r>
                          <a:rPr lang="en-US" altLang="zh-CN" i="1" dirty="0">
                            <a:latin typeface="Cambria Math" charset="0"/>
                            <a:ea typeface="Cambria Math" charset="0"/>
                            <a:cs typeface="Cambria Math" charset="0"/>
                          </a:rPr>
                          <m:t>⋃</m:t>
                        </m:r>
                      </m:e>
                      <m:sub>
                        <m:r>
                          <a:rPr lang="en-US" altLang="zh-CN" b="0" i="1" dirty="0" smtClean="0">
                            <a:latin typeface="Cambria Math" charset="0"/>
                            <a:ea typeface="Cambria Math" charset="0"/>
                            <a:cs typeface="Cambria Math" charset="0"/>
                          </a:rPr>
                          <m:t>𝑖</m:t>
                        </m:r>
                      </m:sub>
                    </m:sSub>
                    <m:sSub>
                      <m:sSubPr>
                        <m:ctrlPr>
                          <a:rPr lang="en-US" altLang="zh-CN" b="0" i="1" dirty="0" smtClean="0">
                            <a:latin typeface="Cambria Math" charset="0"/>
                            <a:ea typeface="Cambria Math" charset="0"/>
                            <a:cs typeface="Cambria Math" charset="0"/>
                          </a:rPr>
                        </m:ctrlPr>
                      </m:sSubPr>
                      <m:e>
                        <m:r>
                          <a:rPr lang="en-US" altLang="zh-CN" b="0" i="1" dirty="0" smtClean="0">
                            <a:latin typeface="Cambria Math" charset="0"/>
                            <a:ea typeface="Cambria Math" charset="0"/>
                            <a:cs typeface="Cambria Math" charset="0"/>
                          </a:rPr>
                          <m:t>𝑠</m:t>
                        </m:r>
                      </m:e>
                      <m:sub>
                        <m:r>
                          <a:rPr lang="en-US" altLang="zh-CN" b="0" i="1" dirty="0" smtClean="0">
                            <a:latin typeface="Cambria Math" charset="0"/>
                            <a:ea typeface="Cambria Math" charset="0"/>
                            <a:cs typeface="Cambria Math" charset="0"/>
                          </a:rPr>
                          <m:t>𝑖</m:t>
                        </m:r>
                      </m:sub>
                    </m:sSub>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𝑉</m:t>
                    </m:r>
                  </m:oMath>
                </a14:m>
                <a:endParaRPr lang="en-US" altLang="zh-CN" dirty="0"/>
              </a:p>
              <a:p>
                <a:endParaRPr lang="en-US" altLang="zh-CN" dirty="0"/>
              </a:p>
              <a:p>
                <a:r>
                  <a:rPr lang="zh-CN" altLang="en-US" dirty="0"/>
                  <a:t>设计优化目标！</a:t>
                </a:r>
                <a:endParaRPr lang="en-US" altLang="zh-CN" dirty="0"/>
              </a:p>
              <a:p>
                <a:pPr lvl="1"/>
                <a:r>
                  <a:rPr lang="zh-CN" altLang="en-US" dirty="0"/>
                  <a:t>给定图</a:t>
                </a:r>
                <a14:m>
                  <m:oMath xmlns:m="http://schemas.openxmlformats.org/officeDocument/2006/math">
                    <m:r>
                      <a:rPr lang="en-US" altLang="zh-CN" b="0" i="1" dirty="0" smtClean="0">
                        <a:latin typeface="Cambria Math" charset="0"/>
                      </a:rPr>
                      <m:t>𝐺</m:t>
                    </m:r>
                  </m:oMath>
                </a14:m>
                <a:r>
                  <a:rPr lang="zh-CN" altLang="en-US" dirty="0"/>
                  <a:t>，评价</a:t>
                </a:r>
                <a14:m>
                  <m:oMath xmlns:m="http://schemas.openxmlformats.org/officeDocument/2006/math">
                    <m:r>
                      <a:rPr lang="en-US" altLang="zh-CN" i="1">
                        <a:latin typeface="Cambria Math" charset="0"/>
                      </a:rPr>
                      <m:t>𝑆</m:t>
                    </m:r>
                  </m:oMath>
                </a14:m>
                <a:r>
                  <a:rPr lang="zh-CN" altLang="en-US" dirty="0"/>
                  <a:t>的质量</a:t>
                </a:r>
                <a:endParaRPr lang="en-US" altLang="zh-CN" dirty="0"/>
              </a:p>
              <a:p>
                <a:pPr lvl="1"/>
                <a:r>
                  <a:rPr lang="zh-CN" altLang="en-US" dirty="0"/>
                  <a:t>你会怎么定义？</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326835" cy="3937000"/>
              </a:xfrm>
              <a:blipFill rotWithShape="0">
                <a:blip r:embed="rId2"/>
                <a:stretch>
                  <a:fillRect l="-1268" t="-774"/>
                </a:stretch>
              </a:blipFill>
            </p:spPr>
            <p:txBody>
              <a:bodyPr/>
              <a:lstStyle/>
              <a:p>
                <a:r>
                  <a:rPr lang="en-US">
                    <a:noFill/>
                  </a:rPr>
                  <a:t> </a:t>
                </a:r>
              </a:p>
            </p:txBody>
          </p:sp>
        </mc:Fallback>
      </mc:AlternateContent>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488" b="3444"/>
          <a:stretch/>
        </p:blipFill>
        <p:spPr>
          <a:xfrm>
            <a:off x="5473147" y="1188482"/>
            <a:ext cx="3412435" cy="3128152"/>
          </a:xfrm>
          <a:prstGeom prst="rect">
            <a:avLst/>
          </a:prstGeom>
          <a:effectLst>
            <a:softEdge rad="31750"/>
          </a:effectLst>
        </p:spPr>
      </p:pic>
      <mc:AlternateContent xmlns:mc="http://schemas.openxmlformats.org/markup-compatibility/2006" xmlns:a14="http://schemas.microsoft.com/office/drawing/2010/main">
        <mc:Choice Requires="a14">
          <p:sp>
            <p:nvSpPr>
              <p:cNvPr id="7" name="Rectangle 6"/>
              <p:cNvSpPr/>
              <p:nvPr/>
            </p:nvSpPr>
            <p:spPr>
              <a:xfrm>
                <a:off x="5473147" y="1188482"/>
                <a:ext cx="127874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C00000"/>
                          </a:solidFill>
                          <a:latin typeface="Cambria Math" charset="0"/>
                        </a:rPr>
                        <m:t>𝐺</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𝑉</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𝐸</m:t>
                      </m:r>
                      <m:r>
                        <a:rPr lang="en-US" altLang="zh-CN" i="1" dirty="0" smtClean="0">
                          <a:solidFill>
                            <a:srgbClr val="C00000"/>
                          </a:solidFill>
                          <a:latin typeface="Cambria Math" charset="0"/>
                        </a:rPr>
                        <m:t>)</m:t>
                      </m:r>
                    </m:oMath>
                  </m:oMathPara>
                </a14:m>
                <a:endParaRPr lang="en-US" dirty="0">
                  <a:solidFill>
                    <a:srgbClr val="C0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5473147" y="1188482"/>
                <a:ext cx="1278747" cy="369332"/>
              </a:xfrm>
              <a:prstGeom prst="rect">
                <a:avLst/>
              </a:prstGeom>
              <a:blipFill rotWithShape="0">
                <a:blip r:embed="rId4"/>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126851" y="1557814"/>
                <a:ext cx="4413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1</m:t>
                          </m:r>
                        </m:sub>
                      </m:sSub>
                    </m:oMath>
                  </m:oMathPara>
                </a14:m>
                <a:endParaRPr lang="en-US" dirty="0">
                  <a:solidFill>
                    <a:srgbClr val="C0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8126851" y="1557814"/>
                <a:ext cx="441339"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774590"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2</m:t>
                          </m:r>
                        </m:sub>
                      </m:sSub>
                    </m:oMath>
                  </m:oMathPara>
                </a14:m>
                <a:endParaRPr lang="en-US" dirty="0">
                  <a:solidFill>
                    <a:srgbClr val="C0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5774590" y="2567892"/>
                <a:ext cx="446661" cy="3693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8438921"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3</m:t>
                          </m:r>
                        </m:sub>
                      </m:sSub>
                    </m:oMath>
                  </m:oMathPara>
                </a14:m>
                <a:endParaRPr lang="en-US" dirty="0">
                  <a:solidFill>
                    <a:srgbClr val="C000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8438921" y="2567892"/>
                <a:ext cx="446661" cy="369332"/>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65683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优化目标：</a:t>
            </a:r>
            <a:r>
              <a:rPr lang="en-US" altLang="zh-CN" dirty="0">
                <a:latin typeface="Calibri" charset="0"/>
                <a:ea typeface="Calibri" charset="0"/>
                <a:cs typeface="Calibri" charset="0"/>
              </a:rPr>
              <a:t>Modularity</a:t>
            </a:r>
            <a:r>
              <a:rPr lang="zh-CN" altLang="en-US" dirty="0"/>
              <a:t> </a:t>
            </a:r>
            <a:r>
              <a:rPr lang="en-US" altLang="zh-CN" i="1" dirty="0">
                <a:latin typeface="Times New Roman" charset="0"/>
                <a:ea typeface="Times New Roman" charset="0"/>
                <a:cs typeface="Times New Roman" charset="0"/>
              </a:rPr>
              <a:t>Q</a:t>
            </a:r>
            <a:endParaRPr lang="en-US" i="1" dirty="0">
              <a:latin typeface="Times New Roman" charset="0"/>
              <a:ea typeface="Times New Roman" charset="0"/>
              <a:cs typeface="Times New Roman"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65110"/>
              </a:xfrm>
            </p:spPr>
            <p:txBody>
              <a:bodyPr/>
              <a:lstStyle/>
              <a:p>
                <a:pPr marL="342900" lvl="1" indent="-342900">
                  <a:buFont typeface="Arial" pitchFamily="34" charset="0"/>
                  <a:buChar char="•"/>
                </a:pPr>
                <a:r>
                  <a:rPr lang="zh-CN" altLang="en-US" sz="2000" dirty="0"/>
                  <a:t>给定图</a:t>
                </a:r>
                <a14:m>
                  <m:oMath xmlns:m="http://schemas.openxmlformats.org/officeDocument/2006/math">
                    <m:r>
                      <a:rPr lang="en-US" altLang="zh-CN" sz="2000" i="1" dirty="0">
                        <a:latin typeface="Cambria Math" charset="0"/>
                      </a:rPr>
                      <m:t>𝐺</m:t>
                    </m:r>
                  </m:oMath>
                </a14:m>
                <a:r>
                  <a:rPr lang="zh-CN" altLang="en-US" sz="2000" dirty="0"/>
                  <a:t>，度量一组划分 </a:t>
                </a:r>
                <a14:m>
                  <m:oMath xmlns:m="http://schemas.openxmlformats.org/officeDocument/2006/math">
                    <m:r>
                      <a:rPr lang="en-US" altLang="zh-CN" sz="2000" i="1">
                        <a:latin typeface="Cambria Math" charset="0"/>
                      </a:rPr>
                      <m:t>𝑆</m:t>
                    </m:r>
                  </m:oMath>
                </a14:m>
                <a:r>
                  <a:rPr lang="zh-CN" altLang="en-US" sz="2000" dirty="0"/>
                  <a:t>的质量</a:t>
                </a:r>
                <a:endParaRPr lang="en-US" altLang="zh-CN" sz="2000" dirty="0"/>
              </a:p>
              <a:p>
                <a:pPr marL="342900" lvl="1" indent="-342900">
                  <a:buFont typeface="Arial" pitchFamily="34" charset="0"/>
                  <a:buChar char="•"/>
                </a:pPr>
                <a:r>
                  <a:rPr lang="zh-CN" altLang="en-US" sz="2000" dirty="0"/>
                  <a:t>基本想法</a:t>
                </a:r>
                <a:endParaRPr lang="en-US" altLang="zh-CN" sz="2000" dirty="0"/>
              </a:p>
              <a:p>
                <a:pPr marL="742950" lvl="2" indent="-342900"/>
                <a:r>
                  <a:rPr lang="zh-CN" altLang="en-US" sz="1800" dirty="0"/>
                  <a:t>度量划分</a:t>
                </a:r>
                <a14:m>
                  <m:oMath xmlns:m="http://schemas.openxmlformats.org/officeDocument/2006/math">
                    <m:r>
                      <a:rPr lang="en-US" altLang="zh-CN" sz="1800" i="1">
                        <a:latin typeface="Cambria Math" charset="0"/>
                      </a:rPr>
                      <m:t>𝑆</m:t>
                    </m:r>
                  </m:oMath>
                </a14:m>
                <a:r>
                  <a:rPr lang="zh-CN" altLang="en-US" sz="1800" dirty="0"/>
                  <a:t>的紧凑性</a:t>
                </a:r>
                <a:endParaRPr lang="en-US" altLang="zh-CN" sz="1800" dirty="0"/>
              </a:p>
              <a:p>
                <a:pPr marL="742950" lvl="2" indent="-342900"/>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65110"/>
              </a:xfrm>
              <a:blipFill rotWithShape="0">
                <a:blip r:embed="rId2"/>
                <a:stretch>
                  <a:fillRect l="-667" t="-2404"/>
                </a:stretch>
              </a:blipFill>
            </p:spPr>
            <p:txBody>
              <a:bodyPr/>
              <a:lstStyle/>
              <a:p>
                <a:r>
                  <a:rPr lang="en-US">
                    <a:noFill/>
                  </a:rPr>
                  <a:t> </a:t>
                </a:r>
              </a:p>
            </p:txBody>
          </p:sp>
        </mc:Fallback>
      </mc:AlternateContent>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488" b="3444"/>
          <a:stretch/>
        </p:blipFill>
        <p:spPr>
          <a:xfrm>
            <a:off x="5473147" y="1188482"/>
            <a:ext cx="3412435" cy="3128152"/>
          </a:xfrm>
          <a:prstGeom prst="rect">
            <a:avLst/>
          </a:prstGeom>
          <a:effectLst>
            <a:softEdge rad="31750"/>
          </a:effectLst>
        </p:spPr>
      </p:pic>
      <mc:AlternateContent xmlns:mc="http://schemas.openxmlformats.org/markup-compatibility/2006" xmlns:a14="http://schemas.microsoft.com/office/drawing/2010/main">
        <mc:Choice Requires="a14">
          <p:sp>
            <p:nvSpPr>
              <p:cNvPr id="5" name="Rectangle 4"/>
              <p:cNvSpPr/>
              <p:nvPr/>
            </p:nvSpPr>
            <p:spPr>
              <a:xfrm>
                <a:off x="5473147" y="1188482"/>
                <a:ext cx="127874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C00000"/>
                          </a:solidFill>
                          <a:latin typeface="Cambria Math" charset="0"/>
                        </a:rPr>
                        <m:t>𝐺</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𝑉</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𝐸</m:t>
                      </m:r>
                      <m:r>
                        <a:rPr lang="en-US" altLang="zh-CN" i="1" dirty="0" smtClean="0">
                          <a:solidFill>
                            <a:srgbClr val="C00000"/>
                          </a:solidFill>
                          <a:latin typeface="Cambria Math" charset="0"/>
                        </a:rPr>
                        <m:t>)</m:t>
                      </m:r>
                    </m:oMath>
                  </m:oMathPara>
                </a14:m>
                <a:endParaRPr lang="en-US" dirty="0">
                  <a:solidFill>
                    <a:srgbClr val="C0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5473147" y="1188482"/>
                <a:ext cx="1278747" cy="369332"/>
              </a:xfrm>
              <a:prstGeom prst="rect">
                <a:avLst/>
              </a:prstGeom>
              <a:blipFill rotWithShape="0">
                <a:blip r:embed="rId4"/>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8126851" y="1557814"/>
                <a:ext cx="4413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1</m:t>
                          </m:r>
                        </m:sub>
                      </m:sSub>
                    </m:oMath>
                  </m:oMathPara>
                </a14:m>
                <a:endParaRPr lang="en-US" dirty="0">
                  <a:solidFill>
                    <a:srgbClr val="C0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8126851" y="1557814"/>
                <a:ext cx="441339"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774590"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2</m:t>
                          </m:r>
                        </m:sub>
                      </m:sSub>
                    </m:oMath>
                  </m:oMathPara>
                </a14:m>
                <a:endParaRPr lang="en-US" dirty="0">
                  <a:solidFill>
                    <a:srgbClr val="C0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5774590" y="2567892"/>
                <a:ext cx="446661" cy="3693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438921"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3</m:t>
                          </m:r>
                        </m:sub>
                      </m:sSub>
                    </m:oMath>
                  </m:oMathPara>
                </a14:m>
                <a:endParaRPr lang="en-US" dirty="0">
                  <a:solidFill>
                    <a:srgbClr val="C0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8438921" y="2567892"/>
                <a:ext cx="446661" cy="369332"/>
              </a:xfrm>
              <a:prstGeom prst="rect">
                <a:avLst/>
              </a:prstGeom>
              <a:blipFill rotWithShape="0">
                <a:blip r:embed="rId7"/>
                <a:stretch>
                  <a:fillRect/>
                </a:stretch>
              </a:blipFill>
            </p:spPr>
            <p:txBody>
              <a:bodyPr/>
              <a:lstStyle/>
              <a:p>
                <a:r>
                  <a:rPr lang="en-US">
                    <a:noFill/>
                  </a:rPr>
                  <a:t> </a:t>
                </a:r>
              </a:p>
            </p:txBody>
          </p:sp>
        </mc:Fallback>
      </mc:AlternateContent>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7200" y="2249267"/>
            <a:ext cx="4730368" cy="951180"/>
          </a:xfrm>
          <a:prstGeom prst="rect">
            <a:avLst/>
          </a:prstGeom>
        </p:spPr>
      </p:pic>
      <p:cxnSp>
        <p:nvCxnSpPr>
          <p:cNvPr id="12" name="Curved Connector 11"/>
          <p:cNvCxnSpPr>
            <a:stCxn id="9" idx="2"/>
          </p:cNvCxnSpPr>
          <p:nvPr/>
        </p:nvCxnSpPr>
        <p:spPr>
          <a:xfrm rot="16200000" flipH="1">
            <a:off x="3937389" y="2085442"/>
            <a:ext cx="722196" cy="2952206"/>
          </a:xfrm>
          <a:prstGeom prst="curvedConnector2">
            <a:avLst/>
          </a:prstGeom>
          <a:ln>
            <a:prstDash val="dash"/>
            <a:tailEnd type="triangle"/>
          </a:ln>
        </p:spPr>
        <p:style>
          <a:lnRef idx="2">
            <a:schemeClr val="accent2"/>
          </a:lnRef>
          <a:fillRef idx="0">
            <a:schemeClr val="accent2"/>
          </a:fillRef>
          <a:effectRef idx="1">
            <a:schemeClr val="accent2"/>
          </a:effectRef>
          <a:fontRef idx="minor">
            <a:schemeClr val="tx1"/>
          </a:fontRef>
        </p:style>
      </p:cxnSp>
      <p:sp>
        <p:nvSpPr>
          <p:cNvPr id="14" name="Rectangle 13"/>
          <p:cNvSpPr/>
          <p:nvPr/>
        </p:nvSpPr>
        <p:spPr>
          <a:xfrm>
            <a:off x="835117" y="3561545"/>
            <a:ext cx="3974534" cy="769441"/>
          </a:xfrm>
          <a:prstGeom prst="rect">
            <a:avLst/>
          </a:prstGeom>
        </p:spPr>
        <p:txBody>
          <a:bodyPr wrap="square">
            <a:spAutoFit/>
          </a:bodyPr>
          <a:lstStyle/>
          <a:p>
            <a:pPr>
              <a:spcBef>
                <a:spcPct val="20000"/>
              </a:spcBef>
            </a:pPr>
            <a:r>
              <a:rPr lang="zh-CN" altLang="en-US" sz="2000" dirty="0">
                <a:solidFill>
                  <a:srgbClr val="AE0627"/>
                </a:solidFill>
                <a:latin typeface="Microsoft YaHei" charset="-122"/>
                <a:ea typeface="Microsoft YaHei" charset="-122"/>
                <a:cs typeface="Microsoft YaHei" charset="-122"/>
              </a:rPr>
              <a:t>如何度量</a:t>
            </a:r>
            <a:endParaRPr lang="en-US" altLang="zh-CN" sz="2000" dirty="0">
              <a:solidFill>
                <a:srgbClr val="AE0627"/>
              </a:solidFill>
              <a:latin typeface="Microsoft YaHei" charset="-122"/>
              <a:ea typeface="Microsoft YaHei" charset="-122"/>
              <a:cs typeface="Microsoft YaHei" charset="-122"/>
            </a:endParaRPr>
          </a:p>
          <a:p>
            <a:pPr>
              <a:spcBef>
                <a:spcPct val="20000"/>
              </a:spcBef>
            </a:pPr>
            <a:r>
              <a:rPr lang="en-US" altLang="zh-CN" sz="2000" dirty="0">
                <a:solidFill>
                  <a:srgbClr val="AE0627"/>
                </a:solidFill>
                <a:latin typeface="Calibri" charset="0"/>
                <a:ea typeface="Calibri" charset="0"/>
                <a:cs typeface="Calibri" charset="0"/>
              </a:rPr>
              <a:t>expected</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edges</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within</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group</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s</a:t>
            </a:r>
          </a:p>
        </p:txBody>
      </p:sp>
    </p:spTree>
    <p:extLst>
      <p:ext uri="{BB962C8B-B14F-4D97-AF65-F5344CB8AC3E}">
        <p14:creationId xmlns:p14="http://schemas.microsoft.com/office/powerpoint/2010/main" val="1330365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度量期望边数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872535"/>
              </a:xfrm>
            </p:spPr>
            <p:txBody>
              <a:bodyPr/>
              <a:lstStyle/>
              <a:p>
                <a:r>
                  <a:rPr lang="zh-CN" altLang="en-US" dirty="0"/>
                  <a:t>给定一个真实的图</a:t>
                </a:r>
                <a14:m>
                  <m:oMath xmlns:m="http://schemas.openxmlformats.org/officeDocument/2006/math">
                    <m:r>
                      <a:rPr lang="en-US" altLang="zh-CN" i="1" dirty="0">
                        <a:latin typeface="Cambria Math" charset="0"/>
                      </a:rPr>
                      <m:t>𝐺</m:t>
                    </m:r>
                    <m:r>
                      <a:rPr lang="en-US" altLang="zh-CN" i="1" dirty="0">
                        <a:latin typeface="Cambria Math" charset="0"/>
                      </a:rPr>
                      <m:t> </m:t>
                    </m:r>
                  </m:oMath>
                </a14:m>
                <a:r>
                  <a:rPr lang="zh-CN" altLang="en-US" dirty="0"/>
                  <a:t>，包含</a:t>
                </a:r>
                <a14:m>
                  <m:oMath xmlns:m="http://schemas.openxmlformats.org/officeDocument/2006/math">
                    <m:r>
                      <a:rPr lang="en-US" altLang="zh-CN" b="0" i="1" dirty="0" smtClean="0">
                        <a:latin typeface="Cambria Math" charset="0"/>
                      </a:rPr>
                      <m:t>𝑛</m:t>
                    </m:r>
                  </m:oMath>
                </a14:m>
                <a:r>
                  <a:rPr lang="zh-CN" altLang="en-US" dirty="0"/>
                  <a:t>个节点和</a:t>
                </a:r>
                <a14:m>
                  <m:oMath xmlns:m="http://schemas.openxmlformats.org/officeDocument/2006/math">
                    <m:r>
                      <a:rPr lang="en-US" altLang="zh-CN" b="0" i="1" smtClean="0">
                        <a:latin typeface="Cambria Math" charset="0"/>
                      </a:rPr>
                      <m:t>𝑚</m:t>
                    </m:r>
                  </m:oMath>
                </a14:m>
                <a:r>
                  <a:rPr lang="zh-CN" altLang="en-US" dirty="0"/>
                  <a:t>条边</a:t>
                </a:r>
                <a:endParaRPr lang="en-US" altLang="zh-CN" dirty="0"/>
              </a:p>
              <a:p>
                <a:r>
                  <a:rPr lang="zh-CN" altLang="en-US" dirty="0"/>
                  <a:t>为了度量任意两点之间期望的边数，构造一个图</a:t>
                </a:r>
                <a14:m>
                  <m:oMath xmlns:m="http://schemas.openxmlformats.org/officeDocument/2006/math">
                    <m:sSup>
                      <m:sSupPr>
                        <m:ctrlPr>
                          <a:rPr lang="en-US" altLang="zh-CN" b="0" i="1" dirty="0" smtClean="0">
                            <a:latin typeface="Cambria Math" charset="0"/>
                          </a:rPr>
                        </m:ctrlPr>
                      </m:sSupPr>
                      <m:e>
                        <m:r>
                          <a:rPr lang="en-US" altLang="zh-CN" i="1" dirty="0">
                            <a:latin typeface="Cambria Math" charset="0"/>
                          </a:rPr>
                          <m:t>𝐺</m:t>
                        </m:r>
                      </m:e>
                      <m:sup>
                        <m:r>
                          <a:rPr lang="en-US" altLang="zh-CN" b="0" i="1" dirty="0" smtClean="0">
                            <a:latin typeface="Cambria Math" charset="0"/>
                          </a:rPr>
                          <m:t>′</m:t>
                        </m:r>
                      </m:sup>
                    </m:sSup>
                    <m:r>
                      <a:rPr lang="en-US" altLang="zh-CN" i="1" dirty="0">
                        <a:latin typeface="Cambria Math" charset="0"/>
                      </a:rPr>
                      <m:t> </m:t>
                    </m:r>
                  </m:oMath>
                </a14:m>
                <a:r>
                  <a:rPr lang="zh-CN" altLang="en-US" dirty="0"/>
                  <a:t>，使其满足</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与</a:t>
                </a:r>
                <a14:m>
                  <m:oMath xmlns:m="http://schemas.openxmlformats.org/officeDocument/2006/math">
                    <m:r>
                      <a:rPr lang="en-US" altLang="zh-CN" i="1" dirty="0">
                        <a:latin typeface="Cambria Math" charset="0"/>
                      </a:rPr>
                      <m:t>𝐺</m:t>
                    </m:r>
                  </m:oMath>
                </a14:m>
                <a:r>
                  <a:rPr lang="zh-CN" altLang="en-US" dirty="0"/>
                  <a:t>有着相同的点的度数分布，但点之间的连接是随机的</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可以是多重图（</a:t>
                </a:r>
                <a:r>
                  <a:rPr lang="en-US" altLang="zh-CN" dirty="0"/>
                  <a:t>Multigraph</a:t>
                </a:r>
                <a:r>
                  <a:rPr lang="zh-CN" altLang="en-US" dirty="0"/>
                  <a:t>）</a:t>
                </a:r>
                <a:endParaRPr lang="en-US" altLang="zh-CN" dirty="0"/>
              </a:p>
              <a:p>
                <a:r>
                  <a:rPr lang="zh-CN" altLang="en-US" dirty="0"/>
                  <a:t>考虑任意两个点</a:t>
                </a:r>
                <a14:m>
                  <m:oMath xmlns:m="http://schemas.openxmlformats.org/officeDocument/2006/math">
                    <m:r>
                      <a:rPr lang="en-US" altLang="zh-CN" i="1" dirty="0">
                        <a:latin typeface="Cambria Math" charset="0"/>
                      </a:rPr>
                      <m:t>𝑖</m:t>
                    </m:r>
                  </m:oMath>
                </a14:m>
                <a:r>
                  <a:rPr lang="zh-CN" altLang="en-US" dirty="0"/>
                  <a:t>和</a:t>
                </a:r>
                <a14:m>
                  <m:oMath xmlns:m="http://schemas.openxmlformats.org/officeDocument/2006/math">
                    <m:r>
                      <a:rPr lang="en-US" altLang="zh-CN" i="1" dirty="0">
                        <a:latin typeface="Cambria Math" charset="0"/>
                      </a:rPr>
                      <m:t>𝑗</m:t>
                    </m:r>
                  </m:oMath>
                </a14:m>
                <a:r>
                  <a:rPr lang="zh-CN" altLang="en-US" dirty="0"/>
                  <a:t>，他们的度数为</a:t>
                </a:r>
                <a14:m>
                  <m:oMath xmlns:m="http://schemas.openxmlformats.org/officeDocument/2006/math">
                    <m:r>
                      <a:rPr lang="en-US" altLang="zh-CN" i="1" dirty="0">
                        <a:latin typeface="Cambria Math" charset="0"/>
                      </a:rPr>
                      <m:t>𝑘</m:t>
                    </m:r>
                    <m:r>
                      <a:rPr lang="en-US" altLang="zh-CN" i="1" baseline="-25000" dirty="0" err="1">
                        <a:latin typeface="Cambria Math" charset="0"/>
                      </a:rPr>
                      <m:t>𝑖</m:t>
                    </m:r>
                  </m:oMath>
                </a14:m>
                <a:r>
                  <a:rPr lang="zh-CN" altLang="en-US" dirty="0"/>
                  <a:t>和</a:t>
                </a:r>
                <a14:m>
                  <m:oMath xmlns:m="http://schemas.openxmlformats.org/officeDocument/2006/math">
                    <m:r>
                      <a:rPr lang="en-US" altLang="zh-CN" i="1" dirty="0">
                        <a:latin typeface="Cambria Math" charset="0"/>
                      </a:rPr>
                      <m:t>𝑘</m:t>
                    </m:r>
                    <m:r>
                      <a:rPr lang="en-US" altLang="zh-CN" i="1" baseline="-25000" dirty="0" err="1">
                        <a:latin typeface="Cambria Math" charset="0"/>
                      </a:rPr>
                      <m:t>𝑗</m:t>
                    </m:r>
                  </m:oMath>
                </a14:m>
                <a:r>
                  <a:rPr lang="zh-CN" altLang="en-US" dirty="0"/>
                  <a:t>，求它们之间期望的边数</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872535"/>
              </a:xfrm>
              <a:blipFill rotWithShape="0">
                <a:blip r:embed="rId2"/>
                <a:stretch>
                  <a:fillRect l="-667" t="-20779" b="-974"/>
                </a:stretch>
              </a:blipFill>
            </p:spPr>
            <p:txBody>
              <a:bodyPr/>
              <a:lstStyle/>
              <a:p>
                <a:r>
                  <a:rPr lang="en-US">
                    <a:noFill/>
                  </a:rPr>
                  <a:t> </a:t>
                </a:r>
              </a:p>
            </p:txBody>
          </p:sp>
        </mc:Fallback>
      </mc:AlternateContent>
      <p:grpSp>
        <p:nvGrpSpPr>
          <p:cNvPr id="29" name="Group 28"/>
          <p:cNvGrpSpPr/>
          <p:nvPr/>
        </p:nvGrpSpPr>
        <p:grpSpPr>
          <a:xfrm>
            <a:off x="1481070" y="3066896"/>
            <a:ext cx="2969442" cy="1144496"/>
            <a:chOff x="1854558" y="2938107"/>
            <a:chExt cx="2969442" cy="1144496"/>
          </a:xfrm>
        </p:grpSpPr>
        <mc:AlternateContent xmlns:mc="http://schemas.openxmlformats.org/markup-compatibility/2006" xmlns:a14="http://schemas.microsoft.com/office/drawing/2010/main">
          <mc:Choice Requires="a14">
            <p:sp>
              <p:nvSpPr>
                <p:cNvPr id="5" name="Oval 4"/>
                <p:cNvSpPr>
                  <a:spLocks noChangeAspect="1"/>
                </p:cNvSpPr>
                <p:nvPr/>
              </p:nvSpPr>
              <p:spPr>
                <a:xfrm>
                  <a:off x="1854558" y="3258355"/>
                  <a:ext cx="504000" cy="50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charset="0"/>
                          </a:rPr>
                          <m:t>𝑖</m:t>
                        </m:r>
                      </m:oMath>
                    </m:oMathPara>
                  </a14:m>
                  <a:endParaRPr lang="en-US" sz="2400" dirty="0"/>
                </a:p>
              </p:txBody>
            </p:sp>
          </mc:Choice>
          <mc:Fallback xmlns="">
            <p:sp>
              <p:nvSpPr>
                <p:cNvPr id="5" name="Oval 4"/>
                <p:cNvSpPr>
                  <a:spLocks noRot="1" noChangeAspect="1" noMove="1" noResize="1" noEditPoints="1" noAdjustHandles="1" noChangeArrowheads="1" noChangeShapeType="1" noTextEdit="1"/>
                </p:cNvSpPr>
                <p:nvPr/>
              </p:nvSpPr>
              <p:spPr>
                <a:xfrm>
                  <a:off x="1854558" y="3258355"/>
                  <a:ext cx="504000" cy="504000"/>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a:spLocks noChangeAspect="1"/>
                </p:cNvSpPr>
                <p:nvPr/>
              </p:nvSpPr>
              <p:spPr>
                <a:xfrm>
                  <a:off x="4320000" y="3258355"/>
                  <a:ext cx="504000" cy="50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charset="0"/>
                          </a:rPr>
                          <m:t>𝑗</m:t>
                        </m:r>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4320000" y="3258355"/>
                  <a:ext cx="504000" cy="504000"/>
                </a:xfrm>
                <a:prstGeom prst="ellipse">
                  <a:avLst/>
                </a:prstGeom>
                <a:blipFill rotWithShape="0">
                  <a:blip r:embed="rId4"/>
                  <a:stretch>
                    <a:fillRect b="-8140"/>
                  </a:stretch>
                </a:blipFill>
              </p:spPr>
              <p:txBody>
                <a:bodyPr/>
                <a:lstStyle/>
                <a:p>
                  <a:r>
                    <a:rPr lang="en-US">
                      <a:noFill/>
                    </a:rPr>
                    <a:t> </a:t>
                  </a:r>
                </a:p>
              </p:txBody>
            </p:sp>
          </mc:Fallback>
        </mc:AlternateContent>
        <p:cxnSp>
          <p:nvCxnSpPr>
            <p:cNvPr id="8" name="Straight Connector 7"/>
            <p:cNvCxnSpPr>
              <a:stCxn id="5" idx="7"/>
            </p:cNvCxnSpPr>
            <p:nvPr/>
          </p:nvCxnSpPr>
          <p:spPr>
            <a:xfrm flipV="1">
              <a:off x="2284749" y="2938107"/>
              <a:ext cx="741786" cy="394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358558" y="3510355"/>
              <a:ext cx="66797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5" idx="5"/>
            </p:cNvCxnSpPr>
            <p:nvPr/>
          </p:nvCxnSpPr>
          <p:spPr>
            <a:xfrm>
              <a:off x="2284749" y="3688546"/>
              <a:ext cx="741786" cy="394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a:endCxn id="6" idx="1"/>
            </p:cNvCxnSpPr>
            <p:nvPr/>
          </p:nvCxnSpPr>
          <p:spPr>
            <a:xfrm>
              <a:off x="3902299" y="3003964"/>
              <a:ext cx="491510" cy="328200"/>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Straight Connector 22"/>
            <p:cNvCxnSpPr>
              <a:endCxn id="6" idx="3"/>
            </p:cNvCxnSpPr>
            <p:nvPr/>
          </p:nvCxnSpPr>
          <p:spPr>
            <a:xfrm flipV="1">
              <a:off x="3902299" y="3688546"/>
              <a:ext cx="491510" cy="328200"/>
            </a:xfrm>
            <a:prstGeom prst="line">
              <a:avLst/>
            </a:prstGeom>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3329944" y="3211991"/>
              <a:ext cx="375424" cy="584775"/>
            </a:xfrm>
            <a:prstGeom prst="rect">
              <a:avLst/>
            </a:prstGeom>
            <a:noFill/>
          </p:spPr>
          <p:txBody>
            <a:bodyPr wrap="none" rtlCol="0">
              <a:spAutoFit/>
            </a:bodyPr>
            <a:lstStyle/>
            <a:p>
              <a:r>
                <a:rPr lang="en-US" altLang="zh-CN" sz="3200" dirty="0"/>
                <a:t>?</a:t>
              </a:r>
              <a:endParaRPr lang="en-US" dirty="0"/>
            </a:p>
          </p:txBody>
        </p:sp>
      </p:grpSp>
      <mc:AlternateContent xmlns:mc="http://schemas.openxmlformats.org/markup-compatibility/2006" xmlns:a14="http://schemas.microsoft.com/office/drawing/2010/main">
        <mc:Choice Requires="a14">
          <p:sp>
            <p:nvSpPr>
              <p:cNvPr id="30" name="Rectangle 29">
                <a:extLst>
                  <a:ext uri="{FF2B5EF4-FFF2-40B4-BE49-F238E27FC236}">
                    <a16:creationId xmlns="" xmlns:a16="http://schemas.microsoft.com/office/drawing/2014/main" id="{5AB094F6-731C-724B-ABD8-A0DD764CB726}"/>
                  </a:ext>
                </a:extLst>
              </p:cNvPr>
              <p:cNvSpPr/>
              <p:nvPr/>
            </p:nvSpPr>
            <p:spPr>
              <a:xfrm>
                <a:off x="5538401" y="2832800"/>
                <a:ext cx="3148399" cy="1611723"/>
              </a:xfrm>
              <a:prstGeom prst="rect">
                <a:avLst/>
              </a:prstGeom>
            </p:spPr>
            <p:txBody>
              <a:bodyPr wrap="square">
                <a:spAutoFit/>
              </a:bodyPr>
              <a:lstStyle/>
              <a:p>
                <a:pPr>
                  <a:spcAft>
                    <a:spcPts val="600"/>
                  </a:spcAft>
                </a:pPr>
                <a:r>
                  <a:rPr lang="zh-CN" altLang="en-US" sz="2000" dirty="0">
                    <a:solidFill>
                      <a:srgbClr val="C00000"/>
                    </a:solidFill>
                    <a:effectLst/>
                    <a:latin typeface="Helvetica Neue" charset="0"/>
                  </a:rPr>
                  <a:t>节点</a:t>
                </a:r>
                <a14:m>
                  <m:oMath xmlns:m="http://schemas.openxmlformats.org/officeDocument/2006/math">
                    <m:r>
                      <a:rPr lang="en-US" altLang="zh-CN" sz="2000" i="1" dirty="0" smtClean="0">
                        <a:solidFill>
                          <a:srgbClr val="C00000"/>
                        </a:solidFill>
                        <a:effectLst/>
                        <a:latin typeface="Cambria Math" charset="0"/>
                      </a:rPr>
                      <m:t>𝑖</m:t>
                    </m:r>
                  </m:oMath>
                </a14:m>
                <a:r>
                  <a:rPr lang="zh-CN" altLang="en-US" sz="2000" dirty="0">
                    <a:solidFill>
                      <a:srgbClr val="C00000"/>
                    </a:solidFill>
                    <a:effectLst/>
                    <a:latin typeface="Helvetica Neue" charset="0"/>
                  </a:rPr>
                  <a:t>和</a:t>
                </a:r>
                <a14:m>
                  <m:oMath xmlns:m="http://schemas.openxmlformats.org/officeDocument/2006/math">
                    <m:r>
                      <a:rPr lang="en-US" altLang="zh-CN" sz="2000" i="1" dirty="0" smtClean="0">
                        <a:solidFill>
                          <a:srgbClr val="C00000"/>
                        </a:solidFill>
                        <a:effectLst/>
                        <a:latin typeface="Cambria Math" charset="0"/>
                      </a:rPr>
                      <m:t>𝑗</m:t>
                    </m:r>
                  </m:oMath>
                </a14:m>
                <a:r>
                  <a:rPr lang="zh-CN" altLang="en-US" sz="2000" dirty="0">
                    <a:solidFill>
                      <a:srgbClr val="C00000"/>
                    </a:solidFill>
                    <a:effectLst/>
                    <a:latin typeface="Helvetica Neue" charset="0"/>
                  </a:rPr>
                  <a:t>之间的期望边数</a:t>
                </a:r>
                <a:endParaRPr lang="en-US" altLang="zh-CN" dirty="0">
                  <a:solidFill>
                    <a:srgbClr val="C00000"/>
                  </a:solidFill>
                  <a:effectLst/>
                  <a:latin typeface="Calibri" panose="020F0502020204030204" pitchFamily="34" charset="0"/>
                  <a:cs typeface="Calibri" panose="020F0502020204030204" pitchFamily="34" charset="0"/>
                </a:endParaRPr>
              </a:p>
              <a:p>
                <a:r>
                  <a:rPr lang="zh-CN" altLang="en-US" dirty="0">
                    <a:solidFill>
                      <a:srgbClr val="C00000"/>
                    </a:solidFill>
                    <a:effectLst/>
                    <a:latin typeface="Calibri" panose="020F0502020204030204" pitchFamily="34" charset="0"/>
                    <a:cs typeface="Calibri" panose="020F0502020204030204" pitchFamily="34" charset="0"/>
                  </a:rPr>
                  <a:t> </a:t>
                </a:r>
                <a:r>
                  <a:rPr lang="en-US" altLang="zh-CN" dirty="0">
                    <a:solidFill>
                      <a:srgbClr val="C00000"/>
                    </a:solidFill>
                    <a:effectLst/>
                    <a:latin typeface="Calibri" panose="020F0502020204030204" pitchFamily="34" charset="0"/>
                    <a:cs typeface="Calibri" panose="020F0502020204030204" pitchFamily="34" charset="0"/>
                  </a:rPr>
                  <a:t>A</a:t>
                </a:r>
                <a:r>
                  <a:rPr lang="en-US" altLang="zh-CN" dirty="0">
                    <a:solidFill>
                      <a:srgbClr val="C00000"/>
                    </a:solidFill>
                    <a:latin typeface="Calibri" panose="020F0502020204030204" pitchFamily="34" charset="0"/>
                    <a:cs typeface="Calibri" panose="020F0502020204030204" pitchFamily="34" charset="0"/>
                  </a:rPr>
                  <a:t>.</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sSub>
                      <m:sSubPr>
                        <m:ctrlPr>
                          <a:rPr lang="en-US" altLang="zh-CN" b="0" i="1" dirty="0" smtClean="0">
                            <a:solidFill>
                              <a:srgbClr val="C00000"/>
                            </a:solidFill>
                            <a:latin typeface="Cambria Math" charset="0"/>
                            <a:cs typeface="Calibri" panose="020F0502020204030204" pitchFamily="34" charset="0"/>
                          </a:rPr>
                        </m:ctrlPr>
                      </m:sSubPr>
                      <m:e>
                        <m:r>
                          <a:rPr lang="en-US" altLang="zh-CN" b="0" i="1" dirty="0" smtClean="0">
                            <a:solidFill>
                              <a:srgbClr val="C00000"/>
                            </a:solidFill>
                            <a:latin typeface="Cambria Math" charset="0"/>
                            <a:cs typeface="Calibri" panose="020F0502020204030204" pitchFamily="34" charset="0"/>
                          </a:rPr>
                          <m:t>𝑘</m:t>
                        </m:r>
                      </m:e>
                      <m:sub>
                        <m:r>
                          <a:rPr lang="en-US" altLang="zh-CN" b="0" i="1" dirty="0" smtClean="0">
                            <a:solidFill>
                              <a:srgbClr val="C00000"/>
                            </a:solidFill>
                            <a:latin typeface="Cambria Math" charset="0"/>
                            <a:cs typeface="Calibri" panose="020F0502020204030204" pitchFamily="34" charset="0"/>
                          </a:rPr>
                          <m:t>𝑖</m:t>
                        </m:r>
                      </m:sub>
                    </m:sSub>
                    <m:r>
                      <a:rPr lang="en-US" altLang="zh-CN" b="0" i="1" dirty="0" smtClean="0">
                        <a:solidFill>
                          <a:srgbClr val="C00000"/>
                        </a:solidFill>
                        <a:latin typeface="Cambria Math" charset="0"/>
                        <a:cs typeface="Calibri" panose="020F0502020204030204" pitchFamily="34" charset="0"/>
                      </a:rPr>
                      <m:t>⋅</m:t>
                    </m:r>
                    <m:sSub>
                      <m:sSubPr>
                        <m:ctrlPr>
                          <a:rPr lang="en-US" altLang="zh-CN" b="0" i="1" dirty="0" smtClean="0">
                            <a:solidFill>
                              <a:srgbClr val="C00000"/>
                            </a:solidFill>
                            <a:latin typeface="Cambria Math" charset="0"/>
                            <a:cs typeface="Calibri" panose="020F0502020204030204" pitchFamily="34" charset="0"/>
                          </a:rPr>
                        </m:ctrlPr>
                      </m:sSubPr>
                      <m:e>
                        <m:r>
                          <a:rPr lang="en-US" altLang="zh-CN" b="0" i="1" dirty="0" smtClean="0">
                            <a:solidFill>
                              <a:srgbClr val="C00000"/>
                            </a:solidFill>
                            <a:latin typeface="Cambria Math" charset="0"/>
                            <a:cs typeface="Calibri" panose="020F0502020204030204" pitchFamily="34" charset="0"/>
                          </a:rPr>
                          <m:t>𝑘</m:t>
                        </m:r>
                      </m:e>
                      <m:sub>
                        <m:r>
                          <a:rPr lang="en-US" altLang="zh-CN" b="0" i="1" dirty="0" smtClean="0">
                            <a:solidFill>
                              <a:srgbClr val="C00000"/>
                            </a:solidFill>
                            <a:latin typeface="Cambria Math" charset="0"/>
                            <a:cs typeface="Calibri" panose="020F0502020204030204" pitchFamily="34" charset="0"/>
                          </a:rPr>
                          <m:t>𝑗</m:t>
                        </m:r>
                      </m:sub>
                    </m:sSub>
                  </m:oMath>
                </a14:m>
                <a:r>
                  <a:rPr lang="zh-CN" altLang="en-US" dirty="0">
                    <a:solidFill>
                      <a:srgbClr val="C00000"/>
                    </a:solidFill>
                    <a:latin typeface="Calibri" panose="020F0502020204030204" pitchFamily="34" charset="0"/>
                    <a:cs typeface="Calibri" panose="020F0502020204030204" pitchFamily="34" charset="0"/>
                  </a:rPr>
                  <a:t>  </a:t>
                </a:r>
                <a:endParaRPr lang="en-US" altLang="zh-CN" dirty="0">
                  <a:solidFill>
                    <a:srgbClr val="C00000"/>
                  </a:solidFill>
                  <a:latin typeface="Calibri" panose="020F0502020204030204" pitchFamily="34" charset="0"/>
                  <a:cs typeface="Calibri" panose="020F0502020204030204" pitchFamily="34" charset="0"/>
                </a:endParaRPr>
              </a:p>
              <a:p>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B.</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mr-IN" altLang="zh-CN" i="1" dirty="0" smtClean="0">
                            <a:solidFill>
                              <a:srgbClr val="C00000"/>
                            </a:solidFill>
                            <a:latin typeface="Cambria Math" charset="0"/>
                            <a:cs typeface="Calibri" panose="020F0502020204030204" pitchFamily="34" charset="0"/>
                          </a:rPr>
                        </m:ctrlPr>
                      </m:fPr>
                      <m:num>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𝑖</m:t>
                            </m:r>
                          </m:sub>
                        </m:sSub>
                        <m:r>
                          <a:rPr lang="en-US" altLang="zh-CN" i="1" dirty="0">
                            <a:solidFill>
                              <a:srgbClr val="C00000"/>
                            </a:solidFill>
                            <a:latin typeface="Cambria Math" charset="0"/>
                            <a:cs typeface="Calibri" panose="020F0502020204030204" pitchFamily="34" charset="0"/>
                          </a:rPr>
                          <m:t>⋅</m:t>
                        </m:r>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𝑗</m:t>
                            </m:r>
                          </m:sub>
                        </m:sSub>
                      </m:num>
                      <m:den>
                        <m:r>
                          <a:rPr lang="en-US" altLang="zh-CN" b="0" i="1" dirty="0" smtClean="0">
                            <a:solidFill>
                              <a:srgbClr val="C00000"/>
                            </a:solidFill>
                            <a:latin typeface="Cambria Math" charset="0"/>
                            <a:cs typeface="Calibri" panose="020F0502020204030204" pitchFamily="34" charset="0"/>
                          </a:rPr>
                          <m:t>𝑚</m:t>
                        </m:r>
                      </m:den>
                    </m:f>
                  </m:oMath>
                </a14:m>
                <a:endParaRPr lang="en-US" altLang="zh-CN" dirty="0">
                  <a:solidFill>
                    <a:srgbClr val="C00000"/>
                  </a:solidFill>
                  <a:latin typeface="Calibri" panose="020F0502020204030204" pitchFamily="34" charset="0"/>
                  <a:cs typeface="Calibri" panose="020F0502020204030204" pitchFamily="34" charset="0"/>
                </a:endParaRPr>
              </a:p>
              <a:p>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C.</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mr-IN" altLang="zh-CN" i="1" dirty="0">
                            <a:solidFill>
                              <a:srgbClr val="C00000"/>
                            </a:solidFill>
                            <a:latin typeface="Cambria Math" charset="0"/>
                            <a:cs typeface="Calibri" panose="020F0502020204030204" pitchFamily="34" charset="0"/>
                          </a:rPr>
                        </m:ctrlPr>
                      </m:fPr>
                      <m:num>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𝑖</m:t>
                            </m:r>
                          </m:sub>
                        </m:sSub>
                        <m:r>
                          <a:rPr lang="en-US" altLang="zh-CN" i="1" dirty="0">
                            <a:solidFill>
                              <a:srgbClr val="C00000"/>
                            </a:solidFill>
                            <a:latin typeface="Cambria Math" charset="0"/>
                            <a:cs typeface="Calibri" panose="020F0502020204030204" pitchFamily="34" charset="0"/>
                          </a:rPr>
                          <m:t>⋅</m:t>
                        </m:r>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𝑗</m:t>
                            </m:r>
                          </m:sub>
                        </m:sSub>
                      </m:num>
                      <m:den>
                        <m:r>
                          <a:rPr lang="en-US" altLang="zh-CN" b="0" i="1" dirty="0" smtClean="0">
                            <a:solidFill>
                              <a:srgbClr val="C00000"/>
                            </a:solidFill>
                            <a:latin typeface="Cambria Math" charset="0"/>
                            <a:cs typeface="Calibri" panose="020F0502020204030204" pitchFamily="34" charset="0"/>
                          </a:rPr>
                          <m:t>2</m:t>
                        </m:r>
                        <m:r>
                          <a:rPr lang="en-US" altLang="zh-CN" i="1" dirty="0">
                            <a:solidFill>
                              <a:srgbClr val="C00000"/>
                            </a:solidFill>
                            <a:latin typeface="Cambria Math" charset="0"/>
                            <a:cs typeface="Calibri" panose="020F0502020204030204" pitchFamily="34" charset="0"/>
                          </a:rPr>
                          <m:t>𝑚</m:t>
                        </m:r>
                      </m:den>
                    </m:f>
                  </m:oMath>
                </a14:m>
                <a:endParaRPr lang="en-US" altLang="zh-CN" dirty="0">
                  <a:solidFill>
                    <a:srgbClr val="C00000"/>
                  </a:solidFill>
                  <a:latin typeface="Calibri" panose="020F0502020204030204" pitchFamily="34" charset="0"/>
                  <a:cs typeface="Calibri" panose="020F0502020204030204" pitchFamily="34" charset="0"/>
                </a:endParaRPr>
              </a:p>
            </p:txBody>
          </p:sp>
        </mc:Choice>
        <mc:Fallback xmlns="">
          <p:sp>
            <p:nvSpPr>
              <p:cNvPr id="30" name="Rectangle 29">
                <a:extLst>
                  <a:ext uri="{FF2B5EF4-FFF2-40B4-BE49-F238E27FC236}">
                    <a16:creationId xmlns:a16="http://schemas.microsoft.com/office/drawing/2014/main" xmlns="" id="{5AB094F6-731C-724B-ABD8-A0DD764CB726}"/>
                  </a:ext>
                </a:extLst>
              </p:cNvPr>
              <p:cNvSpPr>
                <a:spLocks noRot="1" noChangeAspect="1" noMove="1" noResize="1" noEditPoints="1" noAdjustHandles="1" noChangeArrowheads="1" noChangeShapeType="1" noTextEdit="1"/>
              </p:cNvSpPr>
              <p:nvPr/>
            </p:nvSpPr>
            <p:spPr>
              <a:xfrm>
                <a:off x="5538401" y="2832800"/>
                <a:ext cx="3148399" cy="1611723"/>
              </a:xfrm>
              <a:prstGeom prst="rect">
                <a:avLst/>
              </a:prstGeom>
              <a:blipFill rotWithShape="0">
                <a:blip r:embed="rId5"/>
                <a:stretch>
                  <a:fillRect l="-2132" t="-3409" b="-1894"/>
                </a:stretch>
              </a:blipFill>
            </p:spPr>
            <p:txBody>
              <a:bodyPr/>
              <a:lstStyle/>
              <a:p>
                <a:r>
                  <a:rPr lang="en-US">
                    <a:noFill/>
                  </a:rPr>
                  <a:t> </a:t>
                </a:r>
              </a:p>
            </p:txBody>
          </p:sp>
        </mc:Fallback>
      </mc:AlternateContent>
      <p:sp>
        <p:nvSpPr>
          <p:cNvPr id="31" name="Rectangle 30">
            <a:extLst>
              <a:ext uri="{FF2B5EF4-FFF2-40B4-BE49-F238E27FC236}">
                <a16:creationId xmlns="" xmlns:a16="http://schemas.microsoft.com/office/drawing/2014/main" id="{74E8C06C-41D3-EF4E-83BA-C08E0EE6BD89}"/>
              </a:ext>
            </a:extLst>
          </p:cNvPr>
          <p:cNvSpPr/>
          <p:nvPr/>
        </p:nvSpPr>
        <p:spPr>
          <a:xfrm>
            <a:off x="4849960" y="2841646"/>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999919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度量期望边数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给定一个真实的图</a:t>
                </a:r>
                <a14:m>
                  <m:oMath xmlns:m="http://schemas.openxmlformats.org/officeDocument/2006/math">
                    <m:r>
                      <a:rPr lang="en-US" altLang="zh-CN" i="1" dirty="0">
                        <a:latin typeface="Cambria Math" charset="0"/>
                      </a:rPr>
                      <m:t>𝐺</m:t>
                    </m:r>
                    <m:r>
                      <a:rPr lang="en-US" altLang="zh-CN" i="1" dirty="0">
                        <a:latin typeface="Cambria Math" charset="0"/>
                      </a:rPr>
                      <m:t> </m:t>
                    </m:r>
                  </m:oMath>
                </a14:m>
                <a:r>
                  <a:rPr lang="zh-CN" altLang="en-US" dirty="0"/>
                  <a:t>，包含</a:t>
                </a:r>
                <a14:m>
                  <m:oMath xmlns:m="http://schemas.openxmlformats.org/officeDocument/2006/math">
                    <m:r>
                      <a:rPr lang="en-US" altLang="zh-CN" b="0" i="1" dirty="0" smtClean="0">
                        <a:latin typeface="Cambria Math" charset="0"/>
                      </a:rPr>
                      <m:t>𝑛</m:t>
                    </m:r>
                  </m:oMath>
                </a14:m>
                <a:r>
                  <a:rPr lang="zh-CN" altLang="en-US" dirty="0"/>
                  <a:t>个节点和</a:t>
                </a:r>
                <a14:m>
                  <m:oMath xmlns:m="http://schemas.openxmlformats.org/officeDocument/2006/math">
                    <m:r>
                      <a:rPr lang="en-US" altLang="zh-CN" b="0" i="1" smtClean="0">
                        <a:latin typeface="Cambria Math" charset="0"/>
                      </a:rPr>
                      <m:t>𝑚</m:t>
                    </m:r>
                  </m:oMath>
                </a14:m>
                <a:r>
                  <a:rPr lang="zh-CN" altLang="en-US" dirty="0"/>
                  <a:t>条边</a:t>
                </a:r>
                <a:endParaRPr lang="en-US" altLang="zh-CN" dirty="0"/>
              </a:p>
              <a:p>
                <a:r>
                  <a:rPr lang="zh-CN" altLang="en-US" dirty="0"/>
                  <a:t>为了度量任意两点之间期望的边数，构造一个图</a:t>
                </a:r>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r>
                      <a:rPr lang="en-US" altLang="zh-CN" i="1" dirty="0">
                        <a:latin typeface="Cambria Math" charset="0"/>
                      </a:rPr>
                      <m:t> </m:t>
                    </m:r>
                  </m:oMath>
                </a14:m>
                <a:r>
                  <a:rPr lang="zh-CN" altLang="en-US" dirty="0"/>
                  <a:t>，使其满足</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与</a:t>
                </a:r>
                <a14:m>
                  <m:oMath xmlns:m="http://schemas.openxmlformats.org/officeDocument/2006/math">
                    <m:r>
                      <a:rPr lang="en-US" altLang="zh-CN" i="1" dirty="0">
                        <a:latin typeface="Cambria Math" charset="0"/>
                      </a:rPr>
                      <m:t>𝐺</m:t>
                    </m:r>
                  </m:oMath>
                </a14:m>
                <a:r>
                  <a:rPr lang="zh-CN" altLang="en-US" dirty="0"/>
                  <a:t>有着相同的点的度数分布，但点之间的连接是随机的</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可以是多重图（</a:t>
                </a:r>
                <a:r>
                  <a:rPr lang="en-US" altLang="zh-CN" dirty="0"/>
                  <a:t>Multigraph</a:t>
                </a:r>
                <a:r>
                  <a:rPr lang="zh-CN" altLang="en-US" dirty="0"/>
                  <a:t>），边数为</a:t>
                </a:r>
                <a14:m>
                  <m:oMath xmlns:m="http://schemas.openxmlformats.org/officeDocument/2006/math">
                    <m:r>
                      <a:rPr lang="en-US" altLang="zh-CN" i="1" dirty="0">
                        <a:latin typeface="Cambria Math" charset="0"/>
                      </a:rPr>
                      <m:t>2</m:t>
                    </m:r>
                    <m:r>
                      <a:rPr lang="en-US" altLang="zh-CN" i="1" dirty="0">
                        <a:latin typeface="Cambria Math" charset="0"/>
                      </a:rPr>
                      <m:t>𝑚</m:t>
                    </m:r>
                  </m:oMath>
                </a14:m>
                <a:endParaRPr lang="en-US" dirty="0"/>
              </a:p>
              <a:p>
                <a:r>
                  <a:rPr lang="zh-CN" altLang="en-US" dirty="0"/>
                  <a:t>考虑任意两个点</a:t>
                </a:r>
                <a14:m>
                  <m:oMath xmlns:m="http://schemas.openxmlformats.org/officeDocument/2006/math">
                    <m:r>
                      <a:rPr lang="en-US" altLang="zh-CN" i="1" dirty="0" smtClean="0">
                        <a:latin typeface="Cambria Math" charset="0"/>
                      </a:rPr>
                      <m:t>𝑖</m:t>
                    </m:r>
                  </m:oMath>
                </a14:m>
                <a:r>
                  <a:rPr lang="zh-CN" altLang="en-US" dirty="0"/>
                  <a:t>和</a:t>
                </a:r>
                <a14:m>
                  <m:oMath xmlns:m="http://schemas.openxmlformats.org/officeDocument/2006/math">
                    <m:r>
                      <a:rPr lang="en-US" altLang="zh-CN" i="1" dirty="0" smtClean="0">
                        <a:latin typeface="Cambria Math" charset="0"/>
                      </a:rPr>
                      <m:t>𝑗</m:t>
                    </m:r>
                  </m:oMath>
                </a14:m>
                <a:r>
                  <a:rPr lang="zh-CN" altLang="en-US" dirty="0"/>
                  <a:t>，他们的度数为</a:t>
                </a:r>
                <a14:m>
                  <m:oMath xmlns:m="http://schemas.openxmlformats.org/officeDocument/2006/math">
                    <m:r>
                      <a:rPr lang="en-US" altLang="zh-CN" i="1" dirty="0" smtClean="0">
                        <a:latin typeface="Cambria Math" charset="0"/>
                      </a:rPr>
                      <m:t>𝑘</m:t>
                    </m:r>
                    <m:r>
                      <a:rPr lang="en-US" altLang="zh-CN" i="1" baseline="-25000" dirty="0" err="1" smtClean="0">
                        <a:latin typeface="Cambria Math" charset="0"/>
                      </a:rPr>
                      <m:t>𝑖</m:t>
                    </m:r>
                  </m:oMath>
                </a14:m>
                <a:r>
                  <a:rPr lang="zh-CN" altLang="en-US" dirty="0"/>
                  <a:t>和</a:t>
                </a:r>
                <a14:m>
                  <m:oMath xmlns:m="http://schemas.openxmlformats.org/officeDocument/2006/math">
                    <m:r>
                      <a:rPr lang="en-US" altLang="zh-CN" i="1" dirty="0" smtClean="0">
                        <a:latin typeface="Cambria Math" charset="0"/>
                      </a:rPr>
                      <m:t>𝑘</m:t>
                    </m:r>
                    <m:r>
                      <a:rPr lang="en-US" altLang="zh-CN" i="1" baseline="-25000" dirty="0" err="1" smtClean="0">
                        <a:latin typeface="Cambria Math" charset="0"/>
                      </a:rPr>
                      <m:t>𝑗</m:t>
                    </m:r>
                  </m:oMath>
                </a14:m>
                <a:r>
                  <a:rPr lang="zh-CN" altLang="en-US" dirty="0"/>
                  <a:t>，求它们之间期望的边数</a:t>
                </a:r>
                <a:endParaRPr lang="en-US" altLang="zh-CN" dirty="0"/>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9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605806" y="2787650"/>
                <a:ext cx="1932387" cy="7119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𝑖</m:t>
                          </m:r>
                        </m:sub>
                      </m:sSub>
                      <m:r>
                        <a:rPr lang="en-US" altLang="zh-CN" sz="2400" b="0" i="1" smtClean="0">
                          <a:latin typeface="Cambria Math" charset="0"/>
                        </a:rPr>
                        <m:t>⋅</m:t>
                      </m:r>
                      <m:f>
                        <m:fPr>
                          <m:ctrlPr>
                            <a:rPr lang="mr-IN" altLang="zh-CN" sz="2400" b="0" i="1" smtClean="0">
                              <a:latin typeface="Cambria Math" charset="0"/>
                            </a:rPr>
                          </m:ctrlPr>
                        </m:fPr>
                        <m:num>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𝑗</m:t>
                              </m:r>
                            </m:sub>
                          </m:sSub>
                        </m:num>
                        <m:den>
                          <m:r>
                            <a:rPr lang="en-US" altLang="zh-CN" sz="2400" b="0" i="1" smtClean="0">
                              <a:latin typeface="Cambria Math" charset="0"/>
                            </a:rPr>
                            <m:t>2</m:t>
                          </m:r>
                          <m:r>
                            <a:rPr lang="en-US" altLang="zh-CN" sz="2400" b="0" i="1" smtClean="0">
                              <a:latin typeface="Cambria Math" charset="0"/>
                            </a:rPr>
                            <m:t>𝑚</m:t>
                          </m:r>
                        </m:den>
                      </m:f>
                      <m:r>
                        <a:rPr lang="en-US" altLang="zh-CN" sz="2400" b="0" i="1" smtClean="0">
                          <a:latin typeface="Cambria Math" charset="0"/>
                        </a:rPr>
                        <m:t>=</m:t>
                      </m:r>
                      <m:f>
                        <m:fPr>
                          <m:ctrlPr>
                            <a:rPr lang="mr-IN" altLang="zh-CN" sz="2400" b="0" i="1" smtClean="0">
                              <a:latin typeface="Cambria Math" charset="0"/>
                            </a:rPr>
                          </m:ctrlPr>
                        </m:fPr>
                        <m:num>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𝑖</m:t>
                              </m:r>
                            </m:sub>
                          </m:sSub>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𝑗</m:t>
                              </m:r>
                            </m:sub>
                          </m:sSub>
                        </m:num>
                        <m:den>
                          <m:r>
                            <a:rPr lang="en-US" altLang="zh-CN" sz="2400" b="0" i="1" smtClean="0">
                              <a:latin typeface="Cambria Math" charset="0"/>
                            </a:rPr>
                            <m:t>2</m:t>
                          </m:r>
                          <m:r>
                            <a:rPr lang="en-US" altLang="zh-CN" sz="2400" b="0" i="1" smtClean="0">
                              <a:latin typeface="Cambria Math" charset="0"/>
                            </a:rPr>
                            <m:t>𝑚</m:t>
                          </m:r>
                        </m:den>
                      </m:f>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3605806" y="2787650"/>
                <a:ext cx="1932387" cy="711926"/>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5581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优化目标：</a:t>
            </a:r>
            <a:r>
              <a:rPr lang="en-US" altLang="zh-CN" dirty="0">
                <a:latin typeface="Calibri" charset="0"/>
                <a:ea typeface="Calibri" charset="0"/>
                <a:cs typeface="Calibri" charset="0"/>
              </a:rPr>
              <a:t>Modularity</a:t>
            </a:r>
            <a:r>
              <a:rPr lang="zh-CN" altLang="en-US" dirty="0"/>
              <a:t> </a:t>
            </a:r>
            <a:r>
              <a:rPr lang="en-US" altLang="zh-CN" i="1" dirty="0">
                <a:latin typeface="Times New Roman" charset="0"/>
                <a:ea typeface="Times New Roman" charset="0"/>
                <a:cs typeface="Times New Roman" charset="0"/>
              </a:rPr>
              <a:t>Q</a:t>
            </a:r>
            <a:endParaRPr lang="en-US" dirty="0"/>
          </a:p>
        </p:txBody>
      </p:sp>
      <p:sp>
        <p:nvSpPr>
          <p:cNvPr id="3" name="Content Placeholder 2"/>
          <p:cNvSpPr>
            <a:spLocks noGrp="1"/>
          </p:cNvSpPr>
          <p:nvPr>
            <p:ph idx="1"/>
          </p:nvPr>
        </p:nvSpPr>
        <p:spPr/>
        <p:txBody>
          <a:bodyPr/>
          <a:lstStyle/>
          <a:p>
            <a:r>
              <a:rPr lang="zh-CN" altLang="en-US" dirty="0"/>
              <a:t>定义</a:t>
            </a:r>
            <a:r>
              <a:rPr lang="en-US" altLang="zh-CN" dirty="0"/>
              <a:t>Modularity</a:t>
            </a:r>
            <a:r>
              <a:rPr lang="zh-CN" altLang="en-US" dirty="0"/>
              <a:t>函数</a:t>
            </a:r>
            <a:endParaRPr lang="en-US" altLang="zh-CN" dirty="0"/>
          </a:p>
          <a:p>
            <a:pPr lvl="1"/>
            <a:endParaRPr lang="en-US" dirty="0"/>
          </a:p>
          <a:p>
            <a:pPr lvl="1"/>
            <a:endParaRPr lang="en-US" dirty="0"/>
          </a:p>
          <a:p>
            <a:pPr lvl="1"/>
            <a:endParaRPr lang="en-US" dirty="0"/>
          </a:p>
          <a:p>
            <a:endParaRPr lang="en-US" altLang="zh-CN" dirty="0"/>
          </a:p>
          <a:p>
            <a:endParaRPr lang="en-US" altLang="zh-CN" dirty="0"/>
          </a:p>
          <a:p>
            <a:pPr lvl="1"/>
            <a:r>
              <a:rPr lang="en-US" altLang="zh-CN" dirty="0"/>
              <a:t>Modularity</a:t>
            </a:r>
            <a:r>
              <a:rPr lang="zh-CN" altLang="en-US" dirty="0"/>
              <a:t>函数的范围是</a:t>
            </a:r>
            <a:r>
              <a:rPr lang="en-US" altLang="zh-CN" dirty="0"/>
              <a:t>[-1,1]</a:t>
            </a:r>
          </a:p>
          <a:p>
            <a:pPr lvl="1"/>
            <a:r>
              <a:rPr lang="en-US" altLang="zh-CN" dirty="0"/>
              <a:t>Modularity</a:t>
            </a:r>
            <a:r>
              <a:rPr lang="zh-CN" altLang="en-US" dirty="0"/>
              <a:t>函数大于</a:t>
            </a:r>
            <a:r>
              <a:rPr lang="en-US" altLang="zh-CN" dirty="0"/>
              <a:t>0.3-0.7</a:t>
            </a:r>
            <a:r>
              <a:rPr lang="zh-CN" altLang="en-US" dirty="0"/>
              <a:t>，成为“显著社区结构”（</a:t>
            </a:r>
            <a:r>
              <a:rPr lang="en-US" altLang="zh-CN" dirty="0"/>
              <a:t>significant</a:t>
            </a:r>
            <a:r>
              <a:rPr lang="zh-CN" altLang="en-US" dirty="0"/>
              <a:t> </a:t>
            </a:r>
            <a:r>
              <a:rPr lang="en-US" altLang="zh-CN" dirty="0"/>
              <a:t>community structure</a:t>
            </a:r>
            <a:r>
              <a:rPr lang="zh-CN" altLang="en-US" dirty="0"/>
              <a:t>）</a:t>
            </a:r>
            <a:endParaRPr lang="en-US" altLang="zh-CN" dirty="0"/>
          </a:p>
          <a:p>
            <a:pPr lvl="1"/>
            <a:endParaRPr lang="en-US" altLang="zh-CN" dirty="0"/>
          </a:p>
          <a:p>
            <a:r>
              <a:rPr lang="zh-CN" altLang="en-US" sz="2400" dirty="0"/>
              <a:t>社区发现的思路之一：</a:t>
            </a:r>
            <a:r>
              <a:rPr lang="zh-CN" altLang="en-US" sz="2400" dirty="0">
                <a:solidFill>
                  <a:srgbClr val="C00000"/>
                </a:solidFill>
              </a:rPr>
              <a:t>优化</a:t>
            </a:r>
            <a:r>
              <a:rPr lang="en-US" altLang="zh-CN" sz="2400" dirty="0">
                <a:solidFill>
                  <a:srgbClr val="C00000"/>
                </a:solidFill>
              </a:rPr>
              <a:t>modularity</a:t>
            </a:r>
            <a:r>
              <a:rPr lang="zh-CN" altLang="en-US" sz="2400" dirty="0">
                <a:solidFill>
                  <a:srgbClr val="C00000"/>
                </a:solidFill>
              </a:rPr>
              <a:t>函数</a:t>
            </a:r>
            <a:endParaRPr lang="en-US" altLang="zh-CN" dirty="0">
              <a:solidFill>
                <a:srgbClr val="C0000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0237" y="1346238"/>
            <a:ext cx="5677729" cy="1289631"/>
          </a:xfrm>
          <a:prstGeom prst="rect">
            <a:avLst/>
          </a:prstGeom>
        </p:spPr>
      </p:pic>
    </p:spTree>
    <p:extLst>
      <p:ext uri="{BB962C8B-B14F-4D97-AF65-F5344CB8AC3E}">
        <p14:creationId xmlns:p14="http://schemas.microsoft.com/office/powerpoint/2010/main" val="1613203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B31FA8-1094-2B4D-BCD6-8718A9E0E633}"/>
              </a:ext>
            </a:extLst>
          </p:cNvPr>
          <p:cNvSpPr>
            <a:spLocks noGrp="1"/>
          </p:cNvSpPr>
          <p:nvPr>
            <p:ph type="title"/>
          </p:nvPr>
        </p:nvSpPr>
        <p:spPr/>
        <p:txBody>
          <a:bodyPr/>
          <a:lstStyle/>
          <a:p>
            <a:r>
              <a:rPr lang="en-US" altLang="zh-CN" dirty="0">
                <a:latin typeface="Calibri" charset="0"/>
                <a:ea typeface="Calibri" charset="0"/>
                <a:cs typeface="Calibri" charset="0"/>
              </a:rPr>
              <a:t>Modularity</a:t>
            </a:r>
            <a:r>
              <a:rPr lang="zh-CN" altLang="en-US" dirty="0"/>
              <a:t> </a:t>
            </a:r>
            <a:r>
              <a:rPr lang="en-US" altLang="zh-CN" i="1" dirty="0">
                <a:latin typeface="Times New Roman" charset="0"/>
                <a:ea typeface="Times New Roman" charset="0"/>
                <a:cs typeface="Times New Roman" charset="0"/>
              </a:rPr>
              <a:t>Q</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0A91332F-1F34-9B42-8D13-D6CDD732405E}"/>
                  </a:ext>
                </a:extLst>
              </p:cNvPr>
              <p:cNvSpPr>
                <a:spLocks noGrp="1"/>
              </p:cNvSpPr>
              <p:nvPr>
                <p:ph idx="1"/>
              </p:nvPr>
            </p:nvSpPr>
            <p:spPr>
              <a:xfrm>
                <a:off x="457200" y="819150"/>
                <a:ext cx="8229600" cy="500286"/>
              </a:xfrm>
            </p:spPr>
            <p:txBody>
              <a:bodyPr/>
              <a:lstStyle/>
              <a:p>
                <a:r>
                  <a:rPr lang="zh-CN" altLang="en-US" dirty="0"/>
                  <a:t>计算下面划分</a:t>
                </a:r>
                <a14:m>
                  <m:oMath xmlns:m="http://schemas.openxmlformats.org/officeDocument/2006/math">
                    <m:r>
                      <a:rPr lang="en-US" altLang="zh-CN" i="1" dirty="0" smtClean="0">
                        <a:latin typeface="Cambria Math" panose="02040503050406030204" pitchFamily="18" charset="0"/>
                      </a:rPr>
                      <m:t>𝑠</m:t>
                    </m:r>
                  </m:oMath>
                </a14:m>
                <a:r>
                  <a:rPr lang="zh-CN" altLang="en-US" dirty="0"/>
                  <a:t>的</a:t>
                </a:r>
                <a:r>
                  <a:rPr lang="en-US" altLang="zh-CN" dirty="0"/>
                  <a:t>Modularity</a:t>
                </a:r>
              </a:p>
              <a:p>
                <a:endParaRPr lang="en-US" dirty="0"/>
              </a:p>
            </p:txBody>
          </p:sp>
        </mc:Choice>
        <mc:Fallback xmlns="">
          <p:sp>
            <p:nvSpPr>
              <p:cNvPr id="3" name="Content Placeholder 2">
                <a:extLst>
                  <a:ext uri="{FF2B5EF4-FFF2-40B4-BE49-F238E27FC236}">
                    <a16:creationId xmlns:a16="http://schemas.microsoft.com/office/drawing/2014/main" id="{0A91332F-1F34-9B42-8D13-D6CDD732405E}"/>
                  </a:ext>
                </a:extLst>
              </p:cNvPr>
              <p:cNvSpPr>
                <a:spLocks noGrp="1" noRot="1" noChangeAspect="1" noMove="1" noResize="1" noEditPoints="1" noAdjustHandles="1" noChangeArrowheads="1" noChangeShapeType="1" noTextEdit="1"/>
              </p:cNvSpPr>
              <p:nvPr>
                <p:ph idx="1"/>
              </p:nvPr>
            </p:nvSpPr>
            <p:spPr>
              <a:xfrm>
                <a:off x="457200" y="819150"/>
                <a:ext cx="8229600" cy="500286"/>
              </a:xfrm>
              <a:blipFill>
                <a:blip r:embed="rId2"/>
                <a:stretch>
                  <a:fillRect l="-617" t="-7500"/>
                </a:stretch>
              </a:blipFill>
            </p:spPr>
            <p:txBody>
              <a:bodyPr/>
              <a:lstStyle/>
              <a:p>
                <a:r>
                  <a:rPr lang="en-US">
                    <a:noFill/>
                  </a:rPr>
                  <a:t> </a:t>
                </a:r>
              </a:p>
            </p:txBody>
          </p:sp>
        </mc:Fallback>
      </mc:AlternateContent>
      <p:pic>
        <p:nvPicPr>
          <p:cNvPr id="4" name="Picture 3">
            <a:extLst>
              <a:ext uri="{FF2B5EF4-FFF2-40B4-BE49-F238E27FC236}">
                <a16:creationId xmlns="" xmlns:a16="http://schemas.microsoft.com/office/drawing/2014/main" id="{6567260B-1E68-414D-98FB-951997265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447059"/>
            <a:ext cx="3419546" cy="776710"/>
          </a:xfrm>
          <a:prstGeom prst="rect">
            <a:avLst/>
          </a:prstGeom>
        </p:spPr>
      </p:pic>
      <p:sp>
        <p:nvSpPr>
          <p:cNvPr id="5" name="Oval 4">
            <a:extLst>
              <a:ext uri="{FF2B5EF4-FFF2-40B4-BE49-F238E27FC236}">
                <a16:creationId xmlns="" xmlns:a16="http://schemas.microsoft.com/office/drawing/2014/main" id="{833C11FF-6A55-6745-8980-04B573E2C5B6}"/>
              </a:ext>
            </a:extLst>
          </p:cNvPr>
          <p:cNvSpPr>
            <a:spLocks noChangeAspect="1"/>
          </p:cNvSpPr>
          <p:nvPr/>
        </p:nvSpPr>
        <p:spPr>
          <a:xfrm>
            <a:off x="1184425" y="1663104"/>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1</a:t>
            </a:r>
            <a:endParaRPr lang="en-US" dirty="0"/>
          </a:p>
        </p:txBody>
      </p:sp>
      <p:sp>
        <p:nvSpPr>
          <p:cNvPr id="6" name="Oval 5">
            <a:extLst>
              <a:ext uri="{FF2B5EF4-FFF2-40B4-BE49-F238E27FC236}">
                <a16:creationId xmlns="" xmlns:a16="http://schemas.microsoft.com/office/drawing/2014/main" id="{4B0A59F8-E205-F64D-A28A-0379B727B442}"/>
              </a:ext>
            </a:extLst>
          </p:cNvPr>
          <p:cNvSpPr>
            <a:spLocks noChangeAspect="1"/>
          </p:cNvSpPr>
          <p:nvPr/>
        </p:nvSpPr>
        <p:spPr>
          <a:xfrm>
            <a:off x="2601681" y="1663104"/>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7" name="Oval 6">
            <a:extLst>
              <a:ext uri="{FF2B5EF4-FFF2-40B4-BE49-F238E27FC236}">
                <a16:creationId xmlns="" xmlns:a16="http://schemas.microsoft.com/office/drawing/2014/main" id="{C5DBA4E6-3905-124E-8790-EC5CD8271D09}"/>
              </a:ext>
            </a:extLst>
          </p:cNvPr>
          <p:cNvSpPr>
            <a:spLocks noChangeAspect="1"/>
          </p:cNvSpPr>
          <p:nvPr/>
        </p:nvSpPr>
        <p:spPr>
          <a:xfrm>
            <a:off x="1919460" y="2576481"/>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3</a:t>
            </a:r>
            <a:endParaRPr lang="en-US" dirty="0"/>
          </a:p>
        </p:txBody>
      </p:sp>
      <p:cxnSp>
        <p:nvCxnSpPr>
          <p:cNvPr id="9" name="Straight Connector 8">
            <a:extLst>
              <a:ext uri="{FF2B5EF4-FFF2-40B4-BE49-F238E27FC236}">
                <a16:creationId xmlns="" xmlns:a16="http://schemas.microsoft.com/office/drawing/2014/main" id="{89D3F9E3-3705-E049-A08F-F31C803AE843}"/>
              </a:ext>
            </a:extLst>
          </p:cNvPr>
          <p:cNvCxnSpPr>
            <a:endCxn id="6" idx="2"/>
          </p:cNvCxnSpPr>
          <p:nvPr/>
        </p:nvCxnSpPr>
        <p:spPr>
          <a:xfrm>
            <a:off x="1544425" y="1843104"/>
            <a:ext cx="105725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Straight Connector 9">
            <a:extLst>
              <a:ext uri="{FF2B5EF4-FFF2-40B4-BE49-F238E27FC236}">
                <a16:creationId xmlns="" xmlns:a16="http://schemas.microsoft.com/office/drawing/2014/main" id="{07DE390D-11DF-584C-BD4D-F6DCC8B6147F}"/>
              </a:ext>
            </a:extLst>
          </p:cNvPr>
          <p:cNvCxnSpPr>
            <a:cxnSpLocks/>
            <a:stCxn id="6" idx="4"/>
            <a:endCxn id="7" idx="7"/>
          </p:cNvCxnSpPr>
          <p:nvPr/>
        </p:nvCxnSpPr>
        <p:spPr>
          <a:xfrm flipH="1">
            <a:off x="2226739" y="2023104"/>
            <a:ext cx="554942"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Straight Connector 12">
            <a:extLst>
              <a:ext uri="{FF2B5EF4-FFF2-40B4-BE49-F238E27FC236}">
                <a16:creationId xmlns="" xmlns:a16="http://schemas.microsoft.com/office/drawing/2014/main" id="{D9FC272D-178F-8447-9DFA-FAAB0639A90A}"/>
              </a:ext>
            </a:extLst>
          </p:cNvPr>
          <p:cNvCxnSpPr>
            <a:cxnSpLocks/>
            <a:stCxn id="5" idx="4"/>
            <a:endCxn id="7" idx="1"/>
          </p:cNvCxnSpPr>
          <p:nvPr/>
        </p:nvCxnSpPr>
        <p:spPr>
          <a:xfrm>
            <a:off x="1364425" y="2023104"/>
            <a:ext cx="607756"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20" name="Straight Connector 19">
            <a:extLst>
              <a:ext uri="{FF2B5EF4-FFF2-40B4-BE49-F238E27FC236}">
                <a16:creationId xmlns="" xmlns:a16="http://schemas.microsoft.com/office/drawing/2014/main" id="{E11D3C7F-2A3F-E645-BD03-BDA20C332BF6}"/>
              </a:ext>
            </a:extLst>
          </p:cNvPr>
          <p:cNvCxnSpPr>
            <a:cxnSpLocks/>
            <a:stCxn id="5" idx="2"/>
          </p:cNvCxnSpPr>
          <p:nvPr/>
        </p:nvCxnSpPr>
        <p:spPr>
          <a:xfrm flipH="1" flipV="1">
            <a:off x="742566" y="1715825"/>
            <a:ext cx="441859" cy="1272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 xmlns:a16="http://schemas.microsoft.com/office/drawing/2014/main" id="{930F0D22-9444-1549-A04A-0252DE6677B4}"/>
              </a:ext>
            </a:extLst>
          </p:cNvPr>
          <p:cNvCxnSpPr>
            <a:cxnSpLocks/>
            <a:endCxn id="6" idx="5"/>
          </p:cNvCxnSpPr>
          <p:nvPr/>
        </p:nvCxnSpPr>
        <p:spPr>
          <a:xfrm flipH="1" flipV="1">
            <a:off x="2908960" y="1970383"/>
            <a:ext cx="427663" cy="146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 xmlns:a16="http://schemas.microsoft.com/office/drawing/2014/main" id="{DFD6EE55-672B-5847-871D-8AB3EC7A671E}"/>
              </a:ext>
            </a:extLst>
          </p:cNvPr>
          <p:cNvCxnSpPr>
            <a:cxnSpLocks/>
            <a:endCxn id="6" idx="7"/>
          </p:cNvCxnSpPr>
          <p:nvPr/>
        </p:nvCxnSpPr>
        <p:spPr>
          <a:xfrm flipH="1">
            <a:off x="2908960" y="1509248"/>
            <a:ext cx="498821" cy="20657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 xmlns:a16="http://schemas.microsoft.com/office/drawing/2014/main" id="{5FC16663-D385-DD4D-9528-19FCB53217C2}"/>
                  </a:ext>
                </a:extLst>
              </p:cNvPr>
              <p:cNvSpPr/>
              <p:nvPr/>
            </p:nvSpPr>
            <p:spPr>
              <a:xfrm>
                <a:off x="5582428" y="1118447"/>
                <a:ext cx="3333433" cy="508537"/>
              </a:xfrm>
              <a:prstGeom prst="rect">
                <a:avLst/>
              </a:prstGeom>
            </p:spPr>
            <p:txBody>
              <a:bodyPr wrap="square">
                <a:spAutoFit/>
              </a:bodyPr>
              <a:lstStyle/>
              <a:p>
                <a:r>
                  <a:rPr lang="zh-CN" altLang="en-US" dirty="0">
                    <a:solidFill>
                      <a:srgbClr val="C00000"/>
                    </a:solidFill>
                    <a:effectLst/>
                    <a:latin typeface="Calibri" panose="020F0502020204030204" pitchFamily="34" charset="0"/>
                    <a:cs typeface="Calibri" panose="020F0502020204030204" pitchFamily="34" charset="0"/>
                  </a:rPr>
                  <a:t> </a:t>
                </a:r>
                <a:r>
                  <a:rPr lang="en-US" altLang="zh-CN" dirty="0">
                    <a:solidFill>
                      <a:srgbClr val="C00000"/>
                    </a:solidFill>
                    <a:effectLst/>
                    <a:latin typeface="Calibri" panose="020F0502020204030204" pitchFamily="34" charset="0"/>
                    <a:cs typeface="Calibri" panose="020F0502020204030204" pitchFamily="34" charset="0"/>
                  </a:rPr>
                  <a:t>A</a:t>
                </a:r>
                <a:r>
                  <a:rPr lang="en-US" altLang="zh-CN" dirty="0">
                    <a:solidFill>
                      <a:srgbClr val="C00000"/>
                    </a:solidFill>
                    <a:latin typeface="Calibri" panose="020F0502020204030204" pitchFamily="34" charset="0"/>
                    <a:cs typeface="Calibri" panose="020F0502020204030204" pitchFamily="34" charset="0"/>
                  </a:rPr>
                  <a:t>.</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r>
                      <a:rPr lang="en-US" altLang="zh-CN" b="0" i="0" smtClean="0">
                        <a:solidFill>
                          <a:srgbClr val="C00000"/>
                        </a:solidFill>
                        <a:latin typeface="Cambria Math" panose="02040503050406030204" pitchFamily="18" charset="0"/>
                        <a:cs typeface="Calibri" panose="020F0502020204030204" pitchFamily="34" charset="0"/>
                      </a:rPr>
                      <m:t>−</m:t>
                    </m:r>
                    <m:f>
                      <m:fPr>
                        <m:ctrlPr>
                          <a:rPr lang="en-US" altLang="zh-CN" i="1" smtClean="0">
                            <a:solidFill>
                              <a:srgbClr val="C00000"/>
                            </a:solidFill>
                            <a:latin typeface="Cambria Math" charset="0"/>
                            <a:cs typeface="Calibri" panose="020F0502020204030204" pitchFamily="34" charset="0"/>
                          </a:rPr>
                        </m:ctrlPr>
                      </m:fPr>
                      <m:num>
                        <m:r>
                          <a:rPr lang="en-US" altLang="zh-CN" b="0" i="1" smtClean="0">
                            <a:solidFill>
                              <a:srgbClr val="C00000"/>
                            </a:solidFill>
                            <a:latin typeface="Cambria Math" panose="02040503050406030204" pitchFamily="18" charset="0"/>
                            <a:cs typeface="Calibri" panose="020F0502020204030204" pitchFamily="34" charset="0"/>
                          </a:rPr>
                          <m:t>1</m:t>
                        </m:r>
                      </m:num>
                      <m:den>
                        <m:r>
                          <a:rPr lang="en-US" altLang="zh-CN" b="0" i="1" smtClean="0">
                            <a:solidFill>
                              <a:srgbClr val="C00000"/>
                            </a:solidFill>
                            <a:latin typeface="Cambria Math" panose="02040503050406030204" pitchFamily="18" charset="0"/>
                            <a:cs typeface="Calibri" panose="020F0502020204030204" pitchFamily="34" charset="0"/>
                          </a:rPr>
                          <m:t>16</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B.</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5</m:t>
                        </m:r>
                      </m:num>
                      <m:den>
                        <m:r>
                          <a:rPr lang="en-US" altLang="zh-CN" b="0" i="1" dirty="0" smtClean="0">
                            <a:solidFill>
                              <a:srgbClr val="C00000"/>
                            </a:solidFill>
                            <a:latin typeface="Cambria Math" panose="02040503050406030204" pitchFamily="18" charset="0"/>
                            <a:cs typeface="Calibri" panose="020F0502020204030204" pitchFamily="34" charset="0"/>
                          </a:rPr>
                          <m:t>36</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C.</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1</m:t>
                        </m:r>
                      </m:num>
                      <m:den>
                        <m:r>
                          <a:rPr lang="en-US" altLang="zh-CN" b="0" i="1" dirty="0" smtClean="0">
                            <a:solidFill>
                              <a:srgbClr val="C00000"/>
                            </a:solidFill>
                            <a:latin typeface="Cambria Math" panose="02040503050406030204" pitchFamily="18" charset="0"/>
                            <a:cs typeface="Calibri" panose="020F0502020204030204" pitchFamily="34" charset="0"/>
                          </a:rPr>
                          <m:t>6</m:t>
                        </m:r>
                      </m:den>
                    </m:f>
                  </m:oMath>
                </a14:m>
                <a:endParaRPr lang="en-US" altLang="zh-CN" dirty="0">
                  <a:solidFill>
                    <a:srgbClr val="C00000"/>
                  </a:solidFill>
                  <a:latin typeface="Calibri" panose="020F0502020204030204" pitchFamily="34" charset="0"/>
                  <a:cs typeface="Calibri" panose="020F0502020204030204" pitchFamily="34" charset="0"/>
                </a:endParaRPr>
              </a:p>
            </p:txBody>
          </p:sp>
        </mc:Choice>
        <mc:Fallback xmlns="">
          <p:sp>
            <p:nvSpPr>
              <p:cNvPr id="33" name="Rectangle 32">
                <a:extLst>
                  <a:ext uri="{FF2B5EF4-FFF2-40B4-BE49-F238E27FC236}">
                    <a16:creationId xmlns:a16="http://schemas.microsoft.com/office/drawing/2014/main" id="{5FC16663-D385-DD4D-9528-19FCB53217C2}"/>
                  </a:ext>
                </a:extLst>
              </p:cNvPr>
              <p:cNvSpPr>
                <a:spLocks noRot="1" noChangeAspect="1" noMove="1" noResize="1" noEditPoints="1" noAdjustHandles="1" noChangeArrowheads="1" noChangeShapeType="1" noTextEdit="1"/>
              </p:cNvSpPr>
              <p:nvPr/>
            </p:nvSpPr>
            <p:spPr>
              <a:xfrm>
                <a:off x="5582428" y="1118447"/>
                <a:ext cx="3333433" cy="508537"/>
              </a:xfrm>
              <a:prstGeom prst="rect">
                <a:avLst/>
              </a:prstGeom>
              <a:blipFill>
                <a:blip r:embed="rId4"/>
                <a:stretch>
                  <a:fillRect b="-4878"/>
                </a:stretch>
              </a:blipFill>
            </p:spPr>
            <p:txBody>
              <a:bodyPr/>
              <a:lstStyle/>
              <a:p>
                <a:r>
                  <a:rPr lang="en-US">
                    <a:noFill/>
                  </a:rPr>
                  <a:t> </a:t>
                </a:r>
              </a:p>
            </p:txBody>
          </p:sp>
        </mc:Fallback>
      </mc:AlternateContent>
      <p:sp>
        <p:nvSpPr>
          <p:cNvPr id="34" name="Rectangle 33">
            <a:extLst>
              <a:ext uri="{FF2B5EF4-FFF2-40B4-BE49-F238E27FC236}">
                <a16:creationId xmlns="" xmlns:a16="http://schemas.microsoft.com/office/drawing/2014/main" id="{3D75A86C-E4AA-9846-98EA-B35FC18BB083}"/>
              </a:ext>
            </a:extLst>
          </p:cNvPr>
          <p:cNvSpPr/>
          <p:nvPr/>
        </p:nvSpPr>
        <p:spPr>
          <a:xfrm>
            <a:off x="4958625" y="1060897"/>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mc:AlternateContent xmlns:mc="http://schemas.openxmlformats.org/markup-compatibility/2006" xmlns:a14="http://schemas.microsoft.com/office/drawing/2010/main">
        <mc:Choice Requires="a14">
          <p:sp>
            <p:nvSpPr>
              <p:cNvPr id="35" name="Rectangle 34">
                <a:extLst>
                  <a:ext uri="{FF2B5EF4-FFF2-40B4-BE49-F238E27FC236}">
                    <a16:creationId xmlns="" xmlns:a16="http://schemas.microsoft.com/office/drawing/2014/main" id="{AA8DAA29-7842-2948-87CB-A49E9B25A5E3}"/>
                  </a:ext>
                </a:extLst>
              </p:cNvPr>
              <p:cNvSpPr/>
              <p:nvPr/>
            </p:nvSpPr>
            <p:spPr>
              <a:xfrm>
                <a:off x="707321" y="2525648"/>
                <a:ext cx="40254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𝑠</m:t>
                      </m:r>
                    </m:oMath>
                  </m:oMathPara>
                </a14:m>
                <a:endParaRPr lang="en-US" sz="2400" dirty="0"/>
              </a:p>
            </p:txBody>
          </p:sp>
        </mc:Choice>
        <mc:Fallback xmlns="">
          <p:sp>
            <p:nvSpPr>
              <p:cNvPr id="35" name="Rectangle 34">
                <a:extLst>
                  <a:ext uri="{FF2B5EF4-FFF2-40B4-BE49-F238E27FC236}">
                    <a16:creationId xmlns:a16="http://schemas.microsoft.com/office/drawing/2014/main" id="{AA8DAA29-7842-2948-87CB-A49E9B25A5E3}"/>
                  </a:ext>
                </a:extLst>
              </p:cNvPr>
              <p:cNvSpPr>
                <a:spLocks noRot="1" noChangeAspect="1" noMove="1" noResize="1" noEditPoints="1" noAdjustHandles="1" noChangeArrowheads="1" noChangeShapeType="1" noTextEdit="1"/>
              </p:cNvSpPr>
              <p:nvPr/>
            </p:nvSpPr>
            <p:spPr>
              <a:xfrm>
                <a:off x="707321" y="2525648"/>
                <a:ext cx="402546" cy="461665"/>
              </a:xfrm>
              <a:prstGeom prst="rect">
                <a:avLst/>
              </a:prstGeom>
              <a:blipFill>
                <a:blip r:embed="rId5"/>
                <a:stretch>
                  <a:fillRect/>
                </a:stretch>
              </a:blipFill>
            </p:spPr>
            <p:txBody>
              <a:bodyPr/>
              <a:lstStyle/>
              <a:p>
                <a:r>
                  <a:rPr lang="en-US">
                    <a:noFill/>
                  </a:rPr>
                  <a:t> </a:t>
                </a:r>
              </a:p>
            </p:txBody>
          </p:sp>
        </mc:Fallback>
      </mc:AlternateContent>
      <p:cxnSp>
        <p:nvCxnSpPr>
          <p:cNvPr id="37" name="Straight Arrow Connector 36">
            <a:extLst>
              <a:ext uri="{FF2B5EF4-FFF2-40B4-BE49-F238E27FC236}">
                <a16:creationId xmlns="" xmlns:a16="http://schemas.microsoft.com/office/drawing/2014/main" id="{4BCB024E-F3A4-A849-B71B-0D1A92B09037}"/>
              </a:ext>
            </a:extLst>
          </p:cNvPr>
          <p:cNvCxnSpPr>
            <a:cxnSpLocks/>
          </p:cNvCxnSpPr>
          <p:nvPr/>
        </p:nvCxnSpPr>
        <p:spPr>
          <a:xfrm flipV="1">
            <a:off x="1018728" y="2430218"/>
            <a:ext cx="380008" cy="2531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FF35B34E-1408-5847-A0F9-31F11E8F279D}"/>
                  </a:ext>
                </a:extLst>
              </p:cNvPr>
              <p:cNvSpPr txBox="1"/>
              <p:nvPr/>
            </p:nvSpPr>
            <p:spPr>
              <a:xfrm>
                <a:off x="3541241" y="1986783"/>
                <a:ext cx="3582840" cy="1000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d>
                        <m:dPr>
                          <m:ctrlPr>
                            <a:rPr lang="en-US" altLang="zh-CN" b="0" i="1" smtClean="0">
                              <a:latin typeface="Cambria Math" charset="0"/>
                            </a:rPr>
                          </m:ctrlPr>
                        </m:dPr>
                        <m:e>
                          <m:r>
                            <a:rPr lang="en-US" altLang="zh-CN" b="0" i="1" smtClean="0">
                              <a:latin typeface="Cambria Math" panose="02040503050406030204" pitchFamily="18" charset="0"/>
                            </a:rPr>
                            <m:t>𝐺</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sub>
                        <m:sup/>
                        <m:e>
                          <m:f>
                            <m:fPr>
                              <m:ctrlPr>
                                <a:rPr lang="en-US" altLang="zh-CN" b="0" i="1" smtClean="0">
                                  <a:latin typeface="Cambria Math" charset="0"/>
                                </a:rPr>
                              </m:ctrlPr>
                            </m:fPr>
                            <m:num>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up/>
                                <m:e>
                                  <m:sSub>
                                    <m:sSubPr>
                                      <m:ctrlPr>
                                        <a:rPr lang="en-US" altLang="zh-CN" b="0" i="1" smtClean="0">
                                          <a:latin typeface="Cambria Math"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𝑖𝑗</m:t>
                                      </m:r>
                                    </m:sub>
                                  </m:sSub>
                                </m:e>
                              </m:nary>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f>
                            <m:fPr>
                              <m:ctrlPr>
                                <a:rPr lang="en-US" altLang="zh-CN" b="0" i="1" smtClean="0">
                                  <a:latin typeface="Cambria Math"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up/>
                            <m:e>
                              <m:f>
                                <m:fPr>
                                  <m:ctrlPr>
                                    <a:rPr lang="en-US" altLang="zh-CN" b="0" i="1" smtClean="0">
                                      <a:latin typeface="Cambria Math" charset="0"/>
                                    </a:rPr>
                                  </m:ctrlPr>
                                </m:fPr>
                                <m:num>
                                  <m:sSub>
                                    <m:sSubPr>
                                      <m:ctrlPr>
                                        <a:rPr lang="en-US" altLang="zh-CN" b="0" i="1" smtClean="0">
                                          <a:latin typeface="Cambria Math"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sSub>
                                    <m:sSubPr>
                                      <m:ctrlPr>
                                        <a:rPr lang="en-US" altLang="zh-CN" b="0" i="1" smtClean="0">
                                          <a:latin typeface="Cambria Math"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𝑗</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nary>
                        </m:e>
                      </m:nary>
                    </m:oMath>
                  </m:oMathPara>
                </a14:m>
                <a:endParaRPr lang="en-US" altLang="zh-CN" b="0" dirty="0"/>
              </a:p>
              <a:p>
                <a:endParaRPr lang="en-US" dirty="0"/>
              </a:p>
            </p:txBody>
          </p:sp>
        </mc:Choice>
        <mc:Fallback xmlns="">
          <p:sp>
            <p:nvSpPr>
              <p:cNvPr id="39" name="TextBox 38">
                <a:extLst>
                  <a:ext uri="{FF2B5EF4-FFF2-40B4-BE49-F238E27FC236}">
                    <a16:creationId xmlns:a16="http://schemas.microsoft.com/office/drawing/2014/main" id="{FF35B34E-1408-5847-A0F9-31F11E8F279D}"/>
                  </a:ext>
                </a:extLst>
              </p:cNvPr>
              <p:cNvSpPr txBox="1">
                <a:spLocks noRot="1" noChangeAspect="1" noMove="1" noResize="1" noEditPoints="1" noAdjustHandles="1" noChangeArrowheads="1" noChangeShapeType="1" noTextEdit="1"/>
              </p:cNvSpPr>
              <p:nvPr/>
            </p:nvSpPr>
            <p:spPr>
              <a:xfrm>
                <a:off x="3541241" y="1986783"/>
                <a:ext cx="3582840" cy="1000530"/>
              </a:xfrm>
              <a:prstGeom prst="rect">
                <a:avLst/>
              </a:prstGeom>
              <a:blipFill>
                <a:blip r:embed="rId6"/>
                <a:stretch>
                  <a:fillRect l="-353" t="-96203" r="-1060" b="-1050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89BCF09C-B95A-674F-9299-753C2A494746}"/>
                  </a:ext>
                </a:extLst>
              </p:cNvPr>
              <p:cNvSpPr txBox="1"/>
              <p:nvPr/>
            </p:nvSpPr>
            <p:spPr>
              <a:xfrm>
                <a:off x="4381998" y="2813871"/>
                <a:ext cx="2771913" cy="10461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sub>
                        <m:sup/>
                        <m:e>
                          <m:f>
                            <m:fPr>
                              <m:ctrlPr>
                                <a:rPr lang="en-US" altLang="zh-CN" b="0" i="1" smtClean="0">
                                  <a:latin typeface="Cambria Math" charset="0"/>
                                </a:rPr>
                              </m:ctrlPr>
                            </m:fPr>
                            <m:num>
                              <m:nary>
                                <m:naryPr>
                                  <m:chr m:val="∑"/>
                                  <m:supHide m:val="on"/>
                                  <m:ctrlPr>
                                    <a:rPr lang="en-US" altLang="zh-CN" b="0" i="1" smtClean="0">
                                      <a:solidFill>
                                        <a:schemeClr val="accent6"/>
                                      </a:solidFill>
                                      <a:latin typeface="Cambria Math" charset="0"/>
                                    </a:rPr>
                                  </m:ctrlPr>
                                </m:naryPr>
                                <m:sub>
                                  <m:r>
                                    <m:rPr>
                                      <m:brk m:alnAt="7"/>
                                    </m:rPr>
                                    <a:rPr lang="en-US" altLang="zh-CN" b="0" i="1" smtClean="0">
                                      <a:solidFill>
                                        <a:schemeClr val="accent6"/>
                                      </a:solidFill>
                                      <a:latin typeface="Cambria Math" panose="02040503050406030204" pitchFamily="18" charset="0"/>
                                    </a:rPr>
                                    <m:t>𝑖</m:t>
                                  </m:r>
                                  <m:r>
                                    <a:rPr lang="en-US" altLang="zh-CN" b="0" i="1" smtClean="0">
                                      <a:solidFill>
                                        <a:schemeClr val="accent6"/>
                                      </a:solidFill>
                                      <a:latin typeface="Cambria Math" panose="02040503050406030204" pitchFamily="18" charset="0"/>
                                    </a:rPr>
                                    <m:t>&lt;</m:t>
                                  </m:r>
                                  <m:r>
                                    <a:rPr lang="en-US" altLang="zh-CN" b="0" i="1" smtClean="0">
                                      <a:solidFill>
                                        <a:schemeClr val="accent6"/>
                                      </a:solidFill>
                                      <a:latin typeface="Cambria Math" panose="02040503050406030204" pitchFamily="18" charset="0"/>
                                    </a:rPr>
                                    <m:t>𝑗</m:t>
                                  </m:r>
                                </m:sub>
                                <m:sup/>
                                <m:e>
                                  <m:sSub>
                                    <m:sSubPr>
                                      <m:ctrlPr>
                                        <a:rPr lang="en-US" altLang="zh-CN" b="0" i="1" smtClean="0">
                                          <a:solidFill>
                                            <a:schemeClr val="accent6"/>
                                          </a:solidFill>
                                          <a:latin typeface="Cambria Math" charset="0"/>
                                        </a:rPr>
                                      </m:ctrlPr>
                                    </m:sSubPr>
                                    <m:e>
                                      <m:r>
                                        <a:rPr lang="en-US" altLang="zh-CN" b="0" i="1" smtClean="0">
                                          <a:solidFill>
                                            <a:schemeClr val="accent6"/>
                                          </a:solidFill>
                                          <a:latin typeface="Cambria Math" panose="02040503050406030204" pitchFamily="18" charset="0"/>
                                        </a:rPr>
                                        <m:t>𝐴</m:t>
                                      </m:r>
                                    </m:e>
                                    <m:sub>
                                      <m:r>
                                        <a:rPr lang="en-US" altLang="zh-CN" b="0" i="1" smtClean="0">
                                          <a:solidFill>
                                            <a:schemeClr val="accent6"/>
                                          </a:solidFill>
                                          <a:latin typeface="Cambria Math" panose="02040503050406030204" pitchFamily="18" charset="0"/>
                                        </a:rPr>
                                        <m:t>𝑖𝑗</m:t>
                                      </m:r>
                                    </m:sub>
                                  </m:sSub>
                                </m:e>
                              </m:nary>
                            </m:num>
                            <m:den>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nary>
                                        <m:naryPr>
                                          <m:chr m:val="∑"/>
                                          <m:supHide m:val="on"/>
                                          <m:ctrlPr>
                                            <a:rPr lang="en-US" altLang="zh-CN" b="0" i="1" smtClean="0">
                                              <a:solidFill>
                                                <a:schemeClr val="accent1"/>
                                              </a:solidFill>
                                              <a:latin typeface="Cambria Math" charset="0"/>
                                            </a:rPr>
                                          </m:ctrlPr>
                                        </m:naryPr>
                                        <m:sub>
                                          <m:r>
                                            <m:rPr>
                                              <m:brk m:alnAt="7"/>
                                            </m:rPr>
                                            <a:rPr lang="en-US" altLang="zh-CN" b="0" i="1" smtClean="0">
                                              <a:solidFill>
                                                <a:schemeClr val="accent1"/>
                                              </a:solidFill>
                                              <a:latin typeface="Cambria Math" panose="02040503050406030204" pitchFamily="18" charset="0"/>
                                            </a:rPr>
                                            <m:t>𝑖</m:t>
                                          </m:r>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𝑠</m:t>
                                          </m:r>
                                        </m:sub>
                                        <m:sup/>
                                        <m:e>
                                          <m:sSub>
                                            <m:sSubPr>
                                              <m:ctrlPr>
                                                <a:rPr lang="en-US" altLang="zh-CN" b="0" i="1" smtClean="0">
                                                  <a:solidFill>
                                                    <a:schemeClr val="accent1"/>
                                                  </a:solidFill>
                                                  <a:latin typeface="Cambria Math" charset="0"/>
                                                </a:rPr>
                                              </m:ctrlPr>
                                            </m:sSubPr>
                                            <m:e>
                                              <m:r>
                                                <a:rPr lang="en-US" altLang="zh-CN" b="0" i="1" smtClean="0">
                                                  <a:solidFill>
                                                    <a:schemeClr val="accent1"/>
                                                  </a:solidFill>
                                                  <a:latin typeface="Cambria Math" panose="02040503050406030204" pitchFamily="18" charset="0"/>
                                                </a:rPr>
                                                <m:t>𝑘</m:t>
                                              </m:r>
                                            </m:e>
                                            <m:sub>
                                              <m:r>
                                                <a:rPr lang="en-US" altLang="zh-CN" b="0" i="1" smtClean="0">
                                                  <a:solidFill>
                                                    <a:schemeClr val="accent1"/>
                                                  </a:solidFill>
                                                  <a:latin typeface="Cambria Math" panose="02040503050406030204" pitchFamily="18" charset="0"/>
                                                </a:rPr>
                                                <m:t>𝑖</m:t>
                                              </m:r>
                                            </m:sub>
                                          </m:sSub>
                                        </m:e>
                                      </m:nary>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nary>
                    </m:oMath>
                  </m:oMathPara>
                </a14:m>
                <a:endParaRPr lang="en-US" altLang="zh-CN" b="0" dirty="0"/>
              </a:p>
              <a:p>
                <a:endParaRPr lang="en-US" dirty="0"/>
              </a:p>
            </p:txBody>
          </p:sp>
        </mc:Choice>
        <mc:Fallback xmlns="">
          <p:sp>
            <p:nvSpPr>
              <p:cNvPr id="40" name="TextBox 39">
                <a:extLst>
                  <a:ext uri="{FF2B5EF4-FFF2-40B4-BE49-F238E27FC236}">
                    <a16:creationId xmlns:a16="http://schemas.microsoft.com/office/drawing/2014/main" id="{89BCF09C-B95A-674F-9299-753C2A494746}"/>
                  </a:ext>
                </a:extLst>
              </p:cNvPr>
              <p:cNvSpPr txBox="1">
                <a:spLocks noRot="1" noChangeAspect="1" noMove="1" noResize="1" noEditPoints="1" noAdjustHandles="1" noChangeArrowheads="1" noChangeShapeType="1" noTextEdit="1"/>
              </p:cNvSpPr>
              <p:nvPr/>
            </p:nvSpPr>
            <p:spPr>
              <a:xfrm>
                <a:off x="4381998" y="2813871"/>
                <a:ext cx="2771913" cy="1046184"/>
              </a:xfrm>
              <a:prstGeom prst="rect">
                <a:avLst/>
              </a:prstGeom>
              <a:blipFill>
                <a:blip r:embed="rId7"/>
                <a:stretch>
                  <a:fillRect l="-20091" t="-86747" b="-1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A96A2CAB-3332-4145-94B9-AEBABE703F06}"/>
                  </a:ext>
                </a:extLst>
              </p:cNvPr>
              <p:cNvSpPr txBox="1"/>
              <p:nvPr/>
            </p:nvSpPr>
            <p:spPr>
              <a:xfrm>
                <a:off x="4337474" y="3621296"/>
                <a:ext cx="2063385" cy="9900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sub>
                        <m:sup/>
                        <m:e>
                          <m:f>
                            <m:fPr>
                              <m:ctrlPr>
                                <a:rPr lang="en-US" altLang="zh-CN" b="0" i="1" smtClean="0">
                                  <a:latin typeface="Cambria Math" charset="0"/>
                                </a:rPr>
                              </m:ctrlPr>
                            </m:fPr>
                            <m:num>
                              <m:sSub>
                                <m:sSubPr>
                                  <m:ctrlPr>
                                    <a:rPr lang="en-US" altLang="zh-CN" b="0" i="1" smtClean="0">
                                      <a:solidFill>
                                        <a:schemeClr val="accent6"/>
                                      </a:solidFill>
                                      <a:latin typeface="Cambria Math" charset="0"/>
                                      <a:ea typeface="Cambria Math" panose="02040503050406030204" pitchFamily="18" charset="0"/>
                                    </a:rPr>
                                  </m:ctrlPr>
                                </m:sSubPr>
                                <m:e>
                                  <m:r>
                                    <m:rPr>
                                      <m:sty m:val="p"/>
                                    </m:rPr>
                                    <a:rPr lang="el-GR" altLang="zh-CN" b="0" i="1" smtClean="0">
                                      <a:solidFill>
                                        <a:schemeClr val="accent6"/>
                                      </a:solidFill>
                                      <a:latin typeface="Cambria Math" panose="02040503050406030204" pitchFamily="18" charset="0"/>
                                      <a:ea typeface="Cambria Math" panose="02040503050406030204" pitchFamily="18" charset="0"/>
                                    </a:rPr>
                                    <m:t>Σ</m:t>
                                  </m:r>
                                </m:e>
                                <m:sub>
                                  <m:r>
                                    <a:rPr lang="en-US" altLang="zh-CN" b="0" i="1" smtClean="0">
                                      <a:solidFill>
                                        <a:schemeClr val="accent6"/>
                                      </a:solidFill>
                                      <a:latin typeface="Cambria Math" panose="02040503050406030204" pitchFamily="18" charset="0"/>
                                      <a:ea typeface="Cambria Math" panose="02040503050406030204" pitchFamily="18" charset="0"/>
                                    </a:rPr>
                                    <m:t>𝑖𝑛</m:t>
                                  </m:r>
                                </m:sub>
                              </m:sSub>
                            </m:num>
                            <m:den>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solidFill>
                                                <a:schemeClr val="accent1"/>
                                              </a:solidFill>
                                              <a:latin typeface="Cambria Math" charset="0"/>
                                              <a:ea typeface="Cambria Math" panose="02040503050406030204" pitchFamily="18" charset="0"/>
                                            </a:rPr>
                                          </m:ctrlPr>
                                        </m:sSubPr>
                                        <m:e>
                                          <m:r>
                                            <m:rPr>
                                              <m:sty m:val="p"/>
                                            </m:rPr>
                                            <a:rPr lang="el-GR" altLang="zh-CN" b="0" i="1" smtClean="0">
                                              <a:solidFill>
                                                <a:schemeClr val="accent1"/>
                                              </a:solidFill>
                                              <a:latin typeface="Cambria Math" panose="02040503050406030204" pitchFamily="18" charset="0"/>
                                              <a:ea typeface="Cambria Math" panose="02040503050406030204" pitchFamily="18" charset="0"/>
                                            </a:rPr>
                                            <m:t>Σ</m:t>
                                          </m:r>
                                        </m:e>
                                        <m:sub>
                                          <m:r>
                                            <a:rPr lang="en-US" altLang="zh-CN" b="0" i="1" smtClean="0">
                                              <a:solidFill>
                                                <a:schemeClr val="accent1"/>
                                              </a:solidFill>
                                              <a:latin typeface="Cambria Math" panose="02040503050406030204" pitchFamily="18" charset="0"/>
                                              <a:ea typeface="Cambria Math" panose="02040503050406030204" pitchFamily="18" charset="0"/>
                                            </a:rPr>
                                            <m:t>𝑡𝑜𝑡</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nary>
                    </m:oMath>
                  </m:oMathPara>
                </a14:m>
                <a:endParaRPr lang="en-US" altLang="zh-CN" b="0" dirty="0"/>
              </a:p>
              <a:p>
                <a:endParaRPr lang="en-US" dirty="0"/>
              </a:p>
            </p:txBody>
          </p:sp>
        </mc:Choice>
        <mc:Fallback xmlns="">
          <p:sp>
            <p:nvSpPr>
              <p:cNvPr id="41" name="TextBox 40">
                <a:extLst>
                  <a:ext uri="{FF2B5EF4-FFF2-40B4-BE49-F238E27FC236}">
                    <a16:creationId xmlns:a16="http://schemas.microsoft.com/office/drawing/2014/main" id="{A96A2CAB-3332-4145-94B9-AEBABE703F06}"/>
                  </a:ext>
                </a:extLst>
              </p:cNvPr>
              <p:cNvSpPr txBox="1">
                <a:spLocks noRot="1" noChangeAspect="1" noMove="1" noResize="1" noEditPoints="1" noAdjustHandles="1" noChangeArrowheads="1" noChangeShapeType="1" noTextEdit="1"/>
              </p:cNvSpPr>
              <p:nvPr/>
            </p:nvSpPr>
            <p:spPr>
              <a:xfrm>
                <a:off x="4337474" y="3621296"/>
                <a:ext cx="2063385" cy="990079"/>
              </a:xfrm>
              <a:prstGeom prst="rect">
                <a:avLst/>
              </a:prstGeom>
              <a:blipFill>
                <a:blip r:embed="rId8"/>
                <a:stretch>
                  <a:fillRect l="-25767" t="-93671" b="-10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 xmlns:a16="http://schemas.microsoft.com/office/drawing/2014/main" id="{6864EAB5-1380-A741-B799-86E2867131E8}"/>
                  </a:ext>
                </a:extLst>
              </p:cNvPr>
              <p:cNvSpPr txBox="1"/>
              <p:nvPr/>
            </p:nvSpPr>
            <p:spPr>
              <a:xfrm>
                <a:off x="6615613" y="3726285"/>
                <a:ext cx="1784744" cy="646331"/>
              </a:xfrm>
              <a:prstGeom prst="rect">
                <a:avLst/>
              </a:prstGeom>
              <a:noFill/>
            </p:spPr>
            <p:txBody>
              <a:bodyPr wrap="square" rtlCol="0">
                <a:spAutoFit/>
              </a:bodyPr>
              <a:lstStyle/>
              <a:p>
                <a:r>
                  <a:rPr lang="zh-CN" altLang="en-US" dirty="0">
                    <a:solidFill>
                      <a:schemeClr val="tx1"/>
                    </a:solidFill>
                    <a:latin typeface="Microsoft YaHei" panose="020B0503020204020204" pitchFamily="34" charset="-122"/>
                    <a:ea typeface="Microsoft YaHei" panose="020B0503020204020204" pitchFamily="34" charset="-122"/>
                  </a:rPr>
                  <a:t>简便起见，引入符号</a:t>
                </a:r>
                <a14:m>
                  <m:oMath xmlns:m="http://schemas.openxmlformats.org/officeDocument/2006/math">
                    <m:sSub>
                      <m:sSubPr>
                        <m:ctrlPr>
                          <a:rPr lang="en-US" altLang="zh-CN" i="1">
                            <a:solidFill>
                              <a:schemeClr val="tx1"/>
                            </a:solidFill>
                            <a:latin typeface="Cambria Math" charset="0"/>
                            <a:ea typeface="Cambria Math" panose="02040503050406030204" pitchFamily="18" charset="0"/>
                          </a:rPr>
                        </m:ctrlPr>
                      </m:sSubPr>
                      <m:e>
                        <m:r>
                          <m:rPr>
                            <m:sty m:val="p"/>
                          </m:rPr>
                          <a:rPr lang="el-GR" altLang="zh-CN" i="1">
                            <a:solidFill>
                              <a:schemeClr val="tx1"/>
                            </a:solidFill>
                            <a:latin typeface="Cambria Math" panose="02040503050406030204" pitchFamily="18" charset="0"/>
                            <a:ea typeface="Cambria Math" panose="02040503050406030204" pitchFamily="18" charset="0"/>
                          </a:rPr>
                          <m:t>Σ</m:t>
                        </m:r>
                      </m:e>
                      <m:sub>
                        <m:r>
                          <a:rPr lang="en-US" altLang="zh-CN" i="1">
                            <a:solidFill>
                              <a:schemeClr val="tx1"/>
                            </a:solidFill>
                            <a:latin typeface="Cambria Math" panose="02040503050406030204" pitchFamily="18" charset="0"/>
                            <a:ea typeface="Cambria Math" panose="02040503050406030204" pitchFamily="18" charset="0"/>
                          </a:rPr>
                          <m:t>𝑖𝑛</m:t>
                        </m:r>
                      </m:sub>
                    </m:sSub>
                  </m:oMath>
                </a14:m>
                <a:r>
                  <a:rPr lang="zh-CN" altLang="en-US" dirty="0">
                    <a:solidFill>
                      <a:schemeClr val="tx1"/>
                    </a:solidFill>
                    <a:latin typeface="Microsoft YaHei" panose="020B0503020204020204" pitchFamily="34" charset="-122"/>
                    <a:ea typeface="Microsoft YaHei" panose="020B0503020204020204" pitchFamily="34" charset="-122"/>
                  </a:rPr>
                  <a:t>和</a:t>
                </a:r>
                <a14:m>
                  <m:oMath xmlns:m="http://schemas.openxmlformats.org/officeDocument/2006/math">
                    <m:sSub>
                      <m:sSubPr>
                        <m:ctrlPr>
                          <a:rPr lang="en-US" altLang="zh-CN" i="1">
                            <a:solidFill>
                              <a:schemeClr val="tx1"/>
                            </a:solidFill>
                            <a:latin typeface="Cambria Math" charset="0"/>
                            <a:ea typeface="Cambria Math" panose="02040503050406030204" pitchFamily="18" charset="0"/>
                          </a:rPr>
                        </m:ctrlPr>
                      </m:sSubPr>
                      <m:e>
                        <m:r>
                          <m:rPr>
                            <m:sty m:val="p"/>
                          </m:rPr>
                          <a:rPr lang="el-GR" altLang="zh-CN" i="1">
                            <a:solidFill>
                              <a:schemeClr val="tx1"/>
                            </a:solidFill>
                            <a:latin typeface="Cambria Math" panose="02040503050406030204" pitchFamily="18" charset="0"/>
                            <a:ea typeface="Cambria Math" panose="02040503050406030204" pitchFamily="18" charset="0"/>
                          </a:rPr>
                          <m:t>Σ</m:t>
                        </m:r>
                      </m:e>
                      <m:sub>
                        <m:r>
                          <a:rPr lang="en-US" altLang="zh-CN" i="1">
                            <a:solidFill>
                              <a:schemeClr val="tx1"/>
                            </a:solidFill>
                            <a:latin typeface="Cambria Math" panose="02040503050406030204" pitchFamily="18" charset="0"/>
                            <a:ea typeface="Cambria Math" panose="02040503050406030204" pitchFamily="18" charset="0"/>
                          </a:rPr>
                          <m:t>𝑡𝑜𝑡</m:t>
                        </m:r>
                      </m:sub>
                    </m:sSub>
                  </m:oMath>
                </a14:m>
                <a:endParaRPr lang="en-US" dirty="0">
                  <a:solidFill>
                    <a:schemeClr val="tx1"/>
                  </a:solidFill>
                  <a:latin typeface="Microsoft YaHei" panose="020B0503020204020204" pitchFamily="34" charset="-122"/>
                  <a:ea typeface="Microsoft YaHei" panose="020B0503020204020204" pitchFamily="34" charset="-122"/>
                </a:endParaRPr>
              </a:p>
            </p:txBody>
          </p:sp>
        </mc:Choice>
        <mc:Fallback xmlns="">
          <p:sp>
            <p:nvSpPr>
              <p:cNvPr id="42" name="TextBox 41">
                <a:extLst>
                  <a:ext uri="{FF2B5EF4-FFF2-40B4-BE49-F238E27FC236}">
                    <a16:creationId xmlns:a16="http://schemas.microsoft.com/office/drawing/2014/main" id="{6864EAB5-1380-A741-B799-86E2867131E8}"/>
                  </a:ext>
                </a:extLst>
              </p:cNvPr>
              <p:cNvSpPr txBox="1">
                <a:spLocks noRot="1" noChangeAspect="1" noMove="1" noResize="1" noEditPoints="1" noAdjustHandles="1" noChangeArrowheads="1" noChangeShapeType="1" noTextEdit="1"/>
              </p:cNvSpPr>
              <p:nvPr/>
            </p:nvSpPr>
            <p:spPr>
              <a:xfrm>
                <a:off x="6615613" y="3726285"/>
                <a:ext cx="1784744" cy="646331"/>
              </a:xfrm>
              <a:prstGeom prst="rect">
                <a:avLst/>
              </a:prstGeom>
              <a:blipFill>
                <a:blip r:embed="rId9"/>
                <a:stretch>
                  <a:fillRect l="-2837" t="-1923" r="-2837" b="-13462"/>
                </a:stretch>
              </a:blipFill>
            </p:spPr>
            <p:txBody>
              <a:bodyPr/>
              <a:lstStyle/>
              <a:p>
                <a:r>
                  <a:rPr lang="en-US">
                    <a:noFill/>
                  </a:rPr>
                  <a:t> </a:t>
                </a:r>
              </a:p>
            </p:txBody>
          </p:sp>
        </mc:Fallback>
      </mc:AlternateContent>
      <p:sp>
        <p:nvSpPr>
          <p:cNvPr id="44" name="Line Callout 1 43">
            <a:extLst>
              <a:ext uri="{FF2B5EF4-FFF2-40B4-BE49-F238E27FC236}">
                <a16:creationId xmlns="" xmlns:a16="http://schemas.microsoft.com/office/drawing/2014/main" id="{7D85C1F9-D019-9D4C-A648-F016707C260D}"/>
              </a:ext>
            </a:extLst>
          </p:cNvPr>
          <p:cNvSpPr/>
          <p:nvPr/>
        </p:nvSpPr>
        <p:spPr>
          <a:xfrm>
            <a:off x="7328699" y="2196102"/>
            <a:ext cx="1761950" cy="659092"/>
          </a:xfrm>
          <a:prstGeom prst="borderCallout1">
            <a:avLst>
              <a:gd name="adj1" fmla="val 48478"/>
              <a:gd name="adj2" fmla="val -4354"/>
              <a:gd name="adj3" fmla="val 107615"/>
              <a:gd name="adj4" fmla="val -8109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dirty="0"/>
              <a:t>因为本图中无自环边，可做简化</a:t>
            </a:r>
            <a:endParaRPr lang="en-US" sz="1600" dirty="0"/>
          </a:p>
        </p:txBody>
      </p:sp>
    </p:spTree>
    <p:extLst>
      <p:ext uri="{BB962C8B-B14F-4D97-AF65-F5344CB8AC3E}">
        <p14:creationId xmlns:p14="http://schemas.microsoft.com/office/powerpoint/2010/main" val="1127105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算法的基本思想</a:t>
                </a:r>
                <a:endParaRPr lang="en-US" altLang="zh-CN" dirty="0"/>
              </a:p>
              <a:p>
                <a:endParaRPr lang="en-US" dirty="0"/>
              </a:p>
              <a:p>
                <a:endParaRPr lang="en-US" dirty="0"/>
              </a:p>
              <a:p>
                <a:r>
                  <a:rPr lang="zh-CN" altLang="en-US" dirty="0"/>
                  <a:t>算法的优点</a:t>
                </a:r>
                <a:endParaRPr lang="en-US" altLang="zh-CN" dirty="0"/>
              </a:p>
              <a:p>
                <a:pPr lvl="1"/>
                <a:r>
                  <a:rPr lang="zh-CN" altLang="en-US" dirty="0"/>
                  <a:t>快：时间复杂性</a:t>
                </a:r>
                <a14:m>
                  <m:oMath xmlns:m="http://schemas.openxmlformats.org/officeDocument/2006/math">
                    <m:r>
                      <a:rPr lang="en-US" altLang="zh-CN" b="0" i="1" dirty="0" smtClean="0">
                        <a:latin typeface="Cambria Math" charset="0"/>
                      </a:rPr>
                      <m:t>𝑂</m:t>
                    </m:r>
                    <m:r>
                      <a:rPr lang="en-US" altLang="zh-CN" b="0" i="1" dirty="0" smtClean="0">
                        <a:latin typeface="Cambria Math" charset="0"/>
                      </a:rPr>
                      <m:t>(</m:t>
                    </m:r>
                    <m:r>
                      <a:rPr lang="en-US" altLang="zh-CN" b="0" i="1" dirty="0" smtClean="0">
                        <a:latin typeface="Cambria Math" charset="0"/>
                      </a:rPr>
                      <m:t>𝑛</m:t>
                    </m:r>
                    <m:r>
                      <a:rPr lang="zh-CN" altLang="en-US" b="0" i="0" dirty="0" smtClean="0">
                        <a:latin typeface="Cambria Math" charset="0"/>
                      </a:rPr>
                      <m:t> </m:t>
                    </m:r>
                    <m:r>
                      <m:rPr>
                        <m:sty m:val="p"/>
                      </m:rPr>
                      <a:rPr lang="en-US" altLang="zh-CN" b="0" i="0" dirty="0" smtClean="0">
                        <a:latin typeface="Cambria Math" charset="0"/>
                      </a:rPr>
                      <m:t>log</m:t>
                    </m:r>
                    <m:r>
                      <a:rPr lang="en-US" altLang="zh-CN" b="0" i="1" dirty="0" smtClean="0">
                        <a:latin typeface="Cambria Math" charset="0"/>
                      </a:rPr>
                      <m:t>𝑛</m:t>
                    </m:r>
                    <m:r>
                      <a:rPr lang="en-US" altLang="zh-CN" b="0" i="1" dirty="0" smtClean="0">
                        <a:latin typeface="Cambria Math" charset="0"/>
                      </a:rPr>
                      <m:t>)</m:t>
                    </m:r>
                  </m:oMath>
                </a14:m>
                <a:endParaRPr lang="en-US" dirty="0"/>
              </a:p>
              <a:p>
                <a:pPr lvl="1"/>
                <a:r>
                  <a:rPr lang="zh-CN" altLang="en-US" dirty="0"/>
                  <a:t>好：在很多真实网络上能够得到较高的</a:t>
                </a:r>
                <a:r>
                  <a:rPr lang="en-US" altLang="zh-CN" dirty="0">
                    <a:latin typeface="Calibri" charset="0"/>
                    <a:ea typeface="Calibri" charset="0"/>
                    <a:cs typeface="Calibri" charset="0"/>
                  </a:rPr>
                  <a:t>Modularity</a:t>
                </a:r>
              </a:p>
              <a:p>
                <a:pPr lvl="1"/>
                <a:r>
                  <a:rPr lang="zh-CN" altLang="en-US" dirty="0"/>
                  <a:t>支持边上有权重的图</a:t>
                </a:r>
                <a:endParaRPr lang="en-US" altLang="zh-CN" dirty="0"/>
              </a:p>
              <a:p>
                <a:pPr lvl="1"/>
                <a:r>
                  <a:rPr lang="zh-CN" altLang="en-US" dirty="0"/>
                  <a:t>提供层次化的划分</a:t>
                </a:r>
                <a:endParaRPr lang="en-US" altLang="zh-CN"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sp>
        <p:nvSpPr>
          <p:cNvPr id="4" name="Rectangle 3"/>
          <p:cNvSpPr/>
          <p:nvPr/>
        </p:nvSpPr>
        <p:spPr>
          <a:xfrm>
            <a:off x="1895340" y="1335531"/>
            <a:ext cx="5353319" cy="461665"/>
          </a:xfrm>
          <a:prstGeom prst="rect">
            <a:avLst/>
          </a:prstGeom>
        </p:spPr>
        <p:txBody>
          <a:bodyPr wrap="square">
            <a:spAutoFit/>
          </a:bodyPr>
          <a:lstStyle/>
          <a:p>
            <a:pPr algn="ctr">
              <a:spcBef>
                <a:spcPct val="20000"/>
              </a:spcBef>
            </a:pPr>
            <a:r>
              <a:rPr lang="zh-CN" altLang="en-US" sz="2400" dirty="0">
                <a:solidFill>
                  <a:srgbClr val="AE0627"/>
                </a:solidFill>
                <a:latin typeface="Microsoft YaHei" charset="-122"/>
                <a:ea typeface="Microsoft YaHei" charset="-122"/>
                <a:cs typeface="Microsoft YaHei" charset="-122"/>
              </a:rPr>
              <a:t>通过贪心法最大化</a:t>
            </a:r>
            <a:r>
              <a:rPr lang="en-US" altLang="zh-CN" sz="2400" dirty="0">
                <a:solidFill>
                  <a:srgbClr val="AE0627"/>
                </a:solidFill>
                <a:latin typeface="Microsoft YaHei" charset="-122"/>
                <a:ea typeface="Microsoft YaHei" charset="-122"/>
                <a:cs typeface="Microsoft YaHei" charset="-122"/>
              </a:rPr>
              <a:t>Modularity</a:t>
            </a:r>
            <a:endParaRPr lang="en-US" altLang="zh-CN" sz="24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7947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p:sp>
        <p:nvSpPr>
          <p:cNvPr id="3" name="Content Placeholder 2"/>
          <p:cNvSpPr>
            <a:spLocks noGrp="1"/>
          </p:cNvSpPr>
          <p:nvPr>
            <p:ph idx="1"/>
          </p:nvPr>
        </p:nvSpPr>
        <p:spPr>
          <a:xfrm>
            <a:off x="457200" y="1179444"/>
            <a:ext cx="2911146" cy="3417679"/>
          </a:xfrm>
        </p:spPr>
        <p:txBody>
          <a:bodyPr/>
          <a:lstStyle/>
          <a:p>
            <a:r>
              <a:rPr lang="zh-CN" altLang="en-US" dirty="0"/>
              <a:t>算法的基本思想</a:t>
            </a:r>
            <a:endParaRPr lang="en-US" altLang="zh-CN" dirty="0"/>
          </a:p>
          <a:p>
            <a:pPr marL="800100" lvl="1" indent="-342900">
              <a:buFont typeface="+mj-lt"/>
              <a:buAutoNum type="arabicPeriod"/>
            </a:pPr>
            <a:r>
              <a:rPr lang="en-US" altLang="zh-CN" b="1" dirty="0" err="1">
                <a:solidFill>
                  <a:srgbClr val="C00000"/>
                </a:solidFill>
                <a:latin typeface="Courier New" charset="0"/>
                <a:ea typeface="Courier New" charset="0"/>
                <a:cs typeface="Courier New" charset="0"/>
              </a:rPr>
              <a:t>init</a:t>
            </a:r>
            <a:endParaRPr lang="en-US" altLang="zh-CN" b="1" dirty="0">
              <a:solidFill>
                <a:srgbClr val="C00000"/>
              </a:solidFill>
              <a:latin typeface="Courier New" charset="0"/>
              <a:ea typeface="Courier New" charset="0"/>
              <a:cs typeface="Courier New" charset="0"/>
            </a:endParaRPr>
          </a:p>
          <a:p>
            <a:pPr marL="800100" lvl="1" indent="-342900">
              <a:buFont typeface="+mj-lt"/>
              <a:buAutoNum type="arabicPeriod"/>
            </a:pPr>
            <a:r>
              <a:rPr lang="en-US" altLang="zh-CN" b="1" dirty="0" err="1">
                <a:solidFill>
                  <a:srgbClr val="C00000"/>
                </a:solidFill>
                <a:latin typeface="Courier New" charset="0"/>
                <a:ea typeface="Courier New" charset="0"/>
                <a:cs typeface="Courier New" charset="0"/>
              </a:rPr>
              <a:t>one_level</a:t>
            </a:r>
            <a:endParaRPr lang="en-US" altLang="zh-CN" b="1" dirty="0">
              <a:solidFill>
                <a:srgbClr val="C00000"/>
              </a:solidFill>
              <a:latin typeface="Courier New" charset="0"/>
              <a:ea typeface="Courier New" charset="0"/>
              <a:cs typeface="Courier New" charset="0"/>
            </a:endParaRPr>
          </a:p>
          <a:p>
            <a:pPr marL="800100" lvl="1" indent="-342900">
              <a:buFont typeface="+mj-lt"/>
              <a:buAutoNum type="arabicPeriod"/>
            </a:pPr>
            <a:r>
              <a:rPr lang="en-US" altLang="zh-CN" b="1" dirty="0" err="1">
                <a:solidFill>
                  <a:srgbClr val="C00000"/>
                </a:solidFill>
                <a:latin typeface="Courier New" charset="0"/>
                <a:ea typeface="Courier New" charset="0"/>
                <a:cs typeface="Courier New" charset="0"/>
              </a:rPr>
              <a:t>induced_graph</a:t>
            </a:r>
            <a:endParaRPr lang="en-US" dirty="0"/>
          </a:p>
        </p:txBody>
      </p:sp>
      <p:cxnSp>
        <p:nvCxnSpPr>
          <p:cNvPr id="5" name="Elbow Connector 4"/>
          <p:cNvCxnSpPr/>
          <p:nvPr/>
        </p:nvCxnSpPr>
        <p:spPr>
          <a:xfrm rot="10800000">
            <a:off x="2071798" y="1639957"/>
            <a:ext cx="781879" cy="543339"/>
          </a:xfrm>
          <a:prstGeom prst="bentConnector3">
            <a:avLst>
              <a:gd name="adj1" fmla="val -847"/>
            </a:avLst>
          </a:prstGeom>
          <a:ln>
            <a:tailEnd type="triangle"/>
          </a:ln>
        </p:spPr>
        <p:style>
          <a:lnRef idx="2">
            <a:schemeClr val="accent2"/>
          </a:lnRef>
          <a:fillRef idx="0">
            <a:schemeClr val="accent2"/>
          </a:fillRef>
          <a:effectRef idx="1">
            <a:schemeClr val="accent2"/>
          </a:effectRef>
          <a:fontRef idx="minor">
            <a:schemeClr val="tx1"/>
          </a:fontRef>
        </p:style>
      </p:cxn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8346" y="1179445"/>
            <a:ext cx="5534507" cy="3193772"/>
          </a:xfrm>
          <a:prstGeom prst="rect">
            <a:avLst/>
          </a:prstGeom>
        </p:spPr>
      </p:pic>
      <p:sp>
        <p:nvSpPr>
          <p:cNvPr id="11" name="Rectangle 10"/>
          <p:cNvSpPr/>
          <p:nvPr/>
        </p:nvSpPr>
        <p:spPr>
          <a:xfrm>
            <a:off x="457200" y="3187148"/>
            <a:ext cx="2663687" cy="830997"/>
          </a:xfrm>
          <a:prstGeom prst="rect">
            <a:avLst/>
          </a:prstGeom>
        </p:spPr>
        <p:txBody>
          <a:bodyPr wrap="square">
            <a:spAutoFit/>
          </a:bodyPr>
          <a:lstStyle/>
          <a:p>
            <a:pPr algn="ctr">
              <a:spcBef>
                <a:spcPct val="20000"/>
              </a:spcBef>
            </a:pPr>
            <a:r>
              <a:rPr lang="zh-CN" altLang="en-US" sz="2400" dirty="0">
                <a:solidFill>
                  <a:srgbClr val="AE0627"/>
                </a:solidFill>
                <a:latin typeface="微软雅黑" panose="020B0503020204020204" pitchFamily="34" charset="-122"/>
                <a:ea typeface="微软雅黑" panose="020B0503020204020204" pitchFamily="34" charset="-122"/>
              </a:rPr>
              <a:t>请写</a:t>
            </a:r>
            <a:r>
              <a:rPr lang="zh-CN" altLang="en-US" sz="2400">
                <a:solidFill>
                  <a:srgbClr val="AE0627"/>
                </a:solidFill>
                <a:latin typeface="微软雅黑" panose="020B0503020204020204" pitchFamily="34" charset="-122"/>
                <a:ea typeface="微软雅黑" panose="020B0503020204020204" pitchFamily="34" charset="-122"/>
              </a:rPr>
              <a:t>出检测出的层次化社区结构</a:t>
            </a:r>
            <a:endParaRPr lang="en-US" altLang="zh-CN" sz="24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6733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zh-CN" dirty="0"/>
                  <a:t>Phase 1</a:t>
                </a:r>
                <a:r>
                  <a:rPr lang="zh-CN" altLang="zh-CN" dirty="0"/>
                  <a:t>：以局部方式，优化模块度函数，将每个顶点归到</a:t>
                </a:r>
                <a:r>
                  <a:rPr lang="en-US" altLang="zh-CN" dirty="0"/>
                  <a:t>“</a:t>
                </a:r>
                <a:r>
                  <a:rPr lang="zh-CN" altLang="zh-CN" dirty="0"/>
                  <a:t>最好</a:t>
                </a:r>
                <a:r>
                  <a:rPr lang="en-US" altLang="zh-CN" dirty="0"/>
                  <a:t>”</a:t>
                </a:r>
                <a:r>
                  <a:rPr lang="zh-CN" altLang="zh-CN" dirty="0"/>
                  <a:t>的类簇中，直到所有的顶点所属的类簇不再变化为止</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one_level</a:t>
                </a:r>
                <a:endParaRPr lang="en-US" altLang="zh-CN" b="1" dirty="0">
                  <a:solidFill>
                    <a:srgbClr val="C00000"/>
                  </a:solidFill>
                  <a:latin typeface="Courier New" charset="0"/>
                  <a:ea typeface="Courier New" charset="0"/>
                  <a:cs typeface="Courier New" charset="0"/>
                </a:endParaRPr>
              </a:p>
              <a:p>
                <a:pPr lvl="1"/>
                <a:r>
                  <a:rPr lang="zh-CN" altLang="en-US" dirty="0">
                    <a:latin typeface="Microsoft YaHei" charset="-122"/>
                    <a:ea typeface="Microsoft YaHei" charset="-122"/>
                    <a:cs typeface="Microsoft YaHei" charset="-122"/>
                  </a:rPr>
                  <a:t>计算将节点</a:t>
                </a:r>
                <a14:m>
                  <m:oMath xmlns:m="http://schemas.openxmlformats.org/officeDocument/2006/math">
                    <m:r>
                      <a:rPr lang="en-US" altLang="zh-CN" i="1" dirty="0" smtClean="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合并到邻居</a:t>
                </a:r>
                <a14:m>
                  <m:oMath xmlns:m="http://schemas.openxmlformats.org/officeDocument/2006/math">
                    <m:r>
                      <a:rPr lang="en-US" altLang="zh-CN" i="1" dirty="0" smtClean="0">
                        <a:latin typeface="Cambria Math" charset="0"/>
                        <a:ea typeface="Microsoft YaHei" charset="-122"/>
                        <a:cs typeface="Microsoft YaHei" charset="-122"/>
                      </a:rPr>
                      <m:t>𝑗</m:t>
                    </m:r>
                  </m:oMath>
                </a14:m>
                <a:r>
                  <a:rPr lang="zh-CN" altLang="en-US" dirty="0">
                    <a:latin typeface="Microsoft YaHei" charset="-122"/>
                    <a:ea typeface="Microsoft YaHei" charset="-122"/>
                    <a:cs typeface="Microsoft YaHei" charset="-122"/>
                  </a:rPr>
                  <a:t>所在社区的</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增益</a:t>
                </a:r>
                <a14:m>
                  <m:oMath xmlns:m="http://schemas.openxmlformats.org/officeDocument/2006/math">
                    <m:r>
                      <m:rPr>
                        <m:sty m:val="p"/>
                      </m:rPr>
                      <a:rPr lang="en-US" altLang="zh-CN" b="0"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𝑄</m:t>
                    </m:r>
                  </m:oMath>
                </a14:m>
                <a:endParaRPr lang="en-US"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将节点</a:t>
                </a:r>
                <a14:m>
                  <m:oMath xmlns:m="http://schemas.openxmlformats.org/officeDocument/2006/math">
                    <m:r>
                      <a:rPr lang="en-US" altLang="zh-CN" i="1" dirty="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合并到能够产生最大增益</a:t>
                </a:r>
                <a14:m>
                  <m:oMath xmlns:m="http://schemas.openxmlformats.org/officeDocument/2006/math">
                    <m:r>
                      <m:rPr>
                        <m:sty m:val="p"/>
                      </m:rPr>
                      <a:rPr lang="en-US" altLang="zh-CN">
                        <a:latin typeface="Cambria Math" charset="0"/>
                        <a:ea typeface="Microsoft YaHei" charset="-122"/>
                        <a:cs typeface="Microsoft YaHei" charset="-122"/>
                      </a:rPr>
                      <m:t>Δ</m:t>
                    </m:r>
                    <m:r>
                      <a:rPr lang="en-US" altLang="zh-CN" i="1">
                        <a:latin typeface="Cambria Math" charset="0"/>
                        <a:ea typeface="Microsoft YaHei" charset="-122"/>
                        <a:cs typeface="Microsoft YaHei" charset="-122"/>
                      </a:rPr>
                      <m:t>𝑄</m:t>
                    </m:r>
                  </m:oMath>
                </a14:m>
                <a:r>
                  <a:rPr lang="zh-CN" altLang="en-US" dirty="0">
                    <a:latin typeface="Microsoft YaHei" charset="-122"/>
                    <a:ea typeface="Microsoft YaHei" charset="-122"/>
                    <a:cs typeface="Microsoft YaHei" charset="-122"/>
                  </a:rPr>
                  <a:t>的节点</a:t>
                </a:r>
                <a14:m>
                  <m:oMath xmlns:m="http://schemas.openxmlformats.org/officeDocument/2006/math">
                    <m:r>
                      <a:rPr lang="en-US" altLang="zh-CN" i="1" dirty="0" smtClean="0">
                        <a:latin typeface="Cambria Math" charset="0"/>
                        <a:ea typeface="Microsoft YaHei" charset="-122"/>
                        <a:cs typeface="Microsoft YaHei" charset="-122"/>
                      </a:rPr>
                      <m:t>𝑗</m:t>
                    </m:r>
                  </m:oMath>
                </a14:m>
                <a:r>
                  <a:rPr lang="zh-CN" altLang="en-US" dirty="0">
                    <a:latin typeface="Microsoft YaHei" charset="-122"/>
                    <a:ea typeface="Microsoft YaHei" charset="-122"/>
                    <a:cs typeface="Microsoft YaHei" charset="-122"/>
                  </a:rPr>
                  <a:t>的社区中</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循环执行上述步骤，直到合并操作不再产生</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的增益</a:t>
                </a:r>
                <a:endParaRPr lang="en-US" altLang="zh-CN" dirty="0">
                  <a:latin typeface="Microsoft YaHei" charset="-122"/>
                  <a:ea typeface="Microsoft YaHei" charset="-122"/>
                  <a:cs typeface="Microsoft YaHei" charset="-122"/>
                </a:endParaRPr>
              </a:p>
              <a:p>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spTree>
    <p:extLst>
      <p:ext uri="{BB962C8B-B14F-4D97-AF65-F5344CB8AC3E}">
        <p14:creationId xmlns:p14="http://schemas.microsoft.com/office/powerpoint/2010/main" val="3465952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142172"/>
              </a:xfrm>
            </p:spPr>
            <p:txBody>
              <a:bodyPr/>
              <a:lstStyle/>
              <a:p>
                <a:r>
                  <a:rPr lang="en-US" altLang="zh-CN" dirty="0"/>
                  <a:t>Phase 1</a:t>
                </a:r>
                <a:r>
                  <a:rPr lang="zh-CN" altLang="zh-CN" dirty="0"/>
                  <a:t>：以局部方式，优化模块度函数，将每个顶点归到</a:t>
                </a:r>
                <a:r>
                  <a:rPr lang="en-US" altLang="zh-CN" dirty="0"/>
                  <a:t>“</a:t>
                </a:r>
                <a:r>
                  <a:rPr lang="zh-CN" altLang="zh-CN" dirty="0"/>
                  <a:t>最好</a:t>
                </a:r>
                <a:r>
                  <a:rPr lang="en-US" altLang="zh-CN" dirty="0"/>
                  <a:t>”</a:t>
                </a:r>
                <a:r>
                  <a:rPr lang="zh-CN" altLang="zh-CN" dirty="0"/>
                  <a:t>的类簇中，直到所有的顶点所属的类簇不再变化为止</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one_level</a:t>
                </a:r>
                <a:endParaRPr lang="en-US" dirty="0"/>
              </a:p>
              <a:p>
                <a:r>
                  <a:rPr lang="zh-CN" altLang="en-US" dirty="0">
                    <a:latin typeface="Microsoft YaHei" charset="-122"/>
                    <a:ea typeface="Microsoft YaHei" charset="-122"/>
                    <a:cs typeface="Microsoft YaHei" charset="-122"/>
                  </a:rPr>
                  <a:t>如何计算将</a:t>
                </a:r>
                <a14:m>
                  <m:oMath xmlns:m="http://schemas.openxmlformats.org/officeDocument/2006/math">
                    <m:r>
                      <a:rPr lang="en-US" altLang="zh-CN" i="1" dirty="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合并到社区</a:t>
                </a:r>
                <a14:m>
                  <m:oMath xmlns:m="http://schemas.openxmlformats.org/officeDocument/2006/math">
                    <m:r>
                      <a:rPr lang="en-US" altLang="zh-CN" i="1" dirty="0">
                        <a:latin typeface="Cambria Math" charset="0"/>
                        <a:ea typeface="Microsoft YaHei" charset="-122"/>
                        <a:cs typeface="Microsoft YaHei" charset="-122"/>
                      </a:rPr>
                      <m:t>𝐶</m:t>
                    </m:r>
                  </m:oMath>
                </a14:m>
                <a:r>
                  <a:rPr lang="zh-CN" altLang="en-US" dirty="0">
                    <a:latin typeface="Microsoft YaHei" charset="-122"/>
                    <a:ea typeface="Microsoft YaHei" charset="-122"/>
                    <a:cs typeface="Microsoft YaHei" charset="-122"/>
                  </a:rPr>
                  <a:t>中的</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增益</a:t>
                </a:r>
                <a14:m>
                  <m:oMath xmlns:m="http://schemas.openxmlformats.org/officeDocument/2006/math">
                    <m:r>
                      <m:rPr>
                        <m:sty m:val="p"/>
                      </m:rPr>
                      <a:rPr lang="en-US" altLang="zh-CN">
                        <a:latin typeface="Cambria Math" charset="0"/>
                        <a:ea typeface="Microsoft YaHei" charset="-122"/>
                        <a:cs typeface="Microsoft YaHei" charset="-122"/>
                      </a:rPr>
                      <m:t>Δ</m:t>
                    </m:r>
                    <m:r>
                      <a:rPr lang="en-US" altLang="zh-CN" i="1">
                        <a:latin typeface="Cambria Math" charset="0"/>
                        <a:ea typeface="Microsoft YaHei" charset="-122"/>
                        <a:cs typeface="Microsoft YaHei" charset="-122"/>
                      </a:rPr>
                      <m:t>𝑄</m:t>
                    </m:r>
                  </m:oMath>
                </a14:m>
                <a:r>
                  <a:rPr lang="zh-CN" altLang="en-US" dirty="0">
                    <a:latin typeface="Microsoft YaHei" charset="-122"/>
                    <a:ea typeface="Microsoft YaHei" charset="-122"/>
                    <a:cs typeface="Microsoft YaHei" charset="-122"/>
                  </a:rPr>
                  <a:t>？</a:t>
                </a:r>
                <a:endParaRPr lang="en-US" dirty="0">
                  <a:latin typeface="Microsoft YaHei" charset="-122"/>
                  <a:ea typeface="Microsoft YaHei" charset="-122"/>
                  <a:cs typeface="Microsoft YaHei" charset="-122"/>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142172"/>
              </a:xfrm>
              <a:blipFill>
                <a:blip r:embed="rId3"/>
                <a:stretch>
                  <a:fillRect l="-617" t="-3333"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63E34350-1640-614E-8C39-2EF232864567}"/>
                  </a:ext>
                </a:extLst>
              </p:cNvPr>
              <p:cNvSpPr txBox="1"/>
              <p:nvPr/>
            </p:nvSpPr>
            <p:spPr>
              <a:xfrm>
                <a:off x="883715" y="3358938"/>
                <a:ext cx="7246792" cy="650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Δ</m:t>
                      </m:r>
                      <m:r>
                        <a:rPr lang="en-US" altLang="zh-CN" b="0" i="1" smtClean="0">
                          <a:latin typeface="Cambria Math" panose="02040503050406030204" pitchFamily="18" charset="0"/>
                        </a:rPr>
                        <m:t>𝑄</m:t>
                      </m:r>
                      <m:d>
                        <m:dPr>
                          <m:ctrlPr>
                            <a:rPr lang="en-US" altLang="zh-CN" b="0" i="1" smtClean="0">
                              <a:latin typeface="Cambria Math"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𝐶</m:t>
                          </m:r>
                        </m:e>
                      </m:d>
                      <m:r>
                        <a:rPr lang="en-US" altLang="zh-CN" b="0" i="1" smtClean="0">
                          <a:latin typeface="Cambria Math" panose="02040503050406030204" pitchFamily="18" charset="0"/>
                        </a:rPr>
                        <m:t>=</m:t>
                      </m:r>
                      <m:d>
                        <m:dPr>
                          <m:begChr m:val="{"/>
                          <m:endChr m:val="}"/>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latin typeface="Cambria Math" charset="0"/>
                                      <a:ea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Σ</m:t>
                                  </m:r>
                                </m:e>
                                <m:sub>
                                  <m:r>
                                    <a:rPr lang="en-US" altLang="zh-CN" b="0" i="1" smtClean="0">
                                      <a:latin typeface="Cambria Math" panose="02040503050406030204" pitchFamily="18" charset="0"/>
                                      <a:ea typeface="Cambria Math" panose="02040503050406030204" pitchFamily="18" charset="0"/>
                                    </a:rPr>
                                    <m:t>𝑖𝑛</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𝑘</m:t>
                                  </m:r>
                                </m:e>
                                <m:sub>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𝑖𝑛</m:t>
                                  </m:r>
                                </m:sub>
                              </m:sSub>
                            </m:num>
                            <m:den>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latin typeface="Cambria Math" charset="0"/>
                                              <a:ea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Σ</m:t>
                                          </m:r>
                                        </m:e>
                                        <m:sub>
                                          <m:r>
                                            <a:rPr lang="en-US" altLang="zh-CN" b="0" i="1" smtClean="0">
                                              <a:latin typeface="Cambria Math" panose="02040503050406030204" pitchFamily="18" charset="0"/>
                                              <a:ea typeface="Cambria Math" panose="02040503050406030204" pitchFamily="18" charset="0"/>
                                            </a:rPr>
                                            <m:t>𝑡𝑜𝑡</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𝑘</m:t>
                                          </m:r>
                                        </m:e>
                                        <m:sub>
                                          <m:r>
                                            <a:rPr lang="en-US" altLang="zh-CN" b="0" i="1" smtClean="0">
                                              <a:latin typeface="Cambria Math" panose="02040503050406030204" pitchFamily="18" charset="0"/>
                                              <a:ea typeface="Cambria Math" panose="02040503050406030204" pitchFamily="18" charset="0"/>
                                            </a:rPr>
                                            <m:t>𝑖</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d>
                      <m:r>
                        <a:rPr lang="en-US" altLang="zh-CN" b="0" i="1" smtClean="0">
                          <a:latin typeface="Cambria Math" panose="02040503050406030204" pitchFamily="18" charset="0"/>
                        </a:rPr>
                        <m:t>−</m:t>
                      </m:r>
                      <m:d>
                        <m:dPr>
                          <m:begChr m:val="{"/>
                          <m:endChr m:val="}"/>
                          <m:ctrlPr>
                            <a:rPr lang="en-US" altLang="zh-CN" i="1">
                              <a:latin typeface="Cambria Math" charset="0"/>
                            </a:rPr>
                          </m:ctrlPr>
                        </m:dPr>
                        <m:e>
                          <m:f>
                            <m:fPr>
                              <m:ctrlPr>
                                <a:rPr lang="en-US" altLang="zh-CN" i="1">
                                  <a:latin typeface="Cambria Math" charset="0"/>
                                </a:rPr>
                              </m:ctrlPr>
                            </m:fPr>
                            <m:num>
                              <m:sSub>
                                <m:sSubPr>
                                  <m:ctrlPr>
                                    <a:rPr lang="en-US" altLang="zh-CN" i="1">
                                      <a:latin typeface="Cambria Math" charset="0"/>
                                      <a:ea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ea typeface="Cambria Math" panose="02040503050406030204" pitchFamily="18" charset="0"/>
                                    </a:rPr>
                                    <m:t>𝑖𝑛</m:t>
                                  </m:r>
                                </m:sub>
                              </m:sSub>
                            </m:num>
                            <m:den>
                              <m:r>
                                <a:rPr lang="en-US" altLang="zh-CN" i="1">
                                  <a:latin typeface="Cambria Math" panose="02040503050406030204" pitchFamily="18" charset="0"/>
                                </a:rPr>
                                <m:t>𝑚</m:t>
                              </m:r>
                            </m:den>
                          </m:f>
                          <m:r>
                            <a:rPr lang="en-US" altLang="zh-CN" i="1">
                              <a:latin typeface="Cambria Math" panose="02040503050406030204" pitchFamily="18" charset="0"/>
                            </a:rPr>
                            <m:t>−</m:t>
                          </m:r>
                          <m:sSup>
                            <m:sSupPr>
                              <m:ctrlPr>
                                <a:rPr lang="en-US" altLang="zh-CN" i="1">
                                  <a:latin typeface="Cambria Math" charset="0"/>
                                </a:rPr>
                              </m:ctrlPr>
                            </m:sSupPr>
                            <m:e>
                              <m:d>
                                <m:dPr>
                                  <m:ctrlPr>
                                    <a:rPr lang="en-US" altLang="zh-CN" i="1">
                                      <a:latin typeface="Cambria Math" charset="0"/>
                                    </a:rPr>
                                  </m:ctrlPr>
                                </m:dPr>
                                <m:e>
                                  <m:f>
                                    <m:fPr>
                                      <m:ctrlPr>
                                        <a:rPr lang="en-US" altLang="zh-CN" i="1">
                                          <a:latin typeface="Cambria Math" charset="0"/>
                                        </a:rPr>
                                      </m:ctrlPr>
                                    </m:fPr>
                                    <m:num>
                                      <m:sSub>
                                        <m:sSubPr>
                                          <m:ctrlPr>
                                            <a:rPr lang="en-US" altLang="zh-CN" i="1">
                                              <a:latin typeface="Cambria Math" charset="0"/>
                                              <a:ea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ea typeface="Cambria Math" panose="02040503050406030204" pitchFamily="18" charset="0"/>
                                            </a:rPr>
                                            <m:t>𝑡𝑜𝑡</m:t>
                                          </m:r>
                                        </m:sub>
                                      </m:sSub>
                                    </m:num>
                                    <m:den>
                                      <m:r>
                                        <a:rPr lang="en-US" altLang="zh-CN" i="1">
                                          <a:latin typeface="Cambria Math" panose="02040503050406030204" pitchFamily="18" charset="0"/>
                                        </a:rPr>
                                        <m:t>2</m:t>
                                      </m:r>
                                      <m:r>
                                        <a:rPr lang="en-US" altLang="zh-CN" i="1">
                                          <a:latin typeface="Cambria Math" panose="02040503050406030204" pitchFamily="18" charset="0"/>
                                        </a:rPr>
                                        <m:t>𝑚</m:t>
                                      </m:r>
                                    </m:den>
                                  </m:f>
                                </m:e>
                              </m:d>
                            </m:e>
                            <m:sup>
                              <m:r>
                                <a:rPr lang="en-US" altLang="zh-CN" i="1">
                                  <a:latin typeface="Cambria Math" panose="02040503050406030204" pitchFamily="18" charset="0"/>
                                </a:rPr>
                                <m:t>2</m:t>
                              </m:r>
                            </m:sup>
                          </m:sSup>
                          <m:r>
                            <a:rPr lang="en-US" altLang="zh-CN" b="0" i="1" smtClean="0">
                              <a:latin typeface="Cambria Math" charset="0"/>
                            </a:rPr>
                            <m:t>+0</m:t>
                          </m:r>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latin typeface="Cambria Math"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d>
                    </m:oMath>
                  </m:oMathPara>
                </a14:m>
                <a:endParaRPr lang="en-US" dirty="0"/>
              </a:p>
            </p:txBody>
          </p:sp>
        </mc:Choice>
        <mc:Fallback xmlns="">
          <p:sp>
            <p:nvSpPr>
              <p:cNvPr id="6" name="TextBox 5">
                <a:extLst>
                  <a:ext uri="{FF2B5EF4-FFF2-40B4-BE49-F238E27FC236}">
                    <a16:creationId xmlns:a16="http://schemas.microsoft.com/office/drawing/2014/main" xmlns="" xmlns:a14="http://schemas.microsoft.com/office/drawing/2010/main" id="{63E34350-1640-614E-8C39-2EF232864567}"/>
                  </a:ext>
                </a:extLst>
              </p:cNvPr>
              <p:cNvSpPr txBox="1">
                <a:spLocks noRot="1" noChangeAspect="1" noMove="1" noResize="1" noEditPoints="1" noAdjustHandles="1" noChangeArrowheads="1" noChangeShapeType="1" noTextEdit="1"/>
              </p:cNvSpPr>
              <p:nvPr/>
            </p:nvSpPr>
            <p:spPr>
              <a:xfrm>
                <a:off x="883715" y="3358938"/>
                <a:ext cx="7246792" cy="650563"/>
              </a:xfrm>
              <a:prstGeom prst="rect">
                <a:avLst/>
              </a:prstGeom>
              <a:blipFill rotWithShape="0">
                <a:blip r:embed="rId4"/>
                <a:stretch>
                  <a:fillRect/>
                </a:stretch>
              </a:blipFill>
            </p:spPr>
            <p:txBody>
              <a:bodyPr/>
              <a:lstStyle/>
              <a:p>
                <a:r>
                  <a:rPr lang="en-US">
                    <a:noFill/>
                  </a:rPr>
                  <a:t> </a:t>
                </a:r>
              </a:p>
            </p:txBody>
          </p:sp>
        </mc:Fallback>
      </mc:AlternateContent>
      <p:sp>
        <p:nvSpPr>
          <p:cNvPr id="7" name="Line Callout 1 6">
            <a:extLst>
              <a:ext uri="{FF2B5EF4-FFF2-40B4-BE49-F238E27FC236}">
                <a16:creationId xmlns="" xmlns:a16="http://schemas.microsoft.com/office/drawing/2014/main" id="{8CD47F22-E13A-B543-B9A1-D0EB112CF9EE}"/>
              </a:ext>
            </a:extLst>
          </p:cNvPr>
          <p:cNvSpPr/>
          <p:nvPr/>
        </p:nvSpPr>
        <p:spPr>
          <a:xfrm>
            <a:off x="3627002" y="2949948"/>
            <a:ext cx="2313529" cy="330302"/>
          </a:xfrm>
          <a:prstGeom prst="borderCallout1">
            <a:avLst>
              <a:gd name="adj1" fmla="val 48478"/>
              <a:gd name="adj2" fmla="val -4354"/>
              <a:gd name="adj3" fmla="val 134796"/>
              <a:gd name="adj4" fmla="val -25335"/>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dirty="0"/>
              <a:t>节点</a:t>
            </a:r>
            <a:r>
              <a:rPr lang="en-US" altLang="zh-CN" dirty="0" err="1"/>
              <a:t>i</a:t>
            </a:r>
            <a:r>
              <a:rPr lang="zh-CN" altLang="en-US" dirty="0"/>
              <a:t>连接到</a:t>
            </a:r>
            <a:r>
              <a:rPr lang="en-US" altLang="zh-CN" dirty="0"/>
              <a:t>C</a:t>
            </a:r>
            <a:r>
              <a:rPr lang="zh-CN" altLang="en-US" dirty="0"/>
              <a:t>的边数</a:t>
            </a:r>
            <a:endParaRPr lang="en-US" dirty="0"/>
          </a:p>
        </p:txBody>
      </p:sp>
      <mc:AlternateContent xmlns:mc="http://schemas.openxmlformats.org/markup-compatibility/2006" xmlns:a14="http://schemas.microsoft.com/office/drawing/2010/main">
        <mc:Choice Requires="a14">
          <p:sp>
            <p:nvSpPr>
              <p:cNvPr id="8" name="Line Callout 1 7">
                <a:extLst>
                  <a:ext uri="{FF2B5EF4-FFF2-40B4-BE49-F238E27FC236}">
                    <a16:creationId xmlns="" xmlns:a16="http://schemas.microsoft.com/office/drawing/2014/main" id="{2E2F308E-5805-E647-995A-942498CB6C2C}"/>
                  </a:ext>
                </a:extLst>
              </p:cNvPr>
              <p:cNvSpPr/>
              <p:nvPr/>
            </p:nvSpPr>
            <p:spPr>
              <a:xfrm>
                <a:off x="7375755" y="4402365"/>
                <a:ext cx="1509504" cy="566115"/>
              </a:xfrm>
              <a:prstGeom prst="borderCallout1">
                <a:avLst>
                  <a:gd name="adj1" fmla="val -31415"/>
                  <a:gd name="adj2" fmla="val 41993"/>
                  <a:gd name="adj3" fmla="val -69408"/>
                  <a:gd name="adj4" fmla="val 3298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dirty="0"/>
                  <a:t>节点</a:t>
                </a:r>
                <a14:m>
                  <m:oMath xmlns:m="http://schemas.openxmlformats.org/officeDocument/2006/math">
                    <m:r>
                      <a:rPr lang="en-US" altLang="zh-CN" i="1" dirty="0" smtClean="0">
                        <a:latin typeface="Cambria Math" panose="02040503050406030204" pitchFamily="18" charset="0"/>
                      </a:rPr>
                      <m:t>𝑖</m:t>
                    </m:r>
                  </m:oMath>
                </a14:m>
                <a:r>
                  <a:rPr lang="zh-CN" altLang="en-US" dirty="0"/>
                  <a:t>的</a:t>
                </a:r>
                <a:r>
                  <a:rPr lang="en-US" altLang="zh-CN" dirty="0"/>
                  <a:t>modularity</a:t>
                </a:r>
                <a:endParaRPr lang="en-US" dirty="0"/>
              </a:p>
            </p:txBody>
          </p:sp>
        </mc:Choice>
        <mc:Fallback xmlns="">
          <p:sp>
            <p:nvSpPr>
              <p:cNvPr id="8" name="Line Callout 1 7">
                <a:extLst>
                  <a:ext uri="{FF2B5EF4-FFF2-40B4-BE49-F238E27FC236}">
                    <a16:creationId xmlns:a16="http://schemas.microsoft.com/office/drawing/2014/main" xmlns="" xmlns:a14="http://schemas.microsoft.com/office/drawing/2010/main" id="{2E2F308E-5805-E647-995A-942498CB6C2C}"/>
                  </a:ext>
                </a:extLst>
              </p:cNvPr>
              <p:cNvSpPr>
                <a:spLocks noRot="1" noChangeAspect="1" noMove="1" noResize="1" noEditPoints="1" noAdjustHandles="1" noChangeArrowheads="1" noChangeShapeType="1" noTextEdit="1"/>
              </p:cNvSpPr>
              <p:nvPr/>
            </p:nvSpPr>
            <p:spPr>
              <a:xfrm>
                <a:off x="7375755" y="4402365"/>
                <a:ext cx="1509504" cy="566115"/>
              </a:xfrm>
              <a:prstGeom prst="borderCallout1">
                <a:avLst>
                  <a:gd name="adj1" fmla="val -31415"/>
                  <a:gd name="adj2" fmla="val 41993"/>
                  <a:gd name="adj3" fmla="val -69408"/>
                  <a:gd name="adj4" fmla="val 32987"/>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19F98B37-091E-3143-BBAE-F0D441626BE0}"/>
                  </a:ext>
                </a:extLst>
              </p:cNvPr>
              <p:cNvSpPr txBox="1"/>
              <p:nvPr/>
            </p:nvSpPr>
            <p:spPr>
              <a:xfrm>
                <a:off x="2006826" y="4151559"/>
                <a:ext cx="2145908" cy="533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𝑚</m:t>
                          </m:r>
                        </m:den>
                      </m:f>
                      <m:d>
                        <m:dPr>
                          <m:begChr m:val="{"/>
                          <m:endChr m:val="}"/>
                          <m:ctrlPr>
                            <a:rPr lang="en-US" altLang="zh-CN" b="0" i="1" smtClean="0">
                              <a:latin typeface="Cambria Math" charset="0"/>
                            </a:rPr>
                          </m:ctrlPr>
                        </m:dPr>
                        <m:e>
                          <m:sSub>
                            <m:sSubPr>
                              <m:ctrlPr>
                                <a:rPr lang="en-US" altLang="zh-CN" i="1" smtClean="0">
                                  <a:solidFill>
                                    <a:srgbClr val="C00000"/>
                                  </a:solidFill>
                                  <a:latin typeface="Cambria Math" charset="0"/>
                                  <a:ea typeface="Cambria Math" panose="02040503050406030204" pitchFamily="18" charset="0"/>
                                </a:rPr>
                              </m:ctrlPr>
                            </m:sSubPr>
                            <m:e>
                              <m:r>
                                <a:rPr lang="en-US" altLang="zh-CN" i="1">
                                  <a:solidFill>
                                    <a:srgbClr val="C00000"/>
                                  </a:solidFill>
                                  <a:latin typeface="Cambria Math" panose="02040503050406030204" pitchFamily="18" charset="0"/>
                                  <a:ea typeface="Cambria Math" panose="02040503050406030204" pitchFamily="18" charset="0"/>
                                </a:rPr>
                                <m:t>𝑘</m:t>
                              </m:r>
                            </m:e>
                            <m:sub>
                              <m:r>
                                <a:rPr lang="en-US" altLang="zh-CN" i="1">
                                  <a:solidFill>
                                    <a:srgbClr val="C00000"/>
                                  </a:solidFill>
                                  <a:latin typeface="Cambria Math" panose="02040503050406030204" pitchFamily="18" charset="0"/>
                                  <a:ea typeface="Cambria Math" panose="02040503050406030204" pitchFamily="18" charset="0"/>
                                </a:rPr>
                                <m:t>𝑖</m:t>
                              </m:r>
                              <m:r>
                                <a:rPr lang="en-US" altLang="zh-CN" i="1">
                                  <a:solidFill>
                                    <a:srgbClr val="C00000"/>
                                  </a:solidFill>
                                  <a:latin typeface="Cambria Math" panose="02040503050406030204" pitchFamily="18" charset="0"/>
                                  <a:ea typeface="Cambria Math" panose="02040503050406030204" pitchFamily="18" charset="0"/>
                                </a:rPr>
                                <m:t>,</m:t>
                              </m:r>
                              <m:r>
                                <a:rPr lang="en-US" altLang="zh-CN" i="1">
                                  <a:solidFill>
                                    <a:srgbClr val="C00000"/>
                                  </a:solidFill>
                                  <a:latin typeface="Cambria Math" panose="02040503050406030204" pitchFamily="18" charset="0"/>
                                  <a:ea typeface="Cambria Math" panose="02040503050406030204" pitchFamily="18" charset="0"/>
                                </a:rPr>
                                <m:t>𝑖𝑛</m:t>
                              </m:r>
                            </m:sub>
                          </m:sSub>
                          <m:r>
                            <a:rPr lang="en-US" altLang="zh-CN" b="0" i="1" smtClean="0">
                              <a:solidFill>
                                <a:srgbClr val="C00000"/>
                              </a:solidFill>
                              <a:latin typeface="Cambria Math" panose="02040503050406030204" pitchFamily="18" charset="0"/>
                            </a:rPr>
                            <m:t>−</m:t>
                          </m:r>
                          <m:f>
                            <m:fPr>
                              <m:ctrlPr>
                                <a:rPr lang="en-US" altLang="zh-CN" i="1">
                                  <a:solidFill>
                                    <a:srgbClr val="C00000"/>
                                  </a:solidFill>
                                  <a:latin typeface="Cambria Math" charset="0"/>
                                </a:rPr>
                              </m:ctrlPr>
                            </m:fPr>
                            <m:num>
                              <m:sSub>
                                <m:sSubPr>
                                  <m:ctrlPr>
                                    <a:rPr lang="en-US" altLang="zh-CN" i="1">
                                      <a:solidFill>
                                        <a:srgbClr val="C00000"/>
                                      </a:solidFill>
                                      <a:latin typeface="Cambria Math" charset="0"/>
                                      <a:ea typeface="Cambria Math" panose="02040503050406030204" pitchFamily="18" charset="0"/>
                                    </a:rPr>
                                  </m:ctrlPr>
                                </m:sSubPr>
                                <m:e>
                                  <m:sSub>
                                    <m:sSubPr>
                                      <m:ctrlPr>
                                        <a:rPr lang="en-US" altLang="zh-CN" i="1">
                                          <a:solidFill>
                                            <a:srgbClr val="C00000"/>
                                          </a:solidFill>
                                          <a:latin typeface="Cambria Math" charset="0"/>
                                          <a:ea typeface="Cambria Math" panose="02040503050406030204" pitchFamily="18" charset="0"/>
                                        </a:rPr>
                                      </m:ctrlPr>
                                    </m:sSubPr>
                                    <m:e>
                                      <m:r>
                                        <a:rPr lang="en-US" altLang="zh-CN" i="1">
                                          <a:solidFill>
                                            <a:srgbClr val="C00000"/>
                                          </a:solidFill>
                                          <a:latin typeface="Cambria Math" panose="02040503050406030204" pitchFamily="18" charset="0"/>
                                          <a:ea typeface="Cambria Math" panose="02040503050406030204" pitchFamily="18" charset="0"/>
                                        </a:rPr>
                                        <m:t>𝑘</m:t>
                                      </m:r>
                                    </m:e>
                                    <m:sub>
                                      <m:r>
                                        <a:rPr lang="en-US" altLang="zh-CN" i="1">
                                          <a:solidFill>
                                            <a:srgbClr val="C00000"/>
                                          </a:solidFill>
                                          <a:latin typeface="Cambria Math" panose="02040503050406030204" pitchFamily="18" charset="0"/>
                                          <a:ea typeface="Cambria Math" panose="02040503050406030204" pitchFamily="18" charset="0"/>
                                        </a:rPr>
                                        <m:t>𝑖</m:t>
                                      </m:r>
                                    </m:sub>
                                  </m:sSub>
                                  <m:r>
                                    <a:rPr lang="en-US" altLang="zh-CN" i="1">
                                      <a:solidFill>
                                        <a:srgbClr val="C00000"/>
                                      </a:solidFill>
                                      <a:latin typeface="Cambria Math" panose="02040503050406030204" pitchFamily="18" charset="0"/>
                                      <a:ea typeface="Cambria Math" panose="02040503050406030204" pitchFamily="18" charset="0"/>
                                    </a:rPr>
                                    <m:t>⋅</m:t>
                                  </m:r>
                                  <m:r>
                                    <m:rPr>
                                      <m:sty m:val="p"/>
                                    </m:rPr>
                                    <a:rPr lang="el-GR" altLang="zh-CN" i="1">
                                      <a:solidFill>
                                        <a:srgbClr val="C00000"/>
                                      </a:solidFill>
                                      <a:latin typeface="Cambria Math" panose="02040503050406030204" pitchFamily="18" charset="0"/>
                                      <a:ea typeface="Cambria Math" panose="02040503050406030204" pitchFamily="18" charset="0"/>
                                    </a:rPr>
                                    <m:t>Σ</m:t>
                                  </m:r>
                                </m:e>
                                <m:sub>
                                  <m:r>
                                    <a:rPr lang="en-US" altLang="zh-CN" i="1">
                                      <a:solidFill>
                                        <a:srgbClr val="C00000"/>
                                      </a:solidFill>
                                      <a:latin typeface="Cambria Math" panose="02040503050406030204" pitchFamily="18" charset="0"/>
                                      <a:ea typeface="Cambria Math" panose="02040503050406030204" pitchFamily="18" charset="0"/>
                                    </a:rPr>
                                    <m:t>𝑡𝑜𝑡</m:t>
                                  </m:r>
                                </m:sub>
                              </m:sSub>
                            </m:num>
                            <m:den>
                              <m:r>
                                <a:rPr lang="en-US" altLang="zh-CN" i="1">
                                  <a:solidFill>
                                    <a:srgbClr val="C00000"/>
                                  </a:solidFill>
                                  <a:latin typeface="Cambria Math" panose="02040503050406030204" pitchFamily="18" charset="0"/>
                                </a:rPr>
                                <m:t>2</m:t>
                              </m:r>
                              <m:r>
                                <a:rPr lang="en-US" altLang="zh-CN" i="1">
                                  <a:solidFill>
                                    <a:srgbClr val="C00000"/>
                                  </a:solidFill>
                                  <a:latin typeface="Cambria Math" panose="02040503050406030204" pitchFamily="18" charset="0"/>
                                </a:rPr>
                                <m:t>𝑚</m:t>
                              </m:r>
                            </m:den>
                          </m:f>
                        </m:e>
                      </m:d>
                    </m:oMath>
                  </m:oMathPara>
                </a14:m>
                <a:endParaRPr lang="en-US" dirty="0"/>
              </a:p>
            </p:txBody>
          </p:sp>
        </mc:Choice>
        <mc:Fallback xmlns="">
          <p:sp>
            <p:nvSpPr>
              <p:cNvPr id="9" name="TextBox 8">
                <a:extLst>
                  <a:ext uri="{FF2B5EF4-FFF2-40B4-BE49-F238E27FC236}">
                    <a16:creationId xmlns:a16="http://schemas.microsoft.com/office/drawing/2014/main" id="{19F98B37-091E-3143-BBAE-F0D441626BE0}"/>
                  </a:ext>
                </a:extLst>
              </p:cNvPr>
              <p:cNvSpPr txBox="1">
                <a:spLocks noRot="1" noChangeAspect="1" noMove="1" noResize="1" noEditPoints="1" noAdjustHandles="1" noChangeArrowheads="1" noChangeShapeType="1" noTextEdit="1"/>
              </p:cNvSpPr>
              <p:nvPr/>
            </p:nvSpPr>
            <p:spPr>
              <a:xfrm>
                <a:off x="2006826" y="4151559"/>
                <a:ext cx="2145908" cy="533864"/>
              </a:xfrm>
              <a:prstGeom prst="rect">
                <a:avLst/>
              </a:prstGeom>
              <a:blipFill>
                <a:blip r:embed="rId6"/>
                <a:stretch>
                  <a:fillRect l="-588" t="-2326" b="-11628"/>
                </a:stretch>
              </a:blipFill>
            </p:spPr>
            <p:txBody>
              <a:bodyPr/>
              <a:lstStyle/>
              <a:p>
                <a:r>
                  <a:rPr lang="en-US">
                    <a:noFill/>
                  </a:rPr>
                  <a:t> </a:t>
                </a:r>
              </a:p>
            </p:txBody>
          </p:sp>
        </mc:Fallback>
      </mc:AlternateContent>
      <p:sp>
        <p:nvSpPr>
          <p:cNvPr id="10" name="Oval 9">
            <a:extLst>
              <a:ext uri="{FF2B5EF4-FFF2-40B4-BE49-F238E27FC236}">
                <a16:creationId xmlns="" xmlns:a16="http://schemas.microsoft.com/office/drawing/2014/main" id="{3A965764-7C45-DD40-BC97-9632DBC8F309}"/>
              </a:ext>
            </a:extLst>
          </p:cNvPr>
          <p:cNvSpPr>
            <a:spLocks noChangeAspect="1"/>
          </p:cNvSpPr>
          <p:nvPr/>
        </p:nvSpPr>
        <p:spPr>
          <a:xfrm>
            <a:off x="934360" y="2115178"/>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1</a:t>
            </a:r>
            <a:endParaRPr lang="en-US" dirty="0"/>
          </a:p>
        </p:txBody>
      </p:sp>
      <p:sp>
        <p:nvSpPr>
          <p:cNvPr id="11" name="Oval 10">
            <a:extLst>
              <a:ext uri="{FF2B5EF4-FFF2-40B4-BE49-F238E27FC236}">
                <a16:creationId xmlns="" xmlns:a16="http://schemas.microsoft.com/office/drawing/2014/main" id="{60E38220-AA76-8C42-9F76-787A0E34DEF7}"/>
              </a:ext>
            </a:extLst>
          </p:cNvPr>
          <p:cNvSpPr>
            <a:spLocks noChangeAspect="1"/>
          </p:cNvSpPr>
          <p:nvPr/>
        </p:nvSpPr>
        <p:spPr>
          <a:xfrm>
            <a:off x="2351616" y="2115178"/>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12" name="Oval 11">
            <a:extLst>
              <a:ext uri="{FF2B5EF4-FFF2-40B4-BE49-F238E27FC236}">
                <a16:creationId xmlns="" xmlns:a16="http://schemas.microsoft.com/office/drawing/2014/main" id="{D2BCC35A-8BBF-7243-9F88-C46A0260ABC2}"/>
              </a:ext>
            </a:extLst>
          </p:cNvPr>
          <p:cNvSpPr>
            <a:spLocks noChangeAspect="1"/>
          </p:cNvSpPr>
          <p:nvPr/>
        </p:nvSpPr>
        <p:spPr>
          <a:xfrm>
            <a:off x="1669395" y="3028555"/>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3</a:t>
            </a:r>
            <a:endParaRPr lang="en-US" dirty="0"/>
          </a:p>
        </p:txBody>
      </p:sp>
      <p:cxnSp>
        <p:nvCxnSpPr>
          <p:cNvPr id="13" name="Straight Connector 12">
            <a:extLst>
              <a:ext uri="{FF2B5EF4-FFF2-40B4-BE49-F238E27FC236}">
                <a16:creationId xmlns="" xmlns:a16="http://schemas.microsoft.com/office/drawing/2014/main" id="{53664800-9967-8D42-A4D6-C4D3F696F364}"/>
              </a:ext>
            </a:extLst>
          </p:cNvPr>
          <p:cNvCxnSpPr>
            <a:endCxn id="11" idx="2"/>
          </p:cNvCxnSpPr>
          <p:nvPr/>
        </p:nvCxnSpPr>
        <p:spPr>
          <a:xfrm>
            <a:off x="1294360" y="2295178"/>
            <a:ext cx="105725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Straight Connector 13">
            <a:extLst>
              <a:ext uri="{FF2B5EF4-FFF2-40B4-BE49-F238E27FC236}">
                <a16:creationId xmlns="" xmlns:a16="http://schemas.microsoft.com/office/drawing/2014/main" id="{37D16395-1BFB-0E42-ADFC-A80F67FD1415}"/>
              </a:ext>
            </a:extLst>
          </p:cNvPr>
          <p:cNvCxnSpPr>
            <a:cxnSpLocks/>
            <a:stCxn id="11" idx="4"/>
            <a:endCxn id="12" idx="7"/>
          </p:cNvCxnSpPr>
          <p:nvPr/>
        </p:nvCxnSpPr>
        <p:spPr>
          <a:xfrm flipH="1">
            <a:off x="1976674" y="2475178"/>
            <a:ext cx="554942"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Straight Connector 14">
            <a:extLst>
              <a:ext uri="{FF2B5EF4-FFF2-40B4-BE49-F238E27FC236}">
                <a16:creationId xmlns="" xmlns:a16="http://schemas.microsoft.com/office/drawing/2014/main" id="{9F7914A8-356C-F74C-AC43-0102B45DE342}"/>
              </a:ext>
            </a:extLst>
          </p:cNvPr>
          <p:cNvCxnSpPr>
            <a:cxnSpLocks/>
            <a:stCxn id="10" idx="4"/>
            <a:endCxn id="12" idx="1"/>
          </p:cNvCxnSpPr>
          <p:nvPr/>
        </p:nvCxnSpPr>
        <p:spPr>
          <a:xfrm>
            <a:off x="1114360" y="2475178"/>
            <a:ext cx="607756"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Straight Connector 15">
            <a:extLst>
              <a:ext uri="{FF2B5EF4-FFF2-40B4-BE49-F238E27FC236}">
                <a16:creationId xmlns="" xmlns:a16="http://schemas.microsoft.com/office/drawing/2014/main" id="{2B21ABE3-FB4E-A247-A706-E2386847741B}"/>
              </a:ext>
            </a:extLst>
          </p:cNvPr>
          <p:cNvCxnSpPr>
            <a:cxnSpLocks/>
            <a:stCxn id="10" idx="2"/>
          </p:cNvCxnSpPr>
          <p:nvPr/>
        </p:nvCxnSpPr>
        <p:spPr>
          <a:xfrm flipH="1" flipV="1">
            <a:off x="492501" y="2167899"/>
            <a:ext cx="441859" cy="1272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 xmlns:a16="http://schemas.microsoft.com/office/drawing/2014/main" id="{974B7EF2-F5DA-4140-8818-F850290C1229}"/>
              </a:ext>
            </a:extLst>
          </p:cNvPr>
          <p:cNvCxnSpPr>
            <a:cxnSpLocks/>
            <a:endCxn id="11" idx="5"/>
          </p:cNvCxnSpPr>
          <p:nvPr/>
        </p:nvCxnSpPr>
        <p:spPr>
          <a:xfrm flipH="1" flipV="1">
            <a:off x="2658895" y="2422457"/>
            <a:ext cx="427663" cy="146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 xmlns:a16="http://schemas.microsoft.com/office/drawing/2014/main" id="{EC70B21C-D39E-4F4E-83E1-8F3A5EA9AA46}"/>
              </a:ext>
            </a:extLst>
          </p:cNvPr>
          <p:cNvCxnSpPr>
            <a:cxnSpLocks/>
            <a:endCxn id="11" idx="7"/>
          </p:cNvCxnSpPr>
          <p:nvPr/>
        </p:nvCxnSpPr>
        <p:spPr>
          <a:xfrm flipH="1">
            <a:off x="2658895" y="1961322"/>
            <a:ext cx="498821" cy="20657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 xmlns:a16="http://schemas.microsoft.com/office/drawing/2014/main" id="{B1DEE48F-61D2-6F42-8C3C-CCF4C6A36A0C}"/>
                  </a:ext>
                </a:extLst>
              </p:cNvPr>
              <p:cNvSpPr/>
              <p:nvPr/>
            </p:nvSpPr>
            <p:spPr>
              <a:xfrm>
                <a:off x="402529" y="3008857"/>
                <a:ext cx="45146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𝐶</m:t>
                      </m:r>
                    </m:oMath>
                  </m:oMathPara>
                </a14:m>
                <a:endParaRPr lang="en-US" sz="2400" i="1" dirty="0"/>
              </a:p>
            </p:txBody>
          </p:sp>
        </mc:Choice>
        <mc:Fallback xmlns="">
          <p:sp>
            <p:nvSpPr>
              <p:cNvPr id="19" name="Rectangle 18">
                <a:extLst>
                  <a:ext uri="{FF2B5EF4-FFF2-40B4-BE49-F238E27FC236}">
                    <a16:creationId xmlns:a16="http://schemas.microsoft.com/office/drawing/2014/main" id="{B1DEE48F-61D2-6F42-8C3C-CCF4C6A36A0C}"/>
                  </a:ext>
                </a:extLst>
              </p:cNvPr>
              <p:cNvSpPr>
                <a:spLocks noRot="1" noChangeAspect="1" noMove="1" noResize="1" noEditPoints="1" noAdjustHandles="1" noChangeArrowheads="1" noChangeShapeType="1" noTextEdit="1"/>
              </p:cNvSpPr>
              <p:nvPr/>
            </p:nvSpPr>
            <p:spPr>
              <a:xfrm>
                <a:off x="402529" y="3008857"/>
                <a:ext cx="451469" cy="461665"/>
              </a:xfrm>
              <a:prstGeom prst="rect">
                <a:avLst/>
              </a:prstGeom>
              <a:blipFill>
                <a:blip r:embed="rId7"/>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 xmlns:a16="http://schemas.microsoft.com/office/drawing/2014/main" id="{94C80B5C-DD4C-2D4C-ACB9-264B9F10C7FC}"/>
              </a:ext>
            </a:extLst>
          </p:cNvPr>
          <p:cNvCxnSpPr>
            <a:cxnSpLocks/>
          </p:cNvCxnSpPr>
          <p:nvPr/>
        </p:nvCxnSpPr>
        <p:spPr>
          <a:xfrm flipV="1">
            <a:off x="768663" y="2882292"/>
            <a:ext cx="380008" cy="2531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Oval 20">
                <a:extLst>
                  <a:ext uri="{FF2B5EF4-FFF2-40B4-BE49-F238E27FC236}">
                    <a16:creationId xmlns="" xmlns:a16="http://schemas.microsoft.com/office/drawing/2014/main" id="{D7D25B68-8F9F-7741-85E1-40C75D296999}"/>
                  </a:ext>
                </a:extLst>
              </p:cNvPr>
              <p:cNvSpPr>
                <a:spLocks noChangeAspect="1"/>
              </p:cNvSpPr>
              <p:nvPr/>
            </p:nvSpPr>
            <p:spPr>
              <a:xfrm>
                <a:off x="3086558" y="2422457"/>
                <a:ext cx="360000" cy="360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𝑖</m:t>
                      </m:r>
                    </m:oMath>
                  </m:oMathPara>
                </a14:m>
                <a:endParaRPr lang="en-US" dirty="0"/>
              </a:p>
            </p:txBody>
          </p:sp>
        </mc:Choice>
        <mc:Fallback xmlns="">
          <p:sp>
            <p:nvSpPr>
              <p:cNvPr id="21" name="Oval 20">
                <a:extLst>
                  <a:ext uri="{FF2B5EF4-FFF2-40B4-BE49-F238E27FC236}">
                    <a16:creationId xmlns:a16="http://schemas.microsoft.com/office/drawing/2014/main" id="{D7D25B68-8F9F-7741-85E1-40C75D296999}"/>
                  </a:ext>
                </a:extLst>
              </p:cNvPr>
              <p:cNvSpPr>
                <a:spLocks noRot="1" noChangeAspect="1" noMove="1" noResize="1" noEditPoints="1" noAdjustHandles="1" noChangeArrowheads="1" noChangeShapeType="1" noTextEdit="1"/>
              </p:cNvSpPr>
              <p:nvPr/>
            </p:nvSpPr>
            <p:spPr>
              <a:xfrm>
                <a:off x="3086558" y="2422457"/>
                <a:ext cx="360000" cy="3600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 xmlns:a16="http://schemas.microsoft.com/office/drawing/2014/main" id="{8A87BD7F-747E-8C4F-8EDA-C77D4690D692}"/>
                  </a:ext>
                </a:extLst>
              </p:cNvPr>
              <p:cNvSpPr/>
              <p:nvPr/>
            </p:nvSpPr>
            <p:spPr>
              <a:xfrm>
                <a:off x="5387975" y="1984715"/>
                <a:ext cx="3333433" cy="787267"/>
              </a:xfrm>
              <a:prstGeom prst="rect">
                <a:avLst/>
              </a:prstGeom>
            </p:spPr>
            <p:txBody>
              <a:bodyPr wrap="square">
                <a:spAutoFit/>
              </a:bodyPr>
              <a:lstStyle/>
              <a:p>
                <a:r>
                  <a:rPr lang="zh-CN" altLang="en-US" dirty="0">
                    <a:solidFill>
                      <a:srgbClr val="C00000"/>
                    </a:solidFill>
                    <a:effectLst/>
                    <a:latin typeface="Calibri" panose="020F0502020204030204" pitchFamily="34" charset="0"/>
                    <a:cs typeface="Calibri" panose="020F0502020204030204" pitchFamily="34" charset="0"/>
                  </a:rPr>
                  <a:t>请计算</a:t>
                </a:r>
                <a14:m>
                  <m:oMath xmlns:m="http://schemas.openxmlformats.org/officeDocument/2006/math">
                    <m:r>
                      <m:rPr>
                        <m:sty m:val="p"/>
                      </m:rPr>
                      <a:rPr lang="en-US" altLang="zh-CN" b="0" i="0" smtClean="0">
                        <a:solidFill>
                          <a:srgbClr val="C00000"/>
                        </a:solidFill>
                        <a:effectLst/>
                        <a:latin typeface="Cambria Math" panose="02040503050406030204" pitchFamily="18" charset="0"/>
                        <a:cs typeface="Calibri" panose="020F0502020204030204" pitchFamily="34" charset="0"/>
                      </a:rPr>
                      <m:t>Δ</m:t>
                    </m:r>
                    <m:r>
                      <a:rPr lang="en-US" altLang="zh-CN" b="0" i="1" smtClean="0">
                        <a:solidFill>
                          <a:srgbClr val="C00000"/>
                        </a:solidFill>
                        <a:effectLst/>
                        <a:latin typeface="Cambria Math" panose="02040503050406030204" pitchFamily="18" charset="0"/>
                        <a:cs typeface="Calibri" panose="020F0502020204030204" pitchFamily="34" charset="0"/>
                      </a:rPr>
                      <m:t>𝑄</m:t>
                    </m:r>
                    <m:r>
                      <a:rPr lang="en-US" altLang="zh-CN" b="0" i="1" smtClean="0">
                        <a:solidFill>
                          <a:srgbClr val="C00000"/>
                        </a:solidFill>
                        <a:effectLst/>
                        <a:latin typeface="Cambria Math" panose="02040503050406030204" pitchFamily="18" charset="0"/>
                        <a:cs typeface="Calibri" panose="020F0502020204030204" pitchFamily="34" charset="0"/>
                      </a:rPr>
                      <m:t>(</m:t>
                    </m:r>
                    <m:r>
                      <a:rPr lang="en-US" altLang="zh-CN" b="0" i="1" smtClean="0">
                        <a:solidFill>
                          <a:srgbClr val="C00000"/>
                        </a:solidFill>
                        <a:effectLst/>
                        <a:latin typeface="Cambria Math" panose="02040503050406030204" pitchFamily="18" charset="0"/>
                        <a:cs typeface="Calibri" panose="020F0502020204030204" pitchFamily="34" charset="0"/>
                      </a:rPr>
                      <m:t>𝑖</m:t>
                    </m:r>
                    <m:r>
                      <a:rPr lang="en-US" altLang="zh-CN" b="0" i="1" smtClean="0">
                        <a:solidFill>
                          <a:srgbClr val="C00000"/>
                        </a:solidFill>
                        <a:effectLst/>
                        <a:latin typeface="Cambria Math" panose="02040503050406030204" pitchFamily="18" charset="0"/>
                        <a:cs typeface="Calibri" panose="020F0502020204030204" pitchFamily="34" charset="0"/>
                      </a:rPr>
                      <m:t>→</m:t>
                    </m:r>
                    <m:r>
                      <a:rPr lang="en-US" altLang="zh-CN" b="0" i="1" smtClean="0">
                        <a:solidFill>
                          <a:srgbClr val="C00000"/>
                        </a:solidFill>
                        <a:effectLst/>
                        <a:latin typeface="Cambria Math" panose="02040503050406030204" pitchFamily="18" charset="0"/>
                        <a:cs typeface="Calibri" panose="020F0502020204030204" pitchFamily="34" charset="0"/>
                      </a:rPr>
                      <m:t>𝐶</m:t>
                    </m:r>
                    <m:r>
                      <a:rPr lang="en-US" altLang="zh-CN" b="0" i="1" smtClean="0">
                        <a:solidFill>
                          <a:srgbClr val="C00000"/>
                        </a:solidFill>
                        <a:effectLst/>
                        <a:latin typeface="Cambria Math" panose="02040503050406030204" pitchFamily="18" charset="0"/>
                        <a:cs typeface="Calibri" panose="020F0502020204030204" pitchFamily="34" charset="0"/>
                      </a:rPr>
                      <m:t>)</m:t>
                    </m:r>
                  </m:oMath>
                </a14:m>
                <a:r>
                  <a:rPr lang="zh-CN" altLang="en-US" dirty="0">
                    <a:solidFill>
                      <a:srgbClr val="C00000"/>
                    </a:solidFill>
                    <a:effectLst/>
                    <a:latin typeface="Calibri" panose="020F0502020204030204" pitchFamily="34" charset="0"/>
                    <a:cs typeface="Calibri" panose="020F0502020204030204" pitchFamily="34" charset="0"/>
                  </a:rPr>
                  <a:t> </a:t>
                </a:r>
                <a:endParaRPr lang="en-US" altLang="zh-CN" dirty="0">
                  <a:solidFill>
                    <a:srgbClr val="C00000"/>
                  </a:solidFill>
                  <a:effectLst/>
                  <a:latin typeface="Calibri" panose="020F0502020204030204" pitchFamily="34" charset="0"/>
                  <a:cs typeface="Calibri" panose="020F0502020204030204" pitchFamily="34" charset="0"/>
                </a:endParaRPr>
              </a:p>
              <a:p>
                <a:r>
                  <a:rPr lang="en-US" altLang="zh-CN" dirty="0">
                    <a:solidFill>
                      <a:srgbClr val="C00000"/>
                    </a:solidFill>
                    <a:effectLst/>
                    <a:latin typeface="Calibri" panose="020F0502020204030204" pitchFamily="34" charset="0"/>
                    <a:cs typeface="Calibri" panose="020F0502020204030204" pitchFamily="34" charset="0"/>
                  </a:rPr>
                  <a:t>A</a:t>
                </a:r>
                <a:r>
                  <a:rPr lang="en-US" altLang="zh-CN" dirty="0">
                    <a:solidFill>
                      <a:srgbClr val="C00000"/>
                    </a:solidFill>
                    <a:latin typeface="Calibri" panose="020F0502020204030204" pitchFamily="34" charset="0"/>
                    <a:cs typeface="Calibri" panose="020F0502020204030204" pitchFamily="34" charset="0"/>
                  </a:rPr>
                  <a:t>.</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smtClean="0">
                            <a:solidFill>
                              <a:srgbClr val="C00000"/>
                            </a:solidFill>
                            <a:latin typeface="Cambria Math" charset="0"/>
                            <a:cs typeface="Calibri" panose="020F0502020204030204" pitchFamily="34" charset="0"/>
                          </a:rPr>
                        </m:ctrlPr>
                      </m:fPr>
                      <m:num>
                        <m:r>
                          <a:rPr lang="en-US" altLang="zh-CN" b="0" i="1" smtClean="0">
                            <a:solidFill>
                              <a:srgbClr val="C00000"/>
                            </a:solidFill>
                            <a:latin typeface="Cambria Math" panose="02040503050406030204" pitchFamily="18" charset="0"/>
                            <a:cs typeface="Calibri" panose="020F0502020204030204" pitchFamily="34" charset="0"/>
                          </a:rPr>
                          <m:t>1</m:t>
                        </m:r>
                      </m:num>
                      <m:den>
                        <m:r>
                          <a:rPr lang="en-US" altLang="zh-CN" b="0" i="1" smtClean="0">
                            <a:solidFill>
                              <a:srgbClr val="C00000"/>
                            </a:solidFill>
                            <a:latin typeface="Cambria Math" panose="02040503050406030204" pitchFamily="18" charset="0"/>
                            <a:cs typeface="Calibri" panose="020F0502020204030204" pitchFamily="34" charset="0"/>
                          </a:rPr>
                          <m:t>16</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B.</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1</m:t>
                        </m:r>
                      </m:num>
                      <m:den>
                        <m:r>
                          <a:rPr lang="en-US" altLang="zh-CN" b="0" i="1" dirty="0" smtClean="0">
                            <a:solidFill>
                              <a:srgbClr val="C00000"/>
                            </a:solidFill>
                            <a:latin typeface="Cambria Math" panose="02040503050406030204" pitchFamily="18" charset="0"/>
                            <a:cs typeface="Calibri" panose="020F0502020204030204" pitchFamily="34" charset="0"/>
                          </a:rPr>
                          <m:t>24</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C.</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1</m:t>
                        </m:r>
                      </m:num>
                      <m:den>
                        <m:r>
                          <a:rPr lang="en-US" altLang="zh-CN" b="0" i="1" dirty="0" smtClean="0">
                            <a:solidFill>
                              <a:srgbClr val="C00000"/>
                            </a:solidFill>
                            <a:latin typeface="Cambria Math" panose="02040503050406030204" pitchFamily="18" charset="0"/>
                            <a:cs typeface="Calibri" panose="020F0502020204030204" pitchFamily="34" charset="0"/>
                          </a:rPr>
                          <m:t>6</m:t>
                        </m:r>
                      </m:den>
                    </m:f>
                  </m:oMath>
                </a14:m>
                <a:endParaRPr lang="en-US" altLang="zh-CN" dirty="0">
                  <a:solidFill>
                    <a:srgbClr val="C00000"/>
                  </a:solidFill>
                  <a:latin typeface="Calibri" panose="020F0502020204030204" pitchFamily="34" charset="0"/>
                  <a:cs typeface="Calibri" panose="020F0502020204030204" pitchFamily="34" charset="0"/>
                </a:endParaRPr>
              </a:p>
            </p:txBody>
          </p:sp>
        </mc:Choice>
        <mc:Fallback xmlns="">
          <p:sp>
            <p:nvSpPr>
              <p:cNvPr id="22" name="Rectangle 21">
                <a:extLst>
                  <a:ext uri="{FF2B5EF4-FFF2-40B4-BE49-F238E27FC236}">
                    <a16:creationId xmlns:a16="http://schemas.microsoft.com/office/drawing/2014/main" id="{8A87BD7F-747E-8C4F-8EDA-C77D4690D692}"/>
                  </a:ext>
                </a:extLst>
              </p:cNvPr>
              <p:cNvSpPr>
                <a:spLocks noRot="1" noChangeAspect="1" noMove="1" noResize="1" noEditPoints="1" noAdjustHandles="1" noChangeArrowheads="1" noChangeShapeType="1" noTextEdit="1"/>
              </p:cNvSpPr>
              <p:nvPr/>
            </p:nvSpPr>
            <p:spPr>
              <a:xfrm>
                <a:off x="5387975" y="1984715"/>
                <a:ext cx="3333433" cy="787267"/>
              </a:xfrm>
              <a:prstGeom prst="rect">
                <a:avLst/>
              </a:prstGeom>
              <a:blipFill>
                <a:blip r:embed="rId9"/>
                <a:stretch>
                  <a:fillRect l="-1136" t="-6452"/>
                </a:stretch>
              </a:blipFill>
            </p:spPr>
            <p:txBody>
              <a:bodyPr/>
              <a:lstStyle/>
              <a:p>
                <a:r>
                  <a:rPr lang="en-US">
                    <a:noFill/>
                  </a:rPr>
                  <a:t> </a:t>
                </a:r>
              </a:p>
            </p:txBody>
          </p:sp>
        </mc:Fallback>
      </mc:AlternateContent>
      <p:sp>
        <p:nvSpPr>
          <p:cNvPr id="23" name="Rectangle 22">
            <a:extLst>
              <a:ext uri="{FF2B5EF4-FFF2-40B4-BE49-F238E27FC236}">
                <a16:creationId xmlns="" xmlns:a16="http://schemas.microsoft.com/office/drawing/2014/main" id="{A1BD88AA-8A29-8143-892A-382BB9A236B6}"/>
              </a:ext>
            </a:extLst>
          </p:cNvPr>
          <p:cNvSpPr/>
          <p:nvPr/>
        </p:nvSpPr>
        <p:spPr>
          <a:xfrm>
            <a:off x="4764172" y="1927165"/>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250346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8"/>
                <a:ext cx="8229600" cy="3065517"/>
              </a:xfrm>
            </p:spPr>
            <p:txBody>
              <a:bodyPr>
                <a:normAutofit/>
              </a:bodyPr>
              <a:lstStyle/>
              <a:p>
                <a:r>
                  <a:rPr lang="en-US" altLang="zh-CN" dirty="0"/>
                  <a:t>Phase 1</a:t>
                </a:r>
                <a:r>
                  <a:rPr lang="zh-CN" altLang="zh-CN" dirty="0"/>
                  <a:t>：以局部方式，优化模块度函数，将每个顶点归到</a:t>
                </a:r>
                <a:r>
                  <a:rPr lang="en-US" altLang="zh-CN" dirty="0"/>
                  <a:t>“</a:t>
                </a:r>
                <a:r>
                  <a:rPr lang="zh-CN" altLang="zh-CN" dirty="0"/>
                  <a:t>最好</a:t>
                </a:r>
                <a:r>
                  <a:rPr lang="en-US" altLang="zh-CN" dirty="0"/>
                  <a:t>”</a:t>
                </a:r>
                <a:r>
                  <a:rPr lang="zh-CN" altLang="zh-CN" dirty="0"/>
                  <a:t>的类簇中，直到所有的顶点所属的类簇不再变化为止</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one_level</a:t>
                </a:r>
                <a:endParaRPr lang="en-US" dirty="0"/>
              </a:p>
              <a:p>
                <a:r>
                  <a:rPr lang="zh-CN" altLang="en-US" dirty="0">
                    <a:latin typeface="Microsoft YaHei" charset="-122"/>
                    <a:ea typeface="Microsoft YaHei" charset="-122"/>
                    <a:cs typeface="Microsoft YaHei" charset="-122"/>
                  </a:rPr>
                  <a:t>如何计算将</a:t>
                </a:r>
                <a14:m>
                  <m:oMath xmlns:m="http://schemas.openxmlformats.org/officeDocument/2006/math">
                    <m:r>
                      <a:rPr lang="en-US" altLang="zh-CN" i="1" dirty="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合并到社区</a:t>
                </a:r>
                <a14:m>
                  <m:oMath xmlns:m="http://schemas.openxmlformats.org/officeDocument/2006/math">
                    <m:r>
                      <a:rPr lang="en-US" altLang="zh-CN" i="1" dirty="0">
                        <a:latin typeface="Cambria Math" charset="0"/>
                        <a:ea typeface="Microsoft YaHei" charset="-122"/>
                        <a:cs typeface="Microsoft YaHei" charset="-122"/>
                      </a:rPr>
                      <m:t>𝐶</m:t>
                    </m:r>
                  </m:oMath>
                </a14:m>
                <a:r>
                  <a:rPr lang="zh-CN" altLang="en-US" dirty="0">
                    <a:latin typeface="Microsoft YaHei" charset="-122"/>
                    <a:ea typeface="Microsoft YaHei" charset="-122"/>
                    <a:cs typeface="Microsoft YaHei" charset="-122"/>
                  </a:rPr>
                  <a:t>中的</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增益</a:t>
                </a:r>
                <a14:m>
                  <m:oMath xmlns:m="http://schemas.openxmlformats.org/officeDocument/2006/math">
                    <m:r>
                      <m:rPr>
                        <m:sty m:val="p"/>
                      </m:rPr>
                      <a:rPr lang="en-US" altLang="zh-CN">
                        <a:latin typeface="Cambria Math" charset="0"/>
                        <a:ea typeface="Microsoft YaHei" charset="-122"/>
                        <a:cs typeface="Microsoft YaHei" charset="-122"/>
                      </a:rPr>
                      <m:t>Δ</m:t>
                    </m:r>
                    <m:r>
                      <a:rPr lang="en-US" altLang="zh-CN" i="1">
                        <a:latin typeface="Cambria Math" charset="0"/>
                        <a:ea typeface="Microsoft YaHei" charset="-122"/>
                        <a:cs typeface="Microsoft YaHei" charset="-122"/>
                      </a:rPr>
                      <m:t>𝑄</m:t>
                    </m:r>
                  </m:oMath>
                </a14:m>
                <a:r>
                  <a:rPr lang="zh-CN" altLang="en-US" dirty="0">
                    <a:latin typeface="Microsoft YaHei" charset="-122"/>
                    <a:ea typeface="Microsoft YaHei" charset="-122"/>
                    <a:cs typeface="Microsoft YaHei" charset="-122"/>
                  </a:rPr>
                  <a:t>？</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计算</a:t>
                </a:r>
                <a14:m>
                  <m:oMath xmlns:m="http://schemas.openxmlformats.org/officeDocument/2006/math">
                    <m:r>
                      <m:rPr>
                        <m:sty m:val="p"/>
                      </m:rPr>
                      <a:rPr lang="en-US" altLang="zh-CN" b="0" i="0" smtClean="0">
                        <a:latin typeface="Cambria Math" panose="02040503050406030204" pitchFamily="18" charset="0"/>
                        <a:ea typeface="Microsoft YaHei" charset="-122"/>
                        <a:cs typeface="Microsoft YaHei" charset="-122"/>
                      </a:rPr>
                      <m:t>Δ</m:t>
                    </m:r>
                    <m:r>
                      <a:rPr lang="en-US" altLang="zh-CN" b="0" i="1" smtClean="0">
                        <a:latin typeface="Cambria Math" panose="02040503050406030204" pitchFamily="18" charset="0"/>
                        <a:ea typeface="Microsoft YaHei" charset="-122"/>
                        <a:cs typeface="Microsoft YaHei" charset="-122"/>
                      </a:rPr>
                      <m:t>𝑄</m:t>
                    </m:r>
                    <m:r>
                      <a:rPr lang="en-US" altLang="zh-CN" b="0" i="1" smtClean="0">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𝑖</m:t>
                    </m:r>
                    <m:r>
                      <a:rPr lang="en-US" altLang="zh-CN" b="0" i="1" smtClean="0">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𝐶</m:t>
                    </m:r>
                    <m:r>
                      <a:rPr lang="en-US" altLang="zh-CN" b="0" i="1" smtClean="0">
                        <a:latin typeface="Cambria Math" panose="02040503050406030204" pitchFamily="18" charset="0"/>
                        <a:ea typeface="Microsoft YaHei" charset="-122"/>
                        <a:cs typeface="Microsoft YaHei" charset="-122"/>
                      </a:rPr>
                      <m:t>)</m:t>
                    </m:r>
                  </m:oMath>
                </a14:m>
                <a:endParaRPr lang="en-US"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计算</a:t>
                </a:r>
                <a14:m>
                  <m:oMath xmlns:m="http://schemas.openxmlformats.org/officeDocument/2006/math">
                    <m:r>
                      <m:rPr>
                        <m:sty m:val="p"/>
                      </m:rPr>
                      <a:rPr lang="en-US" altLang="zh-CN">
                        <a:latin typeface="Cambria Math" panose="02040503050406030204" pitchFamily="18" charset="0"/>
                        <a:ea typeface="Microsoft YaHei" charset="-122"/>
                        <a:cs typeface="Microsoft YaHei" charset="-122"/>
                      </a:rPr>
                      <m:t>Δ</m:t>
                    </m:r>
                    <m:r>
                      <a:rPr lang="en-US" altLang="zh-CN" i="1">
                        <a:latin typeface="Cambria Math" panose="02040503050406030204" pitchFamily="18" charset="0"/>
                        <a:ea typeface="Microsoft YaHei" charset="-122"/>
                        <a:cs typeface="Microsoft YaHei" charset="-122"/>
                      </a:rPr>
                      <m:t>𝑄</m:t>
                    </m:r>
                    <m:r>
                      <a:rPr lang="en-US" altLang="zh-CN" i="1">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𝐷</m:t>
                    </m:r>
                    <m:r>
                      <a:rPr lang="en-US" altLang="zh-CN" i="1">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𝑖</m:t>
                    </m:r>
                    <m:r>
                      <a:rPr lang="en-US" altLang="zh-CN" i="1">
                        <a:latin typeface="Cambria Math" panose="02040503050406030204" pitchFamily="18" charset="0"/>
                        <a:ea typeface="Microsoft YaHei" charset="-122"/>
                        <a:cs typeface="Microsoft YaHei" charset="-122"/>
                      </a:rPr>
                      <m:t>)</m:t>
                    </m:r>
                  </m:oMath>
                </a14:m>
                <a:r>
                  <a:rPr lang="zh-CN" altLang="en-US" dirty="0">
                    <a:latin typeface="Microsoft YaHei" charset="-122"/>
                    <a:ea typeface="Microsoft YaHei" charset="-122"/>
                    <a:cs typeface="Microsoft YaHei" charset="-122"/>
                  </a:rPr>
                  <a:t>，即将节点</a:t>
                </a:r>
                <a14:m>
                  <m:oMath xmlns:m="http://schemas.openxmlformats.org/officeDocument/2006/math">
                    <m:r>
                      <a:rPr lang="zh-CN" altLang="en-US" b="0" i="0" dirty="0" smtClean="0">
                        <a:latin typeface="Cambria Math" charset="0"/>
                        <a:ea typeface="Microsoft YaHei" charset="-122"/>
                        <a:cs typeface="Microsoft YaHei" charset="-122"/>
                      </a:rPr>
                      <m:t> </m:t>
                    </m:r>
                    <m:r>
                      <a:rPr lang="en-US" altLang="zh-CN" i="1" dirty="0" smtClean="0">
                        <a:latin typeface="Cambria Math" panose="02040503050406030204" pitchFamily="18"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移除原本的社区</a:t>
                </a:r>
                <a14:m>
                  <m:oMath xmlns:m="http://schemas.openxmlformats.org/officeDocument/2006/math">
                    <m:r>
                      <a:rPr lang="en-US" altLang="zh-CN" i="1" dirty="0" smtClean="0">
                        <a:latin typeface="Cambria Math" panose="02040503050406030204" pitchFamily="18" charset="0"/>
                        <a:ea typeface="Microsoft YaHei" charset="-122"/>
                        <a:cs typeface="Microsoft YaHei" charset="-122"/>
                      </a:rPr>
                      <m:t>𝐷</m:t>
                    </m:r>
                  </m:oMath>
                </a14:m>
                <a:endParaRPr lang="en-US" dirty="0">
                  <a:latin typeface="Microsoft YaHei" charset="-122"/>
                  <a:ea typeface="Microsoft YaHei" charset="-122"/>
                  <a:cs typeface="Microsoft YaHei" charset="-122"/>
                </a:endParaRPr>
              </a:p>
              <a:p>
                <a:pPr lvl="2"/>
                <a:r>
                  <a:rPr lang="zh-CN" altLang="en-US" dirty="0">
                    <a:latin typeface="Microsoft YaHei" charset="-122"/>
                    <a:ea typeface="Microsoft YaHei" charset="-122"/>
                    <a:cs typeface="Microsoft YaHei" charset="-122"/>
                  </a:rPr>
                  <a:t>请你推导</a:t>
                </a:r>
                <a14:m>
                  <m:oMath xmlns:m="http://schemas.openxmlformats.org/officeDocument/2006/math">
                    <m:r>
                      <m:rPr>
                        <m:sty m:val="p"/>
                      </m:rPr>
                      <a:rPr lang="en-US" altLang="zh-CN">
                        <a:latin typeface="Cambria Math" panose="02040503050406030204" pitchFamily="18" charset="0"/>
                        <a:ea typeface="Microsoft YaHei" charset="-122"/>
                        <a:cs typeface="Microsoft YaHei" charset="-122"/>
                      </a:rPr>
                      <m:t>Δ</m:t>
                    </m:r>
                    <m:r>
                      <a:rPr lang="en-US" altLang="zh-CN" i="1">
                        <a:latin typeface="Cambria Math" panose="02040503050406030204" pitchFamily="18" charset="0"/>
                        <a:ea typeface="Microsoft YaHei" charset="-122"/>
                        <a:cs typeface="Microsoft YaHei" charset="-122"/>
                      </a:rPr>
                      <m:t>𝑄</m:t>
                    </m:r>
                    <m:r>
                      <a:rPr lang="en-US" altLang="zh-CN" i="1">
                        <a:latin typeface="Cambria Math" panose="02040503050406030204" pitchFamily="18" charset="0"/>
                        <a:ea typeface="Microsoft YaHei" charset="-122"/>
                        <a:cs typeface="Microsoft YaHei" charset="-122"/>
                      </a:rPr>
                      <m:t>(</m:t>
                    </m:r>
                    <m:r>
                      <a:rPr lang="en-US" altLang="zh-CN" i="1">
                        <a:latin typeface="Cambria Math" panose="02040503050406030204" pitchFamily="18" charset="0"/>
                        <a:ea typeface="Microsoft YaHei" charset="-122"/>
                        <a:cs typeface="Microsoft YaHei" charset="-122"/>
                      </a:rPr>
                      <m:t>𝐷</m:t>
                    </m:r>
                    <m:r>
                      <a:rPr lang="en-US" altLang="zh-CN" i="1">
                        <a:latin typeface="Cambria Math" panose="02040503050406030204" pitchFamily="18" charset="0"/>
                        <a:ea typeface="Microsoft YaHei" charset="-122"/>
                        <a:cs typeface="Microsoft YaHei" charset="-122"/>
                      </a:rPr>
                      <m:t>→</m:t>
                    </m:r>
                    <m:r>
                      <a:rPr lang="en-US" altLang="zh-CN" i="1">
                        <a:latin typeface="Cambria Math" panose="02040503050406030204" pitchFamily="18" charset="0"/>
                        <a:ea typeface="Microsoft YaHei" charset="-122"/>
                        <a:cs typeface="Microsoft YaHei" charset="-122"/>
                      </a:rPr>
                      <m:t>𝑖</m:t>
                    </m:r>
                    <m:r>
                      <a:rPr lang="en-US" altLang="zh-CN" i="1">
                        <a:latin typeface="Cambria Math" panose="02040503050406030204" pitchFamily="18" charset="0"/>
                        <a:ea typeface="Microsoft YaHei" charset="-122"/>
                        <a:cs typeface="Microsoft YaHei" charset="-122"/>
                      </a:rPr>
                      <m:t>)</m:t>
                    </m:r>
                  </m:oMath>
                </a14:m>
                <a:endParaRPr lang="en-US" dirty="0">
                  <a:latin typeface="Microsoft YaHei" charset="-122"/>
                  <a:ea typeface="Microsoft YaHei" charset="-122"/>
                  <a:cs typeface="Microsoft YaHei" charset="-122"/>
                </a:endParaRPr>
              </a:p>
              <a:p>
                <a:pPr lvl="1"/>
                <a:endParaRPr lang="en-US" altLang="zh-CN" b="0" i="0" dirty="0">
                  <a:latin typeface="Cambria Math" panose="02040503050406030204" pitchFamily="18" charset="0"/>
                </a:endParaRPr>
              </a:p>
              <a:p>
                <a:pPr lvl="1"/>
                <a14:m>
                  <m:oMath xmlns:m="http://schemas.openxmlformats.org/officeDocument/2006/math">
                    <m:r>
                      <m:rPr>
                        <m:sty m:val="p"/>
                      </m:rPr>
                      <a:rPr lang="en-US" altLang="zh-CN" b="0" i="0" smtClean="0">
                        <a:solidFill>
                          <a:srgbClr val="C00000"/>
                        </a:solidFill>
                        <a:latin typeface="Cambria Math" panose="02040503050406030204" pitchFamily="18" charset="0"/>
                      </a:rPr>
                      <m:t>Δ</m:t>
                    </m:r>
                    <m:r>
                      <a:rPr lang="en-US" altLang="zh-CN" b="0" i="1" smtClean="0">
                        <a:solidFill>
                          <a:srgbClr val="C00000"/>
                        </a:solidFill>
                        <a:latin typeface="Cambria Math" panose="02040503050406030204" pitchFamily="18" charset="0"/>
                      </a:rPr>
                      <m:t>𝑄</m:t>
                    </m:r>
                    <m:r>
                      <a:rPr lang="en-US" altLang="zh-CN" b="0" i="1" smtClean="0">
                        <a:solidFill>
                          <a:srgbClr val="C00000"/>
                        </a:solidFill>
                        <a:latin typeface="Cambria Math" panose="02040503050406030204" pitchFamily="18" charset="0"/>
                      </a:rPr>
                      <m:t>=</m:t>
                    </m:r>
                    <m:r>
                      <m:rPr>
                        <m:sty m:val="p"/>
                      </m:rPr>
                      <a:rPr lang="en-US" altLang="zh-CN" b="0" i="0" smtClean="0">
                        <a:solidFill>
                          <a:srgbClr val="C00000"/>
                        </a:solidFill>
                        <a:latin typeface="Cambria Math" panose="02040503050406030204" pitchFamily="18" charset="0"/>
                      </a:rPr>
                      <m:t>Δ</m:t>
                    </m:r>
                    <m:r>
                      <a:rPr lang="en-US" altLang="zh-CN" b="0" i="1" smtClean="0">
                        <a:solidFill>
                          <a:srgbClr val="C00000"/>
                        </a:solidFill>
                        <a:latin typeface="Cambria Math" panose="02040503050406030204" pitchFamily="18" charset="0"/>
                      </a:rPr>
                      <m:t>𝑄</m:t>
                    </m:r>
                    <m:d>
                      <m:dPr>
                        <m:ctrlPr>
                          <a:rPr lang="en-US" altLang="zh-CN" b="0" i="1" smtClean="0">
                            <a:solidFill>
                              <a:srgbClr val="C00000"/>
                            </a:solidFill>
                            <a:latin typeface="Cambria Math" charset="0"/>
                          </a:rPr>
                        </m:ctrlPr>
                      </m:dPr>
                      <m:e>
                        <m:r>
                          <a:rPr lang="en-US" altLang="zh-CN" b="0" i="1" smtClean="0">
                            <a:solidFill>
                              <a:srgbClr val="C00000"/>
                            </a:solidFill>
                            <a:latin typeface="Cambria Math" panose="02040503050406030204" pitchFamily="18" charset="0"/>
                          </a:rPr>
                          <m:t>𝑖</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𝐶</m:t>
                        </m:r>
                      </m:e>
                    </m:d>
                    <m:r>
                      <a:rPr lang="en-US" altLang="zh-CN" b="0" i="1" smtClean="0">
                        <a:solidFill>
                          <a:srgbClr val="C00000"/>
                        </a:solidFill>
                        <a:latin typeface="Cambria Math" panose="02040503050406030204" pitchFamily="18" charset="0"/>
                      </a:rPr>
                      <m:t>+</m:t>
                    </m:r>
                    <m:r>
                      <m:rPr>
                        <m:sty m:val="p"/>
                      </m:rPr>
                      <a:rPr lang="en-US" altLang="zh-CN" b="0" i="0" smtClean="0">
                        <a:solidFill>
                          <a:srgbClr val="C00000"/>
                        </a:solidFill>
                        <a:latin typeface="Cambria Math" panose="02040503050406030204" pitchFamily="18" charset="0"/>
                      </a:rPr>
                      <m:t>Δ</m:t>
                    </m:r>
                    <m:r>
                      <a:rPr lang="en-US" altLang="zh-CN" b="0" i="1" smtClean="0">
                        <a:solidFill>
                          <a:srgbClr val="C00000"/>
                        </a:solidFill>
                        <a:latin typeface="Cambria Math" panose="02040503050406030204" pitchFamily="18" charset="0"/>
                      </a:rPr>
                      <m:t>𝑄</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𝐷</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𝑖</m:t>
                    </m:r>
                    <m:r>
                      <a:rPr lang="en-US" altLang="zh-CN" b="0" i="1" smtClean="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8"/>
                <a:ext cx="8229600" cy="3065517"/>
              </a:xfrm>
              <a:blipFill rotWithShape="0">
                <a:blip r:embed="rId2"/>
                <a:stretch>
                  <a:fillRect l="-667" t="-994"/>
                </a:stretch>
              </a:blipFill>
            </p:spPr>
            <p:txBody>
              <a:bodyPr/>
              <a:lstStyle/>
              <a:p>
                <a:r>
                  <a:rPr lang="en-US">
                    <a:noFill/>
                  </a:rPr>
                  <a:t> </a:t>
                </a:r>
              </a:p>
            </p:txBody>
          </p:sp>
        </mc:Fallback>
      </mc:AlternateContent>
    </p:spTree>
    <p:extLst>
      <p:ext uri="{BB962C8B-B14F-4D97-AF65-F5344CB8AC3E}">
        <p14:creationId xmlns:p14="http://schemas.microsoft.com/office/powerpoint/2010/main" val="1984706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p:sp>
        <p:nvSpPr>
          <p:cNvPr id="3" name="Content Placeholder 2"/>
          <p:cNvSpPr>
            <a:spLocks noGrp="1"/>
          </p:cNvSpPr>
          <p:nvPr>
            <p:ph idx="1"/>
          </p:nvPr>
        </p:nvSpPr>
        <p:spPr>
          <a:xfrm>
            <a:off x="457200" y="819150"/>
            <a:ext cx="8229600" cy="731353"/>
          </a:xfrm>
        </p:spPr>
        <p:txBody>
          <a:bodyPr/>
          <a:lstStyle/>
          <a:p>
            <a:r>
              <a:rPr lang="en-US" altLang="zh-CN" dirty="0"/>
              <a:t>Phase 2</a:t>
            </a:r>
            <a:r>
              <a:rPr lang="zh-CN" altLang="zh-CN" dirty="0"/>
              <a:t>：把一个类簇中的所有顶点聚集抽象为一个</a:t>
            </a:r>
            <a:r>
              <a:rPr lang="zh-CN" altLang="en-US" dirty="0">
                <a:solidFill>
                  <a:srgbClr val="FF0000"/>
                </a:solidFill>
              </a:rPr>
              <a:t>超级</a:t>
            </a:r>
            <a:r>
              <a:rPr lang="zh-CN" altLang="zh-CN" dirty="0">
                <a:solidFill>
                  <a:srgbClr val="FF0000"/>
                </a:solidFill>
              </a:rPr>
              <a:t>顶点</a:t>
            </a:r>
            <a:r>
              <a:rPr lang="zh-CN" altLang="zh-CN" dirty="0"/>
              <a:t>，重建一个网络，其中的每个顶点对应一个社区</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induced_graph</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746" y="1550503"/>
            <a:ext cx="5534507" cy="3193772"/>
          </a:xfrm>
          <a:prstGeom prst="rect">
            <a:avLst/>
          </a:prstGeom>
        </p:spPr>
      </p:pic>
    </p:spTree>
    <p:extLst>
      <p:ext uri="{BB962C8B-B14F-4D97-AF65-F5344CB8AC3E}">
        <p14:creationId xmlns:p14="http://schemas.microsoft.com/office/powerpoint/2010/main" val="99295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50"/>
            <a:ext cx="4677183" cy="3240488"/>
          </a:xfrm>
        </p:spPr>
        <p:txBody>
          <a:bodyPr/>
          <a:lstStyle/>
          <a:p>
            <a:r>
              <a:rPr lang="zh-CN" altLang="en-US" dirty="0"/>
              <a:t>考虑下面的示例图作为输入</a:t>
            </a:r>
            <a:endParaRPr lang="en-US" altLang="zh-CN" dirty="0"/>
          </a:p>
          <a:p>
            <a:r>
              <a:rPr lang="zh-CN" altLang="en-US" dirty="0"/>
              <a:t>维护以下数据结构</a:t>
            </a:r>
            <a:endParaRPr lang="en-US" altLang="zh-CN" dirty="0"/>
          </a:p>
          <a:p>
            <a:pPr lvl="1"/>
            <a:r>
              <a:rPr lang="en-US" altLang="zh-CN" dirty="0"/>
              <a:t>Node</a:t>
            </a:r>
            <a:r>
              <a:rPr lang="zh-CN" altLang="en-US" dirty="0"/>
              <a:t> </a:t>
            </a:r>
            <a:r>
              <a:rPr lang="zh-CN" altLang="en-US" dirty="0">
                <a:sym typeface="Wingdings"/>
              </a:rPr>
              <a:t> </a:t>
            </a:r>
            <a:r>
              <a:rPr lang="en-US" altLang="zh-CN" dirty="0">
                <a:sym typeface="Wingdings"/>
              </a:rPr>
              <a:t>Community</a:t>
            </a:r>
          </a:p>
          <a:p>
            <a:pPr lvl="1"/>
            <a:endParaRPr lang="en-US" altLang="zh-CN" dirty="0">
              <a:sym typeface="Wingdings"/>
            </a:endParaRPr>
          </a:p>
          <a:p>
            <a:pPr lvl="1"/>
            <a:endParaRPr lang="en-US" altLang="zh-CN" dirty="0">
              <a:sym typeface="Wingdings"/>
            </a:endParaRPr>
          </a:p>
          <a:p>
            <a:pPr lvl="1"/>
            <a:endParaRPr lang="en-US" altLang="zh-CN" dirty="0">
              <a:sym typeface="Wingdings"/>
            </a:endParaRPr>
          </a:p>
          <a:p>
            <a:pPr lvl="1"/>
            <a:endParaRPr lang="en-US" altLang="zh-CN" dirty="0">
              <a:sym typeface="Wingdings"/>
            </a:endParaRPr>
          </a:p>
          <a:p>
            <a:r>
              <a:rPr lang="zh-CN" altLang="en-US" dirty="0">
                <a:sym typeface="Wingdings"/>
              </a:rPr>
              <a:t>随机生成一个节点访问的序列</a:t>
            </a:r>
            <a:endParaRPr lang="en-US" altLang="zh-CN"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endParaRPr lang="en-US" dirty="0">
              <a:sym typeface="Wingdings"/>
            </a:endParaRPr>
          </a:p>
          <a:p>
            <a:pPr lvl="1"/>
            <a:endParaRPr lang="en-US" dirty="0">
              <a:sym typeface="Wingdings"/>
            </a:endParaRPr>
          </a:p>
          <a:p>
            <a:pPr lvl="1"/>
            <a:endParaRPr lang="en-US" dirty="0">
              <a:sym typeface="Wingdings"/>
            </a:endParaRPr>
          </a:p>
        </p:txBody>
      </p:sp>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graphicFrame>
        <p:nvGraphicFramePr>
          <p:cNvPr id="88" name="Table 87"/>
          <p:cNvGraphicFramePr>
            <a:graphicFrameLocks noGrp="1"/>
          </p:cNvGraphicFramePr>
          <p:nvPr/>
        </p:nvGraphicFramePr>
        <p:xfrm>
          <a:off x="890953" y="2135221"/>
          <a:ext cx="3627396" cy="731520"/>
        </p:xfrm>
        <a:graphic>
          <a:graphicData uri="http://schemas.openxmlformats.org/drawingml/2006/table">
            <a:tbl>
              <a:tblPr firstRow="1" bandRow="1">
                <a:tableStyleId>{073A0DAA-6AF3-43AB-8588-CEC1D06C72B9}</a:tableStyleId>
              </a:tblPr>
              <a:tblGrid>
                <a:gridCol w="378344">
                  <a:extLst>
                    <a:ext uri="{9D8B030D-6E8A-4147-A177-3AD203B41FA5}">
                      <a16:colId xmlns="" xmlns:a16="http://schemas.microsoft.com/office/drawing/2014/main" val="20000"/>
                    </a:ext>
                  </a:extLst>
                </a:gridCol>
                <a:gridCol w="368691">
                  <a:extLst>
                    <a:ext uri="{9D8B030D-6E8A-4147-A177-3AD203B41FA5}">
                      <a16:colId xmlns="" xmlns:a16="http://schemas.microsoft.com/office/drawing/2014/main" val="20001"/>
                    </a:ext>
                  </a:extLst>
                </a:gridCol>
                <a:gridCol w="360650">
                  <a:extLst>
                    <a:ext uri="{9D8B030D-6E8A-4147-A177-3AD203B41FA5}">
                      <a16:colId xmlns="" xmlns:a16="http://schemas.microsoft.com/office/drawing/2014/main" val="20002"/>
                    </a:ext>
                  </a:extLst>
                </a:gridCol>
                <a:gridCol w="384779">
                  <a:extLst>
                    <a:ext uri="{9D8B030D-6E8A-4147-A177-3AD203B41FA5}">
                      <a16:colId xmlns="" xmlns:a16="http://schemas.microsoft.com/office/drawing/2014/main" val="20003"/>
                    </a:ext>
                  </a:extLst>
                </a:gridCol>
                <a:gridCol w="355822">
                  <a:extLst>
                    <a:ext uri="{9D8B030D-6E8A-4147-A177-3AD203B41FA5}">
                      <a16:colId xmlns="" xmlns:a16="http://schemas.microsoft.com/office/drawing/2014/main" val="20004"/>
                    </a:ext>
                  </a:extLst>
                </a:gridCol>
                <a:gridCol w="355822">
                  <a:extLst>
                    <a:ext uri="{9D8B030D-6E8A-4147-A177-3AD203B41FA5}">
                      <a16:colId xmlns="" xmlns:a16="http://schemas.microsoft.com/office/drawing/2014/main" val="20005"/>
                    </a:ext>
                  </a:extLst>
                </a:gridCol>
                <a:gridCol w="355822">
                  <a:extLst>
                    <a:ext uri="{9D8B030D-6E8A-4147-A177-3AD203B41FA5}">
                      <a16:colId xmlns="" xmlns:a16="http://schemas.microsoft.com/office/drawing/2014/main" val="20006"/>
                    </a:ext>
                  </a:extLst>
                </a:gridCol>
                <a:gridCol w="355822">
                  <a:extLst>
                    <a:ext uri="{9D8B030D-6E8A-4147-A177-3AD203B41FA5}">
                      <a16:colId xmlns="" xmlns:a16="http://schemas.microsoft.com/office/drawing/2014/main" val="20007"/>
                    </a:ext>
                  </a:extLst>
                </a:gridCol>
                <a:gridCol w="355822">
                  <a:extLst>
                    <a:ext uri="{9D8B030D-6E8A-4147-A177-3AD203B41FA5}">
                      <a16:colId xmlns="" xmlns:a16="http://schemas.microsoft.com/office/drawing/2014/main" val="20008"/>
                    </a:ext>
                  </a:extLst>
                </a:gridCol>
                <a:gridCol w="355822">
                  <a:extLst>
                    <a:ext uri="{9D8B030D-6E8A-4147-A177-3AD203B41FA5}">
                      <a16:colId xmlns="" xmlns:a16="http://schemas.microsoft.com/office/drawing/2014/main" val="20009"/>
                    </a:ext>
                  </a:extLst>
                </a:gridCol>
              </a:tblGrid>
              <a:tr h="0">
                <a:tc>
                  <a:txBody>
                    <a:bodyPr/>
                    <a:lstStyle/>
                    <a:p>
                      <a:r>
                        <a:rPr lang="en-US" altLang="zh-CN" dirty="0"/>
                        <a:t>A</a:t>
                      </a:r>
                      <a:endParaRPr lang="en-US" dirty="0"/>
                    </a:p>
                  </a:txBody>
                  <a:tcPr/>
                </a:tc>
                <a:tc>
                  <a:txBody>
                    <a:bodyPr/>
                    <a:lstStyle/>
                    <a:p>
                      <a:r>
                        <a:rPr lang="en-US" altLang="zh-CN" dirty="0"/>
                        <a:t>B</a:t>
                      </a:r>
                      <a:endParaRPr lang="en-US" dirty="0"/>
                    </a:p>
                  </a:txBody>
                  <a:tcPr/>
                </a:tc>
                <a:tc>
                  <a:txBody>
                    <a:bodyPr/>
                    <a:lstStyle/>
                    <a:p>
                      <a:r>
                        <a:rPr lang="en-US" altLang="zh-CN" dirty="0"/>
                        <a:t>C</a:t>
                      </a:r>
                      <a:endParaRPr lang="en-US" dirty="0"/>
                    </a:p>
                  </a:txBody>
                  <a:tcPr/>
                </a:tc>
                <a:tc>
                  <a:txBody>
                    <a:bodyPr/>
                    <a:lstStyle/>
                    <a:p>
                      <a:r>
                        <a:rPr lang="en-US" altLang="zh-CN" dirty="0"/>
                        <a:t>D</a:t>
                      </a:r>
                      <a:endParaRPr lang="en-US" dirty="0"/>
                    </a:p>
                  </a:txBody>
                  <a:tcPr/>
                </a:tc>
                <a:tc>
                  <a:txBody>
                    <a:bodyPr/>
                    <a:lstStyle/>
                    <a:p>
                      <a:r>
                        <a:rPr lang="en-US" altLang="zh-CN" dirty="0"/>
                        <a:t>E</a:t>
                      </a:r>
                      <a:endParaRPr lang="en-US" dirty="0"/>
                    </a:p>
                  </a:txBody>
                  <a:tcPr/>
                </a:tc>
                <a:tc>
                  <a:txBody>
                    <a:bodyPr/>
                    <a:lstStyle/>
                    <a:p>
                      <a:r>
                        <a:rPr lang="en-US" altLang="zh-CN" dirty="0"/>
                        <a:t>F</a:t>
                      </a:r>
                      <a:endParaRPr lang="en-US" dirty="0"/>
                    </a:p>
                  </a:txBody>
                  <a:tcPr/>
                </a:tc>
                <a:tc>
                  <a:txBody>
                    <a:bodyPr/>
                    <a:lstStyle/>
                    <a:p>
                      <a:r>
                        <a:rPr lang="en-US" altLang="zh-CN" dirty="0"/>
                        <a:t>G</a:t>
                      </a:r>
                      <a:endParaRPr lang="en-US" dirty="0"/>
                    </a:p>
                  </a:txBody>
                  <a:tcPr/>
                </a:tc>
                <a:tc>
                  <a:txBody>
                    <a:bodyPr/>
                    <a:lstStyle/>
                    <a:p>
                      <a:r>
                        <a:rPr lang="en-US" altLang="zh-CN" dirty="0"/>
                        <a:t>H</a:t>
                      </a:r>
                      <a:endParaRPr lang="en-US" dirty="0"/>
                    </a:p>
                  </a:txBody>
                  <a:tcPr/>
                </a:tc>
                <a:tc>
                  <a:txBody>
                    <a:bodyPr/>
                    <a:lstStyle/>
                    <a:p>
                      <a:r>
                        <a:rPr lang="en-US" altLang="zh-CN" dirty="0"/>
                        <a:t>I</a:t>
                      </a:r>
                      <a:endParaRPr lang="en-US" dirty="0"/>
                    </a:p>
                  </a:txBody>
                  <a:tcPr/>
                </a:tc>
                <a:tc>
                  <a:txBody>
                    <a:bodyPr/>
                    <a:lstStyle/>
                    <a:p>
                      <a:r>
                        <a:rPr lang="en-US" altLang="zh-CN" dirty="0"/>
                        <a:t>J</a:t>
                      </a:r>
                      <a:endParaRPr lang="en-US" dirty="0"/>
                    </a:p>
                  </a:txBody>
                  <a:tcPr/>
                </a:tc>
                <a:extLst>
                  <a:ext uri="{0D108BD9-81ED-4DB2-BD59-A6C34878D82A}">
                    <a16:rowId xmlns="" xmlns:a16="http://schemas.microsoft.com/office/drawing/2014/main" val="10000"/>
                  </a:ext>
                </a:extLst>
              </a:tr>
              <a:tr h="0">
                <a:tc>
                  <a:txBody>
                    <a:bodyPr/>
                    <a:lstStyle/>
                    <a:p>
                      <a:r>
                        <a:rPr lang="en-US" altLang="zh-CN" dirty="0"/>
                        <a:t>0</a:t>
                      </a:r>
                      <a:endParaRPr lang="en-US" dirty="0"/>
                    </a:p>
                  </a:txBody>
                  <a:tcPr/>
                </a:tc>
                <a:tc>
                  <a:txBody>
                    <a:bodyPr/>
                    <a:lstStyle/>
                    <a:p>
                      <a:r>
                        <a:rPr lang="en-US" altLang="zh-CN" dirty="0"/>
                        <a:t>1</a:t>
                      </a:r>
                      <a:endParaRPr lang="en-US" dirty="0"/>
                    </a:p>
                  </a:txBody>
                  <a:tcPr/>
                </a:tc>
                <a:tc>
                  <a:txBody>
                    <a:bodyPr/>
                    <a:lstStyle/>
                    <a:p>
                      <a:r>
                        <a:rPr lang="en-US" altLang="zh-CN" dirty="0"/>
                        <a:t>2</a:t>
                      </a:r>
                      <a:endParaRPr lang="en-US" dirty="0"/>
                    </a:p>
                  </a:txBody>
                  <a:tcPr/>
                </a:tc>
                <a:tc>
                  <a:txBody>
                    <a:bodyPr/>
                    <a:lstStyle/>
                    <a:p>
                      <a:r>
                        <a:rPr lang="en-US" altLang="zh-CN" dirty="0"/>
                        <a:t>3</a:t>
                      </a:r>
                      <a:endParaRPr lang="en-US" dirty="0"/>
                    </a:p>
                  </a:txBody>
                  <a:tcPr/>
                </a:tc>
                <a:tc>
                  <a:txBody>
                    <a:bodyPr/>
                    <a:lstStyle/>
                    <a:p>
                      <a:r>
                        <a:rPr lang="en-US" altLang="zh-CN" dirty="0"/>
                        <a:t>4</a:t>
                      </a:r>
                      <a:endParaRPr lang="en-US" dirty="0"/>
                    </a:p>
                  </a:txBody>
                  <a:tcPr/>
                </a:tc>
                <a:tc>
                  <a:txBody>
                    <a:bodyPr/>
                    <a:lstStyle/>
                    <a:p>
                      <a:r>
                        <a:rPr lang="en-US" altLang="zh-CN" dirty="0"/>
                        <a:t>6</a:t>
                      </a:r>
                      <a:endParaRPr lang="en-US" dirty="0"/>
                    </a:p>
                  </a:txBody>
                  <a:tcPr/>
                </a:tc>
                <a:tc>
                  <a:txBody>
                    <a:bodyPr/>
                    <a:lstStyle/>
                    <a:p>
                      <a:r>
                        <a:rPr lang="en-US" altLang="zh-CN" dirty="0"/>
                        <a:t>5</a:t>
                      </a:r>
                      <a:endParaRPr lang="en-US" dirty="0"/>
                    </a:p>
                  </a:txBody>
                  <a:tcPr/>
                </a:tc>
                <a:tc>
                  <a:txBody>
                    <a:bodyPr/>
                    <a:lstStyle/>
                    <a:p>
                      <a:r>
                        <a:rPr lang="en-US" altLang="zh-CN" dirty="0"/>
                        <a:t>8</a:t>
                      </a:r>
                      <a:endParaRPr lang="en-US" dirty="0"/>
                    </a:p>
                  </a:txBody>
                  <a:tcPr/>
                </a:tc>
                <a:tc>
                  <a:txBody>
                    <a:bodyPr/>
                    <a:lstStyle/>
                    <a:p>
                      <a:r>
                        <a:rPr lang="en-US" altLang="zh-CN" dirty="0"/>
                        <a:t>9</a:t>
                      </a:r>
                      <a:endParaRPr lang="en-US" dirty="0"/>
                    </a:p>
                  </a:txBody>
                  <a:tcPr/>
                </a:tc>
                <a:tc>
                  <a:txBody>
                    <a:bodyPr/>
                    <a:lstStyle/>
                    <a:p>
                      <a:r>
                        <a:rPr lang="en-US" altLang="zh-CN" dirty="0"/>
                        <a:t>7</a:t>
                      </a:r>
                      <a:endParaRPr lang="en-US" dirty="0"/>
                    </a:p>
                  </a:txBody>
                  <a:tcPr/>
                </a:tc>
                <a:extLst>
                  <a:ext uri="{0D108BD9-81ED-4DB2-BD59-A6C34878D82A}">
                    <a16:rowId xmlns="" xmlns:a16="http://schemas.microsoft.com/office/drawing/2014/main" val="10001"/>
                  </a:ext>
                </a:extLst>
              </a:tr>
            </a:tbl>
          </a:graphicData>
        </a:graphic>
      </p:graphicFrame>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3</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5</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Tree>
    <p:extLst>
      <p:ext uri="{BB962C8B-B14F-4D97-AF65-F5344CB8AC3E}">
        <p14:creationId xmlns:p14="http://schemas.microsoft.com/office/powerpoint/2010/main" val="261565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768715"/>
              </a:xfrm>
            </p:spPr>
            <p:txBody>
              <a:bodyPr>
                <a:normAutofit lnSpcReduction="10000"/>
              </a:bodyPr>
              <a:lstStyle/>
              <a:p>
                <a:r>
                  <a:rPr lang="zh-CN" altLang="en-US" sz="1800" dirty="0">
                    <a:sym typeface="Wingdings"/>
                  </a:rPr>
                  <a:t>考虑红色标注的节点</a:t>
                </a:r>
                <a:endParaRPr lang="en-US" altLang="zh-CN" sz="1800" dirty="0">
                  <a:sym typeface="Wingdings"/>
                </a:endParaRPr>
              </a:p>
              <a:p>
                <a:pPr lvl="1"/>
                <a:r>
                  <a:rPr lang="en-US" altLang="zh-CN" b="1" u="sng" dirty="0">
                    <a:solidFill>
                      <a:srgbClr val="FF0000"/>
                    </a:solidFill>
                    <a:latin typeface="Calibri" charset="0"/>
                    <a:ea typeface="Calibri" charset="0"/>
                    <a:cs typeface="Calibri" charset="0"/>
                    <a:sym typeface="Wingdings"/>
                  </a:rPr>
                  <a:t>D</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cs-CZ" altLang="zh-CN" dirty="0">
                    <a:latin typeface="Calibri" charset="0"/>
                    <a:ea typeface="Calibri" charset="0"/>
                    <a:cs typeface="Calibri" charset="0"/>
                    <a:sym typeface="Wingdings"/>
                  </a:rPr>
                  <a:t>{0, 2, 5, 7}</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3</m:t>
                            </m:r>
                          </m:sub>
                        </m:sSub>
                        <m:r>
                          <a:rPr lang="en-US" altLang="zh-CN" b="0" i="1" smtClean="0">
                            <a:latin typeface="Cambria Math" charset="0"/>
                            <a:sym typeface="Wingdings"/>
                          </a:rPr>
                          <m:t>→</m:t>
                        </m:r>
                        <m:r>
                          <a:rPr lang="en-US" altLang="zh-CN" b="0" i="1" smtClean="0">
                            <a:latin typeface="Cambria Math" charset="0"/>
                            <a:sym typeface="Wingdings"/>
                          </a:rPr>
                          <m:t>𝐷</m:t>
                        </m:r>
                      </m:e>
                    </m:d>
                    <m:r>
                      <a:rPr lang="en-US" altLang="zh-CN" b="0" i="1" smtClean="0">
                        <a:latin typeface="Cambria Math" charset="0"/>
                        <a:sym typeface="Wingdings"/>
                      </a:rPr>
                      <m:t>=0</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𝐷</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5</m:t>
                            </m:r>
                          </m:sub>
                        </m:sSub>
                      </m:e>
                    </m:d>
                    <m:r>
                      <a:rPr lang="en-US" altLang="zh-CN" i="1">
                        <a:latin typeface="Cambria Math" charset="0"/>
                        <a:sym typeface="Wingdings"/>
                      </a:rPr>
                      <m:t>=</m:t>
                    </m:r>
                    <m:r>
                      <a:rPr lang="en-US" altLang="zh-CN" b="0" i="1" smtClean="0">
                        <a:latin typeface="Cambria Math" charset="0"/>
                        <a:sym typeface="Wingdings"/>
                      </a:rPr>
                      <m:t>1−</m:t>
                    </m:r>
                    <m:f>
                      <m:fPr>
                        <m:ctrlPr>
                          <a:rPr lang="mr-IN" altLang="zh-CN" i="1" smtClean="0">
                            <a:latin typeface="Cambria Math" charset="0"/>
                            <a:sym typeface="Wingdings"/>
                          </a:rPr>
                        </m:ctrlPr>
                      </m:fPr>
                      <m:num>
                        <m:r>
                          <a:rPr lang="en-US" altLang="zh-CN" b="0" i="1" smtClean="0">
                            <a:latin typeface="Cambria Math" charset="0"/>
                            <a:sym typeface="Wingdings"/>
                          </a:rPr>
                          <m:t>4</m:t>
                        </m:r>
                        <m:r>
                          <a:rPr lang="zh-CN" altLang="en-US" b="0" i="1" smtClean="0">
                            <a:latin typeface="Cambria Math" charset="0"/>
                            <a:sym typeface="Wingdings"/>
                          </a:rPr>
                          <m:t>∗</m:t>
                        </m:r>
                        <m:r>
                          <a:rPr lang="en-US" altLang="zh-CN" b="0" i="1" smtClean="0">
                            <a:latin typeface="Cambria Math" charset="0"/>
                            <a:sym typeface="Wingdings"/>
                          </a:rPr>
                          <m:t>4</m:t>
                        </m:r>
                      </m:num>
                      <m:den>
                        <m:r>
                          <a:rPr lang="en-US" altLang="zh-CN" b="0" i="1" smtClean="0">
                            <a:latin typeface="Cambria Math" charset="0"/>
                            <a:sym typeface="Wingdings"/>
                          </a:rPr>
                          <m:t>2×18</m:t>
                        </m:r>
                      </m:den>
                    </m:f>
                    <m:r>
                      <a:rPr lang="en-US" altLang="zh-CN" b="0" i="1" smtClean="0">
                        <a:latin typeface="Cambria Math" charset="0"/>
                        <a:sym typeface="Wingdings"/>
                      </a:rPr>
                      <m:t>=0.56</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i="1">
                            <a:latin typeface="Cambria Math" charset="0"/>
                            <a:sym typeface="Wingdings"/>
                          </a:rPr>
                          <m:t>𝐷</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i="1">
                            <a:latin typeface="Cambria Math" charset="0"/>
                            <a:sym typeface="Wingdings"/>
                          </a:rPr>
                          <m:t>𝐷</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7</m:t>
                            </m:r>
                          </m:sub>
                        </m:sSub>
                      </m:e>
                    </m:d>
                    <m:r>
                      <a:rPr lang="en-US" altLang="zh-CN" i="1">
                        <a:latin typeface="Cambria Math" charset="0"/>
                        <a:sym typeface="Wingdings"/>
                      </a:rPr>
                      <m:t>=0.</m:t>
                    </m:r>
                    <m:r>
                      <a:rPr lang="en-US" altLang="zh-CN" b="0" i="1" smtClean="0">
                        <a:latin typeface="Cambria Math" charset="0"/>
                        <a:sym typeface="Wingdings"/>
                      </a:rPr>
                      <m:t>33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i="1">
                            <a:latin typeface="Cambria Math" charset="0"/>
                            <a:sym typeface="Wingdings"/>
                          </a:rPr>
                          <m:t>𝐷</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0</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D</a:t>
                </a:r>
                <a:r>
                  <a:rPr lang="zh-CN" altLang="en-US" sz="1800" b="1" dirty="0">
                    <a:solidFill>
                      <a:srgbClr val="C00000"/>
                    </a:solidFill>
                    <a:sym typeface="Wingdings"/>
                  </a:rPr>
                  <a:t>并入社区</a:t>
                </a:r>
                <a:r>
                  <a:rPr lang="en-US" altLang="zh-CN" sz="1800" b="1" dirty="0">
                    <a:solidFill>
                      <a:srgbClr val="C00000"/>
                    </a:solidFill>
                    <a:sym typeface="Wingdings"/>
                  </a:rPr>
                  <a:t>2</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768715"/>
              </a:xfrm>
              <a:blipFill rotWithShape="0">
                <a:blip r:embed="rId2"/>
                <a:stretch>
                  <a:fillRect l="-782" t="-1454"/>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3</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5</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4" name="TextBox 43"/>
          <p:cNvSpPr txBox="1"/>
          <p:nvPr/>
        </p:nvSpPr>
        <p:spPr>
          <a:xfrm>
            <a:off x="5662508" y="3234665"/>
            <a:ext cx="301686" cy="369332"/>
          </a:xfrm>
          <a:prstGeom prst="rect">
            <a:avLst/>
          </a:prstGeom>
          <a:noFill/>
        </p:spPr>
        <p:txBody>
          <a:bodyPr wrap="none" rtlCol="0">
            <a:spAutoFit/>
          </a:bodyPr>
          <a:lstStyle/>
          <a:p>
            <a:r>
              <a:rPr lang="en-US" altLang="zh-CN">
                <a:solidFill>
                  <a:srgbClr val="FF0000"/>
                </a:solidFill>
              </a:rPr>
              <a:t>2</a:t>
            </a:r>
            <a:endParaRPr lang="en-US" dirty="0">
              <a:solidFill>
                <a:srgbClr val="FF0000"/>
              </a:solidFill>
            </a:endParaRPr>
          </a:p>
        </p:txBody>
      </p:sp>
      <p:sp>
        <p:nvSpPr>
          <p:cNvPr id="8" name="Right Arrow 7"/>
          <p:cNvSpPr/>
          <p:nvPr/>
        </p:nvSpPr>
        <p:spPr>
          <a:xfrm rot="8172515">
            <a:off x="5883222" y="3162850"/>
            <a:ext cx="263637" cy="242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097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58913"/>
              </a:xfrm>
            </p:spPr>
            <p:txBody>
              <a:bodyPr>
                <a:normAutofit/>
              </a:bodyPr>
              <a:lstStyle/>
              <a:p>
                <a:r>
                  <a:rPr lang="zh-CN" altLang="en-US" sz="1800" dirty="0">
                    <a:sym typeface="Wingdings"/>
                  </a:rPr>
                  <a:t>考虑红色标注的节点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G</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cs-CZ" altLang="zh-CN" dirty="0">
                    <a:latin typeface="Calibri" charset="0"/>
                    <a:ea typeface="Calibri" charset="0"/>
                    <a:cs typeface="Calibri" charset="0"/>
                    <a:sym typeface="Wingdings"/>
                  </a:rPr>
                  <a:t>{2, 4, 6, 7}</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5</m:t>
                            </m:r>
                          </m:sub>
                        </m:sSub>
                        <m:r>
                          <a:rPr lang="en-US" altLang="zh-CN" b="0" i="1" smtClean="0">
                            <a:latin typeface="Cambria Math" charset="0"/>
                            <a:sym typeface="Wingdings"/>
                          </a:rPr>
                          <m:t>→</m:t>
                        </m:r>
                        <m:r>
                          <a:rPr lang="en-US" altLang="zh-CN" b="0" i="1" smtClean="0">
                            <a:latin typeface="Cambria Math" charset="0"/>
                            <a:sym typeface="Wingdings"/>
                          </a:rPr>
                          <m:t>𝐺</m:t>
                        </m:r>
                      </m:e>
                    </m:d>
                    <m:r>
                      <a:rPr lang="en-US" altLang="zh-CN" b="0" i="1" smtClean="0">
                        <a:latin typeface="Cambria Math" charset="0"/>
                        <a:sym typeface="Wingdings"/>
                      </a:rPr>
                      <m:t>=0</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(3+4)</m:t>
                            </m:r>
                            <m:r>
                              <a:rPr lang="zh-CN" altLang="en-US" b="0" i="1" smtClean="0">
                                <a:latin typeface="Cambria Math" charset="0"/>
                                <a:sym typeface="Wingdings"/>
                              </a:rPr>
                              <m:t>∗</m:t>
                            </m:r>
                            <m:r>
                              <a:rPr lang="en-US" altLang="zh-CN" b="0" i="1" smtClean="0">
                                <a:latin typeface="Cambria Math" charset="0"/>
                                <a:sym typeface="Wingdings"/>
                              </a:rPr>
                              <m:t>4</m:t>
                            </m:r>
                          </m:num>
                          <m:den>
                            <m:r>
                              <a:rPr lang="en-US" altLang="zh-CN" b="0" i="1" smtClean="0">
                                <a:latin typeface="Cambria Math" charset="0"/>
                                <a:sym typeface="Wingdings"/>
                              </a:rPr>
                              <m:t>2×18</m:t>
                            </m:r>
                          </m:den>
                        </m:f>
                      </m:e>
                    </m:d>
                    <m:r>
                      <a:rPr lang="en-US" altLang="zh-CN" b="0" i="1" smtClean="0">
                        <a:latin typeface="Cambria Math" charset="0"/>
                        <a:sym typeface="Wingdings"/>
                      </a:rPr>
                      <m:t>=0.22</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4</m:t>
                            </m:r>
                          </m:sub>
                        </m:sSub>
                      </m:e>
                    </m:d>
                    <m:r>
                      <a:rPr lang="en-US" altLang="zh-CN" i="1">
                        <a:latin typeface="Cambria Math" charset="0"/>
                        <a:sym typeface="Wingdings"/>
                      </a:rPr>
                      <m:t>=0.</m:t>
                    </m:r>
                    <m:r>
                      <a:rPr lang="en-US" altLang="zh-CN" b="0" i="1" smtClean="0">
                        <a:latin typeface="Cambria Math" charset="0"/>
                        <a:sym typeface="Wingdings"/>
                      </a:rPr>
                      <m:t>44</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7</m:t>
                            </m:r>
                          </m:sub>
                        </m:sSub>
                      </m:e>
                    </m:d>
                    <m:r>
                      <a:rPr lang="en-US" altLang="zh-CN" i="1">
                        <a:latin typeface="Cambria Math" charset="0"/>
                        <a:sym typeface="Wingdings"/>
                      </a:rPr>
                      <m:t>=0.</m:t>
                    </m:r>
                    <m:r>
                      <a:rPr lang="en-US" altLang="zh-CN" b="0" i="1" smtClean="0">
                        <a:latin typeface="Cambria Math" charset="0"/>
                        <a:sym typeface="Wingdings"/>
                      </a:rPr>
                      <m:t>33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6</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G</a:t>
                </a:r>
                <a:r>
                  <a:rPr lang="zh-CN" altLang="en-US" sz="1800" b="1" dirty="0">
                    <a:solidFill>
                      <a:srgbClr val="C00000"/>
                    </a:solidFill>
                    <a:sym typeface="Wingdings"/>
                  </a:rPr>
                  <a:t>并入社区</a:t>
                </a:r>
                <a:r>
                  <a:rPr lang="en-US" altLang="zh-CN" sz="1800" b="1" dirty="0">
                    <a:solidFill>
                      <a:srgbClr val="C00000"/>
                    </a:solidFill>
                    <a:sym typeface="Wingdings"/>
                  </a:rPr>
                  <a:t>6</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58913"/>
              </a:xfrm>
              <a:blipFill rotWithShape="0">
                <a:blip r:embed="rId3"/>
                <a:stretch>
                  <a:fillRect l="-782" t="-769"/>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5</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5" name="TextBox 44"/>
          <p:cNvSpPr txBox="1"/>
          <p:nvPr/>
        </p:nvSpPr>
        <p:spPr>
          <a:xfrm>
            <a:off x="6860310" y="2061709"/>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46" name="Right Arrow 45"/>
          <p:cNvSpPr/>
          <p:nvPr/>
        </p:nvSpPr>
        <p:spPr>
          <a:xfrm rot="12030382">
            <a:off x="7120320" y="2208175"/>
            <a:ext cx="252000" cy="2502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7303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46034"/>
              </a:xfrm>
            </p:spPr>
            <p:txBody>
              <a:bodyPr>
                <a:normAutofit lnSpcReduction="10000"/>
              </a:bodyPr>
              <a:lstStyle/>
              <a:p>
                <a:r>
                  <a:rPr lang="zh-CN" altLang="en-US" sz="1800" dirty="0">
                    <a:sym typeface="Wingdings"/>
                  </a:rPr>
                  <a:t>考虑红色标注的节点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E</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cs-CZ" altLang="zh-CN" dirty="0">
                    <a:latin typeface="Calibri" charset="0"/>
                    <a:ea typeface="Calibri" charset="0"/>
                    <a:cs typeface="Calibri" charset="0"/>
                    <a:sym typeface="Wingdings"/>
                  </a:rPr>
                  <a:t>{1, 6, 8, 7}</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4</m:t>
                            </m:r>
                          </m:sub>
                        </m:sSub>
                        <m:r>
                          <a:rPr lang="en-US" altLang="zh-CN" b="0" i="1" smtClean="0">
                            <a:latin typeface="Cambria Math" charset="0"/>
                            <a:sym typeface="Wingdings"/>
                          </a:rPr>
                          <m:t>→</m:t>
                        </m:r>
                        <m:r>
                          <a:rPr lang="en-US" altLang="zh-CN" b="0" i="1" smtClean="0">
                            <a:latin typeface="Cambria Math" charset="0"/>
                            <a:sym typeface="Wingdings"/>
                          </a:rPr>
                          <m:t>𝐸</m:t>
                        </m:r>
                      </m:e>
                    </m:d>
                    <m:r>
                      <a:rPr lang="en-US" altLang="zh-CN" b="0" i="1" smtClean="0">
                        <a:latin typeface="Cambria Math" charset="0"/>
                        <a:sym typeface="Wingdings"/>
                      </a:rPr>
                      <m:t>=0</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1</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5</m:t>
                            </m:r>
                            <m:r>
                              <a:rPr lang="zh-CN" altLang="en-US" b="0" i="1" smtClean="0">
                                <a:latin typeface="Cambria Math" charset="0"/>
                                <a:sym typeface="Wingdings"/>
                              </a:rPr>
                              <m:t>∗</m:t>
                            </m:r>
                            <m:r>
                              <a:rPr lang="en-US" altLang="zh-CN" b="0" i="1" smtClean="0">
                                <a:latin typeface="Cambria Math" charset="0"/>
                                <a:sym typeface="Wingdings"/>
                              </a:rPr>
                              <m:t>3</m:t>
                            </m:r>
                          </m:num>
                          <m:den>
                            <m:r>
                              <a:rPr lang="en-US" altLang="zh-CN" b="0" i="1" smtClean="0">
                                <a:latin typeface="Cambria Math" charset="0"/>
                                <a:sym typeface="Wingdings"/>
                              </a:rPr>
                              <m:t>2×18</m:t>
                            </m:r>
                          </m:den>
                        </m:f>
                      </m:e>
                    </m:d>
                    <m:r>
                      <a:rPr lang="en-US" altLang="zh-CN" b="0" i="1" smtClean="0">
                        <a:latin typeface="Cambria Math" charset="0"/>
                        <a:sym typeface="Wingdings"/>
                      </a:rPr>
                      <m:t>=0.58</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6</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2−</m:t>
                        </m:r>
                        <m:f>
                          <m:fPr>
                            <m:ctrlPr>
                              <a:rPr lang="mr-IN" altLang="zh-CN" b="0" i="1" smtClean="0">
                                <a:latin typeface="Cambria Math" charset="0"/>
                                <a:sym typeface="Wingdings"/>
                              </a:rPr>
                            </m:ctrlPr>
                          </m:fPr>
                          <m:num>
                            <m:r>
                              <a:rPr lang="en-US" altLang="zh-CN" b="0" i="1" smtClean="0">
                                <a:latin typeface="Cambria Math" charset="0"/>
                                <a:sym typeface="Wingdings"/>
                              </a:rPr>
                              <m:t>(3+4)×5</m:t>
                            </m:r>
                          </m:num>
                          <m:den>
                            <m:r>
                              <a:rPr lang="en-US" altLang="zh-CN" b="0" i="1" smtClean="0">
                                <a:latin typeface="Cambria Math" charset="0"/>
                                <a:sym typeface="Wingdings"/>
                              </a:rPr>
                              <m:t>36</m:t>
                            </m:r>
                          </m:den>
                        </m:f>
                      </m:e>
                    </m:d>
                    <m:r>
                      <a:rPr lang="en-US" altLang="zh-CN" b="0" i="1" smtClean="0">
                        <a:latin typeface="Cambria Math" charset="0"/>
                        <a:sym typeface="Wingdings"/>
                      </a:rPr>
                      <m:t>=1</m:t>
                    </m:r>
                    <m:r>
                      <a:rPr lang="en-US" altLang="zh-CN" i="1">
                        <a:latin typeface="Cambria Math" charset="0"/>
                        <a:sym typeface="Wingdings"/>
                      </a:rPr>
                      <m:t>.</m:t>
                    </m:r>
                    <m:r>
                      <a:rPr lang="en-US" altLang="zh-CN" b="0" i="1" smtClean="0">
                        <a:latin typeface="Cambria Math" charset="0"/>
                        <a:sym typeface="Wingdings"/>
                      </a:rPr>
                      <m:t>03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7</m:t>
                            </m:r>
                          </m:sub>
                        </m:sSub>
                      </m:e>
                    </m:d>
                    <m:r>
                      <a:rPr lang="en-US" altLang="zh-CN" i="1">
                        <a:latin typeface="Cambria Math" charset="0"/>
                        <a:sym typeface="Wingdings"/>
                      </a:rPr>
                      <m:t>=0.</m:t>
                    </m:r>
                    <m:r>
                      <a:rPr lang="en-US" altLang="zh-CN" b="0" i="1" smtClean="0">
                        <a:latin typeface="Cambria Math" charset="0"/>
                        <a:sym typeface="Wingdings"/>
                      </a:rPr>
                      <m:t>17</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8</m:t>
                            </m:r>
                          </m:sub>
                        </m:sSub>
                      </m:e>
                    </m:d>
                    <m:r>
                      <a:rPr lang="en-US" altLang="zh-CN" i="1">
                        <a:latin typeface="Cambria Math" charset="0"/>
                        <a:sym typeface="Wingdings"/>
                      </a:rPr>
                      <m:t>=0.</m:t>
                    </m:r>
                    <m:r>
                      <a:rPr lang="en-US" altLang="zh-CN" b="0" i="1" smtClean="0">
                        <a:latin typeface="Cambria Math" charset="0"/>
                        <a:sym typeface="Wingdings"/>
                      </a:rPr>
                      <m:t>58</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E</a:t>
                </a:r>
                <a:r>
                  <a:rPr lang="zh-CN" altLang="en-US" sz="1800" b="1" dirty="0">
                    <a:solidFill>
                      <a:srgbClr val="C00000"/>
                    </a:solidFill>
                    <a:sym typeface="Wingdings"/>
                  </a:rPr>
                  <a:t>并入社区</a:t>
                </a:r>
                <a:r>
                  <a:rPr lang="en-US" altLang="zh-CN" sz="1800" b="1" dirty="0">
                    <a:solidFill>
                      <a:srgbClr val="C00000"/>
                    </a:solidFill>
                    <a:sym typeface="Wingdings"/>
                  </a:rPr>
                  <a:t>6</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46034"/>
              </a:xfrm>
              <a:blipFill rotWithShape="0">
                <a:blip r:embed="rId3"/>
                <a:stretch>
                  <a:fillRect l="-782" t="-1389"/>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7" name="TextBox 46"/>
          <p:cNvSpPr txBox="1"/>
          <p:nvPr/>
        </p:nvSpPr>
        <p:spPr>
          <a:xfrm>
            <a:off x="7151567" y="850908"/>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48" name="Right Arrow 47"/>
          <p:cNvSpPr/>
          <p:nvPr/>
        </p:nvSpPr>
        <p:spPr>
          <a:xfrm rot="12030382">
            <a:off x="7411577" y="997374"/>
            <a:ext cx="252000" cy="2502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8458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46034"/>
              </a:xfrm>
            </p:spPr>
            <p:txBody>
              <a:bodyPr>
                <a:normAutofit/>
              </a:bodyPr>
              <a:lstStyle/>
              <a:p>
                <a:r>
                  <a:rPr lang="zh-CN" altLang="en-US" sz="1800" dirty="0">
                    <a:sym typeface="Wingdings"/>
                  </a:rPr>
                  <a:t>考虑红色标注的节点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C</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en-US" altLang="zh-CN" dirty="0">
                    <a:latin typeface="Calibri" charset="0"/>
                    <a:ea typeface="Calibri" charset="0"/>
                    <a:cs typeface="Calibri" charset="0"/>
                    <a:sym typeface="Wingdings"/>
                  </a:rPr>
                  <a:t>{</a:t>
                </a:r>
                <a:r>
                  <a:rPr lang="cs-CZ" altLang="zh-CN" dirty="0">
                    <a:latin typeface="Calibri" charset="0"/>
                    <a:ea typeface="Calibri" charset="0"/>
                    <a:cs typeface="Calibri" charset="0"/>
                    <a:sym typeface="Wingdings"/>
                  </a:rPr>
                  <a:t>0, 1, 2</a:t>
                </a:r>
                <a:r>
                  <a:rPr lang="en-US" altLang="zh-CN" dirty="0">
                    <a:latin typeface="Calibri" charset="0"/>
                    <a:ea typeface="Calibri" charset="0"/>
                    <a:cs typeface="Calibri" charset="0"/>
                    <a:sym typeface="Wingdings"/>
                  </a:rPr>
                  <a:t>}</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2</m:t>
                            </m:r>
                          </m:sub>
                        </m:sSub>
                        <m:r>
                          <a:rPr lang="en-US" altLang="zh-CN" b="0" i="1" smtClean="0">
                            <a:latin typeface="Cambria Math" charset="0"/>
                            <a:sym typeface="Wingdings"/>
                          </a:rPr>
                          <m:t>→</m:t>
                        </m:r>
                        <m:r>
                          <a:rPr lang="en-US" altLang="zh-CN" b="0" i="1" smtClean="0">
                            <a:latin typeface="Cambria Math" charset="0"/>
                            <a:sym typeface="Wingdings"/>
                          </a:rPr>
                          <m:t>𝐶</m:t>
                        </m:r>
                      </m:e>
                    </m:d>
                    <m:r>
                      <a:rPr lang="en-US" altLang="zh-CN" b="0" i="1" smtClean="0">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3</m:t>
                            </m:r>
                            <m:r>
                              <a:rPr lang="zh-CN" altLang="en-US" b="0" i="1" smtClean="0">
                                <a:latin typeface="Cambria Math" charset="0"/>
                                <a:sym typeface="Wingdings"/>
                              </a:rPr>
                              <m:t>∗</m:t>
                            </m:r>
                            <m:r>
                              <a:rPr lang="en-US" altLang="zh-CN" b="0" i="1" smtClean="0">
                                <a:latin typeface="Cambria Math" charset="0"/>
                                <a:sym typeface="Wingdings"/>
                              </a:rPr>
                              <m:t>4</m:t>
                            </m:r>
                          </m:num>
                          <m:den>
                            <m:r>
                              <a:rPr lang="en-US" altLang="zh-CN" b="0" i="1" smtClean="0">
                                <a:latin typeface="Cambria Math" charset="0"/>
                                <a:sym typeface="Wingdings"/>
                              </a:rPr>
                              <m:t>36</m:t>
                            </m:r>
                          </m:den>
                        </m:f>
                      </m:e>
                    </m:d>
                    <m:r>
                      <a:rPr lang="en-US" altLang="zh-CN" b="0" i="1" smtClean="0">
                        <a:latin typeface="Cambria Math" charset="0"/>
                        <a:sym typeface="Wingdings"/>
                      </a:rPr>
                      <m:t>=−0.67</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𝐶</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0</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3</m:t>
                            </m:r>
                            <m:r>
                              <a:rPr lang="zh-CN" altLang="en-US" b="0" i="1" smtClean="0">
                                <a:latin typeface="Cambria Math" charset="0"/>
                                <a:sym typeface="Wingdings"/>
                              </a:rPr>
                              <m:t>∗</m:t>
                            </m:r>
                            <m:r>
                              <a:rPr lang="en-US" altLang="zh-CN" b="0" i="1" smtClean="0">
                                <a:latin typeface="Cambria Math" charset="0"/>
                                <a:sym typeface="Wingdings"/>
                              </a:rPr>
                              <m:t>3</m:t>
                            </m:r>
                          </m:num>
                          <m:den>
                            <m:r>
                              <a:rPr lang="en-US" altLang="zh-CN" b="0" i="1" smtClean="0">
                                <a:latin typeface="Cambria Math" charset="0"/>
                                <a:sym typeface="Wingdings"/>
                              </a:rPr>
                              <m:t>2×18</m:t>
                            </m:r>
                          </m:den>
                        </m:f>
                      </m:e>
                    </m:d>
                    <m:r>
                      <a:rPr lang="en-US" altLang="zh-CN" b="0" i="1" smtClean="0">
                        <a:latin typeface="Cambria Math" charset="0"/>
                        <a:sym typeface="Wingdings"/>
                      </a:rPr>
                      <m:t>=0.75</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𝐶</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1</m:t>
                            </m:r>
                          </m:sub>
                        </m:sSub>
                      </m:e>
                    </m:d>
                    <m:r>
                      <a:rPr lang="en-US" altLang="zh-CN" i="1">
                        <a:latin typeface="Cambria Math" charset="0"/>
                        <a:sym typeface="Wingdings"/>
                      </a:rPr>
                      <m:t>=</m:t>
                    </m:r>
                    <m:r>
                      <a:rPr lang="en-US" altLang="zh-CN" b="0" i="1" smtClean="0">
                        <a:latin typeface="Cambria Math" charset="0"/>
                        <a:sym typeface="Wingdings"/>
                      </a:rPr>
                      <m:t>0.75</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𝐶</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C</a:t>
                </a:r>
                <a:r>
                  <a:rPr lang="zh-CN" altLang="en-US" sz="1800" b="1" dirty="0">
                    <a:solidFill>
                      <a:srgbClr val="C00000"/>
                    </a:solidFill>
                    <a:sym typeface="Wingdings"/>
                  </a:rPr>
                  <a:t>移除并入社区</a:t>
                </a:r>
                <a:r>
                  <a:rPr lang="en-US" altLang="zh-CN" sz="1800" b="1" dirty="0">
                    <a:solidFill>
                      <a:srgbClr val="C00000"/>
                    </a:solidFill>
                    <a:sym typeface="Wingdings"/>
                  </a:rPr>
                  <a:t>0</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46034"/>
              </a:xfrm>
              <a:blipFill rotWithShape="0">
                <a:blip r:embed="rId3"/>
                <a:stretch>
                  <a:fillRect l="-782" t="-772"/>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5" name="TextBox 44"/>
          <p:cNvSpPr txBox="1"/>
          <p:nvPr/>
        </p:nvSpPr>
        <p:spPr>
          <a:xfrm>
            <a:off x="4758593" y="203553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46" name="Right Arrow 45"/>
          <p:cNvSpPr/>
          <p:nvPr/>
        </p:nvSpPr>
        <p:spPr>
          <a:xfrm rot="12030382">
            <a:off x="5018603" y="2182002"/>
            <a:ext cx="252000" cy="2502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572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sz="1800" dirty="0">
                <a:sym typeface="Wingdings"/>
              </a:rPr>
              <a:t>重复上述流程运行以下节点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H</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I</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B</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A</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J</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F</a:t>
            </a:r>
          </a:p>
          <a:p>
            <a:r>
              <a:rPr lang="zh-CN" altLang="en-US" dirty="0">
                <a:latin typeface="Microsoft YaHei" charset="-122"/>
                <a:ea typeface="Microsoft YaHei" charset="-122"/>
                <a:cs typeface="Microsoft YaHei" charset="-122"/>
                <a:sym typeface="Wingdings"/>
              </a:rPr>
              <a:t>得到社区划分结果</a:t>
            </a:r>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pPr lvl="1"/>
            <a:r>
              <a:rPr lang="zh-CN" altLang="en-US" dirty="0">
                <a:latin typeface="Microsoft YaHei" charset="-122"/>
                <a:ea typeface="Microsoft YaHei" charset="-122"/>
                <a:cs typeface="Microsoft YaHei" charset="-122"/>
                <a:sym typeface="Wingdings"/>
              </a:rPr>
              <a:t>检查</a:t>
            </a:r>
            <a:r>
              <a:rPr lang="en-US" altLang="zh-CN" dirty="0" err="1">
                <a:latin typeface="Calibri" charset="0"/>
                <a:ea typeface="Calibri" charset="0"/>
                <a:cs typeface="Calibri" charset="0"/>
                <a:sym typeface="Wingdings"/>
              </a:rPr>
              <a:t>new_mod</a:t>
            </a:r>
            <a:r>
              <a:rPr lang="zh-CN" altLang="en-US" dirty="0">
                <a:latin typeface="Calibri" charset="0"/>
                <a:ea typeface="Calibri" charset="0"/>
                <a:cs typeface="Calibri" charset="0"/>
                <a:sym typeface="Wingdings"/>
              </a:rPr>
              <a:t> </a:t>
            </a:r>
            <a:r>
              <a:rPr lang="mr-IN"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err="1">
                <a:latin typeface="Calibri" charset="0"/>
                <a:ea typeface="Calibri" charset="0"/>
                <a:cs typeface="Calibri" charset="0"/>
                <a:sym typeface="Wingdings"/>
              </a:rPr>
              <a:t>old_mod</a:t>
            </a:r>
            <a:r>
              <a:rPr lang="zh-CN" altLang="en-US" dirty="0">
                <a:latin typeface="Microsoft YaHei" charset="-122"/>
                <a:ea typeface="Microsoft YaHei" charset="-122"/>
                <a:cs typeface="Microsoft YaHei" charset="-122"/>
                <a:sym typeface="Wingdings"/>
              </a:rPr>
              <a:t>是否足够小</a:t>
            </a:r>
            <a:endParaRPr lang="en-US" altLang="zh-CN" dirty="0">
              <a:latin typeface="Microsoft YaHei" charset="-122"/>
              <a:ea typeface="Microsoft YaHei" charset="-122"/>
              <a:cs typeface="Microsoft YaHei" charset="-122"/>
              <a:sym typeface="Wingdings"/>
            </a:endParaRPr>
          </a:p>
          <a:p>
            <a:pPr lvl="1"/>
            <a:endParaRPr lang="en-US" altLang="zh-CN" dirty="0">
              <a:latin typeface="Calibri" charset="0"/>
              <a:ea typeface="Calibri" charset="0"/>
              <a:cs typeface="Calibri" charset="0"/>
              <a:sym typeface="Wingdings"/>
            </a:endParaRPr>
          </a:p>
        </p:txBody>
      </p:sp>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8" name="Rectangle 7"/>
          <p:cNvSpPr/>
          <p:nvPr/>
        </p:nvSpPr>
        <p:spPr>
          <a:xfrm>
            <a:off x="935870" y="3574379"/>
            <a:ext cx="4572000" cy="646331"/>
          </a:xfrm>
          <a:prstGeom prst="rect">
            <a:avLst/>
          </a:prstGeom>
        </p:spPr>
        <p:txBody>
          <a:bodyPr>
            <a:spAutoFit/>
          </a:bodyPr>
          <a:lstStyle/>
          <a:p>
            <a:r>
              <a:rPr lang="en-US" dirty="0"/>
              <a:t>{'A': 0, 'B': 0, 'C': 0, 'D': </a:t>
            </a:r>
            <a:r>
              <a:rPr lang="en-US" altLang="zh-CN" dirty="0"/>
              <a:t>2</a:t>
            </a:r>
            <a:r>
              <a:rPr lang="en-US" dirty="0"/>
              <a:t>, 'E': 6, 'G': 6, 'F': 6, 'J': 9, 'H': 9, 'I': 9}</a:t>
            </a:r>
          </a:p>
        </p:txBody>
      </p:sp>
    </p:spTree>
    <p:extLst>
      <p:ext uri="{BB962C8B-B14F-4D97-AF65-F5344CB8AC3E}">
        <p14:creationId xmlns:p14="http://schemas.microsoft.com/office/powerpoint/2010/main" val="12797160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再次枚举节点序列</a:t>
            </a:r>
            <a:endParaRPr lang="en-US" altLang="zh-CN"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p>
          <a:p>
            <a:endParaRPr lang="en-US" altLang="zh-CN" dirty="0">
              <a:latin typeface="Microsoft YaHei" charset="-122"/>
              <a:ea typeface="Microsoft YaHei" charset="-122"/>
              <a:cs typeface="Microsoft YaHei" charset="-122"/>
              <a:sym typeface="Wingdings"/>
            </a:endParaRPr>
          </a:p>
          <a:p>
            <a:r>
              <a:rPr lang="zh-CN" altLang="en-US" dirty="0">
                <a:latin typeface="Microsoft YaHei" charset="-122"/>
                <a:ea typeface="Microsoft YaHei" charset="-122"/>
                <a:cs typeface="Microsoft YaHei" charset="-122"/>
                <a:sym typeface="Wingdings"/>
              </a:rPr>
              <a:t>运行以上过程，得到社区</a:t>
            </a:r>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pPr lvl="1"/>
            <a:r>
              <a:rPr lang="zh-CN" altLang="en-US" dirty="0">
                <a:latin typeface="Microsoft YaHei" charset="-122"/>
                <a:ea typeface="Microsoft YaHei" charset="-122"/>
                <a:cs typeface="Microsoft YaHei" charset="-122"/>
                <a:sym typeface="Wingdings"/>
              </a:rPr>
              <a:t>检查</a:t>
            </a:r>
            <a:r>
              <a:rPr lang="en-US" altLang="zh-CN" dirty="0" err="1">
                <a:latin typeface="Calibri" charset="0"/>
                <a:ea typeface="Calibri" charset="0"/>
                <a:cs typeface="Calibri" charset="0"/>
                <a:sym typeface="Wingdings"/>
              </a:rPr>
              <a:t>new_mod</a:t>
            </a:r>
            <a:r>
              <a:rPr lang="zh-CN" altLang="en-US" dirty="0">
                <a:latin typeface="Calibri" charset="0"/>
                <a:ea typeface="Calibri" charset="0"/>
                <a:cs typeface="Calibri" charset="0"/>
                <a:sym typeface="Wingdings"/>
              </a:rPr>
              <a:t> </a:t>
            </a:r>
            <a:r>
              <a:rPr lang="mr-IN"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err="1">
                <a:latin typeface="Calibri" charset="0"/>
                <a:ea typeface="Calibri" charset="0"/>
                <a:cs typeface="Calibri" charset="0"/>
                <a:sym typeface="Wingdings"/>
              </a:rPr>
              <a:t>old_mod</a:t>
            </a:r>
            <a:r>
              <a:rPr lang="zh-CN" altLang="en-US" dirty="0">
                <a:latin typeface="Microsoft YaHei" charset="-122"/>
                <a:ea typeface="Microsoft YaHei" charset="-122"/>
                <a:cs typeface="Microsoft YaHei" charset="-122"/>
                <a:sym typeface="Wingdings"/>
              </a:rPr>
              <a:t>是否足够小决定停止还是再次枚举序列</a:t>
            </a:r>
            <a:endParaRPr lang="en-US" altLang="zh-CN" dirty="0">
              <a:latin typeface="Microsoft YaHei" charset="-122"/>
              <a:ea typeface="Microsoft YaHei" charset="-122"/>
              <a:cs typeface="Microsoft YaHei" charset="-122"/>
              <a:sym typeface="Wingdings"/>
            </a:endParaRPr>
          </a:p>
          <a:p>
            <a:pPr lvl="1"/>
            <a:endParaRPr lang="en-US" altLang="zh-CN" dirty="0">
              <a:latin typeface="Calibri" charset="0"/>
              <a:ea typeface="Calibri" charset="0"/>
              <a:cs typeface="Calibri" charset="0"/>
              <a:sym typeface="Wingdings"/>
            </a:endParaRPr>
          </a:p>
        </p:txBody>
      </p:sp>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1" name="Rectangle 10"/>
          <p:cNvSpPr/>
          <p:nvPr/>
        </p:nvSpPr>
        <p:spPr>
          <a:xfrm>
            <a:off x="455516" y="2328749"/>
            <a:ext cx="4572000" cy="646331"/>
          </a:xfrm>
          <a:prstGeom prst="rect">
            <a:avLst/>
          </a:prstGeom>
        </p:spPr>
        <p:txBody>
          <a:bodyPr>
            <a:spAutoFit/>
          </a:bodyPr>
          <a:lstStyle/>
          <a:p>
            <a:r>
              <a:rPr lang="en-US"/>
              <a:t>{'A': 0, 'B': 0, 'C': 0, 'D': 0, 'E': 6, 'G': 6, 'F': 6, 'J': 9, 'H': 9, 'I': 9}</a:t>
            </a:r>
          </a:p>
        </p:txBody>
      </p:sp>
    </p:spTree>
    <p:extLst>
      <p:ext uri="{BB962C8B-B14F-4D97-AF65-F5344CB8AC3E}">
        <p14:creationId xmlns:p14="http://schemas.microsoft.com/office/powerpoint/2010/main" val="1261668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8128660" cy="3946034"/>
          </a:xfrm>
        </p:spPr>
        <p:txBody>
          <a:bodyPr>
            <a:normAutofit/>
          </a:bodyPr>
          <a:lstStyle/>
          <a:p>
            <a:r>
              <a:rPr lang="zh-CN" altLang="en-US" dirty="0">
                <a:sym typeface="Wingdings"/>
              </a:rPr>
              <a:t>将社区抽象成</a:t>
            </a:r>
            <a:r>
              <a:rPr lang="en-US" altLang="zh-CN" dirty="0" err="1">
                <a:sym typeface="Wingdings"/>
              </a:rPr>
              <a:t>supernode</a:t>
            </a:r>
            <a:endParaRPr lang="en-US" altLang="zh-CN" dirty="0">
              <a:sym typeface="Wingdings"/>
            </a:endParaRPr>
          </a:p>
        </p:txBody>
      </p:sp>
      <p:grpSp>
        <p:nvGrpSpPr>
          <p:cNvPr id="93" name="Group 92"/>
          <p:cNvGrpSpPr/>
          <p:nvPr/>
        </p:nvGrpSpPr>
        <p:grpSpPr>
          <a:xfrm>
            <a:off x="457200" y="1530195"/>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481779" y="113838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1572777" y="1136410"/>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7" name="TextBox 96"/>
          <p:cNvSpPr txBox="1"/>
          <p:nvPr/>
        </p:nvSpPr>
        <p:spPr>
          <a:xfrm>
            <a:off x="488223" y="3144925"/>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8" name="TextBox 97"/>
          <p:cNvSpPr txBox="1"/>
          <p:nvPr/>
        </p:nvSpPr>
        <p:spPr>
          <a:xfrm>
            <a:off x="1234156" y="3178671"/>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9" name="TextBox 98"/>
          <p:cNvSpPr txBox="1"/>
          <p:nvPr/>
        </p:nvSpPr>
        <p:spPr>
          <a:xfrm>
            <a:off x="2842902" y="130873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0" name="TextBox 99"/>
          <p:cNvSpPr txBox="1"/>
          <p:nvPr/>
        </p:nvSpPr>
        <p:spPr>
          <a:xfrm>
            <a:off x="2541216" y="253578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1" name="TextBox 100"/>
          <p:cNvSpPr txBox="1"/>
          <p:nvPr/>
        </p:nvSpPr>
        <p:spPr>
          <a:xfrm>
            <a:off x="3711111" y="190368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2" name="TextBox 101"/>
          <p:cNvSpPr txBox="1"/>
          <p:nvPr/>
        </p:nvSpPr>
        <p:spPr>
          <a:xfrm>
            <a:off x="3851737" y="3695405"/>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103" name="TextBox 102"/>
          <p:cNvSpPr txBox="1"/>
          <p:nvPr/>
        </p:nvSpPr>
        <p:spPr>
          <a:xfrm>
            <a:off x="1182027" y="3926834"/>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104" name="TextBox 103"/>
          <p:cNvSpPr txBox="1"/>
          <p:nvPr/>
        </p:nvSpPr>
        <p:spPr>
          <a:xfrm>
            <a:off x="3182436" y="4510150"/>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26" name="Right Arrow 25"/>
          <p:cNvSpPr/>
          <p:nvPr/>
        </p:nvSpPr>
        <p:spPr>
          <a:xfrm>
            <a:off x="4842456" y="2712905"/>
            <a:ext cx="399245" cy="5537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a:spLocks noChangeAspect="1"/>
          </p:cNvSpPr>
          <p:nvPr/>
        </p:nvSpPr>
        <p:spPr>
          <a:xfrm>
            <a:off x="5912639" y="1253485"/>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61" name="Oval 60"/>
          <p:cNvSpPr>
            <a:spLocks noChangeAspect="1"/>
          </p:cNvSpPr>
          <p:nvPr/>
        </p:nvSpPr>
        <p:spPr>
          <a:xfrm>
            <a:off x="7249895" y="2006109"/>
            <a:ext cx="504000" cy="504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1</a:t>
            </a:r>
            <a:endParaRPr lang="en-US" dirty="0"/>
          </a:p>
        </p:txBody>
      </p:sp>
      <p:sp>
        <p:nvSpPr>
          <p:cNvPr id="73" name="Oval 72"/>
          <p:cNvSpPr>
            <a:spLocks noChangeAspect="1"/>
          </p:cNvSpPr>
          <p:nvPr/>
        </p:nvSpPr>
        <p:spPr>
          <a:xfrm>
            <a:off x="6053127" y="2992202"/>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75" name="TextBox 74"/>
          <p:cNvSpPr txBox="1"/>
          <p:nvPr/>
        </p:nvSpPr>
        <p:spPr>
          <a:xfrm>
            <a:off x="6125805" y="640628"/>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cxnSp>
        <p:nvCxnSpPr>
          <p:cNvPr id="76" name="Straight Connector 75"/>
          <p:cNvCxnSpPr/>
          <p:nvPr/>
        </p:nvCxnSpPr>
        <p:spPr>
          <a:xfrm>
            <a:off x="6342830" y="1683676"/>
            <a:ext cx="980874" cy="396242"/>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8090281" y="2325443"/>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78" name="TextBox 77"/>
          <p:cNvSpPr txBox="1"/>
          <p:nvPr/>
        </p:nvSpPr>
        <p:spPr>
          <a:xfrm>
            <a:off x="5628766" y="3613920"/>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cxnSp>
        <p:nvCxnSpPr>
          <p:cNvPr id="79" name="Straight Connector 78"/>
          <p:cNvCxnSpPr/>
          <p:nvPr/>
        </p:nvCxnSpPr>
        <p:spPr>
          <a:xfrm flipV="1">
            <a:off x="6483318" y="2436300"/>
            <a:ext cx="840386" cy="629711"/>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flipH="1" flipV="1">
            <a:off x="6164639" y="1757485"/>
            <a:ext cx="140488" cy="1234717"/>
          </a:xfrm>
          <a:prstGeom prst="line">
            <a:avLst/>
          </a:prstGeom>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605257" y="1340967"/>
            <a:ext cx="965329" cy="369332"/>
          </a:xfrm>
          <a:prstGeom prst="rect">
            <a:avLst/>
          </a:prstGeom>
          <a:noFill/>
        </p:spPr>
        <p:txBody>
          <a:bodyPr wrap="none" rtlCol="0">
            <a:spAutoFit/>
          </a:bodyPr>
          <a:lstStyle/>
          <a:p>
            <a:r>
              <a:rPr lang="en-US" altLang="zh-CN" i="1"/>
              <a:t>edges:</a:t>
            </a:r>
            <a:r>
              <a:rPr lang="zh-CN" altLang="en-US" i="1" dirty="0"/>
              <a:t> </a:t>
            </a:r>
            <a:r>
              <a:rPr lang="en-US" altLang="zh-CN" i="1" dirty="0"/>
              <a:t>2</a:t>
            </a:r>
            <a:endParaRPr lang="en-US" i="1" dirty="0"/>
          </a:p>
        </p:txBody>
      </p:sp>
      <p:sp>
        <p:nvSpPr>
          <p:cNvPr id="82" name="TextBox 81"/>
          <p:cNvSpPr txBox="1"/>
          <p:nvPr/>
        </p:nvSpPr>
        <p:spPr>
          <a:xfrm>
            <a:off x="5286429" y="2510109"/>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1</a:t>
            </a:r>
            <a:endParaRPr lang="en-US" i="1" dirty="0"/>
          </a:p>
        </p:txBody>
      </p:sp>
      <p:sp>
        <p:nvSpPr>
          <p:cNvPr id="84" name="TextBox 83"/>
          <p:cNvSpPr txBox="1"/>
          <p:nvPr/>
        </p:nvSpPr>
        <p:spPr>
          <a:xfrm>
            <a:off x="6735318" y="2780105"/>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4</a:t>
            </a:r>
            <a:endParaRPr lang="en-US" i="1" dirty="0"/>
          </a:p>
        </p:txBody>
      </p:sp>
      <p:sp>
        <p:nvSpPr>
          <p:cNvPr id="87" name="TextBox 86"/>
          <p:cNvSpPr txBox="1"/>
          <p:nvPr/>
        </p:nvSpPr>
        <p:spPr>
          <a:xfrm>
            <a:off x="5514974" y="1279141"/>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88" name="TextBox 87"/>
          <p:cNvSpPr txBox="1"/>
          <p:nvPr/>
        </p:nvSpPr>
        <p:spPr>
          <a:xfrm>
            <a:off x="7873413" y="1738448"/>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89" name="TextBox 88"/>
          <p:cNvSpPr txBox="1"/>
          <p:nvPr/>
        </p:nvSpPr>
        <p:spPr>
          <a:xfrm>
            <a:off x="5559708" y="3067278"/>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cxnSp>
        <p:nvCxnSpPr>
          <p:cNvPr id="90" name="Curved Connector 89"/>
          <p:cNvCxnSpPr/>
          <p:nvPr/>
        </p:nvCxnSpPr>
        <p:spPr>
          <a:xfrm rot="16200000" flipH="1" flipV="1">
            <a:off x="5912639" y="1253485"/>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91" name="Curved Connector 90"/>
          <p:cNvCxnSpPr/>
          <p:nvPr/>
        </p:nvCxnSpPr>
        <p:spPr>
          <a:xfrm rot="5400000" flipH="1">
            <a:off x="6053127" y="3244202"/>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92" name="Curved Connector 91"/>
          <p:cNvCxnSpPr/>
          <p:nvPr/>
        </p:nvCxnSpPr>
        <p:spPr>
          <a:xfrm flipH="1">
            <a:off x="7501895" y="2258109"/>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21530" y="4151208"/>
            <a:ext cx="4530490" cy="584775"/>
          </a:xfrm>
          <a:prstGeom prst="rect">
            <a:avLst/>
          </a:prstGeom>
        </p:spPr>
        <p:txBody>
          <a:bodyPr wrap="square">
            <a:spAutoFit/>
          </a:bodyPr>
          <a:lstStyle/>
          <a:p>
            <a:r>
              <a:rPr lang="zh-CN" altLang="en-US" sz="1600" dirty="0">
                <a:sym typeface="Wingdings"/>
              </a:rPr>
              <a:t>注：</a:t>
            </a:r>
            <a:r>
              <a:rPr lang="zh-CN" altLang="en-US" sz="1600" dirty="0" smtClean="0">
                <a:sym typeface="Wingdings"/>
              </a:rPr>
              <a:t>与之前自</a:t>
            </a:r>
            <a:r>
              <a:rPr lang="zh-CN" altLang="en-US" sz="1600" dirty="0">
                <a:sym typeface="Wingdings"/>
              </a:rPr>
              <a:t>环边标注的数字示意方法略不同。这里显示的是边数未乘以</a:t>
            </a:r>
            <a:r>
              <a:rPr lang="en-US" altLang="zh-CN" sz="1600" dirty="0">
                <a:sym typeface="Wingdings"/>
              </a:rPr>
              <a:t>2</a:t>
            </a:r>
            <a:r>
              <a:rPr lang="zh-CN" altLang="en-US" sz="1600" dirty="0">
                <a:sym typeface="Wingdings"/>
              </a:rPr>
              <a:t>。</a:t>
            </a:r>
            <a:endParaRPr lang="en-US" sz="1600" dirty="0"/>
          </a:p>
        </p:txBody>
      </p:sp>
    </p:spTree>
    <p:extLst>
      <p:ext uri="{BB962C8B-B14F-4D97-AF65-F5344CB8AC3E}">
        <p14:creationId xmlns:p14="http://schemas.microsoft.com/office/powerpoint/2010/main" val="17100656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将社区抽象成</a:t>
                </a:r>
                <a:r>
                  <a:rPr lang="en-US" altLang="zh-CN" dirty="0" err="1">
                    <a:sym typeface="Wingdings"/>
                  </a:rPr>
                  <a:t>supernode</a:t>
                </a:r>
                <a:endParaRPr lang="en-US" altLang="zh-CN" dirty="0">
                  <a:sym typeface="Wingdings"/>
                </a:endParaRPr>
              </a:p>
              <a:p>
                <a:r>
                  <a:rPr lang="zh-CN" altLang="en-US" dirty="0">
                    <a:sym typeface="Wingdings"/>
                  </a:rPr>
                  <a:t>枚举一个节点的序列</a:t>
                </a:r>
                <a:endParaRPr lang="en-US" altLang="zh-CN" dirty="0">
                  <a:sym typeface="Wingdings"/>
                </a:endParaRPr>
              </a:p>
              <a:p>
                <a:pPr lvl="1"/>
                <a:r>
                  <a:rPr lang="en-US" altLang="zh-CN" b="1" u="sng" dirty="0">
                    <a:solidFill>
                      <a:srgbClr val="FF0000"/>
                    </a:solidFill>
                    <a:sym typeface="Wingdings"/>
                  </a:rPr>
                  <a:t>1</a:t>
                </a:r>
                <a:r>
                  <a:rPr lang="en-US" altLang="zh-CN" dirty="0">
                    <a:sym typeface="Wingdings"/>
                  </a:rPr>
                  <a:t>,</a:t>
                </a:r>
                <a:r>
                  <a:rPr lang="zh-CN" altLang="en-US" dirty="0">
                    <a:sym typeface="Wingdings"/>
                  </a:rPr>
                  <a:t> </a:t>
                </a:r>
                <a:r>
                  <a:rPr lang="en-US" altLang="zh-CN" dirty="0">
                    <a:sym typeface="Wingdings"/>
                  </a:rPr>
                  <a:t>2,</a:t>
                </a:r>
                <a:r>
                  <a:rPr lang="zh-CN" altLang="en-US" dirty="0">
                    <a:sym typeface="Wingdings"/>
                  </a:rPr>
                  <a:t> </a:t>
                </a:r>
                <a:r>
                  <a:rPr lang="en-US" altLang="zh-CN" dirty="0">
                    <a:sym typeface="Wingdings"/>
                  </a:rPr>
                  <a:t>0</a:t>
                </a:r>
              </a:p>
              <a:p>
                <a:r>
                  <a:rPr lang="zh-CN" altLang="en-US" dirty="0">
                    <a:latin typeface="Microsoft YaHei" charset="-122"/>
                    <a:ea typeface="Microsoft YaHei" charset="-122"/>
                    <a:cs typeface="Microsoft YaHei" charset="-122"/>
                    <a:sym typeface="Wingdings"/>
                  </a:rPr>
                  <a:t>邻居社区：</a:t>
                </a:r>
                <a:endParaRPr lang="en-US" altLang="zh-CN" dirty="0">
                  <a:latin typeface="Microsoft YaHei" charset="-122"/>
                  <a:ea typeface="Microsoft YaHei" charset="-122"/>
                  <a:cs typeface="Microsoft YaHei" charset="-122"/>
                  <a:sym typeface="Wingdings"/>
                </a:endParaRPr>
              </a:p>
              <a:p>
                <a:pPr lvl="1"/>
                <a:r>
                  <a:rPr lang="en-US" altLang="zh-CN" sz="2000" dirty="0">
                    <a:latin typeface="Calibri" charset="0"/>
                    <a:ea typeface="Calibri" charset="0"/>
                    <a:cs typeface="Calibri" charset="0"/>
                    <a:sym typeface="Wingdings"/>
                  </a:rPr>
                  <a:t>{</a:t>
                </a:r>
                <a:r>
                  <a:rPr lang="cs-CZ" altLang="zh-CN" sz="2000" dirty="0">
                    <a:latin typeface="Calibri" charset="0"/>
                    <a:ea typeface="Calibri" charset="0"/>
                    <a:cs typeface="Calibri" charset="0"/>
                    <a:sym typeface="Wingdings"/>
                  </a:rPr>
                  <a:t>0, 2</a:t>
                </a:r>
                <a:r>
                  <a:rPr lang="en-US" altLang="zh-CN" sz="2000" dirty="0">
                    <a:latin typeface="Calibri" charset="0"/>
                    <a:ea typeface="Calibri" charset="0"/>
                    <a:cs typeface="Calibri" charset="0"/>
                    <a:sym typeface="Wingdings"/>
                  </a:rPr>
                  <a:t>}</a:t>
                </a: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1</m:t>
                            </m:r>
                          </m:sub>
                        </m:sSub>
                        <m:r>
                          <a:rPr lang="en-US" altLang="zh-CN" i="1">
                            <a:latin typeface="Cambria Math" charset="0"/>
                            <a:sym typeface="Wingdings"/>
                          </a:rPr>
                          <m:t>→</m:t>
                        </m:r>
                        <m:r>
                          <a:rPr lang="en-US" altLang="zh-CN" b="0" i="1" smtClean="0">
                            <a:latin typeface="Cambria Math" charset="0"/>
                            <a:sym typeface="Wingdings"/>
                          </a:rPr>
                          <m:t>1</m:t>
                        </m:r>
                      </m:e>
                    </m:d>
                    <m:r>
                      <a:rPr lang="en-US" altLang="zh-CN" i="1">
                        <a:latin typeface="Cambria Math" charset="0"/>
                        <a:sym typeface="Wingdings"/>
                      </a:rPr>
                      <m:t>=</m:t>
                    </m:r>
                    <m:r>
                      <a:rPr lang="en-US" altLang="zh-CN" b="0" i="1" smtClean="0">
                        <a:latin typeface="Cambria Math" charset="0"/>
                        <a:sym typeface="Wingdings"/>
                      </a:rPr>
                      <m:t>0</m:t>
                    </m:r>
                  </m:oMath>
                </a14:m>
                <a:endParaRPr lang="en-US" altLang="zh-CN"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1</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m:t>
                    </m:r>
                    <m:r>
                      <a:rPr lang="en-US" altLang="zh-CN" b="0" i="1" smtClean="0">
                        <a:latin typeface="Cambria Math" charset="0"/>
                        <a:sym typeface="Wingdings"/>
                      </a:rPr>
                      <m:t>4−</m:t>
                    </m:r>
                    <m:f>
                      <m:fPr>
                        <m:ctrlPr>
                          <a:rPr lang="mr-IN" altLang="zh-CN" b="0" i="1" smtClean="0">
                            <a:solidFill>
                              <a:srgbClr val="FF0000"/>
                            </a:solidFill>
                            <a:latin typeface="Cambria Math" charset="0"/>
                            <a:sym typeface="Wingdings"/>
                          </a:rPr>
                        </m:ctrlPr>
                      </m:fPr>
                      <m:num>
                        <m:r>
                          <a:rPr lang="en-US" altLang="zh-CN" b="0" i="1" smtClean="0">
                            <a:solidFill>
                              <a:srgbClr val="FF0000"/>
                            </a:solidFill>
                            <a:latin typeface="Cambria Math" charset="0"/>
                            <a:sym typeface="Wingdings"/>
                          </a:rPr>
                          <m:t>11</m:t>
                        </m:r>
                        <m:r>
                          <a:rPr lang="zh-CN" altLang="en-US" b="0" i="1" smtClean="0">
                            <a:solidFill>
                              <a:srgbClr val="FF0000"/>
                            </a:solidFill>
                            <a:latin typeface="Cambria Math" charset="0"/>
                            <a:sym typeface="Wingdings"/>
                          </a:rPr>
                          <m:t>∗</m:t>
                        </m:r>
                        <m:r>
                          <a:rPr lang="en-US" altLang="zh-CN" b="0" i="1" smtClean="0">
                            <a:solidFill>
                              <a:srgbClr val="FF0000"/>
                            </a:solidFill>
                            <a:latin typeface="Cambria Math" charset="0"/>
                            <a:sym typeface="Wingdings"/>
                          </a:rPr>
                          <m:t>12</m:t>
                        </m:r>
                      </m:num>
                      <m:den>
                        <m:r>
                          <a:rPr lang="en-US" altLang="zh-CN" b="0" i="1" smtClean="0">
                            <a:solidFill>
                              <a:srgbClr val="FF0000"/>
                            </a:solidFill>
                            <a:latin typeface="Cambria Math" charset="0"/>
                            <a:sym typeface="Wingdings"/>
                          </a:rPr>
                          <m:t>36</m:t>
                        </m:r>
                      </m:den>
                    </m:f>
                    <m:r>
                      <a:rPr lang="en-US" altLang="zh-CN" b="0" i="1" smtClean="0">
                        <a:latin typeface="Cambria Math" charset="0"/>
                        <a:sym typeface="Wingdings"/>
                      </a:rPr>
                      <m:t>=0.33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1</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0</m:t>
                            </m:r>
                          </m:sub>
                        </m:sSub>
                      </m:e>
                    </m:d>
                    <m:r>
                      <a:rPr lang="en-US" altLang="zh-CN" i="1">
                        <a:latin typeface="Cambria Math" charset="0"/>
                        <a:sym typeface="Wingdings"/>
                      </a:rPr>
                      <m:t>=</m:t>
                    </m:r>
                    <m:r>
                      <a:rPr lang="en-US" altLang="zh-CN" b="0" i="1" smtClean="0">
                        <a:latin typeface="Cambria Math" charset="0"/>
                        <a:sym typeface="Wingdings"/>
                      </a:rPr>
                      <m:t>2−</m:t>
                    </m:r>
                    <m:f>
                      <m:fPr>
                        <m:ctrlPr>
                          <a:rPr lang="mr-IN" altLang="zh-CN" b="0" i="1" smtClean="0">
                            <a:solidFill>
                              <a:srgbClr val="FF0000"/>
                            </a:solidFill>
                            <a:latin typeface="Cambria Math" charset="0"/>
                            <a:sym typeface="Wingdings"/>
                          </a:rPr>
                        </m:ctrlPr>
                      </m:fPr>
                      <m:num>
                        <m:r>
                          <a:rPr lang="en-US" altLang="zh-CN" b="0" i="1" smtClean="0">
                            <a:solidFill>
                              <a:srgbClr val="FF0000"/>
                            </a:solidFill>
                            <a:latin typeface="Cambria Math" charset="0"/>
                            <a:sym typeface="Wingdings"/>
                          </a:rPr>
                          <m:t>13</m:t>
                        </m:r>
                        <m:r>
                          <a:rPr lang="zh-CN" altLang="en-US" b="0" i="1" smtClean="0">
                            <a:solidFill>
                              <a:srgbClr val="FF0000"/>
                            </a:solidFill>
                            <a:latin typeface="Cambria Math" charset="0"/>
                            <a:sym typeface="Wingdings"/>
                          </a:rPr>
                          <m:t>∗</m:t>
                        </m:r>
                        <m:r>
                          <a:rPr lang="en-US" altLang="zh-CN" b="0" i="1" smtClean="0">
                            <a:solidFill>
                              <a:srgbClr val="FF0000"/>
                            </a:solidFill>
                            <a:latin typeface="Cambria Math" charset="0"/>
                            <a:sym typeface="Wingdings"/>
                          </a:rPr>
                          <m:t>12</m:t>
                        </m:r>
                      </m:num>
                      <m:den>
                        <m:r>
                          <a:rPr lang="en-US" altLang="zh-CN" b="0" i="1" smtClean="0">
                            <a:solidFill>
                              <a:srgbClr val="FF0000"/>
                            </a:solidFill>
                            <a:latin typeface="Cambria Math" charset="0"/>
                            <a:sym typeface="Wingdings"/>
                          </a:rPr>
                          <m:t>36</m:t>
                        </m:r>
                      </m:den>
                    </m:f>
                    <m:r>
                      <a:rPr lang="en-US" altLang="zh-CN" b="0" i="1" smtClean="0">
                        <a:latin typeface="Cambria Math" charset="0"/>
                        <a:sym typeface="Wingdings"/>
                      </a:rPr>
                      <m:t>=−</m:t>
                    </m:r>
                    <m:f>
                      <m:fPr>
                        <m:ctrlPr>
                          <a:rPr lang="mr-IN" altLang="zh-CN" b="0" i="1" smtClean="0">
                            <a:latin typeface="Cambria Math" charset="0"/>
                            <a:sym typeface="Wingdings"/>
                          </a:rPr>
                        </m:ctrlPr>
                      </m:fPr>
                      <m:num>
                        <m:r>
                          <a:rPr lang="en-US" altLang="zh-CN" b="0" i="1" smtClean="0">
                            <a:latin typeface="Cambria Math" charset="0"/>
                            <a:sym typeface="Wingdings"/>
                          </a:rPr>
                          <m:t>84</m:t>
                        </m:r>
                      </m:num>
                      <m:den>
                        <m:r>
                          <a:rPr lang="en-US" altLang="zh-CN" b="0" i="1" smtClean="0">
                            <a:latin typeface="Cambria Math" charset="0"/>
                            <a:sym typeface="Wingdings"/>
                          </a:rPr>
                          <m:t>36</m:t>
                        </m:r>
                      </m:den>
                    </m:f>
                  </m:oMath>
                </a14:m>
                <a:endParaRPr lang="en-US" dirty="0">
                  <a:sym typeface="Wingdings"/>
                </a:endParaRPr>
              </a:p>
              <a:p>
                <a:r>
                  <a:rPr lang="zh-CN" altLang="en-US" sz="2200" dirty="0">
                    <a:sym typeface="Wingdings"/>
                  </a:rPr>
                  <a:t>将</a:t>
                </a:r>
                <a:r>
                  <a:rPr lang="en-US" altLang="zh-CN" sz="2200" dirty="0">
                    <a:sym typeface="Wingdings"/>
                  </a:rPr>
                  <a:t>1</a:t>
                </a:r>
                <a:r>
                  <a:rPr lang="zh-CN" altLang="en-US" sz="2200" dirty="0">
                    <a:sym typeface="Wingdings"/>
                  </a:rPr>
                  <a:t>合并到社区</a:t>
                </a:r>
                <a:r>
                  <a:rPr lang="en-US" altLang="zh-CN" sz="2200" dirty="0">
                    <a:sym typeface="Wingdings"/>
                  </a:rPr>
                  <a:t>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46034"/>
              </a:xfrm>
              <a:blipFill rotWithShape="0">
                <a:blip r:embed="rId3"/>
                <a:stretch>
                  <a:fillRect l="-1434" t="-772"/>
                </a:stretch>
              </a:blipFill>
            </p:spPr>
            <p:txBody>
              <a:bodyPr/>
              <a:lstStyle/>
              <a:p>
                <a:r>
                  <a:rPr lang="en-US">
                    <a:noFill/>
                  </a:rPr>
                  <a:t> </a:t>
                </a:r>
              </a:p>
            </p:txBody>
          </p:sp>
        </mc:Fallback>
      </mc:AlternateContent>
      <p:sp>
        <p:nvSpPr>
          <p:cNvPr id="77" name="Oval 76"/>
          <p:cNvSpPr>
            <a:spLocks noChangeAspect="1"/>
          </p:cNvSpPr>
          <p:nvPr/>
        </p:nvSpPr>
        <p:spPr>
          <a:xfrm>
            <a:off x="5925891" y="1823330"/>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78" name="Oval 77"/>
          <p:cNvSpPr>
            <a:spLocks noChangeAspect="1"/>
          </p:cNvSpPr>
          <p:nvPr/>
        </p:nvSpPr>
        <p:spPr>
          <a:xfrm>
            <a:off x="7263147" y="2575954"/>
            <a:ext cx="504000" cy="504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1</a:t>
            </a:r>
            <a:endParaRPr lang="en-US" dirty="0"/>
          </a:p>
        </p:txBody>
      </p:sp>
      <p:sp>
        <p:nvSpPr>
          <p:cNvPr id="79" name="Oval 78"/>
          <p:cNvSpPr>
            <a:spLocks noChangeAspect="1"/>
          </p:cNvSpPr>
          <p:nvPr/>
        </p:nvSpPr>
        <p:spPr>
          <a:xfrm>
            <a:off x="6066379" y="3562047"/>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80" name="TextBox 79"/>
          <p:cNvSpPr txBox="1"/>
          <p:nvPr/>
        </p:nvSpPr>
        <p:spPr>
          <a:xfrm>
            <a:off x="6139057" y="1210473"/>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cxnSp>
        <p:nvCxnSpPr>
          <p:cNvPr id="81" name="Straight Connector 80"/>
          <p:cNvCxnSpPr/>
          <p:nvPr/>
        </p:nvCxnSpPr>
        <p:spPr>
          <a:xfrm>
            <a:off x="6356082" y="2253521"/>
            <a:ext cx="980874" cy="396242"/>
          </a:xfrm>
          <a:prstGeom prst="line">
            <a:avLst/>
          </a:prstGeom>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103533" y="2895288"/>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84" name="TextBox 83"/>
          <p:cNvSpPr txBox="1"/>
          <p:nvPr/>
        </p:nvSpPr>
        <p:spPr>
          <a:xfrm>
            <a:off x="5642018" y="4183765"/>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cxnSp>
        <p:nvCxnSpPr>
          <p:cNvPr id="85" name="Straight Connector 84"/>
          <p:cNvCxnSpPr/>
          <p:nvPr/>
        </p:nvCxnSpPr>
        <p:spPr>
          <a:xfrm flipV="1">
            <a:off x="6496570" y="3006145"/>
            <a:ext cx="840386" cy="629711"/>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flipH="1" flipV="1">
            <a:off x="6177891" y="2327330"/>
            <a:ext cx="140488" cy="1234717"/>
          </a:xfrm>
          <a:prstGeom prst="line">
            <a:avLst/>
          </a:prstGeom>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6618509" y="1910812"/>
            <a:ext cx="965329" cy="369332"/>
          </a:xfrm>
          <a:prstGeom prst="rect">
            <a:avLst/>
          </a:prstGeom>
          <a:noFill/>
        </p:spPr>
        <p:txBody>
          <a:bodyPr wrap="none" rtlCol="0">
            <a:spAutoFit/>
          </a:bodyPr>
          <a:lstStyle/>
          <a:p>
            <a:r>
              <a:rPr lang="en-US" altLang="zh-CN" i="1"/>
              <a:t>edges:</a:t>
            </a:r>
            <a:r>
              <a:rPr lang="zh-CN" altLang="en-US" i="1" dirty="0"/>
              <a:t> </a:t>
            </a:r>
            <a:r>
              <a:rPr lang="en-US" altLang="zh-CN" i="1" dirty="0"/>
              <a:t>2</a:t>
            </a:r>
            <a:endParaRPr lang="en-US" i="1" dirty="0"/>
          </a:p>
        </p:txBody>
      </p:sp>
      <p:sp>
        <p:nvSpPr>
          <p:cNvPr id="88" name="TextBox 87"/>
          <p:cNvSpPr txBox="1"/>
          <p:nvPr/>
        </p:nvSpPr>
        <p:spPr>
          <a:xfrm>
            <a:off x="5299681" y="3079954"/>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1</a:t>
            </a:r>
            <a:endParaRPr lang="en-US" i="1" dirty="0"/>
          </a:p>
        </p:txBody>
      </p:sp>
      <p:sp>
        <p:nvSpPr>
          <p:cNvPr id="89" name="TextBox 88"/>
          <p:cNvSpPr txBox="1"/>
          <p:nvPr/>
        </p:nvSpPr>
        <p:spPr>
          <a:xfrm>
            <a:off x="6748570" y="3349950"/>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4</a:t>
            </a:r>
            <a:endParaRPr lang="en-US" i="1" dirty="0"/>
          </a:p>
        </p:txBody>
      </p:sp>
      <p:sp>
        <p:nvSpPr>
          <p:cNvPr id="90" name="TextBox 89"/>
          <p:cNvSpPr txBox="1"/>
          <p:nvPr/>
        </p:nvSpPr>
        <p:spPr>
          <a:xfrm>
            <a:off x="7886665" y="148318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1" name="Right Arrow 90"/>
          <p:cNvSpPr/>
          <p:nvPr/>
        </p:nvSpPr>
        <p:spPr>
          <a:xfrm rot="16200000">
            <a:off x="7878721" y="1939128"/>
            <a:ext cx="310132" cy="2942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p:cNvSpPr txBox="1"/>
          <p:nvPr/>
        </p:nvSpPr>
        <p:spPr>
          <a:xfrm>
            <a:off x="5528226" y="184898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4" name="TextBox 93"/>
          <p:cNvSpPr txBox="1"/>
          <p:nvPr/>
        </p:nvSpPr>
        <p:spPr>
          <a:xfrm>
            <a:off x="7886665" y="2308293"/>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5" name="TextBox 104"/>
          <p:cNvSpPr txBox="1"/>
          <p:nvPr/>
        </p:nvSpPr>
        <p:spPr>
          <a:xfrm>
            <a:off x="5572960" y="363712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cxnSp>
        <p:nvCxnSpPr>
          <p:cNvPr id="5" name="Curved Connector 4"/>
          <p:cNvCxnSpPr>
            <a:stCxn id="77" idx="0"/>
            <a:endCxn id="77" idx="2"/>
          </p:cNvCxnSpPr>
          <p:nvPr/>
        </p:nvCxnSpPr>
        <p:spPr>
          <a:xfrm rot="16200000" flipH="1" flipV="1">
            <a:off x="5925891" y="1823330"/>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23" name="Curved Connector 22"/>
          <p:cNvCxnSpPr>
            <a:stCxn id="79" idx="4"/>
            <a:endCxn id="79" idx="2"/>
          </p:cNvCxnSpPr>
          <p:nvPr/>
        </p:nvCxnSpPr>
        <p:spPr>
          <a:xfrm rot="5400000" flipH="1">
            <a:off x="6066379" y="3814047"/>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28" name="Curved Connector 27"/>
          <p:cNvCxnSpPr>
            <a:stCxn id="78" idx="6"/>
            <a:endCxn id="78" idx="4"/>
          </p:cNvCxnSpPr>
          <p:nvPr/>
        </p:nvCxnSpPr>
        <p:spPr>
          <a:xfrm flipH="1">
            <a:off x="7515147" y="2827954"/>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773632" y="4054133"/>
            <a:ext cx="2320002" cy="646331"/>
          </a:xfrm>
          <a:prstGeom prst="rect">
            <a:avLst/>
          </a:prstGeom>
        </p:spPr>
        <p:txBody>
          <a:bodyPr wrap="square">
            <a:spAutoFit/>
          </a:bodyPr>
          <a:lstStyle/>
          <a:p>
            <a:r>
              <a:rPr lang="zh-CN" altLang="en-US">
                <a:sym typeface="Wingdings"/>
              </a:rPr>
              <a:t>注意：无向图自</a:t>
            </a:r>
            <a:r>
              <a:rPr lang="zh-CN" altLang="en-US" dirty="0">
                <a:sym typeface="Wingdings"/>
              </a:rPr>
              <a:t>环边的度数是边数乘以</a:t>
            </a:r>
            <a:r>
              <a:rPr lang="en-US" altLang="zh-CN" dirty="0">
                <a:sym typeface="Wingdings"/>
              </a:rPr>
              <a:t>2</a:t>
            </a:r>
            <a:endParaRPr lang="en-US" dirty="0"/>
          </a:p>
        </p:txBody>
      </p:sp>
    </p:spTree>
    <p:extLst>
      <p:ext uri="{BB962C8B-B14F-4D97-AF65-F5344CB8AC3E}">
        <p14:creationId xmlns:p14="http://schemas.microsoft.com/office/powerpoint/2010/main" val="1915901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将社区抽象成</a:t>
            </a:r>
            <a:r>
              <a:rPr lang="en-US" altLang="zh-CN" dirty="0" err="1">
                <a:sym typeface="Wingdings"/>
              </a:rPr>
              <a:t>supernode</a:t>
            </a:r>
            <a:endParaRPr lang="en-US" altLang="zh-CN" dirty="0">
              <a:sym typeface="Wingdings"/>
            </a:endParaRPr>
          </a:p>
          <a:p>
            <a:r>
              <a:rPr lang="zh-CN" altLang="en-US" dirty="0">
                <a:sym typeface="Wingdings"/>
              </a:rPr>
              <a:t>遍历节点的序列</a:t>
            </a:r>
            <a:endParaRPr lang="en-US" altLang="zh-CN" dirty="0">
              <a:sym typeface="Wingdings"/>
            </a:endParaRPr>
          </a:p>
          <a:p>
            <a:pPr lvl="1"/>
            <a:r>
              <a:rPr lang="en-US" altLang="zh-CN" b="1" u="sng" dirty="0">
                <a:solidFill>
                  <a:srgbClr val="FF0000"/>
                </a:solidFill>
                <a:sym typeface="Wingdings"/>
              </a:rPr>
              <a:t>1</a:t>
            </a:r>
            <a:r>
              <a:rPr lang="en-US" altLang="zh-CN" dirty="0">
                <a:sym typeface="Wingdings"/>
              </a:rPr>
              <a:t>,</a:t>
            </a:r>
            <a:r>
              <a:rPr lang="zh-CN" altLang="en-US" dirty="0">
                <a:sym typeface="Wingdings"/>
              </a:rPr>
              <a:t> </a:t>
            </a:r>
            <a:r>
              <a:rPr lang="en-US" altLang="zh-CN" dirty="0">
                <a:sym typeface="Wingdings"/>
              </a:rPr>
              <a:t>2,</a:t>
            </a:r>
            <a:r>
              <a:rPr lang="zh-CN" altLang="en-US" dirty="0">
                <a:sym typeface="Wingdings"/>
              </a:rPr>
              <a:t> </a:t>
            </a:r>
            <a:r>
              <a:rPr lang="en-US" altLang="zh-CN" dirty="0">
                <a:sym typeface="Wingdings"/>
              </a:rPr>
              <a:t>0</a:t>
            </a:r>
          </a:p>
          <a:p>
            <a:pPr lvl="1"/>
            <a:r>
              <a:rPr lang="en-US" altLang="zh-CN" dirty="0">
                <a:sym typeface="Wingdings"/>
              </a:rPr>
              <a:t>1,</a:t>
            </a:r>
            <a:r>
              <a:rPr lang="zh-CN" altLang="en-US" dirty="0">
                <a:sym typeface="Wingdings"/>
              </a:rPr>
              <a:t> </a:t>
            </a:r>
            <a:r>
              <a:rPr lang="en-US" altLang="zh-CN" b="1" u="sng" dirty="0">
                <a:solidFill>
                  <a:srgbClr val="FF0000"/>
                </a:solidFill>
                <a:sym typeface="Wingdings"/>
              </a:rPr>
              <a:t>2</a:t>
            </a:r>
            <a:r>
              <a:rPr lang="en-US" altLang="zh-CN" dirty="0">
                <a:sym typeface="Wingdings"/>
              </a:rPr>
              <a:t>,</a:t>
            </a:r>
            <a:r>
              <a:rPr lang="zh-CN" altLang="en-US" dirty="0">
                <a:sym typeface="Wingdings"/>
              </a:rPr>
              <a:t> </a:t>
            </a:r>
            <a:r>
              <a:rPr lang="en-US" altLang="zh-CN" dirty="0">
                <a:sym typeface="Wingdings"/>
              </a:rPr>
              <a:t>0</a:t>
            </a:r>
          </a:p>
          <a:p>
            <a:pPr lvl="1"/>
            <a:r>
              <a:rPr lang="en-US" altLang="zh-CN" dirty="0">
                <a:sym typeface="Wingdings"/>
              </a:rPr>
              <a:t>1,</a:t>
            </a:r>
            <a:r>
              <a:rPr lang="zh-CN" altLang="en-US" dirty="0">
                <a:sym typeface="Wingdings"/>
              </a:rPr>
              <a:t> </a:t>
            </a:r>
            <a:r>
              <a:rPr lang="en-US" altLang="zh-CN" dirty="0">
                <a:sym typeface="Wingdings"/>
              </a:rPr>
              <a:t>2,</a:t>
            </a:r>
            <a:r>
              <a:rPr lang="zh-CN" altLang="en-US" dirty="0">
                <a:sym typeface="Wingdings"/>
              </a:rPr>
              <a:t> </a:t>
            </a:r>
            <a:r>
              <a:rPr lang="en-US" altLang="zh-CN" b="1" u="sng" dirty="0">
                <a:solidFill>
                  <a:srgbClr val="FF0000"/>
                </a:solidFill>
                <a:sym typeface="Wingdings"/>
              </a:rPr>
              <a:t>0</a:t>
            </a:r>
          </a:p>
          <a:p>
            <a:endParaRPr lang="en-US" altLang="zh-CN" sz="2200" dirty="0">
              <a:sym typeface="Wingdings"/>
            </a:endParaRPr>
          </a:p>
        </p:txBody>
      </p:sp>
      <p:sp>
        <p:nvSpPr>
          <p:cNvPr id="21" name="Oval 20"/>
          <p:cNvSpPr>
            <a:spLocks noChangeAspect="1"/>
          </p:cNvSpPr>
          <p:nvPr/>
        </p:nvSpPr>
        <p:spPr>
          <a:xfrm>
            <a:off x="965378" y="3343515"/>
            <a:ext cx="683118" cy="6831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22" name="Oval 21"/>
          <p:cNvSpPr>
            <a:spLocks noChangeAspect="1"/>
          </p:cNvSpPr>
          <p:nvPr/>
        </p:nvSpPr>
        <p:spPr>
          <a:xfrm>
            <a:off x="3242792" y="3345234"/>
            <a:ext cx="683118" cy="6831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1</a:t>
            </a:r>
            <a:endParaRPr lang="en-US" dirty="0"/>
          </a:p>
        </p:txBody>
      </p:sp>
      <p:cxnSp>
        <p:nvCxnSpPr>
          <p:cNvPr id="23" name="Straight Connector 22"/>
          <p:cNvCxnSpPr>
            <a:stCxn id="22" idx="2"/>
            <a:endCxn id="21" idx="6"/>
          </p:cNvCxnSpPr>
          <p:nvPr/>
        </p:nvCxnSpPr>
        <p:spPr>
          <a:xfrm flipH="1" flipV="1">
            <a:off x="1648496" y="3685074"/>
            <a:ext cx="1594296" cy="1719"/>
          </a:xfrm>
          <a:prstGeom prst="line">
            <a:avLst/>
          </a:prstGeom>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8623" y="2792166"/>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sp>
        <p:nvSpPr>
          <p:cNvPr id="27" name="TextBox 26"/>
          <p:cNvSpPr txBox="1"/>
          <p:nvPr/>
        </p:nvSpPr>
        <p:spPr>
          <a:xfrm>
            <a:off x="3593510" y="2769288"/>
            <a:ext cx="1082348" cy="369332"/>
          </a:xfrm>
          <a:prstGeom prst="rect">
            <a:avLst/>
          </a:prstGeom>
          <a:noFill/>
        </p:spPr>
        <p:txBody>
          <a:bodyPr wrap="none" rtlCol="0">
            <a:spAutoFit/>
          </a:bodyPr>
          <a:lstStyle/>
          <a:p>
            <a:r>
              <a:rPr lang="en-US" altLang="zh-CN" i="1" dirty="0"/>
              <a:t>edges:</a:t>
            </a:r>
            <a:r>
              <a:rPr lang="zh-CN" altLang="en-US" i="1" dirty="0"/>
              <a:t> </a:t>
            </a:r>
            <a:r>
              <a:rPr lang="en-US" altLang="zh-CN" i="1" dirty="0"/>
              <a:t>10</a:t>
            </a:r>
            <a:endParaRPr lang="en-US" i="1" dirty="0"/>
          </a:p>
        </p:txBody>
      </p:sp>
      <p:sp>
        <p:nvSpPr>
          <p:cNvPr id="28" name="TextBox 27"/>
          <p:cNvSpPr txBox="1"/>
          <p:nvPr/>
        </p:nvSpPr>
        <p:spPr>
          <a:xfrm>
            <a:off x="1968619" y="3158824"/>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29" name="Right Arrow 28"/>
          <p:cNvSpPr/>
          <p:nvPr/>
        </p:nvSpPr>
        <p:spPr>
          <a:xfrm rot="10800000">
            <a:off x="4837176" y="3562047"/>
            <a:ext cx="399245" cy="5537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a:spLocks noChangeAspect="1"/>
          </p:cNvSpPr>
          <p:nvPr/>
        </p:nvSpPr>
        <p:spPr>
          <a:xfrm>
            <a:off x="5925891" y="1823330"/>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31" name="Oval 30"/>
          <p:cNvSpPr>
            <a:spLocks noChangeAspect="1"/>
          </p:cNvSpPr>
          <p:nvPr/>
        </p:nvSpPr>
        <p:spPr>
          <a:xfrm>
            <a:off x="7263147" y="2575954"/>
            <a:ext cx="504000" cy="504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1</a:t>
            </a:r>
            <a:endParaRPr lang="en-US" dirty="0"/>
          </a:p>
        </p:txBody>
      </p:sp>
      <p:sp>
        <p:nvSpPr>
          <p:cNvPr id="32" name="Oval 31"/>
          <p:cNvSpPr>
            <a:spLocks noChangeAspect="1"/>
          </p:cNvSpPr>
          <p:nvPr/>
        </p:nvSpPr>
        <p:spPr>
          <a:xfrm>
            <a:off x="6066379" y="3562047"/>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33" name="TextBox 32"/>
          <p:cNvSpPr txBox="1"/>
          <p:nvPr/>
        </p:nvSpPr>
        <p:spPr>
          <a:xfrm>
            <a:off x="6139057" y="1210473"/>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cxnSp>
        <p:nvCxnSpPr>
          <p:cNvPr id="34" name="Straight Connector 33"/>
          <p:cNvCxnSpPr/>
          <p:nvPr/>
        </p:nvCxnSpPr>
        <p:spPr>
          <a:xfrm>
            <a:off x="6356082" y="2253521"/>
            <a:ext cx="980874" cy="396242"/>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103533" y="2895288"/>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36" name="TextBox 35"/>
          <p:cNvSpPr txBox="1"/>
          <p:nvPr/>
        </p:nvSpPr>
        <p:spPr>
          <a:xfrm>
            <a:off x="5642018" y="4183765"/>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cxnSp>
        <p:nvCxnSpPr>
          <p:cNvPr id="37" name="Straight Connector 36"/>
          <p:cNvCxnSpPr/>
          <p:nvPr/>
        </p:nvCxnSpPr>
        <p:spPr>
          <a:xfrm flipV="1">
            <a:off x="6496570" y="3006145"/>
            <a:ext cx="840386" cy="629711"/>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H="1" flipV="1">
            <a:off x="6177891" y="2327330"/>
            <a:ext cx="140488" cy="1234717"/>
          </a:xfrm>
          <a:prstGeom prst="line">
            <a:avLst/>
          </a:prstGeom>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618509" y="1910812"/>
            <a:ext cx="965329" cy="369332"/>
          </a:xfrm>
          <a:prstGeom prst="rect">
            <a:avLst/>
          </a:prstGeom>
          <a:noFill/>
        </p:spPr>
        <p:txBody>
          <a:bodyPr wrap="none" rtlCol="0">
            <a:spAutoFit/>
          </a:bodyPr>
          <a:lstStyle/>
          <a:p>
            <a:r>
              <a:rPr lang="en-US" altLang="zh-CN" i="1"/>
              <a:t>edges:</a:t>
            </a:r>
            <a:r>
              <a:rPr lang="zh-CN" altLang="en-US" i="1" dirty="0"/>
              <a:t> </a:t>
            </a:r>
            <a:r>
              <a:rPr lang="en-US" altLang="zh-CN" i="1" dirty="0"/>
              <a:t>2</a:t>
            </a:r>
            <a:endParaRPr lang="en-US" i="1" dirty="0"/>
          </a:p>
        </p:txBody>
      </p:sp>
      <p:sp>
        <p:nvSpPr>
          <p:cNvPr id="40" name="TextBox 39"/>
          <p:cNvSpPr txBox="1"/>
          <p:nvPr/>
        </p:nvSpPr>
        <p:spPr>
          <a:xfrm>
            <a:off x="5299681" y="3079954"/>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1</a:t>
            </a:r>
            <a:endParaRPr lang="en-US" i="1" dirty="0"/>
          </a:p>
        </p:txBody>
      </p:sp>
      <p:sp>
        <p:nvSpPr>
          <p:cNvPr id="41" name="TextBox 40"/>
          <p:cNvSpPr txBox="1"/>
          <p:nvPr/>
        </p:nvSpPr>
        <p:spPr>
          <a:xfrm>
            <a:off x="6748570" y="3349950"/>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4</a:t>
            </a:r>
            <a:endParaRPr lang="en-US" i="1" dirty="0"/>
          </a:p>
        </p:txBody>
      </p:sp>
      <p:sp>
        <p:nvSpPr>
          <p:cNvPr id="44" name="TextBox 43"/>
          <p:cNvSpPr txBox="1"/>
          <p:nvPr/>
        </p:nvSpPr>
        <p:spPr>
          <a:xfrm>
            <a:off x="5528226" y="184898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45" name="TextBox 44"/>
          <p:cNvSpPr txBox="1"/>
          <p:nvPr/>
        </p:nvSpPr>
        <p:spPr>
          <a:xfrm>
            <a:off x="7886665" y="230829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46" name="TextBox 45"/>
          <p:cNvSpPr txBox="1"/>
          <p:nvPr/>
        </p:nvSpPr>
        <p:spPr>
          <a:xfrm>
            <a:off x="5572960" y="363712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cxnSp>
        <p:nvCxnSpPr>
          <p:cNvPr id="47" name="Curved Connector 46"/>
          <p:cNvCxnSpPr/>
          <p:nvPr/>
        </p:nvCxnSpPr>
        <p:spPr>
          <a:xfrm rot="16200000" flipH="1" flipV="1">
            <a:off x="5925891" y="1823330"/>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48" name="Curved Connector 47"/>
          <p:cNvCxnSpPr/>
          <p:nvPr/>
        </p:nvCxnSpPr>
        <p:spPr>
          <a:xfrm rot="5400000" flipH="1">
            <a:off x="6066379" y="3814047"/>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49" name="Curved Connector 48"/>
          <p:cNvCxnSpPr/>
          <p:nvPr/>
        </p:nvCxnSpPr>
        <p:spPr>
          <a:xfrm flipH="1">
            <a:off x="7515147" y="2827954"/>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773632" y="4054133"/>
            <a:ext cx="2320002" cy="646331"/>
          </a:xfrm>
          <a:prstGeom prst="rect">
            <a:avLst/>
          </a:prstGeom>
        </p:spPr>
        <p:txBody>
          <a:bodyPr wrap="square">
            <a:spAutoFit/>
          </a:bodyPr>
          <a:lstStyle/>
          <a:p>
            <a:r>
              <a:rPr lang="zh-CN" altLang="en-US">
                <a:sym typeface="Wingdings"/>
              </a:rPr>
              <a:t>注意：无向图自</a:t>
            </a:r>
            <a:r>
              <a:rPr lang="zh-CN" altLang="en-US" dirty="0">
                <a:sym typeface="Wingdings"/>
              </a:rPr>
              <a:t>环边的度数是边数乘以</a:t>
            </a:r>
            <a:r>
              <a:rPr lang="en-US" altLang="zh-CN" dirty="0">
                <a:sym typeface="Wingdings"/>
              </a:rPr>
              <a:t>2</a:t>
            </a:r>
            <a:endParaRPr lang="en-US" dirty="0"/>
          </a:p>
        </p:txBody>
      </p:sp>
      <p:cxnSp>
        <p:nvCxnSpPr>
          <p:cNvPr id="51" name="Curved Connector 50"/>
          <p:cNvCxnSpPr>
            <a:stCxn id="21" idx="3"/>
            <a:endCxn id="21" idx="1"/>
          </p:cNvCxnSpPr>
          <p:nvPr/>
        </p:nvCxnSpPr>
        <p:spPr>
          <a:xfrm rot="5400000" flipH="1">
            <a:off x="823899" y="3685074"/>
            <a:ext cx="483038" cy="12700"/>
          </a:xfrm>
          <a:prstGeom prst="curvedConnector5">
            <a:avLst>
              <a:gd name="adj1" fmla="val -47325"/>
              <a:gd name="adj2" fmla="val 6391165"/>
              <a:gd name="adj3" fmla="val 147325"/>
            </a:avLst>
          </a:prstGeom>
        </p:spPr>
        <p:style>
          <a:lnRef idx="2">
            <a:schemeClr val="accent1"/>
          </a:lnRef>
          <a:fillRef idx="0">
            <a:schemeClr val="accent1"/>
          </a:fillRef>
          <a:effectRef idx="1">
            <a:schemeClr val="accent1"/>
          </a:effectRef>
          <a:fontRef idx="minor">
            <a:schemeClr val="tx1"/>
          </a:fontRef>
        </p:style>
      </p:cxnSp>
      <p:cxnSp>
        <p:nvCxnSpPr>
          <p:cNvPr id="52" name="Curved Connector 51"/>
          <p:cNvCxnSpPr>
            <a:stCxn id="22" idx="7"/>
            <a:endCxn id="22" idx="5"/>
          </p:cNvCxnSpPr>
          <p:nvPr/>
        </p:nvCxnSpPr>
        <p:spPr>
          <a:xfrm rot="16200000" flipH="1">
            <a:off x="3584351" y="3686793"/>
            <a:ext cx="483038" cy="12700"/>
          </a:xfrm>
          <a:prstGeom prst="curvedConnector5">
            <a:avLst>
              <a:gd name="adj1" fmla="val -47325"/>
              <a:gd name="adj2" fmla="val 6391165"/>
              <a:gd name="adj3" fmla="val 147325"/>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2344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层次化的社区检测结果</a:t>
            </a:r>
            <a:endParaRPr lang="en-US" altLang="zh-CN" dirty="0">
              <a:sym typeface="Wingdings"/>
            </a:endParaRPr>
          </a:p>
        </p:txBody>
      </p:sp>
      <p:grpSp>
        <p:nvGrpSpPr>
          <p:cNvPr id="30" name="Group 29"/>
          <p:cNvGrpSpPr/>
          <p:nvPr/>
        </p:nvGrpSpPr>
        <p:grpSpPr>
          <a:xfrm>
            <a:off x="794204" y="1208221"/>
            <a:ext cx="3500901" cy="3194548"/>
            <a:chOff x="5585145" y="1187061"/>
            <a:chExt cx="3500901" cy="3194548"/>
          </a:xfrm>
        </p:grpSpPr>
        <p:sp>
          <p:nvSpPr>
            <p:cNvPr id="31" name="Oval 30"/>
            <p:cNvSpPr/>
            <p:nvPr/>
          </p:nvSpPr>
          <p:spPr>
            <a:xfrm>
              <a:off x="5585146"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A</a:t>
              </a:r>
              <a:endParaRPr lang="en-US" dirty="0"/>
            </a:p>
          </p:txBody>
        </p:sp>
        <p:sp>
          <p:nvSpPr>
            <p:cNvPr id="32" name="Oval 31"/>
            <p:cNvSpPr/>
            <p:nvPr/>
          </p:nvSpPr>
          <p:spPr>
            <a:xfrm>
              <a:off x="6664822"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B</a:t>
              </a:r>
              <a:endParaRPr lang="en-US" dirty="0"/>
            </a:p>
          </p:txBody>
        </p:sp>
        <p:sp>
          <p:nvSpPr>
            <p:cNvPr id="33" name="Oval 32"/>
            <p:cNvSpPr/>
            <p:nvPr/>
          </p:nvSpPr>
          <p:spPr>
            <a:xfrm>
              <a:off x="5585145" y="236977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C</a:t>
              </a:r>
              <a:endParaRPr lang="en-US" dirty="0"/>
            </a:p>
          </p:txBody>
        </p:sp>
        <p:sp>
          <p:nvSpPr>
            <p:cNvPr id="34" name="Oval 33"/>
            <p:cNvSpPr/>
            <p:nvPr/>
          </p:nvSpPr>
          <p:spPr>
            <a:xfrm>
              <a:off x="6510274" y="2434165"/>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D</a:t>
              </a:r>
              <a:endParaRPr lang="en-US" dirty="0"/>
            </a:p>
          </p:txBody>
        </p:sp>
        <p:cxnSp>
          <p:nvCxnSpPr>
            <p:cNvPr id="35" name="Straight Connector 34"/>
            <p:cNvCxnSpPr>
              <a:stCxn id="32" idx="5"/>
              <a:endCxn id="35"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a:stCxn id="33" idx="3"/>
              <a:endCxn id="34"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32" idx="4"/>
              <a:endCxn id="34"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34" idx="6"/>
              <a:endCxn id="35"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32" idx="6"/>
              <a:endCxn id="33"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33" idx="6"/>
              <a:endCxn id="51"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808891" y="1367367"/>
              <a:ext cx="373487" cy="37348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E</a:t>
              </a:r>
              <a:endParaRPr lang="en-US" dirty="0"/>
            </a:p>
          </p:txBody>
        </p:sp>
        <p:sp>
          <p:nvSpPr>
            <p:cNvPr id="42" name="Oval 41"/>
            <p:cNvSpPr/>
            <p:nvPr/>
          </p:nvSpPr>
          <p:spPr>
            <a:xfrm>
              <a:off x="7808891" y="2550077"/>
              <a:ext cx="373487" cy="37348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G</a:t>
              </a:r>
              <a:endParaRPr lang="en-US" dirty="0"/>
            </a:p>
          </p:txBody>
        </p:sp>
        <p:sp>
          <p:nvSpPr>
            <p:cNvPr id="43" name="Oval 42"/>
            <p:cNvSpPr/>
            <p:nvPr/>
          </p:nvSpPr>
          <p:spPr>
            <a:xfrm>
              <a:off x="8712559" y="1958721"/>
              <a:ext cx="373487" cy="37348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F</a:t>
              </a:r>
              <a:endParaRPr lang="en-US" dirty="0"/>
            </a:p>
          </p:txBody>
        </p:sp>
        <p:cxnSp>
          <p:nvCxnSpPr>
            <p:cNvPr id="44" name="Straight Connector 43"/>
            <p:cNvCxnSpPr>
              <a:stCxn id="35" idx="6"/>
              <a:endCxn id="52"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a:stCxn id="51" idx="4"/>
              <a:endCxn id="52"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51" idx="6"/>
              <a:endCxn id="53"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p:cNvCxnSpPr>
              <a:stCxn id="52" idx="6"/>
              <a:endCxn id="53"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8527963" y="3284170"/>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J</a:t>
              </a:r>
              <a:endParaRPr lang="en-US" dirty="0"/>
            </a:p>
          </p:txBody>
        </p:sp>
        <p:cxnSp>
          <p:nvCxnSpPr>
            <p:cNvPr id="49" name="Straight Connector 48"/>
            <p:cNvCxnSpPr>
              <a:endCxn id="52"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p:cNvCxnSpPr>
              <a:endCxn id="51"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p:cNvCxnSpPr>
              <a:endCxn id="53"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6693909" y="3536937"/>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H</a:t>
              </a:r>
              <a:endParaRPr lang="en-US" dirty="0"/>
            </a:p>
          </p:txBody>
        </p:sp>
        <p:cxnSp>
          <p:nvCxnSpPr>
            <p:cNvPr id="53" name="Straight Connector 52"/>
            <p:cNvCxnSpPr>
              <a:stCxn id="51" idx="3"/>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7797679" y="4008122"/>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I</a:t>
              </a:r>
              <a:endParaRPr lang="en-US" dirty="0"/>
            </a:p>
          </p:txBody>
        </p:sp>
        <p:cxnSp>
          <p:nvCxnSpPr>
            <p:cNvPr id="55" name="Straight Connector 54"/>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35" idx="5"/>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69" name="Group 68"/>
          <p:cNvGrpSpPr/>
          <p:nvPr/>
        </p:nvGrpSpPr>
        <p:grpSpPr>
          <a:xfrm>
            <a:off x="5266429" y="1102751"/>
            <a:ext cx="3500901" cy="3194548"/>
            <a:chOff x="5585145" y="1187061"/>
            <a:chExt cx="3500901" cy="3194548"/>
          </a:xfrm>
        </p:grpSpPr>
        <p:sp>
          <p:nvSpPr>
            <p:cNvPr id="70" name="Oval 69"/>
            <p:cNvSpPr/>
            <p:nvPr/>
          </p:nvSpPr>
          <p:spPr>
            <a:xfrm>
              <a:off x="5585146"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A</a:t>
              </a:r>
              <a:endParaRPr lang="en-US" dirty="0"/>
            </a:p>
          </p:txBody>
        </p:sp>
        <p:sp>
          <p:nvSpPr>
            <p:cNvPr id="71" name="Oval 70"/>
            <p:cNvSpPr/>
            <p:nvPr/>
          </p:nvSpPr>
          <p:spPr>
            <a:xfrm>
              <a:off x="6664822"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B</a:t>
              </a:r>
              <a:endParaRPr lang="en-US" dirty="0"/>
            </a:p>
          </p:txBody>
        </p:sp>
        <p:sp>
          <p:nvSpPr>
            <p:cNvPr id="72" name="Oval 71"/>
            <p:cNvSpPr/>
            <p:nvPr/>
          </p:nvSpPr>
          <p:spPr>
            <a:xfrm>
              <a:off x="5585145" y="236977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C</a:t>
              </a:r>
              <a:endParaRPr lang="en-US" dirty="0"/>
            </a:p>
          </p:txBody>
        </p:sp>
        <p:sp>
          <p:nvSpPr>
            <p:cNvPr id="73" name="Oval 72"/>
            <p:cNvSpPr/>
            <p:nvPr/>
          </p:nvSpPr>
          <p:spPr>
            <a:xfrm>
              <a:off x="6510274" y="2434165"/>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D</a:t>
              </a:r>
              <a:endParaRPr lang="en-US" dirty="0"/>
            </a:p>
          </p:txBody>
        </p:sp>
        <p:cxnSp>
          <p:nvCxnSpPr>
            <p:cNvPr id="74" name="Straight Connector 73"/>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1" name="Straight Connector 90"/>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7808891" y="1367367"/>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E</a:t>
              </a:r>
              <a:endParaRPr lang="en-US" dirty="0"/>
            </a:p>
          </p:txBody>
        </p:sp>
        <p:sp>
          <p:nvSpPr>
            <p:cNvPr id="95" name="Oval 94"/>
            <p:cNvSpPr/>
            <p:nvPr/>
          </p:nvSpPr>
          <p:spPr>
            <a:xfrm>
              <a:off x="7808891" y="2550077"/>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G</a:t>
              </a:r>
              <a:endParaRPr lang="en-US" dirty="0"/>
            </a:p>
          </p:txBody>
        </p:sp>
        <p:sp>
          <p:nvSpPr>
            <p:cNvPr id="96" name="Oval 95"/>
            <p:cNvSpPr/>
            <p:nvPr/>
          </p:nvSpPr>
          <p:spPr>
            <a:xfrm>
              <a:off x="8712559" y="1958721"/>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F</a:t>
              </a:r>
              <a:endParaRPr lang="en-US" dirty="0"/>
            </a:p>
          </p:txBody>
        </p:sp>
        <p:cxnSp>
          <p:nvCxnSpPr>
            <p:cNvPr id="97" name="Straight Connector 96"/>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98" name="Straight Connector 97"/>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8527963" y="3284170"/>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J</a:t>
              </a:r>
              <a:endParaRPr lang="en-US" dirty="0"/>
            </a:p>
          </p:txBody>
        </p:sp>
        <p:cxnSp>
          <p:nvCxnSpPr>
            <p:cNvPr id="102" name="Straight Connector 101"/>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6693909" y="3536937"/>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H</a:t>
              </a:r>
              <a:endParaRPr lang="en-US" dirty="0"/>
            </a:p>
          </p:txBody>
        </p:sp>
        <p:cxnSp>
          <p:nvCxnSpPr>
            <p:cNvPr id="107" name="Straight Connector 106"/>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108" name="Oval 107"/>
            <p:cNvSpPr/>
            <p:nvPr/>
          </p:nvSpPr>
          <p:spPr>
            <a:xfrm>
              <a:off x="7797679" y="4008122"/>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I</a:t>
              </a:r>
              <a:endParaRPr lang="en-US" dirty="0"/>
            </a:p>
          </p:txBody>
        </p:sp>
        <p:cxnSp>
          <p:nvCxnSpPr>
            <p:cNvPr id="109" name="Straight Connector 108"/>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Straight Connector 110"/>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Straight Connector 111"/>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4" name="Rectangle 3"/>
          <p:cNvSpPr/>
          <p:nvPr/>
        </p:nvSpPr>
        <p:spPr>
          <a:xfrm>
            <a:off x="416158" y="4440755"/>
            <a:ext cx="8311683" cy="400110"/>
          </a:xfrm>
          <a:prstGeom prst="rect">
            <a:avLst/>
          </a:prstGeom>
        </p:spPr>
        <p:txBody>
          <a:bodyPr wrap="square">
            <a:spAutoFit/>
          </a:bodyPr>
          <a:lstStyle/>
          <a:p>
            <a:r>
              <a:rPr lang="en-US" sz="2000"/>
              <a:t>[{'A': 0, 'B': 0, 'C': 0, 'D': 0, 'E': 1, 'G': 1, 'F': 1, 'J': 2, 'H': 2, 'I': 2}, {0: 0, 1: 1, 2: 1}]</a:t>
            </a:r>
          </a:p>
        </p:txBody>
      </p:sp>
    </p:spTree>
    <p:extLst>
      <p:ext uri="{BB962C8B-B14F-4D97-AF65-F5344CB8AC3E}">
        <p14:creationId xmlns:p14="http://schemas.microsoft.com/office/powerpoint/2010/main" val="1755862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课堂练习</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70</a:t>
            </a:fld>
            <a:endParaRPr lang="zh-CN" alt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351" y="767111"/>
            <a:ext cx="3438362" cy="39370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7163" y="767111"/>
            <a:ext cx="3983318" cy="3937000"/>
          </a:xfrm>
          <a:prstGeom prst="rect">
            <a:avLst/>
          </a:prstGeom>
        </p:spPr>
      </p:pic>
    </p:spTree>
    <p:extLst>
      <p:ext uri="{BB962C8B-B14F-4D97-AF65-F5344CB8AC3E}">
        <p14:creationId xmlns:p14="http://schemas.microsoft.com/office/powerpoint/2010/main" val="1208360319"/>
      </p:ext>
    </p:extLst>
  </p:cSld>
  <p:clrMapOvr>
    <a:masterClrMapping/>
  </p:clrMapOvr>
  <p:transition spd="slow">
    <p:pull/>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p:sp>
        <p:nvSpPr>
          <p:cNvPr id="4" name="Rectangle 3"/>
          <p:cNvSpPr/>
          <p:nvPr/>
        </p:nvSpPr>
        <p:spPr>
          <a:xfrm>
            <a:off x="3348318" y="772086"/>
            <a:ext cx="5661212" cy="4031873"/>
          </a:xfrm>
          <a:prstGeom prst="rect">
            <a:avLst/>
          </a:prstGeom>
          <a:solidFill>
            <a:srgbClr val="0E223A"/>
          </a:solidFill>
        </p:spPr>
        <p:txBody>
          <a:bodyPr wrap="square">
            <a:spAutoFit/>
          </a:bodyPr>
          <a:lstStyle/>
          <a:p>
            <a:r>
              <a:rPr lang="en-US" sz="1600" i="1" dirty="0" err="1">
                <a:solidFill>
                  <a:srgbClr val="66D9EF"/>
                </a:solidFill>
              </a:rPr>
              <a:t>def</a:t>
            </a:r>
            <a:r>
              <a:rPr lang="en-US" sz="1600" i="1" dirty="0">
                <a:solidFill>
                  <a:srgbClr val="66D9EF"/>
                </a:solidFill>
              </a:rPr>
              <a:t> </a:t>
            </a:r>
            <a:r>
              <a:rPr lang="en-US" sz="1600" dirty="0" err="1">
                <a:solidFill>
                  <a:srgbClr val="A6E22E"/>
                </a:solidFill>
              </a:rPr>
              <a:t>louvain_community_detection</a:t>
            </a:r>
            <a:r>
              <a:rPr lang="en-US" sz="1600" dirty="0">
                <a:solidFill>
                  <a:srgbClr val="A6E22E"/>
                </a:solidFill>
              </a:rPr>
              <a:t> </a:t>
            </a:r>
            <a:r>
              <a:rPr lang="en-US" sz="1600" dirty="0">
                <a:solidFill>
                  <a:schemeClr val="bg1"/>
                </a:solidFill>
              </a:rPr>
              <a:t>(</a:t>
            </a:r>
            <a:r>
              <a:rPr lang="en-US" sz="1600" i="1" dirty="0">
                <a:solidFill>
                  <a:srgbClr val="FD971F"/>
                </a:solidFill>
              </a:rPr>
              <a:t>G</a:t>
            </a:r>
            <a:r>
              <a:rPr lang="en-US" sz="1600" dirty="0">
                <a:solidFill>
                  <a:schemeClr val="bg1"/>
                </a:solidFill>
              </a:rPr>
              <a:t>)</a:t>
            </a:r>
            <a:r>
              <a:rPr lang="en-US" sz="1600" dirty="0">
                <a:solidFill>
                  <a:srgbClr val="F92672"/>
                </a:solidFill>
              </a:rPr>
              <a:t>:</a:t>
            </a:r>
            <a:br>
              <a:rPr lang="en-US" sz="1600" dirty="0">
                <a:solidFill>
                  <a:srgbClr val="F92672"/>
                </a:solidFill>
              </a:rPr>
            </a:br>
            <a:r>
              <a:rPr lang="en-US" sz="1600" dirty="0">
                <a:solidFill>
                  <a:srgbClr val="F92672"/>
                </a:solidFill>
              </a:rPr>
              <a:t>    </a:t>
            </a:r>
            <a:r>
              <a:rPr lang="en-US" sz="1600" dirty="0">
                <a:solidFill>
                  <a:srgbClr val="75715E"/>
                </a:solidFill>
              </a:rPr>
              <a:t># first compute the best partition</a:t>
            </a:r>
            <a:br>
              <a:rPr lang="en-US" sz="1600" dirty="0">
                <a:solidFill>
                  <a:srgbClr val="75715E"/>
                </a:solidFill>
              </a:rPr>
            </a:br>
            <a:r>
              <a:rPr lang="en-US" sz="1600" dirty="0">
                <a:solidFill>
                  <a:srgbClr val="75715E"/>
                </a:solidFill>
              </a:rPr>
              <a:t>    </a:t>
            </a:r>
            <a:r>
              <a:rPr lang="en-US" sz="1600" dirty="0">
                <a:solidFill>
                  <a:schemeClr val="bg1"/>
                </a:solidFill>
              </a:rPr>
              <a:t>partition</a:t>
            </a:r>
            <a:r>
              <a:rPr lang="en-US" sz="1600" dirty="0"/>
              <a:t> </a:t>
            </a:r>
            <a:r>
              <a:rPr lang="en-US" sz="1600" dirty="0">
                <a:solidFill>
                  <a:srgbClr val="F92672"/>
                </a:solidFill>
              </a:rPr>
              <a:t>= </a:t>
            </a:r>
            <a:r>
              <a:rPr lang="en-US" sz="1600" dirty="0" err="1">
                <a:solidFill>
                  <a:schemeClr val="bg1"/>
                </a:solidFill>
              </a:rPr>
              <a:t>community.</a:t>
            </a:r>
            <a:r>
              <a:rPr lang="en-US" sz="1600" dirty="0" err="1">
                <a:solidFill>
                  <a:srgbClr val="66D9EF"/>
                </a:solidFill>
              </a:rPr>
              <a:t>best_partition</a:t>
            </a:r>
            <a:r>
              <a:rPr lang="en-US" sz="1600" dirty="0">
                <a:solidFill>
                  <a:schemeClr val="bg1"/>
                </a:solidFill>
              </a:rPr>
              <a:t>(</a:t>
            </a:r>
            <a:r>
              <a:rPr lang="en-US" sz="1600" i="1" dirty="0">
                <a:solidFill>
                  <a:srgbClr val="FD971F"/>
                </a:solidFill>
              </a:rPr>
              <a:t>G</a:t>
            </a:r>
            <a:r>
              <a:rPr lang="en-US" sz="1600" dirty="0">
                <a:solidFill>
                  <a:schemeClr val="bg1"/>
                </a:solidFill>
              </a:rPr>
              <a:t>)</a:t>
            </a:r>
            <a:r>
              <a:rPr lang="en-US" sz="1600" dirty="0"/>
              <a:t/>
            </a:r>
            <a:br>
              <a:rPr lang="en-US" sz="1600" dirty="0"/>
            </a:br>
            <a:r>
              <a:rPr lang="en-US" sz="1600" dirty="0"/>
              <a:t>    </a:t>
            </a:r>
            <a:r>
              <a:rPr lang="en-US" sz="1600" dirty="0">
                <a:solidFill>
                  <a:schemeClr val="bg1"/>
                </a:solidFill>
              </a:rPr>
              <a:t>colors</a:t>
            </a:r>
            <a:r>
              <a:rPr lang="en-US" sz="1600" dirty="0"/>
              <a:t> </a:t>
            </a:r>
            <a:r>
              <a:rPr lang="en-US" sz="1600" dirty="0">
                <a:solidFill>
                  <a:srgbClr val="F92672"/>
                </a:solidFill>
              </a:rPr>
              <a:t>=</a:t>
            </a:r>
            <a:r>
              <a:rPr lang="en-US" sz="1600" dirty="0">
                <a:solidFill>
                  <a:schemeClr val="bg1"/>
                </a:solidFill>
              </a:rPr>
              <a:t>{</a:t>
            </a:r>
            <a:r>
              <a:rPr lang="en-US" sz="1600" dirty="0">
                <a:solidFill>
                  <a:srgbClr val="AE81FF"/>
                </a:solidFill>
              </a:rPr>
              <a:t>0</a:t>
            </a:r>
            <a:r>
              <a:rPr lang="en-US" sz="1600" dirty="0">
                <a:solidFill>
                  <a:srgbClr val="F92672"/>
                </a:solidFill>
              </a:rPr>
              <a:t>:</a:t>
            </a:r>
            <a:r>
              <a:rPr lang="en-US" sz="1600" dirty="0">
                <a:solidFill>
                  <a:srgbClr val="E6DB74"/>
                </a:solidFill>
              </a:rPr>
              <a:t>'red'</a:t>
            </a:r>
            <a:r>
              <a:rPr lang="en-US" sz="1600" dirty="0">
                <a:solidFill>
                  <a:schemeClr val="bg1"/>
                </a:solidFill>
              </a:rPr>
              <a:t>,</a:t>
            </a:r>
            <a:r>
              <a:rPr lang="en-US" sz="1600" dirty="0"/>
              <a:t> </a:t>
            </a:r>
            <a:r>
              <a:rPr lang="en-US" sz="1600" dirty="0">
                <a:solidFill>
                  <a:srgbClr val="AE81FF"/>
                </a:solidFill>
              </a:rPr>
              <a:t>1</a:t>
            </a:r>
            <a:r>
              <a:rPr lang="en-US" sz="1600" dirty="0">
                <a:solidFill>
                  <a:srgbClr val="F92672"/>
                </a:solidFill>
              </a:rPr>
              <a:t>:</a:t>
            </a:r>
            <a:r>
              <a:rPr lang="en-US" sz="1600" dirty="0">
                <a:solidFill>
                  <a:srgbClr val="E6DB74"/>
                </a:solidFill>
              </a:rPr>
              <a:t>'yellow'</a:t>
            </a:r>
            <a:r>
              <a:rPr lang="en-US" sz="1600" dirty="0">
                <a:solidFill>
                  <a:schemeClr val="bg1"/>
                </a:solidFill>
              </a:rPr>
              <a:t>,</a:t>
            </a:r>
            <a:r>
              <a:rPr lang="en-US" sz="1600" dirty="0"/>
              <a:t> </a:t>
            </a:r>
            <a:r>
              <a:rPr lang="en-US" sz="1600" dirty="0">
                <a:solidFill>
                  <a:srgbClr val="AE81FF"/>
                </a:solidFill>
              </a:rPr>
              <a:t>2</a:t>
            </a:r>
            <a:r>
              <a:rPr lang="en-US" sz="1600" dirty="0">
                <a:solidFill>
                  <a:srgbClr val="F92672"/>
                </a:solidFill>
              </a:rPr>
              <a:t>:</a:t>
            </a:r>
            <a:r>
              <a:rPr lang="en-US" sz="1600" dirty="0">
                <a:solidFill>
                  <a:srgbClr val="E6DB74"/>
                </a:solidFill>
              </a:rPr>
              <a:t>'blue'</a:t>
            </a:r>
            <a:r>
              <a:rPr lang="en-US" sz="1600" dirty="0">
                <a:solidFill>
                  <a:schemeClr val="bg1"/>
                </a:solidFill>
              </a:rPr>
              <a:t>,</a:t>
            </a:r>
            <a:r>
              <a:rPr lang="en-US" sz="1600" dirty="0"/>
              <a:t> </a:t>
            </a:r>
            <a:r>
              <a:rPr lang="en-US" sz="1600" dirty="0">
                <a:solidFill>
                  <a:srgbClr val="AE81FF"/>
                </a:solidFill>
              </a:rPr>
              <a:t>3</a:t>
            </a:r>
            <a:r>
              <a:rPr lang="en-US" sz="1600" dirty="0">
                <a:solidFill>
                  <a:srgbClr val="F92672"/>
                </a:solidFill>
              </a:rPr>
              <a:t>:</a:t>
            </a:r>
            <a:r>
              <a:rPr lang="en-US" sz="1600" dirty="0">
                <a:solidFill>
                  <a:srgbClr val="E6DB74"/>
                </a:solidFill>
              </a:rPr>
              <a:t>'green'</a:t>
            </a:r>
            <a:r>
              <a:rPr lang="en-US" sz="1600" dirty="0">
                <a:solidFill>
                  <a:schemeClr val="bg1"/>
                </a:solidFill>
              </a:rPr>
              <a:t>}</a:t>
            </a:r>
            <a:r>
              <a:rPr lang="en-US" sz="1600" dirty="0">
                <a:solidFill>
                  <a:srgbClr val="75715E"/>
                </a:solidFill>
              </a:rPr>
              <a:t/>
            </a:r>
            <a:br>
              <a:rPr lang="en-US" sz="1600" dirty="0">
                <a:solidFill>
                  <a:srgbClr val="75715E"/>
                </a:solidFill>
              </a:rPr>
            </a:br>
            <a:r>
              <a:rPr lang="en-US" sz="1600" dirty="0">
                <a:solidFill>
                  <a:srgbClr val="75715E"/>
                </a:solidFill>
              </a:rPr>
              <a:t>    </a:t>
            </a:r>
            <a:r>
              <a:rPr lang="en-US" sz="1600" dirty="0" err="1">
                <a:solidFill>
                  <a:schemeClr val="bg1"/>
                </a:solidFill>
              </a:rPr>
              <a:t>pos</a:t>
            </a:r>
            <a:r>
              <a:rPr lang="en-US" sz="1600" dirty="0">
                <a:solidFill>
                  <a:schemeClr val="bg1"/>
                </a:solidFill>
              </a:rPr>
              <a:t> </a:t>
            </a:r>
            <a:r>
              <a:rPr lang="en-US" sz="1600" dirty="0">
                <a:solidFill>
                  <a:srgbClr val="F92672"/>
                </a:solidFill>
              </a:rPr>
              <a:t>= </a:t>
            </a:r>
            <a:r>
              <a:rPr lang="en-US" sz="1600" dirty="0" err="1">
                <a:solidFill>
                  <a:schemeClr val="bg1"/>
                </a:solidFill>
              </a:rPr>
              <a:t>nx.</a:t>
            </a:r>
            <a:r>
              <a:rPr lang="en-US" sz="1600" dirty="0" err="1">
                <a:solidFill>
                  <a:srgbClr val="66D9EF"/>
                </a:solidFill>
              </a:rPr>
              <a:t>spring_layout</a:t>
            </a:r>
            <a:r>
              <a:rPr lang="en-US" sz="1600" dirty="0">
                <a:solidFill>
                  <a:schemeClr val="bg1"/>
                </a:solidFill>
              </a:rPr>
              <a:t>(</a:t>
            </a:r>
            <a:r>
              <a:rPr lang="en-US" sz="1600" i="1" dirty="0">
                <a:solidFill>
                  <a:srgbClr val="FD971F"/>
                </a:solidFill>
              </a:rPr>
              <a:t>G</a:t>
            </a:r>
            <a:r>
              <a:rPr lang="en-US" sz="1600" dirty="0">
                <a:solidFill>
                  <a:schemeClr val="bg1"/>
                </a:solidFill>
              </a:rPr>
              <a:t>)</a:t>
            </a:r>
            <a:r>
              <a:rPr lang="en-US" sz="1600" dirty="0"/>
              <a:t/>
            </a:r>
            <a:br>
              <a:rPr lang="en-US" sz="1600" dirty="0"/>
            </a:br>
            <a:r>
              <a:rPr lang="en-US" sz="1600" dirty="0"/>
              <a:t>    </a:t>
            </a:r>
            <a:r>
              <a:rPr lang="en-US" sz="1600" dirty="0">
                <a:solidFill>
                  <a:schemeClr val="bg1"/>
                </a:solidFill>
              </a:rPr>
              <a:t>count</a:t>
            </a:r>
            <a:r>
              <a:rPr lang="en-US" sz="1600" dirty="0"/>
              <a:t> </a:t>
            </a:r>
            <a:r>
              <a:rPr lang="en-US" sz="1600" dirty="0">
                <a:solidFill>
                  <a:srgbClr val="F92672"/>
                </a:solidFill>
              </a:rPr>
              <a:t>= </a:t>
            </a:r>
            <a:r>
              <a:rPr lang="en-US" sz="1600" dirty="0">
                <a:solidFill>
                  <a:srgbClr val="AE81FF"/>
                </a:solidFill>
              </a:rPr>
              <a:t>0</a:t>
            </a:r>
            <a:br>
              <a:rPr lang="en-US" sz="1600" dirty="0">
                <a:solidFill>
                  <a:srgbClr val="AE81FF"/>
                </a:solidFill>
              </a:rPr>
            </a:br>
            <a:r>
              <a:rPr lang="en-US" sz="1600" dirty="0">
                <a:solidFill>
                  <a:srgbClr val="AE81FF"/>
                </a:solidFill>
              </a:rPr>
              <a:t>    </a:t>
            </a:r>
            <a:r>
              <a:rPr lang="en-US" sz="1600" i="1" dirty="0">
                <a:solidFill>
                  <a:srgbClr val="66D9EF"/>
                </a:solidFill>
              </a:rPr>
              <a:t>for </a:t>
            </a:r>
            <a:r>
              <a:rPr lang="en-US" sz="1600" dirty="0">
                <a:solidFill>
                  <a:schemeClr val="bg1"/>
                </a:solidFill>
              </a:rPr>
              <a:t>com</a:t>
            </a:r>
            <a:r>
              <a:rPr lang="en-US" sz="1600" dirty="0"/>
              <a:t> </a:t>
            </a:r>
            <a:r>
              <a:rPr lang="en-US" sz="1600" i="1" dirty="0">
                <a:solidFill>
                  <a:srgbClr val="66D9EF"/>
                </a:solidFill>
              </a:rPr>
              <a:t>in </a:t>
            </a:r>
            <a:r>
              <a:rPr lang="en-US" sz="1600" dirty="0">
                <a:solidFill>
                  <a:srgbClr val="66D9EF"/>
                </a:solidFill>
              </a:rPr>
              <a:t>set</a:t>
            </a:r>
            <a:r>
              <a:rPr lang="en-US" sz="1600" dirty="0">
                <a:solidFill>
                  <a:schemeClr val="bg1"/>
                </a:solidFill>
              </a:rPr>
              <a:t>(</a:t>
            </a:r>
            <a:r>
              <a:rPr lang="en-US" sz="1600" dirty="0" err="1">
                <a:solidFill>
                  <a:schemeClr val="bg1"/>
                </a:solidFill>
              </a:rPr>
              <a:t>partition.</a:t>
            </a:r>
            <a:r>
              <a:rPr lang="en-US" sz="1600" dirty="0" err="1">
                <a:solidFill>
                  <a:srgbClr val="66D9EF"/>
                </a:solidFill>
              </a:rPr>
              <a:t>values</a:t>
            </a:r>
            <a:r>
              <a:rPr lang="en-US" sz="1600" dirty="0">
                <a:solidFill>
                  <a:schemeClr val="bg1"/>
                </a:solidFill>
              </a:rPr>
              <a:t>())</a:t>
            </a:r>
            <a:r>
              <a:rPr lang="en-US" sz="1600" dirty="0">
                <a:solidFill>
                  <a:srgbClr val="F92672"/>
                </a:solidFill>
              </a:rPr>
              <a:t>:</a:t>
            </a:r>
            <a:br>
              <a:rPr lang="en-US" sz="1600" dirty="0">
                <a:solidFill>
                  <a:srgbClr val="F92672"/>
                </a:solidFill>
              </a:rPr>
            </a:br>
            <a:r>
              <a:rPr lang="en-US" sz="1600" dirty="0">
                <a:solidFill>
                  <a:srgbClr val="F92672"/>
                </a:solidFill>
              </a:rPr>
              <a:t>        </a:t>
            </a:r>
            <a:r>
              <a:rPr lang="en-US" sz="1600" dirty="0" err="1">
                <a:solidFill>
                  <a:schemeClr val="bg1"/>
                </a:solidFill>
              </a:rPr>
              <a:t>list_nodes</a:t>
            </a:r>
            <a:r>
              <a:rPr lang="en-US" sz="1600" dirty="0">
                <a:solidFill>
                  <a:schemeClr val="bg1"/>
                </a:solidFill>
              </a:rPr>
              <a:t> </a:t>
            </a:r>
            <a:r>
              <a:rPr lang="en-US" sz="1600" dirty="0">
                <a:solidFill>
                  <a:srgbClr val="F92672"/>
                </a:solidFill>
              </a:rPr>
              <a:t>= </a:t>
            </a:r>
            <a:r>
              <a:rPr lang="en-US" sz="1600" dirty="0">
                <a:solidFill>
                  <a:schemeClr val="bg1"/>
                </a:solidFill>
              </a:rPr>
              <a:t>[nodes </a:t>
            </a:r>
            <a:r>
              <a:rPr lang="en-US" sz="1600" i="1" dirty="0">
                <a:solidFill>
                  <a:srgbClr val="66D9EF"/>
                </a:solidFill>
              </a:rPr>
              <a:t>for </a:t>
            </a:r>
            <a:r>
              <a:rPr lang="en-US" sz="1600" dirty="0">
                <a:solidFill>
                  <a:schemeClr val="bg1"/>
                </a:solidFill>
              </a:rPr>
              <a:t>nodes</a:t>
            </a:r>
            <a:r>
              <a:rPr lang="en-US" sz="1600" dirty="0"/>
              <a:t> </a:t>
            </a:r>
            <a:r>
              <a:rPr lang="en-US" sz="1600" i="1" dirty="0">
                <a:solidFill>
                  <a:srgbClr val="66D9EF"/>
                </a:solidFill>
              </a:rPr>
              <a:t>in </a:t>
            </a:r>
            <a:r>
              <a:rPr lang="en-US" sz="1600" dirty="0" err="1">
                <a:solidFill>
                  <a:schemeClr val="bg1"/>
                </a:solidFill>
              </a:rPr>
              <a:t>partition.</a:t>
            </a:r>
            <a:r>
              <a:rPr lang="en-US" sz="1600" dirty="0" err="1">
                <a:solidFill>
                  <a:srgbClr val="66D9EF"/>
                </a:solidFill>
              </a:rPr>
              <a:t>keys</a:t>
            </a:r>
            <a:r>
              <a:rPr lang="en-US" sz="1600" dirty="0">
                <a:solidFill>
                  <a:schemeClr val="bg1"/>
                </a:solidFill>
              </a:rPr>
              <a:t>()</a:t>
            </a:r>
            <a:r>
              <a:rPr lang="en-US" sz="1600" dirty="0"/>
              <a:t/>
            </a:r>
            <a:br>
              <a:rPr lang="en-US" sz="1600" dirty="0"/>
            </a:br>
            <a:r>
              <a:rPr lang="en-US" sz="1600" dirty="0"/>
              <a:t>                      </a:t>
            </a:r>
            <a:r>
              <a:rPr lang="en-US" sz="1600" i="1" dirty="0">
                <a:solidFill>
                  <a:srgbClr val="66D9EF"/>
                </a:solidFill>
              </a:rPr>
              <a:t>if </a:t>
            </a:r>
            <a:r>
              <a:rPr lang="en-US" sz="1600" dirty="0">
                <a:solidFill>
                  <a:schemeClr val="bg1"/>
                </a:solidFill>
              </a:rPr>
              <a:t>partition[nodes]</a:t>
            </a:r>
            <a:r>
              <a:rPr lang="en-US" sz="1600" dirty="0"/>
              <a:t> </a:t>
            </a:r>
            <a:r>
              <a:rPr lang="en-US" sz="1600" dirty="0">
                <a:solidFill>
                  <a:srgbClr val="F92672"/>
                </a:solidFill>
              </a:rPr>
              <a:t>== </a:t>
            </a:r>
            <a:r>
              <a:rPr lang="en-US" sz="1600" dirty="0">
                <a:solidFill>
                  <a:schemeClr val="bg1"/>
                </a:solidFill>
              </a:rPr>
              <a:t>com]</a:t>
            </a:r>
            <a:r>
              <a:rPr lang="en-US" sz="1600" dirty="0"/>
              <a:t/>
            </a:r>
            <a:br>
              <a:rPr lang="en-US" sz="1600" dirty="0"/>
            </a:br>
            <a:r>
              <a:rPr lang="en-US" sz="1600" dirty="0"/>
              <a:t>        </a:t>
            </a:r>
            <a:r>
              <a:rPr lang="en-US" sz="1600" dirty="0" err="1">
                <a:solidFill>
                  <a:schemeClr val="bg1"/>
                </a:solidFill>
              </a:rPr>
              <a:t>nx.</a:t>
            </a:r>
            <a:r>
              <a:rPr lang="en-US" sz="1600" dirty="0" err="1">
                <a:solidFill>
                  <a:srgbClr val="66D9EF"/>
                </a:solidFill>
              </a:rPr>
              <a:t>draw_networkx_nodes</a:t>
            </a:r>
            <a:r>
              <a:rPr lang="en-US" sz="1600" dirty="0">
                <a:solidFill>
                  <a:schemeClr val="bg1"/>
                </a:solidFill>
              </a:rPr>
              <a:t>(</a:t>
            </a:r>
            <a:r>
              <a:rPr lang="en-US" sz="1600" i="1" dirty="0">
                <a:solidFill>
                  <a:srgbClr val="FD971F"/>
                </a:solidFill>
              </a:rPr>
              <a:t>G</a:t>
            </a:r>
            <a:r>
              <a:rPr lang="en-US" sz="1600" dirty="0">
                <a:solidFill>
                  <a:schemeClr val="bg1"/>
                </a:solidFill>
              </a:rPr>
              <a:t>, </a:t>
            </a:r>
            <a:r>
              <a:rPr lang="en-US" sz="1600" dirty="0" err="1">
                <a:solidFill>
                  <a:schemeClr val="bg1"/>
                </a:solidFill>
              </a:rPr>
              <a:t>pos</a:t>
            </a:r>
            <a:r>
              <a:rPr lang="en-US" sz="1600" dirty="0">
                <a:solidFill>
                  <a:schemeClr val="bg1"/>
                </a:solidFill>
              </a:rPr>
              <a:t>, </a:t>
            </a:r>
            <a:r>
              <a:rPr lang="en-US" sz="1600" dirty="0" err="1">
                <a:solidFill>
                  <a:schemeClr val="bg1"/>
                </a:solidFill>
              </a:rPr>
              <a:t>list_nodes</a:t>
            </a:r>
            <a:r>
              <a:rPr lang="en-US" sz="1600" dirty="0">
                <a:solidFill>
                  <a:schemeClr val="bg1"/>
                </a:solidFill>
              </a:rPr>
              <a:t>, </a:t>
            </a:r>
            <a:r>
              <a:rPr lang="en-US" sz="1600" dirty="0" err="1">
                <a:solidFill>
                  <a:srgbClr val="AA4926"/>
                </a:solidFill>
              </a:rPr>
              <a:t>node_size</a:t>
            </a:r>
            <a:r>
              <a:rPr lang="en-US" sz="1600" dirty="0">
                <a:solidFill>
                  <a:srgbClr val="F92672"/>
                </a:solidFill>
              </a:rPr>
              <a:t>=</a:t>
            </a:r>
            <a:r>
              <a:rPr lang="en-US" sz="1600" dirty="0">
                <a:solidFill>
                  <a:srgbClr val="AE81FF"/>
                </a:solidFill>
              </a:rPr>
              <a:t>500</a:t>
            </a:r>
            <a:r>
              <a:rPr lang="en-US" sz="1600" dirty="0"/>
              <a:t>,</a:t>
            </a:r>
            <a:br>
              <a:rPr lang="en-US" sz="1600" dirty="0"/>
            </a:br>
            <a:r>
              <a:rPr lang="en-US" sz="1600" dirty="0"/>
              <a:t>                               </a:t>
            </a:r>
            <a:r>
              <a:rPr lang="en-US" sz="1600" dirty="0" err="1">
                <a:solidFill>
                  <a:srgbClr val="AA4926"/>
                </a:solidFill>
              </a:rPr>
              <a:t>node_color</a:t>
            </a:r>
            <a:r>
              <a:rPr lang="en-US" sz="1600" dirty="0">
                <a:solidFill>
                  <a:srgbClr val="F92672"/>
                </a:solidFill>
              </a:rPr>
              <a:t>=</a:t>
            </a:r>
            <a:r>
              <a:rPr lang="en-US" sz="1600" dirty="0">
                <a:solidFill>
                  <a:schemeClr val="bg1"/>
                </a:solidFill>
              </a:rPr>
              <a:t>colors[</a:t>
            </a:r>
            <a:r>
              <a:rPr lang="en-US" sz="1600" dirty="0" err="1">
                <a:solidFill>
                  <a:schemeClr val="bg1"/>
                </a:solidFill>
              </a:rPr>
              <a:t>count</a:t>
            </a:r>
            <a:r>
              <a:rPr lang="en-US" sz="1600" dirty="0" err="1">
                <a:solidFill>
                  <a:srgbClr val="F92672"/>
                </a:solidFill>
              </a:rPr>
              <a:t>%</a:t>
            </a:r>
            <a:r>
              <a:rPr lang="en-US" sz="1600" dirty="0" err="1">
                <a:solidFill>
                  <a:srgbClr val="66D9EF"/>
                </a:solidFill>
              </a:rPr>
              <a:t>len</a:t>
            </a:r>
            <a:r>
              <a:rPr lang="en-US" sz="1600" dirty="0">
                <a:solidFill>
                  <a:schemeClr val="bg1"/>
                </a:solidFill>
              </a:rPr>
              <a:t>(colors)])</a:t>
            </a:r>
            <a:r>
              <a:rPr lang="en-US" sz="1600" dirty="0"/>
              <a:t/>
            </a:r>
            <a:br>
              <a:rPr lang="en-US" sz="1600" dirty="0"/>
            </a:br>
            <a:r>
              <a:rPr lang="en-US" sz="1600" dirty="0"/>
              <a:t>        </a:t>
            </a:r>
            <a:r>
              <a:rPr lang="en-US" sz="1600" dirty="0">
                <a:solidFill>
                  <a:schemeClr val="bg1"/>
                </a:solidFill>
              </a:rPr>
              <a:t>count</a:t>
            </a:r>
            <a:r>
              <a:rPr lang="en-US" sz="1600" dirty="0"/>
              <a:t> </a:t>
            </a:r>
            <a:r>
              <a:rPr lang="en-US" sz="1600" dirty="0">
                <a:solidFill>
                  <a:srgbClr val="F92672"/>
                </a:solidFill>
              </a:rPr>
              <a:t>= </a:t>
            </a:r>
            <a:r>
              <a:rPr lang="en-US" sz="1600" dirty="0">
                <a:solidFill>
                  <a:schemeClr val="bg1"/>
                </a:solidFill>
              </a:rPr>
              <a:t>count</a:t>
            </a:r>
            <a:r>
              <a:rPr lang="en-US" sz="1600" dirty="0"/>
              <a:t> </a:t>
            </a:r>
            <a:r>
              <a:rPr lang="en-US" sz="1600" dirty="0">
                <a:solidFill>
                  <a:srgbClr val="F92672"/>
                </a:solidFill>
              </a:rPr>
              <a:t>+ </a:t>
            </a:r>
            <a:r>
              <a:rPr lang="en-US" sz="1600" dirty="0">
                <a:solidFill>
                  <a:srgbClr val="AE81FF"/>
                </a:solidFill>
              </a:rPr>
              <a:t>1</a:t>
            </a:r>
            <a:br>
              <a:rPr lang="en-US" sz="1600" dirty="0">
                <a:solidFill>
                  <a:srgbClr val="AE81FF"/>
                </a:solidFill>
              </a:rPr>
            </a:br>
            <a:r>
              <a:rPr lang="en-US" sz="1600" dirty="0">
                <a:solidFill>
                  <a:srgbClr val="AE81FF"/>
                </a:solidFill>
              </a:rPr>
              <a:t>    </a:t>
            </a:r>
            <a:r>
              <a:rPr lang="en-US" sz="1600" dirty="0" err="1">
                <a:solidFill>
                  <a:schemeClr val="bg1"/>
                </a:solidFill>
              </a:rPr>
              <a:t>nx.</a:t>
            </a:r>
            <a:r>
              <a:rPr lang="en-US" sz="1600" dirty="0" err="1">
                <a:solidFill>
                  <a:srgbClr val="66D9EF"/>
                </a:solidFill>
              </a:rPr>
              <a:t>draw_networkx_edges</a:t>
            </a:r>
            <a:r>
              <a:rPr lang="en-US" sz="1600" dirty="0">
                <a:solidFill>
                  <a:schemeClr val="bg1"/>
                </a:solidFill>
              </a:rPr>
              <a:t>(</a:t>
            </a:r>
            <a:r>
              <a:rPr lang="en-US" sz="1600" i="1" dirty="0">
                <a:solidFill>
                  <a:srgbClr val="FD971F"/>
                </a:solidFill>
              </a:rPr>
              <a:t>G</a:t>
            </a:r>
            <a:r>
              <a:rPr lang="en-US" sz="1600" dirty="0">
                <a:solidFill>
                  <a:schemeClr val="bg1"/>
                </a:solidFill>
              </a:rPr>
              <a:t>, </a:t>
            </a:r>
            <a:r>
              <a:rPr lang="en-US" sz="1600" dirty="0" err="1">
                <a:solidFill>
                  <a:schemeClr val="bg1"/>
                </a:solidFill>
              </a:rPr>
              <a:t>pos</a:t>
            </a:r>
            <a:r>
              <a:rPr lang="en-US" sz="1600" dirty="0">
                <a:solidFill>
                  <a:schemeClr val="bg1"/>
                </a:solidFill>
              </a:rPr>
              <a:t>, </a:t>
            </a:r>
            <a:r>
              <a:rPr lang="en-US" sz="1600" dirty="0">
                <a:solidFill>
                  <a:srgbClr val="AA4926"/>
                </a:solidFill>
              </a:rPr>
              <a:t>alpha</a:t>
            </a:r>
            <a:r>
              <a:rPr lang="en-US" sz="1600" dirty="0">
                <a:solidFill>
                  <a:srgbClr val="F92672"/>
                </a:solidFill>
              </a:rPr>
              <a:t>=</a:t>
            </a:r>
            <a:r>
              <a:rPr lang="en-US" sz="1600" dirty="0">
                <a:solidFill>
                  <a:srgbClr val="AE81FF"/>
                </a:solidFill>
              </a:rPr>
              <a:t>0.5</a:t>
            </a:r>
            <a:r>
              <a:rPr lang="en-US" sz="1600" dirty="0">
                <a:solidFill>
                  <a:schemeClr val="bg1"/>
                </a:solidFill>
              </a:rPr>
              <a:t>)</a:t>
            </a:r>
            <a:r>
              <a:rPr lang="en-US" sz="1600" dirty="0"/>
              <a:t/>
            </a:r>
            <a:br>
              <a:rPr lang="en-US" sz="1600" dirty="0"/>
            </a:br>
            <a:r>
              <a:rPr lang="en-US" sz="1600" dirty="0"/>
              <a:t>    </a:t>
            </a:r>
            <a:r>
              <a:rPr lang="en-US" sz="1600" dirty="0" err="1">
                <a:solidFill>
                  <a:schemeClr val="bg1"/>
                </a:solidFill>
              </a:rPr>
              <a:t>nx.</a:t>
            </a:r>
            <a:r>
              <a:rPr lang="en-US" sz="1600" dirty="0" err="1">
                <a:solidFill>
                  <a:srgbClr val="66D9EF"/>
                </a:solidFill>
              </a:rPr>
              <a:t>draw_networkx_labels</a:t>
            </a:r>
            <a:r>
              <a:rPr lang="en-US" sz="1600" dirty="0">
                <a:solidFill>
                  <a:schemeClr val="bg1"/>
                </a:solidFill>
              </a:rPr>
              <a:t>(</a:t>
            </a:r>
            <a:r>
              <a:rPr lang="en-US" sz="1600" i="1" dirty="0">
                <a:solidFill>
                  <a:srgbClr val="FD971F"/>
                </a:solidFill>
              </a:rPr>
              <a:t>G</a:t>
            </a:r>
            <a:r>
              <a:rPr lang="en-US" sz="1600" dirty="0">
                <a:solidFill>
                  <a:schemeClr val="bg1"/>
                </a:solidFill>
              </a:rPr>
              <a:t>, </a:t>
            </a:r>
            <a:r>
              <a:rPr lang="en-US" sz="1600" dirty="0" err="1">
                <a:solidFill>
                  <a:schemeClr val="bg1"/>
                </a:solidFill>
              </a:rPr>
              <a:t>pos</a:t>
            </a:r>
            <a:r>
              <a:rPr lang="en-US" sz="1600" dirty="0">
                <a:solidFill>
                  <a:schemeClr val="bg1"/>
                </a:solidFill>
              </a:rPr>
              <a:t>)</a:t>
            </a:r>
            <a:br>
              <a:rPr lang="en-US" sz="1600" dirty="0">
                <a:solidFill>
                  <a:schemeClr val="bg1"/>
                </a:solidFill>
              </a:rPr>
            </a:br>
            <a:r>
              <a:rPr lang="en-US" sz="1600" dirty="0"/>
              <a:t>    </a:t>
            </a:r>
            <a:r>
              <a:rPr lang="en-US" sz="1600" dirty="0" err="1">
                <a:solidFill>
                  <a:schemeClr val="bg1"/>
                </a:solidFill>
              </a:rPr>
              <a:t>plt.</a:t>
            </a:r>
            <a:r>
              <a:rPr lang="en-US" sz="1600" dirty="0" err="1">
                <a:solidFill>
                  <a:srgbClr val="66D9EF"/>
                </a:solidFill>
              </a:rPr>
              <a:t>axis</a:t>
            </a:r>
            <a:r>
              <a:rPr lang="en-US" sz="1600" dirty="0">
                <a:solidFill>
                  <a:schemeClr val="bg1"/>
                </a:solidFill>
              </a:rPr>
              <a:t>(</a:t>
            </a:r>
            <a:r>
              <a:rPr lang="en-US" sz="1600" dirty="0">
                <a:solidFill>
                  <a:srgbClr val="E6DB74"/>
                </a:solidFill>
              </a:rPr>
              <a:t>'off'</a:t>
            </a:r>
            <a:r>
              <a:rPr lang="en-US" sz="1600" dirty="0">
                <a:solidFill>
                  <a:schemeClr val="bg1"/>
                </a:solidFill>
              </a:rPr>
              <a:t>)</a:t>
            </a:r>
            <a:br>
              <a:rPr lang="en-US" sz="1600" dirty="0">
                <a:solidFill>
                  <a:schemeClr val="bg1"/>
                </a:solidFill>
              </a:rPr>
            </a:br>
            <a:r>
              <a:rPr lang="en-US" sz="1600" dirty="0"/>
              <a:t>    </a:t>
            </a:r>
            <a:r>
              <a:rPr lang="en-US" sz="1600" dirty="0" err="1">
                <a:solidFill>
                  <a:schemeClr val="bg1"/>
                </a:solidFill>
              </a:rPr>
              <a:t>plt.</a:t>
            </a:r>
            <a:r>
              <a:rPr lang="en-US" sz="1600" dirty="0" err="1">
                <a:solidFill>
                  <a:srgbClr val="66D9EF"/>
                </a:solidFill>
              </a:rPr>
              <a:t>show</a:t>
            </a:r>
            <a:r>
              <a:rPr lang="en-US" sz="1600" dirty="0">
                <a:solidFill>
                  <a:schemeClr val="bg1"/>
                </a:solidFill>
              </a:rPr>
              <a:t>()</a:t>
            </a:r>
          </a:p>
        </p:txBody>
      </p:sp>
      <p:sp>
        <p:nvSpPr>
          <p:cNvPr id="5" name="Rectangle 4"/>
          <p:cNvSpPr/>
          <p:nvPr/>
        </p:nvSpPr>
        <p:spPr>
          <a:xfrm>
            <a:off x="104665" y="989670"/>
            <a:ext cx="2920923" cy="369332"/>
          </a:xfrm>
          <a:prstGeom prst="rect">
            <a:avLst/>
          </a:prstGeom>
          <a:solidFill>
            <a:srgbClr val="F6F8FA"/>
          </a:solidFill>
          <a:ln>
            <a:solidFill>
              <a:schemeClr val="bg1">
                <a:lumMod val="85000"/>
              </a:schemeClr>
            </a:solidFill>
          </a:ln>
        </p:spPr>
        <p:txBody>
          <a:bodyPr wrap="square">
            <a:spAutoFit/>
          </a:bodyPr>
          <a:lstStyle/>
          <a:p>
            <a:r>
              <a:rPr lang="en-US" dirty="0"/>
              <a:t>$ pip install python-</a:t>
            </a:r>
            <a:r>
              <a:rPr lang="en-US" dirty="0" err="1"/>
              <a:t>louvain</a:t>
            </a:r>
            <a:r>
              <a:rPr lang="en-US" dirty="0"/>
              <a:t> </a:t>
            </a:r>
          </a:p>
        </p:txBody>
      </p:sp>
      <p:sp>
        <p:nvSpPr>
          <p:cNvPr id="6" name="Rectangle 5"/>
          <p:cNvSpPr/>
          <p:nvPr/>
        </p:nvSpPr>
        <p:spPr>
          <a:xfrm>
            <a:off x="104664" y="1841317"/>
            <a:ext cx="2920923" cy="369332"/>
          </a:xfrm>
          <a:prstGeom prst="rect">
            <a:avLst/>
          </a:prstGeom>
          <a:solidFill>
            <a:srgbClr val="F6F8FA"/>
          </a:solidFill>
          <a:ln>
            <a:solidFill>
              <a:schemeClr val="bg1">
                <a:lumMod val="85000"/>
              </a:schemeClr>
            </a:solidFill>
          </a:ln>
        </p:spPr>
        <p:txBody>
          <a:bodyPr wrap="square">
            <a:spAutoFit/>
          </a:bodyPr>
          <a:lstStyle/>
          <a:p>
            <a:r>
              <a:rPr lang="en-US" altLang="zh-CN" dirty="0"/>
              <a:t>import</a:t>
            </a:r>
            <a:r>
              <a:rPr lang="zh-CN" altLang="en-US" dirty="0"/>
              <a:t> </a:t>
            </a:r>
            <a:r>
              <a:rPr lang="en-US" altLang="zh-CN" dirty="0" err="1"/>
              <a:t>community_louvain</a:t>
            </a:r>
            <a:endParaRPr lang="en-US" dirty="0"/>
          </a:p>
        </p:txBody>
      </p:sp>
      <p:sp>
        <p:nvSpPr>
          <p:cNvPr id="7" name="Rectangle 6"/>
          <p:cNvSpPr/>
          <p:nvPr/>
        </p:nvSpPr>
        <p:spPr>
          <a:xfrm>
            <a:off x="50875" y="3620185"/>
            <a:ext cx="3337783" cy="646331"/>
          </a:xfrm>
          <a:prstGeom prst="rect">
            <a:avLst/>
          </a:prstGeom>
        </p:spPr>
        <p:txBody>
          <a:bodyPr wrap="square">
            <a:spAutoFit/>
          </a:bodyPr>
          <a:lstStyle/>
          <a:p>
            <a:r>
              <a:rPr lang="en-US" dirty="0">
                <a:hlinkClick r:id="rId2"/>
              </a:rPr>
              <a:t>https://python-louvain.readthedocs.io/en/latest/</a:t>
            </a:r>
            <a:endParaRPr lang="en-US" dirty="0"/>
          </a:p>
        </p:txBody>
      </p:sp>
      <p:sp>
        <p:nvSpPr>
          <p:cNvPr id="8" name="Rectangle 7"/>
          <p:cNvSpPr/>
          <p:nvPr/>
        </p:nvSpPr>
        <p:spPr>
          <a:xfrm>
            <a:off x="104665" y="3187148"/>
            <a:ext cx="930760" cy="400110"/>
          </a:xfrm>
          <a:prstGeom prst="rect">
            <a:avLst/>
          </a:prstGeom>
        </p:spPr>
        <p:txBody>
          <a:bodyPr wrap="square">
            <a:spAutoFit/>
          </a:bodyPr>
          <a:lstStyle/>
          <a:p>
            <a:pPr algn="ctr">
              <a:spcBef>
                <a:spcPct val="20000"/>
              </a:spcBef>
            </a:pPr>
            <a:r>
              <a:rPr lang="zh-CN" altLang="en-US" sz="2000" dirty="0">
                <a:latin typeface="微软雅黑" panose="020B0503020204020204" pitchFamily="34" charset="-122"/>
                <a:ea typeface="微软雅黑" panose="020B0503020204020204" pitchFamily="34" charset="-122"/>
              </a:rPr>
              <a:t>文档</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34159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latin typeface="Microsoft YaHei" charset="-122"/>
                <a:ea typeface="Microsoft YaHei" charset="-122"/>
              </a:rPr>
              <a:t>空手道俱乐部</a:t>
            </a:r>
            <a:r>
              <a:rPr lang="zh-CN" altLang="en-US" dirty="0">
                <a:latin typeface="Microsoft YaHei" charset="-122"/>
                <a:ea typeface="Microsoft YaHei" charset="-122"/>
              </a:rPr>
              <a:t>社区检测示意</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0351" y="834539"/>
            <a:ext cx="5236110" cy="3937000"/>
          </a:xfrm>
        </p:spPr>
      </p:pic>
      <p:sp>
        <p:nvSpPr>
          <p:cNvPr id="5" name="Rectangle 4"/>
          <p:cNvSpPr/>
          <p:nvPr/>
        </p:nvSpPr>
        <p:spPr>
          <a:xfrm>
            <a:off x="160171" y="2602984"/>
            <a:ext cx="3000180" cy="400110"/>
          </a:xfrm>
          <a:prstGeom prst="rect">
            <a:avLst/>
          </a:prstGeom>
        </p:spPr>
        <p:txBody>
          <a:bodyPr wrap="none">
            <a:spAutoFit/>
          </a:bodyPr>
          <a:lstStyle/>
          <a:p>
            <a:r>
              <a:rPr lang="en-US" sz="2000" dirty="0"/>
              <a:t>G = </a:t>
            </a:r>
            <a:r>
              <a:rPr lang="en-US" sz="2000" dirty="0" err="1"/>
              <a:t>nx.karate_club_graph</a:t>
            </a:r>
            <a:r>
              <a:rPr lang="en-US" sz="2000" dirty="0"/>
              <a:t>()</a:t>
            </a:r>
          </a:p>
        </p:txBody>
      </p:sp>
    </p:spTree>
    <p:extLst>
      <p:ext uri="{BB962C8B-B14F-4D97-AF65-F5344CB8AC3E}">
        <p14:creationId xmlns:p14="http://schemas.microsoft.com/office/powerpoint/2010/main" val="1733534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Why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为什么用图对数据建模</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节点中心性（</a:t>
            </a:r>
            <a:r>
              <a:rPr lang="en-US" altLang="zh-CN" dirty="0">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社区（</a:t>
            </a:r>
            <a:r>
              <a:rPr lang="en-US" altLang="zh-CN" dirty="0">
                <a:latin typeface="Calibri" panose="020F0502020204030204" pitchFamily="34" charset="0"/>
                <a:ea typeface="微软雅黑" panose="020B0503020204020204" pitchFamily="34" charset="-122"/>
                <a:cs typeface="Calibri" panose="020F0502020204030204" pitchFamily="34" charset="0"/>
              </a:rPr>
              <a:t>Community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smtClean="0">
                <a:solidFill>
                  <a:srgbClr val="C00000"/>
                </a:solidFill>
                <a:latin typeface="微软雅黑" panose="020B0503020204020204" pitchFamily="34" charset="-122"/>
                <a:ea typeface="微软雅黑" panose="020B0503020204020204" pitchFamily="34" charset="-122"/>
              </a:rPr>
              <a:t>4.</a:t>
            </a:r>
            <a:r>
              <a:rPr lang="zh-CN" altLang="en-US" dirty="0" smtClean="0">
                <a:solidFill>
                  <a:srgbClr val="C00000"/>
                </a:solidFill>
                <a:latin typeface="微软雅黑" panose="020B0503020204020204" pitchFamily="34" charset="-122"/>
                <a:ea typeface="微软雅黑" panose="020B0503020204020204" pitchFamily="34" charset="-122"/>
              </a:rPr>
              <a:t> 附录 </a:t>
            </a:r>
            <a:r>
              <a:rPr lang="en-US"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 图论的基本概念</a:t>
            </a:r>
            <a:endParaRPr lang="en-US" altLang="zh-CN" dirty="0">
              <a:solidFill>
                <a:srgbClr val="C00000"/>
              </a:solidFill>
              <a:latin typeface="微软雅黑" panose="020B0503020204020204" pitchFamily="34" charset="-122"/>
              <a:ea typeface="微软雅黑" panose="020B0503020204020204" pitchFamily="34" charset="-122"/>
            </a:endParaRPr>
          </a:p>
          <a:p>
            <a:pPr>
              <a:lnSpc>
                <a:spcPct val="200000"/>
              </a:lnSpc>
            </a:pPr>
            <a:endParaRPr lang="en-US" altLang="zh-CN" b="1"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11869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图的形式化定义</a:t>
            </a:r>
            <a:endParaRPr lang="en-US" dirty="0"/>
          </a:p>
        </p:txBody>
      </p:sp>
      <p:sp>
        <p:nvSpPr>
          <p:cNvPr id="29" name="Oval 28"/>
          <p:cNvSpPr/>
          <p:nvPr/>
        </p:nvSpPr>
        <p:spPr>
          <a:xfrm>
            <a:off x="2250038" y="136581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p:cNvSpPr/>
          <p:nvPr/>
        </p:nvSpPr>
        <p:spPr>
          <a:xfrm>
            <a:off x="1426393" y="237096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p:cNvSpPr/>
          <p:nvPr/>
        </p:nvSpPr>
        <p:spPr>
          <a:xfrm>
            <a:off x="2924707" y="3745991"/>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p:cNvSpPr/>
          <p:nvPr/>
        </p:nvSpPr>
        <p:spPr>
          <a:xfrm>
            <a:off x="3510334" y="261754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p:cNvSpPr/>
          <p:nvPr/>
        </p:nvSpPr>
        <p:spPr>
          <a:xfrm>
            <a:off x="4916181" y="212438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p:cNvSpPr/>
          <p:nvPr/>
        </p:nvSpPr>
        <p:spPr>
          <a:xfrm>
            <a:off x="5409341" y="3745991"/>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p:cNvSpPr/>
          <p:nvPr/>
        </p:nvSpPr>
        <p:spPr>
          <a:xfrm>
            <a:off x="7126838" y="286412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p:cNvSpPr/>
          <p:nvPr/>
        </p:nvSpPr>
        <p:spPr>
          <a:xfrm>
            <a:off x="6407647" y="161239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p:cNvSpPr/>
          <p:nvPr/>
        </p:nvSpPr>
        <p:spPr>
          <a:xfrm>
            <a:off x="4328842" y="87265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8" name="Straight Connector 37"/>
          <p:cNvCxnSpPr>
            <a:stCxn id="32" idx="7"/>
            <a:endCxn id="31" idx="3"/>
          </p:cNvCxnSpPr>
          <p:nvPr/>
        </p:nvCxnSpPr>
        <p:spPr>
          <a:xfrm flipV="1">
            <a:off x="1847331" y="1786750"/>
            <a:ext cx="474929" cy="65643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2" idx="6"/>
            <a:endCxn id="39" idx="3"/>
          </p:cNvCxnSpPr>
          <p:nvPr/>
        </p:nvCxnSpPr>
        <p:spPr>
          <a:xfrm flipV="1">
            <a:off x="1919553" y="1293590"/>
            <a:ext cx="2481511" cy="132395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1" idx="5"/>
            <a:endCxn id="34" idx="1"/>
          </p:cNvCxnSpPr>
          <p:nvPr/>
        </p:nvCxnSpPr>
        <p:spPr>
          <a:xfrm>
            <a:off x="2670976" y="1786750"/>
            <a:ext cx="911580" cy="90301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2" idx="5"/>
            <a:endCxn id="34" idx="2"/>
          </p:cNvCxnSpPr>
          <p:nvPr/>
        </p:nvCxnSpPr>
        <p:spPr>
          <a:xfrm>
            <a:off x="1847331" y="2791905"/>
            <a:ext cx="1663003" cy="7222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2" idx="4"/>
            <a:endCxn id="33" idx="2"/>
          </p:cNvCxnSpPr>
          <p:nvPr/>
        </p:nvCxnSpPr>
        <p:spPr>
          <a:xfrm>
            <a:off x="1672973" y="2864127"/>
            <a:ext cx="1251734"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4" idx="4"/>
            <a:endCxn id="33" idx="7"/>
          </p:cNvCxnSpPr>
          <p:nvPr/>
        </p:nvCxnSpPr>
        <p:spPr>
          <a:xfrm flipH="1">
            <a:off x="3345645" y="3110707"/>
            <a:ext cx="41126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6" idx="2"/>
            <a:endCxn id="33" idx="6"/>
          </p:cNvCxnSpPr>
          <p:nvPr/>
        </p:nvCxnSpPr>
        <p:spPr>
          <a:xfrm flipH="1">
            <a:off x="3417867" y="3992571"/>
            <a:ext cx="1991474" cy="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5" idx="2"/>
            <a:endCxn id="34" idx="6"/>
          </p:cNvCxnSpPr>
          <p:nvPr/>
        </p:nvCxnSpPr>
        <p:spPr>
          <a:xfrm flipH="1">
            <a:off x="4003494" y="2370967"/>
            <a:ext cx="912687" cy="49316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9" idx="4"/>
            <a:endCxn id="34" idx="0"/>
          </p:cNvCxnSpPr>
          <p:nvPr/>
        </p:nvCxnSpPr>
        <p:spPr>
          <a:xfrm flipH="1">
            <a:off x="3756914" y="1365812"/>
            <a:ext cx="818508" cy="1251735"/>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8" idx="2"/>
            <a:endCxn id="35" idx="7"/>
          </p:cNvCxnSpPr>
          <p:nvPr/>
        </p:nvCxnSpPr>
        <p:spPr>
          <a:xfrm flipH="1">
            <a:off x="5337119" y="1858972"/>
            <a:ext cx="1070528" cy="33763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8" idx="5"/>
            <a:endCxn id="37" idx="0"/>
          </p:cNvCxnSpPr>
          <p:nvPr/>
        </p:nvCxnSpPr>
        <p:spPr>
          <a:xfrm>
            <a:off x="6828585" y="2033330"/>
            <a:ext cx="544833" cy="83079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36" idx="6"/>
            <a:endCxn id="37" idx="3"/>
          </p:cNvCxnSpPr>
          <p:nvPr/>
        </p:nvCxnSpPr>
        <p:spPr>
          <a:xfrm flipV="1">
            <a:off x="5902501" y="3285065"/>
            <a:ext cx="129655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5" idx="5"/>
            <a:endCxn id="37" idx="2"/>
          </p:cNvCxnSpPr>
          <p:nvPr/>
        </p:nvCxnSpPr>
        <p:spPr>
          <a:xfrm>
            <a:off x="5337119" y="2545325"/>
            <a:ext cx="1789719" cy="56538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35" idx="4"/>
            <a:endCxn id="36" idx="0"/>
          </p:cNvCxnSpPr>
          <p:nvPr/>
        </p:nvCxnSpPr>
        <p:spPr>
          <a:xfrm>
            <a:off x="5162761" y="2617547"/>
            <a:ext cx="493160"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839122" y="1054289"/>
            <a:ext cx="1721946"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节点（</a:t>
            </a:r>
            <a:r>
              <a:rPr lang="en-US" altLang="zh-CN" dirty="0">
                <a:latin typeface="Microsoft YaHei" charset="-122"/>
                <a:ea typeface="Microsoft YaHei" charset="-122"/>
                <a:cs typeface="Microsoft YaHei" charset="-122"/>
              </a:rPr>
              <a:t>Node</a:t>
            </a:r>
            <a:r>
              <a:rPr lang="zh-CN" altLang="en-US" dirty="0">
                <a:latin typeface="Microsoft YaHei" charset="-122"/>
                <a:ea typeface="Microsoft YaHei" charset="-122"/>
                <a:cs typeface="Microsoft YaHei" charset="-122"/>
              </a:rPr>
              <a:t>）</a:t>
            </a:r>
            <a:endParaRPr lang="en-US" dirty="0">
              <a:latin typeface="Microsoft YaHei" charset="-122"/>
              <a:ea typeface="Microsoft YaHei" charset="-122"/>
              <a:cs typeface="Microsoft YaHei" charset="-122"/>
            </a:endParaRPr>
          </a:p>
        </p:txBody>
      </p:sp>
      <p:sp>
        <p:nvSpPr>
          <p:cNvPr id="53" name="TextBox 52"/>
          <p:cNvSpPr txBox="1"/>
          <p:nvPr/>
        </p:nvSpPr>
        <p:spPr>
          <a:xfrm>
            <a:off x="7216218" y="2028624"/>
            <a:ext cx="1430200"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边（</a:t>
            </a:r>
            <a:r>
              <a:rPr lang="en-US" altLang="zh-CN" dirty="0">
                <a:latin typeface="Microsoft YaHei" charset="-122"/>
                <a:ea typeface="Microsoft YaHei" charset="-122"/>
                <a:cs typeface="Microsoft YaHei" charset="-122"/>
              </a:rPr>
              <a:t>Edge</a:t>
            </a:r>
            <a:r>
              <a:rPr lang="zh-CN" altLang="en-US" dirty="0">
                <a:latin typeface="Microsoft YaHei" charset="-122"/>
                <a:ea typeface="Microsoft YaHei" charset="-122"/>
                <a:cs typeface="Microsoft YaHei" charset="-122"/>
              </a:rPr>
              <a:t>）</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54" name="TextBox 53"/>
              <p:cNvSpPr txBox="1"/>
              <p:nvPr/>
            </p:nvSpPr>
            <p:spPr>
              <a:xfrm>
                <a:off x="3858307" y="4275644"/>
                <a:ext cx="193847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charset="0"/>
                        </a:rPr>
                        <m:t>𝐺</m:t>
                      </m:r>
                      <m:r>
                        <a:rPr lang="en-US" altLang="zh-CN" sz="3200" b="0" i="1" smtClean="0">
                          <a:latin typeface="Cambria Math" charset="0"/>
                        </a:rPr>
                        <m:t>=(</m:t>
                      </m:r>
                      <m:r>
                        <a:rPr lang="en-US" altLang="zh-CN" sz="3200" b="0" i="1" smtClean="0">
                          <a:latin typeface="Cambria Math" charset="0"/>
                        </a:rPr>
                        <m:t>𝑉</m:t>
                      </m:r>
                      <m:r>
                        <a:rPr lang="en-US" altLang="zh-CN" sz="3200" b="0" i="1" smtClean="0">
                          <a:latin typeface="Cambria Math" charset="0"/>
                        </a:rPr>
                        <m:t>,</m:t>
                      </m:r>
                      <m:r>
                        <a:rPr lang="en-US" altLang="zh-CN" sz="3200" b="0" i="1" smtClean="0">
                          <a:latin typeface="Cambria Math" charset="0"/>
                        </a:rPr>
                        <m:t>𝐸</m:t>
                      </m:r>
                      <m:r>
                        <a:rPr lang="en-US" altLang="zh-CN" sz="3200" b="0" i="1" smtClean="0">
                          <a:latin typeface="Cambria Math" charset="0"/>
                        </a:rPr>
                        <m:t>)</m:t>
                      </m:r>
                    </m:oMath>
                  </m:oMathPara>
                </a14:m>
                <a:endParaRPr lang="en-US" sz="3200" dirty="0"/>
              </a:p>
            </p:txBody>
          </p:sp>
        </mc:Choice>
        <mc:Fallback xmlns="">
          <p:sp>
            <p:nvSpPr>
              <p:cNvPr id="54" name="TextBox 53"/>
              <p:cNvSpPr txBox="1">
                <a:spLocks noRot="1" noChangeAspect="1" noMove="1" noResize="1" noEditPoints="1" noAdjustHandles="1" noChangeArrowheads="1" noChangeShapeType="1" noTextEdit="1"/>
              </p:cNvSpPr>
              <p:nvPr/>
            </p:nvSpPr>
            <p:spPr>
              <a:xfrm>
                <a:off x="3858307" y="4275644"/>
                <a:ext cx="1938479" cy="492443"/>
              </a:xfrm>
              <a:prstGeom prst="rect">
                <a:avLst/>
              </a:prstGeom>
              <a:blipFill rotWithShape="0">
                <a:blip r:embed="rId2"/>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E1BEBC7A-FD02-486B-81B5-A845787C689C}" type="slidenum">
              <a:rPr lang="zh-CN" altLang="en-US" smtClean="0"/>
              <a:t>74</a:t>
            </a:fld>
            <a:endParaRPr lang="zh-CN" altLang="en-US"/>
          </a:p>
        </p:txBody>
      </p:sp>
    </p:spTree>
    <p:extLst>
      <p:ext uri="{BB962C8B-B14F-4D97-AF65-F5344CB8AC3E}">
        <p14:creationId xmlns:p14="http://schemas.microsoft.com/office/powerpoint/2010/main" val="1476322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138C8600-65F6-4265-B02A-E6F84DACB6B6}"/>
              </a:ext>
            </a:extLst>
          </p:cNvPr>
          <p:cNvSpPr>
            <a:spLocks noGrp="1"/>
          </p:cNvSpPr>
          <p:nvPr>
            <p:ph type="title"/>
          </p:nvPr>
        </p:nvSpPr>
        <p:spPr/>
        <p:txBody>
          <a:bodyPr/>
          <a:lstStyle/>
          <a:p>
            <a:r>
              <a:rPr lang="zh-CN" altLang="en-US" dirty="0"/>
              <a:t>图的形式化定义</a:t>
            </a:r>
          </a:p>
        </p:txBody>
      </p:sp>
      <p:sp>
        <p:nvSpPr>
          <p:cNvPr id="3" name="内容占位符 2">
            <a:extLst>
              <a:ext uri="{FF2B5EF4-FFF2-40B4-BE49-F238E27FC236}">
                <a16:creationId xmlns="" xmlns:a16="http://schemas.microsoft.com/office/drawing/2014/main" id="{D8DD325C-BCDD-49B5-BF3A-5D3A44403026}"/>
              </a:ext>
            </a:extLst>
          </p:cNvPr>
          <p:cNvSpPr>
            <a:spLocks noGrp="1"/>
          </p:cNvSpPr>
          <p:nvPr>
            <p:ph idx="1"/>
          </p:nvPr>
        </p:nvSpPr>
        <p:spPr>
          <a:xfrm>
            <a:off x="457200" y="819150"/>
            <a:ext cx="8196526" cy="3905871"/>
          </a:xfrm>
        </p:spPr>
        <p:txBody>
          <a:bodyPr>
            <a:noAutofit/>
          </a:bodyPr>
          <a:lstStyle/>
          <a:p>
            <a:pPr algn="just"/>
            <a:r>
              <a:rPr lang="zh-CN" altLang="zh-CN" sz="1600" dirty="0"/>
              <a:t>社交网络可以使用三种方式进行表示</a:t>
            </a:r>
            <a:r>
              <a:rPr lang="en-US" altLang="zh-CN" sz="1600" dirty="0"/>
              <a:t>(Representation)</a:t>
            </a:r>
            <a:r>
              <a:rPr lang="zh-CN" altLang="zh-CN" sz="1600" dirty="0"/>
              <a:t>，分别是邻接矩阵</a:t>
            </a:r>
            <a:r>
              <a:rPr lang="en-US" altLang="zh-CN" sz="1600" dirty="0"/>
              <a:t>(Adjacency Matrix)</a:t>
            </a:r>
            <a:r>
              <a:rPr lang="zh-CN" altLang="zh-CN" sz="1600" dirty="0"/>
              <a:t>、边列表</a:t>
            </a:r>
            <a:r>
              <a:rPr lang="en-US" altLang="zh-CN" sz="1600" dirty="0"/>
              <a:t>(Edge List)</a:t>
            </a:r>
            <a:r>
              <a:rPr lang="zh-CN" altLang="zh-CN" sz="1600" dirty="0"/>
              <a:t>、邻接关系列表</a:t>
            </a:r>
            <a:r>
              <a:rPr lang="en-US" altLang="zh-CN" sz="1600" dirty="0"/>
              <a:t>(Adjacency List)</a:t>
            </a:r>
            <a:r>
              <a:rPr lang="zh-CN" altLang="zh-CN" sz="1600" dirty="0"/>
              <a:t>。</a:t>
            </a:r>
          </a:p>
          <a:p>
            <a:pPr algn="just"/>
            <a:endParaRPr lang="zh-CN" altLang="zh-CN" sz="1600" dirty="0"/>
          </a:p>
          <a:p>
            <a:pPr lvl="1" algn="just"/>
            <a:endParaRPr lang="zh-CN" altLang="en-US" sz="1600" dirty="0"/>
          </a:p>
        </p:txBody>
      </p:sp>
      <p:pic>
        <p:nvPicPr>
          <p:cNvPr id="4" name="图片 3">
            <a:extLst>
              <a:ext uri="{FF2B5EF4-FFF2-40B4-BE49-F238E27FC236}">
                <a16:creationId xmlns="" xmlns:a16="http://schemas.microsoft.com/office/drawing/2014/main" id="{5E4A1471-CBBB-48EF-BB76-394ACC8B7CF1}"/>
              </a:ext>
            </a:extLst>
          </p:cNvPr>
          <p:cNvPicPr>
            <a:picLocks noChangeAspect="1"/>
          </p:cNvPicPr>
          <p:nvPr/>
        </p:nvPicPr>
        <p:blipFill>
          <a:blip r:embed="rId2"/>
          <a:stretch>
            <a:fillRect/>
          </a:stretch>
        </p:blipFill>
        <p:spPr>
          <a:xfrm>
            <a:off x="378754" y="1829707"/>
            <a:ext cx="2347913" cy="1821725"/>
          </a:xfrm>
          <a:prstGeom prst="rect">
            <a:avLst/>
          </a:prstGeom>
        </p:spPr>
      </p:pic>
      <p:pic>
        <p:nvPicPr>
          <p:cNvPr id="6" name="图片 5">
            <a:extLst>
              <a:ext uri="{FF2B5EF4-FFF2-40B4-BE49-F238E27FC236}">
                <a16:creationId xmlns="" xmlns:a16="http://schemas.microsoft.com/office/drawing/2014/main" id="{BDECF3B8-005A-45DD-AD31-517BA9465E66}"/>
              </a:ext>
            </a:extLst>
          </p:cNvPr>
          <p:cNvPicPr>
            <a:picLocks noChangeAspect="1"/>
          </p:cNvPicPr>
          <p:nvPr/>
        </p:nvPicPr>
        <p:blipFill>
          <a:blip r:embed="rId3"/>
          <a:stretch>
            <a:fillRect/>
          </a:stretch>
        </p:blipFill>
        <p:spPr>
          <a:xfrm>
            <a:off x="3179061" y="1429259"/>
            <a:ext cx="2268950" cy="1411959"/>
          </a:xfrm>
          <a:prstGeom prst="rect">
            <a:avLst/>
          </a:prstGeom>
        </p:spPr>
      </p:pic>
      <p:pic>
        <p:nvPicPr>
          <p:cNvPr id="7" name="图片 6">
            <a:extLst>
              <a:ext uri="{FF2B5EF4-FFF2-40B4-BE49-F238E27FC236}">
                <a16:creationId xmlns="" xmlns:a16="http://schemas.microsoft.com/office/drawing/2014/main" id="{1E1AD542-A05A-4C9E-B4DE-295F08A28831}"/>
              </a:ext>
            </a:extLst>
          </p:cNvPr>
          <p:cNvPicPr>
            <a:picLocks noChangeAspect="1"/>
          </p:cNvPicPr>
          <p:nvPr/>
        </p:nvPicPr>
        <p:blipFill>
          <a:blip r:embed="rId4"/>
          <a:stretch>
            <a:fillRect/>
          </a:stretch>
        </p:blipFill>
        <p:spPr>
          <a:xfrm>
            <a:off x="6115924" y="1429259"/>
            <a:ext cx="1412172" cy="1448382"/>
          </a:xfrm>
          <a:prstGeom prst="rect">
            <a:avLst/>
          </a:prstGeom>
        </p:spPr>
      </p:pic>
      <p:pic>
        <p:nvPicPr>
          <p:cNvPr id="8" name="图片 7">
            <a:extLst>
              <a:ext uri="{FF2B5EF4-FFF2-40B4-BE49-F238E27FC236}">
                <a16:creationId xmlns="" xmlns:a16="http://schemas.microsoft.com/office/drawing/2014/main" id="{01BF3A3E-31BF-458A-BDE2-1D1E1EC0959C}"/>
              </a:ext>
            </a:extLst>
          </p:cNvPr>
          <p:cNvPicPr>
            <a:picLocks noChangeAspect="1"/>
          </p:cNvPicPr>
          <p:nvPr/>
        </p:nvPicPr>
        <p:blipFill>
          <a:blip r:embed="rId5"/>
          <a:stretch>
            <a:fillRect/>
          </a:stretch>
        </p:blipFill>
        <p:spPr>
          <a:xfrm>
            <a:off x="4247424" y="2991941"/>
            <a:ext cx="2212708" cy="1617146"/>
          </a:xfrm>
          <a:prstGeom prst="rect">
            <a:avLst/>
          </a:prstGeom>
        </p:spPr>
      </p:pic>
      <p:sp>
        <p:nvSpPr>
          <p:cNvPr id="5" name="Slide Number Placeholder 4"/>
          <p:cNvSpPr>
            <a:spLocks noGrp="1"/>
          </p:cNvSpPr>
          <p:nvPr>
            <p:ph type="sldNum" sz="quarter" idx="12"/>
          </p:nvPr>
        </p:nvSpPr>
        <p:spPr/>
        <p:txBody>
          <a:bodyPr/>
          <a:lstStyle/>
          <a:p>
            <a:fld id="{E1BEBC7A-FD02-486B-81B5-A845787C689C}" type="slidenum">
              <a:rPr lang="zh-CN" altLang="en-US" smtClean="0"/>
              <a:t>75</a:t>
            </a:fld>
            <a:endParaRPr lang="zh-CN" altLang="en-US"/>
          </a:p>
        </p:txBody>
      </p:sp>
    </p:spTree>
    <p:extLst>
      <p:ext uri="{BB962C8B-B14F-4D97-AF65-F5344CB8AC3E}">
        <p14:creationId xmlns:p14="http://schemas.microsoft.com/office/powerpoint/2010/main" val="528267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图的基本定义</a:t>
            </a:r>
            <a:endParaRPr lang="en-US" dirty="0"/>
          </a:p>
        </p:txBody>
      </p:sp>
      <p:sp>
        <p:nvSpPr>
          <p:cNvPr id="3" name="Content Placeholder 2"/>
          <p:cNvSpPr>
            <a:spLocks noGrp="1"/>
          </p:cNvSpPr>
          <p:nvPr>
            <p:ph idx="1"/>
          </p:nvPr>
        </p:nvSpPr>
        <p:spPr/>
        <p:txBody>
          <a:bodyPr/>
          <a:lstStyle/>
          <a:p>
            <a:r>
              <a:rPr lang="zh-CN" altLang="en-US" dirty="0"/>
              <a:t>练习：请写出下图的邻接矩阵、边列表与邻接关系列表</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56166"/>
            <a:ext cx="8382000" cy="2997200"/>
          </a:xfrm>
          <a:prstGeom prst="rect">
            <a:avLst/>
          </a:prstGeom>
        </p:spPr>
      </p:pic>
      <p:sp>
        <p:nvSpPr>
          <p:cNvPr id="8" name="Rectangle 7"/>
          <p:cNvSpPr/>
          <p:nvPr/>
        </p:nvSpPr>
        <p:spPr>
          <a:xfrm>
            <a:off x="381000" y="4417596"/>
            <a:ext cx="8381999" cy="369332"/>
          </a:xfrm>
          <a:prstGeom prst="rect">
            <a:avLst/>
          </a:prstGeom>
        </p:spPr>
        <p:txBody>
          <a:bodyPr wrap="square">
            <a:spAutoFit/>
          </a:bodyPr>
          <a:lstStyle/>
          <a:p>
            <a:pPr algn="ctr"/>
            <a:r>
              <a:rPr lang="en-US" altLang="zh-CN" dirty="0">
                <a:latin typeface="Microsoft YaHei" charset="-122"/>
                <a:ea typeface="Microsoft YaHei" charset="-122"/>
              </a:rPr>
              <a:t>1970</a:t>
            </a:r>
            <a:r>
              <a:rPr lang="zh-CN" altLang="en-US" dirty="0">
                <a:latin typeface="Microsoft YaHei" charset="-122"/>
                <a:ea typeface="Microsoft YaHei" charset="-122"/>
              </a:rPr>
              <a:t>年代的</a:t>
            </a:r>
            <a:r>
              <a:rPr lang="en-US" altLang="zh-CN" dirty="0">
                <a:latin typeface="Microsoft YaHei" charset="-122"/>
                <a:ea typeface="Microsoft YaHei" charset="-122"/>
              </a:rPr>
              <a:t>Internet</a:t>
            </a:r>
            <a:endParaRPr lang="en-US" altLang="ja-JP" dirty="0">
              <a:latin typeface="Microsoft YaHei" charset="-122"/>
              <a:ea typeface="Microsoft YaHei" charset="-122"/>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76</a:t>
            </a:fld>
            <a:endParaRPr lang="zh-CN" altLang="en-US"/>
          </a:p>
        </p:txBody>
      </p:sp>
    </p:spTree>
    <p:extLst>
      <p:ext uri="{BB962C8B-B14F-4D97-AF65-F5344CB8AC3E}">
        <p14:creationId xmlns:p14="http://schemas.microsoft.com/office/powerpoint/2010/main" val="8915009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关系的对称性</a:t>
            </a:r>
            <a:endParaRPr lang="en-US" dirty="0"/>
          </a:p>
        </p:txBody>
      </p:sp>
      <p:sp>
        <p:nvSpPr>
          <p:cNvPr id="3" name="Content Placeholder 2"/>
          <p:cNvSpPr>
            <a:spLocks noGrp="1"/>
          </p:cNvSpPr>
          <p:nvPr>
            <p:ph idx="1"/>
          </p:nvPr>
        </p:nvSpPr>
        <p:spPr/>
        <p:txBody>
          <a:bodyPr/>
          <a:lstStyle/>
          <a:p>
            <a:r>
              <a:rPr lang="zh-CN" altLang="en-US" dirty="0"/>
              <a:t>无向图与有向图（</a:t>
            </a:r>
            <a:r>
              <a:rPr lang="en-US" altLang="zh-CN" dirty="0"/>
              <a:t>Undirected</a:t>
            </a:r>
            <a:r>
              <a:rPr lang="zh-CN" altLang="en-US" dirty="0"/>
              <a:t> </a:t>
            </a:r>
            <a:r>
              <a:rPr lang="en-US" altLang="zh-CN" dirty="0"/>
              <a:t>Graph</a:t>
            </a:r>
            <a:r>
              <a:rPr lang="zh-CN" altLang="en-US" dirty="0"/>
              <a:t> </a:t>
            </a:r>
            <a:r>
              <a:rPr lang="en-US" altLang="zh-CN" dirty="0"/>
              <a:t>vs.</a:t>
            </a:r>
            <a:r>
              <a:rPr lang="zh-CN" altLang="en-US" dirty="0"/>
              <a:t> </a:t>
            </a:r>
            <a:r>
              <a:rPr lang="en-US" altLang="zh-CN" dirty="0"/>
              <a:t>Directed</a:t>
            </a:r>
            <a:r>
              <a:rPr lang="zh-CN" altLang="en-US" dirty="0"/>
              <a:t> </a:t>
            </a:r>
            <a:r>
              <a:rPr lang="en-US" altLang="zh-CN" dirty="0"/>
              <a:t>Graph</a:t>
            </a:r>
            <a:r>
              <a:rPr lang="zh-CN" altLang="en-US" dirty="0"/>
              <a:t>）</a:t>
            </a:r>
            <a:endParaRPr lang="en-US" altLang="zh-CN" dirty="0"/>
          </a:p>
          <a:p>
            <a:pPr lvl="1"/>
            <a:r>
              <a:rPr lang="ja-JP" altLang="en-US" dirty="0">
                <a:latin typeface="Microsoft YaHei" charset="-122"/>
                <a:ea typeface="Microsoft YaHei" charset="-122"/>
              </a:rPr>
              <a:t>一条边两端的两个节点</a:t>
            </a:r>
            <a:r>
              <a:rPr lang="zh-CN" altLang="en-US" dirty="0">
                <a:latin typeface="Microsoft YaHei" charset="-122"/>
                <a:ea typeface="Microsoft YaHei" charset="-122"/>
              </a:rPr>
              <a:t>是否具有</a:t>
            </a:r>
            <a:r>
              <a:rPr lang="ja-JP" altLang="en-US" dirty="0">
                <a:latin typeface="Microsoft YaHei" charset="-122"/>
                <a:ea typeface="Microsoft YaHei" charset="-122"/>
              </a:rPr>
              <a:t>对称关系</a:t>
            </a:r>
            <a:endParaRPr lang="en-US"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449" y="1639878"/>
            <a:ext cx="5766988" cy="265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6053437" y="2278260"/>
            <a:ext cx="1632994" cy="400110"/>
          </a:xfrm>
          <a:prstGeom prst="rect">
            <a:avLst/>
          </a:prstGeom>
        </p:spPr>
        <p:txBody>
          <a:bodyPr wrap="square">
            <a:spAutoFit/>
          </a:bodyPr>
          <a:lstStyle/>
          <a:p>
            <a:pPr algn="ctr"/>
            <a:r>
              <a:rPr lang="zh-CN" altLang="en-US" sz="2000" dirty="0">
                <a:latin typeface="Microsoft YaHei" charset="-122"/>
                <a:ea typeface="Microsoft YaHei" charset="-122"/>
              </a:rPr>
              <a:t>微博</a:t>
            </a:r>
            <a:endParaRPr lang="en-US" altLang="ja-JP" sz="2000" dirty="0">
              <a:latin typeface="Microsoft YaHei" charset="-122"/>
              <a:ea typeface="Microsoft YaHei" charset="-122"/>
            </a:endParaRPr>
          </a:p>
        </p:txBody>
      </p:sp>
      <p:sp>
        <p:nvSpPr>
          <p:cNvPr id="8" name="Rectangle 7"/>
          <p:cNvSpPr/>
          <p:nvPr/>
        </p:nvSpPr>
        <p:spPr>
          <a:xfrm>
            <a:off x="6053437" y="3600641"/>
            <a:ext cx="1632994" cy="400110"/>
          </a:xfrm>
          <a:prstGeom prst="rect">
            <a:avLst/>
          </a:prstGeom>
        </p:spPr>
        <p:txBody>
          <a:bodyPr wrap="square">
            <a:spAutoFit/>
          </a:bodyPr>
          <a:lstStyle/>
          <a:p>
            <a:pPr algn="ctr"/>
            <a:r>
              <a:rPr lang="zh-CN" altLang="en-US" sz="2000" dirty="0">
                <a:latin typeface="Microsoft YaHei" charset="-122"/>
                <a:ea typeface="Microsoft YaHei" charset="-122"/>
              </a:rPr>
              <a:t>微信</a:t>
            </a:r>
            <a:endParaRPr lang="en-US" altLang="ja-JP" sz="2000" dirty="0">
              <a:latin typeface="Microsoft YaHei" charset="-122"/>
              <a:ea typeface="Microsoft YaHei" charset="-122"/>
            </a:endParaRPr>
          </a:p>
        </p:txBody>
      </p:sp>
      <p:sp>
        <p:nvSpPr>
          <p:cNvPr id="9" name="Rectangle 8"/>
          <p:cNvSpPr/>
          <p:nvPr/>
        </p:nvSpPr>
        <p:spPr>
          <a:xfrm>
            <a:off x="286449" y="4356040"/>
            <a:ext cx="5766987" cy="400110"/>
          </a:xfrm>
          <a:prstGeom prst="rect">
            <a:avLst/>
          </a:prstGeom>
        </p:spPr>
        <p:txBody>
          <a:bodyPr wrap="square">
            <a:spAutoFit/>
          </a:bodyPr>
          <a:lstStyle/>
          <a:p>
            <a:pPr algn="ctr"/>
            <a:r>
              <a:rPr lang="zh-CN" altLang="en-US" sz="2000" dirty="0">
                <a:latin typeface="Microsoft YaHei" charset="-122"/>
                <a:ea typeface="Microsoft YaHei" charset="-122"/>
              </a:rPr>
              <a:t>本讲主要探讨无向图</a:t>
            </a:r>
            <a:endParaRPr lang="en-US" altLang="ja-JP" sz="2000" dirty="0">
              <a:latin typeface="Microsoft YaHei" charset="-122"/>
              <a:ea typeface="Microsoft YaHei" charset="-122"/>
            </a:endParaRPr>
          </a:p>
        </p:txBody>
      </p:sp>
      <p:sp>
        <p:nvSpPr>
          <p:cNvPr id="10" name="Rectangle 9"/>
          <p:cNvSpPr/>
          <p:nvPr/>
        </p:nvSpPr>
        <p:spPr>
          <a:xfrm>
            <a:off x="6753132" y="1310446"/>
            <a:ext cx="2326278" cy="815608"/>
          </a:xfrm>
          <a:prstGeom prst="rect">
            <a:avLst/>
          </a:prstGeom>
        </p:spPr>
        <p:txBody>
          <a:bodyPr wrap="none">
            <a:spAutoFit/>
          </a:bodyPr>
          <a:lstStyle/>
          <a:p>
            <a:r>
              <a:rPr lang="zh-CN" altLang="en-US" sz="2000" dirty="0">
                <a:solidFill>
                  <a:srgbClr val="C00000"/>
                </a:solidFill>
                <a:latin typeface="Helvetica Neue" charset="0"/>
              </a:rPr>
              <a:t>微博</a:t>
            </a:r>
            <a:r>
              <a:rPr lang="en-US" altLang="zh-CN" sz="2000" dirty="0">
                <a:solidFill>
                  <a:srgbClr val="C00000"/>
                </a:solidFill>
                <a:latin typeface="Helvetica Neue" charset="0"/>
              </a:rPr>
              <a:t>/</a:t>
            </a:r>
            <a:r>
              <a:rPr lang="zh-CN" altLang="en-US" sz="2000" dirty="0">
                <a:solidFill>
                  <a:srgbClr val="C00000"/>
                </a:solidFill>
                <a:latin typeface="Helvetica Neue" charset="0"/>
              </a:rPr>
              <a:t>微信是：</a:t>
            </a:r>
            <a:endParaRPr lang="en-US" altLang="zh-CN" sz="2000" dirty="0">
              <a:solidFill>
                <a:srgbClr val="C00000"/>
              </a:solidFill>
              <a:latin typeface="Helvetica Neue" charset="0"/>
            </a:endParaRPr>
          </a:p>
          <a:p>
            <a:pPr>
              <a:lnSpc>
                <a:spcPct val="150000"/>
              </a:lnSpc>
            </a:pPr>
            <a:r>
              <a:rPr lang="zh-CN" altLang="en-US" dirty="0">
                <a:solidFill>
                  <a:srgbClr val="C00000"/>
                </a:solidFill>
                <a:effectLst/>
                <a:latin typeface="Helvetica Neue" charset="0"/>
              </a:rPr>
              <a:t>  </a:t>
            </a:r>
            <a:r>
              <a:rPr lang="en-US" altLang="zh-CN" dirty="0">
                <a:solidFill>
                  <a:srgbClr val="C00000"/>
                </a:solidFill>
                <a:effectLst/>
                <a:latin typeface="Helvetica Neue" charset="0"/>
              </a:rPr>
              <a:t>A</a:t>
            </a:r>
            <a:r>
              <a:rPr lang="en-US" altLang="zh-CN" dirty="0">
                <a:solidFill>
                  <a:srgbClr val="C00000"/>
                </a:solidFill>
                <a:latin typeface="Helvetica Neue" charset="0"/>
              </a:rPr>
              <a:t>.</a:t>
            </a:r>
            <a:r>
              <a:rPr lang="zh-CN" altLang="en-US" dirty="0">
                <a:solidFill>
                  <a:srgbClr val="C00000"/>
                </a:solidFill>
                <a:latin typeface="Helvetica Neue" charset="0"/>
              </a:rPr>
              <a:t> 有向图 </a:t>
            </a:r>
            <a:r>
              <a:rPr lang="en-US" altLang="zh-CN" dirty="0">
                <a:solidFill>
                  <a:srgbClr val="C00000"/>
                </a:solidFill>
                <a:latin typeface="Helvetica Neue" charset="0"/>
              </a:rPr>
              <a:t>B.</a:t>
            </a:r>
            <a:r>
              <a:rPr lang="zh-CN" altLang="en-US" dirty="0">
                <a:solidFill>
                  <a:srgbClr val="C00000"/>
                </a:solidFill>
                <a:latin typeface="Helvetica Neue" charset="0"/>
              </a:rPr>
              <a:t> 无向图</a:t>
            </a:r>
            <a:endParaRPr lang="en-US" sz="2800" dirty="0">
              <a:solidFill>
                <a:srgbClr val="C00000"/>
              </a:solidFill>
              <a:effectLst/>
              <a:latin typeface="Helvetica Neue" charset="0"/>
            </a:endParaRPr>
          </a:p>
        </p:txBody>
      </p:sp>
      <p:sp>
        <p:nvSpPr>
          <p:cNvPr id="11" name="Rectangle 10"/>
          <p:cNvSpPr/>
          <p:nvPr/>
        </p:nvSpPr>
        <p:spPr>
          <a:xfrm>
            <a:off x="6224188" y="1456640"/>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5" name="Slide Number Placeholder 4"/>
          <p:cNvSpPr>
            <a:spLocks noGrp="1"/>
          </p:cNvSpPr>
          <p:nvPr>
            <p:ph type="sldNum" sz="quarter" idx="12"/>
          </p:nvPr>
        </p:nvSpPr>
        <p:spPr/>
        <p:txBody>
          <a:bodyPr/>
          <a:lstStyle/>
          <a:p>
            <a:fld id="{E1BEBC7A-FD02-486B-81B5-A845787C689C}" type="slidenum">
              <a:rPr lang="zh-CN" altLang="en-US" smtClean="0"/>
              <a:t>77</a:t>
            </a:fld>
            <a:endParaRPr lang="zh-CN" altLang="en-US"/>
          </a:p>
        </p:txBody>
      </p:sp>
    </p:spTree>
    <p:extLst>
      <p:ext uri="{BB962C8B-B14F-4D97-AF65-F5344CB8AC3E}">
        <p14:creationId xmlns:p14="http://schemas.microsoft.com/office/powerpoint/2010/main" val="17191093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边的权重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图上的每一条边</a:t>
                </a:r>
                <a14:m>
                  <m:oMath xmlns:m="http://schemas.openxmlformats.org/officeDocument/2006/math">
                    <m:r>
                      <a:rPr lang="en-US" altLang="zh-CN" b="0" i="1" dirty="0" smtClean="0">
                        <a:latin typeface="Cambria Math" charset="0"/>
                      </a:rPr>
                      <m:t>𝑒</m:t>
                    </m:r>
                  </m:oMath>
                </a14:m>
                <a:r>
                  <a:rPr lang="zh-CN" altLang="en-US" dirty="0"/>
                  <a:t>关联一个数字</a:t>
                </a:r>
                <a14:m>
                  <m:oMath xmlns:m="http://schemas.openxmlformats.org/officeDocument/2006/math">
                    <m:r>
                      <a:rPr lang="en-US" altLang="zh-CN" b="0" i="1" smtClean="0">
                        <a:latin typeface="Cambria Math" charset="0"/>
                      </a:rPr>
                      <m:t>𝑤</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oMath>
                </a14:m>
                <a:r>
                  <a:rPr lang="zh-CN" altLang="en-US" dirty="0"/>
                  <a:t>，用来表示边的重要性或成本</a:t>
                </a:r>
                <a:endParaRPr lang="en-US" dirty="0"/>
              </a:p>
              <a:p>
                <a:r>
                  <a:rPr lang="zh-CN" altLang="en-US" dirty="0"/>
                  <a:t>例：道路网中的权重</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8231" y="1277637"/>
            <a:ext cx="5222111" cy="3359558"/>
          </a:xfrm>
          <a:prstGeom prst="rect">
            <a:avLst/>
          </a:prstGeom>
        </p:spPr>
      </p:pic>
      <p:sp>
        <p:nvSpPr>
          <p:cNvPr id="5" name="Rectangle 4"/>
          <p:cNvSpPr/>
          <p:nvPr/>
        </p:nvSpPr>
        <p:spPr>
          <a:xfrm>
            <a:off x="1145893" y="2546701"/>
            <a:ext cx="2317815" cy="1338828"/>
          </a:xfrm>
          <a:prstGeom prst="rect">
            <a:avLst/>
          </a:prstGeom>
        </p:spPr>
        <p:txBody>
          <a:bodyPr wrap="square">
            <a:spAutoFit/>
          </a:bodyPr>
          <a:lstStyle/>
          <a:p>
            <a:pPr>
              <a:lnSpc>
                <a:spcPct val="150000"/>
              </a:lnSpc>
              <a:defRPr/>
            </a:pPr>
            <a:r>
              <a:rPr lang="ja-JP" altLang="en-US" kern="0" dirty="0">
                <a:latin typeface="Microsoft YaHei" panose="020B0503020204020204" pitchFamily="34" charset="-122"/>
                <a:ea typeface="Microsoft YaHei" panose="020B0503020204020204" pitchFamily="34" charset="-122"/>
              </a:rPr>
              <a:t>节点</a:t>
            </a:r>
            <a:r>
              <a:rPr lang="zh-CN" altLang="en-US" kern="0" dirty="0">
                <a:latin typeface="Microsoft YaHei" panose="020B0503020204020204" pitchFamily="34" charset="-122"/>
                <a:ea typeface="Microsoft YaHei" panose="020B0503020204020204" pitchFamily="34" charset="-122"/>
              </a:rPr>
              <a:t>：路口</a:t>
            </a:r>
            <a:endParaRPr lang="en-US" altLang="ja-JP" kern="0" dirty="0">
              <a:latin typeface="Microsoft YaHei" panose="020B0503020204020204" pitchFamily="34" charset="-122"/>
              <a:ea typeface="Microsoft YaHei" panose="020B0503020204020204" pitchFamily="34" charset="-122"/>
            </a:endParaRPr>
          </a:p>
          <a:p>
            <a:pPr>
              <a:lnSpc>
                <a:spcPct val="150000"/>
              </a:lnSpc>
              <a:defRPr/>
            </a:pPr>
            <a:r>
              <a:rPr lang="ja-JP" altLang="en-US" kern="0" dirty="0">
                <a:latin typeface="Microsoft YaHei" panose="020B0503020204020204" pitchFamily="34" charset="-122"/>
                <a:ea typeface="Microsoft YaHei" panose="020B0503020204020204" pitchFamily="34" charset="-122"/>
              </a:rPr>
              <a:t>边</a:t>
            </a:r>
            <a:r>
              <a:rPr lang="zh-CN" altLang="en-US" kern="0" dirty="0">
                <a:latin typeface="Microsoft YaHei" panose="020B0503020204020204" pitchFamily="34" charset="-122"/>
                <a:ea typeface="Microsoft YaHei" panose="020B0503020204020204" pitchFamily="34" charset="-122"/>
              </a:rPr>
              <a:t>：道路</a:t>
            </a:r>
            <a:endParaRPr lang="en-US" altLang="zh-CN" kern="0" dirty="0">
              <a:latin typeface="Microsoft YaHei" panose="020B0503020204020204" pitchFamily="34" charset="-122"/>
              <a:ea typeface="Microsoft YaHei" panose="020B0503020204020204" pitchFamily="34" charset="-122"/>
            </a:endParaRPr>
          </a:p>
          <a:p>
            <a:pPr>
              <a:lnSpc>
                <a:spcPct val="150000"/>
              </a:lnSpc>
              <a:defRPr/>
            </a:pPr>
            <a:r>
              <a:rPr lang="zh-CN" altLang="en-US" kern="0" dirty="0">
                <a:latin typeface="Microsoft YaHei" panose="020B0503020204020204" pitchFamily="34" charset="-122"/>
                <a:ea typeface="Microsoft YaHei" panose="020B0503020204020204" pitchFamily="34" charset="-122"/>
              </a:rPr>
              <a:t>权重：拥堵情况</a:t>
            </a:r>
            <a:endParaRPr lang="en-US" altLang="ja-JP" kern="0" dirty="0">
              <a:latin typeface="Microsoft YaHei" panose="020B0503020204020204" pitchFamily="34" charset="-122"/>
              <a:ea typeface="Microsoft YaHei" panose="020B0503020204020204" pitchFamily="34" charset="-122"/>
            </a:endParaRPr>
          </a:p>
        </p:txBody>
      </p:sp>
      <p:sp>
        <p:nvSpPr>
          <p:cNvPr id="6" name="Slide Number Placeholder 5"/>
          <p:cNvSpPr>
            <a:spLocks noGrp="1"/>
          </p:cNvSpPr>
          <p:nvPr>
            <p:ph type="sldNum" sz="quarter" idx="12"/>
          </p:nvPr>
        </p:nvSpPr>
        <p:spPr/>
        <p:txBody>
          <a:bodyPr/>
          <a:lstStyle/>
          <a:p>
            <a:fld id="{E1BEBC7A-FD02-486B-81B5-A845787C689C}" type="slidenum">
              <a:rPr lang="zh-CN" altLang="en-US" smtClean="0"/>
              <a:t>78</a:t>
            </a:fld>
            <a:endParaRPr lang="zh-CN" altLang="en-US"/>
          </a:p>
        </p:txBody>
      </p:sp>
    </p:spTree>
    <p:extLst>
      <p:ext uri="{BB962C8B-B14F-4D97-AF65-F5344CB8AC3E}">
        <p14:creationId xmlns:p14="http://schemas.microsoft.com/office/powerpoint/2010/main" val="446243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边的权重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812880"/>
              </a:xfrm>
            </p:spPr>
            <p:txBody>
              <a:bodyPr/>
              <a:lstStyle/>
              <a:p>
                <a:r>
                  <a:rPr lang="zh-CN" altLang="en-US" dirty="0"/>
                  <a:t>图上的每一条边</a:t>
                </a:r>
                <a14:m>
                  <m:oMath xmlns:m="http://schemas.openxmlformats.org/officeDocument/2006/math">
                    <m:r>
                      <a:rPr lang="en-US" altLang="zh-CN" b="0" i="1" dirty="0" smtClean="0">
                        <a:latin typeface="Cambria Math" charset="0"/>
                      </a:rPr>
                      <m:t>𝑒</m:t>
                    </m:r>
                  </m:oMath>
                </a14:m>
                <a:r>
                  <a:rPr lang="zh-CN" altLang="en-US" dirty="0"/>
                  <a:t>关联一个数字</a:t>
                </a:r>
                <a14:m>
                  <m:oMath xmlns:m="http://schemas.openxmlformats.org/officeDocument/2006/math">
                    <m:r>
                      <a:rPr lang="en-US" altLang="zh-CN" b="0" i="1" smtClean="0">
                        <a:latin typeface="Cambria Math" charset="0"/>
                      </a:rPr>
                      <m:t>𝑤</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oMath>
                </a14:m>
                <a:r>
                  <a:rPr lang="zh-CN" altLang="en-US" dirty="0"/>
                  <a:t>，用来表示边的重要性或成本</a:t>
                </a:r>
                <a:endParaRPr lang="en-US" dirty="0"/>
              </a:p>
              <a:p>
                <a:r>
                  <a:rPr lang="zh-CN" altLang="en-US" dirty="0"/>
                  <a:t>例：信息传播中的权重</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812880"/>
              </a:xfrm>
              <a:blipFill rotWithShape="0">
                <a:blip r:embed="rId2"/>
                <a:stretch>
                  <a:fillRect l="-667" t="-3731" b="-6716"/>
                </a:stretch>
              </a:blipFill>
            </p:spPr>
            <p:txBody>
              <a:bodyPr/>
              <a:lstStyle/>
              <a:p>
                <a:r>
                  <a:rPr lang="en-US">
                    <a:noFill/>
                  </a:rPr>
                  <a:t> </a:t>
                </a:r>
              </a:p>
            </p:txBody>
          </p:sp>
        </mc:Fallback>
      </mc:AlternateContent>
      <p:sp>
        <p:nvSpPr>
          <p:cNvPr id="28" name="Rectangle 27"/>
          <p:cNvSpPr/>
          <p:nvPr/>
        </p:nvSpPr>
        <p:spPr>
          <a:xfrm>
            <a:off x="457200" y="2078027"/>
            <a:ext cx="4572000" cy="2296013"/>
          </a:xfrm>
          <a:prstGeom prst="rect">
            <a:avLst/>
          </a:prstGeom>
        </p:spPr>
        <p:txBody>
          <a:bodyPr>
            <a:spAutoFit/>
          </a:bodyPr>
          <a:lstStyle/>
          <a:p>
            <a:pPr marL="342900" indent="-342900">
              <a:spcBef>
                <a:spcPct val="20000"/>
              </a:spcBef>
              <a:buFont typeface="Arial" pitchFamily="34" charset="0"/>
              <a:buChar char="•"/>
            </a:pPr>
            <a:r>
              <a:rPr lang="en-US" altLang="zh-CN" sz="2000" dirty="0">
                <a:latin typeface="微软雅黑" panose="020B0503020204020204" pitchFamily="34" charset="-122"/>
                <a:ea typeface="微软雅黑" panose="020B0503020204020204" pitchFamily="34" charset="-122"/>
              </a:rPr>
              <a:t>Independent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Cascade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）模型</a:t>
            </a:r>
            <a:endParaRPr lang="en-US" altLang="zh-CN" sz="2000" dirty="0">
              <a:latin typeface="微软雅黑" panose="020B0503020204020204" pitchFamily="34" charset="-122"/>
              <a:ea typeface="微软雅黑" panose="020B0503020204020204" pitchFamily="34" charset="-122"/>
            </a:endParaRPr>
          </a:p>
          <a:p>
            <a:pPr marL="342900" indent="-342900">
              <a:spcBef>
                <a:spcPct val="20000"/>
              </a:spcBef>
              <a:buFont typeface="Arial" pitchFamily="34" charset="0"/>
              <a:buChar char="•"/>
            </a:pPr>
            <a:r>
              <a:rPr lang="zh-CN" altLang="en-US" sz="2000" dirty="0">
                <a:latin typeface="微软雅黑" panose="020B0503020204020204" pitchFamily="34" charset="-122"/>
                <a:ea typeface="微软雅黑" panose="020B0503020204020204" pitchFamily="34" charset="-122"/>
              </a:rPr>
              <a:t>假设用户</a:t>
            </a:r>
            <a:r>
              <a:rPr lang="en-US" altLang="zh-CN" sz="2000" dirty="0">
                <a:latin typeface="微软雅黑" panose="020B0503020204020204" pitchFamily="34" charset="-122"/>
                <a:ea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rPr>
              <a:t>之间有一个概率值，称为影响概率</a:t>
            </a:r>
            <a:endParaRPr lang="en-US" altLang="zh-CN" sz="2000" dirty="0">
              <a:latin typeface="微软雅黑" panose="020B0503020204020204" pitchFamily="34" charset="-122"/>
              <a:ea typeface="微软雅黑" panose="020B0503020204020204" pitchFamily="34" charset="-122"/>
            </a:endParaRPr>
          </a:p>
          <a:p>
            <a:pPr marL="742950" lvl="1" indent="-285750">
              <a:spcBef>
                <a:spcPct val="20000"/>
              </a:spcBef>
              <a:buFont typeface="Arial" pitchFamily="34" charset="0"/>
              <a:buChar char="–"/>
            </a:pPr>
            <a:r>
              <a:rPr lang="zh-CN" altLang="en-US" dirty="0">
                <a:latin typeface="微软雅黑" panose="020B0503020204020204" pitchFamily="34" charset="-122"/>
                <a:ea typeface="微软雅黑" panose="020B0503020204020204" pitchFamily="34" charset="-122"/>
              </a:rPr>
              <a:t>概率值越大，</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相信</a:t>
            </a:r>
            <a:r>
              <a:rPr lang="en-US" altLang="zh-CN" dirty="0">
                <a:latin typeface="微软雅黑" panose="020B0503020204020204" pitchFamily="34" charset="-122"/>
                <a:ea typeface="微软雅黑" panose="020B0503020204020204" pitchFamily="34" charset="-122"/>
              </a:rPr>
              <a:t>u</a:t>
            </a:r>
            <a:r>
              <a:rPr lang="zh-CN" altLang="en-US" dirty="0">
                <a:latin typeface="微软雅黑" panose="020B0503020204020204" pitchFamily="34" charset="-122"/>
                <a:ea typeface="微软雅黑" panose="020B0503020204020204" pitchFamily="34" charset="-122"/>
              </a:rPr>
              <a:t>传播消息的可能性就越大</a:t>
            </a:r>
            <a:endParaRPr lang="en-US" altLang="zh-CN" dirty="0">
              <a:latin typeface="微软雅黑" panose="020B0503020204020204" pitchFamily="34" charset="-122"/>
              <a:ea typeface="微软雅黑" panose="020B0503020204020204" pitchFamily="34" charset="-122"/>
            </a:endParaRPr>
          </a:p>
          <a:p>
            <a:pPr marL="742950" lvl="1" indent="-285750">
              <a:spcBef>
                <a:spcPct val="20000"/>
              </a:spcBef>
              <a:buFont typeface="Arial" pitchFamily="34" charset="0"/>
              <a:buChar char="–"/>
            </a:pPr>
            <a:r>
              <a:rPr lang="zh-CN" altLang="en-US" dirty="0">
                <a:latin typeface="微软雅黑" panose="020B0503020204020204" pitchFamily="34" charset="-122"/>
                <a:ea typeface="微软雅黑" panose="020B0503020204020204" pitchFamily="34" charset="-122"/>
              </a:rPr>
              <a:t>概率值可以通过</a:t>
            </a:r>
            <a:r>
              <a:rPr lang="en-US" altLang="zh-CN" dirty="0">
                <a:latin typeface="微软雅黑" panose="020B0503020204020204" pitchFamily="34" charset="-122"/>
                <a:ea typeface="微软雅黑" panose="020B0503020204020204" pitchFamily="34" charset="-122"/>
              </a:rPr>
              <a:t>u</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的互动历史学习得到</a:t>
            </a:r>
            <a:endParaRPr lang="en-US" dirty="0">
              <a:latin typeface="微软雅黑" panose="020B0503020204020204" pitchFamily="34" charset="-122"/>
              <a:ea typeface="微软雅黑" panose="020B0503020204020204" pitchFamily="34" charset="-122"/>
            </a:endParaRPr>
          </a:p>
        </p:txBody>
      </p:sp>
      <p:pic>
        <p:nvPicPr>
          <p:cNvPr id="29" name="Picture 28"/>
          <p:cNvPicPr>
            <a:picLocks noChangeAspect="1"/>
          </p:cNvPicPr>
          <p:nvPr/>
        </p:nvPicPr>
        <p:blipFill>
          <a:blip r:embed="rId3"/>
          <a:stretch>
            <a:fillRect/>
          </a:stretch>
        </p:blipFill>
        <p:spPr>
          <a:xfrm>
            <a:off x="4800686" y="1430264"/>
            <a:ext cx="4076700" cy="3378200"/>
          </a:xfrm>
          <a:prstGeom prst="rect">
            <a:avLst/>
          </a:prstGeom>
        </p:spPr>
      </p:pic>
      <p:sp>
        <p:nvSpPr>
          <p:cNvPr id="4" name="Slide Number Placeholder 3"/>
          <p:cNvSpPr>
            <a:spLocks noGrp="1"/>
          </p:cNvSpPr>
          <p:nvPr>
            <p:ph type="sldNum" sz="quarter" idx="12"/>
          </p:nvPr>
        </p:nvSpPr>
        <p:spPr/>
        <p:txBody>
          <a:bodyPr/>
          <a:lstStyle/>
          <a:p>
            <a:fld id="{E1BEBC7A-FD02-486B-81B5-A845787C689C}" type="slidenum">
              <a:rPr lang="zh-CN" altLang="en-US" smtClean="0"/>
              <a:t>79</a:t>
            </a:fld>
            <a:endParaRPr lang="zh-CN" altLang="en-US"/>
          </a:p>
        </p:txBody>
      </p:sp>
    </p:spTree>
    <p:extLst>
      <p:ext uri="{BB962C8B-B14F-4D97-AF65-F5344CB8AC3E}">
        <p14:creationId xmlns:p14="http://schemas.microsoft.com/office/powerpoint/2010/main" val="1007575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路径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8229600" cy="2595383"/>
              </a:xfrm>
            </p:spPr>
            <p:txBody>
              <a:bodyPr>
                <a:normAutofit/>
              </a:bodyPr>
              <a:lstStyle/>
              <a:p>
                <a:r>
                  <a:rPr lang="zh-CN" altLang="en-US" dirty="0"/>
                  <a:t>路径：图上节点的序列，序列中任意两个相邻的节点都有边相连</a:t>
                </a:r>
                <a:endParaRPr lang="en-US" altLang="zh-CN" dirty="0"/>
              </a:p>
              <a:p>
                <a:pPr lvl="1"/>
                <a:r>
                  <a:rPr lang="en-US" altLang="zh-CN" dirty="0"/>
                  <a:t>Path</a:t>
                </a:r>
                <a:r>
                  <a:rPr lang="zh-CN" altLang="en-US" dirty="0"/>
                  <a:t> </a:t>
                </a:r>
                <a14:m>
                  <m:oMath xmlns:m="http://schemas.openxmlformats.org/officeDocument/2006/math">
                    <m:r>
                      <a:rPr lang="en-US" altLang="zh-CN" b="0" i="1" smtClean="0">
                        <a:latin typeface="Cambria Math" charset="0"/>
                      </a:rPr>
                      <m:t>𝑝</m:t>
                    </m:r>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0</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1</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𝑚</m:t>
                        </m:r>
                      </m:sub>
                    </m:sSub>
                    <m:r>
                      <a:rPr lang="en-US" altLang="zh-CN" b="0" i="1" smtClean="0">
                        <a:latin typeface="Cambria Math" charset="0"/>
                      </a:rPr>
                      <m:t>)</m:t>
                    </m:r>
                  </m:oMath>
                </a14:m>
                <a:r>
                  <a:rPr lang="zh-CN" altLang="en-US" dirty="0"/>
                  <a:t> </a:t>
                </a:r>
                <a:r>
                  <a:rPr lang="en-US" altLang="zh-CN" dirty="0"/>
                  <a:t>where</a:t>
                </a:r>
                <a:r>
                  <a:rPr lang="zh-CN" altLang="en-US" dirty="0"/>
                  <a:t> </a:t>
                </a:r>
                <a:r>
                  <a:rPr lang="en-US" altLang="zh-CN" dirty="0"/>
                  <a:t>any</a:t>
                </a:r>
                <a:r>
                  <a:rPr lang="zh-CN" altLang="en-US" dirty="0"/>
                  <a:t> </a:t>
                </a:r>
                <a14:m>
                  <m:oMath xmlns:m="http://schemas.openxmlformats.org/officeDocument/2006/math">
                    <m:d>
                      <m:dPr>
                        <m:ctrlPr>
                          <a:rPr lang="en-US" altLang="zh-CN" b="0" i="1" smtClean="0">
                            <a:latin typeface="Cambria Math" charset="0"/>
                          </a:rPr>
                        </m:ctrlPr>
                      </m:dPr>
                      <m:e>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𝑖</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𝑖</m:t>
                            </m:r>
                            <m:r>
                              <a:rPr lang="en-US" altLang="zh-CN" b="0" i="1" smtClean="0">
                                <a:latin typeface="Cambria Math" charset="0"/>
                              </a:rPr>
                              <m:t>+1</m:t>
                            </m:r>
                          </m:sub>
                        </m:sSub>
                      </m:e>
                    </m:d>
                    <m:r>
                      <a:rPr lang="en-US" altLang="zh-CN" b="0" i="1" smtClean="0">
                        <a:latin typeface="Cambria Math" charset="0"/>
                      </a:rPr>
                      <m:t>∈</m:t>
                    </m:r>
                    <m:r>
                      <a:rPr lang="en-US" altLang="zh-CN" b="0" i="1" smtClean="0">
                        <a:latin typeface="Cambria Math" charset="0"/>
                      </a:rPr>
                      <m:t>𝐸</m:t>
                    </m:r>
                  </m:oMath>
                </a14:m>
                <a:endParaRPr lang="en-US" dirty="0"/>
              </a:p>
              <a:p>
                <a:pPr lvl="1"/>
                <a:r>
                  <a:rPr lang="zh-CN" altLang="en-US" dirty="0"/>
                  <a:t>简单路径：不包含重复节点的路径</a:t>
                </a:r>
                <a:endParaRPr lang="en-US" dirty="0"/>
              </a:p>
              <a:p>
                <a:r>
                  <a:rPr lang="zh-CN" altLang="en-US" dirty="0"/>
                  <a:t>环：起点与终点相同的路径</a:t>
                </a:r>
                <a14:m>
                  <m:oMath xmlns:m="http://schemas.openxmlformats.org/officeDocument/2006/math">
                    <m:r>
                      <a:rPr lang="en-US" altLang="zh-CN" i="1">
                        <a:latin typeface="Cambria Math" charset="0"/>
                      </a:rPr>
                      <m:t>𝑝</m:t>
                    </m:r>
                    <m:r>
                      <a:rPr lang="en-US" altLang="zh-CN" i="1">
                        <a:latin typeface="Cambria Math" charset="0"/>
                      </a:rPr>
                      <m:t>=</m:t>
                    </m:r>
                    <m:d>
                      <m:dPr>
                        <m:ctrlPr>
                          <a:rPr lang="en-US" altLang="zh-CN" i="1">
                            <a:latin typeface="Cambria Math" charset="0"/>
                          </a:rPr>
                        </m:ctrlPr>
                      </m:dPr>
                      <m:e>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0</m:t>
                            </m:r>
                          </m:sub>
                        </m:sSub>
                        <m:r>
                          <a:rPr lang="en-US" altLang="zh-CN" i="1">
                            <a:latin typeface="Cambria Math" charset="0"/>
                          </a:rPr>
                          <m:t>,</m:t>
                        </m:r>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1</m:t>
                            </m:r>
                          </m:sub>
                        </m:sSub>
                        <m:r>
                          <a:rPr lang="en-US" altLang="zh-CN" i="1">
                            <a:latin typeface="Cambria Math" charset="0"/>
                          </a:rPr>
                          <m:t>,…,</m:t>
                        </m:r>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𝑚</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0</m:t>
                            </m:r>
                          </m:sub>
                        </m:sSub>
                      </m:e>
                    </m:d>
                    <m:r>
                      <a:rPr lang="en-US" altLang="zh-CN" b="0" i="1" smtClean="0">
                        <a:latin typeface="Cambria Math" charset="0"/>
                      </a:rPr>
                      <m:t>,</m:t>
                    </m:r>
                    <m:d>
                      <m:dPr>
                        <m:ctrlPr>
                          <a:rPr lang="en-US" altLang="zh-CN" i="1">
                            <a:latin typeface="Cambria Math" charset="0"/>
                          </a:rPr>
                        </m:ctrlPr>
                      </m:dPr>
                      <m:e>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𝑖</m:t>
                            </m:r>
                          </m:sub>
                        </m:sSub>
                        <m:r>
                          <a:rPr lang="en-US" altLang="zh-CN" i="1">
                            <a:latin typeface="Cambria Math" charset="0"/>
                          </a:rPr>
                          <m:t>,</m:t>
                        </m:r>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𝑖</m:t>
                            </m:r>
                            <m:r>
                              <a:rPr lang="en-US" altLang="zh-CN" i="1">
                                <a:latin typeface="Cambria Math" charset="0"/>
                              </a:rPr>
                              <m:t>+1</m:t>
                            </m:r>
                          </m:sub>
                        </m:sSub>
                      </m:e>
                    </m:d>
                    <m:r>
                      <a:rPr lang="en-US" altLang="zh-CN" i="1">
                        <a:latin typeface="Cambria Math" charset="0"/>
                      </a:rPr>
                      <m:t>∈</m:t>
                    </m:r>
                    <m:r>
                      <a:rPr lang="en-US" altLang="zh-CN" i="1">
                        <a:latin typeface="Cambria Math" charset="0"/>
                      </a:rPr>
                      <m:t>𝐸</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8229600" cy="2595383"/>
              </a:xfrm>
              <a:blipFill rotWithShape="0">
                <a:blip r:embed="rId2"/>
                <a:stretch>
                  <a:fillRect l="-667" t="-1174"/>
                </a:stretch>
              </a:blipFill>
            </p:spPr>
            <p:txBody>
              <a:bodyPr/>
              <a:lstStyle/>
              <a:p>
                <a:r>
                  <a:rPr 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009" y="2434974"/>
            <a:ext cx="6118183" cy="2187714"/>
          </a:xfrm>
          <a:prstGeom prst="rect">
            <a:avLst/>
          </a:prstGeom>
        </p:spPr>
      </p:pic>
      <p:sp>
        <p:nvSpPr>
          <p:cNvPr id="7" name="Rectangle 6"/>
          <p:cNvSpPr/>
          <p:nvPr/>
        </p:nvSpPr>
        <p:spPr>
          <a:xfrm>
            <a:off x="6749001" y="2790167"/>
            <a:ext cx="2394998" cy="1477328"/>
          </a:xfrm>
          <a:prstGeom prst="rect">
            <a:avLst/>
          </a:prstGeom>
        </p:spPr>
        <p:txBody>
          <a:bodyPr wrap="square">
            <a:spAutoFit/>
          </a:bodyPr>
          <a:lstStyle/>
          <a:p>
            <a:pPr marL="285750" indent="-285750">
              <a:buFont typeface="Arial" charset="0"/>
              <a:buChar char="•"/>
            </a:pPr>
            <a:r>
              <a:rPr lang="zh-CN" altLang="en-US" dirty="0">
                <a:latin typeface="Microsoft YaHei" charset="-122"/>
                <a:ea typeface="Microsoft YaHei" charset="-122"/>
              </a:rPr>
              <a:t>请写出</a:t>
            </a:r>
            <a:r>
              <a:rPr lang="en-US" altLang="zh-CN" dirty="0">
                <a:latin typeface="Microsoft YaHei" charset="-122"/>
                <a:ea typeface="Microsoft YaHei" charset="-122"/>
              </a:rPr>
              <a:t>UCSB</a:t>
            </a:r>
            <a:r>
              <a:rPr lang="zh-CN" altLang="en-US" dirty="0">
                <a:latin typeface="Microsoft YaHei" charset="-122"/>
                <a:ea typeface="Microsoft YaHei" charset="-122"/>
              </a:rPr>
              <a:t>到</a:t>
            </a:r>
            <a:r>
              <a:rPr lang="en-US" altLang="zh-CN" dirty="0">
                <a:latin typeface="Microsoft YaHei" charset="-122"/>
                <a:ea typeface="Microsoft YaHei" charset="-122"/>
              </a:rPr>
              <a:t>MIT</a:t>
            </a:r>
            <a:r>
              <a:rPr lang="zh-CN" altLang="en-US" dirty="0">
                <a:latin typeface="Microsoft YaHei" charset="-122"/>
                <a:ea typeface="Microsoft YaHei" charset="-122"/>
              </a:rPr>
              <a:t>的路径</a:t>
            </a:r>
            <a:endParaRPr lang="en-US" altLang="zh-CN" dirty="0">
              <a:latin typeface="Microsoft YaHei" charset="-122"/>
              <a:ea typeface="Microsoft YaHei" charset="-122"/>
            </a:endParaRPr>
          </a:p>
          <a:p>
            <a:pPr marL="285750" indent="-285750">
              <a:buFont typeface="Arial" charset="0"/>
              <a:buChar char="•"/>
            </a:pPr>
            <a:r>
              <a:rPr lang="zh-CN" altLang="en-US" dirty="0">
                <a:latin typeface="Microsoft YaHei" charset="-122"/>
                <a:ea typeface="Microsoft YaHei" charset="-122"/>
              </a:rPr>
              <a:t>该图是否存在环？</a:t>
            </a:r>
            <a:endParaRPr lang="en-US" altLang="zh-CN" dirty="0">
              <a:latin typeface="Microsoft YaHei" charset="-122"/>
              <a:ea typeface="Microsoft YaHei" charset="-122"/>
            </a:endParaRPr>
          </a:p>
          <a:p>
            <a:pPr marL="285750" indent="-285750">
              <a:buFont typeface="Arial" charset="0"/>
              <a:buChar char="•"/>
            </a:pPr>
            <a:r>
              <a:rPr lang="zh-CN" altLang="en-US" dirty="0">
                <a:latin typeface="Microsoft YaHei" charset="-122"/>
                <a:ea typeface="Microsoft YaHei" charset="-122"/>
              </a:rPr>
              <a:t>分析该图存在环的利与弊</a:t>
            </a:r>
            <a:endParaRPr lang="en-US" altLang="ja-JP" dirty="0">
              <a:latin typeface="Microsoft YaHei" charset="-122"/>
              <a:ea typeface="Microsoft YaHei" charset="-122"/>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80</a:t>
            </a:fld>
            <a:endParaRPr lang="zh-CN" altLang="en-US"/>
          </a:p>
        </p:txBody>
      </p:sp>
    </p:spTree>
    <p:extLst>
      <p:ext uri="{BB962C8B-B14F-4D97-AF65-F5344CB8AC3E}">
        <p14:creationId xmlns:p14="http://schemas.microsoft.com/office/powerpoint/2010/main" val="1792780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连通图与连通分支</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743913"/>
              </a:xfrm>
            </p:spPr>
            <p:txBody>
              <a:bodyPr/>
              <a:lstStyle/>
              <a:p>
                <a:r>
                  <a:rPr lang="zh-CN" altLang="en-US" dirty="0"/>
                  <a:t>如果一个图中任意两点之间都有路径相通，则称此图为</a:t>
                </a:r>
                <a:r>
                  <a:rPr lang="zh-CN" altLang="en-US" dirty="0">
                    <a:solidFill>
                      <a:srgbClr val="AE0627"/>
                    </a:solidFill>
                  </a:rPr>
                  <a:t>连通图</a:t>
                </a:r>
                <a:endParaRPr lang="en-US" altLang="zh-CN" dirty="0">
                  <a:solidFill>
                    <a:srgbClr val="AE0627"/>
                  </a:solidFill>
                </a:endParaRPr>
              </a:p>
              <a:p>
                <a:r>
                  <a:rPr lang="zh-CN" altLang="en-US" dirty="0"/>
                  <a:t>连通分支</a:t>
                </a:r>
                <a:r>
                  <a:rPr lang="en-US" altLang="zh-CN" dirty="0"/>
                  <a:t>/</a:t>
                </a:r>
                <a:r>
                  <a:rPr lang="zh-CN" altLang="en-US" dirty="0"/>
                  <a:t>连通分量</a:t>
                </a:r>
                <a:r>
                  <a:rPr lang="en-US" altLang="zh-CN" dirty="0"/>
                  <a:t>(Connected Component)</a:t>
                </a:r>
              </a:p>
              <a:p>
                <a:pPr lvl="1"/>
                <a:r>
                  <a:rPr lang="zh-CN" altLang="en-US" dirty="0"/>
                  <a:t>给定图</a:t>
                </a:r>
                <a14:m>
                  <m:oMath xmlns:m="http://schemas.openxmlformats.org/officeDocument/2006/math">
                    <m:r>
                      <a:rPr lang="en-US" altLang="zh-CN" b="0" i="1" dirty="0" smtClean="0">
                        <a:latin typeface="Cambria Math" charset="0"/>
                      </a:rPr>
                      <m:t>𝐺</m:t>
                    </m:r>
                  </m:oMath>
                </a14:m>
                <a:r>
                  <a:rPr lang="zh-CN" altLang="en-US" dirty="0"/>
                  <a:t>，它的子图</a:t>
                </a:r>
                <a14:m>
                  <m:oMath xmlns:m="http://schemas.openxmlformats.org/officeDocument/2006/math">
                    <m:sSup>
                      <m:sSupPr>
                        <m:ctrlPr>
                          <a:rPr lang="en-US" altLang="zh-CN" b="0" i="1" smtClean="0">
                            <a:latin typeface="Cambria Math" charset="0"/>
                          </a:rPr>
                        </m:ctrlPr>
                      </m:sSupPr>
                      <m:e>
                        <m:r>
                          <a:rPr lang="en-US" altLang="zh-CN" b="0" i="1" smtClean="0">
                            <a:latin typeface="Cambria Math" charset="0"/>
                          </a:rPr>
                          <m:t>𝐺</m:t>
                        </m:r>
                      </m:e>
                      <m:sup>
                        <m:r>
                          <a:rPr lang="en-US" altLang="zh-CN" b="0" i="1" smtClean="0">
                            <a:latin typeface="Cambria Math" charset="0"/>
                          </a:rPr>
                          <m:t>′</m:t>
                        </m:r>
                      </m:sup>
                    </m:sSup>
                  </m:oMath>
                </a14:m>
                <a:r>
                  <a:rPr lang="zh-CN" altLang="en-US" dirty="0"/>
                  <a:t>是</a:t>
                </a:r>
                <a14:m>
                  <m:oMath xmlns:m="http://schemas.openxmlformats.org/officeDocument/2006/math">
                    <m:r>
                      <a:rPr lang="en-US" altLang="zh-CN" i="1" dirty="0">
                        <a:latin typeface="Cambria Math" charset="0"/>
                      </a:rPr>
                      <m:t>𝐺</m:t>
                    </m:r>
                  </m:oMath>
                </a14:m>
                <a:r>
                  <a:rPr lang="zh-CN" altLang="en-US" dirty="0"/>
                  <a:t>的连通分支，如果满足以下两个条件：</a:t>
                </a:r>
                <a:endParaRPr lang="en-US" altLang="zh-CN" dirty="0"/>
              </a:p>
              <a:p>
                <a:pPr lvl="2"/>
                <a14:m>
                  <m:oMath xmlns:m="http://schemas.openxmlformats.org/officeDocument/2006/math">
                    <m:sSup>
                      <m:sSupPr>
                        <m:ctrlPr>
                          <a:rPr lang="en-US" altLang="zh-CN" i="1">
                            <a:latin typeface="Cambria Math" charset="0"/>
                          </a:rPr>
                        </m:ctrlPr>
                      </m:sSupPr>
                      <m:e>
                        <m:r>
                          <a:rPr lang="en-US" altLang="zh-CN" i="1">
                            <a:latin typeface="Cambria Math" charset="0"/>
                          </a:rPr>
                          <m:t>𝐺</m:t>
                        </m:r>
                      </m:e>
                      <m:sup>
                        <m:r>
                          <a:rPr lang="en-US" altLang="zh-CN" i="1">
                            <a:latin typeface="Cambria Math" charset="0"/>
                          </a:rPr>
                          <m:t>′</m:t>
                        </m:r>
                      </m:sup>
                    </m:sSup>
                  </m:oMath>
                </a14:m>
                <a:r>
                  <a:rPr lang="zh-CN" altLang="en-US" dirty="0"/>
                  <a:t>是连通图，即</a:t>
                </a:r>
                <a14:m>
                  <m:oMath xmlns:m="http://schemas.openxmlformats.org/officeDocument/2006/math">
                    <m:sSup>
                      <m:sSupPr>
                        <m:ctrlPr>
                          <a:rPr lang="en-US" altLang="zh-CN" i="1">
                            <a:latin typeface="Cambria Math" charset="0"/>
                          </a:rPr>
                        </m:ctrlPr>
                      </m:sSupPr>
                      <m:e>
                        <m:r>
                          <a:rPr lang="en-US" altLang="zh-CN" i="1">
                            <a:latin typeface="Cambria Math" charset="0"/>
                          </a:rPr>
                          <m:t>𝐺</m:t>
                        </m:r>
                      </m:e>
                      <m:sup>
                        <m:r>
                          <a:rPr lang="en-US" altLang="zh-CN" i="1">
                            <a:latin typeface="Cambria Math" charset="0"/>
                          </a:rPr>
                          <m:t>′</m:t>
                        </m:r>
                      </m:sup>
                    </m:sSup>
                  </m:oMath>
                </a14:m>
                <a:r>
                  <a:rPr lang="zh-CN" altLang="en-US" dirty="0"/>
                  <a:t>中任意两个点有路径相连 </a:t>
                </a:r>
                <a:r>
                  <a:rPr lang="mr-IN" altLang="zh-CN" dirty="0"/>
                  <a:t>–</a:t>
                </a:r>
                <a:r>
                  <a:rPr lang="zh-CN" altLang="en-US" dirty="0"/>
                  <a:t> </a:t>
                </a:r>
                <a:r>
                  <a:rPr lang="zh-CN" altLang="en-US" dirty="0">
                    <a:solidFill>
                      <a:srgbClr val="AE0627"/>
                    </a:solidFill>
                  </a:rPr>
                  <a:t>连通性</a:t>
                </a:r>
                <a:endParaRPr lang="en-US" altLang="zh-CN" dirty="0">
                  <a:solidFill>
                    <a:srgbClr val="AE0627"/>
                  </a:solidFill>
                </a:endParaRPr>
              </a:p>
              <a:p>
                <a:pPr lvl="2"/>
                <a14:m>
                  <m:oMath xmlns:m="http://schemas.openxmlformats.org/officeDocument/2006/math">
                    <m:sSup>
                      <m:sSupPr>
                        <m:ctrlPr>
                          <a:rPr lang="en-US" altLang="zh-CN" i="1">
                            <a:latin typeface="Cambria Math" charset="0"/>
                          </a:rPr>
                        </m:ctrlPr>
                      </m:sSupPr>
                      <m:e>
                        <m:r>
                          <a:rPr lang="en-US" altLang="zh-CN" i="1">
                            <a:latin typeface="Cambria Math" charset="0"/>
                          </a:rPr>
                          <m:t>𝐺</m:t>
                        </m:r>
                      </m:e>
                      <m:sup>
                        <m:r>
                          <a:rPr lang="en-US" altLang="zh-CN" i="1">
                            <a:latin typeface="Cambria Math" charset="0"/>
                          </a:rPr>
                          <m:t>′</m:t>
                        </m:r>
                      </m:sup>
                    </m:sSup>
                  </m:oMath>
                </a14:m>
                <a:r>
                  <a:rPr lang="zh-CN" altLang="en-US" dirty="0"/>
                  <a:t>不是其它任何满足条件</a:t>
                </a:r>
                <a:r>
                  <a:rPr lang="en-US" altLang="zh-CN" dirty="0"/>
                  <a:t>1</a:t>
                </a:r>
                <a:r>
                  <a:rPr lang="zh-CN" altLang="en-US" dirty="0"/>
                  <a:t>的图的子集 </a:t>
                </a:r>
                <a:r>
                  <a:rPr lang="mr-IN" altLang="zh-CN" dirty="0"/>
                  <a:t>–</a:t>
                </a:r>
                <a:r>
                  <a:rPr lang="zh-CN" altLang="en-US" dirty="0"/>
                  <a:t> </a:t>
                </a:r>
                <a:r>
                  <a:rPr lang="zh-CN" altLang="en-US" dirty="0">
                    <a:solidFill>
                      <a:srgbClr val="AE0627"/>
                    </a:solidFill>
                  </a:rPr>
                  <a:t>独立性</a:t>
                </a:r>
                <a:endParaRPr lang="en-US" dirty="0">
                  <a:solidFill>
                    <a:srgbClr val="AE0627"/>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743913"/>
              </a:xfrm>
              <a:blipFill rotWithShape="0">
                <a:blip r:embed="rId2"/>
                <a:stretch>
                  <a:fillRect l="-667" t="-1748" b="-699"/>
                </a:stretch>
              </a:blipFill>
            </p:spPr>
            <p:txBody>
              <a:bodyPr/>
              <a:lstStyle/>
              <a:p>
                <a:r>
                  <a:rPr lang="en-US">
                    <a:noFill/>
                  </a:rPr>
                  <a:t> </a:t>
                </a:r>
              </a:p>
            </p:txBody>
          </p:sp>
        </mc:Fallback>
      </mc:AlternateContent>
      <p:grpSp>
        <p:nvGrpSpPr>
          <p:cNvPr id="49" name="Group 48"/>
          <p:cNvGrpSpPr/>
          <p:nvPr/>
        </p:nvGrpSpPr>
        <p:grpSpPr>
          <a:xfrm>
            <a:off x="1965289" y="2727092"/>
            <a:ext cx="3296078" cy="1791565"/>
            <a:chOff x="1426393" y="421243"/>
            <a:chExt cx="6193605" cy="3366499"/>
          </a:xfrm>
        </p:grpSpPr>
        <p:sp>
          <p:nvSpPr>
            <p:cNvPr id="26" name="Oval 25"/>
            <p:cNvSpPr/>
            <p:nvPr/>
          </p:nvSpPr>
          <p:spPr>
            <a:xfrm>
              <a:off x="2250038" y="914403"/>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p:cNvSpPr/>
            <p:nvPr/>
          </p:nvSpPr>
          <p:spPr>
            <a:xfrm>
              <a:off x="1426393" y="191955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p:cNvSpPr/>
            <p:nvPr/>
          </p:nvSpPr>
          <p:spPr>
            <a:xfrm>
              <a:off x="2924707" y="329458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p:cNvSpPr/>
            <p:nvPr/>
          </p:nvSpPr>
          <p:spPr>
            <a:xfrm>
              <a:off x="3510334" y="216613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p:cNvSpPr/>
            <p:nvPr/>
          </p:nvSpPr>
          <p:spPr>
            <a:xfrm>
              <a:off x="4916181" y="167297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p:cNvSpPr/>
            <p:nvPr/>
          </p:nvSpPr>
          <p:spPr>
            <a:xfrm>
              <a:off x="5409341" y="329458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p:cNvSpPr/>
            <p:nvPr/>
          </p:nvSpPr>
          <p:spPr>
            <a:xfrm>
              <a:off x="7126838" y="241271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p:cNvSpPr/>
            <p:nvPr/>
          </p:nvSpPr>
          <p:spPr>
            <a:xfrm>
              <a:off x="6407647" y="1160983"/>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p:cNvSpPr/>
            <p:nvPr/>
          </p:nvSpPr>
          <p:spPr>
            <a:xfrm>
              <a:off x="4328842" y="421243"/>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5" name="Straight Connector 34"/>
            <p:cNvCxnSpPr>
              <a:stCxn id="29" idx="7"/>
              <a:endCxn id="28" idx="3"/>
            </p:cNvCxnSpPr>
            <p:nvPr/>
          </p:nvCxnSpPr>
          <p:spPr>
            <a:xfrm flipV="1">
              <a:off x="1847331" y="1335341"/>
              <a:ext cx="474929" cy="65643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9" idx="6"/>
              <a:endCxn id="36" idx="3"/>
            </p:cNvCxnSpPr>
            <p:nvPr/>
          </p:nvCxnSpPr>
          <p:spPr>
            <a:xfrm flipV="1">
              <a:off x="1919553" y="842181"/>
              <a:ext cx="2481511" cy="132395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5"/>
              <a:endCxn id="31" idx="1"/>
            </p:cNvCxnSpPr>
            <p:nvPr/>
          </p:nvCxnSpPr>
          <p:spPr>
            <a:xfrm>
              <a:off x="2670976" y="1335341"/>
              <a:ext cx="911580" cy="90301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9" idx="5"/>
              <a:endCxn id="31" idx="2"/>
            </p:cNvCxnSpPr>
            <p:nvPr/>
          </p:nvCxnSpPr>
          <p:spPr>
            <a:xfrm>
              <a:off x="1847331" y="2340496"/>
              <a:ext cx="1663003" cy="7222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9" idx="4"/>
              <a:endCxn id="30" idx="2"/>
            </p:cNvCxnSpPr>
            <p:nvPr/>
          </p:nvCxnSpPr>
          <p:spPr>
            <a:xfrm>
              <a:off x="1672973" y="2412718"/>
              <a:ext cx="1251734"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1" idx="4"/>
              <a:endCxn id="30" idx="7"/>
            </p:cNvCxnSpPr>
            <p:nvPr/>
          </p:nvCxnSpPr>
          <p:spPr>
            <a:xfrm flipH="1">
              <a:off x="3345645" y="2659298"/>
              <a:ext cx="41126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3" idx="2"/>
              <a:endCxn id="30" idx="6"/>
            </p:cNvCxnSpPr>
            <p:nvPr/>
          </p:nvCxnSpPr>
          <p:spPr>
            <a:xfrm flipH="1">
              <a:off x="3417867" y="3541162"/>
              <a:ext cx="1991474" cy="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2" idx="2"/>
              <a:endCxn id="31" idx="6"/>
            </p:cNvCxnSpPr>
            <p:nvPr/>
          </p:nvCxnSpPr>
          <p:spPr>
            <a:xfrm flipH="1">
              <a:off x="4003494" y="1919558"/>
              <a:ext cx="912687" cy="49316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6" idx="4"/>
              <a:endCxn id="31" idx="0"/>
            </p:cNvCxnSpPr>
            <p:nvPr/>
          </p:nvCxnSpPr>
          <p:spPr>
            <a:xfrm flipH="1">
              <a:off x="3756914" y="914403"/>
              <a:ext cx="818508" cy="1251735"/>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5" idx="2"/>
              <a:endCxn id="32" idx="7"/>
            </p:cNvCxnSpPr>
            <p:nvPr/>
          </p:nvCxnSpPr>
          <p:spPr>
            <a:xfrm flipH="1">
              <a:off x="5337119" y="1407563"/>
              <a:ext cx="1070528" cy="33763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5" idx="5"/>
              <a:endCxn id="34" idx="0"/>
            </p:cNvCxnSpPr>
            <p:nvPr/>
          </p:nvCxnSpPr>
          <p:spPr>
            <a:xfrm>
              <a:off x="6828585" y="1581921"/>
              <a:ext cx="544833" cy="83079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3" idx="6"/>
              <a:endCxn id="34" idx="3"/>
            </p:cNvCxnSpPr>
            <p:nvPr/>
          </p:nvCxnSpPr>
          <p:spPr>
            <a:xfrm flipV="1">
              <a:off x="5902501" y="2833656"/>
              <a:ext cx="129655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2" idx="5"/>
              <a:endCxn id="34" idx="2"/>
            </p:cNvCxnSpPr>
            <p:nvPr/>
          </p:nvCxnSpPr>
          <p:spPr>
            <a:xfrm>
              <a:off x="5337119" y="2093916"/>
              <a:ext cx="1789719" cy="56538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2" idx="4"/>
              <a:endCxn id="33" idx="0"/>
            </p:cNvCxnSpPr>
            <p:nvPr/>
          </p:nvCxnSpPr>
          <p:spPr>
            <a:xfrm>
              <a:off x="5162761" y="2166138"/>
              <a:ext cx="493160"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grpSp>
      <p:sp>
        <p:nvSpPr>
          <p:cNvPr id="51" name="Oval 50"/>
          <p:cNvSpPr/>
          <p:nvPr/>
        </p:nvSpPr>
        <p:spPr>
          <a:xfrm>
            <a:off x="6216829" y="2686613"/>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Oval 51"/>
          <p:cNvSpPr/>
          <p:nvPr/>
        </p:nvSpPr>
        <p:spPr>
          <a:xfrm>
            <a:off x="5778506" y="3221531"/>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Oval 58"/>
          <p:cNvSpPr/>
          <p:nvPr/>
        </p:nvSpPr>
        <p:spPr>
          <a:xfrm>
            <a:off x="6615966" y="3335870"/>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0" name="Straight Connector 59"/>
          <p:cNvCxnSpPr/>
          <p:nvPr/>
        </p:nvCxnSpPr>
        <p:spPr>
          <a:xfrm flipV="1">
            <a:off x="6002518" y="2910626"/>
            <a:ext cx="252745" cy="34934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endCxn id="59" idx="2"/>
          </p:cNvCxnSpPr>
          <p:nvPr/>
        </p:nvCxnSpPr>
        <p:spPr>
          <a:xfrm>
            <a:off x="6040953" y="3352754"/>
            <a:ext cx="575013" cy="11434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5881455" y="3879693"/>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7" name="Oval 76"/>
          <p:cNvSpPr/>
          <p:nvPr/>
        </p:nvSpPr>
        <p:spPr>
          <a:xfrm>
            <a:off x="6615965" y="4163421"/>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79" name="Straight Connector 78"/>
          <p:cNvCxnSpPr>
            <a:stCxn id="76" idx="5"/>
            <a:endCxn id="77" idx="2"/>
          </p:cNvCxnSpPr>
          <p:nvPr/>
        </p:nvCxnSpPr>
        <p:spPr>
          <a:xfrm>
            <a:off x="6105468" y="4103706"/>
            <a:ext cx="510497" cy="19093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1BEBC7A-FD02-486B-81B5-A845787C689C}" type="slidenum">
              <a:rPr lang="zh-CN" altLang="en-US" smtClean="0"/>
              <a:t>81</a:t>
            </a:fld>
            <a:endParaRPr lang="zh-CN" altLang="en-US"/>
          </a:p>
        </p:txBody>
      </p:sp>
    </p:spTree>
    <p:extLst>
      <p:ext uri="{BB962C8B-B14F-4D97-AF65-F5344CB8AC3E}">
        <p14:creationId xmlns:p14="http://schemas.microsoft.com/office/powerpoint/2010/main" val="2073993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连通图与连通分支</a:t>
            </a:r>
            <a:endParaRPr lang="en-US" dirty="0"/>
          </a:p>
        </p:txBody>
      </p:sp>
      <p:sp>
        <p:nvSpPr>
          <p:cNvPr id="3" name="Content Placeholder 2"/>
          <p:cNvSpPr>
            <a:spLocks noGrp="1"/>
          </p:cNvSpPr>
          <p:nvPr>
            <p:ph idx="1"/>
          </p:nvPr>
        </p:nvSpPr>
        <p:spPr>
          <a:xfrm>
            <a:off x="457200" y="819150"/>
            <a:ext cx="8229600" cy="1743913"/>
          </a:xfrm>
        </p:spPr>
        <p:txBody>
          <a:bodyPr/>
          <a:lstStyle/>
          <a:p>
            <a:r>
              <a:rPr lang="zh-CN" altLang="en-US" dirty="0"/>
              <a:t>例：美国高中生恋爱关系图（边代表二人在</a:t>
            </a:r>
            <a:r>
              <a:rPr lang="en-US" altLang="zh-CN" dirty="0"/>
              <a:t>18</a:t>
            </a:r>
            <a:r>
              <a:rPr lang="zh-CN" altLang="en-US" dirty="0"/>
              <a:t>个月内恋爱过）</a:t>
            </a:r>
            <a:endParaRPr lang="en-US" altLang="zh-CN" dirty="0">
              <a:solidFill>
                <a:srgbClr val="AE0627"/>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0204" y="1254355"/>
            <a:ext cx="4863592" cy="3475044"/>
          </a:xfrm>
          <a:prstGeom prst="rect">
            <a:avLst/>
          </a:prstGeom>
        </p:spPr>
      </p:pic>
      <p:sp>
        <p:nvSpPr>
          <p:cNvPr id="50" name="TextBox 49"/>
          <p:cNvSpPr txBox="1"/>
          <p:nvPr/>
        </p:nvSpPr>
        <p:spPr>
          <a:xfrm>
            <a:off x="4244083" y="4590900"/>
            <a:ext cx="489991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Bearman</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et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American</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Journal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of</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Sociology,</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2004]</a:t>
            </a:r>
            <a:endParaRPr lang="en-US" sz="1200" dirty="0">
              <a:solidFill>
                <a:schemeClr val="tx1">
                  <a:lumMod val="50000"/>
                  <a:lumOff val="50000"/>
                </a:schemeClr>
              </a:solidFill>
            </a:endParaRPr>
          </a:p>
        </p:txBody>
      </p:sp>
      <p:sp>
        <p:nvSpPr>
          <p:cNvPr id="5" name="Slide Number Placeholder 4"/>
          <p:cNvSpPr>
            <a:spLocks noGrp="1"/>
          </p:cNvSpPr>
          <p:nvPr>
            <p:ph type="sldNum" sz="quarter" idx="12"/>
          </p:nvPr>
        </p:nvSpPr>
        <p:spPr/>
        <p:txBody>
          <a:bodyPr/>
          <a:lstStyle/>
          <a:p>
            <a:fld id="{E1BEBC7A-FD02-486B-81B5-A845787C689C}" type="slidenum">
              <a:rPr lang="zh-CN" altLang="en-US" smtClean="0"/>
              <a:t>82</a:t>
            </a:fld>
            <a:endParaRPr lang="zh-CN" altLang="en-US"/>
          </a:p>
        </p:txBody>
      </p:sp>
    </p:spTree>
    <p:extLst>
      <p:ext uri="{BB962C8B-B14F-4D97-AF65-F5344CB8AC3E}">
        <p14:creationId xmlns:p14="http://schemas.microsoft.com/office/powerpoint/2010/main" val="1804974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连通图与连通分支</a:t>
            </a:r>
            <a:endParaRPr lang="en-US" dirty="0"/>
          </a:p>
        </p:txBody>
      </p:sp>
      <p:sp>
        <p:nvSpPr>
          <p:cNvPr id="3" name="Content Placeholder 2"/>
          <p:cNvSpPr>
            <a:spLocks noGrp="1"/>
          </p:cNvSpPr>
          <p:nvPr>
            <p:ph idx="1"/>
          </p:nvPr>
        </p:nvSpPr>
        <p:spPr>
          <a:xfrm>
            <a:off x="457200" y="819150"/>
            <a:ext cx="8229600" cy="3880172"/>
          </a:xfrm>
        </p:spPr>
        <p:txBody>
          <a:bodyPr>
            <a:normAutofit lnSpcReduction="10000"/>
          </a:bodyPr>
          <a:lstStyle/>
          <a:p>
            <a:r>
              <a:rPr lang="zh-CN" altLang="en-US" dirty="0"/>
              <a:t>如果一个图中任意两点之间都有路径相通，则称此图为</a:t>
            </a:r>
            <a:r>
              <a:rPr lang="zh-CN" altLang="en-US" dirty="0">
                <a:solidFill>
                  <a:srgbClr val="AE0627"/>
                </a:solidFill>
              </a:rPr>
              <a:t>连通图</a:t>
            </a:r>
            <a:r>
              <a:rPr lang="en-US" altLang="zh-CN" dirty="0">
                <a:solidFill>
                  <a:srgbClr val="AE0627"/>
                </a:solidFill>
              </a:rPr>
              <a:t>	</a:t>
            </a:r>
          </a:p>
          <a:p>
            <a:pPr lvl="1"/>
            <a:r>
              <a:rPr lang="zh-CN" altLang="en-US" b="1" dirty="0"/>
              <a:t>强连通分支 </a:t>
            </a:r>
            <a:r>
              <a:rPr lang="en-US" altLang="zh-CN" dirty="0"/>
              <a:t>(Strongly Connected Component)</a:t>
            </a:r>
            <a:r>
              <a:rPr lang="zh-CN" altLang="en-US" dirty="0"/>
              <a:t>：每个顶点和任意其它顶点通过一系列有向连接</a:t>
            </a:r>
            <a:r>
              <a:rPr lang="en-US" altLang="zh-CN" dirty="0"/>
              <a:t>(Directed Link)</a:t>
            </a:r>
            <a:r>
              <a:rPr lang="zh-CN" altLang="en-US" dirty="0"/>
              <a:t>到达，也就是任意两个顶点之间是互相可达的。即对于任意顶点对</a:t>
            </a:r>
            <a:r>
              <a:rPr lang="en-US" altLang="zh-CN" dirty="0"/>
              <a:t>A</a:t>
            </a:r>
            <a:r>
              <a:rPr lang="zh-CN" altLang="en-US" dirty="0"/>
              <a:t>和</a:t>
            </a:r>
            <a:r>
              <a:rPr lang="en-US" altLang="zh-CN" dirty="0"/>
              <a:t>B</a:t>
            </a:r>
            <a:r>
              <a:rPr lang="zh-CN" altLang="en-US" dirty="0"/>
              <a:t>，既可以从</a:t>
            </a:r>
            <a:r>
              <a:rPr lang="en-US" altLang="zh-CN" dirty="0"/>
              <a:t>A</a:t>
            </a:r>
            <a:r>
              <a:rPr lang="zh-CN" altLang="en-US" dirty="0"/>
              <a:t>到达</a:t>
            </a:r>
            <a:r>
              <a:rPr lang="en-US" altLang="zh-CN" dirty="0"/>
              <a:t>B</a:t>
            </a:r>
            <a:r>
              <a:rPr lang="zh-CN" altLang="en-US" dirty="0"/>
              <a:t>，也可以从</a:t>
            </a:r>
            <a:r>
              <a:rPr lang="en-US" altLang="zh-CN" dirty="0"/>
              <a:t>B</a:t>
            </a:r>
            <a:r>
              <a:rPr lang="zh-CN" altLang="en-US" dirty="0"/>
              <a:t>到达</a:t>
            </a:r>
            <a:r>
              <a:rPr lang="en-US" altLang="zh-CN" dirty="0"/>
              <a:t>A</a:t>
            </a:r>
            <a:r>
              <a:rPr lang="zh-CN" altLang="en-US" dirty="0"/>
              <a:t>。</a:t>
            </a:r>
          </a:p>
          <a:p>
            <a:pPr lvl="1"/>
            <a:r>
              <a:rPr lang="zh-CN" altLang="en-US" b="1" dirty="0"/>
              <a:t>弱连通分支 </a:t>
            </a:r>
            <a:r>
              <a:rPr lang="en-US" altLang="zh-CN" dirty="0"/>
              <a:t>(Weakly Connected Component)</a:t>
            </a:r>
            <a:r>
              <a:rPr lang="zh-CN" altLang="en-US" dirty="0"/>
              <a:t>：每个顶点和任意其它顶点，可以从某个方向到达，也就是两个顶点，只需要有一个方向到达即可。即对于任意顶点对</a:t>
            </a:r>
            <a:r>
              <a:rPr lang="en-US" altLang="zh-CN" dirty="0"/>
              <a:t>A</a:t>
            </a:r>
            <a:r>
              <a:rPr lang="zh-CN" altLang="en-US" dirty="0"/>
              <a:t>和</a:t>
            </a:r>
            <a:r>
              <a:rPr lang="en-US" altLang="zh-CN" dirty="0"/>
              <a:t>B</a:t>
            </a:r>
            <a:r>
              <a:rPr lang="zh-CN" altLang="en-US" dirty="0"/>
              <a:t>，可以从</a:t>
            </a:r>
            <a:r>
              <a:rPr lang="en-US" altLang="zh-CN" dirty="0"/>
              <a:t>A</a:t>
            </a:r>
            <a:r>
              <a:rPr lang="zh-CN" altLang="en-US" dirty="0"/>
              <a:t>到达</a:t>
            </a:r>
            <a:r>
              <a:rPr lang="en-US" altLang="zh-CN" dirty="0"/>
              <a:t>B</a:t>
            </a:r>
            <a:r>
              <a:rPr lang="zh-CN" altLang="en-US" dirty="0"/>
              <a:t>，或者可以从</a:t>
            </a:r>
            <a:r>
              <a:rPr lang="en-US" altLang="zh-CN" dirty="0"/>
              <a:t>B</a:t>
            </a:r>
            <a:r>
              <a:rPr lang="zh-CN" altLang="en-US" dirty="0"/>
              <a:t>到达</a:t>
            </a:r>
            <a:r>
              <a:rPr lang="en-US" altLang="zh-CN" dirty="0"/>
              <a:t>A</a:t>
            </a:r>
            <a:r>
              <a:rPr lang="zh-CN" altLang="en-US" dirty="0"/>
              <a:t>。</a:t>
            </a:r>
          </a:p>
          <a:p>
            <a:pPr lvl="1"/>
            <a:r>
              <a:rPr lang="zh-CN" altLang="en-US" b="1" dirty="0"/>
              <a:t>大型分支 </a:t>
            </a:r>
            <a:r>
              <a:rPr lang="en-US" altLang="zh-CN" dirty="0"/>
              <a:t>(Giant Component)</a:t>
            </a:r>
            <a:r>
              <a:rPr lang="zh-CN" altLang="en-US" dirty="0"/>
              <a:t>：真实网络中，通常存在一个最大的连通分支，它包含了网络中大多数的节点</a:t>
            </a:r>
            <a:r>
              <a:rPr lang="en-US" altLang="zh-CN" dirty="0"/>
              <a:t>(</a:t>
            </a:r>
            <a:r>
              <a:rPr lang="zh-CN" altLang="en-US" dirty="0"/>
              <a:t>比如超过</a:t>
            </a:r>
            <a:r>
              <a:rPr lang="en-US" altLang="zh-CN" dirty="0"/>
              <a:t>80%</a:t>
            </a:r>
            <a:r>
              <a:rPr lang="zh-CN" altLang="en-US" dirty="0"/>
              <a:t>的节点</a:t>
            </a:r>
            <a:r>
              <a:rPr lang="en-US" altLang="zh-CN" dirty="0"/>
              <a:t>)</a:t>
            </a:r>
            <a:r>
              <a:rPr lang="zh-CN" altLang="en-US" dirty="0"/>
              <a:t>，这样的分支称为大型分支</a:t>
            </a:r>
            <a:r>
              <a:rPr lang="en-US" altLang="zh-CN" dirty="0"/>
              <a:t>(Giant Component)</a:t>
            </a:r>
            <a:r>
              <a:rPr lang="zh-CN" altLang="en-US" dirty="0"/>
              <a:t>。在社交网络网站上的用户，一般处在一个超大的连通分支中，真正孤立的顶点或者小的连通分支，所占的比例是很小的。比如，</a:t>
            </a:r>
            <a:r>
              <a:rPr lang="en-US" altLang="zh-CN" dirty="0"/>
              <a:t>Facebook</a:t>
            </a:r>
            <a:r>
              <a:rPr lang="zh-CN" altLang="en-US" dirty="0"/>
              <a:t>的数据显示，约</a:t>
            </a:r>
            <a:r>
              <a:rPr lang="en-US" altLang="zh-CN" dirty="0"/>
              <a:t>99.7%</a:t>
            </a:r>
            <a:r>
              <a:rPr lang="zh-CN" altLang="en-US" dirty="0"/>
              <a:t>的用户处在一个超大的</a:t>
            </a:r>
            <a:r>
              <a:rPr lang="en-US" altLang="zh-CN" dirty="0"/>
              <a:t>Giant Component</a:t>
            </a:r>
            <a:r>
              <a:rPr lang="zh-CN" altLang="en-US" dirty="0"/>
              <a:t>中。</a:t>
            </a: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83</a:t>
            </a:fld>
            <a:endParaRPr lang="zh-CN" altLang="en-US"/>
          </a:p>
        </p:txBody>
      </p:sp>
    </p:spTree>
    <p:extLst>
      <p:ext uri="{BB962C8B-B14F-4D97-AF65-F5344CB8AC3E}">
        <p14:creationId xmlns:p14="http://schemas.microsoft.com/office/powerpoint/2010/main" val="847633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最短路径与距离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495787"/>
              </a:xfrm>
            </p:spPr>
            <p:txBody>
              <a:bodyPr>
                <a:normAutofit/>
              </a:bodyPr>
              <a:lstStyle/>
              <a:p>
                <a:r>
                  <a:rPr lang="zh-CN" altLang="en-US" dirty="0"/>
                  <a:t>定义某条路径</a:t>
                </a:r>
                <a14:m>
                  <m:oMath xmlns:m="http://schemas.openxmlformats.org/officeDocument/2006/math">
                    <m:r>
                      <a:rPr lang="en-US" altLang="zh-CN" b="0" i="1" smtClean="0">
                        <a:latin typeface="Cambria Math" charset="0"/>
                      </a:rPr>
                      <m:t>𝑝</m:t>
                    </m:r>
                  </m:oMath>
                </a14:m>
                <a:r>
                  <a:rPr lang="zh-CN" altLang="en-US" dirty="0"/>
                  <a:t>的长度为它所包含</a:t>
                </a:r>
                <a:r>
                  <a:rPr lang="zh-CN" altLang="en-US" dirty="0">
                    <a:solidFill>
                      <a:srgbClr val="C00000"/>
                    </a:solidFill>
                  </a:rPr>
                  <a:t>边</a:t>
                </a:r>
                <a:r>
                  <a:rPr lang="zh-CN" altLang="en-US" dirty="0"/>
                  <a:t>的个数</a:t>
                </a:r>
                <a:endParaRPr lang="en-US" altLang="zh-CN" dirty="0"/>
              </a:p>
              <a:p>
                <a:pPr lvl="1"/>
                <a:r>
                  <a:rPr lang="zh-CN" altLang="en-US" dirty="0"/>
                  <a:t>例：路径</a:t>
                </a:r>
                <a:r>
                  <a:rPr lang="en-US" altLang="zh-CN" dirty="0"/>
                  <a:t>MIT,</a:t>
                </a:r>
                <a:r>
                  <a:rPr lang="zh-CN" altLang="en-US" dirty="0"/>
                  <a:t> </a:t>
                </a:r>
                <a:r>
                  <a:rPr lang="en-US" altLang="zh-CN" dirty="0"/>
                  <a:t>BBN,</a:t>
                </a:r>
                <a:r>
                  <a:rPr lang="zh-CN" altLang="en-US" dirty="0"/>
                  <a:t> </a:t>
                </a:r>
                <a:r>
                  <a:rPr lang="en-US" altLang="zh-CN" dirty="0"/>
                  <a:t>RAND,</a:t>
                </a:r>
                <a:r>
                  <a:rPr lang="zh-CN" altLang="en-US" dirty="0"/>
                  <a:t> </a:t>
                </a:r>
                <a:r>
                  <a:rPr lang="en-US" altLang="zh-CN" dirty="0"/>
                  <a:t>UCLA</a:t>
                </a:r>
                <a:r>
                  <a:rPr lang="zh-CN" altLang="en-US" dirty="0"/>
                  <a:t>的长度为</a:t>
                </a:r>
                <a:r>
                  <a:rPr lang="en-US" altLang="zh-CN" dirty="0"/>
                  <a:t>3</a:t>
                </a:r>
              </a:p>
              <a:p>
                <a:r>
                  <a:rPr lang="zh-CN" altLang="en-US" dirty="0"/>
                  <a:t>定义图上两点的距离为它们之间</a:t>
                </a:r>
                <a:r>
                  <a:rPr lang="zh-CN" altLang="en-US" dirty="0">
                    <a:solidFill>
                      <a:srgbClr val="AE0627"/>
                    </a:solidFill>
                  </a:rPr>
                  <a:t>最短路径</a:t>
                </a:r>
                <a:r>
                  <a:rPr lang="zh-CN" altLang="en-US" dirty="0"/>
                  <a:t>的长度</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495787"/>
              </a:xfrm>
              <a:blipFill rotWithShape="0">
                <a:blip r:embed="rId2"/>
                <a:stretch>
                  <a:fillRect l="-667" t="-2033"/>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285" y="2335030"/>
            <a:ext cx="6737430" cy="2409142"/>
          </a:xfrm>
          <a:prstGeom prst="rect">
            <a:avLst/>
          </a:prstGeom>
        </p:spPr>
      </p:pic>
      <p:sp>
        <p:nvSpPr>
          <p:cNvPr id="5" name="Rectangle 4"/>
          <p:cNvSpPr/>
          <p:nvPr/>
        </p:nvSpPr>
        <p:spPr>
          <a:xfrm>
            <a:off x="6522698" y="1083831"/>
            <a:ext cx="2456122" cy="815608"/>
          </a:xfrm>
          <a:prstGeom prst="rect">
            <a:avLst/>
          </a:prstGeom>
        </p:spPr>
        <p:txBody>
          <a:bodyPr wrap="none">
            <a:spAutoFit/>
          </a:bodyPr>
          <a:lstStyle/>
          <a:p>
            <a:r>
              <a:rPr lang="en-US" altLang="zh-CN" sz="2000" dirty="0">
                <a:solidFill>
                  <a:srgbClr val="C00000"/>
                </a:solidFill>
                <a:latin typeface="Helvetica Neue" charset="0"/>
              </a:rPr>
              <a:t>LINC</a:t>
            </a:r>
            <a:r>
              <a:rPr lang="zh-CN" altLang="en-US" sz="2000" dirty="0">
                <a:solidFill>
                  <a:srgbClr val="C00000"/>
                </a:solidFill>
                <a:latin typeface="Helvetica Neue" charset="0"/>
              </a:rPr>
              <a:t>与</a:t>
            </a:r>
            <a:r>
              <a:rPr lang="en-US" altLang="zh-CN" sz="2000" dirty="0">
                <a:solidFill>
                  <a:srgbClr val="C00000"/>
                </a:solidFill>
                <a:latin typeface="Helvetica Neue" charset="0"/>
              </a:rPr>
              <a:t>SRI</a:t>
            </a:r>
            <a:r>
              <a:rPr lang="zh-CN" altLang="en-US" sz="2000" dirty="0">
                <a:solidFill>
                  <a:srgbClr val="C00000"/>
                </a:solidFill>
                <a:latin typeface="Helvetica Neue" charset="0"/>
              </a:rPr>
              <a:t>的距离：</a:t>
            </a:r>
            <a:endParaRPr lang="en-US" altLang="zh-CN" sz="2000" dirty="0">
              <a:solidFill>
                <a:srgbClr val="C00000"/>
              </a:solidFill>
              <a:latin typeface="Helvetica Neue" charset="0"/>
            </a:endParaRPr>
          </a:p>
          <a:p>
            <a:pPr>
              <a:lnSpc>
                <a:spcPct val="150000"/>
              </a:lnSpc>
            </a:pPr>
            <a:r>
              <a:rPr lang="zh-CN" altLang="en-US" dirty="0">
                <a:solidFill>
                  <a:srgbClr val="C00000"/>
                </a:solidFill>
                <a:effectLst/>
                <a:latin typeface="Helvetica Neue" charset="0"/>
              </a:rPr>
              <a:t>  </a:t>
            </a:r>
            <a:r>
              <a:rPr lang="en-US" altLang="zh-CN" dirty="0">
                <a:solidFill>
                  <a:srgbClr val="C00000"/>
                </a:solidFill>
                <a:effectLst/>
                <a:latin typeface="Helvetica Neue" charset="0"/>
              </a:rPr>
              <a:t>A</a:t>
            </a:r>
            <a:r>
              <a:rPr lang="en-US" altLang="zh-CN" dirty="0">
                <a:solidFill>
                  <a:srgbClr val="C00000"/>
                </a:solidFill>
                <a:latin typeface="Helvetica Neue" charset="0"/>
              </a:rPr>
              <a:t>.</a:t>
            </a:r>
            <a:r>
              <a:rPr lang="zh-CN" altLang="en-US" dirty="0">
                <a:solidFill>
                  <a:srgbClr val="C00000"/>
                </a:solidFill>
                <a:latin typeface="Helvetica Neue" charset="0"/>
              </a:rPr>
              <a:t> </a:t>
            </a:r>
            <a:r>
              <a:rPr lang="en-US" altLang="zh-CN" dirty="0">
                <a:solidFill>
                  <a:srgbClr val="C00000"/>
                </a:solidFill>
                <a:latin typeface="Helvetica Neue" charset="0"/>
              </a:rPr>
              <a:t>1</a:t>
            </a:r>
            <a:r>
              <a:rPr lang="zh-CN" altLang="en-US" dirty="0">
                <a:solidFill>
                  <a:srgbClr val="C00000"/>
                </a:solidFill>
                <a:latin typeface="Helvetica Neue" charset="0"/>
              </a:rPr>
              <a:t>  </a:t>
            </a:r>
            <a:r>
              <a:rPr lang="en-US" altLang="zh-CN" dirty="0">
                <a:solidFill>
                  <a:srgbClr val="C00000"/>
                </a:solidFill>
                <a:latin typeface="Helvetica Neue" charset="0"/>
              </a:rPr>
              <a:t>;</a:t>
            </a:r>
            <a:r>
              <a:rPr lang="zh-CN" altLang="en-US" dirty="0">
                <a:solidFill>
                  <a:srgbClr val="C00000"/>
                </a:solidFill>
                <a:latin typeface="Helvetica Neue" charset="0"/>
              </a:rPr>
              <a:t>  </a:t>
            </a:r>
            <a:r>
              <a:rPr lang="en-US" altLang="zh-CN" dirty="0">
                <a:solidFill>
                  <a:srgbClr val="C00000"/>
                </a:solidFill>
                <a:latin typeface="Helvetica Neue" charset="0"/>
              </a:rPr>
              <a:t>B.</a:t>
            </a:r>
            <a:r>
              <a:rPr lang="zh-CN" altLang="en-US" dirty="0">
                <a:solidFill>
                  <a:srgbClr val="C00000"/>
                </a:solidFill>
                <a:latin typeface="Helvetica Neue" charset="0"/>
              </a:rPr>
              <a:t> </a:t>
            </a:r>
            <a:r>
              <a:rPr lang="en-US" altLang="zh-CN" dirty="0">
                <a:solidFill>
                  <a:srgbClr val="C00000"/>
                </a:solidFill>
                <a:latin typeface="Helvetica Neue" charset="0"/>
              </a:rPr>
              <a:t>2</a:t>
            </a:r>
            <a:r>
              <a:rPr lang="zh-CN" altLang="en-US" dirty="0">
                <a:solidFill>
                  <a:srgbClr val="C00000"/>
                </a:solidFill>
                <a:latin typeface="Helvetica Neue" charset="0"/>
              </a:rPr>
              <a:t>  </a:t>
            </a:r>
            <a:r>
              <a:rPr lang="en-US" altLang="zh-CN" dirty="0">
                <a:solidFill>
                  <a:srgbClr val="C00000"/>
                </a:solidFill>
                <a:latin typeface="Helvetica Neue" charset="0"/>
              </a:rPr>
              <a:t>;</a:t>
            </a:r>
            <a:r>
              <a:rPr lang="zh-CN" altLang="en-US" dirty="0">
                <a:solidFill>
                  <a:srgbClr val="C00000"/>
                </a:solidFill>
                <a:latin typeface="Helvetica Neue" charset="0"/>
              </a:rPr>
              <a:t> </a:t>
            </a:r>
            <a:r>
              <a:rPr lang="en-US" altLang="zh-CN" dirty="0">
                <a:solidFill>
                  <a:srgbClr val="C00000"/>
                </a:solidFill>
                <a:latin typeface="Helvetica Neue" charset="0"/>
              </a:rPr>
              <a:t>C.</a:t>
            </a:r>
            <a:r>
              <a:rPr lang="zh-CN" altLang="en-US" dirty="0">
                <a:solidFill>
                  <a:srgbClr val="C00000"/>
                </a:solidFill>
                <a:latin typeface="Helvetica Neue" charset="0"/>
              </a:rPr>
              <a:t> </a:t>
            </a:r>
            <a:r>
              <a:rPr lang="en-US" altLang="zh-CN" dirty="0">
                <a:solidFill>
                  <a:srgbClr val="C00000"/>
                </a:solidFill>
                <a:latin typeface="Helvetica Neue" charset="0"/>
              </a:rPr>
              <a:t>3</a:t>
            </a:r>
            <a:endParaRPr lang="en-US" sz="2800" dirty="0">
              <a:solidFill>
                <a:srgbClr val="C00000"/>
              </a:solidFill>
              <a:effectLst/>
              <a:latin typeface="Helvetica Neue" charset="0"/>
            </a:endParaRPr>
          </a:p>
        </p:txBody>
      </p:sp>
      <p:sp>
        <p:nvSpPr>
          <p:cNvPr id="6" name="Rectangle 5"/>
          <p:cNvSpPr/>
          <p:nvPr/>
        </p:nvSpPr>
        <p:spPr>
          <a:xfrm>
            <a:off x="6035259" y="1083831"/>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7" name="Slide Number Placeholder 6"/>
          <p:cNvSpPr>
            <a:spLocks noGrp="1"/>
          </p:cNvSpPr>
          <p:nvPr>
            <p:ph type="sldNum" sz="quarter" idx="12"/>
          </p:nvPr>
        </p:nvSpPr>
        <p:spPr/>
        <p:txBody>
          <a:bodyPr/>
          <a:lstStyle/>
          <a:p>
            <a:fld id="{E1BEBC7A-FD02-486B-81B5-A845787C689C}" type="slidenum">
              <a:rPr lang="zh-CN" altLang="en-US" smtClean="0"/>
              <a:t>84</a:t>
            </a:fld>
            <a:endParaRPr lang="zh-CN" altLang="en-US"/>
          </a:p>
        </p:txBody>
      </p:sp>
    </p:spTree>
    <p:extLst>
      <p:ext uri="{BB962C8B-B14F-4D97-AF65-F5344CB8AC3E}">
        <p14:creationId xmlns:p14="http://schemas.microsoft.com/office/powerpoint/2010/main" val="1925321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六度分隔现象</a:t>
            </a:r>
            <a:endParaRPr lang="en-US" dirty="0"/>
          </a:p>
        </p:txBody>
      </p:sp>
      <p:sp>
        <p:nvSpPr>
          <p:cNvPr id="3" name="Content Placeholder 2"/>
          <p:cNvSpPr>
            <a:spLocks noGrp="1"/>
          </p:cNvSpPr>
          <p:nvPr>
            <p:ph idx="1"/>
          </p:nvPr>
        </p:nvSpPr>
        <p:spPr/>
        <p:txBody>
          <a:bodyPr/>
          <a:lstStyle/>
          <a:p>
            <a:r>
              <a:rPr lang="zh-CN" altLang="en-US" dirty="0"/>
              <a:t>在这个世界上，任意两个人之间，只隔着六个人</a:t>
            </a:r>
            <a:endParaRPr lang="en-US" altLang="zh-CN" dirty="0"/>
          </a:p>
          <a:p>
            <a:pPr marL="0" indent="0" algn="r">
              <a:buNone/>
            </a:pPr>
            <a:r>
              <a:rPr lang="en-US" altLang="zh-CN" dirty="0"/>
              <a:t>——</a:t>
            </a:r>
            <a:r>
              <a:rPr lang="zh-CN" altLang="en-US" dirty="0"/>
              <a:t>六度分隔</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684" y="1284788"/>
            <a:ext cx="4818639" cy="3471362"/>
          </a:xfrm>
          <a:prstGeom prst="rect">
            <a:avLst/>
          </a:prstGeom>
        </p:spPr>
      </p:pic>
      <p:sp>
        <p:nvSpPr>
          <p:cNvPr id="5" name="Slide Number Placeholder 4"/>
          <p:cNvSpPr>
            <a:spLocks noGrp="1"/>
          </p:cNvSpPr>
          <p:nvPr>
            <p:ph type="sldNum" sz="quarter" idx="12"/>
          </p:nvPr>
        </p:nvSpPr>
        <p:spPr/>
        <p:txBody>
          <a:bodyPr/>
          <a:lstStyle/>
          <a:p>
            <a:fld id="{E1BEBC7A-FD02-486B-81B5-A845787C689C}" type="slidenum">
              <a:rPr lang="zh-CN" altLang="en-US" smtClean="0"/>
              <a:t>85</a:t>
            </a:fld>
            <a:endParaRPr lang="zh-CN" altLang="en-US"/>
          </a:p>
        </p:txBody>
      </p:sp>
    </p:spTree>
    <p:extLst>
      <p:ext uri="{BB962C8B-B14F-4D97-AF65-F5344CB8AC3E}">
        <p14:creationId xmlns:p14="http://schemas.microsoft.com/office/powerpoint/2010/main" val="598723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小世界现象</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283" y="819150"/>
            <a:ext cx="7897434" cy="3937000"/>
          </a:xfrm>
        </p:spPr>
      </p:pic>
      <p:sp>
        <p:nvSpPr>
          <p:cNvPr id="5" name="TextBox 4"/>
          <p:cNvSpPr txBox="1"/>
          <p:nvPr/>
        </p:nvSpPr>
        <p:spPr>
          <a:xfrm>
            <a:off x="4244083" y="4590900"/>
            <a:ext cx="489991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Backstrom</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Boldi</a:t>
            </a:r>
            <a:r>
              <a:rPr lang="en-US" altLang="zh-CN" sz="1200" dirty="0">
                <a:solidFill>
                  <a:schemeClr val="tx1">
                    <a:lumMod val="50000"/>
                    <a:lumOff val="50000"/>
                  </a:schemeClr>
                </a:solidFill>
              </a:rPr>
              <a:t>-Rosa-</a:t>
            </a:r>
            <a:r>
              <a:rPr lang="en-US" altLang="zh-CN" sz="1200" dirty="0" err="1">
                <a:solidFill>
                  <a:schemeClr val="tx1">
                    <a:lumMod val="50000"/>
                    <a:lumOff val="50000"/>
                  </a:schemeClr>
                </a:solidFill>
              </a:rPr>
              <a:t>Ugander</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Vigna</a:t>
            </a:r>
            <a:r>
              <a:rPr lang="en-US" altLang="zh-CN" sz="1200" dirty="0">
                <a:solidFill>
                  <a:schemeClr val="tx1">
                    <a:lumMod val="50000"/>
                    <a:lumOff val="50000"/>
                  </a:schemeClr>
                </a:solidFill>
              </a:rPr>
              <a:t>, 2011]</a:t>
            </a:r>
            <a:endParaRPr lang="en-US" sz="120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86</a:t>
            </a:fld>
            <a:endParaRPr lang="zh-CN" altLang="en-US"/>
          </a:p>
        </p:txBody>
      </p:sp>
    </p:spTree>
    <p:extLst>
      <p:ext uri="{BB962C8B-B14F-4D97-AF65-F5344CB8AC3E}">
        <p14:creationId xmlns:p14="http://schemas.microsoft.com/office/powerpoint/2010/main" val="2700434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8218</TotalTime>
  <Words>6735</Words>
  <Application>Microsoft Macintosh PowerPoint</Application>
  <PresentationFormat>On-screen Show (16:9)</PresentationFormat>
  <Paragraphs>1059</Paragraphs>
  <Slides>86</Slides>
  <Notes>46</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86</vt:i4>
      </vt:variant>
    </vt:vector>
  </HeadingPairs>
  <TitlesOfParts>
    <vt:vector size="102" baseType="lpstr">
      <vt:lpstr>Calibri</vt:lpstr>
      <vt:lpstr>Cambria Math</vt:lpstr>
      <vt:lpstr>Courier New</vt:lpstr>
      <vt:lpstr>Helvetica Neue</vt:lpstr>
      <vt:lpstr>Lato</vt:lpstr>
      <vt:lpstr>Mangal</vt:lpstr>
      <vt:lpstr>Microsoft YaHei</vt:lpstr>
      <vt:lpstr>Roboto</vt:lpstr>
      <vt:lpstr>STZhongsong</vt:lpstr>
      <vt:lpstr>Times New Roman</vt:lpstr>
      <vt:lpstr>Wingdings</vt:lpstr>
      <vt:lpstr>宋体</vt:lpstr>
      <vt:lpstr>微软雅黑</vt:lpstr>
      <vt:lpstr>Arial</vt:lpstr>
      <vt:lpstr>清风素材 https://12sc.taobao.com/</vt:lpstr>
      <vt:lpstr>1_清风素材 https://12sc.taobao.com/</vt:lpstr>
      <vt:lpstr>PowerPoint Presentation</vt:lpstr>
      <vt:lpstr>网络化的世界</vt:lpstr>
      <vt:lpstr>如何分析真实世界中的复杂网络？</vt:lpstr>
      <vt:lpstr>PowerPoint Presentation</vt:lpstr>
      <vt:lpstr>从一次课堂点名说起</vt:lpstr>
      <vt:lpstr>用图来直观展示社交网络</vt:lpstr>
      <vt:lpstr>用图来分析社交网络</vt:lpstr>
      <vt:lpstr>用图来分析社交网络</vt:lpstr>
      <vt:lpstr>节点度数的幂律分布</vt:lpstr>
      <vt:lpstr>案例分析：自媒体的幂律分布</vt:lpstr>
      <vt:lpstr>用图分析网络大数据</vt:lpstr>
      <vt:lpstr>用图分析网络大数据</vt:lpstr>
      <vt:lpstr>用图分析网络大数据</vt:lpstr>
      <vt:lpstr>用图分析网络大数据</vt:lpstr>
      <vt:lpstr>用图分析网络大数据</vt:lpstr>
      <vt:lpstr>用图分析网络大数据</vt:lpstr>
      <vt:lpstr>PowerPoint Presentation</vt:lpstr>
      <vt:lpstr>节点中心度（Node Centrality）分析</vt:lpstr>
      <vt:lpstr>节点中心度（Node Centrality）分析</vt:lpstr>
      <vt:lpstr>节点中心度（Node Centrality）</vt:lpstr>
      <vt:lpstr>我们考虑一个小例子</vt:lpstr>
      <vt:lpstr>分析工具：NetworkX</vt:lpstr>
      <vt:lpstr>分析准备</vt:lpstr>
      <vt:lpstr>NetworkX函数讲解</vt:lpstr>
      <vt:lpstr>简化版恋爱关系图的可视化</vt:lpstr>
      <vt:lpstr>绘制节点热力图</vt:lpstr>
      <vt:lpstr>基于几何图形的度量方法</vt:lpstr>
      <vt:lpstr>基于几何图形的度量方法</vt:lpstr>
      <vt:lpstr>基于几何图形的度量方法</vt:lpstr>
      <vt:lpstr>节点度数的分布</vt:lpstr>
      <vt:lpstr>节点度数的分布</vt:lpstr>
      <vt:lpstr>基于几何图形的度量方法</vt:lpstr>
      <vt:lpstr>基于几何图形的度量方法</vt:lpstr>
      <vt:lpstr>基于几何图形的度量方法</vt:lpstr>
      <vt:lpstr>最短路径与距离</vt:lpstr>
      <vt:lpstr>回顾讲过的一个概念</vt:lpstr>
      <vt:lpstr>基于路径的度量方法</vt:lpstr>
      <vt:lpstr>基于路径的度量方法</vt:lpstr>
      <vt:lpstr>思考：新加坡为什么成为全球贸易港？</vt:lpstr>
      <vt:lpstr>基于路径的度量方法</vt:lpstr>
      <vt:lpstr>三种Centrality度量的比较</vt:lpstr>
      <vt:lpstr>三种Centrality度量的比较</vt:lpstr>
      <vt:lpstr>三种Centrality度量的比较</vt:lpstr>
      <vt:lpstr>PowerPoint Presentation</vt:lpstr>
      <vt:lpstr>社区检测（Community Detection）</vt:lpstr>
      <vt:lpstr>我们考虑一个小例子</vt:lpstr>
      <vt:lpstr>问题定义</vt:lpstr>
      <vt:lpstr>优化目标：Modularity Q</vt:lpstr>
      <vt:lpstr>度量期望边数</vt:lpstr>
      <vt:lpstr>度量期望边数</vt:lpstr>
      <vt:lpstr>优化目标：Modularity Q</vt:lpstr>
      <vt:lpstr>Modularity Q</vt:lpstr>
      <vt:lpstr>Louvain算法</vt:lpstr>
      <vt:lpstr>Louvain算法</vt:lpstr>
      <vt:lpstr>Louvain算法</vt:lpstr>
      <vt:lpstr>Louvain算法</vt:lpstr>
      <vt:lpstr>Louvain算法</vt:lpstr>
      <vt:lpstr>Louvain算法</vt:lpstr>
      <vt:lpstr>算法运行示例</vt:lpstr>
      <vt:lpstr>算法运行示例</vt:lpstr>
      <vt:lpstr>算法运行示例</vt:lpstr>
      <vt:lpstr>算法运行示例</vt:lpstr>
      <vt:lpstr>算法运行示例</vt:lpstr>
      <vt:lpstr>算法运行示例</vt:lpstr>
      <vt:lpstr>算法运行示例</vt:lpstr>
      <vt:lpstr>算法运行示例</vt:lpstr>
      <vt:lpstr>算法运行示例</vt:lpstr>
      <vt:lpstr>算法运行示例</vt:lpstr>
      <vt:lpstr>算法运行示例</vt:lpstr>
      <vt:lpstr>课堂练习</vt:lpstr>
      <vt:lpstr>Louvain算法</vt:lpstr>
      <vt:lpstr>空手道俱乐部社区检测示意</vt:lpstr>
      <vt:lpstr>PowerPoint Presentation</vt:lpstr>
      <vt:lpstr>图的形式化定义</vt:lpstr>
      <vt:lpstr>图的形式化定义</vt:lpstr>
      <vt:lpstr>图的基本定义</vt:lpstr>
      <vt:lpstr>关系的对称性</vt:lpstr>
      <vt:lpstr>边的权重</vt:lpstr>
      <vt:lpstr>边的权重</vt:lpstr>
      <vt:lpstr>路径</vt:lpstr>
      <vt:lpstr>连通图与连通分支</vt:lpstr>
      <vt:lpstr>连通图与连通分支</vt:lpstr>
      <vt:lpstr>连通图与连通分支</vt:lpstr>
      <vt:lpstr>最短路径与距离</vt:lpstr>
      <vt:lpstr>六度分隔现象</vt:lpstr>
      <vt:lpstr>小世界现象</vt:lpstr>
    </vt:vector>
  </TitlesOfParts>
  <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范 举</cp:lastModifiedBy>
  <cp:revision>335</cp:revision>
  <cp:lastPrinted>2019-03-19T10:10:54Z</cp:lastPrinted>
  <dcterms:created xsi:type="dcterms:W3CDTF">2015-01-23T04:02:45Z</dcterms:created>
  <dcterms:modified xsi:type="dcterms:W3CDTF">2023-12-17T03:15:56Z</dcterms:modified>
  <cp:category/>
  <cp:contentStatus>12sc.taobao.com</cp:contentStatus>
</cp:coreProperties>
</file>